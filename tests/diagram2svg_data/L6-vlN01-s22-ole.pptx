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embeddings/oleObject57.bin" ContentType="application/vnd.openxmlformats-officedocument.oleObject"/>
  <Override PartName="/ppt/embeddings/oleObject58.bin" ContentType="application/vnd.openxmlformats-officedocument.oleObject"/>
  <Override PartName="/ppt/embeddings/oleObject59.bin" ContentType="application/vnd.openxmlformats-officedocument.oleObject"/>
  <Override PartName="/ppt/embeddings/oleObject6.bin" ContentType="application/vnd.openxmlformats-officedocument.oleObject"/>
  <Override PartName="/ppt/embeddings/oleObject60.bin" ContentType="application/vnd.openxmlformats-officedocument.oleObject"/>
  <Override PartName="/ppt/embeddings/oleObject61.bin" ContentType="application/vnd.openxmlformats-officedocument.oleObject"/>
  <Override PartName="/ppt/embeddings/oleObject62.bin" ContentType="application/vnd.openxmlformats-officedocument.oleObject"/>
  <Override PartName="/ppt/embeddings/oleObject63.bin" ContentType="application/vnd.openxmlformats-officedocument.oleObject"/>
  <Override PartName="/ppt/embeddings/oleObject64.bin" ContentType="application/vnd.openxmlformats-officedocument.oleObject"/>
  <Override PartName="/ppt/embeddings/oleObject65.bin" ContentType="application/vnd.openxmlformats-officedocument.oleObject"/>
  <Override PartName="/ppt/embeddings/oleObject66.bin" ContentType="application/vnd.openxmlformats-officedocument.oleObject"/>
  <Override PartName="/ppt/embeddings/oleObject67.bin" ContentType="application/vnd.openxmlformats-officedocument.oleObject"/>
  <Override PartName="/ppt/embeddings/oleObject68.bin" ContentType="application/vnd.openxmlformats-officedocument.oleObject"/>
  <Override PartName="/ppt/embeddings/oleObject69.bin" ContentType="application/vnd.openxmlformats-officedocument.oleObject"/>
  <Override PartName="/ppt/embeddings/oleObject7.bin" ContentType="application/vnd.openxmlformats-officedocument.oleObject"/>
  <Override PartName="/ppt/embeddings/oleObject70.bin" ContentType="application/vnd.openxmlformats-officedocument.oleObject"/>
  <Override PartName="/ppt/embeddings/oleObject71.bin" ContentType="application/vnd.openxmlformats-officedocument.oleObject"/>
  <Override PartName="/ppt/embeddings/oleObject72.bin" ContentType="application/vnd.openxmlformats-officedocument.oleObject"/>
  <Override PartName="/ppt/embeddings/oleObject73.bin" ContentType="application/vnd.openxmlformats-officedocument.oleObject"/>
  <Override PartName="/ppt/embeddings/oleObject74.bin" ContentType="application/vnd.openxmlformats-officedocument.oleObject"/>
  <Override PartName="/ppt/embeddings/oleObject75.bin" ContentType="application/vnd.openxmlformats-officedocument.oleObject"/>
  <Override PartName="/ppt/embeddings/oleObject76.bin" ContentType="application/vnd.openxmlformats-officedocument.oleObject"/>
  <Override PartName="/ppt/embeddings/oleObject77.bin" ContentType="application/vnd.openxmlformats-officedocument.oleObject"/>
  <Override PartName="/ppt/embeddings/oleObject78.bin" ContentType="application/vnd.openxmlformats-officedocument.oleObject"/>
  <Override PartName="/ppt/embeddings/oleObject79.bin" ContentType="application/vnd.openxmlformats-officedocument.oleObject"/>
  <Override PartName="/ppt/embeddings/oleObject8.bin" ContentType="application/vnd.openxmlformats-officedocument.oleObject"/>
  <Override PartName="/ppt/embeddings/oleObject80.bin" ContentType="application/vnd.openxmlformats-officedocument.oleObject"/>
  <Override PartName="/ppt/embeddings/oleObject81.bin" ContentType="application/vnd.openxmlformats-officedocument.oleObject"/>
  <Override PartName="/ppt/embeddings/oleObject82.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62"/>
  </p:notesMasterIdLst>
  <p:handoutMasterIdLst>
    <p:handoutMasterId r:id="rId63"/>
  </p:handoutMasterIdLst>
  <p:sldIdLst>
    <p:sldId id="1427" r:id="rId23"/>
  </p:sldIdLst>
  <p:sldSz cx="9144000" cy="6858000" type="screen4x3"/>
  <p:notesSz cx="7099300" cy="10234613"/>
  <p:custDataLst>
    <p:tags r:id="rId64"/>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0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0070C0"/>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F22E33"/>
    <a:srgbClr val="004376"/>
    <a:srgbClr val="AC8300"/>
    <a:srgbClr val="B40000"/>
    <a:srgbClr val="FF0000"/>
    <a:srgbClr val="808080"/>
    <a:srgbClr val="FFC000"/>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761" autoAdjust="0"/>
    <p:restoredTop sz="89613" autoAdjust="0"/>
  </p:normalViewPr>
  <p:slideViewPr>
    <p:cSldViewPr>
      <p:cViewPr varScale="1">
        <p:scale>
          <a:sx n="94" d="100"/>
          <a:sy n="94" d="100"/>
        </p:scale>
        <p:origin x="60" y="1160"/>
      </p:cViewPr>
      <p:guideLst>
        <p:guide orient="horz" pos="2160"/>
        <p:guide pos="1020"/>
      </p:guideLst>
    </p:cSldViewPr>
  </p:slideViewPr>
  <p:outlineViewPr>
    <p:cViewPr>
      <p:scale>
        <a:sx n="33" d="100"/>
        <a:sy n="33" d="100"/>
      </p:scale>
      <p:origin x="0" y="0"/>
    </p:cViewPr>
  </p:outlineViewPr>
  <p:notesTextViewPr>
    <p:cViewPr>
      <p:scale>
        <a:sx n="3" d="2"/>
        <a:sy n="3" d="2"/>
      </p:scale>
      <p:origin x="0" y="0"/>
    </p:cViewPr>
  </p:notesTextViewPr>
  <p:sorterViewPr>
    <p:cViewPr>
      <p:scale>
        <a:sx n="160" d="100"/>
        <a:sy n="160" d="100"/>
      </p:scale>
      <p:origin x="0" y="-1226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tags" Target="tags/tag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16C643-905B-4D8D-AD88-3044AF7D3CAE}" type="doc">
      <dgm:prSet loTypeId="urn:microsoft.com/office/officeart/2005/8/layout/vProcess5" loCatId="process" qsTypeId="urn:microsoft.com/office/officeart/2005/8/quickstyle/simple1" qsCatId="simple" csTypeId="urn:microsoft.com/office/officeart/2005/8/colors/colorful5" csCatId="colorful" phldr="1"/>
      <dgm:spPr/>
      <dgm:t>
        <a:bodyPr/>
        <a:lstStyle/>
        <a:p>
          <a:endParaRPr lang="en-US"/>
        </a:p>
      </dgm:t>
    </dgm:pt>
    <dgm:pt modelId="{2B7574A5-FD12-4BF3-97D4-53306F36018E}">
      <dgm:prSet phldrT="[Text]" custT="1"/>
      <dgm:spPr/>
      <dgm:t>
        <a:bodyPr/>
        <a:lstStyle/>
        <a:p>
          <a:r>
            <a:rPr lang="de-DE" sz="2400" dirty="0"/>
            <a:t>Schicht k nutzt </a:t>
          </a:r>
          <a:r>
            <a:rPr lang="de-DE" sz="2400" u="sng" dirty="0"/>
            <a:t>nur</a:t>
          </a:r>
          <a:r>
            <a:rPr lang="de-DE" sz="2400" dirty="0"/>
            <a:t> Dienste von Schicht (k-1)</a:t>
          </a:r>
          <a:endParaRPr lang="en-US" sz="2400" dirty="0"/>
        </a:p>
      </dgm:t>
    </dgm:pt>
    <dgm:pt modelId="{E940EF67-C509-4C8E-9F8E-C5D7D1F08DD8}" type="parTrans" cxnId="{76A5F78C-D1DA-48CA-9EA8-BA903BD5C019}">
      <dgm:prSet/>
      <dgm:spPr/>
      <dgm:t>
        <a:bodyPr/>
        <a:lstStyle/>
        <a:p>
          <a:endParaRPr lang="en-US" sz="2000"/>
        </a:p>
      </dgm:t>
    </dgm:pt>
    <dgm:pt modelId="{148EE6AB-9A56-4AB9-9801-7A7B85BDC63C}" type="sibTrans" cxnId="{76A5F78C-D1DA-48CA-9EA8-BA903BD5C019}">
      <dgm:prSet custT="1"/>
      <dgm:spPr/>
      <dgm:t>
        <a:bodyPr/>
        <a:lstStyle/>
        <a:p>
          <a:endParaRPr lang="en-US" sz="2400"/>
        </a:p>
      </dgm:t>
    </dgm:pt>
    <dgm:pt modelId="{B9F1CDC3-0BD9-4A60-A52F-24191AC84816}">
      <dgm:prSet phldrT="[Text]" custT="1"/>
      <dgm:spPr/>
      <dgm:t>
        <a:bodyPr/>
        <a:lstStyle/>
        <a:p>
          <a:r>
            <a:rPr lang="de-DE" sz="2400" dirty="0"/>
            <a:t>Schicht (k-1) nutzt </a:t>
          </a:r>
          <a:r>
            <a:rPr lang="de-DE" sz="2400" u="sng" dirty="0"/>
            <a:t>nur</a:t>
          </a:r>
          <a:r>
            <a:rPr lang="de-DE" sz="2400" dirty="0"/>
            <a:t> Dienste von S. (k-2)</a:t>
          </a:r>
          <a:endParaRPr lang="en-US" sz="2400" dirty="0"/>
        </a:p>
      </dgm:t>
    </dgm:pt>
    <dgm:pt modelId="{2959B492-14DA-4311-AD2D-B598D3FF37A1}" type="parTrans" cxnId="{21B5B7B3-22F0-401B-8D79-BF0D0B29CF1D}">
      <dgm:prSet/>
      <dgm:spPr/>
      <dgm:t>
        <a:bodyPr/>
        <a:lstStyle/>
        <a:p>
          <a:endParaRPr lang="en-US" sz="2000"/>
        </a:p>
      </dgm:t>
    </dgm:pt>
    <dgm:pt modelId="{E84E16B0-26DB-4AFE-BA66-AACA54BD965E}" type="sibTrans" cxnId="{21B5B7B3-22F0-401B-8D79-BF0D0B29CF1D}">
      <dgm:prSet custT="1"/>
      <dgm:spPr/>
      <dgm:t>
        <a:bodyPr/>
        <a:lstStyle/>
        <a:p>
          <a:endParaRPr lang="en-US" sz="2400"/>
        </a:p>
      </dgm:t>
    </dgm:pt>
    <dgm:pt modelId="{19341F19-D421-4D93-A67A-30FDD3D5C29A}">
      <dgm:prSet phldrT="[Text]" custT="1"/>
      <dgm:spPr/>
      <dgm:t>
        <a:bodyPr/>
        <a:lstStyle/>
        <a:p>
          <a:r>
            <a:rPr lang="de-DE" sz="2400" dirty="0"/>
            <a:t>Schicht (k-2</a:t>
          </a:r>
          <a:r>
            <a:rPr lang="de-DE" sz="2400"/>
            <a:t>) nutzt </a:t>
          </a:r>
          <a:r>
            <a:rPr lang="de-DE" sz="2400" u="sng" dirty="0"/>
            <a:t>nur</a:t>
          </a:r>
          <a:r>
            <a:rPr lang="de-DE" sz="2400" dirty="0"/>
            <a:t> Dienste von S. (k-3)</a:t>
          </a:r>
          <a:endParaRPr lang="en-US" sz="2400" dirty="0"/>
        </a:p>
      </dgm:t>
    </dgm:pt>
    <dgm:pt modelId="{B09660A4-9133-44E7-9278-C074655B4453}" type="parTrans" cxnId="{99B495D7-289C-4DD4-A443-CCAFC7B7BD74}">
      <dgm:prSet/>
      <dgm:spPr/>
      <dgm:t>
        <a:bodyPr/>
        <a:lstStyle/>
        <a:p>
          <a:endParaRPr lang="en-US" sz="2000"/>
        </a:p>
      </dgm:t>
    </dgm:pt>
    <dgm:pt modelId="{1B75CE9F-30D5-4E00-ADE0-95D81347202E}" type="sibTrans" cxnId="{99B495D7-289C-4DD4-A443-CCAFC7B7BD74}">
      <dgm:prSet/>
      <dgm:spPr/>
      <dgm:t>
        <a:bodyPr/>
        <a:lstStyle/>
        <a:p>
          <a:endParaRPr lang="en-US" sz="2000"/>
        </a:p>
      </dgm:t>
    </dgm:pt>
    <dgm:pt modelId="{FFC34F16-A26F-4BAB-BB9F-B07E162A1C82}" type="pres">
      <dgm:prSet presAssocID="{5616C643-905B-4D8D-AD88-3044AF7D3CAE}" presName="outerComposite" presStyleCnt="0">
        <dgm:presLayoutVars>
          <dgm:chMax val="5"/>
          <dgm:dir/>
          <dgm:resizeHandles val="exact"/>
        </dgm:presLayoutVars>
      </dgm:prSet>
      <dgm:spPr/>
    </dgm:pt>
    <dgm:pt modelId="{958AC733-EBB2-42D4-8FD6-E5EFDC4F7032}" type="pres">
      <dgm:prSet presAssocID="{5616C643-905B-4D8D-AD88-3044AF7D3CAE}" presName="dummyMaxCanvas" presStyleCnt="0">
        <dgm:presLayoutVars/>
      </dgm:prSet>
      <dgm:spPr/>
    </dgm:pt>
    <dgm:pt modelId="{6AB0373A-B0F8-4972-B442-0286D8737FFB}" type="pres">
      <dgm:prSet presAssocID="{5616C643-905B-4D8D-AD88-3044AF7D3CAE}" presName="ThreeNodes_1" presStyleLbl="node1" presStyleIdx="0" presStyleCnt="3">
        <dgm:presLayoutVars>
          <dgm:bulletEnabled val="1"/>
        </dgm:presLayoutVars>
      </dgm:prSet>
      <dgm:spPr/>
    </dgm:pt>
    <dgm:pt modelId="{D15C992F-3A56-40F1-92C9-785CFE981B7E}" type="pres">
      <dgm:prSet presAssocID="{5616C643-905B-4D8D-AD88-3044AF7D3CAE}" presName="ThreeNodes_2" presStyleLbl="node1" presStyleIdx="1" presStyleCnt="3">
        <dgm:presLayoutVars>
          <dgm:bulletEnabled val="1"/>
        </dgm:presLayoutVars>
      </dgm:prSet>
      <dgm:spPr/>
    </dgm:pt>
    <dgm:pt modelId="{BCC05C4B-894E-4E58-9138-FA0E73458432}" type="pres">
      <dgm:prSet presAssocID="{5616C643-905B-4D8D-AD88-3044AF7D3CAE}" presName="ThreeNodes_3" presStyleLbl="node1" presStyleIdx="2" presStyleCnt="3">
        <dgm:presLayoutVars>
          <dgm:bulletEnabled val="1"/>
        </dgm:presLayoutVars>
      </dgm:prSet>
      <dgm:spPr/>
    </dgm:pt>
    <dgm:pt modelId="{5511A758-A0AF-49D5-9491-DABF57F9750C}" type="pres">
      <dgm:prSet presAssocID="{5616C643-905B-4D8D-AD88-3044AF7D3CAE}" presName="ThreeConn_1-2" presStyleLbl="fgAccFollowNode1" presStyleIdx="0" presStyleCnt="2">
        <dgm:presLayoutVars>
          <dgm:bulletEnabled val="1"/>
        </dgm:presLayoutVars>
      </dgm:prSet>
      <dgm:spPr/>
    </dgm:pt>
    <dgm:pt modelId="{7C7F78EF-309B-4248-BB76-AA49DFCFD69C}" type="pres">
      <dgm:prSet presAssocID="{5616C643-905B-4D8D-AD88-3044AF7D3CAE}" presName="ThreeConn_2-3" presStyleLbl="fgAccFollowNode1" presStyleIdx="1" presStyleCnt="2">
        <dgm:presLayoutVars>
          <dgm:bulletEnabled val="1"/>
        </dgm:presLayoutVars>
      </dgm:prSet>
      <dgm:spPr/>
    </dgm:pt>
    <dgm:pt modelId="{F3DF54E9-46FB-4171-BE23-88484B3D415D}" type="pres">
      <dgm:prSet presAssocID="{5616C643-905B-4D8D-AD88-3044AF7D3CAE}" presName="ThreeNodes_1_text" presStyleLbl="node1" presStyleIdx="2" presStyleCnt="3">
        <dgm:presLayoutVars>
          <dgm:bulletEnabled val="1"/>
        </dgm:presLayoutVars>
      </dgm:prSet>
      <dgm:spPr/>
    </dgm:pt>
    <dgm:pt modelId="{57EB75F5-961E-4FE1-9D9B-166C642455BE}" type="pres">
      <dgm:prSet presAssocID="{5616C643-905B-4D8D-AD88-3044AF7D3CAE}" presName="ThreeNodes_2_text" presStyleLbl="node1" presStyleIdx="2" presStyleCnt="3">
        <dgm:presLayoutVars>
          <dgm:bulletEnabled val="1"/>
        </dgm:presLayoutVars>
      </dgm:prSet>
      <dgm:spPr/>
    </dgm:pt>
    <dgm:pt modelId="{791BC8D3-4336-4888-8446-4EC54FF7D8D5}" type="pres">
      <dgm:prSet presAssocID="{5616C643-905B-4D8D-AD88-3044AF7D3CAE}" presName="ThreeNodes_3_text" presStyleLbl="node1" presStyleIdx="2" presStyleCnt="3">
        <dgm:presLayoutVars>
          <dgm:bulletEnabled val="1"/>
        </dgm:presLayoutVars>
      </dgm:prSet>
      <dgm:spPr/>
    </dgm:pt>
  </dgm:ptLst>
  <dgm:cxnLst>
    <dgm:cxn modelId="{58E97262-1D03-42FC-83D6-CBF7A5876FE1}" type="presOf" srcId="{B9F1CDC3-0BD9-4A60-A52F-24191AC84816}" destId="{57EB75F5-961E-4FE1-9D9B-166C642455BE}" srcOrd="1" destOrd="0" presId="urn:microsoft.com/office/officeart/2005/8/layout/vProcess5"/>
    <dgm:cxn modelId="{19036D4F-22F0-4327-8924-7D9327D28B3C}" type="presOf" srcId="{148EE6AB-9A56-4AB9-9801-7A7B85BDC63C}" destId="{5511A758-A0AF-49D5-9491-DABF57F9750C}" srcOrd="0" destOrd="0" presId="urn:microsoft.com/office/officeart/2005/8/layout/vProcess5"/>
    <dgm:cxn modelId="{0E23F159-D80E-4CED-B464-AFE2F60899D4}" type="presOf" srcId="{5616C643-905B-4D8D-AD88-3044AF7D3CAE}" destId="{FFC34F16-A26F-4BAB-BB9F-B07E162A1C82}" srcOrd="0" destOrd="0" presId="urn:microsoft.com/office/officeart/2005/8/layout/vProcess5"/>
    <dgm:cxn modelId="{6212B78C-139B-4412-94F6-89E2F8D45E7A}" type="presOf" srcId="{2B7574A5-FD12-4BF3-97D4-53306F36018E}" destId="{F3DF54E9-46FB-4171-BE23-88484B3D415D}" srcOrd="1" destOrd="0" presId="urn:microsoft.com/office/officeart/2005/8/layout/vProcess5"/>
    <dgm:cxn modelId="{76A5F78C-D1DA-48CA-9EA8-BA903BD5C019}" srcId="{5616C643-905B-4D8D-AD88-3044AF7D3CAE}" destId="{2B7574A5-FD12-4BF3-97D4-53306F36018E}" srcOrd="0" destOrd="0" parTransId="{E940EF67-C509-4C8E-9F8E-C5D7D1F08DD8}" sibTransId="{148EE6AB-9A56-4AB9-9801-7A7B85BDC63C}"/>
    <dgm:cxn modelId="{83F53896-F04F-4884-8CC4-442BDA8018BF}" type="presOf" srcId="{2B7574A5-FD12-4BF3-97D4-53306F36018E}" destId="{6AB0373A-B0F8-4972-B442-0286D8737FFB}" srcOrd="0" destOrd="0" presId="urn:microsoft.com/office/officeart/2005/8/layout/vProcess5"/>
    <dgm:cxn modelId="{75BCCFA6-3F8C-46BA-ABFF-E39D8CC185ED}" type="presOf" srcId="{E84E16B0-26DB-4AFE-BA66-AACA54BD965E}" destId="{7C7F78EF-309B-4248-BB76-AA49DFCFD69C}" srcOrd="0" destOrd="0" presId="urn:microsoft.com/office/officeart/2005/8/layout/vProcess5"/>
    <dgm:cxn modelId="{2F0C93AD-3DB9-4880-9A77-6913979CCD66}" type="presOf" srcId="{19341F19-D421-4D93-A67A-30FDD3D5C29A}" destId="{791BC8D3-4336-4888-8446-4EC54FF7D8D5}" srcOrd="1" destOrd="0" presId="urn:microsoft.com/office/officeart/2005/8/layout/vProcess5"/>
    <dgm:cxn modelId="{7B6CDDAD-C02D-4BCB-B008-6897E1306268}" type="presOf" srcId="{B9F1CDC3-0BD9-4A60-A52F-24191AC84816}" destId="{D15C992F-3A56-40F1-92C9-785CFE981B7E}" srcOrd="0" destOrd="0" presId="urn:microsoft.com/office/officeart/2005/8/layout/vProcess5"/>
    <dgm:cxn modelId="{21B5B7B3-22F0-401B-8D79-BF0D0B29CF1D}" srcId="{5616C643-905B-4D8D-AD88-3044AF7D3CAE}" destId="{B9F1CDC3-0BD9-4A60-A52F-24191AC84816}" srcOrd="1" destOrd="0" parTransId="{2959B492-14DA-4311-AD2D-B598D3FF37A1}" sibTransId="{E84E16B0-26DB-4AFE-BA66-AACA54BD965E}"/>
    <dgm:cxn modelId="{99B495D7-289C-4DD4-A443-CCAFC7B7BD74}" srcId="{5616C643-905B-4D8D-AD88-3044AF7D3CAE}" destId="{19341F19-D421-4D93-A67A-30FDD3D5C29A}" srcOrd="2" destOrd="0" parTransId="{B09660A4-9133-44E7-9278-C074655B4453}" sibTransId="{1B75CE9F-30D5-4E00-ADE0-95D81347202E}"/>
    <dgm:cxn modelId="{F7F709DA-06DF-4E25-85EC-CC85A75402DE}" type="presOf" srcId="{19341F19-D421-4D93-A67A-30FDD3D5C29A}" destId="{BCC05C4B-894E-4E58-9138-FA0E73458432}" srcOrd="0" destOrd="0" presId="urn:microsoft.com/office/officeart/2005/8/layout/vProcess5"/>
    <dgm:cxn modelId="{85BB550A-3C15-4CE2-A250-90718AE608FA}" type="presParOf" srcId="{FFC34F16-A26F-4BAB-BB9F-B07E162A1C82}" destId="{958AC733-EBB2-42D4-8FD6-E5EFDC4F7032}" srcOrd="0" destOrd="0" presId="urn:microsoft.com/office/officeart/2005/8/layout/vProcess5"/>
    <dgm:cxn modelId="{9918DBF9-40BC-4ADE-8AAF-A539EDB4941F}" type="presParOf" srcId="{FFC34F16-A26F-4BAB-BB9F-B07E162A1C82}" destId="{6AB0373A-B0F8-4972-B442-0286D8737FFB}" srcOrd="1" destOrd="0" presId="urn:microsoft.com/office/officeart/2005/8/layout/vProcess5"/>
    <dgm:cxn modelId="{7F775E65-4C6D-4885-AC89-17CC38792A77}" type="presParOf" srcId="{FFC34F16-A26F-4BAB-BB9F-B07E162A1C82}" destId="{D15C992F-3A56-40F1-92C9-785CFE981B7E}" srcOrd="2" destOrd="0" presId="urn:microsoft.com/office/officeart/2005/8/layout/vProcess5"/>
    <dgm:cxn modelId="{2706F509-8EB0-425A-B7E2-9676E1E10D74}" type="presParOf" srcId="{FFC34F16-A26F-4BAB-BB9F-B07E162A1C82}" destId="{BCC05C4B-894E-4E58-9138-FA0E73458432}" srcOrd="3" destOrd="0" presId="urn:microsoft.com/office/officeart/2005/8/layout/vProcess5"/>
    <dgm:cxn modelId="{C892B260-0BC7-4C2E-9705-7AC42CB9D0BC}" type="presParOf" srcId="{FFC34F16-A26F-4BAB-BB9F-B07E162A1C82}" destId="{5511A758-A0AF-49D5-9491-DABF57F9750C}" srcOrd="4" destOrd="0" presId="urn:microsoft.com/office/officeart/2005/8/layout/vProcess5"/>
    <dgm:cxn modelId="{AEA0ADF0-7EE5-4E73-9266-8D999D2F2ECD}" type="presParOf" srcId="{FFC34F16-A26F-4BAB-BB9F-B07E162A1C82}" destId="{7C7F78EF-309B-4248-BB76-AA49DFCFD69C}" srcOrd="5" destOrd="0" presId="urn:microsoft.com/office/officeart/2005/8/layout/vProcess5"/>
    <dgm:cxn modelId="{87D4C2CC-DB33-458D-B407-440E2D825EBC}" type="presParOf" srcId="{FFC34F16-A26F-4BAB-BB9F-B07E162A1C82}" destId="{F3DF54E9-46FB-4171-BE23-88484B3D415D}" srcOrd="6" destOrd="0" presId="urn:microsoft.com/office/officeart/2005/8/layout/vProcess5"/>
    <dgm:cxn modelId="{7ADB5E4A-09FF-4633-82FC-41B366DB43EE}" type="presParOf" srcId="{FFC34F16-A26F-4BAB-BB9F-B07E162A1C82}" destId="{57EB75F5-961E-4FE1-9D9B-166C642455BE}" srcOrd="7" destOrd="0" presId="urn:microsoft.com/office/officeart/2005/8/layout/vProcess5"/>
    <dgm:cxn modelId="{65F45C51-E5BF-4F6E-B5CA-858C704C4A26}" type="presParOf" srcId="{FFC34F16-A26F-4BAB-BB9F-B07E162A1C82}" destId="{791BC8D3-4336-4888-8446-4EC54FF7D8D5}"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B0373A-B0F8-4972-B442-0286D8737FFB}">
      <dsp:nvSpPr>
        <dsp:cNvPr id="0" name=""/>
        <dsp:cNvSpPr/>
      </dsp:nvSpPr>
      <dsp:spPr>
        <a:xfrm>
          <a:off x="0" y="0"/>
          <a:ext cx="7619814" cy="677730"/>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dirty="0"/>
            <a:t>Schicht k nutzt </a:t>
          </a:r>
          <a:r>
            <a:rPr lang="de-DE" sz="2400" u="sng" kern="1200" dirty="0"/>
            <a:t>nur</a:t>
          </a:r>
          <a:r>
            <a:rPr lang="de-DE" sz="2400" kern="1200" dirty="0"/>
            <a:t> Dienste von Schicht (k-1)</a:t>
          </a:r>
          <a:endParaRPr lang="en-US" sz="2400" kern="1200" dirty="0"/>
        </a:p>
      </dsp:txBody>
      <dsp:txXfrm>
        <a:off x="19850" y="19850"/>
        <a:ext cx="6888490" cy="638030"/>
      </dsp:txXfrm>
    </dsp:sp>
    <dsp:sp modelId="{D15C992F-3A56-40F1-92C9-785CFE981B7E}">
      <dsp:nvSpPr>
        <dsp:cNvPr id="0" name=""/>
        <dsp:cNvSpPr/>
      </dsp:nvSpPr>
      <dsp:spPr>
        <a:xfrm>
          <a:off x="672336" y="790686"/>
          <a:ext cx="7619814" cy="677730"/>
        </a:xfrm>
        <a:prstGeom prst="roundRect">
          <a:avLst>
            <a:gd name="adj" fmla="val 10000"/>
          </a:avLst>
        </a:prstGeom>
        <a:solidFill>
          <a:schemeClr val="accent5">
            <a:hueOff val="-3379271"/>
            <a:satOff val="-8710"/>
            <a:lumOff val="-588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dirty="0"/>
            <a:t>Schicht (k-1) nutzt </a:t>
          </a:r>
          <a:r>
            <a:rPr lang="de-DE" sz="2400" u="sng" kern="1200" dirty="0"/>
            <a:t>nur</a:t>
          </a:r>
          <a:r>
            <a:rPr lang="de-DE" sz="2400" kern="1200" dirty="0"/>
            <a:t> Dienste von S. (k-2)</a:t>
          </a:r>
          <a:endParaRPr lang="en-US" sz="2400" kern="1200" dirty="0"/>
        </a:p>
      </dsp:txBody>
      <dsp:txXfrm>
        <a:off x="692186" y="810536"/>
        <a:ext cx="6467253" cy="638030"/>
      </dsp:txXfrm>
    </dsp:sp>
    <dsp:sp modelId="{BCC05C4B-894E-4E58-9138-FA0E73458432}">
      <dsp:nvSpPr>
        <dsp:cNvPr id="0" name=""/>
        <dsp:cNvSpPr/>
      </dsp:nvSpPr>
      <dsp:spPr>
        <a:xfrm>
          <a:off x="1344673" y="1581372"/>
          <a:ext cx="7619814" cy="677730"/>
        </a:xfrm>
        <a:prstGeom prst="roundRect">
          <a:avLst>
            <a:gd name="adj" fmla="val 10000"/>
          </a:avLst>
        </a:prstGeom>
        <a:solidFill>
          <a:schemeClr val="accent5">
            <a:hueOff val="-6758543"/>
            <a:satOff val="-17419"/>
            <a:lumOff val="-1176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dirty="0"/>
            <a:t>Schicht (k-2</a:t>
          </a:r>
          <a:r>
            <a:rPr lang="de-DE" sz="2400" kern="1200"/>
            <a:t>) nutzt </a:t>
          </a:r>
          <a:r>
            <a:rPr lang="de-DE" sz="2400" u="sng" kern="1200" dirty="0"/>
            <a:t>nur</a:t>
          </a:r>
          <a:r>
            <a:rPr lang="de-DE" sz="2400" kern="1200" dirty="0"/>
            <a:t> Dienste von S. (k-3)</a:t>
          </a:r>
          <a:endParaRPr lang="en-US" sz="2400" kern="1200" dirty="0"/>
        </a:p>
      </dsp:txBody>
      <dsp:txXfrm>
        <a:off x="1364523" y="1601222"/>
        <a:ext cx="6467253" cy="638030"/>
      </dsp:txXfrm>
    </dsp:sp>
    <dsp:sp modelId="{5511A758-A0AF-49D5-9491-DABF57F9750C}">
      <dsp:nvSpPr>
        <dsp:cNvPr id="0" name=""/>
        <dsp:cNvSpPr/>
      </dsp:nvSpPr>
      <dsp:spPr>
        <a:xfrm>
          <a:off x="7179289" y="513945"/>
          <a:ext cx="440525" cy="440525"/>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278407" y="513945"/>
        <a:ext cx="242289" cy="331495"/>
      </dsp:txXfrm>
    </dsp:sp>
    <dsp:sp modelId="{7C7F78EF-309B-4248-BB76-AA49DFCFD69C}">
      <dsp:nvSpPr>
        <dsp:cNvPr id="0" name=""/>
        <dsp:cNvSpPr/>
      </dsp:nvSpPr>
      <dsp:spPr>
        <a:xfrm>
          <a:off x="7851626" y="1300113"/>
          <a:ext cx="440525" cy="440525"/>
        </a:xfrm>
        <a:prstGeom prst="downArrow">
          <a:avLst>
            <a:gd name="adj1" fmla="val 55000"/>
            <a:gd name="adj2" fmla="val 45000"/>
          </a:avLst>
        </a:prstGeom>
        <a:solidFill>
          <a:schemeClr val="accent5">
            <a:tint val="40000"/>
            <a:alpha val="90000"/>
            <a:hueOff val="-6739762"/>
            <a:satOff val="-22832"/>
            <a:lumOff val="-2928"/>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950744" y="1300113"/>
        <a:ext cx="242289" cy="33149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2"/>
            <a:ext cx="3076363" cy="511731"/>
          </a:xfrm>
          <a:prstGeom prst="rect">
            <a:avLst/>
          </a:prstGeom>
        </p:spPr>
        <p:txBody>
          <a:bodyPr vert="horz" lIns="95489" tIns="47744" rIns="95489" bIns="47744" rtlCol="0"/>
          <a:lstStyle>
            <a:lvl1pPr algn="l">
              <a:defRPr sz="1400"/>
            </a:lvl1pPr>
          </a:lstStyle>
          <a:p>
            <a:endParaRPr lang="de-DE" dirty="0"/>
          </a:p>
        </p:txBody>
      </p:sp>
      <p:sp>
        <p:nvSpPr>
          <p:cNvPr id="3" name="Datumsplatzhalter 2"/>
          <p:cNvSpPr>
            <a:spLocks noGrp="1"/>
          </p:cNvSpPr>
          <p:nvPr>
            <p:ph type="dt" sz="quarter" idx="1"/>
          </p:nvPr>
        </p:nvSpPr>
        <p:spPr>
          <a:xfrm>
            <a:off x="4021296" y="2"/>
            <a:ext cx="3076363" cy="511731"/>
          </a:xfrm>
          <a:prstGeom prst="rect">
            <a:avLst/>
          </a:prstGeom>
        </p:spPr>
        <p:txBody>
          <a:bodyPr vert="horz" lIns="95489" tIns="47744" rIns="95489" bIns="47744" rtlCol="0"/>
          <a:lstStyle>
            <a:lvl1pPr algn="r">
              <a:defRPr sz="1400"/>
            </a:lvl1pPr>
          </a:lstStyle>
          <a:p>
            <a:fld id="{503D259A-BC5A-44A4-AF17-09BFC30AC7B9}" type="datetimeFigureOut">
              <a:rPr lang="de-DE" smtClean="0"/>
              <a:pPr/>
              <a:t>15.06.2026</a:t>
            </a:fld>
            <a:endParaRPr lang="de-DE" dirty="0"/>
          </a:p>
        </p:txBody>
      </p:sp>
      <p:sp>
        <p:nvSpPr>
          <p:cNvPr id="4" name="Fußzeilenplatzhalter 3"/>
          <p:cNvSpPr>
            <a:spLocks noGrp="1"/>
          </p:cNvSpPr>
          <p:nvPr>
            <p:ph type="ftr" sz="quarter" idx="2"/>
          </p:nvPr>
        </p:nvSpPr>
        <p:spPr>
          <a:xfrm>
            <a:off x="2" y="9721109"/>
            <a:ext cx="3076363" cy="511731"/>
          </a:xfrm>
          <a:prstGeom prst="rect">
            <a:avLst/>
          </a:prstGeom>
        </p:spPr>
        <p:txBody>
          <a:bodyPr vert="horz" lIns="95489" tIns="47744" rIns="95489" bIns="47744" rtlCol="0" anchor="b"/>
          <a:lstStyle>
            <a:lvl1pPr algn="l">
              <a:defRPr sz="1400"/>
            </a:lvl1pPr>
          </a:lstStyle>
          <a:p>
            <a:endParaRPr lang="de-DE" dirty="0"/>
          </a:p>
        </p:txBody>
      </p:sp>
      <p:sp>
        <p:nvSpPr>
          <p:cNvPr id="5" name="Foliennummernplatzhalter 4"/>
          <p:cNvSpPr>
            <a:spLocks noGrp="1"/>
          </p:cNvSpPr>
          <p:nvPr>
            <p:ph type="sldNum" sz="quarter" idx="3"/>
          </p:nvPr>
        </p:nvSpPr>
        <p:spPr>
          <a:xfrm>
            <a:off x="4021296" y="9721109"/>
            <a:ext cx="3076363" cy="511731"/>
          </a:xfrm>
          <a:prstGeom prst="rect">
            <a:avLst/>
          </a:prstGeom>
        </p:spPr>
        <p:txBody>
          <a:bodyPr vert="horz" lIns="95489" tIns="47744" rIns="95489" bIns="47744" rtlCol="0" anchor="b"/>
          <a:lstStyle>
            <a:lvl1pPr algn="r">
              <a:defRPr sz="1400"/>
            </a:lvl1pPr>
          </a:lstStyle>
          <a:p>
            <a:fld id="{69916C2F-BC73-49DB-9119-EC35D25111C2}" type="slidenum">
              <a:rPr lang="de-DE" smtClean="0"/>
              <a:pPr/>
              <a:t>‹Nr.›</a:t>
            </a:fld>
            <a:endParaRPr lang="de-DE" dirty="0"/>
          </a:p>
        </p:txBody>
      </p:sp>
    </p:spTree>
    <p:extLst>
      <p:ext uri="{BB962C8B-B14F-4D97-AF65-F5344CB8AC3E}">
        <p14:creationId xmlns:p14="http://schemas.microsoft.com/office/powerpoint/2010/main" val="772789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2"/>
            <a:ext cx="3076363" cy="511731"/>
          </a:xfrm>
          <a:prstGeom prst="rect">
            <a:avLst/>
          </a:prstGeom>
        </p:spPr>
        <p:txBody>
          <a:bodyPr vert="horz" lIns="95489" tIns="47744" rIns="95489" bIns="47744" rtlCol="0"/>
          <a:lstStyle>
            <a:lvl1pPr algn="l">
              <a:defRPr sz="1400"/>
            </a:lvl1pPr>
          </a:lstStyle>
          <a:p>
            <a:endParaRPr lang="en-US" dirty="0"/>
          </a:p>
        </p:txBody>
      </p:sp>
      <p:sp>
        <p:nvSpPr>
          <p:cNvPr id="3" name="Datumsplatzhalter 2"/>
          <p:cNvSpPr>
            <a:spLocks noGrp="1"/>
          </p:cNvSpPr>
          <p:nvPr>
            <p:ph type="dt" idx="1"/>
          </p:nvPr>
        </p:nvSpPr>
        <p:spPr>
          <a:xfrm>
            <a:off x="4021296" y="2"/>
            <a:ext cx="3076363" cy="511731"/>
          </a:xfrm>
          <a:prstGeom prst="rect">
            <a:avLst/>
          </a:prstGeom>
        </p:spPr>
        <p:txBody>
          <a:bodyPr vert="horz" lIns="95489" tIns="47744" rIns="95489" bIns="47744" rtlCol="0"/>
          <a:lstStyle>
            <a:lvl1pPr algn="r">
              <a:defRPr sz="1400"/>
            </a:lvl1pPr>
          </a:lstStyle>
          <a:p>
            <a:fld id="{4007A66C-EE28-4ADD-A611-42716BED3A40}" type="datetimeFigureOut">
              <a:rPr lang="en-US" smtClean="0"/>
              <a:pPr/>
              <a:t>6/15/2026</a:t>
            </a:fld>
            <a:endParaRPr lang="en-US" dirty="0"/>
          </a:p>
        </p:txBody>
      </p:sp>
      <p:sp>
        <p:nvSpPr>
          <p:cNvPr id="4" name="Folienbildplatzhalt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5489" tIns="47744" rIns="95489" bIns="47744" rtlCol="0" anchor="ctr"/>
          <a:lstStyle/>
          <a:p>
            <a:endParaRPr lang="en-US" dirty="0"/>
          </a:p>
        </p:txBody>
      </p:sp>
      <p:sp>
        <p:nvSpPr>
          <p:cNvPr id="5" name="Notizenplatzhalter 4"/>
          <p:cNvSpPr>
            <a:spLocks noGrp="1"/>
          </p:cNvSpPr>
          <p:nvPr>
            <p:ph type="body" sz="quarter" idx="3"/>
          </p:nvPr>
        </p:nvSpPr>
        <p:spPr>
          <a:xfrm>
            <a:off x="709933" y="4861442"/>
            <a:ext cx="5679439" cy="4605574"/>
          </a:xfrm>
          <a:prstGeom prst="rect">
            <a:avLst/>
          </a:prstGeom>
        </p:spPr>
        <p:txBody>
          <a:bodyPr vert="horz" lIns="95489" tIns="47744" rIns="95489" bIns="47744"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2" y="9721109"/>
            <a:ext cx="3076363" cy="511731"/>
          </a:xfrm>
          <a:prstGeom prst="rect">
            <a:avLst/>
          </a:prstGeom>
        </p:spPr>
        <p:txBody>
          <a:bodyPr vert="horz" lIns="95489" tIns="47744" rIns="95489" bIns="47744" rtlCol="0" anchor="b"/>
          <a:lstStyle>
            <a:lvl1pPr algn="l">
              <a:defRPr sz="1400"/>
            </a:lvl1pPr>
          </a:lstStyle>
          <a:p>
            <a:endParaRPr lang="en-US" dirty="0"/>
          </a:p>
        </p:txBody>
      </p:sp>
      <p:sp>
        <p:nvSpPr>
          <p:cNvPr id="7" name="Foliennummernplatzhalter 6"/>
          <p:cNvSpPr>
            <a:spLocks noGrp="1"/>
          </p:cNvSpPr>
          <p:nvPr>
            <p:ph type="sldNum" sz="quarter" idx="5"/>
          </p:nvPr>
        </p:nvSpPr>
        <p:spPr>
          <a:xfrm>
            <a:off x="4021296" y="9721109"/>
            <a:ext cx="3076363" cy="511731"/>
          </a:xfrm>
          <a:prstGeom prst="rect">
            <a:avLst/>
          </a:prstGeom>
        </p:spPr>
        <p:txBody>
          <a:bodyPr vert="horz" lIns="95489" tIns="47744" rIns="95489" bIns="47744" rtlCol="0" anchor="b"/>
          <a:lstStyle>
            <a:lvl1pPr algn="r">
              <a:defRPr sz="1400"/>
            </a:lvl1pPr>
          </a:lstStyle>
          <a:p>
            <a:fld id="{6D176CDC-8D0E-409F-856B-BAE38288A8E4}" type="slidenum">
              <a:rPr lang="en-US" smtClean="0"/>
              <a:pPr/>
              <a:t>‹Nr.›</a:t>
            </a:fld>
            <a:endParaRPr lang="en-US" dirty="0"/>
          </a:p>
        </p:txBody>
      </p:sp>
    </p:spTree>
    <p:extLst>
      <p:ext uri="{BB962C8B-B14F-4D97-AF65-F5344CB8AC3E}">
        <p14:creationId xmlns:p14="http://schemas.microsoft.com/office/powerpoint/2010/main" val="1060508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www.transatlantikblog.de/al-gore-erfand-das-internet/" TargetMode="External"/><Relationship Id="rId4" Type="http://schemas.openxmlformats.org/officeDocument/2006/relationships/hyperlink" Target="http://de.wikipedia.org/wiki/Geschichte_des_Internets" TargetMode="External"/><Relationship Id="rId5" Type="http://schemas.openxmlformats.org/officeDocument/2006/relationships/hyperlink" Target="http://de.wikipedia.org/wiki/Pr%C3%A4sident_der_Vereinigten_Staaten" TargetMode="External"/><Relationship Id="rId6" Type="http://schemas.openxmlformats.org/officeDocument/2006/relationships/hyperlink" Target="http://de.wikipedia.org/wiki/Bill_Clinton" TargetMode="External"/><Relationship Id="rId7" Type="http://schemas.openxmlformats.org/officeDocument/2006/relationships/hyperlink" Target="http://de.wikipedia.org/wiki/Vizepr%C3%A4sident_der_Vereinigten_Staaten" TargetMode="External"/><Relationship Id="rId8" Type="http://schemas.openxmlformats.org/officeDocument/2006/relationships/hyperlink" Target="http://de.wikipedia.org/wiki/Al_Gore" TargetMode="External"/><Relationship Id="rId9" Type="http://schemas.openxmlformats.org/officeDocument/2006/relationships/hyperlink" Target="http://de.wikipedia.org/wiki/Silicon_Valley" TargetMode="External"/><Relationship Id="rId10" Type="http://schemas.openxmlformats.org/officeDocument/2006/relationships/hyperlink" Target="http://de.wikipedia.org/wiki/Technologiepolitik" TargetMode="External"/><Relationship Id="rId11" Type="http://schemas.openxmlformats.org/officeDocument/2006/relationships/hyperlink" Target="http://de.wikipedia.org/wiki/Vereinigte_Staaten" TargetMode="External"/><Relationship Id="rId12" Type="http://schemas.openxmlformats.org/officeDocument/2006/relationships/hyperlink" Target="http://de.wikipedia.org/wiki/Europa" TargetMode="External"/><Relationship Id="rId13" Type="http://schemas.openxmlformats.org/officeDocument/2006/relationships/hyperlink" Target="http://de.wikipedia.org/wiki/Japan"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de.wikipedia.org/wiki/Syntax" TargetMode="External"/><Relationship Id="rId4" Type="http://schemas.openxmlformats.org/officeDocument/2006/relationships/hyperlink" Target="http://de.wikipedia.org/wiki/Semantik" TargetMode="External"/><Relationship Id="rId5" Type="http://schemas.openxmlformats.org/officeDocument/2006/relationships/hyperlink" Target="http://de.wikipedia.org/wiki/Synchronisation"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a:t>
            </a:fld>
            <a:endParaRPr lang="en-US" dirty="0"/>
          </a:p>
        </p:txBody>
      </p:sp>
    </p:spTree>
    <p:extLst>
      <p:ext uri="{BB962C8B-B14F-4D97-AF65-F5344CB8AC3E}">
        <p14:creationId xmlns:p14="http://schemas.microsoft.com/office/powerpoint/2010/main" val="658484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33FAC078-F5C7-44AB-B9AF-5D18AD3D8335}" type="slidenum">
              <a:rPr lang="en-US" smtClean="0"/>
              <a:pPr/>
              <a:t>3</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1014092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33FAC078-F5C7-44AB-B9AF-5D18AD3D8335}" type="slidenum">
              <a:rPr lang="en-US" smtClean="0"/>
              <a:pPr/>
              <a:t>4</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1783827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33FAC078-F5C7-44AB-B9AF-5D18AD3D8335}" type="slidenum">
              <a:rPr lang="en-US" smtClean="0"/>
              <a:pPr/>
              <a:t>5</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r>
              <a:rPr lang="de-DE" sz="1200" b="0" i="0" kern="1200" dirty="0">
                <a:solidFill>
                  <a:schemeClr val="tx1"/>
                </a:solidFill>
                <a:latin typeface="+mn-lt"/>
                <a:ea typeface="+mn-ea"/>
                <a:cs typeface="+mn-cs"/>
              </a:rPr>
              <a:t>In paketvermittelnden Netzen bedeutet </a:t>
            </a:r>
            <a:r>
              <a:rPr lang="de-DE" sz="1200" b="0" i="1" kern="1200" dirty="0" err="1">
                <a:solidFill>
                  <a:schemeClr val="tx1"/>
                </a:solidFill>
                <a:latin typeface="+mn-lt"/>
                <a:ea typeface="+mn-ea"/>
                <a:cs typeface="+mn-cs"/>
              </a:rPr>
              <a:t>best</a:t>
            </a:r>
            <a:r>
              <a:rPr lang="de-DE" sz="1200" b="0" i="1" kern="1200" dirty="0">
                <a:solidFill>
                  <a:schemeClr val="tx1"/>
                </a:solidFill>
                <a:latin typeface="+mn-lt"/>
                <a:ea typeface="+mn-ea"/>
                <a:cs typeface="+mn-cs"/>
              </a:rPr>
              <a:t> </a:t>
            </a:r>
            <a:r>
              <a:rPr lang="de-DE" sz="1200" b="0" i="1" kern="1200" dirty="0" err="1">
                <a:solidFill>
                  <a:schemeClr val="tx1"/>
                </a:solidFill>
                <a:latin typeface="+mn-lt"/>
                <a:ea typeface="+mn-ea"/>
                <a:cs typeface="+mn-cs"/>
              </a:rPr>
              <a:t>effort</a:t>
            </a:r>
            <a:r>
              <a:rPr lang="de-DE" sz="1200" b="0" i="0" kern="1200" dirty="0">
                <a:solidFill>
                  <a:schemeClr val="tx1"/>
                </a:solidFill>
                <a:latin typeface="+mn-lt"/>
                <a:ea typeface="+mn-ea"/>
                <a:cs typeface="+mn-cs"/>
              </a:rPr>
              <a:t> alle eintreffenden Pakete weiterzuleiten, solange im Netz noch freie Übertragungskapazität vorhanden ist. Eine fehlerfreie und vollständige Übermittlung ist dabei nicht garantiert. Ist die Kapazität an einer bestimmten Stelle des Übertragungspfads ausgelastet, kommt es unweigerlich zu einem Stau (</a:t>
            </a:r>
            <a:r>
              <a:rPr lang="de-DE" sz="1200" b="0" i="1" kern="1200" dirty="0" err="1">
                <a:solidFill>
                  <a:schemeClr val="tx1"/>
                </a:solidFill>
                <a:latin typeface="+mn-lt"/>
                <a:ea typeface="+mn-ea"/>
                <a:cs typeface="+mn-cs"/>
              </a:rPr>
              <a:t>congestion</a:t>
            </a:r>
            <a:r>
              <a:rPr lang="de-DE" sz="1200" b="0" i="0" kern="1200" dirty="0">
                <a:solidFill>
                  <a:schemeClr val="tx1"/>
                </a:solidFill>
                <a:latin typeface="+mn-lt"/>
                <a:ea typeface="+mn-ea"/>
                <a:cs typeface="+mn-cs"/>
              </a:rPr>
              <a:t>). Es bleibt dem Benutzer überlassen, dafür zu sorgen, nach einer zeitweiligen Unterbrechung der Übertragung die Kommunikation wiederaufnehmen zu können.</a:t>
            </a:r>
            <a:endParaRPr lang="de-DE" dirty="0"/>
          </a:p>
        </p:txBody>
      </p:sp>
    </p:spTree>
    <p:extLst>
      <p:ext uri="{BB962C8B-B14F-4D97-AF65-F5344CB8AC3E}">
        <p14:creationId xmlns:p14="http://schemas.microsoft.com/office/powerpoint/2010/main" val="3075862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6</a:t>
            </a:fld>
            <a:endParaRPr lang="en-US" dirty="0"/>
          </a:p>
        </p:txBody>
      </p:sp>
    </p:spTree>
    <p:extLst>
      <p:ext uri="{BB962C8B-B14F-4D97-AF65-F5344CB8AC3E}">
        <p14:creationId xmlns:p14="http://schemas.microsoft.com/office/powerpoint/2010/main" val="2232505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 Andere sind hier (der Link wird auch in weiteren VL-Stunden verwendet): #</a:t>
            </a:r>
            <a:r>
              <a:rPr lang="de-DE" dirty="0" err="1"/>
              <a:t>todo</a:t>
            </a:r>
            <a:endParaRPr lang="de-DE" dirty="0"/>
          </a:p>
          <a:p>
            <a:pPr lvl="1"/>
            <a:r>
              <a:rPr lang="de-DE" dirty="0"/>
              <a:t>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7</a:t>
            </a:fld>
            <a:endParaRPr lang="en-US" dirty="0"/>
          </a:p>
        </p:txBody>
      </p:sp>
    </p:spTree>
    <p:extLst>
      <p:ext uri="{BB962C8B-B14F-4D97-AF65-F5344CB8AC3E}">
        <p14:creationId xmlns:p14="http://schemas.microsoft.com/office/powerpoint/2010/main" val="428743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err="1"/>
              <a:t>ARPANet</a:t>
            </a:r>
            <a:r>
              <a:rPr lang="de-DE" dirty="0"/>
              <a:t> - erstes Paketvermitteltes Netzwerk</a:t>
            </a:r>
          </a:p>
        </p:txBody>
      </p:sp>
      <p:sp>
        <p:nvSpPr>
          <p:cNvPr id="4" name="Foliennummernplatzhalter 3"/>
          <p:cNvSpPr>
            <a:spLocks noGrp="1"/>
          </p:cNvSpPr>
          <p:nvPr>
            <p:ph type="sldNum" sz="quarter" idx="10"/>
          </p:nvPr>
        </p:nvSpPr>
        <p:spPr/>
        <p:txBody>
          <a:bodyPr/>
          <a:lstStyle/>
          <a:p>
            <a:fld id="{6D176CDC-8D0E-409F-856B-BAE38288A8E4}" type="slidenum">
              <a:rPr lang="en-US" smtClean="0"/>
              <a:pPr/>
              <a:t>8</a:t>
            </a:fld>
            <a:endParaRPr lang="en-US" dirty="0"/>
          </a:p>
        </p:txBody>
      </p:sp>
    </p:spTree>
    <p:extLst>
      <p:ext uri="{BB962C8B-B14F-4D97-AF65-F5344CB8AC3E}">
        <p14:creationId xmlns:p14="http://schemas.microsoft.com/office/powerpoint/2010/main" val="724529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Lutz</a:t>
            </a:r>
            <a:r>
              <a:rPr lang="de-DE" baseline="0" dirty="0"/>
              <a:t> geändert</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9</a:t>
            </a:fld>
            <a:endParaRPr lang="en-US" dirty="0"/>
          </a:p>
        </p:txBody>
      </p:sp>
    </p:spTree>
    <p:extLst>
      <p:ext uri="{BB962C8B-B14F-4D97-AF65-F5344CB8AC3E}">
        <p14:creationId xmlns:p14="http://schemas.microsoft.com/office/powerpoint/2010/main" val="1657143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11</a:t>
            </a:fld>
            <a:endParaRPr lang="en-US" dirty="0"/>
          </a:p>
        </p:txBody>
      </p:sp>
    </p:spTree>
    <p:extLst>
      <p:ext uri="{BB962C8B-B14F-4D97-AF65-F5344CB8AC3E}">
        <p14:creationId xmlns:p14="http://schemas.microsoft.com/office/powerpoint/2010/main" val="2137145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Lutz geändert</a:t>
            </a:r>
          </a:p>
        </p:txBody>
      </p:sp>
      <p:sp>
        <p:nvSpPr>
          <p:cNvPr id="4" name="Foliennummernplatzhalter 3"/>
          <p:cNvSpPr>
            <a:spLocks noGrp="1"/>
          </p:cNvSpPr>
          <p:nvPr>
            <p:ph type="sldNum" sz="quarter" idx="10"/>
          </p:nvPr>
        </p:nvSpPr>
        <p:spPr/>
        <p:txBody>
          <a:bodyPr/>
          <a:lstStyle/>
          <a:p>
            <a:fld id="{6D176CDC-8D0E-409F-856B-BAE38288A8E4}" type="slidenum">
              <a:rPr lang="en-US" smtClean="0"/>
              <a:pPr/>
              <a:t>13</a:t>
            </a:fld>
            <a:endParaRPr lang="en-US" dirty="0"/>
          </a:p>
        </p:txBody>
      </p:sp>
    </p:spTree>
    <p:extLst>
      <p:ext uri="{BB962C8B-B14F-4D97-AF65-F5344CB8AC3E}">
        <p14:creationId xmlns:p14="http://schemas.microsoft.com/office/powerpoint/2010/main" val="733234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lnSpcReduction="10000"/>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de-DE" dirty="0"/>
              <a:t>Welche Rolle hatte Al Gore dabei?</a:t>
            </a:r>
          </a:p>
          <a:p>
            <a:endParaRPr lang="de-DE" dirty="0"/>
          </a:p>
          <a:p>
            <a:r>
              <a:rPr lang="de-DE" sz="1200" b="1" kern="1200" dirty="0">
                <a:solidFill>
                  <a:schemeClr val="tx1"/>
                </a:solidFill>
                <a:latin typeface="+mn-lt"/>
                <a:ea typeface="+mn-ea"/>
                <a:cs typeface="+mn-cs"/>
              </a:rPr>
              <a:t>Aus: </a:t>
            </a:r>
            <a:r>
              <a:rPr lang="de-DE" dirty="0">
                <a:hlinkClick r:id="rId3"/>
              </a:rPr>
              <a:t>http://www.transatlantikblog.de/al-gore-erfand-das-internet/</a:t>
            </a:r>
            <a:endParaRPr lang="de-DE" sz="1200" b="1" kern="1200" dirty="0">
              <a:solidFill>
                <a:schemeClr val="tx1"/>
              </a:solidFill>
              <a:latin typeface="+mn-lt"/>
              <a:ea typeface="+mn-ea"/>
              <a:cs typeface="+mn-cs"/>
            </a:endParaRPr>
          </a:p>
          <a:p>
            <a:endParaRPr lang="de-DE" sz="1200" b="1" kern="1200" dirty="0">
              <a:solidFill>
                <a:schemeClr val="tx1"/>
              </a:solidFill>
              <a:latin typeface="+mn-lt"/>
              <a:ea typeface="+mn-ea"/>
              <a:cs typeface="+mn-cs"/>
            </a:endParaRPr>
          </a:p>
          <a:p>
            <a:r>
              <a:rPr lang="de-DE" sz="1200" b="1" kern="1200" dirty="0">
                <a:solidFill>
                  <a:schemeClr val="tx1"/>
                </a:solidFill>
                <a:latin typeface="+mn-lt"/>
                <a:ea typeface="+mn-ea"/>
                <a:cs typeface="+mn-cs"/>
              </a:rPr>
              <a:t>Al Gore erfand das Internet</a:t>
            </a:r>
          </a:p>
          <a:p>
            <a:r>
              <a:rPr lang="de-DE" sz="1200" b="1" i="0" kern="1200" dirty="0">
                <a:solidFill>
                  <a:schemeClr val="tx1"/>
                </a:solidFill>
                <a:latin typeface="+mn-lt"/>
                <a:ea typeface="+mn-ea"/>
                <a:cs typeface="+mn-cs"/>
              </a:rPr>
              <a:t>Das ist ebenso falsch wie die Behauptung, Al Gore habe das je gesagt.</a:t>
            </a:r>
            <a:endParaRPr lang="de-DE" sz="1200" b="0" i="0" kern="1200" dirty="0">
              <a:solidFill>
                <a:schemeClr val="tx1"/>
              </a:solidFill>
              <a:latin typeface="+mn-lt"/>
              <a:ea typeface="+mn-ea"/>
              <a:cs typeface="+mn-cs"/>
            </a:endParaRPr>
          </a:p>
          <a:p>
            <a:r>
              <a:rPr lang="de-DE" sz="1200" b="0" i="0" u="sng" kern="1200" dirty="0">
                <a:solidFill>
                  <a:schemeClr val="tx1"/>
                </a:solidFill>
                <a:latin typeface="+mn-lt"/>
                <a:ea typeface="+mn-ea"/>
                <a:cs typeface="+mn-cs"/>
              </a:rPr>
              <a:t>Richtig hingegen ist: Al Gore ist der politische Ziehvater des Internet.</a:t>
            </a:r>
            <a:endParaRPr lang="de-DE" sz="1200" b="0" i="0" kern="1200" dirty="0">
              <a:solidFill>
                <a:schemeClr val="tx1"/>
              </a:solidFill>
              <a:latin typeface="+mn-lt"/>
              <a:ea typeface="+mn-ea"/>
              <a:cs typeface="+mn-cs"/>
            </a:endParaRPr>
          </a:p>
          <a:p>
            <a:br>
              <a:rPr lang="de-DE" dirty="0"/>
            </a:br>
            <a:r>
              <a:rPr lang="de-DE" dirty="0">
                <a:hlinkClick r:id="rId4"/>
              </a:rPr>
              <a:t>…</a:t>
            </a:r>
          </a:p>
          <a:p>
            <a:r>
              <a:rPr lang="de-DE" dirty="0" err="1">
                <a:hlinkClick r:id="rId4"/>
              </a:rPr>
              <a:t>Wikipedia</a:t>
            </a:r>
            <a:r>
              <a:rPr lang="de-DE" dirty="0">
                <a:hlinkClick r:id="rId4"/>
              </a:rPr>
              <a:t>:</a:t>
            </a:r>
            <a:r>
              <a:rPr lang="de-DE" baseline="0" dirty="0">
                <a:hlinkClick r:id="rId4"/>
              </a:rPr>
              <a:t> </a:t>
            </a:r>
            <a:r>
              <a:rPr lang="de-DE" dirty="0">
                <a:hlinkClick r:id="rId4"/>
              </a:rPr>
              <a:t>http://de.wikipedia.org/wiki/Geschichte_des_Internets</a:t>
            </a:r>
            <a:endParaRPr lang="de-DE" dirty="0"/>
          </a:p>
          <a:p>
            <a:endParaRPr lang="de-DE" sz="1200" b="0" i="0" kern="1200" dirty="0">
              <a:solidFill>
                <a:schemeClr val="tx1"/>
              </a:solidFill>
              <a:latin typeface="+mn-lt"/>
              <a:ea typeface="+mn-ea"/>
              <a:cs typeface="+mn-cs"/>
            </a:endParaRPr>
          </a:p>
          <a:p>
            <a:r>
              <a:rPr lang="de-DE" sz="1200" b="0" i="0" kern="1200" dirty="0">
                <a:solidFill>
                  <a:schemeClr val="tx1"/>
                </a:solidFill>
                <a:latin typeface="+mn-lt"/>
                <a:ea typeface="+mn-ea"/>
                <a:cs typeface="+mn-cs"/>
              </a:rPr>
              <a:t>Der damalige </a:t>
            </a:r>
            <a:r>
              <a:rPr lang="de-DE" sz="1200" b="0" i="0" u="none" strike="noStrike" kern="1200" dirty="0">
                <a:solidFill>
                  <a:schemeClr val="tx1"/>
                </a:solidFill>
                <a:latin typeface="+mn-lt"/>
                <a:ea typeface="+mn-ea"/>
                <a:cs typeface="+mn-cs"/>
                <a:hlinkClick r:id="rId5" tooltip="Präsident der Vereinigten Staaten"/>
              </a:rPr>
              <a:t>US-Präsident</a:t>
            </a:r>
            <a:r>
              <a:rPr lang="de-DE" sz="1200" b="0" i="0" kern="1200" dirty="0">
                <a:solidFill>
                  <a:schemeClr val="tx1"/>
                </a:solidFill>
                <a:latin typeface="+mn-lt"/>
                <a:ea typeface="+mn-ea"/>
                <a:cs typeface="+mn-cs"/>
              </a:rPr>
              <a:t> </a:t>
            </a:r>
            <a:r>
              <a:rPr lang="de-DE" sz="1200" b="0" i="0" u="none" strike="noStrike" kern="1200" dirty="0">
                <a:solidFill>
                  <a:schemeClr val="tx1"/>
                </a:solidFill>
                <a:latin typeface="+mn-lt"/>
                <a:ea typeface="+mn-ea"/>
                <a:cs typeface="+mn-cs"/>
                <a:hlinkClick r:id="rId6" tooltip="Bill Clinton"/>
              </a:rPr>
              <a:t>Bill Clinton</a:t>
            </a:r>
            <a:r>
              <a:rPr lang="de-DE" sz="1200" b="0" i="0" kern="1200" dirty="0">
                <a:solidFill>
                  <a:schemeClr val="tx1"/>
                </a:solidFill>
                <a:latin typeface="+mn-lt"/>
                <a:ea typeface="+mn-ea"/>
                <a:cs typeface="+mn-cs"/>
              </a:rPr>
              <a:t> und </a:t>
            </a:r>
            <a:r>
              <a:rPr lang="de-DE" sz="1200" b="0" i="0" u="none" strike="noStrike" kern="1200" dirty="0">
                <a:solidFill>
                  <a:schemeClr val="tx1"/>
                </a:solidFill>
                <a:latin typeface="+mn-lt"/>
                <a:ea typeface="+mn-ea"/>
                <a:cs typeface="+mn-cs"/>
                <a:hlinkClick r:id="rId7" tooltip="Vizepräsident der Vereinigten Staaten"/>
              </a:rPr>
              <a:t>Vizepräsident</a:t>
            </a:r>
            <a:r>
              <a:rPr lang="de-DE" sz="1200" b="0" i="0" kern="1200" dirty="0">
                <a:solidFill>
                  <a:schemeClr val="tx1"/>
                </a:solidFill>
                <a:latin typeface="+mn-lt"/>
                <a:ea typeface="+mn-ea"/>
                <a:cs typeface="+mn-cs"/>
              </a:rPr>
              <a:t> </a:t>
            </a:r>
            <a:r>
              <a:rPr lang="de-DE" sz="1200" b="0" i="0" u="none" strike="noStrike" kern="1200" dirty="0">
                <a:solidFill>
                  <a:schemeClr val="tx1"/>
                </a:solidFill>
                <a:latin typeface="+mn-lt"/>
                <a:ea typeface="+mn-ea"/>
                <a:cs typeface="+mn-cs"/>
                <a:hlinkClick r:id="rId8" tooltip="Al Gore"/>
              </a:rPr>
              <a:t>Al Gore</a:t>
            </a:r>
            <a:r>
              <a:rPr lang="de-DE" sz="1200" b="0" i="0" kern="1200" dirty="0">
                <a:solidFill>
                  <a:schemeClr val="tx1"/>
                </a:solidFill>
                <a:latin typeface="+mn-lt"/>
                <a:ea typeface="+mn-ea"/>
                <a:cs typeface="+mn-cs"/>
              </a:rPr>
              <a:t> gaben im Februar 1993 unmittelbar nach ihrem Amtsantritt auf einem </a:t>
            </a:r>
            <a:r>
              <a:rPr lang="de-DE" sz="1200" b="0" i="1" kern="1200" dirty="0">
                <a:solidFill>
                  <a:schemeClr val="tx1"/>
                </a:solidFill>
                <a:latin typeface="+mn-lt"/>
                <a:ea typeface="+mn-ea"/>
                <a:cs typeface="+mn-cs"/>
              </a:rPr>
              <a:t>Town Meeting</a:t>
            </a:r>
            <a:r>
              <a:rPr lang="de-DE" sz="1200" b="0" i="0" kern="1200" dirty="0">
                <a:solidFill>
                  <a:schemeClr val="tx1"/>
                </a:solidFill>
                <a:latin typeface="+mn-lt"/>
                <a:ea typeface="+mn-ea"/>
                <a:cs typeface="+mn-cs"/>
              </a:rPr>
              <a:t> im </a:t>
            </a:r>
            <a:r>
              <a:rPr lang="de-DE" sz="1200" b="0" i="0" u="none" strike="noStrike" kern="1200" dirty="0">
                <a:solidFill>
                  <a:schemeClr val="tx1"/>
                </a:solidFill>
                <a:latin typeface="+mn-lt"/>
                <a:ea typeface="+mn-ea"/>
                <a:cs typeface="+mn-cs"/>
                <a:hlinkClick r:id="rId9" tooltip="Silicon Valley"/>
              </a:rPr>
              <a:t>Silicon Valley</a:t>
            </a:r>
            <a:r>
              <a:rPr lang="de-DE" sz="1200" b="0" i="0" kern="1200" dirty="0">
                <a:solidFill>
                  <a:schemeClr val="tx1"/>
                </a:solidFill>
                <a:latin typeface="+mn-lt"/>
                <a:ea typeface="+mn-ea"/>
                <a:cs typeface="+mn-cs"/>
              </a:rPr>
              <a:t> eine Erklärung über ihre </a:t>
            </a:r>
            <a:r>
              <a:rPr lang="de-DE" sz="1200" b="0" i="0" u="none" strike="noStrike" kern="1200" dirty="0">
                <a:solidFill>
                  <a:schemeClr val="tx1"/>
                </a:solidFill>
                <a:latin typeface="+mn-lt"/>
                <a:ea typeface="+mn-ea"/>
                <a:cs typeface="+mn-cs"/>
                <a:hlinkClick r:id="rId10" tooltip="Technologiepolitik"/>
              </a:rPr>
              <a:t>Technologiepolitik</a:t>
            </a:r>
            <a:r>
              <a:rPr lang="de-DE" sz="1200" b="0" i="0" kern="1200" dirty="0">
                <a:solidFill>
                  <a:schemeClr val="tx1"/>
                </a:solidFill>
                <a:latin typeface="+mn-lt"/>
                <a:ea typeface="+mn-ea"/>
                <a:cs typeface="+mn-cs"/>
              </a:rPr>
              <a:t> ab, in der das Internet bereits eine zentrale Rolle spielte. Damit lösten sie eine Art </a:t>
            </a:r>
            <a:r>
              <a:rPr lang="de-DE" sz="1200" b="0" i="0" kern="1200" dirty="0" err="1">
                <a:solidFill>
                  <a:schemeClr val="tx1"/>
                </a:solidFill>
                <a:latin typeface="+mn-lt"/>
                <a:ea typeface="+mn-ea"/>
                <a:cs typeface="+mn-cs"/>
              </a:rPr>
              <a:t>Vorbeben</a:t>
            </a:r>
            <a:r>
              <a:rPr lang="de-DE" sz="1200" b="0" i="0" kern="1200" dirty="0">
                <a:solidFill>
                  <a:schemeClr val="tx1"/>
                </a:solidFill>
                <a:latin typeface="+mn-lt"/>
                <a:ea typeface="+mn-ea"/>
                <a:cs typeface="+mn-cs"/>
              </a:rPr>
              <a:t> aus, in einer geopolitischen Situation, in der die </a:t>
            </a:r>
            <a:r>
              <a:rPr lang="de-DE" sz="1200" b="0" i="0" u="none" strike="noStrike" kern="1200" dirty="0">
                <a:solidFill>
                  <a:schemeClr val="tx1"/>
                </a:solidFill>
                <a:latin typeface="+mn-lt"/>
                <a:ea typeface="+mn-ea"/>
                <a:cs typeface="+mn-cs"/>
                <a:hlinkClick r:id="rId11" tooltip="Vereinigte Staaten"/>
              </a:rPr>
              <a:t>USA</a:t>
            </a:r>
            <a:r>
              <a:rPr lang="de-DE" sz="1200" b="0" i="0" kern="1200" dirty="0">
                <a:solidFill>
                  <a:schemeClr val="tx1"/>
                </a:solidFill>
                <a:latin typeface="+mn-lt"/>
                <a:ea typeface="+mn-ea"/>
                <a:cs typeface="+mn-cs"/>
              </a:rPr>
              <a:t> sich in einer Wirtschaftskrise befanden, </a:t>
            </a:r>
            <a:r>
              <a:rPr lang="de-DE" sz="1200" b="0" i="0" u="none" strike="noStrike" kern="1200" dirty="0">
                <a:solidFill>
                  <a:schemeClr val="tx1"/>
                </a:solidFill>
                <a:latin typeface="+mn-lt"/>
                <a:ea typeface="+mn-ea"/>
                <a:cs typeface="+mn-cs"/>
                <a:hlinkClick r:id="rId12" tooltip="Europa"/>
              </a:rPr>
              <a:t>Europa</a:t>
            </a:r>
            <a:r>
              <a:rPr lang="de-DE" sz="1200" b="0" i="0" kern="1200" dirty="0">
                <a:solidFill>
                  <a:schemeClr val="tx1"/>
                </a:solidFill>
                <a:latin typeface="+mn-lt"/>
                <a:ea typeface="+mn-ea"/>
                <a:cs typeface="+mn-cs"/>
              </a:rPr>
              <a:t> im Aufschwung und </a:t>
            </a:r>
            <a:r>
              <a:rPr lang="de-DE" sz="1200" b="0" i="0" u="none" strike="noStrike" kern="1200" dirty="0">
                <a:solidFill>
                  <a:schemeClr val="tx1"/>
                </a:solidFill>
                <a:latin typeface="+mn-lt"/>
                <a:ea typeface="+mn-ea"/>
                <a:cs typeface="+mn-cs"/>
                <a:hlinkClick r:id="rId13" tooltip="Japan"/>
              </a:rPr>
              <a:t>Japan</a:t>
            </a:r>
            <a:r>
              <a:rPr lang="de-DE" sz="1200" b="0" i="0" kern="1200" dirty="0">
                <a:solidFill>
                  <a:schemeClr val="tx1"/>
                </a:solidFill>
                <a:latin typeface="+mn-lt"/>
                <a:ea typeface="+mn-ea"/>
                <a:cs typeface="+mn-cs"/>
              </a:rPr>
              <a:t> an der Weltspitze. Die eigentliche Schockwelle ging über die Welt hinweg, als Al Gore am 15. September des Jahres die </a:t>
            </a:r>
            <a:r>
              <a:rPr lang="de-DE" sz="1200" b="0" i="1" kern="1200" dirty="0">
                <a:solidFill>
                  <a:schemeClr val="tx1"/>
                </a:solidFill>
                <a:latin typeface="+mn-lt"/>
                <a:ea typeface="+mn-ea"/>
                <a:cs typeface="+mn-cs"/>
              </a:rPr>
              <a:t>National Information Infrastructure Agenda </a:t>
            </a:r>
            <a:r>
              <a:rPr lang="de-DE" sz="1200" b="0" i="1" kern="1200" dirty="0" err="1">
                <a:solidFill>
                  <a:schemeClr val="tx1"/>
                </a:solidFill>
                <a:latin typeface="+mn-lt"/>
                <a:ea typeface="+mn-ea"/>
                <a:cs typeface="+mn-cs"/>
              </a:rPr>
              <a:t>for</a:t>
            </a:r>
            <a:r>
              <a:rPr lang="de-DE" sz="1200" b="0" i="1" kern="1200" dirty="0">
                <a:solidFill>
                  <a:schemeClr val="tx1"/>
                </a:solidFill>
                <a:latin typeface="+mn-lt"/>
                <a:ea typeface="+mn-ea"/>
                <a:cs typeface="+mn-cs"/>
              </a:rPr>
              <a:t> Action</a:t>
            </a:r>
            <a:r>
              <a:rPr lang="de-DE" sz="1200" b="0" i="0" kern="1200" dirty="0">
                <a:solidFill>
                  <a:schemeClr val="tx1"/>
                </a:solidFill>
                <a:latin typeface="+mn-lt"/>
                <a:ea typeface="+mn-ea"/>
                <a:cs typeface="+mn-cs"/>
              </a:rPr>
              <a:t> (siehe NII) verkündete, in der er Netzwerke nicht nur selbst zu einer Multi-Milliarden-Dollar-Industrie, sondern zu einer Grundlageninfrastruktur für Wirtschaft, Bildung, Wissenschaft und Kultur erklärte. Das Bewusstsein, in einem Schlüsseltechnologiesektor hinter den USA herzuhinken, löste allerorten hektisches Treiben aus. Spätestens damit begann die kommerzielle Erschließung und die Massenbesiedlung des Internets.</a:t>
            </a:r>
          </a:p>
          <a:p>
            <a:endParaRPr lang="de-DE" sz="1200" b="0" i="0" kern="1200" dirty="0">
              <a:solidFill>
                <a:schemeClr val="tx1"/>
              </a:solidFill>
              <a:latin typeface="+mn-lt"/>
              <a:ea typeface="+mn-ea"/>
              <a:cs typeface="+mn-cs"/>
            </a:endParaRPr>
          </a:p>
          <a:p>
            <a:r>
              <a:rPr lang="de-DE" sz="1200" b="0" i="0" kern="1200" dirty="0">
                <a:solidFill>
                  <a:schemeClr val="tx1"/>
                </a:solidFill>
                <a:latin typeface="+mn-lt"/>
                <a:ea typeface="+mn-ea"/>
                <a:cs typeface="+mn-cs"/>
              </a:rPr>
              <a:t>Lutz geändert</a:t>
            </a:r>
            <a:endParaRPr lang="de-DE" dirty="0"/>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14</a:t>
            </a:fld>
            <a:endParaRPr lang="en-US" dirty="0"/>
          </a:p>
        </p:txBody>
      </p:sp>
    </p:spTree>
    <p:extLst>
      <p:ext uri="{BB962C8B-B14F-4D97-AF65-F5344CB8AC3E}">
        <p14:creationId xmlns:p14="http://schemas.microsoft.com/office/powerpoint/2010/main" val="1710170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17</a:t>
            </a:fld>
            <a:endParaRPr lang="en-US" dirty="0"/>
          </a:p>
        </p:txBody>
      </p:sp>
    </p:spTree>
    <p:extLst>
      <p:ext uri="{BB962C8B-B14F-4D97-AF65-F5344CB8AC3E}">
        <p14:creationId xmlns:p14="http://schemas.microsoft.com/office/powerpoint/2010/main" val="4210730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LV: Ressourcen</a:t>
            </a:r>
            <a:r>
              <a:rPr lang="de-DE" baseline="0" dirty="0"/>
              <a:t> werden reserviert, aber können trotzdem geteilt werden (gemeinsam benutzt). Der Punkt ist aber, dass wir einem Benutzer ganz sicher eine gewisse Ressourcenkapazität geben, und diese in der Sitzung von niemand anderen benutzt wird.</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18</a:t>
            </a:fld>
            <a:endParaRPr lang="en-US" dirty="0"/>
          </a:p>
        </p:txBody>
      </p:sp>
    </p:spTree>
    <p:extLst>
      <p:ext uri="{BB962C8B-B14F-4D97-AF65-F5344CB8AC3E}">
        <p14:creationId xmlns:p14="http://schemas.microsoft.com/office/powerpoint/2010/main" val="790053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10000"/>
          </a:bodyPr>
          <a:lstStyle/>
          <a:p>
            <a:r>
              <a:rPr lang="de-DE" sz="1200" i="0" kern="1200" baseline="0" dirty="0">
                <a:solidFill>
                  <a:schemeClr val="tx1"/>
                </a:solidFill>
                <a:latin typeface="+mn-lt"/>
                <a:ea typeface="+mn-ea"/>
                <a:cs typeface="+mn-cs"/>
              </a:rPr>
              <a:t>Eine Leitung benutzt entweder das </a:t>
            </a:r>
            <a:r>
              <a:rPr lang="de-DE" sz="1200" i="0" kern="1200" baseline="0" dirty="0" err="1">
                <a:solidFill>
                  <a:schemeClr val="tx1"/>
                </a:solidFill>
                <a:latin typeface="+mn-lt"/>
                <a:ea typeface="+mn-ea"/>
                <a:cs typeface="+mn-cs"/>
              </a:rPr>
              <a:t>Frequenzmultiplexverfahren</a:t>
            </a:r>
            <a:r>
              <a:rPr lang="de-DE" sz="1200" i="0" kern="1200" baseline="0" dirty="0">
                <a:solidFill>
                  <a:schemeClr val="tx1"/>
                </a:solidFill>
                <a:latin typeface="+mn-lt"/>
                <a:ea typeface="+mn-ea"/>
                <a:cs typeface="+mn-cs"/>
              </a:rPr>
              <a:t> (FDM, </a:t>
            </a:r>
            <a:r>
              <a:rPr lang="de-DE" sz="1200" i="0" kern="1200" baseline="0" dirty="0" err="1">
                <a:solidFill>
                  <a:schemeClr val="tx1"/>
                </a:solidFill>
                <a:latin typeface="+mn-lt"/>
                <a:ea typeface="+mn-ea"/>
                <a:cs typeface="+mn-cs"/>
              </a:rPr>
              <a:t>frequency</a:t>
            </a:r>
            <a:r>
              <a:rPr lang="de-DE" sz="1200" i="0" kern="1200" baseline="0" dirty="0">
                <a:solidFill>
                  <a:schemeClr val="tx1"/>
                </a:solidFill>
                <a:latin typeface="+mn-lt"/>
                <a:ea typeface="+mn-ea"/>
                <a:cs typeface="+mn-cs"/>
              </a:rPr>
              <a:t> </a:t>
            </a:r>
            <a:r>
              <a:rPr lang="de-DE" sz="1200" i="0" kern="1200" baseline="0" dirty="0" err="1">
                <a:solidFill>
                  <a:schemeClr val="tx1"/>
                </a:solidFill>
                <a:latin typeface="+mn-lt"/>
                <a:ea typeface="+mn-ea"/>
                <a:cs typeface="+mn-cs"/>
              </a:rPr>
              <a:t>division</a:t>
            </a:r>
            <a:r>
              <a:rPr lang="de-DE" sz="1200" i="0" kern="1200" baseline="0" dirty="0">
                <a:solidFill>
                  <a:schemeClr val="tx1"/>
                </a:solidFill>
                <a:latin typeface="+mn-lt"/>
                <a:ea typeface="+mn-ea"/>
                <a:cs typeface="+mn-cs"/>
              </a:rPr>
              <a:t> </a:t>
            </a:r>
            <a:r>
              <a:rPr lang="de-DE" sz="1200" i="0" kern="1200" baseline="0" dirty="0" err="1">
                <a:solidFill>
                  <a:schemeClr val="tx1"/>
                </a:solidFill>
                <a:latin typeface="+mn-lt"/>
                <a:ea typeface="+mn-ea"/>
                <a:cs typeface="+mn-cs"/>
              </a:rPr>
              <a:t>multiplexing</a:t>
            </a:r>
            <a:r>
              <a:rPr lang="de-DE" sz="1200" i="0" kern="1200" baseline="0" dirty="0">
                <a:solidFill>
                  <a:schemeClr val="tx1"/>
                </a:solidFill>
                <a:latin typeface="+mn-lt"/>
                <a:ea typeface="+mn-ea"/>
                <a:cs typeface="+mn-cs"/>
              </a:rPr>
              <a:t>) oder das </a:t>
            </a:r>
            <a:r>
              <a:rPr lang="de-DE" sz="1200" i="0" kern="1200" baseline="0" dirty="0" err="1">
                <a:solidFill>
                  <a:schemeClr val="tx1"/>
                </a:solidFill>
                <a:latin typeface="+mn-lt"/>
                <a:ea typeface="+mn-ea"/>
                <a:cs typeface="+mn-cs"/>
              </a:rPr>
              <a:t>Zeitmultiplexverfahren</a:t>
            </a:r>
            <a:r>
              <a:rPr lang="de-DE" sz="1200" i="0" kern="1200" baseline="0" dirty="0">
                <a:solidFill>
                  <a:schemeClr val="tx1"/>
                </a:solidFill>
                <a:latin typeface="+mn-lt"/>
                <a:ea typeface="+mn-ea"/>
                <a:cs typeface="+mn-cs"/>
              </a:rPr>
              <a:t> (TDM, time-</a:t>
            </a:r>
            <a:r>
              <a:rPr lang="de-DE" sz="1200" i="0" kern="1200" baseline="0" dirty="0" err="1">
                <a:solidFill>
                  <a:schemeClr val="tx1"/>
                </a:solidFill>
                <a:latin typeface="+mn-lt"/>
                <a:ea typeface="+mn-ea"/>
                <a:cs typeface="+mn-cs"/>
              </a:rPr>
              <a:t>division</a:t>
            </a:r>
            <a:r>
              <a:rPr lang="de-DE" sz="1200" i="0" kern="1200" baseline="0" dirty="0">
                <a:solidFill>
                  <a:schemeClr val="tx1"/>
                </a:solidFill>
                <a:latin typeface="+mn-lt"/>
                <a:ea typeface="+mn-ea"/>
                <a:cs typeface="+mn-cs"/>
              </a:rPr>
              <a:t> </a:t>
            </a:r>
            <a:r>
              <a:rPr lang="de-DE" sz="1200" i="0" kern="1200" baseline="0" dirty="0" err="1">
                <a:solidFill>
                  <a:schemeClr val="tx1"/>
                </a:solidFill>
                <a:latin typeface="+mn-lt"/>
                <a:ea typeface="+mn-ea"/>
                <a:cs typeface="+mn-cs"/>
              </a:rPr>
              <a:t>multiplexing</a:t>
            </a:r>
            <a:r>
              <a:rPr lang="de-DE" sz="1200" i="0" kern="1200" baseline="0" dirty="0">
                <a:solidFill>
                  <a:schemeClr val="tx1"/>
                </a:solidFill>
                <a:latin typeface="+mn-lt"/>
                <a:ea typeface="+mn-ea"/>
                <a:cs typeface="+mn-cs"/>
              </a:rPr>
              <a:t>). Bei FDM wird das Frequenzspektrum von der Leitung unter den Kanälen aufgeteilt. Genau genommen wird jeder durchgeschalteten Verbindung auf jeder Leitung ein Frequenzband zugewiesen. In Fernsprechnetzen hat dieses Frequenzspektrum normalerweise eine Breite von 4 kHz (das heißt, 4.000 Hertz oder 4.000 Schwingungen pro Sekunde). </a:t>
            </a:r>
          </a:p>
          <a:p>
            <a:endParaRPr lang="de-DE" dirty="0"/>
          </a:p>
          <a:p>
            <a:pPr marL="0" marR="0" indent="0" algn="l" defTabSz="914400" rtl="0" eaLnBrk="1" fontAlgn="auto" latinLnBrk="0" hangingPunct="1">
              <a:lnSpc>
                <a:spcPct val="100000"/>
              </a:lnSpc>
              <a:spcBef>
                <a:spcPts val="0"/>
              </a:spcBef>
              <a:spcAft>
                <a:spcPts val="0"/>
              </a:spcAft>
              <a:buClrTx/>
              <a:buSzTx/>
              <a:buFontTx/>
              <a:buNone/>
              <a:tabLst/>
              <a:defRPr/>
            </a:pPr>
            <a:r>
              <a:rPr lang="de-DE" sz="1200" i="0" kern="1200" baseline="0" dirty="0">
                <a:solidFill>
                  <a:schemeClr val="tx1"/>
                </a:solidFill>
                <a:latin typeface="+mn-lt"/>
                <a:ea typeface="+mn-ea"/>
                <a:cs typeface="+mn-cs"/>
              </a:rPr>
              <a:t>Bei einem TDM-Link wird die Zeit in Rahmen (Frames) mit konstanter Dauer eingeteilt. Jeder Rahmen ist wiederum in eine feste Zahl von Zeiteinheiten, sogenannte Zeitschlitze (time </a:t>
            </a:r>
            <a:r>
              <a:rPr lang="de-DE" sz="1200" i="0" kern="1200" baseline="0" dirty="0" err="1">
                <a:solidFill>
                  <a:schemeClr val="tx1"/>
                </a:solidFill>
                <a:latin typeface="+mn-lt"/>
                <a:ea typeface="+mn-ea"/>
                <a:cs typeface="+mn-cs"/>
              </a:rPr>
              <a:t>slots</a:t>
            </a:r>
            <a:r>
              <a:rPr lang="de-DE" sz="1200" i="0" kern="1200" baseline="0" dirty="0">
                <a:solidFill>
                  <a:schemeClr val="tx1"/>
                </a:solidFill>
                <a:latin typeface="+mn-lt"/>
                <a:ea typeface="+mn-ea"/>
                <a:cs typeface="+mn-cs"/>
              </a:rPr>
              <a:t>), unterteilt. Stellt das Netzwerk eine Verbindung über eine Leitung her, so stellt es dieser Verbindung einen Zeitschlitz in jedem Rahmen zur Verfügung. Diese stehen ausschließlich dieser einen Verbindung zur Verfügung, die in jedem Zeitrahmen einen Zeitschlitz benutzen kann, um ihre Daten zu übertragen </a:t>
            </a:r>
          </a:p>
          <a:p>
            <a:endParaRPr lang="de-DE" dirty="0"/>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Befürworter der Paketvermittlung haben schon immer betont, dass die Leitungsvermittlung viel Übertragungsrate verschwendet, weil die reservierten Leitungen häufig ungenutzt brach liegen. Hört beispielsweise eine Person am Telefon auf zu sprechen, dann kann die ungenutzte Netzwerkressource (Frequenzband oder Zeitschlitze auf den Leitungen entlang der Verbindung) nicht durch eine andere Verbindung genutzt werden. </a:t>
            </a:r>
          </a:p>
          <a:p>
            <a:endParaRPr lang="de-DE" dirty="0"/>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Ein anderes Beispiel für solche </a:t>
            </a:r>
            <a:r>
              <a:rPr lang="de-DE" sz="1200" kern="1200" baseline="0" dirty="0" err="1">
                <a:solidFill>
                  <a:schemeClr val="tx1"/>
                </a:solidFill>
                <a:latin typeface="+mn-lt"/>
                <a:ea typeface="+mn-ea"/>
                <a:cs typeface="+mn-cs"/>
              </a:rPr>
              <a:t>unausgelasteten</a:t>
            </a:r>
            <a:r>
              <a:rPr lang="de-DE" sz="1200" kern="1200" baseline="0" dirty="0">
                <a:solidFill>
                  <a:schemeClr val="tx1"/>
                </a:solidFill>
                <a:latin typeface="+mn-lt"/>
                <a:ea typeface="+mn-ea"/>
                <a:cs typeface="+mn-cs"/>
              </a:rPr>
              <a:t> Ressourcen ist das eines Röntgenarztes, der ein leitungsvermitteltes Netz wählt, um aus der Entfernung eine Serie von Röntgenbildern aufzunehmen. Der Röntgenarzt baut eine Verbindung auf, fordert ein Bild an, denkt über das Bild nach und fordert danach ein neues Bild an. Die Netzressourcen sind zwar an die Verbindung vergeben, werden aber nicht verwendet (d.h., sie sind vergeudet), während der Arzt über die Bilder nachdenkt. Befürworter der Paketvermittlung weisen auch darauf hin, dass der Aufbau einer Ende-zu-Ende-Verbindung und die Reservierung der entsprechenden Bandbreite ein komplizierter Prozess sei, der eine komplexe Koordination der Vermittlungsstellen entlang des </a:t>
            </a:r>
            <a:r>
              <a:rPr lang="de-DE" sz="1200" kern="1200" baseline="0" dirty="0" err="1">
                <a:solidFill>
                  <a:schemeClr val="tx1"/>
                </a:solidFill>
                <a:latin typeface="+mn-lt"/>
                <a:ea typeface="+mn-ea"/>
                <a:cs typeface="+mn-cs"/>
              </a:rPr>
              <a:t>Endezu</a:t>
            </a:r>
            <a:r>
              <a:rPr lang="de-DE" sz="1200" kern="1200" baseline="0" dirty="0">
                <a:solidFill>
                  <a:schemeClr val="tx1"/>
                </a:solidFill>
                <a:latin typeface="+mn-lt"/>
                <a:ea typeface="+mn-ea"/>
                <a:cs typeface="+mn-cs"/>
              </a:rPr>
              <a:t>-Ende-Pfades erfordere.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19</a:t>
            </a:fld>
            <a:endParaRPr lang="en-US" dirty="0"/>
          </a:p>
        </p:txBody>
      </p:sp>
    </p:spTree>
    <p:extLst>
      <p:ext uri="{BB962C8B-B14F-4D97-AF65-F5344CB8AC3E}">
        <p14:creationId xmlns:p14="http://schemas.microsoft.com/office/powerpoint/2010/main" val="2861166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Daher führen Store-</a:t>
            </a:r>
            <a:r>
              <a:rPr lang="de-DE" sz="1200" kern="1200" baseline="0" dirty="0" err="1">
                <a:solidFill>
                  <a:schemeClr val="tx1"/>
                </a:solidFill>
                <a:latin typeface="+mn-lt"/>
                <a:ea typeface="+mn-ea"/>
                <a:cs typeface="+mn-cs"/>
              </a:rPr>
              <a:t>and</a:t>
            </a:r>
            <a:r>
              <a:rPr lang="de-DE" sz="1200" kern="1200" baseline="0" dirty="0">
                <a:solidFill>
                  <a:schemeClr val="tx1"/>
                </a:solidFill>
                <a:latin typeface="+mn-lt"/>
                <a:ea typeface="+mn-ea"/>
                <a:cs typeface="+mn-cs"/>
              </a:rPr>
              <a:t>-Forward-Switches auch am Beginn jeder Leitung entlang des Datenpfades zu einer Store-</a:t>
            </a:r>
            <a:r>
              <a:rPr lang="de-DE" sz="1200" kern="1200" baseline="0" dirty="0" err="1">
                <a:solidFill>
                  <a:schemeClr val="tx1"/>
                </a:solidFill>
                <a:latin typeface="+mn-lt"/>
                <a:ea typeface="+mn-ea"/>
                <a:cs typeface="+mn-cs"/>
              </a:rPr>
              <a:t>and</a:t>
            </a:r>
            <a:r>
              <a:rPr lang="de-DE" sz="1200" kern="1200" baseline="0" dirty="0">
                <a:solidFill>
                  <a:schemeClr val="tx1"/>
                </a:solidFill>
                <a:latin typeface="+mn-lt"/>
                <a:ea typeface="+mn-ea"/>
                <a:cs typeface="+mn-cs"/>
              </a:rPr>
              <a:t>-Forward-Verzögerung. Schätzen Sie doch, wie lange es dauert, um ein Paket der Länge </a:t>
            </a:r>
            <a:r>
              <a:rPr lang="de-DE" sz="1200" i="0" kern="1200" baseline="0" dirty="0">
                <a:solidFill>
                  <a:schemeClr val="tx1"/>
                </a:solidFill>
                <a:latin typeface="+mn-lt"/>
                <a:ea typeface="+mn-ea"/>
                <a:cs typeface="+mn-cs"/>
              </a:rPr>
              <a:t>L Bit von einem Host über ein paketvermitteltes Netzwerk zu einem anderen Host zu senden. Nehmen wir einmal an, es gäbe Q Leitungen (d.h. Abschnitte zwischen Paket-Switches) zwischen den beiden Hosts, die jeweils mit einer Rate von R bps arbeiten. Gehen wir weiterhin davon aus, dass es nur ein Paket im Netzwerk gäbe. Dieses Paket muss zunächst über die erste Leitung gesandt werden, die von Host A hinausführt; dies dauert L/R Sekunden. Das Paket muss danach über die restlichen Q-1 Leitungen übertragen werden. Das bedeutet, es muss noch Q-1 Mal gespeichert und weitergeleitet werden, wobei jedes Mal die Store-und-Forward-Verzögerung von L/R auftritt. Daher beträgt die gesamte Verzögerung QL/R.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20</a:t>
            </a:fld>
            <a:endParaRPr lang="en-US" dirty="0"/>
          </a:p>
        </p:txBody>
      </p:sp>
    </p:spTree>
    <p:extLst>
      <p:ext uri="{BB962C8B-B14F-4D97-AF65-F5344CB8AC3E}">
        <p14:creationId xmlns:p14="http://schemas.microsoft.com/office/powerpoint/2010/main" val="2687643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Nehmen Sie nun an, dass Host A und B Pakete an einen Host E senden. Die beiden Hosts schicken ihre Datenpakete zunächst über eine 10 </a:t>
            </a:r>
            <a:r>
              <a:rPr lang="de-DE" sz="1200" kern="1200" baseline="0" dirty="0" err="1">
                <a:solidFill>
                  <a:schemeClr val="tx1"/>
                </a:solidFill>
                <a:latin typeface="+mn-lt"/>
                <a:ea typeface="+mn-ea"/>
                <a:cs typeface="+mn-cs"/>
              </a:rPr>
              <a:t>Mbps</a:t>
            </a:r>
            <a:r>
              <a:rPr lang="de-DE" sz="1200" kern="1200" baseline="0" dirty="0">
                <a:solidFill>
                  <a:schemeClr val="tx1"/>
                </a:solidFill>
                <a:latin typeface="+mn-lt"/>
                <a:ea typeface="+mn-ea"/>
                <a:cs typeface="+mn-cs"/>
              </a:rPr>
              <a:t>-Ethernet-Leitung zum ersten Paket-Switch. Dieser leitet die Pakete zur 1,5 </a:t>
            </a:r>
            <a:r>
              <a:rPr lang="de-DE" sz="1200" kern="1200" baseline="0" dirty="0" err="1">
                <a:solidFill>
                  <a:schemeClr val="tx1"/>
                </a:solidFill>
                <a:latin typeface="+mn-lt"/>
                <a:ea typeface="+mn-ea"/>
                <a:cs typeface="+mn-cs"/>
              </a:rPr>
              <a:t>Mbps</a:t>
            </a:r>
            <a:r>
              <a:rPr lang="de-DE" sz="1200" kern="1200" baseline="0" dirty="0">
                <a:solidFill>
                  <a:schemeClr val="tx1"/>
                </a:solidFill>
                <a:latin typeface="+mn-lt"/>
                <a:ea typeface="+mn-ea"/>
                <a:cs typeface="+mn-cs"/>
              </a:rPr>
              <a:t>-Leitung weiter. Übersteigt die Ankunftsrate der Pakete an der Vermittlungsstelle die </a:t>
            </a:r>
            <a:r>
              <a:rPr lang="de-DE" sz="1200" kern="1200" baseline="0" dirty="0" err="1">
                <a:solidFill>
                  <a:schemeClr val="tx1"/>
                </a:solidFill>
                <a:latin typeface="+mn-lt"/>
                <a:ea typeface="+mn-ea"/>
                <a:cs typeface="+mn-cs"/>
              </a:rPr>
              <a:t>Rate,mit</a:t>
            </a:r>
            <a:r>
              <a:rPr lang="de-DE" sz="1200" kern="1200" baseline="0" dirty="0">
                <a:solidFill>
                  <a:schemeClr val="tx1"/>
                </a:solidFill>
                <a:latin typeface="+mn-lt"/>
                <a:ea typeface="+mn-ea"/>
                <a:cs typeface="+mn-cs"/>
              </a:rPr>
              <a:t> der dieser Switch die </a:t>
            </a:r>
            <a:r>
              <a:rPr lang="de-DE" sz="1200" kern="1200" baseline="0" dirty="0" err="1">
                <a:solidFill>
                  <a:schemeClr val="tx1"/>
                </a:solidFill>
                <a:latin typeface="+mn-lt"/>
                <a:ea typeface="+mn-ea"/>
                <a:cs typeface="+mn-cs"/>
              </a:rPr>
              <a:t>Paketeüber</a:t>
            </a:r>
            <a:r>
              <a:rPr lang="de-DE" sz="1200" kern="1200" baseline="0" dirty="0">
                <a:solidFill>
                  <a:schemeClr val="tx1"/>
                </a:solidFill>
                <a:latin typeface="+mn-lt"/>
                <a:ea typeface="+mn-ea"/>
                <a:cs typeface="+mn-cs"/>
              </a:rPr>
              <a:t> die 1,5Mbps Ausgangsleitung weiterleiten kann, so tritt Überlast an dieser Ausgangsleitung auf: Die Pakete stauen sich im Ausgangspuffer der Leitung, bevor sie darüber weitergeleitet werden können.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21</a:t>
            </a:fld>
            <a:endParaRPr lang="en-US" dirty="0"/>
          </a:p>
        </p:txBody>
      </p:sp>
    </p:spTree>
    <p:extLst>
      <p:ext uri="{BB962C8B-B14F-4D97-AF65-F5344CB8AC3E}">
        <p14:creationId xmlns:p14="http://schemas.microsoft.com/office/powerpoint/2010/main" val="1740632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23</a:t>
            </a:fld>
            <a:endParaRPr lang="en-US" dirty="0"/>
          </a:p>
        </p:txBody>
      </p:sp>
    </p:spTree>
    <p:extLst>
      <p:ext uri="{BB962C8B-B14F-4D97-AF65-F5344CB8AC3E}">
        <p14:creationId xmlns:p14="http://schemas.microsoft.com/office/powerpoint/2010/main" val="41410713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24</a:t>
            </a:fld>
            <a:endParaRPr lang="en-US" dirty="0"/>
          </a:p>
        </p:txBody>
      </p:sp>
    </p:spTree>
    <p:extLst>
      <p:ext uri="{BB962C8B-B14F-4D97-AF65-F5344CB8AC3E}">
        <p14:creationId xmlns:p14="http://schemas.microsoft.com/office/powerpoint/2010/main" val="2208189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23043E5B-C06E-4E74-9651-842475A89448}" type="slidenum">
              <a:rPr lang="en-US" smtClean="0"/>
              <a:pPr/>
              <a:t>25</a:t>
            </a:fld>
            <a:endParaRPr 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p:spPr>
        <p:txBody>
          <a:bodyPr>
            <a:normAutofit lnSpcReduction="10000"/>
          </a:bodyPr>
          <a:lstStyle/>
          <a:p>
            <a:r>
              <a:rPr lang="de-DE" sz="1200" i="0" kern="1200" baseline="0" dirty="0">
                <a:solidFill>
                  <a:schemeClr val="tx1"/>
                </a:solidFill>
                <a:latin typeface="+mn-lt"/>
                <a:ea typeface="+mn-ea"/>
                <a:cs typeface="+mn-cs"/>
              </a:rPr>
              <a:t>Erinnern Sie sich daran, dass ein Paket in einem Hast (der Quelle) seinen Ursprung hat, durch eine Reihe von Routern weitergeleitet wird und seine Reise in einem anderen Host (dem Zielort) beendet. Während sich ein Paket von einem Knoten (einem Hast oder Router) zum folgenden Knoten (Host oder Router) auf diesem Pfad bewegt, erfährt das Paket an jedem Knoten auf seinem Weg verschiedene Verzögerungen. Die wichtigsten sind die </a:t>
            </a:r>
            <a:r>
              <a:rPr lang="de-DE" sz="1200" b="1" i="0" kern="1200" baseline="0" dirty="0">
                <a:solidFill>
                  <a:schemeClr val="tx1"/>
                </a:solidFill>
                <a:latin typeface="+mn-lt"/>
                <a:ea typeface="+mn-ea"/>
                <a:cs typeface="+mn-cs"/>
              </a:rPr>
              <a:t>Verarbeitungsverzögerung</a:t>
            </a:r>
            <a:r>
              <a:rPr lang="de-DE" sz="1200" i="0" kern="1200" baseline="0" dirty="0">
                <a:solidFill>
                  <a:schemeClr val="tx1"/>
                </a:solidFill>
                <a:latin typeface="+mn-lt"/>
                <a:ea typeface="+mn-ea"/>
                <a:cs typeface="+mn-cs"/>
              </a:rPr>
              <a:t>, die </a:t>
            </a:r>
            <a:r>
              <a:rPr lang="de-DE" sz="1200" b="1" i="0" kern="1200" baseline="0" dirty="0">
                <a:solidFill>
                  <a:schemeClr val="tx1"/>
                </a:solidFill>
                <a:latin typeface="+mn-lt"/>
                <a:ea typeface="+mn-ea"/>
                <a:cs typeface="+mn-cs"/>
              </a:rPr>
              <a:t>Warteschlangenverzögerung</a:t>
            </a:r>
            <a:r>
              <a:rPr lang="de-DE" sz="1200" i="0" kern="1200" baseline="0" dirty="0">
                <a:solidFill>
                  <a:schemeClr val="tx1"/>
                </a:solidFill>
                <a:latin typeface="+mn-lt"/>
                <a:ea typeface="+mn-ea"/>
                <a:cs typeface="+mn-cs"/>
              </a:rPr>
              <a:t>, die </a:t>
            </a:r>
            <a:r>
              <a:rPr lang="de-DE" sz="1200" b="1" i="0" kern="1200" baseline="0" dirty="0">
                <a:solidFill>
                  <a:schemeClr val="tx1"/>
                </a:solidFill>
                <a:latin typeface="+mn-lt"/>
                <a:ea typeface="+mn-ea"/>
                <a:cs typeface="+mn-cs"/>
              </a:rPr>
              <a:t>Übertragungsverzögerung</a:t>
            </a:r>
            <a:r>
              <a:rPr lang="de-DE" sz="1200" i="0" kern="1200" baseline="0" dirty="0">
                <a:solidFill>
                  <a:schemeClr val="tx1"/>
                </a:solidFill>
                <a:latin typeface="+mn-lt"/>
                <a:ea typeface="+mn-ea"/>
                <a:cs typeface="+mn-cs"/>
              </a:rPr>
              <a:t> und die </a:t>
            </a:r>
            <a:r>
              <a:rPr lang="de-DE" sz="1200" b="1" i="0" kern="1200" baseline="0" dirty="0">
                <a:solidFill>
                  <a:schemeClr val="tx1"/>
                </a:solidFill>
                <a:latin typeface="+mn-lt"/>
                <a:ea typeface="+mn-ea"/>
                <a:cs typeface="+mn-cs"/>
              </a:rPr>
              <a:t>Ausbreitungsverzögerung</a:t>
            </a:r>
            <a:r>
              <a:rPr lang="de-DE" sz="1200" i="0" kern="1200" baseline="0" dirty="0">
                <a:solidFill>
                  <a:schemeClr val="tx1"/>
                </a:solidFill>
                <a:latin typeface="+mn-lt"/>
                <a:ea typeface="+mn-ea"/>
                <a:cs typeface="+mn-cs"/>
              </a:rPr>
              <a:t>. Insgesamt überlagern sich diese einzelnen Verzögerungen zur gesamten Verzögerungszeit im jeweiligen Knoten; damit wir Paketvermittlung und Computernetzwerke gründlich verstehen können, müssen wir die Ursachen und die Bedeutung dieser Verzögerungen verstehen. </a:t>
            </a:r>
          </a:p>
          <a:p>
            <a:endParaRPr lang="de-DE" dirty="0"/>
          </a:p>
          <a:p>
            <a:r>
              <a:rPr lang="de-DE" sz="1200" i="0" kern="1200" baseline="0" dirty="0">
                <a:solidFill>
                  <a:schemeClr val="tx1"/>
                </a:solidFill>
                <a:latin typeface="+mn-lt"/>
                <a:ea typeface="+mn-ea"/>
                <a:cs typeface="+mn-cs"/>
              </a:rPr>
              <a:t>Als Teil seines Weges zwischen Quelle und Ziel wird ein Paket vom Ursprungsknoten durch Router zu Router gesandt. Unser Ziel ist es, die Knotenverzögerung an Router zu analysieren. Beachten Sie, dass Router eine ausgehende Leitung zu Router besitzt. Dieser Leitung geht eine Warteschlange voraus (auch als Puffer bezeichnet). Wenn das Paket vom vorangegangenen Knoten an Router ankommt, überprüft dieser den Header des Paketes, um die richtige Ausgangsleitung für das Paket zu ermitteln und das Paket danach über diese Leitung zu versenden. In diesem Beispiel ist die ausgehende Leitung für das Paket diejenige, die zu Router führt. Ein Paket kann nur über eine Leitung übertragen werden, wenn es kein ande</a:t>
            </a:r>
            <a:r>
              <a:rPr lang="de-DE" sz="1200" kern="1200" baseline="0" dirty="0">
                <a:solidFill>
                  <a:schemeClr val="tx1"/>
                </a:solidFill>
                <a:latin typeface="+mn-lt"/>
                <a:ea typeface="+mn-ea"/>
                <a:cs typeface="+mn-cs"/>
              </a:rPr>
              <a:t>res Paket gibt, das gerade über diese Leitung gesendet wird und wenn es keine anderen Pakete gibt, die vor ihm in der Warteschlange stecken. Ist die Leitung gerade belegt oder gibt es andere Pakete, die bereits zur Übertragung in die Warteschlange eingereiht sind, wird das neu eintreffende Paket an die Warteschlage angehängt. </a:t>
            </a:r>
          </a:p>
          <a:p>
            <a:endParaRPr lang="de-DE" sz="1200" i="0" kern="1200" baseline="0" dirty="0">
              <a:solidFill>
                <a:schemeClr val="tx1"/>
              </a:solidFill>
              <a:latin typeface="+mn-lt"/>
              <a:ea typeface="+mn-ea"/>
              <a:cs typeface="+mn-cs"/>
            </a:endParaRPr>
          </a:p>
          <a:p>
            <a:r>
              <a:rPr lang="de-DE" sz="1200" kern="1200" baseline="0" dirty="0">
                <a:solidFill>
                  <a:schemeClr val="tx1"/>
                </a:solidFill>
                <a:latin typeface="+mn-lt"/>
                <a:ea typeface="+mn-ea"/>
                <a:cs typeface="+mn-cs"/>
              </a:rPr>
              <a:t>-</a:t>
            </a:r>
          </a:p>
          <a:p>
            <a:endParaRPr lang="de-DE" dirty="0"/>
          </a:p>
        </p:txBody>
      </p:sp>
    </p:spTree>
    <p:extLst>
      <p:ext uri="{BB962C8B-B14F-4D97-AF65-F5344CB8AC3E}">
        <p14:creationId xmlns:p14="http://schemas.microsoft.com/office/powerpoint/2010/main" val="394987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25A2E724-43F8-44A2-8C6E-5D32F9F90793}" type="slidenum">
              <a:rPr lang="en-US" smtClean="0"/>
              <a:pPr/>
              <a:t>27</a:t>
            </a:fld>
            <a:endParaRPr lang="en-US"/>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r>
              <a:rPr lang="de-DE" sz="1200" b="0" i="0" kern="1200" baseline="0" dirty="0">
                <a:solidFill>
                  <a:schemeClr val="tx1"/>
                </a:solidFill>
                <a:latin typeface="+mn-lt"/>
                <a:ea typeface="+mn-ea"/>
                <a:cs typeface="+mn-cs"/>
              </a:rPr>
              <a:t>Verarbeitungsverzögerung </a:t>
            </a:r>
          </a:p>
          <a:p>
            <a:r>
              <a:rPr lang="de-DE" sz="1200" b="0" i="0" kern="1200" baseline="0" dirty="0">
                <a:solidFill>
                  <a:schemeClr val="tx1"/>
                </a:solidFill>
                <a:latin typeface="+mn-lt"/>
                <a:ea typeface="+mn-ea"/>
                <a:cs typeface="+mn-cs"/>
              </a:rPr>
              <a:t>Die Zeitdauer, welche zur Prüfung des Paket-Headers sowie zur Entscheidung über den weiteren Weg des Paketes benötigt wird, ist Teil der Verarbeitungsverzögerung (</a:t>
            </a:r>
            <a:r>
              <a:rPr lang="de-DE" sz="1200" b="0" i="0" kern="1200" baseline="0" dirty="0" err="1">
                <a:solidFill>
                  <a:schemeClr val="tx1"/>
                </a:solidFill>
                <a:latin typeface="+mn-lt"/>
                <a:ea typeface="+mn-ea"/>
                <a:cs typeface="+mn-cs"/>
              </a:rPr>
              <a:t>processing</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delay</a:t>
            </a:r>
            <a:r>
              <a:rPr lang="de-DE" sz="1200" b="0" i="0" kern="1200" baseline="0" dirty="0">
                <a:solidFill>
                  <a:schemeClr val="tx1"/>
                </a:solidFill>
                <a:latin typeface="+mn-lt"/>
                <a:ea typeface="+mn-ea"/>
                <a:cs typeface="+mn-cs"/>
              </a:rPr>
              <a:t>). In diese können noch weitere Faktoren einfließen, etwa die benötigte Zeit, um nach Bitfehlern zu suchen, die beim Übertragen der Paket-Bits vom Quellknoten zu Router A aufgetreten sein könnten. Verarbeitungsverzögerungen bei Hochgeschwindigkeitsroutern liegen normalerweise in der Größenordnung von Mikrosekunden oder noch darunter. Nach der Verarbeitung im Knoten leitet der Router das Paket an die Warteschlange, die sich vor der Leitung zu Router B befindet. </a:t>
            </a:r>
          </a:p>
          <a:p>
            <a:endParaRPr lang="de-DE" sz="1200" b="0" i="0" kern="1200" baseline="0" dirty="0">
              <a:solidFill>
                <a:schemeClr val="tx1"/>
              </a:solidFill>
              <a:latin typeface="+mn-lt"/>
              <a:ea typeface="+mn-ea"/>
              <a:cs typeface="+mn-cs"/>
            </a:endParaRPr>
          </a:p>
          <a:p>
            <a:r>
              <a:rPr lang="de-DE" sz="1200" b="0" i="0" kern="1200" baseline="0" dirty="0">
                <a:solidFill>
                  <a:schemeClr val="tx1"/>
                </a:solidFill>
                <a:latin typeface="+mn-lt"/>
                <a:ea typeface="+mn-ea"/>
                <a:cs typeface="+mn-cs"/>
              </a:rPr>
              <a:t>Warteschlangenverzögerung </a:t>
            </a:r>
          </a:p>
          <a:p>
            <a:r>
              <a:rPr lang="de-DE" sz="1200" b="0" i="0" kern="1200" baseline="0" dirty="0">
                <a:solidFill>
                  <a:schemeClr val="tx1"/>
                </a:solidFill>
                <a:latin typeface="+mn-lt"/>
                <a:ea typeface="+mn-ea"/>
                <a:cs typeface="+mn-cs"/>
              </a:rPr>
              <a:t>Während das Paket in der Warteschlange darauf wartet, auf der entsprechenden Leitung versendet zu werden, erfährt es eine Warteschlangenverzögerung. Die Dauer dieser Verzögerung für ein Paket hängt von der Anzahl der zuvor angekommenen Pakete ab, die sich bereits in der Warteschlange befinden und auf ihre Übertragung über die Leitung warten. Ist die Warteschlange leer und wird gerade kein anderes Paket gesendet, dann gibt es keine Warteschlangenverzögerung. Ist andererseits das Verkehrsaufkommen hoch und viele andere Pakete warten auf ihre Übertragung, dann ist die Warteschlangenverzögerung groß. Wir werden in Kürze sehen, dass die Anzahl von Paketen, die ein ankommendes Paket vorfindet, eine Funktion der Intensität und der Art des an der Warteschlange ankommenden Datenverkehrs ist. Warteschlangenverzögerungen erreichen in der Praxis Größenordnungen von Mikrosekunden bis Millisekunden.</a:t>
            </a:r>
          </a:p>
          <a:p>
            <a:endParaRPr lang="de-DE" dirty="0"/>
          </a:p>
        </p:txBody>
      </p:sp>
    </p:spTree>
    <p:extLst>
      <p:ext uri="{BB962C8B-B14F-4D97-AF65-F5344CB8AC3E}">
        <p14:creationId xmlns:p14="http://schemas.microsoft.com/office/powerpoint/2010/main" val="39672064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9DB684AF-8048-4402-AFE2-BC6471C98A0D}" type="slidenum">
              <a:rPr lang="en-US" smtClean="0"/>
              <a:pPr/>
              <a:t>28</a:t>
            </a:fld>
            <a:endParaRPr lang="en-US"/>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normAutofit fontScale="92500"/>
          </a:bodyPr>
          <a:lstStyle/>
          <a:p>
            <a:r>
              <a:rPr lang="de-DE" sz="1200" b="0" i="0" kern="1200" baseline="0" dirty="0">
                <a:solidFill>
                  <a:schemeClr val="tx1"/>
                </a:solidFill>
                <a:latin typeface="+mn-lt"/>
                <a:ea typeface="+mn-ea"/>
                <a:cs typeface="+mn-cs"/>
              </a:rPr>
              <a:t>Übertragungsverzögerung </a:t>
            </a:r>
          </a:p>
          <a:p>
            <a:r>
              <a:rPr lang="de-DE" sz="1200" b="0" i="0" kern="1200" baseline="0" dirty="0">
                <a:solidFill>
                  <a:schemeClr val="tx1"/>
                </a:solidFill>
                <a:latin typeface="+mn-lt"/>
                <a:ea typeface="+mn-ea"/>
                <a:cs typeface="+mn-cs"/>
              </a:rPr>
              <a:t>Gehen wir davon aus, dass die Pakete nach dem Prinzip "wer zuerst kommt, wird zuerst bearbeitet" (</a:t>
            </a:r>
            <a:r>
              <a:rPr lang="de-DE" sz="1200" b="0" i="0" kern="1200" baseline="0" dirty="0" err="1">
                <a:solidFill>
                  <a:schemeClr val="tx1"/>
                </a:solidFill>
                <a:latin typeface="+mn-lt"/>
                <a:ea typeface="+mn-ea"/>
                <a:cs typeface="+mn-cs"/>
              </a:rPr>
              <a:t>fixst</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came</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first</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served</a:t>
            </a:r>
            <a:r>
              <a:rPr lang="de-DE" sz="1200" b="0" i="0" kern="1200" baseline="0" dirty="0">
                <a:solidFill>
                  <a:schemeClr val="tx1"/>
                </a:solidFill>
                <a:latin typeface="+mn-lt"/>
                <a:ea typeface="+mn-ea"/>
                <a:cs typeface="+mn-cs"/>
              </a:rPr>
              <a:t>) übertragen werden, wie es in Paketvermittlungsnetzen üblich ist, dann kann unser Paket erst gesendet werden, nachdem alle vor ihm eingetroffenen Pakete gesendet worden sind. Bezeichnen wir die Länge des Paketes in Bit mit L und die Übertragungsgeschwindigkeit der Leitung von Router zu Router mit R Bit/s. Bei einer 10 </a:t>
            </a:r>
            <a:r>
              <a:rPr lang="de-DE" sz="1200" b="0" i="0" kern="1200" baseline="0" dirty="0" err="1">
                <a:solidFill>
                  <a:schemeClr val="tx1"/>
                </a:solidFill>
                <a:latin typeface="+mn-lt"/>
                <a:ea typeface="+mn-ea"/>
                <a:cs typeface="+mn-cs"/>
              </a:rPr>
              <a:t>Mbps</a:t>
            </a:r>
            <a:r>
              <a:rPr lang="de-DE" sz="1200" b="0" i="0" kern="1200" baseline="0" dirty="0">
                <a:solidFill>
                  <a:schemeClr val="tx1"/>
                </a:solidFill>
                <a:latin typeface="+mn-lt"/>
                <a:ea typeface="+mn-ea"/>
                <a:cs typeface="+mn-cs"/>
              </a:rPr>
              <a:t>-Ethernet-Leitung ist die Rate z.B. = 10Mbps; bei einer 100 </a:t>
            </a:r>
            <a:r>
              <a:rPr lang="de-DE" sz="1200" b="0" i="0" kern="1200" baseline="0" dirty="0" err="1">
                <a:solidFill>
                  <a:schemeClr val="tx1"/>
                </a:solidFill>
                <a:latin typeface="+mn-lt"/>
                <a:ea typeface="+mn-ea"/>
                <a:cs typeface="+mn-cs"/>
              </a:rPr>
              <a:t>Mbps</a:t>
            </a:r>
            <a:r>
              <a:rPr lang="de-DE" sz="1200" b="0" i="0" kern="1200" baseline="0" dirty="0">
                <a:solidFill>
                  <a:schemeClr val="tx1"/>
                </a:solidFill>
                <a:latin typeface="+mn-lt"/>
                <a:ea typeface="+mn-ea"/>
                <a:cs typeface="+mn-cs"/>
              </a:rPr>
              <a:t>-Ethernet-Leitung beträgt die Rate 100 </a:t>
            </a:r>
            <a:r>
              <a:rPr lang="de-DE" sz="1200" b="0" i="0" kern="1200" baseline="0" dirty="0" err="1">
                <a:solidFill>
                  <a:schemeClr val="tx1"/>
                </a:solidFill>
                <a:latin typeface="+mn-lt"/>
                <a:ea typeface="+mn-ea"/>
                <a:cs typeface="+mn-cs"/>
              </a:rPr>
              <a:t>Mbps</a:t>
            </a:r>
            <a:r>
              <a:rPr lang="de-DE" sz="1200" b="0" i="0" kern="1200" baseline="0" dirty="0">
                <a:solidFill>
                  <a:schemeClr val="tx1"/>
                </a:solidFill>
                <a:latin typeface="+mn-lt"/>
                <a:ea typeface="+mn-ea"/>
                <a:cs typeface="+mn-cs"/>
              </a:rPr>
              <a:t> Die Übertragungsverzögerung  ist L/R. Dies ist die Zeit, die benötigt wird, um alle Bits des Paketes auf die Leitung zu legen. Übertragungsverzögerungen liegen in der Praxis im Bereich zwischen Mikrosekunden und Millisekunden. </a:t>
            </a:r>
          </a:p>
          <a:p>
            <a:endParaRPr lang="de-DE" b="0" i="0" dirty="0"/>
          </a:p>
          <a:p>
            <a:r>
              <a:rPr lang="de-DE" sz="1200" b="0" i="0" kern="1200" baseline="0" dirty="0">
                <a:solidFill>
                  <a:schemeClr val="tx1"/>
                </a:solidFill>
                <a:latin typeface="+mn-lt"/>
                <a:ea typeface="+mn-ea"/>
                <a:cs typeface="+mn-cs"/>
              </a:rPr>
              <a:t>Ausbreitungsverzögerung </a:t>
            </a:r>
          </a:p>
          <a:p>
            <a:r>
              <a:rPr lang="de-DE" sz="1200" b="0" i="0" kern="1200" baseline="0" dirty="0">
                <a:solidFill>
                  <a:schemeClr val="tx1"/>
                </a:solidFill>
                <a:latin typeface="+mn-lt"/>
                <a:ea typeface="+mn-ea"/>
                <a:cs typeface="+mn-cs"/>
              </a:rPr>
              <a:t>Ist ein Bit endlich auf der Leitung angekommen, braucht es Zeit, um Router B zu erreichen. Die Zeit, die benötigt wird, um vom Anfang der Leitung bis zu Router B zu kommen, wird als Ausbreitungsverzögerung bezeichnet. Das Bit pflanzt sich mit der Ausbreitungsgeschwindigkeit des Signals auf der Leitung fort. Diese hängt vom Trägermedium (also Glasfaser, </a:t>
            </a:r>
            <a:r>
              <a:rPr lang="de-DE" sz="1200" b="0" i="0" kern="1200" baseline="0" dirty="0" err="1">
                <a:solidFill>
                  <a:schemeClr val="tx1"/>
                </a:solidFill>
                <a:latin typeface="+mn-lt"/>
                <a:ea typeface="+mn-ea"/>
                <a:cs typeface="+mn-cs"/>
              </a:rPr>
              <a:t>Twisted</a:t>
            </a:r>
            <a:r>
              <a:rPr lang="de-DE" sz="1200" b="0" i="0" kern="1200" baseline="0" dirty="0">
                <a:solidFill>
                  <a:schemeClr val="tx1"/>
                </a:solidFill>
                <a:latin typeface="+mn-lt"/>
                <a:ea typeface="+mn-ea"/>
                <a:cs typeface="+mn-cs"/>
              </a:rPr>
              <a:t>-</a:t>
            </a:r>
            <a:r>
              <a:rPr lang="de-DE" sz="1200" b="0" i="0" kern="1200" baseline="0" dirty="0" err="1">
                <a:solidFill>
                  <a:schemeClr val="tx1"/>
                </a:solidFill>
                <a:latin typeface="+mn-lt"/>
                <a:ea typeface="+mn-ea"/>
                <a:cs typeface="+mn-cs"/>
              </a:rPr>
              <a:t>Pairusw</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abund</a:t>
            </a:r>
            <a:r>
              <a:rPr lang="de-DE" sz="1200" b="0" i="0" kern="1200" baseline="0" dirty="0">
                <a:solidFill>
                  <a:schemeClr val="tx1"/>
                </a:solidFill>
                <a:latin typeface="+mn-lt"/>
                <a:ea typeface="+mn-ea"/>
                <a:cs typeface="+mn-cs"/>
              </a:rPr>
              <a:t> liegt im Bereich von  2.10</a:t>
            </a:r>
            <a:r>
              <a:rPr lang="de-DE" sz="1200" b="0" i="0" kern="1200" baseline="30000" dirty="0">
                <a:solidFill>
                  <a:schemeClr val="tx1"/>
                </a:solidFill>
                <a:latin typeface="+mn-lt"/>
                <a:ea typeface="+mn-ea"/>
                <a:cs typeface="+mn-cs"/>
              </a:rPr>
              <a:t>8 </a:t>
            </a:r>
            <a:r>
              <a:rPr lang="de-DE" sz="1200" b="0" i="0" kern="1200" baseline="0" dirty="0">
                <a:solidFill>
                  <a:schemeClr val="tx1"/>
                </a:solidFill>
                <a:latin typeface="+mn-lt"/>
                <a:ea typeface="+mn-ea"/>
                <a:cs typeface="+mn-cs"/>
              </a:rPr>
              <a:t>m/s bis 3.10</a:t>
            </a:r>
            <a:r>
              <a:rPr lang="de-DE" sz="1200" b="0" i="0" kern="1200" baseline="30000" dirty="0">
                <a:solidFill>
                  <a:schemeClr val="tx1"/>
                </a:solidFill>
                <a:latin typeface="+mn-lt"/>
                <a:ea typeface="+mn-ea"/>
                <a:cs typeface="+mn-cs"/>
              </a:rPr>
              <a:t>8 </a:t>
            </a:r>
            <a:r>
              <a:rPr lang="de-DE" sz="1200" b="0" i="0" kern="1200" baseline="0" dirty="0">
                <a:solidFill>
                  <a:schemeClr val="tx1"/>
                </a:solidFill>
                <a:latin typeface="+mn-lt"/>
                <a:ea typeface="+mn-ea"/>
                <a:cs typeface="+mn-cs"/>
              </a:rPr>
              <a:t>m/s </a:t>
            </a:r>
          </a:p>
          <a:p>
            <a:r>
              <a:rPr lang="de-DE" sz="1200" b="0" i="0" kern="1200" baseline="0" dirty="0">
                <a:solidFill>
                  <a:schemeClr val="tx1"/>
                </a:solidFill>
                <a:latin typeface="+mn-lt"/>
                <a:ea typeface="+mn-ea"/>
                <a:cs typeface="+mn-cs"/>
              </a:rPr>
              <a:t>was gleich oder zumindest nur wenig unterhalb der Lichtgeschwindigkeit im jeweiligen Medium ist. Die Ausbreitungsverzögerung ist die Entfernung zwischen zwei Routern, geteilt durch die Ausbreitungsgeschwindigkeit. Das bedeutet, die Ausbreitungsverzögerung ist d/s, wobei d die Entfernung zwischen Router und Router Bund s die Ausbreitungsgeschwindigkeit auf der Leitung ist. Sobald das letzte Bit des Paketes bei Knoten eingetroffen ist, wird es mit allen vorangegangenen Bits des Paketes in Router B gespeichert. Der ganze Prozess setzt sich dann bei Router B fort, der nun das Paket weiterleiten muss. In Wide-Area-Netzwerken liegen die Ausbreitungsverzögerungen in der Größenordnung von Millisekunden. </a:t>
            </a:r>
          </a:p>
          <a:p>
            <a:endParaRPr lang="de-DE" b="0" i="0" dirty="0"/>
          </a:p>
        </p:txBody>
      </p:sp>
    </p:spTree>
    <p:extLst>
      <p:ext uri="{BB962C8B-B14F-4D97-AF65-F5344CB8AC3E}">
        <p14:creationId xmlns:p14="http://schemas.microsoft.com/office/powerpoint/2010/main" val="2055412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0C5484DC-7E87-4277-9794-7678F2BBAADE}" type="slidenum">
              <a:rPr lang="en-US" smtClean="0"/>
              <a:pPr/>
              <a:t>29</a:t>
            </a:fld>
            <a:endParaRPr lang="en-US"/>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lvl="1"/>
            <a:r>
              <a:rPr lang="de-DE" sz="2500" b="0" dirty="0">
                <a:solidFill>
                  <a:srgbClr val="FF0000"/>
                </a:solidFill>
              </a:rPr>
              <a:t>Verarbeitungsverzögerung</a:t>
            </a:r>
          </a:p>
          <a:p>
            <a:pPr lvl="1"/>
            <a:r>
              <a:rPr lang="de-DE" sz="2500" b="0" dirty="0">
                <a:solidFill>
                  <a:srgbClr val="FF0000"/>
                </a:solidFill>
              </a:rPr>
              <a:t>Warteschlangenverzögerung</a:t>
            </a:r>
          </a:p>
          <a:p>
            <a:pPr lvl="1"/>
            <a:r>
              <a:rPr lang="de-DE" sz="2500" b="0" dirty="0">
                <a:solidFill>
                  <a:srgbClr val="FF0000"/>
                </a:solidFill>
              </a:rPr>
              <a:t>Übertragungsverzögerung</a:t>
            </a:r>
          </a:p>
          <a:p>
            <a:pPr lvl="1"/>
            <a:r>
              <a:rPr lang="de-DE" sz="2500" b="0" dirty="0">
                <a:solidFill>
                  <a:srgbClr val="FF0000"/>
                </a:solidFill>
              </a:rPr>
              <a:t>Ausbreitungsverzögerung </a:t>
            </a:r>
          </a:p>
          <a:p>
            <a:endParaRPr lang="de-DE" dirty="0"/>
          </a:p>
        </p:txBody>
      </p:sp>
    </p:spTree>
    <p:extLst>
      <p:ext uri="{BB962C8B-B14F-4D97-AF65-F5344CB8AC3E}">
        <p14:creationId xmlns:p14="http://schemas.microsoft.com/office/powerpoint/2010/main" val="22420615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F3ECBB34-9254-4B4F-A3F0-8E573B3A7191}" type="slidenum">
              <a:rPr lang="en-US" smtClean="0"/>
              <a:pPr/>
              <a:t>30</a:t>
            </a:fld>
            <a:endParaRPr lang="en-US"/>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5586884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4966F578-6A11-4B97-A737-545855D3F060}" type="slidenum">
              <a:rPr lang="en-US" smtClean="0"/>
              <a:pPr/>
              <a:t>31</a:t>
            </a:fld>
            <a:endParaRPr lang="en-US"/>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2104942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3E38608B-E459-43BA-8392-ECF8DD19E13C}" type="slidenum">
              <a:rPr lang="en-US" smtClean="0"/>
              <a:pPr/>
              <a:t>32</a:t>
            </a:fld>
            <a:endParaRPr lang="en-US"/>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p:spPr>
        <p:txBody>
          <a:bodyPr/>
          <a:lstStyle/>
          <a:p>
            <a:r>
              <a:rPr lang="de-DE" sz="1200" b="1" kern="1200" baseline="0" dirty="0">
                <a:solidFill>
                  <a:schemeClr val="tx1"/>
                </a:solidFill>
                <a:latin typeface="+mn-lt"/>
                <a:ea typeface="+mn-ea"/>
                <a:cs typeface="+mn-cs"/>
              </a:rPr>
              <a:t>Paketverlust </a:t>
            </a:r>
          </a:p>
          <a:p>
            <a:r>
              <a:rPr lang="de-DE" sz="1200" kern="1200" baseline="0" dirty="0">
                <a:solidFill>
                  <a:schemeClr val="tx1"/>
                </a:solidFill>
                <a:latin typeface="+mn-lt"/>
                <a:ea typeface="+mn-ea"/>
                <a:cs typeface="+mn-cs"/>
              </a:rPr>
              <a:t>In unseren obigen Diskussionen haben wir angenommen, dass die Warteschlange eine unendliche Anzahl von Paketen enthalten kann. In der Realität hat eine Warteschlange vor einer Leitung aber nur begrenzte Kapazität -wobei diese Kapazität sehr vom Design des Paket-Switches und dessen Kosten abhängt. Wegen dieser begrenzten Warteschlangenkapazität geht die Verzögerungszeit nicht gegen unendlich, sobald der Verkehrswert gegen 1 geht. Allerdings kann ein ankommendes Paket eine volle Warteschlange vorfinden. Da es keinen Platz gibt, um ein solches Paket zu speichern, löscht der Router das ankommende Paket, d.h., es geht verloren. Dieses Überlaufen einer Warteschlange kann im Java-Applet beobachtet werden, sobald die Verkehrsdichte größer als 1 wird. </a:t>
            </a:r>
          </a:p>
          <a:p>
            <a:r>
              <a:rPr lang="de-DE" sz="1200" kern="1200" baseline="0" dirty="0">
                <a:solidFill>
                  <a:schemeClr val="tx1"/>
                </a:solidFill>
                <a:latin typeface="+mn-lt"/>
                <a:ea typeface="+mn-ea"/>
                <a:cs typeface="+mn-cs"/>
              </a:rPr>
              <a:t>Aus dem Blickwinkel eines Endsystems sieht der Paketverlust so aus, als ob ein Paket ins Innere des Netzwerkes übertragen wurde, aber nie am Zielort auftaucht. Der Anteil verlorener Pakete steigt, wenn der Verkehrswert zunimmt. Deshalb wird die Leistung eines Knotens nicht nur anhand der dort auftretenden Verzögerung, sondern oft auch in Hinblick auf die Wahrscheinlichkeit eines Paketverlustes beurteilt. Wie wir in den anschließenden Kapiteln erörtern werden, kann ein verlorenes Paket auf Basis einer Ende-zu-Ende-Verbindung nochmals übertragen werden, um alle Daten sicher von der Quelle zum Zielort zu übertragen. </a:t>
            </a:r>
          </a:p>
          <a:p>
            <a:endParaRPr lang="de-DE" dirty="0"/>
          </a:p>
        </p:txBody>
      </p:sp>
    </p:spTree>
    <p:extLst>
      <p:ext uri="{BB962C8B-B14F-4D97-AF65-F5344CB8AC3E}">
        <p14:creationId xmlns:p14="http://schemas.microsoft.com/office/powerpoint/2010/main" val="19982782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i="0" kern="1200" baseline="0" dirty="0">
                <a:solidFill>
                  <a:schemeClr val="tx1"/>
                </a:solidFill>
                <a:latin typeface="+mn-lt"/>
                <a:ea typeface="+mn-ea"/>
                <a:cs typeface="+mn-cs"/>
              </a:rPr>
              <a:t>Klarerweise kann der Server keine Bits mit einer Geschwindigkeit größer Rs bps durch seine Leitung pumpen und der Router kann keine Bits schneller als </a:t>
            </a:r>
            <a:r>
              <a:rPr lang="de-DE" sz="1200" i="0" kern="1200" baseline="0" dirty="0" err="1">
                <a:solidFill>
                  <a:schemeClr val="tx1"/>
                </a:solidFill>
                <a:latin typeface="+mn-lt"/>
                <a:ea typeface="+mn-ea"/>
                <a:cs typeface="+mn-cs"/>
              </a:rPr>
              <a:t>Rc</a:t>
            </a:r>
            <a:r>
              <a:rPr lang="de-DE" sz="1200" i="0" kern="1200" baseline="0" dirty="0">
                <a:solidFill>
                  <a:schemeClr val="tx1"/>
                </a:solidFill>
                <a:latin typeface="+mn-lt"/>
                <a:ea typeface="+mn-ea"/>
                <a:cs typeface="+mn-cs"/>
              </a:rPr>
              <a:t> bps weiterleiten. Wenn Rs &lt; </a:t>
            </a:r>
            <a:r>
              <a:rPr lang="de-DE" sz="1200" i="0" kern="1200" baseline="0" dirty="0" err="1">
                <a:solidFill>
                  <a:schemeClr val="tx1"/>
                </a:solidFill>
                <a:latin typeface="+mn-lt"/>
                <a:ea typeface="+mn-ea"/>
                <a:cs typeface="+mn-cs"/>
              </a:rPr>
              <a:t>Rc</a:t>
            </a:r>
            <a:r>
              <a:rPr lang="de-DE" sz="1200" i="0" kern="1200" baseline="0" dirty="0">
                <a:solidFill>
                  <a:schemeClr val="tx1"/>
                </a:solidFill>
                <a:latin typeface="+mn-lt"/>
                <a:ea typeface="+mn-ea"/>
                <a:cs typeface="+mn-cs"/>
              </a:rPr>
              <a:t>, dann fließen die vom Server abgegebenen Bits direkt durch den Router und erreichen den Client mit einer Rate von Rs bps, was zum Durchsatz von Rs bps führt. Ist andererseits </a:t>
            </a:r>
            <a:r>
              <a:rPr lang="de-DE" sz="1200" i="0" kern="1200" baseline="0" dirty="0" err="1">
                <a:solidFill>
                  <a:schemeClr val="tx1"/>
                </a:solidFill>
                <a:latin typeface="+mn-lt"/>
                <a:ea typeface="+mn-ea"/>
                <a:cs typeface="+mn-cs"/>
              </a:rPr>
              <a:t>Rc</a:t>
            </a:r>
            <a:r>
              <a:rPr lang="de-DE" sz="1200" i="0" kern="1200" baseline="0" dirty="0">
                <a:solidFill>
                  <a:schemeClr val="tx1"/>
                </a:solidFill>
                <a:latin typeface="+mn-lt"/>
                <a:ea typeface="+mn-ea"/>
                <a:cs typeface="+mn-cs"/>
              </a:rPr>
              <a:t> &lt; Rs, dann kann der Router die Bits nicht so schnell weiterleiten, wie er sie erhält. </a:t>
            </a:r>
          </a:p>
          <a:p>
            <a:endParaRPr lang="de-DE" i="0"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33</a:t>
            </a:fld>
            <a:endParaRPr lang="en-US" dirty="0"/>
          </a:p>
        </p:txBody>
      </p:sp>
    </p:spTree>
    <p:extLst>
      <p:ext uri="{BB962C8B-B14F-4D97-AF65-F5344CB8AC3E}">
        <p14:creationId xmlns:p14="http://schemas.microsoft.com/office/powerpoint/2010/main" val="651631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Wenn </a:t>
            </a:r>
            <a:r>
              <a:rPr lang="de-DE" sz="1200" i="1" kern="1200" baseline="0" dirty="0">
                <a:solidFill>
                  <a:schemeClr val="tx1"/>
                </a:solidFill>
                <a:latin typeface="+mn-lt"/>
                <a:ea typeface="+mn-ea"/>
                <a:cs typeface="+mn-cs"/>
              </a:rPr>
              <a:t>Rs &lt; </a:t>
            </a:r>
            <a:r>
              <a:rPr lang="de-DE" sz="1200" i="1" kern="1200" baseline="0" dirty="0" err="1">
                <a:solidFill>
                  <a:schemeClr val="tx1"/>
                </a:solidFill>
                <a:latin typeface="+mn-lt"/>
                <a:ea typeface="+mn-ea"/>
                <a:cs typeface="+mn-cs"/>
              </a:rPr>
              <a:t>Rc</a:t>
            </a:r>
            <a:r>
              <a:rPr lang="de-DE" sz="1200" i="1" kern="1200" baseline="0" dirty="0">
                <a:solidFill>
                  <a:schemeClr val="tx1"/>
                </a:solidFill>
                <a:latin typeface="+mn-lt"/>
                <a:ea typeface="+mn-ea"/>
                <a:cs typeface="+mn-cs"/>
              </a:rPr>
              <a:t>, dann fließen die vom Server abgegebenen Bits direkt durch den Router und erreichen den Client mit einer Rate von Rs bps, was zum Durchsatz von Rs bps führt. Ist andererseits </a:t>
            </a:r>
            <a:r>
              <a:rPr lang="de-DE" sz="1200" i="1" kern="1200" baseline="0" dirty="0" err="1">
                <a:solidFill>
                  <a:schemeClr val="tx1"/>
                </a:solidFill>
                <a:latin typeface="+mn-lt"/>
                <a:ea typeface="+mn-ea"/>
                <a:cs typeface="+mn-cs"/>
              </a:rPr>
              <a:t>Rc</a:t>
            </a:r>
            <a:r>
              <a:rPr lang="de-DE" sz="1200" i="1" kern="1200" baseline="0" dirty="0">
                <a:solidFill>
                  <a:schemeClr val="tx1"/>
                </a:solidFill>
                <a:latin typeface="+mn-lt"/>
                <a:ea typeface="+mn-ea"/>
                <a:cs typeface="+mn-cs"/>
              </a:rPr>
              <a:t> &lt; Rs, dann kann der Router die Bits nicht so schnell weiterleiten, wie er sie erhält.</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kern="1200" baseline="0" dirty="0">
                <a:solidFill>
                  <a:schemeClr val="tx1"/>
                </a:solidFill>
                <a:latin typeface="+mn-lt"/>
                <a:ea typeface="+mn-ea"/>
                <a:cs typeface="+mn-cs"/>
              </a:rPr>
              <a:t>In diesem Fall verlassen die Bits den Router nur mit der Rate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was zu einem Ende-zu-Ende-Durchsatz von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führt. (Beachten Sie auch, dass ständig mit der Geschwindigkeit Rs eintreffende Bits bei gleichzeitigem Abtransport mit der Rate Re zu einer ständig wachsenden Warteschlange vor der Leitung im Router führen -eine äußerst unerfreuliche Situation!) Für dieses einfache Netzwerk aus zwei Leitungen ist der Durchsatz min{</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Rs}. das heißt, er entspricht der Übertragungsgeschwindigkeit der Leitung, bei welcher der Engpass auftritt (die sogenannte </a:t>
            </a:r>
            <a:r>
              <a:rPr lang="de-DE" sz="1200" b="1" i="0" kern="1200" baseline="0" dirty="0" err="1">
                <a:solidFill>
                  <a:schemeClr val="tx1"/>
                </a:solidFill>
                <a:latin typeface="+mn-lt"/>
                <a:ea typeface="+mn-ea"/>
                <a:cs typeface="+mn-cs"/>
              </a:rPr>
              <a:t>Bottleneck</a:t>
            </a:r>
            <a:r>
              <a:rPr lang="de-DE" sz="1200" b="1" i="0" kern="1200" baseline="0" dirty="0">
                <a:solidFill>
                  <a:schemeClr val="tx1"/>
                </a:solidFill>
                <a:latin typeface="+mn-lt"/>
                <a:ea typeface="+mn-ea"/>
                <a:cs typeface="+mn-cs"/>
              </a:rPr>
              <a:t>-Leitung</a:t>
            </a:r>
            <a:r>
              <a:rPr lang="de-DE" sz="1200" b="0" i="0" kern="1200" baseline="0" dirty="0">
                <a:solidFill>
                  <a:schemeClr val="tx1"/>
                </a:solidFill>
                <a:latin typeface="+mn-lt"/>
                <a:ea typeface="+mn-ea"/>
                <a:cs typeface="+mn-cs"/>
              </a:rPr>
              <a:t> (Engpassleitung)). Nachdem wir den Durchsatz bestimmt haben, können wir jetzt die Zeit schätzen, die für die Übertragung einer großen Datei aus Bit vom Server zum Client benötigt wird: Sie beträgt F/min{Rs,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Um das Beispiel zu konkretisieren, nehmen Sie an, dass Sie eine MP3-Datei von = 32 Millionen Bit herunterladen, der Server eine Übertragungsgeschwindigkeit von Rs 2 </a:t>
            </a:r>
            <a:r>
              <a:rPr lang="de-DE" sz="1200" b="0" i="0" kern="1200" baseline="0" dirty="0" err="1">
                <a:solidFill>
                  <a:schemeClr val="tx1"/>
                </a:solidFill>
                <a:latin typeface="+mn-lt"/>
                <a:ea typeface="+mn-ea"/>
                <a:cs typeface="+mn-cs"/>
              </a:rPr>
              <a:t>Mbps</a:t>
            </a:r>
            <a:r>
              <a:rPr lang="de-DE" sz="1200" b="0" i="0" kern="1200" baseline="0" dirty="0">
                <a:solidFill>
                  <a:schemeClr val="tx1"/>
                </a:solidFill>
                <a:latin typeface="+mn-lt"/>
                <a:ea typeface="+mn-ea"/>
                <a:cs typeface="+mn-cs"/>
              </a:rPr>
              <a:t> hat und Sie über eine Zugangsleitung von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1Mbps verfügen. Die Zeit, die für die Übertragung der Datei benötigt wird, beträgt dann 32 Sekunden. Natürlich sind diese Größen für Durchsatz und Übertragungszeit nur Schätzungen, denn sie berücksichtigen keinerlei Protokollaspekte .</a:t>
            </a:r>
          </a:p>
          <a:p>
            <a:endParaRPr lang="de-DE" b="0" i="0"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34</a:t>
            </a:fld>
            <a:endParaRPr lang="en-US" dirty="0"/>
          </a:p>
        </p:txBody>
      </p:sp>
    </p:spTree>
    <p:extLst>
      <p:ext uri="{BB962C8B-B14F-4D97-AF65-F5344CB8AC3E}">
        <p14:creationId xmlns:p14="http://schemas.microsoft.com/office/powerpoint/2010/main" val="1224783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b="0" i="0" dirty="0"/>
              <a:t> </a:t>
            </a:r>
            <a:r>
              <a:rPr lang="de-DE" sz="1200" b="0" i="0" kern="1200" baseline="0" dirty="0">
                <a:solidFill>
                  <a:schemeClr val="tx1"/>
                </a:solidFill>
                <a:latin typeface="+mn-lt"/>
                <a:ea typeface="+mn-ea"/>
                <a:cs typeface="+mn-cs"/>
              </a:rPr>
              <a:t>Der Zugang des Servers zum Netz besitzt die Übertragungsgeschwindigkeit Rs, der Netzzugang des Clients hat entsprechend die Übertragungsgeschwindigkeit Re. Nehmen Sie nun an, dass alle Leitungen im Netzwerkkern sehr hohe Übertragungsgeschwindigkeiten besitzen, die viel höher sind als Rs und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In der Tat ist der Kern des heutigen Internets mit Hochgeschwindigkeitsleitungen überversorgt, die nur selten überlastet sind [</a:t>
            </a:r>
            <a:r>
              <a:rPr lang="de-DE" sz="1200" b="0" i="0" kern="1200" baseline="0" dirty="0" err="1">
                <a:solidFill>
                  <a:schemeClr val="tx1"/>
                </a:solidFill>
                <a:latin typeface="+mn-lt"/>
                <a:ea typeface="+mn-ea"/>
                <a:cs typeface="+mn-cs"/>
              </a:rPr>
              <a:t>Akella</a:t>
            </a:r>
            <a:r>
              <a:rPr lang="de-DE" sz="1200" b="0" i="0" kern="1200" baseline="0" dirty="0">
                <a:solidFill>
                  <a:schemeClr val="tx1"/>
                </a:solidFill>
                <a:latin typeface="+mn-lt"/>
                <a:ea typeface="+mn-ea"/>
                <a:cs typeface="+mn-cs"/>
              </a:rPr>
              <a:t> 2003]. Nehmen Sie weiter an, dass die einzigen Bits, die in das gesamte Netzwerk gesandt werden, diejenigen sind, die vom Server zum Client geleitet werden sollen. Weil das Innere des Computernetzwerkes in diesem Beispiel wie ein dickes Rohr wirkt, ist die Geschwindigkeit, mit der die Bits von der Quelle zum Ziel fließen, erneut das Minimum von Rs und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also Durchsatz = min{Rs,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Deshalb ist der begrenzende Faktor beim Durchsatz im heutigen Internet häufig das Zugangsnetzwerk.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35</a:t>
            </a:fld>
            <a:endParaRPr lang="en-US" dirty="0"/>
          </a:p>
        </p:txBody>
      </p:sp>
    </p:spTree>
    <p:extLst>
      <p:ext uri="{BB962C8B-B14F-4D97-AF65-F5344CB8AC3E}">
        <p14:creationId xmlns:p14="http://schemas.microsoft.com/office/powerpoint/2010/main" val="10974776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36</a:t>
            </a:fld>
            <a:endParaRPr lang="en-US" dirty="0"/>
          </a:p>
        </p:txBody>
      </p:sp>
    </p:spTree>
    <p:extLst>
      <p:ext uri="{BB962C8B-B14F-4D97-AF65-F5344CB8AC3E}">
        <p14:creationId xmlns:p14="http://schemas.microsoft.com/office/powerpoint/2010/main" val="37734511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Aufgrund unserer bisherigen Diskussion können wir davon ausgehen, dass das Internet ein äußerst kompliziertes System darstellt. Wir haben gesehen, dass viele Bestandteile zum Internet gehören, zahlreiche Anwendungen und Protokolle, unterschiedliche Arten von Endsystemen, Paketvermittlung und unterschiedliche Arten von Übertragungsmedien auf Leitungsebene. Gibt es angesichts dieser enormen Komplexität überhaupt Hoffnung, eine Netzwerkarchitektur, oder zumindest unsere Diskussion, sinnvoll zu strukturieren? Glücklicherweise lautet die Antwort auf beide Fragen ja. </a:t>
            </a: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37</a:t>
            </a:fld>
            <a:endParaRPr lang="en-US" dirty="0"/>
          </a:p>
        </p:txBody>
      </p:sp>
    </p:spTree>
    <p:extLst>
      <p:ext uri="{BB962C8B-B14F-4D97-AF65-F5344CB8AC3E}">
        <p14:creationId xmlns:p14="http://schemas.microsoft.com/office/powerpoint/2010/main" val="23351295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de-DE" sz="1200" b="0" i="0" kern="1200" dirty="0">
                <a:solidFill>
                  <a:schemeClr val="tx1"/>
                </a:solidFill>
                <a:effectLst/>
                <a:latin typeface="+mn-lt"/>
                <a:ea typeface="+mn-ea"/>
                <a:cs typeface="+mn-cs"/>
              </a:rPr>
              <a:t>In der Informatik und in der Telekommunikation ist ein </a:t>
            </a:r>
            <a:r>
              <a:rPr lang="de-DE" sz="1200" b="1" i="0" kern="1200" dirty="0">
                <a:solidFill>
                  <a:schemeClr val="tx1"/>
                </a:solidFill>
                <a:effectLst/>
                <a:latin typeface="+mn-lt"/>
                <a:ea typeface="+mn-ea"/>
                <a:cs typeface="+mn-cs"/>
              </a:rPr>
              <a:t>Protokoll</a:t>
            </a:r>
            <a:r>
              <a:rPr lang="de-DE" sz="1200" b="0" i="0" kern="1200" dirty="0">
                <a:solidFill>
                  <a:schemeClr val="tx1"/>
                </a:solidFill>
                <a:effectLst/>
                <a:latin typeface="+mn-lt"/>
                <a:ea typeface="+mn-ea"/>
                <a:cs typeface="+mn-cs"/>
              </a:rPr>
              <a:t> eine Vereinbarung, nach der die Verbindung, Kommunikation und Datenübertragung zwischen zwei Parteien ablaufen. In seiner einfachsten Form kann ein Protokoll definiert werden als die </a:t>
            </a:r>
            <a:r>
              <a:rPr lang="de-DE" sz="1200" b="1" i="0" kern="1200" dirty="0">
                <a:solidFill>
                  <a:schemeClr val="tx1"/>
                </a:solidFill>
                <a:effectLst/>
                <a:latin typeface="+mn-lt"/>
                <a:ea typeface="+mn-ea"/>
                <a:cs typeface="+mn-cs"/>
              </a:rPr>
              <a:t>Regeln</a:t>
            </a:r>
            <a:r>
              <a:rPr lang="de-DE" sz="1200" b="0" i="0" kern="1200" dirty="0">
                <a:solidFill>
                  <a:schemeClr val="tx1"/>
                </a:solidFill>
                <a:effectLst/>
                <a:latin typeface="+mn-lt"/>
                <a:ea typeface="+mn-ea"/>
                <a:cs typeface="+mn-cs"/>
              </a:rPr>
              <a:t>, die </a:t>
            </a:r>
            <a:r>
              <a:rPr lang="de-DE" sz="1200" b="0" i="0" u="none" strike="noStrike" kern="1200" dirty="0">
                <a:solidFill>
                  <a:schemeClr val="tx1"/>
                </a:solidFill>
                <a:effectLst/>
                <a:latin typeface="+mn-lt"/>
                <a:ea typeface="+mn-ea"/>
                <a:cs typeface="+mn-cs"/>
                <a:hlinkClick r:id="rId3" tooltip="Syntax"/>
              </a:rPr>
              <a:t>Syntax</a:t>
            </a:r>
            <a:r>
              <a:rPr lang="de-DE" sz="1200" b="0" i="0" kern="1200" dirty="0">
                <a:solidFill>
                  <a:schemeClr val="tx1"/>
                </a:solidFill>
                <a:effectLst/>
                <a:latin typeface="+mn-lt"/>
                <a:ea typeface="+mn-ea"/>
                <a:cs typeface="+mn-cs"/>
              </a:rPr>
              <a:t>, </a:t>
            </a:r>
            <a:r>
              <a:rPr lang="de-DE" sz="1200" b="0" i="0" u="none" strike="noStrike" kern="1200" dirty="0">
                <a:solidFill>
                  <a:schemeClr val="tx1"/>
                </a:solidFill>
                <a:effectLst/>
                <a:latin typeface="+mn-lt"/>
                <a:ea typeface="+mn-ea"/>
                <a:cs typeface="+mn-cs"/>
                <a:hlinkClick r:id="rId4" tooltip="Semantik"/>
              </a:rPr>
              <a:t>Semantik</a:t>
            </a:r>
            <a:r>
              <a:rPr lang="de-DE" sz="1200" b="0" i="0" kern="1200" dirty="0">
                <a:solidFill>
                  <a:schemeClr val="tx1"/>
                </a:solidFill>
                <a:effectLst/>
                <a:latin typeface="+mn-lt"/>
                <a:ea typeface="+mn-ea"/>
                <a:cs typeface="+mn-cs"/>
              </a:rPr>
              <a:t> und </a:t>
            </a:r>
            <a:r>
              <a:rPr lang="de-DE" sz="1200" b="0" i="0" u="none" strike="noStrike" kern="1200" dirty="0">
                <a:solidFill>
                  <a:schemeClr val="tx1"/>
                </a:solidFill>
                <a:effectLst/>
                <a:latin typeface="+mn-lt"/>
                <a:ea typeface="+mn-ea"/>
                <a:cs typeface="+mn-cs"/>
                <a:hlinkClick r:id="rId5" tooltip="Synchronisation"/>
              </a:rPr>
              <a:t>Synchronisation</a:t>
            </a:r>
            <a:r>
              <a:rPr lang="de-DE" sz="1200" b="0" i="0" kern="1200" dirty="0">
                <a:solidFill>
                  <a:schemeClr val="tx1"/>
                </a:solidFill>
                <a:effectLst/>
                <a:latin typeface="+mn-lt"/>
                <a:ea typeface="+mn-ea"/>
                <a:cs typeface="+mn-cs"/>
              </a:rPr>
              <a:t> der Kommunikation bestimmen. Protokolle können durch Hardware, Software oder eine Kombination von beiden implementiert werden. Auf der untersten Ebene definiert ein Protokoll das Verhalten der Verbindungs-Hardware.</a:t>
            </a:r>
          </a:p>
          <a:p>
            <a:r>
              <a:rPr lang="de-DE" dirty="0"/>
              <a:t>Wir interessieren uns für die Dienste, </a:t>
            </a:r>
            <a:r>
              <a:rPr lang="de-DE" u="sng" dirty="0"/>
              <a:t>die eine Schicht der </a:t>
            </a:r>
            <a:r>
              <a:rPr lang="de-DE" u="sng" dirty="0" err="1"/>
              <a:t>darüberliegenden</a:t>
            </a:r>
            <a:r>
              <a:rPr lang="de-DE" u="sng" dirty="0"/>
              <a:t> Schicht anbietet</a:t>
            </a:r>
            <a:endParaRPr lang="de-DE" sz="1200" b="0" i="0" kern="1200" dirty="0">
              <a:solidFill>
                <a:schemeClr val="tx1"/>
              </a:solidFill>
              <a:effectLst/>
              <a:latin typeface="+mn-lt"/>
              <a:ea typeface="+mn-ea"/>
              <a:cs typeface="+mn-cs"/>
            </a:endParaRPr>
          </a:p>
          <a:p>
            <a:r>
              <a:rPr lang="de-DE" sz="1200" b="0" i="0" u="none" strike="noStrike" kern="1200" baseline="0" dirty="0">
                <a:solidFill>
                  <a:schemeClr val="tx1"/>
                </a:solidFill>
                <a:latin typeface="+mn-lt"/>
                <a:ea typeface="+mn-ea"/>
                <a:cs typeface="+mn-cs"/>
              </a:rPr>
              <a:t>Wenden wir unsere Aufmerksamkeit jetzt Netzwerkprotokollen zu. Um dem Design von Netzwerkprotokollen und der Hardware und Software von Netzwerken Struktur zu verleihen, organisieren Netzwerkent-wickler ihre Protokolle in Schichten. Genau wie jede Funktion in der Fluggesellschaftsarchitektur gehört jedes Protokoll zu einer Schicht. Wir interessieren uns wieder für die Dienste, die eine Schicht der darüberliegenden Schicht anbietet - das sogenannte Dienstmodell einer Schicht. Wie im Beispiel der Fluggesellschaft bietet jede Schicht ihre Dienste an, indem sie (1) innerhalb ihrer Schicht bestimmte Aktionen durchführt und indem sie (2) die Dienste der direkt unter ihr liegenden Schicht nutzt. So könnten beispielsweise die Dienste der Schicht n den zuverlässigen Transport von Nachrichten von einer Seite des Netzwerkes zur anderen enthalten. Dies könnte geschehen, indem die Schicht einen unzuverlässigen Nachrichtentransportdienst in Schicht n - 1 benutzt, während Schicht n Funktionen enthält, mit denen der Verlust von Nachrichten entdeckt und behoben wird. </a:t>
            </a:r>
          </a:p>
          <a:p>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Beachten Sie, dass die Funktionen in der geschichteten Struktur der Fluggesellschaft auf verschiedene Flughäfen und Flugleitzentralen verteilt sind, die zusammen das Sys-tem ausmachen. Genauso ist ein Schicht-n-Protokoll auf Endsysteme, Paket-Switches und andere Komponenten </a:t>
            </a:r>
            <a:r>
              <a:rPr lang="de-DE" sz="1200" b="0" i="1" u="none" strike="noStrike" kern="1200" baseline="0" dirty="0">
                <a:solidFill>
                  <a:schemeClr val="tx1"/>
                </a:solidFill>
                <a:latin typeface="+mn-lt"/>
                <a:ea typeface="+mn-ea"/>
                <a:cs typeface="+mn-cs"/>
              </a:rPr>
              <a:t>verteilt, </a:t>
            </a:r>
            <a:r>
              <a:rPr lang="de-DE" sz="1200" b="0" i="0" u="none" strike="noStrike" kern="1200" baseline="0" dirty="0">
                <a:solidFill>
                  <a:schemeClr val="tx1"/>
                </a:solidFill>
                <a:latin typeface="+mn-lt"/>
                <a:ea typeface="+mn-ea"/>
                <a:cs typeface="+mn-cs"/>
              </a:rPr>
              <a:t>die zusammen das Computernetz bilden. Das bedeutet, dass in jeder dieser Netzwerkkomponenten ein Teil eines Schicht-n-Proto-kolls zu finden ist. Protokollschichten haben konzeptionelle und strukturelle Vorteile. Wie wir gesehen haben, bietet die Schichtung einen strukturierten Zugang, um Systemkomponenten zu diskutieren. Modularität erleichtert das Aktualisieren von Systemkomponenten. </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38</a:t>
            </a:fld>
            <a:endParaRPr lang="en-US" dirty="0"/>
          </a:p>
        </p:txBody>
      </p:sp>
    </p:spTree>
    <p:extLst>
      <p:ext uri="{BB962C8B-B14F-4D97-AF65-F5344CB8AC3E}">
        <p14:creationId xmlns:p14="http://schemas.microsoft.com/office/powerpoint/2010/main" val="6874397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Gesamtheit der Protokolle der verschiedenen Schichten wird als Protokollstapel </a:t>
            </a:r>
            <a:r>
              <a:rPr lang="de-DE" sz="1200" b="0" i="1" u="none" strike="noStrike" kern="1200" baseline="0" dirty="0">
                <a:solidFill>
                  <a:schemeClr val="tx1"/>
                </a:solidFill>
                <a:latin typeface="+mn-lt"/>
                <a:ea typeface="+mn-ea"/>
                <a:cs typeface="+mn-cs"/>
              </a:rPr>
              <a:t>(protocol stack) </a:t>
            </a:r>
            <a:r>
              <a:rPr lang="de-DE" sz="1200" b="0" i="0" u="none" strike="noStrike" kern="1200" baseline="0" dirty="0">
                <a:solidFill>
                  <a:schemeClr val="tx1"/>
                </a:solidFill>
                <a:latin typeface="+mn-lt"/>
                <a:ea typeface="+mn-ea"/>
                <a:cs typeface="+mn-cs"/>
              </a:rPr>
              <a:t>bezeichnet. Wie in  Abbildung  gezeigt, besteht der Internet Pro-tokollstapel aus fünf Schichten: Bitübertragungsschicht, Sicherungsschicht, Netzwerkschicht, Transportschicht und Anwendungsschicht. Betrachten Sie das Inhalts-verzeichnis, werden Sie feststellen, dass wir dieses Buch mithilfe der Schichten des Internet-Protokollstapels strukturiert haben. Mit unserem Top-Down-Ansatz beginnen wir bei der Anwendungsschicht und dringen von dort aus tiefer vor. </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Eine Protokollschicht kann in Software, in Hardware oder in einer Kombination der beiden implementiert werden. Protokolle der Anwendungsschicht </a:t>
            </a:r>
            <a:r>
              <a:rPr lang="de-DE" sz="1200" b="0" i="1" u="none" strike="noStrike" kern="1200" baseline="0" dirty="0">
                <a:solidFill>
                  <a:schemeClr val="tx1"/>
                </a:solidFill>
                <a:latin typeface="+mn-lt"/>
                <a:ea typeface="+mn-ea"/>
                <a:cs typeface="+mn-cs"/>
              </a:rPr>
              <a:t>(application layer)- </a:t>
            </a:r>
            <a:r>
              <a:rPr lang="de-DE" sz="1200" b="0" i="0" u="none" strike="noStrike" kern="1200" baseline="0" dirty="0">
                <a:solidFill>
                  <a:schemeClr val="tx1"/>
                </a:solidFill>
                <a:latin typeface="+mn-lt"/>
                <a:ea typeface="+mn-ea"/>
                <a:cs typeface="+mn-cs"/>
              </a:rPr>
              <a:t>wie HTTP und SMTP - sind fast immer in der Software der Endsysteme untergebracht, genauso wie die Protokolle der Transportschicht </a:t>
            </a:r>
            <a:r>
              <a:rPr lang="de-DE" sz="1200" b="0" i="1" u="none" strike="noStrike" kern="1200" baseline="0" dirty="0">
                <a:solidFill>
                  <a:schemeClr val="tx1"/>
                </a:solidFill>
                <a:latin typeface="+mn-lt"/>
                <a:ea typeface="+mn-ea"/>
                <a:cs typeface="+mn-cs"/>
              </a:rPr>
              <a:t>(transport layer). </a:t>
            </a:r>
            <a:r>
              <a:rPr lang="de-DE" sz="1200" b="0" i="0" u="none" strike="noStrike" kern="1200" baseline="0" dirty="0">
                <a:solidFill>
                  <a:schemeClr val="tx1"/>
                </a:solidFill>
                <a:latin typeface="+mn-lt"/>
                <a:ea typeface="+mn-ea"/>
                <a:cs typeface="+mn-cs"/>
              </a:rPr>
              <a:t>Weil die Bitübertragungsschicht </a:t>
            </a:r>
            <a:r>
              <a:rPr lang="de-DE" sz="1200" b="0" i="1" u="none" strike="noStrike" kern="1200" baseline="0" dirty="0">
                <a:solidFill>
                  <a:schemeClr val="tx1"/>
                </a:solidFill>
                <a:latin typeface="+mn-lt"/>
                <a:ea typeface="+mn-ea"/>
                <a:cs typeface="+mn-cs"/>
              </a:rPr>
              <a:t>(physical layer) </a:t>
            </a:r>
            <a:r>
              <a:rPr lang="de-DE" sz="1200" b="0" i="0" u="none" strike="noStrike" kern="1200" baseline="0" dirty="0">
                <a:solidFill>
                  <a:schemeClr val="tx1"/>
                </a:solidFill>
                <a:latin typeface="+mn-lt"/>
                <a:ea typeface="+mn-ea"/>
                <a:cs typeface="+mn-cs"/>
              </a:rPr>
              <a:t>und die Sicherungsschicht </a:t>
            </a:r>
            <a:r>
              <a:rPr lang="de-DE" sz="1200" b="0" i="1" u="none" strike="noStrike" kern="1200" baseline="0" dirty="0">
                <a:solidFill>
                  <a:schemeClr val="tx1"/>
                </a:solidFill>
                <a:latin typeface="+mn-lt"/>
                <a:ea typeface="+mn-ea"/>
                <a:cs typeface="+mn-cs"/>
              </a:rPr>
              <a:t>{data link layer) </a:t>
            </a:r>
            <a:r>
              <a:rPr lang="de-DE" sz="1200" b="0" i="0" u="none" strike="noStrike" kern="1200" baseline="0" dirty="0">
                <a:solidFill>
                  <a:schemeClr val="tx1"/>
                </a:solidFill>
                <a:latin typeface="+mn-lt"/>
                <a:ea typeface="+mn-ea"/>
                <a:cs typeface="+mn-cs"/>
              </a:rPr>
              <a:t>für die Kommunikation über eine bestimmte Leitungsart verantwortlich sind, werden sie normalerweise in einer Netzwerkkarte untergebracht, die für eine bestimmte Leitungsart geeignet ist (zum Beispiel Ethernet- oder WLAN-Netzwerkkarten). Die Netzwerkschicht </a:t>
            </a:r>
            <a:r>
              <a:rPr lang="de-DE" sz="1200" b="0" i="1" u="none" strike="noStrike" kern="1200" baseline="0" dirty="0">
                <a:solidFill>
                  <a:schemeClr val="tx1"/>
                </a:solidFill>
                <a:latin typeface="+mn-lt"/>
                <a:ea typeface="+mn-ea"/>
                <a:cs typeface="+mn-cs"/>
              </a:rPr>
              <a:t>(network layer) </a:t>
            </a:r>
            <a:r>
              <a:rPr lang="de-DE" sz="1200" b="0" i="0" u="none" strike="noStrike" kern="1200" baseline="0" dirty="0">
                <a:solidFill>
                  <a:schemeClr val="tx1"/>
                </a:solidFill>
                <a:latin typeface="+mn-lt"/>
                <a:ea typeface="+mn-ea"/>
                <a:cs typeface="+mn-cs"/>
              </a:rPr>
              <a:t>ist oft eine Mischung aus Hardware und Software. </a:t>
            </a:r>
          </a:p>
          <a:p>
            <a:endParaRPr lang="de-DE" dirty="0"/>
          </a:p>
          <a:p>
            <a:r>
              <a:rPr lang="de-DE" dirty="0"/>
              <a:t>--------------</a:t>
            </a:r>
          </a:p>
          <a:p>
            <a:r>
              <a:rPr lang="de-DE" sz="1200" b="1" i="0" u="none" strike="noStrike" kern="1200" baseline="0" dirty="0">
                <a:solidFill>
                  <a:schemeClr val="tx1"/>
                </a:solidFill>
                <a:latin typeface="+mn-lt"/>
                <a:ea typeface="+mn-ea"/>
                <a:cs typeface="+mn-cs"/>
              </a:rPr>
              <a:t>Anwendungsschicht </a:t>
            </a:r>
            <a:r>
              <a:rPr lang="de-DE" sz="1200" b="0" i="0" u="none" strike="noStrike" kern="1200" baseline="0" dirty="0">
                <a:solidFill>
                  <a:schemeClr val="tx1"/>
                </a:solidFill>
                <a:latin typeface="+mn-lt"/>
                <a:ea typeface="+mn-ea"/>
                <a:cs typeface="+mn-cs"/>
              </a:rPr>
              <a:t>In der Anwendungsschicht sind Netzanwendungen und ihre Protokolle beheimatet. Die Anwendungsschicht des Internets enthält viele Protokolle wie z.B. das HTTP-Pro-tokoll (das die Anforderung und Übertragung von Webdokumenten ermöglicht), SMTP (das die Übertragung von E-Mails steuert) und FTP (für die Übertragung von Dateien zwischen zwei Endsystemen). Wir werden noch sehen, dass bestimmte Netz-werkfunktionen ebenfalls mithilfe eines Anwendungsschicht-Protokolls durchgeführt werden, etwa die Übersetzung von leserfreundlichen Namen für Internetendsysteme wie </a:t>
            </a:r>
            <a:r>
              <a:rPr lang="de-DE" sz="1200" b="0" i="1" u="none" strike="noStrike" kern="1200" baseline="0" dirty="0">
                <a:solidFill>
                  <a:schemeClr val="tx1"/>
                </a:solidFill>
                <a:latin typeface="+mn-lt"/>
                <a:ea typeface="+mn-ea"/>
                <a:cs typeface="+mn-cs"/>
              </a:rPr>
              <a:t>www.ietf.org </a:t>
            </a:r>
            <a:r>
              <a:rPr lang="de-DE" sz="1200" b="0" i="0" u="none" strike="noStrike" kern="1200" baseline="0" dirty="0">
                <a:solidFill>
                  <a:schemeClr val="tx1"/>
                </a:solidFill>
                <a:latin typeface="+mn-lt"/>
                <a:ea typeface="+mn-ea"/>
                <a:cs typeface="+mn-cs"/>
              </a:rPr>
              <a:t>in eine 32 Bit-Netzadresse durch das Domain Name System (DNS). Wir werden in Kapitel 2 erfahren, dass eigene Anwendungsschichtprotokolle sehr einfach erzeugt und eingesetzt werden können. Ein Anwendungsschichtprotokoll verteilt sich über mehrere Endsysteme hinweg, wobei eine Anwendung auf einem Endsystem das Protokoll benutzt, um Informati-onspakete mit Anwendungen auf einem anderen Endsystem auszutauschen. Wir nen-nen dieses Informationspaket der Anwendungsschicht eine Nachricht.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Transportschicht </a:t>
            </a: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Transportschicht des Internets überträgt Nachrichten der Anwendungsschicht zwischen Endpunkten von Anwendungen. Im Internet gibt es die beiden TransportprotokolleTCPundUDP,diebeideNachrichtenderAnwendungsschicht transportieren können.TCPbietetdenAnwendungen einenverbindungsorientiertenDienstan.Dieser Dienst beinhaltet die garantierte Zustellung von Nachrichten der Anwendungsschicht zum Ziel sowie eine Flusskontrolle (das heißt, die Geschwindigkeiten von SenderundEmpfängerwerdeneinanderangepasst).TCPzerlegtlangeNachrichten in kürzere Segmente und liefert zudem einen Überlastkontrollmechanismus, so dass eine Quelle ihre Übertragungsgeschwindigkeit zurückfahren kann, wenn das Netz überlastet ist. Das UDP-Protokoll bietet Anwendungen dagegen einen verbindungslosen Dienst. Dies ist ein Dienst ohne jedeA Schnickschnack, der weder Zuverlässigkeit, Flusskontrolle noch Überlastkontrolle beinhaltet. In diesem Buch nennen wir ein Paket der Transportschicht ein Segment.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Netzwerkschicht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Pakete der Netzwerkschicht, die als Data-gramme bezeichnet werden, von einem Host zu einem anderen. Genau wie Sie einen Brief mit einer Zieladresse an den Postdienst geben würden, reicht das Transportschichtprotokoll (TCP oder UDP) eines Quellsystem sein Segment der Transportschicht und eine Zieladresse an die Netzwerkschicht weiter. DieNetzwerkschicht erbringtdann der Transportschicht ihren Dienst und liefert das Segment an den Zielhost. </a:t>
            </a:r>
          </a:p>
          <a:p>
            <a:r>
              <a:rPr lang="de-DE" sz="1200" b="0" i="0" u="none" strike="noStrike" kern="1200" baseline="0" dirty="0">
                <a:solidFill>
                  <a:schemeClr val="tx1"/>
                </a:solidFill>
                <a:latin typeface="+mn-lt"/>
                <a:ea typeface="+mn-ea"/>
                <a:cs typeface="+mn-cs"/>
              </a:rPr>
              <a:t>Die Netzwerkschicht des Internets beinhaltet das bekannte IP-Protokoll, das die Felder im Datagramm definiert und auch die Reaktion der Endsysteme und Router auf dieseFelderfestlegt. EsgibtnureinIP-ProtokollundalleKomponenten desInternets, die eine Netzwerkschicht besitzen, müssen das IP-Protokoll verwenden. Die Netzwerkschicht des Internets enthält auch Routing-Protokolle, welche die Wege bestimmen, die Datagramme zwischen Quelle und Ziel einschlagen. Allerdings hat das Internet viele Routing-Protokolle. Wie wir in Abschnitt 1.3 gesehen haben, ist das Internet ein Netz von Netzwerken und innerhalb eines Netzes kann der Netzadministrator jedes beliebige Routing-Protokoll einsetzen. Obwohl die Netzwerkschicht sowohl das IP-Protokoll als auch zahlreiche Routing-Protokolle enthält, wird es oft einfach die IP-Schicht genannt, was der Tatsache Rechnung trägt, dass IP der Leim ist, der das Internet zusammenhält.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Sicherungsschicht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ein Datagramm über eine Reihe von Routern von der Quelle zum Ziel. Um ein Paket von einem Knoten (einem Host oder einem Router) zum nächsten Knoten zu bringen, verlässt sich die Netzwerkschicht auf die Dienste der Sicherungs schicht. Insbesondere leitet die Netzwerkschicht an jedem Knoten das Datagramm zur Sicherungsschicht, die es zum nächsten Knoten entlang der Strecke schickt. An diesem nächsten Knoten reicht die Sicherungsschicht das Datagramm dann zur Netzwerkschicht zurück. Die von der Sicherungs schicht erbrachten Dienste hängen vom jeweiligen Protokoll der Sicherungsschicht ab, das auf dieser Leitung aktiv ist. Zum Beispiel bieten einige Sicherungsschichtprotokolle die zuverlässige Übertragung vom sendenden Knoten über eine Leitung zum empfangenden Knoten. Beachten Sie bitte, dass diese Art der zuverlässigen Übertragung etwas anderes ist als die zuverlässige Übertragung von TCP -Letztere gewährleistet die zuverlässige Übertragung von einem Endsystem zu einem anderen. Beispiele für Protokolle der Sicherungsschicht sind Ethernet, WLAN und das Point-to-Point Protocol (PPP). Da Datagramme normalerweise mehrere Leitungen auf ihrem Wegvon der Quelle zu ihrem Zielort durchqueren, kann ein Datagramm von verschiedenen Sicherungsschichtprotokollen über verschiedene Leitungen übertragen werden. Zum Beispiel kann ein Datagramm über eine Leitung mittels Ethernet, über eine andere aber mittels PPP übertragen werden. In diesem Buch bezeichnen wir die Pakete der Sicherungsschicht als Rahmen </a:t>
            </a:r>
            <a:r>
              <a:rPr lang="de-DE" sz="1200" b="0" i="1" u="none" strike="noStrike" kern="1200" baseline="0" dirty="0">
                <a:solidFill>
                  <a:schemeClr val="tx1"/>
                </a:solidFill>
                <a:latin typeface="+mn-lt"/>
                <a:ea typeface="+mn-ea"/>
                <a:cs typeface="+mn-cs"/>
              </a:rPr>
              <a:t>(Frames). </a:t>
            </a:r>
          </a:p>
          <a:p>
            <a:endParaRPr lang="de-DE" sz="1200" b="0" i="0" u="none" strike="noStrike" kern="1200" baseline="0" dirty="0">
              <a:solidFill>
                <a:schemeClr val="tx1"/>
              </a:solidFill>
              <a:latin typeface="+mn-lt"/>
              <a:ea typeface="+mn-ea"/>
              <a:cs typeface="+mn-cs"/>
            </a:endParaRPr>
          </a:p>
          <a:p>
            <a:r>
              <a:rPr lang="de-DE" sz="1200" b="1" i="0" u="none" strike="noStrike" kern="1200" baseline="0" dirty="0">
                <a:solidFill>
                  <a:schemeClr val="tx1"/>
                </a:solidFill>
                <a:latin typeface="+mn-lt"/>
                <a:ea typeface="+mn-ea"/>
                <a:cs typeface="+mn-cs"/>
              </a:rPr>
              <a:t>Bitübertragungsschicht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Während die Aufgabe der Sicherungsschicht darin liegt, komplette Rahmen von einem Element des Netzwerkes zu einem benachbarten Element zu transportieren, befasst sich die Bitübertragungsschicht damit, die </a:t>
            </a:r>
            <a:r>
              <a:rPr lang="de-DE" sz="1200" b="0" i="1" u="none" strike="noStrike" kern="1200" baseline="0" dirty="0">
                <a:solidFill>
                  <a:schemeClr val="tx1"/>
                </a:solidFill>
                <a:latin typeface="+mn-lt"/>
                <a:ea typeface="+mn-ea"/>
                <a:cs typeface="+mn-cs"/>
              </a:rPr>
              <a:t>einzelnen Bits </a:t>
            </a:r>
            <a:r>
              <a:rPr lang="de-DE" sz="1200" b="0" i="0" u="none" strike="noStrike" kern="1200" baseline="0" dirty="0">
                <a:solidFill>
                  <a:schemeClr val="tx1"/>
                </a:solidFill>
                <a:latin typeface="+mn-lt"/>
                <a:ea typeface="+mn-ea"/>
                <a:cs typeface="+mn-cs"/>
              </a:rPr>
              <a:t>innerhalb eines Rahmens von einem Knoten zum nächsten zu übermitteln. Die Protokolle in dieser Schicht hängen wieder von der Leitung ab, aber auch vom tatsächlich auf dieser Leitung verwendeten Übertragungsmedium (z.B. verdrillte Kupferdrähte oder Glasfasern). Ethernet zum Beispiel sieht viele Protokolle für die Bitübertragungsschicht vor: eines für verdrillte Kupferdrähte, ein anderes für Koaxialkabel, wieder ein anderes für Glasfasern usw. In jedem dieser Fälle wird ein Bit auf andere Weise über die  Leitung transportiert. </a:t>
            </a: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39</a:t>
            </a:fld>
            <a:endParaRPr lang="en-US" dirty="0"/>
          </a:p>
        </p:txBody>
      </p:sp>
    </p:spTree>
    <p:extLst>
      <p:ext uri="{BB962C8B-B14F-4D97-AF65-F5344CB8AC3E}">
        <p14:creationId xmlns:p14="http://schemas.microsoft.com/office/powerpoint/2010/main" val="3415634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Gesamtheit der Protokolle der verschiedenen Schichten wird als Protokollstapel </a:t>
            </a:r>
            <a:r>
              <a:rPr lang="de-DE" sz="1200" b="0" i="1" u="none" strike="noStrike" kern="1200" baseline="0" dirty="0">
                <a:solidFill>
                  <a:schemeClr val="tx1"/>
                </a:solidFill>
                <a:latin typeface="+mn-lt"/>
                <a:ea typeface="+mn-ea"/>
                <a:cs typeface="+mn-cs"/>
              </a:rPr>
              <a:t>(protocol stack) </a:t>
            </a:r>
            <a:r>
              <a:rPr lang="de-DE" sz="1200" b="0" i="0" u="none" strike="noStrike" kern="1200" baseline="0" dirty="0">
                <a:solidFill>
                  <a:schemeClr val="tx1"/>
                </a:solidFill>
                <a:latin typeface="+mn-lt"/>
                <a:ea typeface="+mn-ea"/>
                <a:cs typeface="+mn-cs"/>
              </a:rPr>
              <a:t>bezeichnet. Wie in  Abbildung  gezeigt, besteht der Internet Pro-tokollstapel aus fünf Schichten: Bitübertragungsschicht, Sicherungsschicht, Netzwerkschicht, Transportschicht und Anwendungsschicht. Betrachten Sie das Inhalts-verzeichnis, werden Sie feststellen, dass wir dieses Buch mithilfe der Schichten des Internet-Protokollstapels strukturiert haben. Mit unserem Top-Down-Ansatz beginnen wir bei der Anwendungsschicht und dringen von dort aus tiefer vor. </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Eine Protokollschicht kann in Software, in Hardware oder in einer Kombination der beiden implementiert werden. Protokolle der Anwendungsschicht </a:t>
            </a:r>
            <a:r>
              <a:rPr lang="de-DE" sz="1200" b="0" i="1" u="none" strike="noStrike" kern="1200" baseline="0" dirty="0">
                <a:solidFill>
                  <a:schemeClr val="tx1"/>
                </a:solidFill>
                <a:latin typeface="+mn-lt"/>
                <a:ea typeface="+mn-ea"/>
                <a:cs typeface="+mn-cs"/>
              </a:rPr>
              <a:t>(application layer)- </a:t>
            </a:r>
            <a:r>
              <a:rPr lang="de-DE" sz="1200" b="0" i="0" u="none" strike="noStrike" kern="1200" baseline="0" dirty="0">
                <a:solidFill>
                  <a:schemeClr val="tx1"/>
                </a:solidFill>
                <a:latin typeface="+mn-lt"/>
                <a:ea typeface="+mn-ea"/>
                <a:cs typeface="+mn-cs"/>
              </a:rPr>
              <a:t>wie HTTP und SMTP - sind fast immer in der Software der Endsysteme untergebracht, genauso wie die Protokolle der Transportschicht </a:t>
            </a:r>
            <a:r>
              <a:rPr lang="de-DE" sz="1200" b="0" i="1" u="none" strike="noStrike" kern="1200" baseline="0" dirty="0">
                <a:solidFill>
                  <a:schemeClr val="tx1"/>
                </a:solidFill>
                <a:latin typeface="+mn-lt"/>
                <a:ea typeface="+mn-ea"/>
                <a:cs typeface="+mn-cs"/>
              </a:rPr>
              <a:t>(transport layer). </a:t>
            </a:r>
            <a:r>
              <a:rPr lang="de-DE" sz="1200" b="0" i="0" u="none" strike="noStrike" kern="1200" baseline="0" dirty="0">
                <a:solidFill>
                  <a:schemeClr val="tx1"/>
                </a:solidFill>
                <a:latin typeface="+mn-lt"/>
                <a:ea typeface="+mn-ea"/>
                <a:cs typeface="+mn-cs"/>
              </a:rPr>
              <a:t>Weil die Bitübertragungsschicht </a:t>
            </a:r>
            <a:r>
              <a:rPr lang="de-DE" sz="1200" b="0" i="1" u="none" strike="noStrike" kern="1200" baseline="0" dirty="0">
                <a:solidFill>
                  <a:schemeClr val="tx1"/>
                </a:solidFill>
                <a:latin typeface="+mn-lt"/>
                <a:ea typeface="+mn-ea"/>
                <a:cs typeface="+mn-cs"/>
              </a:rPr>
              <a:t>(physical layer) </a:t>
            </a:r>
            <a:r>
              <a:rPr lang="de-DE" sz="1200" b="0" i="0" u="none" strike="noStrike" kern="1200" baseline="0" dirty="0">
                <a:solidFill>
                  <a:schemeClr val="tx1"/>
                </a:solidFill>
                <a:latin typeface="+mn-lt"/>
                <a:ea typeface="+mn-ea"/>
                <a:cs typeface="+mn-cs"/>
              </a:rPr>
              <a:t>und die Sicherungsschicht </a:t>
            </a:r>
            <a:r>
              <a:rPr lang="de-DE" sz="1200" b="0" i="1" u="none" strike="noStrike" kern="1200" baseline="0" dirty="0">
                <a:solidFill>
                  <a:schemeClr val="tx1"/>
                </a:solidFill>
                <a:latin typeface="+mn-lt"/>
                <a:ea typeface="+mn-ea"/>
                <a:cs typeface="+mn-cs"/>
              </a:rPr>
              <a:t>{data link layer) </a:t>
            </a:r>
            <a:r>
              <a:rPr lang="de-DE" sz="1200" b="0" i="0" u="none" strike="noStrike" kern="1200" baseline="0" dirty="0">
                <a:solidFill>
                  <a:schemeClr val="tx1"/>
                </a:solidFill>
                <a:latin typeface="+mn-lt"/>
                <a:ea typeface="+mn-ea"/>
                <a:cs typeface="+mn-cs"/>
              </a:rPr>
              <a:t>für die Kommunikation über eine bestimmte Leitungsart verantwortlich sind, werden sie normalerweise in einer Netzwerkkarte untergebracht, die für eine bestimmte Leitungsart geeignet ist (zum Beispiel Ethernet- oder WLAN-Netzwerkkarten). Die Netzwerkschicht </a:t>
            </a:r>
            <a:r>
              <a:rPr lang="de-DE" sz="1200" b="0" i="1" u="none" strike="noStrike" kern="1200" baseline="0" dirty="0">
                <a:solidFill>
                  <a:schemeClr val="tx1"/>
                </a:solidFill>
                <a:latin typeface="+mn-lt"/>
                <a:ea typeface="+mn-ea"/>
                <a:cs typeface="+mn-cs"/>
              </a:rPr>
              <a:t>(network layer) </a:t>
            </a:r>
            <a:r>
              <a:rPr lang="de-DE" sz="1200" b="0" i="0" u="none" strike="noStrike" kern="1200" baseline="0" dirty="0">
                <a:solidFill>
                  <a:schemeClr val="tx1"/>
                </a:solidFill>
                <a:latin typeface="+mn-lt"/>
                <a:ea typeface="+mn-ea"/>
                <a:cs typeface="+mn-cs"/>
              </a:rPr>
              <a:t>ist oft eine Mischung aus Hardware und Software. </a:t>
            </a:r>
          </a:p>
          <a:p>
            <a:endParaRPr lang="de-DE" dirty="0"/>
          </a:p>
          <a:p>
            <a:r>
              <a:rPr lang="de-DE" dirty="0"/>
              <a:t>--------------</a:t>
            </a:r>
          </a:p>
          <a:p>
            <a:r>
              <a:rPr lang="de-DE" sz="1200" b="1" i="0" u="none" strike="noStrike" kern="1200" baseline="0" dirty="0">
                <a:solidFill>
                  <a:schemeClr val="tx1"/>
                </a:solidFill>
                <a:latin typeface="+mn-lt"/>
                <a:ea typeface="+mn-ea"/>
                <a:cs typeface="+mn-cs"/>
              </a:rPr>
              <a:t>Anwendungsschicht </a:t>
            </a:r>
            <a:r>
              <a:rPr lang="de-DE" sz="1200" b="0" i="0" u="none" strike="noStrike" kern="1200" baseline="0" dirty="0">
                <a:solidFill>
                  <a:schemeClr val="tx1"/>
                </a:solidFill>
                <a:latin typeface="+mn-lt"/>
                <a:ea typeface="+mn-ea"/>
                <a:cs typeface="+mn-cs"/>
              </a:rPr>
              <a:t>In der Anwendungsschicht sind Netzanwendungen und ihre Protokolle beheimatet. Die Anwendungsschicht des Internets enthält viele Protokolle wie z.B. das HTTP-Pro-tokoll (das die Anforderung und Übertragung von Webdokumenten ermöglicht), SMTP (das die Übertragung von E-Mails steuert) und FTP (für die Übertragung von Dateien zwischen zwei Endsystemen). Wir werden noch sehen, dass bestimmte Netz-werkfunktionen ebenfalls mithilfe eines Anwendungsschicht-Protokolls durchgeführt werden, etwa die Übersetzung von leserfreundlichen Namen für Internetendsysteme wie </a:t>
            </a:r>
            <a:r>
              <a:rPr lang="de-DE" sz="1200" b="0" i="1" u="none" strike="noStrike" kern="1200" baseline="0" dirty="0">
                <a:solidFill>
                  <a:schemeClr val="tx1"/>
                </a:solidFill>
                <a:latin typeface="+mn-lt"/>
                <a:ea typeface="+mn-ea"/>
                <a:cs typeface="+mn-cs"/>
              </a:rPr>
              <a:t>www.ietf.org </a:t>
            </a:r>
            <a:r>
              <a:rPr lang="de-DE" sz="1200" b="0" i="0" u="none" strike="noStrike" kern="1200" baseline="0" dirty="0">
                <a:solidFill>
                  <a:schemeClr val="tx1"/>
                </a:solidFill>
                <a:latin typeface="+mn-lt"/>
                <a:ea typeface="+mn-ea"/>
                <a:cs typeface="+mn-cs"/>
              </a:rPr>
              <a:t>in eine 32 Bit-Netzadresse durch das Domain Name System (DNS). Wir werden in Kapitel 2 erfahren, dass eigene Anwendungsschichtprotokolle sehr einfach erzeugt und eingesetzt werden können. Ein Anwendungsschichtprotokoll verteilt sich über mehrere Endsysteme hinweg, wobei eine Anwendung auf einem Endsystem das Protokoll benutzt, um Informati-onspakete mit Anwendungen auf einem anderen Endsystem auszutauschen. Wir nen-nen dieses Informationspaket der Anwendungsschicht eine Nachricht.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Transportschicht </a:t>
            </a: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Transportschicht des Internets überträgt Nachrichten der Anwendungsschicht zwischen Endpunkten von Anwendungen. Im Internet gibt es die beiden TransportprotokolleTCPundUDP,diebeideNachrichtenderAnwendungsschicht transportieren können.TCPbietetdenAnwendungen einenverbindungsorientiertenDienstan.Dieser Dienst beinhaltet die garantierte Zustellung von Nachrichten der Anwendungsschicht zum Ziel sowie eine Flusskontrolle (das heißt, die Geschwindigkeiten von SenderundEmpfängerwerdeneinanderangepasst).TCPzerlegtlangeNachrichten in kürzere Segmente und liefert zudem einen Überlastkontrollmechanismus, so dass eine Quelle ihre Übertragungsgeschwindigkeit zurückfahren kann, wenn das Netz überlastet ist. Das UDP-Protokoll bietet Anwendungen dagegen einen verbindungslosen Dienst. Dies ist ein Dienst ohne jedeA Schnickschnack, der weder Zuverlässigkeit, Flusskontrolle noch Überlastkontrolle beinhaltet. In diesem Buch nennen wir ein Paket der Transportschicht ein Segment.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Netzwerkschicht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Pakete der Netzwerkschicht, die als Data-gramme bezeichnet werden, von einem Host zu einem anderen. Genau wie Sie einen Brief mit einer Zieladresse an den Postdienst geben würden, reicht das Transportschichtprotokoll (TCP oder UDP) eines Quellsystem sein Segment der Transportschicht und eine Zieladresse an die Netzwerkschicht weiter. DieNetzwerkschicht erbringtdann der Transportschicht ihren Dienst und liefert das Segment an den Zielhost. </a:t>
            </a:r>
          </a:p>
          <a:p>
            <a:r>
              <a:rPr lang="de-DE" sz="1200" b="0" i="0" u="none" strike="noStrike" kern="1200" baseline="0" dirty="0">
                <a:solidFill>
                  <a:schemeClr val="tx1"/>
                </a:solidFill>
                <a:latin typeface="+mn-lt"/>
                <a:ea typeface="+mn-ea"/>
                <a:cs typeface="+mn-cs"/>
              </a:rPr>
              <a:t>Die Netzwerkschicht des Internets beinhaltet das bekannte IP-Protokoll, das die Felder im Datagramm definiert und auch die Reaktion der Endsysteme und Router auf dieseFelderfestlegt. EsgibtnureinIP-ProtokollundalleKomponenten desInternets, die eine Netzwerkschicht besitzen, müssen das IP-Protokoll verwenden. Die Netzwerkschicht des Internets enthält auch Routing-Protokolle, welche die Wege bestimmen, die Datagramme zwischen Quelle und Ziel einschlagen. Allerdings hat das Internet viele Routing-Protokolle. Wie wir in Abschnitt 1.3 gesehen haben, ist das Internet ein Netz von Netzwerken und innerhalb eines Netzes kann der Netzadministrator jedes beliebige Routing-Protokoll einsetzen. Obwohl die Netzwerkschicht sowohl das IP-Protokoll als auch zahlreiche Routing-Protokolle enthält, wird es oft einfach die IP-Schicht genannt, was der Tatsache Rechnung trägt, dass IP der Leim ist, der das Internet zusammenhält.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Sicherungsschicht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ein Datagramm über eine Reihe von Routern von der Quelle zum Ziel. Um ein Paket von einem Knoten (einem Host oder einem Router) zum nächsten Knoten zu bringen, verlässt sich die Netzwerkschicht auf die Dienste der Sicherungs schicht. Insbesondere leitet die Netzwerkschicht an jedem Knoten das Datagramm zur Sicherungsschicht, die es zum nächsten Knoten entlang der Strecke schickt. An diesem nächsten Knoten reicht die Sicherungsschicht das Datagramm dann zur Netzwerkschicht zurück. Die von der Sicherungs schicht erbrachten Dienste hängen vom jeweiligen Protokoll der Sicherungsschicht ab, das auf dieser Leitung aktiv ist. Zum Beispiel bieten einige Sicherungsschichtprotokolle die zuverlässige Übertragung vom sendenden Knoten über eine Leitung zum empfangenden Knoten. Beachten Sie bitte, dass diese Art der zuverlässigen Übertragung etwas anderes ist als die zuverlässige Übertragung von TCP -Letztere gewährleistet die zuverlässige Übertragung von einem Endsystem zu einem anderen. Beispiele für Protokolle der Sicherungsschicht sind Ethernet, WLAN und das Point-to-Point Protocol (PPP). Da Datagramme normalerweise mehrere Leitungen auf ihrem Wegvon der Quelle zu ihrem Zielort durchqueren, kann ein Datagramm von verschiedenen Sicherungsschichtprotokollen über verschiedene Leitungen übertragen werden. Zum Beispiel kann ein Datagramm über eine Leitung mittels Ethernet, über eine andere aber mittels PPP übertragen werden. In diesem Buch bezeichnen wir die Pakete der Sicherungsschicht als Rahmen </a:t>
            </a:r>
            <a:r>
              <a:rPr lang="de-DE" sz="1200" b="0" i="1" u="none" strike="noStrike" kern="1200" baseline="0" dirty="0">
                <a:solidFill>
                  <a:schemeClr val="tx1"/>
                </a:solidFill>
                <a:latin typeface="+mn-lt"/>
                <a:ea typeface="+mn-ea"/>
                <a:cs typeface="+mn-cs"/>
              </a:rPr>
              <a:t>(Frames). </a:t>
            </a:r>
          </a:p>
          <a:p>
            <a:endParaRPr lang="de-DE" sz="1200" b="0" i="0" u="none" strike="noStrike" kern="1200" baseline="0" dirty="0">
              <a:solidFill>
                <a:schemeClr val="tx1"/>
              </a:solidFill>
              <a:latin typeface="+mn-lt"/>
              <a:ea typeface="+mn-ea"/>
              <a:cs typeface="+mn-cs"/>
            </a:endParaRPr>
          </a:p>
          <a:p>
            <a:r>
              <a:rPr lang="de-DE" sz="1200" b="1" i="0" u="none" strike="noStrike" kern="1200" baseline="0" dirty="0">
                <a:solidFill>
                  <a:schemeClr val="tx1"/>
                </a:solidFill>
                <a:latin typeface="+mn-lt"/>
                <a:ea typeface="+mn-ea"/>
                <a:cs typeface="+mn-cs"/>
              </a:rPr>
              <a:t>Bitübertragungsschicht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Während die Aufgabe der Sicherungsschicht darin liegt, komplette Rahmen von einem Element des Netzwerkes zu einem benachbarten Element zu transportieren, befasst sich die Bitübertragungsschicht damit, die </a:t>
            </a:r>
            <a:r>
              <a:rPr lang="de-DE" sz="1200" b="0" i="1" u="none" strike="noStrike" kern="1200" baseline="0" dirty="0">
                <a:solidFill>
                  <a:schemeClr val="tx1"/>
                </a:solidFill>
                <a:latin typeface="+mn-lt"/>
                <a:ea typeface="+mn-ea"/>
                <a:cs typeface="+mn-cs"/>
              </a:rPr>
              <a:t>einzelnen Bits </a:t>
            </a:r>
            <a:r>
              <a:rPr lang="de-DE" sz="1200" b="0" i="0" u="none" strike="noStrike" kern="1200" baseline="0" dirty="0">
                <a:solidFill>
                  <a:schemeClr val="tx1"/>
                </a:solidFill>
                <a:latin typeface="+mn-lt"/>
                <a:ea typeface="+mn-ea"/>
                <a:cs typeface="+mn-cs"/>
              </a:rPr>
              <a:t>innerhalb eines Rahmens von einem Knoten zum nächsten zu übermitteln. Die Protokolle in dieser Schicht hängen wieder von der Leitung ab, aber auch vom tatsächlich auf dieser Leitung verwendeten Übertragungsmedium (z.B. verdrillte Kupferdrähte oder Glasfasern). Ethernet zum Beispiel sieht viele Protokolle für die Bitübertragungsschicht vor: eines für verdrillte Kupferdrähte, ein anderes für Koaxialkabel, wieder ein anderes für Glasfasern usw. In jedem dieser Fälle wird ein Bit auf andere Weise über die  Leitung transportiert. </a:t>
            </a: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40</a:t>
            </a:fld>
            <a:endParaRPr lang="en-US" dirty="0"/>
          </a:p>
        </p:txBody>
      </p:sp>
    </p:spTree>
    <p:extLst>
      <p:ext uri="{BB962C8B-B14F-4D97-AF65-F5344CB8AC3E}">
        <p14:creationId xmlns:p14="http://schemas.microsoft.com/office/powerpoint/2010/main" val="341563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u="none" strike="noStrike" kern="1200" baseline="0" dirty="0">
                <a:solidFill>
                  <a:schemeClr val="tx1"/>
                </a:solidFill>
                <a:latin typeface="+mn-lt"/>
                <a:ea typeface="+mn-ea"/>
                <a:cs typeface="+mn-cs"/>
              </a:rPr>
              <a:t>Abbildung zeigt den tatsächlichen Weg, den Daten durch den Protokoll stapel eines sendenden Endsystems nehmen. Darauf folgen das Auf und Ab im Protokoll-stapel eines auf dem Weg liegenden Switches der Sicherungsschicht und eines Routers sowie der Weg durch den Protokollstapel des empfangenden Endsystems. Ähnlich wie Endsysteme ordnen Router und Switches der Sicherungs schicht ihre Netzwerkhardware und -software in Schichten an. Aber beide implementieren nicht alle Schichten des Protokollstapels; üblicherweise enthalten sie nur die unteren Schichten. Wie in Abbildung sichtbar, enthalten Switches der Sicherungsschicht die Schichten 1 und 2, Router enthalten die Schichten 1 bis 3. Dies bedeutet zum Beispiel, dass in Internetroutern das IP-Protokoll implementiert ist (ein Schicht-3-Protokoll), während es Switches der Sicherungsschicht fehlt. Wir werden später sehen, dass Switches der Sicherungsschicht zwar keine IP-Adressen erkennen, sie aber in der Lage sind, Schicht-2-Adressen, etwa Ethernet-Adressen, zu erkennen. Beachten Sie bitte, dass in Hosts alle fünf Schichten implementiert sind. Das passt zu dem generellen Prinzip, dass die Internet-architektur viel von ihrer Komplexität am Rand des Netzwerkes platziert. </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41</a:t>
            </a:fld>
            <a:endParaRPr lang="en-US" dirty="0"/>
          </a:p>
        </p:txBody>
      </p:sp>
    </p:spTree>
    <p:extLst>
      <p:ext uri="{BB962C8B-B14F-4D97-AF65-F5344CB8AC3E}">
        <p14:creationId xmlns:p14="http://schemas.microsoft.com/office/powerpoint/2010/main" val="15968817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de-DE" sz="1200" b="1" i="0" u="none" strike="noStrike" kern="1200" baseline="0" dirty="0">
                <a:solidFill>
                  <a:schemeClr val="tx1"/>
                </a:solidFill>
                <a:latin typeface="+mn-lt"/>
                <a:ea typeface="+mn-ea"/>
                <a:cs typeface="+mn-cs"/>
              </a:rPr>
              <a:t>Konzept der Kapselung</a:t>
            </a:r>
          </a:p>
          <a:p>
            <a:r>
              <a:rPr lang="de-DE" sz="1200" b="0" i="0" u="none" strike="noStrike" kern="1200" baseline="0" dirty="0">
                <a:solidFill>
                  <a:schemeClr val="tx1"/>
                </a:solidFill>
                <a:latin typeface="+mn-lt"/>
                <a:ea typeface="+mn-ea"/>
                <a:cs typeface="+mn-cs"/>
              </a:rPr>
              <a:t>Vom sendenden Host wird eine Nachricht der Anwendungsschicht (M in Abbildung) an die Transportschicht weitergereicht. Im einfachsten Fall nimmt die Transportschicht die Nachricht und hängt eine zusätzliche Information an (die sogenannte Transportschicht-Header-Information, H, in Abbildung); sie wird von der Transportschicht der Empfängerseite genutzt. Beide, die Nachricht der Anwendungsschicht und die Transportschicht-Header-Information, bilden zusammen das </a:t>
            </a:r>
            <a:r>
              <a:rPr lang="de-DE" sz="1200" b="1" i="0" u="none" strike="noStrike" kern="1200" baseline="0" dirty="0">
                <a:solidFill>
                  <a:schemeClr val="tx1"/>
                </a:solidFill>
                <a:latin typeface="+mn-lt"/>
                <a:ea typeface="+mn-ea"/>
                <a:cs typeface="+mn-cs"/>
              </a:rPr>
              <a:t>Transportschichtsegment</a:t>
            </a:r>
            <a:r>
              <a:rPr lang="de-DE" sz="1200" b="0" i="0" u="none" strike="noStrike" kern="1200" baseline="0" dirty="0">
                <a:solidFill>
                  <a:schemeClr val="tx1"/>
                </a:solidFill>
                <a:latin typeface="+mn-lt"/>
                <a:ea typeface="+mn-ea"/>
                <a:cs typeface="+mn-cs"/>
              </a:rPr>
              <a:t>. Dieses Transportschichtsegment kapselt die Nachricht der Anwendungsschicht daher ein. Die hinzugefügte Information könnte Information enthalten, mit deren Hilfe die Transportschicht der Empfängerseite die Nachricht zur entsprechenden Anwendung leiten kann. Die hinzugefügten Informationen könnten auch Bits zur Fehlerkennung sein, mit deren Hilfe der Empfänger feststellen kann, ob Bits unter-wegs verändert wurden. Die Transportschicht reicht das Segment dann an die Netzwerkschicht weiter, welches die Netzwerkschichtinformation hinzufügt (Hn in Abbildung), etwa die Adressen der Endsysteme an Quelle und Ziel, wodurch ein Datagramm der Netzwerkschicht entsteht. Das Datagramm wird dann an die Sicherungsschicht weitergereicht, welches (natürlich!) seine eigene Sicherungsschicht- Header-Information hinzufügt und so einen Rahmen der Sicherungsschicht erzeugt. Auf diese Art sehen wir, dass ein Paket in jeder Schicht zwei Arten von Feldern mit sich trägt: Header-Felder und Datenfelder </a:t>
            </a:r>
            <a:r>
              <a:rPr lang="de-DE" sz="1200" b="0" i="1" u="none" strike="noStrike" kern="1200" baseline="0" dirty="0">
                <a:solidFill>
                  <a:schemeClr val="tx1"/>
                </a:solidFill>
                <a:latin typeface="+mn-lt"/>
                <a:ea typeface="+mn-ea"/>
                <a:cs typeface="+mn-cs"/>
              </a:rPr>
              <a:t>(payload fields). </a:t>
            </a:r>
            <a:r>
              <a:rPr lang="de-DE" sz="1200" b="0" i="0" u="none" strike="noStrike" kern="1200" baseline="0" dirty="0">
                <a:solidFill>
                  <a:schemeClr val="tx1"/>
                </a:solidFill>
                <a:latin typeface="+mn-lt"/>
                <a:ea typeface="+mn-ea"/>
                <a:cs typeface="+mn-cs"/>
              </a:rPr>
              <a:t>Die Datenfelder sind dabei üblicherweise die Pakete der darüberliegenden Schicht. </a:t>
            </a:r>
          </a:p>
          <a:p>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Der Prozess der Einkapselung kann viel komplexer sein als oben beschrieben. Zum Beispiel kann eine große Nachricht in mehrere Transportschichtsegmente aufgeteilt werden (die ihrerseits in mehrere Datagramme der Netzwerkschicht zerlegt werden können). Beim Empfänger muss ein Segment dann aus mehreren Datagrammen rekonstruiert werden. </a:t>
            </a: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42</a:t>
            </a:fld>
            <a:endParaRPr lang="en-US" dirty="0"/>
          </a:p>
        </p:txBody>
      </p:sp>
    </p:spTree>
    <p:extLst>
      <p:ext uri="{BB962C8B-B14F-4D97-AF65-F5344CB8AC3E}">
        <p14:creationId xmlns:p14="http://schemas.microsoft.com/office/powerpoint/2010/main" val="39857716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43</a:t>
            </a:fld>
            <a:endParaRPr lang="en-US" dirty="0"/>
          </a:p>
        </p:txBody>
      </p:sp>
    </p:spTree>
    <p:extLst>
      <p:ext uri="{BB962C8B-B14F-4D97-AF65-F5344CB8AC3E}">
        <p14:creationId xmlns:p14="http://schemas.microsoft.com/office/powerpoint/2010/main" val="642438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de-DE" dirty="0"/>
              <a:t>(Rev[ISO] = OSI </a:t>
            </a:r>
            <a:r>
              <a:rPr lang="de-DE" dirty="0">
                <a:sym typeface="Wingdings" pitchFamily="2" charset="2"/>
              </a:rPr>
              <a:t></a:t>
            </a:r>
            <a:r>
              <a:rPr lang="de-DE" dirty="0"/>
              <a:t>)</a:t>
            </a:r>
          </a:p>
          <a:p>
            <a:endParaRPr lang="de-DE" b="1" dirty="0"/>
          </a:p>
          <a:p>
            <a:r>
              <a:rPr lang="de-DE" b="1" dirty="0"/>
              <a:t>Das OSI-Modell</a:t>
            </a:r>
          </a:p>
          <a:p>
            <a:r>
              <a:rPr lang="de-DE" dirty="0"/>
              <a:t>Nachdem wir den Internetprotokollstapel im Detail erörtert haben, sollten wir auch erwähnen, dass es nicht der einzige Protokollstapel ist. In den späten 1970ern schlug der internationale Normenausschuss (ISO, International Organization for Standardization)</a:t>
            </a:r>
            <a:r>
              <a:rPr lang="de-DE" baseline="0" dirty="0"/>
              <a:t> </a:t>
            </a:r>
            <a:r>
              <a:rPr lang="de-DE" dirty="0"/>
              <a:t>vor, dass Computernetzwerke in sieben Schichten organisiert werden sollten, die als Open Systems Interconnection-Modell (OSI) bezeichnet werden [ISO2007]. Das OSI-Modell nahm Gestalt an, als die Protokolle, die später die Protokolle des Internets werden sollten, noch in den Kinderschuhen steckten. Damals war das OSI-Modell eines von vielen unterschiedlichen Konzepten, die entwickelt wurden. Vermutlich</a:t>
            </a:r>
            <a:r>
              <a:rPr lang="de-DE" baseline="0" dirty="0"/>
              <a:t> </a:t>
            </a:r>
            <a:r>
              <a:rPr lang="de-DE" dirty="0"/>
              <a:t>hatten die Erfinder des ursprünglichen OSI-Modells nicht einmal das Internet</a:t>
            </a:r>
            <a:r>
              <a:rPr lang="de-DE" baseline="0" dirty="0"/>
              <a:t> </a:t>
            </a:r>
            <a:r>
              <a:rPr lang="de-DE" dirty="0"/>
              <a:t>im Sinn, als sie ihr Modell schufen. In den späten 1970ern griffen aber viele Kurse und Vorlesungen in der Industrie und an Hochschulen das ISO-Modell auf und organisierten</a:t>
            </a:r>
            <a:r>
              <a:rPr lang="de-DE" baseline="0" dirty="0"/>
              <a:t> </a:t>
            </a:r>
            <a:r>
              <a:rPr lang="de-DE" dirty="0"/>
              <a:t>entsprechende Veranstaltungen. Wegen seiner frühen Wirkung auf die Ausbildung</a:t>
            </a:r>
            <a:r>
              <a:rPr lang="de-DE" baseline="0" dirty="0"/>
              <a:t> </a:t>
            </a:r>
            <a:r>
              <a:rPr lang="de-DE" dirty="0"/>
              <a:t>ist das siebenschichtige Modell immer noch in Lehrbüchern und Kursen über</a:t>
            </a:r>
          </a:p>
          <a:p>
            <a:r>
              <a:rPr lang="de-DE" dirty="0"/>
              <a:t>Computernetzwerke zu finden.</a:t>
            </a:r>
            <a:r>
              <a:rPr lang="de-DE" baseline="0" dirty="0"/>
              <a:t> </a:t>
            </a:r>
            <a:r>
              <a:rPr lang="de-DE" dirty="0"/>
              <a:t>Die sieben Schichten des OSI-Referenzmodells sind in Abbildung  dargestellt:</a:t>
            </a:r>
          </a:p>
          <a:p>
            <a:r>
              <a:rPr lang="de-DE" dirty="0"/>
              <a:t>Anwendungsschicht, Darstellungsschicht, Kommunikationssteuerungsschicht, Trans</a:t>
            </a:r>
            <a:r>
              <a:rPr lang="de-DE" sz="1200" b="0" i="0" u="none" strike="noStrike" kern="1200" baseline="0" dirty="0">
                <a:solidFill>
                  <a:schemeClr val="tx1"/>
                </a:solidFill>
                <a:latin typeface="+mn-lt"/>
                <a:ea typeface="+mn-ea"/>
                <a:cs typeface="+mn-cs"/>
              </a:rPr>
              <a:t>portschicht, Netzwerkschicht, Sicherungsschicht und Bitübertragungsschicht. </a:t>
            </a:r>
          </a:p>
          <a:p>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Fünf dieser Schichten haben im Wesentlichen dieselbe Funktion wie ihre gleichnamigen Internetpendants. Wenden wir uns daher den beiden zusätzlichen Schichten im OSI-Referenzmodell zu - der Darstellungsschicht und der Kommunikationssteuerungsschicht. Die Rolle der Darstellungsschicht besteht im Angebot von Diensten, mit deren Hilfe Kommunikationsanwendungen die Bedeutung der ausgetauschten Daten interpretieren können. Zu diesen Diensten gehören Datenkompression und Datenverschlüsse-lung (die selbst erklärend sind), aber auch die Datenbeschreibung (sie befreit sie Anwendungen von der Notwendigkeit, sich um das interne Format kümmern zu müssen, in dem Daten dargestellt bzw. gespeichert sind; das kann sich nämlich zwischen unterschiedlichen Computersystemen durchaus unterscheiden). Die Kommunikationssteuerungsschicht ermöglicht das Strukturieren und Synchronisieren des Datenaustausches und enthält auch Verfahren, um Sicherungsstellen und Wiederherstellungsschemata zu erzeugen. </a:t>
            </a:r>
          </a:p>
          <a:p>
            <a:r>
              <a:rPr lang="de-DE" sz="1200" b="0" i="0" u="none" strike="noStrike" kern="1200" baseline="0" dirty="0">
                <a:solidFill>
                  <a:schemeClr val="tx1"/>
                </a:solidFill>
                <a:latin typeface="+mn-lt"/>
                <a:ea typeface="+mn-ea"/>
                <a:cs typeface="+mn-cs"/>
              </a:rPr>
              <a:t>Die Tatsache, dass dem Internet zwei im OSI-Referenzmodell vorhandene Schichten fehlen, wirft zwei interessante Fragen auf: Sind die erbrachten Dienste dieser Schichten unwichtig? Was ist, wenn eine Anwendung einen dieser Dienste </a:t>
            </a:r>
            <a:r>
              <a:rPr lang="de-DE" sz="1200" b="0" i="1" u="none" strike="noStrike" kern="1200" baseline="0" dirty="0">
                <a:solidFill>
                  <a:schemeClr val="tx1"/>
                </a:solidFill>
                <a:latin typeface="+mn-lt"/>
                <a:ea typeface="+mn-ea"/>
                <a:cs typeface="+mn-cs"/>
              </a:rPr>
              <a:t>braucht? </a:t>
            </a:r>
            <a:r>
              <a:rPr lang="de-DE" sz="1200" b="0" i="0" u="none" strike="noStrike" kern="1200" baseline="0" dirty="0">
                <a:solidFill>
                  <a:schemeClr val="tx1"/>
                </a:solidFill>
                <a:latin typeface="+mn-lt"/>
                <a:ea typeface="+mn-ea"/>
                <a:cs typeface="+mn-cs"/>
              </a:rPr>
              <a:t>Im Internet müssen sich darum die Anwendungsentwickler kümmern. Es ist Sache des Entwicklers, zu entscheiden, ob ein Dienst wichtig </a:t>
            </a:r>
            <a:r>
              <a:rPr lang="de-DE" sz="1200" b="0" i="1" u="none" strike="noStrike" kern="1200" baseline="0" dirty="0">
                <a:solidFill>
                  <a:schemeClr val="tx1"/>
                </a:solidFill>
                <a:latin typeface="+mn-lt"/>
                <a:ea typeface="+mn-ea"/>
                <a:cs typeface="+mn-cs"/>
              </a:rPr>
              <a:t>ist, </a:t>
            </a:r>
            <a:r>
              <a:rPr lang="de-DE" sz="1200" b="0" i="0" u="none" strike="noStrike" kern="1200" baseline="0" dirty="0">
                <a:solidFill>
                  <a:schemeClr val="tx1"/>
                </a:solidFill>
                <a:latin typeface="+mn-lt"/>
                <a:ea typeface="+mn-ea"/>
                <a:cs typeface="+mn-cs"/>
              </a:rPr>
              <a:t>und es ist Aufgabe des Anwendungsentwicklers, diese Funktionalität dann auf der Ebene der Anwendung selbst zu implementieren. </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44</a:t>
            </a:fld>
            <a:endParaRPr lang="en-US" dirty="0"/>
          </a:p>
        </p:txBody>
      </p:sp>
    </p:spTree>
    <p:extLst>
      <p:ext uri="{BB962C8B-B14F-4D97-AF65-F5344CB8AC3E}">
        <p14:creationId xmlns:p14="http://schemas.microsoft.com/office/powerpoint/2010/main" val="35204573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45</a:t>
            </a:fld>
            <a:endParaRPr lang="en-US" dirty="0"/>
          </a:p>
        </p:txBody>
      </p:sp>
    </p:spTree>
    <p:extLst>
      <p:ext uri="{BB962C8B-B14F-4D97-AF65-F5344CB8AC3E}">
        <p14:creationId xmlns:p14="http://schemas.microsoft.com/office/powerpoint/2010/main" val="25779577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46</a:t>
            </a:fld>
            <a:endParaRPr lang="en-US" dirty="0"/>
          </a:p>
        </p:txBody>
      </p:sp>
    </p:spTree>
    <p:extLst>
      <p:ext uri="{BB962C8B-B14F-4D97-AF65-F5344CB8AC3E}">
        <p14:creationId xmlns:p14="http://schemas.microsoft.com/office/powerpoint/2010/main" val="5894077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47</a:t>
            </a:fld>
            <a:endParaRPr lang="en-US" dirty="0"/>
          </a:p>
        </p:txBody>
      </p:sp>
    </p:spTree>
    <p:extLst>
      <p:ext uri="{BB962C8B-B14F-4D97-AF65-F5344CB8AC3E}">
        <p14:creationId xmlns:p14="http://schemas.microsoft.com/office/powerpoint/2010/main" val="24412402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In computer networking jargon, the computers that we use on a daily basis are often referred to as or</a:t>
            </a:r>
          </a:p>
          <a:p>
            <a:r>
              <a:rPr lang="en-US" sz="1200" b="1" kern="1200" baseline="0" dirty="0">
                <a:solidFill>
                  <a:schemeClr val="tx1"/>
                </a:solidFill>
                <a:latin typeface="+mn-lt"/>
                <a:ea typeface="+mn-ea"/>
                <a:cs typeface="+mn-cs"/>
              </a:rPr>
              <a:t>hosts or end systems. They are referred to as "hosts" because they host (run) application-level programs</a:t>
            </a:r>
          </a:p>
          <a:p>
            <a:r>
              <a:rPr lang="en-US" sz="1200" kern="1200" baseline="0" dirty="0">
                <a:solidFill>
                  <a:schemeClr val="tx1"/>
                </a:solidFill>
                <a:latin typeface="+mn-lt"/>
                <a:ea typeface="+mn-ea"/>
                <a:cs typeface="+mn-cs"/>
              </a:rPr>
              <a:t>such as a Web browser or server program, or an e-mail program.</a:t>
            </a:r>
          </a:p>
          <a:p>
            <a:r>
              <a:rPr lang="en-US" sz="1200" kern="1200" baseline="0" dirty="0">
                <a:solidFill>
                  <a:schemeClr val="tx1"/>
                </a:solidFill>
                <a:latin typeface="+mn-lt"/>
                <a:ea typeface="+mn-ea"/>
                <a:cs typeface="+mn-cs"/>
              </a:rPr>
              <a:t>Hosts are sometimes further divided into two categories: </a:t>
            </a:r>
            <a:r>
              <a:rPr lang="en-US" sz="1200" b="1" kern="1200" baseline="0" dirty="0">
                <a:solidFill>
                  <a:schemeClr val="tx1"/>
                </a:solidFill>
                <a:latin typeface="+mn-lt"/>
                <a:ea typeface="+mn-ea"/>
                <a:cs typeface="+mn-cs"/>
              </a:rPr>
              <a:t>clients and servers. Informally, clients often</a:t>
            </a:r>
          </a:p>
          <a:p>
            <a:r>
              <a:rPr lang="en-US" sz="1200" kern="1200" baseline="0" dirty="0">
                <a:solidFill>
                  <a:schemeClr val="tx1"/>
                </a:solidFill>
                <a:latin typeface="+mn-lt"/>
                <a:ea typeface="+mn-ea"/>
                <a:cs typeface="+mn-cs"/>
              </a:rPr>
              <a:t>tend to be desktop PC's or workstations, while servers are more powerful machines. But there is a more</a:t>
            </a:r>
          </a:p>
          <a:p>
            <a:r>
              <a:rPr lang="en-US" sz="1200" kern="1200" baseline="0" dirty="0">
                <a:solidFill>
                  <a:schemeClr val="tx1"/>
                </a:solidFill>
                <a:latin typeface="+mn-lt"/>
                <a:ea typeface="+mn-ea"/>
                <a:cs typeface="+mn-cs"/>
              </a:rPr>
              <a:t>precise meaning of a client and a server in computer networking. In the so-called </a:t>
            </a:r>
            <a:r>
              <a:rPr lang="en-US" sz="1200" b="1" kern="1200" baseline="0" dirty="0">
                <a:solidFill>
                  <a:schemeClr val="tx1"/>
                </a:solidFill>
                <a:latin typeface="+mn-lt"/>
                <a:ea typeface="+mn-ea"/>
                <a:cs typeface="+mn-cs"/>
              </a:rPr>
              <a:t>client-server model,</a:t>
            </a:r>
          </a:p>
          <a:p>
            <a:r>
              <a:rPr lang="en-US" sz="1200" kern="1200" baseline="0" dirty="0">
                <a:solidFill>
                  <a:schemeClr val="tx1"/>
                </a:solidFill>
                <a:latin typeface="+mn-lt"/>
                <a:ea typeface="+mn-ea"/>
                <a:cs typeface="+mn-cs"/>
              </a:rPr>
              <a:t>a client program running on one end system requests and receives information from a server running on</a:t>
            </a:r>
          </a:p>
          <a:p>
            <a:r>
              <a:rPr lang="en-US" sz="1200" kern="1200" baseline="0" dirty="0">
                <a:solidFill>
                  <a:schemeClr val="tx1"/>
                </a:solidFill>
                <a:latin typeface="+mn-lt"/>
                <a:ea typeface="+mn-ea"/>
                <a:cs typeface="+mn-cs"/>
              </a:rPr>
              <a:t>another end system. This client-server model is undoubtedly the most prevalent structure for Internet</a:t>
            </a:r>
          </a:p>
          <a:p>
            <a:r>
              <a:rPr lang="de-DE" sz="1200" kern="1200" baseline="0" dirty="0" err="1">
                <a:solidFill>
                  <a:schemeClr val="tx1"/>
                </a:solidFill>
                <a:latin typeface="+mn-lt"/>
                <a:ea typeface="+mn-ea"/>
                <a:cs typeface="+mn-cs"/>
              </a:rPr>
              <a:t>applications</a:t>
            </a:r>
            <a:r>
              <a:rPr lang="de-DE"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The Web, e-mail, file transfer,</a:t>
            </a:r>
          </a:p>
          <a:p>
            <a:r>
              <a:rPr lang="en-US" sz="1200" kern="1200" baseline="0" dirty="0">
                <a:solidFill>
                  <a:schemeClr val="tx1"/>
                </a:solidFill>
                <a:latin typeface="+mn-lt"/>
                <a:ea typeface="+mn-ea"/>
                <a:cs typeface="+mn-cs"/>
              </a:rPr>
              <a:t>remote login (e.g., Telnet), </a:t>
            </a:r>
            <a:r>
              <a:rPr lang="en-US" sz="1200" kern="1200" baseline="0" dirty="0" err="1">
                <a:solidFill>
                  <a:schemeClr val="tx1"/>
                </a:solidFill>
                <a:latin typeface="+mn-lt"/>
                <a:ea typeface="+mn-ea"/>
                <a:cs typeface="+mn-cs"/>
              </a:rPr>
              <a:t>newgroups</a:t>
            </a:r>
            <a:r>
              <a:rPr lang="en-US" sz="1200" kern="1200" baseline="0" dirty="0">
                <a:solidFill>
                  <a:schemeClr val="tx1"/>
                </a:solidFill>
                <a:latin typeface="+mn-lt"/>
                <a:ea typeface="+mn-ea"/>
                <a:cs typeface="+mn-cs"/>
              </a:rPr>
              <a:t> and many other popular applications adopt the client-server</a:t>
            </a:r>
          </a:p>
          <a:p>
            <a:r>
              <a:rPr lang="en-US" sz="1200" kern="1200" baseline="0" dirty="0">
                <a:solidFill>
                  <a:schemeClr val="tx1"/>
                </a:solidFill>
                <a:latin typeface="+mn-lt"/>
                <a:ea typeface="+mn-ea"/>
                <a:cs typeface="+mn-cs"/>
              </a:rPr>
              <a:t>model. Since a client typically runs on one computer and the server runs on another computer, </a:t>
            </a:r>
            <a:r>
              <a:rPr lang="en-US" sz="1200" kern="1200" baseline="0" dirty="0" err="1">
                <a:solidFill>
                  <a:schemeClr val="tx1"/>
                </a:solidFill>
                <a:latin typeface="+mn-lt"/>
                <a:ea typeface="+mn-ea"/>
                <a:cs typeface="+mn-cs"/>
              </a:rPr>
              <a:t>clientserver</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Internet applications are, by definition, </a:t>
            </a:r>
            <a:r>
              <a:rPr lang="en-US" sz="1200" b="1" kern="1200" baseline="0" dirty="0">
                <a:solidFill>
                  <a:schemeClr val="tx1"/>
                </a:solidFill>
                <a:latin typeface="+mn-lt"/>
                <a:ea typeface="+mn-ea"/>
                <a:cs typeface="+mn-cs"/>
              </a:rPr>
              <a:t>distributed applications. The client and the server</a:t>
            </a:r>
          </a:p>
          <a:p>
            <a:r>
              <a:rPr lang="en-US" sz="1200" kern="1200" baseline="0" dirty="0">
                <a:solidFill>
                  <a:schemeClr val="tx1"/>
                </a:solidFill>
                <a:latin typeface="+mn-lt"/>
                <a:ea typeface="+mn-ea"/>
                <a:cs typeface="+mn-cs"/>
              </a:rPr>
              <a:t>interact with each other by communicating (i.e., sending each other messages) over the Internet. At this</a:t>
            </a:r>
          </a:p>
          <a:p>
            <a:r>
              <a:rPr lang="en-US" sz="1200" kern="1200" baseline="0" dirty="0">
                <a:solidFill>
                  <a:schemeClr val="tx1"/>
                </a:solidFill>
                <a:latin typeface="+mn-lt"/>
                <a:ea typeface="+mn-ea"/>
                <a:cs typeface="+mn-cs"/>
              </a:rPr>
              <a:t>level of abstraction, the routers, links and other "pieces" of the Internet serve as a "black box" that</a:t>
            </a:r>
          </a:p>
          <a:p>
            <a:r>
              <a:rPr lang="en-US" sz="1200" kern="1200" baseline="0" dirty="0">
                <a:solidFill>
                  <a:schemeClr val="tx1"/>
                </a:solidFill>
                <a:latin typeface="+mn-lt"/>
                <a:ea typeface="+mn-ea"/>
                <a:cs typeface="+mn-cs"/>
              </a:rPr>
              <a:t>transfers messages between the distributed, communicating components of an Internet application.</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48</a:t>
            </a:fld>
            <a:endParaRPr lang="en-US" dirty="0"/>
          </a:p>
        </p:txBody>
      </p:sp>
    </p:spTree>
    <p:extLst>
      <p:ext uri="{BB962C8B-B14F-4D97-AF65-F5344CB8AC3E}">
        <p14:creationId xmlns:p14="http://schemas.microsoft.com/office/powerpoint/2010/main" val="26742918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Innerhalb des Netzwerkes eines ISP werden die "Punkte", an denen sich der ISP mit anderen ISPs verbindet (egal ob nach unten, oben oder auf derselben Ebene der Hier-</a:t>
            </a:r>
            <a:r>
              <a:rPr lang="de-DE" sz="1200" kern="1200" baseline="0" dirty="0" err="1">
                <a:solidFill>
                  <a:schemeClr val="tx1"/>
                </a:solidFill>
                <a:latin typeface="+mn-lt"/>
                <a:ea typeface="+mn-ea"/>
                <a:cs typeface="+mn-cs"/>
              </a:rPr>
              <a:t>archie</a:t>
            </a:r>
            <a:r>
              <a:rPr lang="de-DE" sz="1200" kern="1200" baseline="0" dirty="0">
                <a:solidFill>
                  <a:schemeClr val="tx1"/>
                </a:solidFill>
                <a:latin typeface="+mn-lt"/>
                <a:ea typeface="+mn-ea"/>
                <a:cs typeface="+mn-cs"/>
              </a:rPr>
              <a:t>),als Points </a:t>
            </a:r>
            <a:r>
              <a:rPr lang="de-DE" sz="1200" kern="1200" baseline="0" dirty="0" err="1">
                <a:solidFill>
                  <a:schemeClr val="tx1"/>
                </a:solidFill>
                <a:latin typeface="+mn-lt"/>
                <a:ea typeface="+mn-ea"/>
                <a:cs typeface="+mn-cs"/>
              </a:rPr>
              <a:t>of</a:t>
            </a:r>
            <a:r>
              <a:rPr lang="de-DE" sz="1200" kern="1200" baseline="0" dirty="0">
                <a:solidFill>
                  <a:schemeClr val="tx1"/>
                </a:solidFill>
                <a:latin typeface="+mn-lt"/>
                <a:ea typeface="+mn-ea"/>
                <a:cs typeface="+mn-cs"/>
              </a:rPr>
              <a:t> Presence (POPs) bezeichnet. Ein POP ist schlicht ein oder mehrere Router innerhalb des ISP-Netzwerkes; mit denen sich die Router anderer ISPs oder die Netzwerke der ISP-Kunden verbinden können. Das Netzwerk eines Tier-1 Providers enthält üblicherweise viele geografisch weit voneinander entfernte POPs, mit denen sich jeweils mehrere Kundennetzwerke und andere ISPs verbinden. Soll ein Kundennetz direkt mit dem POP eines Providers verbunden werden, dann mietet der Kunde normalerweise eine Hochgeschwindigkeitsleitung von einem unabhängigen Telekommunikationsversorger und schließt über diese seinen Router direkt an den POP des ISP an. Darüberhinaus können zwei ISPs durchaus mehrere sogenannter </a:t>
            </a:r>
            <a:r>
              <a:rPr lang="de-DE" sz="1200" kern="1200" baseline="0" dirty="0" err="1">
                <a:solidFill>
                  <a:schemeClr val="tx1"/>
                </a:solidFill>
                <a:latin typeface="+mn-lt"/>
                <a:ea typeface="+mn-ea"/>
                <a:cs typeface="+mn-cs"/>
              </a:rPr>
              <a:t>Peering</a:t>
            </a:r>
            <a:r>
              <a:rPr lang="de-DE" sz="1200" kern="1200" baseline="0" dirty="0">
                <a:solidFill>
                  <a:schemeClr val="tx1"/>
                </a:solidFill>
                <a:latin typeface="+mn-lt"/>
                <a:ea typeface="+mn-ea"/>
                <a:cs typeface="+mn-cs"/>
              </a:rPr>
              <a:t> Points </a:t>
            </a:r>
            <a:r>
              <a:rPr lang="de-DE" sz="1200" i="0" kern="1200" baseline="0" dirty="0">
                <a:solidFill>
                  <a:schemeClr val="tx1"/>
                </a:solidFill>
                <a:latin typeface="+mn-lt"/>
                <a:ea typeface="+mn-ea"/>
                <a:cs typeface="+mn-cs"/>
              </a:rPr>
              <a:t>(Austauschpunkte) besitzen, also über mehrere POP-Paare miteinander verbunden sein </a:t>
            </a:r>
          </a:p>
          <a:p>
            <a:endParaRPr lang="de-DE" dirty="0"/>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6CDC-8D0E-409F-856B-BAE38288A8E4}"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771628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18D1F8-5707-48A5-A72F-3CEDC68836D3}"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29668459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1B03F0-CAC0-4D45-929E-3D43EA00C28D}"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26668512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6AF9B9AC-C42B-4F63-A081-B4B90F06F3A0}" type="slidenum">
              <a:rPr lang="en-US" smtClean="0"/>
              <a:pPr/>
              <a:t>56</a:t>
            </a:fld>
            <a:endParaRPr lang="en-US"/>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2024818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8" name="Titel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Untertitel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noProof="0" dirty="0" err="1"/>
              <a:t>Formatvorlage</a:t>
            </a:r>
            <a:r>
              <a:rPr kumimoji="0" lang="en-US" noProof="0" dirty="0"/>
              <a:t> des </a:t>
            </a:r>
            <a:r>
              <a:rPr kumimoji="0" lang="en-US" noProof="0" dirty="0" err="1"/>
              <a:t>Untertitelmasters</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21" name="Rechteck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hteck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hteck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hteck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521019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 2 Tei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641848"/>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75%">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4104456"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0" name="Gerade Verbindung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leichschenkliges Dreieck 8"/>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Inhaltsplatzhalter 11"/>
          <p:cNvSpPr>
            <a:spLocks noGrp="1"/>
          </p:cNvSpPr>
          <p:nvPr>
            <p:ph sz="quarter" idx="1"/>
          </p:nvPr>
        </p:nvSpPr>
        <p:spPr>
          <a:xfrm>
            <a:off x="304800" y="304800"/>
            <a:ext cx="5715000" cy="57150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5" name="Foliennummernplatzhalter 4"/>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a:xfrm>
            <a:off x="8542234" y="6500834"/>
            <a:ext cx="601766" cy="357166"/>
          </a:xfrm>
        </p:spPr>
        <p:txBody>
          <a:bodyPr/>
          <a:lstStyle/>
          <a:p>
            <a:fld id="{6C6AE60A-B69C-4790-82F7-3882EDF23186}" type="slidenum">
              <a:rPr lang="de-DE" smtClean="0"/>
              <a:pPr/>
              <a:t>‹Nr.›</a:t>
            </a:fld>
            <a:endParaRPr lang="de-DE" dirty="0"/>
          </a:p>
        </p:txBody>
      </p:sp>
      <p:sp>
        <p:nvSpPr>
          <p:cNvPr id="9" name="Inhaltsplatzhalter 8"/>
          <p:cNvSpPr>
            <a:spLocks noGrp="1"/>
          </p:cNvSpPr>
          <p:nvPr>
            <p:ph sz="quarter" idx="1"/>
          </p:nvPr>
        </p:nvSpPr>
        <p:spPr>
          <a:xfrm>
            <a:off x="457200" y="1219200"/>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1" name="Inhaltsplatzhalter 10"/>
          <p:cNvSpPr>
            <a:spLocks noGrp="1"/>
          </p:cNvSpPr>
          <p:nvPr>
            <p:ph sz="quarter" idx="2"/>
          </p:nvPr>
        </p:nvSpPr>
        <p:spPr>
          <a:xfrm>
            <a:off x="4632198" y="1216152"/>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nchor="ctr"/>
          <a:lstStyle>
            <a:lvl1pPr>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Textplatzhalt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Foliennummernplatzhalter 8"/>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1" name="Inhaltsplatzhalter 10"/>
          <p:cNvSpPr>
            <a:spLocks noGrp="1"/>
          </p:cNvSpPr>
          <p:nvPr>
            <p:ph sz="quarter" idx="2"/>
          </p:nvPr>
        </p:nvSpPr>
        <p:spPr>
          <a:xfrm>
            <a:off x="457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3" name="Inhaltsplatzhalter 12"/>
          <p:cNvSpPr>
            <a:spLocks noGrp="1"/>
          </p:cNvSpPr>
          <p:nvPr>
            <p:ph sz="quarter" idx="4"/>
          </p:nvPr>
        </p:nvSpPr>
        <p:spPr>
          <a:xfrm>
            <a:off x="4648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6C6AE60A-B69C-4790-82F7-3882EDF23186}" type="slidenum">
              <a:rPr lang="de-DE" smtClean="0"/>
              <a:pPr/>
              <a:t>‹Nr.›</a:t>
            </a:fld>
            <a:endParaRPr lang="de-DE" dirty="0"/>
          </a:p>
        </p:txBody>
      </p:sp>
      <p:sp>
        <p:nvSpPr>
          <p:cNvPr id="7" name="Gleichschenkliges Dreieck 6"/>
          <p:cNvSpPr>
            <a:spLocks noChangeAspect="1"/>
          </p:cNvSpPr>
          <p:nvPr userDrawn="1"/>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el 1"/>
          <p:cNvSpPr>
            <a:spLocks noGrp="1"/>
          </p:cNvSpPr>
          <p:nvPr>
            <p:ph type="title"/>
          </p:nvPr>
        </p:nvSpPr>
        <p:spPr>
          <a:xfrm>
            <a:off x="971600" y="2348880"/>
            <a:ext cx="7200800" cy="2160240"/>
          </a:xfrm>
        </p:spPr>
        <p:txBody>
          <a:bodyPr anchor="ctr">
            <a:normAutofit/>
          </a:bodyPr>
          <a:lstStyle>
            <a:lvl1pPr algn="ctr">
              <a:defRPr sz="400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Datumsplatzhalter 3"/>
          <p:cNvSpPr>
            <a:spLocks noGrp="1"/>
          </p:cNvSpPr>
          <p:nvPr>
            <p:ph type="dt" sz="half" idx="10"/>
          </p:nvPr>
        </p:nvSpPr>
        <p:spPr>
          <a:xfrm>
            <a:off x="6400800" y="6355080"/>
            <a:ext cx="2286000" cy="365760"/>
          </a:xfrm>
          <a:prstGeom prst="rect">
            <a:avLst/>
          </a:prstGeom>
        </p:spPr>
        <p:txBody>
          <a:bodyPr/>
          <a:lstStyle/>
          <a:p>
            <a:endParaRPr lang="de-DE" dirty="0"/>
          </a:p>
        </p:txBody>
      </p:sp>
      <p:sp>
        <p:nvSpPr>
          <p:cNvPr id="5" name="Fußzeilenplatzhalter 4"/>
          <p:cNvSpPr>
            <a:spLocks noGrp="1"/>
          </p:cNvSpPr>
          <p:nvPr>
            <p:ph type="ftr" sz="quarter" idx="11"/>
          </p:nvPr>
        </p:nvSpPr>
        <p:spPr>
          <a:xfrm>
            <a:off x="2898648" y="6355080"/>
            <a:ext cx="3474720" cy="365760"/>
          </a:xfrm>
          <a:prstGeom prst="rect">
            <a:avLst/>
          </a:prstGeom>
        </p:spPr>
        <p:txBody>
          <a:bodyPr/>
          <a:lstStyle/>
          <a:p>
            <a:endParaRPr lang="de-DE" dirty="0"/>
          </a:p>
        </p:txBody>
      </p:sp>
      <p:sp>
        <p:nvSpPr>
          <p:cNvPr id="6" name="Foliennummernplatzhalter 5"/>
          <p:cNvSpPr>
            <a:spLocks noGrp="1"/>
          </p:cNvSpPr>
          <p:nvPr>
            <p:ph type="sldNum" sz="quarter" idx="12"/>
          </p:nvPr>
        </p:nvSpPr>
        <p:spPr>
          <a:xfrm>
            <a:off x="1069848" y="6355080"/>
            <a:ext cx="1520952" cy="365760"/>
          </a:xfrm>
        </p:spPr>
        <p:txBody>
          <a:bodyPr/>
          <a:lstStyle/>
          <a:p>
            <a:fld id="{6C6AE60A-B69C-4790-82F7-3882EDF23186}" type="slidenum">
              <a:rPr lang="de-DE" smtClean="0"/>
              <a:pPr/>
              <a:t>‹Nr.›</a:t>
            </a:fld>
            <a:endParaRPr lang="de-DE" dirty="0"/>
          </a:p>
        </p:txBody>
      </p:sp>
      <p:sp>
        <p:nvSpPr>
          <p:cNvPr id="7" name="Rechteck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hteck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a:xfrm>
            <a:off x="457200" y="274638"/>
            <a:ext cx="6019800" cy="5851525"/>
          </a:xfrm>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
        <p:nvSpPr>
          <p:cNvPr id="8" name="Gleichschenkliges Dreieck 7"/>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Gerade Verbindung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elplatzhalt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13" name="Textplatzhalter 12"/>
          <p:cNvSpPr>
            <a:spLocks noGrp="1"/>
          </p:cNvSpPr>
          <p:nvPr>
            <p:ph type="body" idx="1"/>
          </p:nvPr>
        </p:nvSpPr>
        <p:spPr>
          <a:xfrm>
            <a:off x="457200" y="1219200"/>
            <a:ext cx="8229600" cy="5210196"/>
          </a:xfrm>
          <a:prstGeom prst="rect">
            <a:avLst/>
          </a:prstGeom>
        </p:spPr>
        <p:txBody>
          <a:bodyPr vert="horz">
            <a:normAutofit/>
          </a:body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a:p>
            <a:pPr lvl="1" eaLnBrk="1" latinLnBrk="0" hangingPunct="1"/>
            <a:r>
              <a:rPr kumimoji="0" lang="en-US" noProof="0" dirty="0" err="1"/>
              <a:t>Zweite</a:t>
            </a:r>
            <a:r>
              <a:rPr kumimoji="0" lang="en-US" noProof="0" dirty="0"/>
              <a:t> </a:t>
            </a:r>
            <a:r>
              <a:rPr kumimoji="0" lang="en-US" noProof="0" dirty="0" err="1"/>
              <a:t>Ebene</a:t>
            </a:r>
            <a:endParaRPr kumimoji="0" lang="en-US" noProof="0" dirty="0"/>
          </a:p>
          <a:p>
            <a:pPr lvl="2" eaLnBrk="1" latinLnBrk="0" hangingPunct="1"/>
            <a:r>
              <a:rPr kumimoji="0" lang="en-US" noProof="0" dirty="0" err="1"/>
              <a:t>Dritte</a:t>
            </a:r>
            <a:r>
              <a:rPr kumimoji="0" lang="en-US" noProof="0" dirty="0"/>
              <a:t> </a:t>
            </a:r>
            <a:r>
              <a:rPr kumimoji="0" lang="en-US" noProof="0" dirty="0" err="1"/>
              <a:t>Ebene</a:t>
            </a:r>
            <a:endParaRPr kumimoji="0" lang="en-US" noProof="0" dirty="0"/>
          </a:p>
          <a:p>
            <a:pPr lvl="3" eaLnBrk="1" latinLnBrk="0" hangingPunct="1"/>
            <a:r>
              <a:rPr kumimoji="0" lang="en-US" noProof="0" dirty="0" err="1"/>
              <a:t>Vierte</a:t>
            </a:r>
            <a:r>
              <a:rPr kumimoji="0" lang="en-US" noProof="0" dirty="0"/>
              <a:t> </a:t>
            </a:r>
            <a:r>
              <a:rPr kumimoji="0" lang="en-US" noProof="0" dirty="0" err="1"/>
              <a:t>Ebene</a:t>
            </a:r>
            <a:endParaRPr kumimoji="0" lang="en-US" noProof="0" dirty="0"/>
          </a:p>
          <a:p>
            <a:pPr lvl="4" eaLnBrk="1" latinLnBrk="0" hangingPunct="1"/>
            <a:r>
              <a:rPr kumimoji="0" lang="en-US" noProof="0" dirty="0" err="1"/>
              <a:t>Fünfte</a:t>
            </a:r>
            <a:r>
              <a:rPr kumimoji="0" lang="en-US" noProof="0" dirty="0"/>
              <a:t> </a:t>
            </a:r>
            <a:r>
              <a:rPr kumimoji="0" lang="en-US" noProof="0" dirty="0" err="1"/>
              <a:t>Ebene</a:t>
            </a:r>
            <a:endParaRPr kumimoji="0" lang="en-US" noProof="0" dirty="0"/>
          </a:p>
        </p:txBody>
      </p:sp>
      <p:sp>
        <p:nvSpPr>
          <p:cNvPr id="23" name="Foliennummernplatzhalter 22"/>
          <p:cNvSpPr>
            <a:spLocks noGrp="1"/>
          </p:cNvSpPr>
          <p:nvPr>
            <p:ph type="sldNum" sz="quarter" idx="4"/>
          </p:nvPr>
        </p:nvSpPr>
        <p:spPr>
          <a:xfrm>
            <a:off x="8542234" y="6492240"/>
            <a:ext cx="601766" cy="365760"/>
          </a:xfrm>
          <a:prstGeom prst="rect">
            <a:avLst/>
          </a:prstGeom>
        </p:spPr>
        <p:txBody>
          <a:bodyPr vert="horz"/>
          <a:lstStyle>
            <a:lvl1pPr algn="l" eaLnBrk="1" latinLnBrk="0" hangingPunct="1">
              <a:defRPr kumimoji="0" sz="1400">
                <a:solidFill>
                  <a:schemeClr val="tx2"/>
                </a:solidFill>
              </a:defRPr>
            </a:lvl1pPr>
          </a:lstStyle>
          <a:p>
            <a:r>
              <a:rPr lang="de-DE" dirty="0"/>
              <a:t>1</a:t>
            </a:r>
          </a:p>
        </p:txBody>
      </p:sp>
      <p:sp>
        <p:nvSpPr>
          <p:cNvPr id="29" name="Gerade Verbindung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Gleichschenkliges Dreieck 9"/>
          <p:cNvSpPr>
            <a:spLocks noChangeAspect="1"/>
          </p:cNvSpPr>
          <p:nvPr/>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97" r:id="rId3"/>
    <p:sldLayoutId id="2147483696" r:id="rId4"/>
    <p:sldLayoutId id="2147483692" r:id="rId5"/>
    <p:sldLayoutId id="2147483690" r:id="rId6"/>
    <p:sldLayoutId id="2147483688" r:id="rId7"/>
    <p:sldLayoutId id="2147483689" r:id="rId8"/>
    <p:sldLayoutId id="2147483691" r:id="rId9"/>
    <p:sldLayoutId id="2147483687" r:id="rId10"/>
    <p:sldLayoutId id="2147483694" r:id="rId11"/>
    <p:sldLayoutId id="2147483695"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wmf"/><Relationship Id="rId4" Type="http://schemas.openxmlformats.org/officeDocument/2006/relationships/image" Target="../media/image3.png"/><Relationship Id="rId5" Type="http://schemas.openxmlformats.org/officeDocument/2006/relationships/oleObject" Target="../embeddings/oleObject1.bin"/><Relationship Id="rId6" Type="http://schemas.openxmlformats.org/officeDocument/2006/relationships/image" Target="../media/image4.wmf"/><Relationship Id="rId7" Type="http://schemas.openxmlformats.org/officeDocument/2006/relationships/oleObject" Target="../embeddings/oleObject2.bin"/><Relationship Id="rId8" Type="http://schemas.openxmlformats.org/officeDocument/2006/relationships/image" Target="../media/image5.wmf"/><Relationship Id="rId9" Type="http://schemas.openxmlformats.org/officeDocument/2006/relationships/oleObject" Target="../embeddings/oleObject3.bin"/><Relationship Id="rId10" Type="http://schemas.openxmlformats.org/officeDocument/2006/relationships/oleObject" Target="../embeddings/oleObject4.bin"/><Relationship Id="rId11" Type="http://schemas.openxmlformats.org/officeDocument/2006/relationships/image" Target="../media/image6.png"/><Relationship Id="rId12" Type="http://schemas.openxmlformats.org/officeDocument/2006/relationships/oleObject" Target="../embeddings/oleObject5.bin"/><Relationship Id="rId13" Type="http://schemas.openxmlformats.org/officeDocument/2006/relationships/image" Target="../media/image7.wmf"/><Relationship Id="rId14" Type="http://schemas.openxmlformats.org/officeDocument/2006/relationships/oleObject" Target="../embeddings/oleObject6.bin"/><Relationship Id="rId15" Type="http://schemas.openxmlformats.org/officeDocument/2006/relationships/oleObject" Target="../embeddings/oleObject7.bin"/><Relationship Id="rId16" Type="http://schemas.openxmlformats.org/officeDocument/2006/relationships/oleObject" Target="../embeddings/oleObject8.bin"/><Relationship Id="rId17" Type="http://schemas.openxmlformats.org/officeDocument/2006/relationships/oleObject" Target="../embeddings/oleObject9.bin"/><Relationship Id="rId18" Type="http://schemas.openxmlformats.org/officeDocument/2006/relationships/oleObject" Target="../embeddings/oleObject10.bin"/><Relationship Id="rId19" Type="http://schemas.openxmlformats.org/officeDocument/2006/relationships/oleObject" Target="../embeddings/oleObject11.bin"/><Relationship Id="rId20" Type="http://schemas.openxmlformats.org/officeDocument/2006/relationships/oleObject" Target="../embeddings/oleObject12.bin"/><Relationship Id="rId21" Type="http://schemas.openxmlformats.org/officeDocument/2006/relationships/oleObject" Target="../embeddings/oleObject13.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de.wikipedia.org/wiki/Autonomes_System" TargetMode="External"/><Relationship Id="rId4" Type="http://schemas.openxmlformats.org/officeDocument/2006/relationships/image" Target="../media/image2.wmf"/><Relationship Id="rId5" Type="http://schemas.openxmlformats.org/officeDocument/2006/relationships/image" Target="../media/image3.png"/><Relationship Id="rId6" Type="http://schemas.openxmlformats.org/officeDocument/2006/relationships/oleObject" Target="../embeddings/oleObject14.bin"/><Relationship Id="rId7" Type="http://schemas.openxmlformats.org/officeDocument/2006/relationships/image" Target="../media/image4.wmf"/><Relationship Id="rId8" Type="http://schemas.openxmlformats.org/officeDocument/2006/relationships/oleObject" Target="../embeddings/oleObject15.bin"/><Relationship Id="rId9" Type="http://schemas.openxmlformats.org/officeDocument/2006/relationships/image" Target="../media/image5.wmf"/><Relationship Id="rId10" Type="http://schemas.openxmlformats.org/officeDocument/2006/relationships/oleObject" Target="../embeddings/oleObject16.bin"/><Relationship Id="rId11" Type="http://schemas.openxmlformats.org/officeDocument/2006/relationships/oleObject" Target="../embeddings/oleObject17.bin"/><Relationship Id="rId12" Type="http://schemas.openxmlformats.org/officeDocument/2006/relationships/image" Target="../media/image6.png"/><Relationship Id="rId13" Type="http://schemas.openxmlformats.org/officeDocument/2006/relationships/oleObject" Target="../embeddings/oleObject18.bin"/><Relationship Id="rId14" Type="http://schemas.openxmlformats.org/officeDocument/2006/relationships/image" Target="../media/image7.wmf"/><Relationship Id="rId15" Type="http://schemas.openxmlformats.org/officeDocument/2006/relationships/oleObject" Target="../embeddings/oleObject19.bin"/><Relationship Id="rId16" Type="http://schemas.openxmlformats.org/officeDocument/2006/relationships/oleObject" Target="../embeddings/oleObject20.bin"/><Relationship Id="rId17" Type="http://schemas.openxmlformats.org/officeDocument/2006/relationships/oleObject" Target="../embeddings/oleObject21.bin"/><Relationship Id="rId18" Type="http://schemas.openxmlformats.org/officeDocument/2006/relationships/oleObject" Target="../embeddings/oleObject22.bin"/><Relationship Id="rId19" Type="http://schemas.openxmlformats.org/officeDocument/2006/relationships/oleObject" Target="../embeddings/oleObject23.bin"/><Relationship Id="rId20" Type="http://schemas.openxmlformats.org/officeDocument/2006/relationships/oleObject" Target="../embeddings/oleObject24.bin"/><Relationship Id="rId21" Type="http://schemas.openxmlformats.org/officeDocument/2006/relationships/oleObject" Target="../embeddings/oleObject25.bin"/><Relationship Id="rId22" Type="http://schemas.openxmlformats.org/officeDocument/2006/relationships/oleObject" Target="../embeddings/oleObject26.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youtube.com/playlist?list=PLlRFEj9H3Oj6-srSAgLb-ZGVNGlo3v14X"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jpe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acm.acm.org/magazines/2020/1/241709-how-the-internet-spans-the-globe/fulltext" TargetMode="Externa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oleObject" Target="../embeddings/oleObject27.bin"/><Relationship Id="rId4" Type="http://schemas.openxmlformats.org/officeDocument/2006/relationships/image" Target="../media/image7.wmf"/><Relationship Id="rId5" Type="http://schemas.openxmlformats.org/officeDocument/2006/relationships/oleObject" Target="../embeddings/oleObject28.bin"/><Relationship Id="rId6" Type="http://schemas.openxmlformats.org/officeDocument/2006/relationships/oleObject" Target="../embeddings/oleObject29.bin"/><Relationship Id="rId7" Type="http://schemas.openxmlformats.org/officeDocument/2006/relationships/oleObject" Target="../embeddings/oleObject30.bin"/><Relationship Id="rId8" Type="http://schemas.openxmlformats.org/officeDocument/2006/relationships/oleObject" Target="../embeddings/oleObject31.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oleObject" Target="../embeddings/oleObject32.bin"/><Relationship Id="rId3" Type="http://schemas.openxmlformats.org/officeDocument/2006/relationships/image" Target="../media/image7.wmf"/><Relationship Id="rId4" Type="http://schemas.openxmlformats.org/officeDocument/2006/relationships/oleObject" Target="../embeddings/oleObject33.bin"/><Relationship Id="rId5" Type="http://schemas.openxmlformats.org/officeDocument/2006/relationships/hyperlink" Target="https://bit.ly/ibn_h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oleObject" Target="../embeddings/oleObject34.bin"/><Relationship Id="rId4" Type="http://schemas.openxmlformats.org/officeDocument/2006/relationships/image" Target="../media/image7.wmf"/><Relationship Id="rId5" Type="http://schemas.openxmlformats.org/officeDocument/2006/relationships/oleObject" Target="../embeddings/oleObject35.bin"/><Relationship Id="rId6" Type="http://schemas.openxmlformats.org/officeDocument/2006/relationships/hyperlink" Target="https://bit.ly/ibn_h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oleObject" Target="../embeddings/oleObject36.bin"/><Relationship Id="rId4" Type="http://schemas.openxmlformats.org/officeDocument/2006/relationships/image" Target="../media/image7.wmf"/><Relationship Id="rId5" Type="http://schemas.openxmlformats.org/officeDocument/2006/relationships/oleObject" Target="../embeddings/oleObject37.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oleObject" Target="../embeddings/oleObject38.bin"/><Relationship Id="rId4" Type="http://schemas.openxmlformats.org/officeDocument/2006/relationships/image" Target="../media/image7.wmf"/><Relationship Id="rId5" Type="http://schemas.openxmlformats.org/officeDocument/2006/relationships/oleObject" Target="../embeddings/oleObject39.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oleObject" Target="../embeddings/oleObject40.bin"/><Relationship Id="rId4" Type="http://schemas.openxmlformats.org/officeDocument/2006/relationships/image" Target="../media/image18.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oleObject" Target="../embeddings/oleObject41.bin"/><Relationship Id="rId4" Type="http://schemas.openxmlformats.org/officeDocument/2006/relationships/image" Target="../media/image7.wmf"/><Relationship Id="rId5" Type="http://schemas.openxmlformats.org/officeDocument/2006/relationships/oleObject" Target="../embeddings/oleObject4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oleObject" Target="../embeddings/oleObject43.bin"/><Relationship Id="rId4" Type="http://schemas.openxmlformats.org/officeDocument/2006/relationships/image" Target="../media/image7.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oleObject" Target="../embeddings/oleObject44.bin"/><Relationship Id="rId4" Type="http://schemas.openxmlformats.org/officeDocument/2006/relationships/image" Target="../media/image7.wmf"/><Relationship Id="rId5" Type="http://schemas.openxmlformats.org/officeDocument/2006/relationships/oleObject" Target="../embeddings/oleObject45.bin"/><Relationship Id="rId6" Type="http://schemas.openxmlformats.org/officeDocument/2006/relationships/hyperlink" Target="https://bit.ly/ibn_hd"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oleObject" Target="../embeddings/oleObject46.bin"/><Relationship Id="rId4" Type="http://schemas.openxmlformats.org/officeDocument/2006/relationships/image" Target="../media/image7.wmf"/><Relationship Id="rId5" Type="http://schemas.openxmlformats.org/officeDocument/2006/relationships/oleObject" Target="../embeddings/oleObject47.bin"/><Relationship Id="rId6" Type="http://schemas.openxmlformats.org/officeDocument/2006/relationships/oleObject" Target="../embeddings/oleObject48.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hyperlink" Target="https://www.youtube.com/watch?v=zyL1Fud1Z1c"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oleObject" Target="../embeddings/oleObject49.bin"/><Relationship Id="rId4" Type="http://schemas.openxmlformats.org/officeDocument/2006/relationships/image" Target="../media/image7.wmf"/><Relationship Id="rId5" Type="http://schemas.openxmlformats.org/officeDocument/2006/relationships/oleObject" Target="../embeddings/oleObject50.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oleObject" Target="../embeddings/oleObject51.bin"/><Relationship Id="rId4" Type="http://schemas.openxmlformats.org/officeDocument/2006/relationships/image" Target="../media/image7.wmf"/><Relationship Id="rId5" Type="http://schemas.openxmlformats.org/officeDocument/2006/relationships/oleObject" Target="../embeddings/oleObject5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oleObject" Target="../embeddings/oleObject53.bin"/><Relationship Id="rId4" Type="http://schemas.openxmlformats.org/officeDocument/2006/relationships/image" Target="../media/image4.wmf"/><Relationship Id="rId5" Type="http://schemas.openxmlformats.org/officeDocument/2006/relationships/oleObject" Target="../embeddings/oleObject54.bin"/><Relationship Id="rId6" Type="http://schemas.openxmlformats.org/officeDocument/2006/relationships/image" Target="../media/image5.wmf"/><Relationship Id="rId7" Type="http://schemas.openxmlformats.org/officeDocument/2006/relationships/oleObject" Target="../embeddings/oleObject55.bin"/><Relationship Id="rId8" Type="http://schemas.openxmlformats.org/officeDocument/2006/relationships/image" Target="../media/image7.wmf"/><Relationship Id="rId9" Type="http://schemas.openxmlformats.org/officeDocument/2006/relationships/image" Target="../media/image3.png"/><Relationship Id="rId10" Type="http://schemas.openxmlformats.org/officeDocument/2006/relationships/image" Target="../media/image19.png"/><Relationship Id="rId11" Type="http://schemas.openxmlformats.org/officeDocument/2006/relationships/image" Target="../media/image20.jpeg"/><Relationship Id="rId12" Type="http://schemas.openxmlformats.org/officeDocument/2006/relationships/image" Target="../media/image21.gif"/><Relationship Id="rId13" Type="http://schemas.openxmlformats.org/officeDocument/2006/relationships/hyperlink" Target="http://www.inue.uni-stuttgart.de/FMS/abschluss/uebersicht_III.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wmf"/><Relationship Id="rId4" Type="http://schemas.openxmlformats.org/officeDocument/2006/relationships/image" Target="../media/image3.png"/><Relationship Id="rId5" Type="http://schemas.openxmlformats.org/officeDocument/2006/relationships/oleObject" Target="../embeddings/oleObject56.bin"/><Relationship Id="rId6" Type="http://schemas.openxmlformats.org/officeDocument/2006/relationships/image" Target="../media/image4.wmf"/><Relationship Id="rId7" Type="http://schemas.openxmlformats.org/officeDocument/2006/relationships/oleObject" Target="../embeddings/oleObject57.bin"/><Relationship Id="rId8" Type="http://schemas.openxmlformats.org/officeDocument/2006/relationships/image" Target="../media/image5.wmf"/><Relationship Id="rId9" Type="http://schemas.openxmlformats.org/officeDocument/2006/relationships/oleObject" Target="../embeddings/oleObject58.bin"/><Relationship Id="rId10" Type="http://schemas.openxmlformats.org/officeDocument/2006/relationships/oleObject" Target="../embeddings/oleObject59.bin"/><Relationship Id="rId11" Type="http://schemas.openxmlformats.org/officeDocument/2006/relationships/oleObject" Target="../embeddings/oleObject60.bin"/><Relationship Id="rId12" Type="http://schemas.openxmlformats.org/officeDocument/2006/relationships/image" Target="../media/image7.wmf"/><Relationship Id="rId13" Type="http://schemas.openxmlformats.org/officeDocument/2006/relationships/oleObject" Target="../embeddings/oleObject61.bin"/><Relationship Id="rId14" Type="http://schemas.openxmlformats.org/officeDocument/2006/relationships/oleObject" Target="../embeddings/oleObject62.bin"/><Relationship Id="rId15" Type="http://schemas.openxmlformats.org/officeDocument/2006/relationships/oleObject" Target="../embeddings/oleObject63.bin"/><Relationship Id="rId16" Type="http://schemas.openxmlformats.org/officeDocument/2006/relationships/oleObject" Target="../embeddings/oleObject64.bin"/><Relationship Id="rId17" Type="http://schemas.openxmlformats.org/officeDocument/2006/relationships/oleObject" Target="../embeddings/oleObject65.bin"/><Relationship Id="rId18" Type="http://schemas.openxmlformats.org/officeDocument/2006/relationships/oleObject" Target="../embeddings/oleObject66.bin"/><Relationship Id="rId19" Type="http://schemas.openxmlformats.org/officeDocument/2006/relationships/oleObject" Target="../embeddings/oleObject67.bin"/><Relationship Id="rId20" Type="http://schemas.openxmlformats.org/officeDocument/2006/relationships/oleObject" Target="../embeddings/oleObject68.bin"/><Relationship Id="rId21" Type="http://schemas.openxmlformats.org/officeDocument/2006/relationships/image" Target="../media/image6.png"/><Relationship Id="rId22" Type="http://schemas.openxmlformats.org/officeDocument/2006/relationships/image" Target="../media/image22.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en.wikipedia.org/wiki/Tier_1_network" TargetMode="External"/><Relationship Id="rId3" Type="http://schemas.openxmlformats.org/officeDocument/2006/relationships/hyperlink" Target="http://de.wikipedia.org/wiki/Tier-1"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de.wikipedia.org/wiki/Point_of_Presence" TargetMode="External"/><Relationship Id="rId4" Type="http://schemas.openxmlformats.org/officeDocument/2006/relationships/image" Target="../media/image24.wmf"/><Relationship Id="rId5"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en.wikipedia.org/wiki/Tier_1_network"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oleObject" Target="../embeddings/oleObject69.bin"/><Relationship Id="rId4" Type="http://schemas.openxmlformats.org/officeDocument/2006/relationships/image" Target="../media/image7.wmf"/><Relationship Id="rId5" Type="http://schemas.openxmlformats.org/officeDocument/2006/relationships/oleObject" Target="../embeddings/oleObject70.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oleObject" Target="../embeddings/oleObject71.bin"/><Relationship Id="rId4" Type="http://schemas.openxmlformats.org/officeDocument/2006/relationships/image" Target="../media/image7.wmf"/><Relationship Id="rId5" Type="http://schemas.openxmlformats.org/officeDocument/2006/relationships/image" Target="../media/image26.png"/><Relationship Id="rId6"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72.bin"/><Relationship Id="rId3" Type="http://schemas.openxmlformats.org/officeDocument/2006/relationships/image" Target="../media/image7.wmf"/><Relationship Id="rId4" Type="http://schemas.openxmlformats.org/officeDocument/2006/relationships/oleObject" Target="../embeddings/oleObject73.bin"/><Relationship Id="rId5" Type="http://schemas.openxmlformats.org/officeDocument/2006/relationships/oleObject" Target="../embeddings/oleObject74.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de.wikipedia.org/wiki/Wireless_LAN" TargetMode="External"/><Relationship Id="rId3" Type="http://schemas.openxmlformats.org/officeDocument/2006/relationships/hyperlink" Target="http://de.wikipedia.org/wiki/IEEE_802.11" TargetMode="External"/><Relationship Id="rId4" Type="http://schemas.openxmlformats.org/officeDocument/2006/relationships/hyperlink" Target="http://de.wikipedia.org/wiki/Global_System_for_Mobile_Communications" TargetMode="External"/><Relationship Id="rId5" Type="http://schemas.openxmlformats.org/officeDocument/2006/relationships/hyperlink" Target="http://de.wikipedia.org/wiki/Universal_Mobile_Telecommunications_System" TargetMode="External"/><Relationship Id="rId6" Type="http://schemas.openxmlformats.org/officeDocument/2006/relationships/hyperlink" Target="http://de.wikipedia.org/wiki/Long_Term_Evolution" TargetMode="External"/><Relationship Id="rId7" Type="http://schemas.openxmlformats.org/officeDocument/2006/relationships/hyperlink" Target="http://de.wikipedia.org/wiki/WiMAX" TargetMode="External"/><Relationship Id="rId8" Type="http://schemas.openxmlformats.org/officeDocument/2006/relationships/oleObject" Target="../embeddings/oleObject75.bin"/><Relationship Id="rId9" Type="http://schemas.openxmlformats.org/officeDocument/2006/relationships/image" Target="../media/image4.wmf"/><Relationship Id="rId10" Type="http://schemas.openxmlformats.org/officeDocument/2006/relationships/oleObject" Target="../embeddings/oleObject76.bin"/><Relationship Id="rId11" Type="http://schemas.openxmlformats.org/officeDocument/2006/relationships/image" Target="../media/image5.wmf"/><Relationship Id="rId12" Type="http://schemas.openxmlformats.org/officeDocument/2006/relationships/oleObject" Target="../embeddings/oleObject77.bin"/><Relationship Id="rId13" Type="http://schemas.openxmlformats.org/officeDocument/2006/relationships/oleObject" Target="../embeddings/oleObject78.bin"/><Relationship Id="rId14" Type="http://schemas.openxmlformats.org/officeDocument/2006/relationships/oleObject" Target="../embeddings/oleObject79.bin"/><Relationship Id="rId15" Type="http://schemas.openxmlformats.org/officeDocument/2006/relationships/oleObject" Target="../embeddings/oleObject80.bin"/><Relationship Id="rId16" Type="http://schemas.openxmlformats.org/officeDocument/2006/relationships/oleObject" Target="../embeddings/oleObject81.bin"/><Relationship Id="rId17" Type="http://schemas.openxmlformats.org/officeDocument/2006/relationships/oleObject" Target="../embeddings/oleObject82.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hyperlink" Target="http://de.wikipedia.org/wiki/Twisted_Pair" TargetMode="External"/><Relationship Id="rId5" Type="http://schemas.openxmlformats.org/officeDocument/2006/relationships/image" Target="../media/image31.png"/><Relationship Id="rId6" Type="http://schemas.openxmlformats.org/officeDocument/2006/relationships/hyperlink" Target="http://de.wikipedia.org/wiki/TIA-568A/B" TargetMode="External"/><Relationship Id="rId7"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15616" y="3717032"/>
            <a:ext cx="7056784" cy="1159768"/>
          </a:xfrm>
        </p:spPr>
        <p:txBody>
          <a:bodyPr>
            <a:noAutofit/>
          </a:bodyPr>
          <a:lstStyle/>
          <a:p>
            <a:r>
              <a:rPr lang="de-DE" sz="3600" dirty="0"/>
              <a:t>Betriebssysteme und Netzwerke</a:t>
            </a:r>
            <a:br>
              <a:rPr lang="de-DE" sz="3600" dirty="0"/>
            </a:br>
            <a:r>
              <a:rPr lang="de-DE" sz="3600" dirty="0"/>
              <a:t>Vorlesung N01</a:t>
            </a:r>
            <a:endParaRPr lang="en-US" sz="3600" dirty="0"/>
          </a:p>
        </p:txBody>
      </p:sp>
      <p:sp>
        <p:nvSpPr>
          <p:cNvPr id="3" name="Untertitel 2"/>
          <p:cNvSpPr>
            <a:spLocks noGrp="1"/>
          </p:cNvSpPr>
          <p:nvPr>
            <p:ph type="subTitle" idx="1"/>
          </p:nvPr>
        </p:nvSpPr>
        <p:spPr>
          <a:xfrm>
            <a:off x="5786446" y="5124450"/>
            <a:ext cx="2290754" cy="533400"/>
          </a:xfrm>
        </p:spPr>
        <p:txBody>
          <a:bodyPr>
            <a:normAutofit/>
          </a:bodyPr>
          <a:lstStyle/>
          <a:p>
            <a:r>
              <a:rPr lang="de-DE" dirty="0"/>
              <a:t>Artur Andrzejak</a:t>
            </a:r>
          </a:p>
        </p:txBody>
      </p:sp>
      <p:sp>
        <p:nvSpPr>
          <p:cNvPr id="4" name="Untertitel 2"/>
          <p:cNvSpPr txBox="1">
            <a:spLocks/>
          </p:cNvSpPr>
          <p:nvPr/>
        </p:nvSpPr>
        <p:spPr>
          <a:xfrm>
            <a:off x="1214414" y="5072074"/>
            <a:ext cx="1214446" cy="642942"/>
          </a:xfrm>
          <a:prstGeom prst="rect">
            <a:avLst/>
          </a:prstGeom>
        </p:spPr>
        <p:txBody>
          <a:bodyPr vert="horz">
            <a:noAutofit/>
          </a:bodyPr>
          <a:lstStyle/>
          <a:p>
            <a:pPr marL="0" marR="0" lvl="0" indent="0"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a:t>
            </a:fld>
            <a:endParaRPr lang="de-DE" dirty="0"/>
          </a:p>
        </p:txBody>
      </p:sp>
      <p:sp>
        <p:nvSpPr>
          <p:cNvPr id="3" name="Titel 2"/>
          <p:cNvSpPr>
            <a:spLocks noGrp="1"/>
          </p:cNvSpPr>
          <p:nvPr>
            <p:ph type="title"/>
          </p:nvPr>
        </p:nvSpPr>
        <p:spPr/>
        <p:txBody>
          <a:bodyPr/>
          <a:lstStyle/>
          <a:p>
            <a:r>
              <a:rPr lang="de-DE" dirty="0"/>
              <a:t>Internet - Grundbegriffe</a:t>
            </a:r>
          </a:p>
        </p:txBody>
      </p:sp>
      <p:sp>
        <p:nvSpPr>
          <p:cNvPr id="4" name="Textfeld 3"/>
          <p:cNvSpPr txBox="1"/>
          <p:nvPr/>
        </p:nvSpPr>
        <p:spPr>
          <a:xfrm>
            <a:off x="899592" y="4581128"/>
            <a:ext cx="7488832" cy="156966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de-DE" sz="2400" dirty="0">
                <a:solidFill>
                  <a:schemeClr val="tx1"/>
                </a:solidFill>
              </a:rPr>
              <a:t>Folien zum großen Teil auf Basis der Materialien aus:</a:t>
            </a:r>
          </a:p>
          <a:p>
            <a:pPr algn="ctr"/>
            <a:endParaRPr lang="de-DE" sz="2400" dirty="0">
              <a:solidFill>
                <a:schemeClr val="tx1"/>
              </a:solidFill>
            </a:endParaRPr>
          </a:p>
          <a:p>
            <a:pPr algn="ctr"/>
            <a:r>
              <a:rPr lang="de-DE" sz="2400" dirty="0">
                <a:solidFill>
                  <a:schemeClr val="tx1"/>
                </a:solidFill>
              </a:rPr>
              <a:t>Computer Networking: A Top Down Approach, 5th </a:t>
            </a:r>
            <a:r>
              <a:rPr lang="de-DE" sz="2400" dirty="0" err="1">
                <a:solidFill>
                  <a:schemeClr val="tx1"/>
                </a:solidFill>
              </a:rPr>
              <a:t>ed</a:t>
            </a:r>
            <a:r>
              <a:rPr lang="de-DE" sz="2400" dirty="0">
                <a:solidFill>
                  <a:schemeClr val="tx1"/>
                </a:solidFill>
              </a:rPr>
              <a:t>. </a:t>
            </a:r>
          </a:p>
          <a:p>
            <a:pPr algn="ctr"/>
            <a:r>
              <a:rPr lang="de-DE" sz="2400" dirty="0">
                <a:solidFill>
                  <a:schemeClr val="tx1"/>
                </a:solidFill>
              </a:rPr>
              <a:t>Jim </a:t>
            </a:r>
            <a:r>
              <a:rPr lang="de-DE" sz="2400" dirty="0" err="1">
                <a:solidFill>
                  <a:schemeClr val="tx1"/>
                </a:solidFill>
              </a:rPr>
              <a:t>Kurose</a:t>
            </a:r>
            <a:r>
              <a:rPr lang="de-DE" sz="2400" dirty="0">
                <a:solidFill>
                  <a:schemeClr val="tx1"/>
                </a:solidFill>
              </a:rPr>
              <a:t>, Keith Ross, Addison-Wesley, April 2009</a:t>
            </a:r>
          </a:p>
        </p:txBody>
      </p:sp>
      <p:sp>
        <p:nvSpPr>
          <p:cNvPr id="5" name="Titel 2"/>
          <p:cNvSpPr txBox="1">
            <a:spLocks/>
          </p:cNvSpPr>
          <p:nvPr/>
        </p:nvSpPr>
        <p:spPr>
          <a:xfrm>
            <a:off x="1043608" y="341040"/>
            <a:ext cx="7200800" cy="2160240"/>
          </a:xfrm>
          <a:prstGeom prst="rect">
            <a:avLst/>
          </a:prstGeom>
        </p:spPr>
        <p:txBody>
          <a:bodyPr vert="horz" anchor="ctr" anchorCtr="0">
            <a:normAutofit/>
          </a:bodyPr>
          <a:lstStyle>
            <a:lvl1pPr algn="ctr" rtl="0" eaLnBrk="1" latinLnBrk="0" hangingPunct="1">
              <a:spcBef>
                <a:spcPct val="0"/>
              </a:spcBef>
              <a:buNone/>
              <a:defRPr kumimoji="0" sz="4000" kern="1200">
                <a:solidFill>
                  <a:schemeClr val="tx2"/>
                </a:solidFill>
                <a:latin typeface="+mj-lt"/>
                <a:ea typeface="+mj-ea"/>
                <a:cs typeface="+mj-cs"/>
              </a:defRPr>
            </a:lvl1pPr>
          </a:lstStyle>
          <a:p>
            <a:r>
              <a:rPr lang="de-DE"/>
              <a:t>Ende Betriebssysteme</a:t>
            </a:r>
            <a:br>
              <a:rPr lang="de-DE"/>
            </a:br>
            <a:r>
              <a:rPr lang="de-DE"/>
              <a:t>-------------------------------</a:t>
            </a:r>
            <a:br>
              <a:rPr lang="de-DE"/>
            </a:br>
            <a:r>
              <a:rPr lang="de-DE"/>
              <a:t>Start Netzwerke</a:t>
            </a:r>
            <a:endParaRPr lang="de-DE" dirty="0"/>
          </a:p>
        </p:txBody>
      </p:sp>
    </p:spTree>
    <p:extLst>
      <p:ext uri="{BB962C8B-B14F-4D97-AF65-F5344CB8AC3E}">
        <p14:creationId xmlns:p14="http://schemas.microsoft.com/office/powerpoint/2010/main" val="2327279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 name="Rectangle 2"/>
          <p:cNvSpPr>
            <a:spLocks noGrp="1" noChangeArrowheads="1"/>
          </p:cNvSpPr>
          <p:nvPr>
            <p:ph type="title"/>
          </p:nvPr>
        </p:nvSpPr>
        <p:spPr/>
        <p:txBody>
          <a:bodyPr/>
          <a:lstStyle/>
          <a:p>
            <a:r>
              <a:rPr lang="de-DE" sz="3200" dirty="0"/>
              <a:t>Internet – Drei „Reale“ Bestandteile</a:t>
            </a:r>
            <a:endParaRPr lang="de-DE" dirty="0"/>
          </a:p>
        </p:txBody>
      </p:sp>
      <p:sp>
        <p:nvSpPr>
          <p:cNvPr id="1043" name="Slide Number Placeholder 6"/>
          <p:cNvSpPr>
            <a:spLocks noGrp="1"/>
          </p:cNvSpPr>
          <p:nvPr>
            <p:ph type="sldNum" sz="quarter" idx="12"/>
          </p:nvPr>
        </p:nvSpPr>
        <p:spPr>
          <a:noFill/>
        </p:spPr>
        <p:txBody>
          <a:bodyPr/>
          <a:lstStyle/>
          <a:p>
            <a:fld id="{7183533A-8A50-4A1F-BEA9-C8C6956451EB}" type="slidenum">
              <a:rPr lang="en-US" smtClean="0"/>
              <a:pPr/>
              <a:t>3</a:t>
            </a:fld>
            <a:endParaRPr lang="de-DE" dirty="0"/>
          </a:p>
        </p:txBody>
      </p:sp>
      <p:sp>
        <p:nvSpPr>
          <p:cNvPr id="4099" name="Rectangle 3"/>
          <p:cNvSpPr>
            <a:spLocks noGrp="1" noChangeArrowheads="1"/>
          </p:cNvSpPr>
          <p:nvPr>
            <p:ph sz="quarter" idx="1"/>
          </p:nvPr>
        </p:nvSpPr>
        <p:spPr/>
        <p:txBody>
          <a:bodyPr>
            <a:normAutofit/>
          </a:bodyPr>
          <a:lstStyle/>
          <a:p>
            <a:r>
              <a:rPr lang="de-DE" sz="2400" dirty="0"/>
              <a:t>1. Millionen von </a:t>
            </a:r>
            <a:r>
              <a:rPr lang="de-DE" sz="2400" b="1" dirty="0">
                <a:solidFill>
                  <a:srgbClr val="FF0000"/>
                </a:solidFill>
              </a:rPr>
              <a:t>Hosts </a:t>
            </a:r>
            <a:r>
              <a:rPr lang="de-DE" sz="2400" dirty="0"/>
              <a:t>(</a:t>
            </a:r>
            <a:r>
              <a:rPr lang="de-DE" sz="2400" b="1" dirty="0">
                <a:solidFill>
                  <a:srgbClr val="FF0000"/>
                </a:solidFill>
              </a:rPr>
              <a:t>Endsysteme</a:t>
            </a:r>
            <a:r>
              <a:rPr lang="de-DE" sz="2400" dirty="0"/>
              <a:t>)</a:t>
            </a:r>
            <a:endParaRPr lang="de-DE" sz="2400" b="1" dirty="0">
              <a:solidFill>
                <a:srgbClr val="FF0000"/>
              </a:solidFill>
            </a:endParaRPr>
          </a:p>
          <a:p>
            <a:pPr lvl="1"/>
            <a:r>
              <a:rPr lang="de-DE" dirty="0">
                <a:solidFill>
                  <a:schemeClr val="tx1"/>
                </a:solidFill>
              </a:rPr>
              <a:t>„Gastgeber“ für Netzwerkanwendungen („to host“ = bewirten)</a:t>
            </a:r>
          </a:p>
        </p:txBody>
      </p:sp>
      <p:grpSp>
        <p:nvGrpSpPr>
          <p:cNvPr id="2" name="Group 262"/>
          <p:cNvGrpSpPr>
            <a:grpSpLocks/>
          </p:cNvGrpSpPr>
          <p:nvPr/>
        </p:nvGrpSpPr>
        <p:grpSpPr bwMode="auto">
          <a:xfrm>
            <a:off x="4989518" y="1319213"/>
            <a:ext cx="3648077" cy="4489450"/>
            <a:chOff x="3177" y="1065"/>
            <a:chExt cx="2298" cy="2828"/>
          </a:xfrm>
        </p:grpSpPr>
        <p:sp>
          <p:nvSpPr>
            <p:cNvPr id="1134" name="Freeform 263"/>
            <p:cNvSpPr>
              <a:spLocks/>
            </p:cNvSpPr>
            <p:nvPr/>
          </p:nvSpPr>
          <p:spPr bwMode="auto">
            <a:xfrm>
              <a:off x="4261" y="2412"/>
              <a:ext cx="828" cy="425"/>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w="9525">
              <a:noFill/>
              <a:round/>
              <a:headEnd/>
              <a:tailEnd/>
            </a:ln>
          </p:spPr>
          <p:txBody>
            <a:bodyPr/>
            <a:lstStyle/>
            <a:p>
              <a:endParaRPr lang="de-DE"/>
            </a:p>
          </p:txBody>
        </p:sp>
        <p:sp>
          <p:nvSpPr>
            <p:cNvPr id="1135" name="Freeform 264"/>
            <p:cNvSpPr>
              <a:spLocks/>
            </p:cNvSpPr>
            <p:nvPr/>
          </p:nvSpPr>
          <p:spPr bwMode="auto">
            <a:xfrm>
              <a:off x="4273" y="1451"/>
              <a:ext cx="1090" cy="658"/>
            </a:xfrm>
            <a:custGeom>
              <a:avLst/>
              <a:gdLst>
                <a:gd name="T0" fmla="*/ 604 w 765"/>
                <a:gd name="T1" fmla="*/ 14 h 459"/>
                <a:gd name="T2" fmla="*/ 410 w 765"/>
                <a:gd name="T3" fmla="*/ 100 h 459"/>
                <a:gd name="T4" fmla="*/ 137 w 765"/>
                <a:gd name="T5" fmla="*/ 143 h 459"/>
                <a:gd name="T6" fmla="*/ 20 w 765"/>
                <a:gd name="T7" fmla="*/ 482 h 459"/>
                <a:gd name="T8" fmla="*/ 256 w 765"/>
                <a:gd name="T9" fmla="*/ 636 h 459"/>
                <a:gd name="T10" fmla="*/ 493 w 765"/>
                <a:gd name="T11" fmla="*/ 611 h 459"/>
                <a:gd name="T12" fmla="*/ 832 w 765"/>
                <a:gd name="T13" fmla="*/ 636 h 459"/>
                <a:gd name="T14" fmla="*/ 995 w 765"/>
                <a:gd name="T15" fmla="*/ 622 h 459"/>
                <a:gd name="T16" fmla="*/ 1071 w 765"/>
                <a:gd name="T17" fmla="*/ 533 h 459"/>
                <a:gd name="T18" fmla="*/ 1069 w 765"/>
                <a:gd name="T19" fmla="*/ 227 h 459"/>
                <a:gd name="T20" fmla="*/ 943 w 765"/>
                <a:gd name="T21" fmla="*/ 49 h 459"/>
                <a:gd name="T22" fmla="*/ 604 w 765"/>
                <a:gd name="T23" fmla="*/ 14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w="9525">
              <a:noFill/>
              <a:round/>
              <a:headEnd/>
              <a:tailEnd/>
            </a:ln>
          </p:spPr>
          <p:txBody>
            <a:bodyPr/>
            <a:lstStyle/>
            <a:p>
              <a:endParaRPr lang="de-DE"/>
            </a:p>
          </p:txBody>
        </p:sp>
        <p:sp>
          <p:nvSpPr>
            <p:cNvPr id="1136" name="Freeform 265"/>
            <p:cNvSpPr>
              <a:spLocks/>
            </p:cNvSpPr>
            <p:nvPr/>
          </p:nvSpPr>
          <p:spPr bwMode="auto">
            <a:xfrm>
              <a:off x="3177" y="1267"/>
              <a:ext cx="1036" cy="675"/>
            </a:xfrm>
            <a:custGeom>
              <a:avLst/>
              <a:gdLst>
                <a:gd name="T0" fmla="*/ 648 w 1036"/>
                <a:gd name="T1" fmla="*/ 11 h 675"/>
                <a:gd name="T2" fmla="*/ 390 w 1036"/>
                <a:gd name="T3" fmla="*/ 53 h 675"/>
                <a:gd name="T4" fmla="*/ 206 w 1036"/>
                <a:gd name="T5" fmla="*/ 129 h 675"/>
                <a:gd name="T6" fmla="*/ 152 w 1036"/>
                <a:gd name="T7" fmla="*/ 229 h 675"/>
                <a:gd name="T8" fmla="*/ 22 w 1036"/>
                <a:gd name="T9" fmla="*/ 297 h 675"/>
                <a:gd name="T10" fmla="*/ 18 w 1036"/>
                <a:gd name="T11" fmla="*/ 459 h 675"/>
                <a:gd name="T12" fmla="*/ 132 w 1036"/>
                <a:gd name="T13" fmla="*/ 489 h 675"/>
                <a:gd name="T14" fmla="*/ 458 w 1036"/>
                <a:gd name="T15" fmla="*/ 489 h 675"/>
                <a:gd name="T16" fmla="*/ 598 w 1036"/>
                <a:gd name="T17" fmla="*/ 555 h 675"/>
                <a:gd name="T18" fmla="*/ 752 w 1036"/>
                <a:gd name="T19" fmla="*/ 657 h 675"/>
                <a:gd name="T20" fmla="*/ 870 w 1036"/>
                <a:gd name="T21" fmla="*/ 661 h 675"/>
                <a:gd name="T22" fmla="*/ 952 w 1036"/>
                <a:gd name="T23" fmla="*/ 603 h 675"/>
                <a:gd name="T24" fmla="*/ 992 w 1036"/>
                <a:gd name="T25" fmla="*/ 445 h 675"/>
                <a:gd name="T26" fmla="*/ 1018 w 1036"/>
                <a:gd name="T27" fmla="*/ 291 h 675"/>
                <a:gd name="T28" fmla="*/ 1022 w 1036"/>
                <a:gd name="T29" fmla="*/ 107 h 675"/>
                <a:gd name="T30" fmla="*/ 934 w 1036"/>
                <a:gd name="T31" fmla="*/ 17 h 675"/>
                <a:gd name="T32" fmla="*/ 776 w 1036"/>
                <a:gd name="T33" fmla="*/ 3 h 675"/>
                <a:gd name="T34" fmla="*/ 64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w="9525">
              <a:noFill/>
              <a:round/>
              <a:headEnd/>
              <a:tailEnd/>
            </a:ln>
          </p:spPr>
          <p:txBody>
            <a:bodyPr/>
            <a:lstStyle/>
            <a:p>
              <a:endParaRPr lang="de-DE"/>
            </a:p>
          </p:txBody>
        </p:sp>
        <p:grpSp>
          <p:nvGrpSpPr>
            <p:cNvPr id="3" name="Group 266"/>
            <p:cNvGrpSpPr>
              <a:grpSpLocks/>
            </p:cNvGrpSpPr>
            <p:nvPr/>
          </p:nvGrpSpPr>
          <p:grpSpPr bwMode="auto">
            <a:xfrm>
              <a:off x="3232" y="2108"/>
              <a:ext cx="919" cy="588"/>
              <a:chOff x="2889" y="1631"/>
              <a:chExt cx="980" cy="743"/>
            </a:xfrm>
          </p:grpSpPr>
          <p:sp>
            <p:nvSpPr>
              <p:cNvPr id="1439" name="Rectangle 267"/>
              <p:cNvSpPr>
                <a:spLocks noChangeArrowheads="1"/>
              </p:cNvSpPr>
              <p:nvPr/>
            </p:nvSpPr>
            <p:spPr bwMode="auto">
              <a:xfrm>
                <a:off x="3046" y="1841"/>
                <a:ext cx="663" cy="533"/>
              </a:xfrm>
              <a:prstGeom prst="rect">
                <a:avLst/>
              </a:prstGeom>
              <a:solidFill>
                <a:srgbClr val="00CCFF"/>
              </a:solidFill>
              <a:ln w="9525">
                <a:noFill/>
                <a:miter lim="800000"/>
                <a:headEnd/>
                <a:tailEnd/>
              </a:ln>
            </p:spPr>
            <p:txBody>
              <a:bodyPr wrap="none" anchor="ctr"/>
              <a:lstStyle/>
              <a:p>
                <a:endParaRPr lang="de-DE"/>
              </a:p>
            </p:txBody>
          </p:sp>
          <p:sp>
            <p:nvSpPr>
              <p:cNvPr id="1440" name="AutoShape 268"/>
              <p:cNvSpPr>
                <a:spLocks noChangeArrowheads="1"/>
              </p:cNvSpPr>
              <p:nvPr/>
            </p:nvSpPr>
            <p:spPr bwMode="auto">
              <a:xfrm>
                <a:off x="2889" y="1631"/>
                <a:ext cx="980" cy="253"/>
              </a:xfrm>
              <a:prstGeom prst="triangle">
                <a:avLst>
                  <a:gd name="adj" fmla="val 50000"/>
                </a:avLst>
              </a:prstGeom>
              <a:solidFill>
                <a:srgbClr val="00CCFF"/>
              </a:solidFill>
              <a:ln w="9525">
                <a:noFill/>
                <a:miter lim="800000"/>
                <a:headEnd/>
                <a:tailEnd/>
              </a:ln>
            </p:spPr>
            <p:txBody>
              <a:bodyPr wrap="none" anchor="ctr"/>
              <a:lstStyle/>
              <a:p>
                <a:pPr algn="ctr"/>
                <a:endParaRPr lang="de-DE">
                  <a:solidFill>
                    <a:srgbClr val="00CCFF"/>
                  </a:solidFill>
                </a:endParaRPr>
              </a:p>
            </p:txBody>
          </p:sp>
        </p:grpSp>
        <p:grpSp>
          <p:nvGrpSpPr>
            <p:cNvPr id="4" name="Group 269"/>
            <p:cNvGrpSpPr>
              <a:grpSpLocks/>
            </p:cNvGrpSpPr>
            <p:nvPr/>
          </p:nvGrpSpPr>
          <p:grpSpPr bwMode="auto">
            <a:xfrm>
              <a:off x="3674" y="1388"/>
              <a:ext cx="212" cy="335"/>
              <a:chOff x="3796" y="1043"/>
              <a:chExt cx="865" cy="1237"/>
            </a:xfrm>
          </p:grpSpPr>
          <p:sp>
            <p:nvSpPr>
              <p:cNvPr id="1409" name="Line 270"/>
              <p:cNvSpPr>
                <a:spLocks noChangeShapeType="1"/>
              </p:cNvSpPr>
              <p:nvPr/>
            </p:nvSpPr>
            <p:spPr bwMode="auto">
              <a:xfrm flipH="1">
                <a:off x="3992" y="1481"/>
                <a:ext cx="235" cy="724"/>
              </a:xfrm>
              <a:prstGeom prst="line">
                <a:avLst/>
              </a:prstGeom>
              <a:noFill/>
              <a:ln w="9525">
                <a:solidFill>
                  <a:schemeClr val="tx1"/>
                </a:solidFill>
                <a:round/>
                <a:headEnd/>
                <a:tailEnd/>
              </a:ln>
            </p:spPr>
            <p:txBody>
              <a:bodyPr wrap="none"/>
              <a:lstStyle/>
              <a:p>
                <a:endParaRPr lang="de-DE"/>
              </a:p>
            </p:txBody>
          </p:sp>
          <p:sp>
            <p:nvSpPr>
              <p:cNvPr id="1410" name="Line 271"/>
              <p:cNvSpPr>
                <a:spLocks noChangeShapeType="1"/>
              </p:cNvSpPr>
              <p:nvPr/>
            </p:nvSpPr>
            <p:spPr bwMode="auto">
              <a:xfrm>
                <a:off x="4227" y="1481"/>
                <a:ext cx="236" cy="720"/>
              </a:xfrm>
              <a:prstGeom prst="line">
                <a:avLst/>
              </a:prstGeom>
              <a:noFill/>
              <a:ln w="9525">
                <a:solidFill>
                  <a:schemeClr val="tx1"/>
                </a:solidFill>
                <a:round/>
                <a:headEnd/>
                <a:tailEnd/>
              </a:ln>
            </p:spPr>
            <p:txBody>
              <a:bodyPr wrap="none"/>
              <a:lstStyle/>
              <a:p>
                <a:endParaRPr lang="de-DE"/>
              </a:p>
            </p:txBody>
          </p:sp>
          <p:sp>
            <p:nvSpPr>
              <p:cNvPr id="1411" name="Line 272"/>
              <p:cNvSpPr>
                <a:spLocks noChangeShapeType="1"/>
              </p:cNvSpPr>
              <p:nvPr/>
            </p:nvSpPr>
            <p:spPr bwMode="auto">
              <a:xfrm>
                <a:off x="3992" y="2201"/>
                <a:ext cx="235" cy="79"/>
              </a:xfrm>
              <a:prstGeom prst="line">
                <a:avLst/>
              </a:prstGeom>
              <a:noFill/>
              <a:ln w="9525">
                <a:solidFill>
                  <a:schemeClr val="tx1"/>
                </a:solidFill>
                <a:round/>
                <a:headEnd/>
                <a:tailEnd/>
              </a:ln>
            </p:spPr>
            <p:txBody>
              <a:bodyPr wrap="none"/>
              <a:lstStyle/>
              <a:p>
                <a:endParaRPr lang="de-DE"/>
              </a:p>
            </p:txBody>
          </p:sp>
          <p:sp>
            <p:nvSpPr>
              <p:cNvPr id="1412" name="Line 273"/>
              <p:cNvSpPr>
                <a:spLocks noChangeShapeType="1"/>
              </p:cNvSpPr>
              <p:nvPr/>
            </p:nvSpPr>
            <p:spPr bwMode="auto">
              <a:xfrm flipH="1">
                <a:off x="4227" y="2201"/>
                <a:ext cx="236" cy="79"/>
              </a:xfrm>
              <a:prstGeom prst="line">
                <a:avLst/>
              </a:prstGeom>
              <a:noFill/>
              <a:ln w="9525">
                <a:solidFill>
                  <a:schemeClr val="tx1"/>
                </a:solidFill>
                <a:round/>
                <a:headEnd/>
                <a:tailEnd/>
              </a:ln>
            </p:spPr>
            <p:txBody>
              <a:bodyPr wrap="none"/>
              <a:lstStyle/>
              <a:p>
                <a:endParaRPr lang="de-DE"/>
              </a:p>
            </p:txBody>
          </p:sp>
          <p:sp>
            <p:nvSpPr>
              <p:cNvPr id="1413" name="Line 274"/>
              <p:cNvSpPr>
                <a:spLocks noChangeShapeType="1"/>
              </p:cNvSpPr>
              <p:nvPr/>
            </p:nvSpPr>
            <p:spPr bwMode="auto">
              <a:xfrm>
                <a:off x="4227" y="1497"/>
                <a:ext cx="0" cy="783"/>
              </a:xfrm>
              <a:prstGeom prst="line">
                <a:avLst/>
              </a:prstGeom>
              <a:noFill/>
              <a:ln w="9525">
                <a:solidFill>
                  <a:schemeClr val="tx1"/>
                </a:solidFill>
                <a:round/>
                <a:headEnd/>
                <a:tailEnd/>
              </a:ln>
            </p:spPr>
            <p:txBody>
              <a:bodyPr wrap="none"/>
              <a:lstStyle/>
              <a:p>
                <a:endParaRPr lang="de-DE"/>
              </a:p>
            </p:txBody>
          </p:sp>
          <p:sp>
            <p:nvSpPr>
              <p:cNvPr id="1414" name="Line 275"/>
              <p:cNvSpPr>
                <a:spLocks noChangeShapeType="1"/>
              </p:cNvSpPr>
              <p:nvPr/>
            </p:nvSpPr>
            <p:spPr bwMode="auto">
              <a:xfrm flipV="1">
                <a:off x="3992" y="2127"/>
                <a:ext cx="235" cy="78"/>
              </a:xfrm>
              <a:prstGeom prst="line">
                <a:avLst/>
              </a:prstGeom>
              <a:noFill/>
              <a:ln w="9525">
                <a:solidFill>
                  <a:schemeClr val="tx1"/>
                </a:solidFill>
                <a:round/>
                <a:headEnd/>
                <a:tailEnd/>
              </a:ln>
            </p:spPr>
            <p:txBody>
              <a:bodyPr wrap="none"/>
              <a:lstStyle/>
              <a:p>
                <a:endParaRPr lang="de-DE"/>
              </a:p>
            </p:txBody>
          </p:sp>
          <p:sp>
            <p:nvSpPr>
              <p:cNvPr id="1415" name="Line 276"/>
              <p:cNvSpPr>
                <a:spLocks noChangeShapeType="1"/>
              </p:cNvSpPr>
              <p:nvPr/>
            </p:nvSpPr>
            <p:spPr bwMode="auto">
              <a:xfrm flipH="1" flipV="1">
                <a:off x="4227" y="2127"/>
                <a:ext cx="236" cy="74"/>
              </a:xfrm>
              <a:prstGeom prst="line">
                <a:avLst/>
              </a:prstGeom>
              <a:noFill/>
              <a:ln w="9525">
                <a:solidFill>
                  <a:schemeClr val="tx1"/>
                </a:solidFill>
                <a:round/>
                <a:headEnd/>
                <a:tailEnd/>
              </a:ln>
            </p:spPr>
            <p:txBody>
              <a:bodyPr wrap="none"/>
              <a:lstStyle/>
              <a:p>
                <a:endParaRPr lang="de-DE"/>
              </a:p>
            </p:txBody>
          </p:sp>
          <p:sp>
            <p:nvSpPr>
              <p:cNvPr id="1416" name="Line 277"/>
              <p:cNvSpPr>
                <a:spLocks noChangeShapeType="1"/>
              </p:cNvSpPr>
              <p:nvPr/>
            </p:nvSpPr>
            <p:spPr bwMode="auto">
              <a:xfrm>
                <a:off x="4092" y="1890"/>
                <a:ext cx="135" cy="60"/>
              </a:xfrm>
              <a:prstGeom prst="line">
                <a:avLst/>
              </a:prstGeom>
              <a:noFill/>
              <a:ln w="9525">
                <a:solidFill>
                  <a:schemeClr val="tx1"/>
                </a:solidFill>
                <a:round/>
                <a:headEnd/>
                <a:tailEnd/>
              </a:ln>
            </p:spPr>
            <p:txBody>
              <a:bodyPr wrap="none"/>
              <a:lstStyle/>
              <a:p>
                <a:endParaRPr lang="de-DE"/>
              </a:p>
            </p:txBody>
          </p:sp>
          <p:sp>
            <p:nvSpPr>
              <p:cNvPr id="1417" name="Line 278"/>
              <p:cNvSpPr>
                <a:spLocks noChangeShapeType="1"/>
              </p:cNvSpPr>
              <p:nvPr/>
            </p:nvSpPr>
            <p:spPr bwMode="auto">
              <a:xfrm flipV="1">
                <a:off x="4227" y="1890"/>
                <a:ext cx="143" cy="60"/>
              </a:xfrm>
              <a:prstGeom prst="line">
                <a:avLst/>
              </a:prstGeom>
              <a:noFill/>
              <a:ln w="9525">
                <a:solidFill>
                  <a:schemeClr val="tx1"/>
                </a:solidFill>
                <a:round/>
                <a:headEnd/>
                <a:tailEnd/>
              </a:ln>
            </p:spPr>
            <p:txBody>
              <a:bodyPr wrap="none"/>
              <a:lstStyle/>
              <a:p>
                <a:endParaRPr lang="de-DE"/>
              </a:p>
            </p:txBody>
          </p:sp>
          <p:sp>
            <p:nvSpPr>
              <p:cNvPr id="1418" name="Line 279"/>
              <p:cNvSpPr>
                <a:spLocks noChangeShapeType="1"/>
              </p:cNvSpPr>
              <p:nvPr/>
            </p:nvSpPr>
            <p:spPr bwMode="auto">
              <a:xfrm>
                <a:off x="4047" y="1996"/>
                <a:ext cx="175" cy="81"/>
              </a:xfrm>
              <a:prstGeom prst="line">
                <a:avLst/>
              </a:prstGeom>
              <a:noFill/>
              <a:ln w="9525">
                <a:solidFill>
                  <a:schemeClr val="tx1"/>
                </a:solidFill>
                <a:round/>
                <a:headEnd/>
                <a:tailEnd/>
              </a:ln>
            </p:spPr>
            <p:txBody>
              <a:bodyPr wrap="none"/>
              <a:lstStyle/>
              <a:p>
                <a:endParaRPr lang="de-DE"/>
              </a:p>
            </p:txBody>
          </p:sp>
          <p:sp>
            <p:nvSpPr>
              <p:cNvPr id="1419" name="Line 280"/>
              <p:cNvSpPr>
                <a:spLocks noChangeShapeType="1"/>
              </p:cNvSpPr>
              <p:nvPr/>
            </p:nvSpPr>
            <p:spPr bwMode="auto">
              <a:xfrm flipV="1">
                <a:off x="4227" y="2012"/>
                <a:ext cx="176" cy="71"/>
              </a:xfrm>
              <a:prstGeom prst="line">
                <a:avLst/>
              </a:prstGeom>
              <a:noFill/>
              <a:ln w="9525">
                <a:solidFill>
                  <a:schemeClr val="tx1"/>
                </a:solidFill>
                <a:round/>
                <a:headEnd/>
                <a:tailEnd/>
              </a:ln>
            </p:spPr>
            <p:txBody>
              <a:bodyPr wrap="none"/>
              <a:lstStyle/>
              <a:p>
                <a:endParaRPr lang="de-DE"/>
              </a:p>
            </p:txBody>
          </p:sp>
          <p:sp>
            <p:nvSpPr>
              <p:cNvPr id="1420" name="Line 281"/>
              <p:cNvSpPr>
                <a:spLocks noChangeShapeType="1"/>
              </p:cNvSpPr>
              <p:nvPr/>
            </p:nvSpPr>
            <p:spPr bwMode="auto">
              <a:xfrm flipV="1">
                <a:off x="4227" y="1782"/>
                <a:ext cx="90" cy="29"/>
              </a:xfrm>
              <a:prstGeom prst="line">
                <a:avLst/>
              </a:prstGeom>
              <a:noFill/>
              <a:ln w="9525">
                <a:solidFill>
                  <a:schemeClr val="tx1"/>
                </a:solidFill>
                <a:round/>
                <a:headEnd/>
                <a:tailEnd/>
              </a:ln>
            </p:spPr>
            <p:txBody>
              <a:bodyPr wrap="none"/>
              <a:lstStyle/>
              <a:p>
                <a:endParaRPr lang="de-DE"/>
              </a:p>
            </p:txBody>
          </p:sp>
          <p:sp>
            <p:nvSpPr>
              <p:cNvPr id="1421" name="Line 282"/>
              <p:cNvSpPr>
                <a:spLocks noChangeShapeType="1"/>
              </p:cNvSpPr>
              <p:nvPr/>
            </p:nvSpPr>
            <p:spPr bwMode="auto">
              <a:xfrm flipV="1">
                <a:off x="4227" y="1632"/>
                <a:ext cx="57" cy="22"/>
              </a:xfrm>
              <a:prstGeom prst="line">
                <a:avLst/>
              </a:prstGeom>
              <a:noFill/>
              <a:ln w="9525">
                <a:solidFill>
                  <a:schemeClr val="tx1"/>
                </a:solidFill>
                <a:round/>
                <a:headEnd/>
                <a:tailEnd/>
              </a:ln>
            </p:spPr>
            <p:txBody>
              <a:bodyPr wrap="none"/>
              <a:lstStyle/>
              <a:p>
                <a:endParaRPr lang="de-DE"/>
              </a:p>
            </p:txBody>
          </p:sp>
          <p:sp>
            <p:nvSpPr>
              <p:cNvPr id="1422" name="Line 283"/>
              <p:cNvSpPr>
                <a:spLocks noChangeShapeType="1"/>
              </p:cNvSpPr>
              <p:nvPr/>
            </p:nvSpPr>
            <p:spPr bwMode="auto">
              <a:xfrm>
                <a:off x="4126" y="1772"/>
                <a:ext cx="109" cy="39"/>
              </a:xfrm>
              <a:prstGeom prst="line">
                <a:avLst/>
              </a:prstGeom>
              <a:noFill/>
              <a:ln w="9525">
                <a:solidFill>
                  <a:schemeClr val="tx1"/>
                </a:solidFill>
                <a:round/>
                <a:headEnd/>
                <a:tailEnd/>
              </a:ln>
            </p:spPr>
            <p:txBody>
              <a:bodyPr wrap="none"/>
              <a:lstStyle/>
              <a:p>
                <a:endParaRPr lang="de-DE"/>
              </a:p>
            </p:txBody>
          </p:sp>
          <p:sp>
            <p:nvSpPr>
              <p:cNvPr id="1423" name="Line 284"/>
              <p:cNvSpPr>
                <a:spLocks noChangeShapeType="1"/>
              </p:cNvSpPr>
              <p:nvPr/>
            </p:nvSpPr>
            <p:spPr bwMode="auto">
              <a:xfrm>
                <a:off x="4175" y="1625"/>
                <a:ext cx="63" cy="39"/>
              </a:xfrm>
              <a:prstGeom prst="line">
                <a:avLst/>
              </a:prstGeom>
              <a:noFill/>
              <a:ln w="9525">
                <a:solidFill>
                  <a:schemeClr val="tx1"/>
                </a:solidFill>
                <a:round/>
                <a:headEnd/>
                <a:tailEnd/>
              </a:ln>
            </p:spPr>
            <p:txBody>
              <a:bodyPr wrap="none"/>
              <a:lstStyle/>
              <a:p>
                <a:endParaRPr lang="de-DE"/>
              </a:p>
            </p:txBody>
          </p:sp>
          <p:grpSp>
            <p:nvGrpSpPr>
              <p:cNvPr id="5" name="Group 285"/>
              <p:cNvGrpSpPr>
                <a:grpSpLocks/>
              </p:cNvGrpSpPr>
              <p:nvPr/>
            </p:nvGrpSpPr>
            <p:grpSpPr bwMode="auto">
              <a:xfrm>
                <a:off x="4269" y="1415"/>
                <a:ext cx="392" cy="137"/>
                <a:chOff x="4227" y="1360"/>
                <a:chExt cx="863" cy="270"/>
              </a:xfrm>
            </p:grpSpPr>
            <p:sp>
              <p:nvSpPr>
                <p:cNvPr id="1435" name="Line 286"/>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36" name="Line 287"/>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37" name="Line 288"/>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8" name="Line 289"/>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nvGrpSpPr>
              <p:cNvPr id="6" name="Group 290"/>
              <p:cNvGrpSpPr>
                <a:grpSpLocks/>
              </p:cNvGrpSpPr>
              <p:nvPr/>
            </p:nvGrpSpPr>
            <p:grpSpPr bwMode="auto">
              <a:xfrm rot="5700496">
                <a:off x="4053" y="1170"/>
                <a:ext cx="392" cy="137"/>
                <a:chOff x="4227" y="1360"/>
                <a:chExt cx="863" cy="270"/>
              </a:xfrm>
            </p:grpSpPr>
            <p:sp>
              <p:nvSpPr>
                <p:cNvPr id="1431" name="Line 291"/>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32" name="Line 292"/>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33" name="Line 293"/>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4" name="Line 294"/>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nvGrpSpPr>
              <p:cNvPr id="7" name="Group 295"/>
              <p:cNvGrpSpPr>
                <a:grpSpLocks/>
              </p:cNvGrpSpPr>
              <p:nvPr/>
            </p:nvGrpSpPr>
            <p:grpSpPr bwMode="auto">
              <a:xfrm rot="10800000">
                <a:off x="3796" y="1402"/>
                <a:ext cx="392" cy="137"/>
                <a:chOff x="4227" y="1360"/>
                <a:chExt cx="863" cy="270"/>
              </a:xfrm>
            </p:grpSpPr>
            <p:sp>
              <p:nvSpPr>
                <p:cNvPr id="1427" name="Line 296"/>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28" name="Line 297"/>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29" name="Line 298"/>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0" name="Line 299"/>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grpSp>
          <p:nvGrpSpPr>
            <p:cNvPr id="8" name="Group 300"/>
            <p:cNvGrpSpPr>
              <a:grpSpLocks/>
            </p:cNvGrpSpPr>
            <p:nvPr/>
          </p:nvGrpSpPr>
          <p:grpSpPr bwMode="auto">
            <a:xfrm>
              <a:off x="3223" y="1598"/>
              <a:ext cx="436" cy="114"/>
              <a:chOff x="3072" y="739"/>
              <a:chExt cx="652" cy="146"/>
            </a:xfrm>
          </p:grpSpPr>
          <p:pic>
            <p:nvPicPr>
              <p:cNvPr id="1406" name="Picture 301" descr="lgv_fqmg[1]"/>
              <p:cNvPicPr>
                <a:picLocks noChangeAspect="1" noChangeArrowheads="1"/>
              </p:cNvPicPr>
              <p:nvPr/>
            </p:nvPicPr>
            <p:blipFill>
              <a:blip r:embed="rId3" cstate="print"/>
              <a:srcRect/>
              <a:stretch>
                <a:fillRect/>
              </a:stretch>
            </p:blipFill>
            <p:spPr bwMode="auto">
              <a:xfrm flipH="1">
                <a:off x="3237" y="739"/>
                <a:ext cx="487" cy="146"/>
              </a:xfrm>
              <a:prstGeom prst="rect">
                <a:avLst/>
              </a:prstGeom>
              <a:noFill/>
              <a:ln w="9525">
                <a:noFill/>
                <a:miter lim="800000"/>
                <a:headEnd/>
                <a:tailEnd/>
              </a:ln>
            </p:spPr>
          </p:pic>
          <p:sp>
            <p:nvSpPr>
              <p:cNvPr id="1407" name="Line 302"/>
              <p:cNvSpPr>
                <a:spLocks noChangeShapeType="1"/>
              </p:cNvSpPr>
              <p:nvPr/>
            </p:nvSpPr>
            <p:spPr bwMode="auto">
              <a:xfrm flipH="1">
                <a:off x="3104" y="784"/>
                <a:ext cx="88" cy="0"/>
              </a:xfrm>
              <a:prstGeom prst="line">
                <a:avLst/>
              </a:prstGeom>
              <a:noFill/>
              <a:ln w="9525">
                <a:solidFill>
                  <a:schemeClr val="tx1"/>
                </a:solidFill>
                <a:round/>
                <a:headEnd/>
                <a:tailEnd/>
              </a:ln>
            </p:spPr>
            <p:txBody>
              <a:bodyPr/>
              <a:lstStyle/>
              <a:p>
                <a:endParaRPr lang="de-DE"/>
              </a:p>
            </p:txBody>
          </p:sp>
          <p:sp>
            <p:nvSpPr>
              <p:cNvPr id="1408" name="Line 303"/>
              <p:cNvSpPr>
                <a:spLocks noChangeShapeType="1"/>
              </p:cNvSpPr>
              <p:nvPr/>
            </p:nvSpPr>
            <p:spPr bwMode="auto">
              <a:xfrm flipH="1">
                <a:off x="3072" y="760"/>
                <a:ext cx="144" cy="0"/>
              </a:xfrm>
              <a:prstGeom prst="line">
                <a:avLst/>
              </a:prstGeom>
              <a:noFill/>
              <a:ln w="9525">
                <a:solidFill>
                  <a:schemeClr val="tx1"/>
                </a:solidFill>
                <a:round/>
                <a:headEnd/>
                <a:tailEnd/>
              </a:ln>
            </p:spPr>
            <p:txBody>
              <a:bodyPr/>
              <a:lstStyle/>
              <a:p>
                <a:endParaRPr lang="de-DE"/>
              </a:p>
            </p:txBody>
          </p:sp>
        </p:grpSp>
        <p:pic>
          <p:nvPicPr>
            <p:cNvPr id="1140" name="Picture 304" descr="imgyjavg[1]"/>
            <p:cNvPicPr>
              <a:picLocks noChangeAspect="1" noChangeArrowheads="1"/>
            </p:cNvPicPr>
            <p:nvPr/>
          </p:nvPicPr>
          <p:blipFill>
            <a:blip r:embed="rId4" cstate="print"/>
            <a:srcRect/>
            <a:stretch>
              <a:fillRect/>
            </a:stretch>
          </p:blipFill>
          <p:spPr bwMode="auto">
            <a:xfrm>
              <a:off x="3399" y="1417"/>
              <a:ext cx="232" cy="168"/>
            </a:xfrm>
            <a:prstGeom prst="rect">
              <a:avLst/>
            </a:prstGeom>
            <a:noFill/>
            <a:ln w="9525">
              <a:noFill/>
              <a:miter lim="800000"/>
              <a:headEnd/>
              <a:tailEnd/>
            </a:ln>
          </p:spPr>
        </p:pic>
        <p:grpSp>
          <p:nvGrpSpPr>
            <p:cNvPr id="9" name="Group 305"/>
            <p:cNvGrpSpPr>
              <a:grpSpLocks/>
            </p:cNvGrpSpPr>
            <p:nvPr/>
          </p:nvGrpSpPr>
          <p:grpSpPr bwMode="auto">
            <a:xfrm>
              <a:off x="3880" y="1303"/>
              <a:ext cx="256" cy="269"/>
              <a:chOff x="2870" y="1518"/>
              <a:chExt cx="292" cy="320"/>
            </a:xfrm>
          </p:grpSpPr>
          <p:graphicFrame>
            <p:nvGraphicFramePr>
              <p:cNvPr id="1040" name="Object 3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26829" imgH="840406" progId="">
                      <p:embed/>
                    </p:oleObj>
                  </mc:Choice>
                  <mc:Fallback>
                    <p:oleObj name="Clip" r:id="rId5" imgW="826829" imgH="840406" progId="">
                      <p:embed/>
                      <p:pic>
                        <p:nvPicPr>
                          <p:cNvPr id="0" name="Picture 2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1" name="Object 3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8295" imgH="1199426" progId="">
                      <p:embed/>
                    </p:oleObj>
                  </mc:Choice>
                  <mc:Fallback>
                    <p:oleObj name="Clip" r:id="rId7" imgW="1268295" imgH="1199426" progId="">
                      <p:embed/>
                      <p:pic>
                        <p:nvPicPr>
                          <p:cNvPr id="0" name="Picture 2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Group 308"/>
            <p:cNvGrpSpPr>
              <a:grpSpLocks/>
            </p:cNvGrpSpPr>
            <p:nvPr/>
          </p:nvGrpSpPr>
          <p:grpSpPr bwMode="auto">
            <a:xfrm>
              <a:off x="4338" y="2487"/>
              <a:ext cx="228" cy="108"/>
              <a:chOff x="3600" y="219"/>
              <a:chExt cx="360" cy="175"/>
            </a:xfrm>
          </p:grpSpPr>
          <p:sp>
            <p:nvSpPr>
              <p:cNvPr id="1393" name="Oval 30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94" name="Line 31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95" name="Line 31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96" name="Rectangle 31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97" name="Oval 3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1" name="Group 314"/>
              <p:cNvGrpSpPr>
                <a:grpSpLocks/>
              </p:cNvGrpSpPr>
              <p:nvPr/>
            </p:nvGrpSpPr>
            <p:grpSpPr bwMode="auto">
              <a:xfrm>
                <a:off x="3686" y="244"/>
                <a:ext cx="177" cy="66"/>
                <a:chOff x="2848" y="848"/>
                <a:chExt cx="140" cy="98"/>
              </a:xfrm>
            </p:grpSpPr>
            <p:sp>
              <p:nvSpPr>
                <p:cNvPr id="1403" name="Line 3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404" name="Line 3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405" name="Line 3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2" name="Group 318"/>
              <p:cNvGrpSpPr>
                <a:grpSpLocks/>
              </p:cNvGrpSpPr>
              <p:nvPr/>
            </p:nvGrpSpPr>
            <p:grpSpPr bwMode="auto">
              <a:xfrm flipV="1">
                <a:off x="3686" y="243"/>
                <a:ext cx="177" cy="66"/>
                <a:chOff x="2848" y="848"/>
                <a:chExt cx="140" cy="98"/>
              </a:xfrm>
            </p:grpSpPr>
            <p:sp>
              <p:nvSpPr>
                <p:cNvPr id="1400" name="Line 31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401" name="Line 32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402" name="Line 32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3" name="Group 322"/>
            <p:cNvGrpSpPr>
              <a:grpSpLocks/>
            </p:cNvGrpSpPr>
            <p:nvPr/>
          </p:nvGrpSpPr>
          <p:grpSpPr bwMode="auto">
            <a:xfrm>
              <a:off x="4562" y="2663"/>
              <a:ext cx="228" cy="108"/>
              <a:chOff x="3600" y="219"/>
              <a:chExt cx="360" cy="175"/>
            </a:xfrm>
          </p:grpSpPr>
          <p:sp>
            <p:nvSpPr>
              <p:cNvPr id="1380" name="Oval 32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81" name="Line 32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82" name="Line 32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83" name="Rectangle 32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84" name="Oval 32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4" name="Group 328"/>
              <p:cNvGrpSpPr>
                <a:grpSpLocks/>
              </p:cNvGrpSpPr>
              <p:nvPr/>
            </p:nvGrpSpPr>
            <p:grpSpPr bwMode="auto">
              <a:xfrm>
                <a:off x="3686" y="244"/>
                <a:ext cx="177" cy="66"/>
                <a:chOff x="2848" y="848"/>
                <a:chExt cx="140" cy="98"/>
              </a:xfrm>
            </p:grpSpPr>
            <p:sp>
              <p:nvSpPr>
                <p:cNvPr id="1390" name="Line 32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91" name="Line 33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92" name="Line 33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5" name="Group 332"/>
              <p:cNvGrpSpPr>
                <a:grpSpLocks/>
              </p:cNvGrpSpPr>
              <p:nvPr/>
            </p:nvGrpSpPr>
            <p:grpSpPr bwMode="auto">
              <a:xfrm flipV="1">
                <a:off x="3686" y="243"/>
                <a:ext cx="177" cy="66"/>
                <a:chOff x="2848" y="848"/>
                <a:chExt cx="140" cy="98"/>
              </a:xfrm>
            </p:grpSpPr>
            <p:sp>
              <p:nvSpPr>
                <p:cNvPr id="1387" name="Line 33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88" name="Line 33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89" name="Line 33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6" name="Group 336"/>
            <p:cNvGrpSpPr>
              <a:grpSpLocks/>
            </p:cNvGrpSpPr>
            <p:nvPr/>
          </p:nvGrpSpPr>
          <p:grpSpPr bwMode="auto">
            <a:xfrm>
              <a:off x="4738" y="2495"/>
              <a:ext cx="228" cy="108"/>
              <a:chOff x="3600" y="219"/>
              <a:chExt cx="360" cy="175"/>
            </a:xfrm>
          </p:grpSpPr>
          <p:sp>
            <p:nvSpPr>
              <p:cNvPr id="1367" name="Oval 33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68" name="Line 33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69" name="Line 33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70" name="Rectangle 34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71" name="Oval 34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7" name="Group 342"/>
              <p:cNvGrpSpPr>
                <a:grpSpLocks/>
              </p:cNvGrpSpPr>
              <p:nvPr/>
            </p:nvGrpSpPr>
            <p:grpSpPr bwMode="auto">
              <a:xfrm>
                <a:off x="3686" y="244"/>
                <a:ext cx="177" cy="66"/>
                <a:chOff x="2848" y="848"/>
                <a:chExt cx="140" cy="98"/>
              </a:xfrm>
            </p:grpSpPr>
            <p:sp>
              <p:nvSpPr>
                <p:cNvPr id="1377" name="Line 34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78" name="Line 34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79" name="Line 34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8" name="Group 346"/>
              <p:cNvGrpSpPr>
                <a:grpSpLocks/>
              </p:cNvGrpSpPr>
              <p:nvPr/>
            </p:nvGrpSpPr>
            <p:grpSpPr bwMode="auto">
              <a:xfrm flipV="1">
                <a:off x="3686" y="243"/>
                <a:ext cx="177" cy="66"/>
                <a:chOff x="2848" y="848"/>
                <a:chExt cx="140" cy="98"/>
              </a:xfrm>
            </p:grpSpPr>
            <p:sp>
              <p:nvSpPr>
                <p:cNvPr id="1374" name="Line 34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75" name="Line 34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76" name="Line 34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9" name="Group 350"/>
            <p:cNvGrpSpPr>
              <a:grpSpLocks/>
            </p:cNvGrpSpPr>
            <p:nvPr/>
          </p:nvGrpSpPr>
          <p:grpSpPr bwMode="auto">
            <a:xfrm>
              <a:off x="4401" y="1766"/>
              <a:ext cx="221" cy="101"/>
              <a:chOff x="3600" y="219"/>
              <a:chExt cx="360" cy="175"/>
            </a:xfrm>
          </p:grpSpPr>
          <p:sp>
            <p:nvSpPr>
              <p:cNvPr id="1354" name="Oval 35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55" name="Line 35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56" name="Line 35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57" name="Rectangle 35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58" name="Oval 35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0" name="Group 356"/>
              <p:cNvGrpSpPr>
                <a:grpSpLocks/>
              </p:cNvGrpSpPr>
              <p:nvPr/>
            </p:nvGrpSpPr>
            <p:grpSpPr bwMode="auto">
              <a:xfrm>
                <a:off x="3686" y="244"/>
                <a:ext cx="177" cy="66"/>
                <a:chOff x="2848" y="848"/>
                <a:chExt cx="140" cy="98"/>
              </a:xfrm>
            </p:grpSpPr>
            <p:sp>
              <p:nvSpPr>
                <p:cNvPr id="1364" name="Line 35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65" name="Line 35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66" name="Line 35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1" name="Group 360"/>
              <p:cNvGrpSpPr>
                <a:grpSpLocks/>
              </p:cNvGrpSpPr>
              <p:nvPr/>
            </p:nvGrpSpPr>
            <p:grpSpPr bwMode="auto">
              <a:xfrm flipV="1">
                <a:off x="3686" y="243"/>
                <a:ext cx="177" cy="66"/>
                <a:chOff x="2848" y="848"/>
                <a:chExt cx="140" cy="98"/>
              </a:xfrm>
            </p:grpSpPr>
            <p:sp>
              <p:nvSpPr>
                <p:cNvPr id="1361" name="Line 36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62" name="Line 36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63" name="Line 36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2" name="Group 364"/>
            <p:cNvGrpSpPr>
              <a:grpSpLocks/>
            </p:cNvGrpSpPr>
            <p:nvPr/>
          </p:nvGrpSpPr>
          <p:grpSpPr bwMode="auto">
            <a:xfrm>
              <a:off x="4400" y="1927"/>
              <a:ext cx="228" cy="108"/>
              <a:chOff x="3600" y="219"/>
              <a:chExt cx="360" cy="175"/>
            </a:xfrm>
          </p:grpSpPr>
          <p:sp>
            <p:nvSpPr>
              <p:cNvPr id="1341" name="Oval 36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42" name="Line 36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43" name="Line 36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44" name="Rectangle 36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45" name="Oval 36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3" name="Group 370"/>
              <p:cNvGrpSpPr>
                <a:grpSpLocks/>
              </p:cNvGrpSpPr>
              <p:nvPr/>
            </p:nvGrpSpPr>
            <p:grpSpPr bwMode="auto">
              <a:xfrm>
                <a:off x="3686" y="244"/>
                <a:ext cx="177" cy="66"/>
                <a:chOff x="2848" y="848"/>
                <a:chExt cx="140" cy="98"/>
              </a:xfrm>
            </p:grpSpPr>
            <p:sp>
              <p:nvSpPr>
                <p:cNvPr id="1351" name="Line 37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52" name="Line 37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53" name="Line 37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4" name="Group 374"/>
              <p:cNvGrpSpPr>
                <a:grpSpLocks/>
              </p:cNvGrpSpPr>
              <p:nvPr/>
            </p:nvGrpSpPr>
            <p:grpSpPr bwMode="auto">
              <a:xfrm flipV="1">
                <a:off x="3686" y="243"/>
                <a:ext cx="177" cy="66"/>
                <a:chOff x="2848" y="848"/>
                <a:chExt cx="140" cy="98"/>
              </a:xfrm>
            </p:grpSpPr>
            <p:sp>
              <p:nvSpPr>
                <p:cNvPr id="1348" name="Line 37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49" name="Line 37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50" name="Line 37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5" name="Group 378"/>
            <p:cNvGrpSpPr>
              <a:grpSpLocks/>
            </p:cNvGrpSpPr>
            <p:nvPr/>
          </p:nvGrpSpPr>
          <p:grpSpPr bwMode="auto">
            <a:xfrm>
              <a:off x="4700" y="1706"/>
              <a:ext cx="210" cy="97"/>
              <a:chOff x="3600" y="219"/>
              <a:chExt cx="360" cy="175"/>
            </a:xfrm>
          </p:grpSpPr>
          <p:sp>
            <p:nvSpPr>
              <p:cNvPr id="1328" name="Oval 37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29" name="Line 38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30" name="Line 38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31" name="Rectangle 38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32" name="Oval 38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6" name="Group 384"/>
              <p:cNvGrpSpPr>
                <a:grpSpLocks/>
              </p:cNvGrpSpPr>
              <p:nvPr/>
            </p:nvGrpSpPr>
            <p:grpSpPr bwMode="auto">
              <a:xfrm>
                <a:off x="3686" y="244"/>
                <a:ext cx="177" cy="66"/>
                <a:chOff x="2848" y="848"/>
                <a:chExt cx="140" cy="98"/>
              </a:xfrm>
            </p:grpSpPr>
            <p:sp>
              <p:nvSpPr>
                <p:cNvPr id="1338" name="Line 38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39" name="Line 38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40" name="Line 38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7" name="Group 388"/>
              <p:cNvGrpSpPr>
                <a:grpSpLocks/>
              </p:cNvGrpSpPr>
              <p:nvPr/>
            </p:nvGrpSpPr>
            <p:grpSpPr bwMode="auto">
              <a:xfrm flipV="1">
                <a:off x="3686" y="243"/>
                <a:ext cx="177" cy="66"/>
                <a:chOff x="2848" y="848"/>
                <a:chExt cx="140" cy="98"/>
              </a:xfrm>
            </p:grpSpPr>
            <p:sp>
              <p:nvSpPr>
                <p:cNvPr id="1335" name="Line 38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36" name="Line 39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37" name="Line 39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8" name="Group 392"/>
            <p:cNvGrpSpPr>
              <a:grpSpLocks/>
            </p:cNvGrpSpPr>
            <p:nvPr/>
          </p:nvGrpSpPr>
          <p:grpSpPr bwMode="auto">
            <a:xfrm>
              <a:off x="4754" y="1927"/>
              <a:ext cx="228" cy="108"/>
              <a:chOff x="3600" y="219"/>
              <a:chExt cx="360" cy="175"/>
            </a:xfrm>
          </p:grpSpPr>
          <p:sp>
            <p:nvSpPr>
              <p:cNvPr id="1315" name="Oval 39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16" name="Line 39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17" name="Line 39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18" name="Rectangle 39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19" name="Oval 39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9" name="Group 398"/>
              <p:cNvGrpSpPr>
                <a:grpSpLocks/>
              </p:cNvGrpSpPr>
              <p:nvPr/>
            </p:nvGrpSpPr>
            <p:grpSpPr bwMode="auto">
              <a:xfrm>
                <a:off x="3686" y="244"/>
                <a:ext cx="177" cy="66"/>
                <a:chOff x="2848" y="848"/>
                <a:chExt cx="140" cy="98"/>
              </a:xfrm>
            </p:grpSpPr>
            <p:sp>
              <p:nvSpPr>
                <p:cNvPr id="1325" name="Line 39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26" name="Line 40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27" name="Line 40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30" name="Group 402"/>
              <p:cNvGrpSpPr>
                <a:grpSpLocks/>
              </p:cNvGrpSpPr>
              <p:nvPr/>
            </p:nvGrpSpPr>
            <p:grpSpPr bwMode="auto">
              <a:xfrm flipV="1">
                <a:off x="3686" y="243"/>
                <a:ext cx="177" cy="66"/>
                <a:chOff x="2848" y="848"/>
                <a:chExt cx="140" cy="98"/>
              </a:xfrm>
            </p:grpSpPr>
            <p:sp>
              <p:nvSpPr>
                <p:cNvPr id="1322" name="Line 40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23" name="Line 40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24" name="Line 40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31" name="Group 406"/>
            <p:cNvGrpSpPr>
              <a:grpSpLocks/>
            </p:cNvGrpSpPr>
            <p:nvPr/>
          </p:nvGrpSpPr>
          <p:grpSpPr bwMode="auto">
            <a:xfrm>
              <a:off x="3866" y="1763"/>
              <a:ext cx="220" cy="100"/>
              <a:chOff x="3600" y="219"/>
              <a:chExt cx="360" cy="175"/>
            </a:xfrm>
          </p:grpSpPr>
          <p:sp>
            <p:nvSpPr>
              <p:cNvPr id="1302" name="Oval 40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03" name="Line 40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04" name="Line 40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05" name="Rectangle 41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06" name="Oval 41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24" name="Group 412"/>
              <p:cNvGrpSpPr>
                <a:grpSpLocks/>
              </p:cNvGrpSpPr>
              <p:nvPr/>
            </p:nvGrpSpPr>
            <p:grpSpPr bwMode="auto">
              <a:xfrm>
                <a:off x="3686" y="244"/>
                <a:ext cx="177" cy="66"/>
                <a:chOff x="2848" y="848"/>
                <a:chExt cx="140" cy="98"/>
              </a:xfrm>
            </p:grpSpPr>
            <p:sp>
              <p:nvSpPr>
                <p:cNvPr id="1312" name="Line 41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13" name="Line 41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14" name="Line 41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25" name="Group 416"/>
              <p:cNvGrpSpPr>
                <a:grpSpLocks/>
              </p:cNvGrpSpPr>
              <p:nvPr/>
            </p:nvGrpSpPr>
            <p:grpSpPr bwMode="auto">
              <a:xfrm flipV="1">
                <a:off x="3686" y="243"/>
                <a:ext cx="177" cy="66"/>
                <a:chOff x="2848" y="848"/>
                <a:chExt cx="140" cy="98"/>
              </a:xfrm>
            </p:grpSpPr>
            <p:sp>
              <p:nvSpPr>
                <p:cNvPr id="1309" name="Line 41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10" name="Line 41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11" name="Line 41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42" name="Group 420"/>
            <p:cNvGrpSpPr>
              <a:grpSpLocks/>
            </p:cNvGrpSpPr>
            <p:nvPr/>
          </p:nvGrpSpPr>
          <p:grpSpPr bwMode="auto">
            <a:xfrm>
              <a:off x="3673" y="2487"/>
              <a:ext cx="220" cy="100"/>
              <a:chOff x="3600" y="219"/>
              <a:chExt cx="360" cy="175"/>
            </a:xfrm>
          </p:grpSpPr>
          <p:sp>
            <p:nvSpPr>
              <p:cNvPr id="1289" name="Oval 42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90" name="Line 42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91" name="Line 42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92" name="Rectangle 42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93" name="Oval 42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45" name="Group 426"/>
              <p:cNvGrpSpPr>
                <a:grpSpLocks/>
              </p:cNvGrpSpPr>
              <p:nvPr/>
            </p:nvGrpSpPr>
            <p:grpSpPr bwMode="auto">
              <a:xfrm>
                <a:off x="3686" y="244"/>
                <a:ext cx="177" cy="66"/>
                <a:chOff x="2848" y="848"/>
                <a:chExt cx="140" cy="98"/>
              </a:xfrm>
            </p:grpSpPr>
            <p:sp>
              <p:nvSpPr>
                <p:cNvPr id="1299" name="Line 42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00" name="Line 42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01" name="Line 42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46" name="Group 430"/>
              <p:cNvGrpSpPr>
                <a:grpSpLocks/>
              </p:cNvGrpSpPr>
              <p:nvPr/>
            </p:nvGrpSpPr>
            <p:grpSpPr bwMode="auto">
              <a:xfrm flipV="1">
                <a:off x="3686" y="243"/>
                <a:ext cx="177" cy="66"/>
                <a:chOff x="2848" y="848"/>
                <a:chExt cx="140" cy="98"/>
              </a:xfrm>
            </p:grpSpPr>
            <p:sp>
              <p:nvSpPr>
                <p:cNvPr id="1296" name="Line 43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97" name="Line 43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98" name="Line 43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51" name="Line 434"/>
            <p:cNvSpPr>
              <a:spLocks noChangeShapeType="1"/>
            </p:cNvSpPr>
            <p:nvPr/>
          </p:nvSpPr>
          <p:spPr bwMode="auto">
            <a:xfrm flipV="1">
              <a:off x="4430" y="2757"/>
              <a:ext cx="143" cy="275"/>
            </a:xfrm>
            <a:prstGeom prst="line">
              <a:avLst/>
            </a:prstGeom>
            <a:noFill/>
            <a:ln w="9525">
              <a:solidFill>
                <a:schemeClr val="tx1"/>
              </a:solidFill>
              <a:round/>
              <a:headEnd/>
              <a:tailEnd/>
            </a:ln>
          </p:spPr>
          <p:txBody>
            <a:bodyPr/>
            <a:lstStyle/>
            <a:p>
              <a:endParaRPr lang="de-DE"/>
            </a:p>
          </p:txBody>
        </p:sp>
        <p:sp>
          <p:nvSpPr>
            <p:cNvPr id="1152" name="Line 435"/>
            <p:cNvSpPr>
              <a:spLocks noChangeShapeType="1"/>
            </p:cNvSpPr>
            <p:nvPr/>
          </p:nvSpPr>
          <p:spPr bwMode="auto">
            <a:xfrm>
              <a:off x="4508" y="2592"/>
              <a:ext cx="103" cy="76"/>
            </a:xfrm>
            <a:prstGeom prst="line">
              <a:avLst/>
            </a:prstGeom>
            <a:noFill/>
            <a:ln w="9525">
              <a:solidFill>
                <a:schemeClr val="tx1"/>
              </a:solidFill>
              <a:round/>
              <a:headEnd/>
              <a:tailEnd/>
            </a:ln>
          </p:spPr>
          <p:txBody>
            <a:bodyPr/>
            <a:lstStyle/>
            <a:p>
              <a:endParaRPr lang="de-DE"/>
            </a:p>
          </p:txBody>
        </p:sp>
        <p:sp>
          <p:nvSpPr>
            <p:cNvPr id="1153" name="Line 436"/>
            <p:cNvSpPr>
              <a:spLocks noChangeShapeType="1"/>
            </p:cNvSpPr>
            <p:nvPr/>
          </p:nvSpPr>
          <p:spPr bwMode="auto">
            <a:xfrm>
              <a:off x="4569" y="2542"/>
              <a:ext cx="176" cy="0"/>
            </a:xfrm>
            <a:prstGeom prst="line">
              <a:avLst/>
            </a:prstGeom>
            <a:noFill/>
            <a:ln w="9525">
              <a:solidFill>
                <a:schemeClr val="tx1"/>
              </a:solidFill>
              <a:round/>
              <a:headEnd/>
              <a:tailEnd/>
            </a:ln>
          </p:spPr>
          <p:txBody>
            <a:bodyPr/>
            <a:lstStyle/>
            <a:p>
              <a:endParaRPr lang="de-DE"/>
            </a:p>
          </p:txBody>
        </p:sp>
        <p:sp>
          <p:nvSpPr>
            <p:cNvPr id="1154" name="Line 437"/>
            <p:cNvSpPr>
              <a:spLocks noChangeShapeType="1"/>
            </p:cNvSpPr>
            <p:nvPr/>
          </p:nvSpPr>
          <p:spPr bwMode="auto">
            <a:xfrm flipV="1">
              <a:off x="4718" y="2596"/>
              <a:ext cx="85" cy="66"/>
            </a:xfrm>
            <a:prstGeom prst="line">
              <a:avLst/>
            </a:prstGeom>
            <a:noFill/>
            <a:ln w="9525">
              <a:solidFill>
                <a:schemeClr val="tx1"/>
              </a:solidFill>
              <a:round/>
              <a:headEnd/>
              <a:tailEnd/>
            </a:ln>
          </p:spPr>
          <p:txBody>
            <a:bodyPr/>
            <a:lstStyle/>
            <a:p>
              <a:endParaRPr lang="de-DE"/>
            </a:p>
          </p:txBody>
        </p:sp>
        <p:sp>
          <p:nvSpPr>
            <p:cNvPr id="1155" name="Line 438"/>
            <p:cNvSpPr>
              <a:spLocks noChangeShapeType="1"/>
            </p:cNvSpPr>
            <p:nvPr/>
          </p:nvSpPr>
          <p:spPr bwMode="auto">
            <a:xfrm>
              <a:off x="3898" y="2546"/>
              <a:ext cx="428" cy="0"/>
            </a:xfrm>
            <a:prstGeom prst="line">
              <a:avLst/>
            </a:prstGeom>
            <a:noFill/>
            <a:ln w="9525">
              <a:solidFill>
                <a:schemeClr val="tx1"/>
              </a:solidFill>
              <a:round/>
              <a:headEnd/>
              <a:tailEnd/>
            </a:ln>
          </p:spPr>
          <p:txBody>
            <a:bodyPr/>
            <a:lstStyle/>
            <a:p>
              <a:endParaRPr lang="de-DE"/>
            </a:p>
          </p:txBody>
        </p:sp>
        <p:grpSp>
          <p:nvGrpSpPr>
            <p:cNvPr id="1047" name="Group 439"/>
            <p:cNvGrpSpPr>
              <a:grpSpLocks/>
            </p:cNvGrpSpPr>
            <p:nvPr/>
          </p:nvGrpSpPr>
          <p:grpSpPr bwMode="auto">
            <a:xfrm>
              <a:off x="3424" y="2213"/>
              <a:ext cx="209" cy="224"/>
              <a:chOff x="2870" y="1518"/>
              <a:chExt cx="292" cy="320"/>
            </a:xfrm>
          </p:grpSpPr>
          <p:graphicFrame>
            <p:nvGraphicFramePr>
              <p:cNvPr id="1038" name="Object 4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9" imgW="826829" imgH="840406" progId="">
                      <p:embed/>
                    </p:oleObj>
                  </mc:Choice>
                  <mc:Fallback>
                    <p:oleObj name="Clip" r:id="rId9" imgW="826829" imgH="840406" progId="">
                      <p:embed/>
                      <p:pic>
                        <p:nvPicPr>
                          <p:cNvPr id="0" name="Picture 2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9" name="Object 4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0" imgW="1268295" imgH="1199426" progId="">
                      <p:embed/>
                    </p:oleObj>
                  </mc:Choice>
                  <mc:Fallback>
                    <p:oleObj name="Clip" r:id="rId10" imgW="1268295" imgH="1199426" progId="">
                      <p:embed/>
                      <p:pic>
                        <p:nvPicPr>
                          <p:cNvPr id="0" name="Picture 2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48" name="Group 442"/>
            <p:cNvGrpSpPr>
              <a:grpSpLocks/>
            </p:cNvGrpSpPr>
            <p:nvPr/>
          </p:nvGrpSpPr>
          <p:grpSpPr bwMode="auto">
            <a:xfrm>
              <a:off x="3452" y="2445"/>
              <a:ext cx="139" cy="194"/>
              <a:chOff x="2556" y="2689"/>
              <a:chExt cx="183" cy="255"/>
            </a:xfrm>
          </p:grpSpPr>
          <p:pic>
            <p:nvPicPr>
              <p:cNvPr id="1272" name="Picture 443" descr="31u_bnrz[1]"/>
              <p:cNvPicPr>
                <a:picLocks noChangeAspect="1" noChangeArrowheads="1"/>
              </p:cNvPicPr>
              <p:nvPr/>
            </p:nvPicPr>
            <p:blipFill>
              <a:blip r:embed="rId11" cstate="print"/>
              <a:srcRect/>
              <a:stretch>
                <a:fillRect/>
              </a:stretch>
            </p:blipFill>
            <p:spPr bwMode="auto">
              <a:xfrm>
                <a:off x="2609" y="2770"/>
                <a:ext cx="121" cy="174"/>
              </a:xfrm>
              <a:prstGeom prst="rect">
                <a:avLst/>
              </a:prstGeom>
              <a:noFill/>
              <a:ln w="9525">
                <a:noFill/>
                <a:miter lim="800000"/>
                <a:headEnd/>
                <a:tailEnd/>
              </a:ln>
            </p:spPr>
          </p:pic>
          <p:sp>
            <p:nvSpPr>
              <p:cNvPr id="1273" name="Freeform 444"/>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74" name="Freeform 445"/>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75" name="Freeform 446"/>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276" name="Freeform 447"/>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277" name="Freeform 448"/>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278" name="Freeform 449"/>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279" name="Freeform 450"/>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280" name="Freeform 451"/>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281" name="Freeform 452"/>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282" name="Freeform 453"/>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283" name="Freeform 454"/>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round/>
                <a:headEnd/>
                <a:tailEnd/>
              </a:ln>
            </p:spPr>
            <p:txBody>
              <a:bodyPr/>
              <a:lstStyle/>
              <a:p>
                <a:endParaRPr lang="de-DE"/>
              </a:p>
            </p:txBody>
          </p:sp>
          <p:sp>
            <p:nvSpPr>
              <p:cNvPr id="1284" name="Freeform 455"/>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round/>
                <a:headEnd/>
                <a:tailEnd/>
              </a:ln>
            </p:spPr>
            <p:txBody>
              <a:bodyPr/>
              <a:lstStyle/>
              <a:p>
                <a:endParaRPr lang="de-DE"/>
              </a:p>
            </p:txBody>
          </p:sp>
          <p:sp>
            <p:nvSpPr>
              <p:cNvPr id="1285" name="Freeform 456"/>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round/>
                <a:headEnd/>
                <a:tailEnd/>
              </a:ln>
            </p:spPr>
            <p:txBody>
              <a:bodyPr/>
              <a:lstStyle/>
              <a:p>
                <a:endParaRPr lang="de-DE"/>
              </a:p>
            </p:txBody>
          </p:sp>
          <p:sp>
            <p:nvSpPr>
              <p:cNvPr id="1286" name="Freeform 457"/>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round/>
                <a:headEnd/>
                <a:tailEnd/>
              </a:ln>
            </p:spPr>
            <p:txBody>
              <a:bodyPr/>
              <a:lstStyle/>
              <a:p>
                <a:endParaRPr lang="de-DE"/>
              </a:p>
            </p:txBody>
          </p:sp>
          <p:sp>
            <p:nvSpPr>
              <p:cNvPr id="1287" name="Freeform 458"/>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round/>
                <a:headEnd/>
                <a:tailEnd/>
              </a:ln>
            </p:spPr>
            <p:txBody>
              <a:bodyPr/>
              <a:lstStyle/>
              <a:p>
                <a:endParaRPr lang="de-DE"/>
              </a:p>
            </p:txBody>
          </p:sp>
          <p:sp>
            <p:nvSpPr>
              <p:cNvPr id="1288" name="Freeform 459"/>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round/>
                <a:headEnd/>
                <a:tailEnd/>
              </a:ln>
            </p:spPr>
            <p:txBody>
              <a:bodyPr/>
              <a:lstStyle/>
              <a:p>
                <a:endParaRPr lang="de-DE"/>
              </a:p>
            </p:txBody>
          </p:sp>
        </p:grpSp>
        <p:graphicFrame>
          <p:nvGraphicFramePr>
            <p:cNvPr id="1029" name="Object 460"/>
            <p:cNvGraphicFramePr>
              <a:graphicFrameLocks noChangeAspect="1"/>
            </p:cNvGraphicFramePr>
            <p:nvPr/>
          </p:nvGraphicFramePr>
          <p:xfrm>
            <a:off x="3694" y="2240"/>
            <a:ext cx="207" cy="173"/>
          </p:xfrm>
          <a:graphic>
            <a:graphicData uri="http://schemas.openxmlformats.org/presentationml/2006/ole">
              <mc:AlternateContent xmlns:mc="http://schemas.openxmlformats.org/markup-compatibility/2006">
                <mc:Choice xmlns:v="urn:schemas-microsoft-com:vml" Requires="v">
                  <p:oleObj name="Clip" r:id="rId12" imgW="1307263" imgH="1084139" progId="">
                    <p:embed/>
                  </p:oleObj>
                </mc:Choice>
                <mc:Fallback>
                  <p:oleObj name="Clip" r:id="rId12" imgW="1307263" imgH="1084139" progId="">
                    <p:embed/>
                    <p:pic>
                      <p:nvPicPr>
                        <p:cNvPr id="0" name="Picture 2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94" y="2240"/>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8" name="Line 461"/>
            <p:cNvSpPr>
              <a:spLocks noChangeShapeType="1"/>
            </p:cNvSpPr>
            <p:nvPr/>
          </p:nvSpPr>
          <p:spPr bwMode="auto">
            <a:xfrm>
              <a:off x="4084" y="1820"/>
              <a:ext cx="321" cy="2"/>
            </a:xfrm>
            <a:prstGeom prst="line">
              <a:avLst/>
            </a:prstGeom>
            <a:noFill/>
            <a:ln w="9525">
              <a:solidFill>
                <a:schemeClr val="tx1"/>
              </a:solidFill>
              <a:round/>
              <a:headEnd/>
              <a:tailEnd/>
            </a:ln>
          </p:spPr>
          <p:txBody>
            <a:bodyPr/>
            <a:lstStyle/>
            <a:p>
              <a:endParaRPr lang="de-DE"/>
            </a:p>
          </p:txBody>
        </p:sp>
        <p:sp>
          <p:nvSpPr>
            <p:cNvPr id="1159" name="Line 462"/>
            <p:cNvSpPr>
              <a:spLocks noChangeShapeType="1"/>
            </p:cNvSpPr>
            <p:nvPr/>
          </p:nvSpPr>
          <p:spPr bwMode="auto">
            <a:xfrm>
              <a:off x="3811" y="1712"/>
              <a:ext cx="96" cy="52"/>
            </a:xfrm>
            <a:prstGeom prst="line">
              <a:avLst/>
            </a:prstGeom>
            <a:noFill/>
            <a:ln w="9525">
              <a:solidFill>
                <a:schemeClr val="tx1"/>
              </a:solidFill>
              <a:round/>
              <a:headEnd/>
              <a:tailEnd/>
            </a:ln>
          </p:spPr>
          <p:txBody>
            <a:bodyPr/>
            <a:lstStyle/>
            <a:p>
              <a:endParaRPr lang="de-DE"/>
            </a:p>
          </p:txBody>
        </p:sp>
        <p:sp>
          <p:nvSpPr>
            <p:cNvPr id="1160" name="Freeform 463"/>
            <p:cNvSpPr>
              <a:spLocks/>
            </p:cNvSpPr>
            <p:nvPr/>
          </p:nvSpPr>
          <p:spPr bwMode="auto">
            <a:xfrm>
              <a:off x="3382" y="2976"/>
              <a:ext cx="1877" cy="917"/>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w="9525">
              <a:noFill/>
              <a:round/>
              <a:headEnd/>
              <a:tailEnd/>
            </a:ln>
          </p:spPr>
          <p:txBody>
            <a:bodyPr/>
            <a:lstStyle/>
            <a:p>
              <a:endParaRPr lang="de-DE"/>
            </a:p>
          </p:txBody>
        </p:sp>
        <p:sp>
          <p:nvSpPr>
            <p:cNvPr id="1161" name="Line 464"/>
            <p:cNvSpPr>
              <a:spLocks noChangeShapeType="1"/>
            </p:cNvSpPr>
            <p:nvPr/>
          </p:nvSpPr>
          <p:spPr bwMode="auto">
            <a:xfrm rot="-5400000">
              <a:off x="4791" y="3440"/>
              <a:ext cx="330" cy="88"/>
            </a:xfrm>
            <a:prstGeom prst="line">
              <a:avLst/>
            </a:prstGeom>
            <a:noFill/>
            <a:ln w="12700">
              <a:solidFill>
                <a:schemeClr val="tx1"/>
              </a:solidFill>
              <a:round/>
              <a:headEnd/>
              <a:tailEnd/>
            </a:ln>
          </p:spPr>
          <p:txBody>
            <a:bodyPr wrap="none" anchor="ctr"/>
            <a:lstStyle/>
            <a:p>
              <a:endParaRPr lang="de-DE"/>
            </a:p>
          </p:txBody>
        </p:sp>
        <p:grpSp>
          <p:nvGrpSpPr>
            <p:cNvPr id="1049" name="Group 465"/>
            <p:cNvGrpSpPr>
              <a:grpSpLocks/>
            </p:cNvGrpSpPr>
            <p:nvPr/>
          </p:nvGrpSpPr>
          <p:grpSpPr bwMode="auto">
            <a:xfrm>
              <a:off x="4736" y="3526"/>
              <a:ext cx="125" cy="230"/>
              <a:chOff x="4180" y="783"/>
              <a:chExt cx="150" cy="307"/>
            </a:xfrm>
          </p:grpSpPr>
          <p:sp>
            <p:nvSpPr>
              <p:cNvPr id="1264" name="AutoShape 46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265" name="Rectangle 467"/>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266" name="Rectangle 46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67" name="AutoShape 46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68" name="Line 470"/>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1269" name="Line 471"/>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1270" name="Rectangle 47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71" name="Rectangle 473"/>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163" name="Line 474"/>
            <p:cNvSpPr>
              <a:spLocks noChangeShapeType="1"/>
            </p:cNvSpPr>
            <p:nvPr/>
          </p:nvSpPr>
          <p:spPr bwMode="auto">
            <a:xfrm rot="5400000" flipV="1">
              <a:off x="4883" y="3617"/>
              <a:ext cx="2" cy="54"/>
            </a:xfrm>
            <a:prstGeom prst="line">
              <a:avLst/>
            </a:prstGeom>
            <a:noFill/>
            <a:ln w="12700">
              <a:solidFill>
                <a:schemeClr val="tx1"/>
              </a:solidFill>
              <a:round/>
              <a:headEnd/>
              <a:tailEnd/>
            </a:ln>
          </p:spPr>
          <p:txBody>
            <a:bodyPr wrap="none" anchor="ctr"/>
            <a:lstStyle/>
            <a:p>
              <a:endParaRPr lang="de-DE"/>
            </a:p>
          </p:txBody>
        </p:sp>
        <p:sp>
          <p:nvSpPr>
            <p:cNvPr id="1164" name="Line 475"/>
            <p:cNvSpPr>
              <a:spLocks noChangeShapeType="1"/>
            </p:cNvSpPr>
            <p:nvPr/>
          </p:nvSpPr>
          <p:spPr bwMode="auto">
            <a:xfrm rot="-5400000">
              <a:off x="5000" y="3413"/>
              <a:ext cx="0" cy="72"/>
            </a:xfrm>
            <a:prstGeom prst="line">
              <a:avLst/>
            </a:prstGeom>
            <a:noFill/>
            <a:ln w="12700">
              <a:solidFill>
                <a:schemeClr val="tx1"/>
              </a:solidFill>
              <a:round/>
              <a:headEnd/>
              <a:tailEnd/>
            </a:ln>
          </p:spPr>
          <p:txBody>
            <a:bodyPr wrap="none" anchor="ctr"/>
            <a:lstStyle/>
            <a:p>
              <a:endParaRPr lang="de-DE"/>
            </a:p>
          </p:txBody>
        </p:sp>
        <p:grpSp>
          <p:nvGrpSpPr>
            <p:cNvPr id="1050" name="Group 476"/>
            <p:cNvGrpSpPr>
              <a:grpSpLocks/>
            </p:cNvGrpSpPr>
            <p:nvPr/>
          </p:nvGrpSpPr>
          <p:grpSpPr bwMode="auto">
            <a:xfrm>
              <a:off x="4735" y="3230"/>
              <a:ext cx="316" cy="148"/>
              <a:chOff x="3600" y="219"/>
              <a:chExt cx="360" cy="175"/>
            </a:xfrm>
          </p:grpSpPr>
          <p:sp>
            <p:nvSpPr>
              <p:cNvPr id="1251" name="Oval 4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52" name="Line 47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53" name="Line 47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54" name="Rectangle 48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55" name="Oval 4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51" name="Group 482"/>
              <p:cNvGrpSpPr>
                <a:grpSpLocks/>
              </p:cNvGrpSpPr>
              <p:nvPr/>
            </p:nvGrpSpPr>
            <p:grpSpPr bwMode="auto">
              <a:xfrm>
                <a:off x="3686" y="244"/>
                <a:ext cx="177" cy="66"/>
                <a:chOff x="2848" y="848"/>
                <a:chExt cx="140" cy="98"/>
              </a:xfrm>
            </p:grpSpPr>
            <p:sp>
              <p:nvSpPr>
                <p:cNvPr id="1261" name="Line 48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62" name="Line 48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63" name="Line 48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52" name="Group 486"/>
              <p:cNvGrpSpPr>
                <a:grpSpLocks/>
              </p:cNvGrpSpPr>
              <p:nvPr/>
            </p:nvGrpSpPr>
            <p:grpSpPr bwMode="auto">
              <a:xfrm flipV="1">
                <a:off x="3686" y="243"/>
                <a:ext cx="177" cy="66"/>
                <a:chOff x="2848" y="848"/>
                <a:chExt cx="140" cy="98"/>
              </a:xfrm>
            </p:grpSpPr>
            <p:sp>
              <p:nvSpPr>
                <p:cNvPr id="1258" name="Line 48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59" name="Line 48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60" name="Line 48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53" name="Group 490"/>
            <p:cNvGrpSpPr>
              <a:grpSpLocks/>
            </p:cNvGrpSpPr>
            <p:nvPr/>
          </p:nvGrpSpPr>
          <p:grpSpPr bwMode="auto">
            <a:xfrm>
              <a:off x="4221" y="3056"/>
              <a:ext cx="316" cy="148"/>
              <a:chOff x="3600" y="219"/>
              <a:chExt cx="360" cy="175"/>
            </a:xfrm>
          </p:grpSpPr>
          <p:sp>
            <p:nvSpPr>
              <p:cNvPr id="1238" name="Oval 49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39" name="Line 49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40" name="Line 49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41" name="Rectangle 49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42" name="Oval 49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4736" name="Group 496"/>
              <p:cNvGrpSpPr>
                <a:grpSpLocks/>
              </p:cNvGrpSpPr>
              <p:nvPr/>
            </p:nvGrpSpPr>
            <p:grpSpPr bwMode="auto">
              <a:xfrm>
                <a:off x="3686" y="244"/>
                <a:ext cx="177" cy="66"/>
                <a:chOff x="2848" y="848"/>
                <a:chExt cx="140" cy="98"/>
              </a:xfrm>
            </p:grpSpPr>
            <p:sp>
              <p:nvSpPr>
                <p:cNvPr id="1248" name="Line 49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49" name="Line 49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50" name="Line 49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737" name="Group 500"/>
              <p:cNvGrpSpPr>
                <a:grpSpLocks/>
              </p:cNvGrpSpPr>
              <p:nvPr/>
            </p:nvGrpSpPr>
            <p:grpSpPr bwMode="auto">
              <a:xfrm flipV="1">
                <a:off x="3686" y="243"/>
                <a:ext cx="177" cy="66"/>
                <a:chOff x="2848" y="848"/>
                <a:chExt cx="140" cy="98"/>
              </a:xfrm>
            </p:grpSpPr>
            <p:sp>
              <p:nvSpPr>
                <p:cNvPr id="1245" name="Line 50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46" name="Line 50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47" name="Line 50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4738" name="Group 504"/>
            <p:cNvGrpSpPr>
              <a:grpSpLocks/>
            </p:cNvGrpSpPr>
            <p:nvPr/>
          </p:nvGrpSpPr>
          <p:grpSpPr bwMode="auto">
            <a:xfrm>
              <a:off x="3802" y="3248"/>
              <a:ext cx="316" cy="148"/>
              <a:chOff x="3600" y="219"/>
              <a:chExt cx="360" cy="175"/>
            </a:xfrm>
          </p:grpSpPr>
          <p:sp>
            <p:nvSpPr>
              <p:cNvPr id="1225" name="Oval 50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26" name="Line 50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27" name="Line 50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28" name="Rectangle 50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29" name="Oval 50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4739" name="Group 510"/>
              <p:cNvGrpSpPr>
                <a:grpSpLocks/>
              </p:cNvGrpSpPr>
              <p:nvPr/>
            </p:nvGrpSpPr>
            <p:grpSpPr bwMode="auto">
              <a:xfrm>
                <a:off x="3686" y="244"/>
                <a:ext cx="177" cy="66"/>
                <a:chOff x="2848" y="848"/>
                <a:chExt cx="140" cy="98"/>
              </a:xfrm>
            </p:grpSpPr>
            <p:sp>
              <p:nvSpPr>
                <p:cNvPr id="1235" name="Line 51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36" name="Line 51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37" name="Line 51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740" name="Group 514"/>
              <p:cNvGrpSpPr>
                <a:grpSpLocks/>
              </p:cNvGrpSpPr>
              <p:nvPr/>
            </p:nvGrpSpPr>
            <p:grpSpPr bwMode="auto">
              <a:xfrm flipV="1">
                <a:off x="3686" y="243"/>
                <a:ext cx="177" cy="66"/>
                <a:chOff x="2848" y="848"/>
                <a:chExt cx="140" cy="98"/>
              </a:xfrm>
            </p:grpSpPr>
            <p:sp>
              <p:nvSpPr>
                <p:cNvPr id="1232" name="Line 5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33" name="Line 5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34" name="Line 5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68" name="Line 518"/>
            <p:cNvSpPr>
              <a:spLocks noChangeShapeType="1"/>
            </p:cNvSpPr>
            <p:nvPr/>
          </p:nvSpPr>
          <p:spPr bwMode="auto">
            <a:xfrm>
              <a:off x="4504" y="3189"/>
              <a:ext cx="226" cy="76"/>
            </a:xfrm>
            <a:prstGeom prst="line">
              <a:avLst/>
            </a:prstGeom>
            <a:noFill/>
            <a:ln w="9525">
              <a:solidFill>
                <a:schemeClr val="tx1"/>
              </a:solidFill>
              <a:round/>
              <a:headEnd/>
              <a:tailEnd/>
            </a:ln>
          </p:spPr>
          <p:txBody>
            <a:bodyPr/>
            <a:lstStyle/>
            <a:p>
              <a:endParaRPr lang="de-DE"/>
            </a:p>
          </p:txBody>
        </p:sp>
        <p:sp>
          <p:nvSpPr>
            <p:cNvPr id="1169" name="Line 519"/>
            <p:cNvSpPr>
              <a:spLocks noChangeShapeType="1"/>
            </p:cNvSpPr>
            <p:nvPr/>
          </p:nvSpPr>
          <p:spPr bwMode="auto">
            <a:xfrm flipV="1">
              <a:off x="4093" y="3197"/>
              <a:ext cx="175" cy="69"/>
            </a:xfrm>
            <a:prstGeom prst="line">
              <a:avLst/>
            </a:prstGeom>
            <a:noFill/>
            <a:ln w="9525">
              <a:solidFill>
                <a:schemeClr val="tx1"/>
              </a:solidFill>
              <a:round/>
              <a:headEnd/>
              <a:tailEnd/>
            </a:ln>
          </p:spPr>
          <p:txBody>
            <a:bodyPr/>
            <a:lstStyle/>
            <a:p>
              <a:endParaRPr lang="de-DE"/>
            </a:p>
          </p:txBody>
        </p:sp>
        <p:sp>
          <p:nvSpPr>
            <p:cNvPr id="1170" name="Line 520"/>
            <p:cNvSpPr>
              <a:spLocks noChangeShapeType="1"/>
            </p:cNvSpPr>
            <p:nvPr/>
          </p:nvSpPr>
          <p:spPr bwMode="auto">
            <a:xfrm flipV="1">
              <a:off x="4120" y="3325"/>
              <a:ext cx="612" cy="0"/>
            </a:xfrm>
            <a:prstGeom prst="line">
              <a:avLst/>
            </a:prstGeom>
            <a:noFill/>
            <a:ln w="9525">
              <a:solidFill>
                <a:schemeClr val="tx1"/>
              </a:solidFill>
              <a:round/>
              <a:headEnd/>
              <a:tailEnd/>
            </a:ln>
          </p:spPr>
          <p:txBody>
            <a:bodyPr/>
            <a:lstStyle/>
            <a:p>
              <a:endParaRPr lang="de-DE"/>
            </a:p>
          </p:txBody>
        </p:sp>
        <p:sp>
          <p:nvSpPr>
            <p:cNvPr id="1171" name="Line 521"/>
            <p:cNvSpPr>
              <a:spLocks noChangeShapeType="1"/>
            </p:cNvSpPr>
            <p:nvPr/>
          </p:nvSpPr>
          <p:spPr bwMode="auto">
            <a:xfrm flipH="1">
              <a:off x="3676" y="3165"/>
              <a:ext cx="160" cy="296"/>
            </a:xfrm>
            <a:prstGeom prst="line">
              <a:avLst/>
            </a:prstGeom>
            <a:noFill/>
            <a:ln w="9525">
              <a:solidFill>
                <a:schemeClr val="tx1"/>
              </a:solidFill>
              <a:round/>
              <a:headEnd/>
              <a:tailEnd/>
            </a:ln>
          </p:spPr>
          <p:txBody>
            <a:bodyPr/>
            <a:lstStyle/>
            <a:p>
              <a:endParaRPr lang="de-DE"/>
            </a:p>
          </p:txBody>
        </p:sp>
        <p:sp>
          <p:nvSpPr>
            <p:cNvPr id="1172" name="Line 522"/>
            <p:cNvSpPr>
              <a:spLocks noChangeShapeType="1"/>
            </p:cNvSpPr>
            <p:nvPr/>
          </p:nvSpPr>
          <p:spPr bwMode="auto">
            <a:xfrm>
              <a:off x="3692" y="3197"/>
              <a:ext cx="124" cy="0"/>
            </a:xfrm>
            <a:prstGeom prst="line">
              <a:avLst/>
            </a:prstGeom>
            <a:noFill/>
            <a:ln w="9525">
              <a:solidFill>
                <a:schemeClr val="tx1"/>
              </a:solidFill>
              <a:round/>
              <a:headEnd/>
              <a:tailEnd/>
            </a:ln>
          </p:spPr>
          <p:txBody>
            <a:bodyPr/>
            <a:lstStyle/>
            <a:p>
              <a:endParaRPr lang="de-DE"/>
            </a:p>
          </p:txBody>
        </p:sp>
        <p:sp>
          <p:nvSpPr>
            <p:cNvPr id="1173" name="Line 523"/>
            <p:cNvSpPr>
              <a:spLocks noChangeShapeType="1"/>
            </p:cNvSpPr>
            <p:nvPr/>
          </p:nvSpPr>
          <p:spPr bwMode="auto">
            <a:xfrm>
              <a:off x="3604" y="3409"/>
              <a:ext cx="97" cy="0"/>
            </a:xfrm>
            <a:prstGeom prst="line">
              <a:avLst/>
            </a:prstGeom>
            <a:noFill/>
            <a:ln w="9525">
              <a:solidFill>
                <a:schemeClr val="tx1"/>
              </a:solidFill>
              <a:round/>
              <a:headEnd/>
              <a:tailEnd/>
            </a:ln>
          </p:spPr>
          <p:txBody>
            <a:bodyPr/>
            <a:lstStyle/>
            <a:p>
              <a:endParaRPr lang="de-DE"/>
            </a:p>
          </p:txBody>
        </p:sp>
        <p:sp>
          <p:nvSpPr>
            <p:cNvPr id="1174" name="Line 524"/>
            <p:cNvSpPr>
              <a:spLocks noChangeShapeType="1"/>
            </p:cNvSpPr>
            <p:nvPr/>
          </p:nvSpPr>
          <p:spPr bwMode="auto">
            <a:xfrm>
              <a:off x="3763" y="3459"/>
              <a:ext cx="309" cy="0"/>
            </a:xfrm>
            <a:prstGeom prst="line">
              <a:avLst/>
            </a:prstGeom>
            <a:noFill/>
            <a:ln w="9525">
              <a:solidFill>
                <a:schemeClr val="tx1"/>
              </a:solidFill>
              <a:round/>
              <a:headEnd/>
              <a:tailEnd/>
            </a:ln>
          </p:spPr>
          <p:txBody>
            <a:bodyPr/>
            <a:lstStyle/>
            <a:p>
              <a:endParaRPr lang="de-DE"/>
            </a:p>
          </p:txBody>
        </p:sp>
        <p:sp>
          <p:nvSpPr>
            <p:cNvPr id="1175" name="Line 525"/>
            <p:cNvSpPr>
              <a:spLocks noChangeShapeType="1"/>
            </p:cNvSpPr>
            <p:nvPr/>
          </p:nvSpPr>
          <p:spPr bwMode="auto">
            <a:xfrm flipH="1">
              <a:off x="3914" y="3401"/>
              <a:ext cx="34" cy="54"/>
            </a:xfrm>
            <a:prstGeom prst="line">
              <a:avLst/>
            </a:prstGeom>
            <a:noFill/>
            <a:ln w="9525">
              <a:solidFill>
                <a:schemeClr val="tx1"/>
              </a:solidFill>
              <a:round/>
              <a:headEnd/>
              <a:tailEnd/>
            </a:ln>
          </p:spPr>
          <p:txBody>
            <a:bodyPr/>
            <a:lstStyle/>
            <a:p>
              <a:endParaRPr lang="de-DE"/>
            </a:p>
          </p:txBody>
        </p:sp>
        <p:sp>
          <p:nvSpPr>
            <p:cNvPr id="1176" name="Line 526"/>
            <p:cNvSpPr>
              <a:spLocks noChangeShapeType="1"/>
            </p:cNvSpPr>
            <p:nvPr/>
          </p:nvSpPr>
          <p:spPr bwMode="auto">
            <a:xfrm>
              <a:off x="3796" y="3457"/>
              <a:ext cx="1" cy="52"/>
            </a:xfrm>
            <a:prstGeom prst="line">
              <a:avLst/>
            </a:prstGeom>
            <a:noFill/>
            <a:ln w="9525">
              <a:solidFill>
                <a:schemeClr val="tx1"/>
              </a:solidFill>
              <a:round/>
              <a:headEnd/>
              <a:tailEnd/>
            </a:ln>
          </p:spPr>
          <p:txBody>
            <a:bodyPr/>
            <a:lstStyle/>
            <a:p>
              <a:endParaRPr lang="de-DE"/>
            </a:p>
          </p:txBody>
        </p:sp>
        <p:sp>
          <p:nvSpPr>
            <p:cNvPr id="1177" name="Line 527"/>
            <p:cNvSpPr>
              <a:spLocks noChangeShapeType="1"/>
            </p:cNvSpPr>
            <p:nvPr/>
          </p:nvSpPr>
          <p:spPr bwMode="auto">
            <a:xfrm flipH="1" flipV="1">
              <a:off x="4046" y="3462"/>
              <a:ext cx="0" cy="48"/>
            </a:xfrm>
            <a:prstGeom prst="line">
              <a:avLst/>
            </a:prstGeom>
            <a:noFill/>
            <a:ln w="9525">
              <a:solidFill>
                <a:schemeClr val="tx1"/>
              </a:solidFill>
              <a:round/>
              <a:headEnd/>
              <a:tailEnd/>
            </a:ln>
          </p:spPr>
          <p:txBody>
            <a:bodyPr/>
            <a:lstStyle/>
            <a:p>
              <a:endParaRPr lang="de-DE"/>
            </a:p>
          </p:txBody>
        </p:sp>
        <p:graphicFrame>
          <p:nvGraphicFramePr>
            <p:cNvPr id="1030" name="Object 528"/>
            <p:cNvGraphicFramePr>
              <a:graphicFrameLocks noChangeAspect="1"/>
            </p:cNvGraphicFramePr>
            <p:nvPr/>
          </p:nvGraphicFramePr>
          <p:xfrm>
            <a:off x="3451" y="3335"/>
            <a:ext cx="216" cy="180"/>
          </p:xfrm>
          <a:graphic>
            <a:graphicData uri="http://schemas.openxmlformats.org/presentationml/2006/ole">
              <mc:AlternateContent xmlns:mc="http://schemas.openxmlformats.org/markup-compatibility/2006">
                <mc:Choice xmlns:v="urn:schemas-microsoft-com:vml" Requires="v">
                  <p:oleObj name="Clip" r:id="rId14" imgW="1307263" imgH="1084139" progId="">
                    <p:embed/>
                  </p:oleObj>
                </mc:Choice>
                <mc:Fallback>
                  <p:oleObj name="Clip" r:id="rId14" imgW="1307263" imgH="1084139" progId="">
                    <p:embed/>
                    <p:pic>
                      <p:nvPicPr>
                        <p:cNvPr id="0" name="Picture 25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51" y="333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529"/>
            <p:cNvGraphicFramePr>
              <a:graphicFrameLocks noChangeAspect="1"/>
            </p:cNvGraphicFramePr>
            <p:nvPr/>
          </p:nvGraphicFramePr>
          <p:xfrm>
            <a:off x="3555" y="3135"/>
            <a:ext cx="216" cy="180"/>
          </p:xfrm>
          <a:graphic>
            <a:graphicData uri="http://schemas.openxmlformats.org/presentationml/2006/ole">
              <mc:AlternateContent xmlns:mc="http://schemas.openxmlformats.org/markup-compatibility/2006">
                <mc:Choice xmlns:v="urn:schemas-microsoft-com:vml" Requires="v">
                  <p:oleObj name="Clip" r:id="rId15" imgW="1307263" imgH="1084139" progId="">
                    <p:embed/>
                  </p:oleObj>
                </mc:Choice>
                <mc:Fallback>
                  <p:oleObj name="Clip" r:id="rId15" imgW="1307263" imgH="1084139" progId="">
                    <p:embed/>
                    <p:pic>
                      <p:nvPicPr>
                        <p:cNvPr id="0" name="Picture 25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55" y="313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530"/>
            <p:cNvGraphicFramePr>
              <a:graphicFrameLocks noChangeAspect="1"/>
            </p:cNvGraphicFramePr>
            <p:nvPr/>
          </p:nvGraphicFramePr>
          <p:xfrm>
            <a:off x="3723" y="3495"/>
            <a:ext cx="216" cy="180"/>
          </p:xfrm>
          <a:graphic>
            <a:graphicData uri="http://schemas.openxmlformats.org/presentationml/2006/ole">
              <mc:AlternateContent xmlns:mc="http://schemas.openxmlformats.org/markup-compatibility/2006">
                <mc:Choice xmlns:v="urn:schemas-microsoft-com:vml" Requires="v">
                  <p:oleObj name="Clip" r:id="rId16" imgW="1307263" imgH="1084139" progId="">
                    <p:embed/>
                  </p:oleObj>
                </mc:Choice>
                <mc:Fallback>
                  <p:oleObj name="Clip" r:id="rId16" imgW="1307263" imgH="1084139" progId="">
                    <p:embed/>
                    <p:pic>
                      <p:nvPicPr>
                        <p:cNvPr id="0" name="Picture 25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23" y="349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531"/>
            <p:cNvGraphicFramePr>
              <a:graphicFrameLocks noChangeAspect="1"/>
            </p:cNvGraphicFramePr>
            <p:nvPr/>
          </p:nvGraphicFramePr>
          <p:xfrm>
            <a:off x="3937" y="3497"/>
            <a:ext cx="216" cy="180"/>
          </p:xfrm>
          <a:graphic>
            <a:graphicData uri="http://schemas.openxmlformats.org/presentationml/2006/ole">
              <mc:AlternateContent xmlns:mc="http://schemas.openxmlformats.org/markup-compatibility/2006">
                <mc:Choice xmlns:v="urn:schemas-microsoft-com:vml" Requires="v">
                  <p:oleObj name="Clip" r:id="rId17" imgW="1307263" imgH="1084139" progId="">
                    <p:embed/>
                  </p:oleObj>
                </mc:Choice>
                <mc:Fallback>
                  <p:oleObj name="Clip" r:id="rId17" imgW="1307263" imgH="1084139" progId="">
                    <p:embed/>
                    <p:pic>
                      <p:nvPicPr>
                        <p:cNvPr id="0" name="Picture 25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7" y="3497"/>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741" name="Group 532"/>
            <p:cNvGrpSpPr>
              <a:grpSpLocks/>
            </p:cNvGrpSpPr>
            <p:nvPr/>
          </p:nvGrpSpPr>
          <p:grpSpPr bwMode="auto">
            <a:xfrm>
              <a:off x="4509" y="3576"/>
              <a:ext cx="172" cy="215"/>
              <a:chOff x="2870" y="1518"/>
              <a:chExt cx="292" cy="320"/>
            </a:xfrm>
          </p:grpSpPr>
          <p:graphicFrame>
            <p:nvGraphicFramePr>
              <p:cNvPr id="1036" name="Object 5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8" imgW="826829" imgH="840406" progId="">
                      <p:embed/>
                    </p:oleObj>
                  </mc:Choice>
                  <mc:Fallback>
                    <p:oleObj name="Clip" r:id="rId18" imgW="826829" imgH="840406" progId="">
                      <p:embed/>
                      <p:pic>
                        <p:nvPicPr>
                          <p:cNvPr id="0" name="Picture 2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7" name="Object 5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9" imgW="1268295" imgH="1199426" progId="">
                      <p:embed/>
                    </p:oleObj>
                  </mc:Choice>
                  <mc:Fallback>
                    <p:oleObj name="Clip" r:id="rId19" imgW="1268295" imgH="1199426" progId="">
                      <p:embed/>
                      <p:pic>
                        <p:nvPicPr>
                          <p:cNvPr id="0" name="Picture 2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742" name="Group 535"/>
            <p:cNvGrpSpPr>
              <a:grpSpLocks/>
            </p:cNvGrpSpPr>
            <p:nvPr/>
          </p:nvGrpSpPr>
          <p:grpSpPr bwMode="auto">
            <a:xfrm>
              <a:off x="4225" y="3608"/>
              <a:ext cx="220" cy="203"/>
              <a:chOff x="2870" y="1518"/>
              <a:chExt cx="292" cy="320"/>
            </a:xfrm>
          </p:grpSpPr>
          <p:graphicFrame>
            <p:nvGraphicFramePr>
              <p:cNvPr id="1034" name="Object 5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0" imgW="826829" imgH="840406" progId="">
                      <p:embed/>
                    </p:oleObj>
                  </mc:Choice>
                  <mc:Fallback>
                    <p:oleObj name="Clip" r:id="rId20" imgW="826829" imgH="840406" progId="">
                      <p:embed/>
                      <p:pic>
                        <p:nvPicPr>
                          <p:cNvPr id="0" name="Picture 2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5" name="Object 5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1" imgW="1268295" imgH="1199426" progId="">
                      <p:embed/>
                    </p:oleObj>
                  </mc:Choice>
                  <mc:Fallback>
                    <p:oleObj name="Clip" r:id="rId21" imgW="1268295" imgH="1199426" progId="">
                      <p:embed/>
                      <p:pic>
                        <p:nvPicPr>
                          <p:cNvPr id="0" name="Picture 2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743" name="Group 538"/>
            <p:cNvGrpSpPr>
              <a:grpSpLocks/>
            </p:cNvGrpSpPr>
            <p:nvPr/>
          </p:nvGrpSpPr>
          <p:grpSpPr bwMode="auto">
            <a:xfrm>
              <a:off x="4324" y="3364"/>
              <a:ext cx="183" cy="255"/>
              <a:chOff x="2556" y="2689"/>
              <a:chExt cx="183" cy="255"/>
            </a:xfrm>
          </p:grpSpPr>
          <p:pic>
            <p:nvPicPr>
              <p:cNvPr id="1208" name="Picture 539" descr="31u_bnrz[1]"/>
              <p:cNvPicPr>
                <a:picLocks noChangeAspect="1" noChangeArrowheads="1"/>
              </p:cNvPicPr>
              <p:nvPr/>
            </p:nvPicPr>
            <p:blipFill>
              <a:blip r:embed="rId11" cstate="print"/>
              <a:srcRect/>
              <a:stretch>
                <a:fillRect/>
              </a:stretch>
            </p:blipFill>
            <p:spPr bwMode="auto">
              <a:xfrm>
                <a:off x="2609" y="2770"/>
                <a:ext cx="121" cy="174"/>
              </a:xfrm>
              <a:prstGeom prst="rect">
                <a:avLst/>
              </a:prstGeom>
              <a:noFill/>
              <a:ln w="9525">
                <a:noFill/>
                <a:miter lim="800000"/>
                <a:headEnd/>
                <a:tailEnd/>
              </a:ln>
            </p:spPr>
          </p:pic>
          <p:sp>
            <p:nvSpPr>
              <p:cNvPr id="1209" name="Freeform 540"/>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10" name="Freeform 541"/>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11" name="Freeform 542"/>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212" name="Freeform 543"/>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213" name="Freeform 544"/>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214" name="Freeform 545"/>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215" name="Freeform 546"/>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216" name="Freeform 547"/>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217" name="Freeform 548"/>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218" name="Freeform 549"/>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219" name="Freeform 550"/>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round/>
                <a:headEnd/>
                <a:tailEnd/>
              </a:ln>
            </p:spPr>
            <p:txBody>
              <a:bodyPr/>
              <a:lstStyle/>
              <a:p>
                <a:endParaRPr lang="de-DE"/>
              </a:p>
            </p:txBody>
          </p:sp>
          <p:sp>
            <p:nvSpPr>
              <p:cNvPr id="1220" name="Freeform 551"/>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round/>
                <a:headEnd/>
                <a:tailEnd/>
              </a:ln>
            </p:spPr>
            <p:txBody>
              <a:bodyPr/>
              <a:lstStyle/>
              <a:p>
                <a:endParaRPr lang="de-DE"/>
              </a:p>
            </p:txBody>
          </p:sp>
          <p:sp>
            <p:nvSpPr>
              <p:cNvPr id="1221" name="Freeform 552"/>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round/>
                <a:headEnd/>
                <a:tailEnd/>
              </a:ln>
            </p:spPr>
            <p:txBody>
              <a:bodyPr/>
              <a:lstStyle/>
              <a:p>
                <a:endParaRPr lang="de-DE"/>
              </a:p>
            </p:txBody>
          </p:sp>
          <p:sp>
            <p:nvSpPr>
              <p:cNvPr id="1222" name="Freeform 553"/>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round/>
                <a:headEnd/>
                <a:tailEnd/>
              </a:ln>
            </p:spPr>
            <p:txBody>
              <a:bodyPr/>
              <a:lstStyle/>
              <a:p>
                <a:endParaRPr lang="de-DE"/>
              </a:p>
            </p:txBody>
          </p:sp>
          <p:sp>
            <p:nvSpPr>
              <p:cNvPr id="1223" name="Freeform 554"/>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round/>
                <a:headEnd/>
                <a:tailEnd/>
              </a:ln>
            </p:spPr>
            <p:txBody>
              <a:bodyPr/>
              <a:lstStyle/>
              <a:p>
                <a:endParaRPr lang="de-DE"/>
              </a:p>
            </p:txBody>
          </p:sp>
          <p:sp>
            <p:nvSpPr>
              <p:cNvPr id="1224" name="Freeform 555"/>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round/>
                <a:headEnd/>
                <a:tailEnd/>
              </a:ln>
            </p:spPr>
            <p:txBody>
              <a:bodyPr/>
              <a:lstStyle/>
              <a:p>
                <a:endParaRPr lang="de-DE"/>
              </a:p>
            </p:txBody>
          </p:sp>
        </p:grpSp>
        <p:sp>
          <p:nvSpPr>
            <p:cNvPr id="1181" name="Line 556"/>
            <p:cNvSpPr>
              <a:spLocks noChangeShapeType="1"/>
            </p:cNvSpPr>
            <p:nvPr/>
          </p:nvSpPr>
          <p:spPr bwMode="auto">
            <a:xfrm>
              <a:off x="4097" y="3373"/>
              <a:ext cx="317" cy="170"/>
            </a:xfrm>
            <a:prstGeom prst="line">
              <a:avLst/>
            </a:prstGeom>
            <a:noFill/>
            <a:ln w="9525">
              <a:solidFill>
                <a:schemeClr val="tx1"/>
              </a:solidFill>
              <a:round/>
              <a:headEnd/>
              <a:tailEnd/>
            </a:ln>
          </p:spPr>
          <p:txBody>
            <a:bodyPr/>
            <a:lstStyle/>
            <a:p>
              <a:endParaRPr lang="de-DE"/>
            </a:p>
          </p:txBody>
        </p:sp>
        <p:sp>
          <p:nvSpPr>
            <p:cNvPr id="1182" name="Line 557"/>
            <p:cNvSpPr>
              <a:spLocks noChangeShapeType="1"/>
            </p:cNvSpPr>
            <p:nvPr/>
          </p:nvSpPr>
          <p:spPr bwMode="auto">
            <a:xfrm>
              <a:off x="3750" y="3332"/>
              <a:ext cx="51" cy="0"/>
            </a:xfrm>
            <a:prstGeom prst="line">
              <a:avLst/>
            </a:prstGeom>
            <a:noFill/>
            <a:ln w="9525">
              <a:solidFill>
                <a:schemeClr val="tx1"/>
              </a:solidFill>
              <a:round/>
              <a:headEnd/>
              <a:tailEnd/>
            </a:ln>
          </p:spPr>
          <p:txBody>
            <a:bodyPr/>
            <a:lstStyle/>
            <a:p>
              <a:endParaRPr lang="de-DE"/>
            </a:p>
          </p:txBody>
        </p:sp>
        <p:grpSp>
          <p:nvGrpSpPr>
            <p:cNvPr id="4744" name="Group 558"/>
            <p:cNvGrpSpPr>
              <a:grpSpLocks/>
            </p:cNvGrpSpPr>
            <p:nvPr/>
          </p:nvGrpSpPr>
          <p:grpSpPr bwMode="auto">
            <a:xfrm>
              <a:off x="4995" y="3370"/>
              <a:ext cx="131" cy="258"/>
              <a:chOff x="4180" y="783"/>
              <a:chExt cx="150" cy="307"/>
            </a:xfrm>
          </p:grpSpPr>
          <p:sp>
            <p:nvSpPr>
              <p:cNvPr id="1200" name="AutoShape 559"/>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201" name="Rectangle 560"/>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202" name="Rectangle 56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03" name="AutoShape 56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04" name="Line 563"/>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1205" name="Line 564"/>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1206" name="Rectangle 56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07" name="Rectangle 566"/>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184" name="Line 567"/>
            <p:cNvSpPr>
              <a:spLocks noChangeShapeType="1"/>
            </p:cNvSpPr>
            <p:nvPr/>
          </p:nvSpPr>
          <p:spPr bwMode="auto">
            <a:xfrm flipH="1">
              <a:off x="3806" y="2401"/>
              <a:ext cx="2" cy="91"/>
            </a:xfrm>
            <a:prstGeom prst="line">
              <a:avLst/>
            </a:prstGeom>
            <a:noFill/>
            <a:ln w="9525">
              <a:solidFill>
                <a:schemeClr val="tx1"/>
              </a:solidFill>
              <a:round/>
              <a:headEnd/>
              <a:tailEnd/>
            </a:ln>
          </p:spPr>
          <p:txBody>
            <a:bodyPr/>
            <a:lstStyle/>
            <a:p>
              <a:endParaRPr lang="de-DE"/>
            </a:p>
          </p:txBody>
        </p:sp>
        <p:sp>
          <p:nvSpPr>
            <p:cNvPr id="1185" name="Line 568"/>
            <p:cNvSpPr>
              <a:spLocks noChangeShapeType="1"/>
            </p:cNvSpPr>
            <p:nvPr/>
          </p:nvSpPr>
          <p:spPr bwMode="auto">
            <a:xfrm flipV="1">
              <a:off x="4623" y="1760"/>
              <a:ext cx="78" cy="55"/>
            </a:xfrm>
            <a:prstGeom prst="line">
              <a:avLst/>
            </a:prstGeom>
            <a:noFill/>
            <a:ln w="9525">
              <a:solidFill>
                <a:schemeClr val="tx1"/>
              </a:solidFill>
              <a:round/>
              <a:headEnd/>
              <a:tailEnd/>
            </a:ln>
          </p:spPr>
          <p:txBody>
            <a:bodyPr/>
            <a:lstStyle/>
            <a:p>
              <a:endParaRPr lang="de-DE"/>
            </a:p>
          </p:txBody>
        </p:sp>
        <p:sp>
          <p:nvSpPr>
            <p:cNvPr id="1186" name="Line 569"/>
            <p:cNvSpPr>
              <a:spLocks noChangeShapeType="1"/>
            </p:cNvSpPr>
            <p:nvPr/>
          </p:nvSpPr>
          <p:spPr bwMode="auto">
            <a:xfrm>
              <a:off x="4514" y="1869"/>
              <a:ext cx="0" cy="52"/>
            </a:xfrm>
            <a:prstGeom prst="line">
              <a:avLst/>
            </a:prstGeom>
            <a:noFill/>
            <a:ln w="9525">
              <a:solidFill>
                <a:schemeClr val="tx1"/>
              </a:solidFill>
              <a:round/>
              <a:headEnd/>
              <a:tailEnd/>
            </a:ln>
          </p:spPr>
          <p:txBody>
            <a:bodyPr/>
            <a:lstStyle/>
            <a:p>
              <a:endParaRPr lang="de-DE"/>
            </a:p>
          </p:txBody>
        </p:sp>
        <p:sp>
          <p:nvSpPr>
            <p:cNvPr id="1187" name="Line 570"/>
            <p:cNvSpPr>
              <a:spLocks noChangeShapeType="1"/>
            </p:cNvSpPr>
            <p:nvPr/>
          </p:nvSpPr>
          <p:spPr bwMode="auto">
            <a:xfrm flipV="1">
              <a:off x="4630" y="1804"/>
              <a:ext cx="166" cy="182"/>
            </a:xfrm>
            <a:prstGeom prst="line">
              <a:avLst/>
            </a:prstGeom>
            <a:noFill/>
            <a:ln w="9525">
              <a:solidFill>
                <a:schemeClr val="tx1"/>
              </a:solidFill>
              <a:round/>
              <a:headEnd/>
              <a:tailEnd/>
            </a:ln>
          </p:spPr>
          <p:txBody>
            <a:bodyPr/>
            <a:lstStyle/>
            <a:p>
              <a:endParaRPr lang="de-DE"/>
            </a:p>
          </p:txBody>
        </p:sp>
        <p:sp>
          <p:nvSpPr>
            <p:cNvPr id="1188" name="Line 571"/>
            <p:cNvSpPr>
              <a:spLocks noChangeShapeType="1"/>
            </p:cNvSpPr>
            <p:nvPr/>
          </p:nvSpPr>
          <p:spPr bwMode="auto">
            <a:xfrm>
              <a:off x="4852" y="1803"/>
              <a:ext cx="0" cy="124"/>
            </a:xfrm>
            <a:prstGeom prst="line">
              <a:avLst/>
            </a:prstGeom>
            <a:noFill/>
            <a:ln w="9525">
              <a:solidFill>
                <a:schemeClr val="tx1"/>
              </a:solidFill>
              <a:round/>
              <a:headEnd/>
              <a:tailEnd/>
            </a:ln>
          </p:spPr>
          <p:txBody>
            <a:bodyPr/>
            <a:lstStyle/>
            <a:p>
              <a:endParaRPr lang="de-DE"/>
            </a:p>
          </p:txBody>
        </p:sp>
        <p:sp>
          <p:nvSpPr>
            <p:cNvPr id="1189" name="Line 572"/>
            <p:cNvSpPr>
              <a:spLocks noChangeShapeType="1"/>
            </p:cNvSpPr>
            <p:nvPr/>
          </p:nvSpPr>
          <p:spPr bwMode="auto">
            <a:xfrm>
              <a:off x="4634" y="1996"/>
              <a:ext cx="119" cy="0"/>
            </a:xfrm>
            <a:prstGeom prst="line">
              <a:avLst/>
            </a:prstGeom>
            <a:noFill/>
            <a:ln w="9525">
              <a:solidFill>
                <a:schemeClr val="tx1"/>
              </a:solidFill>
              <a:round/>
              <a:headEnd/>
              <a:tailEnd/>
            </a:ln>
          </p:spPr>
          <p:txBody>
            <a:bodyPr/>
            <a:lstStyle/>
            <a:p>
              <a:endParaRPr lang="de-DE"/>
            </a:p>
          </p:txBody>
        </p:sp>
        <p:sp>
          <p:nvSpPr>
            <p:cNvPr id="1190" name="Line 573"/>
            <p:cNvSpPr>
              <a:spLocks noChangeShapeType="1"/>
            </p:cNvSpPr>
            <p:nvPr/>
          </p:nvSpPr>
          <p:spPr bwMode="auto">
            <a:xfrm flipV="1">
              <a:off x="3560" y="2542"/>
              <a:ext cx="106" cy="2"/>
            </a:xfrm>
            <a:prstGeom prst="line">
              <a:avLst/>
            </a:prstGeom>
            <a:noFill/>
            <a:ln w="9525">
              <a:solidFill>
                <a:schemeClr val="tx1"/>
              </a:solidFill>
              <a:round/>
              <a:headEnd/>
              <a:tailEnd/>
            </a:ln>
          </p:spPr>
          <p:txBody>
            <a:bodyPr/>
            <a:lstStyle/>
            <a:p>
              <a:endParaRPr lang="de-DE"/>
            </a:p>
          </p:txBody>
        </p:sp>
        <p:sp>
          <p:nvSpPr>
            <p:cNvPr id="1191" name="Line 574"/>
            <p:cNvSpPr>
              <a:spLocks noChangeShapeType="1"/>
            </p:cNvSpPr>
            <p:nvPr/>
          </p:nvSpPr>
          <p:spPr bwMode="auto">
            <a:xfrm flipV="1">
              <a:off x="4895" y="1614"/>
              <a:ext cx="150" cy="106"/>
            </a:xfrm>
            <a:prstGeom prst="line">
              <a:avLst/>
            </a:prstGeom>
            <a:noFill/>
            <a:ln w="9525">
              <a:solidFill>
                <a:schemeClr val="tx1"/>
              </a:solidFill>
              <a:round/>
              <a:headEnd/>
              <a:tailEnd/>
            </a:ln>
          </p:spPr>
          <p:txBody>
            <a:bodyPr/>
            <a:lstStyle/>
            <a:p>
              <a:endParaRPr lang="de-DE"/>
            </a:p>
          </p:txBody>
        </p:sp>
        <p:sp>
          <p:nvSpPr>
            <p:cNvPr id="1192" name="Line 575"/>
            <p:cNvSpPr>
              <a:spLocks noChangeShapeType="1"/>
            </p:cNvSpPr>
            <p:nvPr/>
          </p:nvSpPr>
          <p:spPr bwMode="auto">
            <a:xfrm>
              <a:off x="4983" y="1990"/>
              <a:ext cx="112" cy="0"/>
            </a:xfrm>
            <a:prstGeom prst="line">
              <a:avLst/>
            </a:prstGeom>
            <a:noFill/>
            <a:ln w="9525">
              <a:solidFill>
                <a:schemeClr val="tx1"/>
              </a:solidFill>
              <a:round/>
              <a:headEnd/>
              <a:tailEnd/>
            </a:ln>
          </p:spPr>
          <p:txBody>
            <a:bodyPr/>
            <a:lstStyle/>
            <a:p>
              <a:endParaRPr lang="de-DE"/>
            </a:p>
          </p:txBody>
        </p:sp>
        <p:sp>
          <p:nvSpPr>
            <p:cNvPr id="1193" name="Line 576"/>
            <p:cNvSpPr>
              <a:spLocks noChangeShapeType="1"/>
            </p:cNvSpPr>
            <p:nvPr/>
          </p:nvSpPr>
          <p:spPr bwMode="auto">
            <a:xfrm flipH="1">
              <a:off x="4445" y="2038"/>
              <a:ext cx="62" cy="444"/>
            </a:xfrm>
            <a:prstGeom prst="line">
              <a:avLst/>
            </a:prstGeom>
            <a:noFill/>
            <a:ln w="9525">
              <a:solidFill>
                <a:schemeClr val="tx1"/>
              </a:solidFill>
              <a:round/>
              <a:headEnd/>
              <a:tailEnd/>
            </a:ln>
          </p:spPr>
          <p:txBody>
            <a:bodyPr/>
            <a:lstStyle/>
            <a:p>
              <a:endParaRPr lang="de-DE"/>
            </a:p>
          </p:txBody>
        </p:sp>
        <p:sp>
          <p:nvSpPr>
            <p:cNvPr id="1194" name="Line 577"/>
            <p:cNvSpPr>
              <a:spLocks noChangeShapeType="1"/>
            </p:cNvSpPr>
            <p:nvPr/>
          </p:nvSpPr>
          <p:spPr bwMode="auto">
            <a:xfrm flipH="1">
              <a:off x="4817" y="2038"/>
              <a:ext cx="70" cy="458"/>
            </a:xfrm>
            <a:prstGeom prst="line">
              <a:avLst/>
            </a:prstGeom>
            <a:noFill/>
            <a:ln w="9525">
              <a:solidFill>
                <a:schemeClr val="tx1"/>
              </a:solidFill>
              <a:round/>
              <a:headEnd/>
              <a:tailEnd/>
            </a:ln>
          </p:spPr>
          <p:txBody>
            <a:bodyPr/>
            <a:lstStyle/>
            <a:p>
              <a:endParaRPr lang="de-DE"/>
            </a:p>
          </p:txBody>
        </p:sp>
        <p:sp>
          <p:nvSpPr>
            <p:cNvPr id="1195" name="Text Box 578"/>
            <p:cNvSpPr txBox="1">
              <a:spLocks noChangeArrowheads="1"/>
            </p:cNvSpPr>
            <p:nvPr/>
          </p:nvSpPr>
          <p:spPr bwMode="auto">
            <a:xfrm>
              <a:off x="3229" y="2006"/>
              <a:ext cx="1037" cy="233"/>
            </a:xfrm>
            <a:prstGeom prst="rect">
              <a:avLst/>
            </a:prstGeom>
            <a:noFill/>
            <a:ln w="9525">
              <a:noFill/>
              <a:miter lim="800000"/>
              <a:headEnd/>
              <a:tailEnd/>
            </a:ln>
          </p:spPr>
          <p:txBody>
            <a:bodyPr wrap="none">
              <a:spAutoFit/>
            </a:bodyPr>
            <a:lstStyle/>
            <a:p>
              <a:r>
                <a:rPr lang="de-DE" sz="1800" dirty="0"/>
                <a:t>Heimnetzwerk</a:t>
              </a:r>
            </a:p>
          </p:txBody>
        </p:sp>
        <p:sp>
          <p:nvSpPr>
            <p:cNvPr id="1196" name="Text Box 579"/>
            <p:cNvSpPr txBox="1">
              <a:spLocks noChangeArrowheads="1"/>
            </p:cNvSpPr>
            <p:nvPr/>
          </p:nvSpPr>
          <p:spPr bwMode="auto">
            <a:xfrm>
              <a:off x="3515" y="2852"/>
              <a:ext cx="1150" cy="233"/>
            </a:xfrm>
            <a:prstGeom prst="rect">
              <a:avLst/>
            </a:prstGeom>
            <a:noFill/>
            <a:ln w="9525">
              <a:noFill/>
              <a:miter lim="800000"/>
              <a:headEnd/>
              <a:tailEnd/>
            </a:ln>
          </p:spPr>
          <p:txBody>
            <a:bodyPr wrap="none">
              <a:spAutoFit/>
            </a:bodyPr>
            <a:lstStyle/>
            <a:p>
              <a:r>
                <a:rPr lang="de-DE" sz="1800"/>
                <a:t>Firmennetzwerk</a:t>
              </a:r>
            </a:p>
          </p:txBody>
        </p:sp>
        <p:sp>
          <p:nvSpPr>
            <p:cNvPr id="1197" name="Text Box 580"/>
            <p:cNvSpPr txBox="1">
              <a:spLocks noChangeArrowheads="1"/>
            </p:cNvSpPr>
            <p:nvPr/>
          </p:nvSpPr>
          <p:spPr bwMode="auto">
            <a:xfrm>
              <a:off x="3234" y="1065"/>
              <a:ext cx="1013" cy="233"/>
            </a:xfrm>
            <a:prstGeom prst="rect">
              <a:avLst/>
            </a:prstGeom>
            <a:noFill/>
            <a:ln w="9525">
              <a:noFill/>
              <a:miter lim="800000"/>
              <a:headEnd/>
              <a:tailEnd/>
            </a:ln>
          </p:spPr>
          <p:txBody>
            <a:bodyPr wrap="none">
              <a:spAutoFit/>
            </a:bodyPr>
            <a:lstStyle/>
            <a:p>
              <a:r>
                <a:rPr lang="de-DE" sz="1800"/>
                <a:t>Mobilfunknetz</a:t>
              </a:r>
            </a:p>
          </p:txBody>
        </p:sp>
        <p:sp>
          <p:nvSpPr>
            <p:cNvPr id="1198" name="Text Box 581"/>
            <p:cNvSpPr txBox="1">
              <a:spLocks noChangeArrowheads="1"/>
            </p:cNvSpPr>
            <p:nvPr/>
          </p:nvSpPr>
          <p:spPr bwMode="auto">
            <a:xfrm>
              <a:off x="4365" y="1215"/>
              <a:ext cx="1110" cy="407"/>
            </a:xfrm>
            <a:prstGeom prst="rect">
              <a:avLst/>
            </a:prstGeom>
            <a:noFill/>
            <a:ln w="9525">
              <a:noFill/>
              <a:miter lim="800000"/>
              <a:headEnd/>
              <a:tailEnd/>
            </a:ln>
          </p:spPr>
          <p:txBody>
            <a:bodyPr wrap="none">
              <a:spAutoFit/>
            </a:bodyPr>
            <a:lstStyle/>
            <a:p>
              <a:r>
                <a:rPr lang="de-DE" sz="1800"/>
                <a:t>Nationaler oder</a:t>
              </a:r>
            </a:p>
            <a:p>
              <a:r>
                <a:rPr lang="de-DE"/>
                <a:t>globaler </a:t>
              </a:r>
              <a:r>
                <a:rPr lang="de-DE" sz="1800"/>
                <a:t> </a:t>
              </a:r>
              <a:r>
                <a:rPr lang="de-DE" sz="1800" b="1">
                  <a:solidFill>
                    <a:srgbClr val="FF0000"/>
                  </a:solidFill>
                </a:rPr>
                <a:t>ISP</a:t>
              </a:r>
            </a:p>
          </p:txBody>
        </p:sp>
        <p:sp>
          <p:nvSpPr>
            <p:cNvPr id="1199" name="Text Box 582"/>
            <p:cNvSpPr txBox="1">
              <a:spLocks noChangeArrowheads="1"/>
            </p:cNvSpPr>
            <p:nvPr/>
          </p:nvSpPr>
          <p:spPr bwMode="auto">
            <a:xfrm>
              <a:off x="4229" y="2213"/>
              <a:ext cx="1094" cy="233"/>
            </a:xfrm>
            <a:prstGeom prst="rect">
              <a:avLst/>
            </a:prstGeom>
            <a:noFill/>
            <a:ln w="9525">
              <a:noFill/>
              <a:miter lim="800000"/>
              <a:headEnd/>
              <a:tailEnd/>
            </a:ln>
          </p:spPr>
          <p:txBody>
            <a:bodyPr wrap="none">
              <a:spAutoFit/>
            </a:bodyPr>
            <a:lstStyle/>
            <a:p>
              <a:r>
                <a:rPr lang="de-DE" sz="1800"/>
                <a:t>Regionaler ISP</a:t>
              </a:r>
            </a:p>
          </p:txBody>
        </p:sp>
      </p:grpSp>
      <p:grpSp>
        <p:nvGrpSpPr>
          <p:cNvPr id="4746" name="Group 585"/>
          <p:cNvGrpSpPr>
            <a:grpSpLocks/>
          </p:cNvGrpSpPr>
          <p:nvPr/>
        </p:nvGrpSpPr>
        <p:grpSpPr bwMode="auto">
          <a:xfrm>
            <a:off x="4736737" y="5064126"/>
            <a:ext cx="361951" cy="208266"/>
            <a:chOff x="3600" y="219"/>
            <a:chExt cx="360" cy="175"/>
          </a:xfrm>
        </p:grpSpPr>
        <p:sp>
          <p:nvSpPr>
            <p:cNvPr id="1121" name="Oval 58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122" name="Line 587"/>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123" name="Line 588"/>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124" name="Rectangle 589"/>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125" name="Oval 59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4747" name="Group 591"/>
            <p:cNvGrpSpPr>
              <a:grpSpLocks/>
            </p:cNvGrpSpPr>
            <p:nvPr/>
          </p:nvGrpSpPr>
          <p:grpSpPr bwMode="auto">
            <a:xfrm>
              <a:off x="3686" y="244"/>
              <a:ext cx="177" cy="66"/>
              <a:chOff x="2848" y="848"/>
              <a:chExt cx="140" cy="98"/>
            </a:xfrm>
          </p:grpSpPr>
          <p:sp>
            <p:nvSpPr>
              <p:cNvPr id="1131" name="Line 592"/>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132" name="Line 593"/>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133" name="Line 594"/>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748" name="Group 595"/>
            <p:cNvGrpSpPr>
              <a:grpSpLocks/>
            </p:cNvGrpSpPr>
            <p:nvPr/>
          </p:nvGrpSpPr>
          <p:grpSpPr bwMode="auto">
            <a:xfrm flipV="1">
              <a:off x="3686" y="243"/>
              <a:ext cx="177" cy="66"/>
              <a:chOff x="2848" y="848"/>
              <a:chExt cx="140" cy="98"/>
            </a:xfrm>
          </p:grpSpPr>
          <p:sp>
            <p:nvSpPr>
              <p:cNvPr id="1128" name="Line 59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129" name="Line 59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130" name="Line 59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20" name="Text Box 662"/>
          <p:cNvSpPr txBox="1">
            <a:spLocks noChangeArrowheads="1"/>
          </p:cNvSpPr>
          <p:nvPr/>
        </p:nvSpPr>
        <p:spPr bwMode="auto">
          <a:xfrm>
            <a:off x="4493471" y="5368771"/>
            <a:ext cx="1120820"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spAutoFit/>
          </a:bodyPr>
          <a:lstStyle/>
          <a:p>
            <a:r>
              <a:rPr lang="de-DE" sz="1400" dirty="0"/>
              <a:t>Router-</a:t>
            </a:r>
          </a:p>
          <a:p>
            <a:r>
              <a:rPr lang="de-DE" sz="1400" dirty="0"/>
              <a:t>oder Switch</a:t>
            </a:r>
          </a:p>
        </p:txBody>
      </p:sp>
      <p:sp>
        <p:nvSpPr>
          <p:cNvPr id="417" name="Textfeld 416"/>
          <p:cNvSpPr txBox="1"/>
          <p:nvPr/>
        </p:nvSpPr>
        <p:spPr>
          <a:xfrm>
            <a:off x="5148064" y="5949280"/>
            <a:ext cx="3456384" cy="646331"/>
          </a:xfrm>
          <a:prstGeom prst="rect">
            <a:avLst/>
          </a:prstGeom>
          <a:noFill/>
        </p:spPr>
        <p:txBody>
          <a:bodyPr wrap="square" rtlCol="0">
            <a:spAutoFit/>
          </a:bodyPr>
          <a:lstStyle/>
          <a:p>
            <a:r>
              <a:rPr lang="de-DE" b="1" dirty="0">
                <a:solidFill>
                  <a:srgbClr val="FF0000"/>
                </a:solidFill>
              </a:rPr>
              <a:t>ISP = Internetdienstanbieter</a:t>
            </a:r>
          </a:p>
          <a:p>
            <a:r>
              <a:rPr lang="de-DE" dirty="0"/>
              <a:t>(Internet Service Provider)</a:t>
            </a:r>
          </a:p>
        </p:txBody>
      </p:sp>
      <p:sp>
        <p:nvSpPr>
          <p:cNvPr id="418" name="Rectangle 3"/>
          <p:cNvSpPr txBox="1">
            <a:spLocks noChangeArrowheads="1"/>
          </p:cNvSpPr>
          <p:nvPr/>
        </p:nvSpPr>
        <p:spPr>
          <a:xfrm>
            <a:off x="395536" y="3141663"/>
            <a:ext cx="3887766" cy="2036762"/>
          </a:xfrm>
          <a:prstGeom prst="rect">
            <a:avLst/>
          </a:prstGeom>
        </p:spPr>
        <p:txBody>
          <a:bodyPr vert="horz">
            <a:normAutofit/>
          </a:bodyPr>
          <a:lstStyle/>
          <a:p>
            <a:pPr marL="274320" lvl="0" indent="-274320">
              <a:spcBef>
                <a:spcPts val="600"/>
              </a:spcBef>
              <a:buClr>
                <a:schemeClr val="accent1"/>
              </a:buClr>
              <a:buSzPct val="76000"/>
              <a:buFont typeface="Wingdings 3"/>
              <a:buChar char=""/>
            </a:pPr>
            <a:r>
              <a:rPr lang="de-DE" sz="2400" dirty="0"/>
              <a:t>2. </a:t>
            </a:r>
            <a:r>
              <a:rPr lang="de-DE" sz="2400" b="1" dirty="0">
                <a:solidFill>
                  <a:srgbClr val="FF0000"/>
                </a:solidFill>
              </a:rPr>
              <a:t>Kommunikations-leitungen</a:t>
            </a:r>
          </a:p>
          <a:p>
            <a:pPr marL="731520" lvl="1" indent="-274320">
              <a:spcBef>
                <a:spcPts val="600"/>
              </a:spcBef>
              <a:buClr>
                <a:schemeClr val="accent1"/>
              </a:buClr>
              <a:buSzPct val="76000"/>
              <a:buFont typeface="Wingdings 3"/>
              <a:buChar char=""/>
            </a:pPr>
            <a:r>
              <a:rPr lang="de-DE" sz="2400" dirty="0"/>
              <a:t>Glasfaser, Kupfer, Radio, Satellit</a:t>
            </a:r>
          </a:p>
        </p:txBody>
      </p:sp>
      <p:sp>
        <p:nvSpPr>
          <p:cNvPr id="419" name="Rectangle 3"/>
          <p:cNvSpPr txBox="1">
            <a:spLocks noChangeArrowheads="1"/>
          </p:cNvSpPr>
          <p:nvPr/>
        </p:nvSpPr>
        <p:spPr>
          <a:xfrm>
            <a:off x="503463" y="4907759"/>
            <a:ext cx="3990007" cy="1712960"/>
          </a:xfrm>
          <a:prstGeom prst="rect">
            <a:avLst/>
          </a:prstGeom>
        </p:spPr>
        <p:txBody>
          <a:bodyPr vert="horz">
            <a:noAutofit/>
          </a:bodyPr>
          <a:lstStyle/>
          <a:p>
            <a:pPr marL="274320" lvl="0" indent="-274320">
              <a:spcBef>
                <a:spcPts val="600"/>
              </a:spcBef>
              <a:buClr>
                <a:schemeClr val="accent1"/>
              </a:buClr>
              <a:buSzPct val="76000"/>
              <a:buFont typeface="Wingdings 3"/>
              <a:buChar char=""/>
            </a:pPr>
            <a:r>
              <a:rPr lang="de-DE" sz="2400" dirty="0"/>
              <a:t>3. </a:t>
            </a:r>
            <a:r>
              <a:rPr lang="de-DE" sz="2400" b="1" dirty="0">
                <a:solidFill>
                  <a:srgbClr val="FF0000"/>
                </a:solidFill>
              </a:rPr>
              <a:t>Router </a:t>
            </a:r>
            <a:r>
              <a:rPr lang="de-DE" sz="2400" dirty="0"/>
              <a:t>oder </a:t>
            </a:r>
            <a:r>
              <a:rPr lang="de-DE" sz="2400" b="1" dirty="0">
                <a:solidFill>
                  <a:srgbClr val="FF0000"/>
                </a:solidFill>
              </a:rPr>
              <a:t>Switches </a:t>
            </a:r>
          </a:p>
          <a:p>
            <a:pPr marL="731520" lvl="1" indent="-274320">
              <a:spcBef>
                <a:spcPts val="600"/>
              </a:spcBef>
              <a:buClr>
                <a:schemeClr val="accent1"/>
              </a:buClr>
              <a:buSzPct val="76000"/>
              <a:buFont typeface="Wingdings 3"/>
              <a:buChar char=""/>
            </a:pPr>
            <a:r>
              <a:rPr lang="de-DE" sz="2400" dirty="0"/>
              <a:t>Leiten die Daten weiter oder um</a:t>
            </a:r>
          </a:p>
        </p:txBody>
      </p:sp>
    </p:spTree>
    <p:extLst>
      <p:ext uri="{BB962C8B-B14F-4D97-AF65-F5344CB8AC3E}">
        <p14:creationId xmlns:p14="http://schemas.microsoft.com/office/powerpoint/2010/main" val="304745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p:bldP spid="418" grpId="0"/>
      <p:bldP spid="4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 name="Rectangle 2"/>
          <p:cNvSpPr>
            <a:spLocks noGrp="1" noChangeArrowheads="1"/>
          </p:cNvSpPr>
          <p:nvPr>
            <p:ph type="title"/>
          </p:nvPr>
        </p:nvSpPr>
        <p:spPr/>
        <p:txBody>
          <a:bodyPr/>
          <a:lstStyle/>
          <a:p>
            <a:r>
              <a:rPr lang="de-DE" sz="3200" dirty="0"/>
              <a:t>Internet – Konzeptionelle Bestandteile</a:t>
            </a:r>
            <a:endParaRPr lang="de-DE" dirty="0"/>
          </a:p>
        </p:txBody>
      </p:sp>
      <p:sp>
        <p:nvSpPr>
          <p:cNvPr id="1043" name="Slide Number Placeholder 6"/>
          <p:cNvSpPr>
            <a:spLocks noGrp="1"/>
          </p:cNvSpPr>
          <p:nvPr>
            <p:ph type="sldNum" sz="quarter" idx="12"/>
          </p:nvPr>
        </p:nvSpPr>
        <p:spPr>
          <a:noFill/>
        </p:spPr>
        <p:txBody>
          <a:bodyPr/>
          <a:lstStyle/>
          <a:p>
            <a:fld id="{7183533A-8A50-4A1F-BEA9-C8C6956451EB}" type="slidenum">
              <a:rPr lang="en-US" smtClean="0"/>
              <a:pPr/>
              <a:t>4</a:t>
            </a:fld>
            <a:endParaRPr lang="de-DE" dirty="0"/>
          </a:p>
        </p:txBody>
      </p:sp>
      <p:sp>
        <p:nvSpPr>
          <p:cNvPr id="420" name="Inhaltsplatzhalter 419"/>
          <p:cNvSpPr>
            <a:spLocks noGrp="1"/>
          </p:cNvSpPr>
          <p:nvPr>
            <p:ph sz="quarter" idx="1"/>
          </p:nvPr>
        </p:nvSpPr>
        <p:spPr>
          <a:xfrm>
            <a:off x="457200" y="1219200"/>
            <a:ext cx="4474840" cy="5522168"/>
          </a:xfrm>
        </p:spPr>
        <p:txBody>
          <a:bodyPr>
            <a:normAutofit lnSpcReduction="10000"/>
          </a:bodyPr>
          <a:lstStyle/>
          <a:p>
            <a:r>
              <a:rPr lang="de-DE" sz="2400" b="1" dirty="0">
                <a:solidFill>
                  <a:srgbClr val="FF0000"/>
                </a:solidFill>
              </a:rPr>
              <a:t>Protokolle </a:t>
            </a:r>
            <a:r>
              <a:rPr lang="de-DE" sz="2400" dirty="0"/>
              <a:t>kontrollieren das Senden und Empfangen von Nachrichten</a:t>
            </a:r>
          </a:p>
          <a:p>
            <a:pPr lvl="1"/>
            <a:r>
              <a:rPr lang="de-DE" sz="2100" dirty="0">
                <a:solidFill>
                  <a:schemeClr val="tx1"/>
                </a:solidFill>
              </a:rPr>
              <a:t>Z.B. </a:t>
            </a:r>
            <a:r>
              <a:rPr lang="de-DE" sz="2100" b="1" dirty="0">
                <a:solidFill>
                  <a:srgbClr val="FF0000"/>
                </a:solidFill>
              </a:rPr>
              <a:t>TCP</a:t>
            </a:r>
            <a:r>
              <a:rPr lang="de-DE" sz="2100" dirty="0">
                <a:solidFill>
                  <a:schemeClr val="tx1"/>
                </a:solidFill>
              </a:rPr>
              <a:t>, </a:t>
            </a:r>
            <a:r>
              <a:rPr lang="de-DE" sz="2100" b="1" dirty="0">
                <a:solidFill>
                  <a:srgbClr val="FF0000"/>
                </a:solidFill>
              </a:rPr>
              <a:t>IP</a:t>
            </a:r>
            <a:r>
              <a:rPr lang="de-DE" sz="2100" dirty="0">
                <a:solidFill>
                  <a:schemeClr val="tx1"/>
                </a:solidFill>
              </a:rPr>
              <a:t>, </a:t>
            </a:r>
            <a:r>
              <a:rPr lang="de-DE" sz="2100" b="1" dirty="0">
                <a:solidFill>
                  <a:srgbClr val="FF0000"/>
                </a:solidFill>
              </a:rPr>
              <a:t>HTTP</a:t>
            </a:r>
            <a:r>
              <a:rPr lang="de-DE" sz="2100" dirty="0">
                <a:solidFill>
                  <a:schemeClr val="tx1"/>
                </a:solidFill>
              </a:rPr>
              <a:t>, </a:t>
            </a:r>
            <a:r>
              <a:rPr lang="de-DE" sz="2100" b="1" dirty="0">
                <a:solidFill>
                  <a:srgbClr val="FF0000"/>
                </a:solidFill>
              </a:rPr>
              <a:t>Ethernet</a:t>
            </a:r>
            <a:r>
              <a:rPr lang="de-DE" sz="2100" dirty="0">
                <a:solidFill>
                  <a:schemeClr val="tx1"/>
                </a:solidFill>
              </a:rPr>
              <a:t>, Skype </a:t>
            </a:r>
            <a:endParaRPr lang="de-DE" sz="2100" b="1" dirty="0">
              <a:solidFill>
                <a:srgbClr val="FF0000"/>
              </a:solidFill>
            </a:endParaRPr>
          </a:p>
          <a:p>
            <a:r>
              <a:rPr lang="de-DE" sz="2400" b="1" dirty="0">
                <a:solidFill>
                  <a:srgbClr val="FF0000"/>
                </a:solidFill>
              </a:rPr>
              <a:t>Internet-Standards</a:t>
            </a:r>
          </a:p>
          <a:p>
            <a:pPr lvl="1"/>
            <a:r>
              <a:rPr lang="de-DE" sz="2100" dirty="0"/>
              <a:t>Format</a:t>
            </a:r>
            <a:r>
              <a:rPr lang="de-DE" sz="2000" b="1" dirty="0">
                <a:solidFill>
                  <a:srgbClr val="FF0000"/>
                </a:solidFill>
              </a:rPr>
              <a:t> RFC</a:t>
            </a:r>
            <a:r>
              <a:rPr lang="de-DE" sz="2000" dirty="0"/>
              <a:t>: Request for comments</a:t>
            </a:r>
          </a:p>
          <a:p>
            <a:pPr lvl="1"/>
            <a:r>
              <a:rPr lang="de-DE" sz="2000" b="1" dirty="0">
                <a:solidFill>
                  <a:srgbClr val="FF0000"/>
                </a:solidFill>
              </a:rPr>
              <a:t>IETF</a:t>
            </a:r>
            <a:r>
              <a:rPr lang="de-DE" sz="2000" dirty="0"/>
              <a:t>: Internet Engineering Task Force</a:t>
            </a:r>
          </a:p>
          <a:p>
            <a:r>
              <a:rPr lang="de-DE" sz="2400" dirty="0"/>
              <a:t>“Netzwerk von Netzwerken” – das eigentliche </a:t>
            </a:r>
            <a:r>
              <a:rPr lang="de-DE" sz="2400" b="1" dirty="0">
                <a:solidFill>
                  <a:srgbClr val="FF0000"/>
                </a:solidFill>
              </a:rPr>
              <a:t>Internet</a:t>
            </a:r>
            <a:endParaRPr lang="de-DE" sz="2400" dirty="0"/>
          </a:p>
          <a:p>
            <a:pPr lvl="1"/>
            <a:r>
              <a:rPr lang="de-DE" sz="2100" dirty="0">
                <a:solidFill>
                  <a:schemeClr val="tx1"/>
                </a:solidFill>
              </a:rPr>
              <a:t>besteht aus vielen </a:t>
            </a:r>
            <a:r>
              <a:rPr lang="de-DE" sz="2100" b="1" dirty="0">
                <a:solidFill>
                  <a:srgbClr val="FF0000"/>
                </a:solidFill>
              </a:rPr>
              <a:t>Autonomen Systemen</a:t>
            </a:r>
            <a:r>
              <a:rPr lang="de-DE" sz="2100" dirty="0">
                <a:solidFill>
                  <a:schemeClr val="tx1"/>
                </a:solidFill>
              </a:rPr>
              <a:t> (AS, </a:t>
            </a:r>
            <a:r>
              <a:rPr lang="de-DE" sz="2100" dirty="0">
                <a:solidFill>
                  <a:schemeClr val="tx1"/>
                </a:solidFill>
                <a:hlinkClick r:id="rId3"/>
              </a:rPr>
              <a:t>Link</a:t>
            </a:r>
            <a:r>
              <a:rPr lang="de-DE" sz="2100" dirty="0">
                <a:solidFill>
                  <a:schemeClr val="tx1"/>
                </a:solidFill>
              </a:rPr>
              <a:t>) mit ggf. verschiedenen Besitzern</a:t>
            </a:r>
          </a:p>
          <a:p>
            <a:pPr lvl="1"/>
            <a:r>
              <a:rPr lang="de-DE" sz="2100" dirty="0">
                <a:solidFill>
                  <a:schemeClr val="tx1"/>
                </a:solidFill>
              </a:rPr>
              <a:t>hierarchisch aufgebaut</a:t>
            </a:r>
          </a:p>
          <a:p>
            <a:endParaRPr lang="de-DE" dirty="0"/>
          </a:p>
          <a:p>
            <a:endParaRPr lang="de-DE" dirty="0"/>
          </a:p>
        </p:txBody>
      </p:sp>
      <p:grpSp>
        <p:nvGrpSpPr>
          <p:cNvPr id="2" name="Group 262"/>
          <p:cNvGrpSpPr>
            <a:grpSpLocks/>
          </p:cNvGrpSpPr>
          <p:nvPr/>
        </p:nvGrpSpPr>
        <p:grpSpPr bwMode="auto">
          <a:xfrm>
            <a:off x="4989518" y="1319213"/>
            <a:ext cx="3648077" cy="4489450"/>
            <a:chOff x="3177" y="1065"/>
            <a:chExt cx="2298" cy="2828"/>
          </a:xfrm>
        </p:grpSpPr>
        <p:sp>
          <p:nvSpPr>
            <p:cNvPr id="1134" name="Freeform 263"/>
            <p:cNvSpPr>
              <a:spLocks/>
            </p:cNvSpPr>
            <p:nvPr/>
          </p:nvSpPr>
          <p:spPr bwMode="auto">
            <a:xfrm>
              <a:off x="4261" y="2412"/>
              <a:ext cx="828" cy="425"/>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w="9525">
              <a:noFill/>
              <a:round/>
              <a:headEnd/>
              <a:tailEnd/>
            </a:ln>
          </p:spPr>
          <p:txBody>
            <a:bodyPr/>
            <a:lstStyle/>
            <a:p>
              <a:endParaRPr lang="de-DE"/>
            </a:p>
          </p:txBody>
        </p:sp>
        <p:sp>
          <p:nvSpPr>
            <p:cNvPr id="1135" name="Freeform 264"/>
            <p:cNvSpPr>
              <a:spLocks/>
            </p:cNvSpPr>
            <p:nvPr/>
          </p:nvSpPr>
          <p:spPr bwMode="auto">
            <a:xfrm>
              <a:off x="4273" y="1451"/>
              <a:ext cx="1090" cy="658"/>
            </a:xfrm>
            <a:custGeom>
              <a:avLst/>
              <a:gdLst>
                <a:gd name="T0" fmla="*/ 604 w 765"/>
                <a:gd name="T1" fmla="*/ 14 h 459"/>
                <a:gd name="T2" fmla="*/ 410 w 765"/>
                <a:gd name="T3" fmla="*/ 100 h 459"/>
                <a:gd name="T4" fmla="*/ 137 w 765"/>
                <a:gd name="T5" fmla="*/ 143 h 459"/>
                <a:gd name="T6" fmla="*/ 20 w 765"/>
                <a:gd name="T7" fmla="*/ 482 h 459"/>
                <a:gd name="T8" fmla="*/ 256 w 765"/>
                <a:gd name="T9" fmla="*/ 636 h 459"/>
                <a:gd name="T10" fmla="*/ 493 w 765"/>
                <a:gd name="T11" fmla="*/ 611 h 459"/>
                <a:gd name="T12" fmla="*/ 832 w 765"/>
                <a:gd name="T13" fmla="*/ 636 h 459"/>
                <a:gd name="T14" fmla="*/ 995 w 765"/>
                <a:gd name="T15" fmla="*/ 622 h 459"/>
                <a:gd name="T16" fmla="*/ 1071 w 765"/>
                <a:gd name="T17" fmla="*/ 533 h 459"/>
                <a:gd name="T18" fmla="*/ 1069 w 765"/>
                <a:gd name="T19" fmla="*/ 227 h 459"/>
                <a:gd name="T20" fmla="*/ 943 w 765"/>
                <a:gd name="T21" fmla="*/ 49 h 459"/>
                <a:gd name="T22" fmla="*/ 604 w 765"/>
                <a:gd name="T23" fmla="*/ 14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w="9525">
              <a:noFill/>
              <a:round/>
              <a:headEnd/>
              <a:tailEnd/>
            </a:ln>
          </p:spPr>
          <p:txBody>
            <a:bodyPr/>
            <a:lstStyle/>
            <a:p>
              <a:endParaRPr lang="de-DE"/>
            </a:p>
          </p:txBody>
        </p:sp>
        <p:sp>
          <p:nvSpPr>
            <p:cNvPr id="1136" name="Freeform 265"/>
            <p:cNvSpPr>
              <a:spLocks/>
            </p:cNvSpPr>
            <p:nvPr/>
          </p:nvSpPr>
          <p:spPr bwMode="auto">
            <a:xfrm>
              <a:off x="3177" y="1267"/>
              <a:ext cx="1036" cy="675"/>
            </a:xfrm>
            <a:custGeom>
              <a:avLst/>
              <a:gdLst>
                <a:gd name="T0" fmla="*/ 648 w 1036"/>
                <a:gd name="T1" fmla="*/ 11 h 675"/>
                <a:gd name="T2" fmla="*/ 390 w 1036"/>
                <a:gd name="T3" fmla="*/ 53 h 675"/>
                <a:gd name="T4" fmla="*/ 206 w 1036"/>
                <a:gd name="T5" fmla="*/ 129 h 675"/>
                <a:gd name="T6" fmla="*/ 152 w 1036"/>
                <a:gd name="T7" fmla="*/ 229 h 675"/>
                <a:gd name="T8" fmla="*/ 22 w 1036"/>
                <a:gd name="T9" fmla="*/ 297 h 675"/>
                <a:gd name="T10" fmla="*/ 18 w 1036"/>
                <a:gd name="T11" fmla="*/ 459 h 675"/>
                <a:gd name="T12" fmla="*/ 132 w 1036"/>
                <a:gd name="T13" fmla="*/ 489 h 675"/>
                <a:gd name="T14" fmla="*/ 458 w 1036"/>
                <a:gd name="T15" fmla="*/ 489 h 675"/>
                <a:gd name="T16" fmla="*/ 598 w 1036"/>
                <a:gd name="T17" fmla="*/ 555 h 675"/>
                <a:gd name="T18" fmla="*/ 752 w 1036"/>
                <a:gd name="T19" fmla="*/ 657 h 675"/>
                <a:gd name="T20" fmla="*/ 870 w 1036"/>
                <a:gd name="T21" fmla="*/ 661 h 675"/>
                <a:gd name="T22" fmla="*/ 952 w 1036"/>
                <a:gd name="T23" fmla="*/ 603 h 675"/>
                <a:gd name="T24" fmla="*/ 992 w 1036"/>
                <a:gd name="T25" fmla="*/ 445 h 675"/>
                <a:gd name="T26" fmla="*/ 1018 w 1036"/>
                <a:gd name="T27" fmla="*/ 291 h 675"/>
                <a:gd name="T28" fmla="*/ 1022 w 1036"/>
                <a:gd name="T29" fmla="*/ 107 h 675"/>
                <a:gd name="T30" fmla="*/ 934 w 1036"/>
                <a:gd name="T31" fmla="*/ 17 h 675"/>
                <a:gd name="T32" fmla="*/ 776 w 1036"/>
                <a:gd name="T33" fmla="*/ 3 h 675"/>
                <a:gd name="T34" fmla="*/ 64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w="9525">
              <a:noFill/>
              <a:round/>
              <a:headEnd/>
              <a:tailEnd/>
            </a:ln>
          </p:spPr>
          <p:txBody>
            <a:bodyPr/>
            <a:lstStyle/>
            <a:p>
              <a:endParaRPr lang="de-DE"/>
            </a:p>
          </p:txBody>
        </p:sp>
        <p:grpSp>
          <p:nvGrpSpPr>
            <p:cNvPr id="3" name="Group 266"/>
            <p:cNvGrpSpPr>
              <a:grpSpLocks/>
            </p:cNvGrpSpPr>
            <p:nvPr/>
          </p:nvGrpSpPr>
          <p:grpSpPr bwMode="auto">
            <a:xfrm>
              <a:off x="3232" y="2108"/>
              <a:ext cx="919" cy="588"/>
              <a:chOff x="2889" y="1631"/>
              <a:chExt cx="980" cy="743"/>
            </a:xfrm>
          </p:grpSpPr>
          <p:sp>
            <p:nvSpPr>
              <p:cNvPr id="1439" name="Rectangle 267"/>
              <p:cNvSpPr>
                <a:spLocks noChangeArrowheads="1"/>
              </p:cNvSpPr>
              <p:nvPr/>
            </p:nvSpPr>
            <p:spPr bwMode="auto">
              <a:xfrm>
                <a:off x="3046" y="1841"/>
                <a:ext cx="663" cy="533"/>
              </a:xfrm>
              <a:prstGeom prst="rect">
                <a:avLst/>
              </a:prstGeom>
              <a:solidFill>
                <a:srgbClr val="00CCFF"/>
              </a:solidFill>
              <a:ln w="9525">
                <a:noFill/>
                <a:miter lim="800000"/>
                <a:headEnd/>
                <a:tailEnd/>
              </a:ln>
            </p:spPr>
            <p:txBody>
              <a:bodyPr wrap="none" anchor="ctr"/>
              <a:lstStyle/>
              <a:p>
                <a:endParaRPr lang="de-DE"/>
              </a:p>
            </p:txBody>
          </p:sp>
          <p:sp>
            <p:nvSpPr>
              <p:cNvPr id="1440" name="AutoShape 268"/>
              <p:cNvSpPr>
                <a:spLocks noChangeArrowheads="1"/>
              </p:cNvSpPr>
              <p:nvPr/>
            </p:nvSpPr>
            <p:spPr bwMode="auto">
              <a:xfrm>
                <a:off x="2889" y="1631"/>
                <a:ext cx="980" cy="253"/>
              </a:xfrm>
              <a:prstGeom prst="triangle">
                <a:avLst>
                  <a:gd name="adj" fmla="val 50000"/>
                </a:avLst>
              </a:prstGeom>
              <a:solidFill>
                <a:srgbClr val="00CCFF"/>
              </a:solidFill>
              <a:ln w="9525">
                <a:noFill/>
                <a:miter lim="800000"/>
                <a:headEnd/>
                <a:tailEnd/>
              </a:ln>
            </p:spPr>
            <p:txBody>
              <a:bodyPr wrap="none" anchor="ctr"/>
              <a:lstStyle/>
              <a:p>
                <a:pPr algn="ctr"/>
                <a:endParaRPr lang="de-DE">
                  <a:solidFill>
                    <a:srgbClr val="00CCFF"/>
                  </a:solidFill>
                </a:endParaRPr>
              </a:p>
            </p:txBody>
          </p:sp>
        </p:grpSp>
        <p:grpSp>
          <p:nvGrpSpPr>
            <p:cNvPr id="4" name="Group 269"/>
            <p:cNvGrpSpPr>
              <a:grpSpLocks/>
            </p:cNvGrpSpPr>
            <p:nvPr/>
          </p:nvGrpSpPr>
          <p:grpSpPr bwMode="auto">
            <a:xfrm>
              <a:off x="3674" y="1388"/>
              <a:ext cx="212" cy="335"/>
              <a:chOff x="3796" y="1043"/>
              <a:chExt cx="865" cy="1237"/>
            </a:xfrm>
          </p:grpSpPr>
          <p:sp>
            <p:nvSpPr>
              <p:cNvPr id="1409" name="Line 270"/>
              <p:cNvSpPr>
                <a:spLocks noChangeShapeType="1"/>
              </p:cNvSpPr>
              <p:nvPr/>
            </p:nvSpPr>
            <p:spPr bwMode="auto">
              <a:xfrm flipH="1">
                <a:off x="3992" y="1481"/>
                <a:ext cx="235" cy="724"/>
              </a:xfrm>
              <a:prstGeom prst="line">
                <a:avLst/>
              </a:prstGeom>
              <a:noFill/>
              <a:ln w="9525">
                <a:solidFill>
                  <a:schemeClr val="tx1"/>
                </a:solidFill>
                <a:round/>
                <a:headEnd/>
                <a:tailEnd/>
              </a:ln>
            </p:spPr>
            <p:txBody>
              <a:bodyPr wrap="none"/>
              <a:lstStyle/>
              <a:p>
                <a:endParaRPr lang="de-DE"/>
              </a:p>
            </p:txBody>
          </p:sp>
          <p:sp>
            <p:nvSpPr>
              <p:cNvPr id="1410" name="Line 271"/>
              <p:cNvSpPr>
                <a:spLocks noChangeShapeType="1"/>
              </p:cNvSpPr>
              <p:nvPr/>
            </p:nvSpPr>
            <p:spPr bwMode="auto">
              <a:xfrm>
                <a:off x="4227" y="1481"/>
                <a:ext cx="236" cy="720"/>
              </a:xfrm>
              <a:prstGeom prst="line">
                <a:avLst/>
              </a:prstGeom>
              <a:noFill/>
              <a:ln w="9525">
                <a:solidFill>
                  <a:schemeClr val="tx1"/>
                </a:solidFill>
                <a:round/>
                <a:headEnd/>
                <a:tailEnd/>
              </a:ln>
            </p:spPr>
            <p:txBody>
              <a:bodyPr wrap="none"/>
              <a:lstStyle/>
              <a:p>
                <a:endParaRPr lang="de-DE"/>
              </a:p>
            </p:txBody>
          </p:sp>
          <p:sp>
            <p:nvSpPr>
              <p:cNvPr id="1411" name="Line 272"/>
              <p:cNvSpPr>
                <a:spLocks noChangeShapeType="1"/>
              </p:cNvSpPr>
              <p:nvPr/>
            </p:nvSpPr>
            <p:spPr bwMode="auto">
              <a:xfrm>
                <a:off x="3992" y="2201"/>
                <a:ext cx="235" cy="79"/>
              </a:xfrm>
              <a:prstGeom prst="line">
                <a:avLst/>
              </a:prstGeom>
              <a:noFill/>
              <a:ln w="9525">
                <a:solidFill>
                  <a:schemeClr val="tx1"/>
                </a:solidFill>
                <a:round/>
                <a:headEnd/>
                <a:tailEnd/>
              </a:ln>
            </p:spPr>
            <p:txBody>
              <a:bodyPr wrap="none"/>
              <a:lstStyle/>
              <a:p>
                <a:endParaRPr lang="de-DE"/>
              </a:p>
            </p:txBody>
          </p:sp>
          <p:sp>
            <p:nvSpPr>
              <p:cNvPr id="1412" name="Line 273"/>
              <p:cNvSpPr>
                <a:spLocks noChangeShapeType="1"/>
              </p:cNvSpPr>
              <p:nvPr/>
            </p:nvSpPr>
            <p:spPr bwMode="auto">
              <a:xfrm flipH="1">
                <a:off x="4227" y="2201"/>
                <a:ext cx="236" cy="79"/>
              </a:xfrm>
              <a:prstGeom prst="line">
                <a:avLst/>
              </a:prstGeom>
              <a:noFill/>
              <a:ln w="9525">
                <a:solidFill>
                  <a:schemeClr val="tx1"/>
                </a:solidFill>
                <a:round/>
                <a:headEnd/>
                <a:tailEnd/>
              </a:ln>
            </p:spPr>
            <p:txBody>
              <a:bodyPr wrap="none"/>
              <a:lstStyle/>
              <a:p>
                <a:endParaRPr lang="de-DE"/>
              </a:p>
            </p:txBody>
          </p:sp>
          <p:sp>
            <p:nvSpPr>
              <p:cNvPr id="1413" name="Line 274"/>
              <p:cNvSpPr>
                <a:spLocks noChangeShapeType="1"/>
              </p:cNvSpPr>
              <p:nvPr/>
            </p:nvSpPr>
            <p:spPr bwMode="auto">
              <a:xfrm>
                <a:off x="4227" y="1497"/>
                <a:ext cx="0" cy="783"/>
              </a:xfrm>
              <a:prstGeom prst="line">
                <a:avLst/>
              </a:prstGeom>
              <a:noFill/>
              <a:ln w="9525">
                <a:solidFill>
                  <a:schemeClr val="tx1"/>
                </a:solidFill>
                <a:round/>
                <a:headEnd/>
                <a:tailEnd/>
              </a:ln>
            </p:spPr>
            <p:txBody>
              <a:bodyPr wrap="none"/>
              <a:lstStyle/>
              <a:p>
                <a:endParaRPr lang="de-DE"/>
              </a:p>
            </p:txBody>
          </p:sp>
          <p:sp>
            <p:nvSpPr>
              <p:cNvPr id="1414" name="Line 275"/>
              <p:cNvSpPr>
                <a:spLocks noChangeShapeType="1"/>
              </p:cNvSpPr>
              <p:nvPr/>
            </p:nvSpPr>
            <p:spPr bwMode="auto">
              <a:xfrm flipV="1">
                <a:off x="3992" y="2127"/>
                <a:ext cx="235" cy="78"/>
              </a:xfrm>
              <a:prstGeom prst="line">
                <a:avLst/>
              </a:prstGeom>
              <a:noFill/>
              <a:ln w="9525">
                <a:solidFill>
                  <a:schemeClr val="tx1"/>
                </a:solidFill>
                <a:round/>
                <a:headEnd/>
                <a:tailEnd/>
              </a:ln>
            </p:spPr>
            <p:txBody>
              <a:bodyPr wrap="none"/>
              <a:lstStyle/>
              <a:p>
                <a:endParaRPr lang="de-DE"/>
              </a:p>
            </p:txBody>
          </p:sp>
          <p:sp>
            <p:nvSpPr>
              <p:cNvPr id="1415" name="Line 276"/>
              <p:cNvSpPr>
                <a:spLocks noChangeShapeType="1"/>
              </p:cNvSpPr>
              <p:nvPr/>
            </p:nvSpPr>
            <p:spPr bwMode="auto">
              <a:xfrm flipH="1" flipV="1">
                <a:off x="4227" y="2127"/>
                <a:ext cx="236" cy="74"/>
              </a:xfrm>
              <a:prstGeom prst="line">
                <a:avLst/>
              </a:prstGeom>
              <a:noFill/>
              <a:ln w="9525">
                <a:solidFill>
                  <a:schemeClr val="tx1"/>
                </a:solidFill>
                <a:round/>
                <a:headEnd/>
                <a:tailEnd/>
              </a:ln>
            </p:spPr>
            <p:txBody>
              <a:bodyPr wrap="none"/>
              <a:lstStyle/>
              <a:p>
                <a:endParaRPr lang="de-DE"/>
              </a:p>
            </p:txBody>
          </p:sp>
          <p:sp>
            <p:nvSpPr>
              <p:cNvPr id="1416" name="Line 277"/>
              <p:cNvSpPr>
                <a:spLocks noChangeShapeType="1"/>
              </p:cNvSpPr>
              <p:nvPr/>
            </p:nvSpPr>
            <p:spPr bwMode="auto">
              <a:xfrm>
                <a:off x="4092" y="1890"/>
                <a:ext cx="135" cy="60"/>
              </a:xfrm>
              <a:prstGeom prst="line">
                <a:avLst/>
              </a:prstGeom>
              <a:noFill/>
              <a:ln w="9525">
                <a:solidFill>
                  <a:schemeClr val="tx1"/>
                </a:solidFill>
                <a:round/>
                <a:headEnd/>
                <a:tailEnd/>
              </a:ln>
            </p:spPr>
            <p:txBody>
              <a:bodyPr wrap="none"/>
              <a:lstStyle/>
              <a:p>
                <a:endParaRPr lang="de-DE"/>
              </a:p>
            </p:txBody>
          </p:sp>
          <p:sp>
            <p:nvSpPr>
              <p:cNvPr id="1417" name="Line 278"/>
              <p:cNvSpPr>
                <a:spLocks noChangeShapeType="1"/>
              </p:cNvSpPr>
              <p:nvPr/>
            </p:nvSpPr>
            <p:spPr bwMode="auto">
              <a:xfrm flipV="1">
                <a:off x="4227" y="1890"/>
                <a:ext cx="143" cy="60"/>
              </a:xfrm>
              <a:prstGeom prst="line">
                <a:avLst/>
              </a:prstGeom>
              <a:noFill/>
              <a:ln w="9525">
                <a:solidFill>
                  <a:schemeClr val="tx1"/>
                </a:solidFill>
                <a:round/>
                <a:headEnd/>
                <a:tailEnd/>
              </a:ln>
            </p:spPr>
            <p:txBody>
              <a:bodyPr wrap="none"/>
              <a:lstStyle/>
              <a:p>
                <a:endParaRPr lang="de-DE"/>
              </a:p>
            </p:txBody>
          </p:sp>
          <p:sp>
            <p:nvSpPr>
              <p:cNvPr id="1418" name="Line 279"/>
              <p:cNvSpPr>
                <a:spLocks noChangeShapeType="1"/>
              </p:cNvSpPr>
              <p:nvPr/>
            </p:nvSpPr>
            <p:spPr bwMode="auto">
              <a:xfrm>
                <a:off x="4047" y="1996"/>
                <a:ext cx="175" cy="81"/>
              </a:xfrm>
              <a:prstGeom prst="line">
                <a:avLst/>
              </a:prstGeom>
              <a:noFill/>
              <a:ln w="9525">
                <a:solidFill>
                  <a:schemeClr val="tx1"/>
                </a:solidFill>
                <a:round/>
                <a:headEnd/>
                <a:tailEnd/>
              </a:ln>
            </p:spPr>
            <p:txBody>
              <a:bodyPr wrap="none"/>
              <a:lstStyle/>
              <a:p>
                <a:endParaRPr lang="de-DE"/>
              </a:p>
            </p:txBody>
          </p:sp>
          <p:sp>
            <p:nvSpPr>
              <p:cNvPr id="1419" name="Line 280"/>
              <p:cNvSpPr>
                <a:spLocks noChangeShapeType="1"/>
              </p:cNvSpPr>
              <p:nvPr/>
            </p:nvSpPr>
            <p:spPr bwMode="auto">
              <a:xfrm flipV="1">
                <a:off x="4227" y="2012"/>
                <a:ext cx="176" cy="71"/>
              </a:xfrm>
              <a:prstGeom prst="line">
                <a:avLst/>
              </a:prstGeom>
              <a:noFill/>
              <a:ln w="9525">
                <a:solidFill>
                  <a:schemeClr val="tx1"/>
                </a:solidFill>
                <a:round/>
                <a:headEnd/>
                <a:tailEnd/>
              </a:ln>
            </p:spPr>
            <p:txBody>
              <a:bodyPr wrap="none"/>
              <a:lstStyle/>
              <a:p>
                <a:endParaRPr lang="de-DE"/>
              </a:p>
            </p:txBody>
          </p:sp>
          <p:sp>
            <p:nvSpPr>
              <p:cNvPr id="1420" name="Line 281"/>
              <p:cNvSpPr>
                <a:spLocks noChangeShapeType="1"/>
              </p:cNvSpPr>
              <p:nvPr/>
            </p:nvSpPr>
            <p:spPr bwMode="auto">
              <a:xfrm flipV="1">
                <a:off x="4227" y="1782"/>
                <a:ext cx="90" cy="29"/>
              </a:xfrm>
              <a:prstGeom prst="line">
                <a:avLst/>
              </a:prstGeom>
              <a:noFill/>
              <a:ln w="9525">
                <a:solidFill>
                  <a:schemeClr val="tx1"/>
                </a:solidFill>
                <a:round/>
                <a:headEnd/>
                <a:tailEnd/>
              </a:ln>
            </p:spPr>
            <p:txBody>
              <a:bodyPr wrap="none"/>
              <a:lstStyle/>
              <a:p>
                <a:endParaRPr lang="de-DE"/>
              </a:p>
            </p:txBody>
          </p:sp>
          <p:sp>
            <p:nvSpPr>
              <p:cNvPr id="1421" name="Line 282"/>
              <p:cNvSpPr>
                <a:spLocks noChangeShapeType="1"/>
              </p:cNvSpPr>
              <p:nvPr/>
            </p:nvSpPr>
            <p:spPr bwMode="auto">
              <a:xfrm flipV="1">
                <a:off x="4227" y="1632"/>
                <a:ext cx="57" cy="22"/>
              </a:xfrm>
              <a:prstGeom prst="line">
                <a:avLst/>
              </a:prstGeom>
              <a:noFill/>
              <a:ln w="9525">
                <a:solidFill>
                  <a:schemeClr val="tx1"/>
                </a:solidFill>
                <a:round/>
                <a:headEnd/>
                <a:tailEnd/>
              </a:ln>
            </p:spPr>
            <p:txBody>
              <a:bodyPr wrap="none"/>
              <a:lstStyle/>
              <a:p>
                <a:endParaRPr lang="de-DE"/>
              </a:p>
            </p:txBody>
          </p:sp>
          <p:sp>
            <p:nvSpPr>
              <p:cNvPr id="1422" name="Line 283"/>
              <p:cNvSpPr>
                <a:spLocks noChangeShapeType="1"/>
              </p:cNvSpPr>
              <p:nvPr/>
            </p:nvSpPr>
            <p:spPr bwMode="auto">
              <a:xfrm>
                <a:off x="4126" y="1772"/>
                <a:ext cx="109" cy="39"/>
              </a:xfrm>
              <a:prstGeom prst="line">
                <a:avLst/>
              </a:prstGeom>
              <a:noFill/>
              <a:ln w="9525">
                <a:solidFill>
                  <a:schemeClr val="tx1"/>
                </a:solidFill>
                <a:round/>
                <a:headEnd/>
                <a:tailEnd/>
              </a:ln>
            </p:spPr>
            <p:txBody>
              <a:bodyPr wrap="none"/>
              <a:lstStyle/>
              <a:p>
                <a:endParaRPr lang="de-DE"/>
              </a:p>
            </p:txBody>
          </p:sp>
          <p:sp>
            <p:nvSpPr>
              <p:cNvPr id="1423" name="Line 284"/>
              <p:cNvSpPr>
                <a:spLocks noChangeShapeType="1"/>
              </p:cNvSpPr>
              <p:nvPr/>
            </p:nvSpPr>
            <p:spPr bwMode="auto">
              <a:xfrm>
                <a:off x="4175" y="1625"/>
                <a:ext cx="63" cy="39"/>
              </a:xfrm>
              <a:prstGeom prst="line">
                <a:avLst/>
              </a:prstGeom>
              <a:noFill/>
              <a:ln w="9525">
                <a:solidFill>
                  <a:schemeClr val="tx1"/>
                </a:solidFill>
                <a:round/>
                <a:headEnd/>
                <a:tailEnd/>
              </a:ln>
            </p:spPr>
            <p:txBody>
              <a:bodyPr wrap="none"/>
              <a:lstStyle/>
              <a:p>
                <a:endParaRPr lang="de-DE"/>
              </a:p>
            </p:txBody>
          </p:sp>
          <p:grpSp>
            <p:nvGrpSpPr>
              <p:cNvPr id="5" name="Group 285"/>
              <p:cNvGrpSpPr>
                <a:grpSpLocks/>
              </p:cNvGrpSpPr>
              <p:nvPr/>
            </p:nvGrpSpPr>
            <p:grpSpPr bwMode="auto">
              <a:xfrm>
                <a:off x="4269" y="1415"/>
                <a:ext cx="392" cy="137"/>
                <a:chOff x="4227" y="1360"/>
                <a:chExt cx="863" cy="270"/>
              </a:xfrm>
            </p:grpSpPr>
            <p:sp>
              <p:nvSpPr>
                <p:cNvPr id="1435" name="Line 286"/>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36" name="Line 287"/>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37" name="Line 288"/>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8" name="Line 289"/>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nvGrpSpPr>
              <p:cNvPr id="6" name="Group 290"/>
              <p:cNvGrpSpPr>
                <a:grpSpLocks/>
              </p:cNvGrpSpPr>
              <p:nvPr/>
            </p:nvGrpSpPr>
            <p:grpSpPr bwMode="auto">
              <a:xfrm rot="5700496">
                <a:off x="4053" y="1170"/>
                <a:ext cx="392" cy="137"/>
                <a:chOff x="4227" y="1360"/>
                <a:chExt cx="863" cy="270"/>
              </a:xfrm>
            </p:grpSpPr>
            <p:sp>
              <p:nvSpPr>
                <p:cNvPr id="1431" name="Line 291"/>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32" name="Line 292"/>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33" name="Line 293"/>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4" name="Line 294"/>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nvGrpSpPr>
              <p:cNvPr id="7" name="Group 295"/>
              <p:cNvGrpSpPr>
                <a:grpSpLocks/>
              </p:cNvGrpSpPr>
              <p:nvPr/>
            </p:nvGrpSpPr>
            <p:grpSpPr bwMode="auto">
              <a:xfrm rot="10800000">
                <a:off x="3796" y="1402"/>
                <a:ext cx="392" cy="137"/>
                <a:chOff x="4227" y="1360"/>
                <a:chExt cx="863" cy="270"/>
              </a:xfrm>
            </p:grpSpPr>
            <p:sp>
              <p:nvSpPr>
                <p:cNvPr id="1427" name="Line 296"/>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28" name="Line 297"/>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29" name="Line 298"/>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0" name="Line 299"/>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grpSp>
          <p:nvGrpSpPr>
            <p:cNvPr id="8" name="Group 300"/>
            <p:cNvGrpSpPr>
              <a:grpSpLocks/>
            </p:cNvGrpSpPr>
            <p:nvPr/>
          </p:nvGrpSpPr>
          <p:grpSpPr bwMode="auto">
            <a:xfrm>
              <a:off x="3223" y="1598"/>
              <a:ext cx="436" cy="114"/>
              <a:chOff x="3072" y="739"/>
              <a:chExt cx="652" cy="146"/>
            </a:xfrm>
          </p:grpSpPr>
          <p:pic>
            <p:nvPicPr>
              <p:cNvPr id="1406" name="Picture 301" descr="lgv_fqmg[1]"/>
              <p:cNvPicPr>
                <a:picLocks noChangeAspect="1" noChangeArrowheads="1"/>
              </p:cNvPicPr>
              <p:nvPr/>
            </p:nvPicPr>
            <p:blipFill>
              <a:blip r:embed="rId4" cstate="print"/>
              <a:srcRect/>
              <a:stretch>
                <a:fillRect/>
              </a:stretch>
            </p:blipFill>
            <p:spPr bwMode="auto">
              <a:xfrm flipH="1">
                <a:off x="3237" y="739"/>
                <a:ext cx="487" cy="146"/>
              </a:xfrm>
              <a:prstGeom prst="rect">
                <a:avLst/>
              </a:prstGeom>
              <a:noFill/>
              <a:ln w="9525">
                <a:noFill/>
                <a:miter lim="800000"/>
                <a:headEnd/>
                <a:tailEnd/>
              </a:ln>
            </p:spPr>
          </p:pic>
          <p:sp>
            <p:nvSpPr>
              <p:cNvPr id="1407" name="Line 302"/>
              <p:cNvSpPr>
                <a:spLocks noChangeShapeType="1"/>
              </p:cNvSpPr>
              <p:nvPr/>
            </p:nvSpPr>
            <p:spPr bwMode="auto">
              <a:xfrm flipH="1">
                <a:off x="3104" y="784"/>
                <a:ext cx="88" cy="0"/>
              </a:xfrm>
              <a:prstGeom prst="line">
                <a:avLst/>
              </a:prstGeom>
              <a:noFill/>
              <a:ln w="9525">
                <a:solidFill>
                  <a:schemeClr val="tx1"/>
                </a:solidFill>
                <a:round/>
                <a:headEnd/>
                <a:tailEnd/>
              </a:ln>
            </p:spPr>
            <p:txBody>
              <a:bodyPr/>
              <a:lstStyle/>
              <a:p>
                <a:endParaRPr lang="de-DE"/>
              </a:p>
            </p:txBody>
          </p:sp>
          <p:sp>
            <p:nvSpPr>
              <p:cNvPr id="1408" name="Line 303"/>
              <p:cNvSpPr>
                <a:spLocks noChangeShapeType="1"/>
              </p:cNvSpPr>
              <p:nvPr/>
            </p:nvSpPr>
            <p:spPr bwMode="auto">
              <a:xfrm flipH="1">
                <a:off x="3072" y="760"/>
                <a:ext cx="144" cy="0"/>
              </a:xfrm>
              <a:prstGeom prst="line">
                <a:avLst/>
              </a:prstGeom>
              <a:noFill/>
              <a:ln w="9525">
                <a:solidFill>
                  <a:schemeClr val="tx1"/>
                </a:solidFill>
                <a:round/>
                <a:headEnd/>
                <a:tailEnd/>
              </a:ln>
            </p:spPr>
            <p:txBody>
              <a:bodyPr/>
              <a:lstStyle/>
              <a:p>
                <a:endParaRPr lang="de-DE"/>
              </a:p>
            </p:txBody>
          </p:sp>
        </p:grpSp>
        <p:pic>
          <p:nvPicPr>
            <p:cNvPr id="1140" name="Picture 304" descr="imgyjavg[1]"/>
            <p:cNvPicPr>
              <a:picLocks noChangeAspect="1" noChangeArrowheads="1"/>
            </p:cNvPicPr>
            <p:nvPr/>
          </p:nvPicPr>
          <p:blipFill>
            <a:blip r:embed="rId5" cstate="print"/>
            <a:srcRect/>
            <a:stretch>
              <a:fillRect/>
            </a:stretch>
          </p:blipFill>
          <p:spPr bwMode="auto">
            <a:xfrm>
              <a:off x="3399" y="1417"/>
              <a:ext cx="232" cy="168"/>
            </a:xfrm>
            <a:prstGeom prst="rect">
              <a:avLst/>
            </a:prstGeom>
            <a:noFill/>
            <a:ln w="9525">
              <a:noFill/>
              <a:miter lim="800000"/>
              <a:headEnd/>
              <a:tailEnd/>
            </a:ln>
          </p:spPr>
        </p:pic>
        <p:grpSp>
          <p:nvGrpSpPr>
            <p:cNvPr id="9" name="Group 305"/>
            <p:cNvGrpSpPr>
              <a:grpSpLocks/>
            </p:cNvGrpSpPr>
            <p:nvPr/>
          </p:nvGrpSpPr>
          <p:grpSpPr bwMode="auto">
            <a:xfrm>
              <a:off x="3880" y="1303"/>
              <a:ext cx="256" cy="269"/>
              <a:chOff x="2870" y="1518"/>
              <a:chExt cx="292" cy="320"/>
            </a:xfrm>
          </p:grpSpPr>
          <p:graphicFrame>
            <p:nvGraphicFramePr>
              <p:cNvPr id="1040" name="Object 3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6" imgW="826829" imgH="840406" progId="">
                      <p:embed/>
                    </p:oleObj>
                  </mc:Choice>
                  <mc:Fallback>
                    <p:oleObj name="Clip" r:id="rId6" imgW="826829" imgH="840406" progId="">
                      <p:embed/>
                      <p:pic>
                        <p:nvPicPr>
                          <p:cNvPr id="0" name="Picture 19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1" name="Object 3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8" imgW="1268295" imgH="1199426" progId="">
                      <p:embed/>
                    </p:oleObj>
                  </mc:Choice>
                  <mc:Fallback>
                    <p:oleObj name="Clip" r:id="rId8" imgW="1268295" imgH="1199426" progId="">
                      <p:embed/>
                      <p:pic>
                        <p:nvPicPr>
                          <p:cNvPr id="0" name="Picture 19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Group 308"/>
            <p:cNvGrpSpPr>
              <a:grpSpLocks/>
            </p:cNvGrpSpPr>
            <p:nvPr/>
          </p:nvGrpSpPr>
          <p:grpSpPr bwMode="auto">
            <a:xfrm>
              <a:off x="4338" y="2487"/>
              <a:ext cx="228" cy="108"/>
              <a:chOff x="3600" y="219"/>
              <a:chExt cx="360" cy="175"/>
            </a:xfrm>
          </p:grpSpPr>
          <p:sp>
            <p:nvSpPr>
              <p:cNvPr id="1393" name="Oval 30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94" name="Line 31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95" name="Line 31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96" name="Rectangle 31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97" name="Oval 3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1" name="Group 314"/>
              <p:cNvGrpSpPr>
                <a:grpSpLocks/>
              </p:cNvGrpSpPr>
              <p:nvPr/>
            </p:nvGrpSpPr>
            <p:grpSpPr bwMode="auto">
              <a:xfrm>
                <a:off x="3686" y="244"/>
                <a:ext cx="177" cy="66"/>
                <a:chOff x="2848" y="848"/>
                <a:chExt cx="140" cy="98"/>
              </a:xfrm>
            </p:grpSpPr>
            <p:sp>
              <p:nvSpPr>
                <p:cNvPr id="1403" name="Line 3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404" name="Line 3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405" name="Line 3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2" name="Group 318"/>
              <p:cNvGrpSpPr>
                <a:grpSpLocks/>
              </p:cNvGrpSpPr>
              <p:nvPr/>
            </p:nvGrpSpPr>
            <p:grpSpPr bwMode="auto">
              <a:xfrm flipV="1">
                <a:off x="3686" y="243"/>
                <a:ext cx="177" cy="66"/>
                <a:chOff x="2848" y="848"/>
                <a:chExt cx="140" cy="98"/>
              </a:xfrm>
            </p:grpSpPr>
            <p:sp>
              <p:nvSpPr>
                <p:cNvPr id="1400" name="Line 31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401" name="Line 32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402" name="Line 32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3" name="Group 322"/>
            <p:cNvGrpSpPr>
              <a:grpSpLocks/>
            </p:cNvGrpSpPr>
            <p:nvPr/>
          </p:nvGrpSpPr>
          <p:grpSpPr bwMode="auto">
            <a:xfrm>
              <a:off x="4562" y="2663"/>
              <a:ext cx="228" cy="108"/>
              <a:chOff x="3600" y="219"/>
              <a:chExt cx="360" cy="175"/>
            </a:xfrm>
          </p:grpSpPr>
          <p:sp>
            <p:nvSpPr>
              <p:cNvPr id="1380" name="Oval 32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81" name="Line 32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82" name="Line 32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83" name="Rectangle 32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84" name="Oval 32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4" name="Group 328"/>
              <p:cNvGrpSpPr>
                <a:grpSpLocks/>
              </p:cNvGrpSpPr>
              <p:nvPr/>
            </p:nvGrpSpPr>
            <p:grpSpPr bwMode="auto">
              <a:xfrm>
                <a:off x="3686" y="244"/>
                <a:ext cx="177" cy="66"/>
                <a:chOff x="2848" y="848"/>
                <a:chExt cx="140" cy="98"/>
              </a:xfrm>
            </p:grpSpPr>
            <p:sp>
              <p:nvSpPr>
                <p:cNvPr id="1390" name="Line 32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91" name="Line 33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92" name="Line 33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5" name="Group 332"/>
              <p:cNvGrpSpPr>
                <a:grpSpLocks/>
              </p:cNvGrpSpPr>
              <p:nvPr/>
            </p:nvGrpSpPr>
            <p:grpSpPr bwMode="auto">
              <a:xfrm flipV="1">
                <a:off x="3686" y="243"/>
                <a:ext cx="177" cy="66"/>
                <a:chOff x="2848" y="848"/>
                <a:chExt cx="140" cy="98"/>
              </a:xfrm>
            </p:grpSpPr>
            <p:sp>
              <p:nvSpPr>
                <p:cNvPr id="1387" name="Line 33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88" name="Line 33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89" name="Line 33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6" name="Group 336"/>
            <p:cNvGrpSpPr>
              <a:grpSpLocks/>
            </p:cNvGrpSpPr>
            <p:nvPr/>
          </p:nvGrpSpPr>
          <p:grpSpPr bwMode="auto">
            <a:xfrm>
              <a:off x="4738" y="2495"/>
              <a:ext cx="228" cy="108"/>
              <a:chOff x="3600" y="219"/>
              <a:chExt cx="360" cy="175"/>
            </a:xfrm>
          </p:grpSpPr>
          <p:sp>
            <p:nvSpPr>
              <p:cNvPr id="1367" name="Oval 33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68" name="Line 33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69" name="Line 33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70" name="Rectangle 34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71" name="Oval 34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7" name="Group 342"/>
              <p:cNvGrpSpPr>
                <a:grpSpLocks/>
              </p:cNvGrpSpPr>
              <p:nvPr/>
            </p:nvGrpSpPr>
            <p:grpSpPr bwMode="auto">
              <a:xfrm>
                <a:off x="3686" y="244"/>
                <a:ext cx="177" cy="66"/>
                <a:chOff x="2848" y="848"/>
                <a:chExt cx="140" cy="98"/>
              </a:xfrm>
            </p:grpSpPr>
            <p:sp>
              <p:nvSpPr>
                <p:cNvPr id="1377" name="Line 34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78" name="Line 34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79" name="Line 34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8" name="Group 346"/>
              <p:cNvGrpSpPr>
                <a:grpSpLocks/>
              </p:cNvGrpSpPr>
              <p:nvPr/>
            </p:nvGrpSpPr>
            <p:grpSpPr bwMode="auto">
              <a:xfrm flipV="1">
                <a:off x="3686" y="243"/>
                <a:ext cx="177" cy="66"/>
                <a:chOff x="2848" y="848"/>
                <a:chExt cx="140" cy="98"/>
              </a:xfrm>
            </p:grpSpPr>
            <p:sp>
              <p:nvSpPr>
                <p:cNvPr id="1374" name="Line 34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75" name="Line 34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76" name="Line 34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9" name="Group 350"/>
            <p:cNvGrpSpPr>
              <a:grpSpLocks/>
            </p:cNvGrpSpPr>
            <p:nvPr/>
          </p:nvGrpSpPr>
          <p:grpSpPr bwMode="auto">
            <a:xfrm>
              <a:off x="4401" y="1766"/>
              <a:ext cx="221" cy="101"/>
              <a:chOff x="3600" y="219"/>
              <a:chExt cx="360" cy="175"/>
            </a:xfrm>
          </p:grpSpPr>
          <p:sp>
            <p:nvSpPr>
              <p:cNvPr id="1354" name="Oval 35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55" name="Line 35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56" name="Line 35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57" name="Rectangle 35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58" name="Oval 35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0" name="Group 356"/>
              <p:cNvGrpSpPr>
                <a:grpSpLocks/>
              </p:cNvGrpSpPr>
              <p:nvPr/>
            </p:nvGrpSpPr>
            <p:grpSpPr bwMode="auto">
              <a:xfrm>
                <a:off x="3686" y="244"/>
                <a:ext cx="177" cy="66"/>
                <a:chOff x="2848" y="848"/>
                <a:chExt cx="140" cy="98"/>
              </a:xfrm>
            </p:grpSpPr>
            <p:sp>
              <p:nvSpPr>
                <p:cNvPr id="1364" name="Line 35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65" name="Line 35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66" name="Line 35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1" name="Group 360"/>
              <p:cNvGrpSpPr>
                <a:grpSpLocks/>
              </p:cNvGrpSpPr>
              <p:nvPr/>
            </p:nvGrpSpPr>
            <p:grpSpPr bwMode="auto">
              <a:xfrm flipV="1">
                <a:off x="3686" y="243"/>
                <a:ext cx="177" cy="66"/>
                <a:chOff x="2848" y="848"/>
                <a:chExt cx="140" cy="98"/>
              </a:xfrm>
            </p:grpSpPr>
            <p:sp>
              <p:nvSpPr>
                <p:cNvPr id="1361" name="Line 36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62" name="Line 36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63" name="Line 36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2" name="Group 364"/>
            <p:cNvGrpSpPr>
              <a:grpSpLocks/>
            </p:cNvGrpSpPr>
            <p:nvPr/>
          </p:nvGrpSpPr>
          <p:grpSpPr bwMode="auto">
            <a:xfrm>
              <a:off x="4400" y="1927"/>
              <a:ext cx="228" cy="108"/>
              <a:chOff x="3600" y="219"/>
              <a:chExt cx="360" cy="175"/>
            </a:xfrm>
          </p:grpSpPr>
          <p:sp>
            <p:nvSpPr>
              <p:cNvPr id="1341" name="Oval 36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42" name="Line 36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43" name="Line 36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44" name="Rectangle 36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45" name="Oval 36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3" name="Group 370"/>
              <p:cNvGrpSpPr>
                <a:grpSpLocks/>
              </p:cNvGrpSpPr>
              <p:nvPr/>
            </p:nvGrpSpPr>
            <p:grpSpPr bwMode="auto">
              <a:xfrm>
                <a:off x="3686" y="244"/>
                <a:ext cx="177" cy="66"/>
                <a:chOff x="2848" y="848"/>
                <a:chExt cx="140" cy="98"/>
              </a:xfrm>
            </p:grpSpPr>
            <p:sp>
              <p:nvSpPr>
                <p:cNvPr id="1351" name="Line 37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52" name="Line 37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53" name="Line 37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4" name="Group 374"/>
              <p:cNvGrpSpPr>
                <a:grpSpLocks/>
              </p:cNvGrpSpPr>
              <p:nvPr/>
            </p:nvGrpSpPr>
            <p:grpSpPr bwMode="auto">
              <a:xfrm flipV="1">
                <a:off x="3686" y="243"/>
                <a:ext cx="177" cy="66"/>
                <a:chOff x="2848" y="848"/>
                <a:chExt cx="140" cy="98"/>
              </a:xfrm>
            </p:grpSpPr>
            <p:sp>
              <p:nvSpPr>
                <p:cNvPr id="1348" name="Line 37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49" name="Line 37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50" name="Line 37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5" name="Group 378"/>
            <p:cNvGrpSpPr>
              <a:grpSpLocks/>
            </p:cNvGrpSpPr>
            <p:nvPr/>
          </p:nvGrpSpPr>
          <p:grpSpPr bwMode="auto">
            <a:xfrm>
              <a:off x="4700" y="1706"/>
              <a:ext cx="210" cy="97"/>
              <a:chOff x="3600" y="219"/>
              <a:chExt cx="360" cy="175"/>
            </a:xfrm>
          </p:grpSpPr>
          <p:sp>
            <p:nvSpPr>
              <p:cNvPr id="1328" name="Oval 37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29" name="Line 38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30" name="Line 38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31" name="Rectangle 38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32" name="Oval 38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6" name="Group 384"/>
              <p:cNvGrpSpPr>
                <a:grpSpLocks/>
              </p:cNvGrpSpPr>
              <p:nvPr/>
            </p:nvGrpSpPr>
            <p:grpSpPr bwMode="auto">
              <a:xfrm>
                <a:off x="3686" y="244"/>
                <a:ext cx="177" cy="66"/>
                <a:chOff x="2848" y="848"/>
                <a:chExt cx="140" cy="98"/>
              </a:xfrm>
            </p:grpSpPr>
            <p:sp>
              <p:nvSpPr>
                <p:cNvPr id="1338" name="Line 38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39" name="Line 38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40" name="Line 38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7" name="Group 388"/>
              <p:cNvGrpSpPr>
                <a:grpSpLocks/>
              </p:cNvGrpSpPr>
              <p:nvPr/>
            </p:nvGrpSpPr>
            <p:grpSpPr bwMode="auto">
              <a:xfrm flipV="1">
                <a:off x="3686" y="243"/>
                <a:ext cx="177" cy="66"/>
                <a:chOff x="2848" y="848"/>
                <a:chExt cx="140" cy="98"/>
              </a:xfrm>
            </p:grpSpPr>
            <p:sp>
              <p:nvSpPr>
                <p:cNvPr id="1335" name="Line 38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36" name="Line 39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37" name="Line 39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8" name="Group 392"/>
            <p:cNvGrpSpPr>
              <a:grpSpLocks/>
            </p:cNvGrpSpPr>
            <p:nvPr/>
          </p:nvGrpSpPr>
          <p:grpSpPr bwMode="auto">
            <a:xfrm>
              <a:off x="4754" y="1927"/>
              <a:ext cx="228" cy="108"/>
              <a:chOff x="3600" y="219"/>
              <a:chExt cx="360" cy="175"/>
            </a:xfrm>
          </p:grpSpPr>
          <p:sp>
            <p:nvSpPr>
              <p:cNvPr id="1315" name="Oval 39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16" name="Line 39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17" name="Line 39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18" name="Rectangle 39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19" name="Oval 39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9" name="Group 398"/>
              <p:cNvGrpSpPr>
                <a:grpSpLocks/>
              </p:cNvGrpSpPr>
              <p:nvPr/>
            </p:nvGrpSpPr>
            <p:grpSpPr bwMode="auto">
              <a:xfrm>
                <a:off x="3686" y="244"/>
                <a:ext cx="177" cy="66"/>
                <a:chOff x="2848" y="848"/>
                <a:chExt cx="140" cy="98"/>
              </a:xfrm>
            </p:grpSpPr>
            <p:sp>
              <p:nvSpPr>
                <p:cNvPr id="1325" name="Line 39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26" name="Line 40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27" name="Line 40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30" name="Group 402"/>
              <p:cNvGrpSpPr>
                <a:grpSpLocks/>
              </p:cNvGrpSpPr>
              <p:nvPr/>
            </p:nvGrpSpPr>
            <p:grpSpPr bwMode="auto">
              <a:xfrm flipV="1">
                <a:off x="3686" y="243"/>
                <a:ext cx="177" cy="66"/>
                <a:chOff x="2848" y="848"/>
                <a:chExt cx="140" cy="98"/>
              </a:xfrm>
            </p:grpSpPr>
            <p:sp>
              <p:nvSpPr>
                <p:cNvPr id="1322" name="Line 40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23" name="Line 40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24" name="Line 40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31" name="Group 406"/>
            <p:cNvGrpSpPr>
              <a:grpSpLocks/>
            </p:cNvGrpSpPr>
            <p:nvPr/>
          </p:nvGrpSpPr>
          <p:grpSpPr bwMode="auto">
            <a:xfrm>
              <a:off x="3866" y="1763"/>
              <a:ext cx="220" cy="100"/>
              <a:chOff x="3600" y="219"/>
              <a:chExt cx="360" cy="175"/>
            </a:xfrm>
          </p:grpSpPr>
          <p:sp>
            <p:nvSpPr>
              <p:cNvPr id="1302" name="Oval 40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03" name="Line 40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04" name="Line 40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05" name="Rectangle 41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06" name="Oval 41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24" name="Group 412"/>
              <p:cNvGrpSpPr>
                <a:grpSpLocks/>
              </p:cNvGrpSpPr>
              <p:nvPr/>
            </p:nvGrpSpPr>
            <p:grpSpPr bwMode="auto">
              <a:xfrm>
                <a:off x="3686" y="244"/>
                <a:ext cx="177" cy="66"/>
                <a:chOff x="2848" y="848"/>
                <a:chExt cx="140" cy="98"/>
              </a:xfrm>
            </p:grpSpPr>
            <p:sp>
              <p:nvSpPr>
                <p:cNvPr id="1312" name="Line 41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13" name="Line 41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14" name="Line 41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25" name="Group 416"/>
              <p:cNvGrpSpPr>
                <a:grpSpLocks/>
              </p:cNvGrpSpPr>
              <p:nvPr/>
            </p:nvGrpSpPr>
            <p:grpSpPr bwMode="auto">
              <a:xfrm flipV="1">
                <a:off x="3686" y="243"/>
                <a:ext cx="177" cy="66"/>
                <a:chOff x="2848" y="848"/>
                <a:chExt cx="140" cy="98"/>
              </a:xfrm>
            </p:grpSpPr>
            <p:sp>
              <p:nvSpPr>
                <p:cNvPr id="1309" name="Line 41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10" name="Line 41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11" name="Line 41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42" name="Group 420"/>
            <p:cNvGrpSpPr>
              <a:grpSpLocks/>
            </p:cNvGrpSpPr>
            <p:nvPr/>
          </p:nvGrpSpPr>
          <p:grpSpPr bwMode="auto">
            <a:xfrm>
              <a:off x="3673" y="2487"/>
              <a:ext cx="220" cy="100"/>
              <a:chOff x="3600" y="219"/>
              <a:chExt cx="360" cy="175"/>
            </a:xfrm>
          </p:grpSpPr>
          <p:sp>
            <p:nvSpPr>
              <p:cNvPr id="1289" name="Oval 42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90" name="Line 42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91" name="Line 42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92" name="Rectangle 42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93" name="Oval 42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45" name="Group 426"/>
              <p:cNvGrpSpPr>
                <a:grpSpLocks/>
              </p:cNvGrpSpPr>
              <p:nvPr/>
            </p:nvGrpSpPr>
            <p:grpSpPr bwMode="auto">
              <a:xfrm>
                <a:off x="3686" y="244"/>
                <a:ext cx="177" cy="66"/>
                <a:chOff x="2848" y="848"/>
                <a:chExt cx="140" cy="98"/>
              </a:xfrm>
            </p:grpSpPr>
            <p:sp>
              <p:nvSpPr>
                <p:cNvPr id="1299" name="Line 42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00" name="Line 42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01" name="Line 42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46" name="Group 430"/>
              <p:cNvGrpSpPr>
                <a:grpSpLocks/>
              </p:cNvGrpSpPr>
              <p:nvPr/>
            </p:nvGrpSpPr>
            <p:grpSpPr bwMode="auto">
              <a:xfrm flipV="1">
                <a:off x="3686" y="243"/>
                <a:ext cx="177" cy="66"/>
                <a:chOff x="2848" y="848"/>
                <a:chExt cx="140" cy="98"/>
              </a:xfrm>
            </p:grpSpPr>
            <p:sp>
              <p:nvSpPr>
                <p:cNvPr id="1296" name="Line 43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97" name="Line 43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98" name="Line 43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51" name="Line 434"/>
            <p:cNvSpPr>
              <a:spLocks noChangeShapeType="1"/>
            </p:cNvSpPr>
            <p:nvPr/>
          </p:nvSpPr>
          <p:spPr bwMode="auto">
            <a:xfrm flipV="1">
              <a:off x="4430" y="2757"/>
              <a:ext cx="143" cy="275"/>
            </a:xfrm>
            <a:prstGeom prst="line">
              <a:avLst/>
            </a:prstGeom>
            <a:noFill/>
            <a:ln w="9525">
              <a:solidFill>
                <a:schemeClr val="tx1"/>
              </a:solidFill>
              <a:round/>
              <a:headEnd/>
              <a:tailEnd/>
            </a:ln>
          </p:spPr>
          <p:txBody>
            <a:bodyPr/>
            <a:lstStyle/>
            <a:p>
              <a:endParaRPr lang="de-DE"/>
            </a:p>
          </p:txBody>
        </p:sp>
        <p:sp>
          <p:nvSpPr>
            <p:cNvPr id="1152" name="Line 435"/>
            <p:cNvSpPr>
              <a:spLocks noChangeShapeType="1"/>
            </p:cNvSpPr>
            <p:nvPr/>
          </p:nvSpPr>
          <p:spPr bwMode="auto">
            <a:xfrm>
              <a:off x="4508" y="2592"/>
              <a:ext cx="103" cy="76"/>
            </a:xfrm>
            <a:prstGeom prst="line">
              <a:avLst/>
            </a:prstGeom>
            <a:noFill/>
            <a:ln w="9525">
              <a:solidFill>
                <a:schemeClr val="tx1"/>
              </a:solidFill>
              <a:round/>
              <a:headEnd/>
              <a:tailEnd/>
            </a:ln>
          </p:spPr>
          <p:txBody>
            <a:bodyPr/>
            <a:lstStyle/>
            <a:p>
              <a:endParaRPr lang="de-DE"/>
            </a:p>
          </p:txBody>
        </p:sp>
        <p:sp>
          <p:nvSpPr>
            <p:cNvPr id="1153" name="Line 436"/>
            <p:cNvSpPr>
              <a:spLocks noChangeShapeType="1"/>
            </p:cNvSpPr>
            <p:nvPr/>
          </p:nvSpPr>
          <p:spPr bwMode="auto">
            <a:xfrm>
              <a:off x="4569" y="2542"/>
              <a:ext cx="176" cy="0"/>
            </a:xfrm>
            <a:prstGeom prst="line">
              <a:avLst/>
            </a:prstGeom>
            <a:noFill/>
            <a:ln w="9525">
              <a:solidFill>
                <a:schemeClr val="tx1"/>
              </a:solidFill>
              <a:round/>
              <a:headEnd/>
              <a:tailEnd/>
            </a:ln>
          </p:spPr>
          <p:txBody>
            <a:bodyPr/>
            <a:lstStyle/>
            <a:p>
              <a:endParaRPr lang="de-DE"/>
            </a:p>
          </p:txBody>
        </p:sp>
        <p:sp>
          <p:nvSpPr>
            <p:cNvPr id="1154" name="Line 437"/>
            <p:cNvSpPr>
              <a:spLocks noChangeShapeType="1"/>
            </p:cNvSpPr>
            <p:nvPr/>
          </p:nvSpPr>
          <p:spPr bwMode="auto">
            <a:xfrm flipV="1">
              <a:off x="4718" y="2596"/>
              <a:ext cx="85" cy="66"/>
            </a:xfrm>
            <a:prstGeom prst="line">
              <a:avLst/>
            </a:prstGeom>
            <a:noFill/>
            <a:ln w="9525">
              <a:solidFill>
                <a:schemeClr val="tx1"/>
              </a:solidFill>
              <a:round/>
              <a:headEnd/>
              <a:tailEnd/>
            </a:ln>
          </p:spPr>
          <p:txBody>
            <a:bodyPr/>
            <a:lstStyle/>
            <a:p>
              <a:endParaRPr lang="de-DE"/>
            </a:p>
          </p:txBody>
        </p:sp>
        <p:sp>
          <p:nvSpPr>
            <p:cNvPr id="1155" name="Line 438"/>
            <p:cNvSpPr>
              <a:spLocks noChangeShapeType="1"/>
            </p:cNvSpPr>
            <p:nvPr/>
          </p:nvSpPr>
          <p:spPr bwMode="auto">
            <a:xfrm>
              <a:off x="3898" y="2546"/>
              <a:ext cx="428" cy="0"/>
            </a:xfrm>
            <a:prstGeom prst="line">
              <a:avLst/>
            </a:prstGeom>
            <a:noFill/>
            <a:ln w="9525">
              <a:solidFill>
                <a:schemeClr val="tx1"/>
              </a:solidFill>
              <a:round/>
              <a:headEnd/>
              <a:tailEnd/>
            </a:ln>
          </p:spPr>
          <p:txBody>
            <a:bodyPr/>
            <a:lstStyle/>
            <a:p>
              <a:endParaRPr lang="de-DE"/>
            </a:p>
          </p:txBody>
        </p:sp>
        <p:grpSp>
          <p:nvGrpSpPr>
            <p:cNvPr id="1047" name="Group 439"/>
            <p:cNvGrpSpPr>
              <a:grpSpLocks/>
            </p:cNvGrpSpPr>
            <p:nvPr/>
          </p:nvGrpSpPr>
          <p:grpSpPr bwMode="auto">
            <a:xfrm>
              <a:off x="3424" y="2213"/>
              <a:ext cx="209" cy="224"/>
              <a:chOff x="2870" y="1518"/>
              <a:chExt cx="292" cy="320"/>
            </a:xfrm>
          </p:grpSpPr>
          <p:graphicFrame>
            <p:nvGraphicFramePr>
              <p:cNvPr id="1038" name="Object 4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0" imgW="826829" imgH="840406" progId="">
                      <p:embed/>
                    </p:oleObj>
                  </mc:Choice>
                  <mc:Fallback>
                    <p:oleObj name="Clip" r:id="rId10" imgW="826829" imgH="840406" progId="">
                      <p:embed/>
                      <p:pic>
                        <p:nvPicPr>
                          <p:cNvPr id="0" name="Picture 19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9" name="Object 4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1" imgW="1268295" imgH="1199426" progId="">
                      <p:embed/>
                    </p:oleObj>
                  </mc:Choice>
                  <mc:Fallback>
                    <p:oleObj name="Clip" r:id="rId11" imgW="1268295" imgH="1199426" progId="">
                      <p:embed/>
                      <p:pic>
                        <p:nvPicPr>
                          <p:cNvPr id="0" name="Picture 20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48" name="Group 442"/>
            <p:cNvGrpSpPr>
              <a:grpSpLocks/>
            </p:cNvGrpSpPr>
            <p:nvPr/>
          </p:nvGrpSpPr>
          <p:grpSpPr bwMode="auto">
            <a:xfrm>
              <a:off x="3452" y="2445"/>
              <a:ext cx="139" cy="194"/>
              <a:chOff x="2556" y="2689"/>
              <a:chExt cx="183" cy="255"/>
            </a:xfrm>
          </p:grpSpPr>
          <p:pic>
            <p:nvPicPr>
              <p:cNvPr id="1272" name="Picture 443" descr="31u_bnrz[1]"/>
              <p:cNvPicPr>
                <a:picLocks noChangeAspect="1" noChangeArrowheads="1"/>
              </p:cNvPicPr>
              <p:nvPr/>
            </p:nvPicPr>
            <p:blipFill>
              <a:blip r:embed="rId12" cstate="print"/>
              <a:srcRect/>
              <a:stretch>
                <a:fillRect/>
              </a:stretch>
            </p:blipFill>
            <p:spPr bwMode="auto">
              <a:xfrm>
                <a:off x="2609" y="2770"/>
                <a:ext cx="121" cy="174"/>
              </a:xfrm>
              <a:prstGeom prst="rect">
                <a:avLst/>
              </a:prstGeom>
              <a:noFill/>
              <a:ln w="9525">
                <a:noFill/>
                <a:miter lim="800000"/>
                <a:headEnd/>
                <a:tailEnd/>
              </a:ln>
            </p:spPr>
          </p:pic>
          <p:sp>
            <p:nvSpPr>
              <p:cNvPr id="1273" name="Freeform 444"/>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74" name="Freeform 445"/>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75" name="Freeform 446"/>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276" name="Freeform 447"/>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277" name="Freeform 448"/>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278" name="Freeform 449"/>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279" name="Freeform 450"/>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280" name="Freeform 451"/>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281" name="Freeform 452"/>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282" name="Freeform 453"/>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283" name="Freeform 454"/>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round/>
                <a:headEnd/>
                <a:tailEnd/>
              </a:ln>
            </p:spPr>
            <p:txBody>
              <a:bodyPr/>
              <a:lstStyle/>
              <a:p>
                <a:endParaRPr lang="de-DE"/>
              </a:p>
            </p:txBody>
          </p:sp>
          <p:sp>
            <p:nvSpPr>
              <p:cNvPr id="1284" name="Freeform 455"/>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round/>
                <a:headEnd/>
                <a:tailEnd/>
              </a:ln>
            </p:spPr>
            <p:txBody>
              <a:bodyPr/>
              <a:lstStyle/>
              <a:p>
                <a:endParaRPr lang="de-DE"/>
              </a:p>
            </p:txBody>
          </p:sp>
          <p:sp>
            <p:nvSpPr>
              <p:cNvPr id="1285" name="Freeform 456"/>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round/>
                <a:headEnd/>
                <a:tailEnd/>
              </a:ln>
            </p:spPr>
            <p:txBody>
              <a:bodyPr/>
              <a:lstStyle/>
              <a:p>
                <a:endParaRPr lang="de-DE"/>
              </a:p>
            </p:txBody>
          </p:sp>
          <p:sp>
            <p:nvSpPr>
              <p:cNvPr id="1286" name="Freeform 457"/>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round/>
                <a:headEnd/>
                <a:tailEnd/>
              </a:ln>
            </p:spPr>
            <p:txBody>
              <a:bodyPr/>
              <a:lstStyle/>
              <a:p>
                <a:endParaRPr lang="de-DE"/>
              </a:p>
            </p:txBody>
          </p:sp>
          <p:sp>
            <p:nvSpPr>
              <p:cNvPr id="1287" name="Freeform 458"/>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round/>
                <a:headEnd/>
                <a:tailEnd/>
              </a:ln>
            </p:spPr>
            <p:txBody>
              <a:bodyPr/>
              <a:lstStyle/>
              <a:p>
                <a:endParaRPr lang="de-DE"/>
              </a:p>
            </p:txBody>
          </p:sp>
          <p:sp>
            <p:nvSpPr>
              <p:cNvPr id="1288" name="Freeform 459"/>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round/>
                <a:headEnd/>
                <a:tailEnd/>
              </a:ln>
            </p:spPr>
            <p:txBody>
              <a:bodyPr/>
              <a:lstStyle/>
              <a:p>
                <a:endParaRPr lang="de-DE"/>
              </a:p>
            </p:txBody>
          </p:sp>
        </p:grpSp>
        <p:graphicFrame>
          <p:nvGraphicFramePr>
            <p:cNvPr id="1029" name="Object 460"/>
            <p:cNvGraphicFramePr>
              <a:graphicFrameLocks noChangeAspect="1"/>
            </p:cNvGraphicFramePr>
            <p:nvPr/>
          </p:nvGraphicFramePr>
          <p:xfrm>
            <a:off x="3694" y="2240"/>
            <a:ext cx="207" cy="173"/>
          </p:xfrm>
          <a:graphic>
            <a:graphicData uri="http://schemas.openxmlformats.org/presentationml/2006/ole">
              <mc:AlternateContent xmlns:mc="http://schemas.openxmlformats.org/markup-compatibility/2006">
                <mc:Choice xmlns:v="urn:schemas-microsoft-com:vml" Requires="v">
                  <p:oleObj name="Clip" r:id="rId13" imgW="1307263" imgH="1084139" progId="">
                    <p:embed/>
                  </p:oleObj>
                </mc:Choice>
                <mc:Fallback>
                  <p:oleObj name="Clip" r:id="rId13" imgW="1307263" imgH="1084139" progId="">
                    <p:embed/>
                    <p:pic>
                      <p:nvPicPr>
                        <p:cNvPr id="0" name="Picture 20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94" y="2240"/>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8" name="Line 461"/>
            <p:cNvSpPr>
              <a:spLocks noChangeShapeType="1"/>
            </p:cNvSpPr>
            <p:nvPr/>
          </p:nvSpPr>
          <p:spPr bwMode="auto">
            <a:xfrm>
              <a:off x="4084" y="1820"/>
              <a:ext cx="321" cy="2"/>
            </a:xfrm>
            <a:prstGeom prst="line">
              <a:avLst/>
            </a:prstGeom>
            <a:noFill/>
            <a:ln w="9525">
              <a:solidFill>
                <a:schemeClr val="tx1"/>
              </a:solidFill>
              <a:round/>
              <a:headEnd/>
              <a:tailEnd/>
            </a:ln>
          </p:spPr>
          <p:txBody>
            <a:bodyPr/>
            <a:lstStyle/>
            <a:p>
              <a:endParaRPr lang="de-DE"/>
            </a:p>
          </p:txBody>
        </p:sp>
        <p:sp>
          <p:nvSpPr>
            <p:cNvPr id="1159" name="Line 462"/>
            <p:cNvSpPr>
              <a:spLocks noChangeShapeType="1"/>
            </p:cNvSpPr>
            <p:nvPr/>
          </p:nvSpPr>
          <p:spPr bwMode="auto">
            <a:xfrm>
              <a:off x="3811" y="1712"/>
              <a:ext cx="96" cy="52"/>
            </a:xfrm>
            <a:prstGeom prst="line">
              <a:avLst/>
            </a:prstGeom>
            <a:noFill/>
            <a:ln w="9525">
              <a:solidFill>
                <a:schemeClr val="tx1"/>
              </a:solidFill>
              <a:round/>
              <a:headEnd/>
              <a:tailEnd/>
            </a:ln>
          </p:spPr>
          <p:txBody>
            <a:bodyPr/>
            <a:lstStyle/>
            <a:p>
              <a:endParaRPr lang="de-DE"/>
            </a:p>
          </p:txBody>
        </p:sp>
        <p:sp>
          <p:nvSpPr>
            <p:cNvPr id="1160" name="Freeform 463"/>
            <p:cNvSpPr>
              <a:spLocks/>
            </p:cNvSpPr>
            <p:nvPr/>
          </p:nvSpPr>
          <p:spPr bwMode="auto">
            <a:xfrm>
              <a:off x="3382" y="2976"/>
              <a:ext cx="1877" cy="917"/>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w="9525">
              <a:noFill/>
              <a:round/>
              <a:headEnd/>
              <a:tailEnd/>
            </a:ln>
          </p:spPr>
          <p:txBody>
            <a:bodyPr/>
            <a:lstStyle/>
            <a:p>
              <a:endParaRPr lang="de-DE"/>
            </a:p>
          </p:txBody>
        </p:sp>
        <p:sp>
          <p:nvSpPr>
            <p:cNvPr id="1161" name="Line 464"/>
            <p:cNvSpPr>
              <a:spLocks noChangeShapeType="1"/>
            </p:cNvSpPr>
            <p:nvPr/>
          </p:nvSpPr>
          <p:spPr bwMode="auto">
            <a:xfrm rot="-5400000">
              <a:off x="4791" y="3440"/>
              <a:ext cx="330" cy="88"/>
            </a:xfrm>
            <a:prstGeom prst="line">
              <a:avLst/>
            </a:prstGeom>
            <a:noFill/>
            <a:ln w="12700">
              <a:solidFill>
                <a:schemeClr val="tx1"/>
              </a:solidFill>
              <a:round/>
              <a:headEnd/>
              <a:tailEnd/>
            </a:ln>
          </p:spPr>
          <p:txBody>
            <a:bodyPr wrap="none" anchor="ctr"/>
            <a:lstStyle/>
            <a:p>
              <a:endParaRPr lang="de-DE"/>
            </a:p>
          </p:txBody>
        </p:sp>
        <p:grpSp>
          <p:nvGrpSpPr>
            <p:cNvPr id="1049" name="Group 465"/>
            <p:cNvGrpSpPr>
              <a:grpSpLocks/>
            </p:cNvGrpSpPr>
            <p:nvPr/>
          </p:nvGrpSpPr>
          <p:grpSpPr bwMode="auto">
            <a:xfrm>
              <a:off x="4736" y="3526"/>
              <a:ext cx="125" cy="230"/>
              <a:chOff x="4180" y="783"/>
              <a:chExt cx="150" cy="307"/>
            </a:xfrm>
          </p:grpSpPr>
          <p:sp>
            <p:nvSpPr>
              <p:cNvPr id="1264" name="AutoShape 46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265" name="Rectangle 467"/>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266" name="Rectangle 46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67" name="AutoShape 46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68" name="Line 470"/>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1269" name="Line 471"/>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1270" name="Rectangle 47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71" name="Rectangle 473"/>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163" name="Line 474"/>
            <p:cNvSpPr>
              <a:spLocks noChangeShapeType="1"/>
            </p:cNvSpPr>
            <p:nvPr/>
          </p:nvSpPr>
          <p:spPr bwMode="auto">
            <a:xfrm rot="5400000" flipV="1">
              <a:off x="4883" y="3617"/>
              <a:ext cx="2" cy="54"/>
            </a:xfrm>
            <a:prstGeom prst="line">
              <a:avLst/>
            </a:prstGeom>
            <a:noFill/>
            <a:ln w="12700">
              <a:solidFill>
                <a:schemeClr val="tx1"/>
              </a:solidFill>
              <a:round/>
              <a:headEnd/>
              <a:tailEnd/>
            </a:ln>
          </p:spPr>
          <p:txBody>
            <a:bodyPr wrap="none" anchor="ctr"/>
            <a:lstStyle/>
            <a:p>
              <a:endParaRPr lang="de-DE"/>
            </a:p>
          </p:txBody>
        </p:sp>
        <p:sp>
          <p:nvSpPr>
            <p:cNvPr id="1164" name="Line 475"/>
            <p:cNvSpPr>
              <a:spLocks noChangeShapeType="1"/>
            </p:cNvSpPr>
            <p:nvPr/>
          </p:nvSpPr>
          <p:spPr bwMode="auto">
            <a:xfrm rot="-5400000">
              <a:off x="5000" y="3413"/>
              <a:ext cx="0" cy="72"/>
            </a:xfrm>
            <a:prstGeom prst="line">
              <a:avLst/>
            </a:prstGeom>
            <a:noFill/>
            <a:ln w="12700">
              <a:solidFill>
                <a:schemeClr val="tx1"/>
              </a:solidFill>
              <a:round/>
              <a:headEnd/>
              <a:tailEnd/>
            </a:ln>
          </p:spPr>
          <p:txBody>
            <a:bodyPr wrap="none" anchor="ctr"/>
            <a:lstStyle/>
            <a:p>
              <a:endParaRPr lang="de-DE"/>
            </a:p>
          </p:txBody>
        </p:sp>
        <p:grpSp>
          <p:nvGrpSpPr>
            <p:cNvPr id="1050" name="Group 476"/>
            <p:cNvGrpSpPr>
              <a:grpSpLocks/>
            </p:cNvGrpSpPr>
            <p:nvPr/>
          </p:nvGrpSpPr>
          <p:grpSpPr bwMode="auto">
            <a:xfrm>
              <a:off x="4735" y="3230"/>
              <a:ext cx="316" cy="148"/>
              <a:chOff x="3600" y="219"/>
              <a:chExt cx="360" cy="175"/>
            </a:xfrm>
          </p:grpSpPr>
          <p:sp>
            <p:nvSpPr>
              <p:cNvPr id="1251" name="Oval 4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52" name="Line 47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53" name="Line 47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54" name="Rectangle 48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55" name="Oval 4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51" name="Group 482"/>
              <p:cNvGrpSpPr>
                <a:grpSpLocks/>
              </p:cNvGrpSpPr>
              <p:nvPr/>
            </p:nvGrpSpPr>
            <p:grpSpPr bwMode="auto">
              <a:xfrm>
                <a:off x="3686" y="244"/>
                <a:ext cx="177" cy="66"/>
                <a:chOff x="2848" y="848"/>
                <a:chExt cx="140" cy="98"/>
              </a:xfrm>
            </p:grpSpPr>
            <p:sp>
              <p:nvSpPr>
                <p:cNvPr id="1261" name="Line 48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62" name="Line 48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63" name="Line 48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52" name="Group 486"/>
              <p:cNvGrpSpPr>
                <a:grpSpLocks/>
              </p:cNvGrpSpPr>
              <p:nvPr/>
            </p:nvGrpSpPr>
            <p:grpSpPr bwMode="auto">
              <a:xfrm flipV="1">
                <a:off x="3686" y="243"/>
                <a:ext cx="177" cy="66"/>
                <a:chOff x="2848" y="848"/>
                <a:chExt cx="140" cy="98"/>
              </a:xfrm>
            </p:grpSpPr>
            <p:sp>
              <p:nvSpPr>
                <p:cNvPr id="1258" name="Line 48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59" name="Line 48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60" name="Line 48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53" name="Group 490"/>
            <p:cNvGrpSpPr>
              <a:grpSpLocks/>
            </p:cNvGrpSpPr>
            <p:nvPr/>
          </p:nvGrpSpPr>
          <p:grpSpPr bwMode="auto">
            <a:xfrm>
              <a:off x="4221" y="3056"/>
              <a:ext cx="316" cy="148"/>
              <a:chOff x="3600" y="219"/>
              <a:chExt cx="360" cy="175"/>
            </a:xfrm>
          </p:grpSpPr>
          <p:sp>
            <p:nvSpPr>
              <p:cNvPr id="1238" name="Oval 49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39" name="Line 49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40" name="Line 49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41" name="Rectangle 49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42" name="Oval 49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72" name="Group 496"/>
              <p:cNvGrpSpPr>
                <a:grpSpLocks/>
              </p:cNvGrpSpPr>
              <p:nvPr/>
            </p:nvGrpSpPr>
            <p:grpSpPr bwMode="auto">
              <a:xfrm>
                <a:off x="3686" y="244"/>
                <a:ext cx="177" cy="66"/>
                <a:chOff x="2848" y="848"/>
                <a:chExt cx="140" cy="98"/>
              </a:xfrm>
            </p:grpSpPr>
            <p:sp>
              <p:nvSpPr>
                <p:cNvPr id="1248" name="Line 49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49" name="Line 49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50" name="Line 49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73" name="Group 500"/>
              <p:cNvGrpSpPr>
                <a:grpSpLocks/>
              </p:cNvGrpSpPr>
              <p:nvPr/>
            </p:nvGrpSpPr>
            <p:grpSpPr bwMode="auto">
              <a:xfrm flipV="1">
                <a:off x="3686" y="243"/>
                <a:ext cx="177" cy="66"/>
                <a:chOff x="2848" y="848"/>
                <a:chExt cx="140" cy="98"/>
              </a:xfrm>
            </p:grpSpPr>
            <p:sp>
              <p:nvSpPr>
                <p:cNvPr id="1245" name="Line 50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46" name="Line 50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47" name="Line 50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74" name="Group 504"/>
            <p:cNvGrpSpPr>
              <a:grpSpLocks/>
            </p:cNvGrpSpPr>
            <p:nvPr/>
          </p:nvGrpSpPr>
          <p:grpSpPr bwMode="auto">
            <a:xfrm>
              <a:off x="3802" y="3248"/>
              <a:ext cx="316" cy="148"/>
              <a:chOff x="3600" y="219"/>
              <a:chExt cx="360" cy="175"/>
            </a:xfrm>
          </p:grpSpPr>
          <p:sp>
            <p:nvSpPr>
              <p:cNvPr id="1225" name="Oval 50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26" name="Line 50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27" name="Line 50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28" name="Rectangle 50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29" name="Oval 50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104" name="Group 510"/>
              <p:cNvGrpSpPr>
                <a:grpSpLocks/>
              </p:cNvGrpSpPr>
              <p:nvPr/>
            </p:nvGrpSpPr>
            <p:grpSpPr bwMode="auto">
              <a:xfrm>
                <a:off x="3686" y="244"/>
                <a:ext cx="177" cy="66"/>
                <a:chOff x="2848" y="848"/>
                <a:chExt cx="140" cy="98"/>
              </a:xfrm>
            </p:grpSpPr>
            <p:sp>
              <p:nvSpPr>
                <p:cNvPr id="1235" name="Line 51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36" name="Line 51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37" name="Line 51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105" name="Group 514"/>
              <p:cNvGrpSpPr>
                <a:grpSpLocks/>
              </p:cNvGrpSpPr>
              <p:nvPr/>
            </p:nvGrpSpPr>
            <p:grpSpPr bwMode="auto">
              <a:xfrm flipV="1">
                <a:off x="3686" y="243"/>
                <a:ext cx="177" cy="66"/>
                <a:chOff x="2848" y="848"/>
                <a:chExt cx="140" cy="98"/>
              </a:xfrm>
            </p:grpSpPr>
            <p:sp>
              <p:nvSpPr>
                <p:cNvPr id="1232" name="Line 5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33" name="Line 5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34" name="Line 5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68" name="Line 518"/>
            <p:cNvSpPr>
              <a:spLocks noChangeShapeType="1"/>
            </p:cNvSpPr>
            <p:nvPr/>
          </p:nvSpPr>
          <p:spPr bwMode="auto">
            <a:xfrm>
              <a:off x="4504" y="3189"/>
              <a:ext cx="226" cy="76"/>
            </a:xfrm>
            <a:prstGeom prst="line">
              <a:avLst/>
            </a:prstGeom>
            <a:noFill/>
            <a:ln w="9525">
              <a:solidFill>
                <a:schemeClr val="tx1"/>
              </a:solidFill>
              <a:round/>
              <a:headEnd/>
              <a:tailEnd/>
            </a:ln>
          </p:spPr>
          <p:txBody>
            <a:bodyPr/>
            <a:lstStyle/>
            <a:p>
              <a:endParaRPr lang="de-DE"/>
            </a:p>
          </p:txBody>
        </p:sp>
        <p:sp>
          <p:nvSpPr>
            <p:cNvPr id="1169" name="Line 519"/>
            <p:cNvSpPr>
              <a:spLocks noChangeShapeType="1"/>
            </p:cNvSpPr>
            <p:nvPr/>
          </p:nvSpPr>
          <p:spPr bwMode="auto">
            <a:xfrm flipV="1">
              <a:off x="4093" y="3197"/>
              <a:ext cx="175" cy="69"/>
            </a:xfrm>
            <a:prstGeom prst="line">
              <a:avLst/>
            </a:prstGeom>
            <a:noFill/>
            <a:ln w="9525">
              <a:solidFill>
                <a:schemeClr val="tx1"/>
              </a:solidFill>
              <a:round/>
              <a:headEnd/>
              <a:tailEnd/>
            </a:ln>
          </p:spPr>
          <p:txBody>
            <a:bodyPr/>
            <a:lstStyle/>
            <a:p>
              <a:endParaRPr lang="de-DE"/>
            </a:p>
          </p:txBody>
        </p:sp>
        <p:sp>
          <p:nvSpPr>
            <p:cNvPr id="1170" name="Line 520"/>
            <p:cNvSpPr>
              <a:spLocks noChangeShapeType="1"/>
            </p:cNvSpPr>
            <p:nvPr/>
          </p:nvSpPr>
          <p:spPr bwMode="auto">
            <a:xfrm flipV="1">
              <a:off x="4120" y="3325"/>
              <a:ext cx="612" cy="0"/>
            </a:xfrm>
            <a:prstGeom prst="line">
              <a:avLst/>
            </a:prstGeom>
            <a:noFill/>
            <a:ln w="9525">
              <a:solidFill>
                <a:schemeClr val="tx1"/>
              </a:solidFill>
              <a:round/>
              <a:headEnd/>
              <a:tailEnd/>
            </a:ln>
          </p:spPr>
          <p:txBody>
            <a:bodyPr/>
            <a:lstStyle/>
            <a:p>
              <a:endParaRPr lang="de-DE"/>
            </a:p>
          </p:txBody>
        </p:sp>
        <p:sp>
          <p:nvSpPr>
            <p:cNvPr id="1171" name="Line 521"/>
            <p:cNvSpPr>
              <a:spLocks noChangeShapeType="1"/>
            </p:cNvSpPr>
            <p:nvPr/>
          </p:nvSpPr>
          <p:spPr bwMode="auto">
            <a:xfrm flipH="1">
              <a:off x="3676" y="3165"/>
              <a:ext cx="160" cy="296"/>
            </a:xfrm>
            <a:prstGeom prst="line">
              <a:avLst/>
            </a:prstGeom>
            <a:noFill/>
            <a:ln w="9525">
              <a:solidFill>
                <a:schemeClr val="tx1"/>
              </a:solidFill>
              <a:round/>
              <a:headEnd/>
              <a:tailEnd/>
            </a:ln>
          </p:spPr>
          <p:txBody>
            <a:bodyPr/>
            <a:lstStyle/>
            <a:p>
              <a:endParaRPr lang="de-DE"/>
            </a:p>
          </p:txBody>
        </p:sp>
        <p:sp>
          <p:nvSpPr>
            <p:cNvPr id="1172" name="Line 522"/>
            <p:cNvSpPr>
              <a:spLocks noChangeShapeType="1"/>
            </p:cNvSpPr>
            <p:nvPr/>
          </p:nvSpPr>
          <p:spPr bwMode="auto">
            <a:xfrm>
              <a:off x="3692" y="3197"/>
              <a:ext cx="124" cy="0"/>
            </a:xfrm>
            <a:prstGeom prst="line">
              <a:avLst/>
            </a:prstGeom>
            <a:noFill/>
            <a:ln w="9525">
              <a:solidFill>
                <a:schemeClr val="tx1"/>
              </a:solidFill>
              <a:round/>
              <a:headEnd/>
              <a:tailEnd/>
            </a:ln>
          </p:spPr>
          <p:txBody>
            <a:bodyPr/>
            <a:lstStyle/>
            <a:p>
              <a:endParaRPr lang="de-DE"/>
            </a:p>
          </p:txBody>
        </p:sp>
        <p:sp>
          <p:nvSpPr>
            <p:cNvPr id="1173" name="Line 523"/>
            <p:cNvSpPr>
              <a:spLocks noChangeShapeType="1"/>
            </p:cNvSpPr>
            <p:nvPr/>
          </p:nvSpPr>
          <p:spPr bwMode="auto">
            <a:xfrm>
              <a:off x="3604" y="3409"/>
              <a:ext cx="97" cy="0"/>
            </a:xfrm>
            <a:prstGeom prst="line">
              <a:avLst/>
            </a:prstGeom>
            <a:noFill/>
            <a:ln w="9525">
              <a:solidFill>
                <a:schemeClr val="tx1"/>
              </a:solidFill>
              <a:round/>
              <a:headEnd/>
              <a:tailEnd/>
            </a:ln>
          </p:spPr>
          <p:txBody>
            <a:bodyPr/>
            <a:lstStyle/>
            <a:p>
              <a:endParaRPr lang="de-DE"/>
            </a:p>
          </p:txBody>
        </p:sp>
        <p:sp>
          <p:nvSpPr>
            <p:cNvPr id="1174" name="Line 524"/>
            <p:cNvSpPr>
              <a:spLocks noChangeShapeType="1"/>
            </p:cNvSpPr>
            <p:nvPr/>
          </p:nvSpPr>
          <p:spPr bwMode="auto">
            <a:xfrm>
              <a:off x="3763" y="3459"/>
              <a:ext cx="309" cy="0"/>
            </a:xfrm>
            <a:prstGeom prst="line">
              <a:avLst/>
            </a:prstGeom>
            <a:noFill/>
            <a:ln w="9525">
              <a:solidFill>
                <a:schemeClr val="tx1"/>
              </a:solidFill>
              <a:round/>
              <a:headEnd/>
              <a:tailEnd/>
            </a:ln>
          </p:spPr>
          <p:txBody>
            <a:bodyPr/>
            <a:lstStyle/>
            <a:p>
              <a:endParaRPr lang="de-DE"/>
            </a:p>
          </p:txBody>
        </p:sp>
        <p:sp>
          <p:nvSpPr>
            <p:cNvPr id="1175" name="Line 525"/>
            <p:cNvSpPr>
              <a:spLocks noChangeShapeType="1"/>
            </p:cNvSpPr>
            <p:nvPr/>
          </p:nvSpPr>
          <p:spPr bwMode="auto">
            <a:xfrm flipH="1">
              <a:off x="3914" y="3401"/>
              <a:ext cx="34" cy="54"/>
            </a:xfrm>
            <a:prstGeom prst="line">
              <a:avLst/>
            </a:prstGeom>
            <a:noFill/>
            <a:ln w="9525">
              <a:solidFill>
                <a:schemeClr val="tx1"/>
              </a:solidFill>
              <a:round/>
              <a:headEnd/>
              <a:tailEnd/>
            </a:ln>
          </p:spPr>
          <p:txBody>
            <a:bodyPr/>
            <a:lstStyle/>
            <a:p>
              <a:endParaRPr lang="de-DE"/>
            </a:p>
          </p:txBody>
        </p:sp>
        <p:sp>
          <p:nvSpPr>
            <p:cNvPr id="1176" name="Line 526"/>
            <p:cNvSpPr>
              <a:spLocks noChangeShapeType="1"/>
            </p:cNvSpPr>
            <p:nvPr/>
          </p:nvSpPr>
          <p:spPr bwMode="auto">
            <a:xfrm>
              <a:off x="3796" y="3457"/>
              <a:ext cx="1" cy="52"/>
            </a:xfrm>
            <a:prstGeom prst="line">
              <a:avLst/>
            </a:prstGeom>
            <a:noFill/>
            <a:ln w="9525">
              <a:solidFill>
                <a:schemeClr val="tx1"/>
              </a:solidFill>
              <a:round/>
              <a:headEnd/>
              <a:tailEnd/>
            </a:ln>
          </p:spPr>
          <p:txBody>
            <a:bodyPr/>
            <a:lstStyle/>
            <a:p>
              <a:endParaRPr lang="de-DE"/>
            </a:p>
          </p:txBody>
        </p:sp>
        <p:sp>
          <p:nvSpPr>
            <p:cNvPr id="1177" name="Line 527"/>
            <p:cNvSpPr>
              <a:spLocks noChangeShapeType="1"/>
            </p:cNvSpPr>
            <p:nvPr/>
          </p:nvSpPr>
          <p:spPr bwMode="auto">
            <a:xfrm flipH="1" flipV="1">
              <a:off x="4046" y="3462"/>
              <a:ext cx="0" cy="48"/>
            </a:xfrm>
            <a:prstGeom prst="line">
              <a:avLst/>
            </a:prstGeom>
            <a:noFill/>
            <a:ln w="9525">
              <a:solidFill>
                <a:schemeClr val="tx1"/>
              </a:solidFill>
              <a:round/>
              <a:headEnd/>
              <a:tailEnd/>
            </a:ln>
          </p:spPr>
          <p:txBody>
            <a:bodyPr/>
            <a:lstStyle/>
            <a:p>
              <a:endParaRPr lang="de-DE"/>
            </a:p>
          </p:txBody>
        </p:sp>
        <p:graphicFrame>
          <p:nvGraphicFramePr>
            <p:cNvPr id="1030" name="Object 528"/>
            <p:cNvGraphicFramePr>
              <a:graphicFrameLocks noChangeAspect="1"/>
            </p:cNvGraphicFramePr>
            <p:nvPr/>
          </p:nvGraphicFramePr>
          <p:xfrm>
            <a:off x="3451" y="3335"/>
            <a:ext cx="216" cy="180"/>
          </p:xfrm>
          <a:graphic>
            <a:graphicData uri="http://schemas.openxmlformats.org/presentationml/2006/ole">
              <mc:AlternateContent xmlns:mc="http://schemas.openxmlformats.org/markup-compatibility/2006">
                <mc:Choice xmlns:v="urn:schemas-microsoft-com:vml" Requires="v">
                  <p:oleObj name="Clip" r:id="rId15" imgW="1307263" imgH="1084139" progId="">
                    <p:embed/>
                  </p:oleObj>
                </mc:Choice>
                <mc:Fallback>
                  <p:oleObj name="Clip" r:id="rId15" imgW="1307263" imgH="1084139" progId="">
                    <p:embed/>
                    <p:pic>
                      <p:nvPicPr>
                        <p:cNvPr id="0" name="Picture 20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1" y="333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529"/>
            <p:cNvGraphicFramePr>
              <a:graphicFrameLocks noChangeAspect="1"/>
            </p:cNvGraphicFramePr>
            <p:nvPr/>
          </p:nvGraphicFramePr>
          <p:xfrm>
            <a:off x="3555" y="3135"/>
            <a:ext cx="216" cy="180"/>
          </p:xfrm>
          <a:graphic>
            <a:graphicData uri="http://schemas.openxmlformats.org/presentationml/2006/ole">
              <mc:AlternateContent xmlns:mc="http://schemas.openxmlformats.org/markup-compatibility/2006">
                <mc:Choice xmlns:v="urn:schemas-microsoft-com:vml" Requires="v">
                  <p:oleObj name="Clip" r:id="rId16" imgW="1307263" imgH="1084139" progId="">
                    <p:embed/>
                  </p:oleObj>
                </mc:Choice>
                <mc:Fallback>
                  <p:oleObj name="Clip" r:id="rId16" imgW="1307263" imgH="1084139" progId="">
                    <p:embed/>
                    <p:pic>
                      <p:nvPicPr>
                        <p:cNvPr id="0" name="Picture 20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55" y="313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530"/>
            <p:cNvGraphicFramePr>
              <a:graphicFrameLocks noChangeAspect="1"/>
            </p:cNvGraphicFramePr>
            <p:nvPr/>
          </p:nvGraphicFramePr>
          <p:xfrm>
            <a:off x="3723" y="3495"/>
            <a:ext cx="216" cy="180"/>
          </p:xfrm>
          <a:graphic>
            <a:graphicData uri="http://schemas.openxmlformats.org/presentationml/2006/ole">
              <mc:AlternateContent xmlns:mc="http://schemas.openxmlformats.org/markup-compatibility/2006">
                <mc:Choice xmlns:v="urn:schemas-microsoft-com:vml" Requires="v">
                  <p:oleObj name="Clip" r:id="rId17" imgW="1307263" imgH="1084139" progId="">
                    <p:embed/>
                  </p:oleObj>
                </mc:Choice>
                <mc:Fallback>
                  <p:oleObj name="Clip" r:id="rId17" imgW="1307263" imgH="1084139" progId="">
                    <p:embed/>
                    <p:pic>
                      <p:nvPicPr>
                        <p:cNvPr id="0" name="Picture 20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23" y="349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531"/>
            <p:cNvGraphicFramePr>
              <a:graphicFrameLocks noChangeAspect="1"/>
            </p:cNvGraphicFramePr>
            <p:nvPr/>
          </p:nvGraphicFramePr>
          <p:xfrm>
            <a:off x="3937" y="3497"/>
            <a:ext cx="216" cy="180"/>
          </p:xfrm>
          <a:graphic>
            <a:graphicData uri="http://schemas.openxmlformats.org/presentationml/2006/ole">
              <mc:AlternateContent xmlns:mc="http://schemas.openxmlformats.org/markup-compatibility/2006">
                <mc:Choice xmlns:v="urn:schemas-microsoft-com:vml" Requires="v">
                  <p:oleObj name="Clip" r:id="rId18" imgW="1307263" imgH="1084139" progId="">
                    <p:embed/>
                  </p:oleObj>
                </mc:Choice>
                <mc:Fallback>
                  <p:oleObj name="Clip" r:id="rId18" imgW="1307263" imgH="1084139" progId="">
                    <p:embed/>
                    <p:pic>
                      <p:nvPicPr>
                        <p:cNvPr id="0" name="Picture 20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37" y="3497"/>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19" name="Group 532"/>
            <p:cNvGrpSpPr>
              <a:grpSpLocks/>
            </p:cNvGrpSpPr>
            <p:nvPr/>
          </p:nvGrpSpPr>
          <p:grpSpPr bwMode="auto">
            <a:xfrm>
              <a:off x="4509" y="3576"/>
              <a:ext cx="172" cy="215"/>
              <a:chOff x="2870" y="1518"/>
              <a:chExt cx="292" cy="320"/>
            </a:xfrm>
          </p:grpSpPr>
          <p:graphicFrame>
            <p:nvGraphicFramePr>
              <p:cNvPr id="1036" name="Object 5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
                      <p:embed/>
                    </p:oleObj>
                  </mc:Choice>
                  <mc:Fallback>
                    <p:oleObj name="Clip" r:id="rId19" imgW="826829" imgH="840406" progId="">
                      <p:embed/>
                      <p:pic>
                        <p:nvPicPr>
                          <p:cNvPr id="0" name="Picture 20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7" name="Object 5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
                      <p:embed/>
                    </p:oleObj>
                  </mc:Choice>
                  <mc:Fallback>
                    <p:oleObj name="Clip" r:id="rId20" imgW="1268295" imgH="1199426" progId="">
                      <p:embed/>
                      <p:pic>
                        <p:nvPicPr>
                          <p:cNvPr id="0" name="Picture 2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26" name="Group 535"/>
            <p:cNvGrpSpPr>
              <a:grpSpLocks/>
            </p:cNvGrpSpPr>
            <p:nvPr/>
          </p:nvGrpSpPr>
          <p:grpSpPr bwMode="auto">
            <a:xfrm>
              <a:off x="4225" y="3608"/>
              <a:ext cx="220" cy="203"/>
              <a:chOff x="2870" y="1518"/>
              <a:chExt cx="292" cy="320"/>
            </a:xfrm>
          </p:grpSpPr>
          <p:graphicFrame>
            <p:nvGraphicFramePr>
              <p:cNvPr id="1034" name="Object 5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
                      <p:embed/>
                    </p:oleObj>
                  </mc:Choice>
                  <mc:Fallback>
                    <p:oleObj name="Clip" r:id="rId21" imgW="826829" imgH="840406" progId="">
                      <p:embed/>
                      <p:pic>
                        <p:nvPicPr>
                          <p:cNvPr id="0" name="Picture 20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5" name="Object 5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2" imgW="1268295" imgH="1199426" progId="">
                      <p:embed/>
                    </p:oleObj>
                  </mc:Choice>
                  <mc:Fallback>
                    <p:oleObj name="Clip" r:id="rId22" imgW="1268295" imgH="1199426" progId="">
                      <p:embed/>
                      <p:pic>
                        <p:nvPicPr>
                          <p:cNvPr id="0" name="Picture 20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27" name="Group 538"/>
            <p:cNvGrpSpPr>
              <a:grpSpLocks/>
            </p:cNvGrpSpPr>
            <p:nvPr/>
          </p:nvGrpSpPr>
          <p:grpSpPr bwMode="auto">
            <a:xfrm>
              <a:off x="4324" y="3364"/>
              <a:ext cx="183" cy="255"/>
              <a:chOff x="2556" y="2689"/>
              <a:chExt cx="183" cy="255"/>
            </a:xfrm>
          </p:grpSpPr>
          <p:pic>
            <p:nvPicPr>
              <p:cNvPr id="1208" name="Picture 539" descr="31u_bnrz[1]"/>
              <p:cNvPicPr>
                <a:picLocks noChangeAspect="1" noChangeArrowheads="1"/>
              </p:cNvPicPr>
              <p:nvPr/>
            </p:nvPicPr>
            <p:blipFill>
              <a:blip r:embed="rId12" cstate="print"/>
              <a:srcRect/>
              <a:stretch>
                <a:fillRect/>
              </a:stretch>
            </p:blipFill>
            <p:spPr bwMode="auto">
              <a:xfrm>
                <a:off x="2609" y="2770"/>
                <a:ext cx="121" cy="174"/>
              </a:xfrm>
              <a:prstGeom prst="rect">
                <a:avLst/>
              </a:prstGeom>
              <a:noFill/>
              <a:ln w="9525">
                <a:noFill/>
                <a:miter lim="800000"/>
                <a:headEnd/>
                <a:tailEnd/>
              </a:ln>
            </p:spPr>
          </p:pic>
          <p:sp>
            <p:nvSpPr>
              <p:cNvPr id="1209" name="Freeform 540"/>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10" name="Freeform 541"/>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11" name="Freeform 542"/>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212" name="Freeform 543"/>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213" name="Freeform 544"/>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214" name="Freeform 545"/>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215" name="Freeform 546"/>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216" name="Freeform 547"/>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217" name="Freeform 548"/>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218" name="Freeform 549"/>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219" name="Freeform 550"/>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round/>
                <a:headEnd/>
                <a:tailEnd/>
              </a:ln>
            </p:spPr>
            <p:txBody>
              <a:bodyPr/>
              <a:lstStyle/>
              <a:p>
                <a:endParaRPr lang="de-DE"/>
              </a:p>
            </p:txBody>
          </p:sp>
          <p:sp>
            <p:nvSpPr>
              <p:cNvPr id="1220" name="Freeform 551"/>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round/>
                <a:headEnd/>
                <a:tailEnd/>
              </a:ln>
            </p:spPr>
            <p:txBody>
              <a:bodyPr/>
              <a:lstStyle/>
              <a:p>
                <a:endParaRPr lang="de-DE"/>
              </a:p>
            </p:txBody>
          </p:sp>
          <p:sp>
            <p:nvSpPr>
              <p:cNvPr id="1221" name="Freeform 552"/>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round/>
                <a:headEnd/>
                <a:tailEnd/>
              </a:ln>
            </p:spPr>
            <p:txBody>
              <a:bodyPr/>
              <a:lstStyle/>
              <a:p>
                <a:endParaRPr lang="de-DE"/>
              </a:p>
            </p:txBody>
          </p:sp>
          <p:sp>
            <p:nvSpPr>
              <p:cNvPr id="1222" name="Freeform 553"/>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round/>
                <a:headEnd/>
                <a:tailEnd/>
              </a:ln>
            </p:spPr>
            <p:txBody>
              <a:bodyPr/>
              <a:lstStyle/>
              <a:p>
                <a:endParaRPr lang="de-DE"/>
              </a:p>
            </p:txBody>
          </p:sp>
          <p:sp>
            <p:nvSpPr>
              <p:cNvPr id="1223" name="Freeform 554"/>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round/>
                <a:headEnd/>
                <a:tailEnd/>
              </a:ln>
            </p:spPr>
            <p:txBody>
              <a:bodyPr/>
              <a:lstStyle/>
              <a:p>
                <a:endParaRPr lang="de-DE"/>
              </a:p>
            </p:txBody>
          </p:sp>
          <p:sp>
            <p:nvSpPr>
              <p:cNvPr id="1224" name="Freeform 555"/>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round/>
                <a:headEnd/>
                <a:tailEnd/>
              </a:ln>
            </p:spPr>
            <p:txBody>
              <a:bodyPr/>
              <a:lstStyle/>
              <a:p>
                <a:endParaRPr lang="de-DE"/>
              </a:p>
            </p:txBody>
          </p:sp>
        </p:grpSp>
        <p:sp>
          <p:nvSpPr>
            <p:cNvPr id="1181" name="Line 556"/>
            <p:cNvSpPr>
              <a:spLocks noChangeShapeType="1"/>
            </p:cNvSpPr>
            <p:nvPr/>
          </p:nvSpPr>
          <p:spPr bwMode="auto">
            <a:xfrm>
              <a:off x="4097" y="3373"/>
              <a:ext cx="317" cy="170"/>
            </a:xfrm>
            <a:prstGeom prst="line">
              <a:avLst/>
            </a:prstGeom>
            <a:noFill/>
            <a:ln w="9525">
              <a:solidFill>
                <a:schemeClr val="tx1"/>
              </a:solidFill>
              <a:round/>
              <a:headEnd/>
              <a:tailEnd/>
            </a:ln>
          </p:spPr>
          <p:txBody>
            <a:bodyPr/>
            <a:lstStyle/>
            <a:p>
              <a:endParaRPr lang="de-DE"/>
            </a:p>
          </p:txBody>
        </p:sp>
        <p:sp>
          <p:nvSpPr>
            <p:cNvPr id="1182" name="Line 557"/>
            <p:cNvSpPr>
              <a:spLocks noChangeShapeType="1"/>
            </p:cNvSpPr>
            <p:nvPr/>
          </p:nvSpPr>
          <p:spPr bwMode="auto">
            <a:xfrm>
              <a:off x="3750" y="3332"/>
              <a:ext cx="51" cy="0"/>
            </a:xfrm>
            <a:prstGeom prst="line">
              <a:avLst/>
            </a:prstGeom>
            <a:noFill/>
            <a:ln w="9525">
              <a:solidFill>
                <a:schemeClr val="tx1"/>
              </a:solidFill>
              <a:round/>
              <a:headEnd/>
              <a:tailEnd/>
            </a:ln>
          </p:spPr>
          <p:txBody>
            <a:bodyPr/>
            <a:lstStyle/>
            <a:p>
              <a:endParaRPr lang="de-DE"/>
            </a:p>
          </p:txBody>
        </p:sp>
        <p:grpSp>
          <p:nvGrpSpPr>
            <p:cNvPr id="1137" name="Group 558"/>
            <p:cNvGrpSpPr>
              <a:grpSpLocks/>
            </p:cNvGrpSpPr>
            <p:nvPr/>
          </p:nvGrpSpPr>
          <p:grpSpPr bwMode="auto">
            <a:xfrm>
              <a:off x="4995" y="3370"/>
              <a:ext cx="131" cy="258"/>
              <a:chOff x="4180" y="783"/>
              <a:chExt cx="150" cy="307"/>
            </a:xfrm>
          </p:grpSpPr>
          <p:sp>
            <p:nvSpPr>
              <p:cNvPr id="1200" name="AutoShape 559"/>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201" name="Rectangle 560"/>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202" name="Rectangle 56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03" name="AutoShape 56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04" name="Line 563"/>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1205" name="Line 564"/>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1206" name="Rectangle 56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07" name="Rectangle 566"/>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184" name="Line 567"/>
            <p:cNvSpPr>
              <a:spLocks noChangeShapeType="1"/>
            </p:cNvSpPr>
            <p:nvPr/>
          </p:nvSpPr>
          <p:spPr bwMode="auto">
            <a:xfrm flipH="1">
              <a:off x="3806" y="2401"/>
              <a:ext cx="2" cy="91"/>
            </a:xfrm>
            <a:prstGeom prst="line">
              <a:avLst/>
            </a:prstGeom>
            <a:noFill/>
            <a:ln w="9525">
              <a:solidFill>
                <a:schemeClr val="tx1"/>
              </a:solidFill>
              <a:round/>
              <a:headEnd/>
              <a:tailEnd/>
            </a:ln>
          </p:spPr>
          <p:txBody>
            <a:bodyPr/>
            <a:lstStyle/>
            <a:p>
              <a:endParaRPr lang="de-DE"/>
            </a:p>
          </p:txBody>
        </p:sp>
        <p:sp>
          <p:nvSpPr>
            <p:cNvPr id="1185" name="Line 568"/>
            <p:cNvSpPr>
              <a:spLocks noChangeShapeType="1"/>
            </p:cNvSpPr>
            <p:nvPr/>
          </p:nvSpPr>
          <p:spPr bwMode="auto">
            <a:xfrm flipV="1">
              <a:off x="4623" y="1760"/>
              <a:ext cx="78" cy="55"/>
            </a:xfrm>
            <a:prstGeom prst="line">
              <a:avLst/>
            </a:prstGeom>
            <a:noFill/>
            <a:ln w="9525">
              <a:solidFill>
                <a:schemeClr val="tx1"/>
              </a:solidFill>
              <a:round/>
              <a:headEnd/>
              <a:tailEnd/>
            </a:ln>
          </p:spPr>
          <p:txBody>
            <a:bodyPr/>
            <a:lstStyle/>
            <a:p>
              <a:endParaRPr lang="de-DE"/>
            </a:p>
          </p:txBody>
        </p:sp>
        <p:sp>
          <p:nvSpPr>
            <p:cNvPr id="1186" name="Line 569"/>
            <p:cNvSpPr>
              <a:spLocks noChangeShapeType="1"/>
            </p:cNvSpPr>
            <p:nvPr/>
          </p:nvSpPr>
          <p:spPr bwMode="auto">
            <a:xfrm>
              <a:off x="4514" y="1869"/>
              <a:ext cx="0" cy="52"/>
            </a:xfrm>
            <a:prstGeom prst="line">
              <a:avLst/>
            </a:prstGeom>
            <a:noFill/>
            <a:ln w="9525">
              <a:solidFill>
                <a:schemeClr val="tx1"/>
              </a:solidFill>
              <a:round/>
              <a:headEnd/>
              <a:tailEnd/>
            </a:ln>
          </p:spPr>
          <p:txBody>
            <a:bodyPr/>
            <a:lstStyle/>
            <a:p>
              <a:endParaRPr lang="de-DE"/>
            </a:p>
          </p:txBody>
        </p:sp>
        <p:sp>
          <p:nvSpPr>
            <p:cNvPr id="1187" name="Line 570"/>
            <p:cNvSpPr>
              <a:spLocks noChangeShapeType="1"/>
            </p:cNvSpPr>
            <p:nvPr/>
          </p:nvSpPr>
          <p:spPr bwMode="auto">
            <a:xfrm flipV="1">
              <a:off x="4630" y="1804"/>
              <a:ext cx="166" cy="182"/>
            </a:xfrm>
            <a:prstGeom prst="line">
              <a:avLst/>
            </a:prstGeom>
            <a:noFill/>
            <a:ln w="9525">
              <a:solidFill>
                <a:schemeClr val="tx1"/>
              </a:solidFill>
              <a:round/>
              <a:headEnd/>
              <a:tailEnd/>
            </a:ln>
          </p:spPr>
          <p:txBody>
            <a:bodyPr/>
            <a:lstStyle/>
            <a:p>
              <a:endParaRPr lang="de-DE"/>
            </a:p>
          </p:txBody>
        </p:sp>
        <p:sp>
          <p:nvSpPr>
            <p:cNvPr id="1188" name="Line 571"/>
            <p:cNvSpPr>
              <a:spLocks noChangeShapeType="1"/>
            </p:cNvSpPr>
            <p:nvPr/>
          </p:nvSpPr>
          <p:spPr bwMode="auto">
            <a:xfrm>
              <a:off x="4852" y="1803"/>
              <a:ext cx="0" cy="124"/>
            </a:xfrm>
            <a:prstGeom prst="line">
              <a:avLst/>
            </a:prstGeom>
            <a:noFill/>
            <a:ln w="9525">
              <a:solidFill>
                <a:schemeClr val="tx1"/>
              </a:solidFill>
              <a:round/>
              <a:headEnd/>
              <a:tailEnd/>
            </a:ln>
          </p:spPr>
          <p:txBody>
            <a:bodyPr/>
            <a:lstStyle/>
            <a:p>
              <a:endParaRPr lang="de-DE"/>
            </a:p>
          </p:txBody>
        </p:sp>
        <p:sp>
          <p:nvSpPr>
            <p:cNvPr id="1189" name="Line 572"/>
            <p:cNvSpPr>
              <a:spLocks noChangeShapeType="1"/>
            </p:cNvSpPr>
            <p:nvPr/>
          </p:nvSpPr>
          <p:spPr bwMode="auto">
            <a:xfrm>
              <a:off x="4634" y="1996"/>
              <a:ext cx="119" cy="0"/>
            </a:xfrm>
            <a:prstGeom prst="line">
              <a:avLst/>
            </a:prstGeom>
            <a:noFill/>
            <a:ln w="9525">
              <a:solidFill>
                <a:schemeClr val="tx1"/>
              </a:solidFill>
              <a:round/>
              <a:headEnd/>
              <a:tailEnd/>
            </a:ln>
          </p:spPr>
          <p:txBody>
            <a:bodyPr/>
            <a:lstStyle/>
            <a:p>
              <a:endParaRPr lang="de-DE"/>
            </a:p>
          </p:txBody>
        </p:sp>
        <p:sp>
          <p:nvSpPr>
            <p:cNvPr id="1190" name="Line 573"/>
            <p:cNvSpPr>
              <a:spLocks noChangeShapeType="1"/>
            </p:cNvSpPr>
            <p:nvPr/>
          </p:nvSpPr>
          <p:spPr bwMode="auto">
            <a:xfrm flipV="1">
              <a:off x="3560" y="2542"/>
              <a:ext cx="106" cy="2"/>
            </a:xfrm>
            <a:prstGeom prst="line">
              <a:avLst/>
            </a:prstGeom>
            <a:noFill/>
            <a:ln w="9525">
              <a:solidFill>
                <a:schemeClr val="tx1"/>
              </a:solidFill>
              <a:round/>
              <a:headEnd/>
              <a:tailEnd/>
            </a:ln>
          </p:spPr>
          <p:txBody>
            <a:bodyPr/>
            <a:lstStyle/>
            <a:p>
              <a:endParaRPr lang="de-DE"/>
            </a:p>
          </p:txBody>
        </p:sp>
        <p:sp>
          <p:nvSpPr>
            <p:cNvPr id="1191" name="Line 574"/>
            <p:cNvSpPr>
              <a:spLocks noChangeShapeType="1"/>
            </p:cNvSpPr>
            <p:nvPr/>
          </p:nvSpPr>
          <p:spPr bwMode="auto">
            <a:xfrm flipV="1">
              <a:off x="4895" y="1614"/>
              <a:ext cx="150" cy="106"/>
            </a:xfrm>
            <a:prstGeom prst="line">
              <a:avLst/>
            </a:prstGeom>
            <a:noFill/>
            <a:ln w="9525">
              <a:solidFill>
                <a:schemeClr val="tx1"/>
              </a:solidFill>
              <a:round/>
              <a:headEnd/>
              <a:tailEnd/>
            </a:ln>
          </p:spPr>
          <p:txBody>
            <a:bodyPr/>
            <a:lstStyle/>
            <a:p>
              <a:endParaRPr lang="de-DE"/>
            </a:p>
          </p:txBody>
        </p:sp>
        <p:sp>
          <p:nvSpPr>
            <p:cNvPr id="1192" name="Line 575"/>
            <p:cNvSpPr>
              <a:spLocks noChangeShapeType="1"/>
            </p:cNvSpPr>
            <p:nvPr/>
          </p:nvSpPr>
          <p:spPr bwMode="auto">
            <a:xfrm>
              <a:off x="4983" y="1990"/>
              <a:ext cx="112" cy="0"/>
            </a:xfrm>
            <a:prstGeom prst="line">
              <a:avLst/>
            </a:prstGeom>
            <a:noFill/>
            <a:ln w="9525">
              <a:solidFill>
                <a:schemeClr val="tx1"/>
              </a:solidFill>
              <a:round/>
              <a:headEnd/>
              <a:tailEnd/>
            </a:ln>
          </p:spPr>
          <p:txBody>
            <a:bodyPr/>
            <a:lstStyle/>
            <a:p>
              <a:endParaRPr lang="de-DE"/>
            </a:p>
          </p:txBody>
        </p:sp>
        <p:sp>
          <p:nvSpPr>
            <p:cNvPr id="1193" name="Line 576"/>
            <p:cNvSpPr>
              <a:spLocks noChangeShapeType="1"/>
            </p:cNvSpPr>
            <p:nvPr/>
          </p:nvSpPr>
          <p:spPr bwMode="auto">
            <a:xfrm flipH="1">
              <a:off x="4445" y="2038"/>
              <a:ext cx="62" cy="444"/>
            </a:xfrm>
            <a:prstGeom prst="line">
              <a:avLst/>
            </a:prstGeom>
            <a:noFill/>
            <a:ln w="9525">
              <a:solidFill>
                <a:schemeClr val="tx1"/>
              </a:solidFill>
              <a:round/>
              <a:headEnd/>
              <a:tailEnd/>
            </a:ln>
          </p:spPr>
          <p:txBody>
            <a:bodyPr/>
            <a:lstStyle/>
            <a:p>
              <a:endParaRPr lang="de-DE"/>
            </a:p>
          </p:txBody>
        </p:sp>
        <p:sp>
          <p:nvSpPr>
            <p:cNvPr id="1194" name="Line 577"/>
            <p:cNvSpPr>
              <a:spLocks noChangeShapeType="1"/>
            </p:cNvSpPr>
            <p:nvPr/>
          </p:nvSpPr>
          <p:spPr bwMode="auto">
            <a:xfrm flipH="1">
              <a:off x="4817" y="2038"/>
              <a:ext cx="70" cy="458"/>
            </a:xfrm>
            <a:prstGeom prst="line">
              <a:avLst/>
            </a:prstGeom>
            <a:noFill/>
            <a:ln w="9525">
              <a:solidFill>
                <a:schemeClr val="tx1"/>
              </a:solidFill>
              <a:round/>
              <a:headEnd/>
              <a:tailEnd/>
            </a:ln>
          </p:spPr>
          <p:txBody>
            <a:bodyPr/>
            <a:lstStyle/>
            <a:p>
              <a:endParaRPr lang="de-DE"/>
            </a:p>
          </p:txBody>
        </p:sp>
        <p:sp>
          <p:nvSpPr>
            <p:cNvPr id="1195" name="Text Box 578"/>
            <p:cNvSpPr txBox="1">
              <a:spLocks noChangeArrowheads="1"/>
            </p:cNvSpPr>
            <p:nvPr/>
          </p:nvSpPr>
          <p:spPr bwMode="auto">
            <a:xfrm>
              <a:off x="3229" y="2006"/>
              <a:ext cx="1037" cy="233"/>
            </a:xfrm>
            <a:prstGeom prst="rect">
              <a:avLst/>
            </a:prstGeom>
            <a:noFill/>
            <a:ln w="9525">
              <a:noFill/>
              <a:miter lim="800000"/>
              <a:headEnd/>
              <a:tailEnd/>
            </a:ln>
          </p:spPr>
          <p:txBody>
            <a:bodyPr wrap="none">
              <a:spAutoFit/>
            </a:bodyPr>
            <a:lstStyle/>
            <a:p>
              <a:r>
                <a:rPr lang="de-DE" sz="1800"/>
                <a:t>Heimnetzwerk</a:t>
              </a:r>
            </a:p>
          </p:txBody>
        </p:sp>
        <p:sp>
          <p:nvSpPr>
            <p:cNvPr id="1196" name="Text Box 579"/>
            <p:cNvSpPr txBox="1">
              <a:spLocks noChangeArrowheads="1"/>
            </p:cNvSpPr>
            <p:nvPr/>
          </p:nvSpPr>
          <p:spPr bwMode="auto">
            <a:xfrm>
              <a:off x="3515" y="2852"/>
              <a:ext cx="1150" cy="233"/>
            </a:xfrm>
            <a:prstGeom prst="rect">
              <a:avLst/>
            </a:prstGeom>
            <a:noFill/>
            <a:ln w="9525">
              <a:noFill/>
              <a:miter lim="800000"/>
              <a:headEnd/>
              <a:tailEnd/>
            </a:ln>
          </p:spPr>
          <p:txBody>
            <a:bodyPr wrap="none">
              <a:spAutoFit/>
            </a:bodyPr>
            <a:lstStyle/>
            <a:p>
              <a:r>
                <a:rPr lang="de-DE" sz="1800"/>
                <a:t>Firmennetzwerk</a:t>
              </a:r>
            </a:p>
          </p:txBody>
        </p:sp>
        <p:sp>
          <p:nvSpPr>
            <p:cNvPr id="1197" name="Text Box 580"/>
            <p:cNvSpPr txBox="1">
              <a:spLocks noChangeArrowheads="1"/>
            </p:cNvSpPr>
            <p:nvPr/>
          </p:nvSpPr>
          <p:spPr bwMode="auto">
            <a:xfrm>
              <a:off x="3234" y="1065"/>
              <a:ext cx="1013" cy="233"/>
            </a:xfrm>
            <a:prstGeom prst="rect">
              <a:avLst/>
            </a:prstGeom>
            <a:noFill/>
            <a:ln w="9525">
              <a:noFill/>
              <a:miter lim="800000"/>
              <a:headEnd/>
              <a:tailEnd/>
            </a:ln>
          </p:spPr>
          <p:txBody>
            <a:bodyPr wrap="none">
              <a:spAutoFit/>
            </a:bodyPr>
            <a:lstStyle/>
            <a:p>
              <a:r>
                <a:rPr lang="de-DE" sz="1800"/>
                <a:t>Mobilfunknetz</a:t>
              </a:r>
            </a:p>
          </p:txBody>
        </p:sp>
        <p:sp>
          <p:nvSpPr>
            <p:cNvPr id="1198" name="Text Box 581"/>
            <p:cNvSpPr txBox="1">
              <a:spLocks noChangeArrowheads="1"/>
            </p:cNvSpPr>
            <p:nvPr/>
          </p:nvSpPr>
          <p:spPr bwMode="auto">
            <a:xfrm>
              <a:off x="4365" y="1215"/>
              <a:ext cx="1110" cy="407"/>
            </a:xfrm>
            <a:prstGeom prst="rect">
              <a:avLst/>
            </a:prstGeom>
            <a:noFill/>
            <a:ln w="9525">
              <a:noFill/>
              <a:miter lim="800000"/>
              <a:headEnd/>
              <a:tailEnd/>
            </a:ln>
          </p:spPr>
          <p:txBody>
            <a:bodyPr wrap="none">
              <a:spAutoFit/>
            </a:bodyPr>
            <a:lstStyle/>
            <a:p>
              <a:r>
                <a:rPr lang="de-DE" sz="1800"/>
                <a:t>Nationaler oder</a:t>
              </a:r>
            </a:p>
            <a:p>
              <a:r>
                <a:rPr lang="de-DE"/>
                <a:t>globaler </a:t>
              </a:r>
              <a:r>
                <a:rPr lang="de-DE" sz="1800"/>
                <a:t> </a:t>
              </a:r>
              <a:r>
                <a:rPr lang="de-DE" sz="1800" b="1">
                  <a:solidFill>
                    <a:srgbClr val="FF0000"/>
                  </a:solidFill>
                </a:rPr>
                <a:t>ISP</a:t>
              </a:r>
            </a:p>
          </p:txBody>
        </p:sp>
        <p:sp>
          <p:nvSpPr>
            <p:cNvPr id="1199" name="Text Box 582"/>
            <p:cNvSpPr txBox="1">
              <a:spLocks noChangeArrowheads="1"/>
            </p:cNvSpPr>
            <p:nvPr/>
          </p:nvSpPr>
          <p:spPr bwMode="auto">
            <a:xfrm>
              <a:off x="4229" y="2213"/>
              <a:ext cx="1094" cy="233"/>
            </a:xfrm>
            <a:prstGeom prst="rect">
              <a:avLst/>
            </a:prstGeom>
            <a:noFill/>
            <a:ln w="9525">
              <a:noFill/>
              <a:miter lim="800000"/>
              <a:headEnd/>
              <a:tailEnd/>
            </a:ln>
          </p:spPr>
          <p:txBody>
            <a:bodyPr wrap="none">
              <a:spAutoFit/>
            </a:bodyPr>
            <a:lstStyle/>
            <a:p>
              <a:r>
                <a:rPr lang="de-DE" sz="1800"/>
                <a:t>Regionaler ISP</a:t>
              </a:r>
            </a:p>
          </p:txBody>
        </p:sp>
      </p:grpSp>
    </p:spTree>
    <p:extLst>
      <p:ext uri="{BB962C8B-B14F-4D97-AF65-F5344CB8AC3E}">
        <p14:creationId xmlns:p14="http://schemas.microsoft.com/office/powerpoint/2010/main" val="89783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0">
                                            <p:txEl>
                                              <p:pRg st="0" end="0"/>
                                            </p:txEl>
                                          </p:spTgt>
                                        </p:tgtEl>
                                        <p:attrNameLst>
                                          <p:attrName>style.visibility</p:attrName>
                                        </p:attrNameLst>
                                      </p:cBhvr>
                                      <p:to>
                                        <p:strVal val="visible"/>
                                      </p:to>
                                    </p:set>
                                    <p:animEffect transition="in" filter="fade">
                                      <p:cBhvr>
                                        <p:cTn id="7" dur="500"/>
                                        <p:tgtEl>
                                          <p:spTgt spid="4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0">
                                            <p:txEl>
                                              <p:pRg st="1" end="1"/>
                                            </p:txEl>
                                          </p:spTgt>
                                        </p:tgtEl>
                                        <p:attrNameLst>
                                          <p:attrName>style.visibility</p:attrName>
                                        </p:attrNameLst>
                                      </p:cBhvr>
                                      <p:to>
                                        <p:strVal val="visible"/>
                                      </p:to>
                                    </p:set>
                                    <p:animEffect transition="in" filter="fade">
                                      <p:cBhvr>
                                        <p:cTn id="10" dur="500"/>
                                        <p:tgtEl>
                                          <p:spTgt spid="42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20">
                                            <p:txEl>
                                              <p:pRg st="2" end="2"/>
                                            </p:txEl>
                                          </p:spTgt>
                                        </p:tgtEl>
                                        <p:attrNameLst>
                                          <p:attrName>style.visibility</p:attrName>
                                        </p:attrNameLst>
                                      </p:cBhvr>
                                      <p:to>
                                        <p:strVal val="visible"/>
                                      </p:to>
                                    </p:set>
                                    <p:animEffect transition="in" filter="fade">
                                      <p:cBhvr>
                                        <p:cTn id="15" dur="500"/>
                                        <p:tgtEl>
                                          <p:spTgt spid="420">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20">
                                            <p:txEl>
                                              <p:pRg st="3" end="3"/>
                                            </p:txEl>
                                          </p:spTgt>
                                        </p:tgtEl>
                                        <p:attrNameLst>
                                          <p:attrName>style.visibility</p:attrName>
                                        </p:attrNameLst>
                                      </p:cBhvr>
                                      <p:to>
                                        <p:strVal val="visible"/>
                                      </p:to>
                                    </p:set>
                                    <p:animEffect transition="in" filter="fade">
                                      <p:cBhvr>
                                        <p:cTn id="18" dur="500"/>
                                        <p:tgtEl>
                                          <p:spTgt spid="420">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20">
                                            <p:txEl>
                                              <p:pRg st="4" end="4"/>
                                            </p:txEl>
                                          </p:spTgt>
                                        </p:tgtEl>
                                        <p:attrNameLst>
                                          <p:attrName>style.visibility</p:attrName>
                                        </p:attrNameLst>
                                      </p:cBhvr>
                                      <p:to>
                                        <p:strVal val="visible"/>
                                      </p:to>
                                    </p:set>
                                    <p:animEffect transition="in" filter="fade">
                                      <p:cBhvr>
                                        <p:cTn id="21" dur="500"/>
                                        <p:tgtEl>
                                          <p:spTgt spid="420">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20">
                                            <p:txEl>
                                              <p:pRg st="5" end="5"/>
                                            </p:txEl>
                                          </p:spTgt>
                                        </p:tgtEl>
                                        <p:attrNameLst>
                                          <p:attrName>style.visibility</p:attrName>
                                        </p:attrNameLst>
                                      </p:cBhvr>
                                      <p:to>
                                        <p:strVal val="visible"/>
                                      </p:to>
                                    </p:set>
                                    <p:animEffect transition="in" filter="fade">
                                      <p:cBhvr>
                                        <p:cTn id="26" dur="500"/>
                                        <p:tgtEl>
                                          <p:spTgt spid="420">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0">
                                            <p:txEl>
                                              <p:pRg st="6" end="6"/>
                                            </p:txEl>
                                          </p:spTgt>
                                        </p:tgtEl>
                                        <p:attrNameLst>
                                          <p:attrName>style.visibility</p:attrName>
                                        </p:attrNameLst>
                                      </p:cBhvr>
                                      <p:to>
                                        <p:strVal val="visible"/>
                                      </p:to>
                                    </p:set>
                                    <p:animEffect transition="in" filter="fade">
                                      <p:cBhvr>
                                        <p:cTn id="29" dur="500"/>
                                        <p:tgtEl>
                                          <p:spTgt spid="420">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20">
                                            <p:txEl>
                                              <p:pRg st="7" end="7"/>
                                            </p:txEl>
                                          </p:spTgt>
                                        </p:tgtEl>
                                        <p:attrNameLst>
                                          <p:attrName>style.visibility</p:attrName>
                                        </p:attrNameLst>
                                      </p:cBhvr>
                                      <p:to>
                                        <p:strVal val="visible"/>
                                      </p:to>
                                    </p:set>
                                    <p:animEffect transition="in" filter="fade">
                                      <p:cBhvr>
                                        <p:cTn id="32" dur="500"/>
                                        <p:tgtEl>
                                          <p:spTgt spid="42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 name="Rectangle 2"/>
          <p:cNvSpPr>
            <a:spLocks noGrp="1" noChangeArrowheads="1"/>
          </p:cNvSpPr>
          <p:nvPr>
            <p:ph type="title"/>
          </p:nvPr>
        </p:nvSpPr>
        <p:spPr/>
        <p:txBody>
          <a:bodyPr/>
          <a:lstStyle/>
          <a:p>
            <a:r>
              <a:rPr lang="de-DE" sz="3200" dirty="0"/>
              <a:t>Internet – Anwendungen und Dienste</a:t>
            </a:r>
            <a:endParaRPr lang="de-DE" dirty="0"/>
          </a:p>
        </p:txBody>
      </p:sp>
      <p:sp>
        <p:nvSpPr>
          <p:cNvPr id="1043" name="Slide Number Placeholder 6"/>
          <p:cNvSpPr>
            <a:spLocks noGrp="1"/>
          </p:cNvSpPr>
          <p:nvPr>
            <p:ph type="sldNum" sz="quarter" idx="12"/>
          </p:nvPr>
        </p:nvSpPr>
        <p:spPr>
          <a:noFill/>
        </p:spPr>
        <p:txBody>
          <a:bodyPr/>
          <a:lstStyle/>
          <a:p>
            <a:fld id="{7183533A-8A50-4A1F-BEA9-C8C6956451EB}" type="slidenum">
              <a:rPr lang="en-US" smtClean="0"/>
              <a:pPr/>
              <a:t>5</a:t>
            </a:fld>
            <a:endParaRPr lang="de-DE" dirty="0"/>
          </a:p>
        </p:txBody>
      </p:sp>
      <p:sp>
        <p:nvSpPr>
          <p:cNvPr id="420" name="Inhaltsplatzhalter 419"/>
          <p:cNvSpPr>
            <a:spLocks noGrp="1"/>
          </p:cNvSpPr>
          <p:nvPr>
            <p:ph sz="quarter" idx="1"/>
          </p:nvPr>
        </p:nvSpPr>
        <p:spPr/>
        <p:txBody>
          <a:bodyPr>
            <a:normAutofit/>
          </a:bodyPr>
          <a:lstStyle/>
          <a:p>
            <a:r>
              <a:rPr lang="de-DE" sz="2400" dirty="0"/>
              <a:t>Diese Kommunikations-Infrastruktur ermöglicht </a:t>
            </a:r>
            <a:r>
              <a:rPr lang="de-DE" sz="2400" b="1" dirty="0">
                <a:solidFill>
                  <a:srgbClr val="FF0000"/>
                </a:solidFill>
              </a:rPr>
              <a:t>verteilte Anwendungen</a:t>
            </a:r>
          </a:p>
          <a:p>
            <a:pPr lvl="1"/>
            <a:r>
              <a:rPr lang="de-DE" sz="2100" dirty="0">
                <a:solidFill>
                  <a:schemeClr val="tx1"/>
                </a:solidFill>
              </a:rPr>
              <a:t>WWW, VoIP, Email, Spiele, P2P-Filesharing</a:t>
            </a:r>
          </a:p>
          <a:p>
            <a:pPr lvl="1"/>
            <a:r>
              <a:rPr lang="de-DE" sz="2100" dirty="0">
                <a:solidFill>
                  <a:schemeClr val="tx1"/>
                </a:solidFill>
              </a:rPr>
              <a:t>Wir beschäftigen uns zunächst damit</a:t>
            </a:r>
          </a:p>
          <a:p>
            <a:r>
              <a:rPr lang="de-DE" sz="2400" dirty="0"/>
              <a:t>Für diese Anwendungen werden </a:t>
            </a:r>
            <a:r>
              <a:rPr lang="de-DE" sz="2400" b="1" dirty="0">
                <a:solidFill>
                  <a:srgbClr val="FF0000"/>
                </a:solidFill>
              </a:rPr>
              <a:t>Kommunikations-dienste</a:t>
            </a:r>
            <a:r>
              <a:rPr lang="de-DE" sz="2400" dirty="0"/>
              <a:t> bereitgestellt</a:t>
            </a:r>
          </a:p>
          <a:p>
            <a:pPr lvl="1"/>
            <a:r>
              <a:rPr lang="de-DE" sz="2100" dirty="0"/>
              <a:t>Z.B. DNS = Domain Name System  – was macht das?</a:t>
            </a:r>
          </a:p>
          <a:p>
            <a:r>
              <a:rPr lang="de-DE" sz="2400" dirty="0"/>
              <a:t>Zusätzlich bietet die Infrastruktur gewisse (Qualitäts-) Eigenschaften der Übertragung</a:t>
            </a:r>
          </a:p>
          <a:p>
            <a:pPr lvl="1"/>
            <a:r>
              <a:rPr lang="de-DE" b="1" dirty="0">
                <a:solidFill>
                  <a:srgbClr val="0070C0"/>
                </a:solidFill>
              </a:rPr>
              <a:t>Verlässliche Datenzustellung </a:t>
            </a:r>
            <a:r>
              <a:rPr lang="de-DE" dirty="0">
                <a:solidFill>
                  <a:schemeClr val="tx1"/>
                </a:solidFill>
              </a:rPr>
              <a:t>von Quelle zu dem Ziel</a:t>
            </a:r>
          </a:p>
          <a:p>
            <a:pPr lvl="1"/>
            <a:r>
              <a:rPr lang="de-DE" dirty="0">
                <a:solidFill>
                  <a:schemeClr val="tx1"/>
                </a:solidFill>
              </a:rPr>
              <a:t>“</a:t>
            </a:r>
            <a:r>
              <a:rPr lang="de-DE" b="1" dirty="0">
                <a:solidFill>
                  <a:srgbClr val="0070C0"/>
                </a:solidFill>
              </a:rPr>
              <a:t>Best Effort</a:t>
            </a:r>
            <a:r>
              <a:rPr lang="de-DE" dirty="0">
                <a:solidFill>
                  <a:schemeClr val="tx1"/>
                </a:solidFill>
              </a:rPr>
              <a:t>” </a:t>
            </a:r>
            <a:r>
              <a:rPr lang="de-DE" b="1" dirty="0">
                <a:solidFill>
                  <a:srgbClr val="0070C0"/>
                </a:solidFill>
              </a:rPr>
              <a:t>Dienstqualität</a:t>
            </a:r>
            <a:r>
              <a:rPr lang="de-DE" b="1" dirty="0">
                <a:solidFill>
                  <a:srgbClr val="FF0000"/>
                </a:solidFill>
              </a:rPr>
              <a:t> </a:t>
            </a:r>
            <a:r>
              <a:rPr lang="de-DE" dirty="0">
                <a:solidFill>
                  <a:schemeClr val="tx1"/>
                </a:solidFill>
              </a:rPr>
              <a:t>(</a:t>
            </a:r>
            <a:r>
              <a:rPr lang="de-DE" b="1" dirty="0">
                <a:solidFill>
                  <a:srgbClr val="FF0000"/>
                </a:solidFill>
              </a:rPr>
              <a:t>Quality </a:t>
            </a:r>
            <a:r>
              <a:rPr lang="de-DE" b="1" dirty="0" err="1">
                <a:solidFill>
                  <a:srgbClr val="FF0000"/>
                </a:solidFill>
              </a:rPr>
              <a:t>of</a:t>
            </a:r>
            <a:r>
              <a:rPr lang="de-DE" b="1" dirty="0">
                <a:solidFill>
                  <a:srgbClr val="FF0000"/>
                </a:solidFill>
              </a:rPr>
              <a:t> Service</a:t>
            </a:r>
            <a:r>
              <a:rPr lang="de-DE" dirty="0">
                <a:solidFill>
                  <a:schemeClr val="tx1"/>
                </a:solidFill>
              </a:rPr>
              <a:t>,</a:t>
            </a:r>
            <a:r>
              <a:rPr lang="de-DE" b="1" dirty="0">
                <a:solidFill>
                  <a:srgbClr val="FF0000"/>
                </a:solidFill>
              </a:rPr>
              <a:t> </a:t>
            </a:r>
            <a:r>
              <a:rPr lang="de-DE" b="1" dirty="0" err="1">
                <a:solidFill>
                  <a:srgbClr val="FF0000"/>
                </a:solidFill>
              </a:rPr>
              <a:t>QoS</a:t>
            </a:r>
            <a:r>
              <a:rPr lang="de-DE" dirty="0">
                <a:solidFill>
                  <a:schemeClr val="tx1"/>
                </a:solidFill>
              </a:rPr>
              <a:t>) – minimalistische Dienstgüte-Zusicherung</a:t>
            </a:r>
          </a:p>
          <a:p>
            <a:endParaRPr lang="de-DE" dirty="0"/>
          </a:p>
        </p:txBody>
      </p:sp>
    </p:spTree>
    <p:extLst>
      <p:ext uri="{BB962C8B-B14F-4D97-AF65-F5344CB8AC3E}">
        <p14:creationId xmlns:p14="http://schemas.microsoft.com/office/powerpoint/2010/main" val="1297893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6</a:t>
            </a:fld>
            <a:endParaRPr lang="de-DE" dirty="0"/>
          </a:p>
        </p:txBody>
      </p:sp>
      <p:sp>
        <p:nvSpPr>
          <p:cNvPr id="3" name="Titel 2"/>
          <p:cNvSpPr>
            <a:spLocks noGrp="1"/>
          </p:cNvSpPr>
          <p:nvPr>
            <p:ph type="title"/>
          </p:nvPr>
        </p:nvSpPr>
        <p:spPr/>
        <p:txBody>
          <a:bodyPr/>
          <a:lstStyle/>
          <a:p>
            <a:r>
              <a:rPr lang="de-DE" dirty="0"/>
              <a:t>Internet - Geschichte</a:t>
            </a:r>
          </a:p>
        </p:txBody>
      </p:sp>
    </p:spTree>
    <p:extLst>
      <p:ext uri="{BB962C8B-B14F-4D97-AF65-F5344CB8AC3E}">
        <p14:creationId xmlns:p14="http://schemas.microsoft.com/office/powerpoint/2010/main" val="2974366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Zusatzmaterialien zu diesem Teil</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7</a:t>
            </a:fld>
            <a:endParaRPr lang="en-US" noProof="0" dirty="0"/>
          </a:p>
        </p:txBody>
      </p:sp>
      <p:sp>
        <p:nvSpPr>
          <p:cNvPr id="4" name="Content Placeholder 3"/>
          <p:cNvSpPr>
            <a:spLocks noGrp="1"/>
          </p:cNvSpPr>
          <p:nvPr>
            <p:ph sz="quarter" idx="1"/>
          </p:nvPr>
        </p:nvSpPr>
        <p:spPr/>
        <p:txBody>
          <a:bodyPr/>
          <a:lstStyle/>
          <a:p>
            <a:r>
              <a:rPr lang="de-DE" dirty="0"/>
              <a:t>Auf </a:t>
            </a:r>
            <a:r>
              <a:rPr lang="de-DE" b="1" dirty="0" err="1">
                <a:solidFill>
                  <a:srgbClr val="0070C0"/>
                </a:solidFill>
              </a:rPr>
              <a:t>Coursera</a:t>
            </a:r>
            <a:r>
              <a:rPr lang="de-DE" dirty="0">
                <a:solidFill>
                  <a:srgbClr val="0070C0"/>
                </a:solidFill>
              </a:rPr>
              <a:t> </a:t>
            </a:r>
            <a:r>
              <a:rPr lang="de-DE" dirty="0"/>
              <a:t>gibt es einen guten Kurs als Begleitung zu dem Netzwerk-Teil von IBN</a:t>
            </a:r>
          </a:p>
          <a:p>
            <a:pPr lvl="1"/>
            <a:r>
              <a:rPr lang="en-US" dirty="0">
                <a:solidFill>
                  <a:srgbClr val="0070C0"/>
                </a:solidFill>
              </a:rPr>
              <a:t>Internet History, Technology, and Security </a:t>
            </a:r>
          </a:p>
          <a:p>
            <a:pPr lvl="1"/>
            <a:r>
              <a:rPr lang="en-US" dirty="0"/>
              <a:t>https://www.coursera.org/learn/internet-history/home/info</a:t>
            </a:r>
          </a:p>
          <a:p>
            <a:r>
              <a:rPr lang="de-DE" dirty="0"/>
              <a:t>Sehr empfehlenswert als Ergänzung zu IBN!</a:t>
            </a:r>
          </a:p>
          <a:p>
            <a:pPr lvl="1"/>
            <a:r>
              <a:rPr lang="de-DE" dirty="0"/>
              <a:t>Aber keine Pflicht / kein Klausurstoff</a:t>
            </a:r>
          </a:p>
          <a:p>
            <a:r>
              <a:rPr lang="de-DE" dirty="0"/>
              <a:t>Einige Videos sind über YouTube zugreifbar</a:t>
            </a:r>
          </a:p>
          <a:p>
            <a:pPr lvl="1"/>
            <a:r>
              <a:rPr lang="de-DE" dirty="0">
                <a:hlinkClick r:id="rId3"/>
              </a:rPr>
              <a:t>https://www.youtube.com/playlist?list=PLlRFEj9H3Oj6-srSAgLb-ZGVNGlo3v14X</a:t>
            </a:r>
          </a:p>
        </p:txBody>
      </p:sp>
    </p:spTree>
    <p:extLst>
      <p:ext uri="{BB962C8B-B14F-4D97-AF65-F5344CB8AC3E}">
        <p14:creationId xmlns:p14="http://schemas.microsoft.com/office/powerpoint/2010/main" val="806252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arpanet2"/>
          <p:cNvPicPr>
            <a:picLocks noChangeAspect="1" noChangeArrowheads="1"/>
          </p:cNvPicPr>
          <p:nvPr/>
        </p:nvPicPr>
        <p:blipFill>
          <a:blip r:embed="rId3" cstate="print"/>
          <a:srcRect b="8458"/>
          <a:stretch>
            <a:fillRect/>
          </a:stretch>
        </p:blipFill>
        <p:spPr bwMode="auto">
          <a:xfrm>
            <a:off x="5822854" y="3645024"/>
            <a:ext cx="3321146" cy="3223727"/>
          </a:xfrm>
          <a:prstGeom prst="rect">
            <a:avLst/>
          </a:prstGeom>
          <a:noFill/>
          <a:ln w="9525">
            <a:noFill/>
            <a:miter lim="800000"/>
            <a:headEnd/>
            <a:tailEnd/>
          </a:ln>
        </p:spPr>
      </p:pic>
      <p:sp>
        <p:nvSpPr>
          <p:cNvPr id="5" name="Titel 4"/>
          <p:cNvSpPr>
            <a:spLocks noGrp="1"/>
          </p:cNvSpPr>
          <p:nvPr>
            <p:ph type="title"/>
          </p:nvPr>
        </p:nvSpPr>
        <p:spPr/>
        <p:txBody>
          <a:bodyPr>
            <a:normAutofit fontScale="90000"/>
          </a:bodyPr>
          <a:lstStyle/>
          <a:p>
            <a:r>
              <a:rPr lang="de-DE" dirty="0"/>
              <a:t>1961-1972: Entwicklung der Paketvermittlung </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8</a:t>
            </a:fld>
            <a:endParaRPr lang="en-US" noProof="0" dirty="0"/>
          </a:p>
        </p:txBody>
      </p:sp>
      <p:sp>
        <p:nvSpPr>
          <p:cNvPr id="6" name="Inhaltsplatzhalter 5"/>
          <p:cNvSpPr>
            <a:spLocks noGrp="1"/>
          </p:cNvSpPr>
          <p:nvPr>
            <p:ph sz="quarter" idx="1"/>
          </p:nvPr>
        </p:nvSpPr>
        <p:spPr>
          <a:xfrm>
            <a:off x="457200" y="1219200"/>
            <a:ext cx="8363272" cy="2929880"/>
          </a:xfrm>
        </p:spPr>
        <p:txBody>
          <a:bodyPr>
            <a:normAutofit fontScale="92500"/>
          </a:bodyPr>
          <a:lstStyle/>
          <a:p>
            <a:r>
              <a:rPr lang="de-DE" sz="2400" dirty="0">
                <a:solidFill>
                  <a:srgbClr val="0070C0"/>
                </a:solidFill>
              </a:rPr>
              <a:t>1961: </a:t>
            </a:r>
            <a:r>
              <a:rPr lang="de-DE" sz="2400" dirty="0"/>
              <a:t>Kleinrock (Doktorand MIT) - zeigt die Wirksamkeit der sog. </a:t>
            </a:r>
            <a:r>
              <a:rPr lang="de-DE" sz="2400" dirty="0">
                <a:solidFill>
                  <a:srgbClr val="0070C0"/>
                </a:solidFill>
              </a:rPr>
              <a:t>Paketvermittlung</a:t>
            </a:r>
            <a:r>
              <a:rPr lang="de-DE" sz="2400" dirty="0"/>
              <a:t> (</a:t>
            </a:r>
            <a:r>
              <a:rPr lang="de-DE" sz="2400" b="1" dirty="0">
                <a:solidFill>
                  <a:srgbClr val="FF0000"/>
                </a:solidFill>
              </a:rPr>
              <a:t>PV</a:t>
            </a:r>
            <a:r>
              <a:rPr lang="de-DE" sz="2400" dirty="0"/>
              <a:t>) mittels der </a:t>
            </a:r>
            <a:r>
              <a:rPr lang="de-DE" sz="2400" b="1" dirty="0"/>
              <a:t>Warteschlangentheorie</a:t>
            </a:r>
          </a:p>
          <a:p>
            <a:r>
              <a:rPr lang="de-DE" sz="2400" dirty="0">
                <a:solidFill>
                  <a:srgbClr val="0070C0"/>
                </a:solidFill>
              </a:rPr>
              <a:t>1964: </a:t>
            </a:r>
            <a:r>
              <a:rPr lang="de-DE" sz="2400" dirty="0"/>
              <a:t>Baran - untersucht sichere Sprachkommunikation in militärischen Netzen (Rand Institute)</a:t>
            </a:r>
          </a:p>
          <a:p>
            <a:r>
              <a:rPr lang="de-DE" sz="2400" dirty="0">
                <a:solidFill>
                  <a:srgbClr val="0070C0"/>
                </a:solidFill>
              </a:rPr>
              <a:t>1967:</a:t>
            </a:r>
            <a:r>
              <a:rPr lang="de-DE" sz="2400" dirty="0"/>
              <a:t> Entstehung von</a:t>
            </a:r>
            <a:r>
              <a:rPr lang="de-DE" sz="2400" dirty="0">
                <a:solidFill>
                  <a:srgbClr val="0070C0"/>
                </a:solidFill>
              </a:rPr>
              <a:t> </a:t>
            </a:r>
            <a:r>
              <a:rPr lang="de-DE" sz="2400" b="1" dirty="0" err="1">
                <a:solidFill>
                  <a:srgbClr val="FF0000"/>
                </a:solidFill>
              </a:rPr>
              <a:t>ARPAnet</a:t>
            </a:r>
            <a:r>
              <a:rPr lang="de-DE" sz="2400" b="1" dirty="0">
                <a:solidFill>
                  <a:srgbClr val="FF0000"/>
                </a:solidFill>
              </a:rPr>
              <a:t> </a:t>
            </a:r>
            <a:r>
              <a:rPr lang="de-DE" sz="2400" dirty="0"/>
              <a:t>bei </a:t>
            </a:r>
            <a:r>
              <a:rPr lang="de-DE" sz="2400" dirty="0" err="1"/>
              <a:t>Advanced</a:t>
            </a:r>
            <a:r>
              <a:rPr lang="de-DE" sz="2400" dirty="0"/>
              <a:t> Research Projects Agency (</a:t>
            </a:r>
            <a:r>
              <a:rPr lang="de-DE" sz="2400" b="1" dirty="0">
                <a:solidFill>
                  <a:srgbClr val="FF0000"/>
                </a:solidFill>
              </a:rPr>
              <a:t>ARPA</a:t>
            </a:r>
            <a:r>
              <a:rPr lang="de-DE" sz="2400" dirty="0"/>
              <a:t>) (</a:t>
            </a:r>
            <a:r>
              <a:rPr lang="de-DE" sz="2400" dirty="0" err="1"/>
              <a:t>Licklider</a:t>
            </a:r>
            <a:r>
              <a:rPr lang="de-DE" sz="2400" dirty="0"/>
              <a:t>/Lawrence, MIT) </a:t>
            </a:r>
          </a:p>
          <a:p>
            <a:pPr lvl="1"/>
            <a:r>
              <a:rPr lang="de-DE" sz="2100" dirty="0"/>
              <a:t>1969: Erster </a:t>
            </a:r>
            <a:r>
              <a:rPr lang="de-DE" sz="2100" dirty="0" err="1"/>
              <a:t>ARPAnet</a:t>
            </a:r>
            <a:r>
              <a:rPr lang="de-DE" sz="2100" dirty="0"/>
              <a:t> Knoten an UCLA, weitere folgten bald in </a:t>
            </a:r>
            <a:r>
              <a:rPr lang="de-DE" sz="1800" dirty="0"/>
              <a:t>Stanford, University </a:t>
            </a:r>
            <a:r>
              <a:rPr lang="de-DE" sz="1800" dirty="0" err="1"/>
              <a:t>of</a:t>
            </a:r>
            <a:r>
              <a:rPr lang="de-DE" sz="1800" dirty="0"/>
              <a:t> Cal. in Santa Barbara, University of Utah </a:t>
            </a:r>
          </a:p>
          <a:p>
            <a:endParaRPr lang="de-DE" sz="2400" dirty="0"/>
          </a:p>
          <a:p>
            <a:endParaRPr lang="de-DE" sz="2400" dirty="0"/>
          </a:p>
        </p:txBody>
      </p:sp>
      <p:sp>
        <p:nvSpPr>
          <p:cNvPr id="7" name="Inhaltsplatzhalter 6"/>
          <p:cNvSpPr>
            <a:spLocks noGrp="1"/>
          </p:cNvSpPr>
          <p:nvPr>
            <p:ph sz="quarter" idx="13"/>
          </p:nvPr>
        </p:nvSpPr>
        <p:spPr>
          <a:xfrm>
            <a:off x="467544" y="4077072"/>
            <a:ext cx="5832648" cy="2664296"/>
          </a:xfrm>
        </p:spPr>
        <p:txBody>
          <a:bodyPr>
            <a:normAutofit/>
          </a:bodyPr>
          <a:lstStyle/>
          <a:p>
            <a:r>
              <a:rPr lang="de-DE" sz="2200" dirty="0">
                <a:solidFill>
                  <a:srgbClr val="0070C0"/>
                </a:solidFill>
              </a:rPr>
              <a:t>1972: </a:t>
            </a:r>
          </a:p>
          <a:p>
            <a:pPr lvl="1"/>
            <a:r>
              <a:rPr lang="de-DE" sz="2000" dirty="0"/>
              <a:t>Erste öffentliche Vorführung von ARPAnet</a:t>
            </a:r>
          </a:p>
          <a:p>
            <a:pPr lvl="1"/>
            <a:r>
              <a:rPr lang="de-DE" sz="2000" dirty="0"/>
              <a:t>NCP (Network Control Protocol)- erstes Host-zu-Host Protokoll</a:t>
            </a:r>
          </a:p>
          <a:p>
            <a:pPr lvl="1"/>
            <a:r>
              <a:rPr lang="de-DE" sz="2000" dirty="0"/>
              <a:t>Erstes E-mail Programm</a:t>
            </a:r>
          </a:p>
          <a:p>
            <a:pPr lvl="1"/>
            <a:r>
              <a:rPr lang="de-DE" sz="2000" dirty="0"/>
              <a:t>ARPAnet hat 15 Knoten – bereit für eine LAN-Party? </a:t>
            </a:r>
            <a:r>
              <a:rPr lang="de-DE" sz="2000" dirty="0">
                <a:sym typeface="Wingdings" panose="05000000000000000000" pitchFamily="2" charset="2"/>
              </a:rPr>
              <a:t></a:t>
            </a:r>
            <a:endParaRPr lang="de-DE" sz="2000" dirty="0"/>
          </a:p>
          <a:p>
            <a:endParaRPr lang="de-DE" dirty="0"/>
          </a:p>
        </p:txBody>
      </p:sp>
    </p:spTree>
    <p:extLst>
      <p:ext uri="{BB962C8B-B14F-4D97-AF65-F5344CB8AC3E}">
        <p14:creationId xmlns:p14="http://schemas.microsoft.com/office/powerpoint/2010/main" val="1065854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1972-1980: Proprietäre Netzwerke und </a:t>
            </a:r>
            <a:r>
              <a:rPr lang="de-DE" dirty="0" err="1"/>
              <a:t>Internetworking</a:t>
            </a:r>
            <a:endParaRPr lang="de-DE" dirty="0"/>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9</a:t>
            </a:fld>
            <a:endParaRPr lang="en-US" noProof="0" dirty="0"/>
          </a:p>
        </p:txBody>
      </p:sp>
      <p:sp>
        <p:nvSpPr>
          <p:cNvPr id="4" name="Inhaltsplatzhalter 3"/>
          <p:cNvSpPr>
            <a:spLocks noGrp="1"/>
          </p:cNvSpPr>
          <p:nvPr>
            <p:ph sz="quarter" idx="1"/>
          </p:nvPr>
        </p:nvSpPr>
        <p:spPr>
          <a:xfrm>
            <a:off x="457200" y="1219200"/>
            <a:ext cx="8363272" cy="5306144"/>
          </a:xfrm>
        </p:spPr>
        <p:txBody>
          <a:bodyPr>
            <a:normAutofit lnSpcReduction="10000"/>
          </a:bodyPr>
          <a:lstStyle/>
          <a:p>
            <a:r>
              <a:rPr lang="de-DE" dirty="0"/>
              <a:t>Weitere eigenständige Netze neben </a:t>
            </a:r>
            <a:r>
              <a:rPr lang="de-DE" dirty="0" err="1"/>
              <a:t>ARPAnet</a:t>
            </a:r>
            <a:endParaRPr lang="de-DE" dirty="0"/>
          </a:p>
          <a:p>
            <a:pPr lvl="1"/>
            <a:r>
              <a:rPr lang="de-DE" dirty="0" err="1"/>
              <a:t>ALOHANet</a:t>
            </a:r>
            <a:r>
              <a:rPr lang="de-DE" dirty="0"/>
              <a:t>, ein Mikrowellennetz, das Unis auf den hawaiianischen Inseln verband (1970)</a:t>
            </a:r>
          </a:p>
          <a:p>
            <a:pPr lvl="1"/>
            <a:r>
              <a:rPr lang="de-DE" dirty="0" err="1"/>
              <a:t>Telenet</a:t>
            </a:r>
            <a:r>
              <a:rPr lang="de-DE" dirty="0"/>
              <a:t>, ein kommerzielles PV-Netz von BBN</a:t>
            </a:r>
          </a:p>
          <a:p>
            <a:pPr lvl="1"/>
            <a:r>
              <a:rPr lang="de-DE" dirty="0" err="1"/>
              <a:t>Cyclades</a:t>
            </a:r>
            <a:r>
              <a:rPr lang="de-DE" dirty="0"/>
              <a:t>, ein französisches PV-Netz</a:t>
            </a:r>
          </a:p>
          <a:p>
            <a:pPr lvl="1"/>
            <a:r>
              <a:rPr lang="de-DE" dirty="0"/>
              <a:t>IBM SNA, entwickelt parallel zum ARPAnet (1969-1974)</a:t>
            </a:r>
          </a:p>
          <a:p>
            <a:r>
              <a:rPr lang="de-DE" dirty="0"/>
              <a:t>1974: </a:t>
            </a:r>
            <a:r>
              <a:rPr lang="de-DE" u="sng" dirty="0"/>
              <a:t>Vinton Cerf</a:t>
            </a:r>
            <a:r>
              <a:rPr lang="de-DE" dirty="0"/>
              <a:t> und </a:t>
            </a:r>
            <a:r>
              <a:rPr lang="de-DE" u="sng" dirty="0"/>
              <a:t>Robert Kahn</a:t>
            </a:r>
            <a:r>
              <a:rPr lang="de-DE" dirty="0"/>
              <a:t> entwarfen Architektur für den Zusammenschluss solcher Netzwerke - das </a:t>
            </a:r>
            <a:r>
              <a:rPr lang="de-DE" b="1" dirty="0">
                <a:solidFill>
                  <a:srgbClr val="FF0000"/>
                </a:solidFill>
              </a:rPr>
              <a:t>Internetworking </a:t>
            </a:r>
            <a:r>
              <a:rPr lang="de-DE" dirty="0"/>
              <a:t>(Geld von DARPA)</a:t>
            </a:r>
          </a:p>
          <a:p>
            <a:r>
              <a:rPr lang="de-DE" dirty="0"/>
              <a:t>Später, 1984: EARN (European Academic </a:t>
            </a:r>
            <a:r>
              <a:rPr lang="de-DE" dirty="0" err="1"/>
              <a:t>and</a:t>
            </a:r>
            <a:r>
              <a:rPr lang="de-DE" dirty="0"/>
              <a:t> Research Network) – HD von Anfang an dabei</a:t>
            </a:r>
          </a:p>
          <a:p>
            <a:pPr lvl="1"/>
            <a:r>
              <a:rPr lang="de-DE" dirty="0"/>
              <a:t>Kommunikation mit ca. 1300 anderen Nutzern</a:t>
            </a:r>
          </a:p>
          <a:p>
            <a:pPr lvl="1"/>
            <a:r>
              <a:rPr lang="de-DE" dirty="0"/>
              <a:t>Erste Nutzung von Email an der Uni HD</a:t>
            </a:r>
          </a:p>
        </p:txBody>
      </p:sp>
    </p:spTree>
    <p:extLst>
      <p:ext uri="{BB962C8B-B14F-4D97-AF65-F5344CB8AC3E}">
        <p14:creationId xmlns:p14="http://schemas.microsoft.com/office/powerpoint/2010/main" val="61120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46A0D3-ABB8-340B-57A9-4803FA2F34B0}"/>
              </a:ext>
            </a:extLst>
          </p:cNvPr>
          <p:cNvSpPr>
            <a:spLocks noGrp="1"/>
          </p:cNvSpPr>
          <p:nvPr>
            <p:ph type="title"/>
          </p:nvPr>
        </p:nvSpPr>
        <p:spPr>
          <a:xfrm>
            <a:off x="457200" y="152400"/>
            <a:ext cx="8363272" cy="990600"/>
          </a:xfrm>
        </p:spPr>
        <p:txBody>
          <a:bodyPr>
            <a:normAutofit fontScale="90000"/>
          </a:bodyPr>
          <a:lstStyle/>
          <a:p>
            <a:r>
              <a:rPr lang="de-DE" dirty="0"/>
              <a:t>Paketvermittelte Datenübertragung an der Uni HD</a:t>
            </a:r>
          </a:p>
        </p:txBody>
      </p:sp>
      <p:sp>
        <p:nvSpPr>
          <p:cNvPr id="3" name="Foliennummernplatzhalter 2">
            <a:extLst>
              <a:ext uri="{FF2B5EF4-FFF2-40B4-BE49-F238E27FC236}">
                <a16:creationId xmlns:a16="http://schemas.microsoft.com/office/drawing/2014/main" id="{744000BA-3E10-3E11-2E1D-5459356F70E7}"/>
              </a:ext>
            </a:extLst>
          </p:cNvPr>
          <p:cNvSpPr>
            <a:spLocks noGrp="1"/>
          </p:cNvSpPr>
          <p:nvPr>
            <p:ph type="sldNum" sz="quarter" idx="12"/>
          </p:nvPr>
        </p:nvSpPr>
        <p:spPr/>
        <p:txBody>
          <a:bodyPr/>
          <a:lstStyle/>
          <a:p>
            <a:fld id="{7183533A-8A50-4A1F-BEA9-C8C6956451EB}" type="slidenum">
              <a:rPr lang="en-US" noProof="0" smtClean="0"/>
              <a:pPr/>
              <a:t>10</a:t>
            </a:fld>
            <a:endParaRPr lang="en-US" noProof="0" dirty="0"/>
          </a:p>
        </p:txBody>
      </p:sp>
      <p:sp>
        <p:nvSpPr>
          <p:cNvPr id="4" name="Inhaltsplatzhalter 3">
            <a:extLst>
              <a:ext uri="{FF2B5EF4-FFF2-40B4-BE49-F238E27FC236}">
                <a16:creationId xmlns:a16="http://schemas.microsoft.com/office/drawing/2014/main" id="{51F790AB-FFDB-C827-4E79-5DB9FA208748}"/>
              </a:ext>
            </a:extLst>
          </p:cNvPr>
          <p:cNvSpPr>
            <a:spLocks noGrp="1"/>
          </p:cNvSpPr>
          <p:nvPr>
            <p:ph sz="quarter" idx="1"/>
          </p:nvPr>
        </p:nvSpPr>
        <p:spPr/>
        <p:txBody>
          <a:bodyPr/>
          <a:lstStyle/>
          <a:p>
            <a:r>
              <a:rPr lang="de-DE" dirty="0"/>
              <a:t>Uni HD ist Anfang der 1970er Jahre ein Vorreiter der Forschung an </a:t>
            </a:r>
            <a:r>
              <a:rPr lang="de-DE" b="1" dirty="0"/>
              <a:t>paketvermittelten</a:t>
            </a:r>
            <a:r>
              <a:rPr lang="de-DE" dirty="0"/>
              <a:t> Datenübertragung</a:t>
            </a:r>
          </a:p>
          <a:p>
            <a:r>
              <a:rPr lang="de-DE" dirty="0"/>
              <a:t>Bis heute noch zu sehen: Bauliche Vorrichtungen in der Mensa </a:t>
            </a:r>
          </a:p>
        </p:txBody>
      </p:sp>
      <p:pic>
        <p:nvPicPr>
          <p:cNvPr id="6" name="Grafik 5">
            <a:extLst>
              <a:ext uri="{FF2B5EF4-FFF2-40B4-BE49-F238E27FC236}">
                <a16:creationId xmlns:a16="http://schemas.microsoft.com/office/drawing/2014/main" id="{710DA914-2503-28E7-9F9F-F45ECE208BD7}"/>
              </a:ext>
            </a:extLst>
          </p:cNvPr>
          <p:cNvPicPr>
            <a:picLocks noChangeAspect="1"/>
          </p:cNvPicPr>
          <p:nvPr/>
        </p:nvPicPr>
        <p:blipFill>
          <a:blip r:embed="rId2"/>
          <a:stretch>
            <a:fillRect/>
          </a:stretch>
        </p:blipFill>
        <p:spPr>
          <a:xfrm>
            <a:off x="539552" y="3095679"/>
            <a:ext cx="2842501" cy="3333717"/>
          </a:xfrm>
          <a:prstGeom prst="rect">
            <a:avLst/>
          </a:prstGeom>
        </p:spPr>
      </p:pic>
      <p:pic>
        <p:nvPicPr>
          <p:cNvPr id="8" name="Grafik 7">
            <a:extLst>
              <a:ext uri="{FF2B5EF4-FFF2-40B4-BE49-F238E27FC236}">
                <a16:creationId xmlns:a16="http://schemas.microsoft.com/office/drawing/2014/main" id="{FF3BA14A-0AEE-8AEE-27BE-5C38B0E02B4E}"/>
              </a:ext>
            </a:extLst>
          </p:cNvPr>
          <p:cNvPicPr>
            <a:picLocks noChangeAspect="1"/>
          </p:cNvPicPr>
          <p:nvPr/>
        </p:nvPicPr>
        <p:blipFill>
          <a:blip r:embed="rId3"/>
          <a:stretch>
            <a:fillRect/>
          </a:stretch>
        </p:blipFill>
        <p:spPr>
          <a:xfrm>
            <a:off x="3923928" y="3095679"/>
            <a:ext cx="4261982" cy="3285869"/>
          </a:xfrm>
          <a:prstGeom prst="rect">
            <a:avLst/>
          </a:prstGeom>
        </p:spPr>
      </p:pic>
      <p:pic>
        <p:nvPicPr>
          <p:cNvPr id="10" name="Grafik 9" descr="Ein Bild, das Kleidung, Person, Mann, Im Haus enthält.&#10;&#10;KI-generierte Inhalte können fehlerhaft sein.">
            <a:extLst>
              <a:ext uri="{FF2B5EF4-FFF2-40B4-BE49-F238E27FC236}">
                <a16:creationId xmlns:a16="http://schemas.microsoft.com/office/drawing/2014/main" id="{594955D3-129C-A81B-98E0-0B36B0B6E757}"/>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2339752" y="4293096"/>
            <a:ext cx="3739445" cy="2420888"/>
          </a:xfrm>
          <a:prstGeom prst="rect">
            <a:avLst/>
          </a:prstGeom>
        </p:spPr>
      </p:pic>
    </p:spTree>
    <p:extLst>
      <p:ext uri="{BB962C8B-B14F-4D97-AF65-F5344CB8AC3E}">
        <p14:creationId xmlns:p14="http://schemas.microsoft.com/office/powerpoint/2010/main" val="399607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Prinzipien des Internetworkings - noch gültig!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11</a:t>
            </a:fld>
            <a:endParaRPr lang="en-US" noProof="0" dirty="0"/>
          </a:p>
        </p:txBody>
      </p:sp>
      <p:sp>
        <p:nvSpPr>
          <p:cNvPr id="4" name="Inhaltsplatzhalter 3"/>
          <p:cNvSpPr>
            <a:spLocks noGrp="1"/>
          </p:cNvSpPr>
          <p:nvPr>
            <p:ph sz="quarter" idx="1"/>
          </p:nvPr>
        </p:nvSpPr>
        <p:spPr>
          <a:xfrm>
            <a:off x="457200" y="1219200"/>
            <a:ext cx="8363272" cy="5306144"/>
          </a:xfrm>
        </p:spPr>
        <p:txBody>
          <a:bodyPr>
            <a:normAutofit/>
          </a:bodyPr>
          <a:lstStyle/>
          <a:p>
            <a:r>
              <a:rPr lang="de-DE" b="1" dirty="0">
                <a:solidFill>
                  <a:srgbClr val="FF0000"/>
                </a:solidFill>
              </a:rPr>
              <a:t>Minimalismus</a:t>
            </a:r>
            <a:r>
              <a:rPr lang="de-DE" dirty="0"/>
              <a:t>, </a:t>
            </a:r>
            <a:r>
              <a:rPr lang="de-DE" b="1" dirty="0">
                <a:solidFill>
                  <a:srgbClr val="FF0000"/>
                </a:solidFill>
              </a:rPr>
              <a:t>Autonomie </a:t>
            </a:r>
            <a:r>
              <a:rPr lang="de-DE" dirty="0"/>
              <a:t>- keine internen Änderungen nötig, um die Netze zusammen-zuschließen</a:t>
            </a:r>
          </a:p>
          <a:p>
            <a:r>
              <a:rPr lang="de-DE" b="1" dirty="0">
                <a:solidFill>
                  <a:srgbClr val="FF0000"/>
                </a:solidFill>
              </a:rPr>
              <a:t>„Best </a:t>
            </a:r>
            <a:r>
              <a:rPr lang="de-DE" b="1" dirty="0" err="1">
                <a:solidFill>
                  <a:srgbClr val="FF0000"/>
                </a:solidFill>
              </a:rPr>
              <a:t>effort</a:t>
            </a:r>
            <a:r>
              <a:rPr lang="de-DE" b="1" dirty="0">
                <a:solidFill>
                  <a:srgbClr val="FF0000"/>
                </a:solidFill>
              </a:rPr>
              <a:t>“ Modell </a:t>
            </a:r>
            <a:r>
              <a:rPr lang="de-DE" dirty="0"/>
              <a:t>- minimalistische Dienstgüte-Zusicherung</a:t>
            </a:r>
          </a:p>
          <a:p>
            <a:r>
              <a:rPr lang="de-DE" b="1" dirty="0">
                <a:solidFill>
                  <a:srgbClr val="FF0000"/>
                </a:solidFill>
              </a:rPr>
              <a:t>Zustandslose Router</a:t>
            </a:r>
          </a:p>
          <a:p>
            <a:r>
              <a:rPr lang="de-DE" b="1" dirty="0">
                <a:solidFill>
                  <a:srgbClr val="FF0000"/>
                </a:solidFill>
              </a:rPr>
              <a:t>Dezentralisierte Kontrolle</a:t>
            </a:r>
          </a:p>
        </p:txBody>
      </p:sp>
    </p:spTree>
    <p:extLst>
      <p:ext uri="{BB962C8B-B14F-4D97-AF65-F5344CB8AC3E}">
        <p14:creationId xmlns:p14="http://schemas.microsoft.com/office/powerpoint/2010/main" val="3067694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1972-1980: … </a:t>
            </a:r>
            <a:r>
              <a:rPr lang="de-DE" dirty="0" err="1"/>
              <a:t>Internetworking</a:t>
            </a:r>
            <a:endParaRPr lang="de-DE" dirty="0"/>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12</a:t>
            </a:fld>
            <a:endParaRPr lang="en-US" noProof="0" dirty="0"/>
          </a:p>
        </p:txBody>
      </p:sp>
      <p:sp>
        <p:nvSpPr>
          <p:cNvPr id="4" name="Inhaltsplatzhalter 3"/>
          <p:cNvSpPr>
            <a:spLocks noGrp="1"/>
          </p:cNvSpPr>
          <p:nvPr>
            <p:ph sz="quarter" idx="1"/>
          </p:nvPr>
        </p:nvSpPr>
        <p:spPr>
          <a:xfrm>
            <a:off x="457200" y="1219200"/>
            <a:ext cx="8229600" cy="3433936"/>
          </a:xfrm>
        </p:spPr>
        <p:txBody>
          <a:bodyPr>
            <a:normAutofit/>
          </a:bodyPr>
          <a:lstStyle/>
          <a:p>
            <a:r>
              <a:rPr lang="de-DE" dirty="0"/>
              <a:t>Konzeptionelle / empirische Erkenntnisse führen zu den drei wichtigsten Protokollen - </a:t>
            </a:r>
            <a:r>
              <a:rPr lang="de-DE" b="1" dirty="0">
                <a:solidFill>
                  <a:srgbClr val="FF0000"/>
                </a:solidFill>
              </a:rPr>
              <a:t>TCP</a:t>
            </a:r>
            <a:r>
              <a:rPr lang="de-DE" dirty="0"/>
              <a:t>, </a:t>
            </a:r>
            <a:r>
              <a:rPr lang="de-DE" b="1" dirty="0">
                <a:solidFill>
                  <a:srgbClr val="FF0000"/>
                </a:solidFill>
              </a:rPr>
              <a:t>UDP</a:t>
            </a:r>
            <a:r>
              <a:rPr lang="de-DE" dirty="0"/>
              <a:t>, </a:t>
            </a:r>
            <a:r>
              <a:rPr lang="de-DE" b="1" dirty="0">
                <a:solidFill>
                  <a:srgbClr val="FF0000"/>
                </a:solidFill>
              </a:rPr>
              <a:t>IP </a:t>
            </a:r>
          </a:p>
          <a:p>
            <a:r>
              <a:rPr lang="de-DE" u="sng" dirty="0">
                <a:solidFill>
                  <a:srgbClr val="000000"/>
                </a:solidFill>
              </a:rPr>
              <a:t>Metcalfe</a:t>
            </a:r>
            <a:r>
              <a:rPr lang="de-DE" dirty="0">
                <a:solidFill>
                  <a:srgbClr val="000000"/>
                </a:solidFill>
              </a:rPr>
              <a:t> und </a:t>
            </a:r>
            <a:r>
              <a:rPr lang="de-DE" u="sng" dirty="0">
                <a:solidFill>
                  <a:srgbClr val="000000"/>
                </a:solidFill>
              </a:rPr>
              <a:t>Boggs</a:t>
            </a:r>
            <a:r>
              <a:rPr lang="de-DE" dirty="0">
                <a:solidFill>
                  <a:srgbClr val="000000"/>
                </a:solidFill>
              </a:rPr>
              <a:t> kreieren </a:t>
            </a:r>
            <a:r>
              <a:rPr lang="de-DE" b="1" dirty="0">
                <a:solidFill>
                  <a:srgbClr val="FF0000"/>
                </a:solidFill>
              </a:rPr>
              <a:t>Ethernet</a:t>
            </a:r>
            <a:r>
              <a:rPr lang="de-DE" dirty="0">
                <a:solidFill>
                  <a:srgbClr val="000000"/>
                </a:solidFill>
              </a:rPr>
              <a:t>-Protokoll, das mehreren Geräten ermöglicht, gleiche Leitung zu nutzen</a:t>
            </a:r>
          </a:p>
          <a:p>
            <a:pPr lvl="1"/>
            <a:r>
              <a:rPr lang="de-DE" dirty="0">
                <a:solidFill>
                  <a:srgbClr val="000000"/>
                </a:solidFill>
              </a:rPr>
              <a:t>Motiviert von der Notwendigkeit, mehrere PCs, Drucker und Laufwerke zusammenzuschließen</a:t>
            </a:r>
          </a:p>
          <a:p>
            <a:pPr lvl="1"/>
            <a:r>
              <a:rPr lang="de-DE" dirty="0">
                <a:solidFill>
                  <a:srgbClr val="000000"/>
                </a:solidFill>
              </a:rPr>
              <a:t>Fundament der heutigen PC-LANs</a:t>
            </a:r>
          </a:p>
          <a:p>
            <a:endParaRPr lang="de-DE" dirty="0"/>
          </a:p>
        </p:txBody>
      </p:sp>
      <p:pic>
        <p:nvPicPr>
          <p:cNvPr id="64514" name="Picture 2" descr="C:\Artur\Academic\Lehre\10.WS-IBN\VL\figures\vl20\ethernet.jpg"/>
          <p:cNvPicPr>
            <a:picLocks noChangeAspect="1" noChangeArrowheads="1"/>
          </p:cNvPicPr>
          <p:nvPr/>
        </p:nvPicPr>
        <p:blipFill>
          <a:blip r:embed="rId2" cstate="print"/>
          <a:srcRect/>
          <a:stretch>
            <a:fillRect/>
          </a:stretch>
        </p:blipFill>
        <p:spPr bwMode="auto">
          <a:xfrm>
            <a:off x="1403648" y="4653700"/>
            <a:ext cx="4248472" cy="2155629"/>
          </a:xfrm>
          <a:prstGeom prst="rect">
            <a:avLst/>
          </a:prstGeom>
          <a:noFill/>
        </p:spPr>
      </p:pic>
      <p:sp>
        <p:nvSpPr>
          <p:cNvPr id="6" name="Textfeld 5"/>
          <p:cNvSpPr txBox="1"/>
          <p:nvPr/>
        </p:nvSpPr>
        <p:spPr>
          <a:xfrm>
            <a:off x="6012160" y="4797152"/>
            <a:ext cx="2304256" cy="1938992"/>
          </a:xfrm>
          <a:prstGeom prst="rect">
            <a:avLst/>
          </a:prstGeom>
          <a:noFill/>
        </p:spPr>
        <p:txBody>
          <a:bodyPr wrap="square" rtlCol="0">
            <a:spAutoFit/>
          </a:bodyPr>
          <a:lstStyle/>
          <a:p>
            <a:r>
              <a:rPr lang="de-DE" sz="2400" dirty="0"/>
              <a:t>Konzept des</a:t>
            </a:r>
          </a:p>
          <a:p>
            <a:r>
              <a:rPr lang="de-DE" sz="2400" dirty="0"/>
              <a:t>Ethernets – das Medium (</a:t>
            </a:r>
            <a:r>
              <a:rPr lang="de-DE" sz="2400" b="1" dirty="0">
                <a:solidFill>
                  <a:srgbClr val="FF0000"/>
                </a:solidFill>
              </a:rPr>
              <a:t>Ether</a:t>
            </a:r>
            <a:r>
              <a:rPr lang="de-DE" sz="2400" dirty="0"/>
              <a:t>) ist ein Draht</a:t>
            </a:r>
          </a:p>
        </p:txBody>
      </p:sp>
    </p:spTree>
    <p:extLst>
      <p:ext uri="{BB962C8B-B14F-4D97-AF65-F5344CB8AC3E}">
        <p14:creationId xmlns:p14="http://schemas.microsoft.com/office/powerpoint/2010/main" val="2028990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1980-1990: Die Ausbreitung der Netzwerke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13</a:t>
            </a:fld>
            <a:endParaRPr lang="en-US" noProof="0" dirty="0"/>
          </a:p>
        </p:txBody>
      </p:sp>
      <p:sp>
        <p:nvSpPr>
          <p:cNvPr id="4" name="Inhaltsplatzhalter 3"/>
          <p:cNvSpPr>
            <a:spLocks noGrp="1"/>
          </p:cNvSpPr>
          <p:nvPr>
            <p:ph sz="quarter" idx="1"/>
          </p:nvPr>
        </p:nvSpPr>
        <p:spPr>
          <a:xfrm>
            <a:off x="457200" y="1219200"/>
            <a:ext cx="8229600" cy="2028180"/>
          </a:xfrm>
        </p:spPr>
        <p:txBody>
          <a:bodyPr>
            <a:normAutofit fontScale="92500" lnSpcReduction="10000"/>
          </a:bodyPr>
          <a:lstStyle/>
          <a:p>
            <a:r>
              <a:rPr lang="de-DE" dirty="0"/>
              <a:t>Anzahl Hosts (Endpunkte) im </a:t>
            </a:r>
            <a:r>
              <a:rPr lang="de-DE" dirty="0" err="1"/>
              <a:t>ARPAnet</a:t>
            </a:r>
            <a:r>
              <a:rPr lang="de-DE" dirty="0"/>
              <a:t> 1979: ~200</a:t>
            </a:r>
          </a:p>
          <a:p>
            <a:pPr lvl="1"/>
            <a:r>
              <a:rPr lang="de-DE" dirty="0"/>
              <a:t>Bis Ende der 1980er im Internet: etwa hunderttausend</a:t>
            </a:r>
          </a:p>
          <a:p>
            <a:r>
              <a:rPr lang="de-DE" dirty="0"/>
              <a:t>1983: Protokoll </a:t>
            </a:r>
            <a:r>
              <a:rPr lang="de-DE" b="1" dirty="0">
                <a:solidFill>
                  <a:srgbClr val="FF0000"/>
                </a:solidFill>
              </a:rPr>
              <a:t>TCP/IP</a:t>
            </a:r>
            <a:r>
              <a:rPr lang="de-DE" dirty="0"/>
              <a:t> ersetzt </a:t>
            </a:r>
            <a:r>
              <a:rPr lang="de-DE" b="1" dirty="0">
                <a:solidFill>
                  <a:srgbClr val="0070C0"/>
                </a:solidFill>
              </a:rPr>
              <a:t>NCP</a:t>
            </a:r>
            <a:r>
              <a:rPr lang="de-DE" dirty="0"/>
              <a:t> (an einem Tag!)</a:t>
            </a:r>
          </a:p>
          <a:p>
            <a:r>
              <a:rPr lang="de-DE" dirty="0"/>
              <a:t>1983: </a:t>
            </a:r>
            <a:r>
              <a:rPr lang="de-DE" b="1" dirty="0">
                <a:solidFill>
                  <a:srgbClr val="FF0000"/>
                </a:solidFill>
              </a:rPr>
              <a:t>DNS </a:t>
            </a:r>
            <a:r>
              <a:rPr lang="de-DE" dirty="0"/>
              <a:t>eingeführt; übersetzt www.abc.xyz zu „echten“ IP-Adressen wie 123.99.88.101 [RFC 1034]</a:t>
            </a:r>
          </a:p>
        </p:txBody>
      </p:sp>
      <p:sp>
        <p:nvSpPr>
          <p:cNvPr id="5" name="Inhaltsplatzhalter 4"/>
          <p:cNvSpPr>
            <a:spLocks noGrp="1"/>
          </p:cNvSpPr>
          <p:nvPr>
            <p:ph sz="quarter" idx="13"/>
          </p:nvPr>
        </p:nvSpPr>
        <p:spPr>
          <a:xfrm>
            <a:off x="467544" y="3140968"/>
            <a:ext cx="4536504" cy="3528392"/>
          </a:xfrm>
        </p:spPr>
        <p:txBody>
          <a:bodyPr>
            <a:normAutofit fontScale="85000" lnSpcReduction="20000"/>
          </a:bodyPr>
          <a:lstStyle/>
          <a:p>
            <a:r>
              <a:rPr lang="de-DE" dirty="0"/>
              <a:t>1985: </a:t>
            </a:r>
            <a:r>
              <a:rPr lang="de-DE" b="1" dirty="0">
                <a:solidFill>
                  <a:srgbClr val="FF0000"/>
                </a:solidFill>
              </a:rPr>
              <a:t>ftp </a:t>
            </a:r>
            <a:r>
              <a:rPr lang="de-DE" dirty="0"/>
              <a:t>Protokoll entsteht</a:t>
            </a:r>
          </a:p>
          <a:p>
            <a:r>
              <a:rPr lang="de-DE" dirty="0"/>
              <a:t>1985: IBM European Networking Center in HD eingerichtet; beschäftigt sich u.a. mit </a:t>
            </a:r>
            <a:r>
              <a:rPr lang="de-DE" b="1" dirty="0">
                <a:solidFill>
                  <a:srgbClr val="0070C0"/>
                </a:solidFill>
              </a:rPr>
              <a:t>OSI</a:t>
            </a:r>
            <a:r>
              <a:rPr lang="de-DE" dirty="0"/>
              <a:t> und Netzwerkbetriebssystemen</a:t>
            </a:r>
          </a:p>
          <a:p>
            <a:r>
              <a:rPr lang="de-DE" dirty="0"/>
              <a:t>1987: Anschluss des URZ HD ans Internet (über </a:t>
            </a:r>
            <a:r>
              <a:rPr lang="de-DE" dirty="0" err="1"/>
              <a:t>BelWü</a:t>
            </a:r>
            <a:r>
              <a:rPr lang="de-DE" dirty="0"/>
              <a:t>)</a:t>
            </a:r>
          </a:p>
          <a:p>
            <a:r>
              <a:rPr lang="de-DE" dirty="0"/>
              <a:t>1988: TCP wird verbessert</a:t>
            </a:r>
          </a:p>
          <a:p>
            <a:r>
              <a:rPr lang="de-DE" dirty="0"/>
              <a:t>In Frankreich: </a:t>
            </a:r>
          </a:p>
          <a:p>
            <a:pPr lvl="1"/>
            <a:r>
              <a:rPr lang="de-DE" b="1" dirty="0">
                <a:solidFill>
                  <a:srgbClr val="0070C0"/>
                </a:solidFill>
              </a:rPr>
              <a:t>Minitel</a:t>
            </a:r>
            <a:r>
              <a:rPr lang="de-DE" b="1" dirty="0">
                <a:solidFill>
                  <a:srgbClr val="FF0000"/>
                </a:solidFill>
              </a:rPr>
              <a:t> </a:t>
            </a:r>
            <a:r>
              <a:rPr lang="de-DE" dirty="0"/>
              <a:t>wird zu einem großen Erfolg (1982-2012)</a:t>
            </a:r>
          </a:p>
        </p:txBody>
      </p:sp>
      <p:pic>
        <p:nvPicPr>
          <p:cNvPr id="65538" name="Picture 2" descr="C:\Artur\Academic\Lehre\10.WS-IBN\VL\figures\vl20\250px-Minitel1.jpg"/>
          <p:cNvPicPr>
            <a:picLocks noChangeAspect="1" noChangeArrowheads="1"/>
          </p:cNvPicPr>
          <p:nvPr/>
        </p:nvPicPr>
        <p:blipFill>
          <a:blip r:embed="rId3" cstate="print"/>
          <a:srcRect/>
          <a:stretch>
            <a:fillRect/>
          </a:stretch>
        </p:blipFill>
        <p:spPr bwMode="auto">
          <a:xfrm>
            <a:off x="4917840" y="3933056"/>
            <a:ext cx="1742392" cy="2056022"/>
          </a:xfrm>
          <a:prstGeom prst="rect">
            <a:avLst/>
          </a:prstGeom>
          <a:noFill/>
        </p:spPr>
      </p:pic>
      <p:pic>
        <p:nvPicPr>
          <p:cNvPr id="65539" name="Picture 3" descr="C:\Artur\Academic\Lehre\10.WS-IBN\VL\figures\vl20\i-minitel.jpg"/>
          <p:cNvPicPr>
            <a:picLocks noChangeAspect="1" noChangeArrowheads="1"/>
          </p:cNvPicPr>
          <p:nvPr/>
        </p:nvPicPr>
        <p:blipFill>
          <a:blip r:embed="rId4" cstate="print"/>
          <a:srcRect/>
          <a:stretch>
            <a:fillRect/>
          </a:stretch>
        </p:blipFill>
        <p:spPr bwMode="auto">
          <a:xfrm>
            <a:off x="6518026" y="4077072"/>
            <a:ext cx="2467629" cy="2455292"/>
          </a:xfrm>
          <a:prstGeom prst="rect">
            <a:avLst/>
          </a:prstGeom>
          <a:noFill/>
        </p:spPr>
      </p:pic>
    </p:spTree>
    <p:extLst>
      <p:ext uri="{BB962C8B-B14F-4D97-AF65-F5344CB8AC3E}">
        <p14:creationId xmlns:p14="http://schemas.microsoft.com/office/powerpoint/2010/main" val="199699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fade">
                                      <p:cBhvr>
                                        <p:cTn id="30"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1990er: Kommerzialisierung und das Web</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14</a:t>
            </a:fld>
            <a:endParaRPr lang="en-US" noProof="0" dirty="0"/>
          </a:p>
        </p:txBody>
      </p:sp>
      <p:sp>
        <p:nvSpPr>
          <p:cNvPr id="4" name="Inhaltsplatzhalter 3"/>
          <p:cNvSpPr>
            <a:spLocks noGrp="1"/>
          </p:cNvSpPr>
          <p:nvPr>
            <p:ph sz="quarter" idx="1"/>
          </p:nvPr>
        </p:nvSpPr>
        <p:spPr>
          <a:xfrm>
            <a:off x="457200" y="1219200"/>
            <a:ext cx="8507288" cy="5522168"/>
          </a:xfrm>
        </p:spPr>
        <p:txBody>
          <a:bodyPr>
            <a:normAutofit lnSpcReduction="10000"/>
          </a:bodyPr>
          <a:lstStyle/>
          <a:p>
            <a:r>
              <a:rPr lang="de-DE" dirty="0"/>
              <a:t>Kommerzialisierung: Forschungsnetze werden durch kommerzielle Provider ersetzt</a:t>
            </a:r>
          </a:p>
          <a:p>
            <a:pPr lvl="1"/>
            <a:r>
              <a:rPr lang="de-DE" dirty="0"/>
              <a:t>Frühe 1990er: ARPAnet hört zu existieren auf </a:t>
            </a:r>
          </a:p>
          <a:p>
            <a:pPr lvl="1"/>
            <a:r>
              <a:rPr lang="de-DE" dirty="0"/>
              <a:t>1991: NSFnet (zur Verbindung von Superrechnern) darf auch kommerziell genutzt werden; wird 1995 stillgelegt</a:t>
            </a:r>
          </a:p>
          <a:p>
            <a:r>
              <a:rPr lang="de-DE" dirty="0"/>
              <a:t>Die Geburt des </a:t>
            </a:r>
            <a:r>
              <a:rPr lang="de-DE" b="1" dirty="0">
                <a:solidFill>
                  <a:srgbClr val="FF0000"/>
                </a:solidFill>
              </a:rPr>
              <a:t>World Wide Webs </a:t>
            </a:r>
            <a:r>
              <a:rPr lang="de-DE" dirty="0"/>
              <a:t>(Web)</a:t>
            </a:r>
          </a:p>
          <a:p>
            <a:pPr lvl="1"/>
            <a:r>
              <a:rPr lang="de-DE" dirty="0"/>
              <a:t>Erfunden 1989-1991 von Tim Berners-Lee am CERN</a:t>
            </a:r>
          </a:p>
          <a:p>
            <a:pPr lvl="1"/>
            <a:r>
              <a:rPr lang="de-DE" dirty="0"/>
              <a:t>Vier Bestandteile: </a:t>
            </a:r>
            <a:r>
              <a:rPr lang="de-DE" b="1" dirty="0">
                <a:solidFill>
                  <a:srgbClr val="FF0000"/>
                </a:solidFill>
              </a:rPr>
              <a:t>HTML</a:t>
            </a:r>
            <a:r>
              <a:rPr lang="de-DE" dirty="0"/>
              <a:t>, </a:t>
            </a:r>
            <a:r>
              <a:rPr lang="de-DE" b="1" dirty="0">
                <a:solidFill>
                  <a:srgbClr val="FF0000"/>
                </a:solidFill>
              </a:rPr>
              <a:t>HTTP</a:t>
            </a:r>
            <a:r>
              <a:rPr lang="de-DE" dirty="0"/>
              <a:t>, </a:t>
            </a:r>
            <a:r>
              <a:rPr lang="de-DE" b="1" dirty="0">
                <a:solidFill>
                  <a:schemeClr val="tx1"/>
                </a:solidFill>
              </a:rPr>
              <a:t>Webserver</a:t>
            </a:r>
            <a:r>
              <a:rPr lang="de-DE" dirty="0"/>
              <a:t>, </a:t>
            </a:r>
            <a:r>
              <a:rPr lang="de-DE" b="1" dirty="0">
                <a:solidFill>
                  <a:schemeClr val="tx1"/>
                </a:solidFill>
              </a:rPr>
              <a:t>Browser</a:t>
            </a:r>
          </a:p>
          <a:p>
            <a:pPr lvl="1"/>
            <a:r>
              <a:rPr lang="de-DE" dirty="0"/>
              <a:t>1994: Marc </a:t>
            </a:r>
            <a:r>
              <a:rPr lang="de-DE" dirty="0" err="1"/>
              <a:t>Andreesen</a:t>
            </a:r>
            <a:r>
              <a:rPr lang="de-DE" dirty="0"/>
              <a:t> entwickelt </a:t>
            </a:r>
            <a:r>
              <a:rPr lang="de-DE" b="1" dirty="0" err="1">
                <a:solidFill>
                  <a:schemeClr val="tx1"/>
                </a:solidFill>
              </a:rPr>
              <a:t>Mosaic</a:t>
            </a:r>
            <a:r>
              <a:rPr lang="de-DE" b="1" dirty="0">
                <a:solidFill>
                  <a:srgbClr val="FF0000"/>
                </a:solidFill>
              </a:rPr>
              <a:t> </a:t>
            </a:r>
            <a:r>
              <a:rPr lang="de-DE" dirty="0"/>
              <a:t>GUI-Browser</a:t>
            </a:r>
          </a:p>
          <a:p>
            <a:pPr lvl="1"/>
            <a:r>
              <a:rPr lang="de-DE" dirty="0"/>
              <a:t>1995: Studenten nutzen </a:t>
            </a:r>
            <a:r>
              <a:rPr lang="de-DE" dirty="0" err="1"/>
              <a:t>Mosaic</a:t>
            </a:r>
            <a:r>
              <a:rPr lang="de-DE" dirty="0"/>
              <a:t> / </a:t>
            </a:r>
            <a:r>
              <a:rPr lang="de-DE" b="1" dirty="0">
                <a:solidFill>
                  <a:schemeClr val="tx1"/>
                </a:solidFill>
              </a:rPr>
              <a:t>Netscape</a:t>
            </a:r>
            <a:r>
              <a:rPr lang="de-DE" b="1" dirty="0">
                <a:solidFill>
                  <a:srgbClr val="FF0000"/>
                </a:solidFill>
              </a:rPr>
              <a:t> </a:t>
            </a:r>
            <a:r>
              <a:rPr lang="de-DE" dirty="0"/>
              <a:t>täglich</a:t>
            </a:r>
          </a:p>
          <a:p>
            <a:pPr lvl="1"/>
            <a:r>
              <a:rPr lang="de-DE" dirty="0"/>
              <a:t>1998: HD bekommt Deutschlands größtes Uni-Internetcafé</a:t>
            </a:r>
          </a:p>
          <a:p>
            <a:r>
              <a:rPr lang="de-DE" dirty="0"/>
              <a:t>Videos: </a:t>
            </a:r>
          </a:p>
          <a:p>
            <a:pPr lvl="1"/>
            <a:r>
              <a:rPr lang="de-DE" dirty="0"/>
              <a:t>„Internet A – </a:t>
            </a:r>
            <a:r>
              <a:rPr lang="de-DE" dirty="0" err="1"/>
              <a:t>History</a:t>
            </a:r>
            <a:r>
              <a:rPr lang="de-DE" dirty="0"/>
              <a:t>/A07 - </a:t>
            </a:r>
            <a:r>
              <a:rPr lang="de-DE" dirty="0" err="1"/>
              <a:t>Assume</a:t>
            </a:r>
            <a:r>
              <a:rPr lang="de-DE" dirty="0"/>
              <a:t> </a:t>
            </a:r>
            <a:r>
              <a:rPr lang="de-DE" dirty="0" err="1"/>
              <a:t>the</a:t>
            </a:r>
            <a:r>
              <a:rPr lang="de-DE" dirty="0"/>
              <a:t> Web</a:t>
            </a:r>
            <a:r>
              <a:rPr lang="en-US" dirty="0"/>
              <a:t>”</a:t>
            </a:r>
          </a:p>
          <a:p>
            <a:pPr lvl="1"/>
            <a:r>
              <a:rPr lang="en-US" dirty="0" err="1"/>
              <a:t>Auch</a:t>
            </a:r>
            <a:r>
              <a:rPr lang="en-US" dirty="0"/>
              <a:t> </a:t>
            </a:r>
            <a:r>
              <a:rPr lang="en-US" dirty="0" err="1"/>
              <a:t>wichtig</a:t>
            </a:r>
            <a:r>
              <a:rPr lang="en-US" dirty="0"/>
              <a:t>: “</a:t>
            </a:r>
            <a:r>
              <a:rPr lang="de-DE" dirty="0"/>
              <a:t>Internet A – </a:t>
            </a:r>
            <a:r>
              <a:rPr lang="de-DE" dirty="0" err="1"/>
              <a:t>History</a:t>
            </a:r>
            <a:r>
              <a:rPr lang="de-DE" dirty="0"/>
              <a:t>/A</a:t>
            </a:r>
            <a:r>
              <a:rPr lang="en-US" dirty="0"/>
              <a:t>01 - Robert </a:t>
            </a:r>
            <a:r>
              <a:rPr lang="en-US" dirty="0" err="1"/>
              <a:t>Cailliau</a:t>
            </a:r>
            <a:r>
              <a:rPr lang="en-US" dirty="0"/>
              <a:t>…”</a:t>
            </a:r>
            <a:endParaRPr lang="de-DE" dirty="0"/>
          </a:p>
        </p:txBody>
      </p:sp>
    </p:spTree>
    <p:extLst>
      <p:ext uri="{BB962C8B-B14F-4D97-AF65-F5344CB8AC3E}">
        <p14:creationId xmlns:p14="http://schemas.microsoft.com/office/powerpoint/2010/main" val="1563703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2000er: Neuere Entwicklungen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15</a:t>
            </a:fld>
            <a:endParaRPr lang="en-US" noProof="0" dirty="0"/>
          </a:p>
        </p:txBody>
      </p:sp>
      <p:sp>
        <p:nvSpPr>
          <p:cNvPr id="4" name="Inhaltsplatzhalter 3"/>
          <p:cNvSpPr>
            <a:spLocks noGrp="1"/>
          </p:cNvSpPr>
          <p:nvPr>
            <p:ph sz="quarter" idx="1"/>
          </p:nvPr>
        </p:nvSpPr>
        <p:spPr/>
        <p:txBody>
          <a:bodyPr/>
          <a:lstStyle/>
          <a:p>
            <a:r>
              <a:rPr lang="de-DE" dirty="0"/>
              <a:t>Allgemeine Fortschritte </a:t>
            </a:r>
          </a:p>
          <a:p>
            <a:pPr lvl="1"/>
            <a:r>
              <a:rPr lang="de-DE" dirty="0"/>
              <a:t>Bei den Anwendungen, Internettelefonie, höhere Übertragungsraten in LANs, schneller Router</a:t>
            </a:r>
          </a:p>
          <a:p>
            <a:r>
              <a:rPr lang="de-DE" dirty="0"/>
              <a:t>Die Verbreitung schneller Zugangsnetze (auch mobiler Netze) ermöglichte neue Anwendungen</a:t>
            </a:r>
          </a:p>
          <a:p>
            <a:pPr lvl="1"/>
            <a:r>
              <a:rPr lang="de-DE" dirty="0"/>
              <a:t>Videos, Internetfernsehen, P2P-Filesharing</a:t>
            </a:r>
          </a:p>
          <a:p>
            <a:r>
              <a:rPr lang="de-DE" dirty="0"/>
              <a:t>Soziale Netzwerke</a:t>
            </a:r>
          </a:p>
          <a:p>
            <a:r>
              <a:rPr lang="de-DE" dirty="0"/>
              <a:t>Probleme mit der Sicherheit</a:t>
            </a:r>
          </a:p>
          <a:p>
            <a:pPr lvl="1"/>
            <a:r>
              <a:rPr lang="de-DE" dirty="0" err="1"/>
              <a:t>Denial</a:t>
            </a:r>
            <a:r>
              <a:rPr lang="de-DE" dirty="0"/>
              <a:t> </a:t>
            </a:r>
            <a:r>
              <a:rPr lang="de-DE" dirty="0" err="1"/>
              <a:t>of</a:t>
            </a:r>
            <a:r>
              <a:rPr lang="de-DE" dirty="0"/>
              <a:t> Service (</a:t>
            </a:r>
            <a:r>
              <a:rPr lang="de-DE" dirty="0" err="1"/>
              <a:t>DoS</a:t>
            </a:r>
            <a:r>
              <a:rPr lang="de-DE" dirty="0"/>
              <a:t>) Angriffe</a:t>
            </a:r>
          </a:p>
          <a:p>
            <a:pPr lvl="1"/>
            <a:r>
              <a:rPr lang="de-DE" dirty="0"/>
              <a:t>Verbreitung von Würmern</a:t>
            </a:r>
          </a:p>
          <a:p>
            <a:r>
              <a:rPr lang="de-DE" dirty="0"/>
              <a:t>Video: „ Videos: „Internet A – </a:t>
            </a:r>
            <a:r>
              <a:rPr lang="de-DE" dirty="0" err="1"/>
              <a:t>History</a:t>
            </a:r>
            <a:r>
              <a:rPr lang="de-DE" dirty="0"/>
              <a:t>/A09 - The Modern Internet</a:t>
            </a:r>
          </a:p>
        </p:txBody>
      </p:sp>
    </p:spTree>
    <p:extLst>
      <p:ext uri="{BB962C8B-B14F-4D97-AF65-F5344CB8AC3E}">
        <p14:creationId xmlns:p14="http://schemas.microsoft.com/office/powerpoint/2010/main" val="3500635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9D3929-492E-46AD-9224-00A48342112F}"/>
              </a:ext>
            </a:extLst>
          </p:cNvPr>
          <p:cNvSpPr>
            <a:spLocks noGrp="1"/>
          </p:cNvSpPr>
          <p:nvPr>
            <p:ph type="title"/>
          </p:nvPr>
        </p:nvSpPr>
        <p:spPr/>
        <p:txBody>
          <a:bodyPr/>
          <a:lstStyle/>
          <a:p>
            <a:r>
              <a:rPr lang="de-DE" dirty="0"/>
              <a:t>Interessantes zum Lesen: Unterseekabel</a:t>
            </a:r>
            <a:endParaRPr lang="en-US" dirty="0"/>
          </a:p>
        </p:txBody>
      </p:sp>
      <p:sp>
        <p:nvSpPr>
          <p:cNvPr id="3" name="Foliennummernplatzhalter 2">
            <a:extLst>
              <a:ext uri="{FF2B5EF4-FFF2-40B4-BE49-F238E27FC236}">
                <a16:creationId xmlns:a16="http://schemas.microsoft.com/office/drawing/2014/main" id="{63E738A1-CEF9-44A1-950F-83FE1A825027}"/>
              </a:ext>
            </a:extLst>
          </p:cNvPr>
          <p:cNvSpPr>
            <a:spLocks noGrp="1"/>
          </p:cNvSpPr>
          <p:nvPr>
            <p:ph type="sldNum" sz="quarter" idx="12"/>
          </p:nvPr>
        </p:nvSpPr>
        <p:spPr/>
        <p:txBody>
          <a:bodyPr/>
          <a:lstStyle/>
          <a:p>
            <a:fld id="{7183533A-8A50-4A1F-BEA9-C8C6956451EB}" type="slidenum">
              <a:rPr lang="en-US" noProof="0" smtClean="0"/>
              <a:pPr/>
              <a:t>16</a:t>
            </a:fld>
            <a:endParaRPr lang="en-US" noProof="0" dirty="0"/>
          </a:p>
        </p:txBody>
      </p:sp>
      <p:sp>
        <p:nvSpPr>
          <p:cNvPr id="4" name="Inhaltsplatzhalter 3">
            <a:extLst>
              <a:ext uri="{FF2B5EF4-FFF2-40B4-BE49-F238E27FC236}">
                <a16:creationId xmlns:a16="http://schemas.microsoft.com/office/drawing/2014/main" id="{C82F40EF-94C9-42CF-A507-10796FBCCBC9}"/>
              </a:ext>
            </a:extLst>
          </p:cNvPr>
          <p:cNvSpPr>
            <a:spLocks noGrp="1"/>
          </p:cNvSpPr>
          <p:nvPr>
            <p:ph sz="quarter" idx="1"/>
          </p:nvPr>
        </p:nvSpPr>
        <p:spPr>
          <a:xfrm>
            <a:off x="457200" y="1219200"/>
            <a:ext cx="8229600" cy="990600"/>
          </a:xfrm>
        </p:spPr>
        <p:txBody>
          <a:bodyPr>
            <a:normAutofit/>
          </a:bodyPr>
          <a:lstStyle/>
          <a:p>
            <a:r>
              <a:rPr lang="en-US" dirty="0"/>
              <a:t>How the Internet Spans the Globe, By Logan Kugler</a:t>
            </a:r>
          </a:p>
          <a:p>
            <a:pPr lvl="1"/>
            <a:r>
              <a:rPr lang="en-US" dirty="0"/>
              <a:t>Communications of the ACM, Jan 2020, Vol. 63 No. 1, </a:t>
            </a:r>
            <a:r>
              <a:rPr lang="en-US" dirty="0">
                <a:hlinkClick r:id="rId2"/>
              </a:rPr>
              <a:t>link</a:t>
            </a:r>
            <a:endParaRPr lang="en-US" dirty="0"/>
          </a:p>
        </p:txBody>
      </p:sp>
      <p:sp>
        <p:nvSpPr>
          <p:cNvPr id="8" name="Textfeld 7">
            <a:extLst>
              <a:ext uri="{FF2B5EF4-FFF2-40B4-BE49-F238E27FC236}">
                <a16:creationId xmlns:a16="http://schemas.microsoft.com/office/drawing/2014/main" id="{46295DFE-EB97-4987-BC35-70851297F6BF}"/>
              </a:ext>
            </a:extLst>
          </p:cNvPr>
          <p:cNvSpPr txBox="1"/>
          <p:nvPr/>
        </p:nvSpPr>
        <p:spPr>
          <a:xfrm>
            <a:off x="906259" y="6122908"/>
            <a:ext cx="7609776" cy="369332"/>
          </a:xfrm>
          <a:prstGeom prst="rect">
            <a:avLst/>
          </a:prstGeom>
          <a:noFill/>
        </p:spPr>
        <p:txBody>
          <a:bodyPr wrap="none" rtlCol="0">
            <a:spAutoFit/>
          </a:bodyPr>
          <a:lstStyle/>
          <a:p>
            <a:r>
              <a:rPr lang="de-DE" dirty="0"/>
              <a:t>Über </a:t>
            </a:r>
            <a:r>
              <a:rPr lang="de-DE" b="1" dirty="0"/>
              <a:t>1.1 Millionen </a:t>
            </a:r>
            <a:r>
              <a:rPr lang="de-DE" dirty="0"/>
              <a:t>km an Unterseekabeln versorgen das Internet (2020)</a:t>
            </a:r>
            <a:endParaRPr lang="en-US" dirty="0"/>
          </a:p>
        </p:txBody>
      </p:sp>
      <p:pic>
        <p:nvPicPr>
          <p:cNvPr id="9" name="Grafik 8">
            <a:extLst>
              <a:ext uri="{FF2B5EF4-FFF2-40B4-BE49-F238E27FC236}">
                <a16:creationId xmlns:a16="http://schemas.microsoft.com/office/drawing/2014/main" id="{E26E4837-6FD7-4A0E-818A-B423DA744F91}"/>
              </a:ext>
            </a:extLst>
          </p:cNvPr>
          <p:cNvPicPr>
            <a:picLocks noChangeAspect="1"/>
          </p:cNvPicPr>
          <p:nvPr/>
        </p:nvPicPr>
        <p:blipFill rotWithShape="1">
          <a:blip r:embed="rId3"/>
          <a:srcRect b="1603"/>
          <a:stretch/>
        </p:blipFill>
        <p:spPr>
          <a:xfrm>
            <a:off x="1475656" y="2420888"/>
            <a:ext cx="6470983" cy="3436689"/>
          </a:xfrm>
          <a:prstGeom prst="rect">
            <a:avLst/>
          </a:prstGeom>
        </p:spPr>
      </p:pic>
    </p:spTree>
    <p:extLst>
      <p:ext uri="{BB962C8B-B14F-4D97-AF65-F5344CB8AC3E}">
        <p14:creationId xmlns:p14="http://schemas.microsoft.com/office/powerpoint/2010/main" val="1563306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17</a:t>
            </a:fld>
            <a:endParaRPr lang="de-DE" dirty="0"/>
          </a:p>
        </p:txBody>
      </p:sp>
      <p:sp>
        <p:nvSpPr>
          <p:cNvPr id="3" name="Titel 2"/>
          <p:cNvSpPr>
            <a:spLocks noGrp="1"/>
          </p:cNvSpPr>
          <p:nvPr>
            <p:ph type="title"/>
          </p:nvPr>
        </p:nvSpPr>
        <p:spPr>
          <a:xfrm>
            <a:off x="971600" y="2348880"/>
            <a:ext cx="7200800" cy="2664296"/>
          </a:xfrm>
        </p:spPr>
        <p:txBody>
          <a:bodyPr>
            <a:normAutofit/>
          </a:bodyPr>
          <a:lstStyle/>
          <a:p>
            <a:r>
              <a:rPr lang="de-DE" dirty="0"/>
              <a:t>Paketvermittlung vs. Leitungsvermittlung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ieren 8"/>
          <p:cNvGrpSpPr/>
          <p:nvPr/>
        </p:nvGrpSpPr>
        <p:grpSpPr>
          <a:xfrm>
            <a:off x="6300192" y="3356992"/>
            <a:ext cx="2244910" cy="2694681"/>
            <a:chOff x="5796136" y="3789040"/>
            <a:chExt cx="2244910" cy="2694681"/>
          </a:xfrm>
        </p:grpSpPr>
        <p:pic>
          <p:nvPicPr>
            <p:cNvPr id="709648" name="Picture 16" descr="C:\Artur\Academic\Lehre\10.WS-IBN\VL\figures\vl21\cicuit switching.jpg"/>
            <p:cNvPicPr>
              <a:picLocks noChangeAspect="1" noChangeArrowheads="1"/>
            </p:cNvPicPr>
            <p:nvPr/>
          </p:nvPicPr>
          <p:blipFill>
            <a:blip r:embed="rId3" cstate="print"/>
            <a:srcRect/>
            <a:stretch>
              <a:fillRect/>
            </a:stretch>
          </p:blipFill>
          <p:spPr bwMode="auto">
            <a:xfrm>
              <a:off x="5796136" y="3789040"/>
              <a:ext cx="2244910" cy="2694681"/>
            </a:xfrm>
            <a:prstGeom prst="rect">
              <a:avLst/>
            </a:prstGeom>
            <a:noFill/>
          </p:spPr>
        </p:pic>
        <p:sp>
          <p:nvSpPr>
            <p:cNvPr id="325" name="Freeform 1889"/>
            <p:cNvSpPr>
              <a:spLocks/>
            </p:cNvSpPr>
            <p:nvPr/>
          </p:nvSpPr>
          <p:spPr bwMode="auto">
            <a:xfrm>
              <a:off x="6208562" y="4055593"/>
              <a:ext cx="1531790" cy="2181719"/>
            </a:xfrm>
            <a:custGeom>
              <a:avLst/>
              <a:gdLst>
                <a:gd name="T0" fmla="*/ 0 w 1628"/>
                <a:gd name="T1" fmla="*/ 0 h 2037"/>
                <a:gd name="T2" fmla="*/ 557213 w 1628"/>
                <a:gd name="T3" fmla="*/ 331788 h 2037"/>
                <a:gd name="T4" fmla="*/ 1682750 w 1628"/>
                <a:gd name="T5" fmla="*/ 396875 h 2037"/>
                <a:gd name="T6" fmla="*/ 1538287 w 1628"/>
                <a:gd name="T7" fmla="*/ 1444625 h 2037"/>
                <a:gd name="T8" fmla="*/ 1843088 w 1628"/>
                <a:gd name="T9" fmla="*/ 1789113 h 2037"/>
                <a:gd name="T10" fmla="*/ 1471612 w 1628"/>
                <a:gd name="T11" fmla="*/ 2425701 h 2037"/>
                <a:gd name="T12" fmla="*/ 2332038 w 1628"/>
                <a:gd name="T13" fmla="*/ 2624138 h 2037"/>
                <a:gd name="T14" fmla="*/ 2173288 w 1628"/>
                <a:gd name="T15" fmla="*/ 3167063 h 2037"/>
                <a:gd name="T16" fmla="*/ 2584450 w 1628"/>
                <a:gd name="T17" fmla="*/ 3233738 h 20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28"/>
                <a:gd name="T28" fmla="*/ 0 h 2037"/>
                <a:gd name="T29" fmla="*/ 1628 w 1628"/>
                <a:gd name="T30" fmla="*/ 2037 h 20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28" h="2037">
                  <a:moveTo>
                    <a:pt x="0" y="0"/>
                  </a:moveTo>
                  <a:lnTo>
                    <a:pt x="351" y="209"/>
                  </a:lnTo>
                  <a:lnTo>
                    <a:pt x="1060" y="250"/>
                  </a:lnTo>
                  <a:lnTo>
                    <a:pt x="969" y="910"/>
                  </a:lnTo>
                  <a:lnTo>
                    <a:pt x="1161" y="1127"/>
                  </a:lnTo>
                  <a:lnTo>
                    <a:pt x="927" y="1528"/>
                  </a:lnTo>
                  <a:lnTo>
                    <a:pt x="1469" y="1653"/>
                  </a:lnTo>
                  <a:lnTo>
                    <a:pt x="1369" y="1995"/>
                  </a:lnTo>
                  <a:lnTo>
                    <a:pt x="1628" y="2037"/>
                  </a:lnTo>
                </a:path>
              </a:pathLst>
            </a:custGeom>
            <a:noFill/>
            <a:ln w="76200">
              <a:solidFill>
                <a:srgbClr val="FF3300"/>
              </a:solidFill>
              <a:round/>
              <a:headEnd type="triangle" w="med" len="med"/>
              <a:tailEnd type="triangle" w="med" len="med"/>
            </a:ln>
          </p:spPr>
          <p:txBody>
            <a:bodyPr/>
            <a:lstStyle/>
            <a:p>
              <a:endParaRPr lang="de-DE"/>
            </a:p>
          </p:txBody>
        </p:sp>
        <p:sp>
          <p:nvSpPr>
            <p:cNvPr id="326" name="Freeform 1890"/>
            <p:cNvSpPr>
              <a:spLocks/>
            </p:cNvSpPr>
            <p:nvPr/>
          </p:nvSpPr>
          <p:spPr bwMode="auto">
            <a:xfrm>
              <a:off x="6156176" y="5013176"/>
              <a:ext cx="1080120" cy="1084471"/>
            </a:xfrm>
            <a:custGeom>
              <a:avLst/>
              <a:gdLst>
                <a:gd name="T0" fmla="*/ 0 w 1037"/>
                <a:gd name="T1" fmla="*/ 0 h 1244"/>
                <a:gd name="T2" fmla="*/ 46037 w 1037"/>
                <a:gd name="T3" fmla="*/ 136525 h 1244"/>
                <a:gd name="T4" fmla="*/ 1341437 w 1037"/>
                <a:gd name="T5" fmla="*/ 127000 h 1244"/>
                <a:gd name="T6" fmla="*/ 1646237 w 1037"/>
                <a:gd name="T7" fmla="*/ 444500 h 1244"/>
                <a:gd name="T8" fmla="*/ 1277937 w 1037"/>
                <a:gd name="T9" fmla="*/ 1092200 h 1244"/>
                <a:gd name="T10" fmla="*/ 750887 w 1037"/>
                <a:gd name="T11" fmla="*/ 1397000 h 1244"/>
                <a:gd name="T12" fmla="*/ 547687 w 1037"/>
                <a:gd name="T13" fmla="*/ 1625600 h 1244"/>
                <a:gd name="T14" fmla="*/ 452437 w 1037"/>
                <a:gd name="T15" fmla="*/ 1974850 h 1244"/>
                <a:gd name="T16" fmla="*/ 0 60000 65536"/>
                <a:gd name="T17" fmla="*/ 0 60000 65536"/>
                <a:gd name="T18" fmla="*/ 0 60000 65536"/>
                <a:gd name="T19" fmla="*/ 0 60000 65536"/>
                <a:gd name="T20" fmla="*/ 0 60000 65536"/>
                <a:gd name="T21" fmla="*/ 0 60000 65536"/>
                <a:gd name="T22" fmla="*/ 0 60000 65536"/>
                <a:gd name="T23" fmla="*/ 0 60000 65536"/>
                <a:gd name="T24" fmla="*/ 0 w 1037"/>
                <a:gd name="T25" fmla="*/ 0 h 1244"/>
                <a:gd name="T26" fmla="*/ 1037 w 1037"/>
                <a:gd name="T27" fmla="*/ 1244 h 12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7" h="1244">
                  <a:moveTo>
                    <a:pt x="0" y="0"/>
                  </a:moveTo>
                  <a:lnTo>
                    <a:pt x="29" y="86"/>
                  </a:lnTo>
                  <a:lnTo>
                    <a:pt x="845" y="80"/>
                  </a:lnTo>
                  <a:lnTo>
                    <a:pt x="1037" y="280"/>
                  </a:lnTo>
                  <a:lnTo>
                    <a:pt x="805" y="688"/>
                  </a:lnTo>
                  <a:lnTo>
                    <a:pt x="473" y="880"/>
                  </a:lnTo>
                  <a:lnTo>
                    <a:pt x="345" y="1024"/>
                  </a:lnTo>
                  <a:lnTo>
                    <a:pt x="285" y="1244"/>
                  </a:lnTo>
                </a:path>
              </a:pathLst>
            </a:custGeom>
            <a:noFill/>
            <a:ln w="76200">
              <a:solidFill>
                <a:srgbClr val="0000FF"/>
              </a:solidFill>
              <a:round/>
              <a:headEnd type="triangle" w="med" len="med"/>
              <a:tailEnd type="triangle" w="med" len="med"/>
            </a:ln>
          </p:spPr>
          <p:txBody>
            <a:bodyPr/>
            <a:lstStyle/>
            <a:p>
              <a:endParaRPr lang="de-DE"/>
            </a:p>
          </p:txBody>
        </p:sp>
      </p:grpSp>
      <p:sp>
        <p:nvSpPr>
          <p:cNvPr id="2" name="Titel 1"/>
          <p:cNvSpPr>
            <a:spLocks noGrp="1"/>
          </p:cNvSpPr>
          <p:nvPr>
            <p:ph type="title"/>
          </p:nvPr>
        </p:nvSpPr>
        <p:spPr/>
        <p:txBody>
          <a:bodyPr>
            <a:normAutofit fontScale="90000"/>
          </a:bodyPr>
          <a:lstStyle/>
          <a:p>
            <a:r>
              <a:rPr lang="de-DE" dirty="0"/>
              <a:t>Wie werden die Daten durch ein Netzwerk übermittelt?</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18</a:t>
            </a:fld>
            <a:endParaRPr lang="en-US" noProof="0" dirty="0"/>
          </a:p>
        </p:txBody>
      </p:sp>
      <p:sp>
        <p:nvSpPr>
          <p:cNvPr id="5" name="Inhaltsplatzhalter 4"/>
          <p:cNvSpPr>
            <a:spLocks noGrp="1"/>
          </p:cNvSpPr>
          <p:nvPr>
            <p:ph sz="quarter" idx="1"/>
          </p:nvPr>
        </p:nvSpPr>
        <p:spPr/>
        <p:txBody>
          <a:bodyPr>
            <a:normAutofit fontScale="92500"/>
          </a:bodyPr>
          <a:lstStyle/>
          <a:p>
            <a:r>
              <a:rPr lang="de-DE" dirty="0"/>
              <a:t>Zwei Ansätze: </a:t>
            </a:r>
            <a:r>
              <a:rPr lang="de-DE" b="1" dirty="0">
                <a:solidFill>
                  <a:srgbClr val="FF0000"/>
                </a:solidFill>
              </a:rPr>
              <a:t>Leitungsvermittlung </a:t>
            </a:r>
            <a:r>
              <a:rPr lang="de-DE" dirty="0"/>
              <a:t>(</a:t>
            </a:r>
            <a:r>
              <a:rPr lang="de-DE" b="1" dirty="0">
                <a:solidFill>
                  <a:srgbClr val="0070C0"/>
                </a:solidFill>
              </a:rPr>
              <a:t>LV</a:t>
            </a:r>
            <a:r>
              <a:rPr lang="de-DE" dirty="0">
                <a:solidFill>
                  <a:schemeClr val="tx1"/>
                </a:solidFill>
              </a:rPr>
              <a:t>,</a:t>
            </a:r>
            <a:r>
              <a:rPr lang="de-DE" b="1" dirty="0">
                <a:solidFill>
                  <a:srgbClr val="FF0000"/>
                </a:solidFill>
              </a:rPr>
              <a:t> </a:t>
            </a:r>
            <a:r>
              <a:rPr lang="en-US" sz="2400" b="1" dirty="0">
                <a:solidFill>
                  <a:srgbClr val="FF0000"/>
                </a:solidFill>
              </a:rPr>
              <a:t>Circuit Switching</a:t>
            </a:r>
            <a:r>
              <a:rPr lang="de-DE" dirty="0"/>
              <a:t>) und </a:t>
            </a:r>
            <a:r>
              <a:rPr lang="de-DE" b="1" dirty="0">
                <a:solidFill>
                  <a:srgbClr val="FF0000"/>
                </a:solidFill>
              </a:rPr>
              <a:t>Paketvermittlung </a:t>
            </a:r>
            <a:r>
              <a:rPr lang="de-DE" dirty="0"/>
              <a:t>(</a:t>
            </a:r>
            <a:r>
              <a:rPr lang="de-DE" b="1" dirty="0">
                <a:solidFill>
                  <a:srgbClr val="0070C0"/>
                </a:solidFill>
              </a:rPr>
              <a:t>PV</a:t>
            </a:r>
            <a:r>
              <a:rPr lang="de-DE" dirty="0">
                <a:solidFill>
                  <a:schemeClr val="tx1"/>
                </a:solidFill>
              </a:rPr>
              <a:t>,</a:t>
            </a:r>
            <a:r>
              <a:rPr lang="de-DE" b="1" dirty="0">
                <a:solidFill>
                  <a:srgbClr val="FF0000"/>
                </a:solidFill>
              </a:rPr>
              <a:t> </a:t>
            </a:r>
            <a:r>
              <a:rPr lang="en-US" sz="2400" b="1" dirty="0">
                <a:solidFill>
                  <a:srgbClr val="FF0000"/>
                </a:solidFill>
              </a:rPr>
              <a:t>Packet Switching</a:t>
            </a:r>
            <a:r>
              <a:rPr lang="de-DE" dirty="0"/>
              <a:t>)</a:t>
            </a:r>
          </a:p>
          <a:p>
            <a:r>
              <a:rPr lang="de-DE" b="1" dirty="0">
                <a:solidFill>
                  <a:srgbClr val="0070C0"/>
                </a:solidFill>
              </a:rPr>
              <a:t>LV</a:t>
            </a:r>
            <a:r>
              <a:rPr lang="de-DE" dirty="0"/>
              <a:t>: Die benötigten Ressourcen (wie Puffer, Schaltungen, Kanal) werden </a:t>
            </a:r>
            <a:r>
              <a:rPr lang="de-DE" u="sng" dirty="0"/>
              <a:t>für die Dauer der Kommunikationssitzung </a:t>
            </a:r>
            <a:r>
              <a:rPr lang="de-DE" dirty="0"/>
              <a:t>zwischen diesen Endsystemen </a:t>
            </a:r>
            <a:r>
              <a:rPr lang="de-DE" u="sng" dirty="0"/>
              <a:t>reserviert</a:t>
            </a:r>
          </a:p>
        </p:txBody>
      </p:sp>
      <p:sp>
        <p:nvSpPr>
          <p:cNvPr id="6" name="Inhaltsplatzhalter 5"/>
          <p:cNvSpPr>
            <a:spLocks noGrp="1"/>
          </p:cNvSpPr>
          <p:nvPr>
            <p:ph sz="quarter" idx="13"/>
          </p:nvPr>
        </p:nvSpPr>
        <p:spPr>
          <a:xfrm>
            <a:off x="467544" y="3356992"/>
            <a:ext cx="4104456" cy="3001888"/>
          </a:xfrm>
        </p:spPr>
        <p:txBody>
          <a:bodyPr>
            <a:noAutofit/>
          </a:bodyPr>
          <a:lstStyle/>
          <a:p>
            <a:pPr marL="274320" lvl="1">
              <a:spcBef>
                <a:spcPts val="600"/>
              </a:spcBef>
              <a:buClr>
                <a:schemeClr val="accent1"/>
              </a:buClr>
            </a:pPr>
            <a:r>
              <a:rPr lang="de-DE" sz="2400" b="1" dirty="0">
                <a:solidFill>
                  <a:srgbClr val="0070C0"/>
                </a:solidFill>
              </a:rPr>
              <a:t>PV</a:t>
            </a:r>
            <a:r>
              <a:rPr lang="de-DE" sz="2400" dirty="0"/>
              <a:t>: Die Ressourcen werden </a:t>
            </a:r>
            <a:r>
              <a:rPr lang="de-DE" sz="2400" u="sng" dirty="0"/>
              <a:t>nicht</a:t>
            </a:r>
            <a:r>
              <a:rPr lang="de-DE" sz="2400" dirty="0"/>
              <a:t> </a:t>
            </a:r>
            <a:r>
              <a:rPr lang="de-DE" sz="2400" u="sng" dirty="0"/>
              <a:t>reserviert</a:t>
            </a:r>
          </a:p>
          <a:p>
            <a:pPr marL="548640" lvl="2">
              <a:spcBef>
                <a:spcPts val="600"/>
              </a:spcBef>
              <a:buClr>
                <a:schemeClr val="accent1"/>
              </a:buClr>
            </a:pPr>
            <a:r>
              <a:rPr lang="de-DE" sz="2200" dirty="0"/>
              <a:t>Die Nachrichten einer Sitzung verwenden diese Ressourcen </a:t>
            </a:r>
            <a:r>
              <a:rPr lang="de-DE" sz="2200" u="sng" dirty="0"/>
              <a:t>nach Bedarf</a:t>
            </a:r>
            <a:r>
              <a:rPr lang="de-DE" sz="2200" dirty="0"/>
              <a:t> und müssen infolgedessen ggf. warten</a:t>
            </a:r>
          </a:p>
        </p:txBody>
      </p:sp>
      <p:sp>
        <p:nvSpPr>
          <p:cNvPr id="10" name="Textfeld 9"/>
          <p:cNvSpPr txBox="1"/>
          <p:nvPr/>
        </p:nvSpPr>
        <p:spPr>
          <a:xfrm>
            <a:off x="6516216" y="6021288"/>
            <a:ext cx="2121093" cy="646331"/>
          </a:xfrm>
          <a:prstGeom prst="rect">
            <a:avLst/>
          </a:prstGeom>
          <a:noFill/>
        </p:spPr>
        <p:txBody>
          <a:bodyPr wrap="none" rtlCol="0">
            <a:spAutoFit/>
          </a:bodyPr>
          <a:lstStyle/>
          <a:p>
            <a:pPr algn="ctr"/>
            <a:r>
              <a:rPr lang="de-DE" dirty="0"/>
              <a:t>Leitungsvermittelte</a:t>
            </a:r>
          </a:p>
          <a:p>
            <a:pPr algn="ctr"/>
            <a:r>
              <a:rPr lang="de-DE" dirty="0"/>
              <a:t>Verbindungen</a:t>
            </a:r>
          </a:p>
        </p:txBody>
      </p:sp>
      <p:sp>
        <p:nvSpPr>
          <p:cNvPr id="11" name="Rechteck 10"/>
          <p:cNvSpPr/>
          <p:nvPr/>
        </p:nvSpPr>
        <p:spPr>
          <a:xfrm>
            <a:off x="4572000" y="4005064"/>
            <a:ext cx="1800493" cy="646331"/>
          </a:xfrm>
          <a:prstGeom prst="rect">
            <a:avLst/>
          </a:prstGeom>
          <a:ln w="9525">
            <a:solidFill>
              <a:schemeClr val="tx1"/>
            </a:solidFill>
          </a:ln>
        </p:spPr>
        <p:txBody>
          <a:bodyPr wrap="none">
            <a:spAutoFit/>
          </a:bodyPr>
          <a:lstStyle/>
          <a:p>
            <a:pPr algn="ctr"/>
            <a:r>
              <a:rPr lang="de-DE" b="1" dirty="0">
                <a:solidFill>
                  <a:srgbClr val="FF0000"/>
                </a:solidFill>
              </a:rPr>
              <a:t>Ende-zu-Ende-</a:t>
            </a:r>
          </a:p>
          <a:p>
            <a:pPr algn="ctr"/>
            <a:r>
              <a:rPr lang="de-DE" b="1" dirty="0">
                <a:solidFill>
                  <a:srgbClr val="FF0000"/>
                </a:solidFill>
              </a:rPr>
              <a:t>Verbindung</a:t>
            </a:r>
            <a:endParaRPr lang="de-DE" dirty="0"/>
          </a:p>
        </p:txBody>
      </p:sp>
      <p:cxnSp>
        <p:nvCxnSpPr>
          <p:cNvPr id="15" name="Gerade Verbindung 14"/>
          <p:cNvCxnSpPr>
            <a:stCxn id="11" idx="3"/>
          </p:cNvCxnSpPr>
          <p:nvPr/>
        </p:nvCxnSpPr>
        <p:spPr>
          <a:xfrm>
            <a:off x="6372493" y="4328230"/>
            <a:ext cx="1223843" cy="36874"/>
          </a:xfrm>
          <a:prstGeom prst="line">
            <a:avLst/>
          </a:prstGeom>
          <a:ln w="28575">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Gerade Verbindung 15"/>
          <p:cNvCxnSpPr>
            <a:stCxn id="11" idx="2"/>
          </p:cNvCxnSpPr>
          <p:nvPr/>
        </p:nvCxnSpPr>
        <p:spPr>
          <a:xfrm rot="16200000" flipH="1">
            <a:off x="6281393" y="3842248"/>
            <a:ext cx="433789" cy="2052081"/>
          </a:xfrm>
          <a:prstGeom prst="line">
            <a:avLst/>
          </a:prstGeom>
          <a:ln w="28575">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Leitungsvermittelte Netzwerke: Gem. Nutzung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19</a:t>
            </a:fld>
            <a:endParaRPr lang="en-US" noProof="0" dirty="0"/>
          </a:p>
        </p:txBody>
      </p:sp>
      <p:sp>
        <p:nvSpPr>
          <p:cNvPr id="4" name="Inhaltsplatzhalter 3"/>
          <p:cNvSpPr>
            <a:spLocks noGrp="1"/>
          </p:cNvSpPr>
          <p:nvPr>
            <p:ph sz="quarter" idx="1"/>
          </p:nvPr>
        </p:nvSpPr>
        <p:spPr>
          <a:xfrm>
            <a:off x="457200" y="1219200"/>
            <a:ext cx="8435280" cy="3793976"/>
          </a:xfrm>
        </p:spPr>
        <p:txBody>
          <a:bodyPr>
            <a:normAutofit fontScale="92500" lnSpcReduction="10000"/>
          </a:bodyPr>
          <a:lstStyle/>
          <a:p>
            <a:pPr marL="0" indent="0">
              <a:buNone/>
            </a:pPr>
            <a:r>
              <a:rPr lang="de-DE" sz="3000" b="1" dirty="0">
                <a:solidFill>
                  <a:srgbClr val="FF0000"/>
                </a:solidFill>
              </a:rPr>
              <a:t>Multiplexing </a:t>
            </a:r>
            <a:r>
              <a:rPr lang="de-DE" sz="3000" dirty="0"/>
              <a:t>ermöglicht gemeinsame Nutzung der Ressourcen. Es gibt zwei Typen davon:</a:t>
            </a:r>
          </a:p>
          <a:p>
            <a:r>
              <a:rPr lang="de-DE" b="1" dirty="0" err="1">
                <a:solidFill>
                  <a:srgbClr val="FF0000"/>
                </a:solidFill>
              </a:rPr>
              <a:t>Frequenzmultiplexverfahren</a:t>
            </a:r>
            <a:r>
              <a:rPr lang="de-DE" b="1" dirty="0">
                <a:solidFill>
                  <a:srgbClr val="FF0000"/>
                </a:solidFill>
              </a:rPr>
              <a:t> </a:t>
            </a:r>
            <a:r>
              <a:rPr lang="de-DE" dirty="0"/>
              <a:t>(</a:t>
            </a:r>
            <a:r>
              <a:rPr lang="de-DE" b="1" dirty="0">
                <a:solidFill>
                  <a:srgbClr val="FF0000"/>
                </a:solidFill>
              </a:rPr>
              <a:t>FDM</a:t>
            </a:r>
            <a:r>
              <a:rPr lang="de-DE" dirty="0"/>
              <a:t>, </a:t>
            </a:r>
            <a:r>
              <a:rPr lang="de-DE" i="1" dirty="0" err="1"/>
              <a:t>frequency</a:t>
            </a:r>
            <a:r>
              <a:rPr lang="de-DE" i="1" dirty="0"/>
              <a:t> </a:t>
            </a:r>
            <a:r>
              <a:rPr lang="de-DE" i="1" dirty="0" err="1"/>
              <a:t>division</a:t>
            </a:r>
            <a:r>
              <a:rPr lang="de-DE" i="1" dirty="0"/>
              <a:t> </a:t>
            </a:r>
            <a:r>
              <a:rPr lang="de-DE" i="1" dirty="0" err="1"/>
              <a:t>multiplexing</a:t>
            </a:r>
            <a:r>
              <a:rPr lang="de-DE" i="1" dirty="0"/>
              <a:t>) </a:t>
            </a:r>
          </a:p>
          <a:p>
            <a:pPr lvl="1"/>
            <a:r>
              <a:rPr lang="de-DE" dirty="0"/>
              <a:t>Jeder durchgeschalteten Verbindung wird ein bestimmtes Frequenzband zugewiesen</a:t>
            </a:r>
            <a:endParaRPr lang="de-DE" i="1" dirty="0"/>
          </a:p>
          <a:p>
            <a:r>
              <a:rPr lang="de-DE" b="1" dirty="0" err="1">
                <a:solidFill>
                  <a:srgbClr val="FF0000"/>
                </a:solidFill>
              </a:rPr>
              <a:t>Zeitmultiplexverfahren</a:t>
            </a:r>
            <a:r>
              <a:rPr lang="de-DE" b="1" dirty="0">
                <a:solidFill>
                  <a:srgbClr val="FF0000"/>
                </a:solidFill>
              </a:rPr>
              <a:t> </a:t>
            </a:r>
            <a:r>
              <a:rPr lang="de-DE" dirty="0"/>
              <a:t>(</a:t>
            </a:r>
            <a:r>
              <a:rPr lang="de-DE" b="1" dirty="0">
                <a:solidFill>
                  <a:srgbClr val="FF0000"/>
                </a:solidFill>
              </a:rPr>
              <a:t>TDM</a:t>
            </a:r>
            <a:r>
              <a:rPr lang="de-DE" dirty="0"/>
              <a:t>, time-</a:t>
            </a:r>
            <a:r>
              <a:rPr lang="de-DE" dirty="0" err="1"/>
              <a:t>division</a:t>
            </a:r>
            <a:r>
              <a:rPr lang="de-DE" dirty="0"/>
              <a:t> </a:t>
            </a:r>
            <a:r>
              <a:rPr lang="de-DE" dirty="0" err="1"/>
              <a:t>multiplexing</a:t>
            </a:r>
            <a:r>
              <a:rPr lang="de-DE" dirty="0"/>
              <a:t>)</a:t>
            </a:r>
          </a:p>
          <a:p>
            <a:pPr lvl="1"/>
            <a:r>
              <a:rPr lang="de-DE" dirty="0"/>
              <a:t>Zeit wird in </a:t>
            </a:r>
            <a:r>
              <a:rPr lang="de-DE" b="1" dirty="0">
                <a:solidFill>
                  <a:srgbClr val="FF0000"/>
                </a:solidFill>
              </a:rPr>
              <a:t>Rahmen </a:t>
            </a:r>
            <a:r>
              <a:rPr lang="de-DE" dirty="0"/>
              <a:t>(</a:t>
            </a:r>
            <a:r>
              <a:rPr lang="de-DE" b="1" dirty="0">
                <a:solidFill>
                  <a:srgbClr val="FF0000"/>
                </a:solidFill>
              </a:rPr>
              <a:t>Frames</a:t>
            </a:r>
            <a:r>
              <a:rPr lang="de-DE" dirty="0"/>
              <a:t>) mit konstanter Dauer eingeteilt</a:t>
            </a:r>
          </a:p>
          <a:p>
            <a:pPr lvl="1"/>
            <a:r>
              <a:rPr lang="de-DE" dirty="0"/>
              <a:t>Jeder Rahmen in eine feste Zahl von </a:t>
            </a:r>
            <a:r>
              <a:rPr lang="de-DE" b="1" dirty="0">
                <a:solidFill>
                  <a:srgbClr val="FF0000"/>
                </a:solidFill>
              </a:rPr>
              <a:t>Zeitschlitzen </a:t>
            </a:r>
            <a:r>
              <a:rPr lang="de-DE" dirty="0"/>
              <a:t>(</a:t>
            </a:r>
            <a:r>
              <a:rPr lang="de-DE" b="1" dirty="0">
                <a:solidFill>
                  <a:srgbClr val="FF0000"/>
                </a:solidFill>
              </a:rPr>
              <a:t>time </a:t>
            </a:r>
            <a:r>
              <a:rPr lang="de-DE" b="1" dirty="0" err="1">
                <a:solidFill>
                  <a:srgbClr val="FF0000"/>
                </a:solidFill>
              </a:rPr>
              <a:t>slots</a:t>
            </a:r>
            <a:r>
              <a:rPr lang="de-DE" dirty="0"/>
              <a:t>) </a:t>
            </a:r>
          </a:p>
          <a:p>
            <a:pPr lvl="1"/>
            <a:r>
              <a:rPr lang="de-DE" dirty="0"/>
              <a:t>Eine Verbindung erhält einen festen Zeitschlitz in jedem Rahmen</a:t>
            </a:r>
          </a:p>
        </p:txBody>
      </p:sp>
      <p:grpSp>
        <p:nvGrpSpPr>
          <p:cNvPr id="15" name="Gruppieren 14"/>
          <p:cNvGrpSpPr/>
          <p:nvPr/>
        </p:nvGrpSpPr>
        <p:grpSpPr>
          <a:xfrm>
            <a:off x="1317400" y="5193658"/>
            <a:ext cx="2168748" cy="914400"/>
            <a:chOff x="3411364" y="5042644"/>
            <a:chExt cx="4572000" cy="914400"/>
          </a:xfrm>
        </p:grpSpPr>
        <p:sp>
          <p:nvSpPr>
            <p:cNvPr id="7" name="Rectangle 11"/>
            <p:cNvSpPr>
              <a:spLocks noChangeArrowheads="1"/>
            </p:cNvSpPr>
            <p:nvPr/>
          </p:nvSpPr>
          <p:spPr bwMode="auto">
            <a:xfrm>
              <a:off x="3411364" y="5042644"/>
              <a:ext cx="4572000" cy="228600"/>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8" name="Rectangle 12"/>
            <p:cNvSpPr>
              <a:spLocks noChangeArrowheads="1"/>
            </p:cNvSpPr>
            <p:nvPr/>
          </p:nvSpPr>
          <p:spPr bwMode="auto">
            <a:xfrm>
              <a:off x="3411364" y="5271244"/>
              <a:ext cx="4572000" cy="228600"/>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9" name="Rectangle 13"/>
            <p:cNvSpPr>
              <a:spLocks noChangeArrowheads="1"/>
            </p:cNvSpPr>
            <p:nvPr/>
          </p:nvSpPr>
          <p:spPr bwMode="auto">
            <a:xfrm>
              <a:off x="3411364" y="5499844"/>
              <a:ext cx="4572000" cy="228600"/>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10" name="Rectangle 14"/>
            <p:cNvSpPr>
              <a:spLocks noChangeArrowheads="1"/>
            </p:cNvSpPr>
            <p:nvPr/>
          </p:nvSpPr>
          <p:spPr bwMode="auto">
            <a:xfrm>
              <a:off x="3411364" y="5728444"/>
              <a:ext cx="4572000" cy="228600"/>
            </a:xfrm>
            <a:prstGeom prst="rect">
              <a:avLst/>
            </a:prstGeom>
            <a:solidFill>
              <a:srgbClr val="FF00FF"/>
            </a:solidFill>
            <a:ln w="9525">
              <a:solidFill>
                <a:schemeClr val="tx1"/>
              </a:solidFill>
              <a:miter lim="800000"/>
              <a:headEnd/>
              <a:tailEnd/>
            </a:ln>
          </p:spPr>
          <p:txBody>
            <a:bodyPr wrap="none" anchor="ctr"/>
            <a:lstStyle/>
            <a:p>
              <a:endParaRPr lang="de-DE"/>
            </a:p>
          </p:txBody>
        </p:sp>
      </p:grpSp>
      <p:grpSp>
        <p:nvGrpSpPr>
          <p:cNvPr id="98" name="Gruppieren 97"/>
          <p:cNvGrpSpPr/>
          <p:nvPr/>
        </p:nvGrpSpPr>
        <p:grpSpPr>
          <a:xfrm>
            <a:off x="838478" y="4937201"/>
            <a:ext cx="2880320" cy="1723026"/>
            <a:chOff x="836092" y="4811610"/>
            <a:chExt cx="2880320" cy="1723026"/>
          </a:xfrm>
        </p:grpSpPr>
        <p:cxnSp>
          <p:nvCxnSpPr>
            <p:cNvPr id="17" name="Gerade Verbindung mit Pfeil 16"/>
            <p:cNvCxnSpPr/>
            <p:nvPr/>
          </p:nvCxnSpPr>
          <p:spPr>
            <a:xfrm rot="5400000" flipH="1" flipV="1">
              <a:off x="620068" y="5459682"/>
              <a:ext cx="1324227" cy="28083"/>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8" name="Gerade Verbindung mit Pfeil 17"/>
            <p:cNvCxnSpPr/>
            <p:nvPr/>
          </p:nvCxnSpPr>
          <p:spPr>
            <a:xfrm>
              <a:off x="1268140" y="6135836"/>
              <a:ext cx="2448272" cy="158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3" name="Textfeld 22"/>
            <p:cNvSpPr txBox="1"/>
            <p:nvPr/>
          </p:nvSpPr>
          <p:spPr>
            <a:xfrm rot="16200000">
              <a:off x="441112" y="5306680"/>
              <a:ext cx="1159292" cy="369332"/>
            </a:xfrm>
            <a:prstGeom prst="rect">
              <a:avLst/>
            </a:prstGeom>
            <a:noFill/>
          </p:spPr>
          <p:txBody>
            <a:bodyPr wrap="none" rtlCol="0">
              <a:spAutoFit/>
            </a:bodyPr>
            <a:lstStyle/>
            <a:p>
              <a:r>
                <a:rPr lang="de-DE" dirty="0"/>
                <a:t>Frequenz</a:t>
              </a:r>
            </a:p>
          </p:txBody>
        </p:sp>
        <p:sp>
          <p:nvSpPr>
            <p:cNvPr id="24" name="Textfeld 23"/>
            <p:cNvSpPr txBox="1"/>
            <p:nvPr/>
          </p:nvSpPr>
          <p:spPr>
            <a:xfrm>
              <a:off x="2267744" y="6165304"/>
              <a:ext cx="569387" cy="369332"/>
            </a:xfrm>
            <a:prstGeom prst="rect">
              <a:avLst/>
            </a:prstGeom>
            <a:noFill/>
          </p:spPr>
          <p:txBody>
            <a:bodyPr wrap="none" rtlCol="0">
              <a:spAutoFit/>
            </a:bodyPr>
            <a:lstStyle/>
            <a:p>
              <a:r>
                <a:rPr lang="de-DE" dirty="0"/>
                <a:t>Zeit</a:t>
              </a:r>
            </a:p>
          </p:txBody>
        </p:sp>
      </p:grpSp>
      <p:grpSp>
        <p:nvGrpSpPr>
          <p:cNvPr id="96" name="Gruppieren 95"/>
          <p:cNvGrpSpPr/>
          <p:nvPr/>
        </p:nvGrpSpPr>
        <p:grpSpPr>
          <a:xfrm>
            <a:off x="5286188" y="5171077"/>
            <a:ext cx="2743200" cy="914400"/>
            <a:chOff x="4211960" y="5373216"/>
            <a:chExt cx="2743200" cy="914400"/>
          </a:xfrm>
        </p:grpSpPr>
        <p:sp>
          <p:nvSpPr>
            <p:cNvPr id="88" name="Rectangle 23"/>
            <p:cNvSpPr>
              <a:spLocks noChangeArrowheads="1"/>
            </p:cNvSpPr>
            <p:nvPr/>
          </p:nvSpPr>
          <p:spPr bwMode="auto">
            <a:xfrm>
              <a:off x="4211960" y="5373216"/>
              <a:ext cx="228600" cy="914400"/>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89" name="Rectangle 24"/>
            <p:cNvSpPr>
              <a:spLocks noChangeArrowheads="1"/>
            </p:cNvSpPr>
            <p:nvPr/>
          </p:nvSpPr>
          <p:spPr bwMode="auto">
            <a:xfrm>
              <a:off x="5126360" y="5373216"/>
              <a:ext cx="228600" cy="914400"/>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90" name="Rectangle 25"/>
            <p:cNvSpPr>
              <a:spLocks noChangeArrowheads="1"/>
            </p:cNvSpPr>
            <p:nvPr/>
          </p:nvSpPr>
          <p:spPr bwMode="auto">
            <a:xfrm>
              <a:off x="6040760" y="5373216"/>
              <a:ext cx="228600" cy="914400"/>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83" name="Rectangle 29"/>
            <p:cNvSpPr>
              <a:spLocks noChangeArrowheads="1"/>
            </p:cNvSpPr>
            <p:nvPr/>
          </p:nvSpPr>
          <p:spPr bwMode="auto">
            <a:xfrm>
              <a:off x="4440560" y="5373216"/>
              <a:ext cx="228600" cy="914400"/>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84" name="Rectangle 30"/>
            <p:cNvSpPr>
              <a:spLocks noChangeArrowheads="1"/>
            </p:cNvSpPr>
            <p:nvPr/>
          </p:nvSpPr>
          <p:spPr bwMode="auto">
            <a:xfrm>
              <a:off x="5354960" y="5373216"/>
              <a:ext cx="228600" cy="914400"/>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85" name="Rectangle 31"/>
            <p:cNvSpPr>
              <a:spLocks noChangeArrowheads="1"/>
            </p:cNvSpPr>
            <p:nvPr/>
          </p:nvSpPr>
          <p:spPr bwMode="auto">
            <a:xfrm>
              <a:off x="6269360" y="5373216"/>
              <a:ext cx="228600" cy="914400"/>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78" name="Rectangle 35"/>
            <p:cNvSpPr>
              <a:spLocks noChangeArrowheads="1"/>
            </p:cNvSpPr>
            <p:nvPr/>
          </p:nvSpPr>
          <p:spPr bwMode="auto">
            <a:xfrm>
              <a:off x="4669160" y="5373216"/>
              <a:ext cx="228600" cy="914400"/>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79" name="Rectangle 36"/>
            <p:cNvSpPr>
              <a:spLocks noChangeArrowheads="1"/>
            </p:cNvSpPr>
            <p:nvPr/>
          </p:nvSpPr>
          <p:spPr bwMode="auto">
            <a:xfrm>
              <a:off x="5583560" y="5373216"/>
              <a:ext cx="228600" cy="914400"/>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80" name="Rectangle 37"/>
            <p:cNvSpPr>
              <a:spLocks noChangeArrowheads="1"/>
            </p:cNvSpPr>
            <p:nvPr/>
          </p:nvSpPr>
          <p:spPr bwMode="auto">
            <a:xfrm>
              <a:off x="6497960" y="5373216"/>
              <a:ext cx="228600" cy="914400"/>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73" name="Rectangle 41"/>
            <p:cNvSpPr>
              <a:spLocks noChangeArrowheads="1"/>
            </p:cNvSpPr>
            <p:nvPr/>
          </p:nvSpPr>
          <p:spPr bwMode="auto">
            <a:xfrm>
              <a:off x="4897760" y="5373216"/>
              <a:ext cx="228600" cy="914400"/>
            </a:xfrm>
            <a:prstGeom prst="rect">
              <a:avLst/>
            </a:prstGeom>
            <a:solidFill>
              <a:srgbClr val="FF00FF"/>
            </a:solidFill>
            <a:ln w="9525">
              <a:solidFill>
                <a:schemeClr val="tx1"/>
              </a:solidFill>
              <a:miter lim="800000"/>
              <a:headEnd/>
              <a:tailEnd/>
            </a:ln>
          </p:spPr>
          <p:txBody>
            <a:bodyPr wrap="none" anchor="ctr"/>
            <a:lstStyle/>
            <a:p>
              <a:endParaRPr lang="de-DE"/>
            </a:p>
          </p:txBody>
        </p:sp>
        <p:sp>
          <p:nvSpPr>
            <p:cNvPr id="74" name="Rectangle 42"/>
            <p:cNvSpPr>
              <a:spLocks noChangeArrowheads="1"/>
            </p:cNvSpPr>
            <p:nvPr/>
          </p:nvSpPr>
          <p:spPr bwMode="auto">
            <a:xfrm>
              <a:off x="5812160" y="5373216"/>
              <a:ext cx="228600" cy="914400"/>
            </a:xfrm>
            <a:prstGeom prst="rect">
              <a:avLst/>
            </a:prstGeom>
            <a:solidFill>
              <a:srgbClr val="FF00FF"/>
            </a:solidFill>
            <a:ln w="9525">
              <a:solidFill>
                <a:schemeClr val="tx1"/>
              </a:solidFill>
              <a:miter lim="800000"/>
              <a:headEnd/>
              <a:tailEnd/>
            </a:ln>
          </p:spPr>
          <p:txBody>
            <a:bodyPr wrap="none" anchor="ctr"/>
            <a:lstStyle/>
            <a:p>
              <a:endParaRPr lang="de-DE"/>
            </a:p>
          </p:txBody>
        </p:sp>
        <p:sp>
          <p:nvSpPr>
            <p:cNvPr id="75" name="Rectangle 43"/>
            <p:cNvSpPr>
              <a:spLocks noChangeArrowheads="1"/>
            </p:cNvSpPr>
            <p:nvPr/>
          </p:nvSpPr>
          <p:spPr bwMode="auto">
            <a:xfrm>
              <a:off x="6726560" y="5373216"/>
              <a:ext cx="228600" cy="914400"/>
            </a:xfrm>
            <a:prstGeom prst="rect">
              <a:avLst/>
            </a:prstGeom>
            <a:solidFill>
              <a:srgbClr val="FF00FF"/>
            </a:solidFill>
            <a:ln w="9525">
              <a:solidFill>
                <a:schemeClr val="tx1"/>
              </a:solidFill>
              <a:miter lim="800000"/>
              <a:headEnd/>
              <a:tailEnd/>
            </a:ln>
          </p:spPr>
          <p:txBody>
            <a:bodyPr wrap="none" anchor="ctr"/>
            <a:lstStyle/>
            <a:p>
              <a:endParaRPr lang="de-DE"/>
            </a:p>
          </p:txBody>
        </p:sp>
      </p:grpSp>
      <p:grpSp>
        <p:nvGrpSpPr>
          <p:cNvPr id="99" name="Gruppieren 98"/>
          <p:cNvGrpSpPr/>
          <p:nvPr/>
        </p:nvGrpSpPr>
        <p:grpSpPr>
          <a:xfrm>
            <a:off x="4787603" y="4948542"/>
            <a:ext cx="3638645" cy="1665476"/>
            <a:chOff x="836092" y="4811610"/>
            <a:chExt cx="3638645" cy="1665476"/>
          </a:xfrm>
        </p:grpSpPr>
        <p:cxnSp>
          <p:nvCxnSpPr>
            <p:cNvPr id="100" name="Gerade Verbindung mit Pfeil 99"/>
            <p:cNvCxnSpPr/>
            <p:nvPr/>
          </p:nvCxnSpPr>
          <p:spPr>
            <a:xfrm rot="5400000" flipH="1" flipV="1">
              <a:off x="620068" y="5459682"/>
              <a:ext cx="1324227" cy="28083"/>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01" name="Gerade Verbindung mit Pfeil 100"/>
            <p:cNvCxnSpPr/>
            <p:nvPr/>
          </p:nvCxnSpPr>
          <p:spPr>
            <a:xfrm>
              <a:off x="1268140" y="6135837"/>
              <a:ext cx="3206597"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02" name="Textfeld 101"/>
            <p:cNvSpPr txBox="1"/>
            <p:nvPr/>
          </p:nvSpPr>
          <p:spPr>
            <a:xfrm rot="16200000">
              <a:off x="441112" y="5306680"/>
              <a:ext cx="1159292" cy="369332"/>
            </a:xfrm>
            <a:prstGeom prst="rect">
              <a:avLst/>
            </a:prstGeom>
            <a:noFill/>
          </p:spPr>
          <p:txBody>
            <a:bodyPr wrap="none" rtlCol="0">
              <a:spAutoFit/>
            </a:bodyPr>
            <a:lstStyle/>
            <a:p>
              <a:r>
                <a:rPr lang="de-DE" dirty="0"/>
                <a:t>Frequenz</a:t>
              </a:r>
            </a:p>
          </p:txBody>
        </p:sp>
        <p:sp>
          <p:nvSpPr>
            <p:cNvPr id="103" name="Textfeld 102"/>
            <p:cNvSpPr txBox="1"/>
            <p:nvPr/>
          </p:nvSpPr>
          <p:spPr>
            <a:xfrm>
              <a:off x="2708300" y="6107754"/>
              <a:ext cx="569387" cy="369332"/>
            </a:xfrm>
            <a:prstGeom prst="rect">
              <a:avLst/>
            </a:prstGeom>
            <a:noFill/>
          </p:spPr>
          <p:txBody>
            <a:bodyPr wrap="none" rtlCol="0">
              <a:spAutoFit/>
            </a:bodyPr>
            <a:lstStyle/>
            <a:p>
              <a:r>
                <a:rPr lang="de-DE" dirty="0"/>
                <a:t>Zeit</a:t>
              </a:r>
            </a:p>
          </p:txBody>
        </p:sp>
      </p:grpSp>
      <p:grpSp>
        <p:nvGrpSpPr>
          <p:cNvPr id="108" name="Group 100"/>
          <p:cNvGrpSpPr>
            <a:grpSpLocks/>
          </p:cNvGrpSpPr>
          <p:nvPr/>
        </p:nvGrpSpPr>
        <p:grpSpPr bwMode="auto">
          <a:xfrm>
            <a:off x="3131840" y="6381328"/>
            <a:ext cx="2493963" cy="369888"/>
            <a:chOff x="3613" y="288"/>
            <a:chExt cx="1571" cy="233"/>
          </a:xfrm>
        </p:grpSpPr>
        <p:sp>
          <p:nvSpPr>
            <p:cNvPr id="109" name="Text Box 101"/>
            <p:cNvSpPr txBox="1">
              <a:spLocks noChangeArrowheads="1"/>
            </p:cNvSpPr>
            <p:nvPr/>
          </p:nvSpPr>
          <p:spPr bwMode="auto">
            <a:xfrm>
              <a:off x="3613" y="288"/>
              <a:ext cx="816" cy="233"/>
            </a:xfrm>
            <a:prstGeom prst="rect">
              <a:avLst/>
            </a:prstGeom>
            <a:noFill/>
            <a:ln w="9525">
              <a:noFill/>
              <a:miter lim="800000"/>
              <a:headEnd/>
              <a:tailEnd/>
            </a:ln>
          </p:spPr>
          <p:txBody>
            <a:bodyPr wrap="square">
              <a:spAutoFit/>
            </a:bodyPr>
            <a:lstStyle/>
            <a:p>
              <a:pPr eaLnBrk="1" hangingPunct="1"/>
              <a:r>
                <a:rPr lang="en-US" dirty="0">
                  <a:latin typeface="Arial" charset="0"/>
                </a:rPr>
                <a:t>4 </a:t>
              </a:r>
              <a:r>
                <a:rPr lang="en-US" dirty="0" err="1">
                  <a:latin typeface="Arial" charset="0"/>
                </a:rPr>
                <a:t>Benutzer</a:t>
              </a:r>
              <a:endParaRPr lang="fr-FR" dirty="0">
                <a:latin typeface="Arial" charset="0"/>
              </a:endParaRPr>
            </a:p>
          </p:txBody>
        </p:sp>
        <p:sp>
          <p:nvSpPr>
            <p:cNvPr id="110" name="Rectangle 102"/>
            <p:cNvSpPr>
              <a:spLocks noChangeArrowheads="1"/>
            </p:cNvSpPr>
            <p:nvPr/>
          </p:nvSpPr>
          <p:spPr bwMode="auto">
            <a:xfrm>
              <a:off x="4464" y="352"/>
              <a:ext cx="144" cy="144"/>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111" name="Rectangle 103"/>
            <p:cNvSpPr>
              <a:spLocks noChangeArrowheads="1"/>
            </p:cNvSpPr>
            <p:nvPr/>
          </p:nvSpPr>
          <p:spPr bwMode="auto">
            <a:xfrm>
              <a:off x="4656" y="352"/>
              <a:ext cx="144" cy="144"/>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112" name="Rectangle 104"/>
            <p:cNvSpPr>
              <a:spLocks noChangeArrowheads="1"/>
            </p:cNvSpPr>
            <p:nvPr/>
          </p:nvSpPr>
          <p:spPr bwMode="auto">
            <a:xfrm>
              <a:off x="4848" y="352"/>
              <a:ext cx="144" cy="144"/>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113" name="Rectangle 105"/>
            <p:cNvSpPr>
              <a:spLocks noChangeArrowheads="1"/>
            </p:cNvSpPr>
            <p:nvPr/>
          </p:nvSpPr>
          <p:spPr bwMode="auto">
            <a:xfrm>
              <a:off x="5040" y="352"/>
              <a:ext cx="144" cy="144"/>
            </a:xfrm>
            <a:prstGeom prst="rect">
              <a:avLst/>
            </a:prstGeom>
            <a:solidFill>
              <a:srgbClr val="FF00FF"/>
            </a:solidFill>
            <a:ln w="9525">
              <a:solidFill>
                <a:schemeClr val="tx1"/>
              </a:solidFill>
              <a:miter lim="800000"/>
              <a:headEnd/>
              <a:tailEnd/>
            </a:ln>
          </p:spPr>
          <p:txBody>
            <a:bodyPr wrap="none" anchor="ctr"/>
            <a:lstStyle/>
            <a:p>
              <a:endParaRPr lang="de-DE"/>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Paketvermittlung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20</a:t>
            </a:fld>
            <a:endParaRPr lang="en-US" noProof="0" dirty="0"/>
          </a:p>
        </p:txBody>
      </p:sp>
      <p:sp>
        <p:nvSpPr>
          <p:cNvPr id="4" name="Inhaltsplatzhalter 3"/>
          <p:cNvSpPr>
            <a:spLocks noGrp="1"/>
          </p:cNvSpPr>
          <p:nvPr>
            <p:ph sz="quarter" idx="1"/>
          </p:nvPr>
        </p:nvSpPr>
        <p:spPr>
          <a:xfrm>
            <a:off x="457200" y="1219200"/>
            <a:ext cx="8363272" cy="5306144"/>
          </a:xfrm>
        </p:spPr>
        <p:txBody>
          <a:bodyPr>
            <a:normAutofit/>
          </a:bodyPr>
          <a:lstStyle/>
          <a:p>
            <a:r>
              <a:rPr lang="de-DE" dirty="0"/>
              <a:t>Hier zerlegt die Quelle lange Nachrichten in kleinere „Datenhäppchen“, genannt </a:t>
            </a:r>
            <a:r>
              <a:rPr lang="de-DE" b="1" dirty="0">
                <a:solidFill>
                  <a:srgbClr val="FF0000"/>
                </a:solidFill>
              </a:rPr>
              <a:t>Pakete</a:t>
            </a:r>
          </a:p>
          <a:p>
            <a:r>
              <a:rPr lang="de-DE" dirty="0"/>
              <a:t>Jedes dieser Pakete bewegt </a:t>
            </a:r>
            <a:r>
              <a:rPr lang="de-DE" dirty="0" err="1"/>
              <a:t>sicht</a:t>
            </a:r>
            <a:r>
              <a:rPr lang="de-DE" dirty="0"/>
              <a:t> zw. Quelle und Ziel über Kommunikations</a:t>
            </a:r>
            <a:r>
              <a:rPr lang="de-DE" u="sng" dirty="0"/>
              <a:t>leitungen</a:t>
            </a:r>
            <a:r>
              <a:rPr lang="de-DE" dirty="0"/>
              <a:t> und </a:t>
            </a:r>
            <a:r>
              <a:rPr lang="de-DE" b="1" dirty="0">
                <a:solidFill>
                  <a:srgbClr val="FF0000"/>
                </a:solidFill>
              </a:rPr>
              <a:t>Paketswitches</a:t>
            </a:r>
            <a:endParaRPr lang="de-DE" dirty="0"/>
          </a:p>
          <a:p>
            <a:r>
              <a:rPr lang="de-DE" dirty="0"/>
              <a:t>Haupttypen der </a:t>
            </a:r>
            <a:r>
              <a:rPr lang="de-DE" b="1" dirty="0">
                <a:solidFill>
                  <a:srgbClr val="FF0000"/>
                </a:solidFill>
              </a:rPr>
              <a:t>Paketswitches</a:t>
            </a:r>
          </a:p>
          <a:p>
            <a:pPr lvl="1"/>
            <a:r>
              <a:rPr lang="de-DE" b="1" dirty="0">
                <a:solidFill>
                  <a:srgbClr val="FF0000"/>
                </a:solidFill>
              </a:rPr>
              <a:t>Router </a:t>
            </a:r>
            <a:r>
              <a:rPr lang="de-DE" dirty="0"/>
              <a:t>- mehr Intelligenz, Entscheidungen über längere Netzwerkabschnitte</a:t>
            </a:r>
            <a:r>
              <a:rPr lang="de-DE" b="1" dirty="0">
                <a:solidFill>
                  <a:srgbClr val="FF0000"/>
                </a:solidFill>
              </a:rPr>
              <a:t> </a:t>
            </a:r>
          </a:p>
          <a:p>
            <a:pPr lvl="1"/>
            <a:r>
              <a:rPr lang="de-DE" dirty="0"/>
              <a:t>(</a:t>
            </a:r>
            <a:r>
              <a:rPr lang="de-DE" b="1" dirty="0">
                <a:solidFill>
                  <a:srgbClr val="FF0000"/>
                </a:solidFill>
              </a:rPr>
              <a:t>Sicherungsschicht</a:t>
            </a:r>
            <a:r>
              <a:rPr lang="de-DE" dirty="0"/>
              <a:t>)-</a:t>
            </a:r>
            <a:r>
              <a:rPr lang="de-DE" b="1" dirty="0">
                <a:solidFill>
                  <a:srgbClr val="FF0000"/>
                </a:solidFill>
              </a:rPr>
              <a:t>Switches</a:t>
            </a:r>
            <a:r>
              <a:rPr lang="de-DE" dirty="0"/>
              <a:t> – primitiv, haben Informationen nur über direkte Nachbarn</a:t>
            </a:r>
          </a:p>
          <a:p>
            <a:r>
              <a:rPr lang="de-DE" dirty="0"/>
              <a:t>Video: „Internet B – Technology/</a:t>
            </a:r>
            <a:r>
              <a:rPr lang="en-US" dirty="0"/>
              <a:t>B01 - Introduction  The Link Layer”</a:t>
            </a:r>
          </a:p>
          <a:p>
            <a:pPr lvl="1"/>
            <a:r>
              <a:rPr lang="en-US" dirty="0"/>
              <a:t>Von 2:30 </a:t>
            </a:r>
            <a:r>
              <a:rPr lang="en-US" dirty="0" err="1"/>
              <a:t>bis</a:t>
            </a:r>
            <a:r>
              <a:rPr lang="en-US" dirty="0"/>
              <a:t> 4:30+ (</a:t>
            </a:r>
            <a:r>
              <a:rPr lang="en-US" dirty="0" err="1"/>
              <a:t>min:sec</a:t>
            </a:r>
            <a:r>
              <a:rPr lang="en-US" dirty="0"/>
              <a:t>)</a:t>
            </a:r>
            <a:endParaRPr lang="de-DE" dirty="0"/>
          </a:p>
          <a:p>
            <a:pPr lvl="1"/>
            <a:endParaRPr lang="de-DE" dirty="0"/>
          </a:p>
          <a:p>
            <a:pPr lvl="2"/>
            <a:endParaRPr lang="de-DE" dirty="0"/>
          </a:p>
          <a:p>
            <a:pPr lvl="1"/>
            <a:endParaRPr lang="de-DE" dirty="0"/>
          </a:p>
          <a:p>
            <a:endParaRPr lang="de-DE" dirty="0"/>
          </a:p>
          <a:p>
            <a:pPr>
              <a:buNone/>
            </a:pPr>
            <a:endParaRPr lang="de-DE"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 Box 308"/>
          <p:cNvSpPr txBox="1">
            <a:spLocks noChangeArrowheads="1"/>
          </p:cNvSpPr>
          <p:nvPr/>
        </p:nvSpPr>
        <p:spPr bwMode="auto">
          <a:xfrm>
            <a:off x="1612900" y="1312863"/>
            <a:ext cx="1279389" cy="338554"/>
          </a:xfrm>
          <a:prstGeom prst="rect">
            <a:avLst/>
          </a:prstGeom>
          <a:noFill/>
          <a:ln w="6350">
            <a:solidFill>
              <a:schemeClr val="tx1"/>
            </a:solidFill>
            <a:miter lim="800000"/>
            <a:headEnd/>
            <a:tailEnd/>
          </a:ln>
        </p:spPr>
        <p:txBody>
          <a:bodyPr wrap="none">
            <a:spAutoFit/>
          </a:bodyPr>
          <a:lstStyle/>
          <a:p>
            <a:r>
              <a:rPr lang="de-DE" sz="1600"/>
              <a:t>Paket von A</a:t>
            </a:r>
          </a:p>
        </p:txBody>
      </p:sp>
      <p:sp>
        <p:nvSpPr>
          <p:cNvPr id="2" name="Titel 1"/>
          <p:cNvSpPr>
            <a:spLocks noGrp="1"/>
          </p:cNvSpPr>
          <p:nvPr>
            <p:ph type="title"/>
          </p:nvPr>
        </p:nvSpPr>
        <p:spPr/>
        <p:txBody>
          <a:bodyPr/>
          <a:lstStyle/>
          <a:p>
            <a:r>
              <a:rPr lang="de-DE" dirty="0"/>
              <a:t>PV: </a:t>
            </a:r>
            <a:r>
              <a:rPr lang="de-DE" b="1" dirty="0">
                <a:solidFill>
                  <a:srgbClr val="FF0000"/>
                </a:solidFill>
              </a:rPr>
              <a:t>Statistisches </a:t>
            </a:r>
            <a:r>
              <a:rPr lang="de-DE" dirty="0"/>
              <a:t>Multiplexing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21</a:t>
            </a:fld>
            <a:endParaRPr lang="en-US" noProof="0" dirty="0"/>
          </a:p>
        </p:txBody>
      </p:sp>
      <p:sp>
        <p:nvSpPr>
          <p:cNvPr id="4" name="Inhaltsplatzhalter 3"/>
          <p:cNvSpPr>
            <a:spLocks noGrp="1"/>
          </p:cNvSpPr>
          <p:nvPr>
            <p:ph sz="quarter" idx="1"/>
          </p:nvPr>
        </p:nvSpPr>
        <p:spPr>
          <a:xfrm>
            <a:off x="467544" y="4941168"/>
            <a:ext cx="8496944" cy="1632244"/>
          </a:xfrm>
        </p:spPr>
        <p:txBody>
          <a:bodyPr>
            <a:normAutofit fontScale="92500" lnSpcReduction="10000"/>
          </a:bodyPr>
          <a:lstStyle/>
          <a:p>
            <a:r>
              <a:rPr lang="de-DE" dirty="0"/>
              <a:t>Das Multiplexing der Pakete von A und B hat </a:t>
            </a:r>
            <a:r>
              <a:rPr lang="de-DE" u="sng" dirty="0"/>
              <a:t>kein „fixes“</a:t>
            </a:r>
            <a:r>
              <a:rPr lang="de-DE" dirty="0"/>
              <a:t> </a:t>
            </a:r>
            <a:r>
              <a:rPr lang="de-DE" u="sng" dirty="0"/>
              <a:t>Schema</a:t>
            </a:r>
            <a:r>
              <a:rPr lang="de-DE" dirty="0"/>
              <a:t> (kein Slot für A/B), sondern geschieht nach Bedarf</a:t>
            </a:r>
          </a:p>
          <a:p>
            <a:pPr lvl="1"/>
            <a:r>
              <a:rPr lang="de-DE" dirty="0"/>
              <a:t>D.h. mehr Pakete von A im Puffer =&gt; </a:t>
            </a:r>
            <a:r>
              <a:rPr lang="de-DE" dirty="0" err="1"/>
              <a:t>A‘s</a:t>
            </a:r>
            <a:r>
              <a:rPr lang="de-DE" dirty="0"/>
              <a:t> häufiger gesendet</a:t>
            </a:r>
          </a:p>
          <a:p>
            <a:r>
              <a:rPr lang="de-DE" dirty="0"/>
              <a:t>Effizienter als Zeitmultiplexverfahren der Leitungsvermittl‘g</a:t>
            </a:r>
          </a:p>
        </p:txBody>
      </p:sp>
      <p:graphicFrame>
        <p:nvGraphicFramePr>
          <p:cNvPr id="5" name="Object 226"/>
          <p:cNvGraphicFramePr>
            <a:graphicFrameLocks noChangeAspect="1"/>
          </p:cNvGraphicFramePr>
          <p:nvPr/>
        </p:nvGraphicFramePr>
        <p:xfrm>
          <a:off x="1203325" y="2470150"/>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5" name="Object 2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325" y="2470150"/>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Line 230"/>
          <p:cNvSpPr>
            <a:spLocks noChangeShapeType="1"/>
          </p:cNvSpPr>
          <p:nvPr/>
        </p:nvSpPr>
        <p:spPr bwMode="auto">
          <a:xfrm>
            <a:off x="3538538" y="2303463"/>
            <a:ext cx="0" cy="228600"/>
          </a:xfrm>
          <a:prstGeom prst="line">
            <a:avLst/>
          </a:prstGeom>
          <a:noFill/>
          <a:ln w="12700">
            <a:noFill/>
            <a:round/>
            <a:headEnd/>
            <a:tailEnd/>
          </a:ln>
        </p:spPr>
        <p:txBody>
          <a:bodyPr wrap="none" anchor="ctr"/>
          <a:lstStyle/>
          <a:p>
            <a:endParaRPr lang="de-DE"/>
          </a:p>
        </p:txBody>
      </p:sp>
      <p:sp>
        <p:nvSpPr>
          <p:cNvPr id="7" name="Oval 228"/>
          <p:cNvSpPr>
            <a:spLocks noChangeArrowheads="1"/>
          </p:cNvSpPr>
          <p:nvPr/>
        </p:nvSpPr>
        <p:spPr bwMode="auto">
          <a:xfrm>
            <a:off x="2320925" y="2333625"/>
            <a:ext cx="1198563" cy="369888"/>
          </a:xfrm>
          <a:prstGeom prst="ellipse">
            <a:avLst/>
          </a:prstGeom>
          <a:solidFill>
            <a:srgbClr val="B2B2B2"/>
          </a:solidFill>
          <a:ln w="12700">
            <a:noFill/>
            <a:round/>
            <a:headEnd/>
            <a:tailEnd/>
          </a:ln>
        </p:spPr>
        <p:txBody>
          <a:bodyPr wrap="none" anchor="ctr"/>
          <a:lstStyle/>
          <a:p>
            <a:endParaRPr lang="de-DE"/>
          </a:p>
        </p:txBody>
      </p:sp>
      <p:sp>
        <p:nvSpPr>
          <p:cNvPr id="8" name="Rectangle 231"/>
          <p:cNvSpPr>
            <a:spLocks noChangeArrowheads="1"/>
          </p:cNvSpPr>
          <p:nvPr/>
        </p:nvSpPr>
        <p:spPr bwMode="auto">
          <a:xfrm>
            <a:off x="2320925" y="2265363"/>
            <a:ext cx="1198563" cy="263525"/>
          </a:xfrm>
          <a:prstGeom prst="rect">
            <a:avLst/>
          </a:prstGeom>
          <a:solidFill>
            <a:srgbClr val="B2B2B2"/>
          </a:solidFill>
          <a:ln w="12700">
            <a:noFill/>
            <a:miter lim="800000"/>
            <a:headEnd/>
            <a:tailEnd/>
          </a:ln>
        </p:spPr>
        <p:txBody>
          <a:bodyPr wrap="none" anchor="ctr"/>
          <a:lstStyle/>
          <a:p>
            <a:pPr algn="ctr"/>
            <a:endParaRPr lang="de-DE"/>
          </a:p>
        </p:txBody>
      </p:sp>
      <p:sp>
        <p:nvSpPr>
          <p:cNvPr id="9" name="Oval 232"/>
          <p:cNvSpPr>
            <a:spLocks noChangeArrowheads="1"/>
          </p:cNvSpPr>
          <p:nvPr/>
        </p:nvSpPr>
        <p:spPr bwMode="auto">
          <a:xfrm>
            <a:off x="2330450" y="2036763"/>
            <a:ext cx="1198563" cy="430212"/>
          </a:xfrm>
          <a:prstGeom prst="ellipse">
            <a:avLst/>
          </a:prstGeom>
          <a:solidFill>
            <a:srgbClr val="B2B2B2"/>
          </a:solidFill>
          <a:ln w="12700">
            <a:noFill/>
            <a:round/>
            <a:headEnd/>
            <a:tailEnd/>
          </a:ln>
        </p:spPr>
        <p:txBody>
          <a:bodyPr wrap="none" anchor="ctr"/>
          <a:lstStyle/>
          <a:p>
            <a:endParaRPr lang="de-DE"/>
          </a:p>
        </p:txBody>
      </p:sp>
      <p:sp>
        <p:nvSpPr>
          <p:cNvPr id="19" name="Oval 246"/>
          <p:cNvSpPr>
            <a:spLocks noChangeArrowheads="1"/>
          </p:cNvSpPr>
          <p:nvPr/>
        </p:nvSpPr>
        <p:spPr bwMode="auto">
          <a:xfrm>
            <a:off x="5416550" y="2352675"/>
            <a:ext cx="1198563" cy="369888"/>
          </a:xfrm>
          <a:prstGeom prst="ellipse">
            <a:avLst/>
          </a:prstGeom>
          <a:solidFill>
            <a:srgbClr val="B2B2B2"/>
          </a:solidFill>
          <a:ln w="12700">
            <a:noFill/>
            <a:round/>
            <a:headEnd/>
            <a:tailEnd/>
          </a:ln>
        </p:spPr>
        <p:txBody>
          <a:bodyPr wrap="none" anchor="ctr"/>
          <a:lstStyle/>
          <a:p>
            <a:endParaRPr lang="de-DE"/>
          </a:p>
        </p:txBody>
      </p:sp>
      <p:sp>
        <p:nvSpPr>
          <p:cNvPr id="20" name="Line 247"/>
          <p:cNvSpPr>
            <a:spLocks noChangeShapeType="1"/>
          </p:cNvSpPr>
          <p:nvPr/>
        </p:nvSpPr>
        <p:spPr bwMode="auto">
          <a:xfrm>
            <a:off x="5426075" y="2332038"/>
            <a:ext cx="0" cy="228600"/>
          </a:xfrm>
          <a:prstGeom prst="line">
            <a:avLst/>
          </a:prstGeom>
          <a:noFill/>
          <a:ln w="12700">
            <a:solidFill>
              <a:schemeClr val="tx1"/>
            </a:solidFill>
            <a:round/>
            <a:headEnd/>
            <a:tailEnd/>
          </a:ln>
        </p:spPr>
        <p:txBody>
          <a:bodyPr wrap="none" anchor="ctr"/>
          <a:lstStyle/>
          <a:p>
            <a:endParaRPr lang="de-DE"/>
          </a:p>
        </p:txBody>
      </p:sp>
      <p:sp>
        <p:nvSpPr>
          <p:cNvPr id="21" name="Rectangle 248"/>
          <p:cNvSpPr>
            <a:spLocks noChangeArrowheads="1"/>
          </p:cNvSpPr>
          <p:nvPr/>
        </p:nvSpPr>
        <p:spPr bwMode="auto">
          <a:xfrm>
            <a:off x="5426075" y="2293938"/>
            <a:ext cx="1198563" cy="263525"/>
          </a:xfrm>
          <a:prstGeom prst="rect">
            <a:avLst/>
          </a:prstGeom>
          <a:solidFill>
            <a:srgbClr val="B2B2B2"/>
          </a:solidFill>
          <a:ln w="12700">
            <a:noFill/>
            <a:miter lim="800000"/>
            <a:headEnd/>
            <a:tailEnd/>
          </a:ln>
        </p:spPr>
        <p:txBody>
          <a:bodyPr wrap="none" anchor="ctr"/>
          <a:lstStyle/>
          <a:p>
            <a:pPr algn="ctr"/>
            <a:endParaRPr lang="de-DE"/>
          </a:p>
        </p:txBody>
      </p:sp>
      <p:sp>
        <p:nvSpPr>
          <p:cNvPr id="22" name="Oval 249"/>
          <p:cNvSpPr>
            <a:spLocks noChangeArrowheads="1"/>
          </p:cNvSpPr>
          <p:nvPr/>
        </p:nvSpPr>
        <p:spPr bwMode="auto">
          <a:xfrm>
            <a:off x="5435600" y="2065338"/>
            <a:ext cx="1198563" cy="430212"/>
          </a:xfrm>
          <a:prstGeom prst="ellipse">
            <a:avLst/>
          </a:prstGeom>
          <a:solidFill>
            <a:srgbClr val="B2B2B2"/>
          </a:solidFill>
          <a:ln w="12700">
            <a:noFill/>
            <a:round/>
            <a:headEnd/>
            <a:tailEnd/>
          </a:ln>
        </p:spPr>
        <p:txBody>
          <a:bodyPr wrap="none" anchor="ctr"/>
          <a:lstStyle/>
          <a:p>
            <a:endParaRPr lang="de-DE"/>
          </a:p>
        </p:txBody>
      </p:sp>
      <p:graphicFrame>
        <p:nvGraphicFramePr>
          <p:cNvPr id="23" name="Object 274"/>
          <p:cNvGraphicFramePr>
            <a:graphicFrameLocks noChangeAspect="1"/>
          </p:cNvGraphicFramePr>
          <p:nvPr/>
        </p:nvGraphicFramePr>
        <p:xfrm>
          <a:off x="7004050" y="1546225"/>
          <a:ext cx="646113" cy="53340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3" name="Object 2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4050" y="1546225"/>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75"/>
          <p:cNvGraphicFramePr>
            <a:graphicFrameLocks noChangeAspect="1"/>
          </p:cNvGraphicFramePr>
          <p:nvPr/>
        </p:nvGraphicFramePr>
        <p:xfrm>
          <a:off x="965200" y="1565275"/>
          <a:ext cx="646113" cy="533400"/>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24" name="Object 2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5200" y="1565275"/>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Line 276"/>
          <p:cNvSpPr>
            <a:spLocks noChangeShapeType="1"/>
          </p:cNvSpPr>
          <p:nvPr/>
        </p:nvSpPr>
        <p:spPr bwMode="auto">
          <a:xfrm>
            <a:off x="1590675" y="1971675"/>
            <a:ext cx="504825" cy="0"/>
          </a:xfrm>
          <a:prstGeom prst="line">
            <a:avLst/>
          </a:prstGeom>
          <a:noFill/>
          <a:ln w="19050">
            <a:solidFill>
              <a:schemeClr val="tx1"/>
            </a:solidFill>
            <a:round/>
            <a:headEnd/>
            <a:tailEnd/>
          </a:ln>
        </p:spPr>
        <p:txBody>
          <a:bodyPr wrap="none" anchor="ctr"/>
          <a:lstStyle/>
          <a:p>
            <a:endParaRPr lang="de-DE"/>
          </a:p>
        </p:txBody>
      </p:sp>
      <p:sp>
        <p:nvSpPr>
          <p:cNvPr id="26" name="Line 277"/>
          <p:cNvSpPr>
            <a:spLocks noChangeShapeType="1"/>
          </p:cNvSpPr>
          <p:nvPr/>
        </p:nvSpPr>
        <p:spPr bwMode="auto">
          <a:xfrm flipV="1">
            <a:off x="1895475" y="2957513"/>
            <a:ext cx="195263" cy="4762"/>
          </a:xfrm>
          <a:prstGeom prst="line">
            <a:avLst/>
          </a:prstGeom>
          <a:noFill/>
          <a:ln w="19050">
            <a:solidFill>
              <a:schemeClr val="tx1"/>
            </a:solidFill>
            <a:round/>
            <a:headEnd/>
            <a:tailEnd/>
          </a:ln>
        </p:spPr>
        <p:txBody>
          <a:bodyPr wrap="none" anchor="ctr"/>
          <a:lstStyle/>
          <a:p>
            <a:endParaRPr lang="de-DE"/>
          </a:p>
        </p:txBody>
      </p:sp>
      <p:sp>
        <p:nvSpPr>
          <p:cNvPr id="27" name="Line 278"/>
          <p:cNvSpPr>
            <a:spLocks noChangeShapeType="1"/>
          </p:cNvSpPr>
          <p:nvPr/>
        </p:nvSpPr>
        <p:spPr bwMode="auto">
          <a:xfrm>
            <a:off x="3514725" y="2390775"/>
            <a:ext cx="1933575" cy="9525"/>
          </a:xfrm>
          <a:prstGeom prst="line">
            <a:avLst/>
          </a:prstGeom>
          <a:noFill/>
          <a:ln w="19050">
            <a:solidFill>
              <a:schemeClr val="tx1"/>
            </a:solidFill>
            <a:round/>
            <a:headEnd/>
            <a:tailEnd/>
          </a:ln>
        </p:spPr>
        <p:txBody>
          <a:bodyPr wrap="none" anchor="ctr"/>
          <a:lstStyle/>
          <a:p>
            <a:endParaRPr lang="de-DE"/>
          </a:p>
        </p:txBody>
      </p:sp>
      <p:sp>
        <p:nvSpPr>
          <p:cNvPr id="28" name="Line 279"/>
          <p:cNvSpPr>
            <a:spLocks noChangeShapeType="1"/>
          </p:cNvSpPr>
          <p:nvPr/>
        </p:nvSpPr>
        <p:spPr bwMode="auto">
          <a:xfrm flipV="1">
            <a:off x="5619750" y="2724150"/>
            <a:ext cx="142875" cy="657225"/>
          </a:xfrm>
          <a:prstGeom prst="line">
            <a:avLst/>
          </a:prstGeom>
          <a:noFill/>
          <a:ln w="19050">
            <a:solidFill>
              <a:schemeClr val="tx1"/>
            </a:solidFill>
            <a:round/>
            <a:headEnd/>
            <a:tailEnd/>
          </a:ln>
        </p:spPr>
        <p:txBody>
          <a:bodyPr wrap="none" anchor="ctr"/>
          <a:lstStyle/>
          <a:p>
            <a:endParaRPr lang="de-DE"/>
          </a:p>
        </p:txBody>
      </p:sp>
      <p:sp>
        <p:nvSpPr>
          <p:cNvPr id="29" name="Line 280"/>
          <p:cNvSpPr>
            <a:spLocks noChangeShapeType="1"/>
          </p:cNvSpPr>
          <p:nvPr/>
        </p:nvSpPr>
        <p:spPr bwMode="auto">
          <a:xfrm flipV="1">
            <a:off x="6591300" y="1952625"/>
            <a:ext cx="504825" cy="266700"/>
          </a:xfrm>
          <a:prstGeom prst="line">
            <a:avLst/>
          </a:prstGeom>
          <a:noFill/>
          <a:ln w="19050">
            <a:solidFill>
              <a:schemeClr val="tx1"/>
            </a:solidFill>
            <a:round/>
            <a:headEnd/>
            <a:tailEnd/>
          </a:ln>
        </p:spPr>
        <p:txBody>
          <a:bodyPr wrap="none" anchor="ctr"/>
          <a:lstStyle/>
          <a:p>
            <a:endParaRPr lang="de-DE"/>
          </a:p>
        </p:txBody>
      </p:sp>
      <p:sp>
        <p:nvSpPr>
          <p:cNvPr id="30" name="Line 284"/>
          <p:cNvSpPr>
            <a:spLocks noChangeShapeType="1"/>
          </p:cNvSpPr>
          <p:nvPr/>
        </p:nvSpPr>
        <p:spPr bwMode="auto">
          <a:xfrm flipH="1">
            <a:off x="2095500" y="1962150"/>
            <a:ext cx="0" cy="1000125"/>
          </a:xfrm>
          <a:prstGeom prst="line">
            <a:avLst/>
          </a:prstGeom>
          <a:noFill/>
          <a:ln w="19050">
            <a:solidFill>
              <a:schemeClr val="tx1"/>
            </a:solidFill>
            <a:round/>
            <a:headEnd/>
            <a:tailEnd/>
          </a:ln>
        </p:spPr>
        <p:txBody>
          <a:bodyPr wrap="none" anchor="ctr"/>
          <a:lstStyle/>
          <a:p>
            <a:endParaRPr lang="de-DE"/>
          </a:p>
        </p:txBody>
      </p:sp>
      <p:sp>
        <p:nvSpPr>
          <p:cNvPr id="31" name="Line 285"/>
          <p:cNvSpPr>
            <a:spLocks noChangeShapeType="1"/>
          </p:cNvSpPr>
          <p:nvPr/>
        </p:nvSpPr>
        <p:spPr bwMode="auto">
          <a:xfrm>
            <a:off x="2105025" y="2395538"/>
            <a:ext cx="200025" cy="0"/>
          </a:xfrm>
          <a:prstGeom prst="line">
            <a:avLst/>
          </a:prstGeom>
          <a:noFill/>
          <a:ln w="19050">
            <a:solidFill>
              <a:schemeClr val="tx1"/>
            </a:solidFill>
            <a:round/>
            <a:headEnd/>
            <a:tailEnd/>
          </a:ln>
        </p:spPr>
        <p:txBody>
          <a:bodyPr wrap="none" anchor="ctr"/>
          <a:lstStyle/>
          <a:p>
            <a:endParaRPr lang="de-DE"/>
          </a:p>
        </p:txBody>
      </p:sp>
      <p:sp>
        <p:nvSpPr>
          <p:cNvPr id="32" name="Rectangle 287"/>
          <p:cNvSpPr>
            <a:spLocks noChangeArrowheads="1"/>
          </p:cNvSpPr>
          <p:nvPr/>
        </p:nvSpPr>
        <p:spPr bwMode="auto">
          <a:xfrm>
            <a:off x="3548063" y="2185988"/>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33" name="Rectangle 288"/>
          <p:cNvSpPr>
            <a:spLocks noChangeArrowheads="1"/>
          </p:cNvSpPr>
          <p:nvPr/>
        </p:nvSpPr>
        <p:spPr bwMode="auto">
          <a:xfrm>
            <a:off x="3709988" y="2185988"/>
            <a:ext cx="147637"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4" name="Rectangle 289"/>
          <p:cNvSpPr>
            <a:spLocks noChangeArrowheads="1"/>
          </p:cNvSpPr>
          <p:nvPr/>
        </p:nvSpPr>
        <p:spPr bwMode="auto">
          <a:xfrm>
            <a:off x="3871913" y="2185988"/>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35" name="Rectangle 290"/>
          <p:cNvSpPr>
            <a:spLocks noChangeArrowheads="1"/>
          </p:cNvSpPr>
          <p:nvPr/>
        </p:nvSpPr>
        <p:spPr bwMode="auto">
          <a:xfrm>
            <a:off x="4033838" y="2185988"/>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36" name="Rectangle 291"/>
          <p:cNvSpPr>
            <a:spLocks noChangeArrowheads="1"/>
          </p:cNvSpPr>
          <p:nvPr/>
        </p:nvSpPr>
        <p:spPr bwMode="auto">
          <a:xfrm>
            <a:off x="4195763" y="2185988"/>
            <a:ext cx="147637"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7" name="Rectangle 292"/>
          <p:cNvSpPr>
            <a:spLocks noChangeArrowheads="1"/>
          </p:cNvSpPr>
          <p:nvPr/>
        </p:nvSpPr>
        <p:spPr bwMode="auto">
          <a:xfrm>
            <a:off x="4567238" y="2185988"/>
            <a:ext cx="147637"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8" name="Rectangle 293"/>
          <p:cNvSpPr>
            <a:spLocks noChangeArrowheads="1"/>
          </p:cNvSpPr>
          <p:nvPr/>
        </p:nvSpPr>
        <p:spPr bwMode="auto">
          <a:xfrm>
            <a:off x="5005388" y="2181225"/>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grpSp>
        <p:nvGrpSpPr>
          <p:cNvPr id="39" name="Group 311"/>
          <p:cNvGrpSpPr>
            <a:grpSpLocks/>
          </p:cNvGrpSpPr>
          <p:nvPr/>
        </p:nvGrpSpPr>
        <p:grpSpPr bwMode="auto">
          <a:xfrm>
            <a:off x="2857500" y="2262188"/>
            <a:ext cx="633413" cy="200025"/>
            <a:chOff x="1800" y="1425"/>
            <a:chExt cx="399" cy="126"/>
          </a:xfrm>
        </p:grpSpPr>
        <p:sp>
          <p:nvSpPr>
            <p:cNvPr id="40" name="Rectangle 294"/>
            <p:cNvSpPr>
              <a:spLocks noChangeArrowheads="1"/>
            </p:cNvSpPr>
            <p:nvPr/>
          </p:nvSpPr>
          <p:spPr bwMode="auto">
            <a:xfrm>
              <a:off x="1800" y="142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41" name="Rectangle 295"/>
            <p:cNvSpPr>
              <a:spLocks noChangeArrowheads="1"/>
            </p:cNvSpPr>
            <p:nvPr/>
          </p:nvSpPr>
          <p:spPr bwMode="auto">
            <a:xfrm>
              <a:off x="1902" y="1425"/>
              <a:ext cx="93" cy="12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42" name="Rectangle 296"/>
            <p:cNvSpPr>
              <a:spLocks noChangeArrowheads="1"/>
            </p:cNvSpPr>
            <p:nvPr/>
          </p:nvSpPr>
          <p:spPr bwMode="auto">
            <a:xfrm>
              <a:off x="2004" y="142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43" name="Rectangle 297"/>
            <p:cNvSpPr>
              <a:spLocks noChangeArrowheads="1"/>
            </p:cNvSpPr>
            <p:nvPr/>
          </p:nvSpPr>
          <p:spPr bwMode="auto">
            <a:xfrm>
              <a:off x="2106" y="142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grpSp>
      <p:sp>
        <p:nvSpPr>
          <p:cNvPr id="44" name="Rectangle 298"/>
          <p:cNvSpPr>
            <a:spLocks noChangeArrowheads="1"/>
          </p:cNvSpPr>
          <p:nvPr/>
        </p:nvSpPr>
        <p:spPr bwMode="auto">
          <a:xfrm>
            <a:off x="2128838" y="2162175"/>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45" name="Rectangle 299"/>
          <p:cNvSpPr>
            <a:spLocks noChangeArrowheads="1"/>
          </p:cNvSpPr>
          <p:nvPr/>
        </p:nvSpPr>
        <p:spPr bwMode="auto">
          <a:xfrm>
            <a:off x="1909763" y="2733675"/>
            <a:ext cx="147637"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46" name="Line 300"/>
          <p:cNvSpPr>
            <a:spLocks noChangeShapeType="1"/>
          </p:cNvSpPr>
          <p:nvPr/>
        </p:nvSpPr>
        <p:spPr bwMode="auto">
          <a:xfrm>
            <a:off x="2305050" y="2266950"/>
            <a:ext cx="242888" cy="4763"/>
          </a:xfrm>
          <a:prstGeom prst="line">
            <a:avLst/>
          </a:prstGeom>
          <a:noFill/>
          <a:ln w="9525">
            <a:solidFill>
              <a:schemeClr val="tx1"/>
            </a:solidFill>
            <a:round/>
            <a:headEnd/>
            <a:tailEnd type="triangle" w="med" len="med"/>
          </a:ln>
        </p:spPr>
        <p:txBody>
          <a:bodyPr wrap="none" anchor="ctr"/>
          <a:lstStyle/>
          <a:p>
            <a:endParaRPr lang="de-DE"/>
          </a:p>
        </p:txBody>
      </p:sp>
      <p:sp>
        <p:nvSpPr>
          <p:cNvPr id="47" name="Line 301"/>
          <p:cNvSpPr>
            <a:spLocks noChangeShapeType="1"/>
          </p:cNvSpPr>
          <p:nvPr/>
        </p:nvSpPr>
        <p:spPr bwMode="auto">
          <a:xfrm flipV="1">
            <a:off x="1971675" y="2543175"/>
            <a:ext cx="0" cy="176213"/>
          </a:xfrm>
          <a:prstGeom prst="line">
            <a:avLst/>
          </a:prstGeom>
          <a:noFill/>
          <a:ln w="9525">
            <a:solidFill>
              <a:schemeClr val="tx1"/>
            </a:solidFill>
            <a:round/>
            <a:headEnd/>
            <a:tailEnd type="triangle" w="med" len="med"/>
          </a:ln>
        </p:spPr>
        <p:txBody>
          <a:bodyPr wrap="none" anchor="ctr"/>
          <a:lstStyle/>
          <a:p>
            <a:endParaRPr lang="de-DE"/>
          </a:p>
        </p:txBody>
      </p:sp>
      <p:sp>
        <p:nvSpPr>
          <p:cNvPr id="48" name="Line 302"/>
          <p:cNvSpPr>
            <a:spLocks noChangeShapeType="1"/>
          </p:cNvSpPr>
          <p:nvPr/>
        </p:nvSpPr>
        <p:spPr bwMode="auto">
          <a:xfrm>
            <a:off x="3929063" y="2076450"/>
            <a:ext cx="1062037" cy="0"/>
          </a:xfrm>
          <a:prstGeom prst="line">
            <a:avLst/>
          </a:prstGeom>
          <a:noFill/>
          <a:ln w="9525">
            <a:solidFill>
              <a:schemeClr val="tx1"/>
            </a:solidFill>
            <a:round/>
            <a:headEnd/>
            <a:tailEnd type="triangle" w="med" len="med"/>
          </a:ln>
        </p:spPr>
        <p:txBody>
          <a:bodyPr wrap="none" anchor="ctr"/>
          <a:lstStyle/>
          <a:p>
            <a:endParaRPr lang="de-DE"/>
          </a:p>
        </p:txBody>
      </p:sp>
      <p:sp>
        <p:nvSpPr>
          <p:cNvPr id="49" name="Text Box 303"/>
          <p:cNvSpPr txBox="1">
            <a:spLocks noChangeArrowheads="1"/>
          </p:cNvSpPr>
          <p:nvPr/>
        </p:nvSpPr>
        <p:spPr bwMode="auto">
          <a:xfrm>
            <a:off x="612775" y="1589088"/>
            <a:ext cx="406400" cy="457200"/>
          </a:xfrm>
          <a:prstGeom prst="rect">
            <a:avLst/>
          </a:prstGeom>
          <a:noFill/>
          <a:ln w="9525">
            <a:noFill/>
            <a:miter lim="800000"/>
            <a:headEnd/>
            <a:tailEnd/>
          </a:ln>
        </p:spPr>
        <p:txBody>
          <a:bodyPr wrap="none">
            <a:spAutoFit/>
          </a:bodyPr>
          <a:lstStyle/>
          <a:p>
            <a:r>
              <a:rPr lang="en-US">
                <a:solidFill>
                  <a:schemeClr val="accent1"/>
                </a:solidFill>
                <a:latin typeface="Comic Sans MS" pitchFamily="66" charset="0"/>
              </a:rPr>
              <a:t>A</a:t>
            </a:r>
            <a:endParaRPr lang="en-US">
              <a:solidFill>
                <a:schemeClr val="accent1"/>
              </a:solidFill>
            </a:endParaRPr>
          </a:p>
        </p:txBody>
      </p:sp>
      <p:sp>
        <p:nvSpPr>
          <p:cNvPr id="50" name="Text Box 304"/>
          <p:cNvSpPr txBox="1">
            <a:spLocks noChangeArrowheads="1"/>
          </p:cNvSpPr>
          <p:nvPr/>
        </p:nvSpPr>
        <p:spPr bwMode="auto">
          <a:xfrm>
            <a:off x="889000" y="2608263"/>
            <a:ext cx="376238" cy="457200"/>
          </a:xfrm>
          <a:prstGeom prst="rect">
            <a:avLst/>
          </a:prstGeom>
          <a:noFill/>
          <a:ln w="9525">
            <a:noFill/>
            <a:miter lim="800000"/>
            <a:headEnd/>
            <a:tailEnd/>
          </a:ln>
        </p:spPr>
        <p:txBody>
          <a:bodyPr wrap="none">
            <a:spAutoFit/>
          </a:bodyPr>
          <a:lstStyle/>
          <a:p>
            <a:r>
              <a:rPr lang="en-US">
                <a:solidFill>
                  <a:schemeClr val="accent2"/>
                </a:solidFill>
                <a:latin typeface="Comic Sans MS" pitchFamily="66" charset="0"/>
              </a:rPr>
              <a:t>B</a:t>
            </a:r>
            <a:endParaRPr lang="en-US">
              <a:solidFill>
                <a:schemeClr val="accent1"/>
              </a:solidFill>
            </a:endParaRPr>
          </a:p>
        </p:txBody>
      </p:sp>
      <p:sp>
        <p:nvSpPr>
          <p:cNvPr id="51" name="Text Box 305"/>
          <p:cNvSpPr txBox="1">
            <a:spLocks noChangeArrowheads="1"/>
          </p:cNvSpPr>
          <p:nvPr/>
        </p:nvSpPr>
        <p:spPr bwMode="auto">
          <a:xfrm>
            <a:off x="6604000" y="1465263"/>
            <a:ext cx="351378" cy="369332"/>
          </a:xfrm>
          <a:prstGeom prst="rect">
            <a:avLst/>
          </a:prstGeom>
          <a:noFill/>
          <a:ln w="9525">
            <a:noFill/>
            <a:miter lim="800000"/>
            <a:headEnd/>
            <a:tailEnd/>
          </a:ln>
        </p:spPr>
        <p:txBody>
          <a:bodyPr wrap="none">
            <a:spAutoFit/>
          </a:bodyPr>
          <a:lstStyle/>
          <a:p>
            <a:r>
              <a:rPr lang="en-US" dirty="0"/>
              <a:t>C</a:t>
            </a:r>
            <a:endParaRPr lang="en-US" dirty="0">
              <a:solidFill>
                <a:schemeClr val="accent1"/>
              </a:solidFill>
            </a:endParaRPr>
          </a:p>
        </p:txBody>
      </p:sp>
      <p:sp>
        <p:nvSpPr>
          <p:cNvPr id="53" name="Text Box 309"/>
          <p:cNvSpPr txBox="1">
            <a:spLocks noChangeArrowheads="1"/>
          </p:cNvSpPr>
          <p:nvPr/>
        </p:nvSpPr>
        <p:spPr bwMode="auto">
          <a:xfrm>
            <a:off x="3756025" y="2427288"/>
            <a:ext cx="1165704" cy="400110"/>
          </a:xfrm>
          <a:prstGeom prst="rect">
            <a:avLst/>
          </a:prstGeom>
          <a:noFill/>
          <a:ln w="9525">
            <a:noFill/>
            <a:miter lim="800000"/>
            <a:headEnd/>
            <a:tailEnd/>
          </a:ln>
        </p:spPr>
        <p:txBody>
          <a:bodyPr wrap="none">
            <a:spAutoFit/>
          </a:bodyPr>
          <a:lstStyle/>
          <a:p>
            <a:r>
              <a:rPr lang="en-US" sz="2000" dirty="0"/>
              <a:t>1.5 Mb/s</a:t>
            </a:r>
            <a:endParaRPr lang="en-US" dirty="0">
              <a:solidFill>
                <a:schemeClr val="accent1"/>
              </a:solidFill>
            </a:endParaRPr>
          </a:p>
        </p:txBody>
      </p:sp>
      <p:sp>
        <p:nvSpPr>
          <p:cNvPr id="54" name="Text Box 310"/>
          <p:cNvSpPr txBox="1">
            <a:spLocks noChangeArrowheads="1"/>
          </p:cNvSpPr>
          <p:nvPr/>
        </p:nvSpPr>
        <p:spPr bwMode="auto">
          <a:xfrm>
            <a:off x="6022975" y="2994025"/>
            <a:ext cx="184150" cy="457200"/>
          </a:xfrm>
          <a:prstGeom prst="rect">
            <a:avLst/>
          </a:prstGeom>
          <a:noFill/>
          <a:ln w="9525">
            <a:noFill/>
            <a:miter lim="800000"/>
            <a:headEnd/>
            <a:tailEnd/>
          </a:ln>
        </p:spPr>
        <p:txBody>
          <a:bodyPr wrap="none">
            <a:spAutoFit/>
          </a:bodyPr>
          <a:lstStyle/>
          <a:p>
            <a:endParaRPr lang="de-DE">
              <a:solidFill>
                <a:schemeClr val="accent1"/>
              </a:solidFill>
            </a:endParaRPr>
          </a:p>
        </p:txBody>
      </p:sp>
      <p:sp>
        <p:nvSpPr>
          <p:cNvPr id="55" name="Rectangle 313"/>
          <p:cNvSpPr>
            <a:spLocks noChangeArrowheads="1"/>
          </p:cNvSpPr>
          <p:nvPr/>
        </p:nvSpPr>
        <p:spPr bwMode="auto">
          <a:xfrm>
            <a:off x="5467350" y="2205038"/>
            <a:ext cx="147638" cy="200025"/>
          </a:xfrm>
          <a:prstGeom prst="rect">
            <a:avLst/>
          </a:prstGeom>
          <a:noFill/>
          <a:ln w="9525">
            <a:solidFill>
              <a:schemeClr val="tx1"/>
            </a:solidFill>
            <a:miter lim="800000"/>
            <a:headEnd/>
            <a:tailEnd/>
          </a:ln>
        </p:spPr>
        <p:txBody>
          <a:bodyPr wrap="none" anchor="ctr"/>
          <a:lstStyle/>
          <a:p>
            <a:endParaRPr lang="de-DE"/>
          </a:p>
        </p:txBody>
      </p:sp>
      <p:sp>
        <p:nvSpPr>
          <p:cNvPr id="56" name="Rectangle 314"/>
          <p:cNvSpPr>
            <a:spLocks noChangeArrowheads="1"/>
          </p:cNvSpPr>
          <p:nvPr/>
        </p:nvSpPr>
        <p:spPr bwMode="auto">
          <a:xfrm>
            <a:off x="5629275" y="2205038"/>
            <a:ext cx="147638" cy="200025"/>
          </a:xfrm>
          <a:prstGeom prst="rect">
            <a:avLst/>
          </a:prstGeom>
          <a:noFill/>
          <a:ln w="9525">
            <a:solidFill>
              <a:schemeClr val="tx1"/>
            </a:solidFill>
            <a:miter lim="800000"/>
            <a:headEnd/>
            <a:tailEnd/>
          </a:ln>
        </p:spPr>
        <p:txBody>
          <a:bodyPr wrap="none" anchor="ctr"/>
          <a:lstStyle/>
          <a:p>
            <a:endParaRPr lang="de-DE"/>
          </a:p>
        </p:txBody>
      </p:sp>
      <p:sp>
        <p:nvSpPr>
          <p:cNvPr id="57" name="Rectangle 315"/>
          <p:cNvSpPr>
            <a:spLocks noChangeArrowheads="1"/>
          </p:cNvSpPr>
          <p:nvPr/>
        </p:nvSpPr>
        <p:spPr bwMode="auto">
          <a:xfrm>
            <a:off x="5791200" y="2205038"/>
            <a:ext cx="147638" cy="200025"/>
          </a:xfrm>
          <a:prstGeom prst="rect">
            <a:avLst/>
          </a:prstGeom>
          <a:noFill/>
          <a:ln w="9525">
            <a:solidFill>
              <a:schemeClr val="tx1"/>
            </a:solidFill>
            <a:miter lim="800000"/>
            <a:headEnd/>
            <a:tailEnd/>
          </a:ln>
        </p:spPr>
        <p:txBody>
          <a:bodyPr wrap="none" anchor="ctr"/>
          <a:lstStyle/>
          <a:p>
            <a:endParaRPr lang="de-DE"/>
          </a:p>
        </p:txBody>
      </p:sp>
      <p:grpSp>
        <p:nvGrpSpPr>
          <p:cNvPr id="58" name="Group 319"/>
          <p:cNvGrpSpPr>
            <a:grpSpLocks/>
          </p:cNvGrpSpPr>
          <p:nvPr/>
        </p:nvGrpSpPr>
        <p:grpSpPr bwMode="auto">
          <a:xfrm rot="-1962567">
            <a:off x="5715000" y="2424113"/>
            <a:ext cx="633413" cy="200025"/>
            <a:chOff x="4176" y="2211"/>
            <a:chExt cx="399" cy="126"/>
          </a:xfrm>
        </p:grpSpPr>
        <p:sp>
          <p:nvSpPr>
            <p:cNvPr id="59" name="Rectangle 320"/>
            <p:cNvSpPr>
              <a:spLocks noChangeArrowheads="1"/>
            </p:cNvSpPr>
            <p:nvPr/>
          </p:nvSpPr>
          <p:spPr bwMode="auto">
            <a:xfrm>
              <a:off x="4176" y="2211"/>
              <a:ext cx="93" cy="126"/>
            </a:xfrm>
            <a:prstGeom prst="rect">
              <a:avLst/>
            </a:prstGeom>
            <a:noFill/>
            <a:ln w="9525">
              <a:solidFill>
                <a:schemeClr val="tx1"/>
              </a:solidFill>
              <a:miter lim="800000"/>
              <a:headEnd/>
              <a:tailEnd/>
            </a:ln>
          </p:spPr>
          <p:txBody>
            <a:bodyPr wrap="none" anchor="ctr"/>
            <a:lstStyle/>
            <a:p>
              <a:endParaRPr lang="de-DE"/>
            </a:p>
          </p:txBody>
        </p:sp>
        <p:sp>
          <p:nvSpPr>
            <p:cNvPr id="60" name="Rectangle 321"/>
            <p:cNvSpPr>
              <a:spLocks noChangeArrowheads="1"/>
            </p:cNvSpPr>
            <p:nvPr/>
          </p:nvSpPr>
          <p:spPr bwMode="auto">
            <a:xfrm>
              <a:off x="4278" y="2211"/>
              <a:ext cx="93" cy="126"/>
            </a:xfrm>
            <a:prstGeom prst="rect">
              <a:avLst/>
            </a:prstGeom>
            <a:noFill/>
            <a:ln w="9525">
              <a:solidFill>
                <a:schemeClr val="tx1"/>
              </a:solidFill>
              <a:miter lim="800000"/>
              <a:headEnd/>
              <a:tailEnd/>
            </a:ln>
          </p:spPr>
          <p:txBody>
            <a:bodyPr wrap="none" anchor="ctr"/>
            <a:lstStyle/>
            <a:p>
              <a:endParaRPr lang="de-DE"/>
            </a:p>
          </p:txBody>
        </p:sp>
        <p:sp>
          <p:nvSpPr>
            <p:cNvPr id="61" name="Rectangle 322"/>
            <p:cNvSpPr>
              <a:spLocks noChangeArrowheads="1"/>
            </p:cNvSpPr>
            <p:nvPr/>
          </p:nvSpPr>
          <p:spPr bwMode="auto">
            <a:xfrm>
              <a:off x="4380" y="2211"/>
              <a:ext cx="93" cy="126"/>
            </a:xfrm>
            <a:prstGeom prst="rect">
              <a:avLst/>
            </a:prstGeom>
            <a:noFill/>
            <a:ln w="9525">
              <a:solidFill>
                <a:schemeClr val="tx1"/>
              </a:solidFill>
              <a:miter lim="800000"/>
              <a:headEnd/>
              <a:tailEnd/>
            </a:ln>
          </p:spPr>
          <p:txBody>
            <a:bodyPr wrap="none" anchor="ctr"/>
            <a:lstStyle/>
            <a:p>
              <a:endParaRPr lang="de-DE"/>
            </a:p>
          </p:txBody>
        </p:sp>
        <p:sp>
          <p:nvSpPr>
            <p:cNvPr id="62" name="Rectangle 323"/>
            <p:cNvSpPr>
              <a:spLocks noChangeArrowheads="1"/>
            </p:cNvSpPr>
            <p:nvPr/>
          </p:nvSpPr>
          <p:spPr bwMode="auto">
            <a:xfrm>
              <a:off x="4482" y="2211"/>
              <a:ext cx="93" cy="126"/>
            </a:xfrm>
            <a:prstGeom prst="rect">
              <a:avLst/>
            </a:prstGeom>
            <a:noFill/>
            <a:ln w="9525">
              <a:solidFill>
                <a:schemeClr val="tx1"/>
              </a:solidFill>
              <a:miter lim="800000"/>
              <a:headEnd/>
              <a:tailEnd/>
            </a:ln>
          </p:spPr>
          <p:txBody>
            <a:bodyPr wrap="none" anchor="ctr"/>
            <a:lstStyle/>
            <a:p>
              <a:endParaRPr lang="de-DE"/>
            </a:p>
          </p:txBody>
        </p:sp>
      </p:grpSp>
      <p:grpSp>
        <p:nvGrpSpPr>
          <p:cNvPr id="63" name="Group 331"/>
          <p:cNvGrpSpPr>
            <a:grpSpLocks/>
          </p:cNvGrpSpPr>
          <p:nvPr/>
        </p:nvGrpSpPr>
        <p:grpSpPr bwMode="auto">
          <a:xfrm>
            <a:off x="3679825" y="3341688"/>
            <a:ext cx="3081338" cy="1471612"/>
            <a:chOff x="1646" y="2009"/>
            <a:chExt cx="1941" cy="927"/>
          </a:xfrm>
        </p:grpSpPr>
        <p:graphicFrame>
          <p:nvGraphicFramePr>
            <p:cNvPr id="64" name="Object 11"/>
            <p:cNvGraphicFramePr>
              <a:graphicFrameLocks noChangeAspect="1"/>
            </p:cNvGraphicFramePr>
            <p:nvPr/>
          </p:nvGraphicFramePr>
          <p:xfrm>
            <a:off x="2960" y="2600"/>
            <a:ext cx="407" cy="336"/>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64"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0" y="2600"/>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5" name="Group 259"/>
            <p:cNvGrpSpPr>
              <a:grpSpLocks/>
            </p:cNvGrpSpPr>
            <p:nvPr/>
          </p:nvGrpSpPr>
          <p:grpSpPr bwMode="auto">
            <a:xfrm>
              <a:off x="2428" y="2009"/>
              <a:ext cx="761" cy="420"/>
              <a:chOff x="1462" y="1283"/>
              <a:chExt cx="761" cy="420"/>
            </a:xfrm>
          </p:grpSpPr>
          <p:sp>
            <p:nvSpPr>
              <p:cNvPr id="76" name="Oval 260"/>
              <p:cNvSpPr>
                <a:spLocks noChangeArrowheads="1"/>
              </p:cNvSpPr>
              <p:nvPr/>
            </p:nvSpPr>
            <p:spPr bwMode="auto">
              <a:xfrm>
                <a:off x="1462" y="1470"/>
                <a:ext cx="755" cy="233"/>
              </a:xfrm>
              <a:prstGeom prst="ellipse">
                <a:avLst/>
              </a:prstGeom>
              <a:solidFill>
                <a:srgbClr val="B2B2B2"/>
              </a:solidFill>
              <a:ln w="12700">
                <a:noFill/>
                <a:round/>
                <a:headEnd/>
                <a:tailEnd/>
              </a:ln>
            </p:spPr>
            <p:txBody>
              <a:bodyPr wrap="none" anchor="ctr"/>
              <a:lstStyle/>
              <a:p>
                <a:endParaRPr lang="de-DE"/>
              </a:p>
            </p:txBody>
          </p:sp>
          <p:sp>
            <p:nvSpPr>
              <p:cNvPr id="77" name="Line 261"/>
              <p:cNvSpPr>
                <a:spLocks noChangeShapeType="1"/>
              </p:cNvSpPr>
              <p:nvPr/>
            </p:nvSpPr>
            <p:spPr bwMode="auto">
              <a:xfrm>
                <a:off x="1462" y="1451"/>
                <a:ext cx="0" cy="144"/>
              </a:xfrm>
              <a:prstGeom prst="line">
                <a:avLst/>
              </a:prstGeom>
              <a:noFill/>
              <a:ln w="12700">
                <a:solidFill>
                  <a:schemeClr val="tx1"/>
                </a:solidFill>
                <a:round/>
                <a:headEnd/>
                <a:tailEnd/>
              </a:ln>
            </p:spPr>
            <p:txBody>
              <a:bodyPr wrap="none" anchor="ctr"/>
              <a:lstStyle/>
              <a:p>
                <a:endParaRPr lang="de-DE"/>
              </a:p>
            </p:txBody>
          </p:sp>
          <p:sp>
            <p:nvSpPr>
              <p:cNvPr id="78" name="Rectangle 262"/>
              <p:cNvSpPr>
                <a:spLocks noChangeArrowheads="1"/>
              </p:cNvSpPr>
              <p:nvPr/>
            </p:nvSpPr>
            <p:spPr bwMode="auto">
              <a:xfrm>
                <a:off x="1462" y="1427"/>
                <a:ext cx="755" cy="166"/>
              </a:xfrm>
              <a:prstGeom prst="rect">
                <a:avLst/>
              </a:prstGeom>
              <a:solidFill>
                <a:srgbClr val="B2B2B2"/>
              </a:solidFill>
              <a:ln w="12700">
                <a:noFill/>
                <a:miter lim="800000"/>
                <a:headEnd/>
                <a:tailEnd/>
              </a:ln>
            </p:spPr>
            <p:txBody>
              <a:bodyPr wrap="none" anchor="ctr"/>
              <a:lstStyle/>
              <a:p>
                <a:pPr algn="ctr"/>
                <a:endParaRPr lang="de-DE"/>
              </a:p>
            </p:txBody>
          </p:sp>
          <p:sp>
            <p:nvSpPr>
              <p:cNvPr id="79" name="Oval 263"/>
              <p:cNvSpPr>
                <a:spLocks noChangeArrowheads="1"/>
              </p:cNvSpPr>
              <p:nvPr/>
            </p:nvSpPr>
            <p:spPr bwMode="auto">
              <a:xfrm>
                <a:off x="1468" y="1283"/>
                <a:ext cx="755" cy="271"/>
              </a:xfrm>
              <a:prstGeom prst="ellipse">
                <a:avLst/>
              </a:prstGeom>
              <a:solidFill>
                <a:srgbClr val="B2B2B2"/>
              </a:solidFill>
              <a:ln w="12700">
                <a:noFill/>
                <a:round/>
                <a:headEnd/>
                <a:tailEnd/>
              </a:ln>
            </p:spPr>
            <p:txBody>
              <a:bodyPr wrap="none" anchor="ctr"/>
              <a:lstStyle/>
              <a:p>
                <a:endParaRPr lang="de-DE"/>
              </a:p>
            </p:txBody>
          </p:sp>
        </p:grpSp>
        <p:graphicFrame>
          <p:nvGraphicFramePr>
            <p:cNvPr id="66" name="Object 273"/>
            <p:cNvGraphicFramePr>
              <a:graphicFrameLocks noChangeAspect="1"/>
            </p:cNvGraphicFramePr>
            <p:nvPr/>
          </p:nvGraphicFramePr>
          <p:xfrm>
            <a:off x="1874" y="2546"/>
            <a:ext cx="407" cy="336"/>
          </p:xfrm>
          <a:graphic>
            <a:graphicData uri="http://schemas.openxmlformats.org/presentationml/2006/ole">
              <mc:AlternateContent xmlns:mc="http://schemas.openxmlformats.org/markup-compatibility/2006">
                <mc:Choice xmlns:v="urn:schemas-microsoft-com:vml" Requires="v">
                  <p:oleObj name="Clip" r:id="rId8" imgW="1307263" imgH="1084139" progId="">
                    <p:embed/>
                  </p:oleObj>
                </mc:Choice>
                <mc:Fallback>
                  <p:oleObj name="Clip" r:id="rId8" imgW="1307263" imgH="1084139" progId="">
                    <p:embed/>
                    <p:pic>
                      <p:nvPicPr>
                        <p:cNvPr id="66" name="Object 2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4" y="2546"/>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Line 281"/>
            <p:cNvSpPr>
              <a:spLocks noChangeShapeType="1"/>
            </p:cNvSpPr>
            <p:nvPr/>
          </p:nvSpPr>
          <p:spPr bwMode="auto">
            <a:xfrm flipV="1">
              <a:off x="2214" y="2370"/>
              <a:ext cx="294" cy="252"/>
            </a:xfrm>
            <a:prstGeom prst="line">
              <a:avLst/>
            </a:prstGeom>
            <a:noFill/>
            <a:ln w="19050">
              <a:solidFill>
                <a:schemeClr val="tx1"/>
              </a:solidFill>
              <a:round/>
              <a:headEnd/>
              <a:tailEnd/>
            </a:ln>
          </p:spPr>
          <p:txBody>
            <a:bodyPr wrap="none" anchor="ctr"/>
            <a:lstStyle/>
            <a:p>
              <a:endParaRPr lang="de-DE"/>
            </a:p>
          </p:txBody>
        </p:sp>
        <p:sp>
          <p:nvSpPr>
            <p:cNvPr id="68" name="Line 283"/>
            <p:cNvSpPr>
              <a:spLocks noChangeShapeType="1"/>
            </p:cNvSpPr>
            <p:nvPr/>
          </p:nvSpPr>
          <p:spPr bwMode="auto">
            <a:xfrm flipH="1" flipV="1">
              <a:off x="2964" y="2406"/>
              <a:ext cx="210" cy="192"/>
            </a:xfrm>
            <a:prstGeom prst="line">
              <a:avLst/>
            </a:prstGeom>
            <a:noFill/>
            <a:ln w="19050">
              <a:solidFill>
                <a:schemeClr val="tx1"/>
              </a:solidFill>
              <a:round/>
              <a:headEnd/>
              <a:tailEnd/>
            </a:ln>
          </p:spPr>
          <p:txBody>
            <a:bodyPr wrap="none" anchor="ctr"/>
            <a:lstStyle/>
            <a:p>
              <a:endParaRPr lang="de-DE"/>
            </a:p>
          </p:txBody>
        </p:sp>
        <p:sp>
          <p:nvSpPr>
            <p:cNvPr id="69" name="Text Box 306"/>
            <p:cNvSpPr txBox="1">
              <a:spLocks noChangeArrowheads="1"/>
            </p:cNvSpPr>
            <p:nvPr/>
          </p:nvSpPr>
          <p:spPr bwMode="auto">
            <a:xfrm>
              <a:off x="1646" y="2549"/>
              <a:ext cx="221" cy="233"/>
            </a:xfrm>
            <a:prstGeom prst="rect">
              <a:avLst/>
            </a:prstGeom>
            <a:noFill/>
            <a:ln w="9525">
              <a:noFill/>
              <a:miter lim="800000"/>
              <a:headEnd/>
              <a:tailEnd/>
            </a:ln>
          </p:spPr>
          <p:txBody>
            <a:bodyPr wrap="none">
              <a:spAutoFit/>
            </a:bodyPr>
            <a:lstStyle/>
            <a:p>
              <a:r>
                <a:rPr lang="en-US"/>
                <a:t>D</a:t>
              </a:r>
              <a:endParaRPr lang="en-US">
                <a:solidFill>
                  <a:schemeClr val="accent1"/>
                </a:solidFill>
              </a:endParaRPr>
            </a:p>
          </p:txBody>
        </p:sp>
        <p:sp>
          <p:nvSpPr>
            <p:cNvPr id="70" name="Text Box 307"/>
            <p:cNvSpPr txBox="1">
              <a:spLocks noChangeArrowheads="1"/>
            </p:cNvSpPr>
            <p:nvPr/>
          </p:nvSpPr>
          <p:spPr bwMode="auto">
            <a:xfrm>
              <a:off x="3374" y="2591"/>
              <a:ext cx="213" cy="233"/>
            </a:xfrm>
            <a:prstGeom prst="rect">
              <a:avLst/>
            </a:prstGeom>
            <a:noFill/>
            <a:ln w="9525">
              <a:noFill/>
              <a:miter lim="800000"/>
              <a:headEnd/>
              <a:tailEnd/>
            </a:ln>
          </p:spPr>
          <p:txBody>
            <a:bodyPr wrap="none">
              <a:spAutoFit/>
            </a:bodyPr>
            <a:lstStyle/>
            <a:p>
              <a:r>
                <a:rPr lang="en-US"/>
                <a:t>E</a:t>
              </a:r>
              <a:endParaRPr lang="en-US">
                <a:solidFill>
                  <a:schemeClr val="accent1"/>
                </a:solidFill>
              </a:endParaRPr>
            </a:p>
          </p:txBody>
        </p:sp>
        <p:grpSp>
          <p:nvGrpSpPr>
            <p:cNvPr id="71" name="Group 324"/>
            <p:cNvGrpSpPr>
              <a:grpSpLocks/>
            </p:cNvGrpSpPr>
            <p:nvPr/>
          </p:nvGrpSpPr>
          <p:grpSpPr bwMode="auto">
            <a:xfrm rot="-2018696">
              <a:off x="2734" y="2141"/>
              <a:ext cx="399" cy="126"/>
              <a:chOff x="4176" y="2211"/>
              <a:chExt cx="399" cy="126"/>
            </a:xfrm>
          </p:grpSpPr>
          <p:sp>
            <p:nvSpPr>
              <p:cNvPr id="72" name="Rectangle 325"/>
              <p:cNvSpPr>
                <a:spLocks noChangeArrowheads="1"/>
              </p:cNvSpPr>
              <p:nvPr/>
            </p:nvSpPr>
            <p:spPr bwMode="auto">
              <a:xfrm>
                <a:off x="4176" y="2211"/>
                <a:ext cx="93" cy="126"/>
              </a:xfrm>
              <a:prstGeom prst="rect">
                <a:avLst/>
              </a:prstGeom>
              <a:noFill/>
              <a:ln w="9525">
                <a:solidFill>
                  <a:schemeClr val="tx1"/>
                </a:solidFill>
                <a:miter lim="800000"/>
                <a:headEnd/>
                <a:tailEnd/>
              </a:ln>
            </p:spPr>
            <p:txBody>
              <a:bodyPr wrap="none" anchor="ctr"/>
              <a:lstStyle/>
              <a:p>
                <a:endParaRPr lang="de-DE"/>
              </a:p>
            </p:txBody>
          </p:sp>
          <p:sp>
            <p:nvSpPr>
              <p:cNvPr id="73" name="Rectangle 326"/>
              <p:cNvSpPr>
                <a:spLocks noChangeArrowheads="1"/>
              </p:cNvSpPr>
              <p:nvPr/>
            </p:nvSpPr>
            <p:spPr bwMode="auto">
              <a:xfrm>
                <a:off x="4278" y="2211"/>
                <a:ext cx="93" cy="126"/>
              </a:xfrm>
              <a:prstGeom prst="rect">
                <a:avLst/>
              </a:prstGeom>
              <a:noFill/>
              <a:ln w="9525">
                <a:solidFill>
                  <a:schemeClr val="tx1"/>
                </a:solidFill>
                <a:miter lim="800000"/>
                <a:headEnd/>
                <a:tailEnd/>
              </a:ln>
            </p:spPr>
            <p:txBody>
              <a:bodyPr wrap="none" anchor="ctr"/>
              <a:lstStyle/>
              <a:p>
                <a:endParaRPr lang="de-DE"/>
              </a:p>
            </p:txBody>
          </p:sp>
          <p:sp>
            <p:nvSpPr>
              <p:cNvPr id="74" name="Rectangle 327"/>
              <p:cNvSpPr>
                <a:spLocks noChangeArrowheads="1"/>
              </p:cNvSpPr>
              <p:nvPr/>
            </p:nvSpPr>
            <p:spPr bwMode="auto">
              <a:xfrm>
                <a:off x="4380" y="2211"/>
                <a:ext cx="93" cy="126"/>
              </a:xfrm>
              <a:prstGeom prst="rect">
                <a:avLst/>
              </a:prstGeom>
              <a:noFill/>
              <a:ln w="9525">
                <a:solidFill>
                  <a:schemeClr val="tx1"/>
                </a:solidFill>
                <a:miter lim="800000"/>
                <a:headEnd/>
                <a:tailEnd/>
              </a:ln>
            </p:spPr>
            <p:txBody>
              <a:bodyPr wrap="none" anchor="ctr"/>
              <a:lstStyle/>
              <a:p>
                <a:endParaRPr lang="de-DE"/>
              </a:p>
            </p:txBody>
          </p:sp>
          <p:sp>
            <p:nvSpPr>
              <p:cNvPr id="75" name="Rectangle 328"/>
              <p:cNvSpPr>
                <a:spLocks noChangeArrowheads="1"/>
              </p:cNvSpPr>
              <p:nvPr/>
            </p:nvSpPr>
            <p:spPr bwMode="auto">
              <a:xfrm>
                <a:off x="4482" y="2211"/>
                <a:ext cx="93" cy="126"/>
              </a:xfrm>
              <a:prstGeom prst="rect">
                <a:avLst/>
              </a:prstGeom>
              <a:noFill/>
              <a:ln w="9525">
                <a:solidFill>
                  <a:schemeClr val="tx1"/>
                </a:solidFill>
                <a:miter lim="800000"/>
                <a:headEnd/>
                <a:tailEnd/>
              </a:ln>
            </p:spPr>
            <p:txBody>
              <a:bodyPr wrap="none" anchor="ctr"/>
              <a:lstStyle/>
              <a:p>
                <a:endParaRPr lang="de-DE"/>
              </a:p>
            </p:txBody>
          </p:sp>
        </p:grpSp>
      </p:grpSp>
      <p:sp>
        <p:nvSpPr>
          <p:cNvPr id="89" name="Text Box 329"/>
          <p:cNvSpPr txBox="1">
            <a:spLocks noChangeArrowheads="1"/>
          </p:cNvSpPr>
          <p:nvPr/>
        </p:nvSpPr>
        <p:spPr bwMode="auto">
          <a:xfrm>
            <a:off x="3131840" y="1628800"/>
            <a:ext cx="3191899" cy="400110"/>
          </a:xfrm>
          <a:prstGeom prst="rect">
            <a:avLst/>
          </a:prstGeom>
          <a:noFill/>
          <a:ln w="9525">
            <a:noFill/>
            <a:miter lim="800000"/>
            <a:headEnd/>
            <a:tailEnd/>
          </a:ln>
        </p:spPr>
        <p:txBody>
          <a:bodyPr wrap="none">
            <a:spAutoFit/>
          </a:bodyPr>
          <a:lstStyle/>
          <a:p>
            <a:r>
              <a:rPr lang="de-DE" sz="2000" b="1" dirty="0">
                <a:solidFill>
                  <a:srgbClr val="FF0000"/>
                </a:solidFill>
              </a:rPr>
              <a:t>Statistisches </a:t>
            </a:r>
            <a:r>
              <a:rPr lang="de-DE" sz="2000" dirty="0"/>
              <a:t>Multiplexing</a:t>
            </a:r>
            <a:endParaRPr lang="en-US" dirty="0">
              <a:solidFill>
                <a:schemeClr val="accent1"/>
              </a:solidFill>
            </a:endParaRPr>
          </a:p>
        </p:txBody>
      </p:sp>
      <p:sp>
        <p:nvSpPr>
          <p:cNvPr id="90" name="Text Box 330"/>
          <p:cNvSpPr txBox="1">
            <a:spLocks noChangeArrowheads="1"/>
          </p:cNvSpPr>
          <p:nvPr/>
        </p:nvSpPr>
        <p:spPr bwMode="auto">
          <a:xfrm>
            <a:off x="1979712" y="2996952"/>
            <a:ext cx="2376263" cy="1323439"/>
          </a:xfrm>
          <a:prstGeom prst="rect">
            <a:avLst/>
          </a:prstGeom>
          <a:noFill/>
          <a:ln w="9525">
            <a:noFill/>
            <a:miter lim="800000"/>
            <a:headEnd/>
            <a:tailEnd/>
          </a:ln>
        </p:spPr>
        <p:txBody>
          <a:bodyPr wrap="square">
            <a:spAutoFit/>
          </a:bodyPr>
          <a:lstStyle/>
          <a:p>
            <a:pPr algn="ctr"/>
            <a:r>
              <a:rPr lang="de-DE" sz="1600" dirty="0"/>
              <a:t>Pakete warten in einem Ausgangspuffer, bis sie gesendet werden können </a:t>
            </a:r>
          </a:p>
          <a:p>
            <a:pPr algn="ctr"/>
            <a:endParaRPr lang="en-US" sz="1600" dirty="0">
              <a:solidFill>
                <a:schemeClr val="accent1"/>
              </a:solidFill>
            </a:endParaRPr>
          </a:p>
        </p:txBody>
      </p:sp>
      <p:sp>
        <p:nvSpPr>
          <p:cNvPr id="91" name="Line 332"/>
          <p:cNvSpPr>
            <a:spLocks noChangeShapeType="1"/>
          </p:cNvSpPr>
          <p:nvPr/>
        </p:nvSpPr>
        <p:spPr bwMode="auto">
          <a:xfrm flipH="1" flipV="1">
            <a:off x="3057525" y="2514599"/>
            <a:ext cx="218331" cy="554360"/>
          </a:xfrm>
          <a:prstGeom prst="line">
            <a:avLst/>
          </a:prstGeom>
          <a:noFill/>
          <a:ln w="9525">
            <a:solidFill>
              <a:schemeClr val="tx1"/>
            </a:solidFill>
            <a:round/>
            <a:headEnd/>
            <a:tailEnd type="triangle" w="med" len="med"/>
          </a:ln>
        </p:spPr>
        <p:txBody>
          <a:bodyPr wrap="none" anchor="ctr"/>
          <a:lstStyle/>
          <a:p>
            <a:endParaRPr lang="de-DE"/>
          </a:p>
        </p:txBody>
      </p:sp>
      <p:grpSp>
        <p:nvGrpSpPr>
          <p:cNvPr id="92" name="Gruppieren 91"/>
          <p:cNvGrpSpPr/>
          <p:nvPr/>
        </p:nvGrpSpPr>
        <p:grpSpPr>
          <a:xfrm>
            <a:off x="2771800" y="2132856"/>
            <a:ext cx="281944" cy="88305"/>
            <a:chOff x="6378288" y="2764631"/>
            <a:chExt cx="686598" cy="143951"/>
          </a:xfrm>
        </p:grpSpPr>
        <p:sp>
          <p:nvSpPr>
            <p:cNvPr id="93" name="Freihandform 92"/>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94" name="Freihandform 93"/>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pSp>
        <p:nvGrpSpPr>
          <p:cNvPr id="95" name="Gruppieren 94"/>
          <p:cNvGrpSpPr/>
          <p:nvPr/>
        </p:nvGrpSpPr>
        <p:grpSpPr>
          <a:xfrm>
            <a:off x="6012160" y="2132856"/>
            <a:ext cx="281944" cy="88305"/>
            <a:chOff x="6378288" y="2764631"/>
            <a:chExt cx="686598" cy="143951"/>
          </a:xfrm>
        </p:grpSpPr>
        <p:sp>
          <p:nvSpPr>
            <p:cNvPr id="96" name="Freihandform 95"/>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97" name="Freihandform 96"/>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pSp>
        <p:nvGrpSpPr>
          <p:cNvPr id="98" name="Gruppieren 97"/>
          <p:cNvGrpSpPr/>
          <p:nvPr/>
        </p:nvGrpSpPr>
        <p:grpSpPr>
          <a:xfrm>
            <a:off x="5436096" y="3429000"/>
            <a:ext cx="281944" cy="88305"/>
            <a:chOff x="6378288" y="2764631"/>
            <a:chExt cx="686598" cy="143951"/>
          </a:xfrm>
        </p:grpSpPr>
        <p:sp>
          <p:nvSpPr>
            <p:cNvPr id="99" name="Freihandform 98"/>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00" name="Freihandform 99"/>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cxnSp>
        <p:nvCxnSpPr>
          <p:cNvPr id="102" name="Gerade Verbindung mit Pfeil 101"/>
          <p:cNvCxnSpPr>
            <a:stCxn id="52" idx="2"/>
            <a:endCxn id="44" idx="0"/>
          </p:cNvCxnSpPr>
          <p:nvPr/>
        </p:nvCxnSpPr>
        <p:spPr>
          <a:xfrm rot="5400000">
            <a:off x="1972247" y="1881827"/>
            <a:ext cx="510758" cy="49938"/>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03" name="Text Box 308"/>
          <p:cNvSpPr txBox="1">
            <a:spLocks noChangeArrowheads="1"/>
          </p:cNvSpPr>
          <p:nvPr/>
        </p:nvSpPr>
        <p:spPr bwMode="auto">
          <a:xfrm>
            <a:off x="467544" y="3284984"/>
            <a:ext cx="1279389" cy="338554"/>
          </a:xfrm>
          <a:prstGeom prst="rect">
            <a:avLst/>
          </a:prstGeom>
          <a:noFill/>
          <a:ln w="6350">
            <a:solidFill>
              <a:schemeClr val="tx1"/>
            </a:solidFill>
            <a:miter lim="800000"/>
            <a:headEnd/>
            <a:tailEnd/>
          </a:ln>
        </p:spPr>
        <p:txBody>
          <a:bodyPr wrap="square">
            <a:spAutoFit/>
          </a:bodyPr>
          <a:lstStyle/>
          <a:p>
            <a:r>
              <a:rPr lang="de-DE" sz="1600"/>
              <a:t>Paket von B</a:t>
            </a:r>
          </a:p>
        </p:txBody>
      </p:sp>
      <p:cxnSp>
        <p:nvCxnSpPr>
          <p:cNvPr id="104" name="Gerade Verbindung mit Pfeil 103"/>
          <p:cNvCxnSpPr>
            <a:stCxn id="103" idx="0"/>
            <a:endCxn id="45" idx="2"/>
          </p:cNvCxnSpPr>
          <p:nvPr/>
        </p:nvCxnSpPr>
        <p:spPr>
          <a:xfrm rot="5400000" flipH="1" flipV="1">
            <a:off x="1369768" y="2671171"/>
            <a:ext cx="351284" cy="876343"/>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Mehr Nutzer bei PV - Beispiel</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22</a:t>
            </a:fld>
            <a:endParaRPr lang="en-US" noProof="0" dirty="0"/>
          </a:p>
        </p:txBody>
      </p:sp>
      <p:sp>
        <p:nvSpPr>
          <p:cNvPr id="5" name="Inhaltsplatzhalter 4"/>
          <p:cNvSpPr>
            <a:spLocks noGrp="1"/>
          </p:cNvSpPr>
          <p:nvPr>
            <p:ph sz="quarter" idx="1"/>
          </p:nvPr>
        </p:nvSpPr>
        <p:spPr>
          <a:xfrm>
            <a:off x="457199" y="1219200"/>
            <a:ext cx="6137626" cy="2641848"/>
          </a:xfrm>
        </p:spPr>
        <p:txBody>
          <a:bodyPr>
            <a:normAutofit/>
          </a:bodyPr>
          <a:lstStyle/>
          <a:p>
            <a:r>
              <a:rPr lang="en-US" dirty="0" err="1"/>
              <a:t>Szenario</a:t>
            </a:r>
            <a:r>
              <a:rPr lang="en-US" dirty="0"/>
              <a:t>:</a:t>
            </a:r>
          </a:p>
          <a:p>
            <a:pPr lvl="1"/>
            <a:r>
              <a:rPr lang="en-US" dirty="0"/>
              <a:t>1 Mbps </a:t>
            </a:r>
            <a:r>
              <a:rPr lang="en-US" dirty="0" err="1"/>
              <a:t>Leitung</a:t>
            </a:r>
            <a:endParaRPr lang="en-US" dirty="0"/>
          </a:p>
          <a:p>
            <a:pPr lvl="1"/>
            <a:r>
              <a:rPr lang="en-US" dirty="0" err="1"/>
              <a:t>Jeder</a:t>
            </a:r>
            <a:r>
              <a:rPr lang="en-US" dirty="0"/>
              <a:t> </a:t>
            </a:r>
            <a:r>
              <a:rPr lang="en-US" dirty="0" err="1"/>
              <a:t>Benutzer</a:t>
            </a:r>
            <a:r>
              <a:rPr lang="en-US" dirty="0"/>
              <a:t>  </a:t>
            </a:r>
            <a:br>
              <a:rPr lang="en-US" dirty="0"/>
            </a:br>
            <a:r>
              <a:rPr lang="en-US" dirty="0" err="1"/>
              <a:t>aktiv</a:t>
            </a:r>
            <a:r>
              <a:rPr lang="en-US" dirty="0"/>
              <a:t> 10% </a:t>
            </a:r>
            <a:r>
              <a:rPr lang="en-US" dirty="0" err="1"/>
              <a:t>der</a:t>
            </a:r>
            <a:r>
              <a:rPr lang="en-US" dirty="0"/>
              <a:t> </a:t>
            </a:r>
            <a:r>
              <a:rPr lang="en-US" dirty="0" err="1"/>
              <a:t>Zeit</a:t>
            </a:r>
            <a:endParaRPr lang="en-US" dirty="0"/>
          </a:p>
          <a:p>
            <a:pPr lvl="1"/>
            <a:r>
              <a:rPr lang="en-US" dirty="0"/>
              <a:t>100 kb/s </a:t>
            </a:r>
            <a:r>
              <a:rPr lang="en-US" dirty="0" err="1"/>
              <a:t>wenn</a:t>
            </a:r>
            <a:r>
              <a:rPr lang="en-US" dirty="0"/>
              <a:t> </a:t>
            </a:r>
            <a:r>
              <a:rPr lang="en-US" dirty="0" err="1"/>
              <a:t>aktiv</a:t>
            </a:r>
            <a:endParaRPr lang="en-US" dirty="0"/>
          </a:p>
          <a:p>
            <a:r>
              <a:rPr lang="de-DE" dirty="0"/>
              <a:t>Leitungsvermittlung - # Benutzer?</a:t>
            </a:r>
          </a:p>
          <a:p>
            <a:pPr>
              <a:buNone/>
            </a:pPr>
            <a:endParaRPr lang="de-DE" dirty="0"/>
          </a:p>
        </p:txBody>
      </p:sp>
      <p:grpSp>
        <p:nvGrpSpPr>
          <p:cNvPr id="7" name="Group 49"/>
          <p:cNvGrpSpPr>
            <a:grpSpLocks/>
          </p:cNvGrpSpPr>
          <p:nvPr/>
        </p:nvGrpSpPr>
        <p:grpSpPr bwMode="auto">
          <a:xfrm>
            <a:off x="6012160" y="2060848"/>
            <a:ext cx="1155700" cy="620712"/>
            <a:chOff x="3600" y="219"/>
            <a:chExt cx="360" cy="175"/>
          </a:xfrm>
        </p:grpSpPr>
        <p:sp>
          <p:nvSpPr>
            <p:cNvPr id="8" name="Oval 5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9" name="Line 51"/>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0" name="Line 52"/>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1" name="Rectangle 53"/>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 name="Oval 5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sp>
        <p:nvSpPr>
          <p:cNvPr id="21" name="Line 15"/>
          <p:cNvSpPr>
            <a:spLocks noChangeShapeType="1"/>
          </p:cNvSpPr>
          <p:nvPr/>
        </p:nvSpPr>
        <p:spPr bwMode="auto">
          <a:xfrm>
            <a:off x="4953297" y="1852885"/>
            <a:ext cx="838200" cy="457200"/>
          </a:xfrm>
          <a:prstGeom prst="line">
            <a:avLst/>
          </a:prstGeom>
          <a:noFill/>
          <a:ln w="28575">
            <a:solidFill>
              <a:srgbClr val="F22E33"/>
            </a:solidFill>
            <a:round/>
            <a:headEnd/>
            <a:tailEnd/>
          </a:ln>
        </p:spPr>
        <p:txBody>
          <a:bodyPr wrap="none" anchor="ctr"/>
          <a:lstStyle/>
          <a:p>
            <a:endParaRPr lang="de-DE"/>
          </a:p>
        </p:txBody>
      </p:sp>
      <p:sp>
        <p:nvSpPr>
          <p:cNvPr id="23" name="Line 17"/>
          <p:cNvSpPr>
            <a:spLocks noChangeShapeType="1"/>
          </p:cNvSpPr>
          <p:nvPr/>
        </p:nvSpPr>
        <p:spPr bwMode="auto">
          <a:xfrm>
            <a:off x="5791497" y="2462485"/>
            <a:ext cx="2038350" cy="0"/>
          </a:xfrm>
          <a:prstGeom prst="line">
            <a:avLst/>
          </a:prstGeom>
          <a:noFill/>
          <a:ln w="28575">
            <a:solidFill>
              <a:srgbClr val="F22E33"/>
            </a:solidFill>
            <a:round/>
            <a:headEnd/>
            <a:tailEnd type="triangle" w="med" len="med"/>
          </a:ln>
        </p:spPr>
        <p:txBody>
          <a:bodyPr wrap="none" anchor="ctr"/>
          <a:lstStyle/>
          <a:p>
            <a:endParaRPr lang="de-DE"/>
          </a:p>
        </p:txBody>
      </p:sp>
      <p:sp>
        <p:nvSpPr>
          <p:cNvPr id="24" name="Line 18"/>
          <p:cNvSpPr>
            <a:spLocks noChangeShapeType="1"/>
          </p:cNvSpPr>
          <p:nvPr/>
        </p:nvSpPr>
        <p:spPr bwMode="auto">
          <a:xfrm flipV="1">
            <a:off x="5029497" y="2462485"/>
            <a:ext cx="762000" cy="609600"/>
          </a:xfrm>
          <a:prstGeom prst="line">
            <a:avLst/>
          </a:prstGeom>
          <a:noFill/>
          <a:ln w="28575">
            <a:solidFill>
              <a:srgbClr val="F22E33"/>
            </a:solidFill>
            <a:round/>
            <a:headEnd/>
            <a:tailEnd/>
          </a:ln>
        </p:spPr>
        <p:txBody>
          <a:bodyPr wrap="none" anchor="ctr"/>
          <a:lstStyle/>
          <a:p>
            <a:endParaRPr lang="de-DE"/>
          </a:p>
        </p:txBody>
      </p:sp>
      <p:sp>
        <p:nvSpPr>
          <p:cNvPr id="25" name="Text Box 19"/>
          <p:cNvSpPr txBox="1">
            <a:spLocks noChangeArrowheads="1"/>
          </p:cNvSpPr>
          <p:nvPr/>
        </p:nvSpPr>
        <p:spPr bwMode="auto">
          <a:xfrm>
            <a:off x="3916660" y="2146573"/>
            <a:ext cx="1338828" cy="369332"/>
          </a:xfrm>
          <a:prstGeom prst="rect">
            <a:avLst/>
          </a:prstGeom>
          <a:noFill/>
          <a:ln w="9525">
            <a:noFill/>
            <a:miter lim="800000"/>
            <a:headEnd/>
            <a:tailEnd/>
          </a:ln>
        </p:spPr>
        <p:txBody>
          <a:bodyPr wrap="none">
            <a:spAutoFit/>
          </a:bodyPr>
          <a:lstStyle/>
          <a:p>
            <a:r>
              <a:rPr lang="en-US" dirty="0">
                <a:solidFill>
                  <a:schemeClr val="accent2"/>
                </a:solidFill>
              </a:rPr>
              <a:t>N </a:t>
            </a:r>
            <a:r>
              <a:rPr lang="en-US" dirty="0" err="1">
                <a:solidFill>
                  <a:schemeClr val="accent2"/>
                </a:solidFill>
              </a:rPr>
              <a:t>Benutzer</a:t>
            </a:r>
            <a:endParaRPr lang="en-US" dirty="0"/>
          </a:p>
        </p:txBody>
      </p:sp>
      <p:sp>
        <p:nvSpPr>
          <p:cNvPr id="26" name="Text Box 20"/>
          <p:cNvSpPr txBox="1">
            <a:spLocks noChangeArrowheads="1"/>
          </p:cNvSpPr>
          <p:nvPr/>
        </p:nvSpPr>
        <p:spPr bwMode="auto">
          <a:xfrm>
            <a:off x="7115472" y="2594248"/>
            <a:ext cx="1762021" cy="369332"/>
          </a:xfrm>
          <a:prstGeom prst="rect">
            <a:avLst/>
          </a:prstGeom>
          <a:noFill/>
          <a:ln w="9525">
            <a:noFill/>
            <a:miter lim="800000"/>
            <a:headEnd/>
            <a:tailEnd/>
          </a:ln>
        </p:spPr>
        <p:txBody>
          <a:bodyPr wrap="none">
            <a:spAutoFit/>
          </a:bodyPr>
          <a:lstStyle/>
          <a:p>
            <a:r>
              <a:rPr lang="en-US" dirty="0"/>
              <a:t>1 Mbps </a:t>
            </a:r>
            <a:r>
              <a:rPr lang="en-US" dirty="0" err="1"/>
              <a:t>Leitung</a:t>
            </a:r>
            <a:endParaRPr lang="en-US" dirty="0"/>
          </a:p>
        </p:txBody>
      </p:sp>
      <p:sp>
        <p:nvSpPr>
          <p:cNvPr id="27" name="Line 47"/>
          <p:cNvSpPr>
            <a:spLocks noChangeShapeType="1"/>
          </p:cNvSpPr>
          <p:nvPr/>
        </p:nvSpPr>
        <p:spPr bwMode="auto">
          <a:xfrm>
            <a:off x="7096422" y="2376760"/>
            <a:ext cx="1714500" cy="0"/>
          </a:xfrm>
          <a:prstGeom prst="line">
            <a:avLst/>
          </a:prstGeom>
          <a:noFill/>
          <a:ln w="28575">
            <a:solidFill>
              <a:schemeClr val="tx1"/>
            </a:solidFill>
            <a:round/>
            <a:headEnd/>
            <a:tailEnd/>
          </a:ln>
        </p:spPr>
        <p:txBody>
          <a:bodyPr wrap="none" anchor="ctr"/>
          <a:lstStyle/>
          <a:p>
            <a:endParaRPr lang="de-DE"/>
          </a:p>
        </p:txBody>
      </p:sp>
      <p:graphicFrame>
        <p:nvGraphicFramePr>
          <p:cNvPr id="28" name="Object 63"/>
          <p:cNvGraphicFramePr>
            <a:graphicFrameLocks noChangeAspect="1"/>
          </p:cNvGraphicFramePr>
          <p:nvPr/>
        </p:nvGraphicFramePr>
        <p:xfrm>
          <a:off x="4399260" y="1465535"/>
          <a:ext cx="611187" cy="504825"/>
        </p:xfrm>
        <a:graphic>
          <a:graphicData uri="http://schemas.openxmlformats.org/presentationml/2006/ole">
            <mc:AlternateContent xmlns:mc="http://schemas.openxmlformats.org/markup-compatibility/2006">
              <mc:Choice xmlns:v="urn:schemas-microsoft-com:vml" Requires="v">
                <p:oleObj name="Clip" r:id="rId2" imgW="1307263" imgH="1084139" progId="">
                  <p:embed/>
                </p:oleObj>
              </mc:Choice>
              <mc:Fallback>
                <p:oleObj name="Clip" r:id="rId2" imgW="1307263" imgH="1084139" progId="">
                  <p:embed/>
                  <p:pic>
                    <p:nvPicPr>
                      <p:cNvPr id="28" name="Object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9260" y="1465535"/>
                        <a:ext cx="611187"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0" name="Gruppieren 29"/>
          <p:cNvGrpSpPr/>
          <p:nvPr/>
        </p:nvGrpSpPr>
        <p:grpSpPr>
          <a:xfrm>
            <a:off x="6372200" y="2204864"/>
            <a:ext cx="432048" cy="168954"/>
            <a:chOff x="6378288" y="2764631"/>
            <a:chExt cx="686598" cy="143951"/>
          </a:xfrm>
        </p:grpSpPr>
        <p:sp>
          <p:nvSpPr>
            <p:cNvPr id="31" name="Freihandform 30"/>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2" name="Freihandform 31"/>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aphicFrame>
        <p:nvGraphicFramePr>
          <p:cNvPr id="29" name="Object 64"/>
          <p:cNvGraphicFramePr>
            <a:graphicFrameLocks noChangeAspect="1"/>
          </p:cNvGraphicFramePr>
          <p:nvPr/>
        </p:nvGraphicFramePr>
        <p:xfrm>
          <a:off x="4484985" y="2813323"/>
          <a:ext cx="611187" cy="504825"/>
        </p:xfrm>
        <a:graphic>
          <a:graphicData uri="http://schemas.openxmlformats.org/presentationml/2006/ole">
            <mc:AlternateContent xmlns:mc="http://schemas.openxmlformats.org/markup-compatibility/2006">
              <mc:Choice xmlns:v="urn:schemas-microsoft-com:vml" Requires="v">
                <p:oleObj name="Clip" r:id="rId4" imgW="1307263" imgH="1084139" progId="">
                  <p:embed/>
                </p:oleObj>
              </mc:Choice>
              <mc:Fallback>
                <p:oleObj name="Clip" r:id="rId4" imgW="1307263" imgH="1084139" progId="">
                  <p:embed/>
                  <p:pic>
                    <p:nvPicPr>
                      <p:cNvPr id="29" name="Object 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4985" y="2813323"/>
                        <a:ext cx="611187"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Line 16"/>
          <p:cNvSpPr>
            <a:spLocks noChangeShapeType="1"/>
          </p:cNvSpPr>
          <p:nvPr/>
        </p:nvSpPr>
        <p:spPr bwMode="auto">
          <a:xfrm>
            <a:off x="5791497" y="2310085"/>
            <a:ext cx="2038350" cy="0"/>
          </a:xfrm>
          <a:prstGeom prst="line">
            <a:avLst/>
          </a:prstGeom>
          <a:noFill/>
          <a:ln w="28575">
            <a:solidFill>
              <a:srgbClr val="F22E33"/>
            </a:solidFill>
            <a:round/>
            <a:headEnd/>
            <a:tailEnd type="triangle" w="med" len="med"/>
          </a:ln>
        </p:spPr>
        <p:txBody>
          <a:bodyPr wrap="none" anchor="ctr"/>
          <a:lstStyle/>
          <a:p>
            <a:endParaRPr lang="de-DE"/>
          </a:p>
        </p:txBody>
      </p:sp>
      <p:sp>
        <p:nvSpPr>
          <p:cNvPr id="33" name="Inhaltsplatzhalter 4"/>
          <p:cNvSpPr>
            <a:spLocks noGrp="1"/>
          </p:cNvSpPr>
          <p:nvPr>
            <p:ph sz="quarter" idx="1"/>
          </p:nvPr>
        </p:nvSpPr>
        <p:spPr>
          <a:xfrm>
            <a:off x="395536" y="3789040"/>
            <a:ext cx="7992888" cy="1008112"/>
          </a:xfrm>
        </p:spPr>
        <p:txBody>
          <a:bodyPr>
            <a:normAutofit/>
          </a:bodyPr>
          <a:lstStyle/>
          <a:p>
            <a:pPr lvl="1"/>
            <a:r>
              <a:rPr lang="de-DE" dirty="0"/>
              <a:t>10 Benutzer, und jeder sendet mit </a:t>
            </a:r>
            <a:r>
              <a:rPr lang="de-DE" u="sng" dirty="0"/>
              <a:t>maximal</a:t>
            </a:r>
            <a:r>
              <a:rPr lang="de-DE" dirty="0"/>
              <a:t> 100 kb/s </a:t>
            </a:r>
          </a:p>
          <a:p>
            <a:r>
              <a:rPr lang="de-DE" dirty="0"/>
              <a:t>Paketvermittlung - wie viele können gleichzeitig?</a:t>
            </a:r>
          </a:p>
        </p:txBody>
      </p:sp>
      <p:sp>
        <p:nvSpPr>
          <p:cNvPr id="34" name="Inhaltsplatzhalter 4"/>
          <p:cNvSpPr>
            <a:spLocks noGrp="1"/>
          </p:cNvSpPr>
          <p:nvPr>
            <p:ph sz="quarter" idx="1"/>
          </p:nvPr>
        </p:nvSpPr>
        <p:spPr>
          <a:xfrm>
            <a:off x="467544" y="4725144"/>
            <a:ext cx="7992888" cy="1988840"/>
          </a:xfrm>
        </p:spPr>
        <p:txBody>
          <a:bodyPr>
            <a:normAutofit/>
          </a:bodyPr>
          <a:lstStyle/>
          <a:p>
            <a:pPr lvl="1"/>
            <a:r>
              <a:rPr lang="de-DE" dirty="0"/>
              <a:t>Bei </a:t>
            </a:r>
            <a:r>
              <a:rPr lang="de-DE" b="1" dirty="0">
                <a:solidFill>
                  <a:srgbClr val="FF0000"/>
                </a:solidFill>
              </a:rPr>
              <a:t>35 Benutzern </a:t>
            </a:r>
            <a:r>
              <a:rPr lang="de-DE" dirty="0"/>
              <a:t>ist die </a:t>
            </a:r>
            <a:r>
              <a:rPr lang="de-DE" dirty="0">
                <a:solidFill>
                  <a:srgbClr val="0070C0"/>
                </a:solidFill>
              </a:rPr>
              <a:t>W-</a:t>
            </a:r>
            <a:r>
              <a:rPr lang="de-DE" dirty="0" err="1">
                <a:solidFill>
                  <a:srgbClr val="0070C0"/>
                </a:solidFill>
              </a:rPr>
              <a:t>keit</a:t>
            </a:r>
            <a:r>
              <a:rPr lang="de-DE" dirty="0">
                <a:solidFill>
                  <a:srgbClr val="0070C0"/>
                </a:solidFill>
              </a:rPr>
              <a:t>, dass mehr als 10 zugleich aktiv sind, kleiner als 4/10000 </a:t>
            </a:r>
            <a:r>
              <a:rPr lang="de-DE" dirty="0"/>
              <a:t>(0.0004)</a:t>
            </a:r>
          </a:p>
          <a:p>
            <a:pPr lvl="1"/>
            <a:r>
              <a:rPr lang="de-DE" dirty="0"/>
              <a:t>Keine Garantie, dass jeder gerade senden kann …</a:t>
            </a:r>
          </a:p>
          <a:p>
            <a:pPr lvl="1"/>
            <a:r>
              <a:rPr lang="de-DE" dirty="0"/>
              <a:t>… Aber 3.5 mal mehr Nutzern als bei LV (mit </a:t>
            </a:r>
            <a:r>
              <a:rPr lang="de-DE"/>
              <a:t>kleinen Kompromissen)</a:t>
            </a:r>
            <a:endParaRPr lang="de-DE" dirty="0"/>
          </a:p>
          <a:p>
            <a:pPr>
              <a:buNone/>
            </a:pPr>
            <a:endParaRPr lang="de-DE" dirty="0"/>
          </a:p>
        </p:txBody>
      </p:sp>
      <p:sp>
        <p:nvSpPr>
          <p:cNvPr id="4" name="Rounded Rectangle 3"/>
          <p:cNvSpPr/>
          <p:nvPr/>
        </p:nvSpPr>
        <p:spPr>
          <a:xfrm>
            <a:off x="5611252" y="1124744"/>
            <a:ext cx="3419872" cy="789382"/>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de-DE" dirty="0"/>
              <a:t>Weiterer Vorteil der PV:</a:t>
            </a:r>
          </a:p>
          <a:p>
            <a:pPr algn="ctr"/>
            <a:r>
              <a:rPr lang="de-DE" dirty="0"/>
              <a:t>Jeder kann bis 1 Mbps nutzen </a:t>
            </a:r>
          </a:p>
        </p:txBody>
      </p:sp>
      <p:sp>
        <p:nvSpPr>
          <p:cNvPr id="35" name="Rechteck 8">
            <a:extLst>
              <a:ext uri="{FF2B5EF4-FFF2-40B4-BE49-F238E27FC236}">
                <a16:creationId xmlns:a16="http://schemas.microsoft.com/office/drawing/2014/main" id="{3CCF9320-9A92-483A-84E7-6FC088BF2089}"/>
              </a:ext>
            </a:extLst>
          </p:cNvPr>
          <p:cNvSpPr/>
          <p:nvPr/>
        </p:nvSpPr>
        <p:spPr>
          <a:xfrm>
            <a:off x="6300192"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5"/>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animEffect transition="in" filter="fade">
                                      <p:cBhvr>
                                        <p:cTn id="7" dur="500"/>
                                        <p:tgtEl>
                                          <p:spTgt spid="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xEl>
                                              <p:pRg st="1" end="1"/>
                                            </p:txEl>
                                          </p:spTgt>
                                        </p:tgtEl>
                                        <p:attrNameLst>
                                          <p:attrName>style.visibility</p:attrName>
                                        </p:attrNameLst>
                                      </p:cBhvr>
                                      <p:to>
                                        <p:strVal val="visible"/>
                                      </p:to>
                                    </p:set>
                                    <p:animEffect transition="in" filter="fade">
                                      <p:cBhvr>
                                        <p:cTn id="12" dur="500"/>
                                        <p:tgtEl>
                                          <p:spTgt spid="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
                                            <p:txEl>
                                              <p:pRg st="0" end="0"/>
                                            </p:txEl>
                                          </p:spTgt>
                                        </p:tgtEl>
                                        <p:attrNameLst>
                                          <p:attrName>style.visibility</p:attrName>
                                        </p:attrNameLst>
                                      </p:cBhvr>
                                      <p:to>
                                        <p:strVal val="visible"/>
                                      </p:to>
                                    </p:set>
                                    <p:animEffect transition="in" filter="fade">
                                      <p:cBhvr>
                                        <p:cTn id="17" dur="2000"/>
                                        <p:tgtEl>
                                          <p:spTgt spid="34">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xEl>
                                              <p:pRg st="1" end="1"/>
                                            </p:txEl>
                                          </p:spTgt>
                                        </p:tgtEl>
                                        <p:attrNameLst>
                                          <p:attrName>style.visibility</p:attrName>
                                        </p:attrNameLst>
                                      </p:cBhvr>
                                      <p:to>
                                        <p:strVal val="visible"/>
                                      </p:to>
                                    </p:set>
                                    <p:animEffect transition="in" filter="fade">
                                      <p:cBhvr>
                                        <p:cTn id="20" dur="2000"/>
                                        <p:tgtEl>
                                          <p:spTgt spid="34">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xEl>
                                              <p:pRg st="2" end="2"/>
                                            </p:txEl>
                                          </p:spTgt>
                                        </p:tgtEl>
                                        <p:attrNameLst>
                                          <p:attrName>style.visibility</p:attrName>
                                        </p:attrNameLst>
                                      </p:cBhvr>
                                      <p:to>
                                        <p:strVal val="visible"/>
                                      </p:to>
                                    </p:set>
                                    <p:animEffect transition="in" filter="fade">
                                      <p:cBhvr>
                                        <p:cTn id="23" dur="2000"/>
                                        <p:tgtEl>
                                          <p:spTgt spid="3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uild="p"/>
      <p:bldP spid="34" grpId="0" build="allAtOnce"/>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Paketvermittlung vs. Leitungsvermittlung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23</a:t>
            </a:fld>
            <a:endParaRPr lang="en-US" noProof="0" dirty="0"/>
          </a:p>
        </p:txBody>
      </p:sp>
      <p:sp>
        <p:nvSpPr>
          <p:cNvPr id="4" name="Inhaltsplatzhalter 3"/>
          <p:cNvSpPr>
            <a:spLocks noGrp="1"/>
          </p:cNvSpPr>
          <p:nvPr>
            <p:ph sz="quarter" idx="1"/>
          </p:nvPr>
        </p:nvSpPr>
        <p:spPr>
          <a:xfrm>
            <a:off x="395536" y="4221088"/>
            <a:ext cx="8352928" cy="576064"/>
          </a:xfrm>
        </p:spPr>
        <p:txBody>
          <a:bodyPr/>
          <a:lstStyle/>
          <a:p>
            <a:r>
              <a:rPr lang="de-DE" dirty="0"/>
              <a:t>Aber PV hat auch Probleme - welche?</a:t>
            </a:r>
          </a:p>
          <a:p>
            <a:pPr>
              <a:buNone/>
            </a:pPr>
            <a:endParaRPr lang="de-DE" dirty="0"/>
          </a:p>
        </p:txBody>
      </p:sp>
      <p:graphicFrame>
        <p:nvGraphicFramePr>
          <p:cNvPr id="5" name="Tabelle 4"/>
          <p:cNvGraphicFramePr>
            <a:graphicFrameLocks noGrp="1"/>
          </p:cNvGraphicFramePr>
          <p:nvPr/>
        </p:nvGraphicFramePr>
        <p:xfrm>
          <a:off x="467544" y="1268760"/>
          <a:ext cx="8208912" cy="2822808"/>
        </p:xfrm>
        <a:graphic>
          <a:graphicData uri="http://schemas.openxmlformats.org/drawingml/2006/table">
            <a:tbl>
              <a:tblPr firstRow="1" bandRow="1">
                <a:tableStyleId>{5C22544A-7EE6-4342-B048-85BDC9FD1C3A}</a:tableStyleId>
              </a:tblPr>
              <a:tblGrid>
                <a:gridCol w="2952328">
                  <a:extLst>
                    <a:ext uri="{9D8B030D-6E8A-4147-A177-3AD203B41FA5}">
                      <a16:colId xmlns:a16="http://schemas.microsoft.com/office/drawing/2014/main" val="20000"/>
                    </a:ext>
                  </a:extLst>
                </a:gridCol>
                <a:gridCol w="2771317">
                  <a:extLst>
                    <a:ext uri="{9D8B030D-6E8A-4147-A177-3AD203B41FA5}">
                      <a16:colId xmlns:a16="http://schemas.microsoft.com/office/drawing/2014/main" val="20001"/>
                    </a:ext>
                  </a:extLst>
                </a:gridCol>
                <a:gridCol w="2485267">
                  <a:extLst>
                    <a:ext uri="{9D8B030D-6E8A-4147-A177-3AD203B41FA5}">
                      <a16:colId xmlns:a16="http://schemas.microsoft.com/office/drawing/2014/main" val="20002"/>
                    </a:ext>
                  </a:extLst>
                </a:gridCol>
              </a:tblGrid>
              <a:tr h="435860">
                <a:tc>
                  <a:txBody>
                    <a:bodyPr/>
                    <a:lstStyle/>
                    <a:p>
                      <a:r>
                        <a:rPr lang="de-DE" sz="2000" dirty="0"/>
                        <a:t>Paketvermittlung</a:t>
                      </a:r>
                    </a:p>
                  </a:txBody>
                  <a:tcPr/>
                </a:tc>
                <a:tc>
                  <a:txBody>
                    <a:bodyPr/>
                    <a:lstStyle/>
                    <a:p>
                      <a:r>
                        <a:rPr lang="de-DE" sz="2000" dirty="0"/>
                        <a:t>Leitungsvermittlung</a:t>
                      </a:r>
                    </a:p>
                  </a:txBody>
                  <a:tcPr/>
                </a:tc>
                <a:tc>
                  <a:txBody>
                    <a:bodyPr/>
                    <a:lstStyle/>
                    <a:p>
                      <a:r>
                        <a:rPr lang="de-DE" sz="2000" dirty="0"/>
                        <a:t>Ineffizienz</a:t>
                      </a:r>
                      <a:r>
                        <a:rPr lang="de-DE" sz="2000" baseline="0" dirty="0"/>
                        <a:t> der LV?</a:t>
                      </a:r>
                      <a:endParaRPr lang="de-DE" sz="2000" dirty="0"/>
                    </a:p>
                  </a:txBody>
                  <a:tcPr/>
                </a:tc>
                <a:extLst>
                  <a:ext uri="{0D108BD9-81ED-4DB2-BD59-A6C34878D82A}">
                    <a16:rowId xmlns:a16="http://schemas.microsoft.com/office/drawing/2014/main" val="10000"/>
                  </a:ext>
                </a:extLst>
              </a:tr>
              <a:tr h="1076308">
                <a:tc>
                  <a:txBody>
                    <a:bodyPr/>
                    <a:lstStyle/>
                    <a:p>
                      <a:r>
                        <a:rPr lang="de-DE" sz="2000" dirty="0"/>
                        <a:t>Ressourcen werden nur </a:t>
                      </a:r>
                      <a:r>
                        <a:rPr lang="de-DE" sz="2000" i="1" dirty="0"/>
                        <a:t>nach Bedarf </a:t>
                      </a:r>
                      <a:r>
                        <a:rPr lang="de-DE" sz="2000" dirty="0"/>
                        <a:t>verwendet</a:t>
                      </a: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de-DE" sz="2000" dirty="0"/>
                        <a:t>Dedizierte Belegung und Reservierung der Ressourcen</a:t>
                      </a:r>
                    </a:p>
                  </a:txBody>
                  <a:tcPr/>
                </a:tc>
                <a:tc>
                  <a:txBody>
                    <a:bodyPr/>
                    <a:lstStyle/>
                    <a:p>
                      <a:endParaRPr lang="de-DE" sz="2000" dirty="0"/>
                    </a:p>
                  </a:txBody>
                  <a:tcPr/>
                </a:tc>
                <a:extLst>
                  <a:ext uri="{0D108BD9-81ED-4DB2-BD59-A6C34878D82A}">
                    <a16:rowId xmlns:a16="http://schemas.microsoft.com/office/drawing/2014/main" val="10001"/>
                  </a:ext>
                </a:extLst>
              </a:tr>
              <a:tr h="1258234">
                <a:tc>
                  <a:txBody>
                    <a:bodyPr/>
                    <a:lstStyle/>
                    <a:p>
                      <a:r>
                        <a:rPr lang="de-DE" sz="2000" dirty="0"/>
                        <a:t>Pakete werden mit der </a:t>
                      </a:r>
                      <a:r>
                        <a:rPr lang="de-DE" sz="2000" u="sng" dirty="0"/>
                        <a:t>vollen</a:t>
                      </a:r>
                      <a:r>
                        <a:rPr lang="de-DE" sz="2000" dirty="0"/>
                        <a:t> Übertragungs-</a:t>
                      </a:r>
                      <a:r>
                        <a:rPr lang="de-DE" sz="2000" dirty="0" err="1"/>
                        <a:t>geschwindigkeit</a:t>
                      </a:r>
                      <a:r>
                        <a:rPr lang="de-DE" sz="2000" dirty="0"/>
                        <a:t> der Leitung übertragen</a:t>
                      </a: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de-DE" sz="2000" dirty="0"/>
                        <a:t>Unterteilung der</a:t>
                      </a:r>
                      <a:r>
                        <a:rPr lang="de-DE" sz="2000" baseline="0" dirty="0"/>
                        <a:t> </a:t>
                      </a:r>
                      <a:r>
                        <a:rPr lang="de-DE" sz="2000" dirty="0"/>
                        <a:t>Bandbreite in Kanäle (pro Leitung ein</a:t>
                      </a:r>
                      <a:r>
                        <a:rPr lang="de-DE" sz="2000" baseline="0" dirty="0"/>
                        <a:t> Kanal</a:t>
                      </a:r>
                      <a:r>
                        <a:rPr lang="de-DE" sz="2000" dirty="0"/>
                        <a:t>)</a:t>
                      </a:r>
                    </a:p>
                  </a:txBody>
                  <a:tcPr/>
                </a:tc>
                <a:tc>
                  <a:txBody>
                    <a:bodyPr/>
                    <a:lstStyle/>
                    <a:p>
                      <a:endParaRPr lang="de-DE" sz="2000" dirty="0"/>
                    </a:p>
                  </a:txBody>
                  <a:tcPr/>
                </a:tc>
                <a:extLst>
                  <a:ext uri="{0D108BD9-81ED-4DB2-BD59-A6C34878D82A}">
                    <a16:rowId xmlns:a16="http://schemas.microsoft.com/office/drawing/2014/main" val="10002"/>
                  </a:ext>
                </a:extLst>
              </a:tr>
            </a:tbl>
          </a:graphicData>
        </a:graphic>
      </p:graphicFrame>
      <p:sp>
        <p:nvSpPr>
          <p:cNvPr id="6" name="Textfeld 5"/>
          <p:cNvSpPr txBox="1"/>
          <p:nvPr/>
        </p:nvSpPr>
        <p:spPr>
          <a:xfrm>
            <a:off x="6300192" y="1700808"/>
            <a:ext cx="1598515" cy="1015663"/>
          </a:xfrm>
          <a:prstGeom prst="rect">
            <a:avLst/>
          </a:prstGeom>
          <a:noFill/>
        </p:spPr>
        <p:txBody>
          <a:bodyPr wrap="none" rtlCol="0">
            <a:spAutoFit/>
          </a:bodyPr>
          <a:lstStyle/>
          <a:p>
            <a:r>
              <a:rPr lang="de-DE" sz="2000" dirty="0"/>
              <a:t>Weniger </a:t>
            </a:r>
          </a:p>
          <a:p>
            <a:r>
              <a:rPr lang="de-DE" sz="2000" dirty="0"/>
              <a:t>gleichzeitige</a:t>
            </a:r>
          </a:p>
          <a:p>
            <a:r>
              <a:rPr lang="de-DE" sz="2000" dirty="0"/>
              <a:t>Nutzer</a:t>
            </a:r>
          </a:p>
        </p:txBody>
      </p:sp>
      <p:sp>
        <p:nvSpPr>
          <p:cNvPr id="7" name="Textfeld 6"/>
          <p:cNvSpPr txBox="1"/>
          <p:nvPr/>
        </p:nvSpPr>
        <p:spPr>
          <a:xfrm>
            <a:off x="6235554" y="2852936"/>
            <a:ext cx="1781257" cy="1015663"/>
          </a:xfrm>
          <a:prstGeom prst="rect">
            <a:avLst/>
          </a:prstGeom>
          <a:noFill/>
        </p:spPr>
        <p:txBody>
          <a:bodyPr wrap="none" rtlCol="0">
            <a:spAutoFit/>
          </a:bodyPr>
          <a:lstStyle/>
          <a:p>
            <a:r>
              <a:rPr lang="de-DE" sz="2000" dirty="0"/>
              <a:t>Übertragung </a:t>
            </a:r>
            <a:br>
              <a:rPr lang="de-DE" sz="2000" dirty="0"/>
            </a:br>
            <a:r>
              <a:rPr lang="de-DE" sz="2000" dirty="0"/>
              <a:t>langsamer als</a:t>
            </a:r>
            <a:br>
              <a:rPr lang="de-DE" sz="2000" dirty="0"/>
            </a:br>
            <a:r>
              <a:rPr lang="de-DE" sz="2000" dirty="0"/>
              <a:t>ggf. möglich</a:t>
            </a:r>
          </a:p>
        </p:txBody>
      </p:sp>
      <p:sp>
        <p:nvSpPr>
          <p:cNvPr id="8" name="Inhaltsplatzhalter 3"/>
          <p:cNvSpPr txBox="1">
            <a:spLocks/>
          </p:cNvSpPr>
          <p:nvPr/>
        </p:nvSpPr>
        <p:spPr>
          <a:xfrm>
            <a:off x="395536" y="4653136"/>
            <a:ext cx="8496944" cy="2204864"/>
          </a:xfrm>
          <a:prstGeom prst="rect">
            <a:avLst/>
          </a:prstGeom>
        </p:spPr>
        <p:txBody>
          <a:bodyPr vert="horz">
            <a:normAutofit fontScale="85000" lnSpcReduction="10000"/>
          </a:bodyPr>
          <a:lstStyle/>
          <a:p>
            <a:pPr marL="731520" lvl="1" indent="-274320">
              <a:spcBef>
                <a:spcPts val="600"/>
              </a:spcBef>
              <a:buClr>
                <a:schemeClr val="accent1"/>
              </a:buClr>
              <a:buSzPct val="76000"/>
              <a:buFont typeface="Wingdings 3"/>
              <a:buChar char=""/>
            </a:pPr>
            <a:r>
              <a:rPr kumimoji="0" lang="de-DE" sz="2600" b="0" i="0" u="none" strike="noStrike" kern="1200" cap="none" spc="0" normalizeH="0" baseline="0" noProof="0" dirty="0">
                <a:ln>
                  <a:noFill/>
                </a:ln>
                <a:solidFill>
                  <a:schemeClr val="tx1"/>
                </a:solidFill>
                <a:effectLst/>
                <a:uLnTx/>
                <a:uFillTx/>
                <a:latin typeface="+mn-lt"/>
                <a:ea typeface="+mn-ea"/>
                <a:cs typeface="+mn-cs"/>
              </a:rPr>
              <a:t>Kumulative</a:t>
            </a:r>
            <a:r>
              <a:rPr lang="de-DE" sz="2600" dirty="0"/>
              <a:t>r Bandbreitenbedarf kann die </a:t>
            </a:r>
            <a:r>
              <a:rPr lang="de-DE" sz="2600" b="1" dirty="0"/>
              <a:t>Kapazität überschreiten</a:t>
            </a:r>
            <a:r>
              <a:rPr lang="de-DE" sz="2600" b="1" dirty="0">
                <a:solidFill>
                  <a:srgbClr val="FF0000"/>
                </a:solidFill>
              </a:rPr>
              <a:t> </a:t>
            </a:r>
            <a:r>
              <a:rPr lang="de-DE" dirty="0"/>
              <a:t>=&gt;</a:t>
            </a:r>
            <a:r>
              <a:rPr lang="de-DE" sz="2600" dirty="0"/>
              <a:t> keine Dienstgarantie für einen Benutzer</a:t>
            </a:r>
          </a:p>
          <a:p>
            <a:pPr marL="731520" lvl="1" indent="-274320">
              <a:spcBef>
                <a:spcPts val="600"/>
              </a:spcBef>
              <a:buClr>
                <a:schemeClr val="accent1"/>
              </a:buClr>
              <a:buSzPct val="76000"/>
              <a:buFont typeface="Wingdings 3"/>
              <a:buChar char=""/>
            </a:pPr>
            <a:r>
              <a:rPr kumimoji="0" lang="de-DE" sz="2600" b="1" i="0" u="none" strike="noStrike" kern="1200" cap="none" spc="0" normalizeH="0" baseline="0" noProof="0" dirty="0">
                <a:ln>
                  <a:noFill/>
                </a:ln>
                <a:effectLst/>
                <a:uLnTx/>
                <a:uFillTx/>
                <a:latin typeface="+mn-lt"/>
                <a:ea typeface="+mn-ea"/>
                <a:cs typeface="+mn-cs"/>
              </a:rPr>
              <a:t>Pakete werden verzögert</a:t>
            </a:r>
            <a:r>
              <a:rPr kumimoji="0" lang="de-DE" sz="2600" b="0" i="0" u="none" strike="noStrike" kern="1200" cap="none" spc="0" normalizeH="0" baseline="0" noProof="0" dirty="0">
                <a:ln>
                  <a:noFill/>
                </a:ln>
                <a:solidFill>
                  <a:schemeClr val="tx1"/>
                </a:solidFill>
                <a:effectLst/>
                <a:uLnTx/>
                <a:uFillTx/>
                <a:latin typeface="+mn-lt"/>
                <a:ea typeface="+mn-ea"/>
                <a:cs typeface="+mn-cs"/>
              </a:rPr>
              <a:t>,</a:t>
            </a:r>
            <a:r>
              <a:rPr kumimoji="0" lang="de-DE" sz="2600" b="0" i="0" u="none" strike="noStrike" kern="1200" cap="none" spc="0" normalizeH="0" noProof="0" dirty="0">
                <a:ln>
                  <a:noFill/>
                </a:ln>
                <a:solidFill>
                  <a:schemeClr val="tx1"/>
                </a:solidFill>
                <a:effectLst/>
                <a:uLnTx/>
                <a:uFillTx/>
                <a:latin typeface="+mn-lt"/>
                <a:ea typeface="+mn-ea"/>
                <a:cs typeface="+mn-cs"/>
              </a:rPr>
              <a:t> </a:t>
            </a:r>
            <a:r>
              <a:rPr lang="de-DE" sz="2600" noProof="0" dirty="0"/>
              <a:t>insbesondere wenn viele senden</a:t>
            </a:r>
          </a:p>
          <a:p>
            <a:pPr marL="1188720" lvl="2" indent="-274320">
              <a:spcBef>
                <a:spcPts val="600"/>
              </a:spcBef>
              <a:buClr>
                <a:schemeClr val="accent1"/>
              </a:buClr>
              <a:buSzPct val="76000"/>
              <a:buFont typeface="Wingdings 3"/>
              <a:buChar char=""/>
            </a:pPr>
            <a:r>
              <a:rPr kumimoji="0" lang="de-DE" sz="2600" b="0" i="0" u="none" strike="noStrike" kern="1200" cap="none" spc="0" normalizeH="0" baseline="0" dirty="0">
                <a:ln>
                  <a:noFill/>
                </a:ln>
                <a:solidFill>
                  <a:schemeClr val="tx1"/>
                </a:solidFill>
                <a:effectLst/>
                <a:uLnTx/>
                <a:uFillTx/>
                <a:latin typeface="+mn-lt"/>
                <a:ea typeface="+mn-ea"/>
                <a:cs typeface="+mn-cs"/>
              </a:rPr>
              <a:t>Schlecht</a:t>
            </a:r>
            <a:r>
              <a:rPr kumimoji="0" lang="de-DE" sz="2600" b="0" i="0" u="none" strike="noStrike" kern="1200" cap="none" spc="0" normalizeH="0" dirty="0">
                <a:ln>
                  <a:noFill/>
                </a:ln>
                <a:solidFill>
                  <a:schemeClr val="tx1"/>
                </a:solidFill>
                <a:effectLst/>
                <a:uLnTx/>
                <a:uFillTx/>
                <a:latin typeface="+mn-lt"/>
                <a:ea typeface="+mn-ea"/>
                <a:cs typeface="+mn-cs"/>
              </a:rPr>
              <a:t> für Echtzeitdienste wie Audio/Video-Streaming</a:t>
            </a:r>
          </a:p>
          <a:p>
            <a:pPr marL="731520" lvl="1" indent="-274320">
              <a:spcBef>
                <a:spcPts val="600"/>
              </a:spcBef>
              <a:buClr>
                <a:schemeClr val="accent1"/>
              </a:buClr>
              <a:buSzPct val="76000"/>
              <a:buFont typeface="Wingdings 3"/>
              <a:buChar char=""/>
            </a:pPr>
            <a:r>
              <a:rPr lang="de-DE" sz="2600" b="1" baseline="0" noProof="0" dirty="0"/>
              <a:t>Pakete</a:t>
            </a:r>
            <a:r>
              <a:rPr lang="de-DE" sz="2600" b="1" dirty="0"/>
              <a:t> gehen verloren</a:t>
            </a:r>
            <a:r>
              <a:rPr lang="de-DE" sz="2600" noProof="0" dirty="0"/>
              <a:t>, wenn die Switch-Puffer überlaufen</a:t>
            </a:r>
            <a:endParaRPr kumimoji="0" lang="de-DE"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20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fade">
                                      <p:cBhvr>
                                        <p:cTn id="23" dur="2000"/>
                                        <p:tgtEl>
                                          <p:spTgt spid="8">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xEl>
                                              <p:pRg st="1" end="1"/>
                                            </p:txEl>
                                          </p:spTgt>
                                        </p:tgtEl>
                                        <p:attrNameLst>
                                          <p:attrName>style.visibility</p:attrName>
                                        </p:attrNameLst>
                                      </p:cBhvr>
                                      <p:to>
                                        <p:strVal val="visible"/>
                                      </p:to>
                                    </p:set>
                                    <p:animEffect transition="in" filter="fade">
                                      <p:cBhvr>
                                        <p:cTn id="26" dur="2000"/>
                                        <p:tgtEl>
                                          <p:spTgt spid="8">
                                            <p:txEl>
                                              <p:pRg st="1" end="1"/>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animEffect transition="in" filter="fade">
                                      <p:cBhvr>
                                        <p:cTn id="29" dur="2000"/>
                                        <p:tgtEl>
                                          <p:spTgt spid="8">
                                            <p:txEl>
                                              <p:pRg st="2" end="2"/>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xEl>
                                              <p:pRg st="3" end="3"/>
                                            </p:txEl>
                                          </p:spTgt>
                                        </p:tgtEl>
                                        <p:attrNameLst>
                                          <p:attrName>style.visibility</p:attrName>
                                        </p:attrNameLst>
                                      </p:cBhvr>
                                      <p:to>
                                        <p:strVal val="visible"/>
                                      </p:to>
                                    </p:set>
                                    <p:animEffect transition="in" filter="fade">
                                      <p:cBhvr>
                                        <p:cTn id="32" dur="20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24</a:t>
            </a:fld>
            <a:endParaRPr lang="de-DE" dirty="0"/>
          </a:p>
        </p:txBody>
      </p:sp>
      <p:sp>
        <p:nvSpPr>
          <p:cNvPr id="3" name="Titel 2"/>
          <p:cNvSpPr>
            <a:spLocks noGrp="1"/>
          </p:cNvSpPr>
          <p:nvPr>
            <p:ph type="title"/>
          </p:nvPr>
        </p:nvSpPr>
        <p:spPr>
          <a:xfrm>
            <a:off x="899592" y="2060848"/>
            <a:ext cx="7560840" cy="3096344"/>
          </a:xfrm>
        </p:spPr>
        <p:txBody>
          <a:bodyPr>
            <a:normAutofit/>
          </a:bodyPr>
          <a:lstStyle/>
          <a:p>
            <a:r>
              <a:rPr lang="de-DE" dirty="0"/>
              <a:t>Verzögerung, Verlust, Durchsatz </a:t>
            </a:r>
            <a:br>
              <a:rPr lang="de-DE" dirty="0"/>
            </a:br>
            <a:r>
              <a:rPr lang="de-DE" dirty="0"/>
              <a:t>in paketvermittelten Netzen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2"/>
          <p:cNvSpPr>
            <a:spLocks noGrp="1" noChangeArrowheads="1"/>
          </p:cNvSpPr>
          <p:nvPr>
            <p:ph type="title"/>
          </p:nvPr>
        </p:nvSpPr>
        <p:spPr/>
        <p:txBody>
          <a:bodyPr>
            <a:normAutofit fontScale="90000"/>
          </a:bodyPr>
          <a:lstStyle/>
          <a:p>
            <a:r>
              <a:rPr lang="de-DE" dirty="0">
                <a:latin typeface="+mn-lt"/>
              </a:rPr>
              <a:t>Wodurch entstehen Verzögerung und Verlust?</a:t>
            </a:r>
            <a:endParaRPr lang="de-DE" sz="4400" dirty="0">
              <a:latin typeface="+mn-lt"/>
            </a:endParaRPr>
          </a:p>
        </p:txBody>
      </p:sp>
      <p:sp>
        <p:nvSpPr>
          <p:cNvPr id="18437" name="Slide Number Placeholder 6"/>
          <p:cNvSpPr>
            <a:spLocks noGrp="1"/>
          </p:cNvSpPr>
          <p:nvPr>
            <p:ph type="sldNum" sz="quarter" idx="12"/>
          </p:nvPr>
        </p:nvSpPr>
        <p:spPr>
          <a:noFill/>
        </p:spPr>
        <p:txBody>
          <a:bodyPr/>
          <a:lstStyle/>
          <a:p>
            <a:fld id="{EC50E40E-7EA8-4900-B720-2B55F8F37A12}" type="slidenum">
              <a:rPr lang="de-DE" smtClean="0"/>
              <a:pPr/>
              <a:t>25</a:t>
            </a:fld>
            <a:endParaRPr lang="de-DE" dirty="0"/>
          </a:p>
        </p:txBody>
      </p:sp>
      <p:sp>
        <p:nvSpPr>
          <p:cNvPr id="18439" name="Rectangle 3"/>
          <p:cNvSpPr>
            <a:spLocks noGrp="1" noChangeArrowheads="1"/>
          </p:cNvSpPr>
          <p:nvPr>
            <p:ph sz="quarter" idx="1"/>
          </p:nvPr>
        </p:nvSpPr>
        <p:spPr>
          <a:xfrm>
            <a:off x="457200" y="1219200"/>
            <a:ext cx="8229600" cy="1705744"/>
          </a:xfrm>
        </p:spPr>
        <p:txBody>
          <a:bodyPr>
            <a:normAutofit/>
          </a:bodyPr>
          <a:lstStyle/>
          <a:p>
            <a:r>
              <a:rPr lang="de-DE" dirty="0"/>
              <a:t>An jedem Knoten (d.h. einem Host oder Router) seiner Reise zum Zielhost erfährt ein Paket verschiedene Verzögerungen – welche?</a:t>
            </a:r>
          </a:p>
        </p:txBody>
      </p:sp>
      <p:graphicFrame>
        <p:nvGraphicFramePr>
          <p:cNvPr id="18434" name="Object 5"/>
          <p:cNvGraphicFramePr>
            <a:graphicFrameLocks noChangeAspect="1"/>
          </p:cNvGraphicFramePr>
          <p:nvPr/>
        </p:nvGraphicFramePr>
        <p:xfrm>
          <a:off x="1298574" y="5509687"/>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1843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8574" y="5509687"/>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0" name="Oval 6"/>
          <p:cNvSpPr>
            <a:spLocks noChangeArrowheads="1"/>
          </p:cNvSpPr>
          <p:nvPr/>
        </p:nvSpPr>
        <p:spPr bwMode="auto">
          <a:xfrm>
            <a:off x="2339974" y="5268387"/>
            <a:ext cx="1198563" cy="369888"/>
          </a:xfrm>
          <a:prstGeom prst="ellipse">
            <a:avLst/>
          </a:prstGeom>
          <a:solidFill>
            <a:schemeClr val="hlink"/>
          </a:solidFill>
          <a:ln w="12700">
            <a:noFill/>
            <a:round/>
            <a:headEnd/>
            <a:tailEnd/>
          </a:ln>
        </p:spPr>
        <p:txBody>
          <a:bodyPr wrap="none" anchor="ctr"/>
          <a:lstStyle/>
          <a:p>
            <a:endParaRPr lang="de-DE"/>
          </a:p>
        </p:txBody>
      </p:sp>
      <p:sp>
        <p:nvSpPr>
          <p:cNvPr id="18441" name="Rectangle 7"/>
          <p:cNvSpPr>
            <a:spLocks noChangeArrowheads="1"/>
          </p:cNvSpPr>
          <p:nvPr/>
        </p:nvSpPr>
        <p:spPr bwMode="auto">
          <a:xfrm>
            <a:off x="2339974" y="5200125"/>
            <a:ext cx="1198563" cy="263525"/>
          </a:xfrm>
          <a:prstGeom prst="rect">
            <a:avLst/>
          </a:prstGeom>
          <a:solidFill>
            <a:schemeClr val="hlink"/>
          </a:solidFill>
          <a:ln w="12700">
            <a:noFill/>
            <a:miter lim="800000"/>
            <a:headEnd/>
            <a:tailEnd/>
          </a:ln>
        </p:spPr>
        <p:txBody>
          <a:bodyPr wrap="none" anchor="ctr"/>
          <a:lstStyle/>
          <a:p>
            <a:pPr algn="ctr"/>
            <a:endParaRPr lang="de-DE"/>
          </a:p>
        </p:txBody>
      </p:sp>
      <p:sp>
        <p:nvSpPr>
          <p:cNvPr id="18442" name="Oval 8"/>
          <p:cNvSpPr>
            <a:spLocks noChangeArrowheads="1"/>
          </p:cNvSpPr>
          <p:nvPr/>
        </p:nvSpPr>
        <p:spPr bwMode="auto">
          <a:xfrm>
            <a:off x="2349499" y="4971525"/>
            <a:ext cx="1198563" cy="430212"/>
          </a:xfrm>
          <a:prstGeom prst="ellipse">
            <a:avLst/>
          </a:prstGeom>
          <a:solidFill>
            <a:schemeClr val="hlink"/>
          </a:solidFill>
          <a:ln w="12700">
            <a:noFill/>
            <a:round/>
            <a:headEnd/>
            <a:tailEnd/>
          </a:ln>
        </p:spPr>
        <p:txBody>
          <a:bodyPr wrap="none" anchor="ctr"/>
          <a:lstStyle/>
          <a:p>
            <a:endParaRPr lang="de-DE"/>
          </a:p>
        </p:txBody>
      </p:sp>
      <p:grpSp>
        <p:nvGrpSpPr>
          <p:cNvPr id="2" name="Group 9"/>
          <p:cNvGrpSpPr>
            <a:grpSpLocks/>
          </p:cNvGrpSpPr>
          <p:nvPr/>
        </p:nvGrpSpPr>
        <p:grpSpPr bwMode="auto">
          <a:xfrm>
            <a:off x="2695574" y="5001687"/>
            <a:ext cx="498475" cy="119063"/>
            <a:chOff x="2208" y="2184"/>
            <a:chExt cx="176" cy="69"/>
          </a:xfrm>
        </p:grpSpPr>
        <p:grpSp>
          <p:nvGrpSpPr>
            <p:cNvPr id="3" name="Group 10"/>
            <p:cNvGrpSpPr>
              <a:grpSpLocks/>
            </p:cNvGrpSpPr>
            <p:nvPr/>
          </p:nvGrpSpPr>
          <p:grpSpPr bwMode="auto">
            <a:xfrm>
              <a:off x="2208" y="2185"/>
              <a:ext cx="176" cy="68"/>
              <a:chOff x="2848" y="848"/>
              <a:chExt cx="140" cy="98"/>
            </a:xfrm>
          </p:grpSpPr>
          <p:sp>
            <p:nvSpPr>
              <p:cNvPr id="18490" name="Line 1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8491" name="Line 1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8492" name="Line 1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 name="Group 14"/>
            <p:cNvGrpSpPr>
              <a:grpSpLocks/>
            </p:cNvGrpSpPr>
            <p:nvPr/>
          </p:nvGrpSpPr>
          <p:grpSpPr bwMode="auto">
            <a:xfrm flipV="1">
              <a:off x="2208" y="2184"/>
              <a:ext cx="176" cy="68"/>
              <a:chOff x="2848" y="848"/>
              <a:chExt cx="140" cy="98"/>
            </a:xfrm>
          </p:grpSpPr>
          <p:sp>
            <p:nvSpPr>
              <p:cNvPr id="18487" name="Line 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8488" name="Line 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8489" name="Line 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8444" name="Oval 18"/>
          <p:cNvSpPr>
            <a:spLocks noChangeArrowheads="1"/>
          </p:cNvSpPr>
          <p:nvPr/>
        </p:nvSpPr>
        <p:spPr bwMode="auto">
          <a:xfrm>
            <a:off x="5435599" y="5287437"/>
            <a:ext cx="1198563" cy="369888"/>
          </a:xfrm>
          <a:prstGeom prst="ellipse">
            <a:avLst/>
          </a:prstGeom>
          <a:solidFill>
            <a:schemeClr val="hlink"/>
          </a:solidFill>
          <a:ln w="12700">
            <a:noFill/>
            <a:round/>
            <a:headEnd/>
            <a:tailEnd/>
          </a:ln>
        </p:spPr>
        <p:txBody>
          <a:bodyPr wrap="none" anchor="ctr"/>
          <a:lstStyle/>
          <a:p>
            <a:endParaRPr lang="de-DE"/>
          </a:p>
        </p:txBody>
      </p:sp>
      <p:sp>
        <p:nvSpPr>
          <p:cNvPr id="18445" name="Line 19"/>
          <p:cNvSpPr>
            <a:spLocks noChangeShapeType="1"/>
          </p:cNvSpPr>
          <p:nvPr/>
        </p:nvSpPr>
        <p:spPr bwMode="auto">
          <a:xfrm>
            <a:off x="5445124" y="5266800"/>
            <a:ext cx="0" cy="228600"/>
          </a:xfrm>
          <a:prstGeom prst="line">
            <a:avLst/>
          </a:prstGeom>
          <a:noFill/>
          <a:ln w="12700">
            <a:solidFill>
              <a:schemeClr val="tx1"/>
            </a:solidFill>
            <a:round/>
            <a:headEnd/>
            <a:tailEnd/>
          </a:ln>
        </p:spPr>
        <p:txBody>
          <a:bodyPr wrap="none" anchor="ctr"/>
          <a:lstStyle/>
          <a:p>
            <a:endParaRPr lang="de-DE"/>
          </a:p>
        </p:txBody>
      </p:sp>
      <p:sp>
        <p:nvSpPr>
          <p:cNvPr id="18446" name="Rectangle 20"/>
          <p:cNvSpPr>
            <a:spLocks noChangeArrowheads="1"/>
          </p:cNvSpPr>
          <p:nvPr/>
        </p:nvSpPr>
        <p:spPr bwMode="auto">
          <a:xfrm>
            <a:off x="5445124" y="5228700"/>
            <a:ext cx="1198563" cy="263525"/>
          </a:xfrm>
          <a:prstGeom prst="rect">
            <a:avLst/>
          </a:prstGeom>
          <a:solidFill>
            <a:schemeClr val="hlink"/>
          </a:solidFill>
          <a:ln w="12700">
            <a:noFill/>
            <a:miter lim="800000"/>
            <a:headEnd/>
            <a:tailEnd/>
          </a:ln>
        </p:spPr>
        <p:txBody>
          <a:bodyPr wrap="none" anchor="ctr"/>
          <a:lstStyle/>
          <a:p>
            <a:pPr algn="ctr"/>
            <a:endParaRPr lang="de-DE"/>
          </a:p>
        </p:txBody>
      </p:sp>
      <p:sp>
        <p:nvSpPr>
          <p:cNvPr id="18447" name="Oval 21"/>
          <p:cNvSpPr>
            <a:spLocks noChangeArrowheads="1"/>
          </p:cNvSpPr>
          <p:nvPr/>
        </p:nvSpPr>
        <p:spPr bwMode="auto">
          <a:xfrm>
            <a:off x="5454649" y="5000100"/>
            <a:ext cx="1198563" cy="430212"/>
          </a:xfrm>
          <a:prstGeom prst="ellipse">
            <a:avLst/>
          </a:prstGeom>
          <a:solidFill>
            <a:schemeClr val="hlink"/>
          </a:solidFill>
          <a:ln w="12700">
            <a:noFill/>
            <a:round/>
            <a:headEnd/>
            <a:tailEnd/>
          </a:ln>
        </p:spPr>
        <p:txBody>
          <a:bodyPr wrap="none" anchor="ctr"/>
          <a:lstStyle/>
          <a:p>
            <a:endParaRPr lang="de-DE"/>
          </a:p>
        </p:txBody>
      </p:sp>
      <p:graphicFrame>
        <p:nvGraphicFramePr>
          <p:cNvPr id="18435" name="Object 23"/>
          <p:cNvGraphicFramePr>
            <a:graphicFrameLocks noChangeAspect="1"/>
          </p:cNvGraphicFramePr>
          <p:nvPr/>
        </p:nvGraphicFramePr>
        <p:xfrm>
          <a:off x="984249" y="4500037"/>
          <a:ext cx="646113" cy="53340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8435"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49" y="4500037"/>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8" name="Line 24"/>
          <p:cNvSpPr>
            <a:spLocks noChangeShapeType="1"/>
          </p:cNvSpPr>
          <p:nvPr/>
        </p:nvSpPr>
        <p:spPr bwMode="auto">
          <a:xfrm>
            <a:off x="1609724" y="4906437"/>
            <a:ext cx="504825" cy="0"/>
          </a:xfrm>
          <a:prstGeom prst="line">
            <a:avLst/>
          </a:prstGeom>
          <a:noFill/>
          <a:ln w="19050">
            <a:solidFill>
              <a:schemeClr val="tx1"/>
            </a:solidFill>
            <a:round/>
            <a:headEnd/>
            <a:tailEnd/>
          </a:ln>
        </p:spPr>
        <p:txBody>
          <a:bodyPr wrap="none" anchor="ctr"/>
          <a:lstStyle/>
          <a:p>
            <a:endParaRPr lang="de-DE"/>
          </a:p>
        </p:txBody>
      </p:sp>
      <p:sp>
        <p:nvSpPr>
          <p:cNvPr id="18449" name="Line 25"/>
          <p:cNvSpPr>
            <a:spLocks noChangeShapeType="1"/>
          </p:cNvSpPr>
          <p:nvPr/>
        </p:nvSpPr>
        <p:spPr bwMode="auto">
          <a:xfrm flipV="1">
            <a:off x="1914524" y="5892275"/>
            <a:ext cx="195263" cy="4762"/>
          </a:xfrm>
          <a:prstGeom prst="line">
            <a:avLst/>
          </a:prstGeom>
          <a:noFill/>
          <a:ln w="19050">
            <a:solidFill>
              <a:schemeClr val="tx1"/>
            </a:solidFill>
            <a:round/>
            <a:headEnd/>
            <a:tailEnd/>
          </a:ln>
        </p:spPr>
        <p:txBody>
          <a:bodyPr wrap="none" anchor="ctr"/>
          <a:lstStyle/>
          <a:p>
            <a:endParaRPr lang="de-DE"/>
          </a:p>
        </p:txBody>
      </p:sp>
      <p:sp>
        <p:nvSpPr>
          <p:cNvPr id="18450" name="Line 26"/>
          <p:cNvSpPr>
            <a:spLocks noChangeShapeType="1"/>
          </p:cNvSpPr>
          <p:nvPr/>
        </p:nvSpPr>
        <p:spPr bwMode="auto">
          <a:xfrm>
            <a:off x="3533774" y="5325537"/>
            <a:ext cx="1933575" cy="9525"/>
          </a:xfrm>
          <a:prstGeom prst="line">
            <a:avLst/>
          </a:prstGeom>
          <a:noFill/>
          <a:ln w="19050">
            <a:solidFill>
              <a:schemeClr val="tx1"/>
            </a:solidFill>
            <a:round/>
            <a:headEnd/>
            <a:tailEnd/>
          </a:ln>
        </p:spPr>
        <p:txBody>
          <a:bodyPr wrap="none" anchor="ctr"/>
          <a:lstStyle/>
          <a:p>
            <a:endParaRPr lang="de-DE"/>
          </a:p>
        </p:txBody>
      </p:sp>
      <p:sp>
        <p:nvSpPr>
          <p:cNvPr id="18451" name="Line 28"/>
          <p:cNvSpPr>
            <a:spLocks noChangeShapeType="1"/>
          </p:cNvSpPr>
          <p:nvPr/>
        </p:nvSpPr>
        <p:spPr bwMode="auto">
          <a:xfrm flipH="1">
            <a:off x="2114549" y="4896912"/>
            <a:ext cx="0" cy="1000125"/>
          </a:xfrm>
          <a:prstGeom prst="line">
            <a:avLst/>
          </a:prstGeom>
          <a:noFill/>
          <a:ln w="19050">
            <a:solidFill>
              <a:schemeClr val="tx1"/>
            </a:solidFill>
            <a:round/>
            <a:headEnd/>
            <a:tailEnd/>
          </a:ln>
        </p:spPr>
        <p:txBody>
          <a:bodyPr wrap="none" anchor="ctr"/>
          <a:lstStyle/>
          <a:p>
            <a:endParaRPr lang="de-DE"/>
          </a:p>
        </p:txBody>
      </p:sp>
      <p:sp>
        <p:nvSpPr>
          <p:cNvPr id="18452" name="Line 29"/>
          <p:cNvSpPr>
            <a:spLocks noChangeShapeType="1"/>
          </p:cNvSpPr>
          <p:nvPr/>
        </p:nvSpPr>
        <p:spPr bwMode="auto">
          <a:xfrm>
            <a:off x="2124074" y="5330300"/>
            <a:ext cx="200025" cy="0"/>
          </a:xfrm>
          <a:prstGeom prst="line">
            <a:avLst/>
          </a:prstGeom>
          <a:noFill/>
          <a:ln w="19050">
            <a:solidFill>
              <a:schemeClr val="tx1"/>
            </a:solidFill>
            <a:round/>
            <a:headEnd/>
            <a:tailEnd/>
          </a:ln>
        </p:spPr>
        <p:txBody>
          <a:bodyPr wrap="none" anchor="ctr"/>
          <a:lstStyle/>
          <a:p>
            <a:endParaRPr lang="de-DE"/>
          </a:p>
        </p:txBody>
      </p:sp>
      <p:sp>
        <p:nvSpPr>
          <p:cNvPr id="18453" name="Rectangle 40"/>
          <p:cNvSpPr>
            <a:spLocks noChangeArrowheads="1"/>
          </p:cNvSpPr>
          <p:nvPr/>
        </p:nvSpPr>
        <p:spPr bwMode="auto">
          <a:xfrm>
            <a:off x="3200399" y="5196950"/>
            <a:ext cx="147638" cy="200025"/>
          </a:xfrm>
          <a:prstGeom prst="rect">
            <a:avLst/>
          </a:prstGeom>
          <a:solidFill>
            <a:schemeClr val="accent1"/>
          </a:solidFill>
          <a:ln w="9525">
            <a:solidFill>
              <a:schemeClr val="tx1"/>
            </a:solidFill>
            <a:miter lim="800000"/>
            <a:headEnd/>
            <a:tailEnd/>
          </a:ln>
        </p:spPr>
        <p:txBody>
          <a:bodyPr wrap="none" anchor="ctr"/>
          <a:lstStyle/>
          <a:p>
            <a:pPr algn="ctr"/>
            <a:endParaRPr lang="de-DE"/>
          </a:p>
        </p:txBody>
      </p:sp>
      <p:sp>
        <p:nvSpPr>
          <p:cNvPr id="18454" name="Rectangle 41"/>
          <p:cNvSpPr>
            <a:spLocks noChangeArrowheads="1"/>
          </p:cNvSpPr>
          <p:nvPr/>
        </p:nvSpPr>
        <p:spPr bwMode="auto">
          <a:xfrm>
            <a:off x="3362324" y="5196950"/>
            <a:ext cx="147638"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8455" name="Rectangle 42"/>
          <p:cNvSpPr>
            <a:spLocks noChangeArrowheads="1"/>
          </p:cNvSpPr>
          <p:nvPr/>
        </p:nvSpPr>
        <p:spPr bwMode="auto">
          <a:xfrm>
            <a:off x="2147887" y="5096937"/>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8456" name="Line 44"/>
          <p:cNvSpPr>
            <a:spLocks noChangeShapeType="1"/>
          </p:cNvSpPr>
          <p:nvPr/>
        </p:nvSpPr>
        <p:spPr bwMode="auto">
          <a:xfrm>
            <a:off x="2324099" y="5201712"/>
            <a:ext cx="242888" cy="4763"/>
          </a:xfrm>
          <a:prstGeom prst="line">
            <a:avLst/>
          </a:prstGeom>
          <a:noFill/>
          <a:ln w="9525">
            <a:solidFill>
              <a:schemeClr val="tx1"/>
            </a:solidFill>
            <a:round/>
            <a:headEnd/>
            <a:tailEnd type="triangle" w="med" len="med"/>
          </a:ln>
        </p:spPr>
        <p:txBody>
          <a:bodyPr wrap="none" anchor="ctr"/>
          <a:lstStyle/>
          <a:p>
            <a:endParaRPr lang="de-DE"/>
          </a:p>
        </p:txBody>
      </p:sp>
      <p:sp>
        <p:nvSpPr>
          <p:cNvPr id="18457" name="Line 45"/>
          <p:cNvSpPr>
            <a:spLocks noChangeShapeType="1"/>
          </p:cNvSpPr>
          <p:nvPr/>
        </p:nvSpPr>
        <p:spPr bwMode="auto">
          <a:xfrm flipV="1">
            <a:off x="1990724" y="5477937"/>
            <a:ext cx="0" cy="176213"/>
          </a:xfrm>
          <a:prstGeom prst="line">
            <a:avLst/>
          </a:prstGeom>
          <a:noFill/>
          <a:ln w="9525">
            <a:solidFill>
              <a:schemeClr val="tx1"/>
            </a:solidFill>
            <a:round/>
            <a:headEnd/>
            <a:tailEnd type="triangle" w="med" len="med"/>
          </a:ln>
        </p:spPr>
        <p:txBody>
          <a:bodyPr wrap="none" anchor="ctr"/>
          <a:lstStyle/>
          <a:p>
            <a:endParaRPr lang="de-DE"/>
          </a:p>
        </p:txBody>
      </p:sp>
      <p:sp>
        <p:nvSpPr>
          <p:cNvPr id="18458" name="Text Box 47"/>
          <p:cNvSpPr txBox="1">
            <a:spLocks noChangeArrowheads="1"/>
          </p:cNvSpPr>
          <p:nvPr/>
        </p:nvSpPr>
        <p:spPr bwMode="auto">
          <a:xfrm>
            <a:off x="631824" y="4523850"/>
            <a:ext cx="338554" cy="369332"/>
          </a:xfrm>
          <a:prstGeom prst="rect">
            <a:avLst/>
          </a:prstGeom>
          <a:noFill/>
          <a:ln w="9525">
            <a:noFill/>
            <a:miter lim="800000"/>
            <a:headEnd/>
            <a:tailEnd/>
          </a:ln>
        </p:spPr>
        <p:txBody>
          <a:bodyPr wrap="none">
            <a:spAutoFit/>
          </a:bodyPr>
          <a:lstStyle/>
          <a:p>
            <a:r>
              <a:rPr lang="de-DE">
                <a:solidFill>
                  <a:srgbClr val="00CC66"/>
                </a:solidFill>
              </a:rPr>
              <a:t>A</a:t>
            </a:r>
          </a:p>
        </p:txBody>
      </p:sp>
      <p:sp>
        <p:nvSpPr>
          <p:cNvPr id="18459" name="Text Box 48"/>
          <p:cNvSpPr txBox="1">
            <a:spLocks noChangeArrowheads="1"/>
          </p:cNvSpPr>
          <p:nvPr/>
        </p:nvSpPr>
        <p:spPr bwMode="auto">
          <a:xfrm>
            <a:off x="908049" y="5543025"/>
            <a:ext cx="338554" cy="369332"/>
          </a:xfrm>
          <a:prstGeom prst="rect">
            <a:avLst/>
          </a:prstGeom>
          <a:noFill/>
          <a:ln w="9525">
            <a:noFill/>
            <a:miter lim="800000"/>
            <a:headEnd/>
            <a:tailEnd/>
          </a:ln>
        </p:spPr>
        <p:txBody>
          <a:bodyPr wrap="none">
            <a:spAutoFit/>
          </a:bodyPr>
          <a:lstStyle/>
          <a:p>
            <a:r>
              <a:rPr lang="de-DE">
                <a:solidFill>
                  <a:schemeClr val="accent2"/>
                </a:solidFill>
              </a:rPr>
              <a:t>B</a:t>
            </a:r>
            <a:endParaRPr lang="de-DE">
              <a:solidFill>
                <a:schemeClr val="accent1"/>
              </a:solidFill>
            </a:endParaRPr>
          </a:p>
        </p:txBody>
      </p:sp>
      <p:sp>
        <p:nvSpPr>
          <p:cNvPr id="18460" name="Rectangle 63"/>
          <p:cNvSpPr>
            <a:spLocks noChangeArrowheads="1"/>
          </p:cNvSpPr>
          <p:nvPr/>
        </p:nvSpPr>
        <p:spPr bwMode="auto">
          <a:xfrm>
            <a:off x="3490912" y="5135037"/>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grpSp>
        <p:nvGrpSpPr>
          <p:cNvPr id="5" name="Group 93"/>
          <p:cNvGrpSpPr>
            <a:grpSpLocks/>
          </p:cNvGrpSpPr>
          <p:nvPr/>
        </p:nvGrpSpPr>
        <p:grpSpPr bwMode="auto">
          <a:xfrm>
            <a:off x="3635577" y="4355697"/>
            <a:ext cx="4813310" cy="866775"/>
            <a:chOff x="2032" y="2315"/>
            <a:chExt cx="3032" cy="546"/>
          </a:xfrm>
        </p:grpSpPr>
        <p:sp>
          <p:nvSpPr>
            <p:cNvPr id="18483" name="Text Box 66"/>
            <p:cNvSpPr txBox="1">
              <a:spLocks noChangeArrowheads="1"/>
            </p:cNvSpPr>
            <p:nvPr/>
          </p:nvSpPr>
          <p:spPr bwMode="auto">
            <a:xfrm>
              <a:off x="2613" y="2315"/>
              <a:ext cx="2451" cy="233"/>
            </a:xfrm>
            <a:prstGeom prst="rect">
              <a:avLst/>
            </a:prstGeom>
            <a:noFill/>
            <a:ln w="9525">
              <a:noFill/>
              <a:miter lim="800000"/>
              <a:headEnd/>
              <a:tailEnd/>
            </a:ln>
          </p:spPr>
          <p:txBody>
            <a:bodyPr wrap="none">
              <a:spAutoFit/>
            </a:bodyPr>
            <a:lstStyle/>
            <a:p>
              <a:r>
                <a:rPr lang="de-DE" sz="1800" dirty="0"/>
                <a:t>Paket in Übertragung </a:t>
              </a:r>
              <a:r>
                <a:rPr lang="de-DE" sz="1800" dirty="0">
                  <a:solidFill>
                    <a:srgbClr val="FF0000"/>
                  </a:solidFill>
                </a:rPr>
                <a:t>(Verzögerung)</a:t>
              </a:r>
            </a:p>
          </p:txBody>
        </p:sp>
        <p:sp>
          <p:nvSpPr>
            <p:cNvPr id="18484" name="Line 67"/>
            <p:cNvSpPr>
              <a:spLocks noChangeShapeType="1"/>
            </p:cNvSpPr>
            <p:nvPr/>
          </p:nvSpPr>
          <p:spPr bwMode="auto">
            <a:xfrm rot="10800000" flipV="1">
              <a:off x="2032" y="2537"/>
              <a:ext cx="771" cy="324"/>
            </a:xfrm>
            <a:prstGeom prst="line">
              <a:avLst/>
            </a:prstGeom>
            <a:noFill/>
            <a:ln w="9525">
              <a:solidFill>
                <a:schemeClr val="tx1"/>
              </a:solidFill>
              <a:round/>
              <a:headEnd/>
              <a:tailEnd type="triangle" w="med" len="med"/>
            </a:ln>
          </p:spPr>
          <p:txBody>
            <a:bodyPr wrap="none" anchor="ctr"/>
            <a:lstStyle/>
            <a:p>
              <a:endParaRPr lang="de-DE"/>
            </a:p>
          </p:txBody>
        </p:sp>
      </p:grpSp>
      <p:grpSp>
        <p:nvGrpSpPr>
          <p:cNvPr id="6" name="Group 94"/>
          <p:cNvGrpSpPr>
            <a:grpSpLocks/>
          </p:cNvGrpSpPr>
          <p:nvPr/>
        </p:nvGrpSpPr>
        <p:grpSpPr bwMode="auto">
          <a:xfrm>
            <a:off x="3338507" y="5455712"/>
            <a:ext cx="5341928" cy="808038"/>
            <a:chOff x="2103" y="3214"/>
            <a:chExt cx="3365" cy="509"/>
          </a:xfrm>
        </p:grpSpPr>
        <p:sp>
          <p:nvSpPr>
            <p:cNvPr id="18481" name="Text Box 72"/>
            <p:cNvSpPr txBox="1">
              <a:spLocks noChangeArrowheads="1"/>
            </p:cNvSpPr>
            <p:nvPr/>
          </p:nvSpPr>
          <p:spPr bwMode="auto">
            <a:xfrm>
              <a:off x="2530" y="3490"/>
              <a:ext cx="2938" cy="233"/>
            </a:xfrm>
            <a:prstGeom prst="rect">
              <a:avLst/>
            </a:prstGeom>
            <a:noFill/>
            <a:ln w="9525">
              <a:noFill/>
              <a:miter lim="800000"/>
              <a:headEnd/>
              <a:tailEnd/>
            </a:ln>
          </p:spPr>
          <p:txBody>
            <a:bodyPr wrap="none">
              <a:spAutoFit/>
            </a:bodyPr>
            <a:lstStyle/>
            <a:p>
              <a:r>
                <a:rPr lang="de-DE" sz="1800" dirty="0"/>
                <a:t>Pakete in der Warteschlange </a:t>
              </a:r>
              <a:r>
                <a:rPr lang="de-DE" dirty="0">
                  <a:solidFill>
                    <a:srgbClr val="FF0000"/>
                  </a:solidFill>
                </a:rPr>
                <a:t>(Verzögerung)</a:t>
              </a:r>
              <a:endParaRPr lang="de-DE" sz="1800" dirty="0"/>
            </a:p>
          </p:txBody>
        </p:sp>
        <p:sp>
          <p:nvSpPr>
            <p:cNvPr id="18482" name="Line 73"/>
            <p:cNvSpPr>
              <a:spLocks noChangeShapeType="1"/>
            </p:cNvSpPr>
            <p:nvPr/>
          </p:nvSpPr>
          <p:spPr bwMode="auto">
            <a:xfrm rot="10800000">
              <a:off x="2103" y="3214"/>
              <a:ext cx="471" cy="404"/>
            </a:xfrm>
            <a:prstGeom prst="line">
              <a:avLst/>
            </a:prstGeom>
            <a:noFill/>
            <a:ln w="9525">
              <a:solidFill>
                <a:schemeClr val="tx1"/>
              </a:solidFill>
              <a:round/>
              <a:headEnd/>
              <a:tailEnd type="triangle" w="med" len="med"/>
            </a:ln>
          </p:spPr>
          <p:txBody>
            <a:bodyPr wrap="none" anchor="ctr"/>
            <a:lstStyle/>
            <a:p>
              <a:endParaRPr lang="de-DE"/>
            </a:p>
          </p:txBody>
        </p:sp>
      </p:grpSp>
      <p:grpSp>
        <p:nvGrpSpPr>
          <p:cNvPr id="7" name="Group 74"/>
          <p:cNvGrpSpPr>
            <a:grpSpLocks/>
          </p:cNvGrpSpPr>
          <p:nvPr/>
        </p:nvGrpSpPr>
        <p:grpSpPr bwMode="auto">
          <a:xfrm>
            <a:off x="5781674" y="5058837"/>
            <a:ext cx="498475" cy="119063"/>
            <a:chOff x="2208" y="2184"/>
            <a:chExt cx="176" cy="69"/>
          </a:xfrm>
        </p:grpSpPr>
        <p:grpSp>
          <p:nvGrpSpPr>
            <p:cNvPr id="8" name="Group 75"/>
            <p:cNvGrpSpPr>
              <a:grpSpLocks/>
            </p:cNvGrpSpPr>
            <p:nvPr/>
          </p:nvGrpSpPr>
          <p:grpSpPr bwMode="auto">
            <a:xfrm>
              <a:off x="2208" y="2185"/>
              <a:ext cx="176" cy="68"/>
              <a:chOff x="2848" y="848"/>
              <a:chExt cx="140" cy="98"/>
            </a:xfrm>
          </p:grpSpPr>
          <p:sp>
            <p:nvSpPr>
              <p:cNvPr id="18478" name="Line 7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8479" name="Line 7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8480" name="Line 7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9" name="Group 79"/>
            <p:cNvGrpSpPr>
              <a:grpSpLocks/>
            </p:cNvGrpSpPr>
            <p:nvPr/>
          </p:nvGrpSpPr>
          <p:grpSpPr bwMode="auto">
            <a:xfrm flipV="1">
              <a:off x="2208" y="2184"/>
              <a:ext cx="176" cy="68"/>
              <a:chOff x="2848" y="848"/>
              <a:chExt cx="140" cy="98"/>
            </a:xfrm>
          </p:grpSpPr>
          <p:sp>
            <p:nvSpPr>
              <p:cNvPr id="18475" name="Line 80"/>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8476" name="Line 81"/>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8477" name="Line 82"/>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8464" name="Rectangle 84"/>
          <p:cNvSpPr>
            <a:spLocks noChangeArrowheads="1"/>
          </p:cNvSpPr>
          <p:nvPr/>
        </p:nvSpPr>
        <p:spPr bwMode="auto">
          <a:xfrm>
            <a:off x="1673224" y="4625450"/>
            <a:ext cx="147638"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8465" name="Line 85"/>
          <p:cNvSpPr>
            <a:spLocks noChangeShapeType="1"/>
          </p:cNvSpPr>
          <p:nvPr/>
        </p:nvSpPr>
        <p:spPr bwMode="auto">
          <a:xfrm>
            <a:off x="1803399" y="4731812"/>
            <a:ext cx="242888" cy="4763"/>
          </a:xfrm>
          <a:prstGeom prst="line">
            <a:avLst/>
          </a:prstGeom>
          <a:noFill/>
          <a:ln w="9525">
            <a:solidFill>
              <a:schemeClr val="tx1"/>
            </a:solidFill>
            <a:round/>
            <a:headEnd/>
            <a:tailEnd type="triangle" w="med" len="med"/>
          </a:ln>
        </p:spPr>
        <p:txBody>
          <a:bodyPr wrap="none" anchor="ctr"/>
          <a:lstStyle/>
          <a:p>
            <a:endParaRPr lang="de-DE"/>
          </a:p>
        </p:txBody>
      </p:sp>
      <p:sp>
        <p:nvSpPr>
          <p:cNvPr id="18466" name="Rectangle 86"/>
          <p:cNvSpPr>
            <a:spLocks noChangeArrowheads="1"/>
          </p:cNvSpPr>
          <p:nvPr/>
        </p:nvSpPr>
        <p:spPr bwMode="auto">
          <a:xfrm>
            <a:off x="1944687" y="5655737"/>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8467" name="Rectangle 88"/>
          <p:cNvSpPr>
            <a:spLocks noChangeArrowheads="1"/>
          </p:cNvSpPr>
          <p:nvPr/>
        </p:nvSpPr>
        <p:spPr bwMode="auto">
          <a:xfrm>
            <a:off x="3060699" y="5196950"/>
            <a:ext cx="147638" cy="200025"/>
          </a:xfrm>
          <a:prstGeom prst="rect">
            <a:avLst/>
          </a:prstGeom>
          <a:solidFill>
            <a:schemeClr val="bg1"/>
          </a:solidFill>
          <a:ln w="9525">
            <a:solidFill>
              <a:schemeClr val="tx1"/>
            </a:solidFill>
            <a:miter lim="800000"/>
            <a:headEnd/>
            <a:tailEnd/>
          </a:ln>
        </p:spPr>
        <p:txBody>
          <a:bodyPr wrap="none" anchor="ctr"/>
          <a:lstStyle/>
          <a:p>
            <a:pPr algn="ctr"/>
            <a:endParaRPr lang="de-DE"/>
          </a:p>
        </p:txBody>
      </p:sp>
      <p:sp>
        <p:nvSpPr>
          <p:cNvPr id="18468" name="Rectangle 89"/>
          <p:cNvSpPr>
            <a:spLocks noChangeArrowheads="1"/>
          </p:cNvSpPr>
          <p:nvPr/>
        </p:nvSpPr>
        <p:spPr bwMode="auto">
          <a:xfrm>
            <a:off x="2920999" y="5196950"/>
            <a:ext cx="147638" cy="200025"/>
          </a:xfrm>
          <a:prstGeom prst="rect">
            <a:avLst/>
          </a:prstGeom>
          <a:solidFill>
            <a:schemeClr val="bg1"/>
          </a:solidFill>
          <a:ln w="9525">
            <a:solidFill>
              <a:schemeClr val="tx1"/>
            </a:solidFill>
            <a:miter lim="800000"/>
            <a:headEnd/>
            <a:tailEnd/>
          </a:ln>
        </p:spPr>
        <p:txBody>
          <a:bodyPr wrap="none" anchor="ctr"/>
          <a:lstStyle/>
          <a:p>
            <a:pPr algn="ctr"/>
            <a:endParaRPr lang="de-DE"/>
          </a:p>
        </p:txBody>
      </p:sp>
      <p:sp>
        <p:nvSpPr>
          <p:cNvPr id="18469" name="Rectangle 90"/>
          <p:cNvSpPr>
            <a:spLocks noChangeArrowheads="1"/>
          </p:cNvSpPr>
          <p:nvPr/>
        </p:nvSpPr>
        <p:spPr bwMode="auto">
          <a:xfrm>
            <a:off x="2781299" y="5196950"/>
            <a:ext cx="147638" cy="200025"/>
          </a:xfrm>
          <a:prstGeom prst="rect">
            <a:avLst/>
          </a:prstGeom>
          <a:solidFill>
            <a:schemeClr val="bg1"/>
          </a:solidFill>
          <a:ln w="9525">
            <a:solidFill>
              <a:schemeClr val="tx1"/>
            </a:solidFill>
            <a:miter lim="800000"/>
            <a:headEnd/>
            <a:tailEnd/>
          </a:ln>
        </p:spPr>
        <p:txBody>
          <a:bodyPr wrap="none" anchor="ctr"/>
          <a:lstStyle/>
          <a:p>
            <a:pPr algn="ctr"/>
            <a:endParaRPr lang="de-DE"/>
          </a:p>
        </p:txBody>
      </p:sp>
      <p:sp>
        <p:nvSpPr>
          <p:cNvPr id="61" name="Rectangle 3"/>
          <p:cNvSpPr>
            <a:spLocks noGrp="1" noChangeArrowheads="1"/>
          </p:cNvSpPr>
          <p:nvPr>
            <p:ph sz="quarter" idx="1"/>
          </p:nvPr>
        </p:nvSpPr>
        <p:spPr>
          <a:xfrm>
            <a:off x="450835" y="2492896"/>
            <a:ext cx="8229600" cy="1862800"/>
          </a:xfrm>
        </p:spPr>
        <p:txBody>
          <a:bodyPr>
            <a:normAutofit lnSpcReduction="10000"/>
          </a:bodyPr>
          <a:lstStyle/>
          <a:p>
            <a:r>
              <a:rPr lang="de-DE" b="1" dirty="0">
                <a:solidFill>
                  <a:srgbClr val="FF0000"/>
                </a:solidFill>
              </a:rPr>
              <a:t>Verarbeitungsverzögerung</a:t>
            </a:r>
          </a:p>
          <a:p>
            <a:r>
              <a:rPr lang="de-DE" b="1" dirty="0">
                <a:solidFill>
                  <a:srgbClr val="FF0000"/>
                </a:solidFill>
              </a:rPr>
              <a:t>Warteschlangenverzögerung</a:t>
            </a:r>
          </a:p>
          <a:p>
            <a:r>
              <a:rPr lang="de-DE" b="1" dirty="0">
                <a:solidFill>
                  <a:srgbClr val="FF0000"/>
                </a:solidFill>
              </a:rPr>
              <a:t>Übertragungsverzögerung</a:t>
            </a:r>
          </a:p>
          <a:p>
            <a:r>
              <a:rPr lang="de-DE" b="1" dirty="0">
                <a:solidFill>
                  <a:srgbClr val="FF0000"/>
                </a:solidFill>
              </a:rPr>
              <a:t>Ausbreitungsverzögerung </a:t>
            </a:r>
          </a:p>
        </p:txBody>
      </p:sp>
      <p:sp>
        <p:nvSpPr>
          <p:cNvPr id="58" name="Rechteck 8">
            <a:extLst>
              <a:ext uri="{FF2B5EF4-FFF2-40B4-BE49-F238E27FC236}">
                <a16:creationId xmlns:a16="http://schemas.microsoft.com/office/drawing/2014/main" id="{2A49CCEC-41ED-4A03-BE29-4830BED36A55}"/>
              </a:ext>
            </a:extLst>
          </p:cNvPr>
          <p:cNvSpPr/>
          <p:nvPr/>
        </p:nvSpPr>
        <p:spPr>
          <a:xfrm>
            <a:off x="6300192"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6"/>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animEffect transition="in" filter="fade">
                                      <p:cBhvr>
                                        <p:cTn id="7" dur="500"/>
                                        <p:tgtEl>
                                          <p:spTgt spid="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
                                            <p:txEl>
                                              <p:pRg st="1" end="1"/>
                                            </p:txEl>
                                          </p:spTgt>
                                        </p:tgtEl>
                                        <p:attrNameLst>
                                          <p:attrName>style.visibility</p:attrName>
                                        </p:attrNameLst>
                                      </p:cBhvr>
                                      <p:to>
                                        <p:strVal val="visible"/>
                                      </p:to>
                                    </p:set>
                                    <p:animEffect transition="in" filter="fade">
                                      <p:cBhvr>
                                        <p:cTn id="12" dur="500"/>
                                        <p:tgtEl>
                                          <p:spTgt spid="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
                                            <p:txEl>
                                              <p:pRg st="2" end="2"/>
                                            </p:txEl>
                                          </p:spTgt>
                                        </p:tgtEl>
                                        <p:attrNameLst>
                                          <p:attrName>style.visibility</p:attrName>
                                        </p:attrNameLst>
                                      </p:cBhvr>
                                      <p:to>
                                        <p:strVal val="visible"/>
                                      </p:to>
                                    </p:set>
                                    <p:animEffect transition="in" filter="fade">
                                      <p:cBhvr>
                                        <p:cTn id="17" dur="500"/>
                                        <p:tgtEl>
                                          <p:spTgt spid="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
                                            <p:txEl>
                                              <p:pRg st="3" end="3"/>
                                            </p:txEl>
                                          </p:spTgt>
                                        </p:tgtEl>
                                        <p:attrNameLst>
                                          <p:attrName>style.visibility</p:attrName>
                                        </p:attrNameLst>
                                      </p:cBhvr>
                                      <p:to>
                                        <p:strVal val="visible"/>
                                      </p:to>
                                    </p:set>
                                    <p:animEffect transition="in" filter="fade">
                                      <p:cBhvr>
                                        <p:cTn id="22" dur="500"/>
                                        <p:tgtEl>
                                          <p:spTgt spid="6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1B4CFF-8D98-92AE-E037-B62F62990F0B}"/>
              </a:ext>
            </a:extLst>
          </p:cNvPr>
          <p:cNvSpPr>
            <a:spLocks noGrp="1"/>
          </p:cNvSpPr>
          <p:nvPr>
            <p:ph type="title"/>
          </p:nvPr>
        </p:nvSpPr>
        <p:spPr/>
        <p:txBody>
          <a:bodyPr>
            <a:normAutofit fontScale="90000"/>
          </a:bodyPr>
          <a:lstStyle/>
          <a:p>
            <a:r>
              <a:rPr lang="de-DE" b="1" dirty="0"/>
              <a:t>Warteschlangenverzögerung</a:t>
            </a:r>
            <a:r>
              <a:rPr lang="de-DE" dirty="0"/>
              <a:t> bei der Paketvermittlung an der Uni HD</a:t>
            </a:r>
          </a:p>
        </p:txBody>
      </p:sp>
      <p:sp>
        <p:nvSpPr>
          <p:cNvPr id="3" name="Foliennummernplatzhalter 2">
            <a:extLst>
              <a:ext uri="{FF2B5EF4-FFF2-40B4-BE49-F238E27FC236}">
                <a16:creationId xmlns:a16="http://schemas.microsoft.com/office/drawing/2014/main" id="{E28BB566-269E-DB5E-186B-B168B88557DA}"/>
              </a:ext>
            </a:extLst>
          </p:cNvPr>
          <p:cNvSpPr>
            <a:spLocks noGrp="1"/>
          </p:cNvSpPr>
          <p:nvPr>
            <p:ph type="sldNum" sz="quarter" idx="12"/>
          </p:nvPr>
        </p:nvSpPr>
        <p:spPr/>
        <p:txBody>
          <a:bodyPr/>
          <a:lstStyle/>
          <a:p>
            <a:fld id="{7183533A-8A50-4A1F-BEA9-C8C6956451EB}" type="slidenum">
              <a:rPr lang="en-US" noProof="0" smtClean="0"/>
              <a:pPr/>
              <a:t>26</a:t>
            </a:fld>
            <a:endParaRPr lang="en-US" noProof="0" dirty="0"/>
          </a:p>
        </p:txBody>
      </p:sp>
      <p:pic>
        <p:nvPicPr>
          <p:cNvPr id="13" name="Inhaltsplatzhalter 9" descr="Ein Bild, das Kleidung, Schuhwerk, Jeans, Person enthält.&#10;&#10;KI-generierte Inhalte können fehlerhaft sein.">
            <a:extLst>
              <a:ext uri="{FF2B5EF4-FFF2-40B4-BE49-F238E27FC236}">
                <a16:creationId xmlns:a16="http://schemas.microsoft.com/office/drawing/2014/main" id="{1CF20B7A-13E8-8609-6C82-7ECCEFF495A5}"/>
              </a:ext>
            </a:extLst>
          </p:cNvPr>
          <p:cNvPicPr>
            <a:picLocks noGrp="1" noChangeAspect="1"/>
          </p:cNvPicPr>
          <p:nvPr>
            <p:ph sz="quarter" idx="1"/>
          </p:nvPr>
        </p:nvPicPr>
        <p:blipFill>
          <a:blip r:embed="rId2" cstate="screen">
            <a:extLst>
              <a:ext uri="{28A0092B-C50C-407E-A947-70E740481C1C}">
                <a14:useLocalDpi xmlns:a14="http://schemas.microsoft.com/office/drawing/2010/main" val="0"/>
              </a:ext>
            </a:extLst>
          </a:blip>
          <a:stretch>
            <a:fillRect/>
          </a:stretch>
        </p:blipFill>
        <p:spPr>
          <a:xfrm>
            <a:off x="1099252" y="1219200"/>
            <a:ext cx="6945495" cy="5210175"/>
          </a:xfrm>
        </p:spPr>
      </p:pic>
    </p:spTree>
    <p:extLst>
      <p:ext uri="{BB962C8B-B14F-4D97-AF65-F5344CB8AC3E}">
        <p14:creationId xmlns:p14="http://schemas.microsoft.com/office/powerpoint/2010/main" val="1513784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Slide Number Placeholder 6"/>
          <p:cNvSpPr>
            <a:spLocks noGrp="1"/>
          </p:cNvSpPr>
          <p:nvPr>
            <p:ph type="sldNum" sz="quarter" idx="12"/>
          </p:nvPr>
        </p:nvSpPr>
        <p:spPr>
          <a:noFill/>
        </p:spPr>
        <p:txBody>
          <a:bodyPr/>
          <a:lstStyle/>
          <a:p>
            <a:fld id="{BCBB53FB-33D2-4DA6-A2DB-C6DE1BB7DA58}" type="slidenum">
              <a:rPr lang="de-DE" smtClean="0"/>
              <a:pPr/>
              <a:t>27</a:t>
            </a:fld>
            <a:endParaRPr lang="de-DE" dirty="0"/>
          </a:p>
        </p:txBody>
      </p:sp>
      <p:sp>
        <p:nvSpPr>
          <p:cNvPr id="19462" name="Rectangle 2"/>
          <p:cNvSpPr>
            <a:spLocks noGrp="1" noChangeArrowheads="1"/>
          </p:cNvSpPr>
          <p:nvPr>
            <p:ph type="title"/>
          </p:nvPr>
        </p:nvSpPr>
        <p:spPr>
          <a:xfrm>
            <a:off x="476250" y="266700"/>
            <a:ext cx="7772400" cy="858044"/>
          </a:xfrm>
        </p:spPr>
        <p:txBody>
          <a:bodyPr/>
          <a:lstStyle/>
          <a:p>
            <a:r>
              <a:rPr lang="de-DE" dirty="0">
                <a:latin typeface="+mn-lt"/>
              </a:rPr>
              <a:t>Arten der Verzögerung</a:t>
            </a:r>
            <a:endParaRPr lang="de-DE" sz="4400" dirty="0">
              <a:latin typeface="+mn-lt"/>
            </a:endParaRPr>
          </a:p>
        </p:txBody>
      </p:sp>
      <p:sp>
        <p:nvSpPr>
          <p:cNvPr id="19463" name="Rectangle 4"/>
          <p:cNvSpPr>
            <a:spLocks noGrp="1" noChangeArrowheads="1"/>
          </p:cNvSpPr>
          <p:nvPr>
            <p:ph type="body" sz="half" idx="2"/>
          </p:nvPr>
        </p:nvSpPr>
        <p:spPr>
          <a:xfrm>
            <a:off x="467543" y="1268760"/>
            <a:ext cx="4392489" cy="2664296"/>
          </a:xfrm>
        </p:spPr>
        <p:txBody>
          <a:bodyPr>
            <a:noAutofit/>
          </a:bodyPr>
          <a:lstStyle/>
          <a:p>
            <a:r>
              <a:rPr lang="de-DE" sz="2400" dirty="0">
                <a:solidFill>
                  <a:srgbClr val="FF0000"/>
                </a:solidFill>
              </a:rPr>
              <a:t>1. Verarbeitungsverzögerung</a:t>
            </a:r>
            <a:r>
              <a:rPr lang="de-DE" sz="2400" dirty="0"/>
              <a:t> </a:t>
            </a:r>
          </a:p>
          <a:p>
            <a:pPr lvl="1"/>
            <a:r>
              <a:rPr lang="de-DE" sz="2000" dirty="0"/>
              <a:t>Die Zeitdauer, welche zur Prüfung des Paket-Headers sowie zur Entscheidung über den weiteren Weg des Paketes benötigt wird </a:t>
            </a:r>
          </a:p>
          <a:p>
            <a:pPr lvl="1"/>
            <a:r>
              <a:rPr lang="de-DE" sz="2000" dirty="0"/>
              <a:t>Zeit, um nach Bitfehlern der Übertragung zu suchen </a:t>
            </a:r>
          </a:p>
        </p:txBody>
      </p:sp>
      <p:grpSp>
        <p:nvGrpSpPr>
          <p:cNvPr id="2" name="Group 5"/>
          <p:cNvGrpSpPr>
            <a:grpSpLocks/>
          </p:cNvGrpSpPr>
          <p:nvPr/>
        </p:nvGrpSpPr>
        <p:grpSpPr bwMode="auto">
          <a:xfrm>
            <a:off x="713832" y="4623595"/>
            <a:ext cx="6021388" cy="2160588"/>
            <a:chOff x="494" y="2702"/>
            <a:chExt cx="3793" cy="1361"/>
          </a:xfrm>
        </p:grpSpPr>
        <p:graphicFrame>
          <p:nvGraphicFramePr>
            <p:cNvPr id="19458" name="Object 6"/>
            <p:cNvGraphicFramePr>
              <a:graphicFrameLocks noChangeAspect="1"/>
            </p:cNvGraphicFramePr>
            <p:nvPr/>
          </p:nvGraphicFramePr>
          <p:xfrm>
            <a:off x="914" y="3452"/>
            <a:ext cx="407" cy="336"/>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1945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 y="3452"/>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6" name="Oval 7"/>
            <p:cNvSpPr>
              <a:spLocks noChangeArrowheads="1"/>
            </p:cNvSpPr>
            <p:nvPr/>
          </p:nvSpPr>
          <p:spPr bwMode="auto">
            <a:xfrm>
              <a:off x="1570" y="3300"/>
              <a:ext cx="755" cy="233"/>
            </a:xfrm>
            <a:prstGeom prst="ellipse">
              <a:avLst/>
            </a:prstGeom>
            <a:solidFill>
              <a:schemeClr val="hlink"/>
            </a:solidFill>
            <a:ln w="12700">
              <a:noFill/>
              <a:round/>
              <a:headEnd/>
              <a:tailEnd/>
            </a:ln>
          </p:spPr>
          <p:txBody>
            <a:bodyPr wrap="none" anchor="ctr"/>
            <a:lstStyle/>
            <a:p>
              <a:endParaRPr lang="de-DE"/>
            </a:p>
          </p:txBody>
        </p:sp>
        <p:sp>
          <p:nvSpPr>
            <p:cNvPr id="19467" name="Rectangle 8"/>
            <p:cNvSpPr>
              <a:spLocks noChangeArrowheads="1"/>
            </p:cNvSpPr>
            <p:nvPr/>
          </p:nvSpPr>
          <p:spPr bwMode="auto">
            <a:xfrm>
              <a:off x="1570" y="3257"/>
              <a:ext cx="755" cy="166"/>
            </a:xfrm>
            <a:prstGeom prst="rect">
              <a:avLst/>
            </a:prstGeom>
            <a:solidFill>
              <a:schemeClr val="hlink"/>
            </a:solidFill>
            <a:ln w="12700">
              <a:noFill/>
              <a:miter lim="800000"/>
              <a:headEnd/>
              <a:tailEnd/>
            </a:ln>
          </p:spPr>
          <p:txBody>
            <a:bodyPr wrap="none" anchor="ctr"/>
            <a:lstStyle/>
            <a:p>
              <a:pPr algn="ctr"/>
              <a:endParaRPr lang="de-DE"/>
            </a:p>
          </p:txBody>
        </p:sp>
        <p:sp>
          <p:nvSpPr>
            <p:cNvPr id="19468" name="Oval 9"/>
            <p:cNvSpPr>
              <a:spLocks noChangeArrowheads="1"/>
            </p:cNvSpPr>
            <p:nvPr/>
          </p:nvSpPr>
          <p:spPr bwMode="auto">
            <a:xfrm>
              <a:off x="1576" y="3113"/>
              <a:ext cx="755" cy="271"/>
            </a:xfrm>
            <a:prstGeom prst="ellipse">
              <a:avLst/>
            </a:prstGeom>
            <a:solidFill>
              <a:schemeClr val="hlink"/>
            </a:solidFill>
            <a:ln w="12700">
              <a:noFill/>
              <a:round/>
              <a:headEnd/>
              <a:tailEnd/>
            </a:ln>
          </p:spPr>
          <p:txBody>
            <a:bodyPr wrap="none" anchor="ctr"/>
            <a:lstStyle/>
            <a:p>
              <a:endParaRPr lang="de-DE"/>
            </a:p>
          </p:txBody>
        </p:sp>
        <p:grpSp>
          <p:nvGrpSpPr>
            <p:cNvPr id="3" name="Group 10"/>
            <p:cNvGrpSpPr>
              <a:grpSpLocks/>
            </p:cNvGrpSpPr>
            <p:nvPr/>
          </p:nvGrpSpPr>
          <p:grpSpPr bwMode="auto">
            <a:xfrm>
              <a:off x="1794" y="3132"/>
              <a:ext cx="314" cy="75"/>
              <a:chOff x="2208" y="2184"/>
              <a:chExt cx="176" cy="69"/>
            </a:xfrm>
          </p:grpSpPr>
          <p:grpSp>
            <p:nvGrpSpPr>
              <p:cNvPr id="4" name="Group 11"/>
              <p:cNvGrpSpPr>
                <a:grpSpLocks/>
              </p:cNvGrpSpPr>
              <p:nvPr/>
            </p:nvGrpSpPr>
            <p:grpSpPr bwMode="auto">
              <a:xfrm>
                <a:off x="2208" y="2185"/>
                <a:ext cx="176" cy="68"/>
                <a:chOff x="2848" y="848"/>
                <a:chExt cx="140" cy="98"/>
              </a:xfrm>
            </p:grpSpPr>
            <p:sp>
              <p:nvSpPr>
                <p:cNvPr id="19512" name="Line 12"/>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9513" name="Line 13"/>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9514" name="Line 14"/>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5" name="Group 15"/>
              <p:cNvGrpSpPr>
                <a:grpSpLocks/>
              </p:cNvGrpSpPr>
              <p:nvPr/>
            </p:nvGrpSpPr>
            <p:grpSpPr bwMode="auto">
              <a:xfrm flipV="1">
                <a:off x="2208" y="2184"/>
                <a:ext cx="176" cy="68"/>
                <a:chOff x="2848" y="848"/>
                <a:chExt cx="140" cy="98"/>
              </a:xfrm>
            </p:grpSpPr>
            <p:sp>
              <p:nvSpPr>
                <p:cNvPr id="19509" name="Line 1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9510" name="Line 1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9511" name="Line 1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9470" name="Oval 19"/>
            <p:cNvSpPr>
              <a:spLocks noChangeArrowheads="1"/>
            </p:cNvSpPr>
            <p:nvPr/>
          </p:nvSpPr>
          <p:spPr bwMode="auto">
            <a:xfrm>
              <a:off x="3520" y="3312"/>
              <a:ext cx="755" cy="233"/>
            </a:xfrm>
            <a:prstGeom prst="ellipse">
              <a:avLst/>
            </a:prstGeom>
            <a:solidFill>
              <a:schemeClr val="hlink"/>
            </a:solidFill>
            <a:ln w="12700">
              <a:noFill/>
              <a:round/>
              <a:headEnd/>
              <a:tailEnd/>
            </a:ln>
          </p:spPr>
          <p:txBody>
            <a:bodyPr wrap="none" anchor="ctr"/>
            <a:lstStyle/>
            <a:p>
              <a:endParaRPr lang="de-DE"/>
            </a:p>
          </p:txBody>
        </p:sp>
        <p:sp>
          <p:nvSpPr>
            <p:cNvPr id="19471" name="Line 20"/>
            <p:cNvSpPr>
              <a:spLocks noChangeShapeType="1"/>
            </p:cNvSpPr>
            <p:nvPr/>
          </p:nvSpPr>
          <p:spPr bwMode="auto">
            <a:xfrm>
              <a:off x="3526" y="3299"/>
              <a:ext cx="0" cy="144"/>
            </a:xfrm>
            <a:prstGeom prst="line">
              <a:avLst/>
            </a:prstGeom>
            <a:noFill/>
            <a:ln w="12700">
              <a:solidFill>
                <a:schemeClr val="tx1"/>
              </a:solidFill>
              <a:round/>
              <a:headEnd/>
              <a:tailEnd/>
            </a:ln>
          </p:spPr>
          <p:txBody>
            <a:bodyPr wrap="none" anchor="ctr"/>
            <a:lstStyle/>
            <a:p>
              <a:endParaRPr lang="de-DE"/>
            </a:p>
          </p:txBody>
        </p:sp>
        <p:sp>
          <p:nvSpPr>
            <p:cNvPr id="19472" name="Rectangle 21"/>
            <p:cNvSpPr>
              <a:spLocks noChangeArrowheads="1"/>
            </p:cNvSpPr>
            <p:nvPr/>
          </p:nvSpPr>
          <p:spPr bwMode="auto">
            <a:xfrm>
              <a:off x="3526" y="3275"/>
              <a:ext cx="755" cy="166"/>
            </a:xfrm>
            <a:prstGeom prst="rect">
              <a:avLst/>
            </a:prstGeom>
            <a:solidFill>
              <a:schemeClr val="hlink"/>
            </a:solidFill>
            <a:ln w="12700">
              <a:noFill/>
              <a:miter lim="800000"/>
              <a:headEnd/>
              <a:tailEnd/>
            </a:ln>
          </p:spPr>
          <p:txBody>
            <a:bodyPr wrap="none" anchor="ctr"/>
            <a:lstStyle/>
            <a:p>
              <a:pPr algn="ctr"/>
              <a:endParaRPr lang="de-DE"/>
            </a:p>
          </p:txBody>
        </p:sp>
        <p:sp>
          <p:nvSpPr>
            <p:cNvPr id="19473" name="Oval 22"/>
            <p:cNvSpPr>
              <a:spLocks noChangeArrowheads="1"/>
            </p:cNvSpPr>
            <p:nvPr/>
          </p:nvSpPr>
          <p:spPr bwMode="auto">
            <a:xfrm>
              <a:off x="3532" y="3131"/>
              <a:ext cx="755" cy="271"/>
            </a:xfrm>
            <a:prstGeom prst="ellipse">
              <a:avLst/>
            </a:prstGeom>
            <a:solidFill>
              <a:schemeClr val="hlink"/>
            </a:solidFill>
            <a:ln w="12700">
              <a:noFill/>
              <a:round/>
              <a:headEnd/>
              <a:tailEnd/>
            </a:ln>
          </p:spPr>
          <p:txBody>
            <a:bodyPr wrap="none" anchor="ctr"/>
            <a:lstStyle/>
            <a:p>
              <a:endParaRPr lang="de-DE"/>
            </a:p>
          </p:txBody>
        </p:sp>
        <p:graphicFrame>
          <p:nvGraphicFramePr>
            <p:cNvPr id="19459" name="Object 23"/>
            <p:cNvGraphicFramePr>
              <a:graphicFrameLocks noChangeAspect="1"/>
            </p:cNvGraphicFramePr>
            <p:nvPr/>
          </p:nvGraphicFramePr>
          <p:xfrm>
            <a:off x="716" y="2816"/>
            <a:ext cx="407" cy="336"/>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9459"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 y="2816"/>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74" name="Line 24"/>
            <p:cNvSpPr>
              <a:spLocks noChangeShapeType="1"/>
            </p:cNvSpPr>
            <p:nvPr/>
          </p:nvSpPr>
          <p:spPr bwMode="auto">
            <a:xfrm>
              <a:off x="1110" y="3072"/>
              <a:ext cx="318" cy="0"/>
            </a:xfrm>
            <a:prstGeom prst="line">
              <a:avLst/>
            </a:prstGeom>
            <a:noFill/>
            <a:ln w="19050">
              <a:solidFill>
                <a:schemeClr val="tx1"/>
              </a:solidFill>
              <a:round/>
              <a:headEnd/>
              <a:tailEnd/>
            </a:ln>
          </p:spPr>
          <p:txBody>
            <a:bodyPr wrap="none" anchor="ctr"/>
            <a:lstStyle/>
            <a:p>
              <a:endParaRPr lang="de-DE"/>
            </a:p>
          </p:txBody>
        </p:sp>
        <p:sp>
          <p:nvSpPr>
            <p:cNvPr id="19475" name="Line 25"/>
            <p:cNvSpPr>
              <a:spLocks noChangeShapeType="1"/>
            </p:cNvSpPr>
            <p:nvPr/>
          </p:nvSpPr>
          <p:spPr bwMode="auto">
            <a:xfrm flipV="1">
              <a:off x="1302" y="3693"/>
              <a:ext cx="123" cy="3"/>
            </a:xfrm>
            <a:prstGeom prst="line">
              <a:avLst/>
            </a:prstGeom>
            <a:noFill/>
            <a:ln w="19050">
              <a:solidFill>
                <a:schemeClr val="tx1"/>
              </a:solidFill>
              <a:round/>
              <a:headEnd/>
              <a:tailEnd/>
            </a:ln>
          </p:spPr>
          <p:txBody>
            <a:bodyPr wrap="none" anchor="ctr"/>
            <a:lstStyle/>
            <a:p>
              <a:endParaRPr lang="de-DE"/>
            </a:p>
          </p:txBody>
        </p:sp>
        <p:sp>
          <p:nvSpPr>
            <p:cNvPr id="19476" name="Line 26"/>
            <p:cNvSpPr>
              <a:spLocks noChangeShapeType="1"/>
            </p:cNvSpPr>
            <p:nvPr/>
          </p:nvSpPr>
          <p:spPr bwMode="auto">
            <a:xfrm>
              <a:off x="2322" y="3336"/>
              <a:ext cx="1218" cy="6"/>
            </a:xfrm>
            <a:prstGeom prst="line">
              <a:avLst/>
            </a:prstGeom>
            <a:noFill/>
            <a:ln w="19050">
              <a:solidFill>
                <a:schemeClr val="tx1"/>
              </a:solidFill>
              <a:round/>
              <a:headEnd/>
              <a:tailEnd/>
            </a:ln>
          </p:spPr>
          <p:txBody>
            <a:bodyPr wrap="none" anchor="ctr"/>
            <a:lstStyle/>
            <a:p>
              <a:endParaRPr lang="de-DE"/>
            </a:p>
          </p:txBody>
        </p:sp>
        <p:sp>
          <p:nvSpPr>
            <p:cNvPr id="19477" name="Line 27"/>
            <p:cNvSpPr>
              <a:spLocks noChangeShapeType="1"/>
            </p:cNvSpPr>
            <p:nvPr/>
          </p:nvSpPr>
          <p:spPr bwMode="auto">
            <a:xfrm flipH="1">
              <a:off x="1428" y="3066"/>
              <a:ext cx="0" cy="630"/>
            </a:xfrm>
            <a:prstGeom prst="line">
              <a:avLst/>
            </a:prstGeom>
            <a:noFill/>
            <a:ln w="19050">
              <a:solidFill>
                <a:schemeClr val="tx1"/>
              </a:solidFill>
              <a:round/>
              <a:headEnd/>
              <a:tailEnd/>
            </a:ln>
          </p:spPr>
          <p:txBody>
            <a:bodyPr wrap="none" anchor="ctr"/>
            <a:lstStyle/>
            <a:p>
              <a:endParaRPr lang="de-DE"/>
            </a:p>
          </p:txBody>
        </p:sp>
        <p:sp>
          <p:nvSpPr>
            <p:cNvPr id="19478" name="Line 28"/>
            <p:cNvSpPr>
              <a:spLocks noChangeShapeType="1"/>
            </p:cNvSpPr>
            <p:nvPr/>
          </p:nvSpPr>
          <p:spPr bwMode="auto">
            <a:xfrm>
              <a:off x="1434" y="3339"/>
              <a:ext cx="126" cy="0"/>
            </a:xfrm>
            <a:prstGeom prst="line">
              <a:avLst/>
            </a:prstGeom>
            <a:noFill/>
            <a:ln w="19050">
              <a:solidFill>
                <a:schemeClr val="tx1"/>
              </a:solidFill>
              <a:round/>
              <a:headEnd/>
              <a:tailEnd/>
            </a:ln>
          </p:spPr>
          <p:txBody>
            <a:bodyPr wrap="none" anchor="ctr"/>
            <a:lstStyle/>
            <a:p>
              <a:endParaRPr lang="de-DE"/>
            </a:p>
          </p:txBody>
        </p:sp>
        <p:sp>
          <p:nvSpPr>
            <p:cNvPr id="19479" name="Rectangle 29"/>
            <p:cNvSpPr>
              <a:spLocks noChangeArrowheads="1"/>
            </p:cNvSpPr>
            <p:nvPr/>
          </p:nvSpPr>
          <p:spPr bwMode="auto">
            <a:xfrm>
              <a:off x="2901" y="3210"/>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9480" name="Rectangle 30"/>
            <p:cNvSpPr>
              <a:spLocks noChangeArrowheads="1"/>
            </p:cNvSpPr>
            <p:nvPr/>
          </p:nvSpPr>
          <p:spPr bwMode="auto">
            <a:xfrm>
              <a:off x="2112" y="325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9481" name="Rectangle 31"/>
            <p:cNvSpPr>
              <a:spLocks noChangeArrowheads="1"/>
            </p:cNvSpPr>
            <p:nvPr/>
          </p:nvSpPr>
          <p:spPr bwMode="auto">
            <a:xfrm>
              <a:off x="2214" y="3255"/>
              <a:ext cx="93" cy="12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9482" name="Rectangle 32"/>
            <p:cNvSpPr>
              <a:spLocks noChangeArrowheads="1"/>
            </p:cNvSpPr>
            <p:nvPr/>
          </p:nvSpPr>
          <p:spPr bwMode="auto">
            <a:xfrm>
              <a:off x="1449" y="3192"/>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9483" name="Line 33"/>
            <p:cNvSpPr>
              <a:spLocks noChangeShapeType="1"/>
            </p:cNvSpPr>
            <p:nvPr/>
          </p:nvSpPr>
          <p:spPr bwMode="auto">
            <a:xfrm>
              <a:off x="1560" y="3258"/>
              <a:ext cx="153" cy="3"/>
            </a:xfrm>
            <a:prstGeom prst="line">
              <a:avLst/>
            </a:prstGeom>
            <a:noFill/>
            <a:ln w="9525">
              <a:solidFill>
                <a:schemeClr val="tx1"/>
              </a:solidFill>
              <a:round/>
              <a:headEnd/>
              <a:tailEnd type="triangle" w="med" len="med"/>
            </a:ln>
          </p:spPr>
          <p:txBody>
            <a:bodyPr wrap="none" anchor="ctr"/>
            <a:lstStyle/>
            <a:p>
              <a:endParaRPr lang="de-DE"/>
            </a:p>
          </p:txBody>
        </p:sp>
        <p:sp>
          <p:nvSpPr>
            <p:cNvPr id="19484" name="Line 34"/>
            <p:cNvSpPr>
              <a:spLocks noChangeShapeType="1"/>
            </p:cNvSpPr>
            <p:nvPr/>
          </p:nvSpPr>
          <p:spPr bwMode="auto">
            <a:xfrm flipV="1">
              <a:off x="1350" y="3432"/>
              <a:ext cx="0" cy="111"/>
            </a:xfrm>
            <a:prstGeom prst="line">
              <a:avLst/>
            </a:prstGeom>
            <a:noFill/>
            <a:ln w="9525">
              <a:solidFill>
                <a:schemeClr val="tx1"/>
              </a:solidFill>
              <a:round/>
              <a:headEnd/>
              <a:tailEnd type="triangle" w="med" len="med"/>
            </a:ln>
          </p:spPr>
          <p:txBody>
            <a:bodyPr wrap="none" anchor="ctr"/>
            <a:lstStyle/>
            <a:p>
              <a:endParaRPr lang="de-DE"/>
            </a:p>
          </p:txBody>
        </p:sp>
        <p:sp>
          <p:nvSpPr>
            <p:cNvPr id="19485" name="Line 35"/>
            <p:cNvSpPr>
              <a:spLocks noChangeShapeType="1"/>
            </p:cNvSpPr>
            <p:nvPr/>
          </p:nvSpPr>
          <p:spPr bwMode="auto">
            <a:xfrm flipV="1">
              <a:off x="3387" y="3084"/>
              <a:ext cx="231" cy="0"/>
            </a:xfrm>
            <a:prstGeom prst="line">
              <a:avLst/>
            </a:prstGeom>
            <a:noFill/>
            <a:ln w="9525">
              <a:solidFill>
                <a:schemeClr val="tx1"/>
              </a:solidFill>
              <a:round/>
              <a:headEnd/>
              <a:tailEnd type="triangle" w="med" len="med"/>
            </a:ln>
          </p:spPr>
          <p:txBody>
            <a:bodyPr wrap="none" anchor="ctr"/>
            <a:lstStyle/>
            <a:p>
              <a:endParaRPr lang="de-DE"/>
            </a:p>
          </p:txBody>
        </p:sp>
        <p:sp>
          <p:nvSpPr>
            <p:cNvPr id="19486" name="Text Box 36"/>
            <p:cNvSpPr txBox="1">
              <a:spLocks noChangeArrowheads="1"/>
            </p:cNvSpPr>
            <p:nvPr/>
          </p:nvSpPr>
          <p:spPr bwMode="auto">
            <a:xfrm>
              <a:off x="494" y="2831"/>
              <a:ext cx="213" cy="233"/>
            </a:xfrm>
            <a:prstGeom prst="rect">
              <a:avLst/>
            </a:prstGeom>
            <a:noFill/>
            <a:ln w="9525">
              <a:noFill/>
              <a:miter lim="800000"/>
              <a:headEnd/>
              <a:tailEnd/>
            </a:ln>
          </p:spPr>
          <p:txBody>
            <a:bodyPr wrap="none">
              <a:spAutoFit/>
            </a:bodyPr>
            <a:lstStyle/>
            <a:p>
              <a:r>
                <a:rPr lang="de-DE">
                  <a:solidFill>
                    <a:srgbClr val="00CC66"/>
                  </a:solidFill>
                </a:rPr>
                <a:t>A</a:t>
              </a:r>
            </a:p>
          </p:txBody>
        </p:sp>
        <p:sp>
          <p:nvSpPr>
            <p:cNvPr id="19487" name="Text Box 37"/>
            <p:cNvSpPr txBox="1">
              <a:spLocks noChangeArrowheads="1"/>
            </p:cNvSpPr>
            <p:nvPr/>
          </p:nvSpPr>
          <p:spPr bwMode="auto">
            <a:xfrm>
              <a:off x="668" y="3473"/>
              <a:ext cx="213" cy="233"/>
            </a:xfrm>
            <a:prstGeom prst="rect">
              <a:avLst/>
            </a:prstGeom>
            <a:noFill/>
            <a:ln w="9525">
              <a:noFill/>
              <a:miter lim="800000"/>
              <a:headEnd/>
              <a:tailEnd/>
            </a:ln>
          </p:spPr>
          <p:txBody>
            <a:bodyPr wrap="none">
              <a:spAutoFit/>
            </a:bodyPr>
            <a:lstStyle/>
            <a:p>
              <a:r>
                <a:rPr lang="de-DE">
                  <a:solidFill>
                    <a:schemeClr val="accent2"/>
                  </a:solidFill>
                </a:rPr>
                <a:t>B</a:t>
              </a:r>
              <a:endParaRPr lang="de-DE">
                <a:solidFill>
                  <a:schemeClr val="accent1"/>
                </a:solidFill>
              </a:endParaRPr>
            </a:p>
          </p:txBody>
        </p:sp>
        <p:sp>
          <p:nvSpPr>
            <p:cNvPr id="19488" name="Rectangle 38"/>
            <p:cNvSpPr>
              <a:spLocks noChangeArrowheads="1"/>
            </p:cNvSpPr>
            <p:nvPr/>
          </p:nvSpPr>
          <p:spPr bwMode="auto">
            <a:xfrm>
              <a:off x="2295" y="3216"/>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9489" name="Text Box 39"/>
            <p:cNvSpPr txBox="1">
              <a:spLocks noChangeArrowheads="1"/>
            </p:cNvSpPr>
            <p:nvPr/>
          </p:nvSpPr>
          <p:spPr bwMode="auto">
            <a:xfrm>
              <a:off x="2613" y="2818"/>
              <a:ext cx="806" cy="407"/>
            </a:xfrm>
            <a:prstGeom prst="rect">
              <a:avLst/>
            </a:prstGeom>
            <a:noFill/>
            <a:ln w="9525">
              <a:noFill/>
              <a:miter lim="800000"/>
              <a:headEnd/>
              <a:tailEnd/>
            </a:ln>
          </p:spPr>
          <p:txBody>
            <a:bodyPr wrap="none">
              <a:spAutoFit/>
            </a:bodyPr>
            <a:lstStyle/>
            <a:p>
              <a:r>
                <a:rPr lang="de-DE" sz="1800" dirty="0">
                  <a:solidFill>
                    <a:srgbClr val="FF0000"/>
                  </a:solidFill>
                </a:rPr>
                <a:t>Signalaus-</a:t>
              </a:r>
            </a:p>
            <a:p>
              <a:r>
                <a:rPr lang="de-DE" sz="1800" dirty="0" err="1">
                  <a:solidFill>
                    <a:srgbClr val="FF0000"/>
                  </a:solidFill>
                </a:rPr>
                <a:t>breitung</a:t>
              </a:r>
              <a:endParaRPr lang="de-DE" sz="1800" dirty="0"/>
            </a:p>
          </p:txBody>
        </p:sp>
        <p:sp>
          <p:nvSpPr>
            <p:cNvPr id="19490" name="Line 40"/>
            <p:cNvSpPr>
              <a:spLocks noChangeShapeType="1"/>
            </p:cNvSpPr>
            <p:nvPr/>
          </p:nvSpPr>
          <p:spPr bwMode="auto">
            <a:xfrm rot="10800000">
              <a:off x="2385" y="3084"/>
              <a:ext cx="201" cy="0"/>
            </a:xfrm>
            <a:prstGeom prst="line">
              <a:avLst/>
            </a:prstGeom>
            <a:noFill/>
            <a:ln w="9525">
              <a:solidFill>
                <a:schemeClr val="tx1"/>
              </a:solidFill>
              <a:round/>
              <a:headEnd/>
              <a:tailEnd type="triangle" w="med" len="med"/>
            </a:ln>
          </p:spPr>
          <p:txBody>
            <a:bodyPr wrap="none" anchor="ctr"/>
            <a:lstStyle/>
            <a:p>
              <a:endParaRPr lang="de-DE"/>
            </a:p>
          </p:txBody>
        </p:sp>
        <p:sp>
          <p:nvSpPr>
            <p:cNvPr id="19491" name="Text Box 41"/>
            <p:cNvSpPr txBox="1">
              <a:spLocks noChangeArrowheads="1"/>
            </p:cNvSpPr>
            <p:nvPr/>
          </p:nvSpPr>
          <p:spPr bwMode="auto">
            <a:xfrm>
              <a:off x="1346" y="2702"/>
              <a:ext cx="924" cy="233"/>
            </a:xfrm>
            <a:prstGeom prst="rect">
              <a:avLst/>
            </a:prstGeom>
            <a:noFill/>
            <a:ln w="9525">
              <a:noFill/>
              <a:miter lim="800000"/>
              <a:headEnd/>
              <a:tailEnd/>
            </a:ln>
          </p:spPr>
          <p:txBody>
            <a:bodyPr wrap="none">
              <a:spAutoFit/>
            </a:bodyPr>
            <a:lstStyle/>
            <a:p>
              <a:r>
                <a:rPr lang="de-DE" sz="1800">
                  <a:solidFill>
                    <a:srgbClr val="FF0000"/>
                  </a:solidFill>
                </a:rPr>
                <a:t>Übertragung</a:t>
              </a:r>
              <a:endParaRPr lang="de-DE" sz="1800" dirty="0"/>
            </a:p>
          </p:txBody>
        </p:sp>
        <p:sp>
          <p:nvSpPr>
            <p:cNvPr id="19492" name="Line 42"/>
            <p:cNvSpPr>
              <a:spLocks noChangeShapeType="1"/>
            </p:cNvSpPr>
            <p:nvPr/>
          </p:nvSpPr>
          <p:spPr bwMode="auto">
            <a:xfrm rot="10800000" flipH="1" flipV="1">
              <a:off x="2022" y="2874"/>
              <a:ext cx="333" cy="336"/>
            </a:xfrm>
            <a:prstGeom prst="line">
              <a:avLst/>
            </a:prstGeom>
            <a:noFill/>
            <a:ln w="9525">
              <a:solidFill>
                <a:schemeClr val="tx1"/>
              </a:solidFill>
              <a:round/>
              <a:headEnd/>
              <a:tailEnd type="triangle" w="med" len="med"/>
            </a:ln>
          </p:spPr>
          <p:txBody>
            <a:bodyPr wrap="none" anchor="ctr"/>
            <a:lstStyle/>
            <a:p>
              <a:endParaRPr lang="de-DE"/>
            </a:p>
          </p:txBody>
        </p:sp>
        <p:sp>
          <p:nvSpPr>
            <p:cNvPr id="19493" name="Text Box 43"/>
            <p:cNvSpPr txBox="1">
              <a:spLocks noChangeArrowheads="1"/>
            </p:cNvSpPr>
            <p:nvPr/>
          </p:nvSpPr>
          <p:spPr bwMode="auto">
            <a:xfrm>
              <a:off x="1623" y="3668"/>
              <a:ext cx="423" cy="233"/>
            </a:xfrm>
            <a:prstGeom prst="rect">
              <a:avLst/>
            </a:prstGeom>
            <a:noFill/>
            <a:ln w="9525">
              <a:noFill/>
              <a:miter lim="800000"/>
              <a:headEnd/>
              <a:tailEnd/>
            </a:ln>
          </p:spPr>
          <p:txBody>
            <a:bodyPr wrap="none">
              <a:spAutoFit/>
            </a:bodyPr>
            <a:lstStyle/>
            <a:p>
              <a:pPr algn="ctr"/>
              <a:r>
                <a:rPr lang="de-DE" sz="1800">
                  <a:solidFill>
                    <a:srgbClr val="FF0000"/>
                  </a:solidFill>
                </a:rPr>
                <a:t>Nr. 1</a:t>
              </a:r>
              <a:endParaRPr lang="de-DE" sz="1800" dirty="0"/>
            </a:p>
          </p:txBody>
        </p:sp>
        <p:sp>
          <p:nvSpPr>
            <p:cNvPr id="19494" name="Line 44"/>
            <p:cNvSpPr>
              <a:spLocks noChangeShapeType="1"/>
            </p:cNvSpPr>
            <p:nvPr/>
          </p:nvSpPr>
          <p:spPr bwMode="auto">
            <a:xfrm rot="10800000">
              <a:off x="1587" y="3696"/>
              <a:ext cx="525" cy="0"/>
            </a:xfrm>
            <a:prstGeom prst="line">
              <a:avLst/>
            </a:prstGeom>
            <a:noFill/>
            <a:ln w="9525">
              <a:solidFill>
                <a:schemeClr val="tx1"/>
              </a:solidFill>
              <a:round/>
              <a:headEnd type="triangle" w="med" len="med"/>
              <a:tailEnd type="triangle" w="med" len="med"/>
            </a:ln>
          </p:spPr>
          <p:txBody>
            <a:bodyPr wrap="none" anchor="ctr"/>
            <a:lstStyle/>
            <a:p>
              <a:endParaRPr lang="de-DE"/>
            </a:p>
          </p:txBody>
        </p:sp>
        <p:sp>
          <p:nvSpPr>
            <p:cNvPr id="19495" name="Line 45"/>
            <p:cNvSpPr>
              <a:spLocks noChangeShapeType="1"/>
            </p:cNvSpPr>
            <p:nvPr/>
          </p:nvSpPr>
          <p:spPr bwMode="auto">
            <a:xfrm rot="10800000" flipV="1">
              <a:off x="2097" y="3546"/>
              <a:ext cx="243" cy="0"/>
            </a:xfrm>
            <a:prstGeom prst="line">
              <a:avLst/>
            </a:prstGeom>
            <a:noFill/>
            <a:ln w="9525">
              <a:solidFill>
                <a:schemeClr val="tx1"/>
              </a:solidFill>
              <a:round/>
              <a:headEnd type="triangle" w="med" len="med"/>
              <a:tailEnd type="triangle" w="med" len="med"/>
            </a:ln>
          </p:spPr>
          <p:txBody>
            <a:bodyPr wrap="none" anchor="ctr"/>
            <a:lstStyle/>
            <a:p>
              <a:endParaRPr lang="de-DE"/>
            </a:p>
          </p:txBody>
        </p:sp>
        <p:sp>
          <p:nvSpPr>
            <p:cNvPr id="19496" name="Text Box 46"/>
            <p:cNvSpPr txBox="1">
              <a:spLocks noChangeArrowheads="1"/>
            </p:cNvSpPr>
            <p:nvPr/>
          </p:nvSpPr>
          <p:spPr bwMode="auto">
            <a:xfrm>
              <a:off x="2354" y="3830"/>
              <a:ext cx="423" cy="233"/>
            </a:xfrm>
            <a:prstGeom prst="rect">
              <a:avLst/>
            </a:prstGeom>
            <a:noFill/>
            <a:ln w="9525">
              <a:noFill/>
              <a:miter lim="800000"/>
              <a:headEnd/>
              <a:tailEnd/>
            </a:ln>
          </p:spPr>
          <p:txBody>
            <a:bodyPr wrap="none">
              <a:spAutoFit/>
            </a:bodyPr>
            <a:lstStyle/>
            <a:p>
              <a:r>
                <a:rPr lang="de-DE" sz="1800">
                  <a:solidFill>
                    <a:srgbClr val="FF0000"/>
                  </a:solidFill>
                </a:rPr>
                <a:t>Nr. 2</a:t>
              </a:r>
              <a:endParaRPr lang="de-DE" sz="1800" dirty="0"/>
            </a:p>
          </p:txBody>
        </p:sp>
        <p:sp>
          <p:nvSpPr>
            <p:cNvPr id="19497" name="Line 47"/>
            <p:cNvSpPr>
              <a:spLocks noChangeShapeType="1"/>
            </p:cNvSpPr>
            <p:nvPr/>
          </p:nvSpPr>
          <p:spPr bwMode="auto">
            <a:xfrm rot="10800000">
              <a:off x="2199" y="3546"/>
              <a:ext cx="375" cy="348"/>
            </a:xfrm>
            <a:prstGeom prst="line">
              <a:avLst/>
            </a:prstGeom>
            <a:noFill/>
            <a:ln w="9525">
              <a:solidFill>
                <a:schemeClr val="tx1"/>
              </a:solidFill>
              <a:round/>
              <a:headEnd/>
              <a:tailEnd/>
            </a:ln>
          </p:spPr>
          <p:txBody>
            <a:bodyPr wrap="none" anchor="ctr"/>
            <a:lstStyle/>
            <a:p>
              <a:endParaRPr lang="de-DE"/>
            </a:p>
          </p:txBody>
        </p:sp>
        <p:grpSp>
          <p:nvGrpSpPr>
            <p:cNvPr id="6" name="Group 48"/>
            <p:cNvGrpSpPr>
              <a:grpSpLocks/>
            </p:cNvGrpSpPr>
            <p:nvPr/>
          </p:nvGrpSpPr>
          <p:grpSpPr bwMode="auto">
            <a:xfrm>
              <a:off x="3738" y="3168"/>
              <a:ext cx="314" cy="75"/>
              <a:chOff x="2208" y="2184"/>
              <a:chExt cx="176" cy="69"/>
            </a:xfrm>
          </p:grpSpPr>
          <p:grpSp>
            <p:nvGrpSpPr>
              <p:cNvPr id="7" name="Group 49"/>
              <p:cNvGrpSpPr>
                <a:grpSpLocks/>
              </p:cNvGrpSpPr>
              <p:nvPr/>
            </p:nvGrpSpPr>
            <p:grpSpPr bwMode="auto">
              <a:xfrm>
                <a:off x="2208" y="2185"/>
                <a:ext cx="176" cy="68"/>
                <a:chOff x="2848" y="848"/>
                <a:chExt cx="140" cy="98"/>
              </a:xfrm>
            </p:grpSpPr>
            <p:sp>
              <p:nvSpPr>
                <p:cNvPr id="19504" name="Line 50"/>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9505" name="Line 51"/>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9506" name="Line 52"/>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8" name="Group 53"/>
              <p:cNvGrpSpPr>
                <a:grpSpLocks/>
              </p:cNvGrpSpPr>
              <p:nvPr/>
            </p:nvGrpSpPr>
            <p:grpSpPr bwMode="auto">
              <a:xfrm flipV="1">
                <a:off x="2208" y="2184"/>
                <a:ext cx="176" cy="68"/>
                <a:chOff x="2848" y="848"/>
                <a:chExt cx="140" cy="98"/>
              </a:xfrm>
            </p:grpSpPr>
            <p:sp>
              <p:nvSpPr>
                <p:cNvPr id="19501" name="Line 54"/>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9502" name="Line 55"/>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9503" name="Line 56"/>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sp>
        <p:nvSpPr>
          <p:cNvPr id="59" name="Rectangle 4"/>
          <p:cNvSpPr txBox="1">
            <a:spLocks noChangeArrowheads="1"/>
          </p:cNvSpPr>
          <p:nvPr/>
        </p:nvSpPr>
        <p:spPr>
          <a:xfrm>
            <a:off x="5004048" y="1276221"/>
            <a:ext cx="3960440" cy="3347373"/>
          </a:xfrm>
          <a:prstGeom prst="rect">
            <a:avLst/>
          </a:prstGeom>
        </p:spPr>
        <p:txBody>
          <a:bodyPr vert="horz">
            <a:noAutofit/>
          </a:bodyPr>
          <a:lstStyle/>
          <a:p>
            <a:pPr marL="274320" indent="-274320">
              <a:spcBef>
                <a:spcPts val="600"/>
              </a:spcBef>
              <a:buClr>
                <a:schemeClr val="accent1"/>
              </a:buClr>
              <a:buSzPct val="76000"/>
              <a:buFont typeface="Wingdings 3"/>
              <a:buChar char=""/>
            </a:pPr>
            <a:r>
              <a:rPr kumimoji="0" lang="de-DE" sz="2400" b="0" i="0" u="none" strike="noStrike" kern="1200" cap="none" spc="0" normalizeH="0" baseline="0" noProof="0" dirty="0">
                <a:ln>
                  <a:noFill/>
                </a:ln>
                <a:solidFill>
                  <a:srgbClr val="FF0000"/>
                </a:solidFill>
                <a:effectLst/>
                <a:uLnTx/>
                <a:uFillTx/>
              </a:rPr>
              <a:t>2. </a:t>
            </a:r>
            <a:r>
              <a:rPr lang="de-DE" sz="2400" dirty="0">
                <a:solidFill>
                  <a:srgbClr val="FF0000"/>
                </a:solidFill>
              </a:rPr>
              <a:t>Warteschlangen-verzögerung</a:t>
            </a:r>
            <a:endParaRPr kumimoji="0" lang="de-DE" sz="2400" b="0" i="0" u="none" strike="noStrike" kern="1200" cap="none" spc="0" normalizeH="0" baseline="0" noProof="0" dirty="0">
              <a:ln>
                <a:noFill/>
              </a:ln>
              <a:solidFill>
                <a:schemeClr val="tx1"/>
              </a:solidFill>
              <a:effectLst/>
              <a:uLnTx/>
              <a:uFillTx/>
            </a:endParaRPr>
          </a:p>
          <a:p>
            <a:pPr marL="548640" marR="0" lvl="1" indent="-274320" algn="l" defTabSz="914400" rtl="0" eaLnBrk="1" fontAlgn="auto" latinLnBrk="0" hangingPunct="1">
              <a:lnSpc>
                <a:spcPct val="100000"/>
              </a:lnSpc>
              <a:spcBef>
                <a:spcPts val="500"/>
              </a:spcBef>
              <a:spcAft>
                <a:spcPts val="0"/>
              </a:spcAft>
              <a:buClr>
                <a:schemeClr val="accent2"/>
              </a:buClr>
              <a:buSzPct val="76000"/>
              <a:buFont typeface="Wingdings 3"/>
              <a:buChar char=""/>
              <a:tabLst/>
              <a:defRPr/>
            </a:pPr>
            <a:r>
              <a:rPr kumimoji="0" lang="de-DE" sz="2000" b="0" i="0" u="none" strike="noStrike" kern="1200" cap="none" spc="0" normalizeH="0" baseline="0" noProof="0" dirty="0">
                <a:ln>
                  <a:noFill/>
                </a:ln>
                <a:solidFill>
                  <a:schemeClr val="tx2"/>
                </a:solidFill>
                <a:effectLst/>
                <a:uLnTx/>
                <a:uFillTx/>
              </a:rPr>
              <a:t>Wartezeit</a:t>
            </a:r>
            <a:r>
              <a:rPr kumimoji="0" lang="de-DE" sz="2000" b="0" i="0" u="none" strike="noStrike" kern="1200" cap="none" spc="0" normalizeH="0" noProof="0" dirty="0">
                <a:ln>
                  <a:noFill/>
                </a:ln>
                <a:solidFill>
                  <a:schemeClr val="tx2"/>
                </a:solidFill>
                <a:effectLst/>
                <a:uLnTx/>
                <a:uFillTx/>
              </a:rPr>
              <a:t> im Puffer, bis das Paket über entsprechende Leitung versendet werden kann</a:t>
            </a:r>
          </a:p>
          <a:p>
            <a:pPr marL="548640" marR="0" lvl="1" indent="-274320" algn="l" defTabSz="914400" rtl="0" eaLnBrk="1" fontAlgn="auto" latinLnBrk="0" hangingPunct="1">
              <a:lnSpc>
                <a:spcPct val="100000"/>
              </a:lnSpc>
              <a:spcBef>
                <a:spcPts val="500"/>
              </a:spcBef>
              <a:spcAft>
                <a:spcPts val="0"/>
              </a:spcAft>
              <a:buClr>
                <a:schemeClr val="accent2"/>
              </a:buClr>
              <a:buSzPct val="76000"/>
              <a:buFont typeface="Wingdings 3"/>
              <a:buChar char=""/>
              <a:tabLst/>
              <a:defRPr/>
            </a:pPr>
            <a:r>
              <a:rPr lang="de-DE" sz="2000" baseline="0" dirty="0">
                <a:solidFill>
                  <a:schemeClr val="tx2"/>
                </a:solidFill>
              </a:rPr>
              <a:t>Hängt</a:t>
            </a:r>
            <a:r>
              <a:rPr lang="de-DE" sz="2000" dirty="0">
                <a:solidFill>
                  <a:schemeClr val="tx2"/>
                </a:solidFill>
              </a:rPr>
              <a:t> von der Länge der Schlange (~ </a:t>
            </a:r>
            <a:r>
              <a:rPr lang="de-DE" sz="2000" b="1" dirty="0">
                <a:solidFill>
                  <a:srgbClr val="FF0000"/>
                </a:solidFill>
              </a:rPr>
              <a:t>congestion level</a:t>
            </a:r>
            <a:r>
              <a:rPr lang="de-DE" sz="2000" dirty="0">
                <a:solidFill>
                  <a:schemeClr val="tx2"/>
                </a:solidFill>
              </a:rPr>
              <a:t>) ab</a:t>
            </a:r>
            <a:endParaRPr kumimoji="0" lang="de-DE" sz="2000" b="0" i="0" u="none" strike="noStrike" kern="1200" cap="none" spc="0" normalizeH="0" baseline="0" noProof="0" dirty="0">
              <a:ln>
                <a:noFill/>
              </a:ln>
              <a:solidFill>
                <a:schemeClr val="tx2"/>
              </a:solidFill>
              <a:effectLst/>
              <a:uLnTx/>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Slide Number Placeholder 6"/>
          <p:cNvSpPr>
            <a:spLocks noGrp="1"/>
          </p:cNvSpPr>
          <p:nvPr>
            <p:ph type="sldNum" sz="quarter" idx="12"/>
          </p:nvPr>
        </p:nvSpPr>
        <p:spPr>
          <a:noFill/>
        </p:spPr>
        <p:txBody>
          <a:bodyPr/>
          <a:lstStyle/>
          <a:p>
            <a:fld id="{09C118E7-83F3-41DB-82E7-CC7B5D186F53}" type="slidenum">
              <a:rPr lang="de-DE" smtClean="0"/>
              <a:pPr/>
              <a:t>28</a:t>
            </a:fld>
            <a:endParaRPr lang="de-DE"/>
          </a:p>
        </p:txBody>
      </p:sp>
      <p:sp>
        <p:nvSpPr>
          <p:cNvPr id="20486" name="Rectangle 2"/>
          <p:cNvSpPr>
            <a:spLocks noGrp="1" noChangeArrowheads="1"/>
          </p:cNvSpPr>
          <p:nvPr>
            <p:ph type="title"/>
          </p:nvPr>
        </p:nvSpPr>
        <p:spPr>
          <a:xfrm>
            <a:off x="476250" y="266700"/>
            <a:ext cx="7772400" cy="858044"/>
          </a:xfrm>
        </p:spPr>
        <p:txBody>
          <a:bodyPr/>
          <a:lstStyle/>
          <a:p>
            <a:r>
              <a:rPr lang="de-DE" sz="3600" dirty="0">
                <a:latin typeface="+mn-lt"/>
              </a:rPr>
              <a:t>Arten der Verzögerung /2</a:t>
            </a:r>
            <a:endParaRPr lang="de-DE" dirty="0">
              <a:latin typeface="+mn-lt"/>
            </a:endParaRPr>
          </a:p>
        </p:txBody>
      </p:sp>
      <p:sp>
        <p:nvSpPr>
          <p:cNvPr id="20487" name="Rectangle 3"/>
          <p:cNvSpPr>
            <a:spLocks noGrp="1" noChangeArrowheads="1"/>
          </p:cNvSpPr>
          <p:nvPr>
            <p:ph type="body" sz="half" idx="1"/>
          </p:nvPr>
        </p:nvSpPr>
        <p:spPr>
          <a:xfrm>
            <a:off x="539552" y="1340768"/>
            <a:ext cx="3810000" cy="2505075"/>
          </a:xfrm>
        </p:spPr>
        <p:txBody>
          <a:bodyPr>
            <a:normAutofit fontScale="92500"/>
          </a:bodyPr>
          <a:lstStyle/>
          <a:p>
            <a:pPr>
              <a:buNone/>
            </a:pPr>
            <a:r>
              <a:rPr lang="de-DE" sz="2400" dirty="0">
                <a:solidFill>
                  <a:srgbClr val="FF0000"/>
                </a:solidFill>
              </a:rPr>
              <a:t>3. Übertragungsverzögerung</a:t>
            </a:r>
            <a:endParaRPr lang="de-DE" sz="2400" dirty="0"/>
          </a:p>
          <a:p>
            <a:r>
              <a:rPr lang="de-DE" sz="2400" dirty="0">
                <a:solidFill>
                  <a:srgbClr val="0070C0"/>
                </a:solidFill>
              </a:rPr>
              <a:t>R</a:t>
            </a:r>
            <a:r>
              <a:rPr lang="de-DE" sz="2400" dirty="0"/>
              <a:t> = Übertraguns-geschwindigkeit (</a:t>
            </a:r>
            <a:r>
              <a:rPr lang="de-DE" sz="2400" b="1" dirty="0">
                <a:solidFill>
                  <a:srgbClr val="FF0000"/>
                </a:solidFill>
              </a:rPr>
              <a:t>link bandwidth</a:t>
            </a:r>
            <a:r>
              <a:rPr lang="de-DE" sz="2400" dirty="0"/>
              <a:t>) (in bps)</a:t>
            </a:r>
          </a:p>
          <a:p>
            <a:r>
              <a:rPr lang="de-DE" sz="2400" dirty="0">
                <a:solidFill>
                  <a:srgbClr val="0070C0"/>
                </a:solidFill>
              </a:rPr>
              <a:t>L</a:t>
            </a:r>
            <a:r>
              <a:rPr lang="de-DE" sz="2400" dirty="0"/>
              <a:t> = Paketlänge (bits)</a:t>
            </a:r>
          </a:p>
          <a:p>
            <a:r>
              <a:rPr lang="de-DE" sz="2400" dirty="0"/>
              <a:t>Übertragungszeit = </a:t>
            </a:r>
            <a:r>
              <a:rPr lang="de-DE" sz="2400" b="1" dirty="0">
                <a:solidFill>
                  <a:srgbClr val="0070C0"/>
                </a:solidFill>
              </a:rPr>
              <a:t>L/R</a:t>
            </a:r>
          </a:p>
        </p:txBody>
      </p:sp>
      <p:sp>
        <p:nvSpPr>
          <p:cNvPr id="20488" name="Rectangle 4"/>
          <p:cNvSpPr>
            <a:spLocks noGrp="1" noChangeArrowheads="1"/>
          </p:cNvSpPr>
          <p:nvPr>
            <p:ph type="body" sz="half" idx="2"/>
          </p:nvPr>
        </p:nvSpPr>
        <p:spPr>
          <a:xfrm>
            <a:off x="4476750" y="1362074"/>
            <a:ext cx="4152900" cy="3075037"/>
          </a:xfrm>
        </p:spPr>
        <p:txBody>
          <a:bodyPr>
            <a:normAutofit lnSpcReduction="10000"/>
          </a:bodyPr>
          <a:lstStyle/>
          <a:p>
            <a:pPr>
              <a:buNone/>
            </a:pPr>
            <a:r>
              <a:rPr lang="de-DE" sz="2400" dirty="0">
                <a:solidFill>
                  <a:srgbClr val="FF0000"/>
                </a:solidFill>
              </a:rPr>
              <a:t>4. Ausbreitungsverzögerung </a:t>
            </a:r>
          </a:p>
          <a:p>
            <a:r>
              <a:rPr lang="de-DE" sz="2400" dirty="0">
                <a:solidFill>
                  <a:srgbClr val="0070C0"/>
                </a:solidFill>
              </a:rPr>
              <a:t>d</a:t>
            </a:r>
            <a:r>
              <a:rPr lang="de-DE" sz="2400" dirty="0"/>
              <a:t> = Länge der physischen Leitung</a:t>
            </a:r>
          </a:p>
          <a:p>
            <a:r>
              <a:rPr lang="de-DE" sz="2400" dirty="0">
                <a:solidFill>
                  <a:srgbClr val="0070C0"/>
                </a:solidFill>
              </a:rPr>
              <a:t>s </a:t>
            </a:r>
            <a:r>
              <a:rPr lang="de-DE" sz="2400" dirty="0"/>
              <a:t>= Ausbreitungs-geschwindigkeit (~2x10</a:t>
            </a:r>
            <a:r>
              <a:rPr lang="de-DE" sz="2400" baseline="30000" dirty="0"/>
              <a:t>8</a:t>
            </a:r>
            <a:r>
              <a:rPr lang="de-DE" sz="2400" dirty="0"/>
              <a:t> m/sec in Kabeln)</a:t>
            </a:r>
          </a:p>
          <a:p>
            <a:r>
              <a:rPr lang="de-DE" sz="2400" dirty="0"/>
              <a:t>Ausbreitungsverzögerung = </a:t>
            </a:r>
            <a:r>
              <a:rPr lang="de-DE" sz="2400" b="1" dirty="0">
                <a:solidFill>
                  <a:srgbClr val="0070C0"/>
                </a:solidFill>
              </a:rPr>
              <a:t>d/s</a:t>
            </a:r>
          </a:p>
        </p:txBody>
      </p:sp>
      <p:grpSp>
        <p:nvGrpSpPr>
          <p:cNvPr id="2" name="Group 5"/>
          <p:cNvGrpSpPr>
            <a:grpSpLocks/>
          </p:cNvGrpSpPr>
          <p:nvPr/>
        </p:nvGrpSpPr>
        <p:grpSpPr bwMode="auto">
          <a:xfrm>
            <a:off x="622300" y="4432300"/>
            <a:ext cx="6021388" cy="2235200"/>
            <a:chOff x="494" y="2702"/>
            <a:chExt cx="3793" cy="1408"/>
          </a:xfrm>
        </p:grpSpPr>
        <p:graphicFrame>
          <p:nvGraphicFramePr>
            <p:cNvPr id="20482" name="Object 6"/>
            <p:cNvGraphicFramePr>
              <a:graphicFrameLocks noChangeAspect="1"/>
            </p:cNvGraphicFramePr>
            <p:nvPr/>
          </p:nvGraphicFramePr>
          <p:xfrm>
            <a:off x="914" y="3452"/>
            <a:ext cx="407" cy="336"/>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048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 y="3452"/>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2" name="Oval 7"/>
            <p:cNvSpPr>
              <a:spLocks noChangeArrowheads="1"/>
            </p:cNvSpPr>
            <p:nvPr/>
          </p:nvSpPr>
          <p:spPr bwMode="auto">
            <a:xfrm>
              <a:off x="1570" y="3300"/>
              <a:ext cx="755" cy="233"/>
            </a:xfrm>
            <a:prstGeom prst="ellipse">
              <a:avLst/>
            </a:prstGeom>
            <a:solidFill>
              <a:schemeClr val="hlink"/>
            </a:solidFill>
            <a:ln w="12700">
              <a:noFill/>
              <a:round/>
              <a:headEnd/>
              <a:tailEnd/>
            </a:ln>
          </p:spPr>
          <p:txBody>
            <a:bodyPr wrap="none" anchor="ctr"/>
            <a:lstStyle/>
            <a:p>
              <a:endParaRPr lang="de-DE"/>
            </a:p>
          </p:txBody>
        </p:sp>
        <p:sp>
          <p:nvSpPr>
            <p:cNvPr id="20493" name="Rectangle 8"/>
            <p:cNvSpPr>
              <a:spLocks noChangeArrowheads="1"/>
            </p:cNvSpPr>
            <p:nvPr/>
          </p:nvSpPr>
          <p:spPr bwMode="auto">
            <a:xfrm>
              <a:off x="1570" y="3257"/>
              <a:ext cx="755" cy="166"/>
            </a:xfrm>
            <a:prstGeom prst="rect">
              <a:avLst/>
            </a:prstGeom>
            <a:solidFill>
              <a:schemeClr val="hlink"/>
            </a:solidFill>
            <a:ln w="12700">
              <a:noFill/>
              <a:miter lim="800000"/>
              <a:headEnd/>
              <a:tailEnd/>
            </a:ln>
          </p:spPr>
          <p:txBody>
            <a:bodyPr wrap="none" anchor="ctr"/>
            <a:lstStyle/>
            <a:p>
              <a:pPr algn="ctr"/>
              <a:endParaRPr lang="de-DE"/>
            </a:p>
          </p:txBody>
        </p:sp>
        <p:sp>
          <p:nvSpPr>
            <p:cNvPr id="20494" name="Oval 9"/>
            <p:cNvSpPr>
              <a:spLocks noChangeArrowheads="1"/>
            </p:cNvSpPr>
            <p:nvPr/>
          </p:nvSpPr>
          <p:spPr bwMode="auto">
            <a:xfrm>
              <a:off x="1576" y="3113"/>
              <a:ext cx="755" cy="271"/>
            </a:xfrm>
            <a:prstGeom prst="ellipse">
              <a:avLst/>
            </a:prstGeom>
            <a:solidFill>
              <a:schemeClr val="hlink"/>
            </a:solidFill>
            <a:ln w="12700">
              <a:noFill/>
              <a:round/>
              <a:headEnd/>
              <a:tailEnd/>
            </a:ln>
          </p:spPr>
          <p:txBody>
            <a:bodyPr wrap="none" anchor="ctr"/>
            <a:lstStyle/>
            <a:p>
              <a:endParaRPr lang="de-DE"/>
            </a:p>
          </p:txBody>
        </p:sp>
        <p:grpSp>
          <p:nvGrpSpPr>
            <p:cNvPr id="3" name="Group 10"/>
            <p:cNvGrpSpPr>
              <a:grpSpLocks/>
            </p:cNvGrpSpPr>
            <p:nvPr/>
          </p:nvGrpSpPr>
          <p:grpSpPr bwMode="auto">
            <a:xfrm>
              <a:off x="1794" y="3132"/>
              <a:ext cx="314" cy="75"/>
              <a:chOff x="2208" y="2184"/>
              <a:chExt cx="176" cy="69"/>
            </a:xfrm>
          </p:grpSpPr>
          <p:grpSp>
            <p:nvGrpSpPr>
              <p:cNvPr id="4" name="Group 11"/>
              <p:cNvGrpSpPr>
                <a:grpSpLocks/>
              </p:cNvGrpSpPr>
              <p:nvPr/>
            </p:nvGrpSpPr>
            <p:grpSpPr bwMode="auto">
              <a:xfrm>
                <a:off x="2208" y="2185"/>
                <a:ext cx="176" cy="68"/>
                <a:chOff x="2848" y="848"/>
                <a:chExt cx="140" cy="98"/>
              </a:xfrm>
            </p:grpSpPr>
            <p:sp>
              <p:nvSpPr>
                <p:cNvPr id="20538" name="Line 12"/>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539" name="Line 13"/>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0540" name="Line 14"/>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5" name="Group 15"/>
              <p:cNvGrpSpPr>
                <a:grpSpLocks/>
              </p:cNvGrpSpPr>
              <p:nvPr/>
            </p:nvGrpSpPr>
            <p:grpSpPr bwMode="auto">
              <a:xfrm flipV="1">
                <a:off x="2208" y="2184"/>
                <a:ext cx="176" cy="68"/>
                <a:chOff x="2848" y="848"/>
                <a:chExt cx="140" cy="98"/>
              </a:xfrm>
            </p:grpSpPr>
            <p:sp>
              <p:nvSpPr>
                <p:cNvPr id="20535" name="Line 1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536" name="Line 1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0537" name="Line 1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20496" name="Oval 19"/>
            <p:cNvSpPr>
              <a:spLocks noChangeArrowheads="1"/>
            </p:cNvSpPr>
            <p:nvPr/>
          </p:nvSpPr>
          <p:spPr bwMode="auto">
            <a:xfrm>
              <a:off x="3520" y="3312"/>
              <a:ext cx="755" cy="233"/>
            </a:xfrm>
            <a:prstGeom prst="ellipse">
              <a:avLst/>
            </a:prstGeom>
            <a:solidFill>
              <a:schemeClr val="hlink"/>
            </a:solidFill>
            <a:ln w="12700">
              <a:noFill/>
              <a:round/>
              <a:headEnd/>
              <a:tailEnd/>
            </a:ln>
          </p:spPr>
          <p:txBody>
            <a:bodyPr wrap="none" anchor="ctr"/>
            <a:lstStyle/>
            <a:p>
              <a:endParaRPr lang="de-DE"/>
            </a:p>
          </p:txBody>
        </p:sp>
        <p:sp>
          <p:nvSpPr>
            <p:cNvPr id="20497" name="Line 20"/>
            <p:cNvSpPr>
              <a:spLocks noChangeShapeType="1"/>
            </p:cNvSpPr>
            <p:nvPr/>
          </p:nvSpPr>
          <p:spPr bwMode="auto">
            <a:xfrm>
              <a:off x="3526" y="3299"/>
              <a:ext cx="0" cy="144"/>
            </a:xfrm>
            <a:prstGeom prst="line">
              <a:avLst/>
            </a:prstGeom>
            <a:noFill/>
            <a:ln w="12700">
              <a:solidFill>
                <a:schemeClr val="tx1"/>
              </a:solidFill>
              <a:round/>
              <a:headEnd/>
              <a:tailEnd/>
            </a:ln>
          </p:spPr>
          <p:txBody>
            <a:bodyPr wrap="none" anchor="ctr"/>
            <a:lstStyle/>
            <a:p>
              <a:endParaRPr lang="de-DE"/>
            </a:p>
          </p:txBody>
        </p:sp>
        <p:sp>
          <p:nvSpPr>
            <p:cNvPr id="20498" name="Rectangle 21"/>
            <p:cNvSpPr>
              <a:spLocks noChangeArrowheads="1"/>
            </p:cNvSpPr>
            <p:nvPr/>
          </p:nvSpPr>
          <p:spPr bwMode="auto">
            <a:xfrm>
              <a:off x="3526" y="3275"/>
              <a:ext cx="755" cy="166"/>
            </a:xfrm>
            <a:prstGeom prst="rect">
              <a:avLst/>
            </a:prstGeom>
            <a:solidFill>
              <a:schemeClr val="hlink"/>
            </a:solidFill>
            <a:ln w="12700">
              <a:noFill/>
              <a:miter lim="800000"/>
              <a:headEnd/>
              <a:tailEnd/>
            </a:ln>
          </p:spPr>
          <p:txBody>
            <a:bodyPr wrap="none" anchor="ctr"/>
            <a:lstStyle/>
            <a:p>
              <a:pPr algn="ctr"/>
              <a:endParaRPr lang="de-DE"/>
            </a:p>
          </p:txBody>
        </p:sp>
        <p:sp>
          <p:nvSpPr>
            <p:cNvPr id="20499" name="Oval 22"/>
            <p:cNvSpPr>
              <a:spLocks noChangeArrowheads="1"/>
            </p:cNvSpPr>
            <p:nvPr/>
          </p:nvSpPr>
          <p:spPr bwMode="auto">
            <a:xfrm>
              <a:off x="3532" y="3131"/>
              <a:ext cx="755" cy="271"/>
            </a:xfrm>
            <a:prstGeom prst="ellipse">
              <a:avLst/>
            </a:prstGeom>
            <a:solidFill>
              <a:schemeClr val="hlink"/>
            </a:solidFill>
            <a:ln w="12700">
              <a:noFill/>
              <a:round/>
              <a:headEnd/>
              <a:tailEnd/>
            </a:ln>
          </p:spPr>
          <p:txBody>
            <a:bodyPr wrap="none" anchor="ctr"/>
            <a:lstStyle/>
            <a:p>
              <a:endParaRPr lang="de-DE"/>
            </a:p>
          </p:txBody>
        </p:sp>
        <p:graphicFrame>
          <p:nvGraphicFramePr>
            <p:cNvPr id="20483" name="Object 23"/>
            <p:cNvGraphicFramePr>
              <a:graphicFrameLocks noChangeAspect="1"/>
            </p:cNvGraphicFramePr>
            <p:nvPr/>
          </p:nvGraphicFramePr>
          <p:xfrm>
            <a:off x="716" y="2816"/>
            <a:ext cx="407" cy="336"/>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0483"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 y="2816"/>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00" name="Line 24"/>
            <p:cNvSpPr>
              <a:spLocks noChangeShapeType="1"/>
            </p:cNvSpPr>
            <p:nvPr/>
          </p:nvSpPr>
          <p:spPr bwMode="auto">
            <a:xfrm>
              <a:off x="1110" y="3072"/>
              <a:ext cx="318" cy="0"/>
            </a:xfrm>
            <a:prstGeom prst="line">
              <a:avLst/>
            </a:prstGeom>
            <a:noFill/>
            <a:ln w="19050">
              <a:solidFill>
                <a:schemeClr val="tx1"/>
              </a:solidFill>
              <a:round/>
              <a:headEnd/>
              <a:tailEnd/>
            </a:ln>
          </p:spPr>
          <p:txBody>
            <a:bodyPr wrap="none" anchor="ctr"/>
            <a:lstStyle/>
            <a:p>
              <a:endParaRPr lang="de-DE"/>
            </a:p>
          </p:txBody>
        </p:sp>
        <p:sp>
          <p:nvSpPr>
            <p:cNvPr id="20501" name="Line 25"/>
            <p:cNvSpPr>
              <a:spLocks noChangeShapeType="1"/>
            </p:cNvSpPr>
            <p:nvPr/>
          </p:nvSpPr>
          <p:spPr bwMode="auto">
            <a:xfrm flipV="1">
              <a:off x="1302" y="3693"/>
              <a:ext cx="123" cy="3"/>
            </a:xfrm>
            <a:prstGeom prst="line">
              <a:avLst/>
            </a:prstGeom>
            <a:noFill/>
            <a:ln w="19050">
              <a:solidFill>
                <a:schemeClr val="tx1"/>
              </a:solidFill>
              <a:round/>
              <a:headEnd/>
              <a:tailEnd/>
            </a:ln>
          </p:spPr>
          <p:txBody>
            <a:bodyPr wrap="none" anchor="ctr"/>
            <a:lstStyle/>
            <a:p>
              <a:endParaRPr lang="de-DE"/>
            </a:p>
          </p:txBody>
        </p:sp>
        <p:sp>
          <p:nvSpPr>
            <p:cNvPr id="20502" name="Line 26"/>
            <p:cNvSpPr>
              <a:spLocks noChangeShapeType="1"/>
            </p:cNvSpPr>
            <p:nvPr/>
          </p:nvSpPr>
          <p:spPr bwMode="auto">
            <a:xfrm>
              <a:off x="2322" y="3336"/>
              <a:ext cx="1218" cy="6"/>
            </a:xfrm>
            <a:prstGeom prst="line">
              <a:avLst/>
            </a:prstGeom>
            <a:noFill/>
            <a:ln w="19050">
              <a:solidFill>
                <a:schemeClr val="tx1"/>
              </a:solidFill>
              <a:round/>
              <a:headEnd/>
              <a:tailEnd/>
            </a:ln>
          </p:spPr>
          <p:txBody>
            <a:bodyPr wrap="none" anchor="ctr"/>
            <a:lstStyle/>
            <a:p>
              <a:endParaRPr lang="de-DE"/>
            </a:p>
          </p:txBody>
        </p:sp>
        <p:sp>
          <p:nvSpPr>
            <p:cNvPr id="20503" name="Line 27"/>
            <p:cNvSpPr>
              <a:spLocks noChangeShapeType="1"/>
            </p:cNvSpPr>
            <p:nvPr/>
          </p:nvSpPr>
          <p:spPr bwMode="auto">
            <a:xfrm flipH="1">
              <a:off x="1428" y="3066"/>
              <a:ext cx="0" cy="630"/>
            </a:xfrm>
            <a:prstGeom prst="line">
              <a:avLst/>
            </a:prstGeom>
            <a:noFill/>
            <a:ln w="19050">
              <a:solidFill>
                <a:schemeClr val="tx1"/>
              </a:solidFill>
              <a:round/>
              <a:headEnd/>
              <a:tailEnd/>
            </a:ln>
          </p:spPr>
          <p:txBody>
            <a:bodyPr wrap="none" anchor="ctr"/>
            <a:lstStyle/>
            <a:p>
              <a:endParaRPr lang="de-DE"/>
            </a:p>
          </p:txBody>
        </p:sp>
        <p:sp>
          <p:nvSpPr>
            <p:cNvPr id="20504" name="Line 28"/>
            <p:cNvSpPr>
              <a:spLocks noChangeShapeType="1"/>
            </p:cNvSpPr>
            <p:nvPr/>
          </p:nvSpPr>
          <p:spPr bwMode="auto">
            <a:xfrm>
              <a:off x="1434" y="3339"/>
              <a:ext cx="126" cy="0"/>
            </a:xfrm>
            <a:prstGeom prst="line">
              <a:avLst/>
            </a:prstGeom>
            <a:noFill/>
            <a:ln w="19050">
              <a:solidFill>
                <a:schemeClr val="tx1"/>
              </a:solidFill>
              <a:round/>
              <a:headEnd/>
              <a:tailEnd/>
            </a:ln>
          </p:spPr>
          <p:txBody>
            <a:bodyPr wrap="none" anchor="ctr"/>
            <a:lstStyle/>
            <a:p>
              <a:endParaRPr lang="de-DE"/>
            </a:p>
          </p:txBody>
        </p:sp>
        <p:sp>
          <p:nvSpPr>
            <p:cNvPr id="20505" name="Rectangle 29"/>
            <p:cNvSpPr>
              <a:spLocks noChangeArrowheads="1"/>
            </p:cNvSpPr>
            <p:nvPr/>
          </p:nvSpPr>
          <p:spPr bwMode="auto">
            <a:xfrm>
              <a:off x="2901" y="3210"/>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20506" name="Rectangle 30"/>
            <p:cNvSpPr>
              <a:spLocks noChangeArrowheads="1"/>
            </p:cNvSpPr>
            <p:nvPr/>
          </p:nvSpPr>
          <p:spPr bwMode="auto">
            <a:xfrm>
              <a:off x="2112" y="325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20507" name="Rectangle 31"/>
            <p:cNvSpPr>
              <a:spLocks noChangeArrowheads="1"/>
            </p:cNvSpPr>
            <p:nvPr/>
          </p:nvSpPr>
          <p:spPr bwMode="auto">
            <a:xfrm>
              <a:off x="2214" y="3255"/>
              <a:ext cx="93" cy="12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0508" name="Rectangle 32"/>
            <p:cNvSpPr>
              <a:spLocks noChangeArrowheads="1"/>
            </p:cNvSpPr>
            <p:nvPr/>
          </p:nvSpPr>
          <p:spPr bwMode="auto">
            <a:xfrm>
              <a:off x="1449" y="3192"/>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20509" name="Line 33"/>
            <p:cNvSpPr>
              <a:spLocks noChangeShapeType="1"/>
            </p:cNvSpPr>
            <p:nvPr/>
          </p:nvSpPr>
          <p:spPr bwMode="auto">
            <a:xfrm>
              <a:off x="1560" y="3258"/>
              <a:ext cx="153" cy="3"/>
            </a:xfrm>
            <a:prstGeom prst="line">
              <a:avLst/>
            </a:prstGeom>
            <a:noFill/>
            <a:ln w="9525">
              <a:solidFill>
                <a:schemeClr val="tx1"/>
              </a:solidFill>
              <a:round/>
              <a:headEnd/>
              <a:tailEnd type="triangle" w="med" len="med"/>
            </a:ln>
          </p:spPr>
          <p:txBody>
            <a:bodyPr wrap="none" anchor="ctr"/>
            <a:lstStyle/>
            <a:p>
              <a:endParaRPr lang="de-DE"/>
            </a:p>
          </p:txBody>
        </p:sp>
        <p:sp>
          <p:nvSpPr>
            <p:cNvPr id="20510" name="Line 34"/>
            <p:cNvSpPr>
              <a:spLocks noChangeShapeType="1"/>
            </p:cNvSpPr>
            <p:nvPr/>
          </p:nvSpPr>
          <p:spPr bwMode="auto">
            <a:xfrm flipV="1">
              <a:off x="1350" y="3432"/>
              <a:ext cx="0" cy="111"/>
            </a:xfrm>
            <a:prstGeom prst="line">
              <a:avLst/>
            </a:prstGeom>
            <a:noFill/>
            <a:ln w="9525">
              <a:solidFill>
                <a:schemeClr val="tx1"/>
              </a:solidFill>
              <a:round/>
              <a:headEnd/>
              <a:tailEnd type="triangle" w="med" len="med"/>
            </a:ln>
          </p:spPr>
          <p:txBody>
            <a:bodyPr wrap="none" anchor="ctr"/>
            <a:lstStyle/>
            <a:p>
              <a:endParaRPr lang="de-DE"/>
            </a:p>
          </p:txBody>
        </p:sp>
        <p:sp>
          <p:nvSpPr>
            <p:cNvPr id="20511" name="Line 35"/>
            <p:cNvSpPr>
              <a:spLocks noChangeShapeType="1"/>
            </p:cNvSpPr>
            <p:nvPr/>
          </p:nvSpPr>
          <p:spPr bwMode="auto">
            <a:xfrm flipV="1">
              <a:off x="3387" y="3084"/>
              <a:ext cx="231" cy="0"/>
            </a:xfrm>
            <a:prstGeom prst="line">
              <a:avLst/>
            </a:prstGeom>
            <a:noFill/>
            <a:ln w="9525">
              <a:solidFill>
                <a:schemeClr val="tx1"/>
              </a:solidFill>
              <a:round/>
              <a:headEnd/>
              <a:tailEnd type="triangle" w="med" len="med"/>
            </a:ln>
          </p:spPr>
          <p:txBody>
            <a:bodyPr wrap="none" anchor="ctr"/>
            <a:lstStyle/>
            <a:p>
              <a:endParaRPr lang="de-DE"/>
            </a:p>
          </p:txBody>
        </p:sp>
        <p:sp>
          <p:nvSpPr>
            <p:cNvPr id="20512" name="Text Box 36"/>
            <p:cNvSpPr txBox="1">
              <a:spLocks noChangeArrowheads="1"/>
            </p:cNvSpPr>
            <p:nvPr/>
          </p:nvSpPr>
          <p:spPr bwMode="auto">
            <a:xfrm>
              <a:off x="494" y="2831"/>
              <a:ext cx="213" cy="233"/>
            </a:xfrm>
            <a:prstGeom prst="rect">
              <a:avLst/>
            </a:prstGeom>
            <a:noFill/>
            <a:ln w="9525">
              <a:noFill/>
              <a:miter lim="800000"/>
              <a:headEnd/>
              <a:tailEnd/>
            </a:ln>
          </p:spPr>
          <p:txBody>
            <a:bodyPr wrap="none">
              <a:spAutoFit/>
            </a:bodyPr>
            <a:lstStyle/>
            <a:p>
              <a:r>
                <a:rPr lang="de-DE">
                  <a:solidFill>
                    <a:srgbClr val="00CC66"/>
                  </a:solidFill>
                </a:rPr>
                <a:t>A</a:t>
              </a:r>
            </a:p>
          </p:txBody>
        </p:sp>
        <p:sp>
          <p:nvSpPr>
            <p:cNvPr id="20513" name="Text Box 37"/>
            <p:cNvSpPr txBox="1">
              <a:spLocks noChangeArrowheads="1"/>
            </p:cNvSpPr>
            <p:nvPr/>
          </p:nvSpPr>
          <p:spPr bwMode="auto">
            <a:xfrm>
              <a:off x="668" y="3473"/>
              <a:ext cx="213" cy="233"/>
            </a:xfrm>
            <a:prstGeom prst="rect">
              <a:avLst/>
            </a:prstGeom>
            <a:noFill/>
            <a:ln w="9525">
              <a:noFill/>
              <a:miter lim="800000"/>
              <a:headEnd/>
              <a:tailEnd/>
            </a:ln>
          </p:spPr>
          <p:txBody>
            <a:bodyPr wrap="none">
              <a:spAutoFit/>
            </a:bodyPr>
            <a:lstStyle/>
            <a:p>
              <a:r>
                <a:rPr lang="de-DE">
                  <a:solidFill>
                    <a:schemeClr val="accent2"/>
                  </a:solidFill>
                </a:rPr>
                <a:t>B</a:t>
              </a:r>
              <a:endParaRPr lang="de-DE">
                <a:solidFill>
                  <a:schemeClr val="accent1"/>
                </a:solidFill>
              </a:endParaRPr>
            </a:p>
          </p:txBody>
        </p:sp>
        <p:sp>
          <p:nvSpPr>
            <p:cNvPr id="20514" name="Rectangle 38"/>
            <p:cNvSpPr>
              <a:spLocks noChangeArrowheads="1"/>
            </p:cNvSpPr>
            <p:nvPr/>
          </p:nvSpPr>
          <p:spPr bwMode="auto">
            <a:xfrm>
              <a:off x="2295" y="3216"/>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20515" name="Text Box 39"/>
            <p:cNvSpPr txBox="1">
              <a:spLocks noChangeArrowheads="1"/>
            </p:cNvSpPr>
            <p:nvPr/>
          </p:nvSpPr>
          <p:spPr bwMode="auto">
            <a:xfrm>
              <a:off x="2619" y="2841"/>
              <a:ext cx="965" cy="582"/>
            </a:xfrm>
            <a:prstGeom prst="rect">
              <a:avLst/>
            </a:prstGeom>
            <a:noFill/>
            <a:ln w="9525">
              <a:noFill/>
              <a:miter lim="800000"/>
              <a:headEnd/>
              <a:tailEnd/>
            </a:ln>
          </p:spPr>
          <p:txBody>
            <a:bodyPr wrap="none">
              <a:spAutoFit/>
            </a:bodyPr>
            <a:lstStyle/>
            <a:p>
              <a:r>
                <a:rPr lang="de-DE">
                  <a:solidFill>
                    <a:srgbClr val="FF0000"/>
                  </a:solidFill>
                </a:rPr>
                <a:t>4. Signalaus-</a:t>
              </a:r>
            </a:p>
            <a:p>
              <a:r>
                <a:rPr lang="de-DE">
                  <a:solidFill>
                    <a:srgbClr val="FF0000"/>
                  </a:solidFill>
                </a:rPr>
                <a:t>breitung</a:t>
              </a:r>
              <a:endParaRPr lang="de-DE"/>
            </a:p>
            <a:p>
              <a:endParaRPr lang="de-DE" sz="1800"/>
            </a:p>
          </p:txBody>
        </p:sp>
        <p:sp>
          <p:nvSpPr>
            <p:cNvPr id="20516" name="Line 40"/>
            <p:cNvSpPr>
              <a:spLocks noChangeShapeType="1"/>
            </p:cNvSpPr>
            <p:nvPr/>
          </p:nvSpPr>
          <p:spPr bwMode="auto">
            <a:xfrm rot="10800000">
              <a:off x="2385" y="3084"/>
              <a:ext cx="201" cy="0"/>
            </a:xfrm>
            <a:prstGeom prst="line">
              <a:avLst/>
            </a:prstGeom>
            <a:noFill/>
            <a:ln w="9525">
              <a:solidFill>
                <a:schemeClr val="tx1"/>
              </a:solidFill>
              <a:round/>
              <a:headEnd/>
              <a:tailEnd type="triangle" w="med" len="med"/>
            </a:ln>
          </p:spPr>
          <p:txBody>
            <a:bodyPr wrap="none" anchor="ctr"/>
            <a:lstStyle/>
            <a:p>
              <a:endParaRPr lang="de-DE"/>
            </a:p>
          </p:txBody>
        </p:sp>
        <p:sp>
          <p:nvSpPr>
            <p:cNvPr id="20517" name="Text Box 41"/>
            <p:cNvSpPr txBox="1">
              <a:spLocks noChangeArrowheads="1"/>
            </p:cNvSpPr>
            <p:nvPr/>
          </p:nvSpPr>
          <p:spPr bwMode="auto">
            <a:xfrm>
              <a:off x="1346" y="2702"/>
              <a:ext cx="1086" cy="233"/>
            </a:xfrm>
            <a:prstGeom prst="rect">
              <a:avLst/>
            </a:prstGeom>
            <a:noFill/>
            <a:ln w="9525">
              <a:noFill/>
              <a:miter lim="800000"/>
              <a:headEnd/>
              <a:tailEnd/>
            </a:ln>
          </p:spPr>
          <p:txBody>
            <a:bodyPr wrap="none">
              <a:spAutoFit/>
            </a:bodyPr>
            <a:lstStyle/>
            <a:p>
              <a:r>
                <a:rPr lang="de-DE" sz="1800">
                  <a:solidFill>
                    <a:srgbClr val="FF0000"/>
                  </a:solidFill>
                </a:rPr>
                <a:t>3. Übertragung</a:t>
              </a:r>
              <a:endParaRPr lang="de-DE" sz="1800"/>
            </a:p>
          </p:txBody>
        </p:sp>
        <p:sp>
          <p:nvSpPr>
            <p:cNvPr id="20518" name="Line 42"/>
            <p:cNvSpPr>
              <a:spLocks noChangeShapeType="1"/>
            </p:cNvSpPr>
            <p:nvPr/>
          </p:nvSpPr>
          <p:spPr bwMode="auto">
            <a:xfrm rot="10800000" flipH="1" flipV="1">
              <a:off x="2022" y="2874"/>
              <a:ext cx="333" cy="336"/>
            </a:xfrm>
            <a:prstGeom prst="line">
              <a:avLst/>
            </a:prstGeom>
            <a:noFill/>
            <a:ln w="9525">
              <a:solidFill>
                <a:schemeClr val="tx1"/>
              </a:solidFill>
              <a:round/>
              <a:headEnd/>
              <a:tailEnd type="triangle" w="med" len="med"/>
            </a:ln>
          </p:spPr>
          <p:txBody>
            <a:bodyPr wrap="none" anchor="ctr"/>
            <a:lstStyle/>
            <a:p>
              <a:endParaRPr lang="de-DE"/>
            </a:p>
          </p:txBody>
        </p:sp>
        <p:sp>
          <p:nvSpPr>
            <p:cNvPr id="20519" name="Text Box 43"/>
            <p:cNvSpPr txBox="1">
              <a:spLocks noChangeArrowheads="1"/>
            </p:cNvSpPr>
            <p:nvPr/>
          </p:nvSpPr>
          <p:spPr bwMode="auto">
            <a:xfrm>
              <a:off x="1539" y="3668"/>
              <a:ext cx="593" cy="407"/>
            </a:xfrm>
            <a:prstGeom prst="rect">
              <a:avLst/>
            </a:prstGeom>
            <a:noFill/>
            <a:ln w="9525">
              <a:noFill/>
              <a:miter lim="800000"/>
              <a:headEnd/>
              <a:tailEnd/>
            </a:ln>
          </p:spPr>
          <p:txBody>
            <a:bodyPr wrap="none">
              <a:spAutoFit/>
            </a:bodyPr>
            <a:lstStyle/>
            <a:p>
              <a:pPr algn="ctr"/>
              <a:r>
                <a:rPr lang="de-DE" sz="1800">
                  <a:solidFill>
                    <a:srgbClr val="FF0000"/>
                  </a:solidFill>
                </a:rPr>
                <a:t>Verar-</a:t>
              </a:r>
            </a:p>
            <a:p>
              <a:pPr algn="ctr"/>
              <a:r>
                <a:rPr lang="de-DE" sz="1800">
                  <a:solidFill>
                    <a:srgbClr val="FF0000"/>
                  </a:solidFill>
                </a:rPr>
                <a:t>beitung</a:t>
              </a:r>
              <a:endParaRPr lang="de-DE" sz="1800"/>
            </a:p>
          </p:txBody>
        </p:sp>
        <p:sp>
          <p:nvSpPr>
            <p:cNvPr id="20520" name="Line 44"/>
            <p:cNvSpPr>
              <a:spLocks noChangeShapeType="1"/>
            </p:cNvSpPr>
            <p:nvPr/>
          </p:nvSpPr>
          <p:spPr bwMode="auto">
            <a:xfrm rot="10800000">
              <a:off x="1587" y="3696"/>
              <a:ext cx="525" cy="0"/>
            </a:xfrm>
            <a:prstGeom prst="line">
              <a:avLst/>
            </a:prstGeom>
            <a:noFill/>
            <a:ln w="9525">
              <a:solidFill>
                <a:schemeClr val="tx1"/>
              </a:solidFill>
              <a:round/>
              <a:headEnd type="triangle" w="med" len="med"/>
              <a:tailEnd type="triangle" w="med" len="med"/>
            </a:ln>
          </p:spPr>
          <p:txBody>
            <a:bodyPr wrap="none" anchor="ctr"/>
            <a:lstStyle/>
            <a:p>
              <a:endParaRPr lang="de-DE"/>
            </a:p>
          </p:txBody>
        </p:sp>
        <p:sp>
          <p:nvSpPr>
            <p:cNvPr id="20521" name="Line 45"/>
            <p:cNvSpPr>
              <a:spLocks noChangeShapeType="1"/>
            </p:cNvSpPr>
            <p:nvPr/>
          </p:nvSpPr>
          <p:spPr bwMode="auto">
            <a:xfrm rot="10800000" flipV="1">
              <a:off x="2097" y="3546"/>
              <a:ext cx="243" cy="0"/>
            </a:xfrm>
            <a:prstGeom prst="line">
              <a:avLst/>
            </a:prstGeom>
            <a:noFill/>
            <a:ln w="9525">
              <a:solidFill>
                <a:schemeClr val="tx1"/>
              </a:solidFill>
              <a:round/>
              <a:headEnd type="triangle" w="med" len="med"/>
              <a:tailEnd type="triangle" w="med" len="med"/>
            </a:ln>
          </p:spPr>
          <p:txBody>
            <a:bodyPr wrap="none" anchor="ctr"/>
            <a:lstStyle/>
            <a:p>
              <a:endParaRPr lang="de-DE"/>
            </a:p>
          </p:txBody>
        </p:sp>
        <p:sp>
          <p:nvSpPr>
            <p:cNvPr id="20522" name="Text Box 46"/>
            <p:cNvSpPr txBox="1">
              <a:spLocks noChangeArrowheads="1"/>
            </p:cNvSpPr>
            <p:nvPr/>
          </p:nvSpPr>
          <p:spPr bwMode="auto">
            <a:xfrm>
              <a:off x="2574" y="3703"/>
              <a:ext cx="1452" cy="407"/>
            </a:xfrm>
            <a:prstGeom prst="rect">
              <a:avLst/>
            </a:prstGeom>
            <a:noFill/>
            <a:ln w="9525">
              <a:noFill/>
              <a:miter lim="800000"/>
              <a:headEnd/>
              <a:tailEnd/>
            </a:ln>
          </p:spPr>
          <p:txBody>
            <a:bodyPr wrap="none">
              <a:spAutoFit/>
            </a:bodyPr>
            <a:lstStyle/>
            <a:p>
              <a:r>
                <a:rPr lang="de-DE" sz="1800">
                  <a:solidFill>
                    <a:srgbClr val="FF0000"/>
                  </a:solidFill>
                </a:rPr>
                <a:t>Warten in der</a:t>
              </a:r>
            </a:p>
            <a:p>
              <a:r>
                <a:rPr lang="de-DE">
                  <a:solidFill>
                    <a:srgbClr val="FF0000"/>
                  </a:solidFill>
                </a:rPr>
                <a:t>Schlange (</a:t>
              </a:r>
              <a:r>
                <a:rPr lang="de-DE" sz="1800">
                  <a:solidFill>
                    <a:srgbClr val="FF0000"/>
                  </a:solidFill>
                </a:rPr>
                <a:t>queueing)</a:t>
              </a:r>
              <a:endParaRPr lang="de-DE" sz="1800"/>
            </a:p>
          </p:txBody>
        </p:sp>
        <p:sp>
          <p:nvSpPr>
            <p:cNvPr id="20523" name="Line 47"/>
            <p:cNvSpPr>
              <a:spLocks noChangeShapeType="1"/>
            </p:cNvSpPr>
            <p:nvPr/>
          </p:nvSpPr>
          <p:spPr bwMode="auto">
            <a:xfrm rot="10800000">
              <a:off x="2199" y="3546"/>
              <a:ext cx="375" cy="348"/>
            </a:xfrm>
            <a:prstGeom prst="line">
              <a:avLst/>
            </a:prstGeom>
            <a:noFill/>
            <a:ln w="9525">
              <a:solidFill>
                <a:schemeClr val="tx1"/>
              </a:solidFill>
              <a:round/>
              <a:headEnd/>
              <a:tailEnd/>
            </a:ln>
          </p:spPr>
          <p:txBody>
            <a:bodyPr wrap="none" anchor="ctr"/>
            <a:lstStyle/>
            <a:p>
              <a:endParaRPr lang="de-DE"/>
            </a:p>
          </p:txBody>
        </p:sp>
        <p:grpSp>
          <p:nvGrpSpPr>
            <p:cNvPr id="6" name="Group 48"/>
            <p:cNvGrpSpPr>
              <a:grpSpLocks/>
            </p:cNvGrpSpPr>
            <p:nvPr/>
          </p:nvGrpSpPr>
          <p:grpSpPr bwMode="auto">
            <a:xfrm>
              <a:off x="3738" y="3168"/>
              <a:ext cx="314" cy="75"/>
              <a:chOff x="2208" y="2184"/>
              <a:chExt cx="176" cy="69"/>
            </a:xfrm>
          </p:grpSpPr>
          <p:grpSp>
            <p:nvGrpSpPr>
              <p:cNvPr id="7" name="Group 49"/>
              <p:cNvGrpSpPr>
                <a:grpSpLocks/>
              </p:cNvGrpSpPr>
              <p:nvPr/>
            </p:nvGrpSpPr>
            <p:grpSpPr bwMode="auto">
              <a:xfrm>
                <a:off x="2208" y="2185"/>
                <a:ext cx="176" cy="68"/>
                <a:chOff x="2848" y="848"/>
                <a:chExt cx="140" cy="98"/>
              </a:xfrm>
            </p:grpSpPr>
            <p:sp>
              <p:nvSpPr>
                <p:cNvPr id="20530" name="Line 50"/>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531" name="Line 51"/>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0532" name="Line 52"/>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8" name="Group 53"/>
              <p:cNvGrpSpPr>
                <a:grpSpLocks/>
              </p:cNvGrpSpPr>
              <p:nvPr/>
            </p:nvGrpSpPr>
            <p:grpSpPr bwMode="auto">
              <a:xfrm flipV="1">
                <a:off x="2208" y="2184"/>
                <a:ext cx="176" cy="68"/>
                <a:chOff x="2848" y="848"/>
                <a:chExt cx="140" cy="98"/>
              </a:xfrm>
            </p:grpSpPr>
            <p:sp>
              <p:nvSpPr>
                <p:cNvPr id="20527" name="Line 54"/>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528" name="Line 55"/>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0529" name="Line 56"/>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488"/>
                                        </p:tgtEl>
                                        <p:attrNameLst>
                                          <p:attrName>style.visibility</p:attrName>
                                        </p:attrNameLst>
                                      </p:cBhvr>
                                      <p:to>
                                        <p:strVal val="visible"/>
                                      </p:to>
                                    </p:set>
                                    <p:animEffect transition="in" filter="fade">
                                      <p:cBhvr>
                                        <p:cTn id="7" dur="5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Slide Number Placeholder 5"/>
          <p:cNvSpPr>
            <a:spLocks noGrp="1"/>
          </p:cNvSpPr>
          <p:nvPr>
            <p:ph type="sldNum" sz="quarter" idx="12"/>
          </p:nvPr>
        </p:nvSpPr>
        <p:spPr>
          <a:noFill/>
        </p:spPr>
        <p:txBody>
          <a:bodyPr/>
          <a:lstStyle/>
          <a:p>
            <a:fld id="{E4B5C0EA-5623-4014-ABAB-961B44AC32EC}" type="slidenum">
              <a:rPr lang="en-US" smtClean="0"/>
              <a:pPr/>
              <a:t>29</a:t>
            </a:fld>
            <a:endParaRPr lang="en-US" dirty="0"/>
          </a:p>
        </p:txBody>
      </p:sp>
      <p:sp>
        <p:nvSpPr>
          <p:cNvPr id="21509" name="Rectangle 2"/>
          <p:cNvSpPr>
            <a:spLocks noGrp="1" noChangeArrowheads="1"/>
          </p:cNvSpPr>
          <p:nvPr>
            <p:ph type="title"/>
          </p:nvPr>
        </p:nvSpPr>
        <p:spPr/>
        <p:txBody>
          <a:bodyPr>
            <a:normAutofit fontScale="90000"/>
          </a:bodyPr>
          <a:lstStyle/>
          <a:p>
            <a:r>
              <a:rPr lang="de-DE" dirty="0"/>
              <a:t>Gesamtverzögerung (pro Übetragungsknoten)</a:t>
            </a:r>
          </a:p>
        </p:txBody>
      </p:sp>
      <p:sp>
        <p:nvSpPr>
          <p:cNvPr id="21510" name="Rectangle 3"/>
          <p:cNvSpPr>
            <a:spLocks noGrp="1" noChangeArrowheads="1"/>
          </p:cNvSpPr>
          <p:nvPr>
            <p:ph type="body" idx="1"/>
          </p:nvPr>
        </p:nvSpPr>
        <p:spPr>
          <a:xfrm>
            <a:off x="533400" y="2348880"/>
            <a:ext cx="8071048" cy="4032448"/>
          </a:xfrm>
        </p:spPr>
        <p:txBody>
          <a:bodyPr>
            <a:normAutofit/>
          </a:bodyPr>
          <a:lstStyle/>
          <a:p>
            <a:r>
              <a:rPr lang="de-DE" sz="2400" dirty="0"/>
              <a:t>d</a:t>
            </a:r>
            <a:r>
              <a:rPr lang="de-DE" sz="2400" baseline="-25000" dirty="0"/>
              <a:t>proc</a:t>
            </a:r>
            <a:r>
              <a:rPr lang="de-DE" sz="2400" dirty="0"/>
              <a:t> : </a:t>
            </a:r>
            <a:r>
              <a:rPr lang="de-DE" sz="2400" dirty="0">
                <a:solidFill>
                  <a:srgbClr val="FF0000"/>
                </a:solidFill>
              </a:rPr>
              <a:t>Verarbeitungsverzögerung </a:t>
            </a:r>
            <a:r>
              <a:rPr lang="de-DE" sz="2400" dirty="0"/>
              <a:t>(processing delay)</a:t>
            </a:r>
          </a:p>
          <a:p>
            <a:pPr lvl="1"/>
            <a:r>
              <a:rPr lang="de-DE" sz="2000" dirty="0"/>
              <a:t>typischerweise einige Mikrosekunden oder weniger</a:t>
            </a:r>
          </a:p>
          <a:p>
            <a:r>
              <a:rPr lang="de-DE" sz="2400" dirty="0"/>
              <a:t>d</a:t>
            </a:r>
            <a:r>
              <a:rPr lang="de-DE" sz="2400" baseline="-25000" dirty="0"/>
              <a:t>queue</a:t>
            </a:r>
            <a:r>
              <a:rPr lang="de-DE" sz="2400" dirty="0"/>
              <a:t> : </a:t>
            </a:r>
            <a:r>
              <a:rPr lang="de-DE" sz="2400" dirty="0">
                <a:solidFill>
                  <a:srgbClr val="FF0000"/>
                </a:solidFill>
              </a:rPr>
              <a:t>Warteschlangenverzögerung </a:t>
            </a:r>
            <a:r>
              <a:rPr lang="de-DE" sz="2400" dirty="0"/>
              <a:t>(queuing delay)</a:t>
            </a:r>
          </a:p>
          <a:p>
            <a:pPr lvl="1"/>
            <a:r>
              <a:rPr lang="de-DE" sz="2000" dirty="0"/>
              <a:t>hängt von der Überlastung (</a:t>
            </a:r>
            <a:r>
              <a:rPr lang="de-DE" sz="2000" dirty="0" err="1"/>
              <a:t>congestion</a:t>
            </a:r>
            <a:r>
              <a:rPr lang="de-DE" sz="2000" dirty="0"/>
              <a:t>) ab (Mikro- bis Millisekunden)</a:t>
            </a:r>
          </a:p>
          <a:p>
            <a:r>
              <a:rPr lang="de-DE" sz="2400" dirty="0"/>
              <a:t>d</a:t>
            </a:r>
            <a:r>
              <a:rPr lang="de-DE" sz="2400" baseline="-25000" dirty="0"/>
              <a:t>trans</a:t>
            </a:r>
            <a:r>
              <a:rPr lang="de-DE" sz="2400" dirty="0"/>
              <a:t> : </a:t>
            </a:r>
            <a:r>
              <a:rPr lang="de-DE" sz="2400" dirty="0">
                <a:solidFill>
                  <a:srgbClr val="FF0000"/>
                </a:solidFill>
              </a:rPr>
              <a:t>Übertragungsverzögerung </a:t>
            </a:r>
            <a:r>
              <a:rPr lang="de-DE" sz="2400" dirty="0"/>
              <a:t>(transmission delay)</a:t>
            </a:r>
          </a:p>
          <a:p>
            <a:pPr lvl="1"/>
            <a:r>
              <a:rPr lang="de-DE" sz="2000" dirty="0"/>
              <a:t>= L/R, signifikant für langsame Leitungen (Mikro- bis Millisekunden)</a:t>
            </a:r>
          </a:p>
          <a:p>
            <a:r>
              <a:rPr lang="de-DE" sz="2400" dirty="0"/>
              <a:t>d</a:t>
            </a:r>
            <a:r>
              <a:rPr lang="de-DE" sz="2400" baseline="-25000" dirty="0"/>
              <a:t>prop</a:t>
            </a:r>
            <a:r>
              <a:rPr lang="de-DE" sz="2400" dirty="0"/>
              <a:t> : </a:t>
            </a:r>
            <a:r>
              <a:rPr lang="de-DE" sz="2400" dirty="0">
                <a:solidFill>
                  <a:srgbClr val="FF0000"/>
                </a:solidFill>
              </a:rPr>
              <a:t>Ausbreitungsverzögerung </a:t>
            </a:r>
            <a:r>
              <a:rPr lang="de-DE" sz="2400" dirty="0"/>
              <a:t>(propagation delay)</a:t>
            </a:r>
          </a:p>
          <a:p>
            <a:pPr lvl="1"/>
            <a:r>
              <a:rPr lang="de-DE" sz="2000" dirty="0"/>
              <a:t>einige Mikrosekunden bis hunderte Millisekunden (Satelliten)</a:t>
            </a:r>
          </a:p>
        </p:txBody>
      </p:sp>
      <p:graphicFrame>
        <p:nvGraphicFramePr>
          <p:cNvPr id="21506" name="Object 4"/>
          <p:cNvGraphicFramePr>
            <a:graphicFrameLocks noChangeAspect="1"/>
          </p:cNvGraphicFramePr>
          <p:nvPr/>
        </p:nvGraphicFramePr>
        <p:xfrm>
          <a:off x="1920875" y="1371600"/>
          <a:ext cx="5248275" cy="635000"/>
        </p:xfrm>
        <a:graphic>
          <a:graphicData uri="http://schemas.openxmlformats.org/presentationml/2006/ole">
            <mc:AlternateContent xmlns:mc="http://schemas.openxmlformats.org/markup-compatibility/2006">
              <mc:Choice xmlns:v="urn:schemas-microsoft-com:vml" Requires="v">
                <p:oleObj name="Equation" r:id="rId3" imgW="1981200" imgH="241300" progId="Equation.3">
                  <p:embed/>
                </p:oleObj>
              </mc:Choice>
              <mc:Fallback>
                <p:oleObj name="Equation" r:id="rId3" imgW="1981200" imgH="241300" progId="Equation.3">
                  <p:embed/>
                  <p:pic>
                    <p:nvPicPr>
                      <p:cNvPr id="2150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875" y="1371600"/>
                        <a:ext cx="5248275" cy="6350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Slide Number Placeholder 6"/>
          <p:cNvSpPr>
            <a:spLocks noGrp="1"/>
          </p:cNvSpPr>
          <p:nvPr>
            <p:ph type="sldNum" sz="quarter" idx="12"/>
          </p:nvPr>
        </p:nvSpPr>
        <p:spPr>
          <a:noFill/>
        </p:spPr>
        <p:txBody>
          <a:bodyPr/>
          <a:lstStyle/>
          <a:p>
            <a:fld id="{350A985B-B346-4CED-AF8D-5BF83DC771E2}" type="slidenum">
              <a:rPr lang="en-US" smtClean="0"/>
              <a:pPr/>
              <a:t>30</a:t>
            </a:fld>
            <a:endParaRPr lang="en-US" dirty="0"/>
          </a:p>
        </p:txBody>
      </p:sp>
      <p:sp>
        <p:nvSpPr>
          <p:cNvPr id="75781" name="Rectangle 2"/>
          <p:cNvSpPr>
            <a:spLocks noGrp="1" noChangeArrowheads="1"/>
          </p:cNvSpPr>
          <p:nvPr>
            <p:ph type="title"/>
          </p:nvPr>
        </p:nvSpPr>
        <p:spPr>
          <a:xfrm>
            <a:off x="476250" y="266700"/>
            <a:ext cx="8128198" cy="858044"/>
          </a:xfrm>
        </p:spPr>
        <p:txBody>
          <a:bodyPr>
            <a:normAutofit fontScale="90000"/>
          </a:bodyPr>
          <a:lstStyle/>
          <a:p>
            <a:r>
              <a:rPr lang="de-DE" sz="3600" dirty="0">
                <a:latin typeface="+mn-lt"/>
              </a:rPr>
              <a:t>Warteschlangenverzögerung - Genauer</a:t>
            </a:r>
            <a:endParaRPr lang="de-DE" dirty="0">
              <a:latin typeface="+mn-lt"/>
            </a:endParaRPr>
          </a:p>
        </p:txBody>
      </p:sp>
      <p:sp>
        <p:nvSpPr>
          <p:cNvPr id="75782" name="Rectangle 3"/>
          <p:cNvSpPr>
            <a:spLocks noGrp="1" noChangeArrowheads="1"/>
          </p:cNvSpPr>
          <p:nvPr>
            <p:ph type="body" sz="half" idx="1"/>
          </p:nvPr>
        </p:nvSpPr>
        <p:spPr>
          <a:xfrm>
            <a:off x="539552" y="1268760"/>
            <a:ext cx="4536504" cy="2232248"/>
          </a:xfrm>
        </p:spPr>
        <p:txBody>
          <a:bodyPr>
            <a:normAutofit lnSpcReduction="10000"/>
          </a:bodyPr>
          <a:lstStyle/>
          <a:p>
            <a:r>
              <a:rPr lang="en-US" sz="2400" b="1" dirty="0">
                <a:solidFill>
                  <a:srgbClr val="FF0000"/>
                </a:solidFill>
              </a:rPr>
              <a:t>R </a:t>
            </a:r>
            <a:r>
              <a:rPr lang="en-US" sz="2400" dirty="0"/>
              <a:t>:</a:t>
            </a:r>
            <a:r>
              <a:rPr lang="de-DE" sz="2400" dirty="0"/>
              <a:t> Übertraguns-geschwindigkeit</a:t>
            </a:r>
            <a:r>
              <a:rPr lang="en-US" sz="2400" dirty="0"/>
              <a:t> (bps)</a:t>
            </a:r>
          </a:p>
          <a:p>
            <a:r>
              <a:rPr lang="en-US" sz="2400" b="1" dirty="0">
                <a:solidFill>
                  <a:srgbClr val="FF0000"/>
                </a:solidFill>
              </a:rPr>
              <a:t>L</a:t>
            </a:r>
            <a:r>
              <a:rPr lang="en-US" sz="2400" dirty="0"/>
              <a:t> : </a:t>
            </a:r>
            <a:r>
              <a:rPr lang="de-DE" sz="2400" dirty="0"/>
              <a:t>Paketlänge</a:t>
            </a:r>
            <a:r>
              <a:rPr lang="en-US" sz="2400" dirty="0"/>
              <a:t> (bits)</a:t>
            </a:r>
          </a:p>
          <a:p>
            <a:r>
              <a:rPr lang="en-US" sz="2400" b="1" dirty="0">
                <a:solidFill>
                  <a:srgbClr val="FF0000"/>
                </a:solidFill>
              </a:rPr>
              <a:t>a </a:t>
            </a:r>
            <a:r>
              <a:rPr lang="en-US" sz="2400" dirty="0"/>
              <a:t>: </a:t>
            </a:r>
            <a:r>
              <a:rPr lang="de-DE" sz="2400" dirty="0"/>
              <a:t>mittlere Rate, mit der Pakete an der Warteschlange eintreffen</a:t>
            </a:r>
            <a:endParaRPr lang="de-DE" sz="2400" i="1" dirty="0"/>
          </a:p>
          <a:p>
            <a:endParaRPr lang="en-US" sz="2400" dirty="0"/>
          </a:p>
        </p:txBody>
      </p:sp>
      <p:cxnSp>
        <p:nvCxnSpPr>
          <p:cNvPr id="10" name="Gerade Verbindung mit Pfeil 9"/>
          <p:cNvCxnSpPr/>
          <p:nvPr/>
        </p:nvCxnSpPr>
        <p:spPr>
          <a:xfrm rot="5400000" flipH="1" flipV="1">
            <a:off x="5544108" y="2231690"/>
            <a:ext cx="1944216" cy="158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1" name="Gerade Verbindung mit Pfeil 10"/>
          <p:cNvCxnSpPr/>
          <p:nvPr/>
        </p:nvCxnSpPr>
        <p:spPr>
          <a:xfrm>
            <a:off x="6516216" y="3212976"/>
            <a:ext cx="2376264" cy="158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3" name="Bogen 12"/>
          <p:cNvSpPr/>
          <p:nvPr/>
        </p:nvSpPr>
        <p:spPr>
          <a:xfrm rot="5400000">
            <a:off x="4860032" y="-99392"/>
            <a:ext cx="3528392" cy="3096344"/>
          </a:xfrm>
          <a:prstGeom prst="arc">
            <a:avLst>
              <a:gd name="adj1" fmla="val 16720093"/>
              <a:gd name="adj2" fmla="val 3785"/>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5" name="Gerade Verbindung 14"/>
          <p:cNvCxnSpPr/>
          <p:nvPr/>
        </p:nvCxnSpPr>
        <p:spPr>
          <a:xfrm rot="5400000" flipH="1" flipV="1">
            <a:off x="7488324" y="2231690"/>
            <a:ext cx="1944216" cy="0"/>
          </a:xfrm>
          <a:prstGeom prst="line">
            <a:avLst/>
          </a:prstGeom>
          <a:ln w="285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feld 17"/>
          <p:cNvSpPr txBox="1"/>
          <p:nvPr/>
        </p:nvSpPr>
        <p:spPr>
          <a:xfrm>
            <a:off x="8316416" y="3275806"/>
            <a:ext cx="312906" cy="369332"/>
          </a:xfrm>
          <a:prstGeom prst="rect">
            <a:avLst/>
          </a:prstGeom>
          <a:noFill/>
        </p:spPr>
        <p:txBody>
          <a:bodyPr wrap="none" rtlCol="0">
            <a:spAutoFit/>
          </a:bodyPr>
          <a:lstStyle/>
          <a:p>
            <a:r>
              <a:rPr lang="de-DE" dirty="0"/>
              <a:t>1</a:t>
            </a:r>
          </a:p>
        </p:txBody>
      </p:sp>
      <p:sp>
        <p:nvSpPr>
          <p:cNvPr id="19" name="Textfeld 18"/>
          <p:cNvSpPr txBox="1"/>
          <p:nvPr/>
        </p:nvSpPr>
        <p:spPr>
          <a:xfrm>
            <a:off x="7022710" y="3270175"/>
            <a:ext cx="1269899" cy="461665"/>
          </a:xfrm>
          <a:prstGeom prst="rect">
            <a:avLst/>
          </a:prstGeom>
          <a:noFill/>
        </p:spPr>
        <p:txBody>
          <a:bodyPr wrap="none" rtlCol="0">
            <a:spAutoFit/>
          </a:bodyPr>
          <a:lstStyle/>
          <a:p>
            <a:r>
              <a:rPr lang="de-DE" sz="2400" dirty="0"/>
              <a:t>I = La/R</a:t>
            </a:r>
          </a:p>
        </p:txBody>
      </p:sp>
      <p:sp>
        <p:nvSpPr>
          <p:cNvPr id="20" name="Textfeld 19"/>
          <p:cNvSpPr txBox="1"/>
          <p:nvPr/>
        </p:nvSpPr>
        <p:spPr>
          <a:xfrm rot="16200000">
            <a:off x="5081708" y="1829995"/>
            <a:ext cx="1920141" cy="923330"/>
          </a:xfrm>
          <a:prstGeom prst="rect">
            <a:avLst/>
          </a:prstGeom>
          <a:noFill/>
        </p:spPr>
        <p:txBody>
          <a:bodyPr wrap="none" rtlCol="0">
            <a:spAutoFit/>
          </a:bodyPr>
          <a:lstStyle/>
          <a:p>
            <a:r>
              <a:rPr lang="de-DE" dirty="0"/>
              <a:t>Mittlere</a:t>
            </a:r>
          </a:p>
          <a:p>
            <a:r>
              <a:rPr lang="de-DE" dirty="0"/>
              <a:t>Warteschlangen-</a:t>
            </a:r>
          </a:p>
          <a:p>
            <a:r>
              <a:rPr lang="de-DE" dirty="0" err="1"/>
              <a:t>verzögerung</a:t>
            </a:r>
            <a:endParaRPr lang="de-DE" dirty="0"/>
          </a:p>
        </p:txBody>
      </p:sp>
      <p:sp>
        <p:nvSpPr>
          <p:cNvPr id="21" name="Rectangle 3"/>
          <p:cNvSpPr txBox="1">
            <a:spLocks noChangeArrowheads="1"/>
          </p:cNvSpPr>
          <p:nvPr/>
        </p:nvSpPr>
        <p:spPr>
          <a:xfrm>
            <a:off x="539552" y="3501008"/>
            <a:ext cx="7632848" cy="1296144"/>
          </a:xfrm>
          <a:prstGeom prst="rect">
            <a:avLst/>
          </a:prstGeom>
        </p:spPr>
        <p:txBody>
          <a:bodyPr vert="horz">
            <a:normAutofit/>
          </a:bodyPr>
          <a:lstStyle/>
          <a:p>
            <a:pPr marL="274320" lvl="0" indent="-274320">
              <a:spcBef>
                <a:spcPts val="600"/>
              </a:spcBef>
              <a:buClr>
                <a:schemeClr val="accent1"/>
              </a:buClr>
              <a:buSzPct val="76000"/>
              <a:buFont typeface="Wingdings 3"/>
              <a:buChar char=""/>
            </a:pPr>
            <a:r>
              <a:rPr lang="de-DE" sz="2400" b="1" dirty="0">
                <a:solidFill>
                  <a:srgbClr val="FF0000"/>
                </a:solidFill>
              </a:rPr>
              <a:t>I = La/R</a:t>
            </a:r>
            <a:r>
              <a:rPr lang="de-DE" sz="2400" dirty="0"/>
              <a:t> wird als der </a:t>
            </a:r>
            <a:r>
              <a:rPr lang="de-DE" sz="2400" b="1" dirty="0">
                <a:solidFill>
                  <a:srgbClr val="FF0000"/>
                </a:solidFill>
              </a:rPr>
              <a:t>Verkehrswert </a:t>
            </a:r>
            <a:r>
              <a:rPr lang="de-DE" sz="2400" dirty="0"/>
              <a:t>(traffic </a:t>
            </a:r>
            <a:br>
              <a:rPr lang="de-DE" sz="2400" dirty="0"/>
            </a:br>
            <a:r>
              <a:rPr lang="de-DE" sz="2400" dirty="0"/>
              <a:t>intensity) bezeichnet</a:t>
            </a:r>
          </a:p>
          <a:p>
            <a:pPr marL="731520" lvl="1" indent="-274320">
              <a:spcBef>
                <a:spcPts val="600"/>
              </a:spcBef>
              <a:buClr>
                <a:schemeClr val="accent1"/>
              </a:buClr>
              <a:buSzPct val="76000"/>
              <a:buFont typeface="Wingdings 3"/>
              <a:buChar char=""/>
            </a:pPr>
            <a:r>
              <a:rPr kumimoji="0" lang="de-DE" sz="2000" b="0" i="0" u="none" strike="noStrike" kern="1200" cap="none" spc="0" normalizeH="0" baseline="0" noProof="0" dirty="0">
                <a:ln>
                  <a:noFill/>
                </a:ln>
                <a:solidFill>
                  <a:schemeClr val="tx1"/>
                </a:solidFill>
                <a:effectLst/>
                <a:uLnTx/>
                <a:uFillTx/>
              </a:rPr>
              <a:t>Verhältnis (ankommende</a:t>
            </a:r>
            <a:r>
              <a:rPr kumimoji="0" lang="de-DE" sz="2000" b="0" i="0" u="none" strike="noStrike" kern="1200" cap="none" spc="0" normalizeH="0" noProof="0" dirty="0">
                <a:ln>
                  <a:noFill/>
                </a:ln>
                <a:solidFill>
                  <a:schemeClr val="tx1"/>
                </a:solidFill>
                <a:effectLst/>
                <a:uLnTx/>
                <a:uFillTx/>
              </a:rPr>
              <a:t> Bitrate) / (abgehende Bitrate)</a:t>
            </a:r>
            <a:endParaRPr kumimoji="0" lang="de-DE" sz="2000" b="0" i="0" u="none" strike="noStrike" kern="1200" cap="none" spc="0" normalizeH="0" baseline="0" noProof="0" dirty="0">
              <a:ln>
                <a:noFill/>
              </a:ln>
              <a:solidFill>
                <a:schemeClr val="tx1"/>
              </a:solidFill>
              <a:effectLst/>
              <a:uLnTx/>
              <a:uFillTx/>
            </a:endParaRPr>
          </a:p>
        </p:txBody>
      </p:sp>
      <p:sp>
        <p:nvSpPr>
          <p:cNvPr id="22" name="Rectangle 3"/>
          <p:cNvSpPr txBox="1">
            <a:spLocks noChangeArrowheads="1"/>
          </p:cNvSpPr>
          <p:nvPr/>
        </p:nvSpPr>
        <p:spPr>
          <a:xfrm>
            <a:off x="539552" y="4797152"/>
            <a:ext cx="7920880" cy="1862708"/>
          </a:xfrm>
          <a:prstGeom prst="rect">
            <a:avLst/>
          </a:prstGeom>
        </p:spPr>
        <p:txBody>
          <a:bodyPr vert="horz">
            <a:normAutofit/>
          </a:bodyPr>
          <a:lstStyle/>
          <a:p>
            <a:pPr marL="274320" lvl="0" indent="-274320">
              <a:spcBef>
                <a:spcPts val="600"/>
              </a:spcBef>
              <a:buClr>
                <a:schemeClr val="accent1"/>
              </a:buClr>
              <a:buSzPct val="76000"/>
              <a:buFont typeface="Wingdings 3"/>
              <a:buChar char=""/>
            </a:pPr>
            <a:r>
              <a:rPr lang="de-DE" sz="2400" dirty="0">
                <a:solidFill>
                  <a:srgbClr val="000000"/>
                </a:solidFill>
              </a:rPr>
              <a:t>La/R ~ 0: Schlange sehr kurz, kaum Verzögerungen</a:t>
            </a:r>
          </a:p>
          <a:p>
            <a:pPr marL="274320" lvl="0" indent="-274320">
              <a:spcBef>
                <a:spcPts val="600"/>
              </a:spcBef>
              <a:buClr>
                <a:schemeClr val="accent1"/>
              </a:buClr>
              <a:buSzPct val="76000"/>
              <a:buFont typeface="Wingdings 3"/>
              <a:buChar char=""/>
            </a:pPr>
            <a:r>
              <a:rPr lang="de-DE" sz="2400" dirty="0">
                <a:solidFill>
                  <a:srgbClr val="000000"/>
                </a:solidFill>
              </a:rPr>
              <a:t>La/R  </a:t>
            </a:r>
            <a:r>
              <a:rPr lang="de-DE" sz="2400" dirty="0">
                <a:solidFill>
                  <a:srgbClr val="000000"/>
                </a:solidFill>
                <a:sym typeface="Symbol"/>
              </a:rPr>
              <a:t></a:t>
            </a:r>
            <a:r>
              <a:rPr lang="de-DE" sz="2400" dirty="0">
                <a:solidFill>
                  <a:srgbClr val="000000"/>
                </a:solidFill>
              </a:rPr>
              <a:t> 1: Verzögerungen werden sehr groß</a:t>
            </a:r>
          </a:p>
          <a:p>
            <a:pPr marL="274320" lvl="0" indent="-274320">
              <a:spcBef>
                <a:spcPts val="600"/>
              </a:spcBef>
              <a:buClr>
                <a:schemeClr val="accent1"/>
              </a:buClr>
              <a:buSzPct val="76000"/>
              <a:buFont typeface="Wingdings 3"/>
              <a:buChar char=""/>
            </a:pPr>
            <a:r>
              <a:rPr lang="de-DE" sz="2400" dirty="0">
                <a:solidFill>
                  <a:srgbClr val="000000"/>
                </a:solidFill>
              </a:rPr>
              <a:t>La/R &gt; 1: Mehr ankommende Daten als verschickt werden können, mittlere Verzögerung wird unendlich</a:t>
            </a: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tabLst/>
              <a:defRPr/>
            </a:pPr>
            <a:endParaRPr kumimoji="0" lang="de-DE" sz="2400" b="0" i="0" u="none" strike="noStrike" kern="1200" cap="none" spc="0" normalizeH="0" baseline="0" dirty="0">
              <a:ln>
                <a:noFill/>
              </a:ln>
              <a:solidFill>
                <a:schemeClr val="tx1"/>
              </a:solidFill>
              <a:effectLst/>
              <a:uLnTx/>
              <a:uFillTx/>
            </a:endParaRPr>
          </a:p>
        </p:txBody>
      </p:sp>
    </p:spTree>
    <p:extLst>
      <p:ext uri="{BB962C8B-B14F-4D97-AF65-F5344CB8AC3E}">
        <p14:creationId xmlns:p14="http://schemas.microsoft.com/office/powerpoint/2010/main" val="28753051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Slide Number Placeholder 5"/>
          <p:cNvSpPr>
            <a:spLocks noGrp="1"/>
          </p:cNvSpPr>
          <p:nvPr>
            <p:ph type="sldNum" sz="quarter" idx="12"/>
          </p:nvPr>
        </p:nvSpPr>
        <p:spPr>
          <a:noFill/>
        </p:spPr>
        <p:txBody>
          <a:bodyPr/>
          <a:lstStyle/>
          <a:p>
            <a:fld id="{3888FF09-7FAD-407D-95BD-9D9F45DA9FB1}" type="slidenum">
              <a:rPr lang="de-DE" smtClean="0"/>
              <a:pPr/>
              <a:t>31</a:t>
            </a:fld>
            <a:endParaRPr lang="de-DE"/>
          </a:p>
        </p:txBody>
      </p:sp>
      <p:sp>
        <p:nvSpPr>
          <p:cNvPr id="22534" name="Rectangle 2"/>
          <p:cNvSpPr>
            <a:spLocks noGrp="1" noChangeArrowheads="1"/>
          </p:cNvSpPr>
          <p:nvPr>
            <p:ph type="title"/>
          </p:nvPr>
        </p:nvSpPr>
        <p:spPr/>
        <p:txBody>
          <a:bodyPr/>
          <a:lstStyle/>
          <a:p>
            <a:r>
              <a:rPr lang="de-DE" sz="3600" dirty="0">
                <a:latin typeface="+mn-lt"/>
              </a:rPr>
              <a:t>Ende-zu-Ende-Verzögerung</a:t>
            </a:r>
          </a:p>
        </p:txBody>
      </p:sp>
      <p:sp>
        <p:nvSpPr>
          <p:cNvPr id="22535" name="Rectangle 5"/>
          <p:cNvSpPr>
            <a:spLocks noGrp="1" noChangeArrowheads="1"/>
          </p:cNvSpPr>
          <p:nvPr>
            <p:ph type="body" idx="1"/>
          </p:nvPr>
        </p:nvSpPr>
        <p:spPr>
          <a:xfrm>
            <a:off x="533400" y="1196752"/>
            <a:ext cx="8143056" cy="3960440"/>
          </a:xfrm>
        </p:spPr>
        <p:txBody>
          <a:bodyPr>
            <a:normAutofit/>
          </a:bodyPr>
          <a:lstStyle/>
          <a:p>
            <a:r>
              <a:rPr lang="de-DE" sz="2400" dirty="0"/>
              <a:t>Auf dem Weg addieren sich diese Verzögerungen auf</a:t>
            </a:r>
          </a:p>
          <a:p>
            <a:r>
              <a:rPr lang="de-DE" sz="2400" dirty="0">
                <a:solidFill>
                  <a:srgbClr val="000000"/>
                </a:solidFill>
              </a:rPr>
              <a:t>Programm </a:t>
            </a:r>
            <a:r>
              <a:rPr lang="de-DE" sz="2400" b="1" dirty="0" err="1">
                <a:solidFill>
                  <a:srgbClr val="FF0000"/>
                </a:solidFill>
              </a:rPr>
              <a:t>Traceroute</a:t>
            </a:r>
            <a:r>
              <a:rPr lang="de-DE" sz="2400" b="1" dirty="0">
                <a:solidFill>
                  <a:srgbClr val="FF0000"/>
                </a:solidFill>
              </a:rPr>
              <a:t> </a:t>
            </a:r>
            <a:r>
              <a:rPr lang="de-DE" sz="2400" dirty="0"/>
              <a:t>erlaubt die Messung der Verzögerung von der Quelle bis zu jedem Router auf dem Weg zum Ziel</a:t>
            </a:r>
          </a:p>
          <a:p>
            <a:r>
              <a:rPr lang="de-DE" sz="2400" dirty="0"/>
              <a:t>Für alle i = 0,…, 255</a:t>
            </a:r>
            <a:r>
              <a:rPr lang="de-DE" sz="2400" i="1" dirty="0"/>
              <a:t>:</a:t>
            </a:r>
          </a:p>
          <a:p>
            <a:pPr lvl="1"/>
            <a:r>
              <a:rPr lang="de-DE" sz="2000" dirty="0"/>
              <a:t>Sende drei spezielle Pakete, die den Router </a:t>
            </a:r>
            <a:r>
              <a:rPr lang="de-DE" sz="2000" i="1" dirty="0"/>
              <a:t>i</a:t>
            </a:r>
            <a:r>
              <a:rPr lang="de-DE" sz="2000" dirty="0"/>
              <a:t> auf Pfad zu Ziel erreichen</a:t>
            </a:r>
          </a:p>
          <a:p>
            <a:pPr lvl="1"/>
            <a:r>
              <a:rPr lang="de-DE" sz="2000" dirty="0"/>
              <a:t>Router </a:t>
            </a:r>
            <a:r>
              <a:rPr lang="de-DE" sz="2000" i="1" dirty="0"/>
              <a:t>i</a:t>
            </a:r>
            <a:r>
              <a:rPr lang="de-DE" sz="2000" dirty="0"/>
              <a:t> schickt die Pakete zum Sender (Quelle) zurück</a:t>
            </a:r>
          </a:p>
          <a:p>
            <a:pPr lvl="1"/>
            <a:r>
              <a:rPr lang="de-DE" sz="2000" dirty="0"/>
              <a:t>Sender misst die den </a:t>
            </a:r>
            <a:r>
              <a:rPr lang="de-DE" sz="2000" dirty="0" err="1"/>
              <a:t>Zeitinterval</a:t>
            </a:r>
            <a:r>
              <a:rPr lang="de-DE" sz="2000" dirty="0"/>
              <a:t> zwischen dem Absenden und der Antwort - </a:t>
            </a:r>
            <a:r>
              <a:rPr lang="de-DE" sz="2000" b="1" dirty="0">
                <a:solidFill>
                  <a:srgbClr val="FF0000"/>
                </a:solidFill>
              </a:rPr>
              <a:t>Rundlaufzeit</a:t>
            </a:r>
            <a:r>
              <a:rPr lang="de-DE" sz="2000" dirty="0"/>
              <a:t> (</a:t>
            </a:r>
            <a:r>
              <a:rPr lang="de-DE" sz="2000" b="1" dirty="0" err="1">
                <a:solidFill>
                  <a:srgbClr val="FF0000"/>
                </a:solidFill>
              </a:rPr>
              <a:t>round</a:t>
            </a:r>
            <a:r>
              <a:rPr lang="de-DE" sz="2000" b="1" dirty="0">
                <a:solidFill>
                  <a:srgbClr val="FF0000"/>
                </a:solidFill>
              </a:rPr>
              <a:t>-trip </a:t>
            </a:r>
            <a:r>
              <a:rPr lang="de-DE" sz="2000" b="1" dirty="0" err="1">
                <a:solidFill>
                  <a:srgbClr val="FF0000"/>
                </a:solidFill>
              </a:rPr>
              <a:t>delay</a:t>
            </a:r>
            <a:r>
              <a:rPr lang="de-DE" sz="2000" dirty="0"/>
              <a:t>)</a:t>
            </a:r>
          </a:p>
          <a:p>
            <a:pPr lvl="1"/>
            <a:endParaRPr lang="de-DE" dirty="0"/>
          </a:p>
          <a:p>
            <a:endParaRPr lang="de-DE" dirty="0"/>
          </a:p>
        </p:txBody>
      </p:sp>
      <p:graphicFrame>
        <p:nvGraphicFramePr>
          <p:cNvPr id="22530" name="Object 11"/>
          <p:cNvGraphicFramePr>
            <a:graphicFrameLocks noChangeAspect="1"/>
          </p:cNvGraphicFramePr>
          <p:nvPr/>
        </p:nvGraphicFramePr>
        <p:xfrm>
          <a:off x="971600" y="5373216"/>
          <a:ext cx="415925" cy="319087"/>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253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5373216"/>
                        <a:ext cx="415925" cy="31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6" name="Line 38"/>
          <p:cNvSpPr>
            <a:spLocks noChangeShapeType="1"/>
          </p:cNvSpPr>
          <p:nvPr/>
        </p:nvSpPr>
        <p:spPr bwMode="auto">
          <a:xfrm>
            <a:off x="1273225" y="5614516"/>
            <a:ext cx="288925" cy="265112"/>
          </a:xfrm>
          <a:prstGeom prst="line">
            <a:avLst/>
          </a:prstGeom>
          <a:noFill/>
          <a:ln w="12700">
            <a:solidFill>
              <a:schemeClr val="tx1"/>
            </a:solidFill>
            <a:round/>
            <a:headEnd/>
            <a:tailEnd/>
          </a:ln>
        </p:spPr>
        <p:txBody>
          <a:bodyPr wrap="none" anchor="ctr"/>
          <a:lstStyle/>
          <a:p>
            <a:endParaRPr lang="de-DE"/>
          </a:p>
        </p:txBody>
      </p:sp>
      <p:sp>
        <p:nvSpPr>
          <p:cNvPr id="22537" name="Line 105"/>
          <p:cNvSpPr>
            <a:spLocks noChangeShapeType="1"/>
          </p:cNvSpPr>
          <p:nvPr/>
        </p:nvSpPr>
        <p:spPr bwMode="auto">
          <a:xfrm flipV="1">
            <a:off x="2066975" y="5665316"/>
            <a:ext cx="458788" cy="207962"/>
          </a:xfrm>
          <a:prstGeom prst="line">
            <a:avLst/>
          </a:prstGeom>
          <a:noFill/>
          <a:ln w="12700">
            <a:solidFill>
              <a:schemeClr val="tx1"/>
            </a:solidFill>
            <a:round/>
            <a:headEnd/>
            <a:tailEnd/>
          </a:ln>
        </p:spPr>
        <p:txBody>
          <a:bodyPr wrap="none" anchor="ctr"/>
          <a:lstStyle/>
          <a:p>
            <a:endParaRPr lang="de-DE"/>
          </a:p>
        </p:txBody>
      </p:sp>
      <p:sp>
        <p:nvSpPr>
          <p:cNvPr id="22538" name="Line 106"/>
          <p:cNvSpPr>
            <a:spLocks noChangeShapeType="1"/>
          </p:cNvSpPr>
          <p:nvPr/>
        </p:nvSpPr>
        <p:spPr bwMode="auto">
          <a:xfrm>
            <a:off x="3002013" y="5649441"/>
            <a:ext cx="485775" cy="207962"/>
          </a:xfrm>
          <a:prstGeom prst="line">
            <a:avLst/>
          </a:prstGeom>
          <a:noFill/>
          <a:ln w="12700">
            <a:solidFill>
              <a:schemeClr val="tx1"/>
            </a:solidFill>
            <a:round/>
            <a:headEnd/>
            <a:tailEnd/>
          </a:ln>
        </p:spPr>
        <p:txBody>
          <a:bodyPr wrap="none" anchor="ctr"/>
          <a:lstStyle/>
          <a:p>
            <a:endParaRPr lang="de-DE"/>
          </a:p>
        </p:txBody>
      </p:sp>
      <p:sp>
        <p:nvSpPr>
          <p:cNvPr id="22539" name="Line 108"/>
          <p:cNvSpPr>
            <a:spLocks noChangeShapeType="1"/>
          </p:cNvSpPr>
          <p:nvPr/>
        </p:nvSpPr>
        <p:spPr bwMode="auto">
          <a:xfrm flipH="1">
            <a:off x="2763888" y="5381153"/>
            <a:ext cx="349250" cy="152400"/>
          </a:xfrm>
          <a:prstGeom prst="line">
            <a:avLst/>
          </a:prstGeom>
          <a:noFill/>
          <a:ln w="12700">
            <a:solidFill>
              <a:schemeClr val="tx1"/>
            </a:solidFill>
            <a:round/>
            <a:headEnd/>
            <a:tailEnd/>
          </a:ln>
        </p:spPr>
        <p:txBody>
          <a:bodyPr wrap="none" anchor="ctr"/>
          <a:lstStyle/>
          <a:p>
            <a:endParaRPr lang="de-DE"/>
          </a:p>
        </p:txBody>
      </p:sp>
      <p:sp>
        <p:nvSpPr>
          <p:cNvPr id="22540" name="Line 113"/>
          <p:cNvSpPr>
            <a:spLocks noChangeShapeType="1"/>
          </p:cNvSpPr>
          <p:nvPr/>
        </p:nvSpPr>
        <p:spPr bwMode="auto">
          <a:xfrm flipH="1">
            <a:off x="3978325" y="5709766"/>
            <a:ext cx="620713" cy="144462"/>
          </a:xfrm>
          <a:prstGeom prst="line">
            <a:avLst/>
          </a:prstGeom>
          <a:noFill/>
          <a:ln w="12700">
            <a:solidFill>
              <a:schemeClr val="tx1"/>
            </a:solidFill>
            <a:round/>
            <a:headEnd/>
            <a:tailEnd/>
          </a:ln>
        </p:spPr>
        <p:txBody>
          <a:bodyPr wrap="none" anchor="ctr"/>
          <a:lstStyle/>
          <a:p>
            <a:endParaRPr lang="de-DE"/>
          </a:p>
        </p:txBody>
      </p:sp>
      <p:grpSp>
        <p:nvGrpSpPr>
          <p:cNvPr id="2" name="Group 144"/>
          <p:cNvGrpSpPr>
            <a:grpSpLocks/>
          </p:cNvGrpSpPr>
          <p:nvPr/>
        </p:nvGrpSpPr>
        <p:grpSpPr bwMode="auto">
          <a:xfrm>
            <a:off x="1547863" y="5762153"/>
            <a:ext cx="501650" cy="233363"/>
            <a:chOff x="3600" y="219"/>
            <a:chExt cx="360" cy="175"/>
          </a:xfrm>
        </p:grpSpPr>
        <p:sp>
          <p:nvSpPr>
            <p:cNvPr id="22610" name="Oval 14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611" name="Line 14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612" name="Line 14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613" name="Rectangle 14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614" name="Oval 14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3" name="Group 150"/>
            <p:cNvGrpSpPr>
              <a:grpSpLocks/>
            </p:cNvGrpSpPr>
            <p:nvPr/>
          </p:nvGrpSpPr>
          <p:grpSpPr bwMode="auto">
            <a:xfrm>
              <a:off x="3686" y="244"/>
              <a:ext cx="177" cy="66"/>
              <a:chOff x="2848" y="848"/>
              <a:chExt cx="140" cy="98"/>
            </a:xfrm>
          </p:grpSpPr>
          <p:sp>
            <p:nvSpPr>
              <p:cNvPr id="22620" name="Line 15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621" name="Line 15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622" name="Line 15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 name="Group 154"/>
            <p:cNvGrpSpPr>
              <a:grpSpLocks/>
            </p:cNvGrpSpPr>
            <p:nvPr/>
          </p:nvGrpSpPr>
          <p:grpSpPr bwMode="auto">
            <a:xfrm flipV="1">
              <a:off x="3686" y="243"/>
              <a:ext cx="177" cy="66"/>
              <a:chOff x="2848" y="848"/>
              <a:chExt cx="140" cy="98"/>
            </a:xfrm>
          </p:grpSpPr>
          <p:sp>
            <p:nvSpPr>
              <p:cNvPr id="22617" name="Line 15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618" name="Line 15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619" name="Line 15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5" name="Group 158"/>
          <p:cNvGrpSpPr>
            <a:grpSpLocks/>
          </p:cNvGrpSpPr>
          <p:nvPr/>
        </p:nvGrpSpPr>
        <p:grpSpPr bwMode="auto">
          <a:xfrm>
            <a:off x="2500363" y="5533553"/>
            <a:ext cx="501650" cy="233363"/>
            <a:chOff x="3600" y="219"/>
            <a:chExt cx="360" cy="175"/>
          </a:xfrm>
        </p:grpSpPr>
        <p:sp>
          <p:nvSpPr>
            <p:cNvPr id="22597" name="Oval 15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598" name="Line 16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599" name="Line 16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600" name="Rectangle 16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601" name="Oval 16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6" name="Group 164"/>
            <p:cNvGrpSpPr>
              <a:grpSpLocks/>
            </p:cNvGrpSpPr>
            <p:nvPr/>
          </p:nvGrpSpPr>
          <p:grpSpPr bwMode="auto">
            <a:xfrm>
              <a:off x="3686" y="244"/>
              <a:ext cx="177" cy="66"/>
              <a:chOff x="2848" y="848"/>
              <a:chExt cx="140" cy="98"/>
            </a:xfrm>
          </p:grpSpPr>
          <p:sp>
            <p:nvSpPr>
              <p:cNvPr id="22607" name="Line 16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608" name="Line 16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609" name="Line 16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7" name="Group 168"/>
            <p:cNvGrpSpPr>
              <a:grpSpLocks/>
            </p:cNvGrpSpPr>
            <p:nvPr/>
          </p:nvGrpSpPr>
          <p:grpSpPr bwMode="auto">
            <a:xfrm flipV="1">
              <a:off x="3686" y="243"/>
              <a:ext cx="177" cy="66"/>
              <a:chOff x="2848" y="848"/>
              <a:chExt cx="140" cy="98"/>
            </a:xfrm>
          </p:grpSpPr>
          <p:sp>
            <p:nvSpPr>
              <p:cNvPr id="22604" name="Line 16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605" name="Line 17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606" name="Line 17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8" name="Group 186"/>
          <p:cNvGrpSpPr>
            <a:grpSpLocks/>
          </p:cNvGrpSpPr>
          <p:nvPr/>
        </p:nvGrpSpPr>
        <p:grpSpPr bwMode="auto">
          <a:xfrm>
            <a:off x="3487788" y="5741516"/>
            <a:ext cx="500062" cy="233362"/>
            <a:chOff x="3600" y="219"/>
            <a:chExt cx="360" cy="175"/>
          </a:xfrm>
        </p:grpSpPr>
        <p:sp>
          <p:nvSpPr>
            <p:cNvPr id="22584" name="Oval 18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585" name="Line 18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586" name="Line 18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587" name="Rectangle 19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588" name="Oval 19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9" name="Group 192"/>
            <p:cNvGrpSpPr>
              <a:grpSpLocks/>
            </p:cNvGrpSpPr>
            <p:nvPr/>
          </p:nvGrpSpPr>
          <p:grpSpPr bwMode="auto">
            <a:xfrm>
              <a:off x="3686" y="244"/>
              <a:ext cx="177" cy="66"/>
              <a:chOff x="2848" y="848"/>
              <a:chExt cx="140" cy="98"/>
            </a:xfrm>
          </p:grpSpPr>
          <p:sp>
            <p:nvSpPr>
              <p:cNvPr id="22594" name="Line 19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95" name="Line 19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96" name="Line 19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 name="Group 196"/>
            <p:cNvGrpSpPr>
              <a:grpSpLocks/>
            </p:cNvGrpSpPr>
            <p:nvPr/>
          </p:nvGrpSpPr>
          <p:grpSpPr bwMode="auto">
            <a:xfrm flipV="1">
              <a:off x="3686" y="243"/>
              <a:ext cx="177" cy="66"/>
              <a:chOff x="2848" y="848"/>
              <a:chExt cx="140" cy="98"/>
            </a:xfrm>
          </p:grpSpPr>
          <p:sp>
            <p:nvSpPr>
              <p:cNvPr id="22591" name="Line 19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92" name="Line 19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93" name="Line 19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22544" name="Line 260"/>
          <p:cNvSpPr>
            <a:spLocks noChangeShapeType="1"/>
          </p:cNvSpPr>
          <p:nvPr/>
        </p:nvSpPr>
        <p:spPr bwMode="auto">
          <a:xfrm>
            <a:off x="5097513" y="5674841"/>
            <a:ext cx="485775" cy="207962"/>
          </a:xfrm>
          <a:prstGeom prst="line">
            <a:avLst/>
          </a:prstGeom>
          <a:noFill/>
          <a:ln w="12700">
            <a:solidFill>
              <a:schemeClr val="tx1"/>
            </a:solidFill>
            <a:round/>
            <a:headEnd/>
            <a:tailEnd/>
          </a:ln>
        </p:spPr>
        <p:txBody>
          <a:bodyPr wrap="none" anchor="ctr"/>
          <a:lstStyle/>
          <a:p>
            <a:endParaRPr lang="de-DE"/>
          </a:p>
        </p:txBody>
      </p:sp>
      <p:sp>
        <p:nvSpPr>
          <p:cNvPr id="22545" name="Line 261"/>
          <p:cNvSpPr>
            <a:spLocks noChangeShapeType="1"/>
          </p:cNvSpPr>
          <p:nvPr/>
        </p:nvSpPr>
        <p:spPr bwMode="auto">
          <a:xfrm flipH="1">
            <a:off x="6035725" y="5620866"/>
            <a:ext cx="557213" cy="277812"/>
          </a:xfrm>
          <a:prstGeom prst="line">
            <a:avLst/>
          </a:prstGeom>
          <a:noFill/>
          <a:ln w="12700">
            <a:solidFill>
              <a:schemeClr val="tx1"/>
            </a:solidFill>
            <a:round/>
            <a:headEnd/>
            <a:tailEnd/>
          </a:ln>
        </p:spPr>
        <p:txBody>
          <a:bodyPr wrap="none" anchor="ctr"/>
          <a:lstStyle/>
          <a:p>
            <a:endParaRPr lang="de-DE"/>
          </a:p>
        </p:txBody>
      </p:sp>
      <p:grpSp>
        <p:nvGrpSpPr>
          <p:cNvPr id="11" name="Group 262"/>
          <p:cNvGrpSpPr>
            <a:grpSpLocks/>
          </p:cNvGrpSpPr>
          <p:nvPr/>
        </p:nvGrpSpPr>
        <p:grpSpPr bwMode="auto">
          <a:xfrm>
            <a:off x="4595863" y="5558953"/>
            <a:ext cx="501650" cy="233363"/>
            <a:chOff x="3600" y="219"/>
            <a:chExt cx="360" cy="175"/>
          </a:xfrm>
        </p:grpSpPr>
        <p:sp>
          <p:nvSpPr>
            <p:cNvPr id="22571" name="Oval 26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572" name="Line 26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573" name="Line 26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574" name="Rectangle 26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575" name="Oval 26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2" name="Group 268"/>
            <p:cNvGrpSpPr>
              <a:grpSpLocks/>
            </p:cNvGrpSpPr>
            <p:nvPr/>
          </p:nvGrpSpPr>
          <p:grpSpPr bwMode="auto">
            <a:xfrm>
              <a:off x="3686" y="244"/>
              <a:ext cx="177" cy="66"/>
              <a:chOff x="2848" y="848"/>
              <a:chExt cx="140" cy="98"/>
            </a:xfrm>
          </p:grpSpPr>
          <p:sp>
            <p:nvSpPr>
              <p:cNvPr id="22581" name="Line 26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82" name="Line 27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83" name="Line 27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3" name="Group 272"/>
            <p:cNvGrpSpPr>
              <a:grpSpLocks/>
            </p:cNvGrpSpPr>
            <p:nvPr/>
          </p:nvGrpSpPr>
          <p:grpSpPr bwMode="auto">
            <a:xfrm flipV="1">
              <a:off x="3686" y="243"/>
              <a:ext cx="177" cy="66"/>
              <a:chOff x="2848" y="848"/>
              <a:chExt cx="140" cy="98"/>
            </a:xfrm>
          </p:grpSpPr>
          <p:sp>
            <p:nvSpPr>
              <p:cNvPr id="22578" name="Line 27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79" name="Line 27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80" name="Line 27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4" name="Group 276"/>
          <p:cNvGrpSpPr>
            <a:grpSpLocks/>
          </p:cNvGrpSpPr>
          <p:nvPr/>
        </p:nvGrpSpPr>
        <p:grpSpPr bwMode="auto">
          <a:xfrm>
            <a:off x="5583288" y="5766916"/>
            <a:ext cx="500062" cy="233362"/>
            <a:chOff x="3600" y="219"/>
            <a:chExt cx="360" cy="175"/>
          </a:xfrm>
        </p:grpSpPr>
        <p:sp>
          <p:nvSpPr>
            <p:cNvPr id="22558" name="Oval 2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559" name="Line 27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560" name="Line 27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561" name="Rectangle 28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562" name="Oval 2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5" name="Group 282"/>
            <p:cNvGrpSpPr>
              <a:grpSpLocks/>
            </p:cNvGrpSpPr>
            <p:nvPr/>
          </p:nvGrpSpPr>
          <p:grpSpPr bwMode="auto">
            <a:xfrm>
              <a:off x="3686" y="244"/>
              <a:ext cx="177" cy="66"/>
              <a:chOff x="2848" y="848"/>
              <a:chExt cx="140" cy="98"/>
            </a:xfrm>
          </p:grpSpPr>
          <p:sp>
            <p:nvSpPr>
              <p:cNvPr id="22568" name="Line 28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69" name="Line 28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70" name="Line 28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6" name="Group 286"/>
            <p:cNvGrpSpPr>
              <a:grpSpLocks/>
            </p:cNvGrpSpPr>
            <p:nvPr/>
          </p:nvGrpSpPr>
          <p:grpSpPr bwMode="auto">
            <a:xfrm flipV="1">
              <a:off x="3686" y="243"/>
              <a:ext cx="177" cy="66"/>
              <a:chOff x="2848" y="848"/>
              <a:chExt cx="140" cy="98"/>
            </a:xfrm>
          </p:grpSpPr>
          <p:sp>
            <p:nvSpPr>
              <p:cNvPr id="22565" name="Line 28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66" name="Line 28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67" name="Line 28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aphicFrame>
        <p:nvGraphicFramePr>
          <p:cNvPr id="22531" name="Object 290"/>
          <p:cNvGraphicFramePr>
            <a:graphicFrameLocks noChangeAspect="1"/>
          </p:cNvGraphicFramePr>
          <p:nvPr/>
        </p:nvGraphicFramePr>
        <p:xfrm>
          <a:off x="6585000" y="5474816"/>
          <a:ext cx="415925" cy="319087"/>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2531" name="Object 2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5000" y="5474816"/>
                        <a:ext cx="415925" cy="31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8" name="Line 291"/>
          <p:cNvSpPr>
            <a:spLocks noChangeShapeType="1"/>
          </p:cNvSpPr>
          <p:nvPr/>
        </p:nvSpPr>
        <p:spPr bwMode="auto">
          <a:xfrm>
            <a:off x="2732138" y="5781203"/>
            <a:ext cx="228600" cy="311150"/>
          </a:xfrm>
          <a:prstGeom prst="line">
            <a:avLst/>
          </a:prstGeom>
          <a:noFill/>
          <a:ln w="12700">
            <a:solidFill>
              <a:schemeClr val="tx1"/>
            </a:solidFill>
            <a:round/>
            <a:headEnd/>
            <a:tailEnd/>
          </a:ln>
        </p:spPr>
        <p:txBody>
          <a:bodyPr wrap="none" anchor="ctr"/>
          <a:lstStyle/>
          <a:p>
            <a:endParaRPr lang="de-DE"/>
          </a:p>
        </p:txBody>
      </p:sp>
      <p:sp>
        <p:nvSpPr>
          <p:cNvPr id="22549" name="Line 292"/>
          <p:cNvSpPr>
            <a:spLocks noChangeShapeType="1"/>
          </p:cNvSpPr>
          <p:nvPr/>
        </p:nvSpPr>
        <p:spPr bwMode="auto">
          <a:xfrm>
            <a:off x="4656188" y="5368453"/>
            <a:ext cx="228600" cy="311150"/>
          </a:xfrm>
          <a:prstGeom prst="line">
            <a:avLst/>
          </a:prstGeom>
          <a:noFill/>
          <a:ln w="12700">
            <a:solidFill>
              <a:schemeClr val="tx1"/>
            </a:solidFill>
            <a:round/>
            <a:headEnd/>
            <a:tailEnd/>
          </a:ln>
        </p:spPr>
        <p:txBody>
          <a:bodyPr wrap="none" anchor="ctr"/>
          <a:lstStyle/>
          <a:p>
            <a:endParaRPr lang="de-DE"/>
          </a:p>
        </p:txBody>
      </p:sp>
      <p:sp>
        <p:nvSpPr>
          <p:cNvPr id="22550" name="Line 294"/>
          <p:cNvSpPr>
            <a:spLocks noChangeShapeType="1"/>
          </p:cNvSpPr>
          <p:nvPr/>
        </p:nvSpPr>
        <p:spPr bwMode="auto">
          <a:xfrm flipH="1">
            <a:off x="3373488" y="5971703"/>
            <a:ext cx="349250" cy="152400"/>
          </a:xfrm>
          <a:prstGeom prst="line">
            <a:avLst/>
          </a:prstGeom>
          <a:noFill/>
          <a:ln w="12700">
            <a:solidFill>
              <a:schemeClr val="tx1"/>
            </a:solidFill>
            <a:round/>
            <a:headEnd/>
            <a:tailEnd/>
          </a:ln>
        </p:spPr>
        <p:txBody>
          <a:bodyPr wrap="none" anchor="ctr"/>
          <a:lstStyle/>
          <a:p>
            <a:endParaRPr lang="de-DE"/>
          </a:p>
        </p:txBody>
      </p:sp>
      <p:sp>
        <p:nvSpPr>
          <p:cNvPr id="22551" name="Line 295"/>
          <p:cNvSpPr>
            <a:spLocks noChangeShapeType="1"/>
          </p:cNvSpPr>
          <p:nvPr/>
        </p:nvSpPr>
        <p:spPr bwMode="auto">
          <a:xfrm>
            <a:off x="3729088" y="5476403"/>
            <a:ext cx="6350" cy="260350"/>
          </a:xfrm>
          <a:prstGeom prst="line">
            <a:avLst/>
          </a:prstGeom>
          <a:noFill/>
          <a:ln w="12700">
            <a:solidFill>
              <a:schemeClr val="tx1"/>
            </a:solidFill>
            <a:round/>
            <a:headEnd/>
            <a:tailEnd/>
          </a:ln>
        </p:spPr>
        <p:txBody>
          <a:bodyPr wrap="none" anchor="ctr"/>
          <a:lstStyle/>
          <a:p>
            <a:endParaRPr lang="de-DE"/>
          </a:p>
        </p:txBody>
      </p:sp>
      <p:sp>
        <p:nvSpPr>
          <p:cNvPr id="83243" name="Freeform 299"/>
          <p:cNvSpPr>
            <a:spLocks/>
          </p:cNvSpPr>
          <p:nvPr/>
        </p:nvSpPr>
        <p:spPr bwMode="auto">
          <a:xfrm>
            <a:off x="1276400" y="5590703"/>
            <a:ext cx="419100" cy="419100"/>
          </a:xfrm>
          <a:custGeom>
            <a:avLst/>
            <a:gdLst>
              <a:gd name="T0" fmla="*/ 95250 w 264"/>
              <a:gd name="T1" fmla="*/ 0 h 264"/>
              <a:gd name="T2" fmla="*/ 361950 w 264"/>
              <a:gd name="T3" fmla="*/ 349250 h 264"/>
              <a:gd name="T4" fmla="*/ 0 w 264"/>
              <a:gd name="T5" fmla="*/ 139700 h 264"/>
              <a:gd name="T6" fmla="*/ 0 60000 65536"/>
              <a:gd name="T7" fmla="*/ 0 60000 65536"/>
              <a:gd name="T8" fmla="*/ 0 60000 65536"/>
              <a:gd name="T9" fmla="*/ 0 w 264"/>
              <a:gd name="T10" fmla="*/ 0 h 264"/>
              <a:gd name="T11" fmla="*/ 264 w 264"/>
              <a:gd name="T12" fmla="*/ 264 h 264"/>
            </a:gdLst>
            <a:ahLst/>
            <a:cxnLst>
              <a:cxn ang="T6">
                <a:pos x="T0" y="T1"/>
              </a:cxn>
              <a:cxn ang="T7">
                <a:pos x="T2" y="T3"/>
              </a:cxn>
              <a:cxn ang="T8">
                <a:pos x="T4" y="T5"/>
              </a:cxn>
            </a:cxnLst>
            <a:rect l="T9" t="T10" r="T11" b="T12"/>
            <a:pathLst>
              <a:path w="264" h="264">
                <a:moveTo>
                  <a:pt x="60" y="0"/>
                </a:moveTo>
                <a:cubicBezTo>
                  <a:pt x="86" y="31"/>
                  <a:pt x="264" y="176"/>
                  <a:pt x="228" y="220"/>
                </a:cubicBezTo>
                <a:cubicBezTo>
                  <a:pt x="192" y="264"/>
                  <a:pt x="60" y="109"/>
                  <a:pt x="0" y="88"/>
                </a:cubicBezTo>
              </a:path>
            </a:pathLst>
          </a:custGeom>
          <a:noFill/>
          <a:ln w="28575">
            <a:solidFill>
              <a:srgbClr val="FF0000"/>
            </a:solidFill>
            <a:round/>
            <a:headEnd/>
            <a:tailEnd type="triangle" w="med" len="med"/>
          </a:ln>
        </p:spPr>
        <p:txBody>
          <a:bodyPr/>
          <a:lstStyle/>
          <a:p>
            <a:endParaRPr lang="de-DE"/>
          </a:p>
        </p:txBody>
      </p:sp>
      <p:sp>
        <p:nvSpPr>
          <p:cNvPr id="83244" name="Text Box 300"/>
          <p:cNvSpPr txBox="1">
            <a:spLocks noChangeArrowheads="1"/>
          </p:cNvSpPr>
          <p:nvPr/>
        </p:nvSpPr>
        <p:spPr bwMode="auto">
          <a:xfrm>
            <a:off x="1374825" y="5333528"/>
            <a:ext cx="1133644" cy="369332"/>
          </a:xfrm>
          <a:prstGeom prst="rect">
            <a:avLst/>
          </a:prstGeom>
          <a:noFill/>
          <a:ln w="9525">
            <a:noFill/>
            <a:miter lim="800000"/>
            <a:headEnd/>
            <a:tailEnd/>
          </a:ln>
        </p:spPr>
        <p:txBody>
          <a:bodyPr wrap="none">
            <a:spAutoFit/>
          </a:bodyPr>
          <a:lstStyle/>
          <a:p>
            <a:r>
              <a:rPr lang="de-DE" sz="1800">
                <a:solidFill>
                  <a:srgbClr val="FF0000"/>
                </a:solidFill>
              </a:rPr>
              <a:t>3 Proben</a:t>
            </a:r>
          </a:p>
        </p:txBody>
      </p:sp>
      <p:sp>
        <p:nvSpPr>
          <p:cNvPr id="83245" name="Freeform 301"/>
          <p:cNvSpPr>
            <a:spLocks/>
          </p:cNvSpPr>
          <p:nvPr/>
        </p:nvSpPr>
        <p:spPr bwMode="auto">
          <a:xfrm>
            <a:off x="1270050" y="5514503"/>
            <a:ext cx="1346200" cy="474663"/>
          </a:xfrm>
          <a:custGeom>
            <a:avLst/>
            <a:gdLst>
              <a:gd name="T0" fmla="*/ 120650 w 848"/>
              <a:gd name="T1" fmla="*/ 120650 h 299"/>
              <a:gd name="T2" fmla="*/ 514350 w 848"/>
              <a:gd name="T3" fmla="*/ 342900 h 299"/>
              <a:gd name="T4" fmla="*/ 1301750 w 848"/>
              <a:gd name="T5" fmla="*/ 120650 h 299"/>
              <a:gd name="T6" fmla="*/ 539750 w 848"/>
              <a:gd name="T7" fmla="*/ 469900 h 299"/>
              <a:gd name="T8" fmla="*/ 0 w 848"/>
              <a:gd name="T9" fmla="*/ 152400 h 299"/>
              <a:gd name="T10" fmla="*/ 0 60000 65536"/>
              <a:gd name="T11" fmla="*/ 0 60000 65536"/>
              <a:gd name="T12" fmla="*/ 0 60000 65536"/>
              <a:gd name="T13" fmla="*/ 0 60000 65536"/>
              <a:gd name="T14" fmla="*/ 0 60000 65536"/>
              <a:gd name="T15" fmla="*/ 0 w 848"/>
              <a:gd name="T16" fmla="*/ 0 h 299"/>
              <a:gd name="T17" fmla="*/ 848 w 848"/>
              <a:gd name="T18" fmla="*/ 299 h 299"/>
            </a:gdLst>
            <a:ahLst/>
            <a:cxnLst>
              <a:cxn ang="T10">
                <a:pos x="T0" y="T1"/>
              </a:cxn>
              <a:cxn ang="T11">
                <a:pos x="T2" y="T3"/>
              </a:cxn>
              <a:cxn ang="T12">
                <a:pos x="T4" y="T5"/>
              </a:cxn>
              <a:cxn ang="T13">
                <a:pos x="T6" y="T7"/>
              </a:cxn>
              <a:cxn ang="T14">
                <a:pos x="T8" y="T9"/>
              </a:cxn>
            </a:cxnLst>
            <a:rect l="T15" t="T16" r="T17" b="T18"/>
            <a:pathLst>
              <a:path w="848" h="299">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w="28575">
            <a:solidFill>
              <a:srgbClr val="FF0000"/>
            </a:solidFill>
            <a:round/>
            <a:headEnd/>
            <a:tailEnd type="triangle" w="med" len="med"/>
          </a:ln>
        </p:spPr>
        <p:txBody>
          <a:bodyPr/>
          <a:lstStyle/>
          <a:p>
            <a:endParaRPr lang="de-DE"/>
          </a:p>
        </p:txBody>
      </p:sp>
      <p:sp>
        <p:nvSpPr>
          <p:cNvPr id="83246" name="Text Box 302"/>
          <p:cNvSpPr txBox="1">
            <a:spLocks noChangeArrowheads="1"/>
          </p:cNvSpPr>
          <p:nvPr/>
        </p:nvSpPr>
        <p:spPr bwMode="auto">
          <a:xfrm>
            <a:off x="1946325" y="5822478"/>
            <a:ext cx="1130438" cy="369332"/>
          </a:xfrm>
          <a:prstGeom prst="rect">
            <a:avLst/>
          </a:prstGeom>
          <a:noFill/>
          <a:ln w="9525">
            <a:noFill/>
            <a:miter lim="800000"/>
            <a:headEnd/>
            <a:tailEnd/>
          </a:ln>
        </p:spPr>
        <p:txBody>
          <a:bodyPr wrap="none">
            <a:spAutoFit/>
          </a:bodyPr>
          <a:lstStyle/>
          <a:p>
            <a:r>
              <a:rPr lang="de-DE" sz="1800">
                <a:solidFill>
                  <a:srgbClr val="FF0000"/>
                </a:solidFill>
              </a:rPr>
              <a:t>3 Proben</a:t>
            </a:r>
          </a:p>
        </p:txBody>
      </p:sp>
      <p:sp>
        <p:nvSpPr>
          <p:cNvPr id="83247" name="Freeform 303"/>
          <p:cNvSpPr>
            <a:spLocks/>
          </p:cNvSpPr>
          <p:nvPr/>
        </p:nvSpPr>
        <p:spPr bwMode="auto">
          <a:xfrm>
            <a:off x="1263700" y="5568478"/>
            <a:ext cx="2247900" cy="403225"/>
          </a:xfrm>
          <a:custGeom>
            <a:avLst/>
            <a:gdLst>
              <a:gd name="T0" fmla="*/ 120650 w 1416"/>
              <a:gd name="T1" fmla="*/ 47625 h 254"/>
              <a:gd name="T2" fmla="*/ 514350 w 1416"/>
              <a:gd name="T3" fmla="*/ 269875 h 254"/>
              <a:gd name="T4" fmla="*/ 1422400 w 1416"/>
              <a:gd name="T5" fmla="*/ 3175 h 254"/>
              <a:gd name="T6" fmla="*/ 2222500 w 1416"/>
              <a:gd name="T7" fmla="*/ 288925 h 254"/>
              <a:gd name="T8" fmla="*/ 1422400 w 1416"/>
              <a:gd name="T9" fmla="*/ 117475 h 254"/>
              <a:gd name="T10" fmla="*/ 539750 w 1416"/>
              <a:gd name="T11" fmla="*/ 396875 h 254"/>
              <a:gd name="T12" fmla="*/ 0 w 1416"/>
              <a:gd name="T13" fmla="*/ 79375 h 254"/>
              <a:gd name="T14" fmla="*/ 0 60000 65536"/>
              <a:gd name="T15" fmla="*/ 0 60000 65536"/>
              <a:gd name="T16" fmla="*/ 0 60000 65536"/>
              <a:gd name="T17" fmla="*/ 0 60000 65536"/>
              <a:gd name="T18" fmla="*/ 0 60000 65536"/>
              <a:gd name="T19" fmla="*/ 0 60000 65536"/>
              <a:gd name="T20" fmla="*/ 0 60000 65536"/>
              <a:gd name="T21" fmla="*/ 0 w 1416"/>
              <a:gd name="T22" fmla="*/ 0 h 254"/>
              <a:gd name="T23" fmla="*/ 1416 w 1416"/>
              <a:gd name="T24" fmla="*/ 254 h 2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16" h="254">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w="28575">
            <a:solidFill>
              <a:srgbClr val="FF0000"/>
            </a:solidFill>
            <a:round/>
            <a:headEnd/>
            <a:tailEnd type="triangle" w="med" len="med"/>
          </a:ln>
        </p:spPr>
        <p:txBody>
          <a:bodyPr/>
          <a:lstStyle/>
          <a:p>
            <a:endParaRPr lang="de-DE"/>
          </a:p>
        </p:txBody>
      </p:sp>
      <p:sp>
        <p:nvSpPr>
          <p:cNvPr id="83248" name="Text Box 304"/>
          <p:cNvSpPr txBox="1">
            <a:spLocks noChangeArrowheads="1"/>
          </p:cNvSpPr>
          <p:nvPr/>
        </p:nvSpPr>
        <p:spPr bwMode="auto">
          <a:xfrm>
            <a:off x="3013125" y="5308128"/>
            <a:ext cx="1130438" cy="369332"/>
          </a:xfrm>
          <a:prstGeom prst="rect">
            <a:avLst/>
          </a:prstGeom>
          <a:noFill/>
          <a:ln w="9525">
            <a:noFill/>
            <a:miter lim="800000"/>
            <a:headEnd/>
            <a:tailEnd/>
          </a:ln>
        </p:spPr>
        <p:txBody>
          <a:bodyPr wrap="none">
            <a:spAutoFit/>
          </a:bodyPr>
          <a:lstStyle/>
          <a:p>
            <a:r>
              <a:rPr lang="de-DE" sz="1800">
                <a:solidFill>
                  <a:srgbClr val="FF0000"/>
                </a:solidFill>
              </a:rPr>
              <a:t>3 Proben</a:t>
            </a:r>
          </a:p>
        </p:txBody>
      </p:sp>
    </p:spTree>
    <p:extLst>
      <p:ext uri="{BB962C8B-B14F-4D97-AF65-F5344CB8AC3E}">
        <p14:creationId xmlns:p14="http://schemas.microsoft.com/office/powerpoint/2010/main" val="1989570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243"/>
                                        </p:tgtEl>
                                        <p:attrNameLst>
                                          <p:attrName>style.visibility</p:attrName>
                                        </p:attrNameLst>
                                      </p:cBhvr>
                                      <p:to>
                                        <p:strVal val="visible"/>
                                      </p:to>
                                    </p:set>
                                  </p:childTnLst>
                                  <p:subTnLst>
                                    <p:set>
                                      <p:cBhvr override="childStyle">
                                        <p:cTn dur="1" fill="hold" display="0" masterRel="nextClick" afterEffect="1"/>
                                        <p:tgtEl>
                                          <p:spTgt spid="83243"/>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83244"/>
                                        </p:tgtEl>
                                        <p:attrNameLst>
                                          <p:attrName>style.visibility</p:attrName>
                                        </p:attrNameLst>
                                      </p:cBhvr>
                                      <p:to>
                                        <p:strVal val="visible"/>
                                      </p:to>
                                    </p:set>
                                  </p:childTnLst>
                                  <p:subTnLst>
                                    <p:set>
                                      <p:cBhvr override="childStyle">
                                        <p:cTn dur="1" fill="hold" display="0" masterRel="nextClick" afterEffect="1"/>
                                        <p:tgtEl>
                                          <p:spTgt spid="83244"/>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3245"/>
                                        </p:tgtEl>
                                        <p:attrNameLst>
                                          <p:attrName>style.visibility</p:attrName>
                                        </p:attrNameLst>
                                      </p:cBhvr>
                                      <p:to>
                                        <p:strVal val="visible"/>
                                      </p:to>
                                    </p:set>
                                  </p:childTnLst>
                                  <p:subTnLst>
                                    <p:set>
                                      <p:cBhvr override="childStyle">
                                        <p:cTn dur="1" fill="hold" display="0" masterRel="nextClick" afterEffect="1"/>
                                        <p:tgtEl>
                                          <p:spTgt spid="83245"/>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83246"/>
                                        </p:tgtEl>
                                        <p:attrNameLst>
                                          <p:attrName>style.visibility</p:attrName>
                                        </p:attrNameLst>
                                      </p:cBhvr>
                                      <p:to>
                                        <p:strVal val="visible"/>
                                      </p:to>
                                    </p:set>
                                  </p:childTnLst>
                                  <p:subTnLst>
                                    <p:set>
                                      <p:cBhvr override="childStyle">
                                        <p:cTn dur="1" fill="hold" display="0" masterRel="nextClick" afterEffect="1"/>
                                        <p:tgtEl>
                                          <p:spTgt spid="8324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2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3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43" grpId="0" animBg="1"/>
      <p:bldP spid="83244" grpId="0"/>
      <p:bldP spid="83245" grpId="0" animBg="1"/>
      <p:bldP spid="83246" grpId="0"/>
      <p:bldP spid="83247" grpId="0" animBg="1"/>
      <p:bldP spid="8324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Slide Number Placeholder 5"/>
          <p:cNvSpPr>
            <a:spLocks noGrp="1"/>
          </p:cNvSpPr>
          <p:nvPr>
            <p:ph type="sldNum" sz="quarter" idx="12"/>
          </p:nvPr>
        </p:nvSpPr>
        <p:spPr>
          <a:noFill/>
        </p:spPr>
        <p:txBody>
          <a:bodyPr/>
          <a:lstStyle/>
          <a:p>
            <a:fld id="{7B9637C0-CC1D-42BA-A946-B859161E93E4}" type="slidenum">
              <a:rPr lang="en-US" smtClean="0"/>
              <a:pPr/>
              <a:t>32</a:t>
            </a:fld>
            <a:endParaRPr lang="en-US" dirty="0"/>
          </a:p>
        </p:txBody>
      </p:sp>
      <p:sp>
        <p:nvSpPr>
          <p:cNvPr id="76804" name="Rectangle 2"/>
          <p:cNvSpPr>
            <a:spLocks noGrp="1" noChangeArrowheads="1"/>
          </p:cNvSpPr>
          <p:nvPr>
            <p:ph type="title"/>
          </p:nvPr>
        </p:nvSpPr>
        <p:spPr/>
        <p:txBody>
          <a:bodyPr/>
          <a:lstStyle/>
          <a:p>
            <a:r>
              <a:rPr lang="en-US" sz="3600" dirty="0" err="1">
                <a:latin typeface="+mn-lt"/>
              </a:rPr>
              <a:t>Traceroute</a:t>
            </a:r>
            <a:r>
              <a:rPr lang="en-US" sz="3600" dirty="0">
                <a:latin typeface="+mn-lt"/>
              </a:rPr>
              <a:t> - </a:t>
            </a:r>
            <a:r>
              <a:rPr lang="en-US" sz="3600" dirty="0" err="1">
                <a:latin typeface="+mn-lt"/>
              </a:rPr>
              <a:t>Beispiel</a:t>
            </a:r>
            <a:endParaRPr lang="en-US" sz="3600" dirty="0">
              <a:latin typeface="+mn-lt"/>
            </a:endParaRPr>
          </a:p>
        </p:txBody>
      </p:sp>
      <p:sp>
        <p:nvSpPr>
          <p:cNvPr id="76805" name="Text Box 4"/>
          <p:cNvSpPr txBox="1">
            <a:spLocks noChangeArrowheads="1"/>
          </p:cNvSpPr>
          <p:nvPr/>
        </p:nvSpPr>
        <p:spPr bwMode="auto">
          <a:xfrm>
            <a:off x="704850" y="2338388"/>
            <a:ext cx="8229600" cy="3898900"/>
          </a:xfrm>
          <a:prstGeom prst="rect">
            <a:avLst/>
          </a:prstGeom>
          <a:noFill/>
          <a:ln w="9525">
            <a:noFill/>
            <a:miter lim="800000"/>
            <a:headEnd/>
            <a:tailEnd/>
          </a:ln>
        </p:spPr>
        <p:txBody>
          <a:bodyPr>
            <a:spAutoFit/>
          </a:bodyPr>
          <a:lstStyle/>
          <a:p>
            <a:pPr marL="457200" indent="-457200">
              <a:lnSpc>
                <a:spcPct val="80000"/>
              </a:lnSpc>
            </a:pPr>
            <a:r>
              <a:rPr lang="en-US" sz="1600" dirty="0"/>
              <a:t>1  </a:t>
            </a:r>
            <a:r>
              <a:rPr lang="en-US" sz="1600" dirty="0" err="1"/>
              <a:t>cs-gw</a:t>
            </a:r>
            <a:r>
              <a:rPr lang="en-US" sz="1600" dirty="0"/>
              <a:t> (128.119.240.254)  1 ms  1 ms  2 ms</a:t>
            </a:r>
          </a:p>
          <a:p>
            <a:pPr marL="457200" indent="-457200">
              <a:lnSpc>
                <a:spcPct val="80000"/>
              </a:lnSpc>
            </a:pPr>
            <a:r>
              <a:rPr lang="en-US" sz="1600" dirty="0"/>
              <a:t>2  border1-rt-fa5-1-0.gw.umass.edu (128.119.3.145)  1 ms  1 ms  2 ms</a:t>
            </a:r>
          </a:p>
          <a:p>
            <a:pPr marL="457200" indent="-457200">
              <a:lnSpc>
                <a:spcPct val="80000"/>
              </a:lnSpc>
            </a:pPr>
            <a:r>
              <a:rPr lang="en-US" sz="1600" dirty="0"/>
              <a:t>3  cht-vbns.gw.umass.edu (128.119.3.130)  6 ms 5 ms 5 ms</a:t>
            </a:r>
          </a:p>
          <a:p>
            <a:pPr marL="457200" indent="-457200">
              <a:lnSpc>
                <a:spcPct val="80000"/>
              </a:lnSpc>
            </a:pPr>
            <a:r>
              <a:rPr lang="en-US" sz="1600" dirty="0"/>
              <a:t>4  jn1-at1-0-0-19.wor.vbns.net (204.147.132.129)  16 ms 11 ms 13 ms </a:t>
            </a:r>
          </a:p>
          <a:p>
            <a:pPr marL="457200" indent="-457200">
              <a:lnSpc>
                <a:spcPct val="80000"/>
              </a:lnSpc>
            </a:pPr>
            <a:r>
              <a:rPr lang="en-US" sz="1600" dirty="0"/>
              <a:t>5  jn1-so7-0-0-0.wae.vbns.net (204.147.136.136)  21 ms 18 ms 18 ms </a:t>
            </a:r>
          </a:p>
          <a:p>
            <a:pPr marL="457200" indent="-457200">
              <a:lnSpc>
                <a:spcPct val="80000"/>
              </a:lnSpc>
            </a:pPr>
            <a:r>
              <a:rPr lang="en-US" sz="1600" dirty="0"/>
              <a:t>6  abilene-vbns.abilene.ucaid.edu (198.32.11.9)  22 ms  18 ms  22 ms</a:t>
            </a:r>
          </a:p>
          <a:p>
            <a:pPr marL="457200" indent="-457200">
              <a:lnSpc>
                <a:spcPct val="80000"/>
              </a:lnSpc>
            </a:pPr>
            <a:r>
              <a:rPr lang="en-US" sz="1600" dirty="0"/>
              <a:t>7  nycm-wash.abilene.ucaid.edu (198.32.8.46)  22 ms  22 ms  22 ms</a:t>
            </a:r>
          </a:p>
          <a:p>
            <a:pPr marL="457200" indent="-457200">
              <a:lnSpc>
                <a:spcPct val="80000"/>
              </a:lnSpc>
            </a:pPr>
            <a:r>
              <a:rPr lang="en-US" sz="1600" dirty="0"/>
              <a:t>8  62.40.103.253 (62.40.103.253)  104 ms 109 ms 106 ms</a:t>
            </a:r>
          </a:p>
          <a:p>
            <a:pPr marL="457200" indent="-457200">
              <a:lnSpc>
                <a:spcPct val="80000"/>
              </a:lnSpc>
            </a:pPr>
            <a:r>
              <a:rPr lang="en-US" sz="1600" dirty="0"/>
              <a:t>9  de2-1.de1.de.geant.net (62.40.96.129)  109 ms 102 ms 104 ms</a:t>
            </a:r>
          </a:p>
          <a:p>
            <a:pPr marL="457200" indent="-457200">
              <a:lnSpc>
                <a:spcPct val="80000"/>
              </a:lnSpc>
            </a:pPr>
            <a:r>
              <a:rPr lang="en-US" sz="1600" dirty="0"/>
              <a:t>10  de.fr1.fr.geant.net (62.40.96.50)  113 ms 121 ms 114 ms</a:t>
            </a:r>
          </a:p>
          <a:p>
            <a:pPr marL="457200" indent="-457200">
              <a:lnSpc>
                <a:spcPct val="80000"/>
              </a:lnSpc>
            </a:pPr>
            <a:r>
              <a:rPr lang="en-US" sz="1600" dirty="0"/>
              <a:t>11  renater-gw.fr1.fr.geant.net (62.40.103.54)  112 ms  114 ms  112 ms</a:t>
            </a:r>
          </a:p>
          <a:p>
            <a:pPr marL="457200" indent="-457200">
              <a:lnSpc>
                <a:spcPct val="80000"/>
              </a:lnSpc>
            </a:pPr>
            <a:r>
              <a:rPr lang="en-US" sz="1600" dirty="0"/>
              <a:t>12  nio-n2.cssi.renater.fr (193.51.206.13)  111 ms  114 ms  116 ms</a:t>
            </a:r>
          </a:p>
          <a:p>
            <a:pPr marL="457200" indent="-457200">
              <a:lnSpc>
                <a:spcPct val="80000"/>
              </a:lnSpc>
            </a:pPr>
            <a:r>
              <a:rPr lang="en-US" sz="1600" dirty="0"/>
              <a:t>13  nice.cssi.renater.fr (195.220.98.102)  123 ms  125 ms  124 ms</a:t>
            </a:r>
          </a:p>
          <a:p>
            <a:pPr marL="457200" indent="-457200">
              <a:lnSpc>
                <a:spcPct val="80000"/>
              </a:lnSpc>
            </a:pPr>
            <a:r>
              <a:rPr lang="en-US" sz="1600" dirty="0"/>
              <a:t>14  r3t2-nice.cssi.renater.fr (195.220.98.110)  126 ms  126 ms  124 ms</a:t>
            </a:r>
          </a:p>
          <a:p>
            <a:pPr marL="457200" indent="-457200">
              <a:lnSpc>
                <a:spcPct val="80000"/>
              </a:lnSpc>
            </a:pPr>
            <a:r>
              <a:rPr lang="en-US" sz="1600" dirty="0"/>
              <a:t>15  eurecom-valbonne.r3t2.ft.net (193.48.50.54)  135 ms  128 ms  133 ms</a:t>
            </a:r>
          </a:p>
          <a:p>
            <a:pPr marL="457200" indent="-457200">
              <a:lnSpc>
                <a:spcPct val="80000"/>
              </a:lnSpc>
            </a:pPr>
            <a:r>
              <a:rPr lang="en-US" sz="1600" dirty="0"/>
              <a:t>16  194.214.211.25 (194.214.211.25)  126 ms  128 ms  126 ms</a:t>
            </a:r>
          </a:p>
          <a:p>
            <a:pPr marL="457200" indent="-457200">
              <a:lnSpc>
                <a:spcPct val="80000"/>
              </a:lnSpc>
            </a:pPr>
            <a:r>
              <a:rPr lang="en-US" sz="1600" dirty="0"/>
              <a:t>17  * * *</a:t>
            </a:r>
          </a:p>
          <a:p>
            <a:pPr marL="457200" indent="-457200">
              <a:lnSpc>
                <a:spcPct val="80000"/>
              </a:lnSpc>
            </a:pPr>
            <a:r>
              <a:rPr lang="en-US" sz="1600" dirty="0"/>
              <a:t>18  * * *</a:t>
            </a:r>
          </a:p>
          <a:p>
            <a:pPr marL="457200" indent="-457200">
              <a:lnSpc>
                <a:spcPct val="80000"/>
              </a:lnSpc>
            </a:pPr>
            <a:r>
              <a:rPr lang="en-US" sz="1600" dirty="0"/>
              <a:t>19  fantasia.eurecom.fr (193.55.113.142)  132 ms  128 ms  136</a:t>
            </a:r>
            <a:r>
              <a:rPr lang="en-US" dirty="0"/>
              <a:t> </a:t>
            </a:r>
            <a:r>
              <a:rPr lang="en-US" sz="1600" dirty="0"/>
              <a:t>ms</a:t>
            </a:r>
          </a:p>
        </p:txBody>
      </p:sp>
      <p:sp>
        <p:nvSpPr>
          <p:cNvPr id="76806" name="Text Box 5"/>
          <p:cNvSpPr txBox="1">
            <a:spLocks noChangeArrowheads="1"/>
          </p:cNvSpPr>
          <p:nvPr/>
        </p:nvSpPr>
        <p:spPr bwMode="auto">
          <a:xfrm>
            <a:off x="725488" y="1312863"/>
            <a:ext cx="8193087" cy="369332"/>
          </a:xfrm>
          <a:prstGeom prst="rect">
            <a:avLst/>
          </a:prstGeom>
          <a:noFill/>
          <a:ln w="9525">
            <a:noFill/>
            <a:miter lim="800000"/>
            <a:headEnd/>
            <a:tailEnd/>
          </a:ln>
        </p:spPr>
        <p:txBody>
          <a:bodyPr>
            <a:spAutoFit/>
          </a:bodyPr>
          <a:lstStyle/>
          <a:p>
            <a:r>
              <a:rPr lang="en-US" dirty="0" err="1">
                <a:solidFill>
                  <a:srgbClr val="FF0000"/>
                </a:solidFill>
              </a:rPr>
              <a:t>traceroute</a:t>
            </a:r>
            <a:r>
              <a:rPr lang="en-US" dirty="0">
                <a:solidFill>
                  <a:srgbClr val="FF0000"/>
                </a:solidFill>
              </a:rPr>
              <a:t>:</a:t>
            </a:r>
            <a:r>
              <a:rPr lang="en-US" dirty="0"/>
              <a:t> gaia.cs.umass.edu </a:t>
            </a:r>
            <a:r>
              <a:rPr lang="en-US" dirty="0" err="1"/>
              <a:t>bis</a:t>
            </a:r>
            <a:r>
              <a:rPr lang="en-US" dirty="0"/>
              <a:t> www.eurecom.fr</a:t>
            </a:r>
          </a:p>
        </p:txBody>
      </p:sp>
      <p:sp>
        <p:nvSpPr>
          <p:cNvPr id="76807" name="Line 6"/>
          <p:cNvSpPr>
            <a:spLocks noChangeShapeType="1"/>
          </p:cNvSpPr>
          <p:nvPr/>
        </p:nvSpPr>
        <p:spPr bwMode="auto">
          <a:xfrm>
            <a:off x="1611313" y="5634038"/>
            <a:ext cx="1231900" cy="84137"/>
          </a:xfrm>
          <a:prstGeom prst="line">
            <a:avLst/>
          </a:prstGeom>
          <a:noFill/>
          <a:ln w="19050">
            <a:solidFill>
              <a:srgbClr val="FF0000"/>
            </a:solidFill>
            <a:round/>
            <a:headEnd type="triangle" w="med" len="med"/>
            <a:tailEnd/>
          </a:ln>
        </p:spPr>
        <p:txBody>
          <a:bodyPr/>
          <a:lstStyle/>
          <a:p>
            <a:endParaRPr lang="de-DE"/>
          </a:p>
        </p:txBody>
      </p:sp>
      <p:sp>
        <p:nvSpPr>
          <p:cNvPr id="76808" name="Text Box 7"/>
          <p:cNvSpPr txBox="1">
            <a:spLocks noChangeArrowheads="1"/>
          </p:cNvSpPr>
          <p:nvPr/>
        </p:nvSpPr>
        <p:spPr bwMode="auto">
          <a:xfrm>
            <a:off x="4578350" y="1738313"/>
            <a:ext cx="4746178" cy="646331"/>
          </a:xfrm>
          <a:prstGeom prst="rect">
            <a:avLst/>
          </a:prstGeom>
          <a:noFill/>
          <a:ln w="9525">
            <a:noFill/>
            <a:miter lim="800000"/>
            <a:headEnd/>
            <a:tailEnd/>
          </a:ln>
        </p:spPr>
        <p:txBody>
          <a:bodyPr wrap="square">
            <a:spAutoFit/>
          </a:bodyPr>
          <a:lstStyle/>
          <a:p>
            <a:r>
              <a:rPr lang="en-US" dirty="0" err="1">
                <a:solidFill>
                  <a:srgbClr val="0070C0"/>
                </a:solidFill>
              </a:rPr>
              <a:t>Drei</a:t>
            </a:r>
            <a:r>
              <a:rPr lang="en-US" dirty="0">
                <a:solidFill>
                  <a:srgbClr val="0070C0"/>
                </a:solidFill>
              </a:rPr>
              <a:t> </a:t>
            </a:r>
            <a:r>
              <a:rPr lang="en-US" dirty="0" err="1">
                <a:solidFill>
                  <a:srgbClr val="0070C0"/>
                </a:solidFill>
              </a:rPr>
              <a:t>Messungen</a:t>
            </a:r>
            <a:r>
              <a:rPr lang="en-US" dirty="0">
                <a:solidFill>
                  <a:srgbClr val="0070C0"/>
                </a:solidFill>
              </a:rPr>
              <a:t> </a:t>
            </a:r>
            <a:r>
              <a:rPr lang="en-US" dirty="0" err="1">
                <a:solidFill>
                  <a:srgbClr val="0070C0"/>
                </a:solidFill>
              </a:rPr>
              <a:t>der</a:t>
            </a:r>
            <a:r>
              <a:rPr lang="en-US" dirty="0">
                <a:solidFill>
                  <a:srgbClr val="0070C0"/>
                </a:solidFill>
              </a:rPr>
              <a:t> </a:t>
            </a:r>
            <a:r>
              <a:rPr lang="en-US" dirty="0" err="1">
                <a:solidFill>
                  <a:srgbClr val="0070C0"/>
                </a:solidFill>
              </a:rPr>
              <a:t>Verzögerungen</a:t>
            </a:r>
            <a:r>
              <a:rPr lang="en-US" dirty="0">
                <a:solidFill>
                  <a:srgbClr val="0070C0"/>
                </a:solidFill>
              </a:rPr>
              <a:t> von</a:t>
            </a:r>
            <a:endParaRPr lang="en-US" sz="1800" dirty="0">
              <a:solidFill>
                <a:srgbClr val="0070C0"/>
              </a:solidFill>
            </a:endParaRPr>
          </a:p>
          <a:p>
            <a:r>
              <a:rPr lang="en-US" sz="1800" dirty="0">
                <a:solidFill>
                  <a:srgbClr val="0070C0"/>
                </a:solidFill>
              </a:rPr>
              <a:t>gaia.cs.umass.edu </a:t>
            </a:r>
            <a:r>
              <a:rPr lang="en-US" dirty="0" err="1">
                <a:solidFill>
                  <a:srgbClr val="0070C0"/>
                </a:solidFill>
              </a:rPr>
              <a:t>bis</a:t>
            </a:r>
            <a:r>
              <a:rPr lang="en-US" sz="1800" dirty="0">
                <a:solidFill>
                  <a:srgbClr val="0070C0"/>
                </a:solidFill>
              </a:rPr>
              <a:t> cs-gw.cs.umass.edu </a:t>
            </a:r>
          </a:p>
        </p:txBody>
      </p:sp>
      <p:sp>
        <p:nvSpPr>
          <p:cNvPr id="76809" name="Line 8"/>
          <p:cNvSpPr>
            <a:spLocks noChangeShapeType="1"/>
          </p:cNvSpPr>
          <p:nvPr/>
        </p:nvSpPr>
        <p:spPr bwMode="auto">
          <a:xfrm flipV="1">
            <a:off x="3471863" y="1965325"/>
            <a:ext cx="671512" cy="412750"/>
          </a:xfrm>
          <a:prstGeom prst="line">
            <a:avLst/>
          </a:prstGeom>
          <a:noFill/>
          <a:ln w="19050">
            <a:solidFill>
              <a:srgbClr val="FF0000"/>
            </a:solidFill>
            <a:round/>
            <a:headEnd type="triangle" w="med" len="med"/>
            <a:tailEnd/>
          </a:ln>
        </p:spPr>
        <p:txBody>
          <a:bodyPr/>
          <a:lstStyle/>
          <a:p>
            <a:endParaRPr lang="de-DE"/>
          </a:p>
        </p:txBody>
      </p:sp>
      <p:sp>
        <p:nvSpPr>
          <p:cNvPr id="76810" name="Line 9"/>
          <p:cNvSpPr>
            <a:spLocks noChangeShapeType="1"/>
          </p:cNvSpPr>
          <p:nvPr/>
        </p:nvSpPr>
        <p:spPr bwMode="auto">
          <a:xfrm flipV="1">
            <a:off x="4011613" y="1954213"/>
            <a:ext cx="139700" cy="404812"/>
          </a:xfrm>
          <a:prstGeom prst="line">
            <a:avLst/>
          </a:prstGeom>
          <a:noFill/>
          <a:ln w="19050">
            <a:solidFill>
              <a:srgbClr val="FF0000"/>
            </a:solidFill>
            <a:round/>
            <a:headEnd type="triangle" w="med" len="med"/>
            <a:tailEnd/>
          </a:ln>
        </p:spPr>
        <p:txBody>
          <a:bodyPr/>
          <a:lstStyle/>
          <a:p>
            <a:endParaRPr lang="de-DE"/>
          </a:p>
        </p:txBody>
      </p:sp>
      <p:sp>
        <p:nvSpPr>
          <p:cNvPr id="76811" name="Line 10"/>
          <p:cNvSpPr>
            <a:spLocks noChangeShapeType="1"/>
          </p:cNvSpPr>
          <p:nvPr/>
        </p:nvSpPr>
        <p:spPr bwMode="auto">
          <a:xfrm flipH="1" flipV="1">
            <a:off x="4146550" y="1963738"/>
            <a:ext cx="366713" cy="390525"/>
          </a:xfrm>
          <a:prstGeom prst="line">
            <a:avLst/>
          </a:prstGeom>
          <a:noFill/>
          <a:ln w="19050">
            <a:solidFill>
              <a:srgbClr val="FF0000"/>
            </a:solidFill>
            <a:round/>
            <a:headEnd type="triangle" w="med" len="med"/>
            <a:tailEnd/>
          </a:ln>
        </p:spPr>
        <p:txBody>
          <a:bodyPr/>
          <a:lstStyle/>
          <a:p>
            <a:endParaRPr lang="de-DE"/>
          </a:p>
        </p:txBody>
      </p:sp>
      <p:sp>
        <p:nvSpPr>
          <p:cNvPr id="76812" name="Line 11"/>
          <p:cNvSpPr>
            <a:spLocks noChangeShapeType="1"/>
          </p:cNvSpPr>
          <p:nvPr/>
        </p:nvSpPr>
        <p:spPr bwMode="auto">
          <a:xfrm flipV="1">
            <a:off x="4138613" y="1970088"/>
            <a:ext cx="377825" cy="3175"/>
          </a:xfrm>
          <a:prstGeom prst="line">
            <a:avLst/>
          </a:prstGeom>
          <a:noFill/>
          <a:ln w="19050">
            <a:solidFill>
              <a:srgbClr val="FF0000"/>
            </a:solidFill>
            <a:round/>
            <a:headEnd/>
            <a:tailEnd/>
          </a:ln>
        </p:spPr>
        <p:txBody>
          <a:bodyPr/>
          <a:lstStyle/>
          <a:p>
            <a:endParaRPr lang="de-DE"/>
          </a:p>
        </p:txBody>
      </p:sp>
      <p:sp>
        <p:nvSpPr>
          <p:cNvPr id="76813" name="Text Box 12"/>
          <p:cNvSpPr txBox="1">
            <a:spLocks noChangeArrowheads="1"/>
          </p:cNvSpPr>
          <p:nvPr/>
        </p:nvSpPr>
        <p:spPr bwMode="auto">
          <a:xfrm>
            <a:off x="2857500" y="5517232"/>
            <a:ext cx="5890964" cy="366712"/>
          </a:xfrm>
          <a:prstGeom prst="rect">
            <a:avLst/>
          </a:prstGeom>
          <a:noFill/>
          <a:ln w="9525">
            <a:noFill/>
            <a:miter lim="800000"/>
            <a:headEnd/>
            <a:tailEnd/>
          </a:ln>
        </p:spPr>
        <p:txBody>
          <a:bodyPr wrap="square">
            <a:spAutoFit/>
          </a:bodyPr>
          <a:lstStyle/>
          <a:p>
            <a:r>
              <a:rPr lang="en-US" sz="1800" dirty="0">
                <a:solidFill>
                  <a:srgbClr val="0070C0"/>
                </a:solidFill>
              </a:rPr>
              <a:t>Router </a:t>
            </a:r>
            <a:r>
              <a:rPr lang="en-US" sz="1800" dirty="0" err="1">
                <a:solidFill>
                  <a:srgbClr val="0070C0"/>
                </a:solidFill>
              </a:rPr>
              <a:t>anwortet</a:t>
            </a:r>
            <a:r>
              <a:rPr lang="en-US" sz="1800" dirty="0">
                <a:solidFill>
                  <a:srgbClr val="0070C0"/>
                </a:solidFill>
              </a:rPr>
              <a:t> </a:t>
            </a:r>
            <a:r>
              <a:rPr lang="en-US" sz="1800" dirty="0" err="1">
                <a:solidFill>
                  <a:srgbClr val="0070C0"/>
                </a:solidFill>
              </a:rPr>
              <a:t>nicht</a:t>
            </a:r>
            <a:endParaRPr lang="en-US" sz="1800" dirty="0">
              <a:solidFill>
                <a:srgbClr val="0070C0"/>
              </a:solidFill>
            </a:endParaRPr>
          </a:p>
        </p:txBody>
      </p:sp>
      <p:sp>
        <p:nvSpPr>
          <p:cNvPr id="76814" name="Freeform 14"/>
          <p:cNvSpPr>
            <a:spLocks/>
          </p:cNvSpPr>
          <p:nvPr/>
        </p:nvSpPr>
        <p:spPr bwMode="auto">
          <a:xfrm>
            <a:off x="6092825" y="3651250"/>
            <a:ext cx="1012825" cy="246063"/>
          </a:xfrm>
          <a:custGeom>
            <a:avLst/>
            <a:gdLst>
              <a:gd name="T0" fmla="*/ 941388 w 638"/>
              <a:gd name="T1" fmla="*/ 0 h 155"/>
              <a:gd name="T2" fmla="*/ 989013 w 638"/>
              <a:gd name="T3" fmla="*/ 60325 h 155"/>
              <a:gd name="T4" fmla="*/ 965200 w 638"/>
              <a:gd name="T5" fmla="*/ 195263 h 155"/>
              <a:gd name="T6" fmla="*/ 708025 w 638"/>
              <a:gd name="T7" fmla="*/ 244475 h 155"/>
              <a:gd name="T8" fmla="*/ 0 w 638"/>
              <a:gd name="T9" fmla="*/ 206375 h 155"/>
              <a:gd name="T10" fmla="*/ 0 60000 65536"/>
              <a:gd name="T11" fmla="*/ 0 60000 65536"/>
              <a:gd name="T12" fmla="*/ 0 60000 65536"/>
              <a:gd name="T13" fmla="*/ 0 60000 65536"/>
              <a:gd name="T14" fmla="*/ 0 60000 65536"/>
              <a:gd name="T15" fmla="*/ 0 w 638"/>
              <a:gd name="T16" fmla="*/ 0 h 155"/>
              <a:gd name="T17" fmla="*/ 638 w 638"/>
              <a:gd name="T18" fmla="*/ 155 h 155"/>
            </a:gdLst>
            <a:ahLst/>
            <a:cxnLst>
              <a:cxn ang="T10">
                <a:pos x="T0" y="T1"/>
              </a:cxn>
              <a:cxn ang="T11">
                <a:pos x="T2" y="T3"/>
              </a:cxn>
              <a:cxn ang="T12">
                <a:pos x="T4" y="T5"/>
              </a:cxn>
              <a:cxn ang="T13">
                <a:pos x="T6" y="T7"/>
              </a:cxn>
              <a:cxn ang="T14">
                <a:pos x="T8" y="T9"/>
              </a:cxn>
            </a:cxnLst>
            <a:rect l="T15" t="T16" r="T17" b="T18"/>
            <a:pathLst>
              <a:path w="638" h="155">
                <a:moveTo>
                  <a:pt x="593" y="0"/>
                </a:moveTo>
                <a:cubicBezTo>
                  <a:pt x="607" y="9"/>
                  <a:pt x="621" y="18"/>
                  <a:pt x="623" y="38"/>
                </a:cubicBezTo>
                <a:cubicBezTo>
                  <a:pt x="625" y="58"/>
                  <a:pt x="638" y="104"/>
                  <a:pt x="608" y="123"/>
                </a:cubicBezTo>
                <a:cubicBezTo>
                  <a:pt x="578" y="142"/>
                  <a:pt x="547" y="153"/>
                  <a:pt x="446" y="154"/>
                </a:cubicBezTo>
                <a:cubicBezTo>
                  <a:pt x="345" y="155"/>
                  <a:pt x="72" y="133"/>
                  <a:pt x="0" y="130"/>
                </a:cubicBezTo>
              </a:path>
            </a:pathLst>
          </a:custGeom>
          <a:noFill/>
          <a:ln w="19050">
            <a:solidFill>
              <a:srgbClr val="FF0000"/>
            </a:solidFill>
            <a:round/>
            <a:headEnd/>
            <a:tailEnd type="triangle" w="med" len="med"/>
          </a:ln>
        </p:spPr>
        <p:txBody>
          <a:bodyPr wrap="none" anchor="ctr"/>
          <a:lstStyle/>
          <a:p>
            <a:endParaRPr lang="de-DE"/>
          </a:p>
        </p:txBody>
      </p:sp>
      <p:sp>
        <p:nvSpPr>
          <p:cNvPr id="76815" name="Text Box 15"/>
          <p:cNvSpPr txBox="1">
            <a:spLocks noChangeArrowheads="1"/>
          </p:cNvSpPr>
          <p:nvPr/>
        </p:nvSpPr>
        <p:spPr bwMode="auto">
          <a:xfrm>
            <a:off x="7137400" y="3436938"/>
            <a:ext cx="1454244" cy="707886"/>
          </a:xfrm>
          <a:prstGeom prst="rect">
            <a:avLst/>
          </a:prstGeom>
          <a:noFill/>
          <a:ln w="9525">
            <a:noFill/>
            <a:miter lim="800000"/>
            <a:headEnd/>
            <a:tailEnd/>
          </a:ln>
        </p:spPr>
        <p:txBody>
          <a:bodyPr wrap="none">
            <a:spAutoFit/>
          </a:bodyPr>
          <a:lstStyle/>
          <a:p>
            <a:r>
              <a:rPr lang="en-US" sz="2000" dirty="0" err="1">
                <a:solidFill>
                  <a:srgbClr val="0070C0"/>
                </a:solidFill>
              </a:rPr>
              <a:t>Übersee</a:t>
            </a:r>
            <a:r>
              <a:rPr lang="en-US" sz="2000" dirty="0">
                <a:solidFill>
                  <a:srgbClr val="0070C0"/>
                </a:solidFill>
              </a:rPr>
              <a:t>-</a:t>
            </a:r>
          </a:p>
          <a:p>
            <a:r>
              <a:rPr lang="en-US" sz="2000" dirty="0" err="1">
                <a:solidFill>
                  <a:srgbClr val="0070C0"/>
                </a:solidFill>
              </a:rPr>
              <a:t>verbindung</a:t>
            </a:r>
            <a:endParaRPr lang="en-US" sz="2000" dirty="0">
              <a:solidFill>
                <a:srgbClr val="0070C0"/>
              </a:solidFill>
            </a:endParaRPr>
          </a:p>
        </p:txBody>
      </p:sp>
    </p:spTree>
    <p:extLst>
      <p:ext uri="{BB962C8B-B14F-4D97-AF65-F5344CB8AC3E}">
        <p14:creationId xmlns:p14="http://schemas.microsoft.com/office/powerpoint/2010/main" val="2115392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Slide Number Placeholder 5"/>
          <p:cNvSpPr>
            <a:spLocks noGrp="1"/>
          </p:cNvSpPr>
          <p:nvPr>
            <p:ph type="sldNum" sz="quarter" idx="12"/>
          </p:nvPr>
        </p:nvSpPr>
        <p:spPr>
          <a:noFill/>
        </p:spPr>
        <p:txBody>
          <a:bodyPr/>
          <a:lstStyle/>
          <a:p>
            <a:fld id="{20915925-E5CC-477A-8655-132A42F9E76D}" type="slidenum">
              <a:rPr lang="de-DE" smtClean="0"/>
              <a:pPr/>
              <a:t>33</a:t>
            </a:fld>
            <a:endParaRPr lang="de-DE" dirty="0"/>
          </a:p>
        </p:txBody>
      </p:sp>
      <p:sp>
        <p:nvSpPr>
          <p:cNvPr id="24581" name="Line 321"/>
          <p:cNvSpPr>
            <a:spLocks noChangeShapeType="1"/>
          </p:cNvSpPr>
          <p:nvPr/>
        </p:nvSpPr>
        <p:spPr bwMode="auto">
          <a:xfrm>
            <a:off x="1463352" y="4791695"/>
            <a:ext cx="6316663" cy="0"/>
          </a:xfrm>
          <a:prstGeom prst="line">
            <a:avLst/>
          </a:prstGeom>
          <a:noFill/>
          <a:ln w="9525">
            <a:solidFill>
              <a:schemeClr val="tx1"/>
            </a:solidFill>
            <a:round/>
            <a:headEnd/>
            <a:tailEnd/>
          </a:ln>
        </p:spPr>
        <p:txBody>
          <a:bodyPr/>
          <a:lstStyle/>
          <a:p>
            <a:endParaRPr lang="de-DE"/>
          </a:p>
        </p:txBody>
      </p:sp>
      <p:sp>
        <p:nvSpPr>
          <p:cNvPr id="24582" name="Rectangle 2"/>
          <p:cNvSpPr>
            <a:spLocks noGrp="1" noChangeArrowheads="1"/>
          </p:cNvSpPr>
          <p:nvPr>
            <p:ph type="title"/>
          </p:nvPr>
        </p:nvSpPr>
        <p:spPr/>
        <p:txBody>
          <a:bodyPr/>
          <a:lstStyle/>
          <a:p>
            <a:r>
              <a:rPr lang="de-DE" dirty="0">
                <a:latin typeface="+mn-lt"/>
              </a:rPr>
              <a:t>Durchsatz (throughput)</a:t>
            </a:r>
          </a:p>
        </p:txBody>
      </p:sp>
      <p:sp>
        <p:nvSpPr>
          <p:cNvPr id="24583" name="Rectangle 3"/>
          <p:cNvSpPr>
            <a:spLocks noGrp="1" noChangeArrowheads="1"/>
          </p:cNvSpPr>
          <p:nvPr>
            <p:ph type="body" idx="1"/>
          </p:nvPr>
        </p:nvSpPr>
        <p:spPr>
          <a:xfrm>
            <a:off x="519113" y="1340768"/>
            <a:ext cx="7772400" cy="2736304"/>
          </a:xfrm>
        </p:spPr>
        <p:txBody>
          <a:bodyPr>
            <a:normAutofit/>
          </a:bodyPr>
          <a:lstStyle/>
          <a:p>
            <a:r>
              <a:rPr lang="de-DE" b="1" dirty="0">
                <a:solidFill>
                  <a:srgbClr val="FF0000"/>
                </a:solidFill>
              </a:rPr>
              <a:t>Durchsatz </a:t>
            </a:r>
            <a:r>
              <a:rPr lang="de-DE" dirty="0">
                <a:solidFill>
                  <a:srgbClr val="000000"/>
                </a:solidFill>
              </a:rPr>
              <a:t>(</a:t>
            </a:r>
            <a:r>
              <a:rPr lang="de-DE" b="1" dirty="0">
                <a:solidFill>
                  <a:srgbClr val="FF0000"/>
                </a:solidFill>
              </a:rPr>
              <a:t>throughput</a:t>
            </a:r>
            <a:r>
              <a:rPr lang="de-DE" dirty="0">
                <a:solidFill>
                  <a:srgbClr val="000000"/>
                </a:solidFill>
              </a:rPr>
              <a:t>): Rate, mit welcher die Bits zwischen dem Sender und Empfänger übertragen werden (in Bits/s)</a:t>
            </a:r>
          </a:p>
          <a:p>
            <a:pPr lvl="1"/>
            <a:r>
              <a:rPr lang="de-DE" b="1" dirty="0">
                <a:solidFill>
                  <a:srgbClr val="FF0000"/>
                </a:solidFill>
              </a:rPr>
              <a:t>Momentaner </a:t>
            </a:r>
            <a:r>
              <a:rPr lang="de-DE" dirty="0">
                <a:solidFill>
                  <a:srgbClr val="000000"/>
                </a:solidFill>
              </a:rPr>
              <a:t>~: Rate zu einem spezifischen Zeitpunkt</a:t>
            </a:r>
          </a:p>
          <a:p>
            <a:pPr lvl="1"/>
            <a:r>
              <a:rPr lang="de-DE" b="1" dirty="0">
                <a:solidFill>
                  <a:srgbClr val="FF0000"/>
                </a:solidFill>
              </a:rPr>
              <a:t>Durchschnittlicher </a:t>
            </a:r>
            <a:r>
              <a:rPr lang="de-DE" dirty="0">
                <a:solidFill>
                  <a:srgbClr val="000000"/>
                </a:solidFill>
              </a:rPr>
              <a:t>~: Rate über einen längeren Zeitraum gemittelt </a:t>
            </a:r>
          </a:p>
        </p:txBody>
      </p:sp>
      <p:grpSp>
        <p:nvGrpSpPr>
          <p:cNvPr id="2" name="Group 246"/>
          <p:cNvGrpSpPr>
            <a:grpSpLocks/>
          </p:cNvGrpSpPr>
          <p:nvPr/>
        </p:nvGrpSpPr>
        <p:grpSpPr bwMode="auto">
          <a:xfrm>
            <a:off x="3828727" y="4655170"/>
            <a:ext cx="1055688" cy="360363"/>
            <a:chOff x="3600" y="219"/>
            <a:chExt cx="360" cy="175"/>
          </a:xfrm>
        </p:grpSpPr>
        <p:sp>
          <p:nvSpPr>
            <p:cNvPr id="24619" name="Oval 24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4620" name="Line 24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4621" name="Line 24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4622" name="Rectangle 25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4623" name="Oval 25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3" name="Group 252"/>
            <p:cNvGrpSpPr>
              <a:grpSpLocks/>
            </p:cNvGrpSpPr>
            <p:nvPr/>
          </p:nvGrpSpPr>
          <p:grpSpPr bwMode="auto">
            <a:xfrm>
              <a:off x="3686" y="244"/>
              <a:ext cx="177" cy="66"/>
              <a:chOff x="2848" y="848"/>
              <a:chExt cx="140" cy="98"/>
            </a:xfrm>
          </p:grpSpPr>
          <p:sp>
            <p:nvSpPr>
              <p:cNvPr id="24629" name="Line 25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4630" name="Line 25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4631" name="Line 25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 name="Group 256"/>
            <p:cNvGrpSpPr>
              <a:grpSpLocks/>
            </p:cNvGrpSpPr>
            <p:nvPr/>
          </p:nvGrpSpPr>
          <p:grpSpPr bwMode="auto">
            <a:xfrm flipV="1">
              <a:off x="3686" y="243"/>
              <a:ext cx="177" cy="66"/>
              <a:chOff x="2848" y="848"/>
              <a:chExt cx="140" cy="98"/>
            </a:xfrm>
          </p:grpSpPr>
          <p:sp>
            <p:nvSpPr>
              <p:cNvPr id="24626" name="Line 25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4627" name="Line 25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4628" name="Line 25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aphicFrame>
        <p:nvGraphicFramePr>
          <p:cNvPr id="24578" name="Object 271"/>
          <p:cNvGraphicFramePr>
            <a:graphicFrameLocks noChangeAspect="1"/>
          </p:cNvGraphicFramePr>
          <p:nvPr/>
        </p:nvGraphicFramePr>
        <p:xfrm>
          <a:off x="7743502" y="4323383"/>
          <a:ext cx="785813" cy="655637"/>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4578" name="Object 2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3502" y="4323383"/>
                        <a:ext cx="785813" cy="655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300"/>
          <p:cNvGrpSpPr>
            <a:grpSpLocks/>
          </p:cNvGrpSpPr>
          <p:nvPr/>
        </p:nvGrpSpPr>
        <p:grpSpPr bwMode="auto">
          <a:xfrm>
            <a:off x="964877" y="4242420"/>
            <a:ext cx="374650" cy="838200"/>
            <a:chOff x="4180" y="783"/>
            <a:chExt cx="150" cy="307"/>
          </a:xfrm>
        </p:grpSpPr>
        <p:sp>
          <p:nvSpPr>
            <p:cNvPr id="24611" name="AutoShape 30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4612" name="Rectangle 30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4613" name="Rectangle 30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4614" name="AutoShape 30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4615" name="Line 305"/>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4616" name="Line 306"/>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4617" name="Rectangle 30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4618" name="Rectangle 30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grpSp>
        <p:nvGrpSpPr>
          <p:cNvPr id="6" name="Group 338"/>
          <p:cNvGrpSpPr>
            <a:grpSpLocks/>
          </p:cNvGrpSpPr>
          <p:nvPr/>
        </p:nvGrpSpPr>
        <p:grpSpPr bwMode="auto">
          <a:xfrm>
            <a:off x="1475656" y="4653137"/>
            <a:ext cx="2808288" cy="1284288"/>
            <a:chOff x="913" y="2726"/>
            <a:chExt cx="1769" cy="809"/>
          </a:xfrm>
        </p:grpSpPr>
        <p:grpSp>
          <p:nvGrpSpPr>
            <p:cNvPr id="7" name="Group 335"/>
            <p:cNvGrpSpPr>
              <a:grpSpLocks/>
            </p:cNvGrpSpPr>
            <p:nvPr/>
          </p:nvGrpSpPr>
          <p:grpSpPr bwMode="auto">
            <a:xfrm>
              <a:off x="913" y="2726"/>
              <a:ext cx="1463" cy="247"/>
              <a:chOff x="2249" y="3430"/>
              <a:chExt cx="1389" cy="256"/>
            </a:xfrm>
          </p:grpSpPr>
          <p:sp>
            <p:nvSpPr>
              <p:cNvPr id="255309" name="Oval 333"/>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5308" name="Rectangle 332"/>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4609" name="Oval 331"/>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5310" name="Rectangle 334"/>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4606" name="Text Box 336"/>
            <p:cNvSpPr txBox="1">
              <a:spLocks noChangeArrowheads="1"/>
            </p:cNvSpPr>
            <p:nvPr/>
          </p:nvSpPr>
          <p:spPr bwMode="auto">
            <a:xfrm>
              <a:off x="913" y="3089"/>
              <a:ext cx="1769" cy="446"/>
            </a:xfrm>
            <a:prstGeom prst="rect">
              <a:avLst/>
            </a:prstGeom>
            <a:solidFill>
              <a:schemeClr val="bg1"/>
            </a:solidFill>
            <a:ln w="9525">
              <a:noFill/>
              <a:miter lim="800000"/>
              <a:headEnd/>
              <a:tailEnd/>
            </a:ln>
          </p:spPr>
          <p:txBody>
            <a:bodyPr>
              <a:spAutoFit/>
            </a:bodyPr>
            <a:lstStyle/>
            <a:p>
              <a:pPr algn="ctr"/>
              <a:r>
                <a:rPr lang="de-DE" sz="2000" dirty="0"/>
                <a:t> Server kann Daten mit Rate R</a:t>
              </a:r>
              <a:r>
                <a:rPr lang="de-DE" sz="2800" baseline="-25000" dirty="0"/>
                <a:t>s</a:t>
              </a:r>
              <a:r>
                <a:rPr lang="de-DE" sz="2000" baseline="-25000" dirty="0"/>
                <a:t> </a:t>
              </a:r>
              <a:r>
                <a:rPr lang="de-DE" sz="2000" dirty="0"/>
                <a:t>Bits/s senden </a:t>
              </a:r>
            </a:p>
          </p:txBody>
        </p:sp>
      </p:grpSp>
      <p:grpSp>
        <p:nvGrpSpPr>
          <p:cNvPr id="8" name="Group 348"/>
          <p:cNvGrpSpPr>
            <a:grpSpLocks/>
          </p:cNvGrpSpPr>
          <p:nvPr/>
        </p:nvGrpSpPr>
        <p:grpSpPr bwMode="auto">
          <a:xfrm>
            <a:off x="4905327" y="4523030"/>
            <a:ext cx="3178175" cy="1831975"/>
            <a:chOff x="3093" y="2676"/>
            <a:chExt cx="2002" cy="1154"/>
          </a:xfrm>
        </p:grpSpPr>
        <p:grpSp>
          <p:nvGrpSpPr>
            <p:cNvPr id="9" name="Group 341"/>
            <p:cNvGrpSpPr>
              <a:grpSpLocks/>
            </p:cNvGrpSpPr>
            <p:nvPr/>
          </p:nvGrpSpPr>
          <p:grpSpPr bwMode="auto">
            <a:xfrm>
              <a:off x="3093" y="2676"/>
              <a:ext cx="1765" cy="366"/>
              <a:chOff x="2249" y="3430"/>
              <a:chExt cx="1389" cy="256"/>
            </a:xfrm>
          </p:grpSpPr>
          <p:sp>
            <p:nvSpPr>
              <p:cNvPr id="255318" name="Oval 342"/>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5319" name="Rectangle 343"/>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4603" name="Oval 344"/>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5321" name="Rectangle 345"/>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4600" name="Text Box 346"/>
            <p:cNvSpPr txBox="1">
              <a:spLocks noChangeArrowheads="1"/>
            </p:cNvSpPr>
            <p:nvPr/>
          </p:nvSpPr>
          <p:spPr bwMode="auto">
            <a:xfrm>
              <a:off x="3235" y="3190"/>
              <a:ext cx="1860" cy="640"/>
            </a:xfrm>
            <a:prstGeom prst="rect">
              <a:avLst/>
            </a:prstGeom>
            <a:solidFill>
              <a:schemeClr val="bg1"/>
            </a:solidFill>
            <a:ln w="9525">
              <a:noFill/>
              <a:miter lim="800000"/>
              <a:headEnd/>
              <a:tailEnd/>
            </a:ln>
          </p:spPr>
          <p:txBody>
            <a:bodyPr>
              <a:spAutoFit/>
            </a:bodyPr>
            <a:lstStyle/>
            <a:p>
              <a:pPr algn="ctr"/>
              <a:r>
                <a:rPr lang="de-DE" sz="2000" dirty="0"/>
                <a:t> Router kann Daten mit </a:t>
              </a:r>
            </a:p>
            <a:p>
              <a:pPr algn="ctr"/>
              <a:r>
                <a:rPr lang="de-DE" sz="2000"/>
                <a:t> Rate </a:t>
              </a:r>
              <a:r>
                <a:rPr lang="de-DE" sz="2000" dirty="0" err="1"/>
                <a:t>R</a:t>
              </a:r>
              <a:r>
                <a:rPr lang="de-DE" sz="2800" baseline="-25000" dirty="0" err="1"/>
                <a:t>c</a:t>
              </a:r>
              <a:r>
                <a:rPr lang="de-DE" sz="2000" baseline="-25000" dirty="0"/>
                <a:t> </a:t>
              </a:r>
              <a:r>
                <a:rPr lang="de-DE" sz="2000" dirty="0"/>
                <a:t>Bits/s übertragen </a:t>
              </a:r>
            </a:p>
          </p:txBody>
        </p:sp>
      </p:grpSp>
      <p:sp>
        <p:nvSpPr>
          <p:cNvPr id="24597" name="Line 352"/>
          <p:cNvSpPr>
            <a:spLocks noChangeShapeType="1"/>
          </p:cNvSpPr>
          <p:nvPr/>
        </p:nvSpPr>
        <p:spPr bwMode="auto">
          <a:xfrm>
            <a:off x="1052190" y="5137770"/>
            <a:ext cx="0" cy="217488"/>
          </a:xfrm>
          <a:prstGeom prst="line">
            <a:avLst/>
          </a:prstGeom>
          <a:noFill/>
          <a:ln w="9525">
            <a:solidFill>
              <a:schemeClr val="tx1"/>
            </a:solidFill>
            <a:round/>
            <a:headEnd/>
            <a:tailEnd/>
          </a:ln>
        </p:spPr>
        <p:txBody>
          <a:bodyPr/>
          <a:lstStyle/>
          <a:p>
            <a:endParaRPr lang="de-DE"/>
          </a:p>
        </p:txBody>
      </p:sp>
      <p:sp>
        <p:nvSpPr>
          <p:cNvPr id="255329" name="Text Box 353"/>
          <p:cNvSpPr txBox="1">
            <a:spLocks noChangeArrowheads="1"/>
          </p:cNvSpPr>
          <p:nvPr/>
        </p:nvSpPr>
        <p:spPr bwMode="auto">
          <a:xfrm>
            <a:off x="0" y="5067300"/>
            <a:ext cx="1547664" cy="1631216"/>
          </a:xfrm>
          <a:prstGeom prst="rect">
            <a:avLst/>
          </a:prstGeom>
          <a:solidFill>
            <a:schemeClr val="bg1"/>
          </a:solidFill>
          <a:ln w="9525">
            <a:noFill/>
            <a:miter lim="800000"/>
            <a:headEnd/>
            <a:tailEnd/>
          </a:ln>
        </p:spPr>
        <p:txBody>
          <a:bodyPr wrap="square">
            <a:spAutoFit/>
          </a:bodyPr>
          <a:lstStyle/>
          <a:p>
            <a:pPr algn="ctr"/>
            <a:r>
              <a:rPr lang="de-DE" sz="2000" dirty="0"/>
              <a:t>Server sendet Bits </a:t>
            </a:r>
          </a:p>
          <a:p>
            <a:pPr algn="ctr"/>
            <a:r>
              <a:rPr lang="de-DE" sz="2000" dirty="0"/>
              <a:t>in eine Leitung</a:t>
            </a:r>
          </a:p>
          <a:p>
            <a:pPr algn="ctr"/>
            <a:endParaRPr lang="de-DE" sz="2000" dirty="0"/>
          </a:p>
        </p:txBody>
      </p:sp>
    </p:spTree>
    <p:extLst>
      <p:ext uri="{BB962C8B-B14F-4D97-AF65-F5344CB8AC3E}">
        <p14:creationId xmlns:p14="http://schemas.microsoft.com/office/powerpoint/2010/main" val="4066334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Slide Number Placeholder 5"/>
          <p:cNvSpPr>
            <a:spLocks noGrp="1"/>
          </p:cNvSpPr>
          <p:nvPr>
            <p:ph type="sldNum" sz="quarter" idx="12"/>
          </p:nvPr>
        </p:nvSpPr>
        <p:spPr>
          <a:noFill/>
        </p:spPr>
        <p:txBody>
          <a:bodyPr/>
          <a:lstStyle/>
          <a:p>
            <a:fld id="{BCB3313D-1451-4ECC-944A-75D40D4723F3}" type="slidenum">
              <a:rPr lang="de-DE" smtClean="0"/>
              <a:pPr/>
              <a:t>34</a:t>
            </a:fld>
            <a:endParaRPr lang="de-DE"/>
          </a:p>
        </p:txBody>
      </p:sp>
      <p:sp>
        <p:nvSpPr>
          <p:cNvPr id="25606" name="Rectangle 3"/>
          <p:cNvSpPr>
            <a:spLocks noGrp="1" noChangeArrowheads="1"/>
          </p:cNvSpPr>
          <p:nvPr>
            <p:ph type="title"/>
          </p:nvPr>
        </p:nvSpPr>
        <p:spPr/>
        <p:txBody>
          <a:bodyPr/>
          <a:lstStyle/>
          <a:p>
            <a:r>
              <a:rPr lang="de-DE" dirty="0">
                <a:latin typeface="+mn-lt"/>
              </a:rPr>
              <a:t>Durchsatz /2</a:t>
            </a:r>
          </a:p>
        </p:txBody>
      </p:sp>
      <p:sp>
        <p:nvSpPr>
          <p:cNvPr id="25607" name="Rectangle 4"/>
          <p:cNvSpPr>
            <a:spLocks noGrp="1" noChangeArrowheads="1"/>
          </p:cNvSpPr>
          <p:nvPr>
            <p:ph type="body" idx="1"/>
          </p:nvPr>
        </p:nvSpPr>
        <p:spPr>
          <a:xfrm>
            <a:off x="519113" y="1447800"/>
            <a:ext cx="8150225" cy="757064"/>
          </a:xfrm>
        </p:spPr>
        <p:txBody>
          <a:bodyPr>
            <a:normAutofit fontScale="92500" lnSpcReduction="10000"/>
          </a:bodyPr>
          <a:lstStyle/>
          <a:p>
            <a:pPr>
              <a:buNone/>
            </a:pPr>
            <a:r>
              <a:rPr lang="de-DE" i="1">
                <a:solidFill>
                  <a:srgbClr val="FF3300"/>
                </a:solidFill>
              </a:rPr>
              <a:t>R</a:t>
            </a:r>
            <a:r>
              <a:rPr lang="de-DE" i="1" baseline="-25000">
                <a:solidFill>
                  <a:srgbClr val="FF3300"/>
                </a:solidFill>
              </a:rPr>
              <a:t>s</a:t>
            </a:r>
            <a:r>
              <a:rPr lang="de-DE" i="1">
                <a:solidFill>
                  <a:srgbClr val="FF3300"/>
                </a:solidFill>
              </a:rPr>
              <a:t> &lt; R</a:t>
            </a:r>
            <a:r>
              <a:rPr lang="de-DE" i="1" baseline="-25000">
                <a:solidFill>
                  <a:srgbClr val="FF3300"/>
                </a:solidFill>
              </a:rPr>
              <a:t>c</a:t>
            </a:r>
            <a:r>
              <a:rPr lang="de-DE" i="1">
                <a:solidFill>
                  <a:srgbClr val="FF3300"/>
                </a:solidFill>
              </a:rPr>
              <a:t>  	</a:t>
            </a:r>
            <a:r>
              <a:rPr lang="de-DE"/>
              <a:t>Was ist der durchschnittliche Ende-zu-Ende </a:t>
            </a:r>
            <a:br>
              <a:rPr lang="de-DE"/>
            </a:br>
            <a:r>
              <a:rPr lang="de-DE"/>
              <a:t>		Durchsatz?</a:t>
            </a:r>
          </a:p>
        </p:txBody>
      </p:sp>
      <p:sp>
        <p:nvSpPr>
          <p:cNvPr id="25608" name="Line 2"/>
          <p:cNvSpPr>
            <a:spLocks noChangeShapeType="1"/>
          </p:cNvSpPr>
          <p:nvPr/>
        </p:nvSpPr>
        <p:spPr bwMode="auto">
          <a:xfrm>
            <a:off x="2112963" y="2741613"/>
            <a:ext cx="5811837" cy="0"/>
          </a:xfrm>
          <a:prstGeom prst="line">
            <a:avLst/>
          </a:prstGeom>
          <a:noFill/>
          <a:ln w="9525">
            <a:solidFill>
              <a:schemeClr val="tx1"/>
            </a:solidFill>
            <a:round/>
            <a:headEnd/>
            <a:tailEnd/>
          </a:ln>
        </p:spPr>
        <p:txBody>
          <a:bodyPr/>
          <a:lstStyle/>
          <a:p>
            <a:endParaRPr lang="de-DE"/>
          </a:p>
        </p:txBody>
      </p:sp>
      <p:grpSp>
        <p:nvGrpSpPr>
          <p:cNvPr id="2" name="Group 5"/>
          <p:cNvGrpSpPr>
            <a:grpSpLocks/>
          </p:cNvGrpSpPr>
          <p:nvPr/>
        </p:nvGrpSpPr>
        <p:grpSpPr bwMode="auto">
          <a:xfrm>
            <a:off x="4289425" y="2633663"/>
            <a:ext cx="971550" cy="282575"/>
            <a:chOff x="3600" y="219"/>
            <a:chExt cx="360" cy="175"/>
          </a:xfrm>
        </p:grpSpPr>
        <p:sp>
          <p:nvSpPr>
            <p:cNvPr id="25682" name="Oval 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5683" name="Line 7"/>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5684" name="Line 8"/>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5685" name="Rectangle 9"/>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5686" name="Oval 1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3" name="Group 11"/>
            <p:cNvGrpSpPr>
              <a:grpSpLocks/>
            </p:cNvGrpSpPr>
            <p:nvPr/>
          </p:nvGrpSpPr>
          <p:grpSpPr bwMode="auto">
            <a:xfrm>
              <a:off x="3686" y="244"/>
              <a:ext cx="177" cy="66"/>
              <a:chOff x="2848" y="848"/>
              <a:chExt cx="140" cy="98"/>
            </a:xfrm>
          </p:grpSpPr>
          <p:sp>
            <p:nvSpPr>
              <p:cNvPr id="25692" name="Line 12"/>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5693" name="Line 13"/>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694" name="Line 14"/>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 name="Group 15"/>
            <p:cNvGrpSpPr>
              <a:grpSpLocks/>
            </p:cNvGrpSpPr>
            <p:nvPr/>
          </p:nvGrpSpPr>
          <p:grpSpPr bwMode="auto">
            <a:xfrm flipV="1">
              <a:off x="3686" y="243"/>
              <a:ext cx="177" cy="66"/>
              <a:chOff x="2848" y="848"/>
              <a:chExt cx="140" cy="98"/>
            </a:xfrm>
          </p:grpSpPr>
          <p:sp>
            <p:nvSpPr>
              <p:cNvPr id="25689" name="Line 1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5690" name="Line 1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691" name="Line 1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aphicFrame>
        <p:nvGraphicFramePr>
          <p:cNvPr id="25602" name="Object 19"/>
          <p:cNvGraphicFramePr>
            <a:graphicFrameLocks noChangeAspect="1"/>
          </p:cNvGraphicFramePr>
          <p:nvPr/>
        </p:nvGraphicFramePr>
        <p:xfrm>
          <a:off x="8104188" y="2454275"/>
          <a:ext cx="722312" cy="512763"/>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5602"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4188" y="2454275"/>
                        <a:ext cx="722312" cy="51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20"/>
          <p:cNvGrpSpPr>
            <a:grpSpLocks/>
          </p:cNvGrpSpPr>
          <p:nvPr/>
        </p:nvGrpSpPr>
        <p:grpSpPr bwMode="auto">
          <a:xfrm>
            <a:off x="1655763" y="2311400"/>
            <a:ext cx="344487" cy="655638"/>
            <a:chOff x="4180" y="783"/>
            <a:chExt cx="150" cy="307"/>
          </a:xfrm>
        </p:grpSpPr>
        <p:sp>
          <p:nvSpPr>
            <p:cNvPr id="25674" name="AutoShape 2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5675" name="Rectangle 2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5676" name="Rectangle 2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5677" name="AutoShape 2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5678" name="Line 25"/>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5679" name="Line 26"/>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5680" name="Rectangle 2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5681" name="Rectangle 2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25611" name="AutoShape 30"/>
          <p:cNvSpPr>
            <a:spLocks noChangeArrowheads="1"/>
          </p:cNvSpPr>
          <p:nvPr/>
        </p:nvSpPr>
        <p:spPr bwMode="auto">
          <a:xfrm>
            <a:off x="1173163" y="2044700"/>
            <a:ext cx="412750" cy="455613"/>
          </a:xfrm>
          <a:prstGeom prst="can">
            <a:avLst>
              <a:gd name="adj" fmla="val 22317"/>
            </a:avLst>
          </a:prstGeom>
          <a:solidFill>
            <a:schemeClr val="accent1"/>
          </a:solidFill>
          <a:ln w="9525">
            <a:solidFill>
              <a:schemeClr val="tx1"/>
            </a:solidFill>
            <a:round/>
            <a:headEnd/>
            <a:tailEnd/>
          </a:ln>
        </p:spPr>
        <p:txBody>
          <a:bodyPr wrap="none" anchor="ctr"/>
          <a:lstStyle/>
          <a:p>
            <a:endParaRPr lang="de-DE"/>
          </a:p>
        </p:txBody>
      </p:sp>
      <p:grpSp>
        <p:nvGrpSpPr>
          <p:cNvPr id="6" name="Group 34"/>
          <p:cNvGrpSpPr>
            <a:grpSpLocks/>
          </p:cNvGrpSpPr>
          <p:nvPr/>
        </p:nvGrpSpPr>
        <p:grpSpPr bwMode="auto">
          <a:xfrm>
            <a:off x="2066925" y="2606675"/>
            <a:ext cx="2136775" cy="307975"/>
            <a:chOff x="2249" y="3430"/>
            <a:chExt cx="1389" cy="256"/>
          </a:xfrm>
        </p:grpSpPr>
        <p:sp>
          <p:nvSpPr>
            <p:cNvPr id="256035" name="Oval 35"/>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6036" name="Rectangle 36"/>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5672" name="Oval 37"/>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6038" name="Rectangle 38"/>
            <p:cNvSpPr>
              <a:spLocks noChangeArrowheads="1"/>
            </p:cNvSpPr>
            <p:nvPr/>
          </p:nvSpPr>
          <p:spPr bwMode="auto">
            <a:xfrm>
              <a:off x="3562" y="3438"/>
              <a:ext cx="44" cy="24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5613" name="Text Box 39"/>
          <p:cNvSpPr txBox="1">
            <a:spLocks noChangeArrowheads="1"/>
          </p:cNvSpPr>
          <p:nvPr/>
        </p:nvSpPr>
        <p:spPr bwMode="auto">
          <a:xfrm>
            <a:off x="1855788" y="2562225"/>
            <a:ext cx="2586037" cy="396875"/>
          </a:xfrm>
          <a:prstGeom prst="rect">
            <a:avLst/>
          </a:prstGeom>
          <a:noFill/>
          <a:ln w="9525">
            <a:noFill/>
            <a:miter lim="800000"/>
            <a:headEnd/>
            <a:tailEnd/>
          </a:ln>
        </p:spPr>
        <p:txBody>
          <a:bodyPr>
            <a:spAutoFit/>
          </a:bodyPr>
          <a:lstStyle/>
          <a:p>
            <a:pPr algn="ctr"/>
            <a:r>
              <a:rPr lang="de-DE" sz="2000"/>
              <a:t>  R</a:t>
            </a:r>
            <a:r>
              <a:rPr lang="de-DE" sz="2800" baseline="-25000"/>
              <a:t>s</a:t>
            </a:r>
            <a:r>
              <a:rPr lang="de-DE" sz="2000" baseline="-25000"/>
              <a:t> </a:t>
            </a:r>
            <a:r>
              <a:rPr lang="de-DE" sz="2000"/>
              <a:t>bits/sec</a:t>
            </a:r>
          </a:p>
        </p:txBody>
      </p:sp>
      <p:sp>
        <p:nvSpPr>
          <p:cNvPr id="25614" name="AutoShape 42"/>
          <p:cNvSpPr>
            <a:spLocks noChangeArrowheads="1"/>
          </p:cNvSpPr>
          <p:nvPr/>
        </p:nvSpPr>
        <p:spPr bwMode="auto">
          <a:xfrm flipV="1">
            <a:off x="1255713" y="2374900"/>
            <a:ext cx="895350" cy="565150"/>
          </a:xfrm>
          <a:custGeom>
            <a:avLst/>
            <a:gdLst>
              <a:gd name="T0" fmla="*/ 25989773 w 21600"/>
              <a:gd name="T1" fmla="*/ 0 h 21600"/>
              <a:gd name="T2" fmla="*/ 25989773 w 21600"/>
              <a:gd name="T3" fmla="*/ 8323038 h 21600"/>
              <a:gd name="T4" fmla="*/ 5561865 w 21600"/>
              <a:gd name="T5" fmla="*/ 14786785 h 21600"/>
              <a:gd name="T6" fmla="*/ 37113498 w 21600"/>
              <a:gd name="T7" fmla="*/ 416151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p:spPr>
        <p:txBody>
          <a:bodyPr wrap="none" anchor="ctr"/>
          <a:lstStyle/>
          <a:p>
            <a:endParaRPr lang="de-DE"/>
          </a:p>
        </p:txBody>
      </p:sp>
      <p:sp>
        <p:nvSpPr>
          <p:cNvPr id="25615" name="AutoShape 43"/>
          <p:cNvSpPr>
            <a:spLocks noChangeArrowheads="1"/>
          </p:cNvSpPr>
          <p:nvPr/>
        </p:nvSpPr>
        <p:spPr bwMode="auto">
          <a:xfrm>
            <a:off x="7489825" y="2581275"/>
            <a:ext cx="817563" cy="379413"/>
          </a:xfrm>
          <a:prstGeom prst="rightArrow">
            <a:avLst>
              <a:gd name="adj1" fmla="val 50000"/>
              <a:gd name="adj2" fmla="val 53870"/>
            </a:avLst>
          </a:prstGeom>
          <a:solidFill>
            <a:schemeClr val="accent1"/>
          </a:solidFill>
          <a:ln w="9525">
            <a:solidFill>
              <a:schemeClr val="tx1"/>
            </a:solidFill>
            <a:miter lim="800000"/>
            <a:headEnd/>
            <a:tailEnd/>
          </a:ln>
        </p:spPr>
        <p:txBody>
          <a:bodyPr wrap="none" anchor="ctr"/>
          <a:lstStyle/>
          <a:p>
            <a:endParaRPr lang="de-DE"/>
          </a:p>
        </p:txBody>
      </p:sp>
      <p:grpSp>
        <p:nvGrpSpPr>
          <p:cNvPr id="7" name="Group 54"/>
          <p:cNvGrpSpPr>
            <a:grpSpLocks/>
          </p:cNvGrpSpPr>
          <p:nvPr/>
        </p:nvGrpSpPr>
        <p:grpSpPr bwMode="auto">
          <a:xfrm>
            <a:off x="5440363" y="2473325"/>
            <a:ext cx="2790825" cy="569913"/>
            <a:chOff x="3130" y="3069"/>
            <a:chExt cx="1911" cy="366"/>
          </a:xfrm>
        </p:grpSpPr>
        <p:grpSp>
          <p:nvGrpSpPr>
            <p:cNvPr id="8" name="Group 45"/>
            <p:cNvGrpSpPr>
              <a:grpSpLocks/>
            </p:cNvGrpSpPr>
            <p:nvPr/>
          </p:nvGrpSpPr>
          <p:grpSpPr bwMode="auto">
            <a:xfrm>
              <a:off x="3130" y="3069"/>
              <a:ext cx="1765" cy="366"/>
              <a:chOff x="2249" y="3430"/>
              <a:chExt cx="1389" cy="256"/>
            </a:xfrm>
          </p:grpSpPr>
          <p:sp>
            <p:nvSpPr>
              <p:cNvPr id="256046" name="Oval 46"/>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6047" name="Rectangle 47"/>
              <p:cNvSpPr>
                <a:spLocks noChangeArrowheads="1"/>
              </p:cNvSpPr>
              <p:nvPr/>
            </p:nvSpPr>
            <p:spPr bwMode="auto">
              <a:xfrm>
                <a:off x="2275" y="3433"/>
                <a:ext cx="1328"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5668" name="Oval 48"/>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6049" name="Rectangle 49"/>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5665" name="Text Box 50"/>
            <p:cNvSpPr txBox="1">
              <a:spLocks noChangeArrowheads="1"/>
            </p:cNvSpPr>
            <p:nvPr/>
          </p:nvSpPr>
          <p:spPr bwMode="auto">
            <a:xfrm>
              <a:off x="3181" y="3135"/>
              <a:ext cx="1860" cy="255"/>
            </a:xfrm>
            <a:prstGeom prst="rect">
              <a:avLst/>
            </a:prstGeom>
            <a:noFill/>
            <a:ln w="9525">
              <a:noFill/>
              <a:miter lim="800000"/>
              <a:headEnd/>
              <a:tailEnd/>
            </a:ln>
          </p:spPr>
          <p:txBody>
            <a:bodyPr>
              <a:spAutoFit/>
            </a:bodyPr>
            <a:lstStyle/>
            <a:p>
              <a:pPr algn="ctr"/>
              <a:r>
                <a:rPr lang="de-DE" sz="2000"/>
                <a:t>R</a:t>
              </a:r>
              <a:r>
                <a:rPr lang="de-DE" sz="2800" baseline="-25000"/>
                <a:t>c</a:t>
              </a:r>
              <a:r>
                <a:rPr lang="de-DE" sz="2000" baseline="-25000"/>
                <a:t> </a:t>
              </a:r>
              <a:r>
                <a:rPr lang="de-DE" sz="2000"/>
                <a:t>bits/sec</a:t>
              </a:r>
            </a:p>
          </p:txBody>
        </p:sp>
      </p:grpSp>
      <p:sp>
        <p:nvSpPr>
          <p:cNvPr id="25617" name="AutoShape 51"/>
          <p:cNvSpPr>
            <a:spLocks noChangeArrowheads="1"/>
          </p:cNvSpPr>
          <p:nvPr/>
        </p:nvSpPr>
        <p:spPr bwMode="auto">
          <a:xfrm>
            <a:off x="4198938" y="2574925"/>
            <a:ext cx="1365250" cy="381000"/>
          </a:xfrm>
          <a:prstGeom prst="rightArrow">
            <a:avLst>
              <a:gd name="adj1" fmla="val 50000"/>
              <a:gd name="adj2" fmla="val 89583"/>
            </a:avLst>
          </a:prstGeom>
          <a:solidFill>
            <a:schemeClr val="accent1"/>
          </a:solidFill>
          <a:ln w="9525">
            <a:solidFill>
              <a:schemeClr val="tx1"/>
            </a:solidFill>
            <a:miter lim="800000"/>
            <a:headEnd/>
            <a:tailEnd/>
          </a:ln>
        </p:spPr>
        <p:txBody>
          <a:bodyPr wrap="none" anchor="ctr"/>
          <a:lstStyle/>
          <a:p>
            <a:endParaRPr lang="de-DE"/>
          </a:p>
        </p:txBody>
      </p:sp>
      <p:grpSp>
        <p:nvGrpSpPr>
          <p:cNvPr id="9" name="Group 109"/>
          <p:cNvGrpSpPr>
            <a:grpSpLocks/>
          </p:cNvGrpSpPr>
          <p:nvPr/>
        </p:nvGrpSpPr>
        <p:grpSpPr bwMode="auto">
          <a:xfrm>
            <a:off x="555625" y="3341688"/>
            <a:ext cx="8307388" cy="1536700"/>
            <a:chOff x="350" y="2105"/>
            <a:chExt cx="5233" cy="968"/>
          </a:xfrm>
        </p:grpSpPr>
        <p:sp>
          <p:nvSpPr>
            <p:cNvPr id="25623" name="Rectangle 56"/>
            <p:cNvSpPr>
              <a:spLocks noChangeArrowheads="1"/>
            </p:cNvSpPr>
            <p:nvPr/>
          </p:nvSpPr>
          <p:spPr bwMode="auto">
            <a:xfrm>
              <a:off x="350" y="2105"/>
              <a:ext cx="5079" cy="349"/>
            </a:xfrm>
            <a:prstGeom prst="rect">
              <a:avLst/>
            </a:prstGeom>
            <a:noFill/>
            <a:ln w="9525">
              <a:noFill/>
              <a:miter lim="800000"/>
              <a:headEnd/>
              <a:tailEnd/>
            </a:ln>
          </p:spPr>
          <p:txBody>
            <a:bodyPr/>
            <a:lstStyle/>
            <a:p>
              <a:pPr marL="342900" indent="-342900">
                <a:spcBef>
                  <a:spcPct val="20000"/>
                </a:spcBef>
                <a:buClr>
                  <a:schemeClr val="accent2"/>
                </a:buClr>
                <a:buSzPct val="85000"/>
              </a:pPr>
              <a:r>
                <a:rPr lang="de-DE" sz="2400" i="1">
                  <a:solidFill>
                    <a:srgbClr val="FF3300"/>
                  </a:solidFill>
                </a:rPr>
                <a:t>R</a:t>
              </a:r>
              <a:r>
                <a:rPr lang="de-DE" sz="2400" i="1" baseline="-25000">
                  <a:solidFill>
                    <a:srgbClr val="FF3300"/>
                  </a:solidFill>
                </a:rPr>
                <a:t>s</a:t>
              </a:r>
              <a:r>
                <a:rPr lang="de-DE" sz="2400" i="1">
                  <a:solidFill>
                    <a:srgbClr val="FF3300"/>
                  </a:solidFill>
                </a:rPr>
                <a:t> &gt; R</a:t>
              </a:r>
              <a:r>
                <a:rPr lang="de-DE" sz="2400" i="1" baseline="-25000">
                  <a:solidFill>
                    <a:srgbClr val="FF3300"/>
                  </a:solidFill>
                </a:rPr>
                <a:t>c</a:t>
              </a:r>
              <a:r>
                <a:rPr lang="de-DE" sz="2400" i="1">
                  <a:solidFill>
                    <a:srgbClr val="FF3300"/>
                  </a:solidFill>
                </a:rPr>
                <a:t> 	</a:t>
              </a:r>
              <a:r>
                <a:rPr lang="de-DE" sz="2400"/>
                <a:t>Was ist der durchschnittliche Ende-zu-Ende </a:t>
              </a:r>
              <a:br>
                <a:rPr lang="de-DE" sz="2800"/>
              </a:br>
              <a:r>
                <a:rPr lang="de-DE" sz="2800"/>
                <a:t>		</a:t>
              </a:r>
              <a:r>
                <a:rPr lang="de-DE" sz="2400"/>
                <a:t>Durchsatz?</a:t>
              </a:r>
              <a:endParaRPr lang="de-DE" sz="2800"/>
            </a:p>
          </p:txBody>
        </p:sp>
        <p:sp>
          <p:nvSpPr>
            <p:cNvPr id="25624" name="Line 57"/>
            <p:cNvSpPr>
              <a:spLocks noChangeShapeType="1"/>
            </p:cNvSpPr>
            <p:nvPr/>
          </p:nvSpPr>
          <p:spPr bwMode="auto">
            <a:xfrm>
              <a:off x="1354" y="2920"/>
              <a:ext cx="3661" cy="0"/>
            </a:xfrm>
            <a:prstGeom prst="line">
              <a:avLst/>
            </a:prstGeom>
            <a:noFill/>
            <a:ln w="9525">
              <a:solidFill>
                <a:schemeClr val="tx1"/>
              </a:solidFill>
              <a:round/>
              <a:headEnd/>
              <a:tailEnd/>
            </a:ln>
          </p:spPr>
          <p:txBody>
            <a:bodyPr/>
            <a:lstStyle/>
            <a:p>
              <a:endParaRPr lang="de-DE"/>
            </a:p>
          </p:txBody>
        </p:sp>
        <p:grpSp>
          <p:nvGrpSpPr>
            <p:cNvPr id="10" name="Group 58"/>
            <p:cNvGrpSpPr>
              <a:grpSpLocks/>
            </p:cNvGrpSpPr>
            <p:nvPr/>
          </p:nvGrpSpPr>
          <p:grpSpPr bwMode="auto">
            <a:xfrm>
              <a:off x="2725" y="2852"/>
              <a:ext cx="612" cy="178"/>
              <a:chOff x="3600" y="219"/>
              <a:chExt cx="360" cy="175"/>
            </a:xfrm>
          </p:grpSpPr>
          <p:sp>
            <p:nvSpPr>
              <p:cNvPr id="25651" name="Oval 5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5652" name="Line 6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5653" name="Line 6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5654" name="Rectangle 6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5655" name="Oval 6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1" name="Group 64"/>
              <p:cNvGrpSpPr>
                <a:grpSpLocks/>
              </p:cNvGrpSpPr>
              <p:nvPr/>
            </p:nvGrpSpPr>
            <p:grpSpPr bwMode="auto">
              <a:xfrm>
                <a:off x="3686" y="244"/>
                <a:ext cx="177" cy="66"/>
                <a:chOff x="2848" y="848"/>
                <a:chExt cx="140" cy="98"/>
              </a:xfrm>
            </p:grpSpPr>
            <p:sp>
              <p:nvSpPr>
                <p:cNvPr id="25661" name="Line 6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5662" name="Line 6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663" name="Line 6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2" name="Group 68"/>
              <p:cNvGrpSpPr>
                <a:grpSpLocks/>
              </p:cNvGrpSpPr>
              <p:nvPr/>
            </p:nvGrpSpPr>
            <p:grpSpPr bwMode="auto">
              <a:xfrm flipV="1">
                <a:off x="3686" y="243"/>
                <a:ext cx="177" cy="66"/>
                <a:chOff x="2848" y="848"/>
                <a:chExt cx="140" cy="98"/>
              </a:xfrm>
            </p:grpSpPr>
            <p:sp>
              <p:nvSpPr>
                <p:cNvPr id="25658" name="Line 6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5659" name="Line 7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660" name="Line 7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aphicFrame>
          <p:nvGraphicFramePr>
            <p:cNvPr id="25603" name="Object 72"/>
            <p:cNvGraphicFramePr>
              <a:graphicFrameLocks noChangeAspect="1"/>
            </p:cNvGraphicFramePr>
            <p:nvPr/>
          </p:nvGraphicFramePr>
          <p:xfrm>
            <a:off x="5128" y="2739"/>
            <a:ext cx="455" cy="323"/>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5603" name="Object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8" y="2739"/>
                          <a:ext cx="455" cy="3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Group 73"/>
            <p:cNvGrpSpPr>
              <a:grpSpLocks/>
            </p:cNvGrpSpPr>
            <p:nvPr/>
          </p:nvGrpSpPr>
          <p:grpSpPr bwMode="auto">
            <a:xfrm>
              <a:off x="1066" y="2649"/>
              <a:ext cx="217" cy="413"/>
              <a:chOff x="4180" y="783"/>
              <a:chExt cx="150" cy="307"/>
            </a:xfrm>
          </p:grpSpPr>
          <p:sp>
            <p:nvSpPr>
              <p:cNvPr id="25643" name="AutoShape 7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5644" name="Rectangle 75"/>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5645" name="Rectangle 7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5646" name="AutoShape 7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5647" name="Line 78"/>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5648" name="Line 79"/>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5649" name="Rectangle 8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5650" name="Rectangle 81"/>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25627" name="AutoShape 82"/>
            <p:cNvSpPr>
              <a:spLocks noChangeArrowheads="1"/>
            </p:cNvSpPr>
            <p:nvPr/>
          </p:nvSpPr>
          <p:spPr bwMode="auto">
            <a:xfrm>
              <a:off x="762" y="2481"/>
              <a:ext cx="260" cy="287"/>
            </a:xfrm>
            <a:prstGeom prst="can">
              <a:avLst>
                <a:gd name="adj" fmla="val 22317"/>
              </a:avLst>
            </a:prstGeom>
            <a:solidFill>
              <a:schemeClr val="accent1"/>
            </a:solidFill>
            <a:ln w="9525">
              <a:solidFill>
                <a:schemeClr val="tx1"/>
              </a:solidFill>
              <a:round/>
              <a:headEnd/>
              <a:tailEnd/>
            </a:ln>
          </p:spPr>
          <p:txBody>
            <a:bodyPr wrap="none" anchor="ctr"/>
            <a:lstStyle/>
            <a:p>
              <a:endParaRPr lang="de-DE"/>
            </a:p>
          </p:txBody>
        </p:sp>
        <p:sp>
          <p:nvSpPr>
            <p:cNvPr id="25628" name="AutoShape 90"/>
            <p:cNvSpPr>
              <a:spLocks noChangeArrowheads="1"/>
            </p:cNvSpPr>
            <p:nvPr/>
          </p:nvSpPr>
          <p:spPr bwMode="auto">
            <a:xfrm>
              <a:off x="4741" y="2819"/>
              <a:ext cx="515" cy="239"/>
            </a:xfrm>
            <a:prstGeom prst="rightArrow">
              <a:avLst>
                <a:gd name="adj1" fmla="val 50000"/>
                <a:gd name="adj2" fmla="val 53870"/>
              </a:avLst>
            </a:prstGeom>
            <a:solidFill>
              <a:schemeClr val="accent1"/>
            </a:solidFill>
            <a:ln w="9525">
              <a:solidFill>
                <a:schemeClr val="tx1"/>
              </a:solidFill>
              <a:miter lim="800000"/>
              <a:headEnd/>
              <a:tailEnd/>
            </a:ln>
          </p:spPr>
          <p:txBody>
            <a:bodyPr wrap="none" anchor="ctr"/>
            <a:lstStyle/>
            <a:p>
              <a:endParaRPr lang="de-DE"/>
            </a:p>
          </p:txBody>
        </p:sp>
        <p:grpSp>
          <p:nvGrpSpPr>
            <p:cNvPr id="14" name="Group 92"/>
            <p:cNvGrpSpPr>
              <a:grpSpLocks/>
            </p:cNvGrpSpPr>
            <p:nvPr/>
          </p:nvGrpSpPr>
          <p:grpSpPr bwMode="auto">
            <a:xfrm>
              <a:off x="1328" y="2714"/>
              <a:ext cx="1347" cy="359"/>
              <a:chOff x="2249" y="3430"/>
              <a:chExt cx="1389" cy="256"/>
            </a:xfrm>
          </p:grpSpPr>
          <p:sp>
            <p:nvSpPr>
              <p:cNvPr id="256093" name="Oval 93"/>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6094" name="Rectangle 94"/>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5641" name="Oval 95"/>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6096" name="Rectangle 96"/>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5630" name="Text Box 97"/>
            <p:cNvSpPr txBox="1">
              <a:spLocks noChangeArrowheads="1"/>
            </p:cNvSpPr>
            <p:nvPr/>
          </p:nvSpPr>
          <p:spPr bwMode="auto">
            <a:xfrm>
              <a:off x="1313" y="2788"/>
              <a:ext cx="1419" cy="250"/>
            </a:xfrm>
            <a:prstGeom prst="rect">
              <a:avLst/>
            </a:prstGeom>
            <a:noFill/>
            <a:ln w="9525">
              <a:noFill/>
              <a:miter lim="800000"/>
              <a:headEnd/>
              <a:tailEnd/>
            </a:ln>
          </p:spPr>
          <p:txBody>
            <a:bodyPr>
              <a:spAutoFit/>
            </a:bodyPr>
            <a:lstStyle/>
            <a:p>
              <a:pPr algn="ctr"/>
              <a:r>
                <a:rPr lang="de-DE" sz="2000"/>
                <a:t>R</a:t>
              </a:r>
              <a:r>
                <a:rPr lang="de-DE" sz="2800" baseline="-25000"/>
                <a:t>s</a:t>
              </a:r>
              <a:r>
                <a:rPr lang="de-DE" sz="2000" baseline="-25000"/>
                <a:t> </a:t>
              </a:r>
              <a:r>
                <a:rPr lang="de-DE" sz="2000"/>
                <a:t>bits/sec</a:t>
              </a:r>
            </a:p>
          </p:txBody>
        </p:sp>
        <p:grpSp>
          <p:nvGrpSpPr>
            <p:cNvPr id="15" name="Group 83"/>
            <p:cNvGrpSpPr>
              <a:grpSpLocks/>
            </p:cNvGrpSpPr>
            <p:nvPr/>
          </p:nvGrpSpPr>
          <p:grpSpPr bwMode="auto">
            <a:xfrm>
              <a:off x="3419" y="2835"/>
              <a:ext cx="1621" cy="194"/>
              <a:chOff x="2249" y="3430"/>
              <a:chExt cx="1389" cy="256"/>
            </a:xfrm>
          </p:grpSpPr>
          <p:sp>
            <p:nvSpPr>
              <p:cNvPr id="256084" name="Oval 84"/>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6085" name="Rectangle 85"/>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5637" name="Oval 86"/>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6087" name="Rectangle 87"/>
              <p:cNvSpPr>
                <a:spLocks noChangeArrowheads="1"/>
              </p:cNvSpPr>
              <p:nvPr/>
            </p:nvSpPr>
            <p:spPr bwMode="auto">
              <a:xfrm>
                <a:off x="3562" y="3438"/>
                <a:ext cx="45" cy="24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5632" name="Text Box 88"/>
            <p:cNvSpPr txBox="1">
              <a:spLocks noChangeArrowheads="1"/>
            </p:cNvSpPr>
            <p:nvPr/>
          </p:nvSpPr>
          <p:spPr bwMode="auto">
            <a:xfrm>
              <a:off x="3475" y="2807"/>
              <a:ext cx="1629" cy="250"/>
            </a:xfrm>
            <a:prstGeom prst="rect">
              <a:avLst/>
            </a:prstGeom>
            <a:noFill/>
            <a:ln w="9525">
              <a:noFill/>
              <a:miter lim="800000"/>
              <a:headEnd/>
              <a:tailEnd/>
            </a:ln>
          </p:spPr>
          <p:txBody>
            <a:bodyPr>
              <a:spAutoFit/>
            </a:bodyPr>
            <a:lstStyle/>
            <a:p>
              <a:pPr algn="ctr"/>
              <a:r>
                <a:rPr lang="de-DE" sz="2000"/>
                <a:t>  R</a:t>
              </a:r>
              <a:r>
                <a:rPr lang="de-DE" sz="2800" baseline="-25000"/>
                <a:t>c</a:t>
              </a:r>
              <a:r>
                <a:rPr lang="de-DE" sz="2000" baseline="-25000"/>
                <a:t> </a:t>
              </a:r>
              <a:r>
                <a:rPr lang="de-DE" sz="2000"/>
                <a:t>bits/sec</a:t>
              </a:r>
            </a:p>
          </p:txBody>
        </p:sp>
        <p:sp>
          <p:nvSpPr>
            <p:cNvPr id="25633" name="AutoShape 98"/>
            <p:cNvSpPr>
              <a:spLocks noChangeArrowheads="1"/>
            </p:cNvSpPr>
            <p:nvPr/>
          </p:nvSpPr>
          <p:spPr bwMode="auto">
            <a:xfrm>
              <a:off x="2668" y="2815"/>
              <a:ext cx="860" cy="240"/>
            </a:xfrm>
            <a:prstGeom prst="rightArrow">
              <a:avLst>
                <a:gd name="adj1" fmla="val 50000"/>
                <a:gd name="adj2" fmla="val 89583"/>
              </a:avLst>
            </a:prstGeom>
            <a:solidFill>
              <a:schemeClr val="accent1"/>
            </a:solidFill>
            <a:ln w="9525">
              <a:solidFill>
                <a:schemeClr val="tx1"/>
              </a:solidFill>
              <a:miter lim="800000"/>
              <a:headEnd/>
              <a:tailEnd/>
            </a:ln>
          </p:spPr>
          <p:txBody>
            <a:bodyPr wrap="none" anchor="ctr"/>
            <a:lstStyle/>
            <a:p>
              <a:endParaRPr lang="de-DE"/>
            </a:p>
          </p:txBody>
        </p:sp>
        <p:sp>
          <p:nvSpPr>
            <p:cNvPr id="25634" name="AutoShape 89"/>
            <p:cNvSpPr>
              <a:spLocks noChangeArrowheads="1"/>
            </p:cNvSpPr>
            <p:nvPr/>
          </p:nvSpPr>
          <p:spPr bwMode="auto">
            <a:xfrm flipV="1">
              <a:off x="814" y="2689"/>
              <a:ext cx="564" cy="356"/>
            </a:xfrm>
            <a:custGeom>
              <a:avLst/>
              <a:gdLst>
                <a:gd name="T0" fmla="*/ 10 w 21600"/>
                <a:gd name="T1" fmla="*/ 0 h 21600"/>
                <a:gd name="T2" fmla="*/ 10 w 21600"/>
                <a:gd name="T3" fmla="*/ 3 h 21600"/>
                <a:gd name="T4" fmla="*/ 2 w 21600"/>
                <a:gd name="T5" fmla="*/ 6 h 21600"/>
                <a:gd name="T6" fmla="*/ 15 w 21600"/>
                <a:gd name="T7" fmla="*/ 2 h 21600"/>
                <a:gd name="T8" fmla="*/ 17694720 60000 65536"/>
                <a:gd name="T9" fmla="*/ 5898240 60000 65536"/>
                <a:gd name="T10" fmla="*/ 5898240 60000 65536"/>
                <a:gd name="T11" fmla="*/ 0 60000 65536"/>
                <a:gd name="T12" fmla="*/ 12409 w 21600"/>
                <a:gd name="T13" fmla="*/ 2912 h 21600"/>
                <a:gd name="T14" fmla="*/ 18230 w 21600"/>
                <a:gd name="T15" fmla="*/ 922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p:spPr>
          <p:txBody>
            <a:bodyPr wrap="none" anchor="ctr"/>
            <a:lstStyle/>
            <a:p>
              <a:endParaRPr lang="de-DE"/>
            </a:p>
          </p:txBody>
        </p:sp>
      </p:grpSp>
      <p:grpSp>
        <p:nvGrpSpPr>
          <p:cNvPr id="16" name="Group 108"/>
          <p:cNvGrpSpPr>
            <a:grpSpLocks/>
          </p:cNvGrpSpPr>
          <p:nvPr/>
        </p:nvGrpSpPr>
        <p:grpSpPr bwMode="auto">
          <a:xfrm>
            <a:off x="203200" y="5110164"/>
            <a:ext cx="8623300" cy="1292226"/>
            <a:chOff x="128" y="3219"/>
            <a:chExt cx="5432" cy="814"/>
          </a:xfrm>
        </p:grpSpPr>
        <p:sp>
          <p:nvSpPr>
            <p:cNvPr id="25620" name="Rectangle 102"/>
            <p:cNvSpPr>
              <a:spLocks noChangeArrowheads="1"/>
            </p:cNvSpPr>
            <p:nvPr/>
          </p:nvSpPr>
          <p:spPr bwMode="auto">
            <a:xfrm>
              <a:off x="128" y="3393"/>
              <a:ext cx="5403" cy="640"/>
            </a:xfrm>
            <a:prstGeom prst="rect">
              <a:avLst/>
            </a:prstGeom>
            <a:solidFill>
              <a:schemeClr val="bg1"/>
            </a:solidFill>
            <a:ln w="28575">
              <a:solidFill>
                <a:srgbClr val="FF3300"/>
              </a:solidFill>
              <a:miter lim="800000"/>
              <a:headEnd/>
              <a:tailEnd/>
            </a:ln>
          </p:spPr>
          <p:txBody>
            <a:bodyPr wrap="none" anchor="ctr"/>
            <a:lstStyle/>
            <a:p>
              <a:endParaRPr lang="de-DE"/>
            </a:p>
          </p:txBody>
        </p:sp>
        <p:sp>
          <p:nvSpPr>
            <p:cNvPr id="25621" name="Text Box 101"/>
            <p:cNvSpPr txBox="1">
              <a:spLocks noChangeArrowheads="1"/>
            </p:cNvSpPr>
            <p:nvPr/>
          </p:nvSpPr>
          <p:spPr bwMode="auto">
            <a:xfrm>
              <a:off x="218" y="3510"/>
              <a:ext cx="5342" cy="523"/>
            </a:xfrm>
            <a:prstGeom prst="rect">
              <a:avLst/>
            </a:prstGeom>
            <a:noFill/>
            <a:ln w="9525">
              <a:noFill/>
              <a:miter lim="800000"/>
              <a:headEnd/>
              <a:tailEnd/>
            </a:ln>
          </p:spPr>
          <p:txBody>
            <a:bodyPr>
              <a:spAutoFit/>
            </a:bodyPr>
            <a:lstStyle/>
            <a:p>
              <a:r>
                <a:rPr lang="de-DE" sz="2400" dirty="0"/>
                <a:t>Leitung auf dem Ende-zu-Ende Pfad, welche den Ende-zu-Ende Durchsatz beschränkt </a:t>
              </a:r>
            </a:p>
          </p:txBody>
        </p:sp>
        <p:sp>
          <p:nvSpPr>
            <p:cNvPr id="25622" name="Text Box 104"/>
            <p:cNvSpPr txBox="1">
              <a:spLocks noChangeArrowheads="1"/>
            </p:cNvSpPr>
            <p:nvPr/>
          </p:nvSpPr>
          <p:spPr bwMode="auto">
            <a:xfrm>
              <a:off x="322" y="3219"/>
              <a:ext cx="3511" cy="291"/>
            </a:xfrm>
            <a:prstGeom prst="rect">
              <a:avLst/>
            </a:prstGeom>
            <a:solidFill>
              <a:schemeClr val="bg1"/>
            </a:solidFill>
            <a:ln w="9525">
              <a:noFill/>
              <a:miter lim="800000"/>
              <a:headEnd/>
              <a:tailEnd/>
            </a:ln>
          </p:spPr>
          <p:txBody>
            <a:bodyPr wrap="square">
              <a:spAutoFit/>
            </a:bodyPr>
            <a:lstStyle/>
            <a:p>
              <a:r>
                <a:rPr lang="de-DE" sz="2400" i="1" dirty="0" err="1">
                  <a:solidFill>
                    <a:srgbClr val="FF3300"/>
                  </a:solidFill>
                </a:rPr>
                <a:t>Bottleneck</a:t>
              </a:r>
              <a:r>
                <a:rPr lang="de-DE" sz="2400" i="1" dirty="0">
                  <a:solidFill>
                    <a:srgbClr val="FF3300"/>
                  </a:solidFill>
                </a:rPr>
                <a:t> - Leitung </a:t>
              </a:r>
              <a:r>
                <a:rPr lang="de-DE" sz="2400" i="1" dirty="0"/>
                <a:t>(Engpassleitung) </a:t>
              </a:r>
            </a:p>
          </p:txBody>
        </p:sp>
      </p:grpSp>
      <p:sp>
        <p:nvSpPr>
          <p:cNvPr id="94" name="Rechteck 8">
            <a:extLst>
              <a:ext uri="{FF2B5EF4-FFF2-40B4-BE49-F238E27FC236}">
                <a16:creationId xmlns:a16="http://schemas.microsoft.com/office/drawing/2014/main" id="{5CD82C52-A1F8-40D8-960F-94B7F23549EA}"/>
              </a:ext>
            </a:extLst>
          </p:cNvPr>
          <p:cNvSpPr/>
          <p:nvPr/>
        </p:nvSpPr>
        <p:spPr>
          <a:xfrm>
            <a:off x="6300192"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6"/>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extLst>
      <p:ext uri="{BB962C8B-B14F-4D97-AF65-F5344CB8AC3E}">
        <p14:creationId xmlns:p14="http://schemas.microsoft.com/office/powerpoint/2010/main" val="246543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Slide Number Placeholder 5"/>
          <p:cNvSpPr>
            <a:spLocks noGrp="1"/>
          </p:cNvSpPr>
          <p:nvPr>
            <p:ph type="sldNum" sz="quarter" idx="12"/>
          </p:nvPr>
        </p:nvSpPr>
        <p:spPr>
          <a:noFill/>
        </p:spPr>
        <p:txBody>
          <a:bodyPr/>
          <a:lstStyle/>
          <a:p>
            <a:fld id="{9F548729-7D28-44C8-B70B-CE6DCA87CCB8}" type="slidenum">
              <a:rPr lang="de-DE" smtClean="0"/>
              <a:pPr/>
              <a:t>35</a:t>
            </a:fld>
            <a:endParaRPr lang="de-DE" dirty="0"/>
          </a:p>
        </p:txBody>
      </p:sp>
      <p:sp>
        <p:nvSpPr>
          <p:cNvPr id="26631" name="Rectangle 2"/>
          <p:cNvSpPr>
            <a:spLocks noGrp="1" noChangeArrowheads="1"/>
          </p:cNvSpPr>
          <p:nvPr>
            <p:ph type="title"/>
          </p:nvPr>
        </p:nvSpPr>
        <p:spPr>
          <a:xfrm>
            <a:off x="533400" y="254000"/>
            <a:ext cx="7772400" cy="942752"/>
          </a:xfrm>
        </p:spPr>
        <p:txBody>
          <a:bodyPr/>
          <a:lstStyle/>
          <a:p>
            <a:r>
              <a:rPr lang="de-DE" dirty="0">
                <a:latin typeface="+mn-lt"/>
              </a:rPr>
              <a:t>Durchsatz im Internet</a:t>
            </a:r>
          </a:p>
        </p:txBody>
      </p:sp>
      <p:sp>
        <p:nvSpPr>
          <p:cNvPr id="26632" name="Text Box 44"/>
          <p:cNvSpPr txBox="1">
            <a:spLocks noChangeArrowheads="1"/>
          </p:cNvSpPr>
          <p:nvPr/>
        </p:nvSpPr>
        <p:spPr bwMode="auto">
          <a:xfrm>
            <a:off x="4373563" y="5672138"/>
            <a:ext cx="4464050" cy="1015663"/>
          </a:xfrm>
          <a:prstGeom prst="rect">
            <a:avLst/>
          </a:prstGeom>
          <a:noFill/>
          <a:ln w="9525">
            <a:noFill/>
            <a:miter lim="800000"/>
            <a:headEnd/>
            <a:tailEnd/>
          </a:ln>
        </p:spPr>
        <p:txBody>
          <a:bodyPr>
            <a:spAutoFit/>
          </a:bodyPr>
          <a:lstStyle/>
          <a:p>
            <a:pPr algn="ctr"/>
            <a:r>
              <a:rPr lang="de-DE" sz="2000" b="1" dirty="0">
                <a:solidFill>
                  <a:srgbClr val="FF0000"/>
                </a:solidFill>
              </a:rPr>
              <a:t>10</a:t>
            </a:r>
            <a:r>
              <a:rPr lang="de-DE" sz="2000" dirty="0"/>
              <a:t> Verbindungen teilen sich eine Backbone (Tier-1-ISP) Verbindung mit Durschsatz R</a:t>
            </a:r>
            <a:r>
              <a:rPr lang="de-DE" sz="2000" baseline="-25000" dirty="0"/>
              <a:t> </a:t>
            </a:r>
            <a:r>
              <a:rPr lang="de-DE" sz="2000" dirty="0"/>
              <a:t>bits/sec</a:t>
            </a:r>
          </a:p>
        </p:txBody>
      </p:sp>
      <p:sp>
        <p:nvSpPr>
          <p:cNvPr id="26633" name="Freeform 296"/>
          <p:cNvSpPr>
            <a:spLocks/>
          </p:cNvSpPr>
          <p:nvPr/>
        </p:nvSpPr>
        <p:spPr bwMode="auto">
          <a:xfrm>
            <a:off x="4883150" y="2720975"/>
            <a:ext cx="3127375" cy="1498600"/>
          </a:xfrm>
          <a:custGeom>
            <a:avLst/>
            <a:gdLst>
              <a:gd name="T0" fmla="*/ 1481213 w 1877"/>
              <a:gd name="T1" fmla="*/ 37588 h 917"/>
              <a:gd name="T2" fmla="*/ 1152980 w 1877"/>
              <a:gd name="T3" fmla="*/ 178132 h 917"/>
              <a:gd name="T4" fmla="*/ 691455 w 1877"/>
              <a:gd name="T5" fmla="*/ 148716 h 917"/>
              <a:gd name="T6" fmla="*/ 186609 w 1877"/>
              <a:gd name="T7" fmla="*/ 277821 h 917"/>
              <a:gd name="T8" fmla="*/ 83308 w 1877"/>
              <a:gd name="T9" fmla="*/ 576888 h 917"/>
              <a:gd name="T10" fmla="*/ 23326 w 1877"/>
              <a:gd name="T11" fmla="*/ 862880 h 917"/>
              <a:gd name="T12" fmla="*/ 231596 w 1877"/>
              <a:gd name="T13" fmla="*/ 1062257 h 917"/>
              <a:gd name="T14" fmla="*/ 841409 w 1877"/>
              <a:gd name="T15" fmla="*/ 1276343 h 917"/>
              <a:gd name="T16" fmla="*/ 1554524 w 1877"/>
              <a:gd name="T17" fmla="*/ 1447939 h 917"/>
              <a:gd name="T18" fmla="*/ 2282634 w 1877"/>
              <a:gd name="T19" fmla="*/ 1472452 h 917"/>
              <a:gd name="T20" fmla="*/ 2792478 w 1877"/>
              <a:gd name="T21" fmla="*/ 1295954 h 917"/>
              <a:gd name="T22" fmla="*/ 3099050 w 1877"/>
              <a:gd name="T23" fmla="*/ 1019767 h 917"/>
              <a:gd name="T24" fmla="*/ 2959093 w 1877"/>
              <a:gd name="T25" fmla="*/ 357899 h 917"/>
              <a:gd name="T26" fmla="*/ 2504233 w 1877"/>
              <a:gd name="T27" fmla="*/ 163424 h 917"/>
              <a:gd name="T28" fmla="*/ 1999388 w 1877"/>
              <a:gd name="T29" fmla="*/ 21245 h 917"/>
              <a:gd name="T30" fmla="*/ 1481213 w 1877"/>
              <a:gd name="T31" fmla="*/ 37588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w="9525">
            <a:noFill/>
            <a:round/>
            <a:headEnd/>
            <a:tailEnd/>
          </a:ln>
        </p:spPr>
        <p:txBody>
          <a:bodyPr/>
          <a:lstStyle/>
          <a:p>
            <a:endParaRPr lang="de-DE"/>
          </a:p>
        </p:txBody>
      </p:sp>
      <p:sp>
        <p:nvSpPr>
          <p:cNvPr id="26634" name="AutoShape 21"/>
          <p:cNvSpPr>
            <a:spLocks noChangeArrowheads="1"/>
          </p:cNvSpPr>
          <p:nvPr/>
        </p:nvSpPr>
        <p:spPr bwMode="auto">
          <a:xfrm>
            <a:off x="4595813" y="2386013"/>
            <a:ext cx="312737" cy="152400"/>
          </a:xfrm>
          <a:prstGeom prst="parallelogram">
            <a:avLst>
              <a:gd name="adj" fmla="val 79053"/>
            </a:avLst>
          </a:prstGeom>
          <a:solidFill>
            <a:srgbClr val="33CCCC"/>
          </a:solidFill>
          <a:ln w="9525">
            <a:noFill/>
            <a:miter lim="800000"/>
            <a:headEnd/>
            <a:tailEnd/>
          </a:ln>
        </p:spPr>
        <p:txBody>
          <a:bodyPr wrap="none" anchor="ctr"/>
          <a:lstStyle/>
          <a:p>
            <a:endParaRPr lang="de-DE"/>
          </a:p>
        </p:txBody>
      </p:sp>
      <p:sp>
        <p:nvSpPr>
          <p:cNvPr id="26635" name="Rectangle 22"/>
          <p:cNvSpPr>
            <a:spLocks noChangeArrowheads="1"/>
          </p:cNvSpPr>
          <p:nvPr/>
        </p:nvSpPr>
        <p:spPr bwMode="auto">
          <a:xfrm>
            <a:off x="4754563" y="1882775"/>
            <a:ext cx="144462" cy="508000"/>
          </a:xfrm>
          <a:prstGeom prst="rect">
            <a:avLst/>
          </a:prstGeom>
          <a:solidFill>
            <a:srgbClr val="33CCCC"/>
          </a:solidFill>
          <a:ln w="9525">
            <a:noFill/>
            <a:miter lim="800000"/>
            <a:headEnd/>
            <a:tailEnd/>
          </a:ln>
        </p:spPr>
        <p:txBody>
          <a:bodyPr wrap="none" anchor="ctr"/>
          <a:lstStyle/>
          <a:p>
            <a:endParaRPr lang="de-DE"/>
          </a:p>
        </p:txBody>
      </p:sp>
      <p:sp>
        <p:nvSpPr>
          <p:cNvPr id="26636" name="Rectangle 23"/>
          <p:cNvSpPr>
            <a:spLocks noChangeArrowheads="1"/>
          </p:cNvSpPr>
          <p:nvPr/>
        </p:nvSpPr>
        <p:spPr bwMode="auto">
          <a:xfrm>
            <a:off x="4595813" y="2025650"/>
            <a:ext cx="200025" cy="508000"/>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6637" name="AutoShape 24"/>
          <p:cNvSpPr>
            <a:spLocks noChangeArrowheads="1"/>
          </p:cNvSpPr>
          <p:nvPr/>
        </p:nvSpPr>
        <p:spPr bwMode="auto">
          <a:xfrm>
            <a:off x="4595813" y="1878013"/>
            <a:ext cx="312737" cy="153987"/>
          </a:xfrm>
          <a:prstGeom prst="parallelogram">
            <a:avLst>
              <a:gd name="adj" fmla="val 78238"/>
            </a:avLst>
          </a:prstGeom>
          <a:solidFill>
            <a:srgbClr val="33CCCC"/>
          </a:solidFill>
          <a:ln w="9525">
            <a:solidFill>
              <a:schemeClr val="tx1"/>
            </a:solidFill>
            <a:miter lim="800000"/>
            <a:headEnd/>
            <a:tailEnd/>
          </a:ln>
        </p:spPr>
        <p:txBody>
          <a:bodyPr wrap="none" anchor="ctr"/>
          <a:lstStyle/>
          <a:p>
            <a:endParaRPr lang="de-DE"/>
          </a:p>
        </p:txBody>
      </p:sp>
      <p:sp>
        <p:nvSpPr>
          <p:cNvPr id="26638" name="Line 25"/>
          <p:cNvSpPr>
            <a:spLocks noChangeShapeType="1"/>
          </p:cNvSpPr>
          <p:nvPr/>
        </p:nvSpPr>
        <p:spPr bwMode="auto">
          <a:xfrm>
            <a:off x="4908550" y="1889125"/>
            <a:ext cx="0" cy="496888"/>
          </a:xfrm>
          <a:prstGeom prst="line">
            <a:avLst/>
          </a:prstGeom>
          <a:noFill/>
          <a:ln w="9525">
            <a:solidFill>
              <a:schemeClr val="tx1"/>
            </a:solidFill>
            <a:round/>
            <a:headEnd/>
            <a:tailEnd/>
          </a:ln>
        </p:spPr>
        <p:txBody>
          <a:bodyPr wrap="none" anchor="ctr"/>
          <a:lstStyle/>
          <a:p>
            <a:endParaRPr lang="de-DE"/>
          </a:p>
        </p:txBody>
      </p:sp>
      <p:sp>
        <p:nvSpPr>
          <p:cNvPr id="26639" name="Line 26"/>
          <p:cNvSpPr>
            <a:spLocks noChangeShapeType="1"/>
          </p:cNvSpPr>
          <p:nvPr/>
        </p:nvSpPr>
        <p:spPr bwMode="auto">
          <a:xfrm flipH="1">
            <a:off x="4795838" y="2386013"/>
            <a:ext cx="112712" cy="147637"/>
          </a:xfrm>
          <a:prstGeom prst="line">
            <a:avLst/>
          </a:prstGeom>
          <a:noFill/>
          <a:ln w="9525">
            <a:solidFill>
              <a:schemeClr val="tx1"/>
            </a:solidFill>
            <a:round/>
            <a:headEnd/>
            <a:tailEnd/>
          </a:ln>
        </p:spPr>
        <p:txBody>
          <a:bodyPr wrap="none" anchor="ctr"/>
          <a:lstStyle/>
          <a:p>
            <a:endParaRPr lang="de-DE"/>
          </a:p>
        </p:txBody>
      </p:sp>
      <p:sp>
        <p:nvSpPr>
          <p:cNvPr id="26640" name="Rectangle 27"/>
          <p:cNvSpPr>
            <a:spLocks noChangeArrowheads="1"/>
          </p:cNvSpPr>
          <p:nvPr/>
        </p:nvSpPr>
        <p:spPr bwMode="auto">
          <a:xfrm>
            <a:off x="4622800" y="2093913"/>
            <a:ext cx="131763" cy="2921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6641" name="Rectangle 28"/>
          <p:cNvSpPr>
            <a:spLocks noChangeArrowheads="1"/>
          </p:cNvSpPr>
          <p:nvPr/>
        </p:nvSpPr>
        <p:spPr bwMode="auto">
          <a:xfrm>
            <a:off x="4641850" y="2181225"/>
            <a:ext cx="98425" cy="103188"/>
          </a:xfrm>
          <a:prstGeom prst="rect">
            <a:avLst/>
          </a:prstGeom>
          <a:solidFill>
            <a:schemeClr val="bg1"/>
          </a:solidFill>
          <a:ln w="9525">
            <a:noFill/>
            <a:miter lim="800000"/>
            <a:headEnd/>
            <a:tailEnd/>
          </a:ln>
        </p:spPr>
        <p:txBody>
          <a:bodyPr wrap="none" anchor="ctr"/>
          <a:lstStyle/>
          <a:p>
            <a:endParaRPr lang="de-DE"/>
          </a:p>
        </p:txBody>
      </p:sp>
      <p:sp>
        <p:nvSpPr>
          <p:cNvPr id="26642" name="Text Box 35"/>
          <p:cNvSpPr txBox="1">
            <a:spLocks noChangeArrowheads="1"/>
          </p:cNvSpPr>
          <p:nvPr/>
        </p:nvSpPr>
        <p:spPr bwMode="auto">
          <a:xfrm>
            <a:off x="4746625" y="2344738"/>
            <a:ext cx="676275" cy="519112"/>
          </a:xfrm>
          <a:prstGeom prst="rect">
            <a:avLst/>
          </a:prstGeom>
          <a:noFill/>
          <a:ln w="9525">
            <a:noFill/>
            <a:miter lim="800000"/>
            <a:headEnd/>
            <a:tailEnd/>
          </a:ln>
        </p:spPr>
        <p:txBody>
          <a:bodyPr>
            <a:spAutoFit/>
          </a:bodyPr>
          <a:lstStyle/>
          <a:p>
            <a:pPr algn="ctr"/>
            <a:r>
              <a:rPr lang="de-DE" sz="2000"/>
              <a:t>R</a:t>
            </a:r>
            <a:r>
              <a:rPr lang="de-DE" sz="2800" baseline="-25000"/>
              <a:t>s</a:t>
            </a:r>
            <a:endParaRPr lang="de-DE" sz="2000"/>
          </a:p>
        </p:txBody>
      </p:sp>
      <p:sp>
        <p:nvSpPr>
          <p:cNvPr id="257064" name="Oval 40"/>
          <p:cNvSpPr>
            <a:spLocks noChangeArrowheads="1"/>
          </p:cNvSpPr>
          <p:nvPr/>
        </p:nvSpPr>
        <p:spPr bwMode="auto">
          <a:xfrm rot="5400000">
            <a:off x="6611144" y="3772694"/>
            <a:ext cx="50800" cy="525462"/>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065" name="Rectangle 41"/>
          <p:cNvSpPr>
            <a:spLocks noChangeArrowheads="1"/>
          </p:cNvSpPr>
          <p:nvPr/>
        </p:nvSpPr>
        <p:spPr bwMode="auto">
          <a:xfrm rot="5400000">
            <a:off x="6144419" y="3278982"/>
            <a:ext cx="984250" cy="525462"/>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45" name="Oval 42"/>
          <p:cNvSpPr>
            <a:spLocks noChangeArrowheads="1"/>
          </p:cNvSpPr>
          <p:nvPr/>
        </p:nvSpPr>
        <p:spPr bwMode="auto">
          <a:xfrm rot="5400000">
            <a:off x="6615113" y="2794000"/>
            <a:ext cx="52387" cy="52546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067" name="Rectangle 43"/>
          <p:cNvSpPr>
            <a:spLocks noChangeArrowheads="1"/>
          </p:cNvSpPr>
          <p:nvPr/>
        </p:nvSpPr>
        <p:spPr bwMode="auto">
          <a:xfrm rot="5400000">
            <a:off x="6615113" y="3765550"/>
            <a:ext cx="31750" cy="51117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aphicFrame>
        <p:nvGraphicFramePr>
          <p:cNvPr id="26626" name="Object 429"/>
          <p:cNvGraphicFramePr>
            <a:graphicFrameLocks noChangeAspect="1"/>
          </p:cNvGraphicFramePr>
          <p:nvPr/>
        </p:nvGraphicFramePr>
        <p:xfrm>
          <a:off x="4524375" y="4532313"/>
          <a:ext cx="546100" cy="530225"/>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6626" name="Object 4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4375" y="4532313"/>
                        <a:ext cx="5461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7055" name="Oval 31"/>
          <p:cNvSpPr>
            <a:spLocks noChangeArrowheads="1"/>
          </p:cNvSpPr>
          <p:nvPr/>
        </p:nvSpPr>
        <p:spPr bwMode="auto">
          <a:xfrm rot="1792560">
            <a:off x="5621338" y="2668588"/>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056" name="Rectangle 32"/>
          <p:cNvSpPr>
            <a:spLocks noChangeArrowheads="1"/>
          </p:cNvSpPr>
          <p:nvPr/>
        </p:nvSpPr>
        <p:spPr bwMode="auto">
          <a:xfrm rot="1792560">
            <a:off x="4956175" y="2465388"/>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49" name="Oval 33"/>
          <p:cNvSpPr>
            <a:spLocks noChangeArrowheads="1"/>
          </p:cNvSpPr>
          <p:nvPr/>
        </p:nvSpPr>
        <p:spPr bwMode="auto">
          <a:xfrm rot="1792560">
            <a:off x="4991100" y="2265363"/>
            <a:ext cx="38100" cy="158750"/>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058" name="Rectangle 34"/>
          <p:cNvSpPr>
            <a:spLocks noChangeArrowheads="1"/>
          </p:cNvSpPr>
          <p:nvPr/>
        </p:nvSpPr>
        <p:spPr bwMode="auto">
          <a:xfrm rot="1792560">
            <a:off x="5618163" y="2665413"/>
            <a:ext cx="23812" cy="153987"/>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51" name="Line 456"/>
          <p:cNvSpPr>
            <a:spLocks noChangeShapeType="1"/>
          </p:cNvSpPr>
          <p:nvPr/>
        </p:nvSpPr>
        <p:spPr bwMode="auto">
          <a:xfrm rot="1792560">
            <a:off x="4827588" y="2536825"/>
            <a:ext cx="955675" cy="0"/>
          </a:xfrm>
          <a:prstGeom prst="line">
            <a:avLst/>
          </a:prstGeom>
          <a:noFill/>
          <a:ln w="38100">
            <a:solidFill>
              <a:srgbClr val="FF3300"/>
            </a:solidFill>
            <a:round/>
            <a:headEnd/>
            <a:tailEnd/>
          </a:ln>
        </p:spPr>
        <p:txBody>
          <a:bodyPr/>
          <a:lstStyle/>
          <a:p>
            <a:endParaRPr lang="de-DE"/>
          </a:p>
        </p:txBody>
      </p:sp>
      <p:sp>
        <p:nvSpPr>
          <p:cNvPr id="26652" name="AutoShape 459"/>
          <p:cNvSpPr>
            <a:spLocks noChangeArrowheads="1"/>
          </p:cNvSpPr>
          <p:nvPr/>
        </p:nvSpPr>
        <p:spPr bwMode="auto">
          <a:xfrm>
            <a:off x="5184775" y="1943100"/>
            <a:ext cx="312738" cy="153988"/>
          </a:xfrm>
          <a:prstGeom prst="parallelogram">
            <a:avLst>
              <a:gd name="adj" fmla="val 78238"/>
            </a:avLst>
          </a:prstGeom>
          <a:solidFill>
            <a:srgbClr val="33CCCC"/>
          </a:solidFill>
          <a:ln w="9525">
            <a:noFill/>
            <a:miter lim="800000"/>
            <a:headEnd/>
            <a:tailEnd/>
          </a:ln>
        </p:spPr>
        <p:txBody>
          <a:bodyPr wrap="none" anchor="ctr"/>
          <a:lstStyle/>
          <a:p>
            <a:endParaRPr lang="de-DE"/>
          </a:p>
        </p:txBody>
      </p:sp>
      <p:sp>
        <p:nvSpPr>
          <p:cNvPr id="26653" name="Rectangle 460"/>
          <p:cNvSpPr>
            <a:spLocks noChangeArrowheads="1"/>
          </p:cNvSpPr>
          <p:nvPr/>
        </p:nvSpPr>
        <p:spPr bwMode="auto">
          <a:xfrm>
            <a:off x="5343525" y="1439863"/>
            <a:ext cx="144463" cy="508000"/>
          </a:xfrm>
          <a:prstGeom prst="rect">
            <a:avLst/>
          </a:prstGeom>
          <a:solidFill>
            <a:srgbClr val="33CCCC"/>
          </a:solidFill>
          <a:ln w="9525">
            <a:noFill/>
            <a:miter lim="800000"/>
            <a:headEnd/>
            <a:tailEnd/>
          </a:ln>
        </p:spPr>
        <p:txBody>
          <a:bodyPr wrap="none" anchor="ctr"/>
          <a:lstStyle/>
          <a:p>
            <a:endParaRPr lang="de-DE"/>
          </a:p>
        </p:txBody>
      </p:sp>
      <p:sp>
        <p:nvSpPr>
          <p:cNvPr id="26654" name="Rectangle 461"/>
          <p:cNvSpPr>
            <a:spLocks noChangeArrowheads="1"/>
          </p:cNvSpPr>
          <p:nvPr/>
        </p:nvSpPr>
        <p:spPr bwMode="auto">
          <a:xfrm>
            <a:off x="5186363" y="1584325"/>
            <a:ext cx="198437" cy="508000"/>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6655" name="AutoShape 462"/>
          <p:cNvSpPr>
            <a:spLocks noChangeArrowheads="1"/>
          </p:cNvSpPr>
          <p:nvPr/>
        </p:nvSpPr>
        <p:spPr bwMode="auto">
          <a:xfrm>
            <a:off x="5184775" y="1435100"/>
            <a:ext cx="312738" cy="153988"/>
          </a:xfrm>
          <a:prstGeom prst="parallelogram">
            <a:avLst>
              <a:gd name="adj" fmla="val 78238"/>
            </a:avLst>
          </a:prstGeom>
          <a:solidFill>
            <a:srgbClr val="33CCCC"/>
          </a:solidFill>
          <a:ln w="9525">
            <a:solidFill>
              <a:schemeClr val="tx1"/>
            </a:solidFill>
            <a:miter lim="800000"/>
            <a:headEnd/>
            <a:tailEnd/>
          </a:ln>
        </p:spPr>
        <p:txBody>
          <a:bodyPr wrap="none" anchor="ctr"/>
          <a:lstStyle/>
          <a:p>
            <a:endParaRPr lang="de-DE"/>
          </a:p>
        </p:txBody>
      </p:sp>
      <p:sp>
        <p:nvSpPr>
          <p:cNvPr id="26656" name="Line 463"/>
          <p:cNvSpPr>
            <a:spLocks noChangeShapeType="1"/>
          </p:cNvSpPr>
          <p:nvPr/>
        </p:nvSpPr>
        <p:spPr bwMode="auto">
          <a:xfrm>
            <a:off x="5497513" y="1446213"/>
            <a:ext cx="0" cy="496887"/>
          </a:xfrm>
          <a:prstGeom prst="line">
            <a:avLst/>
          </a:prstGeom>
          <a:noFill/>
          <a:ln w="9525">
            <a:solidFill>
              <a:schemeClr val="tx1"/>
            </a:solidFill>
            <a:round/>
            <a:headEnd/>
            <a:tailEnd/>
          </a:ln>
        </p:spPr>
        <p:txBody>
          <a:bodyPr wrap="none" anchor="ctr"/>
          <a:lstStyle/>
          <a:p>
            <a:endParaRPr lang="de-DE"/>
          </a:p>
        </p:txBody>
      </p:sp>
      <p:sp>
        <p:nvSpPr>
          <p:cNvPr id="26657" name="Line 464"/>
          <p:cNvSpPr>
            <a:spLocks noChangeShapeType="1"/>
          </p:cNvSpPr>
          <p:nvPr/>
        </p:nvSpPr>
        <p:spPr bwMode="auto">
          <a:xfrm flipH="1">
            <a:off x="5384800" y="1943100"/>
            <a:ext cx="112713" cy="149225"/>
          </a:xfrm>
          <a:prstGeom prst="line">
            <a:avLst/>
          </a:prstGeom>
          <a:noFill/>
          <a:ln w="9525">
            <a:solidFill>
              <a:schemeClr val="tx1"/>
            </a:solidFill>
            <a:round/>
            <a:headEnd/>
            <a:tailEnd/>
          </a:ln>
        </p:spPr>
        <p:txBody>
          <a:bodyPr wrap="none" anchor="ctr"/>
          <a:lstStyle/>
          <a:p>
            <a:endParaRPr lang="de-DE"/>
          </a:p>
        </p:txBody>
      </p:sp>
      <p:sp>
        <p:nvSpPr>
          <p:cNvPr id="26658" name="Rectangle 465"/>
          <p:cNvSpPr>
            <a:spLocks noChangeArrowheads="1"/>
          </p:cNvSpPr>
          <p:nvPr/>
        </p:nvSpPr>
        <p:spPr bwMode="auto">
          <a:xfrm>
            <a:off x="5211763" y="1651000"/>
            <a:ext cx="131762" cy="2921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6659" name="Rectangle 466"/>
          <p:cNvSpPr>
            <a:spLocks noChangeArrowheads="1"/>
          </p:cNvSpPr>
          <p:nvPr/>
        </p:nvSpPr>
        <p:spPr bwMode="auto">
          <a:xfrm>
            <a:off x="5230813" y="1739900"/>
            <a:ext cx="100012" cy="101600"/>
          </a:xfrm>
          <a:prstGeom prst="rect">
            <a:avLst/>
          </a:prstGeom>
          <a:solidFill>
            <a:schemeClr val="bg1"/>
          </a:solidFill>
          <a:ln w="9525">
            <a:noFill/>
            <a:miter lim="800000"/>
            <a:headEnd/>
            <a:tailEnd/>
          </a:ln>
        </p:spPr>
        <p:txBody>
          <a:bodyPr wrap="none" anchor="ctr"/>
          <a:lstStyle/>
          <a:p>
            <a:endParaRPr lang="de-DE"/>
          </a:p>
        </p:txBody>
      </p:sp>
      <p:sp>
        <p:nvSpPr>
          <p:cNvPr id="257493" name="Oval 469"/>
          <p:cNvSpPr>
            <a:spLocks noChangeArrowheads="1"/>
          </p:cNvSpPr>
          <p:nvPr/>
        </p:nvSpPr>
        <p:spPr bwMode="auto">
          <a:xfrm rot="2768172">
            <a:off x="6130925" y="2671763"/>
            <a:ext cx="47625" cy="142875"/>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494" name="Rectangle 470"/>
          <p:cNvSpPr>
            <a:spLocks noChangeArrowheads="1"/>
          </p:cNvSpPr>
          <p:nvPr/>
        </p:nvSpPr>
        <p:spPr bwMode="auto">
          <a:xfrm rot="2768172">
            <a:off x="5409407" y="2339181"/>
            <a:ext cx="915988" cy="142875"/>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62" name="Oval 471"/>
          <p:cNvSpPr>
            <a:spLocks noChangeArrowheads="1"/>
          </p:cNvSpPr>
          <p:nvPr/>
        </p:nvSpPr>
        <p:spPr bwMode="auto">
          <a:xfrm rot="2768172">
            <a:off x="5561013" y="2012950"/>
            <a:ext cx="47625" cy="142875"/>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496" name="Rectangle 472"/>
          <p:cNvSpPr>
            <a:spLocks noChangeArrowheads="1"/>
          </p:cNvSpPr>
          <p:nvPr/>
        </p:nvSpPr>
        <p:spPr bwMode="auto">
          <a:xfrm rot="2768172">
            <a:off x="6130925" y="2663825"/>
            <a:ext cx="30163" cy="138113"/>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64" name="Line 473"/>
          <p:cNvSpPr>
            <a:spLocks noChangeShapeType="1"/>
          </p:cNvSpPr>
          <p:nvPr/>
        </p:nvSpPr>
        <p:spPr bwMode="auto">
          <a:xfrm rot="2768172">
            <a:off x="5253037" y="2395538"/>
            <a:ext cx="1196975" cy="0"/>
          </a:xfrm>
          <a:prstGeom prst="line">
            <a:avLst/>
          </a:prstGeom>
          <a:noFill/>
          <a:ln w="38100">
            <a:solidFill>
              <a:srgbClr val="FF3300"/>
            </a:solidFill>
            <a:round/>
            <a:headEnd/>
            <a:tailEnd/>
          </a:ln>
        </p:spPr>
        <p:txBody>
          <a:bodyPr/>
          <a:lstStyle/>
          <a:p>
            <a:endParaRPr lang="de-DE"/>
          </a:p>
        </p:txBody>
      </p:sp>
      <p:sp>
        <p:nvSpPr>
          <p:cNvPr id="257500" name="Oval 476"/>
          <p:cNvSpPr>
            <a:spLocks noChangeArrowheads="1"/>
          </p:cNvSpPr>
          <p:nvPr/>
        </p:nvSpPr>
        <p:spPr bwMode="auto">
          <a:xfrm rot="19807440" flipH="1">
            <a:off x="5084763" y="4521200"/>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501" name="Rectangle 477"/>
          <p:cNvSpPr>
            <a:spLocks noChangeArrowheads="1"/>
          </p:cNvSpPr>
          <p:nvPr/>
        </p:nvSpPr>
        <p:spPr bwMode="auto">
          <a:xfrm rot="19807440" flipH="1">
            <a:off x="5057775" y="4318000"/>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67" name="Oval 478"/>
          <p:cNvSpPr>
            <a:spLocks noChangeArrowheads="1"/>
          </p:cNvSpPr>
          <p:nvPr/>
        </p:nvSpPr>
        <p:spPr bwMode="auto">
          <a:xfrm rot="19807440" flipH="1">
            <a:off x="5716588" y="4117975"/>
            <a:ext cx="36512" cy="158750"/>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503" name="Rectangle 479"/>
          <p:cNvSpPr>
            <a:spLocks noChangeArrowheads="1"/>
          </p:cNvSpPr>
          <p:nvPr/>
        </p:nvSpPr>
        <p:spPr bwMode="auto">
          <a:xfrm rot="19807440" flipH="1">
            <a:off x="5100638" y="4518025"/>
            <a:ext cx="23812" cy="153988"/>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69" name="Line 480"/>
          <p:cNvSpPr>
            <a:spLocks noChangeShapeType="1"/>
          </p:cNvSpPr>
          <p:nvPr/>
        </p:nvSpPr>
        <p:spPr bwMode="auto">
          <a:xfrm rot="19807440" flipH="1">
            <a:off x="4962525" y="4389438"/>
            <a:ext cx="955675" cy="0"/>
          </a:xfrm>
          <a:prstGeom prst="line">
            <a:avLst/>
          </a:prstGeom>
          <a:noFill/>
          <a:ln w="38100">
            <a:solidFill>
              <a:srgbClr val="FF3300"/>
            </a:solidFill>
            <a:round/>
            <a:headEnd/>
            <a:tailEnd type="triangle" w="med" len="med"/>
          </a:ln>
        </p:spPr>
        <p:txBody>
          <a:bodyPr/>
          <a:lstStyle/>
          <a:p>
            <a:endParaRPr lang="de-DE"/>
          </a:p>
        </p:txBody>
      </p:sp>
      <p:sp>
        <p:nvSpPr>
          <p:cNvPr id="257507" name="Oval 483"/>
          <p:cNvSpPr>
            <a:spLocks noChangeArrowheads="1"/>
          </p:cNvSpPr>
          <p:nvPr/>
        </p:nvSpPr>
        <p:spPr bwMode="auto">
          <a:xfrm rot="18831828" flipV="1">
            <a:off x="6338888" y="4294188"/>
            <a:ext cx="47625" cy="142875"/>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508" name="Rectangle 484"/>
          <p:cNvSpPr>
            <a:spLocks noChangeArrowheads="1"/>
          </p:cNvSpPr>
          <p:nvPr/>
        </p:nvSpPr>
        <p:spPr bwMode="auto">
          <a:xfrm rot="18831828" flipV="1">
            <a:off x="5616575" y="4625975"/>
            <a:ext cx="917575" cy="142875"/>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72" name="Oval 485"/>
          <p:cNvSpPr>
            <a:spLocks noChangeArrowheads="1"/>
          </p:cNvSpPr>
          <p:nvPr/>
        </p:nvSpPr>
        <p:spPr bwMode="auto">
          <a:xfrm rot="18831828" flipV="1">
            <a:off x="5770563" y="4953000"/>
            <a:ext cx="47625" cy="142875"/>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510" name="Rectangle 486"/>
          <p:cNvSpPr>
            <a:spLocks noChangeArrowheads="1"/>
          </p:cNvSpPr>
          <p:nvPr/>
        </p:nvSpPr>
        <p:spPr bwMode="auto">
          <a:xfrm rot="18831828" flipV="1">
            <a:off x="6338888" y="4303713"/>
            <a:ext cx="30162" cy="138112"/>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74" name="Line 487"/>
          <p:cNvSpPr>
            <a:spLocks noChangeShapeType="1"/>
          </p:cNvSpPr>
          <p:nvPr/>
        </p:nvSpPr>
        <p:spPr bwMode="auto">
          <a:xfrm rot="18831828" flipV="1">
            <a:off x="5461000" y="4711701"/>
            <a:ext cx="1196975" cy="0"/>
          </a:xfrm>
          <a:prstGeom prst="line">
            <a:avLst/>
          </a:prstGeom>
          <a:noFill/>
          <a:ln w="38100">
            <a:solidFill>
              <a:srgbClr val="FF3300"/>
            </a:solidFill>
            <a:round/>
            <a:headEnd type="triangle" w="med" len="med"/>
            <a:tailEnd/>
          </a:ln>
        </p:spPr>
        <p:txBody>
          <a:bodyPr/>
          <a:lstStyle/>
          <a:p>
            <a:endParaRPr lang="de-DE"/>
          </a:p>
        </p:txBody>
      </p:sp>
      <p:graphicFrame>
        <p:nvGraphicFramePr>
          <p:cNvPr id="26627" name="Object 488"/>
          <p:cNvGraphicFramePr>
            <a:graphicFrameLocks noChangeAspect="1"/>
          </p:cNvGraphicFramePr>
          <p:nvPr/>
        </p:nvGraphicFramePr>
        <p:xfrm>
          <a:off x="5189538" y="4987925"/>
          <a:ext cx="544512" cy="530225"/>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6627" name="Object 4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9538" y="4987925"/>
                        <a:ext cx="544512"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75" name="AutoShape 490"/>
          <p:cNvSpPr>
            <a:spLocks noChangeArrowheads="1"/>
          </p:cNvSpPr>
          <p:nvPr/>
        </p:nvSpPr>
        <p:spPr bwMode="auto">
          <a:xfrm>
            <a:off x="8074025" y="2266950"/>
            <a:ext cx="314325" cy="153988"/>
          </a:xfrm>
          <a:prstGeom prst="parallelogram">
            <a:avLst>
              <a:gd name="adj" fmla="val 78635"/>
            </a:avLst>
          </a:prstGeom>
          <a:solidFill>
            <a:srgbClr val="33CCCC"/>
          </a:solidFill>
          <a:ln w="9525">
            <a:noFill/>
            <a:miter lim="800000"/>
            <a:headEnd/>
            <a:tailEnd/>
          </a:ln>
        </p:spPr>
        <p:txBody>
          <a:bodyPr wrap="none" anchor="ctr"/>
          <a:lstStyle/>
          <a:p>
            <a:endParaRPr lang="de-DE"/>
          </a:p>
        </p:txBody>
      </p:sp>
      <p:sp>
        <p:nvSpPr>
          <p:cNvPr id="26676" name="Rectangle 491"/>
          <p:cNvSpPr>
            <a:spLocks noChangeArrowheads="1"/>
          </p:cNvSpPr>
          <p:nvPr/>
        </p:nvSpPr>
        <p:spPr bwMode="auto">
          <a:xfrm>
            <a:off x="8232775" y="1763713"/>
            <a:ext cx="144463" cy="508000"/>
          </a:xfrm>
          <a:prstGeom prst="rect">
            <a:avLst/>
          </a:prstGeom>
          <a:solidFill>
            <a:srgbClr val="33CCCC"/>
          </a:solidFill>
          <a:ln w="9525">
            <a:noFill/>
            <a:miter lim="800000"/>
            <a:headEnd/>
            <a:tailEnd/>
          </a:ln>
        </p:spPr>
        <p:txBody>
          <a:bodyPr wrap="none" anchor="ctr"/>
          <a:lstStyle/>
          <a:p>
            <a:endParaRPr lang="de-DE"/>
          </a:p>
        </p:txBody>
      </p:sp>
      <p:sp>
        <p:nvSpPr>
          <p:cNvPr id="26677" name="Rectangle 492"/>
          <p:cNvSpPr>
            <a:spLocks noChangeArrowheads="1"/>
          </p:cNvSpPr>
          <p:nvPr/>
        </p:nvSpPr>
        <p:spPr bwMode="auto">
          <a:xfrm>
            <a:off x="8075613" y="1908175"/>
            <a:ext cx="200025" cy="508000"/>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6678" name="AutoShape 493"/>
          <p:cNvSpPr>
            <a:spLocks noChangeArrowheads="1"/>
          </p:cNvSpPr>
          <p:nvPr/>
        </p:nvSpPr>
        <p:spPr bwMode="auto">
          <a:xfrm>
            <a:off x="8074025" y="1758950"/>
            <a:ext cx="314325" cy="153988"/>
          </a:xfrm>
          <a:prstGeom prst="parallelogram">
            <a:avLst>
              <a:gd name="adj" fmla="val 78635"/>
            </a:avLst>
          </a:prstGeom>
          <a:solidFill>
            <a:srgbClr val="33CCCC"/>
          </a:solidFill>
          <a:ln w="9525">
            <a:solidFill>
              <a:schemeClr val="tx1"/>
            </a:solidFill>
            <a:miter lim="800000"/>
            <a:headEnd/>
            <a:tailEnd/>
          </a:ln>
        </p:spPr>
        <p:txBody>
          <a:bodyPr wrap="none" anchor="ctr"/>
          <a:lstStyle/>
          <a:p>
            <a:endParaRPr lang="de-DE"/>
          </a:p>
        </p:txBody>
      </p:sp>
      <p:sp>
        <p:nvSpPr>
          <p:cNvPr id="26679" name="Line 494"/>
          <p:cNvSpPr>
            <a:spLocks noChangeShapeType="1"/>
          </p:cNvSpPr>
          <p:nvPr/>
        </p:nvSpPr>
        <p:spPr bwMode="auto">
          <a:xfrm>
            <a:off x="8388350" y="1770063"/>
            <a:ext cx="0" cy="496887"/>
          </a:xfrm>
          <a:prstGeom prst="line">
            <a:avLst/>
          </a:prstGeom>
          <a:noFill/>
          <a:ln w="9525">
            <a:solidFill>
              <a:schemeClr val="tx1"/>
            </a:solidFill>
            <a:round/>
            <a:headEnd/>
            <a:tailEnd/>
          </a:ln>
        </p:spPr>
        <p:txBody>
          <a:bodyPr wrap="none" anchor="ctr"/>
          <a:lstStyle/>
          <a:p>
            <a:endParaRPr lang="de-DE"/>
          </a:p>
        </p:txBody>
      </p:sp>
      <p:sp>
        <p:nvSpPr>
          <p:cNvPr id="26680" name="Line 495"/>
          <p:cNvSpPr>
            <a:spLocks noChangeShapeType="1"/>
          </p:cNvSpPr>
          <p:nvPr/>
        </p:nvSpPr>
        <p:spPr bwMode="auto">
          <a:xfrm flipH="1">
            <a:off x="8275638" y="2266950"/>
            <a:ext cx="112712" cy="149225"/>
          </a:xfrm>
          <a:prstGeom prst="line">
            <a:avLst/>
          </a:prstGeom>
          <a:noFill/>
          <a:ln w="9525">
            <a:solidFill>
              <a:schemeClr val="tx1"/>
            </a:solidFill>
            <a:round/>
            <a:headEnd/>
            <a:tailEnd/>
          </a:ln>
        </p:spPr>
        <p:txBody>
          <a:bodyPr wrap="none" anchor="ctr"/>
          <a:lstStyle/>
          <a:p>
            <a:endParaRPr lang="de-DE"/>
          </a:p>
        </p:txBody>
      </p:sp>
      <p:sp>
        <p:nvSpPr>
          <p:cNvPr id="26681" name="Rectangle 496"/>
          <p:cNvSpPr>
            <a:spLocks noChangeArrowheads="1"/>
          </p:cNvSpPr>
          <p:nvPr/>
        </p:nvSpPr>
        <p:spPr bwMode="auto">
          <a:xfrm>
            <a:off x="8102600" y="1974850"/>
            <a:ext cx="130175" cy="2921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6682" name="Rectangle 497"/>
          <p:cNvSpPr>
            <a:spLocks noChangeArrowheads="1"/>
          </p:cNvSpPr>
          <p:nvPr/>
        </p:nvSpPr>
        <p:spPr bwMode="auto">
          <a:xfrm>
            <a:off x="8120063" y="2063750"/>
            <a:ext cx="100012" cy="101600"/>
          </a:xfrm>
          <a:prstGeom prst="rect">
            <a:avLst/>
          </a:prstGeom>
          <a:solidFill>
            <a:schemeClr val="bg1"/>
          </a:solidFill>
          <a:ln w="9525">
            <a:noFill/>
            <a:miter lim="800000"/>
            <a:headEnd/>
            <a:tailEnd/>
          </a:ln>
        </p:spPr>
        <p:txBody>
          <a:bodyPr wrap="none" anchor="ctr"/>
          <a:lstStyle/>
          <a:p>
            <a:endParaRPr lang="de-DE"/>
          </a:p>
        </p:txBody>
      </p:sp>
      <p:sp>
        <p:nvSpPr>
          <p:cNvPr id="257524" name="Oval 500"/>
          <p:cNvSpPr>
            <a:spLocks noChangeArrowheads="1"/>
          </p:cNvSpPr>
          <p:nvPr/>
        </p:nvSpPr>
        <p:spPr bwMode="auto">
          <a:xfrm rot="19807440" flipH="1">
            <a:off x="7291388" y="2640013"/>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525" name="Rectangle 501"/>
          <p:cNvSpPr>
            <a:spLocks noChangeArrowheads="1"/>
          </p:cNvSpPr>
          <p:nvPr/>
        </p:nvSpPr>
        <p:spPr bwMode="auto">
          <a:xfrm rot="19807440" flipH="1">
            <a:off x="7264400" y="2436813"/>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85" name="Oval 502"/>
          <p:cNvSpPr>
            <a:spLocks noChangeArrowheads="1"/>
          </p:cNvSpPr>
          <p:nvPr/>
        </p:nvSpPr>
        <p:spPr bwMode="auto">
          <a:xfrm rot="19807440" flipH="1">
            <a:off x="7923213" y="2236788"/>
            <a:ext cx="36512" cy="158750"/>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527" name="Rectangle 503"/>
          <p:cNvSpPr>
            <a:spLocks noChangeArrowheads="1"/>
          </p:cNvSpPr>
          <p:nvPr/>
        </p:nvSpPr>
        <p:spPr bwMode="auto">
          <a:xfrm rot="19807440" flipH="1">
            <a:off x="7307263" y="2636838"/>
            <a:ext cx="25400" cy="153987"/>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87" name="Line 504"/>
          <p:cNvSpPr>
            <a:spLocks noChangeShapeType="1"/>
          </p:cNvSpPr>
          <p:nvPr/>
        </p:nvSpPr>
        <p:spPr bwMode="auto">
          <a:xfrm rot="19807440" flipH="1">
            <a:off x="7169150" y="2508250"/>
            <a:ext cx="955675" cy="0"/>
          </a:xfrm>
          <a:prstGeom prst="line">
            <a:avLst/>
          </a:prstGeom>
          <a:noFill/>
          <a:ln w="38100">
            <a:solidFill>
              <a:srgbClr val="FF3300"/>
            </a:solidFill>
            <a:round/>
            <a:headEnd/>
            <a:tailEnd/>
          </a:ln>
        </p:spPr>
        <p:txBody>
          <a:bodyPr/>
          <a:lstStyle/>
          <a:p>
            <a:endParaRPr lang="de-DE"/>
          </a:p>
        </p:txBody>
      </p:sp>
      <p:sp>
        <p:nvSpPr>
          <p:cNvPr id="257531" name="Oval 507"/>
          <p:cNvSpPr>
            <a:spLocks noChangeArrowheads="1"/>
          </p:cNvSpPr>
          <p:nvPr/>
        </p:nvSpPr>
        <p:spPr bwMode="auto">
          <a:xfrm rot="1792560">
            <a:off x="8048625" y="4600575"/>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532" name="Rectangle 508"/>
          <p:cNvSpPr>
            <a:spLocks noChangeArrowheads="1"/>
          </p:cNvSpPr>
          <p:nvPr/>
        </p:nvSpPr>
        <p:spPr bwMode="auto">
          <a:xfrm rot="1792560">
            <a:off x="7381875" y="4395788"/>
            <a:ext cx="731838"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90" name="Oval 509"/>
          <p:cNvSpPr>
            <a:spLocks noChangeArrowheads="1"/>
          </p:cNvSpPr>
          <p:nvPr/>
        </p:nvSpPr>
        <p:spPr bwMode="auto">
          <a:xfrm rot="1792560">
            <a:off x="7416800" y="4195763"/>
            <a:ext cx="38100" cy="158750"/>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534" name="Rectangle 510"/>
          <p:cNvSpPr>
            <a:spLocks noChangeArrowheads="1"/>
          </p:cNvSpPr>
          <p:nvPr/>
        </p:nvSpPr>
        <p:spPr bwMode="auto">
          <a:xfrm rot="1792560">
            <a:off x="8043863" y="4597400"/>
            <a:ext cx="25400" cy="152400"/>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92" name="Line 511"/>
          <p:cNvSpPr>
            <a:spLocks noChangeShapeType="1"/>
          </p:cNvSpPr>
          <p:nvPr/>
        </p:nvSpPr>
        <p:spPr bwMode="auto">
          <a:xfrm rot="1792560">
            <a:off x="7243763" y="4495800"/>
            <a:ext cx="1062037" cy="12700"/>
          </a:xfrm>
          <a:prstGeom prst="line">
            <a:avLst/>
          </a:prstGeom>
          <a:noFill/>
          <a:ln w="38100">
            <a:solidFill>
              <a:srgbClr val="FF3300"/>
            </a:solidFill>
            <a:round/>
            <a:headEnd/>
            <a:tailEnd type="triangle" w="med" len="med"/>
          </a:ln>
        </p:spPr>
        <p:txBody>
          <a:bodyPr/>
          <a:lstStyle/>
          <a:p>
            <a:endParaRPr lang="de-DE"/>
          </a:p>
        </p:txBody>
      </p:sp>
      <p:graphicFrame>
        <p:nvGraphicFramePr>
          <p:cNvPr id="26628" name="Object 512"/>
          <p:cNvGraphicFramePr>
            <a:graphicFrameLocks noChangeAspect="1"/>
          </p:cNvGraphicFramePr>
          <p:nvPr/>
        </p:nvGraphicFramePr>
        <p:xfrm>
          <a:off x="8077200" y="4799013"/>
          <a:ext cx="546100" cy="530225"/>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26628" name="Object 5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4799013"/>
                        <a:ext cx="5461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93" name="Text Box 513"/>
          <p:cNvSpPr txBox="1">
            <a:spLocks noChangeArrowheads="1"/>
          </p:cNvSpPr>
          <p:nvPr/>
        </p:nvSpPr>
        <p:spPr bwMode="auto">
          <a:xfrm>
            <a:off x="5716588" y="1903413"/>
            <a:ext cx="676275" cy="519112"/>
          </a:xfrm>
          <a:prstGeom prst="rect">
            <a:avLst/>
          </a:prstGeom>
          <a:noFill/>
          <a:ln w="9525">
            <a:noFill/>
            <a:miter lim="800000"/>
            <a:headEnd/>
            <a:tailEnd/>
          </a:ln>
        </p:spPr>
        <p:txBody>
          <a:bodyPr>
            <a:spAutoFit/>
          </a:bodyPr>
          <a:lstStyle/>
          <a:p>
            <a:pPr algn="ctr"/>
            <a:r>
              <a:rPr lang="de-DE" sz="2000"/>
              <a:t>R</a:t>
            </a:r>
            <a:r>
              <a:rPr lang="de-DE" sz="2800" baseline="-25000"/>
              <a:t>s</a:t>
            </a:r>
            <a:endParaRPr lang="de-DE" sz="2000"/>
          </a:p>
        </p:txBody>
      </p:sp>
      <p:sp>
        <p:nvSpPr>
          <p:cNvPr id="26694" name="Text Box 514"/>
          <p:cNvSpPr txBox="1">
            <a:spLocks noChangeArrowheads="1"/>
          </p:cNvSpPr>
          <p:nvPr/>
        </p:nvSpPr>
        <p:spPr bwMode="auto">
          <a:xfrm>
            <a:off x="7543800" y="2411413"/>
            <a:ext cx="676275" cy="519112"/>
          </a:xfrm>
          <a:prstGeom prst="rect">
            <a:avLst/>
          </a:prstGeom>
          <a:noFill/>
          <a:ln w="9525">
            <a:noFill/>
            <a:miter lim="800000"/>
            <a:headEnd/>
            <a:tailEnd/>
          </a:ln>
        </p:spPr>
        <p:txBody>
          <a:bodyPr>
            <a:spAutoFit/>
          </a:bodyPr>
          <a:lstStyle/>
          <a:p>
            <a:pPr algn="ctr"/>
            <a:r>
              <a:rPr lang="de-DE" sz="2000"/>
              <a:t>R</a:t>
            </a:r>
            <a:r>
              <a:rPr lang="de-DE" sz="2800" baseline="-25000"/>
              <a:t>s</a:t>
            </a:r>
            <a:endParaRPr lang="de-DE" sz="2000"/>
          </a:p>
        </p:txBody>
      </p:sp>
      <p:sp>
        <p:nvSpPr>
          <p:cNvPr id="26695" name="Freeform 515"/>
          <p:cNvSpPr>
            <a:spLocks/>
          </p:cNvSpPr>
          <p:nvPr/>
        </p:nvSpPr>
        <p:spPr bwMode="auto">
          <a:xfrm>
            <a:off x="5710238" y="2771775"/>
            <a:ext cx="800100" cy="1381125"/>
          </a:xfrm>
          <a:custGeom>
            <a:avLst/>
            <a:gdLst>
              <a:gd name="T0" fmla="*/ 0 w 504"/>
              <a:gd name="T1" fmla="*/ 0 h 870"/>
              <a:gd name="T2" fmla="*/ 204788 w 504"/>
              <a:gd name="T3" fmla="*/ 100012 h 870"/>
              <a:gd name="T4" fmla="*/ 474663 w 504"/>
              <a:gd name="T5" fmla="*/ 177800 h 870"/>
              <a:gd name="T6" fmla="*/ 622300 w 504"/>
              <a:gd name="T7" fmla="*/ 192087 h 870"/>
              <a:gd name="T8" fmla="*/ 760413 w 504"/>
              <a:gd name="T9" fmla="*/ 230188 h 870"/>
              <a:gd name="T10" fmla="*/ 777875 w 504"/>
              <a:gd name="T11" fmla="*/ 1225550 h 870"/>
              <a:gd name="T12" fmla="*/ 644525 w 504"/>
              <a:gd name="T13" fmla="*/ 1331913 h 870"/>
              <a:gd name="T14" fmla="*/ 454025 w 504"/>
              <a:gd name="T15" fmla="*/ 1322388 h 870"/>
              <a:gd name="T16" fmla="*/ 304800 w 504"/>
              <a:gd name="T17" fmla="*/ 1314450 h 870"/>
              <a:gd name="T18" fmla="*/ 133350 w 504"/>
              <a:gd name="T19" fmla="*/ 1381125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p:spPr>
        <p:txBody>
          <a:bodyPr/>
          <a:lstStyle/>
          <a:p>
            <a:endParaRPr lang="de-DE"/>
          </a:p>
        </p:txBody>
      </p:sp>
      <p:sp>
        <p:nvSpPr>
          <p:cNvPr id="26696" name="Text Box 516"/>
          <p:cNvSpPr txBox="1">
            <a:spLocks noChangeArrowheads="1"/>
          </p:cNvSpPr>
          <p:nvPr/>
        </p:nvSpPr>
        <p:spPr bwMode="auto">
          <a:xfrm>
            <a:off x="4724400" y="3960813"/>
            <a:ext cx="674688" cy="519112"/>
          </a:xfrm>
          <a:prstGeom prst="rect">
            <a:avLst/>
          </a:prstGeom>
          <a:noFill/>
          <a:ln w="9525">
            <a:noFill/>
            <a:miter lim="800000"/>
            <a:headEnd/>
            <a:tailEnd/>
          </a:ln>
        </p:spPr>
        <p:txBody>
          <a:bodyPr>
            <a:spAutoFit/>
          </a:bodyPr>
          <a:lstStyle/>
          <a:p>
            <a:pPr algn="ctr"/>
            <a:r>
              <a:rPr lang="de-DE" sz="2000"/>
              <a:t>R</a:t>
            </a:r>
            <a:r>
              <a:rPr lang="de-DE" sz="2800" baseline="-25000"/>
              <a:t>c</a:t>
            </a:r>
            <a:endParaRPr lang="de-DE" sz="2000"/>
          </a:p>
        </p:txBody>
      </p:sp>
      <p:sp>
        <p:nvSpPr>
          <p:cNvPr id="26697" name="Freeform 517"/>
          <p:cNvSpPr>
            <a:spLocks/>
          </p:cNvSpPr>
          <p:nvPr/>
        </p:nvSpPr>
        <p:spPr bwMode="auto">
          <a:xfrm>
            <a:off x="6173788" y="2749550"/>
            <a:ext cx="431800" cy="1570038"/>
          </a:xfrm>
          <a:custGeom>
            <a:avLst/>
            <a:gdLst>
              <a:gd name="T0" fmla="*/ 0 w 272"/>
              <a:gd name="T1" fmla="*/ 0 h 989"/>
              <a:gd name="T2" fmla="*/ 146050 w 272"/>
              <a:gd name="T3" fmla="*/ 127000 h 989"/>
              <a:gd name="T4" fmla="*/ 407988 w 272"/>
              <a:gd name="T5" fmla="*/ 233363 h 989"/>
              <a:gd name="T6" fmla="*/ 425450 w 272"/>
              <a:gd name="T7" fmla="*/ 1228725 h 989"/>
              <a:gd name="T8" fmla="*/ 407988 w 272"/>
              <a:gd name="T9" fmla="*/ 1389063 h 989"/>
              <a:gd name="T10" fmla="*/ 384175 w 272"/>
              <a:gd name="T11" fmla="*/ 1441450 h 989"/>
              <a:gd name="T12" fmla="*/ 265112 w 272"/>
              <a:gd name="T13" fmla="*/ 1570038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p:spPr>
        <p:txBody>
          <a:bodyPr/>
          <a:lstStyle/>
          <a:p>
            <a:endParaRPr lang="de-DE"/>
          </a:p>
        </p:txBody>
      </p:sp>
      <p:sp>
        <p:nvSpPr>
          <p:cNvPr id="26698" name="Freeform 518"/>
          <p:cNvSpPr>
            <a:spLocks/>
          </p:cNvSpPr>
          <p:nvPr/>
        </p:nvSpPr>
        <p:spPr bwMode="auto">
          <a:xfrm>
            <a:off x="6757988" y="2733675"/>
            <a:ext cx="638175" cy="1538288"/>
          </a:xfrm>
          <a:custGeom>
            <a:avLst/>
            <a:gdLst>
              <a:gd name="T0" fmla="*/ 485775 w 402"/>
              <a:gd name="T1" fmla="*/ 0 h 969"/>
              <a:gd name="T2" fmla="*/ 381000 w 402"/>
              <a:gd name="T3" fmla="*/ 57150 h 969"/>
              <a:gd name="T4" fmla="*/ 276225 w 402"/>
              <a:gd name="T5" fmla="*/ 114300 h 969"/>
              <a:gd name="T6" fmla="*/ 142875 w 402"/>
              <a:gd name="T7" fmla="*/ 188913 h 969"/>
              <a:gd name="T8" fmla="*/ 39688 w 402"/>
              <a:gd name="T9" fmla="*/ 282575 h 969"/>
              <a:gd name="T10" fmla="*/ 22225 w 402"/>
              <a:gd name="T11" fmla="*/ 1276350 h 969"/>
              <a:gd name="T12" fmla="*/ 155575 w 402"/>
              <a:gd name="T13" fmla="*/ 1382713 h 969"/>
              <a:gd name="T14" fmla="*/ 414338 w 402"/>
              <a:gd name="T15" fmla="*/ 1428750 h 969"/>
              <a:gd name="T16" fmla="*/ 638175 w 402"/>
              <a:gd name="T17" fmla="*/ 1538288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p:spPr>
        <p:txBody>
          <a:bodyPr/>
          <a:lstStyle/>
          <a:p>
            <a:endParaRPr lang="de-DE"/>
          </a:p>
        </p:txBody>
      </p:sp>
      <p:sp>
        <p:nvSpPr>
          <p:cNvPr id="26699" name="Text Box 519"/>
          <p:cNvSpPr txBox="1">
            <a:spLocks noChangeArrowheads="1"/>
          </p:cNvSpPr>
          <p:nvPr/>
        </p:nvSpPr>
        <p:spPr bwMode="auto">
          <a:xfrm>
            <a:off x="5983288" y="4498975"/>
            <a:ext cx="676275" cy="519113"/>
          </a:xfrm>
          <a:prstGeom prst="rect">
            <a:avLst/>
          </a:prstGeom>
          <a:noFill/>
          <a:ln w="9525">
            <a:noFill/>
            <a:miter lim="800000"/>
            <a:headEnd/>
            <a:tailEnd/>
          </a:ln>
        </p:spPr>
        <p:txBody>
          <a:bodyPr>
            <a:spAutoFit/>
          </a:bodyPr>
          <a:lstStyle/>
          <a:p>
            <a:pPr algn="ctr"/>
            <a:r>
              <a:rPr lang="de-DE" sz="2000"/>
              <a:t>R</a:t>
            </a:r>
            <a:r>
              <a:rPr lang="de-DE" sz="2800" baseline="-25000"/>
              <a:t>c</a:t>
            </a:r>
            <a:endParaRPr lang="de-DE" sz="2000"/>
          </a:p>
        </p:txBody>
      </p:sp>
      <p:sp>
        <p:nvSpPr>
          <p:cNvPr id="26700" name="Text Box 520"/>
          <p:cNvSpPr txBox="1">
            <a:spLocks noChangeArrowheads="1"/>
          </p:cNvSpPr>
          <p:nvPr/>
        </p:nvSpPr>
        <p:spPr bwMode="auto">
          <a:xfrm>
            <a:off x="7670800" y="3986213"/>
            <a:ext cx="674688" cy="519112"/>
          </a:xfrm>
          <a:prstGeom prst="rect">
            <a:avLst/>
          </a:prstGeom>
          <a:noFill/>
          <a:ln w="9525">
            <a:noFill/>
            <a:miter lim="800000"/>
            <a:headEnd/>
            <a:tailEnd/>
          </a:ln>
        </p:spPr>
        <p:txBody>
          <a:bodyPr>
            <a:spAutoFit/>
          </a:bodyPr>
          <a:lstStyle/>
          <a:p>
            <a:pPr algn="ctr"/>
            <a:r>
              <a:rPr lang="de-DE" sz="2000"/>
              <a:t>R</a:t>
            </a:r>
            <a:r>
              <a:rPr lang="de-DE" sz="2800" baseline="-25000"/>
              <a:t>c</a:t>
            </a:r>
            <a:endParaRPr lang="de-DE" sz="2000"/>
          </a:p>
        </p:txBody>
      </p:sp>
      <p:sp>
        <p:nvSpPr>
          <p:cNvPr id="26701" name="Text Box 521"/>
          <p:cNvSpPr txBox="1">
            <a:spLocks noChangeArrowheads="1"/>
          </p:cNvSpPr>
          <p:nvPr/>
        </p:nvSpPr>
        <p:spPr bwMode="auto">
          <a:xfrm>
            <a:off x="6699250" y="3357563"/>
            <a:ext cx="676275" cy="396875"/>
          </a:xfrm>
          <a:prstGeom prst="rect">
            <a:avLst/>
          </a:prstGeom>
          <a:noFill/>
          <a:ln w="9525">
            <a:noFill/>
            <a:miter lim="800000"/>
            <a:headEnd/>
            <a:tailEnd/>
          </a:ln>
        </p:spPr>
        <p:txBody>
          <a:bodyPr>
            <a:spAutoFit/>
          </a:bodyPr>
          <a:lstStyle/>
          <a:p>
            <a:pPr algn="ctr"/>
            <a:r>
              <a:rPr lang="de-DE" sz="2000"/>
              <a:t>R</a:t>
            </a:r>
          </a:p>
        </p:txBody>
      </p:sp>
      <p:sp>
        <p:nvSpPr>
          <p:cNvPr id="26702" name="Rectangle 523"/>
          <p:cNvSpPr>
            <a:spLocks noGrp="1" noChangeArrowheads="1"/>
          </p:cNvSpPr>
          <p:nvPr>
            <p:ph type="body" idx="1"/>
          </p:nvPr>
        </p:nvSpPr>
        <p:spPr>
          <a:xfrm>
            <a:off x="539551" y="1268760"/>
            <a:ext cx="3834011" cy="4824536"/>
          </a:xfrm>
        </p:spPr>
        <p:txBody>
          <a:bodyPr>
            <a:normAutofit/>
          </a:bodyPr>
          <a:lstStyle/>
          <a:p>
            <a:r>
              <a:rPr lang="de-DE" dirty="0"/>
              <a:t>Der Ende-zu-Ende Durchsatz nach dem obigen Modell müsste sein: min(R</a:t>
            </a:r>
            <a:r>
              <a:rPr lang="de-DE" baseline="-25000" dirty="0"/>
              <a:t>c</a:t>
            </a:r>
            <a:r>
              <a:rPr lang="de-DE" dirty="0"/>
              <a:t>, R</a:t>
            </a:r>
            <a:r>
              <a:rPr lang="de-DE" baseline="-25000" dirty="0"/>
              <a:t>s</a:t>
            </a:r>
            <a:r>
              <a:rPr lang="de-DE" dirty="0"/>
              <a:t>, R/10)</a:t>
            </a:r>
          </a:p>
          <a:p>
            <a:r>
              <a:rPr lang="de-DE" dirty="0"/>
              <a:t>In der Praxis: </a:t>
            </a:r>
            <a:r>
              <a:rPr lang="de-DE" dirty="0" err="1"/>
              <a:t>R</a:t>
            </a:r>
            <a:r>
              <a:rPr lang="de-DE" baseline="-25000" dirty="0" err="1"/>
              <a:t>c</a:t>
            </a:r>
            <a:r>
              <a:rPr lang="de-DE" dirty="0"/>
              <a:t> </a:t>
            </a:r>
            <a:r>
              <a:rPr lang="de-DE" dirty="0" err="1"/>
              <a:t>or</a:t>
            </a:r>
            <a:r>
              <a:rPr lang="de-DE" dirty="0"/>
              <a:t> R</a:t>
            </a:r>
            <a:r>
              <a:rPr lang="de-DE" baseline="-25000" dirty="0"/>
              <a:t>s</a:t>
            </a:r>
            <a:r>
              <a:rPr lang="de-DE" dirty="0"/>
              <a:t> ist häufig der Flaschenhals</a:t>
            </a:r>
          </a:p>
          <a:p>
            <a:r>
              <a:rPr lang="de-DE" dirty="0"/>
              <a:t>=&gt; Zugangsnetzwerke sind oft das Problem</a:t>
            </a:r>
          </a:p>
        </p:txBody>
      </p:sp>
    </p:spTree>
    <p:extLst>
      <p:ext uri="{BB962C8B-B14F-4D97-AF65-F5344CB8AC3E}">
        <p14:creationId xmlns:p14="http://schemas.microsoft.com/office/powerpoint/2010/main" val="7828264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36</a:t>
            </a:fld>
            <a:endParaRPr lang="de-DE" dirty="0"/>
          </a:p>
        </p:txBody>
      </p:sp>
      <p:sp>
        <p:nvSpPr>
          <p:cNvPr id="3" name="Titel 2"/>
          <p:cNvSpPr>
            <a:spLocks noGrp="1"/>
          </p:cNvSpPr>
          <p:nvPr>
            <p:ph type="title"/>
          </p:nvPr>
        </p:nvSpPr>
        <p:spPr/>
        <p:txBody>
          <a:bodyPr/>
          <a:lstStyle/>
          <a:p>
            <a:r>
              <a:rPr lang="de-DE" dirty="0"/>
              <a:t>Protokollschichten und ihre Dienstmodelle</a:t>
            </a:r>
          </a:p>
        </p:txBody>
      </p:sp>
    </p:spTree>
    <p:extLst>
      <p:ext uri="{BB962C8B-B14F-4D97-AF65-F5344CB8AC3E}">
        <p14:creationId xmlns:p14="http://schemas.microsoft.com/office/powerpoint/2010/main" val="13122550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Netzwerke sind komplex</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37</a:t>
            </a:fld>
            <a:endParaRPr lang="en-US" noProof="0" dirty="0"/>
          </a:p>
        </p:txBody>
      </p:sp>
      <p:sp>
        <p:nvSpPr>
          <p:cNvPr id="4" name="Content Placeholder 3"/>
          <p:cNvSpPr>
            <a:spLocks noGrp="1"/>
          </p:cNvSpPr>
          <p:nvPr>
            <p:ph sz="quarter" idx="1"/>
          </p:nvPr>
        </p:nvSpPr>
        <p:spPr>
          <a:xfrm>
            <a:off x="457200" y="1219200"/>
            <a:ext cx="8229600" cy="5306144"/>
          </a:xfrm>
        </p:spPr>
        <p:txBody>
          <a:bodyPr>
            <a:normAutofit/>
          </a:bodyPr>
          <a:lstStyle/>
          <a:p>
            <a:r>
              <a:rPr lang="de-DE" dirty="0"/>
              <a:t>Netzwerke haben </a:t>
            </a:r>
            <a:r>
              <a:rPr lang="de-DE" b="1" dirty="0">
                <a:solidFill>
                  <a:srgbClr val="0070C0"/>
                </a:solidFill>
              </a:rPr>
              <a:t>viele heterogene Bestandteile</a:t>
            </a:r>
          </a:p>
          <a:p>
            <a:pPr lvl="1"/>
            <a:r>
              <a:rPr lang="de-DE" dirty="0"/>
              <a:t>Hosts</a:t>
            </a:r>
          </a:p>
          <a:p>
            <a:pPr lvl="1"/>
            <a:r>
              <a:rPr lang="de-DE" dirty="0"/>
              <a:t>Router / Switches</a:t>
            </a:r>
          </a:p>
          <a:p>
            <a:pPr lvl="1"/>
            <a:r>
              <a:rPr lang="de-DE" dirty="0"/>
              <a:t>Unterschiedliche Übertragungsmedien</a:t>
            </a:r>
          </a:p>
          <a:p>
            <a:pPr lvl="1"/>
            <a:r>
              <a:rPr lang="de-DE" dirty="0"/>
              <a:t>Anwendungen und Endsysteme</a:t>
            </a:r>
          </a:p>
          <a:p>
            <a:r>
              <a:rPr lang="de-DE" dirty="0"/>
              <a:t>Gibt es eine Möglichkeit, diese komplexe Architektur</a:t>
            </a:r>
            <a:r>
              <a:rPr lang="de-DE" b="1" dirty="0">
                <a:solidFill>
                  <a:srgbClr val="FF0000"/>
                </a:solidFill>
              </a:rPr>
              <a:t> </a:t>
            </a:r>
            <a:r>
              <a:rPr lang="de-DE" dirty="0">
                <a:solidFill>
                  <a:srgbClr val="0070C0"/>
                </a:solidFill>
              </a:rPr>
              <a:t>zu strukturieren</a:t>
            </a:r>
            <a:r>
              <a:rPr lang="de-DE" dirty="0"/>
              <a:t>?</a:t>
            </a:r>
          </a:p>
          <a:p>
            <a:pPr lvl="1"/>
            <a:r>
              <a:rPr lang="de-DE" dirty="0"/>
              <a:t>Oder zumindest unsere Darstellung und Diskussion der Netzwerke (zu strukturieren)?</a:t>
            </a:r>
          </a:p>
          <a:p>
            <a:r>
              <a:rPr lang="de-DE" dirty="0"/>
              <a:t>Eine Möglichkeit ist die </a:t>
            </a:r>
            <a:r>
              <a:rPr lang="de-DE" b="1" dirty="0">
                <a:solidFill>
                  <a:srgbClr val="FF0000"/>
                </a:solidFill>
              </a:rPr>
              <a:t>Schichtenarchitektur (layering)</a:t>
            </a:r>
          </a:p>
        </p:txBody>
      </p:sp>
    </p:spTree>
    <p:extLst>
      <p:ext uri="{BB962C8B-B14F-4D97-AF65-F5344CB8AC3E}">
        <p14:creationId xmlns:p14="http://schemas.microsoft.com/office/powerpoint/2010/main" val="3913838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Protokollschichten</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38</a:t>
            </a:fld>
            <a:endParaRPr lang="en-US" noProof="0" dirty="0"/>
          </a:p>
        </p:txBody>
      </p:sp>
      <p:sp>
        <p:nvSpPr>
          <p:cNvPr id="4" name="Content Placeholder 3"/>
          <p:cNvSpPr>
            <a:spLocks noGrp="1"/>
          </p:cNvSpPr>
          <p:nvPr>
            <p:ph sz="quarter" idx="1"/>
          </p:nvPr>
        </p:nvSpPr>
        <p:spPr/>
        <p:txBody>
          <a:bodyPr>
            <a:normAutofit/>
          </a:bodyPr>
          <a:lstStyle/>
          <a:p>
            <a:r>
              <a:rPr lang="de-DE" dirty="0"/>
              <a:t>In Netzwerken bezieht sich die Schichtung überwiegend auf die </a:t>
            </a:r>
            <a:r>
              <a:rPr lang="de-DE" b="1" dirty="0">
                <a:solidFill>
                  <a:srgbClr val="FF0000"/>
                </a:solidFill>
              </a:rPr>
              <a:t>Protokolle</a:t>
            </a:r>
            <a:endParaRPr lang="de-DE" u="sng" dirty="0"/>
          </a:p>
          <a:p>
            <a:r>
              <a:rPr lang="de-DE" dirty="0"/>
              <a:t>Jede Schicht bietet ihre Dienste an, indem sie …</a:t>
            </a:r>
          </a:p>
          <a:p>
            <a:pPr lvl="1"/>
            <a:r>
              <a:rPr lang="de-DE" sz="2400" dirty="0"/>
              <a:t>Innerhalb ihrer Schicht bestimmte Aktionen durchführt</a:t>
            </a:r>
          </a:p>
          <a:p>
            <a:pPr lvl="1"/>
            <a:r>
              <a:rPr lang="de-DE" sz="2400" dirty="0"/>
              <a:t>Die Dienste der direkt unter ihr liegenden Schicht nutzt</a:t>
            </a:r>
          </a:p>
          <a:p>
            <a:r>
              <a:rPr lang="de-DE" dirty="0"/>
              <a:t>Wichtig: Schicht k kann </a:t>
            </a:r>
            <a:r>
              <a:rPr lang="de-DE" u="sng" dirty="0"/>
              <a:t>nur</a:t>
            </a:r>
            <a:r>
              <a:rPr lang="de-DE" dirty="0"/>
              <a:t> die Dienste der Schicht (k-1) verwenden, aber nicht von (k-2), (k-3) usw.!</a:t>
            </a:r>
          </a:p>
        </p:txBody>
      </p:sp>
      <p:graphicFrame>
        <p:nvGraphicFramePr>
          <p:cNvPr id="16" name="Diagramm 15"/>
          <p:cNvGraphicFramePr/>
          <p:nvPr/>
        </p:nvGraphicFramePr>
        <p:xfrm>
          <a:off x="179512" y="4437112"/>
          <a:ext cx="8964488" cy="22591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337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de-DE" dirty="0"/>
              <a:t>Internet-</a:t>
            </a:r>
            <a:br>
              <a:rPr lang="de-DE" dirty="0"/>
            </a:br>
            <a:r>
              <a:rPr lang="de-DE" dirty="0"/>
              <a:t>Protokollstapel</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39</a:t>
            </a:fld>
            <a:endParaRPr lang="en-US" noProof="0" dirty="0"/>
          </a:p>
        </p:txBody>
      </p:sp>
      <p:sp>
        <p:nvSpPr>
          <p:cNvPr id="6" name="Content Placeholder 5"/>
          <p:cNvSpPr>
            <a:spLocks noGrp="1"/>
          </p:cNvSpPr>
          <p:nvPr>
            <p:ph sz="quarter" idx="1"/>
          </p:nvPr>
        </p:nvSpPr>
        <p:spPr>
          <a:xfrm>
            <a:off x="457200" y="1219200"/>
            <a:ext cx="8229600" cy="1489720"/>
          </a:xfrm>
        </p:spPr>
        <p:txBody>
          <a:bodyPr/>
          <a:lstStyle/>
          <a:p>
            <a:r>
              <a:rPr lang="de-DE" sz="2800" dirty="0"/>
              <a:t>Die Gesamtheit der Protokolle aller Schichten bildet den </a:t>
            </a:r>
            <a:r>
              <a:rPr lang="de-DE" sz="2800" b="1" dirty="0">
                <a:solidFill>
                  <a:srgbClr val="FF0000"/>
                </a:solidFill>
              </a:rPr>
              <a:t>Protokollstapel </a:t>
            </a:r>
            <a:r>
              <a:rPr lang="de-DE" sz="2800" dirty="0"/>
              <a:t>(</a:t>
            </a:r>
            <a:r>
              <a:rPr lang="de-DE" sz="2800" b="1" dirty="0">
                <a:solidFill>
                  <a:srgbClr val="FF0000"/>
                </a:solidFill>
              </a:rPr>
              <a:t>protocol stack</a:t>
            </a:r>
            <a:r>
              <a:rPr lang="de-DE" sz="2800" dirty="0"/>
              <a:t>)</a:t>
            </a:r>
          </a:p>
          <a:p>
            <a:pPr lvl="1"/>
            <a:r>
              <a:rPr lang="de-DE" sz="2500" dirty="0"/>
              <a:t>Internet Protokollstapel besteht aus fünf Schichten</a:t>
            </a:r>
            <a:endParaRPr lang="de-DE" dirty="0"/>
          </a:p>
        </p:txBody>
      </p:sp>
      <p:graphicFrame>
        <p:nvGraphicFramePr>
          <p:cNvPr id="7" name="Table 6"/>
          <p:cNvGraphicFramePr>
            <a:graphicFrameLocks noGrp="1"/>
          </p:cNvGraphicFramePr>
          <p:nvPr/>
        </p:nvGraphicFramePr>
        <p:xfrm>
          <a:off x="323528" y="4077072"/>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r>
                        <a:rPr lang="de-DE" dirty="0"/>
                        <a:t>Transportschicht (transport layer)</a:t>
                      </a:r>
                    </a:p>
                  </a:txBody>
                  <a:tcPr>
                    <a:solidFill>
                      <a:srgbClr val="00B0F0"/>
                    </a:solidFill>
                  </a:tcPr>
                </a:tc>
                <a:tc>
                  <a:txBody>
                    <a:bodyPr/>
                    <a:lstStyle/>
                    <a:p>
                      <a:r>
                        <a:rPr lang="de-DE" dirty="0"/>
                        <a:t>Überträgt</a:t>
                      </a:r>
                      <a:r>
                        <a:rPr lang="de-DE" baseline="0" dirty="0"/>
                        <a:t> Nachrichten zwischen BS-Prozessen</a:t>
                      </a:r>
                      <a:endParaRPr lang="de-DE" dirty="0"/>
                    </a:p>
                  </a:txBody>
                  <a:tcPr/>
                </a:tc>
                <a:tc>
                  <a:txBody>
                    <a:bodyPr/>
                    <a:lstStyle/>
                    <a:p>
                      <a:r>
                        <a:rPr lang="de-DE" dirty="0"/>
                        <a:t>TCP, UDP</a:t>
                      </a:r>
                    </a:p>
                  </a:txBody>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nvGraphicFramePr>
        <p:xfrm>
          <a:off x="323528" y="3356992"/>
          <a:ext cx="8352928" cy="712088"/>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712088">
                <a:tc>
                  <a:txBody>
                    <a:bodyPr/>
                    <a:lstStyle/>
                    <a:p>
                      <a:r>
                        <a:rPr lang="de-DE" dirty="0"/>
                        <a:t>Anwendungsschicht (application layer)</a:t>
                      </a:r>
                    </a:p>
                  </a:txBody>
                  <a:tcPr>
                    <a:solidFill>
                      <a:srgbClr val="00B0F0"/>
                    </a:solidFill>
                  </a:tcPr>
                </a:tc>
                <a:tc>
                  <a:txBody>
                    <a:bodyPr/>
                    <a:lstStyle/>
                    <a:p>
                      <a:r>
                        <a:rPr lang="de-DE" baseline="0" dirty="0"/>
                        <a:t>Netzwerkanwendungen</a:t>
                      </a:r>
                      <a:endParaRPr lang="de-DE" dirty="0"/>
                    </a:p>
                  </a:txBody>
                  <a:tcPr/>
                </a:tc>
                <a:tc>
                  <a:txBody>
                    <a:bodyPr/>
                    <a:lstStyle/>
                    <a:p>
                      <a:r>
                        <a:rPr lang="de-DE" dirty="0"/>
                        <a:t>HTTP,</a:t>
                      </a:r>
                      <a:r>
                        <a:rPr lang="de-DE" baseline="0" dirty="0"/>
                        <a:t> FTP, SMTP</a:t>
                      </a:r>
                      <a:endParaRPr lang="de-DE" dirty="0"/>
                    </a:p>
                  </a:txBody>
                  <a:tcPr/>
                </a:tc>
                <a:extLst>
                  <a:ext uri="{0D108BD9-81ED-4DB2-BD59-A6C34878D82A}">
                    <a16:rowId xmlns:a16="http://schemas.microsoft.com/office/drawing/2014/main" val="10000"/>
                  </a:ext>
                </a:extLst>
              </a:tr>
            </a:tbl>
          </a:graphicData>
        </a:graphic>
      </p:graphicFrame>
      <p:graphicFrame>
        <p:nvGraphicFramePr>
          <p:cNvPr id="12" name="Table 11"/>
          <p:cNvGraphicFramePr>
            <a:graphicFrameLocks noGrp="1"/>
          </p:cNvGraphicFramePr>
          <p:nvPr/>
        </p:nvGraphicFramePr>
        <p:xfrm>
          <a:off x="323528" y="4725144"/>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800" u="none" strike="noStrike" kern="1200" baseline="0" dirty="0"/>
                        <a:t>Netzwerkschicht </a:t>
                      </a:r>
                      <a:r>
                        <a:rPr lang="de-DE" dirty="0"/>
                        <a:t>(network layer)</a:t>
                      </a:r>
                    </a:p>
                  </a:txBody>
                  <a:tcPr>
                    <a:solidFill>
                      <a:srgbClr val="00B0F0"/>
                    </a:solidFill>
                  </a:tcPr>
                </a:tc>
                <a:tc>
                  <a:txBody>
                    <a:bodyPr/>
                    <a:lstStyle/>
                    <a:p>
                      <a:r>
                        <a:rPr lang="de-DE" dirty="0"/>
                        <a:t>Leitet die Pakete (Data-gramme)</a:t>
                      </a:r>
                      <a:r>
                        <a:rPr lang="de-DE" baseline="0" dirty="0"/>
                        <a:t> zwischen Hosts  </a:t>
                      </a:r>
                      <a:endParaRPr lang="de-DE" dirty="0"/>
                    </a:p>
                  </a:txBody>
                  <a:tcPr/>
                </a:tc>
                <a:tc>
                  <a:txBody>
                    <a:bodyPr/>
                    <a:lstStyle/>
                    <a:p>
                      <a:r>
                        <a:rPr lang="de-DE" dirty="0"/>
                        <a:t>IP, Routing-Protokolle</a:t>
                      </a:r>
                    </a:p>
                  </a:txBody>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nvGraphicFramePr>
        <p:xfrm>
          <a:off x="323528" y="5373216"/>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40080">
                <a:tc>
                  <a:txBody>
                    <a:bodyPr/>
                    <a:lstStyle/>
                    <a:p>
                      <a:r>
                        <a:rPr lang="de-DE" sz="1800" u="none" strike="noStrike" kern="1200" baseline="0" dirty="0"/>
                        <a:t>Sicherungsschicht (data link layer)</a:t>
                      </a:r>
                      <a:endParaRPr lang="de-DE" dirty="0"/>
                    </a:p>
                  </a:txBody>
                  <a:tcPr>
                    <a:solidFill>
                      <a:srgbClr val="00B0F0"/>
                    </a:solidFill>
                  </a:tcPr>
                </a:tc>
                <a:tc>
                  <a:txBody>
                    <a:bodyPr/>
                    <a:lstStyle/>
                    <a:p>
                      <a:r>
                        <a:rPr lang="de-DE" dirty="0"/>
                        <a:t>Leitet die Pakete </a:t>
                      </a:r>
                      <a:r>
                        <a:rPr lang="de-DE" baseline="0" dirty="0"/>
                        <a:t>zwischen Netzwerkknoten (Routern)</a:t>
                      </a:r>
                      <a:endParaRPr lang="de-DE" dirty="0"/>
                    </a:p>
                  </a:txBody>
                  <a:tcPr/>
                </a:tc>
                <a:tc>
                  <a:txBody>
                    <a:bodyPr/>
                    <a:lstStyle/>
                    <a:p>
                      <a:r>
                        <a:rPr lang="de-DE" dirty="0"/>
                        <a:t>PPP, Ethernet</a:t>
                      </a:r>
                    </a:p>
                  </a:txBody>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nvGraphicFramePr>
        <p:xfrm>
          <a:off x="323528" y="6021288"/>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r>
                        <a:rPr lang="de-DE" sz="1800" u="none" strike="noStrike" kern="1200" baseline="0" dirty="0"/>
                        <a:t>Bitübertragungss.</a:t>
                      </a:r>
                    </a:p>
                    <a:p>
                      <a:r>
                        <a:rPr lang="de-DE" sz="1800" u="none" strike="noStrike" kern="1200" baseline="0" dirty="0"/>
                        <a:t>(physical layer)  </a:t>
                      </a:r>
                      <a:endParaRPr lang="de-DE" dirty="0"/>
                    </a:p>
                  </a:txBody>
                  <a:tcPr>
                    <a:solidFill>
                      <a:srgbClr val="00B0F0"/>
                    </a:solidFill>
                  </a:tcPr>
                </a:tc>
                <a:tc>
                  <a:txBody>
                    <a:bodyPr/>
                    <a:lstStyle/>
                    <a:p>
                      <a:r>
                        <a:rPr lang="de-DE" dirty="0"/>
                        <a:t>Überträgt</a:t>
                      </a:r>
                      <a:r>
                        <a:rPr lang="de-DE" baseline="0" dirty="0"/>
                        <a:t> einzelne Bits zwischen Netzwerkknoten</a:t>
                      </a:r>
                      <a:endParaRPr lang="de-DE" dirty="0"/>
                    </a:p>
                  </a:txBody>
                  <a:tcPr/>
                </a:tc>
                <a:tc>
                  <a:txBody>
                    <a:bodyPr/>
                    <a:lstStyle/>
                    <a:p>
                      <a:r>
                        <a:rPr lang="de-DE" dirty="0"/>
                        <a:t>Hängt vom Medium ab</a:t>
                      </a:r>
                    </a:p>
                  </a:txBody>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nvGraphicFramePr>
        <p:xfrm>
          <a:off x="323528" y="2708920"/>
          <a:ext cx="8352928" cy="545192"/>
        </p:xfrm>
        <a:graphic>
          <a:graphicData uri="http://schemas.openxmlformats.org/drawingml/2006/table">
            <a:tbl>
              <a:tblPr firstRow="1" bandRow="1">
                <a:tableStyleId>{93296810-A885-4BE3-A3E7-6D5BEEA58F35}</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545192">
                <a:tc>
                  <a:txBody>
                    <a:bodyPr/>
                    <a:lstStyle/>
                    <a:p>
                      <a:r>
                        <a:rPr lang="de-DE" sz="2400" dirty="0"/>
                        <a:t>Name</a:t>
                      </a:r>
                    </a:p>
                  </a:txBody>
                  <a:tcPr/>
                </a:tc>
                <a:tc>
                  <a:txBody>
                    <a:bodyPr/>
                    <a:lstStyle/>
                    <a:p>
                      <a:r>
                        <a:rPr lang="de-DE" sz="2400" dirty="0"/>
                        <a:t>Funktion</a:t>
                      </a:r>
                      <a:endParaRPr lang="de-DE" sz="2000" dirty="0"/>
                    </a:p>
                  </a:txBody>
                  <a:tcPr/>
                </a:tc>
                <a:tc>
                  <a:txBody>
                    <a:bodyPr/>
                    <a:lstStyle/>
                    <a:p>
                      <a:r>
                        <a:rPr lang="de-DE" sz="2400" dirty="0"/>
                        <a:t>Bsp-Protokolle</a:t>
                      </a:r>
                    </a:p>
                  </a:txBody>
                  <a:tcPr/>
                </a:tc>
                <a:extLst>
                  <a:ext uri="{0D108BD9-81ED-4DB2-BD59-A6C34878D82A}">
                    <a16:rowId xmlns:a16="http://schemas.microsoft.com/office/drawing/2014/main" val="10000"/>
                  </a:ext>
                </a:extLst>
              </a:tr>
            </a:tbl>
          </a:graphicData>
        </a:graphic>
      </p:graphicFrame>
      <p:sp>
        <p:nvSpPr>
          <p:cNvPr id="16" name="Textfeld 15"/>
          <p:cNvSpPr txBox="1"/>
          <p:nvPr/>
        </p:nvSpPr>
        <p:spPr>
          <a:xfrm>
            <a:off x="4067944" y="152400"/>
            <a:ext cx="4926220" cy="861774"/>
          </a:xfrm>
          <a:prstGeom prst="rect">
            <a:avLst/>
          </a:prstGeom>
          <a:solidFill>
            <a:srgbClr val="FFC000"/>
          </a:solidFill>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1600" dirty="0"/>
              <a:t>Video: Internet Protocol [N02b]</a:t>
            </a:r>
          </a:p>
          <a:p>
            <a:pPr marL="285750" indent="-285750">
              <a:buFont typeface="Arial" panose="020B0604020202020204" pitchFamily="34" charset="0"/>
              <a:buChar char="•"/>
            </a:pPr>
            <a:r>
              <a:rPr lang="en-US" sz="1600" dirty="0">
                <a:hlinkClick r:id="rId3"/>
              </a:rPr>
              <a:t>https://www.youtube.com/watch?v=zyL1Fud1Z1c</a:t>
            </a:r>
            <a:endParaRPr lang="en-US" sz="1600" dirty="0"/>
          </a:p>
          <a:p>
            <a:pPr marL="285750" indent="-285750">
              <a:buFont typeface="Arial" panose="020B0604020202020204" pitchFamily="34" charset="0"/>
              <a:buChar char="•"/>
            </a:pPr>
            <a:r>
              <a:rPr lang="en-US" sz="1600" dirty="0"/>
              <a:t>Ab ca. 0:38 (</a:t>
            </a:r>
            <a:r>
              <a:rPr lang="en-US" sz="1600" dirty="0" err="1"/>
              <a:t>min:sec</a:t>
            </a:r>
            <a:r>
              <a:rPr lang="en-US" sz="1600" dirty="0"/>
              <a:t>)</a:t>
            </a:r>
          </a:p>
        </p:txBody>
      </p:sp>
    </p:spTree>
    <p:extLst>
      <p:ext uri="{BB962C8B-B14F-4D97-AF65-F5344CB8AC3E}">
        <p14:creationId xmlns:p14="http://schemas.microsoft.com/office/powerpoint/2010/main" val="66757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de-DE" dirty="0"/>
              <a:t>Internet-Protokollstapel /2</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40</a:t>
            </a:fld>
            <a:endParaRPr lang="en-US" noProof="0" dirty="0"/>
          </a:p>
        </p:txBody>
      </p:sp>
      <p:sp>
        <p:nvSpPr>
          <p:cNvPr id="6" name="Content Placeholder 5"/>
          <p:cNvSpPr>
            <a:spLocks noGrp="1"/>
          </p:cNvSpPr>
          <p:nvPr>
            <p:ph sz="quarter" idx="1"/>
          </p:nvPr>
        </p:nvSpPr>
        <p:spPr>
          <a:xfrm>
            <a:off x="457200" y="1219200"/>
            <a:ext cx="8229600" cy="1489720"/>
          </a:xfrm>
        </p:spPr>
        <p:txBody>
          <a:bodyPr/>
          <a:lstStyle/>
          <a:p>
            <a:r>
              <a:rPr lang="de-DE" sz="2800" dirty="0"/>
              <a:t>Wie identifiziert man die Schicht?</a:t>
            </a:r>
          </a:p>
          <a:p>
            <a:pPr lvl="1"/>
            <a:r>
              <a:rPr lang="de-DE" sz="2500" dirty="0"/>
              <a:t>Eine gutes Kriterium sind die </a:t>
            </a:r>
            <a:r>
              <a:rPr lang="de-DE" sz="2500" u="sng" dirty="0"/>
              <a:t>Endpunkte</a:t>
            </a:r>
            <a:r>
              <a:rPr lang="de-DE" sz="2500" dirty="0"/>
              <a:t> der Kommunikation</a:t>
            </a:r>
            <a:endParaRPr lang="de-DE" dirty="0"/>
          </a:p>
        </p:txBody>
      </p:sp>
      <p:graphicFrame>
        <p:nvGraphicFramePr>
          <p:cNvPr id="7" name="Table 6"/>
          <p:cNvGraphicFramePr>
            <a:graphicFrameLocks noGrp="1"/>
          </p:cNvGraphicFramePr>
          <p:nvPr/>
        </p:nvGraphicFramePr>
        <p:xfrm>
          <a:off x="323528" y="4077072"/>
          <a:ext cx="8352928" cy="640080"/>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600067">
                <a:tc>
                  <a:txBody>
                    <a:bodyPr/>
                    <a:lstStyle/>
                    <a:p>
                      <a:r>
                        <a:rPr lang="de-DE" dirty="0"/>
                        <a:t>Transportschicht (transport layer)</a:t>
                      </a:r>
                    </a:p>
                  </a:txBody>
                  <a:tcPr>
                    <a:solidFill>
                      <a:srgbClr val="00B0F0"/>
                    </a:solidFill>
                  </a:tcPr>
                </a:tc>
                <a:tc>
                  <a:txBody>
                    <a:bodyPr/>
                    <a:lstStyle/>
                    <a:p>
                      <a:r>
                        <a:rPr lang="de-DE" u="sng" dirty="0"/>
                        <a:t>Prozesse</a:t>
                      </a:r>
                      <a:r>
                        <a:rPr lang="de-DE" dirty="0"/>
                        <a:t> (bzw. zugehörige</a:t>
                      </a:r>
                      <a:r>
                        <a:rPr lang="de-DE" baseline="0" dirty="0"/>
                        <a:t> </a:t>
                      </a:r>
                      <a:r>
                        <a:rPr lang="de-DE" dirty="0"/>
                        <a:t>Sockets – APIs </a:t>
                      </a:r>
                      <a:r>
                        <a:rPr lang="de-DE" baseline="0" dirty="0"/>
                        <a:t>des BS) auf einem oder mehreren Hosts</a:t>
                      </a:r>
                      <a:endParaRPr lang="de-DE" dirty="0"/>
                    </a:p>
                  </a:txBody>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nvGraphicFramePr>
        <p:xfrm>
          <a:off x="323528" y="3356992"/>
          <a:ext cx="8352928" cy="712088"/>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712088">
                <a:tc>
                  <a:txBody>
                    <a:bodyPr/>
                    <a:lstStyle/>
                    <a:p>
                      <a:r>
                        <a:rPr lang="de-DE" dirty="0"/>
                        <a:t>Anwendungsschicht (application layer)</a:t>
                      </a:r>
                    </a:p>
                  </a:txBody>
                  <a:tcPr>
                    <a:solidFill>
                      <a:srgbClr val="00B0F0"/>
                    </a:solidFill>
                  </a:tcPr>
                </a:tc>
                <a:tc>
                  <a:txBody>
                    <a:bodyPr/>
                    <a:lstStyle/>
                    <a:p>
                      <a:r>
                        <a:rPr lang="de-DE" baseline="0" dirty="0"/>
                        <a:t>Mehrere </a:t>
                      </a:r>
                      <a:r>
                        <a:rPr lang="de-DE" u="sng" baseline="0" dirty="0"/>
                        <a:t>Programme</a:t>
                      </a:r>
                      <a:r>
                        <a:rPr lang="de-DE" baseline="0" dirty="0"/>
                        <a:t>, jedes kann aus einem oder mehr Prozessen bestehen (z.B. Browser + Server)</a:t>
                      </a:r>
                      <a:endParaRPr lang="de-DE" dirty="0"/>
                    </a:p>
                  </a:txBody>
                  <a:tcPr/>
                </a:tc>
                <a:extLst>
                  <a:ext uri="{0D108BD9-81ED-4DB2-BD59-A6C34878D82A}">
                    <a16:rowId xmlns:a16="http://schemas.microsoft.com/office/drawing/2014/main" val="10000"/>
                  </a:ext>
                </a:extLst>
              </a:tr>
            </a:tbl>
          </a:graphicData>
        </a:graphic>
      </p:graphicFrame>
      <p:graphicFrame>
        <p:nvGraphicFramePr>
          <p:cNvPr id="12" name="Table 11"/>
          <p:cNvGraphicFramePr>
            <a:graphicFrameLocks noGrp="1"/>
          </p:cNvGraphicFramePr>
          <p:nvPr/>
        </p:nvGraphicFramePr>
        <p:xfrm>
          <a:off x="323528" y="4725144"/>
          <a:ext cx="8352928" cy="640080"/>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6000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800" u="none" strike="noStrike" kern="1200" baseline="0" dirty="0"/>
                        <a:t>Netzwerkschicht </a:t>
                      </a:r>
                      <a:r>
                        <a:rPr lang="de-DE" dirty="0"/>
                        <a:t>(network layer)</a:t>
                      </a:r>
                    </a:p>
                  </a:txBody>
                  <a:tcPr>
                    <a:solidFill>
                      <a:srgbClr val="00B0F0"/>
                    </a:solidFill>
                  </a:tcPr>
                </a:tc>
                <a:tc>
                  <a:txBody>
                    <a:bodyPr/>
                    <a:lstStyle/>
                    <a:p>
                      <a:r>
                        <a:rPr lang="de-DE" dirty="0"/>
                        <a:t>Start-</a:t>
                      </a:r>
                      <a:r>
                        <a:rPr lang="de-DE" baseline="0" dirty="0"/>
                        <a:t> und End-</a:t>
                      </a:r>
                      <a:r>
                        <a:rPr lang="de-DE" dirty="0"/>
                        <a:t>Hosts</a:t>
                      </a:r>
                      <a:r>
                        <a:rPr lang="de-DE" baseline="0" dirty="0"/>
                        <a:t> (es wird </a:t>
                      </a:r>
                      <a:r>
                        <a:rPr lang="de-DE" u="sng" baseline="0" dirty="0"/>
                        <a:t>nicht</a:t>
                      </a:r>
                      <a:r>
                        <a:rPr lang="de-DE" baseline="0" dirty="0"/>
                        <a:t> zwischen Prozessen auf einem Host unterschieden)</a:t>
                      </a:r>
                      <a:endParaRPr lang="de-DE" dirty="0"/>
                    </a:p>
                  </a:txBody>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nvGraphicFramePr>
        <p:xfrm>
          <a:off x="323528" y="5373216"/>
          <a:ext cx="8352928" cy="640080"/>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640080">
                <a:tc>
                  <a:txBody>
                    <a:bodyPr/>
                    <a:lstStyle/>
                    <a:p>
                      <a:r>
                        <a:rPr lang="de-DE" sz="1800" u="none" strike="noStrike" kern="1200" baseline="0" dirty="0"/>
                        <a:t>Sicherungsschicht (data link layer)</a:t>
                      </a:r>
                      <a:endParaRPr lang="de-DE" dirty="0"/>
                    </a:p>
                  </a:txBody>
                  <a:tcPr>
                    <a:solidFill>
                      <a:srgbClr val="00B0F0"/>
                    </a:solidFill>
                  </a:tcPr>
                </a:tc>
                <a:tc>
                  <a:txBody>
                    <a:bodyPr/>
                    <a:lstStyle/>
                    <a:p>
                      <a:r>
                        <a:rPr lang="de-DE" dirty="0"/>
                        <a:t>Zwei</a:t>
                      </a:r>
                      <a:r>
                        <a:rPr lang="de-DE" baseline="0" dirty="0"/>
                        <a:t> </a:t>
                      </a:r>
                      <a:r>
                        <a:rPr lang="de-DE" u="sng" baseline="0" dirty="0"/>
                        <a:t>direkt</a:t>
                      </a:r>
                      <a:r>
                        <a:rPr lang="de-DE" baseline="0" dirty="0"/>
                        <a:t> verbundene Geräte (Host, Router, Switch) an den beiden Enden einer Teilstrecke</a:t>
                      </a:r>
                      <a:endParaRPr lang="de-DE" dirty="0"/>
                    </a:p>
                  </a:txBody>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nvGraphicFramePr>
        <p:xfrm>
          <a:off x="323528" y="6021288"/>
          <a:ext cx="8352928" cy="640080"/>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600067">
                <a:tc>
                  <a:txBody>
                    <a:bodyPr/>
                    <a:lstStyle/>
                    <a:p>
                      <a:r>
                        <a:rPr lang="de-DE" sz="1800" u="none" strike="noStrike" kern="1200" baseline="0" dirty="0"/>
                        <a:t>Bitübertragungss.</a:t>
                      </a:r>
                    </a:p>
                    <a:p>
                      <a:r>
                        <a:rPr lang="de-DE" sz="1800" u="none" strike="noStrike" kern="1200" baseline="0" dirty="0"/>
                        <a:t>(physical layer)  </a:t>
                      </a:r>
                      <a:endParaRPr lang="de-DE" dirty="0"/>
                    </a:p>
                  </a:txBody>
                  <a:tcPr>
                    <a:solidFill>
                      <a:srgbClr val="00B0F0"/>
                    </a:solidFill>
                  </a:tcPr>
                </a:tc>
                <a:tc>
                  <a:txBody>
                    <a:bodyPr/>
                    <a:lstStyle/>
                    <a:p>
                      <a:r>
                        <a:rPr lang="de-DE" dirty="0"/>
                        <a:t>Elektronik der Leitungen oder Glasfaser an den Enden einer Teilstrecke</a:t>
                      </a:r>
                    </a:p>
                  </a:txBody>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nvGraphicFramePr>
        <p:xfrm>
          <a:off x="323528" y="2708920"/>
          <a:ext cx="8352928" cy="545192"/>
        </p:xfrm>
        <a:graphic>
          <a:graphicData uri="http://schemas.openxmlformats.org/drawingml/2006/table">
            <a:tbl>
              <a:tblPr firstRow="1" bandRow="1">
                <a:tableStyleId>{93296810-A885-4BE3-A3E7-6D5BEEA58F35}</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545192">
                <a:tc>
                  <a:txBody>
                    <a:bodyPr/>
                    <a:lstStyle/>
                    <a:p>
                      <a:r>
                        <a:rPr lang="de-DE" sz="2400" dirty="0"/>
                        <a:t>Name</a:t>
                      </a:r>
                    </a:p>
                  </a:txBody>
                  <a:tcPr/>
                </a:tc>
                <a:tc>
                  <a:txBody>
                    <a:bodyPr/>
                    <a:lstStyle/>
                    <a:p>
                      <a:r>
                        <a:rPr lang="de-DE" sz="2400" dirty="0"/>
                        <a:t>Endpunkte</a:t>
                      </a:r>
                      <a:endParaRPr lang="de-DE" sz="200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8824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Wo werden die Protokolle implementiert?</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41</a:t>
            </a:fld>
            <a:endParaRPr lang="en-US" noProof="0" dirty="0"/>
          </a:p>
        </p:txBody>
      </p:sp>
      <p:sp>
        <p:nvSpPr>
          <p:cNvPr id="4" name="Content Placeholder 3"/>
          <p:cNvSpPr>
            <a:spLocks noGrp="1"/>
          </p:cNvSpPr>
          <p:nvPr>
            <p:ph sz="quarter" idx="1"/>
          </p:nvPr>
        </p:nvSpPr>
        <p:spPr>
          <a:xfrm>
            <a:off x="457199" y="1219199"/>
            <a:ext cx="3964667" cy="5414985"/>
          </a:xfrm>
        </p:spPr>
        <p:txBody>
          <a:bodyPr>
            <a:normAutofit/>
          </a:bodyPr>
          <a:lstStyle/>
          <a:p>
            <a:r>
              <a:rPr lang="de-DE" dirty="0">
                <a:solidFill>
                  <a:srgbClr val="000000"/>
                </a:solidFill>
              </a:rPr>
              <a:t>Hosts </a:t>
            </a:r>
            <a:r>
              <a:rPr lang="de-DE" dirty="0"/>
              <a:t>(Endpunkte) implementieren </a:t>
            </a:r>
            <a:r>
              <a:rPr lang="de-DE" u="sng" dirty="0"/>
              <a:t>alle fünf Schichten</a:t>
            </a:r>
          </a:p>
          <a:p>
            <a:r>
              <a:rPr lang="de-DE" b="1" dirty="0">
                <a:solidFill>
                  <a:srgbClr val="FF0000"/>
                </a:solidFill>
              </a:rPr>
              <a:t>Router </a:t>
            </a:r>
            <a:r>
              <a:rPr lang="de-DE" dirty="0"/>
              <a:t>bis zur Netzwerkschicht</a:t>
            </a:r>
          </a:p>
          <a:p>
            <a:pPr lvl="1"/>
            <a:r>
              <a:rPr lang="de-DE" dirty="0"/>
              <a:t>D.h. Router wissen, wo das Ziel des Pakets ist</a:t>
            </a:r>
          </a:p>
          <a:p>
            <a:r>
              <a:rPr lang="de-DE" b="1" dirty="0">
                <a:solidFill>
                  <a:srgbClr val="FF0000"/>
                </a:solidFill>
              </a:rPr>
              <a:t>Switches </a:t>
            </a:r>
            <a:r>
              <a:rPr lang="de-DE" dirty="0"/>
              <a:t>nur bis zur Sicherungsschicht</a:t>
            </a:r>
          </a:p>
          <a:p>
            <a:pPr lvl="1"/>
            <a:r>
              <a:rPr lang="de-DE" dirty="0"/>
              <a:t>Sie kennen nur den </a:t>
            </a:r>
            <a:r>
              <a:rPr lang="de-DE" u="sng" dirty="0"/>
              <a:t>nächsten</a:t>
            </a:r>
            <a:r>
              <a:rPr lang="de-DE" dirty="0"/>
              <a:t> Netzwerk-knoten auf dem Weg des Pakets</a:t>
            </a:r>
          </a:p>
        </p:txBody>
      </p:sp>
      <p:grpSp>
        <p:nvGrpSpPr>
          <p:cNvPr id="6" name="Group 5"/>
          <p:cNvGrpSpPr/>
          <p:nvPr/>
        </p:nvGrpSpPr>
        <p:grpSpPr>
          <a:xfrm>
            <a:off x="4421866" y="1186061"/>
            <a:ext cx="4512587" cy="5448124"/>
            <a:chOff x="3143250" y="659482"/>
            <a:chExt cx="4512587" cy="5555025"/>
          </a:xfrm>
        </p:grpSpPr>
        <p:sp>
          <p:nvSpPr>
            <p:cNvPr id="7" name="Freeform 3"/>
            <p:cNvSpPr>
              <a:spLocks/>
            </p:cNvSpPr>
            <p:nvPr/>
          </p:nvSpPr>
          <p:spPr bwMode="auto">
            <a:xfrm rot="16200000">
              <a:off x="6225496" y="1539876"/>
              <a:ext cx="665163" cy="852487"/>
            </a:xfrm>
            <a:custGeom>
              <a:avLst/>
              <a:gdLst>
                <a:gd name="T0" fmla="*/ 638175 w 402"/>
                <a:gd name="T1" fmla="*/ 576262 h 537"/>
                <a:gd name="T2" fmla="*/ 44450 w 402"/>
                <a:gd name="T3" fmla="*/ 0 h 537"/>
                <a:gd name="T4" fmla="*/ 0 w 402"/>
                <a:gd name="T5" fmla="*/ 746124 h 537"/>
                <a:gd name="T6" fmla="*/ 384175 w 402"/>
                <a:gd name="T7" fmla="*/ 852487 h 537"/>
                <a:gd name="T8" fmla="*/ 638175 w 402"/>
                <a:gd name="T9" fmla="*/ 576262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8" name="Text Box 8"/>
            <p:cNvSpPr txBox="1">
              <a:spLocks noChangeArrowheads="1"/>
            </p:cNvSpPr>
            <p:nvPr/>
          </p:nvSpPr>
          <p:spPr bwMode="auto">
            <a:xfrm>
              <a:off x="3384939" y="659482"/>
              <a:ext cx="10759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err="1">
                  <a:solidFill>
                    <a:schemeClr val="accent2"/>
                  </a:solidFill>
                  <a:latin typeface="+mn-lt"/>
                </a:rPr>
                <a:t>Quelle</a:t>
              </a:r>
              <a:endParaRPr lang="en-US" dirty="0">
                <a:solidFill>
                  <a:schemeClr val="accent2"/>
                </a:solidFill>
                <a:latin typeface="+mn-lt"/>
              </a:endParaRPr>
            </a:p>
          </p:txBody>
        </p:sp>
        <p:graphicFrame>
          <p:nvGraphicFramePr>
            <p:cNvPr id="9" name="Object 9"/>
            <p:cNvGraphicFramePr>
              <a:graphicFrameLocks noChangeAspect="1"/>
            </p:cNvGraphicFramePr>
            <p:nvPr/>
          </p:nvGraphicFramePr>
          <p:xfrm>
            <a:off x="4076314" y="2771607"/>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6314" y="2771607"/>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Freeform 10"/>
            <p:cNvSpPr>
              <a:spLocks/>
            </p:cNvSpPr>
            <p:nvPr/>
          </p:nvSpPr>
          <p:spPr bwMode="auto">
            <a:xfrm>
              <a:off x="4778268" y="1085850"/>
              <a:ext cx="360362" cy="1577975"/>
            </a:xfrm>
            <a:custGeom>
              <a:avLst/>
              <a:gdLst>
                <a:gd name="T0" fmla="*/ 342816 w 267"/>
                <a:gd name="T1" fmla="*/ 620014 h 1186"/>
                <a:gd name="T2" fmla="*/ 0 w 267"/>
                <a:gd name="T3" fmla="*/ 0 h 1186"/>
                <a:gd name="T4" fmla="*/ 0 w 267"/>
                <a:gd name="T5" fmla="*/ 1577975 h 1186"/>
                <a:gd name="T6" fmla="*/ 360362 w 267"/>
                <a:gd name="T7" fmla="*/ 867487 h 1186"/>
                <a:gd name="T8" fmla="*/ 342816 w 267"/>
                <a:gd name="T9" fmla="*/ 620014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nvGrpSpPr>
            <p:cNvPr id="11" name="Group 11"/>
            <p:cNvGrpSpPr>
              <a:grpSpLocks/>
            </p:cNvGrpSpPr>
            <p:nvPr/>
          </p:nvGrpSpPr>
          <p:grpSpPr bwMode="auto">
            <a:xfrm>
              <a:off x="6157344" y="1347490"/>
              <a:ext cx="976312" cy="277812"/>
              <a:chOff x="198" y="3765"/>
              <a:chExt cx="693" cy="287"/>
            </a:xfrm>
          </p:grpSpPr>
          <p:sp>
            <p:nvSpPr>
              <p:cNvPr id="60" name="Freeform 12"/>
              <p:cNvSpPr>
                <a:spLocks/>
              </p:cNvSpPr>
              <p:nvPr/>
            </p:nvSpPr>
            <p:spPr bwMode="auto">
              <a:xfrm>
                <a:off x="198" y="3888"/>
                <a:ext cx="672" cy="164"/>
              </a:xfrm>
              <a:custGeom>
                <a:avLst/>
                <a:gdLst>
                  <a:gd name="T0" fmla="*/ 179 w 672"/>
                  <a:gd name="T1" fmla="*/ 0 h 164"/>
                  <a:gd name="T2" fmla="*/ 672 w 672"/>
                  <a:gd name="T3" fmla="*/ 0 h 164"/>
                  <a:gd name="T4" fmla="*/ 508 w 672"/>
                  <a:gd name="T5" fmla="*/ 164 h 164"/>
                  <a:gd name="T6" fmla="*/ 0 w 672"/>
                  <a:gd name="T7" fmla="*/ 164 h 164"/>
                  <a:gd name="T8" fmla="*/ 179 w 672"/>
                  <a:gd name="T9" fmla="*/ 0 h 164"/>
                  <a:gd name="T10" fmla="*/ 0 60000 65536"/>
                  <a:gd name="T11" fmla="*/ 0 60000 65536"/>
                  <a:gd name="T12" fmla="*/ 0 60000 65536"/>
                  <a:gd name="T13" fmla="*/ 0 60000 65536"/>
                  <a:gd name="T14" fmla="*/ 0 60000 65536"/>
                  <a:gd name="T15" fmla="*/ 0 w 672"/>
                  <a:gd name="T16" fmla="*/ 0 h 164"/>
                  <a:gd name="T17" fmla="*/ 672 w 672"/>
                  <a:gd name="T18" fmla="*/ 164 h 164"/>
                </a:gdLst>
                <a:ahLst/>
                <a:cxnLst>
                  <a:cxn ang="T10">
                    <a:pos x="T0" y="T1"/>
                  </a:cxn>
                  <a:cxn ang="T11">
                    <a:pos x="T2" y="T3"/>
                  </a:cxn>
                  <a:cxn ang="T12">
                    <a:pos x="T4" y="T5"/>
                  </a:cxn>
                  <a:cxn ang="T13">
                    <a:pos x="T6" y="T7"/>
                  </a:cxn>
                  <a:cxn ang="T14">
                    <a:pos x="T8" y="T9"/>
                  </a:cxn>
                </a:cxnLst>
                <a:rect l="T15" t="T16" r="T17" b="T18"/>
                <a:pathLst>
                  <a:path w="672" h="164">
                    <a:moveTo>
                      <a:pt x="179" y="0"/>
                    </a:moveTo>
                    <a:lnTo>
                      <a:pt x="672" y="0"/>
                    </a:lnTo>
                    <a:lnTo>
                      <a:pt x="508" y="164"/>
                    </a:lnTo>
                    <a:lnTo>
                      <a:pt x="0" y="164"/>
                    </a:lnTo>
                    <a:lnTo>
                      <a:pt x="179" y="0"/>
                    </a:lnTo>
                    <a:close/>
                  </a:path>
                </a:pathLst>
              </a:custGeom>
              <a:solidFill>
                <a:schemeClr val="hlink"/>
              </a:solidFill>
              <a:ln w="9525">
                <a:solidFill>
                  <a:schemeClr val="tx1"/>
                </a:solidFill>
                <a:round/>
                <a:headEnd/>
                <a:tailEnd/>
              </a:ln>
            </p:spPr>
            <p:txBody>
              <a:bodyPr/>
              <a:lstStyle/>
              <a:p>
                <a:endParaRPr lang="de-DE"/>
              </a:p>
            </p:txBody>
          </p:sp>
          <p:sp>
            <p:nvSpPr>
              <p:cNvPr id="61" name="Freeform 13"/>
              <p:cNvSpPr>
                <a:spLocks/>
              </p:cNvSpPr>
              <p:nvPr/>
            </p:nvSpPr>
            <p:spPr bwMode="auto">
              <a:xfrm>
                <a:off x="213" y="3765"/>
                <a:ext cx="658" cy="281"/>
              </a:xfrm>
              <a:custGeom>
                <a:avLst/>
                <a:gdLst>
                  <a:gd name="T0" fmla="*/ 0 w 658"/>
                  <a:gd name="T1" fmla="*/ 281 h 281"/>
                  <a:gd name="T2" fmla="*/ 13 w 658"/>
                  <a:gd name="T3" fmla="*/ 150 h 281"/>
                  <a:gd name="T4" fmla="*/ 658 w 658"/>
                  <a:gd name="T5" fmla="*/ 0 h 281"/>
                  <a:gd name="T6" fmla="*/ 658 w 658"/>
                  <a:gd name="T7" fmla="*/ 130 h 281"/>
                  <a:gd name="T8" fmla="*/ 0 w 658"/>
                  <a:gd name="T9" fmla="*/ 281 h 281"/>
                  <a:gd name="T10" fmla="*/ 0 60000 65536"/>
                  <a:gd name="T11" fmla="*/ 0 60000 65536"/>
                  <a:gd name="T12" fmla="*/ 0 60000 65536"/>
                  <a:gd name="T13" fmla="*/ 0 60000 65536"/>
                  <a:gd name="T14" fmla="*/ 0 60000 65536"/>
                  <a:gd name="T15" fmla="*/ 0 w 658"/>
                  <a:gd name="T16" fmla="*/ 0 h 281"/>
                  <a:gd name="T17" fmla="*/ 658 w 658"/>
                  <a:gd name="T18" fmla="*/ 281 h 281"/>
                </a:gdLst>
                <a:ahLst/>
                <a:cxnLst>
                  <a:cxn ang="T10">
                    <a:pos x="T0" y="T1"/>
                  </a:cxn>
                  <a:cxn ang="T11">
                    <a:pos x="T2" y="T3"/>
                  </a:cxn>
                  <a:cxn ang="T12">
                    <a:pos x="T4" y="T5"/>
                  </a:cxn>
                  <a:cxn ang="T13">
                    <a:pos x="T6" y="T7"/>
                  </a:cxn>
                  <a:cxn ang="T14">
                    <a:pos x="T8" y="T9"/>
                  </a:cxn>
                </a:cxnLst>
                <a:rect l="T15" t="T16" r="T17" b="T18"/>
                <a:pathLst>
                  <a:path w="658" h="281">
                    <a:moveTo>
                      <a:pt x="0" y="281"/>
                    </a:moveTo>
                    <a:lnTo>
                      <a:pt x="13" y="150"/>
                    </a:lnTo>
                    <a:lnTo>
                      <a:pt x="658" y="0"/>
                    </a:lnTo>
                    <a:lnTo>
                      <a:pt x="658" y="130"/>
                    </a:lnTo>
                    <a:lnTo>
                      <a:pt x="0" y="281"/>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62" name="Freeform 14"/>
              <p:cNvSpPr>
                <a:spLocks/>
              </p:cNvSpPr>
              <p:nvPr/>
            </p:nvSpPr>
            <p:spPr bwMode="auto">
              <a:xfrm>
                <a:off x="219" y="3765"/>
                <a:ext cx="672" cy="164"/>
              </a:xfrm>
              <a:custGeom>
                <a:avLst/>
                <a:gdLst>
                  <a:gd name="T0" fmla="*/ 179 w 672"/>
                  <a:gd name="T1" fmla="*/ 0 h 164"/>
                  <a:gd name="T2" fmla="*/ 672 w 672"/>
                  <a:gd name="T3" fmla="*/ 0 h 164"/>
                  <a:gd name="T4" fmla="*/ 508 w 672"/>
                  <a:gd name="T5" fmla="*/ 164 h 164"/>
                  <a:gd name="T6" fmla="*/ 0 w 672"/>
                  <a:gd name="T7" fmla="*/ 164 h 164"/>
                  <a:gd name="T8" fmla="*/ 179 w 672"/>
                  <a:gd name="T9" fmla="*/ 0 h 164"/>
                  <a:gd name="T10" fmla="*/ 0 60000 65536"/>
                  <a:gd name="T11" fmla="*/ 0 60000 65536"/>
                  <a:gd name="T12" fmla="*/ 0 60000 65536"/>
                  <a:gd name="T13" fmla="*/ 0 60000 65536"/>
                  <a:gd name="T14" fmla="*/ 0 60000 65536"/>
                  <a:gd name="T15" fmla="*/ 0 w 672"/>
                  <a:gd name="T16" fmla="*/ 0 h 164"/>
                  <a:gd name="T17" fmla="*/ 672 w 672"/>
                  <a:gd name="T18" fmla="*/ 164 h 164"/>
                </a:gdLst>
                <a:ahLst/>
                <a:cxnLst>
                  <a:cxn ang="T10">
                    <a:pos x="T0" y="T1"/>
                  </a:cxn>
                  <a:cxn ang="T11">
                    <a:pos x="T2" y="T3"/>
                  </a:cxn>
                  <a:cxn ang="T12">
                    <a:pos x="T4" y="T5"/>
                  </a:cxn>
                  <a:cxn ang="T13">
                    <a:pos x="T6" y="T7"/>
                  </a:cxn>
                  <a:cxn ang="T14">
                    <a:pos x="T8" y="T9"/>
                  </a:cxn>
                </a:cxnLst>
                <a:rect l="T15" t="T16" r="T17" b="T18"/>
                <a:pathLst>
                  <a:path w="672" h="164">
                    <a:moveTo>
                      <a:pt x="179" y="0"/>
                    </a:moveTo>
                    <a:lnTo>
                      <a:pt x="672" y="0"/>
                    </a:lnTo>
                    <a:lnTo>
                      <a:pt x="508" y="164"/>
                    </a:lnTo>
                    <a:lnTo>
                      <a:pt x="0" y="164"/>
                    </a:lnTo>
                    <a:lnTo>
                      <a:pt x="179" y="0"/>
                    </a:lnTo>
                    <a:close/>
                  </a:path>
                </a:pathLst>
              </a:custGeom>
              <a:solidFill>
                <a:schemeClr val="hlink"/>
              </a:solidFill>
              <a:ln w="9525">
                <a:solidFill>
                  <a:schemeClr val="tx1"/>
                </a:solidFill>
                <a:round/>
                <a:headEnd/>
                <a:tailEnd/>
              </a:ln>
            </p:spPr>
            <p:txBody>
              <a:bodyPr/>
              <a:lstStyle/>
              <a:p>
                <a:endParaRPr lang="de-DE"/>
              </a:p>
            </p:txBody>
          </p:sp>
          <p:grpSp>
            <p:nvGrpSpPr>
              <p:cNvPr id="63" name="Group 15"/>
              <p:cNvGrpSpPr>
                <a:grpSpLocks/>
              </p:cNvGrpSpPr>
              <p:nvPr/>
            </p:nvGrpSpPr>
            <p:grpSpPr bwMode="auto">
              <a:xfrm>
                <a:off x="423" y="3789"/>
                <a:ext cx="238" cy="103"/>
                <a:chOff x="2848" y="848"/>
                <a:chExt cx="140" cy="98"/>
              </a:xfrm>
            </p:grpSpPr>
            <p:sp>
              <p:nvSpPr>
                <p:cNvPr id="68" name="Line 1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9" name="Line 1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0" name="Line 1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64" name="Group 19"/>
              <p:cNvGrpSpPr>
                <a:grpSpLocks/>
              </p:cNvGrpSpPr>
              <p:nvPr/>
            </p:nvGrpSpPr>
            <p:grpSpPr bwMode="auto">
              <a:xfrm flipV="1">
                <a:off x="437" y="3787"/>
                <a:ext cx="238" cy="103"/>
                <a:chOff x="2848" y="848"/>
                <a:chExt cx="140" cy="98"/>
              </a:xfrm>
            </p:grpSpPr>
            <p:sp>
              <p:nvSpPr>
                <p:cNvPr id="65" name="Line 20"/>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6" name="Line 21"/>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7" name="Line 22"/>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12" name="Rectangle 23"/>
            <p:cNvSpPr>
              <a:spLocks noChangeArrowheads="1"/>
            </p:cNvSpPr>
            <p:nvPr/>
          </p:nvSpPr>
          <p:spPr bwMode="auto">
            <a:xfrm>
              <a:off x="3554305" y="1092200"/>
              <a:ext cx="1296988" cy="15462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3" name="Rectangle 24"/>
            <p:cNvSpPr>
              <a:spLocks noChangeArrowheads="1"/>
            </p:cNvSpPr>
            <p:nvPr/>
          </p:nvSpPr>
          <p:spPr bwMode="auto">
            <a:xfrm>
              <a:off x="3506680" y="1163638"/>
              <a:ext cx="1273175" cy="153670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14" name="Line 25"/>
            <p:cNvSpPr>
              <a:spLocks noChangeShapeType="1"/>
            </p:cNvSpPr>
            <p:nvPr/>
          </p:nvSpPr>
          <p:spPr bwMode="auto">
            <a:xfrm>
              <a:off x="3506680" y="148113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5" name="Text Box 26"/>
            <p:cNvSpPr txBox="1">
              <a:spLocks noChangeArrowheads="1"/>
            </p:cNvSpPr>
            <p:nvPr/>
          </p:nvSpPr>
          <p:spPr bwMode="auto">
            <a:xfrm>
              <a:off x="3463818" y="1130300"/>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application</a:t>
              </a:r>
            </a:p>
            <a:p>
              <a:pPr algn="ctr">
                <a:lnSpc>
                  <a:spcPct val="110000"/>
                </a:lnSpc>
              </a:pPr>
              <a:r>
                <a:rPr lang="en-US" sz="1800">
                  <a:latin typeface="+mn-lt"/>
                </a:rPr>
                <a:t>transport</a:t>
              </a:r>
            </a:p>
            <a:p>
              <a:pPr algn="ctr">
                <a:lnSpc>
                  <a:spcPct val="110000"/>
                </a:lnSpc>
              </a:pPr>
              <a:r>
                <a:rPr lang="en-US" sz="1800">
                  <a:latin typeface="+mn-lt"/>
                </a:rPr>
                <a:t>network</a:t>
              </a:r>
            </a:p>
            <a:p>
              <a:pPr algn="ctr">
                <a:lnSpc>
                  <a:spcPct val="110000"/>
                </a:lnSpc>
              </a:pPr>
              <a:r>
                <a:rPr lang="en-US" sz="1800">
                  <a:latin typeface="+mn-lt"/>
                </a:rPr>
                <a:t>link</a:t>
              </a:r>
            </a:p>
            <a:p>
              <a:pPr algn="ctr">
                <a:lnSpc>
                  <a:spcPct val="110000"/>
                </a:lnSpc>
              </a:pPr>
              <a:r>
                <a:rPr lang="en-US" sz="1800">
                  <a:latin typeface="+mn-lt"/>
                </a:rPr>
                <a:t>physical</a:t>
              </a:r>
            </a:p>
          </p:txBody>
        </p:sp>
        <p:sp>
          <p:nvSpPr>
            <p:cNvPr id="16" name="Line 27"/>
            <p:cNvSpPr>
              <a:spLocks noChangeShapeType="1"/>
            </p:cNvSpPr>
            <p:nvPr/>
          </p:nvSpPr>
          <p:spPr bwMode="auto">
            <a:xfrm>
              <a:off x="3514618" y="1801813"/>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7" name="Line 28"/>
            <p:cNvSpPr>
              <a:spLocks noChangeShapeType="1"/>
            </p:cNvSpPr>
            <p:nvPr/>
          </p:nvSpPr>
          <p:spPr bwMode="auto">
            <a:xfrm>
              <a:off x="3519380" y="208280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8" name="Line 29"/>
            <p:cNvSpPr>
              <a:spLocks noChangeShapeType="1"/>
            </p:cNvSpPr>
            <p:nvPr/>
          </p:nvSpPr>
          <p:spPr bwMode="auto">
            <a:xfrm>
              <a:off x="3519380" y="235902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9" name="Text Box 54"/>
            <p:cNvSpPr txBox="1">
              <a:spLocks noChangeArrowheads="1"/>
            </p:cNvSpPr>
            <p:nvPr/>
          </p:nvSpPr>
          <p:spPr bwMode="auto">
            <a:xfrm>
              <a:off x="3986988" y="3846004"/>
              <a:ext cx="6815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err="1">
                  <a:solidFill>
                    <a:schemeClr val="accent2"/>
                  </a:solidFill>
                  <a:latin typeface="+mn-lt"/>
                </a:rPr>
                <a:t>Ziel</a:t>
              </a:r>
              <a:endParaRPr lang="en-US" dirty="0">
                <a:solidFill>
                  <a:schemeClr val="accent2"/>
                </a:solidFill>
                <a:latin typeface="+mn-lt"/>
              </a:endParaRPr>
            </a:p>
          </p:txBody>
        </p:sp>
        <p:graphicFrame>
          <p:nvGraphicFramePr>
            <p:cNvPr id="20" name="Object 55"/>
            <p:cNvGraphicFramePr>
              <a:graphicFrameLocks noChangeAspect="1"/>
            </p:cNvGraphicFramePr>
            <p:nvPr/>
          </p:nvGraphicFramePr>
          <p:xfrm>
            <a:off x="3393083" y="4017181"/>
            <a:ext cx="506966" cy="418527"/>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3083" y="4017181"/>
                          <a:ext cx="506966" cy="4185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Freeform 56"/>
            <p:cNvSpPr>
              <a:spLocks/>
            </p:cNvSpPr>
            <p:nvPr/>
          </p:nvSpPr>
          <p:spPr bwMode="auto">
            <a:xfrm>
              <a:off x="4457700" y="4451890"/>
              <a:ext cx="360362" cy="1577975"/>
            </a:xfrm>
            <a:custGeom>
              <a:avLst/>
              <a:gdLst>
                <a:gd name="T0" fmla="*/ 342816 w 267"/>
                <a:gd name="T1" fmla="*/ 620014 h 1186"/>
                <a:gd name="T2" fmla="*/ 0 w 267"/>
                <a:gd name="T3" fmla="*/ 0 h 1186"/>
                <a:gd name="T4" fmla="*/ 0 w 267"/>
                <a:gd name="T5" fmla="*/ 1577975 h 1186"/>
                <a:gd name="T6" fmla="*/ 360362 w 267"/>
                <a:gd name="T7" fmla="*/ 867487 h 1186"/>
                <a:gd name="T8" fmla="*/ 342816 w 267"/>
                <a:gd name="T9" fmla="*/ 620014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2" name="Rectangle 57"/>
            <p:cNvSpPr>
              <a:spLocks noChangeArrowheads="1"/>
            </p:cNvSpPr>
            <p:nvPr/>
          </p:nvSpPr>
          <p:spPr bwMode="auto">
            <a:xfrm>
              <a:off x="3233737" y="4458240"/>
              <a:ext cx="1296988" cy="15462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23" name="Rectangle 58"/>
            <p:cNvSpPr>
              <a:spLocks noChangeArrowheads="1"/>
            </p:cNvSpPr>
            <p:nvPr/>
          </p:nvSpPr>
          <p:spPr bwMode="auto">
            <a:xfrm>
              <a:off x="3186112" y="4529678"/>
              <a:ext cx="1273175" cy="153670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24" name="Line 59"/>
            <p:cNvSpPr>
              <a:spLocks noChangeShapeType="1"/>
            </p:cNvSpPr>
            <p:nvPr/>
          </p:nvSpPr>
          <p:spPr bwMode="auto">
            <a:xfrm>
              <a:off x="3186112" y="484717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5" name="Text Box 60"/>
            <p:cNvSpPr txBox="1">
              <a:spLocks noChangeArrowheads="1"/>
            </p:cNvSpPr>
            <p:nvPr/>
          </p:nvSpPr>
          <p:spPr bwMode="auto">
            <a:xfrm>
              <a:off x="3143250" y="4496340"/>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application</a:t>
              </a:r>
            </a:p>
            <a:p>
              <a:pPr algn="ctr">
                <a:lnSpc>
                  <a:spcPct val="110000"/>
                </a:lnSpc>
              </a:pPr>
              <a:r>
                <a:rPr lang="en-US" sz="1800">
                  <a:latin typeface="+mn-lt"/>
                </a:rPr>
                <a:t>transport</a:t>
              </a:r>
            </a:p>
            <a:p>
              <a:pPr algn="ctr">
                <a:lnSpc>
                  <a:spcPct val="110000"/>
                </a:lnSpc>
              </a:pPr>
              <a:r>
                <a:rPr lang="en-US" sz="1800">
                  <a:latin typeface="+mn-lt"/>
                </a:rPr>
                <a:t>network</a:t>
              </a:r>
            </a:p>
            <a:p>
              <a:pPr algn="ctr">
                <a:lnSpc>
                  <a:spcPct val="110000"/>
                </a:lnSpc>
              </a:pPr>
              <a:r>
                <a:rPr lang="en-US" sz="1800">
                  <a:latin typeface="+mn-lt"/>
                </a:rPr>
                <a:t>link</a:t>
              </a:r>
            </a:p>
            <a:p>
              <a:pPr algn="ctr">
                <a:lnSpc>
                  <a:spcPct val="110000"/>
                </a:lnSpc>
              </a:pPr>
              <a:r>
                <a:rPr lang="en-US" sz="1800">
                  <a:latin typeface="+mn-lt"/>
                </a:rPr>
                <a:t>physical</a:t>
              </a:r>
            </a:p>
          </p:txBody>
        </p:sp>
        <p:sp>
          <p:nvSpPr>
            <p:cNvPr id="26" name="Line 61"/>
            <p:cNvSpPr>
              <a:spLocks noChangeShapeType="1"/>
            </p:cNvSpPr>
            <p:nvPr/>
          </p:nvSpPr>
          <p:spPr bwMode="auto">
            <a:xfrm>
              <a:off x="3194050" y="5167853"/>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7" name="Line 62"/>
            <p:cNvSpPr>
              <a:spLocks noChangeShapeType="1"/>
            </p:cNvSpPr>
            <p:nvPr/>
          </p:nvSpPr>
          <p:spPr bwMode="auto">
            <a:xfrm>
              <a:off x="3198812" y="544884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8" name="Line 63"/>
            <p:cNvSpPr>
              <a:spLocks noChangeShapeType="1"/>
            </p:cNvSpPr>
            <p:nvPr/>
          </p:nvSpPr>
          <p:spPr bwMode="auto">
            <a:xfrm>
              <a:off x="3198812" y="572506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29" name="Group 88"/>
            <p:cNvGrpSpPr>
              <a:grpSpLocks/>
            </p:cNvGrpSpPr>
            <p:nvPr/>
          </p:nvGrpSpPr>
          <p:grpSpPr bwMode="auto">
            <a:xfrm>
              <a:off x="5552848" y="4226445"/>
              <a:ext cx="1669296" cy="1044576"/>
              <a:chOff x="3601" y="168"/>
              <a:chExt cx="874" cy="658"/>
            </a:xfrm>
          </p:grpSpPr>
          <p:sp>
            <p:nvSpPr>
              <p:cNvPr id="55" name="Rectangle 89"/>
              <p:cNvSpPr>
                <a:spLocks noChangeArrowheads="1"/>
              </p:cNvSpPr>
              <p:nvPr/>
            </p:nvSpPr>
            <p:spPr bwMode="auto">
              <a:xfrm>
                <a:off x="3658" y="168"/>
                <a:ext cx="817" cy="59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56" name="Rectangle 90"/>
              <p:cNvSpPr>
                <a:spLocks noChangeArrowheads="1"/>
              </p:cNvSpPr>
              <p:nvPr/>
            </p:nvSpPr>
            <p:spPr bwMode="auto">
              <a:xfrm>
                <a:off x="3628" y="213"/>
                <a:ext cx="802" cy="596"/>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57" name="Line 91"/>
              <p:cNvSpPr>
                <a:spLocks noChangeShapeType="1"/>
              </p:cNvSpPr>
              <p:nvPr/>
            </p:nvSpPr>
            <p:spPr bwMode="auto">
              <a:xfrm>
                <a:off x="3628" y="413"/>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8" name="Text Box 92"/>
              <p:cNvSpPr txBox="1">
                <a:spLocks noChangeArrowheads="1"/>
              </p:cNvSpPr>
              <p:nvPr/>
            </p:nvSpPr>
            <p:spPr bwMode="auto">
              <a:xfrm>
                <a:off x="3601" y="192"/>
                <a:ext cx="83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dirty="0" err="1">
                    <a:latin typeface="+mn-lt"/>
                  </a:rPr>
                  <a:t>Netzwerks</a:t>
                </a:r>
                <a:r>
                  <a:rPr lang="en-US" sz="1800" dirty="0">
                    <a:latin typeface="+mn-lt"/>
                  </a:rPr>
                  <a:t>.</a:t>
                </a:r>
              </a:p>
              <a:p>
                <a:pPr algn="ctr">
                  <a:lnSpc>
                    <a:spcPct val="110000"/>
                  </a:lnSpc>
                </a:pPr>
                <a:r>
                  <a:rPr lang="en-US" sz="1800" dirty="0" err="1">
                    <a:latin typeface="+mn-lt"/>
                  </a:rPr>
                  <a:t>Sicherungs</a:t>
                </a:r>
                <a:r>
                  <a:rPr lang="en-US" sz="1800" dirty="0">
                    <a:latin typeface="+mn-lt"/>
                  </a:rPr>
                  <a:t>.</a:t>
                </a:r>
              </a:p>
              <a:p>
                <a:pPr algn="ctr">
                  <a:lnSpc>
                    <a:spcPct val="110000"/>
                  </a:lnSpc>
                </a:pPr>
                <a:r>
                  <a:rPr lang="en-US" sz="1800" dirty="0" err="1">
                    <a:latin typeface="+mn-lt"/>
                  </a:rPr>
                  <a:t>Bitübertrag</a:t>
                </a:r>
                <a:r>
                  <a:rPr lang="en-US" sz="1800" dirty="0">
                    <a:latin typeface="+mn-lt"/>
                  </a:rPr>
                  <a:t>.</a:t>
                </a:r>
              </a:p>
            </p:txBody>
          </p:sp>
          <p:sp>
            <p:nvSpPr>
              <p:cNvPr id="59" name="Line 93"/>
              <p:cNvSpPr>
                <a:spLocks noChangeShapeType="1"/>
              </p:cNvSpPr>
              <p:nvPr/>
            </p:nvSpPr>
            <p:spPr bwMode="auto">
              <a:xfrm>
                <a:off x="3633" y="615"/>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30" name="Group 94"/>
            <p:cNvGrpSpPr>
              <a:grpSpLocks/>
            </p:cNvGrpSpPr>
            <p:nvPr/>
          </p:nvGrpSpPr>
          <p:grpSpPr bwMode="auto">
            <a:xfrm>
              <a:off x="5734053" y="2271714"/>
              <a:ext cx="1525588" cy="728663"/>
              <a:chOff x="4641" y="597"/>
              <a:chExt cx="961" cy="459"/>
            </a:xfrm>
          </p:grpSpPr>
          <p:sp>
            <p:nvSpPr>
              <p:cNvPr id="51" name="Rectangle 95"/>
              <p:cNvSpPr>
                <a:spLocks noChangeArrowheads="1"/>
              </p:cNvSpPr>
              <p:nvPr/>
            </p:nvSpPr>
            <p:spPr bwMode="auto">
              <a:xfrm>
                <a:off x="4753" y="597"/>
                <a:ext cx="817" cy="41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52" name="Rectangle 96"/>
              <p:cNvSpPr>
                <a:spLocks noChangeArrowheads="1"/>
              </p:cNvSpPr>
              <p:nvPr/>
            </p:nvSpPr>
            <p:spPr bwMode="auto">
              <a:xfrm>
                <a:off x="4723" y="642"/>
                <a:ext cx="802" cy="413"/>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53" name="Line 97"/>
              <p:cNvSpPr>
                <a:spLocks noChangeShapeType="1"/>
              </p:cNvSpPr>
              <p:nvPr/>
            </p:nvSpPr>
            <p:spPr bwMode="auto">
              <a:xfrm>
                <a:off x="4723" y="842"/>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4" name="Text Box 98"/>
              <p:cNvSpPr txBox="1">
                <a:spLocks noChangeArrowheads="1"/>
              </p:cNvSpPr>
              <p:nvPr/>
            </p:nvSpPr>
            <p:spPr bwMode="auto">
              <a:xfrm>
                <a:off x="4641" y="614"/>
                <a:ext cx="961"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dirty="0" err="1">
                    <a:latin typeface="+mn-lt"/>
                  </a:rPr>
                  <a:t>Sicherungs</a:t>
                </a:r>
                <a:endParaRPr lang="en-US" sz="1800" dirty="0">
                  <a:latin typeface="+mn-lt"/>
                </a:endParaRPr>
              </a:p>
              <a:p>
                <a:pPr algn="ctr">
                  <a:lnSpc>
                    <a:spcPct val="110000"/>
                  </a:lnSpc>
                </a:pPr>
                <a:r>
                  <a:rPr lang="en-US" sz="1800" dirty="0" err="1">
                    <a:latin typeface="+mn-lt"/>
                  </a:rPr>
                  <a:t>Bitübertrag</a:t>
                </a:r>
                <a:endParaRPr lang="en-US" sz="1800" dirty="0">
                  <a:latin typeface="+mn-lt"/>
                </a:endParaRPr>
              </a:p>
            </p:txBody>
          </p:sp>
        </p:grpSp>
        <p:sp>
          <p:nvSpPr>
            <p:cNvPr id="31" name="Freeform 99"/>
            <p:cNvSpPr>
              <a:spLocks/>
            </p:cNvSpPr>
            <p:nvPr/>
          </p:nvSpPr>
          <p:spPr bwMode="auto">
            <a:xfrm rot="5400000">
              <a:off x="5991279" y="5004322"/>
              <a:ext cx="655638" cy="1135063"/>
            </a:xfrm>
            <a:custGeom>
              <a:avLst/>
              <a:gdLst>
                <a:gd name="T0" fmla="*/ 655638 w 413"/>
                <a:gd name="T1" fmla="*/ 904875 h 715"/>
                <a:gd name="T2" fmla="*/ 14288 w 413"/>
                <a:gd name="T3" fmla="*/ 0 h 715"/>
                <a:gd name="T4" fmla="*/ 0 w 413"/>
                <a:gd name="T5" fmla="*/ 958850 h 715"/>
                <a:gd name="T6" fmla="*/ 630238 w 413"/>
                <a:gd name="T7" fmla="*/ 1135063 h 715"/>
                <a:gd name="T8" fmla="*/ 655638 w 413"/>
                <a:gd name="T9" fmla="*/ 904875 h 715"/>
                <a:gd name="T10" fmla="*/ 0 60000 65536"/>
                <a:gd name="T11" fmla="*/ 0 60000 65536"/>
                <a:gd name="T12" fmla="*/ 0 60000 65536"/>
                <a:gd name="T13" fmla="*/ 0 60000 65536"/>
                <a:gd name="T14" fmla="*/ 0 60000 65536"/>
                <a:gd name="T15" fmla="*/ 0 w 413"/>
                <a:gd name="T16" fmla="*/ 0 h 715"/>
                <a:gd name="T17" fmla="*/ 413 w 413"/>
                <a:gd name="T18" fmla="*/ 715 h 715"/>
              </a:gdLst>
              <a:ahLst/>
              <a:cxnLst>
                <a:cxn ang="T10">
                  <a:pos x="T0" y="T1"/>
                </a:cxn>
                <a:cxn ang="T11">
                  <a:pos x="T2" y="T3"/>
                </a:cxn>
                <a:cxn ang="T12">
                  <a:pos x="T4" y="T5"/>
                </a:cxn>
                <a:cxn ang="T13">
                  <a:pos x="T6" y="T7"/>
                </a:cxn>
                <a:cxn ang="T14">
                  <a:pos x="T8" y="T9"/>
                </a:cxn>
              </a:cxnLst>
              <a:rect l="T15" t="T16" r="T17" b="T18"/>
              <a:pathLst>
                <a:path w="413" h="715">
                  <a:moveTo>
                    <a:pt x="413" y="570"/>
                  </a:moveTo>
                  <a:lnTo>
                    <a:pt x="9" y="0"/>
                  </a:lnTo>
                  <a:lnTo>
                    <a:pt x="0" y="604"/>
                  </a:lnTo>
                  <a:lnTo>
                    <a:pt x="397" y="715"/>
                  </a:lnTo>
                  <a:lnTo>
                    <a:pt x="413" y="570"/>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nvGrpSpPr>
            <p:cNvPr id="32" name="Group 100"/>
            <p:cNvGrpSpPr>
              <a:grpSpLocks/>
            </p:cNvGrpSpPr>
            <p:nvPr/>
          </p:nvGrpSpPr>
          <p:grpSpPr bwMode="auto">
            <a:xfrm>
              <a:off x="5699068" y="5781120"/>
              <a:ext cx="766763" cy="433387"/>
              <a:chOff x="3600" y="219"/>
              <a:chExt cx="360" cy="175"/>
            </a:xfrm>
          </p:grpSpPr>
          <p:sp>
            <p:nvSpPr>
              <p:cNvPr id="38" name="Oval 10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39" name="Line 10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0" name="Line 10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1" name="Rectangle 10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42" name="Oval 10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43" name="Group 106"/>
              <p:cNvGrpSpPr>
                <a:grpSpLocks/>
              </p:cNvGrpSpPr>
              <p:nvPr/>
            </p:nvGrpSpPr>
            <p:grpSpPr bwMode="auto">
              <a:xfrm>
                <a:off x="3686" y="244"/>
                <a:ext cx="177" cy="66"/>
                <a:chOff x="2848" y="848"/>
                <a:chExt cx="140" cy="98"/>
              </a:xfrm>
            </p:grpSpPr>
            <p:sp>
              <p:nvSpPr>
                <p:cNvPr id="48" name="Line 10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9" name="Line 10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0" name="Line 10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44" name="Group 110"/>
              <p:cNvGrpSpPr>
                <a:grpSpLocks/>
              </p:cNvGrpSpPr>
              <p:nvPr/>
            </p:nvGrpSpPr>
            <p:grpSpPr bwMode="auto">
              <a:xfrm flipV="1">
                <a:off x="3686" y="243"/>
                <a:ext cx="177" cy="66"/>
                <a:chOff x="2848" y="848"/>
                <a:chExt cx="140" cy="98"/>
              </a:xfrm>
            </p:grpSpPr>
            <p:sp>
              <p:nvSpPr>
                <p:cNvPr id="45" name="Line 11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6" name="Line 11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7" name="Line 11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33" name="Freeform 114"/>
            <p:cNvSpPr>
              <a:spLocks/>
            </p:cNvSpPr>
            <p:nvPr/>
          </p:nvSpPr>
          <p:spPr bwMode="auto">
            <a:xfrm>
              <a:off x="4383052" y="1290022"/>
              <a:ext cx="2709898" cy="4790462"/>
            </a:xfrm>
            <a:custGeom>
              <a:avLst/>
              <a:gdLst>
                <a:gd name="T0" fmla="*/ 1384300 w 3316"/>
                <a:gd name="T1" fmla="*/ 0 h 3461"/>
                <a:gd name="T2" fmla="*/ 1393825 w 3316"/>
                <a:gd name="T3" fmla="*/ 2351088 h 3461"/>
                <a:gd name="T4" fmla="*/ 4146550 w 3316"/>
                <a:gd name="T5" fmla="*/ 2351088 h 3461"/>
                <a:gd name="T6" fmla="*/ 4146550 w 3316"/>
                <a:gd name="T7" fmla="*/ 1871663 h 3461"/>
                <a:gd name="T8" fmla="*/ 5229225 w 3316"/>
                <a:gd name="T9" fmla="*/ 1871663 h 3461"/>
                <a:gd name="T10" fmla="*/ 5264150 w 3316"/>
                <a:gd name="T11" fmla="*/ 4970463 h 3461"/>
                <a:gd name="T12" fmla="*/ 4997450 w 3316"/>
                <a:gd name="T13" fmla="*/ 4740276 h 3461"/>
                <a:gd name="T14" fmla="*/ 4989513 w 3316"/>
                <a:gd name="T15" fmla="*/ 3789363 h 3461"/>
                <a:gd name="T16" fmla="*/ 3976688 w 3316"/>
                <a:gd name="T17" fmla="*/ 3789363 h 3461"/>
                <a:gd name="T18" fmla="*/ 3976688 w 3316"/>
                <a:gd name="T19" fmla="*/ 4873626 h 3461"/>
                <a:gd name="T20" fmla="*/ 1677988 w 3316"/>
                <a:gd name="T21" fmla="*/ 5494338 h 3461"/>
                <a:gd name="T22" fmla="*/ 0 w 3316"/>
                <a:gd name="T23" fmla="*/ 5494338 h 3461"/>
                <a:gd name="T24" fmla="*/ 0 w 3316"/>
                <a:gd name="T25" fmla="*/ 3976688 h 34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16"/>
                <a:gd name="T40" fmla="*/ 0 h 3461"/>
                <a:gd name="T41" fmla="*/ 3316 w 3316"/>
                <a:gd name="T42" fmla="*/ 3461 h 3461"/>
                <a:gd name="connsiteX0" fmla="*/ 2630 w 10000"/>
                <a:gd name="connsiteY0" fmla="*/ 0 h 10000"/>
                <a:gd name="connsiteX1" fmla="*/ 2648 w 10000"/>
                <a:gd name="connsiteY1" fmla="*/ 4279 h 10000"/>
                <a:gd name="connsiteX2" fmla="*/ 7877 w 10000"/>
                <a:gd name="connsiteY2" fmla="*/ 4279 h 10000"/>
                <a:gd name="connsiteX3" fmla="*/ 7877 w 10000"/>
                <a:gd name="connsiteY3" fmla="*/ 3407 h 10000"/>
                <a:gd name="connsiteX4" fmla="*/ 9934 w 10000"/>
                <a:gd name="connsiteY4" fmla="*/ 3407 h 10000"/>
                <a:gd name="connsiteX5" fmla="*/ 10000 w 10000"/>
                <a:gd name="connsiteY5" fmla="*/ 9047 h 10000"/>
                <a:gd name="connsiteX6" fmla="*/ 9493 w 10000"/>
                <a:gd name="connsiteY6" fmla="*/ 8628 h 10000"/>
                <a:gd name="connsiteX7" fmla="*/ 9478 w 10000"/>
                <a:gd name="connsiteY7" fmla="*/ 6897 h 10000"/>
                <a:gd name="connsiteX8" fmla="*/ 7554 w 10000"/>
                <a:gd name="connsiteY8" fmla="*/ 6897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877 w 10000"/>
                <a:gd name="connsiteY2" fmla="*/ 4279 h 10000"/>
                <a:gd name="connsiteX3" fmla="*/ 7877 w 10000"/>
                <a:gd name="connsiteY3" fmla="*/ 3407 h 10000"/>
                <a:gd name="connsiteX4" fmla="*/ 9934 w 10000"/>
                <a:gd name="connsiteY4" fmla="*/ 3407 h 10000"/>
                <a:gd name="connsiteX5" fmla="*/ 10000 w 10000"/>
                <a:gd name="connsiteY5" fmla="*/ 9047 h 10000"/>
                <a:gd name="connsiteX6" fmla="*/ 9493 w 10000"/>
                <a:gd name="connsiteY6" fmla="*/ 8628 h 10000"/>
                <a:gd name="connsiteX7" fmla="*/ 9478 w 10000"/>
                <a:gd name="connsiteY7" fmla="*/ 6897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877 w 10000"/>
                <a:gd name="connsiteY2" fmla="*/ 4279 h 10000"/>
                <a:gd name="connsiteX3" fmla="*/ 7877 w 10000"/>
                <a:gd name="connsiteY3" fmla="*/ 3407 h 10000"/>
                <a:gd name="connsiteX4" fmla="*/ 9934 w 10000"/>
                <a:gd name="connsiteY4" fmla="*/ 3407 h 10000"/>
                <a:gd name="connsiteX5" fmla="*/ 10000 w 10000"/>
                <a:gd name="connsiteY5" fmla="*/ 9047 h 10000"/>
                <a:gd name="connsiteX6" fmla="*/ 9493 w 10000"/>
                <a:gd name="connsiteY6" fmla="*/ 8628 h 10000"/>
                <a:gd name="connsiteX7" fmla="*/ 9698 w 10000"/>
                <a:gd name="connsiteY7" fmla="*/ 6954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877 w 10000"/>
                <a:gd name="connsiteY2" fmla="*/ 4279 h 10000"/>
                <a:gd name="connsiteX3" fmla="*/ 7877 w 10000"/>
                <a:gd name="connsiteY3" fmla="*/ 3407 h 10000"/>
                <a:gd name="connsiteX4" fmla="*/ 9934 w 10000"/>
                <a:gd name="connsiteY4" fmla="*/ 3407 h 10000"/>
                <a:gd name="connsiteX5" fmla="*/ 10000 w 10000"/>
                <a:gd name="connsiteY5" fmla="*/ 9047 h 10000"/>
                <a:gd name="connsiteX6" fmla="*/ 9693 w 10000"/>
                <a:gd name="connsiteY6" fmla="*/ 8724 h 10000"/>
                <a:gd name="connsiteX7" fmla="*/ 9698 w 10000"/>
                <a:gd name="connsiteY7" fmla="*/ 6954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498 w 10000"/>
                <a:gd name="connsiteY2" fmla="*/ 4317 h 10000"/>
                <a:gd name="connsiteX3" fmla="*/ 7877 w 10000"/>
                <a:gd name="connsiteY3" fmla="*/ 3407 h 10000"/>
                <a:gd name="connsiteX4" fmla="*/ 9934 w 10000"/>
                <a:gd name="connsiteY4" fmla="*/ 3407 h 10000"/>
                <a:gd name="connsiteX5" fmla="*/ 10000 w 10000"/>
                <a:gd name="connsiteY5" fmla="*/ 9047 h 10000"/>
                <a:gd name="connsiteX6" fmla="*/ 9693 w 10000"/>
                <a:gd name="connsiteY6" fmla="*/ 8724 h 10000"/>
                <a:gd name="connsiteX7" fmla="*/ 9698 w 10000"/>
                <a:gd name="connsiteY7" fmla="*/ 6954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498 w 10000"/>
                <a:gd name="connsiteY2" fmla="*/ 4317 h 10000"/>
                <a:gd name="connsiteX3" fmla="*/ 7478 w 10000"/>
                <a:gd name="connsiteY3" fmla="*/ 3407 h 10000"/>
                <a:gd name="connsiteX4" fmla="*/ 9934 w 10000"/>
                <a:gd name="connsiteY4" fmla="*/ 3407 h 10000"/>
                <a:gd name="connsiteX5" fmla="*/ 10000 w 10000"/>
                <a:gd name="connsiteY5" fmla="*/ 9047 h 10000"/>
                <a:gd name="connsiteX6" fmla="*/ 9693 w 10000"/>
                <a:gd name="connsiteY6" fmla="*/ 8724 h 10000"/>
                <a:gd name="connsiteX7" fmla="*/ 9698 w 10000"/>
                <a:gd name="connsiteY7" fmla="*/ 6954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96"/>
                <a:gd name="connsiteX1" fmla="*/ 2648 w 10000"/>
                <a:gd name="connsiteY1" fmla="*/ 4279 h 10096"/>
                <a:gd name="connsiteX2" fmla="*/ 7498 w 10000"/>
                <a:gd name="connsiteY2" fmla="*/ 4317 h 10096"/>
                <a:gd name="connsiteX3" fmla="*/ 7478 w 10000"/>
                <a:gd name="connsiteY3" fmla="*/ 3407 h 10096"/>
                <a:gd name="connsiteX4" fmla="*/ 9934 w 10000"/>
                <a:gd name="connsiteY4" fmla="*/ 3407 h 10096"/>
                <a:gd name="connsiteX5" fmla="*/ 10000 w 10000"/>
                <a:gd name="connsiteY5" fmla="*/ 9047 h 10096"/>
                <a:gd name="connsiteX6" fmla="*/ 9693 w 10000"/>
                <a:gd name="connsiteY6" fmla="*/ 8724 h 10096"/>
                <a:gd name="connsiteX7" fmla="*/ 9698 w 10000"/>
                <a:gd name="connsiteY7" fmla="*/ 6954 h 10096"/>
                <a:gd name="connsiteX8" fmla="*/ 7235 w 10000"/>
                <a:gd name="connsiteY8" fmla="*/ 6974 h 10096"/>
                <a:gd name="connsiteX9" fmla="*/ 7215 w 10000"/>
                <a:gd name="connsiteY9" fmla="*/ 8851 h 10096"/>
                <a:gd name="connsiteX10" fmla="*/ 5165 w 10000"/>
                <a:gd name="connsiteY10" fmla="*/ 10096 h 10096"/>
                <a:gd name="connsiteX11" fmla="*/ 0 w 10000"/>
                <a:gd name="connsiteY11" fmla="*/ 10000 h 10096"/>
                <a:gd name="connsiteX12" fmla="*/ 0 w 10000"/>
                <a:gd name="connsiteY12" fmla="*/ 7238 h 10096"/>
                <a:gd name="connsiteX0" fmla="*/ 2630 w 10000"/>
                <a:gd name="connsiteY0" fmla="*/ 0 h 10134"/>
                <a:gd name="connsiteX1" fmla="*/ 2648 w 10000"/>
                <a:gd name="connsiteY1" fmla="*/ 4279 h 10134"/>
                <a:gd name="connsiteX2" fmla="*/ 7498 w 10000"/>
                <a:gd name="connsiteY2" fmla="*/ 4317 h 10134"/>
                <a:gd name="connsiteX3" fmla="*/ 7478 w 10000"/>
                <a:gd name="connsiteY3" fmla="*/ 3407 h 10134"/>
                <a:gd name="connsiteX4" fmla="*/ 9934 w 10000"/>
                <a:gd name="connsiteY4" fmla="*/ 3407 h 10134"/>
                <a:gd name="connsiteX5" fmla="*/ 10000 w 10000"/>
                <a:gd name="connsiteY5" fmla="*/ 9047 h 10134"/>
                <a:gd name="connsiteX6" fmla="*/ 9693 w 10000"/>
                <a:gd name="connsiteY6" fmla="*/ 8724 h 10134"/>
                <a:gd name="connsiteX7" fmla="*/ 9698 w 10000"/>
                <a:gd name="connsiteY7" fmla="*/ 6954 h 10134"/>
                <a:gd name="connsiteX8" fmla="*/ 7235 w 10000"/>
                <a:gd name="connsiteY8" fmla="*/ 6974 h 10134"/>
                <a:gd name="connsiteX9" fmla="*/ 7215 w 10000"/>
                <a:gd name="connsiteY9" fmla="*/ 8851 h 10134"/>
                <a:gd name="connsiteX10" fmla="*/ 5165 w 10000"/>
                <a:gd name="connsiteY10" fmla="*/ 10096 h 10134"/>
                <a:gd name="connsiteX11" fmla="*/ 2576 w 10000"/>
                <a:gd name="connsiteY11" fmla="*/ 10134 h 10134"/>
                <a:gd name="connsiteX12" fmla="*/ 0 w 10000"/>
                <a:gd name="connsiteY12" fmla="*/ 7238 h 10134"/>
                <a:gd name="connsiteX0" fmla="*/ 2630 w 10000"/>
                <a:gd name="connsiteY0" fmla="*/ 0 h 10096"/>
                <a:gd name="connsiteX1" fmla="*/ 2648 w 10000"/>
                <a:gd name="connsiteY1" fmla="*/ 4279 h 10096"/>
                <a:gd name="connsiteX2" fmla="*/ 7498 w 10000"/>
                <a:gd name="connsiteY2" fmla="*/ 4317 h 10096"/>
                <a:gd name="connsiteX3" fmla="*/ 7478 w 10000"/>
                <a:gd name="connsiteY3" fmla="*/ 3407 h 10096"/>
                <a:gd name="connsiteX4" fmla="*/ 9934 w 10000"/>
                <a:gd name="connsiteY4" fmla="*/ 3407 h 10096"/>
                <a:gd name="connsiteX5" fmla="*/ 10000 w 10000"/>
                <a:gd name="connsiteY5" fmla="*/ 9047 h 10096"/>
                <a:gd name="connsiteX6" fmla="*/ 9693 w 10000"/>
                <a:gd name="connsiteY6" fmla="*/ 8724 h 10096"/>
                <a:gd name="connsiteX7" fmla="*/ 9698 w 10000"/>
                <a:gd name="connsiteY7" fmla="*/ 6954 h 10096"/>
                <a:gd name="connsiteX8" fmla="*/ 7235 w 10000"/>
                <a:gd name="connsiteY8" fmla="*/ 6974 h 10096"/>
                <a:gd name="connsiteX9" fmla="*/ 7215 w 10000"/>
                <a:gd name="connsiteY9" fmla="*/ 8851 h 10096"/>
                <a:gd name="connsiteX10" fmla="*/ 5165 w 10000"/>
                <a:gd name="connsiteY10" fmla="*/ 10096 h 10096"/>
                <a:gd name="connsiteX11" fmla="*/ 2636 w 10000"/>
                <a:gd name="connsiteY11" fmla="*/ 10077 h 10096"/>
                <a:gd name="connsiteX12" fmla="*/ 0 w 10000"/>
                <a:gd name="connsiteY12" fmla="*/ 7238 h 10096"/>
                <a:gd name="connsiteX0" fmla="*/ 0 w 7370"/>
                <a:gd name="connsiteY0" fmla="*/ 0 h 10096"/>
                <a:gd name="connsiteX1" fmla="*/ 18 w 7370"/>
                <a:gd name="connsiteY1" fmla="*/ 4279 h 10096"/>
                <a:gd name="connsiteX2" fmla="*/ 4868 w 7370"/>
                <a:gd name="connsiteY2" fmla="*/ 4317 h 10096"/>
                <a:gd name="connsiteX3" fmla="*/ 4848 w 7370"/>
                <a:gd name="connsiteY3" fmla="*/ 3407 h 10096"/>
                <a:gd name="connsiteX4" fmla="*/ 7304 w 7370"/>
                <a:gd name="connsiteY4" fmla="*/ 3407 h 10096"/>
                <a:gd name="connsiteX5" fmla="*/ 7370 w 7370"/>
                <a:gd name="connsiteY5" fmla="*/ 9047 h 10096"/>
                <a:gd name="connsiteX6" fmla="*/ 7063 w 7370"/>
                <a:gd name="connsiteY6" fmla="*/ 8724 h 10096"/>
                <a:gd name="connsiteX7" fmla="*/ 7068 w 7370"/>
                <a:gd name="connsiteY7" fmla="*/ 6954 h 10096"/>
                <a:gd name="connsiteX8" fmla="*/ 4605 w 7370"/>
                <a:gd name="connsiteY8" fmla="*/ 6974 h 10096"/>
                <a:gd name="connsiteX9" fmla="*/ 4585 w 7370"/>
                <a:gd name="connsiteY9" fmla="*/ 8851 h 10096"/>
                <a:gd name="connsiteX10" fmla="*/ 2535 w 7370"/>
                <a:gd name="connsiteY10" fmla="*/ 10096 h 10096"/>
                <a:gd name="connsiteX11" fmla="*/ 6 w 7370"/>
                <a:gd name="connsiteY11" fmla="*/ 10077 h 10096"/>
                <a:gd name="connsiteX12" fmla="*/ 5 w 7370"/>
                <a:gd name="connsiteY12" fmla="*/ 7429 h 10096"/>
                <a:gd name="connsiteX0" fmla="*/ 0 w 10000"/>
                <a:gd name="connsiteY0" fmla="*/ 0 h 10000"/>
                <a:gd name="connsiteX1" fmla="*/ 24 w 10000"/>
                <a:gd name="connsiteY1" fmla="*/ 4238 h 10000"/>
                <a:gd name="connsiteX2" fmla="*/ 6605 w 10000"/>
                <a:gd name="connsiteY2" fmla="*/ 4276 h 10000"/>
                <a:gd name="connsiteX3" fmla="*/ 6578 w 10000"/>
                <a:gd name="connsiteY3" fmla="*/ 3375 h 10000"/>
                <a:gd name="connsiteX4" fmla="*/ 9910 w 10000"/>
                <a:gd name="connsiteY4" fmla="*/ 3375 h 10000"/>
                <a:gd name="connsiteX5" fmla="*/ 10000 w 10000"/>
                <a:gd name="connsiteY5" fmla="*/ 8961 h 10000"/>
                <a:gd name="connsiteX6" fmla="*/ 9583 w 10000"/>
                <a:gd name="connsiteY6" fmla="*/ 8641 h 10000"/>
                <a:gd name="connsiteX7" fmla="*/ 9590 w 10000"/>
                <a:gd name="connsiteY7" fmla="*/ 6888 h 10000"/>
                <a:gd name="connsiteX8" fmla="*/ 6248 w 10000"/>
                <a:gd name="connsiteY8" fmla="*/ 6908 h 10000"/>
                <a:gd name="connsiteX9" fmla="*/ 6221 w 10000"/>
                <a:gd name="connsiteY9" fmla="*/ 8767 h 10000"/>
                <a:gd name="connsiteX10" fmla="*/ 3440 w 10000"/>
                <a:gd name="connsiteY10" fmla="*/ 10000 h 10000"/>
                <a:gd name="connsiteX11" fmla="*/ 143 w 10000"/>
                <a:gd name="connsiteY11" fmla="*/ 9981 h 10000"/>
                <a:gd name="connsiteX12" fmla="*/ 7 w 10000"/>
                <a:gd name="connsiteY12" fmla="*/ 7358 h 10000"/>
                <a:gd name="connsiteX0" fmla="*/ 155 w 10155"/>
                <a:gd name="connsiteY0" fmla="*/ 0 h 10000"/>
                <a:gd name="connsiteX1" fmla="*/ 179 w 10155"/>
                <a:gd name="connsiteY1" fmla="*/ 4238 h 10000"/>
                <a:gd name="connsiteX2" fmla="*/ 6760 w 10155"/>
                <a:gd name="connsiteY2" fmla="*/ 4276 h 10000"/>
                <a:gd name="connsiteX3" fmla="*/ 6733 w 10155"/>
                <a:gd name="connsiteY3" fmla="*/ 3375 h 10000"/>
                <a:gd name="connsiteX4" fmla="*/ 10065 w 10155"/>
                <a:gd name="connsiteY4" fmla="*/ 3375 h 10000"/>
                <a:gd name="connsiteX5" fmla="*/ 10155 w 10155"/>
                <a:gd name="connsiteY5" fmla="*/ 8961 h 10000"/>
                <a:gd name="connsiteX6" fmla="*/ 9738 w 10155"/>
                <a:gd name="connsiteY6" fmla="*/ 8641 h 10000"/>
                <a:gd name="connsiteX7" fmla="*/ 9745 w 10155"/>
                <a:gd name="connsiteY7" fmla="*/ 6888 h 10000"/>
                <a:gd name="connsiteX8" fmla="*/ 6403 w 10155"/>
                <a:gd name="connsiteY8" fmla="*/ 6908 h 10000"/>
                <a:gd name="connsiteX9" fmla="*/ 6376 w 10155"/>
                <a:gd name="connsiteY9" fmla="*/ 8767 h 10000"/>
                <a:gd name="connsiteX10" fmla="*/ 3595 w 10155"/>
                <a:gd name="connsiteY10" fmla="*/ 10000 h 10000"/>
                <a:gd name="connsiteX11" fmla="*/ 0 w 10155"/>
                <a:gd name="connsiteY11" fmla="*/ 9962 h 10000"/>
                <a:gd name="connsiteX12" fmla="*/ 162 w 10155"/>
                <a:gd name="connsiteY12" fmla="*/ 7358 h 10000"/>
                <a:gd name="connsiteX0" fmla="*/ 155 w 10155"/>
                <a:gd name="connsiteY0" fmla="*/ 0 h 10000"/>
                <a:gd name="connsiteX1" fmla="*/ 179 w 10155"/>
                <a:gd name="connsiteY1" fmla="*/ 4238 h 10000"/>
                <a:gd name="connsiteX2" fmla="*/ 6760 w 10155"/>
                <a:gd name="connsiteY2" fmla="*/ 4276 h 10000"/>
                <a:gd name="connsiteX3" fmla="*/ 6733 w 10155"/>
                <a:gd name="connsiteY3" fmla="*/ 3375 h 10000"/>
                <a:gd name="connsiteX4" fmla="*/ 10065 w 10155"/>
                <a:gd name="connsiteY4" fmla="*/ 3375 h 10000"/>
                <a:gd name="connsiteX5" fmla="*/ 10155 w 10155"/>
                <a:gd name="connsiteY5" fmla="*/ 8961 h 10000"/>
                <a:gd name="connsiteX6" fmla="*/ 9738 w 10155"/>
                <a:gd name="connsiteY6" fmla="*/ 8641 h 10000"/>
                <a:gd name="connsiteX7" fmla="*/ 9745 w 10155"/>
                <a:gd name="connsiteY7" fmla="*/ 6888 h 10000"/>
                <a:gd name="connsiteX8" fmla="*/ 6403 w 10155"/>
                <a:gd name="connsiteY8" fmla="*/ 6908 h 10000"/>
                <a:gd name="connsiteX9" fmla="*/ 6376 w 10155"/>
                <a:gd name="connsiteY9" fmla="*/ 8767 h 10000"/>
                <a:gd name="connsiteX10" fmla="*/ 3595 w 10155"/>
                <a:gd name="connsiteY10" fmla="*/ 10000 h 10000"/>
                <a:gd name="connsiteX11" fmla="*/ 0 w 10155"/>
                <a:gd name="connsiteY11" fmla="*/ 9962 h 10000"/>
                <a:gd name="connsiteX12" fmla="*/ 27 w 10155"/>
                <a:gd name="connsiteY12" fmla="*/ 7377 h 10000"/>
                <a:gd name="connsiteX0" fmla="*/ 182 w 10182"/>
                <a:gd name="connsiteY0" fmla="*/ 0 h 10000"/>
                <a:gd name="connsiteX1" fmla="*/ 206 w 10182"/>
                <a:gd name="connsiteY1" fmla="*/ 4238 h 10000"/>
                <a:gd name="connsiteX2" fmla="*/ 6787 w 10182"/>
                <a:gd name="connsiteY2" fmla="*/ 4276 h 10000"/>
                <a:gd name="connsiteX3" fmla="*/ 6760 w 10182"/>
                <a:gd name="connsiteY3" fmla="*/ 3375 h 10000"/>
                <a:gd name="connsiteX4" fmla="*/ 10092 w 10182"/>
                <a:gd name="connsiteY4" fmla="*/ 3375 h 10000"/>
                <a:gd name="connsiteX5" fmla="*/ 10182 w 10182"/>
                <a:gd name="connsiteY5" fmla="*/ 8961 h 10000"/>
                <a:gd name="connsiteX6" fmla="*/ 9765 w 10182"/>
                <a:gd name="connsiteY6" fmla="*/ 8641 h 10000"/>
                <a:gd name="connsiteX7" fmla="*/ 9772 w 10182"/>
                <a:gd name="connsiteY7" fmla="*/ 6888 h 10000"/>
                <a:gd name="connsiteX8" fmla="*/ 6430 w 10182"/>
                <a:gd name="connsiteY8" fmla="*/ 6908 h 10000"/>
                <a:gd name="connsiteX9" fmla="*/ 6403 w 10182"/>
                <a:gd name="connsiteY9" fmla="*/ 8767 h 10000"/>
                <a:gd name="connsiteX10" fmla="*/ 3622 w 10182"/>
                <a:gd name="connsiteY10" fmla="*/ 10000 h 10000"/>
                <a:gd name="connsiteX11" fmla="*/ 27 w 10182"/>
                <a:gd name="connsiteY11" fmla="*/ 9962 h 10000"/>
                <a:gd name="connsiteX12" fmla="*/ 0 w 10182"/>
                <a:gd name="connsiteY12" fmla="*/ 7377 h 10000"/>
                <a:gd name="connsiteX0" fmla="*/ 182 w 10182"/>
                <a:gd name="connsiteY0" fmla="*/ 0 h 10000"/>
                <a:gd name="connsiteX1" fmla="*/ 4107 w 10182"/>
                <a:gd name="connsiteY1" fmla="*/ 4276 h 10000"/>
                <a:gd name="connsiteX2" fmla="*/ 6787 w 10182"/>
                <a:gd name="connsiteY2" fmla="*/ 4276 h 10000"/>
                <a:gd name="connsiteX3" fmla="*/ 6760 w 10182"/>
                <a:gd name="connsiteY3" fmla="*/ 3375 h 10000"/>
                <a:gd name="connsiteX4" fmla="*/ 10092 w 10182"/>
                <a:gd name="connsiteY4" fmla="*/ 3375 h 10000"/>
                <a:gd name="connsiteX5" fmla="*/ 10182 w 10182"/>
                <a:gd name="connsiteY5" fmla="*/ 8961 h 10000"/>
                <a:gd name="connsiteX6" fmla="*/ 9765 w 10182"/>
                <a:gd name="connsiteY6" fmla="*/ 8641 h 10000"/>
                <a:gd name="connsiteX7" fmla="*/ 9772 w 10182"/>
                <a:gd name="connsiteY7" fmla="*/ 6888 h 10000"/>
                <a:gd name="connsiteX8" fmla="*/ 6430 w 10182"/>
                <a:gd name="connsiteY8" fmla="*/ 6908 h 10000"/>
                <a:gd name="connsiteX9" fmla="*/ 6403 w 10182"/>
                <a:gd name="connsiteY9" fmla="*/ 8767 h 10000"/>
                <a:gd name="connsiteX10" fmla="*/ 3622 w 10182"/>
                <a:gd name="connsiteY10" fmla="*/ 10000 h 10000"/>
                <a:gd name="connsiteX11" fmla="*/ 27 w 10182"/>
                <a:gd name="connsiteY11" fmla="*/ 9962 h 10000"/>
                <a:gd name="connsiteX12" fmla="*/ 0 w 10182"/>
                <a:gd name="connsiteY12" fmla="*/ 7377 h 10000"/>
                <a:gd name="connsiteX0" fmla="*/ 4083 w 10182"/>
                <a:gd name="connsiteY0" fmla="*/ 0 h 8636"/>
                <a:gd name="connsiteX1" fmla="*/ 4107 w 10182"/>
                <a:gd name="connsiteY1" fmla="*/ 2912 h 8636"/>
                <a:gd name="connsiteX2" fmla="*/ 6787 w 10182"/>
                <a:gd name="connsiteY2" fmla="*/ 2912 h 8636"/>
                <a:gd name="connsiteX3" fmla="*/ 6760 w 10182"/>
                <a:gd name="connsiteY3" fmla="*/ 2011 h 8636"/>
                <a:gd name="connsiteX4" fmla="*/ 10092 w 10182"/>
                <a:gd name="connsiteY4" fmla="*/ 2011 h 8636"/>
                <a:gd name="connsiteX5" fmla="*/ 10182 w 10182"/>
                <a:gd name="connsiteY5" fmla="*/ 7597 h 8636"/>
                <a:gd name="connsiteX6" fmla="*/ 9765 w 10182"/>
                <a:gd name="connsiteY6" fmla="*/ 7277 h 8636"/>
                <a:gd name="connsiteX7" fmla="*/ 9772 w 10182"/>
                <a:gd name="connsiteY7" fmla="*/ 5524 h 8636"/>
                <a:gd name="connsiteX8" fmla="*/ 6430 w 10182"/>
                <a:gd name="connsiteY8" fmla="*/ 5544 h 8636"/>
                <a:gd name="connsiteX9" fmla="*/ 6403 w 10182"/>
                <a:gd name="connsiteY9" fmla="*/ 7403 h 8636"/>
                <a:gd name="connsiteX10" fmla="*/ 3622 w 10182"/>
                <a:gd name="connsiteY10" fmla="*/ 8636 h 8636"/>
                <a:gd name="connsiteX11" fmla="*/ 27 w 10182"/>
                <a:gd name="connsiteY11" fmla="*/ 8598 h 8636"/>
                <a:gd name="connsiteX12" fmla="*/ 0 w 10182"/>
                <a:gd name="connsiteY12" fmla="*/ 6013 h 8636"/>
                <a:gd name="connsiteX0" fmla="*/ 4010 w 10000"/>
                <a:gd name="connsiteY0" fmla="*/ 0 h 10000"/>
                <a:gd name="connsiteX1" fmla="*/ 4034 w 10000"/>
                <a:gd name="connsiteY1" fmla="*/ 3372 h 10000"/>
                <a:gd name="connsiteX2" fmla="*/ 6666 w 10000"/>
                <a:gd name="connsiteY2" fmla="*/ 3372 h 10000"/>
                <a:gd name="connsiteX3" fmla="*/ 6639 w 10000"/>
                <a:gd name="connsiteY3" fmla="*/ 2329 h 10000"/>
                <a:gd name="connsiteX4" fmla="*/ 9912 w 10000"/>
                <a:gd name="connsiteY4" fmla="*/ 2329 h 10000"/>
                <a:gd name="connsiteX5" fmla="*/ 10000 w 10000"/>
                <a:gd name="connsiteY5" fmla="*/ 8797 h 10000"/>
                <a:gd name="connsiteX6" fmla="*/ 9590 w 10000"/>
                <a:gd name="connsiteY6" fmla="*/ 8426 h 10000"/>
                <a:gd name="connsiteX7" fmla="*/ 9597 w 10000"/>
                <a:gd name="connsiteY7" fmla="*/ 6396 h 10000"/>
                <a:gd name="connsiteX8" fmla="*/ 6315 w 10000"/>
                <a:gd name="connsiteY8" fmla="*/ 6420 h 10000"/>
                <a:gd name="connsiteX9" fmla="*/ 6289 w 10000"/>
                <a:gd name="connsiteY9" fmla="*/ 8572 h 10000"/>
                <a:gd name="connsiteX10" fmla="*/ 3557 w 10000"/>
                <a:gd name="connsiteY10" fmla="*/ 10000 h 10000"/>
                <a:gd name="connsiteX11" fmla="*/ 3140 w 10000"/>
                <a:gd name="connsiteY11" fmla="*/ 9934 h 10000"/>
                <a:gd name="connsiteX12" fmla="*/ 0 w 10000"/>
                <a:gd name="connsiteY12" fmla="*/ 6963 h 10000"/>
                <a:gd name="connsiteX0" fmla="*/ 870 w 6860"/>
                <a:gd name="connsiteY0" fmla="*/ 0 h 10000"/>
                <a:gd name="connsiteX1" fmla="*/ 894 w 6860"/>
                <a:gd name="connsiteY1" fmla="*/ 3372 h 10000"/>
                <a:gd name="connsiteX2" fmla="*/ 3526 w 6860"/>
                <a:gd name="connsiteY2" fmla="*/ 3372 h 10000"/>
                <a:gd name="connsiteX3" fmla="*/ 3499 w 6860"/>
                <a:gd name="connsiteY3" fmla="*/ 2329 h 10000"/>
                <a:gd name="connsiteX4" fmla="*/ 6772 w 6860"/>
                <a:gd name="connsiteY4" fmla="*/ 2329 h 10000"/>
                <a:gd name="connsiteX5" fmla="*/ 6860 w 6860"/>
                <a:gd name="connsiteY5" fmla="*/ 8797 h 10000"/>
                <a:gd name="connsiteX6" fmla="*/ 6450 w 6860"/>
                <a:gd name="connsiteY6" fmla="*/ 8426 h 10000"/>
                <a:gd name="connsiteX7" fmla="*/ 6457 w 6860"/>
                <a:gd name="connsiteY7" fmla="*/ 6396 h 10000"/>
                <a:gd name="connsiteX8" fmla="*/ 3175 w 6860"/>
                <a:gd name="connsiteY8" fmla="*/ 6420 h 10000"/>
                <a:gd name="connsiteX9" fmla="*/ 3149 w 6860"/>
                <a:gd name="connsiteY9" fmla="*/ 8572 h 10000"/>
                <a:gd name="connsiteX10" fmla="*/ 417 w 6860"/>
                <a:gd name="connsiteY10" fmla="*/ 10000 h 10000"/>
                <a:gd name="connsiteX11" fmla="*/ 0 w 6860"/>
                <a:gd name="connsiteY11" fmla="*/ 9934 h 10000"/>
                <a:gd name="connsiteX12" fmla="*/ 26 w 6860"/>
                <a:gd name="connsiteY12" fmla="*/ 6875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60" h="10000">
                  <a:moveTo>
                    <a:pt x="870" y="0"/>
                  </a:moveTo>
                  <a:cubicBezTo>
                    <a:pt x="878" y="1635"/>
                    <a:pt x="886" y="1737"/>
                    <a:pt x="894" y="3372"/>
                  </a:cubicBezTo>
                  <a:lnTo>
                    <a:pt x="3526" y="3372"/>
                  </a:lnTo>
                  <a:cubicBezTo>
                    <a:pt x="3517" y="3025"/>
                    <a:pt x="3509" y="2676"/>
                    <a:pt x="3499" y="2329"/>
                  </a:cubicBezTo>
                  <a:lnTo>
                    <a:pt x="6772" y="2329"/>
                  </a:lnTo>
                  <a:cubicBezTo>
                    <a:pt x="6801" y="4485"/>
                    <a:pt x="6831" y="6641"/>
                    <a:pt x="6860" y="8797"/>
                  </a:cubicBezTo>
                  <a:lnTo>
                    <a:pt x="6450" y="8426"/>
                  </a:lnTo>
                  <a:cubicBezTo>
                    <a:pt x="6542" y="7786"/>
                    <a:pt x="6367" y="7037"/>
                    <a:pt x="6457" y="6396"/>
                  </a:cubicBezTo>
                  <a:lnTo>
                    <a:pt x="3175" y="6420"/>
                  </a:lnTo>
                  <a:cubicBezTo>
                    <a:pt x="3166" y="7138"/>
                    <a:pt x="3158" y="7854"/>
                    <a:pt x="3149" y="8572"/>
                  </a:cubicBezTo>
                  <a:lnTo>
                    <a:pt x="417" y="10000"/>
                  </a:lnTo>
                  <a:lnTo>
                    <a:pt x="0" y="9934"/>
                  </a:lnTo>
                  <a:cubicBezTo>
                    <a:pt x="0" y="8922"/>
                    <a:pt x="26" y="7888"/>
                    <a:pt x="26" y="6875"/>
                  </a:cubicBezTo>
                </a:path>
              </a:pathLst>
            </a:custGeom>
            <a:noFill/>
            <a:ln w="3810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de-DE" dirty="0"/>
            </a:p>
          </p:txBody>
        </p:sp>
        <p:sp>
          <p:nvSpPr>
            <p:cNvPr id="34" name="Text Box 166"/>
            <p:cNvSpPr txBox="1">
              <a:spLocks noChangeArrowheads="1"/>
            </p:cNvSpPr>
            <p:nvPr/>
          </p:nvSpPr>
          <p:spPr bwMode="auto">
            <a:xfrm>
              <a:off x="6478912" y="5630594"/>
              <a:ext cx="1176925" cy="47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dirty="0">
                  <a:solidFill>
                    <a:srgbClr val="FF0000"/>
                  </a:solidFill>
                  <a:latin typeface="+mn-lt"/>
                </a:rPr>
                <a:t>Router</a:t>
              </a:r>
            </a:p>
          </p:txBody>
        </p:sp>
        <p:sp>
          <p:nvSpPr>
            <p:cNvPr id="35" name="Text Box 167"/>
            <p:cNvSpPr txBox="1">
              <a:spLocks noChangeArrowheads="1"/>
            </p:cNvSpPr>
            <p:nvPr/>
          </p:nvSpPr>
          <p:spPr bwMode="auto">
            <a:xfrm>
              <a:off x="6169276" y="856838"/>
              <a:ext cx="1175322" cy="47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dirty="0">
                  <a:solidFill>
                    <a:srgbClr val="FF0000"/>
                  </a:solidFill>
                  <a:latin typeface="+mn-lt"/>
                </a:rPr>
                <a:t>Switch</a:t>
              </a:r>
            </a:p>
          </p:txBody>
        </p:sp>
        <p:sp>
          <p:nvSpPr>
            <p:cNvPr id="36" name="Text Box 167"/>
            <p:cNvSpPr txBox="1">
              <a:spLocks noChangeArrowheads="1"/>
            </p:cNvSpPr>
            <p:nvPr/>
          </p:nvSpPr>
          <p:spPr bwMode="auto">
            <a:xfrm>
              <a:off x="3389184" y="281571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b="1" dirty="0">
                  <a:solidFill>
                    <a:srgbClr val="FF0000"/>
                  </a:solidFill>
                  <a:latin typeface="+mn-lt"/>
                </a:rPr>
                <a:t>Host</a:t>
              </a:r>
            </a:p>
          </p:txBody>
        </p:sp>
        <p:sp>
          <p:nvSpPr>
            <p:cNvPr id="37" name="Text Box 167"/>
            <p:cNvSpPr txBox="1">
              <a:spLocks noChangeArrowheads="1"/>
            </p:cNvSpPr>
            <p:nvPr/>
          </p:nvSpPr>
          <p:spPr bwMode="auto">
            <a:xfrm>
              <a:off x="3337459" y="3654906"/>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b="1" dirty="0">
                  <a:solidFill>
                    <a:srgbClr val="FF0000"/>
                  </a:solidFill>
                  <a:latin typeface="+mn-lt"/>
                </a:rPr>
                <a:t>Host</a:t>
              </a:r>
            </a:p>
          </p:txBody>
        </p:sp>
      </p:grpSp>
    </p:spTree>
    <p:extLst>
      <p:ext uri="{BB962C8B-B14F-4D97-AF65-F5344CB8AC3E}">
        <p14:creationId xmlns:p14="http://schemas.microsoft.com/office/powerpoint/2010/main" val="2674318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solidFill>
                  <a:srgbClr val="FF0000"/>
                </a:solidFill>
              </a:rPr>
              <a:t>Kapselung </a:t>
            </a:r>
            <a:r>
              <a:rPr lang="de-DE" dirty="0"/>
              <a:t>(</a:t>
            </a:r>
            <a:r>
              <a:rPr lang="de-DE" dirty="0" err="1"/>
              <a:t>Encapsulation</a:t>
            </a:r>
            <a:r>
              <a:rPr lang="de-DE" dirty="0"/>
              <a:t>)</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42</a:t>
            </a:fld>
            <a:endParaRPr lang="en-US" noProof="0" dirty="0"/>
          </a:p>
        </p:txBody>
      </p:sp>
      <p:sp>
        <p:nvSpPr>
          <p:cNvPr id="4" name="Content Placeholder 3"/>
          <p:cNvSpPr>
            <a:spLocks noGrp="1"/>
          </p:cNvSpPr>
          <p:nvPr>
            <p:ph sz="quarter" idx="1"/>
          </p:nvPr>
        </p:nvSpPr>
        <p:spPr/>
        <p:txBody>
          <a:bodyPr>
            <a:normAutofit/>
          </a:bodyPr>
          <a:lstStyle/>
          <a:p>
            <a:r>
              <a:rPr lang="de-DE" sz="2800" dirty="0"/>
              <a:t>Jede Schicht fügt ihren eigenen Header hinzu</a:t>
            </a:r>
          </a:p>
          <a:p>
            <a:pPr lvl="1"/>
            <a:r>
              <a:rPr lang="de-DE" sz="2400" dirty="0"/>
              <a:t>Jedes Paket trägt deshalb zwei Arten von Feldern: </a:t>
            </a:r>
            <a:r>
              <a:rPr lang="de-DE" sz="2400" b="1" dirty="0">
                <a:solidFill>
                  <a:srgbClr val="FF0000"/>
                </a:solidFill>
              </a:rPr>
              <a:t>Header-Felder</a:t>
            </a:r>
            <a:r>
              <a:rPr lang="de-DE" sz="2400" dirty="0"/>
              <a:t> und </a:t>
            </a:r>
            <a:r>
              <a:rPr lang="de-DE" sz="2400" b="1" dirty="0">
                <a:solidFill>
                  <a:srgbClr val="FF0000"/>
                </a:solidFill>
              </a:rPr>
              <a:t>Datenfelder </a:t>
            </a:r>
            <a:r>
              <a:rPr lang="de-DE" sz="2400" dirty="0"/>
              <a:t>(</a:t>
            </a:r>
            <a:r>
              <a:rPr lang="de-DE" sz="2400" b="1" dirty="0">
                <a:solidFill>
                  <a:srgbClr val="FF0000"/>
                </a:solidFill>
              </a:rPr>
              <a:t>payload fields</a:t>
            </a:r>
            <a:r>
              <a:rPr lang="de-DE" sz="2400" dirty="0"/>
              <a:t>)</a:t>
            </a:r>
          </a:p>
          <a:p>
            <a:r>
              <a:rPr lang="de-DE" dirty="0"/>
              <a:t>Die Anwendungsschicht erzeugt eine Nachricht</a:t>
            </a:r>
            <a:r>
              <a:rPr lang="de-DE" b="1" dirty="0">
                <a:solidFill>
                  <a:srgbClr val="FF0000"/>
                </a:solidFill>
              </a:rPr>
              <a:t> </a:t>
            </a:r>
            <a:r>
              <a:rPr lang="de-DE" dirty="0">
                <a:solidFill>
                  <a:srgbClr val="0070C0"/>
                </a:solidFill>
              </a:rPr>
              <a:t>M</a:t>
            </a:r>
          </a:p>
          <a:p>
            <a:r>
              <a:rPr lang="de-DE" dirty="0"/>
              <a:t>Die Transportschicht fügt den </a:t>
            </a:r>
            <a:r>
              <a:rPr lang="de-DE" sz="2800" dirty="0"/>
              <a:t>Header H</a:t>
            </a:r>
            <a:r>
              <a:rPr lang="de-DE" sz="2800" baseline="-25000" dirty="0"/>
              <a:t>t</a:t>
            </a:r>
            <a:r>
              <a:rPr lang="de-DE" sz="2800" dirty="0"/>
              <a:t> hinzu</a:t>
            </a:r>
          </a:p>
          <a:p>
            <a:pPr lvl="1"/>
            <a:r>
              <a:rPr lang="de-DE" sz="2500" dirty="0"/>
              <a:t>Es entsteht ein </a:t>
            </a:r>
            <a:r>
              <a:rPr lang="de-DE" sz="2500" b="1" dirty="0">
                <a:solidFill>
                  <a:srgbClr val="FF0000"/>
                </a:solidFill>
              </a:rPr>
              <a:t>Segment</a:t>
            </a:r>
          </a:p>
          <a:p>
            <a:r>
              <a:rPr lang="de-DE" sz="2800" dirty="0"/>
              <a:t>Die Netzwerkschicht fügt den Header H</a:t>
            </a:r>
            <a:r>
              <a:rPr lang="de-DE" sz="2800" baseline="-25000" dirty="0"/>
              <a:t>n</a:t>
            </a:r>
            <a:r>
              <a:rPr lang="de-DE" sz="2800" dirty="0"/>
              <a:t> hinzu</a:t>
            </a:r>
          </a:p>
          <a:p>
            <a:pPr lvl="1"/>
            <a:r>
              <a:rPr lang="de-DE" sz="2500" dirty="0"/>
              <a:t>Es entsteht ein </a:t>
            </a:r>
            <a:r>
              <a:rPr lang="de-DE" sz="2500" b="1" dirty="0">
                <a:solidFill>
                  <a:srgbClr val="FF0000"/>
                </a:solidFill>
              </a:rPr>
              <a:t>Datagramm</a:t>
            </a:r>
          </a:p>
          <a:p>
            <a:r>
              <a:rPr lang="de-DE" sz="2800" dirty="0"/>
              <a:t>Die Sicherungsschicht fügt den Header H</a:t>
            </a:r>
            <a:r>
              <a:rPr lang="de-DE" sz="2800" baseline="-25000" dirty="0"/>
              <a:t>l</a:t>
            </a:r>
            <a:r>
              <a:rPr lang="de-DE" sz="2800" dirty="0"/>
              <a:t> (für link) hinzu</a:t>
            </a:r>
          </a:p>
          <a:p>
            <a:pPr lvl="1"/>
            <a:r>
              <a:rPr lang="de-DE" sz="2500" dirty="0"/>
              <a:t>Es entsteht ein </a:t>
            </a:r>
            <a:r>
              <a:rPr lang="de-DE" sz="2500" b="1" dirty="0">
                <a:solidFill>
                  <a:srgbClr val="FF0000"/>
                </a:solidFill>
              </a:rPr>
              <a:t>Rahmen (frame)</a:t>
            </a:r>
          </a:p>
          <a:p>
            <a:endParaRPr lang="de-DE" dirty="0"/>
          </a:p>
        </p:txBody>
      </p:sp>
    </p:spTree>
    <p:extLst>
      <p:ext uri="{BB962C8B-B14F-4D97-AF65-F5344CB8AC3E}">
        <p14:creationId xmlns:p14="http://schemas.microsoft.com/office/powerpoint/2010/main" val="15903460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latin typeface="+mn-lt"/>
              </a:rPr>
              <a:t>Kapselung - Beispiel</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43</a:t>
            </a:fld>
            <a:endParaRPr lang="en-US" noProof="0" dirty="0"/>
          </a:p>
        </p:txBody>
      </p:sp>
      <p:sp>
        <p:nvSpPr>
          <p:cNvPr id="5" name="Freeform 2"/>
          <p:cNvSpPr>
            <a:spLocks/>
          </p:cNvSpPr>
          <p:nvPr/>
        </p:nvSpPr>
        <p:spPr bwMode="auto">
          <a:xfrm>
            <a:off x="4036729" y="1997075"/>
            <a:ext cx="4048125" cy="3833813"/>
          </a:xfrm>
          <a:custGeom>
            <a:avLst/>
            <a:gdLst>
              <a:gd name="T0" fmla="*/ 939800 w 2550"/>
              <a:gd name="T1" fmla="*/ 0 h 2415"/>
              <a:gd name="T2" fmla="*/ 4038600 w 2550"/>
              <a:gd name="T3" fmla="*/ 0 h 2415"/>
              <a:gd name="T4" fmla="*/ 4048125 w 2550"/>
              <a:gd name="T5" fmla="*/ 3833813 h 2415"/>
              <a:gd name="T6" fmla="*/ 0 w 2550"/>
              <a:gd name="T7" fmla="*/ 3833813 h 2415"/>
              <a:gd name="T8" fmla="*/ 0 60000 65536"/>
              <a:gd name="T9" fmla="*/ 0 60000 65536"/>
              <a:gd name="T10" fmla="*/ 0 60000 65536"/>
              <a:gd name="T11" fmla="*/ 0 60000 65536"/>
              <a:gd name="T12" fmla="*/ 0 w 2550"/>
              <a:gd name="T13" fmla="*/ 0 h 2415"/>
              <a:gd name="T14" fmla="*/ 2550 w 2550"/>
              <a:gd name="T15" fmla="*/ 2415 h 2415"/>
            </a:gdLst>
            <a:ahLst/>
            <a:cxnLst>
              <a:cxn ang="T8">
                <a:pos x="T0" y="T1"/>
              </a:cxn>
              <a:cxn ang="T9">
                <a:pos x="T2" y="T3"/>
              </a:cxn>
              <a:cxn ang="T10">
                <a:pos x="T4" y="T5"/>
              </a:cxn>
              <a:cxn ang="T11">
                <a:pos x="T6" y="T7"/>
              </a:cxn>
            </a:cxnLst>
            <a:rect l="T12" t="T13" r="T14" b="T15"/>
            <a:pathLst>
              <a:path w="2550" h="2415">
                <a:moveTo>
                  <a:pt x="592" y="0"/>
                </a:moveTo>
                <a:lnTo>
                  <a:pt x="2544" y="0"/>
                </a:lnTo>
                <a:lnTo>
                  <a:pt x="2550" y="2415"/>
                </a:lnTo>
                <a:lnTo>
                  <a:pt x="0" y="2415"/>
                </a:lnTo>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6" name="Freeform 3"/>
          <p:cNvSpPr>
            <a:spLocks/>
          </p:cNvSpPr>
          <p:nvPr/>
        </p:nvSpPr>
        <p:spPr bwMode="auto">
          <a:xfrm>
            <a:off x="7348254" y="2795588"/>
            <a:ext cx="638175" cy="852487"/>
          </a:xfrm>
          <a:custGeom>
            <a:avLst/>
            <a:gdLst>
              <a:gd name="T0" fmla="*/ 638175 w 402"/>
              <a:gd name="T1" fmla="*/ 576262 h 537"/>
              <a:gd name="T2" fmla="*/ 44450 w 402"/>
              <a:gd name="T3" fmla="*/ 0 h 537"/>
              <a:gd name="T4" fmla="*/ 0 w 402"/>
              <a:gd name="T5" fmla="*/ 746124 h 537"/>
              <a:gd name="T6" fmla="*/ 384175 w 402"/>
              <a:gd name="T7" fmla="*/ 852487 h 537"/>
              <a:gd name="T8" fmla="*/ 638175 w 402"/>
              <a:gd name="T9" fmla="*/ 576262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7" name="Text Box 8"/>
          <p:cNvSpPr txBox="1">
            <a:spLocks noChangeArrowheads="1"/>
          </p:cNvSpPr>
          <p:nvPr/>
        </p:nvSpPr>
        <p:spPr bwMode="auto">
          <a:xfrm>
            <a:off x="4277537" y="2324100"/>
            <a:ext cx="10759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err="1">
                <a:solidFill>
                  <a:schemeClr val="accent2"/>
                </a:solidFill>
                <a:latin typeface="+mn-lt"/>
              </a:rPr>
              <a:t>Quelle</a:t>
            </a:r>
            <a:endParaRPr lang="en-US" dirty="0">
              <a:solidFill>
                <a:schemeClr val="accent2"/>
              </a:solidFill>
              <a:latin typeface="+mn-lt"/>
            </a:endParaRPr>
          </a:p>
        </p:txBody>
      </p:sp>
      <p:graphicFrame>
        <p:nvGraphicFramePr>
          <p:cNvPr id="8" name="Object 9"/>
          <p:cNvGraphicFramePr>
            <a:graphicFrameLocks noChangeAspect="1"/>
          </p:cNvGraphicFramePr>
          <p:nvPr/>
        </p:nvGraphicFramePr>
        <p:xfrm>
          <a:off x="4317716" y="1751013"/>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8"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7716" y="1751013"/>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Freeform 10"/>
          <p:cNvSpPr>
            <a:spLocks/>
          </p:cNvSpPr>
          <p:nvPr/>
        </p:nvSpPr>
        <p:spPr bwMode="auto">
          <a:xfrm>
            <a:off x="4087529" y="1203325"/>
            <a:ext cx="360362" cy="1577975"/>
          </a:xfrm>
          <a:custGeom>
            <a:avLst/>
            <a:gdLst>
              <a:gd name="T0" fmla="*/ 342816 w 267"/>
              <a:gd name="T1" fmla="*/ 620014 h 1186"/>
              <a:gd name="T2" fmla="*/ 0 w 267"/>
              <a:gd name="T3" fmla="*/ 0 h 1186"/>
              <a:gd name="T4" fmla="*/ 0 w 267"/>
              <a:gd name="T5" fmla="*/ 1577975 h 1186"/>
              <a:gd name="T6" fmla="*/ 360362 w 267"/>
              <a:gd name="T7" fmla="*/ 867487 h 1186"/>
              <a:gd name="T8" fmla="*/ 342816 w 267"/>
              <a:gd name="T9" fmla="*/ 620014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nvGrpSpPr>
          <p:cNvPr id="10" name="Group 11"/>
          <p:cNvGrpSpPr>
            <a:grpSpLocks/>
          </p:cNvGrpSpPr>
          <p:nvPr/>
        </p:nvGrpSpPr>
        <p:grpSpPr bwMode="auto">
          <a:xfrm>
            <a:off x="7707029" y="3376613"/>
            <a:ext cx="976312" cy="277812"/>
            <a:chOff x="198" y="3765"/>
            <a:chExt cx="693" cy="287"/>
          </a:xfrm>
        </p:grpSpPr>
        <p:sp>
          <p:nvSpPr>
            <p:cNvPr id="11" name="Freeform 12"/>
            <p:cNvSpPr>
              <a:spLocks/>
            </p:cNvSpPr>
            <p:nvPr/>
          </p:nvSpPr>
          <p:spPr bwMode="auto">
            <a:xfrm>
              <a:off x="198" y="3888"/>
              <a:ext cx="672" cy="164"/>
            </a:xfrm>
            <a:custGeom>
              <a:avLst/>
              <a:gdLst>
                <a:gd name="T0" fmla="*/ 179 w 672"/>
                <a:gd name="T1" fmla="*/ 0 h 164"/>
                <a:gd name="T2" fmla="*/ 672 w 672"/>
                <a:gd name="T3" fmla="*/ 0 h 164"/>
                <a:gd name="T4" fmla="*/ 508 w 672"/>
                <a:gd name="T5" fmla="*/ 164 h 164"/>
                <a:gd name="T6" fmla="*/ 0 w 672"/>
                <a:gd name="T7" fmla="*/ 164 h 164"/>
                <a:gd name="T8" fmla="*/ 179 w 672"/>
                <a:gd name="T9" fmla="*/ 0 h 164"/>
                <a:gd name="T10" fmla="*/ 0 60000 65536"/>
                <a:gd name="T11" fmla="*/ 0 60000 65536"/>
                <a:gd name="T12" fmla="*/ 0 60000 65536"/>
                <a:gd name="T13" fmla="*/ 0 60000 65536"/>
                <a:gd name="T14" fmla="*/ 0 60000 65536"/>
                <a:gd name="T15" fmla="*/ 0 w 672"/>
                <a:gd name="T16" fmla="*/ 0 h 164"/>
                <a:gd name="T17" fmla="*/ 672 w 672"/>
                <a:gd name="T18" fmla="*/ 164 h 164"/>
              </a:gdLst>
              <a:ahLst/>
              <a:cxnLst>
                <a:cxn ang="T10">
                  <a:pos x="T0" y="T1"/>
                </a:cxn>
                <a:cxn ang="T11">
                  <a:pos x="T2" y="T3"/>
                </a:cxn>
                <a:cxn ang="T12">
                  <a:pos x="T4" y="T5"/>
                </a:cxn>
                <a:cxn ang="T13">
                  <a:pos x="T6" y="T7"/>
                </a:cxn>
                <a:cxn ang="T14">
                  <a:pos x="T8" y="T9"/>
                </a:cxn>
              </a:cxnLst>
              <a:rect l="T15" t="T16" r="T17" b="T18"/>
              <a:pathLst>
                <a:path w="672" h="164">
                  <a:moveTo>
                    <a:pt x="179" y="0"/>
                  </a:moveTo>
                  <a:lnTo>
                    <a:pt x="672" y="0"/>
                  </a:lnTo>
                  <a:lnTo>
                    <a:pt x="508" y="164"/>
                  </a:lnTo>
                  <a:lnTo>
                    <a:pt x="0" y="164"/>
                  </a:lnTo>
                  <a:lnTo>
                    <a:pt x="179" y="0"/>
                  </a:lnTo>
                  <a:close/>
                </a:path>
              </a:pathLst>
            </a:custGeom>
            <a:solidFill>
              <a:schemeClr val="hlink"/>
            </a:solidFill>
            <a:ln w="9525">
              <a:solidFill>
                <a:schemeClr val="tx1"/>
              </a:solidFill>
              <a:round/>
              <a:headEnd/>
              <a:tailEnd/>
            </a:ln>
          </p:spPr>
          <p:txBody>
            <a:bodyPr/>
            <a:lstStyle/>
            <a:p>
              <a:endParaRPr lang="de-DE"/>
            </a:p>
          </p:txBody>
        </p:sp>
        <p:sp>
          <p:nvSpPr>
            <p:cNvPr id="12" name="Freeform 13"/>
            <p:cNvSpPr>
              <a:spLocks/>
            </p:cNvSpPr>
            <p:nvPr/>
          </p:nvSpPr>
          <p:spPr bwMode="auto">
            <a:xfrm>
              <a:off x="213" y="3765"/>
              <a:ext cx="658" cy="281"/>
            </a:xfrm>
            <a:custGeom>
              <a:avLst/>
              <a:gdLst>
                <a:gd name="T0" fmla="*/ 0 w 658"/>
                <a:gd name="T1" fmla="*/ 281 h 281"/>
                <a:gd name="T2" fmla="*/ 13 w 658"/>
                <a:gd name="T3" fmla="*/ 150 h 281"/>
                <a:gd name="T4" fmla="*/ 658 w 658"/>
                <a:gd name="T5" fmla="*/ 0 h 281"/>
                <a:gd name="T6" fmla="*/ 658 w 658"/>
                <a:gd name="T7" fmla="*/ 130 h 281"/>
                <a:gd name="T8" fmla="*/ 0 w 658"/>
                <a:gd name="T9" fmla="*/ 281 h 281"/>
                <a:gd name="T10" fmla="*/ 0 60000 65536"/>
                <a:gd name="T11" fmla="*/ 0 60000 65536"/>
                <a:gd name="T12" fmla="*/ 0 60000 65536"/>
                <a:gd name="T13" fmla="*/ 0 60000 65536"/>
                <a:gd name="T14" fmla="*/ 0 60000 65536"/>
                <a:gd name="T15" fmla="*/ 0 w 658"/>
                <a:gd name="T16" fmla="*/ 0 h 281"/>
                <a:gd name="T17" fmla="*/ 658 w 658"/>
                <a:gd name="T18" fmla="*/ 281 h 281"/>
              </a:gdLst>
              <a:ahLst/>
              <a:cxnLst>
                <a:cxn ang="T10">
                  <a:pos x="T0" y="T1"/>
                </a:cxn>
                <a:cxn ang="T11">
                  <a:pos x="T2" y="T3"/>
                </a:cxn>
                <a:cxn ang="T12">
                  <a:pos x="T4" y="T5"/>
                </a:cxn>
                <a:cxn ang="T13">
                  <a:pos x="T6" y="T7"/>
                </a:cxn>
                <a:cxn ang="T14">
                  <a:pos x="T8" y="T9"/>
                </a:cxn>
              </a:cxnLst>
              <a:rect l="T15" t="T16" r="T17" b="T18"/>
              <a:pathLst>
                <a:path w="658" h="281">
                  <a:moveTo>
                    <a:pt x="0" y="281"/>
                  </a:moveTo>
                  <a:lnTo>
                    <a:pt x="13" y="150"/>
                  </a:lnTo>
                  <a:lnTo>
                    <a:pt x="658" y="0"/>
                  </a:lnTo>
                  <a:lnTo>
                    <a:pt x="658" y="130"/>
                  </a:lnTo>
                  <a:lnTo>
                    <a:pt x="0" y="281"/>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3" name="Freeform 14"/>
            <p:cNvSpPr>
              <a:spLocks/>
            </p:cNvSpPr>
            <p:nvPr/>
          </p:nvSpPr>
          <p:spPr bwMode="auto">
            <a:xfrm>
              <a:off x="219" y="3765"/>
              <a:ext cx="672" cy="164"/>
            </a:xfrm>
            <a:custGeom>
              <a:avLst/>
              <a:gdLst>
                <a:gd name="T0" fmla="*/ 179 w 672"/>
                <a:gd name="T1" fmla="*/ 0 h 164"/>
                <a:gd name="T2" fmla="*/ 672 w 672"/>
                <a:gd name="T3" fmla="*/ 0 h 164"/>
                <a:gd name="T4" fmla="*/ 508 w 672"/>
                <a:gd name="T5" fmla="*/ 164 h 164"/>
                <a:gd name="T6" fmla="*/ 0 w 672"/>
                <a:gd name="T7" fmla="*/ 164 h 164"/>
                <a:gd name="T8" fmla="*/ 179 w 672"/>
                <a:gd name="T9" fmla="*/ 0 h 164"/>
                <a:gd name="T10" fmla="*/ 0 60000 65536"/>
                <a:gd name="T11" fmla="*/ 0 60000 65536"/>
                <a:gd name="T12" fmla="*/ 0 60000 65536"/>
                <a:gd name="T13" fmla="*/ 0 60000 65536"/>
                <a:gd name="T14" fmla="*/ 0 60000 65536"/>
                <a:gd name="T15" fmla="*/ 0 w 672"/>
                <a:gd name="T16" fmla="*/ 0 h 164"/>
                <a:gd name="T17" fmla="*/ 672 w 672"/>
                <a:gd name="T18" fmla="*/ 164 h 164"/>
              </a:gdLst>
              <a:ahLst/>
              <a:cxnLst>
                <a:cxn ang="T10">
                  <a:pos x="T0" y="T1"/>
                </a:cxn>
                <a:cxn ang="T11">
                  <a:pos x="T2" y="T3"/>
                </a:cxn>
                <a:cxn ang="T12">
                  <a:pos x="T4" y="T5"/>
                </a:cxn>
                <a:cxn ang="T13">
                  <a:pos x="T6" y="T7"/>
                </a:cxn>
                <a:cxn ang="T14">
                  <a:pos x="T8" y="T9"/>
                </a:cxn>
              </a:cxnLst>
              <a:rect l="T15" t="T16" r="T17" b="T18"/>
              <a:pathLst>
                <a:path w="672" h="164">
                  <a:moveTo>
                    <a:pt x="179" y="0"/>
                  </a:moveTo>
                  <a:lnTo>
                    <a:pt x="672" y="0"/>
                  </a:lnTo>
                  <a:lnTo>
                    <a:pt x="508" y="164"/>
                  </a:lnTo>
                  <a:lnTo>
                    <a:pt x="0" y="164"/>
                  </a:lnTo>
                  <a:lnTo>
                    <a:pt x="179" y="0"/>
                  </a:lnTo>
                  <a:close/>
                </a:path>
              </a:pathLst>
            </a:custGeom>
            <a:solidFill>
              <a:schemeClr val="hlink"/>
            </a:solidFill>
            <a:ln w="9525">
              <a:solidFill>
                <a:schemeClr val="tx1"/>
              </a:solidFill>
              <a:round/>
              <a:headEnd/>
              <a:tailEnd/>
            </a:ln>
          </p:spPr>
          <p:txBody>
            <a:bodyPr/>
            <a:lstStyle/>
            <a:p>
              <a:endParaRPr lang="de-DE"/>
            </a:p>
          </p:txBody>
        </p:sp>
        <p:grpSp>
          <p:nvGrpSpPr>
            <p:cNvPr id="14" name="Group 15"/>
            <p:cNvGrpSpPr>
              <a:grpSpLocks/>
            </p:cNvGrpSpPr>
            <p:nvPr/>
          </p:nvGrpSpPr>
          <p:grpSpPr bwMode="auto">
            <a:xfrm>
              <a:off x="423" y="3789"/>
              <a:ext cx="238" cy="103"/>
              <a:chOff x="2848" y="848"/>
              <a:chExt cx="140" cy="98"/>
            </a:xfrm>
          </p:grpSpPr>
          <p:sp>
            <p:nvSpPr>
              <p:cNvPr id="19" name="Line 1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0" name="Line 1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1" name="Line 1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5" name="Group 19"/>
            <p:cNvGrpSpPr>
              <a:grpSpLocks/>
            </p:cNvGrpSpPr>
            <p:nvPr/>
          </p:nvGrpSpPr>
          <p:grpSpPr bwMode="auto">
            <a:xfrm flipV="1">
              <a:off x="437" y="3787"/>
              <a:ext cx="238" cy="103"/>
              <a:chOff x="2848" y="848"/>
              <a:chExt cx="140" cy="98"/>
            </a:xfrm>
          </p:grpSpPr>
          <p:sp>
            <p:nvSpPr>
              <p:cNvPr id="16" name="Line 20"/>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7" name="Line 21"/>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8" name="Line 22"/>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22" name="Rectangle 23"/>
          <p:cNvSpPr>
            <a:spLocks noChangeArrowheads="1"/>
          </p:cNvSpPr>
          <p:nvPr/>
        </p:nvSpPr>
        <p:spPr bwMode="auto">
          <a:xfrm>
            <a:off x="2863566" y="1209675"/>
            <a:ext cx="1296988" cy="15462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23" name="Rectangle 24"/>
          <p:cNvSpPr>
            <a:spLocks noChangeArrowheads="1"/>
          </p:cNvSpPr>
          <p:nvPr/>
        </p:nvSpPr>
        <p:spPr bwMode="auto">
          <a:xfrm>
            <a:off x="2815941" y="1281113"/>
            <a:ext cx="1273175" cy="153670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24" name="Line 25"/>
          <p:cNvSpPr>
            <a:spLocks noChangeShapeType="1"/>
          </p:cNvSpPr>
          <p:nvPr/>
        </p:nvSpPr>
        <p:spPr bwMode="auto">
          <a:xfrm>
            <a:off x="2815941" y="1598613"/>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5" name="Text Box 26"/>
          <p:cNvSpPr txBox="1">
            <a:spLocks noChangeArrowheads="1"/>
          </p:cNvSpPr>
          <p:nvPr/>
        </p:nvSpPr>
        <p:spPr bwMode="auto">
          <a:xfrm>
            <a:off x="2773079" y="1247775"/>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dirty="0">
                <a:latin typeface="+mn-lt"/>
              </a:rPr>
              <a:t>application</a:t>
            </a:r>
          </a:p>
          <a:p>
            <a:pPr algn="ctr">
              <a:lnSpc>
                <a:spcPct val="110000"/>
              </a:lnSpc>
            </a:pPr>
            <a:r>
              <a:rPr lang="en-US" sz="1800" dirty="0">
                <a:latin typeface="+mn-lt"/>
              </a:rPr>
              <a:t>transport</a:t>
            </a:r>
          </a:p>
          <a:p>
            <a:pPr algn="ctr">
              <a:lnSpc>
                <a:spcPct val="110000"/>
              </a:lnSpc>
            </a:pPr>
            <a:r>
              <a:rPr lang="en-US" sz="1800" dirty="0">
                <a:latin typeface="+mn-lt"/>
              </a:rPr>
              <a:t>network</a:t>
            </a:r>
          </a:p>
          <a:p>
            <a:pPr algn="ctr">
              <a:lnSpc>
                <a:spcPct val="110000"/>
              </a:lnSpc>
            </a:pPr>
            <a:r>
              <a:rPr lang="en-US" sz="1800" dirty="0">
                <a:latin typeface="+mn-lt"/>
              </a:rPr>
              <a:t>link</a:t>
            </a:r>
          </a:p>
          <a:p>
            <a:pPr algn="ctr">
              <a:lnSpc>
                <a:spcPct val="110000"/>
              </a:lnSpc>
            </a:pPr>
            <a:r>
              <a:rPr lang="en-US" sz="1800" dirty="0">
                <a:latin typeface="+mn-lt"/>
              </a:rPr>
              <a:t>physical</a:t>
            </a:r>
          </a:p>
        </p:txBody>
      </p:sp>
      <p:sp>
        <p:nvSpPr>
          <p:cNvPr id="26" name="Line 27"/>
          <p:cNvSpPr>
            <a:spLocks noChangeShapeType="1"/>
          </p:cNvSpPr>
          <p:nvPr/>
        </p:nvSpPr>
        <p:spPr bwMode="auto">
          <a:xfrm>
            <a:off x="2823879" y="191928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7" name="Line 28"/>
          <p:cNvSpPr>
            <a:spLocks noChangeShapeType="1"/>
          </p:cNvSpPr>
          <p:nvPr/>
        </p:nvSpPr>
        <p:spPr bwMode="auto">
          <a:xfrm>
            <a:off x="2828641" y="220027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8" name="Line 29"/>
          <p:cNvSpPr>
            <a:spLocks noChangeShapeType="1"/>
          </p:cNvSpPr>
          <p:nvPr/>
        </p:nvSpPr>
        <p:spPr bwMode="auto">
          <a:xfrm>
            <a:off x="2828641" y="247650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29" name="Group 39"/>
          <p:cNvGrpSpPr>
            <a:grpSpLocks/>
          </p:cNvGrpSpPr>
          <p:nvPr/>
        </p:nvGrpSpPr>
        <p:grpSpPr bwMode="auto">
          <a:xfrm>
            <a:off x="1665003" y="1904999"/>
            <a:ext cx="1208088" cy="303213"/>
            <a:chOff x="501" y="1990"/>
            <a:chExt cx="761" cy="191"/>
          </a:xfrm>
        </p:grpSpPr>
        <p:sp>
          <p:nvSpPr>
            <p:cNvPr id="30" name="Rectangle 40"/>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31" name="Rectangle 41"/>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32" name="Rectangle 42"/>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33" name="Rectangle 43"/>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34" name="Line 44"/>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5" name="Line 45"/>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sp>
        <p:nvSpPr>
          <p:cNvPr id="36" name="Text Box 5"/>
          <p:cNvSpPr txBox="1">
            <a:spLocks noChangeArrowheads="1"/>
          </p:cNvSpPr>
          <p:nvPr/>
        </p:nvSpPr>
        <p:spPr bwMode="auto">
          <a:xfrm>
            <a:off x="345791" y="1527145"/>
            <a:ext cx="12682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b="1" dirty="0">
                <a:solidFill>
                  <a:srgbClr val="FF0000"/>
                </a:solidFill>
                <a:latin typeface="+mn-lt"/>
              </a:rPr>
              <a:t>Segment</a:t>
            </a:r>
            <a:endParaRPr lang="en-US" sz="2000" b="1" dirty="0">
              <a:solidFill>
                <a:schemeClr val="accent2"/>
              </a:solidFill>
              <a:latin typeface="+mn-lt"/>
            </a:endParaRPr>
          </a:p>
        </p:txBody>
      </p:sp>
      <p:grpSp>
        <p:nvGrpSpPr>
          <p:cNvPr id="37" name="Group 178"/>
          <p:cNvGrpSpPr>
            <a:grpSpLocks/>
          </p:cNvGrpSpPr>
          <p:nvPr/>
        </p:nvGrpSpPr>
        <p:grpSpPr bwMode="auto">
          <a:xfrm>
            <a:off x="1979328" y="1570037"/>
            <a:ext cx="301625" cy="292100"/>
            <a:chOff x="1962" y="2058"/>
            <a:chExt cx="190" cy="184"/>
          </a:xfrm>
        </p:grpSpPr>
        <p:sp>
          <p:nvSpPr>
            <p:cNvPr id="38" name="Rectangle 47"/>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39" name="Rectangle 48"/>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grpSp>
      <p:sp>
        <p:nvSpPr>
          <p:cNvPr id="40" name="Text Box 4"/>
          <p:cNvSpPr txBox="1">
            <a:spLocks noChangeArrowheads="1"/>
          </p:cNvSpPr>
          <p:nvPr/>
        </p:nvSpPr>
        <p:spPr bwMode="auto">
          <a:xfrm>
            <a:off x="39515" y="1866870"/>
            <a:ext cx="15953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b="1" dirty="0" err="1">
                <a:solidFill>
                  <a:srgbClr val="FF0000"/>
                </a:solidFill>
                <a:latin typeface="+mn-lt"/>
              </a:rPr>
              <a:t>Datagramm</a:t>
            </a:r>
            <a:endParaRPr lang="en-US" sz="2000" b="1" dirty="0">
              <a:solidFill>
                <a:schemeClr val="accent2"/>
              </a:solidFill>
              <a:latin typeface="+mn-lt"/>
            </a:endParaRPr>
          </a:p>
        </p:txBody>
      </p:sp>
      <p:sp>
        <p:nvSpPr>
          <p:cNvPr id="41" name="Text Box 54"/>
          <p:cNvSpPr txBox="1">
            <a:spLocks noChangeArrowheads="1"/>
          </p:cNvSpPr>
          <p:nvPr/>
        </p:nvSpPr>
        <p:spPr bwMode="auto">
          <a:xfrm>
            <a:off x="1766604" y="4706938"/>
            <a:ext cx="5998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dirty="0" err="1">
                <a:solidFill>
                  <a:schemeClr val="accent2"/>
                </a:solidFill>
                <a:latin typeface="+mn-lt"/>
              </a:rPr>
              <a:t>Ziel</a:t>
            </a:r>
            <a:endParaRPr lang="en-US" sz="2000" dirty="0">
              <a:solidFill>
                <a:schemeClr val="accent2"/>
              </a:solidFill>
              <a:latin typeface="+mn-lt"/>
            </a:endParaRPr>
          </a:p>
        </p:txBody>
      </p:sp>
      <p:graphicFrame>
        <p:nvGraphicFramePr>
          <p:cNvPr id="42" name="Object 55"/>
          <p:cNvGraphicFramePr>
            <a:graphicFrameLocks noChangeAspect="1"/>
          </p:cNvGraphicFramePr>
          <p:nvPr/>
        </p:nvGraphicFramePr>
        <p:xfrm>
          <a:off x="3428716" y="5637213"/>
          <a:ext cx="646113" cy="53340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42"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8716" y="5637213"/>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Freeform 56"/>
          <p:cNvSpPr>
            <a:spLocks/>
          </p:cNvSpPr>
          <p:nvPr/>
        </p:nvSpPr>
        <p:spPr bwMode="auto">
          <a:xfrm>
            <a:off x="3198529" y="5089525"/>
            <a:ext cx="360362" cy="1577975"/>
          </a:xfrm>
          <a:custGeom>
            <a:avLst/>
            <a:gdLst>
              <a:gd name="T0" fmla="*/ 342816 w 267"/>
              <a:gd name="T1" fmla="*/ 620014 h 1186"/>
              <a:gd name="T2" fmla="*/ 0 w 267"/>
              <a:gd name="T3" fmla="*/ 0 h 1186"/>
              <a:gd name="T4" fmla="*/ 0 w 267"/>
              <a:gd name="T5" fmla="*/ 1577975 h 1186"/>
              <a:gd name="T6" fmla="*/ 360362 w 267"/>
              <a:gd name="T7" fmla="*/ 867487 h 1186"/>
              <a:gd name="T8" fmla="*/ 342816 w 267"/>
              <a:gd name="T9" fmla="*/ 620014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44" name="Rectangle 57"/>
          <p:cNvSpPr>
            <a:spLocks noChangeArrowheads="1"/>
          </p:cNvSpPr>
          <p:nvPr/>
        </p:nvSpPr>
        <p:spPr bwMode="auto">
          <a:xfrm>
            <a:off x="1974566" y="5095875"/>
            <a:ext cx="1296988" cy="15462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45" name="Rectangle 58"/>
          <p:cNvSpPr>
            <a:spLocks noChangeArrowheads="1"/>
          </p:cNvSpPr>
          <p:nvPr/>
        </p:nvSpPr>
        <p:spPr bwMode="auto">
          <a:xfrm>
            <a:off x="1926941" y="5167313"/>
            <a:ext cx="1273175" cy="153670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46" name="Line 59"/>
          <p:cNvSpPr>
            <a:spLocks noChangeShapeType="1"/>
          </p:cNvSpPr>
          <p:nvPr/>
        </p:nvSpPr>
        <p:spPr bwMode="auto">
          <a:xfrm>
            <a:off x="1926941" y="5484813"/>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7" name="Text Box 60"/>
          <p:cNvSpPr txBox="1">
            <a:spLocks noChangeArrowheads="1"/>
          </p:cNvSpPr>
          <p:nvPr/>
        </p:nvSpPr>
        <p:spPr bwMode="auto">
          <a:xfrm>
            <a:off x="1884079" y="5133975"/>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application</a:t>
            </a:r>
          </a:p>
          <a:p>
            <a:pPr algn="ctr">
              <a:lnSpc>
                <a:spcPct val="110000"/>
              </a:lnSpc>
            </a:pPr>
            <a:r>
              <a:rPr lang="en-US" sz="1800">
                <a:latin typeface="+mn-lt"/>
              </a:rPr>
              <a:t>transport</a:t>
            </a:r>
          </a:p>
          <a:p>
            <a:pPr algn="ctr">
              <a:lnSpc>
                <a:spcPct val="110000"/>
              </a:lnSpc>
            </a:pPr>
            <a:r>
              <a:rPr lang="en-US" sz="1800">
                <a:latin typeface="+mn-lt"/>
              </a:rPr>
              <a:t>network</a:t>
            </a:r>
          </a:p>
          <a:p>
            <a:pPr algn="ctr">
              <a:lnSpc>
                <a:spcPct val="110000"/>
              </a:lnSpc>
            </a:pPr>
            <a:r>
              <a:rPr lang="en-US" sz="1800">
                <a:latin typeface="+mn-lt"/>
              </a:rPr>
              <a:t>link</a:t>
            </a:r>
          </a:p>
          <a:p>
            <a:pPr algn="ctr">
              <a:lnSpc>
                <a:spcPct val="110000"/>
              </a:lnSpc>
            </a:pPr>
            <a:r>
              <a:rPr lang="en-US" sz="1800">
                <a:latin typeface="+mn-lt"/>
              </a:rPr>
              <a:t>physical</a:t>
            </a:r>
          </a:p>
        </p:txBody>
      </p:sp>
      <p:sp>
        <p:nvSpPr>
          <p:cNvPr id="48" name="Line 61"/>
          <p:cNvSpPr>
            <a:spLocks noChangeShapeType="1"/>
          </p:cNvSpPr>
          <p:nvPr/>
        </p:nvSpPr>
        <p:spPr bwMode="auto">
          <a:xfrm>
            <a:off x="1934879" y="580548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9" name="Line 62"/>
          <p:cNvSpPr>
            <a:spLocks noChangeShapeType="1"/>
          </p:cNvSpPr>
          <p:nvPr/>
        </p:nvSpPr>
        <p:spPr bwMode="auto">
          <a:xfrm>
            <a:off x="1939641" y="608647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0" name="Line 63"/>
          <p:cNvSpPr>
            <a:spLocks noChangeShapeType="1"/>
          </p:cNvSpPr>
          <p:nvPr/>
        </p:nvSpPr>
        <p:spPr bwMode="auto">
          <a:xfrm>
            <a:off x="1939641" y="636270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51" name="Group 64"/>
          <p:cNvGrpSpPr>
            <a:grpSpLocks/>
          </p:cNvGrpSpPr>
          <p:nvPr/>
        </p:nvGrpSpPr>
        <p:grpSpPr bwMode="auto">
          <a:xfrm>
            <a:off x="371191" y="6076950"/>
            <a:ext cx="1479550" cy="303213"/>
            <a:chOff x="332" y="2224"/>
            <a:chExt cx="932" cy="191"/>
          </a:xfrm>
        </p:grpSpPr>
        <p:sp>
          <p:nvSpPr>
            <p:cNvPr id="52" name="Rectangle 65"/>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53" name="Rectangle 66"/>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54" name="Rectangle 67"/>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55" name="Rectangle 68"/>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l</a:t>
              </a:r>
            </a:p>
          </p:txBody>
        </p:sp>
        <p:sp>
          <p:nvSpPr>
            <p:cNvPr id="56" name="Rectangle 69"/>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57" name="Line 70"/>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8" name="Line 71"/>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9" name="Line 72"/>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60" name="Group 73"/>
          <p:cNvGrpSpPr>
            <a:grpSpLocks/>
          </p:cNvGrpSpPr>
          <p:nvPr/>
        </p:nvGrpSpPr>
        <p:grpSpPr bwMode="auto">
          <a:xfrm>
            <a:off x="639479" y="5778500"/>
            <a:ext cx="1208087" cy="303213"/>
            <a:chOff x="501" y="1990"/>
            <a:chExt cx="761" cy="191"/>
          </a:xfrm>
        </p:grpSpPr>
        <p:sp>
          <p:nvSpPr>
            <p:cNvPr id="61" name="Rectangle 74"/>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62" name="Rectangle 75"/>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63" name="Rectangle 76"/>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64" name="Rectangle 77"/>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65" name="Line 78"/>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66" name="Line 79"/>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67" name="Group 80"/>
          <p:cNvGrpSpPr>
            <a:grpSpLocks/>
          </p:cNvGrpSpPr>
          <p:nvPr/>
        </p:nvGrpSpPr>
        <p:grpSpPr bwMode="auto">
          <a:xfrm>
            <a:off x="942691" y="5470525"/>
            <a:ext cx="890588" cy="303213"/>
            <a:chOff x="645" y="1734"/>
            <a:chExt cx="561" cy="191"/>
          </a:xfrm>
        </p:grpSpPr>
        <p:sp>
          <p:nvSpPr>
            <p:cNvPr id="68" name="Rectangle 81"/>
            <p:cNvSpPr>
              <a:spLocks noChangeArrowheads="1"/>
            </p:cNvSpPr>
            <p:nvPr/>
          </p:nvSpPr>
          <p:spPr bwMode="auto">
            <a:xfrm>
              <a:off x="645" y="1751"/>
              <a:ext cx="4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69" name="Rectangle 82"/>
            <p:cNvSpPr>
              <a:spLocks noChangeArrowheads="1"/>
            </p:cNvSpPr>
            <p:nvPr/>
          </p:nvSpPr>
          <p:spPr bwMode="auto">
            <a:xfrm>
              <a:off x="648" y="173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70" name="Rectangle 83"/>
            <p:cNvSpPr>
              <a:spLocks noChangeArrowheads="1"/>
            </p:cNvSpPr>
            <p:nvPr/>
          </p:nvSpPr>
          <p:spPr bwMode="auto">
            <a:xfrm>
              <a:off x="778" y="173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71" name="Line 84"/>
            <p:cNvSpPr>
              <a:spLocks noChangeShapeType="1"/>
            </p:cNvSpPr>
            <p:nvPr/>
          </p:nvSpPr>
          <p:spPr bwMode="auto">
            <a:xfrm>
              <a:off x="824" y="175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72" name="Group 85"/>
          <p:cNvGrpSpPr>
            <a:grpSpLocks/>
          </p:cNvGrpSpPr>
          <p:nvPr/>
        </p:nvGrpSpPr>
        <p:grpSpPr bwMode="auto">
          <a:xfrm>
            <a:off x="1149066" y="5159375"/>
            <a:ext cx="679450" cy="301625"/>
            <a:chOff x="780" y="1553"/>
            <a:chExt cx="428" cy="190"/>
          </a:xfrm>
        </p:grpSpPr>
        <p:sp>
          <p:nvSpPr>
            <p:cNvPr id="73" name="Rectangle 86"/>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74" name="Rectangle 87"/>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grpSp>
      <p:grpSp>
        <p:nvGrpSpPr>
          <p:cNvPr id="75" name="Group 88"/>
          <p:cNvGrpSpPr>
            <a:grpSpLocks/>
          </p:cNvGrpSpPr>
          <p:nvPr/>
        </p:nvGrpSpPr>
        <p:grpSpPr bwMode="auto">
          <a:xfrm>
            <a:off x="5873466" y="4713288"/>
            <a:ext cx="1387475" cy="1035050"/>
            <a:chOff x="3601" y="168"/>
            <a:chExt cx="874" cy="652"/>
          </a:xfrm>
        </p:grpSpPr>
        <p:sp>
          <p:nvSpPr>
            <p:cNvPr id="76" name="Rectangle 89"/>
            <p:cNvSpPr>
              <a:spLocks noChangeArrowheads="1"/>
            </p:cNvSpPr>
            <p:nvPr/>
          </p:nvSpPr>
          <p:spPr bwMode="auto">
            <a:xfrm>
              <a:off x="3658" y="168"/>
              <a:ext cx="817" cy="59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77" name="Rectangle 90"/>
            <p:cNvSpPr>
              <a:spLocks noChangeArrowheads="1"/>
            </p:cNvSpPr>
            <p:nvPr/>
          </p:nvSpPr>
          <p:spPr bwMode="auto">
            <a:xfrm>
              <a:off x="3628" y="213"/>
              <a:ext cx="802" cy="596"/>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78" name="Line 91"/>
            <p:cNvSpPr>
              <a:spLocks noChangeShapeType="1"/>
            </p:cNvSpPr>
            <p:nvPr/>
          </p:nvSpPr>
          <p:spPr bwMode="auto">
            <a:xfrm>
              <a:off x="3628" y="413"/>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9" name="Text Box 92"/>
            <p:cNvSpPr txBox="1">
              <a:spLocks noChangeArrowheads="1"/>
            </p:cNvSpPr>
            <p:nvPr/>
          </p:nvSpPr>
          <p:spPr bwMode="auto">
            <a:xfrm>
              <a:off x="3601" y="192"/>
              <a:ext cx="830" cy="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network</a:t>
              </a:r>
            </a:p>
            <a:p>
              <a:pPr algn="ctr">
                <a:lnSpc>
                  <a:spcPct val="110000"/>
                </a:lnSpc>
              </a:pPr>
              <a:r>
                <a:rPr lang="en-US" sz="1800">
                  <a:latin typeface="+mn-lt"/>
                </a:rPr>
                <a:t>link</a:t>
              </a:r>
            </a:p>
            <a:p>
              <a:pPr algn="ctr">
                <a:lnSpc>
                  <a:spcPct val="110000"/>
                </a:lnSpc>
              </a:pPr>
              <a:r>
                <a:rPr lang="en-US" sz="1800">
                  <a:latin typeface="+mn-lt"/>
                </a:rPr>
                <a:t>physical</a:t>
              </a:r>
            </a:p>
          </p:txBody>
        </p:sp>
        <p:sp>
          <p:nvSpPr>
            <p:cNvPr id="80" name="Line 93"/>
            <p:cNvSpPr>
              <a:spLocks noChangeShapeType="1"/>
            </p:cNvSpPr>
            <p:nvPr/>
          </p:nvSpPr>
          <p:spPr bwMode="auto">
            <a:xfrm>
              <a:off x="3633" y="615"/>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81" name="Group 94"/>
          <p:cNvGrpSpPr>
            <a:grpSpLocks/>
          </p:cNvGrpSpPr>
          <p:nvPr/>
        </p:nvGrpSpPr>
        <p:grpSpPr bwMode="auto">
          <a:xfrm>
            <a:off x="6040154" y="2820988"/>
            <a:ext cx="1387475" cy="733425"/>
            <a:chOff x="4696" y="597"/>
            <a:chExt cx="874" cy="462"/>
          </a:xfrm>
        </p:grpSpPr>
        <p:sp>
          <p:nvSpPr>
            <p:cNvPr id="82" name="Rectangle 95"/>
            <p:cNvSpPr>
              <a:spLocks noChangeArrowheads="1"/>
            </p:cNvSpPr>
            <p:nvPr/>
          </p:nvSpPr>
          <p:spPr bwMode="auto">
            <a:xfrm>
              <a:off x="4753" y="597"/>
              <a:ext cx="817" cy="41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83" name="Rectangle 96"/>
            <p:cNvSpPr>
              <a:spLocks noChangeArrowheads="1"/>
            </p:cNvSpPr>
            <p:nvPr/>
          </p:nvSpPr>
          <p:spPr bwMode="auto">
            <a:xfrm>
              <a:off x="4723" y="642"/>
              <a:ext cx="802" cy="413"/>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84" name="Line 97"/>
            <p:cNvSpPr>
              <a:spLocks noChangeShapeType="1"/>
            </p:cNvSpPr>
            <p:nvPr/>
          </p:nvSpPr>
          <p:spPr bwMode="auto">
            <a:xfrm>
              <a:off x="4723" y="842"/>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85" name="Text Box 98"/>
            <p:cNvSpPr txBox="1">
              <a:spLocks noChangeArrowheads="1"/>
            </p:cNvSpPr>
            <p:nvPr/>
          </p:nvSpPr>
          <p:spPr bwMode="auto">
            <a:xfrm>
              <a:off x="4696" y="621"/>
              <a:ext cx="83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link</a:t>
              </a:r>
            </a:p>
            <a:p>
              <a:pPr algn="ctr">
                <a:lnSpc>
                  <a:spcPct val="110000"/>
                </a:lnSpc>
              </a:pPr>
              <a:r>
                <a:rPr lang="en-US" sz="1800">
                  <a:latin typeface="+mn-lt"/>
                </a:rPr>
                <a:t>physical</a:t>
              </a:r>
            </a:p>
          </p:txBody>
        </p:sp>
      </p:grpSp>
      <p:sp>
        <p:nvSpPr>
          <p:cNvPr id="86" name="Freeform 99"/>
          <p:cNvSpPr>
            <a:spLocks/>
          </p:cNvSpPr>
          <p:nvPr/>
        </p:nvSpPr>
        <p:spPr bwMode="auto">
          <a:xfrm>
            <a:off x="7197441" y="4705350"/>
            <a:ext cx="655638" cy="1135063"/>
          </a:xfrm>
          <a:custGeom>
            <a:avLst/>
            <a:gdLst>
              <a:gd name="T0" fmla="*/ 655638 w 413"/>
              <a:gd name="T1" fmla="*/ 904875 h 715"/>
              <a:gd name="T2" fmla="*/ 14288 w 413"/>
              <a:gd name="T3" fmla="*/ 0 h 715"/>
              <a:gd name="T4" fmla="*/ 0 w 413"/>
              <a:gd name="T5" fmla="*/ 958850 h 715"/>
              <a:gd name="T6" fmla="*/ 630238 w 413"/>
              <a:gd name="T7" fmla="*/ 1135063 h 715"/>
              <a:gd name="T8" fmla="*/ 655638 w 413"/>
              <a:gd name="T9" fmla="*/ 904875 h 715"/>
              <a:gd name="T10" fmla="*/ 0 60000 65536"/>
              <a:gd name="T11" fmla="*/ 0 60000 65536"/>
              <a:gd name="T12" fmla="*/ 0 60000 65536"/>
              <a:gd name="T13" fmla="*/ 0 60000 65536"/>
              <a:gd name="T14" fmla="*/ 0 60000 65536"/>
              <a:gd name="T15" fmla="*/ 0 w 413"/>
              <a:gd name="T16" fmla="*/ 0 h 715"/>
              <a:gd name="T17" fmla="*/ 413 w 413"/>
              <a:gd name="T18" fmla="*/ 715 h 715"/>
            </a:gdLst>
            <a:ahLst/>
            <a:cxnLst>
              <a:cxn ang="T10">
                <a:pos x="T0" y="T1"/>
              </a:cxn>
              <a:cxn ang="T11">
                <a:pos x="T2" y="T3"/>
              </a:cxn>
              <a:cxn ang="T12">
                <a:pos x="T4" y="T5"/>
              </a:cxn>
              <a:cxn ang="T13">
                <a:pos x="T6" y="T7"/>
              </a:cxn>
              <a:cxn ang="T14">
                <a:pos x="T8" y="T9"/>
              </a:cxn>
            </a:cxnLst>
            <a:rect l="T15" t="T16" r="T17" b="T18"/>
            <a:pathLst>
              <a:path w="413" h="715">
                <a:moveTo>
                  <a:pt x="413" y="570"/>
                </a:moveTo>
                <a:lnTo>
                  <a:pt x="9" y="0"/>
                </a:lnTo>
                <a:lnTo>
                  <a:pt x="0" y="604"/>
                </a:lnTo>
                <a:lnTo>
                  <a:pt x="397" y="715"/>
                </a:lnTo>
                <a:lnTo>
                  <a:pt x="413" y="570"/>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nvGrpSpPr>
          <p:cNvPr id="87" name="Group 100"/>
          <p:cNvGrpSpPr>
            <a:grpSpLocks/>
          </p:cNvGrpSpPr>
          <p:nvPr/>
        </p:nvGrpSpPr>
        <p:grpSpPr bwMode="auto">
          <a:xfrm>
            <a:off x="7800691" y="5532438"/>
            <a:ext cx="766763" cy="433387"/>
            <a:chOff x="3600" y="219"/>
            <a:chExt cx="360" cy="175"/>
          </a:xfrm>
        </p:grpSpPr>
        <p:sp>
          <p:nvSpPr>
            <p:cNvPr id="88" name="Oval 10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89" name="Line 10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0" name="Line 10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1" name="Rectangle 10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92" name="Oval 10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93" name="Group 106"/>
            <p:cNvGrpSpPr>
              <a:grpSpLocks/>
            </p:cNvGrpSpPr>
            <p:nvPr/>
          </p:nvGrpSpPr>
          <p:grpSpPr bwMode="auto">
            <a:xfrm>
              <a:off x="3686" y="244"/>
              <a:ext cx="177" cy="66"/>
              <a:chOff x="2848" y="848"/>
              <a:chExt cx="140" cy="98"/>
            </a:xfrm>
          </p:grpSpPr>
          <p:sp>
            <p:nvSpPr>
              <p:cNvPr id="98" name="Line 10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9" name="Line 10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00" name="Line 10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94" name="Group 110"/>
            <p:cNvGrpSpPr>
              <a:grpSpLocks/>
            </p:cNvGrpSpPr>
            <p:nvPr/>
          </p:nvGrpSpPr>
          <p:grpSpPr bwMode="auto">
            <a:xfrm flipV="1">
              <a:off x="3686" y="243"/>
              <a:ext cx="177" cy="66"/>
              <a:chOff x="2848" y="848"/>
              <a:chExt cx="140" cy="98"/>
            </a:xfrm>
          </p:grpSpPr>
          <p:sp>
            <p:nvSpPr>
              <p:cNvPr id="95" name="Line 11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6" name="Line 11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7" name="Line 11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101" name="Freeform 114"/>
          <p:cNvSpPr>
            <a:spLocks/>
          </p:cNvSpPr>
          <p:nvPr/>
        </p:nvSpPr>
        <p:spPr bwMode="auto">
          <a:xfrm>
            <a:off x="1994949" y="1366183"/>
            <a:ext cx="5316792" cy="5315772"/>
          </a:xfrm>
          <a:custGeom>
            <a:avLst/>
            <a:gdLst>
              <a:gd name="T0" fmla="*/ 1384300 w 3316"/>
              <a:gd name="T1" fmla="*/ 0 h 3461"/>
              <a:gd name="T2" fmla="*/ 1393825 w 3316"/>
              <a:gd name="T3" fmla="*/ 2351088 h 3461"/>
              <a:gd name="T4" fmla="*/ 4146550 w 3316"/>
              <a:gd name="T5" fmla="*/ 2351088 h 3461"/>
              <a:gd name="T6" fmla="*/ 4146550 w 3316"/>
              <a:gd name="T7" fmla="*/ 1871663 h 3461"/>
              <a:gd name="T8" fmla="*/ 5229225 w 3316"/>
              <a:gd name="T9" fmla="*/ 1871663 h 3461"/>
              <a:gd name="T10" fmla="*/ 5264150 w 3316"/>
              <a:gd name="T11" fmla="*/ 4970463 h 3461"/>
              <a:gd name="T12" fmla="*/ 4997450 w 3316"/>
              <a:gd name="T13" fmla="*/ 4740276 h 3461"/>
              <a:gd name="T14" fmla="*/ 4989513 w 3316"/>
              <a:gd name="T15" fmla="*/ 3789363 h 3461"/>
              <a:gd name="T16" fmla="*/ 3976688 w 3316"/>
              <a:gd name="T17" fmla="*/ 3789363 h 3461"/>
              <a:gd name="T18" fmla="*/ 3976688 w 3316"/>
              <a:gd name="T19" fmla="*/ 4873626 h 3461"/>
              <a:gd name="T20" fmla="*/ 1677988 w 3316"/>
              <a:gd name="T21" fmla="*/ 5494338 h 3461"/>
              <a:gd name="T22" fmla="*/ 0 w 3316"/>
              <a:gd name="T23" fmla="*/ 5494338 h 3461"/>
              <a:gd name="T24" fmla="*/ 0 w 3316"/>
              <a:gd name="T25" fmla="*/ 3976688 h 34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16"/>
              <a:gd name="T40" fmla="*/ 0 h 3461"/>
              <a:gd name="T41" fmla="*/ 3316 w 3316"/>
              <a:gd name="T42" fmla="*/ 3461 h 3461"/>
              <a:gd name="connsiteX0" fmla="*/ 2730 w 10100"/>
              <a:gd name="connsiteY0" fmla="*/ 0 h 10191"/>
              <a:gd name="connsiteX1" fmla="*/ 2748 w 10100"/>
              <a:gd name="connsiteY1" fmla="*/ 4279 h 10191"/>
              <a:gd name="connsiteX2" fmla="*/ 7977 w 10100"/>
              <a:gd name="connsiteY2" fmla="*/ 4279 h 10191"/>
              <a:gd name="connsiteX3" fmla="*/ 7977 w 10100"/>
              <a:gd name="connsiteY3" fmla="*/ 3407 h 10191"/>
              <a:gd name="connsiteX4" fmla="*/ 10034 w 10100"/>
              <a:gd name="connsiteY4" fmla="*/ 3407 h 10191"/>
              <a:gd name="connsiteX5" fmla="*/ 10100 w 10100"/>
              <a:gd name="connsiteY5" fmla="*/ 9047 h 10191"/>
              <a:gd name="connsiteX6" fmla="*/ 9593 w 10100"/>
              <a:gd name="connsiteY6" fmla="*/ 8628 h 10191"/>
              <a:gd name="connsiteX7" fmla="*/ 9578 w 10100"/>
              <a:gd name="connsiteY7" fmla="*/ 6897 h 10191"/>
              <a:gd name="connsiteX8" fmla="*/ 7654 w 10100"/>
              <a:gd name="connsiteY8" fmla="*/ 6897 h 10191"/>
              <a:gd name="connsiteX9" fmla="*/ 7654 w 10100"/>
              <a:gd name="connsiteY9" fmla="*/ 8870 h 10191"/>
              <a:gd name="connsiteX10" fmla="*/ 3288 w 10100"/>
              <a:gd name="connsiteY10" fmla="*/ 10000 h 10191"/>
              <a:gd name="connsiteX11" fmla="*/ 0 w 10100"/>
              <a:gd name="connsiteY11" fmla="*/ 10191 h 10191"/>
              <a:gd name="connsiteX12" fmla="*/ 100 w 10100"/>
              <a:gd name="connsiteY12" fmla="*/ 7238 h 10191"/>
              <a:gd name="connsiteX0" fmla="*/ 2730 w 10100"/>
              <a:gd name="connsiteY0" fmla="*/ 0 h 10191"/>
              <a:gd name="connsiteX1" fmla="*/ 2748 w 10100"/>
              <a:gd name="connsiteY1" fmla="*/ 4279 h 10191"/>
              <a:gd name="connsiteX2" fmla="*/ 7977 w 10100"/>
              <a:gd name="connsiteY2" fmla="*/ 4279 h 10191"/>
              <a:gd name="connsiteX3" fmla="*/ 7977 w 10100"/>
              <a:gd name="connsiteY3" fmla="*/ 3407 h 10191"/>
              <a:gd name="connsiteX4" fmla="*/ 10034 w 10100"/>
              <a:gd name="connsiteY4" fmla="*/ 3407 h 10191"/>
              <a:gd name="connsiteX5" fmla="*/ 10100 w 10100"/>
              <a:gd name="connsiteY5" fmla="*/ 9047 h 10191"/>
              <a:gd name="connsiteX6" fmla="*/ 9593 w 10100"/>
              <a:gd name="connsiteY6" fmla="*/ 8628 h 10191"/>
              <a:gd name="connsiteX7" fmla="*/ 9578 w 10100"/>
              <a:gd name="connsiteY7" fmla="*/ 6897 h 10191"/>
              <a:gd name="connsiteX8" fmla="*/ 7654 w 10100"/>
              <a:gd name="connsiteY8" fmla="*/ 6897 h 10191"/>
              <a:gd name="connsiteX9" fmla="*/ 7654 w 10100"/>
              <a:gd name="connsiteY9" fmla="*/ 8870 h 10191"/>
              <a:gd name="connsiteX10" fmla="*/ 3288 w 10100"/>
              <a:gd name="connsiteY10" fmla="*/ 10000 h 10191"/>
              <a:gd name="connsiteX11" fmla="*/ 0 w 10100"/>
              <a:gd name="connsiteY11" fmla="*/ 10191 h 10191"/>
              <a:gd name="connsiteX12" fmla="*/ 0 w 10100"/>
              <a:gd name="connsiteY12" fmla="*/ 7621 h 10191"/>
              <a:gd name="connsiteX0" fmla="*/ 2730 w 10100"/>
              <a:gd name="connsiteY0" fmla="*/ 0 h 10191"/>
              <a:gd name="connsiteX1" fmla="*/ 2748 w 10100"/>
              <a:gd name="connsiteY1" fmla="*/ 4279 h 10191"/>
              <a:gd name="connsiteX2" fmla="*/ 7977 w 10100"/>
              <a:gd name="connsiteY2" fmla="*/ 4279 h 10191"/>
              <a:gd name="connsiteX3" fmla="*/ 7977 w 10100"/>
              <a:gd name="connsiteY3" fmla="*/ 3407 h 10191"/>
              <a:gd name="connsiteX4" fmla="*/ 10034 w 10100"/>
              <a:gd name="connsiteY4" fmla="*/ 3407 h 10191"/>
              <a:gd name="connsiteX5" fmla="*/ 10100 w 10100"/>
              <a:gd name="connsiteY5" fmla="*/ 9047 h 10191"/>
              <a:gd name="connsiteX6" fmla="*/ 9593 w 10100"/>
              <a:gd name="connsiteY6" fmla="*/ 8628 h 10191"/>
              <a:gd name="connsiteX7" fmla="*/ 9578 w 10100"/>
              <a:gd name="connsiteY7" fmla="*/ 6897 h 10191"/>
              <a:gd name="connsiteX8" fmla="*/ 7654 w 10100"/>
              <a:gd name="connsiteY8" fmla="*/ 6897 h 10191"/>
              <a:gd name="connsiteX9" fmla="*/ 7654 w 10100"/>
              <a:gd name="connsiteY9" fmla="*/ 8870 h 10191"/>
              <a:gd name="connsiteX10" fmla="*/ 2729 w 10100"/>
              <a:gd name="connsiteY10" fmla="*/ 10153 h 10191"/>
              <a:gd name="connsiteX11" fmla="*/ 0 w 10100"/>
              <a:gd name="connsiteY11" fmla="*/ 10191 h 10191"/>
              <a:gd name="connsiteX12" fmla="*/ 0 w 10100"/>
              <a:gd name="connsiteY12" fmla="*/ 7621 h 10191"/>
              <a:gd name="connsiteX0" fmla="*/ 3848 w 10100"/>
              <a:gd name="connsiteY0" fmla="*/ 0 h 9675"/>
              <a:gd name="connsiteX1" fmla="*/ 2748 w 10100"/>
              <a:gd name="connsiteY1" fmla="*/ 3763 h 9675"/>
              <a:gd name="connsiteX2" fmla="*/ 7977 w 10100"/>
              <a:gd name="connsiteY2" fmla="*/ 3763 h 9675"/>
              <a:gd name="connsiteX3" fmla="*/ 7977 w 10100"/>
              <a:gd name="connsiteY3" fmla="*/ 2891 h 9675"/>
              <a:gd name="connsiteX4" fmla="*/ 10034 w 10100"/>
              <a:gd name="connsiteY4" fmla="*/ 2891 h 9675"/>
              <a:gd name="connsiteX5" fmla="*/ 10100 w 10100"/>
              <a:gd name="connsiteY5" fmla="*/ 8531 h 9675"/>
              <a:gd name="connsiteX6" fmla="*/ 9593 w 10100"/>
              <a:gd name="connsiteY6" fmla="*/ 8112 h 9675"/>
              <a:gd name="connsiteX7" fmla="*/ 9578 w 10100"/>
              <a:gd name="connsiteY7" fmla="*/ 6381 h 9675"/>
              <a:gd name="connsiteX8" fmla="*/ 7654 w 10100"/>
              <a:gd name="connsiteY8" fmla="*/ 6381 h 9675"/>
              <a:gd name="connsiteX9" fmla="*/ 7654 w 10100"/>
              <a:gd name="connsiteY9" fmla="*/ 8354 h 9675"/>
              <a:gd name="connsiteX10" fmla="*/ 2729 w 10100"/>
              <a:gd name="connsiteY10" fmla="*/ 9637 h 9675"/>
              <a:gd name="connsiteX11" fmla="*/ 0 w 10100"/>
              <a:gd name="connsiteY11" fmla="*/ 9675 h 9675"/>
              <a:gd name="connsiteX12" fmla="*/ 0 w 10100"/>
              <a:gd name="connsiteY12" fmla="*/ 7105 h 9675"/>
              <a:gd name="connsiteX0" fmla="*/ 3810 w 10000"/>
              <a:gd name="connsiteY0" fmla="*/ 0 h 10000"/>
              <a:gd name="connsiteX1" fmla="*/ 3808 w 10000"/>
              <a:gd name="connsiteY1" fmla="*/ 3968 h 10000"/>
              <a:gd name="connsiteX2" fmla="*/ 7898 w 10000"/>
              <a:gd name="connsiteY2" fmla="*/ 3889 h 10000"/>
              <a:gd name="connsiteX3" fmla="*/ 7898 w 10000"/>
              <a:gd name="connsiteY3" fmla="*/ 2988 h 10000"/>
              <a:gd name="connsiteX4" fmla="*/ 9935 w 10000"/>
              <a:gd name="connsiteY4" fmla="*/ 2988 h 10000"/>
              <a:gd name="connsiteX5" fmla="*/ 10000 w 10000"/>
              <a:gd name="connsiteY5" fmla="*/ 8818 h 10000"/>
              <a:gd name="connsiteX6" fmla="*/ 9498 w 10000"/>
              <a:gd name="connsiteY6" fmla="*/ 8384 h 10000"/>
              <a:gd name="connsiteX7" fmla="*/ 9483 w 10000"/>
              <a:gd name="connsiteY7" fmla="*/ 6595 h 10000"/>
              <a:gd name="connsiteX8" fmla="*/ 7578 w 10000"/>
              <a:gd name="connsiteY8" fmla="*/ 6595 h 10000"/>
              <a:gd name="connsiteX9" fmla="*/ 7578 w 10000"/>
              <a:gd name="connsiteY9" fmla="*/ 8635 h 10000"/>
              <a:gd name="connsiteX10" fmla="*/ 2702 w 10000"/>
              <a:gd name="connsiteY10" fmla="*/ 9961 h 10000"/>
              <a:gd name="connsiteX11" fmla="*/ 0 w 10000"/>
              <a:gd name="connsiteY11" fmla="*/ 10000 h 10000"/>
              <a:gd name="connsiteX12" fmla="*/ 0 w 10000"/>
              <a:gd name="connsiteY12" fmla="*/ 7344 h 10000"/>
              <a:gd name="connsiteX0" fmla="*/ 3810 w 10000"/>
              <a:gd name="connsiteY0" fmla="*/ 0 h 10000"/>
              <a:gd name="connsiteX1" fmla="*/ 3788 w 10000"/>
              <a:gd name="connsiteY1" fmla="*/ 3869 h 10000"/>
              <a:gd name="connsiteX2" fmla="*/ 7898 w 10000"/>
              <a:gd name="connsiteY2" fmla="*/ 3889 h 10000"/>
              <a:gd name="connsiteX3" fmla="*/ 7898 w 10000"/>
              <a:gd name="connsiteY3" fmla="*/ 2988 h 10000"/>
              <a:gd name="connsiteX4" fmla="*/ 9935 w 10000"/>
              <a:gd name="connsiteY4" fmla="*/ 2988 h 10000"/>
              <a:gd name="connsiteX5" fmla="*/ 10000 w 10000"/>
              <a:gd name="connsiteY5" fmla="*/ 8818 h 10000"/>
              <a:gd name="connsiteX6" fmla="*/ 9498 w 10000"/>
              <a:gd name="connsiteY6" fmla="*/ 8384 h 10000"/>
              <a:gd name="connsiteX7" fmla="*/ 9483 w 10000"/>
              <a:gd name="connsiteY7" fmla="*/ 6595 h 10000"/>
              <a:gd name="connsiteX8" fmla="*/ 7578 w 10000"/>
              <a:gd name="connsiteY8" fmla="*/ 6595 h 10000"/>
              <a:gd name="connsiteX9" fmla="*/ 7578 w 10000"/>
              <a:gd name="connsiteY9" fmla="*/ 8635 h 10000"/>
              <a:gd name="connsiteX10" fmla="*/ 2702 w 10000"/>
              <a:gd name="connsiteY10" fmla="*/ 9961 h 10000"/>
              <a:gd name="connsiteX11" fmla="*/ 0 w 10000"/>
              <a:gd name="connsiteY11" fmla="*/ 10000 h 10000"/>
              <a:gd name="connsiteX12" fmla="*/ 0 w 10000"/>
              <a:gd name="connsiteY12" fmla="*/ 734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10000">
                <a:moveTo>
                  <a:pt x="3810" y="0"/>
                </a:moveTo>
                <a:cubicBezTo>
                  <a:pt x="3816" y="1474"/>
                  <a:pt x="3782" y="2396"/>
                  <a:pt x="3788" y="3869"/>
                </a:cubicBezTo>
                <a:lnTo>
                  <a:pt x="7898" y="3889"/>
                </a:lnTo>
                <a:lnTo>
                  <a:pt x="7898" y="2988"/>
                </a:lnTo>
                <a:lnTo>
                  <a:pt x="9935" y="2988"/>
                </a:lnTo>
                <a:cubicBezTo>
                  <a:pt x="9957" y="4931"/>
                  <a:pt x="9978" y="6875"/>
                  <a:pt x="10000" y="8818"/>
                </a:cubicBezTo>
                <a:lnTo>
                  <a:pt x="9498" y="8384"/>
                </a:lnTo>
                <a:cubicBezTo>
                  <a:pt x="9493" y="7788"/>
                  <a:pt x="9488" y="7191"/>
                  <a:pt x="9483" y="6595"/>
                </a:cubicBezTo>
                <a:lnTo>
                  <a:pt x="7578" y="6595"/>
                </a:lnTo>
                <a:lnTo>
                  <a:pt x="7578" y="8635"/>
                </a:lnTo>
                <a:lnTo>
                  <a:pt x="2702" y="9961"/>
                </a:lnTo>
                <a:lnTo>
                  <a:pt x="0" y="10000"/>
                </a:lnTo>
                <a:lnTo>
                  <a:pt x="0" y="7344"/>
                </a:ln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de-DE"/>
          </a:p>
        </p:txBody>
      </p:sp>
      <p:grpSp>
        <p:nvGrpSpPr>
          <p:cNvPr id="102" name="Group 115"/>
          <p:cNvGrpSpPr>
            <a:grpSpLocks/>
          </p:cNvGrpSpPr>
          <p:nvPr/>
        </p:nvGrpSpPr>
        <p:grpSpPr bwMode="auto">
          <a:xfrm>
            <a:off x="4457416" y="5095875"/>
            <a:ext cx="1479550" cy="303213"/>
            <a:chOff x="332" y="2224"/>
            <a:chExt cx="932" cy="191"/>
          </a:xfrm>
        </p:grpSpPr>
        <p:sp>
          <p:nvSpPr>
            <p:cNvPr id="103" name="Rectangle 116"/>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04" name="Rectangle 117"/>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105" name="Rectangle 118"/>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106" name="Rectangle 119"/>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l</a:t>
              </a:r>
            </a:p>
          </p:txBody>
        </p:sp>
        <p:sp>
          <p:nvSpPr>
            <p:cNvPr id="107" name="Rectangle 120"/>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108" name="Line 121"/>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9" name="Line 122"/>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0" name="Line 123"/>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111" name="Group 124"/>
          <p:cNvGrpSpPr>
            <a:grpSpLocks/>
          </p:cNvGrpSpPr>
          <p:nvPr/>
        </p:nvGrpSpPr>
        <p:grpSpPr bwMode="auto">
          <a:xfrm>
            <a:off x="4716179" y="4789488"/>
            <a:ext cx="1208087" cy="303212"/>
            <a:chOff x="501" y="1990"/>
            <a:chExt cx="761" cy="191"/>
          </a:xfrm>
        </p:grpSpPr>
        <p:sp>
          <p:nvSpPr>
            <p:cNvPr id="112" name="Rectangle 125"/>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13" name="Rectangle 126"/>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114" name="Rectangle 127"/>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115" name="Rectangle 128"/>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116" name="Line 129"/>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 name="Line 130"/>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118" name="Group 140"/>
          <p:cNvGrpSpPr>
            <a:grpSpLocks/>
          </p:cNvGrpSpPr>
          <p:nvPr/>
        </p:nvGrpSpPr>
        <p:grpSpPr bwMode="auto">
          <a:xfrm>
            <a:off x="7487954" y="5156200"/>
            <a:ext cx="1208087" cy="303213"/>
            <a:chOff x="501" y="1990"/>
            <a:chExt cx="761" cy="191"/>
          </a:xfrm>
        </p:grpSpPr>
        <p:sp>
          <p:nvSpPr>
            <p:cNvPr id="119" name="Rectangle 141"/>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20" name="Rectangle 142"/>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121" name="Rectangle 143"/>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122" name="Rectangle 144"/>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123" name="Line 145"/>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4" name="Line 146"/>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125" name="Group 156"/>
          <p:cNvGrpSpPr>
            <a:grpSpLocks/>
          </p:cNvGrpSpPr>
          <p:nvPr/>
        </p:nvGrpSpPr>
        <p:grpSpPr bwMode="auto">
          <a:xfrm>
            <a:off x="1384016" y="2201862"/>
            <a:ext cx="1479550" cy="303212"/>
            <a:chOff x="332" y="2224"/>
            <a:chExt cx="932" cy="191"/>
          </a:xfrm>
        </p:grpSpPr>
        <p:sp>
          <p:nvSpPr>
            <p:cNvPr id="126" name="Rectangle 157"/>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27" name="Rectangle 158"/>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128" name="Rectangle 159"/>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129" name="Rectangle 160"/>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l</a:t>
              </a:r>
            </a:p>
          </p:txBody>
        </p:sp>
        <p:sp>
          <p:nvSpPr>
            <p:cNvPr id="130" name="Rectangle 161"/>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131" name="Line 162"/>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32" name="Line 163"/>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33" name="Line 164"/>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sp>
        <p:nvSpPr>
          <p:cNvPr id="134" name="Text Box 166"/>
          <p:cNvSpPr txBox="1">
            <a:spLocks noChangeArrowheads="1"/>
          </p:cNvSpPr>
          <p:nvPr/>
        </p:nvSpPr>
        <p:spPr bwMode="auto">
          <a:xfrm>
            <a:off x="8140416" y="5961063"/>
            <a:ext cx="9284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b="1" dirty="0">
                <a:latin typeface="+mn-lt"/>
              </a:rPr>
              <a:t>Router</a:t>
            </a:r>
          </a:p>
        </p:txBody>
      </p:sp>
      <p:sp>
        <p:nvSpPr>
          <p:cNvPr id="135" name="Text Box 167"/>
          <p:cNvSpPr txBox="1">
            <a:spLocks noChangeArrowheads="1"/>
          </p:cNvSpPr>
          <p:nvPr/>
        </p:nvSpPr>
        <p:spPr bwMode="auto">
          <a:xfrm>
            <a:off x="8154704" y="3648075"/>
            <a:ext cx="9284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b="1" dirty="0">
                <a:latin typeface="+mn-lt"/>
              </a:rPr>
              <a:t>Switch</a:t>
            </a:r>
          </a:p>
        </p:txBody>
      </p:sp>
      <p:sp>
        <p:nvSpPr>
          <p:cNvPr id="136" name="Text Box 174"/>
          <p:cNvSpPr txBox="1">
            <a:spLocks noChangeArrowheads="1"/>
          </p:cNvSpPr>
          <p:nvPr/>
        </p:nvSpPr>
        <p:spPr bwMode="auto">
          <a:xfrm>
            <a:off x="653766" y="1222345"/>
            <a:ext cx="13676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b="1" dirty="0" err="1">
                <a:solidFill>
                  <a:srgbClr val="FF0000"/>
                </a:solidFill>
                <a:latin typeface="+mn-lt"/>
              </a:rPr>
              <a:t>Nachricht</a:t>
            </a:r>
            <a:endParaRPr lang="en-US" sz="2000" b="1" dirty="0">
              <a:solidFill>
                <a:schemeClr val="accent2"/>
              </a:solidFill>
              <a:latin typeface="+mn-lt"/>
            </a:endParaRPr>
          </a:p>
        </p:txBody>
      </p:sp>
      <p:grpSp>
        <p:nvGrpSpPr>
          <p:cNvPr id="137" name="Group 175"/>
          <p:cNvGrpSpPr>
            <a:grpSpLocks/>
          </p:cNvGrpSpPr>
          <p:nvPr/>
        </p:nvGrpSpPr>
        <p:grpSpPr bwMode="auto">
          <a:xfrm>
            <a:off x="2209516" y="1255712"/>
            <a:ext cx="679450" cy="301625"/>
            <a:chOff x="780" y="1553"/>
            <a:chExt cx="428" cy="190"/>
          </a:xfrm>
        </p:grpSpPr>
        <p:sp>
          <p:nvSpPr>
            <p:cNvPr id="138" name="Rectangle 176"/>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39" name="Rectangle 177"/>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grpSp>
      <p:grpSp>
        <p:nvGrpSpPr>
          <p:cNvPr id="140" name="Group 185"/>
          <p:cNvGrpSpPr>
            <a:grpSpLocks/>
          </p:cNvGrpSpPr>
          <p:nvPr/>
        </p:nvGrpSpPr>
        <p:grpSpPr bwMode="auto">
          <a:xfrm>
            <a:off x="1974566" y="1576387"/>
            <a:ext cx="903287" cy="301625"/>
            <a:chOff x="1851" y="2046"/>
            <a:chExt cx="569" cy="190"/>
          </a:xfrm>
        </p:grpSpPr>
        <p:grpSp>
          <p:nvGrpSpPr>
            <p:cNvPr id="141" name="Group 179"/>
            <p:cNvGrpSpPr>
              <a:grpSpLocks/>
            </p:cNvGrpSpPr>
            <p:nvPr/>
          </p:nvGrpSpPr>
          <p:grpSpPr bwMode="auto">
            <a:xfrm>
              <a:off x="1851" y="2047"/>
              <a:ext cx="190" cy="184"/>
              <a:chOff x="1962" y="2058"/>
              <a:chExt cx="190" cy="184"/>
            </a:xfrm>
          </p:grpSpPr>
          <p:sp>
            <p:nvSpPr>
              <p:cNvPr id="145" name="Rectangle 180"/>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46" name="Rectangle 181"/>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grpSp>
        <p:grpSp>
          <p:nvGrpSpPr>
            <p:cNvPr id="142" name="Group 182"/>
            <p:cNvGrpSpPr>
              <a:grpSpLocks/>
            </p:cNvGrpSpPr>
            <p:nvPr/>
          </p:nvGrpSpPr>
          <p:grpSpPr bwMode="auto">
            <a:xfrm>
              <a:off x="1992" y="2046"/>
              <a:ext cx="428" cy="190"/>
              <a:chOff x="780" y="1553"/>
              <a:chExt cx="428" cy="190"/>
            </a:xfrm>
          </p:grpSpPr>
          <p:sp>
            <p:nvSpPr>
              <p:cNvPr id="143" name="Rectangle 183"/>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44" name="Rectangle 184"/>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grpSp>
      </p:grpSp>
      <p:grpSp>
        <p:nvGrpSpPr>
          <p:cNvPr id="147" name="Group 187"/>
          <p:cNvGrpSpPr>
            <a:grpSpLocks/>
          </p:cNvGrpSpPr>
          <p:nvPr/>
        </p:nvGrpSpPr>
        <p:grpSpPr bwMode="auto">
          <a:xfrm>
            <a:off x="1680878" y="1900237"/>
            <a:ext cx="301625" cy="292100"/>
            <a:chOff x="1962" y="2058"/>
            <a:chExt cx="190" cy="184"/>
          </a:xfrm>
        </p:grpSpPr>
        <p:sp>
          <p:nvSpPr>
            <p:cNvPr id="148" name="Rectangle 188"/>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49" name="Rectangle 189"/>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grpSp>
      <p:sp>
        <p:nvSpPr>
          <p:cNvPr id="150" name="Text Box 7"/>
          <p:cNvSpPr txBox="1">
            <a:spLocks noChangeArrowheads="1"/>
          </p:cNvSpPr>
          <p:nvPr/>
        </p:nvSpPr>
        <p:spPr bwMode="auto">
          <a:xfrm>
            <a:off x="-351" y="2173258"/>
            <a:ext cx="11977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b="1" dirty="0" err="1">
                <a:solidFill>
                  <a:srgbClr val="FF0000"/>
                </a:solidFill>
                <a:latin typeface="+mn-lt"/>
              </a:rPr>
              <a:t>Rahmen</a:t>
            </a:r>
            <a:endParaRPr lang="en-US" sz="2000" b="1" dirty="0">
              <a:solidFill>
                <a:schemeClr val="accent2"/>
              </a:solidFill>
              <a:latin typeface="+mn-lt"/>
            </a:endParaRPr>
          </a:p>
        </p:txBody>
      </p:sp>
    </p:spTree>
    <p:extLst>
      <p:ext uri="{BB962C8B-B14F-4D97-AF65-F5344CB8AC3E}">
        <p14:creationId xmlns:p14="http://schemas.microsoft.com/office/powerpoint/2010/main" val="60551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72222E-6 -0.0037 L -4.72222E-6 0.04584 " pathEditMode="relative" rAng="0" ptsTypes="AA">
                                      <p:cBhvr>
                                        <p:cTn id="6" dur="2000" fill="hold"/>
                                        <p:tgtEl>
                                          <p:spTgt spid="137"/>
                                        </p:tgtEl>
                                        <p:attrNameLst>
                                          <p:attrName>ppt_x</p:attrName>
                                          <p:attrName>ppt_y</p:attrName>
                                        </p:attrNameLst>
                                      </p:cBhvr>
                                      <p:rCtr x="0" y="2477"/>
                                    </p:animMotion>
                                  </p:childTnLst>
                                </p:cTn>
                              </p:par>
                              <p:par>
                                <p:cTn id="7" presetID="10" presetClass="exit" presetSubtype="0" fill="hold" grpId="0" nodeType="withEffect">
                                  <p:stCondLst>
                                    <p:cond delay="0"/>
                                  </p:stCondLst>
                                  <p:childTnLst>
                                    <p:animEffect transition="out" filter="fade">
                                      <p:cBhvr>
                                        <p:cTn id="8" dur="2000"/>
                                        <p:tgtEl>
                                          <p:spTgt spid="136"/>
                                        </p:tgtEl>
                                      </p:cBhvr>
                                    </p:animEffect>
                                    <p:set>
                                      <p:cBhvr>
                                        <p:cTn id="9" dur="1" fill="hold">
                                          <p:stCondLst>
                                            <p:cond delay="1999"/>
                                          </p:stCondLst>
                                        </p:cTn>
                                        <p:tgtEl>
                                          <p:spTgt spid="136"/>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137"/>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37"/>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36"/>
                                        </p:tgtEl>
                                        <p:attrNameLst>
                                          <p:attrName>style.visibility</p:attrName>
                                        </p:attrNameLst>
                                      </p:cBhvr>
                                      <p:to>
                                        <p:strVal val="hidden"/>
                                      </p:to>
                                    </p:set>
                                  </p:childTnLst>
                                </p:cTn>
                              </p:par>
                              <p:par>
                                <p:cTn id="24" presetID="1" presetClass="entr" presetSubtype="0" fill="hold" nodeType="withEffect">
                                  <p:stCondLst>
                                    <p:cond delay="0"/>
                                  </p:stCondLst>
                                  <p:childTnLst>
                                    <p:set>
                                      <p:cBhvr>
                                        <p:cTn id="25" dur="1" fill="hold">
                                          <p:stCondLst>
                                            <p:cond delay="0"/>
                                          </p:stCondLst>
                                        </p:cTn>
                                        <p:tgtEl>
                                          <p:spTgt spid="140"/>
                                        </p:tgtEl>
                                        <p:attrNameLst>
                                          <p:attrName>style.visibility</p:attrName>
                                        </p:attrNameLst>
                                      </p:cBhvr>
                                      <p:to>
                                        <p:strVal val="visible"/>
                                      </p:to>
                                    </p:set>
                                  </p:childTnLst>
                                </p:cTn>
                              </p:par>
                            </p:childTnLst>
                          </p:cTn>
                        </p:par>
                        <p:par>
                          <p:cTn id="26" fill="hold">
                            <p:stCondLst>
                              <p:cond delay="0"/>
                            </p:stCondLst>
                            <p:childTnLst>
                              <p:par>
                                <p:cTn id="27" presetID="42" presetClass="path" presetSubtype="0" accel="50000" decel="50000" fill="hold" nodeType="afterEffect">
                                  <p:stCondLst>
                                    <p:cond delay="0"/>
                                  </p:stCondLst>
                                  <p:childTnLst>
                                    <p:animMotion origin="layout" path="M -3.05556E-6 -0.00926 L -3.05556E-6 0.04792 " pathEditMode="relative" rAng="0" ptsTypes="AA">
                                      <p:cBhvr>
                                        <p:cTn id="28" dur="2000" fill="hold"/>
                                        <p:tgtEl>
                                          <p:spTgt spid="140"/>
                                        </p:tgtEl>
                                        <p:attrNameLst>
                                          <p:attrName>ppt_x</p:attrName>
                                          <p:attrName>ppt_y</p:attrName>
                                        </p:attrNameLst>
                                      </p:cBhvr>
                                      <p:rCtr x="0" y="2847"/>
                                    </p:animMotion>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40"/>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47"/>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40"/>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42" presetClass="path" presetSubtype="0" accel="50000" decel="50000" fill="hold" nodeType="withEffect">
                                  <p:stCondLst>
                                    <p:cond delay="0"/>
                                  </p:stCondLst>
                                  <p:childTnLst>
                                    <p:animMotion origin="layout" path="M -3.05556E-6 2.22222E-6 L -3.05556E-6 0.04213 " pathEditMode="relative" rAng="0" ptsTypes="AA">
                                      <p:cBhvr>
                                        <p:cTn id="46" dur="2000" fill="hold"/>
                                        <p:tgtEl>
                                          <p:spTgt spid="29"/>
                                        </p:tgtEl>
                                        <p:attrNameLst>
                                          <p:attrName>ppt_x</p:attrName>
                                          <p:attrName>ppt_y</p:attrName>
                                        </p:attrNameLst>
                                      </p:cBhvr>
                                      <p:rCtr x="0" y="2106"/>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29"/>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50"/>
                                        </p:tgtEl>
                                        <p:attrNameLst>
                                          <p:attrName>style.visibility</p:attrName>
                                        </p:attrNameLst>
                                      </p:cBhvr>
                                      <p:to>
                                        <p:strVal val="hidden"/>
                                      </p:to>
                                    </p:set>
                                  </p:childTnLst>
                                </p:cTn>
                              </p:par>
                            </p:childTnLst>
                          </p:cTn>
                        </p:par>
                        <p:par>
                          <p:cTn id="59" fill="hold">
                            <p:stCondLst>
                              <p:cond delay="0"/>
                            </p:stCondLst>
                            <p:childTnLst>
                              <p:par>
                                <p:cTn id="60" presetID="0" presetClass="path" presetSubtype="0" accel="50000" decel="50000" fill="hold" nodeType="afterEffect">
                                  <p:stCondLst>
                                    <p:cond delay="0"/>
                                  </p:stCondLst>
                                  <p:childTnLst>
                                    <p:animMotion origin="layout" path="M 3.05556E-6 -4.81481E-6 L 3.05556E-6 0.13889 L 0.40295 0.13889 L 0.40295 0.09885 L 0.57152 0.10093 L 0.57152 0.57709 L 0.66371 0.50857 L 0.66371 0.42848 " pathEditMode="relative" rAng="0" ptsTypes="AAAAAAAA">
                                      <p:cBhvr>
                                        <p:cTn id="61" dur="3000" fill="hold"/>
                                        <p:tgtEl>
                                          <p:spTgt spid="125"/>
                                        </p:tgtEl>
                                        <p:attrNameLst>
                                          <p:attrName>ppt_x</p:attrName>
                                          <p:attrName>ppt_y</p:attrName>
                                        </p:attrNameLst>
                                      </p:cBhvr>
                                      <p:rCtr x="33177" y="28843"/>
                                    </p:animMotion>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125"/>
                                        </p:tgtEl>
                                        <p:attrNameLst>
                                          <p:attrName>style.visibility</p:attrName>
                                        </p:attrNameLst>
                                      </p:cBhvr>
                                      <p:to>
                                        <p:strVal val="hidden"/>
                                      </p:to>
                                    </p:set>
                                  </p:childTnLst>
                                </p:cTn>
                              </p:par>
                              <p:par>
                                <p:cTn id="66" presetID="1" presetClass="entr" presetSubtype="0" fill="hold" nodeType="withEffect">
                                  <p:stCondLst>
                                    <p:cond delay="0"/>
                                  </p:stCondLst>
                                  <p:childTnLst>
                                    <p:set>
                                      <p:cBhvr>
                                        <p:cTn id="67" dur="1" fill="hold">
                                          <p:stCondLst>
                                            <p:cond delay="0"/>
                                          </p:stCondLst>
                                        </p:cTn>
                                        <p:tgtEl>
                                          <p:spTgt spid="11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64" presetClass="path" presetSubtype="0" accel="50000" decel="50000" fill="hold" nodeType="clickEffect">
                                  <p:stCondLst>
                                    <p:cond delay="0"/>
                                  </p:stCondLst>
                                  <p:childTnLst>
                                    <p:animMotion origin="layout" path="M 0.00156 -0.00046 L 0.00156 -0.04815 " pathEditMode="relative" rAng="0" ptsTypes="AA">
                                      <p:cBhvr>
                                        <p:cTn id="71" dur="2000" fill="hold"/>
                                        <p:tgtEl>
                                          <p:spTgt spid="118"/>
                                        </p:tgtEl>
                                        <p:attrNameLst>
                                          <p:attrName>ppt_x</p:attrName>
                                          <p:attrName>ppt_y</p:attrName>
                                        </p:attrNameLst>
                                      </p:cBhvr>
                                      <p:rCtr x="0" y="-238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6" grpId="1"/>
      <p:bldP spid="40" grpId="0"/>
      <p:bldP spid="40" grpId="1"/>
      <p:bldP spid="136" grpId="0"/>
      <p:bldP spid="150" grpId="0"/>
      <p:bldP spid="150"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Open Systems Interconnection-Modell (OSI) </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44</a:t>
            </a:fld>
            <a:endParaRPr lang="en-US" noProof="0" dirty="0"/>
          </a:p>
        </p:txBody>
      </p:sp>
      <p:sp>
        <p:nvSpPr>
          <p:cNvPr id="4" name="Content Placeholder 3"/>
          <p:cNvSpPr>
            <a:spLocks noGrp="1"/>
          </p:cNvSpPr>
          <p:nvPr>
            <p:ph sz="quarter" idx="1"/>
          </p:nvPr>
        </p:nvSpPr>
        <p:spPr>
          <a:xfrm>
            <a:off x="457200" y="1219200"/>
            <a:ext cx="8435280" cy="2137792"/>
          </a:xfrm>
        </p:spPr>
        <p:txBody>
          <a:bodyPr>
            <a:normAutofit lnSpcReduction="10000"/>
          </a:bodyPr>
          <a:lstStyle/>
          <a:p>
            <a:r>
              <a:rPr lang="de-DE" dirty="0"/>
              <a:t>In den späten 1970ern schlug </a:t>
            </a:r>
            <a:r>
              <a:rPr lang="de-DE" b="1" dirty="0">
                <a:solidFill>
                  <a:srgbClr val="FF0000"/>
                </a:solidFill>
              </a:rPr>
              <a:t>ISO </a:t>
            </a:r>
            <a:r>
              <a:rPr lang="de-DE" dirty="0"/>
              <a:t>(</a:t>
            </a:r>
            <a:r>
              <a:rPr lang="de-DE" b="1" dirty="0">
                <a:solidFill>
                  <a:srgbClr val="FF0000"/>
                </a:solidFill>
              </a:rPr>
              <a:t>International Organization for Standardization</a:t>
            </a:r>
            <a:r>
              <a:rPr lang="de-DE" dirty="0"/>
              <a:t>) vor, dass Computernetzwerke in sieben Schichten organisiert werden sollten, dem </a:t>
            </a:r>
            <a:r>
              <a:rPr lang="de-DE" b="1" dirty="0">
                <a:solidFill>
                  <a:srgbClr val="FF0000"/>
                </a:solidFill>
              </a:rPr>
              <a:t>OSI</a:t>
            </a:r>
            <a:r>
              <a:rPr lang="de-DE" dirty="0"/>
              <a:t>-Modell</a:t>
            </a:r>
          </a:p>
          <a:p>
            <a:r>
              <a:rPr lang="de-DE" dirty="0"/>
              <a:t>Schichten 1..4 + 7 wie im Internet Protokollstapel</a:t>
            </a:r>
          </a:p>
        </p:txBody>
      </p:sp>
      <p:sp>
        <p:nvSpPr>
          <p:cNvPr id="5" name="Content Placeholder 4"/>
          <p:cNvSpPr>
            <a:spLocks noGrp="1"/>
          </p:cNvSpPr>
          <p:nvPr>
            <p:ph sz="quarter" idx="13"/>
          </p:nvPr>
        </p:nvSpPr>
        <p:spPr>
          <a:xfrm>
            <a:off x="467544" y="3140968"/>
            <a:ext cx="4608512" cy="3456384"/>
          </a:xfrm>
        </p:spPr>
        <p:txBody>
          <a:bodyPr>
            <a:normAutofit lnSpcReduction="10000"/>
          </a:bodyPr>
          <a:lstStyle/>
          <a:p>
            <a:r>
              <a:rPr lang="de-DE" b="1" dirty="0">
                <a:solidFill>
                  <a:srgbClr val="FF0000"/>
                </a:solidFill>
              </a:rPr>
              <a:t>Neu: Darstellungsschicht</a:t>
            </a:r>
          </a:p>
          <a:p>
            <a:pPr lvl="1"/>
            <a:r>
              <a:rPr lang="de-DE" dirty="0"/>
              <a:t>Verschlüsselung, Kompression, Datenformat-umwandlung</a:t>
            </a:r>
          </a:p>
          <a:p>
            <a:r>
              <a:rPr lang="de-DE" b="1" dirty="0">
                <a:solidFill>
                  <a:srgbClr val="FF0000"/>
                </a:solidFill>
              </a:rPr>
              <a:t>Neu: Kommunikations-steuerungsschicht</a:t>
            </a:r>
          </a:p>
          <a:p>
            <a:pPr lvl="1"/>
            <a:r>
              <a:rPr lang="de-DE" dirty="0"/>
              <a:t>U.a. Synchronisation des Datenaustausches</a:t>
            </a:r>
          </a:p>
          <a:p>
            <a:r>
              <a:rPr lang="de-DE" dirty="0"/>
              <a:t>Wo sind sie heutzutage?</a:t>
            </a:r>
          </a:p>
        </p:txBody>
      </p:sp>
      <p:graphicFrame>
        <p:nvGraphicFramePr>
          <p:cNvPr id="6" name="Table 5"/>
          <p:cNvGraphicFramePr>
            <a:graphicFrameLocks noGrp="1"/>
          </p:cNvGraphicFramePr>
          <p:nvPr/>
        </p:nvGraphicFramePr>
        <p:xfrm>
          <a:off x="5220072" y="3212976"/>
          <a:ext cx="3240360" cy="3479250"/>
        </p:xfrm>
        <a:graphic>
          <a:graphicData uri="http://schemas.openxmlformats.org/drawingml/2006/table">
            <a:tbl>
              <a:tblPr firstRow="1" bandRow="1">
                <a:tableStyleId>{16D9F66E-5EB9-4882-86FB-DCBF35E3C3E4}</a:tableStyleId>
              </a:tblPr>
              <a:tblGrid>
                <a:gridCol w="3240360">
                  <a:extLst>
                    <a:ext uri="{9D8B030D-6E8A-4147-A177-3AD203B41FA5}">
                      <a16:colId xmlns:a16="http://schemas.microsoft.com/office/drawing/2014/main" val="20000"/>
                    </a:ext>
                  </a:extLst>
                </a:gridCol>
              </a:tblGrid>
              <a:tr h="473195">
                <a:tc>
                  <a:txBody>
                    <a:bodyPr/>
                    <a:lstStyle/>
                    <a:p>
                      <a:r>
                        <a:rPr lang="de-DE" b="0" dirty="0"/>
                        <a:t>7: </a:t>
                      </a:r>
                      <a:r>
                        <a:rPr kumimoji="0" lang="de-DE" sz="1800" b="0" u="none" strike="noStrike" kern="1200" baseline="0" dirty="0"/>
                        <a:t>Anwendungsschicht </a:t>
                      </a:r>
                      <a:endParaRPr lang="de-DE" b="0" dirty="0"/>
                    </a:p>
                  </a:txBody>
                  <a:tcPr/>
                </a:tc>
                <a:extLst>
                  <a:ext uri="{0D108BD9-81ED-4DB2-BD59-A6C34878D82A}">
                    <a16:rowId xmlns:a16="http://schemas.microsoft.com/office/drawing/2014/main" val="10000"/>
                  </a:ext>
                </a:extLst>
              </a:tr>
              <a:tr h="473195">
                <a:tc>
                  <a:txBody>
                    <a:bodyPr/>
                    <a:lstStyle/>
                    <a:p>
                      <a:r>
                        <a:rPr lang="de-DE" b="1" dirty="0">
                          <a:solidFill>
                            <a:srgbClr val="FF0000"/>
                          </a:solidFill>
                        </a:rPr>
                        <a:t>6: </a:t>
                      </a:r>
                      <a:r>
                        <a:rPr kumimoji="0" lang="de-DE" sz="1800" b="1" u="none" strike="noStrike" kern="1200" baseline="0" dirty="0">
                          <a:solidFill>
                            <a:srgbClr val="FF0000"/>
                          </a:solidFill>
                        </a:rPr>
                        <a:t>Darstellungsschicht </a:t>
                      </a:r>
                      <a:endParaRPr lang="de-DE" b="1" dirty="0">
                        <a:solidFill>
                          <a:srgbClr val="FF0000"/>
                        </a:solidFill>
                      </a:endParaRPr>
                    </a:p>
                  </a:txBody>
                  <a:tcPr/>
                </a:tc>
                <a:extLst>
                  <a:ext uri="{0D108BD9-81ED-4DB2-BD59-A6C34878D82A}">
                    <a16:rowId xmlns:a16="http://schemas.microsoft.com/office/drawing/2014/main" val="10001"/>
                  </a:ext>
                </a:extLst>
              </a:tr>
              <a:tr h="473195">
                <a:tc>
                  <a:txBody>
                    <a:bodyPr/>
                    <a:lstStyle/>
                    <a:p>
                      <a:r>
                        <a:rPr kumimoji="0" lang="de-DE" sz="1800" b="1" u="none" strike="noStrike" kern="1200" baseline="0" dirty="0">
                          <a:solidFill>
                            <a:srgbClr val="FF0000"/>
                          </a:solidFill>
                        </a:rPr>
                        <a:t>5: Kommunikations- steuerunqsschicht </a:t>
                      </a:r>
                      <a:endParaRPr lang="de-DE" b="1" dirty="0">
                        <a:solidFill>
                          <a:srgbClr val="FF0000"/>
                        </a:solidFill>
                      </a:endParaRPr>
                    </a:p>
                  </a:txBody>
                  <a:tcPr/>
                </a:tc>
                <a:extLst>
                  <a:ext uri="{0D108BD9-81ED-4DB2-BD59-A6C34878D82A}">
                    <a16:rowId xmlns:a16="http://schemas.microsoft.com/office/drawing/2014/main" val="10002"/>
                  </a:ext>
                </a:extLst>
              </a:tr>
              <a:tr h="473195">
                <a:tc>
                  <a:txBody>
                    <a:bodyPr/>
                    <a:lstStyle/>
                    <a:p>
                      <a:r>
                        <a:rPr lang="de-DE" dirty="0"/>
                        <a:t>4: </a:t>
                      </a:r>
                      <a:r>
                        <a:rPr kumimoji="0" lang="de-DE" sz="1800" u="none" strike="noStrike" kern="1200" baseline="0" dirty="0"/>
                        <a:t>Transportschicht </a:t>
                      </a:r>
                      <a:endParaRPr lang="de-DE" dirty="0"/>
                    </a:p>
                  </a:txBody>
                  <a:tcPr/>
                </a:tc>
                <a:extLst>
                  <a:ext uri="{0D108BD9-81ED-4DB2-BD59-A6C34878D82A}">
                    <a16:rowId xmlns:a16="http://schemas.microsoft.com/office/drawing/2014/main" val="10003"/>
                  </a:ext>
                </a:extLst>
              </a:tr>
              <a:tr h="473195">
                <a:tc>
                  <a:txBody>
                    <a:bodyPr/>
                    <a:lstStyle/>
                    <a:p>
                      <a:r>
                        <a:rPr lang="de-DE" dirty="0"/>
                        <a:t>3: </a:t>
                      </a:r>
                      <a:r>
                        <a:rPr kumimoji="0" lang="de-DE" sz="1800" u="none" strike="noStrike" kern="1200" baseline="0" dirty="0"/>
                        <a:t>Netzwerkschicht </a:t>
                      </a:r>
                      <a:endParaRPr lang="de-DE" dirty="0"/>
                    </a:p>
                  </a:txBody>
                  <a:tcPr/>
                </a:tc>
                <a:extLst>
                  <a:ext uri="{0D108BD9-81ED-4DB2-BD59-A6C34878D82A}">
                    <a16:rowId xmlns:a16="http://schemas.microsoft.com/office/drawing/2014/main" val="10004"/>
                  </a:ext>
                </a:extLst>
              </a:tr>
              <a:tr h="473195">
                <a:tc>
                  <a:txBody>
                    <a:bodyPr/>
                    <a:lstStyle/>
                    <a:p>
                      <a:r>
                        <a:rPr lang="de-DE" dirty="0"/>
                        <a:t>2: </a:t>
                      </a:r>
                      <a:r>
                        <a:rPr kumimoji="0" lang="de-DE" sz="1800" u="none" strike="noStrike" kern="1200" baseline="0" dirty="0"/>
                        <a:t>Sicherungsschicht </a:t>
                      </a:r>
                      <a:endParaRPr lang="de-DE" dirty="0"/>
                    </a:p>
                  </a:txBody>
                  <a:tcPr/>
                </a:tc>
                <a:extLst>
                  <a:ext uri="{0D108BD9-81ED-4DB2-BD59-A6C34878D82A}">
                    <a16:rowId xmlns:a16="http://schemas.microsoft.com/office/drawing/2014/main" val="10005"/>
                  </a:ext>
                </a:extLst>
              </a:tr>
              <a:tr h="473195">
                <a:tc>
                  <a:txBody>
                    <a:bodyPr/>
                    <a:lstStyle/>
                    <a:p>
                      <a:r>
                        <a:rPr lang="de-DE" dirty="0"/>
                        <a:t>1: Bitübertragungsschicht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605166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45</a:t>
            </a:fld>
            <a:endParaRPr lang="de-DE" dirty="0"/>
          </a:p>
        </p:txBody>
      </p:sp>
      <p:sp>
        <p:nvSpPr>
          <p:cNvPr id="3" name="Titel 2"/>
          <p:cNvSpPr>
            <a:spLocks noGrp="1"/>
          </p:cNvSpPr>
          <p:nvPr>
            <p:ph type="title"/>
          </p:nvPr>
        </p:nvSpPr>
        <p:spPr/>
        <p:txBody>
          <a:bodyPr/>
          <a:lstStyle/>
          <a:p>
            <a:r>
              <a:rPr lang="de-DE" dirty="0"/>
              <a:t>Danke.</a:t>
            </a:r>
          </a:p>
        </p:txBody>
      </p:sp>
    </p:spTree>
    <p:extLst>
      <p:ext uri="{BB962C8B-B14F-4D97-AF65-F5344CB8AC3E}">
        <p14:creationId xmlns:p14="http://schemas.microsoft.com/office/powerpoint/2010/main" val="3161143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46</a:t>
            </a:fld>
            <a:endParaRPr lang="de-DE" dirty="0"/>
          </a:p>
        </p:txBody>
      </p:sp>
      <p:sp>
        <p:nvSpPr>
          <p:cNvPr id="3" name="Titel 2"/>
          <p:cNvSpPr>
            <a:spLocks noGrp="1"/>
          </p:cNvSpPr>
          <p:nvPr>
            <p:ph type="title"/>
          </p:nvPr>
        </p:nvSpPr>
        <p:spPr>
          <a:xfrm>
            <a:off x="971600" y="2348880"/>
            <a:ext cx="7200800" cy="2520280"/>
          </a:xfrm>
        </p:spPr>
        <p:txBody>
          <a:bodyPr>
            <a:normAutofit fontScale="90000"/>
          </a:bodyPr>
          <a:lstStyle/>
          <a:p>
            <a:r>
              <a:rPr lang="de-DE" dirty="0"/>
              <a:t>Zusatzfolien: </a:t>
            </a:r>
            <a:br>
              <a:rPr lang="de-DE" dirty="0"/>
            </a:br>
            <a:r>
              <a:rPr lang="de-DE" dirty="0"/>
              <a:t>Die Internet-“Pyramide“:</a:t>
            </a:r>
            <a:br>
              <a:rPr lang="de-DE" dirty="0"/>
            </a:br>
            <a:r>
              <a:rPr lang="de-DE" dirty="0"/>
              <a:t>Netzwerkrand und Zugangsnetze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Die Internet-“Pyramide“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47</a:t>
            </a:fld>
            <a:endParaRPr lang="en-US" noProof="0" dirty="0"/>
          </a:p>
        </p:txBody>
      </p:sp>
      <p:sp>
        <p:nvSpPr>
          <p:cNvPr id="5" name="Inhaltsplatzhalter 4"/>
          <p:cNvSpPr>
            <a:spLocks noGrp="1"/>
          </p:cNvSpPr>
          <p:nvPr>
            <p:ph sz="quarter" idx="1"/>
          </p:nvPr>
        </p:nvSpPr>
        <p:spPr>
          <a:xfrm>
            <a:off x="395536" y="1219200"/>
            <a:ext cx="4248472" cy="5306144"/>
          </a:xfrm>
        </p:spPr>
        <p:txBody>
          <a:bodyPr>
            <a:normAutofit fontScale="92500"/>
          </a:bodyPr>
          <a:lstStyle/>
          <a:p>
            <a:r>
              <a:rPr lang="de-DE" b="1" dirty="0">
                <a:solidFill>
                  <a:srgbClr val="FF0000"/>
                </a:solidFill>
              </a:rPr>
              <a:t>Netzwerkrand </a:t>
            </a:r>
            <a:r>
              <a:rPr lang="de-DE" dirty="0"/>
              <a:t>(</a:t>
            </a:r>
            <a:r>
              <a:rPr lang="de-DE" b="1" dirty="0" err="1">
                <a:solidFill>
                  <a:srgbClr val="FF0000"/>
                </a:solidFill>
              </a:rPr>
              <a:t>network</a:t>
            </a:r>
            <a:r>
              <a:rPr lang="de-DE" b="1" dirty="0">
                <a:solidFill>
                  <a:srgbClr val="FF0000"/>
                </a:solidFill>
              </a:rPr>
              <a:t> </a:t>
            </a:r>
            <a:r>
              <a:rPr lang="de-DE" b="1" dirty="0" err="1">
                <a:solidFill>
                  <a:srgbClr val="FF0000"/>
                </a:solidFill>
              </a:rPr>
              <a:t>edge</a:t>
            </a:r>
            <a:r>
              <a:rPr lang="de-DE" dirty="0"/>
              <a:t>)</a:t>
            </a:r>
          </a:p>
          <a:p>
            <a:pPr lvl="1"/>
            <a:r>
              <a:rPr lang="de-DE" dirty="0"/>
              <a:t>Anwendungen und </a:t>
            </a:r>
            <a:r>
              <a:rPr lang="de-DE" b="1" dirty="0">
                <a:solidFill>
                  <a:srgbClr val="FF0000"/>
                </a:solidFill>
              </a:rPr>
              <a:t>Hosts</a:t>
            </a:r>
          </a:p>
          <a:p>
            <a:pPr lvl="2"/>
            <a:r>
              <a:rPr lang="de-DE" b="1" dirty="0">
                <a:solidFill>
                  <a:srgbClr val="FF0000"/>
                </a:solidFill>
              </a:rPr>
              <a:t>Host</a:t>
            </a:r>
            <a:r>
              <a:rPr lang="de-DE" dirty="0"/>
              <a:t> = Gastgeber</a:t>
            </a:r>
            <a:r>
              <a:rPr lang="de-DE" b="1" dirty="0">
                <a:solidFill>
                  <a:srgbClr val="FF0000"/>
                </a:solidFill>
              </a:rPr>
              <a:t> </a:t>
            </a:r>
            <a:r>
              <a:rPr lang="de-DE" dirty="0"/>
              <a:t>einer Anwendung</a:t>
            </a:r>
            <a:endParaRPr lang="de-DE" sz="900" b="1" dirty="0">
              <a:solidFill>
                <a:srgbClr val="FF0000"/>
              </a:solidFill>
            </a:endParaRPr>
          </a:p>
          <a:p>
            <a:r>
              <a:rPr lang="de-DE" b="1" dirty="0">
                <a:solidFill>
                  <a:srgbClr val="FF0000"/>
                </a:solidFill>
              </a:rPr>
              <a:t>Zugangsnetze </a:t>
            </a:r>
            <a:r>
              <a:rPr lang="de-DE" dirty="0"/>
              <a:t>(</a:t>
            </a:r>
            <a:r>
              <a:rPr lang="de-DE" b="1" dirty="0" err="1">
                <a:solidFill>
                  <a:srgbClr val="FF0000"/>
                </a:solidFill>
              </a:rPr>
              <a:t>access</a:t>
            </a:r>
            <a:r>
              <a:rPr lang="de-DE" b="1" dirty="0">
                <a:solidFill>
                  <a:srgbClr val="FF0000"/>
                </a:solidFill>
              </a:rPr>
              <a:t> </a:t>
            </a:r>
            <a:r>
              <a:rPr lang="de-DE" b="1" dirty="0" err="1">
                <a:solidFill>
                  <a:srgbClr val="FF0000"/>
                </a:solidFill>
              </a:rPr>
              <a:t>networks</a:t>
            </a:r>
            <a:r>
              <a:rPr lang="de-DE" dirty="0"/>
              <a:t>)</a:t>
            </a:r>
          </a:p>
          <a:p>
            <a:pPr lvl="1"/>
            <a:r>
              <a:rPr lang="de-DE" dirty="0"/>
              <a:t>Leitungen, die Hosts mit Randroutern verbinden</a:t>
            </a:r>
          </a:p>
          <a:p>
            <a:r>
              <a:rPr lang="de-DE" dirty="0"/>
              <a:t>Das </a:t>
            </a:r>
            <a:r>
              <a:rPr lang="de-DE" b="1" dirty="0">
                <a:solidFill>
                  <a:srgbClr val="FF0000"/>
                </a:solidFill>
              </a:rPr>
              <a:t>Innere des Netzwerks </a:t>
            </a:r>
            <a:r>
              <a:rPr lang="de-DE" dirty="0"/>
              <a:t>(</a:t>
            </a:r>
            <a:r>
              <a:rPr lang="de-DE" b="1" dirty="0" err="1">
                <a:solidFill>
                  <a:srgbClr val="FF0000"/>
                </a:solidFill>
              </a:rPr>
              <a:t>network</a:t>
            </a:r>
            <a:r>
              <a:rPr lang="de-DE" b="1" dirty="0">
                <a:solidFill>
                  <a:srgbClr val="FF0000"/>
                </a:solidFill>
              </a:rPr>
              <a:t> </a:t>
            </a:r>
            <a:r>
              <a:rPr lang="de-DE" b="1" dirty="0" err="1">
                <a:solidFill>
                  <a:srgbClr val="FF0000"/>
                </a:solidFill>
              </a:rPr>
              <a:t>core</a:t>
            </a:r>
            <a:r>
              <a:rPr lang="de-DE" dirty="0"/>
              <a:t>)</a:t>
            </a:r>
          </a:p>
          <a:p>
            <a:pPr lvl="1"/>
            <a:r>
              <a:rPr lang="de-DE" dirty="0"/>
              <a:t>Geflecht von Switches und Leitungen</a:t>
            </a:r>
          </a:p>
          <a:p>
            <a:pPr lvl="1"/>
            <a:r>
              <a:rPr lang="de-DE" dirty="0"/>
              <a:t>Netzwerk von Netzwerken</a:t>
            </a:r>
          </a:p>
          <a:p>
            <a:endParaRPr lang="de-DE" dirty="0"/>
          </a:p>
        </p:txBody>
      </p:sp>
      <p:grpSp>
        <p:nvGrpSpPr>
          <p:cNvPr id="8" name="Group 599"/>
          <p:cNvGrpSpPr>
            <a:grpSpLocks/>
          </p:cNvGrpSpPr>
          <p:nvPr/>
        </p:nvGrpSpPr>
        <p:grpSpPr bwMode="auto">
          <a:xfrm>
            <a:off x="5940152" y="1196752"/>
            <a:ext cx="369797" cy="388938"/>
            <a:chOff x="2870" y="1518"/>
            <a:chExt cx="292" cy="320"/>
          </a:xfrm>
        </p:grpSpPr>
        <p:graphicFrame>
          <p:nvGraphicFramePr>
            <p:cNvPr id="24" name="Object 60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26829" imgH="840406" progId="">
                    <p:embed/>
                  </p:oleObj>
                </mc:Choice>
                <mc:Fallback>
                  <p:oleObj name="Clip" r:id="rId3" imgW="826829" imgH="840406" progId="">
                    <p:embed/>
                    <p:pic>
                      <p:nvPicPr>
                        <p:cNvPr id="0" name="Picture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60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8295" imgH="1199426" progId="">
                    <p:embed/>
                  </p:oleObj>
                </mc:Choice>
                <mc:Fallback>
                  <p:oleObj name="Clip" r:id="rId5" imgW="1268295" imgH="1199426" progId="">
                    <p:embed/>
                    <p:pic>
                      <p:nvPicPr>
                        <p:cNvPr id="0" name="Picture 6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9" name="Object 602"/>
          <p:cNvGraphicFramePr>
            <a:graphicFrameLocks noChangeAspect="1"/>
          </p:cNvGraphicFramePr>
          <p:nvPr/>
        </p:nvGraphicFramePr>
        <p:xfrm>
          <a:off x="7373859" y="1281460"/>
          <a:ext cx="347946" cy="274638"/>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0" name="Picture 7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73859" y="1281460"/>
                        <a:ext cx="347946" cy="274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 name="Group 603"/>
          <p:cNvGrpSpPr>
            <a:grpSpLocks/>
          </p:cNvGrpSpPr>
          <p:nvPr/>
        </p:nvGrpSpPr>
        <p:grpSpPr bwMode="auto">
          <a:xfrm>
            <a:off x="7441095" y="1705323"/>
            <a:ext cx="248773" cy="385763"/>
            <a:chOff x="4180" y="783"/>
            <a:chExt cx="150" cy="307"/>
          </a:xfrm>
        </p:grpSpPr>
        <p:sp>
          <p:nvSpPr>
            <p:cNvPr id="16" name="AutoShape 60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7" name="Rectangle 605"/>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8" name="Rectangle 60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9" name="AutoShape 60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0" name="Line 608"/>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1" name="Line 609"/>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2" name="Rectangle 61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3" name="Rectangle 611"/>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pic>
        <p:nvPicPr>
          <p:cNvPr id="11" name="Picture 661" descr="imgyjavg[1]"/>
          <p:cNvPicPr>
            <a:picLocks noChangeAspect="1" noChangeArrowheads="1"/>
          </p:cNvPicPr>
          <p:nvPr/>
        </p:nvPicPr>
        <p:blipFill>
          <a:blip r:embed="rId9" cstate="print"/>
          <a:srcRect/>
          <a:stretch>
            <a:fillRect/>
          </a:stretch>
        </p:blipFill>
        <p:spPr bwMode="auto">
          <a:xfrm>
            <a:off x="5973770" y="1747614"/>
            <a:ext cx="389968" cy="266700"/>
          </a:xfrm>
          <a:prstGeom prst="rect">
            <a:avLst/>
          </a:prstGeom>
          <a:noFill/>
          <a:ln w="9525">
            <a:noFill/>
            <a:miter lim="800000"/>
            <a:headEnd/>
            <a:tailEnd/>
          </a:ln>
        </p:spPr>
      </p:pic>
      <p:sp>
        <p:nvSpPr>
          <p:cNvPr id="12" name="Text Box 663"/>
          <p:cNvSpPr txBox="1">
            <a:spLocks noChangeArrowheads="1"/>
          </p:cNvSpPr>
          <p:nvPr/>
        </p:nvSpPr>
        <p:spPr bwMode="auto">
          <a:xfrm>
            <a:off x="7738613" y="1268760"/>
            <a:ext cx="642102" cy="338138"/>
          </a:xfrm>
          <a:prstGeom prst="rect">
            <a:avLst/>
          </a:prstGeom>
          <a:noFill/>
          <a:ln w="9525">
            <a:noFill/>
            <a:miter lim="800000"/>
            <a:headEnd/>
            <a:tailEnd/>
          </a:ln>
        </p:spPr>
        <p:txBody>
          <a:bodyPr wrap="none">
            <a:spAutoFit/>
          </a:bodyPr>
          <a:lstStyle/>
          <a:p>
            <a:r>
              <a:rPr lang="de-DE" sz="1600"/>
              <a:t>Host</a:t>
            </a:r>
          </a:p>
        </p:txBody>
      </p:sp>
      <p:sp>
        <p:nvSpPr>
          <p:cNvPr id="13" name="Text Box 664"/>
          <p:cNvSpPr txBox="1">
            <a:spLocks noChangeArrowheads="1"/>
          </p:cNvSpPr>
          <p:nvPr/>
        </p:nvSpPr>
        <p:spPr bwMode="auto">
          <a:xfrm>
            <a:off x="7715081" y="1700560"/>
            <a:ext cx="835405" cy="338138"/>
          </a:xfrm>
          <a:prstGeom prst="rect">
            <a:avLst/>
          </a:prstGeom>
          <a:noFill/>
          <a:ln w="9525">
            <a:noFill/>
            <a:miter lim="800000"/>
            <a:headEnd/>
            <a:tailEnd/>
          </a:ln>
        </p:spPr>
        <p:txBody>
          <a:bodyPr wrap="none">
            <a:spAutoFit/>
          </a:bodyPr>
          <a:lstStyle/>
          <a:p>
            <a:r>
              <a:rPr lang="de-DE" sz="1600"/>
              <a:t>Server</a:t>
            </a:r>
          </a:p>
        </p:txBody>
      </p:sp>
      <p:sp>
        <p:nvSpPr>
          <p:cNvPr id="14" name="Text Box 665"/>
          <p:cNvSpPr txBox="1">
            <a:spLocks noChangeArrowheads="1"/>
          </p:cNvSpPr>
          <p:nvPr/>
        </p:nvSpPr>
        <p:spPr bwMode="auto">
          <a:xfrm>
            <a:off x="6365419" y="1230089"/>
            <a:ext cx="858938" cy="277813"/>
          </a:xfrm>
          <a:prstGeom prst="rect">
            <a:avLst/>
          </a:prstGeom>
          <a:noFill/>
          <a:ln w="9525">
            <a:noFill/>
            <a:miter lim="800000"/>
            <a:headEnd/>
            <a:tailEnd/>
          </a:ln>
        </p:spPr>
        <p:txBody>
          <a:bodyPr wrap="none">
            <a:spAutoFit/>
          </a:bodyPr>
          <a:lstStyle/>
          <a:p>
            <a:pPr>
              <a:lnSpc>
                <a:spcPct val="75000"/>
              </a:lnSpc>
            </a:pPr>
            <a:r>
              <a:rPr lang="de-DE" sz="1600"/>
              <a:t>Laptop</a:t>
            </a:r>
          </a:p>
        </p:txBody>
      </p:sp>
      <p:sp>
        <p:nvSpPr>
          <p:cNvPr id="15" name="Text Box 667"/>
          <p:cNvSpPr txBox="1">
            <a:spLocks noChangeArrowheads="1"/>
          </p:cNvSpPr>
          <p:nvPr/>
        </p:nvSpPr>
        <p:spPr bwMode="auto">
          <a:xfrm>
            <a:off x="6388951" y="1707927"/>
            <a:ext cx="847172" cy="461963"/>
          </a:xfrm>
          <a:prstGeom prst="rect">
            <a:avLst/>
          </a:prstGeom>
          <a:noFill/>
          <a:ln w="9525">
            <a:noFill/>
            <a:miter lim="800000"/>
            <a:headEnd/>
            <a:tailEnd/>
          </a:ln>
        </p:spPr>
        <p:txBody>
          <a:bodyPr wrap="none">
            <a:spAutoFit/>
          </a:bodyPr>
          <a:lstStyle/>
          <a:p>
            <a:pPr>
              <a:lnSpc>
                <a:spcPct val="75000"/>
              </a:lnSpc>
            </a:pPr>
            <a:r>
              <a:rPr lang="de-DE" sz="1600"/>
              <a:t>Mobil-</a:t>
            </a:r>
          </a:p>
          <a:p>
            <a:pPr>
              <a:lnSpc>
                <a:spcPct val="75000"/>
              </a:lnSpc>
            </a:pPr>
            <a:r>
              <a:rPr lang="de-DE" sz="1600"/>
              <a:t>telefon</a:t>
            </a:r>
          </a:p>
        </p:txBody>
      </p:sp>
      <p:pic>
        <p:nvPicPr>
          <p:cNvPr id="26" name="Picture 3" descr="toaster"/>
          <p:cNvPicPr>
            <a:picLocks noChangeAspect="1" noChangeArrowheads="1"/>
          </p:cNvPicPr>
          <p:nvPr/>
        </p:nvPicPr>
        <p:blipFill>
          <a:blip r:embed="rId10" cstate="print"/>
          <a:srcRect/>
          <a:stretch>
            <a:fillRect/>
          </a:stretch>
        </p:blipFill>
        <p:spPr bwMode="auto">
          <a:xfrm>
            <a:off x="4716016" y="1196752"/>
            <a:ext cx="734645" cy="864096"/>
          </a:xfrm>
          <a:prstGeom prst="rect">
            <a:avLst/>
          </a:prstGeom>
          <a:noFill/>
          <a:ln w="9525">
            <a:noFill/>
            <a:miter lim="800000"/>
            <a:headEnd/>
            <a:tailEnd/>
          </a:ln>
        </p:spPr>
      </p:pic>
      <p:pic>
        <p:nvPicPr>
          <p:cNvPr id="27" name="Picture 4" descr="whisper"/>
          <p:cNvPicPr>
            <a:picLocks noChangeAspect="1" noChangeArrowheads="1"/>
          </p:cNvPicPr>
          <p:nvPr/>
        </p:nvPicPr>
        <p:blipFill>
          <a:blip r:embed="rId11" cstate="print"/>
          <a:srcRect/>
          <a:stretch>
            <a:fillRect/>
          </a:stretch>
        </p:blipFill>
        <p:spPr bwMode="auto">
          <a:xfrm>
            <a:off x="5868144" y="2204864"/>
            <a:ext cx="787180" cy="648072"/>
          </a:xfrm>
          <a:prstGeom prst="rect">
            <a:avLst/>
          </a:prstGeom>
          <a:noFill/>
          <a:ln w="9525">
            <a:noFill/>
            <a:miter lim="800000"/>
            <a:headEnd/>
            <a:tailEnd/>
          </a:ln>
        </p:spPr>
      </p:pic>
      <p:sp>
        <p:nvSpPr>
          <p:cNvPr id="28" name="Text Box 7"/>
          <p:cNvSpPr txBox="1">
            <a:spLocks noChangeArrowheads="1"/>
          </p:cNvSpPr>
          <p:nvPr/>
        </p:nvSpPr>
        <p:spPr bwMode="auto">
          <a:xfrm>
            <a:off x="6660232" y="2204864"/>
            <a:ext cx="2162175" cy="581025"/>
          </a:xfrm>
          <a:prstGeom prst="rect">
            <a:avLst/>
          </a:prstGeom>
          <a:noFill/>
          <a:ln w="9525">
            <a:noFill/>
            <a:miter lim="800000"/>
            <a:headEnd/>
            <a:tailEnd/>
          </a:ln>
        </p:spPr>
        <p:txBody>
          <a:bodyPr wrap="none">
            <a:spAutoFit/>
          </a:bodyPr>
          <a:lstStyle/>
          <a:p>
            <a:r>
              <a:rPr lang="en-US" sz="1600" dirty="0">
                <a:latin typeface="Arial" charset="0"/>
              </a:rPr>
              <a:t>IP picture frame</a:t>
            </a:r>
          </a:p>
          <a:p>
            <a:r>
              <a:rPr lang="en-US" sz="1600" dirty="0">
                <a:latin typeface="Arial" charset="0"/>
              </a:rPr>
              <a:t>http://www.ceiva.com/</a:t>
            </a:r>
          </a:p>
        </p:txBody>
      </p:sp>
      <p:sp>
        <p:nvSpPr>
          <p:cNvPr id="29" name="Text Box 8"/>
          <p:cNvSpPr txBox="1">
            <a:spLocks noChangeArrowheads="1"/>
          </p:cNvSpPr>
          <p:nvPr/>
        </p:nvSpPr>
        <p:spPr bwMode="auto">
          <a:xfrm>
            <a:off x="4788024" y="1988840"/>
            <a:ext cx="1296144" cy="584775"/>
          </a:xfrm>
          <a:prstGeom prst="rect">
            <a:avLst/>
          </a:prstGeom>
          <a:noFill/>
          <a:ln w="9525">
            <a:noFill/>
            <a:miter lim="800000"/>
            <a:headEnd/>
            <a:tailEnd/>
          </a:ln>
        </p:spPr>
        <p:txBody>
          <a:bodyPr wrap="square">
            <a:spAutoFit/>
          </a:bodyPr>
          <a:lstStyle/>
          <a:p>
            <a:r>
              <a:rPr lang="en-US" sz="1600" dirty="0">
                <a:latin typeface="Arial" charset="0"/>
              </a:rPr>
              <a:t>Web-</a:t>
            </a:r>
            <a:r>
              <a:rPr lang="en-US" sz="1600" dirty="0" err="1">
                <a:latin typeface="Arial" charset="0"/>
              </a:rPr>
              <a:t>fähiger</a:t>
            </a:r>
            <a:r>
              <a:rPr lang="en-US" sz="1600" dirty="0">
                <a:latin typeface="Arial" charset="0"/>
              </a:rPr>
              <a:t> </a:t>
            </a:r>
          </a:p>
          <a:p>
            <a:r>
              <a:rPr lang="en-US" sz="1600" dirty="0">
                <a:latin typeface="Arial" charset="0"/>
              </a:rPr>
              <a:t>Toaster</a:t>
            </a:r>
          </a:p>
        </p:txBody>
      </p:sp>
      <p:sp>
        <p:nvSpPr>
          <p:cNvPr id="30" name="Gleichschenkliges Dreieck 29"/>
          <p:cNvSpPr/>
          <p:nvPr/>
        </p:nvSpPr>
        <p:spPr>
          <a:xfrm>
            <a:off x="4499992" y="1340768"/>
            <a:ext cx="576064" cy="5256584"/>
          </a:xfrm>
          <a:prstGeom prst="triangl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de-DE" dirty="0"/>
              <a:t>Bandbreite</a:t>
            </a:r>
          </a:p>
          <a:p>
            <a:pPr algn="ctr"/>
            <a:endParaRPr lang="de-DE" dirty="0"/>
          </a:p>
        </p:txBody>
      </p:sp>
      <p:pic>
        <p:nvPicPr>
          <p:cNvPr id="565253" name="Picture 5" descr="C:\Artur\Academic\Lehre\10.WS-IBN\VL\figures\vl21\p34_1.gif"/>
          <p:cNvPicPr>
            <a:picLocks noChangeAspect="1" noChangeArrowheads="1"/>
          </p:cNvPicPr>
          <p:nvPr/>
        </p:nvPicPr>
        <p:blipFill>
          <a:blip r:embed="rId12" cstate="print"/>
          <a:srcRect/>
          <a:stretch>
            <a:fillRect/>
          </a:stretch>
        </p:blipFill>
        <p:spPr bwMode="auto">
          <a:xfrm>
            <a:off x="5220072" y="2924944"/>
            <a:ext cx="3168352" cy="1646545"/>
          </a:xfrm>
          <a:prstGeom prst="rect">
            <a:avLst/>
          </a:prstGeom>
          <a:noFill/>
        </p:spPr>
      </p:pic>
      <p:sp>
        <p:nvSpPr>
          <p:cNvPr id="32" name="Textfeld 31"/>
          <p:cNvSpPr txBox="1"/>
          <p:nvPr/>
        </p:nvSpPr>
        <p:spPr>
          <a:xfrm>
            <a:off x="5488180" y="4509120"/>
            <a:ext cx="2820003" cy="338554"/>
          </a:xfrm>
          <a:prstGeom prst="rect">
            <a:avLst/>
          </a:prstGeom>
          <a:noFill/>
        </p:spPr>
        <p:txBody>
          <a:bodyPr wrap="none" rtlCol="0">
            <a:spAutoFit/>
          </a:bodyPr>
          <a:lstStyle/>
          <a:p>
            <a:r>
              <a:rPr lang="de-DE" sz="1600" dirty="0"/>
              <a:t>Bild: FMS Uni Stuttgart, </a:t>
            </a:r>
            <a:r>
              <a:rPr lang="de-DE" sz="1600" dirty="0">
                <a:hlinkClick r:id="rId13"/>
              </a:rPr>
              <a:t>Link</a:t>
            </a:r>
            <a:endParaRPr lang="de-DE" sz="1600" dirty="0"/>
          </a:p>
        </p:txBody>
      </p:sp>
      <p:cxnSp>
        <p:nvCxnSpPr>
          <p:cNvPr id="34" name="Gerade Verbindung 33"/>
          <p:cNvCxnSpPr/>
          <p:nvPr/>
        </p:nvCxnSpPr>
        <p:spPr>
          <a:xfrm>
            <a:off x="5096664" y="2820821"/>
            <a:ext cx="3600400" cy="0"/>
          </a:xfrm>
          <a:prstGeom prst="line">
            <a:avLst/>
          </a:prstGeom>
          <a:ln w="285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Gerade Verbindung 34"/>
          <p:cNvCxnSpPr/>
          <p:nvPr/>
        </p:nvCxnSpPr>
        <p:spPr>
          <a:xfrm>
            <a:off x="5148064" y="4869160"/>
            <a:ext cx="3600400" cy="0"/>
          </a:xfrm>
          <a:prstGeom prst="line">
            <a:avLst/>
          </a:prstGeom>
          <a:ln w="285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5255552" y="5044720"/>
            <a:ext cx="3612548" cy="1634206"/>
            <a:chOff x="1539875" y="2473326"/>
            <a:chExt cx="6823075" cy="4310063"/>
          </a:xfrm>
        </p:grpSpPr>
        <p:sp>
          <p:nvSpPr>
            <p:cNvPr id="36" name="Oval 4"/>
            <p:cNvSpPr>
              <a:spLocks noChangeArrowheads="1"/>
            </p:cNvSpPr>
            <p:nvPr/>
          </p:nvSpPr>
          <p:spPr bwMode="auto">
            <a:xfrm>
              <a:off x="2432050" y="4883150"/>
              <a:ext cx="1863725" cy="790575"/>
            </a:xfrm>
            <a:prstGeom prst="ellipse">
              <a:avLst/>
            </a:prstGeom>
            <a:solidFill>
              <a:schemeClr val="folHlink"/>
            </a:solidFill>
            <a:ln w="9525">
              <a:solidFill>
                <a:schemeClr val="tx1"/>
              </a:solidFill>
              <a:round/>
              <a:headEnd/>
              <a:tailEnd/>
            </a:ln>
          </p:spPr>
          <p:txBody>
            <a:bodyPr wrap="none" anchor="ctr"/>
            <a:lstStyle/>
            <a:p>
              <a:pPr algn="ctr"/>
              <a:r>
                <a:rPr lang="en-US" sz="700">
                  <a:solidFill>
                    <a:schemeClr val="bg1"/>
                  </a:solidFill>
                  <a:latin typeface="Comic Sans MS" pitchFamily="66" charset="0"/>
                </a:rPr>
                <a:t>Tier 1 ISP</a:t>
              </a:r>
              <a:endParaRPr lang="en-US" sz="700"/>
            </a:p>
          </p:txBody>
        </p:sp>
        <p:sp>
          <p:nvSpPr>
            <p:cNvPr id="37" name="Oval 5"/>
            <p:cNvSpPr>
              <a:spLocks noChangeArrowheads="1"/>
            </p:cNvSpPr>
            <p:nvPr/>
          </p:nvSpPr>
          <p:spPr bwMode="auto">
            <a:xfrm>
              <a:off x="3530600" y="3679825"/>
              <a:ext cx="1863725" cy="790575"/>
            </a:xfrm>
            <a:prstGeom prst="ellipse">
              <a:avLst/>
            </a:prstGeom>
            <a:solidFill>
              <a:schemeClr val="folHlink"/>
            </a:solidFill>
            <a:ln w="9525">
              <a:solidFill>
                <a:schemeClr val="tx1"/>
              </a:solidFill>
              <a:round/>
              <a:headEnd/>
              <a:tailEnd/>
            </a:ln>
          </p:spPr>
          <p:txBody>
            <a:bodyPr wrap="none" anchor="ctr"/>
            <a:lstStyle/>
            <a:p>
              <a:pPr algn="ctr"/>
              <a:r>
                <a:rPr lang="en-US" sz="700">
                  <a:solidFill>
                    <a:schemeClr val="bg1"/>
                  </a:solidFill>
                  <a:latin typeface="Comic Sans MS" pitchFamily="66" charset="0"/>
                </a:rPr>
                <a:t>Tier 1 ISP</a:t>
              </a:r>
              <a:endParaRPr lang="en-US" sz="700"/>
            </a:p>
          </p:txBody>
        </p:sp>
        <p:sp>
          <p:nvSpPr>
            <p:cNvPr id="38" name="Oval 6"/>
            <p:cNvSpPr>
              <a:spLocks noChangeArrowheads="1"/>
            </p:cNvSpPr>
            <p:nvPr/>
          </p:nvSpPr>
          <p:spPr bwMode="auto">
            <a:xfrm>
              <a:off x="4800600" y="4845050"/>
              <a:ext cx="1863725" cy="790575"/>
            </a:xfrm>
            <a:prstGeom prst="ellipse">
              <a:avLst/>
            </a:prstGeom>
            <a:solidFill>
              <a:schemeClr val="folHlink"/>
            </a:solidFill>
            <a:ln w="9525">
              <a:solidFill>
                <a:schemeClr val="tx1"/>
              </a:solidFill>
              <a:round/>
              <a:headEnd/>
              <a:tailEnd/>
            </a:ln>
          </p:spPr>
          <p:txBody>
            <a:bodyPr wrap="none" anchor="ctr"/>
            <a:lstStyle/>
            <a:p>
              <a:pPr algn="ctr"/>
              <a:r>
                <a:rPr lang="en-US" sz="700">
                  <a:solidFill>
                    <a:schemeClr val="bg1"/>
                  </a:solidFill>
                  <a:latin typeface="Comic Sans MS" pitchFamily="66" charset="0"/>
                </a:rPr>
                <a:t>Tier 1 ISP</a:t>
              </a:r>
              <a:endParaRPr lang="en-US" sz="700"/>
            </a:p>
          </p:txBody>
        </p:sp>
        <p:sp>
          <p:nvSpPr>
            <p:cNvPr id="39" name="Oval 7"/>
            <p:cNvSpPr>
              <a:spLocks noChangeArrowheads="1"/>
            </p:cNvSpPr>
            <p:nvPr/>
          </p:nvSpPr>
          <p:spPr bwMode="auto">
            <a:xfrm>
              <a:off x="5121275" y="48514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0" name="Oval 8"/>
            <p:cNvSpPr>
              <a:spLocks noChangeArrowheads="1"/>
            </p:cNvSpPr>
            <p:nvPr/>
          </p:nvSpPr>
          <p:spPr bwMode="auto">
            <a:xfrm>
              <a:off x="4670425" y="43815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1" name="Oval 9"/>
            <p:cNvSpPr>
              <a:spLocks noChangeArrowheads="1"/>
            </p:cNvSpPr>
            <p:nvPr/>
          </p:nvSpPr>
          <p:spPr bwMode="auto">
            <a:xfrm>
              <a:off x="4206875" y="44069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2" name="Oval 10"/>
            <p:cNvSpPr>
              <a:spLocks noChangeArrowheads="1"/>
            </p:cNvSpPr>
            <p:nvPr/>
          </p:nvSpPr>
          <p:spPr bwMode="auto">
            <a:xfrm>
              <a:off x="3736975" y="48641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3" name="Oval 11"/>
            <p:cNvSpPr>
              <a:spLocks noChangeArrowheads="1"/>
            </p:cNvSpPr>
            <p:nvPr/>
          </p:nvSpPr>
          <p:spPr bwMode="auto">
            <a:xfrm>
              <a:off x="4232275" y="51816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4" name="Oval 12"/>
            <p:cNvSpPr>
              <a:spLocks noChangeArrowheads="1"/>
            </p:cNvSpPr>
            <p:nvPr/>
          </p:nvSpPr>
          <p:spPr bwMode="auto">
            <a:xfrm>
              <a:off x="4746625" y="51689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5" name="Line 13"/>
            <p:cNvSpPr>
              <a:spLocks noChangeShapeType="1"/>
            </p:cNvSpPr>
            <p:nvPr/>
          </p:nvSpPr>
          <p:spPr bwMode="auto">
            <a:xfrm flipV="1">
              <a:off x="4368800" y="5238750"/>
              <a:ext cx="381000" cy="6350"/>
            </a:xfrm>
            <a:prstGeom prst="line">
              <a:avLst/>
            </a:prstGeom>
            <a:noFill/>
            <a:ln w="19050">
              <a:solidFill>
                <a:schemeClr val="tx1"/>
              </a:solidFill>
              <a:round/>
              <a:headEnd/>
              <a:tailEnd/>
            </a:ln>
          </p:spPr>
          <p:txBody>
            <a:bodyPr/>
            <a:lstStyle/>
            <a:p>
              <a:endParaRPr lang="de-DE" sz="700"/>
            </a:p>
          </p:txBody>
        </p:sp>
        <p:sp>
          <p:nvSpPr>
            <p:cNvPr id="46" name="Line 14"/>
            <p:cNvSpPr>
              <a:spLocks noChangeShapeType="1"/>
            </p:cNvSpPr>
            <p:nvPr/>
          </p:nvSpPr>
          <p:spPr bwMode="auto">
            <a:xfrm>
              <a:off x="4778375" y="4495800"/>
              <a:ext cx="368300" cy="368300"/>
            </a:xfrm>
            <a:prstGeom prst="line">
              <a:avLst/>
            </a:prstGeom>
            <a:noFill/>
            <a:ln w="19050">
              <a:solidFill>
                <a:schemeClr val="tx1"/>
              </a:solidFill>
              <a:round/>
              <a:headEnd/>
              <a:tailEnd/>
            </a:ln>
          </p:spPr>
          <p:txBody>
            <a:bodyPr/>
            <a:lstStyle/>
            <a:p>
              <a:endParaRPr lang="de-DE" sz="700"/>
            </a:p>
          </p:txBody>
        </p:sp>
        <p:sp>
          <p:nvSpPr>
            <p:cNvPr id="47" name="Line 15"/>
            <p:cNvSpPr>
              <a:spLocks noChangeShapeType="1"/>
            </p:cNvSpPr>
            <p:nvPr/>
          </p:nvSpPr>
          <p:spPr bwMode="auto">
            <a:xfrm flipV="1">
              <a:off x="3835400" y="4527550"/>
              <a:ext cx="393700" cy="355600"/>
            </a:xfrm>
            <a:prstGeom prst="line">
              <a:avLst/>
            </a:prstGeom>
            <a:noFill/>
            <a:ln w="19050">
              <a:solidFill>
                <a:schemeClr val="tx1"/>
              </a:solidFill>
              <a:round/>
              <a:headEnd/>
              <a:tailEnd/>
            </a:ln>
          </p:spPr>
          <p:txBody>
            <a:bodyPr/>
            <a:lstStyle/>
            <a:p>
              <a:endParaRPr lang="de-DE" sz="700"/>
            </a:p>
          </p:txBody>
        </p:sp>
        <p:grpSp>
          <p:nvGrpSpPr>
            <p:cNvPr id="48" name="Group 22"/>
            <p:cNvGrpSpPr>
              <a:grpSpLocks/>
            </p:cNvGrpSpPr>
            <p:nvPr/>
          </p:nvGrpSpPr>
          <p:grpSpPr bwMode="auto">
            <a:xfrm>
              <a:off x="1946275" y="3286127"/>
              <a:ext cx="6219825" cy="2892426"/>
              <a:chOff x="1226" y="2070"/>
              <a:chExt cx="3918" cy="1822"/>
            </a:xfrm>
          </p:grpSpPr>
          <p:grpSp>
            <p:nvGrpSpPr>
              <p:cNvPr id="79" name="Group 23"/>
              <p:cNvGrpSpPr>
                <a:grpSpLocks/>
              </p:cNvGrpSpPr>
              <p:nvPr/>
            </p:nvGrpSpPr>
            <p:grpSpPr bwMode="auto">
              <a:xfrm>
                <a:off x="3042" y="2102"/>
                <a:ext cx="1054" cy="406"/>
                <a:chOff x="3042" y="2102"/>
                <a:chExt cx="1054" cy="406"/>
              </a:xfrm>
            </p:grpSpPr>
            <p:sp>
              <p:nvSpPr>
                <p:cNvPr id="99" name="Oval 24"/>
                <p:cNvSpPr>
                  <a:spLocks noChangeArrowheads="1"/>
                </p:cNvSpPr>
                <p:nvPr/>
              </p:nvSpPr>
              <p:spPr bwMode="auto">
                <a:xfrm>
                  <a:off x="3042" y="2102"/>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100" name="Text Box 25"/>
                <p:cNvSpPr txBox="1">
                  <a:spLocks noChangeArrowheads="1"/>
                </p:cNvSpPr>
                <p:nvPr/>
              </p:nvSpPr>
              <p:spPr bwMode="auto">
                <a:xfrm>
                  <a:off x="3182" y="2176"/>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101" name="Oval 26"/>
                <p:cNvSpPr>
                  <a:spLocks noChangeArrowheads="1"/>
                </p:cNvSpPr>
                <p:nvPr/>
              </p:nvSpPr>
              <p:spPr bwMode="auto">
                <a:xfrm>
                  <a:off x="3184" y="2340"/>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grpSp>
            <p:nvGrpSpPr>
              <p:cNvPr id="80" name="Group 27"/>
              <p:cNvGrpSpPr>
                <a:grpSpLocks/>
              </p:cNvGrpSpPr>
              <p:nvPr/>
            </p:nvGrpSpPr>
            <p:grpSpPr bwMode="auto">
              <a:xfrm>
                <a:off x="1610" y="2070"/>
                <a:ext cx="1054" cy="406"/>
                <a:chOff x="698" y="2190"/>
                <a:chExt cx="1054" cy="406"/>
              </a:xfrm>
            </p:grpSpPr>
            <p:sp>
              <p:nvSpPr>
                <p:cNvPr id="96" name="Oval 28"/>
                <p:cNvSpPr>
                  <a:spLocks noChangeArrowheads="1"/>
                </p:cNvSpPr>
                <p:nvPr/>
              </p:nvSpPr>
              <p:spPr bwMode="auto">
                <a:xfrm>
                  <a:off x="698" y="2190"/>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97" name="Text Box 29"/>
                <p:cNvSpPr txBox="1">
                  <a:spLocks noChangeArrowheads="1"/>
                </p:cNvSpPr>
                <p:nvPr/>
              </p:nvSpPr>
              <p:spPr bwMode="auto">
                <a:xfrm>
                  <a:off x="838" y="2264"/>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98" name="Oval 30"/>
                <p:cNvSpPr>
                  <a:spLocks noChangeArrowheads="1"/>
                </p:cNvSpPr>
                <p:nvPr/>
              </p:nvSpPr>
              <p:spPr bwMode="auto">
                <a:xfrm>
                  <a:off x="1464" y="2460"/>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grpSp>
            <p:nvGrpSpPr>
              <p:cNvPr id="81" name="Group 31"/>
              <p:cNvGrpSpPr>
                <a:grpSpLocks/>
              </p:cNvGrpSpPr>
              <p:nvPr/>
            </p:nvGrpSpPr>
            <p:grpSpPr bwMode="auto">
              <a:xfrm>
                <a:off x="1226" y="3476"/>
                <a:ext cx="1054" cy="408"/>
                <a:chOff x="442" y="3748"/>
                <a:chExt cx="1054" cy="408"/>
              </a:xfrm>
            </p:grpSpPr>
            <p:sp>
              <p:nvSpPr>
                <p:cNvPr id="93" name="Oval 32"/>
                <p:cNvSpPr>
                  <a:spLocks noChangeArrowheads="1"/>
                </p:cNvSpPr>
                <p:nvPr/>
              </p:nvSpPr>
              <p:spPr bwMode="auto">
                <a:xfrm>
                  <a:off x="442" y="3750"/>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94" name="Text Box 33"/>
                <p:cNvSpPr txBox="1">
                  <a:spLocks noChangeArrowheads="1"/>
                </p:cNvSpPr>
                <p:nvPr/>
              </p:nvSpPr>
              <p:spPr bwMode="auto">
                <a:xfrm>
                  <a:off x="582" y="3824"/>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95" name="Oval 34"/>
                <p:cNvSpPr>
                  <a:spLocks noChangeArrowheads="1"/>
                </p:cNvSpPr>
                <p:nvPr/>
              </p:nvSpPr>
              <p:spPr bwMode="auto">
                <a:xfrm>
                  <a:off x="904" y="3748"/>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grpSp>
            <p:nvGrpSpPr>
              <p:cNvPr id="82" name="Group 35"/>
              <p:cNvGrpSpPr>
                <a:grpSpLocks/>
              </p:cNvGrpSpPr>
              <p:nvPr/>
            </p:nvGrpSpPr>
            <p:grpSpPr bwMode="auto">
              <a:xfrm>
                <a:off x="2674" y="3486"/>
                <a:ext cx="1054" cy="406"/>
                <a:chOff x="2698" y="3710"/>
                <a:chExt cx="1054" cy="406"/>
              </a:xfrm>
            </p:grpSpPr>
            <p:sp>
              <p:nvSpPr>
                <p:cNvPr id="90" name="Oval 36"/>
                <p:cNvSpPr>
                  <a:spLocks noChangeArrowheads="1"/>
                </p:cNvSpPr>
                <p:nvPr/>
              </p:nvSpPr>
              <p:spPr bwMode="auto">
                <a:xfrm>
                  <a:off x="2698" y="3710"/>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91" name="Text Box 37"/>
                <p:cNvSpPr txBox="1">
                  <a:spLocks noChangeArrowheads="1"/>
                </p:cNvSpPr>
                <p:nvPr/>
              </p:nvSpPr>
              <p:spPr bwMode="auto">
                <a:xfrm>
                  <a:off x="2838" y="3784"/>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92" name="Oval 38"/>
                <p:cNvSpPr>
                  <a:spLocks noChangeArrowheads="1"/>
                </p:cNvSpPr>
                <p:nvPr/>
              </p:nvSpPr>
              <p:spPr bwMode="auto">
                <a:xfrm>
                  <a:off x="3408" y="3716"/>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grpSp>
            <p:nvGrpSpPr>
              <p:cNvPr id="83" name="Group 39"/>
              <p:cNvGrpSpPr>
                <a:grpSpLocks/>
              </p:cNvGrpSpPr>
              <p:nvPr/>
            </p:nvGrpSpPr>
            <p:grpSpPr bwMode="auto">
              <a:xfrm>
                <a:off x="4090" y="3182"/>
                <a:ext cx="1054" cy="406"/>
                <a:chOff x="4090" y="3182"/>
                <a:chExt cx="1054" cy="406"/>
              </a:xfrm>
            </p:grpSpPr>
            <p:sp>
              <p:nvSpPr>
                <p:cNvPr id="87" name="Oval 40"/>
                <p:cNvSpPr>
                  <a:spLocks noChangeArrowheads="1"/>
                </p:cNvSpPr>
                <p:nvPr/>
              </p:nvSpPr>
              <p:spPr bwMode="auto">
                <a:xfrm>
                  <a:off x="4090" y="3182"/>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88" name="Text Box 41"/>
                <p:cNvSpPr txBox="1">
                  <a:spLocks noChangeArrowheads="1"/>
                </p:cNvSpPr>
                <p:nvPr/>
              </p:nvSpPr>
              <p:spPr bwMode="auto">
                <a:xfrm>
                  <a:off x="4230" y="3256"/>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89" name="Oval 42"/>
                <p:cNvSpPr>
                  <a:spLocks noChangeArrowheads="1"/>
                </p:cNvSpPr>
                <p:nvPr/>
              </p:nvSpPr>
              <p:spPr bwMode="auto">
                <a:xfrm>
                  <a:off x="4144" y="3308"/>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sp>
            <p:nvSpPr>
              <p:cNvPr id="84" name="Oval 43"/>
              <p:cNvSpPr>
                <a:spLocks noChangeArrowheads="1"/>
              </p:cNvSpPr>
              <p:nvPr/>
            </p:nvSpPr>
            <p:spPr bwMode="auto">
              <a:xfrm>
                <a:off x="1712" y="2328"/>
                <a:ext cx="96" cy="88"/>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85" name="Line 44"/>
              <p:cNvSpPr>
                <a:spLocks noChangeShapeType="1"/>
              </p:cNvSpPr>
              <p:nvPr/>
            </p:nvSpPr>
            <p:spPr bwMode="auto">
              <a:xfrm>
                <a:off x="1768" y="2400"/>
                <a:ext cx="200" cy="684"/>
              </a:xfrm>
              <a:prstGeom prst="line">
                <a:avLst/>
              </a:prstGeom>
              <a:noFill/>
              <a:ln w="19050">
                <a:solidFill>
                  <a:schemeClr val="tx1"/>
                </a:solidFill>
                <a:round/>
                <a:headEnd/>
                <a:tailEnd/>
              </a:ln>
            </p:spPr>
            <p:txBody>
              <a:bodyPr/>
              <a:lstStyle/>
              <a:p>
                <a:endParaRPr lang="de-DE" sz="700"/>
              </a:p>
            </p:txBody>
          </p:sp>
          <p:sp>
            <p:nvSpPr>
              <p:cNvPr id="86" name="Oval 45"/>
              <p:cNvSpPr>
                <a:spLocks noChangeArrowheads="1"/>
              </p:cNvSpPr>
              <p:nvPr/>
            </p:nvSpPr>
            <p:spPr bwMode="auto">
              <a:xfrm>
                <a:off x="1928" y="3044"/>
                <a:ext cx="96" cy="88"/>
              </a:xfrm>
              <a:prstGeom prst="ellipse">
                <a:avLst/>
              </a:prstGeom>
              <a:solidFill>
                <a:schemeClr val="folHlink"/>
              </a:solidFill>
              <a:ln w="9525">
                <a:solidFill>
                  <a:schemeClr val="tx1"/>
                </a:solidFill>
                <a:round/>
                <a:headEnd/>
                <a:tailEnd/>
              </a:ln>
            </p:spPr>
            <p:txBody>
              <a:bodyPr wrap="none" anchor="ctr"/>
              <a:lstStyle/>
              <a:p>
                <a:endParaRPr lang="de-DE" sz="700"/>
              </a:p>
            </p:txBody>
          </p:sp>
        </p:grpSp>
        <p:sp>
          <p:nvSpPr>
            <p:cNvPr id="49" name="Oval 46"/>
            <p:cNvSpPr>
              <a:spLocks noChangeArrowheads="1"/>
            </p:cNvSpPr>
            <p:nvPr/>
          </p:nvSpPr>
          <p:spPr bwMode="auto">
            <a:xfrm>
              <a:off x="6337300" y="3683000"/>
              <a:ext cx="152400" cy="165100"/>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50" name="Oval 47"/>
            <p:cNvSpPr>
              <a:spLocks noChangeArrowheads="1"/>
            </p:cNvSpPr>
            <p:nvPr/>
          </p:nvSpPr>
          <p:spPr bwMode="auto">
            <a:xfrm>
              <a:off x="7302500" y="4991100"/>
              <a:ext cx="152400" cy="165100"/>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51" name="Line 48"/>
            <p:cNvSpPr>
              <a:spLocks noChangeShapeType="1"/>
            </p:cNvSpPr>
            <p:nvPr/>
          </p:nvSpPr>
          <p:spPr bwMode="auto">
            <a:xfrm>
              <a:off x="6451600" y="3822700"/>
              <a:ext cx="876300" cy="1155700"/>
            </a:xfrm>
            <a:prstGeom prst="line">
              <a:avLst/>
            </a:prstGeom>
            <a:noFill/>
            <a:ln w="19050">
              <a:solidFill>
                <a:schemeClr val="tx1"/>
              </a:solidFill>
              <a:round/>
              <a:headEnd/>
              <a:tailEnd/>
            </a:ln>
          </p:spPr>
          <p:txBody>
            <a:bodyPr/>
            <a:lstStyle/>
            <a:p>
              <a:endParaRPr lang="de-DE" sz="700"/>
            </a:p>
          </p:txBody>
        </p:sp>
        <p:grpSp>
          <p:nvGrpSpPr>
            <p:cNvPr id="52" name="Group 52"/>
            <p:cNvGrpSpPr>
              <a:grpSpLocks/>
            </p:cNvGrpSpPr>
            <p:nvPr/>
          </p:nvGrpSpPr>
          <p:grpSpPr bwMode="auto">
            <a:xfrm>
              <a:off x="5273675" y="2676526"/>
              <a:ext cx="1057275" cy="842963"/>
              <a:chOff x="4314" y="1086"/>
              <a:chExt cx="666" cy="531"/>
            </a:xfrm>
          </p:grpSpPr>
          <p:sp>
            <p:nvSpPr>
              <p:cNvPr id="77" name="Oval 53"/>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8" name="Text Box 54"/>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3" name="Group 55"/>
            <p:cNvGrpSpPr>
              <a:grpSpLocks/>
            </p:cNvGrpSpPr>
            <p:nvPr/>
          </p:nvGrpSpPr>
          <p:grpSpPr bwMode="auto">
            <a:xfrm>
              <a:off x="4308475" y="2828926"/>
              <a:ext cx="1057275" cy="842963"/>
              <a:chOff x="4314" y="1086"/>
              <a:chExt cx="666" cy="531"/>
            </a:xfrm>
          </p:grpSpPr>
          <p:sp>
            <p:nvSpPr>
              <p:cNvPr id="75" name="Oval 56"/>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6" name="Text Box 57"/>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4" name="Group 58"/>
            <p:cNvGrpSpPr>
              <a:grpSpLocks/>
            </p:cNvGrpSpPr>
            <p:nvPr/>
          </p:nvGrpSpPr>
          <p:grpSpPr bwMode="auto">
            <a:xfrm>
              <a:off x="6022975" y="2816226"/>
              <a:ext cx="1057275" cy="842963"/>
              <a:chOff x="4314" y="1086"/>
              <a:chExt cx="666" cy="531"/>
            </a:xfrm>
          </p:grpSpPr>
          <p:sp>
            <p:nvSpPr>
              <p:cNvPr id="73" name="Oval 59"/>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4" name="Text Box 60"/>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5" name="Group 61"/>
            <p:cNvGrpSpPr>
              <a:grpSpLocks/>
            </p:cNvGrpSpPr>
            <p:nvPr/>
          </p:nvGrpSpPr>
          <p:grpSpPr bwMode="auto">
            <a:xfrm>
              <a:off x="1539875" y="5876926"/>
              <a:ext cx="1057275" cy="842963"/>
              <a:chOff x="4314" y="1086"/>
              <a:chExt cx="666" cy="531"/>
            </a:xfrm>
          </p:grpSpPr>
          <p:sp>
            <p:nvSpPr>
              <p:cNvPr id="71" name="Oval 62"/>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2" name="Text Box 63"/>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6" name="Group 64"/>
            <p:cNvGrpSpPr>
              <a:grpSpLocks/>
            </p:cNvGrpSpPr>
            <p:nvPr/>
          </p:nvGrpSpPr>
          <p:grpSpPr bwMode="auto">
            <a:xfrm>
              <a:off x="1882775" y="2473326"/>
              <a:ext cx="1057275" cy="842963"/>
              <a:chOff x="4314" y="1086"/>
              <a:chExt cx="666" cy="531"/>
            </a:xfrm>
          </p:grpSpPr>
          <p:sp>
            <p:nvSpPr>
              <p:cNvPr id="69" name="Oval 65"/>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0" name="Text Box 66"/>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dirty="0">
                    <a:solidFill>
                      <a:schemeClr val="folHlink"/>
                    </a:solidFill>
                    <a:latin typeface="Comic Sans MS" pitchFamily="66" charset="0"/>
                  </a:rPr>
                  <a:t>local</a:t>
                </a:r>
              </a:p>
              <a:p>
                <a:pPr algn="ctr"/>
                <a:r>
                  <a:rPr lang="en-US" sz="700" dirty="0">
                    <a:solidFill>
                      <a:schemeClr val="folHlink"/>
                    </a:solidFill>
                    <a:latin typeface="Comic Sans MS" pitchFamily="66" charset="0"/>
                  </a:rPr>
                  <a:t>ISP</a:t>
                </a:r>
                <a:endParaRPr lang="en-US" sz="700" dirty="0">
                  <a:solidFill>
                    <a:schemeClr val="folHlink"/>
                  </a:solidFill>
                </a:endParaRPr>
              </a:p>
            </p:txBody>
          </p:sp>
        </p:grpSp>
        <p:grpSp>
          <p:nvGrpSpPr>
            <p:cNvPr id="57" name="Group 67"/>
            <p:cNvGrpSpPr>
              <a:grpSpLocks/>
            </p:cNvGrpSpPr>
            <p:nvPr/>
          </p:nvGrpSpPr>
          <p:grpSpPr bwMode="auto">
            <a:xfrm>
              <a:off x="2746375" y="2714626"/>
              <a:ext cx="1057275" cy="842963"/>
              <a:chOff x="4314" y="1086"/>
              <a:chExt cx="666" cy="531"/>
            </a:xfrm>
          </p:grpSpPr>
          <p:sp>
            <p:nvSpPr>
              <p:cNvPr id="67" name="Oval 68"/>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68" name="Text Box 69"/>
              <p:cNvSpPr txBox="1">
                <a:spLocks noChangeArrowheads="1"/>
              </p:cNvSpPr>
              <p:nvPr/>
            </p:nvSpPr>
            <p:spPr bwMode="auto">
              <a:xfrm>
                <a:off x="4330" y="1106"/>
                <a:ext cx="531"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Tier 3</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8" name="Group 70"/>
            <p:cNvGrpSpPr>
              <a:grpSpLocks/>
            </p:cNvGrpSpPr>
            <p:nvPr/>
          </p:nvGrpSpPr>
          <p:grpSpPr bwMode="auto">
            <a:xfrm>
              <a:off x="2898775" y="5940426"/>
              <a:ext cx="1057275" cy="842963"/>
              <a:chOff x="4314" y="1086"/>
              <a:chExt cx="666" cy="531"/>
            </a:xfrm>
          </p:grpSpPr>
          <p:sp>
            <p:nvSpPr>
              <p:cNvPr id="65" name="Oval 71"/>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66" name="Text Box 72"/>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9" name="Group 73"/>
            <p:cNvGrpSpPr>
              <a:grpSpLocks/>
            </p:cNvGrpSpPr>
            <p:nvPr/>
          </p:nvGrpSpPr>
          <p:grpSpPr bwMode="auto">
            <a:xfrm>
              <a:off x="4600575" y="5940426"/>
              <a:ext cx="1057275" cy="842963"/>
              <a:chOff x="4314" y="1086"/>
              <a:chExt cx="666" cy="531"/>
            </a:xfrm>
          </p:grpSpPr>
          <p:sp>
            <p:nvSpPr>
              <p:cNvPr id="63" name="Oval 74"/>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64" name="Text Box 75"/>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60" name="Group 76"/>
            <p:cNvGrpSpPr>
              <a:grpSpLocks/>
            </p:cNvGrpSpPr>
            <p:nvPr/>
          </p:nvGrpSpPr>
          <p:grpSpPr bwMode="auto">
            <a:xfrm>
              <a:off x="7305675" y="5483226"/>
              <a:ext cx="1057275" cy="842963"/>
              <a:chOff x="4314" y="1086"/>
              <a:chExt cx="666" cy="531"/>
            </a:xfrm>
          </p:grpSpPr>
          <p:sp>
            <p:nvSpPr>
              <p:cNvPr id="61" name="Oval 77"/>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62" name="Text Box 78"/>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Titel 352"/>
          <p:cNvSpPr>
            <a:spLocks noGrp="1"/>
          </p:cNvSpPr>
          <p:nvPr>
            <p:ph type="title"/>
          </p:nvPr>
        </p:nvSpPr>
        <p:spPr/>
        <p:txBody>
          <a:bodyPr/>
          <a:lstStyle/>
          <a:p>
            <a:r>
              <a:rPr lang="de-DE" dirty="0"/>
              <a:t>Am Abgrund…  Rand der Netzwerke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48</a:t>
            </a:fld>
            <a:endParaRPr lang="en-US" noProof="0" dirty="0"/>
          </a:p>
        </p:txBody>
      </p:sp>
      <p:sp>
        <p:nvSpPr>
          <p:cNvPr id="354" name="Inhaltsplatzhalter 353"/>
          <p:cNvSpPr>
            <a:spLocks noGrp="1"/>
          </p:cNvSpPr>
          <p:nvPr>
            <p:ph sz="quarter" idx="1"/>
          </p:nvPr>
        </p:nvSpPr>
        <p:spPr>
          <a:xfrm>
            <a:off x="457200" y="1219200"/>
            <a:ext cx="4474840" cy="5306144"/>
          </a:xfrm>
        </p:spPr>
        <p:txBody>
          <a:bodyPr>
            <a:normAutofit fontScale="92500" lnSpcReduction="10000"/>
          </a:bodyPr>
          <a:lstStyle/>
          <a:p>
            <a:r>
              <a:rPr lang="de-DE" dirty="0"/>
              <a:t>Endsysteme (Hosts)</a:t>
            </a:r>
          </a:p>
          <a:p>
            <a:pPr lvl="1"/>
            <a:r>
              <a:rPr lang="de-DE" dirty="0"/>
              <a:t>Anfangs nur Rechner, jetzt eine große Vielfalt: Handys, PDAs, Sensoren</a:t>
            </a:r>
          </a:p>
          <a:p>
            <a:pPr lvl="1"/>
            <a:r>
              <a:rPr lang="de-DE" dirty="0"/>
              <a:t>Für uns nur „Behälter“ für </a:t>
            </a:r>
            <a:r>
              <a:rPr lang="de-DE" b="1" dirty="0">
                <a:solidFill>
                  <a:srgbClr val="FF0000"/>
                </a:solidFill>
              </a:rPr>
              <a:t>verteilte Anwendungen</a:t>
            </a:r>
          </a:p>
          <a:p>
            <a:pPr>
              <a:buNone/>
            </a:pPr>
            <a:r>
              <a:rPr lang="de-DE" dirty="0"/>
              <a:t>Architekturtypen von ver. Anw.</a:t>
            </a:r>
          </a:p>
          <a:p>
            <a:r>
              <a:rPr lang="de-DE" b="1" dirty="0">
                <a:solidFill>
                  <a:srgbClr val="FF0000"/>
                </a:solidFill>
              </a:rPr>
              <a:t>Client-Server</a:t>
            </a:r>
            <a:r>
              <a:rPr lang="de-DE" dirty="0"/>
              <a:t>: </a:t>
            </a:r>
          </a:p>
          <a:p>
            <a:pPr lvl="1"/>
            <a:r>
              <a:rPr lang="de-DE" dirty="0"/>
              <a:t>Client stellt Anfragen, Server beantwortet sie; Beispiel?</a:t>
            </a:r>
          </a:p>
          <a:p>
            <a:r>
              <a:rPr lang="de-DE" b="1" dirty="0">
                <a:solidFill>
                  <a:srgbClr val="FF0000"/>
                </a:solidFill>
              </a:rPr>
              <a:t>Peer-</a:t>
            </a:r>
            <a:r>
              <a:rPr lang="de-DE" b="1" dirty="0" err="1">
                <a:solidFill>
                  <a:srgbClr val="FF0000"/>
                </a:solidFill>
              </a:rPr>
              <a:t>to</a:t>
            </a:r>
            <a:r>
              <a:rPr lang="de-DE" b="1" dirty="0">
                <a:solidFill>
                  <a:srgbClr val="FF0000"/>
                </a:solidFill>
              </a:rPr>
              <a:t>-Peer</a:t>
            </a:r>
            <a:r>
              <a:rPr lang="de-DE" dirty="0"/>
              <a:t> (</a:t>
            </a:r>
            <a:r>
              <a:rPr lang="de-DE" b="1" dirty="0">
                <a:solidFill>
                  <a:srgbClr val="FF0000"/>
                </a:solidFill>
              </a:rPr>
              <a:t>P2P</a:t>
            </a:r>
            <a:r>
              <a:rPr lang="de-DE" dirty="0"/>
              <a:t>)</a:t>
            </a:r>
          </a:p>
          <a:p>
            <a:pPr lvl="1"/>
            <a:r>
              <a:rPr lang="de-DE" dirty="0"/>
              <a:t>minimale Verwendung von dedizierten Servern</a:t>
            </a:r>
          </a:p>
          <a:p>
            <a:pPr lvl="1"/>
            <a:r>
              <a:rPr lang="de-DE" dirty="0"/>
              <a:t>Beide Hosts haben gleiche / ähnliche Funktionalität</a:t>
            </a:r>
          </a:p>
        </p:txBody>
      </p:sp>
      <p:grpSp>
        <p:nvGrpSpPr>
          <p:cNvPr id="356" name="Gruppieren 355"/>
          <p:cNvGrpSpPr/>
          <p:nvPr/>
        </p:nvGrpSpPr>
        <p:grpSpPr>
          <a:xfrm>
            <a:off x="4829913" y="1479166"/>
            <a:ext cx="4082498" cy="4168775"/>
            <a:chOff x="5148064" y="1700808"/>
            <a:chExt cx="4082498" cy="4168775"/>
          </a:xfrm>
        </p:grpSpPr>
        <p:sp>
          <p:nvSpPr>
            <p:cNvPr id="6" name="Freeform 229"/>
            <p:cNvSpPr>
              <a:spLocks/>
            </p:cNvSpPr>
            <p:nvPr/>
          </p:nvSpPr>
          <p:spPr bwMode="auto">
            <a:xfrm>
              <a:off x="7219504" y="3518495"/>
              <a:ext cx="1314450" cy="674688"/>
            </a:xfrm>
            <a:custGeom>
              <a:avLst/>
              <a:gdLst>
                <a:gd name="T0" fmla="*/ 606425 w 828"/>
                <a:gd name="T1" fmla="*/ 47625 h 425"/>
                <a:gd name="T2" fmla="*/ 587375 w 828"/>
                <a:gd name="T3" fmla="*/ 47625 h 425"/>
                <a:gd name="T4" fmla="*/ 200025 w 828"/>
                <a:gd name="T5" fmla="*/ 50800 h 425"/>
                <a:gd name="T6" fmla="*/ 9525 w 828"/>
                <a:gd name="T7" fmla="*/ 200025 h 425"/>
                <a:gd name="T8" fmla="*/ 146050 w 828"/>
                <a:gd name="T9" fmla="*/ 434975 h 425"/>
                <a:gd name="T10" fmla="*/ 463550 w 828"/>
                <a:gd name="T11" fmla="*/ 609600 h 425"/>
                <a:gd name="T12" fmla="*/ 857250 w 828"/>
                <a:gd name="T13" fmla="*/ 660400 h 425"/>
                <a:gd name="T14" fmla="*/ 1108075 w 828"/>
                <a:gd name="T15" fmla="*/ 523875 h 425"/>
                <a:gd name="T16" fmla="*/ 1231900 w 828"/>
                <a:gd name="T17" fmla="*/ 269875 h 425"/>
                <a:gd name="T18" fmla="*/ 1257300 w 828"/>
                <a:gd name="T19" fmla="*/ 34925 h 425"/>
                <a:gd name="T20" fmla="*/ 889000 w 828"/>
                <a:gd name="T21" fmla="*/ 60325 h 425"/>
                <a:gd name="T22" fmla="*/ 606425 w 828"/>
                <a:gd name="T23" fmla="*/ 47625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w="9525">
              <a:noFill/>
              <a:round/>
              <a:headEnd/>
              <a:tailEnd/>
            </a:ln>
          </p:spPr>
          <p:txBody>
            <a:bodyPr/>
            <a:lstStyle/>
            <a:p>
              <a:endParaRPr lang="de-DE"/>
            </a:p>
          </p:txBody>
        </p:sp>
        <p:sp>
          <p:nvSpPr>
            <p:cNvPr id="7" name="Freeform 230"/>
            <p:cNvSpPr>
              <a:spLocks/>
            </p:cNvSpPr>
            <p:nvPr/>
          </p:nvSpPr>
          <p:spPr bwMode="auto">
            <a:xfrm>
              <a:off x="7238554" y="1992908"/>
              <a:ext cx="1730375" cy="1044575"/>
            </a:xfrm>
            <a:custGeom>
              <a:avLst/>
              <a:gdLst>
                <a:gd name="T0" fmla="*/ 959057 w 765"/>
                <a:gd name="T1" fmla="*/ 22758 h 459"/>
                <a:gd name="T2" fmla="*/ 651435 w 765"/>
                <a:gd name="T3" fmla="*/ 159303 h 459"/>
                <a:gd name="T4" fmla="*/ 217145 w 765"/>
                <a:gd name="T5" fmla="*/ 227576 h 459"/>
                <a:gd name="T6" fmla="*/ 31667 w 765"/>
                <a:gd name="T7" fmla="*/ 764656 h 459"/>
                <a:gd name="T8" fmla="*/ 407147 w 765"/>
                <a:gd name="T9" fmla="*/ 1010439 h 459"/>
                <a:gd name="T10" fmla="*/ 782627 w 765"/>
                <a:gd name="T11" fmla="*/ 969475 h 459"/>
                <a:gd name="T12" fmla="*/ 1320966 w 765"/>
                <a:gd name="T13" fmla="*/ 1010439 h 459"/>
                <a:gd name="T14" fmla="*/ 1578826 w 765"/>
                <a:gd name="T15" fmla="*/ 987681 h 459"/>
                <a:gd name="T16" fmla="*/ 1700970 w 765"/>
                <a:gd name="T17" fmla="*/ 846584 h 459"/>
                <a:gd name="T18" fmla="*/ 1696446 w 765"/>
                <a:gd name="T19" fmla="*/ 359571 h 459"/>
                <a:gd name="T20" fmla="*/ 1497396 w 765"/>
                <a:gd name="T21" fmla="*/ 77376 h 459"/>
                <a:gd name="T22" fmla="*/ 959057 w 765"/>
                <a:gd name="T23" fmla="*/ 22758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w="9525">
              <a:noFill/>
              <a:round/>
              <a:headEnd/>
              <a:tailEnd/>
            </a:ln>
          </p:spPr>
          <p:txBody>
            <a:bodyPr/>
            <a:lstStyle/>
            <a:p>
              <a:endParaRPr lang="de-DE"/>
            </a:p>
          </p:txBody>
        </p:sp>
        <p:sp>
          <p:nvSpPr>
            <p:cNvPr id="8" name="Freeform 231"/>
            <p:cNvSpPr>
              <a:spLocks/>
            </p:cNvSpPr>
            <p:nvPr/>
          </p:nvSpPr>
          <p:spPr bwMode="auto">
            <a:xfrm>
              <a:off x="5498654" y="1700808"/>
              <a:ext cx="1644650" cy="1071562"/>
            </a:xfrm>
            <a:custGeom>
              <a:avLst/>
              <a:gdLst>
                <a:gd name="T0" fmla="*/ 1028700 w 1036"/>
                <a:gd name="T1" fmla="*/ 17462 h 675"/>
                <a:gd name="T2" fmla="*/ 619125 w 1036"/>
                <a:gd name="T3" fmla="*/ 84137 h 675"/>
                <a:gd name="T4" fmla="*/ 327025 w 1036"/>
                <a:gd name="T5" fmla="*/ 204787 h 675"/>
                <a:gd name="T6" fmla="*/ 241300 w 1036"/>
                <a:gd name="T7" fmla="*/ 363537 h 675"/>
                <a:gd name="T8" fmla="*/ 34925 w 1036"/>
                <a:gd name="T9" fmla="*/ 471487 h 675"/>
                <a:gd name="T10" fmla="*/ 28575 w 1036"/>
                <a:gd name="T11" fmla="*/ 728662 h 675"/>
                <a:gd name="T12" fmla="*/ 209550 w 1036"/>
                <a:gd name="T13" fmla="*/ 776287 h 675"/>
                <a:gd name="T14" fmla="*/ 727075 w 1036"/>
                <a:gd name="T15" fmla="*/ 776287 h 675"/>
                <a:gd name="T16" fmla="*/ 949325 w 1036"/>
                <a:gd name="T17" fmla="*/ 881062 h 675"/>
                <a:gd name="T18" fmla="*/ 1193800 w 1036"/>
                <a:gd name="T19" fmla="*/ 1042987 h 675"/>
                <a:gd name="T20" fmla="*/ 1381125 w 1036"/>
                <a:gd name="T21" fmla="*/ 1049337 h 675"/>
                <a:gd name="T22" fmla="*/ 1511300 w 1036"/>
                <a:gd name="T23" fmla="*/ 957262 h 675"/>
                <a:gd name="T24" fmla="*/ 1574800 w 1036"/>
                <a:gd name="T25" fmla="*/ 706437 h 675"/>
                <a:gd name="T26" fmla="*/ 1616075 w 1036"/>
                <a:gd name="T27" fmla="*/ 461962 h 675"/>
                <a:gd name="T28" fmla="*/ 1622425 w 1036"/>
                <a:gd name="T29" fmla="*/ 169862 h 675"/>
                <a:gd name="T30" fmla="*/ 1482725 w 1036"/>
                <a:gd name="T31" fmla="*/ 26987 h 675"/>
                <a:gd name="T32" fmla="*/ 1231900 w 1036"/>
                <a:gd name="T33" fmla="*/ 4762 h 675"/>
                <a:gd name="T34" fmla="*/ 1028700 w 1036"/>
                <a:gd name="T35" fmla="*/ 17462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w="9525">
              <a:noFill/>
              <a:round/>
              <a:headEnd/>
              <a:tailEnd/>
            </a:ln>
          </p:spPr>
          <p:txBody>
            <a:bodyPr/>
            <a:lstStyle/>
            <a:p>
              <a:endParaRPr lang="de-DE"/>
            </a:p>
          </p:txBody>
        </p:sp>
        <p:grpSp>
          <p:nvGrpSpPr>
            <p:cNvPr id="9" name="Group 232"/>
            <p:cNvGrpSpPr>
              <a:grpSpLocks/>
            </p:cNvGrpSpPr>
            <p:nvPr/>
          </p:nvGrpSpPr>
          <p:grpSpPr bwMode="auto">
            <a:xfrm>
              <a:off x="5585966" y="3035897"/>
              <a:ext cx="1458913" cy="933451"/>
              <a:chOff x="2889" y="1631"/>
              <a:chExt cx="980" cy="743"/>
            </a:xfrm>
          </p:grpSpPr>
          <p:sp>
            <p:nvSpPr>
              <p:cNvPr id="351" name="Rectangle 233"/>
              <p:cNvSpPr>
                <a:spLocks noChangeArrowheads="1"/>
              </p:cNvSpPr>
              <p:nvPr/>
            </p:nvSpPr>
            <p:spPr bwMode="auto">
              <a:xfrm>
                <a:off x="3046" y="1841"/>
                <a:ext cx="663" cy="533"/>
              </a:xfrm>
              <a:prstGeom prst="rect">
                <a:avLst/>
              </a:prstGeom>
              <a:solidFill>
                <a:srgbClr val="DDDDDD"/>
              </a:solidFill>
              <a:ln w="9525">
                <a:noFill/>
                <a:miter lim="800000"/>
                <a:headEnd/>
                <a:tailEnd/>
              </a:ln>
            </p:spPr>
            <p:txBody>
              <a:bodyPr wrap="none" anchor="ctr"/>
              <a:lstStyle/>
              <a:p>
                <a:endParaRPr lang="de-DE"/>
              </a:p>
            </p:txBody>
          </p:sp>
          <p:sp>
            <p:nvSpPr>
              <p:cNvPr id="352" name="AutoShape 234"/>
              <p:cNvSpPr>
                <a:spLocks noChangeArrowheads="1"/>
              </p:cNvSpPr>
              <p:nvPr/>
            </p:nvSpPr>
            <p:spPr bwMode="auto">
              <a:xfrm>
                <a:off x="2889" y="1631"/>
                <a:ext cx="980" cy="253"/>
              </a:xfrm>
              <a:prstGeom prst="triangle">
                <a:avLst>
                  <a:gd name="adj" fmla="val 50000"/>
                </a:avLst>
              </a:prstGeom>
              <a:solidFill>
                <a:srgbClr val="DDDDDD"/>
              </a:solidFill>
              <a:ln w="9525">
                <a:noFill/>
                <a:miter lim="800000"/>
                <a:headEnd/>
                <a:tailEnd/>
              </a:ln>
            </p:spPr>
            <p:txBody>
              <a:bodyPr wrap="none" anchor="ctr"/>
              <a:lstStyle/>
              <a:p>
                <a:pPr algn="ctr"/>
                <a:endParaRPr lang="de-DE">
                  <a:solidFill>
                    <a:srgbClr val="00CCFF"/>
                  </a:solidFill>
                </a:endParaRPr>
              </a:p>
            </p:txBody>
          </p:sp>
        </p:grpSp>
        <p:grpSp>
          <p:nvGrpSpPr>
            <p:cNvPr id="10" name="Group 235"/>
            <p:cNvGrpSpPr>
              <a:grpSpLocks/>
            </p:cNvGrpSpPr>
            <p:nvPr/>
          </p:nvGrpSpPr>
          <p:grpSpPr bwMode="auto">
            <a:xfrm>
              <a:off x="5542563" y="1713189"/>
              <a:ext cx="2162488" cy="1511172"/>
              <a:chOff x="1881" y="625"/>
              <a:chExt cx="5558" cy="3515"/>
            </a:xfrm>
          </p:grpSpPr>
          <p:sp>
            <p:nvSpPr>
              <p:cNvPr id="321" name="Line 236"/>
              <p:cNvSpPr>
                <a:spLocks noChangeShapeType="1"/>
              </p:cNvSpPr>
              <p:nvPr/>
            </p:nvSpPr>
            <p:spPr bwMode="auto">
              <a:xfrm flipH="1">
                <a:off x="3992" y="1481"/>
                <a:ext cx="235" cy="724"/>
              </a:xfrm>
              <a:prstGeom prst="line">
                <a:avLst/>
              </a:prstGeom>
              <a:noFill/>
              <a:ln w="9525">
                <a:solidFill>
                  <a:schemeClr val="bg2"/>
                </a:solidFill>
                <a:round/>
                <a:headEnd/>
                <a:tailEnd/>
              </a:ln>
            </p:spPr>
            <p:txBody>
              <a:bodyPr wrap="none"/>
              <a:lstStyle/>
              <a:p>
                <a:endParaRPr lang="de-DE"/>
              </a:p>
            </p:txBody>
          </p:sp>
          <p:sp>
            <p:nvSpPr>
              <p:cNvPr id="322" name="Line 237"/>
              <p:cNvSpPr>
                <a:spLocks noChangeShapeType="1"/>
              </p:cNvSpPr>
              <p:nvPr/>
            </p:nvSpPr>
            <p:spPr bwMode="auto">
              <a:xfrm>
                <a:off x="4227" y="1481"/>
                <a:ext cx="236" cy="720"/>
              </a:xfrm>
              <a:prstGeom prst="line">
                <a:avLst/>
              </a:prstGeom>
              <a:noFill/>
              <a:ln w="9525">
                <a:solidFill>
                  <a:schemeClr val="bg2"/>
                </a:solidFill>
                <a:round/>
                <a:headEnd/>
                <a:tailEnd/>
              </a:ln>
            </p:spPr>
            <p:txBody>
              <a:bodyPr wrap="none"/>
              <a:lstStyle/>
              <a:p>
                <a:endParaRPr lang="de-DE"/>
              </a:p>
            </p:txBody>
          </p:sp>
          <p:sp>
            <p:nvSpPr>
              <p:cNvPr id="323" name="Line 238"/>
              <p:cNvSpPr>
                <a:spLocks noChangeShapeType="1"/>
              </p:cNvSpPr>
              <p:nvPr/>
            </p:nvSpPr>
            <p:spPr bwMode="auto">
              <a:xfrm>
                <a:off x="3992" y="2201"/>
                <a:ext cx="235" cy="79"/>
              </a:xfrm>
              <a:prstGeom prst="line">
                <a:avLst/>
              </a:prstGeom>
              <a:noFill/>
              <a:ln w="9525">
                <a:solidFill>
                  <a:schemeClr val="bg2"/>
                </a:solidFill>
                <a:round/>
                <a:headEnd/>
                <a:tailEnd/>
              </a:ln>
            </p:spPr>
            <p:txBody>
              <a:bodyPr wrap="none"/>
              <a:lstStyle/>
              <a:p>
                <a:endParaRPr lang="de-DE"/>
              </a:p>
            </p:txBody>
          </p:sp>
          <p:sp>
            <p:nvSpPr>
              <p:cNvPr id="324" name="Line 239"/>
              <p:cNvSpPr>
                <a:spLocks noChangeShapeType="1"/>
              </p:cNvSpPr>
              <p:nvPr/>
            </p:nvSpPr>
            <p:spPr bwMode="auto">
              <a:xfrm flipH="1">
                <a:off x="4227" y="2201"/>
                <a:ext cx="236" cy="79"/>
              </a:xfrm>
              <a:prstGeom prst="line">
                <a:avLst/>
              </a:prstGeom>
              <a:noFill/>
              <a:ln w="9525">
                <a:solidFill>
                  <a:schemeClr val="bg2"/>
                </a:solidFill>
                <a:round/>
                <a:headEnd/>
                <a:tailEnd/>
              </a:ln>
            </p:spPr>
            <p:txBody>
              <a:bodyPr wrap="none"/>
              <a:lstStyle/>
              <a:p>
                <a:endParaRPr lang="de-DE"/>
              </a:p>
            </p:txBody>
          </p:sp>
          <p:sp>
            <p:nvSpPr>
              <p:cNvPr id="325" name="Line 240"/>
              <p:cNvSpPr>
                <a:spLocks noChangeShapeType="1"/>
              </p:cNvSpPr>
              <p:nvPr/>
            </p:nvSpPr>
            <p:spPr bwMode="auto">
              <a:xfrm>
                <a:off x="4227" y="1497"/>
                <a:ext cx="0" cy="783"/>
              </a:xfrm>
              <a:prstGeom prst="line">
                <a:avLst/>
              </a:prstGeom>
              <a:noFill/>
              <a:ln w="9525">
                <a:solidFill>
                  <a:schemeClr val="bg2"/>
                </a:solidFill>
                <a:round/>
                <a:headEnd/>
                <a:tailEnd/>
              </a:ln>
            </p:spPr>
            <p:txBody>
              <a:bodyPr wrap="none"/>
              <a:lstStyle/>
              <a:p>
                <a:endParaRPr lang="de-DE"/>
              </a:p>
            </p:txBody>
          </p:sp>
          <p:sp>
            <p:nvSpPr>
              <p:cNvPr id="326" name="Line 241"/>
              <p:cNvSpPr>
                <a:spLocks noChangeShapeType="1"/>
              </p:cNvSpPr>
              <p:nvPr/>
            </p:nvSpPr>
            <p:spPr bwMode="auto">
              <a:xfrm flipV="1">
                <a:off x="3992" y="2127"/>
                <a:ext cx="235" cy="78"/>
              </a:xfrm>
              <a:prstGeom prst="line">
                <a:avLst/>
              </a:prstGeom>
              <a:noFill/>
              <a:ln w="9525">
                <a:solidFill>
                  <a:schemeClr val="bg2"/>
                </a:solidFill>
                <a:round/>
                <a:headEnd/>
                <a:tailEnd/>
              </a:ln>
            </p:spPr>
            <p:txBody>
              <a:bodyPr wrap="none"/>
              <a:lstStyle/>
              <a:p>
                <a:endParaRPr lang="de-DE"/>
              </a:p>
            </p:txBody>
          </p:sp>
          <p:sp>
            <p:nvSpPr>
              <p:cNvPr id="327" name="Line 242"/>
              <p:cNvSpPr>
                <a:spLocks noChangeShapeType="1"/>
              </p:cNvSpPr>
              <p:nvPr/>
            </p:nvSpPr>
            <p:spPr bwMode="auto">
              <a:xfrm flipH="1" flipV="1">
                <a:off x="4227" y="2127"/>
                <a:ext cx="236" cy="74"/>
              </a:xfrm>
              <a:prstGeom prst="line">
                <a:avLst/>
              </a:prstGeom>
              <a:noFill/>
              <a:ln w="9525">
                <a:solidFill>
                  <a:schemeClr val="bg2"/>
                </a:solidFill>
                <a:round/>
                <a:headEnd/>
                <a:tailEnd/>
              </a:ln>
            </p:spPr>
            <p:txBody>
              <a:bodyPr wrap="none"/>
              <a:lstStyle/>
              <a:p>
                <a:endParaRPr lang="de-DE"/>
              </a:p>
            </p:txBody>
          </p:sp>
          <p:sp>
            <p:nvSpPr>
              <p:cNvPr id="328" name="Line 243"/>
              <p:cNvSpPr>
                <a:spLocks noChangeShapeType="1"/>
              </p:cNvSpPr>
              <p:nvPr/>
            </p:nvSpPr>
            <p:spPr bwMode="auto">
              <a:xfrm>
                <a:off x="4092" y="1890"/>
                <a:ext cx="135" cy="60"/>
              </a:xfrm>
              <a:prstGeom prst="line">
                <a:avLst/>
              </a:prstGeom>
              <a:noFill/>
              <a:ln w="9525">
                <a:solidFill>
                  <a:schemeClr val="bg2"/>
                </a:solidFill>
                <a:round/>
                <a:headEnd/>
                <a:tailEnd/>
              </a:ln>
            </p:spPr>
            <p:txBody>
              <a:bodyPr wrap="none"/>
              <a:lstStyle/>
              <a:p>
                <a:endParaRPr lang="de-DE"/>
              </a:p>
            </p:txBody>
          </p:sp>
          <p:sp>
            <p:nvSpPr>
              <p:cNvPr id="329" name="Line 244"/>
              <p:cNvSpPr>
                <a:spLocks noChangeShapeType="1"/>
              </p:cNvSpPr>
              <p:nvPr/>
            </p:nvSpPr>
            <p:spPr bwMode="auto">
              <a:xfrm flipV="1">
                <a:off x="4227" y="1890"/>
                <a:ext cx="143" cy="60"/>
              </a:xfrm>
              <a:prstGeom prst="line">
                <a:avLst/>
              </a:prstGeom>
              <a:noFill/>
              <a:ln w="9525">
                <a:solidFill>
                  <a:schemeClr val="bg2"/>
                </a:solidFill>
                <a:round/>
                <a:headEnd/>
                <a:tailEnd/>
              </a:ln>
            </p:spPr>
            <p:txBody>
              <a:bodyPr wrap="none"/>
              <a:lstStyle/>
              <a:p>
                <a:endParaRPr lang="de-DE"/>
              </a:p>
            </p:txBody>
          </p:sp>
          <p:sp>
            <p:nvSpPr>
              <p:cNvPr id="330" name="Line 245"/>
              <p:cNvSpPr>
                <a:spLocks noChangeShapeType="1"/>
              </p:cNvSpPr>
              <p:nvPr/>
            </p:nvSpPr>
            <p:spPr bwMode="auto">
              <a:xfrm>
                <a:off x="4047" y="1996"/>
                <a:ext cx="175" cy="81"/>
              </a:xfrm>
              <a:prstGeom prst="line">
                <a:avLst/>
              </a:prstGeom>
              <a:noFill/>
              <a:ln w="9525">
                <a:solidFill>
                  <a:schemeClr val="bg2"/>
                </a:solidFill>
                <a:round/>
                <a:headEnd/>
                <a:tailEnd/>
              </a:ln>
            </p:spPr>
            <p:txBody>
              <a:bodyPr wrap="none"/>
              <a:lstStyle/>
              <a:p>
                <a:endParaRPr lang="de-DE"/>
              </a:p>
            </p:txBody>
          </p:sp>
          <p:sp>
            <p:nvSpPr>
              <p:cNvPr id="331" name="Line 246"/>
              <p:cNvSpPr>
                <a:spLocks noChangeShapeType="1"/>
              </p:cNvSpPr>
              <p:nvPr/>
            </p:nvSpPr>
            <p:spPr bwMode="auto">
              <a:xfrm flipV="1">
                <a:off x="4227" y="2012"/>
                <a:ext cx="176" cy="71"/>
              </a:xfrm>
              <a:prstGeom prst="line">
                <a:avLst/>
              </a:prstGeom>
              <a:noFill/>
              <a:ln w="9525">
                <a:solidFill>
                  <a:schemeClr val="bg2"/>
                </a:solidFill>
                <a:round/>
                <a:headEnd/>
                <a:tailEnd/>
              </a:ln>
            </p:spPr>
            <p:txBody>
              <a:bodyPr wrap="none"/>
              <a:lstStyle/>
              <a:p>
                <a:endParaRPr lang="de-DE"/>
              </a:p>
            </p:txBody>
          </p:sp>
          <p:sp>
            <p:nvSpPr>
              <p:cNvPr id="332" name="Line 247"/>
              <p:cNvSpPr>
                <a:spLocks noChangeShapeType="1"/>
              </p:cNvSpPr>
              <p:nvPr/>
            </p:nvSpPr>
            <p:spPr bwMode="auto">
              <a:xfrm flipV="1">
                <a:off x="4227" y="1782"/>
                <a:ext cx="90" cy="29"/>
              </a:xfrm>
              <a:prstGeom prst="line">
                <a:avLst/>
              </a:prstGeom>
              <a:noFill/>
              <a:ln w="9525">
                <a:solidFill>
                  <a:schemeClr val="bg2"/>
                </a:solidFill>
                <a:round/>
                <a:headEnd/>
                <a:tailEnd/>
              </a:ln>
            </p:spPr>
            <p:txBody>
              <a:bodyPr wrap="none"/>
              <a:lstStyle/>
              <a:p>
                <a:endParaRPr lang="de-DE"/>
              </a:p>
            </p:txBody>
          </p:sp>
          <p:sp>
            <p:nvSpPr>
              <p:cNvPr id="333" name="Line 248"/>
              <p:cNvSpPr>
                <a:spLocks noChangeShapeType="1"/>
              </p:cNvSpPr>
              <p:nvPr/>
            </p:nvSpPr>
            <p:spPr bwMode="auto">
              <a:xfrm flipV="1">
                <a:off x="4227" y="1632"/>
                <a:ext cx="57" cy="22"/>
              </a:xfrm>
              <a:prstGeom prst="line">
                <a:avLst/>
              </a:prstGeom>
              <a:noFill/>
              <a:ln w="9525">
                <a:solidFill>
                  <a:schemeClr val="bg2"/>
                </a:solidFill>
                <a:round/>
                <a:headEnd/>
                <a:tailEnd/>
              </a:ln>
            </p:spPr>
            <p:txBody>
              <a:bodyPr wrap="none"/>
              <a:lstStyle/>
              <a:p>
                <a:endParaRPr lang="de-DE"/>
              </a:p>
            </p:txBody>
          </p:sp>
          <p:sp>
            <p:nvSpPr>
              <p:cNvPr id="334" name="Line 249"/>
              <p:cNvSpPr>
                <a:spLocks noChangeShapeType="1"/>
              </p:cNvSpPr>
              <p:nvPr/>
            </p:nvSpPr>
            <p:spPr bwMode="auto">
              <a:xfrm>
                <a:off x="4126" y="1772"/>
                <a:ext cx="109" cy="39"/>
              </a:xfrm>
              <a:prstGeom prst="line">
                <a:avLst/>
              </a:prstGeom>
              <a:noFill/>
              <a:ln w="9525">
                <a:solidFill>
                  <a:schemeClr val="bg2"/>
                </a:solidFill>
                <a:round/>
                <a:headEnd/>
                <a:tailEnd/>
              </a:ln>
            </p:spPr>
            <p:txBody>
              <a:bodyPr wrap="none"/>
              <a:lstStyle/>
              <a:p>
                <a:endParaRPr lang="de-DE"/>
              </a:p>
            </p:txBody>
          </p:sp>
          <p:sp>
            <p:nvSpPr>
              <p:cNvPr id="335" name="Line 250"/>
              <p:cNvSpPr>
                <a:spLocks noChangeShapeType="1"/>
              </p:cNvSpPr>
              <p:nvPr/>
            </p:nvSpPr>
            <p:spPr bwMode="auto">
              <a:xfrm>
                <a:off x="4175" y="1625"/>
                <a:ext cx="63" cy="39"/>
              </a:xfrm>
              <a:prstGeom prst="line">
                <a:avLst/>
              </a:prstGeom>
              <a:noFill/>
              <a:ln w="9525">
                <a:solidFill>
                  <a:schemeClr val="bg2"/>
                </a:solidFill>
                <a:round/>
                <a:headEnd/>
                <a:tailEnd/>
              </a:ln>
            </p:spPr>
            <p:txBody>
              <a:bodyPr wrap="none"/>
              <a:lstStyle/>
              <a:p>
                <a:endParaRPr lang="de-DE"/>
              </a:p>
            </p:txBody>
          </p:sp>
          <p:grpSp>
            <p:nvGrpSpPr>
              <p:cNvPr id="336" name="Group 251"/>
              <p:cNvGrpSpPr>
                <a:grpSpLocks/>
              </p:cNvGrpSpPr>
              <p:nvPr/>
            </p:nvGrpSpPr>
            <p:grpSpPr bwMode="auto">
              <a:xfrm>
                <a:off x="6576" y="2085"/>
                <a:ext cx="863" cy="270"/>
                <a:chOff x="4227" y="1360"/>
                <a:chExt cx="863" cy="270"/>
              </a:xfrm>
            </p:grpSpPr>
            <p:sp>
              <p:nvSpPr>
                <p:cNvPr id="347" name="Line 252"/>
                <p:cNvSpPr>
                  <a:spLocks noChangeShapeType="1"/>
                </p:cNvSpPr>
                <p:nvPr/>
              </p:nvSpPr>
              <p:spPr bwMode="auto">
                <a:xfrm>
                  <a:off x="4227" y="1604"/>
                  <a:ext cx="0" cy="0"/>
                </a:xfrm>
                <a:prstGeom prst="line">
                  <a:avLst/>
                </a:prstGeom>
                <a:noFill/>
                <a:ln w="9525">
                  <a:solidFill>
                    <a:schemeClr val="bg2"/>
                  </a:solidFill>
                  <a:round/>
                  <a:headEnd/>
                  <a:tailEnd/>
                </a:ln>
              </p:spPr>
              <p:txBody>
                <a:bodyPr wrap="none"/>
                <a:lstStyle/>
                <a:p>
                  <a:endParaRPr lang="de-DE"/>
                </a:p>
              </p:txBody>
            </p:sp>
            <p:sp>
              <p:nvSpPr>
                <p:cNvPr id="348" name="Line 253"/>
                <p:cNvSpPr>
                  <a:spLocks noChangeShapeType="1"/>
                </p:cNvSpPr>
                <p:nvPr/>
              </p:nvSpPr>
              <p:spPr bwMode="auto">
                <a:xfrm rot="6361956" flipH="1" flipV="1">
                  <a:off x="4464" y="1205"/>
                  <a:ext cx="189" cy="500"/>
                </a:xfrm>
                <a:prstGeom prst="line">
                  <a:avLst/>
                </a:prstGeom>
                <a:noFill/>
                <a:ln w="31750">
                  <a:solidFill>
                    <a:schemeClr val="bg2"/>
                  </a:solidFill>
                  <a:round/>
                  <a:headEnd/>
                  <a:tailEnd/>
                </a:ln>
              </p:spPr>
              <p:txBody>
                <a:bodyPr wrap="none"/>
                <a:lstStyle/>
                <a:p>
                  <a:endParaRPr lang="de-DE"/>
                </a:p>
              </p:txBody>
            </p:sp>
            <p:sp>
              <p:nvSpPr>
                <p:cNvPr id="349" name="Line 254"/>
                <p:cNvSpPr>
                  <a:spLocks noChangeShapeType="1"/>
                </p:cNvSpPr>
                <p:nvPr/>
              </p:nvSpPr>
              <p:spPr bwMode="auto">
                <a:xfrm rot="6361956">
                  <a:off x="4602" y="1393"/>
                  <a:ext cx="189" cy="203"/>
                </a:xfrm>
                <a:prstGeom prst="line">
                  <a:avLst/>
                </a:prstGeom>
                <a:noFill/>
                <a:ln w="31750">
                  <a:solidFill>
                    <a:schemeClr val="bg2"/>
                  </a:solidFill>
                  <a:round/>
                  <a:headEnd/>
                  <a:tailEnd/>
                </a:ln>
              </p:spPr>
              <p:txBody>
                <a:bodyPr wrap="none"/>
                <a:lstStyle/>
                <a:p>
                  <a:endParaRPr lang="de-DE"/>
                </a:p>
              </p:txBody>
            </p:sp>
            <p:sp>
              <p:nvSpPr>
                <p:cNvPr id="350" name="Line 255"/>
                <p:cNvSpPr>
                  <a:spLocks noChangeShapeType="1"/>
                </p:cNvSpPr>
                <p:nvPr/>
              </p:nvSpPr>
              <p:spPr bwMode="auto">
                <a:xfrm rot="6361956" flipH="1" flipV="1">
                  <a:off x="4745" y="1286"/>
                  <a:ext cx="189" cy="500"/>
                </a:xfrm>
                <a:prstGeom prst="line">
                  <a:avLst/>
                </a:prstGeom>
                <a:noFill/>
                <a:ln w="31750">
                  <a:solidFill>
                    <a:schemeClr val="bg2"/>
                  </a:solidFill>
                  <a:round/>
                  <a:headEnd/>
                  <a:tailEnd/>
                </a:ln>
              </p:spPr>
              <p:txBody>
                <a:bodyPr wrap="none"/>
                <a:lstStyle/>
                <a:p>
                  <a:endParaRPr lang="de-DE"/>
                </a:p>
              </p:txBody>
            </p:sp>
          </p:grpSp>
          <p:grpSp>
            <p:nvGrpSpPr>
              <p:cNvPr id="337" name="Group 256"/>
              <p:cNvGrpSpPr>
                <a:grpSpLocks/>
              </p:cNvGrpSpPr>
              <p:nvPr/>
            </p:nvGrpSpPr>
            <p:grpSpPr bwMode="auto">
              <a:xfrm rot="5700496">
                <a:off x="2862" y="3574"/>
                <a:ext cx="863" cy="270"/>
                <a:chOff x="4227" y="1360"/>
                <a:chExt cx="863" cy="270"/>
              </a:xfrm>
            </p:grpSpPr>
            <p:sp>
              <p:nvSpPr>
                <p:cNvPr id="343" name="Line 257"/>
                <p:cNvSpPr>
                  <a:spLocks noChangeShapeType="1"/>
                </p:cNvSpPr>
                <p:nvPr/>
              </p:nvSpPr>
              <p:spPr bwMode="auto">
                <a:xfrm>
                  <a:off x="4227" y="1604"/>
                  <a:ext cx="0" cy="0"/>
                </a:xfrm>
                <a:prstGeom prst="line">
                  <a:avLst/>
                </a:prstGeom>
                <a:noFill/>
                <a:ln w="9525">
                  <a:solidFill>
                    <a:schemeClr val="bg2"/>
                  </a:solidFill>
                  <a:round/>
                  <a:headEnd/>
                  <a:tailEnd/>
                </a:ln>
              </p:spPr>
              <p:txBody>
                <a:bodyPr wrap="none"/>
                <a:lstStyle/>
                <a:p>
                  <a:endParaRPr lang="de-DE"/>
                </a:p>
              </p:txBody>
            </p:sp>
            <p:sp>
              <p:nvSpPr>
                <p:cNvPr id="344" name="Line 258"/>
                <p:cNvSpPr>
                  <a:spLocks noChangeShapeType="1"/>
                </p:cNvSpPr>
                <p:nvPr/>
              </p:nvSpPr>
              <p:spPr bwMode="auto">
                <a:xfrm rot="6361956" flipH="1" flipV="1">
                  <a:off x="4464" y="1205"/>
                  <a:ext cx="189" cy="500"/>
                </a:xfrm>
                <a:prstGeom prst="line">
                  <a:avLst/>
                </a:prstGeom>
                <a:noFill/>
                <a:ln w="31750">
                  <a:solidFill>
                    <a:schemeClr val="bg2"/>
                  </a:solidFill>
                  <a:round/>
                  <a:headEnd/>
                  <a:tailEnd/>
                </a:ln>
              </p:spPr>
              <p:txBody>
                <a:bodyPr wrap="none"/>
                <a:lstStyle/>
                <a:p>
                  <a:endParaRPr lang="de-DE"/>
                </a:p>
              </p:txBody>
            </p:sp>
            <p:sp>
              <p:nvSpPr>
                <p:cNvPr id="345" name="Line 259"/>
                <p:cNvSpPr>
                  <a:spLocks noChangeShapeType="1"/>
                </p:cNvSpPr>
                <p:nvPr/>
              </p:nvSpPr>
              <p:spPr bwMode="auto">
                <a:xfrm rot="6361956">
                  <a:off x="4602" y="1393"/>
                  <a:ext cx="189" cy="203"/>
                </a:xfrm>
                <a:prstGeom prst="line">
                  <a:avLst/>
                </a:prstGeom>
                <a:noFill/>
                <a:ln w="31750">
                  <a:solidFill>
                    <a:schemeClr val="bg2"/>
                  </a:solidFill>
                  <a:round/>
                  <a:headEnd/>
                  <a:tailEnd/>
                </a:ln>
              </p:spPr>
              <p:txBody>
                <a:bodyPr wrap="none"/>
                <a:lstStyle/>
                <a:p>
                  <a:endParaRPr lang="de-DE"/>
                </a:p>
              </p:txBody>
            </p:sp>
            <p:sp>
              <p:nvSpPr>
                <p:cNvPr id="346" name="Line 260"/>
                <p:cNvSpPr>
                  <a:spLocks noChangeShapeType="1"/>
                </p:cNvSpPr>
                <p:nvPr/>
              </p:nvSpPr>
              <p:spPr bwMode="auto">
                <a:xfrm rot="6361956" flipH="1" flipV="1">
                  <a:off x="4745" y="1286"/>
                  <a:ext cx="189" cy="500"/>
                </a:xfrm>
                <a:prstGeom prst="line">
                  <a:avLst/>
                </a:prstGeom>
                <a:noFill/>
                <a:ln w="31750">
                  <a:solidFill>
                    <a:schemeClr val="bg2"/>
                  </a:solidFill>
                  <a:round/>
                  <a:headEnd/>
                  <a:tailEnd/>
                </a:ln>
              </p:spPr>
              <p:txBody>
                <a:bodyPr wrap="none"/>
                <a:lstStyle/>
                <a:p>
                  <a:endParaRPr lang="de-DE"/>
                </a:p>
              </p:txBody>
            </p:sp>
          </p:grpSp>
          <p:sp>
            <p:nvSpPr>
              <p:cNvPr id="339" name="Line 262"/>
              <p:cNvSpPr>
                <a:spLocks noChangeShapeType="1"/>
              </p:cNvSpPr>
              <p:nvPr/>
            </p:nvSpPr>
            <p:spPr bwMode="auto">
              <a:xfrm rot="10800000">
                <a:off x="1881" y="625"/>
                <a:ext cx="0" cy="0"/>
              </a:xfrm>
              <a:prstGeom prst="line">
                <a:avLst/>
              </a:prstGeom>
              <a:noFill/>
              <a:ln w="9525">
                <a:solidFill>
                  <a:schemeClr val="bg2"/>
                </a:solidFill>
                <a:round/>
                <a:headEnd/>
                <a:tailEnd/>
              </a:ln>
            </p:spPr>
            <p:txBody>
              <a:bodyPr wrap="none"/>
              <a:lstStyle/>
              <a:p>
                <a:endParaRPr lang="de-DE"/>
              </a:p>
            </p:txBody>
          </p:sp>
        </p:grpSp>
        <p:sp>
          <p:nvSpPr>
            <p:cNvPr id="11" name="Oval 275"/>
            <p:cNvSpPr>
              <a:spLocks noChangeArrowheads="1"/>
            </p:cNvSpPr>
            <p:nvPr/>
          </p:nvSpPr>
          <p:spPr bwMode="auto">
            <a:xfrm>
              <a:off x="7344916" y="37137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12" name="Line 276"/>
            <p:cNvSpPr>
              <a:spLocks noChangeShapeType="1"/>
            </p:cNvSpPr>
            <p:nvPr/>
          </p:nvSpPr>
          <p:spPr bwMode="auto">
            <a:xfrm>
              <a:off x="7344916" y="3705820"/>
              <a:ext cx="0" cy="58738"/>
            </a:xfrm>
            <a:prstGeom prst="line">
              <a:avLst/>
            </a:prstGeom>
            <a:noFill/>
            <a:ln w="12700">
              <a:solidFill>
                <a:schemeClr val="folHlink"/>
              </a:solidFill>
              <a:round/>
              <a:headEnd/>
              <a:tailEnd/>
            </a:ln>
          </p:spPr>
          <p:txBody>
            <a:bodyPr wrap="none" anchor="ctr"/>
            <a:lstStyle/>
            <a:p>
              <a:endParaRPr lang="de-DE"/>
            </a:p>
          </p:txBody>
        </p:sp>
        <p:sp>
          <p:nvSpPr>
            <p:cNvPr id="13" name="Line 277"/>
            <p:cNvSpPr>
              <a:spLocks noChangeShapeType="1"/>
            </p:cNvSpPr>
            <p:nvPr/>
          </p:nvSpPr>
          <p:spPr bwMode="auto">
            <a:xfrm>
              <a:off x="7703691" y="3705820"/>
              <a:ext cx="0" cy="58738"/>
            </a:xfrm>
            <a:prstGeom prst="line">
              <a:avLst/>
            </a:prstGeom>
            <a:noFill/>
            <a:ln w="12700">
              <a:solidFill>
                <a:schemeClr val="folHlink"/>
              </a:solidFill>
              <a:round/>
              <a:headEnd/>
              <a:tailEnd/>
            </a:ln>
          </p:spPr>
          <p:txBody>
            <a:bodyPr wrap="none" anchor="ctr"/>
            <a:lstStyle/>
            <a:p>
              <a:endParaRPr lang="de-DE"/>
            </a:p>
          </p:txBody>
        </p:sp>
        <p:sp>
          <p:nvSpPr>
            <p:cNvPr id="14" name="Rectangle 278"/>
            <p:cNvSpPr>
              <a:spLocks noChangeArrowheads="1"/>
            </p:cNvSpPr>
            <p:nvPr/>
          </p:nvSpPr>
          <p:spPr bwMode="auto">
            <a:xfrm>
              <a:off x="7344916" y="37058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15" name="Oval 279"/>
            <p:cNvSpPr>
              <a:spLocks noChangeArrowheads="1"/>
            </p:cNvSpPr>
            <p:nvPr/>
          </p:nvSpPr>
          <p:spPr bwMode="auto">
            <a:xfrm>
              <a:off x="7341741" y="36375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16" name="Group 280"/>
            <p:cNvGrpSpPr>
              <a:grpSpLocks/>
            </p:cNvGrpSpPr>
            <p:nvPr/>
          </p:nvGrpSpPr>
          <p:grpSpPr bwMode="auto">
            <a:xfrm>
              <a:off x="7427466" y="3661232"/>
              <a:ext cx="179388" cy="65072"/>
              <a:chOff x="2848" y="848"/>
              <a:chExt cx="140" cy="98"/>
            </a:xfrm>
          </p:grpSpPr>
          <p:sp>
            <p:nvSpPr>
              <p:cNvPr id="318" name="Line 281"/>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19" name="Line 282"/>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20" name="Line 283"/>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17" name="Group 284"/>
            <p:cNvGrpSpPr>
              <a:grpSpLocks/>
            </p:cNvGrpSpPr>
            <p:nvPr/>
          </p:nvGrpSpPr>
          <p:grpSpPr bwMode="auto">
            <a:xfrm flipV="1">
              <a:off x="7427466" y="3661524"/>
              <a:ext cx="179388" cy="65072"/>
              <a:chOff x="2848" y="848"/>
              <a:chExt cx="140" cy="98"/>
            </a:xfrm>
          </p:grpSpPr>
          <p:sp>
            <p:nvSpPr>
              <p:cNvPr id="315" name="Line 285"/>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16" name="Line 286"/>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17" name="Line 287"/>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18" name="Oval 289"/>
            <p:cNvSpPr>
              <a:spLocks noChangeArrowheads="1"/>
            </p:cNvSpPr>
            <p:nvPr/>
          </p:nvSpPr>
          <p:spPr bwMode="auto">
            <a:xfrm>
              <a:off x="7700516" y="39931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19" name="Line 290"/>
            <p:cNvSpPr>
              <a:spLocks noChangeShapeType="1"/>
            </p:cNvSpPr>
            <p:nvPr/>
          </p:nvSpPr>
          <p:spPr bwMode="auto">
            <a:xfrm>
              <a:off x="7700516" y="3985220"/>
              <a:ext cx="0" cy="58738"/>
            </a:xfrm>
            <a:prstGeom prst="line">
              <a:avLst/>
            </a:prstGeom>
            <a:noFill/>
            <a:ln w="12700">
              <a:solidFill>
                <a:schemeClr val="folHlink"/>
              </a:solidFill>
              <a:round/>
              <a:headEnd/>
              <a:tailEnd/>
            </a:ln>
          </p:spPr>
          <p:txBody>
            <a:bodyPr wrap="none" anchor="ctr"/>
            <a:lstStyle/>
            <a:p>
              <a:endParaRPr lang="de-DE"/>
            </a:p>
          </p:txBody>
        </p:sp>
        <p:sp>
          <p:nvSpPr>
            <p:cNvPr id="20" name="Line 291"/>
            <p:cNvSpPr>
              <a:spLocks noChangeShapeType="1"/>
            </p:cNvSpPr>
            <p:nvPr/>
          </p:nvSpPr>
          <p:spPr bwMode="auto">
            <a:xfrm>
              <a:off x="8059291" y="3985220"/>
              <a:ext cx="0" cy="58738"/>
            </a:xfrm>
            <a:prstGeom prst="line">
              <a:avLst/>
            </a:prstGeom>
            <a:noFill/>
            <a:ln w="12700">
              <a:solidFill>
                <a:schemeClr val="folHlink"/>
              </a:solidFill>
              <a:round/>
              <a:headEnd/>
              <a:tailEnd/>
            </a:ln>
          </p:spPr>
          <p:txBody>
            <a:bodyPr wrap="none" anchor="ctr"/>
            <a:lstStyle/>
            <a:p>
              <a:endParaRPr lang="de-DE"/>
            </a:p>
          </p:txBody>
        </p:sp>
        <p:sp>
          <p:nvSpPr>
            <p:cNvPr id="21" name="Rectangle 292"/>
            <p:cNvSpPr>
              <a:spLocks noChangeArrowheads="1"/>
            </p:cNvSpPr>
            <p:nvPr/>
          </p:nvSpPr>
          <p:spPr bwMode="auto">
            <a:xfrm>
              <a:off x="7700516" y="39852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22" name="Oval 293"/>
            <p:cNvSpPr>
              <a:spLocks noChangeArrowheads="1"/>
            </p:cNvSpPr>
            <p:nvPr/>
          </p:nvSpPr>
          <p:spPr bwMode="auto">
            <a:xfrm>
              <a:off x="7697341" y="39169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23" name="Group 294"/>
            <p:cNvGrpSpPr>
              <a:grpSpLocks/>
            </p:cNvGrpSpPr>
            <p:nvPr/>
          </p:nvGrpSpPr>
          <p:grpSpPr bwMode="auto">
            <a:xfrm>
              <a:off x="7783066" y="3940632"/>
              <a:ext cx="179388" cy="65072"/>
              <a:chOff x="2848" y="848"/>
              <a:chExt cx="140" cy="98"/>
            </a:xfrm>
          </p:grpSpPr>
          <p:sp>
            <p:nvSpPr>
              <p:cNvPr id="312" name="Line 295"/>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13" name="Line 296"/>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14" name="Line 297"/>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24" name="Group 298"/>
            <p:cNvGrpSpPr>
              <a:grpSpLocks/>
            </p:cNvGrpSpPr>
            <p:nvPr/>
          </p:nvGrpSpPr>
          <p:grpSpPr bwMode="auto">
            <a:xfrm flipV="1">
              <a:off x="7783066" y="3940924"/>
              <a:ext cx="179388" cy="65072"/>
              <a:chOff x="2848" y="848"/>
              <a:chExt cx="140" cy="98"/>
            </a:xfrm>
          </p:grpSpPr>
          <p:sp>
            <p:nvSpPr>
              <p:cNvPr id="309" name="Line 29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10" name="Line 30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11" name="Line 30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25" name="Oval 303"/>
            <p:cNvSpPr>
              <a:spLocks noChangeArrowheads="1"/>
            </p:cNvSpPr>
            <p:nvPr/>
          </p:nvSpPr>
          <p:spPr bwMode="auto">
            <a:xfrm>
              <a:off x="7979916" y="37264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26" name="Line 304"/>
            <p:cNvSpPr>
              <a:spLocks noChangeShapeType="1"/>
            </p:cNvSpPr>
            <p:nvPr/>
          </p:nvSpPr>
          <p:spPr bwMode="auto">
            <a:xfrm>
              <a:off x="7979916" y="3718520"/>
              <a:ext cx="0" cy="58738"/>
            </a:xfrm>
            <a:prstGeom prst="line">
              <a:avLst/>
            </a:prstGeom>
            <a:noFill/>
            <a:ln w="12700">
              <a:solidFill>
                <a:schemeClr val="folHlink"/>
              </a:solidFill>
              <a:round/>
              <a:headEnd/>
              <a:tailEnd/>
            </a:ln>
          </p:spPr>
          <p:txBody>
            <a:bodyPr wrap="none" anchor="ctr"/>
            <a:lstStyle/>
            <a:p>
              <a:endParaRPr lang="de-DE"/>
            </a:p>
          </p:txBody>
        </p:sp>
        <p:sp>
          <p:nvSpPr>
            <p:cNvPr id="27" name="Line 305"/>
            <p:cNvSpPr>
              <a:spLocks noChangeShapeType="1"/>
            </p:cNvSpPr>
            <p:nvPr/>
          </p:nvSpPr>
          <p:spPr bwMode="auto">
            <a:xfrm>
              <a:off x="8338691" y="3718520"/>
              <a:ext cx="0" cy="58738"/>
            </a:xfrm>
            <a:prstGeom prst="line">
              <a:avLst/>
            </a:prstGeom>
            <a:noFill/>
            <a:ln w="12700">
              <a:solidFill>
                <a:schemeClr val="folHlink"/>
              </a:solidFill>
              <a:round/>
              <a:headEnd/>
              <a:tailEnd/>
            </a:ln>
          </p:spPr>
          <p:txBody>
            <a:bodyPr wrap="none" anchor="ctr"/>
            <a:lstStyle/>
            <a:p>
              <a:endParaRPr lang="de-DE"/>
            </a:p>
          </p:txBody>
        </p:sp>
        <p:sp>
          <p:nvSpPr>
            <p:cNvPr id="28" name="Rectangle 306"/>
            <p:cNvSpPr>
              <a:spLocks noChangeArrowheads="1"/>
            </p:cNvSpPr>
            <p:nvPr/>
          </p:nvSpPr>
          <p:spPr bwMode="auto">
            <a:xfrm>
              <a:off x="7979916" y="37185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29" name="Oval 307"/>
            <p:cNvSpPr>
              <a:spLocks noChangeArrowheads="1"/>
            </p:cNvSpPr>
            <p:nvPr/>
          </p:nvSpPr>
          <p:spPr bwMode="auto">
            <a:xfrm>
              <a:off x="7976741" y="36502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30" name="Group 308"/>
            <p:cNvGrpSpPr>
              <a:grpSpLocks/>
            </p:cNvGrpSpPr>
            <p:nvPr/>
          </p:nvGrpSpPr>
          <p:grpSpPr bwMode="auto">
            <a:xfrm>
              <a:off x="8062466" y="3673932"/>
              <a:ext cx="179388" cy="65072"/>
              <a:chOff x="2848" y="848"/>
              <a:chExt cx="140" cy="98"/>
            </a:xfrm>
          </p:grpSpPr>
          <p:sp>
            <p:nvSpPr>
              <p:cNvPr id="306" name="Line 30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07" name="Line 31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08" name="Line 31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31" name="Group 312"/>
            <p:cNvGrpSpPr>
              <a:grpSpLocks/>
            </p:cNvGrpSpPr>
            <p:nvPr/>
          </p:nvGrpSpPr>
          <p:grpSpPr bwMode="auto">
            <a:xfrm flipV="1">
              <a:off x="8062466" y="3674224"/>
              <a:ext cx="179388" cy="65072"/>
              <a:chOff x="2848" y="848"/>
              <a:chExt cx="140" cy="98"/>
            </a:xfrm>
          </p:grpSpPr>
          <p:sp>
            <p:nvSpPr>
              <p:cNvPr id="303" name="Line 31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04" name="Line 31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05" name="Line 31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32" name="Oval 317"/>
            <p:cNvSpPr>
              <a:spLocks noChangeArrowheads="1"/>
            </p:cNvSpPr>
            <p:nvPr/>
          </p:nvSpPr>
          <p:spPr bwMode="auto">
            <a:xfrm>
              <a:off x="7444929" y="2564408"/>
              <a:ext cx="347662" cy="8890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33" name="Line 318"/>
            <p:cNvSpPr>
              <a:spLocks noChangeShapeType="1"/>
            </p:cNvSpPr>
            <p:nvPr/>
          </p:nvSpPr>
          <p:spPr bwMode="auto">
            <a:xfrm>
              <a:off x="7444929" y="2556470"/>
              <a:ext cx="0" cy="55563"/>
            </a:xfrm>
            <a:prstGeom prst="line">
              <a:avLst/>
            </a:prstGeom>
            <a:noFill/>
            <a:ln w="12700">
              <a:solidFill>
                <a:schemeClr val="folHlink"/>
              </a:solidFill>
              <a:round/>
              <a:headEnd/>
              <a:tailEnd/>
            </a:ln>
          </p:spPr>
          <p:txBody>
            <a:bodyPr wrap="none" anchor="ctr"/>
            <a:lstStyle/>
            <a:p>
              <a:endParaRPr lang="de-DE"/>
            </a:p>
          </p:txBody>
        </p:sp>
        <p:sp>
          <p:nvSpPr>
            <p:cNvPr id="34" name="Line 319"/>
            <p:cNvSpPr>
              <a:spLocks noChangeShapeType="1"/>
            </p:cNvSpPr>
            <p:nvPr/>
          </p:nvSpPr>
          <p:spPr bwMode="auto">
            <a:xfrm>
              <a:off x="7792591" y="2556470"/>
              <a:ext cx="0" cy="55563"/>
            </a:xfrm>
            <a:prstGeom prst="line">
              <a:avLst/>
            </a:prstGeom>
            <a:noFill/>
            <a:ln w="12700">
              <a:solidFill>
                <a:schemeClr val="folHlink"/>
              </a:solidFill>
              <a:round/>
              <a:headEnd/>
              <a:tailEnd/>
            </a:ln>
          </p:spPr>
          <p:txBody>
            <a:bodyPr wrap="none" anchor="ctr"/>
            <a:lstStyle/>
            <a:p>
              <a:endParaRPr lang="de-DE"/>
            </a:p>
          </p:txBody>
        </p:sp>
        <p:sp>
          <p:nvSpPr>
            <p:cNvPr id="35" name="Rectangle 320"/>
            <p:cNvSpPr>
              <a:spLocks noChangeArrowheads="1"/>
            </p:cNvSpPr>
            <p:nvPr/>
          </p:nvSpPr>
          <p:spPr bwMode="auto">
            <a:xfrm>
              <a:off x="7444929" y="2556470"/>
              <a:ext cx="344487" cy="53975"/>
            </a:xfrm>
            <a:prstGeom prst="rect">
              <a:avLst/>
            </a:prstGeom>
            <a:solidFill>
              <a:srgbClr val="DDDDDD"/>
            </a:solidFill>
            <a:ln w="12700">
              <a:noFill/>
              <a:miter lim="800000"/>
              <a:headEnd/>
              <a:tailEnd/>
            </a:ln>
          </p:spPr>
          <p:txBody>
            <a:bodyPr wrap="none" anchor="ctr"/>
            <a:lstStyle/>
            <a:p>
              <a:pPr algn="ctr"/>
              <a:endParaRPr lang="de-DE"/>
            </a:p>
          </p:txBody>
        </p:sp>
        <p:sp>
          <p:nvSpPr>
            <p:cNvPr id="36" name="Oval 321"/>
            <p:cNvSpPr>
              <a:spLocks noChangeArrowheads="1"/>
            </p:cNvSpPr>
            <p:nvPr/>
          </p:nvSpPr>
          <p:spPr bwMode="auto">
            <a:xfrm>
              <a:off x="7441754" y="2492970"/>
              <a:ext cx="347662" cy="103188"/>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37" name="Group 322"/>
            <p:cNvGrpSpPr>
              <a:grpSpLocks/>
            </p:cNvGrpSpPr>
            <p:nvPr/>
          </p:nvGrpSpPr>
          <p:grpSpPr bwMode="auto">
            <a:xfrm>
              <a:off x="7525891" y="2515394"/>
              <a:ext cx="171450" cy="61936"/>
              <a:chOff x="2848" y="848"/>
              <a:chExt cx="140" cy="98"/>
            </a:xfrm>
          </p:grpSpPr>
          <p:sp>
            <p:nvSpPr>
              <p:cNvPr id="300" name="Line 32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01" name="Line 32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02" name="Line 32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38" name="Group 326"/>
            <p:cNvGrpSpPr>
              <a:grpSpLocks/>
            </p:cNvGrpSpPr>
            <p:nvPr/>
          </p:nvGrpSpPr>
          <p:grpSpPr bwMode="auto">
            <a:xfrm flipV="1">
              <a:off x="7525891" y="2515253"/>
              <a:ext cx="171450" cy="60319"/>
              <a:chOff x="2848" y="848"/>
              <a:chExt cx="140" cy="98"/>
            </a:xfrm>
          </p:grpSpPr>
          <p:sp>
            <p:nvSpPr>
              <p:cNvPr id="297" name="Line 32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98" name="Line 32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99" name="Line 32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39" name="Oval 331"/>
            <p:cNvSpPr>
              <a:spLocks noChangeArrowheads="1"/>
            </p:cNvSpPr>
            <p:nvPr/>
          </p:nvSpPr>
          <p:spPr bwMode="auto">
            <a:xfrm>
              <a:off x="7443341" y="28247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40" name="Line 332"/>
            <p:cNvSpPr>
              <a:spLocks noChangeShapeType="1"/>
            </p:cNvSpPr>
            <p:nvPr/>
          </p:nvSpPr>
          <p:spPr bwMode="auto">
            <a:xfrm>
              <a:off x="7443341" y="2816820"/>
              <a:ext cx="0" cy="58738"/>
            </a:xfrm>
            <a:prstGeom prst="line">
              <a:avLst/>
            </a:prstGeom>
            <a:noFill/>
            <a:ln w="12700">
              <a:solidFill>
                <a:schemeClr val="folHlink"/>
              </a:solidFill>
              <a:round/>
              <a:headEnd/>
              <a:tailEnd/>
            </a:ln>
          </p:spPr>
          <p:txBody>
            <a:bodyPr wrap="none" anchor="ctr"/>
            <a:lstStyle/>
            <a:p>
              <a:endParaRPr lang="de-DE"/>
            </a:p>
          </p:txBody>
        </p:sp>
        <p:sp>
          <p:nvSpPr>
            <p:cNvPr id="41" name="Line 333"/>
            <p:cNvSpPr>
              <a:spLocks noChangeShapeType="1"/>
            </p:cNvSpPr>
            <p:nvPr/>
          </p:nvSpPr>
          <p:spPr bwMode="auto">
            <a:xfrm>
              <a:off x="7802116" y="2816820"/>
              <a:ext cx="0" cy="58738"/>
            </a:xfrm>
            <a:prstGeom prst="line">
              <a:avLst/>
            </a:prstGeom>
            <a:noFill/>
            <a:ln w="12700">
              <a:solidFill>
                <a:schemeClr val="folHlink"/>
              </a:solidFill>
              <a:round/>
              <a:headEnd/>
              <a:tailEnd/>
            </a:ln>
          </p:spPr>
          <p:txBody>
            <a:bodyPr wrap="none" anchor="ctr"/>
            <a:lstStyle/>
            <a:p>
              <a:endParaRPr lang="de-DE"/>
            </a:p>
          </p:txBody>
        </p:sp>
        <p:sp>
          <p:nvSpPr>
            <p:cNvPr id="42" name="Rectangle 334"/>
            <p:cNvSpPr>
              <a:spLocks noChangeArrowheads="1"/>
            </p:cNvSpPr>
            <p:nvPr/>
          </p:nvSpPr>
          <p:spPr bwMode="auto">
            <a:xfrm>
              <a:off x="7443341" y="28168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43" name="Oval 335"/>
            <p:cNvSpPr>
              <a:spLocks noChangeArrowheads="1"/>
            </p:cNvSpPr>
            <p:nvPr/>
          </p:nvSpPr>
          <p:spPr bwMode="auto">
            <a:xfrm>
              <a:off x="7440166" y="27485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44" name="Group 336"/>
            <p:cNvGrpSpPr>
              <a:grpSpLocks/>
            </p:cNvGrpSpPr>
            <p:nvPr/>
          </p:nvGrpSpPr>
          <p:grpSpPr bwMode="auto">
            <a:xfrm>
              <a:off x="7525891" y="2772232"/>
              <a:ext cx="179388" cy="65072"/>
              <a:chOff x="2848" y="848"/>
              <a:chExt cx="140" cy="98"/>
            </a:xfrm>
          </p:grpSpPr>
          <p:sp>
            <p:nvSpPr>
              <p:cNvPr id="294" name="Line 33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95" name="Line 33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96" name="Line 33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45" name="Group 340"/>
            <p:cNvGrpSpPr>
              <a:grpSpLocks/>
            </p:cNvGrpSpPr>
            <p:nvPr/>
          </p:nvGrpSpPr>
          <p:grpSpPr bwMode="auto">
            <a:xfrm flipV="1">
              <a:off x="7525891" y="2772524"/>
              <a:ext cx="179388" cy="65072"/>
              <a:chOff x="2848" y="848"/>
              <a:chExt cx="140" cy="98"/>
            </a:xfrm>
          </p:grpSpPr>
          <p:sp>
            <p:nvSpPr>
              <p:cNvPr id="291" name="Line 341"/>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92" name="Line 342"/>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93" name="Line 343"/>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46" name="Oval 345"/>
            <p:cNvSpPr>
              <a:spLocks noChangeArrowheads="1"/>
            </p:cNvSpPr>
            <p:nvPr/>
          </p:nvSpPr>
          <p:spPr bwMode="auto">
            <a:xfrm>
              <a:off x="7919591" y="2465983"/>
              <a:ext cx="330200" cy="85725"/>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47" name="Line 346"/>
            <p:cNvSpPr>
              <a:spLocks noChangeShapeType="1"/>
            </p:cNvSpPr>
            <p:nvPr/>
          </p:nvSpPr>
          <p:spPr bwMode="auto">
            <a:xfrm>
              <a:off x="7919591" y="2459633"/>
              <a:ext cx="0" cy="52387"/>
            </a:xfrm>
            <a:prstGeom prst="line">
              <a:avLst/>
            </a:prstGeom>
            <a:noFill/>
            <a:ln w="12700">
              <a:solidFill>
                <a:schemeClr val="folHlink"/>
              </a:solidFill>
              <a:round/>
              <a:headEnd/>
              <a:tailEnd/>
            </a:ln>
          </p:spPr>
          <p:txBody>
            <a:bodyPr wrap="none" anchor="ctr"/>
            <a:lstStyle/>
            <a:p>
              <a:endParaRPr lang="de-DE"/>
            </a:p>
          </p:txBody>
        </p:sp>
        <p:sp>
          <p:nvSpPr>
            <p:cNvPr id="48" name="Line 347"/>
            <p:cNvSpPr>
              <a:spLocks noChangeShapeType="1"/>
            </p:cNvSpPr>
            <p:nvPr/>
          </p:nvSpPr>
          <p:spPr bwMode="auto">
            <a:xfrm>
              <a:off x="8249791" y="2459633"/>
              <a:ext cx="0" cy="52387"/>
            </a:xfrm>
            <a:prstGeom prst="line">
              <a:avLst/>
            </a:prstGeom>
            <a:noFill/>
            <a:ln w="12700">
              <a:solidFill>
                <a:schemeClr val="folHlink"/>
              </a:solidFill>
              <a:round/>
              <a:headEnd/>
              <a:tailEnd/>
            </a:ln>
          </p:spPr>
          <p:txBody>
            <a:bodyPr wrap="none" anchor="ctr"/>
            <a:lstStyle/>
            <a:p>
              <a:endParaRPr lang="de-DE"/>
            </a:p>
          </p:txBody>
        </p:sp>
        <p:sp>
          <p:nvSpPr>
            <p:cNvPr id="49" name="Rectangle 348"/>
            <p:cNvSpPr>
              <a:spLocks noChangeArrowheads="1"/>
            </p:cNvSpPr>
            <p:nvPr/>
          </p:nvSpPr>
          <p:spPr bwMode="auto">
            <a:xfrm>
              <a:off x="7919591" y="2459633"/>
              <a:ext cx="327025" cy="52387"/>
            </a:xfrm>
            <a:prstGeom prst="rect">
              <a:avLst/>
            </a:prstGeom>
            <a:solidFill>
              <a:srgbClr val="DDDDDD"/>
            </a:solidFill>
            <a:ln w="12700">
              <a:noFill/>
              <a:miter lim="800000"/>
              <a:headEnd/>
              <a:tailEnd/>
            </a:ln>
          </p:spPr>
          <p:txBody>
            <a:bodyPr wrap="none" anchor="ctr"/>
            <a:lstStyle/>
            <a:p>
              <a:pPr algn="ctr"/>
              <a:endParaRPr lang="de-DE">
                <a:solidFill>
                  <a:schemeClr val="bg2"/>
                </a:solidFill>
              </a:endParaRPr>
            </a:p>
          </p:txBody>
        </p:sp>
        <p:sp>
          <p:nvSpPr>
            <p:cNvPr id="50" name="Oval 349"/>
            <p:cNvSpPr>
              <a:spLocks noChangeArrowheads="1"/>
            </p:cNvSpPr>
            <p:nvPr/>
          </p:nvSpPr>
          <p:spPr bwMode="auto">
            <a:xfrm>
              <a:off x="7916416" y="2397720"/>
              <a:ext cx="330200" cy="100013"/>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51" name="Group 350"/>
            <p:cNvGrpSpPr>
              <a:grpSpLocks/>
            </p:cNvGrpSpPr>
            <p:nvPr/>
          </p:nvGrpSpPr>
          <p:grpSpPr bwMode="auto">
            <a:xfrm>
              <a:off x="7995811" y="2419807"/>
              <a:ext cx="163514" cy="57134"/>
              <a:chOff x="2848" y="848"/>
              <a:chExt cx="140" cy="98"/>
            </a:xfrm>
          </p:grpSpPr>
          <p:sp>
            <p:nvSpPr>
              <p:cNvPr id="288" name="Line 351"/>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89" name="Line 352"/>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90" name="Line 353"/>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52" name="Group 354"/>
            <p:cNvGrpSpPr>
              <a:grpSpLocks/>
            </p:cNvGrpSpPr>
            <p:nvPr/>
          </p:nvGrpSpPr>
          <p:grpSpPr bwMode="auto">
            <a:xfrm flipV="1">
              <a:off x="7995811" y="2418223"/>
              <a:ext cx="163514" cy="58751"/>
              <a:chOff x="2848" y="848"/>
              <a:chExt cx="140" cy="98"/>
            </a:xfrm>
          </p:grpSpPr>
          <p:sp>
            <p:nvSpPr>
              <p:cNvPr id="285" name="Line 355"/>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86" name="Line 356"/>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87" name="Line 357"/>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53" name="Oval 359"/>
            <p:cNvSpPr>
              <a:spLocks noChangeArrowheads="1"/>
            </p:cNvSpPr>
            <p:nvPr/>
          </p:nvSpPr>
          <p:spPr bwMode="auto">
            <a:xfrm>
              <a:off x="8005316" y="28247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54" name="Line 360"/>
            <p:cNvSpPr>
              <a:spLocks noChangeShapeType="1"/>
            </p:cNvSpPr>
            <p:nvPr/>
          </p:nvSpPr>
          <p:spPr bwMode="auto">
            <a:xfrm>
              <a:off x="8005316" y="2816820"/>
              <a:ext cx="0" cy="58738"/>
            </a:xfrm>
            <a:prstGeom prst="line">
              <a:avLst/>
            </a:prstGeom>
            <a:noFill/>
            <a:ln w="12700">
              <a:solidFill>
                <a:schemeClr val="folHlink"/>
              </a:solidFill>
              <a:round/>
              <a:headEnd/>
              <a:tailEnd/>
            </a:ln>
          </p:spPr>
          <p:txBody>
            <a:bodyPr wrap="none" anchor="ctr"/>
            <a:lstStyle/>
            <a:p>
              <a:endParaRPr lang="de-DE"/>
            </a:p>
          </p:txBody>
        </p:sp>
        <p:sp>
          <p:nvSpPr>
            <p:cNvPr id="55" name="Line 361"/>
            <p:cNvSpPr>
              <a:spLocks noChangeShapeType="1"/>
            </p:cNvSpPr>
            <p:nvPr/>
          </p:nvSpPr>
          <p:spPr bwMode="auto">
            <a:xfrm>
              <a:off x="8364091" y="2816820"/>
              <a:ext cx="0" cy="58738"/>
            </a:xfrm>
            <a:prstGeom prst="line">
              <a:avLst/>
            </a:prstGeom>
            <a:noFill/>
            <a:ln w="12700">
              <a:solidFill>
                <a:schemeClr val="folHlink"/>
              </a:solidFill>
              <a:round/>
              <a:headEnd/>
              <a:tailEnd/>
            </a:ln>
          </p:spPr>
          <p:txBody>
            <a:bodyPr wrap="none" anchor="ctr"/>
            <a:lstStyle/>
            <a:p>
              <a:endParaRPr lang="de-DE"/>
            </a:p>
          </p:txBody>
        </p:sp>
        <p:sp>
          <p:nvSpPr>
            <p:cNvPr id="56" name="Rectangle 362"/>
            <p:cNvSpPr>
              <a:spLocks noChangeArrowheads="1"/>
            </p:cNvSpPr>
            <p:nvPr/>
          </p:nvSpPr>
          <p:spPr bwMode="auto">
            <a:xfrm>
              <a:off x="8005316" y="28168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57" name="Oval 363"/>
            <p:cNvSpPr>
              <a:spLocks noChangeArrowheads="1"/>
            </p:cNvSpPr>
            <p:nvPr/>
          </p:nvSpPr>
          <p:spPr bwMode="auto">
            <a:xfrm>
              <a:off x="8002141" y="27485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58" name="Group 364"/>
            <p:cNvGrpSpPr>
              <a:grpSpLocks/>
            </p:cNvGrpSpPr>
            <p:nvPr/>
          </p:nvGrpSpPr>
          <p:grpSpPr bwMode="auto">
            <a:xfrm>
              <a:off x="8087866" y="2772232"/>
              <a:ext cx="179388" cy="65072"/>
              <a:chOff x="2848" y="848"/>
              <a:chExt cx="140" cy="98"/>
            </a:xfrm>
          </p:grpSpPr>
          <p:sp>
            <p:nvSpPr>
              <p:cNvPr id="282" name="Line 365"/>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83" name="Line 366"/>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84" name="Line 367"/>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59" name="Group 368"/>
            <p:cNvGrpSpPr>
              <a:grpSpLocks/>
            </p:cNvGrpSpPr>
            <p:nvPr/>
          </p:nvGrpSpPr>
          <p:grpSpPr bwMode="auto">
            <a:xfrm flipV="1">
              <a:off x="8087866" y="2772524"/>
              <a:ext cx="179388" cy="65072"/>
              <a:chOff x="2848" y="848"/>
              <a:chExt cx="140" cy="98"/>
            </a:xfrm>
          </p:grpSpPr>
          <p:sp>
            <p:nvSpPr>
              <p:cNvPr id="279" name="Line 36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80" name="Line 37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81" name="Line 37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60" name="Oval 373"/>
            <p:cNvSpPr>
              <a:spLocks noChangeArrowheads="1"/>
            </p:cNvSpPr>
            <p:nvPr/>
          </p:nvSpPr>
          <p:spPr bwMode="auto">
            <a:xfrm>
              <a:off x="6595616" y="2559645"/>
              <a:ext cx="346075" cy="87313"/>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61" name="Line 374"/>
            <p:cNvSpPr>
              <a:spLocks noChangeShapeType="1"/>
            </p:cNvSpPr>
            <p:nvPr/>
          </p:nvSpPr>
          <p:spPr bwMode="auto">
            <a:xfrm>
              <a:off x="6595616" y="2551708"/>
              <a:ext cx="0" cy="53975"/>
            </a:xfrm>
            <a:prstGeom prst="line">
              <a:avLst/>
            </a:prstGeom>
            <a:noFill/>
            <a:ln w="12700">
              <a:solidFill>
                <a:schemeClr val="folHlink"/>
              </a:solidFill>
              <a:round/>
              <a:headEnd/>
              <a:tailEnd/>
            </a:ln>
          </p:spPr>
          <p:txBody>
            <a:bodyPr wrap="none" anchor="ctr"/>
            <a:lstStyle/>
            <a:p>
              <a:endParaRPr lang="de-DE"/>
            </a:p>
          </p:txBody>
        </p:sp>
        <p:sp>
          <p:nvSpPr>
            <p:cNvPr id="62" name="Line 375"/>
            <p:cNvSpPr>
              <a:spLocks noChangeShapeType="1"/>
            </p:cNvSpPr>
            <p:nvPr/>
          </p:nvSpPr>
          <p:spPr bwMode="auto">
            <a:xfrm>
              <a:off x="6941691" y="2551708"/>
              <a:ext cx="0" cy="53975"/>
            </a:xfrm>
            <a:prstGeom prst="line">
              <a:avLst/>
            </a:prstGeom>
            <a:noFill/>
            <a:ln w="12700">
              <a:solidFill>
                <a:schemeClr val="folHlink"/>
              </a:solidFill>
              <a:round/>
              <a:headEnd/>
              <a:tailEnd/>
            </a:ln>
          </p:spPr>
          <p:txBody>
            <a:bodyPr wrap="none" anchor="ctr"/>
            <a:lstStyle/>
            <a:p>
              <a:endParaRPr lang="de-DE"/>
            </a:p>
          </p:txBody>
        </p:sp>
        <p:sp>
          <p:nvSpPr>
            <p:cNvPr id="63" name="Rectangle 376"/>
            <p:cNvSpPr>
              <a:spLocks noChangeArrowheads="1"/>
            </p:cNvSpPr>
            <p:nvPr/>
          </p:nvSpPr>
          <p:spPr bwMode="auto">
            <a:xfrm>
              <a:off x="6595616" y="2551708"/>
              <a:ext cx="342900" cy="53975"/>
            </a:xfrm>
            <a:prstGeom prst="rect">
              <a:avLst/>
            </a:prstGeom>
            <a:solidFill>
              <a:srgbClr val="DDDDDD"/>
            </a:solidFill>
            <a:ln w="12700">
              <a:noFill/>
              <a:miter lim="800000"/>
              <a:headEnd/>
              <a:tailEnd/>
            </a:ln>
          </p:spPr>
          <p:txBody>
            <a:bodyPr wrap="none" anchor="ctr"/>
            <a:lstStyle/>
            <a:p>
              <a:pPr algn="ctr"/>
              <a:endParaRPr lang="de-DE"/>
            </a:p>
          </p:txBody>
        </p:sp>
        <p:sp>
          <p:nvSpPr>
            <p:cNvPr id="64" name="Oval 377"/>
            <p:cNvSpPr>
              <a:spLocks noChangeArrowheads="1"/>
            </p:cNvSpPr>
            <p:nvPr/>
          </p:nvSpPr>
          <p:spPr bwMode="auto">
            <a:xfrm>
              <a:off x="6592441" y="2488208"/>
              <a:ext cx="346075" cy="103187"/>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65" name="Group 378"/>
            <p:cNvGrpSpPr>
              <a:grpSpLocks/>
            </p:cNvGrpSpPr>
            <p:nvPr/>
          </p:nvGrpSpPr>
          <p:grpSpPr bwMode="auto">
            <a:xfrm>
              <a:off x="6676579" y="2510381"/>
              <a:ext cx="171450" cy="60319"/>
              <a:chOff x="2848" y="848"/>
              <a:chExt cx="140" cy="98"/>
            </a:xfrm>
          </p:grpSpPr>
          <p:sp>
            <p:nvSpPr>
              <p:cNvPr id="276" name="Line 37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77" name="Line 38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78" name="Line 38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66" name="Group 382"/>
            <p:cNvGrpSpPr>
              <a:grpSpLocks/>
            </p:cNvGrpSpPr>
            <p:nvPr/>
          </p:nvGrpSpPr>
          <p:grpSpPr bwMode="auto">
            <a:xfrm flipV="1">
              <a:off x="6676579" y="2510298"/>
              <a:ext cx="171450" cy="58751"/>
              <a:chOff x="2848" y="848"/>
              <a:chExt cx="140" cy="98"/>
            </a:xfrm>
          </p:grpSpPr>
          <p:sp>
            <p:nvSpPr>
              <p:cNvPr id="273" name="Line 38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74" name="Line 38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75" name="Line 38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67" name="Oval 387"/>
            <p:cNvSpPr>
              <a:spLocks noChangeArrowheads="1"/>
            </p:cNvSpPr>
            <p:nvPr/>
          </p:nvSpPr>
          <p:spPr bwMode="auto">
            <a:xfrm>
              <a:off x="6289229" y="3708995"/>
              <a:ext cx="346075" cy="87313"/>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68" name="Line 388"/>
            <p:cNvSpPr>
              <a:spLocks noChangeShapeType="1"/>
            </p:cNvSpPr>
            <p:nvPr/>
          </p:nvSpPr>
          <p:spPr bwMode="auto">
            <a:xfrm>
              <a:off x="6289229" y="3701058"/>
              <a:ext cx="0" cy="53975"/>
            </a:xfrm>
            <a:prstGeom prst="line">
              <a:avLst/>
            </a:prstGeom>
            <a:noFill/>
            <a:ln w="12700">
              <a:solidFill>
                <a:schemeClr val="folHlink"/>
              </a:solidFill>
              <a:round/>
              <a:headEnd/>
              <a:tailEnd/>
            </a:ln>
          </p:spPr>
          <p:txBody>
            <a:bodyPr wrap="none" anchor="ctr"/>
            <a:lstStyle/>
            <a:p>
              <a:endParaRPr lang="de-DE"/>
            </a:p>
          </p:txBody>
        </p:sp>
        <p:sp>
          <p:nvSpPr>
            <p:cNvPr id="69" name="Line 389"/>
            <p:cNvSpPr>
              <a:spLocks noChangeShapeType="1"/>
            </p:cNvSpPr>
            <p:nvPr/>
          </p:nvSpPr>
          <p:spPr bwMode="auto">
            <a:xfrm>
              <a:off x="6635304" y="3701058"/>
              <a:ext cx="0" cy="53975"/>
            </a:xfrm>
            <a:prstGeom prst="line">
              <a:avLst/>
            </a:prstGeom>
            <a:noFill/>
            <a:ln w="12700">
              <a:solidFill>
                <a:schemeClr val="folHlink"/>
              </a:solidFill>
              <a:round/>
              <a:headEnd/>
              <a:tailEnd/>
            </a:ln>
          </p:spPr>
          <p:txBody>
            <a:bodyPr wrap="none" anchor="ctr"/>
            <a:lstStyle/>
            <a:p>
              <a:endParaRPr lang="de-DE"/>
            </a:p>
          </p:txBody>
        </p:sp>
        <p:sp>
          <p:nvSpPr>
            <p:cNvPr id="70" name="Rectangle 390"/>
            <p:cNvSpPr>
              <a:spLocks noChangeArrowheads="1"/>
            </p:cNvSpPr>
            <p:nvPr/>
          </p:nvSpPr>
          <p:spPr bwMode="auto">
            <a:xfrm>
              <a:off x="6289229" y="3701058"/>
              <a:ext cx="342900" cy="53975"/>
            </a:xfrm>
            <a:prstGeom prst="rect">
              <a:avLst/>
            </a:prstGeom>
            <a:solidFill>
              <a:srgbClr val="DDDDDD"/>
            </a:solidFill>
            <a:ln w="12700">
              <a:noFill/>
              <a:miter lim="800000"/>
              <a:headEnd/>
              <a:tailEnd/>
            </a:ln>
          </p:spPr>
          <p:txBody>
            <a:bodyPr wrap="none" anchor="ctr"/>
            <a:lstStyle/>
            <a:p>
              <a:pPr algn="ctr"/>
              <a:endParaRPr lang="de-DE"/>
            </a:p>
          </p:txBody>
        </p:sp>
        <p:sp>
          <p:nvSpPr>
            <p:cNvPr id="71" name="Oval 391"/>
            <p:cNvSpPr>
              <a:spLocks noChangeArrowheads="1"/>
            </p:cNvSpPr>
            <p:nvPr/>
          </p:nvSpPr>
          <p:spPr bwMode="auto">
            <a:xfrm>
              <a:off x="6286054" y="3637558"/>
              <a:ext cx="346075" cy="103187"/>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72" name="Group 392"/>
            <p:cNvGrpSpPr>
              <a:grpSpLocks/>
            </p:cNvGrpSpPr>
            <p:nvPr/>
          </p:nvGrpSpPr>
          <p:grpSpPr bwMode="auto">
            <a:xfrm>
              <a:off x="6370191" y="3659731"/>
              <a:ext cx="171450" cy="60319"/>
              <a:chOff x="2848" y="848"/>
              <a:chExt cx="140" cy="98"/>
            </a:xfrm>
          </p:grpSpPr>
          <p:sp>
            <p:nvSpPr>
              <p:cNvPr id="270" name="Line 39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71" name="Line 39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72" name="Line 39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73" name="Group 396"/>
            <p:cNvGrpSpPr>
              <a:grpSpLocks/>
            </p:cNvGrpSpPr>
            <p:nvPr/>
          </p:nvGrpSpPr>
          <p:grpSpPr bwMode="auto">
            <a:xfrm flipV="1">
              <a:off x="6370191" y="3659648"/>
              <a:ext cx="171450" cy="58751"/>
              <a:chOff x="2848" y="848"/>
              <a:chExt cx="140" cy="98"/>
            </a:xfrm>
          </p:grpSpPr>
          <p:sp>
            <p:nvSpPr>
              <p:cNvPr id="267" name="Line 39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68" name="Line 39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69" name="Line 39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74" name="Line 400"/>
            <p:cNvSpPr>
              <a:spLocks noChangeShapeType="1"/>
            </p:cNvSpPr>
            <p:nvPr/>
          </p:nvSpPr>
          <p:spPr bwMode="auto">
            <a:xfrm flipV="1">
              <a:off x="7487791" y="4066183"/>
              <a:ext cx="227013" cy="436562"/>
            </a:xfrm>
            <a:prstGeom prst="line">
              <a:avLst/>
            </a:prstGeom>
            <a:noFill/>
            <a:ln w="9525">
              <a:solidFill>
                <a:schemeClr val="bg2"/>
              </a:solidFill>
              <a:round/>
              <a:headEnd/>
              <a:tailEnd/>
            </a:ln>
          </p:spPr>
          <p:txBody>
            <a:bodyPr/>
            <a:lstStyle/>
            <a:p>
              <a:endParaRPr lang="de-DE"/>
            </a:p>
          </p:txBody>
        </p:sp>
        <p:sp>
          <p:nvSpPr>
            <p:cNvPr id="75" name="Line 401"/>
            <p:cNvSpPr>
              <a:spLocks noChangeShapeType="1"/>
            </p:cNvSpPr>
            <p:nvPr/>
          </p:nvSpPr>
          <p:spPr bwMode="auto">
            <a:xfrm>
              <a:off x="7611616" y="3804245"/>
              <a:ext cx="163513" cy="120650"/>
            </a:xfrm>
            <a:prstGeom prst="line">
              <a:avLst/>
            </a:prstGeom>
            <a:noFill/>
            <a:ln w="9525">
              <a:solidFill>
                <a:schemeClr val="bg2"/>
              </a:solidFill>
              <a:round/>
              <a:headEnd/>
              <a:tailEnd/>
            </a:ln>
          </p:spPr>
          <p:txBody>
            <a:bodyPr/>
            <a:lstStyle/>
            <a:p>
              <a:endParaRPr lang="de-DE"/>
            </a:p>
          </p:txBody>
        </p:sp>
        <p:sp>
          <p:nvSpPr>
            <p:cNvPr id="76" name="Line 402"/>
            <p:cNvSpPr>
              <a:spLocks noChangeShapeType="1"/>
            </p:cNvSpPr>
            <p:nvPr/>
          </p:nvSpPr>
          <p:spPr bwMode="auto">
            <a:xfrm>
              <a:off x="7708454" y="3724870"/>
              <a:ext cx="279400" cy="0"/>
            </a:xfrm>
            <a:prstGeom prst="line">
              <a:avLst/>
            </a:prstGeom>
            <a:noFill/>
            <a:ln w="9525">
              <a:solidFill>
                <a:schemeClr val="bg2"/>
              </a:solidFill>
              <a:round/>
              <a:headEnd/>
              <a:tailEnd/>
            </a:ln>
          </p:spPr>
          <p:txBody>
            <a:bodyPr/>
            <a:lstStyle/>
            <a:p>
              <a:endParaRPr lang="de-DE"/>
            </a:p>
          </p:txBody>
        </p:sp>
        <p:sp>
          <p:nvSpPr>
            <p:cNvPr id="77" name="Line 403"/>
            <p:cNvSpPr>
              <a:spLocks noChangeShapeType="1"/>
            </p:cNvSpPr>
            <p:nvPr/>
          </p:nvSpPr>
          <p:spPr bwMode="auto">
            <a:xfrm flipV="1">
              <a:off x="7944991" y="3810595"/>
              <a:ext cx="134938" cy="104775"/>
            </a:xfrm>
            <a:prstGeom prst="line">
              <a:avLst/>
            </a:prstGeom>
            <a:noFill/>
            <a:ln w="9525">
              <a:solidFill>
                <a:schemeClr val="bg2"/>
              </a:solidFill>
              <a:round/>
              <a:headEnd/>
              <a:tailEnd/>
            </a:ln>
          </p:spPr>
          <p:txBody>
            <a:bodyPr/>
            <a:lstStyle/>
            <a:p>
              <a:endParaRPr lang="de-DE"/>
            </a:p>
          </p:txBody>
        </p:sp>
        <p:sp>
          <p:nvSpPr>
            <p:cNvPr id="78" name="Line 404"/>
            <p:cNvSpPr>
              <a:spLocks noChangeShapeType="1"/>
            </p:cNvSpPr>
            <p:nvPr/>
          </p:nvSpPr>
          <p:spPr bwMode="auto">
            <a:xfrm>
              <a:off x="6643241" y="3731220"/>
              <a:ext cx="679450" cy="0"/>
            </a:xfrm>
            <a:prstGeom prst="line">
              <a:avLst/>
            </a:prstGeom>
            <a:noFill/>
            <a:ln w="9525">
              <a:solidFill>
                <a:schemeClr val="bg2"/>
              </a:solidFill>
              <a:round/>
              <a:headEnd/>
              <a:tailEnd/>
            </a:ln>
          </p:spPr>
          <p:txBody>
            <a:bodyPr/>
            <a:lstStyle/>
            <a:p>
              <a:endParaRPr lang="de-DE"/>
            </a:p>
          </p:txBody>
        </p:sp>
        <p:sp>
          <p:nvSpPr>
            <p:cNvPr id="79" name="Line 427"/>
            <p:cNvSpPr>
              <a:spLocks noChangeShapeType="1"/>
            </p:cNvSpPr>
            <p:nvPr/>
          </p:nvSpPr>
          <p:spPr bwMode="auto">
            <a:xfrm>
              <a:off x="6938516" y="2578695"/>
              <a:ext cx="509588" cy="3175"/>
            </a:xfrm>
            <a:prstGeom prst="line">
              <a:avLst/>
            </a:prstGeom>
            <a:noFill/>
            <a:ln w="9525">
              <a:solidFill>
                <a:schemeClr val="bg2"/>
              </a:solidFill>
              <a:round/>
              <a:headEnd/>
              <a:tailEnd/>
            </a:ln>
          </p:spPr>
          <p:txBody>
            <a:bodyPr/>
            <a:lstStyle/>
            <a:p>
              <a:endParaRPr lang="de-DE"/>
            </a:p>
          </p:txBody>
        </p:sp>
        <p:sp>
          <p:nvSpPr>
            <p:cNvPr id="80" name="Line 428"/>
            <p:cNvSpPr>
              <a:spLocks noChangeShapeType="1"/>
            </p:cNvSpPr>
            <p:nvPr/>
          </p:nvSpPr>
          <p:spPr bwMode="auto">
            <a:xfrm>
              <a:off x="6505129" y="2407245"/>
              <a:ext cx="152400" cy="82550"/>
            </a:xfrm>
            <a:prstGeom prst="line">
              <a:avLst/>
            </a:prstGeom>
            <a:noFill/>
            <a:ln w="9525">
              <a:solidFill>
                <a:schemeClr val="bg2"/>
              </a:solidFill>
              <a:round/>
              <a:headEnd/>
              <a:tailEnd/>
            </a:ln>
          </p:spPr>
          <p:txBody>
            <a:bodyPr/>
            <a:lstStyle/>
            <a:p>
              <a:endParaRPr lang="de-DE"/>
            </a:p>
          </p:txBody>
        </p:sp>
        <p:sp>
          <p:nvSpPr>
            <p:cNvPr id="81" name="Freeform 429"/>
            <p:cNvSpPr>
              <a:spLocks/>
            </p:cNvSpPr>
            <p:nvPr/>
          </p:nvSpPr>
          <p:spPr bwMode="auto">
            <a:xfrm>
              <a:off x="5825679" y="4413845"/>
              <a:ext cx="2979737" cy="1455738"/>
            </a:xfrm>
            <a:custGeom>
              <a:avLst/>
              <a:gdLst>
                <a:gd name="T0" fmla="*/ 1411287 w 1877"/>
                <a:gd name="T1" fmla="*/ 36513 h 917"/>
                <a:gd name="T2" fmla="*/ 1098550 w 1877"/>
                <a:gd name="T3" fmla="*/ 173038 h 917"/>
                <a:gd name="T4" fmla="*/ 658812 w 1877"/>
                <a:gd name="T5" fmla="*/ 144463 h 917"/>
                <a:gd name="T6" fmla="*/ 177800 w 1877"/>
                <a:gd name="T7" fmla="*/ 269875 h 917"/>
                <a:gd name="T8" fmla="*/ 79375 w 1877"/>
                <a:gd name="T9" fmla="*/ 560388 h 917"/>
                <a:gd name="T10" fmla="*/ 22225 w 1877"/>
                <a:gd name="T11" fmla="*/ 838200 h 917"/>
                <a:gd name="T12" fmla="*/ 220663 w 1877"/>
                <a:gd name="T13" fmla="*/ 1031875 h 917"/>
                <a:gd name="T14" fmla="*/ 801687 w 1877"/>
                <a:gd name="T15" fmla="*/ 1239838 h 917"/>
                <a:gd name="T16" fmla="*/ 1481137 w 1877"/>
                <a:gd name="T17" fmla="*/ 1406525 h 917"/>
                <a:gd name="T18" fmla="*/ 2174875 w 1877"/>
                <a:gd name="T19" fmla="*/ 1430338 h 917"/>
                <a:gd name="T20" fmla="*/ 2660650 w 1877"/>
                <a:gd name="T21" fmla="*/ 1258888 h 917"/>
                <a:gd name="T22" fmla="*/ 2952750 w 1877"/>
                <a:gd name="T23" fmla="*/ 990600 h 917"/>
                <a:gd name="T24" fmla="*/ 2819400 w 1877"/>
                <a:gd name="T25" fmla="*/ 347663 h 917"/>
                <a:gd name="T26" fmla="*/ 2386012 w 1877"/>
                <a:gd name="T27" fmla="*/ 158750 h 917"/>
                <a:gd name="T28" fmla="*/ 1905000 w 1877"/>
                <a:gd name="T29" fmla="*/ 20638 h 917"/>
                <a:gd name="T30" fmla="*/ 1411287 w 1877"/>
                <a:gd name="T31" fmla="*/ 3651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w="9525">
              <a:noFill/>
              <a:round/>
              <a:headEnd/>
              <a:tailEnd/>
            </a:ln>
          </p:spPr>
          <p:txBody>
            <a:bodyPr/>
            <a:lstStyle/>
            <a:p>
              <a:endParaRPr lang="de-DE"/>
            </a:p>
          </p:txBody>
        </p:sp>
        <p:sp>
          <p:nvSpPr>
            <p:cNvPr id="82" name="Line 430"/>
            <p:cNvSpPr>
              <a:spLocks noChangeShapeType="1"/>
            </p:cNvSpPr>
            <p:nvPr/>
          </p:nvSpPr>
          <p:spPr bwMode="auto">
            <a:xfrm rot="16200000">
              <a:off x="8060878" y="5150446"/>
              <a:ext cx="523875" cy="139700"/>
            </a:xfrm>
            <a:prstGeom prst="line">
              <a:avLst/>
            </a:prstGeom>
            <a:noFill/>
            <a:ln w="12700">
              <a:solidFill>
                <a:schemeClr val="bg2"/>
              </a:solidFill>
              <a:round/>
              <a:headEnd/>
              <a:tailEnd/>
            </a:ln>
          </p:spPr>
          <p:txBody>
            <a:bodyPr wrap="none" anchor="ctr"/>
            <a:lstStyle/>
            <a:p>
              <a:endParaRPr lang="de-DE"/>
            </a:p>
          </p:txBody>
        </p:sp>
        <p:sp>
          <p:nvSpPr>
            <p:cNvPr id="83" name="Line 440"/>
            <p:cNvSpPr>
              <a:spLocks noChangeShapeType="1"/>
            </p:cNvSpPr>
            <p:nvPr/>
          </p:nvSpPr>
          <p:spPr bwMode="auto">
            <a:xfrm rot="5400000" flipV="1">
              <a:off x="8206929" y="5431433"/>
              <a:ext cx="3175" cy="85725"/>
            </a:xfrm>
            <a:prstGeom prst="line">
              <a:avLst/>
            </a:prstGeom>
            <a:noFill/>
            <a:ln w="12700">
              <a:solidFill>
                <a:schemeClr val="bg2"/>
              </a:solidFill>
              <a:round/>
              <a:headEnd/>
              <a:tailEnd/>
            </a:ln>
          </p:spPr>
          <p:txBody>
            <a:bodyPr wrap="none" anchor="ctr"/>
            <a:lstStyle/>
            <a:p>
              <a:endParaRPr lang="de-DE"/>
            </a:p>
          </p:txBody>
        </p:sp>
        <p:sp>
          <p:nvSpPr>
            <p:cNvPr id="84" name="Line 441"/>
            <p:cNvSpPr>
              <a:spLocks noChangeShapeType="1"/>
            </p:cNvSpPr>
            <p:nvPr/>
          </p:nvSpPr>
          <p:spPr bwMode="auto">
            <a:xfrm rot="16200000">
              <a:off x="8392666" y="5107583"/>
              <a:ext cx="0" cy="114300"/>
            </a:xfrm>
            <a:prstGeom prst="line">
              <a:avLst/>
            </a:prstGeom>
            <a:noFill/>
            <a:ln w="12700">
              <a:solidFill>
                <a:schemeClr val="bg2"/>
              </a:solidFill>
              <a:round/>
              <a:headEnd/>
              <a:tailEnd/>
            </a:ln>
          </p:spPr>
          <p:txBody>
            <a:bodyPr wrap="none" anchor="ctr"/>
            <a:lstStyle/>
            <a:p>
              <a:endParaRPr lang="de-DE"/>
            </a:p>
          </p:txBody>
        </p:sp>
        <p:grpSp>
          <p:nvGrpSpPr>
            <p:cNvPr id="85" name="Group 545"/>
            <p:cNvGrpSpPr>
              <a:grpSpLocks/>
            </p:cNvGrpSpPr>
            <p:nvPr/>
          </p:nvGrpSpPr>
          <p:grpSpPr bwMode="auto">
            <a:xfrm>
              <a:off x="7971994" y="4753586"/>
              <a:ext cx="501651" cy="298451"/>
              <a:chOff x="4701" y="2956"/>
              <a:chExt cx="316" cy="188"/>
            </a:xfrm>
          </p:grpSpPr>
          <p:sp>
            <p:nvSpPr>
              <p:cNvPr id="254" name="Oval 443"/>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255" name="Line 444"/>
              <p:cNvSpPr>
                <a:spLocks noChangeShapeType="1"/>
              </p:cNvSpPr>
              <p:nvPr/>
            </p:nvSpPr>
            <p:spPr bwMode="auto">
              <a:xfrm>
                <a:off x="4704" y="3055"/>
                <a:ext cx="0" cy="51"/>
              </a:xfrm>
              <a:prstGeom prst="line">
                <a:avLst/>
              </a:prstGeom>
              <a:noFill/>
              <a:ln w="12700">
                <a:solidFill>
                  <a:schemeClr val="folHlink"/>
                </a:solidFill>
                <a:round/>
                <a:headEnd/>
                <a:tailEnd/>
              </a:ln>
            </p:spPr>
            <p:txBody>
              <a:bodyPr wrap="none" anchor="ctr"/>
              <a:lstStyle/>
              <a:p>
                <a:endParaRPr lang="de-DE"/>
              </a:p>
            </p:txBody>
          </p:sp>
          <p:sp>
            <p:nvSpPr>
              <p:cNvPr id="256" name="Line 445"/>
              <p:cNvSpPr>
                <a:spLocks noChangeShapeType="1"/>
              </p:cNvSpPr>
              <p:nvPr/>
            </p:nvSpPr>
            <p:spPr bwMode="auto">
              <a:xfrm>
                <a:off x="5017" y="3055"/>
                <a:ext cx="0" cy="51"/>
              </a:xfrm>
              <a:prstGeom prst="line">
                <a:avLst/>
              </a:prstGeom>
              <a:noFill/>
              <a:ln w="12700">
                <a:solidFill>
                  <a:schemeClr val="folHlink"/>
                </a:solidFill>
                <a:round/>
                <a:headEnd/>
                <a:tailEnd/>
              </a:ln>
            </p:spPr>
            <p:txBody>
              <a:bodyPr wrap="none" anchor="ctr"/>
              <a:lstStyle/>
              <a:p>
                <a:endParaRPr lang="de-DE"/>
              </a:p>
            </p:txBody>
          </p:sp>
          <p:sp>
            <p:nvSpPr>
              <p:cNvPr id="257" name="Rectangle 446"/>
              <p:cNvSpPr>
                <a:spLocks noChangeArrowheads="1"/>
              </p:cNvSpPr>
              <p:nvPr/>
            </p:nvSpPr>
            <p:spPr bwMode="auto">
              <a:xfrm>
                <a:off x="4704" y="3055"/>
                <a:ext cx="310" cy="50"/>
              </a:xfrm>
              <a:prstGeom prst="rect">
                <a:avLst/>
              </a:prstGeom>
              <a:solidFill>
                <a:srgbClr val="DDDDDD"/>
              </a:solidFill>
              <a:ln w="12700">
                <a:noFill/>
                <a:miter lim="800000"/>
                <a:headEnd/>
                <a:tailEnd/>
              </a:ln>
            </p:spPr>
            <p:txBody>
              <a:bodyPr wrap="none" anchor="ctr"/>
              <a:lstStyle/>
              <a:p>
                <a:pPr algn="ctr"/>
                <a:endParaRPr lang="de-DE"/>
              </a:p>
            </p:txBody>
          </p:sp>
          <p:sp>
            <p:nvSpPr>
              <p:cNvPr id="258" name="Oval 447"/>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259" name="Group 448"/>
              <p:cNvGrpSpPr>
                <a:grpSpLocks/>
              </p:cNvGrpSpPr>
              <p:nvPr/>
            </p:nvGrpSpPr>
            <p:grpSpPr bwMode="auto">
              <a:xfrm>
                <a:off x="4796" y="2956"/>
                <a:ext cx="157" cy="49"/>
                <a:chOff x="2848" y="848"/>
                <a:chExt cx="140" cy="98"/>
              </a:xfrm>
            </p:grpSpPr>
            <p:sp>
              <p:nvSpPr>
                <p:cNvPr id="264" name="Line 44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65" name="Line 45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66" name="Line 45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260" name="Group 452"/>
              <p:cNvGrpSpPr>
                <a:grpSpLocks/>
              </p:cNvGrpSpPr>
              <p:nvPr/>
            </p:nvGrpSpPr>
            <p:grpSpPr bwMode="auto">
              <a:xfrm flipV="1">
                <a:off x="4796" y="3084"/>
                <a:ext cx="157" cy="49"/>
                <a:chOff x="2848" y="848"/>
                <a:chExt cx="140" cy="98"/>
              </a:xfrm>
            </p:grpSpPr>
            <p:sp>
              <p:nvSpPr>
                <p:cNvPr id="261" name="Line 45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62" name="Line 45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63" name="Line 45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sp>
          <p:nvSpPr>
            <p:cNvPr id="88" name="Line 484"/>
            <p:cNvSpPr>
              <a:spLocks noChangeShapeType="1"/>
            </p:cNvSpPr>
            <p:nvPr/>
          </p:nvSpPr>
          <p:spPr bwMode="auto">
            <a:xfrm>
              <a:off x="7605266" y="4751983"/>
              <a:ext cx="358775" cy="120650"/>
            </a:xfrm>
            <a:prstGeom prst="line">
              <a:avLst/>
            </a:prstGeom>
            <a:noFill/>
            <a:ln w="9525">
              <a:solidFill>
                <a:schemeClr val="bg2"/>
              </a:solidFill>
              <a:round/>
              <a:headEnd/>
              <a:tailEnd/>
            </a:ln>
          </p:spPr>
          <p:txBody>
            <a:bodyPr/>
            <a:lstStyle/>
            <a:p>
              <a:endParaRPr lang="de-DE"/>
            </a:p>
          </p:txBody>
        </p:sp>
        <p:sp>
          <p:nvSpPr>
            <p:cNvPr id="89" name="Line 485"/>
            <p:cNvSpPr>
              <a:spLocks noChangeShapeType="1"/>
            </p:cNvSpPr>
            <p:nvPr/>
          </p:nvSpPr>
          <p:spPr bwMode="auto">
            <a:xfrm flipV="1">
              <a:off x="6952804" y="4764683"/>
              <a:ext cx="277812" cy="109537"/>
            </a:xfrm>
            <a:prstGeom prst="line">
              <a:avLst/>
            </a:prstGeom>
            <a:noFill/>
            <a:ln w="9525">
              <a:solidFill>
                <a:schemeClr val="bg2"/>
              </a:solidFill>
              <a:round/>
              <a:headEnd/>
              <a:tailEnd/>
            </a:ln>
          </p:spPr>
          <p:txBody>
            <a:bodyPr/>
            <a:lstStyle/>
            <a:p>
              <a:endParaRPr lang="de-DE"/>
            </a:p>
          </p:txBody>
        </p:sp>
        <p:sp>
          <p:nvSpPr>
            <p:cNvPr id="90" name="Line 486"/>
            <p:cNvSpPr>
              <a:spLocks noChangeShapeType="1"/>
            </p:cNvSpPr>
            <p:nvPr/>
          </p:nvSpPr>
          <p:spPr bwMode="auto">
            <a:xfrm flipV="1">
              <a:off x="6995666" y="4967883"/>
              <a:ext cx="971550" cy="0"/>
            </a:xfrm>
            <a:prstGeom prst="line">
              <a:avLst/>
            </a:prstGeom>
            <a:noFill/>
            <a:ln w="9525">
              <a:solidFill>
                <a:schemeClr val="bg2"/>
              </a:solidFill>
              <a:round/>
              <a:headEnd/>
              <a:tailEnd/>
            </a:ln>
          </p:spPr>
          <p:txBody>
            <a:bodyPr/>
            <a:lstStyle/>
            <a:p>
              <a:endParaRPr lang="de-DE"/>
            </a:p>
          </p:txBody>
        </p:sp>
        <p:sp>
          <p:nvSpPr>
            <p:cNvPr id="91" name="Line 487"/>
            <p:cNvSpPr>
              <a:spLocks noChangeShapeType="1"/>
            </p:cNvSpPr>
            <p:nvPr/>
          </p:nvSpPr>
          <p:spPr bwMode="auto">
            <a:xfrm flipH="1">
              <a:off x="6290816" y="4713883"/>
              <a:ext cx="254000" cy="469900"/>
            </a:xfrm>
            <a:prstGeom prst="line">
              <a:avLst/>
            </a:prstGeom>
            <a:noFill/>
            <a:ln w="9525">
              <a:solidFill>
                <a:schemeClr val="bg2"/>
              </a:solidFill>
              <a:round/>
              <a:headEnd/>
              <a:tailEnd/>
            </a:ln>
          </p:spPr>
          <p:txBody>
            <a:bodyPr/>
            <a:lstStyle/>
            <a:p>
              <a:endParaRPr lang="de-DE"/>
            </a:p>
          </p:txBody>
        </p:sp>
        <p:sp>
          <p:nvSpPr>
            <p:cNvPr id="92" name="Line 488"/>
            <p:cNvSpPr>
              <a:spLocks noChangeShapeType="1"/>
            </p:cNvSpPr>
            <p:nvPr/>
          </p:nvSpPr>
          <p:spPr bwMode="auto">
            <a:xfrm>
              <a:off x="6316216" y="4764683"/>
              <a:ext cx="196850" cy="0"/>
            </a:xfrm>
            <a:prstGeom prst="line">
              <a:avLst/>
            </a:prstGeom>
            <a:noFill/>
            <a:ln w="9525">
              <a:solidFill>
                <a:schemeClr val="bg2"/>
              </a:solidFill>
              <a:round/>
              <a:headEnd/>
              <a:tailEnd/>
            </a:ln>
          </p:spPr>
          <p:txBody>
            <a:bodyPr/>
            <a:lstStyle/>
            <a:p>
              <a:endParaRPr lang="de-DE"/>
            </a:p>
          </p:txBody>
        </p:sp>
        <p:sp>
          <p:nvSpPr>
            <p:cNvPr id="93" name="Line 489"/>
            <p:cNvSpPr>
              <a:spLocks noChangeShapeType="1"/>
            </p:cNvSpPr>
            <p:nvPr/>
          </p:nvSpPr>
          <p:spPr bwMode="auto">
            <a:xfrm>
              <a:off x="6176516" y="5101233"/>
              <a:ext cx="153988" cy="0"/>
            </a:xfrm>
            <a:prstGeom prst="line">
              <a:avLst/>
            </a:prstGeom>
            <a:noFill/>
            <a:ln w="9525">
              <a:solidFill>
                <a:schemeClr val="bg2"/>
              </a:solidFill>
              <a:round/>
              <a:headEnd/>
              <a:tailEnd/>
            </a:ln>
          </p:spPr>
          <p:txBody>
            <a:bodyPr/>
            <a:lstStyle/>
            <a:p>
              <a:endParaRPr lang="de-DE"/>
            </a:p>
          </p:txBody>
        </p:sp>
        <p:sp>
          <p:nvSpPr>
            <p:cNvPr id="94" name="Line 490"/>
            <p:cNvSpPr>
              <a:spLocks noChangeShapeType="1"/>
            </p:cNvSpPr>
            <p:nvPr/>
          </p:nvSpPr>
          <p:spPr bwMode="auto">
            <a:xfrm>
              <a:off x="6428929" y="5180608"/>
              <a:ext cx="490537" cy="0"/>
            </a:xfrm>
            <a:prstGeom prst="line">
              <a:avLst/>
            </a:prstGeom>
            <a:noFill/>
            <a:ln w="9525">
              <a:solidFill>
                <a:schemeClr val="bg2"/>
              </a:solidFill>
              <a:round/>
              <a:headEnd/>
              <a:tailEnd/>
            </a:ln>
          </p:spPr>
          <p:txBody>
            <a:bodyPr/>
            <a:lstStyle/>
            <a:p>
              <a:endParaRPr lang="de-DE"/>
            </a:p>
          </p:txBody>
        </p:sp>
        <p:sp>
          <p:nvSpPr>
            <p:cNvPr id="95" name="Line 491"/>
            <p:cNvSpPr>
              <a:spLocks noChangeShapeType="1"/>
            </p:cNvSpPr>
            <p:nvPr/>
          </p:nvSpPr>
          <p:spPr bwMode="auto">
            <a:xfrm flipH="1">
              <a:off x="6668641" y="5088533"/>
              <a:ext cx="53975" cy="85725"/>
            </a:xfrm>
            <a:prstGeom prst="line">
              <a:avLst/>
            </a:prstGeom>
            <a:noFill/>
            <a:ln w="9525">
              <a:solidFill>
                <a:schemeClr val="bg2"/>
              </a:solidFill>
              <a:round/>
              <a:headEnd/>
              <a:tailEnd/>
            </a:ln>
          </p:spPr>
          <p:txBody>
            <a:bodyPr/>
            <a:lstStyle/>
            <a:p>
              <a:endParaRPr lang="de-DE"/>
            </a:p>
          </p:txBody>
        </p:sp>
        <p:sp>
          <p:nvSpPr>
            <p:cNvPr id="96" name="Line 492"/>
            <p:cNvSpPr>
              <a:spLocks noChangeShapeType="1"/>
            </p:cNvSpPr>
            <p:nvPr/>
          </p:nvSpPr>
          <p:spPr bwMode="auto">
            <a:xfrm>
              <a:off x="6481316" y="5177433"/>
              <a:ext cx="1588" cy="82550"/>
            </a:xfrm>
            <a:prstGeom prst="line">
              <a:avLst/>
            </a:prstGeom>
            <a:noFill/>
            <a:ln w="9525">
              <a:solidFill>
                <a:schemeClr val="bg2"/>
              </a:solidFill>
              <a:round/>
              <a:headEnd/>
              <a:tailEnd/>
            </a:ln>
          </p:spPr>
          <p:txBody>
            <a:bodyPr/>
            <a:lstStyle/>
            <a:p>
              <a:endParaRPr lang="de-DE"/>
            </a:p>
          </p:txBody>
        </p:sp>
        <p:sp>
          <p:nvSpPr>
            <p:cNvPr id="97" name="Line 493"/>
            <p:cNvSpPr>
              <a:spLocks noChangeShapeType="1"/>
            </p:cNvSpPr>
            <p:nvPr/>
          </p:nvSpPr>
          <p:spPr bwMode="auto">
            <a:xfrm flipH="1" flipV="1">
              <a:off x="6878191" y="5185370"/>
              <a:ext cx="0" cy="76200"/>
            </a:xfrm>
            <a:prstGeom prst="line">
              <a:avLst/>
            </a:prstGeom>
            <a:noFill/>
            <a:ln w="9525">
              <a:solidFill>
                <a:schemeClr val="bg2"/>
              </a:solidFill>
              <a:round/>
              <a:headEnd/>
              <a:tailEnd/>
            </a:ln>
          </p:spPr>
          <p:txBody>
            <a:bodyPr/>
            <a:lstStyle/>
            <a:p>
              <a:endParaRPr lang="de-DE"/>
            </a:p>
          </p:txBody>
        </p:sp>
        <p:sp>
          <p:nvSpPr>
            <p:cNvPr id="98" name="Line 522"/>
            <p:cNvSpPr>
              <a:spLocks noChangeShapeType="1"/>
            </p:cNvSpPr>
            <p:nvPr/>
          </p:nvSpPr>
          <p:spPr bwMode="auto">
            <a:xfrm>
              <a:off x="6959154" y="5044083"/>
              <a:ext cx="503237" cy="269875"/>
            </a:xfrm>
            <a:prstGeom prst="line">
              <a:avLst/>
            </a:prstGeom>
            <a:noFill/>
            <a:ln w="9525">
              <a:solidFill>
                <a:schemeClr val="bg2"/>
              </a:solidFill>
              <a:round/>
              <a:headEnd/>
              <a:tailEnd/>
            </a:ln>
          </p:spPr>
          <p:txBody>
            <a:bodyPr/>
            <a:lstStyle/>
            <a:p>
              <a:endParaRPr lang="de-DE"/>
            </a:p>
          </p:txBody>
        </p:sp>
        <p:sp>
          <p:nvSpPr>
            <p:cNvPr id="99" name="Line 523"/>
            <p:cNvSpPr>
              <a:spLocks noChangeShapeType="1"/>
            </p:cNvSpPr>
            <p:nvPr/>
          </p:nvSpPr>
          <p:spPr bwMode="auto">
            <a:xfrm>
              <a:off x="6408291" y="4978995"/>
              <a:ext cx="80963" cy="0"/>
            </a:xfrm>
            <a:prstGeom prst="line">
              <a:avLst/>
            </a:prstGeom>
            <a:noFill/>
            <a:ln w="9525">
              <a:solidFill>
                <a:schemeClr val="bg2"/>
              </a:solidFill>
              <a:round/>
              <a:headEnd/>
              <a:tailEnd/>
            </a:ln>
          </p:spPr>
          <p:txBody>
            <a:bodyPr/>
            <a:lstStyle/>
            <a:p>
              <a:endParaRPr lang="de-DE"/>
            </a:p>
          </p:txBody>
        </p:sp>
        <p:grpSp>
          <p:nvGrpSpPr>
            <p:cNvPr id="100" name="Group 596"/>
            <p:cNvGrpSpPr>
              <a:grpSpLocks/>
            </p:cNvGrpSpPr>
            <p:nvPr/>
          </p:nvGrpSpPr>
          <p:grpSpPr bwMode="auto">
            <a:xfrm>
              <a:off x="5597078" y="1738910"/>
              <a:ext cx="3017839" cy="3981453"/>
              <a:chOff x="-1201" y="1352"/>
              <a:chExt cx="1901" cy="2508"/>
            </a:xfrm>
          </p:grpSpPr>
          <p:grpSp>
            <p:nvGrpSpPr>
              <p:cNvPr id="188" name="Group 266"/>
              <p:cNvGrpSpPr>
                <a:grpSpLocks/>
              </p:cNvGrpSpPr>
              <p:nvPr/>
            </p:nvGrpSpPr>
            <p:grpSpPr bwMode="auto">
              <a:xfrm>
                <a:off x="-1201" y="1647"/>
                <a:ext cx="436" cy="114"/>
                <a:chOff x="3072" y="739"/>
                <a:chExt cx="652" cy="146"/>
              </a:xfrm>
            </p:grpSpPr>
            <p:pic>
              <p:nvPicPr>
                <p:cNvPr id="225" name="Picture 267" descr="lgv_fqmg[1]"/>
                <p:cNvPicPr>
                  <a:picLocks noChangeAspect="1" noChangeArrowheads="1"/>
                </p:cNvPicPr>
                <p:nvPr/>
              </p:nvPicPr>
              <p:blipFill>
                <a:blip r:embed="rId3" cstate="print"/>
                <a:srcRect/>
                <a:stretch>
                  <a:fillRect/>
                </a:stretch>
              </p:blipFill>
              <p:spPr bwMode="auto">
                <a:xfrm flipH="1">
                  <a:off x="3237" y="739"/>
                  <a:ext cx="487" cy="146"/>
                </a:xfrm>
                <a:prstGeom prst="rect">
                  <a:avLst/>
                </a:prstGeom>
                <a:noFill/>
                <a:ln w="9525">
                  <a:noFill/>
                  <a:miter lim="800000"/>
                  <a:headEnd/>
                  <a:tailEnd/>
                </a:ln>
              </p:spPr>
            </p:pic>
            <p:sp>
              <p:nvSpPr>
                <p:cNvPr id="226" name="Line 268"/>
                <p:cNvSpPr>
                  <a:spLocks noChangeShapeType="1"/>
                </p:cNvSpPr>
                <p:nvPr/>
              </p:nvSpPr>
              <p:spPr bwMode="auto">
                <a:xfrm flipH="1">
                  <a:off x="3104" y="784"/>
                  <a:ext cx="88" cy="0"/>
                </a:xfrm>
                <a:prstGeom prst="line">
                  <a:avLst/>
                </a:prstGeom>
                <a:noFill/>
                <a:ln w="9525">
                  <a:solidFill>
                    <a:schemeClr val="tx1"/>
                  </a:solidFill>
                  <a:round/>
                  <a:headEnd/>
                  <a:tailEnd/>
                </a:ln>
              </p:spPr>
              <p:txBody>
                <a:bodyPr/>
                <a:lstStyle/>
                <a:p>
                  <a:endParaRPr lang="de-DE"/>
                </a:p>
              </p:txBody>
            </p:sp>
            <p:sp>
              <p:nvSpPr>
                <p:cNvPr id="227" name="Line 269"/>
                <p:cNvSpPr>
                  <a:spLocks noChangeShapeType="1"/>
                </p:cNvSpPr>
                <p:nvPr/>
              </p:nvSpPr>
              <p:spPr bwMode="auto">
                <a:xfrm flipH="1">
                  <a:off x="3072" y="760"/>
                  <a:ext cx="144" cy="0"/>
                </a:xfrm>
                <a:prstGeom prst="line">
                  <a:avLst/>
                </a:prstGeom>
                <a:noFill/>
                <a:ln w="9525">
                  <a:solidFill>
                    <a:schemeClr val="tx1"/>
                  </a:solidFill>
                  <a:round/>
                  <a:headEnd/>
                  <a:tailEnd/>
                </a:ln>
              </p:spPr>
              <p:txBody>
                <a:bodyPr/>
                <a:lstStyle/>
                <a:p>
                  <a:endParaRPr lang="de-DE"/>
                </a:p>
              </p:txBody>
            </p:sp>
          </p:grpSp>
          <p:pic>
            <p:nvPicPr>
              <p:cNvPr id="189" name="Picture 270" descr="imgyjavg[1]"/>
              <p:cNvPicPr>
                <a:picLocks noChangeAspect="1" noChangeArrowheads="1"/>
              </p:cNvPicPr>
              <p:nvPr/>
            </p:nvPicPr>
            <p:blipFill>
              <a:blip r:embed="rId4" cstate="print"/>
              <a:srcRect/>
              <a:stretch>
                <a:fillRect/>
              </a:stretch>
            </p:blipFill>
            <p:spPr bwMode="auto">
              <a:xfrm>
                <a:off x="-1027" y="1466"/>
                <a:ext cx="232" cy="168"/>
              </a:xfrm>
              <a:prstGeom prst="rect">
                <a:avLst/>
              </a:prstGeom>
              <a:noFill/>
              <a:ln w="9525">
                <a:noFill/>
                <a:miter lim="800000"/>
                <a:headEnd/>
                <a:tailEnd/>
              </a:ln>
            </p:spPr>
          </p:pic>
          <p:grpSp>
            <p:nvGrpSpPr>
              <p:cNvPr id="190" name="Group 271"/>
              <p:cNvGrpSpPr>
                <a:grpSpLocks/>
              </p:cNvGrpSpPr>
              <p:nvPr/>
            </p:nvGrpSpPr>
            <p:grpSpPr bwMode="auto">
              <a:xfrm>
                <a:off x="-546" y="1352"/>
                <a:ext cx="256" cy="269"/>
                <a:chOff x="2870" y="1518"/>
                <a:chExt cx="292" cy="320"/>
              </a:xfrm>
            </p:grpSpPr>
            <p:graphicFrame>
              <p:nvGraphicFramePr>
                <p:cNvPr id="223" name="Object 27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26829" imgH="840406" progId="">
                        <p:embed/>
                      </p:oleObj>
                    </mc:Choice>
                    <mc:Fallback>
                      <p:oleObj name="Clip" r:id="rId5" imgW="826829" imgH="840406" progId="">
                        <p:embed/>
                        <p:pic>
                          <p:nvPicPr>
                            <p:cNvPr id="0" name="Picture 3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4" name="Object 27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8295" imgH="1199426" progId="">
                        <p:embed/>
                      </p:oleObj>
                    </mc:Choice>
                    <mc:Fallback>
                      <p:oleObj name="Clip" r:id="rId7" imgW="1268295" imgH="1199426" progId="">
                        <p:embed/>
                        <p:pic>
                          <p:nvPicPr>
                            <p:cNvPr id="0" name="Picture 30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91" name="Group 405"/>
              <p:cNvGrpSpPr>
                <a:grpSpLocks/>
              </p:cNvGrpSpPr>
              <p:nvPr/>
            </p:nvGrpSpPr>
            <p:grpSpPr bwMode="auto">
              <a:xfrm>
                <a:off x="-1002" y="2262"/>
                <a:ext cx="209" cy="224"/>
                <a:chOff x="2870" y="1518"/>
                <a:chExt cx="292" cy="320"/>
              </a:xfrm>
            </p:grpSpPr>
            <p:graphicFrame>
              <p:nvGraphicFramePr>
                <p:cNvPr id="221" name="Object 4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9" imgW="826829" imgH="840406" progId="">
                        <p:embed/>
                      </p:oleObj>
                    </mc:Choice>
                    <mc:Fallback>
                      <p:oleObj name="Clip" r:id="rId9" imgW="826829" imgH="840406" progId="">
                        <p:embed/>
                        <p:pic>
                          <p:nvPicPr>
                            <p:cNvPr id="0" name="Picture 30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2" name="Object 4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0" imgW="1268295" imgH="1199426" progId="">
                        <p:embed/>
                      </p:oleObj>
                    </mc:Choice>
                    <mc:Fallback>
                      <p:oleObj name="Clip" r:id="rId10" imgW="1268295" imgH="1199426" progId="">
                        <p:embed/>
                        <p:pic>
                          <p:nvPicPr>
                            <p:cNvPr id="0" name="Picture 30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92" name="Object 426"/>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name="Clip" r:id="rId11" imgW="1307263" imgH="1084139" progId="">
                      <p:embed/>
                    </p:oleObj>
                  </mc:Choice>
                  <mc:Fallback>
                    <p:oleObj name="Clip" r:id="rId11" imgW="1307263" imgH="1084139" progId="">
                      <p:embed/>
                      <p:pic>
                        <p:nvPicPr>
                          <p:cNvPr id="0" name="Picture 30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3" name="Group 431"/>
              <p:cNvGrpSpPr>
                <a:grpSpLocks/>
              </p:cNvGrpSpPr>
              <p:nvPr/>
            </p:nvGrpSpPr>
            <p:grpSpPr bwMode="auto">
              <a:xfrm>
                <a:off x="310" y="3572"/>
                <a:ext cx="125" cy="229"/>
                <a:chOff x="4180" y="783"/>
                <a:chExt cx="150" cy="307"/>
              </a:xfrm>
            </p:grpSpPr>
            <p:sp>
              <p:nvSpPr>
                <p:cNvPr id="213" name="AutoShape 432"/>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14" name="Rectangle 433"/>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15" name="Rectangle 43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16" name="AutoShape 43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17" name="Line 436"/>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18" name="Line 437"/>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19" name="Rectangle 43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20" name="Rectangle 439"/>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graphicFrame>
            <p:nvGraphicFramePr>
              <p:cNvPr id="194" name="Object 494"/>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name="Clip" r:id="rId13" imgW="1307263" imgH="1084139" progId="">
                      <p:embed/>
                    </p:oleObj>
                  </mc:Choice>
                  <mc:Fallback>
                    <p:oleObj name="Clip" r:id="rId13" imgW="1307263" imgH="1084139" progId="">
                      <p:embed/>
                      <p:pic>
                        <p:nvPicPr>
                          <p:cNvPr id="0" name="Picture 30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5" name="Object 495"/>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name="Clip" r:id="rId14" imgW="1307263" imgH="1084139" progId="">
                      <p:embed/>
                    </p:oleObj>
                  </mc:Choice>
                  <mc:Fallback>
                    <p:oleObj name="Clip" r:id="rId14" imgW="1307263" imgH="1084139" progId="">
                      <p:embed/>
                      <p:pic>
                        <p:nvPicPr>
                          <p:cNvPr id="0" name="Picture 30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6" name="Object 496"/>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name="Clip" r:id="rId15" imgW="1307263" imgH="1084139" progId="">
                      <p:embed/>
                    </p:oleObj>
                  </mc:Choice>
                  <mc:Fallback>
                    <p:oleObj name="Clip" r:id="rId15" imgW="1307263" imgH="1084139" progId="">
                      <p:embed/>
                      <p:pic>
                        <p:nvPicPr>
                          <p:cNvPr id="0" name="Picture 30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7" name="Object 497"/>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name="Clip" r:id="rId16" imgW="1307263" imgH="1084139" progId="">
                      <p:embed/>
                    </p:oleObj>
                  </mc:Choice>
                  <mc:Fallback>
                    <p:oleObj name="Clip" r:id="rId16" imgW="1307263" imgH="1084139" progId="">
                      <p:embed/>
                      <p:pic>
                        <p:nvPicPr>
                          <p:cNvPr id="0" name="Picture 30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8" name="Group 498"/>
              <p:cNvGrpSpPr>
                <a:grpSpLocks/>
              </p:cNvGrpSpPr>
              <p:nvPr/>
            </p:nvGrpSpPr>
            <p:grpSpPr bwMode="auto">
              <a:xfrm>
                <a:off x="83" y="3620"/>
                <a:ext cx="172" cy="214"/>
                <a:chOff x="2870" y="1518"/>
                <a:chExt cx="292" cy="320"/>
              </a:xfrm>
            </p:grpSpPr>
            <p:graphicFrame>
              <p:nvGraphicFramePr>
                <p:cNvPr id="211" name="Object 49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7" imgW="826829" imgH="840406" progId="">
                        <p:embed/>
                      </p:oleObj>
                    </mc:Choice>
                    <mc:Fallback>
                      <p:oleObj name="Clip" r:id="rId17" imgW="826829" imgH="840406" progId="">
                        <p:embed/>
                        <p:pic>
                          <p:nvPicPr>
                            <p:cNvPr id="0" name="Picture 3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2" name="Object 50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8" imgW="1268295" imgH="1199426" progId="">
                        <p:embed/>
                      </p:oleObj>
                    </mc:Choice>
                    <mc:Fallback>
                      <p:oleObj name="Clip" r:id="rId18" imgW="1268295" imgH="1199426" progId="">
                        <p:embed/>
                        <p:pic>
                          <p:nvPicPr>
                            <p:cNvPr id="0" name="Picture 3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99" name="Group 501"/>
              <p:cNvGrpSpPr>
                <a:grpSpLocks/>
              </p:cNvGrpSpPr>
              <p:nvPr/>
            </p:nvGrpSpPr>
            <p:grpSpPr bwMode="auto">
              <a:xfrm>
                <a:off x="-201" y="3657"/>
                <a:ext cx="220" cy="203"/>
                <a:chOff x="2870" y="1518"/>
                <a:chExt cx="292" cy="320"/>
              </a:xfrm>
            </p:grpSpPr>
            <p:graphicFrame>
              <p:nvGraphicFramePr>
                <p:cNvPr id="209" name="Object 50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
                        <p:embed/>
                      </p:oleObj>
                    </mc:Choice>
                    <mc:Fallback>
                      <p:oleObj name="Clip" r:id="rId19" imgW="826829" imgH="840406" progId="">
                        <p:embed/>
                        <p:pic>
                          <p:nvPicPr>
                            <p:cNvPr id="0" name="Picture 3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0" name="Object 50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
                        <p:embed/>
                      </p:oleObj>
                    </mc:Choice>
                    <mc:Fallback>
                      <p:oleObj name="Clip" r:id="rId20" imgW="1268295" imgH="1199426" progId="">
                        <p:embed/>
                        <p:pic>
                          <p:nvPicPr>
                            <p:cNvPr id="0" name="Picture 3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00" name="Group 524"/>
              <p:cNvGrpSpPr>
                <a:grpSpLocks/>
              </p:cNvGrpSpPr>
              <p:nvPr/>
            </p:nvGrpSpPr>
            <p:grpSpPr bwMode="auto">
              <a:xfrm>
                <a:off x="569" y="3424"/>
                <a:ext cx="131" cy="260"/>
                <a:chOff x="4180" y="783"/>
                <a:chExt cx="150" cy="307"/>
              </a:xfrm>
            </p:grpSpPr>
            <p:sp>
              <p:nvSpPr>
                <p:cNvPr id="201" name="AutoShape 52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02" name="Rectangle 526"/>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03" name="Rectangle 52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04" name="AutoShape 52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05" name="Line 529"/>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06" name="Line 530"/>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07" name="Rectangle 53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08" name="Rectangle 532"/>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grpSp>
        <p:sp>
          <p:nvSpPr>
            <p:cNvPr id="101" name="Line 533"/>
            <p:cNvSpPr>
              <a:spLocks noChangeShapeType="1"/>
            </p:cNvSpPr>
            <p:nvPr/>
          </p:nvSpPr>
          <p:spPr bwMode="auto">
            <a:xfrm flipH="1">
              <a:off x="6497191" y="3501033"/>
              <a:ext cx="3175" cy="144462"/>
            </a:xfrm>
            <a:prstGeom prst="line">
              <a:avLst/>
            </a:prstGeom>
            <a:noFill/>
            <a:ln w="9525">
              <a:solidFill>
                <a:schemeClr val="bg2"/>
              </a:solidFill>
              <a:round/>
              <a:headEnd/>
              <a:tailEnd/>
            </a:ln>
          </p:spPr>
          <p:txBody>
            <a:bodyPr/>
            <a:lstStyle/>
            <a:p>
              <a:endParaRPr lang="de-DE"/>
            </a:p>
          </p:txBody>
        </p:sp>
        <p:sp>
          <p:nvSpPr>
            <p:cNvPr id="102" name="Line 534"/>
            <p:cNvSpPr>
              <a:spLocks noChangeShapeType="1"/>
            </p:cNvSpPr>
            <p:nvPr/>
          </p:nvSpPr>
          <p:spPr bwMode="auto">
            <a:xfrm flipV="1">
              <a:off x="7794179" y="2483445"/>
              <a:ext cx="123825" cy="87313"/>
            </a:xfrm>
            <a:prstGeom prst="line">
              <a:avLst/>
            </a:prstGeom>
            <a:noFill/>
            <a:ln w="9525">
              <a:solidFill>
                <a:schemeClr val="bg2"/>
              </a:solidFill>
              <a:round/>
              <a:headEnd/>
              <a:tailEnd/>
            </a:ln>
          </p:spPr>
          <p:txBody>
            <a:bodyPr/>
            <a:lstStyle/>
            <a:p>
              <a:endParaRPr lang="de-DE"/>
            </a:p>
          </p:txBody>
        </p:sp>
        <p:sp>
          <p:nvSpPr>
            <p:cNvPr id="103" name="Line 535"/>
            <p:cNvSpPr>
              <a:spLocks noChangeShapeType="1"/>
            </p:cNvSpPr>
            <p:nvPr/>
          </p:nvSpPr>
          <p:spPr bwMode="auto">
            <a:xfrm>
              <a:off x="7621141" y="2656483"/>
              <a:ext cx="0" cy="82550"/>
            </a:xfrm>
            <a:prstGeom prst="line">
              <a:avLst/>
            </a:prstGeom>
            <a:noFill/>
            <a:ln w="9525">
              <a:solidFill>
                <a:schemeClr val="bg2"/>
              </a:solidFill>
              <a:round/>
              <a:headEnd/>
              <a:tailEnd/>
            </a:ln>
          </p:spPr>
          <p:txBody>
            <a:bodyPr/>
            <a:lstStyle/>
            <a:p>
              <a:endParaRPr lang="de-DE"/>
            </a:p>
          </p:txBody>
        </p:sp>
        <p:sp>
          <p:nvSpPr>
            <p:cNvPr id="104" name="Line 536"/>
            <p:cNvSpPr>
              <a:spLocks noChangeShapeType="1"/>
            </p:cNvSpPr>
            <p:nvPr/>
          </p:nvSpPr>
          <p:spPr bwMode="auto">
            <a:xfrm flipV="1">
              <a:off x="7805291" y="2553295"/>
              <a:ext cx="263525" cy="288925"/>
            </a:xfrm>
            <a:prstGeom prst="line">
              <a:avLst/>
            </a:prstGeom>
            <a:noFill/>
            <a:ln w="9525">
              <a:solidFill>
                <a:schemeClr val="bg2"/>
              </a:solidFill>
              <a:round/>
              <a:headEnd/>
              <a:tailEnd/>
            </a:ln>
          </p:spPr>
          <p:txBody>
            <a:bodyPr/>
            <a:lstStyle/>
            <a:p>
              <a:endParaRPr lang="de-DE"/>
            </a:p>
          </p:txBody>
        </p:sp>
        <p:sp>
          <p:nvSpPr>
            <p:cNvPr id="105" name="Line 537"/>
            <p:cNvSpPr>
              <a:spLocks noChangeShapeType="1"/>
            </p:cNvSpPr>
            <p:nvPr/>
          </p:nvSpPr>
          <p:spPr bwMode="auto">
            <a:xfrm>
              <a:off x="8157716" y="2551708"/>
              <a:ext cx="0" cy="196850"/>
            </a:xfrm>
            <a:prstGeom prst="line">
              <a:avLst/>
            </a:prstGeom>
            <a:noFill/>
            <a:ln w="9525">
              <a:solidFill>
                <a:schemeClr val="bg2"/>
              </a:solidFill>
              <a:round/>
              <a:headEnd/>
              <a:tailEnd/>
            </a:ln>
          </p:spPr>
          <p:txBody>
            <a:bodyPr/>
            <a:lstStyle/>
            <a:p>
              <a:endParaRPr lang="de-DE"/>
            </a:p>
          </p:txBody>
        </p:sp>
        <p:sp>
          <p:nvSpPr>
            <p:cNvPr id="106" name="Line 538"/>
            <p:cNvSpPr>
              <a:spLocks noChangeShapeType="1"/>
            </p:cNvSpPr>
            <p:nvPr/>
          </p:nvSpPr>
          <p:spPr bwMode="auto">
            <a:xfrm>
              <a:off x="7811641" y="2858095"/>
              <a:ext cx="188913" cy="0"/>
            </a:xfrm>
            <a:prstGeom prst="line">
              <a:avLst/>
            </a:prstGeom>
            <a:noFill/>
            <a:ln w="9525">
              <a:solidFill>
                <a:schemeClr val="bg2"/>
              </a:solidFill>
              <a:round/>
              <a:headEnd/>
              <a:tailEnd/>
            </a:ln>
          </p:spPr>
          <p:txBody>
            <a:bodyPr/>
            <a:lstStyle/>
            <a:p>
              <a:endParaRPr lang="de-DE"/>
            </a:p>
          </p:txBody>
        </p:sp>
        <p:sp>
          <p:nvSpPr>
            <p:cNvPr id="107" name="Line 539"/>
            <p:cNvSpPr>
              <a:spLocks noChangeShapeType="1"/>
            </p:cNvSpPr>
            <p:nvPr/>
          </p:nvSpPr>
          <p:spPr bwMode="auto">
            <a:xfrm flipV="1">
              <a:off x="6106666" y="3724870"/>
              <a:ext cx="168275" cy="3175"/>
            </a:xfrm>
            <a:prstGeom prst="line">
              <a:avLst/>
            </a:prstGeom>
            <a:noFill/>
            <a:ln w="9525">
              <a:solidFill>
                <a:schemeClr val="bg2"/>
              </a:solidFill>
              <a:round/>
              <a:headEnd/>
              <a:tailEnd/>
            </a:ln>
          </p:spPr>
          <p:txBody>
            <a:bodyPr/>
            <a:lstStyle/>
            <a:p>
              <a:endParaRPr lang="de-DE"/>
            </a:p>
          </p:txBody>
        </p:sp>
        <p:sp>
          <p:nvSpPr>
            <p:cNvPr id="108" name="Line 540"/>
            <p:cNvSpPr>
              <a:spLocks noChangeShapeType="1"/>
            </p:cNvSpPr>
            <p:nvPr/>
          </p:nvSpPr>
          <p:spPr bwMode="auto">
            <a:xfrm flipV="1">
              <a:off x="8225979" y="2251670"/>
              <a:ext cx="238125" cy="168275"/>
            </a:xfrm>
            <a:prstGeom prst="line">
              <a:avLst/>
            </a:prstGeom>
            <a:noFill/>
            <a:ln w="9525">
              <a:solidFill>
                <a:schemeClr val="bg2"/>
              </a:solidFill>
              <a:round/>
              <a:headEnd/>
              <a:tailEnd/>
            </a:ln>
          </p:spPr>
          <p:txBody>
            <a:bodyPr/>
            <a:lstStyle/>
            <a:p>
              <a:endParaRPr lang="de-DE"/>
            </a:p>
          </p:txBody>
        </p:sp>
        <p:sp>
          <p:nvSpPr>
            <p:cNvPr id="109" name="Line 541"/>
            <p:cNvSpPr>
              <a:spLocks noChangeShapeType="1"/>
            </p:cNvSpPr>
            <p:nvPr/>
          </p:nvSpPr>
          <p:spPr bwMode="auto">
            <a:xfrm>
              <a:off x="8365679" y="2848570"/>
              <a:ext cx="177800" cy="0"/>
            </a:xfrm>
            <a:prstGeom prst="line">
              <a:avLst/>
            </a:prstGeom>
            <a:noFill/>
            <a:ln w="9525">
              <a:solidFill>
                <a:schemeClr val="bg2"/>
              </a:solidFill>
              <a:round/>
              <a:headEnd/>
              <a:tailEnd/>
            </a:ln>
          </p:spPr>
          <p:txBody>
            <a:bodyPr/>
            <a:lstStyle/>
            <a:p>
              <a:endParaRPr lang="de-DE"/>
            </a:p>
          </p:txBody>
        </p:sp>
        <p:sp>
          <p:nvSpPr>
            <p:cNvPr id="110" name="Line 542"/>
            <p:cNvSpPr>
              <a:spLocks noChangeShapeType="1"/>
            </p:cNvSpPr>
            <p:nvPr/>
          </p:nvSpPr>
          <p:spPr bwMode="auto">
            <a:xfrm flipH="1">
              <a:off x="7511604" y="2924770"/>
              <a:ext cx="98425" cy="704850"/>
            </a:xfrm>
            <a:prstGeom prst="line">
              <a:avLst/>
            </a:prstGeom>
            <a:noFill/>
            <a:ln w="9525">
              <a:solidFill>
                <a:schemeClr val="bg2"/>
              </a:solidFill>
              <a:round/>
              <a:headEnd/>
              <a:tailEnd/>
            </a:ln>
          </p:spPr>
          <p:txBody>
            <a:bodyPr/>
            <a:lstStyle/>
            <a:p>
              <a:endParaRPr lang="de-DE"/>
            </a:p>
          </p:txBody>
        </p:sp>
        <p:sp>
          <p:nvSpPr>
            <p:cNvPr id="111" name="Line 543"/>
            <p:cNvSpPr>
              <a:spLocks noChangeShapeType="1"/>
            </p:cNvSpPr>
            <p:nvPr/>
          </p:nvSpPr>
          <p:spPr bwMode="auto">
            <a:xfrm flipH="1">
              <a:off x="8102154" y="2924770"/>
              <a:ext cx="111125" cy="727075"/>
            </a:xfrm>
            <a:prstGeom prst="line">
              <a:avLst/>
            </a:prstGeom>
            <a:noFill/>
            <a:ln w="9525">
              <a:solidFill>
                <a:schemeClr val="bg2"/>
              </a:solidFill>
              <a:round/>
              <a:headEnd/>
              <a:tailEnd/>
            </a:ln>
          </p:spPr>
          <p:txBody>
            <a:bodyPr/>
            <a:lstStyle/>
            <a:p>
              <a:endParaRPr lang="de-DE"/>
            </a:p>
          </p:txBody>
        </p:sp>
        <p:grpSp>
          <p:nvGrpSpPr>
            <p:cNvPr id="112" name="Group 546"/>
            <p:cNvGrpSpPr>
              <a:grpSpLocks/>
            </p:cNvGrpSpPr>
            <p:nvPr/>
          </p:nvGrpSpPr>
          <p:grpSpPr bwMode="auto">
            <a:xfrm>
              <a:off x="7154431" y="4478949"/>
              <a:ext cx="501651" cy="298451"/>
              <a:chOff x="4701" y="2956"/>
              <a:chExt cx="316" cy="188"/>
            </a:xfrm>
          </p:grpSpPr>
          <p:sp>
            <p:nvSpPr>
              <p:cNvPr id="175" name="Oval 547"/>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176" name="Line 548"/>
              <p:cNvSpPr>
                <a:spLocks noChangeShapeType="1"/>
              </p:cNvSpPr>
              <p:nvPr/>
            </p:nvSpPr>
            <p:spPr bwMode="auto">
              <a:xfrm>
                <a:off x="4704" y="3055"/>
                <a:ext cx="0" cy="51"/>
              </a:xfrm>
              <a:prstGeom prst="line">
                <a:avLst/>
              </a:prstGeom>
              <a:noFill/>
              <a:ln w="12700">
                <a:solidFill>
                  <a:schemeClr val="folHlink"/>
                </a:solidFill>
                <a:round/>
                <a:headEnd/>
                <a:tailEnd/>
              </a:ln>
            </p:spPr>
            <p:txBody>
              <a:bodyPr wrap="none" anchor="ctr"/>
              <a:lstStyle/>
              <a:p>
                <a:endParaRPr lang="de-DE"/>
              </a:p>
            </p:txBody>
          </p:sp>
          <p:sp>
            <p:nvSpPr>
              <p:cNvPr id="177" name="Line 549"/>
              <p:cNvSpPr>
                <a:spLocks noChangeShapeType="1"/>
              </p:cNvSpPr>
              <p:nvPr/>
            </p:nvSpPr>
            <p:spPr bwMode="auto">
              <a:xfrm>
                <a:off x="5017" y="3055"/>
                <a:ext cx="0" cy="51"/>
              </a:xfrm>
              <a:prstGeom prst="line">
                <a:avLst/>
              </a:prstGeom>
              <a:noFill/>
              <a:ln w="12700">
                <a:solidFill>
                  <a:schemeClr val="folHlink"/>
                </a:solidFill>
                <a:round/>
                <a:headEnd/>
                <a:tailEnd/>
              </a:ln>
            </p:spPr>
            <p:txBody>
              <a:bodyPr wrap="none" anchor="ctr"/>
              <a:lstStyle/>
              <a:p>
                <a:endParaRPr lang="de-DE"/>
              </a:p>
            </p:txBody>
          </p:sp>
          <p:sp>
            <p:nvSpPr>
              <p:cNvPr id="178" name="Rectangle 550"/>
              <p:cNvSpPr>
                <a:spLocks noChangeArrowheads="1"/>
              </p:cNvSpPr>
              <p:nvPr/>
            </p:nvSpPr>
            <p:spPr bwMode="auto">
              <a:xfrm>
                <a:off x="4704" y="3055"/>
                <a:ext cx="310" cy="50"/>
              </a:xfrm>
              <a:prstGeom prst="rect">
                <a:avLst/>
              </a:prstGeom>
              <a:solidFill>
                <a:srgbClr val="DDDDDD"/>
              </a:solidFill>
              <a:ln w="12700">
                <a:noFill/>
                <a:miter lim="800000"/>
                <a:headEnd/>
                <a:tailEnd/>
              </a:ln>
            </p:spPr>
            <p:txBody>
              <a:bodyPr wrap="none" anchor="ctr"/>
              <a:lstStyle/>
              <a:p>
                <a:pPr algn="ctr"/>
                <a:endParaRPr lang="de-DE"/>
              </a:p>
            </p:txBody>
          </p:sp>
          <p:sp>
            <p:nvSpPr>
              <p:cNvPr id="179" name="Oval 551"/>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180" name="Group 552"/>
              <p:cNvGrpSpPr>
                <a:grpSpLocks/>
              </p:cNvGrpSpPr>
              <p:nvPr/>
            </p:nvGrpSpPr>
            <p:grpSpPr bwMode="auto">
              <a:xfrm>
                <a:off x="4796" y="2956"/>
                <a:ext cx="157" cy="49"/>
                <a:chOff x="2848" y="848"/>
                <a:chExt cx="140" cy="98"/>
              </a:xfrm>
            </p:grpSpPr>
            <p:sp>
              <p:nvSpPr>
                <p:cNvPr id="185" name="Line 55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186" name="Line 55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187" name="Line 55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181" name="Group 556"/>
              <p:cNvGrpSpPr>
                <a:grpSpLocks/>
              </p:cNvGrpSpPr>
              <p:nvPr/>
            </p:nvGrpSpPr>
            <p:grpSpPr bwMode="auto">
              <a:xfrm flipV="1">
                <a:off x="4796" y="3084"/>
                <a:ext cx="157" cy="49"/>
                <a:chOff x="2848" y="848"/>
                <a:chExt cx="140" cy="98"/>
              </a:xfrm>
            </p:grpSpPr>
            <p:sp>
              <p:nvSpPr>
                <p:cNvPr id="182" name="Line 55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183" name="Line 55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184" name="Line 55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grpSp>
          <p:nvGrpSpPr>
            <p:cNvPr id="113" name="Group 560"/>
            <p:cNvGrpSpPr>
              <a:grpSpLocks/>
            </p:cNvGrpSpPr>
            <p:nvPr/>
          </p:nvGrpSpPr>
          <p:grpSpPr bwMode="auto">
            <a:xfrm>
              <a:off x="6489269" y="4780574"/>
              <a:ext cx="501651" cy="298451"/>
              <a:chOff x="4701" y="2956"/>
              <a:chExt cx="316" cy="188"/>
            </a:xfrm>
          </p:grpSpPr>
          <p:sp>
            <p:nvSpPr>
              <p:cNvPr id="162" name="Oval 561"/>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163" name="Line 562"/>
              <p:cNvSpPr>
                <a:spLocks noChangeShapeType="1"/>
              </p:cNvSpPr>
              <p:nvPr/>
            </p:nvSpPr>
            <p:spPr bwMode="auto">
              <a:xfrm>
                <a:off x="4704" y="3055"/>
                <a:ext cx="0" cy="51"/>
              </a:xfrm>
              <a:prstGeom prst="line">
                <a:avLst/>
              </a:prstGeom>
              <a:noFill/>
              <a:ln w="12700">
                <a:solidFill>
                  <a:schemeClr val="folHlink"/>
                </a:solidFill>
                <a:round/>
                <a:headEnd/>
                <a:tailEnd/>
              </a:ln>
            </p:spPr>
            <p:txBody>
              <a:bodyPr wrap="none" anchor="ctr"/>
              <a:lstStyle/>
              <a:p>
                <a:endParaRPr lang="de-DE"/>
              </a:p>
            </p:txBody>
          </p:sp>
          <p:sp>
            <p:nvSpPr>
              <p:cNvPr id="164" name="Line 563"/>
              <p:cNvSpPr>
                <a:spLocks noChangeShapeType="1"/>
              </p:cNvSpPr>
              <p:nvPr/>
            </p:nvSpPr>
            <p:spPr bwMode="auto">
              <a:xfrm>
                <a:off x="5017" y="3055"/>
                <a:ext cx="0" cy="51"/>
              </a:xfrm>
              <a:prstGeom prst="line">
                <a:avLst/>
              </a:prstGeom>
              <a:noFill/>
              <a:ln w="12700">
                <a:solidFill>
                  <a:schemeClr val="folHlink"/>
                </a:solidFill>
                <a:round/>
                <a:headEnd/>
                <a:tailEnd/>
              </a:ln>
            </p:spPr>
            <p:txBody>
              <a:bodyPr wrap="none" anchor="ctr"/>
              <a:lstStyle/>
              <a:p>
                <a:endParaRPr lang="de-DE"/>
              </a:p>
            </p:txBody>
          </p:sp>
          <p:sp>
            <p:nvSpPr>
              <p:cNvPr id="165" name="Rectangle 564"/>
              <p:cNvSpPr>
                <a:spLocks noChangeArrowheads="1"/>
              </p:cNvSpPr>
              <p:nvPr/>
            </p:nvSpPr>
            <p:spPr bwMode="auto">
              <a:xfrm>
                <a:off x="4704" y="3055"/>
                <a:ext cx="310" cy="50"/>
              </a:xfrm>
              <a:prstGeom prst="rect">
                <a:avLst/>
              </a:prstGeom>
              <a:solidFill>
                <a:srgbClr val="DDDDDD"/>
              </a:solidFill>
              <a:ln w="12700">
                <a:noFill/>
                <a:miter lim="800000"/>
                <a:headEnd/>
                <a:tailEnd/>
              </a:ln>
            </p:spPr>
            <p:txBody>
              <a:bodyPr wrap="none" anchor="ctr"/>
              <a:lstStyle/>
              <a:p>
                <a:pPr algn="ctr"/>
                <a:endParaRPr lang="de-DE"/>
              </a:p>
            </p:txBody>
          </p:sp>
          <p:sp>
            <p:nvSpPr>
              <p:cNvPr id="166" name="Oval 565"/>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167" name="Group 566"/>
              <p:cNvGrpSpPr>
                <a:grpSpLocks/>
              </p:cNvGrpSpPr>
              <p:nvPr/>
            </p:nvGrpSpPr>
            <p:grpSpPr bwMode="auto">
              <a:xfrm>
                <a:off x="4796" y="2956"/>
                <a:ext cx="157" cy="49"/>
                <a:chOff x="2848" y="848"/>
                <a:chExt cx="140" cy="98"/>
              </a:xfrm>
            </p:grpSpPr>
            <p:sp>
              <p:nvSpPr>
                <p:cNvPr id="172" name="Line 56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173" name="Line 56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174" name="Line 56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168" name="Group 570"/>
              <p:cNvGrpSpPr>
                <a:grpSpLocks/>
              </p:cNvGrpSpPr>
              <p:nvPr/>
            </p:nvGrpSpPr>
            <p:grpSpPr bwMode="auto">
              <a:xfrm flipV="1">
                <a:off x="4796" y="3084"/>
                <a:ext cx="157" cy="49"/>
                <a:chOff x="2848" y="848"/>
                <a:chExt cx="140" cy="98"/>
              </a:xfrm>
            </p:grpSpPr>
            <p:sp>
              <p:nvSpPr>
                <p:cNvPr id="169" name="Line 571"/>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170" name="Line 572"/>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171" name="Line 573"/>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grpSp>
          <p:nvGrpSpPr>
            <p:cNvPr id="114" name="Group 576"/>
            <p:cNvGrpSpPr>
              <a:grpSpLocks/>
            </p:cNvGrpSpPr>
            <p:nvPr/>
          </p:nvGrpSpPr>
          <p:grpSpPr bwMode="auto">
            <a:xfrm>
              <a:off x="7319538" y="5029820"/>
              <a:ext cx="290514" cy="404815"/>
              <a:chOff x="4290" y="3130"/>
              <a:chExt cx="183" cy="255"/>
            </a:xfrm>
          </p:grpSpPr>
          <p:pic>
            <p:nvPicPr>
              <p:cNvPr id="144" name="Picture 505" descr="31u_bnrz[1]"/>
              <p:cNvPicPr>
                <a:picLocks noChangeAspect="1" noChangeArrowheads="1"/>
              </p:cNvPicPr>
              <p:nvPr/>
            </p:nvPicPr>
            <p:blipFill>
              <a:blip r:embed="rId21" cstate="print"/>
              <a:srcRect/>
              <a:stretch>
                <a:fillRect/>
              </a:stretch>
            </p:blipFill>
            <p:spPr bwMode="auto">
              <a:xfrm>
                <a:off x="4343" y="3211"/>
                <a:ext cx="121" cy="174"/>
              </a:xfrm>
              <a:prstGeom prst="rect">
                <a:avLst/>
              </a:prstGeom>
              <a:solidFill>
                <a:srgbClr val="DDDDDD"/>
              </a:solidFill>
              <a:ln w="9525">
                <a:noFill/>
                <a:miter lim="800000"/>
                <a:headEnd/>
                <a:tailEnd/>
              </a:ln>
            </p:spPr>
          </p:pic>
          <p:sp>
            <p:nvSpPr>
              <p:cNvPr id="145" name="Freeform 506"/>
              <p:cNvSpPr>
                <a:spLocks/>
              </p:cNvSpPr>
              <p:nvPr/>
            </p:nvSpPr>
            <p:spPr bwMode="auto">
              <a:xfrm>
                <a:off x="4339" y="3143"/>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46" name="Freeform 507"/>
              <p:cNvSpPr>
                <a:spLocks/>
              </p:cNvSpPr>
              <p:nvPr/>
            </p:nvSpPr>
            <p:spPr bwMode="auto">
              <a:xfrm>
                <a:off x="4395" y="3142"/>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47" name="Freeform 508"/>
              <p:cNvSpPr>
                <a:spLocks/>
              </p:cNvSpPr>
              <p:nvPr/>
            </p:nvSpPr>
            <p:spPr bwMode="auto">
              <a:xfrm>
                <a:off x="4318" y="3135"/>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48" name="Freeform 509"/>
              <p:cNvSpPr>
                <a:spLocks/>
              </p:cNvSpPr>
              <p:nvPr/>
            </p:nvSpPr>
            <p:spPr bwMode="auto">
              <a:xfrm>
                <a:off x="4394" y="3133"/>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49" name="Freeform 510"/>
              <p:cNvSpPr>
                <a:spLocks/>
              </p:cNvSpPr>
              <p:nvPr/>
            </p:nvSpPr>
            <p:spPr bwMode="auto">
              <a:xfrm>
                <a:off x="4298" y="3153"/>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50" name="Freeform 511"/>
              <p:cNvSpPr>
                <a:spLocks/>
              </p:cNvSpPr>
              <p:nvPr/>
            </p:nvSpPr>
            <p:spPr bwMode="auto">
              <a:xfrm>
                <a:off x="4432" y="3130"/>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51" name="Freeform 512"/>
              <p:cNvSpPr>
                <a:spLocks/>
              </p:cNvSpPr>
              <p:nvPr/>
            </p:nvSpPr>
            <p:spPr bwMode="auto">
              <a:xfrm>
                <a:off x="4387" y="3191"/>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52" name="Freeform 513"/>
              <p:cNvSpPr>
                <a:spLocks/>
              </p:cNvSpPr>
              <p:nvPr/>
            </p:nvSpPr>
            <p:spPr bwMode="auto">
              <a:xfrm>
                <a:off x="4381" y="3174"/>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53" name="Freeform 514"/>
              <p:cNvSpPr>
                <a:spLocks/>
              </p:cNvSpPr>
              <p:nvPr/>
            </p:nvSpPr>
            <p:spPr bwMode="auto">
              <a:xfrm>
                <a:off x="4375" y="3163"/>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54" name="Freeform 515"/>
              <p:cNvSpPr>
                <a:spLocks/>
              </p:cNvSpPr>
              <p:nvPr/>
            </p:nvSpPr>
            <p:spPr bwMode="auto">
              <a:xfrm>
                <a:off x="4370" y="3155"/>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55" name="Freeform 516"/>
              <p:cNvSpPr>
                <a:spLocks/>
              </p:cNvSpPr>
              <p:nvPr/>
            </p:nvSpPr>
            <p:spPr bwMode="auto">
              <a:xfrm>
                <a:off x="4330" y="3145"/>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de-DE"/>
              </a:p>
            </p:txBody>
          </p:sp>
          <p:sp>
            <p:nvSpPr>
              <p:cNvPr id="156" name="Freeform 517"/>
              <p:cNvSpPr>
                <a:spLocks/>
              </p:cNvSpPr>
              <p:nvPr/>
            </p:nvSpPr>
            <p:spPr bwMode="auto">
              <a:xfrm>
                <a:off x="4386" y="3145"/>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de-DE"/>
              </a:p>
            </p:txBody>
          </p:sp>
          <p:sp>
            <p:nvSpPr>
              <p:cNvPr id="157" name="Freeform 518"/>
              <p:cNvSpPr>
                <a:spLocks/>
              </p:cNvSpPr>
              <p:nvPr/>
            </p:nvSpPr>
            <p:spPr bwMode="auto">
              <a:xfrm>
                <a:off x="4309" y="3138"/>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de-DE"/>
              </a:p>
            </p:txBody>
          </p:sp>
          <p:sp>
            <p:nvSpPr>
              <p:cNvPr id="158" name="Freeform 519"/>
              <p:cNvSpPr>
                <a:spLocks/>
              </p:cNvSpPr>
              <p:nvPr/>
            </p:nvSpPr>
            <p:spPr bwMode="auto">
              <a:xfrm>
                <a:off x="4384" y="3136"/>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de-DE"/>
              </a:p>
            </p:txBody>
          </p:sp>
          <p:sp>
            <p:nvSpPr>
              <p:cNvPr id="159" name="Freeform 520"/>
              <p:cNvSpPr>
                <a:spLocks/>
              </p:cNvSpPr>
              <p:nvPr/>
            </p:nvSpPr>
            <p:spPr bwMode="auto">
              <a:xfrm>
                <a:off x="4290" y="3159"/>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de-DE"/>
              </a:p>
            </p:txBody>
          </p:sp>
          <p:sp>
            <p:nvSpPr>
              <p:cNvPr id="160" name="Freeform 521"/>
              <p:cNvSpPr>
                <a:spLocks/>
              </p:cNvSpPr>
              <p:nvPr/>
            </p:nvSpPr>
            <p:spPr bwMode="auto">
              <a:xfrm>
                <a:off x="4423" y="3133"/>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de-DE"/>
              </a:p>
            </p:txBody>
          </p:sp>
          <p:sp>
            <p:nvSpPr>
              <p:cNvPr id="161" name="Freeform 575"/>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de-DE"/>
              </a:p>
            </p:txBody>
          </p:sp>
        </p:grpSp>
        <p:grpSp>
          <p:nvGrpSpPr>
            <p:cNvPr id="115" name="Group 577"/>
            <p:cNvGrpSpPr>
              <a:grpSpLocks/>
            </p:cNvGrpSpPr>
            <p:nvPr/>
          </p:nvGrpSpPr>
          <p:grpSpPr bwMode="auto">
            <a:xfrm>
              <a:off x="5876457" y="3491546"/>
              <a:ext cx="290511" cy="404815"/>
              <a:chOff x="4290" y="3130"/>
              <a:chExt cx="183" cy="255"/>
            </a:xfrm>
          </p:grpSpPr>
          <p:pic>
            <p:nvPicPr>
              <p:cNvPr id="126" name="Picture 578" descr="31u_bnrz[1]"/>
              <p:cNvPicPr>
                <a:picLocks noChangeAspect="1" noChangeArrowheads="1"/>
              </p:cNvPicPr>
              <p:nvPr/>
            </p:nvPicPr>
            <p:blipFill>
              <a:blip r:embed="rId21" cstate="print"/>
              <a:srcRect/>
              <a:stretch>
                <a:fillRect/>
              </a:stretch>
            </p:blipFill>
            <p:spPr bwMode="auto">
              <a:xfrm>
                <a:off x="4343" y="3211"/>
                <a:ext cx="121" cy="174"/>
              </a:xfrm>
              <a:prstGeom prst="rect">
                <a:avLst/>
              </a:prstGeom>
              <a:solidFill>
                <a:srgbClr val="DDDDDD"/>
              </a:solidFill>
              <a:ln w="9525">
                <a:noFill/>
                <a:miter lim="800000"/>
                <a:headEnd/>
                <a:tailEnd/>
              </a:ln>
            </p:spPr>
          </p:pic>
          <p:sp>
            <p:nvSpPr>
              <p:cNvPr id="127" name="Freeform 579"/>
              <p:cNvSpPr>
                <a:spLocks/>
              </p:cNvSpPr>
              <p:nvPr/>
            </p:nvSpPr>
            <p:spPr bwMode="auto">
              <a:xfrm>
                <a:off x="4339" y="3143"/>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8" name="Freeform 580"/>
              <p:cNvSpPr>
                <a:spLocks/>
              </p:cNvSpPr>
              <p:nvPr/>
            </p:nvSpPr>
            <p:spPr bwMode="auto">
              <a:xfrm>
                <a:off x="4395" y="3142"/>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9" name="Freeform 581"/>
              <p:cNvSpPr>
                <a:spLocks/>
              </p:cNvSpPr>
              <p:nvPr/>
            </p:nvSpPr>
            <p:spPr bwMode="auto">
              <a:xfrm>
                <a:off x="4318" y="3135"/>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30" name="Freeform 582"/>
              <p:cNvSpPr>
                <a:spLocks/>
              </p:cNvSpPr>
              <p:nvPr/>
            </p:nvSpPr>
            <p:spPr bwMode="auto">
              <a:xfrm>
                <a:off x="4394" y="3133"/>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31" name="Freeform 583"/>
              <p:cNvSpPr>
                <a:spLocks/>
              </p:cNvSpPr>
              <p:nvPr/>
            </p:nvSpPr>
            <p:spPr bwMode="auto">
              <a:xfrm>
                <a:off x="4298" y="3153"/>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32" name="Freeform 584"/>
              <p:cNvSpPr>
                <a:spLocks/>
              </p:cNvSpPr>
              <p:nvPr/>
            </p:nvSpPr>
            <p:spPr bwMode="auto">
              <a:xfrm>
                <a:off x="4432" y="3130"/>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33" name="Freeform 585"/>
              <p:cNvSpPr>
                <a:spLocks/>
              </p:cNvSpPr>
              <p:nvPr/>
            </p:nvSpPr>
            <p:spPr bwMode="auto">
              <a:xfrm>
                <a:off x="4387" y="3191"/>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34" name="Freeform 586"/>
              <p:cNvSpPr>
                <a:spLocks/>
              </p:cNvSpPr>
              <p:nvPr/>
            </p:nvSpPr>
            <p:spPr bwMode="auto">
              <a:xfrm>
                <a:off x="4381" y="3174"/>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35" name="Freeform 587"/>
              <p:cNvSpPr>
                <a:spLocks/>
              </p:cNvSpPr>
              <p:nvPr/>
            </p:nvSpPr>
            <p:spPr bwMode="auto">
              <a:xfrm>
                <a:off x="4375" y="3163"/>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36" name="Freeform 588"/>
              <p:cNvSpPr>
                <a:spLocks/>
              </p:cNvSpPr>
              <p:nvPr/>
            </p:nvSpPr>
            <p:spPr bwMode="auto">
              <a:xfrm>
                <a:off x="4370" y="3155"/>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37" name="Freeform 589"/>
              <p:cNvSpPr>
                <a:spLocks/>
              </p:cNvSpPr>
              <p:nvPr/>
            </p:nvSpPr>
            <p:spPr bwMode="auto">
              <a:xfrm>
                <a:off x="4330" y="3145"/>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de-DE"/>
              </a:p>
            </p:txBody>
          </p:sp>
          <p:sp>
            <p:nvSpPr>
              <p:cNvPr id="138" name="Freeform 590"/>
              <p:cNvSpPr>
                <a:spLocks/>
              </p:cNvSpPr>
              <p:nvPr/>
            </p:nvSpPr>
            <p:spPr bwMode="auto">
              <a:xfrm>
                <a:off x="4386" y="3145"/>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de-DE"/>
              </a:p>
            </p:txBody>
          </p:sp>
          <p:sp>
            <p:nvSpPr>
              <p:cNvPr id="139" name="Freeform 591"/>
              <p:cNvSpPr>
                <a:spLocks/>
              </p:cNvSpPr>
              <p:nvPr/>
            </p:nvSpPr>
            <p:spPr bwMode="auto">
              <a:xfrm>
                <a:off x="4309" y="3138"/>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de-DE"/>
              </a:p>
            </p:txBody>
          </p:sp>
          <p:sp>
            <p:nvSpPr>
              <p:cNvPr id="140" name="Freeform 592"/>
              <p:cNvSpPr>
                <a:spLocks/>
              </p:cNvSpPr>
              <p:nvPr/>
            </p:nvSpPr>
            <p:spPr bwMode="auto">
              <a:xfrm>
                <a:off x="4384" y="3136"/>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de-DE"/>
              </a:p>
            </p:txBody>
          </p:sp>
          <p:sp>
            <p:nvSpPr>
              <p:cNvPr id="141" name="Freeform 593"/>
              <p:cNvSpPr>
                <a:spLocks/>
              </p:cNvSpPr>
              <p:nvPr/>
            </p:nvSpPr>
            <p:spPr bwMode="auto">
              <a:xfrm>
                <a:off x="4290" y="3159"/>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de-DE"/>
              </a:p>
            </p:txBody>
          </p:sp>
          <p:sp>
            <p:nvSpPr>
              <p:cNvPr id="142" name="Freeform 594"/>
              <p:cNvSpPr>
                <a:spLocks/>
              </p:cNvSpPr>
              <p:nvPr/>
            </p:nvSpPr>
            <p:spPr bwMode="auto">
              <a:xfrm>
                <a:off x="4423" y="3133"/>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de-DE"/>
              </a:p>
            </p:txBody>
          </p:sp>
          <p:sp>
            <p:nvSpPr>
              <p:cNvPr id="143" name="Freeform 595"/>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de-DE"/>
              </a:p>
            </p:txBody>
          </p:sp>
        </p:grpSp>
        <p:sp>
          <p:nvSpPr>
            <p:cNvPr id="122" name="Line 597"/>
            <p:cNvSpPr>
              <a:spLocks noChangeShapeType="1"/>
            </p:cNvSpPr>
            <p:nvPr/>
          </p:nvSpPr>
          <p:spPr bwMode="auto">
            <a:xfrm>
              <a:off x="7005194" y="2135783"/>
              <a:ext cx="1392238" cy="2797175"/>
            </a:xfrm>
            <a:prstGeom prst="line">
              <a:avLst/>
            </a:prstGeom>
            <a:noFill/>
            <a:ln w="76200">
              <a:solidFill>
                <a:srgbClr val="FFC000"/>
              </a:solidFill>
              <a:round/>
              <a:headEnd type="triangle" w="med" len="med"/>
              <a:tailEnd type="triangle" w="med" len="med"/>
            </a:ln>
          </p:spPr>
          <p:txBody>
            <a:bodyPr/>
            <a:lstStyle/>
            <a:p>
              <a:endParaRPr lang="de-DE"/>
            </a:p>
          </p:txBody>
        </p:sp>
        <p:sp>
          <p:nvSpPr>
            <p:cNvPr id="123" name="Line 598"/>
            <p:cNvSpPr>
              <a:spLocks noChangeShapeType="1"/>
            </p:cNvSpPr>
            <p:nvPr/>
          </p:nvSpPr>
          <p:spPr bwMode="auto">
            <a:xfrm>
              <a:off x="6011419" y="3570883"/>
              <a:ext cx="2360613" cy="1609725"/>
            </a:xfrm>
            <a:prstGeom prst="line">
              <a:avLst/>
            </a:prstGeom>
            <a:noFill/>
            <a:ln w="76200">
              <a:solidFill>
                <a:srgbClr val="FFC000"/>
              </a:solidFill>
              <a:round/>
              <a:headEnd type="triangle" w="med" len="med"/>
              <a:tailEnd type="triangle" w="med" len="med"/>
            </a:ln>
          </p:spPr>
          <p:txBody>
            <a:bodyPr/>
            <a:lstStyle/>
            <a:p>
              <a:endParaRPr lang="de-DE"/>
            </a:p>
          </p:txBody>
        </p:sp>
        <p:sp>
          <p:nvSpPr>
            <p:cNvPr id="124" name="Line 599"/>
            <p:cNvSpPr>
              <a:spLocks noChangeShapeType="1"/>
            </p:cNvSpPr>
            <p:nvPr/>
          </p:nvSpPr>
          <p:spPr bwMode="auto">
            <a:xfrm>
              <a:off x="6314631" y="5074246"/>
              <a:ext cx="1609725" cy="327025"/>
            </a:xfrm>
            <a:prstGeom prst="line">
              <a:avLst/>
            </a:prstGeom>
            <a:noFill/>
            <a:ln w="76200">
              <a:solidFill>
                <a:srgbClr val="FFC000"/>
              </a:solidFill>
              <a:round/>
              <a:headEnd type="triangle" w="med" len="med"/>
              <a:tailEnd type="triangle" w="med" len="med"/>
            </a:ln>
          </p:spPr>
          <p:txBody>
            <a:bodyPr/>
            <a:lstStyle/>
            <a:p>
              <a:endParaRPr lang="de-DE"/>
            </a:p>
          </p:txBody>
        </p:sp>
        <p:sp>
          <p:nvSpPr>
            <p:cNvPr id="125" name="Text Box 600"/>
            <p:cNvSpPr txBox="1">
              <a:spLocks noChangeArrowheads="1"/>
            </p:cNvSpPr>
            <p:nvPr/>
          </p:nvSpPr>
          <p:spPr bwMode="auto">
            <a:xfrm>
              <a:off x="7450908" y="4149080"/>
              <a:ext cx="1779654" cy="400110"/>
            </a:xfrm>
            <a:prstGeom prst="rect">
              <a:avLst/>
            </a:prstGeom>
            <a:noFill/>
            <a:ln w="9525">
              <a:noFill/>
              <a:miter lim="800000"/>
              <a:headEnd/>
              <a:tailEnd/>
            </a:ln>
          </p:spPr>
          <p:txBody>
            <a:bodyPr wrap="none">
              <a:spAutoFit/>
            </a:bodyPr>
            <a:lstStyle/>
            <a:p>
              <a:r>
                <a:rPr lang="en-US" sz="2000" b="1" dirty="0">
                  <a:solidFill>
                    <a:srgbClr val="AC8300"/>
                  </a:solidFill>
                </a:rPr>
                <a:t>Client-Server</a:t>
              </a:r>
            </a:p>
          </p:txBody>
        </p:sp>
        <p:sp>
          <p:nvSpPr>
            <p:cNvPr id="118" name="Line 602"/>
            <p:cNvSpPr>
              <a:spLocks noChangeShapeType="1"/>
            </p:cNvSpPr>
            <p:nvPr/>
          </p:nvSpPr>
          <p:spPr bwMode="auto">
            <a:xfrm flipH="1">
              <a:off x="6541647" y="2148484"/>
              <a:ext cx="298450" cy="1065213"/>
            </a:xfrm>
            <a:prstGeom prst="line">
              <a:avLst/>
            </a:prstGeom>
            <a:noFill/>
            <a:ln w="76200">
              <a:solidFill>
                <a:srgbClr val="FFC000"/>
              </a:solidFill>
              <a:round/>
              <a:headEnd type="triangle" w="med" len="med"/>
              <a:tailEnd type="triangle" w="med" len="med"/>
            </a:ln>
          </p:spPr>
          <p:txBody>
            <a:bodyPr/>
            <a:lstStyle/>
            <a:p>
              <a:endParaRPr lang="de-DE"/>
            </a:p>
          </p:txBody>
        </p:sp>
        <p:sp>
          <p:nvSpPr>
            <p:cNvPr id="119" name="Line 603"/>
            <p:cNvSpPr>
              <a:spLocks noChangeShapeType="1"/>
            </p:cNvSpPr>
            <p:nvPr/>
          </p:nvSpPr>
          <p:spPr bwMode="auto">
            <a:xfrm flipH="1">
              <a:off x="6066984" y="2137371"/>
              <a:ext cx="23813" cy="2906714"/>
            </a:xfrm>
            <a:prstGeom prst="line">
              <a:avLst/>
            </a:prstGeom>
            <a:noFill/>
            <a:ln w="76200">
              <a:solidFill>
                <a:srgbClr val="00B0F0">
                  <a:alpha val="57000"/>
                </a:srgbClr>
              </a:solidFill>
              <a:prstDash val="sysDash"/>
              <a:round/>
              <a:headEnd type="triangle" w="med" len="med"/>
              <a:tailEnd type="triangle" w="med" len="med"/>
            </a:ln>
          </p:spPr>
          <p:txBody>
            <a:bodyPr/>
            <a:lstStyle/>
            <a:p>
              <a:endParaRPr lang="de-DE">
                <a:solidFill>
                  <a:srgbClr val="00B0F0"/>
                </a:solidFill>
              </a:endParaRPr>
            </a:p>
          </p:txBody>
        </p:sp>
        <p:sp>
          <p:nvSpPr>
            <p:cNvPr id="121" name="Text Box 605"/>
            <p:cNvSpPr txBox="1">
              <a:spLocks noChangeArrowheads="1"/>
            </p:cNvSpPr>
            <p:nvPr/>
          </p:nvSpPr>
          <p:spPr bwMode="auto">
            <a:xfrm>
              <a:off x="5148064" y="2564904"/>
              <a:ext cx="1622560" cy="400110"/>
            </a:xfrm>
            <a:prstGeom prst="rect">
              <a:avLst/>
            </a:prstGeom>
            <a:noFill/>
            <a:ln w="9525">
              <a:noFill/>
              <a:prstDash val="sysDot"/>
              <a:miter lim="800000"/>
              <a:headEnd/>
              <a:tailEnd/>
            </a:ln>
          </p:spPr>
          <p:txBody>
            <a:bodyPr wrap="none">
              <a:spAutoFit/>
            </a:bodyPr>
            <a:lstStyle/>
            <a:p>
              <a:r>
                <a:rPr lang="en-US" sz="2000" dirty="0">
                  <a:solidFill>
                    <a:srgbClr val="00B0F0"/>
                  </a:solidFill>
                </a:rPr>
                <a:t>Peer-to-peer</a:t>
              </a:r>
            </a:p>
          </p:txBody>
        </p:sp>
      </p:grpSp>
      <p:grpSp>
        <p:nvGrpSpPr>
          <p:cNvPr id="338" name="Gruppieren 337"/>
          <p:cNvGrpSpPr/>
          <p:nvPr/>
        </p:nvGrpSpPr>
        <p:grpSpPr>
          <a:xfrm>
            <a:off x="4468571" y="5805584"/>
            <a:ext cx="4392488" cy="576064"/>
            <a:chOff x="467544" y="6281936"/>
            <a:chExt cx="3967539" cy="576064"/>
          </a:xfrm>
        </p:grpSpPr>
        <p:pic>
          <p:nvPicPr>
            <p:cNvPr id="566287" name="Picture 15" descr="C:\Artur\Academic\Lehre\10.WS-IBN\VL\figures\vl21\beer.jpg"/>
            <p:cNvPicPr>
              <a:picLocks noChangeAspect="1" noChangeArrowheads="1"/>
            </p:cNvPicPr>
            <p:nvPr/>
          </p:nvPicPr>
          <p:blipFill>
            <a:blip r:embed="rId22" cstate="print"/>
            <a:srcRect/>
            <a:stretch>
              <a:fillRect/>
            </a:stretch>
          </p:blipFill>
          <p:spPr bwMode="auto">
            <a:xfrm>
              <a:off x="3923928" y="6281936"/>
              <a:ext cx="511155" cy="576064"/>
            </a:xfrm>
            <a:prstGeom prst="rect">
              <a:avLst/>
            </a:prstGeom>
            <a:noFill/>
          </p:spPr>
        </p:pic>
        <p:pic>
          <p:nvPicPr>
            <p:cNvPr id="358" name="Picture 15" descr="C:\Artur\Academic\Lehre\10.WS-IBN\VL\figures\vl21\beer.jpg"/>
            <p:cNvPicPr>
              <a:picLocks noChangeAspect="1" noChangeArrowheads="1"/>
            </p:cNvPicPr>
            <p:nvPr/>
          </p:nvPicPr>
          <p:blipFill>
            <a:blip r:embed="rId22" cstate="print"/>
            <a:srcRect/>
            <a:stretch>
              <a:fillRect/>
            </a:stretch>
          </p:blipFill>
          <p:spPr bwMode="auto">
            <a:xfrm flipH="1">
              <a:off x="3059832" y="6281936"/>
              <a:ext cx="511155" cy="576064"/>
            </a:xfrm>
            <a:prstGeom prst="rect">
              <a:avLst/>
            </a:prstGeom>
            <a:noFill/>
          </p:spPr>
        </p:pic>
        <p:sp>
          <p:nvSpPr>
            <p:cNvPr id="359" name="Textfeld 358"/>
            <p:cNvSpPr txBox="1"/>
            <p:nvPr/>
          </p:nvSpPr>
          <p:spPr>
            <a:xfrm>
              <a:off x="3491880" y="6381328"/>
              <a:ext cx="530915" cy="369332"/>
            </a:xfrm>
            <a:prstGeom prst="rect">
              <a:avLst/>
            </a:prstGeom>
            <a:noFill/>
          </p:spPr>
          <p:txBody>
            <a:bodyPr wrap="none" rtlCol="0">
              <a:spAutoFit/>
            </a:bodyPr>
            <a:lstStyle/>
            <a:p>
              <a:r>
                <a:rPr lang="de-DE" dirty="0"/>
                <a:t>-</a:t>
              </a:r>
              <a:r>
                <a:rPr lang="de-DE" dirty="0" err="1"/>
                <a:t>to</a:t>
              </a:r>
              <a:r>
                <a:rPr lang="de-DE" dirty="0"/>
                <a:t>-</a:t>
              </a:r>
            </a:p>
          </p:txBody>
        </p:sp>
        <p:sp>
          <p:nvSpPr>
            <p:cNvPr id="360" name="Textfeld 359"/>
            <p:cNvSpPr txBox="1"/>
            <p:nvPr/>
          </p:nvSpPr>
          <p:spPr>
            <a:xfrm>
              <a:off x="467544" y="6381328"/>
              <a:ext cx="2800767" cy="369332"/>
            </a:xfrm>
            <a:prstGeom prst="rect">
              <a:avLst/>
            </a:prstGeom>
            <a:noFill/>
          </p:spPr>
          <p:txBody>
            <a:bodyPr wrap="none" rtlCol="0">
              <a:spAutoFit/>
            </a:bodyPr>
            <a:lstStyle/>
            <a:p>
              <a:r>
                <a:rPr lang="de-DE" i="1" dirty="0"/>
                <a:t>Nicht zu verwechseln mit: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8"/>
                                        </p:tgtEl>
                                        <p:attrNameLst>
                                          <p:attrName>style.visibility</p:attrName>
                                        </p:attrNameLst>
                                      </p:cBhvr>
                                      <p:to>
                                        <p:strVal val="visible"/>
                                      </p:to>
                                    </p:set>
                                    <p:animEffect transition="in" filter="fade">
                                      <p:cBhvr>
                                        <p:cTn id="7" dur="2000"/>
                                        <p:tgtEl>
                                          <p:spTgt spid="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7298" name="Picture 2" descr="C:\Artur\Academic\Lehre\10.WS-IBN\VL\figures\vl21\zugangsnetze.JPG"/>
          <p:cNvPicPr>
            <a:picLocks noChangeAspect="1" noChangeArrowheads="1"/>
          </p:cNvPicPr>
          <p:nvPr/>
        </p:nvPicPr>
        <p:blipFill>
          <a:blip r:embed="rId2" cstate="print"/>
          <a:srcRect/>
          <a:stretch>
            <a:fillRect/>
          </a:stretch>
        </p:blipFill>
        <p:spPr bwMode="auto">
          <a:xfrm>
            <a:off x="4769924" y="1196752"/>
            <a:ext cx="4374076" cy="5517232"/>
          </a:xfrm>
          <a:prstGeom prst="rect">
            <a:avLst/>
          </a:prstGeom>
          <a:noFill/>
        </p:spPr>
      </p:pic>
      <p:sp>
        <p:nvSpPr>
          <p:cNvPr id="2" name="Titel 1"/>
          <p:cNvSpPr>
            <a:spLocks noGrp="1"/>
          </p:cNvSpPr>
          <p:nvPr>
            <p:ph type="title"/>
          </p:nvPr>
        </p:nvSpPr>
        <p:spPr/>
        <p:txBody>
          <a:bodyPr/>
          <a:lstStyle/>
          <a:p>
            <a:r>
              <a:rPr lang="de-DE" b="1" dirty="0">
                <a:solidFill>
                  <a:srgbClr val="FF0000"/>
                </a:solidFill>
              </a:rPr>
              <a:t>Zugangsnetze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49</a:t>
            </a:fld>
            <a:endParaRPr lang="en-US" noProof="0" dirty="0"/>
          </a:p>
        </p:txBody>
      </p:sp>
      <p:sp>
        <p:nvSpPr>
          <p:cNvPr id="5" name="Inhaltsplatzhalter 4"/>
          <p:cNvSpPr>
            <a:spLocks noGrp="1"/>
          </p:cNvSpPr>
          <p:nvPr>
            <p:ph sz="quarter" idx="1"/>
          </p:nvPr>
        </p:nvSpPr>
        <p:spPr>
          <a:xfrm>
            <a:off x="457200" y="1219200"/>
            <a:ext cx="4402832" cy="5162128"/>
          </a:xfrm>
        </p:spPr>
        <p:txBody>
          <a:bodyPr>
            <a:normAutofit/>
          </a:bodyPr>
          <a:lstStyle/>
          <a:p>
            <a:pPr marL="274320" lvl="1">
              <a:spcBef>
                <a:spcPts val="600"/>
              </a:spcBef>
              <a:buClr>
                <a:schemeClr val="accent1"/>
              </a:buClr>
            </a:pPr>
            <a:r>
              <a:rPr lang="de-DE" dirty="0"/>
              <a:t>Physikalische Leitungen und Komponenten, die Hosts mit </a:t>
            </a:r>
            <a:r>
              <a:rPr lang="de-DE" b="1" dirty="0">
                <a:solidFill>
                  <a:srgbClr val="FF0000"/>
                </a:solidFill>
              </a:rPr>
              <a:t>Randroutern </a:t>
            </a:r>
            <a:r>
              <a:rPr lang="de-DE" dirty="0"/>
              <a:t>verbinden</a:t>
            </a:r>
          </a:p>
          <a:p>
            <a:r>
              <a:rPr lang="de-DE" dirty="0"/>
              <a:t>Drei Kategorien</a:t>
            </a:r>
          </a:p>
          <a:p>
            <a:pPr lvl="1"/>
            <a:r>
              <a:rPr lang="de-DE" b="1" dirty="0">
                <a:solidFill>
                  <a:srgbClr val="FF0000"/>
                </a:solidFill>
              </a:rPr>
              <a:t>Heimzugänge</a:t>
            </a:r>
            <a:r>
              <a:rPr lang="de-DE" dirty="0"/>
              <a:t>: Verbinden private Haushalte mit Intern.</a:t>
            </a:r>
          </a:p>
          <a:p>
            <a:pPr lvl="1"/>
            <a:r>
              <a:rPr lang="de-DE" b="1" dirty="0">
                <a:solidFill>
                  <a:srgbClr val="FF0000"/>
                </a:solidFill>
              </a:rPr>
              <a:t>Firmenzugänge</a:t>
            </a:r>
            <a:r>
              <a:rPr lang="de-DE" dirty="0"/>
              <a:t>: Analog für Firmen, Institutionen, Universitäten</a:t>
            </a:r>
          </a:p>
          <a:p>
            <a:pPr lvl="1"/>
            <a:r>
              <a:rPr lang="de-DE" b="1" dirty="0">
                <a:solidFill>
                  <a:srgbClr val="FF0000"/>
                </a:solidFill>
              </a:rPr>
              <a:t>Drahtlose Zugänge</a:t>
            </a:r>
            <a:r>
              <a:rPr lang="de-DE" dirty="0"/>
              <a:t>: Verbinden mobile Endsysteme mit Internet</a:t>
            </a:r>
          </a:p>
        </p:txBody>
      </p:sp>
      <p:sp>
        <p:nvSpPr>
          <p:cNvPr id="673" name="Freihandform 672"/>
          <p:cNvSpPr/>
          <p:nvPr/>
        </p:nvSpPr>
        <p:spPr>
          <a:xfrm>
            <a:off x="2555776" y="2276872"/>
            <a:ext cx="3744416" cy="330116"/>
          </a:xfrm>
          <a:custGeom>
            <a:avLst/>
            <a:gdLst>
              <a:gd name="connsiteX0" fmla="*/ 15241 w 1935481"/>
              <a:gd name="connsiteY0" fmla="*/ 38793 h 755074"/>
              <a:gd name="connsiteX1" fmla="*/ 148244 w 1935481"/>
              <a:gd name="connsiteY1" fmla="*/ 105295 h 755074"/>
              <a:gd name="connsiteX2" fmla="*/ 904703 w 1935481"/>
              <a:gd name="connsiteY2" fmla="*/ 670561 h 755074"/>
              <a:gd name="connsiteX3" fmla="*/ 1935481 w 1935481"/>
              <a:gd name="connsiteY3" fmla="*/ 612371 h 755074"/>
              <a:gd name="connsiteX0" fmla="*/ 15241 w 1935481"/>
              <a:gd name="connsiteY0" fmla="*/ 38793 h 717228"/>
              <a:gd name="connsiteX1" fmla="*/ 148244 w 1935481"/>
              <a:gd name="connsiteY1" fmla="*/ 105295 h 717228"/>
              <a:gd name="connsiteX2" fmla="*/ 904703 w 1935481"/>
              <a:gd name="connsiteY2" fmla="*/ 670561 h 717228"/>
              <a:gd name="connsiteX3" fmla="*/ 1935481 w 1935481"/>
              <a:gd name="connsiteY3" fmla="*/ 385299 h 717228"/>
            </a:gdLst>
            <a:ahLst/>
            <a:cxnLst>
              <a:cxn ang="0">
                <a:pos x="connsiteX0" y="connsiteY0"/>
              </a:cxn>
              <a:cxn ang="0">
                <a:pos x="connsiteX1" y="connsiteY1"/>
              </a:cxn>
              <a:cxn ang="0">
                <a:pos x="connsiteX2" y="connsiteY2"/>
              </a:cxn>
              <a:cxn ang="0">
                <a:pos x="connsiteX3" y="connsiteY3"/>
              </a:cxn>
            </a:cxnLst>
            <a:rect l="l" t="t" r="r" b="b"/>
            <a:pathLst>
              <a:path w="1935481" h="717228">
                <a:moveTo>
                  <a:pt x="15241" y="38793"/>
                </a:moveTo>
                <a:cubicBezTo>
                  <a:pt x="7620" y="19396"/>
                  <a:pt x="0" y="0"/>
                  <a:pt x="148244" y="105295"/>
                </a:cubicBezTo>
                <a:cubicBezTo>
                  <a:pt x="296488" y="210590"/>
                  <a:pt x="606830" y="623894"/>
                  <a:pt x="904703" y="670561"/>
                </a:cubicBezTo>
                <a:cubicBezTo>
                  <a:pt x="1202576" y="717228"/>
                  <a:pt x="1747059" y="382528"/>
                  <a:pt x="1935481" y="385299"/>
                </a:cubicBezTo>
              </a:path>
            </a:pathLst>
          </a:custGeom>
          <a:ln w="28575">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13202522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Hierarchie der Internetdienstanbieter (ISPs)</a:t>
            </a:r>
          </a:p>
        </p:txBody>
      </p:sp>
      <p:sp>
        <p:nvSpPr>
          <p:cNvPr id="3" name="Foliennummernplatzhalt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6AE60A-B69C-4790-82F7-3882EDF23186}" type="slidenum">
              <a:rPr kumimoji="0" lang="de-DE"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de-DE"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19" name="Inhaltsplatzhalter 18"/>
          <p:cNvSpPr>
            <a:spLocks noGrp="1"/>
          </p:cNvSpPr>
          <p:nvPr>
            <p:ph sz="quarter" idx="1"/>
          </p:nvPr>
        </p:nvSpPr>
        <p:spPr>
          <a:xfrm>
            <a:off x="457200" y="1219200"/>
            <a:ext cx="8229600" cy="3433936"/>
          </a:xfrm>
        </p:spPr>
        <p:txBody>
          <a:bodyPr>
            <a:normAutofit fontScale="92500" lnSpcReduction="10000"/>
          </a:bodyPr>
          <a:lstStyle/>
          <a:p>
            <a:r>
              <a:rPr lang="de-DE" dirty="0"/>
              <a:t>Die ISPs bilden eine Hierarchie</a:t>
            </a:r>
          </a:p>
          <a:p>
            <a:r>
              <a:rPr lang="de-DE" dirty="0"/>
              <a:t>Die Spitze sind </a:t>
            </a:r>
            <a:r>
              <a:rPr lang="de-DE" b="1" dirty="0">
                <a:solidFill>
                  <a:srgbClr val="FF0000"/>
                </a:solidFill>
              </a:rPr>
              <a:t>Tier-1-ISPs</a:t>
            </a:r>
            <a:r>
              <a:rPr lang="de-DE" dirty="0"/>
              <a:t> (Stufe-1-ISPs) bzw. </a:t>
            </a:r>
            <a:r>
              <a:rPr lang="de-DE" b="1" dirty="0">
                <a:solidFill>
                  <a:srgbClr val="FF0000"/>
                </a:solidFill>
              </a:rPr>
              <a:t>Internet-Backbones</a:t>
            </a:r>
          </a:p>
          <a:p>
            <a:pPr lvl="1"/>
            <a:r>
              <a:rPr lang="de-DE" dirty="0"/>
              <a:t>Übertragungsgeschwindigkeiten bis Hunderte </a:t>
            </a:r>
            <a:r>
              <a:rPr lang="de-DE" dirty="0" err="1"/>
              <a:t>Gbit</a:t>
            </a:r>
            <a:r>
              <a:rPr lang="de-DE" dirty="0"/>
              <a:t>/s</a:t>
            </a:r>
          </a:p>
          <a:p>
            <a:pPr lvl="1"/>
            <a:r>
              <a:rPr lang="de-DE" dirty="0"/>
              <a:t>Jeder ist mit jedem anderen </a:t>
            </a:r>
            <a:r>
              <a:rPr lang="de-DE" u="sng" dirty="0"/>
              <a:t>direkt</a:t>
            </a:r>
            <a:r>
              <a:rPr lang="de-DE" dirty="0"/>
              <a:t> verbunden</a:t>
            </a:r>
          </a:p>
          <a:p>
            <a:pPr lvl="1"/>
            <a:r>
              <a:rPr lang="de-DE" dirty="0"/>
              <a:t>Sie arbeiten international</a:t>
            </a:r>
          </a:p>
          <a:p>
            <a:r>
              <a:rPr lang="de-DE" dirty="0"/>
              <a:t>Die genaue Definition ist umstritten, siehe z.B. </a:t>
            </a:r>
            <a:r>
              <a:rPr lang="de-DE" dirty="0">
                <a:hlinkClick r:id="rId2"/>
              </a:rPr>
              <a:t>hier</a:t>
            </a:r>
            <a:endParaRPr lang="de-DE" dirty="0"/>
          </a:p>
          <a:p>
            <a:r>
              <a:rPr lang="en-US" dirty="0" err="1"/>
              <a:t>Beispiele</a:t>
            </a:r>
            <a:r>
              <a:rPr lang="en-US" dirty="0"/>
              <a:t>: </a:t>
            </a:r>
            <a:r>
              <a:rPr lang="en-US" b="1" dirty="0">
                <a:solidFill>
                  <a:srgbClr val="0070C0"/>
                </a:solidFill>
              </a:rPr>
              <a:t>Verizon</a:t>
            </a:r>
            <a:r>
              <a:rPr lang="en-US" dirty="0"/>
              <a:t>, </a:t>
            </a:r>
            <a:r>
              <a:rPr lang="en-US" b="1" dirty="0">
                <a:solidFill>
                  <a:srgbClr val="0070C0"/>
                </a:solidFill>
              </a:rPr>
              <a:t>Sprint</a:t>
            </a:r>
            <a:r>
              <a:rPr lang="en-US" dirty="0">
                <a:solidFill>
                  <a:srgbClr val="0070C0"/>
                </a:solidFill>
              </a:rPr>
              <a:t> </a:t>
            </a:r>
            <a:r>
              <a:rPr lang="en-US" b="1" dirty="0">
                <a:solidFill>
                  <a:srgbClr val="0070C0"/>
                </a:solidFill>
              </a:rPr>
              <a:t>Nextel</a:t>
            </a:r>
            <a:r>
              <a:rPr lang="en-US" dirty="0"/>
              <a:t>, </a:t>
            </a:r>
            <a:r>
              <a:rPr lang="en-US" b="1" dirty="0">
                <a:solidFill>
                  <a:srgbClr val="0070C0"/>
                </a:solidFill>
              </a:rPr>
              <a:t>AOL</a:t>
            </a:r>
            <a:r>
              <a:rPr lang="en-US" dirty="0"/>
              <a:t>, </a:t>
            </a:r>
            <a:r>
              <a:rPr lang="en-US" b="1" dirty="0">
                <a:solidFill>
                  <a:srgbClr val="0070C0"/>
                </a:solidFill>
              </a:rPr>
              <a:t>AT&amp;T</a:t>
            </a:r>
          </a:p>
          <a:p>
            <a:pPr lvl="1"/>
            <a:r>
              <a:rPr lang="en-US" sz="2200" dirty="0" err="1"/>
              <a:t>Aber</a:t>
            </a:r>
            <a:r>
              <a:rPr lang="en-US" sz="2200" dirty="0"/>
              <a:t> </a:t>
            </a:r>
            <a:r>
              <a:rPr lang="en-US" sz="2200" i="1" u="sng" dirty="0" err="1"/>
              <a:t>nicht</a:t>
            </a:r>
            <a:r>
              <a:rPr lang="en-US" sz="2200" dirty="0"/>
              <a:t> Deutsche Telekom, France / British Telecom (</a:t>
            </a:r>
            <a:r>
              <a:rPr lang="en-US" sz="2200" dirty="0">
                <a:hlinkClick r:id="rId3"/>
              </a:rPr>
              <a:t>Link</a:t>
            </a:r>
            <a:r>
              <a:rPr lang="en-US" sz="2200" dirty="0"/>
              <a:t>)</a:t>
            </a:r>
            <a:endParaRPr lang="de-DE" dirty="0"/>
          </a:p>
        </p:txBody>
      </p:sp>
      <p:sp>
        <p:nvSpPr>
          <p:cNvPr id="4" name="Oval 33"/>
          <p:cNvSpPr>
            <a:spLocks noChangeArrowheads="1"/>
          </p:cNvSpPr>
          <p:nvPr/>
        </p:nvSpPr>
        <p:spPr bwMode="auto">
          <a:xfrm>
            <a:off x="2897386" y="5856461"/>
            <a:ext cx="1863725" cy="790575"/>
          </a:xfrm>
          <a:prstGeom prst="ellipse">
            <a:avLst/>
          </a:prstGeom>
          <a:solidFill>
            <a:srgbClr val="FF0000"/>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Oval 34"/>
          <p:cNvSpPr>
            <a:spLocks noChangeArrowheads="1"/>
          </p:cNvSpPr>
          <p:nvPr/>
        </p:nvSpPr>
        <p:spPr bwMode="auto">
          <a:xfrm>
            <a:off x="3995936" y="4653136"/>
            <a:ext cx="1863725" cy="790575"/>
          </a:xfrm>
          <a:prstGeom prst="ellipse">
            <a:avLst/>
          </a:prstGeom>
          <a:solidFill>
            <a:schemeClr val="accent2"/>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Oval 35"/>
          <p:cNvSpPr>
            <a:spLocks noChangeArrowheads="1"/>
          </p:cNvSpPr>
          <p:nvPr/>
        </p:nvSpPr>
        <p:spPr bwMode="auto">
          <a:xfrm>
            <a:off x="5265936" y="5818361"/>
            <a:ext cx="1863725" cy="790575"/>
          </a:xfrm>
          <a:prstGeom prst="ellipse">
            <a:avLst/>
          </a:prstGeom>
          <a:solidFill>
            <a:schemeClr val="accent1"/>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7" name="Group 53"/>
          <p:cNvGrpSpPr>
            <a:grpSpLocks/>
          </p:cNvGrpSpPr>
          <p:nvPr/>
        </p:nvGrpSpPr>
        <p:grpSpPr bwMode="auto">
          <a:xfrm>
            <a:off x="1186061" y="4754736"/>
            <a:ext cx="4533900" cy="1543050"/>
            <a:chOff x="454" y="2122"/>
            <a:chExt cx="2856" cy="972"/>
          </a:xfrm>
        </p:grpSpPr>
        <p:sp>
          <p:nvSpPr>
            <p:cNvPr id="8" name="Oval 23"/>
            <p:cNvSpPr>
              <a:spLocks noChangeArrowheads="1"/>
            </p:cNvSpPr>
            <p:nvPr/>
          </p:nvSpPr>
          <p:spPr bwMode="auto">
            <a:xfrm>
              <a:off x="3226" y="2796"/>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9" name="Oval 36"/>
            <p:cNvSpPr>
              <a:spLocks noChangeArrowheads="1"/>
            </p:cNvSpPr>
            <p:nvPr/>
          </p:nvSpPr>
          <p:spPr bwMode="auto">
            <a:xfrm>
              <a:off x="2942" y="250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Oval 37"/>
            <p:cNvSpPr>
              <a:spLocks noChangeArrowheads="1"/>
            </p:cNvSpPr>
            <p:nvPr/>
          </p:nvSpPr>
          <p:spPr bwMode="auto">
            <a:xfrm>
              <a:off x="2650" y="2516"/>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Oval 38"/>
            <p:cNvSpPr>
              <a:spLocks noChangeArrowheads="1"/>
            </p:cNvSpPr>
            <p:nvPr/>
          </p:nvSpPr>
          <p:spPr bwMode="auto">
            <a:xfrm>
              <a:off x="2354" y="2804"/>
              <a:ext cx="84" cy="90"/>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2" name="Oval 39"/>
            <p:cNvSpPr>
              <a:spLocks noChangeArrowheads="1"/>
            </p:cNvSpPr>
            <p:nvPr/>
          </p:nvSpPr>
          <p:spPr bwMode="auto">
            <a:xfrm>
              <a:off x="2666" y="3004"/>
              <a:ext cx="84" cy="90"/>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Oval 40"/>
            <p:cNvSpPr>
              <a:spLocks noChangeArrowheads="1"/>
            </p:cNvSpPr>
            <p:nvPr/>
          </p:nvSpPr>
          <p:spPr bwMode="auto">
            <a:xfrm>
              <a:off x="2990" y="2996"/>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Line 41"/>
            <p:cNvSpPr>
              <a:spLocks noChangeShapeType="1"/>
            </p:cNvSpPr>
            <p:nvPr/>
          </p:nvSpPr>
          <p:spPr bwMode="auto">
            <a:xfrm flipV="1">
              <a:off x="2752" y="3040"/>
              <a:ext cx="240" cy="4"/>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Line 42"/>
            <p:cNvSpPr>
              <a:spLocks noChangeShapeType="1"/>
            </p:cNvSpPr>
            <p:nvPr/>
          </p:nvSpPr>
          <p:spPr bwMode="auto">
            <a:xfrm>
              <a:off x="3010" y="2572"/>
              <a:ext cx="232" cy="232"/>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Line 43"/>
            <p:cNvSpPr>
              <a:spLocks noChangeShapeType="1"/>
            </p:cNvSpPr>
            <p:nvPr/>
          </p:nvSpPr>
          <p:spPr bwMode="auto">
            <a:xfrm flipV="1">
              <a:off x="2416" y="2592"/>
              <a:ext cx="248" cy="224"/>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 name="Text Box 47"/>
            <p:cNvSpPr txBox="1">
              <a:spLocks noChangeArrowheads="1"/>
            </p:cNvSpPr>
            <p:nvPr/>
          </p:nvSpPr>
          <p:spPr bwMode="auto">
            <a:xfrm>
              <a:off x="454" y="2122"/>
              <a:ext cx="1073" cy="756"/>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Direkte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Verbindungen</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0" i="0" u="none" strike="noStrike" kern="1200" cap="none" spc="0" normalizeH="0" baseline="0" noProof="0" dirty="0" err="1">
                  <a:ln>
                    <a:noFill/>
                  </a:ln>
                  <a:solidFill>
                    <a:prstClr val="black"/>
                  </a:solidFill>
                  <a:effectLst/>
                  <a:uLnTx/>
                  <a:uFillTx/>
                  <a:latin typeface="Arial"/>
                  <a:ea typeface="+mn-ea"/>
                  <a:cs typeface="+mn-cs"/>
                </a:rPr>
                <a:t>zwischen</a:t>
              </a:r>
              <a:r>
                <a:rPr kumimoji="0" lang="en-US" sz="1800" b="0" i="0" u="none" strike="noStrike" kern="1200" cap="none" spc="0" normalizeH="0" baseline="0" noProof="0" dirty="0">
                  <a:ln>
                    <a:noFill/>
                  </a:ln>
                  <a:solidFill>
                    <a:prstClr val="black"/>
                  </a:solidFill>
                  <a:effectLst/>
                  <a:uLnTx/>
                  <a:uFillTx/>
                  <a:latin typeface="Arial"/>
                  <a:ea typeface="+mn-ea"/>
                  <a:cs typeface="+mn-cs"/>
                </a:rPr>
                <a:t> den Tier-1-ISPs</a:t>
              </a:r>
            </a:p>
          </p:txBody>
        </p:sp>
        <p:sp>
          <p:nvSpPr>
            <p:cNvPr id="18" name="Line 48"/>
            <p:cNvSpPr>
              <a:spLocks noChangeShapeType="1"/>
            </p:cNvSpPr>
            <p:nvPr/>
          </p:nvSpPr>
          <p:spPr bwMode="auto">
            <a:xfrm>
              <a:off x="1436" y="2520"/>
              <a:ext cx="1043" cy="181"/>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20" name="TextBox 19"/>
          <p:cNvSpPr txBox="1"/>
          <p:nvPr/>
        </p:nvSpPr>
        <p:spPr>
          <a:xfrm>
            <a:off x="7129661" y="4729931"/>
            <a:ext cx="1851789" cy="10156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1" i="0" u="none" strike="noStrike" kern="1200" cap="none" spc="0" normalizeH="0" baseline="0" noProof="0" dirty="0">
                <a:ln>
                  <a:noFill/>
                </a:ln>
                <a:solidFill>
                  <a:srgbClr val="0070C0"/>
                </a:solidFill>
                <a:effectLst/>
                <a:uLnTx/>
                <a:uFillTx/>
                <a:latin typeface="Arial"/>
                <a:ea typeface="+mn-ea"/>
                <a:cs typeface="+mn-cs"/>
              </a:rPr>
              <a:t>Tier</a:t>
            </a:r>
            <a:r>
              <a:rPr kumimoji="0" lang="de-DE" sz="20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prstClr val="black"/>
                </a:solidFill>
                <a:effectLst/>
                <a:uLnTx/>
                <a:uFillTx/>
                <a:latin typeface="Arial"/>
                <a:ea typeface="+mn-ea"/>
                <a:cs typeface="+mn-cs"/>
              </a:rPr>
              <a:t>Stufe, Schicht,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prstClr val="black"/>
                </a:solidFill>
                <a:effectLst/>
                <a:uLnTx/>
                <a:uFillTx/>
                <a:latin typeface="Arial"/>
                <a:ea typeface="+mn-ea"/>
                <a:cs typeface="+mn-cs"/>
              </a:rPr>
              <a:t>Ebene, „Level“</a:t>
            </a:r>
          </a:p>
        </p:txBody>
      </p:sp>
    </p:spTree>
    <p:extLst>
      <p:ext uri="{BB962C8B-B14F-4D97-AF65-F5344CB8AC3E}">
        <p14:creationId xmlns:p14="http://schemas.microsoft.com/office/powerpoint/2010/main" val="283044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Beispiel: Sprint </a:t>
            </a:r>
            <a:r>
              <a:rPr lang="de-DE" dirty="0" err="1"/>
              <a:t>Nextel</a:t>
            </a:r>
            <a:r>
              <a:rPr lang="de-DE" dirty="0"/>
              <a:t> Netzwerk (2007)</a:t>
            </a:r>
          </a:p>
        </p:txBody>
      </p:sp>
      <p:sp>
        <p:nvSpPr>
          <p:cNvPr id="3" name="Foliennummernplatzhalt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4" name="Inhaltsplatzhalter 3"/>
          <p:cNvSpPr>
            <a:spLocks noGrp="1"/>
          </p:cNvSpPr>
          <p:nvPr>
            <p:ph sz="quarter" idx="1"/>
          </p:nvPr>
        </p:nvSpPr>
        <p:spPr>
          <a:xfrm>
            <a:off x="395536" y="6237312"/>
            <a:ext cx="8229600" cy="552124"/>
          </a:xfrm>
        </p:spPr>
        <p:txBody>
          <a:bodyPr>
            <a:normAutofit fontScale="85000" lnSpcReduction="10000"/>
          </a:bodyPr>
          <a:lstStyle/>
          <a:p>
            <a:r>
              <a:rPr lang="de-DE" dirty="0">
                <a:hlinkClick r:id="rId3"/>
              </a:rPr>
              <a:t>Point of Presence</a:t>
            </a:r>
            <a:r>
              <a:rPr lang="de-DE" dirty="0"/>
              <a:t>: Physischer Knotenpunkt des Netzwerks</a:t>
            </a:r>
          </a:p>
          <a:p>
            <a:endParaRPr lang="de-DE" dirty="0"/>
          </a:p>
        </p:txBody>
      </p:sp>
      <p:pic>
        <p:nvPicPr>
          <p:cNvPr id="5" name="Picture 313"/>
          <p:cNvPicPr>
            <a:picLocks noChangeAspect="1" noChangeArrowheads="1"/>
          </p:cNvPicPr>
          <p:nvPr/>
        </p:nvPicPr>
        <p:blipFill>
          <a:blip r:embed="rId4" cstate="print"/>
          <a:srcRect/>
          <a:stretch>
            <a:fillRect/>
          </a:stretch>
        </p:blipFill>
        <p:spPr bwMode="auto">
          <a:xfrm>
            <a:off x="539552" y="1196752"/>
            <a:ext cx="8385175" cy="4765675"/>
          </a:xfrm>
          <a:prstGeom prst="rect">
            <a:avLst/>
          </a:prstGeom>
          <a:noFill/>
          <a:ln w="9525">
            <a:noFill/>
            <a:miter lim="800000"/>
            <a:headEnd/>
            <a:tailEnd/>
          </a:ln>
        </p:spPr>
      </p:pic>
      <p:pic>
        <p:nvPicPr>
          <p:cNvPr id="817155" name="Picture 3" descr="C:\Artur\Academic\Lehre\10.WS-IBN\VL\figures\vl21\pop.png"/>
          <p:cNvPicPr>
            <a:picLocks noChangeAspect="1" noChangeArrowheads="1"/>
          </p:cNvPicPr>
          <p:nvPr/>
        </p:nvPicPr>
        <p:blipFill>
          <a:blip r:embed="rId5" cstate="print"/>
          <a:srcRect/>
          <a:stretch>
            <a:fillRect/>
          </a:stretch>
        </p:blipFill>
        <p:spPr bwMode="auto">
          <a:xfrm>
            <a:off x="1331640" y="1196752"/>
            <a:ext cx="3090417" cy="3102608"/>
          </a:xfrm>
          <a:prstGeom prst="rect">
            <a:avLst/>
          </a:prstGeom>
          <a:noFill/>
        </p:spPr>
      </p:pic>
    </p:spTree>
    <p:extLst>
      <p:ext uri="{BB962C8B-B14F-4D97-AF65-F5344CB8AC3E}">
        <p14:creationId xmlns:p14="http://schemas.microsoft.com/office/powerpoint/2010/main" val="42003949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Tier-2-ISPs</a:t>
            </a:r>
          </a:p>
        </p:txBody>
      </p:sp>
      <p:sp>
        <p:nvSpPr>
          <p:cNvPr id="3" name="Foliennummernplatzhalter 2"/>
          <p:cNvSpPr>
            <a:spLocks noGrp="1"/>
          </p:cNvSpPr>
          <p:nvPr>
            <p:ph type="sldNum" sz="quarter" idx="12"/>
          </p:nvPr>
        </p:nvSpPr>
        <p:spPr>
          <a:xfrm>
            <a:off x="8542234" y="6492240"/>
            <a:ext cx="601766"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4" name="Inhaltsplatzhalter 3"/>
          <p:cNvSpPr>
            <a:spLocks noGrp="1"/>
          </p:cNvSpPr>
          <p:nvPr>
            <p:ph sz="quarter" idx="1"/>
          </p:nvPr>
        </p:nvSpPr>
        <p:spPr>
          <a:xfrm>
            <a:off x="457200" y="1219200"/>
            <a:ext cx="8229600" cy="2569840"/>
          </a:xfrm>
        </p:spPr>
        <p:txBody>
          <a:bodyPr>
            <a:normAutofit fontScale="92500" lnSpcReduction="20000"/>
          </a:bodyPr>
          <a:lstStyle/>
          <a:p>
            <a:r>
              <a:rPr lang="de-DE" dirty="0"/>
              <a:t>Tier-2-ISPs ist ein nationaler oder regionaler ISP, der an Tier-1-ISPs für die Verbindung (Transit) zu anderen ISPs bezahlt</a:t>
            </a:r>
          </a:p>
          <a:p>
            <a:pPr lvl="1"/>
            <a:r>
              <a:rPr lang="de-DE" dirty="0"/>
              <a:t>Angebunden an nur einige Tier-1-ISPs; manche größer als diese</a:t>
            </a:r>
          </a:p>
          <a:p>
            <a:r>
              <a:rPr lang="de-DE" dirty="0"/>
              <a:t>Beispiele (</a:t>
            </a:r>
            <a:r>
              <a:rPr lang="de-DE" dirty="0">
                <a:hlinkClick r:id="rId2"/>
              </a:rPr>
              <a:t>Link</a:t>
            </a:r>
            <a:r>
              <a:rPr lang="de-DE" dirty="0"/>
              <a:t>): </a:t>
            </a:r>
          </a:p>
          <a:p>
            <a:pPr lvl="1"/>
            <a:r>
              <a:rPr lang="de-DE" dirty="0"/>
              <a:t>Deutsche Telekom /AS3320</a:t>
            </a:r>
          </a:p>
          <a:p>
            <a:pPr lvl="1"/>
            <a:r>
              <a:rPr lang="de-DE" dirty="0"/>
              <a:t>France Telecom /AS5511 aka OpenTransit</a:t>
            </a:r>
          </a:p>
        </p:txBody>
      </p:sp>
      <p:sp>
        <p:nvSpPr>
          <p:cNvPr id="5" name="Oval 4"/>
          <p:cNvSpPr>
            <a:spLocks noChangeArrowheads="1"/>
          </p:cNvSpPr>
          <p:nvPr/>
        </p:nvSpPr>
        <p:spPr bwMode="auto">
          <a:xfrm>
            <a:off x="2131442" y="5352405"/>
            <a:ext cx="1863725" cy="790575"/>
          </a:xfrm>
          <a:prstGeom prst="ellipse">
            <a:avLst/>
          </a:prstGeom>
          <a:solidFill>
            <a:srgbClr val="FF0000"/>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 name="Oval 5"/>
          <p:cNvSpPr>
            <a:spLocks noChangeArrowheads="1"/>
          </p:cNvSpPr>
          <p:nvPr/>
        </p:nvSpPr>
        <p:spPr bwMode="auto">
          <a:xfrm>
            <a:off x="3229992" y="4149080"/>
            <a:ext cx="1863725" cy="790575"/>
          </a:xfrm>
          <a:prstGeom prst="ellipse">
            <a:avLst/>
          </a:prstGeom>
          <a:solidFill>
            <a:schemeClr val="accent2"/>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Oval 6"/>
          <p:cNvSpPr>
            <a:spLocks noChangeArrowheads="1"/>
          </p:cNvSpPr>
          <p:nvPr/>
        </p:nvSpPr>
        <p:spPr bwMode="auto">
          <a:xfrm>
            <a:off x="4499992" y="5314305"/>
            <a:ext cx="1863725" cy="790575"/>
          </a:xfrm>
          <a:prstGeom prst="ellipse">
            <a:avLst/>
          </a:prstGeom>
          <a:solidFill>
            <a:schemeClr val="accent1"/>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Oval 8"/>
          <p:cNvSpPr>
            <a:spLocks noChangeArrowheads="1"/>
          </p:cNvSpPr>
          <p:nvPr/>
        </p:nvSpPr>
        <p:spPr bwMode="auto">
          <a:xfrm>
            <a:off x="4820667" y="5320655"/>
            <a:ext cx="133350" cy="142875"/>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9" name="Oval 9"/>
          <p:cNvSpPr>
            <a:spLocks noChangeArrowheads="1"/>
          </p:cNvSpPr>
          <p:nvPr/>
        </p:nvSpPr>
        <p:spPr bwMode="auto">
          <a:xfrm>
            <a:off x="4369817" y="4850755"/>
            <a:ext cx="133350" cy="142875"/>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Oval 10"/>
          <p:cNvSpPr>
            <a:spLocks noChangeArrowheads="1"/>
          </p:cNvSpPr>
          <p:nvPr/>
        </p:nvSpPr>
        <p:spPr bwMode="auto">
          <a:xfrm>
            <a:off x="3906267" y="4876155"/>
            <a:ext cx="133350" cy="142875"/>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Oval 11"/>
          <p:cNvSpPr>
            <a:spLocks noChangeArrowheads="1"/>
          </p:cNvSpPr>
          <p:nvPr/>
        </p:nvSpPr>
        <p:spPr bwMode="auto">
          <a:xfrm>
            <a:off x="3436367" y="5333355"/>
            <a:ext cx="133350" cy="142875"/>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2" name="Oval 12"/>
          <p:cNvSpPr>
            <a:spLocks noChangeArrowheads="1"/>
          </p:cNvSpPr>
          <p:nvPr/>
        </p:nvSpPr>
        <p:spPr bwMode="auto">
          <a:xfrm>
            <a:off x="3931667" y="5650855"/>
            <a:ext cx="133350" cy="142875"/>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Oval 13"/>
          <p:cNvSpPr>
            <a:spLocks noChangeArrowheads="1"/>
          </p:cNvSpPr>
          <p:nvPr/>
        </p:nvSpPr>
        <p:spPr bwMode="auto">
          <a:xfrm>
            <a:off x="4446017" y="5638155"/>
            <a:ext cx="133350" cy="142875"/>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Line 14"/>
          <p:cNvSpPr>
            <a:spLocks noChangeShapeType="1"/>
          </p:cNvSpPr>
          <p:nvPr/>
        </p:nvSpPr>
        <p:spPr bwMode="auto">
          <a:xfrm flipV="1">
            <a:off x="4068192" y="5708005"/>
            <a:ext cx="381000" cy="635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Line 15"/>
          <p:cNvSpPr>
            <a:spLocks noChangeShapeType="1"/>
          </p:cNvSpPr>
          <p:nvPr/>
        </p:nvSpPr>
        <p:spPr bwMode="auto">
          <a:xfrm>
            <a:off x="4477767" y="4965055"/>
            <a:ext cx="368300" cy="3683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Line 16"/>
          <p:cNvSpPr>
            <a:spLocks noChangeShapeType="1"/>
          </p:cNvSpPr>
          <p:nvPr/>
        </p:nvSpPr>
        <p:spPr bwMode="auto">
          <a:xfrm flipV="1">
            <a:off x="3534792" y="4996805"/>
            <a:ext cx="393700" cy="3556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17" name="Group 61"/>
          <p:cNvGrpSpPr>
            <a:grpSpLocks/>
          </p:cNvGrpSpPr>
          <p:nvPr/>
        </p:nvGrpSpPr>
        <p:grpSpPr bwMode="auto">
          <a:xfrm>
            <a:off x="1573808" y="3861048"/>
            <a:ext cx="6219825" cy="2838450"/>
            <a:chOff x="1226" y="2070"/>
            <a:chExt cx="3918" cy="1788"/>
          </a:xfrm>
        </p:grpSpPr>
        <p:grpSp>
          <p:nvGrpSpPr>
            <p:cNvPr id="18" name="Group 32"/>
            <p:cNvGrpSpPr>
              <a:grpSpLocks/>
            </p:cNvGrpSpPr>
            <p:nvPr/>
          </p:nvGrpSpPr>
          <p:grpSpPr bwMode="auto">
            <a:xfrm>
              <a:off x="3042" y="2102"/>
              <a:ext cx="1054" cy="372"/>
              <a:chOff x="3042" y="2102"/>
              <a:chExt cx="1054" cy="372"/>
            </a:xfrm>
          </p:grpSpPr>
          <p:sp>
            <p:nvSpPr>
              <p:cNvPr id="38" name="Oval 28"/>
              <p:cNvSpPr>
                <a:spLocks noChangeArrowheads="1"/>
              </p:cNvSpPr>
              <p:nvPr/>
            </p:nvSpPr>
            <p:spPr bwMode="auto">
              <a:xfrm>
                <a:off x="3042" y="210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39" name="Text Box 30"/>
              <p:cNvSpPr txBox="1">
                <a:spLocks noChangeArrowheads="1"/>
              </p:cNvSpPr>
              <p:nvPr/>
            </p:nvSpPr>
            <p:spPr bwMode="auto">
              <a:xfrm>
                <a:off x="3182" y="2176"/>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40" name="Oval 29"/>
              <p:cNvSpPr>
                <a:spLocks noChangeArrowheads="1"/>
              </p:cNvSpPr>
              <p:nvPr/>
            </p:nvSpPr>
            <p:spPr bwMode="auto">
              <a:xfrm>
                <a:off x="3184" y="234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19" name="Group 37"/>
            <p:cNvGrpSpPr>
              <a:grpSpLocks/>
            </p:cNvGrpSpPr>
            <p:nvPr/>
          </p:nvGrpSpPr>
          <p:grpSpPr bwMode="auto">
            <a:xfrm>
              <a:off x="1610" y="2070"/>
              <a:ext cx="1054" cy="372"/>
              <a:chOff x="698" y="2190"/>
              <a:chExt cx="1054" cy="372"/>
            </a:xfrm>
          </p:grpSpPr>
          <p:sp>
            <p:nvSpPr>
              <p:cNvPr id="35" name="Oval 34"/>
              <p:cNvSpPr>
                <a:spLocks noChangeArrowheads="1"/>
              </p:cNvSpPr>
              <p:nvPr/>
            </p:nvSpPr>
            <p:spPr bwMode="auto">
              <a:xfrm>
                <a:off x="698" y="219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36" name="Text Box 35"/>
              <p:cNvSpPr txBox="1">
                <a:spLocks noChangeArrowheads="1"/>
              </p:cNvSpPr>
              <p:nvPr/>
            </p:nvSpPr>
            <p:spPr bwMode="auto">
              <a:xfrm>
                <a:off x="838" y="226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37" name="Oval 36"/>
              <p:cNvSpPr>
                <a:spLocks noChangeArrowheads="1"/>
              </p:cNvSpPr>
              <p:nvPr/>
            </p:nvSpPr>
            <p:spPr bwMode="auto">
              <a:xfrm>
                <a:off x="1464" y="246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20" name="Group 42"/>
            <p:cNvGrpSpPr>
              <a:grpSpLocks/>
            </p:cNvGrpSpPr>
            <p:nvPr/>
          </p:nvGrpSpPr>
          <p:grpSpPr bwMode="auto">
            <a:xfrm>
              <a:off x="1226" y="3476"/>
              <a:ext cx="1054" cy="374"/>
              <a:chOff x="442" y="3748"/>
              <a:chExt cx="1054" cy="374"/>
            </a:xfrm>
          </p:grpSpPr>
          <p:sp>
            <p:nvSpPr>
              <p:cNvPr id="32" name="Oval 39"/>
              <p:cNvSpPr>
                <a:spLocks noChangeArrowheads="1"/>
              </p:cNvSpPr>
              <p:nvPr/>
            </p:nvSpPr>
            <p:spPr bwMode="auto">
              <a:xfrm>
                <a:off x="442" y="375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33" name="Text Box 40"/>
              <p:cNvSpPr txBox="1">
                <a:spLocks noChangeArrowheads="1"/>
              </p:cNvSpPr>
              <p:nvPr/>
            </p:nvSpPr>
            <p:spPr bwMode="auto">
              <a:xfrm>
                <a:off x="582" y="382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34" name="Oval 41"/>
              <p:cNvSpPr>
                <a:spLocks noChangeArrowheads="1"/>
              </p:cNvSpPr>
              <p:nvPr/>
            </p:nvSpPr>
            <p:spPr bwMode="auto">
              <a:xfrm>
                <a:off x="904" y="3748"/>
                <a:ext cx="84" cy="90"/>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21" name="Group 47"/>
            <p:cNvGrpSpPr>
              <a:grpSpLocks/>
            </p:cNvGrpSpPr>
            <p:nvPr/>
          </p:nvGrpSpPr>
          <p:grpSpPr bwMode="auto">
            <a:xfrm>
              <a:off x="2674" y="3486"/>
              <a:ext cx="1054" cy="372"/>
              <a:chOff x="2698" y="3710"/>
              <a:chExt cx="1054" cy="372"/>
            </a:xfrm>
          </p:grpSpPr>
          <p:sp>
            <p:nvSpPr>
              <p:cNvPr id="29" name="Oval 44"/>
              <p:cNvSpPr>
                <a:spLocks noChangeArrowheads="1"/>
              </p:cNvSpPr>
              <p:nvPr/>
            </p:nvSpPr>
            <p:spPr bwMode="auto">
              <a:xfrm>
                <a:off x="2698" y="371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30" name="Text Box 45"/>
              <p:cNvSpPr txBox="1">
                <a:spLocks noChangeArrowheads="1"/>
              </p:cNvSpPr>
              <p:nvPr/>
            </p:nvSpPr>
            <p:spPr bwMode="auto">
              <a:xfrm>
                <a:off x="2838" y="378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31" name="Oval 46"/>
              <p:cNvSpPr>
                <a:spLocks noChangeArrowheads="1"/>
              </p:cNvSpPr>
              <p:nvPr/>
            </p:nvSpPr>
            <p:spPr bwMode="auto">
              <a:xfrm>
                <a:off x="3408" y="3716"/>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22" name="Group 52"/>
            <p:cNvGrpSpPr>
              <a:grpSpLocks/>
            </p:cNvGrpSpPr>
            <p:nvPr/>
          </p:nvGrpSpPr>
          <p:grpSpPr bwMode="auto">
            <a:xfrm>
              <a:off x="4090" y="3182"/>
              <a:ext cx="1054" cy="372"/>
              <a:chOff x="4090" y="3182"/>
              <a:chExt cx="1054" cy="372"/>
            </a:xfrm>
          </p:grpSpPr>
          <p:sp>
            <p:nvSpPr>
              <p:cNvPr id="26" name="Oval 49"/>
              <p:cNvSpPr>
                <a:spLocks noChangeArrowheads="1"/>
              </p:cNvSpPr>
              <p:nvPr/>
            </p:nvSpPr>
            <p:spPr bwMode="auto">
              <a:xfrm>
                <a:off x="4090" y="318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27" name="Text Box 50"/>
              <p:cNvSpPr txBox="1">
                <a:spLocks noChangeArrowheads="1"/>
              </p:cNvSpPr>
              <p:nvPr/>
            </p:nvSpPr>
            <p:spPr bwMode="auto">
              <a:xfrm>
                <a:off x="4230" y="3256"/>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28" name="Oval 51"/>
              <p:cNvSpPr>
                <a:spLocks noChangeArrowheads="1"/>
              </p:cNvSpPr>
              <p:nvPr/>
            </p:nvSpPr>
            <p:spPr bwMode="auto">
              <a:xfrm>
                <a:off x="4144" y="3308"/>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23" name="Oval 54"/>
            <p:cNvSpPr>
              <a:spLocks noChangeArrowheads="1"/>
            </p:cNvSpPr>
            <p:nvPr/>
          </p:nvSpPr>
          <p:spPr bwMode="auto">
            <a:xfrm>
              <a:off x="1712" y="2328"/>
              <a:ext cx="96" cy="88"/>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24" name="Line 55"/>
            <p:cNvSpPr>
              <a:spLocks noChangeShapeType="1"/>
            </p:cNvSpPr>
            <p:nvPr/>
          </p:nvSpPr>
          <p:spPr bwMode="auto">
            <a:xfrm>
              <a:off x="1768" y="2400"/>
              <a:ext cx="184" cy="623"/>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25" name="Oval 56"/>
            <p:cNvSpPr>
              <a:spLocks noChangeArrowheads="1"/>
            </p:cNvSpPr>
            <p:nvPr/>
          </p:nvSpPr>
          <p:spPr bwMode="auto">
            <a:xfrm>
              <a:off x="1906" y="2977"/>
              <a:ext cx="96" cy="88"/>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41" name="Textfeld 40"/>
          <p:cNvSpPr txBox="1"/>
          <p:nvPr/>
        </p:nvSpPr>
        <p:spPr>
          <a:xfrm>
            <a:off x="421679" y="4509120"/>
            <a:ext cx="2158604"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Tier-2-ISPs sind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Kunden von Tier-1</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-ISPs und zahlen</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denen für die</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Anbindung an</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das Internet</a:t>
            </a:r>
          </a:p>
        </p:txBody>
      </p:sp>
      <p:cxnSp>
        <p:nvCxnSpPr>
          <p:cNvPr id="43" name="Gerade Verbindung 42"/>
          <p:cNvCxnSpPr>
            <a:stCxn id="41" idx="0"/>
          </p:cNvCxnSpPr>
          <p:nvPr/>
        </p:nvCxnSpPr>
        <p:spPr>
          <a:xfrm flipV="1">
            <a:off x="1500981" y="4340476"/>
            <a:ext cx="844352" cy="168644"/>
          </a:xfrm>
          <a:prstGeom prst="line">
            <a:avLst/>
          </a:prstGeom>
          <a:ln w="28575">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49" name="Group 77"/>
          <p:cNvGrpSpPr>
            <a:grpSpLocks/>
          </p:cNvGrpSpPr>
          <p:nvPr/>
        </p:nvGrpSpPr>
        <p:grpSpPr bwMode="auto">
          <a:xfrm>
            <a:off x="5894288" y="3645025"/>
            <a:ext cx="2376602" cy="2036763"/>
            <a:chOff x="3992" y="1902"/>
            <a:chExt cx="1406" cy="1283"/>
          </a:xfrm>
        </p:grpSpPr>
        <p:sp>
          <p:nvSpPr>
            <p:cNvPr id="50" name="Oval 67"/>
            <p:cNvSpPr>
              <a:spLocks noChangeArrowheads="1"/>
            </p:cNvSpPr>
            <p:nvPr/>
          </p:nvSpPr>
          <p:spPr bwMode="auto">
            <a:xfrm>
              <a:off x="3992" y="2320"/>
              <a:ext cx="96" cy="104"/>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51" name="Text Box 64"/>
            <p:cNvSpPr txBox="1">
              <a:spLocks noChangeArrowheads="1"/>
            </p:cNvSpPr>
            <p:nvPr/>
          </p:nvSpPr>
          <p:spPr bwMode="auto">
            <a:xfrm>
              <a:off x="4564" y="1902"/>
              <a:ext cx="834" cy="756"/>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Tier-2-ISPs arbeiten oft zusammen </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(“to </a:t>
              </a:r>
              <a:r>
                <a:rPr kumimoji="0" lang="de-DE" sz="1800" b="0" i="0" u="none" strike="noStrike" kern="1200" cap="none" spc="0" normalizeH="0" baseline="0" noProof="0" dirty="0" err="1">
                  <a:ln>
                    <a:noFill/>
                  </a:ln>
                  <a:solidFill>
                    <a:prstClr val="black"/>
                  </a:solidFill>
                  <a:effectLst/>
                  <a:uLnTx/>
                  <a:uFillTx/>
                  <a:latin typeface="Arial"/>
                  <a:ea typeface="+mn-ea"/>
                  <a:cs typeface="+mn-cs"/>
                </a:rPr>
                <a:t>peer</a:t>
              </a:r>
              <a:r>
                <a:rPr kumimoji="0" lang="de-DE" sz="1800" b="0" i="0" u="none" strike="noStrike" kern="1200" cap="none" spc="0" normalizeH="0" baseline="0" noProof="0" dirty="0">
                  <a:ln>
                    <a:noFill/>
                  </a:ln>
                  <a:solidFill>
                    <a:prstClr val="black"/>
                  </a:solidFill>
                  <a:effectLst/>
                  <a:uLnTx/>
                  <a:uFillTx/>
                  <a:latin typeface="Arial"/>
                  <a:ea typeface="+mn-ea"/>
                  <a:cs typeface="+mn-cs"/>
                </a:rPr>
                <a:t>”)</a:t>
              </a:r>
            </a:p>
          </p:txBody>
        </p:sp>
        <p:sp>
          <p:nvSpPr>
            <p:cNvPr id="53" name="Line 69"/>
            <p:cNvSpPr>
              <a:spLocks noChangeShapeType="1"/>
            </p:cNvSpPr>
            <p:nvPr/>
          </p:nvSpPr>
          <p:spPr bwMode="auto">
            <a:xfrm>
              <a:off x="4064" y="2408"/>
              <a:ext cx="552" cy="728"/>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54" name="Line 72"/>
            <p:cNvSpPr>
              <a:spLocks noChangeShapeType="1"/>
            </p:cNvSpPr>
            <p:nvPr/>
          </p:nvSpPr>
          <p:spPr bwMode="auto">
            <a:xfrm flipH="1">
              <a:off x="4120" y="2174"/>
              <a:ext cx="434" cy="291"/>
            </a:xfrm>
            <a:prstGeom prst="line">
              <a:avLst/>
            </a:prstGeom>
            <a:noFill/>
            <a:ln w="28575">
              <a:solidFill>
                <a:schemeClr val="tx1"/>
              </a:solidFill>
              <a:prstDash val="sysDot"/>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52" name="Oval 68"/>
            <p:cNvSpPr>
              <a:spLocks noChangeArrowheads="1"/>
            </p:cNvSpPr>
            <p:nvPr/>
          </p:nvSpPr>
          <p:spPr bwMode="auto">
            <a:xfrm>
              <a:off x="4582" y="3081"/>
              <a:ext cx="96" cy="104"/>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13963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6"/>
          <p:cNvSpPr>
            <a:spLocks noGrp="1"/>
          </p:cNvSpPr>
          <p:nvPr>
            <p:ph type="sldNum" sz="quarter" idx="12"/>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71D631C-F7BB-415A-80F7-8A4227D06F01}" type="slidenum">
              <a:rPr kumimoji="0" lang="en-US"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71684" name="Rectangle 2"/>
          <p:cNvSpPr>
            <a:spLocks noGrp="1" noChangeArrowheads="1"/>
          </p:cNvSpPr>
          <p:nvPr>
            <p:ph type="title"/>
          </p:nvPr>
        </p:nvSpPr>
        <p:spPr>
          <a:xfrm>
            <a:off x="533400" y="228600"/>
            <a:ext cx="8096250" cy="896144"/>
          </a:xfrm>
        </p:spPr>
        <p:txBody>
          <a:bodyPr/>
          <a:lstStyle/>
          <a:p>
            <a:r>
              <a:rPr lang="de-DE" dirty="0"/>
              <a:t>Tier-3-ISPs</a:t>
            </a:r>
            <a:endParaRPr lang="en-US" dirty="0"/>
          </a:p>
        </p:txBody>
      </p:sp>
      <p:sp>
        <p:nvSpPr>
          <p:cNvPr id="77827" name="Rectangle 3"/>
          <p:cNvSpPr>
            <a:spLocks noGrp="1" noChangeArrowheads="1"/>
          </p:cNvSpPr>
          <p:nvPr>
            <p:ph type="body" sz="half" idx="1"/>
          </p:nvPr>
        </p:nvSpPr>
        <p:spPr>
          <a:xfrm>
            <a:off x="338931" y="1268760"/>
            <a:ext cx="8440738" cy="992138"/>
          </a:xfrm>
        </p:spPr>
        <p:txBody>
          <a:bodyPr>
            <a:normAutofit fontScale="92500" lnSpcReduction="10000"/>
          </a:bodyPr>
          <a:lstStyle/>
          <a:p>
            <a:r>
              <a:rPr lang="de-DE" sz="2400" dirty="0">
                <a:solidFill>
                  <a:srgbClr val="000000"/>
                </a:solidFill>
              </a:rPr>
              <a:t>Tier-3-ISPs und lokale ISPs </a:t>
            </a:r>
          </a:p>
          <a:p>
            <a:pPr lvl="1"/>
            <a:r>
              <a:rPr lang="de-DE" sz="2000" dirty="0"/>
              <a:t>Es sind die “last </a:t>
            </a:r>
            <a:r>
              <a:rPr lang="de-DE" sz="2000" dirty="0" err="1"/>
              <a:t>hop</a:t>
            </a:r>
            <a:r>
              <a:rPr lang="de-DE" sz="2000" dirty="0"/>
              <a:t>” Netzwerke, die z.T. auch die Zugangsnetzwerke zur Verfügung stellen</a:t>
            </a:r>
            <a:endParaRPr lang="de-DE" sz="2400" dirty="0">
              <a:solidFill>
                <a:srgbClr val="FF0000"/>
              </a:solidFill>
            </a:endParaRPr>
          </a:p>
          <a:p>
            <a:pPr lvl="1">
              <a:buFont typeface="Wingdings" pitchFamily="2" charset="2"/>
              <a:buNone/>
            </a:pPr>
            <a:endParaRPr lang="de-DE" sz="2000" dirty="0"/>
          </a:p>
        </p:txBody>
      </p:sp>
      <p:sp>
        <p:nvSpPr>
          <p:cNvPr id="71686" name="Oval 4"/>
          <p:cNvSpPr>
            <a:spLocks noChangeArrowheads="1"/>
          </p:cNvSpPr>
          <p:nvPr/>
        </p:nvSpPr>
        <p:spPr bwMode="auto">
          <a:xfrm>
            <a:off x="2432050" y="4883150"/>
            <a:ext cx="1863725" cy="790575"/>
          </a:xfrm>
          <a:prstGeom prst="ellipse">
            <a:avLst/>
          </a:prstGeom>
          <a:solidFill>
            <a:srgbClr val="FF0000"/>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1687" name="Oval 5"/>
          <p:cNvSpPr>
            <a:spLocks noChangeArrowheads="1"/>
          </p:cNvSpPr>
          <p:nvPr/>
        </p:nvSpPr>
        <p:spPr bwMode="auto">
          <a:xfrm>
            <a:off x="3530600" y="3679825"/>
            <a:ext cx="1863725" cy="790575"/>
          </a:xfrm>
          <a:prstGeom prst="ellipse">
            <a:avLst/>
          </a:prstGeom>
          <a:solidFill>
            <a:schemeClr val="accent2"/>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1688" name="Oval 6"/>
          <p:cNvSpPr>
            <a:spLocks noChangeArrowheads="1"/>
          </p:cNvSpPr>
          <p:nvPr/>
        </p:nvSpPr>
        <p:spPr bwMode="auto">
          <a:xfrm>
            <a:off x="4800600" y="4845050"/>
            <a:ext cx="1863725" cy="790575"/>
          </a:xfrm>
          <a:prstGeom prst="ellipse">
            <a:avLst/>
          </a:prstGeom>
          <a:solidFill>
            <a:schemeClr val="accent1"/>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1689" name="Oval 7"/>
          <p:cNvSpPr>
            <a:spLocks noChangeArrowheads="1"/>
          </p:cNvSpPr>
          <p:nvPr/>
        </p:nvSpPr>
        <p:spPr bwMode="auto">
          <a:xfrm>
            <a:off x="5121275" y="4851400"/>
            <a:ext cx="133350" cy="142875"/>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0" name="Oval 8"/>
          <p:cNvSpPr>
            <a:spLocks noChangeArrowheads="1"/>
          </p:cNvSpPr>
          <p:nvPr/>
        </p:nvSpPr>
        <p:spPr bwMode="auto">
          <a:xfrm>
            <a:off x="4670425" y="4381500"/>
            <a:ext cx="133350" cy="142875"/>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1" name="Oval 9"/>
          <p:cNvSpPr>
            <a:spLocks noChangeArrowheads="1"/>
          </p:cNvSpPr>
          <p:nvPr/>
        </p:nvSpPr>
        <p:spPr bwMode="auto">
          <a:xfrm>
            <a:off x="4206875" y="4406900"/>
            <a:ext cx="133350" cy="142875"/>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2" name="Oval 10"/>
          <p:cNvSpPr>
            <a:spLocks noChangeArrowheads="1"/>
          </p:cNvSpPr>
          <p:nvPr/>
        </p:nvSpPr>
        <p:spPr bwMode="auto">
          <a:xfrm>
            <a:off x="3736975" y="4864100"/>
            <a:ext cx="133350" cy="142875"/>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3" name="Oval 11"/>
          <p:cNvSpPr>
            <a:spLocks noChangeArrowheads="1"/>
          </p:cNvSpPr>
          <p:nvPr/>
        </p:nvSpPr>
        <p:spPr bwMode="auto">
          <a:xfrm>
            <a:off x="4232275" y="5181600"/>
            <a:ext cx="133350" cy="142875"/>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4" name="Oval 12"/>
          <p:cNvSpPr>
            <a:spLocks noChangeArrowheads="1"/>
          </p:cNvSpPr>
          <p:nvPr/>
        </p:nvSpPr>
        <p:spPr bwMode="auto">
          <a:xfrm>
            <a:off x="4746625" y="5168900"/>
            <a:ext cx="133350" cy="142875"/>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5" name="Line 13"/>
          <p:cNvSpPr>
            <a:spLocks noChangeShapeType="1"/>
          </p:cNvSpPr>
          <p:nvPr/>
        </p:nvSpPr>
        <p:spPr bwMode="auto">
          <a:xfrm flipV="1">
            <a:off x="4368800" y="5238750"/>
            <a:ext cx="381000" cy="635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6" name="Line 14"/>
          <p:cNvSpPr>
            <a:spLocks noChangeShapeType="1"/>
          </p:cNvSpPr>
          <p:nvPr/>
        </p:nvSpPr>
        <p:spPr bwMode="auto">
          <a:xfrm>
            <a:off x="4778375" y="4495800"/>
            <a:ext cx="368300" cy="3683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7" name="Line 15"/>
          <p:cNvSpPr>
            <a:spLocks noChangeShapeType="1"/>
          </p:cNvSpPr>
          <p:nvPr/>
        </p:nvSpPr>
        <p:spPr bwMode="auto">
          <a:xfrm flipV="1">
            <a:off x="3835400" y="4527550"/>
            <a:ext cx="393700" cy="3556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2" name="Group 22"/>
          <p:cNvGrpSpPr>
            <a:grpSpLocks/>
          </p:cNvGrpSpPr>
          <p:nvPr/>
        </p:nvGrpSpPr>
        <p:grpSpPr bwMode="auto">
          <a:xfrm>
            <a:off x="1946275" y="3286125"/>
            <a:ext cx="6219825" cy="2838450"/>
            <a:chOff x="1226" y="2070"/>
            <a:chExt cx="3918" cy="1788"/>
          </a:xfrm>
        </p:grpSpPr>
        <p:grpSp>
          <p:nvGrpSpPr>
            <p:cNvPr id="3" name="Group 23"/>
            <p:cNvGrpSpPr>
              <a:grpSpLocks/>
            </p:cNvGrpSpPr>
            <p:nvPr/>
          </p:nvGrpSpPr>
          <p:grpSpPr bwMode="auto">
            <a:xfrm>
              <a:off x="3042" y="2102"/>
              <a:ext cx="1054" cy="372"/>
              <a:chOff x="3042" y="2102"/>
              <a:chExt cx="1054" cy="372"/>
            </a:xfrm>
          </p:grpSpPr>
          <p:sp>
            <p:nvSpPr>
              <p:cNvPr id="71756" name="Oval 24"/>
              <p:cNvSpPr>
                <a:spLocks noChangeArrowheads="1"/>
              </p:cNvSpPr>
              <p:nvPr/>
            </p:nvSpPr>
            <p:spPr bwMode="auto">
              <a:xfrm>
                <a:off x="3042" y="210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57" name="Text Box 25"/>
              <p:cNvSpPr txBox="1">
                <a:spLocks noChangeArrowheads="1"/>
              </p:cNvSpPr>
              <p:nvPr/>
            </p:nvSpPr>
            <p:spPr bwMode="auto">
              <a:xfrm>
                <a:off x="3182" y="2176"/>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58" name="Oval 26"/>
              <p:cNvSpPr>
                <a:spLocks noChangeArrowheads="1"/>
              </p:cNvSpPr>
              <p:nvPr/>
            </p:nvSpPr>
            <p:spPr bwMode="auto">
              <a:xfrm>
                <a:off x="3184" y="234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4" name="Group 27"/>
            <p:cNvGrpSpPr>
              <a:grpSpLocks/>
            </p:cNvGrpSpPr>
            <p:nvPr/>
          </p:nvGrpSpPr>
          <p:grpSpPr bwMode="auto">
            <a:xfrm>
              <a:off x="1610" y="2070"/>
              <a:ext cx="1054" cy="372"/>
              <a:chOff x="698" y="2190"/>
              <a:chExt cx="1054" cy="372"/>
            </a:xfrm>
          </p:grpSpPr>
          <p:sp>
            <p:nvSpPr>
              <p:cNvPr id="71753" name="Oval 28"/>
              <p:cNvSpPr>
                <a:spLocks noChangeArrowheads="1"/>
              </p:cNvSpPr>
              <p:nvPr/>
            </p:nvSpPr>
            <p:spPr bwMode="auto">
              <a:xfrm>
                <a:off x="698" y="219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54" name="Text Box 29"/>
              <p:cNvSpPr txBox="1">
                <a:spLocks noChangeArrowheads="1"/>
              </p:cNvSpPr>
              <p:nvPr/>
            </p:nvSpPr>
            <p:spPr bwMode="auto">
              <a:xfrm>
                <a:off x="838" y="226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55" name="Oval 30"/>
              <p:cNvSpPr>
                <a:spLocks noChangeArrowheads="1"/>
              </p:cNvSpPr>
              <p:nvPr/>
            </p:nvSpPr>
            <p:spPr bwMode="auto">
              <a:xfrm>
                <a:off x="1464" y="246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5" name="Group 31"/>
            <p:cNvGrpSpPr>
              <a:grpSpLocks/>
            </p:cNvGrpSpPr>
            <p:nvPr/>
          </p:nvGrpSpPr>
          <p:grpSpPr bwMode="auto">
            <a:xfrm>
              <a:off x="1226" y="3476"/>
              <a:ext cx="1054" cy="374"/>
              <a:chOff x="442" y="3748"/>
              <a:chExt cx="1054" cy="374"/>
            </a:xfrm>
          </p:grpSpPr>
          <p:sp>
            <p:nvSpPr>
              <p:cNvPr id="71750" name="Oval 32"/>
              <p:cNvSpPr>
                <a:spLocks noChangeArrowheads="1"/>
              </p:cNvSpPr>
              <p:nvPr/>
            </p:nvSpPr>
            <p:spPr bwMode="auto">
              <a:xfrm>
                <a:off x="442" y="375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51" name="Text Box 33"/>
              <p:cNvSpPr txBox="1">
                <a:spLocks noChangeArrowheads="1"/>
              </p:cNvSpPr>
              <p:nvPr/>
            </p:nvSpPr>
            <p:spPr bwMode="auto">
              <a:xfrm>
                <a:off x="582" y="382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52" name="Oval 34"/>
              <p:cNvSpPr>
                <a:spLocks noChangeArrowheads="1"/>
              </p:cNvSpPr>
              <p:nvPr/>
            </p:nvSpPr>
            <p:spPr bwMode="auto">
              <a:xfrm>
                <a:off x="904" y="3748"/>
                <a:ext cx="84" cy="90"/>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6" name="Group 35"/>
            <p:cNvGrpSpPr>
              <a:grpSpLocks/>
            </p:cNvGrpSpPr>
            <p:nvPr/>
          </p:nvGrpSpPr>
          <p:grpSpPr bwMode="auto">
            <a:xfrm>
              <a:off x="2674" y="3486"/>
              <a:ext cx="1054" cy="372"/>
              <a:chOff x="2698" y="3710"/>
              <a:chExt cx="1054" cy="372"/>
            </a:xfrm>
          </p:grpSpPr>
          <p:sp>
            <p:nvSpPr>
              <p:cNvPr id="71747" name="Oval 36"/>
              <p:cNvSpPr>
                <a:spLocks noChangeArrowheads="1"/>
              </p:cNvSpPr>
              <p:nvPr/>
            </p:nvSpPr>
            <p:spPr bwMode="auto">
              <a:xfrm>
                <a:off x="2698" y="371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48" name="Text Box 37"/>
              <p:cNvSpPr txBox="1">
                <a:spLocks noChangeArrowheads="1"/>
              </p:cNvSpPr>
              <p:nvPr/>
            </p:nvSpPr>
            <p:spPr bwMode="auto">
              <a:xfrm>
                <a:off x="2838" y="378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49" name="Oval 38"/>
              <p:cNvSpPr>
                <a:spLocks noChangeArrowheads="1"/>
              </p:cNvSpPr>
              <p:nvPr/>
            </p:nvSpPr>
            <p:spPr bwMode="auto">
              <a:xfrm>
                <a:off x="3408" y="3716"/>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7" name="Group 39"/>
            <p:cNvGrpSpPr>
              <a:grpSpLocks/>
            </p:cNvGrpSpPr>
            <p:nvPr/>
          </p:nvGrpSpPr>
          <p:grpSpPr bwMode="auto">
            <a:xfrm>
              <a:off x="4090" y="3182"/>
              <a:ext cx="1054" cy="372"/>
              <a:chOff x="4090" y="3182"/>
              <a:chExt cx="1054" cy="372"/>
            </a:xfrm>
          </p:grpSpPr>
          <p:sp>
            <p:nvSpPr>
              <p:cNvPr id="71744" name="Oval 40"/>
              <p:cNvSpPr>
                <a:spLocks noChangeArrowheads="1"/>
              </p:cNvSpPr>
              <p:nvPr/>
            </p:nvSpPr>
            <p:spPr bwMode="auto">
              <a:xfrm>
                <a:off x="4090" y="318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45" name="Text Box 41"/>
              <p:cNvSpPr txBox="1">
                <a:spLocks noChangeArrowheads="1"/>
              </p:cNvSpPr>
              <p:nvPr/>
            </p:nvSpPr>
            <p:spPr bwMode="auto">
              <a:xfrm>
                <a:off x="4230" y="3256"/>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46" name="Oval 42"/>
              <p:cNvSpPr>
                <a:spLocks noChangeArrowheads="1"/>
              </p:cNvSpPr>
              <p:nvPr/>
            </p:nvSpPr>
            <p:spPr bwMode="auto">
              <a:xfrm>
                <a:off x="4144" y="3308"/>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71741" name="Oval 43"/>
            <p:cNvSpPr>
              <a:spLocks noChangeArrowheads="1"/>
            </p:cNvSpPr>
            <p:nvPr/>
          </p:nvSpPr>
          <p:spPr bwMode="auto">
            <a:xfrm>
              <a:off x="1712" y="2328"/>
              <a:ext cx="96" cy="88"/>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42" name="Line 44"/>
            <p:cNvSpPr>
              <a:spLocks noChangeShapeType="1"/>
            </p:cNvSpPr>
            <p:nvPr/>
          </p:nvSpPr>
          <p:spPr bwMode="auto">
            <a:xfrm>
              <a:off x="1768" y="2400"/>
              <a:ext cx="200" cy="684"/>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43" name="Oval 45"/>
            <p:cNvSpPr>
              <a:spLocks noChangeArrowheads="1"/>
            </p:cNvSpPr>
            <p:nvPr/>
          </p:nvSpPr>
          <p:spPr bwMode="auto">
            <a:xfrm>
              <a:off x="1928" y="3044"/>
              <a:ext cx="96" cy="88"/>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71699" name="Oval 52"/>
          <p:cNvSpPr>
            <a:spLocks noChangeArrowheads="1"/>
          </p:cNvSpPr>
          <p:nvPr/>
        </p:nvSpPr>
        <p:spPr bwMode="auto">
          <a:xfrm>
            <a:off x="6337300" y="3683000"/>
            <a:ext cx="152400" cy="165100"/>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0" name="Oval 53"/>
          <p:cNvSpPr>
            <a:spLocks noChangeArrowheads="1"/>
          </p:cNvSpPr>
          <p:nvPr/>
        </p:nvSpPr>
        <p:spPr bwMode="auto">
          <a:xfrm>
            <a:off x="7302500" y="4991100"/>
            <a:ext cx="152400" cy="165100"/>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1" name="Line 54"/>
          <p:cNvSpPr>
            <a:spLocks noChangeShapeType="1"/>
          </p:cNvSpPr>
          <p:nvPr/>
        </p:nvSpPr>
        <p:spPr bwMode="auto">
          <a:xfrm>
            <a:off x="6451600" y="3822700"/>
            <a:ext cx="876300" cy="11557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8" name="Group 91"/>
          <p:cNvGrpSpPr>
            <a:grpSpLocks/>
          </p:cNvGrpSpPr>
          <p:nvPr/>
        </p:nvGrpSpPr>
        <p:grpSpPr bwMode="auto">
          <a:xfrm>
            <a:off x="1539875" y="2473325"/>
            <a:ext cx="6823075" cy="4162425"/>
            <a:chOff x="970" y="1558"/>
            <a:chExt cx="4298" cy="2622"/>
          </a:xfrm>
        </p:grpSpPr>
        <p:grpSp>
          <p:nvGrpSpPr>
            <p:cNvPr id="9" name="Group 62"/>
            <p:cNvGrpSpPr>
              <a:grpSpLocks/>
            </p:cNvGrpSpPr>
            <p:nvPr/>
          </p:nvGrpSpPr>
          <p:grpSpPr bwMode="auto">
            <a:xfrm>
              <a:off x="3322" y="1686"/>
              <a:ext cx="666" cy="438"/>
              <a:chOff x="4314" y="1086"/>
              <a:chExt cx="666" cy="438"/>
            </a:xfrm>
          </p:grpSpPr>
          <p:sp>
            <p:nvSpPr>
              <p:cNvPr id="71734" name="Oval 63"/>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35" name="Text Box 64"/>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0" name="Group 65"/>
            <p:cNvGrpSpPr>
              <a:grpSpLocks/>
            </p:cNvGrpSpPr>
            <p:nvPr/>
          </p:nvGrpSpPr>
          <p:grpSpPr bwMode="auto">
            <a:xfrm>
              <a:off x="2714" y="1782"/>
              <a:ext cx="666" cy="438"/>
              <a:chOff x="4314" y="1086"/>
              <a:chExt cx="666" cy="438"/>
            </a:xfrm>
          </p:grpSpPr>
          <p:sp>
            <p:nvSpPr>
              <p:cNvPr id="71732" name="Oval 66"/>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33" name="Text Box 67"/>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1" name="Group 59"/>
            <p:cNvGrpSpPr>
              <a:grpSpLocks/>
            </p:cNvGrpSpPr>
            <p:nvPr/>
          </p:nvGrpSpPr>
          <p:grpSpPr bwMode="auto">
            <a:xfrm>
              <a:off x="3794" y="1774"/>
              <a:ext cx="666" cy="438"/>
              <a:chOff x="4314" y="1086"/>
              <a:chExt cx="666" cy="438"/>
            </a:xfrm>
          </p:grpSpPr>
          <p:sp>
            <p:nvSpPr>
              <p:cNvPr id="71730" name="Oval 60"/>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31" name="Text Box 61"/>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2" name="Group 71"/>
            <p:cNvGrpSpPr>
              <a:grpSpLocks/>
            </p:cNvGrpSpPr>
            <p:nvPr/>
          </p:nvGrpSpPr>
          <p:grpSpPr bwMode="auto">
            <a:xfrm>
              <a:off x="970" y="3702"/>
              <a:ext cx="666" cy="438"/>
              <a:chOff x="4314" y="1086"/>
              <a:chExt cx="666" cy="438"/>
            </a:xfrm>
          </p:grpSpPr>
          <p:sp>
            <p:nvSpPr>
              <p:cNvPr id="71728" name="Oval 72"/>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9" name="Text Box 73"/>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3" name="Group 74"/>
            <p:cNvGrpSpPr>
              <a:grpSpLocks/>
            </p:cNvGrpSpPr>
            <p:nvPr/>
          </p:nvGrpSpPr>
          <p:grpSpPr bwMode="auto">
            <a:xfrm>
              <a:off x="1186" y="1558"/>
              <a:ext cx="666" cy="438"/>
              <a:chOff x="4314" y="1086"/>
              <a:chExt cx="666" cy="438"/>
            </a:xfrm>
          </p:grpSpPr>
          <p:sp>
            <p:nvSpPr>
              <p:cNvPr id="71726" name="Oval 75"/>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7" name="Text Box 76"/>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ISP</a:t>
                </a:r>
              </a:p>
            </p:txBody>
          </p:sp>
        </p:grpSp>
        <p:grpSp>
          <p:nvGrpSpPr>
            <p:cNvPr id="14" name="Group 68"/>
            <p:cNvGrpSpPr>
              <a:grpSpLocks/>
            </p:cNvGrpSpPr>
            <p:nvPr/>
          </p:nvGrpSpPr>
          <p:grpSpPr bwMode="auto">
            <a:xfrm>
              <a:off x="1730" y="1710"/>
              <a:ext cx="666" cy="438"/>
              <a:chOff x="4314" y="1086"/>
              <a:chExt cx="666" cy="438"/>
            </a:xfrm>
          </p:grpSpPr>
          <p:sp>
            <p:nvSpPr>
              <p:cNvPr id="71724" name="Oval 69"/>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5" name="Text Box 70"/>
              <p:cNvSpPr txBox="1">
                <a:spLocks noChangeArrowheads="1"/>
              </p:cNvSpPr>
              <p:nvPr/>
            </p:nvSpPr>
            <p:spPr bwMode="auto">
              <a:xfrm>
                <a:off x="4353" y="1106"/>
                <a:ext cx="483" cy="407"/>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5" name="Group 77"/>
            <p:cNvGrpSpPr>
              <a:grpSpLocks/>
            </p:cNvGrpSpPr>
            <p:nvPr/>
          </p:nvGrpSpPr>
          <p:grpSpPr bwMode="auto">
            <a:xfrm>
              <a:off x="1826" y="3742"/>
              <a:ext cx="666" cy="438"/>
              <a:chOff x="4314" y="1086"/>
              <a:chExt cx="666" cy="438"/>
            </a:xfrm>
          </p:grpSpPr>
          <p:sp>
            <p:nvSpPr>
              <p:cNvPr id="71722" name="Oval 78"/>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3" name="Text Box 79"/>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6" name="Group 80"/>
            <p:cNvGrpSpPr>
              <a:grpSpLocks/>
            </p:cNvGrpSpPr>
            <p:nvPr/>
          </p:nvGrpSpPr>
          <p:grpSpPr bwMode="auto">
            <a:xfrm>
              <a:off x="2898" y="3742"/>
              <a:ext cx="666" cy="438"/>
              <a:chOff x="4314" y="1086"/>
              <a:chExt cx="666" cy="438"/>
            </a:xfrm>
          </p:grpSpPr>
          <p:sp>
            <p:nvSpPr>
              <p:cNvPr id="71720" name="Oval 81"/>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1" name="Text Box 82"/>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7" name="Group 83"/>
            <p:cNvGrpSpPr>
              <a:grpSpLocks/>
            </p:cNvGrpSpPr>
            <p:nvPr/>
          </p:nvGrpSpPr>
          <p:grpSpPr bwMode="auto">
            <a:xfrm>
              <a:off x="4602" y="3454"/>
              <a:ext cx="666" cy="438"/>
              <a:chOff x="4314" y="1086"/>
              <a:chExt cx="666" cy="438"/>
            </a:xfrm>
          </p:grpSpPr>
          <p:sp>
            <p:nvSpPr>
              <p:cNvPr id="71718" name="Oval 84"/>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19" name="Text Box 85"/>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grpSp>
        <p:nvGrpSpPr>
          <p:cNvPr id="18" name="Group 90"/>
          <p:cNvGrpSpPr>
            <a:grpSpLocks/>
          </p:cNvGrpSpPr>
          <p:nvPr/>
        </p:nvGrpSpPr>
        <p:grpSpPr bwMode="auto">
          <a:xfrm>
            <a:off x="184150" y="3175000"/>
            <a:ext cx="2825750" cy="2819400"/>
            <a:chOff x="116" y="2000"/>
            <a:chExt cx="1780" cy="1776"/>
          </a:xfrm>
        </p:grpSpPr>
        <p:sp>
          <p:nvSpPr>
            <p:cNvPr id="71704" name="Text Box 51"/>
            <p:cNvSpPr txBox="1">
              <a:spLocks noChangeArrowheads="1"/>
            </p:cNvSpPr>
            <p:nvPr/>
          </p:nvSpPr>
          <p:spPr bwMode="auto">
            <a:xfrm>
              <a:off x="116" y="2094"/>
              <a:ext cx="1132" cy="1629"/>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Lokale</a:t>
              </a:r>
              <a:r>
                <a:rPr kumimoji="0" lang="en-US" sz="1800" b="0" i="0" u="none" strike="noStrike" kern="1200" cap="none" spc="0" normalizeH="0" baseline="0" noProof="0" dirty="0">
                  <a:ln>
                    <a:noFill/>
                  </a:ln>
                  <a:solidFill>
                    <a:prstClr val="black"/>
                  </a:solidFill>
                  <a:effectLst/>
                  <a:uLnTx/>
                  <a:uFillTx/>
                  <a:latin typeface="Arial"/>
                  <a:ea typeface="+mn-ea"/>
                  <a:cs typeface="+mn-cs"/>
                </a:rPr>
                <a:t> und Tier-3-ISPs </a:t>
              </a:r>
              <a:r>
                <a:rPr kumimoji="0" lang="en-US" sz="1800" b="0" i="0" u="none" strike="noStrike" kern="1200" cap="none" spc="0" normalizeH="0" baseline="0" noProof="0" dirty="0" err="1">
                  <a:ln>
                    <a:noFill/>
                  </a:ln>
                  <a:solidFill>
                    <a:prstClr val="black"/>
                  </a:solidFill>
                  <a:effectLst/>
                  <a:uLnTx/>
                  <a:uFillTx/>
                  <a:latin typeface="Arial"/>
                  <a:ea typeface="+mn-ea"/>
                  <a:cs typeface="+mn-cs"/>
                </a:rPr>
                <a:t>sind</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0" i="0" u="none" strike="noStrike" kern="1200" cap="none" spc="0" normalizeH="0" baseline="0" noProof="0" dirty="0" err="1">
                  <a:ln>
                    <a:noFill/>
                  </a:ln>
                  <a:solidFill>
                    <a:prstClr val="black"/>
                  </a:solidFill>
                  <a:effectLst/>
                  <a:uLnTx/>
                  <a:uFillTx/>
                  <a:latin typeface="Arial"/>
                  <a:ea typeface="+mn-ea"/>
                  <a:cs typeface="+mn-cs"/>
                </a:rPr>
                <a:t>Kunden</a:t>
              </a:r>
              <a:r>
                <a:rPr kumimoji="0" lang="en-US" sz="1800" b="0" i="0" u="none" strike="noStrike" kern="1200" cap="none" spc="0" normalizeH="0" baseline="0" noProof="0" dirty="0">
                  <a:ln>
                    <a:noFill/>
                  </a:ln>
                  <a:solidFill>
                    <a:prstClr val="black"/>
                  </a:solidFill>
                  <a:effectLst/>
                  <a:uLnTx/>
                  <a:uFillTx/>
                  <a:latin typeface="Arial"/>
                  <a:ea typeface="+mn-ea"/>
                  <a:cs typeface="+mn-cs"/>
                </a:rPr>
                <a:t> von “</a:t>
              </a:r>
              <a:r>
                <a:rPr kumimoji="0" lang="en-US" sz="1800" b="0" i="0" u="none" strike="noStrike" kern="1200" cap="none" spc="0" normalizeH="0" baseline="0" noProof="0" dirty="0" err="1">
                  <a:ln>
                    <a:noFill/>
                  </a:ln>
                  <a:solidFill>
                    <a:prstClr val="black"/>
                  </a:solidFill>
                  <a:effectLst/>
                  <a:uLnTx/>
                  <a:uFillTx/>
                  <a:latin typeface="Arial"/>
                  <a:ea typeface="+mn-ea"/>
                  <a:cs typeface="+mn-cs"/>
                </a:rPr>
                <a:t>höheren</a:t>
              </a:r>
              <a:r>
                <a:rPr kumimoji="0" lang="en-US" sz="1800" b="0" i="0" u="none" strike="noStrike" kern="1200" cap="none" spc="0" normalizeH="0" baseline="0" noProof="0" dirty="0">
                  <a:ln>
                    <a:noFill/>
                  </a:ln>
                  <a:solidFill>
                    <a:prstClr val="black"/>
                  </a:solidFill>
                  <a:effectLst/>
                  <a:uLnTx/>
                  <a:uFillTx/>
                  <a:latin typeface="Arial"/>
                  <a:ea typeface="+mn-ea"/>
                  <a:cs typeface="+mn-cs"/>
                </a:rPr>
                <a:t>” ISPs; </a:t>
              </a:r>
              <a:r>
                <a:rPr kumimoji="0" lang="en-US" sz="1800" b="0" i="0" u="none" strike="noStrike" kern="1200" cap="none" spc="0" normalizeH="0" baseline="0" noProof="0" dirty="0" err="1">
                  <a:ln>
                    <a:noFill/>
                  </a:ln>
                  <a:solidFill>
                    <a:prstClr val="black"/>
                  </a:solidFill>
                  <a:effectLst/>
                  <a:uLnTx/>
                  <a:uFillTx/>
                  <a:latin typeface="Arial"/>
                  <a:ea typeface="+mn-ea"/>
                  <a:cs typeface="+mn-cs"/>
                </a:rPr>
                <a:t>diese</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0" i="0" u="none" strike="noStrike" kern="1200" cap="none" spc="0" normalizeH="0" baseline="0" noProof="0" dirty="0" err="1">
                  <a:ln>
                    <a:noFill/>
                  </a:ln>
                  <a:solidFill>
                    <a:prstClr val="black"/>
                  </a:solidFill>
                  <a:effectLst/>
                  <a:uLnTx/>
                  <a:uFillTx/>
                  <a:latin typeface="Arial"/>
                  <a:ea typeface="+mn-ea"/>
                  <a:cs typeface="+mn-cs"/>
                </a:rPr>
                <a:t>verbinden</a:t>
              </a:r>
              <a:r>
                <a:rPr kumimoji="0" lang="en-US" sz="1800" b="0" i="0" u="none" strike="noStrike" kern="1200" cap="none" spc="0" normalizeH="0" baseline="0" noProof="0" dirty="0">
                  <a:ln>
                    <a:noFill/>
                  </a:ln>
                  <a:solidFill>
                    <a:prstClr val="black"/>
                  </a:solidFill>
                  <a:effectLst/>
                  <a:uLnTx/>
                  <a:uFillTx/>
                  <a:latin typeface="Arial"/>
                  <a:ea typeface="+mn-ea"/>
                  <a:cs typeface="+mn-cs"/>
                </a:rPr>
                <a:t> Tier-3-ISPs </a:t>
              </a:r>
              <a:r>
                <a:rPr kumimoji="0" lang="en-US" sz="1800" b="0" i="0" u="none" strike="noStrike" kern="1200" cap="none" spc="0" normalizeH="0" baseline="0" noProof="0" dirty="0" err="1">
                  <a:ln>
                    <a:noFill/>
                  </a:ln>
                  <a:solidFill>
                    <a:prstClr val="black"/>
                  </a:solidFill>
                  <a:effectLst/>
                  <a:uLnTx/>
                  <a:uFillTx/>
                  <a:latin typeface="Arial"/>
                  <a:ea typeface="+mn-ea"/>
                  <a:cs typeface="+mn-cs"/>
                </a:rPr>
                <a:t>zum</a:t>
              </a:r>
              <a:r>
                <a:rPr kumimoji="0" lang="en-US" sz="1800" b="0" i="0" u="none" strike="noStrike" kern="1200" cap="none" spc="0" normalizeH="0" baseline="0" noProof="0" dirty="0">
                  <a:ln>
                    <a:noFill/>
                  </a:ln>
                  <a:solidFill>
                    <a:prstClr val="black"/>
                  </a:solidFill>
                  <a:effectLst/>
                  <a:uLnTx/>
                  <a:uFillTx/>
                  <a:latin typeface="Arial"/>
                  <a:ea typeface="+mn-ea"/>
                  <a:cs typeface="+mn-cs"/>
                </a:rPr>
                <a:t> Rest des Internets</a:t>
              </a:r>
            </a:p>
          </p:txBody>
        </p:sp>
        <p:sp>
          <p:nvSpPr>
            <p:cNvPr id="71705" name="Line 86"/>
            <p:cNvSpPr>
              <a:spLocks noChangeShapeType="1"/>
            </p:cNvSpPr>
            <p:nvPr/>
          </p:nvSpPr>
          <p:spPr bwMode="auto">
            <a:xfrm flipV="1">
              <a:off x="1072" y="2008"/>
              <a:ext cx="344" cy="744"/>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6" name="Line 87"/>
            <p:cNvSpPr>
              <a:spLocks noChangeShapeType="1"/>
            </p:cNvSpPr>
            <p:nvPr/>
          </p:nvSpPr>
          <p:spPr bwMode="auto">
            <a:xfrm flipV="1">
              <a:off x="1088" y="2000"/>
              <a:ext cx="664" cy="728"/>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7" name="Line 88"/>
            <p:cNvSpPr>
              <a:spLocks noChangeShapeType="1"/>
            </p:cNvSpPr>
            <p:nvPr/>
          </p:nvSpPr>
          <p:spPr bwMode="auto">
            <a:xfrm>
              <a:off x="1073" y="2744"/>
              <a:ext cx="95" cy="96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8" name="Line 89"/>
            <p:cNvSpPr>
              <a:spLocks noChangeShapeType="1"/>
            </p:cNvSpPr>
            <p:nvPr/>
          </p:nvSpPr>
          <p:spPr bwMode="auto">
            <a:xfrm>
              <a:off x="1074" y="2739"/>
              <a:ext cx="822" cy="1037"/>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184254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827">
                                            <p:txEl>
                                              <p:pRg st="1" end="1"/>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Slide Number Placeholder 6"/>
          <p:cNvSpPr>
            <a:spLocks noGrp="1"/>
          </p:cNvSpPr>
          <p:nvPr>
            <p:ph type="sldNum" sz="quarter" idx="12"/>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D6118FB-932F-4787-8B9F-4B091DEC5635}" type="slidenum">
              <a:rPr kumimoji="0" lang="en-US"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17414" name="Rectangle 2"/>
          <p:cNvSpPr>
            <a:spLocks noGrp="1" noChangeArrowheads="1"/>
          </p:cNvSpPr>
          <p:nvPr>
            <p:ph type="title"/>
          </p:nvPr>
        </p:nvSpPr>
        <p:spPr>
          <a:xfrm>
            <a:off x="533400" y="228600"/>
            <a:ext cx="8096250" cy="968152"/>
          </a:xfrm>
        </p:spPr>
        <p:txBody>
          <a:bodyPr>
            <a:normAutofit/>
          </a:bodyPr>
          <a:lstStyle/>
          <a:p>
            <a:r>
              <a:rPr lang="de-DE" sz="3200" dirty="0"/>
              <a:t>Ein Paket durchkreuzt viele Netzwerke </a:t>
            </a:r>
            <a:endParaRPr lang="de-DE" dirty="0"/>
          </a:p>
        </p:txBody>
      </p:sp>
      <p:sp>
        <p:nvSpPr>
          <p:cNvPr id="17416" name="Oval 4"/>
          <p:cNvSpPr>
            <a:spLocks noChangeArrowheads="1"/>
          </p:cNvSpPr>
          <p:nvPr/>
        </p:nvSpPr>
        <p:spPr bwMode="auto">
          <a:xfrm>
            <a:off x="2432050" y="4883150"/>
            <a:ext cx="1863725" cy="790575"/>
          </a:xfrm>
          <a:prstGeom prst="ellipse">
            <a:avLst/>
          </a:prstGeom>
          <a:solidFill>
            <a:schemeClr val="folHlink"/>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omic Sans MS" pitchFamily="66" charset="0"/>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417" name="Oval 5"/>
          <p:cNvSpPr>
            <a:spLocks noChangeArrowheads="1"/>
          </p:cNvSpPr>
          <p:nvPr/>
        </p:nvSpPr>
        <p:spPr bwMode="auto">
          <a:xfrm>
            <a:off x="3530600" y="3679825"/>
            <a:ext cx="1863725" cy="790575"/>
          </a:xfrm>
          <a:prstGeom prst="ellipse">
            <a:avLst/>
          </a:prstGeom>
          <a:solidFill>
            <a:schemeClr val="folHlink"/>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omic Sans MS" pitchFamily="66" charset="0"/>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418" name="Oval 6"/>
          <p:cNvSpPr>
            <a:spLocks noChangeArrowheads="1"/>
          </p:cNvSpPr>
          <p:nvPr/>
        </p:nvSpPr>
        <p:spPr bwMode="auto">
          <a:xfrm>
            <a:off x="4800600" y="4845050"/>
            <a:ext cx="1863725" cy="790575"/>
          </a:xfrm>
          <a:prstGeom prst="ellipse">
            <a:avLst/>
          </a:prstGeom>
          <a:solidFill>
            <a:schemeClr val="folHlink"/>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omic Sans MS" pitchFamily="66" charset="0"/>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419" name="Oval 7"/>
          <p:cNvSpPr>
            <a:spLocks noChangeArrowheads="1"/>
          </p:cNvSpPr>
          <p:nvPr/>
        </p:nvSpPr>
        <p:spPr bwMode="auto">
          <a:xfrm>
            <a:off x="5121275" y="48514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0" name="Oval 8"/>
          <p:cNvSpPr>
            <a:spLocks noChangeArrowheads="1"/>
          </p:cNvSpPr>
          <p:nvPr/>
        </p:nvSpPr>
        <p:spPr bwMode="auto">
          <a:xfrm>
            <a:off x="4670425" y="43815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1" name="Oval 9"/>
          <p:cNvSpPr>
            <a:spLocks noChangeArrowheads="1"/>
          </p:cNvSpPr>
          <p:nvPr/>
        </p:nvSpPr>
        <p:spPr bwMode="auto">
          <a:xfrm>
            <a:off x="4206875" y="44069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2" name="Oval 10"/>
          <p:cNvSpPr>
            <a:spLocks noChangeArrowheads="1"/>
          </p:cNvSpPr>
          <p:nvPr/>
        </p:nvSpPr>
        <p:spPr bwMode="auto">
          <a:xfrm>
            <a:off x="3736975" y="48641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3" name="Oval 11"/>
          <p:cNvSpPr>
            <a:spLocks noChangeArrowheads="1"/>
          </p:cNvSpPr>
          <p:nvPr/>
        </p:nvSpPr>
        <p:spPr bwMode="auto">
          <a:xfrm>
            <a:off x="4232275" y="51816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4" name="Oval 12"/>
          <p:cNvSpPr>
            <a:spLocks noChangeArrowheads="1"/>
          </p:cNvSpPr>
          <p:nvPr/>
        </p:nvSpPr>
        <p:spPr bwMode="auto">
          <a:xfrm>
            <a:off x="4746625" y="51689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5" name="Line 13"/>
          <p:cNvSpPr>
            <a:spLocks noChangeShapeType="1"/>
          </p:cNvSpPr>
          <p:nvPr/>
        </p:nvSpPr>
        <p:spPr bwMode="auto">
          <a:xfrm flipV="1">
            <a:off x="4368800" y="5238750"/>
            <a:ext cx="381000" cy="635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6" name="Line 14"/>
          <p:cNvSpPr>
            <a:spLocks noChangeShapeType="1"/>
          </p:cNvSpPr>
          <p:nvPr/>
        </p:nvSpPr>
        <p:spPr bwMode="auto">
          <a:xfrm>
            <a:off x="4778375" y="4495800"/>
            <a:ext cx="368300" cy="3683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7" name="Line 15"/>
          <p:cNvSpPr>
            <a:spLocks noChangeShapeType="1"/>
          </p:cNvSpPr>
          <p:nvPr/>
        </p:nvSpPr>
        <p:spPr bwMode="auto">
          <a:xfrm flipV="1">
            <a:off x="3835400" y="4527550"/>
            <a:ext cx="393700" cy="3556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2" name="Group 22"/>
          <p:cNvGrpSpPr>
            <a:grpSpLocks/>
          </p:cNvGrpSpPr>
          <p:nvPr/>
        </p:nvGrpSpPr>
        <p:grpSpPr bwMode="auto">
          <a:xfrm>
            <a:off x="1946275" y="3286125"/>
            <a:ext cx="6219825" cy="2838450"/>
            <a:chOff x="1226" y="2070"/>
            <a:chExt cx="3918" cy="1788"/>
          </a:xfrm>
        </p:grpSpPr>
        <p:grpSp>
          <p:nvGrpSpPr>
            <p:cNvPr id="3" name="Group 23"/>
            <p:cNvGrpSpPr>
              <a:grpSpLocks/>
            </p:cNvGrpSpPr>
            <p:nvPr/>
          </p:nvGrpSpPr>
          <p:grpSpPr bwMode="auto">
            <a:xfrm>
              <a:off x="3042" y="2102"/>
              <a:ext cx="1054" cy="372"/>
              <a:chOff x="3042" y="2102"/>
              <a:chExt cx="1054" cy="372"/>
            </a:xfrm>
          </p:grpSpPr>
          <p:sp>
            <p:nvSpPr>
              <p:cNvPr id="17480" name="Oval 24"/>
              <p:cNvSpPr>
                <a:spLocks noChangeArrowheads="1"/>
              </p:cNvSpPr>
              <p:nvPr/>
            </p:nvSpPr>
            <p:spPr bwMode="auto">
              <a:xfrm>
                <a:off x="3042" y="210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81" name="Text Box 25"/>
              <p:cNvSpPr txBox="1">
                <a:spLocks noChangeArrowheads="1"/>
              </p:cNvSpPr>
              <p:nvPr/>
            </p:nvSpPr>
            <p:spPr bwMode="auto">
              <a:xfrm>
                <a:off x="3182" y="2176"/>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82" name="Oval 26"/>
              <p:cNvSpPr>
                <a:spLocks noChangeArrowheads="1"/>
              </p:cNvSpPr>
              <p:nvPr/>
            </p:nvSpPr>
            <p:spPr bwMode="auto">
              <a:xfrm>
                <a:off x="3184" y="2340"/>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4" name="Group 27"/>
            <p:cNvGrpSpPr>
              <a:grpSpLocks/>
            </p:cNvGrpSpPr>
            <p:nvPr/>
          </p:nvGrpSpPr>
          <p:grpSpPr bwMode="auto">
            <a:xfrm>
              <a:off x="1610" y="2070"/>
              <a:ext cx="1054" cy="372"/>
              <a:chOff x="698" y="2190"/>
              <a:chExt cx="1054" cy="372"/>
            </a:xfrm>
          </p:grpSpPr>
          <p:sp>
            <p:nvSpPr>
              <p:cNvPr id="17477" name="Oval 28"/>
              <p:cNvSpPr>
                <a:spLocks noChangeArrowheads="1"/>
              </p:cNvSpPr>
              <p:nvPr/>
            </p:nvSpPr>
            <p:spPr bwMode="auto">
              <a:xfrm>
                <a:off x="698" y="219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78" name="Text Box 29"/>
              <p:cNvSpPr txBox="1">
                <a:spLocks noChangeArrowheads="1"/>
              </p:cNvSpPr>
              <p:nvPr/>
            </p:nvSpPr>
            <p:spPr bwMode="auto">
              <a:xfrm>
                <a:off x="838" y="2264"/>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79" name="Oval 30"/>
              <p:cNvSpPr>
                <a:spLocks noChangeArrowheads="1"/>
              </p:cNvSpPr>
              <p:nvPr/>
            </p:nvSpPr>
            <p:spPr bwMode="auto">
              <a:xfrm>
                <a:off x="1464" y="2460"/>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5" name="Group 31"/>
            <p:cNvGrpSpPr>
              <a:grpSpLocks/>
            </p:cNvGrpSpPr>
            <p:nvPr/>
          </p:nvGrpSpPr>
          <p:grpSpPr bwMode="auto">
            <a:xfrm>
              <a:off x="1226" y="3476"/>
              <a:ext cx="1054" cy="374"/>
              <a:chOff x="442" y="3748"/>
              <a:chExt cx="1054" cy="374"/>
            </a:xfrm>
          </p:grpSpPr>
          <p:sp>
            <p:nvSpPr>
              <p:cNvPr id="17474" name="Oval 32"/>
              <p:cNvSpPr>
                <a:spLocks noChangeArrowheads="1"/>
              </p:cNvSpPr>
              <p:nvPr/>
            </p:nvSpPr>
            <p:spPr bwMode="auto">
              <a:xfrm>
                <a:off x="442" y="375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75" name="Text Box 33"/>
              <p:cNvSpPr txBox="1">
                <a:spLocks noChangeArrowheads="1"/>
              </p:cNvSpPr>
              <p:nvPr/>
            </p:nvSpPr>
            <p:spPr bwMode="auto">
              <a:xfrm>
                <a:off x="582" y="3824"/>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76" name="Oval 34"/>
              <p:cNvSpPr>
                <a:spLocks noChangeArrowheads="1"/>
              </p:cNvSpPr>
              <p:nvPr/>
            </p:nvSpPr>
            <p:spPr bwMode="auto">
              <a:xfrm>
                <a:off x="904" y="3748"/>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6" name="Group 35"/>
            <p:cNvGrpSpPr>
              <a:grpSpLocks/>
            </p:cNvGrpSpPr>
            <p:nvPr/>
          </p:nvGrpSpPr>
          <p:grpSpPr bwMode="auto">
            <a:xfrm>
              <a:off x="2674" y="3486"/>
              <a:ext cx="1054" cy="372"/>
              <a:chOff x="2698" y="3710"/>
              <a:chExt cx="1054" cy="372"/>
            </a:xfrm>
          </p:grpSpPr>
          <p:sp>
            <p:nvSpPr>
              <p:cNvPr id="17471" name="Oval 36"/>
              <p:cNvSpPr>
                <a:spLocks noChangeArrowheads="1"/>
              </p:cNvSpPr>
              <p:nvPr/>
            </p:nvSpPr>
            <p:spPr bwMode="auto">
              <a:xfrm>
                <a:off x="2698" y="371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72" name="Text Box 37"/>
              <p:cNvSpPr txBox="1">
                <a:spLocks noChangeArrowheads="1"/>
              </p:cNvSpPr>
              <p:nvPr/>
            </p:nvSpPr>
            <p:spPr bwMode="auto">
              <a:xfrm>
                <a:off x="2838" y="3784"/>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73" name="Oval 38"/>
              <p:cNvSpPr>
                <a:spLocks noChangeArrowheads="1"/>
              </p:cNvSpPr>
              <p:nvPr/>
            </p:nvSpPr>
            <p:spPr bwMode="auto">
              <a:xfrm>
                <a:off x="3408" y="3716"/>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7" name="Group 39"/>
            <p:cNvGrpSpPr>
              <a:grpSpLocks/>
            </p:cNvGrpSpPr>
            <p:nvPr/>
          </p:nvGrpSpPr>
          <p:grpSpPr bwMode="auto">
            <a:xfrm>
              <a:off x="4090" y="3182"/>
              <a:ext cx="1054" cy="372"/>
              <a:chOff x="4090" y="3182"/>
              <a:chExt cx="1054" cy="372"/>
            </a:xfrm>
          </p:grpSpPr>
          <p:sp>
            <p:nvSpPr>
              <p:cNvPr id="17468" name="Oval 40"/>
              <p:cNvSpPr>
                <a:spLocks noChangeArrowheads="1"/>
              </p:cNvSpPr>
              <p:nvPr/>
            </p:nvSpPr>
            <p:spPr bwMode="auto">
              <a:xfrm>
                <a:off x="4090" y="318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69" name="Text Box 41"/>
              <p:cNvSpPr txBox="1">
                <a:spLocks noChangeArrowheads="1"/>
              </p:cNvSpPr>
              <p:nvPr/>
            </p:nvSpPr>
            <p:spPr bwMode="auto">
              <a:xfrm>
                <a:off x="4230" y="3256"/>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70" name="Oval 42"/>
              <p:cNvSpPr>
                <a:spLocks noChangeArrowheads="1"/>
              </p:cNvSpPr>
              <p:nvPr/>
            </p:nvSpPr>
            <p:spPr bwMode="auto">
              <a:xfrm>
                <a:off x="4144" y="3308"/>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17465" name="Oval 43"/>
            <p:cNvSpPr>
              <a:spLocks noChangeArrowheads="1"/>
            </p:cNvSpPr>
            <p:nvPr/>
          </p:nvSpPr>
          <p:spPr bwMode="auto">
            <a:xfrm>
              <a:off x="1712" y="2328"/>
              <a:ext cx="96" cy="88"/>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66" name="Line 44"/>
            <p:cNvSpPr>
              <a:spLocks noChangeShapeType="1"/>
            </p:cNvSpPr>
            <p:nvPr/>
          </p:nvSpPr>
          <p:spPr bwMode="auto">
            <a:xfrm>
              <a:off x="1768" y="2400"/>
              <a:ext cx="200" cy="684"/>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67" name="Oval 45"/>
            <p:cNvSpPr>
              <a:spLocks noChangeArrowheads="1"/>
            </p:cNvSpPr>
            <p:nvPr/>
          </p:nvSpPr>
          <p:spPr bwMode="auto">
            <a:xfrm>
              <a:off x="1928" y="3044"/>
              <a:ext cx="96" cy="88"/>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17429" name="Oval 46"/>
          <p:cNvSpPr>
            <a:spLocks noChangeArrowheads="1"/>
          </p:cNvSpPr>
          <p:nvPr/>
        </p:nvSpPr>
        <p:spPr bwMode="auto">
          <a:xfrm>
            <a:off x="6337300" y="3683000"/>
            <a:ext cx="152400" cy="165100"/>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30" name="Oval 47"/>
          <p:cNvSpPr>
            <a:spLocks noChangeArrowheads="1"/>
          </p:cNvSpPr>
          <p:nvPr/>
        </p:nvSpPr>
        <p:spPr bwMode="auto">
          <a:xfrm>
            <a:off x="7302500" y="4991100"/>
            <a:ext cx="152400" cy="165100"/>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31" name="Line 48"/>
          <p:cNvSpPr>
            <a:spLocks noChangeShapeType="1"/>
          </p:cNvSpPr>
          <p:nvPr/>
        </p:nvSpPr>
        <p:spPr bwMode="auto">
          <a:xfrm>
            <a:off x="6451600" y="3822700"/>
            <a:ext cx="876300" cy="11557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8" name="Group 52"/>
          <p:cNvGrpSpPr>
            <a:grpSpLocks/>
          </p:cNvGrpSpPr>
          <p:nvPr/>
        </p:nvGrpSpPr>
        <p:grpSpPr bwMode="auto">
          <a:xfrm>
            <a:off x="5273675" y="2676525"/>
            <a:ext cx="1057275" cy="695325"/>
            <a:chOff x="4314" y="1086"/>
            <a:chExt cx="666" cy="438"/>
          </a:xfrm>
        </p:grpSpPr>
        <p:sp>
          <p:nvSpPr>
            <p:cNvPr id="17458" name="Oval 53"/>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9" name="Text Box 54"/>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9" name="Group 55"/>
          <p:cNvGrpSpPr>
            <a:grpSpLocks/>
          </p:cNvGrpSpPr>
          <p:nvPr/>
        </p:nvGrpSpPr>
        <p:grpSpPr bwMode="auto">
          <a:xfrm>
            <a:off x="4308475" y="2828925"/>
            <a:ext cx="1057275" cy="695325"/>
            <a:chOff x="4314" y="1086"/>
            <a:chExt cx="666" cy="438"/>
          </a:xfrm>
        </p:grpSpPr>
        <p:sp>
          <p:nvSpPr>
            <p:cNvPr id="17456" name="Oval 56"/>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7" name="Text Box 57"/>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0" name="Group 58"/>
          <p:cNvGrpSpPr>
            <a:grpSpLocks/>
          </p:cNvGrpSpPr>
          <p:nvPr/>
        </p:nvGrpSpPr>
        <p:grpSpPr bwMode="auto">
          <a:xfrm>
            <a:off x="6022975" y="2816225"/>
            <a:ext cx="1057275" cy="695325"/>
            <a:chOff x="4314" y="1086"/>
            <a:chExt cx="666" cy="438"/>
          </a:xfrm>
        </p:grpSpPr>
        <p:sp>
          <p:nvSpPr>
            <p:cNvPr id="17454" name="Oval 59"/>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5" name="Text Box 60"/>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1" name="Group 61"/>
          <p:cNvGrpSpPr>
            <a:grpSpLocks/>
          </p:cNvGrpSpPr>
          <p:nvPr/>
        </p:nvGrpSpPr>
        <p:grpSpPr bwMode="auto">
          <a:xfrm>
            <a:off x="1539875" y="5876925"/>
            <a:ext cx="1057275" cy="695325"/>
            <a:chOff x="4314" y="1086"/>
            <a:chExt cx="666" cy="438"/>
          </a:xfrm>
        </p:grpSpPr>
        <p:sp>
          <p:nvSpPr>
            <p:cNvPr id="17452" name="Oval 62"/>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3" name="Text Box 63"/>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2" name="Group 64"/>
          <p:cNvGrpSpPr>
            <a:grpSpLocks/>
          </p:cNvGrpSpPr>
          <p:nvPr/>
        </p:nvGrpSpPr>
        <p:grpSpPr bwMode="auto">
          <a:xfrm>
            <a:off x="1882775" y="2473325"/>
            <a:ext cx="1057275" cy="695325"/>
            <a:chOff x="4314" y="1086"/>
            <a:chExt cx="666" cy="438"/>
          </a:xfrm>
        </p:grpSpPr>
        <p:sp>
          <p:nvSpPr>
            <p:cNvPr id="17450" name="Oval 65"/>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1" name="Text Box 66"/>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dirty="0">
                <a:ln>
                  <a:noFill/>
                </a:ln>
                <a:solidFill>
                  <a:srgbClr val="C2A874"/>
                </a:solidFill>
                <a:effectLst/>
                <a:uLnTx/>
                <a:uFillTx/>
                <a:latin typeface="Arial"/>
                <a:ea typeface="+mn-ea"/>
                <a:cs typeface="+mn-cs"/>
              </a:endParaRPr>
            </a:p>
          </p:txBody>
        </p:sp>
      </p:grpSp>
      <p:grpSp>
        <p:nvGrpSpPr>
          <p:cNvPr id="13" name="Group 67"/>
          <p:cNvGrpSpPr>
            <a:grpSpLocks/>
          </p:cNvGrpSpPr>
          <p:nvPr/>
        </p:nvGrpSpPr>
        <p:grpSpPr bwMode="auto">
          <a:xfrm>
            <a:off x="2746375" y="2714625"/>
            <a:ext cx="1057275" cy="695325"/>
            <a:chOff x="4314" y="1086"/>
            <a:chExt cx="666" cy="438"/>
          </a:xfrm>
        </p:grpSpPr>
        <p:sp>
          <p:nvSpPr>
            <p:cNvPr id="17448" name="Oval 68"/>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49" name="Text Box 69"/>
            <p:cNvSpPr txBox="1">
              <a:spLocks noChangeArrowheads="1"/>
            </p:cNvSpPr>
            <p:nvPr/>
          </p:nvSpPr>
          <p:spPr bwMode="auto">
            <a:xfrm>
              <a:off x="4328" y="1106"/>
              <a:ext cx="533"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4" name="Group 70"/>
          <p:cNvGrpSpPr>
            <a:grpSpLocks/>
          </p:cNvGrpSpPr>
          <p:nvPr/>
        </p:nvGrpSpPr>
        <p:grpSpPr bwMode="auto">
          <a:xfrm>
            <a:off x="2898775" y="5940425"/>
            <a:ext cx="1057275" cy="695325"/>
            <a:chOff x="4314" y="1086"/>
            <a:chExt cx="666" cy="438"/>
          </a:xfrm>
        </p:grpSpPr>
        <p:sp>
          <p:nvSpPr>
            <p:cNvPr id="17446" name="Oval 71"/>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47" name="Text Box 72"/>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5" name="Group 73"/>
          <p:cNvGrpSpPr>
            <a:grpSpLocks/>
          </p:cNvGrpSpPr>
          <p:nvPr/>
        </p:nvGrpSpPr>
        <p:grpSpPr bwMode="auto">
          <a:xfrm>
            <a:off x="4600575" y="5940425"/>
            <a:ext cx="1057275" cy="695325"/>
            <a:chOff x="4314" y="1086"/>
            <a:chExt cx="666" cy="438"/>
          </a:xfrm>
        </p:grpSpPr>
        <p:sp>
          <p:nvSpPr>
            <p:cNvPr id="17444" name="Oval 74"/>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45" name="Text Box 75"/>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6" name="Group 76"/>
          <p:cNvGrpSpPr>
            <a:grpSpLocks/>
          </p:cNvGrpSpPr>
          <p:nvPr/>
        </p:nvGrpSpPr>
        <p:grpSpPr bwMode="auto">
          <a:xfrm>
            <a:off x="7305675" y="5483225"/>
            <a:ext cx="1057275" cy="695325"/>
            <a:chOff x="4314" y="1086"/>
            <a:chExt cx="666" cy="438"/>
          </a:xfrm>
        </p:grpSpPr>
        <p:sp>
          <p:nvSpPr>
            <p:cNvPr id="17442" name="Oval 77"/>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43" name="Text Box 78"/>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aphicFrame>
        <p:nvGraphicFramePr>
          <p:cNvPr id="17410" name="Object 219"/>
          <p:cNvGraphicFramePr>
            <a:graphicFrameLocks noChangeAspect="1"/>
          </p:cNvGraphicFramePr>
          <p:nvPr/>
        </p:nvGraphicFramePr>
        <p:xfrm>
          <a:off x="1512888" y="2197100"/>
          <a:ext cx="417512" cy="319088"/>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17410" name="Object 2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2888" y="2197100"/>
                        <a:ext cx="417512" cy="31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1" name="Object 339"/>
          <p:cNvGraphicFramePr>
            <a:graphicFrameLocks noChangeAspect="1"/>
          </p:cNvGraphicFramePr>
          <p:nvPr/>
        </p:nvGraphicFramePr>
        <p:xfrm>
          <a:off x="8486775" y="6007100"/>
          <a:ext cx="417513" cy="319088"/>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7411" name="Object 3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6775" y="6007100"/>
                        <a:ext cx="417513" cy="31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189" name="Freeform 341"/>
          <p:cNvSpPr>
            <a:spLocks/>
          </p:cNvSpPr>
          <p:nvPr/>
        </p:nvSpPr>
        <p:spPr bwMode="auto">
          <a:xfrm>
            <a:off x="1879600" y="2476500"/>
            <a:ext cx="6654800" cy="3619500"/>
          </a:xfrm>
          <a:custGeom>
            <a:avLst/>
            <a:gdLst>
              <a:gd name="T0" fmla="*/ 0 w 4192"/>
              <a:gd name="T1" fmla="*/ 0 h 2280"/>
              <a:gd name="T2" fmla="*/ 901700 w 4192"/>
              <a:gd name="T3" fmla="*/ 419100 h 2280"/>
              <a:gd name="T4" fmla="*/ 1460500 w 4192"/>
              <a:gd name="T5" fmla="*/ 939800 h 2280"/>
              <a:gd name="T6" fmla="*/ 1955800 w 4192"/>
              <a:gd name="T7" fmla="*/ 1333500 h 2280"/>
              <a:gd name="T8" fmla="*/ 2844799 w 4192"/>
              <a:gd name="T9" fmla="*/ 1981200 h 2280"/>
              <a:gd name="T10" fmla="*/ 3327400 w 4192"/>
              <a:gd name="T11" fmla="*/ 2476500 h 2280"/>
              <a:gd name="T12" fmla="*/ 4775199 w 4192"/>
              <a:gd name="T13" fmla="*/ 2857500 h 2280"/>
              <a:gd name="T14" fmla="*/ 5765799 w 4192"/>
              <a:gd name="T15" fmla="*/ 3035299 h 2280"/>
              <a:gd name="T16" fmla="*/ 6413499 w 4192"/>
              <a:gd name="T17" fmla="*/ 3556000 h 2280"/>
              <a:gd name="T18" fmla="*/ 6654800 w 4192"/>
              <a:gd name="T19" fmla="*/ 3619500 h 22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92"/>
              <a:gd name="T31" fmla="*/ 0 h 2280"/>
              <a:gd name="T32" fmla="*/ 4192 w 4192"/>
              <a:gd name="T33" fmla="*/ 2280 h 22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92" h="2280">
                <a:moveTo>
                  <a:pt x="0" y="0"/>
                </a:moveTo>
                <a:lnTo>
                  <a:pt x="568" y="264"/>
                </a:lnTo>
                <a:lnTo>
                  <a:pt x="920" y="592"/>
                </a:lnTo>
                <a:lnTo>
                  <a:pt x="1232" y="840"/>
                </a:lnTo>
                <a:lnTo>
                  <a:pt x="1792" y="1248"/>
                </a:lnTo>
                <a:lnTo>
                  <a:pt x="2096" y="1560"/>
                </a:lnTo>
                <a:lnTo>
                  <a:pt x="3008" y="1800"/>
                </a:lnTo>
                <a:lnTo>
                  <a:pt x="3632" y="1912"/>
                </a:lnTo>
                <a:lnTo>
                  <a:pt x="4040" y="2240"/>
                </a:lnTo>
                <a:lnTo>
                  <a:pt x="4192" y="2280"/>
                </a:lnTo>
              </a:path>
            </a:pathLst>
          </a:custGeom>
          <a:noFill/>
          <a:ln w="57150">
            <a:solidFill>
              <a:schemeClr val="accent2"/>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95779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189"/>
                                        </p:tgtEl>
                                        <p:attrNameLst>
                                          <p:attrName>style.visibility</p:attrName>
                                        </p:attrNameLst>
                                      </p:cBhvr>
                                      <p:to>
                                        <p:strVal val="visible"/>
                                      </p:to>
                                    </p:set>
                                    <p:animEffect transition="in" filter="wipe(left)">
                                      <p:cBhvr>
                                        <p:cTn id="7" dur="2000"/>
                                        <p:tgtEl>
                                          <p:spTgt spid="79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8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30E25E9-0362-4BE3-9B6E-9C1F15868C5F}"/>
              </a:ext>
            </a:extLst>
          </p:cNvPr>
          <p:cNvSpPr>
            <a:spLocks noGrp="1"/>
          </p:cNvSpPr>
          <p:nvPr>
            <p:ph type="sldNum" sz="quarter" idx="12"/>
          </p:nvPr>
        </p:nvSpPr>
        <p:spPr/>
        <p:txBody>
          <a:bodyPr/>
          <a:lstStyle/>
          <a:p>
            <a:fld id="{6C6AE60A-B69C-4790-82F7-3882EDF23186}" type="slidenum">
              <a:rPr lang="de-DE" smtClean="0"/>
              <a:pPr/>
              <a:t>55</a:t>
            </a:fld>
            <a:endParaRPr lang="de-DE" dirty="0"/>
          </a:p>
        </p:txBody>
      </p:sp>
      <p:sp>
        <p:nvSpPr>
          <p:cNvPr id="3" name="Titel 2">
            <a:extLst>
              <a:ext uri="{FF2B5EF4-FFF2-40B4-BE49-F238E27FC236}">
                <a16:creationId xmlns:a16="http://schemas.microsoft.com/office/drawing/2014/main" id="{B8438D7B-1178-4A41-9E75-E5F0D56E6E1F}"/>
              </a:ext>
            </a:extLst>
          </p:cNvPr>
          <p:cNvSpPr>
            <a:spLocks noGrp="1"/>
          </p:cNvSpPr>
          <p:nvPr>
            <p:ph type="title"/>
          </p:nvPr>
        </p:nvSpPr>
        <p:spPr/>
        <p:txBody>
          <a:bodyPr/>
          <a:lstStyle/>
          <a:p>
            <a:r>
              <a:rPr lang="de-DE" dirty="0"/>
              <a:t>Weitere Zusatzfolien</a:t>
            </a:r>
            <a:endParaRPr lang="en-US" dirty="0"/>
          </a:p>
        </p:txBody>
      </p:sp>
    </p:spTree>
    <p:extLst>
      <p:ext uri="{BB962C8B-B14F-4D97-AF65-F5344CB8AC3E}">
        <p14:creationId xmlns:p14="http://schemas.microsoft.com/office/powerpoint/2010/main" val="1182753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title"/>
          </p:nvPr>
        </p:nvSpPr>
        <p:spPr/>
        <p:txBody>
          <a:bodyPr/>
          <a:lstStyle/>
          <a:p>
            <a:r>
              <a:rPr lang="de-DE" dirty="0"/>
              <a:t>Protokolle</a:t>
            </a:r>
            <a:r>
              <a:rPr lang="en-US" dirty="0"/>
              <a:t> – Definition?</a:t>
            </a:r>
          </a:p>
        </p:txBody>
      </p:sp>
      <p:sp>
        <p:nvSpPr>
          <p:cNvPr id="4100" name="Slide Number Placeholder 6"/>
          <p:cNvSpPr>
            <a:spLocks noGrp="1"/>
          </p:cNvSpPr>
          <p:nvPr>
            <p:ph type="sldNum" sz="quarter" idx="12"/>
          </p:nvPr>
        </p:nvSpPr>
        <p:spPr>
          <a:noFill/>
        </p:spPr>
        <p:txBody>
          <a:bodyPr/>
          <a:lstStyle/>
          <a:p>
            <a:fld id="{7183533A-8A50-4A1F-BEA9-C8C6956451EB}" type="slidenum">
              <a:rPr lang="en-US" smtClean="0"/>
              <a:pPr/>
              <a:t>56</a:t>
            </a:fld>
            <a:endParaRPr lang="de-DE" dirty="0"/>
          </a:p>
        </p:txBody>
      </p:sp>
      <p:sp>
        <p:nvSpPr>
          <p:cNvPr id="9" name="Content Placeholder 8"/>
          <p:cNvSpPr>
            <a:spLocks noGrp="1"/>
          </p:cNvSpPr>
          <p:nvPr>
            <p:ph sz="quarter" idx="13"/>
          </p:nvPr>
        </p:nvSpPr>
        <p:spPr>
          <a:xfrm>
            <a:off x="407594" y="4591298"/>
            <a:ext cx="8208912" cy="2266702"/>
          </a:xfrm>
        </p:spPr>
        <p:txBody>
          <a:bodyPr>
            <a:normAutofit fontScale="92500"/>
          </a:bodyPr>
          <a:lstStyle/>
          <a:p>
            <a:r>
              <a:rPr lang="de-DE" sz="2800" b="1" dirty="0">
                <a:solidFill>
                  <a:srgbClr val="FF0000"/>
                </a:solidFill>
              </a:rPr>
              <a:t>Protokoll eines Nachrichtenaustausches </a:t>
            </a:r>
            <a:r>
              <a:rPr lang="de-DE" sz="2800" dirty="0"/>
              <a:t>definiert</a:t>
            </a:r>
          </a:p>
          <a:p>
            <a:pPr lvl="1"/>
            <a:r>
              <a:rPr lang="de-DE" sz="2500" dirty="0"/>
              <a:t>das </a:t>
            </a:r>
            <a:r>
              <a:rPr lang="de-DE" sz="2500" u="sng" dirty="0"/>
              <a:t>Format</a:t>
            </a:r>
            <a:r>
              <a:rPr lang="de-DE" sz="2500" dirty="0"/>
              <a:t> der Nachrichten</a:t>
            </a:r>
          </a:p>
          <a:p>
            <a:pPr lvl="1"/>
            <a:r>
              <a:rPr lang="de-DE" sz="2500" dirty="0"/>
              <a:t>ihre </a:t>
            </a:r>
            <a:r>
              <a:rPr lang="de-DE" sz="2500" u="sng" dirty="0"/>
              <a:t>Reihenfolge</a:t>
            </a:r>
            <a:r>
              <a:rPr lang="de-DE" sz="2500" dirty="0"/>
              <a:t> </a:t>
            </a:r>
          </a:p>
          <a:p>
            <a:pPr lvl="1"/>
            <a:r>
              <a:rPr lang="de-DE" sz="2500" dirty="0"/>
              <a:t>sowie die </a:t>
            </a:r>
            <a:r>
              <a:rPr lang="de-DE" sz="2500" u="sng" dirty="0"/>
              <a:t>Aktionen</a:t>
            </a:r>
            <a:r>
              <a:rPr lang="de-DE" sz="2500" dirty="0"/>
              <a:t>, die bei Übertragung und/oder Empfang einer Nachricht ausgeführt werden</a:t>
            </a:r>
          </a:p>
        </p:txBody>
      </p:sp>
      <p:grpSp>
        <p:nvGrpSpPr>
          <p:cNvPr id="11" name="Group 10"/>
          <p:cNvGrpSpPr/>
          <p:nvPr/>
        </p:nvGrpSpPr>
        <p:grpSpPr>
          <a:xfrm>
            <a:off x="4719615" y="1689420"/>
            <a:ext cx="3804589" cy="2444750"/>
            <a:chOff x="4719615" y="1689420"/>
            <a:chExt cx="3804589" cy="2444750"/>
          </a:xfrm>
        </p:grpSpPr>
        <p:grpSp>
          <p:nvGrpSpPr>
            <p:cNvPr id="2" name="Group 16"/>
            <p:cNvGrpSpPr>
              <a:grpSpLocks/>
            </p:cNvGrpSpPr>
            <p:nvPr/>
          </p:nvGrpSpPr>
          <p:grpSpPr bwMode="auto">
            <a:xfrm>
              <a:off x="7350103" y="1975170"/>
              <a:ext cx="355600" cy="933450"/>
              <a:chOff x="4180" y="783"/>
              <a:chExt cx="150" cy="307"/>
            </a:xfrm>
          </p:grpSpPr>
          <p:sp>
            <p:nvSpPr>
              <p:cNvPr id="4137" name="AutoShape 1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4138" name="Rectangle 18"/>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4139" name="Rectangle 1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4140" name="AutoShape 2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4141" name="Line 21"/>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4142" name="Line 22"/>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4143" name="Rectangle 2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4144" name="Rectangle 24"/>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graphicFrame>
          <p:nvGraphicFramePr>
            <p:cNvPr id="4098" name="Object 26"/>
            <p:cNvGraphicFramePr>
              <a:graphicFrameLocks noChangeAspect="1"/>
            </p:cNvGraphicFramePr>
            <p:nvPr>
              <p:extLst>
                <p:ext uri="{D42A27DB-BD31-4B8C-83A1-F6EECF244321}">
                  <p14:modId xmlns:p14="http://schemas.microsoft.com/office/powerpoint/2010/main" val="3139433569"/>
                </p:ext>
              </p:extLst>
            </p:nvPr>
          </p:nvGraphicFramePr>
          <p:xfrm>
            <a:off x="4719615" y="1689420"/>
            <a:ext cx="622300" cy="500063"/>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9615" y="1689420"/>
                          <a:ext cx="622300"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5" name="Text Box 78"/>
            <p:cNvSpPr txBox="1">
              <a:spLocks noChangeArrowheads="1"/>
            </p:cNvSpPr>
            <p:nvPr/>
          </p:nvSpPr>
          <p:spPr bwMode="auto">
            <a:xfrm>
              <a:off x="5399065" y="1770383"/>
              <a:ext cx="2300630" cy="707886"/>
            </a:xfrm>
            <a:prstGeom prst="rect">
              <a:avLst/>
            </a:prstGeom>
            <a:noFill/>
            <a:ln w="9525">
              <a:noFill/>
              <a:miter lim="800000"/>
              <a:headEnd/>
              <a:tailEnd/>
            </a:ln>
          </p:spPr>
          <p:txBody>
            <a:bodyPr wrap="none">
              <a:spAutoFit/>
            </a:bodyPr>
            <a:lstStyle/>
            <a:p>
              <a:r>
                <a:rPr lang="en-US" sz="2000" dirty="0">
                  <a:solidFill>
                    <a:srgbClr val="0070C0"/>
                  </a:solidFill>
                </a:rPr>
                <a:t>TCP </a:t>
              </a:r>
              <a:r>
                <a:rPr lang="en-US" sz="2000" dirty="0" err="1">
                  <a:solidFill>
                    <a:srgbClr val="0070C0"/>
                  </a:solidFill>
                </a:rPr>
                <a:t>Verbindungs</a:t>
              </a:r>
              <a:r>
                <a:rPr lang="en-US" sz="2000" dirty="0">
                  <a:solidFill>
                    <a:srgbClr val="0070C0"/>
                  </a:solidFill>
                </a:rPr>
                <a:t>-</a:t>
              </a:r>
            </a:p>
            <a:p>
              <a:r>
                <a:rPr lang="en-US" sz="2000" dirty="0" err="1">
                  <a:solidFill>
                    <a:srgbClr val="0070C0"/>
                  </a:solidFill>
                </a:rPr>
                <a:t>Anfrage</a:t>
              </a:r>
              <a:endParaRPr lang="en-US" dirty="0">
                <a:solidFill>
                  <a:srgbClr val="0070C0"/>
                </a:solidFill>
              </a:endParaRPr>
            </a:p>
          </p:txBody>
        </p:sp>
        <p:sp>
          <p:nvSpPr>
            <p:cNvPr id="4116" name="Line 85"/>
            <p:cNvSpPr>
              <a:spLocks noChangeShapeType="1"/>
            </p:cNvSpPr>
            <p:nvPr/>
          </p:nvSpPr>
          <p:spPr bwMode="auto">
            <a:xfrm flipV="1">
              <a:off x="5119665" y="3705545"/>
              <a:ext cx="2343150" cy="428625"/>
            </a:xfrm>
            <a:prstGeom prst="line">
              <a:avLst/>
            </a:prstGeom>
            <a:noFill/>
            <a:ln w="28575">
              <a:solidFill>
                <a:srgbClr val="FF0000"/>
              </a:solidFill>
              <a:round/>
              <a:headEnd type="triangle" w="med" len="med"/>
              <a:tailEnd/>
            </a:ln>
          </p:spPr>
          <p:txBody>
            <a:bodyPr wrap="none" anchor="ctr"/>
            <a:lstStyle/>
            <a:p>
              <a:endParaRPr lang="de-DE"/>
            </a:p>
          </p:txBody>
        </p:sp>
        <p:sp>
          <p:nvSpPr>
            <p:cNvPr id="4117" name="Line 89"/>
            <p:cNvSpPr>
              <a:spLocks noChangeShapeType="1"/>
            </p:cNvSpPr>
            <p:nvPr/>
          </p:nvSpPr>
          <p:spPr bwMode="auto">
            <a:xfrm>
              <a:off x="5395890" y="2038670"/>
              <a:ext cx="1762125" cy="276225"/>
            </a:xfrm>
            <a:prstGeom prst="line">
              <a:avLst/>
            </a:prstGeom>
            <a:noFill/>
            <a:ln w="28575">
              <a:solidFill>
                <a:srgbClr val="FF0000"/>
              </a:solidFill>
              <a:round/>
              <a:headEnd/>
              <a:tailEnd type="triangle" w="med" len="med"/>
            </a:ln>
          </p:spPr>
          <p:txBody>
            <a:bodyPr wrap="none" anchor="ctr"/>
            <a:lstStyle/>
            <a:p>
              <a:endParaRPr lang="de-DE"/>
            </a:p>
          </p:txBody>
        </p:sp>
        <p:sp>
          <p:nvSpPr>
            <p:cNvPr id="4118" name="Line 90"/>
            <p:cNvSpPr>
              <a:spLocks noChangeShapeType="1"/>
            </p:cNvSpPr>
            <p:nvPr/>
          </p:nvSpPr>
          <p:spPr bwMode="auto">
            <a:xfrm flipV="1">
              <a:off x="5072040" y="2533970"/>
              <a:ext cx="2085975" cy="361950"/>
            </a:xfrm>
            <a:prstGeom prst="line">
              <a:avLst/>
            </a:prstGeom>
            <a:noFill/>
            <a:ln w="28575">
              <a:solidFill>
                <a:srgbClr val="FF0000"/>
              </a:solidFill>
              <a:round/>
              <a:headEnd type="triangle" w="med" len="med"/>
              <a:tailEnd/>
            </a:ln>
          </p:spPr>
          <p:txBody>
            <a:bodyPr wrap="none" anchor="ctr"/>
            <a:lstStyle/>
            <a:p>
              <a:endParaRPr lang="de-DE"/>
            </a:p>
          </p:txBody>
        </p:sp>
        <p:grpSp>
          <p:nvGrpSpPr>
            <p:cNvPr id="5" name="Group 93"/>
            <p:cNvGrpSpPr>
              <a:grpSpLocks/>
            </p:cNvGrpSpPr>
            <p:nvPr/>
          </p:nvGrpSpPr>
          <p:grpSpPr bwMode="auto">
            <a:xfrm>
              <a:off x="5332391" y="2465708"/>
              <a:ext cx="2300288" cy="708025"/>
              <a:chOff x="3248" y="2147"/>
              <a:chExt cx="1449" cy="446"/>
            </a:xfrm>
          </p:grpSpPr>
          <p:sp>
            <p:nvSpPr>
              <p:cNvPr id="4131" name="Rectangle 92"/>
              <p:cNvSpPr>
                <a:spLocks noChangeArrowheads="1"/>
              </p:cNvSpPr>
              <p:nvPr/>
            </p:nvSpPr>
            <p:spPr bwMode="auto">
              <a:xfrm>
                <a:off x="3306" y="2190"/>
                <a:ext cx="906" cy="180"/>
              </a:xfrm>
              <a:prstGeom prst="rect">
                <a:avLst/>
              </a:prstGeom>
              <a:solidFill>
                <a:schemeClr val="bg1"/>
              </a:solidFill>
              <a:ln w="9525">
                <a:noFill/>
                <a:miter lim="800000"/>
                <a:headEnd/>
                <a:tailEnd/>
              </a:ln>
            </p:spPr>
            <p:txBody>
              <a:bodyPr wrap="none" anchor="ctr"/>
              <a:lstStyle/>
              <a:p>
                <a:endParaRPr lang="de-DE"/>
              </a:p>
            </p:txBody>
          </p:sp>
          <p:sp>
            <p:nvSpPr>
              <p:cNvPr id="4132" name="Text Box 91"/>
              <p:cNvSpPr txBox="1">
                <a:spLocks noChangeArrowheads="1"/>
              </p:cNvSpPr>
              <p:nvPr/>
            </p:nvSpPr>
            <p:spPr bwMode="auto">
              <a:xfrm>
                <a:off x="3248" y="2147"/>
                <a:ext cx="1449" cy="446"/>
              </a:xfrm>
              <a:prstGeom prst="rect">
                <a:avLst/>
              </a:prstGeom>
              <a:noFill/>
              <a:ln w="9525">
                <a:noFill/>
                <a:miter lim="800000"/>
                <a:headEnd/>
                <a:tailEnd/>
              </a:ln>
            </p:spPr>
            <p:txBody>
              <a:bodyPr wrap="none">
                <a:spAutoFit/>
              </a:bodyPr>
              <a:lstStyle/>
              <a:p>
                <a:r>
                  <a:rPr lang="en-US" sz="2000" dirty="0">
                    <a:solidFill>
                      <a:srgbClr val="FF0000"/>
                    </a:solidFill>
                  </a:rPr>
                  <a:t>TCP </a:t>
                </a:r>
                <a:r>
                  <a:rPr lang="en-US" sz="2000" dirty="0" err="1">
                    <a:solidFill>
                      <a:srgbClr val="FF0000"/>
                    </a:solidFill>
                  </a:rPr>
                  <a:t>Verbindungs</a:t>
                </a:r>
                <a:r>
                  <a:rPr lang="en-US" sz="2000" dirty="0">
                    <a:solidFill>
                      <a:srgbClr val="FF0000"/>
                    </a:solidFill>
                  </a:rPr>
                  <a:t>-</a:t>
                </a:r>
              </a:p>
              <a:p>
                <a:r>
                  <a:rPr lang="en-US" sz="2000" dirty="0" err="1">
                    <a:solidFill>
                      <a:srgbClr val="FF0000"/>
                    </a:solidFill>
                  </a:rPr>
                  <a:t>Antwort</a:t>
                </a:r>
                <a:endParaRPr lang="en-US" sz="2000" dirty="0"/>
              </a:p>
            </p:txBody>
          </p:sp>
        </p:grpSp>
        <p:sp>
          <p:nvSpPr>
            <p:cNvPr id="4120" name="Line 94"/>
            <p:cNvSpPr>
              <a:spLocks noChangeShapeType="1"/>
            </p:cNvSpPr>
            <p:nvPr/>
          </p:nvSpPr>
          <p:spPr bwMode="auto">
            <a:xfrm>
              <a:off x="5119665" y="3143570"/>
              <a:ext cx="2400300" cy="419100"/>
            </a:xfrm>
            <a:prstGeom prst="line">
              <a:avLst/>
            </a:prstGeom>
            <a:noFill/>
            <a:ln w="28575">
              <a:solidFill>
                <a:srgbClr val="FF0000"/>
              </a:solidFill>
              <a:round/>
              <a:headEnd/>
              <a:tailEnd type="triangle" w="med" len="med"/>
            </a:ln>
          </p:spPr>
          <p:txBody>
            <a:bodyPr wrap="none" anchor="ctr"/>
            <a:lstStyle/>
            <a:p>
              <a:endParaRPr lang="de-DE"/>
            </a:p>
          </p:txBody>
        </p:sp>
        <p:grpSp>
          <p:nvGrpSpPr>
            <p:cNvPr id="6" name="Group 97"/>
            <p:cNvGrpSpPr>
              <a:grpSpLocks/>
            </p:cNvGrpSpPr>
            <p:nvPr/>
          </p:nvGrpSpPr>
          <p:grpSpPr bwMode="auto">
            <a:xfrm>
              <a:off x="4730079" y="3200726"/>
              <a:ext cx="3794125" cy="338138"/>
              <a:chOff x="3212" y="2597"/>
              <a:chExt cx="2390" cy="213"/>
            </a:xfrm>
          </p:grpSpPr>
          <p:sp>
            <p:nvSpPr>
              <p:cNvPr id="4129" name="Rectangle 96"/>
              <p:cNvSpPr>
                <a:spLocks noChangeArrowheads="1"/>
              </p:cNvSpPr>
              <p:nvPr/>
            </p:nvSpPr>
            <p:spPr bwMode="auto">
              <a:xfrm>
                <a:off x="3252" y="2628"/>
                <a:ext cx="2100" cy="114"/>
              </a:xfrm>
              <a:prstGeom prst="rect">
                <a:avLst/>
              </a:prstGeom>
              <a:solidFill>
                <a:schemeClr val="bg1"/>
              </a:solidFill>
              <a:ln w="9525">
                <a:noFill/>
                <a:miter lim="800000"/>
                <a:headEnd/>
                <a:tailEnd/>
              </a:ln>
            </p:spPr>
            <p:txBody>
              <a:bodyPr wrap="none" anchor="ctr"/>
              <a:lstStyle/>
              <a:p>
                <a:endParaRPr lang="de-DE" sz="2000">
                  <a:solidFill>
                    <a:srgbClr val="0070C0"/>
                  </a:solidFill>
                </a:endParaRPr>
              </a:p>
            </p:txBody>
          </p:sp>
          <p:sp>
            <p:nvSpPr>
              <p:cNvPr id="4130" name="Text Box 95"/>
              <p:cNvSpPr txBox="1">
                <a:spLocks noChangeArrowheads="1"/>
              </p:cNvSpPr>
              <p:nvPr/>
            </p:nvSpPr>
            <p:spPr bwMode="auto">
              <a:xfrm>
                <a:off x="3212" y="2597"/>
                <a:ext cx="2390" cy="213"/>
              </a:xfrm>
              <a:prstGeom prst="rect">
                <a:avLst/>
              </a:prstGeom>
              <a:noFill/>
              <a:ln w="9525">
                <a:noFill/>
                <a:miter lim="800000"/>
                <a:headEnd/>
                <a:tailEnd/>
              </a:ln>
            </p:spPr>
            <p:txBody>
              <a:bodyPr>
                <a:spAutoFit/>
              </a:bodyPr>
              <a:lstStyle/>
              <a:p>
                <a:r>
                  <a:rPr lang="en-US" sz="1600" dirty="0">
                    <a:solidFill>
                      <a:srgbClr val="0070C0"/>
                    </a:solidFill>
                    <a:latin typeface="Comic Sans MS" pitchFamily="66" charset="0"/>
                  </a:rPr>
                  <a:t>Get http://www.awl.com/kurose-ross</a:t>
                </a:r>
                <a:endParaRPr lang="en-US" sz="2000" dirty="0">
                  <a:solidFill>
                    <a:srgbClr val="0070C0"/>
                  </a:solidFill>
                </a:endParaRPr>
              </a:p>
            </p:txBody>
          </p:sp>
        </p:grpSp>
        <p:grpSp>
          <p:nvGrpSpPr>
            <p:cNvPr id="7" name="Group 98"/>
            <p:cNvGrpSpPr>
              <a:grpSpLocks/>
            </p:cNvGrpSpPr>
            <p:nvPr/>
          </p:nvGrpSpPr>
          <p:grpSpPr bwMode="auto">
            <a:xfrm>
              <a:off x="5961042" y="3713494"/>
              <a:ext cx="1082676" cy="400051"/>
              <a:chOff x="1046" y="2771"/>
              <a:chExt cx="682" cy="252"/>
            </a:xfrm>
          </p:grpSpPr>
          <p:sp>
            <p:nvSpPr>
              <p:cNvPr id="4127" name="Rectangle 99"/>
              <p:cNvSpPr>
                <a:spLocks noChangeArrowheads="1"/>
              </p:cNvSpPr>
              <p:nvPr/>
            </p:nvSpPr>
            <p:spPr bwMode="auto">
              <a:xfrm>
                <a:off x="1104" y="2820"/>
                <a:ext cx="444" cy="186"/>
              </a:xfrm>
              <a:prstGeom prst="rect">
                <a:avLst/>
              </a:prstGeom>
              <a:solidFill>
                <a:schemeClr val="bg1"/>
              </a:solidFill>
              <a:ln w="9525">
                <a:noFill/>
                <a:miter lim="800000"/>
                <a:headEnd/>
                <a:tailEnd/>
              </a:ln>
            </p:spPr>
            <p:txBody>
              <a:bodyPr wrap="none" anchor="ctr"/>
              <a:lstStyle/>
              <a:p>
                <a:endParaRPr lang="de-DE" sz="2000"/>
              </a:p>
            </p:txBody>
          </p:sp>
          <p:sp>
            <p:nvSpPr>
              <p:cNvPr id="4128" name="Text Box 100"/>
              <p:cNvSpPr txBox="1">
                <a:spLocks noChangeArrowheads="1"/>
              </p:cNvSpPr>
              <p:nvPr/>
            </p:nvSpPr>
            <p:spPr bwMode="auto">
              <a:xfrm>
                <a:off x="1046" y="2771"/>
                <a:ext cx="682" cy="252"/>
              </a:xfrm>
              <a:prstGeom prst="rect">
                <a:avLst/>
              </a:prstGeom>
              <a:noFill/>
              <a:ln w="9525">
                <a:noFill/>
                <a:miter lim="800000"/>
                <a:headEnd/>
                <a:tailEnd/>
              </a:ln>
            </p:spPr>
            <p:txBody>
              <a:bodyPr wrap="none">
                <a:spAutoFit/>
              </a:bodyPr>
              <a:lstStyle/>
              <a:p>
                <a:r>
                  <a:rPr lang="en-US" sz="2000" dirty="0">
                    <a:solidFill>
                      <a:srgbClr val="FF0000"/>
                    </a:solidFill>
                  </a:rPr>
                  <a:t>&lt;</a:t>
                </a:r>
                <a:r>
                  <a:rPr lang="en-US" sz="2000" dirty="0" err="1">
                    <a:solidFill>
                      <a:srgbClr val="FF0000"/>
                    </a:solidFill>
                  </a:rPr>
                  <a:t>Datei</a:t>
                </a:r>
                <a:r>
                  <a:rPr lang="en-US" sz="2000" dirty="0">
                    <a:solidFill>
                      <a:srgbClr val="FF0000"/>
                    </a:solidFill>
                  </a:rPr>
                  <a:t>&gt;</a:t>
                </a:r>
                <a:endParaRPr lang="en-US" sz="2000" dirty="0"/>
              </a:p>
            </p:txBody>
          </p:sp>
        </p:grpSp>
      </p:grpSp>
      <p:grpSp>
        <p:nvGrpSpPr>
          <p:cNvPr id="13" name="Group 12"/>
          <p:cNvGrpSpPr/>
          <p:nvPr/>
        </p:nvGrpSpPr>
        <p:grpSpPr>
          <a:xfrm>
            <a:off x="457200" y="1241438"/>
            <a:ext cx="4192565" cy="3090672"/>
            <a:chOff x="457200" y="1241438"/>
            <a:chExt cx="4192565" cy="3090672"/>
          </a:xfrm>
        </p:grpSpPr>
        <p:sp>
          <p:nvSpPr>
            <p:cNvPr id="4108" name="Text Box 64"/>
            <p:cNvSpPr txBox="1">
              <a:spLocks noChangeArrowheads="1"/>
            </p:cNvSpPr>
            <p:nvPr/>
          </p:nvSpPr>
          <p:spPr bwMode="auto">
            <a:xfrm>
              <a:off x="1382549" y="1241438"/>
              <a:ext cx="2197000" cy="707886"/>
            </a:xfrm>
            <a:prstGeom prst="rect">
              <a:avLst/>
            </a:prstGeom>
            <a:solidFill>
              <a:schemeClr val="bg1"/>
            </a:solidFill>
            <a:ln w="9525">
              <a:noFill/>
              <a:miter lim="800000"/>
              <a:headEnd/>
              <a:tailEnd/>
            </a:ln>
          </p:spPr>
          <p:txBody>
            <a:bodyPr wrap="square">
              <a:spAutoFit/>
            </a:bodyPr>
            <a:lstStyle/>
            <a:p>
              <a:r>
                <a:rPr lang="en-US" sz="2000" dirty="0" err="1">
                  <a:solidFill>
                    <a:srgbClr val="0070C0"/>
                  </a:solidFill>
                </a:rPr>
                <a:t>Wir</a:t>
              </a:r>
              <a:r>
                <a:rPr lang="en-US" sz="2000" dirty="0">
                  <a:solidFill>
                    <a:srgbClr val="0070C0"/>
                  </a:solidFill>
                </a:rPr>
                <a:t> </a:t>
              </a:r>
              <a:r>
                <a:rPr lang="en-US" sz="2000" dirty="0" err="1">
                  <a:solidFill>
                    <a:srgbClr val="0070C0"/>
                  </a:solidFill>
                </a:rPr>
                <a:t>kennen</a:t>
              </a:r>
              <a:r>
                <a:rPr lang="en-US" sz="2000" dirty="0">
                  <a:solidFill>
                    <a:srgbClr val="0070C0"/>
                  </a:solidFill>
                </a:rPr>
                <a:t> </a:t>
              </a:r>
              <a:r>
                <a:rPr lang="en-US" sz="2000" dirty="0" err="1">
                  <a:solidFill>
                    <a:srgbClr val="0070C0"/>
                  </a:solidFill>
                </a:rPr>
                <a:t>uns</a:t>
              </a:r>
              <a:r>
                <a:rPr lang="en-US" sz="2000" dirty="0">
                  <a:solidFill>
                    <a:srgbClr val="0070C0"/>
                  </a:solidFill>
                </a:rPr>
                <a:t> </a:t>
              </a:r>
            </a:p>
            <a:p>
              <a:r>
                <a:rPr lang="en-US" sz="2000" dirty="0" err="1">
                  <a:solidFill>
                    <a:srgbClr val="0070C0"/>
                  </a:solidFill>
                </a:rPr>
                <a:t>doch</a:t>
              </a:r>
              <a:r>
                <a:rPr lang="en-US" sz="2000" dirty="0">
                  <a:solidFill>
                    <a:srgbClr val="0070C0"/>
                  </a:solidFill>
                </a:rPr>
                <a:t> </a:t>
              </a:r>
              <a:r>
                <a:rPr lang="en-US" sz="2000" dirty="0" err="1">
                  <a:solidFill>
                    <a:srgbClr val="0070C0"/>
                  </a:solidFill>
                </a:rPr>
                <a:t>schon</a:t>
              </a:r>
              <a:r>
                <a:rPr lang="en-US" sz="2000" dirty="0">
                  <a:solidFill>
                    <a:srgbClr val="0070C0"/>
                  </a:solidFill>
                </a:rPr>
                <a:t>?</a:t>
              </a:r>
            </a:p>
          </p:txBody>
        </p:sp>
        <p:sp>
          <p:nvSpPr>
            <p:cNvPr id="4104" name="Line 10"/>
            <p:cNvSpPr>
              <a:spLocks noChangeShapeType="1"/>
            </p:cNvSpPr>
            <p:nvPr/>
          </p:nvSpPr>
          <p:spPr bwMode="auto">
            <a:xfrm>
              <a:off x="1259632" y="1967232"/>
              <a:ext cx="1935983" cy="138113"/>
            </a:xfrm>
            <a:prstGeom prst="line">
              <a:avLst/>
            </a:prstGeom>
            <a:noFill/>
            <a:ln w="28575">
              <a:solidFill>
                <a:srgbClr val="FF0000"/>
              </a:solidFill>
              <a:round/>
              <a:headEnd/>
              <a:tailEnd type="triangle" w="med" len="med"/>
            </a:ln>
          </p:spPr>
          <p:txBody>
            <a:bodyPr wrap="none" anchor="ctr"/>
            <a:lstStyle/>
            <a:p>
              <a:endParaRPr lang="de-DE"/>
            </a:p>
          </p:txBody>
        </p:sp>
        <p:pic>
          <p:nvPicPr>
            <p:cNvPr id="4106" name="Picture 62" descr="Alice"/>
            <p:cNvPicPr>
              <a:picLocks noChangeAspect="1" noChangeArrowheads="1"/>
            </p:cNvPicPr>
            <p:nvPr/>
          </p:nvPicPr>
          <p:blipFill>
            <a:blip r:embed="rId5" cstate="print"/>
            <a:srcRect/>
            <a:stretch>
              <a:fillRect/>
            </a:stretch>
          </p:blipFill>
          <p:spPr bwMode="auto">
            <a:xfrm>
              <a:off x="3310833" y="1842391"/>
              <a:ext cx="561975" cy="693737"/>
            </a:xfrm>
            <a:prstGeom prst="rect">
              <a:avLst/>
            </a:prstGeom>
            <a:noFill/>
            <a:ln w="9525">
              <a:noFill/>
              <a:miter lim="800000"/>
              <a:headEnd/>
              <a:tailEnd/>
            </a:ln>
          </p:spPr>
        </p:pic>
        <p:pic>
          <p:nvPicPr>
            <p:cNvPr id="4107" name="Picture 63" descr="Bob"/>
            <p:cNvPicPr>
              <a:picLocks noChangeAspect="1" noChangeArrowheads="1"/>
            </p:cNvPicPr>
            <p:nvPr/>
          </p:nvPicPr>
          <p:blipFill>
            <a:blip r:embed="rId6" cstate="print"/>
            <a:srcRect/>
            <a:stretch>
              <a:fillRect/>
            </a:stretch>
          </p:blipFill>
          <p:spPr bwMode="auto">
            <a:xfrm>
              <a:off x="718545" y="1410343"/>
              <a:ext cx="676275" cy="690563"/>
            </a:xfrm>
            <a:prstGeom prst="rect">
              <a:avLst/>
            </a:prstGeom>
            <a:noFill/>
            <a:ln w="9525">
              <a:noFill/>
              <a:miter lim="800000"/>
              <a:headEnd/>
              <a:tailEnd/>
            </a:ln>
          </p:spPr>
        </p:pic>
        <p:sp>
          <p:nvSpPr>
            <p:cNvPr id="4109" name="Line 66"/>
            <p:cNvSpPr>
              <a:spLocks noChangeShapeType="1"/>
            </p:cNvSpPr>
            <p:nvPr/>
          </p:nvSpPr>
          <p:spPr bwMode="auto">
            <a:xfrm flipV="1">
              <a:off x="1147740" y="2410145"/>
              <a:ext cx="2085975" cy="361950"/>
            </a:xfrm>
            <a:prstGeom prst="line">
              <a:avLst/>
            </a:prstGeom>
            <a:noFill/>
            <a:ln w="28575">
              <a:solidFill>
                <a:srgbClr val="FF0000"/>
              </a:solidFill>
              <a:round/>
              <a:headEnd type="triangle" w="med" len="med"/>
              <a:tailEnd/>
            </a:ln>
          </p:spPr>
          <p:txBody>
            <a:bodyPr wrap="none" anchor="ctr"/>
            <a:lstStyle/>
            <a:p>
              <a:endParaRPr lang="de-DE"/>
            </a:p>
          </p:txBody>
        </p:sp>
        <p:sp>
          <p:nvSpPr>
            <p:cNvPr id="4110" name="Text Box 67"/>
            <p:cNvSpPr txBox="1">
              <a:spLocks noChangeArrowheads="1"/>
            </p:cNvSpPr>
            <p:nvPr/>
          </p:nvSpPr>
          <p:spPr bwMode="auto">
            <a:xfrm>
              <a:off x="904040" y="2245959"/>
              <a:ext cx="2050561" cy="400110"/>
            </a:xfrm>
            <a:prstGeom prst="rect">
              <a:avLst/>
            </a:prstGeom>
            <a:solidFill>
              <a:schemeClr val="bg1"/>
            </a:solidFill>
            <a:ln w="9525">
              <a:noFill/>
              <a:miter lim="800000"/>
              <a:headEnd/>
              <a:tailEnd/>
            </a:ln>
          </p:spPr>
          <p:txBody>
            <a:bodyPr wrap="none">
              <a:spAutoFit/>
            </a:bodyPr>
            <a:lstStyle/>
            <a:p>
              <a:r>
                <a:rPr lang="en-US" sz="2000" dirty="0" err="1"/>
                <a:t>Ich</a:t>
              </a:r>
              <a:r>
                <a:rPr lang="en-US" sz="2000" dirty="0"/>
                <a:t> </a:t>
              </a:r>
              <a:r>
                <a:rPr lang="en-US" sz="2000" dirty="0" err="1"/>
                <a:t>glaube</a:t>
              </a:r>
              <a:r>
                <a:rPr lang="en-US" sz="2000" dirty="0"/>
                <a:t> </a:t>
              </a:r>
              <a:r>
                <a:rPr lang="en-US" sz="2000" dirty="0" err="1"/>
                <a:t>nicht</a:t>
              </a:r>
              <a:r>
                <a:rPr lang="en-US" sz="2000" dirty="0"/>
                <a:t>!</a:t>
              </a:r>
            </a:p>
          </p:txBody>
        </p:sp>
        <p:sp>
          <p:nvSpPr>
            <p:cNvPr id="4111" name="Line 70"/>
            <p:cNvSpPr>
              <a:spLocks noChangeShapeType="1"/>
            </p:cNvSpPr>
            <p:nvPr/>
          </p:nvSpPr>
          <p:spPr bwMode="auto">
            <a:xfrm>
              <a:off x="1109640" y="2819719"/>
              <a:ext cx="2482180" cy="685801"/>
            </a:xfrm>
            <a:prstGeom prst="line">
              <a:avLst/>
            </a:prstGeom>
            <a:noFill/>
            <a:ln w="28575">
              <a:solidFill>
                <a:srgbClr val="FF0000"/>
              </a:solidFill>
              <a:round/>
              <a:headEnd/>
              <a:tailEnd type="triangle" w="med" len="med"/>
            </a:ln>
          </p:spPr>
          <p:txBody>
            <a:bodyPr wrap="none" anchor="ctr"/>
            <a:lstStyle/>
            <a:p>
              <a:endParaRPr lang="de-DE"/>
            </a:p>
          </p:txBody>
        </p:sp>
        <p:sp>
          <p:nvSpPr>
            <p:cNvPr id="4135" name="Rectangle 71"/>
            <p:cNvSpPr>
              <a:spLocks noChangeArrowheads="1"/>
            </p:cNvSpPr>
            <p:nvPr/>
          </p:nvSpPr>
          <p:spPr bwMode="auto">
            <a:xfrm>
              <a:off x="1752576" y="2832645"/>
              <a:ext cx="933451" cy="552451"/>
            </a:xfrm>
            <a:prstGeom prst="rect">
              <a:avLst/>
            </a:prstGeom>
            <a:noFill/>
            <a:ln w="9525">
              <a:noFill/>
              <a:miter lim="800000"/>
              <a:headEnd/>
              <a:tailEnd/>
            </a:ln>
          </p:spPr>
          <p:txBody>
            <a:bodyPr wrap="none" anchor="ctr"/>
            <a:lstStyle/>
            <a:p>
              <a:endParaRPr lang="de-DE" sz="2200"/>
            </a:p>
          </p:txBody>
        </p:sp>
        <p:sp>
          <p:nvSpPr>
            <p:cNvPr id="4136" name="Text Box 69"/>
            <p:cNvSpPr txBox="1">
              <a:spLocks noChangeArrowheads="1"/>
            </p:cNvSpPr>
            <p:nvPr/>
          </p:nvSpPr>
          <p:spPr bwMode="auto">
            <a:xfrm>
              <a:off x="527832" y="2874611"/>
              <a:ext cx="3759362" cy="400110"/>
            </a:xfrm>
            <a:prstGeom prst="rect">
              <a:avLst/>
            </a:prstGeom>
            <a:solidFill>
              <a:schemeClr val="bg1"/>
            </a:solidFill>
            <a:ln w="9525">
              <a:noFill/>
              <a:miter lim="800000"/>
              <a:headEnd/>
              <a:tailEnd/>
            </a:ln>
          </p:spPr>
          <p:txBody>
            <a:bodyPr wrap="none">
              <a:spAutoFit/>
            </a:bodyPr>
            <a:lstStyle/>
            <a:p>
              <a:pPr algn="ctr"/>
              <a:r>
                <a:rPr lang="en-US" sz="2000" dirty="0" err="1">
                  <a:solidFill>
                    <a:srgbClr val="0070C0"/>
                  </a:solidFill>
                </a:rPr>
                <a:t>Stört</a:t>
              </a:r>
              <a:r>
                <a:rPr lang="en-US" sz="2000" dirty="0">
                  <a:solidFill>
                    <a:srgbClr val="0070C0"/>
                  </a:solidFill>
                </a:rPr>
                <a:t> </a:t>
              </a:r>
              <a:r>
                <a:rPr lang="en-US" sz="2000" dirty="0" err="1">
                  <a:solidFill>
                    <a:srgbClr val="0070C0"/>
                  </a:solidFill>
                </a:rPr>
                <a:t>es</a:t>
              </a:r>
              <a:r>
                <a:rPr lang="en-US" sz="2000" dirty="0">
                  <a:solidFill>
                    <a:srgbClr val="0070C0"/>
                  </a:solidFill>
                </a:rPr>
                <a:t> dich, </a:t>
              </a:r>
              <a:r>
                <a:rPr lang="en-US" sz="2000" dirty="0" err="1">
                  <a:solidFill>
                    <a:srgbClr val="0070C0"/>
                  </a:solidFill>
                </a:rPr>
                <a:t>wenn</a:t>
              </a:r>
              <a:r>
                <a:rPr lang="en-US" sz="2000" dirty="0">
                  <a:solidFill>
                    <a:srgbClr val="0070C0"/>
                  </a:solidFill>
                </a:rPr>
                <a:t> </a:t>
              </a:r>
              <a:r>
                <a:rPr lang="en-US" sz="2000" dirty="0" err="1">
                  <a:solidFill>
                    <a:srgbClr val="0070C0"/>
                  </a:solidFill>
                </a:rPr>
                <a:t>ich</a:t>
              </a:r>
              <a:r>
                <a:rPr lang="en-US" sz="2000" dirty="0">
                  <a:solidFill>
                    <a:srgbClr val="0070C0"/>
                  </a:solidFill>
                </a:rPr>
                <a:t> </a:t>
              </a:r>
              <a:r>
                <a:rPr lang="en-US" sz="2000" dirty="0" err="1">
                  <a:solidFill>
                    <a:srgbClr val="0070C0"/>
                  </a:solidFill>
                </a:rPr>
                <a:t>rauche</a:t>
              </a:r>
              <a:r>
                <a:rPr lang="en-US" sz="2000" dirty="0">
                  <a:solidFill>
                    <a:srgbClr val="0070C0"/>
                  </a:solidFill>
                </a:rPr>
                <a:t>?</a:t>
              </a:r>
            </a:p>
          </p:txBody>
        </p:sp>
        <p:sp>
          <p:nvSpPr>
            <p:cNvPr id="4113" name="Line 73"/>
            <p:cNvSpPr>
              <a:spLocks noChangeShapeType="1"/>
            </p:cNvSpPr>
            <p:nvPr/>
          </p:nvSpPr>
          <p:spPr bwMode="auto">
            <a:xfrm flipV="1">
              <a:off x="457200" y="3505517"/>
              <a:ext cx="3134619" cy="733741"/>
            </a:xfrm>
            <a:prstGeom prst="line">
              <a:avLst/>
            </a:prstGeom>
            <a:noFill/>
            <a:ln w="28575">
              <a:solidFill>
                <a:srgbClr val="FF0000"/>
              </a:solidFill>
              <a:round/>
              <a:headEnd type="triangle" w="med" len="med"/>
              <a:tailEnd/>
            </a:ln>
          </p:spPr>
          <p:txBody>
            <a:bodyPr wrap="none" anchor="ctr"/>
            <a:lstStyle/>
            <a:p>
              <a:endParaRPr lang="de-DE"/>
            </a:p>
          </p:txBody>
        </p:sp>
        <p:sp>
          <p:nvSpPr>
            <p:cNvPr id="4123" name="Line 101"/>
            <p:cNvSpPr>
              <a:spLocks noChangeShapeType="1"/>
            </p:cNvSpPr>
            <p:nvPr/>
          </p:nvSpPr>
          <p:spPr bwMode="auto">
            <a:xfrm flipH="1">
              <a:off x="4233836" y="1554359"/>
              <a:ext cx="13097" cy="2777751"/>
            </a:xfrm>
            <a:prstGeom prst="line">
              <a:avLst/>
            </a:prstGeom>
            <a:noFill/>
            <a:ln w="38100">
              <a:solidFill>
                <a:schemeClr val="accent2"/>
              </a:solidFill>
              <a:round/>
              <a:headEnd/>
              <a:tailEnd type="triangle" w="med" len="med"/>
            </a:ln>
          </p:spPr>
          <p:txBody>
            <a:bodyPr wrap="none" anchor="ctr"/>
            <a:lstStyle/>
            <a:p>
              <a:endParaRPr lang="de-DE"/>
            </a:p>
          </p:txBody>
        </p:sp>
        <p:grpSp>
          <p:nvGrpSpPr>
            <p:cNvPr id="8" name="Group 105"/>
            <p:cNvGrpSpPr>
              <a:grpSpLocks/>
            </p:cNvGrpSpPr>
            <p:nvPr/>
          </p:nvGrpSpPr>
          <p:grpSpPr bwMode="auto">
            <a:xfrm>
              <a:off x="3929040" y="3606333"/>
              <a:ext cx="720725" cy="369888"/>
              <a:chOff x="2198" y="3221"/>
              <a:chExt cx="454" cy="233"/>
            </a:xfrm>
          </p:grpSpPr>
          <p:sp>
            <p:nvSpPr>
              <p:cNvPr id="4125" name="Rectangle 104"/>
              <p:cNvSpPr>
                <a:spLocks noChangeArrowheads="1"/>
              </p:cNvSpPr>
              <p:nvPr/>
            </p:nvSpPr>
            <p:spPr bwMode="auto">
              <a:xfrm>
                <a:off x="2244" y="3282"/>
                <a:ext cx="408" cy="162"/>
              </a:xfrm>
              <a:prstGeom prst="rect">
                <a:avLst/>
              </a:prstGeom>
              <a:solidFill>
                <a:schemeClr val="bg1"/>
              </a:solidFill>
              <a:ln w="9525">
                <a:noFill/>
                <a:miter lim="800000"/>
                <a:headEnd/>
                <a:tailEnd/>
              </a:ln>
            </p:spPr>
            <p:txBody>
              <a:bodyPr wrap="none" anchor="ctr"/>
              <a:lstStyle/>
              <a:p>
                <a:endParaRPr lang="de-DE"/>
              </a:p>
            </p:txBody>
          </p:sp>
          <p:sp>
            <p:nvSpPr>
              <p:cNvPr id="4126" name="Text Box 102"/>
              <p:cNvSpPr txBox="1">
                <a:spLocks noChangeArrowheads="1"/>
              </p:cNvSpPr>
              <p:nvPr/>
            </p:nvSpPr>
            <p:spPr bwMode="auto">
              <a:xfrm>
                <a:off x="2198" y="3221"/>
                <a:ext cx="359" cy="233"/>
              </a:xfrm>
              <a:prstGeom prst="rect">
                <a:avLst/>
              </a:prstGeom>
              <a:noFill/>
              <a:ln w="9525">
                <a:noFill/>
                <a:miter lim="800000"/>
                <a:headEnd/>
                <a:tailEnd/>
              </a:ln>
            </p:spPr>
            <p:txBody>
              <a:bodyPr wrap="none">
                <a:spAutoFit/>
              </a:bodyPr>
              <a:lstStyle/>
              <a:p>
                <a:r>
                  <a:rPr lang="en-US" dirty="0" err="1">
                    <a:solidFill>
                      <a:schemeClr val="accent2"/>
                    </a:solidFill>
                  </a:rPr>
                  <a:t>Zeit</a:t>
                </a:r>
                <a:endParaRPr lang="en-US" dirty="0"/>
              </a:p>
            </p:txBody>
          </p:sp>
        </p:grpSp>
      </p:grpSp>
      <p:sp>
        <p:nvSpPr>
          <p:cNvPr id="4134" name="Text Box 74"/>
          <p:cNvSpPr txBox="1">
            <a:spLocks noChangeArrowheads="1"/>
          </p:cNvSpPr>
          <p:nvPr/>
        </p:nvSpPr>
        <p:spPr bwMode="auto">
          <a:xfrm>
            <a:off x="568562" y="3477815"/>
            <a:ext cx="3387466" cy="707886"/>
          </a:xfrm>
          <a:prstGeom prst="rect">
            <a:avLst/>
          </a:prstGeom>
          <a:solidFill>
            <a:schemeClr val="bg1"/>
          </a:solidFill>
          <a:ln w="9525">
            <a:noFill/>
            <a:miter lim="800000"/>
            <a:headEnd/>
            <a:tailEnd/>
          </a:ln>
        </p:spPr>
        <p:txBody>
          <a:bodyPr wrap="none">
            <a:spAutoFit/>
          </a:bodyPr>
          <a:lstStyle/>
          <a:p>
            <a:r>
              <a:rPr lang="de-DE" sz="2000" dirty="0"/>
              <a:t>Es würde mich nicht stören,</a:t>
            </a:r>
          </a:p>
          <a:p>
            <a:r>
              <a:rPr lang="de-DE" sz="2000" dirty="0"/>
              <a:t>auch wenn du brennst!</a:t>
            </a:r>
          </a:p>
        </p:txBody>
      </p:sp>
    </p:spTree>
    <p:extLst>
      <p:ext uri="{BB962C8B-B14F-4D97-AF65-F5344CB8AC3E}">
        <p14:creationId xmlns:p14="http://schemas.microsoft.com/office/powerpoint/2010/main" val="86827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134"/>
                                        </p:tgtEl>
                                        <p:attrNameLst>
                                          <p:attrName>style.visibility</p:attrName>
                                        </p:attrNameLst>
                                      </p:cBhvr>
                                      <p:to>
                                        <p:strVal val="visible"/>
                                      </p:to>
                                    </p:set>
                                    <p:animEffect transition="in" filter="fade">
                                      <p:cBhvr>
                                        <p:cTn id="12" dur="500"/>
                                        <p:tgtEl>
                                          <p:spTgt spid="41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animEffect transition="in" filter="fade">
                                      <p:cBhvr>
                                        <p:cTn id="25" dur="500"/>
                                        <p:tgtEl>
                                          <p:spTgt spid="9">
                                            <p:txEl>
                                              <p:pRg st="1" end="1"/>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500"/>
                                        <p:tgtEl>
                                          <p:spTgt spid="9">
                                            <p:txEl>
                                              <p:pRg st="2" end="2"/>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xEl>
                                              <p:pRg st="3" end="3"/>
                                            </p:txEl>
                                          </p:spTgt>
                                        </p:tgtEl>
                                        <p:attrNameLst>
                                          <p:attrName>style.visibility</p:attrName>
                                        </p:attrNameLst>
                                      </p:cBhvr>
                                      <p:to>
                                        <p:strVal val="visible"/>
                                      </p:to>
                                    </p:set>
                                    <p:animEffect transition="in" filter="fade">
                                      <p:cBhvr>
                                        <p:cTn id="31"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413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Typische Heimzugänge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57</a:t>
            </a:fld>
            <a:endParaRPr lang="en-US" noProof="0" dirty="0"/>
          </a:p>
        </p:txBody>
      </p:sp>
      <p:sp>
        <p:nvSpPr>
          <p:cNvPr id="4" name="Inhaltsplatzhalter 3"/>
          <p:cNvSpPr>
            <a:spLocks noGrp="1"/>
          </p:cNvSpPr>
          <p:nvPr>
            <p:ph sz="quarter" idx="1"/>
          </p:nvPr>
        </p:nvSpPr>
        <p:spPr>
          <a:xfrm>
            <a:off x="323528" y="1219200"/>
            <a:ext cx="4392488" cy="5234136"/>
          </a:xfrm>
        </p:spPr>
        <p:txBody>
          <a:bodyPr>
            <a:normAutofit/>
          </a:bodyPr>
          <a:lstStyle/>
          <a:p>
            <a:r>
              <a:rPr lang="de-DE" sz="2400" b="1" dirty="0">
                <a:solidFill>
                  <a:srgbClr val="FF0000"/>
                </a:solidFill>
              </a:rPr>
              <a:t>Einwahlmodem </a:t>
            </a:r>
            <a:r>
              <a:rPr lang="de-DE" sz="2400" dirty="0"/>
              <a:t>(</a:t>
            </a:r>
            <a:r>
              <a:rPr lang="de-DE" sz="2400" dirty="0" err="1"/>
              <a:t>dial-up</a:t>
            </a:r>
            <a:r>
              <a:rPr lang="de-DE" sz="2400" dirty="0"/>
              <a:t> </a:t>
            </a:r>
            <a:r>
              <a:rPr lang="de-DE" sz="2400" dirty="0" err="1"/>
              <a:t>modem</a:t>
            </a:r>
            <a:r>
              <a:rPr lang="de-DE" sz="2400" dirty="0"/>
              <a:t>) – „alter Hut“</a:t>
            </a:r>
          </a:p>
          <a:p>
            <a:r>
              <a:rPr lang="de-DE" sz="2400" b="1" dirty="0">
                <a:solidFill>
                  <a:srgbClr val="FF0000"/>
                </a:solidFill>
              </a:rPr>
              <a:t>ISDN</a:t>
            </a:r>
            <a:r>
              <a:rPr lang="de-DE" sz="2400" dirty="0"/>
              <a:t> – „digitale Telefonleitung“ - „alter Hut“</a:t>
            </a:r>
          </a:p>
          <a:p>
            <a:r>
              <a:rPr lang="de-DE" sz="2400" dirty="0"/>
              <a:t>[</a:t>
            </a:r>
            <a:r>
              <a:rPr lang="de-DE" sz="2400" b="1" dirty="0">
                <a:solidFill>
                  <a:srgbClr val="FF0000"/>
                </a:solidFill>
              </a:rPr>
              <a:t>V</a:t>
            </a:r>
            <a:r>
              <a:rPr lang="de-DE" sz="2400" dirty="0"/>
              <a:t>]</a:t>
            </a:r>
            <a:r>
              <a:rPr lang="de-DE" sz="2400" b="1" dirty="0">
                <a:solidFill>
                  <a:srgbClr val="FF0000"/>
                </a:solidFill>
              </a:rPr>
              <a:t>DSL</a:t>
            </a:r>
            <a:r>
              <a:rPr lang="de-DE" sz="2400" dirty="0"/>
              <a:t> – [</a:t>
            </a:r>
            <a:r>
              <a:rPr lang="de-DE" sz="2400" b="1" dirty="0">
                <a:solidFill>
                  <a:srgbClr val="FF0000"/>
                </a:solidFill>
              </a:rPr>
              <a:t>Very-high Speed</a:t>
            </a:r>
            <a:r>
              <a:rPr lang="de-DE" sz="2400" dirty="0"/>
              <a:t>] </a:t>
            </a:r>
            <a:r>
              <a:rPr lang="de-DE" sz="2400" b="1" dirty="0">
                <a:solidFill>
                  <a:srgbClr val="FF0000"/>
                </a:solidFill>
              </a:rPr>
              <a:t>Digital Subscriber Line</a:t>
            </a:r>
          </a:p>
          <a:p>
            <a:r>
              <a:rPr lang="de-DE" sz="2400" b="1" dirty="0">
                <a:solidFill>
                  <a:srgbClr val="FF0000"/>
                </a:solidFill>
              </a:rPr>
              <a:t>Hybride Glasfaser-Koaxialkabel </a:t>
            </a:r>
            <a:r>
              <a:rPr lang="de-DE" sz="2400" dirty="0"/>
              <a:t>- Anschlüsse  </a:t>
            </a:r>
          </a:p>
          <a:p>
            <a:pPr lvl="1"/>
            <a:r>
              <a:rPr lang="de-DE" sz="2000" dirty="0"/>
              <a:t>Glasfasern bis </a:t>
            </a:r>
            <a:r>
              <a:rPr lang="de-DE" sz="2000" b="1" dirty="0">
                <a:solidFill>
                  <a:srgbClr val="FF0000"/>
                </a:solidFill>
              </a:rPr>
              <a:t>Kabelkopfstück</a:t>
            </a:r>
            <a:r>
              <a:rPr lang="de-DE" sz="2000" dirty="0"/>
              <a:t>, dann Koaxialkabel</a:t>
            </a:r>
          </a:p>
          <a:p>
            <a:pPr lvl="1"/>
            <a:r>
              <a:rPr lang="de-DE" sz="2000" dirty="0"/>
              <a:t>Nutzt Infrastruktur des Kabelfernsehens</a:t>
            </a:r>
          </a:p>
          <a:p>
            <a:pPr lvl="1"/>
            <a:r>
              <a:rPr lang="de-DE" sz="2000" dirty="0"/>
              <a:t>Geräte dazu: </a:t>
            </a:r>
            <a:r>
              <a:rPr lang="de-DE" sz="2000" b="1" dirty="0">
                <a:solidFill>
                  <a:srgbClr val="FF0000"/>
                </a:solidFill>
              </a:rPr>
              <a:t>Kabelmodems</a:t>
            </a:r>
          </a:p>
        </p:txBody>
      </p:sp>
      <p:sp>
        <p:nvSpPr>
          <p:cNvPr id="7" name="Text Box 4"/>
          <p:cNvSpPr txBox="1">
            <a:spLocks noChangeArrowheads="1"/>
          </p:cNvSpPr>
          <p:nvPr/>
        </p:nvSpPr>
        <p:spPr bwMode="auto">
          <a:xfrm>
            <a:off x="5148064" y="6237312"/>
            <a:ext cx="3871124" cy="276999"/>
          </a:xfrm>
          <a:prstGeom prst="rect">
            <a:avLst/>
          </a:prstGeom>
          <a:noFill/>
          <a:ln w="9525">
            <a:noFill/>
            <a:miter lim="800000"/>
            <a:headEnd/>
            <a:tailEnd/>
          </a:ln>
        </p:spPr>
        <p:txBody>
          <a:bodyPr wrap="none">
            <a:spAutoFit/>
          </a:bodyPr>
          <a:lstStyle/>
          <a:p>
            <a:r>
              <a:rPr lang="en-US" sz="1200" dirty="0">
                <a:latin typeface="Arial" charset="0"/>
              </a:rPr>
              <a:t>http://www.cabledatacomnews.com/cmic/diagram.html</a:t>
            </a:r>
          </a:p>
        </p:txBody>
      </p:sp>
      <p:pic>
        <p:nvPicPr>
          <p:cNvPr id="568322" name="Picture 2" descr="C:\Artur\Academic\Lehre\10.WS-IBN\VL\figures\vl21\hfc - cable infrastructur.jpg"/>
          <p:cNvPicPr>
            <a:picLocks noChangeAspect="1" noChangeArrowheads="1"/>
          </p:cNvPicPr>
          <p:nvPr/>
        </p:nvPicPr>
        <p:blipFill>
          <a:blip r:embed="rId2" cstate="print"/>
          <a:srcRect/>
          <a:stretch>
            <a:fillRect/>
          </a:stretch>
        </p:blipFill>
        <p:spPr bwMode="auto">
          <a:xfrm>
            <a:off x="4932040" y="3356992"/>
            <a:ext cx="4036556" cy="2967451"/>
          </a:xfrm>
          <a:prstGeom prst="rect">
            <a:avLst/>
          </a:prstGeom>
          <a:noFill/>
        </p:spPr>
      </p:pic>
      <p:sp>
        <p:nvSpPr>
          <p:cNvPr id="10" name="Inhaltsplatzhalter 3"/>
          <p:cNvSpPr>
            <a:spLocks noGrp="1"/>
          </p:cNvSpPr>
          <p:nvPr>
            <p:ph sz="quarter" idx="1"/>
          </p:nvPr>
        </p:nvSpPr>
        <p:spPr>
          <a:xfrm>
            <a:off x="4644009" y="1196752"/>
            <a:ext cx="4375180" cy="2016224"/>
          </a:xfrm>
        </p:spPr>
        <p:style>
          <a:lnRef idx="2">
            <a:schemeClr val="dk1"/>
          </a:lnRef>
          <a:fillRef idx="1">
            <a:schemeClr val="lt1"/>
          </a:fillRef>
          <a:effectRef idx="0">
            <a:schemeClr val="dk1"/>
          </a:effectRef>
          <a:fontRef idx="minor">
            <a:schemeClr val="dk1"/>
          </a:fontRef>
        </p:style>
        <p:txBody>
          <a:bodyPr>
            <a:normAutofit fontScale="92500"/>
          </a:bodyPr>
          <a:lstStyle/>
          <a:p>
            <a:r>
              <a:rPr lang="de-DE" sz="2400" dirty="0"/>
              <a:t>DSL teilt die Telefonleitung in drei </a:t>
            </a:r>
            <a:r>
              <a:rPr lang="de-DE" sz="2400" b="1" dirty="0">
                <a:solidFill>
                  <a:srgbClr val="FF0000"/>
                </a:solidFill>
              </a:rPr>
              <a:t>Frequenzbänder </a:t>
            </a:r>
            <a:r>
              <a:rPr lang="de-DE" sz="2400" dirty="0"/>
              <a:t>ein:</a:t>
            </a:r>
          </a:p>
          <a:p>
            <a:pPr lvl="1"/>
            <a:r>
              <a:rPr lang="de-DE" sz="2100" dirty="0"/>
              <a:t>Telefon: 0-4 kHz</a:t>
            </a:r>
          </a:p>
          <a:p>
            <a:pPr lvl="1"/>
            <a:r>
              <a:rPr lang="de-DE" sz="2100" b="1" dirty="0" err="1">
                <a:solidFill>
                  <a:srgbClr val="FF0000"/>
                </a:solidFill>
              </a:rPr>
              <a:t>Upstream</a:t>
            </a:r>
            <a:r>
              <a:rPr lang="de-DE" sz="2100" dirty="0"/>
              <a:t>-Kanal: 4-50 kHz</a:t>
            </a:r>
          </a:p>
          <a:p>
            <a:pPr lvl="1"/>
            <a:r>
              <a:rPr lang="de-DE" sz="2100" b="1" dirty="0">
                <a:solidFill>
                  <a:srgbClr val="FF0000"/>
                </a:solidFill>
              </a:rPr>
              <a:t>Downstream</a:t>
            </a:r>
            <a:r>
              <a:rPr lang="de-DE" sz="2100" dirty="0"/>
              <a:t>: 50 kHz bis &gt;1 MHz</a:t>
            </a:r>
          </a:p>
        </p:txBody>
      </p:sp>
    </p:spTree>
    <p:extLst>
      <p:ext uri="{BB962C8B-B14F-4D97-AF65-F5344CB8AC3E}">
        <p14:creationId xmlns:p14="http://schemas.microsoft.com/office/powerpoint/2010/main" val="298230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Firmenzugänge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58</a:t>
            </a:fld>
            <a:endParaRPr lang="en-US" noProof="0" dirty="0"/>
          </a:p>
        </p:txBody>
      </p:sp>
      <p:sp>
        <p:nvSpPr>
          <p:cNvPr id="4" name="Inhaltsplatzhalter 3"/>
          <p:cNvSpPr>
            <a:spLocks noGrp="1"/>
          </p:cNvSpPr>
          <p:nvPr>
            <p:ph sz="quarter" idx="1"/>
          </p:nvPr>
        </p:nvSpPr>
        <p:spPr>
          <a:xfrm>
            <a:off x="457200" y="4365104"/>
            <a:ext cx="8229600" cy="2088232"/>
          </a:xfrm>
        </p:spPr>
        <p:txBody>
          <a:bodyPr>
            <a:normAutofit fontScale="92500"/>
          </a:bodyPr>
          <a:lstStyle/>
          <a:p>
            <a:r>
              <a:rPr lang="de-DE" dirty="0"/>
              <a:t>Typischerweise in Firmen, Universitäten, Regierungen</a:t>
            </a:r>
          </a:p>
          <a:p>
            <a:pPr lvl="1"/>
            <a:r>
              <a:rPr lang="de-DE" dirty="0"/>
              <a:t>Verbindung zwischen dem </a:t>
            </a:r>
            <a:r>
              <a:rPr lang="de-DE" b="1" dirty="0">
                <a:solidFill>
                  <a:srgbClr val="FF0000"/>
                </a:solidFill>
              </a:rPr>
              <a:t>lokalen Netzwerk </a:t>
            </a:r>
            <a:r>
              <a:rPr lang="de-DE" dirty="0"/>
              <a:t>(</a:t>
            </a:r>
            <a:r>
              <a:rPr lang="de-DE" b="1" dirty="0">
                <a:solidFill>
                  <a:srgbClr val="FF0000"/>
                </a:solidFill>
              </a:rPr>
              <a:t>LAN</a:t>
            </a:r>
            <a:r>
              <a:rPr lang="de-DE" dirty="0"/>
              <a:t>, </a:t>
            </a:r>
            <a:r>
              <a:rPr lang="de-DE" b="1" dirty="0" err="1">
                <a:solidFill>
                  <a:srgbClr val="FF0000"/>
                </a:solidFill>
              </a:rPr>
              <a:t>local</a:t>
            </a:r>
            <a:r>
              <a:rPr lang="de-DE" b="1" dirty="0">
                <a:solidFill>
                  <a:srgbClr val="FF0000"/>
                </a:solidFill>
              </a:rPr>
              <a:t> </a:t>
            </a:r>
            <a:r>
              <a:rPr lang="de-DE" b="1" dirty="0" err="1">
                <a:solidFill>
                  <a:srgbClr val="FF0000"/>
                </a:solidFill>
              </a:rPr>
              <a:t>area</a:t>
            </a:r>
            <a:r>
              <a:rPr lang="de-DE" b="1" dirty="0">
                <a:solidFill>
                  <a:srgbClr val="FF0000"/>
                </a:solidFill>
              </a:rPr>
              <a:t> </a:t>
            </a:r>
            <a:r>
              <a:rPr lang="de-DE" b="1" dirty="0" err="1">
                <a:solidFill>
                  <a:srgbClr val="FF0000"/>
                </a:solidFill>
              </a:rPr>
              <a:t>network</a:t>
            </a:r>
            <a:r>
              <a:rPr lang="de-DE" dirty="0"/>
              <a:t>) mit einem Randrouter via </a:t>
            </a:r>
            <a:r>
              <a:rPr lang="de-DE" b="1" dirty="0">
                <a:solidFill>
                  <a:srgbClr val="FF0000"/>
                </a:solidFill>
              </a:rPr>
              <a:t>Ethernet </a:t>
            </a:r>
            <a:r>
              <a:rPr lang="de-DE" dirty="0"/>
              <a:t>(später)</a:t>
            </a:r>
          </a:p>
          <a:p>
            <a:pPr lvl="1"/>
            <a:r>
              <a:rPr lang="de-DE" dirty="0"/>
              <a:t>Im LAN werden Kupferkabel mit verdrillten Adern oder Koaxialkabel benutzt</a:t>
            </a:r>
          </a:p>
        </p:txBody>
      </p:sp>
      <p:grpSp>
        <p:nvGrpSpPr>
          <p:cNvPr id="5" name="Group 51"/>
          <p:cNvGrpSpPr>
            <a:grpSpLocks/>
          </p:cNvGrpSpPr>
          <p:nvPr/>
        </p:nvGrpSpPr>
        <p:grpSpPr bwMode="auto">
          <a:xfrm>
            <a:off x="1368425" y="1255713"/>
            <a:ext cx="6261678" cy="3109391"/>
            <a:chOff x="1433513" y="1757363"/>
            <a:chExt cx="6261678" cy="3444875"/>
          </a:xfrm>
        </p:grpSpPr>
        <p:graphicFrame>
          <p:nvGraphicFramePr>
            <p:cNvPr id="6" name="Object 2"/>
            <p:cNvGraphicFramePr>
              <a:graphicFrameLocks noChangeAspect="1"/>
            </p:cNvGraphicFramePr>
            <p:nvPr/>
          </p:nvGraphicFramePr>
          <p:xfrm>
            <a:off x="1433513" y="1757363"/>
            <a:ext cx="611187" cy="520700"/>
          </p:xfrm>
          <a:graphic>
            <a:graphicData uri="http://schemas.openxmlformats.org/presentationml/2006/ole">
              <mc:AlternateContent xmlns:mc="http://schemas.openxmlformats.org/markup-compatibility/2006">
                <mc:Choice xmlns:v="urn:schemas-microsoft-com:vml" Requires="v">
                  <p:oleObj name="Clip" r:id="rId2" imgW="1307263" imgH="1084139" progId="">
                    <p:embed/>
                  </p:oleObj>
                </mc:Choice>
                <mc:Fallback>
                  <p:oleObj name="Clip" r:id="rId2" imgW="1307263" imgH="1084139" progId="">
                    <p:embed/>
                    <p:pic>
                      <p:nvPicPr>
                        <p:cNvPr id="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513" y="1757363"/>
                          <a:ext cx="611187"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
            <p:cNvGraphicFramePr>
              <a:graphicFrameLocks noChangeAspect="1"/>
            </p:cNvGraphicFramePr>
            <p:nvPr/>
          </p:nvGraphicFramePr>
          <p:xfrm>
            <a:off x="1433513" y="2892425"/>
            <a:ext cx="611187" cy="520700"/>
          </p:xfrm>
          <a:graphic>
            <a:graphicData uri="http://schemas.openxmlformats.org/presentationml/2006/ole">
              <mc:AlternateContent xmlns:mc="http://schemas.openxmlformats.org/markup-compatibility/2006">
                <mc:Choice xmlns:v="urn:schemas-microsoft-com:vml" Requires="v">
                  <p:oleObj name="Clip" r:id="rId4" imgW="1307263" imgH="1084139" progId="">
                    <p:embed/>
                  </p:oleObj>
                </mc:Choice>
                <mc:Fallback>
                  <p:oleObj name="Clip" r:id="rId4" imgW="1307263" imgH="1084139" progId="">
                    <p:embed/>
                    <p:pic>
                      <p:nvPicPr>
                        <p:cNvPr id="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513" y="2892425"/>
                          <a:ext cx="611187"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4"/>
            <p:cNvGraphicFramePr>
              <a:graphicFrameLocks noChangeAspect="1"/>
            </p:cNvGraphicFramePr>
            <p:nvPr/>
          </p:nvGraphicFramePr>
          <p:xfrm>
            <a:off x="1489075" y="4125913"/>
            <a:ext cx="611188" cy="52070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9075" y="4125913"/>
                          <a:ext cx="611188"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Line 9"/>
            <p:cNvSpPr>
              <a:spLocks noChangeShapeType="1"/>
            </p:cNvSpPr>
            <p:nvPr/>
          </p:nvSpPr>
          <p:spPr bwMode="auto">
            <a:xfrm>
              <a:off x="3922713" y="3033713"/>
              <a:ext cx="0" cy="0"/>
            </a:xfrm>
            <a:prstGeom prst="line">
              <a:avLst/>
            </a:prstGeom>
            <a:noFill/>
            <a:ln w="9525">
              <a:solidFill>
                <a:schemeClr val="tx1"/>
              </a:solidFill>
              <a:round/>
              <a:headEnd/>
              <a:tailEnd/>
            </a:ln>
          </p:spPr>
          <p:txBody>
            <a:bodyPr wrap="none"/>
            <a:lstStyle/>
            <a:p>
              <a:endParaRPr lang="de-DE"/>
            </a:p>
          </p:txBody>
        </p:sp>
        <p:sp>
          <p:nvSpPr>
            <p:cNvPr id="10" name="Rectangle 10"/>
            <p:cNvSpPr>
              <a:spLocks noChangeArrowheads="1"/>
            </p:cNvSpPr>
            <p:nvPr/>
          </p:nvSpPr>
          <p:spPr bwMode="auto">
            <a:xfrm>
              <a:off x="3500438" y="3262313"/>
              <a:ext cx="388937" cy="103187"/>
            </a:xfrm>
            <a:prstGeom prst="rect">
              <a:avLst/>
            </a:prstGeom>
            <a:solidFill>
              <a:schemeClr val="hlink"/>
            </a:solidFill>
            <a:ln w="9525">
              <a:miter lim="800000"/>
              <a:headEnd/>
              <a:tailEnd/>
            </a:ln>
            <a:scene3d>
              <a:camera prst="legacyObliqueTopRight"/>
              <a:lightRig rig="legacyFlat3" dir="l"/>
            </a:scene3d>
            <a:sp3d extrusionH="430200" prstMaterial="legacyMatte">
              <a:bevelT w="13500" h="13500" prst="angle"/>
              <a:bevelB w="13500" h="13500" prst="angle"/>
              <a:extrusionClr>
                <a:schemeClr val="hlink"/>
              </a:extrusionClr>
            </a:sp3d>
          </p:spPr>
          <p:txBody>
            <a:bodyPr wrap="none" anchor="ctr">
              <a:flatTx/>
            </a:bodyPr>
            <a:lstStyle/>
            <a:p>
              <a:endParaRPr lang="de-DE"/>
            </a:p>
          </p:txBody>
        </p:sp>
        <p:grpSp>
          <p:nvGrpSpPr>
            <p:cNvPr id="12" name="Group 14"/>
            <p:cNvGrpSpPr>
              <a:grpSpLocks/>
            </p:cNvGrpSpPr>
            <p:nvPr/>
          </p:nvGrpSpPr>
          <p:grpSpPr bwMode="auto">
            <a:xfrm>
              <a:off x="4778375" y="2655889"/>
              <a:ext cx="569913" cy="285751"/>
              <a:chOff x="533" y="321"/>
              <a:chExt cx="359" cy="180"/>
            </a:xfrm>
          </p:grpSpPr>
          <p:grpSp>
            <p:nvGrpSpPr>
              <p:cNvPr id="36" name="Group 15"/>
              <p:cNvGrpSpPr>
                <a:grpSpLocks/>
              </p:cNvGrpSpPr>
              <p:nvPr/>
            </p:nvGrpSpPr>
            <p:grpSpPr bwMode="auto">
              <a:xfrm>
                <a:off x="533" y="321"/>
                <a:ext cx="359" cy="180"/>
                <a:chOff x="1009" y="655"/>
                <a:chExt cx="359" cy="180"/>
              </a:xfrm>
            </p:grpSpPr>
            <p:sp>
              <p:nvSpPr>
                <p:cNvPr id="38" name="Oval 16"/>
                <p:cNvSpPr>
                  <a:spLocks noChangeArrowheads="1"/>
                </p:cNvSpPr>
                <p:nvPr/>
              </p:nvSpPr>
              <p:spPr bwMode="auto">
                <a:xfrm>
                  <a:off x="1012" y="735"/>
                  <a:ext cx="356" cy="100"/>
                </a:xfrm>
                <a:prstGeom prst="ellipse">
                  <a:avLst/>
                </a:prstGeom>
                <a:solidFill>
                  <a:schemeClr val="hlink"/>
                </a:solidFill>
                <a:ln w="12700">
                  <a:solidFill>
                    <a:schemeClr val="tx1"/>
                  </a:solidFill>
                  <a:round/>
                  <a:headEnd/>
                  <a:tailEnd/>
                </a:ln>
              </p:spPr>
              <p:txBody>
                <a:bodyPr wrap="none" anchor="ctr"/>
                <a:lstStyle/>
                <a:p>
                  <a:endParaRPr lang="de-DE"/>
                </a:p>
              </p:txBody>
            </p:sp>
            <p:sp>
              <p:nvSpPr>
                <p:cNvPr id="39" name="Line 17"/>
                <p:cNvSpPr>
                  <a:spLocks noChangeShapeType="1"/>
                </p:cNvSpPr>
                <p:nvPr/>
              </p:nvSpPr>
              <p:spPr bwMode="auto">
                <a:xfrm>
                  <a:off x="1012" y="727"/>
                  <a:ext cx="0" cy="62"/>
                </a:xfrm>
                <a:prstGeom prst="line">
                  <a:avLst/>
                </a:prstGeom>
                <a:noFill/>
                <a:ln w="12700">
                  <a:solidFill>
                    <a:schemeClr val="tx1"/>
                  </a:solidFill>
                  <a:round/>
                  <a:headEnd/>
                  <a:tailEnd/>
                </a:ln>
              </p:spPr>
              <p:txBody>
                <a:bodyPr wrap="none" anchor="ctr"/>
                <a:lstStyle/>
                <a:p>
                  <a:endParaRPr lang="de-DE"/>
                </a:p>
              </p:txBody>
            </p:sp>
            <p:sp>
              <p:nvSpPr>
                <p:cNvPr id="40" name="Line 18"/>
                <p:cNvSpPr>
                  <a:spLocks noChangeShapeType="1"/>
                </p:cNvSpPr>
                <p:nvPr/>
              </p:nvSpPr>
              <p:spPr bwMode="auto">
                <a:xfrm>
                  <a:off x="1368" y="727"/>
                  <a:ext cx="0" cy="62"/>
                </a:xfrm>
                <a:prstGeom prst="line">
                  <a:avLst/>
                </a:prstGeom>
                <a:noFill/>
                <a:ln w="12700">
                  <a:solidFill>
                    <a:schemeClr val="tx1"/>
                  </a:solidFill>
                  <a:round/>
                  <a:headEnd/>
                  <a:tailEnd/>
                </a:ln>
              </p:spPr>
              <p:txBody>
                <a:bodyPr wrap="none" anchor="ctr"/>
                <a:lstStyle/>
                <a:p>
                  <a:endParaRPr lang="de-DE"/>
                </a:p>
              </p:txBody>
            </p:sp>
            <p:sp>
              <p:nvSpPr>
                <p:cNvPr id="41" name="Rectangle 19"/>
                <p:cNvSpPr>
                  <a:spLocks noChangeArrowheads="1"/>
                </p:cNvSpPr>
                <p:nvPr/>
              </p:nvSpPr>
              <p:spPr bwMode="auto">
                <a:xfrm>
                  <a:off x="1012" y="727"/>
                  <a:ext cx="353" cy="61"/>
                </a:xfrm>
                <a:prstGeom prst="rect">
                  <a:avLst/>
                </a:prstGeom>
                <a:solidFill>
                  <a:schemeClr val="hlink"/>
                </a:solidFill>
                <a:ln w="12700">
                  <a:noFill/>
                  <a:miter lim="800000"/>
                  <a:headEnd/>
                  <a:tailEnd/>
                </a:ln>
              </p:spPr>
              <p:txBody>
                <a:bodyPr wrap="none" anchor="ctr"/>
                <a:lstStyle/>
                <a:p>
                  <a:pPr algn="ctr"/>
                  <a:endParaRPr lang="de-DE"/>
                </a:p>
              </p:txBody>
            </p:sp>
            <p:sp>
              <p:nvSpPr>
                <p:cNvPr id="42" name="Oval 20"/>
                <p:cNvSpPr>
                  <a:spLocks noChangeArrowheads="1"/>
                </p:cNvSpPr>
                <p:nvPr/>
              </p:nvSpPr>
              <p:spPr bwMode="auto">
                <a:xfrm>
                  <a:off x="1009" y="655"/>
                  <a:ext cx="356" cy="116"/>
                </a:xfrm>
                <a:prstGeom prst="ellipse">
                  <a:avLst/>
                </a:prstGeom>
                <a:solidFill>
                  <a:schemeClr val="hlink"/>
                </a:solidFill>
                <a:ln w="12700">
                  <a:solidFill>
                    <a:schemeClr val="tx1"/>
                  </a:solidFill>
                  <a:round/>
                  <a:headEnd/>
                  <a:tailEnd/>
                </a:ln>
              </p:spPr>
              <p:txBody>
                <a:bodyPr wrap="none" anchor="ctr"/>
                <a:lstStyle/>
                <a:p>
                  <a:endParaRPr lang="de-DE"/>
                </a:p>
              </p:txBody>
            </p:sp>
          </p:grpSp>
          <p:sp>
            <p:nvSpPr>
              <p:cNvPr id="37" name="Line 29"/>
              <p:cNvSpPr>
                <a:spLocks noChangeShapeType="1"/>
              </p:cNvSpPr>
              <p:nvPr/>
            </p:nvSpPr>
            <p:spPr bwMode="auto">
              <a:xfrm>
                <a:off x="535" y="368"/>
                <a:ext cx="0" cy="62"/>
              </a:xfrm>
              <a:prstGeom prst="line">
                <a:avLst/>
              </a:prstGeom>
              <a:noFill/>
              <a:ln w="12700">
                <a:solidFill>
                  <a:schemeClr val="tx1"/>
                </a:solidFill>
                <a:round/>
                <a:headEnd/>
                <a:tailEnd/>
              </a:ln>
            </p:spPr>
            <p:txBody>
              <a:bodyPr wrap="none" anchor="ctr"/>
              <a:lstStyle/>
              <a:p>
                <a:endParaRPr lang="de-DE"/>
              </a:p>
            </p:txBody>
          </p:sp>
        </p:grpSp>
        <p:grpSp>
          <p:nvGrpSpPr>
            <p:cNvPr id="13" name="Group 30"/>
            <p:cNvGrpSpPr>
              <a:grpSpLocks/>
            </p:cNvGrpSpPr>
            <p:nvPr/>
          </p:nvGrpSpPr>
          <p:grpSpPr bwMode="auto">
            <a:xfrm>
              <a:off x="3705225" y="4356095"/>
              <a:ext cx="238125" cy="484186"/>
              <a:chOff x="4180" y="783"/>
              <a:chExt cx="150" cy="307"/>
            </a:xfrm>
          </p:grpSpPr>
          <p:sp>
            <p:nvSpPr>
              <p:cNvPr id="28" name="AutoShape 3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9" name="Rectangle 3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30" name="Rectangle 3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31" name="AutoShape 3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32" name="Line 35"/>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33" name="Line 36"/>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34" name="Rectangle 3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5" name="Rectangle 3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4" name="Line 39"/>
            <p:cNvSpPr>
              <a:spLocks noChangeShapeType="1"/>
            </p:cNvSpPr>
            <p:nvPr/>
          </p:nvSpPr>
          <p:spPr bwMode="auto">
            <a:xfrm>
              <a:off x="1911350" y="2092325"/>
              <a:ext cx="1704975" cy="1081088"/>
            </a:xfrm>
            <a:prstGeom prst="line">
              <a:avLst/>
            </a:prstGeom>
            <a:noFill/>
            <a:ln w="9525">
              <a:solidFill>
                <a:schemeClr val="tx1"/>
              </a:solidFill>
              <a:round/>
              <a:headEnd/>
              <a:tailEnd/>
            </a:ln>
          </p:spPr>
          <p:txBody>
            <a:bodyPr wrap="none"/>
            <a:lstStyle/>
            <a:p>
              <a:endParaRPr lang="de-DE"/>
            </a:p>
          </p:txBody>
        </p:sp>
        <p:sp>
          <p:nvSpPr>
            <p:cNvPr id="15" name="Line 40"/>
            <p:cNvSpPr>
              <a:spLocks noChangeShapeType="1"/>
            </p:cNvSpPr>
            <p:nvPr/>
          </p:nvSpPr>
          <p:spPr bwMode="auto">
            <a:xfrm>
              <a:off x="1966913" y="3062288"/>
              <a:ext cx="1565275" cy="207962"/>
            </a:xfrm>
            <a:prstGeom prst="line">
              <a:avLst/>
            </a:prstGeom>
            <a:noFill/>
            <a:ln w="9525">
              <a:solidFill>
                <a:schemeClr val="tx1"/>
              </a:solidFill>
              <a:round/>
              <a:headEnd/>
              <a:tailEnd/>
            </a:ln>
          </p:spPr>
          <p:txBody>
            <a:bodyPr wrap="none"/>
            <a:lstStyle/>
            <a:p>
              <a:endParaRPr lang="de-DE"/>
            </a:p>
          </p:txBody>
        </p:sp>
        <p:sp>
          <p:nvSpPr>
            <p:cNvPr id="16" name="Line 41"/>
            <p:cNvSpPr>
              <a:spLocks noChangeShapeType="1"/>
            </p:cNvSpPr>
            <p:nvPr/>
          </p:nvSpPr>
          <p:spPr bwMode="auto">
            <a:xfrm flipV="1">
              <a:off x="2051050" y="3352800"/>
              <a:ext cx="1565275" cy="955675"/>
            </a:xfrm>
            <a:prstGeom prst="line">
              <a:avLst/>
            </a:prstGeom>
            <a:noFill/>
            <a:ln w="9525">
              <a:solidFill>
                <a:schemeClr val="tx1"/>
              </a:solidFill>
              <a:round/>
              <a:headEnd/>
              <a:tailEnd/>
            </a:ln>
          </p:spPr>
          <p:txBody>
            <a:bodyPr wrap="none"/>
            <a:lstStyle/>
            <a:p>
              <a:endParaRPr lang="de-DE"/>
            </a:p>
          </p:txBody>
        </p:sp>
        <p:sp>
          <p:nvSpPr>
            <p:cNvPr id="17" name="Line 42"/>
            <p:cNvSpPr>
              <a:spLocks noChangeShapeType="1"/>
            </p:cNvSpPr>
            <p:nvPr/>
          </p:nvSpPr>
          <p:spPr bwMode="auto">
            <a:xfrm flipH="1" flipV="1">
              <a:off x="3795713" y="3379788"/>
              <a:ext cx="41275" cy="1025525"/>
            </a:xfrm>
            <a:prstGeom prst="line">
              <a:avLst/>
            </a:prstGeom>
            <a:noFill/>
            <a:ln w="9525">
              <a:solidFill>
                <a:schemeClr val="tx1"/>
              </a:solidFill>
              <a:round/>
              <a:headEnd/>
              <a:tailEnd/>
            </a:ln>
          </p:spPr>
          <p:txBody>
            <a:bodyPr wrap="none"/>
            <a:lstStyle/>
            <a:p>
              <a:endParaRPr lang="de-DE"/>
            </a:p>
          </p:txBody>
        </p:sp>
        <p:sp>
          <p:nvSpPr>
            <p:cNvPr id="18" name="Line 43"/>
            <p:cNvSpPr>
              <a:spLocks noChangeShapeType="1"/>
            </p:cNvSpPr>
            <p:nvPr/>
          </p:nvSpPr>
          <p:spPr bwMode="auto">
            <a:xfrm flipV="1">
              <a:off x="3962400" y="2895600"/>
              <a:ext cx="831850" cy="277813"/>
            </a:xfrm>
            <a:prstGeom prst="line">
              <a:avLst/>
            </a:prstGeom>
            <a:noFill/>
            <a:ln w="9525">
              <a:solidFill>
                <a:schemeClr val="tx1"/>
              </a:solidFill>
              <a:round/>
              <a:headEnd/>
              <a:tailEnd/>
            </a:ln>
          </p:spPr>
          <p:txBody>
            <a:bodyPr wrap="none"/>
            <a:lstStyle/>
            <a:p>
              <a:endParaRPr lang="de-DE"/>
            </a:p>
          </p:txBody>
        </p:sp>
        <p:sp>
          <p:nvSpPr>
            <p:cNvPr id="19" name="Text Box 44"/>
            <p:cNvSpPr txBox="1">
              <a:spLocks noChangeArrowheads="1"/>
            </p:cNvSpPr>
            <p:nvPr/>
          </p:nvSpPr>
          <p:spPr bwMode="auto">
            <a:xfrm>
              <a:off x="2260824" y="2090927"/>
              <a:ext cx="976312" cy="304800"/>
            </a:xfrm>
            <a:prstGeom prst="rect">
              <a:avLst/>
            </a:prstGeom>
            <a:noFill/>
            <a:ln w="9525">
              <a:noFill/>
              <a:miter lim="800000"/>
              <a:headEnd/>
              <a:tailEnd/>
            </a:ln>
          </p:spPr>
          <p:txBody>
            <a:bodyPr wrap="none">
              <a:spAutoFit/>
            </a:bodyPr>
            <a:lstStyle/>
            <a:p>
              <a:r>
                <a:rPr lang="en-US" sz="1400" dirty="0"/>
                <a:t>100 Mbps</a:t>
              </a:r>
            </a:p>
          </p:txBody>
        </p:sp>
        <p:sp>
          <p:nvSpPr>
            <p:cNvPr id="20" name="Text Box 45"/>
            <p:cNvSpPr txBox="1">
              <a:spLocks noChangeArrowheads="1"/>
            </p:cNvSpPr>
            <p:nvPr/>
          </p:nvSpPr>
          <p:spPr bwMode="auto">
            <a:xfrm>
              <a:off x="2038350" y="3154363"/>
              <a:ext cx="976313" cy="304800"/>
            </a:xfrm>
            <a:prstGeom prst="rect">
              <a:avLst/>
            </a:prstGeom>
            <a:noFill/>
            <a:ln w="9525">
              <a:noFill/>
              <a:miter lim="800000"/>
              <a:headEnd/>
              <a:tailEnd/>
            </a:ln>
          </p:spPr>
          <p:txBody>
            <a:bodyPr wrap="none">
              <a:spAutoFit/>
            </a:bodyPr>
            <a:lstStyle/>
            <a:p>
              <a:r>
                <a:rPr lang="en-US" sz="1400"/>
                <a:t>100 Mbps</a:t>
              </a:r>
            </a:p>
          </p:txBody>
        </p:sp>
        <p:sp>
          <p:nvSpPr>
            <p:cNvPr id="21" name="Text Box 46"/>
            <p:cNvSpPr txBox="1">
              <a:spLocks noChangeArrowheads="1"/>
            </p:cNvSpPr>
            <p:nvPr/>
          </p:nvSpPr>
          <p:spPr bwMode="auto">
            <a:xfrm>
              <a:off x="2122488" y="4164013"/>
              <a:ext cx="976312" cy="304800"/>
            </a:xfrm>
            <a:prstGeom prst="rect">
              <a:avLst/>
            </a:prstGeom>
            <a:noFill/>
            <a:ln w="9525">
              <a:noFill/>
              <a:miter lim="800000"/>
              <a:headEnd/>
              <a:tailEnd/>
            </a:ln>
          </p:spPr>
          <p:txBody>
            <a:bodyPr wrap="none">
              <a:spAutoFit/>
            </a:bodyPr>
            <a:lstStyle/>
            <a:p>
              <a:r>
                <a:rPr lang="en-US" sz="1400"/>
                <a:t>100 Mbps</a:t>
              </a:r>
            </a:p>
          </p:txBody>
        </p:sp>
        <p:sp>
          <p:nvSpPr>
            <p:cNvPr id="22" name="Text Box 47"/>
            <p:cNvSpPr txBox="1">
              <a:spLocks noChangeArrowheads="1"/>
            </p:cNvSpPr>
            <p:nvPr/>
          </p:nvSpPr>
          <p:spPr bwMode="auto">
            <a:xfrm>
              <a:off x="3772992" y="3766248"/>
              <a:ext cx="723900" cy="304800"/>
            </a:xfrm>
            <a:prstGeom prst="rect">
              <a:avLst/>
            </a:prstGeom>
            <a:noFill/>
            <a:ln w="9525">
              <a:noFill/>
              <a:miter lim="800000"/>
              <a:headEnd/>
              <a:tailEnd/>
            </a:ln>
          </p:spPr>
          <p:txBody>
            <a:bodyPr wrap="none">
              <a:spAutoFit/>
            </a:bodyPr>
            <a:lstStyle/>
            <a:p>
              <a:r>
                <a:rPr lang="en-US" sz="1400" dirty="0"/>
                <a:t>1 </a:t>
              </a:r>
              <a:r>
                <a:rPr lang="en-US" sz="1400" dirty="0" err="1"/>
                <a:t>Gbps</a:t>
              </a:r>
              <a:endParaRPr lang="en-US" sz="1400" dirty="0"/>
            </a:p>
          </p:txBody>
        </p:sp>
        <p:sp>
          <p:nvSpPr>
            <p:cNvPr id="23" name="Text Box 48"/>
            <p:cNvSpPr txBox="1">
              <a:spLocks noChangeArrowheads="1"/>
            </p:cNvSpPr>
            <p:nvPr/>
          </p:nvSpPr>
          <p:spPr bwMode="auto">
            <a:xfrm>
              <a:off x="3468688" y="4897438"/>
              <a:ext cx="722312" cy="304800"/>
            </a:xfrm>
            <a:prstGeom prst="rect">
              <a:avLst/>
            </a:prstGeom>
            <a:noFill/>
            <a:ln w="9525">
              <a:noFill/>
              <a:miter lim="800000"/>
              <a:headEnd/>
              <a:tailEnd/>
            </a:ln>
          </p:spPr>
          <p:txBody>
            <a:bodyPr wrap="none">
              <a:spAutoFit/>
            </a:bodyPr>
            <a:lstStyle/>
            <a:p>
              <a:r>
                <a:rPr lang="en-US" sz="1400" dirty="0"/>
                <a:t>Server</a:t>
              </a:r>
            </a:p>
          </p:txBody>
        </p:sp>
        <p:sp>
          <p:nvSpPr>
            <p:cNvPr id="24" name="Text Box 49"/>
            <p:cNvSpPr txBox="1">
              <a:spLocks noChangeArrowheads="1"/>
            </p:cNvSpPr>
            <p:nvPr/>
          </p:nvSpPr>
          <p:spPr bwMode="auto">
            <a:xfrm>
              <a:off x="3268936" y="2410035"/>
              <a:ext cx="1152128" cy="647869"/>
            </a:xfrm>
            <a:prstGeom prst="rect">
              <a:avLst/>
            </a:prstGeom>
            <a:noFill/>
            <a:ln w="9525">
              <a:noFill/>
              <a:miter lim="800000"/>
              <a:headEnd/>
              <a:tailEnd/>
            </a:ln>
          </p:spPr>
          <p:txBody>
            <a:bodyPr wrap="square">
              <a:spAutoFit/>
            </a:bodyPr>
            <a:lstStyle/>
            <a:p>
              <a:pPr algn="ctr"/>
              <a:r>
                <a:rPr lang="en-US" sz="1600" dirty="0"/>
                <a:t>Ethernet</a:t>
              </a:r>
            </a:p>
            <a:p>
              <a:pPr algn="ctr"/>
              <a:r>
                <a:rPr lang="en-US" sz="1600" dirty="0"/>
                <a:t>Switch</a:t>
              </a:r>
            </a:p>
          </p:txBody>
        </p:sp>
        <p:sp>
          <p:nvSpPr>
            <p:cNvPr id="25" name="Text Box 50"/>
            <p:cNvSpPr txBox="1">
              <a:spLocks noChangeArrowheads="1"/>
            </p:cNvSpPr>
            <p:nvPr/>
          </p:nvSpPr>
          <p:spPr bwMode="auto">
            <a:xfrm>
              <a:off x="4205040" y="1931372"/>
              <a:ext cx="1766829" cy="784263"/>
            </a:xfrm>
            <a:prstGeom prst="rect">
              <a:avLst/>
            </a:prstGeom>
            <a:noFill/>
            <a:ln w="9525">
              <a:noFill/>
              <a:miter lim="800000"/>
              <a:headEnd/>
              <a:tailEnd/>
            </a:ln>
          </p:spPr>
          <p:txBody>
            <a:bodyPr wrap="none">
              <a:spAutoFit/>
            </a:bodyPr>
            <a:lstStyle/>
            <a:p>
              <a:pPr algn="ctr"/>
              <a:r>
                <a:rPr lang="de-DE" sz="2000"/>
                <a:t>Institutioneller</a:t>
              </a:r>
            </a:p>
            <a:p>
              <a:pPr algn="ctr"/>
              <a:r>
                <a:rPr lang="de-DE" sz="2000"/>
                <a:t>Router</a:t>
              </a:r>
            </a:p>
          </p:txBody>
        </p:sp>
        <p:sp>
          <p:nvSpPr>
            <p:cNvPr id="26" name="Line 51"/>
            <p:cNvSpPr>
              <a:spLocks noChangeShapeType="1"/>
            </p:cNvSpPr>
            <p:nvPr/>
          </p:nvSpPr>
          <p:spPr bwMode="auto">
            <a:xfrm>
              <a:off x="5319713" y="2825750"/>
              <a:ext cx="679450" cy="0"/>
            </a:xfrm>
            <a:prstGeom prst="line">
              <a:avLst/>
            </a:prstGeom>
            <a:noFill/>
            <a:ln w="9525">
              <a:solidFill>
                <a:schemeClr val="tx1"/>
              </a:solidFill>
              <a:round/>
              <a:headEnd/>
              <a:tailEnd type="triangle" w="med" len="med"/>
            </a:ln>
          </p:spPr>
          <p:txBody>
            <a:bodyPr wrap="none"/>
            <a:lstStyle/>
            <a:p>
              <a:endParaRPr lang="de-DE"/>
            </a:p>
          </p:txBody>
        </p:sp>
        <p:sp>
          <p:nvSpPr>
            <p:cNvPr id="27" name="Text Box 52"/>
            <p:cNvSpPr txBox="1">
              <a:spLocks noChangeArrowheads="1"/>
            </p:cNvSpPr>
            <p:nvPr/>
          </p:nvSpPr>
          <p:spPr bwMode="auto">
            <a:xfrm>
              <a:off x="6077248" y="2489813"/>
              <a:ext cx="1617943" cy="784263"/>
            </a:xfrm>
            <a:prstGeom prst="rect">
              <a:avLst/>
            </a:prstGeom>
            <a:noFill/>
            <a:ln w="9525">
              <a:noFill/>
              <a:miter lim="800000"/>
              <a:headEnd/>
              <a:tailEnd/>
            </a:ln>
          </p:spPr>
          <p:txBody>
            <a:bodyPr wrap="none">
              <a:spAutoFit/>
            </a:bodyPr>
            <a:lstStyle/>
            <a:p>
              <a:r>
                <a:rPr lang="en-US" sz="2000" dirty="0" err="1"/>
                <a:t>Zum</a:t>
              </a:r>
              <a:r>
                <a:rPr lang="en-US" sz="2000" dirty="0"/>
                <a:t> ISP </a:t>
              </a:r>
              <a:r>
                <a:rPr lang="en-US" sz="2000" dirty="0" err="1"/>
                <a:t>der</a:t>
              </a:r>
              <a:endParaRPr lang="en-US" sz="2000" dirty="0"/>
            </a:p>
            <a:p>
              <a:r>
                <a:rPr lang="en-US" sz="2000" dirty="0"/>
                <a:t>Institution</a:t>
              </a:r>
            </a:p>
          </p:txBody>
        </p:sp>
      </p:grpSp>
      <p:grpSp>
        <p:nvGrpSpPr>
          <p:cNvPr id="58" name="Gruppieren 57"/>
          <p:cNvGrpSpPr/>
          <p:nvPr/>
        </p:nvGrpSpPr>
        <p:grpSpPr>
          <a:xfrm>
            <a:off x="4860032" y="2107918"/>
            <a:ext cx="281944" cy="88305"/>
            <a:chOff x="6378288" y="2764631"/>
            <a:chExt cx="686598" cy="143951"/>
          </a:xfrm>
        </p:grpSpPr>
        <p:sp>
          <p:nvSpPr>
            <p:cNvPr id="55" name="Freihandform 54"/>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7" name="Freihandform 56"/>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pSp>
        <p:nvGrpSpPr>
          <p:cNvPr id="59" name="Gruppieren 58"/>
          <p:cNvGrpSpPr/>
          <p:nvPr/>
        </p:nvGrpSpPr>
        <p:grpSpPr>
          <a:xfrm>
            <a:off x="3592206" y="2524228"/>
            <a:ext cx="209936" cy="45719"/>
            <a:chOff x="6378288" y="2764631"/>
            <a:chExt cx="686598" cy="143951"/>
          </a:xfrm>
        </p:grpSpPr>
        <p:sp>
          <p:nvSpPr>
            <p:cNvPr id="60" name="Freihandform 59"/>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1" name="Freihandform 60"/>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spTree>
    <p:extLst>
      <p:ext uri="{BB962C8B-B14F-4D97-AF65-F5344CB8AC3E}">
        <p14:creationId xmlns:p14="http://schemas.microsoft.com/office/powerpoint/2010/main" val="3342798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Drahtlose Zugänge – Lokal &amp; Weitverkehr</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59</a:t>
            </a:fld>
            <a:endParaRPr lang="en-US" noProof="0" dirty="0"/>
          </a:p>
        </p:txBody>
      </p:sp>
      <p:sp>
        <p:nvSpPr>
          <p:cNvPr id="5" name="Inhaltsplatzhalter 4"/>
          <p:cNvSpPr>
            <a:spLocks noGrp="1"/>
          </p:cNvSpPr>
          <p:nvPr>
            <p:ph sz="quarter" idx="1"/>
          </p:nvPr>
        </p:nvSpPr>
        <p:spPr>
          <a:xfrm>
            <a:off x="457200" y="1219200"/>
            <a:ext cx="5266928" cy="5638800"/>
          </a:xfrm>
        </p:spPr>
        <p:txBody>
          <a:bodyPr>
            <a:normAutofit lnSpcReduction="10000"/>
          </a:bodyPr>
          <a:lstStyle/>
          <a:p>
            <a:r>
              <a:rPr lang="de-DE" dirty="0"/>
              <a:t>Lokal: </a:t>
            </a:r>
            <a:r>
              <a:rPr lang="de-DE" b="1" dirty="0">
                <a:solidFill>
                  <a:srgbClr val="FF0000"/>
                </a:solidFill>
              </a:rPr>
              <a:t>Wireless LAN </a:t>
            </a:r>
            <a:r>
              <a:rPr lang="de-DE" dirty="0"/>
              <a:t>(W-LAN, Wi-Fi, </a:t>
            </a:r>
            <a:r>
              <a:rPr lang="de-DE" b="1" dirty="0">
                <a:solidFill>
                  <a:srgbClr val="FF0000"/>
                </a:solidFill>
              </a:rPr>
              <a:t>WLAN</a:t>
            </a:r>
            <a:r>
              <a:rPr lang="de-DE" dirty="0"/>
              <a:t>) - </a:t>
            </a:r>
            <a:r>
              <a:rPr lang="de-DE" dirty="0">
                <a:hlinkClick r:id="rId2"/>
              </a:rPr>
              <a:t>Link</a:t>
            </a:r>
            <a:endParaRPr lang="de-DE" dirty="0"/>
          </a:p>
          <a:p>
            <a:pPr lvl="1"/>
            <a:r>
              <a:rPr lang="de-DE" dirty="0"/>
              <a:t>Kommunikation (bis 100m) mit einer </a:t>
            </a:r>
            <a:r>
              <a:rPr lang="de-DE" b="1" dirty="0">
                <a:solidFill>
                  <a:srgbClr val="FF0000"/>
                </a:solidFill>
              </a:rPr>
              <a:t>Basisstation</a:t>
            </a:r>
            <a:r>
              <a:rPr lang="de-DE" dirty="0"/>
              <a:t>, die mit dem Internet verbunden ist</a:t>
            </a:r>
          </a:p>
          <a:p>
            <a:pPr lvl="1"/>
            <a:r>
              <a:rPr lang="de-DE" dirty="0"/>
              <a:t>Standards der </a:t>
            </a:r>
            <a:r>
              <a:rPr lang="de-DE" dirty="0">
                <a:hlinkClick r:id="rId3" tooltip="IEEE 802.11"/>
              </a:rPr>
              <a:t>IEEE-802.11</a:t>
            </a:r>
            <a:r>
              <a:rPr lang="de-DE" dirty="0"/>
              <a:t>-Familie</a:t>
            </a:r>
          </a:p>
          <a:p>
            <a:r>
              <a:rPr lang="de-DE" b="1" dirty="0">
                <a:solidFill>
                  <a:srgbClr val="FF0000"/>
                </a:solidFill>
              </a:rPr>
              <a:t>Wireless Wide Area Network </a:t>
            </a:r>
            <a:r>
              <a:rPr lang="de-DE" dirty="0"/>
              <a:t>(</a:t>
            </a:r>
            <a:r>
              <a:rPr lang="de-DE" b="1" dirty="0">
                <a:solidFill>
                  <a:srgbClr val="FF0000"/>
                </a:solidFill>
              </a:rPr>
              <a:t>WWAN</a:t>
            </a:r>
            <a:r>
              <a:rPr lang="de-DE" dirty="0"/>
              <a:t>, </a:t>
            </a:r>
            <a:r>
              <a:rPr lang="de-DE" u="sng" dirty="0"/>
              <a:t>Weit</a:t>
            </a:r>
            <a:r>
              <a:rPr lang="de-DE" dirty="0"/>
              <a:t>verkehrsfunknetz)</a:t>
            </a:r>
          </a:p>
          <a:p>
            <a:pPr lvl="1"/>
            <a:r>
              <a:rPr lang="de-DE" dirty="0"/>
              <a:t>Funknetze: </a:t>
            </a:r>
            <a:r>
              <a:rPr lang="de-DE" dirty="0">
                <a:hlinkClick r:id="rId4" tooltip="Global System for Mobile Communications"/>
              </a:rPr>
              <a:t>GSM</a:t>
            </a:r>
            <a:r>
              <a:rPr lang="de-DE" dirty="0"/>
              <a:t>, </a:t>
            </a:r>
            <a:r>
              <a:rPr lang="de-DE" dirty="0">
                <a:hlinkClick r:id="rId5" tooltip="Universal Mobile Telecommunications System"/>
              </a:rPr>
              <a:t>UMTS</a:t>
            </a:r>
            <a:r>
              <a:rPr lang="de-DE" dirty="0"/>
              <a:t>, </a:t>
            </a:r>
            <a:r>
              <a:rPr lang="de-DE" dirty="0">
                <a:hlinkClick r:id="rId6"/>
              </a:rPr>
              <a:t>LTE</a:t>
            </a:r>
            <a:r>
              <a:rPr lang="de-DE" dirty="0"/>
              <a:t>; </a:t>
            </a:r>
            <a:r>
              <a:rPr lang="de-DE" dirty="0">
                <a:hlinkClick r:id="rId7" tooltip="WiMAX"/>
              </a:rPr>
              <a:t>WiMAX</a:t>
            </a:r>
            <a:r>
              <a:rPr lang="de-DE" dirty="0"/>
              <a:t> – IEEE 802.16</a:t>
            </a:r>
          </a:p>
          <a:p>
            <a:pPr lvl="1"/>
            <a:r>
              <a:rPr lang="de-DE" dirty="0"/>
              <a:t>Benutzt dieselbe Infrastruktur wie Mobiltelefone (nicht WiMAX)</a:t>
            </a:r>
          </a:p>
          <a:p>
            <a:pPr lvl="1"/>
            <a:r>
              <a:rPr lang="de-DE" dirty="0"/>
              <a:t>Die Basisstationen gehören den Mobilfunknetz-Betreibern</a:t>
            </a:r>
          </a:p>
        </p:txBody>
      </p:sp>
      <p:grpSp>
        <p:nvGrpSpPr>
          <p:cNvPr id="7" name="Group 5"/>
          <p:cNvGrpSpPr>
            <a:grpSpLocks/>
          </p:cNvGrpSpPr>
          <p:nvPr/>
        </p:nvGrpSpPr>
        <p:grpSpPr bwMode="auto">
          <a:xfrm>
            <a:off x="6152604" y="4738861"/>
            <a:ext cx="622300" cy="793750"/>
            <a:chOff x="3908" y="2375"/>
            <a:chExt cx="392" cy="500"/>
          </a:xfrm>
        </p:grpSpPr>
        <p:graphicFrame>
          <p:nvGraphicFramePr>
            <p:cNvPr id="8" name="Object 6"/>
            <p:cNvGraphicFramePr>
              <a:graphicFrameLocks noChangeAspect="1"/>
            </p:cNvGraphicFramePr>
            <p:nvPr/>
          </p:nvGraphicFramePr>
          <p:xfrm>
            <a:off x="3908" y="2375"/>
            <a:ext cx="366" cy="441"/>
          </p:xfrm>
          <a:graphic>
            <a:graphicData uri="http://schemas.openxmlformats.org/presentationml/2006/ole">
              <mc:AlternateContent xmlns:mc="http://schemas.openxmlformats.org/markup-compatibility/2006">
                <mc:Choice xmlns:v="urn:schemas-microsoft-com:vml" Requires="v">
                  <p:oleObj name="Clip" r:id="rId8" imgW="826829" imgH="840406" progId="">
                    <p:embed/>
                  </p:oleObj>
                </mc:Choice>
                <mc:Fallback>
                  <p:oleObj name="Clip" r:id="rId8" imgW="826829" imgH="840406" progId="">
                    <p:embed/>
                    <p:pic>
                      <p:nvPicPr>
                        <p:cNvPr id="8"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08" y="2375"/>
                          <a:ext cx="366" cy="441"/>
                        </a:xfrm>
                        <a:prstGeom prst="rect">
                          <a:avLst/>
                        </a:prstGeom>
                        <a:noFill/>
                        <a:extLst>
                          <a:ext uri="{909E8E84-426E-40DD-AFC4-6F175D3DCCD1}">
                            <a14:hiddenFill xmlns:a14="http://schemas.microsoft.com/office/drawing/2010/main">
                              <a:solidFill>
                                <a:srgbClr val="FF0000"/>
                              </a:solidFill>
                            </a14:hiddenFill>
                          </a:ext>
                        </a:extLst>
                      </p:spPr>
                    </p:pic>
                  </p:oleObj>
                </mc:Fallback>
              </mc:AlternateContent>
            </a:graphicData>
          </a:graphic>
        </p:graphicFrame>
        <p:graphicFrame>
          <p:nvGraphicFramePr>
            <p:cNvPr id="9" name="Object 7"/>
            <p:cNvGraphicFramePr>
              <a:graphicFrameLocks noChangeAspect="1"/>
            </p:cNvGraphicFramePr>
            <p:nvPr/>
          </p:nvGraphicFramePr>
          <p:xfrm>
            <a:off x="3966" y="2506"/>
            <a:ext cx="334" cy="369"/>
          </p:xfrm>
          <a:graphic>
            <a:graphicData uri="http://schemas.openxmlformats.org/presentationml/2006/ole">
              <mc:AlternateContent xmlns:mc="http://schemas.openxmlformats.org/markup-compatibility/2006">
                <mc:Choice xmlns:v="urn:schemas-microsoft-com:vml" Requires="v">
                  <p:oleObj name="Clip" r:id="rId10" imgW="1268295" imgH="1199426" progId="">
                    <p:embed/>
                  </p:oleObj>
                </mc:Choice>
                <mc:Fallback>
                  <p:oleObj name="Clip" r:id="rId10" imgW="1268295" imgH="1199426" progId="">
                    <p:embed/>
                    <p:pic>
                      <p:nvPicPr>
                        <p:cNvPr id="9"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6" y="2506"/>
                          <a:ext cx="334" cy="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Group 8"/>
          <p:cNvGrpSpPr>
            <a:grpSpLocks/>
          </p:cNvGrpSpPr>
          <p:nvPr/>
        </p:nvGrpSpPr>
        <p:grpSpPr bwMode="auto">
          <a:xfrm>
            <a:off x="7308304" y="4653136"/>
            <a:ext cx="622300" cy="793750"/>
            <a:chOff x="2870" y="1518"/>
            <a:chExt cx="292" cy="320"/>
          </a:xfrm>
        </p:grpSpPr>
        <p:graphicFrame>
          <p:nvGraphicFramePr>
            <p:cNvPr id="11" name="Object 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2" imgW="826829" imgH="840406" progId="">
                    <p:embed/>
                  </p:oleObj>
                </mc:Choice>
                <mc:Fallback>
                  <p:oleObj name="Clip" r:id="rId12" imgW="826829" imgH="840406" progId="">
                    <p:embed/>
                    <p:pic>
                      <p:nvPicPr>
                        <p:cNvPr id="11"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3" imgW="1268295" imgH="1199426" progId="">
                    <p:embed/>
                  </p:oleObj>
                </mc:Choice>
                <mc:Fallback>
                  <p:oleObj name="Clip" r:id="rId13" imgW="1268295" imgH="1199426" progId="">
                    <p:embed/>
                    <p:pic>
                      <p:nvPicPr>
                        <p:cNvPr id="12"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3" name="Oval 15"/>
          <p:cNvSpPr>
            <a:spLocks noChangeArrowheads="1"/>
          </p:cNvSpPr>
          <p:nvPr/>
        </p:nvSpPr>
        <p:spPr bwMode="auto">
          <a:xfrm>
            <a:off x="6427241" y="3078336"/>
            <a:ext cx="760413" cy="239713"/>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4" name="Line 16"/>
          <p:cNvSpPr>
            <a:spLocks noChangeShapeType="1"/>
          </p:cNvSpPr>
          <p:nvPr/>
        </p:nvSpPr>
        <p:spPr bwMode="auto">
          <a:xfrm>
            <a:off x="6427241" y="3057699"/>
            <a:ext cx="0" cy="149225"/>
          </a:xfrm>
          <a:prstGeom prst="line">
            <a:avLst/>
          </a:prstGeom>
          <a:noFill/>
          <a:ln w="12700">
            <a:solidFill>
              <a:schemeClr val="tx1"/>
            </a:solidFill>
            <a:round/>
            <a:headEnd/>
            <a:tailEnd/>
          </a:ln>
        </p:spPr>
        <p:txBody>
          <a:bodyPr wrap="none" anchor="ctr"/>
          <a:lstStyle/>
          <a:p>
            <a:endParaRPr lang="de-DE"/>
          </a:p>
        </p:txBody>
      </p:sp>
      <p:sp>
        <p:nvSpPr>
          <p:cNvPr id="15" name="Line 17"/>
          <p:cNvSpPr>
            <a:spLocks noChangeShapeType="1"/>
          </p:cNvSpPr>
          <p:nvPr/>
        </p:nvSpPr>
        <p:spPr bwMode="auto">
          <a:xfrm>
            <a:off x="7187654" y="3057699"/>
            <a:ext cx="0" cy="149225"/>
          </a:xfrm>
          <a:prstGeom prst="line">
            <a:avLst/>
          </a:prstGeom>
          <a:noFill/>
          <a:ln w="12700">
            <a:solidFill>
              <a:schemeClr val="tx1"/>
            </a:solidFill>
            <a:round/>
            <a:headEnd/>
            <a:tailEnd/>
          </a:ln>
        </p:spPr>
        <p:txBody>
          <a:bodyPr wrap="none" anchor="ctr"/>
          <a:lstStyle/>
          <a:p>
            <a:endParaRPr lang="de-DE"/>
          </a:p>
        </p:txBody>
      </p:sp>
      <p:sp>
        <p:nvSpPr>
          <p:cNvPr id="16" name="Rectangle 18"/>
          <p:cNvSpPr>
            <a:spLocks noChangeArrowheads="1"/>
          </p:cNvSpPr>
          <p:nvPr/>
        </p:nvSpPr>
        <p:spPr bwMode="auto">
          <a:xfrm>
            <a:off x="6427241" y="3057699"/>
            <a:ext cx="754063" cy="146050"/>
          </a:xfrm>
          <a:prstGeom prst="rect">
            <a:avLst/>
          </a:prstGeom>
          <a:solidFill>
            <a:schemeClr val="hlink"/>
          </a:solidFill>
          <a:ln w="12700">
            <a:noFill/>
            <a:miter lim="800000"/>
            <a:headEnd/>
            <a:tailEnd/>
          </a:ln>
        </p:spPr>
        <p:txBody>
          <a:bodyPr wrap="none" anchor="ctr"/>
          <a:lstStyle/>
          <a:p>
            <a:pPr algn="ctr"/>
            <a:endParaRPr lang="de-DE"/>
          </a:p>
        </p:txBody>
      </p:sp>
      <p:sp>
        <p:nvSpPr>
          <p:cNvPr id="17" name="Oval 19"/>
          <p:cNvSpPr>
            <a:spLocks noChangeArrowheads="1"/>
          </p:cNvSpPr>
          <p:nvPr/>
        </p:nvSpPr>
        <p:spPr bwMode="auto">
          <a:xfrm>
            <a:off x="6420891" y="2884661"/>
            <a:ext cx="760413" cy="279400"/>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8" name="Group 20"/>
          <p:cNvGrpSpPr>
            <a:grpSpLocks/>
          </p:cNvGrpSpPr>
          <p:nvPr/>
        </p:nvGrpSpPr>
        <p:grpSpPr bwMode="auto">
          <a:xfrm>
            <a:off x="6603454" y="2946574"/>
            <a:ext cx="377825" cy="163512"/>
            <a:chOff x="2848" y="848"/>
            <a:chExt cx="140" cy="98"/>
          </a:xfrm>
        </p:grpSpPr>
        <p:sp>
          <p:nvSpPr>
            <p:cNvPr id="19" name="Line 2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 name="Line 2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1" name="Line 2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2" name="Group 24"/>
          <p:cNvGrpSpPr>
            <a:grpSpLocks/>
          </p:cNvGrpSpPr>
          <p:nvPr/>
        </p:nvGrpSpPr>
        <p:grpSpPr bwMode="auto">
          <a:xfrm flipV="1">
            <a:off x="6603454" y="2943399"/>
            <a:ext cx="377825" cy="163512"/>
            <a:chOff x="2848" y="848"/>
            <a:chExt cx="140" cy="98"/>
          </a:xfrm>
        </p:grpSpPr>
        <p:sp>
          <p:nvSpPr>
            <p:cNvPr id="23" name="Line 2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4" name="Line 2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 name="Line 2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sp>
        <p:nvSpPr>
          <p:cNvPr id="26" name="Line 28"/>
          <p:cNvSpPr>
            <a:spLocks noChangeShapeType="1"/>
          </p:cNvSpPr>
          <p:nvPr/>
        </p:nvSpPr>
        <p:spPr bwMode="auto">
          <a:xfrm flipV="1">
            <a:off x="6817766" y="3310111"/>
            <a:ext cx="0" cy="428625"/>
          </a:xfrm>
          <a:prstGeom prst="line">
            <a:avLst/>
          </a:prstGeom>
          <a:noFill/>
          <a:ln w="9525">
            <a:solidFill>
              <a:schemeClr val="tx1"/>
            </a:solidFill>
            <a:round/>
            <a:headEnd/>
            <a:tailEnd/>
          </a:ln>
        </p:spPr>
        <p:txBody>
          <a:bodyPr wrap="none" anchor="ctr"/>
          <a:lstStyle/>
          <a:p>
            <a:endParaRPr lang="de-DE"/>
          </a:p>
        </p:txBody>
      </p:sp>
      <p:grpSp>
        <p:nvGrpSpPr>
          <p:cNvPr id="27" name="Group 29"/>
          <p:cNvGrpSpPr>
            <a:grpSpLocks/>
          </p:cNvGrpSpPr>
          <p:nvPr/>
        </p:nvGrpSpPr>
        <p:grpSpPr bwMode="auto">
          <a:xfrm>
            <a:off x="7552779" y="3049761"/>
            <a:ext cx="622300" cy="793750"/>
            <a:chOff x="2870" y="1518"/>
            <a:chExt cx="292" cy="320"/>
          </a:xfrm>
        </p:grpSpPr>
        <p:graphicFrame>
          <p:nvGraphicFramePr>
            <p:cNvPr id="28" name="Object 3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4" imgW="826829" imgH="840406" progId="">
                    <p:embed/>
                  </p:oleObj>
                </mc:Choice>
                <mc:Fallback>
                  <p:oleObj name="Clip" r:id="rId14" imgW="826829" imgH="840406" progId="">
                    <p:embed/>
                    <p:pic>
                      <p:nvPicPr>
                        <p:cNvPr id="28"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3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5" imgW="1268295" imgH="1199426" progId="">
                    <p:embed/>
                  </p:oleObj>
                </mc:Choice>
                <mc:Fallback>
                  <p:oleObj name="Clip" r:id="rId15" imgW="1268295" imgH="1199426" progId="">
                    <p:embed/>
                    <p:pic>
                      <p:nvPicPr>
                        <p:cNvPr id="29"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0" name="Group 32"/>
          <p:cNvGrpSpPr>
            <a:grpSpLocks/>
          </p:cNvGrpSpPr>
          <p:nvPr/>
        </p:nvGrpSpPr>
        <p:grpSpPr bwMode="auto">
          <a:xfrm>
            <a:off x="8002041" y="4111799"/>
            <a:ext cx="622300" cy="793750"/>
            <a:chOff x="2870" y="1518"/>
            <a:chExt cx="292" cy="320"/>
          </a:xfrm>
        </p:grpSpPr>
        <p:graphicFrame>
          <p:nvGraphicFramePr>
            <p:cNvPr id="31" name="Object 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6" imgW="826829" imgH="840406" progId="">
                    <p:embed/>
                  </p:oleObj>
                </mc:Choice>
                <mc:Fallback>
                  <p:oleObj name="Clip" r:id="rId16" imgW="826829" imgH="840406" progId="">
                    <p:embed/>
                    <p:pic>
                      <p:nvPicPr>
                        <p:cNvPr id="31"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
                    <p:embed/>
                  </p:oleObj>
                </mc:Choice>
                <mc:Fallback>
                  <p:oleObj name="Clip" r:id="rId17" imgW="1268295" imgH="1199426" progId="">
                    <p:embed/>
                    <p:pic>
                      <p:nvPicPr>
                        <p:cNvPr id="32"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3" name="Text Box 35"/>
          <p:cNvSpPr txBox="1">
            <a:spLocks noChangeArrowheads="1"/>
          </p:cNvSpPr>
          <p:nvPr/>
        </p:nvSpPr>
        <p:spPr bwMode="auto">
          <a:xfrm>
            <a:off x="5583446" y="3645024"/>
            <a:ext cx="864339" cy="646331"/>
          </a:xfrm>
          <a:prstGeom prst="rect">
            <a:avLst/>
          </a:prstGeom>
          <a:noFill/>
          <a:ln w="9525">
            <a:noFill/>
            <a:miter lim="800000"/>
            <a:headEnd/>
            <a:tailEnd/>
          </a:ln>
        </p:spPr>
        <p:txBody>
          <a:bodyPr wrap="none">
            <a:spAutoFit/>
          </a:bodyPr>
          <a:lstStyle/>
          <a:p>
            <a:pPr algn="r"/>
            <a:r>
              <a:rPr lang="en-US" dirty="0"/>
              <a:t>Basis-</a:t>
            </a:r>
          </a:p>
          <a:p>
            <a:pPr algn="r"/>
            <a:r>
              <a:rPr lang="en-US" dirty="0"/>
              <a:t>station</a:t>
            </a:r>
          </a:p>
        </p:txBody>
      </p:sp>
      <p:sp>
        <p:nvSpPr>
          <p:cNvPr id="34" name="Text Box 36"/>
          <p:cNvSpPr txBox="1">
            <a:spLocks noChangeArrowheads="1"/>
          </p:cNvSpPr>
          <p:nvPr/>
        </p:nvSpPr>
        <p:spPr bwMode="auto">
          <a:xfrm>
            <a:off x="7601252" y="5558011"/>
            <a:ext cx="864339" cy="646331"/>
          </a:xfrm>
          <a:prstGeom prst="rect">
            <a:avLst/>
          </a:prstGeom>
          <a:noFill/>
          <a:ln w="9525">
            <a:noFill/>
            <a:miter lim="800000"/>
            <a:headEnd/>
            <a:tailEnd/>
          </a:ln>
        </p:spPr>
        <p:txBody>
          <a:bodyPr wrap="none">
            <a:spAutoFit/>
          </a:bodyPr>
          <a:lstStyle/>
          <a:p>
            <a:pPr algn="r"/>
            <a:r>
              <a:rPr lang="en-US" dirty="0"/>
              <a:t>Mobile</a:t>
            </a:r>
          </a:p>
          <a:p>
            <a:pPr algn="r"/>
            <a:r>
              <a:rPr lang="en-US" dirty="0"/>
              <a:t>Hosts</a:t>
            </a:r>
          </a:p>
        </p:txBody>
      </p:sp>
      <p:sp>
        <p:nvSpPr>
          <p:cNvPr id="35" name="Line 37"/>
          <p:cNvSpPr>
            <a:spLocks noChangeShapeType="1"/>
          </p:cNvSpPr>
          <p:nvPr/>
        </p:nvSpPr>
        <p:spPr bwMode="auto">
          <a:xfrm flipV="1">
            <a:off x="6760616" y="2433811"/>
            <a:ext cx="0" cy="428625"/>
          </a:xfrm>
          <a:prstGeom prst="line">
            <a:avLst/>
          </a:prstGeom>
          <a:noFill/>
          <a:ln w="9525">
            <a:solidFill>
              <a:schemeClr val="tx1"/>
            </a:solidFill>
            <a:round/>
            <a:headEnd/>
            <a:tailEnd/>
          </a:ln>
        </p:spPr>
        <p:txBody>
          <a:bodyPr wrap="none" anchor="ctr"/>
          <a:lstStyle/>
          <a:p>
            <a:endParaRPr lang="de-DE"/>
          </a:p>
        </p:txBody>
      </p:sp>
      <p:sp>
        <p:nvSpPr>
          <p:cNvPr id="36" name="Text Box 38"/>
          <p:cNvSpPr txBox="1">
            <a:spLocks noChangeArrowheads="1"/>
          </p:cNvSpPr>
          <p:nvPr/>
        </p:nvSpPr>
        <p:spPr bwMode="auto">
          <a:xfrm>
            <a:off x="5569128" y="2852911"/>
            <a:ext cx="877163" cy="369332"/>
          </a:xfrm>
          <a:prstGeom prst="rect">
            <a:avLst/>
          </a:prstGeom>
          <a:noFill/>
          <a:ln w="9525">
            <a:noFill/>
            <a:miter lim="800000"/>
            <a:headEnd/>
            <a:tailEnd/>
          </a:ln>
        </p:spPr>
        <p:txBody>
          <a:bodyPr wrap="none">
            <a:spAutoFit/>
          </a:bodyPr>
          <a:lstStyle/>
          <a:p>
            <a:pPr algn="r"/>
            <a:r>
              <a:rPr lang="en-US" dirty="0"/>
              <a:t>Router</a:t>
            </a:r>
          </a:p>
        </p:txBody>
      </p:sp>
      <p:grpSp>
        <p:nvGrpSpPr>
          <p:cNvPr id="37" name="Group 104"/>
          <p:cNvGrpSpPr>
            <a:grpSpLocks/>
          </p:cNvGrpSpPr>
          <p:nvPr/>
        </p:nvGrpSpPr>
        <p:grpSpPr bwMode="auto">
          <a:xfrm>
            <a:off x="6376441" y="3408536"/>
            <a:ext cx="681038" cy="820738"/>
            <a:chOff x="3221" y="3127"/>
            <a:chExt cx="429" cy="517"/>
          </a:xfrm>
        </p:grpSpPr>
        <p:sp>
          <p:nvSpPr>
            <p:cNvPr id="38" name="Freeform 66"/>
            <p:cNvSpPr>
              <a:spLocks/>
            </p:cNvSpPr>
            <p:nvPr/>
          </p:nvSpPr>
          <p:spPr bwMode="auto">
            <a:xfrm>
              <a:off x="3336" y="3156"/>
              <a:ext cx="77" cy="85"/>
            </a:xfrm>
            <a:custGeom>
              <a:avLst/>
              <a:gdLst>
                <a:gd name="T0" fmla="*/ 27 w 199"/>
                <a:gd name="T1" fmla="*/ 11 h 232"/>
                <a:gd name="T2" fmla="*/ 21 w 199"/>
                <a:gd name="T3" fmla="*/ 14 h 232"/>
                <a:gd name="T4" fmla="*/ 16 w 199"/>
                <a:gd name="T5" fmla="*/ 18 h 232"/>
                <a:gd name="T6" fmla="*/ 12 w 199"/>
                <a:gd name="T7" fmla="*/ 23 h 232"/>
                <a:gd name="T8" fmla="*/ 8 w 199"/>
                <a:gd name="T9" fmla="*/ 28 h 232"/>
                <a:gd name="T10" fmla="*/ 5 w 199"/>
                <a:gd name="T11" fmla="*/ 33 h 232"/>
                <a:gd name="T12" fmla="*/ 2 w 199"/>
                <a:gd name="T13" fmla="*/ 40 h 232"/>
                <a:gd name="T14" fmla="*/ 1 w 199"/>
                <a:gd name="T15" fmla="*/ 46 h 232"/>
                <a:gd name="T16" fmla="*/ 0 w 199"/>
                <a:gd name="T17" fmla="*/ 52 h 232"/>
                <a:gd name="T18" fmla="*/ 1 w 199"/>
                <a:gd name="T19" fmla="*/ 61 h 232"/>
                <a:gd name="T20" fmla="*/ 5 w 199"/>
                <a:gd name="T21" fmla="*/ 68 h 232"/>
                <a:gd name="T22" fmla="*/ 10 w 199"/>
                <a:gd name="T23" fmla="*/ 74 h 232"/>
                <a:gd name="T24" fmla="*/ 17 w 199"/>
                <a:gd name="T25" fmla="*/ 79 h 232"/>
                <a:gd name="T26" fmla="*/ 26 w 199"/>
                <a:gd name="T27" fmla="*/ 83 h 232"/>
                <a:gd name="T28" fmla="*/ 34 w 199"/>
                <a:gd name="T29" fmla="*/ 84 h 232"/>
                <a:gd name="T30" fmla="*/ 43 w 199"/>
                <a:gd name="T31" fmla="*/ 85 h 232"/>
                <a:gd name="T32" fmla="*/ 52 w 199"/>
                <a:gd name="T33" fmla="*/ 84 h 232"/>
                <a:gd name="T34" fmla="*/ 53 w 199"/>
                <a:gd name="T35" fmla="*/ 84 h 232"/>
                <a:gd name="T36" fmla="*/ 55 w 199"/>
                <a:gd name="T37" fmla="*/ 83 h 232"/>
                <a:gd name="T38" fmla="*/ 57 w 199"/>
                <a:gd name="T39" fmla="*/ 81 h 232"/>
                <a:gd name="T40" fmla="*/ 57 w 199"/>
                <a:gd name="T41" fmla="*/ 80 h 232"/>
                <a:gd name="T42" fmla="*/ 56 w 199"/>
                <a:gd name="T43" fmla="*/ 78 h 232"/>
                <a:gd name="T44" fmla="*/ 55 w 199"/>
                <a:gd name="T45" fmla="*/ 76 h 232"/>
                <a:gd name="T46" fmla="*/ 52 w 199"/>
                <a:gd name="T47" fmla="*/ 74 h 232"/>
                <a:gd name="T48" fmla="*/ 50 w 199"/>
                <a:gd name="T49" fmla="*/ 74 h 232"/>
                <a:gd name="T50" fmla="*/ 45 w 199"/>
                <a:gd name="T51" fmla="*/ 72 h 232"/>
                <a:gd name="T52" fmla="*/ 41 w 199"/>
                <a:gd name="T53" fmla="*/ 71 h 232"/>
                <a:gd name="T54" fmla="*/ 36 w 199"/>
                <a:gd name="T55" fmla="*/ 71 h 232"/>
                <a:gd name="T56" fmla="*/ 32 w 199"/>
                <a:gd name="T57" fmla="*/ 70 h 232"/>
                <a:gd name="T58" fmla="*/ 28 w 199"/>
                <a:gd name="T59" fmla="*/ 69 h 232"/>
                <a:gd name="T60" fmla="*/ 24 w 199"/>
                <a:gd name="T61" fmla="*/ 67 h 232"/>
                <a:gd name="T62" fmla="*/ 21 w 199"/>
                <a:gd name="T63" fmla="*/ 64 h 232"/>
                <a:gd name="T64" fmla="*/ 17 w 199"/>
                <a:gd name="T65" fmla="*/ 61 h 232"/>
                <a:gd name="T66" fmla="*/ 15 w 199"/>
                <a:gd name="T67" fmla="*/ 47 h 232"/>
                <a:gd name="T68" fmla="*/ 19 w 199"/>
                <a:gd name="T69" fmla="*/ 35 h 232"/>
                <a:gd name="T70" fmla="*/ 26 w 199"/>
                <a:gd name="T71" fmla="*/ 26 h 232"/>
                <a:gd name="T72" fmla="*/ 36 w 199"/>
                <a:gd name="T73" fmla="*/ 18 h 232"/>
                <a:gd name="T74" fmla="*/ 47 w 199"/>
                <a:gd name="T75" fmla="*/ 12 h 232"/>
                <a:gd name="T76" fmla="*/ 58 w 199"/>
                <a:gd name="T77" fmla="*/ 8 h 232"/>
                <a:gd name="T78" fmla="*/ 69 w 199"/>
                <a:gd name="T79" fmla="*/ 4 h 232"/>
                <a:gd name="T80" fmla="*/ 77 w 199"/>
                <a:gd name="T81" fmla="*/ 1 h 232"/>
                <a:gd name="T82" fmla="*/ 72 w 199"/>
                <a:gd name="T83" fmla="*/ 0 h 232"/>
                <a:gd name="T84" fmla="*/ 67 w 199"/>
                <a:gd name="T85" fmla="*/ 0 h 232"/>
                <a:gd name="T86" fmla="*/ 60 w 199"/>
                <a:gd name="T87" fmla="*/ 1 h 232"/>
                <a:gd name="T88" fmla="*/ 53 w 199"/>
                <a:gd name="T89" fmla="*/ 1 h 232"/>
                <a:gd name="T90" fmla="*/ 47 w 199"/>
                <a:gd name="T91" fmla="*/ 4 h 232"/>
                <a:gd name="T92" fmla="*/ 40 w 199"/>
                <a:gd name="T93" fmla="*/ 6 h 232"/>
                <a:gd name="T94" fmla="*/ 33 w 199"/>
                <a:gd name="T95" fmla="*/ 8 h 232"/>
                <a:gd name="T96" fmla="*/ 27 w 199"/>
                <a:gd name="T97" fmla="*/ 11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39" name="Freeform 67"/>
            <p:cNvSpPr>
              <a:spLocks/>
            </p:cNvSpPr>
            <p:nvPr/>
          </p:nvSpPr>
          <p:spPr bwMode="auto">
            <a:xfrm>
              <a:off x="3467" y="3153"/>
              <a:ext cx="52" cy="66"/>
            </a:xfrm>
            <a:custGeom>
              <a:avLst/>
              <a:gdLst>
                <a:gd name="T0" fmla="*/ 44 w 128"/>
                <a:gd name="T1" fmla="*/ 22 h 180"/>
                <a:gd name="T2" fmla="*/ 46 w 128"/>
                <a:gd name="T3" fmla="*/ 28 h 180"/>
                <a:gd name="T4" fmla="*/ 45 w 128"/>
                <a:gd name="T5" fmla="*/ 34 h 180"/>
                <a:gd name="T6" fmla="*/ 42 w 128"/>
                <a:gd name="T7" fmla="*/ 40 h 180"/>
                <a:gd name="T8" fmla="*/ 37 w 128"/>
                <a:gd name="T9" fmla="*/ 44 h 180"/>
                <a:gd name="T10" fmla="*/ 31 w 128"/>
                <a:gd name="T11" fmla="*/ 48 h 180"/>
                <a:gd name="T12" fmla="*/ 25 w 128"/>
                <a:gd name="T13" fmla="*/ 53 h 180"/>
                <a:gd name="T14" fmla="*/ 18 w 128"/>
                <a:gd name="T15" fmla="*/ 56 h 180"/>
                <a:gd name="T16" fmla="*/ 12 w 128"/>
                <a:gd name="T17" fmla="*/ 60 h 180"/>
                <a:gd name="T18" fmla="*/ 11 w 128"/>
                <a:gd name="T19" fmla="*/ 62 h 180"/>
                <a:gd name="T20" fmla="*/ 11 w 128"/>
                <a:gd name="T21" fmla="*/ 62 h 180"/>
                <a:gd name="T22" fmla="*/ 11 w 128"/>
                <a:gd name="T23" fmla="*/ 64 h 180"/>
                <a:gd name="T24" fmla="*/ 11 w 128"/>
                <a:gd name="T25" fmla="*/ 65 h 180"/>
                <a:gd name="T26" fmla="*/ 13 w 128"/>
                <a:gd name="T27" fmla="*/ 66 h 180"/>
                <a:gd name="T28" fmla="*/ 14 w 128"/>
                <a:gd name="T29" fmla="*/ 66 h 180"/>
                <a:gd name="T30" fmla="*/ 15 w 128"/>
                <a:gd name="T31" fmla="*/ 66 h 180"/>
                <a:gd name="T32" fmla="*/ 17 w 128"/>
                <a:gd name="T33" fmla="*/ 66 h 180"/>
                <a:gd name="T34" fmla="*/ 24 w 128"/>
                <a:gd name="T35" fmla="*/ 62 h 180"/>
                <a:gd name="T36" fmla="*/ 31 w 128"/>
                <a:gd name="T37" fmla="*/ 58 h 180"/>
                <a:gd name="T38" fmla="*/ 38 w 128"/>
                <a:gd name="T39" fmla="*/ 53 h 180"/>
                <a:gd name="T40" fmla="*/ 44 w 128"/>
                <a:gd name="T41" fmla="*/ 48 h 180"/>
                <a:gd name="T42" fmla="*/ 49 w 128"/>
                <a:gd name="T43" fmla="*/ 42 h 180"/>
                <a:gd name="T44" fmla="*/ 52 w 128"/>
                <a:gd name="T45" fmla="*/ 35 h 180"/>
                <a:gd name="T46" fmla="*/ 52 w 128"/>
                <a:gd name="T47" fmla="*/ 28 h 180"/>
                <a:gd name="T48" fmla="*/ 50 w 128"/>
                <a:gd name="T49" fmla="*/ 20 h 180"/>
                <a:gd name="T50" fmla="*/ 46 w 128"/>
                <a:gd name="T51" fmla="*/ 14 h 180"/>
                <a:gd name="T52" fmla="*/ 39 w 128"/>
                <a:gd name="T53" fmla="*/ 9 h 180"/>
                <a:gd name="T54" fmla="*/ 32 w 128"/>
                <a:gd name="T55" fmla="*/ 5 h 180"/>
                <a:gd name="T56" fmla="*/ 23 w 128"/>
                <a:gd name="T57" fmla="*/ 3 h 180"/>
                <a:gd name="T58" fmla="*/ 15 w 128"/>
                <a:gd name="T59" fmla="*/ 1 h 180"/>
                <a:gd name="T60" fmla="*/ 8 w 128"/>
                <a:gd name="T61" fmla="*/ 0 h 180"/>
                <a:gd name="T62" fmla="*/ 2 w 128"/>
                <a:gd name="T63" fmla="*/ 0 h 180"/>
                <a:gd name="T64" fmla="*/ 0 w 128"/>
                <a:gd name="T65" fmla="*/ 1 h 180"/>
                <a:gd name="T66" fmla="*/ 6 w 128"/>
                <a:gd name="T67" fmla="*/ 3 h 180"/>
                <a:gd name="T68" fmla="*/ 12 w 128"/>
                <a:gd name="T69" fmla="*/ 5 h 180"/>
                <a:gd name="T70" fmla="*/ 19 w 128"/>
                <a:gd name="T71" fmla="*/ 7 h 180"/>
                <a:gd name="T72" fmla="*/ 25 w 128"/>
                <a:gd name="T73" fmla="*/ 8 h 180"/>
                <a:gd name="T74" fmla="*/ 31 w 128"/>
                <a:gd name="T75" fmla="*/ 11 h 180"/>
                <a:gd name="T76" fmla="*/ 36 w 128"/>
                <a:gd name="T77" fmla="*/ 14 h 180"/>
                <a:gd name="T78" fmla="*/ 41 w 128"/>
                <a:gd name="T79" fmla="*/ 17 h 180"/>
                <a:gd name="T80" fmla="*/ 44 w 128"/>
                <a:gd name="T81" fmla="*/ 22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40" name="Freeform 68"/>
            <p:cNvSpPr>
              <a:spLocks/>
            </p:cNvSpPr>
            <p:nvPr/>
          </p:nvSpPr>
          <p:spPr bwMode="auto">
            <a:xfrm>
              <a:off x="3287" y="3138"/>
              <a:ext cx="126" cy="138"/>
            </a:xfrm>
            <a:custGeom>
              <a:avLst/>
              <a:gdLst>
                <a:gd name="T0" fmla="*/ 39 w 322"/>
                <a:gd name="T1" fmla="*/ 26 h 378"/>
                <a:gd name="T2" fmla="*/ 21 w 322"/>
                <a:gd name="T3" fmla="*/ 42 h 378"/>
                <a:gd name="T4" fmla="*/ 7 w 322"/>
                <a:gd name="T5" fmla="*/ 61 h 378"/>
                <a:gd name="T6" fmla="*/ 0 w 322"/>
                <a:gd name="T7" fmla="*/ 83 h 378"/>
                <a:gd name="T8" fmla="*/ 1 w 322"/>
                <a:gd name="T9" fmla="*/ 97 h 378"/>
                <a:gd name="T10" fmla="*/ 4 w 322"/>
                <a:gd name="T11" fmla="*/ 103 h 378"/>
                <a:gd name="T12" fmla="*/ 7 w 322"/>
                <a:gd name="T13" fmla="*/ 108 h 378"/>
                <a:gd name="T14" fmla="*/ 13 w 322"/>
                <a:gd name="T15" fmla="*/ 113 h 378"/>
                <a:gd name="T16" fmla="*/ 22 w 322"/>
                <a:gd name="T17" fmla="*/ 118 h 378"/>
                <a:gd name="T18" fmla="*/ 34 w 322"/>
                <a:gd name="T19" fmla="*/ 123 h 378"/>
                <a:gd name="T20" fmla="*/ 47 w 322"/>
                <a:gd name="T21" fmla="*/ 128 h 378"/>
                <a:gd name="T22" fmla="*/ 59 w 322"/>
                <a:gd name="T23" fmla="*/ 131 h 378"/>
                <a:gd name="T24" fmla="*/ 73 w 322"/>
                <a:gd name="T25" fmla="*/ 134 h 378"/>
                <a:gd name="T26" fmla="*/ 86 w 322"/>
                <a:gd name="T27" fmla="*/ 135 h 378"/>
                <a:gd name="T28" fmla="*/ 99 w 322"/>
                <a:gd name="T29" fmla="*/ 137 h 378"/>
                <a:gd name="T30" fmla="*/ 113 w 322"/>
                <a:gd name="T31" fmla="*/ 137 h 378"/>
                <a:gd name="T32" fmla="*/ 122 w 322"/>
                <a:gd name="T33" fmla="*/ 138 h 378"/>
                <a:gd name="T34" fmla="*/ 125 w 322"/>
                <a:gd name="T35" fmla="*/ 135 h 378"/>
                <a:gd name="T36" fmla="*/ 126 w 322"/>
                <a:gd name="T37" fmla="*/ 131 h 378"/>
                <a:gd name="T38" fmla="*/ 123 w 322"/>
                <a:gd name="T39" fmla="*/ 129 h 378"/>
                <a:gd name="T40" fmla="*/ 115 w 322"/>
                <a:gd name="T41" fmla="*/ 127 h 378"/>
                <a:gd name="T42" fmla="*/ 103 w 322"/>
                <a:gd name="T43" fmla="*/ 124 h 378"/>
                <a:gd name="T44" fmla="*/ 91 w 322"/>
                <a:gd name="T45" fmla="*/ 123 h 378"/>
                <a:gd name="T46" fmla="*/ 78 w 322"/>
                <a:gd name="T47" fmla="*/ 121 h 378"/>
                <a:gd name="T48" fmla="*/ 67 w 322"/>
                <a:gd name="T49" fmla="*/ 119 h 378"/>
                <a:gd name="T50" fmla="*/ 54 w 322"/>
                <a:gd name="T51" fmla="*/ 116 h 378"/>
                <a:gd name="T52" fmla="*/ 43 w 322"/>
                <a:gd name="T53" fmla="*/ 113 h 378"/>
                <a:gd name="T54" fmla="*/ 31 w 322"/>
                <a:gd name="T55" fmla="*/ 108 h 378"/>
                <a:gd name="T56" fmla="*/ 22 w 322"/>
                <a:gd name="T57" fmla="*/ 103 h 378"/>
                <a:gd name="T58" fmla="*/ 15 w 322"/>
                <a:gd name="T59" fmla="*/ 95 h 378"/>
                <a:gd name="T60" fmla="*/ 13 w 322"/>
                <a:gd name="T61" fmla="*/ 85 h 378"/>
                <a:gd name="T62" fmla="*/ 15 w 322"/>
                <a:gd name="T63" fmla="*/ 73 h 378"/>
                <a:gd name="T64" fmla="*/ 20 w 322"/>
                <a:gd name="T65" fmla="*/ 62 h 378"/>
                <a:gd name="T66" fmla="*/ 28 w 322"/>
                <a:gd name="T67" fmla="*/ 50 h 378"/>
                <a:gd name="T68" fmla="*/ 37 w 322"/>
                <a:gd name="T69" fmla="*/ 40 h 378"/>
                <a:gd name="T70" fmla="*/ 48 w 322"/>
                <a:gd name="T71" fmla="*/ 30 h 378"/>
                <a:gd name="T72" fmla="*/ 60 w 322"/>
                <a:gd name="T73" fmla="*/ 21 h 378"/>
                <a:gd name="T74" fmla="*/ 76 w 322"/>
                <a:gd name="T75" fmla="*/ 14 h 378"/>
                <a:gd name="T76" fmla="*/ 93 w 322"/>
                <a:gd name="T77" fmla="*/ 7 h 378"/>
                <a:gd name="T78" fmla="*/ 103 w 322"/>
                <a:gd name="T79" fmla="*/ 3 h 378"/>
                <a:gd name="T80" fmla="*/ 100 w 322"/>
                <a:gd name="T81" fmla="*/ 0 h 378"/>
                <a:gd name="T82" fmla="*/ 86 w 322"/>
                <a:gd name="T83" fmla="*/ 1 h 378"/>
                <a:gd name="T84" fmla="*/ 70 w 322"/>
                <a:gd name="T85" fmla="*/ 7 h 378"/>
                <a:gd name="T86" fmla="*/ 55 w 322"/>
                <a:gd name="T87" fmla="*/ 14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41" name="Freeform 69"/>
            <p:cNvSpPr>
              <a:spLocks/>
            </p:cNvSpPr>
            <p:nvPr/>
          </p:nvSpPr>
          <p:spPr bwMode="auto">
            <a:xfrm>
              <a:off x="3465" y="3134"/>
              <a:ext cx="110" cy="92"/>
            </a:xfrm>
            <a:custGeom>
              <a:avLst/>
              <a:gdLst>
                <a:gd name="T0" fmla="*/ 91 w 283"/>
                <a:gd name="T1" fmla="*/ 28 h 252"/>
                <a:gd name="T2" fmla="*/ 96 w 283"/>
                <a:gd name="T3" fmla="*/ 33 h 252"/>
                <a:gd name="T4" fmla="*/ 100 w 283"/>
                <a:gd name="T5" fmla="*/ 39 h 252"/>
                <a:gd name="T6" fmla="*/ 101 w 283"/>
                <a:gd name="T7" fmla="*/ 45 h 252"/>
                <a:gd name="T8" fmla="*/ 101 w 283"/>
                <a:gd name="T9" fmla="*/ 52 h 252"/>
                <a:gd name="T10" fmla="*/ 100 w 283"/>
                <a:gd name="T11" fmla="*/ 57 h 252"/>
                <a:gd name="T12" fmla="*/ 98 w 283"/>
                <a:gd name="T13" fmla="*/ 62 h 252"/>
                <a:gd name="T14" fmla="*/ 95 w 283"/>
                <a:gd name="T15" fmla="*/ 67 h 252"/>
                <a:gd name="T16" fmla="*/ 92 w 283"/>
                <a:gd name="T17" fmla="*/ 70 h 252"/>
                <a:gd name="T18" fmla="*/ 87 w 283"/>
                <a:gd name="T19" fmla="*/ 74 h 252"/>
                <a:gd name="T20" fmla="*/ 84 w 283"/>
                <a:gd name="T21" fmla="*/ 78 h 252"/>
                <a:gd name="T22" fmla="*/ 79 w 283"/>
                <a:gd name="T23" fmla="*/ 82 h 252"/>
                <a:gd name="T24" fmla="*/ 75 w 283"/>
                <a:gd name="T25" fmla="*/ 85 h 252"/>
                <a:gd name="T26" fmla="*/ 74 w 283"/>
                <a:gd name="T27" fmla="*/ 87 h 252"/>
                <a:gd name="T28" fmla="*/ 74 w 283"/>
                <a:gd name="T29" fmla="*/ 88 h 252"/>
                <a:gd name="T30" fmla="*/ 74 w 283"/>
                <a:gd name="T31" fmla="*/ 89 h 252"/>
                <a:gd name="T32" fmla="*/ 75 w 283"/>
                <a:gd name="T33" fmla="*/ 91 h 252"/>
                <a:gd name="T34" fmla="*/ 77 w 283"/>
                <a:gd name="T35" fmla="*/ 91 h 252"/>
                <a:gd name="T36" fmla="*/ 79 w 283"/>
                <a:gd name="T37" fmla="*/ 92 h 252"/>
                <a:gd name="T38" fmla="*/ 80 w 283"/>
                <a:gd name="T39" fmla="*/ 91 h 252"/>
                <a:gd name="T40" fmla="*/ 81 w 283"/>
                <a:gd name="T41" fmla="*/ 91 h 252"/>
                <a:gd name="T42" fmla="*/ 90 w 283"/>
                <a:gd name="T43" fmla="*/ 85 h 252"/>
                <a:gd name="T44" fmla="*/ 98 w 283"/>
                <a:gd name="T45" fmla="*/ 78 h 252"/>
                <a:gd name="T46" fmla="*/ 104 w 283"/>
                <a:gd name="T47" fmla="*/ 70 h 252"/>
                <a:gd name="T48" fmla="*/ 108 w 283"/>
                <a:gd name="T49" fmla="*/ 61 h 252"/>
                <a:gd name="T50" fmla="*/ 110 w 283"/>
                <a:gd name="T51" fmla="*/ 51 h 252"/>
                <a:gd name="T52" fmla="*/ 109 w 283"/>
                <a:gd name="T53" fmla="*/ 42 h 252"/>
                <a:gd name="T54" fmla="*/ 105 w 283"/>
                <a:gd name="T55" fmla="*/ 33 h 252"/>
                <a:gd name="T56" fmla="*/ 98 w 283"/>
                <a:gd name="T57" fmla="*/ 25 h 252"/>
                <a:gd name="T58" fmla="*/ 93 w 283"/>
                <a:gd name="T59" fmla="*/ 21 h 252"/>
                <a:gd name="T60" fmla="*/ 86 w 283"/>
                <a:gd name="T61" fmla="*/ 18 h 252"/>
                <a:gd name="T62" fmla="*/ 79 w 283"/>
                <a:gd name="T63" fmla="*/ 14 h 252"/>
                <a:gd name="T64" fmla="*/ 72 w 283"/>
                <a:gd name="T65" fmla="*/ 11 h 252"/>
                <a:gd name="T66" fmla="*/ 64 w 283"/>
                <a:gd name="T67" fmla="*/ 8 h 252"/>
                <a:gd name="T68" fmla="*/ 56 w 283"/>
                <a:gd name="T69" fmla="*/ 6 h 252"/>
                <a:gd name="T70" fmla="*/ 48 w 283"/>
                <a:gd name="T71" fmla="*/ 5 h 252"/>
                <a:gd name="T72" fmla="*/ 40 w 283"/>
                <a:gd name="T73" fmla="*/ 3 h 252"/>
                <a:gd name="T74" fmla="*/ 32 w 283"/>
                <a:gd name="T75" fmla="*/ 2 h 252"/>
                <a:gd name="T76" fmla="*/ 26 w 283"/>
                <a:gd name="T77" fmla="*/ 1 h 252"/>
                <a:gd name="T78" fmla="*/ 19 w 283"/>
                <a:gd name="T79" fmla="*/ 0 h 252"/>
                <a:gd name="T80" fmla="*/ 13 w 283"/>
                <a:gd name="T81" fmla="*/ 0 h 252"/>
                <a:gd name="T82" fmla="*/ 8 w 283"/>
                <a:gd name="T83" fmla="*/ 0 h 252"/>
                <a:gd name="T84" fmla="*/ 4 w 283"/>
                <a:gd name="T85" fmla="*/ 0 h 252"/>
                <a:gd name="T86" fmla="*/ 2 w 283"/>
                <a:gd name="T87" fmla="*/ 1 h 252"/>
                <a:gd name="T88" fmla="*/ 0 w 283"/>
                <a:gd name="T89" fmla="*/ 2 h 252"/>
                <a:gd name="T90" fmla="*/ 5 w 283"/>
                <a:gd name="T91" fmla="*/ 3 h 252"/>
                <a:gd name="T92" fmla="*/ 9 w 283"/>
                <a:gd name="T93" fmla="*/ 3 h 252"/>
                <a:gd name="T94" fmla="*/ 15 w 283"/>
                <a:gd name="T95" fmla="*/ 4 h 252"/>
                <a:gd name="T96" fmla="*/ 20 w 283"/>
                <a:gd name="T97" fmla="*/ 5 h 252"/>
                <a:gd name="T98" fmla="*/ 26 w 283"/>
                <a:gd name="T99" fmla="*/ 6 h 252"/>
                <a:gd name="T100" fmla="*/ 32 w 283"/>
                <a:gd name="T101" fmla="*/ 7 h 252"/>
                <a:gd name="T102" fmla="*/ 38 w 283"/>
                <a:gd name="T103" fmla="*/ 8 h 252"/>
                <a:gd name="T104" fmla="*/ 44 w 283"/>
                <a:gd name="T105" fmla="*/ 9 h 252"/>
                <a:gd name="T106" fmla="*/ 50 w 283"/>
                <a:gd name="T107" fmla="*/ 11 h 252"/>
                <a:gd name="T108" fmla="*/ 57 w 283"/>
                <a:gd name="T109" fmla="*/ 12 h 252"/>
                <a:gd name="T110" fmla="*/ 63 w 283"/>
                <a:gd name="T111" fmla="*/ 14 h 252"/>
                <a:gd name="T112" fmla="*/ 69 w 283"/>
                <a:gd name="T113" fmla="*/ 16 h 252"/>
                <a:gd name="T114" fmla="*/ 75 w 283"/>
                <a:gd name="T115" fmla="*/ 19 h 252"/>
                <a:gd name="T116" fmla="*/ 81 w 283"/>
                <a:gd name="T117" fmla="*/ 22 h 252"/>
                <a:gd name="T118" fmla="*/ 86 w 283"/>
                <a:gd name="T119" fmla="*/ 25 h 252"/>
                <a:gd name="T120" fmla="*/ 91 w 283"/>
                <a:gd name="T121" fmla="*/ 28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42" name="Freeform 70"/>
            <p:cNvSpPr>
              <a:spLocks/>
            </p:cNvSpPr>
            <p:nvPr/>
          </p:nvSpPr>
          <p:spPr bwMode="auto">
            <a:xfrm>
              <a:off x="3240" y="3178"/>
              <a:ext cx="44" cy="85"/>
            </a:xfrm>
            <a:custGeom>
              <a:avLst/>
              <a:gdLst>
                <a:gd name="T0" fmla="*/ 0 w 114"/>
                <a:gd name="T1" fmla="*/ 46 h 238"/>
                <a:gd name="T2" fmla="*/ 0 w 114"/>
                <a:gd name="T3" fmla="*/ 53 h 238"/>
                <a:gd name="T4" fmla="*/ 2 w 114"/>
                <a:gd name="T5" fmla="*/ 60 h 238"/>
                <a:gd name="T6" fmla="*/ 5 w 114"/>
                <a:gd name="T7" fmla="*/ 66 h 238"/>
                <a:gd name="T8" fmla="*/ 9 w 114"/>
                <a:gd name="T9" fmla="*/ 71 h 238"/>
                <a:gd name="T10" fmla="*/ 15 w 114"/>
                <a:gd name="T11" fmla="*/ 76 h 238"/>
                <a:gd name="T12" fmla="*/ 21 w 114"/>
                <a:gd name="T13" fmla="*/ 80 h 238"/>
                <a:gd name="T14" fmla="*/ 28 w 114"/>
                <a:gd name="T15" fmla="*/ 83 h 238"/>
                <a:gd name="T16" fmla="*/ 36 w 114"/>
                <a:gd name="T17" fmla="*/ 85 h 238"/>
                <a:gd name="T18" fmla="*/ 38 w 114"/>
                <a:gd name="T19" fmla="*/ 85 h 238"/>
                <a:gd name="T20" fmla="*/ 40 w 114"/>
                <a:gd name="T21" fmla="*/ 84 h 238"/>
                <a:gd name="T22" fmla="*/ 42 w 114"/>
                <a:gd name="T23" fmla="*/ 83 h 238"/>
                <a:gd name="T24" fmla="*/ 43 w 114"/>
                <a:gd name="T25" fmla="*/ 81 h 238"/>
                <a:gd name="T26" fmla="*/ 43 w 114"/>
                <a:gd name="T27" fmla="*/ 79 h 238"/>
                <a:gd name="T28" fmla="*/ 42 w 114"/>
                <a:gd name="T29" fmla="*/ 77 h 238"/>
                <a:gd name="T30" fmla="*/ 41 w 114"/>
                <a:gd name="T31" fmla="*/ 75 h 238"/>
                <a:gd name="T32" fmla="*/ 39 w 114"/>
                <a:gd name="T33" fmla="*/ 75 h 238"/>
                <a:gd name="T34" fmla="*/ 32 w 114"/>
                <a:gd name="T35" fmla="*/ 72 h 238"/>
                <a:gd name="T36" fmla="*/ 25 w 114"/>
                <a:gd name="T37" fmla="*/ 69 h 238"/>
                <a:gd name="T38" fmla="*/ 19 w 114"/>
                <a:gd name="T39" fmla="*/ 64 h 238"/>
                <a:gd name="T40" fmla="*/ 15 w 114"/>
                <a:gd name="T41" fmla="*/ 60 h 238"/>
                <a:gd name="T42" fmla="*/ 12 w 114"/>
                <a:gd name="T43" fmla="*/ 53 h 238"/>
                <a:gd name="T44" fmla="*/ 11 w 114"/>
                <a:gd name="T45" fmla="*/ 47 h 238"/>
                <a:gd name="T46" fmla="*/ 11 w 114"/>
                <a:gd name="T47" fmla="*/ 40 h 238"/>
                <a:gd name="T48" fmla="*/ 14 w 114"/>
                <a:gd name="T49" fmla="*/ 33 h 238"/>
                <a:gd name="T50" fmla="*/ 16 w 114"/>
                <a:gd name="T51" fmla="*/ 27 h 238"/>
                <a:gd name="T52" fmla="*/ 20 w 114"/>
                <a:gd name="T53" fmla="*/ 22 h 238"/>
                <a:gd name="T54" fmla="*/ 24 w 114"/>
                <a:gd name="T55" fmla="*/ 18 h 238"/>
                <a:gd name="T56" fmla="*/ 28 w 114"/>
                <a:gd name="T57" fmla="*/ 14 h 238"/>
                <a:gd name="T58" fmla="*/ 32 w 114"/>
                <a:gd name="T59" fmla="*/ 10 h 238"/>
                <a:gd name="T60" fmla="*/ 37 w 114"/>
                <a:gd name="T61" fmla="*/ 6 h 238"/>
                <a:gd name="T62" fmla="*/ 41 w 114"/>
                <a:gd name="T63" fmla="*/ 3 h 238"/>
                <a:gd name="T64" fmla="*/ 44 w 114"/>
                <a:gd name="T65" fmla="*/ 0 h 238"/>
                <a:gd name="T66" fmla="*/ 41 w 114"/>
                <a:gd name="T67" fmla="*/ 0 h 238"/>
                <a:gd name="T68" fmla="*/ 36 w 114"/>
                <a:gd name="T69" fmla="*/ 2 h 238"/>
                <a:gd name="T70" fmla="*/ 29 w 114"/>
                <a:gd name="T71" fmla="*/ 6 h 238"/>
                <a:gd name="T72" fmla="*/ 22 w 114"/>
                <a:gd name="T73" fmla="*/ 13 h 238"/>
                <a:gd name="T74" fmla="*/ 14 w 114"/>
                <a:gd name="T75" fmla="*/ 20 h 238"/>
                <a:gd name="T76" fmla="*/ 8 w 114"/>
                <a:gd name="T77" fmla="*/ 29 h 238"/>
                <a:gd name="T78" fmla="*/ 3 w 114"/>
                <a:gd name="T79" fmla="*/ 38 h 238"/>
                <a:gd name="T80" fmla="*/ 0 w 114"/>
                <a:gd name="T81" fmla="*/ 46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43" name="Freeform 71"/>
            <p:cNvSpPr>
              <a:spLocks/>
            </p:cNvSpPr>
            <p:nvPr/>
          </p:nvSpPr>
          <p:spPr bwMode="auto">
            <a:xfrm>
              <a:off x="3554" y="3127"/>
              <a:ext cx="96" cy="114"/>
            </a:xfrm>
            <a:custGeom>
              <a:avLst/>
              <a:gdLst>
                <a:gd name="T0" fmla="*/ 81 w 246"/>
                <a:gd name="T1" fmla="*/ 46 h 310"/>
                <a:gd name="T2" fmla="*/ 85 w 246"/>
                <a:gd name="T3" fmla="*/ 53 h 310"/>
                <a:gd name="T4" fmla="*/ 88 w 246"/>
                <a:gd name="T5" fmla="*/ 60 h 310"/>
                <a:gd name="T6" fmla="*/ 86 w 246"/>
                <a:gd name="T7" fmla="*/ 69 h 310"/>
                <a:gd name="T8" fmla="*/ 81 w 246"/>
                <a:gd name="T9" fmla="*/ 77 h 310"/>
                <a:gd name="T10" fmla="*/ 73 w 246"/>
                <a:gd name="T11" fmla="*/ 84 h 310"/>
                <a:gd name="T12" fmla="*/ 65 w 246"/>
                <a:gd name="T13" fmla="*/ 90 h 310"/>
                <a:gd name="T14" fmla="*/ 56 w 246"/>
                <a:gd name="T15" fmla="*/ 97 h 310"/>
                <a:gd name="T16" fmla="*/ 50 w 246"/>
                <a:gd name="T17" fmla="*/ 102 h 310"/>
                <a:gd name="T18" fmla="*/ 48 w 246"/>
                <a:gd name="T19" fmla="*/ 106 h 310"/>
                <a:gd name="T20" fmla="*/ 47 w 246"/>
                <a:gd name="T21" fmla="*/ 109 h 310"/>
                <a:gd name="T22" fmla="*/ 47 w 246"/>
                <a:gd name="T23" fmla="*/ 112 h 310"/>
                <a:gd name="T24" fmla="*/ 51 w 246"/>
                <a:gd name="T25" fmla="*/ 114 h 310"/>
                <a:gd name="T26" fmla="*/ 54 w 246"/>
                <a:gd name="T27" fmla="*/ 114 h 310"/>
                <a:gd name="T28" fmla="*/ 60 w 246"/>
                <a:gd name="T29" fmla="*/ 108 h 310"/>
                <a:gd name="T30" fmla="*/ 70 w 246"/>
                <a:gd name="T31" fmla="*/ 99 h 310"/>
                <a:gd name="T32" fmla="*/ 81 w 246"/>
                <a:gd name="T33" fmla="*/ 90 h 310"/>
                <a:gd name="T34" fmla="*/ 90 w 246"/>
                <a:gd name="T35" fmla="*/ 81 h 310"/>
                <a:gd name="T36" fmla="*/ 96 w 246"/>
                <a:gd name="T37" fmla="*/ 69 h 310"/>
                <a:gd name="T38" fmla="*/ 94 w 246"/>
                <a:gd name="T39" fmla="*/ 56 h 310"/>
                <a:gd name="T40" fmla="*/ 89 w 246"/>
                <a:gd name="T41" fmla="*/ 44 h 310"/>
                <a:gd name="T42" fmla="*/ 78 w 246"/>
                <a:gd name="T43" fmla="*/ 35 h 310"/>
                <a:gd name="T44" fmla="*/ 69 w 246"/>
                <a:gd name="T45" fmla="*/ 27 h 310"/>
                <a:gd name="T46" fmla="*/ 59 w 246"/>
                <a:gd name="T47" fmla="*/ 22 h 310"/>
                <a:gd name="T48" fmla="*/ 49 w 246"/>
                <a:gd name="T49" fmla="*/ 16 h 310"/>
                <a:gd name="T50" fmla="*/ 38 w 246"/>
                <a:gd name="T51" fmla="*/ 10 h 310"/>
                <a:gd name="T52" fmla="*/ 28 w 246"/>
                <a:gd name="T53" fmla="*/ 6 h 310"/>
                <a:gd name="T54" fmla="*/ 18 w 246"/>
                <a:gd name="T55" fmla="*/ 3 h 310"/>
                <a:gd name="T56" fmla="*/ 9 w 246"/>
                <a:gd name="T57" fmla="*/ 0 h 310"/>
                <a:gd name="T58" fmla="*/ 3 w 246"/>
                <a:gd name="T59" fmla="*/ 0 h 310"/>
                <a:gd name="T60" fmla="*/ 3 w 246"/>
                <a:gd name="T61" fmla="*/ 2 h 310"/>
                <a:gd name="T62" fmla="*/ 11 w 246"/>
                <a:gd name="T63" fmla="*/ 5 h 310"/>
                <a:gd name="T64" fmla="*/ 20 w 246"/>
                <a:gd name="T65" fmla="*/ 9 h 310"/>
                <a:gd name="T66" fmla="*/ 30 w 246"/>
                <a:gd name="T67" fmla="*/ 14 h 310"/>
                <a:gd name="T68" fmla="*/ 41 w 246"/>
                <a:gd name="T69" fmla="*/ 19 h 310"/>
                <a:gd name="T70" fmla="*/ 52 w 246"/>
                <a:gd name="T71" fmla="*/ 25 h 310"/>
                <a:gd name="T72" fmla="*/ 64 w 246"/>
                <a:gd name="T73" fmla="*/ 32 h 310"/>
                <a:gd name="T74" fmla="*/ 73 w 246"/>
                <a:gd name="T75" fmla="*/ 39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44" name="Freeform 72"/>
            <p:cNvSpPr>
              <a:spLocks/>
            </p:cNvSpPr>
            <p:nvPr/>
          </p:nvSpPr>
          <p:spPr bwMode="auto">
            <a:xfrm>
              <a:off x="3448" y="3261"/>
              <a:ext cx="33" cy="68"/>
            </a:xfrm>
            <a:custGeom>
              <a:avLst/>
              <a:gdLst>
                <a:gd name="T0" fmla="*/ 12 w 83"/>
                <a:gd name="T1" fmla="*/ 5 h 187"/>
                <a:gd name="T2" fmla="*/ 12 w 83"/>
                <a:gd name="T3" fmla="*/ 3 h 187"/>
                <a:gd name="T4" fmla="*/ 10 w 83"/>
                <a:gd name="T5" fmla="*/ 1 h 187"/>
                <a:gd name="T6" fmla="*/ 8 w 83"/>
                <a:gd name="T7" fmla="*/ 0 h 187"/>
                <a:gd name="T8" fmla="*/ 6 w 83"/>
                <a:gd name="T9" fmla="*/ 0 h 187"/>
                <a:gd name="T10" fmla="*/ 3 w 83"/>
                <a:gd name="T11" fmla="*/ 1 h 187"/>
                <a:gd name="T12" fmla="*/ 1 w 83"/>
                <a:gd name="T13" fmla="*/ 2 h 187"/>
                <a:gd name="T14" fmla="*/ 0 w 83"/>
                <a:gd name="T15" fmla="*/ 4 h 187"/>
                <a:gd name="T16" fmla="*/ 0 w 83"/>
                <a:gd name="T17" fmla="*/ 6 h 187"/>
                <a:gd name="T18" fmla="*/ 2 w 83"/>
                <a:gd name="T19" fmla="*/ 15 h 187"/>
                <a:gd name="T20" fmla="*/ 6 w 83"/>
                <a:gd name="T21" fmla="*/ 26 h 187"/>
                <a:gd name="T22" fmla="*/ 11 w 83"/>
                <a:gd name="T23" fmla="*/ 36 h 187"/>
                <a:gd name="T24" fmla="*/ 16 w 83"/>
                <a:gd name="T25" fmla="*/ 46 h 187"/>
                <a:gd name="T26" fmla="*/ 22 w 83"/>
                <a:gd name="T27" fmla="*/ 55 h 187"/>
                <a:gd name="T28" fmla="*/ 27 w 83"/>
                <a:gd name="T29" fmla="*/ 62 h 187"/>
                <a:gd name="T30" fmla="*/ 31 w 83"/>
                <a:gd name="T31" fmla="*/ 67 h 187"/>
                <a:gd name="T32" fmla="*/ 33 w 83"/>
                <a:gd name="T33" fmla="*/ 68 h 187"/>
                <a:gd name="T34" fmla="*/ 32 w 83"/>
                <a:gd name="T35" fmla="*/ 63 h 187"/>
                <a:gd name="T36" fmla="*/ 30 w 83"/>
                <a:gd name="T37" fmla="*/ 57 h 187"/>
                <a:gd name="T38" fmla="*/ 27 w 83"/>
                <a:gd name="T39" fmla="*/ 50 h 187"/>
                <a:gd name="T40" fmla="*/ 23 w 83"/>
                <a:gd name="T41" fmla="*/ 41 h 187"/>
                <a:gd name="T42" fmla="*/ 20 w 83"/>
                <a:gd name="T43" fmla="*/ 32 h 187"/>
                <a:gd name="T44" fmla="*/ 17 w 83"/>
                <a:gd name="T45" fmla="*/ 23 h 187"/>
                <a:gd name="T46" fmla="*/ 14 w 83"/>
                <a:gd name="T47" fmla="*/ 14 h 187"/>
                <a:gd name="T48" fmla="*/ 12 w 83"/>
                <a:gd name="T49" fmla="*/ 5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chemeClr val="hlink"/>
            </a:solidFill>
            <a:ln w="9525">
              <a:noFill/>
              <a:round/>
              <a:headEnd/>
              <a:tailEnd/>
            </a:ln>
          </p:spPr>
          <p:txBody>
            <a:bodyPr/>
            <a:lstStyle/>
            <a:p>
              <a:endParaRPr lang="de-DE"/>
            </a:p>
          </p:txBody>
        </p:sp>
        <p:sp>
          <p:nvSpPr>
            <p:cNvPr id="45" name="Freeform 73"/>
            <p:cNvSpPr>
              <a:spLocks/>
            </p:cNvSpPr>
            <p:nvPr/>
          </p:nvSpPr>
          <p:spPr bwMode="auto">
            <a:xfrm>
              <a:off x="3434" y="3224"/>
              <a:ext cx="17" cy="35"/>
            </a:xfrm>
            <a:custGeom>
              <a:avLst/>
              <a:gdLst>
                <a:gd name="T0" fmla="*/ 9 w 44"/>
                <a:gd name="T1" fmla="*/ 4 h 94"/>
                <a:gd name="T2" fmla="*/ 8 w 44"/>
                <a:gd name="T3" fmla="*/ 2 h 94"/>
                <a:gd name="T4" fmla="*/ 7 w 44"/>
                <a:gd name="T5" fmla="*/ 1 h 94"/>
                <a:gd name="T6" fmla="*/ 5 w 44"/>
                <a:gd name="T7" fmla="*/ 0 h 94"/>
                <a:gd name="T8" fmla="*/ 4 w 44"/>
                <a:gd name="T9" fmla="*/ 0 h 94"/>
                <a:gd name="T10" fmla="*/ 2 w 44"/>
                <a:gd name="T11" fmla="*/ 0 h 94"/>
                <a:gd name="T12" fmla="*/ 1 w 44"/>
                <a:gd name="T13" fmla="*/ 1 h 94"/>
                <a:gd name="T14" fmla="*/ 0 w 44"/>
                <a:gd name="T15" fmla="*/ 3 h 94"/>
                <a:gd name="T16" fmla="*/ 0 w 44"/>
                <a:gd name="T17" fmla="*/ 4 h 94"/>
                <a:gd name="T18" fmla="*/ 0 w 44"/>
                <a:gd name="T19" fmla="*/ 9 h 94"/>
                <a:gd name="T20" fmla="*/ 2 w 44"/>
                <a:gd name="T21" fmla="*/ 14 h 94"/>
                <a:gd name="T22" fmla="*/ 3 w 44"/>
                <a:gd name="T23" fmla="*/ 19 h 94"/>
                <a:gd name="T24" fmla="*/ 5 w 44"/>
                <a:gd name="T25" fmla="*/ 24 h 94"/>
                <a:gd name="T26" fmla="*/ 8 w 44"/>
                <a:gd name="T27" fmla="*/ 29 h 94"/>
                <a:gd name="T28" fmla="*/ 11 w 44"/>
                <a:gd name="T29" fmla="*/ 32 h 94"/>
                <a:gd name="T30" fmla="*/ 14 w 44"/>
                <a:gd name="T31" fmla="*/ 35 h 94"/>
                <a:gd name="T32" fmla="*/ 16 w 44"/>
                <a:gd name="T33" fmla="*/ 35 h 94"/>
                <a:gd name="T34" fmla="*/ 17 w 44"/>
                <a:gd name="T35" fmla="*/ 28 h 94"/>
                <a:gd name="T36" fmla="*/ 15 w 44"/>
                <a:gd name="T37" fmla="*/ 20 h 94"/>
                <a:gd name="T38" fmla="*/ 12 w 44"/>
                <a:gd name="T39" fmla="*/ 12 h 94"/>
                <a:gd name="T40" fmla="*/ 9 w 44"/>
                <a:gd name="T41" fmla="*/ 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46" name="Freeform 74"/>
            <p:cNvSpPr>
              <a:spLocks/>
            </p:cNvSpPr>
            <p:nvPr/>
          </p:nvSpPr>
          <p:spPr bwMode="auto">
            <a:xfrm>
              <a:off x="3420" y="3199"/>
              <a:ext cx="14" cy="20"/>
            </a:xfrm>
            <a:custGeom>
              <a:avLst/>
              <a:gdLst>
                <a:gd name="T0" fmla="*/ 7 w 38"/>
                <a:gd name="T1" fmla="*/ 3 h 54"/>
                <a:gd name="T2" fmla="*/ 7 w 38"/>
                <a:gd name="T3" fmla="*/ 3 h 54"/>
                <a:gd name="T4" fmla="*/ 7 w 38"/>
                <a:gd name="T5" fmla="*/ 3 h 54"/>
                <a:gd name="T6" fmla="*/ 7 w 38"/>
                <a:gd name="T7" fmla="*/ 3 h 54"/>
                <a:gd name="T8" fmla="*/ 7 w 38"/>
                <a:gd name="T9" fmla="*/ 3 h 54"/>
                <a:gd name="T10" fmla="*/ 7 w 38"/>
                <a:gd name="T11" fmla="*/ 1 h 54"/>
                <a:gd name="T12" fmla="*/ 6 w 38"/>
                <a:gd name="T13" fmla="*/ 0 h 54"/>
                <a:gd name="T14" fmla="*/ 4 w 38"/>
                <a:gd name="T15" fmla="*/ 0 h 54"/>
                <a:gd name="T16" fmla="*/ 3 w 38"/>
                <a:gd name="T17" fmla="*/ 0 h 54"/>
                <a:gd name="T18" fmla="*/ 1 w 38"/>
                <a:gd name="T19" fmla="*/ 0 h 54"/>
                <a:gd name="T20" fmla="*/ 0 w 38"/>
                <a:gd name="T21" fmla="*/ 1 h 54"/>
                <a:gd name="T22" fmla="*/ 0 w 38"/>
                <a:gd name="T23" fmla="*/ 3 h 54"/>
                <a:gd name="T24" fmla="*/ 0 w 38"/>
                <a:gd name="T25" fmla="*/ 4 h 54"/>
                <a:gd name="T26" fmla="*/ 0 w 38"/>
                <a:gd name="T27" fmla="*/ 6 h 54"/>
                <a:gd name="T28" fmla="*/ 1 w 38"/>
                <a:gd name="T29" fmla="*/ 9 h 54"/>
                <a:gd name="T30" fmla="*/ 3 w 38"/>
                <a:gd name="T31" fmla="*/ 12 h 54"/>
                <a:gd name="T32" fmla="*/ 5 w 38"/>
                <a:gd name="T33" fmla="*/ 14 h 54"/>
                <a:gd name="T34" fmla="*/ 7 w 38"/>
                <a:gd name="T35" fmla="*/ 17 h 54"/>
                <a:gd name="T36" fmla="*/ 10 w 38"/>
                <a:gd name="T37" fmla="*/ 19 h 54"/>
                <a:gd name="T38" fmla="*/ 12 w 38"/>
                <a:gd name="T39" fmla="*/ 20 h 54"/>
                <a:gd name="T40" fmla="*/ 14 w 38"/>
                <a:gd name="T41" fmla="*/ 20 h 54"/>
                <a:gd name="T42" fmla="*/ 13 w 38"/>
                <a:gd name="T43" fmla="*/ 16 h 54"/>
                <a:gd name="T44" fmla="*/ 12 w 38"/>
                <a:gd name="T45" fmla="*/ 11 h 54"/>
                <a:gd name="T46" fmla="*/ 9 w 38"/>
                <a:gd name="T47" fmla="*/ 6 h 54"/>
                <a:gd name="T48" fmla="*/ 7 w 38"/>
                <a:gd name="T49" fmla="*/ 3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47" name="Freeform 75"/>
            <p:cNvSpPr>
              <a:spLocks/>
            </p:cNvSpPr>
            <p:nvPr/>
          </p:nvSpPr>
          <p:spPr bwMode="auto">
            <a:xfrm>
              <a:off x="3409" y="3182"/>
              <a:ext cx="18" cy="13"/>
            </a:xfrm>
            <a:custGeom>
              <a:avLst/>
              <a:gdLst>
                <a:gd name="T0" fmla="*/ 14 w 52"/>
                <a:gd name="T1" fmla="*/ 10 h 36"/>
                <a:gd name="T2" fmla="*/ 16 w 52"/>
                <a:gd name="T3" fmla="*/ 9 h 36"/>
                <a:gd name="T4" fmla="*/ 18 w 52"/>
                <a:gd name="T5" fmla="*/ 8 h 36"/>
                <a:gd name="T6" fmla="*/ 18 w 52"/>
                <a:gd name="T7" fmla="*/ 6 h 36"/>
                <a:gd name="T8" fmla="*/ 18 w 52"/>
                <a:gd name="T9" fmla="*/ 4 h 36"/>
                <a:gd name="T10" fmla="*/ 17 w 52"/>
                <a:gd name="T11" fmla="*/ 2 h 36"/>
                <a:gd name="T12" fmla="*/ 16 w 52"/>
                <a:gd name="T13" fmla="*/ 1 h 36"/>
                <a:gd name="T14" fmla="*/ 14 w 52"/>
                <a:gd name="T15" fmla="*/ 0 h 36"/>
                <a:gd name="T16" fmla="*/ 12 w 52"/>
                <a:gd name="T17" fmla="*/ 0 h 36"/>
                <a:gd name="T18" fmla="*/ 11 w 52"/>
                <a:gd name="T19" fmla="*/ 0 h 36"/>
                <a:gd name="T20" fmla="*/ 10 w 52"/>
                <a:gd name="T21" fmla="*/ 0 h 36"/>
                <a:gd name="T22" fmla="*/ 7 w 52"/>
                <a:gd name="T23" fmla="*/ 1 h 36"/>
                <a:gd name="T24" fmla="*/ 5 w 52"/>
                <a:gd name="T25" fmla="*/ 3 h 36"/>
                <a:gd name="T26" fmla="*/ 2 w 52"/>
                <a:gd name="T27" fmla="*/ 5 h 36"/>
                <a:gd name="T28" fmla="*/ 1 w 52"/>
                <a:gd name="T29" fmla="*/ 8 h 36"/>
                <a:gd name="T30" fmla="*/ 0 w 52"/>
                <a:gd name="T31" fmla="*/ 10 h 36"/>
                <a:gd name="T32" fmla="*/ 0 w 52"/>
                <a:gd name="T33" fmla="*/ 11 h 36"/>
                <a:gd name="T34" fmla="*/ 1 w 52"/>
                <a:gd name="T35" fmla="*/ 12 h 36"/>
                <a:gd name="T36" fmla="*/ 3 w 52"/>
                <a:gd name="T37" fmla="*/ 13 h 36"/>
                <a:gd name="T38" fmla="*/ 5 w 52"/>
                <a:gd name="T39" fmla="*/ 13 h 36"/>
                <a:gd name="T40" fmla="*/ 6 w 52"/>
                <a:gd name="T41" fmla="*/ 13 h 36"/>
                <a:gd name="T42" fmla="*/ 8 w 52"/>
                <a:gd name="T43" fmla="*/ 12 h 36"/>
                <a:gd name="T44" fmla="*/ 10 w 52"/>
                <a:gd name="T45" fmla="*/ 12 h 36"/>
                <a:gd name="T46" fmla="*/ 12 w 52"/>
                <a:gd name="T47" fmla="*/ 11 h 36"/>
                <a:gd name="T48" fmla="*/ 14 w 52"/>
                <a:gd name="T49" fmla="*/ 1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48" name="Freeform 76"/>
            <p:cNvSpPr>
              <a:spLocks/>
            </p:cNvSpPr>
            <p:nvPr/>
          </p:nvSpPr>
          <p:spPr bwMode="auto">
            <a:xfrm>
              <a:off x="3315" y="3160"/>
              <a:ext cx="77" cy="86"/>
            </a:xfrm>
            <a:custGeom>
              <a:avLst/>
              <a:gdLst>
                <a:gd name="T0" fmla="*/ 28 w 198"/>
                <a:gd name="T1" fmla="*/ 13 h 236"/>
                <a:gd name="T2" fmla="*/ 23 w 198"/>
                <a:gd name="T3" fmla="*/ 17 h 236"/>
                <a:gd name="T4" fmla="*/ 18 w 198"/>
                <a:gd name="T5" fmla="*/ 21 h 236"/>
                <a:gd name="T6" fmla="*/ 13 w 198"/>
                <a:gd name="T7" fmla="*/ 26 h 236"/>
                <a:gd name="T8" fmla="*/ 9 w 198"/>
                <a:gd name="T9" fmla="*/ 31 h 236"/>
                <a:gd name="T10" fmla="*/ 5 w 198"/>
                <a:gd name="T11" fmla="*/ 36 h 236"/>
                <a:gd name="T12" fmla="*/ 3 w 198"/>
                <a:gd name="T13" fmla="*/ 42 h 236"/>
                <a:gd name="T14" fmla="*/ 1 w 198"/>
                <a:gd name="T15" fmla="*/ 47 h 236"/>
                <a:gd name="T16" fmla="*/ 0 w 198"/>
                <a:gd name="T17" fmla="*/ 53 h 236"/>
                <a:gd name="T18" fmla="*/ 1 w 198"/>
                <a:gd name="T19" fmla="*/ 62 h 236"/>
                <a:gd name="T20" fmla="*/ 5 w 198"/>
                <a:gd name="T21" fmla="*/ 69 h 236"/>
                <a:gd name="T22" fmla="*/ 10 w 198"/>
                <a:gd name="T23" fmla="*/ 75 h 236"/>
                <a:gd name="T24" fmla="*/ 17 w 198"/>
                <a:gd name="T25" fmla="*/ 80 h 236"/>
                <a:gd name="T26" fmla="*/ 25 w 198"/>
                <a:gd name="T27" fmla="*/ 83 h 236"/>
                <a:gd name="T28" fmla="*/ 34 w 198"/>
                <a:gd name="T29" fmla="*/ 86 h 236"/>
                <a:gd name="T30" fmla="*/ 43 w 198"/>
                <a:gd name="T31" fmla="*/ 86 h 236"/>
                <a:gd name="T32" fmla="*/ 51 w 198"/>
                <a:gd name="T33" fmla="*/ 85 h 236"/>
                <a:gd name="T34" fmla="*/ 53 w 198"/>
                <a:gd name="T35" fmla="*/ 85 h 236"/>
                <a:gd name="T36" fmla="*/ 55 w 198"/>
                <a:gd name="T37" fmla="*/ 84 h 236"/>
                <a:gd name="T38" fmla="*/ 56 w 198"/>
                <a:gd name="T39" fmla="*/ 82 h 236"/>
                <a:gd name="T40" fmla="*/ 57 w 198"/>
                <a:gd name="T41" fmla="*/ 81 h 236"/>
                <a:gd name="T42" fmla="*/ 56 w 198"/>
                <a:gd name="T43" fmla="*/ 80 h 236"/>
                <a:gd name="T44" fmla="*/ 55 w 198"/>
                <a:gd name="T45" fmla="*/ 80 h 236"/>
                <a:gd name="T46" fmla="*/ 53 w 198"/>
                <a:gd name="T47" fmla="*/ 79 h 236"/>
                <a:gd name="T48" fmla="*/ 51 w 198"/>
                <a:gd name="T49" fmla="*/ 79 h 236"/>
                <a:gd name="T50" fmla="*/ 48 w 198"/>
                <a:gd name="T51" fmla="*/ 79 h 236"/>
                <a:gd name="T52" fmla="*/ 46 w 198"/>
                <a:gd name="T53" fmla="*/ 79 h 236"/>
                <a:gd name="T54" fmla="*/ 44 w 198"/>
                <a:gd name="T55" fmla="*/ 79 h 236"/>
                <a:gd name="T56" fmla="*/ 42 w 198"/>
                <a:gd name="T57" fmla="*/ 79 h 236"/>
                <a:gd name="T58" fmla="*/ 38 w 198"/>
                <a:gd name="T59" fmla="*/ 79 h 236"/>
                <a:gd name="T60" fmla="*/ 34 w 198"/>
                <a:gd name="T61" fmla="*/ 78 h 236"/>
                <a:gd name="T62" fmla="*/ 29 w 198"/>
                <a:gd name="T63" fmla="*/ 78 h 236"/>
                <a:gd name="T64" fmla="*/ 24 w 198"/>
                <a:gd name="T65" fmla="*/ 77 h 236"/>
                <a:gd name="T66" fmla="*/ 20 w 198"/>
                <a:gd name="T67" fmla="*/ 75 h 236"/>
                <a:gd name="T68" fmla="*/ 16 w 198"/>
                <a:gd name="T69" fmla="*/ 73 h 236"/>
                <a:gd name="T70" fmla="*/ 11 w 198"/>
                <a:gd name="T71" fmla="*/ 69 h 236"/>
                <a:gd name="T72" fmla="*/ 7 w 198"/>
                <a:gd name="T73" fmla="*/ 63 h 236"/>
                <a:gd name="T74" fmla="*/ 6 w 198"/>
                <a:gd name="T75" fmla="*/ 57 h 236"/>
                <a:gd name="T76" fmla="*/ 6 w 198"/>
                <a:gd name="T77" fmla="*/ 51 h 236"/>
                <a:gd name="T78" fmla="*/ 8 w 198"/>
                <a:gd name="T79" fmla="*/ 45 h 236"/>
                <a:gd name="T80" fmla="*/ 11 w 198"/>
                <a:gd name="T81" fmla="*/ 40 h 236"/>
                <a:gd name="T82" fmla="*/ 15 w 198"/>
                <a:gd name="T83" fmla="*/ 35 h 236"/>
                <a:gd name="T84" fmla="*/ 19 w 198"/>
                <a:gd name="T85" fmla="*/ 30 h 236"/>
                <a:gd name="T86" fmla="*/ 24 w 198"/>
                <a:gd name="T87" fmla="*/ 26 h 236"/>
                <a:gd name="T88" fmla="*/ 30 w 198"/>
                <a:gd name="T89" fmla="*/ 22 h 236"/>
                <a:gd name="T90" fmla="*/ 37 w 198"/>
                <a:gd name="T91" fmla="*/ 18 h 236"/>
                <a:gd name="T92" fmla="*/ 43 w 198"/>
                <a:gd name="T93" fmla="*/ 14 h 236"/>
                <a:gd name="T94" fmla="*/ 49 w 198"/>
                <a:gd name="T95" fmla="*/ 11 h 236"/>
                <a:gd name="T96" fmla="*/ 55 w 198"/>
                <a:gd name="T97" fmla="*/ 9 h 236"/>
                <a:gd name="T98" fmla="*/ 61 w 198"/>
                <a:gd name="T99" fmla="*/ 7 h 236"/>
                <a:gd name="T100" fmla="*/ 67 w 198"/>
                <a:gd name="T101" fmla="*/ 5 h 236"/>
                <a:gd name="T102" fmla="*/ 72 w 198"/>
                <a:gd name="T103" fmla="*/ 4 h 236"/>
                <a:gd name="T104" fmla="*/ 77 w 198"/>
                <a:gd name="T105" fmla="*/ 3 h 236"/>
                <a:gd name="T106" fmla="*/ 74 w 198"/>
                <a:gd name="T107" fmla="*/ 1 h 236"/>
                <a:gd name="T108" fmla="*/ 69 w 198"/>
                <a:gd name="T109" fmla="*/ 0 h 236"/>
                <a:gd name="T110" fmla="*/ 63 w 198"/>
                <a:gd name="T111" fmla="*/ 1 h 236"/>
                <a:gd name="T112" fmla="*/ 56 w 198"/>
                <a:gd name="T113" fmla="*/ 2 h 236"/>
                <a:gd name="T114" fmla="*/ 48 w 198"/>
                <a:gd name="T115" fmla="*/ 4 h 236"/>
                <a:gd name="T116" fmla="*/ 41 w 198"/>
                <a:gd name="T117" fmla="*/ 7 h 236"/>
                <a:gd name="T118" fmla="*/ 34 w 198"/>
                <a:gd name="T119" fmla="*/ 10 h 236"/>
                <a:gd name="T120" fmla="*/ 28 w 198"/>
                <a:gd name="T121" fmla="*/ 13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tx1"/>
              </a:solidFill>
              <a:round/>
              <a:headEnd/>
              <a:tailEnd/>
            </a:ln>
          </p:spPr>
          <p:txBody>
            <a:bodyPr/>
            <a:lstStyle/>
            <a:p>
              <a:endParaRPr lang="de-DE"/>
            </a:p>
          </p:txBody>
        </p:sp>
        <p:sp>
          <p:nvSpPr>
            <p:cNvPr id="49" name="Freeform 77"/>
            <p:cNvSpPr>
              <a:spLocks/>
            </p:cNvSpPr>
            <p:nvPr/>
          </p:nvSpPr>
          <p:spPr bwMode="auto">
            <a:xfrm>
              <a:off x="3446" y="3160"/>
              <a:ext cx="52" cy="66"/>
            </a:xfrm>
            <a:custGeom>
              <a:avLst/>
              <a:gdLst>
                <a:gd name="T0" fmla="*/ 44 w 128"/>
                <a:gd name="T1" fmla="*/ 22 h 183"/>
                <a:gd name="T2" fmla="*/ 45 w 128"/>
                <a:gd name="T3" fmla="*/ 29 h 183"/>
                <a:gd name="T4" fmla="*/ 44 w 128"/>
                <a:gd name="T5" fmla="*/ 35 h 183"/>
                <a:gd name="T6" fmla="*/ 41 w 128"/>
                <a:gd name="T7" fmla="*/ 40 h 183"/>
                <a:gd name="T8" fmla="*/ 36 w 128"/>
                <a:gd name="T9" fmla="*/ 44 h 183"/>
                <a:gd name="T10" fmla="*/ 30 w 128"/>
                <a:gd name="T11" fmla="*/ 48 h 183"/>
                <a:gd name="T12" fmla="*/ 24 w 128"/>
                <a:gd name="T13" fmla="*/ 52 h 183"/>
                <a:gd name="T14" fmla="*/ 17 w 128"/>
                <a:gd name="T15" fmla="*/ 56 h 183"/>
                <a:gd name="T16" fmla="*/ 12 w 128"/>
                <a:gd name="T17" fmla="*/ 60 h 183"/>
                <a:gd name="T18" fmla="*/ 11 w 128"/>
                <a:gd name="T19" fmla="*/ 61 h 183"/>
                <a:gd name="T20" fmla="*/ 11 w 128"/>
                <a:gd name="T21" fmla="*/ 62 h 183"/>
                <a:gd name="T22" fmla="*/ 11 w 128"/>
                <a:gd name="T23" fmla="*/ 63 h 183"/>
                <a:gd name="T24" fmla="*/ 11 w 128"/>
                <a:gd name="T25" fmla="*/ 65 h 183"/>
                <a:gd name="T26" fmla="*/ 12 w 128"/>
                <a:gd name="T27" fmla="*/ 66 h 183"/>
                <a:gd name="T28" fmla="*/ 14 w 128"/>
                <a:gd name="T29" fmla="*/ 66 h 183"/>
                <a:gd name="T30" fmla="*/ 15 w 128"/>
                <a:gd name="T31" fmla="*/ 66 h 183"/>
                <a:gd name="T32" fmla="*/ 17 w 128"/>
                <a:gd name="T33" fmla="*/ 66 h 183"/>
                <a:gd name="T34" fmla="*/ 24 w 128"/>
                <a:gd name="T35" fmla="*/ 62 h 183"/>
                <a:gd name="T36" fmla="*/ 31 w 128"/>
                <a:gd name="T37" fmla="*/ 58 h 183"/>
                <a:gd name="T38" fmla="*/ 37 w 128"/>
                <a:gd name="T39" fmla="*/ 53 h 183"/>
                <a:gd name="T40" fmla="*/ 44 w 128"/>
                <a:gd name="T41" fmla="*/ 48 h 183"/>
                <a:gd name="T42" fmla="*/ 48 w 128"/>
                <a:gd name="T43" fmla="*/ 42 h 183"/>
                <a:gd name="T44" fmla="*/ 51 w 128"/>
                <a:gd name="T45" fmla="*/ 35 h 183"/>
                <a:gd name="T46" fmla="*/ 52 w 128"/>
                <a:gd name="T47" fmla="*/ 28 h 183"/>
                <a:gd name="T48" fmla="*/ 50 w 128"/>
                <a:gd name="T49" fmla="*/ 21 h 183"/>
                <a:gd name="T50" fmla="*/ 45 w 128"/>
                <a:gd name="T51" fmla="*/ 15 h 183"/>
                <a:gd name="T52" fmla="*/ 40 w 128"/>
                <a:gd name="T53" fmla="*/ 10 h 183"/>
                <a:gd name="T54" fmla="*/ 32 w 128"/>
                <a:gd name="T55" fmla="*/ 6 h 183"/>
                <a:gd name="T56" fmla="*/ 25 w 128"/>
                <a:gd name="T57" fmla="*/ 3 h 183"/>
                <a:gd name="T58" fmla="*/ 17 w 128"/>
                <a:gd name="T59" fmla="*/ 1 h 183"/>
                <a:gd name="T60" fmla="*/ 9 w 128"/>
                <a:gd name="T61" fmla="*/ 0 h 183"/>
                <a:gd name="T62" fmla="*/ 4 w 128"/>
                <a:gd name="T63" fmla="*/ 0 h 183"/>
                <a:gd name="T64" fmla="*/ 0 w 128"/>
                <a:gd name="T65" fmla="*/ 2 h 183"/>
                <a:gd name="T66" fmla="*/ 7 w 128"/>
                <a:gd name="T67" fmla="*/ 4 h 183"/>
                <a:gd name="T68" fmla="*/ 13 w 128"/>
                <a:gd name="T69" fmla="*/ 5 h 183"/>
                <a:gd name="T70" fmla="*/ 19 w 128"/>
                <a:gd name="T71" fmla="*/ 6 h 183"/>
                <a:gd name="T72" fmla="*/ 26 w 128"/>
                <a:gd name="T73" fmla="*/ 8 h 183"/>
                <a:gd name="T74" fmla="*/ 31 w 128"/>
                <a:gd name="T75" fmla="*/ 10 h 183"/>
                <a:gd name="T76" fmla="*/ 37 w 128"/>
                <a:gd name="T77" fmla="*/ 13 h 183"/>
                <a:gd name="T78" fmla="*/ 41 w 128"/>
                <a:gd name="T79" fmla="*/ 17 h 183"/>
                <a:gd name="T80" fmla="*/ 44 w 128"/>
                <a:gd name="T81" fmla="*/ 22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tx1"/>
              </a:solidFill>
              <a:round/>
              <a:headEnd/>
              <a:tailEnd/>
            </a:ln>
          </p:spPr>
          <p:txBody>
            <a:bodyPr/>
            <a:lstStyle/>
            <a:p>
              <a:endParaRPr lang="de-DE"/>
            </a:p>
          </p:txBody>
        </p:sp>
        <p:sp>
          <p:nvSpPr>
            <p:cNvPr id="50" name="Freeform 78"/>
            <p:cNvSpPr>
              <a:spLocks/>
            </p:cNvSpPr>
            <p:nvPr/>
          </p:nvSpPr>
          <p:spPr bwMode="auto">
            <a:xfrm>
              <a:off x="3266" y="3145"/>
              <a:ext cx="124" cy="138"/>
            </a:xfrm>
            <a:custGeom>
              <a:avLst/>
              <a:gdLst>
                <a:gd name="T0" fmla="*/ 39 w 323"/>
                <a:gd name="T1" fmla="*/ 25 h 379"/>
                <a:gd name="T2" fmla="*/ 21 w 323"/>
                <a:gd name="T3" fmla="*/ 42 h 379"/>
                <a:gd name="T4" fmla="*/ 7 w 323"/>
                <a:gd name="T5" fmla="*/ 61 h 379"/>
                <a:gd name="T6" fmla="*/ 0 w 323"/>
                <a:gd name="T7" fmla="*/ 83 h 379"/>
                <a:gd name="T8" fmla="*/ 2 w 323"/>
                <a:gd name="T9" fmla="*/ 97 h 379"/>
                <a:gd name="T10" fmla="*/ 4 w 323"/>
                <a:gd name="T11" fmla="*/ 103 h 379"/>
                <a:gd name="T12" fmla="*/ 8 w 323"/>
                <a:gd name="T13" fmla="*/ 109 h 379"/>
                <a:gd name="T14" fmla="*/ 13 w 323"/>
                <a:gd name="T15" fmla="*/ 113 h 379"/>
                <a:gd name="T16" fmla="*/ 22 w 323"/>
                <a:gd name="T17" fmla="*/ 118 h 379"/>
                <a:gd name="T18" fmla="*/ 33 w 323"/>
                <a:gd name="T19" fmla="*/ 124 h 379"/>
                <a:gd name="T20" fmla="*/ 46 w 323"/>
                <a:gd name="T21" fmla="*/ 128 h 379"/>
                <a:gd name="T22" fmla="*/ 59 w 323"/>
                <a:gd name="T23" fmla="*/ 131 h 379"/>
                <a:gd name="T24" fmla="*/ 72 w 323"/>
                <a:gd name="T25" fmla="*/ 134 h 379"/>
                <a:gd name="T26" fmla="*/ 85 w 323"/>
                <a:gd name="T27" fmla="*/ 135 h 379"/>
                <a:gd name="T28" fmla="*/ 98 w 323"/>
                <a:gd name="T29" fmla="*/ 137 h 379"/>
                <a:gd name="T30" fmla="*/ 111 w 323"/>
                <a:gd name="T31" fmla="*/ 138 h 379"/>
                <a:gd name="T32" fmla="*/ 120 w 323"/>
                <a:gd name="T33" fmla="*/ 138 h 379"/>
                <a:gd name="T34" fmla="*/ 123 w 323"/>
                <a:gd name="T35" fmla="*/ 135 h 379"/>
                <a:gd name="T36" fmla="*/ 124 w 323"/>
                <a:gd name="T37" fmla="*/ 131 h 379"/>
                <a:gd name="T38" fmla="*/ 121 w 323"/>
                <a:gd name="T39" fmla="*/ 128 h 379"/>
                <a:gd name="T40" fmla="*/ 113 w 323"/>
                <a:gd name="T41" fmla="*/ 128 h 379"/>
                <a:gd name="T42" fmla="*/ 101 w 323"/>
                <a:gd name="T43" fmla="*/ 127 h 379"/>
                <a:gd name="T44" fmla="*/ 89 w 323"/>
                <a:gd name="T45" fmla="*/ 127 h 379"/>
                <a:gd name="T46" fmla="*/ 77 w 323"/>
                <a:gd name="T47" fmla="*/ 125 h 379"/>
                <a:gd name="T48" fmla="*/ 64 w 323"/>
                <a:gd name="T49" fmla="*/ 123 h 379"/>
                <a:gd name="T50" fmla="*/ 52 w 323"/>
                <a:gd name="T51" fmla="*/ 120 h 379"/>
                <a:gd name="T52" fmla="*/ 41 w 323"/>
                <a:gd name="T53" fmla="*/ 117 h 379"/>
                <a:gd name="T54" fmla="*/ 29 w 323"/>
                <a:gd name="T55" fmla="*/ 111 h 379"/>
                <a:gd name="T56" fmla="*/ 20 w 323"/>
                <a:gd name="T57" fmla="*/ 106 h 379"/>
                <a:gd name="T58" fmla="*/ 13 w 323"/>
                <a:gd name="T59" fmla="*/ 98 h 379"/>
                <a:gd name="T60" fmla="*/ 12 w 323"/>
                <a:gd name="T61" fmla="*/ 87 h 379"/>
                <a:gd name="T62" fmla="*/ 15 w 323"/>
                <a:gd name="T63" fmla="*/ 72 h 379"/>
                <a:gd name="T64" fmla="*/ 20 w 323"/>
                <a:gd name="T65" fmla="*/ 60 h 379"/>
                <a:gd name="T66" fmla="*/ 26 w 323"/>
                <a:gd name="T67" fmla="*/ 50 h 379"/>
                <a:gd name="T68" fmla="*/ 34 w 323"/>
                <a:gd name="T69" fmla="*/ 40 h 379"/>
                <a:gd name="T70" fmla="*/ 44 w 323"/>
                <a:gd name="T71" fmla="*/ 32 h 379"/>
                <a:gd name="T72" fmla="*/ 55 w 323"/>
                <a:gd name="T73" fmla="*/ 23 h 379"/>
                <a:gd name="T74" fmla="*/ 69 w 323"/>
                <a:gd name="T75" fmla="*/ 15 h 379"/>
                <a:gd name="T76" fmla="*/ 84 w 323"/>
                <a:gd name="T77" fmla="*/ 8 h 379"/>
                <a:gd name="T78" fmla="*/ 97 w 323"/>
                <a:gd name="T79" fmla="*/ 3 h 379"/>
                <a:gd name="T80" fmla="*/ 98 w 323"/>
                <a:gd name="T81" fmla="*/ 0 h 379"/>
                <a:gd name="T82" fmla="*/ 85 w 323"/>
                <a:gd name="T83" fmla="*/ 2 h 379"/>
                <a:gd name="T84" fmla="*/ 69 w 323"/>
                <a:gd name="T85" fmla="*/ 7 h 379"/>
                <a:gd name="T86" fmla="*/ 55 w 323"/>
                <a:gd name="T87" fmla="*/ 14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tx1"/>
              </a:solidFill>
              <a:round/>
              <a:headEnd/>
              <a:tailEnd/>
            </a:ln>
          </p:spPr>
          <p:txBody>
            <a:bodyPr/>
            <a:lstStyle/>
            <a:p>
              <a:endParaRPr lang="de-DE"/>
            </a:p>
          </p:txBody>
        </p:sp>
        <p:sp>
          <p:nvSpPr>
            <p:cNvPr id="51" name="Freeform 79"/>
            <p:cNvSpPr>
              <a:spLocks/>
            </p:cNvSpPr>
            <p:nvPr/>
          </p:nvSpPr>
          <p:spPr bwMode="auto">
            <a:xfrm>
              <a:off x="3441" y="3140"/>
              <a:ext cx="111" cy="92"/>
            </a:xfrm>
            <a:custGeom>
              <a:avLst/>
              <a:gdLst>
                <a:gd name="T0" fmla="*/ 92 w 282"/>
                <a:gd name="T1" fmla="*/ 28 h 253"/>
                <a:gd name="T2" fmla="*/ 98 w 282"/>
                <a:gd name="T3" fmla="*/ 33 h 253"/>
                <a:gd name="T4" fmla="*/ 100 w 282"/>
                <a:gd name="T5" fmla="*/ 39 h 253"/>
                <a:gd name="T6" fmla="*/ 102 w 282"/>
                <a:gd name="T7" fmla="*/ 45 h 253"/>
                <a:gd name="T8" fmla="*/ 102 w 282"/>
                <a:gd name="T9" fmla="*/ 52 h 253"/>
                <a:gd name="T10" fmla="*/ 101 w 282"/>
                <a:gd name="T11" fmla="*/ 58 h 253"/>
                <a:gd name="T12" fmla="*/ 99 w 282"/>
                <a:gd name="T13" fmla="*/ 62 h 253"/>
                <a:gd name="T14" fmla="*/ 96 w 282"/>
                <a:gd name="T15" fmla="*/ 67 h 253"/>
                <a:gd name="T16" fmla="*/ 93 w 282"/>
                <a:gd name="T17" fmla="*/ 71 h 253"/>
                <a:gd name="T18" fmla="*/ 89 w 282"/>
                <a:gd name="T19" fmla="*/ 75 h 253"/>
                <a:gd name="T20" fmla="*/ 85 w 282"/>
                <a:gd name="T21" fmla="*/ 78 h 253"/>
                <a:gd name="T22" fmla="*/ 80 w 282"/>
                <a:gd name="T23" fmla="*/ 82 h 253"/>
                <a:gd name="T24" fmla="*/ 76 w 282"/>
                <a:gd name="T25" fmla="*/ 86 h 253"/>
                <a:gd name="T26" fmla="*/ 75 w 282"/>
                <a:gd name="T27" fmla="*/ 87 h 253"/>
                <a:gd name="T28" fmla="*/ 75 w 282"/>
                <a:gd name="T29" fmla="*/ 88 h 253"/>
                <a:gd name="T30" fmla="*/ 75 w 282"/>
                <a:gd name="T31" fmla="*/ 89 h 253"/>
                <a:gd name="T32" fmla="*/ 76 w 282"/>
                <a:gd name="T33" fmla="*/ 91 h 253"/>
                <a:gd name="T34" fmla="*/ 78 w 282"/>
                <a:gd name="T35" fmla="*/ 92 h 253"/>
                <a:gd name="T36" fmla="*/ 79 w 282"/>
                <a:gd name="T37" fmla="*/ 92 h 253"/>
                <a:gd name="T38" fmla="*/ 81 w 282"/>
                <a:gd name="T39" fmla="*/ 92 h 253"/>
                <a:gd name="T40" fmla="*/ 82 w 282"/>
                <a:gd name="T41" fmla="*/ 91 h 253"/>
                <a:gd name="T42" fmla="*/ 91 w 282"/>
                <a:gd name="T43" fmla="*/ 85 h 253"/>
                <a:gd name="T44" fmla="*/ 99 w 282"/>
                <a:gd name="T45" fmla="*/ 78 h 253"/>
                <a:gd name="T46" fmla="*/ 105 w 282"/>
                <a:gd name="T47" fmla="*/ 70 h 253"/>
                <a:gd name="T48" fmla="*/ 109 w 282"/>
                <a:gd name="T49" fmla="*/ 61 h 253"/>
                <a:gd name="T50" fmla="*/ 111 w 282"/>
                <a:gd name="T51" fmla="*/ 51 h 253"/>
                <a:gd name="T52" fmla="*/ 110 w 282"/>
                <a:gd name="T53" fmla="*/ 42 h 253"/>
                <a:gd name="T54" fmla="*/ 106 w 282"/>
                <a:gd name="T55" fmla="*/ 33 h 253"/>
                <a:gd name="T56" fmla="*/ 99 w 282"/>
                <a:gd name="T57" fmla="*/ 25 h 253"/>
                <a:gd name="T58" fmla="*/ 93 w 282"/>
                <a:gd name="T59" fmla="*/ 21 h 253"/>
                <a:gd name="T60" fmla="*/ 87 w 282"/>
                <a:gd name="T61" fmla="*/ 17 h 253"/>
                <a:gd name="T62" fmla="*/ 80 w 282"/>
                <a:gd name="T63" fmla="*/ 14 h 253"/>
                <a:gd name="T64" fmla="*/ 72 w 282"/>
                <a:gd name="T65" fmla="*/ 11 h 253"/>
                <a:gd name="T66" fmla="*/ 64 w 282"/>
                <a:gd name="T67" fmla="*/ 9 h 253"/>
                <a:gd name="T68" fmla="*/ 56 w 282"/>
                <a:gd name="T69" fmla="*/ 7 h 253"/>
                <a:gd name="T70" fmla="*/ 48 w 282"/>
                <a:gd name="T71" fmla="*/ 5 h 253"/>
                <a:gd name="T72" fmla="*/ 40 w 282"/>
                <a:gd name="T73" fmla="*/ 3 h 253"/>
                <a:gd name="T74" fmla="*/ 32 w 282"/>
                <a:gd name="T75" fmla="*/ 2 h 253"/>
                <a:gd name="T76" fmla="*/ 25 w 282"/>
                <a:gd name="T77" fmla="*/ 1 h 253"/>
                <a:gd name="T78" fmla="*/ 18 w 282"/>
                <a:gd name="T79" fmla="*/ 0 h 253"/>
                <a:gd name="T80" fmla="*/ 13 w 282"/>
                <a:gd name="T81" fmla="*/ 0 h 253"/>
                <a:gd name="T82" fmla="*/ 7 w 282"/>
                <a:gd name="T83" fmla="*/ 0 h 253"/>
                <a:gd name="T84" fmla="*/ 4 w 282"/>
                <a:gd name="T85" fmla="*/ 0 h 253"/>
                <a:gd name="T86" fmla="*/ 2 w 282"/>
                <a:gd name="T87" fmla="*/ 1 h 253"/>
                <a:gd name="T88" fmla="*/ 0 w 282"/>
                <a:gd name="T89" fmla="*/ 2 h 253"/>
                <a:gd name="T90" fmla="*/ 5 w 282"/>
                <a:gd name="T91" fmla="*/ 3 h 253"/>
                <a:gd name="T92" fmla="*/ 10 w 282"/>
                <a:gd name="T93" fmla="*/ 3 h 253"/>
                <a:gd name="T94" fmla="*/ 15 w 282"/>
                <a:gd name="T95" fmla="*/ 4 h 253"/>
                <a:gd name="T96" fmla="*/ 20 w 282"/>
                <a:gd name="T97" fmla="*/ 5 h 253"/>
                <a:gd name="T98" fmla="*/ 26 w 282"/>
                <a:gd name="T99" fmla="*/ 6 h 253"/>
                <a:gd name="T100" fmla="*/ 32 w 282"/>
                <a:gd name="T101" fmla="*/ 7 h 253"/>
                <a:gd name="T102" fmla="*/ 38 w 282"/>
                <a:gd name="T103" fmla="*/ 8 h 253"/>
                <a:gd name="T104" fmla="*/ 45 w 282"/>
                <a:gd name="T105" fmla="*/ 9 h 253"/>
                <a:gd name="T106" fmla="*/ 51 w 282"/>
                <a:gd name="T107" fmla="*/ 11 h 253"/>
                <a:gd name="T108" fmla="*/ 57 w 282"/>
                <a:gd name="T109" fmla="*/ 13 h 253"/>
                <a:gd name="T110" fmla="*/ 64 w 282"/>
                <a:gd name="T111" fmla="*/ 15 h 253"/>
                <a:gd name="T112" fmla="*/ 70 w 282"/>
                <a:gd name="T113" fmla="*/ 17 h 253"/>
                <a:gd name="T114" fmla="*/ 76 w 282"/>
                <a:gd name="T115" fmla="*/ 19 h 253"/>
                <a:gd name="T116" fmla="*/ 82 w 282"/>
                <a:gd name="T117" fmla="*/ 22 h 253"/>
                <a:gd name="T118" fmla="*/ 87 w 282"/>
                <a:gd name="T119" fmla="*/ 25 h 253"/>
                <a:gd name="T120" fmla="*/ 92 w 282"/>
                <a:gd name="T121" fmla="*/ 2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tx1"/>
              </a:solidFill>
              <a:round/>
              <a:headEnd/>
              <a:tailEnd/>
            </a:ln>
          </p:spPr>
          <p:txBody>
            <a:bodyPr/>
            <a:lstStyle/>
            <a:p>
              <a:endParaRPr lang="de-DE"/>
            </a:p>
          </p:txBody>
        </p:sp>
        <p:sp>
          <p:nvSpPr>
            <p:cNvPr id="52" name="Freeform 80"/>
            <p:cNvSpPr>
              <a:spLocks/>
            </p:cNvSpPr>
            <p:nvPr/>
          </p:nvSpPr>
          <p:spPr bwMode="auto">
            <a:xfrm>
              <a:off x="3221" y="3191"/>
              <a:ext cx="45" cy="85"/>
            </a:xfrm>
            <a:custGeom>
              <a:avLst/>
              <a:gdLst>
                <a:gd name="T0" fmla="*/ 0 w 115"/>
                <a:gd name="T1" fmla="*/ 46 h 236"/>
                <a:gd name="T2" fmla="*/ 0 w 115"/>
                <a:gd name="T3" fmla="*/ 53 h 236"/>
                <a:gd name="T4" fmla="*/ 2 w 115"/>
                <a:gd name="T5" fmla="*/ 60 h 236"/>
                <a:gd name="T6" fmla="*/ 5 w 115"/>
                <a:gd name="T7" fmla="*/ 66 h 236"/>
                <a:gd name="T8" fmla="*/ 9 w 115"/>
                <a:gd name="T9" fmla="*/ 71 h 236"/>
                <a:gd name="T10" fmla="*/ 15 w 115"/>
                <a:gd name="T11" fmla="*/ 76 h 236"/>
                <a:gd name="T12" fmla="*/ 22 w 115"/>
                <a:gd name="T13" fmla="*/ 80 h 236"/>
                <a:gd name="T14" fmla="*/ 29 w 115"/>
                <a:gd name="T15" fmla="*/ 83 h 236"/>
                <a:gd name="T16" fmla="*/ 36 w 115"/>
                <a:gd name="T17" fmla="*/ 85 h 236"/>
                <a:gd name="T18" fmla="*/ 38 w 115"/>
                <a:gd name="T19" fmla="*/ 85 h 236"/>
                <a:gd name="T20" fmla="*/ 41 w 115"/>
                <a:gd name="T21" fmla="*/ 84 h 236"/>
                <a:gd name="T22" fmla="*/ 43 w 115"/>
                <a:gd name="T23" fmla="*/ 83 h 236"/>
                <a:gd name="T24" fmla="*/ 43 w 115"/>
                <a:gd name="T25" fmla="*/ 81 h 236"/>
                <a:gd name="T26" fmla="*/ 43 w 115"/>
                <a:gd name="T27" fmla="*/ 79 h 236"/>
                <a:gd name="T28" fmla="*/ 43 w 115"/>
                <a:gd name="T29" fmla="*/ 77 h 236"/>
                <a:gd name="T30" fmla="*/ 42 w 115"/>
                <a:gd name="T31" fmla="*/ 76 h 236"/>
                <a:gd name="T32" fmla="*/ 40 w 115"/>
                <a:gd name="T33" fmla="*/ 75 h 236"/>
                <a:gd name="T34" fmla="*/ 32 w 115"/>
                <a:gd name="T35" fmla="*/ 72 h 236"/>
                <a:gd name="T36" fmla="*/ 25 w 115"/>
                <a:gd name="T37" fmla="*/ 69 h 236"/>
                <a:gd name="T38" fmla="*/ 20 w 115"/>
                <a:gd name="T39" fmla="*/ 64 h 236"/>
                <a:gd name="T40" fmla="*/ 16 w 115"/>
                <a:gd name="T41" fmla="*/ 59 h 236"/>
                <a:gd name="T42" fmla="*/ 13 w 115"/>
                <a:gd name="T43" fmla="*/ 53 h 236"/>
                <a:gd name="T44" fmla="*/ 11 w 115"/>
                <a:gd name="T45" fmla="*/ 47 h 236"/>
                <a:gd name="T46" fmla="*/ 11 w 115"/>
                <a:gd name="T47" fmla="*/ 40 h 236"/>
                <a:gd name="T48" fmla="*/ 14 w 115"/>
                <a:gd name="T49" fmla="*/ 32 h 236"/>
                <a:gd name="T50" fmla="*/ 17 w 115"/>
                <a:gd name="T51" fmla="*/ 27 h 236"/>
                <a:gd name="T52" fmla="*/ 22 w 115"/>
                <a:gd name="T53" fmla="*/ 22 h 236"/>
                <a:gd name="T54" fmla="*/ 27 w 115"/>
                <a:gd name="T55" fmla="*/ 17 h 236"/>
                <a:gd name="T56" fmla="*/ 33 w 115"/>
                <a:gd name="T57" fmla="*/ 12 h 236"/>
                <a:gd name="T58" fmla="*/ 38 w 115"/>
                <a:gd name="T59" fmla="*/ 8 h 236"/>
                <a:gd name="T60" fmla="*/ 43 w 115"/>
                <a:gd name="T61" fmla="*/ 4 h 236"/>
                <a:gd name="T62" fmla="*/ 45 w 115"/>
                <a:gd name="T63" fmla="*/ 2 h 236"/>
                <a:gd name="T64" fmla="*/ 45 w 115"/>
                <a:gd name="T65" fmla="*/ 0 h 236"/>
                <a:gd name="T66" fmla="*/ 40 w 115"/>
                <a:gd name="T67" fmla="*/ 1 h 236"/>
                <a:gd name="T68" fmla="*/ 33 w 115"/>
                <a:gd name="T69" fmla="*/ 4 h 236"/>
                <a:gd name="T70" fmla="*/ 27 w 115"/>
                <a:gd name="T71" fmla="*/ 9 h 236"/>
                <a:gd name="T72" fmla="*/ 19 w 115"/>
                <a:gd name="T73" fmla="*/ 15 h 236"/>
                <a:gd name="T74" fmla="*/ 13 w 115"/>
                <a:gd name="T75" fmla="*/ 22 h 236"/>
                <a:gd name="T76" fmla="*/ 7 w 115"/>
                <a:gd name="T77" fmla="*/ 30 h 236"/>
                <a:gd name="T78" fmla="*/ 2 w 115"/>
                <a:gd name="T79" fmla="*/ 38 h 236"/>
                <a:gd name="T80" fmla="*/ 0 w 115"/>
                <a:gd name="T81" fmla="*/ 46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tx1"/>
              </a:solidFill>
              <a:round/>
              <a:headEnd/>
              <a:tailEnd/>
            </a:ln>
          </p:spPr>
          <p:txBody>
            <a:bodyPr/>
            <a:lstStyle/>
            <a:p>
              <a:endParaRPr lang="de-DE"/>
            </a:p>
          </p:txBody>
        </p:sp>
        <p:sp>
          <p:nvSpPr>
            <p:cNvPr id="53" name="Freeform 81"/>
            <p:cNvSpPr>
              <a:spLocks/>
            </p:cNvSpPr>
            <p:nvPr/>
          </p:nvSpPr>
          <p:spPr bwMode="auto">
            <a:xfrm>
              <a:off x="3533" y="3134"/>
              <a:ext cx="96" cy="114"/>
            </a:xfrm>
            <a:custGeom>
              <a:avLst/>
              <a:gdLst>
                <a:gd name="T0" fmla="*/ 82 w 245"/>
                <a:gd name="T1" fmla="*/ 46 h 310"/>
                <a:gd name="T2" fmla="*/ 86 w 245"/>
                <a:gd name="T3" fmla="*/ 53 h 310"/>
                <a:gd name="T4" fmla="*/ 89 w 245"/>
                <a:gd name="T5" fmla="*/ 60 h 310"/>
                <a:gd name="T6" fmla="*/ 87 w 245"/>
                <a:gd name="T7" fmla="*/ 69 h 310"/>
                <a:gd name="T8" fmla="*/ 82 w 245"/>
                <a:gd name="T9" fmla="*/ 77 h 310"/>
                <a:gd name="T10" fmla="*/ 74 w 245"/>
                <a:gd name="T11" fmla="*/ 84 h 310"/>
                <a:gd name="T12" fmla="*/ 65 w 245"/>
                <a:gd name="T13" fmla="*/ 90 h 310"/>
                <a:gd name="T14" fmla="*/ 56 w 245"/>
                <a:gd name="T15" fmla="*/ 97 h 310"/>
                <a:gd name="T16" fmla="*/ 50 w 245"/>
                <a:gd name="T17" fmla="*/ 102 h 310"/>
                <a:gd name="T18" fmla="*/ 49 w 245"/>
                <a:gd name="T19" fmla="*/ 106 h 310"/>
                <a:gd name="T20" fmla="*/ 47 w 245"/>
                <a:gd name="T21" fmla="*/ 109 h 310"/>
                <a:gd name="T22" fmla="*/ 48 w 245"/>
                <a:gd name="T23" fmla="*/ 113 h 310"/>
                <a:gd name="T24" fmla="*/ 51 w 245"/>
                <a:gd name="T25" fmla="*/ 114 h 310"/>
                <a:gd name="T26" fmla="*/ 54 w 245"/>
                <a:gd name="T27" fmla="*/ 114 h 310"/>
                <a:gd name="T28" fmla="*/ 60 w 245"/>
                <a:gd name="T29" fmla="*/ 107 h 310"/>
                <a:gd name="T30" fmla="*/ 71 w 245"/>
                <a:gd name="T31" fmla="*/ 99 h 310"/>
                <a:gd name="T32" fmla="*/ 81 w 245"/>
                <a:gd name="T33" fmla="*/ 90 h 310"/>
                <a:gd name="T34" fmla="*/ 90 w 245"/>
                <a:gd name="T35" fmla="*/ 81 h 310"/>
                <a:gd name="T36" fmla="*/ 96 w 245"/>
                <a:gd name="T37" fmla="*/ 68 h 310"/>
                <a:gd name="T38" fmla="*/ 95 w 245"/>
                <a:gd name="T39" fmla="*/ 56 h 310"/>
                <a:gd name="T40" fmla="*/ 89 w 245"/>
                <a:gd name="T41" fmla="*/ 44 h 310"/>
                <a:gd name="T42" fmla="*/ 80 w 245"/>
                <a:gd name="T43" fmla="*/ 34 h 310"/>
                <a:gd name="T44" fmla="*/ 69 w 245"/>
                <a:gd name="T45" fmla="*/ 28 h 310"/>
                <a:gd name="T46" fmla="*/ 59 w 245"/>
                <a:gd name="T47" fmla="*/ 22 h 310"/>
                <a:gd name="T48" fmla="*/ 48 w 245"/>
                <a:gd name="T49" fmla="*/ 17 h 310"/>
                <a:gd name="T50" fmla="*/ 36 w 245"/>
                <a:gd name="T51" fmla="*/ 11 h 310"/>
                <a:gd name="T52" fmla="*/ 26 w 245"/>
                <a:gd name="T53" fmla="*/ 7 h 310"/>
                <a:gd name="T54" fmla="*/ 16 w 245"/>
                <a:gd name="T55" fmla="*/ 3 h 310"/>
                <a:gd name="T56" fmla="*/ 8 w 245"/>
                <a:gd name="T57" fmla="*/ 0 h 310"/>
                <a:gd name="T58" fmla="*/ 2 w 245"/>
                <a:gd name="T59" fmla="*/ 0 h 310"/>
                <a:gd name="T60" fmla="*/ 4 w 245"/>
                <a:gd name="T61" fmla="*/ 3 h 310"/>
                <a:gd name="T62" fmla="*/ 14 w 245"/>
                <a:gd name="T63" fmla="*/ 7 h 310"/>
                <a:gd name="T64" fmla="*/ 24 w 245"/>
                <a:gd name="T65" fmla="*/ 11 h 310"/>
                <a:gd name="T66" fmla="*/ 34 w 245"/>
                <a:gd name="T67" fmla="*/ 16 h 310"/>
                <a:gd name="T68" fmla="*/ 44 w 245"/>
                <a:gd name="T69" fmla="*/ 21 h 310"/>
                <a:gd name="T70" fmla="*/ 54 w 245"/>
                <a:gd name="T71" fmla="*/ 26 h 310"/>
                <a:gd name="T72" fmla="*/ 65 w 245"/>
                <a:gd name="T73" fmla="*/ 32 h 310"/>
                <a:gd name="T74" fmla="*/ 74 w 245"/>
                <a:gd name="T75" fmla="*/ 39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tx1"/>
              </a:solidFill>
              <a:round/>
              <a:headEnd/>
              <a:tailEnd/>
            </a:ln>
          </p:spPr>
          <p:txBody>
            <a:bodyPr/>
            <a:lstStyle/>
            <a:p>
              <a:endParaRPr lang="de-DE"/>
            </a:p>
          </p:txBody>
        </p:sp>
        <p:grpSp>
          <p:nvGrpSpPr>
            <p:cNvPr id="54" name="Group 82"/>
            <p:cNvGrpSpPr>
              <a:grpSpLocks/>
            </p:cNvGrpSpPr>
            <p:nvPr/>
          </p:nvGrpSpPr>
          <p:grpSpPr bwMode="auto">
            <a:xfrm>
              <a:off x="3334" y="3309"/>
              <a:ext cx="290" cy="354"/>
              <a:chOff x="3774" y="2423"/>
              <a:chExt cx="189" cy="286"/>
            </a:xfrm>
          </p:grpSpPr>
          <p:sp>
            <p:nvSpPr>
              <p:cNvPr id="69" name="Rectangle 83"/>
              <p:cNvSpPr>
                <a:spLocks noChangeArrowheads="1"/>
              </p:cNvSpPr>
              <p:nvPr/>
            </p:nvSpPr>
            <p:spPr bwMode="auto">
              <a:xfrm>
                <a:off x="3790" y="2610"/>
                <a:ext cx="153"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0" name="Rectangle 84"/>
              <p:cNvSpPr>
                <a:spLocks noChangeArrowheads="1"/>
              </p:cNvSpPr>
              <p:nvPr/>
            </p:nvSpPr>
            <p:spPr bwMode="auto">
              <a:xfrm>
                <a:off x="3774" y="2653"/>
                <a:ext cx="189"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1" name="Rectangle 85"/>
              <p:cNvSpPr>
                <a:spLocks noChangeArrowheads="1"/>
              </p:cNvSpPr>
              <p:nvPr/>
            </p:nvSpPr>
            <p:spPr bwMode="auto">
              <a:xfrm>
                <a:off x="3808" y="2564"/>
                <a:ext cx="119"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2" name="Rectangle 86"/>
              <p:cNvSpPr>
                <a:spLocks noChangeArrowheads="1"/>
              </p:cNvSpPr>
              <p:nvPr/>
            </p:nvSpPr>
            <p:spPr bwMode="auto">
              <a:xfrm>
                <a:off x="3818" y="2518"/>
                <a:ext cx="97"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3" name="Rectangle 87"/>
              <p:cNvSpPr>
                <a:spLocks noChangeArrowheads="1"/>
              </p:cNvSpPr>
              <p:nvPr/>
            </p:nvSpPr>
            <p:spPr bwMode="auto">
              <a:xfrm>
                <a:off x="3828" y="2472"/>
                <a:ext cx="74"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4" name="Rectangle 88"/>
              <p:cNvSpPr>
                <a:spLocks noChangeArrowheads="1"/>
              </p:cNvSpPr>
              <p:nvPr/>
            </p:nvSpPr>
            <p:spPr bwMode="auto">
              <a:xfrm>
                <a:off x="3839" y="2423"/>
                <a:ext cx="51" cy="56"/>
              </a:xfrm>
              <a:prstGeom prst="rect">
                <a:avLst/>
              </a:prstGeom>
              <a:solidFill>
                <a:schemeClr val="hlink"/>
              </a:solidFill>
              <a:ln w="9525">
                <a:solidFill>
                  <a:schemeClr val="tx1"/>
                </a:solidFill>
                <a:miter lim="800000"/>
                <a:headEnd/>
                <a:tailEnd/>
              </a:ln>
            </p:spPr>
            <p:txBody>
              <a:bodyPr wrap="none" anchor="ctr"/>
              <a:lstStyle/>
              <a:p>
                <a:endParaRPr lang="de-DE"/>
              </a:p>
            </p:txBody>
          </p:sp>
        </p:grpSp>
        <p:grpSp>
          <p:nvGrpSpPr>
            <p:cNvPr id="55" name="Group 91"/>
            <p:cNvGrpSpPr>
              <a:grpSpLocks/>
            </p:cNvGrpSpPr>
            <p:nvPr/>
          </p:nvGrpSpPr>
          <p:grpSpPr bwMode="auto">
            <a:xfrm>
              <a:off x="3420" y="3341"/>
              <a:ext cx="105" cy="46"/>
              <a:chOff x="3420" y="3341"/>
              <a:chExt cx="105" cy="46"/>
            </a:xfrm>
          </p:grpSpPr>
          <p:sp>
            <p:nvSpPr>
              <p:cNvPr id="67" name="Rectangle 89"/>
              <p:cNvSpPr>
                <a:spLocks noChangeArrowheads="1"/>
              </p:cNvSpPr>
              <p:nvPr/>
            </p:nvSpPr>
            <p:spPr bwMode="auto">
              <a:xfrm>
                <a:off x="3438" y="3341"/>
                <a:ext cx="72" cy="32"/>
              </a:xfrm>
              <a:prstGeom prst="rect">
                <a:avLst/>
              </a:prstGeom>
              <a:solidFill>
                <a:schemeClr val="hlink"/>
              </a:solidFill>
              <a:ln w="9525">
                <a:noFill/>
                <a:miter lim="800000"/>
                <a:headEnd/>
                <a:tailEnd/>
              </a:ln>
            </p:spPr>
            <p:txBody>
              <a:bodyPr wrap="none" anchor="ctr"/>
              <a:lstStyle/>
              <a:p>
                <a:endParaRPr lang="de-DE"/>
              </a:p>
            </p:txBody>
          </p:sp>
          <p:sp>
            <p:nvSpPr>
              <p:cNvPr id="68" name="Rectangle 90"/>
              <p:cNvSpPr>
                <a:spLocks noChangeArrowheads="1"/>
              </p:cNvSpPr>
              <p:nvPr/>
            </p:nvSpPr>
            <p:spPr bwMode="auto">
              <a:xfrm>
                <a:off x="3420" y="3355"/>
                <a:ext cx="105" cy="32"/>
              </a:xfrm>
              <a:prstGeom prst="rect">
                <a:avLst/>
              </a:prstGeom>
              <a:solidFill>
                <a:schemeClr val="hlink"/>
              </a:solidFill>
              <a:ln w="9525">
                <a:noFill/>
                <a:miter lim="800000"/>
                <a:headEnd/>
                <a:tailEnd/>
              </a:ln>
            </p:spPr>
            <p:txBody>
              <a:bodyPr wrap="none" anchor="ctr"/>
              <a:lstStyle/>
              <a:p>
                <a:endParaRPr lang="de-DE"/>
              </a:p>
            </p:txBody>
          </p:sp>
        </p:grpSp>
        <p:grpSp>
          <p:nvGrpSpPr>
            <p:cNvPr id="56" name="Group 92"/>
            <p:cNvGrpSpPr>
              <a:grpSpLocks/>
            </p:cNvGrpSpPr>
            <p:nvPr/>
          </p:nvGrpSpPr>
          <p:grpSpPr bwMode="auto">
            <a:xfrm>
              <a:off x="3442" y="3398"/>
              <a:ext cx="136" cy="46"/>
              <a:chOff x="3420" y="3341"/>
              <a:chExt cx="105" cy="46"/>
            </a:xfrm>
          </p:grpSpPr>
          <p:sp>
            <p:nvSpPr>
              <p:cNvPr id="65" name="Rectangle 93"/>
              <p:cNvSpPr>
                <a:spLocks noChangeArrowheads="1"/>
              </p:cNvSpPr>
              <p:nvPr/>
            </p:nvSpPr>
            <p:spPr bwMode="auto">
              <a:xfrm>
                <a:off x="3438" y="3341"/>
                <a:ext cx="72" cy="32"/>
              </a:xfrm>
              <a:prstGeom prst="rect">
                <a:avLst/>
              </a:prstGeom>
              <a:solidFill>
                <a:schemeClr val="hlink"/>
              </a:solidFill>
              <a:ln w="9525">
                <a:noFill/>
                <a:miter lim="800000"/>
                <a:headEnd/>
                <a:tailEnd/>
              </a:ln>
            </p:spPr>
            <p:txBody>
              <a:bodyPr wrap="none" anchor="ctr"/>
              <a:lstStyle/>
              <a:p>
                <a:endParaRPr lang="de-DE"/>
              </a:p>
            </p:txBody>
          </p:sp>
          <p:sp>
            <p:nvSpPr>
              <p:cNvPr id="66" name="Rectangle 94"/>
              <p:cNvSpPr>
                <a:spLocks noChangeArrowheads="1"/>
              </p:cNvSpPr>
              <p:nvPr/>
            </p:nvSpPr>
            <p:spPr bwMode="auto">
              <a:xfrm>
                <a:off x="3420" y="3355"/>
                <a:ext cx="105" cy="32"/>
              </a:xfrm>
              <a:prstGeom prst="rect">
                <a:avLst/>
              </a:prstGeom>
              <a:solidFill>
                <a:schemeClr val="hlink"/>
              </a:solidFill>
              <a:ln w="9525">
                <a:noFill/>
                <a:miter lim="800000"/>
                <a:headEnd/>
                <a:tailEnd/>
              </a:ln>
            </p:spPr>
            <p:txBody>
              <a:bodyPr wrap="none" anchor="ctr"/>
              <a:lstStyle/>
              <a:p>
                <a:endParaRPr lang="de-DE"/>
              </a:p>
            </p:txBody>
          </p:sp>
        </p:grpSp>
        <p:grpSp>
          <p:nvGrpSpPr>
            <p:cNvPr id="57" name="Group 95"/>
            <p:cNvGrpSpPr>
              <a:grpSpLocks/>
            </p:cNvGrpSpPr>
            <p:nvPr/>
          </p:nvGrpSpPr>
          <p:grpSpPr bwMode="auto">
            <a:xfrm>
              <a:off x="3392" y="3455"/>
              <a:ext cx="168" cy="46"/>
              <a:chOff x="3420" y="3341"/>
              <a:chExt cx="105" cy="46"/>
            </a:xfrm>
          </p:grpSpPr>
          <p:sp>
            <p:nvSpPr>
              <p:cNvPr id="63" name="Rectangle 96"/>
              <p:cNvSpPr>
                <a:spLocks noChangeArrowheads="1"/>
              </p:cNvSpPr>
              <p:nvPr/>
            </p:nvSpPr>
            <p:spPr bwMode="auto">
              <a:xfrm>
                <a:off x="3438" y="3341"/>
                <a:ext cx="72" cy="32"/>
              </a:xfrm>
              <a:prstGeom prst="rect">
                <a:avLst/>
              </a:prstGeom>
              <a:solidFill>
                <a:schemeClr val="hlink"/>
              </a:solidFill>
              <a:ln w="9525">
                <a:noFill/>
                <a:miter lim="800000"/>
                <a:headEnd/>
                <a:tailEnd/>
              </a:ln>
            </p:spPr>
            <p:txBody>
              <a:bodyPr wrap="none" anchor="ctr"/>
              <a:lstStyle/>
              <a:p>
                <a:endParaRPr lang="de-DE"/>
              </a:p>
            </p:txBody>
          </p:sp>
          <p:sp>
            <p:nvSpPr>
              <p:cNvPr id="64" name="Rectangle 97"/>
              <p:cNvSpPr>
                <a:spLocks noChangeArrowheads="1"/>
              </p:cNvSpPr>
              <p:nvPr/>
            </p:nvSpPr>
            <p:spPr bwMode="auto">
              <a:xfrm>
                <a:off x="3420" y="3355"/>
                <a:ext cx="105" cy="32"/>
              </a:xfrm>
              <a:prstGeom prst="rect">
                <a:avLst/>
              </a:prstGeom>
              <a:solidFill>
                <a:schemeClr val="hlink"/>
              </a:solidFill>
              <a:ln w="9525">
                <a:noFill/>
                <a:miter lim="800000"/>
                <a:headEnd/>
                <a:tailEnd/>
              </a:ln>
            </p:spPr>
            <p:txBody>
              <a:bodyPr wrap="none" anchor="ctr"/>
              <a:lstStyle/>
              <a:p>
                <a:endParaRPr lang="de-DE"/>
              </a:p>
            </p:txBody>
          </p:sp>
        </p:grpSp>
        <p:grpSp>
          <p:nvGrpSpPr>
            <p:cNvPr id="58" name="Group 98"/>
            <p:cNvGrpSpPr>
              <a:grpSpLocks/>
            </p:cNvGrpSpPr>
            <p:nvPr/>
          </p:nvGrpSpPr>
          <p:grpSpPr bwMode="auto">
            <a:xfrm>
              <a:off x="3378" y="3512"/>
              <a:ext cx="203" cy="46"/>
              <a:chOff x="3420" y="3341"/>
              <a:chExt cx="105" cy="46"/>
            </a:xfrm>
          </p:grpSpPr>
          <p:sp>
            <p:nvSpPr>
              <p:cNvPr id="61" name="Rectangle 99"/>
              <p:cNvSpPr>
                <a:spLocks noChangeArrowheads="1"/>
              </p:cNvSpPr>
              <p:nvPr/>
            </p:nvSpPr>
            <p:spPr bwMode="auto">
              <a:xfrm>
                <a:off x="3438" y="3341"/>
                <a:ext cx="72" cy="32"/>
              </a:xfrm>
              <a:prstGeom prst="rect">
                <a:avLst/>
              </a:prstGeom>
              <a:solidFill>
                <a:schemeClr val="hlink"/>
              </a:solidFill>
              <a:ln w="9525">
                <a:noFill/>
                <a:miter lim="800000"/>
                <a:headEnd/>
                <a:tailEnd/>
              </a:ln>
            </p:spPr>
            <p:txBody>
              <a:bodyPr wrap="none" anchor="ctr"/>
              <a:lstStyle/>
              <a:p>
                <a:endParaRPr lang="de-DE"/>
              </a:p>
            </p:txBody>
          </p:sp>
          <p:sp>
            <p:nvSpPr>
              <p:cNvPr id="62" name="Rectangle 100"/>
              <p:cNvSpPr>
                <a:spLocks noChangeArrowheads="1"/>
              </p:cNvSpPr>
              <p:nvPr/>
            </p:nvSpPr>
            <p:spPr bwMode="auto">
              <a:xfrm>
                <a:off x="3420" y="3355"/>
                <a:ext cx="105" cy="32"/>
              </a:xfrm>
              <a:prstGeom prst="rect">
                <a:avLst/>
              </a:prstGeom>
              <a:solidFill>
                <a:schemeClr val="hlink"/>
              </a:solidFill>
              <a:ln w="9525">
                <a:noFill/>
                <a:miter lim="800000"/>
                <a:headEnd/>
                <a:tailEnd/>
              </a:ln>
            </p:spPr>
            <p:txBody>
              <a:bodyPr wrap="none" anchor="ctr"/>
              <a:lstStyle/>
              <a:p>
                <a:endParaRPr lang="de-DE"/>
              </a:p>
            </p:txBody>
          </p:sp>
        </p:grpSp>
        <p:sp>
          <p:nvSpPr>
            <p:cNvPr id="59" name="Rectangle 102"/>
            <p:cNvSpPr>
              <a:spLocks noChangeArrowheads="1"/>
            </p:cNvSpPr>
            <p:nvPr/>
          </p:nvSpPr>
          <p:spPr bwMode="auto">
            <a:xfrm>
              <a:off x="3363" y="3561"/>
              <a:ext cx="226" cy="33"/>
            </a:xfrm>
            <a:prstGeom prst="rect">
              <a:avLst/>
            </a:prstGeom>
            <a:solidFill>
              <a:schemeClr val="hlink"/>
            </a:solidFill>
            <a:ln w="9525">
              <a:noFill/>
              <a:miter lim="800000"/>
              <a:headEnd/>
              <a:tailEnd/>
            </a:ln>
          </p:spPr>
          <p:txBody>
            <a:bodyPr wrap="none" anchor="ctr"/>
            <a:lstStyle/>
            <a:p>
              <a:endParaRPr lang="de-DE"/>
            </a:p>
          </p:txBody>
        </p:sp>
        <p:sp>
          <p:nvSpPr>
            <p:cNvPr id="60" name="Rectangle 103"/>
            <p:cNvSpPr>
              <a:spLocks noChangeArrowheads="1"/>
            </p:cNvSpPr>
            <p:nvPr/>
          </p:nvSpPr>
          <p:spPr bwMode="auto">
            <a:xfrm>
              <a:off x="3382" y="3580"/>
              <a:ext cx="232" cy="32"/>
            </a:xfrm>
            <a:prstGeom prst="rect">
              <a:avLst/>
            </a:prstGeom>
            <a:solidFill>
              <a:schemeClr val="hlink"/>
            </a:solidFill>
            <a:ln w="9525">
              <a:noFill/>
              <a:miter lim="800000"/>
              <a:headEnd/>
              <a:tailEnd/>
            </a:ln>
          </p:spPr>
          <p:txBody>
            <a:bodyPr wrap="none" anchor="ctr"/>
            <a:lstStyle/>
            <a:p>
              <a:endParaRPr lang="de-DE"/>
            </a:p>
          </p:txBody>
        </p:sp>
      </p:grpSp>
      <p:cxnSp>
        <p:nvCxnSpPr>
          <p:cNvPr id="78" name="Gewinkelte Verbindung 77"/>
          <p:cNvCxnSpPr>
            <a:endCxn id="35" idx="0"/>
          </p:cNvCxnSpPr>
          <p:nvPr/>
        </p:nvCxnSpPr>
        <p:spPr>
          <a:xfrm rot="10800000" flipV="1">
            <a:off x="6760616" y="1916832"/>
            <a:ext cx="1195760" cy="945604"/>
          </a:xfrm>
          <a:prstGeom prst="bentConnector2">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5" name="Freeform 69"/>
          <p:cNvSpPr>
            <a:spLocks/>
          </p:cNvSpPr>
          <p:nvPr/>
        </p:nvSpPr>
        <p:spPr bwMode="auto">
          <a:xfrm rot="4873784">
            <a:off x="7714364" y="1186127"/>
            <a:ext cx="1243547" cy="1305257"/>
          </a:xfrm>
          <a:custGeom>
            <a:avLst/>
            <a:gdLst>
              <a:gd name="T0" fmla="*/ 264297 w 1292"/>
              <a:gd name="T1" fmla="*/ 7394 h 1255"/>
              <a:gd name="T2" fmla="*/ 38705 w 1292"/>
              <a:gd name="T3" fmla="*/ 165827 h 1255"/>
              <a:gd name="T4" fmla="*/ 32069 w 1292"/>
              <a:gd name="T5" fmla="*/ 552406 h 1255"/>
              <a:gd name="T6" fmla="*/ 58610 w 1292"/>
              <a:gd name="T7" fmla="*/ 875611 h 1255"/>
              <a:gd name="T8" fmla="*/ 270932 w 1292"/>
              <a:gd name="T9" fmla="*/ 919972 h 1255"/>
              <a:gd name="T10" fmla="*/ 715481 w 1292"/>
              <a:gd name="T11" fmla="*/ 1192479 h 1255"/>
              <a:gd name="T12" fmla="*/ 1100314 w 1292"/>
              <a:gd name="T13" fmla="*/ 1306551 h 1255"/>
              <a:gd name="T14" fmla="*/ 1325907 w 1292"/>
              <a:gd name="T15" fmla="*/ 1078406 h 1255"/>
              <a:gd name="T16" fmla="*/ 1405527 w 1292"/>
              <a:gd name="T17" fmla="*/ 470020 h 1255"/>
              <a:gd name="T18" fmla="*/ 1332542 w 1292"/>
              <a:gd name="T19" fmla="*/ 222864 h 1255"/>
              <a:gd name="T20" fmla="*/ 828277 w 1292"/>
              <a:gd name="T21" fmla="*/ 121466 h 1255"/>
              <a:gd name="T22" fmla="*/ 264297 w 1292"/>
              <a:gd name="T23" fmla="*/ 7394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round/>
            <a:headEnd/>
            <a:tailEnd/>
          </a:ln>
        </p:spPr>
        <p:txBody>
          <a:bodyPr wrap="none" anchor="ctr"/>
          <a:lstStyle/>
          <a:p>
            <a:endParaRPr lang="de-DE"/>
          </a:p>
        </p:txBody>
      </p:sp>
      <p:sp>
        <p:nvSpPr>
          <p:cNvPr id="76" name="Text Box 71"/>
          <p:cNvSpPr txBox="1">
            <a:spLocks noChangeArrowheads="1"/>
          </p:cNvSpPr>
          <p:nvPr/>
        </p:nvSpPr>
        <p:spPr bwMode="auto">
          <a:xfrm>
            <a:off x="7884368" y="1700808"/>
            <a:ext cx="966931" cy="369332"/>
          </a:xfrm>
          <a:prstGeom prst="rect">
            <a:avLst/>
          </a:prstGeom>
          <a:noFill/>
          <a:ln w="9525">
            <a:noFill/>
            <a:miter lim="800000"/>
            <a:headEnd/>
            <a:tailEnd/>
          </a:ln>
        </p:spPr>
        <p:txBody>
          <a:bodyPr wrap="none">
            <a:spAutoFit/>
          </a:bodyPr>
          <a:lstStyle/>
          <a:p>
            <a:r>
              <a:rPr lang="en-US" dirty="0"/>
              <a:t>Internet</a:t>
            </a:r>
          </a:p>
        </p:txBody>
      </p:sp>
    </p:spTree>
    <p:extLst>
      <p:ext uri="{BB962C8B-B14F-4D97-AF65-F5344CB8AC3E}">
        <p14:creationId xmlns:p14="http://schemas.microsoft.com/office/powerpoint/2010/main" val="38263613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6"/>
          <p:cNvPicPr>
            <a:picLocks noChangeAspect="1" noChangeArrowheads="1"/>
          </p:cNvPicPr>
          <p:nvPr/>
        </p:nvPicPr>
        <p:blipFill>
          <a:blip r:embed="rId2" cstate="print"/>
          <a:srcRect/>
          <a:stretch>
            <a:fillRect/>
          </a:stretch>
        </p:blipFill>
        <p:spPr bwMode="auto">
          <a:xfrm>
            <a:off x="4932040" y="2420888"/>
            <a:ext cx="1410365" cy="1055315"/>
          </a:xfrm>
          <a:prstGeom prst="rect">
            <a:avLst/>
          </a:prstGeom>
          <a:noFill/>
          <a:ln w="9525">
            <a:noFill/>
            <a:miter lim="800000"/>
            <a:headEnd/>
            <a:tailEnd/>
          </a:ln>
        </p:spPr>
      </p:pic>
      <p:pic>
        <p:nvPicPr>
          <p:cNvPr id="8" name="Picture 4" descr="coax"/>
          <p:cNvPicPr>
            <a:picLocks noChangeAspect="1" noChangeArrowheads="1"/>
          </p:cNvPicPr>
          <p:nvPr/>
        </p:nvPicPr>
        <p:blipFill>
          <a:blip r:embed="rId3" cstate="print"/>
          <a:srcRect/>
          <a:stretch>
            <a:fillRect/>
          </a:stretch>
        </p:blipFill>
        <p:spPr bwMode="auto">
          <a:xfrm>
            <a:off x="5287642" y="1200053"/>
            <a:ext cx="2756545" cy="1013842"/>
          </a:xfrm>
          <a:prstGeom prst="rect">
            <a:avLst/>
          </a:prstGeom>
          <a:noFill/>
          <a:ln w="9525">
            <a:noFill/>
            <a:miter lim="800000"/>
            <a:headEnd/>
            <a:tailEnd/>
          </a:ln>
        </p:spPr>
      </p:pic>
      <p:sp>
        <p:nvSpPr>
          <p:cNvPr id="2" name="Titel 1"/>
          <p:cNvSpPr>
            <a:spLocks noGrp="1"/>
          </p:cNvSpPr>
          <p:nvPr>
            <p:ph type="title"/>
          </p:nvPr>
        </p:nvSpPr>
        <p:spPr/>
        <p:txBody>
          <a:bodyPr/>
          <a:lstStyle/>
          <a:p>
            <a:r>
              <a:rPr lang="de-DE" dirty="0"/>
              <a:t>Trägermedien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60</a:t>
            </a:fld>
            <a:endParaRPr lang="en-US" noProof="0" dirty="0"/>
          </a:p>
        </p:txBody>
      </p:sp>
      <p:sp>
        <p:nvSpPr>
          <p:cNvPr id="5" name="Inhaltsplatzhalter 4"/>
          <p:cNvSpPr>
            <a:spLocks noGrp="1"/>
          </p:cNvSpPr>
          <p:nvPr>
            <p:ph sz="quarter" idx="1"/>
          </p:nvPr>
        </p:nvSpPr>
        <p:spPr/>
        <p:txBody>
          <a:bodyPr>
            <a:normAutofit fontScale="92500"/>
          </a:bodyPr>
          <a:lstStyle/>
          <a:p>
            <a:r>
              <a:rPr lang="de-DE" dirty="0"/>
              <a:t>Leiten elektromagnetische Wellen oder Lichtimpulse auf einer Teilstrecke der Übertragung</a:t>
            </a:r>
          </a:p>
          <a:p>
            <a:r>
              <a:rPr lang="de-DE" b="1" dirty="0">
                <a:solidFill>
                  <a:srgbClr val="FF0000"/>
                </a:solidFill>
              </a:rPr>
              <a:t>Geführte Medien</a:t>
            </a:r>
          </a:p>
          <a:p>
            <a:pPr lvl="1"/>
            <a:r>
              <a:rPr lang="de-DE" dirty="0"/>
              <a:t>Koaxialkabel</a:t>
            </a:r>
          </a:p>
          <a:p>
            <a:pPr lvl="1"/>
            <a:r>
              <a:rPr lang="de-DE" dirty="0"/>
              <a:t>Verdrilltes Kupferdraht</a:t>
            </a:r>
          </a:p>
          <a:p>
            <a:pPr lvl="1"/>
            <a:r>
              <a:rPr lang="de-DE" dirty="0"/>
              <a:t>Lichtwellenleiter</a:t>
            </a:r>
          </a:p>
          <a:p>
            <a:r>
              <a:rPr lang="de-DE" b="1" dirty="0">
                <a:solidFill>
                  <a:srgbClr val="FF0000"/>
                </a:solidFill>
              </a:rPr>
              <a:t>Nichtgeführte Medien</a:t>
            </a:r>
          </a:p>
          <a:p>
            <a:pPr lvl="1"/>
            <a:r>
              <a:rPr lang="de-DE" dirty="0"/>
              <a:t>Radiowellen in der Atmosphäre oder Weltraum</a:t>
            </a:r>
          </a:p>
          <a:p>
            <a:pPr lvl="1"/>
            <a:endParaRPr lang="de-DE" dirty="0"/>
          </a:p>
        </p:txBody>
      </p:sp>
      <p:sp>
        <p:nvSpPr>
          <p:cNvPr id="9" name="Textfeld 8"/>
          <p:cNvSpPr txBox="1"/>
          <p:nvPr/>
        </p:nvSpPr>
        <p:spPr>
          <a:xfrm>
            <a:off x="7524328" y="1484784"/>
            <a:ext cx="1492716" cy="369332"/>
          </a:xfrm>
          <a:prstGeom prst="rect">
            <a:avLst/>
          </a:prstGeom>
          <a:noFill/>
        </p:spPr>
        <p:txBody>
          <a:bodyPr wrap="none" rtlCol="0">
            <a:spAutoFit/>
          </a:bodyPr>
          <a:lstStyle/>
          <a:p>
            <a:r>
              <a:rPr lang="de-DE" dirty="0"/>
              <a:t>Koaxialkabel</a:t>
            </a:r>
          </a:p>
        </p:txBody>
      </p:sp>
      <p:sp>
        <p:nvSpPr>
          <p:cNvPr id="12" name="Inhaltsplatzhalter 4"/>
          <p:cNvSpPr>
            <a:spLocks noGrp="1"/>
          </p:cNvSpPr>
          <p:nvPr>
            <p:ph sz="quarter" idx="1"/>
          </p:nvPr>
        </p:nvSpPr>
        <p:spPr>
          <a:xfrm>
            <a:off x="4860032" y="4005064"/>
            <a:ext cx="4041648" cy="1584176"/>
          </a:xfrm>
        </p:spPr>
        <p:txBody>
          <a:bodyPr>
            <a:normAutofit/>
          </a:bodyPr>
          <a:lstStyle/>
          <a:p>
            <a:r>
              <a:rPr lang="de-DE" sz="1800"/>
              <a:t>Verdrilltes Kupferdraht (</a:t>
            </a:r>
            <a:r>
              <a:rPr lang="de-DE" sz="1800">
                <a:hlinkClick r:id="rId4"/>
              </a:rPr>
              <a:t>Twisted Pair</a:t>
            </a:r>
            <a:r>
              <a:rPr lang="de-DE" sz="1800"/>
              <a:t>, </a:t>
            </a:r>
            <a:r>
              <a:rPr lang="de-DE" sz="1800" b="1">
                <a:solidFill>
                  <a:srgbClr val="FF0000"/>
                </a:solidFill>
              </a:rPr>
              <a:t>TP</a:t>
            </a:r>
            <a:r>
              <a:rPr lang="de-DE" sz="1800"/>
              <a:t>) – mehrere isolierte Kabel</a:t>
            </a:r>
          </a:p>
          <a:p>
            <a:pPr lvl="1"/>
            <a:r>
              <a:rPr lang="de-DE" sz="1600"/>
              <a:t>Kategorie 3: traditionelle Telefonleitung, 10 Mbps Ethernet</a:t>
            </a:r>
          </a:p>
          <a:p>
            <a:pPr lvl="1"/>
            <a:r>
              <a:rPr lang="de-DE" sz="1600"/>
              <a:t>Kategorie 5: 100Mbps Ethernet</a:t>
            </a:r>
          </a:p>
          <a:p>
            <a:pPr lvl="1"/>
            <a:endParaRPr lang="de-DE" sz="1600"/>
          </a:p>
        </p:txBody>
      </p:sp>
      <p:pic>
        <p:nvPicPr>
          <p:cNvPr id="571394" name="Picture 2" descr="C:\Artur\Academic\Lehre\10.WS-IBN\VL\figures\vl21\800px-4_twisted_pairs.svg.png"/>
          <p:cNvPicPr>
            <a:picLocks noChangeAspect="1" noChangeArrowheads="1"/>
          </p:cNvPicPr>
          <p:nvPr/>
        </p:nvPicPr>
        <p:blipFill>
          <a:blip r:embed="rId5" cstate="print"/>
          <a:srcRect/>
          <a:stretch>
            <a:fillRect/>
          </a:stretch>
        </p:blipFill>
        <p:spPr bwMode="auto">
          <a:xfrm>
            <a:off x="6516216" y="2276872"/>
            <a:ext cx="2369840" cy="1184920"/>
          </a:xfrm>
          <a:prstGeom prst="rect">
            <a:avLst/>
          </a:prstGeom>
          <a:noFill/>
        </p:spPr>
      </p:pic>
      <p:sp>
        <p:nvSpPr>
          <p:cNvPr id="15" name="Rechteck 14"/>
          <p:cNvSpPr/>
          <p:nvPr/>
        </p:nvSpPr>
        <p:spPr>
          <a:xfrm>
            <a:off x="6732240" y="3429000"/>
            <a:ext cx="2178496" cy="523220"/>
          </a:xfrm>
          <a:prstGeom prst="rect">
            <a:avLst/>
          </a:prstGeom>
        </p:spPr>
        <p:txBody>
          <a:bodyPr wrap="square">
            <a:spAutoFit/>
          </a:bodyPr>
          <a:lstStyle/>
          <a:p>
            <a:r>
              <a:rPr lang="de-DE" sz="1400" dirty="0"/>
              <a:t>Verdrillte </a:t>
            </a:r>
            <a:r>
              <a:rPr lang="de-DE" sz="1400" dirty="0" err="1"/>
              <a:t>Adernpaare</a:t>
            </a:r>
            <a:r>
              <a:rPr lang="de-DE" sz="1400" dirty="0"/>
              <a:t> mit Farbcodes nach </a:t>
            </a:r>
            <a:r>
              <a:rPr lang="de-DE" sz="1400" u="sng" dirty="0">
                <a:hlinkClick r:id="rId6" tooltip="TIA-568A/B"/>
              </a:rPr>
              <a:t>T568A</a:t>
            </a:r>
            <a:endParaRPr lang="de-DE" sz="1400" dirty="0"/>
          </a:p>
        </p:txBody>
      </p:sp>
      <p:sp>
        <p:nvSpPr>
          <p:cNvPr id="16" name="Textfeld 15"/>
          <p:cNvSpPr txBox="1"/>
          <p:nvPr/>
        </p:nvSpPr>
        <p:spPr>
          <a:xfrm>
            <a:off x="4788024" y="3501008"/>
            <a:ext cx="1593193" cy="338554"/>
          </a:xfrm>
          <a:prstGeom prst="rect">
            <a:avLst/>
          </a:prstGeom>
          <a:noFill/>
        </p:spPr>
        <p:txBody>
          <a:bodyPr wrap="none" rtlCol="0">
            <a:spAutoFit/>
          </a:bodyPr>
          <a:lstStyle/>
          <a:p>
            <a:r>
              <a:rPr lang="de-DE" sz="1600" dirty="0"/>
              <a:t>Cat-5 TP-Kabel</a:t>
            </a:r>
          </a:p>
        </p:txBody>
      </p:sp>
      <p:pic>
        <p:nvPicPr>
          <p:cNvPr id="571395" name="Picture 3" descr="C:\Artur\Academic\Lehre\10.WS-IBN\VL\figures\vl21\lwl3.png"/>
          <p:cNvPicPr>
            <a:picLocks noChangeAspect="1" noChangeArrowheads="1"/>
          </p:cNvPicPr>
          <p:nvPr/>
        </p:nvPicPr>
        <p:blipFill>
          <a:blip r:embed="rId7" cstate="print"/>
          <a:srcRect/>
          <a:stretch>
            <a:fillRect/>
          </a:stretch>
        </p:blipFill>
        <p:spPr bwMode="auto">
          <a:xfrm>
            <a:off x="5436096" y="5733256"/>
            <a:ext cx="2880320" cy="721691"/>
          </a:xfrm>
          <a:prstGeom prst="rect">
            <a:avLst/>
          </a:prstGeom>
          <a:noFill/>
        </p:spPr>
      </p:pic>
      <p:sp>
        <p:nvSpPr>
          <p:cNvPr id="18" name="Rechteck 17"/>
          <p:cNvSpPr/>
          <p:nvPr/>
        </p:nvSpPr>
        <p:spPr>
          <a:xfrm>
            <a:off x="1936011" y="6021288"/>
            <a:ext cx="2956257" cy="584775"/>
          </a:xfrm>
          <a:prstGeom prst="rect">
            <a:avLst/>
          </a:prstGeom>
          <a:ln w="9525">
            <a:solidFill>
              <a:schemeClr val="tx1"/>
            </a:solidFill>
          </a:ln>
        </p:spPr>
        <p:txBody>
          <a:bodyPr wrap="none">
            <a:spAutoFit/>
          </a:bodyPr>
          <a:lstStyle/>
          <a:p>
            <a:pPr algn="ctr"/>
            <a:r>
              <a:rPr lang="de-DE" sz="1600" dirty="0"/>
              <a:t> Multimode – Stufenindexfaser</a:t>
            </a:r>
          </a:p>
          <a:p>
            <a:pPr algn="ctr"/>
            <a:r>
              <a:rPr lang="de-DE" sz="1600" dirty="0"/>
              <a:t>(Lichtwellenleiter)</a:t>
            </a:r>
          </a:p>
        </p:txBody>
      </p:sp>
      <p:cxnSp>
        <p:nvCxnSpPr>
          <p:cNvPr id="20" name="Gerade Verbindung mit Pfeil 19"/>
          <p:cNvCxnSpPr>
            <a:stCxn id="18" idx="3"/>
            <a:endCxn id="571395" idx="1"/>
          </p:cNvCxnSpPr>
          <p:nvPr/>
        </p:nvCxnSpPr>
        <p:spPr>
          <a:xfrm flipV="1">
            <a:off x="4892268" y="6094102"/>
            <a:ext cx="543828" cy="219574"/>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1227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ARTUR@ADJTKIKJTTW835ML" val="31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keano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keanos">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solidFill>
          <a:srgbClr val="92D05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headEnd type="none" w="med" len="med"/>
          <a:tailEnd type="arrow"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0</TotalTime>
  <Words>10605</Words>
  <Application>Microsoft Office PowerPoint</Application>
  <PresentationFormat>Bildschirmpräsentation (4:3)</PresentationFormat>
  <Paragraphs>993</Paragraphs>
  <Slides>60</Slides>
  <Notes>45</Notes>
  <HiddenSlides>0</HiddenSlides>
  <MMClips>0</MMClips>
  <ScaleCrop>false</ScaleCrop>
  <HeadingPairs>
    <vt:vector size="8" baseType="variant">
      <vt:variant>
        <vt:lpstr>Verwendete Schriftarten</vt:lpstr>
      </vt:variant>
      <vt:variant>
        <vt:i4>7</vt:i4>
      </vt:variant>
      <vt:variant>
        <vt:lpstr>Design</vt:lpstr>
      </vt:variant>
      <vt:variant>
        <vt:i4>1</vt:i4>
      </vt:variant>
      <vt:variant>
        <vt:lpstr>Eingebettete OLE-Server</vt:lpstr>
      </vt:variant>
      <vt:variant>
        <vt:i4>2</vt:i4>
      </vt:variant>
      <vt:variant>
        <vt:lpstr>Folientitel</vt:lpstr>
      </vt:variant>
      <vt:variant>
        <vt:i4>60</vt:i4>
      </vt:variant>
    </vt:vector>
  </HeadingPairs>
  <TitlesOfParts>
    <vt:vector size="70" baseType="lpstr">
      <vt:lpstr>-apple-system</vt:lpstr>
      <vt:lpstr>Arial</vt:lpstr>
      <vt:lpstr>Calibri</vt:lpstr>
      <vt:lpstr>Comic Sans MS</vt:lpstr>
      <vt:lpstr>Symbol</vt:lpstr>
      <vt:lpstr>Wingdings</vt:lpstr>
      <vt:lpstr>Wingdings 3</vt:lpstr>
      <vt:lpstr>Okeanos</vt:lpstr>
      <vt:lpstr>Clip</vt:lpstr>
      <vt:lpstr>Equation</vt:lpstr>
      <vt:lpstr>Betriebssysteme und Netzwerke Vorlesung N01</vt:lpstr>
      <vt:lpstr>Internet - Grundbegriffe</vt:lpstr>
      <vt:lpstr>Internet – Drei „Reale“ Bestandteile</vt:lpstr>
      <vt:lpstr>Internet – Konzeptionelle Bestandteile</vt:lpstr>
      <vt:lpstr>Internet – Anwendungen und Dienste</vt:lpstr>
      <vt:lpstr>Internet - Geschichte</vt:lpstr>
      <vt:lpstr>Zusatzmaterialien zu diesem Teil</vt:lpstr>
      <vt:lpstr>1961-1972: Entwicklung der Paketvermittlung </vt:lpstr>
      <vt:lpstr>1972-1980: Proprietäre Netzwerke und Internetworking</vt:lpstr>
      <vt:lpstr>Paketvermittelte Datenübertragung an der Uni HD</vt:lpstr>
      <vt:lpstr>Prinzipien des Internetworkings - noch gültig!</vt:lpstr>
      <vt:lpstr>1972-1980: … Internetworking</vt:lpstr>
      <vt:lpstr>1980-1990: Die Ausbreitung der Netzwerke</vt:lpstr>
      <vt:lpstr>1990er: Kommerzialisierung und das Web</vt:lpstr>
      <vt:lpstr>2000er: Neuere Entwicklungen</vt:lpstr>
      <vt:lpstr>Interessantes zum Lesen: Unterseekabel</vt:lpstr>
      <vt:lpstr>Paketvermittlung vs. Leitungsvermittlung</vt:lpstr>
      <vt:lpstr>Wie werden die Daten durch ein Netzwerk übermittelt?</vt:lpstr>
      <vt:lpstr>Leitungsvermittelte Netzwerke: Gem. Nutzung</vt:lpstr>
      <vt:lpstr>Paketvermittlung</vt:lpstr>
      <vt:lpstr>PV: Statistisches Multiplexing</vt:lpstr>
      <vt:lpstr>Mehr Nutzer bei PV - Beispiel</vt:lpstr>
      <vt:lpstr>Paketvermittlung vs. Leitungsvermittlung</vt:lpstr>
      <vt:lpstr>Verzögerung, Verlust, Durchsatz  in paketvermittelten Netzen</vt:lpstr>
      <vt:lpstr>Wodurch entstehen Verzögerung und Verlust?</vt:lpstr>
      <vt:lpstr>Warteschlangenverzögerung bei der Paketvermittlung an der Uni HD</vt:lpstr>
      <vt:lpstr>Arten der Verzögerung</vt:lpstr>
      <vt:lpstr>Arten der Verzögerung /2</vt:lpstr>
      <vt:lpstr>Gesamtverzögerung (pro Übetragungsknoten)</vt:lpstr>
      <vt:lpstr>Warteschlangenverzögerung - Genauer</vt:lpstr>
      <vt:lpstr>Ende-zu-Ende-Verzögerung</vt:lpstr>
      <vt:lpstr>Traceroute - Beispiel</vt:lpstr>
      <vt:lpstr>Durchsatz (throughput)</vt:lpstr>
      <vt:lpstr>Durchsatz /2</vt:lpstr>
      <vt:lpstr>Durchsatz im Internet</vt:lpstr>
      <vt:lpstr>Protokollschichten und ihre Dienstmodelle</vt:lpstr>
      <vt:lpstr>Netzwerke sind komplex</vt:lpstr>
      <vt:lpstr>Protokollschichten</vt:lpstr>
      <vt:lpstr>Internet- Protokollstapel</vt:lpstr>
      <vt:lpstr>Internet-Protokollstapel /2</vt:lpstr>
      <vt:lpstr>Wo werden die Protokolle implementiert?</vt:lpstr>
      <vt:lpstr>Kapselung (Encapsulation)</vt:lpstr>
      <vt:lpstr>Kapselung - Beispiel</vt:lpstr>
      <vt:lpstr>Open Systems Interconnection-Modell (OSI) </vt:lpstr>
      <vt:lpstr>Danke.</vt:lpstr>
      <vt:lpstr>Zusatzfolien:  Die Internet-“Pyramide“: Netzwerkrand und Zugangsnetze</vt:lpstr>
      <vt:lpstr>Die Internet-“Pyramide“</vt:lpstr>
      <vt:lpstr>Am Abgrund…  Rand der Netzwerke</vt:lpstr>
      <vt:lpstr>Zugangsnetze</vt:lpstr>
      <vt:lpstr>Hierarchie der Internetdienstanbieter (ISPs)</vt:lpstr>
      <vt:lpstr>Beispiel: Sprint Nextel Netzwerk (2007)</vt:lpstr>
      <vt:lpstr>Tier-2-ISPs</vt:lpstr>
      <vt:lpstr>Tier-3-ISPs</vt:lpstr>
      <vt:lpstr>Ein Paket durchkreuzt viele Netzwerke </vt:lpstr>
      <vt:lpstr>Weitere Zusatzfolien</vt:lpstr>
      <vt:lpstr>Protokolle – Definition?</vt:lpstr>
      <vt:lpstr>Typische Heimzugänge</vt:lpstr>
      <vt:lpstr>Firmenzugänge</vt:lpstr>
      <vt:lpstr>Drahtlose Zugänge – Lokal &amp; Weitverkehr</vt:lpstr>
      <vt:lpstr>Trägermedien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 Betriebssysteme und Netzwerke</dc:title>
  <dc:creator>Artur Andrzejak</dc:creator>
  <cp:lastModifiedBy>Artur Andrzejak</cp:lastModifiedBy>
  <cp:revision>3575</cp:revision>
  <dcterms:created xsi:type="dcterms:W3CDTF">2009-04-16T23:00:57Z</dcterms:created>
  <dcterms:modified xsi:type="dcterms:W3CDTF">2026-06-15T08:36:54Z</dcterms:modified>
</cp:coreProperties>
</file>