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41"/>
  </p:notesMasterIdLst>
  <p:handoutMasterIdLst>
    <p:handoutMasterId r:id="rId42"/>
  </p:handoutMasterIdLst>
  <p:sldIdLst>
    <p:sldId id="1074" r:id="rId25"/>
  </p:sldIdLst>
  <p:sldSz cx="9144000" cy="6858000" type="screen4x3"/>
  <p:notesSz cx="10234613" cy="7104063"/>
  <p:custDataLst>
    <p:tags r:id="rId4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10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0070C0"/>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F22E33"/>
    <a:srgbClr val="FF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Helle Formatvorlage 2 - Akz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0A1B5D5-9B99-4C35-A422-299274C87663}" styleName="Mittlere Formatvorlage 1 - Akz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DF18680-E054-41AD-8BC1-D1AEF772440D}" styleName="Mittlere Formatvorlage 2 - Akz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141" autoAdjust="0"/>
    <p:restoredTop sz="93327" autoAdjust="0"/>
  </p:normalViewPr>
  <p:slideViewPr>
    <p:cSldViewPr>
      <p:cViewPr varScale="1">
        <p:scale>
          <a:sx n="69" d="100"/>
          <a:sy n="69" d="100"/>
        </p:scale>
        <p:origin x="536" y="40"/>
      </p:cViewPr>
      <p:guideLst>
        <p:guide orient="horz" pos="2160"/>
        <p:guide pos="1020"/>
      </p:guideLst>
    </p:cSldViewPr>
  </p:slideViewPr>
  <p:notesTextViewPr>
    <p:cViewPr>
      <p:scale>
        <a:sx n="3" d="2"/>
        <a:sy n="3" d="2"/>
      </p:scale>
      <p:origin x="0" y="0"/>
    </p:cViewPr>
  </p:notesTextViewPr>
  <p:sorterViewPr>
    <p:cViewPr>
      <p:scale>
        <a:sx n="200" d="100"/>
        <a:sy n="200" d="100"/>
      </p:scale>
      <p:origin x="0" y="-247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
            <a:ext cx="4434999" cy="355203"/>
          </a:xfrm>
          <a:prstGeom prst="rect">
            <a:avLst/>
          </a:prstGeom>
        </p:spPr>
        <p:txBody>
          <a:bodyPr vert="horz" lIns="95491" tIns="47745" rIns="95491" bIns="47745" rtlCol="0"/>
          <a:lstStyle>
            <a:lvl1pPr algn="l">
              <a:defRPr sz="1300"/>
            </a:lvl1pPr>
          </a:lstStyle>
          <a:p>
            <a:endParaRPr lang="de-DE"/>
          </a:p>
        </p:txBody>
      </p:sp>
      <p:sp>
        <p:nvSpPr>
          <p:cNvPr id="3" name="Datumsplatzhalter 2"/>
          <p:cNvSpPr>
            <a:spLocks noGrp="1"/>
          </p:cNvSpPr>
          <p:nvPr>
            <p:ph type="dt" sz="quarter" idx="1"/>
          </p:nvPr>
        </p:nvSpPr>
        <p:spPr>
          <a:xfrm>
            <a:off x="5797248" y="1"/>
            <a:ext cx="4434999" cy="355203"/>
          </a:xfrm>
          <a:prstGeom prst="rect">
            <a:avLst/>
          </a:prstGeom>
        </p:spPr>
        <p:txBody>
          <a:bodyPr vert="horz" lIns="95491" tIns="47745" rIns="95491" bIns="47745" rtlCol="0"/>
          <a:lstStyle>
            <a:lvl1pPr algn="r">
              <a:defRPr sz="1300"/>
            </a:lvl1pPr>
          </a:lstStyle>
          <a:p>
            <a:fld id="{503D259A-BC5A-44A4-AF17-09BFC30AC7B9}" type="datetimeFigureOut">
              <a:rPr lang="de-DE" smtClean="0"/>
              <a:pPr/>
              <a:t>11.05.2026</a:t>
            </a:fld>
            <a:endParaRPr lang="de-DE"/>
          </a:p>
        </p:txBody>
      </p:sp>
      <p:sp>
        <p:nvSpPr>
          <p:cNvPr id="4" name="Fußzeilenplatzhalter 3"/>
          <p:cNvSpPr>
            <a:spLocks noGrp="1"/>
          </p:cNvSpPr>
          <p:nvPr>
            <p:ph type="ftr" sz="quarter" idx="2"/>
          </p:nvPr>
        </p:nvSpPr>
        <p:spPr>
          <a:xfrm>
            <a:off x="2" y="6747629"/>
            <a:ext cx="4434999" cy="355203"/>
          </a:xfrm>
          <a:prstGeom prst="rect">
            <a:avLst/>
          </a:prstGeom>
        </p:spPr>
        <p:txBody>
          <a:bodyPr vert="horz" lIns="95491" tIns="47745" rIns="95491" bIns="47745" rtlCol="0" anchor="b"/>
          <a:lstStyle>
            <a:lvl1pPr algn="l">
              <a:defRPr sz="1300"/>
            </a:lvl1pPr>
          </a:lstStyle>
          <a:p>
            <a:endParaRPr lang="de-DE"/>
          </a:p>
        </p:txBody>
      </p:sp>
      <p:sp>
        <p:nvSpPr>
          <p:cNvPr id="5" name="Foliennummernplatzhalter 4"/>
          <p:cNvSpPr>
            <a:spLocks noGrp="1"/>
          </p:cNvSpPr>
          <p:nvPr>
            <p:ph type="sldNum" sz="quarter" idx="3"/>
          </p:nvPr>
        </p:nvSpPr>
        <p:spPr>
          <a:xfrm>
            <a:off x="5797248" y="6747629"/>
            <a:ext cx="4434999" cy="355203"/>
          </a:xfrm>
          <a:prstGeom prst="rect">
            <a:avLst/>
          </a:prstGeom>
        </p:spPr>
        <p:txBody>
          <a:bodyPr vert="horz" lIns="95491" tIns="47745" rIns="95491" bIns="47745" rtlCol="0" anchor="b"/>
          <a:lstStyle>
            <a:lvl1pPr algn="r">
              <a:defRPr sz="1300"/>
            </a:lvl1pPr>
          </a:lstStyle>
          <a:p>
            <a:fld id="{69916C2F-BC73-49DB-9119-EC35D25111C2}" type="slidenum">
              <a:rPr lang="de-DE" smtClean="0"/>
              <a:pPr/>
              <a:t>‹Nr.›</a:t>
            </a:fld>
            <a:endParaRPr lang="de-DE"/>
          </a:p>
        </p:txBody>
      </p:sp>
    </p:spTree>
    <p:extLst>
      <p:ext uri="{BB962C8B-B14F-4D97-AF65-F5344CB8AC3E}">
        <p14:creationId xmlns:p14="http://schemas.microsoft.com/office/powerpoint/2010/main" val="41564495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1"/>
            <a:ext cx="4434999" cy="355203"/>
          </a:xfrm>
          <a:prstGeom prst="rect">
            <a:avLst/>
          </a:prstGeom>
        </p:spPr>
        <p:txBody>
          <a:bodyPr vert="horz" lIns="95491" tIns="47745" rIns="95491" bIns="47745" rtlCol="0"/>
          <a:lstStyle>
            <a:lvl1pPr algn="l">
              <a:defRPr sz="1300"/>
            </a:lvl1pPr>
          </a:lstStyle>
          <a:p>
            <a:endParaRPr lang="en-US"/>
          </a:p>
        </p:txBody>
      </p:sp>
      <p:sp>
        <p:nvSpPr>
          <p:cNvPr id="3" name="Datumsplatzhalter 2"/>
          <p:cNvSpPr>
            <a:spLocks noGrp="1"/>
          </p:cNvSpPr>
          <p:nvPr>
            <p:ph type="dt" idx="1"/>
          </p:nvPr>
        </p:nvSpPr>
        <p:spPr>
          <a:xfrm>
            <a:off x="5797248" y="1"/>
            <a:ext cx="4434999" cy="355203"/>
          </a:xfrm>
          <a:prstGeom prst="rect">
            <a:avLst/>
          </a:prstGeom>
        </p:spPr>
        <p:txBody>
          <a:bodyPr vert="horz" lIns="95491" tIns="47745" rIns="95491" bIns="47745" rtlCol="0"/>
          <a:lstStyle>
            <a:lvl1pPr algn="r">
              <a:defRPr sz="1300"/>
            </a:lvl1pPr>
          </a:lstStyle>
          <a:p>
            <a:fld id="{4007A66C-EE28-4ADD-A611-42716BED3A40}" type="datetimeFigureOut">
              <a:rPr lang="en-US" smtClean="0"/>
              <a:pPr/>
              <a:t>5/11/2026</a:t>
            </a:fld>
            <a:endParaRPr lang="en-US"/>
          </a:p>
        </p:txBody>
      </p:sp>
      <p:sp>
        <p:nvSpPr>
          <p:cNvPr id="4" name="Folienbildplatzhalter 3"/>
          <p:cNvSpPr>
            <a:spLocks noGrp="1" noRot="1" noChangeAspect="1"/>
          </p:cNvSpPr>
          <p:nvPr>
            <p:ph type="sldImg" idx="2"/>
          </p:nvPr>
        </p:nvSpPr>
        <p:spPr>
          <a:xfrm>
            <a:off x="3341688" y="531813"/>
            <a:ext cx="3551237" cy="2663825"/>
          </a:xfrm>
          <a:prstGeom prst="rect">
            <a:avLst/>
          </a:prstGeom>
          <a:noFill/>
          <a:ln w="12700">
            <a:solidFill>
              <a:prstClr val="black"/>
            </a:solidFill>
          </a:ln>
        </p:spPr>
        <p:txBody>
          <a:bodyPr vert="horz" lIns="95491" tIns="47745" rIns="95491" bIns="47745" rtlCol="0" anchor="ctr"/>
          <a:lstStyle/>
          <a:p>
            <a:endParaRPr lang="en-US"/>
          </a:p>
        </p:txBody>
      </p:sp>
      <p:sp>
        <p:nvSpPr>
          <p:cNvPr id="5" name="Notizenplatzhalter 4"/>
          <p:cNvSpPr>
            <a:spLocks noGrp="1"/>
          </p:cNvSpPr>
          <p:nvPr>
            <p:ph type="body" sz="quarter" idx="3"/>
          </p:nvPr>
        </p:nvSpPr>
        <p:spPr>
          <a:xfrm>
            <a:off x="1023464" y="3374431"/>
            <a:ext cx="8187689" cy="3196827"/>
          </a:xfrm>
          <a:prstGeom prst="rect">
            <a:avLst/>
          </a:prstGeom>
        </p:spPr>
        <p:txBody>
          <a:bodyPr vert="horz" lIns="95491" tIns="47745" rIns="95491" bIns="47745"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2" y="6747629"/>
            <a:ext cx="4434999" cy="355203"/>
          </a:xfrm>
          <a:prstGeom prst="rect">
            <a:avLst/>
          </a:prstGeom>
        </p:spPr>
        <p:txBody>
          <a:bodyPr vert="horz" lIns="95491" tIns="47745" rIns="95491" bIns="47745" rtlCol="0" anchor="b"/>
          <a:lstStyle>
            <a:lvl1pPr algn="l">
              <a:defRPr sz="1300"/>
            </a:lvl1pPr>
          </a:lstStyle>
          <a:p>
            <a:endParaRPr lang="en-US"/>
          </a:p>
        </p:txBody>
      </p:sp>
      <p:sp>
        <p:nvSpPr>
          <p:cNvPr id="7" name="Foliennummernplatzhalter 6"/>
          <p:cNvSpPr>
            <a:spLocks noGrp="1"/>
          </p:cNvSpPr>
          <p:nvPr>
            <p:ph type="sldNum" sz="quarter" idx="5"/>
          </p:nvPr>
        </p:nvSpPr>
        <p:spPr>
          <a:xfrm>
            <a:off x="5797248" y="6747629"/>
            <a:ext cx="4434999" cy="355203"/>
          </a:xfrm>
          <a:prstGeom prst="rect">
            <a:avLst/>
          </a:prstGeom>
        </p:spPr>
        <p:txBody>
          <a:bodyPr vert="horz" lIns="95491" tIns="47745" rIns="95491" bIns="47745" rtlCol="0" anchor="b"/>
          <a:lstStyle>
            <a:lvl1pPr algn="r">
              <a:defRPr sz="1300"/>
            </a:lvl1pPr>
          </a:lstStyle>
          <a:p>
            <a:fld id="{6D176CDC-8D0E-409F-856B-BAE38288A8E4}" type="slidenum">
              <a:rPr lang="en-US" smtClean="0"/>
              <a:pPr/>
              <a:t>‹Nr.›</a:t>
            </a:fld>
            <a:endParaRPr lang="en-US"/>
          </a:p>
        </p:txBody>
      </p:sp>
    </p:spTree>
    <p:extLst>
      <p:ext uri="{BB962C8B-B14F-4D97-AF65-F5344CB8AC3E}">
        <p14:creationId xmlns:p14="http://schemas.microsoft.com/office/powerpoint/2010/main" val="109268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Wir müssen uns nur merken, wie die Blöcke aufeinander abgebildet sind, d.h. nur die Funktion F speichern</a:t>
            </a:r>
          </a:p>
          <a:p>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2111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Dies geschieht mit einer Adress-Übersetzungstabelle (</a:t>
            </a:r>
            <a:r>
              <a:rPr lang="de-DE" b="1" dirty="0">
                <a:solidFill>
                  <a:srgbClr val="FF0000"/>
                </a:solidFill>
              </a:rPr>
              <a:t>Seitentabelle</a:t>
            </a:r>
            <a:r>
              <a:rPr lang="de-DE" dirty="0"/>
              <a:t>) </a:t>
            </a:r>
          </a:p>
          <a:p>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5</a:t>
            </a:fld>
            <a:endParaRPr lang="en-US"/>
          </a:p>
        </p:txBody>
      </p:sp>
    </p:spTree>
    <p:extLst>
      <p:ext uri="{BB962C8B-B14F-4D97-AF65-F5344CB8AC3E}">
        <p14:creationId xmlns:p14="http://schemas.microsoft.com/office/powerpoint/2010/main" val="756724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91655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877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7786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5392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Problem: interne</a:t>
            </a:r>
            <a:r>
              <a:rPr lang="de-DE" baseline="0" dirty="0"/>
              <a:t> Fragmentierung</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11</a:t>
            </a:fld>
            <a:endParaRPr lang="en-US"/>
          </a:p>
        </p:txBody>
      </p:sp>
    </p:spTree>
    <p:extLst>
      <p:ext uri="{BB962C8B-B14F-4D97-AF65-F5344CB8AC3E}">
        <p14:creationId xmlns:p14="http://schemas.microsoft.com/office/powerpoint/2010/main" val="347621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Problem: interne</a:t>
            </a:r>
            <a:r>
              <a:rPr lang="de-DE" baseline="0" dirty="0"/>
              <a:t> Fragmentierung</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12</a:t>
            </a:fld>
            <a:endParaRPr lang="en-US"/>
          </a:p>
        </p:txBody>
      </p:sp>
    </p:spTree>
    <p:extLst>
      <p:ext uri="{BB962C8B-B14F-4D97-AF65-F5344CB8AC3E}">
        <p14:creationId xmlns:p14="http://schemas.microsoft.com/office/powerpoint/2010/main" val="4163490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14</a:t>
            </a:fld>
            <a:endParaRPr lang="en-US"/>
          </a:p>
        </p:txBody>
      </p:sp>
    </p:spTree>
    <p:extLst>
      <p:ext uri="{BB962C8B-B14F-4D97-AF65-F5344CB8AC3E}">
        <p14:creationId xmlns:p14="http://schemas.microsoft.com/office/powerpoint/2010/main" val="1987702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15</a:t>
            </a:fld>
            <a:endParaRPr lang="en-US"/>
          </a:p>
        </p:txBody>
      </p:sp>
    </p:spTree>
    <p:extLst>
      <p:ext uri="{BB962C8B-B14F-4D97-AF65-F5344CB8AC3E}">
        <p14:creationId xmlns:p14="http://schemas.microsoft.com/office/powerpoint/2010/main" val="175536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176CDC-8D0E-409F-856B-BAE38288A8E4}"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6734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Problem: interne</a:t>
            </a:r>
            <a:r>
              <a:rPr lang="de-DE" baseline="0" dirty="0"/>
              <a:t> Fragmentierung</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18</a:t>
            </a:fld>
            <a:endParaRPr lang="en-US"/>
          </a:p>
        </p:txBody>
      </p:sp>
    </p:spTree>
    <p:extLst>
      <p:ext uri="{BB962C8B-B14F-4D97-AF65-F5344CB8AC3E}">
        <p14:creationId xmlns:p14="http://schemas.microsoft.com/office/powerpoint/2010/main" val="2334064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22</a:t>
            </a:fld>
            <a:endParaRPr lang="en-US"/>
          </a:p>
        </p:txBody>
      </p:sp>
    </p:spTree>
    <p:extLst>
      <p:ext uri="{BB962C8B-B14F-4D97-AF65-F5344CB8AC3E}">
        <p14:creationId xmlns:p14="http://schemas.microsoft.com/office/powerpoint/2010/main" val="1725220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23</a:t>
            </a:fld>
            <a:endParaRPr lang="en-US"/>
          </a:p>
        </p:txBody>
      </p:sp>
    </p:spTree>
    <p:extLst>
      <p:ext uri="{BB962C8B-B14F-4D97-AF65-F5344CB8AC3E}">
        <p14:creationId xmlns:p14="http://schemas.microsoft.com/office/powerpoint/2010/main" val="4100031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24</a:t>
            </a:fld>
            <a:endParaRPr lang="en-US"/>
          </a:p>
        </p:txBody>
      </p:sp>
    </p:spTree>
    <p:extLst>
      <p:ext uri="{BB962C8B-B14F-4D97-AF65-F5344CB8AC3E}">
        <p14:creationId xmlns:p14="http://schemas.microsoft.com/office/powerpoint/2010/main" val="36301035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25</a:t>
            </a:fld>
            <a:endParaRPr lang="en-US"/>
          </a:p>
        </p:txBody>
      </p:sp>
    </p:spTree>
    <p:extLst>
      <p:ext uri="{BB962C8B-B14F-4D97-AF65-F5344CB8AC3E}">
        <p14:creationId xmlns:p14="http://schemas.microsoft.com/office/powerpoint/2010/main" val="3429057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26</a:t>
            </a:fld>
            <a:endParaRPr lang="en-US"/>
          </a:p>
        </p:txBody>
      </p:sp>
    </p:spTree>
    <p:extLst>
      <p:ext uri="{BB962C8B-B14F-4D97-AF65-F5344CB8AC3E}">
        <p14:creationId xmlns:p14="http://schemas.microsoft.com/office/powerpoint/2010/main" val="2900078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27</a:t>
            </a:fld>
            <a:endParaRPr lang="en-US"/>
          </a:p>
        </p:txBody>
      </p:sp>
    </p:spTree>
    <p:extLst>
      <p:ext uri="{BB962C8B-B14F-4D97-AF65-F5344CB8AC3E}">
        <p14:creationId xmlns:p14="http://schemas.microsoft.com/office/powerpoint/2010/main" val="4162291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Problem: interne</a:t>
            </a:r>
            <a:r>
              <a:rPr lang="de-DE" baseline="0" dirty="0"/>
              <a:t> Fragmentierung</a:t>
            </a:r>
            <a:endParaRPr lang="de-DE" dirty="0"/>
          </a:p>
        </p:txBody>
      </p:sp>
      <p:sp>
        <p:nvSpPr>
          <p:cNvPr id="4" name="Foliennummernplatzhalter 3"/>
          <p:cNvSpPr>
            <a:spLocks noGrp="1"/>
          </p:cNvSpPr>
          <p:nvPr>
            <p:ph type="sldNum" sz="quarter" idx="10"/>
          </p:nvPr>
        </p:nvSpPr>
        <p:spPr/>
        <p:txBody>
          <a:bodyPr/>
          <a:lstStyle/>
          <a:p>
            <a:fld id="{6D176CDC-8D0E-409F-856B-BAE38288A8E4}" type="slidenum">
              <a:rPr lang="en-US" smtClean="0"/>
              <a:pPr/>
              <a:t>29</a:t>
            </a:fld>
            <a:endParaRPr lang="en-US"/>
          </a:p>
        </p:txBody>
      </p:sp>
    </p:spTree>
    <p:extLst>
      <p:ext uri="{BB962C8B-B14F-4D97-AF65-F5344CB8AC3E}">
        <p14:creationId xmlns:p14="http://schemas.microsoft.com/office/powerpoint/2010/main" val="2737322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31</a:t>
            </a:fld>
            <a:endParaRPr lang="en-US"/>
          </a:p>
        </p:txBody>
      </p:sp>
    </p:spTree>
    <p:extLst>
      <p:ext uri="{BB962C8B-B14F-4D97-AF65-F5344CB8AC3E}">
        <p14:creationId xmlns:p14="http://schemas.microsoft.com/office/powerpoint/2010/main" val="29519269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32</a:t>
            </a:fld>
            <a:endParaRPr lang="en-US"/>
          </a:p>
        </p:txBody>
      </p:sp>
    </p:spTree>
    <p:extLst>
      <p:ext uri="{BB962C8B-B14F-4D97-AF65-F5344CB8AC3E}">
        <p14:creationId xmlns:p14="http://schemas.microsoft.com/office/powerpoint/2010/main" val="1886022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34</a:t>
            </a:fld>
            <a:endParaRPr lang="en-US"/>
          </a:p>
        </p:txBody>
      </p:sp>
    </p:spTree>
    <p:extLst>
      <p:ext uri="{BB962C8B-B14F-4D97-AF65-F5344CB8AC3E}">
        <p14:creationId xmlns:p14="http://schemas.microsoft.com/office/powerpoint/2010/main" val="3929003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36</a:t>
            </a:fld>
            <a:endParaRPr lang="en-US"/>
          </a:p>
        </p:txBody>
      </p:sp>
    </p:spTree>
    <p:extLst>
      <p:ext uri="{BB962C8B-B14F-4D97-AF65-F5344CB8AC3E}">
        <p14:creationId xmlns:p14="http://schemas.microsoft.com/office/powerpoint/2010/main" val="32133519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r>
              <a:rPr lang="de-DE" dirty="0"/>
              <a:t> </a:t>
            </a:r>
          </a:p>
        </p:txBody>
      </p:sp>
      <p:sp>
        <p:nvSpPr>
          <p:cNvPr id="4" name="Foliennummernplatzhalter 3"/>
          <p:cNvSpPr>
            <a:spLocks noGrp="1"/>
          </p:cNvSpPr>
          <p:nvPr>
            <p:ph type="sldNum" sz="quarter" idx="10"/>
          </p:nvPr>
        </p:nvSpPr>
        <p:spPr/>
        <p:txBody>
          <a:bodyPr/>
          <a:lstStyle/>
          <a:p>
            <a:fld id="{6D176CDC-8D0E-409F-856B-BAE38288A8E4}" type="slidenum">
              <a:rPr lang="en-US" smtClean="0"/>
              <a:pPr/>
              <a:t>37</a:t>
            </a:fld>
            <a:endParaRPr lang="en-US"/>
          </a:p>
        </p:txBody>
      </p:sp>
    </p:spTree>
    <p:extLst>
      <p:ext uri="{BB962C8B-B14F-4D97-AF65-F5344CB8AC3E}">
        <p14:creationId xmlns:p14="http://schemas.microsoft.com/office/powerpoint/2010/main" val="1457310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8" name="Titel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Untertitel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noProof="0" dirty="0" err="1"/>
              <a:t>Formatvorlage</a:t>
            </a:r>
            <a:r>
              <a:rPr kumimoji="0" lang="en-US" noProof="0" dirty="0"/>
              <a:t> des </a:t>
            </a:r>
            <a:r>
              <a:rPr kumimoji="0" lang="en-US" noProof="0" dirty="0" err="1"/>
              <a:t>Untertitelmasters</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21" name="Rechtec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htec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htec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htec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521019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a:xfrm>
            <a:off x="8542234" y="6500834"/>
            <a:ext cx="601766" cy="357166"/>
          </a:xfrm>
        </p:spPr>
        <p:txBody>
          <a:bodyPr/>
          <a:lstStyle/>
          <a:p>
            <a:fld id="{6C6AE60A-B69C-4790-82F7-3882EDF23186}" type="slidenum">
              <a:rPr lang="de-DE" smtClean="0"/>
              <a:pPr/>
              <a:t>‹Nr.›</a:t>
            </a:fld>
            <a:endParaRPr lang="de-DE"/>
          </a:p>
        </p:txBody>
      </p:sp>
      <p:sp>
        <p:nvSpPr>
          <p:cNvPr id="9" name="Inhaltsplatzhalter 8"/>
          <p:cNvSpPr>
            <a:spLocks noGrp="1"/>
          </p:cNvSpPr>
          <p:nvPr>
            <p:ph sz="quarter" idx="1"/>
          </p:nvPr>
        </p:nvSpPr>
        <p:spPr>
          <a:xfrm>
            <a:off x="457200" y="1219200"/>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1" name="Inhaltsplatzhalter 10"/>
          <p:cNvSpPr>
            <a:spLocks noGrp="1"/>
          </p:cNvSpPr>
          <p:nvPr>
            <p:ph sz="quarter" idx="2"/>
          </p:nvPr>
        </p:nvSpPr>
        <p:spPr>
          <a:xfrm>
            <a:off x="4632198" y="1216152"/>
            <a:ext cx="4041648" cy="493776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Inhalt - 2 Teil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641848"/>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1754346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el und Inhalt 75%">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82296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4104456"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el und Inhalt 75% (Bild oben)">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6" name="Foliennummernplatzhalter 5"/>
          <p:cNvSpPr>
            <a:spLocks noGrp="1"/>
          </p:cNvSpPr>
          <p:nvPr>
            <p:ph type="sldNum" sz="quarter" idx="12"/>
          </p:nvPr>
        </p:nvSpPr>
        <p:spPr/>
        <p:txBody>
          <a:bodyPr/>
          <a:lstStyle/>
          <a:p>
            <a:fld id="{7183533A-8A50-4A1F-BEA9-C8C6956451EB}" type="slidenum">
              <a:rPr lang="en-US" noProof="0" smtClean="0"/>
              <a:pPr/>
              <a:t>‹Nr.›</a:t>
            </a:fld>
            <a:endParaRPr lang="en-US" noProof="0" dirty="0"/>
          </a:p>
        </p:txBody>
      </p:sp>
      <p:sp>
        <p:nvSpPr>
          <p:cNvPr id="8" name="Inhaltsplatzhalter 7"/>
          <p:cNvSpPr>
            <a:spLocks noGrp="1"/>
          </p:cNvSpPr>
          <p:nvPr>
            <p:ph sz="quarter" idx="1"/>
          </p:nvPr>
        </p:nvSpPr>
        <p:spPr>
          <a:xfrm>
            <a:off x="457200" y="1219200"/>
            <a:ext cx="4114800" cy="256984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5" name="Inhaltsplatzhalter 7"/>
          <p:cNvSpPr>
            <a:spLocks noGrp="1"/>
          </p:cNvSpPr>
          <p:nvPr>
            <p:ph sz="quarter" idx="13"/>
          </p:nvPr>
        </p:nvSpPr>
        <p:spPr>
          <a:xfrm>
            <a:off x="467544" y="3645024"/>
            <a:ext cx="8208912" cy="2713856"/>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extLst>
      <p:ext uri="{BB962C8B-B14F-4D97-AF65-F5344CB8AC3E}">
        <p14:creationId xmlns:p14="http://schemas.microsoft.com/office/powerpoint/2010/main" val="3505464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7" name="Foliennummernplatzhalter 6"/>
          <p:cNvSpPr>
            <a:spLocks noGrp="1"/>
          </p:cNvSpPr>
          <p:nvPr>
            <p:ph type="sldNum" sz="quarter" idx="12"/>
          </p:nvPr>
        </p:nvSpPr>
        <p:spPr/>
        <p:txBody>
          <a:bodyPr/>
          <a:lstStyle/>
          <a:p>
            <a:fld id="{6C6AE60A-B69C-4790-82F7-3882EDF23186}" type="slidenum">
              <a:rPr lang="de-DE" smtClean="0"/>
              <a:pPr/>
              <a:t>‹Nr.›</a:t>
            </a:fld>
            <a:endParaRPr lang="de-DE"/>
          </a:p>
        </p:txBody>
      </p:sp>
      <p:sp>
        <p:nvSpPr>
          <p:cNvPr id="10" name="Gerade Verbindung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Gleichschenkliges Dreieck 8"/>
          <p:cNvSpPr>
            <a:spLocks noChangeAspect="1"/>
          </p:cNvSpPr>
          <p:nvPr/>
        </p:nvSpPr>
        <p:spPr>
          <a:xfrm rot="5400000">
            <a:off x="8394385"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Inhaltsplatzhalter 11"/>
          <p:cNvSpPr>
            <a:spLocks noGrp="1"/>
          </p:cNvSpPr>
          <p:nvPr>
            <p:ph sz="quarter" idx="1"/>
          </p:nvPr>
        </p:nvSpPr>
        <p:spPr>
          <a:xfrm>
            <a:off x="304800" y="304800"/>
            <a:ext cx="5715000" cy="57150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5" name="Foliennummernplatzhalter 4"/>
          <p:cNvSpPr>
            <a:spLocks noGrp="1"/>
          </p:cNvSpPr>
          <p:nvPr>
            <p:ph type="sldNum" sz="quarter" idx="12"/>
          </p:nvPr>
        </p:nvSpPr>
        <p:spPr/>
        <p:txBody>
          <a:bodyPr/>
          <a:lstStyle/>
          <a:p>
            <a:fld id="{6C6AE60A-B69C-4790-82F7-3882EDF23186}" type="slidenum">
              <a:rPr lang="de-DE" smtClean="0"/>
              <a:pPr/>
              <a:t>‹Nr.›</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28600"/>
            <a:ext cx="8229600" cy="914400"/>
          </a:xfrm>
        </p:spPr>
        <p:txBody>
          <a:bodyPr anchor="ctr"/>
          <a:lstStyle>
            <a:lvl1pPr>
              <a:defRPr/>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3" name="Textplatzhalt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4" name="Textplatzhalt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9" name="Foliennummernplatzhalter 8"/>
          <p:cNvSpPr>
            <a:spLocks noGrp="1"/>
          </p:cNvSpPr>
          <p:nvPr>
            <p:ph type="sldNum" sz="quarter" idx="12"/>
          </p:nvPr>
        </p:nvSpPr>
        <p:spPr/>
        <p:txBody>
          <a:bodyPr/>
          <a:lstStyle/>
          <a:p>
            <a:fld id="{6C6AE60A-B69C-4790-82F7-3882EDF23186}" type="slidenum">
              <a:rPr lang="de-DE" smtClean="0"/>
              <a:pPr/>
              <a:t>‹Nr.›</a:t>
            </a:fld>
            <a:endParaRPr lang="de-DE"/>
          </a:p>
        </p:txBody>
      </p:sp>
      <p:sp>
        <p:nvSpPr>
          <p:cNvPr id="11" name="Inhaltsplatzhalter 10"/>
          <p:cNvSpPr>
            <a:spLocks noGrp="1"/>
          </p:cNvSpPr>
          <p:nvPr>
            <p:ph sz="quarter" idx="2"/>
          </p:nvPr>
        </p:nvSpPr>
        <p:spPr>
          <a:xfrm>
            <a:off x="457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
        <p:nvSpPr>
          <p:cNvPr id="13" name="Inhaltsplatzhalter 12"/>
          <p:cNvSpPr>
            <a:spLocks noGrp="1"/>
          </p:cNvSpPr>
          <p:nvPr>
            <p:ph sz="quarter" idx="4"/>
          </p:nvPr>
        </p:nvSpPr>
        <p:spPr>
          <a:xfrm>
            <a:off x="4648200" y="2133600"/>
            <a:ext cx="4038600" cy="4038600"/>
          </a:xfrm>
        </p:spPr>
        <p:txBody>
          <a:bodyPr/>
          <a:lstStyle/>
          <a:p>
            <a:pPr lvl="0" eaLnBrk="1" latinLnBrk="0" hangingPunct="1"/>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eaLnBrk="1" latinLnBrk="0" hangingPunct="1"/>
            <a:r>
              <a:rPr lang="en-US" noProof="0" dirty="0" err="1"/>
              <a:t>Zweite</a:t>
            </a:r>
            <a:r>
              <a:rPr lang="en-US" noProof="0" dirty="0"/>
              <a:t> </a:t>
            </a:r>
            <a:r>
              <a:rPr lang="en-US" noProof="0" dirty="0" err="1"/>
              <a:t>Ebene</a:t>
            </a:r>
            <a:endParaRPr lang="en-US" noProof="0" dirty="0"/>
          </a:p>
          <a:p>
            <a:pPr lvl="2" eaLnBrk="1" latinLnBrk="0" hangingPunct="1"/>
            <a:r>
              <a:rPr lang="en-US" noProof="0" dirty="0" err="1"/>
              <a:t>Dritte</a:t>
            </a:r>
            <a:r>
              <a:rPr lang="en-US" noProof="0" dirty="0"/>
              <a:t> </a:t>
            </a:r>
            <a:r>
              <a:rPr lang="en-US" noProof="0" dirty="0" err="1"/>
              <a:t>Ebene</a:t>
            </a:r>
            <a:endParaRPr lang="en-US" noProof="0" dirty="0"/>
          </a:p>
          <a:p>
            <a:pPr lvl="3" eaLnBrk="1" latinLnBrk="0" hangingPunct="1"/>
            <a:r>
              <a:rPr lang="en-US" noProof="0" dirty="0" err="1"/>
              <a:t>Vierte</a:t>
            </a:r>
            <a:r>
              <a:rPr lang="en-US" noProof="0" dirty="0"/>
              <a:t> </a:t>
            </a:r>
            <a:r>
              <a:rPr lang="en-US" noProof="0" dirty="0" err="1"/>
              <a:t>Ebene</a:t>
            </a:r>
            <a:endParaRPr lang="en-US" noProof="0" dirty="0"/>
          </a:p>
          <a:p>
            <a:pPr lvl="4" eaLnBrk="1" latinLnBrk="0" hangingPunct="1"/>
            <a:r>
              <a:rPr lang="en-US" noProof="0" dirty="0" err="1"/>
              <a:t>Fünfte</a:t>
            </a:r>
            <a:r>
              <a:rPr lang="en-US" noProof="0" dirty="0"/>
              <a:t> </a:t>
            </a:r>
            <a:r>
              <a:rPr lang="en-US" noProof="0" dirty="0" err="1"/>
              <a:t>Ebene</a:t>
            </a:r>
            <a:endParaRPr kumimoji="0"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fld id="{6C6AE60A-B69C-4790-82F7-3882EDF23186}" type="slidenum">
              <a:rPr lang="de-DE" smtClean="0"/>
              <a:pPr/>
              <a:t>‹Nr.›</a:t>
            </a:fld>
            <a:endParaRPr lang="de-DE"/>
          </a:p>
        </p:txBody>
      </p:sp>
      <p:sp>
        <p:nvSpPr>
          <p:cNvPr id="7" name="Gleichschenkliges Dreieck 6"/>
          <p:cNvSpPr>
            <a:spLocks noChangeAspect="1"/>
          </p:cNvSpPr>
          <p:nvPr userDrawn="1"/>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el 1"/>
          <p:cNvSpPr>
            <a:spLocks noGrp="1"/>
          </p:cNvSpPr>
          <p:nvPr>
            <p:ph type="title"/>
          </p:nvPr>
        </p:nvSpPr>
        <p:spPr>
          <a:xfrm>
            <a:off x="971600" y="2348880"/>
            <a:ext cx="7200800" cy="2160240"/>
          </a:xfrm>
        </p:spPr>
        <p:txBody>
          <a:bodyPr anchor="ctr">
            <a:normAutofit/>
          </a:bodyPr>
          <a:lstStyle>
            <a:lvl1pPr algn="ctr">
              <a:defRPr sz="4000"/>
            </a:lvl1p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elplatzhalt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noProof="0" dirty="0" err="1"/>
              <a:t>Titelmasterformat</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p:txBody>
      </p:sp>
      <p:sp>
        <p:nvSpPr>
          <p:cNvPr id="13" name="Textplatzhalter 12"/>
          <p:cNvSpPr>
            <a:spLocks noGrp="1"/>
          </p:cNvSpPr>
          <p:nvPr>
            <p:ph type="body" idx="1"/>
          </p:nvPr>
        </p:nvSpPr>
        <p:spPr>
          <a:xfrm>
            <a:off x="457200" y="1219200"/>
            <a:ext cx="8229600" cy="5210196"/>
          </a:xfrm>
          <a:prstGeom prst="rect">
            <a:avLst/>
          </a:prstGeom>
        </p:spPr>
        <p:txBody>
          <a:bodyPr vert="horz">
            <a:normAutofit/>
          </a:bodyPr>
          <a:lstStyle/>
          <a:p>
            <a:pPr lvl="0" eaLnBrk="1" latinLnBrk="0" hangingPunct="1"/>
            <a:r>
              <a:rPr kumimoji="0" lang="en-US" noProof="0" dirty="0" err="1"/>
              <a:t>Textmasterformate</a:t>
            </a:r>
            <a:r>
              <a:rPr kumimoji="0" lang="en-US" noProof="0" dirty="0"/>
              <a:t> </a:t>
            </a:r>
            <a:r>
              <a:rPr kumimoji="0" lang="en-US" noProof="0" dirty="0" err="1"/>
              <a:t>durch</a:t>
            </a:r>
            <a:r>
              <a:rPr kumimoji="0" lang="en-US" noProof="0" dirty="0"/>
              <a:t> </a:t>
            </a:r>
            <a:r>
              <a:rPr kumimoji="0" lang="en-US" noProof="0" dirty="0" err="1"/>
              <a:t>Klicken</a:t>
            </a:r>
            <a:r>
              <a:rPr kumimoji="0" lang="en-US" noProof="0" dirty="0"/>
              <a:t> </a:t>
            </a:r>
            <a:r>
              <a:rPr kumimoji="0" lang="en-US" noProof="0" dirty="0" err="1"/>
              <a:t>bearbeiten</a:t>
            </a:r>
            <a:endParaRPr kumimoji="0" lang="en-US" noProof="0" dirty="0"/>
          </a:p>
          <a:p>
            <a:pPr lvl="1" eaLnBrk="1" latinLnBrk="0" hangingPunct="1"/>
            <a:r>
              <a:rPr kumimoji="0" lang="en-US" noProof="0" dirty="0" err="1"/>
              <a:t>Zweite</a:t>
            </a:r>
            <a:r>
              <a:rPr kumimoji="0" lang="en-US" noProof="0" dirty="0"/>
              <a:t> </a:t>
            </a:r>
            <a:r>
              <a:rPr kumimoji="0" lang="en-US" noProof="0" dirty="0" err="1"/>
              <a:t>Ebene</a:t>
            </a:r>
            <a:endParaRPr kumimoji="0" lang="en-US" noProof="0" dirty="0"/>
          </a:p>
          <a:p>
            <a:pPr lvl="2" eaLnBrk="1" latinLnBrk="0" hangingPunct="1"/>
            <a:r>
              <a:rPr kumimoji="0" lang="en-US" noProof="0" dirty="0" err="1"/>
              <a:t>Dritte</a:t>
            </a:r>
            <a:r>
              <a:rPr kumimoji="0" lang="en-US" noProof="0" dirty="0"/>
              <a:t> </a:t>
            </a:r>
            <a:r>
              <a:rPr kumimoji="0" lang="en-US" noProof="0" dirty="0" err="1"/>
              <a:t>Ebene</a:t>
            </a:r>
            <a:endParaRPr kumimoji="0" lang="en-US" noProof="0" dirty="0"/>
          </a:p>
          <a:p>
            <a:pPr lvl="3" eaLnBrk="1" latinLnBrk="0" hangingPunct="1"/>
            <a:r>
              <a:rPr kumimoji="0" lang="en-US" noProof="0" dirty="0" err="1"/>
              <a:t>Vierte</a:t>
            </a:r>
            <a:r>
              <a:rPr kumimoji="0" lang="en-US" noProof="0" dirty="0"/>
              <a:t> </a:t>
            </a:r>
            <a:r>
              <a:rPr kumimoji="0" lang="en-US" noProof="0" dirty="0" err="1"/>
              <a:t>Ebene</a:t>
            </a:r>
            <a:endParaRPr kumimoji="0" lang="en-US" noProof="0" dirty="0"/>
          </a:p>
          <a:p>
            <a:pPr lvl="4" eaLnBrk="1" latinLnBrk="0" hangingPunct="1"/>
            <a:r>
              <a:rPr kumimoji="0" lang="en-US" noProof="0" dirty="0" err="1"/>
              <a:t>Fünfte</a:t>
            </a:r>
            <a:r>
              <a:rPr kumimoji="0" lang="en-US" noProof="0" dirty="0"/>
              <a:t> </a:t>
            </a:r>
            <a:r>
              <a:rPr kumimoji="0" lang="en-US" noProof="0" dirty="0" err="1"/>
              <a:t>Ebene</a:t>
            </a:r>
            <a:endParaRPr kumimoji="0" lang="en-US" noProof="0" dirty="0"/>
          </a:p>
        </p:txBody>
      </p:sp>
      <p:sp>
        <p:nvSpPr>
          <p:cNvPr id="23" name="Foliennummernplatzhalter 22"/>
          <p:cNvSpPr>
            <a:spLocks noGrp="1"/>
          </p:cNvSpPr>
          <p:nvPr>
            <p:ph type="sldNum" sz="quarter" idx="4"/>
          </p:nvPr>
        </p:nvSpPr>
        <p:spPr>
          <a:xfrm>
            <a:off x="8542234" y="6492240"/>
            <a:ext cx="601766" cy="365760"/>
          </a:xfrm>
          <a:prstGeom prst="rect">
            <a:avLst/>
          </a:prstGeom>
        </p:spPr>
        <p:txBody>
          <a:bodyPr vert="horz"/>
          <a:lstStyle>
            <a:lvl1pPr algn="l" eaLnBrk="1" latinLnBrk="0" hangingPunct="1">
              <a:defRPr kumimoji="0" sz="1400">
                <a:solidFill>
                  <a:schemeClr val="tx2"/>
                </a:solidFill>
              </a:defRPr>
            </a:lvl1pPr>
          </a:lstStyle>
          <a:p>
            <a:r>
              <a:rPr lang="de-DE" dirty="0"/>
              <a:t>1</a:t>
            </a:r>
          </a:p>
        </p:txBody>
      </p:sp>
      <p:sp>
        <p:nvSpPr>
          <p:cNvPr id="29" name="Gerade Verbindung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Gleichschenkliges Dreieck 9"/>
          <p:cNvSpPr>
            <a:spLocks noChangeAspect="1"/>
          </p:cNvSpPr>
          <p:nvPr/>
        </p:nvSpPr>
        <p:spPr>
          <a:xfrm rot="5400000">
            <a:off x="8394384" y="6607540"/>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8" r:id="rId3"/>
    <p:sldLayoutId id="2147483697" r:id="rId4"/>
    <p:sldLayoutId id="2147483696" r:id="rId5"/>
    <p:sldLayoutId id="2147483699" r:id="rId6"/>
    <p:sldLayoutId id="2147483692" r:id="rId7"/>
    <p:sldLayoutId id="2147483690" r:id="rId8"/>
    <p:sldLayoutId id="2147483689" r:id="rId9"/>
    <p:sldLayoutId id="2147483691" r:id="rId10"/>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video" Target="NULL" TargetMode="External"/><Relationship Id="rId2" Type="http://schemas.microsoft.com/office/2007/relationships/media" Target="file:///C:\Artur\Edu\Lehre\20.SS-IBN\VL\" TargetMode="External"/><Relationship Id="rId3" Type="http://schemas.openxmlformats.org/officeDocument/2006/relationships/slideLayout" Target="../slideLayouts/slideLayout2.xml"/><Relationship Id="rId4" Type="http://schemas.openxmlformats.org/officeDocument/2006/relationships/hyperlink" Target="https://www.youtube.com/watch?v=KNUJhZCQZ9c" TargetMode="External"/><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iki.osdev.org/Pag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de.wikipedia.org/wiki/Erwartungswer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pdos.csail.mit.edu/6.828/2011/readings/i386/s05_02.htm" TargetMode="External"/><Relationship Id="rId3" Type="http://schemas.openxmlformats.org/officeDocument/2006/relationships/hyperlink" Target="http://tldp.org/HOWTO/KernelAnalysis-HOWTO-6.html" TargetMode="External"/><Relationship Id="rId4" Type="http://schemas.openxmlformats.org/officeDocument/2006/relationships/hyperlink" Target="http://pdos.csail.mit.edu/6.828/2011/readings/i386/s04_01.htm" TargetMode="External"/><Relationship Id="rId5" Type="http://schemas.openxmlformats.org/officeDocument/2006/relationships/hyperlink" Target="http://en.wikipedia.org/wiki/Page_table"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video" Target="NULL" TargetMode="External"/><Relationship Id="rId2" Type="http://schemas.microsoft.com/office/2007/relationships/media" Target="file:///C:\Artur\Edu\Lehre\26.SS-IBN\VL-IBN2026\" TargetMode="External"/><Relationship Id="rId3" Type="http://schemas.openxmlformats.org/officeDocument/2006/relationships/slideLayout" Target="../slideLayouts/slideLayout2.xml"/><Relationship Id="rId4" Type="http://schemas.openxmlformats.org/officeDocument/2006/relationships/hyperlink" Target="https://www.youtube.com/watch?v=Dml54J3Kwm4" TargetMode="External"/><Relationship Id="rId5"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115616" y="3717032"/>
            <a:ext cx="7056784" cy="1159768"/>
          </a:xfrm>
        </p:spPr>
        <p:txBody>
          <a:bodyPr>
            <a:noAutofit/>
          </a:bodyPr>
          <a:lstStyle/>
          <a:p>
            <a:r>
              <a:rPr lang="de-DE" sz="3600" dirty="0"/>
              <a:t>Betriebssysteme und Netzwerke</a:t>
            </a:r>
            <a:br>
              <a:rPr lang="de-DE" sz="3600" dirty="0"/>
            </a:br>
            <a:r>
              <a:rPr lang="de-DE" sz="3600" dirty="0"/>
              <a:t>Vorlesung 9</a:t>
            </a:r>
            <a:endParaRPr lang="en-US" sz="3600" dirty="0"/>
          </a:p>
        </p:txBody>
      </p:sp>
      <p:sp>
        <p:nvSpPr>
          <p:cNvPr id="3" name="Untertitel 2"/>
          <p:cNvSpPr>
            <a:spLocks noGrp="1"/>
          </p:cNvSpPr>
          <p:nvPr>
            <p:ph type="subTitle" idx="1"/>
          </p:nvPr>
        </p:nvSpPr>
        <p:spPr>
          <a:xfrm>
            <a:off x="5786446" y="5124450"/>
            <a:ext cx="2290754" cy="533400"/>
          </a:xfrm>
        </p:spPr>
        <p:txBody>
          <a:bodyPr>
            <a:normAutofit/>
          </a:bodyPr>
          <a:lstStyle/>
          <a:p>
            <a:r>
              <a:rPr lang="de-DE" dirty="0"/>
              <a:t>Artur Andrzejak</a:t>
            </a:r>
          </a:p>
        </p:txBody>
      </p:sp>
      <p:sp>
        <p:nvSpPr>
          <p:cNvPr id="4" name="Untertitel 2"/>
          <p:cNvSpPr txBox="1">
            <a:spLocks/>
          </p:cNvSpPr>
          <p:nvPr/>
        </p:nvSpPr>
        <p:spPr>
          <a:xfrm>
            <a:off x="1214414" y="5072074"/>
            <a:ext cx="1214446" cy="642942"/>
          </a:xfrm>
          <a:prstGeom prst="rect">
            <a:avLst/>
          </a:prstGeom>
        </p:spPr>
        <p:txBody>
          <a:bodyPr vert="horz">
            <a:noAutofit/>
          </a:bodyPr>
          <a:lstStyle/>
          <a:p>
            <a:pPr marL="0" marR="0" lvl="0" indent="0" defTabSz="914400" rtl="0" eaLnBrk="1" fontAlgn="auto" latinLnBrk="0" hangingPunct="1">
              <a:lnSpc>
                <a:spcPct val="100000"/>
              </a:lnSpc>
              <a:spcBef>
                <a:spcPts val="600"/>
              </a:spcBef>
              <a:spcAft>
                <a:spcPts val="0"/>
              </a:spcAft>
              <a:buClr>
                <a:schemeClr val="accent1"/>
              </a:buClr>
              <a:buSzPct val="76000"/>
              <a:buFont typeface="Wingdings 3"/>
              <a:buNone/>
              <a:tabLst/>
              <a:defRPr/>
            </a:pPr>
            <a:endParaRPr kumimoji="0" lang="de-DE" sz="2000" b="0" i="0" u="none" strike="noStrike" kern="1200" cap="none"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a:t>
            </a:fld>
            <a:endParaRPr lang="de-DE"/>
          </a:p>
        </p:txBody>
      </p:sp>
      <p:sp>
        <p:nvSpPr>
          <p:cNvPr id="3" name="Titel 2"/>
          <p:cNvSpPr>
            <a:spLocks noGrp="1"/>
          </p:cNvSpPr>
          <p:nvPr>
            <p:ph type="title"/>
          </p:nvPr>
        </p:nvSpPr>
        <p:spPr/>
        <p:txBody>
          <a:bodyPr/>
          <a:lstStyle/>
          <a:p>
            <a:r>
              <a:rPr lang="de-DE" dirty="0"/>
              <a:t>Paging - Grundkonzepte</a:t>
            </a:r>
          </a:p>
        </p:txBody>
      </p:sp>
    </p:spTree>
    <p:extLst>
      <p:ext uri="{BB962C8B-B14F-4D97-AF65-F5344CB8AC3E}">
        <p14:creationId xmlns:p14="http://schemas.microsoft.com/office/powerpoint/2010/main" val="55941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Löcher vs. Zusammenhängender Adressraum</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a:t>
            </a:fld>
            <a:endParaRPr lang="en-US" noProof="0" dirty="0"/>
          </a:p>
        </p:txBody>
      </p:sp>
      <p:sp>
        <p:nvSpPr>
          <p:cNvPr id="46" name="Inhaltsplatzhalter 45"/>
          <p:cNvSpPr>
            <a:spLocks noGrp="1"/>
          </p:cNvSpPr>
          <p:nvPr>
            <p:ph sz="quarter" idx="13"/>
          </p:nvPr>
        </p:nvSpPr>
        <p:spPr>
          <a:xfrm>
            <a:off x="467544" y="4149080"/>
            <a:ext cx="8352928" cy="2209800"/>
          </a:xfrm>
        </p:spPr>
        <p:txBody>
          <a:bodyPr>
            <a:normAutofit/>
          </a:bodyPr>
          <a:lstStyle/>
          <a:p>
            <a:r>
              <a:rPr lang="de-DE" dirty="0"/>
              <a:t>Wir würden das Problem der Löcher vermeiden, falls wir einen einzulagernden Prozess auf mehrere </a:t>
            </a:r>
            <a:r>
              <a:rPr lang="de-DE" b="1" dirty="0"/>
              <a:t>physische</a:t>
            </a:r>
            <a:r>
              <a:rPr lang="de-DE" dirty="0"/>
              <a:t> </a:t>
            </a:r>
            <a:r>
              <a:rPr lang="de-DE" b="1" dirty="0"/>
              <a:t>Speicherabschnitte aufteilen </a:t>
            </a:r>
            <a:r>
              <a:rPr lang="de-DE" dirty="0"/>
              <a:t>könnten </a:t>
            </a:r>
          </a:p>
          <a:p>
            <a:r>
              <a:rPr lang="de-DE" dirty="0"/>
              <a:t>Wie kann der Prozess X  dennoch einen </a:t>
            </a:r>
            <a:r>
              <a:rPr lang="de-DE" b="1" dirty="0"/>
              <a:t>zusammen-hängenden</a:t>
            </a:r>
            <a:r>
              <a:rPr lang="de-DE" dirty="0"/>
              <a:t> </a:t>
            </a:r>
            <a:r>
              <a:rPr lang="de-DE" b="1" dirty="0"/>
              <a:t>logischen</a:t>
            </a:r>
            <a:r>
              <a:rPr lang="de-DE" dirty="0"/>
              <a:t> </a:t>
            </a:r>
            <a:r>
              <a:rPr lang="de-DE" b="1" dirty="0"/>
              <a:t>Adressraum</a:t>
            </a:r>
            <a:r>
              <a:rPr lang="de-DE" dirty="0"/>
              <a:t> haben?</a:t>
            </a:r>
          </a:p>
        </p:txBody>
      </p:sp>
      <p:sp>
        <p:nvSpPr>
          <p:cNvPr id="36" name="Rectangle 42"/>
          <p:cNvSpPr>
            <a:spLocks noChangeArrowheads="1"/>
          </p:cNvSpPr>
          <p:nvPr/>
        </p:nvSpPr>
        <p:spPr bwMode="auto">
          <a:xfrm>
            <a:off x="3419872" y="2354274"/>
            <a:ext cx="1365267" cy="733042"/>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r>
              <a:rPr lang="de-DE" sz="2000" dirty="0"/>
              <a:t>Neuer </a:t>
            </a:r>
            <a:br>
              <a:rPr lang="de-DE" sz="2000" dirty="0"/>
            </a:br>
            <a:r>
              <a:rPr lang="de-DE" sz="2000" dirty="0"/>
              <a:t>Prozess X</a:t>
            </a:r>
          </a:p>
        </p:txBody>
      </p:sp>
      <p:sp>
        <p:nvSpPr>
          <p:cNvPr id="43" name="AutoShape 49"/>
          <p:cNvSpPr>
            <a:spLocks noChangeArrowheads="1"/>
          </p:cNvSpPr>
          <p:nvPr/>
        </p:nvSpPr>
        <p:spPr bwMode="auto">
          <a:xfrm>
            <a:off x="5097523" y="2570070"/>
            <a:ext cx="573862" cy="274891"/>
          </a:xfrm>
          <a:prstGeom prst="rightArrow">
            <a:avLst>
              <a:gd name="adj1" fmla="val 50000"/>
              <a:gd name="adj2" fmla="val 58333"/>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de-DE" sz="2000"/>
          </a:p>
        </p:txBody>
      </p:sp>
      <p:grpSp>
        <p:nvGrpSpPr>
          <p:cNvPr id="47" name="Gruppieren 46"/>
          <p:cNvGrpSpPr/>
          <p:nvPr/>
        </p:nvGrpSpPr>
        <p:grpSpPr>
          <a:xfrm>
            <a:off x="1211488" y="1386513"/>
            <a:ext cx="1238243" cy="2565648"/>
            <a:chOff x="6486758" y="1340768"/>
            <a:chExt cx="1238243" cy="2565648"/>
          </a:xfrm>
        </p:grpSpPr>
        <p:sp>
          <p:nvSpPr>
            <p:cNvPr id="28" name="Rectangle 32"/>
            <p:cNvSpPr>
              <a:spLocks noChangeArrowheads="1"/>
            </p:cNvSpPr>
            <p:nvPr/>
          </p:nvSpPr>
          <p:spPr bwMode="auto">
            <a:xfrm>
              <a:off x="6495297" y="1340768"/>
              <a:ext cx="1229704" cy="2565648"/>
            </a:xfrm>
            <a:prstGeom prst="rect">
              <a:avLst/>
            </a:prstGeom>
            <a:solidFill>
              <a:schemeClr val="bg1"/>
            </a:solidFill>
            <a:ln w="9525">
              <a:solidFill>
                <a:schemeClr val="tx1"/>
              </a:solidFill>
              <a:miter lim="800000"/>
              <a:headEnd/>
              <a:tailEnd/>
            </a:ln>
          </p:spPr>
          <p:txBody>
            <a:bodyPr wrap="none" anchor="ctr"/>
            <a:lstStyle/>
            <a:p>
              <a:endParaRPr lang="de-DE" sz="2000"/>
            </a:p>
          </p:txBody>
        </p:sp>
        <p:sp>
          <p:nvSpPr>
            <p:cNvPr id="29" name="Line 33"/>
            <p:cNvSpPr>
              <a:spLocks noChangeShapeType="1"/>
            </p:cNvSpPr>
            <p:nvPr/>
          </p:nvSpPr>
          <p:spPr bwMode="auto">
            <a:xfrm>
              <a:off x="6495297" y="1777921"/>
              <a:ext cx="1229704" cy="0"/>
            </a:xfrm>
            <a:prstGeom prst="line">
              <a:avLst/>
            </a:prstGeom>
            <a:noFill/>
            <a:ln w="9525">
              <a:solidFill>
                <a:schemeClr val="tx1"/>
              </a:solidFill>
              <a:round/>
              <a:headEnd/>
              <a:tailEnd/>
            </a:ln>
          </p:spPr>
          <p:txBody>
            <a:bodyPr wrap="none" anchor="ctr"/>
            <a:lstStyle/>
            <a:p>
              <a:endParaRPr lang="de-DE" sz="2000"/>
            </a:p>
          </p:txBody>
        </p:sp>
        <p:sp>
          <p:nvSpPr>
            <p:cNvPr id="30" name="Line 34"/>
            <p:cNvSpPr>
              <a:spLocks noChangeShapeType="1"/>
            </p:cNvSpPr>
            <p:nvPr/>
          </p:nvSpPr>
          <p:spPr bwMode="auto">
            <a:xfrm>
              <a:off x="6495297" y="2272343"/>
              <a:ext cx="1229704" cy="0"/>
            </a:xfrm>
            <a:prstGeom prst="line">
              <a:avLst/>
            </a:prstGeom>
            <a:noFill/>
            <a:ln w="9525">
              <a:solidFill>
                <a:schemeClr val="tx1"/>
              </a:solidFill>
              <a:round/>
              <a:headEnd/>
              <a:tailEnd/>
            </a:ln>
          </p:spPr>
          <p:txBody>
            <a:bodyPr wrap="none" anchor="ctr"/>
            <a:lstStyle/>
            <a:p>
              <a:endParaRPr lang="de-DE" sz="2000"/>
            </a:p>
          </p:txBody>
        </p:sp>
        <p:sp>
          <p:nvSpPr>
            <p:cNvPr id="31" name="Line 35"/>
            <p:cNvSpPr>
              <a:spLocks noChangeShapeType="1"/>
            </p:cNvSpPr>
            <p:nvPr/>
          </p:nvSpPr>
          <p:spPr bwMode="auto">
            <a:xfrm>
              <a:off x="6495297" y="3392905"/>
              <a:ext cx="1229704" cy="0"/>
            </a:xfrm>
            <a:prstGeom prst="line">
              <a:avLst/>
            </a:prstGeom>
            <a:noFill/>
            <a:ln w="9525">
              <a:solidFill>
                <a:schemeClr val="tx1"/>
              </a:solidFill>
              <a:round/>
              <a:headEnd/>
              <a:tailEnd/>
            </a:ln>
          </p:spPr>
          <p:txBody>
            <a:bodyPr wrap="none" anchor="ctr"/>
            <a:lstStyle/>
            <a:p>
              <a:endParaRPr lang="de-DE" sz="2000"/>
            </a:p>
          </p:txBody>
        </p:sp>
        <p:sp>
          <p:nvSpPr>
            <p:cNvPr id="32" name="Text Box 36"/>
            <p:cNvSpPr txBox="1">
              <a:spLocks noChangeArrowheads="1"/>
            </p:cNvSpPr>
            <p:nvPr/>
          </p:nvSpPr>
          <p:spPr bwMode="auto">
            <a:xfrm>
              <a:off x="6820009" y="1354751"/>
              <a:ext cx="481222" cy="338553"/>
            </a:xfrm>
            <a:prstGeom prst="rect">
              <a:avLst/>
            </a:prstGeom>
            <a:noFill/>
            <a:ln w="9525">
              <a:noFill/>
              <a:miter lim="800000"/>
              <a:headEnd/>
              <a:tailEnd/>
            </a:ln>
          </p:spPr>
          <p:txBody>
            <a:bodyPr wrap="none" anchor="ctr">
              <a:spAutoFit/>
            </a:bodyPr>
            <a:lstStyle/>
            <a:p>
              <a:pPr algn="ctr">
                <a:spcBef>
                  <a:spcPct val="50000"/>
                </a:spcBef>
              </a:pPr>
              <a:r>
                <a:rPr lang="en-US" sz="1600" dirty="0">
                  <a:latin typeface="Helvetica" charset="0"/>
                </a:rPr>
                <a:t>OS</a:t>
              </a:r>
            </a:p>
          </p:txBody>
        </p:sp>
        <p:sp>
          <p:nvSpPr>
            <p:cNvPr id="33" name="Text Box 38"/>
            <p:cNvSpPr txBox="1">
              <a:spLocks noChangeArrowheads="1"/>
            </p:cNvSpPr>
            <p:nvPr/>
          </p:nvSpPr>
          <p:spPr bwMode="auto">
            <a:xfrm>
              <a:off x="6495297" y="2271053"/>
              <a:ext cx="1147724" cy="338553"/>
            </a:xfrm>
            <a:prstGeom prst="rect">
              <a:avLst/>
            </a:prstGeom>
            <a:noFill/>
            <a:ln w="9525">
              <a:noFill/>
              <a:miter lim="800000"/>
              <a:headEnd/>
              <a:tailEnd/>
            </a:ln>
          </p:spPr>
          <p:txBody>
            <a:bodyPr anchor="ctr">
              <a:spAutoFit/>
            </a:bodyPr>
            <a:lstStyle/>
            <a:p>
              <a:pPr algn="ctr">
                <a:spcBef>
                  <a:spcPct val="50000"/>
                </a:spcBef>
              </a:pPr>
              <a:r>
                <a:rPr lang="de-DE" sz="1600" dirty="0">
                  <a:latin typeface="Helvetica" charset="0"/>
                </a:rPr>
                <a:t>Prozess</a:t>
              </a:r>
              <a:r>
                <a:rPr lang="en-US" sz="1600" dirty="0">
                  <a:latin typeface="Helvetica" charset="0"/>
                </a:rPr>
                <a:t> 9</a:t>
              </a:r>
            </a:p>
          </p:txBody>
        </p:sp>
        <p:sp>
          <p:nvSpPr>
            <p:cNvPr id="34" name="Text Box 39"/>
            <p:cNvSpPr txBox="1">
              <a:spLocks noChangeArrowheads="1"/>
            </p:cNvSpPr>
            <p:nvPr/>
          </p:nvSpPr>
          <p:spPr bwMode="auto">
            <a:xfrm>
              <a:off x="6486758" y="3454705"/>
              <a:ext cx="1147724" cy="338553"/>
            </a:xfrm>
            <a:prstGeom prst="rect">
              <a:avLst/>
            </a:prstGeom>
            <a:noFill/>
            <a:ln w="9525">
              <a:noFill/>
              <a:miter lim="800000"/>
              <a:headEnd/>
              <a:tailEnd/>
            </a:ln>
          </p:spPr>
          <p:txBody>
            <a:bodyPr anchor="ctr">
              <a:spAutoFit/>
            </a:bodyPr>
            <a:lstStyle/>
            <a:p>
              <a:pPr algn="ctr">
                <a:spcBef>
                  <a:spcPct val="50000"/>
                </a:spcBef>
              </a:pPr>
              <a:r>
                <a:rPr lang="en-US" sz="1600" dirty="0" err="1">
                  <a:latin typeface="Helvetica" charset="0"/>
                </a:rPr>
                <a:t>Prozess</a:t>
              </a:r>
              <a:r>
                <a:rPr lang="en-US" sz="1600" dirty="0">
                  <a:latin typeface="Helvetica" charset="0"/>
                </a:rPr>
                <a:t> 2</a:t>
              </a:r>
            </a:p>
          </p:txBody>
        </p:sp>
        <p:sp>
          <p:nvSpPr>
            <p:cNvPr id="38" name="Rectangle 44"/>
            <p:cNvSpPr>
              <a:spLocks noChangeArrowheads="1"/>
            </p:cNvSpPr>
            <p:nvPr/>
          </p:nvSpPr>
          <p:spPr bwMode="auto">
            <a:xfrm>
              <a:off x="6495297" y="3081743"/>
              <a:ext cx="1229704" cy="366521"/>
            </a:xfrm>
            <a:prstGeom prst="rect">
              <a:avLst/>
            </a:prstGeom>
            <a:solidFill>
              <a:srgbClr val="DDDDDD"/>
            </a:solidFill>
            <a:ln w="9525">
              <a:solidFill>
                <a:schemeClr val="tx1"/>
              </a:solidFill>
              <a:miter lim="800000"/>
              <a:headEnd/>
              <a:tailEnd/>
            </a:ln>
          </p:spPr>
          <p:txBody>
            <a:bodyPr wrap="none" anchor="ctr"/>
            <a:lstStyle/>
            <a:p>
              <a:pPr algn="ctr"/>
              <a:r>
                <a:rPr lang="de-DE" sz="2000" b="1" dirty="0">
                  <a:solidFill>
                    <a:srgbClr val="FF0000"/>
                  </a:solidFill>
                </a:rPr>
                <a:t>Loch</a:t>
              </a:r>
            </a:p>
          </p:txBody>
        </p:sp>
        <p:sp>
          <p:nvSpPr>
            <p:cNvPr id="39" name="Line 45"/>
            <p:cNvSpPr>
              <a:spLocks noChangeShapeType="1"/>
            </p:cNvSpPr>
            <p:nvPr/>
          </p:nvSpPr>
          <p:spPr bwMode="auto">
            <a:xfrm>
              <a:off x="6495297" y="2661771"/>
              <a:ext cx="1229704" cy="0"/>
            </a:xfrm>
            <a:prstGeom prst="line">
              <a:avLst/>
            </a:prstGeom>
            <a:noFill/>
            <a:ln w="9525">
              <a:solidFill>
                <a:schemeClr val="tx1"/>
              </a:solidFill>
              <a:round/>
              <a:headEnd/>
              <a:tailEnd/>
            </a:ln>
          </p:spPr>
          <p:txBody>
            <a:bodyPr wrap="none" anchor="ctr"/>
            <a:lstStyle/>
            <a:p>
              <a:endParaRPr lang="de-DE" sz="2000"/>
            </a:p>
          </p:txBody>
        </p:sp>
        <p:sp>
          <p:nvSpPr>
            <p:cNvPr id="40" name="Text Box 46"/>
            <p:cNvSpPr txBox="1">
              <a:spLocks noChangeArrowheads="1"/>
            </p:cNvSpPr>
            <p:nvPr/>
          </p:nvSpPr>
          <p:spPr bwMode="auto">
            <a:xfrm>
              <a:off x="6495297" y="2729205"/>
              <a:ext cx="1229704" cy="338553"/>
            </a:xfrm>
            <a:prstGeom prst="rect">
              <a:avLst/>
            </a:prstGeom>
            <a:noFill/>
            <a:ln w="9525">
              <a:noFill/>
              <a:miter lim="800000"/>
              <a:headEnd/>
              <a:tailEnd/>
            </a:ln>
          </p:spPr>
          <p:txBody>
            <a:bodyPr wrap="square" anchor="ctr">
              <a:spAutoFit/>
            </a:bodyPr>
            <a:lstStyle/>
            <a:p>
              <a:pPr algn="ctr">
                <a:spcBef>
                  <a:spcPct val="50000"/>
                </a:spcBef>
              </a:pPr>
              <a:r>
                <a:rPr lang="en-US" sz="1600" dirty="0" err="1">
                  <a:latin typeface="Helvetica" charset="0"/>
                </a:rPr>
                <a:t>Prozess</a:t>
              </a:r>
              <a:r>
                <a:rPr lang="en-US" sz="1600" dirty="0">
                  <a:latin typeface="Helvetica" charset="0"/>
                </a:rPr>
                <a:t> 10</a:t>
              </a:r>
            </a:p>
          </p:txBody>
        </p:sp>
        <p:sp>
          <p:nvSpPr>
            <p:cNvPr id="44" name="Rectangle 44"/>
            <p:cNvSpPr>
              <a:spLocks noChangeArrowheads="1"/>
            </p:cNvSpPr>
            <p:nvPr/>
          </p:nvSpPr>
          <p:spPr bwMode="auto">
            <a:xfrm>
              <a:off x="6497372" y="1773715"/>
              <a:ext cx="1227629" cy="502657"/>
            </a:xfrm>
            <a:prstGeom prst="rect">
              <a:avLst/>
            </a:prstGeom>
            <a:solidFill>
              <a:srgbClr val="DDDDDD"/>
            </a:solidFill>
            <a:ln w="9525">
              <a:solidFill>
                <a:schemeClr val="tx1"/>
              </a:solidFill>
              <a:miter lim="800000"/>
              <a:headEnd/>
              <a:tailEnd/>
            </a:ln>
          </p:spPr>
          <p:txBody>
            <a:bodyPr wrap="none" anchor="ctr"/>
            <a:lstStyle/>
            <a:p>
              <a:pPr algn="ctr"/>
              <a:r>
                <a:rPr lang="de-DE" sz="2000" b="1" dirty="0">
                  <a:solidFill>
                    <a:srgbClr val="FF0000"/>
                  </a:solidFill>
                </a:rPr>
                <a:t>Loch</a:t>
              </a:r>
            </a:p>
          </p:txBody>
        </p:sp>
      </p:grpSp>
      <p:sp>
        <p:nvSpPr>
          <p:cNvPr id="48" name="Plus 47"/>
          <p:cNvSpPr/>
          <p:nvPr/>
        </p:nvSpPr>
        <p:spPr>
          <a:xfrm>
            <a:off x="2813419" y="2512344"/>
            <a:ext cx="360000" cy="358887"/>
          </a:xfrm>
          <a:prstGeom prst="mathPlus">
            <a:avLst/>
          </a:prstGeom>
          <a:ln/>
        </p:spPr>
        <p:style>
          <a:lnRef idx="3">
            <a:schemeClr val="lt1"/>
          </a:lnRef>
          <a:fillRef idx="1">
            <a:schemeClr val="dk1"/>
          </a:fillRef>
          <a:effectRef idx="1">
            <a:schemeClr val="dk1"/>
          </a:effectRef>
          <a:fontRef idx="minor">
            <a:schemeClr val="lt1"/>
          </a:fontRef>
        </p:style>
        <p:txBody>
          <a:bodyPr rtlCol="0" anchor="ctr"/>
          <a:lstStyle/>
          <a:p>
            <a:pPr algn="ctr"/>
            <a:endParaRPr lang="de-DE"/>
          </a:p>
        </p:txBody>
      </p:sp>
      <p:sp>
        <p:nvSpPr>
          <p:cNvPr id="49" name="Textfeld 48"/>
          <p:cNvSpPr txBox="1"/>
          <p:nvPr/>
        </p:nvSpPr>
        <p:spPr>
          <a:xfrm>
            <a:off x="5191933" y="2089707"/>
            <a:ext cx="385042" cy="523220"/>
          </a:xfrm>
          <a:prstGeom prst="rect">
            <a:avLst/>
          </a:prstGeom>
          <a:noFill/>
        </p:spPr>
        <p:txBody>
          <a:bodyPr wrap="none" rtlCol="0">
            <a:spAutoFit/>
          </a:bodyPr>
          <a:lstStyle/>
          <a:p>
            <a:r>
              <a:rPr lang="de-DE" sz="2800" dirty="0"/>
              <a:t>?</a:t>
            </a:r>
          </a:p>
        </p:txBody>
      </p:sp>
      <p:grpSp>
        <p:nvGrpSpPr>
          <p:cNvPr id="50" name="Gruppieren 49"/>
          <p:cNvGrpSpPr/>
          <p:nvPr/>
        </p:nvGrpSpPr>
        <p:grpSpPr>
          <a:xfrm>
            <a:off x="6102649" y="1424692"/>
            <a:ext cx="1238243" cy="2565648"/>
            <a:chOff x="6486758" y="1340768"/>
            <a:chExt cx="1238243" cy="2565648"/>
          </a:xfrm>
        </p:grpSpPr>
        <p:sp>
          <p:nvSpPr>
            <p:cNvPr id="51" name="Rectangle 32"/>
            <p:cNvSpPr>
              <a:spLocks noChangeArrowheads="1"/>
            </p:cNvSpPr>
            <p:nvPr/>
          </p:nvSpPr>
          <p:spPr bwMode="auto">
            <a:xfrm>
              <a:off x="6495297" y="1340768"/>
              <a:ext cx="1229704" cy="2565648"/>
            </a:xfrm>
            <a:prstGeom prst="rect">
              <a:avLst/>
            </a:prstGeom>
            <a:solidFill>
              <a:schemeClr val="bg1"/>
            </a:solidFill>
            <a:ln w="9525">
              <a:solidFill>
                <a:schemeClr val="tx1"/>
              </a:solidFill>
              <a:miter lim="800000"/>
              <a:headEnd/>
              <a:tailEnd/>
            </a:ln>
          </p:spPr>
          <p:txBody>
            <a:bodyPr wrap="none" anchor="ctr"/>
            <a:lstStyle/>
            <a:p>
              <a:endParaRPr lang="de-DE" sz="2000" dirty="0"/>
            </a:p>
          </p:txBody>
        </p:sp>
        <p:sp>
          <p:nvSpPr>
            <p:cNvPr id="52" name="Line 33"/>
            <p:cNvSpPr>
              <a:spLocks noChangeShapeType="1"/>
            </p:cNvSpPr>
            <p:nvPr/>
          </p:nvSpPr>
          <p:spPr bwMode="auto">
            <a:xfrm>
              <a:off x="6495297" y="1777921"/>
              <a:ext cx="1229704" cy="0"/>
            </a:xfrm>
            <a:prstGeom prst="line">
              <a:avLst/>
            </a:prstGeom>
            <a:noFill/>
            <a:ln w="9525">
              <a:solidFill>
                <a:schemeClr val="tx1"/>
              </a:solidFill>
              <a:round/>
              <a:headEnd/>
              <a:tailEnd/>
            </a:ln>
          </p:spPr>
          <p:txBody>
            <a:bodyPr wrap="none" anchor="ctr"/>
            <a:lstStyle/>
            <a:p>
              <a:endParaRPr lang="de-DE" sz="2000"/>
            </a:p>
          </p:txBody>
        </p:sp>
        <p:sp>
          <p:nvSpPr>
            <p:cNvPr id="53" name="Line 34"/>
            <p:cNvSpPr>
              <a:spLocks noChangeShapeType="1"/>
            </p:cNvSpPr>
            <p:nvPr/>
          </p:nvSpPr>
          <p:spPr bwMode="auto">
            <a:xfrm>
              <a:off x="6495297" y="2272343"/>
              <a:ext cx="1229704" cy="0"/>
            </a:xfrm>
            <a:prstGeom prst="line">
              <a:avLst/>
            </a:prstGeom>
            <a:noFill/>
            <a:ln w="9525">
              <a:solidFill>
                <a:schemeClr val="tx1"/>
              </a:solidFill>
              <a:round/>
              <a:headEnd/>
              <a:tailEnd/>
            </a:ln>
          </p:spPr>
          <p:txBody>
            <a:bodyPr wrap="none" anchor="ctr"/>
            <a:lstStyle/>
            <a:p>
              <a:endParaRPr lang="de-DE" sz="2000"/>
            </a:p>
          </p:txBody>
        </p:sp>
        <p:sp>
          <p:nvSpPr>
            <p:cNvPr id="54" name="Line 35"/>
            <p:cNvSpPr>
              <a:spLocks noChangeShapeType="1"/>
            </p:cNvSpPr>
            <p:nvPr/>
          </p:nvSpPr>
          <p:spPr bwMode="auto">
            <a:xfrm>
              <a:off x="6495297" y="3392905"/>
              <a:ext cx="1229704" cy="0"/>
            </a:xfrm>
            <a:prstGeom prst="line">
              <a:avLst/>
            </a:prstGeom>
            <a:noFill/>
            <a:ln w="9525">
              <a:solidFill>
                <a:schemeClr val="tx1"/>
              </a:solidFill>
              <a:round/>
              <a:headEnd/>
              <a:tailEnd/>
            </a:ln>
          </p:spPr>
          <p:txBody>
            <a:bodyPr wrap="none" anchor="ctr"/>
            <a:lstStyle/>
            <a:p>
              <a:endParaRPr lang="de-DE" sz="2000"/>
            </a:p>
          </p:txBody>
        </p:sp>
        <p:sp>
          <p:nvSpPr>
            <p:cNvPr id="55" name="Text Box 36"/>
            <p:cNvSpPr txBox="1">
              <a:spLocks noChangeArrowheads="1"/>
            </p:cNvSpPr>
            <p:nvPr/>
          </p:nvSpPr>
          <p:spPr bwMode="auto">
            <a:xfrm>
              <a:off x="6820009" y="1354751"/>
              <a:ext cx="481222" cy="338553"/>
            </a:xfrm>
            <a:prstGeom prst="rect">
              <a:avLst/>
            </a:prstGeom>
            <a:noFill/>
            <a:ln w="9525">
              <a:noFill/>
              <a:miter lim="800000"/>
              <a:headEnd/>
              <a:tailEnd/>
            </a:ln>
          </p:spPr>
          <p:txBody>
            <a:bodyPr wrap="none" anchor="ctr">
              <a:spAutoFit/>
            </a:bodyPr>
            <a:lstStyle/>
            <a:p>
              <a:pPr algn="ctr">
                <a:spcBef>
                  <a:spcPct val="50000"/>
                </a:spcBef>
              </a:pPr>
              <a:r>
                <a:rPr lang="en-US" sz="1600">
                  <a:latin typeface="Helvetica" charset="0"/>
                </a:rPr>
                <a:t>OS</a:t>
              </a:r>
            </a:p>
          </p:txBody>
        </p:sp>
        <p:sp>
          <p:nvSpPr>
            <p:cNvPr id="56" name="Text Box 38"/>
            <p:cNvSpPr txBox="1">
              <a:spLocks noChangeArrowheads="1"/>
            </p:cNvSpPr>
            <p:nvPr/>
          </p:nvSpPr>
          <p:spPr bwMode="auto">
            <a:xfrm>
              <a:off x="6495297" y="2271053"/>
              <a:ext cx="1147724" cy="338553"/>
            </a:xfrm>
            <a:prstGeom prst="rect">
              <a:avLst/>
            </a:prstGeom>
            <a:noFill/>
            <a:ln w="9525">
              <a:noFill/>
              <a:miter lim="800000"/>
              <a:headEnd/>
              <a:tailEnd/>
            </a:ln>
          </p:spPr>
          <p:txBody>
            <a:bodyPr anchor="ctr">
              <a:spAutoFit/>
            </a:bodyPr>
            <a:lstStyle/>
            <a:p>
              <a:pPr algn="ctr">
                <a:spcBef>
                  <a:spcPct val="50000"/>
                </a:spcBef>
              </a:pPr>
              <a:r>
                <a:rPr lang="de-DE" sz="1600" dirty="0">
                  <a:latin typeface="Helvetica" charset="0"/>
                </a:rPr>
                <a:t>Prozess</a:t>
              </a:r>
              <a:r>
                <a:rPr lang="en-US" sz="1600" dirty="0">
                  <a:latin typeface="Helvetica" charset="0"/>
                </a:rPr>
                <a:t> 9</a:t>
              </a:r>
            </a:p>
          </p:txBody>
        </p:sp>
        <p:sp>
          <p:nvSpPr>
            <p:cNvPr id="57" name="Text Box 39"/>
            <p:cNvSpPr txBox="1">
              <a:spLocks noChangeArrowheads="1"/>
            </p:cNvSpPr>
            <p:nvPr/>
          </p:nvSpPr>
          <p:spPr bwMode="auto">
            <a:xfrm>
              <a:off x="6486758" y="3454705"/>
              <a:ext cx="1147724" cy="338553"/>
            </a:xfrm>
            <a:prstGeom prst="rect">
              <a:avLst/>
            </a:prstGeom>
            <a:noFill/>
            <a:ln w="9525">
              <a:noFill/>
              <a:miter lim="800000"/>
              <a:headEnd/>
              <a:tailEnd/>
            </a:ln>
          </p:spPr>
          <p:txBody>
            <a:bodyPr anchor="ctr">
              <a:spAutoFit/>
            </a:bodyPr>
            <a:lstStyle/>
            <a:p>
              <a:pPr algn="ctr">
                <a:spcBef>
                  <a:spcPct val="50000"/>
                </a:spcBef>
              </a:pPr>
              <a:r>
                <a:rPr lang="en-US" sz="1600" dirty="0" err="1">
                  <a:latin typeface="Helvetica" charset="0"/>
                </a:rPr>
                <a:t>Prozess</a:t>
              </a:r>
              <a:r>
                <a:rPr lang="en-US" sz="1600" dirty="0">
                  <a:latin typeface="Helvetica" charset="0"/>
                </a:rPr>
                <a:t> 2</a:t>
              </a:r>
            </a:p>
          </p:txBody>
        </p:sp>
        <p:sp>
          <p:nvSpPr>
            <p:cNvPr id="58" name="Rectangle 44"/>
            <p:cNvSpPr>
              <a:spLocks noChangeArrowheads="1"/>
            </p:cNvSpPr>
            <p:nvPr/>
          </p:nvSpPr>
          <p:spPr bwMode="auto">
            <a:xfrm>
              <a:off x="6495297" y="3081743"/>
              <a:ext cx="1229704" cy="366521"/>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r>
                <a:rPr lang="de-DE" sz="1600" b="1" dirty="0"/>
                <a:t>X (2)</a:t>
              </a:r>
            </a:p>
          </p:txBody>
        </p:sp>
        <p:sp>
          <p:nvSpPr>
            <p:cNvPr id="59" name="Line 45"/>
            <p:cNvSpPr>
              <a:spLocks noChangeShapeType="1"/>
            </p:cNvSpPr>
            <p:nvPr/>
          </p:nvSpPr>
          <p:spPr bwMode="auto">
            <a:xfrm>
              <a:off x="6495297" y="2661771"/>
              <a:ext cx="1229704" cy="0"/>
            </a:xfrm>
            <a:prstGeom prst="line">
              <a:avLst/>
            </a:prstGeom>
            <a:noFill/>
            <a:ln w="9525">
              <a:solidFill>
                <a:schemeClr val="tx1"/>
              </a:solidFill>
              <a:round/>
              <a:headEnd/>
              <a:tailEnd/>
            </a:ln>
          </p:spPr>
          <p:txBody>
            <a:bodyPr wrap="none" anchor="ctr"/>
            <a:lstStyle/>
            <a:p>
              <a:endParaRPr lang="de-DE" sz="2000"/>
            </a:p>
          </p:txBody>
        </p:sp>
        <p:sp>
          <p:nvSpPr>
            <p:cNvPr id="60" name="Text Box 46"/>
            <p:cNvSpPr txBox="1">
              <a:spLocks noChangeArrowheads="1"/>
            </p:cNvSpPr>
            <p:nvPr/>
          </p:nvSpPr>
          <p:spPr bwMode="auto">
            <a:xfrm>
              <a:off x="6495297" y="2729205"/>
              <a:ext cx="1229704" cy="338553"/>
            </a:xfrm>
            <a:prstGeom prst="rect">
              <a:avLst/>
            </a:prstGeom>
            <a:noFill/>
            <a:ln w="9525">
              <a:noFill/>
              <a:miter lim="800000"/>
              <a:headEnd/>
              <a:tailEnd/>
            </a:ln>
          </p:spPr>
          <p:txBody>
            <a:bodyPr wrap="square" anchor="ctr">
              <a:spAutoFit/>
            </a:bodyPr>
            <a:lstStyle/>
            <a:p>
              <a:pPr algn="ctr">
                <a:spcBef>
                  <a:spcPct val="50000"/>
                </a:spcBef>
              </a:pPr>
              <a:r>
                <a:rPr lang="en-US" sz="1600" dirty="0" err="1">
                  <a:latin typeface="Helvetica" charset="0"/>
                </a:rPr>
                <a:t>Prozess</a:t>
              </a:r>
              <a:r>
                <a:rPr lang="en-US" sz="1600" dirty="0">
                  <a:latin typeface="Helvetica" charset="0"/>
                </a:rPr>
                <a:t> 10</a:t>
              </a:r>
            </a:p>
          </p:txBody>
        </p:sp>
        <p:sp>
          <p:nvSpPr>
            <p:cNvPr id="61" name="Rectangle 44"/>
            <p:cNvSpPr>
              <a:spLocks noChangeArrowheads="1"/>
            </p:cNvSpPr>
            <p:nvPr/>
          </p:nvSpPr>
          <p:spPr bwMode="auto">
            <a:xfrm>
              <a:off x="6497372" y="1773715"/>
              <a:ext cx="1227629" cy="502657"/>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r>
                <a:rPr lang="de-DE" sz="1600" b="1" dirty="0"/>
                <a:t>X (1)</a:t>
              </a:r>
            </a:p>
          </p:txBody>
        </p:sp>
      </p:grpSp>
      <p:sp>
        <p:nvSpPr>
          <p:cNvPr id="5" name="Rechteck 4">
            <a:extLst>
              <a:ext uri="{FF2B5EF4-FFF2-40B4-BE49-F238E27FC236}">
                <a16:creationId xmlns:a16="http://schemas.microsoft.com/office/drawing/2014/main" id="{D8F0D80F-D5B3-91BF-A8C4-6BA89BBD2FCB}"/>
              </a:ext>
            </a:extLst>
          </p:cNvPr>
          <p:cNvSpPr/>
          <p:nvPr/>
        </p:nvSpPr>
        <p:spPr>
          <a:xfrm>
            <a:off x="5940152" y="-15830"/>
            <a:ext cx="3231318" cy="646331"/>
          </a:xfrm>
          <a:prstGeom prst="rect">
            <a:avLst/>
          </a:prstGeom>
          <a:noFill/>
        </p:spPr>
        <p:txBody>
          <a:bodyPr wrap="square" lIns="91440" tIns="45720" rIns="91440" bIns="45720">
            <a:spAutoFit/>
          </a:bodyPr>
          <a:lstStyle/>
          <a:p>
            <a:pPr algn="ctr"/>
            <a:r>
              <a:rPr lang="de-DE"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Wiederholung</a:t>
            </a:r>
          </a:p>
        </p:txBody>
      </p:sp>
    </p:spTree>
    <p:extLst>
      <p:ext uri="{BB962C8B-B14F-4D97-AF65-F5344CB8AC3E}">
        <p14:creationId xmlns:p14="http://schemas.microsoft.com/office/powerpoint/2010/main" val="402074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6">
                                            <p:txEl>
                                              <p:pRg st="0" end="0"/>
                                            </p:txEl>
                                          </p:spTgt>
                                        </p:tgtEl>
                                        <p:attrNameLst>
                                          <p:attrName>style.visibility</p:attrName>
                                        </p:attrNameLst>
                                      </p:cBhvr>
                                      <p:to>
                                        <p:strVal val="visible"/>
                                      </p:to>
                                    </p:set>
                                    <p:animEffect transition="in" filter="fade">
                                      <p:cBhvr>
                                        <p:cTn id="12" dur="500"/>
                                        <p:tgtEl>
                                          <p:spTgt spid="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6">
                                            <p:txEl>
                                              <p:pRg st="1" end="1"/>
                                            </p:txEl>
                                          </p:spTgt>
                                        </p:tgtEl>
                                        <p:attrNameLst>
                                          <p:attrName>style.visibility</p:attrName>
                                        </p:attrNameLst>
                                      </p:cBhvr>
                                      <p:to>
                                        <p:strVal val="visible"/>
                                      </p:to>
                                    </p:set>
                                    <p:animEffect transition="in" filter="fade">
                                      <p:cBhvr>
                                        <p:cTn id="17" dur="500"/>
                                        <p:tgtEl>
                                          <p:spTgt spid="4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Lösung: Adressenübersetzung in Blöcken</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sp>
        <p:nvSpPr>
          <p:cNvPr id="11" name="Textfeld 10"/>
          <p:cNvSpPr txBox="1"/>
          <p:nvPr/>
        </p:nvSpPr>
        <p:spPr>
          <a:xfrm>
            <a:off x="6118834" y="1271705"/>
            <a:ext cx="1676962" cy="646331"/>
          </a:xfrm>
          <a:prstGeom prst="rect">
            <a:avLst/>
          </a:prstGeom>
          <a:solidFill>
            <a:srgbClr val="0070C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Physischer Adressraum</a:t>
            </a:r>
          </a:p>
        </p:txBody>
      </p:sp>
      <p:cxnSp>
        <p:nvCxnSpPr>
          <p:cNvPr id="28" name="Gerade Verbindung mit Pfeil 27"/>
          <p:cNvCxnSpPr>
            <a:endCxn id="82" idx="1"/>
          </p:cNvCxnSpPr>
          <p:nvPr/>
        </p:nvCxnSpPr>
        <p:spPr>
          <a:xfrm flipV="1">
            <a:off x="2680329" y="2486072"/>
            <a:ext cx="3438505" cy="1583516"/>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102" name="Right Brace 4101"/>
          <p:cNvSpPr/>
          <p:nvPr/>
        </p:nvSpPr>
        <p:spPr>
          <a:xfrm rot="10800000">
            <a:off x="5701212" y="2742120"/>
            <a:ext cx="452187" cy="50831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4121" name="Rectangle 4120"/>
          <p:cNvSpPr/>
          <p:nvPr/>
        </p:nvSpPr>
        <p:spPr>
          <a:xfrm>
            <a:off x="1619672" y="2272614"/>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0</a:t>
            </a:r>
          </a:p>
        </p:txBody>
      </p:sp>
      <p:sp>
        <p:nvSpPr>
          <p:cNvPr id="59" name="Rectangle 58"/>
          <p:cNvSpPr/>
          <p:nvPr/>
        </p:nvSpPr>
        <p:spPr>
          <a:xfrm>
            <a:off x="1619672" y="2780927"/>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1</a:t>
            </a:r>
          </a:p>
        </p:txBody>
      </p:sp>
      <p:sp>
        <p:nvSpPr>
          <p:cNvPr id="60" name="Rectangle 59"/>
          <p:cNvSpPr/>
          <p:nvPr/>
        </p:nvSpPr>
        <p:spPr>
          <a:xfrm>
            <a:off x="1619672" y="3289240"/>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2</a:t>
            </a:r>
          </a:p>
        </p:txBody>
      </p:sp>
      <p:sp>
        <p:nvSpPr>
          <p:cNvPr id="61" name="Rectangle 60"/>
          <p:cNvSpPr/>
          <p:nvPr/>
        </p:nvSpPr>
        <p:spPr>
          <a:xfrm>
            <a:off x="1619672" y="3797553"/>
            <a:ext cx="1026092" cy="508313"/>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3</a:t>
            </a:r>
          </a:p>
        </p:txBody>
      </p:sp>
      <p:sp>
        <p:nvSpPr>
          <p:cNvPr id="75" name="Rectangle 74"/>
          <p:cNvSpPr/>
          <p:nvPr/>
        </p:nvSpPr>
        <p:spPr>
          <a:xfrm>
            <a:off x="6118834" y="2245093"/>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7" name="Rectangle 76"/>
          <p:cNvSpPr/>
          <p:nvPr/>
        </p:nvSpPr>
        <p:spPr>
          <a:xfrm>
            <a:off x="6118834" y="3261719"/>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8" name="Rectangle 77"/>
          <p:cNvSpPr/>
          <p:nvPr/>
        </p:nvSpPr>
        <p:spPr>
          <a:xfrm>
            <a:off x="6118834" y="3770032"/>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2</a:t>
            </a:r>
          </a:p>
        </p:txBody>
      </p:sp>
      <p:sp>
        <p:nvSpPr>
          <p:cNvPr id="79" name="Rectangle 78"/>
          <p:cNvSpPr/>
          <p:nvPr/>
        </p:nvSpPr>
        <p:spPr>
          <a:xfrm>
            <a:off x="6118834" y="4278345"/>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1</a:t>
            </a:r>
          </a:p>
        </p:txBody>
      </p:sp>
      <p:sp>
        <p:nvSpPr>
          <p:cNvPr id="82" name="Rectangle 81"/>
          <p:cNvSpPr/>
          <p:nvPr/>
        </p:nvSpPr>
        <p:spPr>
          <a:xfrm>
            <a:off x="6118834" y="2230025"/>
            <a:ext cx="1026092" cy="512094"/>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3</a:t>
            </a:r>
          </a:p>
        </p:txBody>
      </p:sp>
      <p:grpSp>
        <p:nvGrpSpPr>
          <p:cNvPr id="39" name="Group 38"/>
          <p:cNvGrpSpPr/>
          <p:nvPr/>
        </p:nvGrpSpPr>
        <p:grpSpPr>
          <a:xfrm>
            <a:off x="7143881" y="2296378"/>
            <a:ext cx="312906" cy="2388296"/>
            <a:chOff x="5793399" y="2339588"/>
            <a:chExt cx="312906" cy="2388296"/>
          </a:xfrm>
        </p:grpSpPr>
        <p:sp>
          <p:nvSpPr>
            <p:cNvPr id="38" name="TextBox 37"/>
            <p:cNvSpPr txBox="1"/>
            <p:nvPr/>
          </p:nvSpPr>
          <p:spPr>
            <a:xfrm>
              <a:off x="5793399" y="2339588"/>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Helvetica" charset="0"/>
                  <a:ea typeface="+mn-ea"/>
                  <a:cs typeface="+mn-cs"/>
                </a:rPr>
                <a:t>0</a:t>
              </a:r>
            </a:p>
          </p:txBody>
        </p:sp>
        <p:sp>
          <p:nvSpPr>
            <p:cNvPr id="88" name="TextBox 87"/>
            <p:cNvSpPr txBox="1"/>
            <p:nvPr/>
          </p:nvSpPr>
          <p:spPr>
            <a:xfrm>
              <a:off x="5793399" y="2844329"/>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1</a:t>
              </a:r>
            </a:p>
          </p:txBody>
        </p:sp>
        <p:sp>
          <p:nvSpPr>
            <p:cNvPr id="89" name="TextBox 88"/>
            <p:cNvSpPr txBox="1"/>
            <p:nvPr/>
          </p:nvSpPr>
          <p:spPr>
            <a:xfrm>
              <a:off x="5793399" y="3349070"/>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2</a:t>
              </a:r>
            </a:p>
          </p:txBody>
        </p:sp>
        <p:sp>
          <p:nvSpPr>
            <p:cNvPr id="90" name="TextBox 89"/>
            <p:cNvSpPr txBox="1"/>
            <p:nvPr/>
          </p:nvSpPr>
          <p:spPr>
            <a:xfrm>
              <a:off x="5793399" y="3853811"/>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3</a:t>
              </a:r>
            </a:p>
          </p:txBody>
        </p:sp>
        <p:sp>
          <p:nvSpPr>
            <p:cNvPr id="91" name="TextBox 90"/>
            <p:cNvSpPr txBox="1"/>
            <p:nvPr/>
          </p:nvSpPr>
          <p:spPr>
            <a:xfrm>
              <a:off x="5793399" y="4358552"/>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4</a:t>
              </a:r>
            </a:p>
          </p:txBody>
        </p:sp>
      </p:grpSp>
      <p:sp>
        <p:nvSpPr>
          <p:cNvPr id="13" name="Rechteck 12"/>
          <p:cNvSpPr/>
          <p:nvPr/>
        </p:nvSpPr>
        <p:spPr>
          <a:xfrm>
            <a:off x="1096961" y="2336682"/>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Rechteck 53"/>
          <p:cNvSpPr/>
          <p:nvPr/>
        </p:nvSpPr>
        <p:spPr>
          <a:xfrm>
            <a:off x="1099216" y="2796957"/>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5" name="Rechteck 54"/>
          <p:cNvSpPr/>
          <p:nvPr/>
        </p:nvSpPr>
        <p:spPr>
          <a:xfrm>
            <a:off x="1105221" y="3339661"/>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6" name="Rechteck 55"/>
          <p:cNvSpPr/>
          <p:nvPr/>
        </p:nvSpPr>
        <p:spPr>
          <a:xfrm>
            <a:off x="1103813" y="3822763"/>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feld 56"/>
          <p:cNvSpPr txBox="1"/>
          <p:nvPr/>
        </p:nvSpPr>
        <p:spPr>
          <a:xfrm>
            <a:off x="977303" y="1292536"/>
            <a:ext cx="1676962" cy="646331"/>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Logischer Adressraum</a:t>
            </a:r>
          </a:p>
        </p:txBody>
      </p:sp>
      <p:cxnSp>
        <p:nvCxnSpPr>
          <p:cNvPr id="67" name="Gerade Verbindung mit Pfeil 66"/>
          <p:cNvCxnSpPr/>
          <p:nvPr/>
        </p:nvCxnSpPr>
        <p:spPr>
          <a:xfrm>
            <a:off x="3181473" y="2568874"/>
            <a:ext cx="2326631" cy="427402"/>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8" name="Gerade Verbindung mit Pfeil 67"/>
          <p:cNvCxnSpPr>
            <a:stCxn id="60" idx="3"/>
            <a:endCxn id="78" idx="1"/>
          </p:cNvCxnSpPr>
          <p:nvPr/>
        </p:nvCxnSpPr>
        <p:spPr>
          <a:xfrm>
            <a:off x="2645764" y="3543397"/>
            <a:ext cx="3473070" cy="480792"/>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a:stCxn id="59" idx="3"/>
            <a:endCxn id="79" idx="1"/>
          </p:cNvCxnSpPr>
          <p:nvPr/>
        </p:nvCxnSpPr>
        <p:spPr>
          <a:xfrm>
            <a:off x="2645764" y="3035084"/>
            <a:ext cx="3473070" cy="1497418"/>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84" name="Right Brace 4101"/>
          <p:cNvSpPr/>
          <p:nvPr/>
        </p:nvSpPr>
        <p:spPr>
          <a:xfrm>
            <a:off x="2654265" y="2288644"/>
            <a:ext cx="452187" cy="50831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6" name="Rectangle 75"/>
          <p:cNvSpPr/>
          <p:nvPr/>
        </p:nvSpPr>
        <p:spPr>
          <a:xfrm>
            <a:off x="6118834" y="2753406"/>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0</a:t>
            </a:r>
          </a:p>
        </p:txBody>
      </p:sp>
      <p:sp>
        <p:nvSpPr>
          <p:cNvPr id="45" name="Inhaltsplatzhalter 44"/>
          <p:cNvSpPr>
            <a:spLocks noGrp="1"/>
          </p:cNvSpPr>
          <p:nvPr>
            <p:ph sz="quarter" idx="13"/>
          </p:nvPr>
        </p:nvSpPr>
        <p:spPr>
          <a:xfrm>
            <a:off x="465089" y="4964048"/>
            <a:ext cx="8208912" cy="1712864"/>
          </a:xfrm>
        </p:spPr>
        <p:txBody>
          <a:bodyPr>
            <a:normAutofit fontScale="92500"/>
          </a:bodyPr>
          <a:lstStyle/>
          <a:p>
            <a:r>
              <a:rPr lang="de-DE" dirty="0"/>
              <a:t>Das </a:t>
            </a:r>
            <a:r>
              <a:rPr lang="de-DE" i="1" dirty="0"/>
              <a:t>separate</a:t>
            </a:r>
            <a:r>
              <a:rPr lang="de-DE" dirty="0"/>
              <a:t> Übersetzen jeder Adresse ist nicht machbar (warum?); statt dessen …</a:t>
            </a:r>
          </a:p>
          <a:p>
            <a:r>
              <a:rPr lang="de-DE" dirty="0"/>
              <a:t>… übersetzen wir ganze </a:t>
            </a:r>
            <a:r>
              <a:rPr lang="de-DE" u="sng" dirty="0"/>
              <a:t>Blöcke</a:t>
            </a:r>
            <a:r>
              <a:rPr lang="de-DE" dirty="0"/>
              <a:t> (Kacheln) der logischen Adressen auf </a:t>
            </a:r>
            <a:r>
              <a:rPr lang="de-DE" u="sng" dirty="0"/>
              <a:t>Blöcke</a:t>
            </a:r>
            <a:r>
              <a:rPr lang="de-DE" dirty="0"/>
              <a:t> der physischen Adressen</a:t>
            </a:r>
          </a:p>
          <a:p>
            <a:endParaRPr lang="de-DE" dirty="0"/>
          </a:p>
        </p:txBody>
      </p:sp>
      <p:sp>
        <p:nvSpPr>
          <p:cNvPr id="46" name="Textfeld 45"/>
          <p:cNvSpPr txBox="1"/>
          <p:nvPr/>
        </p:nvSpPr>
        <p:spPr>
          <a:xfrm>
            <a:off x="6426261" y="4692742"/>
            <a:ext cx="40575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Arial"/>
                <a:ea typeface="+mn-ea"/>
                <a:cs typeface="+mn-cs"/>
              </a:rPr>
              <a:t>…</a:t>
            </a:r>
          </a:p>
        </p:txBody>
      </p:sp>
      <p:sp>
        <p:nvSpPr>
          <p:cNvPr id="40" name="Rechteckige Legende 13">
            <a:extLst>
              <a:ext uri="{FF2B5EF4-FFF2-40B4-BE49-F238E27FC236}">
                <a16:creationId xmlns:a16="http://schemas.microsoft.com/office/drawing/2014/main" id="{E2730765-BEBF-41E3-9F1A-A8BF3A59E014}"/>
              </a:ext>
            </a:extLst>
          </p:cNvPr>
          <p:cNvSpPr/>
          <p:nvPr/>
        </p:nvSpPr>
        <p:spPr>
          <a:xfrm>
            <a:off x="309870" y="4394456"/>
            <a:ext cx="1885865" cy="392202"/>
          </a:xfrm>
          <a:prstGeom prst="wedgeRectCallout">
            <a:avLst>
              <a:gd name="adj1" fmla="val -514"/>
              <a:gd name="adj2" fmla="val -242530"/>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solidFill>
                  <a:srgbClr val="FF0000"/>
                </a:solidFill>
                <a:latin typeface="Arial"/>
              </a:rPr>
              <a:t>Block</a:t>
            </a: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b="1" i="0" u="none" strike="noStrike" kern="1200" cap="none" spc="0" normalizeH="0" baseline="0" noProof="0" dirty="0">
                <a:ln>
                  <a:noFill/>
                </a:ln>
                <a:solidFill>
                  <a:srgbClr val="FF0000"/>
                </a:solidFill>
                <a:effectLst/>
                <a:uLnTx/>
                <a:uFillTx/>
                <a:latin typeface="Arial"/>
                <a:ea typeface="+mn-ea"/>
                <a:cs typeface="+mn-cs"/>
              </a:rPr>
              <a:t>p</a:t>
            </a:r>
          </a:p>
        </p:txBody>
      </p:sp>
      <p:sp>
        <p:nvSpPr>
          <p:cNvPr id="41" name="Rechteckige Legende 84">
            <a:extLst>
              <a:ext uri="{FF2B5EF4-FFF2-40B4-BE49-F238E27FC236}">
                <a16:creationId xmlns:a16="http://schemas.microsoft.com/office/drawing/2014/main" id="{02250BDB-0AF2-469B-B73A-294D726A1C8C}"/>
              </a:ext>
            </a:extLst>
          </p:cNvPr>
          <p:cNvSpPr/>
          <p:nvPr/>
        </p:nvSpPr>
        <p:spPr>
          <a:xfrm>
            <a:off x="7668344" y="3005450"/>
            <a:ext cx="1340600" cy="726427"/>
          </a:xfrm>
          <a:prstGeom prst="wedgeRectCallout">
            <a:avLst>
              <a:gd name="adj1" fmla="val -68722"/>
              <a:gd name="adj2" fmla="val -41518"/>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70C0"/>
                </a:solidFill>
                <a:effectLst/>
                <a:uLnTx/>
                <a:uFillTx/>
                <a:latin typeface="Arial"/>
                <a:ea typeface="+mn-ea"/>
                <a:cs typeface="+mn-cs"/>
              </a:rPr>
              <a:t>Block</a:t>
            </a:r>
            <a:r>
              <a:rPr lang="en-US" dirty="0">
                <a:solidFill>
                  <a:prstClr val="black"/>
                </a:solidFill>
                <a:latin typeface="Arial"/>
              </a:rPr>
              <a:t>-</a:t>
            </a: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b="1" i="0" u="none" strike="noStrike" kern="1200" cap="none" spc="0" normalizeH="0" baseline="0" noProof="0" dirty="0">
                <a:ln>
                  <a:noFill/>
                </a:ln>
                <a:solidFill>
                  <a:srgbClr val="0070C0"/>
                </a:solidFill>
                <a:effectLst/>
                <a:uLnTx/>
                <a:uFillTx/>
                <a:latin typeface="Arial"/>
                <a:ea typeface="+mn-ea"/>
                <a:cs typeface="+mn-cs"/>
              </a:rPr>
              <a:t>f</a:t>
            </a:r>
          </a:p>
        </p:txBody>
      </p:sp>
      <p:sp>
        <p:nvSpPr>
          <p:cNvPr id="3" name="Rechteck 2">
            <a:extLst>
              <a:ext uri="{FF2B5EF4-FFF2-40B4-BE49-F238E27FC236}">
                <a16:creationId xmlns:a16="http://schemas.microsoft.com/office/drawing/2014/main" id="{8EAF43B6-85F6-8560-F599-8AF99BAE6EAD}"/>
              </a:ext>
            </a:extLst>
          </p:cNvPr>
          <p:cNvSpPr/>
          <p:nvPr/>
        </p:nvSpPr>
        <p:spPr>
          <a:xfrm>
            <a:off x="5940152" y="-15830"/>
            <a:ext cx="3231318" cy="646331"/>
          </a:xfrm>
          <a:prstGeom prst="rect">
            <a:avLst/>
          </a:prstGeom>
          <a:noFill/>
        </p:spPr>
        <p:txBody>
          <a:bodyPr wrap="square" lIns="91440" tIns="45720" rIns="91440" bIns="45720">
            <a:spAutoFit/>
          </a:bodyPr>
          <a:lstStyle/>
          <a:p>
            <a:pPr algn="ctr"/>
            <a:r>
              <a:rPr lang="de-DE" sz="36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Wiederholung</a:t>
            </a:r>
          </a:p>
        </p:txBody>
      </p:sp>
    </p:spTree>
    <p:extLst>
      <p:ext uri="{BB962C8B-B14F-4D97-AF65-F5344CB8AC3E}">
        <p14:creationId xmlns:p14="http://schemas.microsoft.com/office/powerpoint/2010/main" val="122530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fade">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fade">
                                      <p:cBhvr>
                                        <p:cTn id="12" dur="500"/>
                                        <p:tgtEl>
                                          <p:spTgt spid="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Artur\Academic\Lehre\10.WS-IBN\VL\figures\vl07\paging-02.png"/>
          <p:cNvPicPr>
            <a:picLocks noChangeAspect="1" noChangeArrowheads="1"/>
          </p:cNvPicPr>
          <p:nvPr/>
        </p:nvPicPr>
        <p:blipFill>
          <a:blip r:embed="rId3" cstate="print"/>
          <a:srcRect/>
          <a:stretch>
            <a:fillRect/>
          </a:stretch>
        </p:blipFill>
        <p:spPr bwMode="auto">
          <a:xfrm>
            <a:off x="5044721" y="2281079"/>
            <a:ext cx="3171825" cy="3895725"/>
          </a:xfrm>
          <a:prstGeom prst="rect">
            <a:avLst/>
          </a:prstGeom>
          <a:noFill/>
        </p:spPr>
      </p:pic>
      <p:sp>
        <p:nvSpPr>
          <p:cNvPr id="2" name="Titel 1"/>
          <p:cNvSpPr>
            <a:spLocks noGrp="1"/>
          </p:cNvSpPr>
          <p:nvPr>
            <p:ph type="title"/>
          </p:nvPr>
        </p:nvSpPr>
        <p:spPr/>
        <p:txBody>
          <a:bodyPr/>
          <a:lstStyle/>
          <a:p>
            <a:r>
              <a:rPr lang="de-DE" dirty="0"/>
              <a:t>Begriffe: Seiten, Rahmen, </a:t>
            </a:r>
            <a:r>
              <a:rPr lang="de-DE" dirty="0" err="1"/>
              <a:t>Paging</a:t>
            </a:r>
            <a:endParaRPr lang="de-DE" dirty="0"/>
          </a:p>
        </p:txBody>
      </p:sp>
      <p:sp>
        <p:nvSpPr>
          <p:cNvPr id="3" name="Inhaltsplatzhalter 2"/>
          <p:cNvSpPr>
            <a:spLocks noGrp="1"/>
          </p:cNvSpPr>
          <p:nvPr>
            <p:ph sz="quarter" idx="1"/>
          </p:nvPr>
        </p:nvSpPr>
        <p:spPr>
          <a:xfrm>
            <a:off x="457200" y="1219200"/>
            <a:ext cx="4618856" cy="5522168"/>
          </a:xfrm>
        </p:spPr>
        <p:txBody>
          <a:bodyPr>
            <a:normAutofit/>
          </a:bodyPr>
          <a:lstStyle/>
          <a:p>
            <a:r>
              <a:rPr lang="de-DE" b="1" dirty="0">
                <a:solidFill>
                  <a:schemeClr val="accent1"/>
                </a:solidFill>
              </a:rPr>
              <a:t>Pages</a:t>
            </a:r>
            <a:r>
              <a:rPr lang="de-DE" b="1" dirty="0">
                <a:solidFill>
                  <a:srgbClr val="FF0000"/>
                </a:solidFill>
              </a:rPr>
              <a:t> </a:t>
            </a:r>
            <a:r>
              <a:rPr lang="de-DE" dirty="0"/>
              <a:t>(</a:t>
            </a:r>
            <a:r>
              <a:rPr lang="de-DE" b="1" dirty="0">
                <a:solidFill>
                  <a:schemeClr val="accent1"/>
                </a:solidFill>
              </a:rPr>
              <a:t>Seiten</a:t>
            </a:r>
            <a:r>
              <a:rPr lang="de-DE" dirty="0"/>
              <a:t>) = Kacheln der logischen Adressen</a:t>
            </a:r>
          </a:p>
          <a:p>
            <a:r>
              <a:rPr lang="de-DE" b="1" dirty="0">
                <a:solidFill>
                  <a:srgbClr val="FF0000"/>
                </a:solidFill>
              </a:rPr>
              <a:t>Frames </a:t>
            </a:r>
            <a:r>
              <a:rPr lang="de-DE" dirty="0"/>
              <a:t>(</a:t>
            </a:r>
            <a:r>
              <a:rPr lang="de-DE" b="1" dirty="0">
                <a:solidFill>
                  <a:srgbClr val="FF0000"/>
                </a:solidFill>
              </a:rPr>
              <a:t>Rahmen</a:t>
            </a:r>
            <a:r>
              <a:rPr lang="de-DE" dirty="0"/>
              <a:t>) = Kacheln der physischen Adressen </a:t>
            </a:r>
          </a:p>
          <a:p>
            <a:endParaRPr lang="de-DE" b="1" dirty="0"/>
          </a:p>
          <a:p>
            <a:r>
              <a:rPr lang="de-DE" b="1" dirty="0" err="1"/>
              <a:t>Paging</a:t>
            </a:r>
            <a:r>
              <a:rPr lang="de-DE" dirty="0"/>
              <a:t> ist die Adressenübersetzung, bei der die Flexibilität nur „kachelweise“ möglich ist</a:t>
            </a:r>
          </a:p>
          <a:p>
            <a:pPr lvl="1"/>
            <a:r>
              <a:rPr lang="de-DE" dirty="0"/>
              <a:t>Intuitiv gesprochen: eine Seite wird auf einen Rahmen abgebildet</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5</a:t>
            </a:fld>
            <a:endParaRPr lang="en-US" noProof="0" dirty="0"/>
          </a:p>
        </p:txBody>
      </p:sp>
      <p:sp>
        <p:nvSpPr>
          <p:cNvPr id="6" name="Textfeld 5"/>
          <p:cNvSpPr txBox="1"/>
          <p:nvPr/>
        </p:nvSpPr>
        <p:spPr>
          <a:xfrm>
            <a:off x="4795961" y="1222364"/>
            <a:ext cx="1566454" cy="707886"/>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pPr algn="ctr"/>
            <a:r>
              <a:rPr lang="de-DE" sz="2000" dirty="0"/>
              <a:t>logischer</a:t>
            </a:r>
          </a:p>
          <a:p>
            <a:pPr algn="ctr"/>
            <a:r>
              <a:rPr lang="de-DE" sz="2000" dirty="0"/>
              <a:t>Adressraum</a:t>
            </a:r>
          </a:p>
        </p:txBody>
      </p:sp>
      <p:sp>
        <p:nvSpPr>
          <p:cNvPr id="7" name="Textfeld 6"/>
          <p:cNvSpPr txBox="1"/>
          <p:nvPr/>
        </p:nvSpPr>
        <p:spPr>
          <a:xfrm>
            <a:off x="7283608" y="2999840"/>
            <a:ext cx="1566454" cy="707886"/>
          </a:xfrm>
          <a:prstGeom prst="rect">
            <a:avLst/>
          </a:prstGeom>
        </p:spPr>
        <p:style>
          <a:lnRef idx="1">
            <a:schemeClr val="accent4"/>
          </a:lnRef>
          <a:fillRef idx="2">
            <a:schemeClr val="accent4"/>
          </a:fillRef>
          <a:effectRef idx="1">
            <a:schemeClr val="accent4"/>
          </a:effectRef>
          <a:fontRef idx="minor">
            <a:schemeClr val="dk1"/>
          </a:fontRef>
        </p:style>
        <p:txBody>
          <a:bodyPr wrap="none" rtlCol="0">
            <a:spAutoFit/>
          </a:bodyPr>
          <a:lstStyle/>
          <a:p>
            <a:pPr algn="ctr"/>
            <a:r>
              <a:rPr lang="de-DE" sz="2000" dirty="0"/>
              <a:t>physischer</a:t>
            </a:r>
          </a:p>
          <a:p>
            <a:pPr algn="ctr"/>
            <a:r>
              <a:rPr lang="de-DE" sz="2000" dirty="0"/>
              <a:t>Adressraum</a:t>
            </a:r>
          </a:p>
        </p:txBody>
      </p:sp>
      <p:sp>
        <p:nvSpPr>
          <p:cNvPr id="8" name="Textfeld 7"/>
          <p:cNvSpPr txBox="1"/>
          <p:nvPr/>
        </p:nvSpPr>
        <p:spPr>
          <a:xfrm>
            <a:off x="6876256" y="6027003"/>
            <a:ext cx="1604927" cy="830997"/>
          </a:xfrm>
          <a:prstGeom prst="rect">
            <a:avLst/>
          </a:prstGeom>
          <a:noFill/>
        </p:spPr>
        <p:txBody>
          <a:bodyPr wrap="none" rtlCol="0">
            <a:spAutoFit/>
          </a:bodyPr>
          <a:lstStyle/>
          <a:p>
            <a:pPr algn="ctr"/>
            <a:r>
              <a:rPr lang="de-DE" sz="2400" b="1" dirty="0">
                <a:solidFill>
                  <a:srgbClr val="FF0000"/>
                </a:solidFill>
              </a:rPr>
              <a:t>Frame  </a:t>
            </a:r>
          </a:p>
          <a:p>
            <a:pPr algn="ctr"/>
            <a:r>
              <a:rPr lang="de-DE" sz="2400" dirty="0"/>
              <a:t>(</a:t>
            </a:r>
            <a:r>
              <a:rPr lang="de-DE" sz="2400" b="1" dirty="0">
                <a:solidFill>
                  <a:srgbClr val="FF0000"/>
                </a:solidFill>
              </a:rPr>
              <a:t>Rahmen</a:t>
            </a:r>
            <a:r>
              <a:rPr lang="de-DE" sz="2400" dirty="0"/>
              <a:t>)</a:t>
            </a:r>
          </a:p>
        </p:txBody>
      </p:sp>
      <p:sp>
        <p:nvSpPr>
          <p:cNvPr id="9" name="Textfeld 8"/>
          <p:cNvSpPr txBox="1"/>
          <p:nvPr/>
        </p:nvSpPr>
        <p:spPr>
          <a:xfrm>
            <a:off x="6444208" y="2446189"/>
            <a:ext cx="1946367" cy="461665"/>
          </a:xfrm>
          <a:prstGeom prst="rect">
            <a:avLst/>
          </a:prstGeom>
          <a:noFill/>
        </p:spPr>
        <p:txBody>
          <a:bodyPr wrap="none" rtlCol="0">
            <a:spAutoFit/>
          </a:bodyPr>
          <a:lstStyle/>
          <a:p>
            <a:r>
              <a:rPr lang="de-DE" sz="2400" b="1" dirty="0">
                <a:solidFill>
                  <a:schemeClr val="accent1"/>
                </a:solidFill>
              </a:rPr>
              <a:t>Page</a:t>
            </a:r>
            <a:r>
              <a:rPr lang="de-DE" sz="2400" b="1" dirty="0">
                <a:solidFill>
                  <a:srgbClr val="FF0000"/>
                </a:solidFill>
              </a:rPr>
              <a:t> </a:t>
            </a:r>
            <a:r>
              <a:rPr lang="de-DE" sz="2400" dirty="0"/>
              <a:t>(</a:t>
            </a:r>
            <a:r>
              <a:rPr lang="de-DE" sz="2400" b="1" dirty="0">
                <a:solidFill>
                  <a:schemeClr val="accent1"/>
                </a:solidFill>
              </a:rPr>
              <a:t>Seite</a:t>
            </a:r>
            <a:r>
              <a:rPr lang="de-DE" sz="2400" dirty="0"/>
              <a:t>)</a:t>
            </a:r>
          </a:p>
        </p:txBody>
      </p:sp>
      <p:cxnSp>
        <p:nvCxnSpPr>
          <p:cNvPr id="12" name="Straight Arrow Connector 11"/>
          <p:cNvCxnSpPr>
            <a:stCxn id="6" idx="2"/>
          </p:cNvCxnSpPr>
          <p:nvPr/>
        </p:nvCxnSpPr>
        <p:spPr>
          <a:xfrm>
            <a:off x="5579188" y="1930250"/>
            <a:ext cx="1" cy="366137"/>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2"/>
          </p:cNvCxnSpPr>
          <p:nvPr/>
        </p:nvCxnSpPr>
        <p:spPr>
          <a:xfrm flipH="1">
            <a:off x="8001982" y="3707726"/>
            <a:ext cx="64853" cy="372234"/>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1818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Begriffe: Seitenindex und Rahmenindex</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sp>
        <p:nvSpPr>
          <p:cNvPr id="11" name="Textfeld 10"/>
          <p:cNvSpPr txBox="1"/>
          <p:nvPr/>
        </p:nvSpPr>
        <p:spPr>
          <a:xfrm>
            <a:off x="6118834" y="1271705"/>
            <a:ext cx="1676962" cy="646331"/>
          </a:xfrm>
          <a:prstGeom prst="rect">
            <a:avLst/>
          </a:prstGeom>
          <a:solidFill>
            <a:srgbClr val="0070C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Physischer Adressraum</a:t>
            </a:r>
          </a:p>
        </p:txBody>
      </p:sp>
      <p:cxnSp>
        <p:nvCxnSpPr>
          <p:cNvPr id="28" name="Gerade Verbindung mit Pfeil 27"/>
          <p:cNvCxnSpPr>
            <a:endCxn id="82" idx="1"/>
          </p:cNvCxnSpPr>
          <p:nvPr/>
        </p:nvCxnSpPr>
        <p:spPr>
          <a:xfrm flipV="1">
            <a:off x="2680329" y="2486072"/>
            <a:ext cx="3438505" cy="1583516"/>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102" name="Right Brace 4101"/>
          <p:cNvSpPr/>
          <p:nvPr/>
        </p:nvSpPr>
        <p:spPr>
          <a:xfrm rot="10800000">
            <a:off x="5701212" y="2742120"/>
            <a:ext cx="452187" cy="50831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4121" name="Rectangle 4120"/>
          <p:cNvSpPr/>
          <p:nvPr/>
        </p:nvSpPr>
        <p:spPr>
          <a:xfrm>
            <a:off x="1619672" y="2272614"/>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0</a:t>
            </a:r>
          </a:p>
        </p:txBody>
      </p:sp>
      <p:sp>
        <p:nvSpPr>
          <p:cNvPr id="59" name="Rectangle 58"/>
          <p:cNvSpPr/>
          <p:nvPr/>
        </p:nvSpPr>
        <p:spPr>
          <a:xfrm>
            <a:off x="1619672" y="2780927"/>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1</a:t>
            </a:r>
          </a:p>
        </p:txBody>
      </p:sp>
      <p:sp>
        <p:nvSpPr>
          <p:cNvPr id="60" name="Rectangle 59"/>
          <p:cNvSpPr/>
          <p:nvPr/>
        </p:nvSpPr>
        <p:spPr>
          <a:xfrm>
            <a:off x="1619672" y="3289240"/>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2</a:t>
            </a:r>
          </a:p>
        </p:txBody>
      </p:sp>
      <p:sp>
        <p:nvSpPr>
          <p:cNvPr id="61" name="Rectangle 60"/>
          <p:cNvSpPr/>
          <p:nvPr/>
        </p:nvSpPr>
        <p:spPr>
          <a:xfrm>
            <a:off x="1619672" y="3797553"/>
            <a:ext cx="1026092" cy="508313"/>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3</a:t>
            </a:r>
          </a:p>
        </p:txBody>
      </p:sp>
      <p:sp>
        <p:nvSpPr>
          <p:cNvPr id="75" name="Rectangle 74"/>
          <p:cNvSpPr/>
          <p:nvPr/>
        </p:nvSpPr>
        <p:spPr>
          <a:xfrm>
            <a:off x="6118834" y="2245093"/>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7" name="Rectangle 76"/>
          <p:cNvSpPr/>
          <p:nvPr/>
        </p:nvSpPr>
        <p:spPr>
          <a:xfrm>
            <a:off x="6118834" y="3261719"/>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8" name="Rectangle 77"/>
          <p:cNvSpPr/>
          <p:nvPr/>
        </p:nvSpPr>
        <p:spPr>
          <a:xfrm>
            <a:off x="6118834" y="3770032"/>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2</a:t>
            </a:r>
          </a:p>
        </p:txBody>
      </p:sp>
      <p:sp>
        <p:nvSpPr>
          <p:cNvPr id="79" name="Rectangle 78"/>
          <p:cNvSpPr/>
          <p:nvPr/>
        </p:nvSpPr>
        <p:spPr>
          <a:xfrm>
            <a:off x="6118834" y="4278345"/>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1</a:t>
            </a:r>
          </a:p>
        </p:txBody>
      </p:sp>
      <p:sp>
        <p:nvSpPr>
          <p:cNvPr id="82" name="Rectangle 81"/>
          <p:cNvSpPr/>
          <p:nvPr/>
        </p:nvSpPr>
        <p:spPr>
          <a:xfrm>
            <a:off x="6118834" y="2230025"/>
            <a:ext cx="1026092" cy="512094"/>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3</a:t>
            </a:r>
          </a:p>
        </p:txBody>
      </p:sp>
      <p:grpSp>
        <p:nvGrpSpPr>
          <p:cNvPr id="39" name="Group 38"/>
          <p:cNvGrpSpPr/>
          <p:nvPr/>
        </p:nvGrpSpPr>
        <p:grpSpPr>
          <a:xfrm>
            <a:off x="7143881" y="2296378"/>
            <a:ext cx="312906" cy="2388296"/>
            <a:chOff x="5793399" y="2339588"/>
            <a:chExt cx="312906" cy="2388296"/>
          </a:xfrm>
        </p:grpSpPr>
        <p:sp>
          <p:nvSpPr>
            <p:cNvPr id="38" name="TextBox 37"/>
            <p:cNvSpPr txBox="1"/>
            <p:nvPr/>
          </p:nvSpPr>
          <p:spPr>
            <a:xfrm>
              <a:off x="5793399" y="2339588"/>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Helvetica" charset="0"/>
                  <a:ea typeface="+mn-ea"/>
                  <a:cs typeface="+mn-cs"/>
                </a:rPr>
                <a:t>0</a:t>
              </a:r>
            </a:p>
          </p:txBody>
        </p:sp>
        <p:sp>
          <p:nvSpPr>
            <p:cNvPr id="88" name="TextBox 87"/>
            <p:cNvSpPr txBox="1"/>
            <p:nvPr/>
          </p:nvSpPr>
          <p:spPr>
            <a:xfrm>
              <a:off x="5793399" y="2844329"/>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1</a:t>
              </a:r>
            </a:p>
          </p:txBody>
        </p:sp>
        <p:sp>
          <p:nvSpPr>
            <p:cNvPr id="89" name="TextBox 88"/>
            <p:cNvSpPr txBox="1"/>
            <p:nvPr/>
          </p:nvSpPr>
          <p:spPr>
            <a:xfrm>
              <a:off x="5793399" y="3349070"/>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2</a:t>
              </a:r>
            </a:p>
          </p:txBody>
        </p:sp>
        <p:sp>
          <p:nvSpPr>
            <p:cNvPr id="90" name="TextBox 89"/>
            <p:cNvSpPr txBox="1"/>
            <p:nvPr/>
          </p:nvSpPr>
          <p:spPr>
            <a:xfrm>
              <a:off x="5793399" y="3853811"/>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3</a:t>
              </a:r>
            </a:p>
          </p:txBody>
        </p:sp>
        <p:sp>
          <p:nvSpPr>
            <p:cNvPr id="91" name="TextBox 90"/>
            <p:cNvSpPr txBox="1"/>
            <p:nvPr/>
          </p:nvSpPr>
          <p:spPr>
            <a:xfrm>
              <a:off x="5793399" y="4358552"/>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4</a:t>
              </a:r>
            </a:p>
          </p:txBody>
        </p:sp>
      </p:grpSp>
      <p:sp>
        <p:nvSpPr>
          <p:cNvPr id="13" name="Rechteck 12"/>
          <p:cNvSpPr/>
          <p:nvPr/>
        </p:nvSpPr>
        <p:spPr>
          <a:xfrm>
            <a:off x="1096961" y="2336682"/>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Rechteck 53"/>
          <p:cNvSpPr/>
          <p:nvPr/>
        </p:nvSpPr>
        <p:spPr>
          <a:xfrm>
            <a:off x="1099216" y="2796957"/>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5" name="Rechteck 54"/>
          <p:cNvSpPr/>
          <p:nvPr/>
        </p:nvSpPr>
        <p:spPr>
          <a:xfrm>
            <a:off x="1105221" y="3339661"/>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6" name="Rechteck 55"/>
          <p:cNvSpPr/>
          <p:nvPr/>
        </p:nvSpPr>
        <p:spPr>
          <a:xfrm>
            <a:off x="1103813" y="3822763"/>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Rechteckige Legende 13"/>
          <p:cNvSpPr/>
          <p:nvPr/>
        </p:nvSpPr>
        <p:spPr>
          <a:xfrm>
            <a:off x="309871" y="4394456"/>
            <a:ext cx="1638976" cy="392202"/>
          </a:xfrm>
          <a:prstGeom prst="wedgeRectCallout">
            <a:avLst>
              <a:gd name="adj1" fmla="val -514"/>
              <a:gd name="adj2" fmla="val -242530"/>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Arial"/>
                <a:ea typeface="+mn-ea"/>
                <a:cs typeface="+mn-cs"/>
              </a:rPr>
              <a:t>Seiten</a:t>
            </a:r>
            <a:r>
              <a:rPr kumimoji="0" lang="en-US" sz="1800" b="0" i="0" u="none" strike="noStrike" kern="1200" cap="none" spc="0" normalizeH="0" baseline="0" noProof="0" dirty="0" err="1">
                <a:ln>
                  <a:noFill/>
                </a:ln>
                <a:solidFill>
                  <a:prstClr val="black"/>
                </a:solidFill>
                <a:effectLst/>
                <a:uLnTx/>
                <a:uFillTx/>
                <a:latin typeface="Arial"/>
                <a:ea typeface="+mn-ea"/>
                <a:cs typeface="+mn-cs"/>
              </a:rPr>
              <a:t>index</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1" i="0" u="none" strike="noStrike" kern="1200" cap="none" spc="0" normalizeH="0" baseline="0" noProof="0" dirty="0">
                <a:ln>
                  <a:noFill/>
                </a:ln>
                <a:solidFill>
                  <a:srgbClr val="FF0000"/>
                </a:solidFill>
                <a:effectLst/>
                <a:uLnTx/>
                <a:uFillTx/>
                <a:latin typeface="Arial"/>
                <a:ea typeface="+mn-ea"/>
                <a:cs typeface="+mn-cs"/>
              </a:rPr>
              <a:t>p</a:t>
            </a:r>
          </a:p>
        </p:txBody>
      </p:sp>
      <p:sp>
        <p:nvSpPr>
          <p:cNvPr id="57" name="Textfeld 56"/>
          <p:cNvSpPr txBox="1"/>
          <p:nvPr/>
        </p:nvSpPr>
        <p:spPr>
          <a:xfrm>
            <a:off x="977303" y="1292536"/>
            <a:ext cx="1676962" cy="646331"/>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Logischer Adressraum</a:t>
            </a:r>
          </a:p>
        </p:txBody>
      </p:sp>
      <p:sp>
        <p:nvSpPr>
          <p:cNvPr id="63" name="Rechteckige Legende 62"/>
          <p:cNvSpPr/>
          <p:nvPr/>
        </p:nvSpPr>
        <p:spPr>
          <a:xfrm>
            <a:off x="4286676" y="1397157"/>
            <a:ext cx="1576957" cy="536922"/>
          </a:xfrm>
          <a:prstGeom prst="wedgeRectCallout">
            <a:avLst>
              <a:gd name="adj1" fmla="val 39342"/>
              <a:gd name="adj2" fmla="val 246776"/>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0070C0"/>
                </a:solidFill>
                <a:effectLst/>
                <a:uLnTx/>
                <a:uFillTx/>
                <a:latin typeface="Arial"/>
                <a:ea typeface="+mn-ea"/>
                <a:cs typeface="+mn-cs"/>
              </a:rPr>
              <a:t>RAM-Adressen 4096…8191 </a:t>
            </a:r>
            <a:endParaRPr kumimoji="0" lang="de-DE" sz="1400" b="0" i="0" u="none" strike="noStrike" kern="1200" cap="none" spc="0" normalizeH="0" baseline="0" noProof="0" dirty="0">
              <a:ln>
                <a:noFill/>
              </a:ln>
              <a:solidFill>
                <a:prstClr val="black"/>
              </a:solidFill>
              <a:effectLst/>
              <a:uLnTx/>
              <a:uFillTx/>
              <a:latin typeface="Arial"/>
              <a:ea typeface="+mn-ea"/>
              <a:cs typeface="+mn-cs"/>
            </a:endParaRPr>
          </a:p>
        </p:txBody>
      </p:sp>
      <p:cxnSp>
        <p:nvCxnSpPr>
          <p:cNvPr id="67" name="Gerade Verbindung mit Pfeil 66"/>
          <p:cNvCxnSpPr/>
          <p:nvPr/>
        </p:nvCxnSpPr>
        <p:spPr>
          <a:xfrm>
            <a:off x="3181473" y="2568874"/>
            <a:ext cx="2326631" cy="427402"/>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8" name="Gerade Verbindung mit Pfeil 67"/>
          <p:cNvCxnSpPr>
            <a:stCxn id="60" idx="3"/>
            <a:endCxn id="78" idx="1"/>
          </p:cNvCxnSpPr>
          <p:nvPr/>
        </p:nvCxnSpPr>
        <p:spPr>
          <a:xfrm>
            <a:off x="2645764" y="3543397"/>
            <a:ext cx="3473070" cy="480792"/>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a:stCxn id="59" idx="3"/>
            <a:endCxn id="79" idx="1"/>
          </p:cNvCxnSpPr>
          <p:nvPr/>
        </p:nvCxnSpPr>
        <p:spPr>
          <a:xfrm>
            <a:off x="2645764" y="3035084"/>
            <a:ext cx="3473070" cy="1497418"/>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83" name="Rechteckige Legende 82"/>
          <p:cNvSpPr/>
          <p:nvPr/>
        </p:nvSpPr>
        <p:spPr>
          <a:xfrm>
            <a:off x="2816101" y="1677570"/>
            <a:ext cx="1395860" cy="536922"/>
          </a:xfrm>
          <a:prstGeom prst="wedgeRectCallout">
            <a:avLst>
              <a:gd name="adj1" fmla="val -29135"/>
              <a:gd name="adj2" fmla="val 109922"/>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srgbClr val="0070C0"/>
                </a:solidFill>
                <a:effectLst/>
                <a:uLnTx/>
                <a:uFillTx/>
                <a:latin typeface="Arial"/>
                <a:ea typeface="+mn-ea"/>
                <a:cs typeface="+mn-cs"/>
              </a:rPr>
              <a:t>CPU-Adressen 0…4095 </a:t>
            </a:r>
            <a:endParaRPr kumimoji="0" lang="de-DE"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84" name="Right Brace 4101"/>
          <p:cNvSpPr/>
          <p:nvPr/>
        </p:nvSpPr>
        <p:spPr>
          <a:xfrm>
            <a:off x="2654265" y="2288644"/>
            <a:ext cx="452187" cy="50831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85" name="Rechteckige Legende 84"/>
          <p:cNvSpPr/>
          <p:nvPr/>
        </p:nvSpPr>
        <p:spPr>
          <a:xfrm>
            <a:off x="7668344" y="3005450"/>
            <a:ext cx="1340600" cy="726427"/>
          </a:xfrm>
          <a:prstGeom prst="wedgeRectCallout">
            <a:avLst>
              <a:gd name="adj1" fmla="val -68722"/>
              <a:gd name="adj2" fmla="val -41518"/>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70C0"/>
                </a:solidFill>
                <a:effectLst/>
                <a:uLnTx/>
                <a:uFillTx/>
                <a:latin typeface="Arial"/>
                <a:ea typeface="+mn-ea"/>
                <a:cs typeface="+mn-cs"/>
              </a:rPr>
              <a:t>Rahmen</a:t>
            </a:r>
            <a:r>
              <a:rPr kumimoji="0" lang="en-US" sz="1800" b="1" i="0" u="none" strike="noStrike" kern="1200" cap="none" spc="0" normalizeH="0" baseline="0" noProof="0" dirty="0">
                <a:ln>
                  <a:noFill/>
                </a:ln>
                <a:solidFill>
                  <a:srgbClr val="0070C0"/>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b="1" i="0" u="none" strike="noStrike" kern="1200" cap="none" spc="0" normalizeH="0" baseline="0" noProof="0" dirty="0">
                <a:ln>
                  <a:noFill/>
                </a:ln>
                <a:solidFill>
                  <a:srgbClr val="0070C0"/>
                </a:solidFill>
                <a:effectLst/>
                <a:uLnTx/>
                <a:uFillTx/>
                <a:latin typeface="Arial"/>
                <a:ea typeface="+mn-ea"/>
                <a:cs typeface="+mn-cs"/>
              </a:rPr>
              <a:t>f</a:t>
            </a:r>
          </a:p>
        </p:txBody>
      </p:sp>
      <p:sp>
        <p:nvSpPr>
          <p:cNvPr id="76" name="Rectangle 75"/>
          <p:cNvSpPr/>
          <p:nvPr/>
        </p:nvSpPr>
        <p:spPr>
          <a:xfrm>
            <a:off x="6118834" y="2753406"/>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0</a:t>
            </a:r>
          </a:p>
        </p:txBody>
      </p:sp>
      <p:sp>
        <p:nvSpPr>
          <p:cNvPr id="45" name="Inhaltsplatzhalter 44"/>
          <p:cNvSpPr>
            <a:spLocks noGrp="1"/>
          </p:cNvSpPr>
          <p:nvPr>
            <p:ph sz="quarter" idx="13"/>
          </p:nvPr>
        </p:nvSpPr>
        <p:spPr>
          <a:xfrm>
            <a:off x="465089" y="5107252"/>
            <a:ext cx="8208912" cy="1569659"/>
          </a:xfrm>
        </p:spPr>
        <p:txBody>
          <a:bodyPr>
            <a:normAutofit/>
          </a:bodyPr>
          <a:lstStyle/>
          <a:p>
            <a:r>
              <a:rPr lang="de-DE" dirty="0"/>
              <a:t>Seiten sind nummeriert mit </a:t>
            </a:r>
            <a:r>
              <a:rPr lang="de-DE" b="1" dirty="0"/>
              <a:t>Seitenindex</a:t>
            </a:r>
            <a:r>
              <a:rPr lang="de-DE" dirty="0"/>
              <a:t> </a:t>
            </a:r>
            <a:r>
              <a:rPr lang="de-DE" b="1" dirty="0">
                <a:solidFill>
                  <a:srgbClr val="FF0000"/>
                </a:solidFill>
              </a:rPr>
              <a:t>p</a:t>
            </a:r>
            <a:r>
              <a:rPr lang="de-DE" dirty="0"/>
              <a:t>, und Rahmen mit </a:t>
            </a:r>
            <a:r>
              <a:rPr lang="de-DE" b="1" dirty="0"/>
              <a:t>Rahmenindex</a:t>
            </a:r>
            <a:r>
              <a:rPr lang="de-DE" dirty="0"/>
              <a:t> </a:t>
            </a:r>
            <a:r>
              <a:rPr lang="de-DE" b="1" dirty="0">
                <a:solidFill>
                  <a:srgbClr val="0070C0"/>
                </a:solidFill>
              </a:rPr>
              <a:t>f</a:t>
            </a:r>
            <a:r>
              <a:rPr lang="de-DE" dirty="0"/>
              <a:t> </a:t>
            </a:r>
          </a:p>
          <a:p>
            <a:r>
              <a:rPr lang="de-DE" dirty="0"/>
              <a:t>Der Kern ist eine effiziente Funktion </a:t>
            </a:r>
            <a:r>
              <a:rPr lang="de-DE" b="1" dirty="0" err="1"/>
              <a:t>F</a:t>
            </a:r>
            <a:r>
              <a:rPr lang="de-DE" b="1" baseline="-25000" dirty="0" err="1"/>
              <a:t>pid</a:t>
            </a:r>
            <a:r>
              <a:rPr lang="de-DE" b="1" dirty="0"/>
              <a:t>(</a:t>
            </a:r>
            <a:r>
              <a:rPr lang="de-DE" b="1" dirty="0">
                <a:solidFill>
                  <a:srgbClr val="FF0000"/>
                </a:solidFill>
              </a:rPr>
              <a:t>p</a:t>
            </a:r>
            <a:r>
              <a:rPr lang="de-DE" b="1" dirty="0"/>
              <a:t>) = </a:t>
            </a:r>
            <a:r>
              <a:rPr lang="de-DE" b="1" dirty="0">
                <a:solidFill>
                  <a:srgbClr val="0070C0"/>
                </a:solidFill>
              </a:rPr>
              <a:t>f</a:t>
            </a:r>
            <a:endParaRPr lang="de-DE" dirty="0"/>
          </a:p>
          <a:p>
            <a:endParaRPr lang="de-DE" dirty="0"/>
          </a:p>
        </p:txBody>
      </p:sp>
      <p:sp>
        <p:nvSpPr>
          <p:cNvPr id="46" name="Textfeld 45"/>
          <p:cNvSpPr txBox="1"/>
          <p:nvPr/>
        </p:nvSpPr>
        <p:spPr>
          <a:xfrm>
            <a:off x="6426261" y="4692742"/>
            <a:ext cx="405759"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prstClr val="black"/>
                </a:solidFill>
                <a:effectLst/>
                <a:uLnTx/>
                <a:uFillTx/>
                <a:latin typeface="Arial"/>
                <a:ea typeface="+mn-ea"/>
                <a:cs typeface="+mn-cs"/>
              </a:rPr>
              <a:t>…</a:t>
            </a:r>
          </a:p>
        </p:txBody>
      </p:sp>
      <p:sp>
        <p:nvSpPr>
          <p:cNvPr id="48" name="Rechteck 47"/>
          <p:cNvSpPr/>
          <p:nvPr/>
        </p:nvSpPr>
        <p:spPr>
          <a:xfrm>
            <a:off x="3268996" y="3037822"/>
            <a:ext cx="1970411" cy="1569660"/>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2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err="1">
                <a:ln>
                  <a:noFill/>
                </a:ln>
                <a:solidFill>
                  <a:prstClr val="black"/>
                </a:solidFill>
                <a:effectLst/>
                <a:uLnTx/>
                <a:uFillTx/>
                <a:latin typeface="Arial"/>
                <a:ea typeface="+mn-ea"/>
                <a:cs typeface="+mn-cs"/>
              </a:rPr>
              <a:t>F</a:t>
            </a:r>
            <a:r>
              <a:rPr kumimoji="0" lang="de-DE" sz="3200" b="1" i="0" u="none" strike="noStrike" kern="1200" cap="none" spc="0" normalizeH="0" baseline="-25000" noProof="0" dirty="0" err="1">
                <a:ln>
                  <a:noFill/>
                </a:ln>
                <a:solidFill>
                  <a:prstClr val="black"/>
                </a:solidFill>
                <a:effectLst/>
                <a:uLnTx/>
                <a:uFillTx/>
                <a:latin typeface="Arial"/>
                <a:ea typeface="+mn-ea"/>
                <a:cs typeface="+mn-cs"/>
              </a:rPr>
              <a:t>pid</a:t>
            </a:r>
            <a:r>
              <a:rPr kumimoji="0" lang="de-DE" sz="3200" b="1" i="0" u="none" strike="noStrike" kern="1200" cap="none" spc="0" normalizeH="0" baseline="0" noProof="0" dirty="0">
                <a:ln>
                  <a:noFill/>
                </a:ln>
                <a:solidFill>
                  <a:prstClr val="black"/>
                </a:solidFill>
                <a:effectLst/>
                <a:uLnTx/>
                <a:uFillTx/>
                <a:latin typeface="Arial"/>
                <a:ea typeface="+mn-ea"/>
                <a:cs typeface="+mn-cs"/>
              </a:rPr>
              <a:t>(</a:t>
            </a:r>
            <a:r>
              <a:rPr kumimoji="0" lang="de-DE" sz="3200" b="1" i="0" u="none" strike="noStrike" kern="1200" cap="none" spc="0" normalizeH="0" baseline="0" noProof="0" dirty="0">
                <a:ln>
                  <a:noFill/>
                </a:ln>
                <a:solidFill>
                  <a:srgbClr val="FF0000"/>
                </a:solidFill>
                <a:effectLst/>
                <a:uLnTx/>
                <a:uFillTx/>
                <a:latin typeface="Arial"/>
                <a:ea typeface="+mn-ea"/>
                <a:cs typeface="+mn-cs"/>
              </a:rPr>
              <a:t>p</a:t>
            </a:r>
            <a:r>
              <a:rPr kumimoji="0" lang="de-DE" sz="3200" b="1" i="0" u="none" strike="noStrike" kern="1200" cap="none" spc="0" normalizeH="0" baseline="0" noProof="0" dirty="0">
                <a:ln>
                  <a:noFill/>
                </a:ln>
                <a:solidFill>
                  <a:prstClr val="black"/>
                </a:solidFill>
                <a:effectLst/>
                <a:uLnTx/>
                <a:uFillTx/>
                <a:latin typeface="Arial"/>
                <a:ea typeface="+mn-ea"/>
                <a:cs typeface="+mn-cs"/>
              </a:rPr>
              <a:t>) = </a:t>
            </a:r>
            <a:r>
              <a:rPr kumimoji="0" lang="de-DE" sz="3200" b="1" i="0" u="none" strike="noStrike" kern="1200" cap="none" spc="0" normalizeH="0" baseline="0" noProof="0" dirty="0">
                <a:ln>
                  <a:noFill/>
                </a:ln>
                <a:solidFill>
                  <a:srgbClr val="0070C0"/>
                </a:solidFill>
                <a:effectLst/>
                <a:uLnTx/>
                <a:uFillTx/>
                <a:latin typeface="Arial"/>
                <a:ea typeface="+mn-ea"/>
                <a:cs typeface="+mn-cs"/>
              </a:rPr>
              <a:t>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Arial"/>
              <a:ea typeface="+mn-ea"/>
              <a:cs typeface="+mn-cs"/>
            </a:endParaRPr>
          </a:p>
        </p:txBody>
      </p:sp>
      <p:sp>
        <p:nvSpPr>
          <p:cNvPr id="49" name="Rechteck 48"/>
          <p:cNvSpPr/>
          <p:nvPr/>
        </p:nvSpPr>
        <p:spPr>
          <a:xfrm>
            <a:off x="2841652" y="6553841"/>
            <a:ext cx="3021981" cy="276999"/>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dirty="0" err="1">
                <a:ln>
                  <a:noFill/>
                </a:ln>
                <a:solidFill>
                  <a:prstClr val="black"/>
                </a:solidFill>
                <a:effectLst/>
                <a:uLnTx/>
                <a:uFillTx/>
                <a:latin typeface="Arial"/>
                <a:ea typeface="+mn-ea"/>
                <a:cs typeface="+mn-cs"/>
              </a:rPr>
              <a:t>pid</a:t>
            </a:r>
            <a:r>
              <a:rPr kumimoji="0" lang="de-DE" sz="1200" b="0" i="0" u="none" strike="noStrike" kern="1200" cap="none" spc="0" normalizeH="0" baseline="0" noProof="0" dirty="0">
                <a:ln>
                  <a:noFill/>
                </a:ln>
                <a:solidFill>
                  <a:prstClr val="black"/>
                </a:solidFill>
                <a:effectLst/>
                <a:uLnTx/>
                <a:uFillTx/>
                <a:latin typeface="Arial"/>
                <a:ea typeface="+mn-ea"/>
                <a:cs typeface="+mn-cs"/>
              </a:rPr>
              <a:t> = Prozess ID des aktuellen Prozesses</a:t>
            </a:r>
            <a:endParaRPr kumimoji="0" lang="en-US" sz="12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34688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fade">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fade">
                                      <p:cBhvr>
                                        <p:cTn id="12" dur="500"/>
                                        <p:tgtEl>
                                          <p:spTgt spid="4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P spid="48" grpId="0" animBg="1"/>
      <p:bldP spid="4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7</a:t>
            </a:fld>
            <a:endParaRPr lang="de-DE"/>
          </a:p>
        </p:txBody>
      </p:sp>
      <p:sp>
        <p:nvSpPr>
          <p:cNvPr id="3" name="Titel 2"/>
          <p:cNvSpPr>
            <a:spLocks noGrp="1"/>
          </p:cNvSpPr>
          <p:nvPr>
            <p:ph type="title"/>
          </p:nvPr>
        </p:nvSpPr>
        <p:spPr/>
        <p:txBody>
          <a:bodyPr/>
          <a:lstStyle/>
          <a:p>
            <a:r>
              <a:rPr lang="de-DE" dirty="0"/>
              <a:t>Paging - Grundkonzepte</a:t>
            </a:r>
          </a:p>
        </p:txBody>
      </p:sp>
    </p:spTree>
    <p:extLst>
      <p:ext uri="{BB962C8B-B14F-4D97-AF65-F5344CB8AC3E}">
        <p14:creationId xmlns:p14="http://schemas.microsoft.com/office/powerpoint/2010/main" val="3626062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Beispiel: Seitengröße 10 Bytes</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sp>
        <p:nvSpPr>
          <p:cNvPr id="11" name="Textfeld 10"/>
          <p:cNvSpPr txBox="1"/>
          <p:nvPr/>
        </p:nvSpPr>
        <p:spPr>
          <a:xfrm>
            <a:off x="6118834" y="1271705"/>
            <a:ext cx="1676962" cy="646331"/>
          </a:xfrm>
          <a:prstGeom prst="rect">
            <a:avLst/>
          </a:prstGeom>
          <a:solidFill>
            <a:srgbClr val="0070C0"/>
          </a:solidFill>
        </p:spPr>
        <p:style>
          <a:lnRef idx="3">
            <a:schemeClr val="lt1"/>
          </a:lnRef>
          <a:fillRef idx="1">
            <a:schemeClr val="accent6"/>
          </a:fillRef>
          <a:effectRef idx="1">
            <a:schemeClr val="accent6"/>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Physischer Adressraum</a:t>
            </a:r>
          </a:p>
        </p:txBody>
      </p:sp>
      <p:cxnSp>
        <p:nvCxnSpPr>
          <p:cNvPr id="28" name="Gerade Verbindung mit Pfeil 27"/>
          <p:cNvCxnSpPr>
            <a:endCxn id="82" idx="1"/>
          </p:cNvCxnSpPr>
          <p:nvPr/>
        </p:nvCxnSpPr>
        <p:spPr>
          <a:xfrm flipV="1">
            <a:off x="2680329" y="2486072"/>
            <a:ext cx="3438505" cy="1583516"/>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121" name="Rectangle 4120"/>
          <p:cNvSpPr/>
          <p:nvPr/>
        </p:nvSpPr>
        <p:spPr>
          <a:xfrm>
            <a:off x="1619672" y="2272614"/>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0</a:t>
            </a:r>
          </a:p>
        </p:txBody>
      </p:sp>
      <p:sp>
        <p:nvSpPr>
          <p:cNvPr id="59" name="Rectangle 58"/>
          <p:cNvSpPr/>
          <p:nvPr/>
        </p:nvSpPr>
        <p:spPr>
          <a:xfrm>
            <a:off x="1619672" y="2780927"/>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1</a:t>
            </a:r>
          </a:p>
        </p:txBody>
      </p:sp>
      <p:sp>
        <p:nvSpPr>
          <p:cNvPr id="60" name="Rectangle 59"/>
          <p:cNvSpPr/>
          <p:nvPr/>
        </p:nvSpPr>
        <p:spPr>
          <a:xfrm>
            <a:off x="1619672" y="3289240"/>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2</a:t>
            </a:r>
          </a:p>
        </p:txBody>
      </p:sp>
      <p:sp>
        <p:nvSpPr>
          <p:cNvPr id="61" name="Rectangle 60"/>
          <p:cNvSpPr/>
          <p:nvPr/>
        </p:nvSpPr>
        <p:spPr>
          <a:xfrm>
            <a:off x="1619672" y="3797553"/>
            <a:ext cx="1026092" cy="508313"/>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Daten Seite 3</a:t>
            </a:r>
          </a:p>
        </p:txBody>
      </p:sp>
      <p:sp>
        <p:nvSpPr>
          <p:cNvPr id="75" name="Rectangle 74"/>
          <p:cNvSpPr/>
          <p:nvPr/>
        </p:nvSpPr>
        <p:spPr>
          <a:xfrm>
            <a:off x="6118834" y="2245093"/>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7" name="Rectangle 76"/>
          <p:cNvSpPr/>
          <p:nvPr/>
        </p:nvSpPr>
        <p:spPr>
          <a:xfrm>
            <a:off x="6118834" y="3261719"/>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78" name="Rectangle 77"/>
          <p:cNvSpPr/>
          <p:nvPr/>
        </p:nvSpPr>
        <p:spPr>
          <a:xfrm>
            <a:off x="6118834" y="3770032"/>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2</a:t>
            </a:r>
          </a:p>
        </p:txBody>
      </p:sp>
      <p:sp>
        <p:nvSpPr>
          <p:cNvPr id="79" name="Rectangle 78"/>
          <p:cNvSpPr/>
          <p:nvPr/>
        </p:nvSpPr>
        <p:spPr>
          <a:xfrm>
            <a:off x="6118834" y="4278345"/>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1</a:t>
            </a:r>
          </a:p>
        </p:txBody>
      </p:sp>
      <p:sp>
        <p:nvSpPr>
          <p:cNvPr id="82" name="Rectangle 81"/>
          <p:cNvSpPr/>
          <p:nvPr/>
        </p:nvSpPr>
        <p:spPr>
          <a:xfrm>
            <a:off x="6118834" y="2230025"/>
            <a:ext cx="1026092" cy="512094"/>
          </a:xfrm>
          <a:prstGeom prst="rect">
            <a:avLst/>
          </a:prstGeom>
          <a:solidFill>
            <a:srgbClr val="92D05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3</a:t>
            </a:r>
          </a:p>
        </p:txBody>
      </p:sp>
      <p:grpSp>
        <p:nvGrpSpPr>
          <p:cNvPr id="39" name="Group 38"/>
          <p:cNvGrpSpPr/>
          <p:nvPr/>
        </p:nvGrpSpPr>
        <p:grpSpPr>
          <a:xfrm>
            <a:off x="7143881" y="2296378"/>
            <a:ext cx="312906" cy="2388296"/>
            <a:chOff x="5793399" y="2339588"/>
            <a:chExt cx="312906" cy="2388296"/>
          </a:xfrm>
        </p:grpSpPr>
        <p:sp>
          <p:nvSpPr>
            <p:cNvPr id="38" name="TextBox 37"/>
            <p:cNvSpPr txBox="1"/>
            <p:nvPr/>
          </p:nvSpPr>
          <p:spPr>
            <a:xfrm>
              <a:off x="5793399" y="2339588"/>
              <a:ext cx="31290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Helvetica" charset="0"/>
                  <a:ea typeface="+mn-ea"/>
                  <a:cs typeface="+mn-cs"/>
                </a:rPr>
                <a:t>0</a:t>
              </a:r>
            </a:p>
          </p:txBody>
        </p:sp>
        <p:sp>
          <p:nvSpPr>
            <p:cNvPr id="88" name="TextBox 87"/>
            <p:cNvSpPr txBox="1"/>
            <p:nvPr/>
          </p:nvSpPr>
          <p:spPr>
            <a:xfrm>
              <a:off x="5793399" y="2844329"/>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1</a:t>
              </a:r>
            </a:p>
          </p:txBody>
        </p:sp>
        <p:sp>
          <p:nvSpPr>
            <p:cNvPr id="89" name="TextBox 88"/>
            <p:cNvSpPr txBox="1"/>
            <p:nvPr/>
          </p:nvSpPr>
          <p:spPr>
            <a:xfrm>
              <a:off x="5857486" y="3349070"/>
              <a:ext cx="1847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srgbClr val="7030A0"/>
                </a:solidFill>
                <a:effectLst/>
                <a:uLnTx/>
                <a:uFillTx/>
                <a:latin typeface="Arial"/>
                <a:ea typeface="+mn-ea"/>
                <a:cs typeface="+mn-cs"/>
              </a:endParaRPr>
            </a:p>
          </p:txBody>
        </p:sp>
        <p:sp>
          <p:nvSpPr>
            <p:cNvPr id="90" name="TextBox 89"/>
            <p:cNvSpPr txBox="1"/>
            <p:nvPr/>
          </p:nvSpPr>
          <p:spPr>
            <a:xfrm>
              <a:off x="5793399" y="3853811"/>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3</a:t>
              </a:r>
            </a:p>
          </p:txBody>
        </p:sp>
        <p:sp>
          <p:nvSpPr>
            <p:cNvPr id="91" name="TextBox 90"/>
            <p:cNvSpPr txBox="1"/>
            <p:nvPr/>
          </p:nvSpPr>
          <p:spPr>
            <a:xfrm>
              <a:off x="5793399" y="4358552"/>
              <a:ext cx="31290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7030A0"/>
                  </a:solidFill>
                  <a:effectLst/>
                  <a:uLnTx/>
                  <a:uFillTx/>
                  <a:latin typeface="Arial"/>
                  <a:ea typeface="+mn-ea"/>
                  <a:cs typeface="+mn-cs"/>
                </a:rPr>
                <a:t>4</a:t>
              </a:r>
            </a:p>
          </p:txBody>
        </p:sp>
      </p:grpSp>
      <p:sp>
        <p:nvSpPr>
          <p:cNvPr id="13" name="Rechteck 12"/>
          <p:cNvSpPr/>
          <p:nvPr/>
        </p:nvSpPr>
        <p:spPr>
          <a:xfrm>
            <a:off x="1096961" y="2336682"/>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Rechteck 53"/>
          <p:cNvSpPr/>
          <p:nvPr/>
        </p:nvSpPr>
        <p:spPr>
          <a:xfrm>
            <a:off x="1099216" y="2796957"/>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5" name="Rechteck 54"/>
          <p:cNvSpPr/>
          <p:nvPr/>
        </p:nvSpPr>
        <p:spPr>
          <a:xfrm>
            <a:off x="1105221" y="3339661"/>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2</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6" name="Rechteck 55"/>
          <p:cNvSpPr/>
          <p:nvPr/>
        </p:nvSpPr>
        <p:spPr>
          <a:xfrm>
            <a:off x="1103813" y="3822763"/>
            <a:ext cx="312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3</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7" name="Textfeld 56"/>
          <p:cNvSpPr txBox="1"/>
          <p:nvPr/>
        </p:nvSpPr>
        <p:spPr>
          <a:xfrm>
            <a:off x="977303" y="1292536"/>
            <a:ext cx="1676962" cy="646331"/>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white"/>
                </a:solidFill>
                <a:effectLst/>
                <a:uLnTx/>
                <a:uFillTx/>
                <a:latin typeface="Arial"/>
                <a:ea typeface="+mn-ea"/>
                <a:cs typeface="+mn-cs"/>
              </a:rPr>
              <a:t>Logischer Adressraum</a:t>
            </a:r>
          </a:p>
        </p:txBody>
      </p:sp>
      <p:cxnSp>
        <p:nvCxnSpPr>
          <p:cNvPr id="67" name="Gerade Verbindung mit Pfeil 66"/>
          <p:cNvCxnSpPr>
            <a:cxnSpLocks/>
          </p:cNvCxnSpPr>
          <p:nvPr/>
        </p:nvCxnSpPr>
        <p:spPr>
          <a:xfrm>
            <a:off x="2724734" y="2708527"/>
            <a:ext cx="3394100" cy="950260"/>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68" name="Gerade Verbindung mit Pfeil 67"/>
          <p:cNvCxnSpPr>
            <a:stCxn id="60" idx="3"/>
            <a:endCxn id="78" idx="1"/>
          </p:cNvCxnSpPr>
          <p:nvPr/>
        </p:nvCxnSpPr>
        <p:spPr>
          <a:xfrm>
            <a:off x="2645764" y="3543397"/>
            <a:ext cx="3473070" cy="480792"/>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71" name="Gerade Verbindung mit Pfeil 70"/>
          <p:cNvCxnSpPr>
            <a:stCxn id="59" idx="3"/>
            <a:endCxn id="79" idx="1"/>
          </p:cNvCxnSpPr>
          <p:nvPr/>
        </p:nvCxnSpPr>
        <p:spPr>
          <a:xfrm>
            <a:off x="2645764" y="3035084"/>
            <a:ext cx="3473070" cy="1497418"/>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84" name="Right Brace 4101"/>
          <p:cNvSpPr/>
          <p:nvPr/>
        </p:nvSpPr>
        <p:spPr>
          <a:xfrm>
            <a:off x="2639621" y="2264596"/>
            <a:ext cx="452187" cy="508313"/>
          </a:xfrm>
          <a:prstGeom prst="rightBrace">
            <a:avLst>
              <a:gd name="adj1" fmla="val 8333"/>
              <a:gd name="adj2" fmla="val 52726"/>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6" name="Rectangle 75"/>
          <p:cNvSpPr/>
          <p:nvPr/>
        </p:nvSpPr>
        <p:spPr>
          <a:xfrm>
            <a:off x="6118834" y="2753406"/>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Seite 0</a:t>
            </a:r>
          </a:p>
        </p:txBody>
      </p:sp>
      <p:sp>
        <p:nvSpPr>
          <p:cNvPr id="45" name="Inhaltsplatzhalter 44"/>
          <p:cNvSpPr>
            <a:spLocks noGrp="1"/>
          </p:cNvSpPr>
          <p:nvPr>
            <p:ph sz="quarter" idx="13"/>
          </p:nvPr>
        </p:nvSpPr>
        <p:spPr>
          <a:xfrm>
            <a:off x="465089" y="4964048"/>
            <a:ext cx="8208912" cy="1712864"/>
          </a:xfrm>
        </p:spPr>
        <p:txBody>
          <a:bodyPr>
            <a:normAutofit lnSpcReduction="10000"/>
          </a:bodyPr>
          <a:lstStyle/>
          <a:p>
            <a:r>
              <a:rPr lang="de-DE" dirty="0"/>
              <a:t>Lass uns einen Computer betrachten, der die </a:t>
            </a:r>
            <a:r>
              <a:rPr lang="de-DE" b="1" dirty="0"/>
              <a:t>Seitengröße</a:t>
            </a:r>
            <a:r>
              <a:rPr lang="de-DE" dirty="0"/>
              <a:t> 10 (Bytes) hat, und 100 Seiten</a:t>
            </a:r>
          </a:p>
          <a:p>
            <a:r>
              <a:rPr lang="de-DE" dirty="0"/>
              <a:t>Höchste Adresse; größter Seitenindex; Rahmengröße sind …? </a:t>
            </a:r>
          </a:p>
        </p:txBody>
      </p:sp>
      <p:sp>
        <p:nvSpPr>
          <p:cNvPr id="40" name="Rechteckige Legende 13">
            <a:extLst>
              <a:ext uri="{FF2B5EF4-FFF2-40B4-BE49-F238E27FC236}">
                <a16:creationId xmlns:a16="http://schemas.microsoft.com/office/drawing/2014/main" id="{E2730765-BEBF-41E3-9F1A-A8BF3A59E014}"/>
              </a:ext>
            </a:extLst>
          </p:cNvPr>
          <p:cNvSpPr/>
          <p:nvPr/>
        </p:nvSpPr>
        <p:spPr>
          <a:xfrm>
            <a:off x="34370" y="1726920"/>
            <a:ext cx="1885865" cy="392202"/>
          </a:xfrm>
          <a:prstGeom prst="wedgeRectCallout">
            <a:avLst>
              <a:gd name="adj1" fmla="val 14495"/>
              <a:gd name="adj2" fmla="val 117676"/>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Arial"/>
                <a:ea typeface="+mn-ea"/>
                <a:cs typeface="+mn-cs"/>
              </a:rPr>
              <a:t>Seiten</a:t>
            </a:r>
            <a:r>
              <a:rPr kumimoji="0" lang="en-US" sz="1800" b="0" i="0" u="none" strike="noStrike" kern="1200" cap="none" spc="0" normalizeH="0" baseline="0" noProof="0" dirty="0" err="1">
                <a:ln>
                  <a:noFill/>
                </a:ln>
                <a:solidFill>
                  <a:prstClr val="black"/>
                </a:solidFill>
                <a:effectLst/>
                <a:uLnTx/>
                <a:uFillTx/>
                <a:latin typeface="Arial"/>
                <a:ea typeface="+mn-ea"/>
                <a:cs typeface="+mn-cs"/>
              </a:rPr>
              <a:t>index</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1" i="0" u="none" strike="noStrike" kern="1200" cap="none" spc="0" normalizeH="0" baseline="0" noProof="0" dirty="0">
                <a:ln>
                  <a:noFill/>
                </a:ln>
                <a:solidFill>
                  <a:srgbClr val="FF0000"/>
                </a:solidFill>
                <a:effectLst/>
                <a:uLnTx/>
                <a:uFillTx/>
                <a:latin typeface="Arial"/>
                <a:ea typeface="+mn-ea"/>
                <a:cs typeface="+mn-cs"/>
              </a:rPr>
              <a:t>p</a:t>
            </a:r>
          </a:p>
        </p:txBody>
      </p:sp>
      <p:sp>
        <p:nvSpPr>
          <p:cNvPr id="41" name="Rechteckige Legende 84">
            <a:extLst>
              <a:ext uri="{FF2B5EF4-FFF2-40B4-BE49-F238E27FC236}">
                <a16:creationId xmlns:a16="http://schemas.microsoft.com/office/drawing/2014/main" id="{02250BDB-0AF2-469B-B73A-294D726A1C8C}"/>
              </a:ext>
            </a:extLst>
          </p:cNvPr>
          <p:cNvSpPr/>
          <p:nvPr/>
        </p:nvSpPr>
        <p:spPr>
          <a:xfrm>
            <a:off x="7890018" y="1530738"/>
            <a:ext cx="1176355" cy="726427"/>
          </a:xfrm>
          <a:prstGeom prst="wedgeRectCallout">
            <a:avLst>
              <a:gd name="adj1" fmla="val -89408"/>
              <a:gd name="adj2" fmla="val 73551"/>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70C0"/>
                </a:solidFill>
                <a:effectLst/>
                <a:uLnTx/>
                <a:uFillTx/>
                <a:latin typeface="Arial"/>
                <a:ea typeface="+mn-ea"/>
                <a:cs typeface="+mn-cs"/>
              </a:rPr>
              <a:t>Rahmen</a:t>
            </a:r>
            <a:r>
              <a:rPr kumimoji="0" lang="en-US" sz="1800" b="1" i="0" u="none" strike="noStrike" kern="1200" cap="none" spc="0" normalizeH="0" baseline="0" noProof="0" dirty="0">
                <a:ln>
                  <a:noFill/>
                </a:ln>
                <a:solidFill>
                  <a:srgbClr val="0070C0"/>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b="1" i="0" u="none" strike="noStrike" kern="1200" cap="none" spc="0" normalizeH="0" baseline="0" noProof="0" dirty="0">
                <a:ln>
                  <a:noFill/>
                </a:ln>
                <a:solidFill>
                  <a:srgbClr val="0070C0"/>
                </a:solidFill>
                <a:effectLst/>
                <a:uLnTx/>
                <a:uFillTx/>
                <a:latin typeface="Arial"/>
                <a:ea typeface="+mn-ea"/>
                <a:cs typeface="+mn-cs"/>
              </a:rPr>
              <a:t>f</a:t>
            </a:r>
          </a:p>
        </p:txBody>
      </p:sp>
      <p:sp>
        <p:nvSpPr>
          <p:cNvPr id="5" name="Right Brace 4101">
            <a:extLst>
              <a:ext uri="{FF2B5EF4-FFF2-40B4-BE49-F238E27FC236}">
                <a16:creationId xmlns:a16="http://schemas.microsoft.com/office/drawing/2014/main" id="{EFFE33B0-7BF5-BE0B-D76C-939E17A47D44}"/>
              </a:ext>
            </a:extLst>
          </p:cNvPr>
          <p:cNvSpPr/>
          <p:nvPr/>
        </p:nvSpPr>
        <p:spPr>
          <a:xfrm>
            <a:off x="7143881" y="3259915"/>
            <a:ext cx="452187" cy="508313"/>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7" name="Textfeld 6">
            <a:extLst>
              <a:ext uri="{FF2B5EF4-FFF2-40B4-BE49-F238E27FC236}">
                <a16:creationId xmlns:a16="http://schemas.microsoft.com/office/drawing/2014/main" id="{7211ABC5-D713-93D0-1E1B-93567ABFE781}"/>
              </a:ext>
            </a:extLst>
          </p:cNvPr>
          <p:cNvSpPr txBox="1"/>
          <p:nvPr/>
        </p:nvSpPr>
        <p:spPr>
          <a:xfrm>
            <a:off x="3076929" y="2296378"/>
            <a:ext cx="2480166" cy="369332"/>
          </a:xfrm>
          <a:prstGeom prst="rect">
            <a:avLst/>
          </a:prstGeom>
          <a:noFill/>
        </p:spPr>
        <p:txBody>
          <a:bodyPr wrap="none" rtlCol="0">
            <a:spAutoFit/>
          </a:bodyPr>
          <a:lstStyle/>
          <a:p>
            <a:r>
              <a:rPr lang="de-DE" b="1" dirty="0"/>
              <a:t>Seitengröße </a:t>
            </a:r>
            <a:r>
              <a:rPr lang="de-DE" dirty="0"/>
              <a:t>10 Bytes</a:t>
            </a:r>
          </a:p>
        </p:txBody>
      </p:sp>
      <p:sp>
        <p:nvSpPr>
          <p:cNvPr id="3" name="Textfeld 2">
            <a:extLst>
              <a:ext uri="{FF2B5EF4-FFF2-40B4-BE49-F238E27FC236}">
                <a16:creationId xmlns:a16="http://schemas.microsoft.com/office/drawing/2014/main" id="{DC7051A8-5BDE-B020-FEBF-1EDAB5CAE1CE}"/>
              </a:ext>
            </a:extLst>
          </p:cNvPr>
          <p:cNvSpPr txBox="1"/>
          <p:nvPr/>
        </p:nvSpPr>
        <p:spPr>
          <a:xfrm>
            <a:off x="7648398" y="3361098"/>
            <a:ext cx="1172116" cy="646331"/>
          </a:xfrm>
          <a:prstGeom prst="rect">
            <a:avLst/>
          </a:prstGeom>
          <a:noFill/>
        </p:spPr>
        <p:txBody>
          <a:bodyPr wrap="none" rtlCol="0">
            <a:spAutoFit/>
          </a:bodyPr>
          <a:lstStyle/>
          <a:p>
            <a:r>
              <a:rPr lang="de-DE" b="1" dirty="0"/>
              <a:t>Rahmen-</a:t>
            </a:r>
            <a:br>
              <a:rPr lang="de-DE" b="1" dirty="0"/>
            </a:br>
            <a:r>
              <a:rPr lang="de-DE" b="1" dirty="0" err="1"/>
              <a:t>größe</a:t>
            </a:r>
            <a:r>
              <a:rPr lang="de-DE" b="1" dirty="0"/>
              <a:t>?</a:t>
            </a:r>
            <a:endParaRPr lang="de-DE" dirty="0"/>
          </a:p>
        </p:txBody>
      </p:sp>
    </p:spTree>
    <p:extLst>
      <p:ext uri="{BB962C8B-B14F-4D97-AF65-F5344CB8AC3E}">
        <p14:creationId xmlns:p14="http://schemas.microsoft.com/office/powerpoint/2010/main" val="2861800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Beispiel: Seitengröße 10 Bytes</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cxnSp>
        <p:nvCxnSpPr>
          <p:cNvPr id="28" name="Gerade Verbindung mit Pfeil 27"/>
          <p:cNvCxnSpPr>
            <a:cxnSpLocks/>
          </p:cNvCxnSpPr>
          <p:nvPr/>
        </p:nvCxnSpPr>
        <p:spPr>
          <a:xfrm>
            <a:off x="2557443" y="2026449"/>
            <a:ext cx="3384376" cy="796774"/>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3" name="Rechteck 12"/>
          <p:cNvSpPr/>
          <p:nvPr/>
        </p:nvSpPr>
        <p:spPr>
          <a:xfrm>
            <a:off x="899857" y="1697746"/>
            <a:ext cx="5757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p=0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Rechteck 53"/>
          <p:cNvSpPr/>
          <p:nvPr/>
        </p:nvSpPr>
        <p:spPr>
          <a:xfrm>
            <a:off x="899857" y="2491341"/>
            <a:ext cx="5757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p=1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Inhaltsplatzhalter 44"/>
          <p:cNvSpPr>
            <a:spLocks noGrp="1"/>
          </p:cNvSpPr>
          <p:nvPr>
            <p:ph sz="quarter" idx="13"/>
          </p:nvPr>
        </p:nvSpPr>
        <p:spPr>
          <a:xfrm>
            <a:off x="465089" y="3838936"/>
            <a:ext cx="8208912" cy="2837976"/>
          </a:xfrm>
        </p:spPr>
        <p:txBody>
          <a:bodyPr>
            <a:normAutofit/>
          </a:bodyPr>
          <a:lstStyle/>
          <a:p>
            <a:r>
              <a:rPr lang="de-DE" dirty="0"/>
              <a:t>Wir übersetzen logische Adr. 3 auf physische Adr. 13</a:t>
            </a:r>
          </a:p>
          <a:p>
            <a:pPr lvl="1"/>
            <a:r>
              <a:rPr lang="de-DE" dirty="0"/>
              <a:t>Input: la=3,  Seitengröße=10, </a:t>
            </a:r>
            <a:r>
              <a:rPr lang="de-DE" dirty="0" err="1"/>
              <a:t>pa</a:t>
            </a:r>
            <a:r>
              <a:rPr lang="de-DE" dirty="0"/>
              <a:t>=13</a:t>
            </a:r>
          </a:p>
          <a:p>
            <a:r>
              <a:rPr lang="de-DE" dirty="0"/>
              <a:t>Was sind p, f, und somit </a:t>
            </a:r>
            <a:r>
              <a:rPr lang="de-DE" b="1" dirty="0" err="1"/>
              <a:t>F</a:t>
            </a:r>
            <a:r>
              <a:rPr lang="de-DE" b="1" baseline="-25000" dirty="0" err="1"/>
              <a:t>pid</a:t>
            </a:r>
            <a:r>
              <a:rPr lang="de-DE" b="1" dirty="0"/>
              <a:t>(</a:t>
            </a:r>
            <a:r>
              <a:rPr lang="de-DE" b="1" dirty="0">
                <a:solidFill>
                  <a:srgbClr val="FF0000"/>
                </a:solidFill>
              </a:rPr>
              <a:t>p</a:t>
            </a:r>
            <a:r>
              <a:rPr lang="de-DE" b="1" dirty="0"/>
              <a:t>) = </a:t>
            </a:r>
            <a:r>
              <a:rPr lang="de-DE" b="1" dirty="0">
                <a:solidFill>
                  <a:srgbClr val="0070C0"/>
                </a:solidFill>
              </a:rPr>
              <a:t>f ?</a:t>
            </a:r>
            <a:endParaRPr lang="de-DE" dirty="0"/>
          </a:p>
          <a:p>
            <a:r>
              <a:rPr lang="de-DE" dirty="0"/>
              <a:t>„Abstand“ der la ab dem Seitenanfang ist </a:t>
            </a:r>
            <a:r>
              <a:rPr lang="de-DE" b="1" dirty="0" err="1">
                <a:solidFill>
                  <a:schemeClr val="accent1"/>
                </a:solidFill>
              </a:rPr>
              <a:t>offset</a:t>
            </a:r>
            <a:r>
              <a:rPr lang="de-DE" dirty="0"/>
              <a:t> </a:t>
            </a:r>
            <a:r>
              <a:rPr lang="de-DE" b="1" dirty="0"/>
              <a:t>d</a:t>
            </a:r>
          </a:p>
          <a:p>
            <a:r>
              <a:rPr lang="de-DE" dirty="0"/>
              <a:t>Was ist d hier?</a:t>
            </a:r>
          </a:p>
        </p:txBody>
      </p:sp>
      <p:grpSp>
        <p:nvGrpSpPr>
          <p:cNvPr id="21" name="Gruppieren 20">
            <a:extLst>
              <a:ext uri="{FF2B5EF4-FFF2-40B4-BE49-F238E27FC236}">
                <a16:creationId xmlns:a16="http://schemas.microsoft.com/office/drawing/2014/main" id="{C5C45B39-1DB7-B67A-1378-B80614CAC2B2}"/>
              </a:ext>
            </a:extLst>
          </p:cNvPr>
          <p:cNvGrpSpPr/>
          <p:nvPr/>
        </p:nvGrpSpPr>
        <p:grpSpPr>
          <a:xfrm>
            <a:off x="1475656" y="1759294"/>
            <a:ext cx="1026092" cy="727252"/>
            <a:chOff x="393765" y="4226790"/>
            <a:chExt cx="1026092" cy="727252"/>
          </a:xfrm>
        </p:grpSpPr>
        <p:sp>
          <p:nvSpPr>
            <p:cNvPr id="9" name="Rectangle 60">
              <a:extLst>
                <a:ext uri="{FF2B5EF4-FFF2-40B4-BE49-F238E27FC236}">
                  <a16:creationId xmlns:a16="http://schemas.microsoft.com/office/drawing/2014/main" id="{365B6021-03B4-15B8-B0C4-69AA15A0B9FA}"/>
                </a:ext>
              </a:extLst>
            </p:cNvPr>
            <p:cNvSpPr/>
            <p:nvPr/>
          </p:nvSpPr>
          <p:spPr>
            <a:xfrm>
              <a:off x="393765" y="422679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Rectangle 60">
              <a:extLst>
                <a:ext uri="{FF2B5EF4-FFF2-40B4-BE49-F238E27FC236}">
                  <a16:creationId xmlns:a16="http://schemas.microsoft.com/office/drawing/2014/main" id="{071E812B-83AC-BAA7-7278-E9695A67B715}"/>
                </a:ext>
              </a:extLst>
            </p:cNvPr>
            <p:cNvSpPr/>
            <p:nvPr/>
          </p:nvSpPr>
          <p:spPr>
            <a:xfrm>
              <a:off x="393765" y="429921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Rectangle 60">
              <a:extLst>
                <a:ext uri="{FF2B5EF4-FFF2-40B4-BE49-F238E27FC236}">
                  <a16:creationId xmlns:a16="http://schemas.microsoft.com/office/drawing/2014/main" id="{A6452607-8AFD-6448-5A54-036473E565EE}"/>
                </a:ext>
              </a:extLst>
            </p:cNvPr>
            <p:cNvSpPr/>
            <p:nvPr/>
          </p:nvSpPr>
          <p:spPr>
            <a:xfrm>
              <a:off x="393765" y="437163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Rectangle 60">
              <a:extLst>
                <a:ext uri="{FF2B5EF4-FFF2-40B4-BE49-F238E27FC236}">
                  <a16:creationId xmlns:a16="http://schemas.microsoft.com/office/drawing/2014/main" id="{2CA8B83B-1C2A-223E-C8CD-8D1053F7CA51}"/>
                </a:ext>
              </a:extLst>
            </p:cNvPr>
            <p:cNvSpPr/>
            <p:nvPr/>
          </p:nvSpPr>
          <p:spPr>
            <a:xfrm>
              <a:off x="393765" y="4444056"/>
              <a:ext cx="1026092" cy="75454"/>
            </a:xfrm>
            <a:prstGeom prst="rect">
              <a:avLst/>
            </a:prstGeom>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Rectangle 60">
              <a:extLst>
                <a:ext uri="{FF2B5EF4-FFF2-40B4-BE49-F238E27FC236}">
                  <a16:creationId xmlns:a16="http://schemas.microsoft.com/office/drawing/2014/main" id="{603FA987-C123-B50F-8782-6E0BD8E1290B}"/>
                </a:ext>
              </a:extLst>
            </p:cNvPr>
            <p:cNvSpPr/>
            <p:nvPr/>
          </p:nvSpPr>
          <p:spPr>
            <a:xfrm>
              <a:off x="393765" y="451647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Rectangle 60">
              <a:extLst>
                <a:ext uri="{FF2B5EF4-FFF2-40B4-BE49-F238E27FC236}">
                  <a16:creationId xmlns:a16="http://schemas.microsoft.com/office/drawing/2014/main" id="{4D6A6047-58CF-F36A-9C11-05296A09F9B6}"/>
                </a:ext>
              </a:extLst>
            </p:cNvPr>
            <p:cNvSpPr/>
            <p:nvPr/>
          </p:nvSpPr>
          <p:spPr>
            <a:xfrm>
              <a:off x="393765" y="458890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Rectangle 60">
              <a:extLst>
                <a:ext uri="{FF2B5EF4-FFF2-40B4-BE49-F238E27FC236}">
                  <a16:creationId xmlns:a16="http://schemas.microsoft.com/office/drawing/2014/main" id="{5D37F278-17BF-D176-E924-0178C4B1AAD6}"/>
                </a:ext>
              </a:extLst>
            </p:cNvPr>
            <p:cNvSpPr/>
            <p:nvPr/>
          </p:nvSpPr>
          <p:spPr>
            <a:xfrm>
              <a:off x="393765" y="466132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Rectangle 60">
              <a:extLst>
                <a:ext uri="{FF2B5EF4-FFF2-40B4-BE49-F238E27FC236}">
                  <a16:creationId xmlns:a16="http://schemas.microsoft.com/office/drawing/2014/main" id="{8D4B906F-C974-5442-BFF1-D08E4D5A33AB}"/>
                </a:ext>
              </a:extLst>
            </p:cNvPr>
            <p:cNvSpPr/>
            <p:nvPr/>
          </p:nvSpPr>
          <p:spPr>
            <a:xfrm>
              <a:off x="393765" y="473374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Rectangle 60">
              <a:extLst>
                <a:ext uri="{FF2B5EF4-FFF2-40B4-BE49-F238E27FC236}">
                  <a16:creationId xmlns:a16="http://schemas.microsoft.com/office/drawing/2014/main" id="{9546F92A-94B1-6F4C-891F-D9E7D8211340}"/>
                </a:ext>
              </a:extLst>
            </p:cNvPr>
            <p:cNvSpPr/>
            <p:nvPr/>
          </p:nvSpPr>
          <p:spPr>
            <a:xfrm>
              <a:off x="393765" y="4806166"/>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Rectangle 60">
              <a:extLst>
                <a:ext uri="{FF2B5EF4-FFF2-40B4-BE49-F238E27FC236}">
                  <a16:creationId xmlns:a16="http://schemas.microsoft.com/office/drawing/2014/main" id="{9BFBE15C-8812-30BF-BC29-29B072156EDE}"/>
                </a:ext>
              </a:extLst>
            </p:cNvPr>
            <p:cNvSpPr/>
            <p:nvPr/>
          </p:nvSpPr>
          <p:spPr>
            <a:xfrm>
              <a:off x="393765" y="487858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22" name="Gruppieren 21">
            <a:extLst>
              <a:ext uri="{FF2B5EF4-FFF2-40B4-BE49-F238E27FC236}">
                <a16:creationId xmlns:a16="http://schemas.microsoft.com/office/drawing/2014/main" id="{F434D26D-9845-C031-FF22-2A458F343D30}"/>
              </a:ext>
            </a:extLst>
          </p:cNvPr>
          <p:cNvGrpSpPr/>
          <p:nvPr/>
        </p:nvGrpSpPr>
        <p:grpSpPr>
          <a:xfrm>
            <a:off x="1475656" y="2515554"/>
            <a:ext cx="1026092" cy="727252"/>
            <a:chOff x="393765" y="4226790"/>
            <a:chExt cx="1026092" cy="727252"/>
          </a:xfrm>
          <a:solidFill>
            <a:schemeClr val="accent2">
              <a:lumMod val="40000"/>
              <a:lumOff val="60000"/>
            </a:schemeClr>
          </a:solidFill>
        </p:grpSpPr>
        <p:sp>
          <p:nvSpPr>
            <p:cNvPr id="23" name="Rectangle 60">
              <a:extLst>
                <a:ext uri="{FF2B5EF4-FFF2-40B4-BE49-F238E27FC236}">
                  <a16:creationId xmlns:a16="http://schemas.microsoft.com/office/drawing/2014/main" id="{DB1A9C97-FEC8-4017-61B0-061D06EC7738}"/>
                </a:ext>
              </a:extLst>
            </p:cNvPr>
            <p:cNvSpPr/>
            <p:nvPr/>
          </p:nvSpPr>
          <p:spPr>
            <a:xfrm>
              <a:off x="393765" y="422679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Rectangle 60">
              <a:extLst>
                <a:ext uri="{FF2B5EF4-FFF2-40B4-BE49-F238E27FC236}">
                  <a16:creationId xmlns:a16="http://schemas.microsoft.com/office/drawing/2014/main" id="{F1545EF7-F512-83CE-C974-03B3CBDD79A5}"/>
                </a:ext>
              </a:extLst>
            </p:cNvPr>
            <p:cNvSpPr/>
            <p:nvPr/>
          </p:nvSpPr>
          <p:spPr>
            <a:xfrm>
              <a:off x="393765" y="429921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Rectangle 60">
              <a:extLst>
                <a:ext uri="{FF2B5EF4-FFF2-40B4-BE49-F238E27FC236}">
                  <a16:creationId xmlns:a16="http://schemas.microsoft.com/office/drawing/2014/main" id="{75FBC7ED-A6F5-2CCB-2E49-E242FA9D4B08}"/>
                </a:ext>
              </a:extLst>
            </p:cNvPr>
            <p:cNvSpPr/>
            <p:nvPr/>
          </p:nvSpPr>
          <p:spPr>
            <a:xfrm>
              <a:off x="393765" y="437163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Rectangle 60">
              <a:extLst>
                <a:ext uri="{FF2B5EF4-FFF2-40B4-BE49-F238E27FC236}">
                  <a16:creationId xmlns:a16="http://schemas.microsoft.com/office/drawing/2014/main" id="{A3E3D5CE-33CC-0E0F-8D2D-181171C4953B}"/>
                </a:ext>
              </a:extLst>
            </p:cNvPr>
            <p:cNvSpPr/>
            <p:nvPr/>
          </p:nvSpPr>
          <p:spPr>
            <a:xfrm>
              <a:off x="393765" y="444405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Rectangle 60">
              <a:extLst>
                <a:ext uri="{FF2B5EF4-FFF2-40B4-BE49-F238E27FC236}">
                  <a16:creationId xmlns:a16="http://schemas.microsoft.com/office/drawing/2014/main" id="{58B90A43-DA99-78A9-FCBC-B9F1DD4F92CA}"/>
                </a:ext>
              </a:extLst>
            </p:cNvPr>
            <p:cNvSpPr/>
            <p:nvPr/>
          </p:nvSpPr>
          <p:spPr>
            <a:xfrm>
              <a:off x="393765" y="451647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Rectangle 60">
              <a:extLst>
                <a:ext uri="{FF2B5EF4-FFF2-40B4-BE49-F238E27FC236}">
                  <a16:creationId xmlns:a16="http://schemas.microsoft.com/office/drawing/2014/main" id="{FE94833C-9022-3293-0F61-06E91827BBFC}"/>
                </a:ext>
              </a:extLst>
            </p:cNvPr>
            <p:cNvSpPr/>
            <p:nvPr/>
          </p:nvSpPr>
          <p:spPr>
            <a:xfrm>
              <a:off x="393765" y="458890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Rectangle 60">
              <a:extLst>
                <a:ext uri="{FF2B5EF4-FFF2-40B4-BE49-F238E27FC236}">
                  <a16:creationId xmlns:a16="http://schemas.microsoft.com/office/drawing/2014/main" id="{C94BCB68-A00C-536A-3110-ED58C069CB30}"/>
                </a:ext>
              </a:extLst>
            </p:cNvPr>
            <p:cNvSpPr/>
            <p:nvPr/>
          </p:nvSpPr>
          <p:spPr>
            <a:xfrm>
              <a:off x="393765" y="466132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Rectangle 60">
              <a:extLst>
                <a:ext uri="{FF2B5EF4-FFF2-40B4-BE49-F238E27FC236}">
                  <a16:creationId xmlns:a16="http://schemas.microsoft.com/office/drawing/2014/main" id="{4488496B-8B58-5E79-AC75-4B23671D557B}"/>
                </a:ext>
              </a:extLst>
            </p:cNvPr>
            <p:cNvSpPr/>
            <p:nvPr/>
          </p:nvSpPr>
          <p:spPr>
            <a:xfrm>
              <a:off x="393765" y="473374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Rectangle 60">
              <a:extLst>
                <a:ext uri="{FF2B5EF4-FFF2-40B4-BE49-F238E27FC236}">
                  <a16:creationId xmlns:a16="http://schemas.microsoft.com/office/drawing/2014/main" id="{3F275552-3AFE-EBB4-3043-BA99EE4AF69D}"/>
                </a:ext>
              </a:extLst>
            </p:cNvPr>
            <p:cNvSpPr/>
            <p:nvPr/>
          </p:nvSpPr>
          <p:spPr>
            <a:xfrm>
              <a:off x="393765" y="480616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Rectangle 60">
              <a:extLst>
                <a:ext uri="{FF2B5EF4-FFF2-40B4-BE49-F238E27FC236}">
                  <a16:creationId xmlns:a16="http://schemas.microsoft.com/office/drawing/2014/main" id="{FA29C1EA-2B2F-91DC-EF26-B5EDD8E89C84}"/>
                </a:ext>
              </a:extLst>
            </p:cNvPr>
            <p:cNvSpPr/>
            <p:nvPr/>
          </p:nvSpPr>
          <p:spPr>
            <a:xfrm>
              <a:off x="393765" y="487858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34" name="Gruppieren 33">
            <a:extLst>
              <a:ext uri="{FF2B5EF4-FFF2-40B4-BE49-F238E27FC236}">
                <a16:creationId xmlns:a16="http://schemas.microsoft.com/office/drawing/2014/main" id="{D20524AB-C698-26C2-DFF9-1B2EC26D832E}"/>
              </a:ext>
            </a:extLst>
          </p:cNvPr>
          <p:cNvGrpSpPr/>
          <p:nvPr/>
        </p:nvGrpSpPr>
        <p:grpSpPr>
          <a:xfrm>
            <a:off x="5994230" y="1831716"/>
            <a:ext cx="1026092" cy="727252"/>
            <a:chOff x="393765" y="4226790"/>
            <a:chExt cx="1026092" cy="727252"/>
          </a:xfrm>
          <a:solidFill>
            <a:schemeClr val="accent6">
              <a:lumMod val="40000"/>
              <a:lumOff val="60000"/>
            </a:schemeClr>
          </a:solidFill>
        </p:grpSpPr>
        <p:sp>
          <p:nvSpPr>
            <p:cNvPr id="35" name="Rectangle 60">
              <a:extLst>
                <a:ext uri="{FF2B5EF4-FFF2-40B4-BE49-F238E27FC236}">
                  <a16:creationId xmlns:a16="http://schemas.microsoft.com/office/drawing/2014/main" id="{B79469A3-CD8A-702E-29B3-D44358ED65AB}"/>
                </a:ext>
              </a:extLst>
            </p:cNvPr>
            <p:cNvSpPr/>
            <p:nvPr/>
          </p:nvSpPr>
          <p:spPr>
            <a:xfrm>
              <a:off x="393765" y="422679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Rectangle 60">
              <a:extLst>
                <a:ext uri="{FF2B5EF4-FFF2-40B4-BE49-F238E27FC236}">
                  <a16:creationId xmlns:a16="http://schemas.microsoft.com/office/drawing/2014/main" id="{347B7F6D-FB89-34DD-63F7-F67A42985D73}"/>
                </a:ext>
              </a:extLst>
            </p:cNvPr>
            <p:cNvSpPr/>
            <p:nvPr/>
          </p:nvSpPr>
          <p:spPr>
            <a:xfrm>
              <a:off x="393765" y="429921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7" name="Rectangle 60">
              <a:extLst>
                <a:ext uri="{FF2B5EF4-FFF2-40B4-BE49-F238E27FC236}">
                  <a16:creationId xmlns:a16="http://schemas.microsoft.com/office/drawing/2014/main" id="{7C635905-CCDF-4285-673E-7BFFF6BABB93}"/>
                </a:ext>
              </a:extLst>
            </p:cNvPr>
            <p:cNvSpPr/>
            <p:nvPr/>
          </p:nvSpPr>
          <p:spPr>
            <a:xfrm>
              <a:off x="393765" y="437163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Rectangle 60">
              <a:extLst>
                <a:ext uri="{FF2B5EF4-FFF2-40B4-BE49-F238E27FC236}">
                  <a16:creationId xmlns:a16="http://schemas.microsoft.com/office/drawing/2014/main" id="{19E169B7-0B4F-E2A0-D6D6-004F34CE5976}"/>
                </a:ext>
              </a:extLst>
            </p:cNvPr>
            <p:cNvSpPr/>
            <p:nvPr/>
          </p:nvSpPr>
          <p:spPr>
            <a:xfrm>
              <a:off x="393765" y="444405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3" name="Rectangle 60">
              <a:extLst>
                <a:ext uri="{FF2B5EF4-FFF2-40B4-BE49-F238E27FC236}">
                  <a16:creationId xmlns:a16="http://schemas.microsoft.com/office/drawing/2014/main" id="{7CEC61C8-5735-EE39-CDE3-20E85CAAA2D5}"/>
                </a:ext>
              </a:extLst>
            </p:cNvPr>
            <p:cNvSpPr/>
            <p:nvPr/>
          </p:nvSpPr>
          <p:spPr>
            <a:xfrm>
              <a:off x="393765" y="451647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4" name="Rectangle 60">
              <a:extLst>
                <a:ext uri="{FF2B5EF4-FFF2-40B4-BE49-F238E27FC236}">
                  <a16:creationId xmlns:a16="http://schemas.microsoft.com/office/drawing/2014/main" id="{FB148D97-20F6-5D10-4263-341D51C469E3}"/>
                </a:ext>
              </a:extLst>
            </p:cNvPr>
            <p:cNvSpPr/>
            <p:nvPr/>
          </p:nvSpPr>
          <p:spPr>
            <a:xfrm>
              <a:off x="393765" y="458890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6" name="Rectangle 60">
              <a:extLst>
                <a:ext uri="{FF2B5EF4-FFF2-40B4-BE49-F238E27FC236}">
                  <a16:creationId xmlns:a16="http://schemas.microsoft.com/office/drawing/2014/main" id="{391EE52F-FE58-6643-0BA8-1AFD0884C323}"/>
                </a:ext>
              </a:extLst>
            </p:cNvPr>
            <p:cNvSpPr/>
            <p:nvPr/>
          </p:nvSpPr>
          <p:spPr>
            <a:xfrm>
              <a:off x="393765" y="466132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7" name="Rectangle 60">
              <a:extLst>
                <a:ext uri="{FF2B5EF4-FFF2-40B4-BE49-F238E27FC236}">
                  <a16:creationId xmlns:a16="http://schemas.microsoft.com/office/drawing/2014/main" id="{35931FD0-04C6-A002-70F6-CA0D221BB6E4}"/>
                </a:ext>
              </a:extLst>
            </p:cNvPr>
            <p:cNvSpPr/>
            <p:nvPr/>
          </p:nvSpPr>
          <p:spPr>
            <a:xfrm>
              <a:off x="393765" y="473374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8" name="Rectangle 60">
              <a:extLst>
                <a:ext uri="{FF2B5EF4-FFF2-40B4-BE49-F238E27FC236}">
                  <a16:creationId xmlns:a16="http://schemas.microsoft.com/office/drawing/2014/main" id="{1C982949-6B97-5F4B-3368-B7FB3BAB5981}"/>
                </a:ext>
              </a:extLst>
            </p:cNvPr>
            <p:cNvSpPr/>
            <p:nvPr/>
          </p:nvSpPr>
          <p:spPr>
            <a:xfrm>
              <a:off x="393765" y="480616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9" name="Rectangle 60">
              <a:extLst>
                <a:ext uri="{FF2B5EF4-FFF2-40B4-BE49-F238E27FC236}">
                  <a16:creationId xmlns:a16="http://schemas.microsoft.com/office/drawing/2014/main" id="{B4F9FCD3-34DF-1D0A-B3C3-78AC718A9391}"/>
                </a:ext>
              </a:extLst>
            </p:cNvPr>
            <p:cNvSpPr/>
            <p:nvPr/>
          </p:nvSpPr>
          <p:spPr>
            <a:xfrm>
              <a:off x="393765" y="487858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50" name="Gruppieren 49">
            <a:extLst>
              <a:ext uri="{FF2B5EF4-FFF2-40B4-BE49-F238E27FC236}">
                <a16:creationId xmlns:a16="http://schemas.microsoft.com/office/drawing/2014/main" id="{47F798F4-2C67-06F3-3373-CDF23531E3A8}"/>
              </a:ext>
            </a:extLst>
          </p:cNvPr>
          <p:cNvGrpSpPr/>
          <p:nvPr/>
        </p:nvGrpSpPr>
        <p:grpSpPr>
          <a:xfrm>
            <a:off x="5994230" y="2581501"/>
            <a:ext cx="1026092" cy="727252"/>
            <a:chOff x="393765" y="4226790"/>
            <a:chExt cx="1026092" cy="727252"/>
          </a:xfrm>
        </p:grpSpPr>
        <p:sp>
          <p:nvSpPr>
            <p:cNvPr id="51" name="Rectangle 60">
              <a:extLst>
                <a:ext uri="{FF2B5EF4-FFF2-40B4-BE49-F238E27FC236}">
                  <a16:creationId xmlns:a16="http://schemas.microsoft.com/office/drawing/2014/main" id="{B0B1CE38-874A-454E-AA7C-3086C007EDCD}"/>
                </a:ext>
              </a:extLst>
            </p:cNvPr>
            <p:cNvSpPr/>
            <p:nvPr/>
          </p:nvSpPr>
          <p:spPr>
            <a:xfrm>
              <a:off x="393765" y="422679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Rectangle 60">
              <a:extLst>
                <a:ext uri="{FF2B5EF4-FFF2-40B4-BE49-F238E27FC236}">
                  <a16:creationId xmlns:a16="http://schemas.microsoft.com/office/drawing/2014/main" id="{7D1AFD48-6ABE-BAA7-DA30-4EC5797F1764}"/>
                </a:ext>
              </a:extLst>
            </p:cNvPr>
            <p:cNvSpPr/>
            <p:nvPr/>
          </p:nvSpPr>
          <p:spPr>
            <a:xfrm>
              <a:off x="393765" y="429921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Rectangle 60">
              <a:extLst>
                <a:ext uri="{FF2B5EF4-FFF2-40B4-BE49-F238E27FC236}">
                  <a16:creationId xmlns:a16="http://schemas.microsoft.com/office/drawing/2014/main" id="{374808FD-C2F0-FCA4-AB7E-684C937D90C1}"/>
                </a:ext>
              </a:extLst>
            </p:cNvPr>
            <p:cNvSpPr/>
            <p:nvPr/>
          </p:nvSpPr>
          <p:spPr>
            <a:xfrm>
              <a:off x="393765" y="437163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Rectangle 60">
              <a:extLst>
                <a:ext uri="{FF2B5EF4-FFF2-40B4-BE49-F238E27FC236}">
                  <a16:creationId xmlns:a16="http://schemas.microsoft.com/office/drawing/2014/main" id="{E16C95E3-618D-C09D-62D9-EF9386C2E713}"/>
                </a:ext>
              </a:extLst>
            </p:cNvPr>
            <p:cNvSpPr/>
            <p:nvPr/>
          </p:nvSpPr>
          <p:spPr>
            <a:xfrm>
              <a:off x="393765" y="4444056"/>
              <a:ext cx="1026092" cy="75454"/>
            </a:xfrm>
            <a:prstGeom prst="rect">
              <a:avLst/>
            </a:prstGeom>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2" name="Rectangle 60">
              <a:extLst>
                <a:ext uri="{FF2B5EF4-FFF2-40B4-BE49-F238E27FC236}">
                  <a16:creationId xmlns:a16="http://schemas.microsoft.com/office/drawing/2014/main" id="{F61EFF35-71C7-3E48-7316-ABBC3F1F17BE}"/>
                </a:ext>
              </a:extLst>
            </p:cNvPr>
            <p:cNvSpPr/>
            <p:nvPr/>
          </p:nvSpPr>
          <p:spPr>
            <a:xfrm>
              <a:off x="393765" y="451647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3" name="Rectangle 60">
              <a:extLst>
                <a:ext uri="{FF2B5EF4-FFF2-40B4-BE49-F238E27FC236}">
                  <a16:creationId xmlns:a16="http://schemas.microsoft.com/office/drawing/2014/main" id="{7764E26A-6A4D-E002-40E2-1FFD09ABE062}"/>
                </a:ext>
              </a:extLst>
            </p:cNvPr>
            <p:cNvSpPr/>
            <p:nvPr/>
          </p:nvSpPr>
          <p:spPr>
            <a:xfrm>
              <a:off x="393765" y="458890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6" name="Rectangle 60">
              <a:extLst>
                <a:ext uri="{FF2B5EF4-FFF2-40B4-BE49-F238E27FC236}">
                  <a16:creationId xmlns:a16="http://schemas.microsoft.com/office/drawing/2014/main" id="{8D044E22-751C-FAE1-AB7E-1D7EC892F279}"/>
                </a:ext>
              </a:extLst>
            </p:cNvPr>
            <p:cNvSpPr/>
            <p:nvPr/>
          </p:nvSpPr>
          <p:spPr>
            <a:xfrm>
              <a:off x="393765" y="466132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7" name="Rectangle 60">
              <a:extLst>
                <a:ext uri="{FF2B5EF4-FFF2-40B4-BE49-F238E27FC236}">
                  <a16:creationId xmlns:a16="http://schemas.microsoft.com/office/drawing/2014/main" id="{2D990157-CBC5-FD56-E638-03EE7BF73791}"/>
                </a:ext>
              </a:extLst>
            </p:cNvPr>
            <p:cNvSpPr/>
            <p:nvPr/>
          </p:nvSpPr>
          <p:spPr>
            <a:xfrm>
              <a:off x="393765" y="473374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8" name="Rectangle 60">
              <a:extLst>
                <a:ext uri="{FF2B5EF4-FFF2-40B4-BE49-F238E27FC236}">
                  <a16:creationId xmlns:a16="http://schemas.microsoft.com/office/drawing/2014/main" id="{4EFB177F-79AC-5446-D6BA-1E33106EED05}"/>
                </a:ext>
              </a:extLst>
            </p:cNvPr>
            <p:cNvSpPr/>
            <p:nvPr/>
          </p:nvSpPr>
          <p:spPr>
            <a:xfrm>
              <a:off x="393765" y="4806166"/>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9" name="Rectangle 60">
              <a:extLst>
                <a:ext uri="{FF2B5EF4-FFF2-40B4-BE49-F238E27FC236}">
                  <a16:creationId xmlns:a16="http://schemas.microsoft.com/office/drawing/2014/main" id="{F5C8CFFF-5338-34AC-7475-589B777E60B1}"/>
                </a:ext>
              </a:extLst>
            </p:cNvPr>
            <p:cNvSpPr/>
            <p:nvPr/>
          </p:nvSpPr>
          <p:spPr>
            <a:xfrm>
              <a:off x="393765" y="487858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sp>
        <p:nvSpPr>
          <p:cNvPr id="4102" name="TextBox 37">
            <a:extLst>
              <a:ext uri="{FF2B5EF4-FFF2-40B4-BE49-F238E27FC236}">
                <a16:creationId xmlns:a16="http://schemas.microsoft.com/office/drawing/2014/main" id="{610D07CB-63D5-FEF9-B444-3E5BA0A1458E}"/>
              </a:ext>
            </a:extLst>
          </p:cNvPr>
          <p:cNvSpPr txBox="1"/>
          <p:nvPr/>
        </p:nvSpPr>
        <p:spPr>
          <a:xfrm>
            <a:off x="7072733" y="1659093"/>
            <a:ext cx="5245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7030A0"/>
                </a:solidFill>
                <a:effectLst/>
                <a:uLnTx/>
                <a:uFillTx/>
                <a:latin typeface="Helvetica" charset="0"/>
                <a:ea typeface="+mn-ea"/>
                <a:cs typeface="+mn-cs"/>
              </a:rPr>
              <a:t>f=0</a:t>
            </a:r>
          </a:p>
        </p:txBody>
      </p:sp>
      <p:sp>
        <p:nvSpPr>
          <p:cNvPr id="4103" name="TextBox 37">
            <a:extLst>
              <a:ext uri="{FF2B5EF4-FFF2-40B4-BE49-F238E27FC236}">
                <a16:creationId xmlns:a16="http://schemas.microsoft.com/office/drawing/2014/main" id="{8C470978-D337-1A11-1D24-0CB15148A309}"/>
              </a:ext>
            </a:extLst>
          </p:cNvPr>
          <p:cNvSpPr txBox="1"/>
          <p:nvPr/>
        </p:nvSpPr>
        <p:spPr>
          <a:xfrm>
            <a:off x="7072733" y="2403310"/>
            <a:ext cx="5245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7030A0"/>
                </a:solidFill>
                <a:effectLst/>
                <a:uLnTx/>
                <a:uFillTx/>
                <a:latin typeface="Helvetica" charset="0"/>
                <a:ea typeface="+mn-ea"/>
                <a:cs typeface="+mn-cs"/>
              </a:rPr>
              <a:t>f=1</a:t>
            </a:r>
          </a:p>
        </p:txBody>
      </p:sp>
      <p:sp>
        <p:nvSpPr>
          <p:cNvPr id="4104" name="Rechteckige Legende 13">
            <a:extLst>
              <a:ext uri="{FF2B5EF4-FFF2-40B4-BE49-F238E27FC236}">
                <a16:creationId xmlns:a16="http://schemas.microsoft.com/office/drawing/2014/main" id="{F2DCFF06-5A58-9565-391D-31CD8F8D030E}"/>
              </a:ext>
            </a:extLst>
          </p:cNvPr>
          <p:cNvSpPr/>
          <p:nvPr/>
        </p:nvSpPr>
        <p:spPr>
          <a:xfrm>
            <a:off x="349726" y="3141151"/>
            <a:ext cx="1638976" cy="392202"/>
          </a:xfrm>
          <a:prstGeom prst="wedgeRectCallout">
            <a:avLst>
              <a:gd name="adj1" fmla="val -6995"/>
              <a:gd name="adj2" fmla="val -127135"/>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Arial"/>
                <a:ea typeface="+mn-ea"/>
                <a:cs typeface="+mn-cs"/>
              </a:rPr>
              <a:t>Seiten</a:t>
            </a:r>
            <a:r>
              <a:rPr kumimoji="0" lang="en-US" sz="1800" b="0" i="0" u="none" strike="noStrike" kern="1200" cap="none" spc="0" normalizeH="0" baseline="0" noProof="0" dirty="0" err="1">
                <a:ln>
                  <a:noFill/>
                </a:ln>
                <a:solidFill>
                  <a:prstClr val="black"/>
                </a:solidFill>
                <a:effectLst/>
                <a:uLnTx/>
                <a:uFillTx/>
                <a:latin typeface="Arial"/>
                <a:ea typeface="+mn-ea"/>
                <a:cs typeface="+mn-cs"/>
              </a:rPr>
              <a:t>index</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1" i="0" u="none" strike="noStrike" kern="1200" cap="none" spc="0" normalizeH="0" baseline="0" noProof="0" dirty="0">
                <a:ln>
                  <a:noFill/>
                </a:ln>
                <a:solidFill>
                  <a:srgbClr val="FF0000"/>
                </a:solidFill>
                <a:effectLst/>
                <a:uLnTx/>
                <a:uFillTx/>
                <a:latin typeface="Arial"/>
                <a:ea typeface="+mn-ea"/>
                <a:cs typeface="+mn-cs"/>
              </a:rPr>
              <a:t>p</a:t>
            </a:r>
          </a:p>
        </p:txBody>
      </p:sp>
      <p:sp>
        <p:nvSpPr>
          <p:cNvPr id="4105" name="Rechteckige Legende 84">
            <a:extLst>
              <a:ext uri="{FF2B5EF4-FFF2-40B4-BE49-F238E27FC236}">
                <a16:creationId xmlns:a16="http://schemas.microsoft.com/office/drawing/2014/main" id="{A8FA9C8E-E937-94B7-D9C2-06696E53D334}"/>
              </a:ext>
            </a:extLst>
          </p:cNvPr>
          <p:cNvSpPr/>
          <p:nvPr/>
        </p:nvSpPr>
        <p:spPr>
          <a:xfrm>
            <a:off x="7740352" y="2674540"/>
            <a:ext cx="1340600" cy="726427"/>
          </a:xfrm>
          <a:prstGeom prst="wedgeRectCallout">
            <a:avLst>
              <a:gd name="adj1" fmla="val -68722"/>
              <a:gd name="adj2" fmla="val -41518"/>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7030A0"/>
                </a:solidFill>
                <a:effectLst/>
                <a:uLnTx/>
                <a:uFillTx/>
                <a:latin typeface="Arial"/>
                <a:ea typeface="+mn-ea"/>
                <a:cs typeface="+mn-cs"/>
              </a:rPr>
              <a:t>Rahmen</a:t>
            </a:r>
            <a:r>
              <a:rPr kumimoji="0" lang="en-US" sz="1800" b="1" i="0" u="none" strike="noStrike" kern="1200" cap="none" spc="0" normalizeH="0" baseline="0" noProof="0" dirty="0">
                <a:ln>
                  <a:noFill/>
                </a:ln>
                <a:solidFill>
                  <a:srgbClr val="7030A0"/>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i="0" u="none" strike="noStrike" kern="1200" cap="none" spc="0" normalizeH="0" baseline="0" noProof="0" dirty="0">
                <a:ln>
                  <a:noFill/>
                </a:ln>
                <a:solidFill>
                  <a:srgbClr val="7030A0"/>
                </a:solidFill>
                <a:effectLst/>
                <a:uLnTx/>
                <a:uFillTx/>
                <a:latin typeface="Arial"/>
                <a:ea typeface="+mn-ea"/>
                <a:cs typeface="+mn-cs"/>
              </a:rPr>
              <a:t>f</a:t>
            </a:r>
          </a:p>
        </p:txBody>
      </p:sp>
      <p:sp>
        <p:nvSpPr>
          <p:cNvPr id="4106" name="Rechteck 4105">
            <a:extLst>
              <a:ext uri="{FF2B5EF4-FFF2-40B4-BE49-F238E27FC236}">
                <a16:creationId xmlns:a16="http://schemas.microsoft.com/office/drawing/2014/main" id="{856C2FA4-A877-3914-129D-4B10974F7E52}"/>
              </a:ext>
            </a:extLst>
          </p:cNvPr>
          <p:cNvSpPr/>
          <p:nvPr/>
        </p:nvSpPr>
        <p:spPr>
          <a:xfrm>
            <a:off x="3322525" y="1677083"/>
            <a:ext cx="1970411" cy="584775"/>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err="1">
                <a:ln>
                  <a:noFill/>
                </a:ln>
                <a:solidFill>
                  <a:prstClr val="black"/>
                </a:solidFill>
                <a:effectLst/>
                <a:uLnTx/>
                <a:uFillTx/>
                <a:latin typeface="Arial"/>
                <a:ea typeface="+mn-ea"/>
                <a:cs typeface="+mn-cs"/>
              </a:rPr>
              <a:t>F</a:t>
            </a:r>
            <a:r>
              <a:rPr kumimoji="0" lang="de-DE" sz="3200" b="1" i="0" u="none" strike="noStrike" kern="1200" cap="none" spc="0" normalizeH="0" baseline="-25000" noProof="0" dirty="0" err="1">
                <a:ln>
                  <a:noFill/>
                </a:ln>
                <a:solidFill>
                  <a:prstClr val="black"/>
                </a:solidFill>
                <a:effectLst/>
                <a:uLnTx/>
                <a:uFillTx/>
                <a:latin typeface="Arial"/>
                <a:ea typeface="+mn-ea"/>
                <a:cs typeface="+mn-cs"/>
              </a:rPr>
              <a:t>pid</a:t>
            </a:r>
            <a:r>
              <a:rPr kumimoji="0" lang="de-DE" sz="3200" b="1" i="0" u="none" strike="noStrike" kern="1200" cap="none" spc="0" normalizeH="0" baseline="0" noProof="0" dirty="0">
                <a:ln>
                  <a:noFill/>
                </a:ln>
                <a:solidFill>
                  <a:prstClr val="black"/>
                </a:solidFill>
                <a:effectLst/>
                <a:uLnTx/>
                <a:uFillTx/>
                <a:latin typeface="Arial"/>
                <a:ea typeface="+mn-ea"/>
                <a:cs typeface="+mn-cs"/>
              </a:rPr>
              <a:t>(</a:t>
            </a:r>
            <a:r>
              <a:rPr kumimoji="0" lang="de-DE" sz="3200" b="1" i="0" u="none" strike="noStrike" kern="1200" cap="none" spc="0" normalizeH="0" baseline="0" noProof="0" dirty="0">
                <a:ln>
                  <a:noFill/>
                </a:ln>
                <a:solidFill>
                  <a:srgbClr val="FF0000"/>
                </a:solidFill>
                <a:effectLst/>
                <a:uLnTx/>
                <a:uFillTx/>
                <a:latin typeface="Arial"/>
                <a:ea typeface="+mn-ea"/>
                <a:cs typeface="+mn-cs"/>
              </a:rPr>
              <a:t>p</a:t>
            </a:r>
            <a:r>
              <a:rPr kumimoji="0" lang="de-DE" sz="3200" b="1" i="0" u="none" strike="noStrike" kern="1200" cap="none" spc="0" normalizeH="0" baseline="0" noProof="0" dirty="0">
                <a:ln>
                  <a:noFill/>
                </a:ln>
                <a:solidFill>
                  <a:prstClr val="black"/>
                </a:solidFill>
                <a:effectLst/>
                <a:uLnTx/>
                <a:uFillTx/>
                <a:latin typeface="Arial"/>
                <a:ea typeface="+mn-ea"/>
                <a:cs typeface="+mn-cs"/>
              </a:rPr>
              <a:t>) = </a:t>
            </a:r>
            <a:r>
              <a:rPr kumimoji="0" lang="de-DE" sz="3200" b="1" i="0" u="none" strike="noStrike" kern="1200" cap="none" spc="0" normalizeH="0" baseline="0" noProof="0" dirty="0">
                <a:ln>
                  <a:noFill/>
                </a:ln>
                <a:solidFill>
                  <a:srgbClr val="0070C0"/>
                </a:solidFill>
                <a:effectLst/>
                <a:uLnTx/>
                <a:uFillTx/>
                <a:latin typeface="Arial"/>
                <a:ea typeface="+mn-ea"/>
                <a:cs typeface="+mn-cs"/>
              </a:rPr>
              <a:t>f</a:t>
            </a:r>
          </a:p>
        </p:txBody>
      </p:sp>
    </p:spTree>
    <p:extLst>
      <p:ext uri="{BB962C8B-B14F-4D97-AF65-F5344CB8AC3E}">
        <p14:creationId xmlns:p14="http://schemas.microsoft.com/office/powerpoint/2010/main" val="30373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fade">
                                      <p:cBhvr>
                                        <p:cTn id="7" dur="500"/>
                                        <p:tgtEl>
                                          <p:spTgt spid="4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5">
                                            <p:txEl>
                                              <p:pRg st="1" end="1"/>
                                            </p:txEl>
                                          </p:spTgt>
                                        </p:tgtEl>
                                        <p:attrNameLst>
                                          <p:attrName>style.visibility</p:attrName>
                                        </p:attrNameLst>
                                      </p:cBhvr>
                                      <p:to>
                                        <p:strVal val="visible"/>
                                      </p:to>
                                    </p:set>
                                    <p:animEffect transition="in" filter="fade">
                                      <p:cBhvr>
                                        <p:cTn id="10" dur="500"/>
                                        <p:tgtEl>
                                          <p:spTgt spid="4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5">
                                            <p:txEl>
                                              <p:pRg st="2" end="2"/>
                                            </p:txEl>
                                          </p:spTgt>
                                        </p:tgtEl>
                                        <p:attrNameLst>
                                          <p:attrName>style.visibility</p:attrName>
                                        </p:attrNameLst>
                                      </p:cBhvr>
                                      <p:to>
                                        <p:strVal val="visible"/>
                                      </p:to>
                                    </p:set>
                                    <p:animEffect transition="in" filter="fade">
                                      <p:cBhvr>
                                        <p:cTn id="15" dur="500"/>
                                        <p:tgtEl>
                                          <p:spTgt spid="4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5">
                                            <p:txEl>
                                              <p:pRg st="3" end="3"/>
                                            </p:txEl>
                                          </p:spTgt>
                                        </p:tgtEl>
                                        <p:attrNameLst>
                                          <p:attrName>style.visibility</p:attrName>
                                        </p:attrNameLst>
                                      </p:cBhvr>
                                      <p:to>
                                        <p:strVal val="visible"/>
                                      </p:to>
                                    </p:set>
                                    <p:animEffect transition="in" filter="fade">
                                      <p:cBhvr>
                                        <p:cTn id="20" dur="500"/>
                                        <p:tgtEl>
                                          <p:spTgt spid="4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5">
                                            <p:txEl>
                                              <p:pRg st="4" end="4"/>
                                            </p:txEl>
                                          </p:spTgt>
                                        </p:tgtEl>
                                        <p:attrNameLst>
                                          <p:attrName>style.visibility</p:attrName>
                                        </p:attrNameLst>
                                      </p:cBhvr>
                                      <p:to>
                                        <p:strVal val="visible"/>
                                      </p:to>
                                    </p:set>
                                    <p:animEffect transition="in" filter="fade">
                                      <p:cBhvr>
                                        <p:cTn id="25" dur="500"/>
                                        <p:tgtEl>
                                          <p:spTgt spid="4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Übung: Seitengröße 10 Bytes</a:t>
            </a:r>
          </a:p>
        </p:txBody>
      </p:sp>
      <p:sp>
        <p:nvSpPr>
          <p:cNvPr id="4" name="Foliennummernplatzhalt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cxnSp>
        <p:nvCxnSpPr>
          <p:cNvPr id="28" name="Gerade Verbindung mit Pfeil 27"/>
          <p:cNvCxnSpPr>
            <a:cxnSpLocks/>
          </p:cNvCxnSpPr>
          <p:nvPr/>
        </p:nvCxnSpPr>
        <p:spPr>
          <a:xfrm>
            <a:off x="2557443" y="2026449"/>
            <a:ext cx="3384376" cy="796774"/>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3" name="Rechteck 12"/>
          <p:cNvSpPr/>
          <p:nvPr/>
        </p:nvSpPr>
        <p:spPr>
          <a:xfrm>
            <a:off x="899857" y="1697746"/>
            <a:ext cx="5757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p=0</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4" name="Rechteck 53"/>
          <p:cNvSpPr/>
          <p:nvPr/>
        </p:nvSpPr>
        <p:spPr>
          <a:xfrm>
            <a:off x="899857" y="2491341"/>
            <a:ext cx="57579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srgbClr val="FF0000"/>
                </a:solidFill>
                <a:effectLst/>
                <a:uLnTx/>
                <a:uFillTx/>
                <a:latin typeface="Arial"/>
                <a:ea typeface="+mn-ea"/>
                <a:cs typeface="+mn-cs"/>
              </a:rPr>
              <a:t>p=1</a:t>
            </a:r>
            <a:endParaRPr kumimoji="0" lang="en-US"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5" name="Inhaltsplatzhalter 44"/>
          <p:cNvSpPr>
            <a:spLocks noGrp="1"/>
          </p:cNvSpPr>
          <p:nvPr>
            <p:ph sz="quarter" idx="13"/>
          </p:nvPr>
        </p:nvSpPr>
        <p:spPr>
          <a:xfrm>
            <a:off x="465089" y="3838936"/>
            <a:ext cx="8208912" cy="2837976"/>
          </a:xfrm>
        </p:spPr>
        <p:txBody>
          <a:bodyPr>
            <a:normAutofit/>
          </a:bodyPr>
          <a:lstStyle/>
          <a:p>
            <a:r>
              <a:rPr lang="de-DE" dirty="0"/>
              <a:t>A. Gegeben eine log. Adr. </a:t>
            </a:r>
            <a:r>
              <a:rPr lang="de-DE" b="1" dirty="0"/>
              <a:t>la</a:t>
            </a:r>
            <a:r>
              <a:rPr lang="de-DE" dirty="0"/>
              <a:t> (und die Seitengröße </a:t>
            </a:r>
            <a:r>
              <a:rPr lang="de-DE" b="1" dirty="0"/>
              <a:t>S</a:t>
            </a:r>
            <a:r>
              <a:rPr lang="de-DE" dirty="0"/>
              <a:t>), welche (drei) Werte brauchen wir, um die physische Adr. </a:t>
            </a:r>
            <a:r>
              <a:rPr lang="de-DE" b="1" dirty="0" err="1"/>
              <a:t>ph</a:t>
            </a:r>
            <a:r>
              <a:rPr lang="de-DE" dirty="0"/>
              <a:t> zu berechnen?</a:t>
            </a:r>
          </a:p>
          <a:p>
            <a:r>
              <a:rPr lang="de-DE" dirty="0"/>
              <a:t>B. Geben Sie eine allg. Berechnungsvorschrift für die Berechnung von </a:t>
            </a:r>
            <a:r>
              <a:rPr lang="de-DE" b="1" dirty="0" err="1"/>
              <a:t>ph</a:t>
            </a:r>
            <a:r>
              <a:rPr lang="de-DE" dirty="0"/>
              <a:t> aus </a:t>
            </a:r>
            <a:r>
              <a:rPr lang="de-DE" b="1" dirty="0"/>
              <a:t>la</a:t>
            </a:r>
            <a:r>
              <a:rPr lang="de-DE" dirty="0"/>
              <a:t> an (3-4 Schritte, einige arithmetische Operationen); </a:t>
            </a:r>
            <a:r>
              <a:rPr lang="de-DE" b="1" dirty="0"/>
              <a:t>S</a:t>
            </a:r>
            <a:r>
              <a:rPr lang="de-DE" dirty="0"/>
              <a:t> := Seidengröße </a:t>
            </a:r>
          </a:p>
        </p:txBody>
      </p:sp>
      <p:grpSp>
        <p:nvGrpSpPr>
          <p:cNvPr id="21" name="Gruppieren 20">
            <a:extLst>
              <a:ext uri="{FF2B5EF4-FFF2-40B4-BE49-F238E27FC236}">
                <a16:creationId xmlns:a16="http://schemas.microsoft.com/office/drawing/2014/main" id="{C5C45B39-1DB7-B67A-1378-B80614CAC2B2}"/>
              </a:ext>
            </a:extLst>
          </p:cNvPr>
          <p:cNvGrpSpPr/>
          <p:nvPr/>
        </p:nvGrpSpPr>
        <p:grpSpPr>
          <a:xfrm>
            <a:off x="1475656" y="1759294"/>
            <a:ext cx="1026092" cy="727252"/>
            <a:chOff x="393765" y="4226790"/>
            <a:chExt cx="1026092" cy="727252"/>
          </a:xfrm>
        </p:grpSpPr>
        <p:sp>
          <p:nvSpPr>
            <p:cNvPr id="9" name="Rectangle 60">
              <a:extLst>
                <a:ext uri="{FF2B5EF4-FFF2-40B4-BE49-F238E27FC236}">
                  <a16:creationId xmlns:a16="http://schemas.microsoft.com/office/drawing/2014/main" id="{365B6021-03B4-15B8-B0C4-69AA15A0B9FA}"/>
                </a:ext>
              </a:extLst>
            </p:cNvPr>
            <p:cNvSpPr/>
            <p:nvPr/>
          </p:nvSpPr>
          <p:spPr>
            <a:xfrm>
              <a:off x="393765" y="422679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 name="Rectangle 60">
              <a:extLst>
                <a:ext uri="{FF2B5EF4-FFF2-40B4-BE49-F238E27FC236}">
                  <a16:creationId xmlns:a16="http://schemas.microsoft.com/office/drawing/2014/main" id="{071E812B-83AC-BAA7-7278-E9695A67B715}"/>
                </a:ext>
              </a:extLst>
            </p:cNvPr>
            <p:cNvSpPr/>
            <p:nvPr/>
          </p:nvSpPr>
          <p:spPr>
            <a:xfrm>
              <a:off x="393765" y="429921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2" name="Rectangle 60">
              <a:extLst>
                <a:ext uri="{FF2B5EF4-FFF2-40B4-BE49-F238E27FC236}">
                  <a16:creationId xmlns:a16="http://schemas.microsoft.com/office/drawing/2014/main" id="{A6452607-8AFD-6448-5A54-036473E565EE}"/>
                </a:ext>
              </a:extLst>
            </p:cNvPr>
            <p:cNvSpPr/>
            <p:nvPr/>
          </p:nvSpPr>
          <p:spPr>
            <a:xfrm>
              <a:off x="393765" y="437163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4" name="Rectangle 60">
              <a:extLst>
                <a:ext uri="{FF2B5EF4-FFF2-40B4-BE49-F238E27FC236}">
                  <a16:creationId xmlns:a16="http://schemas.microsoft.com/office/drawing/2014/main" id="{2CA8B83B-1C2A-223E-C8CD-8D1053F7CA51}"/>
                </a:ext>
              </a:extLst>
            </p:cNvPr>
            <p:cNvSpPr/>
            <p:nvPr/>
          </p:nvSpPr>
          <p:spPr>
            <a:xfrm>
              <a:off x="393765" y="4444056"/>
              <a:ext cx="1026092" cy="75454"/>
            </a:xfrm>
            <a:prstGeom prst="rect">
              <a:avLst/>
            </a:prstGeom>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5" name="Rectangle 60">
              <a:extLst>
                <a:ext uri="{FF2B5EF4-FFF2-40B4-BE49-F238E27FC236}">
                  <a16:creationId xmlns:a16="http://schemas.microsoft.com/office/drawing/2014/main" id="{603FA987-C123-B50F-8782-6E0BD8E1290B}"/>
                </a:ext>
              </a:extLst>
            </p:cNvPr>
            <p:cNvSpPr/>
            <p:nvPr/>
          </p:nvSpPr>
          <p:spPr>
            <a:xfrm>
              <a:off x="393765" y="451647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6" name="Rectangle 60">
              <a:extLst>
                <a:ext uri="{FF2B5EF4-FFF2-40B4-BE49-F238E27FC236}">
                  <a16:creationId xmlns:a16="http://schemas.microsoft.com/office/drawing/2014/main" id="{4D6A6047-58CF-F36A-9C11-05296A09F9B6}"/>
                </a:ext>
              </a:extLst>
            </p:cNvPr>
            <p:cNvSpPr/>
            <p:nvPr/>
          </p:nvSpPr>
          <p:spPr>
            <a:xfrm>
              <a:off x="393765" y="458890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7" name="Rectangle 60">
              <a:extLst>
                <a:ext uri="{FF2B5EF4-FFF2-40B4-BE49-F238E27FC236}">
                  <a16:creationId xmlns:a16="http://schemas.microsoft.com/office/drawing/2014/main" id="{5D37F278-17BF-D176-E924-0178C4B1AAD6}"/>
                </a:ext>
              </a:extLst>
            </p:cNvPr>
            <p:cNvSpPr/>
            <p:nvPr/>
          </p:nvSpPr>
          <p:spPr>
            <a:xfrm>
              <a:off x="393765" y="466132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8" name="Rectangle 60">
              <a:extLst>
                <a:ext uri="{FF2B5EF4-FFF2-40B4-BE49-F238E27FC236}">
                  <a16:creationId xmlns:a16="http://schemas.microsoft.com/office/drawing/2014/main" id="{8D4B906F-C974-5442-BFF1-D08E4D5A33AB}"/>
                </a:ext>
              </a:extLst>
            </p:cNvPr>
            <p:cNvSpPr/>
            <p:nvPr/>
          </p:nvSpPr>
          <p:spPr>
            <a:xfrm>
              <a:off x="393765" y="473374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9" name="Rectangle 60">
              <a:extLst>
                <a:ext uri="{FF2B5EF4-FFF2-40B4-BE49-F238E27FC236}">
                  <a16:creationId xmlns:a16="http://schemas.microsoft.com/office/drawing/2014/main" id="{9546F92A-94B1-6F4C-891F-D9E7D8211340}"/>
                </a:ext>
              </a:extLst>
            </p:cNvPr>
            <p:cNvSpPr/>
            <p:nvPr/>
          </p:nvSpPr>
          <p:spPr>
            <a:xfrm>
              <a:off x="393765" y="4806166"/>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0" name="Rectangle 60">
              <a:extLst>
                <a:ext uri="{FF2B5EF4-FFF2-40B4-BE49-F238E27FC236}">
                  <a16:creationId xmlns:a16="http://schemas.microsoft.com/office/drawing/2014/main" id="{9BFBE15C-8812-30BF-BC29-29B072156EDE}"/>
                </a:ext>
              </a:extLst>
            </p:cNvPr>
            <p:cNvSpPr/>
            <p:nvPr/>
          </p:nvSpPr>
          <p:spPr>
            <a:xfrm>
              <a:off x="393765" y="487858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22" name="Gruppieren 21">
            <a:extLst>
              <a:ext uri="{FF2B5EF4-FFF2-40B4-BE49-F238E27FC236}">
                <a16:creationId xmlns:a16="http://schemas.microsoft.com/office/drawing/2014/main" id="{F434D26D-9845-C031-FF22-2A458F343D30}"/>
              </a:ext>
            </a:extLst>
          </p:cNvPr>
          <p:cNvGrpSpPr/>
          <p:nvPr/>
        </p:nvGrpSpPr>
        <p:grpSpPr>
          <a:xfrm>
            <a:off x="1475656" y="2515554"/>
            <a:ext cx="1026092" cy="727252"/>
            <a:chOff x="393765" y="4226790"/>
            <a:chExt cx="1026092" cy="727252"/>
          </a:xfrm>
          <a:solidFill>
            <a:schemeClr val="accent2">
              <a:lumMod val="40000"/>
              <a:lumOff val="60000"/>
            </a:schemeClr>
          </a:solidFill>
        </p:grpSpPr>
        <p:sp>
          <p:nvSpPr>
            <p:cNvPr id="23" name="Rectangle 60">
              <a:extLst>
                <a:ext uri="{FF2B5EF4-FFF2-40B4-BE49-F238E27FC236}">
                  <a16:creationId xmlns:a16="http://schemas.microsoft.com/office/drawing/2014/main" id="{DB1A9C97-FEC8-4017-61B0-061D06EC7738}"/>
                </a:ext>
              </a:extLst>
            </p:cNvPr>
            <p:cNvSpPr/>
            <p:nvPr/>
          </p:nvSpPr>
          <p:spPr>
            <a:xfrm>
              <a:off x="393765" y="422679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4" name="Rectangle 60">
              <a:extLst>
                <a:ext uri="{FF2B5EF4-FFF2-40B4-BE49-F238E27FC236}">
                  <a16:creationId xmlns:a16="http://schemas.microsoft.com/office/drawing/2014/main" id="{F1545EF7-F512-83CE-C974-03B3CBDD79A5}"/>
                </a:ext>
              </a:extLst>
            </p:cNvPr>
            <p:cNvSpPr/>
            <p:nvPr/>
          </p:nvSpPr>
          <p:spPr>
            <a:xfrm>
              <a:off x="393765" y="429921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5" name="Rectangle 60">
              <a:extLst>
                <a:ext uri="{FF2B5EF4-FFF2-40B4-BE49-F238E27FC236}">
                  <a16:creationId xmlns:a16="http://schemas.microsoft.com/office/drawing/2014/main" id="{75FBC7ED-A6F5-2CCB-2E49-E242FA9D4B08}"/>
                </a:ext>
              </a:extLst>
            </p:cNvPr>
            <p:cNvSpPr/>
            <p:nvPr/>
          </p:nvSpPr>
          <p:spPr>
            <a:xfrm>
              <a:off x="393765" y="437163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6" name="Rectangle 60">
              <a:extLst>
                <a:ext uri="{FF2B5EF4-FFF2-40B4-BE49-F238E27FC236}">
                  <a16:creationId xmlns:a16="http://schemas.microsoft.com/office/drawing/2014/main" id="{A3E3D5CE-33CC-0E0F-8D2D-181171C4953B}"/>
                </a:ext>
              </a:extLst>
            </p:cNvPr>
            <p:cNvSpPr/>
            <p:nvPr/>
          </p:nvSpPr>
          <p:spPr>
            <a:xfrm>
              <a:off x="393765" y="444405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7" name="Rectangle 60">
              <a:extLst>
                <a:ext uri="{FF2B5EF4-FFF2-40B4-BE49-F238E27FC236}">
                  <a16:creationId xmlns:a16="http://schemas.microsoft.com/office/drawing/2014/main" id="{58B90A43-DA99-78A9-FCBC-B9F1DD4F92CA}"/>
                </a:ext>
              </a:extLst>
            </p:cNvPr>
            <p:cNvSpPr/>
            <p:nvPr/>
          </p:nvSpPr>
          <p:spPr>
            <a:xfrm>
              <a:off x="393765" y="451647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29" name="Rectangle 60">
              <a:extLst>
                <a:ext uri="{FF2B5EF4-FFF2-40B4-BE49-F238E27FC236}">
                  <a16:creationId xmlns:a16="http://schemas.microsoft.com/office/drawing/2014/main" id="{FE94833C-9022-3293-0F61-06E91827BBFC}"/>
                </a:ext>
              </a:extLst>
            </p:cNvPr>
            <p:cNvSpPr/>
            <p:nvPr/>
          </p:nvSpPr>
          <p:spPr>
            <a:xfrm>
              <a:off x="393765" y="458890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0" name="Rectangle 60">
              <a:extLst>
                <a:ext uri="{FF2B5EF4-FFF2-40B4-BE49-F238E27FC236}">
                  <a16:creationId xmlns:a16="http://schemas.microsoft.com/office/drawing/2014/main" id="{C94BCB68-A00C-536A-3110-ED58C069CB30}"/>
                </a:ext>
              </a:extLst>
            </p:cNvPr>
            <p:cNvSpPr/>
            <p:nvPr/>
          </p:nvSpPr>
          <p:spPr>
            <a:xfrm>
              <a:off x="393765" y="466132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1" name="Rectangle 60">
              <a:extLst>
                <a:ext uri="{FF2B5EF4-FFF2-40B4-BE49-F238E27FC236}">
                  <a16:creationId xmlns:a16="http://schemas.microsoft.com/office/drawing/2014/main" id="{4488496B-8B58-5E79-AC75-4B23671D557B}"/>
                </a:ext>
              </a:extLst>
            </p:cNvPr>
            <p:cNvSpPr/>
            <p:nvPr/>
          </p:nvSpPr>
          <p:spPr>
            <a:xfrm>
              <a:off x="393765" y="473374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2" name="Rectangle 60">
              <a:extLst>
                <a:ext uri="{FF2B5EF4-FFF2-40B4-BE49-F238E27FC236}">
                  <a16:creationId xmlns:a16="http://schemas.microsoft.com/office/drawing/2014/main" id="{3F275552-3AFE-EBB4-3043-BA99EE4AF69D}"/>
                </a:ext>
              </a:extLst>
            </p:cNvPr>
            <p:cNvSpPr/>
            <p:nvPr/>
          </p:nvSpPr>
          <p:spPr>
            <a:xfrm>
              <a:off x="393765" y="480616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3" name="Rectangle 60">
              <a:extLst>
                <a:ext uri="{FF2B5EF4-FFF2-40B4-BE49-F238E27FC236}">
                  <a16:creationId xmlns:a16="http://schemas.microsoft.com/office/drawing/2014/main" id="{FA29C1EA-2B2F-91DC-EF26-B5EDD8E89C84}"/>
                </a:ext>
              </a:extLst>
            </p:cNvPr>
            <p:cNvSpPr/>
            <p:nvPr/>
          </p:nvSpPr>
          <p:spPr>
            <a:xfrm>
              <a:off x="393765" y="487858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34" name="Gruppieren 33">
            <a:extLst>
              <a:ext uri="{FF2B5EF4-FFF2-40B4-BE49-F238E27FC236}">
                <a16:creationId xmlns:a16="http://schemas.microsoft.com/office/drawing/2014/main" id="{D20524AB-C698-26C2-DFF9-1B2EC26D832E}"/>
              </a:ext>
            </a:extLst>
          </p:cNvPr>
          <p:cNvGrpSpPr/>
          <p:nvPr/>
        </p:nvGrpSpPr>
        <p:grpSpPr>
          <a:xfrm>
            <a:off x="5994230" y="1831716"/>
            <a:ext cx="1026092" cy="727252"/>
            <a:chOff x="393765" y="4226790"/>
            <a:chExt cx="1026092" cy="727252"/>
          </a:xfrm>
          <a:solidFill>
            <a:schemeClr val="accent6">
              <a:lumMod val="40000"/>
              <a:lumOff val="60000"/>
            </a:schemeClr>
          </a:solidFill>
        </p:grpSpPr>
        <p:sp>
          <p:nvSpPr>
            <p:cNvPr id="35" name="Rectangle 60">
              <a:extLst>
                <a:ext uri="{FF2B5EF4-FFF2-40B4-BE49-F238E27FC236}">
                  <a16:creationId xmlns:a16="http://schemas.microsoft.com/office/drawing/2014/main" id="{B79469A3-CD8A-702E-29B3-D44358ED65AB}"/>
                </a:ext>
              </a:extLst>
            </p:cNvPr>
            <p:cNvSpPr/>
            <p:nvPr/>
          </p:nvSpPr>
          <p:spPr>
            <a:xfrm>
              <a:off x="393765" y="422679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6" name="Rectangle 60">
              <a:extLst>
                <a:ext uri="{FF2B5EF4-FFF2-40B4-BE49-F238E27FC236}">
                  <a16:creationId xmlns:a16="http://schemas.microsoft.com/office/drawing/2014/main" id="{347B7F6D-FB89-34DD-63F7-F67A42985D73}"/>
                </a:ext>
              </a:extLst>
            </p:cNvPr>
            <p:cNvSpPr/>
            <p:nvPr/>
          </p:nvSpPr>
          <p:spPr>
            <a:xfrm>
              <a:off x="393765" y="429921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37" name="Rectangle 60">
              <a:extLst>
                <a:ext uri="{FF2B5EF4-FFF2-40B4-BE49-F238E27FC236}">
                  <a16:creationId xmlns:a16="http://schemas.microsoft.com/office/drawing/2014/main" id="{7C635905-CCDF-4285-673E-7BFFF6BABB93}"/>
                </a:ext>
              </a:extLst>
            </p:cNvPr>
            <p:cNvSpPr/>
            <p:nvPr/>
          </p:nvSpPr>
          <p:spPr>
            <a:xfrm>
              <a:off x="393765" y="437163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2" name="Rectangle 60">
              <a:extLst>
                <a:ext uri="{FF2B5EF4-FFF2-40B4-BE49-F238E27FC236}">
                  <a16:creationId xmlns:a16="http://schemas.microsoft.com/office/drawing/2014/main" id="{19E169B7-0B4F-E2A0-D6D6-004F34CE5976}"/>
                </a:ext>
              </a:extLst>
            </p:cNvPr>
            <p:cNvSpPr/>
            <p:nvPr/>
          </p:nvSpPr>
          <p:spPr>
            <a:xfrm>
              <a:off x="393765" y="444405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3" name="Rectangle 60">
              <a:extLst>
                <a:ext uri="{FF2B5EF4-FFF2-40B4-BE49-F238E27FC236}">
                  <a16:creationId xmlns:a16="http://schemas.microsoft.com/office/drawing/2014/main" id="{7CEC61C8-5735-EE39-CDE3-20E85CAAA2D5}"/>
                </a:ext>
              </a:extLst>
            </p:cNvPr>
            <p:cNvSpPr/>
            <p:nvPr/>
          </p:nvSpPr>
          <p:spPr>
            <a:xfrm>
              <a:off x="393765" y="451647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4" name="Rectangle 60">
              <a:extLst>
                <a:ext uri="{FF2B5EF4-FFF2-40B4-BE49-F238E27FC236}">
                  <a16:creationId xmlns:a16="http://schemas.microsoft.com/office/drawing/2014/main" id="{FB148D97-20F6-5D10-4263-341D51C469E3}"/>
                </a:ext>
              </a:extLst>
            </p:cNvPr>
            <p:cNvSpPr/>
            <p:nvPr/>
          </p:nvSpPr>
          <p:spPr>
            <a:xfrm>
              <a:off x="393765" y="4588900"/>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6" name="Rectangle 60">
              <a:extLst>
                <a:ext uri="{FF2B5EF4-FFF2-40B4-BE49-F238E27FC236}">
                  <a16:creationId xmlns:a16="http://schemas.microsoft.com/office/drawing/2014/main" id="{391EE52F-FE58-6643-0BA8-1AFD0884C323}"/>
                </a:ext>
              </a:extLst>
            </p:cNvPr>
            <p:cNvSpPr/>
            <p:nvPr/>
          </p:nvSpPr>
          <p:spPr>
            <a:xfrm>
              <a:off x="393765" y="4661322"/>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7" name="Rectangle 60">
              <a:extLst>
                <a:ext uri="{FF2B5EF4-FFF2-40B4-BE49-F238E27FC236}">
                  <a16:creationId xmlns:a16="http://schemas.microsoft.com/office/drawing/2014/main" id="{35931FD0-04C6-A002-70F6-CA0D221BB6E4}"/>
                </a:ext>
              </a:extLst>
            </p:cNvPr>
            <p:cNvSpPr/>
            <p:nvPr/>
          </p:nvSpPr>
          <p:spPr>
            <a:xfrm>
              <a:off x="393765" y="4733744"/>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8" name="Rectangle 60">
              <a:extLst>
                <a:ext uri="{FF2B5EF4-FFF2-40B4-BE49-F238E27FC236}">
                  <a16:creationId xmlns:a16="http://schemas.microsoft.com/office/drawing/2014/main" id="{1C982949-6B97-5F4B-3368-B7FB3BAB5981}"/>
                </a:ext>
              </a:extLst>
            </p:cNvPr>
            <p:cNvSpPr/>
            <p:nvPr/>
          </p:nvSpPr>
          <p:spPr>
            <a:xfrm>
              <a:off x="393765" y="4806166"/>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9" name="Rectangle 60">
              <a:extLst>
                <a:ext uri="{FF2B5EF4-FFF2-40B4-BE49-F238E27FC236}">
                  <a16:creationId xmlns:a16="http://schemas.microsoft.com/office/drawing/2014/main" id="{B4F9FCD3-34DF-1D0A-B3C3-78AC718A9391}"/>
                </a:ext>
              </a:extLst>
            </p:cNvPr>
            <p:cNvSpPr/>
            <p:nvPr/>
          </p:nvSpPr>
          <p:spPr>
            <a:xfrm>
              <a:off x="393765" y="4878588"/>
              <a:ext cx="1026092" cy="75454"/>
            </a:xfrm>
            <a:prstGeom prst="rect">
              <a:avLst/>
            </a:prstGeom>
            <a:grp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grpSp>
        <p:nvGrpSpPr>
          <p:cNvPr id="50" name="Gruppieren 49">
            <a:extLst>
              <a:ext uri="{FF2B5EF4-FFF2-40B4-BE49-F238E27FC236}">
                <a16:creationId xmlns:a16="http://schemas.microsoft.com/office/drawing/2014/main" id="{47F798F4-2C67-06F3-3373-CDF23531E3A8}"/>
              </a:ext>
            </a:extLst>
          </p:cNvPr>
          <p:cNvGrpSpPr/>
          <p:nvPr/>
        </p:nvGrpSpPr>
        <p:grpSpPr>
          <a:xfrm>
            <a:off x="5994230" y="2581501"/>
            <a:ext cx="1026092" cy="727252"/>
            <a:chOff x="393765" y="4226790"/>
            <a:chExt cx="1026092" cy="727252"/>
          </a:xfrm>
        </p:grpSpPr>
        <p:sp>
          <p:nvSpPr>
            <p:cNvPr id="51" name="Rectangle 60">
              <a:extLst>
                <a:ext uri="{FF2B5EF4-FFF2-40B4-BE49-F238E27FC236}">
                  <a16:creationId xmlns:a16="http://schemas.microsoft.com/office/drawing/2014/main" id="{B0B1CE38-874A-454E-AA7C-3086C007EDCD}"/>
                </a:ext>
              </a:extLst>
            </p:cNvPr>
            <p:cNvSpPr/>
            <p:nvPr/>
          </p:nvSpPr>
          <p:spPr>
            <a:xfrm>
              <a:off x="393765" y="422679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2" name="Rectangle 60">
              <a:extLst>
                <a:ext uri="{FF2B5EF4-FFF2-40B4-BE49-F238E27FC236}">
                  <a16:creationId xmlns:a16="http://schemas.microsoft.com/office/drawing/2014/main" id="{7D1AFD48-6ABE-BAA7-DA30-4EC5797F1764}"/>
                </a:ext>
              </a:extLst>
            </p:cNvPr>
            <p:cNvSpPr/>
            <p:nvPr/>
          </p:nvSpPr>
          <p:spPr>
            <a:xfrm>
              <a:off x="393765" y="429921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3" name="Rectangle 60">
              <a:extLst>
                <a:ext uri="{FF2B5EF4-FFF2-40B4-BE49-F238E27FC236}">
                  <a16:creationId xmlns:a16="http://schemas.microsoft.com/office/drawing/2014/main" id="{374808FD-C2F0-FCA4-AB7E-684C937D90C1}"/>
                </a:ext>
              </a:extLst>
            </p:cNvPr>
            <p:cNvSpPr/>
            <p:nvPr/>
          </p:nvSpPr>
          <p:spPr>
            <a:xfrm>
              <a:off x="393765" y="437163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58" name="Rectangle 60">
              <a:extLst>
                <a:ext uri="{FF2B5EF4-FFF2-40B4-BE49-F238E27FC236}">
                  <a16:creationId xmlns:a16="http://schemas.microsoft.com/office/drawing/2014/main" id="{E16C95E3-618D-C09D-62D9-EF9386C2E713}"/>
                </a:ext>
              </a:extLst>
            </p:cNvPr>
            <p:cNvSpPr/>
            <p:nvPr/>
          </p:nvSpPr>
          <p:spPr>
            <a:xfrm>
              <a:off x="393765" y="4444056"/>
              <a:ext cx="1026092" cy="75454"/>
            </a:xfrm>
            <a:prstGeom prst="rect">
              <a:avLst/>
            </a:prstGeom>
            <a:solidFill>
              <a:srgbClr val="FF0000"/>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2" name="Rectangle 60">
              <a:extLst>
                <a:ext uri="{FF2B5EF4-FFF2-40B4-BE49-F238E27FC236}">
                  <a16:creationId xmlns:a16="http://schemas.microsoft.com/office/drawing/2014/main" id="{F61EFF35-71C7-3E48-7316-ABBC3F1F17BE}"/>
                </a:ext>
              </a:extLst>
            </p:cNvPr>
            <p:cNvSpPr/>
            <p:nvPr/>
          </p:nvSpPr>
          <p:spPr>
            <a:xfrm>
              <a:off x="393765" y="451647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63" name="Rectangle 60">
              <a:extLst>
                <a:ext uri="{FF2B5EF4-FFF2-40B4-BE49-F238E27FC236}">
                  <a16:creationId xmlns:a16="http://schemas.microsoft.com/office/drawing/2014/main" id="{7764E26A-6A4D-E002-40E2-1FFD09ABE062}"/>
                </a:ext>
              </a:extLst>
            </p:cNvPr>
            <p:cNvSpPr/>
            <p:nvPr/>
          </p:nvSpPr>
          <p:spPr>
            <a:xfrm>
              <a:off x="393765" y="4588900"/>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6" name="Rectangle 60">
              <a:extLst>
                <a:ext uri="{FF2B5EF4-FFF2-40B4-BE49-F238E27FC236}">
                  <a16:creationId xmlns:a16="http://schemas.microsoft.com/office/drawing/2014/main" id="{8D044E22-751C-FAE1-AB7E-1D7EC892F279}"/>
                </a:ext>
              </a:extLst>
            </p:cNvPr>
            <p:cNvSpPr/>
            <p:nvPr/>
          </p:nvSpPr>
          <p:spPr>
            <a:xfrm>
              <a:off x="393765" y="4661322"/>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7" name="Rectangle 60">
              <a:extLst>
                <a:ext uri="{FF2B5EF4-FFF2-40B4-BE49-F238E27FC236}">
                  <a16:creationId xmlns:a16="http://schemas.microsoft.com/office/drawing/2014/main" id="{2D990157-CBC5-FD56-E638-03EE7BF73791}"/>
                </a:ext>
              </a:extLst>
            </p:cNvPr>
            <p:cNvSpPr/>
            <p:nvPr/>
          </p:nvSpPr>
          <p:spPr>
            <a:xfrm>
              <a:off x="393765" y="4733744"/>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8" name="Rectangle 60">
              <a:extLst>
                <a:ext uri="{FF2B5EF4-FFF2-40B4-BE49-F238E27FC236}">
                  <a16:creationId xmlns:a16="http://schemas.microsoft.com/office/drawing/2014/main" id="{4EFB177F-79AC-5446-D6BA-1E33106EED05}"/>
                </a:ext>
              </a:extLst>
            </p:cNvPr>
            <p:cNvSpPr/>
            <p:nvPr/>
          </p:nvSpPr>
          <p:spPr>
            <a:xfrm>
              <a:off x="393765" y="4806166"/>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4099" name="Rectangle 60">
              <a:extLst>
                <a:ext uri="{FF2B5EF4-FFF2-40B4-BE49-F238E27FC236}">
                  <a16:creationId xmlns:a16="http://schemas.microsoft.com/office/drawing/2014/main" id="{F5C8CFFF-5338-34AC-7475-589B777E60B1}"/>
                </a:ext>
              </a:extLst>
            </p:cNvPr>
            <p:cNvSpPr/>
            <p:nvPr/>
          </p:nvSpPr>
          <p:spPr>
            <a:xfrm>
              <a:off x="393765" y="4878588"/>
              <a:ext cx="1026092" cy="75454"/>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grpSp>
      <p:sp>
        <p:nvSpPr>
          <p:cNvPr id="4102" name="TextBox 37">
            <a:extLst>
              <a:ext uri="{FF2B5EF4-FFF2-40B4-BE49-F238E27FC236}">
                <a16:creationId xmlns:a16="http://schemas.microsoft.com/office/drawing/2014/main" id="{610D07CB-63D5-FEF9-B444-3E5BA0A1458E}"/>
              </a:ext>
            </a:extLst>
          </p:cNvPr>
          <p:cNvSpPr txBox="1"/>
          <p:nvPr/>
        </p:nvSpPr>
        <p:spPr>
          <a:xfrm>
            <a:off x="7072733" y="1659093"/>
            <a:ext cx="5245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7030A0"/>
                </a:solidFill>
                <a:effectLst/>
                <a:uLnTx/>
                <a:uFillTx/>
                <a:latin typeface="Helvetica" charset="0"/>
                <a:ea typeface="+mn-ea"/>
                <a:cs typeface="+mn-cs"/>
              </a:rPr>
              <a:t>f=0</a:t>
            </a:r>
          </a:p>
        </p:txBody>
      </p:sp>
      <p:sp>
        <p:nvSpPr>
          <p:cNvPr id="4103" name="TextBox 37">
            <a:extLst>
              <a:ext uri="{FF2B5EF4-FFF2-40B4-BE49-F238E27FC236}">
                <a16:creationId xmlns:a16="http://schemas.microsoft.com/office/drawing/2014/main" id="{8C470978-D337-1A11-1D24-0CB15148A309}"/>
              </a:ext>
            </a:extLst>
          </p:cNvPr>
          <p:cNvSpPr txBox="1"/>
          <p:nvPr/>
        </p:nvSpPr>
        <p:spPr>
          <a:xfrm>
            <a:off x="7072733" y="2403310"/>
            <a:ext cx="524503"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i="0" u="none" strike="noStrike" kern="1200" cap="none" spc="0" normalizeH="0" baseline="0" noProof="0" dirty="0">
                <a:ln>
                  <a:noFill/>
                </a:ln>
                <a:solidFill>
                  <a:srgbClr val="7030A0"/>
                </a:solidFill>
                <a:effectLst/>
                <a:uLnTx/>
                <a:uFillTx/>
                <a:latin typeface="Helvetica" charset="0"/>
                <a:ea typeface="+mn-ea"/>
                <a:cs typeface="+mn-cs"/>
              </a:rPr>
              <a:t>f=1</a:t>
            </a:r>
          </a:p>
        </p:txBody>
      </p:sp>
      <p:sp>
        <p:nvSpPr>
          <p:cNvPr id="4104" name="Rechteckige Legende 13">
            <a:extLst>
              <a:ext uri="{FF2B5EF4-FFF2-40B4-BE49-F238E27FC236}">
                <a16:creationId xmlns:a16="http://schemas.microsoft.com/office/drawing/2014/main" id="{F2DCFF06-5A58-9565-391D-31CD8F8D030E}"/>
              </a:ext>
            </a:extLst>
          </p:cNvPr>
          <p:cNvSpPr/>
          <p:nvPr/>
        </p:nvSpPr>
        <p:spPr>
          <a:xfrm>
            <a:off x="349726" y="3141151"/>
            <a:ext cx="1638976" cy="392202"/>
          </a:xfrm>
          <a:prstGeom prst="wedgeRectCallout">
            <a:avLst>
              <a:gd name="adj1" fmla="val -6995"/>
              <a:gd name="adj2" fmla="val -127135"/>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FF0000"/>
                </a:solidFill>
                <a:effectLst/>
                <a:uLnTx/>
                <a:uFillTx/>
                <a:latin typeface="Arial"/>
                <a:ea typeface="+mn-ea"/>
                <a:cs typeface="+mn-cs"/>
              </a:rPr>
              <a:t>Seiten</a:t>
            </a:r>
            <a:r>
              <a:rPr kumimoji="0" lang="en-US" sz="1800" b="0" i="0" u="none" strike="noStrike" kern="1200" cap="none" spc="0" normalizeH="0" baseline="0" noProof="0" dirty="0" err="1">
                <a:ln>
                  <a:noFill/>
                </a:ln>
                <a:solidFill>
                  <a:prstClr val="black"/>
                </a:solidFill>
                <a:effectLst/>
                <a:uLnTx/>
                <a:uFillTx/>
                <a:latin typeface="Arial"/>
                <a:ea typeface="+mn-ea"/>
                <a:cs typeface="+mn-cs"/>
              </a:rPr>
              <a:t>index</a:t>
            </a:r>
            <a:r>
              <a:rPr kumimoji="0" lang="en-US" sz="1800" b="0" i="0" u="none" strike="noStrike" kern="1200" cap="none" spc="0" normalizeH="0" baseline="0" noProof="0" dirty="0">
                <a:ln>
                  <a:noFill/>
                </a:ln>
                <a:solidFill>
                  <a:prstClr val="black"/>
                </a:solidFill>
                <a:effectLst/>
                <a:uLnTx/>
                <a:uFillTx/>
                <a:latin typeface="Arial"/>
                <a:ea typeface="+mn-ea"/>
                <a:cs typeface="+mn-cs"/>
              </a:rPr>
              <a:t> </a:t>
            </a:r>
            <a:r>
              <a:rPr kumimoji="0" lang="en-US" sz="1800" b="1" i="0" u="none" strike="noStrike" kern="1200" cap="none" spc="0" normalizeH="0" baseline="0" noProof="0" dirty="0">
                <a:ln>
                  <a:noFill/>
                </a:ln>
                <a:solidFill>
                  <a:srgbClr val="FF0000"/>
                </a:solidFill>
                <a:effectLst/>
                <a:uLnTx/>
                <a:uFillTx/>
                <a:latin typeface="Arial"/>
                <a:ea typeface="+mn-ea"/>
                <a:cs typeface="+mn-cs"/>
              </a:rPr>
              <a:t>p</a:t>
            </a:r>
          </a:p>
        </p:txBody>
      </p:sp>
      <p:sp>
        <p:nvSpPr>
          <p:cNvPr id="4105" name="Rechteckige Legende 84">
            <a:extLst>
              <a:ext uri="{FF2B5EF4-FFF2-40B4-BE49-F238E27FC236}">
                <a16:creationId xmlns:a16="http://schemas.microsoft.com/office/drawing/2014/main" id="{A8FA9C8E-E937-94B7-D9C2-06696E53D334}"/>
              </a:ext>
            </a:extLst>
          </p:cNvPr>
          <p:cNvSpPr/>
          <p:nvPr/>
        </p:nvSpPr>
        <p:spPr>
          <a:xfrm>
            <a:off x="7740352" y="2674540"/>
            <a:ext cx="1340600" cy="726427"/>
          </a:xfrm>
          <a:prstGeom prst="wedgeRectCallout">
            <a:avLst>
              <a:gd name="adj1" fmla="val -68722"/>
              <a:gd name="adj2" fmla="val -41518"/>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7030A0"/>
                </a:solidFill>
                <a:effectLst/>
                <a:uLnTx/>
                <a:uFillTx/>
                <a:latin typeface="Arial"/>
                <a:ea typeface="+mn-ea"/>
                <a:cs typeface="+mn-cs"/>
              </a:rPr>
              <a:t>Rahmen</a:t>
            </a:r>
            <a:r>
              <a:rPr kumimoji="0" lang="en-US" sz="1800" b="1" i="0" u="none" strike="noStrike" kern="1200" cap="none" spc="0" normalizeH="0" baseline="0" noProof="0" dirty="0">
                <a:ln>
                  <a:noFill/>
                </a:ln>
                <a:solidFill>
                  <a:srgbClr val="7030A0"/>
                </a:solidFill>
                <a:effectLst/>
                <a:uLnTx/>
                <a:uFillTx/>
                <a:latin typeface="Arial"/>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index </a:t>
            </a:r>
            <a:r>
              <a:rPr kumimoji="0" lang="en-US" sz="1800" i="0" u="none" strike="noStrike" kern="1200" cap="none" spc="0" normalizeH="0" baseline="0" noProof="0" dirty="0">
                <a:ln>
                  <a:noFill/>
                </a:ln>
                <a:solidFill>
                  <a:srgbClr val="7030A0"/>
                </a:solidFill>
                <a:effectLst/>
                <a:uLnTx/>
                <a:uFillTx/>
                <a:latin typeface="Arial"/>
                <a:ea typeface="+mn-ea"/>
                <a:cs typeface="+mn-cs"/>
              </a:rPr>
              <a:t>f</a:t>
            </a:r>
          </a:p>
        </p:txBody>
      </p:sp>
      <p:sp>
        <p:nvSpPr>
          <p:cNvPr id="4106" name="Rechteck 4105">
            <a:extLst>
              <a:ext uri="{FF2B5EF4-FFF2-40B4-BE49-F238E27FC236}">
                <a16:creationId xmlns:a16="http://schemas.microsoft.com/office/drawing/2014/main" id="{856C2FA4-A877-3914-129D-4B10974F7E52}"/>
              </a:ext>
            </a:extLst>
          </p:cNvPr>
          <p:cNvSpPr/>
          <p:nvPr/>
        </p:nvSpPr>
        <p:spPr>
          <a:xfrm>
            <a:off x="3322525" y="1677083"/>
            <a:ext cx="2039341" cy="584775"/>
          </a:xfrm>
          <a:prstGeom prst="rect">
            <a:avLst/>
          </a:prstGeom>
        </p:spPr>
        <p:style>
          <a:lnRef idx="2">
            <a:schemeClr val="dk1"/>
          </a:lnRef>
          <a:fillRef idx="1">
            <a:schemeClr val="lt1"/>
          </a:fillRef>
          <a:effectRef idx="0">
            <a:schemeClr val="dk1"/>
          </a:effectRef>
          <a:fontRef idx="minor">
            <a:schemeClr val="dk1"/>
          </a:fontRef>
        </p:style>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err="1">
                <a:ln>
                  <a:noFill/>
                </a:ln>
                <a:solidFill>
                  <a:prstClr val="black"/>
                </a:solidFill>
                <a:effectLst/>
                <a:uLnTx/>
                <a:uFillTx/>
                <a:latin typeface="Arial"/>
                <a:ea typeface="+mn-ea"/>
                <a:cs typeface="+mn-cs"/>
              </a:rPr>
              <a:t>F</a:t>
            </a:r>
            <a:r>
              <a:rPr kumimoji="0" lang="de-DE" sz="3200" b="1" i="0" u="none" strike="noStrike" kern="1200" cap="none" spc="0" normalizeH="0" baseline="-25000" noProof="0" dirty="0" err="1">
                <a:ln>
                  <a:noFill/>
                </a:ln>
                <a:solidFill>
                  <a:prstClr val="black"/>
                </a:solidFill>
                <a:effectLst/>
                <a:uLnTx/>
                <a:uFillTx/>
                <a:latin typeface="Arial"/>
                <a:ea typeface="+mn-ea"/>
                <a:cs typeface="+mn-cs"/>
              </a:rPr>
              <a:t>pid</a:t>
            </a:r>
            <a:r>
              <a:rPr kumimoji="0" lang="de-DE" sz="3200" b="1" i="0" u="none" strike="noStrike" kern="1200" cap="none" spc="0" normalizeH="0" baseline="0" noProof="0" dirty="0">
                <a:ln>
                  <a:noFill/>
                </a:ln>
                <a:solidFill>
                  <a:prstClr val="black"/>
                </a:solidFill>
                <a:effectLst/>
                <a:uLnTx/>
                <a:uFillTx/>
                <a:latin typeface="Arial"/>
                <a:ea typeface="+mn-ea"/>
                <a:cs typeface="+mn-cs"/>
              </a:rPr>
              <a:t>(</a:t>
            </a:r>
            <a:r>
              <a:rPr kumimoji="0" lang="de-DE" sz="3200" b="1" i="0" u="none" strike="noStrike" kern="1200" cap="none" spc="0" normalizeH="0" baseline="0" noProof="0" dirty="0">
                <a:ln>
                  <a:noFill/>
                </a:ln>
                <a:solidFill>
                  <a:srgbClr val="FF0000"/>
                </a:solidFill>
                <a:effectLst/>
                <a:uLnTx/>
                <a:uFillTx/>
                <a:latin typeface="Arial"/>
                <a:ea typeface="+mn-ea"/>
                <a:cs typeface="+mn-cs"/>
              </a:rPr>
              <a:t>0</a:t>
            </a:r>
            <a:r>
              <a:rPr kumimoji="0" lang="de-DE" sz="3200" b="1" i="0" u="none" strike="noStrike" kern="1200" cap="none" spc="0" normalizeH="0" baseline="0" noProof="0" dirty="0">
                <a:ln>
                  <a:noFill/>
                </a:ln>
                <a:solidFill>
                  <a:prstClr val="black"/>
                </a:solidFill>
                <a:effectLst/>
                <a:uLnTx/>
                <a:uFillTx/>
                <a:latin typeface="Arial"/>
                <a:ea typeface="+mn-ea"/>
                <a:cs typeface="+mn-cs"/>
              </a:rPr>
              <a:t>) = </a:t>
            </a:r>
            <a:r>
              <a:rPr kumimoji="0" lang="de-DE" sz="3200" b="1" i="0" u="none" strike="noStrike" kern="1200" cap="none" spc="0" normalizeH="0" baseline="0" noProof="0" dirty="0">
                <a:ln>
                  <a:noFill/>
                </a:ln>
                <a:solidFill>
                  <a:srgbClr val="0070C0"/>
                </a:solidFill>
                <a:effectLst/>
                <a:uLnTx/>
                <a:uFillTx/>
                <a:latin typeface="Arial"/>
                <a:ea typeface="+mn-ea"/>
                <a:cs typeface="+mn-cs"/>
              </a:rPr>
              <a:t>1</a:t>
            </a:r>
          </a:p>
        </p:txBody>
      </p:sp>
      <p:sp>
        <p:nvSpPr>
          <p:cNvPr id="5" name="Textfeld 4">
            <a:extLst>
              <a:ext uri="{FF2B5EF4-FFF2-40B4-BE49-F238E27FC236}">
                <a16:creationId xmlns:a16="http://schemas.microsoft.com/office/drawing/2014/main" id="{35E6FD59-A565-B69F-3AEC-A1BC0FB618D0}"/>
              </a:ext>
            </a:extLst>
          </p:cNvPr>
          <p:cNvSpPr txBox="1"/>
          <p:nvPr/>
        </p:nvSpPr>
        <p:spPr>
          <a:xfrm>
            <a:off x="2695139" y="3164863"/>
            <a:ext cx="3294112" cy="369332"/>
          </a:xfrm>
          <a:prstGeom prst="rect">
            <a:avLst/>
          </a:prstGeom>
          <a:noFill/>
        </p:spPr>
        <p:txBody>
          <a:bodyPr wrap="square">
            <a:spAutoFit/>
          </a:bodyPr>
          <a:lstStyle/>
          <a:p>
            <a:r>
              <a:rPr lang="de-DE" dirty="0"/>
              <a:t>la=3,  Seitengröße=10, </a:t>
            </a:r>
            <a:r>
              <a:rPr lang="de-DE" dirty="0" err="1"/>
              <a:t>pa</a:t>
            </a:r>
            <a:r>
              <a:rPr lang="de-DE" dirty="0"/>
              <a:t>=13</a:t>
            </a:r>
          </a:p>
        </p:txBody>
      </p:sp>
    </p:spTree>
    <p:extLst>
      <p:ext uri="{BB962C8B-B14F-4D97-AF65-F5344CB8AC3E}">
        <p14:creationId xmlns:p14="http://schemas.microsoft.com/office/powerpoint/2010/main" val="105350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xEl>
                                              <p:pRg st="0" end="0"/>
                                            </p:txEl>
                                          </p:spTgt>
                                        </p:tgtEl>
                                        <p:attrNameLst>
                                          <p:attrName>style.visibility</p:attrName>
                                        </p:attrNameLst>
                                      </p:cBhvr>
                                      <p:to>
                                        <p:strVal val="visible"/>
                                      </p:to>
                                    </p:set>
                                    <p:animEffect transition="in" filter="fade">
                                      <p:cBhvr>
                                        <p:cTn id="7" dur="500"/>
                                        <p:tgtEl>
                                          <p:spTgt spid="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1" end="1"/>
                                            </p:txEl>
                                          </p:spTgt>
                                        </p:tgtEl>
                                        <p:attrNameLst>
                                          <p:attrName>style.visibility</p:attrName>
                                        </p:attrNameLst>
                                      </p:cBhvr>
                                      <p:to>
                                        <p:strVal val="visible"/>
                                      </p:to>
                                    </p:set>
                                    <p:animEffect transition="in" filter="fade">
                                      <p:cBhvr>
                                        <p:cTn id="12" dur="500"/>
                                        <p:tgtEl>
                                          <p:spTgt spid="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Adressenübersetzung mit Zweierpotenzen/1</a:t>
            </a:r>
          </a:p>
        </p:txBody>
      </p:sp>
      <p:sp>
        <p:nvSpPr>
          <p:cNvPr id="3" name="Inhaltsplatzhalter 2"/>
          <p:cNvSpPr>
            <a:spLocks noGrp="1"/>
          </p:cNvSpPr>
          <p:nvPr>
            <p:ph sz="quarter" idx="1"/>
          </p:nvPr>
        </p:nvSpPr>
        <p:spPr>
          <a:xfrm>
            <a:off x="457200" y="1219199"/>
            <a:ext cx="8435280" cy="3684901"/>
          </a:xfrm>
        </p:spPr>
        <p:txBody>
          <a:bodyPr>
            <a:normAutofit lnSpcReduction="10000"/>
          </a:bodyPr>
          <a:lstStyle/>
          <a:p>
            <a:r>
              <a:rPr lang="de-DE" dirty="0"/>
              <a:t>Der Kern des Pagings ist die </a:t>
            </a:r>
            <a:r>
              <a:rPr lang="de-DE" u="sng" dirty="0"/>
              <a:t>Adressübersetzung</a:t>
            </a:r>
          </a:p>
          <a:p>
            <a:r>
              <a:rPr lang="de-DE" dirty="0"/>
              <a:t>Dazu wird eine von der CPU erzeugte Adresse (logische Adresse) „konzeptionell“ unterteilt in</a:t>
            </a:r>
          </a:p>
          <a:p>
            <a:pPr lvl="1"/>
            <a:r>
              <a:rPr lang="de-DE" b="1" dirty="0">
                <a:solidFill>
                  <a:srgbClr val="FF0000"/>
                </a:solidFill>
              </a:rPr>
              <a:t>Seitennummer </a:t>
            </a:r>
            <a:r>
              <a:rPr lang="de-DE" dirty="0">
                <a:solidFill>
                  <a:schemeClr val="tx1"/>
                </a:solidFill>
              </a:rPr>
              <a:t>bzw.</a:t>
            </a:r>
            <a:r>
              <a:rPr lang="de-DE" b="1" dirty="0">
                <a:solidFill>
                  <a:srgbClr val="FF0000"/>
                </a:solidFill>
              </a:rPr>
              <a:t> Seitenindex</a:t>
            </a:r>
            <a:r>
              <a:rPr lang="de-DE" dirty="0"/>
              <a:t> (</a:t>
            </a:r>
            <a:r>
              <a:rPr lang="de-DE" b="1" dirty="0">
                <a:solidFill>
                  <a:srgbClr val="FF0000"/>
                </a:solidFill>
              </a:rPr>
              <a:t>page number</a:t>
            </a:r>
            <a:r>
              <a:rPr lang="de-DE" dirty="0"/>
              <a:t>) </a:t>
            </a:r>
            <a:r>
              <a:rPr lang="de-DE" b="1" dirty="0">
                <a:solidFill>
                  <a:srgbClr val="0070C0"/>
                </a:solidFill>
              </a:rPr>
              <a:t>p </a:t>
            </a:r>
            <a:r>
              <a:rPr lang="de-DE" dirty="0">
                <a:solidFill>
                  <a:schemeClr val="tx1"/>
                </a:solidFill>
              </a:rPr>
              <a:t> </a:t>
            </a:r>
          </a:p>
          <a:p>
            <a:pPr lvl="2"/>
            <a:r>
              <a:rPr lang="de-DE" dirty="0"/>
              <a:t>O</a:t>
            </a:r>
            <a:r>
              <a:rPr lang="de-DE" dirty="0">
                <a:solidFill>
                  <a:schemeClr val="tx1"/>
                </a:solidFill>
              </a:rPr>
              <a:t>bere Bits der logischen Adresse</a:t>
            </a:r>
          </a:p>
          <a:p>
            <a:pPr lvl="1"/>
            <a:r>
              <a:rPr lang="de-DE" b="1" dirty="0">
                <a:solidFill>
                  <a:srgbClr val="FFC000"/>
                </a:solidFill>
              </a:rPr>
              <a:t>Seitenoffset</a:t>
            </a:r>
            <a:r>
              <a:rPr lang="de-DE" dirty="0">
                <a:solidFill>
                  <a:srgbClr val="FFC000"/>
                </a:solidFill>
              </a:rPr>
              <a:t> </a:t>
            </a:r>
            <a:r>
              <a:rPr lang="de-DE" dirty="0"/>
              <a:t>(</a:t>
            </a:r>
            <a:r>
              <a:rPr lang="de-DE" b="1" dirty="0">
                <a:solidFill>
                  <a:srgbClr val="FF0000"/>
                </a:solidFill>
              </a:rPr>
              <a:t>page offset</a:t>
            </a:r>
            <a:r>
              <a:rPr lang="de-DE" dirty="0"/>
              <a:t>) </a:t>
            </a:r>
            <a:r>
              <a:rPr lang="de-DE" b="1" dirty="0">
                <a:solidFill>
                  <a:srgbClr val="0070C0"/>
                </a:solidFill>
              </a:rPr>
              <a:t>d</a:t>
            </a:r>
            <a:r>
              <a:rPr lang="de-DE" b="1" dirty="0"/>
              <a:t> </a:t>
            </a:r>
            <a:endParaRPr lang="de-DE" dirty="0">
              <a:solidFill>
                <a:schemeClr val="tx1"/>
              </a:solidFill>
            </a:endParaRPr>
          </a:p>
          <a:p>
            <a:pPr lvl="2"/>
            <a:r>
              <a:rPr lang="de-DE" dirty="0">
                <a:solidFill>
                  <a:schemeClr val="tx1"/>
                </a:solidFill>
              </a:rPr>
              <a:t>Untere Bits der log. Adresse)</a:t>
            </a:r>
            <a:endParaRPr lang="de-DE" dirty="0"/>
          </a:p>
          <a:p>
            <a:r>
              <a:rPr lang="de-DE" dirty="0"/>
              <a:t>Bei Adressraum der Größe 2</a:t>
            </a:r>
            <a:r>
              <a:rPr lang="de-DE" baseline="30000" dirty="0"/>
              <a:t>m</a:t>
            </a:r>
            <a:r>
              <a:rPr lang="de-DE" dirty="0"/>
              <a:t> und 2</a:t>
            </a:r>
            <a:r>
              <a:rPr lang="de-DE" baseline="30000" dirty="0"/>
              <a:t>n</a:t>
            </a:r>
            <a:r>
              <a:rPr lang="de-DE" dirty="0"/>
              <a:t>  als Größe einer Seite haben wir:</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11</a:t>
            </a:fld>
            <a:endParaRPr lang="en-US" noProof="0" dirty="0"/>
          </a:p>
        </p:txBody>
      </p:sp>
      <p:grpSp>
        <p:nvGrpSpPr>
          <p:cNvPr id="25" name="Group 24"/>
          <p:cNvGrpSpPr/>
          <p:nvPr/>
        </p:nvGrpSpPr>
        <p:grpSpPr>
          <a:xfrm>
            <a:off x="2627784" y="4653136"/>
            <a:ext cx="3554279" cy="1997697"/>
            <a:chOff x="3630332" y="4207136"/>
            <a:chExt cx="3554279" cy="1997697"/>
          </a:xfrm>
        </p:grpSpPr>
        <p:grpSp>
          <p:nvGrpSpPr>
            <p:cNvPr id="15" name="Gruppieren 14"/>
            <p:cNvGrpSpPr/>
            <p:nvPr/>
          </p:nvGrpSpPr>
          <p:grpSpPr>
            <a:xfrm>
              <a:off x="3630332" y="5007413"/>
              <a:ext cx="3554279" cy="1197420"/>
              <a:chOff x="728201" y="5232925"/>
              <a:chExt cx="3666859" cy="1514009"/>
            </a:xfrm>
          </p:grpSpPr>
          <p:grpSp>
            <p:nvGrpSpPr>
              <p:cNvPr id="16" name="Gruppieren 15"/>
              <p:cNvGrpSpPr/>
              <p:nvPr/>
            </p:nvGrpSpPr>
            <p:grpSpPr>
              <a:xfrm>
                <a:off x="728201" y="5232925"/>
                <a:ext cx="3666859" cy="1048653"/>
                <a:chOff x="2384385" y="5232925"/>
                <a:chExt cx="3666859" cy="1048653"/>
              </a:xfrm>
            </p:grpSpPr>
            <p:sp>
              <p:nvSpPr>
                <p:cNvPr id="19" name="Rectangle 1028"/>
                <p:cNvSpPr>
                  <a:spLocks noChangeArrowheads="1"/>
                </p:cNvSpPr>
                <p:nvPr/>
              </p:nvSpPr>
              <p:spPr bwMode="auto">
                <a:xfrm>
                  <a:off x="2722439" y="5788124"/>
                  <a:ext cx="3105150" cy="438150"/>
                </a:xfrm>
                <a:prstGeom prst="rect">
                  <a:avLst/>
                </a:prstGeom>
                <a:solidFill>
                  <a:schemeClr val="bg1"/>
                </a:solidFill>
                <a:ln w="28575">
                  <a:solidFill>
                    <a:schemeClr val="tx1"/>
                  </a:solidFill>
                  <a:miter lim="800000"/>
                  <a:headEnd/>
                  <a:tailEnd/>
                </a:ln>
              </p:spPr>
              <p:txBody>
                <a:bodyPr wrap="none" anchor="ctr"/>
                <a:lstStyle/>
                <a:p>
                  <a:endParaRPr lang="de-DE" sz="2000"/>
                </a:p>
              </p:txBody>
            </p:sp>
            <p:sp>
              <p:nvSpPr>
                <p:cNvPr id="20" name="Line 1030"/>
                <p:cNvSpPr>
                  <a:spLocks noChangeShapeType="1"/>
                </p:cNvSpPr>
                <p:nvPr/>
              </p:nvSpPr>
              <p:spPr bwMode="auto">
                <a:xfrm>
                  <a:off x="4355976" y="5445224"/>
                  <a:ext cx="0" cy="762000"/>
                </a:xfrm>
                <a:prstGeom prst="line">
                  <a:avLst/>
                </a:prstGeom>
                <a:noFill/>
                <a:ln w="28575">
                  <a:solidFill>
                    <a:schemeClr val="tx1"/>
                  </a:solidFill>
                  <a:round/>
                  <a:headEnd/>
                  <a:tailEnd/>
                </a:ln>
              </p:spPr>
              <p:txBody>
                <a:bodyPr wrap="none" anchor="ctr"/>
                <a:lstStyle/>
                <a:p>
                  <a:endParaRPr lang="de-DE" sz="2000"/>
                </a:p>
              </p:txBody>
            </p:sp>
            <p:sp>
              <p:nvSpPr>
                <p:cNvPr id="21" name="Text Box 1031"/>
                <p:cNvSpPr txBox="1">
                  <a:spLocks noChangeArrowheads="1"/>
                </p:cNvSpPr>
                <p:nvPr/>
              </p:nvSpPr>
              <p:spPr bwMode="auto">
                <a:xfrm>
                  <a:off x="2384385" y="5232925"/>
                  <a:ext cx="2027862" cy="505896"/>
                </a:xfrm>
                <a:prstGeom prst="rect">
                  <a:avLst/>
                </a:prstGeom>
                <a:noFill/>
                <a:ln w="9525">
                  <a:noFill/>
                  <a:miter lim="800000"/>
                  <a:headEnd/>
                  <a:tailEnd/>
                </a:ln>
              </p:spPr>
              <p:txBody>
                <a:bodyPr wrap="none" anchor="ctr">
                  <a:spAutoFit/>
                </a:bodyPr>
                <a:lstStyle/>
                <a:p>
                  <a:pPr algn="ctr">
                    <a:spcBef>
                      <a:spcPct val="50000"/>
                    </a:spcBef>
                  </a:pPr>
                  <a:r>
                    <a:rPr lang="de-DE" sz="2000" b="1" dirty="0">
                      <a:solidFill>
                        <a:srgbClr val="FF0000"/>
                      </a:solidFill>
                      <a:latin typeface="Helvetica" charset="0"/>
                    </a:rPr>
                    <a:t>Seitennummer</a:t>
                  </a:r>
                </a:p>
              </p:txBody>
            </p:sp>
            <p:sp>
              <p:nvSpPr>
                <p:cNvPr id="22" name="Text Box 1032"/>
                <p:cNvSpPr txBox="1">
                  <a:spLocks noChangeArrowheads="1"/>
                </p:cNvSpPr>
                <p:nvPr/>
              </p:nvSpPr>
              <p:spPr bwMode="auto">
                <a:xfrm>
                  <a:off x="4347522" y="5232926"/>
                  <a:ext cx="1703722" cy="505896"/>
                </a:xfrm>
                <a:prstGeom prst="rect">
                  <a:avLst/>
                </a:prstGeom>
                <a:noFill/>
                <a:ln w="9525">
                  <a:noFill/>
                  <a:miter lim="800000"/>
                  <a:headEnd/>
                  <a:tailEnd/>
                </a:ln>
              </p:spPr>
              <p:txBody>
                <a:bodyPr wrap="none" anchor="ctr">
                  <a:spAutoFit/>
                </a:bodyPr>
                <a:lstStyle/>
                <a:p>
                  <a:pPr algn="ctr">
                    <a:spcBef>
                      <a:spcPct val="50000"/>
                    </a:spcBef>
                  </a:pPr>
                  <a:r>
                    <a:rPr lang="de-DE" sz="2000" b="1" dirty="0">
                      <a:solidFill>
                        <a:srgbClr val="FFC000"/>
                      </a:solidFill>
                      <a:latin typeface="Helvetica" charset="0"/>
                    </a:rPr>
                    <a:t>Seitenoffset</a:t>
                  </a:r>
                </a:p>
              </p:txBody>
            </p:sp>
            <p:sp>
              <p:nvSpPr>
                <p:cNvPr id="23" name="Text Box 1033"/>
                <p:cNvSpPr txBox="1">
                  <a:spLocks noChangeArrowheads="1"/>
                </p:cNvSpPr>
                <p:nvPr/>
              </p:nvSpPr>
              <p:spPr bwMode="auto">
                <a:xfrm>
                  <a:off x="3263200" y="5745520"/>
                  <a:ext cx="337702" cy="505896"/>
                </a:xfrm>
                <a:prstGeom prst="rect">
                  <a:avLst/>
                </a:prstGeom>
                <a:noFill/>
                <a:ln w="9525">
                  <a:noFill/>
                  <a:miter lim="800000"/>
                  <a:headEnd/>
                  <a:tailEnd/>
                </a:ln>
              </p:spPr>
              <p:txBody>
                <a:bodyPr wrap="none" anchor="ctr">
                  <a:spAutoFit/>
                </a:bodyPr>
                <a:lstStyle/>
                <a:p>
                  <a:pPr algn="ctr">
                    <a:spcBef>
                      <a:spcPct val="50000"/>
                    </a:spcBef>
                  </a:pPr>
                  <a:r>
                    <a:rPr lang="en-US" sz="2000" i="1" dirty="0">
                      <a:solidFill>
                        <a:srgbClr val="0070C0"/>
                      </a:solidFill>
                      <a:latin typeface="Helvetica" charset="0"/>
                    </a:rPr>
                    <a:t>p</a:t>
                  </a:r>
                  <a:endParaRPr lang="en-US" sz="2000" dirty="0">
                    <a:solidFill>
                      <a:srgbClr val="0070C0"/>
                    </a:solidFill>
                    <a:latin typeface="Helvetica" charset="0"/>
                  </a:endParaRPr>
                </a:p>
              </p:txBody>
            </p:sp>
            <p:sp>
              <p:nvSpPr>
                <p:cNvPr id="24" name="Text Box 1035"/>
                <p:cNvSpPr txBox="1">
                  <a:spLocks noChangeArrowheads="1"/>
                </p:cNvSpPr>
                <p:nvPr/>
              </p:nvSpPr>
              <p:spPr bwMode="auto">
                <a:xfrm>
                  <a:off x="4712587" y="5775682"/>
                  <a:ext cx="337702" cy="505896"/>
                </a:xfrm>
                <a:prstGeom prst="rect">
                  <a:avLst/>
                </a:prstGeom>
                <a:noFill/>
                <a:ln w="9525">
                  <a:noFill/>
                  <a:miter lim="800000"/>
                  <a:headEnd/>
                  <a:tailEnd/>
                </a:ln>
              </p:spPr>
              <p:txBody>
                <a:bodyPr wrap="none" anchor="ctr">
                  <a:spAutoFit/>
                </a:bodyPr>
                <a:lstStyle/>
                <a:p>
                  <a:pPr algn="ctr">
                    <a:spcBef>
                      <a:spcPct val="50000"/>
                    </a:spcBef>
                  </a:pPr>
                  <a:r>
                    <a:rPr lang="en-US" sz="2000" i="1" dirty="0">
                      <a:solidFill>
                        <a:srgbClr val="0070C0"/>
                      </a:solidFill>
                      <a:latin typeface="Helvetica" charset="0"/>
                    </a:rPr>
                    <a:t>d</a:t>
                  </a:r>
                  <a:endParaRPr lang="en-US" sz="2000" dirty="0">
                    <a:solidFill>
                      <a:srgbClr val="0070C0"/>
                    </a:solidFill>
                    <a:latin typeface="Helvetica" charset="0"/>
                  </a:endParaRPr>
                </a:p>
              </p:txBody>
            </p:sp>
          </p:grpSp>
          <p:sp>
            <p:nvSpPr>
              <p:cNvPr id="17" name="Text Box 1036"/>
              <p:cNvSpPr txBox="1">
                <a:spLocks noChangeArrowheads="1"/>
              </p:cNvSpPr>
              <p:nvPr/>
            </p:nvSpPr>
            <p:spPr bwMode="auto">
              <a:xfrm>
                <a:off x="1259632" y="6241038"/>
                <a:ext cx="1368152" cy="505896"/>
              </a:xfrm>
              <a:prstGeom prst="rect">
                <a:avLst/>
              </a:prstGeom>
              <a:noFill/>
              <a:ln w="9525">
                <a:noFill/>
                <a:miter lim="800000"/>
                <a:headEnd/>
                <a:tailEnd/>
              </a:ln>
            </p:spPr>
            <p:txBody>
              <a:bodyPr wrap="square" anchor="ctr">
                <a:spAutoFit/>
              </a:bodyPr>
              <a:lstStyle/>
              <a:p>
                <a:pPr algn="ctr">
                  <a:spcBef>
                    <a:spcPct val="50000"/>
                  </a:spcBef>
                </a:pPr>
                <a:r>
                  <a:rPr lang="en-US" sz="2000" i="1" dirty="0">
                    <a:latin typeface="Helvetica" charset="0"/>
                  </a:rPr>
                  <a:t>m - n  Bits</a:t>
                </a:r>
              </a:p>
            </p:txBody>
          </p:sp>
          <p:sp>
            <p:nvSpPr>
              <p:cNvPr id="18" name="Text Box 1038"/>
              <p:cNvSpPr txBox="1">
                <a:spLocks noChangeArrowheads="1"/>
              </p:cNvSpPr>
              <p:nvPr/>
            </p:nvSpPr>
            <p:spPr bwMode="auto">
              <a:xfrm>
                <a:off x="3059832" y="6241038"/>
                <a:ext cx="972294" cy="505896"/>
              </a:xfrm>
              <a:prstGeom prst="rect">
                <a:avLst/>
              </a:prstGeom>
              <a:noFill/>
              <a:ln w="9525">
                <a:noFill/>
                <a:miter lim="800000"/>
                <a:headEnd/>
                <a:tailEnd/>
              </a:ln>
            </p:spPr>
            <p:txBody>
              <a:bodyPr wrap="square" anchor="ctr">
                <a:spAutoFit/>
              </a:bodyPr>
              <a:lstStyle/>
              <a:p>
                <a:pPr algn="ctr">
                  <a:spcBef>
                    <a:spcPct val="50000"/>
                  </a:spcBef>
                </a:pPr>
                <a:r>
                  <a:rPr lang="en-US" sz="2000" i="1" dirty="0">
                    <a:latin typeface="Helvetica" charset="0"/>
                  </a:rPr>
                  <a:t>n  Bits</a:t>
                </a:r>
              </a:p>
            </p:txBody>
          </p:sp>
        </p:grpSp>
        <p:sp>
          <p:nvSpPr>
            <p:cNvPr id="28" name="Textfeld 27"/>
            <p:cNvSpPr txBox="1"/>
            <p:nvPr/>
          </p:nvSpPr>
          <p:spPr>
            <a:xfrm>
              <a:off x="3860424" y="4207136"/>
              <a:ext cx="3211392" cy="400110"/>
            </a:xfrm>
            <a:prstGeom prst="rect">
              <a:avLst/>
            </a:prstGeom>
            <a:noFill/>
          </p:spPr>
          <p:txBody>
            <a:bodyPr wrap="none" rtlCol="0">
              <a:spAutoFit/>
            </a:bodyPr>
            <a:lstStyle/>
            <a:p>
              <a:r>
                <a:rPr lang="de-DE" sz="2000" dirty="0"/>
                <a:t>Logische Adresse = m Bits</a:t>
              </a:r>
            </a:p>
          </p:txBody>
        </p:sp>
      </p:grpSp>
      <p:sp>
        <p:nvSpPr>
          <p:cNvPr id="26" name="Left Brace 25"/>
          <p:cNvSpPr/>
          <p:nvPr/>
        </p:nvSpPr>
        <p:spPr>
          <a:xfrm rot="5400000">
            <a:off x="4262847" y="3750986"/>
            <a:ext cx="395038" cy="3009815"/>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Tree>
    <p:extLst>
      <p:ext uri="{BB962C8B-B14F-4D97-AF65-F5344CB8AC3E}">
        <p14:creationId xmlns:p14="http://schemas.microsoft.com/office/powerpoint/2010/main" val="2881755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Adressenübersetzung mit Zweierpotenzen/2</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12</a:t>
            </a:fld>
            <a:endParaRPr lang="en-US" noProof="0" dirty="0"/>
          </a:p>
        </p:txBody>
      </p:sp>
      <p:sp>
        <p:nvSpPr>
          <p:cNvPr id="3" name="Inhaltsplatzhalter 2"/>
          <p:cNvSpPr>
            <a:spLocks noGrp="1"/>
          </p:cNvSpPr>
          <p:nvPr>
            <p:ph sz="quarter" idx="1"/>
          </p:nvPr>
        </p:nvSpPr>
        <p:spPr/>
        <p:txBody>
          <a:bodyPr>
            <a:normAutofit/>
          </a:bodyPr>
          <a:lstStyle/>
          <a:p>
            <a:r>
              <a:rPr lang="de-DE" dirty="0"/>
              <a:t>Die Adressübersetzung funktioniert durch das Ersetzen (in der Adresse) der Seitennummer </a:t>
            </a:r>
            <a:r>
              <a:rPr lang="de-DE" b="1" dirty="0">
                <a:solidFill>
                  <a:srgbClr val="0070C0"/>
                </a:solidFill>
              </a:rPr>
              <a:t>p </a:t>
            </a:r>
            <a:r>
              <a:rPr lang="de-DE" dirty="0"/>
              <a:t>durch eine (eigentlich beliebige) </a:t>
            </a:r>
            <a:r>
              <a:rPr lang="de-DE" dirty="0">
                <a:latin typeface="Helvetica" charset="0"/>
              </a:rPr>
              <a:t>Seiten</a:t>
            </a:r>
            <a:r>
              <a:rPr lang="de-DE" b="1" dirty="0">
                <a:solidFill>
                  <a:srgbClr val="FF0000"/>
                </a:solidFill>
                <a:latin typeface="Helvetica" charset="0"/>
              </a:rPr>
              <a:t>rahmen</a:t>
            </a:r>
            <a:r>
              <a:rPr lang="de-DE" dirty="0">
                <a:latin typeface="Helvetica" charset="0"/>
              </a:rPr>
              <a:t>nummer </a:t>
            </a:r>
            <a:r>
              <a:rPr lang="de-DE" b="1" dirty="0">
                <a:solidFill>
                  <a:srgbClr val="7030A0"/>
                </a:solidFill>
                <a:latin typeface="Helvetica" charset="0"/>
              </a:rPr>
              <a:t>f</a:t>
            </a:r>
            <a:r>
              <a:rPr lang="de-DE" b="1" dirty="0">
                <a:solidFill>
                  <a:srgbClr val="FFC000"/>
                </a:solidFill>
                <a:latin typeface="Helvetica" charset="0"/>
              </a:rPr>
              <a:t> </a:t>
            </a:r>
            <a:r>
              <a:rPr lang="de-DE" dirty="0">
                <a:latin typeface="Helvetica" charset="0"/>
              </a:rPr>
              <a:t>(d.h. obere Bits einer physischen Adresse)</a:t>
            </a:r>
          </a:p>
          <a:p>
            <a:r>
              <a:rPr lang="de-DE" dirty="0"/>
              <a:t>Die n Bits des Seitenoffsets </a:t>
            </a:r>
            <a:r>
              <a:rPr lang="en-US" b="1" dirty="0">
                <a:solidFill>
                  <a:srgbClr val="FF0000"/>
                </a:solidFill>
                <a:latin typeface="Helvetica" charset="0"/>
              </a:rPr>
              <a:t>d </a:t>
            </a:r>
            <a:r>
              <a:rPr lang="de-DE" dirty="0"/>
              <a:t>werden direkt übernommen</a:t>
            </a:r>
            <a:endParaRPr lang="de-DE" b="1" dirty="0">
              <a:solidFill>
                <a:srgbClr val="0070C0"/>
              </a:solidFill>
            </a:endParaRPr>
          </a:p>
        </p:txBody>
      </p:sp>
      <p:sp>
        <p:nvSpPr>
          <p:cNvPr id="26" name="Content Placeholder 25"/>
          <p:cNvSpPr>
            <a:spLocks noGrp="1"/>
          </p:cNvSpPr>
          <p:nvPr>
            <p:ph sz="quarter" idx="13"/>
          </p:nvPr>
        </p:nvSpPr>
        <p:spPr>
          <a:xfrm>
            <a:off x="470773" y="5445224"/>
            <a:ext cx="8208912" cy="1129680"/>
          </a:xfrm>
        </p:spPr>
        <p:txBody>
          <a:bodyPr/>
          <a:lstStyle/>
          <a:p>
            <a:r>
              <a:rPr lang="de-DE" dirty="0"/>
              <a:t>Hauptproblem: wie kann man das schnell machen?</a:t>
            </a:r>
          </a:p>
          <a:p>
            <a:pPr lvl="1"/>
            <a:r>
              <a:rPr lang="de-DE" dirty="0"/>
              <a:t>Speicherzugriffe müssen </a:t>
            </a:r>
            <a:r>
              <a:rPr lang="de-DE" u="sng" dirty="0"/>
              <a:t>sehr</a:t>
            </a:r>
            <a:r>
              <a:rPr lang="de-DE" dirty="0"/>
              <a:t> schnell erfolgen</a:t>
            </a:r>
          </a:p>
        </p:txBody>
      </p:sp>
      <p:grpSp>
        <p:nvGrpSpPr>
          <p:cNvPr id="13" name="Gruppieren 13"/>
          <p:cNvGrpSpPr/>
          <p:nvPr/>
        </p:nvGrpSpPr>
        <p:grpSpPr>
          <a:xfrm>
            <a:off x="4211960" y="4127348"/>
            <a:ext cx="4251679" cy="1111399"/>
            <a:chOff x="-143759" y="5273408"/>
            <a:chExt cx="4386348" cy="1405244"/>
          </a:xfrm>
        </p:grpSpPr>
        <p:grpSp>
          <p:nvGrpSpPr>
            <p:cNvPr id="14" name="Gruppieren 12"/>
            <p:cNvGrpSpPr/>
            <p:nvPr/>
          </p:nvGrpSpPr>
          <p:grpSpPr>
            <a:xfrm>
              <a:off x="-143759" y="5273408"/>
              <a:ext cx="4386348" cy="1016925"/>
              <a:chOff x="1512425" y="5273408"/>
              <a:chExt cx="4386348" cy="1016925"/>
            </a:xfrm>
          </p:grpSpPr>
          <p:sp>
            <p:nvSpPr>
              <p:cNvPr id="5" name="Rectangle 1028"/>
              <p:cNvSpPr>
                <a:spLocks noChangeArrowheads="1"/>
              </p:cNvSpPr>
              <p:nvPr/>
            </p:nvSpPr>
            <p:spPr bwMode="auto">
              <a:xfrm>
                <a:off x="2722439" y="5788124"/>
                <a:ext cx="3105150" cy="43815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6" name="Line 1030"/>
              <p:cNvSpPr>
                <a:spLocks noChangeShapeType="1"/>
              </p:cNvSpPr>
              <p:nvPr/>
            </p:nvSpPr>
            <p:spPr bwMode="auto">
              <a:xfrm>
                <a:off x="4355976" y="5445224"/>
                <a:ext cx="0" cy="762000"/>
              </a:xfrm>
              <a:prstGeom prst="line">
                <a:avLst/>
              </a:prstGeom>
              <a:noFill/>
              <a:ln w="28575">
                <a:solidFill>
                  <a:schemeClr val="tx1"/>
                </a:solidFill>
                <a:round/>
                <a:headEnd/>
                <a:tailEnd/>
              </a:ln>
            </p:spPr>
            <p:txBody>
              <a:bodyPr wrap="none" anchor="ctr"/>
              <a:lstStyle/>
              <a:p>
                <a:endParaRPr lang="de-DE"/>
              </a:p>
            </p:txBody>
          </p:sp>
          <p:sp>
            <p:nvSpPr>
              <p:cNvPr id="7" name="Text Box 1031"/>
              <p:cNvSpPr txBox="1">
                <a:spLocks noChangeArrowheads="1"/>
              </p:cNvSpPr>
              <p:nvPr/>
            </p:nvSpPr>
            <p:spPr bwMode="auto">
              <a:xfrm>
                <a:off x="1512425" y="5273408"/>
                <a:ext cx="3006754" cy="466980"/>
              </a:xfrm>
              <a:prstGeom prst="rect">
                <a:avLst/>
              </a:prstGeom>
              <a:noFill/>
              <a:ln w="9525">
                <a:noFill/>
                <a:miter lim="800000"/>
                <a:headEnd/>
                <a:tailEnd/>
              </a:ln>
            </p:spPr>
            <p:txBody>
              <a:bodyPr wrap="square" anchor="ctr">
                <a:spAutoFit/>
              </a:bodyPr>
              <a:lstStyle/>
              <a:p>
                <a:pPr algn="ctr">
                  <a:spcBef>
                    <a:spcPct val="50000"/>
                  </a:spcBef>
                </a:pPr>
                <a:r>
                  <a:rPr lang="de-DE" dirty="0">
                    <a:latin typeface="Helvetica" charset="0"/>
                  </a:rPr>
                  <a:t>Seiten</a:t>
                </a:r>
                <a:r>
                  <a:rPr lang="de-DE" b="1" dirty="0">
                    <a:solidFill>
                      <a:srgbClr val="FF0000"/>
                    </a:solidFill>
                    <a:latin typeface="Helvetica" charset="0"/>
                  </a:rPr>
                  <a:t>rahmen</a:t>
                </a:r>
                <a:r>
                  <a:rPr lang="de-DE" dirty="0">
                    <a:latin typeface="Helvetica" charset="0"/>
                  </a:rPr>
                  <a:t>nummer</a:t>
                </a:r>
              </a:p>
            </p:txBody>
          </p:sp>
          <p:sp>
            <p:nvSpPr>
              <p:cNvPr id="8" name="Text Box 1032"/>
              <p:cNvSpPr txBox="1">
                <a:spLocks noChangeArrowheads="1"/>
              </p:cNvSpPr>
              <p:nvPr/>
            </p:nvSpPr>
            <p:spPr bwMode="auto">
              <a:xfrm>
                <a:off x="4499992" y="5301208"/>
                <a:ext cx="1398781" cy="369332"/>
              </a:xfrm>
              <a:prstGeom prst="rect">
                <a:avLst/>
              </a:prstGeom>
              <a:noFill/>
              <a:ln w="9525">
                <a:noFill/>
                <a:miter lim="800000"/>
                <a:headEnd/>
                <a:tailEnd/>
              </a:ln>
            </p:spPr>
            <p:txBody>
              <a:bodyPr wrap="none" anchor="ctr">
                <a:spAutoFit/>
              </a:bodyPr>
              <a:lstStyle/>
              <a:p>
                <a:pPr algn="ctr">
                  <a:spcBef>
                    <a:spcPct val="50000"/>
                  </a:spcBef>
                </a:pPr>
                <a:r>
                  <a:rPr lang="de-DE">
                    <a:latin typeface="Helvetica" charset="0"/>
                  </a:rPr>
                  <a:t>Seitenoffset</a:t>
                </a:r>
              </a:p>
            </p:txBody>
          </p:sp>
          <p:sp>
            <p:nvSpPr>
              <p:cNvPr id="9" name="Text Box 1033"/>
              <p:cNvSpPr txBox="1">
                <a:spLocks noChangeArrowheads="1"/>
              </p:cNvSpPr>
              <p:nvPr/>
            </p:nvSpPr>
            <p:spPr bwMode="auto">
              <a:xfrm>
                <a:off x="3253162" y="5706607"/>
                <a:ext cx="296358" cy="583726"/>
              </a:xfrm>
              <a:prstGeom prst="rect">
                <a:avLst/>
              </a:prstGeom>
              <a:noFill/>
              <a:ln w="9525">
                <a:noFill/>
                <a:miter lim="800000"/>
                <a:headEnd/>
                <a:tailEnd/>
              </a:ln>
            </p:spPr>
            <p:txBody>
              <a:bodyPr wrap="none" anchor="ctr">
                <a:spAutoFit/>
              </a:bodyPr>
              <a:lstStyle/>
              <a:p>
                <a:pPr algn="ctr">
                  <a:spcBef>
                    <a:spcPct val="50000"/>
                  </a:spcBef>
                </a:pPr>
                <a:r>
                  <a:rPr lang="de-DE" sz="2400" b="1" i="1" dirty="0">
                    <a:solidFill>
                      <a:srgbClr val="7030A0"/>
                    </a:solidFill>
                    <a:latin typeface="Helvetica" charset="0"/>
                  </a:rPr>
                  <a:t>f</a:t>
                </a:r>
                <a:endParaRPr lang="en-US" sz="2400" i="1" dirty="0">
                  <a:solidFill>
                    <a:srgbClr val="7030A0"/>
                  </a:solidFill>
                  <a:latin typeface="Helvetica" charset="0"/>
                </a:endParaRPr>
              </a:p>
            </p:txBody>
          </p:sp>
          <p:sp>
            <p:nvSpPr>
              <p:cNvPr id="10" name="Text Box 1035"/>
              <p:cNvSpPr txBox="1">
                <a:spLocks noChangeArrowheads="1"/>
              </p:cNvSpPr>
              <p:nvPr/>
            </p:nvSpPr>
            <p:spPr bwMode="auto">
              <a:xfrm>
                <a:off x="4713414" y="5795139"/>
                <a:ext cx="336048" cy="466980"/>
              </a:xfrm>
              <a:prstGeom prst="rect">
                <a:avLst/>
              </a:prstGeom>
              <a:noFill/>
              <a:ln w="9525">
                <a:noFill/>
                <a:miter lim="800000"/>
                <a:headEnd/>
                <a:tailEnd/>
              </a:ln>
            </p:spPr>
            <p:txBody>
              <a:bodyPr wrap="none" anchor="ctr">
                <a:spAutoFit/>
              </a:bodyPr>
              <a:lstStyle/>
              <a:p>
                <a:pPr algn="ctr">
                  <a:spcBef>
                    <a:spcPct val="50000"/>
                  </a:spcBef>
                </a:pPr>
                <a:r>
                  <a:rPr lang="en-US" b="1" dirty="0">
                    <a:solidFill>
                      <a:srgbClr val="FF0000"/>
                    </a:solidFill>
                    <a:latin typeface="Helvetica" charset="0"/>
                  </a:rPr>
                  <a:t>d</a:t>
                </a:r>
              </a:p>
            </p:txBody>
          </p:sp>
        </p:grpSp>
        <p:sp>
          <p:nvSpPr>
            <p:cNvPr id="11" name="Text Box 1036"/>
            <p:cNvSpPr txBox="1">
              <a:spLocks noChangeArrowheads="1"/>
            </p:cNvSpPr>
            <p:nvPr/>
          </p:nvSpPr>
          <p:spPr bwMode="auto">
            <a:xfrm>
              <a:off x="1259632" y="6309320"/>
              <a:ext cx="1368152" cy="369332"/>
            </a:xfrm>
            <a:prstGeom prst="rect">
              <a:avLst/>
            </a:prstGeom>
            <a:noFill/>
            <a:ln w="9525">
              <a:noFill/>
              <a:miter lim="800000"/>
              <a:headEnd/>
              <a:tailEnd/>
            </a:ln>
          </p:spPr>
          <p:txBody>
            <a:bodyPr wrap="square" anchor="ctr">
              <a:spAutoFit/>
            </a:bodyPr>
            <a:lstStyle/>
            <a:p>
              <a:pPr algn="ctr">
                <a:spcBef>
                  <a:spcPct val="50000"/>
                </a:spcBef>
              </a:pPr>
              <a:r>
                <a:rPr lang="en-US" i="1" dirty="0">
                  <a:latin typeface="Helvetica" charset="0"/>
                </a:rPr>
                <a:t>m - n  Bits</a:t>
              </a:r>
            </a:p>
          </p:txBody>
        </p:sp>
        <p:sp>
          <p:nvSpPr>
            <p:cNvPr id="12" name="Text Box 1038"/>
            <p:cNvSpPr txBox="1">
              <a:spLocks noChangeArrowheads="1"/>
            </p:cNvSpPr>
            <p:nvPr/>
          </p:nvSpPr>
          <p:spPr bwMode="auto">
            <a:xfrm>
              <a:off x="3059832" y="6309320"/>
              <a:ext cx="972294" cy="369332"/>
            </a:xfrm>
            <a:prstGeom prst="rect">
              <a:avLst/>
            </a:prstGeom>
            <a:noFill/>
            <a:ln w="9525">
              <a:noFill/>
              <a:miter lim="800000"/>
              <a:headEnd/>
              <a:tailEnd/>
            </a:ln>
          </p:spPr>
          <p:txBody>
            <a:bodyPr wrap="square" anchor="ctr">
              <a:spAutoFit/>
            </a:bodyPr>
            <a:lstStyle/>
            <a:p>
              <a:pPr algn="ctr">
                <a:spcBef>
                  <a:spcPct val="50000"/>
                </a:spcBef>
              </a:pPr>
              <a:r>
                <a:rPr lang="en-US" i="1" dirty="0">
                  <a:latin typeface="Helvetica" charset="0"/>
                </a:rPr>
                <a:t>n  Bits</a:t>
              </a:r>
            </a:p>
          </p:txBody>
        </p:sp>
      </p:grpSp>
      <p:grpSp>
        <p:nvGrpSpPr>
          <p:cNvPr id="15" name="Gruppieren 14"/>
          <p:cNvGrpSpPr/>
          <p:nvPr/>
        </p:nvGrpSpPr>
        <p:grpSpPr>
          <a:xfrm>
            <a:off x="470773" y="4097115"/>
            <a:ext cx="3317524" cy="1128027"/>
            <a:chOff x="819985" y="5252383"/>
            <a:chExt cx="3422604" cy="1426269"/>
          </a:xfrm>
        </p:grpSpPr>
        <p:grpSp>
          <p:nvGrpSpPr>
            <p:cNvPr id="16" name="Gruppieren 15"/>
            <p:cNvGrpSpPr/>
            <p:nvPr/>
          </p:nvGrpSpPr>
          <p:grpSpPr>
            <a:xfrm>
              <a:off x="819985" y="5252383"/>
              <a:ext cx="3422604" cy="1009738"/>
              <a:chOff x="2476169" y="5252383"/>
              <a:chExt cx="3422604" cy="1009738"/>
            </a:xfrm>
          </p:grpSpPr>
          <p:sp>
            <p:nvSpPr>
              <p:cNvPr id="19" name="Rectangle 1028"/>
              <p:cNvSpPr>
                <a:spLocks noChangeArrowheads="1"/>
              </p:cNvSpPr>
              <p:nvPr/>
            </p:nvSpPr>
            <p:spPr bwMode="auto">
              <a:xfrm>
                <a:off x="2722439" y="5788124"/>
                <a:ext cx="3105150" cy="438150"/>
              </a:xfrm>
              <a:prstGeom prst="rect">
                <a:avLst/>
              </a:prstGeom>
              <a:solidFill>
                <a:schemeClr val="bg1"/>
              </a:solidFill>
              <a:ln w="28575">
                <a:solidFill>
                  <a:schemeClr val="tx1"/>
                </a:solidFill>
                <a:miter lim="800000"/>
                <a:headEnd/>
                <a:tailEnd/>
              </a:ln>
            </p:spPr>
            <p:txBody>
              <a:bodyPr wrap="none" anchor="ctr"/>
              <a:lstStyle/>
              <a:p>
                <a:endParaRPr lang="de-DE"/>
              </a:p>
            </p:txBody>
          </p:sp>
          <p:sp>
            <p:nvSpPr>
              <p:cNvPr id="20" name="Line 1030"/>
              <p:cNvSpPr>
                <a:spLocks noChangeShapeType="1"/>
              </p:cNvSpPr>
              <p:nvPr/>
            </p:nvSpPr>
            <p:spPr bwMode="auto">
              <a:xfrm>
                <a:off x="4355976" y="5445224"/>
                <a:ext cx="0" cy="762000"/>
              </a:xfrm>
              <a:prstGeom prst="line">
                <a:avLst/>
              </a:prstGeom>
              <a:noFill/>
              <a:ln w="28575">
                <a:solidFill>
                  <a:schemeClr val="tx1"/>
                </a:solidFill>
                <a:round/>
                <a:headEnd/>
                <a:tailEnd/>
              </a:ln>
            </p:spPr>
            <p:txBody>
              <a:bodyPr wrap="none" anchor="ctr"/>
              <a:lstStyle/>
              <a:p>
                <a:endParaRPr lang="de-DE"/>
              </a:p>
            </p:txBody>
          </p:sp>
          <p:sp>
            <p:nvSpPr>
              <p:cNvPr id="21" name="Text Box 1031"/>
              <p:cNvSpPr txBox="1">
                <a:spLocks noChangeArrowheads="1"/>
              </p:cNvSpPr>
              <p:nvPr/>
            </p:nvSpPr>
            <p:spPr bwMode="auto">
              <a:xfrm>
                <a:off x="2476169" y="5252383"/>
                <a:ext cx="1844293" cy="466980"/>
              </a:xfrm>
              <a:prstGeom prst="rect">
                <a:avLst/>
              </a:prstGeom>
              <a:noFill/>
              <a:ln w="9525">
                <a:noFill/>
                <a:miter lim="800000"/>
                <a:headEnd/>
                <a:tailEnd/>
              </a:ln>
            </p:spPr>
            <p:txBody>
              <a:bodyPr wrap="none" anchor="ctr">
                <a:spAutoFit/>
              </a:bodyPr>
              <a:lstStyle/>
              <a:p>
                <a:pPr algn="ctr">
                  <a:spcBef>
                    <a:spcPct val="50000"/>
                  </a:spcBef>
                </a:pPr>
                <a:r>
                  <a:rPr lang="de-DE" b="1" dirty="0">
                    <a:solidFill>
                      <a:srgbClr val="FF0000"/>
                    </a:solidFill>
                    <a:latin typeface="Helvetica" charset="0"/>
                  </a:rPr>
                  <a:t>Seitennummer</a:t>
                </a:r>
              </a:p>
            </p:txBody>
          </p:sp>
          <p:sp>
            <p:nvSpPr>
              <p:cNvPr id="22" name="Text Box 1032"/>
              <p:cNvSpPr txBox="1">
                <a:spLocks noChangeArrowheads="1"/>
              </p:cNvSpPr>
              <p:nvPr/>
            </p:nvSpPr>
            <p:spPr bwMode="auto">
              <a:xfrm>
                <a:off x="4499992" y="5301208"/>
                <a:ext cx="1398781" cy="369332"/>
              </a:xfrm>
              <a:prstGeom prst="rect">
                <a:avLst/>
              </a:prstGeom>
              <a:noFill/>
              <a:ln w="9525">
                <a:noFill/>
                <a:miter lim="800000"/>
                <a:headEnd/>
                <a:tailEnd/>
              </a:ln>
            </p:spPr>
            <p:txBody>
              <a:bodyPr wrap="none" anchor="ctr">
                <a:spAutoFit/>
              </a:bodyPr>
              <a:lstStyle/>
              <a:p>
                <a:pPr algn="ctr">
                  <a:spcBef>
                    <a:spcPct val="50000"/>
                  </a:spcBef>
                </a:pPr>
                <a:r>
                  <a:rPr lang="de-DE">
                    <a:latin typeface="Helvetica" charset="0"/>
                  </a:rPr>
                  <a:t>Seitenoffset</a:t>
                </a:r>
              </a:p>
            </p:txBody>
          </p:sp>
          <p:sp>
            <p:nvSpPr>
              <p:cNvPr id="23" name="Text Box 1033"/>
              <p:cNvSpPr txBox="1">
                <a:spLocks noChangeArrowheads="1"/>
              </p:cNvSpPr>
              <p:nvPr/>
            </p:nvSpPr>
            <p:spPr bwMode="auto">
              <a:xfrm>
                <a:off x="3255759" y="5745520"/>
                <a:ext cx="352585" cy="505896"/>
              </a:xfrm>
              <a:prstGeom prst="rect">
                <a:avLst/>
              </a:prstGeom>
              <a:noFill/>
              <a:ln w="9525">
                <a:noFill/>
                <a:miter lim="800000"/>
                <a:headEnd/>
                <a:tailEnd/>
              </a:ln>
            </p:spPr>
            <p:txBody>
              <a:bodyPr wrap="none" anchor="ctr">
                <a:spAutoFit/>
              </a:bodyPr>
              <a:lstStyle/>
              <a:p>
                <a:pPr algn="ctr">
                  <a:spcBef>
                    <a:spcPct val="50000"/>
                  </a:spcBef>
                </a:pPr>
                <a:r>
                  <a:rPr lang="en-US" sz="2000" b="1" i="1" dirty="0">
                    <a:solidFill>
                      <a:srgbClr val="0070C0"/>
                    </a:solidFill>
                    <a:latin typeface="Helvetica" charset="0"/>
                  </a:rPr>
                  <a:t>p</a:t>
                </a:r>
                <a:endParaRPr lang="en-US" sz="2000" b="1" dirty="0">
                  <a:solidFill>
                    <a:srgbClr val="0070C0"/>
                  </a:solidFill>
                  <a:latin typeface="Helvetica" charset="0"/>
                </a:endParaRPr>
              </a:p>
            </p:txBody>
          </p:sp>
          <p:sp>
            <p:nvSpPr>
              <p:cNvPr id="24" name="Text Box 1035"/>
              <p:cNvSpPr txBox="1">
                <a:spLocks noChangeArrowheads="1"/>
              </p:cNvSpPr>
              <p:nvPr/>
            </p:nvSpPr>
            <p:spPr bwMode="auto">
              <a:xfrm>
                <a:off x="4713414" y="5795140"/>
                <a:ext cx="336048" cy="466981"/>
              </a:xfrm>
              <a:prstGeom prst="rect">
                <a:avLst/>
              </a:prstGeom>
              <a:noFill/>
              <a:ln w="9525">
                <a:noFill/>
                <a:miter lim="800000"/>
                <a:headEnd/>
                <a:tailEnd/>
              </a:ln>
            </p:spPr>
            <p:txBody>
              <a:bodyPr wrap="none" anchor="ctr">
                <a:spAutoFit/>
              </a:bodyPr>
              <a:lstStyle/>
              <a:p>
                <a:pPr algn="ctr">
                  <a:spcBef>
                    <a:spcPct val="50000"/>
                  </a:spcBef>
                </a:pPr>
                <a:r>
                  <a:rPr lang="en-US" b="1" dirty="0">
                    <a:solidFill>
                      <a:srgbClr val="FF0000"/>
                    </a:solidFill>
                    <a:latin typeface="Helvetica" charset="0"/>
                  </a:rPr>
                  <a:t>d</a:t>
                </a:r>
              </a:p>
            </p:txBody>
          </p:sp>
        </p:grpSp>
        <p:sp>
          <p:nvSpPr>
            <p:cNvPr id="17" name="Text Box 1036"/>
            <p:cNvSpPr txBox="1">
              <a:spLocks noChangeArrowheads="1"/>
            </p:cNvSpPr>
            <p:nvPr/>
          </p:nvSpPr>
          <p:spPr bwMode="auto">
            <a:xfrm>
              <a:off x="1259632" y="6309320"/>
              <a:ext cx="1368152" cy="369332"/>
            </a:xfrm>
            <a:prstGeom prst="rect">
              <a:avLst/>
            </a:prstGeom>
            <a:noFill/>
            <a:ln w="9525">
              <a:noFill/>
              <a:miter lim="800000"/>
              <a:headEnd/>
              <a:tailEnd/>
            </a:ln>
          </p:spPr>
          <p:txBody>
            <a:bodyPr wrap="square" anchor="ctr">
              <a:spAutoFit/>
            </a:bodyPr>
            <a:lstStyle/>
            <a:p>
              <a:pPr algn="ctr">
                <a:spcBef>
                  <a:spcPct val="50000"/>
                </a:spcBef>
              </a:pPr>
              <a:r>
                <a:rPr lang="en-US" i="1" dirty="0">
                  <a:latin typeface="Helvetica" charset="0"/>
                </a:rPr>
                <a:t>m - n  Bits</a:t>
              </a:r>
            </a:p>
          </p:txBody>
        </p:sp>
        <p:sp>
          <p:nvSpPr>
            <p:cNvPr id="18" name="Text Box 1038"/>
            <p:cNvSpPr txBox="1">
              <a:spLocks noChangeArrowheads="1"/>
            </p:cNvSpPr>
            <p:nvPr/>
          </p:nvSpPr>
          <p:spPr bwMode="auto">
            <a:xfrm>
              <a:off x="3059832" y="6309320"/>
              <a:ext cx="972294" cy="369332"/>
            </a:xfrm>
            <a:prstGeom prst="rect">
              <a:avLst/>
            </a:prstGeom>
            <a:noFill/>
            <a:ln w="9525">
              <a:noFill/>
              <a:miter lim="800000"/>
              <a:headEnd/>
              <a:tailEnd/>
            </a:ln>
          </p:spPr>
          <p:txBody>
            <a:bodyPr wrap="square" anchor="ctr">
              <a:spAutoFit/>
            </a:bodyPr>
            <a:lstStyle/>
            <a:p>
              <a:pPr algn="ctr">
                <a:spcBef>
                  <a:spcPct val="50000"/>
                </a:spcBef>
              </a:pPr>
              <a:r>
                <a:rPr lang="en-US" i="1" dirty="0">
                  <a:latin typeface="Helvetica" charset="0"/>
                </a:rPr>
                <a:t>n  Bits</a:t>
              </a:r>
            </a:p>
          </p:txBody>
        </p:sp>
      </p:grpSp>
      <p:sp>
        <p:nvSpPr>
          <p:cNvPr id="27" name="Pfeil nach rechts 26"/>
          <p:cNvSpPr/>
          <p:nvPr/>
        </p:nvSpPr>
        <p:spPr>
          <a:xfrm>
            <a:off x="3995936" y="4487388"/>
            <a:ext cx="720080" cy="360040"/>
          </a:xfrm>
          <a:prstGeom prst="rightArrow">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p:cNvSpPr txBox="1"/>
          <p:nvPr/>
        </p:nvSpPr>
        <p:spPr>
          <a:xfrm>
            <a:off x="1187624" y="3767308"/>
            <a:ext cx="1928798" cy="369332"/>
          </a:xfrm>
          <a:prstGeom prst="rect">
            <a:avLst/>
          </a:prstGeom>
          <a:noFill/>
        </p:spPr>
        <p:txBody>
          <a:bodyPr wrap="none" rtlCol="0">
            <a:spAutoFit/>
          </a:bodyPr>
          <a:lstStyle/>
          <a:p>
            <a:r>
              <a:rPr lang="de-DE" dirty="0"/>
              <a:t>logische Adresse</a:t>
            </a:r>
          </a:p>
        </p:txBody>
      </p:sp>
      <p:sp>
        <p:nvSpPr>
          <p:cNvPr id="29" name="Textfeld 28"/>
          <p:cNvSpPr txBox="1"/>
          <p:nvPr/>
        </p:nvSpPr>
        <p:spPr>
          <a:xfrm>
            <a:off x="5796136" y="3767308"/>
            <a:ext cx="2108334" cy="369332"/>
          </a:xfrm>
          <a:prstGeom prst="rect">
            <a:avLst/>
          </a:prstGeom>
          <a:noFill/>
        </p:spPr>
        <p:txBody>
          <a:bodyPr wrap="none" rtlCol="0">
            <a:spAutoFit/>
          </a:bodyPr>
          <a:lstStyle/>
          <a:p>
            <a:r>
              <a:rPr lang="de-DE" dirty="0"/>
              <a:t>physische Adresse</a:t>
            </a:r>
          </a:p>
        </p:txBody>
      </p:sp>
    </p:spTree>
    <p:extLst>
      <p:ext uri="{BB962C8B-B14F-4D97-AF65-F5344CB8AC3E}">
        <p14:creationId xmlns:p14="http://schemas.microsoft.com/office/powerpoint/2010/main" val="71546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xEl>
                                              <p:pRg st="1" end="1"/>
                                            </p:txEl>
                                          </p:spTgt>
                                        </p:tgtEl>
                                        <p:attrNameLst>
                                          <p:attrName>style.visibility</p:attrName>
                                        </p:attrNameLst>
                                      </p:cBhvr>
                                      <p:to>
                                        <p:strVal val="visible"/>
                                      </p:to>
                                    </p:set>
                                    <p:animEffect transition="in" filter="fade">
                                      <p:cBhvr>
                                        <p:cTn id="10" dur="500"/>
                                        <p:tgtEl>
                                          <p:spTgt spid="2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13</a:t>
            </a:fld>
            <a:endParaRPr lang="de-DE"/>
          </a:p>
        </p:txBody>
      </p:sp>
      <p:sp>
        <p:nvSpPr>
          <p:cNvPr id="3" name="Titel 2"/>
          <p:cNvSpPr>
            <a:spLocks noGrp="1"/>
          </p:cNvSpPr>
          <p:nvPr>
            <p:ph type="title"/>
          </p:nvPr>
        </p:nvSpPr>
        <p:spPr/>
        <p:txBody>
          <a:bodyPr/>
          <a:lstStyle/>
          <a:p>
            <a:r>
              <a:rPr lang="de-DE" dirty="0" err="1"/>
              <a:t>Paging</a:t>
            </a:r>
            <a:r>
              <a:rPr lang="de-DE" dirty="0"/>
              <a:t> durch Direkte Seitentabellen</a:t>
            </a:r>
          </a:p>
        </p:txBody>
      </p:sp>
    </p:spTree>
    <p:extLst>
      <p:ext uri="{BB962C8B-B14F-4D97-AF65-F5344CB8AC3E}">
        <p14:creationId xmlns:p14="http://schemas.microsoft.com/office/powerpoint/2010/main" val="2431374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1043608" y="4925639"/>
            <a:ext cx="2153154" cy="461665"/>
          </a:xfrm>
          <a:prstGeom prst="rect">
            <a:avLst/>
          </a:prstGeom>
          <a:noFill/>
        </p:spPr>
        <p:txBody>
          <a:bodyPr wrap="none" rtlCol="0">
            <a:spAutoFit/>
          </a:bodyPr>
          <a:lstStyle/>
          <a:p>
            <a:r>
              <a:rPr lang="de-DE" sz="2400" dirty="0"/>
              <a:t>Wie geht das?</a:t>
            </a:r>
          </a:p>
        </p:txBody>
      </p:sp>
      <p:sp>
        <p:nvSpPr>
          <p:cNvPr id="2" name="Titel 1"/>
          <p:cNvSpPr>
            <a:spLocks noGrp="1"/>
          </p:cNvSpPr>
          <p:nvPr>
            <p:ph type="title"/>
          </p:nvPr>
        </p:nvSpPr>
        <p:spPr/>
        <p:txBody>
          <a:bodyPr>
            <a:normAutofit/>
          </a:bodyPr>
          <a:lstStyle/>
          <a:p>
            <a:r>
              <a:rPr lang="de-DE" dirty="0"/>
              <a:t>Adressübersetzung durch eine Seitentabelle</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14</a:t>
            </a:fld>
            <a:endParaRPr lang="en-US" noProof="0" dirty="0"/>
          </a:p>
        </p:txBody>
      </p:sp>
      <p:sp>
        <p:nvSpPr>
          <p:cNvPr id="15" name="Inhaltsplatzhalter 14"/>
          <p:cNvSpPr>
            <a:spLocks noGrp="1"/>
          </p:cNvSpPr>
          <p:nvPr>
            <p:ph sz="quarter" idx="1"/>
          </p:nvPr>
        </p:nvSpPr>
        <p:spPr>
          <a:xfrm>
            <a:off x="179512" y="4878047"/>
            <a:ext cx="5116659" cy="1873984"/>
          </a:xfrm>
          <a:solidFill>
            <a:schemeClr val="bg1"/>
          </a:solidFill>
        </p:spPr>
        <p:txBody>
          <a:bodyPr>
            <a:normAutofit lnSpcReduction="10000"/>
          </a:bodyPr>
          <a:lstStyle/>
          <a:p>
            <a:r>
              <a:rPr lang="de-DE" sz="2400" dirty="0"/>
              <a:t>Die Seitennummer </a:t>
            </a:r>
            <a:r>
              <a:rPr lang="de-DE" sz="2400" b="1" dirty="0">
                <a:solidFill>
                  <a:srgbClr val="FF0000"/>
                </a:solidFill>
              </a:rPr>
              <a:t>p</a:t>
            </a:r>
            <a:r>
              <a:rPr lang="de-DE" sz="2400" dirty="0"/>
              <a:t> wird als </a:t>
            </a:r>
            <a:r>
              <a:rPr lang="de-DE" sz="2400" u="sng" dirty="0">
                <a:solidFill>
                  <a:srgbClr val="FF0000"/>
                </a:solidFill>
              </a:rPr>
              <a:t>Index</a:t>
            </a:r>
            <a:r>
              <a:rPr lang="de-DE" sz="2400" dirty="0"/>
              <a:t> </a:t>
            </a:r>
            <a:r>
              <a:rPr lang="de-DE" sz="2400" u="sng" dirty="0"/>
              <a:t>des Eintrags in der Seitentabelle</a:t>
            </a:r>
            <a:r>
              <a:rPr lang="de-DE" sz="2400" dirty="0"/>
              <a:t> benutzt</a:t>
            </a:r>
          </a:p>
          <a:p>
            <a:r>
              <a:rPr lang="de-DE" sz="2400" dirty="0"/>
              <a:t>Der Inhalt des Eintrags ersetzt die oberen Bits der logischen Adresse</a:t>
            </a:r>
          </a:p>
          <a:p>
            <a:endParaRPr lang="de-DE" sz="2400" dirty="0"/>
          </a:p>
        </p:txBody>
      </p:sp>
      <p:sp>
        <p:nvSpPr>
          <p:cNvPr id="7" name="Textfeld 6"/>
          <p:cNvSpPr txBox="1"/>
          <p:nvPr/>
        </p:nvSpPr>
        <p:spPr>
          <a:xfrm>
            <a:off x="3120255" y="4038477"/>
            <a:ext cx="2082621" cy="461665"/>
          </a:xfrm>
          <a:prstGeom prst="rect">
            <a:avLst/>
          </a:prstGeom>
          <a:noFill/>
        </p:spPr>
        <p:txBody>
          <a:bodyPr wrap="none" rtlCol="0">
            <a:spAutoFit/>
          </a:bodyPr>
          <a:lstStyle/>
          <a:p>
            <a:r>
              <a:rPr lang="de-DE" sz="2400" b="1" dirty="0">
                <a:solidFill>
                  <a:srgbClr val="00B050"/>
                </a:solidFill>
              </a:rPr>
              <a:t>Seitentabelle</a:t>
            </a:r>
          </a:p>
        </p:txBody>
      </p:sp>
      <p:sp>
        <p:nvSpPr>
          <p:cNvPr id="8" name="Textfeld 7"/>
          <p:cNvSpPr txBox="1"/>
          <p:nvPr/>
        </p:nvSpPr>
        <p:spPr>
          <a:xfrm>
            <a:off x="323528" y="1169801"/>
            <a:ext cx="2952328" cy="1015663"/>
          </a:xfrm>
          <a:prstGeom prst="rect">
            <a:avLst/>
          </a:prstGeom>
          <a:noFill/>
        </p:spPr>
        <p:txBody>
          <a:bodyPr wrap="square" rtlCol="0">
            <a:spAutoFit/>
          </a:bodyPr>
          <a:lstStyle/>
          <a:p>
            <a:r>
              <a:rPr lang="de-DE" sz="2000" dirty="0">
                <a:solidFill>
                  <a:srgbClr val="FF0000"/>
                </a:solidFill>
              </a:rPr>
              <a:t>Logischer Adressraum</a:t>
            </a:r>
            <a:r>
              <a:rPr lang="de-DE" sz="2000" dirty="0"/>
              <a:t>:</a:t>
            </a:r>
          </a:p>
          <a:p>
            <a:r>
              <a:rPr lang="de-DE" sz="2000" dirty="0"/>
              <a:t>Adressen, die das Programm „sieht“</a:t>
            </a:r>
          </a:p>
        </p:txBody>
      </p:sp>
      <p:sp>
        <p:nvSpPr>
          <p:cNvPr id="9" name="Textfeld 8"/>
          <p:cNvSpPr txBox="1"/>
          <p:nvPr/>
        </p:nvSpPr>
        <p:spPr>
          <a:xfrm>
            <a:off x="7507493" y="3174032"/>
            <a:ext cx="1670754" cy="1477328"/>
          </a:xfrm>
          <a:prstGeom prst="rect">
            <a:avLst/>
          </a:prstGeom>
          <a:noFill/>
        </p:spPr>
        <p:txBody>
          <a:bodyPr wrap="square" rtlCol="0">
            <a:spAutoFit/>
          </a:bodyPr>
          <a:lstStyle/>
          <a:p>
            <a:r>
              <a:rPr lang="de-DE" dirty="0">
                <a:solidFill>
                  <a:srgbClr val="0070C0"/>
                </a:solidFill>
              </a:rPr>
              <a:t>Physischer</a:t>
            </a:r>
          </a:p>
          <a:p>
            <a:r>
              <a:rPr lang="de-DE" dirty="0">
                <a:solidFill>
                  <a:srgbClr val="0070C0"/>
                </a:solidFill>
              </a:rPr>
              <a:t>Adressraum</a:t>
            </a:r>
            <a:r>
              <a:rPr lang="de-DE" dirty="0"/>
              <a:t>:</a:t>
            </a:r>
          </a:p>
          <a:p>
            <a:r>
              <a:rPr lang="de-DE" dirty="0"/>
              <a:t>die wirklichen</a:t>
            </a:r>
          </a:p>
          <a:p>
            <a:r>
              <a:rPr lang="de-DE" dirty="0"/>
              <a:t>(Hardware)</a:t>
            </a:r>
          </a:p>
          <a:p>
            <a:r>
              <a:rPr lang="de-DE" dirty="0"/>
              <a:t>Adressen</a:t>
            </a:r>
          </a:p>
        </p:txBody>
      </p:sp>
      <p:sp>
        <p:nvSpPr>
          <p:cNvPr id="11" name="Textfeld 10"/>
          <p:cNvSpPr txBox="1"/>
          <p:nvPr/>
        </p:nvSpPr>
        <p:spPr>
          <a:xfrm>
            <a:off x="5631342" y="6390732"/>
            <a:ext cx="2326674" cy="369332"/>
          </a:xfrm>
          <a:prstGeom prst="rect">
            <a:avLst/>
          </a:prstGeom>
          <a:solidFill>
            <a:srgbClr val="0070C0"/>
          </a:solidFill>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Physischer Speicher</a:t>
            </a:r>
          </a:p>
        </p:txBody>
      </p:sp>
      <p:sp>
        <p:nvSpPr>
          <p:cNvPr id="22" name="Textfeld 21"/>
          <p:cNvSpPr txBox="1"/>
          <p:nvPr/>
        </p:nvSpPr>
        <p:spPr>
          <a:xfrm>
            <a:off x="5842936" y="1174944"/>
            <a:ext cx="3159904" cy="923330"/>
          </a:xfrm>
          <a:prstGeom prst="rect">
            <a:avLst/>
          </a:prstGeom>
          <a:noFill/>
        </p:spPr>
        <p:txBody>
          <a:bodyPr wrap="none" rtlCol="0">
            <a:spAutoFit/>
          </a:bodyPr>
          <a:lstStyle/>
          <a:p>
            <a:r>
              <a:rPr lang="de-DE" dirty="0">
                <a:solidFill>
                  <a:srgbClr val="7030A0"/>
                </a:solidFill>
                <a:latin typeface="Helvetica" charset="0"/>
              </a:rPr>
              <a:t>Index des Seitenrahmens </a:t>
            </a:r>
            <a:r>
              <a:rPr lang="de-DE" dirty="0"/>
              <a:t>=</a:t>
            </a:r>
          </a:p>
          <a:p>
            <a:r>
              <a:rPr lang="de-DE" dirty="0"/>
              <a:t>	obere Bits der </a:t>
            </a:r>
            <a:br>
              <a:rPr lang="de-DE" dirty="0"/>
            </a:br>
            <a:r>
              <a:rPr lang="de-DE" dirty="0"/>
              <a:t>	physischen Adresse</a:t>
            </a:r>
          </a:p>
        </p:txBody>
      </p:sp>
      <p:cxnSp>
        <p:nvCxnSpPr>
          <p:cNvPr id="23" name="Gerade Verbindung mit Pfeil 22"/>
          <p:cNvCxnSpPr>
            <a:endCxn id="38" idx="0"/>
          </p:cNvCxnSpPr>
          <p:nvPr/>
        </p:nvCxnSpPr>
        <p:spPr>
          <a:xfrm flipH="1">
            <a:off x="5949852" y="1498110"/>
            <a:ext cx="168982" cy="84147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8" name="Gerade Verbindung mit Pfeil 27"/>
          <p:cNvCxnSpPr>
            <a:endCxn id="90" idx="1"/>
          </p:cNvCxnSpPr>
          <p:nvPr/>
        </p:nvCxnSpPr>
        <p:spPr>
          <a:xfrm>
            <a:off x="4427984" y="3524327"/>
            <a:ext cx="1365415" cy="514150"/>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102096" y="1185252"/>
            <a:ext cx="1236236" cy="923330"/>
          </a:xfrm>
          <a:prstGeom prst="rect">
            <a:avLst/>
          </a:prstGeom>
        </p:spPr>
        <p:style>
          <a:lnRef idx="2">
            <a:schemeClr val="accent6"/>
          </a:lnRef>
          <a:fillRef idx="1">
            <a:schemeClr val="lt1"/>
          </a:fillRef>
          <a:effectRef idx="0">
            <a:schemeClr val="accent6"/>
          </a:effectRef>
          <a:fontRef idx="minor">
            <a:schemeClr val="dk1"/>
          </a:fontRef>
        </p:style>
        <p:txBody>
          <a:bodyPr wrap="none" rtlCol="0">
            <a:spAutoFit/>
          </a:bodyPr>
          <a:lstStyle/>
          <a:p>
            <a:r>
              <a:rPr lang="de-DE" b="1" dirty="0">
                <a:solidFill>
                  <a:srgbClr val="FF0000"/>
                </a:solidFill>
              </a:rPr>
              <a:t>Index</a:t>
            </a:r>
            <a:r>
              <a:rPr lang="de-DE" dirty="0"/>
              <a:t> =</a:t>
            </a:r>
          </a:p>
          <a:p>
            <a:r>
              <a:rPr lang="de-DE" dirty="0"/>
              <a:t>Seiten-</a:t>
            </a:r>
          </a:p>
          <a:p>
            <a:r>
              <a:rPr lang="de-DE" dirty="0"/>
              <a:t>nummer </a:t>
            </a:r>
            <a:r>
              <a:rPr lang="de-DE" b="1" dirty="0">
                <a:solidFill>
                  <a:srgbClr val="FF0000"/>
                </a:solidFill>
              </a:rPr>
              <a:t>p</a:t>
            </a:r>
            <a:endParaRPr lang="de-DE" dirty="0">
              <a:solidFill>
                <a:srgbClr val="FF0000"/>
              </a:solidFill>
            </a:endParaRPr>
          </a:p>
        </p:txBody>
      </p:sp>
      <p:sp>
        <p:nvSpPr>
          <p:cNvPr id="16" name="TextBox 15"/>
          <p:cNvSpPr txBox="1"/>
          <p:nvPr/>
        </p:nvSpPr>
        <p:spPr>
          <a:xfrm>
            <a:off x="4433794" y="1174944"/>
            <a:ext cx="1195908" cy="1292662"/>
          </a:xfrm>
          <a:prstGeom prst="rect">
            <a:avLst/>
          </a:prstGeom>
        </p:spPr>
        <p:style>
          <a:lnRef idx="2">
            <a:schemeClr val="accent6"/>
          </a:lnRef>
          <a:fillRef idx="1">
            <a:schemeClr val="lt1"/>
          </a:fillRef>
          <a:effectRef idx="0">
            <a:schemeClr val="accent6"/>
          </a:effectRef>
          <a:fontRef idx="minor">
            <a:schemeClr val="dk1"/>
          </a:fontRef>
        </p:style>
        <p:txBody>
          <a:bodyPr wrap="square" rtlCol="0" anchor="ctr">
            <a:spAutoFit/>
          </a:bodyPr>
          <a:lstStyle/>
          <a:p>
            <a:r>
              <a:rPr lang="de-DE" b="1" dirty="0">
                <a:solidFill>
                  <a:srgbClr val="7030A0"/>
                </a:solidFill>
              </a:rPr>
              <a:t>Inhalt</a:t>
            </a:r>
            <a:r>
              <a:rPr lang="de-DE" sz="2400" dirty="0">
                <a:latin typeface="Helvetica" charset="0"/>
              </a:rPr>
              <a:t> </a:t>
            </a:r>
            <a:r>
              <a:rPr lang="de-DE" dirty="0">
                <a:latin typeface="Helvetica" charset="0"/>
              </a:rPr>
              <a:t>= Seiten-</a:t>
            </a:r>
          </a:p>
          <a:p>
            <a:r>
              <a:rPr lang="de-DE" b="1" dirty="0">
                <a:solidFill>
                  <a:srgbClr val="0070C0"/>
                </a:solidFill>
                <a:latin typeface="Helvetica" charset="0"/>
              </a:rPr>
              <a:t>rahmen-</a:t>
            </a:r>
          </a:p>
          <a:p>
            <a:r>
              <a:rPr lang="de-DE" dirty="0">
                <a:latin typeface="Helvetica" charset="0"/>
              </a:rPr>
              <a:t>nummer </a:t>
            </a:r>
            <a:r>
              <a:rPr lang="de-DE" b="1" dirty="0">
                <a:solidFill>
                  <a:srgbClr val="7030A0"/>
                </a:solidFill>
                <a:latin typeface="Helvetica" charset="0"/>
              </a:rPr>
              <a:t>f</a:t>
            </a:r>
            <a:endParaRPr lang="de-DE" dirty="0">
              <a:latin typeface="Helvetica" charset="0"/>
            </a:endParaRPr>
          </a:p>
        </p:txBody>
      </p:sp>
      <p:cxnSp>
        <p:nvCxnSpPr>
          <p:cNvPr id="6" name="Straight Arrow Connector 5"/>
          <p:cNvCxnSpPr>
            <a:stCxn id="3" idx="2"/>
          </p:cNvCxnSpPr>
          <p:nvPr/>
        </p:nvCxnSpPr>
        <p:spPr>
          <a:xfrm>
            <a:off x="3720214" y="2108582"/>
            <a:ext cx="70970" cy="672345"/>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4096" idx="1"/>
          </p:cNvCxnSpPr>
          <p:nvPr/>
        </p:nvCxnSpPr>
        <p:spPr>
          <a:xfrm>
            <a:off x="755576" y="2167988"/>
            <a:ext cx="576064" cy="1123381"/>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60" idx="3"/>
            <a:endCxn id="65" idx="1"/>
          </p:cNvCxnSpPr>
          <p:nvPr/>
        </p:nvCxnSpPr>
        <p:spPr>
          <a:xfrm flipV="1">
            <a:off x="2645764" y="3524328"/>
            <a:ext cx="1329910" cy="19069"/>
          </a:xfrm>
          <a:prstGeom prst="straightConnector1">
            <a:avLst/>
          </a:prstGeom>
          <a:ln w="28575">
            <a:solidFill>
              <a:schemeClr val="tx1"/>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096" name="Left Brace 4095"/>
          <p:cNvSpPr/>
          <p:nvPr/>
        </p:nvSpPr>
        <p:spPr>
          <a:xfrm>
            <a:off x="1331640" y="2276872"/>
            <a:ext cx="288032" cy="2028994"/>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102" name="Right Brace 4101"/>
          <p:cNvSpPr/>
          <p:nvPr/>
        </p:nvSpPr>
        <p:spPr>
          <a:xfrm>
            <a:off x="7159270" y="2251509"/>
            <a:ext cx="362305" cy="4060088"/>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121" name="Rectangle 4120"/>
          <p:cNvSpPr/>
          <p:nvPr/>
        </p:nvSpPr>
        <p:spPr>
          <a:xfrm>
            <a:off x="1619672" y="2272614"/>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Daten Seite 0</a:t>
            </a:r>
          </a:p>
        </p:txBody>
      </p:sp>
      <p:sp>
        <p:nvSpPr>
          <p:cNvPr id="59" name="Rectangle 58"/>
          <p:cNvSpPr/>
          <p:nvPr/>
        </p:nvSpPr>
        <p:spPr>
          <a:xfrm>
            <a:off x="1619672" y="2780927"/>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Daten Seite 1</a:t>
            </a:r>
          </a:p>
        </p:txBody>
      </p:sp>
      <p:sp>
        <p:nvSpPr>
          <p:cNvPr id="60" name="Rectangle 59"/>
          <p:cNvSpPr/>
          <p:nvPr/>
        </p:nvSpPr>
        <p:spPr>
          <a:xfrm>
            <a:off x="1619672" y="3289240"/>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Daten Seite 2</a:t>
            </a:r>
          </a:p>
        </p:txBody>
      </p:sp>
      <p:sp>
        <p:nvSpPr>
          <p:cNvPr id="61" name="Rectangle 60"/>
          <p:cNvSpPr/>
          <p:nvPr/>
        </p:nvSpPr>
        <p:spPr>
          <a:xfrm>
            <a:off x="1619672" y="3797553"/>
            <a:ext cx="1026092" cy="508313"/>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de-DE" dirty="0"/>
              <a:t>Daten Seite 3</a:t>
            </a:r>
          </a:p>
        </p:txBody>
      </p:sp>
      <p:sp>
        <p:nvSpPr>
          <p:cNvPr id="4123" name="Rectangle 4122"/>
          <p:cNvSpPr/>
          <p:nvPr/>
        </p:nvSpPr>
        <p:spPr>
          <a:xfrm>
            <a:off x="3975678" y="2708920"/>
            <a:ext cx="362123" cy="3261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7030A0"/>
                </a:solidFill>
              </a:rPr>
              <a:t>1</a:t>
            </a:r>
          </a:p>
        </p:txBody>
      </p:sp>
      <p:sp>
        <p:nvSpPr>
          <p:cNvPr id="64" name="Rectangle 63"/>
          <p:cNvSpPr/>
          <p:nvPr/>
        </p:nvSpPr>
        <p:spPr>
          <a:xfrm>
            <a:off x="3975677" y="3035083"/>
            <a:ext cx="362123" cy="3261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7030A0"/>
                </a:solidFill>
              </a:rPr>
              <a:t>4</a:t>
            </a:r>
          </a:p>
        </p:txBody>
      </p:sp>
      <p:sp>
        <p:nvSpPr>
          <p:cNvPr id="65" name="Rectangle 64"/>
          <p:cNvSpPr/>
          <p:nvPr/>
        </p:nvSpPr>
        <p:spPr>
          <a:xfrm>
            <a:off x="3975674" y="3361246"/>
            <a:ext cx="365435" cy="3261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7030A0"/>
                </a:solidFill>
              </a:rPr>
              <a:t>3</a:t>
            </a:r>
          </a:p>
        </p:txBody>
      </p:sp>
      <p:sp>
        <p:nvSpPr>
          <p:cNvPr id="66" name="Rectangle 65"/>
          <p:cNvSpPr/>
          <p:nvPr/>
        </p:nvSpPr>
        <p:spPr>
          <a:xfrm>
            <a:off x="3975676" y="3687409"/>
            <a:ext cx="362123" cy="32616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b="1" dirty="0">
                <a:solidFill>
                  <a:srgbClr val="7030A0"/>
                </a:solidFill>
              </a:rPr>
              <a:t>7</a:t>
            </a:r>
          </a:p>
        </p:txBody>
      </p:sp>
      <p:sp>
        <p:nvSpPr>
          <p:cNvPr id="4125" name="TextBox 4124"/>
          <p:cNvSpPr txBox="1"/>
          <p:nvPr/>
        </p:nvSpPr>
        <p:spPr>
          <a:xfrm>
            <a:off x="2970273" y="2714649"/>
            <a:ext cx="1005403" cy="338554"/>
          </a:xfrm>
          <a:prstGeom prst="rect">
            <a:avLst/>
          </a:prstGeom>
          <a:noFill/>
        </p:spPr>
        <p:txBody>
          <a:bodyPr wrap="none" rtlCol="0">
            <a:spAutoFit/>
          </a:bodyPr>
          <a:lstStyle/>
          <a:p>
            <a:r>
              <a:rPr lang="de-DE" sz="1600" dirty="0"/>
              <a:t>Eintrag </a:t>
            </a:r>
            <a:r>
              <a:rPr lang="de-DE" sz="1600" dirty="0">
                <a:solidFill>
                  <a:srgbClr val="FF0000"/>
                </a:solidFill>
              </a:rPr>
              <a:t>0</a:t>
            </a:r>
          </a:p>
        </p:txBody>
      </p:sp>
      <p:sp>
        <p:nvSpPr>
          <p:cNvPr id="69" name="TextBox 68"/>
          <p:cNvSpPr txBox="1"/>
          <p:nvPr/>
        </p:nvSpPr>
        <p:spPr>
          <a:xfrm>
            <a:off x="2970272" y="3004755"/>
            <a:ext cx="1005403" cy="338554"/>
          </a:xfrm>
          <a:prstGeom prst="rect">
            <a:avLst/>
          </a:prstGeom>
          <a:noFill/>
        </p:spPr>
        <p:txBody>
          <a:bodyPr wrap="none" rtlCol="0">
            <a:spAutoFit/>
          </a:bodyPr>
          <a:lstStyle/>
          <a:p>
            <a:r>
              <a:rPr lang="de-DE" sz="1600" dirty="0"/>
              <a:t>Eintrag </a:t>
            </a:r>
            <a:r>
              <a:rPr lang="de-DE" sz="1600" dirty="0">
                <a:solidFill>
                  <a:srgbClr val="FF0000"/>
                </a:solidFill>
              </a:rPr>
              <a:t>1</a:t>
            </a:r>
          </a:p>
        </p:txBody>
      </p:sp>
      <p:sp>
        <p:nvSpPr>
          <p:cNvPr id="70" name="TextBox 69"/>
          <p:cNvSpPr txBox="1"/>
          <p:nvPr/>
        </p:nvSpPr>
        <p:spPr>
          <a:xfrm>
            <a:off x="2970271" y="3680805"/>
            <a:ext cx="1005403" cy="338554"/>
          </a:xfrm>
          <a:prstGeom prst="rect">
            <a:avLst/>
          </a:prstGeom>
          <a:noFill/>
        </p:spPr>
        <p:txBody>
          <a:bodyPr wrap="none" rtlCol="0">
            <a:spAutoFit/>
          </a:bodyPr>
          <a:lstStyle/>
          <a:p>
            <a:r>
              <a:rPr lang="de-DE" sz="1600" dirty="0"/>
              <a:t>Eintrag </a:t>
            </a:r>
            <a:r>
              <a:rPr lang="de-DE" sz="1600" dirty="0">
                <a:solidFill>
                  <a:srgbClr val="FF0000"/>
                </a:solidFill>
              </a:rPr>
              <a:t>3</a:t>
            </a:r>
          </a:p>
        </p:txBody>
      </p:sp>
      <p:cxnSp>
        <p:nvCxnSpPr>
          <p:cNvPr id="19" name="Straight Arrow Connector 18"/>
          <p:cNvCxnSpPr>
            <a:stCxn id="16" idx="2"/>
          </p:cNvCxnSpPr>
          <p:nvPr/>
        </p:nvCxnSpPr>
        <p:spPr>
          <a:xfrm flipH="1">
            <a:off x="4245430" y="2467606"/>
            <a:ext cx="786318" cy="362680"/>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75" name="Rectangle 74"/>
          <p:cNvSpPr/>
          <p:nvPr/>
        </p:nvSpPr>
        <p:spPr>
          <a:xfrm>
            <a:off x="6118834" y="2245093"/>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de-DE" dirty="0"/>
          </a:p>
        </p:txBody>
      </p:sp>
      <p:sp>
        <p:nvSpPr>
          <p:cNvPr id="76" name="Rectangle 75"/>
          <p:cNvSpPr/>
          <p:nvPr/>
        </p:nvSpPr>
        <p:spPr>
          <a:xfrm>
            <a:off x="6118834" y="2753406"/>
            <a:ext cx="1026092" cy="508313"/>
          </a:xfrm>
          <a:prstGeom prst="rect">
            <a:avLst/>
          </a:prstGeom>
          <a:solidFill>
            <a:schemeClr val="accent1">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Inhalt Seite 0</a:t>
            </a:r>
          </a:p>
        </p:txBody>
      </p:sp>
      <p:sp>
        <p:nvSpPr>
          <p:cNvPr id="77" name="Rectangle 76"/>
          <p:cNvSpPr/>
          <p:nvPr/>
        </p:nvSpPr>
        <p:spPr>
          <a:xfrm>
            <a:off x="6118834" y="3261719"/>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de-DE" dirty="0"/>
          </a:p>
        </p:txBody>
      </p:sp>
      <p:sp>
        <p:nvSpPr>
          <p:cNvPr id="78" name="Rectangle 77"/>
          <p:cNvSpPr/>
          <p:nvPr/>
        </p:nvSpPr>
        <p:spPr>
          <a:xfrm>
            <a:off x="6118834" y="3770032"/>
            <a:ext cx="1026092" cy="508313"/>
          </a:xfrm>
          <a:prstGeom prst="rect">
            <a:avLst/>
          </a:prstGeom>
          <a:solidFill>
            <a:schemeClr val="accent3">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Inhalt Seite 2</a:t>
            </a:r>
          </a:p>
        </p:txBody>
      </p:sp>
      <p:sp>
        <p:nvSpPr>
          <p:cNvPr id="79" name="Rectangle 78"/>
          <p:cNvSpPr/>
          <p:nvPr/>
        </p:nvSpPr>
        <p:spPr>
          <a:xfrm>
            <a:off x="6118834" y="4278345"/>
            <a:ext cx="1026092" cy="508313"/>
          </a:xfrm>
          <a:prstGeom prst="rect">
            <a:avLst/>
          </a:prstGeom>
          <a:solidFill>
            <a:schemeClr val="accent2">
              <a:lumMod val="40000"/>
              <a:lumOff val="6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r>
              <a:rPr lang="de-DE" dirty="0"/>
              <a:t>Inhalt Seite 1</a:t>
            </a:r>
          </a:p>
        </p:txBody>
      </p:sp>
      <p:sp>
        <p:nvSpPr>
          <p:cNvPr id="80" name="Rectangle 79"/>
          <p:cNvSpPr/>
          <p:nvPr/>
        </p:nvSpPr>
        <p:spPr>
          <a:xfrm>
            <a:off x="6118834" y="4786658"/>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de-DE" dirty="0"/>
          </a:p>
        </p:txBody>
      </p:sp>
      <p:sp>
        <p:nvSpPr>
          <p:cNvPr id="81" name="Rectangle 80"/>
          <p:cNvSpPr/>
          <p:nvPr/>
        </p:nvSpPr>
        <p:spPr>
          <a:xfrm>
            <a:off x="6118834" y="5294971"/>
            <a:ext cx="1026092" cy="508313"/>
          </a:xfrm>
          <a:prstGeom prst="rect">
            <a:avLst/>
          </a:prstGeom>
          <a:solidFill>
            <a:schemeClr val="bg1">
              <a:lumMod val="9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de-DE" dirty="0"/>
          </a:p>
        </p:txBody>
      </p:sp>
      <p:sp>
        <p:nvSpPr>
          <p:cNvPr id="82" name="Rectangle 81"/>
          <p:cNvSpPr/>
          <p:nvPr/>
        </p:nvSpPr>
        <p:spPr>
          <a:xfrm>
            <a:off x="6118834" y="5803284"/>
            <a:ext cx="1026092" cy="508313"/>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de-DE" dirty="0"/>
              <a:t>Inhalt Seite 3</a:t>
            </a:r>
          </a:p>
        </p:txBody>
      </p:sp>
      <p:grpSp>
        <p:nvGrpSpPr>
          <p:cNvPr id="39" name="Group 38"/>
          <p:cNvGrpSpPr/>
          <p:nvPr/>
        </p:nvGrpSpPr>
        <p:grpSpPr>
          <a:xfrm>
            <a:off x="5793399" y="2339588"/>
            <a:ext cx="312906" cy="3902518"/>
            <a:chOff x="5793399" y="2339588"/>
            <a:chExt cx="312906" cy="3902518"/>
          </a:xfrm>
        </p:grpSpPr>
        <p:sp>
          <p:nvSpPr>
            <p:cNvPr id="38" name="TextBox 37"/>
            <p:cNvSpPr txBox="1"/>
            <p:nvPr/>
          </p:nvSpPr>
          <p:spPr>
            <a:xfrm>
              <a:off x="5793399" y="2339588"/>
              <a:ext cx="312906" cy="369332"/>
            </a:xfrm>
            <a:prstGeom prst="rect">
              <a:avLst/>
            </a:prstGeom>
            <a:noFill/>
          </p:spPr>
          <p:txBody>
            <a:bodyPr wrap="none" rtlCol="0">
              <a:spAutoFit/>
            </a:bodyPr>
            <a:lstStyle/>
            <a:p>
              <a:r>
                <a:rPr lang="de-DE" b="1" dirty="0">
                  <a:solidFill>
                    <a:srgbClr val="7030A0"/>
                  </a:solidFill>
                  <a:latin typeface="Helvetica" charset="0"/>
                </a:rPr>
                <a:t>0</a:t>
              </a:r>
            </a:p>
          </p:txBody>
        </p:sp>
        <p:sp>
          <p:nvSpPr>
            <p:cNvPr id="88" name="TextBox 87"/>
            <p:cNvSpPr txBox="1"/>
            <p:nvPr/>
          </p:nvSpPr>
          <p:spPr>
            <a:xfrm>
              <a:off x="5793399" y="2844329"/>
              <a:ext cx="312906" cy="369332"/>
            </a:xfrm>
            <a:prstGeom prst="rect">
              <a:avLst/>
            </a:prstGeom>
            <a:noFill/>
          </p:spPr>
          <p:txBody>
            <a:bodyPr wrap="none" rtlCol="0">
              <a:spAutoFit/>
            </a:bodyPr>
            <a:lstStyle/>
            <a:p>
              <a:pPr algn="ctr"/>
              <a:r>
                <a:rPr lang="de-DE" b="1" dirty="0">
                  <a:solidFill>
                    <a:srgbClr val="7030A0"/>
                  </a:solidFill>
                </a:rPr>
                <a:t>1</a:t>
              </a:r>
            </a:p>
          </p:txBody>
        </p:sp>
        <p:sp>
          <p:nvSpPr>
            <p:cNvPr id="89" name="TextBox 88"/>
            <p:cNvSpPr txBox="1"/>
            <p:nvPr/>
          </p:nvSpPr>
          <p:spPr>
            <a:xfrm>
              <a:off x="5793399" y="3349070"/>
              <a:ext cx="312906" cy="369332"/>
            </a:xfrm>
            <a:prstGeom prst="rect">
              <a:avLst/>
            </a:prstGeom>
            <a:noFill/>
          </p:spPr>
          <p:txBody>
            <a:bodyPr wrap="none" rtlCol="0">
              <a:spAutoFit/>
            </a:bodyPr>
            <a:lstStyle/>
            <a:p>
              <a:pPr algn="ctr"/>
              <a:r>
                <a:rPr lang="de-DE" b="1" dirty="0">
                  <a:solidFill>
                    <a:srgbClr val="7030A0"/>
                  </a:solidFill>
                </a:rPr>
                <a:t>2</a:t>
              </a:r>
            </a:p>
          </p:txBody>
        </p:sp>
        <p:sp>
          <p:nvSpPr>
            <p:cNvPr id="90" name="TextBox 89"/>
            <p:cNvSpPr txBox="1"/>
            <p:nvPr/>
          </p:nvSpPr>
          <p:spPr>
            <a:xfrm>
              <a:off x="5793399" y="3853811"/>
              <a:ext cx="312906" cy="369332"/>
            </a:xfrm>
            <a:prstGeom prst="rect">
              <a:avLst/>
            </a:prstGeom>
            <a:noFill/>
          </p:spPr>
          <p:txBody>
            <a:bodyPr wrap="none" rtlCol="0">
              <a:spAutoFit/>
            </a:bodyPr>
            <a:lstStyle/>
            <a:p>
              <a:pPr algn="ctr"/>
              <a:r>
                <a:rPr lang="de-DE" b="1" dirty="0">
                  <a:solidFill>
                    <a:srgbClr val="7030A0"/>
                  </a:solidFill>
                </a:rPr>
                <a:t>3</a:t>
              </a:r>
            </a:p>
          </p:txBody>
        </p:sp>
        <p:sp>
          <p:nvSpPr>
            <p:cNvPr id="91" name="TextBox 90"/>
            <p:cNvSpPr txBox="1"/>
            <p:nvPr/>
          </p:nvSpPr>
          <p:spPr>
            <a:xfrm>
              <a:off x="5793399" y="4358552"/>
              <a:ext cx="312906" cy="369332"/>
            </a:xfrm>
            <a:prstGeom prst="rect">
              <a:avLst/>
            </a:prstGeom>
            <a:noFill/>
          </p:spPr>
          <p:txBody>
            <a:bodyPr wrap="none" rtlCol="0">
              <a:spAutoFit/>
            </a:bodyPr>
            <a:lstStyle/>
            <a:p>
              <a:pPr algn="ctr"/>
              <a:r>
                <a:rPr lang="de-DE" b="1" dirty="0">
                  <a:solidFill>
                    <a:srgbClr val="7030A0"/>
                  </a:solidFill>
                </a:rPr>
                <a:t>4</a:t>
              </a:r>
            </a:p>
          </p:txBody>
        </p:sp>
        <p:sp>
          <p:nvSpPr>
            <p:cNvPr id="92" name="TextBox 91"/>
            <p:cNvSpPr txBox="1"/>
            <p:nvPr/>
          </p:nvSpPr>
          <p:spPr>
            <a:xfrm>
              <a:off x="5793399" y="4863293"/>
              <a:ext cx="312906" cy="369332"/>
            </a:xfrm>
            <a:prstGeom prst="rect">
              <a:avLst/>
            </a:prstGeom>
            <a:noFill/>
          </p:spPr>
          <p:txBody>
            <a:bodyPr wrap="none" rtlCol="0">
              <a:spAutoFit/>
            </a:bodyPr>
            <a:lstStyle/>
            <a:p>
              <a:pPr algn="ctr"/>
              <a:r>
                <a:rPr lang="de-DE" b="1" dirty="0">
                  <a:solidFill>
                    <a:srgbClr val="7030A0"/>
                  </a:solidFill>
                </a:rPr>
                <a:t>5</a:t>
              </a:r>
            </a:p>
          </p:txBody>
        </p:sp>
        <p:sp>
          <p:nvSpPr>
            <p:cNvPr id="93" name="TextBox 92"/>
            <p:cNvSpPr txBox="1"/>
            <p:nvPr/>
          </p:nvSpPr>
          <p:spPr>
            <a:xfrm>
              <a:off x="5793399" y="5368034"/>
              <a:ext cx="312906" cy="369332"/>
            </a:xfrm>
            <a:prstGeom prst="rect">
              <a:avLst/>
            </a:prstGeom>
            <a:noFill/>
          </p:spPr>
          <p:txBody>
            <a:bodyPr wrap="none" rtlCol="0">
              <a:spAutoFit/>
            </a:bodyPr>
            <a:lstStyle/>
            <a:p>
              <a:pPr algn="ctr"/>
              <a:r>
                <a:rPr lang="de-DE" b="1" dirty="0">
                  <a:solidFill>
                    <a:srgbClr val="7030A0"/>
                  </a:solidFill>
                </a:rPr>
                <a:t>6</a:t>
              </a:r>
            </a:p>
          </p:txBody>
        </p:sp>
        <p:sp>
          <p:nvSpPr>
            <p:cNvPr id="94" name="TextBox 93"/>
            <p:cNvSpPr txBox="1"/>
            <p:nvPr/>
          </p:nvSpPr>
          <p:spPr>
            <a:xfrm>
              <a:off x="5793399" y="5872774"/>
              <a:ext cx="312906" cy="369332"/>
            </a:xfrm>
            <a:prstGeom prst="rect">
              <a:avLst/>
            </a:prstGeom>
            <a:noFill/>
          </p:spPr>
          <p:txBody>
            <a:bodyPr wrap="none" rtlCol="0">
              <a:spAutoFit/>
            </a:bodyPr>
            <a:lstStyle/>
            <a:p>
              <a:pPr algn="ctr"/>
              <a:r>
                <a:rPr lang="de-DE" b="1" dirty="0">
                  <a:solidFill>
                    <a:srgbClr val="7030A0"/>
                  </a:solidFill>
                </a:rPr>
                <a:t>7</a:t>
              </a:r>
            </a:p>
          </p:txBody>
        </p:sp>
      </p:grpSp>
      <p:sp>
        <p:nvSpPr>
          <p:cNvPr id="13" name="Rechteck 12"/>
          <p:cNvSpPr/>
          <p:nvPr/>
        </p:nvSpPr>
        <p:spPr>
          <a:xfrm>
            <a:off x="1096961" y="2336682"/>
            <a:ext cx="312906" cy="369332"/>
          </a:xfrm>
          <a:prstGeom prst="rect">
            <a:avLst/>
          </a:prstGeom>
        </p:spPr>
        <p:txBody>
          <a:bodyPr wrap="none">
            <a:spAutoFit/>
          </a:bodyPr>
          <a:lstStyle/>
          <a:p>
            <a:r>
              <a:rPr lang="de-DE" dirty="0">
                <a:solidFill>
                  <a:srgbClr val="FF0000"/>
                </a:solidFill>
              </a:rPr>
              <a:t>0</a:t>
            </a:r>
            <a:endParaRPr lang="en-US" dirty="0"/>
          </a:p>
        </p:txBody>
      </p:sp>
      <p:sp>
        <p:nvSpPr>
          <p:cNvPr id="54" name="Rechteck 53"/>
          <p:cNvSpPr/>
          <p:nvPr/>
        </p:nvSpPr>
        <p:spPr>
          <a:xfrm>
            <a:off x="1099216" y="2796957"/>
            <a:ext cx="312906" cy="369332"/>
          </a:xfrm>
          <a:prstGeom prst="rect">
            <a:avLst/>
          </a:prstGeom>
        </p:spPr>
        <p:txBody>
          <a:bodyPr wrap="none">
            <a:spAutoFit/>
          </a:bodyPr>
          <a:lstStyle/>
          <a:p>
            <a:r>
              <a:rPr lang="de-DE" dirty="0">
                <a:solidFill>
                  <a:srgbClr val="FF0000"/>
                </a:solidFill>
              </a:rPr>
              <a:t>1</a:t>
            </a:r>
            <a:endParaRPr lang="en-US" dirty="0"/>
          </a:p>
        </p:txBody>
      </p:sp>
      <p:sp>
        <p:nvSpPr>
          <p:cNvPr id="55" name="Rechteck 54"/>
          <p:cNvSpPr/>
          <p:nvPr/>
        </p:nvSpPr>
        <p:spPr>
          <a:xfrm>
            <a:off x="1105221" y="3339661"/>
            <a:ext cx="312906" cy="369332"/>
          </a:xfrm>
          <a:prstGeom prst="rect">
            <a:avLst/>
          </a:prstGeom>
        </p:spPr>
        <p:txBody>
          <a:bodyPr wrap="none">
            <a:spAutoFit/>
          </a:bodyPr>
          <a:lstStyle/>
          <a:p>
            <a:r>
              <a:rPr lang="de-DE" dirty="0">
                <a:solidFill>
                  <a:srgbClr val="FF0000"/>
                </a:solidFill>
              </a:rPr>
              <a:t>2</a:t>
            </a:r>
            <a:endParaRPr lang="en-US" dirty="0"/>
          </a:p>
        </p:txBody>
      </p:sp>
      <p:sp>
        <p:nvSpPr>
          <p:cNvPr id="56" name="Rechteck 55"/>
          <p:cNvSpPr/>
          <p:nvPr/>
        </p:nvSpPr>
        <p:spPr>
          <a:xfrm>
            <a:off x="1103813" y="3822763"/>
            <a:ext cx="312906" cy="369332"/>
          </a:xfrm>
          <a:prstGeom prst="rect">
            <a:avLst/>
          </a:prstGeom>
        </p:spPr>
        <p:txBody>
          <a:bodyPr wrap="none">
            <a:spAutoFit/>
          </a:bodyPr>
          <a:lstStyle/>
          <a:p>
            <a:r>
              <a:rPr lang="de-DE" dirty="0">
                <a:solidFill>
                  <a:srgbClr val="FF0000"/>
                </a:solidFill>
              </a:rPr>
              <a:t>3</a:t>
            </a:r>
            <a:endParaRPr lang="en-US" dirty="0"/>
          </a:p>
        </p:txBody>
      </p:sp>
      <p:sp>
        <p:nvSpPr>
          <p:cNvPr id="14" name="Rechteckige Legende 13"/>
          <p:cNvSpPr/>
          <p:nvPr/>
        </p:nvSpPr>
        <p:spPr>
          <a:xfrm>
            <a:off x="52704" y="4396808"/>
            <a:ext cx="3144057" cy="354779"/>
          </a:xfrm>
          <a:prstGeom prst="wedgeRectCallout">
            <a:avLst>
              <a:gd name="adj1" fmla="val -12606"/>
              <a:gd name="adj2" fmla="val -125076"/>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err="1"/>
              <a:t>Seiten</a:t>
            </a:r>
            <a:r>
              <a:rPr lang="en-US" b="1" dirty="0" err="1">
                <a:solidFill>
                  <a:srgbClr val="FF0000"/>
                </a:solidFill>
              </a:rPr>
              <a:t>index</a:t>
            </a:r>
            <a:r>
              <a:rPr lang="en-US" dirty="0"/>
              <a:t> (“</a:t>
            </a:r>
            <a:r>
              <a:rPr lang="en-US" dirty="0" err="1"/>
              <a:t>Kachel</a:t>
            </a:r>
            <a:r>
              <a:rPr lang="en-US" dirty="0"/>
              <a:t>-nr.”) </a:t>
            </a:r>
            <a:r>
              <a:rPr lang="en-US" b="1" dirty="0">
                <a:solidFill>
                  <a:srgbClr val="FF0000"/>
                </a:solidFill>
              </a:rPr>
              <a:t>p</a:t>
            </a:r>
          </a:p>
        </p:txBody>
      </p:sp>
    </p:spTree>
    <p:extLst>
      <p:ext uri="{BB962C8B-B14F-4D97-AF65-F5344CB8AC3E}">
        <p14:creationId xmlns:p14="http://schemas.microsoft.com/office/powerpoint/2010/main" val="2855950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bg/>
                                          </p:spTgt>
                                        </p:tgtEl>
                                        <p:attrNameLst>
                                          <p:attrName>style.visibility</p:attrName>
                                        </p:attrNameLst>
                                      </p:cBhvr>
                                      <p:to>
                                        <p:strVal val="visible"/>
                                      </p:to>
                                    </p:set>
                                    <p:animEffect transition="in" filter="fade">
                                      <p:cBhvr>
                                        <p:cTn id="7" dur="500"/>
                                        <p:tgtEl>
                                          <p:spTgt spid="15">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91440"/>
            <a:ext cx="8229600" cy="990600"/>
          </a:xfrm>
        </p:spPr>
        <p:txBody>
          <a:bodyPr/>
          <a:lstStyle/>
          <a:p>
            <a:r>
              <a:rPr lang="de-DE" dirty="0"/>
              <a:t>Adressübersetzung durch Seitentabelle /2</a:t>
            </a:r>
          </a:p>
        </p:txBody>
      </p:sp>
      <p:sp>
        <p:nvSpPr>
          <p:cNvPr id="4" name="Foliennummernplatzhalter 3"/>
          <p:cNvSpPr>
            <a:spLocks noGrp="1"/>
          </p:cNvSpPr>
          <p:nvPr>
            <p:ph type="sldNum" sz="quarter" idx="12"/>
          </p:nvPr>
        </p:nvSpPr>
        <p:spPr>
          <a:xfrm>
            <a:off x="8511847" y="6492240"/>
            <a:ext cx="601766" cy="365760"/>
          </a:xfrm>
        </p:spPr>
        <p:txBody>
          <a:bodyPr/>
          <a:lstStyle/>
          <a:p>
            <a:fld id="{7183533A-8A50-4A1F-BEA9-C8C6956451EB}" type="slidenum">
              <a:rPr lang="en-US" noProof="0" smtClean="0"/>
              <a:pPr/>
              <a:t>15</a:t>
            </a:fld>
            <a:endParaRPr lang="en-US" noProof="0" dirty="0"/>
          </a:p>
        </p:txBody>
      </p:sp>
      <p:pic>
        <p:nvPicPr>
          <p:cNvPr id="4098" name="Picture 2"/>
          <p:cNvPicPr>
            <a:picLocks noChangeAspect="1" noChangeArrowheads="1"/>
          </p:cNvPicPr>
          <p:nvPr/>
        </p:nvPicPr>
        <p:blipFill>
          <a:blip r:embed="rId3" cstate="print"/>
          <a:srcRect/>
          <a:stretch>
            <a:fillRect/>
          </a:stretch>
        </p:blipFill>
        <p:spPr bwMode="auto">
          <a:xfrm>
            <a:off x="535252" y="1164501"/>
            <a:ext cx="6734175" cy="4381500"/>
          </a:xfrm>
          <a:prstGeom prst="rect">
            <a:avLst/>
          </a:prstGeom>
          <a:noFill/>
          <a:ln w="9525">
            <a:noFill/>
            <a:miter lim="800000"/>
            <a:headEnd/>
            <a:tailEnd/>
          </a:ln>
        </p:spPr>
      </p:pic>
      <p:sp>
        <p:nvSpPr>
          <p:cNvPr id="7" name="Textfeld 6"/>
          <p:cNvSpPr txBox="1"/>
          <p:nvPr/>
        </p:nvSpPr>
        <p:spPr>
          <a:xfrm>
            <a:off x="3036483" y="4868267"/>
            <a:ext cx="1518364" cy="369332"/>
          </a:xfrm>
          <a:prstGeom prst="rect">
            <a:avLst/>
          </a:prstGeom>
          <a:noFill/>
        </p:spPr>
        <p:txBody>
          <a:bodyPr wrap="none" rtlCol="0">
            <a:spAutoFit/>
          </a:bodyPr>
          <a:lstStyle/>
          <a:p>
            <a:r>
              <a:rPr lang="de-DE" dirty="0"/>
              <a:t>Seitentabelle</a:t>
            </a:r>
          </a:p>
        </p:txBody>
      </p:sp>
      <p:sp>
        <p:nvSpPr>
          <p:cNvPr id="8" name="Textfeld 7"/>
          <p:cNvSpPr txBox="1"/>
          <p:nvPr/>
        </p:nvSpPr>
        <p:spPr>
          <a:xfrm>
            <a:off x="1327340" y="2100605"/>
            <a:ext cx="1031051" cy="646331"/>
          </a:xfrm>
          <a:prstGeom prst="rect">
            <a:avLst/>
          </a:prstGeom>
          <a:noFill/>
        </p:spPr>
        <p:txBody>
          <a:bodyPr wrap="none" rtlCol="0">
            <a:spAutoFit/>
          </a:bodyPr>
          <a:lstStyle/>
          <a:p>
            <a:r>
              <a:rPr lang="de-DE" dirty="0"/>
              <a:t>logische</a:t>
            </a:r>
          </a:p>
          <a:p>
            <a:r>
              <a:rPr lang="de-DE" dirty="0"/>
              <a:t>Adresse</a:t>
            </a:r>
          </a:p>
        </p:txBody>
      </p:sp>
      <p:sp>
        <p:nvSpPr>
          <p:cNvPr id="9" name="Textfeld 8"/>
          <p:cNvSpPr txBox="1"/>
          <p:nvPr/>
        </p:nvSpPr>
        <p:spPr>
          <a:xfrm>
            <a:off x="4344171" y="2796831"/>
            <a:ext cx="1210588" cy="646331"/>
          </a:xfrm>
          <a:prstGeom prst="rect">
            <a:avLst/>
          </a:prstGeom>
          <a:noFill/>
        </p:spPr>
        <p:txBody>
          <a:bodyPr wrap="none" rtlCol="0">
            <a:spAutoFit/>
          </a:bodyPr>
          <a:lstStyle/>
          <a:p>
            <a:r>
              <a:rPr lang="de-DE" dirty="0"/>
              <a:t>physische</a:t>
            </a:r>
          </a:p>
          <a:p>
            <a:r>
              <a:rPr lang="de-DE" dirty="0"/>
              <a:t>Adresse</a:t>
            </a:r>
          </a:p>
        </p:txBody>
      </p:sp>
      <p:sp>
        <p:nvSpPr>
          <p:cNvPr id="10" name="Textfeld 9"/>
          <p:cNvSpPr txBox="1"/>
          <p:nvPr/>
        </p:nvSpPr>
        <p:spPr>
          <a:xfrm>
            <a:off x="7295963" y="2005914"/>
            <a:ext cx="1633781" cy="584775"/>
          </a:xfrm>
          <a:prstGeom prst="rect">
            <a:avLst/>
          </a:prstGeom>
          <a:noFill/>
        </p:spPr>
        <p:txBody>
          <a:bodyPr wrap="none" rtlCol="0">
            <a:spAutoFit/>
          </a:bodyPr>
          <a:lstStyle/>
          <a:p>
            <a:r>
              <a:rPr lang="de-DE" sz="1600" dirty="0"/>
              <a:t>f = Seiten-</a:t>
            </a:r>
          </a:p>
          <a:p>
            <a:r>
              <a:rPr lang="de-DE" sz="1600" dirty="0" err="1"/>
              <a:t>rahmennummer</a:t>
            </a:r>
            <a:endParaRPr lang="de-DE" sz="1600" dirty="0"/>
          </a:p>
        </p:txBody>
      </p:sp>
      <p:sp>
        <p:nvSpPr>
          <p:cNvPr id="11" name="Textfeld 10"/>
          <p:cNvSpPr txBox="1"/>
          <p:nvPr/>
        </p:nvSpPr>
        <p:spPr>
          <a:xfrm>
            <a:off x="5148064" y="5182806"/>
            <a:ext cx="2403960"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Physischer Speicher</a:t>
            </a:r>
          </a:p>
        </p:txBody>
      </p:sp>
      <p:sp>
        <p:nvSpPr>
          <p:cNvPr id="12" name="Geschweifte Klammer links 11"/>
          <p:cNvSpPr/>
          <p:nvPr/>
        </p:nvSpPr>
        <p:spPr>
          <a:xfrm rot="16200000">
            <a:off x="4850194" y="3424071"/>
            <a:ext cx="360040" cy="1008112"/>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13" name="Textfeld 12"/>
          <p:cNvSpPr txBox="1"/>
          <p:nvPr/>
        </p:nvSpPr>
        <p:spPr>
          <a:xfrm>
            <a:off x="4279668" y="4116829"/>
            <a:ext cx="1402435" cy="584775"/>
          </a:xfrm>
          <a:prstGeom prst="rect">
            <a:avLst/>
          </a:prstGeom>
          <a:noFill/>
        </p:spPr>
        <p:txBody>
          <a:bodyPr wrap="none" rtlCol="0">
            <a:spAutoFit/>
          </a:bodyPr>
          <a:lstStyle/>
          <a:p>
            <a:r>
              <a:rPr lang="de-DE" sz="1600" dirty="0"/>
              <a:t>Offsetbereich</a:t>
            </a:r>
          </a:p>
          <a:p>
            <a:r>
              <a:rPr lang="de-DE" sz="1600" dirty="0"/>
              <a:t>der Adresse</a:t>
            </a:r>
          </a:p>
        </p:txBody>
      </p:sp>
      <p:sp>
        <p:nvSpPr>
          <p:cNvPr id="15" name="Geschweifte Klammer rechts 14"/>
          <p:cNvSpPr/>
          <p:nvPr/>
        </p:nvSpPr>
        <p:spPr>
          <a:xfrm>
            <a:off x="6943964" y="2460645"/>
            <a:ext cx="366490" cy="1344014"/>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6" name="Textfeld 15"/>
          <p:cNvSpPr txBox="1"/>
          <p:nvPr/>
        </p:nvSpPr>
        <p:spPr>
          <a:xfrm>
            <a:off x="7312465" y="2700969"/>
            <a:ext cx="1707519" cy="830997"/>
          </a:xfrm>
          <a:prstGeom prst="rect">
            <a:avLst/>
          </a:prstGeom>
          <a:noFill/>
        </p:spPr>
        <p:txBody>
          <a:bodyPr wrap="square" rtlCol="0">
            <a:spAutoFit/>
          </a:bodyPr>
          <a:lstStyle/>
          <a:p>
            <a:r>
              <a:rPr lang="de-DE" sz="1600" dirty="0"/>
              <a:t>Adressenbereich</a:t>
            </a:r>
          </a:p>
          <a:p>
            <a:r>
              <a:rPr lang="de-DE" sz="1600" dirty="0"/>
              <a:t>in einem Seiten-rahmen</a:t>
            </a:r>
          </a:p>
        </p:txBody>
      </p:sp>
      <p:sp>
        <p:nvSpPr>
          <p:cNvPr id="17" name="Textfeld 16"/>
          <p:cNvSpPr txBox="1"/>
          <p:nvPr/>
        </p:nvSpPr>
        <p:spPr>
          <a:xfrm>
            <a:off x="7796572" y="1181271"/>
            <a:ext cx="1223412" cy="369332"/>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lstStyle/>
          <a:p>
            <a:r>
              <a:rPr lang="de-DE" dirty="0"/>
              <a:t>Adresse 0</a:t>
            </a:r>
          </a:p>
        </p:txBody>
      </p:sp>
      <p:sp>
        <p:nvSpPr>
          <p:cNvPr id="18" name="Textfeld 17"/>
          <p:cNvSpPr txBox="1"/>
          <p:nvPr/>
        </p:nvSpPr>
        <p:spPr>
          <a:xfrm>
            <a:off x="7907764" y="4134235"/>
            <a:ext cx="1236236" cy="923330"/>
          </a:xfrm>
          <a:prstGeom prst="rect">
            <a:avLst/>
          </a:prstGeom>
        </p:spPr>
        <p:style>
          <a:lnRef idx="3">
            <a:schemeClr val="lt1"/>
          </a:lnRef>
          <a:fillRef idx="1">
            <a:schemeClr val="accent6"/>
          </a:fillRef>
          <a:effectRef idx="1">
            <a:schemeClr val="accent6"/>
          </a:effectRef>
          <a:fontRef idx="minor">
            <a:schemeClr val="lt1"/>
          </a:fontRef>
        </p:style>
        <p:txBody>
          <a:bodyPr wrap="none" rtlCol="0">
            <a:spAutoFit/>
          </a:bodyPr>
          <a:lstStyle/>
          <a:p>
            <a:r>
              <a:rPr lang="de-DE" dirty="0"/>
              <a:t>Maximale </a:t>
            </a:r>
          </a:p>
          <a:p>
            <a:r>
              <a:rPr lang="de-DE" dirty="0"/>
              <a:t>physische</a:t>
            </a:r>
          </a:p>
          <a:p>
            <a:r>
              <a:rPr lang="de-DE" dirty="0"/>
              <a:t>Adresse</a:t>
            </a:r>
          </a:p>
        </p:txBody>
      </p:sp>
      <p:sp>
        <p:nvSpPr>
          <p:cNvPr id="19" name="Textfeld 18"/>
          <p:cNvSpPr txBox="1"/>
          <p:nvPr/>
        </p:nvSpPr>
        <p:spPr>
          <a:xfrm>
            <a:off x="340282" y="1195118"/>
            <a:ext cx="4807782" cy="646331"/>
          </a:xfrm>
          <a:prstGeom prst="rect">
            <a:avLst/>
          </a:prstGeom>
          <a:ln/>
        </p:spPr>
        <p:style>
          <a:lnRef idx="3">
            <a:schemeClr val="lt1"/>
          </a:lnRef>
          <a:fillRef idx="1">
            <a:schemeClr val="accent6"/>
          </a:fillRef>
          <a:effectRef idx="1">
            <a:schemeClr val="accent6"/>
          </a:effectRef>
          <a:fontRef idx="minor">
            <a:schemeClr val="lt1"/>
          </a:fontRef>
        </p:style>
        <p:txBody>
          <a:bodyPr wrap="square" rtlCol="0">
            <a:spAutoFit/>
          </a:bodyPr>
          <a:lstStyle/>
          <a:p>
            <a:r>
              <a:rPr lang="de-DE" dirty="0"/>
              <a:t>f = Seitenrahmennummer = die oberen Bits der Basisadresse eines Seitenrahmens</a:t>
            </a:r>
          </a:p>
        </p:txBody>
      </p:sp>
      <p:cxnSp>
        <p:nvCxnSpPr>
          <p:cNvPr id="21" name="Gerade Verbindung mit Pfeil 20"/>
          <p:cNvCxnSpPr>
            <a:stCxn id="19" idx="2"/>
          </p:cNvCxnSpPr>
          <p:nvPr/>
        </p:nvCxnSpPr>
        <p:spPr>
          <a:xfrm>
            <a:off x="2744173" y="1841449"/>
            <a:ext cx="1599998" cy="763212"/>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3" name="Inhaltsplatzhalter 14"/>
          <p:cNvSpPr>
            <a:spLocks noGrp="1"/>
          </p:cNvSpPr>
          <p:nvPr>
            <p:ph sz="quarter" idx="1"/>
          </p:nvPr>
        </p:nvSpPr>
        <p:spPr>
          <a:xfrm>
            <a:off x="165758" y="5805264"/>
            <a:ext cx="7776864" cy="936104"/>
          </a:xfrm>
        </p:spPr>
        <p:txBody>
          <a:bodyPr>
            <a:normAutofit/>
          </a:bodyPr>
          <a:lstStyle/>
          <a:p>
            <a:r>
              <a:rPr lang="de-DE" sz="2400" dirty="0"/>
              <a:t>Größe einer Seite == Größe eines Seitenrahmens</a:t>
            </a:r>
            <a:endParaRPr lang="de-DE" sz="2100" dirty="0"/>
          </a:p>
          <a:p>
            <a:r>
              <a:rPr lang="de-DE" sz="2400" dirty="0"/>
              <a:t>IA-32 Architektur (x86): 4 kB oder 4 MB</a:t>
            </a:r>
          </a:p>
          <a:p>
            <a:endParaRPr lang="de-DE" sz="2400" dirty="0"/>
          </a:p>
        </p:txBody>
      </p:sp>
      <p:cxnSp>
        <p:nvCxnSpPr>
          <p:cNvPr id="26" name="Straight Arrow Connector 25"/>
          <p:cNvCxnSpPr>
            <a:stCxn id="17" idx="1"/>
          </p:cNvCxnSpPr>
          <p:nvPr/>
        </p:nvCxnSpPr>
        <p:spPr>
          <a:xfrm flipH="1" flipV="1">
            <a:off x="6943964" y="1181271"/>
            <a:ext cx="852608" cy="18466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8" idx="1"/>
          </p:cNvCxnSpPr>
          <p:nvPr/>
        </p:nvCxnSpPr>
        <p:spPr>
          <a:xfrm flipH="1">
            <a:off x="6943964" y="4595900"/>
            <a:ext cx="963800" cy="54979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2" name="Textfeld 21"/>
          <p:cNvSpPr txBox="1"/>
          <p:nvPr/>
        </p:nvSpPr>
        <p:spPr>
          <a:xfrm>
            <a:off x="7092279" y="1637035"/>
            <a:ext cx="1903281" cy="369332"/>
          </a:xfrm>
          <a:prstGeom prst="rect">
            <a:avLst/>
          </a:prstGeom>
          <a:solidFill>
            <a:schemeClr val="bg1"/>
          </a:solidFill>
        </p:spPr>
        <p:txBody>
          <a:bodyPr wrap="square" rtlCol="0">
            <a:spAutoFit/>
          </a:bodyPr>
          <a:lstStyle/>
          <a:p>
            <a:r>
              <a:rPr lang="en-US" dirty="0"/>
              <a:t>f*(</a:t>
            </a:r>
            <a:r>
              <a:rPr lang="en-US" dirty="0" err="1"/>
              <a:t>Seitengröße</a:t>
            </a:r>
            <a:r>
              <a:rPr lang="en-US" dirty="0"/>
              <a:t>)</a:t>
            </a:r>
          </a:p>
        </p:txBody>
      </p:sp>
    </p:spTree>
    <p:extLst>
      <p:ext uri="{BB962C8B-B14F-4D97-AF65-F5344CB8AC3E}">
        <p14:creationId xmlns:p14="http://schemas.microsoft.com/office/powerpoint/2010/main" val="846389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2000"/>
                                        <p:tgtEl>
                                          <p:spTgt spid="2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fade">
                                      <p:cBhvr>
                                        <p:cTn id="10" dur="20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err="1"/>
              <a:t>Direkte</a:t>
            </a:r>
            <a:r>
              <a:rPr lang="en-US" dirty="0"/>
              <a:t> (</a:t>
            </a:r>
            <a:r>
              <a:rPr lang="en-US" dirty="0" err="1"/>
              <a:t>d.h</a:t>
            </a:r>
            <a:r>
              <a:rPr lang="en-US" dirty="0"/>
              <a:t>. “</a:t>
            </a:r>
            <a:r>
              <a:rPr lang="en-US" dirty="0" err="1"/>
              <a:t>Normale</a:t>
            </a:r>
            <a:r>
              <a:rPr lang="en-US" dirty="0"/>
              <a:t>”) </a:t>
            </a:r>
            <a:r>
              <a:rPr lang="en-US" dirty="0" err="1"/>
              <a:t>Seitentabellen</a:t>
            </a:r>
            <a:endParaRPr lang="en-US" dirty="0"/>
          </a:p>
        </p:txBody>
      </p:sp>
      <p:sp>
        <p:nvSpPr>
          <p:cNvPr id="3" name="Foliennummernplatzhalter 2"/>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6AE60A-B69C-4790-82F7-3882EDF23186}" type="slidenum">
              <a:rPr kumimoji="0" lang="de-DE"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de-DE" sz="1400" b="0" i="0" u="none" strike="noStrike" kern="1200" cap="none" spc="0" normalizeH="0" baseline="0" noProof="0">
              <a:ln>
                <a:noFill/>
              </a:ln>
              <a:solidFill>
                <a:srgbClr val="4F271C"/>
              </a:solidFill>
              <a:effectLst/>
              <a:uLnTx/>
              <a:uFillTx/>
              <a:latin typeface="Arial"/>
              <a:ea typeface="+mn-ea"/>
              <a:cs typeface="+mn-cs"/>
            </a:endParaRPr>
          </a:p>
        </p:txBody>
      </p:sp>
      <p:sp>
        <p:nvSpPr>
          <p:cNvPr id="5" name="Inhaltsplatzhalter 4"/>
          <p:cNvSpPr>
            <a:spLocks noGrp="1"/>
          </p:cNvSpPr>
          <p:nvPr>
            <p:ph sz="quarter" idx="2"/>
          </p:nvPr>
        </p:nvSpPr>
        <p:spPr>
          <a:xfrm>
            <a:off x="3419872" y="1216152"/>
            <a:ext cx="5472608" cy="5381200"/>
          </a:xfrm>
        </p:spPr>
        <p:txBody>
          <a:bodyPr>
            <a:normAutofit/>
          </a:bodyPr>
          <a:lstStyle/>
          <a:p>
            <a:r>
              <a:rPr lang="de-DE" dirty="0"/>
              <a:t>Wie berechnet man </a:t>
            </a:r>
            <a:r>
              <a:rPr lang="de-DE" sz="2800" dirty="0" err="1"/>
              <a:t>F</a:t>
            </a:r>
            <a:r>
              <a:rPr lang="de-DE" sz="2800" baseline="-25000" dirty="0" err="1"/>
              <a:t>pid</a:t>
            </a:r>
            <a:r>
              <a:rPr lang="de-DE" sz="2800" dirty="0"/>
              <a:t>() mit einer direkten Seitentabelle?</a:t>
            </a:r>
            <a:endParaRPr lang="de-DE" dirty="0"/>
          </a:p>
          <a:p>
            <a:pPr marL="274320" lvl="1">
              <a:spcBef>
                <a:spcPts val="600"/>
              </a:spcBef>
              <a:buClr>
                <a:schemeClr val="accent1"/>
              </a:buClr>
            </a:pPr>
            <a:r>
              <a:rPr lang="de-DE" sz="2600" dirty="0" err="1">
                <a:solidFill>
                  <a:schemeClr val="tx1"/>
                </a:solidFill>
              </a:rPr>
              <a:t>F</a:t>
            </a:r>
            <a:r>
              <a:rPr lang="de-DE" sz="2600" baseline="-25000" dirty="0" err="1">
                <a:solidFill>
                  <a:schemeClr val="tx1"/>
                </a:solidFill>
              </a:rPr>
              <a:t>pid</a:t>
            </a:r>
            <a:r>
              <a:rPr lang="de-DE" sz="2600" dirty="0">
                <a:solidFill>
                  <a:schemeClr val="tx1"/>
                </a:solidFill>
              </a:rPr>
              <a:t>() ist implementiert als ein Tabellen-</a:t>
            </a:r>
            <a:r>
              <a:rPr lang="de-DE" sz="2600" b="1" dirty="0">
                <a:solidFill>
                  <a:srgbClr val="0070C0"/>
                </a:solidFill>
              </a:rPr>
              <a:t>look-</a:t>
            </a:r>
            <a:r>
              <a:rPr lang="de-DE" sz="2600" b="1" dirty="0" err="1">
                <a:solidFill>
                  <a:srgbClr val="0070C0"/>
                </a:solidFill>
              </a:rPr>
              <a:t>up</a:t>
            </a:r>
            <a:r>
              <a:rPr lang="de-DE" sz="2600" dirty="0">
                <a:solidFill>
                  <a:schemeClr val="tx1"/>
                </a:solidFill>
              </a:rPr>
              <a:t>: sehr schnell</a:t>
            </a:r>
          </a:p>
          <a:p>
            <a:r>
              <a:rPr lang="de-DE" dirty="0"/>
              <a:t>In </a:t>
            </a:r>
            <a:r>
              <a:rPr lang="de-DE" b="1" dirty="0"/>
              <a:t>DST</a:t>
            </a:r>
            <a:r>
              <a:rPr lang="de-DE" dirty="0"/>
              <a:t>, Eintrag mit Index </a:t>
            </a:r>
            <a:r>
              <a:rPr lang="de-DE" b="1" dirty="0">
                <a:solidFill>
                  <a:srgbClr val="FF0000"/>
                </a:solidFill>
              </a:rPr>
              <a:t>p</a:t>
            </a:r>
            <a:r>
              <a:rPr lang="de-DE" dirty="0"/>
              <a:t> enthält Wert </a:t>
            </a:r>
            <a:r>
              <a:rPr lang="de-DE" b="1" dirty="0">
                <a:solidFill>
                  <a:srgbClr val="0070C0"/>
                </a:solidFill>
              </a:rPr>
              <a:t>f</a:t>
            </a:r>
            <a:r>
              <a:rPr lang="de-DE" dirty="0"/>
              <a:t> mit: </a:t>
            </a:r>
            <a:r>
              <a:rPr lang="de-DE" sz="2800" b="1" dirty="0" err="1"/>
              <a:t>F</a:t>
            </a:r>
            <a:r>
              <a:rPr lang="de-DE" sz="2800" b="1" baseline="-25000" dirty="0" err="1"/>
              <a:t>pid</a:t>
            </a:r>
            <a:r>
              <a:rPr lang="de-DE" sz="2800" b="1" dirty="0"/>
              <a:t>(</a:t>
            </a:r>
            <a:r>
              <a:rPr lang="de-DE" sz="2800" b="1" dirty="0">
                <a:solidFill>
                  <a:srgbClr val="FF0000"/>
                </a:solidFill>
              </a:rPr>
              <a:t>p</a:t>
            </a:r>
            <a:r>
              <a:rPr lang="de-DE" sz="2800" b="1" dirty="0"/>
              <a:t>) = </a:t>
            </a:r>
            <a:r>
              <a:rPr lang="de-DE" sz="2800" b="1" dirty="0">
                <a:solidFill>
                  <a:srgbClr val="0070C0"/>
                </a:solidFill>
              </a:rPr>
              <a:t>f</a:t>
            </a:r>
            <a:endParaRPr lang="de-DE" sz="2800" dirty="0"/>
          </a:p>
          <a:p>
            <a:pPr lvl="1"/>
            <a:r>
              <a:rPr lang="de-DE" dirty="0"/>
              <a:t>Index </a:t>
            </a:r>
            <a:r>
              <a:rPr lang="de-DE" b="1" dirty="0">
                <a:solidFill>
                  <a:srgbClr val="FF0000"/>
                </a:solidFill>
              </a:rPr>
              <a:t>p</a:t>
            </a:r>
            <a:r>
              <a:rPr lang="de-DE" dirty="0"/>
              <a:t> </a:t>
            </a:r>
            <a:r>
              <a:rPr lang="de-DE" dirty="0">
                <a:sym typeface="Symbol" panose="05050102010706020507" pitchFamily="18" charset="2"/>
              </a:rPr>
              <a:t>= </a:t>
            </a:r>
            <a:r>
              <a:rPr lang="de-DE" b="1" dirty="0">
                <a:solidFill>
                  <a:srgbClr val="FF0000"/>
                </a:solidFill>
                <a:sym typeface="Symbol" panose="05050102010706020507" pitchFamily="18" charset="2"/>
              </a:rPr>
              <a:t>Seiten</a:t>
            </a:r>
            <a:r>
              <a:rPr lang="de-DE" dirty="0">
                <a:sym typeface="Symbol" panose="05050102010706020507" pitchFamily="18" charset="2"/>
              </a:rPr>
              <a:t>nummer</a:t>
            </a:r>
          </a:p>
          <a:p>
            <a:pPr lvl="1"/>
            <a:r>
              <a:rPr lang="de-DE" dirty="0">
                <a:sym typeface="Symbol" panose="05050102010706020507" pitchFamily="18" charset="2"/>
              </a:rPr>
              <a:t>Inhalt </a:t>
            </a:r>
            <a:r>
              <a:rPr lang="de-DE" b="1" dirty="0">
                <a:solidFill>
                  <a:schemeClr val="tx1"/>
                </a:solidFill>
                <a:sym typeface="Symbol" panose="05050102010706020507" pitchFamily="18" charset="2"/>
              </a:rPr>
              <a:t>DST[</a:t>
            </a:r>
            <a:r>
              <a:rPr lang="de-DE" b="1" dirty="0">
                <a:solidFill>
                  <a:srgbClr val="0070C0"/>
                </a:solidFill>
                <a:sym typeface="Symbol" panose="05050102010706020507" pitchFamily="18" charset="2"/>
              </a:rPr>
              <a:t>p</a:t>
            </a:r>
            <a:r>
              <a:rPr lang="de-DE" b="1" dirty="0">
                <a:solidFill>
                  <a:schemeClr val="tx1"/>
                </a:solidFill>
                <a:sym typeface="Symbol" panose="05050102010706020507" pitchFamily="18" charset="2"/>
              </a:rPr>
              <a:t>]</a:t>
            </a:r>
            <a:r>
              <a:rPr lang="de-DE" dirty="0">
                <a:sym typeface="Symbol" panose="05050102010706020507" pitchFamily="18" charset="2"/>
              </a:rPr>
              <a:t> = </a:t>
            </a:r>
            <a:r>
              <a:rPr lang="de-DE" b="1" dirty="0">
                <a:solidFill>
                  <a:srgbClr val="0070C0"/>
                </a:solidFill>
                <a:sym typeface="Symbol" panose="05050102010706020507" pitchFamily="18" charset="2"/>
              </a:rPr>
              <a:t>Rahmen</a:t>
            </a:r>
            <a:r>
              <a:rPr lang="de-DE" dirty="0">
                <a:sym typeface="Symbol" panose="05050102010706020507" pitchFamily="18" charset="2"/>
              </a:rPr>
              <a:t>nummer</a:t>
            </a:r>
            <a:endParaRPr lang="de-DE" dirty="0"/>
          </a:p>
          <a:p>
            <a:r>
              <a:rPr lang="de-DE" dirty="0"/>
              <a:t>Index </a:t>
            </a:r>
            <a:r>
              <a:rPr lang="de-DE" b="1" dirty="0">
                <a:solidFill>
                  <a:srgbClr val="FF0000"/>
                </a:solidFill>
              </a:rPr>
              <a:t>p</a:t>
            </a:r>
            <a:r>
              <a:rPr lang="de-DE" dirty="0"/>
              <a:t> wird in DST </a:t>
            </a:r>
            <a:r>
              <a:rPr lang="de-DE" u="sng" dirty="0"/>
              <a:t>nicht</a:t>
            </a:r>
            <a:r>
              <a:rPr lang="de-DE" dirty="0"/>
              <a:t> gespeichert, das wäre redundant</a:t>
            </a:r>
          </a:p>
          <a:p>
            <a:r>
              <a:rPr lang="de-DE" dirty="0"/>
              <a:t>Jeder Prozess (identifiziert via </a:t>
            </a:r>
            <a:r>
              <a:rPr lang="de-DE" dirty="0" err="1"/>
              <a:t>pid</a:t>
            </a:r>
            <a:r>
              <a:rPr lang="de-DE" dirty="0"/>
              <a:t>) braucht eine </a:t>
            </a:r>
            <a:r>
              <a:rPr lang="de-DE" u="sng" dirty="0"/>
              <a:t>eigene</a:t>
            </a:r>
            <a:r>
              <a:rPr lang="de-DE" dirty="0"/>
              <a:t> Tabelle</a:t>
            </a:r>
          </a:p>
          <a:p>
            <a:pPr marL="0" indent="0">
              <a:buNone/>
            </a:pPr>
            <a:endParaRPr lang="de-DE" dirty="0"/>
          </a:p>
        </p:txBody>
      </p:sp>
      <p:grpSp>
        <p:nvGrpSpPr>
          <p:cNvPr id="17" name="Gruppieren 16"/>
          <p:cNvGrpSpPr/>
          <p:nvPr/>
        </p:nvGrpSpPr>
        <p:grpSpPr>
          <a:xfrm>
            <a:off x="1576974" y="2517236"/>
            <a:ext cx="362127" cy="1304652"/>
            <a:chOff x="1557146" y="2774518"/>
            <a:chExt cx="362127" cy="1304652"/>
          </a:xfrm>
          <a:solidFill>
            <a:schemeClr val="bg1">
              <a:lumMod val="65000"/>
            </a:schemeClr>
          </a:solidFill>
        </p:grpSpPr>
        <p:sp>
          <p:nvSpPr>
            <p:cNvPr id="9" name="Rectangle 4122"/>
            <p:cNvSpPr/>
            <p:nvPr/>
          </p:nvSpPr>
          <p:spPr>
            <a:xfrm>
              <a:off x="1557150" y="2774518"/>
              <a:ext cx="362123" cy="3261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0C0"/>
                  </a:solidFill>
                  <a:effectLst/>
                  <a:uLnTx/>
                  <a:uFillTx/>
                  <a:latin typeface="Arial"/>
                  <a:ea typeface="+mn-ea"/>
                  <a:cs typeface="+mn-cs"/>
                </a:rPr>
                <a:t>1</a:t>
              </a:r>
            </a:p>
          </p:txBody>
        </p:sp>
        <p:sp>
          <p:nvSpPr>
            <p:cNvPr id="10" name="Rectangle 63"/>
            <p:cNvSpPr/>
            <p:nvPr/>
          </p:nvSpPr>
          <p:spPr>
            <a:xfrm>
              <a:off x="1557149" y="3100681"/>
              <a:ext cx="362123" cy="3261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0C0"/>
                  </a:solidFill>
                  <a:effectLst/>
                  <a:uLnTx/>
                  <a:uFillTx/>
                  <a:latin typeface="Arial"/>
                  <a:ea typeface="+mn-ea"/>
                  <a:cs typeface="+mn-cs"/>
                </a:rPr>
                <a:t>4</a:t>
              </a:r>
            </a:p>
          </p:txBody>
        </p:sp>
        <p:sp>
          <p:nvSpPr>
            <p:cNvPr id="11" name="Rectangle 64"/>
            <p:cNvSpPr/>
            <p:nvPr/>
          </p:nvSpPr>
          <p:spPr>
            <a:xfrm>
              <a:off x="1557146" y="3426844"/>
              <a:ext cx="362125" cy="3261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0C0"/>
                  </a:solidFill>
                  <a:effectLst/>
                  <a:uLnTx/>
                  <a:uFillTx/>
                  <a:latin typeface="Arial"/>
                  <a:ea typeface="+mn-ea"/>
                  <a:cs typeface="+mn-cs"/>
                </a:rPr>
                <a:t>3</a:t>
              </a:r>
            </a:p>
          </p:txBody>
        </p:sp>
        <p:sp>
          <p:nvSpPr>
            <p:cNvPr id="12" name="Rectangle 65"/>
            <p:cNvSpPr/>
            <p:nvPr/>
          </p:nvSpPr>
          <p:spPr>
            <a:xfrm>
              <a:off x="1557148" y="3753007"/>
              <a:ext cx="362123" cy="32616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0070C0"/>
                  </a:solidFill>
                  <a:effectLst/>
                  <a:uLnTx/>
                  <a:uFillTx/>
                  <a:latin typeface="Arial"/>
                  <a:ea typeface="+mn-ea"/>
                  <a:cs typeface="+mn-cs"/>
                </a:rPr>
                <a:t>0</a:t>
              </a:r>
            </a:p>
          </p:txBody>
        </p:sp>
      </p:grpSp>
      <p:sp>
        <p:nvSpPr>
          <p:cNvPr id="13" name="TextBox 4124"/>
          <p:cNvSpPr txBox="1"/>
          <p:nvPr/>
        </p:nvSpPr>
        <p:spPr>
          <a:xfrm>
            <a:off x="1244113" y="2517178"/>
            <a:ext cx="29848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F0000"/>
                </a:solidFill>
                <a:effectLst/>
                <a:uLnTx/>
                <a:uFillTx/>
                <a:latin typeface="Arial"/>
                <a:ea typeface="+mn-ea"/>
                <a:cs typeface="+mn-cs"/>
              </a:rPr>
              <a:t>0</a:t>
            </a:r>
          </a:p>
        </p:txBody>
      </p:sp>
      <p:sp>
        <p:nvSpPr>
          <p:cNvPr id="14" name="TextBox 68"/>
          <p:cNvSpPr txBox="1"/>
          <p:nvPr/>
        </p:nvSpPr>
        <p:spPr>
          <a:xfrm>
            <a:off x="1244111" y="2845363"/>
            <a:ext cx="29848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F0000"/>
                </a:solidFill>
                <a:effectLst/>
                <a:uLnTx/>
                <a:uFillTx/>
                <a:latin typeface="Arial"/>
                <a:ea typeface="+mn-ea"/>
                <a:cs typeface="+mn-cs"/>
              </a:rPr>
              <a:t>1</a:t>
            </a:r>
          </a:p>
        </p:txBody>
      </p:sp>
      <p:sp>
        <p:nvSpPr>
          <p:cNvPr id="15" name="TextBox 69"/>
          <p:cNvSpPr txBox="1"/>
          <p:nvPr/>
        </p:nvSpPr>
        <p:spPr>
          <a:xfrm>
            <a:off x="1244111" y="3483334"/>
            <a:ext cx="29848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F0000"/>
                </a:solidFill>
                <a:effectLst/>
                <a:uLnTx/>
                <a:uFillTx/>
                <a:latin typeface="Arial"/>
                <a:ea typeface="+mn-ea"/>
                <a:cs typeface="+mn-cs"/>
              </a:rPr>
              <a:t>3</a:t>
            </a:r>
          </a:p>
        </p:txBody>
      </p:sp>
      <p:sp>
        <p:nvSpPr>
          <p:cNvPr id="16" name="TextBox 68"/>
          <p:cNvSpPr txBox="1"/>
          <p:nvPr/>
        </p:nvSpPr>
        <p:spPr>
          <a:xfrm>
            <a:off x="1244111" y="3151384"/>
            <a:ext cx="29848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FF0000"/>
                </a:solidFill>
                <a:effectLst/>
                <a:uLnTx/>
                <a:uFillTx/>
                <a:latin typeface="Arial"/>
                <a:ea typeface="+mn-ea"/>
                <a:cs typeface="+mn-cs"/>
              </a:rPr>
              <a:t>2</a:t>
            </a:r>
          </a:p>
        </p:txBody>
      </p:sp>
      <p:sp>
        <p:nvSpPr>
          <p:cNvPr id="18" name="Textfeld 17"/>
          <p:cNvSpPr txBox="1"/>
          <p:nvPr/>
        </p:nvSpPr>
        <p:spPr>
          <a:xfrm>
            <a:off x="547054" y="1290539"/>
            <a:ext cx="167696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Direkte</a:t>
            </a:r>
            <a:br>
              <a:rPr kumimoji="0" lang="de-DE" sz="1800" b="0" i="0" u="none" strike="noStrike" kern="1200" cap="none" spc="0" normalizeH="0" baseline="0" noProof="0" dirty="0">
                <a:ln>
                  <a:noFill/>
                </a:ln>
                <a:solidFill>
                  <a:prstClr val="black"/>
                </a:solidFill>
                <a:effectLst/>
                <a:uLnTx/>
                <a:uFillTx/>
                <a:latin typeface="Arial"/>
                <a:ea typeface="+mn-ea"/>
                <a:cs typeface="+mn-cs"/>
              </a:rPr>
            </a:br>
            <a:r>
              <a:rPr kumimoji="0" lang="de-DE" sz="1800" b="0" i="0" u="none" strike="noStrike" kern="1200" cap="none" spc="0" normalizeH="0" baseline="0" noProof="0" dirty="0">
                <a:ln>
                  <a:noFill/>
                </a:ln>
                <a:solidFill>
                  <a:prstClr val="black"/>
                </a:solidFill>
                <a:effectLst/>
                <a:uLnTx/>
                <a:uFillTx/>
                <a:latin typeface="Arial"/>
                <a:ea typeface="+mn-ea"/>
                <a:cs typeface="+mn-cs"/>
              </a:rPr>
              <a:t>Seitentabelle</a:t>
            </a:r>
          </a:p>
        </p:txBody>
      </p:sp>
      <p:sp>
        <p:nvSpPr>
          <p:cNvPr id="19" name="Rechteckige Legende 18"/>
          <p:cNvSpPr/>
          <p:nvPr/>
        </p:nvSpPr>
        <p:spPr>
          <a:xfrm rot="16200000">
            <a:off x="-152870" y="2986241"/>
            <a:ext cx="1618881" cy="668844"/>
          </a:xfrm>
          <a:prstGeom prst="wedgeRectCallout">
            <a:avLst>
              <a:gd name="adj1" fmla="val 20941"/>
              <a:gd name="adj2" fmla="val 88617"/>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srgbClr val="FF0000"/>
                </a:solidFill>
                <a:effectLst/>
                <a:uLnTx/>
                <a:uFillTx/>
                <a:latin typeface="Arial"/>
                <a:ea typeface="+mn-ea"/>
                <a:cs typeface="+mn-cs"/>
              </a:rPr>
              <a:t>Index p </a:t>
            </a:r>
            <a:r>
              <a:rPr kumimoji="0" lang="de-DE" sz="1800" b="0" i="0" u="none" strike="noStrike" kern="1200" cap="none" spc="0" normalizeH="0" baseline="0" noProof="0" dirty="0">
                <a:ln>
                  <a:noFill/>
                </a:ln>
                <a:solidFill>
                  <a:prstClr val="black"/>
                </a:solidFill>
                <a:effectLst/>
                <a:uLnTx/>
                <a:uFillTx/>
                <a:latin typeface="Arial"/>
                <a:ea typeface="+mn-ea"/>
                <a:cs typeface="+mn-cs"/>
              </a:rPr>
              <a:t>eines Eintrags</a:t>
            </a:r>
          </a:p>
        </p:txBody>
      </p:sp>
      <p:sp>
        <p:nvSpPr>
          <p:cNvPr id="20" name="Rechteck 19"/>
          <p:cNvSpPr/>
          <p:nvPr/>
        </p:nvSpPr>
        <p:spPr>
          <a:xfrm>
            <a:off x="1434871" y="2118894"/>
            <a:ext cx="646331"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dirty="0">
                <a:ln>
                  <a:noFill/>
                </a:ln>
                <a:solidFill>
                  <a:prstClr val="black"/>
                </a:solidFill>
                <a:effectLst/>
                <a:uLnTx/>
                <a:uFillTx/>
                <a:latin typeface="Arial"/>
                <a:ea typeface="+mn-ea"/>
                <a:cs typeface="+mn-cs"/>
              </a:rPr>
              <a:t>DST</a:t>
            </a:r>
          </a:p>
        </p:txBody>
      </p:sp>
      <p:sp>
        <p:nvSpPr>
          <p:cNvPr id="21" name="Rechteckige Legende 20"/>
          <p:cNvSpPr/>
          <p:nvPr/>
        </p:nvSpPr>
        <p:spPr>
          <a:xfrm>
            <a:off x="1241590" y="4192053"/>
            <a:ext cx="1618881" cy="668844"/>
          </a:xfrm>
          <a:prstGeom prst="wedgeRectCallout">
            <a:avLst>
              <a:gd name="adj1" fmla="val -18904"/>
              <a:gd name="adj2" fmla="val -91548"/>
            </a:avLst>
          </a:prstGeom>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Inhalt </a:t>
            </a:r>
            <a:r>
              <a:rPr kumimoji="0" lang="de-DE" sz="1800" b="1" i="0" u="none" strike="noStrike" kern="1200" cap="none" spc="0" normalizeH="0" baseline="0" noProof="0" dirty="0">
                <a:ln>
                  <a:noFill/>
                </a:ln>
                <a:solidFill>
                  <a:srgbClr val="0070C0"/>
                </a:solidFill>
                <a:effectLst/>
                <a:uLnTx/>
                <a:uFillTx/>
                <a:latin typeface="Arial"/>
                <a:ea typeface="+mn-ea"/>
                <a:cs typeface="+mn-cs"/>
              </a:rPr>
              <a:t>f</a:t>
            </a:r>
            <a:r>
              <a:rPr kumimoji="0" lang="de-DE" sz="1800" b="0" i="0" u="none" strike="noStrike" kern="1200" cap="none" spc="0" normalizeH="0" baseline="0" noProof="0" dirty="0">
                <a:ln>
                  <a:noFill/>
                </a:ln>
                <a:solidFill>
                  <a:prstClr val="black"/>
                </a:solidFill>
                <a:effectLst/>
                <a:uLnTx/>
                <a:uFillTx/>
                <a:latin typeface="Arial"/>
                <a:ea typeface="+mn-ea"/>
                <a:cs typeface="+mn-cs"/>
              </a:rPr>
              <a:t> eines Eintrags</a:t>
            </a:r>
          </a:p>
        </p:txBody>
      </p:sp>
    </p:spTree>
    <p:extLst>
      <p:ext uri="{BB962C8B-B14F-4D97-AF65-F5344CB8AC3E}">
        <p14:creationId xmlns:p14="http://schemas.microsoft.com/office/powerpoint/2010/main" val="3784866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de-DE" dirty="0"/>
              <a:t>Adressübersetzung mit </a:t>
            </a:r>
            <a:r>
              <a:rPr lang="de-DE" b="1" dirty="0" err="1"/>
              <a:t>F</a:t>
            </a:r>
            <a:r>
              <a:rPr lang="de-DE" b="1" baseline="-25000" dirty="0" err="1"/>
              <a:t>pid</a:t>
            </a:r>
            <a:r>
              <a:rPr lang="de-DE" b="1" dirty="0"/>
              <a:t>(</a:t>
            </a:r>
            <a:r>
              <a:rPr lang="de-DE" b="1" dirty="0">
                <a:solidFill>
                  <a:srgbClr val="FF0000"/>
                </a:solidFill>
              </a:rPr>
              <a:t>p</a:t>
            </a:r>
            <a:r>
              <a:rPr lang="de-DE" b="1" dirty="0"/>
              <a:t>) = </a:t>
            </a:r>
            <a:r>
              <a:rPr lang="de-DE" b="1" dirty="0">
                <a:solidFill>
                  <a:srgbClr val="0070C0"/>
                </a:solidFill>
              </a:rPr>
              <a:t>f</a:t>
            </a:r>
            <a:endParaRPr lang="de-DE" dirty="0"/>
          </a:p>
        </p:txBody>
      </p:sp>
      <p:sp>
        <p:nvSpPr>
          <p:cNvPr id="4" name="Foliennummernplatzhalter 3"/>
          <p:cNvSpPr>
            <a:spLocks noGrp="1"/>
          </p:cNvSpPr>
          <p:nvPr>
            <p:ph type="sldNum" sz="quarter" idx="12"/>
          </p:nvPr>
        </p:nvSpPr>
        <p:spPr>
          <a:xfrm>
            <a:off x="8511847" y="6492240"/>
            <a:ext cx="601766" cy="36576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183533A-8A50-4A1F-BEA9-C8C6956451EB}" type="slidenum">
              <a:rPr kumimoji="0" lang="en-US" sz="1400" b="0" i="0" u="none" strike="noStrike" kern="1200" cap="none" spc="0" normalizeH="0" baseline="0" noProof="0" smtClean="0">
                <a:ln>
                  <a:noFill/>
                </a:ln>
                <a:solidFill>
                  <a:srgbClr val="4F271C"/>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400" b="0" i="0" u="none" strike="noStrike" kern="1200" cap="none" spc="0" normalizeH="0" baseline="0" noProof="0" dirty="0">
              <a:ln>
                <a:noFill/>
              </a:ln>
              <a:solidFill>
                <a:srgbClr val="4F271C"/>
              </a:solidFill>
              <a:effectLst/>
              <a:uLnTx/>
              <a:uFillTx/>
              <a:latin typeface="Arial"/>
              <a:ea typeface="+mn-ea"/>
              <a:cs typeface="+mn-cs"/>
            </a:endParaRPr>
          </a:p>
        </p:txBody>
      </p:sp>
      <p:pic>
        <p:nvPicPr>
          <p:cNvPr id="4098" name="Picture 2"/>
          <p:cNvPicPr>
            <a:picLocks noChangeAspect="1" noChangeArrowheads="1"/>
          </p:cNvPicPr>
          <p:nvPr/>
        </p:nvPicPr>
        <p:blipFill>
          <a:blip r:embed="rId3" cstate="print"/>
          <a:srcRect/>
          <a:stretch>
            <a:fillRect/>
          </a:stretch>
        </p:blipFill>
        <p:spPr bwMode="auto">
          <a:xfrm>
            <a:off x="535252" y="1164501"/>
            <a:ext cx="6734175" cy="4381500"/>
          </a:xfrm>
          <a:prstGeom prst="rect">
            <a:avLst/>
          </a:prstGeom>
          <a:noFill/>
          <a:ln w="9525">
            <a:noFill/>
            <a:miter lim="800000"/>
            <a:headEnd/>
            <a:tailEnd/>
          </a:ln>
        </p:spPr>
      </p:pic>
      <p:sp>
        <p:nvSpPr>
          <p:cNvPr id="8" name="Textfeld 7"/>
          <p:cNvSpPr txBox="1"/>
          <p:nvPr/>
        </p:nvSpPr>
        <p:spPr>
          <a:xfrm>
            <a:off x="1327340" y="2100605"/>
            <a:ext cx="1031051"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logische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Adresse</a:t>
            </a:r>
          </a:p>
        </p:txBody>
      </p:sp>
      <p:sp>
        <p:nvSpPr>
          <p:cNvPr id="9" name="Textfeld 8"/>
          <p:cNvSpPr txBox="1"/>
          <p:nvPr/>
        </p:nvSpPr>
        <p:spPr>
          <a:xfrm>
            <a:off x="4344171" y="2796831"/>
            <a:ext cx="121058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physische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Adresse</a:t>
            </a:r>
          </a:p>
        </p:txBody>
      </p:sp>
      <p:sp>
        <p:nvSpPr>
          <p:cNvPr id="10" name="Textfeld 9"/>
          <p:cNvSpPr txBox="1"/>
          <p:nvPr/>
        </p:nvSpPr>
        <p:spPr>
          <a:xfrm>
            <a:off x="7310454" y="2012268"/>
            <a:ext cx="167866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a:ln>
                  <a:noFill/>
                </a:ln>
                <a:solidFill>
                  <a:srgbClr val="0070C0"/>
                </a:solidFill>
                <a:effectLst/>
                <a:uLnTx/>
                <a:uFillTx/>
                <a:latin typeface="Arial"/>
                <a:ea typeface="+mn-ea"/>
                <a:cs typeface="+mn-cs"/>
              </a:rPr>
              <a:t>f</a:t>
            </a:r>
            <a:r>
              <a:rPr kumimoji="0" lang="de-DE" sz="1600" b="0" i="0" u="none" strike="noStrike" kern="1200" cap="none" spc="0" normalizeH="0" baseline="0" noProof="0" dirty="0">
                <a:ln>
                  <a:noFill/>
                </a:ln>
                <a:solidFill>
                  <a:prstClr val="black"/>
                </a:solidFill>
                <a:effectLst/>
                <a:uLnTx/>
                <a:uFillTx/>
                <a:latin typeface="Arial"/>
                <a:ea typeface="+mn-ea"/>
                <a:cs typeface="+mn-cs"/>
              </a:rPr>
              <a:t> = Seiten-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1" i="0" u="none" strike="noStrike" kern="1200" cap="none" spc="0" normalizeH="0" baseline="0" noProof="0" dirty="0" err="1">
                <a:ln>
                  <a:noFill/>
                </a:ln>
                <a:solidFill>
                  <a:srgbClr val="0070C0"/>
                </a:solidFill>
                <a:effectLst/>
                <a:uLnTx/>
                <a:uFillTx/>
                <a:latin typeface="Arial"/>
                <a:ea typeface="+mn-ea"/>
                <a:cs typeface="+mn-cs"/>
              </a:rPr>
              <a:t>rahmen</a:t>
            </a:r>
            <a:r>
              <a:rPr kumimoji="0" lang="de-DE" sz="1600" b="0" i="0" u="none" strike="noStrike" kern="1200" cap="none" spc="0" normalizeH="0" baseline="0" noProof="0" dirty="0" err="1">
                <a:ln>
                  <a:noFill/>
                </a:ln>
                <a:solidFill>
                  <a:prstClr val="black"/>
                </a:solidFill>
                <a:effectLst/>
                <a:uLnTx/>
                <a:uFillTx/>
                <a:latin typeface="Arial"/>
                <a:ea typeface="+mn-ea"/>
                <a:cs typeface="+mn-cs"/>
              </a:rPr>
              <a:t>nummer</a:t>
            </a:r>
            <a:endParaRPr kumimoji="0" lang="de-DE" sz="1600" b="0" i="0" u="none" strike="noStrike" kern="1200" cap="none" spc="0" normalizeH="0" baseline="0" noProof="0" dirty="0">
              <a:ln>
                <a:noFill/>
              </a:ln>
              <a:solidFill>
                <a:prstClr val="black"/>
              </a:solidFill>
              <a:effectLst/>
              <a:uLnTx/>
              <a:uFillTx/>
              <a:latin typeface="Arial"/>
              <a:ea typeface="+mn-ea"/>
              <a:cs typeface="+mn-cs"/>
            </a:endParaRPr>
          </a:p>
        </p:txBody>
      </p:sp>
      <p:sp>
        <p:nvSpPr>
          <p:cNvPr id="11" name="Textfeld 10"/>
          <p:cNvSpPr txBox="1"/>
          <p:nvPr/>
        </p:nvSpPr>
        <p:spPr>
          <a:xfrm>
            <a:off x="5940152" y="5182806"/>
            <a:ext cx="713546"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RAM</a:t>
            </a:r>
          </a:p>
        </p:txBody>
      </p:sp>
      <p:sp>
        <p:nvSpPr>
          <p:cNvPr id="12" name="Geschweifte Klammer links 11"/>
          <p:cNvSpPr/>
          <p:nvPr/>
        </p:nvSpPr>
        <p:spPr>
          <a:xfrm rot="16200000">
            <a:off x="4850194" y="3424071"/>
            <a:ext cx="360040" cy="1008112"/>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3" name="Textfeld 12"/>
          <p:cNvSpPr txBox="1"/>
          <p:nvPr/>
        </p:nvSpPr>
        <p:spPr>
          <a:xfrm>
            <a:off x="4279668" y="4116829"/>
            <a:ext cx="1402435"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prstClr val="black"/>
                </a:solidFill>
                <a:effectLst/>
                <a:uLnTx/>
                <a:uFillTx/>
                <a:latin typeface="Arial"/>
                <a:ea typeface="+mn-ea"/>
                <a:cs typeface="+mn-cs"/>
              </a:rPr>
              <a:t>Offsetbereich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prstClr val="black"/>
                </a:solidFill>
                <a:effectLst/>
                <a:uLnTx/>
                <a:uFillTx/>
                <a:latin typeface="Arial"/>
                <a:ea typeface="+mn-ea"/>
                <a:cs typeface="+mn-cs"/>
              </a:rPr>
              <a:t>der Adresse</a:t>
            </a:r>
          </a:p>
        </p:txBody>
      </p:sp>
      <p:sp>
        <p:nvSpPr>
          <p:cNvPr id="15" name="Geschweifte Klammer rechts 14"/>
          <p:cNvSpPr/>
          <p:nvPr/>
        </p:nvSpPr>
        <p:spPr>
          <a:xfrm>
            <a:off x="6943964" y="2460645"/>
            <a:ext cx="366490" cy="1344014"/>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Arial"/>
              <a:ea typeface="+mn-ea"/>
              <a:cs typeface="+mn-cs"/>
            </a:endParaRPr>
          </a:p>
        </p:txBody>
      </p:sp>
      <p:sp>
        <p:nvSpPr>
          <p:cNvPr id="16" name="Textfeld 15"/>
          <p:cNvSpPr txBox="1"/>
          <p:nvPr/>
        </p:nvSpPr>
        <p:spPr>
          <a:xfrm>
            <a:off x="7312465" y="2700969"/>
            <a:ext cx="1707519"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prstClr val="black"/>
                </a:solidFill>
                <a:effectLst/>
                <a:uLnTx/>
                <a:uFillTx/>
                <a:latin typeface="Arial"/>
                <a:ea typeface="+mn-ea"/>
                <a:cs typeface="+mn-cs"/>
              </a:rPr>
              <a:t>Adressenbereich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prstClr val="black"/>
                </a:solidFill>
                <a:effectLst/>
                <a:uLnTx/>
                <a:uFillTx/>
                <a:latin typeface="Arial"/>
                <a:ea typeface="+mn-ea"/>
                <a:cs typeface="+mn-cs"/>
              </a:rPr>
              <a:t>in einem Seiten-rahmen</a:t>
            </a:r>
          </a:p>
        </p:txBody>
      </p:sp>
      <p:sp>
        <p:nvSpPr>
          <p:cNvPr id="17" name="Textfeld 16"/>
          <p:cNvSpPr txBox="1"/>
          <p:nvPr/>
        </p:nvSpPr>
        <p:spPr>
          <a:xfrm>
            <a:off x="7796572" y="1181271"/>
            <a:ext cx="1223412"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Adresse 0</a:t>
            </a:r>
          </a:p>
        </p:txBody>
      </p:sp>
      <p:sp>
        <p:nvSpPr>
          <p:cNvPr id="18" name="Textfeld 17"/>
          <p:cNvSpPr txBox="1"/>
          <p:nvPr/>
        </p:nvSpPr>
        <p:spPr>
          <a:xfrm>
            <a:off x="7907764" y="4134235"/>
            <a:ext cx="1236236" cy="923330"/>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Maximale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physische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Adresse</a:t>
            </a:r>
          </a:p>
        </p:txBody>
      </p:sp>
      <p:sp>
        <p:nvSpPr>
          <p:cNvPr id="19" name="Textfeld 18"/>
          <p:cNvSpPr txBox="1"/>
          <p:nvPr/>
        </p:nvSpPr>
        <p:spPr>
          <a:xfrm>
            <a:off x="340282" y="1195118"/>
            <a:ext cx="4807782" cy="646331"/>
          </a:xfrm>
          <a:prstGeom prst="rect">
            <a:avLst/>
          </a:prstGeom>
          <a:ln/>
        </p:spPr>
        <p:style>
          <a:lnRef idx="1">
            <a:schemeClr val="accent6"/>
          </a:lnRef>
          <a:fillRef idx="2">
            <a:schemeClr val="accent6"/>
          </a:fillRef>
          <a:effectRef idx="1">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800" b="0" i="0" u="none" strike="noStrike" kern="1200" cap="none" spc="0" normalizeH="0" baseline="0" noProof="0" dirty="0">
                <a:ln>
                  <a:noFill/>
                </a:ln>
                <a:solidFill>
                  <a:prstClr val="black"/>
                </a:solidFill>
                <a:effectLst/>
                <a:uLnTx/>
                <a:uFillTx/>
                <a:latin typeface="Arial"/>
                <a:ea typeface="+mn-ea"/>
                <a:cs typeface="+mn-cs"/>
              </a:rPr>
              <a:t>f = Seitenrahmennummer = die oberen Bits der Basisadresse eines Seitenrahmens</a:t>
            </a:r>
          </a:p>
        </p:txBody>
      </p:sp>
      <p:cxnSp>
        <p:nvCxnSpPr>
          <p:cNvPr id="21" name="Gerade Verbindung mit Pfeil 20"/>
          <p:cNvCxnSpPr>
            <a:stCxn id="19" idx="2"/>
          </p:cNvCxnSpPr>
          <p:nvPr/>
        </p:nvCxnSpPr>
        <p:spPr>
          <a:xfrm>
            <a:off x="2744173" y="1841449"/>
            <a:ext cx="1599998" cy="763212"/>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3" name="Inhaltsplatzhalter 14"/>
          <p:cNvSpPr>
            <a:spLocks noGrp="1"/>
          </p:cNvSpPr>
          <p:nvPr>
            <p:ph sz="quarter" idx="1"/>
          </p:nvPr>
        </p:nvSpPr>
        <p:spPr>
          <a:xfrm>
            <a:off x="165758" y="5649927"/>
            <a:ext cx="8346089" cy="1091441"/>
          </a:xfrm>
        </p:spPr>
        <p:txBody>
          <a:bodyPr>
            <a:noAutofit/>
          </a:bodyPr>
          <a:lstStyle/>
          <a:p>
            <a:r>
              <a:rPr lang="de-DE" sz="2400" dirty="0"/>
              <a:t>Nachdem </a:t>
            </a:r>
            <a:r>
              <a:rPr lang="de-DE" sz="2400" b="1" dirty="0" err="1"/>
              <a:t>F</a:t>
            </a:r>
            <a:r>
              <a:rPr lang="de-DE" sz="2400" b="1" baseline="-25000" dirty="0" err="1"/>
              <a:t>pid</a:t>
            </a:r>
            <a:r>
              <a:rPr lang="de-DE" sz="2400" b="1" dirty="0"/>
              <a:t>(</a:t>
            </a:r>
            <a:r>
              <a:rPr lang="de-DE" sz="2400" b="1" dirty="0">
                <a:solidFill>
                  <a:srgbClr val="FF0000"/>
                </a:solidFill>
              </a:rPr>
              <a:t>p</a:t>
            </a:r>
            <a:r>
              <a:rPr lang="de-DE" sz="2400" b="1" dirty="0"/>
              <a:t>) = </a:t>
            </a:r>
            <a:r>
              <a:rPr lang="de-DE" sz="2400" b="1" dirty="0">
                <a:solidFill>
                  <a:srgbClr val="0070C0"/>
                </a:solidFill>
              </a:rPr>
              <a:t>f </a:t>
            </a:r>
            <a:r>
              <a:rPr lang="de-DE" sz="2400" dirty="0"/>
              <a:t>berechnet ist, ist die Übersetzung sehr einfach: obere Bits (= Wert </a:t>
            </a:r>
            <a:r>
              <a:rPr lang="de-DE" sz="2400" b="1" dirty="0">
                <a:solidFill>
                  <a:srgbClr val="FF0000"/>
                </a:solidFill>
              </a:rPr>
              <a:t>p</a:t>
            </a:r>
            <a:r>
              <a:rPr lang="de-DE" sz="2400" dirty="0"/>
              <a:t>) einer logischen Adresse werden durch Bits mit Wert </a:t>
            </a:r>
            <a:r>
              <a:rPr lang="de-DE" sz="2400" b="1" dirty="0">
                <a:solidFill>
                  <a:srgbClr val="0070C0"/>
                </a:solidFill>
              </a:rPr>
              <a:t>f</a:t>
            </a:r>
            <a:r>
              <a:rPr lang="de-DE" sz="2400" dirty="0"/>
              <a:t> ersetzt</a:t>
            </a:r>
          </a:p>
          <a:p>
            <a:endParaRPr lang="de-DE" sz="2400" dirty="0"/>
          </a:p>
        </p:txBody>
      </p:sp>
      <p:cxnSp>
        <p:nvCxnSpPr>
          <p:cNvPr id="26" name="Straight Arrow Connector 25"/>
          <p:cNvCxnSpPr>
            <a:stCxn id="17" idx="1"/>
          </p:cNvCxnSpPr>
          <p:nvPr/>
        </p:nvCxnSpPr>
        <p:spPr>
          <a:xfrm flipH="1" flipV="1">
            <a:off x="6943964" y="1181271"/>
            <a:ext cx="852608" cy="18466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8" idx="1"/>
          </p:cNvCxnSpPr>
          <p:nvPr/>
        </p:nvCxnSpPr>
        <p:spPr>
          <a:xfrm flipH="1">
            <a:off x="6943964" y="4595900"/>
            <a:ext cx="963800" cy="54979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 name="Textfeld 2"/>
          <p:cNvSpPr txBox="1"/>
          <p:nvPr/>
        </p:nvSpPr>
        <p:spPr>
          <a:xfrm>
            <a:off x="7092279" y="1637035"/>
            <a:ext cx="1903281" cy="369332"/>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f*(</a:t>
            </a:r>
            <a:r>
              <a:rPr kumimoji="0" lang="en-US" sz="1800" b="0" i="0" u="none" strike="noStrike" kern="1200" cap="none" spc="0" normalizeH="0" baseline="0" noProof="0" dirty="0" err="1">
                <a:ln>
                  <a:noFill/>
                </a:ln>
                <a:solidFill>
                  <a:prstClr val="black"/>
                </a:solidFill>
                <a:effectLst/>
                <a:uLnTx/>
                <a:uFillTx/>
                <a:latin typeface="Arial"/>
                <a:ea typeface="+mn-ea"/>
                <a:cs typeface="+mn-cs"/>
              </a:rPr>
              <a:t>Seitengröße</a:t>
            </a:r>
            <a:r>
              <a:rPr kumimoji="0" lang="en-US" sz="1800" b="0" i="0" u="none" strike="noStrike" kern="1200" cap="none" spc="0" normalizeH="0" baseline="0" noProof="0" dirty="0">
                <a:ln>
                  <a:noFill/>
                </a:ln>
                <a:solidFill>
                  <a:prstClr val="black"/>
                </a:solidFill>
                <a:effectLst/>
                <a:uLnTx/>
                <a:uFillTx/>
                <a:latin typeface="Arial"/>
                <a:ea typeface="+mn-ea"/>
                <a:cs typeface="+mn-cs"/>
              </a:rPr>
              <a:t>)</a:t>
            </a:r>
          </a:p>
        </p:txBody>
      </p:sp>
      <p:sp>
        <p:nvSpPr>
          <p:cNvPr id="24" name="Rechteck 23"/>
          <p:cNvSpPr/>
          <p:nvPr/>
        </p:nvSpPr>
        <p:spPr>
          <a:xfrm>
            <a:off x="1747690" y="3637626"/>
            <a:ext cx="1593641" cy="1938992"/>
          </a:xfrm>
          <a:prstGeom prst="rect">
            <a:avLst/>
          </a:prstGeom>
        </p:spPr>
        <p:style>
          <a:lnRef idx="2">
            <a:schemeClr val="dk1"/>
          </a:lnRef>
          <a:fillRef idx="1">
            <a:schemeClr val="lt1"/>
          </a:fillRef>
          <a:effectRef idx="0">
            <a:schemeClr val="dk1"/>
          </a:effectRef>
          <a:fontRef idx="minor">
            <a:schemeClr val="dk1"/>
          </a:fontRef>
        </p:style>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1"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err="1">
                <a:ln>
                  <a:noFill/>
                </a:ln>
                <a:solidFill>
                  <a:prstClr val="black"/>
                </a:solidFill>
                <a:effectLst/>
                <a:uLnTx/>
                <a:uFillTx/>
                <a:latin typeface="Arial"/>
                <a:ea typeface="+mn-ea"/>
                <a:cs typeface="+mn-cs"/>
              </a:rPr>
              <a:t>F</a:t>
            </a:r>
            <a:r>
              <a:rPr kumimoji="0" lang="de-DE" sz="2400" b="1" i="0" u="none" strike="noStrike" kern="1200" cap="none" spc="0" normalizeH="0" baseline="-25000" noProof="0" dirty="0" err="1">
                <a:ln>
                  <a:noFill/>
                </a:ln>
                <a:solidFill>
                  <a:prstClr val="black"/>
                </a:solidFill>
                <a:effectLst/>
                <a:uLnTx/>
                <a:uFillTx/>
                <a:latin typeface="Arial"/>
                <a:ea typeface="+mn-ea"/>
                <a:cs typeface="+mn-cs"/>
              </a:rPr>
              <a:t>pid</a:t>
            </a:r>
            <a:r>
              <a:rPr kumimoji="0" lang="de-DE" sz="2400" b="1" i="0" u="none" strike="noStrike" kern="1200" cap="none" spc="0" normalizeH="0" baseline="0" noProof="0" dirty="0">
                <a:ln>
                  <a:noFill/>
                </a:ln>
                <a:solidFill>
                  <a:prstClr val="black"/>
                </a:solidFill>
                <a:effectLst/>
                <a:uLnTx/>
                <a:uFillTx/>
                <a:latin typeface="Arial"/>
                <a:ea typeface="+mn-ea"/>
                <a:cs typeface="+mn-cs"/>
              </a:rPr>
              <a:t>(</a:t>
            </a:r>
            <a:r>
              <a:rPr kumimoji="0" lang="de-DE" sz="2400" b="1" i="0" u="none" strike="noStrike" kern="1200" cap="none" spc="0" normalizeH="0" baseline="0" noProof="0" dirty="0">
                <a:ln>
                  <a:noFill/>
                </a:ln>
                <a:solidFill>
                  <a:srgbClr val="FF0000"/>
                </a:solidFill>
                <a:effectLst/>
                <a:uLnTx/>
                <a:uFillTx/>
                <a:latin typeface="Arial"/>
                <a:ea typeface="+mn-ea"/>
                <a:cs typeface="+mn-cs"/>
              </a:rPr>
              <a:t>p</a:t>
            </a:r>
            <a:r>
              <a:rPr kumimoji="0" lang="de-DE" sz="2400" b="1" i="0" u="none" strike="noStrike" kern="1200" cap="none" spc="0" normalizeH="0" baseline="0" noProof="0" dirty="0">
                <a:ln>
                  <a:noFill/>
                </a:ln>
                <a:solidFill>
                  <a:prstClr val="black"/>
                </a:solidFill>
                <a:effectLst/>
                <a:uLnTx/>
                <a:uFillTx/>
                <a:latin typeface="Arial"/>
                <a:ea typeface="+mn-ea"/>
                <a:cs typeface="+mn-cs"/>
              </a:rPr>
              <a:t>) = </a:t>
            </a:r>
            <a:r>
              <a:rPr kumimoji="0" lang="de-DE" sz="2400" b="1" i="0" u="none" strike="noStrike" kern="1200" cap="none" spc="0" normalizeH="0" baseline="0" noProof="0" dirty="0">
                <a:ln>
                  <a:noFill/>
                </a:ln>
                <a:solidFill>
                  <a:srgbClr val="0070C0"/>
                </a:solidFill>
                <a:effectLst/>
                <a:uLnTx/>
                <a:uFillTx/>
                <a:latin typeface="Arial"/>
                <a:ea typeface="+mn-ea"/>
                <a:cs typeface="+mn-cs"/>
              </a:rPr>
              <a:t>f</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1" i="0" u="none" strike="noStrike" kern="1200" cap="none" spc="0" normalizeH="0" baseline="0" noProof="0" dirty="0">
              <a:ln>
                <a:noFill/>
              </a:ln>
              <a:solidFill>
                <a:srgbClr val="0070C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1" i="0" u="none" strike="noStrike" kern="1200" cap="none" spc="0" normalizeH="0" baseline="0" noProof="0" dirty="0">
              <a:ln>
                <a:noFill/>
              </a:ln>
              <a:solidFill>
                <a:srgbClr val="0070C0"/>
              </a:solidFill>
              <a:effectLst/>
              <a:uLnTx/>
              <a:uFillTx/>
              <a:latin typeface="Arial"/>
              <a:ea typeface="+mn-ea"/>
              <a:cs typeface="+mn-cs"/>
            </a:endParaRPr>
          </a:p>
        </p:txBody>
      </p:sp>
    </p:spTree>
    <p:extLst>
      <p:ext uri="{BB962C8B-B14F-4D97-AF65-F5344CB8AC3E}">
        <p14:creationId xmlns:p14="http://schemas.microsoft.com/office/powerpoint/2010/main" val="99549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20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 Addressübersetzung</a:t>
            </a:r>
          </a:p>
        </p:txBody>
      </p:sp>
      <p:sp>
        <p:nvSpPr>
          <p:cNvPr id="3" name="Inhaltsplatzhalter 2"/>
          <p:cNvSpPr>
            <a:spLocks noGrp="1"/>
          </p:cNvSpPr>
          <p:nvPr>
            <p:ph sz="quarter" idx="1"/>
          </p:nvPr>
        </p:nvSpPr>
        <p:spPr/>
        <p:txBody>
          <a:bodyPr>
            <a:normAutofit/>
          </a:bodyPr>
          <a:lstStyle/>
          <a:p>
            <a:r>
              <a:rPr lang="de-DE" dirty="0"/>
              <a:t>Eine von der CPU erzeugte Adresse (logische Adresse) wird unterteilt in</a:t>
            </a:r>
          </a:p>
          <a:p>
            <a:pPr lvl="1"/>
            <a:r>
              <a:rPr lang="de-DE" b="1" dirty="0">
                <a:solidFill>
                  <a:srgbClr val="FF0000"/>
                </a:solidFill>
              </a:rPr>
              <a:t>Seitennummer </a:t>
            </a:r>
            <a:r>
              <a:rPr lang="de-DE" dirty="0">
                <a:solidFill>
                  <a:schemeClr val="tx1"/>
                </a:solidFill>
              </a:rPr>
              <a:t>bzw.</a:t>
            </a:r>
            <a:r>
              <a:rPr lang="de-DE" b="1" dirty="0">
                <a:solidFill>
                  <a:srgbClr val="FF0000"/>
                </a:solidFill>
              </a:rPr>
              <a:t> Seitenindex</a:t>
            </a:r>
            <a:r>
              <a:rPr lang="de-DE" dirty="0"/>
              <a:t> (</a:t>
            </a:r>
            <a:r>
              <a:rPr lang="de-DE" b="1" dirty="0" err="1">
                <a:solidFill>
                  <a:srgbClr val="FF0000"/>
                </a:solidFill>
              </a:rPr>
              <a:t>page</a:t>
            </a:r>
            <a:r>
              <a:rPr lang="de-DE" b="1" dirty="0">
                <a:solidFill>
                  <a:srgbClr val="FF0000"/>
                </a:solidFill>
              </a:rPr>
              <a:t> </a:t>
            </a:r>
            <a:r>
              <a:rPr lang="de-DE" b="1" dirty="0" err="1">
                <a:solidFill>
                  <a:srgbClr val="FF0000"/>
                </a:solidFill>
              </a:rPr>
              <a:t>number</a:t>
            </a:r>
            <a:r>
              <a:rPr lang="de-DE" dirty="0"/>
              <a:t>) </a:t>
            </a:r>
            <a:r>
              <a:rPr lang="de-DE" b="1" dirty="0">
                <a:solidFill>
                  <a:srgbClr val="0070C0"/>
                </a:solidFill>
              </a:rPr>
              <a:t>p</a:t>
            </a:r>
          </a:p>
          <a:p>
            <a:pPr lvl="2"/>
            <a:r>
              <a:rPr lang="de-DE" dirty="0"/>
              <a:t>Verwendet als </a:t>
            </a:r>
            <a:r>
              <a:rPr lang="de-DE" u="sng" dirty="0"/>
              <a:t>Index eines Eintrags</a:t>
            </a:r>
            <a:r>
              <a:rPr lang="de-DE" dirty="0"/>
              <a:t> der Seitentabelle</a:t>
            </a:r>
          </a:p>
          <a:p>
            <a:pPr lvl="2"/>
            <a:r>
              <a:rPr lang="de-DE" dirty="0"/>
              <a:t>Die Seitentabelle enthält </a:t>
            </a:r>
            <a:r>
              <a:rPr lang="de-DE" b="1" dirty="0">
                <a:solidFill>
                  <a:srgbClr val="FF0000"/>
                </a:solidFill>
              </a:rPr>
              <a:t>Seitenrahmennummern </a:t>
            </a:r>
            <a:r>
              <a:rPr lang="de-DE" b="1" dirty="0">
                <a:solidFill>
                  <a:srgbClr val="0070C0"/>
                </a:solidFill>
              </a:rPr>
              <a:t>f </a:t>
            </a:r>
            <a:r>
              <a:rPr lang="de-DE" dirty="0"/>
              <a:t>(</a:t>
            </a:r>
            <a:r>
              <a:rPr lang="de-DE" b="1" dirty="0">
                <a:solidFill>
                  <a:srgbClr val="FF0000"/>
                </a:solidFill>
              </a:rPr>
              <a:t>frame numbers</a:t>
            </a:r>
            <a:r>
              <a:rPr lang="de-DE" dirty="0"/>
              <a:t>), d.h. obere Bits von Basisadressen der Seitenrahmen</a:t>
            </a:r>
          </a:p>
          <a:p>
            <a:pPr lvl="1"/>
            <a:r>
              <a:rPr lang="de-DE" b="1" dirty="0">
                <a:solidFill>
                  <a:srgbClr val="FF0000"/>
                </a:solidFill>
              </a:rPr>
              <a:t>Seitenoffset</a:t>
            </a:r>
            <a:r>
              <a:rPr lang="de-DE" dirty="0"/>
              <a:t> (</a:t>
            </a:r>
            <a:r>
              <a:rPr lang="de-DE" b="1" dirty="0" err="1">
                <a:solidFill>
                  <a:srgbClr val="FF0000"/>
                </a:solidFill>
              </a:rPr>
              <a:t>page</a:t>
            </a:r>
            <a:r>
              <a:rPr lang="de-DE" b="1" dirty="0">
                <a:solidFill>
                  <a:srgbClr val="FF0000"/>
                </a:solidFill>
              </a:rPr>
              <a:t> </a:t>
            </a:r>
            <a:r>
              <a:rPr lang="de-DE" b="1" dirty="0" err="1">
                <a:solidFill>
                  <a:srgbClr val="FF0000"/>
                </a:solidFill>
              </a:rPr>
              <a:t>offset</a:t>
            </a:r>
            <a:r>
              <a:rPr lang="de-DE" dirty="0"/>
              <a:t>) </a:t>
            </a:r>
            <a:r>
              <a:rPr lang="de-DE" b="1" dirty="0">
                <a:solidFill>
                  <a:srgbClr val="0070C0"/>
                </a:solidFill>
              </a:rPr>
              <a:t>d</a:t>
            </a:r>
            <a:r>
              <a:rPr lang="de-DE" b="1" dirty="0"/>
              <a:t> </a:t>
            </a:r>
          </a:p>
          <a:p>
            <a:pPr lvl="2"/>
            <a:r>
              <a:rPr lang="de-DE" dirty="0"/>
              <a:t>Offset der Adresse innerhalb einer Seite</a:t>
            </a:r>
          </a:p>
          <a:p>
            <a:pPr lvl="2"/>
            <a:r>
              <a:rPr lang="de-DE" dirty="0"/>
              <a:t>D.h. „Abstand“ der Adresse zur nächstkleinerer Basisadresse</a:t>
            </a:r>
          </a:p>
          <a:p>
            <a:r>
              <a:rPr lang="de-DE" dirty="0"/>
              <a:t>Bei der Adressübersetzung wird der Eintrag der Seitentabelle mit Index p nachgeschaut, und die oberen Bits der Adresse durch seinen Inhalt f ersetzt </a:t>
            </a:r>
          </a:p>
        </p:txBody>
      </p:sp>
    </p:spTree>
    <p:extLst>
      <p:ext uri="{BB962C8B-B14F-4D97-AF65-F5344CB8AC3E}">
        <p14:creationId xmlns:p14="http://schemas.microsoft.com/office/powerpoint/2010/main" val="2291888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Video: Page Tables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19</a:t>
            </a:fld>
            <a:endParaRPr lang="en-US" noProof="0" dirty="0"/>
          </a:p>
        </p:txBody>
      </p:sp>
      <p:sp>
        <p:nvSpPr>
          <p:cNvPr id="4" name="Inhaltsplatzhalter 3"/>
          <p:cNvSpPr>
            <a:spLocks noGrp="1"/>
          </p:cNvSpPr>
          <p:nvPr>
            <p:ph sz="quarter" idx="1"/>
          </p:nvPr>
        </p:nvSpPr>
        <p:spPr/>
        <p:txBody>
          <a:bodyPr/>
          <a:lstStyle/>
          <a:p>
            <a:pPr fontAlgn="t"/>
            <a:r>
              <a:rPr lang="en-US" dirty="0"/>
              <a:t>Virtual Memory: 5 Page Tables [09a]</a:t>
            </a:r>
          </a:p>
          <a:p>
            <a:pPr lvl="1" fontAlgn="t"/>
            <a:r>
              <a:rPr lang="en-US" dirty="0">
                <a:hlinkClick r:id="rId4"/>
              </a:rPr>
              <a:t>https://www.youtube.com/watch?v=KNUJhZCQZ9c</a:t>
            </a:r>
            <a:r>
              <a:rPr lang="en-US" dirty="0"/>
              <a:t> </a:t>
            </a:r>
          </a:p>
          <a:p>
            <a:pPr lvl="1" fontAlgn="t"/>
            <a:r>
              <a:rPr lang="en-US" dirty="0"/>
              <a:t>Ab 4:48 </a:t>
            </a:r>
            <a:r>
              <a:rPr lang="en-US" dirty="0" err="1"/>
              <a:t>bis</a:t>
            </a:r>
            <a:r>
              <a:rPr lang="en-US" dirty="0"/>
              <a:t> </a:t>
            </a:r>
            <a:r>
              <a:rPr lang="en-US" dirty="0" err="1"/>
              <a:t>Ende</a:t>
            </a:r>
            <a:r>
              <a:rPr lang="en-US" dirty="0"/>
              <a:t> (</a:t>
            </a:r>
            <a:r>
              <a:rPr lang="en-US" dirty="0" err="1"/>
              <a:t>Min:sec</a:t>
            </a:r>
            <a:r>
              <a:rPr lang="en-US" dirty="0"/>
              <a:t>)</a:t>
            </a:r>
          </a:p>
          <a:p>
            <a:pPr lvl="1" fontAlgn="t"/>
            <a:r>
              <a:rPr lang="en-US" dirty="0" err="1"/>
              <a:t>Sehr</a:t>
            </a:r>
            <a:r>
              <a:rPr lang="en-US" dirty="0"/>
              <a:t> </a:t>
            </a:r>
            <a:r>
              <a:rPr lang="en-US" dirty="0" err="1"/>
              <a:t>empfehlenswert</a:t>
            </a:r>
            <a:r>
              <a:rPr lang="en-US" dirty="0"/>
              <a:t>: </a:t>
            </a:r>
            <a:r>
              <a:rPr lang="en-US" dirty="0" err="1"/>
              <a:t>ganzes</a:t>
            </a:r>
            <a:r>
              <a:rPr lang="en-US" dirty="0"/>
              <a:t> Video </a:t>
            </a:r>
            <a:r>
              <a:rPr lang="en-US" dirty="0" err="1"/>
              <a:t>ansehen</a:t>
            </a:r>
            <a:r>
              <a:rPr lang="en-US" dirty="0"/>
              <a:t>!</a:t>
            </a:r>
          </a:p>
        </p:txBody>
      </p:sp>
      <p:pic>
        <p:nvPicPr>
          <p:cNvPr id="5" name="09a-Virtual Memory 5 Page Tables">
            <a:hlinkClick r:id="" action="ppaction://media"/>
            <a:extLst>
              <a:ext uri="{FF2B5EF4-FFF2-40B4-BE49-F238E27FC236}">
                <a16:creationId xmlns:a16="http://schemas.microsoft.com/office/drawing/2014/main" id="{6222E492-871E-48B8-B538-DEC54CE221E9}"/>
              </a:ext>
            </a:extLst>
          </p:cNvPr>
          <p:cNvPicPr>
            <a:picLocks noChangeAspect="1"/>
          </p:cNvPicPr>
          <p:nvPr>
            <a:videoFile r:link="rId1"/>
            <p:extLst>
              <p:ext uri="{DAA4B4D4-6D71-4841-9C94-3DE7FCFB9230}">
                <p14:media xmlns:p14="http://schemas.microsoft.com/office/powerpoint/2010/main" r:link="rId2">
                  <p14:trim st="285768"/>
                </p14:media>
              </p:ext>
            </p:extLst>
          </p:nvPr>
        </p:nvPicPr>
        <p:blipFill>
          <a:blip r:embed="rId5"/>
          <a:stretch>
            <a:fillRect/>
          </a:stretch>
        </p:blipFill>
        <p:spPr>
          <a:xfrm>
            <a:off x="1819920" y="3140968"/>
            <a:ext cx="5504160" cy="3096090"/>
          </a:xfrm>
          <a:prstGeom prst="rect">
            <a:avLst/>
          </a:prstGeom>
        </p:spPr>
      </p:pic>
    </p:spTree>
    <p:extLst>
      <p:ext uri="{BB962C8B-B14F-4D97-AF65-F5344CB8AC3E}">
        <p14:creationId xmlns:p14="http://schemas.microsoft.com/office/powerpoint/2010/main" val="409916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Was ist Korrekt? (Moderne BS)</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20</a:t>
            </a:fld>
            <a:endParaRPr lang="en-US" noProof="0" dirty="0"/>
          </a:p>
        </p:txBody>
      </p:sp>
      <p:sp>
        <p:nvSpPr>
          <p:cNvPr id="4" name="Inhaltsplatzhalter 3"/>
          <p:cNvSpPr>
            <a:spLocks noGrp="1"/>
          </p:cNvSpPr>
          <p:nvPr>
            <p:ph sz="quarter" idx="1"/>
          </p:nvPr>
        </p:nvSpPr>
        <p:spPr/>
        <p:txBody>
          <a:bodyPr>
            <a:normAutofit fontScale="92500"/>
          </a:bodyPr>
          <a:lstStyle/>
          <a:p>
            <a:r>
              <a:rPr lang="de-DE" dirty="0"/>
              <a:t>A. Wenn ein Programm terminiert, werden alle Prozesse mit höherem Adressraum „nach unten“ verschoben, um den freien RAM zu vergrößern</a:t>
            </a:r>
          </a:p>
          <a:p>
            <a:r>
              <a:rPr lang="de-DE" dirty="0"/>
              <a:t>B. Durch eine MMU mit Basis- und </a:t>
            </a:r>
            <a:r>
              <a:rPr lang="de-DE" dirty="0" err="1"/>
              <a:t>Limitregister</a:t>
            </a:r>
            <a:r>
              <a:rPr lang="de-DE" dirty="0"/>
              <a:t> können wir verhindern, dass ein Prozess die Daten anderer Prozesse sieht oder manipuliert</a:t>
            </a:r>
          </a:p>
          <a:p>
            <a:r>
              <a:rPr lang="de-DE" dirty="0"/>
              <a:t>C. Die Speicherplatzverschwendung bei der internen Fragmentierung beträgt im Schnitt die halbe Größe eines Speicherslots (d.h. atomaren „Speicherblocks“)</a:t>
            </a:r>
          </a:p>
          <a:p>
            <a:r>
              <a:rPr lang="de-DE" dirty="0"/>
              <a:t>D. Die Adressenübersetzung beeinträchtigt nicht die Leistung eines Computers </a:t>
            </a:r>
          </a:p>
          <a:p>
            <a:r>
              <a:rPr lang="de-DE" dirty="0"/>
              <a:t>E. Helge Schneider mag ein toller Musiker sein, aber von externer Fragmentierung hat er keine Ahnung</a:t>
            </a:r>
          </a:p>
        </p:txBody>
      </p:sp>
      <p:sp>
        <p:nvSpPr>
          <p:cNvPr id="5" name="Textfeld 4">
            <a:extLst>
              <a:ext uri="{FF2B5EF4-FFF2-40B4-BE49-F238E27FC236}">
                <a16:creationId xmlns:a16="http://schemas.microsoft.com/office/drawing/2014/main" id="{DE44ED7E-06D1-4701-8AF0-28D777668C1C}"/>
              </a:ext>
            </a:extLst>
          </p:cNvPr>
          <p:cNvSpPr txBox="1"/>
          <p:nvPr/>
        </p:nvSpPr>
        <p:spPr>
          <a:xfrm>
            <a:off x="5471047" y="124480"/>
            <a:ext cx="3362074"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800" dirty="0">
                <a:highlight>
                  <a:srgbClr val="00FF00"/>
                </a:highlight>
              </a:rPr>
              <a:t>https://bit.ly/ibn_hd</a:t>
            </a:r>
            <a:endParaRPr lang="de-DE" sz="2800" dirty="0">
              <a:highlight>
                <a:srgbClr val="00FF00"/>
              </a:highlight>
            </a:endParaRPr>
          </a:p>
        </p:txBody>
      </p:sp>
    </p:spTree>
    <p:extLst>
      <p:ext uri="{BB962C8B-B14F-4D97-AF65-F5344CB8AC3E}">
        <p14:creationId xmlns:p14="http://schemas.microsoft.com/office/powerpoint/2010/main" val="183138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21</a:t>
            </a:fld>
            <a:endParaRPr lang="de-DE"/>
          </a:p>
        </p:txBody>
      </p:sp>
      <p:sp>
        <p:nvSpPr>
          <p:cNvPr id="3" name="Titel 2"/>
          <p:cNvSpPr>
            <a:spLocks noGrp="1"/>
          </p:cNvSpPr>
          <p:nvPr>
            <p:ph type="title"/>
          </p:nvPr>
        </p:nvSpPr>
        <p:spPr/>
        <p:txBody>
          <a:bodyPr/>
          <a:lstStyle/>
          <a:p>
            <a:r>
              <a:rPr lang="de-DE" dirty="0"/>
              <a:t>Paging – </a:t>
            </a:r>
            <a:br>
              <a:rPr lang="de-DE" dirty="0"/>
            </a:br>
            <a:r>
              <a:rPr lang="de-DE" dirty="0"/>
              <a:t>Geschwindigkeit der Übersetzung</a:t>
            </a:r>
          </a:p>
        </p:txBody>
      </p:sp>
    </p:spTree>
    <p:extLst>
      <p:ext uri="{BB962C8B-B14F-4D97-AF65-F5344CB8AC3E}">
        <p14:creationId xmlns:p14="http://schemas.microsoft.com/office/powerpoint/2010/main" val="1373969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Seitentabellen – wo befinden sie sich?</a:t>
            </a:r>
          </a:p>
        </p:txBody>
      </p:sp>
      <p:sp>
        <p:nvSpPr>
          <p:cNvPr id="3" name="Inhaltsplatzhalter 2"/>
          <p:cNvSpPr>
            <a:spLocks noGrp="1"/>
          </p:cNvSpPr>
          <p:nvPr>
            <p:ph sz="quarter" idx="1"/>
          </p:nvPr>
        </p:nvSpPr>
        <p:spPr>
          <a:xfrm>
            <a:off x="457200" y="1219200"/>
            <a:ext cx="8435280" cy="5522168"/>
          </a:xfrm>
        </p:spPr>
        <p:txBody>
          <a:bodyPr>
            <a:normAutofit/>
          </a:bodyPr>
          <a:lstStyle/>
          <a:p>
            <a:r>
              <a:rPr lang="de-DE" dirty="0"/>
              <a:t>Rechner mit wenig Speicher, z.B. </a:t>
            </a:r>
            <a:r>
              <a:rPr lang="de-DE" b="1" dirty="0">
                <a:solidFill>
                  <a:srgbClr val="0070C0"/>
                </a:solidFill>
              </a:rPr>
              <a:t>DEC PDP-11</a:t>
            </a:r>
          </a:p>
          <a:p>
            <a:pPr lvl="1"/>
            <a:r>
              <a:rPr lang="de-DE" dirty="0"/>
              <a:t>16-Bit Adressraum, Seitengröße 8kB </a:t>
            </a:r>
          </a:p>
          <a:p>
            <a:pPr lvl="2"/>
            <a:r>
              <a:rPr lang="de-DE" dirty="0"/>
              <a:t>=&gt; insgesamt nur 8 Einträge in der Seitentabelle</a:t>
            </a:r>
          </a:p>
          <a:p>
            <a:pPr lvl="1"/>
            <a:r>
              <a:rPr lang="de-DE" dirty="0">
                <a:solidFill>
                  <a:srgbClr val="FF0000"/>
                </a:solidFill>
              </a:rPr>
              <a:t>Die Seitentabelle = ein Satz von CPU Registern</a:t>
            </a:r>
          </a:p>
          <a:p>
            <a:r>
              <a:rPr lang="de-DE" dirty="0"/>
              <a:t>Bei </a:t>
            </a:r>
            <a:r>
              <a:rPr lang="de-DE" b="1" dirty="0">
                <a:solidFill>
                  <a:srgbClr val="0070C0"/>
                </a:solidFill>
              </a:rPr>
              <a:t>IA32</a:t>
            </a:r>
            <a:r>
              <a:rPr lang="de-DE" dirty="0"/>
              <a:t>-Architekturen (d.h. ab Intel Pentium)</a:t>
            </a:r>
          </a:p>
          <a:p>
            <a:pPr lvl="1"/>
            <a:r>
              <a:rPr lang="de-DE" dirty="0"/>
              <a:t>Bei dieser Architektur hat ein Eintrag der Seitentabelle </a:t>
            </a:r>
            <a:r>
              <a:rPr lang="de-DE" u="sng" dirty="0"/>
              <a:t>immer 4 Bytes</a:t>
            </a:r>
            <a:r>
              <a:rPr lang="de-DE" dirty="0"/>
              <a:t> (32 Bits), siehe </a:t>
            </a:r>
            <a:r>
              <a:rPr lang="de-DE" dirty="0">
                <a:hlinkClick r:id="rId3"/>
              </a:rPr>
              <a:t>https://wiki.osdev.org/Paging</a:t>
            </a:r>
            <a:endParaRPr lang="de-DE" dirty="0"/>
          </a:p>
          <a:p>
            <a:pPr lvl="1"/>
            <a:r>
              <a:rPr lang="de-DE" dirty="0"/>
              <a:t>Bei 4 GB Speicher (2</a:t>
            </a:r>
            <a:r>
              <a:rPr lang="de-DE" baseline="30000" dirty="0"/>
              <a:t>32</a:t>
            </a:r>
            <a:r>
              <a:rPr lang="de-DE" dirty="0"/>
              <a:t>) und 4kB Seitengröße (2</a:t>
            </a:r>
            <a:r>
              <a:rPr lang="de-DE" baseline="30000" dirty="0"/>
              <a:t>12</a:t>
            </a:r>
            <a:r>
              <a:rPr lang="de-DE" dirty="0"/>
              <a:t>) …</a:t>
            </a:r>
          </a:p>
          <a:p>
            <a:pPr lvl="2"/>
            <a:r>
              <a:rPr lang="de-DE" dirty="0"/>
              <a:t>=&gt; 2</a:t>
            </a:r>
            <a:r>
              <a:rPr lang="de-DE" baseline="30000" dirty="0"/>
              <a:t>20</a:t>
            </a:r>
            <a:r>
              <a:rPr lang="de-DE" dirty="0"/>
              <a:t> ~ 1 Mio. (bzw. 1 „MB“) Einträge der Seitentabelle</a:t>
            </a:r>
          </a:p>
          <a:p>
            <a:pPr lvl="1"/>
            <a:r>
              <a:rPr lang="de-DE" dirty="0"/>
              <a:t>Je Eintrag 4 Bytes =&gt; </a:t>
            </a:r>
            <a:r>
              <a:rPr lang="de-DE" dirty="0">
                <a:solidFill>
                  <a:srgbClr val="0070C0"/>
                </a:solidFill>
              </a:rPr>
              <a:t>4 MB </a:t>
            </a:r>
            <a:r>
              <a:rPr lang="de-DE" i="1" dirty="0">
                <a:solidFill>
                  <a:srgbClr val="0070C0"/>
                </a:solidFill>
              </a:rPr>
              <a:t>pro Prozess </a:t>
            </a:r>
            <a:r>
              <a:rPr lang="de-DE" dirty="0">
                <a:solidFill>
                  <a:srgbClr val="0070C0"/>
                </a:solidFill>
              </a:rPr>
              <a:t>nötig!</a:t>
            </a:r>
            <a:endParaRPr lang="de-DE" u="sng" dirty="0">
              <a:solidFill>
                <a:srgbClr val="0070C0"/>
              </a:solidFill>
            </a:endParaRPr>
          </a:p>
          <a:p>
            <a:pPr lvl="1"/>
            <a:r>
              <a:rPr lang="de-DE" dirty="0">
                <a:solidFill>
                  <a:srgbClr val="FF0000"/>
                </a:solidFill>
              </a:rPr>
              <a:t>Die Seitentabelle muss also im Hauptspeicher liegen!</a:t>
            </a:r>
          </a:p>
          <a:p>
            <a:pPr lvl="2"/>
            <a:r>
              <a:rPr lang="de-DE" dirty="0"/>
              <a:t>Und nicht als Register der CPU/MMU </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22</a:t>
            </a:fld>
            <a:endParaRPr lang="en-US" noProof="0" dirty="0"/>
          </a:p>
        </p:txBody>
      </p:sp>
    </p:spTree>
    <p:extLst>
      <p:ext uri="{BB962C8B-B14F-4D97-AF65-F5344CB8AC3E}">
        <p14:creationId xmlns:p14="http://schemas.microsoft.com/office/powerpoint/2010/main" val="348090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fade">
                                      <p:cBhvr>
                                        <p:cTn id="30" dur="500"/>
                                        <p:tgtEl>
                                          <p:spTgt spid="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Die Seitentabelle im Hauptspeicher</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23</a:t>
            </a:fld>
            <a:endParaRPr lang="en-US" noProof="0" dirty="0"/>
          </a:p>
        </p:txBody>
      </p:sp>
      <p:sp>
        <p:nvSpPr>
          <p:cNvPr id="3" name="Inhaltsplatzhalter 2"/>
          <p:cNvSpPr>
            <a:spLocks noGrp="1"/>
          </p:cNvSpPr>
          <p:nvPr>
            <p:ph sz="quarter" idx="1"/>
          </p:nvPr>
        </p:nvSpPr>
        <p:spPr/>
        <p:txBody>
          <a:bodyPr>
            <a:normAutofit/>
          </a:bodyPr>
          <a:lstStyle/>
          <a:p>
            <a:r>
              <a:rPr lang="de-DE" u="sng" dirty="0"/>
              <a:t>Die Seitentabelle muss im Hauptspeicher</a:t>
            </a:r>
            <a:r>
              <a:rPr lang="de-DE" dirty="0"/>
              <a:t> (und nicht in der CPU) </a:t>
            </a:r>
            <a:r>
              <a:rPr lang="de-DE" u="sng" dirty="0"/>
              <a:t>gespeichert sein</a:t>
            </a:r>
          </a:p>
          <a:p>
            <a:r>
              <a:rPr lang="de-DE" dirty="0"/>
              <a:t>Zwei Probleme:</a:t>
            </a:r>
          </a:p>
          <a:p>
            <a:pPr lvl="1"/>
            <a:r>
              <a:rPr lang="de-DE" sz="2800" dirty="0">
                <a:solidFill>
                  <a:srgbClr val="0070C0"/>
                </a:solidFill>
              </a:rPr>
              <a:t>A. Erhöhte Zugriffszeit auf den Speicher</a:t>
            </a:r>
          </a:p>
          <a:p>
            <a:pPr lvl="1"/>
            <a:r>
              <a:rPr lang="de-DE" sz="2800" dirty="0">
                <a:solidFill>
                  <a:srgbClr val="0070C0"/>
                </a:solidFill>
              </a:rPr>
              <a:t>B. Hoher Speicherbedarf einer Seitentabelle</a:t>
            </a:r>
            <a:endParaRPr lang="de-DE" u="sng" dirty="0"/>
          </a:p>
          <a:p>
            <a:endParaRPr lang="de-DE" dirty="0"/>
          </a:p>
          <a:p>
            <a:r>
              <a:rPr lang="de-DE" dirty="0"/>
              <a:t>Problem: Jeder Speicherzugriff muss in zwei Zugriffe übersetzt werden: </a:t>
            </a:r>
          </a:p>
          <a:p>
            <a:pPr lvl="1"/>
            <a:r>
              <a:rPr lang="de-DE" dirty="0"/>
              <a:t>(1) Lesen aus der Seitentabelle und </a:t>
            </a:r>
          </a:p>
          <a:p>
            <a:pPr lvl="1"/>
            <a:r>
              <a:rPr lang="de-DE" dirty="0"/>
              <a:t>(2) Eigentliches Lesen/Schreiben auf den Speicher</a:t>
            </a:r>
          </a:p>
          <a:p>
            <a:r>
              <a:rPr lang="de-DE" dirty="0"/>
              <a:t>Naiv umgesetzt - das dauert zu lange!</a:t>
            </a:r>
          </a:p>
        </p:txBody>
      </p:sp>
    </p:spTree>
    <p:extLst>
      <p:ext uri="{BB962C8B-B14F-4D97-AF65-F5344CB8AC3E}">
        <p14:creationId xmlns:p14="http://schemas.microsoft.com/office/powerpoint/2010/main" val="2243437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Beschleunigen der Adressenübersetzung</a:t>
            </a:r>
          </a:p>
        </p:txBody>
      </p:sp>
      <p:sp>
        <p:nvSpPr>
          <p:cNvPr id="3" name="Inhaltsplatzhalter 2"/>
          <p:cNvSpPr>
            <a:spLocks noGrp="1"/>
          </p:cNvSpPr>
          <p:nvPr>
            <p:ph sz="quarter" idx="1"/>
          </p:nvPr>
        </p:nvSpPr>
        <p:spPr>
          <a:xfrm>
            <a:off x="457200" y="1219200"/>
            <a:ext cx="8435280" cy="2497832"/>
          </a:xfrm>
        </p:spPr>
        <p:txBody>
          <a:bodyPr>
            <a:normAutofit/>
          </a:bodyPr>
          <a:lstStyle/>
          <a:p>
            <a:r>
              <a:rPr lang="de-DE" dirty="0"/>
              <a:t>Die Lösung nutzt </a:t>
            </a:r>
            <a:r>
              <a:rPr lang="de-DE" dirty="0" err="1">
                <a:solidFill>
                  <a:srgbClr val="0070C0"/>
                </a:solidFill>
              </a:rPr>
              <a:t>spacial</a:t>
            </a:r>
            <a:r>
              <a:rPr lang="de-DE" dirty="0">
                <a:solidFill>
                  <a:srgbClr val="0070C0"/>
                </a:solidFill>
              </a:rPr>
              <a:t> </a:t>
            </a:r>
            <a:r>
              <a:rPr lang="de-DE" dirty="0" err="1">
                <a:solidFill>
                  <a:srgbClr val="0070C0"/>
                </a:solidFill>
              </a:rPr>
              <a:t>locality</a:t>
            </a:r>
            <a:r>
              <a:rPr lang="de-DE" dirty="0">
                <a:solidFill>
                  <a:srgbClr val="0070C0"/>
                </a:solidFill>
              </a:rPr>
              <a:t> </a:t>
            </a:r>
            <a:r>
              <a:rPr lang="de-DE" dirty="0"/>
              <a:t>aus: </a:t>
            </a:r>
          </a:p>
          <a:p>
            <a:pPr lvl="1"/>
            <a:r>
              <a:rPr lang="de-DE" dirty="0"/>
              <a:t>Sehr wenige Seiten werden sehr häufig verwendet</a:t>
            </a:r>
          </a:p>
          <a:p>
            <a:r>
              <a:rPr lang="de-DE" dirty="0"/>
              <a:t>Man verwendet einen </a:t>
            </a:r>
            <a:r>
              <a:rPr lang="de-DE" dirty="0">
                <a:solidFill>
                  <a:srgbClr val="0070C0"/>
                </a:solidFill>
              </a:rPr>
              <a:t>Cache</a:t>
            </a:r>
            <a:r>
              <a:rPr lang="de-DE" dirty="0"/>
              <a:t> für die Einträge der Seitentabelle (spezielle Hardware in MMU)</a:t>
            </a:r>
          </a:p>
          <a:p>
            <a:pPr lvl="1"/>
            <a:r>
              <a:rPr lang="de-DE" dirty="0"/>
              <a:t>Den </a:t>
            </a:r>
            <a:r>
              <a:rPr lang="de-DE" b="1" dirty="0">
                <a:solidFill>
                  <a:srgbClr val="FF0000"/>
                </a:solidFill>
              </a:rPr>
              <a:t>Translation Look-</a:t>
            </a:r>
            <a:r>
              <a:rPr lang="de-DE" b="1" dirty="0" err="1">
                <a:solidFill>
                  <a:srgbClr val="FF0000"/>
                </a:solidFill>
              </a:rPr>
              <a:t>Aside</a:t>
            </a:r>
            <a:r>
              <a:rPr lang="de-DE" b="1" dirty="0">
                <a:solidFill>
                  <a:srgbClr val="FF0000"/>
                </a:solidFill>
              </a:rPr>
              <a:t> </a:t>
            </a:r>
            <a:r>
              <a:rPr lang="de-DE" b="1" dirty="0" err="1">
                <a:solidFill>
                  <a:srgbClr val="FF0000"/>
                </a:solidFill>
              </a:rPr>
              <a:t>Buffer</a:t>
            </a:r>
            <a:r>
              <a:rPr lang="de-DE" b="1" dirty="0">
                <a:solidFill>
                  <a:srgbClr val="FF0000"/>
                </a:solidFill>
              </a:rPr>
              <a:t> </a:t>
            </a:r>
            <a:r>
              <a:rPr lang="de-DE" dirty="0"/>
              <a:t>(</a:t>
            </a:r>
            <a:r>
              <a:rPr lang="de-DE" b="1" dirty="0">
                <a:solidFill>
                  <a:srgbClr val="FF0000"/>
                </a:solidFill>
              </a:rPr>
              <a:t>TLB</a:t>
            </a:r>
            <a:r>
              <a:rPr lang="de-DE" dirty="0"/>
              <a:t>)</a:t>
            </a:r>
            <a:endParaRPr lang="de-DE" b="1" dirty="0">
              <a:solidFill>
                <a:srgbClr val="FF0000"/>
              </a:solidFill>
            </a:endParaRP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24</a:t>
            </a:fld>
            <a:endParaRPr lang="en-US" noProof="0" dirty="0"/>
          </a:p>
        </p:txBody>
      </p:sp>
      <p:graphicFrame>
        <p:nvGraphicFramePr>
          <p:cNvPr id="8" name="Tabelle 7"/>
          <p:cNvGraphicFramePr>
            <a:graphicFrameLocks noGrp="1"/>
          </p:cNvGraphicFramePr>
          <p:nvPr/>
        </p:nvGraphicFramePr>
        <p:xfrm>
          <a:off x="323528" y="3789040"/>
          <a:ext cx="7056783" cy="1483360"/>
        </p:xfrm>
        <a:graphic>
          <a:graphicData uri="http://schemas.openxmlformats.org/drawingml/2006/table">
            <a:tbl>
              <a:tblPr firstRow="1" bandRow="1">
                <a:tableStyleId>{5C22544A-7EE6-4342-B048-85BDC9FD1C3A}</a:tableStyleId>
              </a:tblPr>
              <a:tblGrid>
                <a:gridCol w="987950">
                  <a:extLst>
                    <a:ext uri="{9D8B030D-6E8A-4147-A177-3AD203B41FA5}">
                      <a16:colId xmlns:a16="http://schemas.microsoft.com/office/drawing/2014/main" val="20000"/>
                    </a:ext>
                  </a:extLst>
                </a:gridCol>
                <a:gridCol w="1481924">
                  <a:extLst>
                    <a:ext uri="{9D8B030D-6E8A-4147-A177-3AD203B41FA5}">
                      <a16:colId xmlns:a16="http://schemas.microsoft.com/office/drawing/2014/main" val="20001"/>
                    </a:ext>
                  </a:extLst>
                </a:gridCol>
                <a:gridCol w="1994622">
                  <a:extLst>
                    <a:ext uri="{9D8B030D-6E8A-4147-A177-3AD203B41FA5}">
                      <a16:colId xmlns:a16="http://schemas.microsoft.com/office/drawing/2014/main" val="20002"/>
                    </a:ext>
                  </a:extLst>
                </a:gridCol>
                <a:gridCol w="1296144">
                  <a:extLst>
                    <a:ext uri="{9D8B030D-6E8A-4147-A177-3AD203B41FA5}">
                      <a16:colId xmlns:a16="http://schemas.microsoft.com/office/drawing/2014/main" val="20003"/>
                    </a:ext>
                  </a:extLst>
                </a:gridCol>
                <a:gridCol w="1296143">
                  <a:extLst>
                    <a:ext uri="{9D8B030D-6E8A-4147-A177-3AD203B41FA5}">
                      <a16:colId xmlns:a16="http://schemas.microsoft.com/office/drawing/2014/main" val="20004"/>
                    </a:ext>
                  </a:extLst>
                </a:gridCol>
              </a:tblGrid>
              <a:tr h="370840">
                <a:tc>
                  <a:txBody>
                    <a:bodyPr/>
                    <a:lstStyle/>
                    <a:p>
                      <a:r>
                        <a:rPr lang="de-DE" dirty="0"/>
                        <a:t>Gültig</a:t>
                      </a:r>
                    </a:p>
                  </a:txBody>
                  <a:tcPr/>
                </a:tc>
                <a:tc>
                  <a:txBody>
                    <a:bodyPr/>
                    <a:lstStyle/>
                    <a:p>
                      <a:r>
                        <a:rPr lang="de-DE" dirty="0"/>
                        <a:t>Seitenindex</a:t>
                      </a:r>
                    </a:p>
                  </a:txBody>
                  <a:tcPr/>
                </a:tc>
                <a:tc>
                  <a:txBody>
                    <a:bodyPr/>
                    <a:lstStyle/>
                    <a:p>
                      <a:r>
                        <a:rPr lang="de-DE" dirty="0" err="1"/>
                        <a:t>Seitenrahmennr</a:t>
                      </a:r>
                      <a:r>
                        <a:rPr lang="de-DE" dirty="0"/>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dirty="0"/>
                        <a:t>Verändert</a:t>
                      </a:r>
                    </a:p>
                  </a:txBody>
                  <a:tcPr/>
                </a:tc>
                <a:tc>
                  <a:txBody>
                    <a:bodyPr/>
                    <a:lstStyle/>
                    <a:p>
                      <a:r>
                        <a:rPr lang="de-DE" dirty="0"/>
                        <a:t>Schutzart</a:t>
                      </a:r>
                    </a:p>
                  </a:txBody>
                  <a:tcPr/>
                </a:tc>
                <a:extLst>
                  <a:ext uri="{0D108BD9-81ED-4DB2-BD59-A6C34878D82A}">
                    <a16:rowId xmlns:a16="http://schemas.microsoft.com/office/drawing/2014/main" val="10000"/>
                  </a:ext>
                </a:extLst>
              </a:tr>
              <a:tr h="370840">
                <a:tc>
                  <a:txBody>
                    <a:bodyPr/>
                    <a:lstStyle/>
                    <a:p>
                      <a:r>
                        <a:rPr lang="de-DE" dirty="0"/>
                        <a:t>1</a:t>
                      </a:r>
                    </a:p>
                  </a:txBody>
                  <a:tcPr/>
                </a:tc>
                <a:tc>
                  <a:txBody>
                    <a:bodyPr/>
                    <a:lstStyle/>
                    <a:p>
                      <a:r>
                        <a:rPr lang="de-DE" dirty="0"/>
                        <a:t>140</a:t>
                      </a:r>
                    </a:p>
                  </a:txBody>
                  <a:tcPr/>
                </a:tc>
                <a:tc>
                  <a:txBody>
                    <a:bodyPr/>
                    <a:lstStyle/>
                    <a:p>
                      <a:r>
                        <a:rPr lang="de-DE" dirty="0"/>
                        <a:t>31</a:t>
                      </a:r>
                    </a:p>
                  </a:txBody>
                  <a:tcPr/>
                </a:tc>
                <a:tc>
                  <a:txBody>
                    <a:bodyPr/>
                    <a:lstStyle/>
                    <a:p>
                      <a:r>
                        <a:rPr lang="de-DE" dirty="0"/>
                        <a:t>1</a:t>
                      </a:r>
                    </a:p>
                  </a:txBody>
                  <a:tcPr/>
                </a:tc>
                <a:tc>
                  <a:txBody>
                    <a:bodyPr/>
                    <a:lstStyle/>
                    <a:p>
                      <a:r>
                        <a:rPr lang="de-DE" dirty="0"/>
                        <a:t>RW</a:t>
                      </a:r>
                    </a:p>
                  </a:txBody>
                  <a:tcPr/>
                </a:tc>
                <a:extLst>
                  <a:ext uri="{0D108BD9-81ED-4DB2-BD59-A6C34878D82A}">
                    <a16:rowId xmlns:a16="http://schemas.microsoft.com/office/drawing/2014/main" val="10001"/>
                  </a:ext>
                </a:extLst>
              </a:tr>
              <a:tr h="370840">
                <a:tc>
                  <a:txBody>
                    <a:bodyPr/>
                    <a:lstStyle/>
                    <a:p>
                      <a:r>
                        <a:rPr lang="de-DE" dirty="0"/>
                        <a:t>1</a:t>
                      </a:r>
                    </a:p>
                  </a:txBody>
                  <a:tcPr/>
                </a:tc>
                <a:tc>
                  <a:txBody>
                    <a:bodyPr/>
                    <a:lstStyle/>
                    <a:p>
                      <a:r>
                        <a:rPr lang="de-DE" dirty="0"/>
                        <a:t>20</a:t>
                      </a:r>
                    </a:p>
                  </a:txBody>
                  <a:tcPr/>
                </a:tc>
                <a:tc>
                  <a:txBody>
                    <a:bodyPr/>
                    <a:lstStyle/>
                    <a:p>
                      <a:r>
                        <a:rPr lang="de-DE" dirty="0"/>
                        <a:t>38</a:t>
                      </a:r>
                    </a:p>
                  </a:txBody>
                  <a:tcPr/>
                </a:tc>
                <a:tc>
                  <a:txBody>
                    <a:bodyPr/>
                    <a:lstStyle/>
                    <a:p>
                      <a:r>
                        <a:rPr lang="de-DE" dirty="0"/>
                        <a:t>0</a:t>
                      </a:r>
                    </a:p>
                  </a:txBody>
                  <a:tcPr/>
                </a:tc>
                <a:tc>
                  <a:txBody>
                    <a:bodyPr/>
                    <a:lstStyle/>
                    <a:p>
                      <a:r>
                        <a:rPr lang="de-DE" dirty="0"/>
                        <a:t>R   X</a:t>
                      </a:r>
                    </a:p>
                  </a:txBody>
                  <a:tcPr/>
                </a:tc>
                <a:extLst>
                  <a:ext uri="{0D108BD9-81ED-4DB2-BD59-A6C34878D82A}">
                    <a16:rowId xmlns:a16="http://schemas.microsoft.com/office/drawing/2014/main" val="10002"/>
                  </a:ext>
                </a:extLst>
              </a:tr>
              <a:tr h="370840">
                <a:tc>
                  <a:txBody>
                    <a:bodyPr/>
                    <a:lstStyle/>
                    <a:p>
                      <a:r>
                        <a:rPr lang="de-DE" dirty="0"/>
                        <a:t>…</a:t>
                      </a:r>
                    </a:p>
                  </a:txBody>
                  <a:tcPr/>
                </a:tc>
                <a:tc>
                  <a:txBody>
                    <a:bodyPr/>
                    <a:lstStyle/>
                    <a:p>
                      <a:r>
                        <a:rPr lang="de-DE" dirty="0"/>
                        <a:t>…</a:t>
                      </a:r>
                    </a:p>
                  </a:txBody>
                  <a:tcPr/>
                </a:tc>
                <a:tc>
                  <a:txBody>
                    <a:bodyPr/>
                    <a:lstStyle/>
                    <a:p>
                      <a:r>
                        <a:rPr lang="de-DE" dirty="0"/>
                        <a:t>…</a:t>
                      </a:r>
                    </a:p>
                  </a:txBody>
                  <a:tcPr/>
                </a:tc>
                <a:tc>
                  <a:txBody>
                    <a:bodyPr/>
                    <a:lstStyle/>
                    <a:p>
                      <a:r>
                        <a:rPr lang="de-DE" dirty="0"/>
                        <a:t>…</a:t>
                      </a:r>
                    </a:p>
                  </a:txBody>
                  <a:tcPr/>
                </a:tc>
                <a:tc>
                  <a:txBody>
                    <a:bodyPr/>
                    <a:lstStyle/>
                    <a:p>
                      <a:r>
                        <a:rPr lang="de-DE" dirty="0"/>
                        <a:t>…</a:t>
                      </a:r>
                    </a:p>
                  </a:txBody>
                  <a:tcPr/>
                </a:tc>
                <a:extLst>
                  <a:ext uri="{0D108BD9-81ED-4DB2-BD59-A6C34878D82A}">
                    <a16:rowId xmlns:a16="http://schemas.microsoft.com/office/drawing/2014/main" val="10003"/>
                  </a:ext>
                </a:extLst>
              </a:tr>
            </a:tbl>
          </a:graphicData>
        </a:graphic>
      </p:graphicFrame>
      <p:sp>
        <p:nvSpPr>
          <p:cNvPr id="9" name="Textfeld 8"/>
          <p:cNvSpPr txBox="1"/>
          <p:nvPr/>
        </p:nvSpPr>
        <p:spPr>
          <a:xfrm>
            <a:off x="1691680" y="5301208"/>
            <a:ext cx="1595309" cy="646331"/>
          </a:xfrm>
          <a:prstGeom prst="rect">
            <a:avLst/>
          </a:prstGeom>
          <a:noFill/>
          <a:ln w="12700">
            <a:solidFill>
              <a:schemeClr val="tx1"/>
            </a:solidFill>
          </a:ln>
        </p:spPr>
        <p:txBody>
          <a:bodyPr wrap="none" rtlCol="0">
            <a:spAutoFit/>
          </a:bodyPr>
          <a:lstStyle/>
          <a:p>
            <a:r>
              <a:rPr lang="de-DE" b="1" u="sng" dirty="0">
                <a:solidFill>
                  <a:srgbClr val="0070C0"/>
                </a:solidFill>
              </a:rPr>
              <a:t>parallele</a:t>
            </a:r>
          </a:p>
          <a:p>
            <a:r>
              <a:rPr lang="de-DE" dirty="0"/>
              <a:t>Suche nach p</a:t>
            </a:r>
          </a:p>
        </p:txBody>
      </p:sp>
      <p:grpSp>
        <p:nvGrpSpPr>
          <p:cNvPr id="5" name="Gruppieren 13"/>
          <p:cNvGrpSpPr/>
          <p:nvPr/>
        </p:nvGrpSpPr>
        <p:grpSpPr>
          <a:xfrm>
            <a:off x="270053" y="6070920"/>
            <a:ext cx="2516853" cy="677198"/>
            <a:chOff x="2563355" y="5231384"/>
            <a:chExt cx="3351985" cy="1018097"/>
          </a:xfrm>
        </p:grpSpPr>
        <p:sp>
          <p:nvSpPr>
            <p:cNvPr id="15" name="Rectangle 1028"/>
            <p:cNvSpPr>
              <a:spLocks noChangeArrowheads="1"/>
            </p:cNvSpPr>
            <p:nvPr/>
          </p:nvSpPr>
          <p:spPr bwMode="auto">
            <a:xfrm>
              <a:off x="2722439" y="5788124"/>
              <a:ext cx="3105150" cy="438150"/>
            </a:xfrm>
            <a:prstGeom prst="rect">
              <a:avLst/>
            </a:prstGeom>
            <a:solidFill>
              <a:schemeClr val="bg1"/>
            </a:solidFill>
            <a:ln w="28575">
              <a:solidFill>
                <a:schemeClr val="tx1"/>
              </a:solidFill>
              <a:miter lim="800000"/>
              <a:headEnd/>
              <a:tailEnd/>
            </a:ln>
          </p:spPr>
          <p:txBody>
            <a:bodyPr wrap="none" anchor="ctr"/>
            <a:lstStyle/>
            <a:p>
              <a:endParaRPr lang="de-DE" sz="1600"/>
            </a:p>
          </p:txBody>
        </p:sp>
        <p:sp>
          <p:nvSpPr>
            <p:cNvPr id="16" name="Line 1030"/>
            <p:cNvSpPr>
              <a:spLocks noChangeShapeType="1"/>
            </p:cNvSpPr>
            <p:nvPr/>
          </p:nvSpPr>
          <p:spPr bwMode="auto">
            <a:xfrm>
              <a:off x="4355976" y="5445224"/>
              <a:ext cx="0" cy="762000"/>
            </a:xfrm>
            <a:prstGeom prst="line">
              <a:avLst/>
            </a:prstGeom>
            <a:noFill/>
            <a:ln w="28575">
              <a:solidFill>
                <a:schemeClr val="tx1"/>
              </a:solidFill>
              <a:round/>
              <a:headEnd/>
              <a:tailEnd/>
            </a:ln>
          </p:spPr>
          <p:txBody>
            <a:bodyPr wrap="none" anchor="ctr"/>
            <a:lstStyle/>
            <a:p>
              <a:endParaRPr lang="de-DE" sz="1600"/>
            </a:p>
          </p:txBody>
        </p:sp>
        <p:sp>
          <p:nvSpPr>
            <p:cNvPr id="17" name="Text Box 1031"/>
            <p:cNvSpPr txBox="1">
              <a:spLocks noChangeArrowheads="1"/>
            </p:cNvSpPr>
            <p:nvPr/>
          </p:nvSpPr>
          <p:spPr bwMode="auto">
            <a:xfrm>
              <a:off x="2563355" y="5231384"/>
              <a:ext cx="1669921" cy="508981"/>
            </a:xfrm>
            <a:prstGeom prst="rect">
              <a:avLst/>
            </a:prstGeom>
            <a:noFill/>
            <a:ln w="9525">
              <a:noFill/>
              <a:miter lim="800000"/>
              <a:headEnd/>
              <a:tailEnd/>
            </a:ln>
          </p:spPr>
          <p:txBody>
            <a:bodyPr wrap="none" anchor="ctr">
              <a:spAutoFit/>
            </a:bodyPr>
            <a:lstStyle/>
            <a:p>
              <a:pPr algn="ctr">
                <a:spcBef>
                  <a:spcPct val="50000"/>
                </a:spcBef>
              </a:pPr>
              <a:r>
                <a:rPr lang="de-DE" sz="1600" dirty="0">
                  <a:latin typeface="Helvetica" charset="0"/>
                </a:rPr>
                <a:t>Seitenindex</a:t>
              </a:r>
            </a:p>
          </p:txBody>
        </p:sp>
        <p:sp>
          <p:nvSpPr>
            <p:cNvPr id="18" name="Text Box 1032"/>
            <p:cNvSpPr txBox="1">
              <a:spLocks noChangeArrowheads="1"/>
            </p:cNvSpPr>
            <p:nvPr/>
          </p:nvSpPr>
          <p:spPr bwMode="auto">
            <a:xfrm>
              <a:off x="4483427" y="5265025"/>
              <a:ext cx="1431913" cy="441701"/>
            </a:xfrm>
            <a:prstGeom prst="rect">
              <a:avLst/>
            </a:prstGeom>
            <a:noFill/>
            <a:ln w="9525">
              <a:noFill/>
              <a:miter lim="800000"/>
              <a:headEnd/>
              <a:tailEnd/>
            </a:ln>
          </p:spPr>
          <p:txBody>
            <a:bodyPr wrap="none" anchor="ctr">
              <a:spAutoFit/>
            </a:bodyPr>
            <a:lstStyle/>
            <a:p>
              <a:pPr algn="ctr">
                <a:spcBef>
                  <a:spcPct val="50000"/>
                </a:spcBef>
              </a:pPr>
              <a:r>
                <a:rPr lang="de-DE" sz="1600" dirty="0">
                  <a:latin typeface="Helvetica" charset="0"/>
                </a:rPr>
                <a:t>Seitenoffset</a:t>
              </a:r>
            </a:p>
          </p:txBody>
        </p:sp>
        <p:sp>
          <p:nvSpPr>
            <p:cNvPr id="19" name="Text Box 1033"/>
            <p:cNvSpPr txBox="1">
              <a:spLocks noChangeArrowheads="1"/>
            </p:cNvSpPr>
            <p:nvPr/>
          </p:nvSpPr>
          <p:spPr bwMode="auto">
            <a:xfrm>
              <a:off x="3263064" y="5777619"/>
              <a:ext cx="337977" cy="441701"/>
            </a:xfrm>
            <a:prstGeom prst="rect">
              <a:avLst/>
            </a:prstGeom>
            <a:noFill/>
            <a:ln w="9525">
              <a:noFill/>
              <a:miter lim="800000"/>
              <a:headEnd/>
              <a:tailEnd/>
            </a:ln>
          </p:spPr>
          <p:txBody>
            <a:bodyPr wrap="none" anchor="ctr">
              <a:spAutoFit/>
            </a:bodyPr>
            <a:lstStyle/>
            <a:p>
              <a:pPr algn="ctr">
                <a:spcBef>
                  <a:spcPct val="50000"/>
                </a:spcBef>
              </a:pPr>
              <a:r>
                <a:rPr lang="en-US" sz="1600" i="1">
                  <a:latin typeface="Helvetica" charset="0"/>
                </a:rPr>
                <a:t>p</a:t>
              </a:r>
              <a:endParaRPr lang="en-US" sz="1600">
                <a:latin typeface="Helvetica" charset="0"/>
              </a:endParaRPr>
            </a:p>
          </p:txBody>
        </p:sp>
        <p:sp>
          <p:nvSpPr>
            <p:cNvPr id="20" name="Text Box 1035"/>
            <p:cNvSpPr txBox="1">
              <a:spLocks noChangeArrowheads="1"/>
            </p:cNvSpPr>
            <p:nvPr/>
          </p:nvSpPr>
          <p:spPr bwMode="auto">
            <a:xfrm>
              <a:off x="4712451" y="5807780"/>
              <a:ext cx="337977" cy="441701"/>
            </a:xfrm>
            <a:prstGeom prst="rect">
              <a:avLst/>
            </a:prstGeom>
            <a:noFill/>
            <a:ln w="9525">
              <a:noFill/>
              <a:miter lim="800000"/>
              <a:headEnd/>
              <a:tailEnd/>
            </a:ln>
          </p:spPr>
          <p:txBody>
            <a:bodyPr wrap="none" anchor="ctr">
              <a:spAutoFit/>
            </a:bodyPr>
            <a:lstStyle/>
            <a:p>
              <a:pPr algn="ctr">
                <a:spcBef>
                  <a:spcPct val="50000"/>
                </a:spcBef>
              </a:pPr>
              <a:r>
                <a:rPr lang="en-US" sz="1600" i="1">
                  <a:latin typeface="Helvetica" charset="0"/>
                </a:rPr>
                <a:t>d</a:t>
              </a:r>
              <a:endParaRPr lang="en-US" sz="1600">
                <a:latin typeface="Helvetica" charset="0"/>
              </a:endParaRPr>
            </a:p>
          </p:txBody>
        </p:sp>
      </p:grpSp>
      <p:cxnSp>
        <p:nvCxnSpPr>
          <p:cNvPr id="22" name="Gerade Verbindung mit Pfeil 21"/>
          <p:cNvCxnSpPr>
            <a:stCxn id="9" idx="0"/>
            <a:endCxn id="25" idx="1"/>
          </p:cNvCxnSpPr>
          <p:nvPr/>
        </p:nvCxnSpPr>
        <p:spPr>
          <a:xfrm rot="16200000" flipV="1">
            <a:off x="1964494" y="4776366"/>
            <a:ext cx="540060" cy="509623"/>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4" name="Textfeld 23"/>
          <p:cNvSpPr txBox="1"/>
          <p:nvPr/>
        </p:nvSpPr>
        <p:spPr>
          <a:xfrm>
            <a:off x="3563888" y="5301208"/>
            <a:ext cx="3096344" cy="923330"/>
          </a:xfrm>
          <a:prstGeom prst="rect">
            <a:avLst/>
          </a:prstGeom>
          <a:noFill/>
          <a:ln w="12700">
            <a:solidFill>
              <a:schemeClr val="tx1"/>
            </a:solidFill>
          </a:ln>
        </p:spPr>
        <p:txBody>
          <a:bodyPr wrap="square" rtlCol="0">
            <a:spAutoFit/>
          </a:bodyPr>
          <a:lstStyle/>
          <a:p>
            <a:r>
              <a:rPr lang="de-DE" dirty="0"/>
              <a:t>Beim Treffer wird hier</a:t>
            </a:r>
          </a:p>
          <a:p>
            <a:r>
              <a:rPr lang="de-DE" dirty="0"/>
              <a:t>die Basisadresse des Seitenrahmens entnommen</a:t>
            </a:r>
          </a:p>
        </p:txBody>
      </p:sp>
      <p:sp>
        <p:nvSpPr>
          <p:cNvPr id="25" name="Geschweifte Klammer rechts 24"/>
          <p:cNvSpPr/>
          <p:nvPr/>
        </p:nvSpPr>
        <p:spPr>
          <a:xfrm>
            <a:off x="1835696" y="4293096"/>
            <a:ext cx="144016" cy="936104"/>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cxnSp>
        <p:nvCxnSpPr>
          <p:cNvPr id="27" name="Gerade Verbindung mit Pfeil 26"/>
          <p:cNvCxnSpPr>
            <a:stCxn id="24" idx="0"/>
            <a:endCxn id="33" idx="1"/>
          </p:cNvCxnSpPr>
          <p:nvPr/>
        </p:nvCxnSpPr>
        <p:spPr>
          <a:xfrm rot="16200000" flipV="1">
            <a:off x="3959932" y="4149080"/>
            <a:ext cx="540060" cy="1764196"/>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33" name="Geschweifte Klammer rechts 32"/>
          <p:cNvSpPr/>
          <p:nvPr/>
        </p:nvSpPr>
        <p:spPr>
          <a:xfrm>
            <a:off x="3203848" y="4293096"/>
            <a:ext cx="144016" cy="936104"/>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5" name="Geschweifte Klammer rechts 34"/>
          <p:cNvSpPr/>
          <p:nvPr/>
        </p:nvSpPr>
        <p:spPr>
          <a:xfrm>
            <a:off x="7452320" y="4149080"/>
            <a:ext cx="288032" cy="1152128"/>
          </a:xfrm>
          <a:prstGeom prst="righ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36" name="Textfeld 35"/>
          <p:cNvSpPr txBox="1"/>
          <p:nvPr/>
        </p:nvSpPr>
        <p:spPr>
          <a:xfrm>
            <a:off x="7812360" y="4221088"/>
            <a:ext cx="1428596" cy="923330"/>
          </a:xfrm>
          <a:prstGeom prst="rect">
            <a:avLst/>
          </a:prstGeom>
          <a:noFill/>
        </p:spPr>
        <p:txBody>
          <a:bodyPr wrap="none" rtlCol="0">
            <a:spAutoFit/>
          </a:bodyPr>
          <a:lstStyle/>
          <a:p>
            <a:r>
              <a:rPr lang="de-DE" dirty="0"/>
              <a:t>64 Einträge </a:t>
            </a:r>
          </a:p>
          <a:p>
            <a:r>
              <a:rPr lang="de-DE" dirty="0"/>
              <a:t>(oder </a:t>
            </a:r>
          </a:p>
          <a:p>
            <a:r>
              <a:rPr lang="de-DE" dirty="0"/>
              <a:t>weniger)</a:t>
            </a:r>
          </a:p>
        </p:txBody>
      </p:sp>
      <p:sp>
        <p:nvSpPr>
          <p:cNvPr id="37" name="Textfeld 36"/>
          <p:cNvSpPr txBox="1"/>
          <p:nvPr/>
        </p:nvSpPr>
        <p:spPr>
          <a:xfrm>
            <a:off x="3275856" y="6381328"/>
            <a:ext cx="1928798" cy="369332"/>
          </a:xfrm>
          <a:prstGeom prst="rect">
            <a:avLst/>
          </a:prstGeom>
          <a:noFill/>
        </p:spPr>
        <p:txBody>
          <a:bodyPr wrap="none" rtlCol="0">
            <a:spAutoFit/>
          </a:bodyPr>
          <a:lstStyle/>
          <a:p>
            <a:r>
              <a:rPr lang="de-DE" dirty="0"/>
              <a:t>logische Adresse</a:t>
            </a:r>
          </a:p>
        </p:txBody>
      </p:sp>
      <p:cxnSp>
        <p:nvCxnSpPr>
          <p:cNvPr id="39" name="Gerade Verbindung mit Pfeil 38"/>
          <p:cNvCxnSpPr>
            <a:stCxn id="37" idx="1"/>
            <a:endCxn id="15" idx="3"/>
          </p:cNvCxnSpPr>
          <p:nvPr/>
        </p:nvCxnSpPr>
        <p:spPr>
          <a:xfrm rot="10800000" flipV="1">
            <a:off x="2721016" y="6565994"/>
            <a:ext cx="554840" cy="20968"/>
          </a:xfrm>
          <a:prstGeom prst="straightConnector1">
            <a:avLst/>
          </a:prstGeom>
          <a:ln w="28575">
            <a:solidFill>
              <a:schemeClr val="tx1"/>
            </a:solidFill>
            <a:headEnd type="none" w="med" len="med"/>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29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fade">
                                      <p:cBhvr>
                                        <p:cTn id="34" dur="500"/>
                                        <p:tgtEl>
                                          <p:spTgt spid="3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500"/>
                                        <p:tgtEl>
                                          <p:spTgt spid="37"/>
                                        </p:tgtEl>
                                      </p:cBhvr>
                                    </p:animEffect>
                                  </p:childTnLst>
                                </p:cTn>
                              </p:par>
                              <p:par>
                                <p:cTn id="38" presetID="10" presetClass="entr" presetSubtype="0" fill="hold"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4" grpId="0" animBg="1"/>
      <p:bldP spid="25" grpId="0" animBg="1"/>
      <p:bldP spid="33" grpId="0" animBg="1"/>
      <p:bldP spid="35" grpId="0" animBg="1"/>
      <p:bldP spid="36" grpId="0"/>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TLB – Umsetzung in Hardware</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25</a:t>
            </a:fld>
            <a:endParaRPr lang="en-US" noProof="0" dirty="0"/>
          </a:p>
        </p:txBody>
      </p:sp>
      <p:pic>
        <p:nvPicPr>
          <p:cNvPr id="6" name="Picture 5"/>
          <p:cNvPicPr>
            <a:picLocks noChangeAspect="1" noChangeArrowheads="1"/>
          </p:cNvPicPr>
          <p:nvPr/>
        </p:nvPicPr>
        <p:blipFill>
          <a:blip r:embed="rId3" cstate="print"/>
          <a:srcRect/>
          <a:stretch>
            <a:fillRect/>
          </a:stretch>
        </p:blipFill>
        <p:spPr bwMode="auto">
          <a:xfrm>
            <a:off x="899592" y="1340767"/>
            <a:ext cx="7128792" cy="5388795"/>
          </a:xfrm>
          <a:prstGeom prst="rect">
            <a:avLst/>
          </a:prstGeom>
          <a:noFill/>
          <a:ln w="9525">
            <a:noFill/>
            <a:miter lim="800000"/>
            <a:headEnd/>
            <a:tailEnd/>
          </a:ln>
        </p:spPr>
      </p:pic>
      <p:sp>
        <p:nvSpPr>
          <p:cNvPr id="10" name="Geschweifte Klammer links 9"/>
          <p:cNvSpPr/>
          <p:nvPr/>
        </p:nvSpPr>
        <p:spPr>
          <a:xfrm>
            <a:off x="1691680" y="4581128"/>
            <a:ext cx="432048" cy="2016224"/>
          </a:xfrm>
          <a:prstGeom prst="leftBrac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1" name="Textfeld 10"/>
          <p:cNvSpPr txBox="1"/>
          <p:nvPr/>
        </p:nvSpPr>
        <p:spPr>
          <a:xfrm>
            <a:off x="0" y="4869160"/>
            <a:ext cx="1944216" cy="1200329"/>
          </a:xfrm>
          <a:prstGeom prst="rect">
            <a:avLst/>
          </a:prstGeom>
          <a:noFill/>
        </p:spPr>
        <p:txBody>
          <a:bodyPr wrap="square" rtlCol="0">
            <a:spAutoFit/>
          </a:bodyPr>
          <a:lstStyle/>
          <a:p>
            <a:r>
              <a:rPr lang="de-DE" dirty="0"/>
              <a:t>Zugleich wird </a:t>
            </a:r>
          </a:p>
          <a:p>
            <a:r>
              <a:rPr lang="de-DE" dirty="0"/>
              <a:t>TLB aktualisiert:</a:t>
            </a:r>
          </a:p>
          <a:p>
            <a:r>
              <a:rPr lang="de-DE" dirty="0"/>
              <a:t>Paar</a:t>
            </a:r>
            <a:r>
              <a:rPr lang="de-DE" b="1" dirty="0"/>
              <a:t> </a:t>
            </a:r>
            <a:r>
              <a:rPr lang="de-DE" b="1" dirty="0">
                <a:solidFill>
                  <a:srgbClr val="FF0000"/>
                </a:solidFill>
              </a:rPr>
              <a:t>(</a:t>
            </a:r>
            <a:r>
              <a:rPr lang="de-DE" b="1" dirty="0" err="1">
                <a:solidFill>
                  <a:srgbClr val="FF0000"/>
                </a:solidFill>
              </a:rPr>
              <a:t>p,f</a:t>
            </a:r>
            <a:r>
              <a:rPr lang="de-DE" b="1" dirty="0">
                <a:solidFill>
                  <a:srgbClr val="FF0000"/>
                </a:solidFill>
              </a:rPr>
              <a:t>) </a:t>
            </a:r>
            <a:br>
              <a:rPr lang="de-DE" dirty="0"/>
            </a:br>
            <a:r>
              <a:rPr lang="de-DE" dirty="0"/>
              <a:t>kommt in TLB</a:t>
            </a:r>
          </a:p>
        </p:txBody>
      </p:sp>
      <p:cxnSp>
        <p:nvCxnSpPr>
          <p:cNvPr id="13" name="Gerade Verbindung mit Pfeil 12"/>
          <p:cNvCxnSpPr/>
          <p:nvPr/>
        </p:nvCxnSpPr>
        <p:spPr>
          <a:xfrm flipH="1" flipV="1">
            <a:off x="3851920" y="4077072"/>
            <a:ext cx="648072" cy="504056"/>
          </a:xfrm>
          <a:prstGeom prst="straightConnector1">
            <a:avLst/>
          </a:prstGeom>
          <a:ln w="28575">
            <a:solidFill>
              <a:srgbClr val="FF0000"/>
            </a:solidFill>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14" name="Textfeld 13"/>
          <p:cNvSpPr txBox="1"/>
          <p:nvPr/>
        </p:nvSpPr>
        <p:spPr>
          <a:xfrm>
            <a:off x="4211960" y="4077072"/>
            <a:ext cx="595035" cy="369332"/>
          </a:xfrm>
          <a:prstGeom prst="rect">
            <a:avLst/>
          </a:prstGeom>
          <a:noFill/>
        </p:spPr>
        <p:txBody>
          <a:bodyPr wrap="none" rtlCol="0">
            <a:spAutoFit/>
          </a:bodyPr>
          <a:lstStyle/>
          <a:p>
            <a:r>
              <a:rPr lang="de-DE" dirty="0">
                <a:solidFill>
                  <a:srgbClr val="FF0000"/>
                </a:solidFill>
              </a:rPr>
              <a:t>(</a:t>
            </a:r>
            <a:r>
              <a:rPr lang="de-DE" dirty="0" err="1">
                <a:solidFill>
                  <a:srgbClr val="FF0000"/>
                </a:solidFill>
              </a:rPr>
              <a:t>p,f</a:t>
            </a:r>
            <a:r>
              <a:rPr lang="de-DE" dirty="0">
                <a:solidFill>
                  <a:srgbClr val="FF0000"/>
                </a:solidFill>
              </a:rPr>
              <a:t>)</a:t>
            </a:r>
          </a:p>
        </p:txBody>
      </p:sp>
      <p:sp>
        <p:nvSpPr>
          <p:cNvPr id="9" name="Textfeld 8"/>
          <p:cNvSpPr txBox="1"/>
          <p:nvPr/>
        </p:nvSpPr>
        <p:spPr>
          <a:xfrm>
            <a:off x="4211960" y="2420888"/>
            <a:ext cx="1531253" cy="923330"/>
          </a:xfrm>
          <a:prstGeom prst="rect">
            <a:avLst/>
          </a:prstGeom>
          <a:solidFill>
            <a:schemeClr val="bg1"/>
          </a:solidFill>
        </p:spPr>
        <p:txBody>
          <a:bodyPr wrap="none" rtlCol="0">
            <a:spAutoFit/>
          </a:bodyPr>
          <a:lstStyle/>
          <a:p>
            <a:r>
              <a:rPr lang="de-DE" b="1" dirty="0">
                <a:solidFill>
                  <a:srgbClr val="00B050"/>
                </a:solidFill>
              </a:rPr>
              <a:t>TLB </a:t>
            </a:r>
            <a:r>
              <a:rPr lang="de-DE" b="1" dirty="0" err="1">
                <a:solidFill>
                  <a:srgbClr val="00B050"/>
                </a:solidFill>
              </a:rPr>
              <a:t>hit</a:t>
            </a:r>
            <a:r>
              <a:rPr lang="de-DE" dirty="0"/>
              <a:t>:</a:t>
            </a:r>
          </a:p>
          <a:p>
            <a:r>
              <a:rPr lang="de-DE" dirty="0"/>
              <a:t>Log. Adresse</a:t>
            </a:r>
          </a:p>
          <a:p>
            <a:r>
              <a:rPr lang="de-DE" dirty="0"/>
              <a:t>ist in TLB</a:t>
            </a:r>
          </a:p>
        </p:txBody>
      </p:sp>
      <p:sp>
        <p:nvSpPr>
          <p:cNvPr id="12" name="Textfeld 11"/>
          <p:cNvSpPr txBox="1"/>
          <p:nvPr/>
        </p:nvSpPr>
        <p:spPr>
          <a:xfrm>
            <a:off x="2326738" y="5533715"/>
            <a:ext cx="1440160" cy="1200329"/>
          </a:xfrm>
          <a:prstGeom prst="rect">
            <a:avLst/>
          </a:prstGeom>
          <a:solidFill>
            <a:schemeClr val="bg1"/>
          </a:solidFill>
        </p:spPr>
        <p:txBody>
          <a:bodyPr wrap="square" rtlCol="0">
            <a:spAutoFit/>
          </a:bodyPr>
          <a:lstStyle/>
          <a:p>
            <a:r>
              <a:rPr lang="de-DE" b="1" dirty="0">
                <a:solidFill>
                  <a:srgbClr val="FF0000"/>
                </a:solidFill>
              </a:rPr>
              <a:t>TLB miss</a:t>
            </a:r>
            <a:r>
              <a:rPr lang="de-DE" dirty="0"/>
              <a:t>:</a:t>
            </a:r>
          </a:p>
          <a:p>
            <a:r>
              <a:rPr lang="de-DE" dirty="0"/>
              <a:t>Log. Adresse</a:t>
            </a:r>
          </a:p>
          <a:p>
            <a:r>
              <a:rPr lang="de-DE" dirty="0"/>
              <a:t>nicht in TLB</a:t>
            </a:r>
          </a:p>
        </p:txBody>
      </p:sp>
    </p:spTree>
    <p:extLst>
      <p:ext uri="{BB962C8B-B14F-4D97-AF65-F5344CB8AC3E}">
        <p14:creationId xmlns:p14="http://schemas.microsoft.com/office/powerpoint/2010/main" val="41581336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TLB – Umsetzung in Software</a:t>
            </a:r>
          </a:p>
        </p:txBody>
      </p:sp>
      <p:sp>
        <p:nvSpPr>
          <p:cNvPr id="3" name="Inhaltsplatzhalter 2"/>
          <p:cNvSpPr>
            <a:spLocks noGrp="1"/>
          </p:cNvSpPr>
          <p:nvPr>
            <p:ph sz="quarter" idx="1"/>
          </p:nvPr>
        </p:nvSpPr>
        <p:spPr>
          <a:xfrm>
            <a:off x="457200" y="1219200"/>
            <a:ext cx="8435280" cy="5210196"/>
          </a:xfrm>
        </p:spPr>
        <p:txBody>
          <a:bodyPr>
            <a:normAutofit/>
          </a:bodyPr>
          <a:lstStyle/>
          <a:p>
            <a:r>
              <a:rPr lang="de-DE" dirty="0"/>
              <a:t>Falls der Seitenindex p in TLB </a:t>
            </a:r>
            <a:r>
              <a:rPr lang="de-DE" u="sng" dirty="0"/>
              <a:t>nicht</a:t>
            </a:r>
            <a:r>
              <a:rPr lang="de-DE" dirty="0"/>
              <a:t> vorhanden ist, muss in der </a:t>
            </a:r>
            <a:r>
              <a:rPr lang="de-DE" u="sng" dirty="0"/>
              <a:t>Seitentabelle</a:t>
            </a:r>
            <a:r>
              <a:rPr lang="de-DE" dirty="0"/>
              <a:t> nachgeschaut werden</a:t>
            </a:r>
          </a:p>
          <a:p>
            <a:r>
              <a:rPr lang="de-DE" dirty="0"/>
              <a:t>Behandlung durch </a:t>
            </a:r>
            <a:r>
              <a:rPr lang="de-DE" dirty="0">
                <a:solidFill>
                  <a:srgbClr val="0070C0"/>
                </a:solidFill>
              </a:rPr>
              <a:t>Software</a:t>
            </a:r>
            <a:r>
              <a:rPr lang="de-DE" dirty="0"/>
              <a:t>, in nur wenigen Zyklen:</a:t>
            </a:r>
          </a:p>
          <a:p>
            <a:pPr lvl="1"/>
            <a:r>
              <a:rPr lang="de-DE" dirty="0"/>
              <a:t>Das BS holt den Index f des Seitenrahmens zu p (d.h. den p-</a:t>
            </a:r>
            <a:r>
              <a:rPr lang="de-DE" dirty="0" err="1"/>
              <a:t>ten</a:t>
            </a:r>
            <a:r>
              <a:rPr lang="de-DE" dirty="0"/>
              <a:t> Eintrag der Seitentabelle) aus der Seitentabelle</a:t>
            </a:r>
          </a:p>
          <a:p>
            <a:pPr lvl="1"/>
            <a:r>
              <a:rPr lang="de-DE" dirty="0"/>
              <a:t>BS ersetzt einen Eintrag von TLB durch (</a:t>
            </a:r>
            <a:r>
              <a:rPr lang="de-DE" dirty="0" err="1"/>
              <a:t>p,f</a:t>
            </a:r>
            <a:r>
              <a:rPr lang="de-DE" dirty="0"/>
              <a:t>, </a:t>
            </a:r>
            <a:r>
              <a:rPr lang="de-DE" dirty="0" err="1"/>
              <a:t>flags</a:t>
            </a:r>
            <a:r>
              <a:rPr lang="de-DE" dirty="0"/>
              <a:t>…)</a:t>
            </a:r>
          </a:p>
          <a:p>
            <a:pPr lvl="1"/>
            <a:r>
              <a:rPr lang="de-DE" dirty="0"/>
              <a:t>Startet den Befehl neu, der den TLB-Fehler auslöste</a:t>
            </a:r>
          </a:p>
          <a:p>
            <a:r>
              <a:rPr lang="de-DE" dirty="0"/>
              <a:t>Enge Verschmelzung von Hardware (MMU) und BS</a:t>
            </a:r>
          </a:p>
          <a:p>
            <a:pPr lvl="1"/>
            <a:r>
              <a:rPr lang="de-DE" dirty="0"/>
              <a:t>In vielen modernen RISC-Prozessoren: SPARC, MIPS, Alpha, HP PA</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26</a:t>
            </a:fld>
            <a:endParaRPr lang="en-US" noProof="0" dirty="0"/>
          </a:p>
        </p:txBody>
      </p:sp>
    </p:spTree>
    <p:extLst>
      <p:ext uri="{BB962C8B-B14F-4D97-AF65-F5344CB8AC3E}">
        <p14:creationId xmlns:p14="http://schemas.microsoft.com/office/powerpoint/2010/main" val="116561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Effektive Zugriffszeit</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27</a:t>
            </a:fld>
            <a:endParaRPr lang="en-US" noProof="0" dirty="0"/>
          </a:p>
        </p:txBody>
      </p:sp>
      <p:sp>
        <p:nvSpPr>
          <p:cNvPr id="3" name="Inhaltsplatzhalter 2"/>
          <p:cNvSpPr>
            <a:spLocks noGrp="1"/>
          </p:cNvSpPr>
          <p:nvPr>
            <p:ph sz="quarter" idx="1"/>
          </p:nvPr>
        </p:nvSpPr>
        <p:spPr>
          <a:xfrm>
            <a:off x="457200" y="1219200"/>
            <a:ext cx="8229600" cy="3937992"/>
          </a:xfrm>
        </p:spPr>
        <p:txBody>
          <a:bodyPr>
            <a:normAutofit/>
          </a:bodyPr>
          <a:lstStyle/>
          <a:p>
            <a:r>
              <a:rPr lang="de-DE" sz="2400" dirty="0">
                <a:solidFill>
                  <a:srgbClr val="0070C0"/>
                </a:solidFill>
              </a:rPr>
              <a:t>T</a:t>
            </a:r>
            <a:r>
              <a:rPr lang="de-DE" sz="2400" dirty="0"/>
              <a:t> = Übersetzungszeit durch TLB</a:t>
            </a:r>
          </a:p>
          <a:p>
            <a:r>
              <a:rPr lang="de-DE" sz="2400" dirty="0">
                <a:solidFill>
                  <a:srgbClr val="0070C0"/>
                </a:solidFill>
              </a:rPr>
              <a:t>h</a:t>
            </a:r>
            <a:r>
              <a:rPr lang="de-DE" sz="2400" dirty="0"/>
              <a:t> = </a:t>
            </a:r>
            <a:r>
              <a:rPr lang="de-DE" sz="2400" dirty="0" err="1">
                <a:solidFill>
                  <a:srgbClr val="0070C0"/>
                </a:solidFill>
              </a:rPr>
              <a:t>hit</a:t>
            </a:r>
            <a:r>
              <a:rPr lang="de-DE" sz="2400" dirty="0">
                <a:solidFill>
                  <a:srgbClr val="0070C0"/>
                </a:solidFill>
              </a:rPr>
              <a:t> </a:t>
            </a:r>
            <a:r>
              <a:rPr lang="de-DE" sz="2400" dirty="0" err="1">
                <a:solidFill>
                  <a:srgbClr val="0070C0"/>
                </a:solidFill>
              </a:rPr>
              <a:t>ratio</a:t>
            </a:r>
            <a:r>
              <a:rPr lang="de-DE" sz="2400" dirty="0"/>
              <a:t> = Prozentsatz der Fälle, bei denen der Seitenindex in TLB gefunden wird</a:t>
            </a:r>
          </a:p>
          <a:p>
            <a:r>
              <a:rPr lang="de-DE" sz="2400" dirty="0"/>
              <a:t>Annahme: Speicherzugriff = eine (1) Zeiteinheit</a:t>
            </a:r>
          </a:p>
          <a:p>
            <a:r>
              <a:rPr lang="de-DE" sz="2400" dirty="0"/>
              <a:t>Die </a:t>
            </a:r>
            <a:r>
              <a:rPr lang="de-DE" sz="2400" b="1" dirty="0">
                <a:solidFill>
                  <a:srgbClr val="FF0000"/>
                </a:solidFill>
              </a:rPr>
              <a:t>effektive Zugriffszeit </a:t>
            </a:r>
            <a:r>
              <a:rPr lang="de-DE" sz="2400" dirty="0"/>
              <a:t>(</a:t>
            </a:r>
            <a:r>
              <a:rPr lang="de-DE" sz="2400" b="1" dirty="0" err="1">
                <a:solidFill>
                  <a:srgbClr val="FF0000"/>
                </a:solidFill>
              </a:rPr>
              <a:t>Effective</a:t>
            </a:r>
            <a:r>
              <a:rPr lang="de-DE" sz="2400" b="1" dirty="0">
                <a:solidFill>
                  <a:srgbClr val="FF0000"/>
                </a:solidFill>
              </a:rPr>
              <a:t> Access Time</a:t>
            </a:r>
            <a:r>
              <a:rPr lang="de-DE" sz="2400" dirty="0"/>
              <a:t>) ist der </a:t>
            </a:r>
            <a:r>
              <a:rPr lang="de-DE" sz="2400" u="sng" dirty="0">
                <a:hlinkClick r:id="rId3"/>
              </a:rPr>
              <a:t>Erwartungswert</a:t>
            </a:r>
            <a:r>
              <a:rPr lang="de-DE" sz="2400" dirty="0"/>
              <a:t> der Zufallsvariable X, die die (komplette) Zugriffszeit auf den Speicher modelliert</a:t>
            </a:r>
          </a:p>
          <a:p>
            <a:pPr lvl="1"/>
            <a:r>
              <a:rPr lang="de-DE" sz="2400" u="sng" dirty="0"/>
              <a:t>Fall A - Seitenindex in TLB</a:t>
            </a:r>
            <a:r>
              <a:rPr lang="de-DE" sz="2400" dirty="0"/>
              <a:t>: Prob(A) = h, X = ?</a:t>
            </a:r>
          </a:p>
          <a:p>
            <a:pPr lvl="1"/>
            <a:r>
              <a:rPr lang="de-DE" sz="2400" u="sng" dirty="0"/>
              <a:t>Fall B - Seitenindex nicht in TLB</a:t>
            </a:r>
            <a:r>
              <a:rPr lang="de-DE" sz="2400" dirty="0"/>
              <a:t>: Prob(B) = 1-h, X = ?</a:t>
            </a:r>
          </a:p>
          <a:p>
            <a:endParaRPr lang="de-DE" sz="2400" b="1" dirty="0">
              <a:solidFill>
                <a:srgbClr val="FF0000"/>
              </a:solidFill>
            </a:endParaRPr>
          </a:p>
          <a:p>
            <a:endParaRPr lang="de-DE" sz="2400" dirty="0"/>
          </a:p>
        </p:txBody>
      </p:sp>
      <p:sp>
        <p:nvSpPr>
          <p:cNvPr id="5" name="Inhaltsplatzhalter 4"/>
          <p:cNvSpPr>
            <a:spLocks noGrp="1"/>
          </p:cNvSpPr>
          <p:nvPr>
            <p:ph sz="quarter" idx="13"/>
          </p:nvPr>
        </p:nvSpPr>
        <p:spPr>
          <a:xfrm>
            <a:off x="467544" y="5085184"/>
            <a:ext cx="8208912" cy="1417712"/>
          </a:xfrm>
        </p:spPr>
        <p:txBody>
          <a:bodyPr>
            <a:normAutofit/>
          </a:bodyPr>
          <a:lstStyle/>
          <a:p>
            <a:r>
              <a:rPr lang="en-US" sz="2400" dirty="0"/>
              <a:t>Fall A: </a:t>
            </a:r>
            <a:r>
              <a:rPr lang="en-US" sz="2400" dirty="0" err="1"/>
              <a:t>Prob</a:t>
            </a:r>
            <a:r>
              <a:rPr lang="en-US" sz="2400" dirty="0"/>
              <a:t>(A) = h, X = 1+T</a:t>
            </a:r>
          </a:p>
          <a:p>
            <a:r>
              <a:rPr lang="en-US" sz="2400" dirty="0"/>
              <a:t>Fall B: </a:t>
            </a:r>
            <a:r>
              <a:rPr lang="en-US" sz="2400" dirty="0" err="1"/>
              <a:t>Prob</a:t>
            </a:r>
            <a:r>
              <a:rPr lang="en-US" sz="2400" dirty="0"/>
              <a:t>(B) = 1-h, X=2+T</a:t>
            </a:r>
          </a:p>
          <a:p>
            <a:r>
              <a:rPr lang="en-US" sz="2400" dirty="0" err="1"/>
              <a:t>Damit</a:t>
            </a:r>
            <a:r>
              <a:rPr lang="en-US" sz="2400" dirty="0"/>
              <a:t>: </a:t>
            </a:r>
            <a:r>
              <a:rPr lang="en-US" sz="2400" b="1" dirty="0"/>
              <a:t>EAT</a:t>
            </a:r>
            <a:r>
              <a:rPr lang="en-US" sz="2400" dirty="0"/>
              <a:t> = E[X] = (1+T)h + (2+T)(1-h) = </a:t>
            </a:r>
            <a:r>
              <a:rPr lang="en-US" sz="2400" b="1" dirty="0">
                <a:solidFill>
                  <a:srgbClr val="FF0000"/>
                </a:solidFill>
              </a:rPr>
              <a:t>2 + T - h</a:t>
            </a:r>
            <a:endParaRPr lang="de-DE" sz="2400" dirty="0"/>
          </a:p>
        </p:txBody>
      </p:sp>
      <p:sp>
        <p:nvSpPr>
          <p:cNvPr id="6" name="Textfeld 5">
            <a:extLst>
              <a:ext uri="{FF2B5EF4-FFF2-40B4-BE49-F238E27FC236}">
                <a16:creationId xmlns:a16="http://schemas.microsoft.com/office/drawing/2014/main" id="{80C436CA-0362-494B-8CC2-8F34AB6FCAFC}"/>
              </a:ext>
            </a:extLst>
          </p:cNvPr>
          <p:cNvSpPr txBox="1"/>
          <p:nvPr/>
        </p:nvSpPr>
        <p:spPr>
          <a:xfrm>
            <a:off x="5580112" y="386090"/>
            <a:ext cx="3362074"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800" dirty="0">
                <a:highlight>
                  <a:srgbClr val="00FF00"/>
                </a:highlight>
              </a:rPr>
              <a:t>https://bit.ly/ibn_hd</a:t>
            </a:r>
            <a:endParaRPr lang="de-DE" sz="2800" dirty="0">
              <a:highlight>
                <a:srgbClr val="00FF00"/>
              </a:highlight>
            </a:endParaRPr>
          </a:p>
        </p:txBody>
      </p:sp>
    </p:spTree>
    <p:extLst>
      <p:ext uri="{BB962C8B-B14F-4D97-AF65-F5344CB8AC3E}">
        <p14:creationId xmlns:p14="http://schemas.microsoft.com/office/powerpoint/2010/main" val="110816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28</a:t>
            </a:fld>
            <a:endParaRPr lang="de-DE"/>
          </a:p>
        </p:txBody>
      </p:sp>
      <p:sp>
        <p:nvSpPr>
          <p:cNvPr id="3" name="Titel 2"/>
          <p:cNvSpPr>
            <a:spLocks noGrp="1"/>
          </p:cNvSpPr>
          <p:nvPr>
            <p:ph type="title"/>
          </p:nvPr>
        </p:nvSpPr>
        <p:spPr/>
        <p:txBody>
          <a:bodyPr/>
          <a:lstStyle/>
          <a:p>
            <a:r>
              <a:rPr lang="de-DE" dirty="0" err="1"/>
              <a:t>Paging</a:t>
            </a:r>
            <a:r>
              <a:rPr lang="de-DE" dirty="0"/>
              <a:t> – Weitere Aspekte</a:t>
            </a:r>
          </a:p>
        </p:txBody>
      </p:sp>
    </p:spTree>
    <p:extLst>
      <p:ext uri="{BB962C8B-B14F-4D97-AF65-F5344CB8AC3E}">
        <p14:creationId xmlns:p14="http://schemas.microsoft.com/office/powerpoint/2010/main" val="530830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Paging und Fragmentierung</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29</a:t>
            </a:fld>
            <a:endParaRPr lang="en-US" noProof="0" dirty="0"/>
          </a:p>
        </p:txBody>
      </p:sp>
      <p:sp>
        <p:nvSpPr>
          <p:cNvPr id="3" name="Inhaltsplatzhalter 2"/>
          <p:cNvSpPr>
            <a:spLocks noGrp="1"/>
          </p:cNvSpPr>
          <p:nvPr>
            <p:ph sz="quarter" idx="1"/>
          </p:nvPr>
        </p:nvSpPr>
        <p:spPr>
          <a:xfrm>
            <a:off x="457200" y="1219200"/>
            <a:ext cx="8229600" cy="1057672"/>
          </a:xfrm>
        </p:spPr>
        <p:txBody>
          <a:bodyPr>
            <a:normAutofit/>
          </a:bodyPr>
          <a:lstStyle/>
          <a:p>
            <a:r>
              <a:rPr lang="de-DE" dirty="0"/>
              <a:t>Wie hilft Paging, die Fragmentierung zu beseitigen? (externe oder interne?)</a:t>
            </a:r>
          </a:p>
        </p:txBody>
      </p:sp>
      <p:sp>
        <p:nvSpPr>
          <p:cNvPr id="5" name="Inhaltsplatzhalter 4"/>
          <p:cNvSpPr>
            <a:spLocks noGrp="1"/>
          </p:cNvSpPr>
          <p:nvPr>
            <p:ph sz="quarter" idx="13"/>
          </p:nvPr>
        </p:nvSpPr>
        <p:spPr>
          <a:xfrm>
            <a:off x="467544" y="2204864"/>
            <a:ext cx="8208912" cy="4154016"/>
          </a:xfrm>
        </p:spPr>
        <p:txBody>
          <a:bodyPr>
            <a:normAutofit/>
          </a:bodyPr>
          <a:lstStyle/>
          <a:p>
            <a:r>
              <a:rPr lang="de-DE" dirty="0"/>
              <a:t>Um ein Prozess der Größe „n Seiten“ auszuführen:</a:t>
            </a:r>
          </a:p>
          <a:p>
            <a:pPr lvl="1"/>
            <a:r>
              <a:rPr lang="de-DE" dirty="0"/>
              <a:t>Finde n freie Seitenrahmen </a:t>
            </a:r>
          </a:p>
          <a:p>
            <a:pPr lvl="1"/>
            <a:r>
              <a:rPr lang="de-DE" dirty="0"/>
              <a:t>Weise sie dem Prozess via Seitentabelle als Speicher zu</a:t>
            </a:r>
          </a:p>
          <a:p>
            <a:r>
              <a:rPr lang="de-DE" dirty="0"/>
              <a:t>Beseitigung der externen Fragmentierung</a:t>
            </a:r>
          </a:p>
          <a:p>
            <a:pPr lvl="1"/>
            <a:r>
              <a:rPr lang="de-DE" dirty="0"/>
              <a:t>Der Clou: die Frames müssen nicht zusammenhängend sein, sondern können ggf. in vielen verschiedenen Bereichen des physischen Speichers liegen!</a:t>
            </a:r>
          </a:p>
          <a:p>
            <a:pPr lvl="1"/>
            <a:r>
              <a:rPr lang="de-DE" dirty="0">
                <a:solidFill>
                  <a:srgbClr val="FF0000"/>
                </a:solidFill>
              </a:rPr>
              <a:t>Da jeder Seitenrahmen gleich groß ist, gibt es keine Speicherlücken mehr</a:t>
            </a:r>
          </a:p>
          <a:p>
            <a:r>
              <a:rPr lang="de-DE" dirty="0"/>
              <a:t>Welches Problem bleibt noch?</a:t>
            </a:r>
          </a:p>
        </p:txBody>
      </p:sp>
      <p:sp>
        <p:nvSpPr>
          <p:cNvPr id="6" name="Textfeld 5">
            <a:extLst>
              <a:ext uri="{FF2B5EF4-FFF2-40B4-BE49-F238E27FC236}">
                <a16:creationId xmlns:a16="http://schemas.microsoft.com/office/drawing/2014/main" id="{3C7B53F2-E5C9-46FF-8291-86181BDDD284}"/>
              </a:ext>
            </a:extLst>
          </p:cNvPr>
          <p:cNvSpPr txBox="1"/>
          <p:nvPr/>
        </p:nvSpPr>
        <p:spPr>
          <a:xfrm>
            <a:off x="5652120" y="0"/>
            <a:ext cx="3362074"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800" dirty="0">
                <a:highlight>
                  <a:srgbClr val="00FF00"/>
                </a:highlight>
              </a:rPr>
              <a:t>https://bit.ly/ibn_hd</a:t>
            </a:r>
            <a:endParaRPr lang="de-DE" sz="2800" dirty="0">
              <a:highlight>
                <a:srgbClr val="00FF00"/>
              </a:highlight>
            </a:endParaRPr>
          </a:p>
        </p:txBody>
      </p:sp>
    </p:spTree>
    <p:extLst>
      <p:ext uri="{BB962C8B-B14F-4D97-AF65-F5344CB8AC3E}">
        <p14:creationId xmlns:p14="http://schemas.microsoft.com/office/powerpoint/2010/main" val="390766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20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20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20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20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20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457200" y="152400"/>
            <a:ext cx="8363272" cy="990600"/>
          </a:xfrm>
        </p:spPr>
        <p:txBody>
          <a:bodyPr>
            <a:normAutofit/>
          </a:bodyPr>
          <a:lstStyle/>
          <a:p>
            <a:r>
              <a:rPr lang="de-DE" dirty="0"/>
              <a:t>Hat jeder Prozess eine eigene Seitentabelle?</a:t>
            </a:r>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30</a:t>
            </a:fld>
            <a:endParaRPr lang="en-US" noProof="0" dirty="0"/>
          </a:p>
        </p:txBody>
      </p:sp>
      <p:sp>
        <p:nvSpPr>
          <p:cNvPr id="4" name="Inhaltsplatzhalter 3"/>
          <p:cNvSpPr>
            <a:spLocks noGrp="1"/>
          </p:cNvSpPr>
          <p:nvPr>
            <p:ph sz="quarter" idx="1"/>
          </p:nvPr>
        </p:nvSpPr>
        <p:spPr/>
        <p:txBody>
          <a:bodyPr>
            <a:normAutofit fontScale="62500" lnSpcReduction="20000"/>
          </a:bodyPr>
          <a:lstStyle/>
          <a:p>
            <a:r>
              <a:rPr lang="de-DE" dirty="0"/>
              <a:t>Verschiedene Prozesse benutzen i.A. denselben logischen Adressraum  (der oft bei 0 anfängt) mit versch. Daten. Zugleich wird der Eintrag in der Seitentabelle durch (obere) Bits einer logischen Adresse ausgewählt. Gäbe es nur eine Seitentabelle, würden verschiedene Prozesse ggf. den gleichen Eintrag bei Adressenübersetzung der Seitentabelle holen (=&gt; zur gleichen physischen Adresse übersetzen), was nicht gewünscht ist.</a:t>
            </a:r>
          </a:p>
          <a:p>
            <a:r>
              <a:rPr lang="de-DE" dirty="0"/>
              <a:t>Die Seitentabelle könnte aber so implementiert sein, dass man bei jedem Eintrag zwischen verschiedenen Prozessen unterscheidet, d.h. ein "Prozess-ID-Label"  den Index der Seitentabelle erweitert. Bei den gängigen Prozessoren wie die x86-Architektur ist das aber nicht der Fall, das zeigt ein Blick auf die MMU von x86 (z.B. </a:t>
            </a:r>
            <a:r>
              <a:rPr lang="de-DE" dirty="0">
                <a:hlinkClick r:id="rId2"/>
              </a:rPr>
              <a:t>hier </a:t>
            </a:r>
            <a:r>
              <a:rPr lang="de-DE" dirty="0"/>
              <a:t>- auch eine interessante Lektüre an sich).</a:t>
            </a:r>
          </a:p>
          <a:p>
            <a:r>
              <a:rPr lang="de-DE" dirty="0"/>
              <a:t>Es wird bei Linux tatsächlich der Inhalt des SP3 Systemregisters bei einem Taskwechsel ggf. ausgetauscht (siehe </a:t>
            </a:r>
            <a:r>
              <a:rPr lang="de-DE" dirty="0">
                <a:hlinkClick r:id="rId3"/>
              </a:rPr>
              <a:t>hier</a:t>
            </a:r>
            <a:r>
              <a:rPr lang="de-DE" dirty="0"/>
              <a:t> unter 6.3, "</a:t>
            </a:r>
            <a:r>
              <a:rPr lang="de-DE" dirty="0" err="1"/>
              <a:t>change</a:t>
            </a:r>
            <a:r>
              <a:rPr lang="de-DE" dirty="0"/>
              <a:t> Memory </a:t>
            </a:r>
            <a:r>
              <a:rPr lang="de-DE" dirty="0" err="1"/>
              <a:t>context</a:t>
            </a:r>
            <a:r>
              <a:rPr lang="de-DE" dirty="0"/>
              <a:t> (</a:t>
            </a:r>
            <a:r>
              <a:rPr lang="de-DE" dirty="0" err="1"/>
              <a:t>change</a:t>
            </a:r>
            <a:r>
              <a:rPr lang="de-DE" dirty="0"/>
              <a:t> CR3 </a:t>
            </a:r>
            <a:r>
              <a:rPr lang="de-DE" dirty="0" err="1"/>
              <a:t>value</a:t>
            </a:r>
            <a:r>
              <a:rPr lang="de-DE" dirty="0"/>
              <a:t>)"). Dieser Register enthält die Basisadresse der Seitentabelle (d.h. PTBR, siehe </a:t>
            </a:r>
            <a:r>
              <a:rPr lang="de-DE" dirty="0">
                <a:hlinkClick r:id="rId4"/>
              </a:rPr>
              <a:t>hier</a:t>
            </a:r>
            <a:r>
              <a:rPr lang="de-DE" dirty="0"/>
              <a:t>).</a:t>
            </a:r>
          </a:p>
          <a:p>
            <a:r>
              <a:rPr lang="de-DE" dirty="0"/>
              <a:t>Es ist aber denkbar, dass andere Architekturen / BS mit einer einzigen Seitentabelle und Labels pro Prozess arbeiten (das wird z.T. auch bei *invertierten* Seitentabellen gemacht) (siehe </a:t>
            </a:r>
            <a:r>
              <a:rPr lang="de-DE" dirty="0">
                <a:hlinkClick r:id="rId5"/>
              </a:rPr>
              <a:t>hier</a:t>
            </a:r>
            <a:r>
              <a:rPr lang="de-DE" dirty="0"/>
              <a:t>). </a:t>
            </a:r>
          </a:p>
          <a:p>
            <a:r>
              <a:rPr lang="de-DE" dirty="0"/>
              <a:t>Wichtig ist nur, dass es für jeden Prozess eine separate *Abbildung* von logischen auf die physische Adressen möglich ist. </a:t>
            </a:r>
            <a:r>
              <a:rPr lang="de-DE" dirty="0">
                <a:solidFill>
                  <a:srgbClr val="FF0000"/>
                </a:solidFill>
              </a:rPr>
              <a:t>Wir können also vereinfachend sagen, dass es eine Seitentabelle pro Prozess gibt</a:t>
            </a:r>
            <a:r>
              <a:rPr lang="de-DE" dirty="0"/>
              <a:t>.</a:t>
            </a:r>
          </a:p>
        </p:txBody>
      </p:sp>
      <p:sp>
        <p:nvSpPr>
          <p:cNvPr id="5" name="Rechteck 4"/>
          <p:cNvSpPr/>
          <p:nvPr/>
        </p:nvSpPr>
        <p:spPr>
          <a:xfrm>
            <a:off x="4067944" y="5805264"/>
            <a:ext cx="4392488" cy="692696"/>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de-DE" dirty="0"/>
              <a:t>Das ist Antwort auf eine Frage aus dem WS 2011/12 – hier als Ergänzung</a:t>
            </a:r>
          </a:p>
        </p:txBody>
      </p:sp>
      <p:sp>
        <p:nvSpPr>
          <p:cNvPr id="6" name="Textfeld 5">
            <a:extLst>
              <a:ext uri="{FF2B5EF4-FFF2-40B4-BE49-F238E27FC236}">
                <a16:creationId xmlns:a16="http://schemas.microsoft.com/office/drawing/2014/main" id="{7CF1E565-096F-49FC-8D9B-E38B68BB40A0}"/>
              </a:ext>
            </a:extLst>
          </p:cNvPr>
          <p:cNvSpPr txBox="1"/>
          <p:nvPr/>
        </p:nvSpPr>
        <p:spPr>
          <a:xfrm>
            <a:off x="5652120" y="0"/>
            <a:ext cx="3362074" cy="52322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2800" dirty="0">
                <a:highlight>
                  <a:srgbClr val="00FF00"/>
                </a:highlight>
              </a:rPr>
              <a:t>https://bit.ly/ibn_hd</a:t>
            </a:r>
            <a:endParaRPr lang="de-DE" sz="2800" dirty="0">
              <a:highlight>
                <a:srgbClr val="00FF00"/>
              </a:highlight>
            </a:endParaRPr>
          </a:p>
        </p:txBody>
      </p:sp>
    </p:spTree>
    <p:extLst>
      <p:ext uri="{BB962C8B-B14F-4D97-AF65-F5344CB8AC3E}">
        <p14:creationId xmlns:p14="http://schemas.microsoft.com/office/powerpoint/2010/main" val="83109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bg/>
                                          </p:spTgt>
                                        </p:tgtEl>
                                        <p:attrNameLst>
                                          <p:attrName>style.visibility</p:attrName>
                                        </p:attrNameLst>
                                      </p:cBhvr>
                                      <p:to>
                                        <p:strVal val="visible"/>
                                      </p:to>
                                    </p:set>
                                    <p:animEffect transition="in" filter="fade">
                                      <p:cBhvr>
                                        <p:cTn id="22" dur="2000"/>
                                        <p:tgtEl>
                                          <p:spTgt spid="5">
                                            <p:bg/>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fade">
                                      <p:cBhvr>
                                        <p:cTn id="25"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Paging und Prozesse</a:t>
            </a:r>
          </a:p>
        </p:txBody>
      </p:sp>
      <p:sp>
        <p:nvSpPr>
          <p:cNvPr id="3" name="Inhaltsplatzhalter 2"/>
          <p:cNvSpPr>
            <a:spLocks noGrp="1"/>
          </p:cNvSpPr>
          <p:nvPr>
            <p:ph sz="quarter" idx="1"/>
          </p:nvPr>
        </p:nvSpPr>
        <p:spPr>
          <a:xfrm>
            <a:off x="457200" y="1219200"/>
            <a:ext cx="8435280" cy="3073896"/>
          </a:xfrm>
        </p:spPr>
        <p:txBody>
          <a:bodyPr>
            <a:normAutofit fontScale="92500" lnSpcReduction="10000"/>
          </a:bodyPr>
          <a:lstStyle/>
          <a:p>
            <a:r>
              <a:rPr lang="de-DE" dirty="0"/>
              <a:t>Mit jedem Prozess wird eine neue Seitentabelle </a:t>
            </a:r>
            <a:r>
              <a:rPr lang="de-DE" u="sng" dirty="0"/>
              <a:t>nur</a:t>
            </a:r>
            <a:r>
              <a:rPr lang="de-DE" dirty="0"/>
              <a:t> für diesen Prozess erzeugt</a:t>
            </a:r>
          </a:p>
          <a:p>
            <a:pPr lvl="1"/>
            <a:r>
              <a:rPr lang="de-DE" dirty="0"/>
              <a:t>Die nötigen Seitenrahmen können überall liegen</a:t>
            </a:r>
          </a:p>
          <a:p>
            <a:r>
              <a:rPr lang="de-DE" dirty="0"/>
              <a:t>Aber das BS muss die Verwendung des physischen Speichers nachverfolgen</a:t>
            </a:r>
          </a:p>
          <a:p>
            <a:r>
              <a:rPr lang="de-DE" dirty="0"/>
              <a:t>Dazu dient die (globale) </a:t>
            </a:r>
            <a:r>
              <a:rPr lang="de-DE" b="1" dirty="0">
                <a:solidFill>
                  <a:srgbClr val="FF0000"/>
                </a:solidFill>
              </a:rPr>
              <a:t>frame </a:t>
            </a:r>
            <a:r>
              <a:rPr lang="de-DE" b="1" dirty="0" err="1">
                <a:solidFill>
                  <a:srgbClr val="FF0000"/>
                </a:solidFill>
              </a:rPr>
              <a:t>table</a:t>
            </a:r>
            <a:r>
              <a:rPr lang="de-DE" b="1" dirty="0">
                <a:solidFill>
                  <a:srgbClr val="FF0000"/>
                </a:solidFill>
              </a:rPr>
              <a:t> </a:t>
            </a:r>
            <a:r>
              <a:rPr lang="de-DE" dirty="0"/>
              <a:t>(</a:t>
            </a:r>
            <a:r>
              <a:rPr lang="de-DE" b="1" dirty="0">
                <a:solidFill>
                  <a:srgbClr val="FF0000"/>
                </a:solidFill>
              </a:rPr>
              <a:t>Seitenrahmen-</a:t>
            </a:r>
            <a:r>
              <a:rPr lang="de-DE" b="1" dirty="0" err="1">
                <a:solidFill>
                  <a:srgbClr val="FF0000"/>
                </a:solidFill>
              </a:rPr>
              <a:t>tabelle</a:t>
            </a:r>
            <a:r>
              <a:rPr lang="de-DE" dirty="0"/>
              <a:t>) mit </a:t>
            </a:r>
            <a:r>
              <a:rPr lang="de-DE" dirty="0" err="1"/>
              <a:t>Informa</a:t>
            </a:r>
            <a:r>
              <a:rPr lang="de-DE" dirty="0"/>
              <a:t>-</a:t>
            </a:r>
          </a:p>
          <a:p>
            <a:pPr>
              <a:buNone/>
            </a:pPr>
            <a:r>
              <a:rPr lang="de-DE" dirty="0"/>
              <a:t>	</a:t>
            </a:r>
            <a:r>
              <a:rPr lang="de-DE" dirty="0" err="1"/>
              <a:t>tionen</a:t>
            </a:r>
            <a:r>
              <a:rPr lang="de-DE" dirty="0"/>
              <a:t> wie …</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31</a:t>
            </a:fld>
            <a:endParaRPr lang="en-US" noProof="0" dirty="0"/>
          </a:p>
        </p:txBody>
      </p:sp>
      <p:sp>
        <p:nvSpPr>
          <p:cNvPr id="7" name="Textfeld 6"/>
          <p:cNvSpPr txBox="1"/>
          <p:nvPr/>
        </p:nvSpPr>
        <p:spPr>
          <a:xfrm>
            <a:off x="199507" y="4256925"/>
            <a:ext cx="4104456" cy="2218556"/>
          </a:xfrm>
          <a:prstGeom prst="rect">
            <a:avLst/>
          </a:prstGeom>
          <a:noFill/>
        </p:spPr>
        <p:txBody>
          <a:bodyPr wrap="square" rtlCol="0">
            <a:spAutoFit/>
          </a:bodyPr>
          <a:lstStyle/>
          <a:p>
            <a:pPr marL="548640" lvl="1" indent="-274320">
              <a:spcBef>
                <a:spcPts val="500"/>
              </a:spcBef>
              <a:buClr>
                <a:srgbClr val="438086"/>
              </a:buClr>
              <a:buSzPct val="76000"/>
              <a:buFont typeface="Wingdings 3"/>
              <a:buChar char=""/>
            </a:pPr>
            <a:r>
              <a:rPr lang="de-DE" sz="2200" dirty="0">
                <a:solidFill>
                  <a:srgbClr val="424456"/>
                </a:solidFill>
              </a:rPr>
              <a:t>Welche Seitenrahmen sind belegt und welche frei?</a:t>
            </a:r>
          </a:p>
          <a:p>
            <a:pPr marL="548640" lvl="1" indent="-274320">
              <a:spcBef>
                <a:spcPts val="500"/>
              </a:spcBef>
              <a:buClr>
                <a:srgbClr val="438086"/>
              </a:buClr>
              <a:buSzPct val="76000"/>
              <a:buFont typeface="Wingdings 3"/>
              <a:buChar char=""/>
            </a:pPr>
            <a:r>
              <a:rPr lang="de-DE" sz="2200" dirty="0">
                <a:solidFill>
                  <a:srgbClr val="424456"/>
                </a:solidFill>
              </a:rPr>
              <a:t>Falls belegt, zu welchem Prozess / welchen Prozessen gehört der Rahmen?</a:t>
            </a:r>
            <a:r>
              <a:rPr lang="de-DE" sz="2400" dirty="0">
                <a:solidFill>
                  <a:srgbClr val="424456"/>
                </a:solidFill>
              </a:rPr>
              <a:t> </a:t>
            </a:r>
          </a:p>
        </p:txBody>
      </p:sp>
      <p:grpSp>
        <p:nvGrpSpPr>
          <p:cNvPr id="12" name="Gruppieren 11"/>
          <p:cNvGrpSpPr/>
          <p:nvPr/>
        </p:nvGrpSpPr>
        <p:grpSpPr>
          <a:xfrm>
            <a:off x="4283968" y="3573016"/>
            <a:ext cx="4495373" cy="3105636"/>
            <a:chOff x="4139952" y="3573016"/>
            <a:chExt cx="4495373" cy="3105636"/>
          </a:xfrm>
        </p:grpSpPr>
        <p:grpSp>
          <p:nvGrpSpPr>
            <p:cNvPr id="11" name="Gruppieren 10"/>
            <p:cNvGrpSpPr/>
            <p:nvPr/>
          </p:nvGrpSpPr>
          <p:grpSpPr>
            <a:xfrm>
              <a:off x="4211960" y="3573016"/>
              <a:ext cx="4184278" cy="2880320"/>
              <a:chOff x="4211960" y="3573016"/>
              <a:chExt cx="4184278" cy="2880320"/>
            </a:xfrm>
          </p:grpSpPr>
          <p:pic>
            <p:nvPicPr>
              <p:cNvPr id="5122" name="Picture 2" descr="C:\Artur\Academic\Lehre\10.WS-IBN\VL\figures\vl07\processes and paging.jpg"/>
              <p:cNvPicPr>
                <a:picLocks noChangeAspect="1" noChangeArrowheads="1"/>
              </p:cNvPicPr>
              <p:nvPr/>
            </p:nvPicPr>
            <p:blipFill>
              <a:blip r:embed="rId3" cstate="print"/>
              <a:srcRect/>
              <a:stretch>
                <a:fillRect/>
              </a:stretch>
            </p:blipFill>
            <p:spPr bwMode="auto">
              <a:xfrm>
                <a:off x="4211960" y="3573016"/>
                <a:ext cx="4184278" cy="2866294"/>
              </a:xfrm>
              <a:prstGeom prst="rect">
                <a:avLst/>
              </a:prstGeom>
              <a:noFill/>
            </p:spPr>
          </p:pic>
          <p:sp>
            <p:nvSpPr>
              <p:cNvPr id="10" name="Ellipse 9"/>
              <p:cNvSpPr/>
              <p:nvPr/>
            </p:nvSpPr>
            <p:spPr>
              <a:xfrm>
                <a:off x="6228184" y="5445224"/>
                <a:ext cx="1656184" cy="100811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8" name="Textfeld 7"/>
            <p:cNvSpPr txBox="1"/>
            <p:nvPr/>
          </p:nvSpPr>
          <p:spPr>
            <a:xfrm>
              <a:off x="4139952" y="6309320"/>
              <a:ext cx="1723549" cy="369332"/>
            </a:xfrm>
            <a:prstGeom prst="rect">
              <a:avLst/>
            </a:prstGeom>
            <a:noFill/>
          </p:spPr>
          <p:txBody>
            <a:bodyPr wrap="none" rtlCol="0">
              <a:spAutoFit/>
            </a:bodyPr>
            <a:lstStyle/>
            <a:p>
              <a:r>
                <a:rPr lang="de-DE" dirty="0"/>
                <a:t>vor dem Laden</a:t>
              </a:r>
            </a:p>
          </p:txBody>
        </p:sp>
        <p:sp>
          <p:nvSpPr>
            <p:cNvPr id="9" name="Textfeld 8"/>
            <p:cNvSpPr txBox="1"/>
            <p:nvPr/>
          </p:nvSpPr>
          <p:spPr>
            <a:xfrm>
              <a:off x="6732240" y="6309320"/>
              <a:ext cx="1903085" cy="369332"/>
            </a:xfrm>
            <a:prstGeom prst="rect">
              <a:avLst/>
            </a:prstGeom>
            <a:noFill/>
          </p:spPr>
          <p:txBody>
            <a:bodyPr wrap="none" rtlCol="0">
              <a:spAutoFit/>
            </a:bodyPr>
            <a:lstStyle/>
            <a:p>
              <a:r>
                <a:rPr lang="de-DE" dirty="0"/>
                <a:t>nach dem Laden</a:t>
              </a:r>
            </a:p>
          </p:txBody>
        </p:sp>
      </p:grpSp>
    </p:spTree>
    <p:extLst>
      <p:ext uri="{BB962C8B-B14F-4D97-AF65-F5344CB8AC3E}">
        <p14:creationId xmlns:p14="http://schemas.microsoft.com/office/powerpoint/2010/main" val="4266746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Gemeinsam Benutzte Seiten (Shared Pages)</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32</a:t>
            </a:fld>
            <a:endParaRPr lang="en-US" noProof="0" dirty="0"/>
          </a:p>
        </p:txBody>
      </p:sp>
      <p:sp>
        <p:nvSpPr>
          <p:cNvPr id="3" name="Inhaltsplatzhalter 2"/>
          <p:cNvSpPr>
            <a:spLocks noGrp="1"/>
          </p:cNvSpPr>
          <p:nvPr>
            <p:ph sz="quarter" idx="1"/>
          </p:nvPr>
        </p:nvSpPr>
        <p:spPr>
          <a:xfrm>
            <a:off x="457200" y="1219200"/>
            <a:ext cx="4330824" cy="4946104"/>
          </a:xfrm>
        </p:spPr>
        <p:txBody>
          <a:bodyPr>
            <a:normAutofit fontScale="92500" lnSpcReduction="10000"/>
          </a:bodyPr>
          <a:lstStyle/>
          <a:p>
            <a:r>
              <a:rPr lang="de-DE" dirty="0"/>
              <a:t>Nur-Lese Code (</a:t>
            </a:r>
            <a:r>
              <a:rPr lang="de-DE" b="1" dirty="0" err="1">
                <a:solidFill>
                  <a:srgbClr val="FF0000"/>
                </a:solidFill>
              </a:rPr>
              <a:t>reentranter</a:t>
            </a:r>
            <a:r>
              <a:rPr lang="de-DE" b="1" dirty="0">
                <a:solidFill>
                  <a:srgbClr val="FF0000"/>
                </a:solidFill>
              </a:rPr>
              <a:t> Code</a:t>
            </a:r>
            <a:r>
              <a:rPr lang="de-DE" dirty="0"/>
              <a:t>) kann gemeinsam </a:t>
            </a:r>
            <a:br>
              <a:rPr lang="de-DE" dirty="0"/>
            </a:br>
            <a:r>
              <a:rPr lang="de-DE" dirty="0"/>
              <a:t>von mehreren Prozessen genutzt werden</a:t>
            </a:r>
          </a:p>
          <a:p>
            <a:pPr lvl="1"/>
            <a:r>
              <a:rPr lang="de-DE" dirty="0"/>
              <a:t>Z.B. </a:t>
            </a:r>
            <a:r>
              <a:rPr lang="de-DE" dirty="0" err="1"/>
              <a:t>DLL‘s</a:t>
            </a:r>
            <a:endParaRPr lang="de-DE" dirty="0"/>
          </a:p>
          <a:p>
            <a:r>
              <a:rPr lang="de-DE" dirty="0"/>
              <a:t>Auch gemeinsame Daten:</a:t>
            </a:r>
          </a:p>
          <a:p>
            <a:pPr lvl="1"/>
            <a:r>
              <a:rPr lang="de-DE" dirty="0"/>
              <a:t>Shared-Memory Bereiche </a:t>
            </a:r>
            <a:br>
              <a:rPr lang="de-DE" dirty="0"/>
            </a:br>
            <a:r>
              <a:rPr lang="de-DE" dirty="0"/>
              <a:t>für IPC</a:t>
            </a:r>
          </a:p>
          <a:p>
            <a:r>
              <a:rPr lang="de-DE" dirty="0"/>
              <a:t>Auch hier wird Paging benutzt:</a:t>
            </a:r>
          </a:p>
          <a:p>
            <a:pPr lvl="1"/>
            <a:r>
              <a:rPr lang="de-DE" dirty="0"/>
              <a:t>Mehrere Prozesse haben Seitentabellen mit gleichen Seitenrahmennummern (hier </a:t>
            </a:r>
            <a:r>
              <a:rPr lang="de-DE" dirty="0" err="1"/>
              <a:t>ed</a:t>
            </a:r>
            <a:r>
              <a:rPr lang="de-DE" dirty="0"/>
              <a:t> 1 -- </a:t>
            </a:r>
            <a:r>
              <a:rPr lang="de-DE" dirty="0" err="1"/>
              <a:t>ed</a:t>
            </a:r>
            <a:r>
              <a:rPr lang="de-DE" dirty="0"/>
              <a:t> 3)</a:t>
            </a:r>
          </a:p>
        </p:txBody>
      </p:sp>
      <p:pic>
        <p:nvPicPr>
          <p:cNvPr id="6" name="Picture 4"/>
          <p:cNvPicPr>
            <a:picLocks noChangeAspect="1" noChangeArrowheads="1"/>
          </p:cNvPicPr>
          <p:nvPr/>
        </p:nvPicPr>
        <p:blipFill>
          <a:blip r:embed="rId3" cstate="print"/>
          <a:srcRect/>
          <a:stretch>
            <a:fillRect/>
          </a:stretch>
        </p:blipFill>
        <p:spPr bwMode="auto">
          <a:xfrm>
            <a:off x="4758070" y="1440904"/>
            <a:ext cx="4238824" cy="4724400"/>
          </a:xfrm>
          <a:prstGeom prst="rect">
            <a:avLst/>
          </a:prstGeom>
          <a:noFill/>
          <a:ln w="9525">
            <a:noFill/>
            <a:miter lim="800000"/>
            <a:headEnd/>
            <a:tailEnd/>
          </a:ln>
        </p:spPr>
      </p:pic>
    </p:spTree>
    <p:extLst>
      <p:ext uri="{BB962C8B-B14F-4D97-AF65-F5344CB8AC3E}">
        <p14:creationId xmlns:p14="http://schemas.microsoft.com/office/powerpoint/2010/main" val="3328859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33</a:t>
            </a:fld>
            <a:endParaRPr lang="de-DE"/>
          </a:p>
        </p:txBody>
      </p:sp>
      <p:sp>
        <p:nvSpPr>
          <p:cNvPr id="3" name="Titel 2"/>
          <p:cNvSpPr>
            <a:spLocks noGrp="1"/>
          </p:cNvSpPr>
          <p:nvPr>
            <p:ph type="title"/>
          </p:nvPr>
        </p:nvSpPr>
        <p:spPr/>
        <p:txBody>
          <a:bodyPr/>
          <a:lstStyle/>
          <a:p>
            <a:r>
              <a:rPr lang="de-DE" dirty="0"/>
              <a:t>Danke schön.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Zusammenfassung</a:t>
            </a:r>
          </a:p>
        </p:txBody>
      </p:sp>
      <p:sp>
        <p:nvSpPr>
          <p:cNvPr id="3" name="Inhaltsplatzhalter 2"/>
          <p:cNvSpPr>
            <a:spLocks noGrp="1"/>
          </p:cNvSpPr>
          <p:nvPr>
            <p:ph sz="quarter" idx="1"/>
          </p:nvPr>
        </p:nvSpPr>
        <p:spPr>
          <a:xfrm>
            <a:off x="457200" y="1219200"/>
            <a:ext cx="8435280" cy="5210196"/>
          </a:xfrm>
        </p:spPr>
        <p:txBody>
          <a:bodyPr>
            <a:normAutofit/>
          </a:bodyPr>
          <a:lstStyle/>
          <a:p>
            <a:r>
              <a:rPr lang="de-DE" dirty="0"/>
              <a:t>Management des Speichers</a:t>
            </a:r>
          </a:p>
          <a:p>
            <a:pPr lvl="1"/>
            <a:r>
              <a:rPr lang="de-DE" sz="2400" dirty="0"/>
              <a:t>Probleme mit den Speicherlöchern</a:t>
            </a:r>
          </a:p>
          <a:p>
            <a:pPr lvl="1"/>
            <a:r>
              <a:rPr lang="de-DE" dirty="0" err="1"/>
              <a:t>Relocation</a:t>
            </a:r>
            <a:r>
              <a:rPr lang="de-DE" dirty="0"/>
              <a:t> des Code</a:t>
            </a:r>
          </a:p>
          <a:p>
            <a:r>
              <a:rPr lang="de-DE" dirty="0" err="1"/>
              <a:t>Paging</a:t>
            </a:r>
            <a:r>
              <a:rPr lang="de-DE" dirty="0"/>
              <a:t> – Grundkonzepte</a:t>
            </a:r>
          </a:p>
          <a:p>
            <a:pPr lvl="1"/>
            <a:r>
              <a:rPr lang="de-DE" dirty="0"/>
              <a:t>Adressübersetzung, Seitentabellen</a:t>
            </a:r>
          </a:p>
          <a:p>
            <a:r>
              <a:rPr lang="de-DE" dirty="0" err="1"/>
              <a:t>Paging</a:t>
            </a:r>
            <a:r>
              <a:rPr lang="de-DE" dirty="0"/>
              <a:t> - Geschwindigkeit der </a:t>
            </a:r>
            <a:r>
              <a:rPr lang="de-DE" dirty="0" err="1"/>
              <a:t>Übersetung</a:t>
            </a:r>
            <a:endParaRPr lang="de-DE" dirty="0"/>
          </a:p>
          <a:p>
            <a:pPr lvl="1"/>
            <a:r>
              <a:rPr lang="de-DE" dirty="0"/>
              <a:t>Translation Look-</a:t>
            </a:r>
            <a:r>
              <a:rPr lang="de-DE" dirty="0" err="1"/>
              <a:t>Aside</a:t>
            </a:r>
            <a:r>
              <a:rPr lang="de-DE" dirty="0"/>
              <a:t> Buffer (TLB) für </a:t>
            </a:r>
            <a:r>
              <a:rPr lang="de-DE"/>
              <a:t>schnelleren Zugriff</a:t>
            </a:r>
            <a:endParaRPr lang="de-DE" dirty="0"/>
          </a:p>
          <a:p>
            <a:r>
              <a:rPr lang="de-DE" dirty="0"/>
              <a:t>Quellen</a:t>
            </a:r>
          </a:p>
          <a:p>
            <a:pPr lvl="1"/>
            <a:r>
              <a:rPr lang="de-DE" dirty="0"/>
              <a:t>Speicher: Silberschatz et al., Kap. 8+9; Tanenbaum Kap. 3.2 + 3.3</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34</a:t>
            </a:fld>
            <a:endParaRPr lang="en-US" noProof="0" dirty="0"/>
          </a:p>
        </p:txBody>
      </p:sp>
    </p:spTree>
    <p:extLst>
      <p:ext uri="{BB962C8B-B14F-4D97-AF65-F5344CB8AC3E}">
        <p14:creationId xmlns:p14="http://schemas.microsoft.com/office/powerpoint/2010/main" val="4150678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p:cNvSpPr>
            <a:spLocks noGrp="1"/>
          </p:cNvSpPr>
          <p:nvPr>
            <p:ph type="sldNum" sz="quarter" idx="12"/>
          </p:nvPr>
        </p:nvSpPr>
        <p:spPr/>
        <p:txBody>
          <a:bodyPr/>
          <a:lstStyle/>
          <a:p>
            <a:fld id="{6C6AE60A-B69C-4790-82F7-3882EDF23186}" type="slidenum">
              <a:rPr lang="de-DE" smtClean="0"/>
              <a:pPr/>
              <a:t>35</a:t>
            </a:fld>
            <a:endParaRPr lang="de-DE"/>
          </a:p>
        </p:txBody>
      </p:sp>
      <p:sp>
        <p:nvSpPr>
          <p:cNvPr id="3" name="Titel 2"/>
          <p:cNvSpPr>
            <a:spLocks noGrp="1"/>
          </p:cNvSpPr>
          <p:nvPr>
            <p:ph type="title"/>
          </p:nvPr>
        </p:nvSpPr>
        <p:spPr/>
        <p:txBody>
          <a:bodyPr/>
          <a:lstStyle/>
          <a:p>
            <a:r>
              <a:rPr lang="de-DE" dirty="0"/>
              <a:t>Zusätzliche Folien Speicherverwaltung</a:t>
            </a:r>
          </a:p>
        </p:txBody>
      </p:sp>
    </p:spTree>
    <p:extLst>
      <p:ext uri="{BB962C8B-B14F-4D97-AF65-F5344CB8AC3E}">
        <p14:creationId xmlns:p14="http://schemas.microsoft.com/office/powerpoint/2010/main" val="868372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Kompilieren und Laden eines Programms </a:t>
            </a:r>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36</a:t>
            </a:fld>
            <a:endParaRPr lang="en-US" noProof="0" dirty="0"/>
          </a:p>
        </p:txBody>
      </p:sp>
      <p:pic>
        <p:nvPicPr>
          <p:cNvPr id="1026" name="Picture 2" descr="C:\Artur\Academic\Lehre\10.WS-IBN\VL\figures\vl06\loading of a processpng.png"/>
          <p:cNvPicPr>
            <a:picLocks noChangeAspect="1" noChangeArrowheads="1"/>
          </p:cNvPicPr>
          <p:nvPr/>
        </p:nvPicPr>
        <p:blipFill>
          <a:blip r:embed="rId3" cstate="print"/>
          <a:srcRect/>
          <a:stretch>
            <a:fillRect/>
          </a:stretch>
        </p:blipFill>
        <p:spPr bwMode="auto">
          <a:xfrm>
            <a:off x="467544" y="1556792"/>
            <a:ext cx="8524875" cy="4133850"/>
          </a:xfrm>
          <a:prstGeom prst="rect">
            <a:avLst/>
          </a:prstGeom>
          <a:noFill/>
        </p:spPr>
      </p:pic>
    </p:spTree>
    <p:extLst>
      <p:ext uri="{BB962C8B-B14F-4D97-AF65-F5344CB8AC3E}">
        <p14:creationId xmlns:p14="http://schemas.microsoft.com/office/powerpoint/2010/main" val="2594427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Möglichkeiten der Adressanpassung</a:t>
            </a:r>
          </a:p>
        </p:txBody>
      </p:sp>
      <p:sp>
        <p:nvSpPr>
          <p:cNvPr id="3" name="Inhaltsplatzhalter 2"/>
          <p:cNvSpPr>
            <a:spLocks noGrp="1"/>
          </p:cNvSpPr>
          <p:nvPr>
            <p:ph sz="quarter" idx="1"/>
          </p:nvPr>
        </p:nvSpPr>
        <p:spPr>
          <a:xfrm>
            <a:off x="457200" y="1219200"/>
            <a:ext cx="8435280" cy="5210196"/>
          </a:xfrm>
        </p:spPr>
        <p:txBody>
          <a:bodyPr>
            <a:normAutofit/>
          </a:bodyPr>
          <a:lstStyle/>
          <a:p>
            <a:r>
              <a:rPr lang="de-DE" b="1" dirty="0">
                <a:solidFill>
                  <a:srgbClr val="FF0000"/>
                </a:solidFill>
              </a:rPr>
              <a:t>Zur </a:t>
            </a:r>
            <a:r>
              <a:rPr lang="de-DE" b="1" dirty="0" err="1">
                <a:solidFill>
                  <a:srgbClr val="FF0000"/>
                </a:solidFill>
              </a:rPr>
              <a:t>Compilier</a:t>
            </a:r>
            <a:r>
              <a:rPr lang="de-DE" b="1" dirty="0">
                <a:solidFill>
                  <a:srgbClr val="FF0000"/>
                </a:solidFill>
              </a:rPr>
              <a:t>- / </a:t>
            </a:r>
            <a:r>
              <a:rPr lang="de-DE" b="1" dirty="0" err="1">
                <a:solidFill>
                  <a:srgbClr val="FF0000"/>
                </a:solidFill>
              </a:rPr>
              <a:t>Assemblierzeit</a:t>
            </a:r>
            <a:r>
              <a:rPr lang="de-DE" dirty="0"/>
              <a:t>: Lage des Codes im Speicher muss a priori bekannt sein</a:t>
            </a:r>
          </a:p>
          <a:p>
            <a:r>
              <a:rPr lang="de-DE" b="1" dirty="0">
                <a:solidFill>
                  <a:srgbClr val="FF0000"/>
                </a:solidFill>
              </a:rPr>
              <a:t>Zur </a:t>
            </a:r>
            <a:r>
              <a:rPr lang="de-DE" b="1" dirty="0" err="1">
                <a:solidFill>
                  <a:srgbClr val="FF0000"/>
                </a:solidFill>
              </a:rPr>
              <a:t>Ladezeit</a:t>
            </a:r>
            <a:r>
              <a:rPr lang="de-DE" dirty="0"/>
              <a:t> (z.B. Atari ST)</a:t>
            </a:r>
          </a:p>
          <a:p>
            <a:pPr lvl="1"/>
            <a:r>
              <a:rPr lang="de-DE" sz="2400" dirty="0"/>
              <a:t>Das Programm </a:t>
            </a:r>
            <a:r>
              <a:rPr lang="de-DE" sz="2400" b="1" dirty="0">
                <a:solidFill>
                  <a:srgbClr val="FF0000"/>
                </a:solidFill>
              </a:rPr>
              <a:t>Loader</a:t>
            </a:r>
            <a:r>
              <a:rPr lang="de-DE" sz="2400" dirty="0"/>
              <a:t> geht direkt nach dem Laden durch den Code und passt es an die Zieladresse an</a:t>
            </a:r>
          </a:p>
          <a:p>
            <a:pPr lvl="2"/>
            <a:r>
              <a:rPr lang="de-DE" sz="2400" dirty="0"/>
              <a:t>Compiler bzw. Linker muss das unterstützen</a:t>
            </a:r>
          </a:p>
          <a:p>
            <a:r>
              <a:rPr lang="de-DE" b="1" dirty="0">
                <a:solidFill>
                  <a:srgbClr val="FF0000"/>
                </a:solidFill>
              </a:rPr>
              <a:t>Zur Laufzeit</a:t>
            </a:r>
            <a:r>
              <a:rPr lang="de-DE" dirty="0"/>
              <a:t>, durch sog. </a:t>
            </a:r>
            <a:r>
              <a:rPr lang="de-DE" b="1" dirty="0">
                <a:solidFill>
                  <a:srgbClr val="FF0000"/>
                </a:solidFill>
              </a:rPr>
              <a:t>relativen Code </a:t>
            </a:r>
          </a:p>
          <a:p>
            <a:pPr lvl="2"/>
            <a:r>
              <a:rPr lang="de-DE" sz="2400" dirty="0"/>
              <a:t>D.h. statt JUMP 48335, verwende JUMP (PC)+631</a:t>
            </a:r>
          </a:p>
          <a:p>
            <a:r>
              <a:rPr lang="de-DE" b="1" dirty="0">
                <a:solidFill>
                  <a:srgbClr val="FF0000"/>
                </a:solidFill>
              </a:rPr>
              <a:t>Zur Laufzeit</a:t>
            </a:r>
            <a:r>
              <a:rPr lang="de-DE" dirty="0"/>
              <a:t>, für jeden Code – durch Hardware</a:t>
            </a:r>
          </a:p>
          <a:p>
            <a:pPr lvl="1"/>
            <a:r>
              <a:rPr lang="de-DE" dirty="0"/>
              <a:t>Das ist die flexibelste Lösung =&gt; Memory </a:t>
            </a:r>
            <a:r>
              <a:rPr lang="de-DE"/>
              <a:t>Management Unit</a:t>
            </a:r>
            <a:endParaRPr lang="de-DE" b="1" dirty="0">
              <a:solidFill>
                <a:srgbClr val="FF0000"/>
              </a:solidFill>
            </a:endParaRPr>
          </a:p>
          <a:p>
            <a:endParaRPr lang="de-DE" sz="3000" dirty="0"/>
          </a:p>
        </p:txBody>
      </p:sp>
      <p:sp>
        <p:nvSpPr>
          <p:cNvPr id="4" name="Foliennummernplatzhalter 3"/>
          <p:cNvSpPr>
            <a:spLocks noGrp="1"/>
          </p:cNvSpPr>
          <p:nvPr>
            <p:ph type="sldNum" sz="quarter" idx="12"/>
          </p:nvPr>
        </p:nvSpPr>
        <p:spPr/>
        <p:txBody>
          <a:bodyPr/>
          <a:lstStyle/>
          <a:p>
            <a:fld id="{7183533A-8A50-4A1F-BEA9-C8C6956451EB}" type="slidenum">
              <a:rPr lang="en-US" noProof="0" smtClean="0"/>
              <a:pPr/>
              <a:t>37</a:t>
            </a:fld>
            <a:endParaRPr lang="en-US" noProof="0" dirty="0"/>
          </a:p>
        </p:txBody>
      </p:sp>
    </p:spTree>
    <p:extLst>
      <p:ext uri="{BB962C8B-B14F-4D97-AF65-F5344CB8AC3E}">
        <p14:creationId xmlns:p14="http://schemas.microsoft.com/office/powerpoint/2010/main" val="225985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2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20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20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Video </a:t>
            </a:r>
            <a:r>
              <a:rPr lang="en-US" dirty="0" err="1"/>
              <a:t>Externe</a:t>
            </a:r>
            <a:r>
              <a:rPr lang="en-US" dirty="0"/>
              <a:t> vs. Interne </a:t>
            </a:r>
            <a:r>
              <a:rPr lang="en-US" dirty="0" err="1"/>
              <a:t>Fragmentierung</a:t>
            </a:r>
            <a:endParaRPr lang="en-US" dirty="0"/>
          </a:p>
        </p:txBody>
      </p:sp>
      <p:sp>
        <p:nvSpPr>
          <p:cNvPr id="3" name="Foliennummernplatzhalter 2"/>
          <p:cNvSpPr>
            <a:spLocks noGrp="1"/>
          </p:cNvSpPr>
          <p:nvPr>
            <p:ph type="sldNum" sz="quarter" idx="12"/>
          </p:nvPr>
        </p:nvSpPr>
        <p:spPr/>
        <p:txBody>
          <a:bodyPr/>
          <a:lstStyle/>
          <a:p>
            <a:fld id="{7183533A-8A50-4A1F-BEA9-C8C6956451EB}" type="slidenum">
              <a:rPr lang="en-US" noProof="0" smtClean="0"/>
              <a:pPr/>
              <a:t>38</a:t>
            </a:fld>
            <a:endParaRPr lang="en-US" noProof="0" dirty="0"/>
          </a:p>
        </p:txBody>
      </p:sp>
      <p:sp>
        <p:nvSpPr>
          <p:cNvPr id="4" name="Inhaltsplatzhalter 3"/>
          <p:cNvSpPr>
            <a:spLocks noGrp="1"/>
          </p:cNvSpPr>
          <p:nvPr>
            <p:ph sz="quarter" idx="1"/>
          </p:nvPr>
        </p:nvSpPr>
        <p:spPr/>
        <p:txBody>
          <a:bodyPr/>
          <a:lstStyle/>
          <a:p>
            <a:r>
              <a:rPr lang="en-US" dirty="0"/>
              <a:t>Dynamic Memory Allocation [08b]</a:t>
            </a:r>
          </a:p>
          <a:p>
            <a:pPr lvl="1"/>
            <a:r>
              <a:rPr lang="en-US" dirty="0">
                <a:hlinkClick r:id="rId4"/>
              </a:rPr>
              <a:t>https://www.youtube.com/watch?v=Dml54J3Kwm4</a:t>
            </a:r>
            <a:endParaRPr lang="en-US" dirty="0"/>
          </a:p>
          <a:p>
            <a:pPr lvl="1"/>
            <a:r>
              <a:rPr lang="en-US" dirty="0"/>
              <a:t>Ab 2:35 </a:t>
            </a:r>
            <a:r>
              <a:rPr lang="en-US" dirty="0" err="1"/>
              <a:t>bis</a:t>
            </a:r>
            <a:r>
              <a:rPr lang="en-US" dirty="0"/>
              <a:t> ca. 3:52 (</a:t>
            </a:r>
            <a:r>
              <a:rPr lang="en-US" dirty="0" err="1"/>
              <a:t>min:sec</a:t>
            </a:r>
            <a:r>
              <a:rPr lang="en-US" dirty="0"/>
              <a:t>) </a:t>
            </a:r>
          </a:p>
          <a:p>
            <a:pPr lvl="1"/>
            <a:endParaRPr lang="en-US" dirty="0"/>
          </a:p>
        </p:txBody>
      </p:sp>
      <p:pic>
        <p:nvPicPr>
          <p:cNvPr id="5" name="08b-Dynamic Memory Allocation">
            <a:hlinkClick r:id="" action="ppaction://media"/>
            <a:extLst>
              <a:ext uri="{FF2B5EF4-FFF2-40B4-BE49-F238E27FC236}">
                <a16:creationId xmlns:a16="http://schemas.microsoft.com/office/drawing/2014/main" id="{85614F39-87E6-4456-A984-E4CCA3081AB8}"/>
              </a:ext>
            </a:extLst>
          </p:cNvPr>
          <p:cNvPicPr>
            <a:picLocks noChangeAspect="1"/>
          </p:cNvPicPr>
          <p:nvPr>
            <a:videoFile r:link="rId1"/>
            <p:extLst>
              <p:ext uri="{DAA4B4D4-6D71-4841-9C94-3DE7FCFB9230}">
                <p14:media xmlns:p14="http://schemas.microsoft.com/office/powerpoint/2010/main" r:link="rId2">
                  <p14:trim st="150332" end="188269"/>
                </p14:media>
              </p:ext>
            </p:extLst>
          </p:nvPr>
        </p:nvPicPr>
        <p:blipFill>
          <a:blip r:embed="rId5"/>
          <a:stretch>
            <a:fillRect/>
          </a:stretch>
        </p:blipFill>
        <p:spPr>
          <a:xfrm>
            <a:off x="1547664" y="2880610"/>
            <a:ext cx="6272696" cy="3528392"/>
          </a:xfrm>
          <a:prstGeom prst="rect">
            <a:avLst/>
          </a:prstGeom>
        </p:spPr>
      </p:pic>
    </p:spTree>
    <p:extLst>
      <p:ext uri="{BB962C8B-B14F-4D97-AF65-F5344CB8AC3E}">
        <p14:creationId xmlns:p14="http://schemas.microsoft.com/office/powerpoint/2010/main" val="81689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5F77C62-8AD2-CF32-EB89-3823CFF377CA}"/>
              </a:ext>
            </a:extLst>
          </p:cNvPr>
          <p:cNvSpPr>
            <a:spLocks noGrp="1"/>
          </p:cNvSpPr>
          <p:nvPr>
            <p:ph type="title"/>
          </p:nvPr>
        </p:nvSpPr>
        <p:spPr/>
        <p:txBody>
          <a:bodyPr/>
          <a:lstStyle/>
          <a:p>
            <a:r>
              <a:rPr lang="de-DE" dirty="0"/>
              <a:t>Adressübersetzung mit Seitentabelle</a:t>
            </a:r>
          </a:p>
        </p:txBody>
      </p:sp>
      <p:sp>
        <p:nvSpPr>
          <p:cNvPr id="3" name="Foliennummernplatzhalter 2">
            <a:extLst>
              <a:ext uri="{FF2B5EF4-FFF2-40B4-BE49-F238E27FC236}">
                <a16:creationId xmlns:a16="http://schemas.microsoft.com/office/drawing/2014/main" id="{87AEFB14-6C0F-5148-41D1-B67827209CE4}"/>
              </a:ext>
            </a:extLst>
          </p:cNvPr>
          <p:cNvSpPr>
            <a:spLocks noGrp="1"/>
          </p:cNvSpPr>
          <p:nvPr>
            <p:ph type="sldNum" sz="quarter" idx="12"/>
          </p:nvPr>
        </p:nvSpPr>
        <p:spPr/>
        <p:txBody>
          <a:bodyPr/>
          <a:lstStyle/>
          <a:p>
            <a:fld id="{6C6AE60A-B69C-4790-82F7-3882EDF23186}" type="slidenum">
              <a:rPr lang="de-DE" smtClean="0"/>
              <a:pPr/>
              <a:t>39</a:t>
            </a:fld>
            <a:endParaRPr lang="de-DE"/>
          </a:p>
        </p:txBody>
      </p:sp>
      <p:sp>
        <p:nvSpPr>
          <p:cNvPr id="4" name="hlog"/>
          <p:cNvSpPr/>
          <p:nvPr/>
        </p:nvSpPr>
        <p:spPr>
          <a:xfrm>
            <a:off x="698500" y="1219200"/>
            <a:ext cx="1168400" cy="355600"/>
          </a:xfrm>
          <a:prstGeom prst="rect">
            <a:avLst/>
          </a:prstGeom>
          <a:solidFill>
            <a:srgbClr val="C0504D"/>
          </a:solidFill>
          <a:ln>
            <a:noFill/>
          </a:ln>
        </p:spPr>
        <p:txBody>
          <a:bodyPr anchor="ctr"/>
          <a:lstStyle/>
          <a:p>
            <a:pPr algn="ctr"/>
            <a:r>
              <a:rPr lang="de-DE" sz="900" b="1" dirty="0">
                <a:solidFill>
                  <a:srgbClr val="FFFFFF"/>
                </a:solidFill>
              </a:rPr>
              <a:t>Logischer Adressraum</a:t>
            </a:r>
          </a:p>
        </p:txBody>
      </p:sp>
      <p:sp>
        <p:nvSpPr>
          <p:cNvPr id="20" name="lp0"/>
          <p:cNvSpPr/>
          <p:nvPr/>
        </p:nvSpPr>
        <p:spPr>
          <a:xfrm>
            <a:off x="698500" y="1625600"/>
            <a:ext cx="1168400" cy="584200"/>
          </a:xfrm>
          <a:prstGeom prst="rect">
            <a:avLst/>
          </a:prstGeom>
          <a:solidFill>
            <a:srgbClr val="9BBB59"/>
          </a:solidFill>
          <a:ln w="9525">
            <a:solidFill>
              <a:srgbClr val="808080"/>
            </a:solidFill>
          </a:ln>
        </p:spPr>
        <p:txBody>
          <a:bodyPr anchor="ctr"/>
          <a:lstStyle/>
          <a:p>
            <a:pPr algn="ctr"/>
            <a:r>
              <a:rPr lang="de-DE" sz="1200" dirty="0">
                <a:solidFill>
                  <a:srgbClr val="FFFFFF"/>
                </a:solidFill>
              </a:rPr>
              <a:t>Seite 0</a:t>
            </a:r>
          </a:p>
        </p:txBody>
      </p:sp>
      <p:sp>
        <p:nvSpPr>
          <p:cNvPr id="21" name="lp1"/>
          <p:cNvSpPr/>
          <p:nvPr/>
        </p:nvSpPr>
        <p:spPr>
          <a:xfrm>
            <a:off x="698500" y="2247900"/>
            <a:ext cx="1168400" cy="584200"/>
          </a:xfrm>
          <a:prstGeom prst="rect">
            <a:avLst/>
          </a:prstGeom>
          <a:solidFill>
            <a:srgbClr val="4BACC6"/>
          </a:solidFill>
          <a:ln w="19050">
            <a:solidFill>
              <a:srgbClr val="E36C09"/>
            </a:solidFill>
          </a:ln>
        </p:spPr>
        <p:txBody>
          <a:bodyPr anchor="ctr"/>
          <a:lstStyle/>
          <a:p>
            <a:pPr algn="ctr"/>
            <a:r>
              <a:rPr lang="de-DE" sz="1200" b="1" dirty="0">
                <a:solidFill>
                  <a:srgbClr val="FFFFFF"/>
                </a:solidFill>
              </a:rPr>
              <a:t>Seite 1</a:t>
            </a:r>
          </a:p>
        </p:txBody>
      </p:sp>
      <p:sp>
        <p:nvSpPr>
          <p:cNvPr id="22" name="il0"/>
          <p:cNvSpPr/>
          <p:nvPr/>
        </p:nvSpPr>
        <p:spPr>
          <a:xfrm>
            <a:off x="419100" y="1752600"/>
            <a:ext cx="228600" cy="304800"/>
          </a:xfrm>
          <a:prstGeom prst="rect">
            <a:avLst/>
          </a:prstGeom>
          <a:noFill/>
          <a:ln>
            <a:noFill/>
          </a:ln>
        </p:spPr>
        <p:txBody>
          <a:bodyPr anchor="ctr"/>
          <a:lstStyle/>
          <a:p>
            <a:pPr algn="r"/>
            <a:r>
              <a:rPr lang="de-DE" sz="1400" b="1" dirty="0">
                <a:solidFill>
                  <a:srgbClr val="E36C09"/>
                </a:solidFill>
              </a:rPr>
              <a:t>0</a:t>
            </a:r>
          </a:p>
        </p:txBody>
      </p:sp>
      <p:sp>
        <p:nvSpPr>
          <p:cNvPr id="23" name="il1"/>
          <p:cNvSpPr/>
          <p:nvPr/>
        </p:nvSpPr>
        <p:spPr>
          <a:xfrm>
            <a:off x="419100" y="2374900"/>
            <a:ext cx="228600" cy="304800"/>
          </a:xfrm>
          <a:prstGeom prst="rect">
            <a:avLst/>
          </a:prstGeom>
          <a:noFill/>
          <a:ln>
            <a:noFill/>
          </a:ln>
        </p:spPr>
        <p:txBody>
          <a:bodyPr anchor="ctr"/>
          <a:lstStyle/>
          <a:p>
            <a:pPr algn="r"/>
            <a:r>
              <a:rPr lang="de-DE" sz="1400" b="1" dirty="0">
                <a:solidFill>
                  <a:srgbClr val="E36C09"/>
                </a:solidFill>
              </a:rPr>
              <a:t>1</a:t>
            </a:r>
          </a:p>
        </p:txBody>
      </p:sp>
      <p:sp>
        <p:nvSpPr>
          <p:cNvPr id="30" name="th0"/>
          <p:cNvSpPr/>
          <p:nvPr/>
        </p:nvSpPr>
        <p:spPr>
          <a:xfrm>
            <a:off x="3904440" y="1600200"/>
            <a:ext cx="723900" cy="304800"/>
          </a:xfrm>
          <a:prstGeom prst="rect">
            <a:avLst/>
          </a:prstGeom>
          <a:solidFill>
            <a:srgbClr val="404040"/>
          </a:solidFill>
          <a:ln w="9525">
            <a:solidFill>
              <a:srgbClr val="808080"/>
            </a:solidFill>
          </a:ln>
        </p:spPr>
        <p:txBody>
          <a:bodyPr anchor="ctr"/>
          <a:lstStyle/>
          <a:p>
            <a:pPr algn="ctr"/>
            <a:r>
              <a:rPr lang="de-DE" sz="1000" b="1" dirty="0">
                <a:solidFill>
                  <a:srgbClr val="FFFFFF"/>
                </a:solidFill>
              </a:rPr>
              <a:t>Seite</a:t>
            </a:r>
          </a:p>
        </p:txBody>
      </p:sp>
      <p:sp>
        <p:nvSpPr>
          <p:cNvPr id="31" name="th1"/>
          <p:cNvSpPr/>
          <p:nvPr/>
        </p:nvSpPr>
        <p:spPr>
          <a:xfrm>
            <a:off x="4628340" y="1600200"/>
            <a:ext cx="736600" cy="304800"/>
          </a:xfrm>
          <a:prstGeom prst="rect">
            <a:avLst/>
          </a:prstGeom>
          <a:solidFill>
            <a:srgbClr val="404040"/>
          </a:solidFill>
          <a:ln w="9525">
            <a:solidFill>
              <a:srgbClr val="808080"/>
            </a:solidFill>
          </a:ln>
        </p:spPr>
        <p:txBody>
          <a:bodyPr anchor="ctr"/>
          <a:lstStyle/>
          <a:p>
            <a:pPr algn="ctr"/>
            <a:r>
              <a:rPr lang="de-DE" sz="1000" b="1" dirty="0">
                <a:solidFill>
                  <a:srgbClr val="FFFFFF"/>
                </a:solidFill>
              </a:rPr>
              <a:t>Rahmen</a:t>
            </a:r>
          </a:p>
        </p:txBody>
      </p:sp>
      <p:sp>
        <p:nvSpPr>
          <p:cNvPr id="32" name="tr00"/>
          <p:cNvSpPr/>
          <p:nvPr/>
        </p:nvSpPr>
        <p:spPr>
          <a:xfrm>
            <a:off x="3904440" y="1930400"/>
            <a:ext cx="723900" cy="584200"/>
          </a:xfrm>
          <a:prstGeom prst="rect">
            <a:avLst/>
          </a:prstGeom>
          <a:solidFill>
            <a:srgbClr val="D9D9D9"/>
          </a:solidFill>
          <a:ln w="9525">
            <a:solidFill>
              <a:srgbClr val="808080"/>
            </a:solidFill>
          </a:ln>
        </p:spPr>
        <p:txBody>
          <a:bodyPr anchor="ctr"/>
          <a:lstStyle/>
          <a:p>
            <a:pPr algn="ctr"/>
            <a:r>
              <a:rPr lang="de-DE" sz="1400" dirty="0">
                <a:solidFill>
                  <a:srgbClr val="404040"/>
                </a:solidFill>
              </a:rPr>
              <a:t>0</a:t>
            </a:r>
          </a:p>
        </p:txBody>
      </p:sp>
      <p:sp>
        <p:nvSpPr>
          <p:cNvPr id="33" name="tr01"/>
          <p:cNvSpPr/>
          <p:nvPr/>
        </p:nvSpPr>
        <p:spPr>
          <a:xfrm>
            <a:off x="4628340" y="1930400"/>
            <a:ext cx="736600" cy="584200"/>
          </a:xfrm>
          <a:prstGeom prst="rect">
            <a:avLst/>
          </a:prstGeom>
          <a:solidFill>
            <a:srgbClr val="D9D9D9"/>
          </a:solidFill>
          <a:ln w="9525">
            <a:solidFill>
              <a:srgbClr val="808080"/>
            </a:solidFill>
          </a:ln>
        </p:spPr>
        <p:txBody>
          <a:bodyPr anchor="ctr"/>
          <a:lstStyle/>
          <a:p>
            <a:pPr algn="ctr"/>
            <a:r>
              <a:rPr lang="de-DE" sz="1400" dirty="0">
                <a:solidFill>
                  <a:srgbClr val="404040"/>
                </a:solidFill>
              </a:rPr>
              <a:t>1</a:t>
            </a:r>
          </a:p>
        </p:txBody>
      </p:sp>
      <p:sp>
        <p:nvSpPr>
          <p:cNvPr id="34" name="tr10"/>
          <p:cNvSpPr/>
          <p:nvPr/>
        </p:nvSpPr>
        <p:spPr>
          <a:xfrm>
            <a:off x="3904440" y="2540000"/>
            <a:ext cx="723900" cy="584200"/>
          </a:xfrm>
          <a:prstGeom prst="rect">
            <a:avLst/>
          </a:prstGeom>
          <a:solidFill>
            <a:srgbClr val="4BACC6"/>
          </a:solidFill>
          <a:ln w="19050">
            <a:solidFill>
              <a:srgbClr val="E36C09"/>
            </a:solidFill>
          </a:ln>
        </p:spPr>
        <p:txBody>
          <a:bodyPr anchor="ctr"/>
          <a:lstStyle/>
          <a:p>
            <a:pPr algn="ctr"/>
            <a:r>
              <a:rPr lang="de-DE" sz="1400" b="1" dirty="0">
                <a:solidFill>
                  <a:srgbClr val="FFFFFF"/>
                </a:solidFill>
              </a:rPr>
              <a:t>1</a:t>
            </a:r>
          </a:p>
        </p:txBody>
      </p:sp>
      <p:sp>
        <p:nvSpPr>
          <p:cNvPr id="35" name="tr11"/>
          <p:cNvSpPr/>
          <p:nvPr/>
        </p:nvSpPr>
        <p:spPr>
          <a:xfrm>
            <a:off x="4628340" y="2540000"/>
            <a:ext cx="736600" cy="584200"/>
          </a:xfrm>
          <a:prstGeom prst="rect">
            <a:avLst/>
          </a:prstGeom>
          <a:solidFill>
            <a:srgbClr val="4BACC6"/>
          </a:solidFill>
          <a:ln w="19050">
            <a:solidFill>
              <a:srgbClr val="E36C09"/>
            </a:solidFill>
          </a:ln>
        </p:spPr>
        <p:txBody>
          <a:bodyPr anchor="ctr"/>
          <a:lstStyle/>
          <a:p>
            <a:pPr algn="ctr"/>
            <a:r>
              <a:rPr lang="de-DE" sz="1400" b="1" dirty="0">
                <a:solidFill>
                  <a:srgbClr val="FFFFFF"/>
                </a:solidFill>
              </a:rPr>
              <a:t>5</a:t>
            </a:r>
          </a:p>
        </p:txBody>
      </p:sp>
      <p:sp>
        <p:nvSpPr>
          <p:cNvPr id="40" name="rf0"/>
          <p:cNvSpPr/>
          <p:nvPr/>
        </p:nvSpPr>
        <p:spPr>
          <a:xfrm>
            <a:off x="6634940" y="1600200"/>
            <a:ext cx="1168400" cy="584200"/>
          </a:xfrm>
          <a:prstGeom prst="rect">
            <a:avLst/>
          </a:prstGeom>
          <a:solidFill>
            <a:srgbClr val="D9D9D9"/>
          </a:solidFill>
          <a:ln w="9525">
            <a:solidFill>
              <a:srgbClr val="808080"/>
            </a:solidFill>
          </a:ln>
        </p:spPr>
        <p:txBody>
          <a:bodyPr anchor="ctr"/>
          <a:lstStyle/>
          <a:p>
            <a:pPr algn="ctr"/>
            <a:r>
              <a:rPr lang="de-DE" sz="1200" dirty="0">
                <a:solidFill>
                  <a:srgbClr val="404040"/>
                </a:solidFill>
              </a:rPr>
              <a:t>Rahmen 0</a:t>
            </a:r>
          </a:p>
        </p:txBody>
      </p:sp>
      <p:sp>
        <p:nvSpPr>
          <p:cNvPr id="41" name="rf1"/>
          <p:cNvSpPr/>
          <p:nvPr/>
        </p:nvSpPr>
        <p:spPr>
          <a:xfrm>
            <a:off x="6634940" y="2222500"/>
            <a:ext cx="1168400" cy="584200"/>
          </a:xfrm>
          <a:prstGeom prst="rect">
            <a:avLst/>
          </a:prstGeom>
          <a:solidFill>
            <a:srgbClr val="4BACC6"/>
          </a:solidFill>
          <a:ln w="19050">
            <a:solidFill>
              <a:srgbClr val="E36C09"/>
            </a:solidFill>
          </a:ln>
        </p:spPr>
        <p:txBody>
          <a:bodyPr anchor="ctr"/>
          <a:lstStyle/>
          <a:p>
            <a:pPr algn="ctr"/>
            <a:r>
              <a:rPr lang="de-DE" sz="1200" b="1" dirty="0">
                <a:solidFill>
                  <a:srgbClr val="FFFFFF"/>
                </a:solidFill>
              </a:rPr>
              <a:t>Rahmen 1</a:t>
            </a:r>
          </a:p>
        </p:txBody>
      </p:sp>
      <p:sp>
        <p:nvSpPr>
          <p:cNvPr id="42" name="ir0"/>
          <p:cNvSpPr/>
          <p:nvPr/>
        </p:nvSpPr>
        <p:spPr>
          <a:xfrm>
            <a:off x="7879540" y="1727200"/>
            <a:ext cx="254000" cy="304800"/>
          </a:xfrm>
          <a:prstGeom prst="rect">
            <a:avLst/>
          </a:prstGeom>
          <a:noFill/>
          <a:ln>
            <a:noFill/>
          </a:ln>
        </p:spPr>
        <p:txBody>
          <a:bodyPr anchor="ctr"/>
          <a:lstStyle/>
          <a:p>
            <a:pPr algn="l"/>
            <a:r>
              <a:rPr lang="de-DE" sz="1400" b="1" dirty="0">
                <a:solidFill>
                  <a:srgbClr val="E36C09"/>
                </a:solidFill>
              </a:rPr>
              <a:t>0</a:t>
            </a:r>
          </a:p>
        </p:txBody>
      </p:sp>
      <p:sp>
        <p:nvSpPr>
          <p:cNvPr id="43" name="ir1"/>
          <p:cNvSpPr/>
          <p:nvPr/>
        </p:nvSpPr>
        <p:spPr>
          <a:xfrm>
            <a:off x="7879540" y="2349500"/>
            <a:ext cx="254000" cy="304800"/>
          </a:xfrm>
          <a:prstGeom prst="rect">
            <a:avLst/>
          </a:prstGeom>
          <a:noFill/>
          <a:ln>
            <a:noFill/>
          </a:ln>
        </p:spPr>
        <p:txBody>
          <a:bodyPr anchor="ctr"/>
          <a:lstStyle/>
          <a:p>
            <a:pPr algn="l"/>
            <a:r>
              <a:rPr lang="de-DE" sz="1400" b="1" dirty="0">
                <a:solidFill>
                  <a:srgbClr val="E36C09"/>
                </a:solidFill>
              </a:rPr>
              <a:t>1</a:t>
            </a:r>
          </a:p>
        </p:txBody>
      </p:sp>
      <p:sp>
        <p:nvSpPr>
          <p:cNvPr id="50" name="abg"/>
          <p:cNvSpPr/>
          <p:nvPr/>
        </p:nvSpPr>
        <p:spPr>
          <a:xfrm>
            <a:off x="698500" y="3873500"/>
            <a:ext cx="3429000" cy="1270000"/>
          </a:xfrm>
          <a:prstGeom prst="rect">
            <a:avLst/>
          </a:prstGeom>
          <a:solidFill>
            <a:srgbClr val="FFF2CC"/>
          </a:solidFill>
          <a:ln w="19050">
            <a:solidFill>
              <a:srgbClr val="E36C09"/>
            </a:solidFill>
          </a:ln>
        </p:spPr>
        <p:txBody>
          <a:bodyPr anchor="ctr"/>
          <a:lstStyle/>
          <a:p>
            <a:endParaRPr/>
          </a:p>
        </p:txBody>
      </p:sp>
      <p:sp>
        <p:nvSpPr>
          <p:cNvPr id="51" name="atitle"/>
          <p:cNvSpPr/>
          <p:nvPr/>
        </p:nvSpPr>
        <p:spPr>
          <a:xfrm>
            <a:off x="800100" y="3937000"/>
            <a:ext cx="3225800" cy="279400"/>
          </a:xfrm>
          <a:prstGeom prst="rect">
            <a:avLst/>
          </a:prstGeom>
          <a:noFill/>
          <a:ln>
            <a:noFill/>
          </a:ln>
        </p:spPr>
        <p:txBody>
          <a:bodyPr anchor="ctr"/>
          <a:lstStyle/>
          <a:p>
            <a:pPr algn="l"/>
            <a:r>
              <a:rPr lang="de-DE" sz="1300" b="1" dirty="0">
                <a:solidFill>
                  <a:srgbClr val="E36C09"/>
                </a:solidFill>
              </a:rPr>
              <a:t>Logische Adresse: 3</a:t>
            </a:r>
          </a:p>
        </p:txBody>
      </p:sp>
      <p:sp>
        <p:nvSpPr>
          <p:cNvPr id="53" name="apage"/>
          <p:cNvSpPr/>
          <p:nvPr/>
        </p:nvSpPr>
        <p:spPr>
          <a:xfrm>
            <a:off x="800100" y="4254500"/>
            <a:ext cx="1460500" cy="685800"/>
          </a:xfrm>
          <a:prstGeom prst="rect">
            <a:avLst/>
          </a:prstGeom>
          <a:solidFill>
            <a:srgbClr val="4BACC6"/>
          </a:solidFill>
          <a:ln w="9525">
            <a:solidFill>
              <a:srgbClr val="808080"/>
            </a:solidFill>
          </a:ln>
        </p:spPr>
        <p:txBody>
          <a:bodyPr anchor="ctr"/>
          <a:lstStyle/>
          <a:p>
            <a:pPr algn="ctr"/>
            <a:r>
              <a:rPr lang="de-DE" sz="1100" dirty="0">
                <a:solidFill>
                  <a:srgbClr val="FFFFFF"/>
                </a:solidFill>
              </a:rPr>
              <a:t>Seite</a:t>
            </a:r>
          </a:p>
          <a:p>
            <a:pPr algn="ctr"/>
            <a:r>
              <a:rPr lang="de-DE" sz="2000" b="1" dirty="0">
                <a:solidFill>
                  <a:srgbClr val="FFFFFF"/>
                </a:solidFill>
              </a:rPr>
              <a:t>0</a:t>
            </a:r>
          </a:p>
        </p:txBody>
      </p:sp>
      <p:sp>
        <p:nvSpPr>
          <p:cNvPr id="54" name="aoff"/>
          <p:cNvSpPr/>
          <p:nvPr/>
        </p:nvSpPr>
        <p:spPr>
          <a:xfrm>
            <a:off x="2311400" y="4254500"/>
            <a:ext cx="1714500" cy="685800"/>
          </a:xfrm>
          <a:prstGeom prst="rect">
            <a:avLst/>
          </a:prstGeom>
          <a:solidFill>
            <a:srgbClr val="F0F0F0"/>
          </a:solidFill>
          <a:ln w="9525">
            <a:solidFill>
              <a:srgbClr val="808080"/>
            </a:solidFill>
          </a:ln>
        </p:spPr>
        <p:txBody>
          <a:bodyPr anchor="ctr"/>
          <a:lstStyle/>
          <a:p>
            <a:pPr algn="ctr"/>
            <a:r>
              <a:rPr lang="de-DE" sz="1100" dirty="0">
                <a:solidFill>
                  <a:srgbClr val="404040"/>
                </a:solidFill>
              </a:rPr>
              <a:t>Offset</a:t>
            </a:r>
          </a:p>
          <a:p>
            <a:pPr algn="ctr"/>
            <a:r>
              <a:rPr lang="de-DE" sz="2000" b="1" dirty="0">
                <a:solidFill>
                  <a:srgbClr val="404040"/>
                </a:solidFill>
              </a:rPr>
              <a:t>3</a:t>
            </a:r>
          </a:p>
        </p:txBody>
      </p:sp>
      <p:sp>
        <p:nvSpPr>
          <p:cNvPr id="55" name="psize"/>
          <p:cNvSpPr/>
          <p:nvPr/>
        </p:nvSpPr>
        <p:spPr>
          <a:xfrm>
            <a:off x="698500" y="5194300"/>
            <a:ext cx="3429000" cy="254000"/>
          </a:xfrm>
          <a:prstGeom prst="rect">
            <a:avLst/>
          </a:prstGeom>
          <a:noFill/>
          <a:ln>
            <a:noFill/>
          </a:ln>
        </p:spPr>
        <p:txBody>
          <a:bodyPr anchor="ctr"/>
          <a:lstStyle/>
          <a:p>
            <a:pPr algn="l"/>
            <a:r>
              <a:rPr lang="de-DE" sz="1200" dirty="0">
                <a:solidFill>
                  <a:srgbClr val="505050"/>
                </a:solidFill>
              </a:rPr>
              <a:t>Seitengröße = 10</a:t>
            </a:r>
          </a:p>
        </p:txBody>
      </p:sp>
      <p:sp>
        <p:nvSpPr>
          <p:cNvPr id="60" name="ebg"/>
          <p:cNvSpPr/>
          <p:nvPr/>
        </p:nvSpPr>
        <p:spPr>
          <a:xfrm>
            <a:off x="4788024" y="3873500"/>
            <a:ext cx="3429000" cy="1270000"/>
          </a:xfrm>
          <a:prstGeom prst="rect">
            <a:avLst/>
          </a:prstGeom>
          <a:solidFill>
            <a:srgbClr val="E2EFDA"/>
          </a:solidFill>
          <a:ln w="19050">
            <a:solidFill>
              <a:srgbClr val="9BBB59"/>
            </a:solidFill>
          </a:ln>
        </p:spPr>
        <p:txBody>
          <a:bodyPr anchor="ctr"/>
          <a:lstStyle/>
          <a:p>
            <a:endParaRPr/>
          </a:p>
        </p:txBody>
      </p:sp>
      <p:sp>
        <p:nvSpPr>
          <p:cNvPr id="61" name="etitle"/>
          <p:cNvSpPr/>
          <p:nvPr/>
        </p:nvSpPr>
        <p:spPr>
          <a:xfrm>
            <a:off x="4889624" y="3937000"/>
            <a:ext cx="3225800" cy="279400"/>
          </a:xfrm>
          <a:prstGeom prst="rect">
            <a:avLst/>
          </a:prstGeom>
          <a:noFill/>
          <a:ln>
            <a:noFill/>
          </a:ln>
        </p:spPr>
        <p:txBody>
          <a:bodyPr anchor="ctr"/>
          <a:lstStyle/>
          <a:p>
            <a:pPr algn="l"/>
            <a:r>
              <a:rPr lang="de-DE" sz="1300" b="1" dirty="0">
                <a:solidFill>
                  <a:srgbClr val="375623"/>
                </a:solidFill>
              </a:rPr>
              <a:t>Physische Adresse: 13</a:t>
            </a:r>
          </a:p>
        </p:txBody>
      </p:sp>
      <p:sp>
        <p:nvSpPr>
          <p:cNvPr id="63" name="eframe"/>
          <p:cNvSpPr/>
          <p:nvPr/>
        </p:nvSpPr>
        <p:spPr>
          <a:xfrm>
            <a:off x="4889624" y="4254500"/>
            <a:ext cx="1460500" cy="685800"/>
          </a:xfrm>
          <a:prstGeom prst="rect">
            <a:avLst/>
          </a:prstGeom>
          <a:solidFill>
            <a:srgbClr val="4BACC6"/>
          </a:solidFill>
          <a:ln w="9525">
            <a:solidFill>
              <a:srgbClr val="808080"/>
            </a:solidFill>
          </a:ln>
        </p:spPr>
        <p:txBody>
          <a:bodyPr anchor="ctr"/>
          <a:lstStyle/>
          <a:p>
            <a:pPr algn="ctr"/>
            <a:r>
              <a:rPr lang="de-DE" sz="1100" dirty="0">
                <a:solidFill>
                  <a:srgbClr val="FFFFFF"/>
                </a:solidFill>
              </a:rPr>
              <a:t>Rahmen</a:t>
            </a:r>
          </a:p>
          <a:p>
            <a:pPr algn="ctr"/>
            <a:r>
              <a:rPr lang="de-DE" sz="2000" b="1" dirty="0">
                <a:solidFill>
                  <a:srgbClr val="FFFFFF"/>
                </a:solidFill>
              </a:rPr>
              <a:t>1</a:t>
            </a:r>
          </a:p>
        </p:txBody>
      </p:sp>
      <p:sp>
        <p:nvSpPr>
          <p:cNvPr id="64" name="eoff"/>
          <p:cNvSpPr/>
          <p:nvPr/>
        </p:nvSpPr>
        <p:spPr>
          <a:xfrm>
            <a:off x="6400924" y="4254500"/>
            <a:ext cx="1714500" cy="685800"/>
          </a:xfrm>
          <a:prstGeom prst="rect">
            <a:avLst/>
          </a:prstGeom>
          <a:solidFill>
            <a:srgbClr val="F0F0F0"/>
          </a:solidFill>
          <a:ln w="9525">
            <a:solidFill>
              <a:srgbClr val="808080"/>
            </a:solidFill>
          </a:ln>
        </p:spPr>
        <p:txBody>
          <a:bodyPr anchor="ctr"/>
          <a:lstStyle/>
          <a:p>
            <a:pPr algn="ctr"/>
            <a:r>
              <a:rPr lang="de-DE" sz="1100" dirty="0">
                <a:solidFill>
                  <a:srgbClr val="404040"/>
                </a:solidFill>
              </a:rPr>
              <a:t>Offset</a:t>
            </a:r>
          </a:p>
          <a:p>
            <a:pPr algn="ctr"/>
            <a:r>
              <a:rPr lang="de-DE" sz="2000" b="1" dirty="0">
                <a:solidFill>
                  <a:srgbClr val="404040"/>
                </a:solidFill>
              </a:rPr>
              <a:t>3</a:t>
            </a:r>
          </a:p>
        </p:txBody>
      </p:sp>
      <p:sp>
        <p:nvSpPr>
          <p:cNvPr id="65" name="formula"/>
          <p:cNvSpPr/>
          <p:nvPr/>
        </p:nvSpPr>
        <p:spPr>
          <a:xfrm>
            <a:off x="4788024" y="5194300"/>
            <a:ext cx="3429000" cy="254000"/>
          </a:xfrm>
          <a:prstGeom prst="rect">
            <a:avLst/>
          </a:prstGeom>
          <a:noFill/>
          <a:ln>
            <a:noFill/>
          </a:ln>
        </p:spPr>
        <p:txBody>
          <a:bodyPr anchor="ctr"/>
          <a:lstStyle/>
          <a:p>
            <a:pPr algn="l"/>
            <a:r>
              <a:rPr lang="de-DE" sz="1200" b="1" dirty="0">
                <a:solidFill>
                  <a:srgbClr val="375623"/>
                </a:solidFill>
              </a:rPr>
              <a:t>1 × 10 + 3 = 13</a:t>
            </a:r>
          </a:p>
        </p:txBody>
      </p:sp>
      <p:sp>
        <p:nvSpPr>
          <p:cNvPr id="70" name="arr1"/>
          <p:cNvSpPr>
            <a:spLocks noGrp="1"/>
          </p:cNvSpPr>
          <p:nvPr/>
        </p:nvSpPr>
        <p:spPr>
          <a:xfrm>
            <a:off x="1859051" y="1930400"/>
            <a:ext cx="1961340" cy="266700"/>
          </a:xfrm>
          <a:prstGeom prst="line">
            <a:avLst/>
          </a:prstGeom>
          <a:noFill/>
          <a:ln w="19050">
            <a:solidFill>
              <a:srgbClr val="E36C09"/>
            </a:solidFill>
            <a:prstDash val="sysDash"/>
          </a:ln>
        </p:spPr>
        <p:txBody>
          <a:bodyPr/>
          <a:lstStyle/>
          <a:p>
            <a:endParaRPr/>
          </a:p>
        </p:txBody>
      </p:sp>
      <p:sp>
        <p:nvSpPr>
          <p:cNvPr id="71" name="arr2"/>
          <p:cNvSpPr>
            <a:spLocks noGrp="1"/>
          </p:cNvSpPr>
          <p:nvPr/>
        </p:nvSpPr>
        <p:spPr>
          <a:xfrm>
            <a:off x="5364940" y="2222500"/>
            <a:ext cx="1270000" cy="292100"/>
          </a:xfrm>
          <a:prstGeom prst="line">
            <a:avLst/>
          </a:prstGeom>
          <a:noFill/>
          <a:ln w="19050">
            <a:solidFill>
              <a:srgbClr val="E36C09"/>
            </a:solidFill>
            <a:prstDash val="sysDash"/>
          </a:ln>
        </p:spPr>
        <p:txBody>
          <a:bodyPr/>
          <a:lstStyle/>
          <a:p>
            <a:endParaRPr/>
          </a:p>
        </p:txBody>
      </p:sp>
      <p:sp>
        <p:nvSpPr>
          <p:cNvPr id="11" name="htab"/>
          <p:cNvSpPr/>
          <p:nvPr/>
        </p:nvSpPr>
        <p:spPr>
          <a:xfrm>
            <a:off x="3904440" y="1193800"/>
            <a:ext cx="1460500" cy="355600"/>
          </a:xfrm>
          <a:prstGeom prst="rect">
            <a:avLst/>
          </a:prstGeom>
          <a:solidFill>
            <a:srgbClr val="17375E"/>
          </a:solidFill>
          <a:ln>
            <a:noFill/>
          </a:ln>
        </p:spPr>
        <p:txBody>
          <a:bodyPr anchor="ctr"/>
          <a:lstStyle/>
          <a:p>
            <a:pPr algn="ctr"/>
            <a:r>
              <a:rPr lang="de-DE" sz="900" b="1" dirty="0">
                <a:solidFill>
                  <a:srgbClr val="FFFFFF"/>
                </a:solidFill>
              </a:rPr>
              <a:t>Seitentabelle</a:t>
            </a:r>
          </a:p>
        </p:txBody>
      </p:sp>
      <p:sp>
        <p:nvSpPr>
          <p:cNvPr id="12" name="hphys"/>
          <p:cNvSpPr/>
          <p:nvPr/>
        </p:nvSpPr>
        <p:spPr>
          <a:xfrm>
            <a:off x="6634940" y="1193800"/>
            <a:ext cx="1168400" cy="355600"/>
          </a:xfrm>
          <a:prstGeom prst="rect">
            <a:avLst/>
          </a:prstGeom>
          <a:solidFill>
            <a:srgbClr val="17375E"/>
          </a:solidFill>
          <a:ln>
            <a:noFill/>
          </a:ln>
        </p:spPr>
        <p:txBody>
          <a:bodyPr anchor="ctr"/>
          <a:lstStyle/>
          <a:p>
            <a:pPr algn="ctr"/>
            <a:r>
              <a:rPr lang="de-DE" sz="900" b="1" dirty="0">
                <a:solidFill>
                  <a:srgbClr val="FFFFFF"/>
                </a:solidFill>
              </a:rPr>
              <a:t>Physischer Adressraum</a:t>
            </a:r>
          </a:p>
        </p:txBody>
      </p:sp>
    </p:spTree>
    <p:extLst>
      <p:ext uri="{BB962C8B-B14F-4D97-AF65-F5344CB8AC3E}">
        <p14:creationId xmlns:p14="http://schemas.microsoft.com/office/powerpoint/2010/main" val="6604942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ARTUR@ADJTKIKJTTW835ML" val="31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keano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keanos">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solidFill>
          <a:srgbClr val="92D05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headEnd type="none" w="med" len="med"/>
          <a:tailEnd type="arrow" w="med" len="med"/>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C5F5BF-F670-4491-818C-0DE8EE99920D}">
  <we:reference id="wa200010001" version="1.0.0.1" store="en-US" storeType="OMEX"/>
  <we:alternateReferences>
    <we:reference id="wa200010001" version="1.0.0.1" store="en-US" storeType="OMEX"/>
  </we:alternateReferences>
  <we:properties>
    <we:property name="claude.fileId" value="&quot;f5258235-5fda-4672-aad4-9bf6ca715f6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Origin</Template>
  <TotalTime>0</TotalTime>
  <Words>2865</Words>
  <Application>Microsoft Office PowerPoint</Application>
  <PresentationFormat>Bildschirmpräsentation (4:3)</PresentationFormat>
  <Paragraphs>579</Paragraphs>
  <Slides>39</Slides>
  <Notes>24</Notes>
  <HiddenSlides>1</HiddenSlides>
  <MMClips>2</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39</vt:i4>
      </vt:variant>
    </vt:vector>
  </HeadingPairs>
  <TitlesOfParts>
    <vt:vector size="46" baseType="lpstr">
      <vt:lpstr>Arial</vt:lpstr>
      <vt:lpstr>Calibri</vt:lpstr>
      <vt:lpstr>Helvetica</vt:lpstr>
      <vt:lpstr>Symbol</vt:lpstr>
      <vt:lpstr>Wingdings</vt:lpstr>
      <vt:lpstr>Wingdings 3</vt:lpstr>
      <vt:lpstr>Okeanos</vt:lpstr>
      <vt:lpstr>Betriebssysteme und Netzwerke Vorlesung 9</vt:lpstr>
      <vt:lpstr>Paging - Grundkonzepte</vt:lpstr>
      <vt:lpstr>Löcher vs. Zusammenhängender Adressraum</vt:lpstr>
      <vt:lpstr>Lösung: Adressenübersetzung in Blöcken</vt:lpstr>
      <vt:lpstr>Begriffe: Seiten, Rahmen, Paging</vt:lpstr>
      <vt:lpstr>Begriffe: Seitenindex und Rahmenindex</vt:lpstr>
      <vt:lpstr>Paging - Grundkonzepte</vt:lpstr>
      <vt:lpstr>Beispiel: Seitengröße 10 Bytes</vt:lpstr>
      <vt:lpstr>Beispiel: Seitengröße 10 Bytes</vt:lpstr>
      <vt:lpstr>Übung: Seitengröße 10 Bytes</vt:lpstr>
      <vt:lpstr>Adressenübersetzung mit Zweierpotenzen/1</vt:lpstr>
      <vt:lpstr>Adressenübersetzung mit Zweierpotenzen/2</vt:lpstr>
      <vt:lpstr>Paging durch Direkte Seitentabellen</vt:lpstr>
      <vt:lpstr>Adressübersetzung durch eine Seitentabelle</vt:lpstr>
      <vt:lpstr>Adressübersetzung durch Seitentabelle /2</vt:lpstr>
      <vt:lpstr>Direkte (d.h. “Normale”) Seitentabellen</vt:lpstr>
      <vt:lpstr>Adressübersetzung mit Fpid(p) = f</vt:lpstr>
      <vt:lpstr>Zusammenfassung Addressübersetzung</vt:lpstr>
      <vt:lpstr>Video: Page Tables</vt:lpstr>
      <vt:lpstr>Was ist Korrekt? (Moderne BS)</vt:lpstr>
      <vt:lpstr>Paging –  Geschwindigkeit der Übersetzung</vt:lpstr>
      <vt:lpstr>Seitentabellen – wo befinden sie sich?</vt:lpstr>
      <vt:lpstr>Die Seitentabelle im Hauptspeicher</vt:lpstr>
      <vt:lpstr>Beschleunigen der Adressenübersetzung</vt:lpstr>
      <vt:lpstr>TLB – Umsetzung in Hardware</vt:lpstr>
      <vt:lpstr>TLB – Umsetzung in Software</vt:lpstr>
      <vt:lpstr>Effektive Zugriffszeit</vt:lpstr>
      <vt:lpstr>Paging – Weitere Aspekte</vt:lpstr>
      <vt:lpstr>Paging und Fragmentierung</vt:lpstr>
      <vt:lpstr>Hat jeder Prozess eine eigene Seitentabelle?</vt:lpstr>
      <vt:lpstr>Paging und Prozesse</vt:lpstr>
      <vt:lpstr>Gemeinsam Benutzte Seiten (Shared Pages)</vt:lpstr>
      <vt:lpstr>Danke schön.</vt:lpstr>
      <vt:lpstr>Zusammenfassung</vt:lpstr>
      <vt:lpstr>Zusätzliche Folien Speicherverwaltung</vt:lpstr>
      <vt:lpstr>Kompilieren und Laden eines Programms </vt:lpstr>
      <vt:lpstr>Möglichkeiten der Adressanpassung</vt:lpstr>
      <vt:lpstr>Video Externe vs. Interne Fragmentierung</vt:lpstr>
      <vt:lpstr>Adressübersetzung mit Seitentabelle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 Betriebssysteme und Netzwerke</dc:title>
  <dc:creator>Artur Andrzejak</dc:creator>
  <cp:lastModifiedBy>Artur Andrzejak</cp:lastModifiedBy>
  <cp:revision>1937</cp:revision>
  <cp:lastPrinted>2025-05-14T10:56:13Z</cp:lastPrinted>
  <dcterms:created xsi:type="dcterms:W3CDTF">2009-04-16T23:00:57Z</dcterms:created>
  <dcterms:modified xsi:type="dcterms:W3CDTF">2026-05-11T10:51:24Z</dcterms:modified>
</cp:coreProperties>
</file>