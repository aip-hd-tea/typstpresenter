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wmf" ContentType="image/x-wmf"/>
  <Default Extension="xml" ContentType="application/xml"/>
  <Override PartName="/docProps/app.xml" ContentType="application/vnd.openxmlformats-officedocument.extended-properties+xml"/>
  <Override PartName="/docProps/core.xml" ContentType="application/vnd.openxmlformats-package.core-properties+xml"/>
  <Override PartName="/ppt/embeddings/oleObject1.bin" ContentType="application/vnd.openxmlformats-officedocument.oleObject"/>
  <Override PartName="/ppt/embeddings/oleObject10.bin" ContentType="application/vnd.openxmlformats-officedocument.oleObject"/>
  <Override PartName="/ppt/embeddings/oleObject11.bin" ContentType="application/vnd.openxmlformats-officedocument.oleObject"/>
  <Override PartName="/ppt/embeddings/oleObject12.bin" ContentType="application/vnd.openxmlformats-officedocument.oleObject"/>
  <Override PartName="/ppt/embeddings/oleObject13.bin" ContentType="application/vnd.openxmlformats-officedocument.oleObject"/>
  <Override PartName="/ppt/embeddings/oleObject2.bin" ContentType="application/vnd.openxmlformats-officedocument.oleObject"/>
  <Override PartName="/ppt/embeddings/oleObject3.bin" ContentType="application/vnd.openxmlformats-officedocument.oleObject"/>
  <Override PartName="/ppt/embeddings/oleObject4.bin" ContentType="application/vnd.openxmlformats-officedocument.oleObject"/>
  <Override PartName="/ppt/embeddings/oleObject5.bin" ContentType="application/vnd.openxmlformats-officedocument.oleObject"/>
  <Override PartName="/ppt/embeddings/oleObject6.bin" ContentType="application/vnd.openxmlformats-officedocument.oleObject"/>
  <Override PartName="/ppt/embeddings/oleObject7.bin" ContentType="application/vnd.openxmlformats-officedocument.oleObject"/>
  <Override PartName="/ppt/embeddings/oleObject8.bin" ContentType="application/vnd.openxmlformats-officedocument.oleObject"/>
  <Override PartName="/ppt/embeddings/oleObject9.bin" ContentType="application/vnd.openxmlformats-officedocument.oleObject"/>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84" r:id="rId1"/>
  </p:sldMasterIdLst>
  <p:notesMasterIdLst>
    <p:notesMasterId r:id="rId36"/>
  </p:notesMasterIdLst>
  <p:handoutMasterIdLst>
    <p:handoutMasterId r:id="rId37"/>
  </p:handoutMasterIdLst>
  <p:sldIdLst>
    <p:sldId id="1687" r:id="rId31"/>
  </p:sldIdLst>
  <p:sldSz cx="9144000" cy="6858000" type="screen4x3"/>
  <p:notesSz cx="7104063" cy="10234613"/>
  <p:custDataLst>
    <p:tags r:id="rId38"/>
  </p:custDataLst>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102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0070C0"/>
    </p:penClr>
    <p:extLst>
      <p:ext uri="{EC167BDD-8182-4AB7-AECC-EB403E3ABB37}">
        <p14:laserClr xmlns:p14="http://schemas.microsoft.com/office/powerpoint/2010/main">
          <a:srgbClr val="00FF00"/>
        </p14:laserClr>
      </p:ext>
      <p:ext uri="{2FDB2607-1784-4EEB-B798-7EB5836EED8A}">
        <p14:showMediaCtrls xmlns:p14="http://schemas.microsoft.com/office/powerpoint/2010/main" val="1"/>
      </p:ext>
    </p:extLst>
  </p:showPr>
  <p:clrMru>
    <a:srgbClr val="FFC000"/>
    <a:srgbClr val="FF0000"/>
    <a:srgbClr val="AC8300"/>
    <a:srgbClr val="00B050"/>
    <a:srgbClr val="F22E33"/>
    <a:srgbClr val="004376"/>
    <a:srgbClr val="B40000"/>
    <a:srgbClr val="80808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8D230F3-CF80-4859-8CE7-A43EE81993B5}" styleName="Helle Formatvorlage 1 - Akz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93296810-A885-4BE3-A3E7-6D5BEEA58F35}" styleName="Mittlere Formatvorlage 2 - Akz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21E4AEA4-8DFA-4A89-87EB-49C32662AFE0}" styleName="Mittlere Formatvorlage 2 - Akz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2D5ABB26-0587-4C30-8999-92F81FD0307C}" styleName="Keine Formatvorlage, kein Gitternetz">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72833802-FEF1-4C79-8D5D-14CF1EAF98D9}" styleName="Helle Formatvorlage 2 - Akz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0E3FDE45-AF77-4B5C-9715-49D594BDF05E}" styleName="Helle Formatvorlage 1 - Akz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10A1B5D5-9B99-4C35-A422-299274C87663}" styleName="Mittlere Formatvorlage 1 - Akz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125E5076-3810-47DD-B79F-674D7AD40C01}" styleName="Dunkle Formatvorlage 1 - Akzent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00A15C55-8517-42AA-B614-E9B94910E393}" styleName="Mittlere Formatvorlage 2 - Akz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69CF1AB2-1976-4502-BF36-3FF5EA218861}" styleName="Mittlere Formatvorlage 4 - Akz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SorterView">
  <p:normalViewPr vertBarState="maximized">
    <p:restoredLeft sz="15492" autoAdjust="0"/>
    <p:restoredTop sz="95749" autoAdjust="0"/>
  </p:normalViewPr>
  <p:slideViewPr>
    <p:cSldViewPr>
      <p:cViewPr varScale="1">
        <p:scale>
          <a:sx n="70" d="100"/>
          <a:sy n="70" d="100"/>
        </p:scale>
        <p:origin x="476" y="52"/>
      </p:cViewPr>
      <p:guideLst>
        <p:guide orient="horz" pos="2160"/>
        <p:guide pos="1020"/>
      </p:guideLst>
    </p:cSldViewPr>
  </p:slideViewPr>
  <p:notesTextViewPr>
    <p:cViewPr>
      <p:scale>
        <a:sx n="3" d="2"/>
        <a:sy n="3" d="2"/>
      </p:scale>
      <p:origin x="0" y="0"/>
    </p:cViewPr>
  </p:notesTextViewPr>
  <p:sorterViewPr>
    <p:cViewPr>
      <p:scale>
        <a:sx n="101" d="100"/>
        <a:sy n="101" d="100"/>
      </p:scale>
      <p:origin x="0" y="-9532"/>
    </p:cViewPr>
  </p:sorter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notesMaster" Target="notesMasters/notesMaster1.xml"/><Relationship Id="rId37" Type="http://schemas.openxmlformats.org/officeDocument/2006/relationships/handoutMaster" Target="handoutMasters/handoutMaster1.xml"/><Relationship Id="rId38" Type="http://schemas.openxmlformats.org/officeDocument/2006/relationships/tags" Target="tags/tag1.xml"/><Relationship Id="rId39" Type="http://schemas.openxmlformats.org/officeDocument/2006/relationships/presProps" Target="presProps.xml"/><Relationship Id="rId40" Type="http://schemas.openxmlformats.org/officeDocument/2006/relationships/viewProps" Target="viewProps.xml"/><Relationship Id="rId41" Type="http://schemas.openxmlformats.org/officeDocument/2006/relationships/theme" Target="theme/theme1.xml"/><Relationship Id="rId42"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2" y="3"/>
            <a:ext cx="3078427" cy="511731"/>
          </a:xfrm>
          <a:prstGeom prst="rect">
            <a:avLst/>
          </a:prstGeom>
        </p:spPr>
        <p:txBody>
          <a:bodyPr vert="horz" lIns="95489" tIns="47744" rIns="95489" bIns="47744" rtlCol="0"/>
          <a:lstStyle>
            <a:lvl1pPr algn="l">
              <a:defRPr sz="1400"/>
            </a:lvl1pPr>
          </a:lstStyle>
          <a:p>
            <a:endParaRPr lang="de-DE" dirty="0"/>
          </a:p>
        </p:txBody>
      </p:sp>
      <p:sp>
        <p:nvSpPr>
          <p:cNvPr id="3" name="Datumsplatzhalter 2"/>
          <p:cNvSpPr>
            <a:spLocks noGrp="1"/>
          </p:cNvSpPr>
          <p:nvPr>
            <p:ph type="dt" sz="quarter" idx="1"/>
          </p:nvPr>
        </p:nvSpPr>
        <p:spPr>
          <a:xfrm>
            <a:off x="4023994" y="3"/>
            <a:ext cx="3078427" cy="511731"/>
          </a:xfrm>
          <a:prstGeom prst="rect">
            <a:avLst/>
          </a:prstGeom>
        </p:spPr>
        <p:txBody>
          <a:bodyPr vert="horz" lIns="95489" tIns="47744" rIns="95489" bIns="47744" rtlCol="0"/>
          <a:lstStyle>
            <a:lvl1pPr algn="r">
              <a:defRPr sz="1400"/>
            </a:lvl1pPr>
          </a:lstStyle>
          <a:p>
            <a:fld id="{503D259A-BC5A-44A4-AF17-09BFC30AC7B9}" type="datetimeFigureOut">
              <a:rPr lang="de-DE" smtClean="0"/>
              <a:pPr/>
              <a:t>24.06.2026</a:t>
            </a:fld>
            <a:endParaRPr lang="de-DE" dirty="0"/>
          </a:p>
        </p:txBody>
      </p:sp>
      <p:sp>
        <p:nvSpPr>
          <p:cNvPr id="4" name="Fußzeilenplatzhalter 3"/>
          <p:cNvSpPr>
            <a:spLocks noGrp="1"/>
          </p:cNvSpPr>
          <p:nvPr>
            <p:ph type="ftr" sz="quarter" idx="2"/>
          </p:nvPr>
        </p:nvSpPr>
        <p:spPr>
          <a:xfrm>
            <a:off x="2" y="9721110"/>
            <a:ext cx="3078427" cy="511731"/>
          </a:xfrm>
          <a:prstGeom prst="rect">
            <a:avLst/>
          </a:prstGeom>
        </p:spPr>
        <p:txBody>
          <a:bodyPr vert="horz" lIns="95489" tIns="47744" rIns="95489" bIns="47744" rtlCol="0" anchor="b"/>
          <a:lstStyle>
            <a:lvl1pPr algn="l">
              <a:defRPr sz="1400"/>
            </a:lvl1pPr>
          </a:lstStyle>
          <a:p>
            <a:endParaRPr lang="de-DE" dirty="0"/>
          </a:p>
        </p:txBody>
      </p:sp>
      <p:sp>
        <p:nvSpPr>
          <p:cNvPr id="5" name="Foliennummernplatzhalter 4"/>
          <p:cNvSpPr>
            <a:spLocks noGrp="1"/>
          </p:cNvSpPr>
          <p:nvPr>
            <p:ph type="sldNum" sz="quarter" idx="3"/>
          </p:nvPr>
        </p:nvSpPr>
        <p:spPr>
          <a:xfrm>
            <a:off x="4023994" y="9721110"/>
            <a:ext cx="3078427" cy="511731"/>
          </a:xfrm>
          <a:prstGeom prst="rect">
            <a:avLst/>
          </a:prstGeom>
        </p:spPr>
        <p:txBody>
          <a:bodyPr vert="horz" lIns="95489" tIns="47744" rIns="95489" bIns="47744" rtlCol="0" anchor="b"/>
          <a:lstStyle>
            <a:lvl1pPr algn="r">
              <a:defRPr sz="1400"/>
            </a:lvl1pPr>
          </a:lstStyle>
          <a:p>
            <a:fld id="{69916C2F-BC73-49DB-9119-EC35D25111C2}" type="slidenum">
              <a:rPr lang="de-DE" smtClean="0"/>
              <a:pPr/>
              <a:t>‹Nr.›</a:t>
            </a:fld>
            <a:endParaRPr lang="de-DE" dirty="0"/>
          </a:p>
        </p:txBody>
      </p:sp>
    </p:spTree>
    <p:extLst>
      <p:ext uri="{BB962C8B-B14F-4D97-AF65-F5344CB8AC3E}">
        <p14:creationId xmlns:p14="http://schemas.microsoft.com/office/powerpoint/2010/main" val="77278913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2" y="3"/>
            <a:ext cx="3078427" cy="511731"/>
          </a:xfrm>
          <a:prstGeom prst="rect">
            <a:avLst/>
          </a:prstGeom>
        </p:spPr>
        <p:txBody>
          <a:bodyPr vert="horz" lIns="95489" tIns="47744" rIns="95489" bIns="47744" rtlCol="0"/>
          <a:lstStyle>
            <a:lvl1pPr algn="l">
              <a:defRPr sz="1400"/>
            </a:lvl1pPr>
          </a:lstStyle>
          <a:p>
            <a:endParaRPr lang="en-US" dirty="0"/>
          </a:p>
        </p:txBody>
      </p:sp>
      <p:sp>
        <p:nvSpPr>
          <p:cNvPr id="3" name="Datumsplatzhalter 2"/>
          <p:cNvSpPr>
            <a:spLocks noGrp="1"/>
          </p:cNvSpPr>
          <p:nvPr>
            <p:ph type="dt" idx="1"/>
          </p:nvPr>
        </p:nvSpPr>
        <p:spPr>
          <a:xfrm>
            <a:off x="4023994" y="3"/>
            <a:ext cx="3078427" cy="511731"/>
          </a:xfrm>
          <a:prstGeom prst="rect">
            <a:avLst/>
          </a:prstGeom>
        </p:spPr>
        <p:txBody>
          <a:bodyPr vert="horz" lIns="95489" tIns="47744" rIns="95489" bIns="47744" rtlCol="0"/>
          <a:lstStyle>
            <a:lvl1pPr algn="r">
              <a:defRPr sz="1400"/>
            </a:lvl1pPr>
          </a:lstStyle>
          <a:p>
            <a:fld id="{4007A66C-EE28-4ADD-A611-42716BED3A40}" type="datetimeFigureOut">
              <a:rPr lang="en-US" smtClean="0"/>
              <a:pPr/>
              <a:t>6/24/2026</a:t>
            </a:fld>
            <a:endParaRPr lang="en-US" dirty="0"/>
          </a:p>
        </p:txBody>
      </p:sp>
      <p:sp>
        <p:nvSpPr>
          <p:cNvPr id="4" name="Folienbildplatzhalter 3"/>
          <p:cNvSpPr>
            <a:spLocks noGrp="1" noRot="1" noChangeAspect="1"/>
          </p:cNvSpPr>
          <p:nvPr>
            <p:ph type="sldImg" idx="2"/>
          </p:nvPr>
        </p:nvSpPr>
        <p:spPr>
          <a:xfrm>
            <a:off x="992188" y="766763"/>
            <a:ext cx="5119687" cy="3838575"/>
          </a:xfrm>
          <a:prstGeom prst="rect">
            <a:avLst/>
          </a:prstGeom>
          <a:noFill/>
          <a:ln w="12700">
            <a:solidFill>
              <a:prstClr val="black"/>
            </a:solidFill>
          </a:ln>
        </p:spPr>
        <p:txBody>
          <a:bodyPr vert="horz" lIns="95489" tIns="47744" rIns="95489" bIns="47744" rtlCol="0" anchor="ctr"/>
          <a:lstStyle/>
          <a:p>
            <a:endParaRPr lang="en-US" dirty="0"/>
          </a:p>
        </p:txBody>
      </p:sp>
      <p:sp>
        <p:nvSpPr>
          <p:cNvPr id="5" name="Notizenplatzhalter 4"/>
          <p:cNvSpPr>
            <a:spLocks noGrp="1"/>
          </p:cNvSpPr>
          <p:nvPr>
            <p:ph type="body" sz="quarter" idx="3"/>
          </p:nvPr>
        </p:nvSpPr>
        <p:spPr>
          <a:xfrm>
            <a:off x="710410" y="4861442"/>
            <a:ext cx="5683249" cy="4605574"/>
          </a:xfrm>
          <a:prstGeom prst="rect">
            <a:avLst/>
          </a:prstGeom>
        </p:spPr>
        <p:txBody>
          <a:bodyPr vert="horz" lIns="95489" tIns="47744" rIns="95489" bIns="47744" rtlCol="0">
            <a:normAutofit/>
          </a:bodyPr>
          <a:lstStyle/>
          <a:p>
            <a:pPr lvl="0"/>
            <a:r>
              <a:rPr lang="de-DE"/>
              <a:t>Textmasterformate durch Klicken bearbeiten</a:t>
            </a:r>
          </a:p>
          <a:p>
            <a:pPr lvl="1"/>
            <a:r>
              <a:rPr lang="de-DE"/>
              <a:t>Zweite Ebene</a:t>
            </a:r>
          </a:p>
          <a:p>
            <a:pPr lvl="2"/>
            <a:r>
              <a:rPr lang="de-DE"/>
              <a:t>Dritte Ebene</a:t>
            </a:r>
          </a:p>
          <a:p>
            <a:pPr lvl="3"/>
            <a:r>
              <a:rPr lang="de-DE"/>
              <a:t>Vierte Ebene</a:t>
            </a:r>
          </a:p>
          <a:p>
            <a:pPr lvl="4"/>
            <a:r>
              <a:rPr lang="de-DE"/>
              <a:t>Fünfte Ebene</a:t>
            </a:r>
            <a:endParaRPr lang="en-US"/>
          </a:p>
        </p:txBody>
      </p:sp>
      <p:sp>
        <p:nvSpPr>
          <p:cNvPr id="6" name="Fußzeilenplatzhalter 5"/>
          <p:cNvSpPr>
            <a:spLocks noGrp="1"/>
          </p:cNvSpPr>
          <p:nvPr>
            <p:ph type="ftr" sz="quarter" idx="4"/>
          </p:nvPr>
        </p:nvSpPr>
        <p:spPr>
          <a:xfrm>
            <a:off x="2" y="9721110"/>
            <a:ext cx="3078427" cy="511731"/>
          </a:xfrm>
          <a:prstGeom prst="rect">
            <a:avLst/>
          </a:prstGeom>
        </p:spPr>
        <p:txBody>
          <a:bodyPr vert="horz" lIns="95489" tIns="47744" rIns="95489" bIns="47744" rtlCol="0" anchor="b"/>
          <a:lstStyle>
            <a:lvl1pPr algn="l">
              <a:defRPr sz="1400"/>
            </a:lvl1pPr>
          </a:lstStyle>
          <a:p>
            <a:endParaRPr lang="en-US" dirty="0"/>
          </a:p>
        </p:txBody>
      </p:sp>
      <p:sp>
        <p:nvSpPr>
          <p:cNvPr id="7" name="Foliennummernplatzhalter 6"/>
          <p:cNvSpPr>
            <a:spLocks noGrp="1"/>
          </p:cNvSpPr>
          <p:nvPr>
            <p:ph type="sldNum" sz="quarter" idx="5"/>
          </p:nvPr>
        </p:nvSpPr>
        <p:spPr>
          <a:xfrm>
            <a:off x="4023994" y="9721110"/>
            <a:ext cx="3078427" cy="511731"/>
          </a:xfrm>
          <a:prstGeom prst="rect">
            <a:avLst/>
          </a:prstGeom>
        </p:spPr>
        <p:txBody>
          <a:bodyPr vert="horz" lIns="95489" tIns="47744" rIns="95489" bIns="47744" rtlCol="0" anchor="b"/>
          <a:lstStyle>
            <a:lvl1pPr algn="r">
              <a:defRPr sz="1400"/>
            </a:lvl1pPr>
          </a:lstStyle>
          <a:p>
            <a:fld id="{6D176CDC-8D0E-409F-856B-BAE38288A8E4}" type="slidenum">
              <a:rPr lang="en-US" smtClean="0"/>
              <a:pPr/>
              <a:t>‹Nr.›</a:t>
            </a:fld>
            <a:endParaRPr lang="en-US" dirty="0"/>
          </a:p>
        </p:txBody>
      </p:sp>
    </p:spTree>
    <p:extLst>
      <p:ext uri="{BB962C8B-B14F-4D97-AF65-F5344CB8AC3E}">
        <p14:creationId xmlns:p14="http://schemas.microsoft.com/office/powerpoint/2010/main" val="106050894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 Id="rId3" Type="http://schemas.openxmlformats.org/officeDocument/2006/relationships/hyperlink" Target="http://acc6.its.brooklyn.cuny.edu/~gurwitz/core5/nav2tool.html" TargetMode="Externa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47500" lnSpcReduction="20000"/>
          </a:bodyPr>
          <a:lstStyle/>
          <a:p>
            <a:pPr marL="0" marR="0" indent="0" algn="l" defTabSz="914400" rtl="0" eaLnBrk="1" fontAlgn="auto" latinLnBrk="0" hangingPunct="1">
              <a:lnSpc>
                <a:spcPct val="100000"/>
              </a:lnSpc>
              <a:spcBef>
                <a:spcPts val="0"/>
              </a:spcBef>
              <a:spcAft>
                <a:spcPts val="0"/>
              </a:spcAft>
              <a:buClrTx/>
              <a:buSzTx/>
              <a:buFontTx/>
              <a:buNone/>
              <a:tabLst/>
              <a:defRPr/>
            </a:pPr>
            <a:r>
              <a:rPr lang="de-DE" sz="1200" b="0" i="0" u="none" strike="noStrike" kern="1200" baseline="0" dirty="0">
                <a:solidFill>
                  <a:schemeClr val="tx1"/>
                </a:solidFill>
                <a:latin typeface="+mn-lt"/>
                <a:ea typeface="+mn-ea"/>
                <a:cs typeface="+mn-cs"/>
              </a:rPr>
              <a:t>Die Gesamtheit der Protokolle der verschiedenen Schichten wird als Protokollstapel </a:t>
            </a:r>
            <a:r>
              <a:rPr lang="de-DE" sz="1200" b="0" i="1" u="none" strike="noStrike" kern="1200" baseline="0" dirty="0">
                <a:solidFill>
                  <a:schemeClr val="tx1"/>
                </a:solidFill>
                <a:latin typeface="+mn-lt"/>
                <a:ea typeface="+mn-ea"/>
                <a:cs typeface="+mn-cs"/>
              </a:rPr>
              <a:t>(protocol stack) </a:t>
            </a:r>
            <a:r>
              <a:rPr lang="de-DE" sz="1200" b="0" i="0" u="none" strike="noStrike" kern="1200" baseline="0" dirty="0">
                <a:solidFill>
                  <a:schemeClr val="tx1"/>
                </a:solidFill>
                <a:latin typeface="+mn-lt"/>
                <a:ea typeface="+mn-ea"/>
                <a:cs typeface="+mn-cs"/>
              </a:rPr>
              <a:t>bezeichnet. Wie in  Abbildung  gezeigt, besteht der Internet Pro-tokollstapel aus fünf Schichten: Bitübertragungsschicht, Sicherungsschicht, Netzwerkschicht, Transportschicht und Anwendungsschicht. Betrachten Sie das Inhalts-verzeichnis, werden Sie feststellen, dass wir dieses Buch mithilfe der Schichten des Internet-Protokollstapels strukturiert haben. Mit unserem Top-Down-Ansatz beginnen wir bei der Anwendungsschicht und dringen von dort aus tiefer vor. </a:t>
            </a:r>
          </a:p>
          <a:p>
            <a:pPr marL="0" marR="0" indent="0" algn="l" defTabSz="914400" rtl="0" eaLnBrk="1" fontAlgn="auto" latinLnBrk="0" hangingPunct="1">
              <a:lnSpc>
                <a:spcPct val="100000"/>
              </a:lnSpc>
              <a:spcBef>
                <a:spcPts val="0"/>
              </a:spcBef>
              <a:spcAft>
                <a:spcPts val="0"/>
              </a:spcAft>
              <a:buClrTx/>
              <a:buSzTx/>
              <a:buFontTx/>
              <a:buNone/>
              <a:tabLst/>
              <a:defRPr/>
            </a:pPr>
            <a:endParaRPr lang="de-DE" sz="1200" b="0" i="0" u="none" strike="noStrike" kern="1200" baseline="0" dirty="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de-DE" sz="1200" b="0" i="0" u="none" strike="noStrike" kern="1200" baseline="0" dirty="0">
                <a:solidFill>
                  <a:schemeClr val="tx1"/>
                </a:solidFill>
                <a:latin typeface="+mn-lt"/>
                <a:ea typeface="+mn-ea"/>
                <a:cs typeface="+mn-cs"/>
              </a:rPr>
              <a:t>Eine Protokollschicht kann in Software, in Hardware oder in einer Kombination der beiden implementiert werden. Protokolle der Anwendungsschicht </a:t>
            </a:r>
            <a:r>
              <a:rPr lang="de-DE" sz="1200" b="0" i="1" u="none" strike="noStrike" kern="1200" baseline="0" dirty="0">
                <a:solidFill>
                  <a:schemeClr val="tx1"/>
                </a:solidFill>
                <a:latin typeface="+mn-lt"/>
                <a:ea typeface="+mn-ea"/>
                <a:cs typeface="+mn-cs"/>
              </a:rPr>
              <a:t>(application layer)- </a:t>
            </a:r>
            <a:r>
              <a:rPr lang="de-DE" sz="1200" b="0" i="0" u="none" strike="noStrike" kern="1200" baseline="0" dirty="0">
                <a:solidFill>
                  <a:schemeClr val="tx1"/>
                </a:solidFill>
                <a:latin typeface="+mn-lt"/>
                <a:ea typeface="+mn-ea"/>
                <a:cs typeface="+mn-cs"/>
              </a:rPr>
              <a:t>wie HTTP und SMTP - sind fast immer in der Software der Endsysteme untergebracht, genauso wie die Protokolle der Transportschicht </a:t>
            </a:r>
            <a:r>
              <a:rPr lang="de-DE" sz="1200" b="0" i="1" u="none" strike="noStrike" kern="1200" baseline="0" dirty="0">
                <a:solidFill>
                  <a:schemeClr val="tx1"/>
                </a:solidFill>
                <a:latin typeface="+mn-lt"/>
                <a:ea typeface="+mn-ea"/>
                <a:cs typeface="+mn-cs"/>
              </a:rPr>
              <a:t>(transport layer). </a:t>
            </a:r>
            <a:r>
              <a:rPr lang="de-DE" sz="1200" b="0" i="0" u="none" strike="noStrike" kern="1200" baseline="0" dirty="0">
                <a:solidFill>
                  <a:schemeClr val="tx1"/>
                </a:solidFill>
                <a:latin typeface="+mn-lt"/>
                <a:ea typeface="+mn-ea"/>
                <a:cs typeface="+mn-cs"/>
              </a:rPr>
              <a:t>Weil die Bitübertragungsschicht </a:t>
            </a:r>
            <a:r>
              <a:rPr lang="de-DE" sz="1200" b="0" i="1" u="none" strike="noStrike" kern="1200" baseline="0" dirty="0">
                <a:solidFill>
                  <a:schemeClr val="tx1"/>
                </a:solidFill>
                <a:latin typeface="+mn-lt"/>
                <a:ea typeface="+mn-ea"/>
                <a:cs typeface="+mn-cs"/>
              </a:rPr>
              <a:t>(physical layer) </a:t>
            </a:r>
            <a:r>
              <a:rPr lang="de-DE" sz="1200" b="0" i="0" u="none" strike="noStrike" kern="1200" baseline="0" dirty="0">
                <a:solidFill>
                  <a:schemeClr val="tx1"/>
                </a:solidFill>
                <a:latin typeface="+mn-lt"/>
                <a:ea typeface="+mn-ea"/>
                <a:cs typeface="+mn-cs"/>
              </a:rPr>
              <a:t>und die Sicherungsschicht </a:t>
            </a:r>
            <a:r>
              <a:rPr lang="de-DE" sz="1200" b="0" i="1" u="none" strike="noStrike" kern="1200" baseline="0" dirty="0">
                <a:solidFill>
                  <a:schemeClr val="tx1"/>
                </a:solidFill>
                <a:latin typeface="+mn-lt"/>
                <a:ea typeface="+mn-ea"/>
                <a:cs typeface="+mn-cs"/>
              </a:rPr>
              <a:t>{data link layer) </a:t>
            </a:r>
            <a:r>
              <a:rPr lang="de-DE" sz="1200" b="0" i="0" u="none" strike="noStrike" kern="1200" baseline="0" dirty="0">
                <a:solidFill>
                  <a:schemeClr val="tx1"/>
                </a:solidFill>
                <a:latin typeface="+mn-lt"/>
                <a:ea typeface="+mn-ea"/>
                <a:cs typeface="+mn-cs"/>
              </a:rPr>
              <a:t>für die Kommunikation über eine bestimmte Leitungsart verantwortlich sind, werden sie normalerweise in einer Netzwerkkarte untergebracht, die für eine bestimmte Leitungsart geeignet ist (zum Beispiel Ethernet- oder WLAN-Netzwerkkarten). Die Netzwerkschicht </a:t>
            </a:r>
            <a:r>
              <a:rPr lang="de-DE" sz="1200" b="0" i="1" u="none" strike="noStrike" kern="1200" baseline="0" dirty="0">
                <a:solidFill>
                  <a:schemeClr val="tx1"/>
                </a:solidFill>
                <a:latin typeface="+mn-lt"/>
                <a:ea typeface="+mn-ea"/>
                <a:cs typeface="+mn-cs"/>
              </a:rPr>
              <a:t>(network layer) </a:t>
            </a:r>
            <a:r>
              <a:rPr lang="de-DE" sz="1200" b="0" i="0" u="none" strike="noStrike" kern="1200" baseline="0" dirty="0">
                <a:solidFill>
                  <a:schemeClr val="tx1"/>
                </a:solidFill>
                <a:latin typeface="+mn-lt"/>
                <a:ea typeface="+mn-ea"/>
                <a:cs typeface="+mn-cs"/>
              </a:rPr>
              <a:t>ist oft eine Mischung aus Hardware und Software. </a:t>
            </a:r>
          </a:p>
          <a:p>
            <a:endParaRPr lang="de-DE" dirty="0"/>
          </a:p>
          <a:p>
            <a:r>
              <a:rPr lang="de-DE" dirty="0"/>
              <a:t>--------------</a:t>
            </a:r>
          </a:p>
          <a:p>
            <a:r>
              <a:rPr lang="de-DE" sz="1200" b="1" i="0" u="none" strike="noStrike" kern="1200" baseline="0" dirty="0">
                <a:solidFill>
                  <a:schemeClr val="tx1"/>
                </a:solidFill>
                <a:latin typeface="+mn-lt"/>
                <a:ea typeface="+mn-ea"/>
                <a:cs typeface="+mn-cs"/>
              </a:rPr>
              <a:t>Anwendungsschicht </a:t>
            </a:r>
            <a:r>
              <a:rPr lang="de-DE" sz="1200" b="0" i="0" u="none" strike="noStrike" kern="1200" baseline="0" dirty="0">
                <a:solidFill>
                  <a:schemeClr val="tx1"/>
                </a:solidFill>
                <a:latin typeface="+mn-lt"/>
                <a:ea typeface="+mn-ea"/>
                <a:cs typeface="+mn-cs"/>
              </a:rPr>
              <a:t>In der Anwendungsschicht sind Netzanwendungen und ihre Protokolle beheimatet. Die Anwendungsschicht des Internets enthält viele Protokolle wie z.B. das HTTP-Pro-tokoll (das die Anforderung und Übertragung von Webdokumenten ermöglicht), SMTP (das die Übertragung von E-Mails steuert) und FTP (für die Übertragung von Dateien zwischen zwei Endsystemen). Wir werden noch sehen, dass bestimmte Netz-werkfunktionen ebenfalls mithilfe eines Anwendungsschicht-Protokolls durchgeführt werden, etwa die Übersetzung von leserfreundlichen Namen für Internetendsysteme wie </a:t>
            </a:r>
            <a:r>
              <a:rPr lang="de-DE" sz="1200" b="0" i="1" u="none" strike="noStrike" kern="1200" baseline="0" dirty="0">
                <a:solidFill>
                  <a:schemeClr val="tx1"/>
                </a:solidFill>
                <a:latin typeface="+mn-lt"/>
                <a:ea typeface="+mn-ea"/>
                <a:cs typeface="+mn-cs"/>
              </a:rPr>
              <a:t>www.ietf.org </a:t>
            </a:r>
            <a:r>
              <a:rPr lang="de-DE" sz="1200" b="0" i="0" u="none" strike="noStrike" kern="1200" baseline="0" dirty="0">
                <a:solidFill>
                  <a:schemeClr val="tx1"/>
                </a:solidFill>
                <a:latin typeface="+mn-lt"/>
                <a:ea typeface="+mn-ea"/>
                <a:cs typeface="+mn-cs"/>
              </a:rPr>
              <a:t>in eine 32 Bit-Netzadresse durch das Domain Name System (DNS). Wir werden in Kapitel 2 erfahren, dass eigene Anwendungsschichtprotokolle sehr einfach erzeugt und eingesetzt werden können. Ein Anwendungsschichtprotokoll verteilt sich über mehrere Endsysteme hinweg, wobei eine Anwendung auf einem Endsystem das Protokoll benutzt, um Informati-onspakete mit Anwendungen auf einem anderen Endsystem auszutauschen. Wir nen-nen dieses Informationspaket der Anwendungsschicht eine Nachricht. </a:t>
            </a:r>
          </a:p>
          <a:p>
            <a:r>
              <a:rPr lang="de-DE" sz="1200" b="0" i="0" u="none" strike="noStrike" kern="1200" baseline="0" dirty="0">
                <a:solidFill>
                  <a:schemeClr val="tx1"/>
                </a:solidFill>
                <a:latin typeface="+mn-lt"/>
                <a:ea typeface="+mn-ea"/>
                <a:cs typeface="+mn-cs"/>
              </a:rPr>
              <a:t>--------------</a:t>
            </a:r>
          </a:p>
          <a:p>
            <a:r>
              <a:rPr lang="de-DE" sz="1200" b="1" i="0" u="none" strike="noStrike" kern="1200" baseline="0" dirty="0">
                <a:solidFill>
                  <a:schemeClr val="tx1"/>
                </a:solidFill>
                <a:latin typeface="+mn-lt"/>
                <a:ea typeface="+mn-ea"/>
                <a:cs typeface="+mn-cs"/>
              </a:rPr>
              <a:t>Transportschicht </a:t>
            </a:r>
            <a:endParaRPr lang="de-DE" sz="1200" b="0" i="0" u="none" strike="noStrike" kern="1200" baseline="0" dirty="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de-DE" sz="1200" b="0" i="0" u="none" strike="noStrike" kern="1200" baseline="0" dirty="0">
                <a:solidFill>
                  <a:schemeClr val="tx1"/>
                </a:solidFill>
                <a:latin typeface="+mn-lt"/>
                <a:ea typeface="+mn-ea"/>
                <a:cs typeface="+mn-cs"/>
              </a:rPr>
              <a:t>Die Transportschicht des Internets überträgt Nachrichten der Anwendungsschicht zwischen Endpunkten von Anwendungen. Im Internet gibt es die beiden TransportprotokolleTCPundUDP,diebeideNachrichtenderAnwendungsschicht transportieren können.TCPbietetdenAnwendungen einenverbindungsorientiertenDienstan.Dieser Dienst beinhaltet die garantierte Zustellung von Nachrichten der Anwendungsschicht zum Ziel sowie eine Flusskontrolle (das heißt, die Geschwindigkeiten von SenderundEmpfängerwerdeneinanderangepasst).TCPzerlegtlangeNachrichten in kürzere Segmente und liefert zudem einen Überlastkontrollmechanismus, so dass eine Quelle ihre Übertragungsgeschwindigkeit zurückfahren kann, wenn das Netz überlastet ist. Das UDP-Protokoll bietet Anwendungen dagegen einen verbindungslosen Dienst. Dies ist ein Dienst ohne jedeA Schnickschnack, der weder Zuverlässigkeit, Flusskontrolle noch Überlastkontrolle beinhaltet. In diesem Buch nennen wir ein Paket der Transportschicht ein Segment. </a:t>
            </a:r>
          </a:p>
          <a:p>
            <a:r>
              <a:rPr lang="de-DE" sz="1200" b="0" i="0" u="none" strike="noStrike" kern="1200" baseline="0" dirty="0">
                <a:solidFill>
                  <a:schemeClr val="tx1"/>
                </a:solidFill>
                <a:latin typeface="+mn-lt"/>
                <a:ea typeface="+mn-ea"/>
                <a:cs typeface="+mn-cs"/>
              </a:rPr>
              <a:t>----------------------</a:t>
            </a:r>
          </a:p>
          <a:p>
            <a:r>
              <a:rPr lang="de-DE" sz="1200" b="1" i="0" u="none" strike="noStrike" kern="1200" baseline="0" dirty="0">
                <a:solidFill>
                  <a:schemeClr val="tx1"/>
                </a:solidFill>
                <a:latin typeface="+mn-lt"/>
                <a:ea typeface="+mn-ea"/>
                <a:cs typeface="+mn-cs"/>
              </a:rPr>
              <a:t>Netzwerkschicht </a:t>
            </a:r>
            <a:endParaRPr lang="de-DE" sz="1200" b="0" i="0" u="none" strike="noStrike" kern="1200" baseline="0" dirty="0">
              <a:solidFill>
                <a:schemeClr val="tx1"/>
              </a:solidFill>
              <a:latin typeface="+mn-lt"/>
              <a:ea typeface="+mn-ea"/>
              <a:cs typeface="+mn-cs"/>
            </a:endParaRPr>
          </a:p>
          <a:p>
            <a:r>
              <a:rPr lang="de-DE" sz="1200" b="0" i="0" u="none" strike="noStrike" kern="1200" baseline="0" dirty="0">
                <a:solidFill>
                  <a:schemeClr val="tx1"/>
                </a:solidFill>
                <a:latin typeface="+mn-lt"/>
                <a:ea typeface="+mn-ea"/>
                <a:cs typeface="+mn-cs"/>
              </a:rPr>
              <a:t>Die Netzwerkschicht des Internets leitet Pakete der Netzwerkschicht, die als Data-gramme bezeichnet werden, von einem Host zu einem anderen. Genau wie Sie einen Brief mit einer Zieladresse an den Postdienst geben würden, reicht das Transportschichtprotokoll (TCP oder UDP) eines Quellsystem sein Segment der Transportschicht und eine Zieladresse an die Netzwerkschicht weiter. DieNetzwerkschicht erbringtdann der Transportschicht ihren Dienst und liefert das Segment an den Zielhost. </a:t>
            </a:r>
          </a:p>
          <a:p>
            <a:r>
              <a:rPr lang="de-DE" sz="1200" b="0" i="0" u="none" strike="noStrike" kern="1200" baseline="0" dirty="0">
                <a:solidFill>
                  <a:schemeClr val="tx1"/>
                </a:solidFill>
                <a:latin typeface="+mn-lt"/>
                <a:ea typeface="+mn-ea"/>
                <a:cs typeface="+mn-cs"/>
              </a:rPr>
              <a:t>Die Netzwerkschicht des Internets beinhaltet das bekannte IP-Protokoll, das die Felder im Datagramm definiert und auch die Reaktion der Endsysteme und Router auf dieseFelderfestlegt. EsgibtnureinIP-ProtokollundalleKomponenten desInternets, die eine Netzwerkschicht besitzen, müssen das IP-Protokoll verwenden. Die Netzwerkschicht des Internets enthält auch Routing-Protokolle, welche die Wege bestimmen, die Datagramme zwischen Quelle und Ziel einschlagen. Allerdings hat das Internet viele Routing-Protokolle. Wie wir in Abschnitt 1.3 gesehen haben, ist das Internet ein Netz von Netzwerken und innerhalb eines Netzes kann der Netzadministrator jedes beliebige Routing-Protokoll einsetzen. Obwohl die Netzwerkschicht sowohl das IP-Protokoll als auch zahlreiche Routing-Protokolle enthält, wird es oft einfach die IP-Schicht genannt, was der Tatsache Rechnung trägt, dass IP der Leim ist, der das Internet zusammenhält. </a:t>
            </a:r>
          </a:p>
          <a:p>
            <a:r>
              <a:rPr lang="de-DE" sz="1200" b="0" i="0" u="none" strike="noStrike" kern="1200" baseline="0" dirty="0">
                <a:solidFill>
                  <a:schemeClr val="tx1"/>
                </a:solidFill>
                <a:latin typeface="+mn-lt"/>
                <a:ea typeface="+mn-ea"/>
                <a:cs typeface="+mn-cs"/>
              </a:rPr>
              <a:t>-------------------------</a:t>
            </a:r>
          </a:p>
          <a:p>
            <a:r>
              <a:rPr lang="de-DE" sz="1200" b="1" i="0" u="none" strike="noStrike" kern="1200" baseline="0" dirty="0">
                <a:solidFill>
                  <a:schemeClr val="tx1"/>
                </a:solidFill>
                <a:latin typeface="+mn-lt"/>
                <a:ea typeface="+mn-ea"/>
                <a:cs typeface="+mn-cs"/>
              </a:rPr>
              <a:t>Sicherungsschicht </a:t>
            </a:r>
            <a:endParaRPr lang="de-DE" sz="1200" b="0" i="0" u="none" strike="noStrike" kern="1200" baseline="0" dirty="0">
              <a:solidFill>
                <a:schemeClr val="tx1"/>
              </a:solidFill>
              <a:latin typeface="+mn-lt"/>
              <a:ea typeface="+mn-ea"/>
              <a:cs typeface="+mn-cs"/>
            </a:endParaRPr>
          </a:p>
          <a:p>
            <a:r>
              <a:rPr lang="de-DE" sz="1200" b="0" i="0" u="none" strike="noStrike" kern="1200" baseline="0" dirty="0">
                <a:solidFill>
                  <a:schemeClr val="tx1"/>
                </a:solidFill>
                <a:latin typeface="+mn-lt"/>
                <a:ea typeface="+mn-ea"/>
                <a:cs typeface="+mn-cs"/>
              </a:rPr>
              <a:t>Die Netzwerkschicht des Internets leitet ein Datagramm über eine Reihe von Routern von der Quelle zum Ziel. Um ein Paket von einem Knoten (einem Host oder einem Router) zum nächsten Knoten zu bringen, verlässt sich die Netzwerkschicht auf die Dienste der Sicherungs schicht. Insbesondere leitet die Netzwerkschicht an jedem Knoten das Datagramm zur Sicherungsschicht, die es zum nächsten Knoten entlang der Strecke schickt. An diesem nächsten Knoten reicht die Sicherungsschicht das Datagramm dann zur Netzwerkschicht zurück. Die von der Sicherungs schicht erbrachten Dienste hängen vom jeweiligen Protokoll der Sicherungsschicht ab, das auf dieser Leitung aktiv ist. Zum Beispiel bieten einige Sicherungsschichtprotokolle die zuverlässige Übertragung vom sendenden Knoten über eine Leitung zum empfangenden Knoten. Beachten Sie bitte, dass diese Art der zuverlässigen Übertragung etwas anderes ist als die zuverlässige Übertragung von TCP -Letztere gewährleistet die zuverlässige Übertragung von einem Endsystem zu einem anderen. Beispiele für Protokolle der Sicherungsschicht sind Ethernet, WLAN und das Point-to-Point Protocol (PPP). Da Datagramme normalerweise mehrere Leitungen auf ihrem Wegvon der Quelle zu ihrem Zielort durchqueren, kann ein Datagramm von verschiedenen Sicherungsschichtprotokollen über verschiedene Leitungen übertragen werden. Zum Beispiel kann ein Datagramm über eine Leitung mittels Ethernet, über eine andere aber mittels PPP übertragen werden. In diesem Buch bezeichnen wir die Pakete der Sicherungsschicht als Rahmen </a:t>
            </a:r>
            <a:r>
              <a:rPr lang="de-DE" sz="1200" b="0" i="1" u="none" strike="noStrike" kern="1200" baseline="0" dirty="0">
                <a:solidFill>
                  <a:schemeClr val="tx1"/>
                </a:solidFill>
                <a:latin typeface="+mn-lt"/>
                <a:ea typeface="+mn-ea"/>
                <a:cs typeface="+mn-cs"/>
              </a:rPr>
              <a:t>(Frames). </a:t>
            </a:r>
          </a:p>
          <a:p>
            <a:endParaRPr lang="de-DE" sz="1200" b="0" i="0" u="none" strike="noStrike" kern="1200" baseline="0" dirty="0">
              <a:solidFill>
                <a:schemeClr val="tx1"/>
              </a:solidFill>
              <a:latin typeface="+mn-lt"/>
              <a:ea typeface="+mn-ea"/>
              <a:cs typeface="+mn-cs"/>
            </a:endParaRPr>
          </a:p>
          <a:p>
            <a:r>
              <a:rPr lang="de-DE" sz="1200" b="1" i="0" u="none" strike="noStrike" kern="1200" baseline="0" dirty="0">
                <a:solidFill>
                  <a:schemeClr val="tx1"/>
                </a:solidFill>
                <a:latin typeface="+mn-lt"/>
                <a:ea typeface="+mn-ea"/>
                <a:cs typeface="+mn-cs"/>
              </a:rPr>
              <a:t>Bitübertragungsschicht </a:t>
            </a:r>
            <a:endParaRPr lang="de-DE" sz="1200" b="0" i="0" u="none" strike="noStrike" kern="1200" baseline="0" dirty="0">
              <a:solidFill>
                <a:schemeClr val="tx1"/>
              </a:solidFill>
              <a:latin typeface="+mn-lt"/>
              <a:ea typeface="+mn-ea"/>
              <a:cs typeface="+mn-cs"/>
            </a:endParaRPr>
          </a:p>
          <a:p>
            <a:r>
              <a:rPr lang="de-DE" sz="1200" b="0" i="0" u="none" strike="noStrike" kern="1200" baseline="0" dirty="0">
                <a:solidFill>
                  <a:schemeClr val="tx1"/>
                </a:solidFill>
                <a:latin typeface="+mn-lt"/>
                <a:ea typeface="+mn-ea"/>
                <a:cs typeface="+mn-cs"/>
              </a:rPr>
              <a:t>Während die Aufgabe der Sicherungsschicht darin liegt, komplette Rahmen von einem Element des Netzwerkes zu einem benachbarten Element zu transportieren, befasst sich die Bitübertragungsschicht damit, die </a:t>
            </a:r>
            <a:r>
              <a:rPr lang="de-DE" sz="1200" b="0" i="1" u="none" strike="noStrike" kern="1200" baseline="0" dirty="0">
                <a:solidFill>
                  <a:schemeClr val="tx1"/>
                </a:solidFill>
                <a:latin typeface="+mn-lt"/>
                <a:ea typeface="+mn-ea"/>
                <a:cs typeface="+mn-cs"/>
              </a:rPr>
              <a:t>einzelnen Bits </a:t>
            </a:r>
            <a:r>
              <a:rPr lang="de-DE" sz="1200" b="0" i="0" u="none" strike="noStrike" kern="1200" baseline="0" dirty="0">
                <a:solidFill>
                  <a:schemeClr val="tx1"/>
                </a:solidFill>
                <a:latin typeface="+mn-lt"/>
                <a:ea typeface="+mn-ea"/>
                <a:cs typeface="+mn-cs"/>
              </a:rPr>
              <a:t>innerhalb eines Rahmens von einem Knoten zum nächsten zu übermitteln. Die Protokolle in dieser Schicht hängen wieder von der Leitung ab, aber auch vom tatsächlich auf dieser Leitung verwendeten Übertragungsmedium (z.B. verdrillte Kupferdrähte oder Glasfasern). Ethernet zum Beispiel sieht viele Protokolle für die Bitübertragungsschicht vor: eines für verdrillte Kupferdrähte, ein anderes für Koaxialkabel, wieder ein anderes für Glasfasern usw. In jedem dieser Fälle wird ein Bit auf andere Weise über die  Leitung transportiert. </a:t>
            </a:r>
          </a:p>
          <a:p>
            <a:endParaRPr lang="de-DE" sz="1200" b="0" i="0" u="none" strike="noStrike" kern="1200" baseline="0" dirty="0">
              <a:solidFill>
                <a:schemeClr val="tx1"/>
              </a:solidFill>
              <a:latin typeface="+mn-lt"/>
              <a:ea typeface="+mn-ea"/>
              <a:cs typeface="+mn-cs"/>
            </a:endParaRPr>
          </a:p>
          <a:p>
            <a:endParaRPr lang="de-DE" sz="1200" b="0" i="0" u="none" strike="noStrike" kern="1200" baseline="0" dirty="0">
              <a:solidFill>
                <a:schemeClr val="tx1"/>
              </a:solidFill>
              <a:latin typeface="+mn-lt"/>
              <a:ea typeface="+mn-ea"/>
              <a:cs typeface="+mn-cs"/>
            </a:endParaRPr>
          </a:p>
          <a:p>
            <a:endParaRPr lang="de-DE" sz="1200" b="0" i="0" u="none" strike="noStrike" kern="1200" baseline="0" dirty="0">
              <a:solidFill>
                <a:schemeClr val="tx1"/>
              </a:solidFill>
              <a:latin typeface="+mn-lt"/>
              <a:ea typeface="+mn-ea"/>
              <a:cs typeface="+mn-cs"/>
            </a:endParaRPr>
          </a:p>
          <a:p>
            <a:endParaRPr lang="de-DE" dirty="0"/>
          </a:p>
        </p:txBody>
      </p:sp>
      <p:sp>
        <p:nvSpPr>
          <p:cNvPr id="4" name="Slide Number Placeholder 3"/>
          <p:cNvSpPr>
            <a:spLocks noGrp="1"/>
          </p:cNvSpPr>
          <p:nvPr>
            <p:ph type="sldNum" sz="quarter" idx="10"/>
          </p:nvPr>
        </p:nvSpPr>
        <p:spPr/>
        <p:txBody>
          <a:bodyPr/>
          <a:lstStyle/>
          <a:p>
            <a:fld id="{6D176CDC-8D0E-409F-856B-BAE38288A8E4}" type="slidenum">
              <a:rPr lang="en-US" smtClean="0"/>
              <a:pPr/>
              <a:t>3</a:t>
            </a:fld>
            <a:endParaRPr lang="en-US" dirty="0"/>
          </a:p>
        </p:txBody>
      </p:sp>
    </p:spTree>
    <p:extLst>
      <p:ext uri="{BB962C8B-B14F-4D97-AF65-F5344CB8AC3E}">
        <p14:creationId xmlns:p14="http://schemas.microsoft.com/office/powerpoint/2010/main" val="241920127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14018" name="Rectangle 7"/>
          <p:cNvSpPr>
            <a:spLocks noGrp="1" noChangeArrowheads="1"/>
          </p:cNvSpPr>
          <p:nvPr>
            <p:ph type="sldNum" sz="quarter" idx="5"/>
          </p:nvPr>
        </p:nvSpPr>
        <p:spPr>
          <a:noFill/>
        </p:spPr>
        <p:txBody>
          <a:bodyPr/>
          <a:lstStyle/>
          <a:p>
            <a:fld id="{8ED4F609-BD96-42B0-9A88-E200CB249394}" type="slidenum">
              <a:rPr lang="en-US" smtClean="0"/>
              <a:pPr/>
              <a:t>5</a:t>
            </a:fld>
            <a:endParaRPr lang="en-US"/>
          </a:p>
        </p:txBody>
      </p:sp>
      <p:sp>
        <p:nvSpPr>
          <p:cNvPr id="214019" name="Rectangle 2"/>
          <p:cNvSpPr>
            <a:spLocks noGrp="1" noRot="1" noChangeAspect="1" noChangeArrowheads="1" noTextEdit="1"/>
          </p:cNvSpPr>
          <p:nvPr>
            <p:ph type="sldImg"/>
          </p:nvPr>
        </p:nvSpPr>
        <p:spPr>
          <a:xfrm>
            <a:off x="1211263" y="1023938"/>
            <a:ext cx="4676775" cy="3506787"/>
          </a:xfrm>
          <a:ln/>
        </p:spPr>
      </p:sp>
      <p:sp>
        <p:nvSpPr>
          <p:cNvPr id="214020" name="Rectangle 3"/>
          <p:cNvSpPr>
            <a:spLocks noGrp="1" noChangeArrowheads="1"/>
          </p:cNvSpPr>
          <p:nvPr>
            <p:ph type="body" idx="1"/>
          </p:nvPr>
        </p:nvSpPr>
        <p:spPr>
          <a:xfrm>
            <a:off x="1428499" y="4897317"/>
            <a:ext cx="4242348" cy="3946283"/>
          </a:xfrm>
          <a:noFill/>
          <a:ln/>
        </p:spPr>
        <p:txBody>
          <a:bodyPr wrap="none" anchor="ctr"/>
          <a:lstStyle/>
          <a:p>
            <a:pPr defTabSz="449263"/>
            <a:endParaRPr lang="de-DE"/>
          </a:p>
        </p:txBody>
      </p:sp>
    </p:spTree>
    <p:extLst>
      <p:ext uri="{BB962C8B-B14F-4D97-AF65-F5344CB8AC3E}">
        <p14:creationId xmlns:p14="http://schemas.microsoft.com/office/powerpoint/2010/main" val="314741550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normAutofit/>
          </a:bodyPr>
          <a:lstStyle/>
          <a:p>
            <a:endParaRPr lang="de-DE" dirty="0"/>
          </a:p>
        </p:txBody>
      </p:sp>
      <p:sp>
        <p:nvSpPr>
          <p:cNvPr id="4" name="Foliennummernplatzhalter 3"/>
          <p:cNvSpPr>
            <a:spLocks noGrp="1"/>
          </p:cNvSpPr>
          <p:nvPr>
            <p:ph type="sldNum" sz="quarter" idx="10"/>
          </p:nvPr>
        </p:nvSpPr>
        <p:spPr/>
        <p:txBody>
          <a:bodyPr/>
          <a:lstStyle/>
          <a:p>
            <a:fld id="{6D176CDC-8D0E-409F-856B-BAE38288A8E4}" type="slidenum">
              <a:rPr lang="en-US" smtClean="0"/>
              <a:pPr/>
              <a:t>6</a:t>
            </a:fld>
            <a:endParaRPr lang="en-US" dirty="0"/>
          </a:p>
        </p:txBody>
      </p:sp>
    </p:spTree>
    <p:extLst>
      <p:ext uri="{BB962C8B-B14F-4D97-AF65-F5344CB8AC3E}">
        <p14:creationId xmlns:p14="http://schemas.microsoft.com/office/powerpoint/2010/main" val="347217213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dirty="0"/>
              <a:t>In (älteren) Routern musste man Speicherplatz sparen</a:t>
            </a:r>
          </a:p>
          <a:p>
            <a:endParaRPr lang="de-DE" dirty="0"/>
          </a:p>
        </p:txBody>
      </p:sp>
      <p:sp>
        <p:nvSpPr>
          <p:cNvPr id="4" name="Foliennummernplatzhalter 3"/>
          <p:cNvSpPr>
            <a:spLocks noGrp="1"/>
          </p:cNvSpPr>
          <p:nvPr>
            <p:ph type="sldNum" sz="quarter" idx="5"/>
          </p:nvPr>
        </p:nvSpPr>
        <p:spPr/>
        <p:txBody>
          <a:bodyPr/>
          <a:lstStyle/>
          <a:p>
            <a:fld id="{6D176CDC-8D0E-409F-856B-BAE38288A8E4}" type="slidenum">
              <a:rPr lang="en-US" smtClean="0"/>
              <a:pPr/>
              <a:t>10</a:t>
            </a:fld>
            <a:endParaRPr lang="en-US" dirty="0"/>
          </a:p>
        </p:txBody>
      </p:sp>
    </p:spTree>
    <p:extLst>
      <p:ext uri="{BB962C8B-B14F-4D97-AF65-F5344CB8AC3E}">
        <p14:creationId xmlns:p14="http://schemas.microsoft.com/office/powerpoint/2010/main" val="39866074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dirty="0"/>
              <a:t>Wie bestimmt man den Präfix für</a:t>
            </a:r>
            <a:r>
              <a:rPr lang="de-DE" baseline="0" dirty="0"/>
              <a:t> den Bereich [a, b]</a:t>
            </a:r>
            <a:r>
              <a:rPr lang="de-DE" dirty="0"/>
              <a:t>?</a:t>
            </a:r>
          </a:p>
          <a:p>
            <a:r>
              <a:rPr lang="de-DE" dirty="0"/>
              <a:t>Man</a:t>
            </a:r>
            <a:r>
              <a:rPr lang="de-DE" baseline="0" dirty="0"/>
              <a:t> nehme den längsten Teil von links, bei dem die Bits von a und von b noch übereinstimmen</a:t>
            </a:r>
            <a:endParaRPr lang="de-DE" dirty="0"/>
          </a:p>
        </p:txBody>
      </p:sp>
      <p:sp>
        <p:nvSpPr>
          <p:cNvPr id="4" name="Slide Number Placeholder 3"/>
          <p:cNvSpPr>
            <a:spLocks noGrp="1"/>
          </p:cNvSpPr>
          <p:nvPr>
            <p:ph type="sldNum" sz="quarter" idx="10"/>
          </p:nvPr>
        </p:nvSpPr>
        <p:spPr/>
        <p:txBody>
          <a:bodyPr/>
          <a:lstStyle/>
          <a:p>
            <a:fld id="{6D176CDC-8D0E-409F-856B-BAE38288A8E4}" type="slidenum">
              <a:rPr lang="en-US" smtClean="0"/>
              <a:pPr/>
              <a:t>12</a:t>
            </a:fld>
            <a:endParaRPr lang="en-US" dirty="0"/>
          </a:p>
        </p:txBody>
      </p:sp>
    </p:spTree>
    <p:extLst>
      <p:ext uri="{BB962C8B-B14F-4D97-AF65-F5344CB8AC3E}">
        <p14:creationId xmlns:p14="http://schemas.microsoft.com/office/powerpoint/2010/main" val="866293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dirty="0"/>
              <a:t>Wie bestimmt man den Präfix für</a:t>
            </a:r>
            <a:r>
              <a:rPr lang="de-DE" baseline="0" dirty="0"/>
              <a:t> den Bereich [a, b]</a:t>
            </a:r>
            <a:r>
              <a:rPr lang="de-DE" dirty="0"/>
              <a:t>?</a:t>
            </a:r>
          </a:p>
          <a:p>
            <a:r>
              <a:rPr lang="de-DE" dirty="0"/>
              <a:t>Man</a:t>
            </a:r>
            <a:r>
              <a:rPr lang="de-DE" baseline="0" dirty="0"/>
              <a:t> nehme den längsten Teil von links, bei dem die Bits von a und von b noch übereinstimmen</a:t>
            </a:r>
            <a:endParaRPr lang="de-DE" dirty="0"/>
          </a:p>
        </p:txBody>
      </p:sp>
      <p:sp>
        <p:nvSpPr>
          <p:cNvPr id="4" name="Slide Number Placeholder 3"/>
          <p:cNvSpPr>
            <a:spLocks noGrp="1"/>
          </p:cNvSpPr>
          <p:nvPr>
            <p:ph type="sldNum" sz="quarter" idx="10"/>
          </p:nvPr>
        </p:nvSpPr>
        <p:spPr/>
        <p:txBody>
          <a:bodyPr/>
          <a:lstStyle/>
          <a:p>
            <a:fld id="{6D176CDC-8D0E-409F-856B-BAE38288A8E4}" type="slidenum">
              <a:rPr lang="en-US" smtClean="0"/>
              <a:pPr/>
              <a:t>13</a:t>
            </a:fld>
            <a:endParaRPr lang="en-US" dirty="0"/>
          </a:p>
        </p:txBody>
      </p:sp>
    </p:spTree>
    <p:extLst>
      <p:ext uri="{BB962C8B-B14F-4D97-AF65-F5344CB8AC3E}">
        <p14:creationId xmlns:p14="http://schemas.microsoft.com/office/powerpoint/2010/main" val="36199492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normAutofit/>
          </a:bodyPr>
          <a:lstStyle/>
          <a:p>
            <a:endParaRPr lang="de-DE" dirty="0"/>
          </a:p>
        </p:txBody>
      </p:sp>
      <p:sp>
        <p:nvSpPr>
          <p:cNvPr id="4" name="Foliennummernplatzhalter 3"/>
          <p:cNvSpPr>
            <a:spLocks noGrp="1"/>
          </p:cNvSpPr>
          <p:nvPr>
            <p:ph type="sldNum" sz="quarter" idx="10"/>
          </p:nvPr>
        </p:nvSpPr>
        <p:spPr/>
        <p:txBody>
          <a:bodyPr/>
          <a:lstStyle/>
          <a:p>
            <a:fld id="{6D176CDC-8D0E-409F-856B-BAE38288A8E4}" type="slidenum">
              <a:rPr lang="en-US" smtClean="0"/>
              <a:pPr/>
              <a:t>14</a:t>
            </a:fld>
            <a:endParaRPr lang="en-US" dirty="0"/>
          </a:p>
        </p:txBody>
      </p:sp>
    </p:spTree>
    <p:extLst>
      <p:ext uri="{BB962C8B-B14F-4D97-AF65-F5344CB8AC3E}">
        <p14:creationId xmlns:p14="http://schemas.microsoft.com/office/powerpoint/2010/main" val="170438474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baseline="0" dirty="0"/>
              <a:t>Welcher Ausgang:</a:t>
            </a:r>
          </a:p>
          <a:p>
            <a:r>
              <a:rPr lang="de-DE" baseline="0" dirty="0"/>
              <a:t>A: =&gt; 2</a:t>
            </a:r>
          </a:p>
          <a:p>
            <a:r>
              <a:rPr lang="de-DE" baseline="0" dirty="0"/>
              <a:t>B: =&gt; 1</a:t>
            </a:r>
            <a:endParaRPr lang="de-DE" dirty="0"/>
          </a:p>
        </p:txBody>
      </p:sp>
      <p:sp>
        <p:nvSpPr>
          <p:cNvPr id="4" name="Slide Number Placeholder 3"/>
          <p:cNvSpPr>
            <a:spLocks noGrp="1"/>
          </p:cNvSpPr>
          <p:nvPr>
            <p:ph type="sldNum" sz="quarter" idx="10"/>
          </p:nvPr>
        </p:nvSpPr>
        <p:spPr/>
        <p:txBody>
          <a:bodyPr/>
          <a:lstStyle/>
          <a:p>
            <a:fld id="{6D176CDC-8D0E-409F-856B-BAE38288A8E4}" type="slidenum">
              <a:rPr lang="en-US" smtClean="0"/>
              <a:pPr/>
              <a:t>16</a:t>
            </a:fld>
            <a:endParaRPr lang="en-US" dirty="0"/>
          </a:p>
        </p:txBody>
      </p:sp>
    </p:spTree>
    <p:extLst>
      <p:ext uri="{BB962C8B-B14F-4D97-AF65-F5344CB8AC3E}">
        <p14:creationId xmlns:p14="http://schemas.microsoft.com/office/powerpoint/2010/main" val="37925160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baseline="0" dirty="0"/>
              <a:t>Welcher Ausgang:</a:t>
            </a:r>
          </a:p>
          <a:p>
            <a:r>
              <a:rPr lang="de-DE" baseline="0" dirty="0"/>
              <a:t>A: =&gt; 2</a:t>
            </a:r>
          </a:p>
          <a:p>
            <a:r>
              <a:rPr lang="de-DE" baseline="0" dirty="0"/>
              <a:t>B: =&gt; 1</a:t>
            </a:r>
            <a:endParaRPr lang="de-DE" dirty="0"/>
          </a:p>
        </p:txBody>
      </p:sp>
      <p:sp>
        <p:nvSpPr>
          <p:cNvPr id="4" name="Slide Number Placeholder 3"/>
          <p:cNvSpPr>
            <a:spLocks noGrp="1"/>
          </p:cNvSpPr>
          <p:nvPr>
            <p:ph type="sldNum" sz="quarter" idx="10"/>
          </p:nvPr>
        </p:nvSpPr>
        <p:spPr/>
        <p:txBody>
          <a:bodyPr/>
          <a:lstStyle/>
          <a:p>
            <a:fld id="{6D176CDC-8D0E-409F-856B-BAE38288A8E4}" type="slidenum">
              <a:rPr lang="en-US" smtClean="0"/>
              <a:pPr/>
              <a:t>17</a:t>
            </a:fld>
            <a:endParaRPr lang="en-US" dirty="0"/>
          </a:p>
        </p:txBody>
      </p:sp>
    </p:spTree>
    <p:extLst>
      <p:ext uri="{BB962C8B-B14F-4D97-AF65-F5344CB8AC3E}">
        <p14:creationId xmlns:p14="http://schemas.microsoft.com/office/powerpoint/2010/main" val="283250742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de-DE" sz="1200" b="1" i="0" kern="1200" dirty="0">
                <a:solidFill>
                  <a:schemeClr val="tx1"/>
                </a:solidFill>
                <a:effectLst/>
                <a:latin typeface="+mn-lt"/>
                <a:ea typeface="+mn-ea"/>
                <a:cs typeface="+mn-cs"/>
              </a:rPr>
              <a:t>Decimal/Binary Conversion Tool</a:t>
            </a:r>
            <a:r>
              <a:rPr lang="de-DE" sz="1200" b="0" i="0" kern="1200" dirty="0">
                <a:solidFill>
                  <a:schemeClr val="tx1"/>
                </a:solidFill>
                <a:effectLst/>
                <a:latin typeface="+mn-lt"/>
                <a:ea typeface="+mn-ea"/>
                <a:cs typeface="+mn-cs"/>
              </a:rPr>
              <a:t>:</a:t>
            </a:r>
            <a:r>
              <a:rPr lang="de-DE" sz="1200" b="0" i="0" kern="1200" baseline="0" dirty="0">
                <a:solidFill>
                  <a:schemeClr val="tx1"/>
                </a:solidFill>
                <a:effectLst/>
                <a:latin typeface="+mn-lt"/>
                <a:ea typeface="+mn-ea"/>
                <a:cs typeface="+mn-cs"/>
              </a:rPr>
              <a:t> </a:t>
            </a:r>
            <a:r>
              <a:rPr lang="de-DE" dirty="0">
                <a:hlinkClick r:id="rId3"/>
              </a:rPr>
              <a:t>http://acc6.its.brooklyn.cuny.edu/~gurwitz/core5/nav2tool.html</a:t>
            </a:r>
            <a:r>
              <a:rPr lang="de-DE" dirty="0"/>
              <a:t> </a:t>
            </a:r>
          </a:p>
          <a:p>
            <a:pPr marL="0" marR="0" indent="0" algn="l" defTabSz="914400" rtl="0" eaLnBrk="1" fontAlgn="auto" latinLnBrk="0" hangingPunct="1">
              <a:lnSpc>
                <a:spcPct val="100000"/>
              </a:lnSpc>
              <a:spcBef>
                <a:spcPts val="0"/>
              </a:spcBef>
              <a:spcAft>
                <a:spcPts val="0"/>
              </a:spcAft>
              <a:buClrTx/>
              <a:buSzTx/>
              <a:buFontTx/>
              <a:buNone/>
              <a:tabLst/>
              <a:defRPr/>
            </a:pPr>
            <a:endParaRPr lang="de-DE" sz="1200" b="1" i="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6D176CDC-8D0E-409F-856B-BAE38288A8E4}" type="slidenum">
              <a:rPr lang="en-US" smtClean="0"/>
              <a:pPr/>
              <a:t>18</a:t>
            </a:fld>
            <a:endParaRPr lang="en-US" dirty="0"/>
          </a:p>
        </p:txBody>
      </p:sp>
    </p:spTree>
    <p:extLst>
      <p:ext uri="{BB962C8B-B14F-4D97-AF65-F5344CB8AC3E}">
        <p14:creationId xmlns:p14="http://schemas.microsoft.com/office/powerpoint/2010/main" val="409799530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normAutofit/>
          </a:bodyPr>
          <a:lstStyle/>
          <a:p>
            <a:endParaRPr lang="de-DE" dirty="0"/>
          </a:p>
        </p:txBody>
      </p:sp>
      <p:sp>
        <p:nvSpPr>
          <p:cNvPr id="4" name="Foliennummernplatzhalter 3"/>
          <p:cNvSpPr>
            <a:spLocks noGrp="1"/>
          </p:cNvSpPr>
          <p:nvPr>
            <p:ph type="sldNum" sz="quarter" idx="10"/>
          </p:nvPr>
        </p:nvSpPr>
        <p:spPr/>
        <p:txBody>
          <a:bodyPr/>
          <a:lstStyle/>
          <a:p>
            <a:fld id="{6D176CDC-8D0E-409F-856B-BAE38288A8E4}" type="slidenum">
              <a:rPr lang="en-US" smtClean="0"/>
              <a:pPr/>
              <a:t>20</a:t>
            </a:fld>
            <a:endParaRPr lang="en-US" dirty="0"/>
          </a:p>
        </p:txBody>
      </p:sp>
    </p:spTree>
    <p:extLst>
      <p:ext uri="{BB962C8B-B14F-4D97-AF65-F5344CB8AC3E}">
        <p14:creationId xmlns:p14="http://schemas.microsoft.com/office/powerpoint/2010/main" val="377325071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normAutofit/>
          </a:bodyPr>
          <a:lstStyle/>
          <a:p>
            <a:endParaRPr lang="de-DE" dirty="0"/>
          </a:p>
        </p:txBody>
      </p:sp>
      <p:sp>
        <p:nvSpPr>
          <p:cNvPr id="4" name="Foliennummernplatzhalter 3"/>
          <p:cNvSpPr>
            <a:spLocks noGrp="1"/>
          </p:cNvSpPr>
          <p:nvPr>
            <p:ph type="sldNum" sz="quarter" idx="10"/>
          </p:nvPr>
        </p:nvSpPr>
        <p:spPr/>
        <p:txBody>
          <a:bodyPr/>
          <a:lstStyle/>
          <a:p>
            <a:fld id="{6D176CDC-8D0E-409F-856B-BAE38288A8E4}" type="slidenum">
              <a:rPr lang="en-US" smtClean="0"/>
              <a:pPr/>
              <a:t>26</a:t>
            </a:fld>
            <a:endParaRPr lang="en-US" dirty="0"/>
          </a:p>
        </p:txBody>
      </p:sp>
    </p:spTree>
    <p:extLst>
      <p:ext uri="{BB962C8B-B14F-4D97-AF65-F5344CB8AC3E}">
        <p14:creationId xmlns:p14="http://schemas.microsoft.com/office/powerpoint/2010/main" val="156330043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10000"/>
          </a:bodyPr>
          <a:lstStyle/>
          <a:p>
            <a:r>
              <a:rPr lang="de-DE" sz="1200" b="0" i="0" u="none" strike="noStrike" kern="1200" baseline="0" dirty="0">
                <a:solidFill>
                  <a:schemeClr val="tx1"/>
                </a:solidFill>
                <a:latin typeface="+mn-lt"/>
                <a:ea typeface="+mn-ea"/>
                <a:cs typeface="+mn-cs"/>
              </a:rPr>
              <a:t>Im Initialisierungsschritt werden die gegenwärtig bekannten kostengünstigsten</a:t>
            </a:r>
          </a:p>
          <a:p>
            <a:r>
              <a:rPr lang="de-DE" sz="1200" b="0" i="0" u="none" strike="noStrike" kern="1200" baseline="0" dirty="0">
                <a:solidFill>
                  <a:schemeClr val="tx1"/>
                </a:solidFill>
                <a:latin typeface="+mn-lt"/>
                <a:ea typeface="+mn-ea"/>
                <a:cs typeface="+mn-cs"/>
              </a:rPr>
              <a:t>Pfade von </a:t>
            </a:r>
            <a:r>
              <a:rPr lang="de-DE" sz="1200" b="0" i="1" u="none" strike="noStrike" kern="1200" baseline="0" dirty="0">
                <a:solidFill>
                  <a:schemeClr val="tx1"/>
                </a:solidFill>
                <a:latin typeface="+mn-lt"/>
                <a:ea typeface="+mn-ea"/>
                <a:cs typeface="+mn-cs"/>
              </a:rPr>
              <a:t>u </a:t>
            </a:r>
            <a:r>
              <a:rPr lang="de-DE" sz="1200" b="0" i="0" u="none" strike="noStrike" kern="1200" baseline="0" dirty="0">
                <a:solidFill>
                  <a:schemeClr val="tx1"/>
                </a:solidFill>
                <a:latin typeface="+mn-lt"/>
                <a:ea typeface="+mn-ea"/>
                <a:cs typeface="+mn-cs"/>
              </a:rPr>
              <a:t>zu seinen direkten Nachbarn </a:t>
            </a:r>
            <a:r>
              <a:rPr lang="de-DE" sz="1200" b="0" i="1" u="none" strike="noStrike" kern="1200" baseline="0" dirty="0">
                <a:solidFill>
                  <a:schemeClr val="tx1"/>
                </a:solidFill>
                <a:latin typeface="+mn-lt"/>
                <a:ea typeface="+mn-ea"/>
                <a:cs typeface="+mn-cs"/>
              </a:rPr>
              <a:t>v, </a:t>
            </a:r>
            <a:r>
              <a:rPr lang="de-DE" sz="1200" b="0" i="0" u="none" strike="noStrike" kern="1200" baseline="0" dirty="0">
                <a:solidFill>
                  <a:schemeClr val="tx1"/>
                </a:solidFill>
                <a:latin typeface="+mn-lt"/>
                <a:ea typeface="+mn-ea"/>
                <a:cs typeface="+mn-cs"/>
              </a:rPr>
              <a:t>x und </a:t>
            </a:r>
            <a:r>
              <a:rPr lang="de-DE" sz="1200" b="0" i="1" u="none" strike="noStrike" kern="1200" baseline="0" dirty="0">
                <a:solidFill>
                  <a:schemeClr val="tx1"/>
                </a:solidFill>
                <a:latin typeface="+mn-lt"/>
                <a:ea typeface="+mn-ea"/>
                <a:cs typeface="+mn-cs"/>
              </a:rPr>
              <a:t>w </a:t>
            </a:r>
            <a:r>
              <a:rPr lang="de-DE" sz="1200" b="0" i="0" u="none" strike="noStrike" kern="1200" baseline="0" dirty="0">
                <a:solidFill>
                  <a:schemeClr val="tx1"/>
                </a:solidFill>
                <a:latin typeface="+mn-lt"/>
                <a:ea typeface="+mn-ea"/>
                <a:cs typeface="+mn-cs"/>
              </a:rPr>
              <a:t>mit 2, 1 bzw. 5 festgelegt.</a:t>
            </a:r>
          </a:p>
          <a:p>
            <a:r>
              <a:rPr lang="de-DE" sz="1200" b="0" i="0" u="none" strike="noStrike" kern="1200" baseline="0" dirty="0">
                <a:solidFill>
                  <a:schemeClr val="tx1"/>
                </a:solidFill>
                <a:latin typeface="+mn-lt"/>
                <a:ea typeface="+mn-ea"/>
                <a:cs typeface="+mn-cs"/>
              </a:rPr>
              <a:t>Beachten Sie insbesondere, dass die Kosten für wauf 5 gesetzt wurden (obwohl wir</a:t>
            </a:r>
          </a:p>
          <a:p>
            <a:r>
              <a:rPr lang="de-DE" sz="1200" b="0" i="0" u="none" strike="noStrike" kern="1200" baseline="0" dirty="0">
                <a:solidFill>
                  <a:schemeClr val="tx1"/>
                </a:solidFill>
                <a:latin typeface="+mn-lt"/>
                <a:ea typeface="+mn-ea"/>
                <a:cs typeface="+mn-cs"/>
              </a:rPr>
              <a:t>bald sehen werden, dass tatsächlich ein Pfad mit geringeren Kosten existiert), da</a:t>
            </a:r>
          </a:p>
          <a:p>
            <a:r>
              <a:rPr lang="de-DE" sz="1200" b="0" i="0" u="none" strike="noStrike" kern="1200" baseline="0" dirty="0">
                <a:solidFill>
                  <a:schemeClr val="tx1"/>
                </a:solidFill>
                <a:latin typeface="+mn-lt"/>
                <a:ea typeface="+mn-ea"/>
                <a:cs typeface="+mn-cs"/>
              </a:rPr>
              <a:t>dies die Kosten der direkten Leitung zwischen </a:t>
            </a:r>
            <a:r>
              <a:rPr lang="de-DE" sz="1200" b="0" i="1" u="none" strike="noStrike" kern="1200" baseline="0" dirty="0">
                <a:solidFill>
                  <a:schemeClr val="tx1"/>
                </a:solidFill>
                <a:latin typeface="+mn-lt"/>
                <a:ea typeface="+mn-ea"/>
                <a:cs typeface="+mn-cs"/>
              </a:rPr>
              <a:t>u </a:t>
            </a:r>
            <a:r>
              <a:rPr lang="de-DE" sz="1200" b="0" i="0" u="none" strike="noStrike" kern="1200" baseline="0" dirty="0">
                <a:solidFill>
                  <a:schemeClr val="tx1"/>
                </a:solidFill>
                <a:latin typeface="+mn-lt"/>
                <a:ea typeface="+mn-ea"/>
                <a:cs typeface="+mn-cs"/>
              </a:rPr>
              <a:t>und </a:t>
            </a:r>
            <a:r>
              <a:rPr lang="de-DE" sz="1200" b="0" i="1" u="none" strike="noStrike" kern="1200" baseline="0" dirty="0">
                <a:solidFill>
                  <a:schemeClr val="tx1"/>
                </a:solidFill>
                <a:latin typeface="+mn-lt"/>
                <a:ea typeface="+mn-ea"/>
                <a:cs typeface="+mn-cs"/>
              </a:rPr>
              <a:t>w </a:t>
            </a:r>
            <a:r>
              <a:rPr lang="de-DE" sz="1200" b="0" i="0" u="none" strike="noStrike" kern="1200" baseline="0" dirty="0">
                <a:solidFill>
                  <a:schemeClr val="tx1"/>
                </a:solidFill>
                <a:latin typeface="+mn-lt"/>
                <a:ea typeface="+mn-ea"/>
                <a:cs typeface="+mn-cs"/>
              </a:rPr>
              <a:t>sind. Die Kosten für y</a:t>
            </a:r>
          </a:p>
          <a:p>
            <a:r>
              <a:rPr lang="de-DE" sz="1200" b="0" i="0" u="none" strike="noStrike" kern="1200" baseline="0" dirty="0">
                <a:solidFill>
                  <a:schemeClr val="tx1"/>
                </a:solidFill>
                <a:latin typeface="+mn-lt"/>
                <a:ea typeface="+mn-ea"/>
                <a:cs typeface="+mn-cs"/>
              </a:rPr>
              <a:t>und </a:t>
            </a:r>
            <a:r>
              <a:rPr lang="de-DE" sz="1200" b="0" i="1" u="none" strike="noStrike" kern="1200" baseline="0" dirty="0">
                <a:solidFill>
                  <a:schemeClr val="tx1"/>
                </a:solidFill>
                <a:latin typeface="+mn-lt"/>
                <a:ea typeface="+mn-ea"/>
                <a:cs typeface="+mn-cs"/>
              </a:rPr>
              <a:t>z </a:t>
            </a:r>
            <a:r>
              <a:rPr lang="de-DE" sz="1200" b="0" i="0" u="none" strike="noStrike" kern="1200" baseline="0" dirty="0">
                <a:solidFill>
                  <a:schemeClr val="tx1"/>
                </a:solidFill>
                <a:latin typeface="+mn-lt"/>
                <a:ea typeface="+mn-ea"/>
                <a:cs typeface="+mn-cs"/>
              </a:rPr>
              <a:t>betragen unendlich, weil sie nicht direkt mit </a:t>
            </a:r>
            <a:r>
              <a:rPr lang="de-DE" sz="1200" b="0" i="1" u="none" strike="noStrike" kern="1200" baseline="0" dirty="0">
                <a:solidFill>
                  <a:schemeClr val="tx1"/>
                </a:solidFill>
                <a:latin typeface="+mn-lt"/>
                <a:ea typeface="+mn-ea"/>
                <a:cs typeface="+mn-cs"/>
              </a:rPr>
              <a:t>u </a:t>
            </a:r>
            <a:r>
              <a:rPr lang="de-DE" sz="1200" b="0" i="0" u="none" strike="noStrike" kern="1200" baseline="0" dirty="0">
                <a:solidFill>
                  <a:schemeClr val="tx1"/>
                </a:solidFill>
                <a:latin typeface="+mn-lt"/>
                <a:ea typeface="+mn-ea"/>
                <a:cs typeface="+mn-cs"/>
              </a:rPr>
              <a:t>zusammenhängen.</a:t>
            </a:r>
          </a:p>
          <a:p>
            <a:endParaRPr lang="de-DE" sz="1200" b="0" i="0" u="none" strike="noStrike" kern="1200" baseline="0" dirty="0">
              <a:solidFill>
                <a:schemeClr val="tx1"/>
              </a:solidFill>
              <a:latin typeface="+mn-lt"/>
              <a:ea typeface="+mn-ea"/>
              <a:cs typeface="+mn-cs"/>
            </a:endParaRPr>
          </a:p>
          <a:p>
            <a:r>
              <a:rPr lang="de-DE" sz="1200" b="0" i="0" u="none" strike="noStrike" kern="1200" baseline="0" dirty="0">
                <a:solidFill>
                  <a:schemeClr val="tx1"/>
                </a:solidFill>
                <a:latin typeface="+mn-lt"/>
                <a:ea typeface="+mn-ea"/>
                <a:cs typeface="+mn-cs"/>
              </a:rPr>
              <a:t>In der ersten Iteration durchsuchen wir die Knoten, die der Menge N' noch nicht</a:t>
            </a:r>
          </a:p>
          <a:p>
            <a:r>
              <a:rPr lang="de-DE" sz="1200" b="0" i="0" u="none" strike="noStrike" kern="1200" baseline="0" dirty="0">
                <a:solidFill>
                  <a:schemeClr val="tx1"/>
                </a:solidFill>
                <a:latin typeface="+mn-lt"/>
                <a:ea typeface="+mn-ea"/>
                <a:cs typeface="+mn-cs"/>
              </a:rPr>
              <a:t>hinzugefügt wurden, und identifizieren denjenigen Knoten, der zum Ende der vorherigen</a:t>
            </a:r>
          </a:p>
          <a:p>
            <a:r>
              <a:rPr lang="de-DE" sz="1200" b="0" i="0" u="none" strike="noStrike" kern="1200" baseline="0" dirty="0">
                <a:solidFill>
                  <a:schemeClr val="tx1"/>
                </a:solidFill>
                <a:latin typeface="+mn-lt"/>
                <a:ea typeface="+mn-ea"/>
                <a:cs typeface="+mn-cs"/>
              </a:rPr>
              <a:t>Iteration die geringsten Kosten aufwies. Dieser Knoten ist x, mit den Kosten</a:t>
            </a:r>
          </a:p>
          <a:p>
            <a:r>
              <a:rPr lang="de-DE" sz="1200" b="0" i="0" u="none" strike="noStrike" kern="1200" baseline="0" dirty="0">
                <a:solidFill>
                  <a:schemeClr val="tx1"/>
                </a:solidFill>
                <a:latin typeface="+mn-lt"/>
                <a:ea typeface="+mn-ea"/>
                <a:cs typeface="+mn-cs"/>
              </a:rPr>
              <a:t>1, und daher wird x zur Menge N' hinzugefügt. Zeile 12 des LS-Routing-Algorithmus</a:t>
            </a:r>
          </a:p>
          <a:p>
            <a:r>
              <a:rPr lang="de-DE" sz="1200" b="0" i="0" u="none" strike="noStrike" kern="1200" baseline="0" dirty="0">
                <a:solidFill>
                  <a:schemeClr val="tx1"/>
                </a:solidFill>
                <a:latin typeface="+mn-lt"/>
                <a:ea typeface="+mn-ea"/>
                <a:cs typeface="+mn-cs"/>
              </a:rPr>
              <a:t>wird ausgeführt, um </a:t>
            </a:r>
            <a:r>
              <a:rPr lang="de-DE" sz="1200" b="0" i="1" u="none" strike="noStrike" kern="1200" baseline="0" dirty="0">
                <a:solidFill>
                  <a:schemeClr val="tx1"/>
                </a:solidFill>
                <a:latin typeface="+mn-lt"/>
                <a:ea typeface="+mn-ea"/>
                <a:cs typeface="+mn-cs"/>
              </a:rPr>
              <a:t>D(v) </a:t>
            </a:r>
            <a:r>
              <a:rPr lang="de-DE" sz="1200" b="0" i="0" u="none" strike="noStrike" kern="1200" baseline="0" dirty="0">
                <a:solidFill>
                  <a:schemeClr val="tx1"/>
                </a:solidFill>
                <a:latin typeface="+mn-lt"/>
                <a:ea typeface="+mn-ea"/>
                <a:cs typeface="+mn-cs"/>
              </a:rPr>
              <a:t>für alle Knoten </a:t>
            </a:r>
            <a:r>
              <a:rPr lang="de-DE" sz="1200" b="0" i="1" u="none" strike="noStrike" kern="1200" baseline="0" dirty="0">
                <a:solidFill>
                  <a:schemeClr val="tx1"/>
                </a:solidFill>
                <a:latin typeface="+mn-lt"/>
                <a:ea typeface="+mn-ea"/>
                <a:cs typeface="+mn-cs"/>
              </a:rPr>
              <a:t>v </a:t>
            </a:r>
            <a:r>
              <a:rPr lang="de-DE" sz="1200" b="0" i="0" u="none" strike="noStrike" kern="1200" baseline="0" dirty="0">
                <a:solidFill>
                  <a:schemeClr val="tx1"/>
                </a:solidFill>
                <a:latin typeface="+mn-lt"/>
                <a:ea typeface="+mn-ea"/>
                <a:cs typeface="+mn-cs"/>
              </a:rPr>
              <a:t>zu aktualisieren, was zu den</a:t>
            </a:r>
          </a:p>
          <a:p>
            <a:r>
              <a:rPr lang="de-DE" sz="1200" b="0" i="0" u="none" strike="noStrike" kern="1200" baseline="0" dirty="0">
                <a:solidFill>
                  <a:schemeClr val="tx1"/>
                </a:solidFill>
                <a:latin typeface="+mn-lt"/>
                <a:ea typeface="+mn-ea"/>
                <a:cs typeface="+mn-cs"/>
              </a:rPr>
              <a:t>Ergebnissen der zweiten Zeile (Schritt 1) in Tabelle führt. Die Kosten des Pfades</a:t>
            </a:r>
          </a:p>
          <a:p>
            <a:r>
              <a:rPr lang="de-DE" sz="1200" b="0" i="0" u="none" strike="noStrike" kern="1200" baseline="0" dirty="0">
                <a:solidFill>
                  <a:schemeClr val="tx1"/>
                </a:solidFill>
                <a:latin typeface="+mn-lt"/>
                <a:ea typeface="+mn-ea"/>
                <a:cs typeface="+mn-cs"/>
              </a:rPr>
              <a:t>zu </a:t>
            </a:r>
            <a:r>
              <a:rPr lang="de-DE" sz="1200" b="0" i="1" u="none" strike="noStrike" kern="1200" baseline="0" dirty="0">
                <a:solidFill>
                  <a:schemeClr val="tx1"/>
                </a:solidFill>
                <a:latin typeface="+mn-lt"/>
                <a:ea typeface="+mn-ea"/>
                <a:cs typeface="+mn-cs"/>
              </a:rPr>
              <a:t>v </a:t>
            </a:r>
            <a:r>
              <a:rPr lang="de-DE" sz="1200" b="0" i="0" u="none" strike="noStrike" kern="1200" baseline="0" dirty="0">
                <a:solidFill>
                  <a:schemeClr val="tx1"/>
                </a:solidFill>
                <a:latin typeface="+mn-lt"/>
                <a:ea typeface="+mn-ea"/>
                <a:cs typeface="+mn-cs"/>
              </a:rPr>
              <a:t>verändern sich nicht. Die Kosten des Pfades zu </a:t>
            </a:r>
            <a:r>
              <a:rPr lang="de-DE" sz="1200" b="0" i="1" u="none" strike="noStrike" kern="1200" baseline="0" dirty="0">
                <a:solidFill>
                  <a:schemeClr val="tx1"/>
                </a:solidFill>
                <a:latin typeface="+mn-lt"/>
                <a:ea typeface="+mn-ea"/>
                <a:cs typeface="+mn-cs"/>
              </a:rPr>
              <a:t>w </a:t>
            </a:r>
            <a:r>
              <a:rPr lang="de-DE" sz="1200" b="0" i="0" u="none" strike="noStrike" kern="1200" baseline="0" dirty="0">
                <a:solidFill>
                  <a:schemeClr val="tx1"/>
                </a:solidFill>
                <a:latin typeface="+mn-lt"/>
                <a:ea typeface="+mn-ea"/>
                <a:cs typeface="+mn-cs"/>
              </a:rPr>
              <a:t>(die nach der Initialisierung</a:t>
            </a:r>
          </a:p>
          <a:p>
            <a:r>
              <a:rPr lang="de-DE" sz="1200" b="0" i="0" u="none" strike="noStrike" kern="1200" baseline="0" dirty="0">
                <a:solidFill>
                  <a:schemeClr val="tx1"/>
                </a:solidFill>
                <a:latin typeface="+mn-lt"/>
                <a:ea typeface="+mn-ea"/>
                <a:cs typeface="+mn-cs"/>
              </a:rPr>
              <a:t>zunächst 5 betrugen) über Knoten x betragen 4. Daher wird dieser kostengünstigere</a:t>
            </a:r>
          </a:p>
          <a:p>
            <a:r>
              <a:rPr lang="de-DE" sz="1200" b="0" i="0" u="none" strike="noStrike" kern="1200" baseline="0" dirty="0">
                <a:solidFill>
                  <a:schemeClr val="tx1"/>
                </a:solidFill>
                <a:latin typeface="+mn-lt"/>
                <a:ea typeface="+mn-ea"/>
                <a:cs typeface="+mn-cs"/>
              </a:rPr>
              <a:t>Pfad gewählt und der Vorgänger von </a:t>
            </a:r>
            <a:r>
              <a:rPr lang="de-DE" sz="1200" b="0" i="1" u="none" strike="noStrike" kern="1200" baseline="0" dirty="0">
                <a:solidFill>
                  <a:schemeClr val="tx1"/>
                </a:solidFill>
                <a:latin typeface="+mn-lt"/>
                <a:ea typeface="+mn-ea"/>
                <a:cs typeface="+mn-cs"/>
              </a:rPr>
              <a:t>w </a:t>
            </a:r>
            <a:r>
              <a:rPr lang="de-DE" sz="1200" b="0" i="0" u="none" strike="noStrike" kern="1200" baseline="0" dirty="0">
                <a:solidFill>
                  <a:schemeClr val="tx1"/>
                </a:solidFill>
                <a:latin typeface="+mn-lt"/>
                <a:ea typeface="+mn-ea"/>
                <a:cs typeface="+mn-cs"/>
              </a:rPr>
              <a:t>auf dem kürzesten Pfad von </a:t>
            </a:r>
            <a:r>
              <a:rPr lang="de-DE" sz="1200" b="0" i="1" u="none" strike="noStrike" kern="1200" baseline="0" dirty="0">
                <a:solidFill>
                  <a:schemeClr val="tx1"/>
                </a:solidFill>
                <a:latin typeface="+mn-lt"/>
                <a:ea typeface="+mn-ea"/>
                <a:cs typeface="+mn-cs"/>
              </a:rPr>
              <a:t>u </a:t>
            </a:r>
            <a:r>
              <a:rPr lang="de-DE" sz="1200" b="0" i="0" u="none" strike="noStrike" kern="1200" baseline="0" dirty="0">
                <a:solidFill>
                  <a:schemeClr val="tx1"/>
                </a:solidFill>
                <a:latin typeface="+mn-lt"/>
                <a:ea typeface="+mn-ea"/>
                <a:cs typeface="+mn-cs"/>
              </a:rPr>
              <a:t>wird</a:t>
            </a:r>
          </a:p>
          <a:p>
            <a:r>
              <a:rPr lang="de-DE" sz="1200" b="0" i="0" u="none" strike="noStrike" kern="1200" baseline="0" dirty="0">
                <a:solidFill>
                  <a:schemeClr val="tx1"/>
                </a:solidFill>
                <a:latin typeface="+mn-lt"/>
                <a:ea typeface="+mn-ea"/>
                <a:cs typeface="+mn-cs"/>
              </a:rPr>
              <a:t>auf x gesetzt. Ebenso werden die Kosten für y (über x) zu 2 berechnet und die</a:t>
            </a:r>
          </a:p>
          <a:p>
            <a:r>
              <a:rPr lang="de-DE" sz="1200" b="0" i="0" u="none" strike="noStrike" kern="1200" baseline="0" dirty="0">
                <a:solidFill>
                  <a:schemeClr val="tx1"/>
                </a:solidFill>
                <a:latin typeface="+mn-lt"/>
                <a:ea typeface="+mn-ea"/>
                <a:cs typeface="+mn-cs"/>
              </a:rPr>
              <a:t>Tabelle wird dementsprechend aktualisiert.</a:t>
            </a:r>
          </a:p>
          <a:p>
            <a:endParaRPr lang="de-DE" sz="1200" b="0" i="0" u="none" strike="noStrike" kern="1200" baseline="0" dirty="0">
              <a:solidFill>
                <a:schemeClr val="tx1"/>
              </a:solidFill>
              <a:latin typeface="+mn-lt"/>
              <a:ea typeface="+mn-ea"/>
              <a:cs typeface="+mn-cs"/>
            </a:endParaRPr>
          </a:p>
          <a:p>
            <a:r>
              <a:rPr lang="de-DE" sz="1200" b="0" i="0" u="none" strike="noStrike" kern="1200" baseline="0" dirty="0">
                <a:solidFill>
                  <a:schemeClr val="tx1"/>
                </a:solidFill>
                <a:latin typeface="+mn-lt"/>
                <a:ea typeface="+mn-ea"/>
                <a:cs typeface="+mn-cs"/>
              </a:rPr>
              <a:t>In der zweiten Iteration haben wir sowohl für </a:t>
            </a:r>
            <a:r>
              <a:rPr lang="de-DE" sz="1200" b="0" i="1" u="none" strike="noStrike" kern="1200" baseline="0" dirty="0">
                <a:solidFill>
                  <a:schemeClr val="tx1"/>
                </a:solidFill>
                <a:latin typeface="+mn-lt"/>
                <a:ea typeface="+mn-ea"/>
                <a:cs typeface="+mn-cs"/>
              </a:rPr>
              <a:t>v </a:t>
            </a:r>
            <a:r>
              <a:rPr lang="de-DE" sz="1200" b="0" i="0" u="none" strike="noStrike" kern="1200" baseline="0" dirty="0">
                <a:solidFill>
                  <a:schemeClr val="tx1"/>
                </a:solidFill>
                <a:latin typeface="+mn-lt"/>
                <a:ea typeface="+mn-ea"/>
                <a:cs typeface="+mn-cs"/>
              </a:rPr>
              <a:t>als auch für y einen kostengÜllstigsten</a:t>
            </a:r>
          </a:p>
          <a:p>
            <a:r>
              <a:rPr lang="de-DE" sz="1200" b="0" i="0" u="none" strike="noStrike" kern="1200" baseline="0" dirty="0">
                <a:solidFill>
                  <a:schemeClr val="tx1"/>
                </a:solidFill>
                <a:latin typeface="+mn-lt"/>
                <a:ea typeface="+mn-ea"/>
                <a:cs typeface="+mn-cs"/>
              </a:rPr>
              <a:t>Pfad mit Länge 2. Wir lösen diese Pattsituation ganz nach Belieben auf und fügen</a:t>
            </a:r>
          </a:p>
          <a:p>
            <a:r>
              <a:rPr lang="de-DE" sz="1200" b="0" i="0" u="none" strike="noStrike" kern="1200" baseline="0" dirty="0">
                <a:solidFill>
                  <a:schemeClr val="tx1"/>
                </a:solidFill>
                <a:latin typeface="+mn-lt"/>
                <a:ea typeface="+mn-ea"/>
                <a:cs typeface="+mn-cs"/>
              </a:rPr>
              <a:t>N' den Knoten y hinzu, so dass N' jetzt </a:t>
            </a:r>
            <a:r>
              <a:rPr lang="de-DE" sz="1200" b="0" i="1" u="none" strike="noStrike" kern="1200" baseline="0" dirty="0">
                <a:solidFill>
                  <a:schemeClr val="tx1"/>
                </a:solidFill>
                <a:latin typeface="+mn-lt"/>
                <a:ea typeface="+mn-ea"/>
                <a:cs typeface="+mn-cs"/>
              </a:rPr>
              <a:t>u, </a:t>
            </a:r>
            <a:r>
              <a:rPr lang="de-DE" sz="1200" b="0" i="0" u="none" strike="noStrike" kern="1200" baseline="0" dirty="0">
                <a:solidFill>
                  <a:schemeClr val="tx1"/>
                </a:solidFill>
                <a:latin typeface="+mn-lt"/>
                <a:ea typeface="+mn-ea"/>
                <a:cs typeface="+mn-cs"/>
              </a:rPr>
              <a:t>x und y enthält. Die Kosten der übrigen</a:t>
            </a:r>
          </a:p>
          <a:p>
            <a:r>
              <a:rPr lang="de-DE" sz="1200" b="0" i="0" u="none" strike="noStrike" kern="1200" baseline="0" dirty="0">
                <a:solidFill>
                  <a:schemeClr val="tx1"/>
                </a:solidFill>
                <a:latin typeface="+mn-lt"/>
                <a:ea typeface="+mn-ea"/>
                <a:cs typeface="+mn-cs"/>
              </a:rPr>
              <a:t>Knoten, die noch nicht in N' enthalten sind, das heißt die Knoten </a:t>
            </a:r>
            <a:r>
              <a:rPr lang="de-DE" sz="1200" b="0" i="1" u="none" strike="noStrike" kern="1200" baseline="0" dirty="0">
                <a:solidFill>
                  <a:schemeClr val="tx1"/>
                </a:solidFill>
                <a:latin typeface="+mn-lt"/>
                <a:ea typeface="+mn-ea"/>
                <a:cs typeface="+mn-cs"/>
              </a:rPr>
              <a:t>V, w und z, </a:t>
            </a:r>
            <a:r>
              <a:rPr lang="de-DE" sz="1200" b="0" i="0" u="none" strike="noStrike" kern="1200" baseline="0" dirty="0">
                <a:solidFill>
                  <a:schemeClr val="tx1"/>
                </a:solidFill>
                <a:latin typeface="+mn-lt"/>
                <a:ea typeface="+mn-ea"/>
                <a:cs typeface="+mn-cs"/>
              </a:rPr>
              <a:t>werden</a:t>
            </a:r>
          </a:p>
          <a:p>
            <a:r>
              <a:rPr lang="de-DE" sz="1200" b="0" i="0" u="none" strike="noStrike" kern="1200" baseline="0" dirty="0">
                <a:solidFill>
                  <a:schemeClr val="tx1"/>
                </a:solidFill>
                <a:latin typeface="+mn-lt"/>
                <a:ea typeface="+mn-ea"/>
                <a:cs typeface="+mn-cs"/>
              </a:rPr>
              <a:t>mittels Zeile 12 des LS-Routing-Algorithmus aktualisiert, wodurch die Ergebnisse</a:t>
            </a:r>
          </a:p>
          <a:p>
            <a:r>
              <a:rPr lang="de-DE" sz="1200" b="0" i="0" u="none" strike="noStrike" kern="1200" baseline="0" dirty="0">
                <a:solidFill>
                  <a:schemeClr val="tx1"/>
                </a:solidFill>
                <a:latin typeface="+mn-lt"/>
                <a:ea typeface="+mn-ea"/>
                <a:cs typeface="+mn-cs"/>
              </a:rPr>
              <a:t>der dritten Zeile in Tabelle entstehen.</a:t>
            </a:r>
          </a:p>
          <a:p>
            <a:endParaRPr lang="de-DE" sz="1200" b="0" i="0" u="none" strike="noStrike" kern="1200" baseline="0" dirty="0">
              <a:solidFill>
                <a:schemeClr val="tx1"/>
              </a:solidFill>
              <a:latin typeface="+mn-lt"/>
              <a:ea typeface="+mn-ea"/>
              <a:cs typeface="+mn-cs"/>
            </a:endParaRPr>
          </a:p>
          <a:p>
            <a:r>
              <a:rPr lang="de-DE" sz="1200" b="0" i="0" u="none" strike="noStrike" kern="1200" baseline="0" dirty="0">
                <a:solidFill>
                  <a:schemeClr val="tx1"/>
                </a:solidFill>
                <a:latin typeface="+mn-lt"/>
                <a:ea typeface="+mn-ea"/>
                <a:cs typeface="+mn-cs"/>
              </a:rPr>
              <a:t>Und so weiter ...</a:t>
            </a:r>
          </a:p>
          <a:p>
            <a:endParaRPr lang="de-DE" dirty="0"/>
          </a:p>
        </p:txBody>
      </p:sp>
      <p:sp>
        <p:nvSpPr>
          <p:cNvPr id="4" name="Slide Number Placeholder 3"/>
          <p:cNvSpPr>
            <a:spLocks noGrp="1"/>
          </p:cNvSpPr>
          <p:nvPr>
            <p:ph type="sldNum" sz="quarter" idx="10"/>
          </p:nvPr>
        </p:nvSpPr>
        <p:spPr/>
        <p:txBody>
          <a:bodyPr/>
          <a:lstStyle/>
          <a:p>
            <a:fld id="{6D176CDC-8D0E-409F-856B-BAE38288A8E4}" type="slidenum">
              <a:rPr lang="en-US" smtClean="0"/>
              <a:pPr/>
              <a:t>30</a:t>
            </a:fld>
            <a:endParaRPr lang="en-US" dirty="0"/>
          </a:p>
        </p:txBody>
      </p:sp>
    </p:spTree>
    <p:extLst>
      <p:ext uri="{BB962C8B-B14F-4D97-AF65-F5344CB8AC3E}">
        <p14:creationId xmlns:p14="http://schemas.microsoft.com/office/powerpoint/2010/main" val="314663213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de-DE" dirty="0"/>
              <a:t>Wie genau berechnet man diese?</a:t>
            </a:r>
          </a:p>
          <a:p>
            <a:pPr marL="0" marR="0" indent="0" algn="l" defTabSz="914400" rtl="0" eaLnBrk="1" fontAlgn="auto" latinLnBrk="0" hangingPunct="1">
              <a:lnSpc>
                <a:spcPct val="100000"/>
              </a:lnSpc>
              <a:spcBef>
                <a:spcPts val="0"/>
              </a:spcBef>
              <a:spcAft>
                <a:spcPts val="0"/>
              </a:spcAft>
              <a:buClrTx/>
              <a:buSzTx/>
              <a:buFontTx/>
              <a:buNone/>
              <a:tabLst/>
              <a:defRPr/>
            </a:pPr>
            <a:r>
              <a:rPr lang="de-DE" dirty="0"/>
              <a:t>Man startet</a:t>
            </a:r>
            <a:r>
              <a:rPr lang="de-DE" baseline="0" dirty="0"/>
              <a:t> bei einem Zielknoten T und geht nacheinander die „Parent“-Zeiger bis u durch. Damit hat man den günstigsten Weg von u nach T in umgekehrter Richtung durchlaufen. Der letzte Knoten vor u wird als der Ausgang für das Ziel T in die Weiterleitungstabelle eingetragen. Das tut man für alle Ziele.</a:t>
            </a:r>
            <a:endParaRPr lang="de-DE" dirty="0"/>
          </a:p>
          <a:p>
            <a:endParaRPr lang="de-DE" dirty="0"/>
          </a:p>
        </p:txBody>
      </p:sp>
      <p:sp>
        <p:nvSpPr>
          <p:cNvPr id="4" name="Foliennummernplatzhalter 3"/>
          <p:cNvSpPr>
            <a:spLocks noGrp="1"/>
          </p:cNvSpPr>
          <p:nvPr>
            <p:ph type="sldNum" sz="quarter" idx="10"/>
          </p:nvPr>
        </p:nvSpPr>
        <p:spPr/>
        <p:txBody>
          <a:bodyPr/>
          <a:lstStyle/>
          <a:p>
            <a:fld id="{6D176CDC-8D0E-409F-856B-BAE38288A8E4}" type="slidenum">
              <a:rPr lang="en-US" smtClean="0"/>
              <a:pPr/>
              <a:t>31</a:t>
            </a:fld>
            <a:endParaRPr lang="en-US" dirty="0"/>
          </a:p>
        </p:txBody>
      </p:sp>
    </p:spTree>
    <p:extLst>
      <p:ext uri="{BB962C8B-B14F-4D97-AF65-F5344CB8AC3E}">
        <p14:creationId xmlns:p14="http://schemas.microsoft.com/office/powerpoint/2010/main" val="304048380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a:bodyPr>
          <a:lstStyle/>
          <a:p>
            <a:r>
              <a:rPr lang="de-DE" sz="1200" b="1" dirty="0">
                <a:solidFill>
                  <a:srgbClr val="FF0000"/>
                </a:solidFill>
              </a:rPr>
              <a:t>Oszillationen</a:t>
            </a:r>
          </a:p>
          <a:p>
            <a:r>
              <a:rPr lang="de-DE" sz="1200" b="0" i="0" u="none" strike="noStrike" kern="1200" baseline="0" dirty="0">
                <a:solidFill>
                  <a:schemeClr val="tx1"/>
                </a:solidFill>
                <a:latin typeface="+mn-lt"/>
                <a:ea typeface="+mn-ea"/>
                <a:cs typeface="+mn-cs"/>
              </a:rPr>
              <a:t>Betrachten wir eine problematische Situation, die auftreten könnte. Abbildung zeigt eine einfache</a:t>
            </a:r>
          </a:p>
          <a:p>
            <a:r>
              <a:rPr lang="de-DE" sz="1200" b="0" i="0" u="none" strike="noStrike" kern="1200" baseline="0" dirty="0">
                <a:solidFill>
                  <a:schemeClr val="tx1"/>
                </a:solidFill>
                <a:latin typeface="+mn-lt"/>
                <a:ea typeface="+mn-ea"/>
                <a:cs typeface="+mn-cs"/>
              </a:rPr>
              <a:t>Netzwerktopologie, in der die Leitungskosten der Last auf der Leitung entsprechen,</a:t>
            </a:r>
          </a:p>
          <a:p>
            <a:r>
              <a:rPr lang="de-DE" sz="1200" b="0" i="0" u="none" strike="noStrike" kern="1200" baseline="0" dirty="0">
                <a:solidFill>
                  <a:schemeClr val="tx1"/>
                </a:solidFill>
                <a:latin typeface="+mn-lt"/>
                <a:ea typeface="+mn-ea"/>
                <a:cs typeface="+mn-cs"/>
              </a:rPr>
              <a:t>um zum Beispiel die Verzögerung widerzuspiegeln. In diesem Beispiel sind die</a:t>
            </a:r>
          </a:p>
          <a:p>
            <a:r>
              <a:rPr lang="de-DE" sz="1200" b="0" i="0" u="none" strike="noStrike" kern="1200" baseline="0" dirty="0">
                <a:solidFill>
                  <a:schemeClr val="tx1"/>
                </a:solidFill>
                <a:latin typeface="+mn-lt"/>
                <a:ea typeface="+mn-ea"/>
                <a:cs typeface="+mn-cs"/>
              </a:rPr>
              <a:t>Leitungskosten nicht symmetrisch; das heißt, </a:t>
            </a:r>
            <a:r>
              <a:rPr lang="de-DE" sz="1200" b="0" i="1" u="none" strike="noStrike" kern="1200" baseline="0" dirty="0">
                <a:solidFill>
                  <a:schemeClr val="tx1"/>
                </a:solidFill>
                <a:latin typeface="+mn-lt"/>
                <a:ea typeface="+mn-ea"/>
                <a:cs typeface="+mn-cs"/>
              </a:rPr>
              <a:t>c(u, v) </a:t>
            </a:r>
            <a:r>
              <a:rPr lang="de-DE" sz="1200" b="0" i="0" u="none" strike="noStrike" kern="1200" baseline="0" dirty="0">
                <a:solidFill>
                  <a:schemeClr val="tx1"/>
                </a:solidFill>
                <a:latin typeface="+mn-lt"/>
                <a:ea typeface="+mn-ea"/>
                <a:cs typeface="+mn-cs"/>
              </a:rPr>
              <a:t>ist nur dann gleich </a:t>
            </a:r>
            <a:r>
              <a:rPr lang="de-DE" sz="1200" b="0" i="1" u="none" strike="noStrike" kern="1200" baseline="0" dirty="0">
                <a:solidFill>
                  <a:schemeClr val="tx1"/>
                </a:solidFill>
                <a:latin typeface="+mn-lt"/>
                <a:ea typeface="+mn-ea"/>
                <a:cs typeface="+mn-cs"/>
              </a:rPr>
              <a:t>c(u, v), </a:t>
            </a:r>
            <a:r>
              <a:rPr lang="de-DE" sz="1200" b="0" i="0" u="none" strike="noStrike" kern="1200" baseline="0" dirty="0">
                <a:solidFill>
                  <a:schemeClr val="tx1"/>
                </a:solidFill>
                <a:latin typeface="+mn-lt"/>
                <a:ea typeface="+mn-ea"/>
                <a:cs typeface="+mn-cs"/>
              </a:rPr>
              <a:t>wenn</a:t>
            </a:r>
          </a:p>
          <a:p>
            <a:r>
              <a:rPr lang="de-DE" sz="1200" b="0" i="0" u="none" strike="noStrike" kern="1200" baseline="0" dirty="0">
                <a:solidFill>
                  <a:schemeClr val="tx1"/>
                </a:solidFill>
                <a:latin typeface="+mn-lt"/>
                <a:ea typeface="+mn-ea"/>
                <a:cs typeface="+mn-cs"/>
              </a:rPr>
              <a:t>auch die Last auf der Leitung </a:t>
            </a:r>
            <a:r>
              <a:rPr lang="de-DE" sz="1200" b="0" i="1" u="none" strike="noStrike" kern="1200" baseline="0" dirty="0">
                <a:solidFill>
                  <a:schemeClr val="tx1"/>
                </a:solidFill>
                <a:latin typeface="+mn-lt"/>
                <a:ea typeface="+mn-ea"/>
                <a:cs typeface="+mn-cs"/>
              </a:rPr>
              <a:t>(u, v) </a:t>
            </a:r>
            <a:r>
              <a:rPr lang="de-DE" sz="1200" b="0" i="0" u="none" strike="noStrike" kern="1200" baseline="0" dirty="0">
                <a:solidFill>
                  <a:schemeClr val="tx1"/>
                </a:solidFill>
                <a:latin typeface="+mn-lt"/>
                <a:ea typeface="+mn-ea"/>
                <a:cs typeface="+mn-cs"/>
              </a:rPr>
              <a:t>ebenfalls in beide Richtungen gleich ist. In diesem</a:t>
            </a:r>
          </a:p>
          <a:p>
            <a:r>
              <a:rPr lang="de-DE" sz="1200" b="0" i="0" u="none" strike="noStrike" kern="1200" baseline="0" dirty="0">
                <a:solidFill>
                  <a:schemeClr val="tx1"/>
                </a:solidFill>
                <a:latin typeface="+mn-lt"/>
                <a:ea typeface="+mn-ea"/>
                <a:cs typeface="+mn-cs"/>
              </a:rPr>
              <a:t>Beispiel verursacht Knoten z (D) eine Einheit des für </a:t>
            </a:r>
            <a:r>
              <a:rPr lang="de-DE" sz="1200" b="0" i="1" u="none" strike="noStrike" kern="1200" baseline="0" dirty="0">
                <a:solidFill>
                  <a:schemeClr val="tx1"/>
                </a:solidFill>
                <a:latin typeface="+mn-lt"/>
                <a:ea typeface="+mn-ea"/>
                <a:cs typeface="+mn-cs"/>
              </a:rPr>
              <a:t>w </a:t>
            </a:r>
            <a:r>
              <a:rPr lang="de-DE" sz="1200" b="0" i="0" u="none" strike="noStrike" kern="1200" baseline="0" dirty="0">
                <a:solidFill>
                  <a:schemeClr val="tx1"/>
                </a:solidFill>
                <a:latin typeface="+mn-lt"/>
                <a:ea typeface="+mn-ea"/>
                <a:cs typeface="+mn-cs"/>
              </a:rPr>
              <a:t> (A) </a:t>
            </a:r>
            <a:r>
              <a:rPr lang="de-DE" sz="1200" b="0" i="1" u="none" strike="noStrike" kern="1200" baseline="0" dirty="0">
                <a:solidFill>
                  <a:schemeClr val="tx1"/>
                </a:solidFill>
                <a:latin typeface="+mn-lt"/>
                <a:ea typeface="+mn-ea"/>
                <a:cs typeface="+mn-cs"/>
              </a:rPr>
              <a:t> </a:t>
            </a:r>
            <a:r>
              <a:rPr lang="de-DE" sz="1200" b="0" i="0" u="none" strike="noStrike" kern="1200" baseline="0" dirty="0">
                <a:solidFill>
                  <a:schemeClr val="tx1"/>
                </a:solidFill>
                <a:latin typeface="+mn-lt"/>
                <a:ea typeface="+mn-ea"/>
                <a:cs typeface="+mn-cs"/>
              </a:rPr>
              <a:t>bestimmten Verkehrs, Knoten x (B)</a:t>
            </a:r>
          </a:p>
          <a:p>
            <a:r>
              <a:rPr lang="de-DE" sz="1200" b="0" i="0" u="none" strike="noStrike" kern="1200" baseline="0" dirty="0">
                <a:solidFill>
                  <a:schemeClr val="tx1"/>
                </a:solidFill>
                <a:latin typeface="+mn-lt"/>
                <a:ea typeface="+mn-ea"/>
                <a:cs typeface="+mn-cs"/>
              </a:rPr>
              <a:t>verursacht ebenfalls eine Einheit des für </a:t>
            </a:r>
            <a:r>
              <a:rPr lang="de-DE" sz="1200" b="0" i="1" u="none" strike="noStrike" kern="1200" baseline="0" dirty="0">
                <a:solidFill>
                  <a:schemeClr val="tx1"/>
                </a:solidFill>
                <a:latin typeface="+mn-lt"/>
                <a:ea typeface="+mn-ea"/>
                <a:cs typeface="+mn-cs"/>
              </a:rPr>
              <a:t>w </a:t>
            </a:r>
            <a:r>
              <a:rPr lang="de-DE" sz="1200" b="0" i="0" u="none" strike="noStrike" kern="1200" baseline="0" dirty="0">
                <a:solidFill>
                  <a:schemeClr val="tx1"/>
                </a:solidFill>
                <a:latin typeface="+mn-lt"/>
                <a:ea typeface="+mn-ea"/>
                <a:cs typeface="+mn-cs"/>
              </a:rPr>
              <a:t>bestimmten Verkehrs und Knoten y (C)</a:t>
            </a:r>
          </a:p>
          <a:p>
            <a:r>
              <a:rPr lang="de-DE" sz="1200" b="0" i="0" u="none" strike="noStrike" kern="1200" baseline="0" dirty="0">
                <a:solidFill>
                  <a:schemeClr val="tx1"/>
                </a:solidFill>
                <a:latin typeface="+mn-lt"/>
                <a:ea typeface="+mn-ea"/>
                <a:cs typeface="+mn-cs"/>
              </a:rPr>
              <a:t>erzeugt das Verkehrsaufkommen </a:t>
            </a:r>
            <a:r>
              <a:rPr lang="de-DE" sz="1200" b="0" i="1" u="none" strike="noStrike" kern="1200" baseline="0" dirty="0">
                <a:solidFill>
                  <a:schemeClr val="tx1"/>
                </a:solidFill>
                <a:latin typeface="+mn-lt"/>
                <a:ea typeface="+mn-ea"/>
                <a:cs typeface="+mn-cs"/>
              </a:rPr>
              <a:t>e, </a:t>
            </a:r>
            <a:r>
              <a:rPr lang="de-DE" sz="1200" b="0" i="0" u="none" strike="noStrike" kern="1200" baseline="0" dirty="0">
                <a:solidFill>
                  <a:schemeClr val="tx1"/>
                </a:solidFill>
                <a:latin typeface="+mn-lt"/>
                <a:ea typeface="+mn-ea"/>
                <a:cs typeface="+mn-cs"/>
              </a:rPr>
              <a:t>das ebenfalls für </a:t>
            </a:r>
            <a:r>
              <a:rPr lang="de-DE" sz="1200" b="0" i="1" u="none" strike="noStrike" kern="1200" baseline="0" dirty="0">
                <a:solidFill>
                  <a:schemeClr val="tx1"/>
                </a:solidFill>
                <a:latin typeface="+mn-lt"/>
                <a:ea typeface="+mn-ea"/>
                <a:cs typeface="+mn-cs"/>
              </a:rPr>
              <a:t>w </a:t>
            </a:r>
            <a:r>
              <a:rPr lang="de-DE" sz="1200" b="0" i="0" u="none" strike="noStrike" kern="1200" baseline="0" dirty="0">
                <a:solidFill>
                  <a:schemeClr val="tx1"/>
                </a:solidFill>
                <a:latin typeface="+mn-lt"/>
                <a:ea typeface="+mn-ea"/>
                <a:cs typeface="+mn-cs"/>
              </a:rPr>
              <a:t>bestimmt ist.</a:t>
            </a:r>
          </a:p>
          <a:p>
            <a:r>
              <a:rPr lang="de-DE" sz="1200" b="0" i="0" u="none" strike="noStrike" kern="1200" baseline="0" dirty="0">
                <a:solidFill>
                  <a:schemeClr val="tx1"/>
                </a:solidFill>
                <a:latin typeface="+mn-lt"/>
                <a:ea typeface="+mn-ea"/>
                <a:cs typeface="+mn-cs"/>
              </a:rPr>
              <a:t>Das anfängliche Routing ist in Abbildung links dargestellt, zusammen mit den Leitungskosten,</a:t>
            </a:r>
          </a:p>
          <a:p>
            <a:r>
              <a:rPr lang="de-DE" sz="1200" b="0" i="0" u="none" strike="noStrike" kern="1200" baseline="0" dirty="0">
                <a:solidFill>
                  <a:schemeClr val="tx1"/>
                </a:solidFill>
                <a:latin typeface="+mn-lt"/>
                <a:ea typeface="+mn-ea"/>
                <a:cs typeface="+mn-cs"/>
              </a:rPr>
              <a:t>die dem Verkehrsaufkommen entsprechen.</a:t>
            </a:r>
          </a:p>
          <a:p>
            <a:endParaRPr lang="de-DE" dirty="0"/>
          </a:p>
          <a:p>
            <a:r>
              <a:rPr lang="de-DE" dirty="0"/>
              <a:t>Wenn der LS-Routing-Algorithmus das nächste Mal ausgeführt wird, bestimmt Knoten</a:t>
            </a:r>
          </a:p>
          <a:p>
            <a:r>
              <a:rPr lang="de-DE" dirty="0"/>
              <a:t>Y (C) (basierend auf den Leitungskosten in Abbildung, dass für den Pfad nach w im</a:t>
            </a:r>
          </a:p>
          <a:p>
            <a:r>
              <a:rPr lang="de-DE" dirty="0"/>
              <a:t>Uhrzeigersinn die Kosten 1 betragen, während für den Pfad nach w gegen den Uhrzeigersinn</a:t>
            </a:r>
          </a:p>
          <a:p>
            <a:r>
              <a:rPr lang="de-DE" dirty="0"/>
              <a:t>(den er verwendet hatte) die Kosten 1 + e betragen. Daher ist der kostengünstigste</a:t>
            </a:r>
          </a:p>
          <a:p>
            <a:r>
              <a:rPr lang="de-DE" dirty="0"/>
              <a:t>Pfad für y nach w jetzt der im Uhrzeigersinn. In gleicher Weise bestimmt x, dass</a:t>
            </a:r>
          </a:p>
          <a:p>
            <a:r>
              <a:rPr lang="de-DE" dirty="0"/>
              <a:t>sein neuer kostengünstigster Pfad zu webenfalls im Uhrzeigersinn verläuft. Dies führt</a:t>
            </a:r>
          </a:p>
          <a:p>
            <a:r>
              <a:rPr lang="de-DE" dirty="0"/>
              <a:t>zu der in Abbildung 2  gezeigten Situation. Wenn der LS-Routing-Algorithmus</a:t>
            </a:r>
          </a:p>
          <a:p>
            <a:r>
              <a:rPr lang="de-DE" dirty="0"/>
              <a:t>das nächste Mal ausgeführt wird, entdecken die Knoten x, y und z alle einen kostengünstigsten</a:t>
            </a:r>
          </a:p>
          <a:p>
            <a:r>
              <a:rPr lang="de-DE" dirty="0"/>
              <a:t>Pfad zu W, der gegen den Uhrzeigersinn verläuft, und leiten alle ihren Verkehr</a:t>
            </a:r>
          </a:p>
          <a:p>
            <a:r>
              <a:rPr lang="de-DE" dirty="0"/>
              <a:t>auf den gegen den Uhrzeigersinn verlaufenden Pfaden weiter. Bei der nächsten</a:t>
            </a:r>
          </a:p>
          <a:p>
            <a:r>
              <a:rPr lang="de-DE" dirty="0"/>
              <a:t>Ausführung des LS-Routing-Algorithmus leiten x, y und z ihren Verkehr alle wieder</a:t>
            </a:r>
          </a:p>
          <a:p>
            <a:r>
              <a:rPr lang="de-DE" dirty="0"/>
              <a:t>über die im Uhrzeigersinn verlaufenden Pfade weiter und so weiter.</a:t>
            </a:r>
          </a:p>
        </p:txBody>
      </p:sp>
      <p:sp>
        <p:nvSpPr>
          <p:cNvPr id="4" name="Slide Number Placeholder 3"/>
          <p:cNvSpPr>
            <a:spLocks noGrp="1"/>
          </p:cNvSpPr>
          <p:nvPr>
            <p:ph type="sldNum" sz="quarter" idx="10"/>
          </p:nvPr>
        </p:nvSpPr>
        <p:spPr/>
        <p:txBody>
          <a:bodyPr/>
          <a:lstStyle/>
          <a:p>
            <a:fld id="{6D176CDC-8D0E-409F-856B-BAE38288A8E4}" type="slidenum">
              <a:rPr lang="en-US" smtClean="0"/>
              <a:pPr/>
              <a:t>32</a:t>
            </a:fld>
            <a:endParaRPr lang="en-US" dirty="0"/>
          </a:p>
        </p:txBody>
      </p:sp>
    </p:spTree>
    <p:extLst>
      <p:ext uri="{BB962C8B-B14F-4D97-AF65-F5344CB8AC3E}">
        <p14:creationId xmlns:p14="http://schemas.microsoft.com/office/powerpoint/2010/main" val="37429908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normAutofit/>
          </a:bodyPr>
          <a:lstStyle/>
          <a:p>
            <a:endParaRPr lang="de-DE" dirty="0"/>
          </a:p>
        </p:txBody>
      </p:sp>
      <p:sp>
        <p:nvSpPr>
          <p:cNvPr id="4" name="Foliennummernplatzhalter 3"/>
          <p:cNvSpPr>
            <a:spLocks noGrp="1"/>
          </p:cNvSpPr>
          <p:nvPr>
            <p:ph type="sldNum" sz="quarter" idx="10"/>
          </p:nvPr>
        </p:nvSpPr>
        <p:spPr/>
        <p:txBody>
          <a:bodyPr/>
          <a:lstStyle/>
          <a:p>
            <a:fld id="{6D176CDC-8D0E-409F-856B-BAE38288A8E4}" type="slidenum">
              <a:rPr lang="en-US" smtClean="0"/>
              <a:pPr/>
              <a:t>33</a:t>
            </a:fld>
            <a:endParaRPr lang="en-US" dirty="0"/>
          </a:p>
        </p:txBody>
      </p:sp>
    </p:spTree>
    <p:extLst>
      <p:ext uri="{BB962C8B-B14F-4D97-AF65-F5344CB8AC3E}">
        <p14:creationId xmlns:p14="http://schemas.microsoft.com/office/powerpoint/2010/main" val="76264723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elfolie">
    <p:spTree>
      <p:nvGrpSpPr>
        <p:cNvPr id="1" name=""/>
        <p:cNvGrpSpPr/>
        <p:nvPr/>
      </p:nvGrpSpPr>
      <p:grpSpPr>
        <a:xfrm>
          <a:off x="0" y="0"/>
          <a:ext cx="0" cy="0"/>
          <a:chOff x="0" y="0"/>
          <a:chExt cx="0" cy="0"/>
        </a:xfrm>
      </p:grpSpPr>
      <p:sp>
        <p:nvSpPr>
          <p:cNvPr id="8" name="Titel 7"/>
          <p:cNvSpPr>
            <a:spLocks noGrp="1"/>
          </p:cNvSpPr>
          <p:nvPr>
            <p:ph type="ctrTitle"/>
          </p:nvPr>
        </p:nvSpPr>
        <p:spPr>
          <a:xfrm>
            <a:off x="1219200" y="3886200"/>
            <a:ext cx="6858000" cy="990600"/>
          </a:xfrm>
        </p:spPr>
        <p:txBody>
          <a:bodyPr anchor="t" anchorCtr="0"/>
          <a:lstStyle>
            <a:lvl1pPr algn="r">
              <a:defRPr sz="3200">
                <a:solidFill>
                  <a:schemeClr val="tx1"/>
                </a:solidFill>
              </a:defRPr>
            </a:lvl1pPr>
          </a:lstStyle>
          <a:p>
            <a:r>
              <a:rPr kumimoji="0" lang="en-US" noProof="0" dirty="0" err="1"/>
              <a:t>Titelmasterformat</a:t>
            </a:r>
            <a:r>
              <a:rPr kumimoji="0" lang="en-US" noProof="0" dirty="0"/>
              <a:t> </a:t>
            </a:r>
            <a:r>
              <a:rPr kumimoji="0" lang="en-US" noProof="0" dirty="0" err="1"/>
              <a:t>durch</a:t>
            </a:r>
            <a:r>
              <a:rPr kumimoji="0" lang="en-US" noProof="0" dirty="0"/>
              <a:t> </a:t>
            </a:r>
            <a:r>
              <a:rPr kumimoji="0" lang="en-US" noProof="0" dirty="0" err="1"/>
              <a:t>Klicken</a:t>
            </a:r>
            <a:r>
              <a:rPr kumimoji="0" lang="en-US" noProof="0" dirty="0"/>
              <a:t> </a:t>
            </a:r>
            <a:r>
              <a:rPr kumimoji="0" lang="en-US" noProof="0" dirty="0" err="1"/>
              <a:t>bearbeiten</a:t>
            </a:r>
            <a:endParaRPr kumimoji="0" lang="en-US" noProof="0" dirty="0"/>
          </a:p>
        </p:txBody>
      </p:sp>
      <p:sp>
        <p:nvSpPr>
          <p:cNvPr id="9" name="Untertitel 8"/>
          <p:cNvSpPr>
            <a:spLocks noGrp="1"/>
          </p:cNvSpPr>
          <p:nvPr>
            <p:ph type="subTitle" idx="1"/>
          </p:nvPr>
        </p:nvSpPr>
        <p:spPr>
          <a:xfrm>
            <a:off x="1219200" y="5124450"/>
            <a:ext cx="6858000" cy="533400"/>
          </a:xfrm>
        </p:spPr>
        <p:txBody>
          <a:bodyPr/>
          <a:lstStyle>
            <a:lvl1pPr marL="0" indent="0" algn="r">
              <a:buNone/>
              <a:defRPr sz="2000">
                <a:solidFill>
                  <a:schemeClr val="tx2"/>
                </a:solidFill>
                <a:latin typeface="+mj-lt"/>
                <a:ea typeface="+mj-ea"/>
                <a:cs typeface="+mj-cs"/>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noProof="0" dirty="0" err="1"/>
              <a:t>Formatvorlage</a:t>
            </a:r>
            <a:r>
              <a:rPr kumimoji="0" lang="en-US" noProof="0" dirty="0"/>
              <a:t> des </a:t>
            </a:r>
            <a:r>
              <a:rPr kumimoji="0" lang="en-US" noProof="0" dirty="0" err="1"/>
              <a:t>Untertitelmasters</a:t>
            </a:r>
            <a:r>
              <a:rPr kumimoji="0" lang="en-US" noProof="0" dirty="0"/>
              <a:t> </a:t>
            </a:r>
            <a:r>
              <a:rPr kumimoji="0" lang="en-US" noProof="0" dirty="0" err="1"/>
              <a:t>durch</a:t>
            </a:r>
            <a:r>
              <a:rPr kumimoji="0" lang="en-US" noProof="0" dirty="0"/>
              <a:t> </a:t>
            </a:r>
            <a:r>
              <a:rPr kumimoji="0" lang="en-US" noProof="0" dirty="0" err="1"/>
              <a:t>Klicken</a:t>
            </a:r>
            <a:r>
              <a:rPr kumimoji="0" lang="en-US" noProof="0" dirty="0"/>
              <a:t> </a:t>
            </a:r>
            <a:r>
              <a:rPr kumimoji="0" lang="en-US" noProof="0" dirty="0" err="1"/>
              <a:t>bearbeiten</a:t>
            </a:r>
            <a:endParaRPr kumimoji="0" lang="en-US" noProof="0" dirty="0"/>
          </a:p>
        </p:txBody>
      </p:sp>
      <p:sp>
        <p:nvSpPr>
          <p:cNvPr id="21" name="Rechteck 20"/>
          <p:cNvSpPr/>
          <p:nvPr/>
        </p:nvSpPr>
        <p:spPr>
          <a:xfrm>
            <a:off x="904875" y="3648075"/>
            <a:ext cx="73152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33" name="Rechteck 32"/>
          <p:cNvSpPr/>
          <p:nvPr/>
        </p:nvSpPr>
        <p:spPr>
          <a:xfrm>
            <a:off x="914400" y="5048250"/>
            <a:ext cx="7315200" cy="685800"/>
          </a:xfrm>
          <a:prstGeom prst="rect">
            <a:avLst/>
          </a:prstGeom>
          <a:noFill/>
          <a:ln w="6350" cap="rnd" cmpd="sng" algn="ctr">
            <a:solidFill>
              <a:schemeClr val="accent2"/>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2" name="Rechteck 21"/>
          <p:cNvSpPr/>
          <p:nvPr/>
        </p:nvSpPr>
        <p:spPr>
          <a:xfrm>
            <a:off x="904875" y="3648075"/>
            <a:ext cx="2286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32" name="Rechteck 31"/>
          <p:cNvSpPr/>
          <p:nvPr/>
        </p:nvSpPr>
        <p:spPr>
          <a:xfrm>
            <a:off x="914400" y="5048250"/>
            <a:ext cx="228600" cy="685800"/>
          </a:xfrm>
          <a:prstGeom prst="rect">
            <a:avLst/>
          </a:prstGeom>
          <a:solidFill>
            <a:schemeClr val="accent2"/>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kumimoji="0" lang="en-US" noProof="0" dirty="0" err="1"/>
              <a:t>Titelmasterformat</a:t>
            </a:r>
            <a:r>
              <a:rPr kumimoji="0" lang="en-US" noProof="0" dirty="0"/>
              <a:t> </a:t>
            </a:r>
            <a:r>
              <a:rPr kumimoji="0" lang="en-US" noProof="0" dirty="0" err="1"/>
              <a:t>durch</a:t>
            </a:r>
            <a:r>
              <a:rPr kumimoji="0" lang="en-US" noProof="0" dirty="0"/>
              <a:t> </a:t>
            </a:r>
            <a:r>
              <a:rPr kumimoji="0" lang="en-US" noProof="0" dirty="0" err="1"/>
              <a:t>Klicken</a:t>
            </a:r>
            <a:r>
              <a:rPr kumimoji="0" lang="en-US" noProof="0" dirty="0"/>
              <a:t> </a:t>
            </a:r>
            <a:r>
              <a:rPr kumimoji="0" lang="en-US" noProof="0" dirty="0" err="1"/>
              <a:t>bearbeiten</a:t>
            </a:r>
            <a:endParaRPr kumimoji="0" lang="en-US" noProof="0" dirty="0"/>
          </a:p>
        </p:txBody>
      </p:sp>
      <p:sp>
        <p:nvSpPr>
          <p:cNvPr id="6" name="Foliennummernplatzhalter 5"/>
          <p:cNvSpPr>
            <a:spLocks noGrp="1"/>
          </p:cNvSpPr>
          <p:nvPr>
            <p:ph type="sldNum" sz="quarter" idx="12"/>
          </p:nvPr>
        </p:nvSpPr>
        <p:spPr/>
        <p:txBody>
          <a:bodyPr/>
          <a:lstStyle/>
          <a:p>
            <a:fld id="{7183533A-8A50-4A1F-BEA9-C8C6956451EB}" type="slidenum">
              <a:rPr lang="en-US" noProof="0" smtClean="0"/>
              <a:pPr/>
              <a:t>‹Nr.›</a:t>
            </a:fld>
            <a:endParaRPr lang="en-US" noProof="0" dirty="0"/>
          </a:p>
        </p:txBody>
      </p:sp>
      <p:sp>
        <p:nvSpPr>
          <p:cNvPr id="8" name="Inhaltsplatzhalter 7"/>
          <p:cNvSpPr>
            <a:spLocks noGrp="1"/>
          </p:cNvSpPr>
          <p:nvPr>
            <p:ph sz="quarter" idx="1"/>
          </p:nvPr>
        </p:nvSpPr>
        <p:spPr>
          <a:xfrm>
            <a:off x="457200" y="1219200"/>
            <a:ext cx="8229600" cy="5210196"/>
          </a:xfrm>
        </p:spPr>
        <p:txBody>
          <a:bodyPr/>
          <a:lstStyle/>
          <a:p>
            <a:pPr lvl="0" eaLnBrk="1" latinLnBrk="0" hangingPunct="1"/>
            <a:r>
              <a:rPr lang="en-US" noProof="0" dirty="0" err="1"/>
              <a:t>Textmasterformate</a:t>
            </a:r>
            <a:r>
              <a:rPr lang="en-US" noProof="0" dirty="0"/>
              <a:t> </a:t>
            </a:r>
            <a:r>
              <a:rPr lang="en-US" noProof="0" dirty="0" err="1"/>
              <a:t>durch</a:t>
            </a:r>
            <a:r>
              <a:rPr lang="en-US" noProof="0" dirty="0"/>
              <a:t> </a:t>
            </a:r>
            <a:r>
              <a:rPr lang="en-US" noProof="0" dirty="0" err="1"/>
              <a:t>Klicken</a:t>
            </a:r>
            <a:r>
              <a:rPr lang="en-US" noProof="0" dirty="0"/>
              <a:t> </a:t>
            </a:r>
            <a:r>
              <a:rPr lang="en-US" noProof="0" dirty="0" err="1"/>
              <a:t>bearbeiten</a:t>
            </a:r>
            <a:endParaRPr lang="en-US" noProof="0" dirty="0"/>
          </a:p>
          <a:p>
            <a:pPr lvl="1" eaLnBrk="1" latinLnBrk="0" hangingPunct="1"/>
            <a:r>
              <a:rPr lang="en-US" noProof="0" dirty="0" err="1"/>
              <a:t>Zweite</a:t>
            </a:r>
            <a:r>
              <a:rPr lang="en-US" noProof="0" dirty="0"/>
              <a:t> </a:t>
            </a:r>
            <a:r>
              <a:rPr lang="en-US" noProof="0" dirty="0" err="1"/>
              <a:t>Ebene</a:t>
            </a:r>
            <a:endParaRPr lang="en-US" noProof="0" dirty="0"/>
          </a:p>
          <a:p>
            <a:pPr lvl="2" eaLnBrk="1" latinLnBrk="0" hangingPunct="1"/>
            <a:r>
              <a:rPr lang="en-US" noProof="0" dirty="0" err="1"/>
              <a:t>Dritte</a:t>
            </a:r>
            <a:r>
              <a:rPr lang="en-US" noProof="0" dirty="0"/>
              <a:t> </a:t>
            </a:r>
            <a:r>
              <a:rPr lang="en-US" noProof="0" dirty="0" err="1"/>
              <a:t>Ebene</a:t>
            </a:r>
            <a:endParaRPr lang="en-US" noProof="0" dirty="0"/>
          </a:p>
          <a:p>
            <a:pPr lvl="3" eaLnBrk="1" latinLnBrk="0" hangingPunct="1"/>
            <a:r>
              <a:rPr lang="en-US" noProof="0" dirty="0" err="1"/>
              <a:t>Vierte</a:t>
            </a:r>
            <a:r>
              <a:rPr lang="en-US" noProof="0" dirty="0"/>
              <a:t> </a:t>
            </a:r>
            <a:r>
              <a:rPr lang="en-US" noProof="0" dirty="0" err="1"/>
              <a:t>Ebene</a:t>
            </a:r>
            <a:endParaRPr lang="en-US" noProof="0" dirty="0"/>
          </a:p>
          <a:p>
            <a:pPr lvl="4" eaLnBrk="1" latinLnBrk="0" hangingPunct="1"/>
            <a:r>
              <a:rPr lang="en-US" noProof="0" dirty="0" err="1"/>
              <a:t>Fünfte</a:t>
            </a:r>
            <a:r>
              <a:rPr lang="en-US" noProof="0" dirty="0"/>
              <a:t> </a:t>
            </a:r>
            <a:r>
              <a:rPr lang="en-US" noProof="0" dirty="0" err="1"/>
              <a:t>Ebene</a:t>
            </a:r>
            <a:endParaRPr kumimoji="0" lang="en-US" noProof="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el und Inhalt - 2 Teile">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kumimoji="0" lang="en-US" noProof="0" dirty="0" err="1"/>
              <a:t>Titelmasterformat</a:t>
            </a:r>
            <a:r>
              <a:rPr kumimoji="0" lang="en-US" noProof="0" dirty="0"/>
              <a:t> </a:t>
            </a:r>
            <a:r>
              <a:rPr kumimoji="0" lang="en-US" noProof="0" dirty="0" err="1"/>
              <a:t>durch</a:t>
            </a:r>
            <a:r>
              <a:rPr kumimoji="0" lang="en-US" noProof="0" dirty="0"/>
              <a:t> </a:t>
            </a:r>
            <a:r>
              <a:rPr kumimoji="0" lang="en-US" noProof="0" dirty="0" err="1"/>
              <a:t>Klicken</a:t>
            </a:r>
            <a:r>
              <a:rPr kumimoji="0" lang="en-US" noProof="0" dirty="0"/>
              <a:t> </a:t>
            </a:r>
            <a:r>
              <a:rPr kumimoji="0" lang="en-US" noProof="0" dirty="0" err="1"/>
              <a:t>bearbeiten</a:t>
            </a:r>
            <a:endParaRPr kumimoji="0" lang="en-US" noProof="0" dirty="0"/>
          </a:p>
        </p:txBody>
      </p:sp>
      <p:sp>
        <p:nvSpPr>
          <p:cNvPr id="6" name="Foliennummernplatzhalter 5"/>
          <p:cNvSpPr>
            <a:spLocks noGrp="1"/>
          </p:cNvSpPr>
          <p:nvPr>
            <p:ph type="sldNum" sz="quarter" idx="12"/>
          </p:nvPr>
        </p:nvSpPr>
        <p:spPr/>
        <p:txBody>
          <a:bodyPr/>
          <a:lstStyle/>
          <a:p>
            <a:fld id="{7183533A-8A50-4A1F-BEA9-C8C6956451EB}" type="slidenum">
              <a:rPr lang="en-US" noProof="0" smtClean="0"/>
              <a:pPr/>
              <a:t>‹Nr.›</a:t>
            </a:fld>
            <a:endParaRPr lang="en-US" noProof="0" dirty="0"/>
          </a:p>
        </p:txBody>
      </p:sp>
      <p:sp>
        <p:nvSpPr>
          <p:cNvPr id="8" name="Inhaltsplatzhalter 7"/>
          <p:cNvSpPr>
            <a:spLocks noGrp="1"/>
          </p:cNvSpPr>
          <p:nvPr>
            <p:ph sz="quarter" idx="1"/>
          </p:nvPr>
        </p:nvSpPr>
        <p:spPr>
          <a:xfrm>
            <a:off x="457200" y="1219200"/>
            <a:ext cx="8229600" cy="2641848"/>
          </a:xfrm>
        </p:spPr>
        <p:txBody>
          <a:bodyPr/>
          <a:lstStyle/>
          <a:p>
            <a:pPr lvl="0" eaLnBrk="1" latinLnBrk="0" hangingPunct="1"/>
            <a:r>
              <a:rPr lang="en-US" noProof="0" dirty="0" err="1"/>
              <a:t>Textmasterformate</a:t>
            </a:r>
            <a:r>
              <a:rPr lang="en-US" noProof="0" dirty="0"/>
              <a:t> </a:t>
            </a:r>
            <a:r>
              <a:rPr lang="en-US" noProof="0" dirty="0" err="1"/>
              <a:t>durch</a:t>
            </a:r>
            <a:r>
              <a:rPr lang="en-US" noProof="0" dirty="0"/>
              <a:t> </a:t>
            </a:r>
            <a:r>
              <a:rPr lang="en-US" noProof="0" dirty="0" err="1"/>
              <a:t>Klicken</a:t>
            </a:r>
            <a:r>
              <a:rPr lang="en-US" noProof="0" dirty="0"/>
              <a:t> </a:t>
            </a:r>
            <a:r>
              <a:rPr lang="en-US" noProof="0" dirty="0" err="1"/>
              <a:t>bearbeiten</a:t>
            </a:r>
            <a:endParaRPr lang="en-US" noProof="0" dirty="0"/>
          </a:p>
          <a:p>
            <a:pPr lvl="1" eaLnBrk="1" latinLnBrk="0" hangingPunct="1"/>
            <a:r>
              <a:rPr lang="en-US" noProof="0" dirty="0" err="1"/>
              <a:t>Zweite</a:t>
            </a:r>
            <a:r>
              <a:rPr lang="en-US" noProof="0" dirty="0"/>
              <a:t> </a:t>
            </a:r>
            <a:r>
              <a:rPr lang="en-US" noProof="0" dirty="0" err="1"/>
              <a:t>Ebene</a:t>
            </a:r>
            <a:endParaRPr lang="en-US" noProof="0" dirty="0"/>
          </a:p>
          <a:p>
            <a:pPr lvl="2" eaLnBrk="1" latinLnBrk="0" hangingPunct="1"/>
            <a:r>
              <a:rPr lang="en-US" noProof="0" dirty="0" err="1"/>
              <a:t>Dritte</a:t>
            </a:r>
            <a:r>
              <a:rPr lang="en-US" noProof="0" dirty="0"/>
              <a:t> </a:t>
            </a:r>
            <a:r>
              <a:rPr lang="en-US" noProof="0" dirty="0" err="1"/>
              <a:t>Ebene</a:t>
            </a:r>
            <a:endParaRPr lang="en-US" noProof="0" dirty="0"/>
          </a:p>
          <a:p>
            <a:pPr lvl="3" eaLnBrk="1" latinLnBrk="0" hangingPunct="1"/>
            <a:r>
              <a:rPr lang="en-US" noProof="0" dirty="0" err="1"/>
              <a:t>Vierte</a:t>
            </a:r>
            <a:r>
              <a:rPr lang="en-US" noProof="0" dirty="0"/>
              <a:t> </a:t>
            </a:r>
            <a:r>
              <a:rPr lang="en-US" noProof="0" dirty="0" err="1"/>
              <a:t>Ebene</a:t>
            </a:r>
            <a:endParaRPr lang="en-US" noProof="0" dirty="0"/>
          </a:p>
          <a:p>
            <a:pPr lvl="4" eaLnBrk="1" latinLnBrk="0" hangingPunct="1"/>
            <a:r>
              <a:rPr lang="en-US" noProof="0" dirty="0" err="1"/>
              <a:t>Fünfte</a:t>
            </a:r>
            <a:r>
              <a:rPr lang="en-US" noProof="0" dirty="0"/>
              <a:t> </a:t>
            </a:r>
            <a:r>
              <a:rPr lang="en-US" noProof="0" dirty="0" err="1"/>
              <a:t>Ebene</a:t>
            </a:r>
            <a:endParaRPr kumimoji="0" lang="en-US" noProof="0" dirty="0"/>
          </a:p>
        </p:txBody>
      </p:sp>
      <p:sp>
        <p:nvSpPr>
          <p:cNvPr id="5" name="Inhaltsplatzhalter 7"/>
          <p:cNvSpPr>
            <a:spLocks noGrp="1"/>
          </p:cNvSpPr>
          <p:nvPr>
            <p:ph sz="quarter" idx="13"/>
          </p:nvPr>
        </p:nvSpPr>
        <p:spPr>
          <a:xfrm>
            <a:off x="467544" y="3645024"/>
            <a:ext cx="8208912" cy="2713856"/>
          </a:xfrm>
        </p:spPr>
        <p:txBody>
          <a:bodyPr/>
          <a:lstStyle/>
          <a:p>
            <a:pPr lvl="0" eaLnBrk="1" latinLnBrk="0" hangingPunct="1"/>
            <a:r>
              <a:rPr lang="en-US" noProof="0" dirty="0" err="1"/>
              <a:t>Textmasterformate</a:t>
            </a:r>
            <a:r>
              <a:rPr lang="en-US" noProof="0" dirty="0"/>
              <a:t> </a:t>
            </a:r>
            <a:r>
              <a:rPr lang="en-US" noProof="0" dirty="0" err="1"/>
              <a:t>durch</a:t>
            </a:r>
            <a:r>
              <a:rPr lang="en-US" noProof="0" dirty="0"/>
              <a:t> </a:t>
            </a:r>
            <a:r>
              <a:rPr lang="en-US" noProof="0" dirty="0" err="1"/>
              <a:t>Klicken</a:t>
            </a:r>
            <a:r>
              <a:rPr lang="en-US" noProof="0" dirty="0"/>
              <a:t> </a:t>
            </a:r>
            <a:r>
              <a:rPr lang="en-US" noProof="0" dirty="0" err="1"/>
              <a:t>bearbeiten</a:t>
            </a:r>
            <a:endParaRPr lang="en-US" noProof="0" dirty="0"/>
          </a:p>
          <a:p>
            <a:pPr lvl="1" eaLnBrk="1" latinLnBrk="0" hangingPunct="1"/>
            <a:r>
              <a:rPr lang="en-US" noProof="0" dirty="0" err="1"/>
              <a:t>Zweite</a:t>
            </a:r>
            <a:r>
              <a:rPr lang="en-US" noProof="0" dirty="0"/>
              <a:t> </a:t>
            </a:r>
            <a:r>
              <a:rPr lang="en-US" noProof="0" dirty="0" err="1"/>
              <a:t>Ebene</a:t>
            </a:r>
            <a:endParaRPr lang="en-US" noProof="0" dirty="0"/>
          </a:p>
          <a:p>
            <a:pPr lvl="2" eaLnBrk="1" latinLnBrk="0" hangingPunct="1"/>
            <a:r>
              <a:rPr lang="en-US" noProof="0" dirty="0" err="1"/>
              <a:t>Dritte</a:t>
            </a:r>
            <a:r>
              <a:rPr lang="en-US" noProof="0" dirty="0"/>
              <a:t> </a:t>
            </a:r>
            <a:r>
              <a:rPr lang="en-US" noProof="0" dirty="0" err="1"/>
              <a:t>Ebene</a:t>
            </a:r>
            <a:endParaRPr lang="en-US" noProof="0" dirty="0"/>
          </a:p>
          <a:p>
            <a:pPr lvl="3" eaLnBrk="1" latinLnBrk="0" hangingPunct="1"/>
            <a:r>
              <a:rPr lang="en-US" noProof="0" dirty="0" err="1"/>
              <a:t>Vierte</a:t>
            </a:r>
            <a:r>
              <a:rPr lang="en-US" noProof="0" dirty="0"/>
              <a:t> </a:t>
            </a:r>
            <a:r>
              <a:rPr lang="en-US" noProof="0" dirty="0" err="1"/>
              <a:t>Ebene</a:t>
            </a:r>
            <a:endParaRPr lang="en-US" noProof="0" dirty="0"/>
          </a:p>
          <a:p>
            <a:pPr lvl="4" eaLnBrk="1" latinLnBrk="0" hangingPunct="1"/>
            <a:r>
              <a:rPr lang="en-US" noProof="0" dirty="0" err="1"/>
              <a:t>Fünfte</a:t>
            </a:r>
            <a:r>
              <a:rPr lang="en-US" noProof="0" dirty="0"/>
              <a:t> </a:t>
            </a:r>
            <a:r>
              <a:rPr lang="en-US" noProof="0" dirty="0" err="1"/>
              <a:t>Ebene</a:t>
            </a:r>
            <a:endParaRPr kumimoji="0" lang="en-US" noProof="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el und Inhalt 75%">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kumimoji="0" lang="en-US" noProof="0" dirty="0" err="1"/>
              <a:t>Titelmasterformat</a:t>
            </a:r>
            <a:r>
              <a:rPr kumimoji="0" lang="en-US" noProof="0" dirty="0"/>
              <a:t> </a:t>
            </a:r>
            <a:r>
              <a:rPr kumimoji="0" lang="en-US" noProof="0" dirty="0" err="1"/>
              <a:t>durch</a:t>
            </a:r>
            <a:r>
              <a:rPr kumimoji="0" lang="en-US" noProof="0" dirty="0"/>
              <a:t> </a:t>
            </a:r>
            <a:r>
              <a:rPr kumimoji="0" lang="en-US" noProof="0" dirty="0" err="1"/>
              <a:t>Klicken</a:t>
            </a:r>
            <a:r>
              <a:rPr kumimoji="0" lang="en-US" noProof="0" dirty="0"/>
              <a:t> </a:t>
            </a:r>
            <a:r>
              <a:rPr kumimoji="0" lang="en-US" noProof="0" dirty="0" err="1"/>
              <a:t>bearbeiten</a:t>
            </a:r>
            <a:endParaRPr kumimoji="0" lang="en-US" noProof="0" dirty="0"/>
          </a:p>
        </p:txBody>
      </p:sp>
      <p:sp>
        <p:nvSpPr>
          <p:cNvPr id="6" name="Foliennummernplatzhalter 5"/>
          <p:cNvSpPr>
            <a:spLocks noGrp="1"/>
          </p:cNvSpPr>
          <p:nvPr>
            <p:ph type="sldNum" sz="quarter" idx="12"/>
          </p:nvPr>
        </p:nvSpPr>
        <p:spPr/>
        <p:txBody>
          <a:bodyPr/>
          <a:lstStyle/>
          <a:p>
            <a:fld id="{7183533A-8A50-4A1F-BEA9-C8C6956451EB}" type="slidenum">
              <a:rPr lang="en-US" noProof="0" smtClean="0"/>
              <a:pPr/>
              <a:t>‹Nr.›</a:t>
            </a:fld>
            <a:endParaRPr lang="en-US" noProof="0" dirty="0"/>
          </a:p>
        </p:txBody>
      </p:sp>
      <p:sp>
        <p:nvSpPr>
          <p:cNvPr id="8" name="Inhaltsplatzhalter 7"/>
          <p:cNvSpPr>
            <a:spLocks noGrp="1"/>
          </p:cNvSpPr>
          <p:nvPr>
            <p:ph sz="quarter" idx="1"/>
          </p:nvPr>
        </p:nvSpPr>
        <p:spPr>
          <a:xfrm>
            <a:off x="457200" y="1219200"/>
            <a:ext cx="8229600" cy="2569840"/>
          </a:xfrm>
        </p:spPr>
        <p:txBody>
          <a:bodyPr/>
          <a:lstStyle/>
          <a:p>
            <a:pPr lvl="0" eaLnBrk="1" latinLnBrk="0" hangingPunct="1"/>
            <a:r>
              <a:rPr lang="en-US" noProof="0" dirty="0" err="1"/>
              <a:t>Textmasterformate</a:t>
            </a:r>
            <a:r>
              <a:rPr lang="en-US" noProof="0" dirty="0"/>
              <a:t> </a:t>
            </a:r>
            <a:r>
              <a:rPr lang="en-US" noProof="0" dirty="0" err="1"/>
              <a:t>durch</a:t>
            </a:r>
            <a:r>
              <a:rPr lang="en-US" noProof="0" dirty="0"/>
              <a:t> </a:t>
            </a:r>
            <a:r>
              <a:rPr lang="en-US" noProof="0" dirty="0" err="1"/>
              <a:t>Klicken</a:t>
            </a:r>
            <a:r>
              <a:rPr lang="en-US" noProof="0" dirty="0"/>
              <a:t> </a:t>
            </a:r>
            <a:r>
              <a:rPr lang="en-US" noProof="0" dirty="0" err="1"/>
              <a:t>bearbeiten</a:t>
            </a:r>
            <a:endParaRPr lang="en-US" noProof="0" dirty="0"/>
          </a:p>
          <a:p>
            <a:pPr lvl="1" eaLnBrk="1" latinLnBrk="0" hangingPunct="1"/>
            <a:r>
              <a:rPr lang="en-US" noProof="0" dirty="0" err="1"/>
              <a:t>Zweite</a:t>
            </a:r>
            <a:r>
              <a:rPr lang="en-US" noProof="0" dirty="0"/>
              <a:t> </a:t>
            </a:r>
            <a:r>
              <a:rPr lang="en-US" noProof="0" dirty="0" err="1"/>
              <a:t>Ebene</a:t>
            </a:r>
            <a:endParaRPr lang="en-US" noProof="0" dirty="0"/>
          </a:p>
          <a:p>
            <a:pPr lvl="2" eaLnBrk="1" latinLnBrk="0" hangingPunct="1"/>
            <a:r>
              <a:rPr lang="en-US" noProof="0" dirty="0" err="1"/>
              <a:t>Dritte</a:t>
            </a:r>
            <a:r>
              <a:rPr lang="en-US" noProof="0" dirty="0"/>
              <a:t> </a:t>
            </a:r>
            <a:r>
              <a:rPr lang="en-US" noProof="0" dirty="0" err="1"/>
              <a:t>Ebene</a:t>
            </a:r>
            <a:endParaRPr lang="en-US" noProof="0" dirty="0"/>
          </a:p>
          <a:p>
            <a:pPr lvl="3" eaLnBrk="1" latinLnBrk="0" hangingPunct="1"/>
            <a:r>
              <a:rPr lang="en-US" noProof="0" dirty="0" err="1"/>
              <a:t>Vierte</a:t>
            </a:r>
            <a:r>
              <a:rPr lang="en-US" noProof="0" dirty="0"/>
              <a:t> </a:t>
            </a:r>
            <a:r>
              <a:rPr lang="en-US" noProof="0" dirty="0" err="1"/>
              <a:t>Ebene</a:t>
            </a:r>
            <a:endParaRPr lang="en-US" noProof="0" dirty="0"/>
          </a:p>
          <a:p>
            <a:pPr lvl="4" eaLnBrk="1" latinLnBrk="0" hangingPunct="1"/>
            <a:r>
              <a:rPr lang="en-US" noProof="0" dirty="0" err="1"/>
              <a:t>Fünfte</a:t>
            </a:r>
            <a:r>
              <a:rPr lang="en-US" noProof="0" dirty="0"/>
              <a:t> </a:t>
            </a:r>
            <a:r>
              <a:rPr lang="en-US" noProof="0" dirty="0" err="1"/>
              <a:t>Ebene</a:t>
            </a:r>
            <a:endParaRPr kumimoji="0" lang="en-US" noProof="0" dirty="0"/>
          </a:p>
        </p:txBody>
      </p:sp>
      <p:sp>
        <p:nvSpPr>
          <p:cNvPr id="5" name="Inhaltsplatzhalter 7"/>
          <p:cNvSpPr>
            <a:spLocks noGrp="1"/>
          </p:cNvSpPr>
          <p:nvPr>
            <p:ph sz="quarter" idx="13"/>
          </p:nvPr>
        </p:nvSpPr>
        <p:spPr>
          <a:xfrm>
            <a:off x="467544" y="3645024"/>
            <a:ext cx="4104456" cy="2713856"/>
          </a:xfrm>
        </p:spPr>
        <p:txBody>
          <a:bodyPr/>
          <a:lstStyle/>
          <a:p>
            <a:pPr lvl="0" eaLnBrk="1" latinLnBrk="0" hangingPunct="1"/>
            <a:r>
              <a:rPr lang="en-US" noProof="0" dirty="0" err="1"/>
              <a:t>Textmasterformate</a:t>
            </a:r>
            <a:r>
              <a:rPr lang="en-US" noProof="0" dirty="0"/>
              <a:t> </a:t>
            </a:r>
            <a:r>
              <a:rPr lang="en-US" noProof="0" dirty="0" err="1"/>
              <a:t>durch</a:t>
            </a:r>
            <a:r>
              <a:rPr lang="en-US" noProof="0" dirty="0"/>
              <a:t> </a:t>
            </a:r>
            <a:r>
              <a:rPr lang="en-US" noProof="0" dirty="0" err="1"/>
              <a:t>Klicken</a:t>
            </a:r>
            <a:r>
              <a:rPr lang="en-US" noProof="0" dirty="0"/>
              <a:t> </a:t>
            </a:r>
            <a:r>
              <a:rPr lang="en-US" noProof="0" dirty="0" err="1"/>
              <a:t>bearbeiten</a:t>
            </a:r>
            <a:endParaRPr lang="en-US" noProof="0" dirty="0"/>
          </a:p>
          <a:p>
            <a:pPr lvl="1" eaLnBrk="1" latinLnBrk="0" hangingPunct="1"/>
            <a:r>
              <a:rPr lang="en-US" noProof="0" dirty="0" err="1"/>
              <a:t>Zweite</a:t>
            </a:r>
            <a:r>
              <a:rPr lang="en-US" noProof="0" dirty="0"/>
              <a:t> </a:t>
            </a:r>
            <a:r>
              <a:rPr lang="en-US" noProof="0" dirty="0" err="1"/>
              <a:t>Ebene</a:t>
            </a:r>
            <a:endParaRPr lang="en-US" noProof="0" dirty="0"/>
          </a:p>
          <a:p>
            <a:pPr lvl="2" eaLnBrk="1" latinLnBrk="0" hangingPunct="1"/>
            <a:r>
              <a:rPr lang="en-US" noProof="0" dirty="0" err="1"/>
              <a:t>Dritte</a:t>
            </a:r>
            <a:r>
              <a:rPr lang="en-US" noProof="0" dirty="0"/>
              <a:t> </a:t>
            </a:r>
            <a:r>
              <a:rPr lang="en-US" noProof="0" dirty="0" err="1"/>
              <a:t>Ebene</a:t>
            </a:r>
            <a:endParaRPr lang="en-US" noProof="0" dirty="0"/>
          </a:p>
          <a:p>
            <a:pPr lvl="3" eaLnBrk="1" latinLnBrk="0" hangingPunct="1"/>
            <a:r>
              <a:rPr lang="en-US" noProof="0" dirty="0" err="1"/>
              <a:t>Vierte</a:t>
            </a:r>
            <a:r>
              <a:rPr lang="en-US" noProof="0" dirty="0"/>
              <a:t> </a:t>
            </a:r>
            <a:r>
              <a:rPr lang="en-US" noProof="0" dirty="0" err="1"/>
              <a:t>Ebene</a:t>
            </a:r>
            <a:endParaRPr lang="en-US" noProof="0" dirty="0"/>
          </a:p>
          <a:p>
            <a:pPr lvl="4" eaLnBrk="1" latinLnBrk="0" hangingPunct="1"/>
            <a:r>
              <a:rPr lang="en-US" noProof="0" dirty="0" err="1"/>
              <a:t>Fünfte</a:t>
            </a:r>
            <a:r>
              <a:rPr lang="en-US" noProof="0" dirty="0"/>
              <a:t> </a:t>
            </a:r>
            <a:r>
              <a:rPr lang="en-US" noProof="0" dirty="0" err="1"/>
              <a:t>Ebene</a:t>
            </a:r>
            <a:endParaRPr kumimoji="0" lang="en-US" noProof="0"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Tx" preserve="1">
  <p:cSld name="Inhalt mit Überschrift">
    <p:spTree>
      <p:nvGrpSpPr>
        <p:cNvPr id="1" name=""/>
        <p:cNvGrpSpPr/>
        <p:nvPr/>
      </p:nvGrpSpPr>
      <p:grpSpPr>
        <a:xfrm>
          <a:off x="0" y="0"/>
          <a:ext cx="0" cy="0"/>
          <a:chOff x="0" y="0"/>
          <a:chExt cx="0" cy="0"/>
        </a:xfrm>
      </p:grpSpPr>
      <p:sp>
        <p:nvSpPr>
          <p:cNvPr id="2" name="Titel 1"/>
          <p:cNvSpPr>
            <a:spLocks noGrp="1"/>
          </p:cNvSpPr>
          <p:nvPr>
            <p:ph type="title"/>
          </p:nvPr>
        </p:nvSpPr>
        <p:spPr>
          <a:xfrm>
            <a:off x="6324600" y="304800"/>
            <a:ext cx="2514600" cy="838200"/>
          </a:xfrm>
        </p:spPr>
        <p:txBody>
          <a:bodyPr anchor="b" anchorCtr="0">
            <a:noAutofit/>
          </a:bodyPr>
          <a:lstStyle>
            <a:lvl1pPr algn="l">
              <a:buNone/>
              <a:defRPr sz="2000" b="1">
                <a:solidFill>
                  <a:schemeClr val="tx2"/>
                </a:solidFill>
                <a:latin typeface="+mn-lt"/>
                <a:ea typeface="+mn-ea"/>
                <a:cs typeface="+mn-cs"/>
              </a:defRPr>
            </a:lvl1pPr>
          </a:lstStyle>
          <a:p>
            <a:r>
              <a:rPr kumimoji="0" lang="en-US" noProof="0" dirty="0" err="1"/>
              <a:t>Titelmasterformat</a:t>
            </a:r>
            <a:r>
              <a:rPr kumimoji="0" lang="en-US" noProof="0" dirty="0"/>
              <a:t> </a:t>
            </a:r>
            <a:r>
              <a:rPr kumimoji="0" lang="en-US" noProof="0" dirty="0" err="1"/>
              <a:t>durch</a:t>
            </a:r>
            <a:r>
              <a:rPr kumimoji="0" lang="en-US" noProof="0" dirty="0"/>
              <a:t> </a:t>
            </a:r>
            <a:r>
              <a:rPr kumimoji="0" lang="en-US" noProof="0" dirty="0" err="1"/>
              <a:t>Klicken</a:t>
            </a:r>
            <a:r>
              <a:rPr kumimoji="0" lang="en-US" noProof="0" dirty="0"/>
              <a:t> </a:t>
            </a:r>
            <a:r>
              <a:rPr kumimoji="0" lang="en-US" noProof="0" dirty="0" err="1"/>
              <a:t>bearbeiten</a:t>
            </a:r>
            <a:endParaRPr kumimoji="0" lang="en-US" noProof="0" dirty="0"/>
          </a:p>
        </p:txBody>
      </p:sp>
      <p:sp>
        <p:nvSpPr>
          <p:cNvPr id="3" name="Textplatzhalter 2"/>
          <p:cNvSpPr>
            <a:spLocks noGrp="1"/>
          </p:cNvSpPr>
          <p:nvPr>
            <p:ph type="body" idx="2"/>
          </p:nvPr>
        </p:nvSpPr>
        <p:spPr>
          <a:xfrm>
            <a:off x="6324600" y="1219200"/>
            <a:ext cx="2514600" cy="4843463"/>
          </a:xfrm>
        </p:spPr>
        <p:txBody>
          <a:bodyPr/>
          <a:lstStyle>
            <a:lvl1pPr marL="0" indent="0">
              <a:lnSpc>
                <a:spcPts val="2200"/>
              </a:lnSpc>
              <a:spcAft>
                <a:spcPts val="1000"/>
              </a:spcAft>
              <a:buNone/>
              <a:defRPr sz="1600">
                <a:solidFill>
                  <a:schemeClr val="tx2"/>
                </a:solidFill>
              </a:defRPr>
            </a:lvl1pPr>
            <a:lvl2pPr>
              <a:buNone/>
              <a:defRPr sz="1200"/>
            </a:lvl2pPr>
            <a:lvl3pPr>
              <a:buNone/>
              <a:defRPr sz="1000"/>
            </a:lvl3pPr>
            <a:lvl4pPr>
              <a:buNone/>
              <a:defRPr sz="900"/>
            </a:lvl4pPr>
            <a:lvl5pPr>
              <a:buNone/>
              <a:defRPr sz="900"/>
            </a:lvl5pPr>
          </a:lstStyle>
          <a:p>
            <a:pPr lvl="0" eaLnBrk="1" latinLnBrk="0" hangingPunct="1"/>
            <a:r>
              <a:rPr kumimoji="0" lang="en-US" noProof="0" dirty="0" err="1"/>
              <a:t>Textmasterformate</a:t>
            </a:r>
            <a:r>
              <a:rPr kumimoji="0" lang="en-US" noProof="0" dirty="0"/>
              <a:t> </a:t>
            </a:r>
            <a:r>
              <a:rPr kumimoji="0" lang="en-US" noProof="0" dirty="0" err="1"/>
              <a:t>durch</a:t>
            </a:r>
            <a:r>
              <a:rPr kumimoji="0" lang="en-US" noProof="0" dirty="0"/>
              <a:t> </a:t>
            </a:r>
            <a:r>
              <a:rPr kumimoji="0" lang="en-US" noProof="0" dirty="0" err="1"/>
              <a:t>Klicken</a:t>
            </a:r>
            <a:r>
              <a:rPr kumimoji="0" lang="en-US" noProof="0" dirty="0"/>
              <a:t> </a:t>
            </a:r>
            <a:r>
              <a:rPr kumimoji="0" lang="en-US" noProof="0" dirty="0" err="1"/>
              <a:t>bearbeiten</a:t>
            </a:r>
            <a:endParaRPr kumimoji="0" lang="en-US" noProof="0" dirty="0"/>
          </a:p>
        </p:txBody>
      </p:sp>
      <p:sp>
        <p:nvSpPr>
          <p:cNvPr id="7" name="Foliennummernplatzhalter 6"/>
          <p:cNvSpPr>
            <a:spLocks noGrp="1"/>
          </p:cNvSpPr>
          <p:nvPr>
            <p:ph type="sldNum" sz="quarter" idx="12"/>
          </p:nvPr>
        </p:nvSpPr>
        <p:spPr/>
        <p:txBody>
          <a:bodyPr/>
          <a:lstStyle/>
          <a:p>
            <a:fld id="{6C6AE60A-B69C-4790-82F7-3882EDF23186}" type="slidenum">
              <a:rPr lang="de-DE" smtClean="0"/>
              <a:pPr/>
              <a:t>‹Nr.›</a:t>
            </a:fld>
            <a:endParaRPr lang="de-DE" dirty="0"/>
          </a:p>
        </p:txBody>
      </p:sp>
      <p:sp>
        <p:nvSpPr>
          <p:cNvPr id="10" name="Gerade Verbindung 9"/>
          <p:cNvSpPr>
            <a:spLocks noChangeShapeType="1"/>
          </p:cNvSpPr>
          <p:nvPr/>
        </p:nvSpPr>
        <p:spPr bwMode="auto">
          <a:xfrm rot="5400000">
            <a:off x="3160645" y="3324225"/>
            <a:ext cx="603504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dirty="0"/>
          </a:p>
        </p:txBody>
      </p:sp>
      <p:sp>
        <p:nvSpPr>
          <p:cNvPr id="9" name="Gleichschenkliges Dreieck 8"/>
          <p:cNvSpPr>
            <a:spLocks noChangeAspect="1"/>
          </p:cNvSpPr>
          <p:nvPr/>
        </p:nvSpPr>
        <p:spPr>
          <a:xfrm rot="5400000">
            <a:off x="8394385" y="6607540"/>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2" name="Inhaltsplatzhalter 11"/>
          <p:cNvSpPr>
            <a:spLocks noGrp="1"/>
          </p:cNvSpPr>
          <p:nvPr>
            <p:ph sz="quarter" idx="1"/>
          </p:nvPr>
        </p:nvSpPr>
        <p:spPr>
          <a:xfrm>
            <a:off x="304800" y="304800"/>
            <a:ext cx="5715000" cy="5715000"/>
          </a:xfrm>
        </p:spPr>
        <p:txBody>
          <a:bodyPr/>
          <a:lstStyle/>
          <a:p>
            <a:pPr lvl="0" eaLnBrk="1" latinLnBrk="0" hangingPunct="1"/>
            <a:r>
              <a:rPr lang="en-US" noProof="0" dirty="0" err="1"/>
              <a:t>Textmasterformate</a:t>
            </a:r>
            <a:r>
              <a:rPr lang="en-US" noProof="0" dirty="0"/>
              <a:t> </a:t>
            </a:r>
            <a:r>
              <a:rPr lang="en-US" noProof="0" dirty="0" err="1"/>
              <a:t>durch</a:t>
            </a:r>
            <a:r>
              <a:rPr lang="en-US" noProof="0" dirty="0"/>
              <a:t> </a:t>
            </a:r>
            <a:r>
              <a:rPr lang="en-US" noProof="0" dirty="0" err="1"/>
              <a:t>Klicken</a:t>
            </a:r>
            <a:r>
              <a:rPr lang="en-US" noProof="0" dirty="0"/>
              <a:t> </a:t>
            </a:r>
            <a:r>
              <a:rPr lang="en-US" noProof="0" dirty="0" err="1"/>
              <a:t>bearbeiten</a:t>
            </a:r>
            <a:endParaRPr lang="en-US" noProof="0" dirty="0"/>
          </a:p>
          <a:p>
            <a:pPr lvl="1" eaLnBrk="1" latinLnBrk="0" hangingPunct="1"/>
            <a:r>
              <a:rPr lang="en-US" noProof="0" dirty="0" err="1"/>
              <a:t>Zweite</a:t>
            </a:r>
            <a:r>
              <a:rPr lang="en-US" noProof="0" dirty="0"/>
              <a:t> </a:t>
            </a:r>
            <a:r>
              <a:rPr lang="en-US" noProof="0" dirty="0" err="1"/>
              <a:t>Ebene</a:t>
            </a:r>
            <a:endParaRPr lang="en-US" noProof="0" dirty="0"/>
          </a:p>
          <a:p>
            <a:pPr lvl="2" eaLnBrk="1" latinLnBrk="0" hangingPunct="1"/>
            <a:r>
              <a:rPr lang="en-US" noProof="0" dirty="0" err="1"/>
              <a:t>Dritte</a:t>
            </a:r>
            <a:r>
              <a:rPr lang="en-US" noProof="0" dirty="0"/>
              <a:t> </a:t>
            </a:r>
            <a:r>
              <a:rPr lang="en-US" noProof="0" dirty="0" err="1"/>
              <a:t>Ebene</a:t>
            </a:r>
            <a:endParaRPr lang="en-US" noProof="0" dirty="0"/>
          </a:p>
          <a:p>
            <a:pPr lvl="3" eaLnBrk="1" latinLnBrk="0" hangingPunct="1"/>
            <a:r>
              <a:rPr lang="en-US" noProof="0" dirty="0" err="1"/>
              <a:t>Vierte</a:t>
            </a:r>
            <a:r>
              <a:rPr lang="en-US" noProof="0" dirty="0"/>
              <a:t> </a:t>
            </a:r>
            <a:r>
              <a:rPr lang="en-US" noProof="0" dirty="0" err="1"/>
              <a:t>Ebene</a:t>
            </a:r>
            <a:endParaRPr lang="en-US" noProof="0" dirty="0"/>
          </a:p>
          <a:p>
            <a:pPr lvl="4" eaLnBrk="1" latinLnBrk="0" hangingPunct="1"/>
            <a:r>
              <a:rPr lang="en-US" noProof="0" dirty="0" err="1"/>
              <a:t>Fünfte</a:t>
            </a:r>
            <a:r>
              <a:rPr lang="en-US" noProof="0" dirty="0"/>
              <a:t> </a:t>
            </a:r>
            <a:r>
              <a:rPr lang="en-US" noProof="0" dirty="0" err="1"/>
              <a:t>Ebene</a:t>
            </a:r>
            <a:endParaRPr kumimoji="0" lang="en-US" noProof="0"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el 1"/>
          <p:cNvSpPr>
            <a:spLocks noGrp="1"/>
          </p:cNvSpPr>
          <p:nvPr>
            <p:ph type="title"/>
          </p:nvPr>
        </p:nvSpPr>
        <p:spPr>
          <a:xfrm>
            <a:off x="457200" y="228600"/>
            <a:ext cx="8229600" cy="914400"/>
          </a:xfrm>
        </p:spPr>
        <p:txBody>
          <a:bodyPr/>
          <a:lstStyle/>
          <a:p>
            <a:r>
              <a:rPr kumimoji="0" lang="en-US" noProof="0" dirty="0" err="1"/>
              <a:t>Titelmasterformat</a:t>
            </a:r>
            <a:r>
              <a:rPr kumimoji="0" lang="en-US" noProof="0" dirty="0"/>
              <a:t> </a:t>
            </a:r>
            <a:r>
              <a:rPr kumimoji="0" lang="en-US" noProof="0" dirty="0" err="1"/>
              <a:t>durch</a:t>
            </a:r>
            <a:r>
              <a:rPr kumimoji="0" lang="en-US" noProof="0" dirty="0"/>
              <a:t> </a:t>
            </a:r>
            <a:r>
              <a:rPr kumimoji="0" lang="en-US" noProof="0" dirty="0" err="1"/>
              <a:t>Klicken</a:t>
            </a:r>
            <a:r>
              <a:rPr kumimoji="0" lang="en-US" noProof="0" dirty="0"/>
              <a:t> </a:t>
            </a:r>
            <a:r>
              <a:rPr kumimoji="0" lang="en-US" noProof="0" dirty="0" err="1"/>
              <a:t>bearbeiten</a:t>
            </a:r>
            <a:endParaRPr kumimoji="0" lang="en-US" noProof="0" dirty="0"/>
          </a:p>
        </p:txBody>
      </p:sp>
      <p:sp>
        <p:nvSpPr>
          <p:cNvPr id="5" name="Foliennummernplatzhalter 4"/>
          <p:cNvSpPr>
            <a:spLocks noGrp="1"/>
          </p:cNvSpPr>
          <p:nvPr>
            <p:ph type="sldNum" sz="quarter" idx="12"/>
          </p:nvPr>
        </p:nvSpPr>
        <p:spPr/>
        <p:txBody>
          <a:bodyPr/>
          <a:lstStyle/>
          <a:p>
            <a:fld id="{6C6AE60A-B69C-4790-82F7-3882EDF23186}" type="slidenum">
              <a:rPr lang="de-DE" smtClean="0"/>
              <a:pPr/>
              <a:t>‹Nr.›</a:t>
            </a:fld>
            <a:endParaRPr lang="de-DE"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 preserve="1">
  <p:cSld name="Zwei Inhalte">
    <p:spTree>
      <p:nvGrpSpPr>
        <p:cNvPr id="1" name=""/>
        <p:cNvGrpSpPr/>
        <p:nvPr/>
      </p:nvGrpSpPr>
      <p:grpSpPr>
        <a:xfrm>
          <a:off x="0" y="0"/>
          <a:ext cx="0" cy="0"/>
          <a:chOff x="0" y="0"/>
          <a:chExt cx="0" cy="0"/>
        </a:xfrm>
      </p:grpSpPr>
      <p:sp>
        <p:nvSpPr>
          <p:cNvPr id="2" name="Titel 1"/>
          <p:cNvSpPr>
            <a:spLocks noGrp="1"/>
          </p:cNvSpPr>
          <p:nvPr>
            <p:ph type="title"/>
          </p:nvPr>
        </p:nvSpPr>
        <p:spPr>
          <a:xfrm>
            <a:off x="457200" y="228600"/>
            <a:ext cx="8229600" cy="914400"/>
          </a:xfrm>
        </p:spPr>
        <p:txBody>
          <a:bodyPr/>
          <a:lstStyle/>
          <a:p>
            <a:r>
              <a:rPr kumimoji="0" lang="en-US" noProof="0" dirty="0" err="1"/>
              <a:t>Titelmasterformat</a:t>
            </a:r>
            <a:r>
              <a:rPr kumimoji="0" lang="en-US" noProof="0" dirty="0"/>
              <a:t> </a:t>
            </a:r>
            <a:r>
              <a:rPr kumimoji="0" lang="en-US" noProof="0" dirty="0" err="1"/>
              <a:t>durch</a:t>
            </a:r>
            <a:r>
              <a:rPr kumimoji="0" lang="en-US" noProof="0" dirty="0"/>
              <a:t> </a:t>
            </a:r>
            <a:r>
              <a:rPr kumimoji="0" lang="en-US" noProof="0" dirty="0" err="1"/>
              <a:t>Klicken</a:t>
            </a:r>
            <a:r>
              <a:rPr kumimoji="0" lang="en-US" noProof="0" dirty="0"/>
              <a:t> </a:t>
            </a:r>
            <a:r>
              <a:rPr kumimoji="0" lang="en-US" noProof="0" dirty="0" err="1"/>
              <a:t>bearbeiten</a:t>
            </a:r>
            <a:endParaRPr kumimoji="0" lang="en-US" noProof="0" dirty="0"/>
          </a:p>
        </p:txBody>
      </p:sp>
      <p:sp>
        <p:nvSpPr>
          <p:cNvPr id="7" name="Foliennummernplatzhalter 6"/>
          <p:cNvSpPr>
            <a:spLocks noGrp="1"/>
          </p:cNvSpPr>
          <p:nvPr>
            <p:ph type="sldNum" sz="quarter" idx="12"/>
          </p:nvPr>
        </p:nvSpPr>
        <p:spPr>
          <a:xfrm>
            <a:off x="8542234" y="6500834"/>
            <a:ext cx="601766" cy="357166"/>
          </a:xfrm>
        </p:spPr>
        <p:txBody>
          <a:bodyPr/>
          <a:lstStyle/>
          <a:p>
            <a:fld id="{6C6AE60A-B69C-4790-82F7-3882EDF23186}" type="slidenum">
              <a:rPr lang="de-DE" smtClean="0"/>
              <a:pPr/>
              <a:t>‹Nr.›</a:t>
            </a:fld>
            <a:endParaRPr lang="de-DE" dirty="0"/>
          </a:p>
        </p:txBody>
      </p:sp>
      <p:sp>
        <p:nvSpPr>
          <p:cNvPr id="9" name="Inhaltsplatzhalter 8"/>
          <p:cNvSpPr>
            <a:spLocks noGrp="1"/>
          </p:cNvSpPr>
          <p:nvPr>
            <p:ph sz="quarter" idx="1"/>
          </p:nvPr>
        </p:nvSpPr>
        <p:spPr>
          <a:xfrm>
            <a:off x="457200" y="1219200"/>
            <a:ext cx="4041648" cy="4937760"/>
          </a:xfrm>
        </p:spPr>
        <p:txBody>
          <a:bodyPr/>
          <a:lstStyle/>
          <a:p>
            <a:pPr lvl="0" eaLnBrk="1" latinLnBrk="0" hangingPunct="1"/>
            <a:r>
              <a:rPr lang="en-US" noProof="0" dirty="0" err="1"/>
              <a:t>Textmasterformate</a:t>
            </a:r>
            <a:r>
              <a:rPr lang="en-US" noProof="0" dirty="0"/>
              <a:t> </a:t>
            </a:r>
            <a:r>
              <a:rPr lang="en-US" noProof="0" dirty="0" err="1"/>
              <a:t>durch</a:t>
            </a:r>
            <a:r>
              <a:rPr lang="en-US" noProof="0" dirty="0"/>
              <a:t> </a:t>
            </a:r>
            <a:r>
              <a:rPr lang="en-US" noProof="0" dirty="0" err="1"/>
              <a:t>Klicken</a:t>
            </a:r>
            <a:r>
              <a:rPr lang="en-US" noProof="0" dirty="0"/>
              <a:t> </a:t>
            </a:r>
            <a:r>
              <a:rPr lang="en-US" noProof="0" dirty="0" err="1"/>
              <a:t>bearbeiten</a:t>
            </a:r>
            <a:endParaRPr lang="en-US" noProof="0" dirty="0"/>
          </a:p>
          <a:p>
            <a:pPr lvl="1" eaLnBrk="1" latinLnBrk="0" hangingPunct="1"/>
            <a:r>
              <a:rPr lang="en-US" noProof="0" dirty="0" err="1"/>
              <a:t>Zweite</a:t>
            </a:r>
            <a:r>
              <a:rPr lang="en-US" noProof="0" dirty="0"/>
              <a:t> </a:t>
            </a:r>
            <a:r>
              <a:rPr lang="en-US" noProof="0" dirty="0" err="1"/>
              <a:t>Ebene</a:t>
            </a:r>
            <a:endParaRPr lang="en-US" noProof="0" dirty="0"/>
          </a:p>
          <a:p>
            <a:pPr lvl="2" eaLnBrk="1" latinLnBrk="0" hangingPunct="1"/>
            <a:r>
              <a:rPr lang="en-US" noProof="0" dirty="0" err="1"/>
              <a:t>Dritte</a:t>
            </a:r>
            <a:r>
              <a:rPr lang="en-US" noProof="0" dirty="0"/>
              <a:t> </a:t>
            </a:r>
            <a:r>
              <a:rPr lang="en-US" noProof="0" dirty="0" err="1"/>
              <a:t>Ebene</a:t>
            </a:r>
            <a:endParaRPr lang="en-US" noProof="0" dirty="0"/>
          </a:p>
          <a:p>
            <a:pPr lvl="3" eaLnBrk="1" latinLnBrk="0" hangingPunct="1"/>
            <a:r>
              <a:rPr lang="en-US" noProof="0" dirty="0" err="1"/>
              <a:t>Vierte</a:t>
            </a:r>
            <a:r>
              <a:rPr lang="en-US" noProof="0" dirty="0"/>
              <a:t> </a:t>
            </a:r>
            <a:r>
              <a:rPr lang="en-US" noProof="0" dirty="0" err="1"/>
              <a:t>Ebene</a:t>
            </a:r>
            <a:endParaRPr lang="en-US" noProof="0" dirty="0"/>
          </a:p>
          <a:p>
            <a:pPr lvl="4" eaLnBrk="1" latinLnBrk="0" hangingPunct="1"/>
            <a:r>
              <a:rPr lang="en-US" noProof="0" dirty="0" err="1"/>
              <a:t>Fünfte</a:t>
            </a:r>
            <a:r>
              <a:rPr lang="en-US" noProof="0" dirty="0"/>
              <a:t> </a:t>
            </a:r>
            <a:r>
              <a:rPr lang="en-US" noProof="0" dirty="0" err="1"/>
              <a:t>Ebene</a:t>
            </a:r>
            <a:endParaRPr kumimoji="0" lang="en-US" noProof="0" dirty="0"/>
          </a:p>
        </p:txBody>
      </p:sp>
      <p:sp>
        <p:nvSpPr>
          <p:cNvPr id="11" name="Inhaltsplatzhalter 10"/>
          <p:cNvSpPr>
            <a:spLocks noGrp="1"/>
          </p:cNvSpPr>
          <p:nvPr>
            <p:ph sz="quarter" idx="2"/>
          </p:nvPr>
        </p:nvSpPr>
        <p:spPr>
          <a:xfrm>
            <a:off x="4632198" y="1216152"/>
            <a:ext cx="4041648" cy="4937760"/>
          </a:xfrm>
        </p:spPr>
        <p:txBody>
          <a:bodyPr/>
          <a:lstStyle/>
          <a:p>
            <a:pPr lvl="0" eaLnBrk="1" latinLnBrk="0" hangingPunct="1"/>
            <a:r>
              <a:rPr lang="en-US" noProof="0" dirty="0" err="1"/>
              <a:t>Textmasterformate</a:t>
            </a:r>
            <a:r>
              <a:rPr lang="en-US" noProof="0" dirty="0"/>
              <a:t> </a:t>
            </a:r>
            <a:r>
              <a:rPr lang="en-US" noProof="0" dirty="0" err="1"/>
              <a:t>durch</a:t>
            </a:r>
            <a:r>
              <a:rPr lang="en-US" noProof="0" dirty="0"/>
              <a:t> </a:t>
            </a:r>
            <a:r>
              <a:rPr lang="en-US" noProof="0" dirty="0" err="1"/>
              <a:t>Klicken</a:t>
            </a:r>
            <a:r>
              <a:rPr lang="en-US" noProof="0" dirty="0"/>
              <a:t> </a:t>
            </a:r>
            <a:r>
              <a:rPr lang="en-US" noProof="0" dirty="0" err="1"/>
              <a:t>bearbeiten</a:t>
            </a:r>
            <a:endParaRPr lang="en-US" noProof="0" dirty="0"/>
          </a:p>
          <a:p>
            <a:pPr lvl="1" eaLnBrk="1" latinLnBrk="0" hangingPunct="1"/>
            <a:r>
              <a:rPr lang="en-US" noProof="0" dirty="0" err="1"/>
              <a:t>Zweite</a:t>
            </a:r>
            <a:r>
              <a:rPr lang="en-US" noProof="0" dirty="0"/>
              <a:t> </a:t>
            </a:r>
            <a:r>
              <a:rPr lang="en-US" noProof="0" dirty="0" err="1"/>
              <a:t>Ebene</a:t>
            </a:r>
            <a:endParaRPr lang="en-US" noProof="0" dirty="0"/>
          </a:p>
          <a:p>
            <a:pPr lvl="2" eaLnBrk="1" latinLnBrk="0" hangingPunct="1"/>
            <a:r>
              <a:rPr lang="en-US" noProof="0" dirty="0" err="1"/>
              <a:t>Dritte</a:t>
            </a:r>
            <a:r>
              <a:rPr lang="en-US" noProof="0" dirty="0"/>
              <a:t> </a:t>
            </a:r>
            <a:r>
              <a:rPr lang="en-US" noProof="0" dirty="0" err="1"/>
              <a:t>Ebene</a:t>
            </a:r>
            <a:endParaRPr lang="en-US" noProof="0" dirty="0"/>
          </a:p>
          <a:p>
            <a:pPr lvl="3" eaLnBrk="1" latinLnBrk="0" hangingPunct="1"/>
            <a:r>
              <a:rPr lang="en-US" noProof="0" dirty="0" err="1"/>
              <a:t>Vierte</a:t>
            </a:r>
            <a:r>
              <a:rPr lang="en-US" noProof="0" dirty="0"/>
              <a:t> </a:t>
            </a:r>
            <a:r>
              <a:rPr lang="en-US" noProof="0" dirty="0" err="1"/>
              <a:t>Ebene</a:t>
            </a:r>
            <a:endParaRPr lang="en-US" noProof="0" dirty="0"/>
          </a:p>
          <a:p>
            <a:pPr lvl="4" eaLnBrk="1" latinLnBrk="0" hangingPunct="1"/>
            <a:r>
              <a:rPr lang="en-US" noProof="0" dirty="0" err="1"/>
              <a:t>Fünfte</a:t>
            </a:r>
            <a:r>
              <a:rPr lang="en-US" noProof="0" dirty="0"/>
              <a:t> </a:t>
            </a:r>
            <a:r>
              <a:rPr lang="en-US" noProof="0" dirty="0" err="1"/>
              <a:t>Ebene</a:t>
            </a:r>
            <a:endParaRPr kumimoji="0" lang="en-US" noProof="0"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TxTwoObj" preserve="1">
  <p:cSld name="Vergleich">
    <p:spTree>
      <p:nvGrpSpPr>
        <p:cNvPr id="1" name=""/>
        <p:cNvGrpSpPr/>
        <p:nvPr/>
      </p:nvGrpSpPr>
      <p:grpSpPr>
        <a:xfrm>
          <a:off x="0" y="0"/>
          <a:ext cx="0" cy="0"/>
          <a:chOff x="0" y="0"/>
          <a:chExt cx="0" cy="0"/>
        </a:xfrm>
      </p:grpSpPr>
      <p:sp>
        <p:nvSpPr>
          <p:cNvPr id="2" name="Titel 1"/>
          <p:cNvSpPr>
            <a:spLocks noGrp="1"/>
          </p:cNvSpPr>
          <p:nvPr>
            <p:ph type="title"/>
          </p:nvPr>
        </p:nvSpPr>
        <p:spPr>
          <a:xfrm>
            <a:off x="457200" y="228600"/>
            <a:ext cx="8229600" cy="914400"/>
          </a:xfrm>
        </p:spPr>
        <p:txBody>
          <a:bodyPr anchor="ctr"/>
          <a:lstStyle>
            <a:lvl1pPr>
              <a:defRPr/>
            </a:lvl1pPr>
          </a:lstStyle>
          <a:p>
            <a:r>
              <a:rPr kumimoji="0" lang="en-US" noProof="0" dirty="0" err="1"/>
              <a:t>Titelmasterformat</a:t>
            </a:r>
            <a:r>
              <a:rPr kumimoji="0" lang="en-US" noProof="0" dirty="0"/>
              <a:t> </a:t>
            </a:r>
            <a:r>
              <a:rPr kumimoji="0" lang="en-US" noProof="0" dirty="0" err="1"/>
              <a:t>durch</a:t>
            </a:r>
            <a:r>
              <a:rPr kumimoji="0" lang="en-US" noProof="0" dirty="0"/>
              <a:t> </a:t>
            </a:r>
            <a:r>
              <a:rPr kumimoji="0" lang="en-US" noProof="0" dirty="0" err="1"/>
              <a:t>Klicken</a:t>
            </a:r>
            <a:r>
              <a:rPr kumimoji="0" lang="en-US" noProof="0" dirty="0"/>
              <a:t> </a:t>
            </a:r>
            <a:r>
              <a:rPr kumimoji="0" lang="en-US" noProof="0" dirty="0" err="1"/>
              <a:t>bearbeiten</a:t>
            </a:r>
            <a:endParaRPr kumimoji="0" lang="en-US" noProof="0" dirty="0"/>
          </a:p>
        </p:txBody>
      </p:sp>
      <p:sp>
        <p:nvSpPr>
          <p:cNvPr id="3" name="Textplatzhalter 2"/>
          <p:cNvSpPr>
            <a:spLocks noGrp="1"/>
          </p:cNvSpPr>
          <p:nvPr>
            <p:ph type="body" idx="1"/>
          </p:nvPr>
        </p:nvSpPr>
        <p:spPr>
          <a:xfrm>
            <a:off x="457200" y="1285875"/>
            <a:ext cx="4040188" cy="685800"/>
          </a:xfrm>
          <a:noFill/>
          <a:ln>
            <a:noFill/>
          </a:ln>
        </p:spPr>
        <p:txBody>
          <a:bodyPr lIns="91440" anchor="b" anchorCtr="0">
            <a:noAutofit/>
          </a:bodyPr>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noProof="0" dirty="0" err="1"/>
              <a:t>Textmasterformate</a:t>
            </a:r>
            <a:r>
              <a:rPr kumimoji="0" lang="en-US" noProof="0" dirty="0"/>
              <a:t> </a:t>
            </a:r>
            <a:r>
              <a:rPr kumimoji="0" lang="en-US" noProof="0" dirty="0" err="1"/>
              <a:t>durch</a:t>
            </a:r>
            <a:r>
              <a:rPr kumimoji="0" lang="en-US" noProof="0" dirty="0"/>
              <a:t> </a:t>
            </a:r>
            <a:r>
              <a:rPr kumimoji="0" lang="en-US" noProof="0" dirty="0" err="1"/>
              <a:t>Klicken</a:t>
            </a:r>
            <a:r>
              <a:rPr kumimoji="0" lang="en-US" noProof="0" dirty="0"/>
              <a:t> </a:t>
            </a:r>
            <a:r>
              <a:rPr kumimoji="0" lang="en-US" noProof="0" dirty="0" err="1"/>
              <a:t>bearbeiten</a:t>
            </a:r>
            <a:endParaRPr kumimoji="0" lang="en-US" noProof="0" dirty="0"/>
          </a:p>
        </p:txBody>
      </p:sp>
      <p:sp>
        <p:nvSpPr>
          <p:cNvPr id="4" name="Textplatzhalter 3"/>
          <p:cNvSpPr>
            <a:spLocks noGrp="1"/>
          </p:cNvSpPr>
          <p:nvPr>
            <p:ph type="body" sz="half" idx="3"/>
          </p:nvPr>
        </p:nvSpPr>
        <p:spPr>
          <a:xfrm>
            <a:off x="4648200" y="1295400"/>
            <a:ext cx="4041775" cy="685800"/>
          </a:xfrm>
          <a:noFill/>
          <a:ln>
            <a:noFill/>
          </a:ln>
        </p:spPr>
        <p:txBody>
          <a:bodyPr lIns="91440" anchor="b" anchorCtr="0"/>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noProof="0" dirty="0" err="1"/>
              <a:t>Textmasterformate</a:t>
            </a:r>
            <a:r>
              <a:rPr kumimoji="0" lang="en-US" noProof="0" dirty="0"/>
              <a:t> </a:t>
            </a:r>
            <a:r>
              <a:rPr kumimoji="0" lang="en-US" noProof="0" dirty="0" err="1"/>
              <a:t>durch</a:t>
            </a:r>
            <a:r>
              <a:rPr kumimoji="0" lang="en-US" noProof="0" dirty="0"/>
              <a:t> </a:t>
            </a:r>
            <a:r>
              <a:rPr kumimoji="0" lang="en-US" noProof="0" dirty="0" err="1"/>
              <a:t>Klicken</a:t>
            </a:r>
            <a:r>
              <a:rPr kumimoji="0" lang="en-US" noProof="0" dirty="0"/>
              <a:t> </a:t>
            </a:r>
            <a:r>
              <a:rPr kumimoji="0" lang="en-US" noProof="0" dirty="0" err="1"/>
              <a:t>bearbeiten</a:t>
            </a:r>
            <a:endParaRPr kumimoji="0" lang="en-US" noProof="0" dirty="0"/>
          </a:p>
        </p:txBody>
      </p:sp>
      <p:sp>
        <p:nvSpPr>
          <p:cNvPr id="9" name="Foliennummernplatzhalter 8"/>
          <p:cNvSpPr>
            <a:spLocks noGrp="1"/>
          </p:cNvSpPr>
          <p:nvPr>
            <p:ph type="sldNum" sz="quarter" idx="12"/>
          </p:nvPr>
        </p:nvSpPr>
        <p:spPr/>
        <p:txBody>
          <a:bodyPr/>
          <a:lstStyle/>
          <a:p>
            <a:fld id="{6C6AE60A-B69C-4790-82F7-3882EDF23186}" type="slidenum">
              <a:rPr lang="de-DE" smtClean="0"/>
              <a:pPr/>
              <a:t>‹Nr.›</a:t>
            </a:fld>
            <a:endParaRPr lang="de-DE" dirty="0"/>
          </a:p>
        </p:txBody>
      </p:sp>
      <p:sp>
        <p:nvSpPr>
          <p:cNvPr id="11" name="Inhaltsplatzhalter 10"/>
          <p:cNvSpPr>
            <a:spLocks noGrp="1"/>
          </p:cNvSpPr>
          <p:nvPr>
            <p:ph sz="quarter" idx="2"/>
          </p:nvPr>
        </p:nvSpPr>
        <p:spPr>
          <a:xfrm>
            <a:off x="457200" y="2133600"/>
            <a:ext cx="4038600" cy="4038600"/>
          </a:xfrm>
        </p:spPr>
        <p:txBody>
          <a:bodyPr/>
          <a:lstStyle/>
          <a:p>
            <a:pPr lvl="0" eaLnBrk="1" latinLnBrk="0" hangingPunct="1"/>
            <a:r>
              <a:rPr lang="en-US" noProof="0" dirty="0" err="1"/>
              <a:t>Textmasterformate</a:t>
            </a:r>
            <a:r>
              <a:rPr lang="en-US" noProof="0" dirty="0"/>
              <a:t> </a:t>
            </a:r>
            <a:r>
              <a:rPr lang="en-US" noProof="0" dirty="0" err="1"/>
              <a:t>durch</a:t>
            </a:r>
            <a:r>
              <a:rPr lang="en-US" noProof="0" dirty="0"/>
              <a:t> </a:t>
            </a:r>
            <a:r>
              <a:rPr lang="en-US" noProof="0" dirty="0" err="1"/>
              <a:t>Klicken</a:t>
            </a:r>
            <a:r>
              <a:rPr lang="en-US" noProof="0" dirty="0"/>
              <a:t> </a:t>
            </a:r>
            <a:r>
              <a:rPr lang="en-US" noProof="0" dirty="0" err="1"/>
              <a:t>bearbeiten</a:t>
            </a:r>
            <a:endParaRPr lang="en-US" noProof="0" dirty="0"/>
          </a:p>
          <a:p>
            <a:pPr lvl="1" eaLnBrk="1" latinLnBrk="0" hangingPunct="1"/>
            <a:r>
              <a:rPr lang="en-US" noProof="0" dirty="0" err="1"/>
              <a:t>Zweite</a:t>
            </a:r>
            <a:r>
              <a:rPr lang="en-US" noProof="0" dirty="0"/>
              <a:t> </a:t>
            </a:r>
            <a:r>
              <a:rPr lang="en-US" noProof="0" dirty="0" err="1"/>
              <a:t>Ebene</a:t>
            </a:r>
            <a:endParaRPr lang="en-US" noProof="0" dirty="0"/>
          </a:p>
          <a:p>
            <a:pPr lvl="2" eaLnBrk="1" latinLnBrk="0" hangingPunct="1"/>
            <a:r>
              <a:rPr lang="en-US" noProof="0" dirty="0" err="1"/>
              <a:t>Dritte</a:t>
            </a:r>
            <a:r>
              <a:rPr lang="en-US" noProof="0" dirty="0"/>
              <a:t> </a:t>
            </a:r>
            <a:r>
              <a:rPr lang="en-US" noProof="0" dirty="0" err="1"/>
              <a:t>Ebene</a:t>
            </a:r>
            <a:endParaRPr lang="en-US" noProof="0" dirty="0"/>
          </a:p>
          <a:p>
            <a:pPr lvl="3" eaLnBrk="1" latinLnBrk="0" hangingPunct="1"/>
            <a:r>
              <a:rPr lang="en-US" noProof="0" dirty="0" err="1"/>
              <a:t>Vierte</a:t>
            </a:r>
            <a:r>
              <a:rPr lang="en-US" noProof="0" dirty="0"/>
              <a:t> </a:t>
            </a:r>
            <a:r>
              <a:rPr lang="en-US" noProof="0" dirty="0" err="1"/>
              <a:t>Ebene</a:t>
            </a:r>
            <a:endParaRPr lang="en-US" noProof="0" dirty="0"/>
          </a:p>
          <a:p>
            <a:pPr lvl="4" eaLnBrk="1" latinLnBrk="0" hangingPunct="1"/>
            <a:r>
              <a:rPr lang="en-US" noProof="0" dirty="0" err="1"/>
              <a:t>Fünfte</a:t>
            </a:r>
            <a:r>
              <a:rPr lang="en-US" noProof="0" dirty="0"/>
              <a:t> </a:t>
            </a:r>
            <a:r>
              <a:rPr lang="en-US" noProof="0" dirty="0" err="1"/>
              <a:t>Ebene</a:t>
            </a:r>
            <a:endParaRPr kumimoji="0" lang="en-US" noProof="0" dirty="0"/>
          </a:p>
        </p:txBody>
      </p:sp>
      <p:sp>
        <p:nvSpPr>
          <p:cNvPr id="13" name="Inhaltsplatzhalter 12"/>
          <p:cNvSpPr>
            <a:spLocks noGrp="1"/>
          </p:cNvSpPr>
          <p:nvPr>
            <p:ph sz="quarter" idx="4"/>
          </p:nvPr>
        </p:nvSpPr>
        <p:spPr>
          <a:xfrm>
            <a:off x="4648200" y="2133600"/>
            <a:ext cx="4038600" cy="4038600"/>
          </a:xfrm>
        </p:spPr>
        <p:txBody>
          <a:bodyPr/>
          <a:lstStyle/>
          <a:p>
            <a:pPr lvl="0" eaLnBrk="1" latinLnBrk="0" hangingPunct="1"/>
            <a:r>
              <a:rPr lang="en-US" noProof="0" dirty="0" err="1"/>
              <a:t>Textmasterformate</a:t>
            </a:r>
            <a:r>
              <a:rPr lang="en-US" noProof="0" dirty="0"/>
              <a:t> </a:t>
            </a:r>
            <a:r>
              <a:rPr lang="en-US" noProof="0" dirty="0" err="1"/>
              <a:t>durch</a:t>
            </a:r>
            <a:r>
              <a:rPr lang="en-US" noProof="0" dirty="0"/>
              <a:t> </a:t>
            </a:r>
            <a:r>
              <a:rPr lang="en-US" noProof="0" dirty="0" err="1"/>
              <a:t>Klicken</a:t>
            </a:r>
            <a:r>
              <a:rPr lang="en-US" noProof="0" dirty="0"/>
              <a:t> </a:t>
            </a:r>
            <a:r>
              <a:rPr lang="en-US" noProof="0" dirty="0" err="1"/>
              <a:t>bearbeiten</a:t>
            </a:r>
            <a:endParaRPr lang="en-US" noProof="0" dirty="0"/>
          </a:p>
          <a:p>
            <a:pPr lvl="1" eaLnBrk="1" latinLnBrk="0" hangingPunct="1"/>
            <a:r>
              <a:rPr lang="en-US" noProof="0" dirty="0" err="1"/>
              <a:t>Zweite</a:t>
            </a:r>
            <a:r>
              <a:rPr lang="en-US" noProof="0" dirty="0"/>
              <a:t> </a:t>
            </a:r>
            <a:r>
              <a:rPr lang="en-US" noProof="0" dirty="0" err="1"/>
              <a:t>Ebene</a:t>
            </a:r>
            <a:endParaRPr lang="en-US" noProof="0" dirty="0"/>
          </a:p>
          <a:p>
            <a:pPr lvl="2" eaLnBrk="1" latinLnBrk="0" hangingPunct="1"/>
            <a:r>
              <a:rPr lang="en-US" noProof="0" dirty="0" err="1"/>
              <a:t>Dritte</a:t>
            </a:r>
            <a:r>
              <a:rPr lang="en-US" noProof="0" dirty="0"/>
              <a:t> </a:t>
            </a:r>
            <a:r>
              <a:rPr lang="en-US" noProof="0" dirty="0" err="1"/>
              <a:t>Ebene</a:t>
            </a:r>
            <a:endParaRPr lang="en-US" noProof="0" dirty="0"/>
          </a:p>
          <a:p>
            <a:pPr lvl="3" eaLnBrk="1" latinLnBrk="0" hangingPunct="1"/>
            <a:r>
              <a:rPr lang="en-US" noProof="0" dirty="0" err="1"/>
              <a:t>Vierte</a:t>
            </a:r>
            <a:r>
              <a:rPr lang="en-US" noProof="0" dirty="0"/>
              <a:t> </a:t>
            </a:r>
            <a:r>
              <a:rPr lang="en-US" noProof="0" dirty="0" err="1"/>
              <a:t>Ebene</a:t>
            </a:r>
            <a:endParaRPr lang="en-US" noProof="0" dirty="0"/>
          </a:p>
          <a:p>
            <a:pPr lvl="4" eaLnBrk="1" latinLnBrk="0" hangingPunct="1"/>
            <a:r>
              <a:rPr lang="en-US" noProof="0" dirty="0" err="1"/>
              <a:t>Fünfte</a:t>
            </a:r>
            <a:r>
              <a:rPr lang="en-US" noProof="0" dirty="0"/>
              <a:t> </a:t>
            </a:r>
            <a:r>
              <a:rPr lang="en-US" noProof="0" dirty="0" err="1"/>
              <a:t>Ebene</a:t>
            </a:r>
            <a:endParaRPr kumimoji="0" lang="en-US" noProof="0"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Leer">
    <p:spTree>
      <p:nvGrpSpPr>
        <p:cNvPr id="1" name=""/>
        <p:cNvGrpSpPr/>
        <p:nvPr/>
      </p:nvGrpSpPr>
      <p:grpSpPr>
        <a:xfrm>
          <a:off x="0" y="0"/>
          <a:ext cx="0" cy="0"/>
          <a:chOff x="0" y="0"/>
          <a:chExt cx="0" cy="0"/>
        </a:xfrm>
      </p:grpSpPr>
      <p:sp>
        <p:nvSpPr>
          <p:cNvPr id="4" name="Foliennummernplatzhalter 3"/>
          <p:cNvSpPr>
            <a:spLocks noGrp="1"/>
          </p:cNvSpPr>
          <p:nvPr>
            <p:ph type="sldNum" sz="quarter" idx="12"/>
          </p:nvPr>
        </p:nvSpPr>
        <p:spPr/>
        <p:txBody>
          <a:bodyPr/>
          <a:lstStyle/>
          <a:p>
            <a:fld id="{6C6AE60A-B69C-4790-82F7-3882EDF23186}" type="slidenum">
              <a:rPr lang="de-DE" smtClean="0"/>
              <a:pPr/>
              <a:t>‹Nr.›</a:t>
            </a:fld>
            <a:endParaRPr lang="de-DE" dirty="0"/>
          </a:p>
        </p:txBody>
      </p:sp>
      <p:sp>
        <p:nvSpPr>
          <p:cNvPr id="7" name="Gleichschenkliges Dreieck 6"/>
          <p:cNvSpPr>
            <a:spLocks noChangeAspect="1"/>
          </p:cNvSpPr>
          <p:nvPr userDrawn="1"/>
        </p:nvSpPr>
        <p:spPr>
          <a:xfrm rot="5400000">
            <a:off x="8394384" y="6607540"/>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5" name="Titel 1"/>
          <p:cNvSpPr>
            <a:spLocks noGrp="1"/>
          </p:cNvSpPr>
          <p:nvPr>
            <p:ph type="title"/>
          </p:nvPr>
        </p:nvSpPr>
        <p:spPr>
          <a:xfrm>
            <a:off x="971600" y="2348880"/>
            <a:ext cx="7200800" cy="2160240"/>
          </a:xfrm>
        </p:spPr>
        <p:txBody>
          <a:bodyPr anchor="ctr">
            <a:normAutofit/>
          </a:bodyPr>
          <a:lstStyle>
            <a:lvl1pPr algn="ctr">
              <a:defRPr sz="4000"/>
            </a:lvl1pPr>
          </a:lstStyle>
          <a:p>
            <a:r>
              <a:rPr kumimoji="0" lang="en-US" noProof="0" dirty="0" err="1"/>
              <a:t>Titelmasterformat</a:t>
            </a:r>
            <a:r>
              <a:rPr kumimoji="0" lang="en-US" noProof="0" dirty="0"/>
              <a:t> </a:t>
            </a:r>
            <a:r>
              <a:rPr kumimoji="0" lang="en-US" noProof="0" dirty="0" err="1"/>
              <a:t>durch</a:t>
            </a:r>
            <a:r>
              <a:rPr kumimoji="0" lang="en-US" noProof="0" dirty="0"/>
              <a:t> </a:t>
            </a:r>
            <a:r>
              <a:rPr kumimoji="0" lang="en-US" noProof="0" dirty="0" err="1"/>
              <a:t>Klicken</a:t>
            </a:r>
            <a:r>
              <a:rPr kumimoji="0" lang="en-US" noProof="0" dirty="0"/>
              <a:t> </a:t>
            </a:r>
            <a:r>
              <a:rPr kumimoji="0" lang="en-US" noProof="0" dirty="0" err="1"/>
              <a:t>bearbeiten</a:t>
            </a:r>
            <a:endParaRPr kumimoji="0" lang="en-US" noProof="0"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secHead" preserve="1">
  <p:cSld name="Abschnittsüberschrift">
    <p:bg>
      <p:bgRef idx="1001">
        <a:schemeClr val="bg2"/>
      </p:bgRef>
    </p:bg>
    <p:spTree>
      <p:nvGrpSpPr>
        <p:cNvPr id="1" name=""/>
        <p:cNvGrpSpPr/>
        <p:nvPr/>
      </p:nvGrpSpPr>
      <p:grpSpPr>
        <a:xfrm>
          <a:off x="0" y="0"/>
          <a:ext cx="0" cy="0"/>
          <a:chOff x="0" y="0"/>
          <a:chExt cx="0" cy="0"/>
        </a:xfrm>
      </p:grpSpPr>
      <p:sp>
        <p:nvSpPr>
          <p:cNvPr id="2" name="Titel 1"/>
          <p:cNvSpPr>
            <a:spLocks noGrp="1"/>
          </p:cNvSpPr>
          <p:nvPr>
            <p:ph type="title"/>
          </p:nvPr>
        </p:nvSpPr>
        <p:spPr>
          <a:xfrm>
            <a:off x="1219200" y="2971800"/>
            <a:ext cx="6858000" cy="1066800"/>
          </a:xfrm>
        </p:spPr>
        <p:txBody>
          <a:bodyPr anchor="t" anchorCtr="0"/>
          <a:lstStyle>
            <a:lvl1pPr algn="r">
              <a:buNone/>
              <a:defRPr sz="3200" b="0" cap="none" baseline="0"/>
            </a:lvl1pPr>
          </a:lstStyle>
          <a:p>
            <a:r>
              <a:rPr kumimoji="0" lang="en-US" noProof="0" dirty="0" err="1"/>
              <a:t>Titelmasterformat</a:t>
            </a:r>
            <a:r>
              <a:rPr kumimoji="0" lang="en-US" noProof="0" dirty="0"/>
              <a:t> </a:t>
            </a:r>
            <a:r>
              <a:rPr kumimoji="0" lang="en-US" noProof="0" dirty="0" err="1"/>
              <a:t>durch</a:t>
            </a:r>
            <a:r>
              <a:rPr kumimoji="0" lang="en-US" noProof="0" dirty="0"/>
              <a:t> </a:t>
            </a:r>
            <a:r>
              <a:rPr kumimoji="0" lang="en-US" noProof="0" dirty="0" err="1"/>
              <a:t>Klicken</a:t>
            </a:r>
            <a:r>
              <a:rPr kumimoji="0" lang="en-US" noProof="0" dirty="0"/>
              <a:t> </a:t>
            </a:r>
            <a:r>
              <a:rPr kumimoji="0" lang="en-US" noProof="0" dirty="0" err="1"/>
              <a:t>bearbeiten</a:t>
            </a:r>
            <a:endParaRPr kumimoji="0" lang="en-US" noProof="0" dirty="0"/>
          </a:p>
        </p:txBody>
      </p:sp>
      <p:sp>
        <p:nvSpPr>
          <p:cNvPr id="3" name="Textplatzhalter 2"/>
          <p:cNvSpPr>
            <a:spLocks noGrp="1"/>
          </p:cNvSpPr>
          <p:nvPr>
            <p:ph type="body" idx="1"/>
          </p:nvPr>
        </p:nvSpPr>
        <p:spPr>
          <a:xfrm>
            <a:off x="1295400" y="4267200"/>
            <a:ext cx="6781800" cy="1143000"/>
          </a:xfrm>
        </p:spPr>
        <p:txBody>
          <a:bodyPr anchor="t" anchorCtr="0"/>
          <a:lstStyle>
            <a:lvl1pPr marL="0" indent="0" algn="r">
              <a:buNone/>
              <a:defRPr sz="20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noProof="0" dirty="0" err="1"/>
              <a:t>Textmasterformate</a:t>
            </a:r>
            <a:r>
              <a:rPr kumimoji="0" lang="en-US" noProof="0" dirty="0"/>
              <a:t> </a:t>
            </a:r>
            <a:r>
              <a:rPr kumimoji="0" lang="en-US" noProof="0" dirty="0" err="1"/>
              <a:t>durch</a:t>
            </a:r>
            <a:r>
              <a:rPr kumimoji="0" lang="en-US" noProof="0" dirty="0"/>
              <a:t> </a:t>
            </a:r>
            <a:r>
              <a:rPr kumimoji="0" lang="en-US" noProof="0" dirty="0" err="1"/>
              <a:t>Klicken</a:t>
            </a:r>
            <a:r>
              <a:rPr kumimoji="0" lang="en-US" noProof="0" dirty="0"/>
              <a:t> </a:t>
            </a:r>
            <a:r>
              <a:rPr kumimoji="0" lang="en-US" noProof="0" dirty="0" err="1"/>
              <a:t>bearbeiten</a:t>
            </a:r>
            <a:endParaRPr kumimoji="0" lang="en-US" noProof="0" dirty="0"/>
          </a:p>
        </p:txBody>
      </p:sp>
      <p:sp>
        <p:nvSpPr>
          <p:cNvPr id="4" name="Datumsplatzhalter 3"/>
          <p:cNvSpPr>
            <a:spLocks noGrp="1"/>
          </p:cNvSpPr>
          <p:nvPr>
            <p:ph type="dt" sz="half" idx="10"/>
          </p:nvPr>
        </p:nvSpPr>
        <p:spPr>
          <a:xfrm>
            <a:off x="6400800" y="6355080"/>
            <a:ext cx="2286000" cy="365760"/>
          </a:xfrm>
          <a:prstGeom prst="rect">
            <a:avLst/>
          </a:prstGeom>
        </p:spPr>
        <p:txBody>
          <a:bodyPr/>
          <a:lstStyle/>
          <a:p>
            <a:endParaRPr lang="de-DE" dirty="0"/>
          </a:p>
        </p:txBody>
      </p:sp>
      <p:sp>
        <p:nvSpPr>
          <p:cNvPr id="5" name="Fußzeilenplatzhalter 4"/>
          <p:cNvSpPr>
            <a:spLocks noGrp="1"/>
          </p:cNvSpPr>
          <p:nvPr>
            <p:ph type="ftr" sz="quarter" idx="11"/>
          </p:nvPr>
        </p:nvSpPr>
        <p:spPr>
          <a:xfrm>
            <a:off x="2898648" y="6355080"/>
            <a:ext cx="3474720" cy="365760"/>
          </a:xfrm>
          <a:prstGeom prst="rect">
            <a:avLst/>
          </a:prstGeom>
        </p:spPr>
        <p:txBody>
          <a:bodyPr/>
          <a:lstStyle/>
          <a:p>
            <a:endParaRPr lang="de-DE" dirty="0"/>
          </a:p>
        </p:txBody>
      </p:sp>
      <p:sp>
        <p:nvSpPr>
          <p:cNvPr id="6" name="Foliennummernplatzhalter 5"/>
          <p:cNvSpPr>
            <a:spLocks noGrp="1"/>
          </p:cNvSpPr>
          <p:nvPr>
            <p:ph type="sldNum" sz="quarter" idx="12"/>
          </p:nvPr>
        </p:nvSpPr>
        <p:spPr>
          <a:xfrm>
            <a:off x="1069848" y="6355080"/>
            <a:ext cx="1520952" cy="365760"/>
          </a:xfrm>
        </p:spPr>
        <p:txBody>
          <a:bodyPr/>
          <a:lstStyle/>
          <a:p>
            <a:fld id="{6C6AE60A-B69C-4790-82F7-3882EDF23186}" type="slidenum">
              <a:rPr lang="de-DE" smtClean="0"/>
              <a:pPr/>
              <a:t>‹Nr.›</a:t>
            </a:fld>
            <a:endParaRPr lang="de-DE" dirty="0"/>
          </a:p>
        </p:txBody>
      </p:sp>
      <p:sp>
        <p:nvSpPr>
          <p:cNvPr id="7" name="Rechteck 6"/>
          <p:cNvSpPr/>
          <p:nvPr/>
        </p:nvSpPr>
        <p:spPr>
          <a:xfrm>
            <a:off x="914400" y="2819400"/>
            <a:ext cx="73152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8" name="Rechteck 7"/>
          <p:cNvSpPr/>
          <p:nvPr/>
        </p:nvSpPr>
        <p:spPr>
          <a:xfrm>
            <a:off x="914400" y="2819400"/>
            <a:ext cx="2286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el und vertikaler Tex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kumimoji="0" lang="en-US" noProof="0" dirty="0" err="1"/>
              <a:t>Titelmasterformat</a:t>
            </a:r>
            <a:r>
              <a:rPr kumimoji="0" lang="en-US" noProof="0" dirty="0"/>
              <a:t> </a:t>
            </a:r>
            <a:r>
              <a:rPr kumimoji="0" lang="en-US" noProof="0" dirty="0" err="1"/>
              <a:t>durch</a:t>
            </a:r>
            <a:r>
              <a:rPr kumimoji="0" lang="en-US" noProof="0" dirty="0"/>
              <a:t> </a:t>
            </a:r>
            <a:r>
              <a:rPr kumimoji="0" lang="en-US" noProof="0" dirty="0" err="1"/>
              <a:t>Klicken</a:t>
            </a:r>
            <a:r>
              <a:rPr kumimoji="0" lang="en-US" noProof="0" dirty="0"/>
              <a:t> </a:t>
            </a:r>
            <a:r>
              <a:rPr kumimoji="0" lang="en-US" noProof="0" dirty="0" err="1"/>
              <a:t>bearbeiten</a:t>
            </a:r>
            <a:endParaRPr kumimoji="0" lang="en-US" noProof="0" dirty="0"/>
          </a:p>
        </p:txBody>
      </p:sp>
      <p:sp>
        <p:nvSpPr>
          <p:cNvPr id="3" name="Vertikaler Textplatzhalter 2"/>
          <p:cNvSpPr>
            <a:spLocks noGrp="1"/>
          </p:cNvSpPr>
          <p:nvPr>
            <p:ph type="body" orient="vert" idx="1"/>
          </p:nvPr>
        </p:nvSpPr>
        <p:spPr/>
        <p:txBody>
          <a:bodyPr vert="eaVert"/>
          <a:lstStyle/>
          <a:p>
            <a:pPr lvl="0" eaLnBrk="1" latinLnBrk="0" hangingPunct="1"/>
            <a:r>
              <a:rPr lang="en-US" noProof="0" dirty="0" err="1"/>
              <a:t>Textmasterformate</a:t>
            </a:r>
            <a:r>
              <a:rPr lang="en-US" noProof="0" dirty="0"/>
              <a:t> </a:t>
            </a:r>
            <a:r>
              <a:rPr lang="en-US" noProof="0" dirty="0" err="1"/>
              <a:t>durch</a:t>
            </a:r>
            <a:r>
              <a:rPr lang="en-US" noProof="0" dirty="0"/>
              <a:t> </a:t>
            </a:r>
            <a:r>
              <a:rPr lang="en-US" noProof="0" dirty="0" err="1"/>
              <a:t>Klicken</a:t>
            </a:r>
            <a:r>
              <a:rPr lang="en-US" noProof="0" dirty="0"/>
              <a:t> </a:t>
            </a:r>
            <a:r>
              <a:rPr lang="en-US" noProof="0" dirty="0" err="1"/>
              <a:t>bearbeiten</a:t>
            </a:r>
            <a:endParaRPr lang="en-US" noProof="0" dirty="0"/>
          </a:p>
          <a:p>
            <a:pPr lvl="1" eaLnBrk="1" latinLnBrk="0" hangingPunct="1"/>
            <a:r>
              <a:rPr lang="en-US" noProof="0" dirty="0" err="1"/>
              <a:t>Zweite</a:t>
            </a:r>
            <a:r>
              <a:rPr lang="en-US" noProof="0" dirty="0"/>
              <a:t> </a:t>
            </a:r>
            <a:r>
              <a:rPr lang="en-US" noProof="0" dirty="0" err="1"/>
              <a:t>Ebene</a:t>
            </a:r>
            <a:endParaRPr lang="en-US" noProof="0" dirty="0"/>
          </a:p>
          <a:p>
            <a:pPr lvl="2" eaLnBrk="1" latinLnBrk="0" hangingPunct="1"/>
            <a:r>
              <a:rPr lang="en-US" noProof="0" dirty="0" err="1"/>
              <a:t>Dritte</a:t>
            </a:r>
            <a:r>
              <a:rPr lang="en-US" noProof="0" dirty="0"/>
              <a:t> </a:t>
            </a:r>
            <a:r>
              <a:rPr lang="en-US" noProof="0" dirty="0" err="1"/>
              <a:t>Ebene</a:t>
            </a:r>
            <a:endParaRPr lang="en-US" noProof="0" dirty="0"/>
          </a:p>
          <a:p>
            <a:pPr lvl="3" eaLnBrk="1" latinLnBrk="0" hangingPunct="1"/>
            <a:r>
              <a:rPr lang="en-US" noProof="0" dirty="0" err="1"/>
              <a:t>Vierte</a:t>
            </a:r>
            <a:r>
              <a:rPr lang="en-US" noProof="0" dirty="0"/>
              <a:t> </a:t>
            </a:r>
            <a:r>
              <a:rPr lang="en-US" noProof="0" dirty="0" err="1"/>
              <a:t>Ebene</a:t>
            </a:r>
            <a:endParaRPr lang="en-US" noProof="0" dirty="0"/>
          </a:p>
          <a:p>
            <a:pPr lvl="4" eaLnBrk="1" latinLnBrk="0" hangingPunct="1"/>
            <a:r>
              <a:rPr lang="en-US" noProof="0" dirty="0" err="1"/>
              <a:t>Fünfte</a:t>
            </a:r>
            <a:r>
              <a:rPr lang="en-US" noProof="0" dirty="0"/>
              <a:t> </a:t>
            </a:r>
            <a:r>
              <a:rPr lang="en-US" noProof="0" dirty="0" err="1"/>
              <a:t>Ebene</a:t>
            </a:r>
            <a:endParaRPr kumimoji="0" lang="en-US" noProof="0" dirty="0"/>
          </a:p>
        </p:txBody>
      </p:sp>
      <p:sp>
        <p:nvSpPr>
          <p:cNvPr id="6" name="Foliennummernplatzhalter 5"/>
          <p:cNvSpPr>
            <a:spLocks noGrp="1"/>
          </p:cNvSpPr>
          <p:nvPr>
            <p:ph type="sldNum" sz="quarter" idx="12"/>
          </p:nvPr>
        </p:nvSpPr>
        <p:spPr/>
        <p:txBody>
          <a:bodyPr/>
          <a:lstStyle/>
          <a:p>
            <a:fld id="{6C6AE60A-B69C-4790-82F7-3882EDF23186}" type="slidenum">
              <a:rPr lang="de-DE" smtClean="0"/>
              <a:pPr/>
              <a:t>‹Nr.›</a:t>
            </a:fld>
            <a:endParaRPr lang="de-DE"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vertTitleAndTx" preserve="1">
  <p:cSld name="Vertikaler Titel und Text">
    <p:spTree>
      <p:nvGrpSpPr>
        <p:cNvPr id="1" name=""/>
        <p:cNvGrpSpPr/>
        <p:nvPr/>
      </p:nvGrpSpPr>
      <p:grpSpPr>
        <a:xfrm>
          <a:off x="0" y="0"/>
          <a:ext cx="0" cy="0"/>
          <a:chOff x="0" y="0"/>
          <a:chExt cx="0" cy="0"/>
        </a:xfrm>
      </p:grpSpPr>
      <p:sp>
        <p:nvSpPr>
          <p:cNvPr id="2" name="Vertikaler Titel 1"/>
          <p:cNvSpPr>
            <a:spLocks noGrp="1"/>
          </p:cNvSpPr>
          <p:nvPr>
            <p:ph type="title" orient="vert"/>
          </p:nvPr>
        </p:nvSpPr>
        <p:spPr>
          <a:xfrm>
            <a:off x="6629400" y="274638"/>
            <a:ext cx="2057400" cy="5851525"/>
          </a:xfrm>
        </p:spPr>
        <p:txBody>
          <a:bodyPr vert="eaVert"/>
          <a:lstStyle/>
          <a:p>
            <a:r>
              <a:rPr kumimoji="0" lang="en-US" noProof="0" dirty="0" err="1"/>
              <a:t>Titelmasterformat</a:t>
            </a:r>
            <a:r>
              <a:rPr kumimoji="0" lang="en-US" noProof="0" dirty="0"/>
              <a:t> </a:t>
            </a:r>
            <a:r>
              <a:rPr kumimoji="0" lang="en-US" noProof="0" dirty="0" err="1"/>
              <a:t>durch</a:t>
            </a:r>
            <a:r>
              <a:rPr kumimoji="0" lang="en-US" noProof="0" dirty="0"/>
              <a:t> </a:t>
            </a:r>
            <a:r>
              <a:rPr kumimoji="0" lang="en-US" noProof="0" dirty="0" err="1"/>
              <a:t>Klicken</a:t>
            </a:r>
            <a:r>
              <a:rPr kumimoji="0" lang="en-US" noProof="0" dirty="0"/>
              <a:t> </a:t>
            </a:r>
            <a:r>
              <a:rPr kumimoji="0" lang="en-US" noProof="0" dirty="0" err="1"/>
              <a:t>bearbeiten</a:t>
            </a:r>
            <a:endParaRPr kumimoji="0" lang="en-US" noProof="0" dirty="0"/>
          </a:p>
        </p:txBody>
      </p:sp>
      <p:sp>
        <p:nvSpPr>
          <p:cNvPr id="3" name="Vertikaler Textplatzhalter 2"/>
          <p:cNvSpPr>
            <a:spLocks noGrp="1"/>
          </p:cNvSpPr>
          <p:nvPr>
            <p:ph type="body" orient="vert" idx="1"/>
          </p:nvPr>
        </p:nvSpPr>
        <p:spPr>
          <a:xfrm>
            <a:off x="457200" y="274638"/>
            <a:ext cx="6019800" cy="5851525"/>
          </a:xfrm>
        </p:spPr>
        <p:txBody>
          <a:bodyPr vert="eaVert"/>
          <a:lstStyle/>
          <a:p>
            <a:pPr lvl="0" eaLnBrk="1" latinLnBrk="0" hangingPunct="1"/>
            <a:r>
              <a:rPr lang="en-US" noProof="0" dirty="0" err="1"/>
              <a:t>Textmasterformate</a:t>
            </a:r>
            <a:r>
              <a:rPr lang="en-US" noProof="0" dirty="0"/>
              <a:t> </a:t>
            </a:r>
            <a:r>
              <a:rPr lang="en-US" noProof="0" dirty="0" err="1"/>
              <a:t>durch</a:t>
            </a:r>
            <a:r>
              <a:rPr lang="en-US" noProof="0" dirty="0"/>
              <a:t> </a:t>
            </a:r>
            <a:r>
              <a:rPr lang="en-US" noProof="0" dirty="0" err="1"/>
              <a:t>Klicken</a:t>
            </a:r>
            <a:r>
              <a:rPr lang="en-US" noProof="0" dirty="0"/>
              <a:t> </a:t>
            </a:r>
            <a:r>
              <a:rPr lang="en-US" noProof="0" dirty="0" err="1"/>
              <a:t>bearbeiten</a:t>
            </a:r>
            <a:endParaRPr lang="en-US" noProof="0" dirty="0"/>
          </a:p>
          <a:p>
            <a:pPr lvl="1" eaLnBrk="1" latinLnBrk="0" hangingPunct="1"/>
            <a:r>
              <a:rPr lang="en-US" noProof="0" dirty="0" err="1"/>
              <a:t>Zweite</a:t>
            </a:r>
            <a:r>
              <a:rPr lang="en-US" noProof="0" dirty="0"/>
              <a:t> </a:t>
            </a:r>
            <a:r>
              <a:rPr lang="en-US" noProof="0" dirty="0" err="1"/>
              <a:t>Ebene</a:t>
            </a:r>
            <a:endParaRPr lang="en-US" noProof="0" dirty="0"/>
          </a:p>
          <a:p>
            <a:pPr lvl="2" eaLnBrk="1" latinLnBrk="0" hangingPunct="1"/>
            <a:r>
              <a:rPr lang="en-US" noProof="0" dirty="0" err="1"/>
              <a:t>Dritte</a:t>
            </a:r>
            <a:r>
              <a:rPr lang="en-US" noProof="0" dirty="0"/>
              <a:t> </a:t>
            </a:r>
            <a:r>
              <a:rPr lang="en-US" noProof="0" dirty="0" err="1"/>
              <a:t>Ebene</a:t>
            </a:r>
            <a:endParaRPr lang="en-US" noProof="0" dirty="0"/>
          </a:p>
          <a:p>
            <a:pPr lvl="3" eaLnBrk="1" latinLnBrk="0" hangingPunct="1"/>
            <a:r>
              <a:rPr lang="en-US" noProof="0" dirty="0" err="1"/>
              <a:t>Vierte</a:t>
            </a:r>
            <a:r>
              <a:rPr lang="en-US" noProof="0" dirty="0"/>
              <a:t> </a:t>
            </a:r>
            <a:r>
              <a:rPr lang="en-US" noProof="0" dirty="0" err="1"/>
              <a:t>Ebene</a:t>
            </a:r>
            <a:endParaRPr lang="en-US" noProof="0" dirty="0"/>
          </a:p>
          <a:p>
            <a:pPr lvl="4" eaLnBrk="1" latinLnBrk="0" hangingPunct="1"/>
            <a:r>
              <a:rPr lang="en-US" noProof="0" dirty="0" err="1"/>
              <a:t>Fünfte</a:t>
            </a:r>
            <a:r>
              <a:rPr lang="en-US" noProof="0" dirty="0"/>
              <a:t> </a:t>
            </a:r>
            <a:r>
              <a:rPr lang="en-US" noProof="0" dirty="0" err="1"/>
              <a:t>Ebene</a:t>
            </a:r>
            <a:endParaRPr kumimoji="0" lang="en-US" noProof="0" dirty="0"/>
          </a:p>
        </p:txBody>
      </p:sp>
      <p:sp>
        <p:nvSpPr>
          <p:cNvPr id="6" name="Foliennummernplatzhalter 5"/>
          <p:cNvSpPr>
            <a:spLocks noGrp="1"/>
          </p:cNvSpPr>
          <p:nvPr>
            <p:ph type="sldNum" sz="quarter" idx="12"/>
          </p:nvPr>
        </p:nvSpPr>
        <p:spPr/>
        <p:txBody>
          <a:bodyPr/>
          <a:lstStyle/>
          <a:p>
            <a:fld id="{6C6AE60A-B69C-4790-82F7-3882EDF23186}" type="slidenum">
              <a:rPr lang="de-DE" smtClean="0"/>
              <a:pPr/>
              <a:t>‹Nr.›</a:t>
            </a:fld>
            <a:endParaRPr lang="de-DE" dirty="0"/>
          </a:p>
        </p:txBody>
      </p:sp>
      <p:sp>
        <p:nvSpPr>
          <p:cNvPr id="8" name="Gleichschenkliges Dreieck 7"/>
          <p:cNvSpPr>
            <a:spLocks noChangeAspect="1"/>
          </p:cNvSpPr>
          <p:nvPr/>
        </p:nvSpPr>
        <p:spPr>
          <a:xfrm rot="5400000">
            <a:off x="8394385" y="6607540"/>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9" name="Gerade Verbindung 8"/>
          <p:cNvSpPr>
            <a:spLocks noChangeShapeType="1"/>
          </p:cNvSpPr>
          <p:nvPr/>
        </p:nvSpPr>
        <p:spPr bwMode="auto">
          <a:xfrm rot="5400000">
            <a:off x="3629607" y="3201952"/>
            <a:ext cx="585216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2" name="Titelplatzhalter 21"/>
          <p:cNvSpPr>
            <a:spLocks noGrp="1"/>
          </p:cNvSpPr>
          <p:nvPr>
            <p:ph type="title"/>
          </p:nvPr>
        </p:nvSpPr>
        <p:spPr>
          <a:xfrm>
            <a:off x="457200" y="152400"/>
            <a:ext cx="8229600" cy="990600"/>
          </a:xfrm>
          <a:prstGeom prst="rect">
            <a:avLst/>
          </a:prstGeom>
        </p:spPr>
        <p:txBody>
          <a:bodyPr vert="horz" anchor="b" anchorCtr="0">
            <a:normAutofit/>
          </a:bodyPr>
          <a:lstStyle/>
          <a:p>
            <a:r>
              <a:rPr kumimoji="0" lang="en-US" noProof="0" dirty="0" err="1"/>
              <a:t>Titelmasterformat</a:t>
            </a:r>
            <a:r>
              <a:rPr kumimoji="0" lang="en-US" noProof="0" dirty="0"/>
              <a:t> </a:t>
            </a:r>
            <a:r>
              <a:rPr kumimoji="0" lang="en-US" noProof="0" dirty="0" err="1"/>
              <a:t>durch</a:t>
            </a:r>
            <a:r>
              <a:rPr kumimoji="0" lang="en-US" noProof="0" dirty="0"/>
              <a:t> </a:t>
            </a:r>
            <a:r>
              <a:rPr kumimoji="0" lang="en-US" noProof="0" dirty="0" err="1"/>
              <a:t>Klicken</a:t>
            </a:r>
            <a:r>
              <a:rPr kumimoji="0" lang="en-US" noProof="0" dirty="0"/>
              <a:t> </a:t>
            </a:r>
            <a:r>
              <a:rPr kumimoji="0" lang="en-US" noProof="0" dirty="0" err="1"/>
              <a:t>bearbeiten</a:t>
            </a:r>
            <a:endParaRPr kumimoji="0" lang="en-US" noProof="0" dirty="0"/>
          </a:p>
        </p:txBody>
      </p:sp>
      <p:sp>
        <p:nvSpPr>
          <p:cNvPr id="13" name="Textplatzhalter 12"/>
          <p:cNvSpPr>
            <a:spLocks noGrp="1"/>
          </p:cNvSpPr>
          <p:nvPr>
            <p:ph type="body" idx="1"/>
          </p:nvPr>
        </p:nvSpPr>
        <p:spPr>
          <a:xfrm>
            <a:off x="457200" y="1219200"/>
            <a:ext cx="8229600" cy="5210196"/>
          </a:xfrm>
          <a:prstGeom prst="rect">
            <a:avLst/>
          </a:prstGeom>
        </p:spPr>
        <p:txBody>
          <a:bodyPr vert="horz">
            <a:normAutofit/>
          </a:bodyPr>
          <a:lstStyle/>
          <a:p>
            <a:pPr lvl="0" eaLnBrk="1" latinLnBrk="0" hangingPunct="1"/>
            <a:r>
              <a:rPr kumimoji="0" lang="en-US" noProof="0" dirty="0" err="1"/>
              <a:t>Textmasterformate</a:t>
            </a:r>
            <a:r>
              <a:rPr kumimoji="0" lang="en-US" noProof="0" dirty="0"/>
              <a:t> </a:t>
            </a:r>
            <a:r>
              <a:rPr kumimoji="0" lang="en-US" noProof="0" dirty="0" err="1"/>
              <a:t>durch</a:t>
            </a:r>
            <a:r>
              <a:rPr kumimoji="0" lang="en-US" noProof="0" dirty="0"/>
              <a:t> </a:t>
            </a:r>
            <a:r>
              <a:rPr kumimoji="0" lang="en-US" noProof="0" dirty="0" err="1"/>
              <a:t>Klicken</a:t>
            </a:r>
            <a:r>
              <a:rPr kumimoji="0" lang="en-US" noProof="0" dirty="0"/>
              <a:t> </a:t>
            </a:r>
            <a:r>
              <a:rPr kumimoji="0" lang="en-US" noProof="0" dirty="0" err="1"/>
              <a:t>bearbeiten</a:t>
            </a:r>
            <a:endParaRPr kumimoji="0" lang="en-US" noProof="0" dirty="0"/>
          </a:p>
          <a:p>
            <a:pPr lvl="1" eaLnBrk="1" latinLnBrk="0" hangingPunct="1"/>
            <a:r>
              <a:rPr kumimoji="0" lang="en-US" noProof="0" dirty="0" err="1"/>
              <a:t>Zweite</a:t>
            </a:r>
            <a:r>
              <a:rPr kumimoji="0" lang="en-US" noProof="0" dirty="0"/>
              <a:t> </a:t>
            </a:r>
            <a:r>
              <a:rPr kumimoji="0" lang="en-US" noProof="0" dirty="0" err="1"/>
              <a:t>Ebene</a:t>
            </a:r>
            <a:endParaRPr kumimoji="0" lang="en-US" noProof="0" dirty="0"/>
          </a:p>
          <a:p>
            <a:pPr lvl="2" eaLnBrk="1" latinLnBrk="0" hangingPunct="1"/>
            <a:r>
              <a:rPr kumimoji="0" lang="en-US" noProof="0" dirty="0" err="1"/>
              <a:t>Dritte</a:t>
            </a:r>
            <a:r>
              <a:rPr kumimoji="0" lang="en-US" noProof="0" dirty="0"/>
              <a:t> </a:t>
            </a:r>
            <a:r>
              <a:rPr kumimoji="0" lang="en-US" noProof="0" dirty="0" err="1"/>
              <a:t>Ebene</a:t>
            </a:r>
            <a:endParaRPr kumimoji="0" lang="en-US" noProof="0" dirty="0"/>
          </a:p>
          <a:p>
            <a:pPr lvl="3" eaLnBrk="1" latinLnBrk="0" hangingPunct="1"/>
            <a:r>
              <a:rPr kumimoji="0" lang="en-US" noProof="0" dirty="0" err="1"/>
              <a:t>Vierte</a:t>
            </a:r>
            <a:r>
              <a:rPr kumimoji="0" lang="en-US" noProof="0" dirty="0"/>
              <a:t> </a:t>
            </a:r>
            <a:r>
              <a:rPr kumimoji="0" lang="en-US" noProof="0" dirty="0" err="1"/>
              <a:t>Ebene</a:t>
            </a:r>
            <a:endParaRPr kumimoji="0" lang="en-US" noProof="0" dirty="0"/>
          </a:p>
          <a:p>
            <a:pPr lvl="4" eaLnBrk="1" latinLnBrk="0" hangingPunct="1"/>
            <a:r>
              <a:rPr kumimoji="0" lang="en-US" noProof="0" dirty="0" err="1"/>
              <a:t>Fünfte</a:t>
            </a:r>
            <a:r>
              <a:rPr kumimoji="0" lang="en-US" noProof="0" dirty="0"/>
              <a:t> </a:t>
            </a:r>
            <a:r>
              <a:rPr kumimoji="0" lang="en-US" noProof="0" dirty="0" err="1"/>
              <a:t>Ebene</a:t>
            </a:r>
            <a:endParaRPr kumimoji="0" lang="en-US" noProof="0" dirty="0"/>
          </a:p>
        </p:txBody>
      </p:sp>
      <p:sp>
        <p:nvSpPr>
          <p:cNvPr id="23" name="Foliennummernplatzhalter 22"/>
          <p:cNvSpPr>
            <a:spLocks noGrp="1"/>
          </p:cNvSpPr>
          <p:nvPr>
            <p:ph type="sldNum" sz="quarter" idx="4"/>
          </p:nvPr>
        </p:nvSpPr>
        <p:spPr>
          <a:xfrm>
            <a:off x="8542234" y="6492240"/>
            <a:ext cx="601766" cy="365760"/>
          </a:xfrm>
          <a:prstGeom prst="rect">
            <a:avLst/>
          </a:prstGeom>
        </p:spPr>
        <p:txBody>
          <a:bodyPr vert="horz"/>
          <a:lstStyle>
            <a:lvl1pPr algn="l" eaLnBrk="1" latinLnBrk="0" hangingPunct="1">
              <a:defRPr kumimoji="0" sz="1400">
                <a:solidFill>
                  <a:schemeClr val="tx2"/>
                </a:solidFill>
              </a:defRPr>
            </a:lvl1pPr>
          </a:lstStyle>
          <a:p>
            <a:r>
              <a:rPr lang="de-DE" dirty="0"/>
              <a:t>1</a:t>
            </a:r>
          </a:p>
        </p:txBody>
      </p:sp>
      <p:sp>
        <p:nvSpPr>
          <p:cNvPr id="29" name="Gerade Verbindung 28"/>
          <p:cNvSpPr>
            <a:spLocks noChangeShapeType="1"/>
          </p:cNvSpPr>
          <p:nvPr/>
        </p:nvSpPr>
        <p:spPr bwMode="auto">
          <a:xfrm>
            <a:off x="457200" y="1143000"/>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dirty="0"/>
          </a:p>
        </p:txBody>
      </p:sp>
      <p:sp>
        <p:nvSpPr>
          <p:cNvPr id="10" name="Gleichschenkliges Dreieck 9"/>
          <p:cNvSpPr>
            <a:spLocks noChangeAspect="1"/>
          </p:cNvSpPr>
          <p:nvPr/>
        </p:nvSpPr>
        <p:spPr>
          <a:xfrm rot="5400000">
            <a:off x="8394384" y="6607540"/>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Tree>
  </p:cSld>
  <p:clrMap bg1="lt1" tx1="dk1" bg2="lt2" tx2="dk2" accent1="accent1" accent2="accent2" accent3="accent3" accent4="accent4" accent5="accent5" accent6="accent6" hlink="hlink" folHlink="folHlink"/>
  <p:sldLayoutIdLst>
    <p:sldLayoutId id="2147483685" r:id="rId1"/>
    <p:sldLayoutId id="2147483686" r:id="rId2"/>
    <p:sldLayoutId id="2147483697" r:id="rId3"/>
    <p:sldLayoutId id="2147483696" r:id="rId4"/>
    <p:sldLayoutId id="2147483692" r:id="rId5"/>
    <p:sldLayoutId id="2147483690" r:id="rId6"/>
    <p:sldLayoutId id="2147483688" r:id="rId7"/>
    <p:sldLayoutId id="2147483689" r:id="rId8"/>
    <p:sldLayoutId id="2147483691" r:id="rId9"/>
    <p:sldLayoutId id="2147483687" r:id="rId10"/>
    <p:sldLayoutId id="2147483694" r:id="rId11"/>
    <p:sldLayoutId id="2147483695" r:id="rId12"/>
  </p:sldLayoutIdLst>
  <p:hf hdr="0" ftr="0" dt="0"/>
  <p:txStyles>
    <p:titleStyle>
      <a:lvl1pPr algn="l" rtl="0" eaLnBrk="1" latinLnBrk="0" hangingPunct="1">
        <a:spcBef>
          <a:spcPct val="0"/>
        </a:spcBef>
        <a:buNone/>
        <a:defRPr kumimoji="0" sz="3200" kern="1200">
          <a:solidFill>
            <a:schemeClr val="tx2"/>
          </a:solidFill>
          <a:latin typeface="+mj-lt"/>
          <a:ea typeface="+mj-ea"/>
          <a:cs typeface="+mj-cs"/>
        </a:defRPr>
      </a:lvl1pPr>
    </p:titleStyle>
    <p:body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oleObject" Target="../embeddings/oleObject1.bin"/><Relationship Id="rId4" Type="http://schemas.openxmlformats.org/officeDocument/2006/relationships/image" Target="../media/image4.wmf"/><Relationship Id="rId5" Type="http://schemas.openxmlformats.org/officeDocument/2006/relationships/oleObject" Target="../embeddings/oleObject2.bin"/><Relationship Id="rId6" Type="http://schemas.openxmlformats.org/officeDocument/2006/relationships/oleObject" Target="../embeddings/oleObject3.bin"/><Relationship Id="rId7" Type="http://schemas.openxmlformats.org/officeDocument/2006/relationships/oleObject" Target="../embeddings/oleObject4.bin"/><Relationship Id="rId8" Type="http://schemas.openxmlformats.org/officeDocument/2006/relationships/oleObject" Target="../embeddings/oleObject5.bin"/><Relationship Id="rId9" Type="http://schemas.openxmlformats.org/officeDocument/2006/relationships/image" Target="../media/image5.wmf"/><Relationship Id="rId10" Type="http://schemas.openxmlformats.org/officeDocument/2006/relationships/oleObject" Target="../embeddings/oleObject6.bin"/><Relationship Id="rId11" Type="http://schemas.openxmlformats.org/officeDocument/2006/relationships/image" Target="../media/image6.wmf"/><Relationship Id="rId12" Type="http://schemas.openxmlformats.org/officeDocument/2006/relationships/oleObject" Target="../embeddings/oleObject7.bin"/><Relationship Id="rId13" Type="http://schemas.openxmlformats.org/officeDocument/2006/relationships/oleObject" Target="../embeddings/oleObject8.bin"/><Relationship Id="rId14"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oleObject" Target="../embeddings/oleObject9.bin"/><Relationship Id="rId4" Type="http://schemas.openxmlformats.org/officeDocument/2006/relationships/image" Target="../media/image4.wmf"/><Relationship Id="rId5" Type="http://schemas.openxmlformats.org/officeDocument/2006/relationships/oleObject" Target="../embeddings/oleObject10.bin"/><Relationship Id="rId6" Type="http://schemas.openxmlformats.org/officeDocument/2006/relationships/oleObject" Target="../embeddings/oleObject11.bin"/><Relationship Id="rId7" Type="http://schemas.openxmlformats.org/officeDocument/2006/relationships/oleObject" Target="../embeddings/oleObject12.bin"/><Relationship Id="rId8" Type="http://schemas.openxmlformats.org/officeDocument/2006/relationships/oleObject" Target="../embeddings/oleObject13.bin"/></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8.png"/><Relationship Id="rId3" Type="http://schemas.openxmlformats.org/officeDocument/2006/relationships/image" Target="../media/image9.png"/><Relationship Id="rId4" Type="http://schemas.openxmlformats.org/officeDocument/2006/relationships/image" Target="../media/image10.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www3.cs.stonybrook.edu/~skiena/combinatorica/animations/dijkstra.html" TargetMode="External"/><Relationship Id="rId3" Type="http://schemas.openxmlformats.org/officeDocument/2006/relationships/hyperlink" Target="https://www.cs.usfca.edu/~galles/visualization/Dijkstra.html" TargetMode="External"/><Relationship Id="rId4" Type="http://schemas.openxmlformats.org/officeDocument/2006/relationships/image" Target="../media/image11.gif"/><Relationship Id="rId5" Type="http://schemas.openxmlformats.org/officeDocument/2006/relationships/image" Target="../media/image12.png"/><Relationship Id="rId6" Type="http://schemas.openxmlformats.org/officeDocument/2006/relationships/image" Target="../media/image13.png"/><Relationship Id="rId7" Type="http://schemas.openxmlformats.org/officeDocument/2006/relationships/image" Target="../media/image14.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6.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ctrTitle"/>
          </p:nvPr>
        </p:nvSpPr>
        <p:spPr>
          <a:xfrm>
            <a:off x="1115616" y="3717032"/>
            <a:ext cx="7056784" cy="1159768"/>
          </a:xfrm>
        </p:spPr>
        <p:txBody>
          <a:bodyPr>
            <a:noAutofit/>
          </a:bodyPr>
          <a:lstStyle/>
          <a:p>
            <a:r>
              <a:rPr lang="de-DE" sz="3600" dirty="0"/>
              <a:t>Betriebssysteme und Netzwerke</a:t>
            </a:r>
            <a:br>
              <a:rPr lang="de-DE" sz="3600" dirty="0"/>
            </a:br>
            <a:r>
              <a:rPr lang="de-DE" sz="3600" dirty="0"/>
              <a:t>Vorlesung N04</a:t>
            </a:r>
            <a:endParaRPr lang="en-US" sz="3600" dirty="0"/>
          </a:p>
        </p:txBody>
      </p:sp>
      <p:sp>
        <p:nvSpPr>
          <p:cNvPr id="3" name="Untertitel 2"/>
          <p:cNvSpPr>
            <a:spLocks noGrp="1"/>
          </p:cNvSpPr>
          <p:nvPr>
            <p:ph type="subTitle" idx="1"/>
          </p:nvPr>
        </p:nvSpPr>
        <p:spPr>
          <a:xfrm>
            <a:off x="5786446" y="5124450"/>
            <a:ext cx="2290754" cy="533400"/>
          </a:xfrm>
        </p:spPr>
        <p:txBody>
          <a:bodyPr>
            <a:normAutofit/>
          </a:bodyPr>
          <a:lstStyle/>
          <a:p>
            <a:r>
              <a:rPr lang="de-DE" dirty="0"/>
              <a:t>Artur Andrzejak</a:t>
            </a:r>
          </a:p>
        </p:txBody>
      </p:sp>
      <p:sp>
        <p:nvSpPr>
          <p:cNvPr id="4" name="Untertitel 2"/>
          <p:cNvSpPr txBox="1">
            <a:spLocks/>
          </p:cNvSpPr>
          <p:nvPr/>
        </p:nvSpPr>
        <p:spPr>
          <a:xfrm>
            <a:off x="1214414" y="5072074"/>
            <a:ext cx="1214446" cy="642942"/>
          </a:xfrm>
          <a:prstGeom prst="rect">
            <a:avLst/>
          </a:prstGeom>
        </p:spPr>
        <p:txBody>
          <a:bodyPr vert="horz">
            <a:noAutofit/>
          </a:bodyPr>
          <a:lstStyle/>
          <a:p>
            <a:pPr marL="0" marR="0" lvl="0" indent="0" defTabSz="914400" rtl="0" eaLnBrk="1" fontAlgn="auto" latinLnBrk="0" hangingPunct="1">
              <a:lnSpc>
                <a:spcPct val="100000"/>
              </a:lnSpc>
              <a:spcBef>
                <a:spcPts val="600"/>
              </a:spcBef>
              <a:spcAft>
                <a:spcPts val="0"/>
              </a:spcAft>
              <a:buClr>
                <a:schemeClr val="accent1"/>
              </a:buClr>
              <a:buSzPct val="76000"/>
              <a:buFont typeface="Wingdings 3"/>
              <a:buNone/>
              <a:tabLst/>
              <a:defRPr/>
            </a:pPr>
            <a:endParaRPr kumimoji="0" lang="de-DE" sz="2000" b="0" i="0" u="none" strike="noStrike" kern="1200" cap="none" spc="0" normalizeH="0" baseline="0" noProof="0" dirty="0">
              <a:ln>
                <a:noFill/>
              </a:ln>
              <a:solidFill>
                <a:schemeClr val="tx2"/>
              </a:solidFill>
              <a:effectLst/>
              <a:uLnTx/>
              <a:uFillTx/>
              <a:latin typeface="+mj-lt"/>
              <a:ea typeface="+mj-ea"/>
              <a:cs typeface="+mj-c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15D2791-2875-18A2-018C-79F233DB7045}"/>
              </a:ext>
            </a:extLst>
          </p:cNvPr>
          <p:cNvSpPr>
            <a:spLocks noGrp="1"/>
          </p:cNvSpPr>
          <p:nvPr>
            <p:ph type="title"/>
          </p:nvPr>
        </p:nvSpPr>
        <p:spPr/>
        <p:txBody>
          <a:bodyPr/>
          <a:lstStyle/>
          <a:p>
            <a:r>
              <a:rPr lang="de-DE" dirty="0"/>
              <a:t>Evaluation der Vorlesung</a:t>
            </a:r>
          </a:p>
        </p:txBody>
      </p:sp>
      <p:sp>
        <p:nvSpPr>
          <p:cNvPr id="3" name="Foliennummernplatzhalter 2">
            <a:extLst>
              <a:ext uri="{FF2B5EF4-FFF2-40B4-BE49-F238E27FC236}">
                <a16:creationId xmlns:a16="http://schemas.microsoft.com/office/drawing/2014/main" id="{20FE6782-12F4-8E01-8456-23692103B75D}"/>
              </a:ext>
            </a:extLst>
          </p:cNvPr>
          <p:cNvSpPr>
            <a:spLocks noGrp="1"/>
          </p:cNvSpPr>
          <p:nvPr>
            <p:ph type="sldNum" sz="quarter" idx="12"/>
          </p:nvPr>
        </p:nvSpPr>
        <p:spPr/>
        <p:txBody>
          <a:bodyPr/>
          <a:lstStyle/>
          <a:p>
            <a:fld id="{7183533A-8A50-4A1F-BEA9-C8C6956451EB}" type="slidenum">
              <a:rPr lang="en-US" noProof="0" smtClean="0"/>
              <a:pPr/>
              <a:t>2</a:t>
            </a:fld>
            <a:endParaRPr lang="en-US" noProof="0" dirty="0"/>
          </a:p>
        </p:txBody>
      </p:sp>
      <p:sp>
        <p:nvSpPr>
          <p:cNvPr id="4" name="Inhaltsplatzhalter 3">
            <a:extLst>
              <a:ext uri="{FF2B5EF4-FFF2-40B4-BE49-F238E27FC236}">
                <a16:creationId xmlns:a16="http://schemas.microsoft.com/office/drawing/2014/main" id="{4BD98220-BC6D-BBE4-A247-85CE2C585E69}"/>
              </a:ext>
            </a:extLst>
          </p:cNvPr>
          <p:cNvSpPr>
            <a:spLocks noGrp="1"/>
          </p:cNvSpPr>
          <p:nvPr>
            <p:ph sz="quarter" idx="1"/>
          </p:nvPr>
        </p:nvSpPr>
        <p:spPr>
          <a:xfrm>
            <a:off x="457199" y="1219200"/>
            <a:ext cx="8261093" cy="5210196"/>
          </a:xfrm>
        </p:spPr>
        <p:txBody>
          <a:bodyPr/>
          <a:lstStyle/>
          <a:p>
            <a:r>
              <a:rPr lang="de-DE" dirty="0"/>
              <a:t>Bitte teilnehmen – noch bis zum 28.06.2026 (effektiv)</a:t>
            </a:r>
          </a:p>
          <a:p>
            <a:r>
              <a:rPr lang="de-DE" dirty="0"/>
              <a:t>Sie müssen nicht (dürfen aber </a:t>
            </a:r>
            <a:r>
              <a:rPr lang="de-DE" dirty="0">
                <a:sym typeface="Wingdings" panose="05000000000000000000" pitchFamily="2" charset="2"/>
              </a:rPr>
              <a:t>) nett zu uns sein</a:t>
            </a:r>
          </a:p>
          <a:p>
            <a:r>
              <a:rPr lang="de-DE" dirty="0">
                <a:sym typeface="Wingdings" panose="05000000000000000000" pitchFamily="2" charset="2"/>
              </a:rPr>
              <a:t>Ihr Feedback ist uns wichtig für Verbesserungen!</a:t>
            </a:r>
            <a:endParaRPr lang="de-DE" dirty="0"/>
          </a:p>
        </p:txBody>
      </p:sp>
      <p:pic>
        <p:nvPicPr>
          <p:cNvPr id="6" name="Grafik 5">
            <a:extLst>
              <a:ext uri="{FF2B5EF4-FFF2-40B4-BE49-F238E27FC236}">
                <a16:creationId xmlns:a16="http://schemas.microsoft.com/office/drawing/2014/main" id="{5FFC03C8-7F79-5614-F273-FE9A77BAF8DB}"/>
              </a:ext>
            </a:extLst>
          </p:cNvPr>
          <p:cNvPicPr>
            <a:picLocks noChangeAspect="1"/>
          </p:cNvPicPr>
          <p:nvPr/>
        </p:nvPicPr>
        <p:blipFill>
          <a:blip r:embed="rId2"/>
          <a:stretch>
            <a:fillRect/>
          </a:stretch>
        </p:blipFill>
        <p:spPr>
          <a:xfrm>
            <a:off x="425707" y="3328335"/>
            <a:ext cx="8117898" cy="2088322"/>
          </a:xfrm>
          <a:prstGeom prst="rect">
            <a:avLst/>
          </a:prstGeom>
        </p:spPr>
      </p:pic>
    </p:spTree>
    <p:extLst>
      <p:ext uri="{BB962C8B-B14F-4D97-AF65-F5344CB8AC3E}">
        <p14:creationId xmlns:p14="http://schemas.microsoft.com/office/powerpoint/2010/main" val="19763605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de-DE" dirty="0"/>
              <a:t>Internet-Protokollstapel: Netzwerkschicht</a:t>
            </a:r>
          </a:p>
        </p:txBody>
      </p:sp>
      <p:sp>
        <p:nvSpPr>
          <p:cNvPr id="3" name="Slide Number Placeholder 2"/>
          <p:cNvSpPr>
            <a:spLocks noGrp="1"/>
          </p:cNvSpPr>
          <p:nvPr>
            <p:ph type="sldNum" sz="quarter" idx="12"/>
          </p:nvPr>
        </p:nvSpPr>
        <p:spPr/>
        <p:txBody>
          <a:bodyPr/>
          <a:lstStyle/>
          <a:p>
            <a:fld id="{7183533A-8A50-4A1F-BEA9-C8C6956451EB}" type="slidenum">
              <a:rPr lang="en-US" noProof="0" smtClean="0"/>
              <a:pPr/>
              <a:t>3</a:t>
            </a:fld>
            <a:endParaRPr lang="en-US" noProof="0" dirty="0"/>
          </a:p>
        </p:txBody>
      </p:sp>
      <p:sp>
        <p:nvSpPr>
          <p:cNvPr id="6" name="Content Placeholder 5"/>
          <p:cNvSpPr>
            <a:spLocks noGrp="1"/>
          </p:cNvSpPr>
          <p:nvPr>
            <p:ph sz="quarter" idx="1"/>
          </p:nvPr>
        </p:nvSpPr>
        <p:spPr>
          <a:xfrm>
            <a:off x="457200" y="1219200"/>
            <a:ext cx="8229600" cy="1489720"/>
          </a:xfrm>
        </p:spPr>
        <p:txBody>
          <a:bodyPr/>
          <a:lstStyle/>
          <a:p>
            <a:endParaRPr lang="de-DE" sz="2800" dirty="0"/>
          </a:p>
        </p:txBody>
      </p:sp>
      <p:graphicFrame>
        <p:nvGraphicFramePr>
          <p:cNvPr id="7" name="Table 6"/>
          <p:cNvGraphicFramePr>
            <a:graphicFrameLocks noGrp="1"/>
          </p:cNvGraphicFramePr>
          <p:nvPr/>
        </p:nvGraphicFramePr>
        <p:xfrm>
          <a:off x="323528" y="4077072"/>
          <a:ext cx="8352928" cy="640080"/>
        </p:xfrm>
        <a:graphic>
          <a:graphicData uri="http://schemas.openxmlformats.org/drawingml/2006/table">
            <a:tbl>
              <a:tblPr firstRow="1" bandRow="1">
                <a:tableStyleId>{5C22544A-7EE6-4342-B048-85BDC9FD1C3A}</a:tableStyleId>
              </a:tblPr>
              <a:tblGrid>
                <a:gridCol w="2491224">
                  <a:extLst>
                    <a:ext uri="{9D8B030D-6E8A-4147-A177-3AD203B41FA5}">
                      <a16:colId xmlns:a16="http://schemas.microsoft.com/office/drawing/2014/main" val="20000"/>
                    </a:ext>
                  </a:extLst>
                </a:gridCol>
                <a:gridCol w="3413432">
                  <a:extLst>
                    <a:ext uri="{9D8B030D-6E8A-4147-A177-3AD203B41FA5}">
                      <a16:colId xmlns:a16="http://schemas.microsoft.com/office/drawing/2014/main" val="20001"/>
                    </a:ext>
                  </a:extLst>
                </a:gridCol>
                <a:gridCol w="2448272">
                  <a:extLst>
                    <a:ext uri="{9D8B030D-6E8A-4147-A177-3AD203B41FA5}">
                      <a16:colId xmlns:a16="http://schemas.microsoft.com/office/drawing/2014/main" val="20002"/>
                    </a:ext>
                  </a:extLst>
                </a:gridCol>
              </a:tblGrid>
              <a:tr h="600067">
                <a:tc>
                  <a:txBody>
                    <a:bodyPr/>
                    <a:lstStyle/>
                    <a:p>
                      <a:r>
                        <a:rPr lang="de-DE" dirty="0"/>
                        <a:t>Transportschicht (transport layer)</a:t>
                      </a:r>
                    </a:p>
                  </a:txBody>
                  <a:tcPr>
                    <a:solidFill>
                      <a:srgbClr val="92D050"/>
                    </a:solidFill>
                  </a:tcPr>
                </a:tc>
                <a:tc>
                  <a:txBody>
                    <a:bodyPr/>
                    <a:lstStyle/>
                    <a:p>
                      <a:r>
                        <a:rPr lang="de-DE" dirty="0"/>
                        <a:t>Überträgt</a:t>
                      </a:r>
                      <a:r>
                        <a:rPr lang="de-DE" baseline="0" dirty="0"/>
                        <a:t> Nachrichten zwischen BS-Prozessen</a:t>
                      </a:r>
                      <a:endParaRPr lang="de-DE" dirty="0"/>
                    </a:p>
                  </a:txBody>
                  <a:tcPr>
                    <a:solidFill>
                      <a:srgbClr val="92D050"/>
                    </a:solidFill>
                  </a:tcPr>
                </a:tc>
                <a:tc>
                  <a:txBody>
                    <a:bodyPr/>
                    <a:lstStyle/>
                    <a:p>
                      <a:r>
                        <a:rPr lang="de-DE" dirty="0"/>
                        <a:t>TCP, UDP</a:t>
                      </a:r>
                    </a:p>
                  </a:txBody>
                  <a:tcPr>
                    <a:solidFill>
                      <a:srgbClr val="92D050"/>
                    </a:solidFill>
                  </a:tcPr>
                </a:tc>
                <a:extLst>
                  <a:ext uri="{0D108BD9-81ED-4DB2-BD59-A6C34878D82A}">
                    <a16:rowId xmlns:a16="http://schemas.microsoft.com/office/drawing/2014/main" val="10000"/>
                  </a:ext>
                </a:extLst>
              </a:tr>
            </a:tbl>
          </a:graphicData>
        </a:graphic>
      </p:graphicFrame>
      <p:graphicFrame>
        <p:nvGraphicFramePr>
          <p:cNvPr id="11" name="Table 10"/>
          <p:cNvGraphicFramePr>
            <a:graphicFrameLocks noGrp="1"/>
          </p:cNvGraphicFramePr>
          <p:nvPr/>
        </p:nvGraphicFramePr>
        <p:xfrm>
          <a:off x="323528" y="3356992"/>
          <a:ext cx="8352928" cy="712088"/>
        </p:xfrm>
        <a:graphic>
          <a:graphicData uri="http://schemas.openxmlformats.org/drawingml/2006/table">
            <a:tbl>
              <a:tblPr firstRow="1" bandRow="1">
                <a:tableStyleId>{00A15C55-8517-42AA-B614-E9B94910E393}</a:tableStyleId>
              </a:tblPr>
              <a:tblGrid>
                <a:gridCol w="2491224">
                  <a:extLst>
                    <a:ext uri="{9D8B030D-6E8A-4147-A177-3AD203B41FA5}">
                      <a16:colId xmlns:a16="http://schemas.microsoft.com/office/drawing/2014/main" val="20000"/>
                    </a:ext>
                  </a:extLst>
                </a:gridCol>
                <a:gridCol w="3413432">
                  <a:extLst>
                    <a:ext uri="{9D8B030D-6E8A-4147-A177-3AD203B41FA5}">
                      <a16:colId xmlns:a16="http://schemas.microsoft.com/office/drawing/2014/main" val="20001"/>
                    </a:ext>
                  </a:extLst>
                </a:gridCol>
                <a:gridCol w="2448272">
                  <a:extLst>
                    <a:ext uri="{9D8B030D-6E8A-4147-A177-3AD203B41FA5}">
                      <a16:colId xmlns:a16="http://schemas.microsoft.com/office/drawing/2014/main" val="20002"/>
                    </a:ext>
                  </a:extLst>
                </a:gridCol>
              </a:tblGrid>
              <a:tr h="712088">
                <a:tc>
                  <a:txBody>
                    <a:bodyPr/>
                    <a:lstStyle/>
                    <a:p>
                      <a:r>
                        <a:rPr lang="de-DE" dirty="0"/>
                        <a:t>Anwendungsschicht (application layer)</a:t>
                      </a:r>
                    </a:p>
                  </a:txBody>
                  <a:tcPr>
                    <a:solidFill>
                      <a:srgbClr val="92D050"/>
                    </a:solidFill>
                  </a:tcPr>
                </a:tc>
                <a:tc>
                  <a:txBody>
                    <a:bodyPr/>
                    <a:lstStyle/>
                    <a:p>
                      <a:r>
                        <a:rPr lang="de-DE" baseline="0" dirty="0"/>
                        <a:t>Netzwerkanwendungen</a:t>
                      </a:r>
                      <a:endParaRPr lang="de-DE" dirty="0"/>
                    </a:p>
                  </a:txBody>
                  <a:tcPr>
                    <a:solidFill>
                      <a:srgbClr val="92D050"/>
                    </a:solidFill>
                  </a:tcPr>
                </a:tc>
                <a:tc>
                  <a:txBody>
                    <a:bodyPr/>
                    <a:lstStyle/>
                    <a:p>
                      <a:r>
                        <a:rPr lang="de-DE" dirty="0"/>
                        <a:t>HTTP,</a:t>
                      </a:r>
                      <a:r>
                        <a:rPr lang="de-DE" baseline="0" dirty="0"/>
                        <a:t> FTP, SMTP</a:t>
                      </a:r>
                      <a:endParaRPr lang="de-DE" dirty="0"/>
                    </a:p>
                  </a:txBody>
                  <a:tcPr>
                    <a:solidFill>
                      <a:srgbClr val="92D050"/>
                    </a:solidFill>
                  </a:tcPr>
                </a:tc>
                <a:extLst>
                  <a:ext uri="{0D108BD9-81ED-4DB2-BD59-A6C34878D82A}">
                    <a16:rowId xmlns:a16="http://schemas.microsoft.com/office/drawing/2014/main" val="10000"/>
                  </a:ext>
                </a:extLst>
              </a:tr>
            </a:tbl>
          </a:graphicData>
        </a:graphic>
      </p:graphicFrame>
      <p:graphicFrame>
        <p:nvGraphicFramePr>
          <p:cNvPr id="12" name="Table 11"/>
          <p:cNvGraphicFramePr>
            <a:graphicFrameLocks noGrp="1"/>
          </p:cNvGraphicFramePr>
          <p:nvPr/>
        </p:nvGraphicFramePr>
        <p:xfrm>
          <a:off x="323528" y="4725144"/>
          <a:ext cx="8352928" cy="640080"/>
        </p:xfrm>
        <a:graphic>
          <a:graphicData uri="http://schemas.openxmlformats.org/drawingml/2006/table">
            <a:tbl>
              <a:tblPr firstRow="1" bandRow="1">
                <a:tableStyleId>{7DF18680-E054-41AD-8BC1-D1AEF772440D}</a:tableStyleId>
              </a:tblPr>
              <a:tblGrid>
                <a:gridCol w="2491224">
                  <a:extLst>
                    <a:ext uri="{9D8B030D-6E8A-4147-A177-3AD203B41FA5}">
                      <a16:colId xmlns:a16="http://schemas.microsoft.com/office/drawing/2014/main" val="20000"/>
                    </a:ext>
                  </a:extLst>
                </a:gridCol>
                <a:gridCol w="3413432">
                  <a:extLst>
                    <a:ext uri="{9D8B030D-6E8A-4147-A177-3AD203B41FA5}">
                      <a16:colId xmlns:a16="http://schemas.microsoft.com/office/drawing/2014/main" val="20001"/>
                    </a:ext>
                  </a:extLst>
                </a:gridCol>
                <a:gridCol w="2448272">
                  <a:extLst>
                    <a:ext uri="{9D8B030D-6E8A-4147-A177-3AD203B41FA5}">
                      <a16:colId xmlns:a16="http://schemas.microsoft.com/office/drawing/2014/main" val="20002"/>
                    </a:ext>
                  </a:extLst>
                </a:gridCol>
              </a:tblGrid>
              <a:tr h="600067">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de-DE" sz="1800" u="none" strike="noStrike" kern="1200" baseline="0" dirty="0"/>
                        <a:t>Netzwerkschicht </a:t>
                      </a:r>
                      <a:r>
                        <a:rPr lang="de-DE" dirty="0"/>
                        <a:t>(network layer)</a:t>
                      </a:r>
                    </a:p>
                  </a:txBody>
                  <a:tcPr>
                    <a:solidFill>
                      <a:srgbClr val="0070C0"/>
                    </a:solidFill>
                  </a:tcPr>
                </a:tc>
                <a:tc>
                  <a:txBody>
                    <a:bodyPr/>
                    <a:lstStyle/>
                    <a:p>
                      <a:r>
                        <a:rPr lang="de-DE" dirty="0"/>
                        <a:t>Leitet die Pakete (Data-gramme)</a:t>
                      </a:r>
                      <a:r>
                        <a:rPr lang="de-DE" baseline="0" dirty="0"/>
                        <a:t> zwischen Hosts  </a:t>
                      </a:r>
                      <a:endParaRPr lang="de-DE" dirty="0"/>
                    </a:p>
                  </a:txBody>
                  <a:tcPr>
                    <a:solidFill>
                      <a:srgbClr val="0070C0"/>
                    </a:solidFill>
                  </a:tcPr>
                </a:tc>
                <a:tc>
                  <a:txBody>
                    <a:bodyPr/>
                    <a:lstStyle/>
                    <a:p>
                      <a:r>
                        <a:rPr lang="de-DE" dirty="0"/>
                        <a:t>IP, Routing-Protokolle</a:t>
                      </a:r>
                    </a:p>
                  </a:txBody>
                  <a:tcPr>
                    <a:solidFill>
                      <a:srgbClr val="0070C0"/>
                    </a:solidFill>
                  </a:tcPr>
                </a:tc>
                <a:extLst>
                  <a:ext uri="{0D108BD9-81ED-4DB2-BD59-A6C34878D82A}">
                    <a16:rowId xmlns:a16="http://schemas.microsoft.com/office/drawing/2014/main" val="10000"/>
                  </a:ext>
                </a:extLst>
              </a:tr>
            </a:tbl>
          </a:graphicData>
        </a:graphic>
      </p:graphicFrame>
      <p:graphicFrame>
        <p:nvGraphicFramePr>
          <p:cNvPr id="13" name="Table 12"/>
          <p:cNvGraphicFramePr>
            <a:graphicFrameLocks noGrp="1"/>
          </p:cNvGraphicFramePr>
          <p:nvPr/>
        </p:nvGraphicFramePr>
        <p:xfrm>
          <a:off x="323528" y="5373216"/>
          <a:ext cx="8352928" cy="640080"/>
        </p:xfrm>
        <a:graphic>
          <a:graphicData uri="http://schemas.openxmlformats.org/drawingml/2006/table">
            <a:tbl>
              <a:tblPr firstRow="1" bandRow="1">
                <a:tableStyleId>{7DF18680-E054-41AD-8BC1-D1AEF772440D}</a:tableStyleId>
              </a:tblPr>
              <a:tblGrid>
                <a:gridCol w="2491224">
                  <a:extLst>
                    <a:ext uri="{9D8B030D-6E8A-4147-A177-3AD203B41FA5}">
                      <a16:colId xmlns:a16="http://schemas.microsoft.com/office/drawing/2014/main" val="20000"/>
                    </a:ext>
                  </a:extLst>
                </a:gridCol>
                <a:gridCol w="3413432">
                  <a:extLst>
                    <a:ext uri="{9D8B030D-6E8A-4147-A177-3AD203B41FA5}">
                      <a16:colId xmlns:a16="http://schemas.microsoft.com/office/drawing/2014/main" val="20001"/>
                    </a:ext>
                  </a:extLst>
                </a:gridCol>
                <a:gridCol w="2448272">
                  <a:extLst>
                    <a:ext uri="{9D8B030D-6E8A-4147-A177-3AD203B41FA5}">
                      <a16:colId xmlns:a16="http://schemas.microsoft.com/office/drawing/2014/main" val="20002"/>
                    </a:ext>
                  </a:extLst>
                </a:gridCol>
              </a:tblGrid>
              <a:tr h="640080">
                <a:tc>
                  <a:txBody>
                    <a:bodyPr/>
                    <a:lstStyle/>
                    <a:p>
                      <a:r>
                        <a:rPr lang="de-DE" sz="1800" u="none" strike="noStrike" kern="1200" baseline="0" dirty="0"/>
                        <a:t>Sicherungsschicht (data link layer)</a:t>
                      </a:r>
                      <a:endParaRPr lang="de-DE" dirty="0"/>
                    </a:p>
                  </a:txBody>
                  <a:tcPr>
                    <a:solidFill>
                      <a:srgbClr val="92D050"/>
                    </a:solidFill>
                  </a:tcPr>
                </a:tc>
                <a:tc>
                  <a:txBody>
                    <a:bodyPr/>
                    <a:lstStyle/>
                    <a:p>
                      <a:r>
                        <a:rPr lang="de-DE" dirty="0"/>
                        <a:t>Leitet die Pakete </a:t>
                      </a:r>
                      <a:r>
                        <a:rPr lang="de-DE" baseline="0" dirty="0"/>
                        <a:t>zwischen Netzwerkknoten (Routern)</a:t>
                      </a:r>
                      <a:endParaRPr lang="de-DE" dirty="0"/>
                    </a:p>
                  </a:txBody>
                  <a:tcPr>
                    <a:solidFill>
                      <a:srgbClr val="92D050"/>
                    </a:solidFill>
                  </a:tcPr>
                </a:tc>
                <a:tc>
                  <a:txBody>
                    <a:bodyPr/>
                    <a:lstStyle/>
                    <a:p>
                      <a:r>
                        <a:rPr lang="de-DE" dirty="0"/>
                        <a:t>PPP, Ethernet</a:t>
                      </a:r>
                    </a:p>
                  </a:txBody>
                  <a:tcPr>
                    <a:solidFill>
                      <a:srgbClr val="92D050"/>
                    </a:solidFill>
                  </a:tcPr>
                </a:tc>
                <a:extLst>
                  <a:ext uri="{0D108BD9-81ED-4DB2-BD59-A6C34878D82A}">
                    <a16:rowId xmlns:a16="http://schemas.microsoft.com/office/drawing/2014/main" val="10000"/>
                  </a:ext>
                </a:extLst>
              </a:tr>
            </a:tbl>
          </a:graphicData>
        </a:graphic>
      </p:graphicFrame>
      <p:graphicFrame>
        <p:nvGraphicFramePr>
          <p:cNvPr id="14" name="Table 13"/>
          <p:cNvGraphicFramePr>
            <a:graphicFrameLocks noGrp="1"/>
          </p:cNvGraphicFramePr>
          <p:nvPr/>
        </p:nvGraphicFramePr>
        <p:xfrm>
          <a:off x="323528" y="6021288"/>
          <a:ext cx="8352928" cy="640080"/>
        </p:xfrm>
        <a:graphic>
          <a:graphicData uri="http://schemas.openxmlformats.org/drawingml/2006/table">
            <a:tbl>
              <a:tblPr firstRow="1" bandRow="1">
                <a:tableStyleId>{7DF18680-E054-41AD-8BC1-D1AEF772440D}</a:tableStyleId>
              </a:tblPr>
              <a:tblGrid>
                <a:gridCol w="2491224">
                  <a:extLst>
                    <a:ext uri="{9D8B030D-6E8A-4147-A177-3AD203B41FA5}">
                      <a16:colId xmlns:a16="http://schemas.microsoft.com/office/drawing/2014/main" val="20000"/>
                    </a:ext>
                  </a:extLst>
                </a:gridCol>
                <a:gridCol w="3413432">
                  <a:extLst>
                    <a:ext uri="{9D8B030D-6E8A-4147-A177-3AD203B41FA5}">
                      <a16:colId xmlns:a16="http://schemas.microsoft.com/office/drawing/2014/main" val="20001"/>
                    </a:ext>
                  </a:extLst>
                </a:gridCol>
                <a:gridCol w="2448272">
                  <a:extLst>
                    <a:ext uri="{9D8B030D-6E8A-4147-A177-3AD203B41FA5}">
                      <a16:colId xmlns:a16="http://schemas.microsoft.com/office/drawing/2014/main" val="20002"/>
                    </a:ext>
                  </a:extLst>
                </a:gridCol>
              </a:tblGrid>
              <a:tr h="600067">
                <a:tc>
                  <a:txBody>
                    <a:bodyPr/>
                    <a:lstStyle/>
                    <a:p>
                      <a:r>
                        <a:rPr lang="de-DE" sz="1800" u="none" strike="noStrike" kern="1200" baseline="0" dirty="0"/>
                        <a:t>Bitübertragungss.</a:t>
                      </a:r>
                    </a:p>
                    <a:p>
                      <a:r>
                        <a:rPr lang="de-DE" sz="1800" u="none" strike="noStrike" kern="1200" baseline="0" dirty="0"/>
                        <a:t>(physical layer)  </a:t>
                      </a:r>
                      <a:endParaRPr lang="de-DE" dirty="0"/>
                    </a:p>
                  </a:txBody>
                  <a:tcPr>
                    <a:solidFill>
                      <a:srgbClr val="92D050"/>
                    </a:solidFill>
                  </a:tcPr>
                </a:tc>
                <a:tc>
                  <a:txBody>
                    <a:bodyPr/>
                    <a:lstStyle/>
                    <a:p>
                      <a:r>
                        <a:rPr lang="de-DE" dirty="0"/>
                        <a:t>Überträgt</a:t>
                      </a:r>
                      <a:r>
                        <a:rPr lang="de-DE" baseline="0" dirty="0"/>
                        <a:t> einzelne Bits zwischen Netzwerkknoten</a:t>
                      </a:r>
                      <a:endParaRPr lang="de-DE" dirty="0"/>
                    </a:p>
                  </a:txBody>
                  <a:tcPr>
                    <a:solidFill>
                      <a:srgbClr val="92D050"/>
                    </a:solidFill>
                  </a:tcPr>
                </a:tc>
                <a:tc>
                  <a:txBody>
                    <a:bodyPr/>
                    <a:lstStyle/>
                    <a:p>
                      <a:r>
                        <a:rPr lang="de-DE" dirty="0"/>
                        <a:t>Hängt vom Medium ab</a:t>
                      </a:r>
                    </a:p>
                  </a:txBody>
                  <a:tcPr>
                    <a:solidFill>
                      <a:srgbClr val="92D050"/>
                    </a:solidFill>
                  </a:tcPr>
                </a:tc>
                <a:extLst>
                  <a:ext uri="{0D108BD9-81ED-4DB2-BD59-A6C34878D82A}">
                    <a16:rowId xmlns:a16="http://schemas.microsoft.com/office/drawing/2014/main" val="10000"/>
                  </a:ext>
                </a:extLst>
              </a:tr>
            </a:tbl>
          </a:graphicData>
        </a:graphic>
      </p:graphicFrame>
      <p:graphicFrame>
        <p:nvGraphicFramePr>
          <p:cNvPr id="15" name="Table 14"/>
          <p:cNvGraphicFramePr>
            <a:graphicFrameLocks noGrp="1"/>
          </p:cNvGraphicFramePr>
          <p:nvPr/>
        </p:nvGraphicFramePr>
        <p:xfrm>
          <a:off x="323528" y="2708920"/>
          <a:ext cx="8352928" cy="545192"/>
        </p:xfrm>
        <a:graphic>
          <a:graphicData uri="http://schemas.openxmlformats.org/drawingml/2006/table">
            <a:tbl>
              <a:tblPr firstRow="1" bandRow="1">
                <a:tableStyleId>{93296810-A885-4BE3-A3E7-6D5BEEA58F35}</a:tableStyleId>
              </a:tblPr>
              <a:tblGrid>
                <a:gridCol w="2491224">
                  <a:extLst>
                    <a:ext uri="{9D8B030D-6E8A-4147-A177-3AD203B41FA5}">
                      <a16:colId xmlns:a16="http://schemas.microsoft.com/office/drawing/2014/main" val="20000"/>
                    </a:ext>
                  </a:extLst>
                </a:gridCol>
                <a:gridCol w="3413432">
                  <a:extLst>
                    <a:ext uri="{9D8B030D-6E8A-4147-A177-3AD203B41FA5}">
                      <a16:colId xmlns:a16="http://schemas.microsoft.com/office/drawing/2014/main" val="20001"/>
                    </a:ext>
                  </a:extLst>
                </a:gridCol>
                <a:gridCol w="2448272">
                  <a:extLst>
                    <a:ext uri="{9D8B030D-6E8A-4147-A177-3AD203B41FA5}">
                      <a16:colId xmlns:a16="http://schemas.microsoft.com/office/drawing/2014/main" val="20002"/>
                    </a:ext>
                  </a:extLst>
                </a:gridCol>
              </a:tblGrid>
              <a:tr h="545192">
                <a:tc>
                  <a:txBody>
                    <a:bodyPr/>
                    <a:lstStyle/>
                    <a:p>
                      <a:r>
                        <a:rPr lang="de-DE" sz="2400" dirty="0"/>
                        <a:t>Name</a:t>
                      </a:r>
                    </a:p>
                  </a:txBody>
                  <a:tcPr/>
                </a:tc>
                <a:tc>
                  <a:txBody>
                    <a:bodyPr/>
                    <a:lstStyle/>
                    <a:p>
                      <a:r>
                        <a:rPr lang="de-DE" sz="2400" dirty="0"/>
                        <a:t>Funktion</a:t>
                      </a:r>
                      <a:endParaRPr lang="de-DE" sz="2000" dirty="0"/>
                    </a:p>
                  </a:txBody>
                  <a:tcPr/>
                </a:tc>
                <a:tc>
                  <a:txBody>
                    <a:bodyPr/>
                    <a:lstStyle/>
                    <a:p>
                      <a:r>
                        <a:rPr lang="de-DE" sz="2400" dirty="0"/>
                        <a:t>Bsp-Protokolle</a:t>
                      </a:r>
                    </a:p>
                  </a:txBody>
                  <a:tcPr/>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192066030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60" descr="15"/>
          <p:cNvPicPr>
            <a:picLocks noChangeAspect="1" noChangeArrowheads="1"/>
          </p:cNvPicPr>
          <p:nvPr/>
        </p:nvPicPr>
        <p:blipFill>
          <a:blip r:embed="rId2" cstate="print"/>
          <a:stretch>
            <a:fillRect/>
          </a:stretch>
        </p:blipFill>
        <p:spPr>
          <a:xfrm>
            <a:off x="4363580" y="1113080"/>
            <a:ext cx="4846440" cy="3324032"/>
          </a:xfrm>
          <a:prstGeom prst="rect">
            <a:avLst/>
          </a:prstGeom>
          <a:noFill/>
        </p:spPr>
      </p:pic>
      <p:sp>
        <p:nvSpPr>
          <p:cNvPr id="2" name="Titel 1"/>
          <p:cNvSpPr>
            <a:spLocks noGrp="1"/>
          </p:cNvSpPr>
          <p:nvPr>
            <p:ph type="title"/>
          </p:nvPr>
        </p:nvSpPr>
        <p:spPr/>
        <p:txBody>
          <a:bodyPr>
            <a:normAutofit/>
          </a:bodyPr>
          <a:lstStyle/>
          <a:p>
            <a:r>
              <a:rPr lang="de-DE" dirty="0"/>
              <a:t>IP-Adressierung – Netzwerke</a:t>
            </a:r>
          </a:p>
        </p:txBody>
      </p:sp>
      <p:sp>
        <p:nvSpPr>
          <p:cNvPr id="3" name="Foliennummernplatzhalter 2"/>
          <p:cNvSpPr>
            <a:spLocks noGrp="1"/>
          </p:cNvSpPr>
          <p:nvPr>
            <p:ph type="sldNum" sz="quarter" idx="12"/>
          </p:nvPr>
        </p:nvSpPr>
        <p:spPr/>
        <p:txBody>
          <a:bodyPr/>
          <a:lstStyle/>
          <a:p>
            <a:fld id="{6C6AE60A-B69C-4790-82F7-3882EDF23186}" type="slidenum">
              <a:rPr lang="de-DE" smtClean="0"/>
              <a:pPr/>
              <a:t>4</a:t>
            </a:fld>
            <a:endParaRPr lang="de-DE" dirty="0"/>
          </a:p>
        </p:txBody>
      </p:sp>
      <p:sp>
        <p:nvSpPr>
          <p:cNvPr id="4" name="Inhaltsplatzhalter 3"/>
          <p:cNvSpPr>
            <a:spLocks noGrp="1"/>
          </p:cNvSpPr>
          <p:nvPr>
            <p:ph sz="quarter" idx="1"/>
          </p:nvPr>
        </p:nvSpPr>
        <p:spPr>
          <a:xfrm>
            <a:off x="457200" y="1219200"/>
            <a:ext cx="4330824" cy="5378152"/>
          </a:xfrm>
        </p:spPr>
        <p:txBody>
          <a:bodyPr>
            <a:noAutofit/>
          </a:bodyPr>
          <a:lstStyle/>
          <a:p>
            <a:r>
              <a:rPr lang="de-DE" sz="2400" dirty="0"/>
              <a:t>IP-Adressen haben zwei Bestandteile: </a:t>
            </a:r>
          </a:p>
          <a:p>
            <a:pPr lvl="1"/>
            <a:r>
              <a:rPr lang="de-DE" sz="2000" b="1" dirty="0" err="1">
                <a:solidFill>
                  <a:srgbClr val="FF0000"/>
                </a:solidFill>
              </a:rPr>
              <a:t>Netid</a:t>
            </a:r>
            <a:r>
              <a:rPr lang="de-DE" sz="2000" b="1" dirty="0">
                <a:solidFill>
                  <a:srgbClr val="FF0000"/>
                </a:solidFill>
              </a:rPr>
              <a:t>: </a:t>
            </a:r>
            <a:r>
              <a:rPr lang="de-DE" sz="2000" b="1" u="sng" dirty="0">
                <a:solidFill>
                  <a:srgbClr val="FF0000"/>
                </a:solidFill>
              </a:rPr>
              <a:t>Netzwerk</a:t>
            </a:r>
            <a:r>
              <a:rPr lang="de-DE" sz="2000" b="1" dirty="0">
                <a:solidFill>
                  <a:srgbClr val="FF0000"/>
                </a:solidFill>
              </a:rPr>
              <a:t>teil</a:t>
            </a:r>
            <a:r>
              <a:rPr lang="de-DE" sz="2000" dirty="0"/>
              <a:t>: Die oberen Bits der Adresse, </a:t>
            </a:r>
            <a:r>
              <a:rPr lang="de-DE" sz="2000" u="sng" dirty="0"/>
              <a:t>identifizieren ein Netzwerk</a:t>
            </a:r>
          </a:p>
          <a:p>
            <a:pPr lvl="1"/>
            <a:r>
              <a:rPr lang="de-DE" sz="2000" b="1" dirty="0" err="1">
                <a:solidFill>
                  <a:srgbClr val="FF0000"/>
                </a:solidFill>
              </a:rPr>
              <a:t>Hostid</a:t>
            </a:r>
            <a:r>
              <a:rPr lang="de-DE" sz="2000" b="1" dirty="0">
                <a:solidFill>
                  <a:srgbClr val="FF0000"/>
                </a:solidFill>
              </a:rPr>
              <a:t>: - </a:t>
            </a:r>
            <a:r>
              <a:rPr lang="de-DE" sz="2000" b="1" u="sng" dirty="0">
                <a:solidFill>
                  <a:srgbClr val="FF0000"/>
                </a:solidFill>
              </a:rPr>
              <a:t>Host</a:t>
            </a:r>
            <a:r>
              <a:rPr lang="de-DE" sz="2000" b="1" dirty="0">
                <a:solidFill>
                  <a:srgbClr val="FF0000"/>
                </a:solidFill>
              </a:rPr>
              <a:t>teil</a:t>
            </a:r>
            <a:r>
              <a:rPr lang="de-DE" sz="2000" dirty="0"/>
              <a:t>: Die unteren Bits der Adresse, </a:t>
            </a:r>
            <a:r>
              <a:rPr lang="de-DE" sz="2000" u="sng" dirty="0"/>
              <a:t>identifizieren ein Interface</a:t>
            </a:r>
            <a:r>
              <a:rPr lang="de-DE" sz="2000" dirty="0"/>
              <a:t> innerhalb des Netzwerks</a:t>
            </a:r>
          </a:p>
          <a:p>
            <a:r>
              <a:rPr lang="de-DE" sz="2400" dirty="0"/>
              <a:t>Wenn der Adressenbereich eines Netzwerks 2</a:t>
            </a:r>
            <a:r>
              <a:rPr lang="de-DE" sz="2400" baseline="30000" dirty="0"/>
              <a:t>k</a:t>
            </a:r>
            <a:r>
              <a:rPr lang="de-DE" sz="2400" dirty="0"/>
              <a:t> Adressen umfasst, dann</a:t>
            </a:r>
          </a:p>
          <a:p>
            <a:pPr lvl="1"/>
            <a:r>
              <a:rPr lang="de-DE" sz="2200" dirty="0">
                <a:solidFill>
                  <a:srgbClr val="FF0000"/>
                </a:solidFill>
              </a:rPr>
              <a:t>Hostid</a:t>
            </a:r>
            <a:r>
              <a:rPr lang="de-DE" sz="2200" dirty="0"/>
              <a:t> hat die unteren k Bits</a:t>
            </a:r>
          </a:p>
          <a:p>
            <a:pPr lvl="1"/>
            <a:r>
              <a:rPr lang="de-DE" sz="2200" dirty="0">
                <a:solidFill>
                  <a:srgbClr val="FF0000"/>
                </a:solidFill>
              </a:rPr>
              <a:t>Netid</a:t>
            </a:r>
            <a:r>
              <a:rPr lang="de-DE" sz="2200" dirty="0"/>
              <a:t> hat die oberen </a:t>
            </a:r>
            <a:r>
              <a:rPr lang="de-DE" sz="2200" u="sng" dirty="0"/>
              <a:t>32-k</a:t>
            </a:r>
            <a:r>
              <a:rPr lang="de-DE" sz="2200" dirty="0"/>
              <a:t> Bits</a:t>
            </a:r>
          </a:p>
          <a:p>
            <a:endParaRPr lang="de-DE" sz="2400" dirty="0"/>
          </a:p>
        </p:txBody>
      </p:sp>
      <p:sp>
        <p:nvSpPr>
          <p:cNvPr id="5" name="Inhaltsplatzhalter 4"/>
          <p:cNvSpPr>
            <a:spLocks noGrp="1"/>
          </p:cNvSpPr>
          <p:nvPr>
            <p:ph sz="quarter" idx="2"/>
          </p:nvPr>
        </p:nvSpPr>
        <p:spPr>
          <a:xfrm>
            <a:off x="4644008" y="4581128"/>
            <a:ext cx="4392488" cy="2016224"/>
          </a:xfrm>
        </p:spPr>
        <p:txBody>
          <a:bodyPr>
            <a:noAutofit/>
          </a:bodyPr>
          <a:lstStyle/>
          <a:p>
            <a:r>
              <a:rPr lang="de-DE" sz="2400" dirty="0">
                <a:solidFill>
                  <a:srgbClr val="000000"/>
                </a:solidFill>
                <a:latin typeface="Bitstream Vera Sans" charset="0"/>
              </a:rPr>
              <a:t>Z.B. das untere Netzwerk hat 256 IP-Adressen:</a:t>
            </a:r>
          </a:p>
          <a:p>
            <a:pPr lvl="1"/>
            <a:r>
              <a:rPr lang="de-DE" sz="2100" dirty="0">
                <a:solidFill>
                  <a:srgbClr val="000000"/>
                </a:solidFill>
                <a:latin typeface="Bitstream Vera Sans" charset="0"/>
              </a:rPr>
              <a:t>8 (untere) Bits als </a:t>
            </a:r>
            <a:r>
              <a:rPr lang="de-DE" sz="2100" dirty="0">
                <a:solidFill>
                  <a:srgbClr val="FF0000"/>
                </a:solidFill>
                <a:latin typeface="Bitstream Vera Sans" charset="0"/>
              </a:rPr>
              <a:t>Hostteil </a:t>
            </a:r>
          </a:p>
          <a:p>
            <a:pPr lvl="1"/>
            <a:r>
              <a:rPr lang="de-DE" sz="2100" dirty="0">
                <a:solidFill>
                  <a:srgbClr val="000000"/>
                </a:solidFill>
                <a:latin typeface="Bitstream Vera Sans" charset="0"/>
              </a:rPr>
              <a:t>24 obere Bits (223.1.3.*) als </a:t>
            </a:r>
            <a:r>
              <a:rPr lang="de-DE" sz="2100" dirty="0">
                <a:solidFill>
                  <a:srgbClr val="FF0000"/>
                </a:solidFill>
                <a:latin typeface="Bitstream Vera Sans" charset="0"/>
              </a:rPr>
              <a:t>Netzwerkteil</a:t>
            </a:r>
          </a:p>
          <a:p>
            <a:endParaRPr lang="de-DE" sz="2000" dirty="0"/>
          </a:p>
        </p:txBody>
      </p:sp>
      <p:sp>
        <p:nvSpPr>
          <p:cNvPr id="7" name="Rechteck 6">
            <a:extLst>
              <a:ext uri="{FF2B5EF4-FFF2-40B4-BE49-F238E27FC236}">
                <a16:creationId xmlns:a16="http://schemas.microsoft.com/office/drawing/2014/main" id="{48EB7682-73B6-A238-F0CA-E44A6E02C33C}"/>
              </a:ext>
            </a:extLst>
          </p:cNvPr>
          <p:cNvSpPr/>
          <p:nvPr/>
        </p:nvSpPr>
        <p:spPr>
          <a:xfrm>
            <a:off x="6627467" y="228600"/>
            <a:ext cx="2376264" cy="375760"/>
          </a:xfrm>
          <a:prstGeom prst="rect">
            <a:avLst/>
          </a:prstGeom>
          <a:gradFill flip="none" rotWithShape="1">
            <a:gsLst>
              <a:gs pos="0">
                <a:schemeClr val="accent1">
                  <a:lumMod val="67000"/>
                </a:schemeClr>
              </a:gs>
              <a:gs pos="48000">
                <a:schemeClr val="accent1">
                  <a:lumMod val="97000"/>
                  <a:lumOff val="3000"/>
                </a:schemeClr>
              </a:gs>
              <a:gs pos="100000">
                <a:schemeClr val="accent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de-DE" dirty="0"/>
              <a:t>Wiederholung</a:t>
            </a:r>
          </a:p>
        </p:txBody>
      </p:sp>
    </p:spTree>
    <p:extLst>
      <p:ext uri="{BB962C8B-B14F-4D97-AF65-F5344CB8AC3E}">
        <p14:creationId xmlns:p14="http://schemas.microsoft.com/office/powerpoint/2010/main" val="40989465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xEl>
                                              <p:pRg st="1" end="1"/>
                                            </p:txEl>
                                          </p:spTgt>
                                        </p:tgtEl>
                                        <p:attrNameLst>
                                          <p:attrName>style.visibility</p:attrName>
                                        </p:attrNameLst>
                                      </p:cBhvr>
                                      <p:to>
                                        <p:strVal val="visible"/>
                                      </p:to>
                                    </p:set>
                                    <p:animEffect transition="in" filter="fade">
                                      <p:cBhvr>
                                        <p:cTn id="10" dur="500"/>
                                        <p:tgtEl>
                                          <p:spTgt spid="5">
                                            <p:txEl>
                                              <p:pRg st="1" end="1"/>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5">
                                            <p:txEl>
                                              <p:pRg st="2" end="2"/>
                                            </p:txEl>
                                          </p:spTgt>
                                        </p:tgtEl>
                                        <p:attrNameLst>
                                          <p:attrName>style.visibility</p:attrName>
                                        </p:attrNameLst>
                                      </p:cBhvr>
                                      <p:to>
                                        <p:strVal val="visible"/>
                                      </p:to>
                                    </p:set>
                                    <p:animEffect transition="in" filter="fade">
                                      <p:cBhvr>
                                        <p:cTn id="13" dur="500"/>
                                        <p:tgtEl>
                                          <p:spTgt spid="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5" name="Rectangle 2"/>
          <p:cNvSpPr>
            <a:spLocks noGrp="1" noChangeArrowheads="1"/>
          </p:cNvSpPr>
          <p:nvPr>
            <p:ph type="title"/>
          </p:nvPr>
        </p:nvSpPr>
        <p:spPr/>
        <p:txBody>
          <a:bodyPr lIns="0" tIns="0" rIns="0" bIns="0"/>
          <a:lstStyle/>
          <a:p>
            <a:pPr defTabSz="449263">
              <a:lnSpc>
                <a:spcPct val="98000"/>
              </a:lnSpc>
              <a:tabLst>
                <a:tab pos="723900" algn="l"/>
                <a:tab pos="1447800" algn="l"/>
                <a:tab pos="2171700" algn="l"/>
                <a:tab pos="2895600" algn="l"/>
                <a:tab pos="3619500" algn="l"/>
                <a:tab pos="4343400" algn="l"/>
                <a:tab pos="5067300" algn="l"/>
                <a:tab pos="5791200" algn="l"/>
                <a:tab pos="6515100" algn="l"/>
                <a:tab pos="7239000" algn="l"/>
                <a:tab pos="7962900" algn="l"/>
              </a:tabLst>
            </a:pPr>
            <a:r>
              <a:rPr lang="de-DE" dirty="0"/>
              <a:t>Adressierung von Subnetzen /1</a:t>
            </a:r>
          </a:p>
        </p:txBody>
      </p:sp>
      <p:sp>
        <p:nvSpPr>
          <p:cNvPr id="26" name="Slide Number Placeholder 6"/>
          <p:cNvSpPr>
            <a:spLocks noGrp="1"/>
          </p:cNvSpPr>
          <p:nvPr>
            <p:ph type="sldNum" sz="quarter" idx="12"/>
          </p:nvPr>
        </p:nvSpPr>
        <p:spPr/>
        <p:txBody>
          <a:bodyPr/>
          <a:lstStyle/>
          <a:p>
            <a:fld id="{DAD4710D-7044-4A3F-B9DE-CA79DBB0B75F}" type="slidenum">
              <a:rPr lang="de-DE" smtClean="0"/>
              <a:pPr/>
              <a:t>5</a:t>
            </a:fld>
            <a:endParaRPr lang="de-DE" dirty="0"/>
          </a:p>
        </p:txBody>
      </p:sp>
      <p:sp>
        <p:nvSpPr>
          <p:cNvPr id="49156" name="Rectangle 3"/>
          <p:cNvSpPr>
            <a:spLocks noGrp="1" noChangeArrowheads="1"/>
          </p:cNvSpPr>
          <p:nvPr>
            <p:ph sz="quarter" idx="1"/>
          </p:nvPr>
        </p:nvSpPr>
        <p:spPr>
          <a:xfrm>
            <a:off x="457200" y="1219200"/>
            <a:ext cx="8229600" cy="1273696"/>
          </a:xfrm>
        </p:spPr>
        <p:txBody>
          <a:bodyPr lIns="81639" tIns="42452" rIns="81639" bIns="42452">
            <a:normAutofit/>
          </a:bodyPr>
          <a:lstStyle/>
          <a:p>
            <a:pPr marL="431800" indent="-323850" defTabSz="449263">
              <a:lnSpc>
                <a:spcPct val="98000"/>
              </a:lnSpc>
              <a:spcBef>
                <a:spcPts val="700"/>
              </a:spcBef>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de-DE" sz="2400" dirty="0">
                <a:solidFill>
                  <a:srgbClr val="808080"/>
                </a:solidFill>
              </a:rPr>
              <a:t>Institutionen wollen oft ihre Adressenbereiche aufteilen</a:t>
            </a:r>
          </a:p>
          <a:p>
            <a:pPr marL="431800" indent="-323850" defTabSz="449263">
              <a:spcBef>
                <a:spcPts val="700"/>
              </a:spcBef>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de-DE" sz="2400" dirty="0"/>
              <a:t>Daher teilt man die </a:t>
            </a:r>
            <a:r>
              <a:rPr lang="de-DE" sz="2400" u="sng" dirty="0"/>
              <a:t>hostid</a:t>
            </a:r>
            <a:r>
              <a:rPr lang="de-DE" sz="2400" dirty="0"/>
              <a:t> weiter auf, z.B. so:</a:t>
            </a:r>
          </a:p>
        </p:txBody>
      </p:sp>
      <p:sp>
        <p:nvSpPr>
          <p:cNvPr id="7" name="Content Placeholder 6"/>
          <p:cNvSpPr>
            <a:spLocks noGrp="1"/>
          </p:cNvSpPr>
          <p:nvPr>
            <p:ph sz="quarter" idx="13"/>
          </p:nvPr>
        </p:nvSpPr>
        <p:spPr>
          <a:xfrm>
            <a:off x="469255" y="3821839"/>
            <a:ext cx="5184575" cy="2952328"/>
          </a:xfrm>
        </p:spPr>
        <p:txBody>
          <a:bodyPr>
            <a:normAutofit lnSpcReduction="10000"/>
          </a:bodyPr>
          <a:lstStyle/>
          <a:p>
            <a:r>
              <a:rPr lang="de-DE" sz="2400" dirty="0"/>
              <a:t>Der Router A kennt die Zuordnung der </a:t>
            </a:r>
            <a:r>
              <a:rPr lang="de-DE" sz="2400" u="sng" dirty="0"/>
              <a:t>Subnetid</a:t>
            </a:r>
            <a:r>
              <a:rPr lang="de-DE" sz="2400" dirty="0"/>
              <a:t> zu den Routern  „unter ihm“ (wie B, C)</a:t>
            </a:r>
          </a:p>
          <a:p>
            <a:r>
              <a:rPr lang="de-DE" sz="2400" dirty="0"/>
              <a:t>Die Router B, C, …, gehören </a:t>
            </a:r>
            <a:br>
              <a:rPr lang="de-DE" sz="2400" dirty="0"/>
            </a:br>
            <a:r>
              <a:rPr lang="de-DE" sz="2400" dirty="0"/>
              <a:t>zu je einem Subnetz und kennen die IP-Adressen aller Interfaces darin sowie die netid+subnetid der </a:t>
            </a:r>
            <a:r>
              <a:rPr lang="de-DE" sz="2400" u="sng" dirty="0"/>
              <a:t>lokalen</a:t>
            </a:r>
            <a:r>
              <a:rPr lang="de-DE" sz="2400" dirty="0"/>
              <a:t> Router (A, B, C)</a:t>
            </a:r>
          </a:p>
          <a:p>
            <a:endParaRPr lang="de-DE" sz="2400" dirty="0"/>
          </a:p>
        </p:txBody>
      </p:sp>
      <p:grpSp>
        <p:nvGrpSpPr>
          <p:cNvPr id="2" name="Group 7"/>
          <p:cNvGrpSpPr/>
          <p:nvPr/>
        </p:nvGrpSpPr>
        <p:grpSpPr>
          <a:xfrm>
            <a:off x="1160737" y="2060848"/>
            <a:ext cx="6687795" cy="806303"/>
            <a:chOff x="1693515" y="3125755"/>
            <a:chExt cx="6687795" cy="806303"/>
          </a:xfrm>
        </p:grpSpPr>
        <p:grpSp>
          <p:nvGrpSpPr>
            <p:cNvPr id="3" name="Group 5"/>
            <p:cNvGrpSpPr>
              <a:grpSpLocks/>
            </p:cNvGrpSpPr>
            <p:nvPr/>
          </p:nvGrpSpPr>
          <p:grpSpPr bwMode="auto">
            <a:xfrm>
              <a:off x="2017365" y="3501008"/>
              <a:ext cx="322263" cy="407988"/>
              <a:chOff x="1347" y="2077"/>
              <a:chExt cx="224" cy="283"/>
            </a:xfrm>
          </p:grpSpPr>
          <p:sp>
            <p:nvSpPr>
              <p:cNvPr id="49175" name="AutoShape 6"/>
              <p:cNvSpPr>
                <a:spLocks noChangeArrowheads="1"/>
              </p:cNvSpPr>
              <p:nvPr/>
            </p:nvSpPr>
            <p:spPr bwMode="auto">
              <a:xfrm>
                <a:off x="1347" y="2077"/>
                <a:ext cx="225" cy="284"/>
              </a:xfrm>
              <a:prstGeom prst="roundRect">
                <a:avLst>
                  <a:gd name="adj" fmla="val 444"/>
                </a:avLst>
              </a:prstGeom>
              <a:noFill/>
              <a:ln w="12600">
                <a:solidFill>
                  <a:srgbClr val="000000"/>
                </a:solidFill>
                <a:round/>
                <a:headEnd/>
                <a:tailEnd/>
              </a:ln>
            </p:spPr>
            <p:txBody>
              <a:bodyPr wrap="none" anchor="ctr"/>
              <a:lstStyle/>
              <a:p>
                <a:endParaRPr lang="de-DE"/>
              </a:p>
            </p:txBody>
          </p:sp>
          <p:sp>
            <p:nvSpPr>
              <p:cNvPr id="49176" name="Text Box 7"/>
              <p:cNvSpPr txBox="1">
                <a:spLocks noChangeArrowheads="1"/>
              </p:cNvSpPr>
              <p:nvPr/>
            </p:nvSpPr>
            <p:spPr bwMode="auto">
              <a:xfrm>
                <a:off x="1347" y="2077"/>
                <a:ext cx="225" cy="284"/>
              </a:xfrm>
              <a:prstGeom prst="rect">
                <a:avLst/>
              </a:prstGeom>
              <a:noFill/>
              <a:ln w="9525">
                <a:noFill/>
                <a:round/>
                <a:headEnd/>
                <a:tailEnd/>
              </a:ln>
            </p:spPr>
            <p:txBody>
              <a:bodyPr lIns="81639" tIns="42452" rIns="81639" bIns="42452" anchor="ctr"/>
              <a:lstStyle/>
              <a:p>
                <a:pPr algn="ctr" defTabSz="828675" eaLnBrk="1">
                  <a:lnSpc>
                    <a:spcPct val="98000"/>
                  </a:lnSpc>
                  <a:spcBef>
                    <a:spcPts val="1138"/>
                  </a:spcBef>
                  <a:buClr>
                    <a:srgbClr val="000000"/>
                  </a:buClr>
                  <a:buSzPct val="45000"/>
                  <a:buFont typeface="Wingdings" pitchFamily="2" charset="2"/>
                  <a:buNone/>
                </a:pPr>
                <a:r>
                  <a:rPr lang="de-DE">
                    <a:solidFill>
                      <a:srgbClr val="000000"/>
                    </a:solidFill>
                    <a:latin typeface="Bitstream Vera Sans" charset="0"/>
                  </a:rPr>
                  <a:t>0</a:t>
                </a:r>
              </a:p>
            </p:txBody>
          </p:sp>
        </p:grpSp>
        <p:grpSp>
          <p:nvGrpSpPr>
            <p:cNvPr id="4" name="Group 8"/>
            <p:cNvGrpSpPr>
              <a:grpSpLocks/>
            </p:cNvGrpSpPr>
            <p:nvPr/>
          </p:nvGrpSpPr>
          <p:grpSpPr bwMode="auto">
            <a:xfrm>
              <a:off x="2339628" y="3501008"/>
              <a:ext cx="2755900" cy="407988"/>
              <a:chOff x="1571" y="2077"/>
              <a:chExt cx="1914" cy="283"/>
            </a:xfrm>
          </p:grpSpPr>
          <p:sp>
            <p:nvSpPr>
              <p:cNvPr id="49173" name="AutoShape 9"/>
              <p:cNvSpPr>
                <a:spLocks noChangeArrowheads="1"/>
              </p:cNvSpPr>
              <p:nvPr/>
            </p:nvSpPr>
            <p:spPr bwMode="auto">
              <a:xfrm>
                <a:off x="1571" y="2077"/>
                <a:ext cx="1915" cy="284"/>
              </a:xfrm>
              <a:prstGeom prst="roundRect">
                <a:avLst>
                  <a:gd name="adj" fmla="val 352"/>
                </a:avLst>
              </a:prstGeom>
              <a:noFill/>
              <a:ln w="12600">
                <a:solidFill>
                  <a:srgbClr val="000000"/>
                </a:solidFill>
                <a:round/>
                <a:headEnd/>
                <a:tailEnd/>
              </a:ln>
            </p:spPr>
            <p:txBody>
              <a:bodyPr wrap="none" anchor="ctr"/>
              <a:lstStyle/>
              <a:p>
                <a:endParaRPr lang="de-DE"/>
              </a:p>
            </p:txBody>
          </p:sp>
          <p:sp>
            <p:nvSpPr>
              <p:cNvPr id="49174" name="Text Box 10"/>
              <p:cNvSpPr txBox="1">
                <a:spLocks noChangeArrowheads="1"/>
              </p:cNvSpPr>
              <p:nvPr/>
            </p:nvSpPr>
            <p:spPr bwMode="auto">
              <a:xfrm>
                <a:off x="1571" y="2077"/>
                <a:ext cx="1915" cy="284"/>
              </a:xfrm>
              <a:prstGeom prst="rect">
                <a:avLst/>
              </a:prstGeom>
              <a:noFill/>
              <a:ln w="9525">
                <a:noFill/>
                <a:round/>
                <a:headEnd/>
                <a:tailEnd/>
              </a:ln>
            </p:spPr>
            <p:txBody>
              <a:bodyPr lIns="81639" tIns="42452" rIns="81639" bIns="42452" anchor="ctr"/>
              <a:lstStyle/>
              <a:p>
                <a:pPr algn="ctr" defTabSz="407988" eaLnBrk="1">
                  <a:lnSpc>
                    <a:spcPct val="98000"/>
                  </a:lnSpc>
                  <a:spcBef>
                    <a:spcPts val="1138"/>
                  </a:spcBef>
                  <a:buClr>
                    <a:srgbClr val="000000"/>
                  </a:buClr>
                  <a:buSzPct val="45000"/>
                  <a:buFont typeface="Wingdings" pitchFamily="2" charset="2"/>
                  <a:buNone/>
                  <a:tabLst>
                    <a:tab pos="657225" algn="l"/>
                    <a:tab pos="1312863" algn="l"/>
                    <a:tab pos="1970088" algn="l"/>
                    <a:tab pos="2627313" algn="l"/>
                  </a:tabLst>
                </a:pPr>
                <a:r>
                  <a:rPr lang="de-DE" b="1" dirty="0" err="1">
                    <a:solidFill>
                      <a:srgbClr val="0070C0"/>
                    </a:solidFill>
                    <a:latin typeface="Bitstream Vera Sans" charset="0"/>
                  </a:rPr>
                  <a:t>netid</a:t>
                </a:r>
                <a:endParaRPr lang="de-DE" b="1" dirty="0">
                  <a:solidFill>
                    <a:srgbClr val="0070C0"/>
                  </a:solidFill>
                  <a:latin typeface="Bitstream Vera Sans" charset="0"/>
                </a:endParaRPr>
              </a:p>
            </p:txBody>
          </p:sp>
        </p:grpSp>
        <p:sp>
          <p:nvSpPr>
            <p:cNvPr id="49160" name="AutoShape 11"/>
            <p:cNvSpPr>
              <a:spLocks noChangeArrowheads="1"/>
            </p:cNvSpPr>
            <p:nvPr/>
          </p:nvSpPr>
          <p:spPr bwMode="auto">
            <a:xfrm>
              <a:off x="3284910" y="3125755"/>
              <a:ext cx="866775" cy="396875"/>
            </a:xfrm>
            <a:prstGeom prst="roundRect">
              <a:avLst>
                <a:gd name="adj" fmla="val 361"/>
              </a:avLst>
            </a:prstGeom>
            <a:noFill/>
            <a:ln w="9525">
              <a:noFill/>
              <a:round/>
              <a:headEnd/>
              <a:tailEnd/>
            </a:ln>
          </p:spPr>
          <p:txBody>
            <a:bodyPr lIns="81639" tIns="42452" rIns="81639" bIns="42452" anchor="ctr"/>
            <a:lstStyle/>
            <a:p>
              <a:pPr algn="ctr" defTabSz="407988" eaLnBrk="1">
                <a:lnSpc>
                  <a:spcPct val="98000"/>
                </a:lnSpc>
                <a:spcBef>
                  <a:spcPts val="1138"/>
                </a:spcBef>
                <a:buClr>
                  <a:srgbClr val="000000"/>
                </a:buClr>
                <a:buSzPct val="45000"/>
                <a:buFont typeface="Wingdings" pitchFamily="2" charset="2"/>
                <a:buNone/>
                <a:tabLst>
                  <a:tab pos="657225" algn="l"/>
                </a:tabLst>
              </a:pPr>
              <a:r>
                <a:rPr lang="de-DE" dirty="0">
                  <a:solidFill>
                    <a:srgbClr val="000000"/>
                  </a:solidFill>
                  <a:latin typeface="Bitstream Vera Sans" charset="0"/>
                </a:rPr>
                <a:t>14 Bit</a:t>
              </a:r>
            </a:p>
          </p:txBody>
        </p:sp>
        <p:grpSp>
          <p:nvGrpSpPr>
            <p:cNvPr id="5" name="Group 12"/>
            <p:cNvGrpSpPr>
              <a:grpSpLocks/>
            </p:cNvGrpSpPr>
            <p:nvPr/>
          </p:nvGrpSpPr>
          <p:grpSpPr bwMode="auto">
            <a:xfrm>
              <a:off x="6748069" y="3501004"/>
              <a:ext cx="1633241" cy="431054"/>
              <a:chOff x="4632" y="2077"/>
              <a:chExt cx="1135" cy="299"/>
            </a:xfrm>
          </p:grpSpPr>
          <p:sp>
            <p:nvSpPr>
              <p:cNvPr id="49171" name="AutoShape 13"/>
              <p:cNvSpPr>
                <a:spLocks noChangeArrowheads="1"/>
              </p:cNvSpPr>
              <p:nvPr/>
            </p:nvSpPr>
            <p:spPr bwMode="auto">
              <a:xfrm>
                <a:off x="4632" y="2077"/>
                <a:ext cx="1134" cy="284"/>
              </a:xfrm>
              <a:prstGeom prst="roundRect">
                <a:avLst>
                  <a:gd name="adj" fmla="val 352"/>
                </a:avLst>
              </a:prstGeom>
              <a:noFill/>
              <a:ln w="12600">
                <a:solidFill>
                  <a:srgbClr val="000000"/>
                </a:solidFill>
                <a:round/>
                <a:headEnd/>
                <a:tailEnd/>
              </a:ln>
            </p:spPr>
            <p:txBody>
              <a:bodyPr wrap="none" anchor="ctr"/>
              <a:lstStyle/>
              <a:p>
                <a:endParaRPr lang="de-DE"/>
              </a:p>
            </p:txBody>
          </p:sp>
          <p:sp>
            <p:nvSpPr>
              <p:cNvPr id="49172" name="Text Box 14"/>
              <p:cNvSpPr txBox="1">
                <a:spLocks noChangeArrowheads="1"/>
              </p:cNvSpPr>
              <p:nvPr/>
            </p:nvSpPr>
            <p:spPr bwMode="auto">
              <a:xfrm>
                <a:off x="4633" y="2092"/>
                <a:ext cx="1134" cy="284"/>
              </a:xfrm>
              <a:prstGeom prst="rect">
                <a:avLst/>
              </a:prstGeom>
              <a:noFill/>
              <a:ln w="9525">
                <a:noFill/>
                <a:round/>
                <a:headEnd/>
                <a:tailEnd/>
              </a:ln>
            </p:spPr>
            <p:txBody>
              <a:bodyPr lIns="81639" tIns="42452" rIns="81639" bIns="42452" anchor="ctr"/>
              <a:lstStyle/>
              <a:p>
                <a:pPr algn="ctr" defTabSz="407988" eaLnBrk="1">
                  <a:lnSpc>
                    <a:spcPct val="98000"/>
                  </a:lnSpc>
                  <a:spcBef>
                    <a:spcPts val="1138"/>
                  </a:spcBef>
                  <a:buClr>
                    <a:srgbClr val="000000"/>
                  </a:buClr>
                  <a:buSzPct val="45000"/>
                  <a:buFont typeface="Wingdings" pitchFamily="2" charset="2"/>
                  <a:buNone/>
                  <a:tabLst>
                    <a:tab pos="657225" algn="l"/>
                    <a:tab pos="1312863" algn="l"/>
                  </a:tabLst>
                </a:pPr>
                <a:r>
                  <a:rPr lang="de-DE" sz="1400" dirty="0" err="1">
                    <a:solidFill>
                      <a:srgbClr val="000000"/>
                    </a:solidFill>
                    <a:latin typeface="Bitstream Vera Sans" charset="0"/>
                  </a:rPr>
                  <a:t>Hostid</a:t>
                </a:r>
                <a:r>
                  <a:rPr lang="de-DE" sz="1400" dirty="0">
                    <a:solidFill>
                      <a:srgbClr val="000000"/>
                    </a:solidFill>
                    <a:latin typeface="Bitstream Vera Sans" charset="0"/>
                  </a:rPr>
                  <a:t> im Subnetz</a:t>
                </a:r>
              </a:p>
            </p:txBody>
          </p:sp>
        </p:grpSp>
        <p:sp>
          <p:nvSpPr>
            <p:cNvPr id="49162" name="AutoShape 15"/>
            <p:cNvSpPr>
              <a:spLocks noChangeArrowheads="1"/>
            </p:cNvSpPr>
            <p:nvPr/>
          </p:nvSpPr>
          <p:spPr bwMode="auto">
            <a:xfrm>
              <a:off x="5512428" y="3127592"/>
              <a:ext cx="739775" cy="396875"/>
            </a:xfrm>
            <a:prstGeom prst="roundRect">
              <a:avLst>
                <a:gd name="adj" fmla="val 361"/>
              </a:avLst>
            </a:prstGeom>
            <a:noFill/>
            <a:ln w="9525">
              <a:noFill/>
              <a:round/>
              <a:headEnd/>
              <a:tailEnd/>
            </a:ln>
          </p:spPr>
          <p:txBody>
            <a:bodyPr lIns="81639" tIns="42452" rIns="81639" bIns="42452" anchor="ctr"/>
            <a:lstStyle/>
            <a:p>
              <a:pPr algn="ctr" defTabSz="407988" eaLnBrk="1">
                <a:lnSpc>
                  <a:spcPct val="98000"/>
                </a:lnSpc>
                <a:spcBef>
                  <a:spcPts val="1138"/>
                </a:spcBef>
                <a:buClr>
                  <a:srgbClr val="000000"/>
                </a:buClr>
                <a:buSzPct val="45000"/>
                <a:buFont typeface="Wingdings" pitchFamily="2" charset="2"/>
                <a:buNone/>
                <a:tabLst>
                  <a:tab pos="657225" algn="l"/>
                </a:tabLst>
              </a:pPr>
              <a:r>
                <a:rPr lang="de-DE" dirty="0">
                  <a:solidFill>
                    <a:srgbClr val="000000"/>
                  </a:solidFill>
                  <a:latin typeface="Bitstream Vera Sans" charset="0"/>
                </a:rPr>
                <a:t>8 Bit</a:t>
              </a:r>
            </a:p>
          </p:txBody>
        </p:sp>
        <p:grpSp>
          <p:nvGrpSpPr>
            <p:cNvPr id="6" name="Group 16"/>
            <p:cNvGrpSpPr>
              <a:grpSpLocks/>
            </p:cNvGrpSpPr>
            <p:nvPr/>
          </p:nvGrpSpPr>
          <p:grpSpPr bwMode="auto">
            <a:xfrm>
              <a:off x="1693515" y="3501008"/>
              <a:ext cx="322263" cy="407988"/>
              <a:chOff x="1122" y="2077"/>
              <a:chExt cx="224" cy="283"/>
            </a:xfrm>
          </p:grpSpPr>
          <p:sp>
            <p:nvSpPr>
              <p:cNvPr id="49169" name="AutoShape 17"/>
              <p:cNvSpPr>
                <a:spLocks noChangeArrowheads="1"/>
              </p:cNvSpPr>
              <p:nvPr/>
            </p:nvSpPr>
            <p:spPr bwMode="auto">
              <a:xfrm>
                <a:off x="1122" y="2077"/>
                <a:ext cx="225" cy="284"/>
              </a:xfrm>
              <a:prstGeom prst="roundRect">
                <a:avLst>
                  <a:gd name="adj" fmla="val 444"/>
                </a:avLst>
              </a:prstGeom>
              <a:noFill/>
              <a:ln w="12600">
                <a:solidFill>
                  <a:srgbClr val="000000"/>
                </a:solidFill>
                <a:round/>
                <a:headEnd/>
                <a:tailEnd/>
              </a:ln>
            </p:spPr>
            <p:txBody>
              <a:bodyPr wrap="none" anchor="ctr"/>
              <a:lstStyle/>
              <a:p>
                <a:endParaRPr lang="de-DE"/>
              </a:p>
            </p:txBody>
          </p:sp>
          <p:sp>
            <p:nvSpPr>
              <p:cNvPr id="49170" name="Text Box 18"/>
              <p:cNvSpPr txBox="1">
                <a:spLocks noChangeArrowheads="1"/>
              </p:cNvSpPr>
              <p:nvPr/>
            </p:nvSpPr>
            <p:spPr bwMode="auto">
              <a:xfrm>
                <a:off x="1122" y="2077"/>
                <a:ext cx="225" cy="284"/>
              </a:xfrm>
              <a:prstGeom prst="rect">
                <a:avLst/>
              </a:prstGeom>
              <a:noFill/>
              <a:ln w="9525">
                <a:noFill/>
                <a:round/>
                <a:headEnd/>
                <a:tailEnd/>
              </a:ln>
            </p:spPr>
            <p:txBody>
              <a:bodyPr lIns="81639" tIns="42452" rIns="81639" bIns="42452" anchor="ctr"/>
              <a:lstStyle/>
              <a:p>
                <a:pPr algn="ctr" defTabSz="828675" eaLnBrk="1">
                  <a:lnSpc>
                    <a:spcPct val="98000"/>
                  </a:lnSpc>
                  <a:spcBef>
                    <a:spcPts val="1138"/>
                  </a:spcBef>
                  <a:buClr>
                    <a:srgbClr val="000000"/>
                  </a:buClr>
                  <a:buSzPct val="45000"/>
                  <a:buFont typeface="Wingdings" pitchFamily="2" charset="2"/>
                  <a:buNone/>
                </a:pPr>
                <a:r>
                  <a:rPr lang="de-DE">
                    <a:solidFill>
                      <a:srgbClr val="000000"/>
                    </a:solidFill>
                    <a:latin typeface="Bitstream Vera Sans" charset="0"/>
                  </a:rPr>
                  <a:t>1</a:t>
                </a:r>
              </a:p>
            </p:txBody>
          </p:sp>
        </p:grpSp>
        <p:grpSp>
          <p:nvGrpSpPr>
            <p:cNvPr id="8" name="Group 19"/>
            <p:cNvGrpSpPr>
              <a:grpSpLocks/>
            </p:cNvGrpSpPr>
            <p:nvPr/>
          </p:nvGrpSpPr>
          <p:grpSpPr bwMode="auto">
            <a:xfrm>
              <a:off x="5097115" y="3501008"/>
              <a:ext cx="1631950" cy="407988"/>
              <a:chOff x="3486" y="2077"/>
              <a:chExt cx="1133" cy="283"/>
            </a:xfrm>
          </p:grpSpPr>
          <p:sp>
            <p:nvSpPr>
              <p:cNvPr id="49167" name="AutoShape 20"/>
              <p:cNvSpPr>
                <a:spLocks noChangeArrowheads="1"/>
              </p:cNvSpPr>
              <p:nvPr/>
            </p:nvSpPr>
            <p:spPr bwMode="auto">
              <a:xfrm>
                <a:off x="3486" y="2077"/>
                <a:ext cx="1134" cy="284"/>
              </a:xfrm>
              <a:prstGeom prst="roundRect">
                <a:avLst>
                  <a:gd name="adj" fmla="val 352"/>
                </a:avLst>
              </a:prstGeom>
              <a:noFill/>
              <a:ln w="12600">
                <a:solidFill>
                  <a:srgbClr val="000000"/>
                </a:solidFill>
                <a:round/>
                <a:headEnd/>
                <a:tailEnd/>
              </a:ln>
            </p:spPr>
            <p:txBody>
              <a:bodyPr wrap="none" anchor="ctr"/>
              <a:lstStyle/>
              <a:p>
                <a:endParaRPr lang="de-DE"/>
              </a:p>
            </p:txBody>
          </p:sp>
          <p:sp>
            <p:nvSpPr>
              <p:cNvPr id="49168" name="Text Box 21"/>
              <p:cNvSpPr txBox="1">
                <a:spLocks noChangeArrowheads="1"/>
              </p:cNvSpPr>
              <p:nvPr/>
            </p:nvSpPr>
            <p:spPr bwMode="auto">
              <a:xfrm>
                <a:off x="3486" y="2077"/>
                <a:ext cx="1134" cy="284"/>
              </a:xfrm>
              <a:prstGeom prst="rect">
                <a:avLst/>
              </a:prstGeom>
              <a:noFill/>
              <a:ln w="9525">
                <a:noFill/>
                <a:round/>
                <a:headEnd/>
                <a:tailEnd/>
              </a:ln>
            </p:spPr>
            <p:txBody>
              <a:bodyPr lIns="81639" tIns="42452" rIns="81639" bIns="42452" anchor="ctr"/>
              <a:lstStyle/>
              <a:p>
                <a:pPr algn="ctr" defTabSz="407988" eaLnBrk="1">
                  <a:lnSpc>
                    <a:spcPct val="98000"/>
                  </a:lnSpc>
                  <a:spcBef>
                    <a:spcPts val="1138"/>
                  </a:spcBef>
                  <a:buClr>
                    <a:srgbClr val="000000"/>
                  </a:buClr>
                  <a:buSzPct val="45000"/>
                  <a:buFont typeface="Wingdings" pitchFamily="2" charset="2"/>
                  <a:buNone/>
                  <a:tabLst>
                    <a:tab pos="657225" algn="l"/>
                    <a:tab pos="1312863" algn="l"/>
                  </a:tabLst>
                </a:pPr>
                <a:r>
                  <a:rPr lang="de-DE" b="1" dirty="0" err="1">
                    <a:solidFill>
                      <a:srgbClr val="7030A0"/>
                    </a:solidFill>
                    <a:latin typeface="Bitstream Vera Sans" charset="0"/>
                  </a:rPr>
                  <a:t>subnetid</a:t>
                </a:r>
                <a:endParaRPr lang="de-DE" b="1" dirty="0">
                  <a:solidFill>
                    <a:srgbClr val="7030A0"/>
                  </a:solidFill>
                  <a:latin typeface="Bitstream Vera Sans" charset="0"/>
                </a:endParaRPr>
              </a:p>
            </p:txBody>
          </p:sp>
        </p:grpSp>
        <p:sp>
          <p:nvSpPr>
            <p:cNvPr id="49165" name="AutoShape 22"/>
            <p:cNvSpPr>
              <a:spLocks noChangeArrowheads="1"/>
            </p:cNvSpPr>
            <p:nvPr/>
          </p:nvSpPr>
          <p:spPr bwMode="auto">
            <a:xfrm>
              <a:off x="7054243" y="3125756"/>
              <a:ext cx="739775" cy="396875"/>
            </a:xfrm>
            <a:prstGeom prst="roundRect">
              <a:avLst>
                <a:gd name="adj" fmla="val 361"/>
              </a:avLst>
            </a:prstGeom>
            <a:noFill/>
            <a:ln w="9525">
              <a:noFill/>
              <a:round/>
              <a:headEnd/>
              <a:tailEnd/>
            </a:ln>
          </p:spPr>
          <p:txBody>
            <a:bodyPr lIns="81639" tIns="42452" rIns="81639" bIns="42452" anchor="ctr"/>
            <a:lstStyle/>
            <a:p>
              <a:pPr algn="ctr" defTabSz="407988" eaLnBrk="1">
                <a:lnSpc>
                  <a:spcPct val="98000"/>
                </a:lnSpc>
                <a:spcBef>
                  <a:spcPts val="1138"/>
                </a:spcBef>
                <a:buClr>
                  <a:srgbClr val="000000"/>
                </a:buClr>
                <a:buSzPct val="45000"/>
                <a:buFont typeface="Wingdings" pitchFamily="2" charset="2"/>
                <a:buNone/>
                <a:tabLst>
                  <a:tab pos="657225" algn="l"/>
                </a:tabLst>
              </a:pPr>
              <a:r>
                <a:rPr lang="de-DE" dirty="0">
                  <a:solidFill>
                    <a:srgbClr val="000000"/>
                  </a:solidFill>
                  <a:latin typeface="Bitstream Vera Sans" charset="0"/>
                </a:rPr>
                <a:t>8 Bit</a:t>
              </a:r>
            </a:p>
          </p:txBody>
        </p:sp>
      </p:grpSp>
      <p:grpSp>
        <p:nvGrpSpPr>
          <p:cNvPr id="9" name="Group 8"/>
          <p:cNvGrpSpPr/>
          <p:nvPr/>
        </p:nvGrpSpPr>
        <p:grpSpPr>
          <a:xfrm>
            <a:off x="5356975" y="4166122"/>
            <a:ext cx="3472090" cy="1830572"/>
            <a:chOff x="5011985" y="4406740"/>
            <a:chExt cx="3472090" cy="1830572"/>
          </a:xfrm>
        </p:grpSpPr>
        <p:sp>
          <p:nvSpPr>
            <p:cNvPr id="27" name="Freeform 463"/>
            <p:cNvSpPr>
              <a:spLocks/>
            </p:cNvSpPr>
            <p:nvPr/>
          </p:nvSpPr>
          <p:spPr bwMode="auto">
            <a:xfrm>
              <a:off x="5011985" y="4406740"/>
              <a:ext cx="3472090" cy="1830572"/>
            </a:xfrm>
            <a:custGeom>
              <a:avLst/>
              <a:gdLst>
                <a:gd name="T0" fmla="*/ 889 w 1877"/>
                <a:gd name="T1" fmla="*/ 23 h 917"/>
                <a:gd name="T2" fmla="*/ 692 w 1877"/>
                <a:gd name="T3" fmla="*/ 109 h 917"/>
                <a:gd name="T4" fmla="*/ 415 w 1877"/>
                <a:gd name="T5" fmla="*/ 91 h 917"/>
                <a:gd name="T6" fmla="*/ 112 w 1877"/>
                <a:gd name="T7" fmla="*/ 170 h 917"/>
                <a:gd name="T8" fmla="*/ 50 w 1877"/>
                <a:gd name="T9" fmla="*/ 353 h 917"/>
                <a:gd name="T10" fmla="*/ 14 w 1877"/>
                <a:gd name="T11" fmla="*/ 528 h 917"/>
                <a:gd name="T12" fmla="*/ 139 w 1877"/>
                <a:gd name="T13" fmla="*/ 650 h 917"/>
                <a:gd name="T14" fmla="*/ 505 w 1877"/>
                <a:gd name="T15" fmla="*/ 781 h 917"/>
                <a:gd name="T16" fmla="*/ 933 w 1877"/>
                <a:gd name="T17" fmla="*/ 886 h 917"/>
                <a:gd name="T18" fmla="*/ 1370 w 1877"/>
                <a:gd name="T19" fmla="*/ 901 h 917"/>
                <a:gd name="T20" fmla="*/ 1676 w 1877"/>
                <a:gd name="T21" fmla="*/ 793 h 917"/>
                <a:gd name="T22" fmla="*/ 1860 w 1877"/>
                <a:gd name="T23" fmla="*/ 624 h 917"/>
                <a:gd name="T24" fmla="*/ 1776 w 1877"/>
                <a:gd name="T25" fmla="*/ 219 h 917"/>
                <a:gd name="T26" fmla="*/ 1503 w 1877"/>
                <a:gd name="T27" fmla="*/ 100 h 917"/>
                <a:gd name="T28" fmla="*/ 1200 w 1877"/>
                <a:gd name="T29" fmla="*/ 13 h 917"/>
                <a:gd name="T30" fmla="*/ 889 w 1877"/>
                <a:gd name="T31" fmla="*/ 23 h 917"/>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877"/>
                <a:gd name="T49" fmla="*/ 0 h 917"/>
                <a:gd name="T50" fmla="*/ 1877 w 1877"/>
                <a:gd name="T51" fmla="*/ 917 h 917"/>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877" h="917">
                  <a:moveTo>
                    <a:pt x="889" y="23"/>
                  </a:moveTo>
                  <a:cubicBezTo>
                    <a:pt x="804" y="39"/>
                    <a:pt x="771" y="98"/>
                    <a:pt x="692" y="109"/>
                  </a:cubicBezTo>
                  <a:cubicBezTo>
                    <a:pt x="613" y="120"/>
                    <a:pt x="511" y="81"/>
                    <a:pt x="415" y="91"/>
                  </a:cubicBezTo>
                  <a:cubicBezTo>
                    <a:pt x="319" y="101"/>
                    <a:pt x="174" y="126"/>
                    <a:pt x="112" y="170"/>
                  </a:cubicBezTo>
                  <a:cubicBezTo>
                    <a:pt x="51" y="214"/>
                    <a:pt x="66" y="294"/>
                    <a:pt x="50" y="353"/>
                  </a:cubicBezTo>
                  <a:cubicBezTo>
                    <a:pt x="34" y="412"/>
                    <a:pt x="0" y="479"/>
                    <a:pt x="14" y="528"/>
                  </a:cubicBezTo>
                  <a:cubicBezTo>
                    <a:pt x="29" y="577"/>
                    <a:pt x="57" y="608"/>
                    <a:pt x="139" y="650"/>
                  </a:cubicBezTo>
                  <a:cubicBezTo>
                    <a:pt x="221" y="692"/>
                    <a:pt x="372" y="742"/>
                    <a:pt x="505" y="781"/>
                  </a:cubicBezTo>
                  <a:cubicBezTo>
                    <a:pt x="638" y="820"/>
                    <a:pt x="789" y="866"/>
                    <a:pt x="933" y="886"/>
                  </a:cubicBezTo>
                  <a:cubicBezTo>
                    <a:pt x="1077" y="906"/>
                    <a:pt x="1246" y="917"/>
                    <a:pt x="1370" y="901"/>
                  </a:cubicBezTo>
                  <a:cubicBezTo>
                    <a:pt x="1494" y="885"/>
                    <a:pt x="1594" y="839"/>
                    <a:pt x="1676" y="793"/>
                  </a:cubicBezTo>
                  <a:cubicBezTo>
                    <a:pt x="1758" y="747"/>
                    <a:pt x="1843" y="720"/>
                    <a:pt x="1860" y="624"/>
                  </a:cubicBezTo>
                  <a:cubicBezTo>
                    <a:pt x="1877" y="528"/>
                    <a:pt x="1835" y="306"/>
                    <a:pt x="1776" y="219"/>
                  </a:cubicBezTo>
                  <a:cubicBezTo>
                    <a:pt x="1717" y="132"/>
                    <a:pt x="1599" y="134"/>
                    <a:pt x="1503" y="100"/>
                  </a:cubicBezTo>
                  <a:cubicBezTo>
                    <a:pt x="1407" y="66"/>
                    <a:pt x="1302" y="26"/>
                    <a:pt x="1200" y="13"/>
                  </a:cubicBezTo>
                  <a:cubicBezTo>
                    <a:pt x="1098" y="0"/>
                    <a:pt x="974" y="7"/>
                    <a:pt x="889" y="23"/>
                  </a:cubicBezTo>
                  <a:close/>
                </a:path>
              </a:pathLst>
            </a:custGeom>
            <a:solidFill>
              <a:srgbClr val="00CC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de-DE"/>
            </a:p>
          </p:txBody>
        </p:sp>
        <p:sp>
          <p:nvSpPr>
            <p:cNvPr id="28" name="Line 464"/>
            <p:cNvSpPr>
              <a:spLocks noChangeShapeType="1"/>
            </p:cNvSpPr>
            <p:nvPr/>
          </p:nvSpPr>
          <p:spPr bwMode="auto">
            <a:xfrm rot="16200000">
              <a:off x="7594201" y="5339449"/>
              <a:ext cx="658767" cy="16278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de-DE"/>
            </a:p>
          </p:txBody>
        </p:sp>
        <p:grpSp>
          <p:nvGrpSpPr>
            <p:cNvPr id="12" name="Group 465"/>
            <p:cNvGrpSpPr>
              <a:grpSpLocks/>
            </p:cNvGrpSpPr>
            <p:nvPr/>
          </p:nvGrpSpPr>
          <p:grpSpPr bwMode="auto">
            <a:xfrm>
              <a:off x="7516626" y="5504684"/>
              <a:ext cx="231226" cy="459140"/>
              <a:chOff x="4180" y="783"/>
              <a:chExt cx="150" cy="307"/>
            </a:xfrm>
          </p:grpSpPr>
          <p:sp>
            <p:nvSpPr>
              <p:cNvPr id="30" name="AutoShape 466"/>
              <p:cNvSpPr>
                <a:spLocks noChangeArrowheads="1"/>
              </p:cNvSpPr>
              <p:nvPr/>
            </p:nvSpPr>
            <p:spPr bwMode="auto">
              <a:xfrm>
                <a:off x="4180" y="1019"/>
                <a:ext cx="150" cy="71"/>
              </a:xfrm>
              <a:prstGeom prst="parallelogram">
                <a:avLst>
                  <a:gd name="adj" fmla="val 81387"/>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de-DE"/>
              </a:p>
            </p:txBody>
          </p:sp>
          <p:sp>
            <p:nvSpPr>
              <p:cNvPr id="31" name="Rectangle 467"/>
              <p:cNvSpPr>
                <a:spLocks noChangeArrowheads="1"/>
              </p:cNvSpPr>
              <p:nvPr/>
            </p:nvSpPr>
            <p:spPr bwMode="auto">
              <a:xfrm>
                <a:off x="4256" y="785"/>
                <a:ext cx="69" cy="236"/>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de-DE"/>
              </a:p>
            </p:txBody>
          </p:sp>
          <p:sp>
            <p:nvSpPr>
              <p:cNvPr id="32" name="Rectangle 468"/>
              <p:cNvSpPr>
                <a:spLocks noChangeArrowheads="1"/>
              </p:cNvSpPr>
              <p:nvPr/>
            </p:nvSpPr>
            <p:spPr bwMode="auto">
              <a:xfrm>
                <a:off x="4181" y="852"/>
                <a:ext cx="95" cy="236"/>
              </a:xfrm>
              <a:prstGeom prst="rect">
                <a:avLst/>
              </a:prstGeom>
              <a:solidFill>
                <a:srgbClr val="33CCCC"/>
              </a:solidFill>
              <a:ln w="9525">
                <a:solidFill>
                  <a:schemeClr val="tx1"/>
                </a:solidFill>
                <a:miter lim="800000"/>
                <a:headEnd/>
                <a:tailEnd/>
              </a:ln>
            </p:spPr>
            <p:txBody>
              <a:bodyPr wrap="none" anchor="ctr"/>
              <a:lstStyle/>
              <a:p>
                <a:endParaRPr lang="de-DE"/>
              </a:p>
            </p:txBody>
          </p:sp>
          <p:sp>
            <p:nvSpPr>
              <p:cNvPr id="33" name="AutoShape 469"/>
              <p:cNvSpPr>
                <a:spLocks noChangeArrowheads="1"/>
              </p:cNvSpPr>
              <p:nvPr/>
            </p:nvSpPr>
            <p:spPr bwMode="auto">
              <a:xfrm>
                <a:off x="4180" y="783"/>
                <a:ext cx="150" cy="71"/>
              </a:xfrm>
              <a:prstGeom prst="parallelogram">
                <a:avLst>
                  <a:gd name="adj" fmla="val 81387"/>
                </a:avLst>
              </a:prstGeom>
              <a:solidFill>
                <a:srgbClr val="33CCCC"/>
              </a:solidFill>
              <a:ln w="9525">
                <a:solidFill>
                  <a:schemeClr val="tx1"/>
                </a:solidFill>
                <a:miter lim="800000"/>
                <a:headEnd/>
                <a:tailEnd/>
              </a:ln>
            </p:spPr>
            <p:txBody>
              <a:bodyPr wrap="none" anchor="ctr"/>
              <a:lstStyle/>
              <a:p>
                <a:endParaRPr lang="de-DE"/>
              </a:p>
            </p:txBody>
          </p:sp>
          <p:sp>
            <p:nvSpPr>
              <p:cNvPr id="34" name="Line 470"/>
              <p:cNvSpPr>
                <a:spLocks noChangeShapeType="1"/>
              </p:cNvSpPr>
              <p:nvPr/>
            </p:nvSpPr>
            <p:spPr bwMode="auto">
              <a:xfrm>
                <a:off x="4330" y="788"/>
                <a:ext cx="0" cy="23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de-DE"/>
              </a:p>
            </p:txBody>
          </p:sp>
          <p:sp>
            <p:nvSpPr>
              <p:cNvPr id="35" name="Line 471"/>
              <p:cNvSpPr>
                <a:spLocks noChangeShapeType="1"/>
              </p:cNvSpPr>
              <p:nvPr/>
            </p:nvSpPr>
            <p:spPr bwMode="auto">
              <a:xfrm flipH="1">
                <a:off x="4276" y="1019"/>
                <a:ext cx="54" cy="6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de-DE"/>
              </a:p>
            </p:txBody>
          </p:sp>
          <p:sp>
            <p:nvSpPr>
              <p:cNvPr id="36" name="Rectangle 472"/>
              <p:cNvSpPr>
                <a:spLocks noChangeArrowheads="1"/>
              </p:cNvSpPr>
              <p:nvPr/>
            </p:nvSpPr>
            <p:spPr bwMode="auto">
              <a:xfrm>
                <a:off x="4193" y="883"/>
                <a:ext cx="63" cy="136"/>
              </a:xfrm>
              <a:prstGeom prst="rect">
                <a:avLst/>
              </a:prstGeom>
              <a:solidFill>
                <a:schemeClr val="accent2"/>
              </a:solidFill>
              <a:ln w="9525">
                <a:solidFill>
                  <a:schemeClr val="tx1"/>
                </a:solidFill>
                <a:miter lim="800000"/>
                <a:headEnd/>
                <a:tailEnd/>
              </a:ln>
            </p:spPr>
            <p:txBody>
              <a:bodyPr wrap="none" anchor="ctr"/>
              <a:lstStyle/>
              <a:p>
                <a:endParaRPr lang="de-DE"/>
              </a:p>
            </p:txBody>
          </p:sp>
          <p:sp>
            <p:nvSpPr>
              <p:cNvPr id="37" name="Rectangle 473"/>
              <p:cNvSpPr>
                <a:spLocks noChangeArrowheads="1"/>
              </p:cNvSpPr>
              <p:nvPr/>
            </p:nvSpPr>
            <p:spPr bwMode="auto">
              <a:xfrm>
                <a:off x="4202" y="924"/>
                <a:ext cx="48" cy="4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de-DE"/>
              </a:p>
            </p:txBody>
          </p:sp>
        </p:grpSp>
        <p:sp>
          <p:nvSpPr>
            <p:cNvPr id="38" name="Line 474"/>
            <p:cNvSpPr>
              <a:spLocks noChangeShapeType="1"/>
            </p:cNvSpPr>
            <p:nvPr/>
          </p:nvSpPr>
          <p:spPr bwMode="auto">
            <a:xfrm rot="5400000" flipV="1">
              <a:off x="7788402" y="5690298"/>
              <a:ext cx="3992" cy="9989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de-DE"/>
            </a:p>
          </p:txBody>
        </p:sp>
        <p:sp>
          <p:nvSpPr>
            <p:cNvPr id="39" name="Line 475"/>
            <p:cNvSpPr>
              <a:spLocks noChangeShapeType="1"/>
            </p:cNvSpPr>
            <p:nvPr/>
          </p:nvSpPr>
          <p:spPr bwMode="auto">
            <a:xfrm rot="16200000">
              <a:off x="8004976" y="5284379"/>
              <a:ext cx="0" cy="13318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de-DE"/>
            </a:p>
          </p:txBody>
        </p:sp>
        <p:grpSp>
          <p:nvGrpSpPr>
            <p:cNvPr id="13" name="Group 476"/>
            <p:cNvGrpSpPr>
              <a:grpSpLocks/>
            </p:cNvGrpSpPr>
            <p:nvPr/>
          </p:nvGrpSpPr>
          <p:grpSpPr bwMode="auto">
            <a:xfrm>
              <a:off x="7514776" y="4913791"/>
              <a:ext cx="584540" cy="295446"/>
              <a:chOff x="3600" y="219"/>
              <a:chExt cx="360" cy="175"/>
            </a:xfrm>
          </p:grpSpPr>
          <p:sp>
            <p:nvSpPr>
              <p:cNvPr id="41" name="Oval 477"/>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p:spPr>
            <p:txBody>
              <a:bodyPr wrap="none" anchor="ctr"/>
              <a:lstStyle/>
              <a:p>
                <a:endParaRPr lang="de-DE"/>
              </a:p>
            </p:txBody>
          </p:sp>
          <p:sp>
            <p:nvSpPr>
              <p:cNvPr id="42" name="Line 478"/>
              <p:cNvSpPr>
                <a:spLocks noChangeShapeType="1"/>
              </p:cNvSpPr>
              <p:nvPr/>
            </p:nvSpPr>
            <p:spPr bwMode="auto">
              <a:xfrm>
                <a:off x="3603"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de-DE"/>
              </a:p>
            </p:txBody>
          </p:sp>
          <p:sp>
            <p:nvSpPr>
              <p:cNvPr id="43" name="Line 479"/>
              <p:cNvSpPr>
                <a:spLocks noChangeShapeType="1"/>
              </p:cNvSpPr>
              <p:nvPr/>
            </p:nvSpPr>
            <p:spPr bwMode="auto">
              <a:xfrm>
                <a:off x="3960"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de-DE"/>
              </a:p>
            </p:txBody>
          </p:sp>
          <p:sp>
            <p:nvSpPr>
              <p:cNvPr id="44" name="Rectangle 480"/>
              <p:cNvSpPr>
                <a:spLocks noChangeArrowheads="1"/>
              </p:cNvSpPr>
              <p:nvPr/>
            </p:nvSpPr>
            <p:spPr bwMode="auto">
              <a:xfrm>
                <a:off x="3603" y="289"/>
                <a:ext cx="354" cy="59"/>
              </a:xfrm>
              <a:prstGeom prst="rect">
                <a:avLst/>
              </a:prstGeom>
              <a:solidFill>
                <a:schemeClr val="hlink"/>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p>
                <a:pPr algn="ctr"/>
                <a:endParaRPr lang="de-DE"/>
              </a:p>
            </p:txBody>
          </p:sp>
          <p:sp>
            <p:nvSpPr>
              <p:cNvPr id="45" name="Oval 481"/>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p:spPr>
            <p:txBody>
              <a:bodyPr wrap="none" anchor="ctr"/>
              <a:lstStyle/>
              <a:p>
                <a:endParaRPr lang="de-DE"/>
              </a:p>
            </p:txBody>
          </p:sp>
          <p:grpSp>
            <p:nvGrpSpPr>
              <p:cNvPr id="14" name="Group 482"/>
              <p:cNvGrpSpPr>
                <a:grpSpLocks/>
              </p:cNvGrpSpPr>
              <p:nvPr/>
            </p:nvGrpSpPr>
            <p:grpSpPr bwMode="auto">
              <a:xfrm>
                <a:off x="3686" y="244"/>
                <a:ext cx="177" cy="66"/>
                <a:chOff x="2848" y="848"/>
                <a:chExt cx="140" cy="98"/>
              </a:xfrm>
            </p:grpSpPr>
            <p:sp>
              <p:nvSpPr>
                <p:cNvPr id="51" name="Line 483"/>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de-DE"/>
                </a:p>
              </p:txBody>
            </p:sp>
            <p:sp>
              <p:nvSpPr>
                <p:cNvPr id="52" name="Line 484"/>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de-DE"/>
                </a:p>
              </p:txBody>
            </p:sp>
            <p:sp>
              <p:nvSpPr>
                <p:cNvPr id="53" name="Line 485"/>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de-DE"/>
                </a:p>
              </p:txBody>
            </p:sp>
          </p:grpSp>
          <p:grpSp>
            <p:nvGrpSpPr>
              <p:cNvPr id="15" name="Group 486"/>
              <p:cNvGrpSpPr>
                <a:grpSpLocks/>
              </p:cNvGrpSpPr>
              <p:nvPr/>
            </p:nvGrpSpPr>
            <p:grpSpPr bwMode="auto">
              <a:xfrm flipV="1">
                <a:off x="3686" y="243"/>
                <a:ext cx="177" cy="66"/>
                <a:chOff x="2848" y="848"/>
                <a:chExt cx="140" cy="98"/>
              </a:xfrm>
            </p:grpSpPr>
            <p:sp>
              <p:nvSpPr>
                <p:cNvPr id="48" name="Line 487"/>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de-DE"/>
                </a:p>
              </p:txBody>
            </p:sp>
            <p:sp>
              <p:nvSpPr>
                <p:cNvPr id="49" name="Line 488"/>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de-DE"/>
                </a:p>
              </p:txBody>
            </p:sp>
            <p:sp>
              <p:nvSpPr>
                <p:cNvPr id="50" name="Line 489"/>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de-DE"/>
                </a:p>
              </p:txBody>
            </p:sp>
          </p:grpSp>
        </p:grpSp>
        <p:grpSp>
          <p:nvGrpSpPr>
            <p:cNvPr id="16" name="Group 490"/>
            <p:cNvGrpSpPr>
              <a:grpSpLocks/>
            </p:cNvGrpSpPr>
            <p:nvPr/>
          </p:nvGrpSpPr>
          <p:grpSpPr bwMode="auto">
            <a:xfrm>
              <a:off x="6563974" y="4566441"/>
              <a:ext cx="584540" cy="295446"/>
              <a:chOff x="3600" y="219"/>
              <a:chExt cx="360" cy="175"/>
            </a:xfrm>
          </p:grpSpPr>
          <p:sp>
            <p:nvSpPr>
              <p:cNvPr id="55" name="Oval 491"/>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p:spPr>
            <p:txBody>
              <a:bodyPr wrap="none" anchor="ctr"/>
              <a:lstStyle/>
              <a:p>
                <a:endParaRPr lang="de-DE"/>
              </a:p>
            </p:txBody>
          </p:sp>
          <p:sp>
            <p:nvSpPr>
              <p:cNvPr id="56" name="Line 492"/>
              <p:cNvSpPr>
                <a:spLocks noChangeShapeType="1"/>
              </p:cNvSpPr>
              <p:nvPr/>
            </p:nvSpPr>
            <p:spPr bwMode="auto">
              <a:xfrm>
                <a:off x="3603"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de-DE"/>
              </a:p>
            </p:txBody>
          </p:sp>
          <p:sp>
            <p:nvSpPr>
              <p:cNvPr id="57" name="Line 493"/>
              <p:cNvSpPr>
                <a:spLocks noChangeShapeType="1"/>
              </p:cNvSpPr>
              <p:nvPr/>
            </p:nvSpPr>
            <p:spPr bwMode="auto">
              <a:xfrm>
                <a:off x="3960"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de-DE"/>
              </a:p>
            </p:txBody>
          </p:sp>
          <p:sp>
            <p:nvSpPr>
              <p:cNvPr id="58" name="Rectangle 494"/>
              <p:cNvSpPr>
                <a:spLocks noChangeArrowheads="1"/>
              </p:cNvSpPr>
              <p:nvPr/>
            </p:nvSpPr>
            <p:spPr bwMode="auto">
              <a:xfrm>
                <a:off x="3603" y="289"/>
                <a:ext cx="354" cy="59"/>
              </a:xfrm>
              <a:prstGeom prst="rect">
                <a:avLst/>
              </a:prstGeom>
              <a:solidFill>
                <a:schemeClr val="hlink"/>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p>
                <a:pPr algn="ctr"/>
                <a:endParaRPr lang="de-DE"/>
              </a:p>
            </p:txBody>
          </p:sp>
          <p:sp>
            <p:nvSpPr>
              <p:cNvPr id="59" name="Oval 495"/>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p:spPr>
            <p:txBody>
              <a:bodyPr wrap="none" anchor="ctr"/>
              <a:lstStyle/>
              <a:p>
                <a:endParaRPr lang="de-DE"/>
              </a:p>
            </p:txBody>
          </p:sp>
          <p:grpSp>
            <p:nvGrpSpPr>
              <p:cNvPr id="17" name="Group 496"/>
              <p:cNvGrpSpPr>
                <a:grpSpLocks/>
              </p:cNvGrpSpPr>
              <p:nvPr/>
            </p:nvGrpSpPr>
            <p:grpSpPr bwMode="auto">
              <a:xfrm>
                <a:off x="3686" y="244"/>
                <a:ext cx="177" cy="66"/>
                <a:chOff x="2848" y="848"/>
                <a:chExt cx="140" cy="98"/>
              </a:xfrm>
            </p:grpSpPr>
            <p:sp>
              <p:nvSpPr>
                <p:cNvPr id="65" name="Line 497"/>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de-DE"/>
                </a:p>
              </p:txBody>
            </p:sp>
            <p:sp>
              <p:nvSpPr>
                <p:cNvPr id="66" name="Line 498"/>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de-DE"/>
                </a:p>
              </p:txBody>
            </p:sp>
            <p:sp>
              <p:nvSpPr>
                <p:cNvPr id="67" name="Line 499"/>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de-DE"/>
                </a:p>
              </p:txBody>
            </p:sp>
          </p:grpSp>
          <p:grpSp>
            <p:nvGrpSpPr>
              <p:cNvPr id="18" name="Group 500"/>
              <p:cNvGrpSpPr>
                <a:grpSpLocks/>
              </p:cNvGrpSpPr>
              <p:nvPr/>
            </p:nvGrpSpPr>
            <p:grpSpPr bwMode="auto">
              <a:xfrm flipV="1">
                <a:off x="3686" y="243"/>
                <a:ext cx="177" cy="66"/>
                <a:chOff x="2848" y="848"/>
                <a:chExt cx="140" cy="98"/>
              </a:xfrm>
            </p:grpSpPr>
            <p:sp>
              <p:nvSpPr>
                <p:cNvPr id="62" name="Line 501"/>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de-DE"/>
                </a:p>
              </p:txBody>
            </p:sp>
            <p:sp>
              <p:nvSpPr>
                <p:cNvPr id="63" name="Line 502"/>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de-DE"/>
                </a:p>
              </p:txBody>
            </p:sp>
            <p:sp>
              <p:nvSpPr>
                <p:cNvPr id="64" name="Line 503"/>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de-DE"/>
                </a:p>
              </p:txBody>
            </p:sp>
          </p:grpSp>
        </p:grpSp>
        <p:grpSp>
          <p:nvGrpSpPr>
            <p:cNvPr id="19" name="Group 504"/>
            <p:cNvGrpSpPr>
              <a:grpSpLocks/>
            </p:cNvGrpSpPr>
            <p:nvPr/>
          </p:nvGrpSpPr>
          <p:grpSpPr bwMode="auto">
            <a:xfrm>
              <a:off x="5788904" y="4949723"/>
              <a:ext cx="584540" cy="295446"/>
              <a:chOff x="3600" y="219"/>
              <a:chExt cx="360" cy="175"/>
            </a:xfrm>
          </p:grpSpPr>
          <p:sp>
            <p:nvSpPr>
              <p:cNvPr id="69" name="Oval 505"/>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p:spPr>
            <p:txBody>
              <a:bodyPr wrap="none" anchor="ctr"/>
              <a:lstStyle/>
              <a:p>
                <a:endParaRPr lang="de-DE"/>
              </a:p>
            </p:txBody>
          </p:sp>
          <p:sp>
            <p:nvSpPr>
              <p:cNvPr id="70" name="Line 506"/>
              <p:cNvSpPr>
                <a:spLocks noChangeShapeType="1"/>
              </p:cNvSpPr>
              <p:nvPr/>
            </p:nvSpPr>
            <p:spPr bwMode="auto">
              <a:xfrm>
                <a:off x="3603"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de-DE"/>
              </a:p>
            </p:txBody>
          </p:sp>
          <p:sp>
            <p:nvSpPr>
              <p:cNvPr id="71" name="Line 507"/>
              <p:cNvSpPr>
                <a:spLocks noChangeShapeType="1"/>
              </p:cNvSpPr>
              <p:nvPr/>
            </p:nvSpPr>
            <p:spPr bwMode="auto">
              <a:xfrm>
                <a:off x="3960"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de-DE"/>
              </a:p>
            </p:txBody>
          </p:sp>
          <p:sp>
            <p:nvSpPr>
              <p:cNvPr id="72" name="Rectangle 508"/>
              <p:cNvSpPr>
                <a:spLocks noChangeArrowheads="1"/>
              </p:cNvSpPr>
              <p:nvPr/>
            </p:nvSpPr>
            <p:spPr bwMode="auto">
              <a:xfrm>
                <a:off x="3603" y="289"/>
                <a:ext cx="354" cy="59"/>
              </a:xfrm>
              <a:prstGeom prst="rect">
                <a:avLst/>
              </a:prstGeom>
              <a:solidFill>
                <a:schemeClr val="hlink"/>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p>
                <a:pPr algn="ctr"/>
                <a:endParaRPr lang="de-DE"/>
              </a:p>
            </p:txBody>
          </p:sp>
          <p:sp>
            <p:nvSpPr>
              <p:cNvPr id="73" name="Oval 509"/>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p:spPr>
            <p:txBody>
              <a:bodyPr wrap="none" anchor="ctr"/>
              <a:lstStyle/>
              <a:p>
                <a:endParaRPr lang="de-DE"/>
              </a:p>
            </p:txBody>
          </p:sp>
          <p:grpSp>
            <p:nvGrpSpPr>
              <p:cNvPr id="20" name="Group 510"/>
              <p:cNvGrpSpPr>
                <a:grpSpLocks/>
              </p:cNvGrpSpPr>
              <p:nvPr/>
            </p:nvGrpSpPr>
            <p:grpSpPr bwMode="auto">
              <a:xfrm>
                <a:off x="3686" y="244"/>
                <a:ext cx="177" cy="66"/>
                <a:chOff x="2848" y="848"/>
                <a:chExt cx="140" cy="98"/>
              </a:xfrm>
            </p:grpSpPr>
            <p:sp>
              <p:nvSpPr>
                <p:cNvPr id="79" name="Line 511"/>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de-DE"/>
                </a:p>
              </p:txBody>
            </p:sp>
            <p:sp>
              <p:nvSpPr>
                <p:cNvPr id="80" name="Line 512"/>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de-DE"/>
                </a:p>
              </p:txBody>
            </p:sp>
            <p:sp>
              <p:nvSpPr>
                <p:cNvPr id="81" name="Line 513"/>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de-DE"/>
                </a:p>
              </p:txBody>
            </p:sp>
          </p:grpSp>
          <p:grpSp>
            <p:nvGrpSpPr>
              <p:cNvPr id="21" name="Group 514"/>
              <p:cNvGrpSpPr>
                <a:grpSpLocks/>
              </p:cNvGrpSpPr>
              <p:nvPr/>
            </p:nvGrpSpPr>
            <p:grpSpPr bwMode="auto">
              <a:xfrm flipV="1">
                <a:off x="3686" y="243"/>
                <a:ext cx="177" cy="66"/>
                <a:chOff x="2848" y="848"/>
                <a:chExt cx="140" cy="98"/>
              </a:xfrm>
            </p:grpSpPr>
            <p:sp>
              <p:nvSpPr>
                <p:cNvPr id="76" name="Line 515"/>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de-DE"/>
                </a:p>
              </p:txBody>
            </p:sp>
            <p:sp>
              <p:nvSpPr>
                <p:cNvPr id="77" name="Line 516"/>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de-DE"/>
                </a:p>
              </p:txBody>
            </p:sp>
            <p:sp>
              <p:nvSpPr>
                <p:cNvPr id="78" name="Line 517"/>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de-DE"/>
                </a:p>
              </p:txBody>
            </p:sp>
          </p:grpSp>
        </p:grpSp>
        <p:sp>
          <p:nvSpPr>
            <p:cNvPr id="82" name="Line 518"/>
            <p:cNvSpPr>
              <a:spLocks noChangeShapeType="1"/>
            </p:cNvSpPr>
            <p:nvPr/>
          </p:nvSpPr>
          <p:spPr bwMode="auto">
            <a:xfrm>
              <a:off x="7087471" y="4831944"/>
              <a:ext cx="418056" cy="15171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de-DE"/>
            </a:p>
          </p:txBody>
        </p:sp>
        <p:sp>
          <p:nvSpPr>
            <p:cNvPr id="83" name="Line 519"/>
            <p:cNvSpPr>
              <a:spLocks noChangeShapeType="1"/>
            </p:cNvSpPr>
            <p:nvPr/>
          </p:nvSpPr>
          <p:spPr bwMode="auto">
            <a:xfrm flipV="1">
              <a:off x="6327199" y="4847914"/>
              <a:ext cx="323716" cy="13774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de-DE"/>
            </a:p>
          </p:txBody>
        </p:sp>
        <p:sp>
          <p:nvSpPr>
            <p:cNvPr id="84" name="Line 520"/>
            <p:cNvSpPr>
              <a:spLocks noChangeShapeType="1"/>
            </p:cNvSpPr>
            <p:nvPr/>
          </p:nvSpPr>
          <p:spPr bwMode="auto">
            <a:xfrm flipV="1">
              <a:off x="6377144" y="5103435"/>
              <a:ext cx="1132083"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de-DE"/>
            </a:p>
          </p:txBody>
        </p:sp>
        <p:sp>
          <p:nvSpPr>
            <p:cNvPr id="85" name="Line 521"/>
            <p:cNvSpPr>
              <a:spLocks noChangeShapeType="1"/>
            </p:cNvSpPr>
            <p:nvPr/>
          </p:nvSpPr>
          <p:spPr bwMode="auto">
            <a:xfrm flipH="1">
              <a:off x="5555829" y="4784033"/>
              <a:ext cx="295969" cy="59089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de-DE"/>
            </a:p>
          </p:txBody>
        </p:sp>
        <p:sp>
          <p:nvSpPr>
            <p:cNvPr id="86" name="Line 522"/>
            <p:cNvSpPr>
              <a:spLocks noChangeShapeType="1"/>
            </p:cNvSpPr>
            <p:nvPr/>
          </p:nvSpPr>
          <p:spPr bwMode="auto">
            <a:xfrm>
              <a:off x="5585426" y="4847914"/>
              <a:ext cx="229376"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de-DE"/>
            </a:p>
          </p:txBody>
        </p:sp>
        <p:sp>
          <p:nvSpPr>
            <p:cNvPr id="87" name="Line 523"/>
            <p:cNvSpPr>
              <a:spLocks noChangeShapeType="1"/>
            </p:cNvSpPr>
            <p:nvPr/>
          </p:nvSpPr>
          <p:spPr bwMode="auto">
            <a:xfrm>
              <a:off x="5422643" y="5271121"/>
              <a:ext cx="179431"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de-DE"/>
            </a:p>
          </p:txBody>
        </p:sp>
        <p:sp>
          <p:nvSpPr>
            <p:cNvPr id="88" name="Line 524"/>
            <p:cNvSpPr>
              <a:spLocks noChangeShapeType="1"/>
            </p:cNvSpPr>
            <p:nvPr/>
          </p:nvSpPr>
          <p:spPr bwMode="auto">
            <a:xfrm>
              <a:off x="5716763" y="5370935"/>
              <a:ext cx="57159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de-DE"/>
            </a:p>
          </p:txBody>
        </p:sp>
        <p:sp>
          <p:nvSpPr>
            <p:cNvPr id="89" name="Line 525"/>
            <p:cNvSpPr>
              <a:spLocks noChangeShapeType="1"/>
            </p:cNvSpPr>
            <p:nvPr/>
          </p:nvSpPr>
          <p:spPr bwMode="auto">
            <a:xfrm flipH="1">
              <a:off x="5996083" y="5255151"/>
              <a:ext cx="62894" cy="10779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de-DE"/>
            </a:p>
          </p:txBody>
        </p:sp>
        <p:sp>
          <p:nvSpPr>
            <p:cNvPr id="90" name="Line 526"/>
            <p:cNvSpPr>
              <a:spLocks noChangeShapeType="1"/>
            </p:cNvSpPr>
            <p:nvPr/>
          </p:nvSpPr>
          <p:spPr bwMode="auto">
            <a:xfrm>
              <a:off x="5777806" y="5366942"/>
              <a:ext cx="1850" cy="10380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de-DE"/>
            </a:p>
          </p:txBody>
        </p:sp>
        <p:sp>
          <p:nvSpPr>
            <p:cNvPr id="91" name="Line 527"/>
            <p:cNvSpPr>
              <a:spLocks noChangeShapeType="1"/>
            </p:cNvSpPr>
            <p:nvPr/>
          </p:nvSpPr>
          <p:spPr bwMode="auto">
            <a:xfrm flipH="1" flipV="1">
              <a:off x="6240258" y="5376924"/>
              <a:ext cx="0" cy="9582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de-DE"/>
            </a:p>
          </p:txBody>
        </p:sp>
        <p:graphicFrame>
          <p:nvGraphicFramePr>
            <p:cNvPr id="92" name="Object 528"/>
            <p:cNvGraphicFramePr>
              <a:graphicFrameLocks noChangeAspect="1"/>
            </p:cNvGraphicFramePr>
            <p:nvPr/>
          </p:nvGraphicFramePr>
          <p:xfrm>
            <a:off x="5139622" y="5123398"/>
            <a:ext cx="399558" cy="359327"/>
          </p:xfrm>
          <a:graphic>
            <a:graphicData uri="http://schemas.openxmlformats.org/presentationml/2006/ole">
              <mc:AlternateContent xmlns:mc="http://schemas.openxmlformats.org/markup-compatibility/2006">
                <mc:Choice xmlns:v="urn:schemas-microsoft-com:vml" Requires="v">
                  <p:oleObj name="Clip" r:id="rId3" imgW="1307263" imgH="1084139" progId="">
                    <p:embed/>
                  </p:oleObj>
                </mc:Choice>
                <mc:Fallback>
                  <p:oleObj name="Clip" r:id="rId3" imgW="1307263" imgH="1084139" progId="">
                    <p:embed/>
                    <p:pic>
                      <p:nvPicPr>
                        <p:cNvPr id="92" name="Object 52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39622" y="5123398"/>
                          <a:ext cx="399558" cy="35932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3" name="Object 529"/>
            <p:cNvGraphicFramePr>
              <a:graphicFrameLocks noChangeAspect="1"/>
            </p:cNvGraphicFramePr>
            <p:nvPr/>
          </p:nvGraphicFramePr>
          <p:xfrm>
            <a:off x="5332002" y="4724146"/>
            <a:ext cx="399558" cy="359327"/>
          </p:xfrm>
          <a:graphic>
            <a:graphicData uri="http://schemas.openxmlformats.org/presentationml/2006/ole">
              <mc:AlternateContent xmlns:mc="http://schemas.openxmlformats.org/markup-compatibility/2006">
                <mc:Choice xmlns:v="urn:schemas-microsoft-com:vml" Requires="v">
                  <p:oleObj name="Clip" r:id="rId5" imgW="1307263" imgH="1084139" progId="">
                    <p:embed/>
                  </p:oleObj>
                </mc:Choice>
                <mc:Fallback>
                  <p:oleObj name="Clip" r:id="rId5" imgW="1307263" imgH="1084139" progId="">
                    <p:embed/>
                    <p:pic>
                      <p:nvPicPr>
                        <p:cNvPr id="93" name="Object 52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32002" y="4724146"/>
                          <a:ext cx="399558" cy="35932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4" name="Object 530"/>
            <p:cNvGraphicFramePr>
              <a:graphicFrameLocks noChangeAspect="1"/>
            </p:cNvGraphicFramePr>
            <p:nvPr/>
          </p:nvGraphicFramePr>
          <p:xfrm>
            <a:off x="5642770" y="5442800"/>
            <a:ext cx="399558" cy="359327"/>
          </p:xfrm>
          <a:graphic>
            <a:graphicData uri="http://schemas.openxmlformats.org/presentationml/2006/ole">
              <mc:AlternateContent xmlns:mc="http://schemas.openxmlformats.org/markup-compatibility/2006">
                <mc:Choice xmlns:v="urn:schemas-microsoft-com:vml" Requires="v">
                  <p:oleObj name="Clip" r:id="rId6" imgW="1307263" imgH="1084139" progId="">
                    <p:embed/>
                  </p:oleObj>
                </mc:Choice>
                <mc:Fallback>
                  <p:oleObj name="Clip" r:id="rId6" imgW="1307263" imgH="1084139" progId="">
                    <p:embed/>
                    <p:pic>
                      <p:nvPicPr>
                        <p:cNvPr id="94" name="Object 53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642770" y="5442800"/>
                          <a:ext cx="399558" cy="35932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5" name="Object 531"/>
            <p:cNvGraphicFramePr>
              <a:graphicFrameLocks noChangeAspect="1"/>
            </p:cNvGraphicFramePr>
            <p:nvPr/>
          </p:nvGraphicFramePr>
          <p:xfrm>
            <a:off x="6038629" y="5446792"/>
            <a:ext cx="399558" cy="359327"/>
          </p:xfrm>
          <a:graphic>
            <a:graphicData uri="http://schemas.openxmlformats.org/presentationml/2006/ole">
              <mc:AlternateContent xmlns:mc="http://schemas.openxmlformats.org/markup-compatibility/2006">
                <mc:Choice xmlns:v="urn:schemas-microsoft-com:vml" Requires="v">
                  <p:oleObj name="Clip" r:id="rId7" imgW="1307263" imgH="1084139" progId="">
                    <p:embed/>
                  </p:oleObj>
                </mc:Choice>
                <mc:Fallback>
                  <p:oleObj name="Clip" r:id="rId7" imgW="1307263" imgH="1084139" progId="">
                    <p:embed/>
                    <p:pic>
                      <p:nvPicPr>
                        <p:cNvPr id="95" name="Object 53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38629" y="5446792"/>
                          <a:ext cx="399558" cy="35932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22" name="Group 532"/>
            <p:cNvGrpSpPr>
              <a:grpSpLocks/>
            </p:cNvGrpSpPr>
            <p:nvPr/>
          </p:nvGrpSpPr>
          <p:grpSpPr bwMode="auto">
            <a:xfrm>
              <a:off x="7096720" y="5604497"/>
              <a:ext cx="318167" cy="429196"/>
              <a:chOff x="2870" y="1518"/>
              <a:chExt cx="292" cy="320"/>
            </a:xfrm>
          </p:grpSpPr>
          <p:graphicFrame>
            <p:nvGraphicFramePr>
              <p:cNvPr id="97" name="Object 533"/>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name="Clip" r:id="rId8" imgW="826829" imgH="840406" progId="">
                      <p:embed/>
                    </p:oleObj>
                  </mc:Choice>
                  <mc:Fallback>
                    <p:oleObj name="Clip" r:id="rId8" imgW="826829" imgH="840406" progId="">
                      <p:embed/>
                      <p:pic>
                        <p:nvPicPr>
                          <p:cNvPr id="97" name="Object 533"/>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870" y="1518"/>
                            <a:ext cx="272" cy="28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8" name="Object 534"/>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name="Clip" r:id="rId10" imgW="1268295" imgH="1199426" progId="">
                      <p:embed/>
                    </p:oleObj>
                  </mc:Choice>
                  <mc:Fallback>
                    <p:oleObj name="Clip" r:id="rId10" imgW="1268295" imgH="1199426" progId="">
                      <p:embed/>
                      <p:pic>
                        <p:nvPicPr>
                          <p:cNvPr id="98" name="Object 534"/>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913" y="1602"/>
                            <a:ext cx="249" cy="23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nvGrpSpPr>
            <p:cNvPr id="23" name="Group 535"/>
            <p:cNvGrpSpPr>
              <a:grpSpLocks/>
            </p:cNvGrpSpPr>
            <p:nvPr/>
          </p:nvGrpSpPr>
          <p:grpSpPr bwMode="auto">
            <a:xfrm>
              <a:off x="6571374" y="5668378"/>
              <a:ext cx="406958" cy="405241"/>
              <a:chOff x="2870" y="1518"/>
              <a:chExt cx="292" cy="320"/>
            </a:xfrm>
          </p:grpSpPr>
          <p:graphicFrame>
            <p:nvGraphicFramePr>
              <p:cNvPr id="100" name="Object 536"/>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name="Clip" r:id="rId12" imgW="826829" imgH="840406" progId="">
                      <p:embed/>
                    </p:oleObj>
                  </mc:Choice>
                  <mc:Fallback>
                    <p:oleObj name="Clip" r:id="rId12" imgW="826829" imgH="840406" progId="">
                      <p:embed/>
                      <p:pic>
                        <p:nvPicPr>
                          <p:cNvPr id="100" name="Object 536"/>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870" y="1518"/>
                            <a:ext cx="272" cy="28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1" name="Object 537"/>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name="Clip" r:id="rId13" imgW="1268295" imgH="1199426" progId="">
                      <p:embed/>
                    </p:oleObj>
                  </mc:Choice>
                  <mc:Fallback>
                    <p:oleObj name="Clip" r:id="rId13" imgW="1268295" imgH="1199426" progId="">
                      <p:embed/>
                      <p:pic>
                        <p:nvPicPr>
                          <p:cNvPr id="101" name="Object 537"/>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913" y="1602"/>
                            <a:ext cx="249" cy="23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nvGrpSpPr>
            <p:cNvPr id="24" name="Group 538"/>
            <p:cNvGrpSpPr>
              <a:grpSpLocks/>
            </p:cNvGrpSpPr>
            <p:nvPr/>
          </p:nvGrpSpPr>
          <p:grpSpPr bwMode="auto">
            <a:xfrm>
              <a:off x="6754505" y="5181290"/>
              <a:ext cx="338515" cy="509047"/>
              <a:chOff x="2556" y="2689"/>
              <a:chExt cx="183" cy="255"/>
            </a:xfrm>
          </p:grpSpPr>
          <p:pic>
            <p:nvPicPr>
              <p:cNvPr id="103" name="Picture 539" descr="31u_bnrz[1]"/>
              <p:cNvPicPr>
                <a:picLocks noChangeAspect="1" noChangeArrowheads="1"/>
              </p:cNvPicPr>
              <p:nvPr/>
            </p:nvPicPr>
            <p:blipFill>
              <a:blip r:embed="rId14" cstate="print">
                <a:extLst>
                  <a:ext uri="{28A0092B-C50C-407E-A947-70E740481C1C}">
                    <a14:useLocalDpi xmlns:a14="http://schemas.microsoft.com/office/drawing/2010/main" val="0"/>
                  </a:ext>
                </a:extLst>
              </a:blip>
              <a:srcRect/>
              <a:stretch>
                <a:fillRect/>
              </a:stretch>
            </p:blipFill>
            <p:spPr bwMode="auto">
              <a:xfrm>
                <a:off x="2609" y="2770"/>
                <a:ext cx="121"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4" name="Freeform 540"/>
              <p:cNvSpPr>
                <a:spLocks/>
              </p:cNvSpPr>
              <p:nvPr/>
            </p:nvSpPr>
            <p:spPr bwMode="auto">
              <a:xfrm>
                <a:off x="2605" y="2702"/>
                <a:ext cx="33" cy="39"/>
              </a:xfrm>
              <a:custGeom>
                <a:avLst/>
                <a:gdLst>
                  <a:gd name="T0" fmla="*/ 12 w 199"/>
                  <a:gd name="T1" fmla="*/ 5 h 232"/>
                  <a:gd name="T2" fmla="*/ 9 w 199"/>
                  <a:gd name="T3" fmla="*/ 7 h 232"/>
                  <a:gd name="T4" fmla="*/ 7 w 199"/>
                  <a:gd name="T5" fmla="*/ 8 h 232"/>
                  <a:gd name="T6" fmla="*/ 5 w 199"/>
                  <a:gd name="T7" fmla="*/ 11 h 232"/>
                  <a:gd name="T8" fmla="*/ 3 w 199"/>
                  <a:gd name="T9" fmla="*/ 13 h 232"/>
                  <a:gd name="T10" fmla="*/ 2 w 199"/>
                  <a:gd name="T11" fmla="*/ 15 h 232"/>
                  <a:gd name="T12" fmla="*/ 1 w 199"/>
                  <a:gd name="T13" fmla="*/ 18 h 232"/>
                  <a:gd name="T14" fmla="*/ 0 w 199"/>
                  <a:gd name="T15" fmla="*/ 21 h 232"/>
                  <a:gd name="T16" fmla="*/ 0 w 199"/>
                  <a:gd name="T17" fmla="*/ 24 h 232"/>
                  <a:gd name="T18" fmla="*/ 0 w 199"/>
                  <a:gd name="T19" fmla="*/ 28 h 232"/>
                  <a:gd name="T20" fmla="*/ 2 w 199"/>
                  <a:gd name="T21" fmla="*/ 31 h 232"/>
                  <a:gd name="T22" fmla="*/ 4 w 199"/>
                  <a:gd name="T23" fmla="*/ 34 h 232"/>
                  <a:gd name="T24" fmla="*/ 7 w 199"/>
                  <a:gd name="T25" fmla="*/ 36 h 232"/>
                  <a:gd name="T26" fmla="*/ 11 w 199"/>
                  <a:gd name="T27" fmla="*/ 38 h 232"/>
                  <a:gd name="T28" fmla="*/ 15 w 199"/>
                  <a:gd name="T29" fmla="*/ 39 h 232"/>
                  <a:gd name="T30" fmla="*/ 18 w 199"/>
                  <a:gd name="T31" fmla="*/ 39 h 232"/>
                  <a:gd name="T32" fmla="*/ 22 w 199"/>
                  <a:gd name="T33" fmla="*/ 38 h 232"/>
                  <a:gd name="T34" fmla="*/ 23 w 199"/>
                  <a:gd name="T35" fmla="*/ 38 h 232"/>
                  <a:gd name="T36" fmla="*/ 24 w 199"/>
                  <a:gd name="T37" fmla="*/ 38 h 232"/>
                  <a:gd name="T38" fmla="*/ 24 w 199"/>
                  <a:gd name="T39" fmla="*/ 37 h 232"/>
                  <a:gd name="T40" fmla="*/ 25 w 199"/>
                  <a:gd name="T41" fmla="*/ 37 h 232"/>
                  <a:gd name="T42" fmla="*/ 24 w 199"/>
                  <a:gd name="T43" fmla="*/ 36 h 232"/>
                  <a:gd name="T44" fmla="*/ 23 w 199"/>
                  <a:gd name="T45" fmla="*/ 35 h 232"/>
                  <a:gd name="T46" fmla="*/ 22 w 199"/>
                  <a:gd name="T47" fmla="*/ 34 h 232"/>
                  <a:gd name="T48" fmla="*/ 21 w 199"/>
                  <a:gd name="T49" fmla="*/ 34 h 232"/>
                  <a:gd name="T50" fmla="*/ 19 w 199"/>
                  <a:gd name="T51" fmla="*/ 33 h 232"/>
                  <a:gd name="T52" fmla="*/ 17 w 199"/>
                  <a:gd name="T53" fmla="*/ 33 h 232"/>
                  <a:gd name="T54" fmla="*/ 16 w 199"/>
                  <a:gd name="T55" fmla="*/ 32 h 232"/>
                  <a:gd name="T56" fmla="*/ 14 w 199"/>
                  <a:gd name="T57" fmla="*/ 32 h 232"/>
                  <a:gd name="T58" fmla="*/ 12 w 199"/>
                  <a:gd name="T59" fmla="*/ 31 h 232"/>
                  <a:gd name="T60" fmla="*/ 10 w 199"/>
                  <a:gd name="T61" fmla="*/ 31 h 232"/>
                  <a:gd name="T62" fmla="*/ 9 w 199"/>
                  <a:gd name="T63" fmla="*/ 30 h 232"/>
                  <a:gd name="T64" fmla="*/ 7 w 199"/>
                  <a:gd name="T65" fmla="*/ 28 h 232"/>
                  <a:gd name="T66" fmla="*/ 7 w 199"/>
                  <a:gd name="T67" fmla="*/ 22 h 232"/>
                  <a:gd name="T68" fmla="*/ 8 w 199"/>
                  <a:gd name="T69" fmla="*/ 16 h 232"/>
                  <a:gd name="T70" fmla="*/ 11 w 199"/>
                  <a:gd name="T71" fmla="*/ 12 h 232"/>
                  <a:gd name="T72" fmla="*/ 16 w 199"/>
                  <a:gd name="T73" fmla="*/ 8 h 232"/>
                  <a:gd name="T74" fmla="*/ 20 w 199"/>
                  <a:gd name="T75" fmla="*/ 6 h 232"/>
                  <a:gd name="T76" fmla="*/ 25 w 199"/>
                  <a:gd name="T77" fmla="*/ 4 h 232"/>
                  <a:gd name="T78" fmla="*/ 30 w 199"/>
                  <a:gd name="T79" fmla="*/ 2 h 232"/>
                  <a:gd name="T80" fmla="*/ 33 w 199"/>
                  <a:gd name="T81" fmla="*/ 1 h 232"/>
                  <a:gd name="T82" fmla="*/ 31 w 199"/>
                  <a:gd name="T83" fmla="*/ 0 h 232"/>
                  <a:gd name="T84" fmla="*/ 29 w 199"/>
                  <a:gd name="T85" fmla="*/ 0 h 232"/>
                  <a:gd name="T86" fmla="*/ 26 w 199"/>
                  <a:gd name="T87" fmla="*/ 0 h 232"/>
                  <a:gd name="T88" fmla="*/ 23 w 199"/>
                  <a:gd name="T89" fmla="*/ 1 h 232"/>
                  <a:gd name="T90" fmla="*/ 20 w 199"/>
                  <a:gd name="T91" fmla="*/ 2 h 232"/>
                  <a:gd name="T92" fmla="*/ 17 w 199"/>
                  <a:gd name="T93" fmla="*/ 3 h 232"/>
                  <a:gd name="T94" fmla="*/ 14 w 199"/>
                  <a:gd name="T95" fmla="*/ 4 h 232"/>
                  <a:gd name="T96" fmla="*/ 12 w 199"/>
                  <a:gd name="T97" fmla="*/ 5 h 232"/>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w 199"/>
                  <a:gd name="T148" fmla="*/ 0 h 232"/>
                  <a:gd name="T149" fmla="*/ 199 w 199"/>
                  <a:gd name="T150" fmla="*/ 232 h 232"/>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T147" t="T148" r="T149" b="T150"/>
                <a:pathLst>
                  <a:path w="199" h="232">
                    <a:moveTo>
                      <a:pt x="70" y="29"/>
                    </a:moveTo>
                    <a:lnTo>
                      <a:pt x="55" y="39"/>
                    </a:lnTo>
                    <a:lnTo>
                      <a:pt x="42" y="50"/>
                    </a:lnTo>
                    <a:lnTo>
                      <a:pt x="30" y="63"/>
                    </a:lnTo>
                    <a:lnTo>
                      <a:pt x="20" y="77"/>
                    </a:lnTo>
                    <a:lnTo>
                      <a:pt x="12" y="91"/>
                    </a:lnTo>
                    <a:lnTo>
                      <a:pt x="6" y="108"/>
                    </a:lnTo>
                    <a:lnTo>
                      <a:pt x="2" y="125"/>
                    </a:lnTo>
                    <a:lnTo>
                      <a:pt x="0" y="142"/>
                    </a:lnTo>
                    <a:lnTo>
                      <a:pt x="2" y="166"/>
                    </a:lnTo>
                    <a:lnTo>
                      <a:pt x="12" y="186"/>
                    </a:lnTo>
                    <a:lnTo>
                      <a:pt x="26" y="203"/>
                    </a:lnTo>
                    <a:lnTo>
                      <a:pt x="45" y="216"/>
                    </a:lnTo>
                    <a:lnTo>
                      <a:pt x="66" y="226"/>
                    </a:lnTo>
                    <a:lnTo>
                      <a:pt x="88" y="230"/>
                    </a:lnTo>
                    <a:lnTo>
                      <a:pt x="111" y="232"/>
                    </a:lnTo>
                    <a:lnTo>
                      <a:pt x="134" y="228"/>
                    </a:lnTo>
                    <a:lnTo>
                      <a:pt x="138" y="228"/>
                    </a:lnTo>
                    <a:lnTo>
                      <a:pt x="143" y="226"/>
                    </a:lnTo>
                    <a:lnTo>
                      <a:pt x="147" y="222"/>
                    </a:lnTo>
                    <a:lnTo>
                      <a:pt x="148" y="218"/>
                    </a:lnTo>
                    <a:lnTo>
                      <a:pt x="145" y="212"/>
                    </a:lnTo>
                    <a:lnTo>
                      <a:pt x="141" y="207"/>
                    </a:lnTo>
                    <a:lnTo>
                      <a:pt x="135" y="203"/>
                    </a:lnTo>
                    <a:lnTo>
                      <a:pt x="129" y="201"/>
                    </a:lnTo>
                    <a:lnTo>
                      <a:pt x="117" y="197"/>
                    </a:lnTo>
                    <a:lnTo>
                      <a:pt x="105" y="195"/>
                    </a:lnTo>
                    <a:lnTo>
                      <a:pt x="94" y="193"/>
                    </a:lnTo>
                    <a:lnTo>
                      <a:pt x="83" y="190"/>
                    </a:lnTo>
                    <a:lnTo>
                      <a:pt x="73" y="187"/>
                    </a:lnTo>
                    <a:lnTo>
                      <a:pt x="62" y="182"/>
                    </a:lnTo>
                    <a:lnTo>
                      <a:pt x="53" y="176"/>
                    </a:lnTo>
                    <a:lnTo>
                      <a:pt x="43" y="167"/>
                    </a:lnTo>
                    <a:lnTo>
                      <a:pt x="40" y="128"/>
                    </a:lnTo>
                    <a:lnTo>
                      <a:pt x="49" y="96"/>
                    </a:lnTo>
                    <a:lnTo>
                      <a:pt x="68" y="71"/>
                    </a:lnTo>
                    <a:lnTo>
                      <a:pt x="94" y="50"/>
                    </a:lnTo>
                    <a:lnTo>
                      <a:pt x="122" y="34"/>
                    </a:lnTo>
                    <a:lnTo>
                      <a:pt x="151" y="21"/>
                    </a:lnTo>
                    <a:lnTo>
                      <a:pt x="178" y="12"/>
                    </a:lnTo>
                    <a:lnTo>
                      <a:pt x="199" y="4"/>
                    </a:lnTo>
                    <a:lnTo>
                      <a:pt x="186" y="1"/>
                    </a:lnTo>
                    <a:lnTo>
                      <a:pt x="172" y="0"/>
                    </a:lnTo>
                    <a:lnTo>
                      <a:pt x="156" y="2"/>
                    </a:lnTo>
                    <a:lnTo>
                      <a:pt x="138" y="4"/>
                    </a:lnTo>
                    <a:lnTo>
                      <a:pt x="121" y="10"/>
                    </a:lnTo>
                    <a:lnTo>
                      <a:pt x="103" y="16"/>
                    </a:lnTo>
                    <a:lnTo>
                      <a:pt x="86" y="23"/>
                    </a:lnTo>
                    <a:lnTo>
                      <a:pt x="70" y="29"/>
                    </a:lnTo>
                    <a:close/>
                  </a:path>
                </a:pathLst>
              </a:custGeom>
              <a:solidFill>
                <a:srgbClr val="C9E8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de-DE"/>
              </a:p>
            </p:txBody>
          </p:sp>
          <p:sp>
            <p:nvSpPr>
              <p:cNvPr id="105" name="Freeform 541"/>
              <p:cNvSpPr>
                <a:spLocks/>
              </p:cNvSpPr>
              <p:nvPr/>
            </p:nvSpPr>
            <p:spPr bwMode="auto">
              <a:xfrm>
                <a:off x="2661" y="2701"/>
                <a:ext cx="22" cy="30"/>
              </a:xfrm>
              <a:custGeom>
                <a:avLst/>
                <a:gdLst>
                  <a:gd name="T0" fmla="*/ 19 w 128"/>
                  <a:gd name="T1" fmla="*/ 10 h 180"/>
                  <a:gd name="T2" fmla="*/ 19 w 128"/>
                  <a:gd name="T3" fmla="*/ 13 h 180"/>
                  <a:gd name="T4" fmla="*/ 19 w 128"/>
                  <a:gd name="T5" fmla="*/ 16 h 180"/>
                  <a:gd name="T6" fmla="*/ 18 w 128"/>
                  <a:gd name="T7" fmla="*/ 18 h 180"/>
                  <a:gd name="T8" fmla="*/ 16 w 128"/>
                  <a:gd name="T9" fmla="*/ 20 h 180"/>
                  <a:gd name="T10" fmla="*/ 13 w 128"/>
                  <a:gd name="T11" fmla="*/ 22 h 180"/>
                  <a:gd name="T12" fmla="*/ 10 w 128"/>
                  <a:gd name="T13" fmla="*/ 24 h 180"/>
                  <a:gd name="T14" fmla="*/ 8 w 128"/>
                  <a:gd name="T15" fmla="*/ 26 h 180"/>
                  <a:gd name="T16" fmla="*/ 5 w 128"/>
                  <a:gd name="T17" fmla="*/ 27 h 180"/>
                  <a:gd name="T18" fmla="*/ 5 w 128"/>
                  <a:gd name="T19" fmla="*/ 28 h 180"/>
                  <a:gd name="T20" fmla="*/ 5 w 128"/>
                  <a:gd name="T21" fmla="*/ 28 h 180"/>
                  <a:gd name="T22" fmla="*/ 5 w 128"/>
                  <a:gd name="T23" fmla="*/ 29 h 180"/>
                  <a:gd name="T24" fmla="*/ 5 w 128"/>
                  <a:gd name="T25" fmla="*/ 30 h 180"/>
                  <a:gd name="T26" fmla="*/ 6 w 128"/>
                  <a:gd name="T27" fmla="*/ 30 h 180"/>
                  <a:gd name="T28" fmla="*/ 6 w 128"/>
                  <a:gd name="T29" fmla="*/ 30 h 180"/>
                  <a:gd name="T30" fmla="*/ 6 w 128"/>
                  <a:gd name="T31" fmla="*/ 30 h 180"/>
                  <a:gd name="T32" fmla="*/ 7 w 128"/>
                  <a:gd name="T33" fmla="*/ 30 h 180"/>
                  <a:gd name="T34" fmla="*/ 10 w 128"/>
                  <a:gd name="T35" fmla="*/ 28 h 180"/>
                  <a:gd name="T36" fmla="*/ 13 w 128"/>
                  <a:gd name="T37" fmla="*/ 26 h 180"/>
                  <a:gd name="T38" fmla="*/ 16 w 128"/>
                  <a:gd name="T39" fmla="*/ 24 h 180"/>
                  <a:gd name="T40" fmla="*/ 19 w 128"/>
                  <a:gd name="T41" fmla="*/ 22 h 180"/>
                  <a:gd name="T42" fmla="*/ 21 w 128"/>
                  <a:gd name="T43" fmla="*/ 19 h 180"/>
                  <a:gd name="T44" fmla="*/ 22 w 128"/>
                  <a:gd name="T45" fmla="*/ 16 h 180"/>
                  <a:gd name="T46" fmla="*/ 22 w 128"/>
                  <a:gd name="T47" fmla="*/ 13 h 180"/>
                  <a:gd name="T48" fmla="*/ 21 w 128"/>
                  <a:gd name="T49" fmla="*/ 9 h 180"/>
                  <a:gd name="T50" fmla="*/ 19 w 128"/>
                  <a:gd name="T51" fmla="*/ 7 h 180"/>
                  <a:gd name="T52" fmla="*/ 17 w 128"/>
                  <a:gd name="T53" fmla="*/ 4 h 180"/>
                  <a:gd name="T54" fmla="*/ 14 w 128"/>
                  <a:gd name="T55" fmla="*/ 2 h 180"/>
                  <a:gd name="T56" fmla="*/ 10 w 128"/>
                  <a:gd name="T57" fmla="*/ 1 h 180"/>
                  <a:gd name="T58" fmla="*/ 6 w 128"/>
                  <a:gd name="T59" fmla="*/ 0 h 180"/>
                  <a:gd name="T60" fmla="*/ 3 w 128"/>
                  <a:gd name="T61" fmla="*/ 0 h 180"/>
                  <a:gd name="T62" fmla="*/ 1 w 128"/>
                  <a:gd name="T63" fmla="*/ 0 h 180"/>
                  <a:gd name="T64" fmla="*/ 0 w 128"/>
                  <a:gd name="T65" fmla="*/ 1 h 180"/>
                  <a:gd name="T66" fmla="*/ 2 w 128"/>
                  <a:gd name="T67" fmla="*/ 2 h 180"/>
                  <a:gd name="T68" fmla="*/ 5 w 128"/>
                  <a:gd name="T69" fmla="*/ 2 h 180"/>
                  <a:gd name="T70" fmla="*/ 8 w 128"/>
                  <a:gd name="T71" fmla="*/ 3 h 180"/>
                  <a:gd name="T72" fmla="*/ 10 w 128"/>
                  <a:gd name="T73" fmla="*/ 4 h 180"/>
                  <a:gd name="T74" fmla="*/ 13 w 128"/>
                  <a:gd name="T75" fmla="*/ 5 h 180"/>
                  <a:gd name="T76" fmla="*/ 15 w 128"/>
                  <a:gd name="T77" fmla="*/ 6 h 180"/>
                  <a:gd name="T78" fmla="*/ 17 w 128"/>
                  <a:gd name="T79" fmla="*/ 8 h 180"/>
                  <a:gd name="T80" fmla="*/ 19 w 128"/>
                  <a:gd name="T81" fmla="*/ 10 h 180"/>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128"/>
                  <a:gd name="T124" fmla="*/ 0 h 180"/>
                  <a:gd name="T125" fmla="*/ 128 w 128"/>
                  <a:gd name="T126" fmla="*/ 180 h 180"/>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128" h="180">
                    <a:moveTo>
                      <a:pt x="108" y="59"/>
                    </a:moveTo>
                    <a:lnTo>
                      <a:pt x="113" y="77"/>
                    </a:lnTo>
                    <a:lnTo>
                      <a:pt x="111" y="94"/>
                    </a:lnTo>
                    <a:lnTo>
                      <a:pt x="103" y="108"/>
                    </a:lnTo>
                    <a:lnTo>
                      <a:pt x="91" y="121"/>
                    </a:lnTo>
                    <a:lnTo>
                      <a:pt x="77" y="132"/>
                    </a:lnTo>
                    <a:lnTo>
                      <a:pt x="61" y="144"/>
                    </a:lnTo>
                    <a:lnTo>
                      <a:pt x="45" y="154"/>
                    </a:lnTo>
                    <a:lnTo>
                      <a:pt x="30" y="164"/>
                    </a:lnTo>
                    <a:lnTo>
                      <a:pt x="28" y="168"/>
                    </a:lnTo>
                    <a:lnTo>
                      <a:pt x="27" y="170"/>
                    </a:lnTo>
                    <a:lnTo>
                      <a:pt x="27" y="174"/>
                    </a:lnTo>
                    <a:lnTo>
                      <a:pt x="28" y="177"/>
                    </a:lnTo>
                    <a:lnTo>
                      <a:pt x="32" y="179"/>
                    </a:lnTo>
                    <a:lnTo>
                      <a:pt x="35" y="180"/>
                    </a:lnTo>
                    <a:lnTo>
                      <a:pt x="37" y="180"/>
                    </a:lnTo>
                    <a:lnTo>
                      <a:pt x="41" y="179"/>
                    </a:lnTo>
                    <a:lnTo>
                      <a:pt x="60" y="169"/>
                    </a:lnTo>
                    <a:lnTo>
                      <a:pt x="77" y="158"/>
                    </a:lnTo>
                    <a:lnTo>
                      <a:pt x="94" y="145"/>
                    </a:lnTo>
                    <a:lnTo>
                      <a:pt x="109" y="130"/>
                    </a:lnTo>
                    <a:lnTo>
                      <a:pt x="120" y="114"/>
                    </a:lnTo>
                    <a:lnTo>
                      <a:pt x="127" y="95"/>
                    </a:lnTo>
                    <a:lnTo>
                      <a:pt x="128" y="76"/>
                    </a:lnTo>
                    <a:lnTo>
                      <a:pt x="123" y="55"/>
                    </a:lnTo>
                    <a:lnTo>
                      <a:pt x="113" y="39"/>
                    </a:lnTo>
                    <a:lnTo>
                      <a:pt x="97" y="25"/>
                    </a:lnTo>
                    <a:lnTo>
                      <a:pt x="79" y="15"/>
                    </a:lnTo>
                    <a:lnTo>
                      <a:pt x="57" y="7"/>
                    </a:lnTo>
                    <a:lnTo>
                      <a:pt x="36" y="2"/>
                    </a:lnTo>
                    <a:lnTo>
                      <a:pt x="19" y="0"/>
                    </a:lnTo>
                    <a:lnTo>
                      <a:pt x="6" y="0"/>
                    </a:lnTo>
                    <a:lnTo>
                      <a:pt x="0" y="4"/>
                    </a:lnTo>
                    <a:lnTo>
                      <a:pt x="14" y="9"/>
                    </a:lnTo>
                    <a:lnTo>
                      <a:pt x="29" y="14"/>
                    </a:lnTo>
                    <a:lnTo>
                      <a:pt x="46" y="19"/>
                    </a:lnTo>
                    <a:lnTo>
                      <a:pt x="61" y="23"/>
                    </a:lnTo>
                    <a:lnTo>
                      <a:pt x="76" y="29"/>
                    </a:lnTo>
                    <a:lnTo>
                      <a:pt x="89" y="37"/>
                    </a:lnTo>
                    <a:lnTo>
                      <a:pt x="100" y="46"/>
                    </a:lnTo>
                    <a:lnTo>
                      <a:pt x="108" y="59"/>
                    </a:lnTo>
                    <a:close/>
                  </a:path>
                </a:pathLst>
              </a:custGeom>
              <a:solidFill>
                <a:srgbClr val="C9E8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de-DE"/>
              </a:p>
            </p:txBody>
          </p:sp>
          <p:sp>
            <p:nvSpPr>
              <p:cNvPr id="106" name="Freeform 542"/>
              <p:cNvSpPr>
                <a:spLocks/>
              </p:cNvSpPr>
              <p:nvPr/>
            </p:nvSpPr>
            <p:spPr bwMode="auto">
              <a:xfrm>
                <a:off x="2584" y="2694"/>
                <a:ext cx="54" cy="63"/>
              </a:xfrm>
              <a:custGeom>
                <a:avLst/>
                <a:gdLst>
                  <a:gd name="T0" fmla="*/ 17 w 322"/>
                  <a:gd name="T1" fmla="*/ 12 h 378"/>
                  <a:gd name="T2" fmla="*/ 9 w 322"/>
                  <a:gd name="T3" fmla="*/ 19 h 378"/>
                  <a:gd name="T4" fmla="*/ 3 w 322"/>
                  <a:gd name="T5" fmla="*/ 28 h 378"/>
                  <a:gd name="T6" fmla="*/ 0 w 322"/>
                  <a:gd name="T7" fmla="*/ 38 h 378"/>
                  <a:gd name="T8" fmla="*/ 1 w 322"/>
                  <a:gd name="T9" fmla="*/ 44 h 378"/>
                  <a:gd name="T10" fmla="*/ 2 w 322"/>
                  <a:gd name="T11" fmla="*/ 47 h 378"/>
                  <a:gd name="T12" fmla="*/ 3 w 322"/>
                  <a:gd name="T13" fmla="*/ 50 h 378"/>
                  <a:gd name="T14" fmla="*/ 5 w 322"/>
                  <a:gd name="T15" fmla="*/ 52 h 378"/>
                  <a:gd name="T16" fmla="*/ 9 w 322"/>
                  <a:gd name="T17" fmla="*/ 54 h 378"/>
                  <a:gd name="T18" fmla="*/ 14 w 322"/>
                  <a:gd name="T19" fmla="*/ 56 h 378"/>
                  <a:gd name="T20" fmla="*/ 20 w 322"/>
                  <a:gd name="T21" fmla="*/ 58 h 378"/>
                  <a:gd name="T22" fmla="*/ 25 w 322"/>
                  <a:gd name="T23" fmla="*/ 60 h 378"/>
                  <a:gd name="T24" fmla="*/ 31 w 322"/>
                  <a:gd name="T25" fmla="*/ 61 h 378"/>
                  <a:gd name="T26" fmla="*/ 37 w 322"/>
                  <a:gd name="T27" fmla="*/ 62 h 378"/>
                  <a:gd name="T28" fmla="*/ 43 w 322"/>
                  <a:gd name="T29" fmla="*/ 62 h 378"/>
                  <a:gd name="T30" fmla="*/ 48 w 322"/>
                  <a:gd name="T31" fmla="*/ 63 h 378"/>
                  <a:gd name="T32" fmla="*/ 52 w 322"/>
                  <a:gd name="T33" fmla="*/ 63 h 378"/>
                  <a:gd name="T34" fmla="*/ 54 w 322"/>
                  <a:gd name="T35" fmla="*/ 62 h 378"/>
                  <a:gd name="T36" fmla="*/ 54 w 322"/>
                  <a:gd name="T37" fmla="*/ 60 h 378"/>
                  <a:gd name="T38" fmla="*/ 53 w 322"/>
                  <a:gd name="T39" fmla="*/ 59 h 378"/>
                  <a:gd name="T40" fmla="*/ 49 w 322"/>
                  <a:gd name="T41" fmla="*/ 58 h 378"/>
                  <a:gd name="T42" fmla="*/ 44 w 322"/>
                  <a:gd name="T43" fmla="*/ 57 h 378"/>
                  <a:gd name="T44" fmla="*/ 39 w 322"/>
                  <a:gd name="T45" fmla="*/ 56 h 378"/>
                  <a:gd name="T46" fmla="*/ 34 w 322"/>
                  <a:gd name="T47" fmla="*/ 55 h 378"/>
                  <a:gd name="T48" fmla="*/ 29 w 322"/>
                  <a:gd name="T49" fmla="*/ 54 h 378"/>
                  <a:gd name="T50" fmla="*/ 23 w 322"/>
                  <a:gd name="T51" fmla="*/ 53 h 378"/>
                  <a:gd name="T52" fmla="*/ 18 w 322"/>
                  <a:gd name="T53" fmla="*/ 52 h 378"/>
                  <a:gd name="T54" fmla="*/ 13 w 322"/>
                  <a:gd name="T55" fmla="*/ 50 h 378"/>
                  <a:gd name="T56" fmla="*/ 9 w 322"/>
                  <a:gd name="T57" fmla="*/ 47 h 378"/>
                  <a:gd name="T58" fmla="*/ 6 w 322"/>
                  <a:gd name="T59" fmla="*/ 43 h 378"/>
                  <a:gd name="T60" fmla="*/ 6 w 322"/>
                  <a:gd name="T61" fmla="*/ 39 h 378"/>
                  <a:gd name="T62" fmla="*/ 6 w 322"/>
                  <a:gd name="T63" fmla="*/ 33 h 378"/>
                  <a:gd name="T64" fmla="*/ 9 w 322"/>
                  <a:gd name="T65" fmla="*/ 28 h 378"/>
                  <a:gd name="T66" fmla="*/ 12 w 322"/>
                  <a:gd name="T67" fmla="*/ 23 h 378"/>
                  <a:gd name="T68" fmla="*/ 16 w 322"/>
                  <a:gd name="T69" fmla="*/ 18 h 378"/>
                  <a:gd name="T70" fmla="*/ 21 w 322"/>
                  <a:gd name="T71" fmla="*/ 14 h 378"/>
                  <a:gd name="T72" fmla="*/ 26 w 322"/>
                  <a:gd name="T73" fmla="*/ 9 h 378"/>
                  <a:gd name="T74" fmla="*/ 33 w 322"/>
                  <a:gd name="T75" fmla="*/ 6 h 378"/>
                  <a:gd name="T76" fmla="*/ 40 w 322"/>
                  <a:gd name="T77" fmla="*/ 3 h 378"/>
                  <a:gd name="T78" fmla="*/ 44 w 322"/>
                  <a:gd name="T79" fmla="*/ 1 h 378"/>
                  <a:gd name="T80" fmla="*/ 43 w 322"/>
                  <a:gd name="T81" fmla="*/ 0 h 378"/>
                  <a:gd name="T82" fmla="*/ 37 w 322"/>
                  <a:gd name="T83" fmla="*/ 1 h 378"/>
                  <a:gd name="T84" fmla="*/ 30 w 322"/>
                  <a:gd name="T85" fmla="*/ 3 h 378"/>
                  <a:gd name="T86" fmla="*/ 24 w 322"/>
                  <a:gd name="T87" fmla="*/ 6 h 378"/>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322"/>
                  <a:gd name="T133" fmla="*/ 0 h 378"/>
                  <a:gd name="T134" fmla="*/ 322 w 322"/>
                  <a:gd name="T135" fmla="*/ 378 h 378"/>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322" h="378">
                    <a:moveTo>
                      <a:pt x="125" y="49"/>
                    </a:moveTo>
                    <a:lnTo>
                      <a:pt x="100" y="70"/>
                    </a:lnTo>
                    <a:lnTo>
                      <a:pt x="76" y="90"/>
                    </a:lnTo>
                    <a:lnTo>
                      <a:pt x="53" y="115"/>
                    </a:lnTo>
                    <a:lnTo>
                      <a:pt x="34" y="140"/>
                    </a:lnTo>
                    <a:lnTo>
                      <a:pt x="17" y="166"/>
                    </a:lnTo>
                    <a:lnTo>
                      <a:pt x="5" y="195"/>
                    </a:lnTo>
                    <a:lnTo>
                      <a:pt x="0" y="226"/>
                    </a:lnTo>
                    <a:lnTo>
                      <a:pt x="1" y="258"/>
                    </a:lnTo>
                    <a:lnTo>
                      <a:pt x="3" y="266"/>
                    </a:lnTo>
                    <a:lnTo>
                      <a:pt x="5" y="275"/>
                    </a:lnTo>
                    <a:lnTo>
                      <a:pt x="9" y="282"/>
                    </a:lnTo>
                    <a:lnTo>
                      <a:pt x="14" y="290"/>
                    </a:lnTo>
                    <a:lnTo>
                      <a:pt x="19" y="297"/>
                    </a:lnTo>
                    <a:lnTo>
                      <a:pt x="26" y="304"/>
                    </a:lnTo>
                    <a:lnTo>
                      <a:pt x="32" y="310"/>
                    </a:lnTo>
                    <a:lnTo>
                      <a:pt x="41" y="314"/>
                    </a:lnTo>
                    <a:lnTo>
                      <a:pt x="56" y="324"/>
                    </a:lnTo>
                    <a:lnTo>
                      <a:pt x="71" y="332"/>
                    </a:lnTo>
                    <a:lnTo>
                      <a:pt x="86" y="338"/>
                    </a:lnTo>
                    <a:lnTo>
                      <a:pt x="103" y="344"/>
                    </a:lnTo>
                    <a:lnTo>
                      <a:pt x="119" y="350"/>
                    </a:lnTo>
                    <a:lnTo>
                      <a:pt x="136" y="355"/>
                    </a:lnTo>
                    <a:lnTo>
                      <a:pt x="152" y="359"/>
                    </a:lnTo>
                    <a:lnTo>
                      <a:pt x="168" y="363"/>
                    </a:lnTo>
                    <a:lnTo>
                      <a:pt x="186" y="366"/>
                    </a:lnTo>
                    <a:lnTo>
                      <a:pt x="202" y="368"/>
                    </a:lnTo>
                    <a:lnTo>
                      <a:pt x="220" y="371"/>
                    </a:lnTo>
                    <a:lnTo>
                      <a:pt x="238" y="373"/>
                    </a:lnTo>
                    <a:lnTo>
                      <a:pt x="254" y="374"/>
                    </a:lnTo>
                    <a:lnTo>
                      <a:pt x="272" y="375"/>
                    </a:lnTo>
                    <a:lnTo>
                      <a:pt x="289" y="376"/>
                    </a:lnTo>
                    <a:lnTo>
                      <a:pt x="306" y="378"/>
                    </a:lnTo>
                    <a:lnTo>
                      <a:pt x="311" y="378"/>
                    </a:lnTo>
                    <a:lnTo>
                      <a:pt x="316" y="375"/>
                    </a:lnTo>
                    <a:lnTo>
                      <a:pt x="320" y="371"/>
                    </a:lnTo>
                    <a:lnTo>
                      <a:pt x="322" y="366"/>
                    </a:lnTo>
                    <a:lnTo>
                      <a:pt x="322" y="360"/>
                    </a:lnTo>
                    <a:lnTo>
                      <a:pt x="320" y="356"/>
                    </a:lnTo>
                    <a:lnTo>
                      <a:pt x="315" y="352"/>
                    </a:lnTo>
                    <a:lnTo>
                      <a:pt x="309" y="350"/>
                    </a:lnTo>
                    <a:lnTo>
                      <a:pt x="294" y="347"/>
                    </a:lnTo>
                    <a:lnTo>
                      <a:pt x="279" y="344"/>
                    </a:lnTo>
                    <a:lnTo>
                      <a:pt x="263" y="341"/>
                    </a:lnTo>
                    <a:lnTo>
                      <a:pt x="247" y="338"/>
                    </a:lnTo>
                    <a:lnTo>
                      <a:pt x="232" y="336"/>
                    </a:lnTo>
                    <a:lnTo>
                      <a:pt x="216" y="334"/>
                    </a:lnTo>
                    <a:lnTo>
                      <a:pt x="200" y="332"/>
                    </a:lnTo>
                    <a:lnTo>
                      <a:pt x="185" y="328"/>
                    </a:lnTo>
                    <a:lnTo>
                      <a:pt x="170" y="326"/>
                    </a:lnTo>
                    <a:lnTo>
                      <a:pt x="154" y="322"/>
                    </a:lnTo>
                    <a:lnTo>
                      <a:pt x="139" y="318"/>
                    </a:lnTo>
                    <a:lnTo>
                      <a:pt x="124" y="314"/>
                    </a:lnTo>
                    <a:lnTo>
                      <a:pt x="110" y="309"/>
                    </a:lnTo>
                    <a:lnTo>
                      <a:pt x="94" y="303"/>
                    </a:lnTo>
                    <a:lnTo>
                      <a:pt x="80" y="297"/>
                    </a:lnTo>
                    <a:lnTo>
                      <a:pt x="66" y="289"/>
                    </a:lnTo>
                    <a:lnTo>
                      <a:pt x="55" y="281"/>
                    </a:lnTo>
                    <a:lnTo>
                      <a:pt x="45" y="271"/>
                    </a:lnTo>
                    <a:lnTo>
                      <a:pt x="38" y="259"/>
                    </a:lnTo>
                    <a:lnTo>
                      <a:pt x="35" y="245"/>
                    </a:lnTo>
                    <a:lnTo>
                      <a:pt x="34" y="232"/>
                    </a:lnTo>
                    <a:lnTo>
                      <a:pt x="35" y="216"/>
                    </a:lnTo>
                    <a:lnTo>
                      <a:pt x="38" y="200"/>
                    </a:lnTo>
                    <a:lnTo>
                      <a:pt x="43" y="187"/>
                    </a:lnTo>
                    <a:lnTo>
                      <a:pt x="51" y="170"/>
                    </a:lnTo>
                    <a:lnTo>
                      <a:pt x="60" y="152"/>
                    </a:lnTo>
                    <a:lnTo>
                      <a:pt x="71" y="137"/>
                    </a:lnTo>
                    <a:lnTo>
                      <a:pt x="83" y="124"/>
                    </a:lnTo>
                    <a:lnTo>
                      <a:pt x="94" y="110"/>
                    </a:lnTo>
                    <a:lnTo>
                      <a:pt x="107" y="96"/>
                    </a:lnTo>
                    <a:lnTo>
                      <a:pt x="123" y="82"/>
                    </a:lnTo>
                    <a:lnTo>
                      <a:pt x="138" y="69"/>
                    </a:lnTo>
                    <a:lnTo>
                      <a:pt x="153" y="57"/>
                    </a:lnTo>
                    <a:lnTo>
                      <a:pt x="173" y="47"/>
                    </a:lnTo>
                    <a:lnTo>
                      <a:pt x="195" y="38"/>
                    </a:lnTo>
                    <a:lnTo>
                      <a:pt x="218" y="28"/>
                    </a:lnTo>
                    <a:lnTo>
                      <a:pt x="238" y="20"/>
                    </a:lnTo>
                    <a:lnTo>
                      <a:pt x="254" y="13"/>
                    </a:lnTo>
                    <a:lnTo>
                      <a:pt x="264" y="7"/>
                    </a:lnTo>
                    <a:lnTo>
                      <a:pt x="268" y="2"/>
                    </a:lnTo>
                    <a:lnTo>
                      <a:pt x="256" y="0"/>
                    </a:lnTo>
                    <a:lnTo>
                      <a:pt x="240" y="1"/>
                    </a:lnTo>
                    <a:lnTo>
                      <a:pt x="221" y="4"/>
                    </a:lnTo>
                    <a:lnTo>
                      <a:pt x="201" y="10"/>
                    </a:lnTo>
                    <a:lnTo>
                      <a:pt x="180" y="18"/>
                    </a:lnTo>
                    <a:lnTo>
                      <a:pt x="160" y="27"/>
                    </a:lnTo>
                    <a:lnTo>
                      <a:pt x="141" y="38"/>
                    </a:lnTo>
                    <a:lnTo>
                      <a:pt x="125" y="49"/>
                    </a:lnTo>
                    <a:close/>
                  </a:path>
                </a:pathLst>
              </a:custGeom>
              <a:solidFill>
                <a:srgbClr val="C9E8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de-DE"/>
              </a:p>
            </p:txBody>
          </p:sp>
          <p:sp>
            <p:nvSpPr>
              <p:cNvPr id="107" name="Freeform 543"/>
              <p:cNvSpPr>
                <a:spLocks/>
              </p:cNvSpPr>
              <p:nvPr/>
            </p:nvSpPr>
            <p:spPr bwMode="auto">
              <a:xfrm>
                <a:off x="2660" y="2692"/>
                <a:ext cx="47" cy="42"/>
              </a:xfrm>
              <a:custGeom>
                <a:avLst/>
                <a:gdLst>
                  <a:gd name="T0" fmla="*/ 39 w 283"/>
                  <a:gd name="T1" fmla="*/ 13 h 252"/>
                  <a:gd name="T2" fmla="*/ 41 w 283"/>
                  <a:gd name="T3" fmla="*/ 15 h 252"/>
                  <a:gd name="T4" fmla="*/ 43 w 283"/>
                  <a:gd name="T5" fmla="*/ 18 h 252"/>
                  <a:gd name="T6" fmla="*/ 43 w 283"/>
                  <a:gd name="T7" fmla="*/ 21 h 252"/>
                  <a:gd name="T8" fmla="*/ 43 w 283"/>
                  <a:gd name="T9" fmla="*/ 24 h 252"/>
                  <a:gd name="T10" fmla="*/ 43 w 283"/>
                  <a:gd name="T11" fmla="*/ 26 h 252"/>
                  <a:gd name="T12" fmla="*/ 42 w 283"/>
                  <a:gd name="T13" fmla="*/ 28 h 252"/>
                  <a:gd name="T14" fmla="*/ 41 w 283"/>
                  <a:gd name="T15" fmla="*/ 31 h 252"/>
                  <a:gd name="T16" fmla="*/ 39 w 283"/>
                  <a:gd name="T17" fmla="*/ 32 h 252"/>
                  <a:gd name="T18" fmla="*/ 37 w 283"/>
                  <a:gd name="T19" fmla="*/ 34 h 252"/>
                  <a:gd name="T20" fmla="*/ 36 w 283"/>
                  <a:gd name="T21" fmla="*/ 36 h 252"/>
                  <a:gd name="T22" fmla="*/ 34 w 283"/>
                  <a:gd name="T23" fmla="*/ 37 h 252"/>
                  <a:gd name="T24" fmla="*/ 32 w 283"/>
                  <a:gd name="T25" fmla="*/ 39 h 252"/>
                  <a:gd name="T26" fmla="*/ 32 w 283"/>
                  <a:gd name="T27" fmla="*/ 40 h 252"/>
                  <a:gd name="T28" fmla="*/ 32 w 283"/>
                  <a:gd name="T29" fmla="*/ 40 h 252"/>
                  <a:gd name="T30" fmla="*/ 32 w 283"/>
                  <a:gd name="T31" fmla="*/ 41 h 252"/>
                  <a:gd name="T32" fmla="*/ 32 w 283"/>
                  <a:gd name="T33" fmla="*/ 41 h 252"/>
                  <a:gd name="T34" fmla="*/ 33 w 283"/>
                  <a:gd name="T35" fmla="*/ 42 h 252"/>
                  <a:gd name="T36" fmla="*/ 34 w 283"/>
                  <a:gd name="T37" fmla="*/ 42 h 252"/>
                  <a:gd name="T38" fmla="*/ 34 w 283"/>
                  <a:gd name="T39" fmla="*/ 42 h 252"/>
                  <a:gd name="T40" fmla="*/ 35 w 283"/>
                  <a:gd name="T41" fmla="*/ 41 h 252"/>
                  <a:gd name="T42" fmla="*/ 39 w 283"/>
                  <a:gd name="T43" fmla="*/ 39 h 252"/>
                  <a:gd name="T44" fmla="*/ 42 w 283"/>
                  <a:gd name="T45" fmla="*/ 36 h 252"/>
                  <a:gd name="T46" fmla="*/ 45 w 283"/>
                  <a:gd name="T47" fmla="*/ 32 h 252"/>
                  <a:gd name="T48" fmla="*/ 46 w 283"/>
                  <a:gd name="T49" fmla="*/ 28 h 252"/>
                  <a:gd name="T50" fmla="*/ 47 w 283"/>
                  <a:gd name="T51" fmla="*/ 24 h 252"/>
                  <a:gd name="T52" fmla="*/ 47 w 283"/>
                  <a:gd name="T53" fmla="*/ 19 h 252"/>
                  <a:gd name="T54" fmla="*/ 45 w 283"/>
                  <a:gd name="T55" fmla="*/ 15 h 252"/>
                  <a:gd name="T56" fmla="*/ 42 w 283"/>
                  <a:gd name="T57" fmla="*/ 12 h 252"/>
                  <a:gd name="T58" fmla="*/ 40 w 283"/>
                  <a:gd name="T59" fmla="*/ 10 h 252"/>
                  <a:gd name="T60" fmla="*/ 37 w 283"/>
                  <a:gd name="T61" fmla="*/ 8 h 252"/>
                  <a:gd name="T62" fmla="*/ 34 w 283"/>
                  <a:gd name="T63" fmla="*/ 7 h 252"/>
                  <a:gd name="T64" fmla="*/ 31 w 283"/>
                  <a:gd name="T65" fmla="*/ 5 h 252"/>
                  <a:gd name="T66" fmla="*/ 27 w 283"/>
                  <a:gd name="T67" fmla="*/ 4 h 252"/>
                  <a:gd name="T68" fmla="*/ 24 w 283"/>
                  <a:gd name="T69" fmla="*/ 3 h 252"/>
                  <a:gd name="T70" fmla="*/ 20 w 283"/>
                  <a:gd name="T71" fmla="*/ 2 h 252"/>
                  <a:gd name="T72" fmla="*/ 17 w 283"/>
                  <a:gd name="T73" fmla="*/ 1 h 252"/>
                  <a:gd name="T74" fmla="*/ 14 w 283"/>
                  <a:gd name="T75" fmla="*/ 1 h 252"/>
                  <a:gd name="T76" fmla="*/ 11 w 283"/>
                  <a:gd name="T77" fmla="*/ 0 h 252"/>
                  <a:gd name="T78" fmla="*/ 8 w 283"/>
                  <a:gd name="T79" fmla="*/ 0 h 252"/>
                  <a:gd name="T80" fmla="*/ 6 w 283"/>
                  <a:gd name="T81" fmla="*/ 0 h 252"/>
                  <a:gd name="T82" fmla="*/ 3 w 283"/>
                  <a:gd name="T83" fmla="*/ 0 h 252"/>
                  <a:gd name="T84" fmla="*/ 2 w 283"/>
                  <a:gd name="T85" fmla="*/ 0 h 252"/>
                  <a:gd name="T86" fmla="*/ 1 w 283"/>
                  <a:gd name="T87" fmla="*/ 0 h 252"/>
                  <a:gd name="T88" fmla="*/ 0 w 283"/>
                  <a:gd name="T89" fmla="*/ 1 h 252"/>
                  <a:gd name="T90" fmla="*/ 2 w 283"/>
                  <a:gd name="T91" fmla="*/ 1 h 252"/>
                  <a:gd name="T92" fmla="*/ 4 w 283"/>
                  <a:gd name="T93" fmla="*/ 1 h 252"/>
                  <a:gd name="T94" fmla="*/ 6 w 283"/>
                  <a:gd name="T95" fmla="*/ 2 h 252"/>
                  <a:gd name="T96" fmla="*/ 9 w 283"/>
                  <a:gd name="T97" fmla="*/ 2 h 252"/>
                  <a:gd name="T98" fmla="*/ 11 w 283"/>
                  <a:gd name="T99" fmla="*/ 3 h 252"/>
                  <a:gd name="T100" fmla="*/ 14 w 283"/>
                  <a:gd name="T101" fmla="*/ 3 h 252"/>
                  <a:gd name="T102" fmla="*/ 16 w 283"/>
                  <a:gd name="T103" fmla="*/ 4 h 252"/>
                  <a:gd name="T104" fmla="*/ 19 w 283"/>
                  <a:gd name="T105" fmla="*/ 4 h 252"/>
                  <a:gd name="T106" fmla="*/ 21 w 283"/>
                  <a:gd name="T107" fmla="*/ 5 h 252"/>
                  <a:gd name="T108" fmla="*/ 24 w 283"/>
                  <a:gd name="T109" fmla="*/ 6 h 252"/>
                  <a:gd name="T110" fmla="*/ 27 w 283"/>
                  <a:gd name="T111" fmla="*/ 7 h 252"/>
                  <a:gd name="T112" fmla="*/ 29 w 283"/>
                  <a:gd name="T113" fmla="*/ 8 h 252"/>
                  <a:gd name="T114" fmla="*/ 32 w 283"/>
                  <a:gd name="T115" fmla="*/ 9 h 252"/>
                  <a:gd name="T116" fmla="*/ 35 w 283"/>
                  <a:gd name="T117" fmla="*/ 10 h 252"/>
                  <a:gd name="T118" fmla="*/ 37 w 283"/>
                  <a:gd name="T119" fmla="*/ 11 h 252"/>
                  <a:gd name="T120" fmla="*/ 39 w 283"/>
                  <a:gd name="T121" fmla="*/ 13 h 252"/>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283"/>
                  <a:gd name="T184" fmla="*/ 0 h 252"/>
                  <a:gd name="T185" fmla="*/ 283 w 283"/>
                  <a:gd name="T186" fmla="*/ 252 h 252"/>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283" h="252">
                    <a:moveTo>
                      <a:pt x="235" y="77"/>
                    </a:moveTo>
                    <a:lnTo>
                      <a:pt x="248" y="91"/>
                    </a:lnTo>
                    <a:lnTo>
                      <a:pt x="256" y="107"/>
                    </a:lnTo>
                    <a:lnTo>
                      <a:pt x="259" y="124"/>
                    </a:lnTo>
                    <a:lnTo>
                      <a:pt x="259" y="142"/>
                    </a:lnTo>
                    <a:lnTo>
                      <a:pt x="257" y="157"/>
                    </a:lnTo>
                    <a:lnTo>
                      <a:pt x="252" y="170"/>
                    </a:lnTo>
                    <a:lnTo>
                      <a:pt x="244" y="183"/>
                    </a:lnTo>
                    <a:lnTo>
                      <a:pt x="236" y="193"/>
                    </a:lnTo>
                    <a:lnTo>
                      <a:pt x="225" y="204"/>
                    </a:lnTo>
                    <a:lnTo>
                      <a:pt x="215" y="214"/>
                    </a:lnTo>
                    <a:lnTo>
                      <a:pt x="204" y="224"/>
                    </a:lnTo>
                    <a:lnTo>
                      <a:pt x="194" y="234"/>
                    </a:lnTo>
                    <a:lnTo>
                      <a:pt x="191" y="238"/>
                    </a:lnTo>
                    <a:lnTo>
                      <a:pt x="191" y="241"/>
                    </a:lnTo>
                    <a:lnTo>
                      <a:pt x="191" y="245"/>
                    </a:lnTo>
                    <a:lnTo>
                      <a:pt x="194" y="248"/>
                    </a:lnTo>
                    <a:lnTo>
                      <a:pt x="197" y="250"/>
                    </a:lnTo>
                    <a:lnTo>
                      <a:pt x="202" y="252"/>
                    </a:lnTo>
                    <a:lnTo>
                      <a:pt x="205" y="250"/>
                    </a:lnTo>
                    <a:lnTo>
                      <a:pt x="209" y="248"/>
                    </a:lnTo>
                    <a:lnTo>
                      <a:pt x="232" y="233"/>
                    </a:lnTo>
                    <a:lnTo>
                      <a:pt x="252" y="214"/>
                    </a:lnTo>
                    <a:lnTo>
                      <a:pt x="268" y="192"/>
                    </a:lnTo>
                    <a:lnTo>
                      <a:pt x="278" y="167"/>
                    </a:lnTo>
                    <a:lnTo>
                      <a:pt x="283" y="141"/>
                    </a:lnTo>
                    <a:lnTo>
                      <a:pt x="280" y="115"/>
                    </a:lnTo>
                    <a:lnTo>
                      <a:pt x="271" y="91"/>
                    </a:lnTo>
                    <a:lnTo>
                      <a:pt x="252" y="69"/>
                    </a:lnTo>
                    <a:lnTo>
                      <a:pt x="238" y="57"/>
                    </a:lnTo>
                    <a:lnTo>
                      <a:pt x="222" y="48"/>
                    </a:lnTo>
                    <a:lnTo>
                      <a:pt x="204" y="39"/>
                    </a:lnTo>
                    <a:lnTo>
                      <a:pt x="184" y="31"/>
                    </a:lnTo>
                    <a:lnTo>
                      <a:pt x="164" y="23"/>
                    </a:lnTo>
                    <a:lnTo>
                      <a:pt x="144" y="17"/>
                    </a:lnTo>
                    <a:lnTo>
                      <a:pt x="123" y="13"/>
                    </a:lnTo>
                    <a:lnTo>
                      <a:pt x="103" y="8"/>
                    </a:lnTo>
                    <a:lnTo>
                      <a:pt x="83" y="5"/>
                    </a:lnTo>
                    <a:lnTo>
                      <a:pt x="66" y="2"/>
                    </a:lnTo>
                    <a:lnTo>
                      <a:pt x="48" y="0"/>
                    </a:lnTo>
                    <a:lnTo>
                      <a:pt x="34" y="0"/>
                    </a:lnTo>
                    <a:lnTo>
                      <a:pt x="21" y="0"/>
                    </a:lnTo>
                    <a:lnTo>
                      <a:pt x="11" y="0"/>
                    </a:lnTo>
                    <a:lnTo>
                      <a:pt x="4" y="2"/>
                    </a:lnTo>
                    <a:lnTo>
                      <a:pt x="0" y="5"/>
                    </a:lnTo>
                    <a:lnTo>
                      <a:pt x="12" y="7"/>
                    </a:lnTo>
                    <a:lnTo>
                      <a:pt x="24" y="8"/>
                    </a:lnTo>
                    <a:lnTo>
                      <a:pt x="38" y="10"/>
                    </a:lnTo>
                    <a:lnTo>
                      <a:pt x="52" y="13"/>
                    </a:lnTo>
                    <a:lnTo>
                      <a:pt x="66" y="16"/>
                    </a:lnTo>
                    <a:lnTo>
                      <a:pt x="82" y="18"/>
                    </a:lnTo>
                    <a:lnTo>
                      <a:pt x="98" y="22"/>
                    </a:lnTo>
                    <a:lnTo>
                      <a:pt x="114" y="25"/>
                    </a:lnTo>
                    <a:lnTo>
                      <a:pt x="129" y="30"/>
                    </a:lnTo>
                    <a:lnTo>
                      <a:pt x="146" y="34"/>
                    </a:lnTo>
                    <a:lnTo>
                      <a:pt x="162" y="39"/>
                    </a:lnTo>
                    <a:lnTo>
                      <a:pt x="177" y="45"/>
                    </a:lnTo>
                    <a:lnTo>
                      <a:pt x="193" y="52"/>
                    </a:lnTo>
                    <a:lnTo>
                      <a:pt x="208" y="60"/>
                    </a:lnTo>
                    <a:lnTo>
                      <a:pt x="222" y="68"/>
                    </a:lnTo>
                    <a:lnTo>
                      <a:pt x="235" y="77"/>
                    </a:lnTo>
                    <a:close/>
                  </a:path>
                </a:pathLst>
              </a:custGeom>
              <a:solidFill>
                <a:srgbClr val="C9E8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de-DE"/>
              </a:p>
            </p:txBody>
          </p:sp>
          <p:sp>
            <p:nvSpPr>
              <p:cNvPr id="108" name="Freeform 544"/>
              <p:cNvSpPr>
                <a:spLocks/>
              </p:cNvSpPr>
              <p:nvPr/>
            </p:nvSpPr>
            <p:spPr bwMode="auto">
              <a:xfrm>
                <a:off x="2564" y="2712"/>
                <a:ext cx="19" cy="39"/>
              </a:xfrm>
              <a:custGeom>
                <a:avLst/>
                <a:gdLst>
                  <a:gd name="T0" fmla="*/ 0 w 114"/>
                  <a:gd name="T1" fmla="*/ 21 h 238"/>
                  <a:gd name="T2" fmla="*/ 0 w 114"/>
                  <a:gd name="T3" fmla="*/ 24 h 238"/>
                  <a:gd name="T4" fmla="*/ 1 w 114"/>
                  <a:gd name="T5" fmla="*/ 28 h 238"/>
                  <a:gd name="T6" fmla="*/ 2 w 114"/>
                  <a:gd name="T7" fmla="*/ 30 h 238"/>
                  <a:gd name="T8" fmla="*/ 4 w 114"/>
                  <a:gd name="T9" fmla="*/ 33 h 238"/>
                  <a:gd name="T10" fmla="*/ 6 w 114"/>
                  <a:gd name="T11" fmla="*/ 35 h 238"/>
                  <a:gd name="T12" fmla="*/ 9 w 114"/>
                  <a:gd name="T13" fmla="*/ 37 h 238"/>
                  <a:gd name="T14" fmla="*/ 12 w 114"/>
                  <a:gd name="T15" fmla="*/ 38 h 238"/>
                  <a:gd name="T16" fmla="*/ 15 w 114"/>
                  <a:gd name="T17" fmla="*/ 39 h 238"/>
                  <a:gd name="T18" fmla="*/ 16 w 114"/>
                  <a:gd name="T19" fmla="*/ 39 h 238"/>
                  <a:gd name="T20" fmla="*/ 17 w 114"/>
                  <a:gd name="T21" fmla="*/ 39 h 238"/>
                  <a:gd name="T22" fmla="*/ 18 w 114"/>
                  <a:gd name="T23" fmla="*/ 38 h 238"/>
                  <a:gd name="T24" fmla="*/ 19 w 114"/>
                  <a:gd name="T25" fmla="*/ 37 h 238"/>
                  <a:gd name="T26" fmla="*/ 19 w 114"/>
                  <a:gd name="T27" fmla="*/ 36 h 238"/>
                  <a:gd name="T28" fmla="*/ 18 w 114"/>
                  <a:gd name="T29" fmla="*/ 35 h 238"/>
                  <a:gd name="T30" fmla="*/ 18 w 114"/>
                  <a:gd name="T31" fmla="*/ 35 h 238"/>
                  <a:gd name="T32" fmla="*/ 17 w 114"/>
                  <a:gd name="T33" fmla="*/ 34 h 238"/>
                  <a:gd name="T34" fmla="*/ 14 w 114"/>
                  <a:gd name="T35" fmla="*/ 33 h 238"/>
                  <a:gd name="T36" fmla="*/ 11 w 114"/>
                  <a:gd name="T37" fmla="*/ 32 h 238"/>
                  <a:gd name="T38" fmla="*/ 8 w 114"/>
                  <a:gd name="T39" fmla="*/ 29 h 238"/>
                  <a:gd name="T40" fmla="*/ 7 w 114"/>
                  <a:gd name="T41" fmla="*/ 27 h 238"/>
                  <a:gd name="T42" fmla="*/ 5 w 114"/>
                  <a:gd name="T43" fmla="*/ 24 h 238"/>
                  <a:gd name="T44" fmla="*/ 5 w 114"/>
                  <a:gd name="T45" fmla="*/ 21 h 238"/>
                  <a:gd name="T46" fmla="*/ 5 w 114"/>
                  <a:gd name="T47" fmla="*/ 18 h 238"/>
                  <a:gd name="T48" fmla="*/ 6 w 114"/>
                  <a:gd name="T49" fmla="*/ 15 h 238"/>
                  <a:gd name="T50" fmla="*/ 7 w 114"/>
                  <a:gd name="T51" fmla="*/ 12 h 238"/>
                  <a:gd name="T52" fmla="*/ 9 w 114"/>
                  <a:gd name="T53" fmla="*/ 10 h 238"/>
                  <a:gd name="T54" fmla="*/ 10 w 114"/>
                  <a:gd name="T55" fmla="*/ 8 h 238"/>
                  <a:gd name="T56" fmla="*/ 12 w 114"/>
                  <a:gd name="T57" fmla="*/ 6 h 238"/>
                  <a:gd name="T58" fmla="*/ 14 w 114"/>
                  <a:gd name="T59" fmla="*/ 5 h 238"/>
                  <a:gd name="T60" fmla="*/ 16 w 114"/>
                  <a:gd name="T61" fmla="*/ 3 h 238"/>
                  <a:gd name="T62" fmla="*/ 18 w 114"/>
                  <a:gd name="T63" fmla="*/ 1 h 238"/>
                  <a:gd name="T64" fmla="*/ 19 w 114"/>
                  <a:gd name="T65" fmla="*/ 0 h 238"/>
                  <a:gd name="T66" fmla="*/ 18 w 114"/>
                  <a:gd name="T67" fmla="*/ 0 h 238"/>
                  <a:gd name="T68" fmla="*/ 16 w 114"/>
                  <a:gd name="T69" fmla="*/ 1 h 238"/>
                  <a:gd name="T70" fmla="*/ 13 w 114"/>
                  <a:gd name="T71" fmla="*/ 3 h 238"/>
                  <a:gd name="T72" fmla="*/ 9 w 114"/>
                  <a:gd name="T73" fmla="*/ 6 h 238"/>
                  <a:gd name="T74" fmla="*/ 6 w 114"/>
                  <a:gd name="T75" fmla="*/ 9 h 238"/>
                  <a:gd name="T76" fmla="*/ 3 w 114"/>
                  <a:gd name="T77" fmla="*/ 13 h 238"/>
                  <a:gd name="T78" fmla="*/ 1 w 114"/>
                  <a:gd name="T79" fmla="*/ 17 h 238"/>
                  <a:gd name="T80" fmla="*/ 0 w 114"/>
                  <a:gd name="T81" fmla="*/ 21 h 238"/>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114"/>
                  <a:gd name="T124" fmla="*/ 0 h 238"/>
                  <a:gd name="T125" fmla="*/ 114 w 114"/>
                  <a:gd name="T126" fmla="*/ 238 h 238"/>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114" h="238">
                    <a:moveTo>
                      <a:pt x="0" y="130"/>
                    </a:moveTo>
                    <a:lnTo>
                      <a:pt x="0" y="149"/>
                    </a:lnTo>
                    <a:lnTo>
                      <a:pt x="4" y="168"/>
                    </a:lnTo>
                    <a:lnTo>
                      <a:pt x="12" y="185"/>
                    </a:lnTo>
                    <a:lnTo>
                      <a:pt x="24" y="200"/>
                    </a:lnTo>
                    <a:lnTo>
                      <a:pt x="38" y="213"/>
                    </a:lnTo>
                    <a:lnTo>
                      <a:pt x="55" y="224"/>
                    </a:lnTo>
                    <a:lnTo>
                      <a:pt x="73" y="232"/>
                    </a:lnTo>
                    <a:lnTo>
                      <a:pt x="92" y="237"/>
                    </a:lnTo>
                    <a:lnTo>
                      <a:pt x="98" y="238"/>
                    </a:lnTo>
                    <a:lnTo>
                      <a:pt x="104" y="235"/>
                    </a:lnTo>
                    <a:lnTo>
                      <a:pt x="109" y="232"/>
                    </a:lnTo>
                    <a:lnTo>
                      <a:pt x="111" y="227"/>
                    </a:lnTo>
                    <a:lnTo>
                      <a:pt x="111" y="222"/>
                    </a:lnTo>
                    <a:lnTo>
                      <a:pt x="110" y="216"/>
                    </a:lnTo>
                    <a:lnTo>
                      <a:pt x="106" y="211"/>
                    </a:lnTo>
                    <a:lnTo>
                      <a:pt x="100" y="209"/>
                    </a:lnTo>
                    <a:lnTo>
                      <a:pt x="82" y="202"/>
                    </a:lnTo>
                    <a:lnTo>
                      <a:pt x="64" y="193"/>
                    </a:lnTo>
                    <a:lnTo>
                      <a:pt x="50" y="180"/>
                    </a:lnTo>
                    <a:lnTo>
                      <a:pt x="39" y="167"/>
                    </a:lnTo>
                    <a:lnTo>
                      <a:pt x="32" y="149"/>
                    </a:lnTo>
                    <a:lnTo>
                      <a:pt x="29" y="131"/>
                    </a:lnTo>
                    <a:lnTo>
                      <a:pt x="29" y="111"/>
                    </a:lnTo>
                    <a:lnTo>
                      <a:pt x="35" y="91"/>
                    </a:lnTo>
                    <a:lnTo>
                      <a:pt x="42" y="76"/>
                    </a:lnTo>
                    <a:lnTo>
                      <a:pt x="51" y="62"/>
                    </a:lnTo>
                    <a:lnTo>
                      <a:pt x="62" y="49"/>
                    </a:lnTo>
                    <a:lnTo>
                      <a:pt x="73" y="38"/>
                    </a:lnTo>
                    <a:lnTo>
                      <a:pt x="84" y="28"/>
                    </a:lnTo>
                    <a:lnTo>
                      <a:pt x="96" y="18"/>
                    </a:lnTo>
                    <a:lnTo>
                      <a:pt x="106" y="9"/>
                    </a:lnTo>
                    <a:lnTo>
                      <a:pt x="114" y="1"/>
                    </a:lnTo>
                    <a:lnTo>
                      <a:pt x="106" y="0"/>
                    </a:lnTo>
                    <a:lnTo>
                      <a:pt x="93" y="6"/>
                    </a:lnTo>
                    <a:lnTo>
                      <a:pt x="76" y="18"/>
                    </a:lnTo>
                    <a:lnTo>
                      <a:pt x="56" y="36"/>
                    </a:lnTo>
                    <a:lnTo>
                      <a:pt x="37" y="57"/>
                    </a:lnTo>
                    <a:lnTo>
                      <a:pt x="20" y="80"/>
                    </a:lnTo>
                    <a:lnTo>
                      <a:pt x="7" y="106"/>
                    </a:lnTo>
                    <a:lnTo>
                      <a:pt x="0" y="130"/>
                    </a:lnTo>
                    <a:close/>
                  </a:path>
                </a:pathLst>
              </a:custGeom>
              <a:solidFill>
                <a:srgbClr val="C9E8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de-DE"/>
              </a:p>
            </p:txBody>
          </p:sp>
          <p:sp>
            <p:nvSpPr>
              <p:cNvPr id="109" name="Freeform 545"/>
              <p:cNvSpPr>
                <a:spLocks/>
              </p:cNvSpPr>
              <p:nvPr/>
            </p:nvSpPr>
            <p:spPr bwMode="auto">
              <a:xfrm>
                <a:off x="2698" y="2689"/>
                <a:ext cx="41" cy="52"/>
              </a:xfrm>
              <a:custGeom>
                <a:avLst/>
                <a:gdLst>
                  <a:gd name="T0" fmla="*/ 35 w 246"/>
                  <a:gd name="T1" fmla="*/ 21 h 310"/>
                  <a:gd name="T2" fmla="*/ 37 w 246"/>
                  <a:gd name="T3" fmla="*/ 24 h 310"/>
                  <a:gd name="T4" fmla="*/ 38 w 246"/>
                  <a:gd name="T5" fmla="*/ 28 h 310"/>
                  <a:gd name="T6" fmla="*/ 37 w 246"/>
                  <a:gd name="T7" fmla="*/ 31 h 310"/>
                  <a:gd name="T8" fmla="*/ 35 w 246"/>
                  <a:gd name="T9" fmla="*/ 35 h 310"/>
                  <a:gd name="T10" fmla="*/ 31 w 246"/>
                  <a:gd name="T11" fmla="*/ 38 h 310"/>
                  <a:gd name="T12" fmla="*/ 28 w 246"/>
                  <a:gd name="T13" fmla="*/ 41 h 310"/>
                  <a:gd name="T14" fmla="*/ 24 w 246"/>
                  <a:gd name="T15" fmla="*/ 44 h 310"/>
                  <a:gd name="T16" fmla="*/ 22 w 246"/>
                  <a:gd name="T17" fmla="*/ 47 h 310"/>
                  <a:gd name="T18" fmla="*/ 21 w 246"/>
                  <a:gd name="T19" fmla="*/ 48 h 310"/>
                  <a:gd name="T20" fmla="*/ 20 w 246"/>
                  <a:gd name="T21" fmla="*/ 50 h 310"/>
                  <a:gd name="T22" fmla="*/ 20 w 246"/>
                  <a:gd name="T23" fmla="*/ 51 h 310"/>
                  <a:gd name="T24" fmla="*/ 22 w 246"/>
                  <a:gd name="T25" fmla="*/ 52 h 310"/>
                  <a:gd name="T26" fmla="*/ 23 w 246"/>
                  <a:gd name="T27" fmla="*/ 52 h 310"/>
                  <a:gd name="T28" fmla="*/ 26 w 246"/>
                  <a:gd name="T29" fmla="*/ 49 h 310"/>
                  <a:gd name="T30" fmla="*/ 30 w 246"/>
                  <a:gd name="T31" fmla="*/ 45 h 310"/>
                  <a:gd name="T32" fmla="*/ 35 w 246"/>
                  <a:gd name="T33" fmla="*/ 41 h 310"/>
                  <a:gd name="T34" fmla="*/ 39 w 246"/>
                  <a:gd name="T35" fmla="*/ 37 h 310"/>
                  <a:gd name="T36" fmla="*/ 41 w 246"/>
                  <a:gd name="T37" fmla="*/ 31 h 310"/>
                  <a:gd name="T38" fmla="*/ 40 w 246"/>
                  <a:gd name="T39" fmla="*/ 26 h 310"/>
                  <a:gd name="T40" fmla="*/ 38 w 246"/>
                  <a:gd name="T41" fmla="*/ 20 h 310"/>
                  <a:gd name="T42" fmla="*/ 34 w 246"/>
                  <a:gd name="T43" fmla="*/ 16 h 310"/>
                  <a:gd name="T44" fmla="*/ 30 w 246"/>
                  <a:gd name="T45" fmla="*/ 12 h 310"/>
                  <a:gd name="T46" fmla="*/ 25 w 246"/>
                  <a:gd name="T47" fmla="*/ 10 h 310"/>
                  <a:gd name="T48" fmla="*/ 21 w 246"/>
                  <a:gd name="T49" fmla="*/ 7 h 310"/>
                  <a:gd name="T50" fmla="*/ 16 w 246"/>
                  <a:gd name="T51" fmla="*/ 5 h 310"/>
                  <a:gd name="T52" fmla="*/ 12 w 246"/>
                  <a:gd name="T53" fmla="*/ 3 h 310"/>
                  <a:gd name="T54" fmla="*/ 8 w 246"/>
                  <a:gd name="T55" fmla="*/ 1 h 310"/>
                  <a:gd name="T56" fmla="*/ 4 w 246"/>
                  <a:gd name="T57" fmla="*/ 0 h 310"/>
                  <a:gd name="T58" fmla="*/ 1 w 246"/>
                  <a:gd name="T59" fmla="*/ 0 h 310"/>
                  <a:gd name="T60" fmla="*/ 1 w 246"/>
                  <a:gd name="T61" fmla="*/ 1 h 310"/>
                  <a:gd name="T62" fmla="*/ 5 w 246"/>
                  <a:gd name="T63" fmla="*/ 2 h 310"/>
                  <a:gd name="T64" fmla="*/ 9 w 246"/>
                  <a:gd name="T65" fmla="*/ 4 h 310"/>
                  <a:gd name="T66" fmla="*/ 13 w 246"/>
                  <a:gd name="T67" fmla="*/ 6 h 310"/>
                  <a:gd name="T68" fmla="*/ 18 w 246"/>
                  <a:gd name="T69" fmla="*/ 9 h 310"/>
                  <a:gd name="T70" fmla="*/ 22 w 246"/>
                  <a:gd name="T71" fmla="*/ 12 h 310"/>
                  <a:gd name="T72" fmla="*/ 27 w 246"/>
                  <a:gd name="T73" fmla="*/ 15 h 310"/>
                  <a:gd name="T74" fmla="*/ 31 w 246"/>
                  <a:gd name="T75" fmla="*/ 18 h 310"/>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246"/>
                  <a:gd name="T115" fmla="*/ 0 h 310"/>
                  <a:gd name="T116" fmla="*/ 246 w 246"/>
                  <a:gd name="T117" fmla="*/ 310 h 310"/>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246" h="310">
                    <a:moveTo>
                      <a:pt x="199" y="116"/>
                    </a:moveTo>
                    <a:lnTo>
                      <a:pt x="207" y="124"/>
                    </a:lnTo>
                    <a:lnTo>
                      <a:pt x="214" y="133"/>
                    </a:lnTo>
                    <a:lnTo>
                      <a:pt x="219" y="143"/>
                    </a:lnTo>
                    <a:lnTo>
                      <a:pt x="223" y="154"/>
                    </a:lnTo>
                    <a:lnTo>
                      <a:pt x="225" y="164"/>
                    </a:lnTo>
                    <a:lnTo>
                      <a:pt x="225" y="176"/>
                    </a:lnTo>
                    <a:lnTo>
                      <a:pt x="221" y="187"/>
                    </a:lnTo>
                    <a:lnTo>
                      <a:pt x="216" y="197"/>
                    </a:lnTo>
                    <a:lnTo>
                      <a:pt x="208" y="209"/>
                    </a:lnTo>
                    <a:lnTo>
                      <a:pt x="199" y="219"/>
                    </a:lnTo>
                    <a:lnTo>
                      <a:pt x="188" y="228"/>
                    </a:lnTo>
                    <a:lnTo>
                      <a:pt x="177" y="238"/>
                    </a:lnTo>
                    <a:lnTo>
                      <a:pt x="166" y="246"/>
                    </a:lnTo>
                    <a:lnTo>
                      <a:pt x="154" y="255"/>
                    </a:lnTo>
                    <a:lnTo>
                      <a:pt x="143" y="264"/>
                    </a:lnTo>
                    <a:lnTo>
                      <a:pt x="132" y="274"/>
                    </a:lnTo>
                    <a:lnTo>
                      <a:pt x="129" y="278"/>
                    </a:lnTo>
                    <a:lnTo>
                      <a:pt x="126" y="282"/>
                    </a:lnTo>
                    <a:lnTo>
                      <a:pt x="124" y="287"/>
                    </a:lnTo>
                    <a:lnTo>
                      <a:pt x="121" y="292"/>
                    </a:lnTo>
                    <a:lnTo>
                      <a:pt x="120" y="296"/>
                    </a:lnTo>
                    <a:lnTo>
                      <a:pt x="120" y="301"/>
                    </a:lnTo>
                    <a:lnTo>
                      <a:pt x="121" y="305"/>
                    </a:lnTo>
                    <a:lnTo>
                      <a:pt x="125" y="309"/>
                    </a:lnTo>
                    <a:lnTo>
                      <a:pt x="130" y="310"/>
                    </a:lnTo>
                    <a:lnTo>
                      <a:pt x="134" y="310"/>
                    </a:lnTo>
                    <a:lnTo>
                      <a:pt x="139" y="309"/>
                    </a:lnTo>
                    <a:lnTo>
                      <a:pt x="143" y="305"/>
                    </a:lnTo>
                    <a:lnTo>
                      <a:pt x="154" y="293"/>
                    </a:lnTo>
                    <a:lnTo>
                      <a:pt x="167" y="280"/>
                    </a:lnTo>
                    <a:lnTo>
                      <a:pt x="180" y="269"/>
                    </a:lnTo>
                    <a:lnTo>
                      <a:pt x="194" y="257"/>
                    </a:lnTo>
                    <a:lnTo>
                      <a:pt x="207" y="246"/>
                    </a:lnTo>
                    <a:lnTo>
                      <a:pt x="219" y="233"/>
                    </a:lnTo>
                    <a:lnTo>
                      <a:pt x="231" y="219"/>
                    </a:lnTo>
                    <a:lnTo>
                      <a:pt x="239" y="204"/>
                    </a:lnTo>
                    <a:lnTo>
                      <a:pt x="245" y="187"/>
                    </a:lnTo>
                    <a:lnTo>
                      <a:pt x="246" y="170"/>
                    </a:lnTo>
                    <a:lnTo>
                      <a:pt x="242" y="153"/>
                    </a:lnTo>
                    <a:lnTo>
                      <a:pt x="236" y="136"/>
                    </a:lnTo>
                    <a:lnTo>
                      <a:pt x="227" y="120"/>
                    </a:lnTo>
                    <a:lnTo>
                      <a:pt x="215" y="107"/>
                    </a:lnTo>
                    <a:lnTo>
                      <a:pt x="201" y="94"/>
                    </a:lnTo>
                    <a:lnTo>
                      <a:pt x="187" y="82"/>
                    </a:lnTo>
                    <a:lnTo>
                      <a:pt x="177" y="74"/>
                    </a:lnTo>
                    <a:lnTo>
                      <a:pt x="165" y="68"/>
                    </a:lnTo>
                    <a:lnTo>
                      <a:pt x="152" y="60"/>
                    </a:lnTo>
                    <a:lnTo>
                      <a:pt x="139" y="51"/>
                    </a:lnTo>
                    <a:lnTo>
                      <a:pt x="126" y="43"/>
                    </a:lnTo>
                    <a:lnTo>
                      <a:pt x="112" y="35"/>
                    </a:lnTo>
                    <a:lnTo>
                      <a:pt x="98" y="28"/>
                    </a:lnTo>
                    <a:lnTo>
                      <a:pt x="85" y="22"/>
                    </a:lnTo>
                    <a:lnTo>
                      <a:pt x="72" y="16"/>
                    </a:lnTo>
                    <a:lnTo>
                      <a:pt x="59" y="10"/>
                    </a:lnTo>
                    <a:lnTo>
                      <a:pt x="46" y="7"/>
                    </a:lnTo>
                    <a:lnTo>
                      <a:pt x="35" y="3"/>
                    </a:lnTo>
                    <a:lnTo>
                      <a:pt x="24" y="1"/>
                    </a:lnTo>
                    <a:lnTo>
                      <a:pt x="15" y="0"/>
                    </a:lnTo>
                    <a:lnTo>
                      <a:pt x="7" y="1"/>
                    </a:lnTo>
                    <a:lnTo>
                      <a:pt x="0" y="3"/>
                    </a:lnTo>
                    <a:lnTo>
                      <a:pt x="8" y="6"/>
                    </a:lnTo>
                    <a:lnTo>
                      <a:pt x="17" y="9"/>
                    </a:lnTo>
                    <a:lnTo>
                      <a:pt x="28" y="14"/>
                    </a:lnTo>
                    <a:lnTo>
                      <a:pt x="38" y="18"/>
                    </a:lnTo>
                    <a:lnTo>
                      <a:pt x="51" y="24"/>
                    </a:lnTo>
                    <a:lnTo>
                      <a:pt x="64" y="30"/>
                    </a:lnTo>
                    <a:lnTo>
                      <a:pt x="78" y="37"/>
                    </a:lnTo>
                    <a:lnTo>
                      <a:pt x="92" y="43"/>
                    </a:lnTo>
                    <a:lnTo>
                      <a:pt x="106" y="51"/>
                    </a:lnTo>
                    <a:lnTo>
                      <a:pt x="120" y="60"/>
                    </a:lnTo>
                    <a:lnTo>
                      <a:pt x="134" y="69"/>
                    </a:lnTo>
                    <a:lnTo>
                      <a:pt x="148" y="78"/>
                    </a:lnTo>
                    <a:lnTo>
                      <a:pt x="163" y="87"/>
                    </a:lnTo>
                    <a:lnTo>
                      <a:pt x="175" y="96"/>
                    </a:lnTo>
                    <a:lnTo>
                      <a:pt x="187" y="105"/>
                    </a:lnTo>
                    <a:lnTo>
                      <a:pt x="199" y="116"/>
                    </a:lnTo>
                    <a:close/>
                  </a:path>
                </a:pathLst>
              </a:custGeom>
              <a:solidFill>
                <a:srgbClr val="C9E8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de-DE"/>
              </a:p>
            </p:txBody>
          </p:sp>
          <p:sp>
            <p:nvSpPr>
              <p:cNvPr id="110" name="Freeform 546"/>
              <p:cNvSpPr>
                <a:spLocks/>
              </p:cNvSpPr>
              <p:nvPr/>
            </p:nvSpPr>
            <p:spPr bwMode="auto">
              <a:xfrm>
                <a:off x="2653" y="2750"/>
                <a:ext cx="14" cy="31"/>
              </a:xfrm>
              <a:custGeom>
                <a:avLst/>
                <a:gdLst>
                  <a:gd name="T0" fmla="*/ 5 w 83"/>
                  <a:gd name="T1" fmla="*/ 2 h 187"/>
                  <a:gd name="T2" fmla="*/ 5 w 83"/>
                  <a:gd name="T3" fmla="*/ 1 h 187"/>
                  <a:gd name="T4" fmla="*/ 4 w 83"/>
                  <a:gd name="T5" fmla="*/ 0 h 187"/>
                  <a:gd name="T6" fmla="*/ 3 w 83"/>
                  <a:gd name="T7" fmla="*/ 0 h 187"/>
                  <a:gd name="T8" fmla="*/ 2 w 83"/>
                  <a:gd name="T9" fmla="*/ 0 h 187"/>
                  <a:gd name="T10" fmla="*/ 1 w 83"/>
                  <a:gd name="T11" fmla="*/ 0 h 187"/>
                  <a:gd name="T12" fmla="*/ 1 w 83"/>
                  <a:gd name="T13" fmla="*/ 1 h 187"/>
                  <a:gd name="T14" fmla="*/ 0 w 83"/>
                  <a:gd name="T15" fmla="*/ 2 h 187"/>
                  <a:gd name="T16" fmla="*/ 0 w 83"/>
                  <a:gd name="T17" fmla="*/ 3 h 187"/>
                  <a:gd name="T18" fmla="*/ 1 w 83"/>
                  <a:gd name="T19" fmla="*/ 7 h 187"/>
                  <a:gd name="T20" fmla="*/ 3 w 83"/>
                  <a:gd name="T21" fmla="*/ 12 h 187"/>
                  <a:gd name="T22" fmla="*/ 5 w 83"/>
                  <a:gd name="T23" fmla="*/ 17 h 187"/>
                  <a:gd name="T24" fmla="*/ 7 w 83"/>
                  <a:gd name="T25" fmla="*/ 21 h 187"/>
                  <a:gd name="T26" fmla="*/ 9 w 83"/>
                  <a:gd name="T27" fmla="*/ 25 h 187"/>
                  <a:gd name="T28" fmla="*/ 11 w 83"/>
                  <a:gd name="T29" fmla="*/ 28 h 187"/>
                  <a:gd name="T30" fmla="*/ 13 w 83"/>
                  <a:gd name="T31" fmla="*/ 31 h 187"/>
                  <a:gd name="T32" fmla="*/ 14 w 83"/>
                  <a:gd name="T33" fmla="*/ 31 h 187"/>
                  <a:gd name="T34" fmla="*/ 13 w 83"/>
                  <a:gd name="T35" fmla="*/ 29 h 187"/>
                  <a:gd name="T36" fmla="*/ 13 w 83"/>
                  <a:gd name="T37" fmla="*/ 26 h 187"/>
                  <a:gd name="T38" fmla="*/ 11 w 83"/>
                  <a:gd name="T39" fmla="*/ 23 h 187"/>
                  <a:gd name="T40" fmla="*/ 10 w 83"/>
                  <a:gd name="T41" fmla="*/ 19 h 187"/>
                  <a:gd name="T42" fmla="*/ 9 w 83"/>
                  <a:gd name="T43" fmla="*/ 15 h 187"/>
                  <a:gd name="T44" fmla="*/ 7 w 83"/>
                  <a:gd name="T45" fmla="*/ 10 h 187"/>
                  <a:gd name="T46" fmla="*/ 6 w 83"/>
                  <a:gd name="T47" fmla="*/ 6 h 187"/>
                  <a:gd name="T48" fmla="*/ 5 w 83"/>
                  <a:gd name="T49" fmla="*/ 2 h 187"/>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83"/>
                  <a:gd name="T76" fmla="*/ 0 h 187"/>
                  <a:gd name="T77" fmla="*/ 83 w 83"/>
                  <a:gd name="T78" fmla="*/ 187 h 187"/>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83" h="187">
                    <a:moveTo>
                      <a:pt x="31" y="14"/>
                    </a:moveTo>
                    <a:lnTo>
                      <a:pt x="29" y="8"/>
                    </a:lnTo>
                    <a:lnTo>
                      <a:pt x="25" y="3"/>
                    </a:lnTo>
                    <a:lnTo>
                      <a:pt x="19" y="1"/>
                    </a:lnTo>
                    <a:lnTo>
                      <a:pt x="14" y="0"/>
                    </a:lnTo>
                    <a:lnTo>
                      <a:pt x="8" y="2"/>
                    </a:lnTo>
                    <a:lnTo>
                      <a:pt x="3" y="5"/>
                    </a:lnTo>
                    <a:lnTo>
                      <a:pt x="0" y="11"/>
                    </a:lnTo>
                    <a:lnTo>
                      <a:pt x="0" y="17"/>
                    </a:lnTo>
                    <a:lnTo>
                      <a:pt x="5" y="42"/>
                    </a:lnTo>
                    <a:lnTo>
                      <a:pt x="15" y="71"/>
                    </a:lnTo>
                    <a:lnTo>
                      <a:pt x="27" y="100"/>
                    </a:lnTo>
                    <a:lnTo>
                      <a:pt x="41" y="127"/>
                    </a:lnTo>
                    <a:lnTo>
                      <a:pt x="55" y="151"/>
                    </a:lnTo>
                    <a:lnTo>
                      <a:pt x="68" y="171"/>
                    </a:lnTo>
                    <a:lnTo>
                      <a:pt x="77" y="184"/>
                    </a:lnTo>
                    <a:lnTo>
                      <a:pt x="83" y="187"/>
                    </a:lnTo>
                    <a:lnTo>
                      <a:pt x="80" y="174"/>
                    </a:lnTo>
                    <a:lnTo>
                      <a:pt x="75" y="158"/>
                    </a:lnTo>
                    <a:lnTo>
                      <a:pt x="68" y="138"/>
                    </a:lnTo>
                    <a:lnTo>
                      <a:pt x="59" y="113"/>
                    </a:lnTo>
                    <a:lnTo>
                      <a:pt x="51" y="88"/>
                    </a:lnTo>
                    <a:lnTo>
                      <a:pt x="43" y="63"/>
                    </a:lnTo>
                    <a:lnTo>
                      <a:pt x="36" y="38"/>
                    </a:lnTo>
                    <a:lnTo>
                      <a:pt x="31" y="1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de-DE"/>
              </a:p>
            </p:txBody>
          </p:sp>
          <p:sp>
            <p:nvSpPr>
              <p:cNvPr id="111" name="Freeform 547"/>
              <p:cNvSpPr>
                <a:spLocks/>
              </p:cNvSpPr>
              <p:nvPr/>
            </p:nvSpPr>
            <p:spPr bwMode="auto">
              <a:xfrm>
                <a:off x="2647" y="2733"/>
                <a:ext cx="7" cy="16"/>
              </a:xfrm>
              <a:custGeom>
                <a:avLst/>
                <a:gdLst>
                  <a:gd name="T0" fmla="*/ 4 w 44"/>
                  <a:gd name="T1" fmla="*/ 2 h 94"/>
                  <a:gd name="T2" fmla="*/ 3 w 44"/>
                  <a:gd name="T3" fmla="*/ 1 h 94"/>
                  <a:gd name="T4" fmla="*/ 3 w 44"/>
                  <a:gd name="T5" fmla="*/ 0 h 94"/>
                  <a:gd name="T6" fmla="*/ 2 w 44"/>
                  <a:gd name="T7" fmla="*/ 0 h 94"/>
                  <a:gd name="T8" fmla="*/ 2 w 44"/>
                  <a:gd name="T9" fmla="*/ 0 h 94"/>
                  <a:gd name="T10" fmla="*/ 1 w 44"/>
                  <a:gd name="T11" fmla="*/ 0 h 94"/>
                  <a:gd name="T12" fmla="*/ 0 w 44"/>
                  <a:gd name="T13" fmla="*/ 1 h 94"/>
                  <a:gd name="T14" fmla="*/ 0 w 44"/>
                  <a:gd name="T15" fmla="*/ 1 h 94"/>
                  <a:gd name="T16" fmla="*/ 0 w 44"/>
                  <a:gd name="T17" fmla="*/ 2 h 94"/>
                  <a:gd name="T18" fmla="*/ 0 w 44"/>
                  <a:gd name="T19" fmla="*/ 4 h 94"/>
                  <a:gd name="T20" fmla="*/ 1 w 44"/>
                  <a:gd name="T21" fmla="*/ 6 h 94"/>
                  <a:gd name="T22" fmla="*/ 1 w 44"/>
                  <a:gd name="T23" fmla="*/ 9 h 94"/>
                  <a:gd name="T24" fmla="*/ 2 w 44"/>
                  <a:gd name="T25" fmla="*/ 11 h 94"/>
                  <a:gd name="T26" fmla="*/ 3 w 44"/>
                  <a:gd name="T27" fmla="*/ 13 h 94"/>
                  <a:gd name="T28" fmla="*/ 4 w 44"/>
                  <a:gd name="T29" fmla="*/ 15 h 94"/>
                  <a:gd name="T30" fmla="*/ 6 w 44"/>
                  <a:gd name="T31" fmla="*/ 16 h 94"/>
                  <a:gd name="T32" fmla="*/ 7 w 44"/>
                  <a:gd name="T33" fmla="*/ 16 h 94"/>
                  <a:gd name="T34" fmla="*/ 7 w 44"/>
                  <a:gd name="T35" fmla="*/ 13 h 94"/>
                  <a:gd name="T36" fmla="*/ 6 w 44"/>
                  <a:gd name="T37" fmla="*/ 9 h 94"/>
                  <a:gd name="T38" fmla="*/ 5 w 44"/>
                  <a:gd name="T39" fmla="*/ 5 h 94"/>
                  <a:gd name="T40" fmla="*/ 4 w 44"/>
                  <a:gd name="T41" fmla="*/ 2 h 94"/>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44"/>
                  <a:gd name="T64" fmla="*/ 0 h 94"/>
                  <a:gd name="T65" fmla="*/ 44 w 44"/>
                  <a:gd name="T66" fmla="*/ 94 h 94"/>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44" h="94">
                    <a:moveTo>
                      <a:pt x="22" y="10"/>
                    </a:moveTo>
                    <a:lnTo>
                      <a:pt x="21" y="6"/>
                    </a:lnTo>
                    <a:lnTo>
                      <a:pt x="18" y="2"/>
                    </a:lnTo>
                    <a:lnTo>
                      <a:pt x="14" y="0"/>
                    </a:lnTo>
                    <a:lnTo>
                      <a:pt x="10" y="0"/>
                    </a:lnTo>
                    <a:lnTo>
                      <a:pt x="6" y="1"/>
                    </a:lnTo>
                    <a:lnTo>
                      <a:pt x="3" y="3"/>
                    </a:lnTo>
                    <a:lnTo>
                      <a:pt x="0" y="7"/>
                    </a:lnTo>
                    <a:lnTo>
                      <a:pt x="0" y="11"/>
                    </a:lnTo>
                    <a:lnTo>
                      <a:pt x="0" y="24"/>
                    </a:lnTo>
                    <a:lnTo>
                      <a:pt x="4" y="38"/>
                    </a:lnTo>
                    <a:lnTo>
                      <a:pt x="8" y="52"/>
                    </a:lnTo>
                    <a:lnTo>
                      <a:pt x="14" y="65"/>
                    </a:lnTo>
                    <a:lnTo>
                      <a:pt x="21" y="78"/>
                    </a:lnTo>
                    <a:lnTo>
                      <a:pt x="28" y="87"/>
                    </a:lnTo>
                    <a:lnTo>
                      <a:pt x="37" y="93"/>
                    </a:lnTo>
                    <a:lnTo>
                      <a:pt x="42" y="94"/>
                    </a:lnTo>
                    <a:lnTo>
                      <a:pt x="44" y="76"/>
                    </a:lnTo>
                    <a:lnTo>
                      <a:pt x="38" y="54"/>
                    </a:lnTo>
                    <a:lnTo>
                      <a:pt x="31" y="32"/>
                    </a:lnTo>
                    <a:lnTo>
                      <a:pt x="22" y="1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de-DE"/>
              </a:p>
            </p:txBody>
          </p:sp>
          <p:sp>
            <p:nvSpPr>
              <p:cNvPr id="112" name="Freeform 548"/>
              <p:cNvSpPr>
                <a:spLocks/>
              </p:cNvSpPr>
              <p:nvPr/>
            </p:nvSpPr>
            <p:spPr bwMode="auto">
              <a:xfrm>
                <a:off x="2641" y="2722"/>
                <a:ext cx="6" cy="9"/>
              </a:xfrm>
              <a:custGeom>
                <a:avLst/>
                <a:gdLst>
                  <a:gd name="T0" fmla="*/ 3 w 38"/>
                  <a:gd name="T1" fmla="*/ 1 h 54"/>
                  <a:gd name="T2" fmla="*/ 3 w 38"/>
                  <a:gd name="T3" fmla="*/ 1 h 54"/>
                  <a:gd name="T4" fmla="*/ 3 w 38"/>
                  <a:gd name="T5" fmla="*/ 1 h 54"/>
                  <a:gd name="T6" fmla="*/ 3 w 38"/>
                  <a:gd name="T7" fmla="*/ 1 h 54"/>
                  <a:gd name="T8" fmla="*/ 3 w 38"/>
                  <a:gd name="T9" fmla="*/ 1 h 54"/>
                  <a:gd name="T10" fmla="*/ 3 w 38"/>
                  <a:gd name="T11" fmla="*/ 1 h 54"/>
                  <a:gd name="T12" fmla="*/ 2 w 38"/>
                  <a:gd name="T13" fmla="*/ 0 h 54"/>
                  <a:gd name="T14" fmla="*/ 2 w 38"/>
                  <a:gd name="T15" fmla="*/ 0 h 54"/>
                  <a:gd name="T16" fmla="*/ 1 w 38"/>
                  <a:gd name="T17" fmla="*/ 0 h 54"/>
                  <a:gd name="T18" fmla="*/ 1 w 38"/>
                  <a:gd name="T19" fmla="*/ 0 h 54"/>
                  <a:gd name="T20" fmla="*/ 0 w 38"/>
                  <a:gd name="T21" fmla="*/ 1 h 54"/>
                  <a:gd name="T22" fmla="*/ 0 w 38"/>
                  <a:gd name="T23" fmla="*/ 1 h 54"/>
                  <a:gd name="T24" fmla="*/ 0 w 38"/>
                  <a:gd name="T25" fmla="*/ 2 h 54"/>
                  <a:gd name="T26" fmla="*/ 0 w 38"/>
                  <a:gd name="T27" fmla="*/ 3 h 54"/>
                  <a:gd name="T28" fmla="*/ 1 w 38"/>
                  <a:gd name="T29" fmla="*/ 4 h 54"/>
                  <a:gd name="T30" fmla="*/ 1 w 38"/>
                  <a:gd name="T31" fmla="*/ 5 h 54"/>
                  <a:gd name="T32" fmla="*/ 2 w 38"/>
                  <a:gd name="T33" fmla="*/ 7 h 54"/>
                  <a:gd name="T34" fmla="*/ 3 w 38"/>
                  <a:gd name="T35" fmla="*/ 8 h 54"/>
                  <a:gd name="T36" fmla="*/ 4 w 38"/>
                  <a:gd name="T37" fmla="*/ 8 h 54"/>
                  <a:gd name="T38" fmla="*/ 5 w 38"/>
                  <a:gd name="T39" fmla="*/ 9 h 54"/>
                  <a:gd name="T40" fmla="*/ 6 w 38"/>
                  <a:gd name="T41" fmla="*/ 9 h 54"/>
                  <a:gd name="T42" fmla="*/ 6 w 38"/>
                  <a:gd name="T43" fmla="*/ 7 h 54"/>
                  <a:gd name="T44" fmla="*/ 5 w 38"/>
                  <a:gd name="T45" fmla="*/ 5 h 54"/>
                  <a:gd name="T46" fmla="*/ 4 w 38"/>
                  <a:gd name="T47" fmla="*/ 3 h 54"/>
                  <a:gd name="T48" fmla="*/ 3 w 38"/>
                  <a:gd name="T49" fmla="*/ 1 h 54"/>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38"/>
                  <a:gd name="T76" fmla="*/ 0 h 54"/>
                  <a:gd name="T77" fmla="*/ 38 w 38"/>
                  <a:gd name="T78" fmla="*/ 54 h 54"/>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38" h="54">
                    <a:moveTo>
                      <a:pt x="20" y="7"/>
                    </a:moveTo>
                    <a:lnTo>
                      <a:pt x="20" y="8"/>
                    </a:lnTo>
                    <a:lnTo>
                      <a:pt x="19" y="4"/>
                    </a:lnTo>
                    <a:lnTo>
                      <a:pt x="15" y="1"/>
                    </a:lnTo>
                    <a:lnTo>
                      <a:pt x="12" y="0"/>
                    </a:lnTo>
                    <a:lnTo>
                      <a:pt x="7" y="0"/>
                    </a:lnTo>
                    <a:lnTo>
                      <a:pt x="4" y="1"/>
                    </a:lnTo>
                    <a:lnTo>
                      <a:pt x="1" y="4"/>
                    </a:lnTo>
                    <a:lnTo>
                      <a:pt x="0" y="8"/>
                    </a:lnTo>
                    <a:lnTo>
                      <a:pt x="0" y="11"/>
                    </a:lnTo>
                    <a:lnTo>
                      <a:pt x="1" y="17"/>
                    </a:lnTo>
                    <a:lnTo>
                      <a:pt x="4" y="24"/>
                    </a:lnTo>
                    <a:lnTo>
                      <a:pt x="8" y="32"/>
                    </a:lnTo>
                    <a:lnTo>
                      <a:pt x="14" y="39"/>
                    </a:lnTo>
                    <a:lnTo>
                      <a:pt x="20" y="46"/>
                    </a:lnTo>
                    <a:lnTo>
                      <a:pt x="27" y="50"/>
                    </a:lnTo>
                    <a:lnTo>
                      <a:pt x="33" y="54"/>
                    </a:lnTo>
                    <a:lnTo>
                      <a:pt x="38" y="54"/>
                    </a:lnTo>
                    <a:lnTo>
                      <a:pt x="36" y="42"/>
                    </a:lnTo>
                    <a:lnTo>
                      <a:pt x="32" y="29"/>
                    </a:lnTo>
                    <a:lnTo>
                      <a:pt x="25" y="16"/>
                    </a:lnTo>
                    <a:lnTo>
                      <a:pt x="20" y="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de-DE"/>
              </a:p>
            </p:txBody>
          </p:sp>
          <p:sp>
            <p:nvSpPr>
              <p:cNvPr id="113" name="Freeform 549"/>
              <p:cNvSpPr>
                <a:spLocks/>
              </p:cNvSpPr>
              <p:nvPr/>
            </p:nvSpPr>
            <p:spPr bwMode="auto">
              <a:xfrm>
                <a:off x="2636" y="2714"/>
                <a:ext cx="8" cy="6"/>
              </a:xfrm>
              <a:custGeom>
                <a:avLst/>
                <a:gdLst>
                  <a:gd name="T0" fmla="*/ 6 w 52"/>
                  <a:gd name="T1" fmla="*/ 4 h 36"/>
                  <a:gd name="T2" fmla="*/ 7 w 52"/>
                  <a:gd name="T3" fmla="*/ 4 h 36"/>
                  <a:gd name="T4" fmla="*/ 8 w 52"/>
                  <a:gd name="T5" fmla="*/ 3 h 36"/>
                  <a:gd name="T6" fmla="*/ 8 w 52"/>
                  <a:gd name="T7" fmla="*/ 3 h 36"/>
                  <a:gd name="T8" fmla="*/ 8 w 52"/>
                  <a:gd name="T9" fmla="*/ 2 h 36"/>
                  <a:gd name="T10" fmla="*/ 8 w 52"/>
                  <a:gd name="T11" fmla="*/ 1 h 36"/>
                  <a:gd name="T12" fmla="*/ 7 w 52"/>
                  <a:gd name="T13" fmla="*/ 0 h 36"/>
                  <a:gd name="T14" fmla="*/ 6 w 52"/>
                  <a:gd name="T15" fmla="*/ 0 h 36"/>
                  <a:gd name="T16" fmla="*/ 6 w 52"/>
                  <a:gd name="T17" fmla="*/ 0 h 36"/>
                  <a:gd name="T18" fmla="*/ 5 w 52"/>
                  <a:gd name="T19" fmla="*/ 0 h 36"/>
                  <a:gd name="T20" fmla="*/ 4 w 52"/>
                  <a:gd name="T21" fmla="*/ 0 h 36"/>
                  <a:gd name="T22" fmla="*/ 3 w 52"/>
                  <a:gd name="T23" fmla="*/ 1 h 36"/>
                  <a:gd name="T24" fmla="*/ 2 w 52"/>
                  <a:gd name="T25" fmla="*/ 1 h 36"/>
                  <a:gd name="T26" fmla="*/ 1 w 52"/>
                  <a:gd name="T27" fmla="*/ 2 h 36"/>
                  <a:gd name="T28" fmla="*/ 0 w 52"/>
                  <a:gd name="T29" fmla="*/ 4 h 36"/>
                  <a:gd name="T30" fmla="*/ 0 w 52"/>
                  <a:gd name="T31" fmla="*/ 5 h 36"/>
                  <a:gd name="T32" fmla="*/ 0 w 52"/>
                  <a:gd name="T33" fmla="*/ 5 h 36"/>
                  <a:gd name="T34" fmla="*/ 1 w 52"/>
                  <a:gd name="T35" fmla="*/ 6 h 36"/>
                  <a:gd name="T36" fmla="*/ 1 w 52"/>
                  <a:gd name="T37" fmla="*/ 6 h 36"/>
                  <a:gd name="T38" fmla="*/ 2 w 52"/>
                  <a:gd name="T39" fmla="*/ 6 h 36"/>
                  <a:gd name="T40" fmla="*/ 3 w 52"/>
                  <a:gd name="T41" fmla="*/ 6 h 36"/>
                  <a:gd name="T42" fmla="*/ 4 w 52"/>
                  <a:gd name="T43" fmla="*/ 6 h 36"/>
                  <a:gd name="T44" fmla="*/ 5 w 52"/>
                  <a:gd name="T45" fmla="*/ 5 h 36"/>
                  <a:gd name="T46" fmla="*/ 6 w 52"/>
                  <a:gd name="T47" fmla="*/ 5 h 36"/>
                  <a:gd name="T48" fmla="*/ 6 w 52"/>
                  <a:gd name="T49" fmla="*/ 4 h 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52"/>
                  <a:gd name="T76" fmla="*/ 0 h 36"/>
                  <a:gd name="T77" fmla="*/ 52 w 52"/>
                  <a:gd name="T78" fmla="*/ 36 h 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52" h="36">
                    <a:moveTo>
                      <a:pt x="41" y="27"/>
                    </a:moveTo>
                    <a:lnTo>
                      <a:pt x="46" y="24"/>
                    </a:lnTo>
                    <a:lnTo>
                      <a:pt x="51" y="21"/>
                    </a:lnTo>
                    <a:lnTo>
                      <a:pt x="52" y="16"/>
                    </a:lnTo>
                    <a:lnTo>
                      <a:pt x="52" y="12"/>
                    </a:lnTo>
                    <a:lnTo>
                      <a:pt x="50" y="6"/>
                    </a:lnTo>
                    <a:lnTo>
                      <a:pt x="46" y="2"/>
                    </a:lnTo>
                    <a:lnTo>
                      <a:pt x="41" y="0"/>
                    </a:lnTo>
                    <a:lnTo>
                      <a:pt x="36" y="0"/>
                    </a:lnTo>
                    <a:lnTo>
                      <a:pt x="33" y="0"/>
                    </a:lnTo>
                    <a:lnTo>
                      <a:pt x="29" y="1"/>
                    </a:lnTo>
                    <a:lnTo>
                      <a:pt x="21" y="4"/>
                    </a:lnTo>
                    <a:lnTo>
                      <a:pt x="13" y="8"/>
                    </a:lnTo>
                    <a:lnTo>
                      <a:pt x="6" y="15"/>
                    </a:lnTo>
                    <a:lnTo>
                      <a:pt x="3" y="22"/>
                    </a:lnTo>
                    <a:lnTo>
                      <a:pt x="0" y="29"/>
                    </a:lnTo>
                    <a:lnTo>
                      <a:pt x="0" y="31"/>
                    </a:lnTo>
                    <a:lnTo>
                      <a:pt x="4" y="33"/>
                    </a:lnTo>
                    <a:lnTo>
                      <a:pt x="9" y="36"/>
                    </a:lnTo>
                    <a:lnTo>
                      <a:pt x="13" y="36"/>
                    </a:lnTo>
                    <a:lnTo>
                      <a:pt x="18" y="36"/>
                    </a:lnTo>
                    <a:lnTo>
                      <a:pt x="24" y="33"/>
                    </a:lnTo>
                    <a:lnTo>
                      <a:pt x="30" y="32"/>
                    </a:lnTo>
                    <a:lnTo>
                      <a:pt x="36" y="30"/>
                    </a:lnTo>
                    <a:lnTo>
                      <a:pt x="41" y="2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de-DE"/>
              </a:p>
            </p:txBody>
          </p:sp>
          <p:sp>
            <p:nvSpPr>
              <p:cNvPr id="114" name="Freeform 550"/>
              <p:cNvSpPr>
                <a:spLocks/>
              </p:cNvSpPr>
              <p:nvPr/>
            </p:nvSpPr>
            <p:spPr bwMode="auto">
              <a:xfrm>
                <a:off x="2596" y="2704"/>
                <a:ext cx="33" cy="39"/>
              </a:xfrm>
              <a:custGeom>
                <a:avLst/>
                <a:gdLst>
                  <a:gd name="T0" fmla="*/ 12 w 198"/>
                  <a:gd name="T1" fmla="*/ 6 h 236"/>
                  <a:gd name="T2" fmla="*/ 10 w 198"/>
                  <a:gd name="T3" fmla="*/ 8 h 236"/>
                  <a:gd name="T4" fmla="*/ 8 w 198"/>
                  <a:gd name="T5" fmla="*/ 10 h 236"/>
                  <a:gd name="T6" fmla="*/ 6 w 198"/>
                  <a:gd name="T7" fmla="*/ 12 h 236"/>
                  <a:gd name="T8" fmla="*/ 4 w 198"/>
                  <a:gd name="T9" fmla="*/ 14 h 236"/>
                  <a:gd name="T10" fmla="*/ 2 w 198"/>
                  <a:gd name="T11" fmla="*/ 17 h 236"/>
                  <a:gd name="T12" fmla="*/ 1 w 198"/>
                  <a:gd name="T13" fmla="*/ 19 h 236"/>
                  <a:gd name="T14" fmla="*/ 0 w 198"/>
                  <a:gd name="T15" fmla="*/ 21 h 236"/>
                  <a:gd name="T16" fmla="*/ 0 w 198"/>
                  <a:gd name="T17" fmla="*/ 24 h 236"/>
                  <a:gd name="T18" fmla="*/ 0 w 198"/>
                  <a:gd name="T19" fmla="*/ 28 h 236"/>
                  <a:gd name="T20" fmla="*/ 2 w 198"/>
                  <a:gd name="T21" fmla="*/ 31 h 236"/>
                  <a:gd name="T22" fmla="*/ 4 w 198"/>
                  <a:gd name="T23" fmla="*/ 34 h 236"/>
                  <a:gd name="T24" fmla="*/ 7 w 198"/>
                  <a:gd name="T25" fmla="*/ 36 h 236"/>
                  <a:gd name="T26" fmla="*/ 11 w 198"/>
                  <a:gd name="T27" fmla="*/ 38 h 236"/>
                  <a:gd name="T28" fmla="*/ 15 w 198"/>
                  <a:gd name="T29" fmla="*/ 39 h 236"/>
                  <a:gd name="T30" fmla="*/ 18 w 198"/>
                  <a:gd name="T31" fmla="*/ 39 h 236"/>
                  <a:gd name="T32" fmla="*/ 22 w 198"/>
                  <a:gd name="T33" fmla="*/ 38 h 236"/>
                  <a:gd name="T34" fmla="*/ 23 w 198"/>
                  <a:gd name="T35" fmla="*/ 38 h 236"/>
                  <a:gd name="T36" fmla="*/ 24 w 198"/>
                  <a:gd name="T37" fmla="*/ 38 h 236"/>
                  <a:gd name="T38" fmla="*/ 24 w 198"/>
                  <a:gd name="T39" fmla="*/ 37 h 236"/>
                  <a:gd name="T40" fmla="*/ 24 w 198"/>
                  <a:gd name="T41" fmla="*/ 37 h 236"/>
                  <a:gd name="T42" fmla="*/ 24 w 198"/>
                  <a:gd name="T43" fmla="*/ 36 h 236"/>
                  <a:gd name="T44" fmla="*/ 24 w 198"/>
                  <a:gd name="T45" fmla="*/ 36 h 236"/>
                  <a:gd name="T46" fmla="*/ 23 w 198"/>
                  <a:gd name="T47" fmla="*/ 36 h 236"/>
                  <a:gd name="T48" fmla="*/ 22 w 198"/>
                  <a:gd name="T49" fmla="*/ 36 h 236"/>
                  <a:gd name="T50" fmla="*/ 21 w 198"/>
                  <a:gd name="T51" fmla="*/ 36 h 236"/>
                  <a:gd name="T52" fmla="*/ 20 w 198"/>
                  <a:gd name="T53" fmla="*/ 36 h 236"/>
                  <a:gd name="T54" fmla="*/ 19 w 198"/>
                  <a:gd name="T55" fmla="*/ 36 h 236"/>
                  <a:gd name="T56" fmla="*/ 18 w 198"/>
                  <a:gd name="T57" fmla="*/ 36 h 236"/>
                  <a:gd name="T58" fmla="*/ 16 w 198"/>
                  <a:gd name="T59" fmla="*/ 36 h 236"/>
                  <a:gd name="T60" fmla="*/ 15 w 198"/>
                  <a:gd name="T61" fmla="*/ 36 h 236"/>
                  <a:gd name="T62" fmla="*/ 13 w 198"/>
                  <a:gd name="T63" fmla="*/ 35 h 236"/>
                  <a:gd name="T64" fmla="*/ 10 w 198"/>
                  <a:gd name="T65" fmla="*/ 35 h 236"/>
                  <a:gd name="T66" fmla="*/ 8 w 198"/>
                  <a:gd name="T67" fmla="*/ 34 h 236"/>
                  <a:gd name="T68" fmla="*/ 7 w 198"/>
                  <a:gd name="T69" fmla="*/ 33 h 236"/>
                  <a:gd name="T70" fmla="*/ 5 w 198"/>
                  <a:gd name="T71" fmla="*/ 31 h 236"/>
                  <a:gd name="T72" fmla="*/ 3 w 198"/>
                  <a:gd name="T73" fmla="*/ 29 h 236"/>
                  <a:gd name="T74" fmla="*/ 2 w 198"/>
                  <a:gd name="T75" fmla="*/ 26 h 236"/>
                  <a:gd name="T76" fmla="*/ 3 w 198"/>
                  <a:gd name="T77" fmla="*/ 23 h 236"/>
                  <a:gd name="T78" fmla="*/ 4 w 198"/>
                  <a:gd name="T79" fmla="*/ 20 h 236"/>
                  <a:gd name="T80" fmla="*/ 5 w 198"/>
                  <a:gd name="T81" fmla="*/ 18 h 236"/>
                  <a:gd name="T82" fmla="*/ 7 w 198"/>
                  <a:gd name="T83" fmla="*/ 16 h 236"/>
                  <a:gd name="T84" fmla="*/ 8 w 198"/>
                  <a:gd name="T85" fmla="*/ 14 h 236"/>
                  <a:gd name="T86" fmla="*/ 10 w 198"/>
                  <a:gd name="T87" fmla="*/ 12 h 236"/>
                  <a:gd name="T88" fmla="*/ 13 w 198"/>
                  <a:gd name="T89" fmla="*/ 10 h 236"/>
                  <a:gd name="T90" fmla="*/ 16 w 198"/>
                  <a:gd name="T91" fmla="*/ 8 h 236"/>
                  <a:gd name="T92" fmla="*/ 18 w 198"/>
                  <a:gd name="T93" fmla="*/ 6 h 236"/>
                  <a:gd name="T94" fmla="*/ 21 w 198"/>
                  <a:gd name="T95" fmla="*/ 5 h 236"/>
                  <a:gd name="T96" fmla="*/ 24 w 198"/>
                  <a:gd name="T97" fmla="*/ 4 h 236"/>
                  <a:gd name="T98" fmla="*/ 26 w 198"/>
                  <a:gd name="T99" fmla="*/ 3 h 236"/>
                  <a:gd name="T100" fmla="*/ 29 w 198"/>
                  <a:gd name="T101" fmla="*/ 2 h 236"/>
                  <a:gd name="T102" fmla="*/ 31 w 198"/>
                  <a:gd name="T103" fmla="*/ 2 h 236"/>
                  <a:gd name="T104" fmla="*/ 33 w 198"/>
                  <a:gd name="T105" fmla="*/ 1 h 236"/>
                  <a:gd name="T106" fmla="*/ 32 w 198"/>
                  <a:gd name="T107" fmla="*/ 0 h 236"/>
                  <a:gd name="T108" fmla="*/ 30 w 198"/>
                  <a:gd name="T109" fmla="*/ 0 h 236"/>
                  <a:gd name="T110" fmla="*/ 27 w 198"/>
                  <a:gd name="T111" fmla="*/ 0 h 236"/>
                  <a:gd name="T112" fmla="*/ 24 w 198"/>
                  <a:gd name="T113" fmla="*/ 1 h 236"/>
                  <a:gd name="T114" fmla="*/ 21 w 198"/>
                  <a:gd name="T115" fmla="*/ 2 h 236"/>
                  <a:gd name="T116" fmla="*/ 17 w 198"/>
                  <a:gd name="T117" fmla="*/ 3 h 236"/>
                  <a:gd name="T118" fmla="*/ 15 w 198"/>
                  <a:gd name="T119" fmla="*/ 5 h 236"/>
                  <a:gd name="T120" fmla="*/ 12 w 198"/>
                  <a:gd name="T121" fmla="*/ 6 h 2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198"/>
                  <a:gd name="T184" fmla="*/ 0 h 236"/>
                  <a:gd name="T185" fmla="*/ 198 w 198"/>
                  <a:gd name="T186" fmla="*/ 236 h 2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198" h="236">
                    <a:moveTo>
                      <a:pt x="73" y="36"/>
                    </a:moveTo>
                    <a:lnTo>
                      <a:pt x="58" y="46"/>
                    </a:lnTo>
                    <a:lnTo>
                      <a:pt x="46" y="58"/>
                    </a:lnTo>
                    <a:lnTo>
                      <a:pt x="33" y="72"/>
                    </a:lnTo>
                    <a:lnTo>
                      <a:pt x="22" y="85"/>
                    </a:lnTo>
                    <a:lnTo>
                      <a:pt x="14" y="100"/>
                    </a:lnTo>
                    <a:lnTo>
                      <a:pt x="7" y="115"/>
                    </a:lnTo>
                    <a:lnTo>
                      <a:pt x="2" y="130"/>
                    </a:lnTo>
                    <a:lnTo>
                      <a:pt x="0" y="146"/>
                    </a:lnTo>
                    <a:lnTo>
                      <a:pt x="2" y="170"/>
                    </a:lnTo>
                    <a:lnTo>
                      <a:pt x="12" y="190"/>
                    </a:lnTo>
                    <a:lnTo>
                      <a:pt x="26" y="207"/>
                    </a:lnTo>
                    <a:lnTo>
                      <a:pt x="43" y="220"/>
                    </a:lnTo>
                    <a:lnTo>
                      <a:pt x="64" y="229"/>
                    </a:lnTo>
                    <a:lnTo>
                      <a:pt x="88" y="235"/>
                    </a:lnTo>
                    <a:lnTo>
                      <a:pt x="110" y="236"/>
                    </a:lnTo>
                    <a:lnTo>
                      <a:pt x="132" y="232"/>
                    </a:lnTo>
                    <a:lnTo>
                      <a:pt x="137" y="232"/>
                    </a:lnTo>
                    <a:lnTo>
                      <a:pt x="142" y="230"/>
                    </a:lnTo>
                    <a:lnTo>
                      <a:pt x="145" y="226"/>
                    </a:lnTo>
                    <a:lnTo>
                      <a:pt x="146" y="221"/>
                    </a:lnTo>
                    <a:lnTo>
                      <a:pt x="145" y="219"/>
                    </a:lnTo>
                    <a:lnTo>
                      <a:pt x="142" y="219"/>
                    </a:lnTo>
                    <a:lnTo>
                      <a:pt x="137" y="217"/>
                    </a:lnTo>
                    <a:lnTo>
                      <a:pt x="131" y="217"/>
                    </a:lnTo>
                    <a:lnTo>
                      <a:pt x="124" y="217"/>
                    </a:lnTo>
                    <a:lnTo>
                      <a:pt x="118" y="217"/>
                    </a:lnTo>
                    <a:lnTo>
                      <a:pt x="112" y="217"/>
                    </a:lnTo>
                    <a:lnTo>
                      <a:pt x="109" y="217"/>
                    </a:lnTo>
                    <a:lnTo>
                      <a:pt x="97" y="216"/>
                    </a:lnTo>
                    <a:lnTo>
                      <a:pt x="87" y="215"/>
                    </a:lnTo>
                    <a:lnTo>
                      <a:pt x="75" y="214"/>
                    </a:lnTo>
                    <a:lnTo>
                      <a:pt x="63" y="211"/>
                    </a:lnTo>
                    <a:lnTo>
                      <a:pt x="51" y="207"/>
                    </a:lnTo>
                    <a:lnTo>
                      <a:pt x="40" y="199"/>
                    </a:lnTo>
                    <a:lnTo>
                      <a:pt x="29" y="189"/>
                    </a:lnTo>
                    <a:lnTo>
                      <a:pt x="17" y="174"/>
                    </a:lnTo>
                    <a:lnTo>
                      <a:pt x="15" y="157"/>
                    </a:lnTo>
                    <a:lnTo>
                      <a:pt x="16" y="141"/>
                    </a:lnTo>
                    <a:lnTo>
                      <a:pt x="21" y="124"/>
                    </a:lnTo>
                    <a:lnTo>
                      <a:pt x="28" y="109"/>
                    </a:lnTo>
                    <a:lnTo>
                      <a:pt x="39" y="96"/>
                    </a:lnTo>
                    <a:lnTo>
                      <a:pt x="50" y="82"/>
                    </a:lnTo>
                    <a:lnTo>
                      <a:pt x="63" y="70"/>
                    </a:lnTo>
                    <a:lnTo>
                      <a:pt x="78" y="59"/>
                    </a:lnTo>
                    <a:lnTo>
                      <a:pt x="94" y="49"/>
                    </a:lnTo>
                    <a:lnTo>
                      <a:pt x="110" y="39"/>
                    </a:lnTo>
                    <a:lnTo>
                      <a:pt x="126" y="31"/>
                    </a:lnTo>
                    <a:lnTo>
                      <a:pt x="142" y="24"/>
                    </a:lnTo>
                    <a:lnTo>
                      <a:pt x="158" y="19"/>
                    </a:lnTo>
                    <a:lnTo>
                      <a:pt x="172" y="13"/>
                    </a:lnTo>
                    <a:lnTo>
                      <a:pt x="186" y="10"/>
                    </a:lnTo>
                    <a:lnTo>
                      <a:pt x="198" y="7"/>
                    </a:lnTo>
                    <a:lnTo>
                      <a:pt x="190" y="3"/>
                    </a:lnTo>
                    <a:lnTo>
                      <a:pt x="177" y="0"/>
                    </a:lnTo>
                    <a:lnTo>
                      <a:pt x="162" y="3"/>
                    </a:lnTo>
                    <a:lnTo>
                      <a:pt x="144" y="6"/>
                    </a:lnTo>
                    <a:lnTo>
                      <a:pt x="124" y="12"/>
                    </a:lnTo>
                    <a:lnTo>
                      <a:pt x="105" y="19"/>
                    </a:lnTo>
                    <a:lnTo>
                      <a:pt x="88" y="28"/>
                    </a:lnTo>
                    <a:lnTo>
                      <a:pt x="73" y="3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de-DE"/>
              </a:p>
            </p:txBody>
          </p:sp>
          <p:sp>
            <p:nvSpPr>
              <p:cNvPr id="115" name="Freeform 551"/>
              <p:cNvSpPr>
                <a:spLocks/>
              </p:cNvSpPr>
              <p:nvPr/>
            </p:nvSpPr>
            <p:spPr bwMode="auto">
              <a:xfrm>
                <a:off x="2652" y="2704"/>
                <a:ext cx="22" cy="30"/>
              </a:xfrm>
              <a:custGeom>
                <a:avLst/>
                <a:gdLst>
                  <a:gd name="T0" fmla="*/ 19 w 128"/>
                  <a:gd name="T1" fmla="*/ 10 h 183"/>
                  <a:gd name="T2" fmla="*/ 19 w 128"/>
                  <a:gd name="T3" fmla="*/ 13 h 183"/>
                  <a:gd name="T4" fmla="*/ 19 w 128"/>
                  <a:gd name="T5" fmla="*/ 16 h 183"/>
                  <a:gd name="T6" fmla="*/ 17 w 128"/>
                  <a:gd name="T7" fmla="*/ 18 h 183"/>
                  <a:gd name="T8" fmla="*/ 15 w 128"/>
                  <a:gd name="T9" fmla="*/ 20 h 183"/>
                  <a:gd name="T10" fmla="*/ 13 w 128"/>
                  <a:gd name="T11" fmla="*/ 22 h 183"/>
                  <a:gd name="T12" fmla="*/ 10 w 128"/>
                  <a:gd name="T13" fmla="*/ 24 h 183"/>
                  <a:gd name="T14" fmla="*/ 7 w 128"/>
                  <a:gd name="T15" fmla="*/ 26 h 183"/>
                  <a:gd name="T16" fmla="*/ 5 w 128"/>
                  <a:gd name="T17" fmla="*/ 27 h 183"/>
                  <a:gd name="T18" fmla="*/ 5 w 128"/>
                  <a:gd name="T19" fmla="*/ 28 h 183"/>
                  <a:gd name="T20" fmla="*/ 4 w 128"/>
                  <a:gd name="T21" fmla="*/ 28 h 183"/>
                  <a:gd name="T22" fmla="*/ 4 w 128"/>
                  <a:gd name="T23" fmla="*/ 29 h 183"/>
                  <a:gd name="T24" fmla="*/ 5 w 128"/>
                  <a:gd name="T25" fmla="*/ 29 h 183"/>
                  <a:gd name="T26" fmla="*/ 5 w 128"/>
                  <a:gd name="T27" fmla="*/ 30 h 183"/>
                  <a:gd name="T28" fmla="*/ 6 w 128"/>
                  <a:gd name="T29" fmla="*/ 30 h 183"/>
                  <a:gd name="T30" fmla="*/ 6 w 128"/>
                  <a:gd name="T31" fmla="*/ 30 h 183"/>
                  <a:gd name="T32" fmla="*/ 7 w 128"/>
                  <a:gd name="T33" fmla="*/ 30 h 183"/>
                  <a:gd name="T34" fmla="*/ 10 w 128"/>
                  <a:gd name="T35" fmla="*/ 28 h 183"/>
                  <a:gd name="T36" fmla="*/ 13 w 128"/>
                  <a:gd name="T37" fmla="*/ 26 h 183"/>
                  <a:gd name="T38" fmla="*/ 16 w 128"/>
                  <a:gd name="T39" fmla="*/ 24 h 183"/>
                  <a:gd name="T40" fmla="*/ 19 w 128"/>
                  <a:gd name="T41" fmla="*/ 22 h 183"/>
                  <a:gd name="T42" fmla="*/ 20 w 128"/>
                  <a:gd name="T43" fmla="*/ 19 h 183"/>
                  <a:gd name="T44" fmla="*/ 21 w 128"/>
                  <a:gd name="T45" fmla="*/ 16 h 183"/>
                  <a:gd name="T46" fmla="*/ 22 w 128"/>
                  <a:gd name="T47" fmla="*/ 13 h 183"/>
                  <a:gd name="T48" fmla="*/ 21 w 128"/>
                  <a:gd name="T49" fmla="*/ 10 h 183"/>
                  <a:gd name="T50" fmla="*/ 19 w 128"/>
                  <a:gd name="T51" fmla="*/ 7 h 183"/>
                  <a:gd name="T52" fmla="*/ 17 w 128"/>
                  <a:gd name="T53" fmla="*/ 5 h 183"/>
                  <a:gd name="T54" fmla="*/ 14 w 128"/>
                  <a:gd name="T55" fmla="*/ 3 h 183"/>
                  <a:gd name="T56" fmla="*/ 10 w 128"/>
                  <a:gd name="T57" fmla="*/ 1 h 183"/>
                  <a:gd name="T58" fmla="*/ 7 w 128"/>
                  <a:gd name="T59" fmla="*/ 0 h 183"/>
                  <a:gd name="T60" fmla="*/ 4 w 128"/>
                  <a:gd name="T61" fmla="*/ 0 h 183"/>
                  <a:gd name="T62" fmla="*/ 2 w 128"/>
                  <a:gd name="T63" fmla="*/ 0 h 183"/>
                  <a:gd name="T64" fmla="*/ 0 w 128"/>
                  <a:gd name="T65" fmla="*/ 1 h 183"/>
                  <a:gd name="T66" fmla="*/ 3 w 128"/>
                  <a:gd name="T67" fmla="*/ 2 h 183"/>
                  <a:gd name="T68" fmla="*/ 6 w 128"/>
                  <a:gd name="T69" fmla="*/ 2 h 183"/>
                  <a:gd name="T70" fmla="*/ 8 w 128"/>
                  <a:gd name="T71" fmla="*/ 3 h 183"/>
                  <a:gd name="T72" fmla="*/ 11 w 128"/>
                  <a:gd name="T73" fmla="*/ 4 h 183"/>
                  <a:gd name="T74" fmla="*/ 13 w 128"/>
                  <a:gd name="T75" fmla="*/ 5 h 183"/>
                  <a:gd name="T76" fmla="*/ 15 w 128"/>
                  <a:gd name="T77" fmla="*/ 6 h 183"/>
                  <a:gd name="T78" fmla="*/ 17 w 128"/>
                  <a:gd name="T79" fmla="*/ 8 h 183"/>
                  <a:gd name="T80" fmla="*/ 19 w 128"/>
                  <a:gd name="T81" fmla="*/ 10 h 183"/>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128"/>
                  <a:gd name="T124" fmla="*/ 0 h 183"/>
                  <a:gd name="T125" fmla="*/ 128 w 128"/>
                  <a:gd name="T126" fmla="*/ 183 h 183"/>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128" h="183">
                    <a:moveTo>
                      <a:pt x="108" y="61"/>
                    </a:moveTo>
                    <a:lnTo>
                      <a:pt x="111" y="80"/>
                    </a:lnTo>
                    <a:lnTo>
                      <a:pt x="109" y="97"/>
                    </a:lnTo>
                    <a:lnTo>
                      <a:pt x="101" y="110"/>
                    </a:lnTo>
                    <a:lnTo>
                      <a:pt x="89" y="123"/>
                    </a:lnTo>
                    <a:lnTo>
                      <a:pt x="75" y="134"/>
                    </a:lnTo>
                    <a:lnTo>
                      <a:pt x="60" y="145"/>
                    </a:lnTo>
                    <a:lnTo>
                      <a:pt x="43" y="156"/>
                    </a:lnTo>
                    <a:lnTo>
                      <a:pt x="29" y="167"/>
                    </a:lnTo>
                    <a:lnTo>
                      <a:pt x="27" y="170"/>
                    </a:lnTo>
                    <a:lnTo>
                      <a:pt x="26" y="172"/>
                    </a:lnTo>
                    <a:lnTo>
                      <a:pt x="26" y="176"/>
                    </a:lnTo>
                    <a:lnTo>
                      <a:pt x="28" y="179"/>
                    </a:lnTo>
                    <a:lnTo>
                      <a:pt x="30" y="182"/>
                    </a:lnTo>
                    <a:lnTo>
                      <a:pt x="34" y="183"/>
                    </a:lnTo>
                    <a:lnTo>
                      <a:pt x="37" y="183"/>
                    </a:lnTo>
                    <a:lnTo>
                      <a:pt x="41" y="182"/>
                    </a:lnTo>
                    <a:lnTo>
                      <a:pt x="58" y="171"/>
                    </a:lnTo>
                    <a:lnTo>
                      <a:pt x="76" y="160"/>
                    </a:lnTo>
                    <a:lnTo>
                      <a:pt x="92" y="147"/>
                    </a:lnTo>
                    <a:lnTo>
                      <a:pt x="108" y="132"/>
                    </a:lnTo>
                    <a:lnTo>
                      <a:pt x="118" y="116"/>
                    </a:lnTo>
                    <a:lnTo>
                      <a:pt x="125" y="98"/>
                    </a:lnTo>
                    <a:lnTo>
                      <a:pt x="128" y="78"/>
                    </a:lnTo>
                    <a:lnTo>
                      <a:pt x="123" y="58"/>
                    </a:lnTo>
                    <a:lnTo>
                      <a:pt x="112" y="41"/>
                    </a:lnTo>
                    <a:lnTo>
                      <a:pt x="98" y="28"/>
                    </a:lnTo>
                    <a:lnTo>
                      <a:pt x="80" y="16"/>
                    </a:lnTo>
                    <a:lnTo>
                      <a:pt x="61" y="8"/>
                    </a:lnTo>
                    <a:lnTo>
                      <a:pt x="41" y="2"/>
                    </a:lnTo>
                    <a:lnTo>
                      <a:pt x="23" y="0"/>
                    </a:lnTo>
                    <a:lnTo>
                      <a:pt x="9" y="1"/>
                    </a:lnTo>
                    <a:lnTo>
                      <a:pt x="0" y="6"/>
                    </a:lnTo>
                    <a:lnTo>
                      <a:pt x="16" y="10"/>
                    </a:lnTo>
                    <a:lnTo>
                      <a:pt x="33" y="14"/>
                    </a:lnTo>
                    <a:lnTo>
                      <a:pt x="48" y="17"/>
                    </a:lnTo>
                    <a:lnTo>
                      <a:pt x="63" y="22"/>
                    </a:lnTo>
                    <a:lnTo>
                      <a:pt x="77" y="28"/>
                    </a:lnTo>
                    <a:lnTo>
                      <a:pt x="90" y="36"/>
                    </a:lnTo>
                    <a:lnTo>
                      <a:pt x="101" y="46"/>
                    </a:lnTo>
                    <a:lnTo>
                      <a:pt x="108" y="6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de-DE"/>
              </a:p>
            </p:txBody>
          </p:sp>
          <p:sp>
            <p:nvSpPr>
              <p:cNvPr id="116" name="Freeform 552"/>
              <p:cNvSpPr>
                <a:spLocks/>
              </p:cNvSpPr>
              <p:nvPr/>
            </p:nvSpPr>
            <p:spPr bwMode="auto">
              <a:xfrm>
                <a:off x="2575" y="2697"/>
                <a:ext cx="53" cy="63"/>
              </a:xfrm>
              <a:custGeom>
                <a:avLst/>
                <a:gdLst>
                  <a:gd name="T0" fmla="*/ 17 w 323"/>
                  <a:gd name="T1" fmla="*/ 12 h 379"/>
                  <a:gd name="T2" fmla="*/ 9 w 323"/>
                  <a:gd name="T3" fmla="*/ 19 h 379"/>
                  <a:gd name="T4" fmla="*/ 3 w 323"/>
                  <a:gd name="T5" fmla="*/ 28 h 379"/>
                  <a:gd name="T6" fmla="*/ 0 w 323"/>
                  <a:gd name="T7" fmla="*/ 38 h 379"/>
                  <a:gd name="T8" fmla="*/ 1 w 323"/>
                  <a:gd name="T9" fmla="*/ 44 h 379"/>
                  <a:gd name="T10" fmla="*/ 2 w 323"/>
                  <a:gd name="T11" fmla="*/ 47 h 379"/>
                  <a:gd name="T12" fmla="*/ 3 w 323"/>
                  <a:gd name="T13" fmla="*/ 50 h 379"/>
                  <a:gd name="T14" fmla="*/ 6 w 323"/>
                  <a:gd name="T15" fmla="*/ 52 h 379"/>
                  <a:gd name="T16" fmla="*/ 9 w 323"/>
                  <a:gd name="T17" fmla="*/ 54 h 379"/>
                  <a:gd name="T18" fmla="*/ 14 w 323"/>
                  <a:gd name="T19" fmla="*/ 57 h 379"/>
                  <a:gd name="T20" fmla="*/ 20 w 323"/>
                  <a:gd name="T21" fmla="*/ 58 h 379"/>
                  <a:gd name="T22" fmla="*/ 25 w 323"/>
                  <a:gd name="T23" fmla="*/ 60 h 379"/>
                  <a:gd name="T24" fmla="*/ 31 w 323"/>
                  <a:gd name="T25" fmla="*/ 61 h 379"/>
                  <a:gd name="T26" fmla="*/ 36 w 323"/>
                  <a:gd name="T27" fmla="*/ 62 h 379"/>
                  <a:gd name="T28" fmla="*/ 42 w 323"/>
                  <a:gd name="T29" fmla="*/ 62 h 379"/>
                  <a:gd name="T30" fmla="*/ 48 w 323"/>
                  <a:gd name="T31" fmla="*/ 63 h 379"/>
                  <a:gd name="T32" fmla="*/ 51 w 323"/>
                  <a:gd name="T33" fmla="*/ 63 h 379"/>
                  <a:gd name="T34" fmla="*/ 53 w 323"/>
                  <a:gd name="T35" fmla="*/ 62 h 379"/>
                  <a:gd name="T36" fmla="*/ 53 w 323"/>
                  <a:gd name="T37" fmla="*/ 60 h 379"/>
                  <a:gd name="T38" fmla="*/ 52 w 323"/>
                  <a:gd name="T39" fmla="*/ 59 h 379"/>
                  <a:gd name="T40" fmla="*/ 48 w 323"/>
                  <a:gd name="T41" fmla="*/ 58 h 379"/>
                  <a:gd name="T42" fmla="*/ 43 w 323"/>
                  <a:gd name="T43" fmla="*/ 58 h 379"/>
                  <a:gd name="T44" fmla="*/ 38 w 323"/>
                  <a:gd name="T45" fmla="*/ 58 h 379"/>
                  <a:gd name="T46" fmla="*/ 33 w 323"/>
                  <a:gd name="T47" fmla="*/ 57 h 379"/>
                  <a:gd name="T48" fmla="*/ 28 w 323"/>
                  <a:gd name="T49" fmla="*/ 56 h 379"/>
                  <a:gd name="T50" fmla="*/ 22 w 323"/>
                  <a:gd name="T51" fmla="*/ 55 h 379"/>
                  <a:gd name="T52" fmla="*/ 17 w 323"/>
                  <a:gd name="T53" fmla="*/ 53 h 379"/>
                  <a:gd name="T54" fmla="*/ 12 w 323"/>
                  <a:gd name="T55" fmla="*/ 51 h 379"/>
                  <a:gd name="T56" fmla="*/ 8 w 323"/>
                  <a:gd name="T57" fmla="*/ 48 h 379"/>
                  <a:gd name="T58" fmla="*/ 6 w 323"/>
                  <a:gd name="T59" fmla="*/ 45 h 379"/>
                  <a:gd name="T60" fmla="*/ 5 w 323"/>
                  <a:gd name="T61" fmla="*/ 40 h 379"/>
                  <a:gd name="T62" fmla="*/ 6 w 323"/>
                  <a:gd name="T63" fmla="*/ 33 h 379"/>
                  <a:gd name="T64" fmla="*/ 8 w 323"/>
                  <a:gd name="T65" fmla="*/ 27 h 379"/>
                  <a:gd name="T66" fmla="*/ 11 w 323"/>
                  <a:gd name="T67" fmla="*/ 23 h 379"/>
                  <a:gd name="T68" fmla="*/ 15 w 323"/>
                  <a:gd name="T69" fmla="*/ 18 h 379"/>
                  <a:gd name="T70" fmla="*/ 19 w 323"/>
                  <a:gd name="T71" fmla="*/ 15 h 379"/>
                  <a:gd name="T72" fmla="*/ 24 w 323"/>
                  <a:gd name="T73" fmla="*/ 11 h 379"/>
                  <a:gd name="T74" fmla="*/ 30 w 323"/>
                  <a:gd name="T75" fmla="*/ 7 h 379"/>
                  <a:gd name="T76" fmla="*/ 36 w 323"/>
                  <a:gd name="T77" fmla="*/ 4 h 379"/>
                  <a:gd name="T78" fmla="*/ 42 w 323"/>
                  <a:gd name="T79" fmla="*/ 1 h 379"/>
                  <a:gd name="T80" fmla="*/ 42 w 323"/>
                  <a:gd name="T81" fmla="*/ 0 h 379"/>
                  <a:gd name="T82" fmla="*/ 36 w 323"/>
                  <a:gd name="T83" fmla="*/ 1 h 379"/>
                  <a:gd name="T84" fmla="*/ 30 w 323"/>
                  <a:gd name="T85" fmla="*/ 3 h 379"/>
                  <a:gd name="T86" fmla="*/ 23 w 323"/>
                  <a:gd name="T87" fmla="*/ 6 h 379"/>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323"/>
                  <a:gd name="T133" fmla="*/ 0 h 379"/>
                  <a:gd name="T134" fmla="*/ 323 w 323"/>
                  <a:gd name="T135" fmla="*/ 379 h 379"/>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323" h="379">
                    <a:moveTo>
                      <a:pt x="126" y="50"/>
                    </a:moveTo>
                    <a:lnTo>
                      <a:pt x="101" y="70"/>
                    </a:lnTo>
                    <a:lnTo>
                      <a:pt x="76" y="92"/>
                    </a:lnTo>
                    <a:lnTo>
                      <a:pt x="54" y="115"/>
                    </a:lnTo>
                    <a:lnTo>
                      <a:pt x="34" y="140"/>
                    </a:lnTo>
                    <a:lnTo>
                      <a:pt x="18" y="167"/>
                    </a:lnTo>
                    <a:lnTo>
                      <a:pt x="6" y="196"/>
                    </a:lnTo>
                    <a:lnTo>
                      <a:pt x="0" y="227"/>
                    </a:lnTo>
                    <a:lnTo>
                      <a:pt x="1" y="259"/>
                    </a:lnTo>
                    <a:lnTo>
                      <a:pt x="4" y="267"/>
                    </a:lnTo>
                    <a:lnTo>
                      <a:pt x="7" y="277"/>
                    </a:lnTo>
                    <a:lnTo>
                      <a:pt x="11" y="283"/>
                    </a:lnTo>
                    <a:lnTo>
                      <a:pt x="15" y="291"/>
                    </a:lnTo>
                    <a:lnTo>
                      <a:pt x="21" y="298"/>
                    </a:lnTo>
                    <a:lnTo>
                      <a:pt x="27" y="305"/>
                    </a:lnTo>
                    <a:lnTo>
                      <a:pt x="34" y="311"/>
                    </a:lnTo>
                    <a:lnTo>
                      <a:pt x="41" y="316"/>
                    </a:lnTo>
                    <a:lnTo>
                      <a:pt x="57" y="325"/>
                    </a:lnTo>
                    <a:lnTo>
                      <a:pt x="72" y="333"/>
                    </a:lnTo>
                    <a:lnTo>
                      <a:pt x="87" y="340"/>
                    </a:lnTo>
                    <a:lnTo>
                      <a:pt x="103" y="345"/>
                    </a:lnTo>
                    <a:lnTo>
                      <a:pt x="120" y="351"/>
                    </a:lnTo>
                    <a:lnTo>
                      <a:pt x="136" y="356"/>
                    </a:lnTo>
                    <a:lnTo>
                      <a:pt x="153" y="360"/>
                    </a:lnTo>
                    <a:lnTo>
                      <a:pt x="169" y="364"/>
                    </a:lnTo>
                    <a:lnTo>
                      <a:pt x="187" y="367"/>
                    </a:lnTo>
                    <a:lnTo>
                      <a:pt x="204" y="370"/>
                    </a:lnTo>
                    <a:lnTo>
                      <a:pt x="221" y="372"/>
                    </a:lnTo>
                    <a:lnTo>
                      <a:pt x="238" y="374"/>
                    </a:lnTo>
                    <a:lnTo>
                      <a:pt x="256" y="375"/>
                    </a:lnTo>
                    <a:lnTo>
                      <a:pt x="273" y="376"/>
                    </a:lnTo>
                    <a:lnTo>
                      <a:pt x="290" y="378"/>
                    </a:lnTo>
                    <a:lnTo>
                      <a:pt x="307" y="379"/>
                    </a:lnTo>
                    <a:lnTo>
                      <a:pt x="312" y="379"/>
                    </a:lnTo>
                    <a:lnTo>
                      <a:pt x="317" y="375"/>
                    </a:lnTo>
                    <a:lnTo>
                      <a:pt x="320" y="372"/>
                    </a:lnTo>
                    <a:lnTo>
                      <a:pt x="323" y="366"/>
                    </a:lnTo>
                    <a:lnTo>
                      <a:pt x="323" y="360"/>
                    </a:lnTo>
                    <a:lnTo>
                      <a:pt x="320" y="356"/>
                    </a:lnTo>
                    <a:lnTo>
                      <a:pt x="316" y="352"/>
                    </a:lnTo>
                    <a:lnTo>
                      <a:pt x="311" y="351"/>
                    </a:lnTo>
                    <a:lnTo>
                      <a:pt x="295" y="351"/>
                    </a:lnTo>
                    <a:lnTo>
                      <a:pt x="279" y="351"/>
                    </a:lnTo>
                    <a:lnTo>
                      <a:pt x="263" y="350"/>
                    </a:lnTo>
                    <a:lnTo>
                      <a:pt x="248" y="349"/>
                    </a:lnTo>
                    <a:lnTo>
                      <a:pt x="231" y="348"/>
                    </a:lnTo>
                    <a:lnTo>
                      <a:pt x="215" y="345"/>
                    </a:lnTo>
                    <a:lnTo>
                      <a:pt x="200" y="343"/>
                    </a:lnTo>
                    <a:lnTo>
                      <a:pt x="183" y="341"/>
                    </a:lnTo>
                    <a:lnTo>
                      <a:pt x="168" y="337"/>
                    </a:lnTo>
                    <a:lnTo>
                      <a:pt x="151" y="334"/>
                    </a:lnTo>
                    <a:lnTo>
                      <a:pt x="136" y="329"/>
                    </a:lnTo>
                    <a:lnTo>
                      <a:pt x="121" y="325"/>
                    </a:lnTo>
                    <a:lnTo>
                      <a:pt x="106" y="320"/>
                    </a:lnTo>
                    <a:lnTo>
                      <a:pt x="92" y="313"/>
                    </a:lnTo>
                    <a:lnTo>
                      <a:pt x="76" y="306"/>
                    </a:lnTo>
                    <a:lnTo>
                      <a:pt x="62" y="300"/>
                    </a:lnTo>
                    <a:lnTo>
                      <a:pt x="51" y="291"/>
                    </a:lnTo>
                    <a:lnTo>
                      <a:pt x="41" y="280"/>
                    </a:lnTo>
                    <a:lnTo>
                      <a:pt x="35" y="269"/>
                    </a:lnTo>
                    <a:lnTo>
                      <a:pt x="31" y="255"/>
                    </a:lnTo>
                    <a:lnTo>
                      <a:pt x="31" y="239"/>
                    </a:lnTo>
                    <a:lnTo>
                      <a:pt x="33" y="218"/>
                    </a:lnTo>
                    <a:lnTo>
                      <a:pt x="38" y="197"/>
                    </a:lnTo>
                    <a:lnTo>
                      <a:pt x="42" y="182"/>
                    </a:lnTo>
                    <a:lnTo>
                      <a:pt x="51" y="165"/>
                    </a:lnTo>
                    <a:lnTo>
                      <a:pt x="60" y="150"/>
                    </a:lnTo>
                    <a:lnTo>
                      <a:pt x="68" y="136"/>
                    </a:lnTo>
                    <a:lnTo>
                      <a:pt x="79" y="124"/>
                    </a:lnTo>
                    <a:lnTo>
                      <a:pt x="89" y="111"/>
                    </a:lnTo>
                    <a:lnTo>
                      <a:pt x="101" y="100"/>
                    </a:lnTo>
                    <a:lnTo>
                      <a:pt x="114" y="88"/>
                    </a:lnTo>
                    <a:lnTo>
                      <a:pt x="129" y="76"/>
                    </a:lnTo>
                    <a:lnTo>
                      <a:pt x="144" y="64"/>
                    </a:lnTo>
                    <a:lnTo>
                      <a:pt x="162" y="53"/>
                    </a:lnTo>
                    <a:lnTo>
                      <a:pt x="181" y="41"/>
                    </a:lnTo>
                    <a:lnTo>
                      <a:pt x="201" y="31"/>
                    </a:lnTo>
                    <a:lnTo>
                      <a:pt x="219" y="22"/>
                    </a:lnTo>
                    <a:lnTo>
                      <a:pt x="237" y="14"/>
                    </a:lnTo>
                    <a:lnTo>
                      <a:pt x="253" y="7"/>
                    </a:lnTo>
                    <a:lnTo>
                      <a:pt x="268" y="1"/>
                    </a:lnTo>
                    <a:lnTo>
                      <a:pt x="255" y="0"/>
                    </a:lnTo>
                    <a:lnTo>
                      <a:pt x="238" y="1"/>
                    </a:lnTo>
                    <a:lnTo>
                      <a:pt x="221" y="5"/>
                    </a:lnTo>
                    <a:lnTo>
                      <a:pt x="201" y="11"/>
                    </a:lnTo>
                    <a:lnTo>
                      <a:pt x="181" y="19"/>
                    </a:lnTo>
                    <a:lnTo>
                      <a:pt x="161" y="28"/>
                    </a:lnTo>
                    <a:lnTo>
                      <a:pt x="142" y="39"/>
                    </a:lnTo>
                    <a:lnTo>
                      <a:pt x="126" y="5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de-DE"/>
              </a:p>
            </p:txBody>
          </p:sp>
          <p:sp>
            <p:nvSpPr>
              <p:cNvPr id="117" name="Freeform 553"/>
              <p:cNvSpPr>
                <a:spLocks/>
              </p:cNvSpPr>
              <p:nvPr/>
            </p:nvSpPr>
            <p:spPr bwMode="auto">
              <a:xfrm>
                <a:off x="2650" y="2695"/>
                <a:ext cx="47" cy="42"/>
              </a:xfrm>
              <a:custGeom>
                <a:avLst/>
                <a:gdLst>
                  <a:gd name="T0" fmla="*/ 39 w 282"/>
                  <a:gd name="T1" fmla="*/ 13 h 253"/>
                  <a:gd name="T2" fmla="*/ 41 w 282"/>
                  <a:gd name="T3" fmla="*/ 15 h 253"/>
                  <a:gd name="T4" fmla="*/ 42 w 282"/>
                  <a:gd name="T5" fmla="*/ 18 h 253"/>
                  <a:gd name="T6" fmla="*/ 43 w 282"/>
                  <a:gd name="T7" fmla="*/ 21 h 253"/>
                  <a:gd name="T8" fmla="*/ 43 w 282"/>
                  <a:gd name="T9" fmla="*/ 24 h 253"/>
                  <a:gd name="T10" fmla="*/ 43 w 282"/>
                  <a:gd name="T11" fmla="*/ 26 h 253"/>
                  <a:gd name="T12" fmla="*/ 42 w 282"/>
                  <a:gd name="T13" fmla="*/ 28 h 253"/>
                  <a:gd name="T14" fmla="*/ 41 w 282"/>
                  <a:gd name="T15" fmla="*/ 31 h 253"/>
                  <a:gd name="T16" fmla="*/ 39 w 282"/>
                  <a:gd name="T17" fmla="*/ 32 h 253"/>
                  <a:gd name="T18" fmla="*/ 37 w 282"/>
                  <a:gd name="T19" fmla="*/ 34 h 253"/>
                  <a:gd name="T20" fmla="*/ 36 w 282"/>
                  <a:gd name="T21" fmla="*/ 36 h 253"/>
                  <a:gd name="T22" fmla="*/ 34 w 282"/>
                  <a:gd name="T23" fmla="*/ 37 h 253"/>
                  <a:gd name="T24" fmla="*/ 32 w 282"/>
                  <a:gd name="T25" fmla="*/ 39 h 253"/>
                  <a:gd name="T26" fmla="*/ 32 w 282"/>
                  <a:gd name="T27" fmla="*/ 40 h 253"/>
                  <a:gd name="T28" fmla="*/ 32 w 282"/>
                  <a:gd name="T29" fmla="*/ 40 h 253"/>
                  <a:gd name="T30" fmla="*/ 32 w 282"/>
                  <a:gd name="T31" fmla="*/ 41 h 253"/>
                  <a:gd name="T32" fmla="*/ 32 w 282"/>
                  <a:gd name="T33" fmla="*/ 41 h 253"/>
                  <a:gd name="T34" fmla="*/ 33 w 282"/>
                  <a:gd name="T35" fmla="*/ 42 h 253"/>
                  <a:gd name="T36" fmla="*/ 33 w 282"/>
                  <a:gd name="T37" fmla="*/ 42 h 253"/>
                  <a:gd name="T38" fmla="*/ 34 w 282"/>
                  <a:gd name="T39" fmla="*/ 42 h 253"/>
                  <a:gd name="T40" fmla="*/ 35 w 282"/>
                  <a:gd name="T41" fmla="*/ 41 h 253"/>
                  <a:gd name="T42" fmla="*/ 39 w 282"/>
                  <a:gd name="T43" fmla="*/ 39 h 253"/>
                  <a:gd name="T44" fmla="*/ 42 w 282"/>
                  <a:gd name="T45" fmla="*/ 36 h 253"/>
                  <a:gd name="T46" fmla="*/ 45 w 282"/>
                  <a:gd name="T47" fmla="*/ 32 h 253"/>
                  <a:gd name="T48" fmla="*/ 46 w 282"/>
                  <a:gd name="T49" fmla="*/ 28 h 253"/>
                  <a:gd name="T50" fmla="*/ 47 w 282"/>
                  <a:gd name="T51" fmla="*/ 23 h 253"/>
                  <a:gd name="T52" fmla="*/ 47 w 282"/>
                  <a:gd name="T53" fmla="*/ 19 h 253"/>
                  <a:gd name="T54" fmla="*/ 45 w 282"/>
                  <a:gd name="T55" fmla="*/ 15 h 253"/>
                  <a:gd name="T56" fmla="*/ 42 w 282"/>
                  <a:gd name="T57" fmla="*/ 12 h 253"/>
                  <a:gd name="T58" fmla="*/ 39 w 282"/>
                  <a:gd name="T59" fmla="*/ 10 h 253"/>
                  <a:gd name="T60" fmla="*/ 37 w 282"/>
                  <a:gd name="T61" fmla="*/ 8 h 253"/>
                  <a:gd name="T62" fmla="*/ 34 w 282"/>
                  <a:gd name="T63" fmla="*/ 6 h 253"/>
                  <a:gd name="T64" fmla="*/ 30 w 282"/>
                  <a:gd name="T65" fmla="*/ 5 h 253"/>
                  <a:gd name="T66" fmla="*/ 27 w 282"/>
                  <a:gd name="T67" fmla="*/ 4 h 253"/>
                  <a:gd name="T68" fmla="*/ 24 w 282"/>
                  <a:gd name="T69" fmla="*/ 3 h 253"/>
                  <a:gd name="T70" fmla="*/ 20 w 282"/>
                  <a:gd name="T71" fmla="*/ 2 h 253"/>
                  <a:gd name="T72" fmla="*/ 17 w 282"/>
                  <a:gd name="T73" fmla="*/ 1 h 253"/>
                  <a:gd name="T74" fmla="*/ 14 w 282"/>
                  <a:gd name="T75" fmla="*/ 1 h 253"/>
                  <a:gd name="T76" fmla="*/ 10 w 282"/>
                  <a:gd name="T77" fmla="*/ 0 h 253"/>
                  <a:gd name="T78" fmla="*/ 8 w 282"/>
                  <a:gd name="T79" fmla="*/ 0 h 253"/>
                  <a:gd name="T80" fmla="*/ 5 w 282"/>
                  <a:gd name="T81" fmla="*/ 0 h 253"/>
                  <a:gd name="T82" fmla="*/ 3 w 282"/>
                  <a:gd name="T83" fmla="*/ 0 h 253"/>
                  <a:gd name="T84" fmla="*/ 2 w 282"/>
                  <a:gd name="T85" fmla="*/ 0 h 253"/>
                  <a:gd name="T86" fmla="*/ 1 w 282"/>
                  <a:gd name="T87" fmla="*/ 1 h 253"/>
                  <a:gd name="T88" fmla="*/ 0 w 282"/>
                  <a:gd name="T89" fmla="*/ 1 h 253"/>
                  <a:gd name="T90" fmla="*/ 2 w 282"/>
                  <a:gd name="T91" fmla="*/ 1 h 253"/>
                  <a:gd name="T92" fmla="*/ 4 w 282"/>
                  <a:gd name="T93" fmla="*/ 1 h 253"/>
                  <a:gd name="T94" fmla="*/ 6 w 282"/>
                  <a:gd name="T95" fmla="*/ 2 h 253"/>
                  <a:gd name="T96" fmla="*/ 9 w 282"/>
                  <a:gd name="T97" fmla="*/ 2 h 253"/>
                  <a:gd name="T98" fmla="*/ 11 w 282"/>
                  <a:gd name="T99" fmla="*/ 3 h 253"/>
                  <a:gd name="T100" fmla="*/ 14 w 282"/>
                  <a:gd name="T101" fmla="*/ 3 h 253"/>
                  <a:gd name="T102" fmla="*/ 16 w 282"/>
                  <a:gd name="T103" fmla="*/ 4 h 253"/>
                  <a:gd name="T104" fmla="*/ 19 w 282"/>
                  <a:gd name="T105" fmla="*/ 4 h 253"/>
                  <a:gd name="T106" fmla="*/ 22 w 282"/>
                  <a:gd name="T107" fmla="*/ 5 h 253"/>
                  <a:gd name="T108" fmla="*/ 24 w 282"/>
                  <a:gd name="T109" fmla="*/ 6 h 253"/>
                  <a:gd name="T110" fmla="*/ 27 w 282"/>
                  <a:gd name="T111" fmla="*/ 7 h 253"/>
                  <a:gd name="T112" fmla="*/ 29 w 282"/>
                  <a:gd name="T113" fmla="*/ 8 h 253"/>
                  <a:gd name="T114" fmla="*/ 32 w 282"/>
                  <a:gd name="T115" fmla="*/ 9 h 253"/>
                  <a:gd name="T116" fmla="*/ 35 w 282"/>
                  <a:gd name="T117" fmla="*/ 10 h 253"/>
                  <a:gd name="T118" fmla="*/ 37 w 282"/>
                  <a:gd name="T119" fmla="*/ 11 h 253"/>
                  <a:gd name="T120" fmla="*/ 39 w 282"/>
                  <a:gd name="T121" fmla="*/ 13 h 253"/>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282"/>
                  <a:gd name="T184" fmla="*/ 0 h 253"/>
                  <a:gd name="T185" fmla="*/ 282 w 282"/>
                  <a:gd name="T186" fmla="*/ 253 h 253"/>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282" h="253">
                    <a:moveTo>
                      <a:pt x="235" y="78"/>
                    </a:moveTo>
                    <a:lnTo>
                      <a:pt x="248" y="92"/>
                    </a:lnTo>
                    <a:lnTo>
                      <a:pt x="255" y="108"/>
                    </a:lnTo>
                    <a:lnTo>
                      <a:pt x="259" y="125"/>
                    </a:lnTo>
                    <a:lnTo>
                      <a:pt x="259" y="144"/>
                    </a:lnTo>
                    <a:lnTo>
                      <a:pt x="257" y="159"/>
                    </a:lnTo>
                    <a:lnTo>
                      <a:pt x="252" y="171"/>
                    </a:lnTo>
                    <a:lnTo>
                      <a:pt x="244" y="184"/>
                    </a:lnTo>
                    <a:lnTo>
                      <a:pt x="236" y="194"/>
                    </a:lnTo>
                    <a:lnTo>
                      <a:pt x="225" y="206"/>
                    </a:lnTo>
                    <a:lnTo>
                      <a:pt x="215" y="215"/>
                    </a:lnTo>
                    <a:lnTo>
                      <a:pt x="204" y="225"/>
                    </a:lnTo>
                    <a:lnTo>
                      <a:pt x="194" y="236"/>
                    </a:lnTo>
                    <a:lnTo>
                      <a:pt x="191" y="239"/>
                    </a:lnTo>
                    <a:lnTo>
                      <a:pt x="190" y="242"/>
                    </a:lnTo>
                    <a:lnTo>
                      <a:pt x="191" y="246"/>
                    </a:lnTo>
                    <a:lnTo>
                      <a:pt x="194" y="249"/>
                    </a:lnTo>
                    <a:lnTo>
                      <a:pt x="197" y="252"/>
                    </a:lnTo>
                    <a:lnTo>
                      <a:pt x="201" y="253"/>
                    </a:lnTo>
                    <a:lnTo>
                      <a:pt x="205" y="252"/>
                    </a:lnTo>
                    <a:lnTo>
                      <a:pt x="209" y="249"/>
                    </a:lnTo>
                    <a:lnTo>
                      <a:pt x="232" y="234"/>
                    </a:lnTo>
                    <a:lnTo>
                      <a:pt x="251" y="215"/>
                    </a:lnTo>
                    <a:lnTo>
                      <a:pt x="267" y="192"/>
                    </a:lnTo>
                    <a:lnTo>
                      <a:pt x="278" y="168"/>
                    </a:lnTo>
                    <a:lnTo>
                      <a:pt x="282" y="141"/>
                    </a:lnTo>
                    <a:lnTo>
                      <a:pt x="279" y="116"/>
                    </a:lnTo>
                    <a:lnTo>
                      <a:pt x="270" y="92"/>
                    </a:lnTo>
                    <a:lnTo>
                      <a:pt x="251" y="70"/>
                    </a:lnTo>
                    <a:lnTo>
                      <a:pt x="237" y="59"/>
                    </a:lnTo>
                    <a:lnTo>
                      <a:pt x="221" y="48"/>
                    </a:lnTo>
                    <a:lnTo>
                      <a:pt x="202" y="39"/>
                    </a:lnTo>
                    <a:lnTo>
                      <a:pt x="183" y="31"/>
                    </a:lnTo>
                    <a:lnTo>
                      <a:pt x="163" y="24"/>
                    </a:lnTo>
                    <a:lnTo>
                      <a:pt x="142" y="18"/>
                    </a:lnTo>
                    <a:lnTo>
                      <a:pt x="122" y="13"/>
                    </a:lnTo>
                    <a:lnTo>
                      <a:pt x="101" y="8"/>
                    </a:lnTo>
                    <a:lnTo>
                      <a:pt x="82" y="5"/>
                    </a:lnTo>
                    <a:lnTo>
                      <a:pt x="63" y="2"/>
                    </a:lnTo>
                    <a:lnTo>
                      <a:pt x="47" y="0"/>
                    </a:lnTo>
                    <a:lnTo>
                      <a:pt x="32" y="0"/>
                    </a:lnTo>
                    <a:lnTo>
                      <a:pt x="19" y="0"/>
                    </a:lnTo>
                    <a:lnTo>
                      <a:pt x="10" y="1"/>
                    </a:lnTo>
                    <a:lnTo>
                      <a:pt x="4" y="4"/>
                    </a:lnTo>
                    <a:lnTo>
                      <a:pt x="0" y="6"/>
                    </a:lnTo>
                    <a:lnTo>
                      <a:pt x="12" y="8"/>
                    </a:lnTo>
                    <a:lnTo>
                      <a:pt x="25" y="9"/>
                    </a:lnTo>
                    <a:lnTo>
                      <a:pt x="38" y="12"/>
                    </a:lnTo>
                    <a:lnTo>
                      <a:pt x="52" y="14"/>
                    </a:lnTo>
                    <a:lnTo>
                      <a:pt x="67" y="16"/>
                    </a:lnTo>
                    <a:lnTo>
                      <a:pt x="82" y="18"/>
                    </a:lnTo>
                    <a:lnTo>
                      <a:pt x="97" y="22"/>
                    </a:lnTo>
                    <a:lnTo>
                      <a:pt x="114" y="25"/>
                    </a:lnTo>
                    <a:lnTo>
                      <a:pt x="129" y="30"/>
                    </a:lnTo>
                    <a:lnTo>
                      <a:pt x="146" y="35"/>
                    </a:lnTo>
                    <a:lnTo>
                      <a:pt x="162" y="40"/>
                    </a:lnTo>
                    <a:lnTo>
                      <a:pt x="177" y="46"/>
                    </a:lnTo>
                    <a:lnTo>
                      <a:pt x="192" y="53"/>
                    </a:lnTo>
                    <a:lnTo>
                      <a:pt x="208" y="60"/>
                    </a:lnTo>
                    <a:lnTo>
                      <a:pt x="222" y="69"/>
                    </a:lnTo>
                    <a:lnTo>
                      <a:pt x="235" y="7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de-DE"/>
              </a:p>
            </p:txBody>
          </p:sp>
          <p:sp>
            <p:nvSpPr>
              <p:cNvPr id="118" name="Freeform 554"/>
              <p:cNvSpPr>
                <a:spLocks/>
              </p:cNvSpPr>
              <p:nvPr/>
            </p:nvSpPr>
            <p:spPr bwMode="auto">
              <a:xfrm>
                <a:off x="2556" y="2718"/>
                <a:ext cx="19" cy="39"/>
              </a:xfrm>
              <a:custGeom>
                <a:avLst/>
                <a:gdLst>
                  <a:gd name="T0" fmla="*/ 0 w 115"/>
                  <a:gd name="T1" fmla="*/ 21 h 236"/>
                  <a:gd name="T2" fmla="*/ 0 w 115"/>
                  <a:gd name="T3" fmla="*/ 24 h 236"/>
                  <a:gd name="T4" fmla="*/ 1 w 115"/>
                  <a:gd name="T5" fmla="*/ 27 h 236"/>
                  <a:gd name="T6" fmla="*/ 2 w 115"/>
                  <a:gd name="T7" fmla="*/ 30 h 236"/>
                  <a:gd name="T8" fmla="*/ 4 w 115"/>
                  <a:gd name="T9" fmla="*/ 33 h 236"/>
                  <a:gd name="T10" fmla="*/ 6 w 115"/>
                  <a:gd name="T11" fmla="*/ 35 h 236"/>
                  <a:gd name="T12" fmla="*/ 9 w 115"/>
                  <a:gd name="T13" fmla="*/ 37 h 236"/>
                  <a:gd name="T14" fmla="*/ 12 w 115"/>
                  <a:gd name="T15" fmla="*/ 38 h 236"/>
                  <a:gd name="T16" fmla="*/ 15 w 115"/>
                  <a:gd name="T17" fmla="*/ 39 h 236"/>
                  <a:gd name="T18" fmla="*/ 16 w 115"/>
                  <a:gd name="T19" fmla="*/ 39 h 236"/>
                  <a:gd name="T20" fmla="*/ 17 w 115"/>
                  <a:gd name="T21" fmla="*/ 39 h 236"/>
                  <a:gd name="T22" fmla="*/ 18 w 115"/>
                  <a:gd name="T23" fmla="*/ 38 h 236"/>
                  <a:gd name="T24" fmla="*/ 18 w 115"/>
                  <a:gd name="T25" fmla="*/ 37 h 236"/>
                  <a:gd name="T26" fmla="*/ 18 w 115"/>
                  <a:gd name="T27" fmla="*/ 36 h 236"/>
                  <a:gd name="T28" fmla="*/ 18 w 115"/>
                  <a:gd name="T29" fmla="*/ 36 h 236"/>
                  <a:gd name="T30" fmla="*/ 18 w 115"/>
                  <a:gd name="T31" fmla="*/ 35 h 236"/>
                  <a:gd name="T32" fmla="*/ 17 w 115"/>
                  <a:gd name="T33" fmla="*/ 34 h 236"/>
                  <a:gd name="T34" fmla="*/ 14 w 115"/>
                  <a:gd name="T35" fmla="*/ 33 h 236"/>
                  <a:gd name="T36" fmla="*/ 11 w 115"/>
                  <a:gd name="T37" fmla="*/ 32 h 236"/>
                  <a:gd name="T38" fmla="*/ 8 w 115"/>
                  <a:gd name="T39" fmla="*/ 30 h 236"/>
                  <a:gd name="T40" fmla="*/ 7 w 115"/>
                  <a:gd name="T41" fmla="*/ 27 h 236"/>
                  <a:gd name="T42" fmla="*/ 5 w 115"/>
                  <a:gd name="T43" fmla="*/ 24 h 236"/>
                  <a:gd name="T44" fmla="*/ 5 w 115"/>
                  <a:gd name="T45" fmla="*/ 21 h 236"/>
                  <a:gd name="T46" fmla="*/ 5 w 115"/>
                  <a:gd name="T47" fmla="*/ 18 h 236"/>
                  <a:gd name="T48" fmla="*/ 6 w 115"/>
                  <a:gd name="T49" fmla="*/ 15 h 236"/>
                  <a:gd name="T50" fmla="*/ 7 w 115"/>
                  <a:gd name="T51" fmla="*/ 12 h 236"/>
                  <a:gd name="T52" fmla="*/ 9 w 115"/>
                  <a:gd name="T53" fmla="*/ 10 h 236"/>
                  <a:gd name="T54" fmla="*/ 12 w 115"/>
                  <a:gd name="T55" fmla="*/ 8 h 236"/>
                  <a:gd name="T56" fmla="*/ 14 w 115"/>
                  <a:gd name="T57" fmla="*/ 5 h 236"/>
                  <a:gd name="T58" fmla="*/ 16 w 115"/>
                  <a:gd name="T59" fmla="*/ 4 h 236"/>
                  <a:gd name="T60" fmla="*/ 18 w 115"/>
                  <a:gd name="T61" fmla="*/ 2 h 236"/>
                  <a:gd name="T62" fmla="*/ 19 w 115"/>
                  <a:gd name="T63" fmla="*/ 1 h 236"/>
                  <a:gd name="T64" fmla="*/ 19 w 115"/>
                  <a:gd name="T65" fmla="*/ 0 h 236"/>
                  <a:gd name="T66" fmla="*/ 17 w 115"/>
                  <a:gd name="T67" fmla="*/ 1 h 236"/>
                  <a:gd name="T68" fmla="*/ 14 w 115"/>
                  <a:gd name="T69" fmla="*/ 2 h 236"/>
                  <a:gd name="T70" fmla="*/ 11 w 115"/>
                  <a:gd name="T71" fmla="*/ 4 h 236"/>
                  <a:gd name="T72" fmla="*/ 8 w 115"/>
                  <a:gd name="T73" fmla="*/ 7 h 236"/>
                  <a:gd name="T74" fmla="*/ 5 w 115"/>
                  <a:gd name="T75" fmla="*/ 10 h 236"/>
                  <a:gd name="T76" fmla="*/ 3 w 115"/>
                  <a:gd name="T77" fmla="*/ 14 h 236"/>
                  <a:gd name="T78" fmla="*/ 1 w 115"/>
                  <a:gd name="T79" fmla="*/ 17 h 236"/>
                  <a:gd name="T80" fmla="*/ 0 w 115"/>
                  <a:gd name="T81" fmla="*/ 21 h 2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115"/>
                  <a:gd name="T124" fmla="*/ 0 h 236"/>
                  <a:gd name="T125" fmla="*/ 115 w 115"/>
                  <a:gd name="T126" fmla="*/ 236 h 23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115" h="236">
                    <a:moveTo>
                      <a:pt x="0" y="128"/>
                    </a:moveTo>
                    <a:lnTo>
                      <a:pt x="0" y="148"/>
                    </a:lnTo>
                    <a:lnTo>
                      <a:pt x="5" y="166"/>
                    </a:lnTo>
                    <a:lnTo>
                      <a:pt x="13" y="184"/>
                    </a:lnTo>
                    <a:lnTo>
                      <a:pt x="24" y="198"/>
                    </a:lnTo>
                    <a:lnTo>
                      <a:pt x="39" y="211"/>
                    </a:lnTo>
                    <a:lnTo>
                      <a:pt x="55" y="223"/>
                    </a:lnTo>
                    <a:lnTo>
                      <a:pt x="74" y="231"/>
                    </a:lnTo>
                    <a:lnTo>
                      <a:pt x="92" y="235"/>
                    </a:lnTo>
                    <a:lnTo>
                      <a:pt x="98" y="236"/>
                    </a:lnTo>
                    <a:lnTo>
                      <a:pt x="104" y="234"/>
                    </a:lnTo>
                    <a:lnTo>
                      <a:pt x="109" y="231"/>
                    </a:lnTo>
                    <a:lnTo>
                      <a:pt x="111" y="226"/>
                    </a:lnTo>
                    <a:lnTo>
                      <a:pt x="111" y="220"/>
                    </a:lnTo>
                    <a:lnTo>
                      <a:pt x="110" y="215"/>
                    </a:lnTo>
                    <a:lnTo>
                      <a:pt x="107" y="210"/>
                    </a:lnTo>
                    <a:lnTo>
                      <a:pt x="101" y="208"/>
                    </a:lnTo>
                    <a:lnTo>
                      <a:pt x="82" y="201"/>
                    </a:lnTo>
                    <a:lnTo>
                      <a:pt x="64" y="192"/>
                    </a:lnTo>
                    <a:lnTo>
                      <a:pt x="50" y="179"/>
                    </a:lnTo>
                    <a:lnTo>
                      <a:pt x="40" y="165"/>
                    </a:lnTo>
                    <a:lnTo>
                      <a:pt x="33" y="148"/>
                    </a:lnTo>
                    <a:lnTo>
                      <a:pt x="29" y="130"/>
                    </a:lnTo>
                    <a:lnTo>
                      <a:pt x="29" y="110"/>
                    </a:lnTo>
                    <a:lnTo>
                      <a:pt x="35" y="89"/>
                    </a:lnTo>
                    <a:lnTo>
                      <a:pt x="43" y="74"/>
                    </a:lnTo>
                    <a:lnTo>
                      <a:pt x="56" y="60"/>
                    </a:lnTo>
                    <a:lnTo>
                      <a:pt x="70" y="46"/>
                    </a:lnTo>
                    <a:lnTo>
                      <a:pt x="85" y="33"/>
                    </a:lnTo>
                    <a:lnTo>
                      <a:pt x="98" y="23"/>
                    </a:lnTo>
                    <a:lnTo>
                      <a:pt x="109" y="12"/>
                    </a:lnTo>
                    <a:lnTo>
                      <a:pt x="115" y="6"/>
                    </a:lnTo>
                    <a:lnTo>
                      <a:pt x="115" y="0"/>
                    </a:lnTo>
                    <a:lnTo>
                      <a:pt x="102" y="4"/>
                    </a:lnTo>
                    <a:lnTo>
                      <a:pt x="85" y="12"/>
                    </a:lnTo>
                    <a:lnTo>
                      <a:pt x="68" y="26"/>
                    </a:lnTo>
                    <a:lnTo>
                      <a:pt x="49" y="42"/>
                    </a:lnTo>
                    <a:lnTo>
                      <a:pt x="32" y="61"/>
                    </a:lnTo>
                    <a:lnTo>
                      <a:pt x="17" y="82"/>
                    </a:lnTo>
                    <a:lnTo>
                      <a:pt x="6" y="105"/>
                    </a:lnTo>
                    <a:lnTo>
                      <a:pt x="0" y="1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de-DE"/>
              </a:p>
            </p:txBody>
          </p:sp>
          <p:sp>
            <p:nvSpPr>
              <p:cNvPr id="119" name="Freeform 555"/>
              <p:cNvSpPr>
                <a:spLocks/>
              </p:cNvSpPr>
              <p:nvPr/>
            </p:nvSpPr>
            <p:spPr bwMode="auto">
              <a:xfrm>
                <a:off x="2689" y="2692"/>
                <a:ext cx="41" cy="52"/>
              </a:xfrm>
              <a:custGeom>
                <a:avLst/>
                <a:gdLst>
                  <a:gd name="T0" fmla="*/ 35 w 245"/>
                  <a:gd name="T1" fmla="*/ 21 h 310"/>
                  <a:gd name="T2" fmla="*/ 37 w 245"/>
                  <a:gd name="T3" fmla="*/ 24 h 310"/>
                  <a:gd name="T4" fmla="*/ 38 w 245"/>
                  <a:gd name="T5" fmla="*/ 28 h 310"/>
                  <a:gd name="T6" fmla="*/ 37 w 245"/>
                  <a:gd name="T7" fmla="*/ 31 h 310"/>
                  <a:gd name="T8" fmla="*/ 35 w 245"/>
                  <a:gd name="T9" fmla="*/ 35 h 310"/>
                  <a:gd name="T10" fmla="*/ 31 w 245"/>
                  <a:gd name="T11" fmla="*/ 38 h 310"/>
                  <a:gd name="T12" fmla="*/ 28 w 245"/>
                  <a:gd name="T13" fmla="*/ 41 h 310"/>
                  <a:gd name="T14" fmla="*/ 24 w 245"/>
                  <a:gd name="T15" fmla="*/ 44 h 310"/>
                  <a:gd name="T16" fmla="*/ 21 w 245"/>
                  <a:gd name="T17" fmla="*/ 47 h 310"/>
                  <a:gd name="T18" fmla="*/ 21 w 245"/>
                  <a:gd name="T19" fmla="*/ 48 h 310"/>
                  <a:gd name="T20" fmla="*/ 20 w 245"/>
                  <a:gd name="T21" fmla="*/ 50 h 310"/>
                  <a:gd name="T22" fmla="*/ 20 w 245"/>
                  <a:gd name="T23" fmla="*/ 51 h 310"/>
                  <a:gd name="T24" fmla="*/ 22 w 245"/>
                  <a:gd name="T25" fmla="*/ 52 h 310"/>
                  <a:gd name="T26" fmla="*/ 23 w 245"/>
                  <a:gd name="T27" fmla="*/ 52 h 310"/>
                  <a:gd name="T28" fmla="*/ 26 w 245"/>
                  <a:gd name="T29" fmla="*/ 49 h 310"/>
                  <a:gd name="T30" fmla="*/ 30 w 245"/>
                  <a:gd name="T31" fmla="*/ 45 h 310"/>
                  <a:gd name="T32" fmla="*/ 35 w 245"/>
                  <a:gd name="T33" fmla="*/ 41 h 310"/>
                  <a:gd name="T34" fmla="*/ 38 w 245"/>
                  <a:gd name="T35" fmla="*/ 37 h 310"/>
                  <a:gd name="T36" fmla="*/ 41 w 245"/>
                  <a:gd name="T37" fmla="*/ 31 h 310"/>
                  <a:gd name="T38" fmla="*/ 41 w 245"/>
                  <a:gd name="T39" fmla="*/ 25 h 310"/>
                  <a:gd name="T40" fmla="*/ 38 w 245"/>
                  <a:gd name="T41" fmla="*/ 20 h 310"/>
                  <a:gd name="T42" fmla="*/ 34 w 245"/>
                  <a:gd name="T43" fmla="*/ 16 h 310"/>
                  <a:gd name="T44" fmla="*/ 29 w 245"/>
                  <a:gd name="T45" fmla="*/ 13 h 310"/>
                  <a:gd name="T46" fmla="*/ 25 w 245"/>
                  <a:gd name="T47" fmla="*/ 10 h 310"/>
                  <a:gd name="T48" fmla="*/ 20 w 245"/>
                  <a:gd name="T49" fmla="*/ 8 h 310"/>
                  <a:gd name="T50" fmla="*/ 16 w 245"/>
                  <a:gd name="T51" fmla="*/ 5 h 310"/>
                  <a:gd name="T52" fmla="*/ 11 w 245"/>
                  <a:gd name="T53" fmla="*/ 3 h 310"/>
                  <a:gd name="T54" fmla="*/ 7 w 245"/>
                  <a:gd name="T55" fmla="*/ 1 h 310"/>
                  <a:gd name="T56" fmla="*/ 3 w 245"/>
                  <a:gd name="T57" fmla="*/ 0 h 310"/>
                  <a:gd name="T58" fmla="*/ 1 w 245"/>
                  <a:gd name="T59" fmla="*/ 0 h 310"/>
                  <a:gd name="T60" fmla="*/ 2 w 245"/>
                  <a:gd name="T61" fmla="*/ 1 h 310"/>
                  <a:gd name="T62" fmla="*/ 6 w 245"/>
                  <a:gd name="T63" fmla="*/ 3 h 310"/>
                  <a:gd name="T64" fmla="*/ 10 w 245"/>
                  <a:gd name="T65" fmla="*/ 5 h 310"/>
                  <a:gd name="T66" fmla="*/ 14 w 245"/>
                  <a:gd name="T67" fmla="*/ 7 h 310"/>
                  <a:gd name="T68" fmla="*/ 19 w 245"/>
                  <a:gd name="T69" fmla="*/ 10 h 310"/>
                  <a:gd name="T70" fmla="*/ 23 w 245"/>
                  <a:gd name="T71" fmla="*/ 12 h 310"/>
                  <a:gd name="T72" fmla="*/ 28 w 245"/>
                  <a:gd name="T73" fmla="*/ 15 h 310"/>
                  <a:gd name="T74" fmla="*/ 31 w 245"/>
                  <a:gd name="T75" fmla="*/ 18 h 310"/>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245"/>
                  <a:gd name="T115" fmla="*/ 0 h 310"/>
                  <a:gd name="T116" fmla="*/ 245 w 245"/>
                  <a:gd name="T117" fmla="*/ 310 h 310"/>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245" h="310">
                    <a:moveTo>
                      <a:pt x="200" y="116"/>
                    </a:moveTo>
                    <a:lnTo>
                      <a:pt x="208" y="124"/>
                    </a:lnTo>
                    <a:lnTo>
                      <a:pt x="214" y="133"/>
                    </a:lnTo>
                    <a:lnTo>
                      <a:pt x="220" y="144"/>
                    </a:lnTo>
                    <a:lnTo>
                      <a:pt x="223" y="154"/>
                    </a:lnTo>
                    <a:lnTo>
                      <a:pt x="226" y="164"/>
                    </a:lnTo>
                    <a:lnTo>
                      <a:pt x="224" y="176"/>
                    </a:lnTo>
                    <a:lnTo>
                      <a:pt x="222" y="187"/>
                    </a:lnTo>
                    <a:lnTo>
                      <a:pt x="216" y="198"/>
                    </a:lnTo>
                    <a:lnTo>
                      <a:pt x="208" y="209"/>
                    </a:lnTo>
                    <a:lnTo>
                      <a:pt x="199" y="219"/>
                    </a:lnTo>
                    <a:lnTo>
                      <a:pt x="188" y="229"/>
                    </a:lnTo>
                    <a:lnTo>
                      <a:pt x="177" y="238"/>
                    </a:lnTo>
                    <a:lnTo>
                      <a:pt x="166" y="246"/>
                    </a:lnTo>
                    <a:lnTo>
                      <a:pt x="154" y="255"/>
                    </a:lnTo>
                    <a:lnTo>
                      <a:pt x="142" y="264"/>
                    </a:lnTo>
                    <a:lnTo>
                      <a:pt x="132" y="275"/>
                    </a:lnTo>
                    <a:lnTo>
                      <a:pt x="128" y="278"/>
                    </a:lnTo>
                    <a:lnTo>
                      <a:pt x="126" y="283"/>
                    </a:lnTo>
                    <a:lnTo>
                      <a:pt x="124" y="287"/>
                    </a:lnTo>
                    <a:lnTo>
                      <a:pt x="121" y="292"/>
                    </a:lnTo>
                    <a:lnTo>
                      <a:pt x="120" y="296"/>
                    </a:lnTo>
                    <a:lnTo>
                      <a:pt x="120" y="301"/>
                    </a:lnTo>
                    <a:lnTo>
                      <a:pt x="122" y="306"/>
                    </a:lnTo>
                    <a:lnTo>
                      <a:pt x="126" y="309"/>
                    </a:lnTo>
                    <a:lnTo>
                      <a:pt x="131" y="310"/>
                    </a:lnTo>
                    <a:lnTo>
                      <a:pt x="135" y="310"/>
                    </a:lnTo>
                    <a:lnTo>
                      <a:pt x="139" y="309"/>
                    </a:lnTo>
                    <a:lnTo>
                      <a:pt x="142" y="306"/>
                    </a:lnTo>
                    <a:lnTo>
                      <a:pt x="154" y="292"/>
                    </a:lnTo>
                    <a:lnTo>
                      <a:pt x="167" y="280"/>
                    </a:lnTo>
                    <a:lnTo>
                      <a:pt x="180" y="269"/>
                    </a:lnTo>
                    <a:lnTo>
                      <a:pt x="194" y="257"/>
                    </a:lnTo>
                    <a:lnTo>
                      <a:pt x="207" y="246"/>
                    </a:lnTo>
                    <a:lnTo>
                      <a:pt x="220" y="233"/>
                    </a:lnTo>
                    <a:lnTo>
                      <a:pt x="230" y="219"/>
                    </a:lnTo>
                    <a:lnTo>
                      <a:pt x="238" y="204"/>
                    </a:lnTo>
                    <a:lnTo>
                      <a:pt x="244" y="186"/>
                    </a:lnTo>
                    <a:lnTo>
                      <a:pt x="245" y="169"/>
                    </a:lnTo>
                    <a:lnTo>
                      <a:pt x="243" y="152"/>
                    </a:lnTo>
                    <a:lnTo>
                      <a:pt x="237" y="134"/>
                    </a:lnTo>
                    <a:lnTo>
                      <a:pt x="228" y="119"/>
                    </a:lnTo>
                    <a:lnTo>
                      <a:pt x="217" y="105"/>
                    </a:lnTo>
                    <a:lnTo>
                      <a:pt x="203" y="93"/>
                    </a:lnTo>
                    <a:lnTo>
                      <a:pt x="188" y="83"/>
                    </a:lnTo>
                    <a:lnTo>
                      <a:pt x="176" y="76"/>
                    </a:lnTo>
                    <a:lnTo>
                      <a:pt x="163" y="69"/>
                    </a:lnTo>
                    <a:lnTo>
                      <a:pt x="151" y="61"/>
                    </a:lnTo>
                    <a:lnTo>
                      <a:pt x="136" y="54"/>
                    </a:lnTo>
                    <a:lnTo>
                      <a:pt x="122" y="46"/>
                    </a:lnTo>
                    <a:lnTo>
                      <a:pt x="107" y="39"/>
                    </a:lnTo>
                    <a:lnTo>
                      <a:pt x="93" y="31"/>
                    </a:lnTo>
                    <a:lnTo>
                      <a:pt x="79" y="24"/>
                    </a:lnTo>
                    <a:lnTo>
                      <a:pt x="66" y="18"/>
                    </a:lnTo>
                    <a:lnTo>
                      <a:pt x="53" y="13"/>
                    </a:lnTo>
                    <a:lnTo>
                      <a:pt x="40" y="8"/>
                    </a:lnTo>
                    <a:lnTo>
                      <a:pt x="30" y="5"/>
                    </a:lnTo>
                    <a:lnTo>
                      <a:pt x="20" y="1"/>
                    </a:lnTo>
                    <a:lnTo>
                      <a:pt x="12" y="0"/>
                    </a:lnTo>
                    <a:lnTo>
                      <a:pt x="5" y="0"/>
                    </a:lnTo>
                    <a:lnTo>
                      <a:pt x="0" y="2"/>
                    </a:lnTo>
                    <a:lnTo>
                      <a:pt x="11" y="8"/>
                    </a:lnTo>
                    <a:lnTo>
                      <a:pt x="23" y="14"/>
                    </a:lnTo>
                    <a:lnTo>
                      <a:pt x="36" y="20"/>
                    </a:lnTo>
                    <a:lnTo>
                      <a:pt x="47" y="25"/>
                    </a:lnTo>
                    <a:lnTo>
                      <a:pt x="60" y="31"/>
                    </a:lnTo>
                    <a:lnTo>
                      <a:pt x="73" y="37"/>
                    </a:lnTo>
                    <a:lnTo>
                      <a:pt x="86" y="44"/>
                    </a:lnTo>
                    <a:lnTo>
                      <a:pt x="99" y="51"/>
                    </a:lnTo>
                    <a:lnTo>
                      <a:pt x="113" y="57"/>
                    </a:lnTo>
                    <a:lnTo>
                      <a:pt x="126" y="64"/>
                    </a:lnTo>
                    <a:lnTo>
                      <a:pt x="139" y="71"/>
                    </a:lnTo>
                    <a:lnTo>
                      <a:pt x="152" y="79"/>
                    </a:lnTo>
                    <a:lnTo>
                      <a:pt x="165" y="88"/>
                    </a:lnTo>
                    <a:lnTo>
                      <a:pt x="176" y="96"/>
                    </a:lnTo>
                    <a:lnTo>
                      <a:pt x="188" y="106"/>
                    </a:lnTo>
                    <a:lnTo>
                      <a:pt x="200" y="11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de-DE"/>
              </a:p>
            </p:txBody>
          </p:sp>
        </p:grpSp>
        <p:sp>
          <p:nvSpPr>
            <p:cNvPr id="120" name="Line 556"/>
            <p:cNvSpPr>
              <a:spLocks noChangeShapeType="1"/>
            </p:cNvSpPr>
            <p:nvPr/>
          </p:nvSpPr>
          <p:spPr bwMode="auto">
            <a:xfrm>
              <a:off x="6334598" y="5199256"/>
              <a:ext cx="586389" cy="33936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de-DE"/>
            </a:p>
          </p:txBody>
        </p:sp>
        <p:sp>
          <p:nvSpPr>
            <p:cNvPr id="121" name="Line 557"/>
            <p:cNvSpPr>
              <a:spLocks noChangeShapeType="1"/>
            </p:cNvSpPr>
            <p:nvPr/>
          </p:nvSpPr>
          <p:spPr bwMode="auto">
            <a:xfrm>
              <a:off x="5692715" y="5117409"/>
              <a:ext cx="9434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de-DE"/>
            </a:p>
          </p:txBody>
        </p:sp>
        <p:grpSp>
          <p:nvGrpSpPr>
            <p:cNvPr id="25" name="Group 558"/>
            <p:cNvGrpSpPr>
              <a:grpSpLocks/>
            </p:cNvGrpSpPr>
            <p:nvPr/>
          </p:nvGrpSpPr>
          <p:grpSpPr bwMode="auto">
            <a:xfrm>
              <a:off x="7995726" y="5193268"/>
              <a:ext cx="242325" cy="515036"/>
              <a:chOff x="4180" y="783"/>
              <a:chExt cx="150" cy="307"/>
            </a:xfrm>
          </p:grpSpPr>
          <p:sp>
            <p:nvSpPr>
              <p:cNvPr id="123" name="AutoShape 559"/>
              <p:cNvSpPr>
                <a:spLocks noChangeArrowheads="1"/>
              </p:cNvSpPr>
              <p:nvPr/>
            </p:nvSpPr>
            <p:spPr bwMode="auto">
              <a:xfrm>
                <a:off x="4180" y="1019"/>
                <a:ext cx="150" cy="71"/>
              </a:xfrm>
              <a:prstGeom prst="parallelogram">
                <a:avLst>
                  <a:gd name="adj" fmla="val 81387"/>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de-DE"/>
              </a:p>
            </p:txBody>
          </p:sp>
          <p:sp>
            <p:nvSpPr>
              <p:cNvPr id="124" name="Rectangle 560"/>
              <p:cNvSpPr>
                <a:spLocks noChangeArrowheads="1"/>
              </p:cNvSpPr>
              <p:nvPr/>
            </p:nvSpPr>
            <p:spPr bwMode="auto">
              <a:xfrm>
                <a:off x="4256" y="785"/>
                <a:ext cx="69" cy="236"/>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de-DE"/>
              </a:p>
            </p:txBody>
          </p:sp>
          <p:sp>
            <p:nvSpPr>
              <p:cNvPr id="125" name="Rectangle 561"/>
              <p:cNvSpPr>
                <a:spLocks noChangeArrowheads="1"/>
              </p:cNvSpPr>
              <p:nvPr/>
            </p:nvSpPr>
            <p:spPr bwMode="auto">
              <a:xfrm>
                <a:off x="4181" y="852"/>
                <a:ext cx="95" cy="236"/>
              </a:xfrm>
              <a:prstGeom prst="rect">
                <a:avLst/>
              </a:prstGeom>
              <a:solidFill>
                <a:srgbClr val="33CCCC"/>
              </a:solidFill>
              <a:ln w="9525">
                <a:solidFill>
                  <a:schemeClr val="tx1"/>
                </a:solidFill>
                <a:miter lim="800000"/>
                <a:headEnd/>
                <a:tailEnd/>
              </a:ln>
            </p:spPr>
            <p:txBody>
              <a:bodyPr wrap="none" anchor="ctr"/>
              <a:lstStyle/>
              <a:p>
                <a:endParaRPr lang="de-DE"/>
              </a:p>
            </p:txBody>
          </p:sp>
          <p:sp>
            <p:nvSpPr>
              <p:cNvPr id="126" name="AutoShape 562"/>
              <p:cNvSpPr>
                <a:spLocks noChangeArrowheads="1"/>
              </p:cNvSpPr>
              <p:nvPr/>
            </p:nvSpPr>
            <p:spPr bwMode="auto">
              <a:xfrm>
                <a:off x="4180" y="783"/>
                <a:ext cx="150" cy="71"/>
              </a:xfrm>
              <a:prstGeom prst="parallelogram">
                <a:avLst>
                  <a:gd name="adj" fmla="val 81387"/>
                </a:avLst>
              </a:prstGeom>
              <a:solidFill>
                <a:srgbClr val="33CCCC"/>
              </a:solidFill>
              <a:ln w="9525">
                <a:solidFill>
                  <a:schemeClr val="tx1"/>
                </a:solidFill>
                <a:miter lim="800000"/>
                <a:headEnd/>
                <a:tailEnd/>
              </a:ln>
            </p:spPr>
            <p:txBody>
              <a:bodyPr wrap="none" anchor="ctr"/>
              <a:lstStyle/>
              <a:p>
                <a:endParaRPr lang="de-DE"/>
              </a:p>
            </p:txBody>
          </p:sp>
          <p:sp>
            <p:nvSpPr>
              <p:cNvPr id="127" name="Line 563"/>
              <p:cNvSpPr>
                <a:spLocks noChangeShapeType="1"/>
              </p:cNvSpPr>
              <p:nvPr/>
            </p:nvSpPr>
            <p:spPr bwMode="auto">
              <a:xfrm>
                <a:off x="4330" y="788"/>
                <a:ext cx="0" cy="23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de-DE"/>
              </a:p>
            </p:txBody>
          </p:sp>
          <p:sp>
            <p:nvSpPr>
              <p:cNvPr id="128" name="Line 564"/>
              <p:cNvSpPr>
                <a:spLocks noChangeShapeType="1"/>
              </p:cNvSpPr>
              <p:nvPr/>
            </p:nvSpPr>
            <p:spPr bwMode="auto">
              <a:xfrm flipH="1">
                <a:off x="4276" y="1019"/>
                <a:ext cx="54" cy="6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de-DE"/>
              </a:p>
            </p:txBody>
          </p:sp>
          <p:sp>
            <p:nvSpPr>
              <p:cNvPr id="129" name="Rectangle 565"/>
              <p:cNvSpPr>
                <a:spLocks noChangeArrowheads="1"/>
              </p:cNvSpPr>
              <p:nvPr/>
            </p:nvSpPr>
            <p:spPr bwMode="auto">
              <a:xfrm>
                <a:off x="4193" y="883"/>
                <a:ext cx="63" cy="136"/>
              </a:xfrm>
              <a:prstGeom prst="rect">
                <a:avLst/>
              </a:prstGeom>
              <a:solidFill>
                <a:schemeClr val="accent2"/>
              </a:solidFill>
              <a:ln w="9525">
                <a:solidFill>
                  <a:schemeClr val="tx1"/>
                </a:solidFill>
                <a:miter lim="800000"/>
                <a:headEnd/>
                <a:tailEnd/>
              </a:ln>
            </p:spPr>
            <p:txBody>
              <a:bodyPr wrap="none" anchor="ctr"/>
              <a:lstStyle/>
              <a:p>
                <a:endParaRPr lang="de-DE"/>
              </a:p>
            </p:txBody>
          </p:sp>
          <p:sp>
            <p:nvSpPr>
              <p:cNvPr id="130" name="Rectangle 566"/>
              <p:cNvSpPr>
                <a:spLocks noChangeArrowheads="1"/>
              </p:cNvSpPr>
              <p:nvPr/>
            </p:nvSpPr>
            <p:spPr bwMode="auto">
              <a:xfrm>
                <a:off x="4202" y="924"/>
                <a:ext cx="48" cy="4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de-DE"/>
              </a:p>
            </p:txBody>
          </p:sp>
        </p:grpSp>
      </p:grpSp>
      <p:sp>
        <p:nvSpPr>
          <p:cNvPr id="131" name="Line 434"/>
          <p:cNvSpPr>
            <a:spLocks noChangeShapeType="1"/>
          </p:cNvSpPr>
          <p:nvPr/>
        </p:nvSpPr>
        <p:spPr bwMode="auto">
          <a:xfrm flipV="1">
            <a:off x="7254880" y="3573015"/>
            <a:ext cx="166482" cy="75280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de-DE"/>
          </a:p>
        </p:txBody>
      </p:sp>
      <p:sp>
        <p:nvSpPr>
          <p:cNvPr id="10" name="Oval 9"/>
          <p:cNvSpPr/>
          <p:nvPr/>
        </p:nvSpPr>
        <p:spPr>
          <a:xfrm>
            <a:off x="6850696" y="3859977"/>
            <a:ext cx="511472" cy="433285"/>
          </a:xfrm>
          <a:prstGeom prst="ellipse">
            <a:avLst/>
          </a:prstGeom>
          <a:ln/>
        </p:spPr>
        <p:style>
          <a:lnRef idx="0">
            <a:schemeClr val="accent3"/>
          </a:lnRef>
          <a:fillRef idx="3">
            <a:schemeClr val="accent3"/>
          </a:fillRef>
          <a:effectRef idx="3">
            <a:schemeClr val="accent3"/>
          </a:effectRef>
          <a:fontRef idx="minor">
            <a:schemeClr val="lt1"/>
          </a:fontRef>
        </p:style>
        <p:txBody>
          <a:bodyPr rtlCol="0" anchor="ctr"/>
          <a:lstStyle/>
          <a:p>
            <a:pPr algn="ctr"/>
            <a:r>
              <a:rPr lang="de-DE" sz="2800" b="1" dirty="0"/>
              <a:t>A</a:t>
            </a:r>
          </a:p>
        </p:txBody>
      </p:sp>
      <p:sp>
        <p:nvSpPr>
          <p:cNvPr id="133" name="Oval 132"/>
          <p:cNvSpPr/>
          <p:nvPr/>
        </p:nvSpPr>
        <p:spPr>
          <a:xfrm>
            <a:off x="6091812" y="4293262"/>
            <a:ext cx="511472" cy="433285"/>
          </a:xfrm>
          <a:prstGeom prst="ellipse">
            <a:avLst/>
          </a:prstGeom>
          <a:ln/>
        </p:spPr>
        <p:style>
          <a:lnRef idx="1">
            <a:schemeClr val="accent6"/>
          </a:lnRef>
          <a:fillRef idx="2">
            <a:schemeClr val="accent6"/>
          </a:fillRef>
          <a:effectRef idx="1">
            <a:schemeClr val="accent6"/>
          </a:effectRef>
          <a:fontRef idx="minor">
            <a:schemeClr val="dk1"/>
          </a:fontRef>
        </p:style>
        <p:txBody>
          <a:bodyPr rtlCol="0" anchor="ctr"/>
          <a:lstStyle/>
          <a:p>
            <a:pPr algn="ctr"/>
            <a:r>
              <a:rPr lang="de-DE" sz="2800" b="1" dirty="0"/>
              <a:t>B</a:t>
            </a:r>
          </a:p>
        </p:txBody>
      </p:sp>
      <p:sp>
        <p:nvSpPr>
          <p:cNvPr id="134" name="Oval 133"/>
          <p:cNvSpPr/>
          <p:nvPr/>
        </p:nvSpPr>
        <p:spPr>
          <a:xfrm>
            <a:off x="7977229" y="4187959"/>
            <a:ext cx="511472" cy="433285"/>
          </a:xfrm>
          <a:prstGeom prst="ellipse">
            <a:avLst/>
          </a:prstGeom>
          <a:ln/>
        </p:spPr>
        <p:style>
          <a:lnRef idx="1">
            <a:schemeClr val="accent6"/>
          </a:lnRef>
          <a:fillRef idx="2">
            <a:schemeClr val="accent6"/>
          </a:fillRef>
          <a:effectRef idx="1">
            <a:schemeClr val="accent6"/>
          </a:effectRef>
          <a:fontRef idx="minor">
            <a:schemeClr val="dk1"/>
          </a:fontRef>
        </p:style>
        <p:txBody>
          <a:bodyPr rtlCol="0" anchor="ctr"/>
          <a:lstStyle/>
          <a:p>
            <a:pPr algn="ctr"/>
            <a:r>
              <a:rPr lang="de-DE" sz="2800" b="1" dirty="0"/>
              <a:t>C</a:t>
            </a:r>
          </a:p>
        </p:txBody>
      </p:sp>
      <p:sp>
        <p:nvSpPr>
          <p:cNvPr id="11" name="TextBox 10"/>
          <p:cNvSpPr txBox="1"/>
          <p:nvPr/>
        </p:nvSpPr>
        <p:spPr>
          <a:xfrm>
            <a:off x="671279" y="3276435"/>
            <a:ext cx="6596549" cy="461665"/>
          </a:xfrm>
          <a:prstGeom prst="rect">
            <a:avLst/>
          </a:prstGeom>
          <a:noFill/>
        </p:spPr>
        <p:txBody>
          <a:bodyPr wrap="none" rtlCol="0">
            <a:spAutoFit/>
          </a:bodyPr>
          <a:lstStyle/>
          <a:p>
            <a:r>
              <a:rPr lang="de-DE" sz="2400" dirty="0"/>
              <a:t>Welche Daten müssen Router A, B, C kennen?</a:t>
            </a:r>
          </a:p>
        </p:txBody>
      </p:sp>
      <p:sp>
        <p:nvSpPr>
          <p:cNvPr id="47" name="Left Brace 46"/>
          <p:cNvSpPr/>
          <p:nvPr/>
        </p:nvSpPr>
        <p:spPr>
          <a:xfrm rot="16200000">
            <a:off x="6069948" y="1363821"/>
            <a:ext cx="273817" cy="3280477"/>
          </a:xfrm>
          <a:prstGeom prst="leftBrace">
            <a:avLst>
              <a:gd name="adj1" fmla="val 8333"/>
              <a:gd name="adj2" fmla="val 88198"/>
            </a:avLst>
          </a:prstGeom>
          <a:ln w="28575">
            <a:solidFill>
              <a:srgbClr val="FF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de-DE"/>
          </a:p>
        </p:txBody>
      </p:sp>
      <p:sp>
        <p:nvSpPr>
          <p:cNvPr id="54" name="TextBox 53"/>
          <p:cNvSpPr txBox="1"/>
          <p:nvPr/>
        </p:nvSpPr>
        <p:spPr>
          <a:xfrm>
            <a:off x="7999407" y="2634630"/>
            <a:ext cx="1144594" cy="1323439"/>
          </a:xfrm>
          <a:prstGeom prst="rect">
            <a:avLst/>
          </a:prstGeom>
          <a:noFill/>
        </p:spPr>
        <p:txBody>
          <a:bodyPr wrap="square" rtlCol="0">
            <a:spAutoFit/>
          </a:bodyPr>
          <a:lstStyle/>
          <a:p>
            <a:r>
              <a:rPr lang="de-DE" sz="1600" b="1" dirty="0">
                <a:solidFill>
                  <a:srgbClr val="FF0000"/>
                </a:solidFill>
              </a:rPr>
              <a:t>Von </a:t>
            </a:r>
            <a:br>
              <a:rPr lang="de-DE" sz="1600" b="1" dirty="0">
                <a:solidFill>
                  <a:srgbClr val="FF0000"/>
                </a:solidFill>
              </a:rPr>
            </a:br>
            <a:r>
              <a:rPr lang="de-DE" sz="1600" b="1" dirty="0">
                <a:solidFill>
                  <a:srgbClr val="FF0000"/>
                </a:solidFill>
              </a:rPr>
              <a:t>Außen</a:t>
            </a:r>
            <a:br>
              <a:rPr lang="de-DE" sz="1600" b="1" dirty="0">
                <a:solidFill>
                  <a:srgbClr val="FF0000"/>
                </a:solidFill>
              </a:rPr>
            </a:br>
            <a:r>
              <a:rPr lang="de-DE" sz="1600" b="1" dirty="0">
                <a:solidFill>
                  <a:srgbClr val="FF0000"/>
                </a:solidFill>
              </a:rPr>
              <a:t>gesehen:</a:t>
            </a:r>
          </a:p>
          <a:p>
            <a:r>
              <a:rPr lang="de-DE" sz="1600" b="1" dirty="0">
                <a:solidFill>
                  <a:srgbClr val="FF0000"/>
                </a:solidFill>
              </a:rPr>
              <a:t>16 Bit</a:t>
            </a:r>
            <a:br>
              <a:rPr lang="de-DE" sz="1600" b="1" dirty="0">
                <a:solidFill>
                  <a:srgbClr val="FF0000"/>
                </a:solidFill>
              </a:rPr>
            </a:br>
            <a:r>
              <a:rPr lang="de-DE" sz="1600" b="1" dirty="0" err="1">
                <a:solidFill>
                  <a:srgbClr val="FF0000"/>
                </a:solidFill>
              </a:rPr>
              <a:t>Hostid</a:t>
            </a:r>
            <a:endParaRPr lang="de-DE" sz="1600" b="1" dirty="0">
              <a:solidFill>
                <a:srgbClr val="FF0000"/>
              </a:solidFill>
            </a:endParaRPr>
          </a:p>
        </p:txBody>
      </p:sp>
      <p:cxnSp>
        <p:nvCxnSpPr>
          <p:cNvPr id="61" name="Straight Arrow Connector 60"/>
          <p:cNvCxnSpPr>
            <a:stCxn id="54" idx="1"/>
            <a:endCxn id="47" idx="1"/>
          </p:cNvCxnSpPr>
          <p:nvPr/>
        </p:nvCxnSpPr>
        <p:spPr>
          <a:xfrm flipH="1" flipV="1">
            <a:off x="7459933" y="3140968"/>
            <a:ext cx="539474" cy="155382"/>
          </a:xfrm>
          <a:prstGeom prst="straightConnector1">
            <a:avLst/>
          </a:prstGeom>
          <a:ln w="28575">
            <a:solidFill>
              <a:srgbClr val="FF0000"/>
            </a:solidFill>
            <a:headEnd type="none" w="med" len="med"/>
            <a:tailEnd type="arrow"/>
          </a:ln>
        </p:spPr>
        <p:style>
          <a:lnRef idx="1">
            <a:schemeClr val="accent1"/>
          </a:lnRef>
          <a:fillRef idx="0">
            <a:schemeClr val="accent1"/>
          </a:fillRef>
          <a:effectRef idx="0">
            <a:schemeClr val="accent1"/>
          </a:effectRef>
          <a:fontRef idx="minor">
            <a:schemeClr val="tx1"/>
          </a:fontRef>
        </p:style>
      </p:cxnSp>
      <p:sp>
        <p:nvSpPr>
          <p:cNvPr id="29" name="Rechteck 28">
            <a:extLst>
              <a:ext uri="{FF2B5EF4-FFF2-40B4-BE49-F238E27FC236}">
                <a16:creationId xmlns:a16="http://schemas.microsoft.com/office/drawing/2014/main" id="{23F9E3FF-025E-865E-A0FE-0C99E86E9D64}"/>
              </a:ext>
            </a:extLst>
          </p:cNvPr>
          <p:cNvSpPr/>
          <p:nvPr/>
        </p:nvSpPr>
        <p:spPr>
          <a:xfrm>
            <a:off x="6627467" y="228600"/>
            <a:ext cx="2376264" cy="375760"/>
          </a:xfrm>
          <a:prstGeom prst="rect">
            <a:avLst/>
          </a:prstGeom>
          <a:gradFill flip="none" rotWithShape="1">
            <a:gsLst>
              <a:gs pos="0">
                <a:schemeClr val="accent1">
                  <a:lumMod val="67000"/>
                </a:schemeClr>
              </a:gs>
              <a:gs pos="48000">
                <a:schemeClr val="accent1">
                  <a:lumMod val="97000"/>
                  <a:lumOff val="3000"/>
                </a:schemeClr>
              </a:gs>
              <a:gs pos="100000">
                <a:schemeClr val="accent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de-DE" dirty="0"/>
              <a:t>Wiederholung</a:t>
            </a:r>
          </a:p>
        </p:txBody>
      </p:sp>
    </p:spTree>
    <p:extLst>
      <p:ext uri="{BB962C8B-B14F-4D97-AF65-F5344CB8AC3E}">
        <p14:creationId xmlns:p14="http://schemas.microsoft.com/office/powerpoint/2010/main" val="2220846946"/>
      </p:ext>
    </p:extLst>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nummernplatzhalter 1"/>
          <p:cNvSpPr>
            <a:spLocks noGrp="1"/>
          </p:cNvSpPr>
          <p:nvPr>
            <p:ph type="sldNum" sz="quarter" idx="12"/>
          </p:nvPr>
        </p:nvSpPr>
        <p:spPr/>
        <p:txBody>
          <a:bodyPr/>
          <a:lstStyle/>
          <a:p>
            <a:fld id="{6C6AE60A-B69C-4790-82F7-3882EDF23186}" type="slidenum">
              <a:rPr lang="de-DE" smtClean="0"/>
              <a:pPr/>
              <a:t>6</a:t>
            </a:fld>
            <a:endParaRPr lang="de-DE" dirty="0"/>
          </a:p>
        </p:txBody>
      </p:sp>
      <p:sp>
        <p:nvSpPr>
          <p:cNvPr id="3" name="Titel 2"/>
          <p:cNvSpPr>
            <a:spLocks noGrp="1"/>
          </p:cNvSpPr>
          <p:nvPr>
            <p:ph type="title"/>
          </p:nvPr>
        </p:nvSpPr>
        <p:spPr>
          <a:xfrm>
            <a:off x="971600" y="2348880"/>
            <a:ext cx="7200800" cy="2376264"/>
          </a:xfrm>
        </p:spPr>
        <p:txBody>
          <a:bodyPr>
            <a:normAutofit/>
          </a:bodyPr>
          <a:lstStyle/>
          <a:p>
            <a:pPr lvl="1" algn="ctr" rtl="0">
              <a:spcBef>
                <a:spcPct val="0"/>
              </a:spcBef>
            </a:pPr>
            <a:r>
              <a:rPr lang="de-DE" sz="4000" dirty="0"/>
              <a:t>Router</a:t>
            </a:r>
          </a:p>
        </p:txBody>
      </p:sp>
    </p:spTree>
    <p:extLst>
      <p:ext uri="{BB962C8B-B14F-4D97-AF65-F5344CB8AC3E}">
        <p14:creationId xmlns:p14="http://schemas.microsoft.com/office/powerpoint/2010/main" val="374141001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66971" y="1312297"/>
            <a:ext cx="5127690" cy="4816703"/>
          </a:xfrm>
          <a:prstGeom prst="rect">
            <a:avLst/>
          </a:prstGeom>
          <a:noFill/>
        </p:spPr>
        <p:txBody>
          <a:bodyPr wrap="square" rtlCol="0">
            <a:spAutoFit/>
          </a:bodyPr>
          <a:lstStyle/>
          <a:p>
            <a:pPr marL="274320" indent="-274320">
              <a:spcBef>
                <a:spcPts val="600"/>
              </a:spcBef>
              <a:buClr>
                <a:srgbClr val="53548A"/>
              </a:buClr>
              <a:buSzPct val="76000"/>
              <a:buFont typeface="Wingdings 3"/>
              <a:buChar char=""/>
            </a:pPr>
            <a:r>
              <a:rPr lang="de-DE" sz="2800" b="1" dirty="0">
                <a:solidFill>
                  <a:srgbClr val="FF0000"/>
                </a:solidFill>
              </a:rPr>
              <a:t>Weiterleitung</a:t>
            </a:r>
            <a:r>
              <a:rPr lang="de-DE" sz="2800" dirty="0">
                <a:solidFill>
                  <a:srgbClr val="FF0000"/>
                </a:solidFill>
              </a:rPr>
              <a:t> </a:t>
            </a:r>
            <a:r>
              <a:rPr lang="de-DE" sz="2800" dirty="0">
                <a:solidFill>
                  <a:prstClr val="black"/>
                </a:solidFill>
              </a:rPr>
              <a:t>(</a:t>
            </a:r>
            <a:r>
              <a:rPr lang="de-DE" sz="2800" b="1" dirty="0" err="1">
                <a:solidFill>
                  <a:srgbClr val="FF0000"/>
                </a:solidFill>
              </a:rPr>
              <a:t>Forwarding</a:t>
            </a:r>
            <a:r>
              <a:rPr lang="de-DE" sz="2800" dirty="0">
                <a:solidFill>
                  <a:prstClr val="black"/>
                </a:solidFill>
              </a:rPr>
              <a:t>) </a:t>
            </a:r>
          </a:p>
          <a:p>
            <a:pPr marL="630238" lvl="1" indent="-457200">
              <a:spcBef>
                <a:spcPts val="600"/>
              </a:spcBef>
              <a:buClr>
                <a:srgbClr val="53548A"/>
              </a:buClr>
              <a:buSzPct val="76000"/>
              <a:buFont typeface="+mj-lt"/>
              <a:buAutoNum type="arabicPeriod"/>
            </a:pPr>
            <a:r>
              <a:rPr lang="de-DE" sz="2400" dirty="0">
                <a:solidFill>
                  <a:prstClr val="black"/>
                </a:solidFill>
              </a:rPr>
              <a:t>Router liest die </a:t>
            </a:r>
            <a:br>
              <a:rPr lang="de-DE" sz="2400" dirty="0">
                <a:solidFill>
                  <a:prstClr val="black"/>
                </a:solidFill>
              </a:rPr>
            </a:br>
            <a:r>
              <a:rPr lang="de-DE" sz="2400" b="1" dirty="0">
                <a:solidFill>
                  <a:srgbClr val="0070C0"/>
                </a:solidFill>
              </a:rPr>
              <a:t>Zieladresse</a:t>
            </a:r>
            <a:r>
              <a:rPr lang="de-DE" sz="2400" dirty="0">
                <a:solidFill>
                  <a:prstClr val="black"/>
                </a:solidFill>
              </a:rPr>
              <a:t> des </a:t>
            </a:r>
            <a:br>
              <a:rPr lang="de-DE" sz="2400" dirty="0">
                <a:solidFill>
                  <a:prstClr val="black"/>
                </a:solidFill>
              </a:rPr>
            </a:br>
            <a:r>
              <a:rPr lang="de-DE" sz="2400" dirty="0">
                <a:solidFill>
                  <a:prstClr val="black"/>
                </a:solidFill>
              </a:rPr>
              <a:t>Pakets ab</a:t>
            </a:r>
          </a:p>
          <a:p>
            <a:pPr marL="630238" lvl="1" indent="-457200">
              <a:spcBef>
                <a:spcPts val="600"/>
              </a:spcBef>
              <a:buClr>
                <a:srgbClr val="53548A"/>
              </a:buClr>
              <a:buSzPct val="76000"/>
              <a:buFont typeface="+mj-lt"/>
              <a:buAutoNum type="arabicPeriod"/>
            </a:pPr>
            <a:r>
              <a:rPr lang="de-DE" sz="2400" dirty="0">
                <a:solidFill>
                  <a:prstClr val="black"/>
                </a:solidFill>
              </a:rPr>
              <a:t>Findet einen passenden </a:t>
            </a:r>
            <a:br>
              <a:rPr lang="de-DE" sz="2400" dirty="0">
                <a:solidFill>
                  <a:prstClr val="black"/>
                </a:solidFill>
              </a:rPr>
            </a:br>
            <a:r>
              <a:rPr lang="de-DE" sz="2400" dirty="0">
                <a:solidFill>
                  <a:prstClr val="black"/>
                </a:solidFill>
              </a:rPr>
              <a:t>Eintrag in der </a:t>
            </a:r>
            <a:br>
              <a:rPr lang="de-DE" sz="2400" dirty="0">
                <a:solidFill>
                  <a:prstClr val="black"/>
                </a:solidFill>
              </a:rPr>
            </a:br>
            <a:r>
              <a:rPr lang="de-DE" sz="2400" b="1" dirty="0">
                <a:solidFill>
                  <a:srgbClr val="0070C0"/>
                </a:solidFill>
              </a:rPr>
              <a:t>Weiterleitungs-</a:t>
            </a:r>
            <a:br>
              <a:rPr lang="de-DE" sz="2400" b="1" dirty="0">
                <a:solidFill>
                  <a:srgbClr val="0070C0"/>
                </a:solidFill>
              </a:rPr>
            </a:br>
            <a:r>
              <a:rPr lang="de-DE" sz="2400" b="1" dirty="0" err="1">
                <a:solidFill>
                  <a:srgbClr val="0070C0"/>
                </a:solidFill>
              </a:rPr>
              <a:t>tabelle</a:t>
            </a:r>
            <a:r>
              <a:rPr lang="de-DE" sz="2400" dirty="0">
                <a:solidFill>
                  <a:srgbClr val="0070C0"/>
                </a:solidFill>
              </a:rPr>
              <a:t> </a:t>
            </a:r>
            <a:r>
              <a:rPr lang="de-DE" sz="2400" dirty="0">
                <a:solidFill>
                  <a:prstClr val="black"/>
                </a:solidFill>
              </a:rPr>
              <a:t>(</a:t>
            </a:r>
            <a:r>
              <a:rPr lang="de-DE" sz="2400" b="1" dirty="0" err="1">
                <a:solidFill>
                  <a:srgbClr val="0070C0"/>
                </a:solidFill>
              </a:rPr>
              <a:t>forwarding</a:t>
            </a:r>
            <a:r>
              <a:rPr lang="de-DE" sz="2400" b="1" dirty="0">
                <a:solidFill>
                  <a:srgbClr val="0070C0"/>
                </a:solidFill>
              </a:rPr>
              <a:t> </a:t>
            </a:r>
            <a:br>
              <a:rPr lang="de-DE" sz="2400" b="1" dirty="0">
                <a:solidFill>
                  <a:srgbClr val="0070C0"/>
                </a:solidFill>
              </a:rPr>
            </a:br>
            <a:r>
              <a:rPr lang="de-DE" sz="2400" b="1" dirty="0" err="1">
                <a:solidFill>
                  <a:srgbClr val="0070C0"/>
                </a:solidFill>
              </a:rPr>
              <a:t>table</a:t>
            </a:r>
            <a:r>
              <a:rPr lang="de-DE" sz="2400" dirty="0">
                <a:solidFill>
                  <a:prstClr val="black"/>
                </a:solidFill>
              </a:rPr>
              <a:t>) </a:t>
            </a:r>
          </a:p>
          <a:p>
            <a:pPr marL="630238" lvl="1" indent="-457200">
              <a:spcBef>
                <a:spcPts val="600"/>
              </a:spcBef>
              <a:buClr>
                <a:srgbClr val="53548A"/>
              </a:buClr>
              <a:buSzPct val="76000"/>
              <a:buFont typeface="+mj-lt"/>
              <a:buAutoNum type="arabicPeriod"/>
            </a:pPr>
            <a:r>
              <a:rPr lang="de-DE" sz="2400" dirty="0">
                <a:solidFill>
                  <a:prstClr val="black"/>
                </a:solidFill>
              </a:rPr>
              <a:t>Leitet das Paket über </a:t>
            </a:r>
            <a:br>
              <a:rPr lang="de-DE" sz="2400" dirty="0">
                <a:solidFill>
                  <a:prstClr val="black"/>
                </a:solidFill>
              </a:rPr>
            </a:br>
            <a:r>
              <a:rPr lang="de-DE" sz="2400" dirty="0">
                <a:solidFill>
                  <a:prstClr val="black"/>
                </a:solidFill>
              </a:rPr>
              <a:t>den gefundenen </a:t>
            </a:r>
            <a:br>
              <a:rPr lang="de-DE" sz="2400" dirty="0">
                <a:solidFill>
                  <a:prstClr val="black"/>
                </a:solidFill>
              </a:rPr>
            </a:br>
            <a:r>
              <a:rPr lang="de-DE" sz="2400" dirty="0">
                <a:solidFill>
                  <a:prstClr val="black"/>
                </a:solidFill>
              </a:rPr>
              <a:t>Ausgang weiter</a:t>
            </a:r>
          </a:p>
        </p:txBody>
      </p:sp>
      <p:sp>
        <p:nvSpPr>
          <p:cNvPr id="168" name="Slide Number Placeholder 4"/>
          <p:cNvSpPr>
            <a:spLocks noGrp="1"/>
          </p:cNvSpPr>
          <p:nvPr>
            <p:ph type="sldNum" sz="quarter" idx="12"/>
          </p:nvPr>
        </p:nvSpPr>
        <p:spPr/>
        <p:txBody>
          <a:bodyPr/>
          <a:lstStyle/>
          <a:p>
            <a:fld id="{E03E7E1A-2B5B-4D8D-88B8-8C8DD3EA0994}" type="slidenum">
              <a:rPr lang="de-DE" smtClean="0"/>
              <a:pPr/>
              <a:t>7</a:t>
            </a:fld>
            <a:endParaRPr lang="de-DE"/>
          </a:p>
        </p:txBody>
      </p:sp>
      <p:grpSp>
        <p:nvGrpSpPr>
          <p:cNvPr id="3" name="Group 2"/>
          <p:cNvGrpSpPr>
            <a:grpSpLocks/>
          </p:cNvGrpSpPr>
          <p:nvPr/>
        </p:nvGrpSpPr>
        <p:grpSpPr bwMode="auto">
          <a:xfrm>
            <a:off x="4211960" y="2204864"/>
            <a:ext cx="4781550" cy="4335463"/>
            <a:chOff x="870" y="702"/>
            <a:chExt cx="3012" cy="2731"/>
          </a:xfrm>
        </p:grpSpPr>
        <p:sp>
          <p:nvSpPr>
            <p:cNvPr id="454659" name="Freeform 3"/>
            <p:cNvSpPr>
              <a:spLocks/>
            </p:cNvSpPr>
            <p:nvPr/>
          </p:nvSpPr>
          <p:spPr bwMode="auto">
            <a:xfrm>
              <a:off x="2031" y="2058"/>
              <a:ext cx="1794" cy="933"/>
            </a:xfrm>
            <a:custGeom>
              <a:avLst/>
              <a:gdLst>
                <a:gd name="T0" fmla="*/ 6 w 1794"/>
                <a:gd name="T1" fmla="*/ 483 h 933"/>
                <a:gd name="T2" fmla="*/ 108 w 1794"/>
                <a:gd name="T3" fmla="*/ 125 h 933"/>
                <a:gd name="T4" fmla="*/ 559 w 1794"/>
                <a:gd name="T5" fmla="*/ 100 h 933"/>
                <a:gd name="T6" fmla="*/ 1128 w 1794"/>
                <a:gd name="T7" fmla="*/ 29 h 933"/>
                <a:gd name="T8" fmla="*/ 1716 w 1794"/>
                <a:gd name="T9" fmla="*/ 275 h 933"/>
                <a:gd name="T10" fmla="*/ 1596 w 1794"/>
                <a:gd name="T11" fmla="*/ 827 h 933"/>
                <a:gd name="T12" fmla="*/ 1380 w 1794"/>
                <a:gd name="T13" fmla="*/ 911 h 933"/>
                <a:gd name="T14" fmla="*/ 840 w 1794"/>
                <a:gd name="T15" fmla="*/ 929 h 933"/>
                <a:gd name="T16" fmla="*/ 414 w 1794"/>
                <a:gd name="T17" fmla="*/ 911 h 933"/>
                <a:gd name="T18" fmla="*/ 143 w 1794"/>
                <a:gd name="T19" fmla="*/ 832 h 933"/>
                <a:gd name="T20" fmla="*/ 6 w 1794"/>
                <a:gd name="T21" fmla="*/ 483 h 9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794" h="933">
                  <a:moveTo>
                    <a:pt x="6" y="483"/>
                  </a:moveTo>
                  <a:cubicBezTo>
                    <a:pt x="0" y="365"/>
                    <a:pt x="16" y="189"/>
                    <a:pt x="108" y="125"/>
                  </a:cubicBezTo>
                  <a:cubicBezTo>
                    <a:pt x="200" y="61"/>
                    <a:pt x="389" y="116"/>
                    <a:pt x="559" y="100"/>
                  </a:cubicBezTo>
                  <a:cubicBezTo>
                    <a:pt x="729" y="84"/>
                    <a:pt x="935" y="0"/>
                    <a:pt x="1128" y="29"/>
                  </a:cubicBezTo>
                  <a:cubicBezTo>
                    <a:pt x="1321" y="58"/>
                    <a:pt x="1638" y="142"/>
                    <a:pt x="1716" y="275"/>
                  </a:cubicBezTo>
                  <a:cubicBezTo>
                    <a:pt x="1794" y="408"/>
                    <a:pt x="1652" y="721"/>
                    <a:pt x="1596" y="827"/>
                  </a:cubicBezTo>
                  <a:cubicBezTo>
                    <a:pt x="1540" y="933"/>
                    <a:pt x="1506" y="894"/>
                    <a:pt x="1380" y="911"/>
                  </a:cubicBezTo>
                  <a:cubicBezTo>
                    <a:pt x="1254" y="928"/>
                    <a:pt x="1001" y="929"/>
                    <a:pt x="840" y="929"/>
                  </a:cubicBezTo>
                  <a:cubicBezTo>
                    <a:pt x="679" y="929"/>
                    <a:pt x="530" y="927"/>
                    <a:pt x="414" y="911"/>
                  </a:cubicBezTo>
                  <a:cubicBezTo>
                    <a:pt x="298" y="895"/>
                    <a:pt x="211" y="903"/>
                    <a:pt x="143" y="832"/>
                  </a:cubicBezTo>
                  <a:cubicBezTo>
                    <a:pt x="75" y="761"/>
                    <a:pt x="4" y="624"/>
                    <a:pt x="6" y="483"/>
                  </a:cubicBezTo>
                  <a:close/>
                </a:path>
              </a:pathLst>
            </a:custGeom>
            <a:solidFill>
              <a:srgbClr val="66CCFF"/>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54660" name="Freeform 4"/>
            <p:cNvSpPr>
              <a:spLocks/>
            </p:cNvSpPr>
            <p:nvPr/>
          </p:nvSpPr>
          <p:spPr bwMode="auto">
            <a:xfrm>
              <a:off x="1090" y="1594"/>
              <a:ext cx="1443" cy="816"/>
            </a:xfrm>
            <a:custGeom>
              <a:avLst/>
              <a:gdLst>
                <a:gd name="T0" fmla="*/ 0 w 1443"/>
                <a:gd name="T1" fmla="*/ 0 h 816"/>
                <a:gd name="T2" fmla="*/ 1076 w 1443"/>
                <a:gd name="T3" fmla="*/ 782 h 816"/>
                <a:gd name="T4" fmla="*/ 1320 w 1443"/>
                <a:gd name="T5" fmla="*/ 788 h 816"/>
                <a:gd name="T6" fmla="*/ 1443 w 1443"/>
                <a:gd name="T7" fmla="*/ 5 h 816"/>
                <a:gd name="T8" fmla="*/ 0 w 1443"/>
                <a:gd name="T9" fmla="*/ 0 h 816"/>
              </a:gdLst>
              <a:ahLst/>
              <a:cxnLst>
                <a:cxn ang="0">
                  <a:pos x="T0" y="T1"/>
                </a:cxn>
                <a:cxn ang="0">
                  <a:pos x="T2" y="T3"/>
                </a:cxn>
                <a:cxn ang="0">
                  <a:pos x="T4" y="T5"/>
                </a:cxn>
                <a:cxn ang="0">
                  <a:pos x="T6" y="T7"/>
                </a:cxn>
                <a:cxn ang="0">
                  <a:pos x="T8" y="T9"/>
                </a:cxn>
              </a:cxnLst>
              <a:rect l="0" t="0" r="r" b="b"/>
              <a:pathLst>
                <a:path w="1443" h="816">
                  <a:moveTo>
                    <a:pt x="0" y="0"/>
                  </a:moveTo>
                  <a:cubicBezTo>
                    <a:pt x="571" y="285"/>
                    <a:pt x="856" y="408"/>
                    <a:pt x="1076" y="782"/>
                  </a:cubicBezTo>
                  <a:cubicBezTo>
                    <a:pt x="1185" y="775"/>
                    <a:pt x="1220" y="816"/>
                    <a:pt x="1320" y="788"/>
                  </a:cubicBezTo>
                  <a:cubicBezTo>
                    <a:pt x="1264" y="347"/>
                    <a:pt x="1276" y="352"/>
                    <a:pt x="1443" y="5"/>
                  </a:cubicBezTo>
                  <a:cubicBezTo>
                    <a:pt x="867" y="5"/>
                    <a:pt x="233" y="0"/>
                    <a:pt x="0" y="0"/>
                  </a:cubicBezTo>
                  <a:close/>
                </a:path>
              </a:pathLst>
            </a:custGeom>
            <a:solidFill>
              <a:schemeClr val="accent2">
                <a:lumMod val="20000"/>
                <a:lumOff val="80000"/>
              </a:schemeClr>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454663" name="Freeform 7"/>
            <p:cNvSpPr>
              <a:spLocks/>
            </p:cNvSpPr>
            <p:nvPr/>
          </p:nvSpPr>
          <p:spPr bwMode="auto">
            <a:xfrm>
              <a:off x="2433" y="2249"/>
              <a:ext cx="342" cy="186"/>
            </a:xfrm>
            <a:custGeom>
              <a:avLst/>
              <a:gdLst>
                <a:gd name="T0" fmla="*/ 0 w 342"/>
                <a:gd name="T1" fmla="*/ 186 h 186"/>
                <a:gd name="T2" fmla="*/ 342 w 342"/>
                <a:gd name="T3" fmla="*/ 0 h 186"/>
              </a:gdLst>
              <a:ahLst/>
              <a:cxnLst>
                <a:cxn ang="0">
                  <a:pos x="T0" y="T1"/>
                </a:cxn>
                <a:cxn ang="0">
                  <a:pos x="T2" y="T3"/>
                </a:cxn>
              </a:cxnLst>
              <a:rect l="0" t="0" r="r" b="b"/>
              <a:pathLst>
                <a:path w="342" h="186">
                  <a:moveTo>
                    <a:pt x="0" y="186"/>
                  </a:moveTo>
                  <a:lnTo>
                    <a:pt x="342" y="0"/>
                  </a:lnTo>
                </a:path>
              </a:pathLst>
            </a:custGeom>
            <a:noFill/>
            <a:ln w="127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grpSp>
          <p:nvGrpSpPr>
            <p:cNvPr id="4" name="Group 8"/>
            <p:cNvGrpSpPr>
              <a:grpSpLocks/>
            </p:cNvGrpSpPr>
            <p:nvPr/>
          </p:nvGrpSpPr>
          <p:grpSpPr bwMode="auto">
            <a:xfrm>
              <a:off x="2122" y="2359"/>
              <a:ext cx="316" cy="147"/>
              <a:chOff x="3600" y="219"/>
              <a:chExt cx="360" cy="175"/>
            </a:xfrm>
          </p:grpSpPr>
          <p:sp>
            <p:nvSpPr>
              <p:cNvPr id="454665" name="Oval 9"/>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54666" name="Line 10"/>
              <p:cNvSpPr>
                <a:spLocks noChangeShapeType="1"/>
              </p:cNvSpPr>
              <p:nvPr/>
            </p:nvSpPr>
            <p:spPr bwMode="auto">
              <a:xfrm>
                <a:off x="3603" y="289"/>
                <a:ext cx="0" cy="6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54667" name="Line 11"/>
              <p:cNvSpPr>
                <a:spLocks noChangeShapeType="1"/>
              </p:cNvSpPr>
              <p:nvPr/>
            </p:nvSpPr>
            <p:spPr bwMode="auto">
              <a:xfrm>
                <a:off x="3960" y="289"/>
                <a:ext cx="0" cy="6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54668" name="Rectangle 12"/>
              <p:cNvSpPr>
                <a:spLocks noChangeArrowheads="1"/>
              </p:cNvSpPr>
              <p:nvPr/>
            </p:nvSpPr>
            <p:spPr bwMode="auto">
              <a:xfrm>
                <a:off x="3603" y="289"/>
                <a:ext cx="354" cy="59"/>
              </a:xfrm>
              <a:prstGeom prst="rect">
                <a:avLst/>
              </a:prstGeom>
              <a:solidFill>
                <a:schemeClr val="hlink"/>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de-DE" sz="2400">
                  <a:latin typeface="Times New Roman" pitchFamily="18" charset="0"/>
                </a:endParaRPr>
              </a:p>
            </p:txBody>
          </p:sp>
          <p:sp>
            <p:nvSpPr>
              <p:cNvPr id="454669" name="Oval 13"/>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grpSp>
            <p:nvGrpSpPr>
              <p:cNvPr id="5" name="Group 14"/>
              <p:cNvGrpSpPr>
                <a:grpSpLocks/>
              </p:cNvGrpSpPr>
              <p:nvPr/>
            </p:nvGrpSpPr>
            <p:grpSpPr bwMode="auto">
              <a:xfrm>
                <a:off x="3686" y="244"/>
                <a:ext cx="177" cy="66"/>
                <a:chOff x="2848" y="848"/>
                <a:chExt cx="140" cy="98"/>
              </a:xfrm>
            </p:grpSpPr>
            <p:sp>
              <p:nvSpPr>
                <p:cNvPr id="454671" name="Line 15"/>
                <p:cNvSpPr>
                  <a:spLocks noChangeShapeType="1"/>
                </p:cNvSpPr>
                <p:nvPr/>
              </p:nvSpPr>
              <p:spPr bwMode="auto">
                <a:xfrm flipV="1">
                  <a:off x="2848" y="848"/>
                  <a:ext cx="50" cy="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54672" name="Line 16"/>
                <p:cNvSpPr>
                  <a:spLocks noChangeShapeType="1"/>
                </p:cNvSpPr>
                <p:nvPr/>
              </p:nvSpPr>
              <p:spPr bwMode="auto">
                <a:xfrm>
                  <a:off x="2944" y="946"/>
                  <a:ext cx="4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54673" name="Line 17"/>
                <p:cNvSpPr>
                  <a:spLocks noChangeShapeType="1"/>
                </p:cNvSpPr>
                <p:nvPr/>
              </p:nvSpPr>
              <p:spPr bwMode="auto">
                <a:xfrm>
                  <a:off x="2894" y="850"/>
                  <a:ext cx="52" cy="9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grpSp>
          <p:grpSp>
            <p:nvGrpSpPr>
              <p:cNvPr id="6" name="Group 18"/>
              <p:cNvGrpSpPr>
                <a:grpSpLocks/>
              </p:cNvGrpSpPr>
              <p:nvPr/>
            </p:nvGrpSpPr>
            <p:grpSpPr bwMode="auto">
              <a:xfrm flipV="1">
                <a:off x="3686" y="243"/>
                <a:ext cx="177" cy="66"/>
                <a:chOff x="2848" y="848"/>
                <a:chExt cx="140" cy="98"/>
              </a:xfrm>
            </p:grpSpPr>
            <p:sp>
              <p:nvSpPr>
                <p:cNvPr id="454675" name="Line 19"/>
                <p:cNvSpPr>
                  <a:spLocks noChangeShapeType="1"/>
                </p:cNvSpPr>
                <p:nvPr/>
              </p:nvSpPr>
              <p:spPr bwMode="auto">
                <a:xfrm flipV="1">
                  <a:off x="2848" y="848"/>
                  <a:ext cx="50" cy="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54676" name="Line 20"/>
                <p:cNvSpPr>
                  <a:spLocks noChangeShapeType="1"/>
                </p:cNvSpPr>
                <p:nvPr/>
              </p:nvSpPr>
              <p:spPr bwMode="auto">
                <a:xfrm>
                  <a:off x="2944" y="946"/>
                  <a:ext cx="4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54677" name="Line 21"/>
                <p:cNvSpPr>
                  <a:spLocks noChangeShapeType="1"/>
                </p:cNvSpPr>
                <p:nvPr/>
              </p:nvSpPr>
              <p:spPr bwMode="auto">
                <a:xfrm>
                  <a:off x="2894" y="850"/>
                  <a:ext cx="52" cy="9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grpSp>
        </p:grpSp>
        <p:grpSp>
          <p:nvGrpSpPr>
            <p:cNvPr id="7" name="Group 22"/>
            <p:cNvGrpSpPr>
              <a:grpSpLocks/>
            </p:cNvGrpSpPr>
            <p:nvPr/>
          </p:nvGrpSpPr>
          <p:grpSpPr bwMode="auto">
            <a:xfrm>
              <a:off x="2344" y="2761"/>
              <a:ext cx="316" cy="147"/>
              <a:chOff x="3600" y="219"/>
              <a:chExt cx="360" cy="175"/>
            </a:xfrm>
          </p:grpSpPr>
          <p:sp>
            <p:nvSpPr>
              <p:cNvPr id="454679" name="Oval 23"/>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54680" name="Line 24"/>
              <p:cNvSpPr>
                <a:spLocks noChangeShapeType="1"/>
              </p:cNvSpPr>
              <p:nvPr/>
            </p:nvSpPr>
            <p:spPr bwMode="auto">
              <a:xfrm>
                <a:off x="3603" y="289"/>
                <a:ext cx="0" cy="6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54681" name="Line 25"/>
              <p:cNvSpPr>
                <a:spLocks noChangeShapeType="1"/>
              </p:cNvSpPr>
              <p:nvPr/>
            </p:nvSpPr>
            <p:spPr bwMode="auto">
              <a:xfrm>
                <a:off x="3960" y="289"/>
                <a:ext cx="0" cy="6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54682" name="Rectangle 26"/>
              <p:cNvSpPr>
                <a:spLocks noChangeArrowheads="1"/>
              </p:cNvSpPr>
              <p:nvPr/>
            </p:nvSpPr>
            <p:spPr bwMode="auto">
              <a:xfrm>
                <a:off x="3603" y="289"/>
                <a:ext cx="354" cy="59"/>
              </a:xfrm>
              <a:prstGeom prst="rect">
                <a:avLst/>
              </a:prstGeom>
              <a:solidFill>
                <a:schemeClr val="hlink"/>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de-DE" sz="2400">
                  <a:latin typeface="Times New Roman" pitchFamily="18" charset="0"/>
                </a:endParaRPr>
              </a:p>
            </p:txBody>
          </p:sp>
          <p:sp>
            <p:nvSpPr>
              <p:cNvPr id="454683" name="Oval 27"/>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grpSp>
            <p:nvGrpSpPr>
              <p:cNvPr id="8" name="Group 28"/>
              <p:cNvGrpSpPr>
                <a:grpSpLocks/>
              </p:cNvGrpSpPr>
              <p:nvPr/>
            </p:nvGrpSpPr>
            <p:grpSpPr bwMode="auto">
              <a:xfrm>
                <a:off x="3686" y="244"/>
                <a:ext cx="177" cy="66"/>
                <a:chOff x="2848" y="848"/>
                <a:chExt cx="140" cy="98"/>
              </a:xfrm>
            </p:grpSpPr>
            <p:sp>
              <p:nvSpPr>
                <p:cNvPr id="454685" name="Line 29"/>
                <p:cNvSpPr>
                  <a:spLocks noChangeShapeType="1"/>
                </p:cNvSpPr>
                <p:nvPr/>
              </p:nvSpPr>
              <p:spPr bwMode="auto">
                <a:xfrm flipV="1">
                  <a:off x="2848" y="848"/>
                  <a:ext cx="50" cy="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54686" name="Line 30"/>
                <p:cNvSpPr>
                  <a:spLocks noChangeShapeType="1"/>
                </p:cNvSpPr>
                <p:nvPr/>
              </p:nvSpPr>
              <p:spPr bwMode="auto">
                <a:xfrm>
                  <a:off x="2944" y="946"/>
                  <a:ext cx="4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54687" name="Line 31"/>
                <p:cNvSpPr>
                  <a:spLocks noChangeShapeType="1"/>
                </p:cNvSpPr>
                <p:nvPr/>
              </p:nvSpPr>
              <p:spPr bwMode="auto">
                <a:xfrm>
                  <a:off x="2894" y="850"/>
                  <a:ext cx="52" cy="9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grpSp>
          <p:grpSp>
            <p:nvGrpSpPr>
              <p:cNvPr id="9" name="Group 32"/>
              <p:cNvGrpSpPr>
                <a:grpSpLocks/>
              </p:cNvGrpSpPr>
              <p:nvPr/>
            </p:nvGrpSpPr>
            <p:grpSpPr bwMode="auto">
              <a:xfrm flipV="1">
                <a:off x="3686" y="243"/>
                <a:ext cx="177" cy="66"/>
                <a:chOff x="2848" y="848"/>
                <a:chExt cx="140" cy="98"/>
              </a:xfrm>
            </p:grpSpPr>
            <p:sp>
              <p:nvSpPr>
                <p:cNvPr id="454689" name="Line 33"/>
                <p:cNvSpPr>
                  <a:spLocks noChangeShapeType="1"/>
                </p:cNvSpPr>
                <p:nvPr/>
              </p:nvSpPr>
              <p:spPr bwMode="auto">
                <a:xfrm flipV="1">
                  <a:off x="2848" y="848"/>
                  <a:ext cx="50" cy="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54690" name="Line 34"/>
                <p:cNvSpPr>
                  <a:spLocks noChangeShapeType="1"/>
                </p:cNvSpPr>
                <p:nvPr/>
              </p:nvSpPr>
              <p:spPr bwMode="auto">
                <a:xfrm>
                  <a:off x="2944" y="946"/>
                  <a:ext cx="4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54691" name="Line 35"/>
                <p:cNvSpPr>
                  <a:spLocks noChangeShapeType="1"/>
                </p:cNvSpPr>
                <p:nvPr/>
              </p:nvSpPr>
              <p:spPr bwMode="auto">
                <a:xfrm>
                  <a:off x="2894" y="850"/>
                  <a:ext cx="52" cy="9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grpSp>
        </p:grpSp>
        <p:grpSp>
          <p:nvGrpSpPr>
            <p:cNvPr id="10" name="Group 36"/>
            <p:cNvGrpSpPr>
              <a:grpSpLocks/>
            </p:cNvGrpSpPr>
            <p:nvPr/>
          </p:nvGrpSpPr>
          <p:grpSpPr bwMode="auto">
            <a:xfrm>
              <a:off x="2769" y="2167"/>
              <a:ext cx="316" cy="147"/>
              <a:chOff x="3600" y="219"/>
              <a:chExt cx="360" cy="175"/>
            </a:xfrm>
          </p:grpSpPr>
          <p:sp>
            <p:nvSpPr>
              <p:cNvPr id="454693" name="Oval 37"/>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54694" name="Line 38"/>
              <p:cNvSpPr>
                <a:spLocks noChangeShapeType="1"/>
              </p:cNvSpPr>
              <p:nvPr/>
            </p:nvSpPr>
            <p:spPr bwMode="auto">
              <a:xfrm>
                <a:off x="3603" y="289"/>
                <a:ext cx="0" cy="6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54695" name="Line 39"/>
              <p:cNvSpPr>
                <a:spLocks noChangeShapeType="1"/>
              </p:cNvSpPr>
              <p:nvPr/>
            </p:nvSpPr>
            <p:spPr bwMode="auto">
              <a:xfrm>
                <a:off x="3960" y="289"/>
                <a:ext cx="0" cy="6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54696" name="Rectangle 40"/>
              <p:cNvSpPr>
                <a:spLocks noChangeArrowheads="1"/>
              </p:cNvSpPr>
              <p:nvPr/>
            </p:nvSpPr>
            <p:spPr bwMode="auto">
              <a:xfrm>
                <a:off x="3603" y="289"/>
                <a:ext cx="354" cy="59"/>
              </a:xfrm>
              <a:prstGeom prst="rect">
                <a:avLst/>
              </a:prstGeom>
              <a:solidFill>
                <a:schemeClr val="hlink"/>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de-DE" sz="2400">
                  <a:latin typeface="Times New Roman" pitchFamily="18" charset="0"/>
                </a:endParaRPr>
              </a:p>
            </p:txBody>
          </p:sp>
          <p:sp>
            <p:nvSpPr>
              <p:cNvPr id="454697" name="Oval 41"/>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grpSp>
            <p:nvGrpSpPr>
              <p:cNvPr id="11" name="Group 42"/>
              <p:cNvGrpSpPr>
                <a:grpSpLocks/>
              </p:cNvGrpSpPr>
              <p:nvPr/>
            </p:nvGrpSpPr>
            <p:grpSpPr bwMode="auto">
              <a:xfrm>
                <a:off x="3686" y="244"/>
                <a:ext cx="177" cy="66"/>
                <a:chOff x="2848" y="848"/>
                <a:chExt cx="140" cy="98"/>
              </a:xfrm>
            </p:grpSpPr>
            <p:sp>
              <p:nvSpPr>
                <p:cNvPr id="454699" name="Line 43"/>
                <p:cNvSpPr>
                  <a:spLocks noChangeShapeType="1"/>
                </p:cNvSpPr>
                <p:nvPr/>
              </p:nvSpPr>
              <p:spPr bwMode="auto">
                <a:xfrm flipV="1">
                  <a:off x="2848" y="848"/>
                  <a:ext cx="50" cy="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54700" name="Line 44"/>
                <p:cNvSpPr>
                  <a:spLocks noChangeShapeType="1"/>
                </p:cNvSpPr>
                <p:nvPr/>
              </p:nvSpPr>
              <p:spPr bwMode="auto">
                <a:xfrm>
                  <a:off x="2944" y="946"/>
                  <a:ext cx="4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54701" name="Line 45"/>
                <p:cNvSpPr>
                  <a:spLocks noChangeShapeType="1"/>
                </p:cNvSpPr>
                <p:nvPr/>
              </p:nvSpPr>
              <p:spPr bwMode="auto">
                <a:xfrm>
                  <a:off x="2894" y="850"/>
                  <a:ext cx="52" cy="9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grpSp>
          <p:grpSp>
            <p:nvGrpSpPr>
              <p:cNvPr id="12" name="Group 46"/>
              <p:cNvGrpSpPr>
                <a:grpSpLocks/>
              </p:cNvGrpSpPr>
              <p:nvPr/>
            </p:nvGrpSpPr>
            <p:grpSpPr bwMode="auto">
              <a:xfrm flipV="1">
                <a:off x="3686" y="243"/>
                <a:ext cx="177" cy="66"/>
                <a:chOff x="2848" y="848"/>
                <a:chExt cx="140" cy="98"/>
              </a:xfrm>
            </p:grpSpPr>
            <p:sp>
              <p:nvSpPr>
                <p:cNvPr id="454703" name="Line 47"/>
                <p:cNvSpPr>
                  <a:spLocks noChangeShapeType="1"/>
                </p:cNvSpPr>
                <p:nvPr/>
              </p:nvSpPr>
              <p:spPr bwMode="auto">
                <a:xfrm flipV="1">
                  <a:off x="2848" y="848"/>
                  <a:ext cx="50" cy="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54704" name="Line 48"/>
                <p:cNvSpPr>
                  <a:spLocks noChangeShapeType="1"/>
                </p:cNvSpPr>
                <p:nvPr/>
              </p:nvSpPr>
              <p:spPr bwMode="auto">
                <a:xfrm>
                  <a:off x="2944" y="946"/>
                  <a:ext cx="4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54705" name="Line 49"/>
                <p:cNvSpPr>
                  <a:spLocks noChangeShapeType="1"/>
                </p:cNvSpPr>
                <p:nvPr/>
              </p:nvSpPr>
              <p:spPr bwMode="auto">
                <a:xfrm>
                  <a:off x="2894" y="850"/>
                  <a:ext cx="52" cy="9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grpSp>
        </p:grpSp>
        <p:grpSp>
          <p:nvGrpSpPr>
            <p:cNvPr id="13" name="Group 50"/>
            <p:cNvGrpSpPr>
              <a:grpSpLocks/>
            </p:cNvGrpSpPr>
            <p:nvPr/>
          </p:nvGrpSpPr>
          <p:grpSpPr bwMode="auto">
            <a:xfrm>
              <a:off x="2720" y="2586"/>
              <a:ext cx="315" cy="147"/>
              <a:chOff x="3600" y="219"/>
              <a:chExt cx="360" cy="175"/>
            </a:xfrm>
          </p:grpSpPr>
          <p:sp>
            <p:nvSpPr>
              <p:cNvPr id="454707" name="Oval 51"/>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54708" name="Line 52"/>
              <p:cNvSpPr>
                <a:spLocks noChangeShapeType="1"/>
              </p:cNvSpPr>
              <p:nvPr/>
            </p:nvSpPr>
            <p:spPr bwMode="auto">
              <a:xfrm>
                <a:off x="3603" y="289"/>
                <a:ext cx="0" cy="6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54709" name="Line 53"/>
              <p:cNvSpPr>
                <a:spLocks noChangeShapeType="1"/>
              </p:cNvSpPr>
              <p:nvPr/>
            </p:nvSpPr>
            <p:spPr bwMode="auto">
              <a:xfrm>
                <a:off x="3960" y="289"/>
                <a:ext cx="0" cy="6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54710" name="Rectangle 54"/>
              <p:cNvSpPr>
                <a:spLocks noChangeArrowheads="1"/>
              </p:cNvSpPr>
              <p:nvPr/>
            </p:nvSpPr>
            <p:spPr bwMode="auto">
              <a:xfrm>
                <a:off x="3603" y="289"/>
                <a:ext cx="354" cy="59"/>
              </a:xfrm>
              <a:prstGeom prst="rect">
                <a:avLst/>
              </a:prstGeom>
              <a:solidFill>
                <a:schemeClr val="hlink"/>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de-DE" sz="2400">
                  <a:latin typeface="Times New Roman" pitchFamily="18" charset="0"/>
                </a:endParaRPr>
              </a:p>
            </p:txBody>
          </p:sp>
          <p:sp>
            <p:nvSpPr>
              <p:cNvPr id="454711" name="Oval 55"/>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grpSp>
            <p:nvGrpSpPr>
              <p:cNvPr id="14" name="Group 56"/>
              <p:cNvGrpSpPr>
                <a:grpSpLocks/>
              </p:cNvGrpSpPr>
              <p:nvPr/>
            </p:nvGrpSpPr>
            <p:grpSpPr bwMode="auto">
              <a:xfrm>
                <a:off x="3686" y="244"/>
                <a:ext cx="177" cy="66"/>
                <a:chOff x="2848" y="848"/>
                <a:chExt cx="140" cy="98"/>
              </a:xfrm>
            </p:grpSpPr>
            <p:sp>
              <p:nvSpPr>
                <p:cNvPr id="454713" name="Line 57"/>
                <p:cNvSpPr>
                  <a:spLocks noChangeShapeType="1"/>
                </p:cNvSpPr>
                <p:nvPr/>
              </p:nvSpPr>
              <p:spPr bwMode="auto">
                <a:xfrm flipV="1">
                  <a:off x="2848" y="848"/>
                  <a:ext cx="50" cy="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54714" name="Line 58"/>
                <p:cNvSpPr>
                  <a:spLocks noChangeShapeType="1"/>
                </p:cNvSpPr>
                <p:nvPr/>
              </p:nvSpPr>
              <p:spPr bwMode="auto">
                <a:xfrm>
                  <a:off x="2944" y="946"/>
                  <a:ext cx="4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54715" name="Line 59"/>
                <p:cNvSpPr>
                  <a:spLocks noChangeShapeType="1"/>
                </p:cNvSpPr>
                <p:nvPr/>
              </p:nvSpPr>
              <p:spPr bwMode="auto">
                <a:xfrm>
                  <a:off x="2894" y="850"/>
                  <a:ext cx="52" cy="9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grpSp>
          <p:grpSp>
            <p:nvGrpSpPr>
              <p:cNvPr id="15" name="Group 60"/>
              <p:cNvGrpSpPr>
                <a:grpSpLocks/>
              </p:cNvGrpSpPr>
              <p:nvPr/>
            </p:nvGrpSpPr>
            <p:grpSpPr bwMode="auto">
              <a:xfrm flipV="1">
                <a:off x="3686" y="243"/>
                <a:ext cx="177" cy="66"/>
                <a:chOff x="2848" y="848"/>
                <a:chExt cx="140" cy="98"/>
              </a:xfrm>
            </p:grpSpPr>
            <p:sp>
              <p:nvSpPr>
                <p:cNvPr id="454717" name="Line 61"/>
                <p:cNvSpPr>
                  <a:spLocks noChangeShapeType="1"/>
                </p:cNvSpPr>
                <p:nvPr/>
              </p:nvSpPr>
              <p:spPr bwMode="auto">
                <a:xfrm flipV="1">
                  <a:off x="2848" y="848"/>
                  <a:ext cx="50" cy="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54718" name="Line 62"/>
                <p:cNvSpPr>
                  <a:spLocks noChangeShapeType="1"/>
                </p:cNvSpPr>
                <p:nvPr/>
              </p:nvSpPr>
              <p:spPr bwMode="auto">
                <a:xfrm>
                  <a:off x="2944" y="946"/>
                  <a:ext cx="4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54719" name="Line 63"/>
                <p:cNvSpPr>
                  <a:spLocks noChangeShapeType="1"/>
                </p:cNvSpPr>
                <p:nvPr/>
              </p:nvSpPr>
              <p:spPr bwMode="auto">
                <a:xfrm>
                  <a:off x="2894" y="850"/>
                  <a:ext cx="52" cy="9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grpSp>
        </p:grpSp>
        <p:grpSp>
          <p:nvGrpSpPr>
            <p:cNvPr id="16" name="Group 64"/>
            <p:cNvGrpSpPr>
              <a:grpSpLocks/>
            </p:cNvGrpSpPr>
            <p:nvPr/>
          </p:nvGrpSpPr>
          <p:grpSpPr bwMode="auto">
            <a:xfrm>
              <a:off x="3120" y="2773"/>
              <a:ext cx="316" cy="147"/>
              <a:chOff x="3600" y="219"/>
              <a:chExt cx="360" cy="175"/>
            </a:xfrm>
          </p:grpSpPr>
          <p:sp>
            <p:nvSpPr>
              <p:cNvPr id="454721" name="Oval 65"/>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54722" name="Line 66"/>
              <p:cNvSpPr>
                <a:spLocks noChangeShapeType="1"/>
              </p:cNvSpPr>
              <p:nvPr/>
            </p:nvSpPr>
            <p:spPr bwMode="auto">
              <a:xfrm>
                <a:off x="3603" y="289"/>
                <a:ext cx="0" cy="6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54723" name="Line 67"/>
              <p:cNvSpPr>
                <a:spLocks noChangeShapeType="1"/>
              </p:cNvSpPr>
              <p:nvPr/>
            </p:nvSpPr>
            <p:spPr bwMode="auto">
              <a:xfrm>
                <a:off x="3960" y="289"/>
                <a:ext cx="0" cy="6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54724" name="Rectangle 68"/>
              <p:cNvSpPr>
                <a:spLocks noChangeArrowheads="1"/>
              </p:cNvSpPr>
              <p:nvPr/>
            </p:nvSpPr>
            <p:spPr bwMode="auto">
              <a:xfrm>
                <a:off x="3603" y="289"/>
                <a:ext cx="354" cy="59"/>
              </a:xfrm>
              <a:prstGeom prst="rect">
                <a:avLst/>
              </a:prstGeom>
              <a:solidFill>
                <a:schemeClr val="hlink"/>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de-DE" sz="2400">
                  <a:latin typeface="Times New Roman" pitchFamily="18" charset="0"/>
                </a:endParaRPr>
              </a:p>
            </p:txBody>
          </p:sp>
          <p:sp>
            <p:nvSpPr>
              <p:cNvPr id="454725" name="Oval 69"/>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grpSp>
            <p:nvGrpSpPr>
              <p:cNvPr id="17" name="Group 70"/>
              <p:cNvGrpSpPr>
                <a:grpSpLocks/>
              </p:cNvGrpSpPr>
              <p:nvPr/>
            </p:nvGrpSpPr>
            <p:grpSpPr bwMode="auto">
              <a:xfrm>
                <a:off x="3686" y="244"/>
                <a:ext cx="177" cy="66"/>
                <a:chOff x="2848" y="848"/>
                <a:chExt cx="140" cy="98"/>
              </a:xfrm>
            </p:grpSpPr>
            <p:sp>
              <p:nvSpPr>
                <p:cNvPr id="454727" name="Line 71"/>
                <p:cNvSpPr>
                  <a:spLocks noChangeShapeType="1"/>
                </p:cNvSpPr>
                <p:nvPr/>
              </p:nvSpPr>
              <p:spPr bwMode="auto">
                <a:xfrm flipV="1">
                  <a:off x="2848" y="848"/>
                  <a:ext cx="50" cy="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54728" name="Line 72"/>
                <p:cNvSpPr>
                  <a:spLocks noChangeShapeType="1"/>
                </p:cNvSpPr>
                <p:nvPr/>
              </p:nvSpPr>
              <p:spPr bwMode="auto">
                <a:xfrm>
                  <a:off x="2944" y="946"/>
                  <a:ext cx="4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54729" name="Line 73"/>
                <p:cNvSpPr>
                  <a:spLocks noChangeShapeType="1"/>
                </p:cNvSpPr>
                <p:nvPr/>
              </p:nvSpPr>
              <p:spPr bwMode="auto">
                <a:xfrm>
                  <a:off x="2894" y="850"/>
                  <a:ext cx="52" cy="9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grpSp>
          <p:grpSp>
            <p:nvGrpSpPr>
              <p:cNvPr id="18" name="Group 74"/>
              <p:cNvGrpSpPr>
                <a:grpSpLocks/>
              </p:cNvGrpSpPr>
              <p:nvPr/>
            </p:nvGrpSpPr>
            <p:grpSpPr bwMode="auto">
              <a:xfrm flipV="1">
                <a:off x="3686" y="243"/>
                <a:ext cx="177" cy="66"/>
                <a:chOff x="2848" y="848"/>
                <a:chExt cx="140" cy="98"/>
              </a:xfrm>
            </p:grpSpPr>
            <p:sp>
              <p:nvSpPr>
                <p:cNvPr id="454731" name="Line 75"/>
                <p:cNvSpPr>
                  <a:spLocks noChangeShapeType="1"/>
                </p:cNvSpPr>
                <p:nvPr/>
              </p:nvSpPr>
              <p:spPr bwMode="auto">
                <a:xfrm flipV="1">
                  <a:off x="2848" y="848"/>
                  <a:ext cx="50" cy="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54732" name="Line 76"/>
                <p:cNvSpPr>
                  <a:spLocks noChangeShapeType="1"/>
                </p:cNvSpPr>
                <p:nvPr/>
              </p:nvSpPr>
              <p:spPr bwMode="auto">
                <a:xfrm>
                  <a:off x="2944" y="946"/>
                  <a:ext cx="4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54733" name="Line 77"/>
                <p:cNvSpPr>
                  <a:spLocks noChangeShapeType="1"/>
                </p:cNvSpPr>
                <p:nvPr/>
              </p:nvSpPr>
              <p:spPr bwMode="auto">
                <a:xfrm>
                  <a:off x="2894" y="850"/>
                  <a:ext cx="52" cy="9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grpSp>
        </p:grpSp>
        <p:grpSp>
          <p:nvGrpSpPr>
            <p:cNvPr id="19" name="Group 78"/>
            <p:cNvGrpSpPr>
              <a:grpSpLocks/>
            </p:cNvGrpSpPr>
            <p:nvPr/>
          </p:nvGrpSpPr>
          <p:grpSpPr bwMode="auto">
            <a:xfrm>
              <a:off x="3400" y="2360"/>
              <a:ext cx="316" cy="147"/>
              <a:chOff x="3600" y="219"/>
              <a:chExt cx="360" cy="175"/>
            </a:xfrm>
          </p:grpSpPr>
          <p:sp>
            <p:nvSpPr>
              <p:cNvPr id="454735" name="Oval 79"/>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54736" name="Line 80"/>
              <p:cNvSpPr>
                <a:spLocks noChangeShapeType="1"/>
              </p:cNvSpPr>
              <p:nvPr/>
            </p:nvSpPr>
            <p:spPr bwMode="auto">
              <a:xfrm>
                <a:off x="3603" y="289"/>
                <a:ext cx="0" cy="6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54737" name="Line 81"/>
              <p:cNvSpPr>
                <a:spLocks noChangeShapeType="1"/>
              </p:cNvSpPr>
              <p:nvPr/>
            </p:nvSpPr>
            <p:spPr bwMode="auto">
              <a:xfrm>
                <a:off x="3960" y="289"/>
                <a:ext cx="0" cy="6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54738" name="Rectangle 82"/>
              <p:cNvSpPr>
                <a:spLocks noChangeArrowheads="1"/>
              </p:cNvSpPr>
              <p:nvPr/>
            </p:nvSpPr>
            <p:spPr bwMode="auto">
              <a:xfrm>
                <a:off x="3603" y="289"/>
                <a:ext cx="354" cy="59"/>
              </a:xfrm>
              <a:prstGeom prst="rect">
                <a:avLst/>
              </a:prstGeom>
              <a:solidFill>
                <a:schemeClr val="hlink"/>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de-DE" sz="2400">
                  <a:latin typeface="Times New Roman" pitchFamily="18" charset="0"/>
                </a:endParaRPr>
              </a:p>
            </p:txBody>
          </p:sp>
          <p:sp>
            <p:nvSpPr>
              <p:cNvPr id="454739" name="Oval 83"/>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grpSp>
            <p:nvGrpSpPr>
              <p:cNvPr id="20" name="Group 84"/>
              <p:cNvGrpSpPr>
                <a:grpSpLocks/>
              </p:cNvGrpSpPr>
              <p:nvPr/>
            </p:nvGrpSpPr>
            <p:grpSpPr bwMode="auto">
              <a:xfrm>
                <a:off x="3686" y="244"/>
                <a:ext cx="177" cy="66"/>
                <a:chOff x="2848" y="848"/>
                <a:chExt cx="140" cy="98"/>
              </a:xfrm>
            </p:grpSpPr>
            <p:sp>
              <p:nvSpPr>
                <p:cNvPr id="454741" name="Line 85"/>
                <p:cNvSpPr>
                  <a:spLocks noChangeShapeType="1"/>
                </p:cNvSpPr>
                <p:nvPr/>
              </p:nvSpPr>
              <p:spPr bwMode="auto">
                <a:xfrm flipV="1">
                  <a:off x="2848" y="848"/>
                  <a:ext cx="50" cy="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54742" name="Line 86"/>
                <p:cNvSpPr>
                  <a:spLocks noChangeShapeType="1"/>
                </p:cNvSpPr>
                <p:nvPr/>
              </p:nvSpPr>
              <p:spPr bwMode="auto">
                <a:xfrm>
                  <a:off x="2944" y="946"/>
                  <a:ext cx="4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54743" name="Line 87"/>
                <p:cNvSpPr>
                  <a:spLocks noChangeShapeType="1"/>
                </p:cNvSpPr>
                <p:nvPr/>
              </p:nvSpPr>
              <p:spPr bwMode="auto">
                <a:xfrm>
                  <a:off x="2894" y="850"/>
                  <a:ext cx="52" cy="9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grpSp>
          <p:grpSp>
            <p:nvGrpSpPr>
              <p:cNvPr id="21" name="Group 88"/>
              <p:cNvGrpSpPr>
                <a:grpSpLocks/>
              </p:cNvGrpSpPr>
              <p:nvPr/>
            </p:nvGrpSpPr>
            <p:grpSpPr bwMode="auto">
              <a:xfrm flipV="1">
                <a:off x="3686" y="243"/>
                <a:ext cx="177" cy="66"/>
                <a:chOff x="2848" y="848"/>
                <a:chExt cx="140" cy="98"/>
              </a:xfrm>
            </p:grpSpPr>
            <p:sp>
              <p:nvSpPr>
                <p:cNvPr id="454745" name="Line 89"/>
                <p:cNvSpPr>
                  <a:spLocks noChangeShapeType="1"/>
                </p:cNvSpPr>
                <p:nvPr/>
              </p:nvSpPr>
              <p:spPr bwMode="auto">
                <a:xfrm flipV="1">
                  <a:off x="2848" y="848"/>
                  <a:ext cx="50" cy="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54746" name="Line 90"/>
                <p:cNvSpPr>
                  <a:spLocks noChangeShapeType="1"/>
                </p:cNvSpPr>
                <p:nvPr/>
              </p:nvSpPr>
              <p:spPr bwMode="auto">
                <a:xfrm>
                  <a:off x="2944" y="946"/>
                  <a:ext cx="4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54747" name="Line 91"/>
                <p:cNvSpPr>
                  <a:spLocks noChangeShapeType="1"/>
                </p:cNvSpPr>
                <p:nvPr/>
              </p:nvSpPr>
              <p:spPr bwMode="auto">
                <a:xfrm>
                  <a:off x="2894" y="850"/>
                  <a:ext cx="52" cy="9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grpSp>
        </p:grpSp>
        <p:sp>
          <p:nvSpPr>
            <p:cNvPr id="454748" name="Freeform 92"/>
            <p:cNvSpPr>
              <a:spLocks/>
            </p:cNvSpPr>
            <p:nvPr/>
          </p:nvSpPr>
          <p:spPr bwMode="auto">
            <a:xfrm>
              <a:off x="3089" y="2245"/>
              <a:ext cx="318" cy="194"/>
            </a:xfrm>
            <a:custGeom>
              <a:avLst/>
              <a:gdLst>
                <a:gd name="T0" fmla="*/ 0 w 318"/>
                <a:gd name="T1" fmla="*/ 0 h 194"/>
                <a:gd name="T2" fmla="*/ 318 w 318"/>
                <a:gd name="T3" fmla="*/ 194 h 194"/>
              </a:gdLst>
              <a:ahLst/>
              <a:cxnLst>
                <a:cxn ang="0">
                  <a:pos x="T0" y="T1"/>
                </a:cxn>
                <a:cxn ang="0">
                  <a:pos x="T2" y="T3"/>
                </a:cxn>
              </a:cxnLst>
              <a:rect l="0" t="0" r="r" b="b"/>
              <a:pathLst>
                <a:path w="318" h="194">
                  <a:moveTo>
                    <a:pt x="0" y="0"/>
                  </a:moveTo>
                  <a:lnTo>
                    <a:pt x="318" y="194"/>
                  </a:lnTo>
                </a:path>
              </a:pathLst>
            </a:custGeom>
            <a:noFill/>
            <a:ln w="127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54749" name="Freeform 93"/>
            <p:cNvSpPr>
              <a:spLocks/>
            </p:cNvSpPr>
            <p:nvPr/>
          </p:nvSpPr>
          <p:spPr bwMode="auto">
            <a:xfrm>
              <a:off x="2418" y="2492"/>
              <a:ext cx="303" cy="150"/>
            </a:xfrm>
            <a:custGeom>
              <a:avLst/>
              <a:gdLst>
                <a:gd name="T0" fmla="*/ 0 w 294"/>
                <a:gd name="T1" fmla="*/ 0 h 174"/>
                <a:gd name="T2" fmla="*/ 294 w 294"/>
                <a:gd name="T3" fmla="*/ 174 h 174"/>
              </a:gdLst>
              <a:ahLst/>
              <a:cxnLst>
                <a:cxn ang="0">
                  <a:pos x="T0" y="T1"/>
                </a:cxn>
                <a:cxn ang="0">
                  <a:pos x="T2" y="T3"/>
                </a:cxn>
              </a:cxnLst>
              <a:rect l="0" t="0" r="r" b="b"/>
              <a:pathLst>
                <a:path w="294" h="174">
                  <a:moveTo>
                    <a:pt x="0" y="0"/>
                  </a:moveTo>
                  <a:lnTo>
                    <a:pt x="294" y="174"/>
                  </a:lnTo>
                </a:path>
              </a:pathLst>
            </a:custGeom>
            <a:noFill/>
            <a:ln w="127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54750" name="Freeform 94"/>
            <p:cNvSpPr>
              <a:spLocks/>
            </p:cNvSpPr>
            <p:nvPr/>
          </p:nvSpPr>
          <p:spPr bwMode="auto">
            <a:xfrm>
              <a:off x="3015" y="2477"/>
              <a:ext cx="396" cy="156"/>
            </a:xfrm>
            <a:custGeom>
              <a:avLst/>
              <a:gdLst>
                <a:gd name="T0" fmla="*/ 0 w 378"/>
                <a:gd name="T1" fmla="*/ 174 h 174"/>
                <a:gd name="T2" fmla="*/ 378 w 378"/>
                <a:gd name="T3" fmla="*/ 0 h 174"/>
              </a:gdLst>
              <a:ahLst/>
              <a:cxnLst>
                <a:cxn ang="0">
                  <a:pos x="T0" y="T1"/>
                </a:cxn>
                <a:cxn ang="0">
                  <a:pos x="T2" y="T3"/>
                </a:cxn>
              </a:cxnLst>
              <a:rect l="0" t="0" r="r" b="b"/>
              <a:pathLst>
                <a:path w="378" h="174">
                  <a:moveTo>
                    <a:pt x="0" y="174"/>
                  </a:moveTo>
                  <a:lnTo>
                    <a:pt x="378" y="0"/>
                  </a:lnTo>
                </a:path>
              </a:pathLst>
            </a:custGeom>
            <a:noFill/>
            <a:ln w="127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54751" name="Freeform 95"/>
            <p:cNvSpPr>
              <a:spLocks/>
            </p:cNvSpPr>
            <p:nvPr/>
          </p:nvSpPr>
          <p:spPr bwMode="auto">
            <a:xfrm>
              <a:off x="3435" y="2511"/>
              <a:ext cx="130" cy="320"/>
            </a:xfrm>
            <a:custGeom>
              <a:avLst/>
              <a:gdLst>
                <a:gd name="T0" fmla="*/ 0 w 118"/>
                <a:gd name="T1" fmla="*/ 500 h 500"/>
                <a:gd name="T2" fmla="*/ 118 w 118"/>
                <a:gd name="T3" fmla="*/ 0 h 500"/>
              </a:gdLst>
              <a:ahLst/>
              <a:cxnLst>
                <a:cxn ang="0">
                  <a:pos x="T0" y="T1"/>
                </a:cxn>
                <a:cxn ang="0">
                  <a:pos x="T2" y="T3"/>
                </a:cxn>
              </a:cxnLst>
              <a:rect l="0" t="0" r="r" b="b"/>
              <a:pathLst>
                <a:path w="118" h="500">
                  <a:moveTo>
                    <a:pt x="0" y="500"/>
                  </a:moveTo>
                  <a:lnTo>
                    <a:pt x="118" y="0"/>
                  </a:lnTo>
                </a:path>
              </a:pathLst>
            </a:custGeom>
            <a:noFill/>
            <a:ln w="127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54752" name="Freeform 96"/>
            <p:cNvSpPr>
              <a:spLocks/>
            </p:cNvSpPr>
            <p:nvPr/>
          </p:nvSpPr>
          <p:spPr bwMode="auto">
            <a:xfrm>
              <a:off x="2657" y="2847"/>
              <a:ext cx="464" cy="47"/>
            </a:xfrm>
            <a:custGeom>
              <a:avLst/>
              <a:gdLst>
                <a:gd name="T0" fmla="*/ 370 w 370"/>
                <a:gd name="T1" fmla="*/ 32 h 32"/>
                <a:gd name="T2" fmla="*/ 0 w 370"/>
                <a:gd name="T3" fmla="*/ 0 h 32"/>
              </a:gdLst>
              <a:ahLst/>
              <a:cxnLst>
                <a:cxn ang="0">
                  <a:pos x="T0" y="T1"/>
                </a:cxn>
                <a:cxn ang="0">
                  <a:pos x="T2" y="T3"/>
                </a:cxn>
              </a:cxnLst>
              <a:rect l="0" t="0" r="r" b="b"/>
              <a:pathLst>
                <a:path w="370" h="32">
                  <a:moveTo>
                    <a:pt x="370" y="32"/>
                  </a:moveTo>
                  <a:lnTo>
                    <a:pt x="0" y="0"/>
                  </a:lnTo>
                </a:path>
              </a:pathLst>
            </a:custGeom>
            <a:noFill/>
            <a:ln w="127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54753" name="Freeform 97"/>
            <p:cNvSpPr>
              <a:spLocks/>
            </p:cNvSpPr>
            <p:nvPr/>
          </p:nvSpPr>
          <p:spPr bwMode="auto">
            <a:xfrm>
              <a:off x="2319" y="2507"/>
              <a:ext cx="122" cy="268"/>
            </a:xfrm>
            <a:custGeom>
              <a:avLst/>
              <a:gdLst>
                <a:gd name="T0" fmla="*/ 162 w 176"/>
                <a:gd name="T1" fmla="*/ 408 h 412"/>
                <a:gd name="T2" fmla="*/ 176 w 176"/>
                <a:gd name="T3" fmla="*/ 412 h 412"/>
                <a:gd name="T4" fmla="*/ 0 w 176"/>
                <a:gd name="T5" fmla="*/ 0 h 412"/>
              </a:gdLst>
              <a:ahLst/>
              <a:cxnLst>
                <a:cxn ang="0">
                  <a:pos x="T0" y="T1"/>
                </a:cxn>
                <a:cxn ang="0">
                  <a:pos x="T2" y="T3"/>
                </a:cxn>
                <a:cxn ang="0">
                  <a:pos x="T4" y="T5"/>
                </a:cxn>
              </a:cxnLst>
              <a:rect l="0" t="0" r="r" b="b"/>
              <a:pathLst>
                <a:path w="176" h="412">
                  <a:moveTo>
                    <a:pt x="162" y="408"/>
                  </a:moveTo>
                  <a:lnTo>
                    <a:pt x="176" y="412"/>
                  </a:lnTo>
                  <a:lnTo>
                    <a:pt x="0" y="0"/>
                  </a:lnTo>
                </a:path>
              </a:pathLst>
            </a:custGeom>
            <a:noFill/>
            <a:ln w="127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54754" name="Rectangle 98"/>
            <p:cNvSpPr>
              <a:spLocks noChangeArrowheads="1"/>
            </p:cNvSpPr>
            <p:nvPr/>
          </p:nvSpPr>
          <p:spPr bwMode="auto">
            <a:xfrm>
              <a:off x="1128" y="2264"/>
              <a:ext cx="728" cy="150"/>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54755" name="Rectangle 99"/>
            <p:cNvSpPr>
              <a:spLocks noChangeArrowheads="1"/>
            </p:cNvSpPr>
            <p:nvPr/>
          </p:nvSpPr>
          <p:spPr bwMode="auto">
            <a:xfrm>
              <a:off x="1113" y="2279"/>
              <a:ext cx="723" cy="150"/>
            </a:xfrm>
            <a:prstGeom prst="rect">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54756" name="Line 100"/>
            <p:cNvSpPr>
              <a:spLocks noChangeShapeType="1"/>
            </p:cNvSpPr>
            <p:nvPr/>
          </p:nvSpPr>
          <p:spPr bwMode="auto">
            <a:xfrm>
              <a:off x="1759" y="2362"/>
              <a:ext cx="266" cy="0"/>
            </a:xfrm>
            <a:prstGeom prst="line">
              <a:avLst/>
            </a:prstGeom>
            <a:noFill/>
            <a:ln w="9525">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54757" name="Text Box 101"/>
            <p:cNvSpPr txBox="1">
              <a:spLocks noChangeArrowheads="1"/>
            </p:cNvSpPr>
            <p:nvPr/>
          </p:nvSpPr>
          <p:spPr bwMode="auto">
            <a:xfrm>
              <a:off x="2390" y="2183"/>
              <a:ext cx="19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de-DE">
                  <a:latin typeface="Arial" charset="0"/>
                </a:rPr>
                <a:t>1</a:t>
              </a:r>
            </a:p>
          </p:txBody>
        </p:sp>
        <p:sp>
          <p:nvSpPr>
            <p:cNvPr id="454758" name="Text Box 102"/>
            <p:cNvSpPr txBox="1">
              <a:spLocks noChangeArrowheads="1"/>
            </p:cNvSpPr>
            <p:nvPr/>
          </p:nvSpPr>
          <p:spPr bwMode="auto">
            <a:xfrm>
              <a:off x="2336" y="2459"/>
              <a:ext cx="187"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de-DE" sz="1600">
                  <a:latin typeface="Arial" charset="0"/>
                </a:rPr>
                <a:t>2</a:t>
              </a:r>
            </a:p>
          </p:txBody>
        </p:sp>
        <p:sp>
          <p:nvSpPr>
            <p:cNvPr id="454759" name="Text Box 103"/>
            <p:cNvSpPr txBox="1">
              <a:spLocks noChangeArrowheads="1"/>
            </p:cNvSpPr>
            <p:nvPr/>
          </p:nvSpPr>
          <p:spPr bwMode="auto">
            <a:xfrm>
              <a:off x="2178" y="2505"/>
              <a:ext cx="187"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de-DE" sz="1600">
                  <a:latin typeface="Arial" charset="0"/>
                </a:rPr>
                <a:t>3</a:t>
              </a:r>
            </a:p>
          </p:txBody>
        </p:sp>
        <p:sp>
          <p:nvSpPr>
            <p:cNvPr id="454760" name="Rectangle 104"/>
            <p:cNvSpPr>
              <a:spLocks noChangeArrowheads="1"/>
            </p:cNvSpPr>
            <p:nvPr/>
          </p:nvSpPr>
          <p:spPr bwMode="auto">
            <a:xfrm>
              <a:off x="1509" y="2281"/>
              <a:ext cx="269" cy="151"/>
            </a:xfrm>
            <a:prstGeom prst="rect">
              <a:avLst/>
            </a:prstGeom>
            <a:solidFill>
              <a:srgbClr val="FF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54761" name="Text Box 105"/>
            <p:cNvSpPr txBox="1">
              <a:spLocks noChangeArrowheads="1"/>
            </p:cNvSpPr>
            <p:nvPr/>
          </p:nvSpPr>
          <p:spPr bwMode="auto">
            <a:xfrm>
              <a:off x="1484" y="2254"/>
              <a:ext cx="354" cy="1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de-DE" sz="1400" b="1" dirty="0">
                  <a:latin typeface="Arial" charset="0"/>
                </a:rPr>
                <a:t>0111</a:t>
              </a:r>
            </a:p>
          </p:txBody>
        </p:sp>
        <p:sp>
          <p:nvSpPr>
            <p:cNvPr id="454762" name="Text Box 106"/>
            <p:cNvSpPr txBox="1">
              <a:spLocks noChangeArrowheads="1"/>
            </p:cNvSpPr>
            <p:nvPr/>
          </p:nvSpPr>
          <p:spPr bwMode="auto">
            <a:xfrm>
              <a:off x="870" y="1659"/>
              <a:ext cx="1134" cy="5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de-DE" b="1" dirty="0">
                  <a:solidFill>
                    <a:srgbClr val="0070C0"/>
                  </a:solidFill>
                  <a:latin typeface="Arial" charset="0"/>
                </a:rPr>
                <a:t>Zieladresse</a:t>
              </a:r>
              <a:r>
                <a:rPr lang="de-DE" dirty="0">
                  <a:latin typeface="Arial" charset="0"/>
                </a:rPr>
                <a:t> im</a:t>
              </a:r>
              <a:br>
                <a:rPr lang="de-DE" dirty="0">
                  <a:latin typeface="Arial" charset="0"/>
                </a:rPr>
              </a:br>
              <a:r>
                <a:rPr lang="de-DE" dirty="0">
                  <a:latin typeface="Arial" charset="0"/>
                </a:rPr>
                <a:t>Header eines</a:t>
              </a:r>
            </a:p>
            <a:p>
              <a:pPr eaLnBrk="1" hangingPunct="1"/>
              <a:r>
                <a:rPr lang="de-DE" dirty="0">
                  <a:latin typeface="Arial" charset="0"/>
                </a:rPr>
                <a:t>IP-Datagramms</a:t>
              </a:r>
            </a:p>
          </p:txBody>
        </p:sp>
        <p:sp>
          <p:nvSpPr>
            <p:cNvPr id="454763" name="Line 107"/>
            <p:cNvSpPr>
              <a:spLocks noChangeShapeType="1"/>
            </p:cNvSpPr>
            <p:nvPr/>
          </p:nvSpPr>
          <p:spPr bwMode="auto">
            <a:xfrm flipH="1">
              <a:off x="1269" y="2444"/>
              <a:ext cx="85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454765" name="Rectangle 109"/>
            <p:cNvSpPr>
              <a:spLocks noChangeArrowheads="1"/>
            </p:cNvSpPr>
            <p:nvPr/>
          </p:nvSpPr>
          <p:spPr bwMode="auto">
            <a:xfrm>
              <a:off x="1197" y="732"/>
              <a:ext cx="1305" cy="806"/>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54766" name="Text Box 110"/>
            <p:cNvSpPr txBox="1">
              <a:spLocks noChangeArrowheads="1"/>
            </p:cNvSpPr>
            <p:nvPr/>
          </p:nvSpPr>
          <p:spPr bwMode="auto">
            <a:xfrm>
              <a:off x="1148" y="702"/>
              <a:ext cx="1417" cy="19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1" hangingPunct="1"/>
              <a:r>
                <a:rPr lang="de-DE" sz="1400" dirty="0">
                  <a:latin typeface="Arial" charset="0"/>
                </a:rPr>
                <a:t>lokale </a:t>
              </a:r>
              <a:r>
                <a:rPr lang="de-DE" sz="1400" b="1" dirty="0">
                  <a:solidFill>
                    <a:srgbClr val="0070C0"/>
                  </a:solidFill>
                  <a:latin typeface="Arial" charset="0"/>
                </a:rPr>
                <a:t>Weiterleitungstab</a:t>
              </a:r>
              <a:r>
                <a:rPr lang="de-DE" sz="1400" dirty="0">
                  <a:latin typeface="Arial" charset="0"/>
                </a:rPr>
                <a:t>.</a:t>
              </a:r>
            </a:p>
          </p:txBody>
        </p:sp>
        <p:sp>
          <p:nvSpPr>
            <p:cNvPr id="454767" name="Text Box 111"/>
            <p:cNvSpPr txBox="1">
              <a:spLocks noChangeArrowheads="1"/>
            </p:cNvSpPr>
            <p:nvPr/>
          </p:nvSpPr>
          <p:spPr bwMode="auto">
            <a:xfrm>
              <a:off x="1128" y="858"/>
              <a:ext cx="810" cy="19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eaLnBrk="1" hangingPunct="1"/>
              <a:r>
                <a:rPr lang="de-DE" sz="1400">
                  <a:latin typeface="Arial" charset="0"/>
                </a:rPr>
                <a:t>Header -Wert</a:t>
              </a:r>
            </a:p>
          </p:txBody>
        </p:sp>
        <p:sp>
          <p:nvSpPr>
            <p:cNvPr id="454768" name="Text Box 112"/>
            <p:cNvSpPr txBox="1">
              <a:spLocks noChangeArrowheads="1"/>
            </p:cNvSpPr>
            <p:nvPr/>
          </p:nvSpPr>
          <p:spPr bwMode="auto">
            <a:xfrm>
              <a:off x="1846" y="859"/>
              <a:ext cx="656" cy="19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1" hangingPunct="1"/>
              <a:r>
                <a:rPr lang="de-DE" sz="1400">
                  <a:latin typeface="Arial" charset="0"/>
                </a:rPr>
                <a:t>“Ausgang”</a:t>
              </a:r>
            </a:p>
          </p:txBody>
        </p:sp>
        <p:sp>
          <p:nvSpPr>
            <p:cNvPr id="454769" name="Line 113"/>
            <p:cNvSpPr>
              <a:spLocks noChangeShapeType="1"/>
            </p:cNvSpPr>
            <p:nvPr/>
          </p:nvSpPr>
          <p:spPr bwMode="auto">
            <a:xfrm>
              <a:off x="1908" y="866"/>
              <a:ext cx="5" cy="67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454770" name="Text Box 114"/>
            <p:cNvSpPr txBox="1">
              <a:spLocks noChangeArrowheads="1"/>
            </p:cNvSpPr>
            <p:nvPr/>
          </p:nvSpPr>
          <p:spPr bwMode="auto">
            <a:xfrm>
              <a:off x="1585" y="1037"/>
              <a:ext cx="330" cy="52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r" eaLnBrk="1" hangingPunct="1"/>
              <a:r>
                <a:rPr lang="de-DE" sz="1200" dirty="0">
                  <a:latin typeface="Arial" charset="0"/>
                </a:rPr>
                <a:t>0100</a:t>
              </a:r>
            </a:p>
            <a:p>
              <a:pPr algn="r" eaLnBrk="1" hangingPunct="1"/>
              <a:r>
                <a:rPr lang="de-DE" sz="1200" dirty="0">
                  <a:latin typeface="Arial" charset="0"/>
                </a:rPr>
                <a:t>0101</a:t>
              </a:r>
            </a:p>
            <a:p>
              <a:pPr algn="r" eaLnBrk="1" hangingPunct="1"/>
              <a:r>
                <a:rPr lang="de-DE" sz="1200" b="1" dirty="0">
                  <a:solidFill>
                    <a:srgbClr val="FF0000"/>
                  </a:solidFill>
                  <a:latin typeface="Arial" charset="0"/>
                </a:rPr>
                <a:t>0111</a:t>
              </a:r>
            </a:p>
            <a:p>
              <a:pPr algn="r" eaLnBrk="1" hangingPunct="1"/>
              <a:r>
                <a:rPr lang="de-DE" sz="1200" dirty="0">
                  <a:latin typeface="Arial" charset="0"/>
                </a:rPr>
                <a:t>1001</a:t>
              </a:r>
            </a:p>
          </p:txBody>
        </p:sp>
        <p:sp>
          <p:nvSpPr>
            <p:cNvPr id="454771" name="Text Box 115"/>
            <p:cNvSpPr txBox="1">
              <a:spLocks noChangeArrowheads="1"/>
            </p:cNvSpPr>
            <p:nvPr/>
          </p:nvSpPr>
          <p:spPr bwMode="auto">
            <a:xfrm>
              <a:off x="1918" y="1037"/>
              <a:ext cx="170" cy="52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r>
                <a:rPr lang="de-DE" sz="1200">
                  <a:latin typeface="Arial" charset="0"/>
                </a:rPr>
                <a:t>3</a:t>
              </a:r>
            </a:p>
            <a:p>
              <a:pPr algn="ctr" eaLnBrk="1" hangingPunct="1"/>
              <a:r>
                <a:rPr lang="de-DE" sz="1200">
                  <a:latin typeface="Arial" charset="0"/>
                </a:rPr>
                <a:t>2</a:t>
              </a:r>
            </a:p>
            <a:p>
              <a:pPr algn="ctr" eaLnBrk="1" hangingPunct="1"/>
              <a:r>
                <a:rPr lang="de-DE" sz="1200">
                  <a:latin typeface="Arial" charset="0"/>
                </a:rPr>
                <a:t>2</a:t>
              </a:r>
            </a:p>
            <a:p>
              <a:pPr algn="ctr" eaLnBrk="1" hangingPunct="1"/>
              <a:r>
                <a:rPr lang="de-DE" sz="1200">
                  <a:latin typeface="Arial" charset="0"/>
                </a:rPr>
                <a:t>1</a:t>
              </a:r>
            </a:p>
          </p:txBody>
        </p:sp>
        <p:sp>
          <p:nvSpPr>
            <p:cNvPr id="454772" name="Line 116"/>
            <p:cNvSpPr>
              <a:spLocks noChangeShapeType="1"/>
            </p:cNvSpPr>
            <p:nvPr/>
          </p:nvSpPr>
          <p:spPr bwMode="auto">
            <a:xfrm>
              <a:off x="1197" y="1028"/>
              <a:ext cx="1264"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454773" name="Line 117"/>
            <p:cNvSpPr>
              <a:spLocks noChangeShapeType="1"/>
            </p:cNvSpPr>
            <p:nvPr/>
          </p:nvSpPr>
          <p:spPr bwMode="auto">
            <a:xfrm>
              <a:off x="1214" y="866"/>
              <a:ext cx="1264"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454775" name="Line 119"/>
            <p:cNvSpPr>
              <a:spLocks noChangeShapeType="1"/>
            </p:cNvSpPr>
            <p:nvPr/>
          </p:nvSpPr>
          <p:spPr bwMode="auto">
            <a:xfrm>
              <a:off x="1437" y="2226"/>
              <a:ext cx="72" cy="47"/>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454776" name="Freeform 120"/>
            <p:cNvSpPr>
              <a:spLocks/>
            </p:cNvSpPr>
            <p:nvPr/>
          </p:nvSpPr>
          <p:spPr bwMode="auto">
            <a:xfrm>
              <a:off x="2047" y="2395"/>
              <a:ext cx="554" cy="167"/>
            </a:xfrm>
            <a:custGeom>
              <a:avLst/>
              <a:gdLst>
                <a:gd name="T0" fmla="*/ 0 w 554"/>
                <a:gd name="T1" fmla="*/ 10 h 167"/>
                <a:gd name="T2" fmla="*/ 324 w 554"/>
                <a:gd name="T3" fmla="*/ 26 h 167"/>
                <a:gd name="T4" fmla="*/ 554 w 554"/>
                <a:gd name="T5" fmla="*/ 167 h 167"/>
              </a:gdLst>
              <a:ahLst/>
              <a:cxnLst>
                <a:cxn ang="0">
                  <a:pos x="T0" y="T1"/>
                </a:cxn>
                <a:cxn ang="0">
                  <a:pos x="T2" y="T3"/>
                </a:cxn>
                <a:cxn ang="0">
                  <a:pos x="T4" y="T5"/>
                </a:cxn>
              </a:cxnLst>
              <a:rect l="0" t="0" r="r" b="b"/>
              <a:pathLst>
                <a:path w="554" h="167">
                  <a:moveTo>
                    <a:pt x="0" y="10"/>
                  </a:moveTo>
                  <a:cubicBezTo>
                    <a:pt x="102" y="0"/>
                    <a:pt x="240" y="5"/>
                    <a:pt x="324" y="26"/>
                  </a:cubicBezTo>
                  <a:cubicBezTo>
                    <a:pt x="416" y="52"/>
                    <a:pt x="502" y="120"/>
                    <a:pt x="554" y="167"/>
                  </a:cubicBezTo>
                </a:path>
              </a:pathLst>
            </a:custGeom>
            <a:noFill/>
            <a:ln w="57150" cmpd="sng">
              <a:solidFill>
                <a:srgbClr val="FF3300"/>
              </a:solidFill>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454777" name="Freeform 121"/>
            <p:cNvSpPr>
              <a:spLocks/>
            </p:cNvSpPr>
            <p:nvPr/>
          </p:nvSpPr>
          <p:spPr bwMode="auto">
            <a:xfrm flipH="1">
              <a:off x="3518" y="2127"/>
              <a:ext cx="364" cy="234"/>
            </a:xfrm>
            <a:custGeom>
              <a:avLst/>
              <a:gdLst>
                <a:gd name="T0" fmla="*/ 0 w 1443"/>
                <a:gd name="T1" fmla="*/ 0 h 816"/>
                <a:gd name="T2" fmla="*/ 1076 w 1443"/>
                <a:gd name="T3" fmla="*/ 782 h 816"/>
                <a:gd name="T4" fmla="*/ 1320 w 1443"/>
                <a:gd name="T5" fmla="*/ 788 h 816"/>
                <a:gd name="T6" fmla="*/ 1443 w 1443"/>
                <a:gd name="T7" fmla="*/ 5 h 816"/>
                <a:gd name="T8" fmla="*/ 0 w 1443"/>
                <a:gd name="T9" fmla="*/ 0 h 816"/>
              </a:gdLst>
              <a:ahLst/>
              <a:cxnLst>
                <a:cxn ang="0">
                  <a:pos x="T0" y="T1"/>
                </a:cxn>
                <a:cxn ang="0">
                  <a:pos x="T2" y="T3"/>
                </a:cxn>
                <a:cxn ang="0">
                  <a:pos x="T4" y="T5"/>
                </a:cxn>
                <a:cxn ang="0">
                  <a:pos x="T6" y="T7"/>
                </a:cxn>
                <a:cxn ang="0">
                  <a:pos x="T8" y="T9"/>
                </a:cxn>
              </a:cxnLst>
              <a:rect l="0" t="0" r="r" b="b"/>
              <a:pathLst>
                <a:path w="1443" h="816">
                  <a:moveTo>
                    <a:pt x="0" y="0"/>
                  </a:moveTo>
                  <a:cubicBezTo>
                    <a:pt x="571" y="285"/>
                    <a:pt x="856" y="408"/>
                    <a:pt x="1076" y="782"/>
                  </a:cubicBezTo>
                  <a:cubicBezTo>
                    <a:pt x="1185" y="775"/>
                    <a:pt x="1220" y="816"/>
                    <a:pt x="1320" y="788"/>
                  </a:cubicBezTo>
                  <a:cubicBezTo>
                    <a:pt x="1264" y="347"/>
                    <a:pt x="1276" y="352"/>
                    <a:pt x="1443" y="5"/>
                  </a:cubicBezTo>
                  <a:cubicBezTo>
                    <a:pt x="867" y="5"/>
                    <a:pt x="233" y="0"/>
                    <a:pt x="0" y="0"/>
                  </a:cubicBezTo>
                  <a:close/>
                </a:path>
              </a:pathLst>
            </a:custGeom>
            <a:gradFill rotWithShape="1">
              <a:gsLst>
                <a:gs pos="0">
                  <a:schemeClr val="accent1"/>
                </a:gs>
                <a:gs pos="100000">
                  <a:schemeClr val="bg1"/>
                </a:gs>
              </a:gsLst>
              <a:lin ang="540000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454778" name="Freeform 122"/>
            <p:cNvSpPr>
              <a:spLocks/>
            </p:cNvSpPr>
            <p:nvPr/>
          </p:nvSpPr>
          <p:spPr bwMode="auto">
            <a:xfrm flipH="1">
              <a:off x="2881" y="1948"/>
              <a:ext cx="364" cy="234"/>
            </a:xfrm>
            <a:custGeom>
              <a:avLst/>
              <a:gdLst>
                <a:gd name="T0" fmla="*/ 0 w 1443"/>
                <a:gd name="T1" fmla="*/ 0 h 816"/>
                <a:gd name="T2" fmla="*/ 1076 w 1443"/>
                <a:gd name="T3" fmla="*/ 782 h 816"/>
                <a:gd name="T4" fmla="*/ 1320 w 1443"/>
                <a:gd name="T5" fmla="*/ 788 h 816"/>
                <a:gd name="T6" fmla="*/ 1443 w 1443"/>
                <a:gd name="T7" fmla="*/ 5 h 816"/>
                <a:gd name="T8" fmla="*/ 0 w 1443"/>
                <a:gd name="T9" fmla="*/ 0 h 816"/>
              </a:gdLst>
              <a:ahLst/>
              <a:cxnLst>
                <a:cxn ang="0">
                  <a:pos x="T0" y="T1"/>
                </a:cxn>
                <a:cxn ang="0">
                  <a:pos x="T2" y="T3"/>
                </a:cxn>
                <a:cxn ang="0">
                  <a:pos x="T4" y="T5"/>
                </a:cxn>
                <a:cxn ang="0">
                  <a:pos x="T6" y="T7"/>
                </a:cxn>
                <a:cxn ang="0">
                  <a:pos x="T8" y="T9"/>
                </a:cxn>
              </a:cxnLst>
              <a:rect l="0" t="0" r="r" b="b"/>
              <a:pathLst>
                <a:path w="1443" h="816">
                  <a:moveTo>
                    <a:pt x="0" y="0"/>
                  </a:moveTo>
                  <a:cubicBezTo>
                    <a:pt x="571" y="285"/>
                    <a:pt x="856" y="408"/>
                    <a:pt x="1076" y="782"/>
                  </a:cubicBezTo>
                  <a:cubicBezTo>
                    <a:pt x="1185" y="775"/>
                    <a:pt x="1220" y="816"/>
                    <a:pt x="1320" y="788"/>
                  </a:cubicBezTo>
                  <a:cubicBezTo>
                    <a:pt x="1264" y="347"/>
                    <a:pt x="1276" y="352"/>
                    <a:pt x="1443" y="5"/>
                  </a:cubicBezTo>
                  <a:cubicBezTo>
                    <a:pt x="867" y="5"/>
                    <a:pt x="233" y="0"/>
                    <a:pt x="0" y="0"/>
                  </a:cubicBezTo>
                  <a:close/>
                </a:path>
              </a:pathLst>
            </a:custGeom>
            <a:gradFill rotWithShape="1">
              <a:gsLst>
                <a:gs pos="0">
                  <a:schemeClr val="accent1"/>
                </a:gs>
                <a:gs pos="100000">
                  <a:schemeClr val="bg1"/>
                </a:gs>
              </a:gsLst>
              <a:lin ang="540000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454779" name="Freeform 123"/>
            <p:cNvSpPr>
              <a:spLocks/>
            </p:cNvSpPr>
            <p:nvPr/>
          </p:nvSpPr>
          <p:spPr bwMode="auto">
            <a:xfrm flipH="1" flipV="1">
              <a:off x="3302" y="2922"/>
              <a:ext cx="342" cy="234"/>
            </a:xfrm>
            <a:custGeom>
              <a:avLst/>
              <a:gdLst>
                <a:gd name="T0" fmla="*/ 0 w 1443"/>
                <a:gd name="T1" fmla="*/ 0 h 816"/>
                <a:gd name="T2" fmla="*/ 1076 w 1443"/>
                <a:gd name="T3" fmla="*/ 782 h 816"/>
                <a:gd name="T4" fmla="*/ 1320 w 1443"/>
                <a:gd name="T5" fmla="*/ 788 h 816"/>
                <a:gd name="T6" fmla="*/ 1443 w 1443"/>
                <a:gd name="T7" fmla="*/ 5 h 816"/>
                <a:gd name="T8" fmla="*/ 0 w 1443"/>
                <a:gd name="T9" fmla="*/ 0 h 816"/>
              </a:gdLst>
              <a:ahLst/>
              <a:cxnLst>
                <a:cxn ang="0">
                  <a:pos x="T0" y="T1"/>
                </a:cxn>
                <a:cxn ang="0">
                  <a:pos x="T2" y="T3"/>
                </a:cxn>
                <a:cxn ang="0">
                  <a:pos x="T4" y="T5"/>
                </a:cxn>
                <a:cxn ang="0">
                  <a:pos x="T6" y="T7"/>
                </a:cxn>
                <a:cxn ang="0">
                  <a:pos x="T8" y="T9"/>
                </a:cxn>
              </a:cxnLst>
              <a:rect l="0" t="0" r="r" b="b"/>
              <a:pathLst>
                <a:path w="1443" h="816">
                  <a:moveTo>
                    <a:pt x="0" y="0"/>
                  </a:moveTo>
                  <a:cubicBezTo>
                    <a:pt x="571" y="285"/>
                    <a:pt x="856" y="408"/>
                    <a:pt x="1076" y="782"/>
                  </a:cubicBezTo>
                  <a:cubicBezTo>
                    <a:pt x="1185" y="775"/>
                    <a:pt x="1220" y="816"/>
                    <a:pt x="1320" y="788"/>
                  </a:cubicBezTo>
                  <a:cubicBezTo>
                    <a:pt x="1264" y="347"/>
                    <a:pt x="1276" y="352"/>
                    <a:pt x="1443" y="5"/>
                  </a:cubicBezTo>
                  <a:cubicBezTo>
                    <a:pt x="867" y="5"/>
                    <a:pt x="233" y="0"/>
                    <a:pt x="0" y="0"/>
                  </a:cubicBezTo>
                  <a:close/>
                </a:path>
              </a:pathLst>
            </a:custGeom>
            <a:gradFill rotWithShape="1">
              <a:gsLst>
                <a:gs pos="0">
                  <a:schemeClr val="accent1"/>
                </a:gs>
                <a:gs pos="100000">
                  <a:schemeClr val="bg1"/>
                </a:gs>
              </a:gsLst>
              <a:lin ang="540000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454780" name="Freeform 124"/>
            <p:cNvSpPr>
              <a:spLocks/>
            </p:cNvSpPr>
            <p:nvPr/>
          </p:nvSpPr>
          <p:spPr bwMode="auto">
            <a:xfrm flipH="1" flipV="1">
              <a:off x="2452" y="2912"/>
              <a:ext cx="342" cy="234"/>
            </a:xfrm>
            <a:custGeom>
              <a:avLst/>
              <a:gdLst>
                <a:gd name="T0" fmla="*/ 0 w 1443"/>
                <a:gd name="T1" fmla="*/ 0 h 816"/>
                <a:gd name="T2" fmla="*/ 1076 w 1443"/>
                <a:gd name="T3" fmla="*/ 782 h 816"/>
                <a:gd name="T4" fmla="*/ 1320 w 1443"/>
                <a:gd name="T5" fmla="*/ 788 h 816"/>
                <a:gd name="T6" fmla="*/ 1443 w 1443"/>
                <a:gd name="T7" fmla="*/ 5 h 816"/>
                <a:gd name="T8" fmla="*/ 0 w 1443"/>
                <a:gd name="T9" fmla="*/ 0 h 816"/>
              </a:gdLst>
              <a:ahLst/>
              <a:cxnLst>
                <a:cxn ang="0">
                  <a:pos x="T0" y="T1"/>
                </a:cxn>
                <a:cxn ang="0">
                  <a:pos x="T2" y="T3"/>
                </a:cxn>
                <a:cxn ang="0">
                  <a:pos x="T4" y="T5"/>
                </a:cxn>
                <a:cxn ang="0">
                  <a:pos x="T6" y="T7"/>
                </a:cxn>
                <a:cxn ang="0">
                  <a:pos x="T8" y="T9"/>
                </a:cxn>
              </a:cxnLst>
              <a:rect l="0" t="0" r="r" b="b"/>
              <a:pathLst>
                <a:path w="1443" h="816">
                  <a:moveTo>
                    <a:pt x="0" y="0"/>
                  </a:moveTo>
                  <a:cubicBezTo>
                    <a:pt x="571" y="285"/>
                    <a:pt x="856" y="408"/>
                    <a:pt x="1076" y="782"/>
                  </a:cubicBezTo>
                  <a:cubicBezTo>
                    <a:pt x="1185" y="775"/>
                    <a:pt x="1220" y="816"/>
                    <a:pt x="1320" y="788"/>
                  </a:cubicBezTo>
                  <a:cubicBezTo>
                    <a:pt x="1264" y="347"/>
                    <a:pt x="1276" y="352"/>
                    <a:pt x="1443" y="5"/>
                  </a:cubicBezTo>
                  <a:cubicBezTo>
                    <a:pt x="867" y="5"/>
                    <a:pt x="233" y="0"/>
                    <a:pt x="0" y="0"/>
                  </a:cubicBezTo>
                  <a:close/>
                </a:path>
              </a:pathLst>
            </a:custGeom>
            <a:gradFill rotWithShape="1">
              <a:gsLst>
                <a:gs pos="0">
                  <a:schemeClr val="accent1"/>
                </a:gs>
                <a:gs pos="100000">
                  <a:schemeClr val="bg1"/>
                </a:gs>
              </a:gsLst>
              <a:lin ang="540000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454781" name="Freeform 125"/>
            <p:cNvSpPr>
              <a:spLocks/>
            </p:cNvSpPr>
            <p:nvPr/>
          </p:nvSpPr>
          <p:spPr bwMode="auto">
            <a:xfrm flipH="1" flipV="1">
              <a:off x="2855" y="2728"/>
              <a:ext cx="342" cy="285"/>
            </a:xfrm>
            <a:custGeom>
              <a:avLst/>
              <a:gdLst>
                <a:gd name="T0" fmla="*/ 0 w 1443"/>
                <a:gd name="T1" fmla="*/ 0 h 816"/>
                <a:gd name="T2" fmla="*/ 1076 w 1443"/>
                <a:gd name="T3" fmla="*/ 782 h 816"/>
                <a:gd name="T4" fmla="*/ 1320 w 1443"/>
                <a:gd name="T5" fmla="*/ 788 h 816"/>
                <a:gd name="T6" fmla="*/ 1443 w 1443"/>
                <a:gd name="T7" fmla="*/ 5 h 816"/>
                <a:gd name="T8" fmla="*/ 0 w 1443"/>
                <a:gd name="T9" fmla="*/ 0 h 816"/>
              </a:gdLst>
              <a:ahLst/>
              <a:cxnLst>
                <a:cxn ang="0">
                  <a:pos x="T0" y="T1"/>
                </a:cxn>
                <a:cxn ang="0">
                  <a:pos x="T2" y="T3"/>
                </a:cxn>
                <a:cxn ang="0">
                  <a:pos x="T4" y="T5"/>
                </a:cxn>
                <a:cxn ang="0">
                  <a:pos x="T6" y="T7"/>
                </a:cxn>
                <a:cxn ang="0">
                  <a:pos x="T8" y="T9"/>
                </a:cxn>
              </a:cxnLst>
              <a:rect l="0" t="0" r="r" b="b"/>
              <a:pathLst>
                <a:path w="1443" h="816">
                  <a:moveTo>
                    <a:pt x="0" y="0"/>
                  </a:moveTo>
                  <a:cubicBezTo>
                    <a:pt x="571" y="285"/>
                    <a:pt x="856" y="408"/>
                    <a:pt x="1076" y="782"/>
                  </a:cubicBezTo>
                  <a:cubicBezTo>
                    <a:pt x="1185" y="775"/>
                    <a:pt x="1220" y="816"/>
                    <a:pt x="1320" y="788"/>
                  </a:cubicBezTo>
                  <a:cubicBezTo>
                    <a:pt x="1264" y="347"/>
                    <a:pt x="1276" y="352"/>
                    <a:pt x="1443" y="5"/>
                  </a:cubicBezTo>
                  <a:cubicBezTo>
                    <a:pt x="867" y="5"/>
                    <a:pt x="233" y="0"/>
                    <a:pt x="0" y="0"/>
                  </a:cubicBezTo>
                  <a:close/>
                </a:path>
              </a:pathLst>
            </a:custGeom>
            <a:gradFill rotWithShape="1">
              <a:gsLst>
                <a:gs pos="0">
                  <a:schemeClr val="accent1"/>
                </a:gs>
                <a:gs pos="100000">
                  <a:schemeClr val="bg1"/>
                </a:gs>
              </a:gsLst>
              <a:lin ang="540000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grpSp>
          <p:nvGrpSpPr>
            <p:cNvPr id="22" name="Group 126"/>
            <p:cNvGrpSpPr>
              <a:grpSpLocks/>
            </p:cNvGrpSpPr>
            <p:nvPr/>
          </p:nvGrpSpPr>
          <p:grpSpPr bwMode="auto">
            <a:xfrm>
              <a:off x="2886" y="1668"/>
              <a:ext cx="347" cy="285"/>
              <a:chOff x="2886" y="1668"/>
              <a:chExt cx="347" cy="285"/>
            </a:xfrm>
          </p:grpSpPr>
          <p:sp>
            <p:nvSpPr>
              <p:cNvPr id="454783" name="Rectangle 127"/>
              <p:cNvSpPr>
                <a:spLocks noChangeArrowheads="1"/>
              </p:cNvSpPr>
              <p:nvPr/>
            </p:nvSpPr>
            <p:spPr bwMode="auto">
              <a:xfrm>
                <a:off x="2886" y="1668"/>
                <a:ext cx="347" cy="285"/>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54784" name="Oval 128"/>
              <p:cNvSpPr>
                <a:spLocks noChangeArrowheads="1"/>
              </p:cNvSpPr>
              <p:nvPr/>
            </p:nvSpPr>
            <p:spPr bwMode="auto">
              <a:xfrm>
                <a:off x="2905" y="1674"/>
                <a:ext cx="314" cy="74"/>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54785" name="Rectangle 129"/>
              <p:cNvSpPr>
                <a:spLocks noChangeArrowheads="1"/>
              </p:cNvSpPr>
              <p:nvPr/>
            </p:nvSpPr>
            <p:spPr bwMode="auto">
              <a:xfrm>
                <a:off x="2913" y="1785"/>
                <a:ext cx="300" cy="156"/>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54786" name="Line 130"/>
              <p:cNvSpPr>
                <a:spLocks noChangeShapeType="1"/>
              </p:cNvSpPr>
              <p:nvPr/>
            </p:nvSpPr>
            <p:spPr bwMode="auto">
              <a:xfrm>
                <a:off x="3082" y="1811"/>
                <a:ext cx="1" cy="13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454787" name="Line 131"/>
              <p:cNvSpPr>
                <a:spLocks noChangeShapeType="1"/>
              </p:cNvSpPr>
              <p:nvPr/>
            </p:nvSpPr>
            <p:spPr bwMode="auto">
              <a:xfrm>
                <a:off x="2913" y="1842"/>
                <a:ext cx="3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454788" name="Line 132"/>
              <p:cNvSpPr>
                <a:spLocks noChangeShapeType="1"/>
              </p:cNvSpPr>
              <p:nvPr/>
            </p:nvSpPr>
            <p:spPr bwMode="auto">
              <a:xfrm>
                <a:off x="2912" y="1812"/>
                <a:ext cx="3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454789" name="AutoShape 133"/>
              <p:cNvSpPr>
                <a:spLocks noChangeArrowheads="1"/>
              </p:cNvSpPr>
              <p:nvPr/>
            </p:nvSpPr>
            <p:spPr bwMode="auto">
              <a:xfrm rot="5400000">
                <a:off x="3051" y="1745"/>
                <a:ext cx="29" cy="41"/>
              </a:xfrm>
              <a:prstGeom prst="rightArrow">
                <a:avLst>
                  <a:gd name="adj1" fmla="val 51167"/>
                  <a:gd name="adj2" fmla="val 39736"/>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grpSp>
        <p:grpSp>
          <p:nvGrpSpPr>
            <p:cNvPr id="23" name="Group 134"/>
            <p:cNvGrpSpPr>
              <a:grpSpLocks/>
            </p:cNvGrpSpPr>
            <p:nvPr/>
          </p:nvGrpSpPr>
          <p:grpSpPr bwMode="auto">
            <a:xfrm>
              <a:off x="3524" y="1840"/>
              <a:ext cx="347" cy="285"/>
              <a:chOff x="2886" y="1668"/>
              <a:chExt cx="347" cy="285"/>
            </a:xfrm>
          </p:grpSpPr>
          <p:sp>
            <p:nvSpPr>
              <p:cNvPr id="454791" name="Rectangle 135"/>
              <p:cNvSpPr>
                <a:spLocks noChangeArrowheads="1"/>
              </p:cNvSpPr>
              <p:nvPr/>
            </p:nvSpPr>
            <p:spPr bwMode="auto">
              <a:xfrm>
                <a:off x="2886" y="1668"/>
                <a:ext cx="347" cy="285"/>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54792" name="Oval 136"/>
              <p:cNvSpPr>
                <a:spLocks noChangeArrowheads="1"/>
              </p:cNvSpPr>
              <p:nvPr/>
            </p:nvSpPr>
            <p:spPr bwMode="auto">
              <a:xfrm>
                <a:off x="2905" y="1674"/>
                <a:ext cx="314" cy="74"/>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54793" name="Rectangle 137"/>
              <p:cNvSpPr>
                <a:spLocks noChangeArrowheads="1"/>
              </p:cNvSpPr>
              <p:nvPr/>
            </p:nvSpPr>
            <p:spPr bwMode="auto">
              <a:xfrm>
                <a:off x="2913" y="1785"/>
                <a:ext cx="300" cy="156"/>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54794" name="Line 138"/>
              <p:cNvSpPr>
                <a:spLocks noChangeShapeType="1"/>
              </p:cNvSpPr>
              <p:nvPr/>
            </p:nvSpPr>
            <p:spPr bwMode="auto">
              <a:xfrm>
                <a:off x="3082" y="1811"/>
                <a:ext cx="1" cy="13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454795" name="Line 139"/>
              <p:cNvSpPr>
                <a:spLocks noChangeShapeType="1"/>
              </p:cNvSpPr>
              <p:nvPr/>
            </p:nvSpPr>
            <p:spPr bwMode="auto">
              <a:xfrm>
                <a:off x="2913" y="1842"/>
                <a:ext cx="3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454796" name="Line 140"/>
              <p:cNvSpPr>
                <a:spLocks noChangeShapeType="1"/>
              </p:cNvSpPr>
              <p:nvPr/>
            </p:nvSpPr>
            <p:spPr bwMode="auto">
              <a:xfrm>
                <a:off x="2912" y="1812"/>
                <a:ext cx="3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454797" name="AutoShape 141"/>
              <p:cNvSpPr>
                <a:spLocks noChangeArrowheads="1"/>
              </p:cNvSpPr>
              <p:nvPr/>
            </p:nvSpPr>
            <p:spPr bwMode="auto">
              <a:xfrm rot="5400000">
                <a:off x="3051" y="1745"/>
                <a:ext cx="29" cy="41"/>
              </a:xfrm>
              <a:prstGeom prst="rightArrow">
                <a:avLst>
                  <a:gd name="adj1" fmla="val 51167"/>
                  <a:gd name="adj2" fmla="val 39736"/>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grpSp>
        <p:grpSp>
          <p:nvGrpSpPr>
            <p:cNvPr id="24" name="Group 142"/>
            <p:cNvGrpSpPr>
              <a:grpSpLocks/>
            </p:cNvGrpSpPr>
            <p:nvPr/>
          </p:nvGrpSpPr>
          <p:grpSpPr bwMode="auto">
            <a:xfrm>
              <a:off x="3291" y="3148"/>
              <a:ext cx="347" cy="285"/>
              <a:chOff x="2886" y="1668"/>
              <a:chExt cx="347" cy="285"/>
            </a:xfrm>
          </p:grpSpPr>
          <p:sp>
            <p:nvSpPr>
              <p:cNvPr id="454799" name="Rectangle 143"/>
              <p:cNvSpPr>
                <a:spLocks noChangeArrowheads="1"/>
              </p:cNvSpPr>
              <p:nvPr/>
            </p:nvSpPr>
            <p:spPr bwMode="auto">
              <a:xfrm>
                <a:off x="2886" y="1668"/>
                <a:ext cx="347" cy="285"/>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54800" name="Oval 144"/>
              <p:cNvSpPr>
                <a:spLocks noChangeArrowheads="1"/>
              </p:cNvSpPr>
              <p:nvPr/>
            </p:nvSpPr>
            <p:spPr bwMode="auto">
              <a:xfrm>
                <a:off x="2905" y="1674"/>
                <a:ext cx="314" cy="74"/>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54801" name="Rectangle 145"/>
              <p:cNvSpPr>
                <a:spLocks noChangeArrowheads="1"/>
              </p:cNvSpPr>
              <p:nvPr/>
            </p:nvSpPr>
            <p:spPr bwMode="auto">
              <a:xfrm>
                <a:off x="2913" y="1785"/>
                <a:ext cx="300" cy="156"/>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54802" name="Line 146"/>
              <p:cNvSpPr>
                <a:spLocks noChangeShapeType="1"/>
              </p:cNvSpPr>
              <p:nvPr/>
            </p:nvSpPr>
            <p:spPr bwMode="auto">
              <a:xfrm>
                <a:off x="3082" y="1811"/>
                <a:ext cx="1" cy="13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454803" name="Line 147"/>
              <p:cNvSpPr>
                <a:spLocks noChangeShapeType="1"/>
              </p:cNvSpPr>
              <p:nvPr/>
            </p:nvSpPr>
            <p:spPr bwMode="auto">
              <a:xfrm>
                <a:off x="2913" y="1842"/>
                <a:ext cx="3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454804" name="Line 148"/>
              <p:cNvSpPr>
                <a:spLocks noChangeShapeType="1"/>
              </p:cNvSpPr>
              <p:nvPr/>
            </p:nvSpPr>
            <p:spPr bwMode="auto">
              <a:xfrm>
                <a:off x="2912" y="1812"/>
                <a:ext cx="3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454805" name="AutoShape 149"/>
              <p:cNvSpPr>
                <a:spLocks noChangeArrowheads="1"/>
              </p:cNvSpPr>
              <p:nvPr/>
            </p:nvSpPr>
            <p:spPr bwMode="auto">
              <a:xfrm rot="5400000">
                <a:off x="3051" y="1745"/>
                <a:ext cx="29" cy="41"/>
              </a:xfrm>
              <a:prstGeom prst="rightArrow">
                <a:avLst>
                  <a:gd name="adj1" fmla="val 51167"/>
                  <a:gd name="adj2" fmla="val 39736"/>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grpSp>
        <p:grpSp>
          <p:nvGrpSpPr>
            <p:cNvPr id="25" name="Group 150"/>
            <p:cNvGrpSpPr>
              <a:grpSpLocks/>
            </p:cNvGrpSpPr>
            <p:nvPr/>
          </p:nvGrpSpPr>
          <p:grpSpPr bwMode="auto">
            <a:xfrm>
              <a:off x="2853" y="3010"/>
              <a:ext cx="347" cy="285"/>
              <a:chOff x="2886" y="1668"/>
              <a:chExt cx="347" cy="285"/>
            </a:xfrm>
          </p:grpSpPr>
          <p:sp>
            <p:nvSpPr>
              <p:cNvPr id="454807" name="Rectangle 151"/>
              <p:cNvSpPr>
                <a:spLocks noChangeArrowheads="1"/>
              </p:cNvSpPr>
              <p:nvPr/>
            </p:nvSpPr>
            <p:spPr bwMode="auto">
              <a:xfrm>
                <a:off x="2886" y="1668"/>
                <a:ext cx="347" cy="285"/>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54808" name="Oval 152"/>
              <p:cNvSpPr>
                <a:spLocks noChangeArrowheads="1"/>
              </p:cNvSpPr>
              <p:nvPr/>
            </p:nvSpPr>
            <p:spPr bwMode="auto">
              <a:xfrm>
                <a:off x="2905" y="1674"/>
                <a:ext cx="314" cy="74"/>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54809" name="Rectangle 153"/>
              <p:cNvSpPr>
                <a:spLocks noChangeArrowheads="1"/>
              </p:cNvSpPr>
              <p:nvPr/>
            </p:nvSpPr>
            <p:spPr bwMode="auto">
              <a:xfrm>
                <a:off x="2913" y="1785"/>
                <a:ext cx="300" cy="156"/>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54810" name="Line 154"/>
              <p:cNvSpPr>
                <a:spLocks noChangeShapeType="1"/>
              </p:cNvSpPr>
              <p:nvPr/>
            </p:nvSpPr>
            <p:spPr bwMode="auto">
              <a:xfrm>
                <a:off x="3082" y="1811"/>
                <a:ext cx="1" cy="13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454811" name="Line 155"/>
              <p:cNvSpPr>
                <a:spLocks noChangeShapeType="1"/>
              </p:cNvSpPr>
              <p:nvPr/>
            </p:nvSpPr>
            <p:spPr bwMode="auto">
              <a:xfrm>
                <a:off x="2913" y="1842"/>
                <a:ext cx="3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454812" name="Line 156"/>
              <p:cNvSpPr>
                <a:spLocks noChangeShapeType="1"/>
              </p:cNvSpPr>
              <p:nvPr/>
            </p:nvSpPr>
            <p:spPr bwMode="auto">
              <a:xfrm>
                <a:off x="2912" y="1812"/>
                <a:ext cx="3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454813" name="AutoShape 157"/>
              <p:cNvSpPr>
                <a:spLocks noChangeArrowheads="1"/>
              </p:cNvSpPr>
              <p:nvPr/>
            </p:nvSpPr>
            <p:spPr bwMode="auto">
              <a:xfrm rot="5400000">
                <a:off x="3051" y="1745"/>
                <a:ext cx="29" cy="41"/>
              </a:xfrm>
              <a:prstGeom prst="rightArrow">
                <a:avLst>
                  <a:gd name="adj1" fmla="val 51167"/>
                  <a:gd name="adj2" fmla="val 39736"/>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grpSp>
        <p:grpSp>
          <p:nvGrpSpPr>
            <p:cNvPr id="26" name="Group 158"/>
            <p:cNvGrpSpPr>
              <a:grpSpLocks/>
            </p:cNvGrpSpPr>
            <p:nvPr/>
          </p:nvGrpSpPr>
          <p:grpSpPr bwMode="auto">
            <a:xfrm>
              <a:off x="2440" y="3131"/>
              <a:ext cx="347" cy="285"/>
              <a:chOff x="2886" y="1668"/>
              <a:chExt cx="347" cy="285"/>
            </a:xfrm>
          </p:grpSpPr>
          <p:sp>
            <p:nvSpPr>
              <p:cNvPr id="454815" name="Rectangle 159"/>
              <p:cNvSpPr>
                <a:spLocks noChangeArrowheads="1"/>
              </p:cNvSpPr>
              <p:nvPr/>
            </p:nvSpPr>
            <p:spPr bwMode="auto">
              <a:xfrm>
                <a:off x="2886" y="1668"/>
                <a:ext cx="347" cy="285"/>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54816" name="Oval 160"/>
              <p:cNvSpPr>
                <a:spLocks noChangeArrowheads="1"/>
              </p:cNvSpPr>
              <p:nvPr/>
            </p:nvSpPr>
            <p:spPr bwMode="auto">
              <a:xfrm>
                <a:off x="2905" y="1674"/>
                <a:ext cx="314" cy="74"/>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54817" name="Rectangle 161"/>
              <p:cNvSpPr>
                <a:spLocks noChangeArrowheads="1"/>
              </p:cNvSpPr>
              <p:nvPr/>
            </p:nvSpPr>
            <p:spPr bwMode="auto">
              <a:xfrm>
                <a:off x="2913" y="1785"/>
                <a:ext cx="300" cy="156"/>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54818" name="Line 162"/>
              <p:cNvSpPr>
                <a:spLocks noChangeShapeType="1"/>
              </p:cNvSpPr>
              <p:nvPr/>
            </p:nvSpPr>
            <p:spPr bwMode="auto">
              <a:xfrm>
                <a:off x="3082" y="1811"/>
                <a:ext cx="1" cy="13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454819" name="Line 163"/>
              <p:cNvSpPr>
                <a:spLocks noChangeShapeType="1"/>
              </p:cNvSpPr>
              <p:nvPr/>
            </p:nvSpPr>
            <p:spPr bwMode="auto">
              <a:xfrm>
                <a:off x="2913" y="1842"/>
                <a:ext cx="3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454820" name="Line 164"/>
              <p:cNvSpPr>
                <a:spLocks noChangeShapeType="1"/>
              </p:cNvSpPr>
              <p:nvPr/>
            </p:nvSpPr>
            <p:spPr bwMode="auto">
              <a:xfrm>
                <a:off x="2912" y="1812"/>
                <a:ext cx="3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454821" name="AutoShape 165"/>
              <p:cNvSpPr>
                <a:spLocks noChangeArrowheads="1"/>
              </p:cNvSpPr>
              <p:nvPr/>
            </p:nvSpPr>
            <p:spPr bwMode="auto">
              <a:xfrm rot="5400000">
                <a:off x="3051" y="1745"/>
                <a:ext cx="29" cy="41"/>
              </a:xfrm>
              <a:prstGeom prst="rightArrow">
                <a:avLst>
                  <a:gd name="adj1" fmla="val 51167"/>
                  <a:gd name="adj2" fmla="val 39736"/>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grpSp>
      </p:grpSp>
      <p:sp>
        <p:nvSpPr>
          <p:cNvPr id="454822" name="Rectangle 166"/>
          <p:cNvSpPr>
            <a:spLocks noGrp="1" noChangeArrowheads="1"/>
          </p:cNvSpPr>
          <p:nvPr>
            <p:ph type="title"/>
          </p:nvPr>
        </p:nvSpPr>
        <p:spPr>
          <a:xfrm>
            <a:off x="249238" y="0"/>
            <a:ext cx="8894762" cy="1143000"/>
          </a:xfrm>
        </p:spPr>
        <p:txBody>
          <a:bodyPr>
            <a:noAutofit/>
          </a:bodyPr>
          <a:lstStyle/>
          <a:p>
            <a:r>
              <a:rPr lang="de-DE" sz="3600" dirty="0"/>
              <a:t>Hauptaufgabe des Routers: </a:t>
            </a:r>
            <a:r>
              <a:rPr lang="de-DE" sz="3600" dirty="0">
                <a:solidFill>
                  <a:srgbClr val="FF0000"/>
                </a:solidFill>
              </a:rPr>
              <a:t>Weiterleitung</a:t>
            </a:r>
            <a:endParaRPr lang="de-DE" sz="3600" dirty="0"/>
          </a:p>
        </p:txBody>
      </p:sp>
    </p:spTree>
    <p:extLst>
      <p:ext uri="{BB962C8B-B14F-4D97-AF65-F5344CB8AC3E}">
        <p14:creationId xmlns:p14="http://schemas.microsoft.com/office/powerpoint/2010/main" val="17772048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 name="Slide Number Placeholder 4"/>
          <p:cNvSpPr>
            <a:spLocks noGrp="1"/>
          </p:cNvSpPr>
          <p:nvPr>
            <p:ph type="sldNum" sz="quarter" idx="12"/>
          </p:nvPr>
        </p:nvSpPr>
        <p:spPr/>
        <p:txBody>
          <a:bodyPr/>
          <a:lstStyle/>
          <a:p>
            <a:fld id="{E03E7E1A-2B5B-4D8D-88B8-8C8DD3EA0994}" type="slidenum">
              <a:rPr lang="de-DE" smtClean="0"/>
              <a:pPr/>
              <a:t>8</a:t>
            </a:fld>
            <a:endParaRPr lang="de-DE"/>
          </a:p>
        </p:txBody>
      </p:sp>
      <p:grpSp>
        <p:nvGrpSpPr>
          <p:cNvPr id="3" name="Group 2"/>
          <p:cNvGrpSpPr>
            <a:grpSpLocks/>
          </p:cNvGrpSpPr>
          <p:nvPr/>
        </p:nvGrpSpPr>
        <p:grpSpPr bwMode="auto">
          <a:xfrm>
            <a:off x="3371065" y="2449364"/>
            <a:ext cx="4781550" cy="4335463"/>
            <a:chOff x="870" y="702"/>
            <a:chExt cx="3012" cy="2731"/>
          </a:xfrm>
        </p:grpSpPr>
        <p:sp>
          <p:nvSpPr>
            <p:cNvPr id="454659" name="Freeform 3"/>
            <p:cNvSpPr>
              <a:spLocks/>
            </p:cNvSpPr>
            <p:nvPr/>
          </p:nvSpPr>
          <p:spPr bwMode="auto">
            <a:xfrm>
              <a:off x="2031" y="2058"/>
              <a:ext cx="1794" cy="933"/>
            </a:xfrm>
            <a:custGeom>
              <a:avLst/>
              <a:gdLst>
                <a:gd name="T0" fmla="*/ 6 w 1794"/>
                <a:gd name="T1" fmla="*/ 483 h 933"/>
                <a:gd name="T2" fmla="*/ 108 w 1794"/>
                <a:gd name="T3" fmla="*/ 125 h 933"/>
                <a:gd name="T4" fmla="*/ 559 w 1794"/>
                <a:gd name="T5" fmla="*/ 100 h 933"/>
                <a:gd name="T6" fmla="*/ 1128 w 1794"/>
                <a:gd name="T7" fmla="*/ 29 h 933"/>
                <a:gd name="T8" fmla="*/ 1716 w 1794"/>
                <a:gd name="T9" fmla="*/ 275 h 933"/>
                <a:gd name="T10" fmla="*/ 1596 w 1794"/>
                <a:gd name="T11" fmla="*/ 827 h 933"/>
                <a:gd name="T12" fmla="*/ 1380 w 1794"/>
                <a:gd name="T13" fmla="*/ 911 h 933"/>
                <a:gd name="T14" fmla="*/ 840 w 1794"/>
                <a:gd name="T15" fmla="*/ 929 h 933"/>
                <a:gd name="T16" fmla="*/ 414 w 1794"/>
                <a:gd name="T17" fmla="*/ 911 h 933"/>
                <a:gd name="T18" fmla="*/ 143 w 1794"/>
                <a:gd name="T19" fmla="*/ 832 h 933"/>
                <a:gd name="T20" fmla="*/ 6 w 1794"/>
                <a:gd name="T21" fmla="*/ 483 h 9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794" h="933">
                  <a:moveTo>
                    <a:pt x="6" y="483"/>
                  </a:moveTo>
                  <a:cubicBezTo>
                    <a:pt x="0" y="365"/>
                    <a:pt x="16" y="189"/>
                    <a:pt x="108" y="125"/>
                  </a:cubicBezTo>
                  <a:cubicBezTo>
                    <a:pt x="200" y="61"/>
                    <a:pt x="389" y="116"/>
                    <a:pt x="559" y="100"/>
                  </a:cubicBezTo>
                  <a:cubicBezTo>
                    <a:pt x="729" y="84"/>
                    <a:pt x="935" y="0"/>
                    <a:pt x="1128" y="29"/>
                  </a:cubicBezTo>
                  <a:cubicBezTo>
                    <a:pt x="1321" y="58"/>
                    <a:pt x="1638" y="142"/>
                    <a:pt x="1716" y="275"/>
                  </a:cubicBezTo>
                  <a:cubicBezTo>
                    <a:pt x="1794" y="408"/>
                    <a:pt x="1652" y="721"/>
                    <a:pt x="1596" y="827"/>
                  </a:cubicBezTo>
                  <a:cubicBezTo>
                    <a:pt x="1540" y="933"/>
                    <a:pt x="1506" y="894"/>
                    <a:pt x="1380" y="911"/>
                  </a:cubicBezTo>
                  <a:cubicBezTo>
                    <a:pt x="1254" y="928"/>
                    <a:pt x="1001" y="929"/>
                    <a:pt x="840" y="929"/>
                  </a:cubicBezTo>
                  <a:cubicBezTo>
                    <a:pt x="679" y="929"/>
                    <a:pt x="530" y="927"/>
                    <a:pt x="414" y="911"/>
                  </a:cubicBezTo>
                  <a:cubicBezTo>
                    <a:pt x="298" y="895"/>
                    <a:pt x="211" y="903"/>
                    <a:pt x="143" y="832"/>
                  </a:cubicBezTo>
                  <a:cubicBezTo>
                    <a:pt x="75" y="761"/>
                    <a:pt x="4" y="624"/>
                    <a:pt x="6" y="483"/>
                  </a:cubicBezTo>
                  <a:close/>
                </a:path>
              </a:pathLst>
            </a:custGeom>
            <a:solidFill>
              <a:srgbClr val="66CCFF"/>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54660" name="Freeform 4"/>
            <p:cNvSpPr>
              <a:spLocks/>
            </p:cNvSpPr>
            <p:nvPr/>
          </p:nvSpPr>
          <p:spPr bwMode="auto">
            <a:xfrm>
              <a:off x="1090" y="1594"/>
              <a:ext cx="1443" cy="816"/>
            </a:xfrm>
            <a:custGeom>
              <a:avLst/>
              <a:gdLst>
                <a:gd name="T0" fmla="*/ 0 w 1443"/>
                <a:gd name="T1" fmla="*/ 0 h 816"/>
                <a:gd name="T2" fmla="*/ 1076 w 1443"/>
                <a:gd name="T3" fmla="*/ 782 h 816"/>
                <a:gd name="T4" fmla="*/ 1320 w 1443"/>
                <a:gd name="T5" fmla="*/ 788 h 816"/>
                <a:gd name="T6" fmla="*/ 1443 w 1443"/>
                <a:gd name="T7" fmla="*/ 5 h 816"/>
                <a:gd name="T8" fmla="*/ 0 w 1443"/>
                <a:gd name="T9" fmla="*/ 0 h 816"/>
              </a:gdLst>
              <a:ahLst/>
              <a:cxnLst>
                <a:cxn ang="0">
                  <a:pos x="T0" y="T1"/>
                </a:cxn>
                <a:cxn ang="0">
                  <a:pos x="T2" y="T3"/>
                </a:cxn>
                <a:cxn ang="0">
                  <a:pos x="T4" y="T5"/>
                </a:cxn>
                <a:cxn ang="0">
                  <a:pos x="T6" y="T7"/>
                </a:cxn>
                <a:cxn ang="0">
                  <a:pos x="T8" y="T9"/>
                </a:cxn>
              </a:cxnLst>
              <a:rect l="0" t="0" r="r" b="b"/>
              <a:pathLst>
                <a:path w="1443" h="816">
                  <a:moveTo>
                    <a:pt x="0" y="0"/>
                  </a:moveTo>
                  <a:cubicBezTo>
                    <a:pt x="571" y="285"/>
                    <a:pt x="856" y="408"/>
                    <a:pt x="1076" y="782"/>
                  </a:cubicBezTo>
                  <a:cubicBezTo>
                    <a:pt x="1185" y="775"/>
                    <a:pt x="1220" y="816"/>
                    <a:pt x="1320" y="788"/>
                  </a:cubicBezTo>
                  <a:cubicBezTo>
                    <a:pt x="1264" y="347"/>
                    <a:pt x="1276" y="352"/>
                    <a:pt x="1443" y="5"/>
                  </a:cubicBezTo>
                  <a:cubicBezTo>
                    <a:pt x="867" y="5"/>
                    <a:pt x="233" y="0"/>
                    <a:pt x="0" y="0"/>
                  </a:cubicBezTo>
                  <a:close/>
                </a:path>
              </a:pathLst>
            </a:custGeom>
            <a:solidFill>
              <a:schemeClr val="accent2">
                <a:lumMod val="20000"/>
                <a:lumOff val="80000"/>
              </a:schemeClr>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454663" name="Freeform 7"/>
            <p:cNvSpPr>
              <a:spLocks/>
            </p:cNvSpPr>
            <p:nvPr/>
          </p:nvSpPr>
          <p:spPr bwMode="auto">
            <a:xfrm>
              <a:off x="2433" y="2249"/>
              <a:ext cx="342" cy="186"/>
            </a:xfrm>
            <a:custGeom>
              <a:avLst/>
              <a:gdLst>
                <a:gd name="T0" fmla="*/ 0 w 342"/>
                <a:gd name="T1" fmla="*/ 186 h 186"/>
                <a:gd name="T2" fmla="*/ 342 w 342"/>
                <a:gd name="T3" fmla="*/ 0 h 186"/>
              </a:gdLst>
              <a:ahLst/>
              <a:cxnLst>
                <a:cxn ang="0">
                  <a:pos x="T0" y="T1"/>
                </a:cxn>
                <a:cxn ang="0">
                  <a:pos x="T2" y="T3"/>
                </a:cxn>
              </a:cxnLst>
              <a:rect l="0" t="0" r="r" b="b"/>
              <a:pathLst>
                <a:path w="342" h="186">
                  <a:moveTo>
                    <a:pt x="0" y="186"/>
                  </a:moveTo>
                  <a:lnTo>
                    <a:pt x="342" y="0"/>
                  </a:lnTo>
                </a:path>
              </a:pathLst>
            </a:custGeom>
            <a:noFill/>
            <a:ln w="127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grpSp>
          <p:nvGrpSpPr>
            <p:cNvPr id="4" name="Group 8"/>
            <p:cNvGrpSpPr>
              <a:grpSpLocks/>
            </p:cNvGrpSpPr>
            <p:nvPr/>
          </p:nvGrpSpPr>
          <p:grpSpPr bwMode="auto">
            <a:xfrm>
              <a:off x="2122" y="2359"/>
              <a:ext cx="316" cy="147"/>
              <a:chOff x="3600" y="219"/>
              <a:chExt cx="360" cy="175"/>
            </a:xfrm>
          </p:grpSpPr>
          <p:sp>
            <p:nvSpPr>
              <p:cNvPr id="454665" name="Oval 9"/>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54666" name="Line 10"/>
              <p:cNvSpPr>
                <a:spLocks noChangeShapeType="1"/>
              </p:cNvSpPr>
              <p:nvPr/>
            </p:nvSpPr>
            <p:spPr bwMode="auto">
              <a:xfrm>
                <a:off x="3603" y="289"/>
                <a:ext cx="0" cy="6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54667" name="Line 11"/>
              <p:cNvSpPr>
                <a:spLocks noChangeShapeType="1"/>
              </p:cNvSpPr>
              <p:nvPr/>
            </p:nvSpPr>
            <p:spPr bwMode="auto">
              <a:xfrm>
                <a:off x="3960" y="289"/>
                <a:ext cx="0" cy="6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54668" name="Rectangle 12"/>
              <p:cNvSpPr>
                <a:spLocks noChangeArrowheads="1"/>
              </p:cNvSpPr>
              <p:nvPr/>
            </p:nvSpPr>
            <p:spPr bwMode="auto">
              <a:xfrm>
                <a:off x="3603" y="289"/>
                <a:ext cx="354" cy="59"/>
              </a:xfrm>
              <a:prstGeom prst="rect">
                <a:avLst/>
              </a:prstGeom>
              <a:solidFill>
                <a:schemeClr val="hlink"/>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de-DE" sz="2400">
                  <a:latin typeface="Times New Roman" pitchFamily="18" charset="0"/>
                </a:endParaRPr>
              </a:p>
            </p:txBody>
          </p:sp>
          <p:sp>
            <p:nvSpPr>
              <p:cNvPr id="454669" name="Oval 13"/>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grpSp>
            <p:nvGrpSpPr>
              <p:cNvPr id="5" name="Group 14"/>
              <p:cNvGrpSpPr>
                <a:grpSpLocks/>
              </p:cNvGrpSpPr>
              <p:nvPr/>
            </p:nvGrpSpPr>
            <p:grpSpPr bwMode="auto">
              <a:xfrm>
                <a:off x="3686" y="244"/>
                <a:ext cx="177" cy="66"/>
                <a:chOff x="2848" y="848"/>
                <a:chExt cx="140" cy="98"/>
              </a:xfrm>
            </p:grpSpPr>
            <p:sp>
              <p:nvSpPr>
                <p:cNvPr id="454671" name="Line 15"/>
                <p:cNvSpPr>
                  <a:spLocks noChangeShapeType="1"/>
                </p:cNvSpPr>
                <p:nvPr/>
              </p:nvSpPr>
              <p:spPr bwMode="auto">
                <a:xfrm flipV="1">
                  <a:off x="2848" y="848"/>
                  <a:ext cx="50" cy="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54672" name="Line 16"/>
                <p:cNvSpPr>
                  <a:spLocks noChangeShapeType="1"/>
                </p:cNvSpPr>
                <p:nvPr/>
              </p:nvSpPr>
              <p:spPr bwMode="auto">
                <a:xfrm>
                  <a:off x="2944" y="946"/>
                  <a:ext cx="4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54673" name="Line 17"/>
                <p:cNvSpPr>
                  <a:spLocks noChangeShapeType="1"/>
                </p:cNvSpPr>
                <p:nvPr/>
              </p:nvSpPr>
              <p:spPr bwMode="auto">
                <a:xfrm>
                  <a:off x="2894" y="850"/>
                  <a:ext cx="52" cy="9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grpSp>
          <p:grpSp>
            <p:nvGrpSpPr>
              <p:cNvPr id="6" name="Group 18"/>
              <p:cNvGrpSpPr>
                <a:grpSpLocks/>
              </p:cNvGrpSpPr>
              <p:nvPr/>
            </p:nvGrpSpPr>
            <p:grpSpPr bwMode="auto">
              <a:xfrm flipV="1">
                <a:off x="3686" y="243"/>
                <a:ext cx="177" cy="66"/>
                <a:chOff x="2848" y="848"/>
                <a:chExt cx="140" cy="98"/>
              </a:xfrm>
            </p:grpSpPr>
            <p:sp>
              <p:nvSpPr>
                <p:cNvPr id="454675" name="Line 19"/>
                <p:cNvSpPr>
                  <a:spLocks noChangeShapeType="1"/>
                </p:cNvSpPr>
                <p:nvPr/>
              </p:nvSpPr>
              <p:spPr bwMode="auto">
                <a:xfrm flipV="1">
                  <a:off x="2848" y="848"/>
                  <a:ext cx="50" cy="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54676" name="Line 20"/>
                <p:cNvSpPr>
                  <a:spLocks noChangeShapeType="1"/>
                </p:cNvSpPr>
                <p:nvPr/>
              </p:nvSpPr>
              <p:spPr bwMode="auto">
                <a:xfrm>
                  <a:off x="2944" y="946"/>
                  <a:ext cx="4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54677" name="Line 21"/>
                <p:cNvSpPr>
                  <a:spLocks noChangeShapeType="1"/>
                </p:cNvSpPr>
                <p:nvPr/>
              </p:nvSpPr>
              <p:spPr bwMode="auto">
                <a:xfrm>
                  <a:off x="2894" y="850"/>
                  <a:ext cx="52" cy="9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grpSp>
        </p:grpSp>
        <p:grpSp>
          <p:nvGrpSpPr>
            <p:cNvPr id="7" name="Group 22"/>
            <p:cNvGrpSpPr>
              <a:grpSpLocks/>
            </p:cNvGrpSpPr>
            <p:nvPr/>
          </p:nvGrpSpPr>
          <p:grpSpPr bwMode="auto">
            <a:xfrm>
              <a:off x="2344" y="2761"/>
              <a:ext cx="316" cy="147"/>
              <a:chOff x="3600" y="219"/>
              <a:chExt cx="360" cy="175"/>
            </a:xfrm>
          </p:grpSpPr>
          <p:sp>
            <p:nvSpPr>
              <p:cNvPr id="454679" name="Oval 23"/>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54680" name="Line 24"/>
              <p:cNvSpPr>
                <a:spLocks noChangeShapeType="1"/>
              </p:cNvSpPr>
              <p:nvPr/>
            </p:nvSpPr>
            <p:spPr bwMode="auto">
              <a:xfrm>
                <a:off x="3603" y="289"/>
                <a:ext cx="0" cy="6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54681" name="Line 25"/>
              <p:cNvSpPr>
                <a:spLocks noChangeShapeType="1"/>
              </p:cNvSpPr>
              <p:nvPr/>
            </p:nvSpPr>
            <p:spPr bwMode="auto">
              <a:xfrm>
                <a:off x="3960" y="289"/>
                <a:ext cx="0" cy="6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54682" name="Rectangle 26"/>
              <p:cNvSpPr>
                <a:spLocks noChangeArrowheads="1"/>
              </p:cNvSpPr>
              <p:nvPr/>
            </p:nvSpPr>
            <p:spPr bwMode="auto">
              <a:xfrm>
                <a:off x="3603" y="289"/>
                <a:ext cx="354" cy="59"/>
              </a:xfrm>
              <a:prstGeom prst="rect">
                <a:avLst/>
              </a:prstGeom>
              <a:solidFill>
                <a:schemeClr val="hlink"/>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de-DE" sz="2400">
                  <a:latin typeface="Times New Roman" pitchFamily="18" charset="0"/>
                </a:endParaRPr>
              </a:p>
            </p:txBody>
          </p:sp>
          <p:sp>
            <p:nvSpPr>
              <p:cNvPr id="454683" name="Oval 27"/>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grpSp>
            <p:nvGrpSpPr>
              <p:cNvPr id="8" name="Group 28"/>
              <p:cNvGrpSpPr>
                <a:grpSpLocks/>
              </p:cNvGrpSpPr>
              <p:nvPr/>
            </p:nvGrpSpPr>
            <p:grpSpPr bwMode="auto">
              <a:xfrm>
                <a:off x="3686" y="244"/>
                <a:ext cx="177" cy="66"/>
                <a:chOff x="2848" y="848"/>
                <a:chExt cx="140" cy="98"/>
              </a:xfrm>
            </p:grpSpPr>
            <p:sp>
              <p:nvSpPr>
                <p:cNvPr id="454685" name="Line 29"/>
                <p:cNvSpPr>
                  <a:spLocks noChangeShapeType="1"/>
                </p:cNvSpPr>
                <p:nvPr/>
              </p:nvSpPr>
              <p:spPr bwMode="auto">
                <a:xfrm flipV="1">
                  <a:off x="2848" y="848"/>
                  <a:ext cx="50" cy="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54686" name="Line 30"/>
                <p:cNvSpPr>
                  <a:spLocks noChangeShapeType="1"/>
                </p:cNvSpPr>
                <p:nvPr/>
              </p:nvSpPr>
              <p:spPr bwMode="auto">
                <a:xfrm>
                  <a:off x="2944" y="946"/>
                  <a:ext cx="4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54687" name="Line 31"/>
                <p:cNvSpPr>
                  <a:spLocks noChangeShapeType="1"/>
                </p:cNvSpPr>
                <p:nvPr/>
              </p:nvSpPr>
              <p:spPr bwMode="auto">
                <a:xfrm>
                  <a:off x="2894" y="850"/>
                  <a:ext cx="52" cy="9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grpSp>
          <p:grpSp>
            <p:nvGrpSpPr>
              <p:cNvPr id="9" name="Group 32"/>
              <p:cNvGrpSpPr>
                <a:grpSpLocks/>
              </p:cNvGrpSpPr>
              <p:nvPr/>
            </p:nvGrpSpPr>
            <p:grpSpPr bwMode="auto">
              <a:xfrm flipV="1">
                <a:off x="3686" y="243"/>
                <a:ext cx="177" cy="66"/>
                <a:chOff x="2848" y="848"/>
                <a:chExt cx="140" cy="98"/>
              </a:xfrm>
            </p:grpSpPr>
            <p:sp>
              <p:nvSpPr>
                <p:cNvPr id="454689" name="Line 33"/>
                <p:cNvSpPr>
                  <a:spLocks noChangeShapeType="1"/>
                </p:cNvSpPr>
                <p:nvPr/>
              </p:nvSpPr>
              <p:spPr bwMode="auto">
                <a:xfrm flipV="1">
                  <a:off x="2848" y="848"/>
                  <a:ext cx="50" cy="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54690" name="Line 34"/>
                <p:cNvSpPr>
                  <a:spLocks noChangeShapeType="1"/>
                </p:cNvSpPr>
                <p:nvPr/>
              </p:nvSpPr>
              <p:spPr bwMode="auto">
                <a:xfrm>
                  <a:off x="2944" y="946"/>
                  <a:ext cx="4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54691" name="Line 35"/>
                <p:cNvSpPr>
                  <a:spLocks noChangeShapeType="1"/>
                </p:cNvSpPr>
                <p:nvPr/>
              </p:nvSpPr>
              <p:spPr bwMode="auto">
                <a:xfrm>
                  <a:off x="2894" y="850"/>
                  <a:ext cx="52" cy="9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grpSp>
        </p:grpSp>
        <p:grpSp>
          <p:nvGrpSpPr>
            <p:cNvPr id="10" name="Group 36"/>
            <p:cNvGrpSpPr>
              <a:grpSpLocks/>
            </p:cNvGrpSpPr>
            <p:nvPr/>
          </p:nvGrpSpPr>
          <p:grpSpPr bwMode="auto">
            <a:xfrm>
              <a:off x="2769" y="2167"/>
              <a:ext cx="316" cy="147"/>
              <a:chOff x="3600" y="219"/>
              <a:chExt cx="360" cy="175"/>
            </a:xfrm>
          </p:grpSpPr>
          <p:sp>
            <p:nvSpPr>
              <p:cNvPr id="454693" name="Oval 37"/>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54694" name="Line 38"/>
              <p:cNvSpPr>
                <a:spLocks noChangeShapeType="1"/>
              </p:cNvSpPr>
              <p:nvPr/>
            </p:nvSpPr>
            <p:spPr bwMode="auto">
              <a:xfrm>
                <a:off x="3603" y="289"/>
                <a:ext cx="0" cy="6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54695" name="Line 39"/>
              <p:cNvSpPr>
                <a:spLocks noChangeShapeType="1"/>
              </p:cNvSpPr>
              <p:nvPr/>
            </p:nvSpPr>
            <p:spPr bwMode="auto">
              <a:xfrm>
                <a:off x="3960" y="289"/>
                <a:ext cx="0" cy="6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54696" name="Rectangle 40"/>
              <p:cNvSpPr>
                <a:spLocks noChangeArrowheads="1"/>
              </p:cNvSpPr>
              <p:nvPr/>
            </p:nvSpPr>
            <p:spPr bwMode="auto">
              <a:xfrm>
                <a:off x="3603" y="289"/>
                <a:ext cx="354" cy="59"/>
              </a:xfrm>
              <a:prstGeom prst="rect">
                <a:avLst/>
              </a:prstGeom>
              <a:solidFill>
                <a:schemeClr val="hlink"/>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de-DE" sz="2400">
                  <a:latin typeface="Times New Roman" pitchFamily="18" charset="0"/>
                </a:endParaRPr>
              </a:p>
            </p:txBody>
          </p:sp>
          <p:sp>
            <p:nvSpPr>
              <p:cNvPr id="454697" name="Oval 41"/>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grpSp>
            <p:nvGrpSpPr>
              <p:cNvPr id="11" name="Group 42"/>
              <p:cNvGrpSpPr>
                <a:grpSpLocks/>
              </p:cNvGrpSpPr>
              <p:nvPr/>
            </p:nvGrpSpPr>
            <p:grpSpPr bwMode="auto">
              <a:xfrm>
                <a:off x="3686" y="244"/>
                <a:ext cx="177" cy="66"/>
                <a:chOff x="2848" y="848"/>
                <a:chExt cx="140" cy="98"/>
              </a:xfrm>
            </p:grpSpPr>
            <p:sp>
              <p:nvSpPr>
                <p:cNvPr id="454699" name="Line 43"/>
                <p:cNvSpPr>
                  <a:spLocks noChangeShapeType="1"/>
                </p:cNvSpPr>
                <p:nvPr/>
              </p:nvSpPr>
              <p:spPr bwMode="auto">
                <a:xfrm flipV="1">
                  <a:off x="2848" y="848"/>
                  <a:ext cx="50" cy="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54700" name="Line 44"/>
                <p:cNvSpPr>
                  <a:spLocks noChangeShapeType="1"/>
                </p:cNvSpPr>
                <p:nvPr/>
              </p:nvSpPr>
              <p:spPr bwMode="auto">
                <a:xfrm>
                  <a:off x="2944" y="946"/>
                  <a:ext cx="4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54701" name="Line 45"/>
                <p:cNvSpPr>
                  <a:spLocks noChangeShapeType="1"/>
                </p:cNvSpPr>
                <p:nvPr/>
              </p:nvSpPr>
              <p:spPr bwMode="auto">
                <a:xfrm>
                  <a:off x="2894" y="850"/>
                  <a:ext cx="52" cy="9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grpSp>
          <p:grpSp>
            <p:nvGrpSpPr>
              <p:cNvPr id="12" name="Group 46"/>
              <p:cNvGrpSpPr>
                <a:grpSpLocks/>
              </p:cNvGrpSpPr>
              <p:nvPr/>
            </p:nvGrpSpPr>
            <p:grpSpPr bwMode="auto">
              <a:xfrm flipV="1">
                <a:off x="3686" y="243"/>
                <a:ext cx="177" cy="66"/>
                <a:chOff x="2848" y="848"/>
                <a:chExt cx="140" cy="98"/>
              </a:xfrm>
            </p:grpSpPr>
            <p:sp>
              <p:nvSpPr>
                <p:cNvPr id="454703" name="Line 47"/>
                <p:cNvSpPr>
                  <a:spLocks noChangeShapeType="1"/>
                </p:cNvSpPr>
                <p:nvPr/>
              </p:nvSpPr>
              <p:spPr bwMode="auto">
                <a:xfrm flipV="1">
                  <a:off x="2848" y="848"/>
                  <a:ext cx="50" cy="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54704" name="Line 48"/>
                <p:cNvSpPr>
                  <a:spLocks noChangeShapeType="1"/>
                </p:cNvSpPr>
                <p:nvPr/>
              </p:nvSpPr>
              <p:spPr bwMode="auto">
                <a:xfrm>
                  <a:off x="2944" y="946"/>
                  <a:ext cx="4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54705" name="Line 49"/>
                <p:cNvSpPr>
                  <a:spLocks noChangeShapeType="1"/>
                </p:cNvSpPr>
                <p:nvPr/>
              </p:nvSpPr>
              <p:spPr bwMode="auto">
                <a:xfrm>
                  <a:off x="2894" y="850"/>
                  <a:ext cx="52" cy="9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grpSp>
        </p:grpSp>
        <p:grpSp>
          <p:nvGrpSpPr>
            <p:cNvPr id="13" name="Group 50"/>
            <p:cNvGrpSpPr>
              <a:grpSpLocks/>
            </p:cNvGrpSpPr>
            <p:nvPr/>
          </p:nvGrpSpPr>
          <p:grpSpPr bwMode="auto">
            <a:xfrm>
              <a:off x="2720" y="2586"/>
              <a:ext cx="315" cy="147"/>
              <a:chOff x="3600" y="219"/>
              <a:chExt cx="360" cy="175"/>
            </a:xfrm>
          </p:grpSpPr>
          <p:sp>
            <p:nvSpPr>
              <p:cNvPr id="454707" name="Oval 51"/>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54708" name="Line 52"/>
              <p:cNvSpPr>
                <a:spLocks noChangeShapeType="1"/>
              </p:cNvSpPr>
              <p:nvPr/>
            </p:nvSpPr>
            <p:spPr bwMode="auto">
              <a:xfrm>
                <a:off x="3603" y="289"/>
                <a:ext cx="0" cy="6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54709" name="Line 53"/>
              <p:cNvSpPr>
                <a:spLocks noChangeShapeType="1"/>
              </p:cNvSpPr>
              <p:nvPr/>
            </p:nvSpPr>
            <p:spPr bwMode="auto">
              <a:xfrm>
                <a:off x="3960" y="289"/>
                <a:ext cx="0" cy="6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54710" name="Rectangle 54"/>
              <p:cNvSpPr>
                <a:spLocks noChangeArrowheads="1"/>
              </p:cNvSpPr>
              <p:nvPr/>
            </p:nvSpPr>
            <p:spPr bwMode="auto">
              <a:xfrm>
                <a:off x="3603" y="289"/>
                <a:ext cx="354" cy="59"/>
              </a:xfrm>
              <a:prstGeom prst="rect">
                <a:avLst/>
              </a:prstGeom>
              <a:solidFill>
                <a:schemeClr val="hlink"/>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de-DE" sz="2400">
                  <a:latin typeface="Times New Roman" pitchFamily="18" charset="0"/>
                </a:endParaRPr>
              </a:p>
            </p:txBody>
          </p:sp>
          <p:sp>
            <p:nvSpPr>
              <p:cNvPr id="454711" name="Oval 55"/>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grpSp>
            <p:nvGrpSpPr>
              <p:cNvPr id="14" name="Group 56"/>
              <p:cNvGrpSpPr>
                <a:grpSpLocks/>
              </p:cNvGrpSpPr>
              <p:nvPr/>
            </p:nvGrpSpPr>
            <p:grpSpPr bwMode="auto">
              <a:xfrm>
                <a:off x="3686" y="244"/>
                <a:ext cx="177" cy="66"/>
                <a:chOff x="2848" y="848"/>
                <a:chExt cx="140" cy="98"/>
              </a:xfrm>
            </p:grpSpPr>
            <p:sp>
              <p:nvSpPr>
                <p:cNvPr id="454713" name="Line 57"/>
                <p:cNvSpPr>
                  <a:spLocks noChangeShapeType="1"/>
                </p:cNvSpPr>
                <p:nvPr/>
              </p:nvSpPr>
              <p:spPr bwMode="auto">
                <a:xfrm flipV="1">
                  <a:off x="2848" y="848"/>
                  <a:ext cx="50" cy="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54714" name="Line 58"/>
                <p:cNvSpPr>
                  <a:spLocks noChangeShapeType="1"/>
                </p:cNvSpPr>
                <p:nvPr/>
              </p:nvSpPr>
              <p:spPr bwMode="auto">
                <a:xfrm>
                  <a:off x="2944" y="946"/>
                  <a:ext cx="4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54715" name="Line 59"/>
                <p:cNvSpPr>
                  <a:spLocks noChangeShapeType="1"/>
                </p:cNvSpPr>
                <p:nvPr/>
              </p:nvSpPr>
              <p:spPr bwMode="auto">
                <a:xfrm>
                  <a:off x="2894" y="850"/>
                  <a:ext cx="52" cy="9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grpSp>
          <p:grpSp>
            <p:nvGrpSpPr>
              <p:cNvPr id="15" name="Group 60"/>
              <p:cNvGrpSpPr>
                <a:grpSpLocks/>
              </p:cNvGrpSpPr>
              <p:nvPr/>
            </p:nvGrpSpPr>
            <p:grpSpPr bwMode="auto">
              <a:xfrm flipV="1">
                <a:off x="3686" y="243"/>
                <a:ext cx="177" cy="66"/>
                <a:chOff x="2848" y="848"/>
                <a:chExt cx="140" cy="98"/>
              </a:xfrm>
            </p:grpSpPr>
            <p:sp>
              <p:nvSpPr>
                <p:cNvPr id="454717" name="Line 61"/>
                <p:cNvSpPr>
                  <a:spLocks noChangeShapeType="1"/>
                </p:cNvSpPr>
                <p:nvPr/>
              </p:nvSpPr>
              <p:spPr bwMode="auto">
                <a:xfrm flipV="1">
                  <a:off x="2848" y="848"/>
                  <a:ext cx="50" cy="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54718" name="Line 62"/>
                <p:cNvSpPr>
                  <a:spLocks noChangeShapeType="1"/>
                </p:cNvSpPr>
                <p:nvPr/>
              </p:nvSpPr>
              <p:spPr bwMode="auto">
                <a:xfrm>
                  <a:off x="2944" y="946"/>
                  <a:ext cx="4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54719" name="Line 63"/>
                <p:cNvSpPr>
                  <a:spLocks noChangeShapeType="1"/>
                </p:cNvSpPr>
                <p:nvPr/>
              </p:nvSpPr>
              <p:spPr bwMode="auto">
                <a:xfrm>
                  <a:off x="2894" y="850"/>
                  <a:ext cx="52" cy="9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grpSp>
        </p:grpSp>
        <p:grpSp>
          <p:nvGrpSpPr>
            <p:cNvPr id="16" name="Group 64"/>
            <p:cNvGrpSpPr>
              <a:grpSpLocks/>
            </p:cNvGrpSpPr>
            <p:nvPr/>
          </p:nvGrpSpPr>
          <p:grpSpPr bwMode="auto">
            <a:xfrm>
              <a:off x="3120" y="2773"/>
              <a:ext cx="316" cy="147"/>
              <a:chOff x="3600" y="219"/>
              <a:chExt cx="360" cy="175"/>
            </a:xfrm>
          </p:grpSpPr>
          <p:sp>
            <p:nvSpPr>
              <p:cNvPr id="454721" name="Oval 65"/>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54722" name="Line 66"/>
              <p:cNvSpPr>
                <a:spLocks noChangeShapeType="1"/>
              </p:cNvSpPr>
              <p:nvPr/>
            </p:nvSpPr>
            <p:spPr bwMode="auto">
              <a:xfrm>
                <a:off x="3603" y="289"/>
                <a:ext cx="0" cy="6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54723" name="Line 67"/>
              <p:cNvSpPr>
                <a:spLocks noChangeShapeType="1"/>
              </p:cNvSpPr>
              <p:nvPr/>
            </p:nvSpPr>
            <p:spPr bwMode="auto">
              <a:xfrm>
                <a:off x="3960" y="289"/>
                <a:ext cx="0" cy="6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54724" name="Rectangle 68"/>
              <p:cNvSpPr>
                <a:spLocks noChangeArrowheads="1"/>
              </p:cNvSpPr>
              <p:nvPr/>
            </p:nvSpPr>
            <p:spPr bwMode="auto">
              <a:xfrm>
                <a:off x="3603" y="289"/>
                <a:ext cx="354" cy="59"/>
              </a:xfrm>
              <a:prstGeom prst="rect">
                <a:avLst/>
              </a:prstGeom>
              <a:solidFill>
                <a:schemeClr val="hlink"/>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de-DE" sz="2400">
                  <a:latin typeface="Times New Roman" pitchFamily="18" charset="0"/>
                </a:endParaRPr>
              </a:p>
            </p:txBody>
          </p:sp>
          <p:sp>
            <p:nvSpPr>
              <p:cNvPr id="454725" name="Oval 69"/>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grpSp>
            <p:nvGrpSpPr>
              <p:cNvPr id="17" name="Group 70"/>
              <p:cNvGrpSpPr>
                <a:grpSpLocks/>
              </p:cNvGrpSpPr>
              <p:nvPr/>
            </p:nvGrpSpPr>
            <p:grpSpPr bwMode="auto">
              <a:xfrm>
                <a:off x="3686" y="244"/>
                <a:ext cx="177" cy="66"/>
                <a:chOff x="2848" y="848"/>
                <a:chExt cx="140" cy="98"/>
              </a:xfrm>
            </p:grpSpPr>
            <p:sp>
              <p:nvSpPr>
                <p:cNvPr id="454727" name="Line 71"/>
                <p:cNvSpPr>
                  <a:spLocks noChangeShapeType="1"/>
                </p:cNvSpPr>
                <p:nvPr/>
              </p:nvSpPr>
              <p:spPr bwMode="auto">
                <a:xfrm flipV="1">
                  <a:off x="2848" y="848"/>
                  <a:ext cx="50" cy="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54728" name="Line 72"/>
                <p:cNvSpPr>
                  <a:spLocks noChangeShapeType="1"/>
                </p:cNvSpPr>
                <p:nvPr/>
              </p:nvSpPr>
              <p:spPr bwMode="auto">
                <a:xfrm>
                  <a:off x="2944" y="946"/>
                  <a:ext cx="4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54729" name="Line 73"/>
                <p:cNvSpPr>
                  <a:spLocks noChangeShapeType="1"/>
                </p:cNvSpPr>
                <p:nvPr/>
              </p:nvSpPr>
              <p:spPr bwMode="auto">
                <a:xfrm>
                  <a:off x="2894" y="850"/>
                  <a:ext cx="52" cy="9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grpSp>
          <p:grpSp>
            <p:nvGrpSpPr>
              <p:cNvPr id="18" name="Group 74"/>
              <p:cNvGrpSpPr>
                <a:grpSpLocks/>
              </p:cNvGrpSpPr>
              <p:nvPr/>
            </p:nvGrpSpPr>
            <p:grpSpPr bwMode="auto">
              <a:xfrm flipV="1">
                <a:off x="3686" y="243"/>
                <a:ext cx="177" cy="66"/>
                <a:chOff x="2848" y="848"/>
                <a:chExt cx="140" cy="98"/>
              </a:xfrm>
            </p:grpSpPr>
            <p:sp>
              <p:nvSpPr>
                <p:cNvPr id="454731" name="Line 75"/>
                <p:cNvSpPr>
                  <a:spLocks noChangeShapeType="1"/>
                </p:cNvSpPr>
                <p:nvPr/>
              </p:nvSpPr>
              <p:spPr bwMode="auto">
                <a:xfrm flipV="1">
                  <a:off x="2848" y="848"/>
                  <a:ext cx="50" cy="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54732" name="Line 76"/>
                <p:cNvSpPr>
                  <a:spLocks noChangeShapeType="1"/>
                </p:cNvSpPr>
                <p:nvPr/>
              </p:nvSpPr>
              <p:spPr bwMode="auto">
                <a:xfrm>
                  <a:off x="2944" y="946"/>
                  <a:ext cx="4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54733" name="Line 77"/>
                <p:cNvSpPr>
                  <a:spLocks noChangeShapeType="1"/>
                </p:cNvSpPr>
                <p:nvPr/>
              </p:nvSpPr>
              <p:spPr bwMode="auto">
                <a:xfrm>
                  <a:off x="2894" y="850"/>
                  <a:ext cx="52" cy="9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grpSp>
        </p:grpSp>
        <p:grpSp>
          <p:nvGrpSpPr>
            <p:cNvPr id="19" name="Group 78"/>
            <p:cNvGrpSpPr>
              <a:grpSpLocks/>
            </p:cNvGrpSpPr>
            <p:nvPr/>
          </p:nvGrpSpPr>
          <p:grpSpPr bwMode="auto">
            <a:xfrm>
              <a:off x="3400" y="2360"/>
              <a:ext cx="316" cy="147"/>
              <a:chOff x="3600" y="219"/>
              <a:chExt cx="360" cy="175"/>
            </a:xfrm>
          </p:grpSpPr>
          <p:sp>
            <p:nvSpPr>
              <p:cNvPr id="454735" name="Oval 79"/>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54736" name="Line 80"/>
              <p:cNvSpPr>
                <a:spLocks noChangeShapeType="1"/>
              </p:cNvSpPr>
              <p:nvPr/>
            </p:nvSpPr>
            <p:spPr bwMode="auto">
              <a:xfrm>
                <a:off x="3603" y="289"/>
                <a:ext cx="0" cy="6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54737" name="Line 81"/>
              <p:cNvSpPr>
                <a:spLocks noChangeShapeType="1"/>
              </p:cNvSpPr>
              <p:nvPr/>
            </p:nvSpPr>
            <p:spPr bwMode="auto">
              <a:xfrm>
                <a:off x="3960" y="289"/>
                <a:ext cx="0" cy="6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54738" name="Rectangle 82"/>
              <p:cNvSpPr>
                <a:spLocks noChangeArrowheads="1"/>
              </p:cNvSpPr>
              <p:nvPr/>
            </p:nvSpPr>
            <p:spPr bwMode="auto">
              <a:xfrm>
                <a:off x="3603" y="289"/>
                <a:ext cx="354" cy="59"/>
              </a:xfrm>
              <a:prstGeom prst="rect">
                <a:avLst/>
              </a:prstGeom>
              <a:solidFill>
                <a:schemeClr val="hlink"/>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de-DE" sz="2400">
                  <a:latin typeface="Times New Roman" pitchFamily="18" charset="0"/>
                </a:endParaRPr>
              </a:p>
            </p:txBody>
          </p:sp>
          <p:sp>
            <p:nvSpPr>
              <p:cNvPr id="454739" name="Oval 83"/>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grpSp>
            <p:nvGrpSpPr>
              <p:cNvPr id="20" name="Group 84"/>
              <p:cNvGrpSpPr>
                <a:grpSpLocks/>
              </p:cNvGrpSpPr>
              <p:nvPr/>
            </p:nvGrpSpPr>
            <p:grpSpPr bwMode="auto">
              <a:xfrm>
                <a:off x="3686" y="244"/>
                <a:ext cx="177" cy="66"/>
                <a:chOff x="2848" y="848"/>
                <a:chExt cx="140" cy="98"/>
              </a:xfrm>
            </p:grpSpPr>
            <p:sp>
              <p:nvSpPr>
                <p:cNvPr id="454741" name="Line 85"/>
                <p:cNvSpPr>
                  <a:spLocks noChangeShapeType="1"/>
                </p:cNvSpPr>
                <p:nvPr/>
              </p:nvSpPr>
              <p:spPr bwMode="auto">
                <a:xfrm flipV="1">
                  <a:off x="2848" y="848"/>
                  <a:ext cx="50" cy="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54742" name="Line 86"/>
                <p:cNvSpPr>
                  <a:spLocks noChangeShapeType="1"/>
                </p:cNvSpPr>
                <p:nvPr/>
              </p:nvSpPr>
              <p:spPr bwMode="auto">
                <a:xfrm>
                  <a:off x="2944" y="946"/>
                  <a:ext cx="4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54743" name="Line 87"/>
                <p:cNvSpPr>
                  <a:spLocks noChangeShapeType="1"/>
                </p:cNvSpPr>
                <p:nvPr/>
              </p:nvSpPr>
              <p:spPr bwMode="auto">
                <a:xfrm>
                  <a:off x="2894" y="850"/>
                  <a:ext cx="52" cy="9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grpSp>
          <p:grpSp>
            <p:nvGrpSpPr>
              <p:cNvPr id="21" name="Group 88"/>
              <p:cNvGrpSpPr>
                <a:grpSpLocks/>
              </p:cNvGrpSpPr>
              <p:nvPr/>
            </p:nvGrpSpPr>
            <p:grpSpPr bwMode="auto">
              <a:xfrm flipV="1">
                <a:off x="3686" y="243"/>
                <a:ext cx="177" cy="66"/>
                <a:chOff x="2848" y="848"/>
                <a:chExt cx="140" cy="98"/>
              </a:xfrm>
            </p:grpSpPr>
            <p:sp>
              <p:nvSpPr>
                <p:cNvPr id="454745" name="Line 89"/>
                <p:cNvSpPr>
                  <a:spLocks noChangeShapeType="1"/>
                </p:cNvSpPr>
                <p:nvPr/>
              </p:nvSpPr>
              <p:spPr bwMode="auto">
                <a:xfrm flipV="1">
                  <a:off x="2848" y="848"/>
                  <a:ext cx="50" cy="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54746" name="Line 90"/>
                <p:cNvSpPr>
                  <a:spLocks noChangeShapeType="1"/>
                </p:cNvSpPr>
                <p:nvPr/>
              </p:nvSpPr>
              <p:spPr bwMode="auto">
                <a:xfrm>
                  <a:off x="2944" y="946"/>
                  <a:ext cx="4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54747" name="Line 91"/>
                <p:cNvSpPr>
                  <a:spLocks noChangeShapeType="1"/>
                </p:cNvSpPr>
                <p:nvPr/>
              </p:nvSpPr>
              <p:spPr bwMode="auto">
                <a:xfrm>
                  <a:off x="2894" y="850"/>
                  <a:ext cx="52" cy="9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grpSp>
        </p:grpSp>
        <p:sp>
          <p:nvSpPr>
            <p:cNvPr id="454748" name="Freeform 92"/>
            <p:cNvSpPr>
              <a:spLocks/>
            </p:cNvSpPr>
            <p:nvPr/>
          </p:nvSpPr>
          <p:spPr bwMode="auto">
            <a:xfrm>
              <a:off x="3089" y="2245"/>
              <a:ext cx="318" cy="194"/>
            </a:xfrm>
            <a:custGeom>
              <a:avLst/>
              <a:gdLst>
                <a:gd name="T0" fmla="*/ 0 w 318"/>
                <a:gd name="T1" fmla="*/ 0 h 194"/>
                <a:gd name="T2" fmla="*/ 318 w 318"/>
                <a:gd name="T3" fmla="*/ 194 h 194"/>
              </a:gdLst>
              <a:ahLst/>
              <a:cxnLst>
                <a:cxn ang="0">
                  <a:pos x="T0" y="T1"/>
                </a:cxn>
                <a:cxn ang="0">
                  <a:pos x="T2" y="T3"/>
                </a:cxn>
              </a:cxnLst>
              <a:rect l="0" t="0" r="r" b="b"/>
              <a:pathLst>
                <a:path w="318" h="194">
                  <a:moveTo>
                    <a:pt x="0" y="0"/>
                  </a:moveTo>
                  <a:lnTo>
                    <a:pt x="318" y="194"/>
                  </a:lnTo>
                </a:path>
              </a:pathLst>
            </a:custGeom>
            <a:noFill/>
            <a:ln w="127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54749" name="Freeform 93"/>
            <p:cNvSpPr>
              <a:spLocks/>
            </p:cNvSpPr>
            <p:nvPr/>
          </p:nvSpPr>
          <p:spPr bwMode="auto">
            <a:xfrm>
              <a:off x="2418" y="2492"/>
              <a:ext cx="303" cy="150"/>
            </a:xfrm>
            <a:custGeom>
              <a:avLst/>
              <a:gdLst>
                <a:gd name="T0" fmla="*/ 0 w 294"/>
                <a:gd name="T1" fmla="*/ 0 h 174"/>
                <a:gd name="T2" fmla="*/ 294 w 294"/>
                <a:gd name="T3" fmla="*/ 174 h 174"/>
              </a:gdLst>
              <a:ahLst/>
              <a:cxnLst>
                <a:cxn ang="0">
                  <a:pos x="T0" y="T1"/>
                </a:cxn>
                <a:cxn ang="0">
                  <a:pos x="T2" y="T3"/>
                </a:cxn>
              </a:cxnLst>
              <a:rect l="0" t="0" r="r" b="b"/>
              <a:pathLst>
                <a:path w="294" h="174">
                  <a:moveTo>
                    <a:pt x="0" y="0"/>
                  </a:moveTo>
                  <a:lnTo>
                    <a:pt x="294" y="174"/>
                  </a:lnTo>
                </a:path>
              </a:pathLst>
            </a:custGeom>
            <a:noFill/>
            <a:ln w="127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54750" name="Freeform 94"/>
            <p:cNvSpPr>
              <a:spLocks/>
            </p:cNvSpPr>
            <p:nvPr/>
          </p:nvSpPr>
          <p:spPr bwMode="auto">
            <a:xfrm>
              <a:off x="3015" y="2477"/>
              <a:ext cx="396" cy="156"/>
            </a:xfrm>
            <a:custGeom>
              <a:avLst/>
              <a:gdLst>
                <a:gd name="T0" fmla="*/ 0 w 378"/>
                <a:gd name="T1" fmla="*/ 174 h 174"/>
                <a:gd name="T2" fmla="*/ 378 w 378"/>
                <a:gd name="T3" fmla="*/ 0 h 174"/>
              </a:gdLst>
              <a:ahLst/>
              <a:cxnLst>
                <a:cxn ang="0">
                  <a:pos x="T0" y="T1"/>
                </a:cxn>
                <a:cxn ang="0">
                  <a:pos x="T2" y="T3"/>
                </a:cxn>
              </a:cxnLst>
              <a:rect l="0" t="0" r="r" b="b"/>
              <a:pathLst>
                <a:path w="378" h="174">
                  <a:moveTo>
                    <a:pt x="0" y="174"/>
                  </a:moveTo>
                  <a:lnTo>
                    <a:pt x="378" y="0"/>
                  </a:lnTo>
                </a:path>
              </a:pathLst>
            </a:custGeom>
            <a:noFill/>
            <a:ln w="127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54751" name="Freeform 95"/>
            <p:cNvSpPr>
              <a:spLocks/>
            </p:cNvSpPr>
            <p:nvPr/>
          </p:nvSpPr>
          <p:spPr bwMode="auto">
            <a:xfrm>
              <a:off x="3435" y="2511"/>
              <a:ext cx="130" cy="320"/>
            </a:xfrm>
            <a:custGeom>
              <a:avLst/>
              <a:gdLst>
                <a:gd name="T0" fmla="*/ 0 w 118"/>
                <a:gd name="T1" fmla="*/ 500 h 500"/>
                <a:gd name="T2" fmla="*/ 118 w 118"/>
                <a:gd name="T3" fmla="*/ 0 h 500"/>
              </a:gdLst>
              <a:ahLst/>
              <a:cxnLst>
                <a:cxn ang="0">
                  <a:pos x="T0" y="T1"/>
                </a:cxn>
                <a:cxn ang="0">
                  <a:pos x="T2" y="T3"/>
                </a:cxn>
              </a:cxnLst>
              <a:rect l="0" t="0" r="r" b="b"/>
              <a:pathLst>
                <a:path w="118" h="500">
                  <a:moveTo>
                    <a:pt x="0" y="500"/>
                  </a:moveTo>
                  <a:lnTo>
                    <a:pt x="118" y="0"/>
                  </a:lnTo>
                </a:path>
              </a:pathLst>
            </a:custGeom>
            <a:noFill/>
            <a:ln w="127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54752" name="Freeform 96"/>
            <p:cNvSpPr>
              <a:spLocks/>
            </p:cNvSpPr>
            <p:nvPr/>
          </p:nvSpPr>
          <p:spPr bwMode="auto">
            <a:xfrm>
              <a:off x="2657" y="2847"/>
              <a:ext cx="464" cy="47"/>
            </a:xfrm>
            <a:custGeom>
              <a:avLst/>
              <a:gdLst>
                <a:gd name="T0" fmla="*/ 370 w 370"/>
                <a:gd name="T1" fmla="*/ 32 h 32"/>
                <a:gd name="T2" fmla="*/ 0 w 370"/>
                <a:gd name="T3" fmla="*/ 0 h 32"/>
              </a:gdLst>
              <a:ahLst/>
              <a:cxnLst>
                <a:cxn ang="0">
                  <a:pos x="T0" y="T1"/>
                </a:cxn>
                <a:cxn ang="0">
                  <a:pos x="T2" y="T3"/>
                </a:cxn>
              </a:cxnLst>
              <a:rect l="0" t="0" r="r" b="b"/>
              <a:pathLst>
                <a:path w="370" h="32">
                  <a:moveTo>
                    <a:pt x="370" y="32"/>
                  </a:moveTo>
                  <a:lnTo>
                    <a:pt x="0" y="0"/>
                  </a:lnTo>
                </a:path>
              </a:pathLst>
            </a:custGeom>
            <a:noFill/>
            <a:ln w="127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54753" name="Freeform 97"/>
            <p:cNvSpPr>
              <a:spLocks/>
            </p:cNvSpPr>
            <p:nvPr/>
          </p:nvSpPr>
          <p:spPr bwMode="auto">
            <a:xfrm>
              <a:off x="2319" y="2507"/>
              <a:ext cx="122" cy="268"/>
            </a:xfrm>
            <a:custGeom>
              <a:avLst/>
              <a:gdLst>
                <a:gd name="T0" fmla="*/ 162 w 176"/>
                <a:gd name="T1" fmla="*/ 408 h 412"/>
                <a:gd name="T2" fmla="*/ 176 w 176"/>
                <a:gd name="T3" fmla="*/ 412 h 412"/>
                <a:gd name="T4" fmla="*/ 0 w 176"/>
                <a:gd name="T5" fmla="*/ 0 h 412"/>
              </a:gdLst>
              <a:ahLst/>
              <a:cxnLst>
                <a:cxn ang="0">
                  <a:pos x="T0" y="T1"/>
                </a:cxn>
                <a:cxn ang="0">
                  <a:pos x="T2" y="T3"/>
                </a:cxn>
                <a:cxn ang="0">
                  <a:pos x="T4" y="T5"/>
                </a:cxn>
              </a:cxnLst>
              <a:rect l="0" t="0" r="r" b="b"/>
              <a:pathLst>
                <a:path w="176" h="412">
                  <a:moveTo>
                    <a:pt x="162" y="408"/>
                  </a:moveTo>
                  <a:lnTo>
                    <a:pt x="176" y="412"/>
                  </a:lnTo>
                  <a:lnTo>
                    <a:pt x="0" y="0"/>
                  </a:lnTo>
                </a:path>
              </a:pathLst>
            </a:custGeom>
            <a:noFill/>
            <a:ln w="127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54754" name="Rectangle 98"/>
            <p:cNvSpPr>
              <a:spLocks noChangeArrowheads="1"/>
            </p:cNvSpPr>
            <p:nvPr/>
          </p:nvSpPr>
          <p:spPr bwMode="auto">
            <a:xfrm>
              <a:off x="1128" y="2264"/>
              <a:ext cx="728" cy="150"/>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54755" name="Rectangle 99"/>
            <p:cNvSpPr>
              <a:spLocks noChangeArrowheads="1"/>
            </p:cNvSpPr>
            <p:nvPr/>
          </p:nvSpPr>
          <p:spPr bwMode="auto">
            <a:xfrm>
              <a:off x="1113" y="2279"/>
              <a:ext cx="723" cy="150"/>
            </a:xfrm>
            <a:prstGeom prst="rect">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54756" name="Line 100"/>
            <p:cNvSpPr>
              <a:spLocks noChangeShapeType="1"/>
            </p:cNvSpPr>
            <p:nvPr/>
          </p:nvSpPr>
          <p:spPr bwMode="auto">
            <a:xfrm>
              <a:off x="1759" y="2362"/>
              <a:ext cx="266" cy="0"/>
            </a:xfrm>
            <a:prstGeom prst="line">
              <a:avLst/>
            </a:prstGeom>
            <a:noFill/>
            <a:ln w="9525">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54757" name="Text Box 101"/>
            <p:cNvSpPr txBox="1">
              <a:spLocks noChangeArrowheads="1"/>
            </p:cNvSpPr>
            <p:nvPr/>
          </p:nvSpPr>
          <p:spPr bwMode="auto">
            <a:xfrm>
              <a:off x="2390" y="2183"/>
              <a:ext cx="19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de-DE">
                  <a:latin typeface="Arial" charset="0"/>
                </a:rPr>
                <a:t>1</a:t>
              </a:r>
            </a:p>
          </p:txBody>
        </p:sp>
        <p:sp>
          <p:nvSpPr>
            <p:cNvPr id="454758" name="Text Box 102"/>
            <p:cNvSpPr txBox="1">
              <a:spLocks noChangeArrowheads="1"/>
            </p:cNvSpPr>
            <p:nvPr/>
          </p:nvSpPr>
          <p:spPr bwMode="auto">
            <a:xfrm>
              <a:off x="2336" y="2459"/>
              <a:ext cx="187"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de-DE" sz="1600">
                  <a:latin typeface="Arial" charset="0"/>
                </a:rPr>
                <a:t>2</a:t>
              </a:r>
            </a:p>
          </p:txBody>
        </p:sp>
        <p:sp>
          <p:nvSpPr>
            <p:cNvPr id="454759" name="Text Box 103"/>
            <p:cNvSpPr txBox="1">
              <a:spLocks noChangeArrowheads="1"/>
            </p:cNvSpPr>
            <p:nvPr/>
          </p:nvSpPr>
          <p:spPr bwMode="auto">
            <a:xfrm>
              <a:off x="2178" y="2505"/>
              <a:ext cx="187"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de-DE" sz="1600">
                  <a:latin typeface="Arial" charset="0"/>
                </a:rPr>
                <a:t>3</a:t>
              </a:r>
            </a:p>
          </p:txBody>
        </p:sp>
        <p:sp>
          <p:nvSpPr>
            <p:cNvPr id="454760" name="Rectangle 104"/>
            <p:cNvSpPr>
              <a:spLocks noChangeArrowheads="1"/>
            </p:cNvSpPr>
            <p:nvPr/>
          </p:nvSpPr>
          <p:spPr bwMode="auto">
            <a:xfrm>
              <a:off x="1509" y="2281"/>
              <a:ext cx="269" cy="151"/>
            </a:xfrm>
            <a:prstGeom prst="rect">
              <a:avLst/>
            </a:prstGeom>
            <a:solidFill>
              <a:srgbClr val="FF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54761" name="Text Box 105"/>
            <p:cNvSpPr txBox="1">
              <a:spLocks noChangeArrowheads="1"/>
            </p:cNvSpPr>
            <p:nvPr/>
          </p:nvSpPr>
          <p:spPr bwMode="auto">
            <a:xfrm>
              <a:off x="1475" y="2255"/>
              <a:ext cx="354" cy="1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de-DE" sz="1400" b="1" dirty="0">
                  <a:latin typeface="Arial" charset="0"/>
                </a:rPr>
                <a:t>0111</a:t>
              </a:r>
            </a:p>
          </p:txBody>
        </p:sp>
        <p:sp>
          <p:nvSpPr>
            <p:cNvPr id="454762" name="Text Box 106"/>
            <p:cNvSpPr txBox="1">
              <a:spLocks noChangeArrowheads="1"/>
            </p:cNvSpPr>
            <p:nvPr/>
          </p:nvSpPr>
          <p:spPr bwMode="auto">
            <a:xfrm>
              <a:off x="870" y="1659"/>
              <a:ext cx="1022" cy="5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de-DE" sz="1600" b="1" dirty="0">
                  <a:solidFill>
                    <a:srgbClr val="0070C0"/>
                  </a:solidFill>
                  <a:latin typeface="Arial" charset="0"/>
                </a:rPr>
                <a:t>Zieladresse</a:t>
              </a:r>
              <a:r>
                <a:rPr lang="de-DE" sz="1600" dirty="0">
                  <a:latin typeface="Arial" charset="0"/>
                </a:rPr>
                <a:t> im</a:t>
              </a:r>
              <a:br>
                <a:rPr lang="de-DE" sz="1600" dirty="0">
                  <a:latin typeface="Arial" charset="0"/>
                </a:rPr>
              </a:br>
              <a:r>
                <a:rPr lang="de-DE" sz="1600" dirty="0">
                  <a:latin typeface="Arial" charset="0"/>
                </a:rPr>
                <a:t>Header eines</a:t>
              </a:r>
            </a:p>
            <a:p>
              <a:r>
                <a:rPr lang="de-DE" sz="1600" dirty="0">
                  <a:latin typeface="Arial" charset="0"/>
                </a:rPr>
                <a:t>IP-Datagramms</a:t>
              </a:r>
            </a:p>
          </p:txBody>
        </p:sp>
        <p:sp>
          <p:nvSpPr>
            <p:cNvPr id="454763" name="Line 107"/>
            <p:cNvSpPr>
              <a:spLocks noChangeShapeType="1"/>
            </p:cNvSpPr>
            <p:nvPr/>
          </p:nvSpPr>
          <p:spPr bwMode="auto">
            <a:xfrm flipH="1">
              <a:off x="1269" y="2444"/>
              <a:ext cx="85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454765" name="Rectangle 109"/>
            <p:cNvSpPr>
              <a:spLocks noChangeArrowheads="1"/>
            </p:cNvSpPr>
            <p:nvPr/>
          </p:nvSpPr>
          <p:spPr bwMode="auto">
            <a:xfrm>
              <a:off x="1197" y="732"/>
              <a:ext cx="1263" cy="806"/>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54766" name="Text Box 110"/>
            <p:cNvSpPr txBox="1">
              <a:spLocks noChangeArrowheads="1"/>
            </p:cNvSpPr>
            <p:nvPr/>
          </p:nvSpPr>
          <p:spPr bwMode="auto">
            <a:xfrm>
              <a:off x="1148" y="702"/>
              <a:ext cx="1417" cy="19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1" hangingPunct="1"/>
              <a:r>
                <a:rPr lang="de-DE" sz="1400" dirty="0">
                  <a:latin typeface="Arial" charset="0"/>
                </a:rPr>
                <a:t>lokale </a:t>
              </a:r>
              <a:r>
                <a:rPr lang="de-DE" sz="1400" b="1" dirty="0">
                  <a:solidFill>
                    <a:srgbClr val="0070C0"/>
                  </a:solidFill>
                  <a:latin typeface="Arial" charset="0"/>
                </a:rPr>
                <a:t>Weiterleitungstab</a:t>
              </a:r>
              <a:r>
                <a:rPr lang="de-DE" sz="1400" dirty="0">
                  <a:latin typeface="Arial" charset="0"/>
                </a:rPr>
                <a:t>.</a:t>
              </a:r>
            </a:p>
          </p:txBody>
        </p:sp>
        <p:sp>
          <p:nvSpPr>
            <p:cNvPr id="454767" name="Text Box 111"/>
            <p:cNvSpPr txBox="1">
              <a:spLocks noChangeArrowheads="1"/>
            </p:cNvSpPr>
            <p:nvPr/>
          </p:nvSpPr>
          <p:spPr bwMode="auto">
            <a:xfrm>
              <a:off x="1128" y="858"/>
              <a:ext cx="810" cy="19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eaLnBrk="1" hangingPunct="1"/>
              <a:r>
                <a:rPr lang="de-DE" sz="1400">
                  <a:latin typeface="Arial" charset="0"/>
                </a:rPr>
                <a:t>Header -Wert</a:t>
              </a:r>
            </a:p>
          </p:txBody>
        </p:sp>
        <p:sp>
          <p:nvSpPr>
            <p:cNvPr id="454768" name="Text Box 112"/>
            <p:cNvSpPr txBox="1">
              <a:spLocks noChangeArrowheads="1"/>
            </p:cNvSpPr>
            <p:nvPr/>
          </p:nvSpPr>
          <p:spPr bwMode="auto">
            <a:xfrm>
              <a:off x="1846" y="859"/>
              <a:ext cx="656" cy="19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1" hangingPunct="1"/>
              <a:r>
                <a:rPr lang="de-DE" sz="1400">
                  <a:latin typeface="Arial" charset="0"/>
                </a:rPr>
                <a:t>“Ausgang”</a:t>
              </a:r>
            </a:p>
          </p:txBody>
        </p:sp>
        <p:sp>
          <p:nvSpPr>
            <p:cNvPr id="454769" name="Line 113"/>
            <p:cNvSpPr>
              <a:spLocks noChangeShapeType="1"/>
            </p:cNvSpPr>
            <p:nvPr/>
          </p:nvSpPr>
          <p:spPr bwMode="auto">
            <a:xfrm>
              <a:off x="1908" y="866"/>
              <a:ext cx="5" cy="67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454770" name="Text Box 114"/>
            <p:cNvSpPr txBox="1">
              <a:spLocks noChangeArrowheads="1"/>
            </p:cNvSpPr>
            <p:nvPr/>
          </p:nvSpPr>
          <p:spPr bwMode="auto">
            <a:xfrm>
              <a:off x="1585" y="1037"/>
              <a:ext cx="330" cy="52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r" eaLnBrk="1" hangingPunct="1"/>
              <a:r>
                <a:rPr lang="de-DE" sz="1200" dirty="0">
                  <a:latin typeface="Arial" charset="0"/>
                </a:rPr>
                <a:t>0100</a:t>
              </a:r>
            </a:p>
            <a:p>
              <a:pPr algn="r" eaLnBrk="1" hangingPunct="1"/>
              <a:r>
                <a:rPr lang="de-DE" sz="1200" dirty="0">
                  <a:latin typeface="Arial" charset="0"/>
                </a:rPr>
                <a:t>0101</a:t>
              </a:r>
            </a:p>
            <a:p>
              <a:pPr algn="r" eaLnBrk="1" hangingPunct="1"/>
              <a:r>
                <a:rPr lang="de-DE" sz="1200" dirty="0">
                  <a:latin typeface="Arial" charset="0"/>
                </a:rPr>
                <a:t>0111</a:t>
              </a:r>
            </a:p>
            <a:p>
              <a:pPr algn="r" eaLnBrk="1" hangingPunct="1"/>
              <a:r>
                <a:rPr lang="de-DE" sz="1200" dirty="0">
                  <a:latin typeface="Arial" charset="0"/>
                </a:rPr>
                <a:t>1001</a:t>
              </a:r>
            </a:p>
          </p:txBody>
        </p:sp>
        <p:sp>
          <p:nvSpPr>
            <p:cNvPr id="454771" name="Text Box 115"/>
            <p:cNvSpPr txBox="1">
              <a:spLocks noChangeArrowheads="1"/>
            </p:cNvSpPr>
            <p:nvPr/>
          </p:nvSpPr>
          <p:spPr bwMode="auto">
            <a:xfrm>
              <a:off x="1918" y="1037"/>
              <a:ext cx="170" cy="52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r>
                <a:rPr lang="de-DE" sz="1200">
                  <a:latin typeface="Arial" charset="0"/>
                </a:rPr>
                <a:t>3</a:t>
              </a:r>
            </a:p>
            <a:p>
              <a:pPr algn="ctr" eaLnBrk="1" hangingPunct="1"/>
              <a:r>
                <a:rPr lang="de-DE" sz="1200">
                  <a:latin typeface="Arial" charset="0"/>
                </a:rPr>
                <a:t>2</a:t>
              </a:r>
            </a:p>
            <a:p>
              <a:pPr algn="ctr" eaLnBrk="1" hangingPunct="1"/>
              <a:r>
                <a:rPr lang="de-DE" sz="1200">
                  <a:latin typeface="Arial" charset="0"/>
                </a:rPr>
                <a:t>2</a:t>
              </a:r>
            </a:p>
            <a:p>
              <a:pPr algn="ctr" eaLnBrk="1" hangingPunct="1"/>
              <a:r>
                <a:rPr lang="de-DE" sz="1200">
                  <a:latin typeface="Arial" charset="0"/>
                </a:rPr>
                <a:t>1</a:t>
              </a:r>
            </a:p>
          </p:txBody>
        </p:sp>
        <p:sp>
          <p:nvSpPr>
            <p:cNvPr id="454772" name="Line 116"/>
            <p:cNvSpPr>
              <a:spLocks noChangeShapeType="1"/>
            </p:cNvSpPr>
            <p:nvPr/>
          </p:nvSpPr>
          <p:spPr bwMode="auto">
            <a:xfrm>
              <a:off x="1197" y="1028"/>
              <a:ext cx="1264"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454773" name="Line 117"/>
            <p:cNvSpPr>
              <a:spLocks noChangeShapeType="1"/>
            </p:cNvSpPr>
            <p:nvPr/>
          </p:nvSpPr>
          <p:spPr bwMode="auto">
            <a:xfrm>
              <a:off x="1214" y="866"/>
              <a:ext cx="1264"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454775" name="Line 119"/>
            <p:cNvSpPr>
              <a:spLocks noChangeShapeType="1"/>
            </p:cNvSpPr>
            <p:nvPr/>
          </p:nvSpPr>
          <p:spPr bwMode="auto">
            <a:xfrm>
              <a:off x="1362" y="2127"/>
              <a:ext cx="147" cy="146"/>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454776" name="Freeform 120"/>
            <p:cNvSpPr>
              <a:spLocks/>
            </p:cNvSpPr>
            <p:nvPr/>
          </p:nvSpPr>
          <p:spPr bwMode="auto">
            <a:xfrm>
              <a:off x="2047" y="2395"/>
              <a:ext cx="554" cy="167"/>
            </a:xfrm>
            <a:custGeom>
              <a:avLst/>
              <a:gdLst>
                <a:gd name="T0" fmla="*/ 0 w 554"/>
                <a:gd name="T1" fmla="*/ 10 h 167"/>
                <a:gd name="T2" fmla="*/ 324 w 554"/>
                <a:gd name="T3" fmla="*/ 26 h 167"/>
                <a:gd name="T4" fmla="*/ 554 w 554"/>
                <a:gd name="T5" fmla="*/ 167 h 167"/>
              </a:gdLst>
              <a:ahLst/>
              <a:cxnLst>
                <a:cxn ang="0">
                  <a:pos x="T0" y="T1"/>
                </a:cxn>
                <a:cxn ang="0">
                  <a:pos x="T2" y="T3"/>
                </a:cxn>
                <a:cxn ang="0">
                  <a:pos x="T4" y="T5"/>
                </a:cxn>
              </a:cxnLst>
              <a:rect l="0" t="0" r="r" b="b"/>
              <a:pathLst>
                <a:path w="554" h="167">
                  <a:moveTo>
                    <a:pt x="0" y="10"/>
                  </a:moveTo>
                  <a:cubicBezTo>
                    <a:pt x="102" y="0"/>
                    <a:pt x="240" y="5"/>
                    <a:pt x="324" y="26"/>
                  </a:cubicBezTo>
                  <a:cubicBezTo>
                    <a:pt x="416" y="52"/>
                    <a:pt x="502" y="120"/>
                    <a:pt x="554" y="167"/>
                  </a:cubicBezTo>
                </a:path>
              </a:pathLst>
            </a:custGeom>
            <a:noFill/>
            <a:ln w="57150" cmpd="sng">
              <a:solidFill>
                <a:srgbClr val="FF3300"/>
              </a:solidFill>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454777" name="Freeform 121"/>
            <p:cNvSpPr>
              <a:spLocks/>
            </p:cNvSpPr>
            <p:nvPr/>
          </p:nvSpPr>
          <p:spPr bwMode="auto">
            <a:xfrm flipH="1">
              <a:off x="3518" y="2127"/>
              <a:ext cx="364" cy="234"/>
            </a:xfrm>
            <a:custGeom>
              <a:avLst/>
              <a:gdLst>
                <a:gd name="T0" fmla="*/ 0 w 1443"/>
                <a:gd name="T1" fmla="*/ 0 h 816"/>
                <a:gd name="T2" fmla="*/ 1076 w 1443"/>
                <a:gd name="T3" fmla="*/ 782 h 816"/>
                <a:gd name="T4" fmla="*/ 1320 w 1443"/>
                <a:gd name="T5" fmla="*/ 788 h 816"/>
                <a:gd name="T6" fmla="*/ 1443 w 1443"/>
                <a:gd name="T7" fmla="*/ 5 h 816"/>
                <a:gd name="T8" fmla="*/ 0 w 1443"/>
                <a:gd name="T9" fmla="*/ 0 h 816"/>
              </a:gdLst>
              <a:ahLst/>
              <a:cxnLst>
                <a:cxn ang="0">
                  <a:pos x="T0" y="T1"/>
                </a:cxn>
                <a:cxn ang="0">
                  <a:pos x="T2" y="T3"/>
                </a:cxn>
                <a:cxn ang="0">
                  <a:pos x="T4" y="T5"/>
                </a:cxn>
                <a:cxn ang="0">
                  <a:pos x="T6" y="T7"/>
                </a:cxn>
                <a:cxn ang="0">
                  <a:pos x="T8" y="T9"/>
                </a:cxn>
              </a:cxnLst>
              <a:rect l="0" t="0" r="r" b="b"/>
              <a:pathLst>
                <a:path w="1443" h="816">
                  <a:moveTo>
                    <a:pt x="0" y="0"/>
                  </a:moveTo>
                  <a:cubicBezTo>
                    <a:pt x="571" y="285"/>
                    <a:pt x="856" y="408"/>
                    <a:pt x="1076" y="782"/>
                  </a:cubicBezTo>
                  <a:cubicBezTo>
                    <a:pt x="1185" y="775"/>
                    <a:pt x="1220" y="816"/>
                    <a:pt x="1320" y="788"/>
                  </a:cubicBezTo>
                  <a:cubicBezTo>
                    <a:pt x="1264" y="347"/>
                    <a:pt x="1276" y="352"/>
                    <a:pt x="1443" y="5"/>
                  </a:cubicBezTo>
                  <a:cubicBezTo>
                    <a:pt x="867" y="5"/>
                    <a:pt x="233" y="0"/>
                    <a:pt x="0" y="0"/>
                  </a:cubicBezTo>
                  <a:close/>
                </a:path>
              </a:pathLst>
            </a:custGeom>
            <a:gradFill rotWithShape="1">
              <a:gsLst>
                <a:gs pos="0">
                  <a:schemeClr val="accent1"/>
                </a:gs>
                <a:gs pos="100000">
                  <a:schemeClr val="bg1"/>
                </a:gs>
              </a:gsLst>
              <a:lin ang="540000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454779" name="Freeform 123"/>
            <p:cNvSpPr>
              <a:spLocks/>
            </p:cNvSpPr>
            <p:nvPr/>
          </p:nvSpPr>
          <p:spPr bwMode="auto">
            <a:xfrm flipH="1" flipV="1">
              <a:off x="3302" y="2922"/>
              <a:ext cx="342" cy="234"/>
            </a:xfrm>
            <a:custGeom>
              <a:avLst/>
              <a:gdLst>
                <a:gd name="T0" fmla="*/ 0 w 1443"/>
                <a:gd name="T1" fmla="*/ 0 h 816"/>
                <a:gd name="T2" fmla="*/ 1076 w 1443"/>
                <a:gd name="T3" fmla="*/ 782 h 816"/>
                <a:gd name="T4" fmla="*/ 1320 w 1443"/>
                <a:gd name="T5" fmla="*/ 788 h 816"/>
                <a:gd name="T6" fmla="*/ 1443 w 1443"/>
                <a:gd name="T7" fmla="*/ 5 h 816"/>
                <a:gd name="T8" fmla="*/ 0 w 1443"/>
                <a:gd name="T9" fmla="*/ 0 h 816"/>
              </a:gdLst>
              <a:ahLst/>
              <a:cxnLst>
                <a:cxn ang="0">
                  <a:pos x="T0" y="T1"/>
                </a:cxn>
                <a:cxn ang="0">
                  <a:pos x="T2" y="T3"/>
                </a:cxn>
                <a:cxn ang="0">
                  <a:pos x="T4" y="T5"/>
                </a:cxn>
                <a:cxn ang="0">
                  <a:pos x="T6" y="T7"/>
                </a:cxn>
                <a:cxn ang="0">
                  <a:pos x="T8" y="T9"/>
                </a:cxn>
              </a:cxnLst>
              <a:rect l="0" t="0" r="r" b="b"/>
              <a:pathLst>
                <a:path w="1443" h="816">
                  <a:moveTo>
                    <a:pt x="0" y="0"/>
                  </a:moveTo>
                  <a:cubicBezTo>
                    <a:pt x="571" y="285"/>
                    <a:pt x="856" y="408"/>
                    <a:pt x="1076" y="782"/>
                  </a:cubicBezTo>
                  <a:cubicBezTo>
                    <a:pt x="1185" y="775"/>
                    <a:pt x="1220" y="816"/>
                    <a:pt x="1320" y="788"/>
                  </a:cubicBezTo>
                  <a:cubicBezTo>
                    <a:pt x="1264" y="347"/>
                    <a:pt x="1276" y="352"/>
                    <a:pt x="1443" y="5"/>
                  </a:cubicBezTo>
                  <a:cubicBezTo>
                    <a:pt x="867" y="5"/>
                    <a:pt x="233" y="0"/>
                    <a:pt x="0" y="0"/>
                  </a:cubicBezTo>
                  <a:close/>
                </a:path>
              </a:pathLst>
            </a:custGeom>
            <a:gradFill rotWithShape="1">
              <a:gsLst>
                <a:gs pos="0">
                  <a:schemeClr val="accent1"/>
                </a:gs>
                <a:gs pos="100000">
                  <a:schemeClr val="bg1"/>
                </a:gs>
              </a:gsLst>
              <a:lin ang="540000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454780" name="Freeform 124"/>
            <p:cNvSpPr>
              <a:spLocks/>
            </p:cNvSpPr>
            <p:nvPr/>
          </p:nvSpPr>
          <p:spPr bwMode="auto">
            <a:xfrm flipH="1" flipV="1">
              <a:off x="2452" y="2912"/>
              <a:ext cx="342" cy="234"/>
            </a:xfrm>
            <a:custGeom>
              <a:avLst/>
              <a:gdLst>
                <a:gd name="T0" fmla="*/ 0 w 1443"/>
                <a:gd name="T1" fmla="*/ 0 h 816"/>
                <a:gd name="T2" fmla="*/ 1076 w 1443"/>
                <a:gd name="T3" fmla="*/ 782 h 816"/>
                <a:gd name="T4" fmla="*/ 1320 w 1443"/>
                <a:gd name="T5" fmla="*/ 788 h 816"/>
                <a:gd name="T6" fmla="*/ 1443 w 1443"/>
                <a:gd name="T7" fmla="*/ 5 h 816"/>
                <a:gd name="T8" fmla="*/ 0 w 1443"/>
                <a:gd name="T9" fmla="*/ 0 h 816"/>
              </a:gdLst>
              <a:ahLst/>
              <a:cxnLst>
                <a:cxn ang="0">
                  <a:pos x="T0" y="T1"/>
                </a:cxn>
                <a:cxn ang="0">
                  <a:pos x="T2" y="T3"/>
                </a:cxn>
                <a:cxn ang="0">
                  <a:pos x="T4" y="T5"/>
                </a:cxn>
                <a:cxn ang="0">
                  <a:pos x="T6" y="T7"/>
                </a:cxn>
                <a:cxn ang="0">
                  <a:pos x="T8" y="T9"/>
                </a:cxn>
              </a:cxnLst>
              <a:rect l="0" t="0" r="r" b="b"/>
              <a:pathLst>
                <a:path w="1443" h="816">
                  <a:moveTo>
                    <a:pt x="0" y="0"/>
                  </a:moveTo>
                  <a:cubicBezTo>
                    <a:pt x="571" y="285"/>
                    <a:pt x="856" y="408"/>
                    <a:pt x="1076" y="782"/>
                  </a:cubicBezTo>
                  <a:cubicBezTo>
                    <a:pt x="1185" y="775"/>
                    <a:pt x="1220" y="816"/>
                    <a:pt x="1320" y="788"/>
                  </a:cubicBezTo>
                  <a:cubicBezTo>
                    <a:pt x="1264" y="347"/>
                    <a:pt x="1276" y="352"/>
                    <a:pt x="1443" y="5"/>
                  </a:cubicBezTo>
                  <a:cubicBezTo>
                    <a:pt x="867" y="5"/>
                    <a:pt x="233" y="0"/>
                    <a:pt x="0" y="0"/>
                  </a:cubicBezTo>
                  <a:close/>
                </a:path>
              </a:pathLst>
            </a:custGeom>
            <a:gradFill rotWithShape="1">
              <a:gsLst>
                <a:gs pos="0">
                  <a:schemeClr val="accent1"/>
                </a:gs>
                <a:gs pos="100000">
                  <a:schemeClr val="bg1"/>
                </a:gs>
              </a:gsLst>
              <a:lin ang="540000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454781" name="Freeform 125"/>
            <p:cNvSpPr>
              <a:spLocks/>
            </p:cNvSpPr>
            <p:nvPr/>
          </p:nvSpPr>
          <p:spPr bwMode="auto">
            <a:xfrm flipH="1" flipV="1">
              <a:off x="2855" y="2728"/>
              <a:ext cx="342" cy="285"/>
            </a:xfrm>
            <a:custGeom>
              <a:avLst/>
              <a:gdLst>
                <a:gd name="T0" fmla="*/ 0 w 1443"/>
                <a:gd name="T1" fmla="*/ 0 h 816"/>
                <a:gd name="T2" fmla="*/ 1076 w 1443"/>
                <a:gd name="T3" fmla="*/ 782 h 816"/>
                <a:gd name="T4" fmla="*/ 1320 w 1443"/>
                <a:gd name="T5" fmla="*/ 788 h 816"/>
                <a:gd name="T6" fmla="*/ 1443 w 1443"/>
                <a:gd name="T7" fmla="*/ 5 h 816"/>
                <a:gd name="T8" fmla="*/ 0 w 1443"/>
                <a:gd name="T9" fmla="*/ 0 h 816"/>
              </a:gdLst>
              <a:ahLst/>
              <a:cxnLst>
                <a:cxn ang="0">
                  <a:pos x="T0" y="T1"/>
                </a:cxn>
                <a:cxn ang="0">
                  <a:pos x="T2" y="T3"/>
                </a:cxn>
                <a:cxn ang="0">
                  <a:pos x="T4" y="T5"/>
                </a:cxn>
                <a:cxn ang="0">
                  <a:pos x="T6" y="T7"/>
                </a:cxn>
                <a:cxn ang="0">
                  <a:pos x="T8" y="T9"/>
                </a:cxn>
              </a:cxnLst>
              <a:rect l="0" t="0" r="r" b="b"/>
              <a:pathLst>
                <a:path w="1443" h="816">
                  <a:moveTo>
                    <a:pt x="0" y="0"/>
                  </a:moveTo>
                  <a:cubicBezTo>
                    <a:pt x="571" y="285"/>
                    <a:pt x="856" y="408"/>
                    <a:pt x="1076" y="782"/>
                  </a:cubicBezTo>
                  <a:cubicBezTo>
                    <a:pt x="1185" y="775"/>
                    <a:pt x="1220" y="816"/>
                    <a:pt x="1320" y="788"/>
                  </a:cubicBezTo>
                  <a:cubicBezTo>
                    <a:pt x="1264" y="347"/>
                    <a:pt x="1276" y="352"/>
                    <a:pt x="1443" y="5"/>
                  </a:cubicBezTo>
                  <a:cubicBezTo>
                    <a:pt x="867" y="5"/>
                    <a:pt x="233" y="0"/>
                    <a:pt x="0" y="0"/>
                  </a:cubicBezTo>
                  <a:close/>
                </a:path>
              </a:pathLst>
            </a:custGeom>
            <a:gradFill rotWithShape="1">
              <a:gsLst>
                <a:gs pos="0">
                  <a:schemeClr val="accent1"/>
                </a:gs>
                <a:gs pos="100000">
                  <a:schemeClr val="bg1"/>
                </a:gs>
              </a:gsLst>
              <a:lin ang="540000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grpSp>
          <p:nvGrpSpPr>
            <p:cNvPr id="23" name="Group 134"/>
            <p:cNvGrpSpPr>
              <a:grpSpLocks/>
            </p:cNvGrpSpPr>
            <p:nvPr/>
          </p:nvGrpSpPr>
          <p:grpSpPr bwMode="auto">
            <a:xfrm>
              <a:off x="3524" y="1840"/>
              <a:ext cx="347" cy="285"/>
              <a:chOff x="2886" y="1668"/>
              <a:chExt cx="347" cy="285"/>
            </a:xfrm>
          </p:grpSpPr>
          <p:sp>
            <p:nvSpPr>
              <p:cNvPr id="454791" name="Rectangle 135"/>
              <p:cNvSpPr>
                <a:spLocks noChangeArrowheads="1"/>
              </p:cNvSpPr>
              <p:nvPr/>
            </p:nvSpPr>
            <p:spPr bwMode="auto">
              <a:xfrm>
                <a:off x="2886" y="1668"/>
                <a:ext cx="347" cy="285"/>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54792" name="Oval 136"/>
              <p:cNvSpPr>
                <a:spLocks noChangeArrowheads="1"/>
              </p:cNvSpPr>
              <p:nvPr/>
            </p:nvSpPr>
            <p:spPr bwMode="auto">
              <a:xfrm>
                <a:off x="2905" y="1674"/>
                <a:ext cx="314" cy="74"/>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54793" name="Rectangle 137"/>
              <p:cNvSpPr>
                <a:spLocks noChangeArrowheads="1"/>
              </p:cNvSpPr>
              <p:nvPr/>
            </p:nvSpPr>
            <p:spPr bwMode="auto">
              <a:xfrm>
                <a:off x="2913" y="1785"/>
                <a:ext cx="300" cy="156"/>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54794" name="Line 138"/>
              <p:cNvSpPr>
                <a:spLocks noChangeShapeType="1"/>
              </p:cNvSpPr>
              <p:nvPr/>
            </p:nvSpPr>
            <p:spPr bwMode="auto">
              <a:xfrm>
                <a:off x="3082" y="1811"/>
                <a:ext cx="1" cy="13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454795" name="Line 139"/>
              <p:cNvSpPr>
                <a:spLocks noChangeShapeType="1"/>
              </p:cNvSpPr>
              <p:nvPr/>
            </p:nvSpPr>
            <p:spPr bwMode="auto">
              <a:xfrm>
                <a:off x="2913" y="1842"/>
                <a:ext cx="3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454796" name="Line 140"/>
              <p:cNvSpPr>
                <a:spLocks noChangeShapeType="1"/>
              </p:cNvSpPr>
              <p:nvPr/>
            </p:nvSpPr>
            <p:spPr bwMode="auto">
              <a:xfrm>
                <a:off x="2912" y="1812"/>
                <a:ext cx="3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454797" name="AutoShape 141"/>
              <p:cNvSpPr>
                <a:spLocks noChangeArrowheads="1"/>
              </p:cNvSpPr>
              <p:nvPr/>
            </p:nvSpPr>
            <p:spPr bwMode="auto">
              <a:xfrm rot="5400000">
                <a:off x="3051" y="1745"/>
                <a:ext cx="29" cy="41"/>
              </a:xfrm>
              <a:prstGeom prst="rightArrow">
                <a:avLst>
                  <a:gd name="adj1" fmla="val 51167"/>
                  <a:gd name="adj2" fmla="val 39736"/>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grpSp>
        <p:grpSp>
          <p:nvGrpSpPr>
            <p:cNvPr id="24" name="Group 142"/>
            <p:cNvGrpSpPr>
              <a:grpSpLocks/>
            </p:cNvGrpSpPr>
            <p:nvPr/>
          </p:nvGrpSpPr>
          <p:grpSpPr bwMode="auto">
            <a:xfrm>
              <a:off x="3291" y="3148"/>
              <a:ext cx="347" cy="285"/>
              <a:chOff x="2886" y="1668"/>
              <a:chExt cx="347" cy="285"/>
            </a:xfrm>
          </p:grpSpPr>
          <p:sp>
            <p:nvSpPr>
              <p:cNvPr id="454799" name="Rectangle 143"/>
              <p:cNvSpPr>
                <a:spLocks noChangeArrowheads="1"/>
              </p:cNvSpPr>
              <p:nvPr/>
            </p:nvSpPr>
            <p:spPr bwMode="auto">
              <a:xfrm>
                <a:off x="2886" y="1668"/>
                <a:ext cx="347" cy="285"/>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54800" name="Oval 144"/>
              <p:cNvSpPr>
                <a:spLocks noChangeArrowheads="1"/>
              </p:cNvSpPr>
              <p:nvPr/>
            </p:nvSpPr>
            <p:spPr bwMode="auto">
              <a:xfrm>
                <a:off x="2905" y="1674"/>
                <a:ext cx="314" cy="74"/>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54801" name="Rectangle 145"/>
              <p:cNvSpPr>
                <a:spLocks noChangeArrowheads="1"/>
              </p:cNvSpPr>
              <p:nvPr/>
            </p:nvSpPr>
            <p:spPr bwMode="auto">
              <a:xfrm>
                <a:off x="2913" y="1785"/>
                <a:ext cx="300" cy="156"/>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54802" name="Line 146"/>
              <p:cNvSpPr>
                <a:spLocks noChangeShapeType="1"/>
              </p:cNvSpPr>
              <p:nvPr/>
            </p:nvSpPr>
            <p:spPr bwMode="auto">
              <a:xfrm>
                <a:off x="3082" y="1811"/>
                <a:ext cx="1" cy="13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454803" name="Line 147"/>
              <p:cNvSpPr>
                <a:spLocks noChangeShapeType="1"/>
              </p:cNvSpPr>
              <p:nvPr/>
            </p:nvSpPr>
            <p:spPr bwMode="auto">
              <a:xfrm>
                <a:off x="2913" y="1842"/>
                <a:ext cx="3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454804" name="Line 148"/>
              <p:cNvSpPr>
                <a:spLocks noChangeShapeType="1"/>
              </p:cNvSpPr>
              <p:nvPr/>
            </p:nvSpPr>
            <p:spPr bwMode="auto">
              <a:xfrm>
                <a:off x="2912" y="1812"/>
                <a:ext cx="3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454805" name="AutoShape 149"/>
              <p:cNvSpPr>
                <a:spLocks noChangeArrowheads="1"/>
              </p:cNvSpPr>
              <p:nvPr/>
            </p:nvSpPr>
            <p:spPr bwMode="auto">
              <a:xfrm rot="5400000">
                <a:off x="3051" y="1745"/>
                <a:ext cx="29" cy="41"/>
              </a:xfrm>
              <a:prstGeom prst="rightArrow">
                <a:avLst>
                  <a:gd name="adj1" fmla="val 51167"/>
                  <a:gd name="adj2" fmla="val 39736"/>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grpSp>
        <p:grpSp>
          <p:nvGrpSpPr>
            <p:cNvPr id="25" name="Group 150"/>
            <p:cNvGrpSpPr>
              <a:grpSpLocks/>
            </p:cNvGrpSpPr>
            <p:nvPr/>
          </p:nvGrpSpPr>
          <p:grpSpPr bwMode="auto">
            <a:xfrm>
              <a:off x="2853" y="3010"/>
              <a:ext cx="347" cy="285"/>
              <a:chOff x="2886" y="1668"/>
              <a:chExt cx="347" cy="285"/>
            </a:xfrm>
          </p:grpSpPr>
          <p:sp>
            <p:nvSpPr>
              <p:cNvPr id="454807" name="Rectangle 151"/>
              <p:cNvSpPr>
                <a:spLocks noChangeArrowheads="1"/>
              </p:cNvSpPr>
              <p:nvPr/>
            </p:nvSpPr>
            <p:spPr bwMode="auto">
              <a:xfrm>
                <a:off x="2886" y="1668"/>
                <a:ext cx="347" cy="285"/>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54808" name="Oval 152"/>
              <p:cNvSpPr>
                <a:spLocks noChangeArrowheads="1"/>
              </p:cNvSpPr>
              <p:nvPr/>
            </p:nvSpPr>
            <p:spPr bwMode="auto">
              <a:xfrm>
                <a:off x="2905" y="1674"/>
                <a:ext cx="314" cy="74"/>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54809" name="Rectangle 153"/>
              <p:cNvSpPr>
                <a:spLocks noChangeArrowheads="1"/>
              </p:cNvSpPr>
              <p:nvPr/>
            </p:nvSpPr>
            <p:spPr bwMode="auto">
              <a:xfrm>
                <a:off x="2913" y="1785"/>
                <a:ext cx="300" cy="156"/>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54810" name="Line 154"/>
              <p:cNvSpPr>
                <a:spLocks noChangeShapeType="1"/>
              </p:cNvSpPr>
              <p:nvPr/>
            </p:nvSpPr>
            <p:spPr bwMode="auto">
              <a:xfrm>
                <a:off x="3082" y="1811"/>
                <a:ext cx="1" cy="13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454811" name="Line 155"/>
              <p:cNvSpPr>
                <a:spLocks noChangeShapeType="1"/>
              </p:cNvSpPr>
              <p:nvPr/>
            </p:nvSpPr>
            <p:spPr bwMode="auto">
              <a:xfrm>
                <a:off x="2913" y="1842"/>
                <a:ext cx="3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454812" name="Line 156"/>
              <p:cNvSpPr>
                <a:spLocks noChangeShapeType="1"/>
              </p:cNvSpPr>
              <p:nvPr/>
            </p:nvSpPr>
            <p:spPr bwMode="auto">
              <a:xfrm>
                <a:off x="2912" y="1812"/>
                <a:ext cx="3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454813" name="AutoShape 157"/>
              <p:cNvSpPr>
                <a:spLocks noChangeArrowheads="1"/>
              </p:cNvSpPr>
              <p:nvPr/>
            </p:nvSpPr>
            <p:spPr bwMode="auto">
              <a:xfrm rot="5400000">
                <a:off x="3051" y="1745"/>
                <a:ext cx="29" cy="41"/>
              </a:xfrm>
              <a:prstGeom prst="rightArrow">
                <a:avLst>
                  <a:gd name="adj1" fmla="val 51167"/>
                  <a:gd name="adj2" fmla="val 39736"/>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grpSp>
        <p:grpSp>
          <p:nvGrpSpPr>
            <p:cNvPr id="26" name="Group 158"/>
            <p:cNvGrpSpPr>
              <a:grpSpLocks/>
            </p:cNvGrpSpPr>
            <p:nvPr/>
          </p:nvGrpSpPr>
          <p:grpSpPr bwMode="auto">
            <a:xfrm>
              <a:off x="2440" y="3131"/>
              <a:ext cx="347" cy="285"/>
              <a:chOff x="2886" y="1668"/>
              <a:chExt cx="347" cy="285"/>
            </a:xfrm>
          </p:grpSpPr>
          <p:sp>
            <p:nvSpPr>
              <p:cNvPr id="454815" name="Rectangle 159"/>
              <p:cNvSpPr>
                <a:spLocks noChangeArrowheads="1"/>
              </p:cNvSpPr>
              <p:nvPr/>
            </p:nvSpPr>
            <p:spPr bwMode="auto">
              <a:xfrm>
                <a:off x="2886" y="1668"/>
                <a:ext cx="347" cy="285"/>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54816" name="Oval 160"/>
              <p:cNvSpPr>
                <a:spLocks noChangeArrowheads="1"/>
              </p:cNvSpPr>
              <p:nvPr/>
            </p:nvSpPr>
            <p:spPr bwMode="auto">
              <a:xfrm>
                <a:off x="2905" y="1674"/>
                <a:ext cx="314" cy="74"/>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54817" name="Rectangle 161"/>
              <p:cNvSpPr>
                <a:spLocks noChangeArrowheads="1"/>
              </p:cNvSpPr>
              <p:nvPr/>
            </p:nvSpPr>
            <p:spPr bwMode="auto">
              <a:xfrm>
                <a:off x="2913" y="1785"/>
                <a:ext cx="300" cy="156"/>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54818" name="Line 162"/>
              <p:cNvSpPr>
                <a:spLocks noChangeShapeType="1"/>
              </p:cNvSpPr>
              <p:nvPr/>
            </p:nvSpPr>
            <p:spPr bwMode="auto">
              <a:xfrm>
                <a:off x="3082" y="1811"/>
                <a:ext cx="1" cy="13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454819" name="Line 163"/>
              <p:cNvSpPr>
                <a:spLocks noChangeShapeType="1"/>
              </p:cNvSpPr>
              <p:nvPr/>
            </p:nvSpPr>
            <p:spPr bwMode="auto">
              <a:xfrm>
                <a:off x="2913" y="1842"/>
                <a:ext cx="3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454820" name="Line 164"/>
              <p:cNvSpPr>
                <a:spLocks noChangeShapeType="1"/>
              </p:cNvSpPr>
              <p:nvPr/>
            </p:nvSpPr>
            <p:spPr bwMode="auto">
              <a:xfrm>
                <a:off x="2912" y="1812"/>
                <a:ext cx="3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454821" name="AutoShape 165"/>
              <p:cNvSpPr>
                <a:spLocks noChangeArrowheads="1"/>
              </p:cNvSpPr>
              <p:nvPr/>
            </p:nvSpPr>
            <p:spPr bwMode="auto">
              <a:xfrm rot="5400000">
                <a:off x="3051" y="1745"/>
                <a:ext cx="29" cy="41"/>
              </a:xfrm>
              <a:prstGeom prst="rightArrow">
                <a:avLst>
                  <a:gd name="adj1" fmla="val 51167"/>
                  <a:gd name="adj2" fmla="val 39736"/>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grpSp>
      </p:grpSp>
      <p:sp>
        <p:nvSpPr>
          <p:cNvPr id="454822" name="Rectangle 166"/>
          <p:cNvSpPr>
            <a:spLocks noGrp="1" noChangeArrowheads="1"/>
          </p:cNvSpPr>
          <p:nvPr>
            <p:ph type="title"/>
          </p:nvPr>
        </p:nvSpPr>
        <p:spPr>
          <a:xfrm>
            <a:off x="249238" y="0"/>
            <a:ext cx="8894762" cy="1143000"/>
          </a:xfrm>
        </p:spPr>
        <p:txBody>
          <a:bodyPr/>
          <a:lstStyle/>
          <a:p>
            <a:r>
              <a:rPr lang="de-DE" sz="3600" dirty="0" err="1"/>
              <a:t>Forwarding</a:t>
            </a:r>
            <a:r>
              <a:rPr lang="de-DE" sz="3600" dirty="0"/>
              <a:t> und Routing</a:t>
            </a:r>
          </a:p>
        </p:txBody>
      </p:sp>
      <p:sp>
        <p:nvSpPr>
          <p:cNvPr id="2" name="TextBox 1"/>
          <p:cNvSpPr txBox="1"/>
          <p:nvPr/>
        </p:nvSpPr>
        <p:spPr>
          <a:xfrm>
            <a:off x="175765" y="1238533"/>
            <a:ext cx="3441380" cy="4555093"/>
          </a:xfrm>
          <a:prstGeom prst="rect">
            <a:avLst/>
          </a:prstGeom>
          <a:noFill/>
        </p:spPr>
        <p:txBody>
          <a:bodyPr wrap="square" rtlCol="0">
            <a:spAutoFit/>
          </a:bodyPr>
          <a:lstStyle/>
          <a:p>
            <a:pPr marL="274320" lvl="0" indent="-274320">
              <a:spcBef>
                <a:spcPts val="600"/>
              </a:spcBef>
              <a:buClr>
                <a:srgbClr val="53548A"/>
              </a:buClr>
              <a:buSzPct val="76000"/>
              <a:buFont typeface="Wingdings 3"/>
              <a:buChar char=""/>
            </a:pPr>
            <a:r>
              <a:rPr lang="de-DE" sz="2800" dirty="0">
                <a:solidFill>
                  <a:prstClr val="black"/>
                </a:solidFill>
              </a:rPr>
              <a:t>Ein Router macht eine </a:t>
            </a:r>
            <a:r>
              <a:rPr lang="de-DE" sz="2800" u="sng" dirty="0">
                <a:solidFill>
                  <a:prstClr val="black"/>
                </a:solidFill>
              </a:rPr>
              <a:t>lokale</a:t>
            </a:r>
            <a:r>
              <a:rPr lang="de-DE" sz="2800" dirty="0">
                <a:solidFill>
                  <a:prstClr val="black"/>
                </a:solidFill>
              </a:rPr>
              <a:t> Entscheidung: Paket an einen Ausgang schicken</a:t>
            </a:r>
          </a:p>
          <a:p>
            <a:pPr marL="274320" lvl="0" indent="-274320">
              <a:spcBef>
                <a:spcPts val="600"/>
              </a:spcBef>
              <a:buClr>
                <a:srgbClr val="53548A"/>
              </a:buClr>
              <a:buSzPct val="76000"/>
              <a:buFont typeface="Wingdings 3"/>
              <a:buChar char=""/>
            </a:pPr>
            <a:r>
              <a:rPr lang="de-DE" sz="2800" dirty="0">
                <a:solidFill>
                  <a:prstClr val="black"/>
                </a:solidFill>
              </a:rPr>
              <a:t>Warum kommen die Pakete damit im Ziel an?</a:t>
            </a:r>
          </a:p>
          <a:p>
            <a:pPr marL="274320" lvl="0" indent="-274320">
              <a:spcBef>
                <a:spcPts val="600"/>
              </a:spcBef>
              <a:buClr>
                <a:srgbClr val="53548A"/>
              </a:buClr>
              <a:buSzPct val="76000"/>
              <a:buFont typeface="Wingdings 3"/>
              <a:buChar char=""/>
            </a:pPr>
            <a:r>
              <a:rPr lang="de-DE" sz="2800" dirty="0">
                <a:solidFill>
                  <a:prstClr val="black"/>
                </a:solidFill>
              </a:rPr>
              <a:t>D.h. woher kommt die „Weitsicht“?</a:t>
            </a:r>
            <a:endParaRPr lang="de-DE" sz="2400" dirty="0">
              <a:solidFill>
                <a:prstClr val="black"/>
              </a:solidFill>
            </a:endParaRPr>
          </a:p>
        </p:txBody>
      </p:sp>
      <p:sp>
        <p:nvSpPr>
          <p:cNvPr id="27" name="TextBox 26"/>
          <p:cNvSpPr txBox="1"/>
          <p:nvPr/>
        </p:nvSpPr>
        <p:spPr>
          <a:xfrm>
            <a:off x="6301983" y="351590"/>
            <a:ext cx="2638492" cy="3416320"/>
          </a:xfrm>
          <a:prstGeom prst="rect">
            <a:avLst/>
          </a:prstGeom>
          <a:noFill/>
        </p:spPr>
        <p:txBody>
          <a:bodyPr wrap="square" rtlCol="0">
            <a:spAutoFit/>
          </a:bodyPr>
          <a:lstStyle/>
          <a:p>
            <a:pPr lvl="0"/>
            <a:r>
              <a:rPr lang="de-DE" sz="2400" dirty="0">
                <a:solidFill>
                  <a:prstClr val="black"/>
                </a:solidFill>
              </a:rPr>
              <a:t>Antwort: </a:t>
            </a:r>
            <a:br>
              <a:rPr lang="de-DE" sz="2400" dirty="0">
                <a:solidFill>
                  <a:prstClr val="black"/>
                </a:solidFill>
              </a:rPr>
            </a:br>
            <a:r>
              <a:rPr lang="de-DE" sz="2400" dirty="0">
                <a:solidFill>
                  <a:prstClr val="black"/>
                </a:solidFill>
              </a:rPr>
              <a:t>Die (größeren) Router führen ab und zu einen </a:t>
            </a:r>
            <a:r>
              <a:rPr lang="de-DE" sz="2400" b="1" dirty="0">
                <a:solidFill>
                  <a:srgbClr val="FF0000"/>
                </a:solidFill>
              </a:rPr>
              <a:t>Routing-Algorithmus</a:t>
            </a:r>
            <a:r>
              <a:rPr lang="de-DE" sz="2400" dirty="0">
                <a:solidFill>
                  <a:prstClr val="black"/>
                </a:solidFill>
              </a:rPr>
              <a:t> aus, um die </a:t>
            </a:r>
            <a:r>
              <a:rPr lang="de-DE" sz="2400" dirty="0">
                <a:solidFill>
                  <a:srgbClr val="0070C0"/>
                </a:solidFill>
                <a:latin typeface="Arial" charset="0"/>
              </a:rPr>
              <a:t>Weiter-</a:t>
            </a:r>
            <a:r>
              <a:rPr lang="de-DE" sz="2400" dirty="0" err="1">
                <a:solidFill>
                  <a:srgbClr val="0070C0"/>
                </a:solidFill>
                <a:latin typeface="Arial" charset="0"/>
              </a:rPr>
              <a:t>leitungstabelle</a:t>
            </a:r>
            <a:r>
              <a:rPr lang="de-DE" sz="2400" b="1" dirty="0">
                <a:solidFill>
                  <a:srgbClr val="0070C0"/>
                </a:solidFill>
                <a:latin typeface="Arial" charset="0"/>
              </a:rPr>
              <a:t> </a:t>
            </a:r>
            <a:r>
              <a:rPr lang="de-DE" sz="2400" dirty="0">
                <a:solidFill>
                  <a:prstClr val="black"/>
                </a:solidFill>
              </a:rPr>
              <a:t>zu aktualisieren</a:t>
            </a:r>
            <a:endParaRPr lang="de-DE" dirty="0">
              <a:solidFill>
                <a:srgbClr val="424456"/>
              </a:solidFill>
            </a:endParaRPr>
          </a:p>
        </p:txBody>
      </p:sp>
      <p:grpSp>
        <p:nvGrpSpPr>
          <p:cNvPr id="28" name="Gruppieren 27"/>
          <p:cNvGrpSpPr/>
          <p:nvPr/>
        </p:nvGrpSpPr>
        <p:grpSpPr>
          <a:xfrm>
            <a:off x="3707904" y="1238533"/>
            <a:ext cx="2495654" cy="1258456"/>
            <a:chOff x="313372" y="5536766"/>
            <a:chExt cx="2495654" cy="1258456"/>
          </a:xfrm>
        </p:grpSpPr>
        <p:sp>
          <p:nvSpPr>
            <p:cNvPr id="170" name="Oval 6"/>
            <p:cNvSpPr>
              <a:spLocks noChangeArrowheads="1"/>
            </p:cNvSpPr>
            <p:nvPr/>
          </p:nvSpPr>
          <p:spPr bwMode="auto">
            <a:xfrm>
              <a:off x="313372" y="5536766"/>
              <a:ext cx="2495654" cy="1028710"/>
            </a:xfrm>
            <a:prstGeom prst="ellipse">
              <a:avLst/>
            </a:prstGeom>
            <a:solidFill>
              <a:srgbClr val="FFC000"/>
            </a:solidFill>
            <a:ln>
              <a:headEnd/>
              <a:tailEnd/>
            </a:ln>
          </p:spPr>
          <p:style>
            <a:lnRef idx="1">
              <a:schemeClr val="accent2"/>
            </a:lnRef>
            <a:fillRef idx="2">
              <a:schemeClr val="accent2"/>
            </a:fillRef>
            <a:effectRef idx="1">
              <a:schemeClr val="accent2"/>
            </a:effectRef>
            <a:fontRef idx="minor">
              <a:schemeClr val="dk1"/>
            </a:fontRef>
          </p:style>
          <p:txBody>
            <a:bodyPr wrap="none" anchor="ctr"/>
            <a:lstStyle/>
            <a:p>
              <a:pPr algn="ctr"/>
              <a:r>
                <a:rPr lang="de-DE" sz="2400" b="1" dirty="0">
                  <a:solidFill>
                    <a:srgbClr val="FF0000"/>
                  </a:solidFill>
                  <a:latin typeface="Arial" charset="0"/>
                </a:rPr>
                <a:t>Routing-</a:t>
              </a:r>
              <a:br>
                <a:rPr lang="de-DE" sz="2400" b="1" dirty="0">
                  <a:solidFill>
                    <a:srgbClr val="FF0000"/>
                  </a:solidFill>
                  <a:latin typeface="Arial" charset="0"/>
                </a:rPr>
              </a:br>
              <a:r>
                <a:rPr lang="de-DE" sz="2400" b="1" dirty="0">
                  <a:solidFill>
                    <a:srgbClr val="FF0000"/>
                  </a:solidFill>
                  <a:latin typeface="Arial" charset="0"/>
                </a:rPr>
                <a:t>Algorithmus</a:t>
              </a:r>
            </a:p>
          </p:txBody>
        </p:sp>
        <p:sp>
          <p:nvSpPr>
            <p:cNvPr id="171" name="AutoShape 118"/>
            <p:cNvSpPr>
              <a:spLocks noChangeArrowheads="1"/>
            </p:cNvSpPr>
            <p:nvPr/>
          </p:nvSpPr>
          <p:spPr bwMode="auto">
            <a:xfrm rot="5400000">
              <a:off x="1479101" y="6538841"/>
              <a:ext cx="239713" cy="273050"/>
            </a:xfrm>
            <a:prstGeom prst="rightArrow">
              <a:avLst>
                <a:gd name="adj1" fmla="val 51167"/>
                <a:gd name="adj2" fmla="val 39736"/>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grpSp>
    </p:spTree>
    <p:extLst>
      <p:ext uri="{BB962C8B-B14F-4D97-AF65-F5344CB8AC3E}">
        <p14:creationId xmlns:p14="http://schemas.microsoft.com/office/powerpoint/2010/main" val="9570889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fade">
                                      <p:cBhvr>
                                        <p:cTn id="7" dur="500"/>
                                        <p:tgtEl>
                                          <p:spTgt spid="27"/>
                                        </p:tgtEl>
                                      </p:cBhvr>
                                    </p:animEffect>
                                  </p:childTnLst>
                                </p:cTn>
                              </p:par>
                              <p:par>
                                <p:cTn id="8" presetID="10" presetClass="entr" presetSubtype="0" fill="hold" nodeType="withEffect">
                                  <p:stCondLst>
                                    <p:cond delay="0"/>
                                  </p:stCondLst>
                                  <p:childTnLst>
                                    <p:set>
                                      <p:cBhvr>
                                        <p:cTn id="9" dur="1" fill="hold">
                                          <p:stCondLst>
                                            <p:cond delay="0"/>
                                          </p:stCondLst>
                                        </p:cTn>
                                        <p:tgtEl>
                                          <p:spTgt spid="28"/>
                                        </p:tgtEl>
                                        <p:attrNameLst>
                                          <p:attrName>style.visibility</p:attrName>
                                        </p:attrNameLst>
                                      </p:cBhvr>
                                      <p:to>
                                        <p:strVal val="visible"/>
                                      </p:to>
                                    </p:set>
                                    <p:animEffect transition="in" filter="fade">
                                      <p:cBhvr>
                                        <p:cTn id="10"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p:cNvGraphicFramePr>
            <a:graphicFrameLocks noGrp="1"/>
          </p:cNvGraphicFramePr>
          <p:nvPr/>
        </p:nvGraphicFramePr>
        <p:xfrm>
          <a:off x="755576" y="1340768"/>
          <a:ext cx="7618942" cy="4114800"/>
        </p:xfrm>
        <a:graphic>
          <a:graphicData uri="http://schemas.openxmlformats.org/drawingml/2006/table">
            <a:tbl>
              <a:tblPr firstRow="1" bandRow="1">
                <a:tableStyleId>{21E4AEA4-8DFA-4A89-87EB-49C32662AFE0}</a:tableStyleId>
              </a:tblPr>
              <a:tblGrid>
                <a:gridCol w="5401360">
                  <a:extLst>
                    <a:ext uri="{9D8B030D-6E8A-4147-A177-3AD203B41FA5}">
                      <a16:colId xmlns:a16="http://schemas.microsoft.com/office/drawing/2014/main" val="20000"/>
                    </a:ext>
                  </a:extLst>
                </a:gridCol>
                <a:gridCol w="2217582">
                  <a:extLst>
                    <a:ext uri="{9D8B030D-6E8A-4147-A177-3AD203B41FA5}">
                      <a16:colId xmlns:a16="http://schemas.microsoft.com/office/drawing/2014/main" val="20001"/>
                    </a:ext>
                  </a:extLst>
                </a:gridCol>
              </a:tblGrid>
              <a:tr h="0">
                <a:tc>
                  <a:txBody>
                    <a:bodyPr/>
                    <a:lstStyle/>
                    <a:p>
                      <a:r>
                        <a:rPr lang="de-DE" sz="2400" dirty="0"/>
                        <a:t>Intervall der Zieladressen</a:t>
                      </a:r>
                    </a:p>
                  </a:txBody>
                  <a:tcPr/>
                </a:tc>
                <a:tc>
                  <a:txBody>
                    <a:bodyPr/>
                    <a:lstStyle/>
                    <a:p>
                      <a:pPr algn="ctr"/>
                      <a:r>
                        <a:rPr lang="de-DE" sz="2400" dirty="0"/>
                        <a:t>Interface (Ausgang)</a:t>
                      </a:r>
                    </a:p>
                  </a:txBody>
                  <a:tcPr/>
                </a:tc>
                <a:extLst>
                  <a:ext uri="{0D108BD9-81ED-4DB2-BD59-A6C34878D82A}">
                    <a16:rowId xmlns:a16="http://schemas.microsoft.com/office/drawing/2014/main" val="10000"/>
                  </a:ext>
                </a:extLst>
              </a:tr>
              <a:tr h="370840">
                <a:tc>
                  <a:txBody>
                    <a:bodyPr/>
                    <a:lstStyle/>
                    <a:p>
                      <a:pPr algn="just"/>
                      <a:r>
                        <a:rPr lang="en-US" dirty="0">
                          <a:latin typeface="Consolas" panose="020B0609020204030204" pitchFamily="49" charset="0"/>
                        </a:rPr>
                        <a:t>11001000 00010111 00010000 00000000</a:t>
                      </a:r>
                    </a:p>
                    <a:p>
                      <a:pPr algn="just"/>
                      <a:r>
                        <a:rPr lang="en-US" sz="2000" dirty="0" err="1">
                          <a:latin typeface="Consolas" panose="020B0609020204030204" pitchFamily="49" charset="0"/>
                        </a:rPr>
                        <a:t>bis</a:t>
                      </a:r>
                      <a:endParaRPr lang="en-US" sz="2000" dirty="0">
                        <a:latin typeface="Consolas" panose="020B0609020204030204" pitchFamily="49" charset="0"/>
                      </a:endParaRPr>
                    </a:p>
                    <a:p>
                      <a:pPr algn="just"/>
                      <a:r>
                        <a:rPr lang="en-US" dirty="0">
                          <a:latin typeface="Consolas" panose="020B0609020204030204" pitchFamily="49" charset="0"/>
                        </a:rPr>
                        <a:t>11001000 00010111 00010111 11111111</a:t>
                      </a:r>
                      <a:endParaRPr lang="en-US" dirty="0">
                        <a:latin typeface="Consolas" panose="020B0609020204030204" pitchFamily="49" charset="0"/>
                        <a:cs typeface="Courier New" pitchFamily="49" charset="0"/>
                      </a:endParaRPr>
                    </a:p>
                  </a:txBody>
                  <a:tcPr/>
                </a:tc>
                <a:tc>
                  <a:txBody>
                    <a:bodyPr/>
                    <a:lstStyle/>
                    <a:p>
                      <a:pPr algn="ctr"/>
                      <a:r>
                        <a:rPr lang="de-DE" sz="2400" dirty="0">
                          <a:solidFill>
                            <a:srgbClr val="0070C0"/>
                          </a:solidFill>
                        </a:rPr>
                        <a:t>0</a:t>
                      </a:r>
                    </a:p>
                  </a:txBody>
                  <a:tcPr anchor="ctr"/>
                </a:tc>
                <a:extLst>
                  <a:ext uri="{0D108BD9-81ED-4DB2-BD59-A6C34878D82A}">
                    <a16:rowId xmlns:a16="http://schemas.microsoft.com/office/drawing/2014/main" val="10001"/>
                  </a:ext>
                </a:extLst>
              </a:tr>
              <a:tr h="370840">
                <a:tc>
                  <a:txBody>
                    <a:bodyPr/>
                    <a:lstStyle/>
                    <a:p>
                      <a:pPr algn="just"/>
                      <a:r>
                        <a:rPr lang="en-US" dirty="0">
                          <a:latin typeface="Consolas" panose="020B0609020204030204" pitchFamily="49" charset="0"/>
                        </a:rPr>
                        <a:t>11001000 00010111 00011000 00000000</a:t>
                      </a:r>
                    </a:p>
                    <a:p>
                      <a:pPr algn="just"/>
                      <a:r>
                        <a:rPr lang="en-US" sz="2000" dirty="0" err="1">
                          <a:latin typeface="Consolas" panose="020B0609020204030204" pitchFamily="49" charset="0"/>
                        </a:rPr>
                        <a:t>bis</a:t>
                      </a:r>
                      <a:endParaRPr lang="en-US" sz="2000" dirty="0">
                        <a:latin typeface="Consolas" panose="020B0609020204030204" pitchFamily="49" charset="0"/>
                      </a:endParaRPr>
                    </a:p>
                    <a:p>
                      <a:pPr algn="just"/>
                      <a:r>
                        <a:rPr lang="en-US" dirty="0">
                          <a:latin typeface="Consolas" panose="020B0609020204030204" pitchFamily="49" charset="0"/>
                        </a:rPr>
                        <a:t>11001000 00010111 00011000 11111111 </a:t>
                      </a:r>
                      <a:endParaRPr lang="en-US" dirty="0">
                        <a:latin typeface="Consolas" panose="020B0609020204030204" pitchFamily="49" charset="0"/>
                        <a:cs typeface="Courier New" pitchFamily="49" charset="0"/>
                      </a:endParaRPr>
                    </a:p>
                  </a:txBody>
                  <a:tcPr/>
                </a:tc>
                <a:tc>
                  <a:txBody>
                    <a:bodyPr/>
                    <a:lstStyle/>
                    <a:p>
                      <a:pPr algn="ctr"/>
                      <a:r>
                        <a:rPr lang="de-DE" sz="2400" dirty="0"/>
                        <a:t>1</a:t>
                      </a:r>
                    </a:p>
                  </a:txBody>
                  <a:tcPr anchor="ctr"/>
                </a:tc>
                <a:extLst>
                  <a:ext uri="{0D108BD9-81ED-4DB2-BD59-A6C34878D82A}">
                    <a16:rowId xmlns:a16="http://schemas.microsoft.com/office/drawing/2014/main" val="10002"/>
                  </a:ext>
                </a:extLst>
              </a:tr>
              <a:tr h="370840">
                <a:tc>
                  <a:txBody>
                    <a:bodyPr/>
                    <a:lstStyle/>
                    <a:p>
                      <a:pPr algn="just"/>
                      <a:r>
                        <a:rPr lang="en-US" dirty="0">
                          <a:latin typeface="Consolas" panose="020B0609020204030204" pitchFamily="49" charset="0"/>
                        </a:rPr>
                        <a:t>11001000 00010111 00011001 00000000</a:t>
                      </a:r>
                    </a:p>
                    <a:p>
                      <a:pPr algn="just"/>
                      <a:r>
                        <a:rPr lang="en-US" sz="2000" dirty="0" err="1">
                          <a:latin typeface="Consolas" panose="020B0609020204030204" pitchFamily="49" charset="0"/>
                        </a:rPr>
                        <a:t>bis</a:t>
                      </a:r>
                      <a:endParaRPr lang="en-US" sz="2000" dirty="0">
                        <a:latin typeface="Consolas" panose="020B0609020204030204" pitchFamily="49" charset="0"/>
                      </a:endParaRPr>
                    </a:p>
                    <a:p>
                      <a:pPr algn="just"/>
                      <a:r>
                        <a:rPr lang="en-US" dirty="0">
                          <a:latin typeface="Consolas" panose="020B0609020204030204" pitchFamily="49" charset="0"/>
                        </a:rPr>
                        <a:t>11001000 00010111 00011111 11111111 </a:t>
                      </a:r>
                      <a:endParaRPr lang="en-US" dirty="0">
                        <a:latin typeface="Consolas" panose="020B0609020204030204" pitchFamily="49" charset="0"/>
                        <a:cs typeface="Courier New" pitchFamily="49" charset="0"/>
                      </a:endParaRPr>
                    </a:p>
                  </a:txBody>
                  <a:tcPr/>
                </a:tc>
                <a:tc>
                  <a:txBody>
                    <a:bodyPr/>
                    <a:lstStyle/>
                    <a:p>
                      <a:pPr algn="ctr"/>
                      <a:r>
                        <a:rPr lang="de-DE" sz="2400" dirty="0">
                          <a:solidFill>
                            <a:srgbClr val="FF0000"/>
                          </a:solidFill>
                        </a:rPr>
                        <a:t>2</a:t>
                      </a:r>
                    </a:p>
                  </a:txBody>
                  <a:tcPr anchor="ctr"/>
                </a:tc>
                <a:extLst>
                  <a:ext uri="{0D108BD9-81ED-4DB2-BD59-A6C34878D82A}">
                    <a16:rowId xmlns:a16="http://schemas.microsoft.com/office/drawing/2014/main" val="10003"/>
                  </a:ext>
                </a:extLst>
              </a:tr>
              <a:tr h="370840">
                <a:tc>
                  <a:txBody>
                    <a:bodyPr/>
                    <a:lstStyle/>
                    <a:p>
                      <a:pPr algn="just"/>
                      <a:r>
                        <a:rPr lang="de-DE" dirty="0"/>
                        <a:t>Sonst</a:t>
                      </a:r>
                      <a:endParaRPr lang="en-US" dirty="0">
                        <a:latin typeface="Courier New" pitchFamily="49" charset="0"/>
                        <a:cs typeface="Courier New" pitchFamily="49" charset="0"/>
                      </a:endParaRPr>
                    </a:p>
                  </a:txBody>
                  <a:tcPr/>
                </a:tc>
                <a:tc>
                  <a:txBody>
                    <a:bodyPr/>
                    <a:lstStyle/>
                    <a:p>
                      <a:pPr algn="ctr"/>
                      <a:r>
                        <a:rPr lang="de-DE" sz="2400" dirty="0"/>
                        <a:t>3</a:t>
                      </a:r>
                    </a:p>
                  </a:txBody>
                  <a:tcPr anchor="ctr"/>
                </a:tc>
                <a:extLst>
                  <a:ext uri="{0D108BD9-81ED-4DB2-BD59-A6C34878D82A}">
                    <a16:rowId xmlns:a16="http://schemas.microsoft.com/office/drawing/2014/main" val="10004"/>
                  </a:ext>
                </a:extLst>
              </a:tr>
            </a:tbl>
          </a:graphicData>
        </a:graphic>
      </p:graphicFrame>
      <p:sp>
        <p:nvSpPr>
          <p:cNvPr id="448514" name="Rectangle 2"/>
          <p:cNvSpPr>
            <a:spLocks noGrp="1" noChangeArrowheads="1"/>
          </p:cNvSpPr>
          <p:nvPr>
            <p:ph type="title"/>
          </p:nvPr>
        </p:nvSpPr>
        <p:spPr/>
        <p:txBody>
          <a:bodyPr/>
          <a:lstStyle/>
          <a:p>
            <a:r>
              <a:rPr lang="de-DE" dirty="0"/>
              <a:t>Weiterleitungstabelle</a:t>
            </a:r>
          </a:p>
        </p:txBody>
      </p:sp>
      <p:sp>
        <p:nvSpPr>
          <p:cNvPr id="6" name="Slide Number Placeholder 5"/>
          <p:cNvSpPr>
            <a:spLocks noGrp="1"/>
          </p:cNvSpPr>
          <p:nvPr>
            <p:ph type="sldNum" sz="quarter" idx="12"/>
          </p:nvPr>
        </p:nvSpPr>
        <p:spPr/>
        <p:txBody>
          <a:bodyPr/>
          <a:lstStyle/>
          <a:p>
            <a:fld id="{50D21153-8179-48DC-924A-15B3CB6F1CBB}" type="slidenum">
              <a:rPr lang="de-DE" smtClean="0"/>
              <a:pPr/>
              <a:t>9</a:t>
            </a:fld>
            <a:endParaRPr lang="de-DE"/>
          </a:p>
        </p:txBody>
      </p:sp>
      <p:sp>
        <p:nvSpPr>
          <p:cNvPr id="2" name="Legende mit Linie 2 1"/>
          <p:cNvSpPr/>
          <p:nvPr/>
        </p:nvSpPr>
        <p:spPr>
          <a:xfrm>
            <a:off x="5867012" y="297664"/>
            <a:ext cx="3312368" cy="936104"/>
          </a:xfrm>
          <a:prstGeom prst="borderCallout2">
            <a:avLst>
              <a:gd name="adj1" fmla="val 98343"/>
              <a:gd name="adj2" fmla="val 20295"/>
              <a:gd name="adj3" fmla="val 226117"/>
              <a:gd name="adj4" fmla="val 3294"/>
              <a:gd name="adj5" fmla="val 254172"/>
              <a:gd name="adj6" fmla="val -18713"/>
            </a:avLst>
          </a:prstGeom>
          <a:solidFill>
            <a:schemeClr val="accent2">
              <a:lumMod val="20000"/>
              <a:lumOff val="80000"/>
            </a:schemeClr>
          </a:solidFill>
          <a:ln w="38100"/>
        </p:spPr>
        <p:style>
          <a:lnRef idx="1">
            <a:schemeClr val="accent4"/>
          </a:lnRef>
          <a:fillRef idx="2">
            <a:schemeClr val="accent4"/>
          </a:fillRef>
          <a:effectRef idx="1">
            <a:schemeClr val="accent4"/>
          </a:effectRef>
          <a:fontRef idx="minor">
            <a:schemeClr val="dk1"/>
          </a:fontRef>
        </p:style>
        <p:txBody>
          <a:bodyPr rtlCol="0" anchor="ctr"/>
          <a:lstStyle/>
          <a:p>
            <a:pPr algn="ctr"/>
            <a:r>
              <a:rPr lang="de-DE" sz="2000" dirty="0"/>
              <a:t>Leite diesen Bereich der IP-Adressen an Ausgang </a:t>
            </a:r>
            <a:r>
              <a:rPr lang="de-DE" sz="2000" dirty="0">
                <a:solidFill>
                  <a:srgbClr val="0070C0"/>
                </a:solidFill>
              </a:rPr>
              <a:t>0</a:t>
            </a:r>
          </a:p>
        </p:txBody>
      </p:sp>
      <p:sp>
        <p:nvSpPr>
          <p:cNvPr id="10" name="Legende mit Linie 2 9"/>
          <p:cNvSpPr/>
          <p:nvPr/>
        </p:nvSpPr>
        <p:spPr>
          <a:xfrm>
            <a:off x="5062150" y="5654017"/>
            <a:ext cx="3312368" cy="936104"/>
          </a:xfrm>
          <a:prstGeom prst="borderCallout2">
            <a:avLst>
              <a:gd name="adj1" fmla="val -79"/>
              <a:gd name="adj2" fmla="val 43718"/>
              <a:gd name="adj3" fmla="val -63967"/>
              <a:gd name="adj4" fmla="val 17933"/>
              <a:gd name="adj5" fmla="val -124714"/>
              <a:gd name="adj6" fmla="val 6593"/>
            </a:avLst>
          </a:prstGeom>
          <a:solidFill>
            <a:schemeClr val="accent2">
              <a:lumMod val="20000"/>
              <a:lumOff val="80000"/>
            </a:schemeClr>
          </a:solidFill>
          <a:ln w="38100"/>
        </p:spPr>
        <p:style>
          <a:lnRef idx="1">
            <a:schemeClr val="accent4"/>
          </a:lnRef>
          <a:fillRef idx="2">
            <a:schemeClr val="accent4"/>
          </a:fillRef>
          <a:effectRef idx="1">
            <a:schemeClr val="accent4"/>
          </a:effectRef>
          <a:fontRef idx="minor">
            <a:schemeClr val="dk1"/>
          </a:fontRef>
        </p:style>
        <p:txBody>
          <a:bodyPr rtlCol="0" anchor="ctr"/>
          <a:lstStyle/>
          <a:p>
            <a:pPr algn="ctr"/>
            <a:r>
              <a:rPr lang="de-DE" sz="2000" dirty="0"/>
              <a:t>Leite diesen Bereich der IP-Adressen an Ausgang </a:t>
            </a:r>
            <a:r>
              <a:rPr lang="de-DE" sz="2000" dirty="0">
                <a:solidFill>
                  <a:srgbClr val="FF0000"/>
                </a:solidFill>
              </a:rPr>
              <a:t>2</a:t>
            </a:r>
          </a:p>
        </p:txBody>
      </p:sp>
    </p:spTree>
    <p:extLst>
      <p:ext uri="{BB962C8B-B14F-4D97-AF65-F5344CB8AC3E}">
        <p14:creationId xmlns:p14="http://schemas.microsoft.com/office/powerpoint/2010/main" val="271318357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p:cNvGraphicFramePr>
            <a:graphicFrameLocks noGrp="1"/>
          </p:cNvGraphicFramePr>
          <p:nvPr/>
        </p:nvGraphicFramePr>
        <p:xfrm>
          <a:off x="755576" y="1340768"/>
          <a:ext cx="7618942" cy="2346960"/>
        </p:xfrm>
        <a:graphic>
          <a:graphicData uri="http://schemas.openxmlformats.org/drawingml/2006/table">
            <a:tbl>
              <a:tblPr firstRow="1" bandRow="1">
                <a:tableStyleId>{21E4AEA4-8DFA-4A89-87EB-49C32662AFE0}</a:tableStyleId>
              </a:tblPr>
              <a:tblGrid>
                <a:gridCol w="5401360">
                  <a:extLst>
                    <a:ext uri="{9D8B030D-6E8A-4147-A177-3AD203B41FA5}">
                      <a16:colId xmlns:a16="http://schemas.microsoft.com/office/drawing/2014/main" val="20000"/>
                    </a:ext>
                  </a:extLst>
                </a:gridCol>
                <a:gridCol w="2217582">
                  <a:extLst>
                    <a:ext uri="{9D8B030D-6E8A-4147-A177-3AD203B41FA5}">
                      <a16:colId xmlns:a16="http://schemas.microsoft.com/office/drawing/2014/main" val="20001"/>
                    </a:ext>
                  </a:extLst>
                </a:gridCol>
              </a:tblGrid>
              <a:tr h="0">
                <a:tc>
                  <a:txBody>
                    <a:bodyPr/>
                    <a:lstStyle/>
                    <a:p>
                      <a:r>
                        <a:rPr lang="de-DE" sz="2400" dirty="0"/>
                        <a:t>Intervall der Zieladressen</a:t>
                      </a:r>
                    </a:p>
                  </a:txBody>
                  <a:tcPr/>
                </a:tc>
                <a:tc>
                  <a:txBody>
                    <a:bodyPr/>
                    <a:lstStyle/>
                    <a:p>
                      <a:pPr algn="ctr"/>
                      <a:r>
                        <a:rPr lang="de-DE" sz="2400" dirty="0"/>
                        <a:t>Ausgang</a:t>
                      </a:r>
                    </a:p>
                  </a:txBody>
                  <a:tcPr/>
                </a:tc>
                <a:extLst>
                  <a:ext uri="{0D108BD9-81ED-4DB2-BD59-A6C34878D82A}">
                    <a16:rowId xmlns:a16="http://schemas.microsoft.com/office/drawing/2014/main" val="10000"/>
                  </a:ext>
                </a:extLst>
              </a:tr>
              <a:tr h="370840">
                <a:tc>
                  <a:txBody>
                    <a:bodyPr/>
                    <a:lstStyle/>
                    <a:p>
                      <a:pPr algn="just"/>
                      <a:r>
                        <a:rPr lang="en-US" dirty="0">
                          <a:latin typeface="Consolas" panose="020B0609020204030204" pitchFamily="49" charset="0"/>
                        </a:rPr>
                        <a:t>11001000 00010111 00010000 00000000</a:t>
                      </a:r>
                    </a:p>
                    <a:p>
                      <a:pPr algn="just"/>
                      <a:r>
                        <a:rPr lang="en-US" sz="2000" dirty="0" err="1">
                          <a:latin typeface="Consolas" panose="020B0609020204030204" pitchFamily="49" charset="0"/>
                        </a:rPr>
                        <a:t>bis</a:t>
                      </a:r>
                      <a:endParaRPr lang="en-US" sz="2000" dirty="0">
                        <a:latin typeface="Consolas" panose="020B0609020204030204" pitchFamily="49" charset="0"/>
                      </a:endParaRPr>
                    </a:p>
                    <a:p>
                      <a:pPr algn="just"/>
                      <a:r>
                        <a:rPr lang="en-US" dirty="0">
                          <a:latin typeface="Consolas" panose="020B0609020204030204" pitchFamily="49" charset="0"/>
                        </a:rPr>
                        <a:t>11001000 00010111 00010111 11111111</a:t>
                      </a:r>
                      <a:endParaRPr lang="en-US" dirty="0">
                        <a:latin typeface="Consolas" panose="020B0609020204030204" pitchFamily="49" charset="0"/>
                        <a:cs typeface="Courier New" pitchFamily="49" charset="0"/>
                      </a:endParaRPr>
                    </a:p>
                  </a:txBody>
                  <a:tcPr/>
                </a:tc>
                <a:tc>
                  <a:txBody>
                    <a:bodyPr/>
                    <a:lstStyle/>
                    <a:p>
                      <a:pPr algn="ctr"/>
                      <a:r>
                        <a:rPr lang="de-DE" sz="2400" dirty="0"/>
                        <a:t>0</a:t>
                      </a:r>
                    </a:p>
                  </a:txBody>
                  <a:tcPr anchor="ctr"/>
                </a:tc>
                <a:extLst>
                  <a:ext uri="{0D108BD9-81ED-4DB2-BD59-A6C34878D82A}">
                    <a16:rowId xmlns:a16="http://schemas.microsoft.com/office/drawing/2014/main" val="10001"/>
                  </a:ext>
                </a:extLst>
              </a:tr>
              <a:tr h="370840">
                <a:tc>
                  <a:txBody>
                    <a:bodyPr/>
                    <a:lstStyle/>
                    <a:p>
                      <a:pPr algn="just"/>
                      <a:r>
                        <a:rPr lang="en-US" dirty="0">
                          <a:solidFill>
                            <a:srgbClr val="7030A0"/>
                          </a:solidFill>
                          <a:latin typeface="Consolas" panose="020B0609020204030204" pitchFamily="49" charset="0"/>
                        </a:rPr>
                        <a:t>11001000 00010111 00011000 00000000</a:t>
                      </a:r>
                    </a:p>
                    <a:p>
                      <a:pPr algn="just"/>
                      <a:r>
                        <a:rPr lang="en-US" sz="2000" dirty="0" err="1">
                          <a:latin typeface="Consolas" panose="020B0609020204030204" pitchFamily="49" charset="0"/>
                        </a:rPr>
                        <a:t>bis</a:t>
                      </a:r>
                      <a:endParaRPr lang="en-US" sz="2000" dirty="0">
                        <a:latin typeface="Consolas" panose="020B0609020204030204" pitchFamily="49" charset="0"/>
                      </a:endParaRPr>
                    </a:p>
                    <a:p>
                      <a:pPr algn="just"/>
                      <a:r>
                        <a:rPr lang="en-US" dirty="0">
                          <a:solidFill>
                            <a:srgbClr val="FF0000"/>
                          </a:solidFill>
                          <a:latin typeface="Consolas" panose="020B0609020204030204" pitchFamily="49" charset="0"/>
                        </a:rPr>
                        <a:t>11001000 00010111 00011000 11111111 </a:t>
                      </a:r>
                      <a:endParaRPr lang="en-US" dirty="0">
                        <a:solidFill>
                          <a:srgbClr val="FF0000"/>
                        </a:solidFill>
                        <a:latin typeface="Consolas" panose="020B0609020204030204" pitchFamily="49" charset="0"/>
                        <a:cs typeface="Courier New" pitchFamily="49" charset="0"/>
                      </a:endParaRPr>
                    </a:p>
                  </a:txBody>
                  <a:tcPr/>
                </a:tc>
                <a:tc>
                  <a:txBody>
                    <a:bodyPr/>
                    <a:lstStyle/>
                    <a:p>
                      <a:pPr algn="ctr"/>
                      <a:r>
                        <a:rPr lang="de-DE" sz="2400" dirty="0"/>
                        <a:t>1</a:t>
                      </a:r>
                    </a:p>
                  </a:txBody>
                  <a:tcPr anchor="ctr"/>
                </a:tc>
                <a:extLst>
                  <a:ext uri="{0D108BD9-81ED-4DB2-BD59-A6C34878D82A}">
                    <a16:rowId xmlns:a16="http://schemas.microsoft.com/office/drawing/2014/main" val="10002"/>
                  </a:ext>
                </a:extLst>
              </a:tr>
            </a:tbl>
          </a:graphicData>
        </a:graphic>
      </p:graphicFrame>
      <p:sp>
        <p:nvSpPr>
          <p:cNvPr id="448514" name="Rectangle 2"/>
          <p:cNvSpPr>
            <a:spLocks noGrp="1" noChangeArrowheads="1"/>
          </p:cNvSpPr>
          <p:nvPr>
            <p:ph type="title"/>
          </p:nvPr>
        </p:nvSpPr>
        <p:spPr/>
        <p:txBody>
          <a:bodyPr/>
          <a:lstStyle/>
          <a:p>
            <a:r>
              <a:rPr lang="de-DE" dirty="0"/>
              <a:t>Weiterleitungstabelle – Kompakt /1</a:t>
            </a:r>
          </a:p>
        </p:txBody>
      </p:sp>
      <p:sp>
        <p:nvSpPr>
          <p:cNvPr id="6" name="Slide Number Placeholder 5"/>
          <p:cNvSpPr>
            <a:spLocks noGrp="1"/>
          </p:cNvSpPr>
          <p:nvPr>
            <p:ph type="sldNum" sz="quarter" idx="12"/>
          </p:nvPr>
        </p:nvSpPr>
        <p:spPr/>
        <p:txBody>
          <a:bodyPr/>
          <a:lstStyle/>
          <a:p>
            <a:fld id="{50D21153-8179-48DC-924A-15B3CB6F1CBB}" type="slidenum">
              <a:rPr lang="de-DE" smtClean="0"/>
              <a:pPr/>
              <a:t>10</a:t>
            </a:fld>
            <a:endParaRPr lang="de-DE"/>
          </a:p>
        </p:txBody>
      </p:sp>
      <p:sp>
        <p:nvSpPr>
          <p:cNvPr id="9" name="Content Placeholder 8"/>
          <p:cNvSpPr>
            <a:spLocks noGrp="1"/>
          </p:cNvSpPr>
          <p:nvPr>
            <p:ph sz="quarter" idx="13"/>
          </p:nvPr>
        </p:nvSpPr>
        <p:spPr>
          <a:xfrm>
            <a:off x="399032" y="4347410"/>
            <a:ext cx="8493447" cy="1889902"/>
          </a:xfrm>
        </p:spPr>
        <p:txBody>
          <a:bodyPr>
            <a:noAutofit/>
          </a:bodyPr>
          <a:lstStyle/>
          <a:p>
            <a:r>
              <a:rPr lang="de-DE" dirty="0"/>
              <a:t>Wie können wir die linke Spalte </a:t>
            </a:r>
            <a:r>
              <a:rPr lang="de-DE" u="sng" dirty="0"/>
              <a:t>kompakt</a:t>
            </a:r>
            <a:r>
              <a:rPr lang="de-DE" dirty="0"/>
              <a:t> kodieren?</a:t>
            </a:r>
          </a:p>
          <a:p>
            <a:r>
              <a:rPr lang="de-DE" dirty="0"/>
              <a:t>Wie können wir z.B. bei B die (</a:t>
            </a:r>
            <a:r>
              <a:rPr lang="de-DE" dirty="0">
                <a:solidFill>
                  <a:srgbClr val="7030A0"/>
                </a:solidFill>
              </a:rPr>
              <a:t>Adressen-Untergrenze</a:t>
            </a:r>
            <a:r>
              <a:rPr lang="de-DE" dirty="0"/>
              <a:t>, </a:t>
            </a:r>
            <a:r>
              <a:rPr lang="de-DE" dirty="0">
                <a:solidFill>
                  <a:srgbClr val="FF0000"/>
                </a:solidFill>
              </a:rPr>
              <a:t>Adressen-Obergrenze</a:t>
            </a:r>
            <a:r>
              <a:rPr lang="de-DE" dirty="0"/>
              <a:t>) durch </a:t>
            </a:r>
            <a:r>
              <a:rPr lang="de-DE" u="sng" dirty="0"/>
              <a:t>einen</a:t>
            </a:r>
            <a:r>
              <a:rPr lang="de-DE" dirty="0"/>
              <a:t> Eintrag ersetzen?</a:t>
            </a:r>
          </a:p>
        </p:txBody>
      </p:sp>
      <p:sp>
        <p:nvSpPr>
          <p:cNvPr id="3" name="Abgerundetes Rechteck 2"/>
          <p:cNvSpPr/>
          <p:nvPr/>
        </p:nvSpPr>
        <p:spPr>
          <a:xfrm>
            <a:off x="114497" y="1934527"/>
            <a:ext cx="569072" cy="576064"/>
          </a:xfrm>
          <a:prstGeom prst="roundRect">
            <a:avLst/>
          </a:prstGeom>
          <a:ln/>
        </p:spPr>
        <p:style>
          <a:lnRef idx="1">
            <a:schemeClr val="accent2"/>
          </a:lnRef>
          <a:fillRef idx="2">
            <a:schemeClr val="accent2"/>
          </a:fillRef>
          <a:effectRef idx="1">
            <a:schemeClr val="accent2"/>
          </a:effectRef>
          <a:fontRef idx="minor">
            <a:schemeClr val="dk1"/>
          </a:fontRef>
        </p:style>
        <p:txBody>
          <a:bodyPr rtlCol="0" anchor="ctr"/>
          <a:lstStyle/>
          <a:p>
            <a:pPr algn="ctr"/>
            <a:r>
              <a:rPr lang="en-US" sz="3200" dirty="0"/>
              <a:t>A</a:t>
            </a:r>
          </a:p>
        </p:txBody>
      </p:sp>
      <p:sp>
        <p:nvSpPr>
          <p:cNvPr id="8" name="Abgerundetes Rechteck 7"/>
          <p:cNvSpPr/>
          <p:nvPr/>
        </p:nvSpPr>
        <p:spPr>
          <a:xfrm>
            <a:off x="114497" y="2862064"/>
            <a:ext cx="569072" cy="576064"/>
          </a:xfrm>
          <a:prstGeom prst="roundRect">
            <a:avLst/>
          </a:prstGeom>
          <a:ln/>
        </p:spPr>
        <p:style>
          <a:lnRef idx="1">
            <a:schemeClr val="accent2"/>
          </a:lnRef>
          <a:fillRef idx="2">
            <a:schemeClr val="accent2"/>
          </a:fillRef>
          <a:effectRef idx="1">
            <a:schemeClr val="accent2"/>
          </a:effectRef>
          <a:fontRef idx="minor">
            <a:schemeClr val="dk1"/>
          </a:fontRef>
        </p:style>
        <p:txBody>
          <a:bodyPr rtlCol="0" anchor="ctr"/>
          <a:lstStyle/>
          <a:p>
            <a:pPr algn="ctr"/>
            <a:r>
              <a:rPr lang="en-US" sz="3200" dirty="0"/>
              <a:t>B</a:t>
            </a:r>
          </a:p>
        </p:txBody>
      </p:sp>
    </p:spTree>
    <p:extLst>
      <p:ext uri="{BB962C8B-B14F-4D97-AF65-F5344CB8AC3E}">
        <p14:creationId xmlns:p14="http://schemas.microsoft.com/office/powerpoint/2010/main" val="287167075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p:cNvGraphicFramePr>
            <a:graphicFrameLocks noGrp="1"/>
          </p:cNvGraphicFramePr>
          <p:nvPr/>
        </p:nvGraphicFramePr>
        <p:xfrm>
          <a:off x="755576" y="1340768"/>
          <a:ext cx="7618942" cy="2346960"/>
        </p:xfrm>
        <a:graphic>
          <a:graphicData uri="http://schemas.openxmlformats.org/drawingml/2006/table">
            <a:tbl>
              <a:tblPr firstRow="1" bandRow="1">
                <a:tableStyleId>{21E4AEA4-8DFA-4A89-87EB-49C32662AFE0}</a:tableStyleId>
              </a:tblPr>
              <a:tblGrid>
                <a:gridCol w="5401360">
                  <a:extLst>
                    <a:ext uri="{9D8B030D-6E8A-4147-A177-3AD203B41FA5}">
                      <a16:colId xmlns:a16="http://schemas.microsoft.com/office/drawing/2014/main" val="20000"/>
                    </a:ext>
                  </a:extLst>
                </a:gridCol>
                <a:gridCol w="2217582">
                  <a:extLst>
                    <a:ext uri="{9D8B030D-6E8A-4147-A177-3AD203B41FA5}">
                      <a16:colId xmlns:a16="http://schemas.microsoft.com/office/drawing/2014/main" val="20001"/>
                    </a:ext>
                  </a:extLst>
                </a:gridCol>
              </a:tblGrid>
              <a:tr h="0">
                <a:tc>
                  <a:txBody>
                    <a:bodyPr/>
                    <a:lstStyle/>
                    <a:p>
                      <a:r>
                        <a:rPr lang="de-DE" sz="2400" dirty="0"/>
                        <a:t>Intervall der Zieladressen</a:t>
                      </a:r>
                    </a:p>
                  </a:txBody>
                  <a:tcPr/>
                </a:tc>
                <a:tc>
                  <a:txBody>
                    <a:bodyPr/>
                    <a:lstStyle/>
                    <a:p>
                      <a:pPr algn="ctr"/>
                      <a:r>
                        <a:rPr lang="de-DE" sz="2400" dirty="0"/>
                        <a:t>Ausgang</a:t>
                      </a:r>
                    </a:p>
                  </a:txBody>
                  <a:tcPr/>
                </a:tc>
                <a:extLst>
                  <a:ext uri="{0D108BD9-81ED-4DB2-BD59-A6C34878D82A}">
                    <a16:rowId xmlns:a16="http://schemas.microsoft.com/office/drawing/2014/main" val="10000"/>
                  </a:ext>
                </a:extLst>
              </a:tr>
              <a:tr h="370840">
                <a:tc>
                  <a:txBody>
                    <a:bodyPr/>
                    <a:lstStyle/>
                    <a:p>
                      <a:pPr algn="just"/>
                      <a:r>
                        <a:rPr lang="en-US" dirty="0">
                          <a:latin typeface="Consolas" panose="020B0609020204030204" pitchFamily="49" charset="0"/>
                        </a:rPr>
                        <a:t>11001000 00010111 00010000 00000000</a:t>
                      </a:r>
                    </a:p>
                    <a:p>
                      <a:pPr algn="just"/>
                      <a:r>
                        <a:rPr lang="en-US" sz="2000" dirty="0" err="1">
                          <a:latin typeface="Consolas" panose="020B0609020204030204" pitchFamily="49" charset="0"/>
                        </a:rPr>
                        <a:t>bis</a:t>
                      </a:r>
                      <a:endParaRPr lang="en-US" sz="2000" dirty="0">
                        <a:latin typeface="Consolas" panose="020B0609020204030204" pitchFamily="49" charset="0"/>
                      </a:endParaRPr>
                    </a:p>
                    <a:p>
                      <a:pPr algn="just"/>
                      <a:r>
                        <a:rPr lang="en-US" dirty="0">
                          <a:latin typeface="Consolas" panose="020B0609020204030204" pitchFamily="49" charset="0"/>
                        </a:rPr>
                        <a:t>11001000 00010111 00010111 11111111</a:t>
                      </a:r>
                      <a:endParaRPr lang="en-US" dirty="0">
                        <a:latin typeface="Consolas" panose="020B0609020204030204" pitchFamily="49" charset="0"/>
                        <a:cs typeface="Courier New" pitchFamily="49" charset="0"/>
                      </a:endParaRPr>
                    </a:p>
                  </a:txBody>
                  <a:tcPr/>
                </a:tc>
                <a:tc>
                  <a:txBody>
                    <a:bodyPr/>
                    <a:lstStyle/>
                    <a:p>
                      <a:pPr algn="ctr"/>
                      <a:r>
                        <a:rPr lang="de-DE" sz="2400" dirty="0"/>
                        <a:t>0</a:t>
                      </a:r>
                    </a:p>
                  </a:txBody>
                  <a:tcPr anchor="ctr"/>
                </a:tc>
                <a:extLst>
                  <a:ext uri="{0D108BD9-81ED-4DB2-BD59-A6C34878D82A}">
                    <a16:rowId xmlns:a16="http://schemas.microsoft.com/office/drawing/2014/main" val="10001"/>
                  </a:ext>
                </a:extLst>
              </a:tr>
              <a:tr h="370840">
                <a:tc>
                  <a:txBody>
                    <a:bodyPr/>
                    <a:lstStyle/>
                    <a:p>
                      <a:pPr algn="just"/>
                      <a:r>
                        <a:rPr lang="en-US" b="1" dirty="0">
                          <a:solidFill>
                            <a:srgbClr val="FF0000"/>
                          </a:solidFill>
                          <a:latin typeface="Consolas" panose="020B0609020204030204" pitchFamily="49" charset="0"/>
                        </a:rPr>
                        <a:t>11001000 00010111 00011000 </a:t>
                      </a:r>
                      <a:r>
                        <a:rPr lang="en-US" dirty="0">
                          <a:solidFill>
                            <a:srgbClr val="0070C0"/>
                          </a:solidFill>
                          <a:latin typeface="Consolas" panose="020B0609020204030204" pitchFamily="49" charset="0"/>
                        </a:rPr>
                        <a:t>00000000</a:t>
                      </a:r>
                    </a:p>
                    <a:p>
                      <a:pPr algn="just"/>
                      <a:r>
                        <a:rPr lang="en-US" sz="2000" dirty="0" err="1">
                          <a:latin typeface="Consolas" panose="020B0609020204030204" pitchFamily="49" charset="0"/>
                        </a:rPr>
                        <a:t>bis</a:t>
                      </a:r>
                      <a:endParaRPr lang="en-US" sz="2000" dirty="0">
                        <a:latin typeface="Consolas" panose="020B0609020204030204" pitchFamily="49" charset="0"/>
                      </a:endParaRPr>
                    </a:p>
                    <a:p>
                      <a:pPr algn="just"/>
                      <a:r>
                        <a:rPr lang="en-US" b="1" dirty="0">
                          <a:solidFill>
                            <a:srgbClr val="FF0000"/>
                          </a:solidFill>
                          <a:latin typeface="Consolas" panose="020B0609020204030204" pitchFamily="49" charset="0"/>
                        </a:rPr>
                        <a:t>11001000 00010111 00011000 </a:t>
                      </a:r>
                      <a:r>
                        <a:rPr lang="en-US" dirty="0">
                          <a:solidFill>
                            <a:srgbClr val="0070C0"/>
                          </a:solidFill>
                          <a:latin typeface="Consolas" panose="020B0609020204030204" pitchFamily="49" charset="0"/>
                        </a:rPr>
                        <a:t>11111111 </a:t>
                      </a:r>
                      <a:endParaRPr lang="en-US" dirty="0">
                        <a:solidFill>
                          <a:srgbClr val="0070C0"/>
                        </a:solidFill>
                        <a:latin typeface="Consolas" panose="020B0609020204030204" pitchFamily="49" charset="0"/>
                        <a:cs typeface="Courier New" pitchFamily="49" charset="0"/>
                      </a:endParaRPr>
                    </a:p>
                  </a:txBody>
                  <a:tcPr/>
                </a:tc>
                <a:tc>
                  <a:txBody>
                    <a:bodyPr/>
                    <a:lstStyle/>
                    <a:p>
                      <a:pPr algn="ctr"/>
                      <a:r>
                        <a:rPr lang="de-DE" sz="2400" dirty="0"/>
                        <a:t>1</a:t>
                      </a:r>
                    </a:p>
                  </a:txBody>
                  <a:tcPr anchor="ctr"/>
                </a:tc>
                <a:extLst>
                  <a:ext uri="{0D108BD9-81ED-4DB2-BD59-A6C34878D82A}">
                    <a16:rowId xmlns:a16="http://schemas.microsoft.com/office/drawing/2014/main" val="10002"/>
                  </a:ext>
                </a:extLst>
              </a:tr>
            </a:tbl>
          </a:graphicData>
        </a:graphic>
      </p:graphicFrame>
      <p:sp>
        <p:nvSpPr>
          <p:cNvPr id="448514" name="Rectangle 2"/>
          <p:cNvSpPr>
            <a:spLocks noGrp="1" noChangeArrowheads="1"/>
          </p:cNvSpPr>
          <p:nvPr>
            <p:ph type="title"/>
          </p:nvPr>
        </p:nvSpPr>
        <p:spPr/>
        <p:txBody>
          <a:bodyPr/>
          <a:lstStyle/>
          <a:p>
            <a:r>
              <a:rPr lang="de-DE" dirty="0"/>
              <a:t>Weiterleitungstabelle – Kompakt /2</a:t>
            </a:r>
          </a:p>
        </p:txBody>
      </p:sp>
      <p:sp>
        <p:nvSpPr>
          <p:cNvPr id="6" name="Slide Number Placeholder 5"/>
          <p:cNvSpPr>
            <a:spLocks noGrp="1"/>
          </p:cNvSpPr>
          <p:nvPr>
            <p:ph type="sldNum" sz="quarter" idx="12"/>
          </p:nvPr>
        </p:nvSpPr>
        <p:spPr/>
        <p:txBody>
          <a:bodyPr/>
          <a:lstStyle/>
          <a:p>
            <a:fld id="{50D21153-8179-48DC-924A-15B3CB6F1CBB}" type="slidenum">
              <a:rPr lang="de-DE" smtClean="0"/>
              <a:pPr/>
              <a:t>11</a:t>
            </a:fld>
            <a:endParaRPr lang="de-DE"/>
          </a:p>
        </p:txBody>
      </p:sp>
      <p:sp>
        <p:nvSpPr>
          <p:cNvPr id="9" name="Content Placeholder 8"/>
          <p:cNvSpPr>
            <a:spLocks noGrp="1"/>
          </p:cNvSpPr>
          <p:nvPr>
            <p:ph sz="quarter" idx="13"/>
          </p:nvPr>
        </p:nvSpPr>
        <p:spPr>
          <a:xfrm>
            <a:off x="399032" y="3933056"/>
            <a:ext cx="8744968" cy="2808312"/>
          </a:xfrm>
        </p:spPr>
        <p:txBody>
          <a:bodyPr>
            <a:noAutofit/>
          </a:bodyPr>
          <a:lstStyle/>
          <a:p>
            <a:r>
              <a:rPr lang="de-DE" dirty="0"/>
              <a:t>Wie kann man mit nur </a:t>
            </a:r>
            <a:r>
              <a:rPr lang="de-DE" u="sng" dirty="0"/>
              <a:t>einem</a:t>
            </a:r>
            <a:r>
              <a:rPr lang="de-DE" dirty="0"/>
              <a:t> Eintrag auskommen?</a:t>
            </a:r>
          </a:p>
          <a:p>
            <a:r>
              <a:rPr lang="de-DE" dirty="0"/>
              <a:t>Bei B: die „blauen“ Bits sind für Weiterleitung irrelevant </a:t>
            </a:r>
          </a:p>
          <a:p>
            <a:r>
              <a:rPr lang="de-DE" dirty="0"/>
              <a:t>=&gt; Behalte für B nur </a:t>
            </a:r>
            <a:r>
              <a:rPr lang="de-DE" u="sng" dirty="0"/>
              <a:t>einen</a:t>
            </a:r>
            <a:r>
              <a:rPr lang="de-DE" dirty="0"/>
              <a:t> Eintrag in der Form:</a:t>
            </a:r>
          </a:p>
          <a:p>
            <a:pPr lvl="1"/>
            <a:r>
              <a:rPr lang="en-US" b="1" dirty="0">
                <a:solidFill>
                  <a:srgbClr val="FF0000"/>
                </a:solidFill>
                <a:latin typeface="Consolas" panose="020B0609020204030204" pitchFamily="49" charset="0"/>
              </a:rPr>
              <a:t>11001000 00010111 00011000 </a:t>
            </a:r>
            <a:r>
              <a:rPr lang="en-US" dirty="0">
                <a:solidFill>
                  <a:srgbClr val="0070C0"/>
                </a:solidFill>
                <a:latin typeface="Consolas" panose="020B0609020204030204" pitchFamily="49" charset="0"/>
              </a:rPr>
              <a:t>********</a:t>
            </a:r>
          </a:p>
        </p:txBody>
      </p:sp>
      <p:sp>
        <p:nvSpPr>
          <p:cNvPr id="3" name="Abgerundetes Rechteck 2"/>
          <p:cNvSpPr/>
          <p:nvPr/>
        </p:nvSpPr>
        <p:spPr>
          <a:xfrm>
            <a:off x="114497" y="1934527"/>
            <a:ext cx="569072" cy="576064"/>
          </a:xfrm>
          <a:prstGeom prst="roundRect">
            <a:avLst/>
          </a:prstGeom>
          <a:ln/>
        </p:spPr>
        <p:style>
          <a:lnRef idx="1">
            <a:schemeClr val="accent2"/>
          </a:lnRef>
          <a:fillRef idx="2">
            <a:schemeClr val="accent2"/>
          </a:fillRef>
          <a:effectRef idx="1">
            <a:schemeClr val="accent2"/>
          </a:effectRef>
          <a:fontRef idx="minor">
            <a:schemeClr val="dk1"/>
          </a:fontRef>
        </p:style>
        <p:txBody>
          <a:bodyPr rtlCol="0" anchor="ctr"/>
          <a:lstStyle/>
          <a:p>
            <a:pPr algn="ctr"/>
            <a:r>
              <a:rPr lang="en-US" sz="3200" dirty="0"/>
              <a:t>A</a:t>
            </a:r>
          </a:p>
        </p:txBody>
      </p:sp>
      <p:sp>
        <p:nvSpPr>
          <p:cNvPr id="8" name="Abgerundetes Rechteck 7"/>
          <p:cNvSpPr/>
          <p:nvPr/>
        </p:nvSpPr>
        <p:spPr>
          <a:xfrm>
            <a:off x="114497" y="2862064"/>
            <a:ext cx="569072" cy="576064"/>
          </a:xfrm>
          <a:prstGeom prst="roundRect">
            <a:avLst/>
          </a:prstGeom>
          <a:ln/>
        </p:spPr>
        <p:style>
          <a:lnRef idx="1">
            <a:schemeClr val="accent2"/>
          </a:lnRef>
          <a:fillRef idx="2">
            <a:schemeClr val="accent2"/>
          </a:fillRef>
          <a:effectRef idx="1">
            <a:schemeClr val="accent2"/>
          </a:effectRef>
          <a:fontRef idx="minor">
            <a:schemeClr val="dk1"/>
          </a:fontRef>
        </p:style>
        <p:txBody>
          <a:bodyPr rtlCol="0" anchor="ctr"/>
          <a:lstStyle/>
          <a:p>
            <a:pPr algn="ctr"/>
            <a:r>
              <a:rPr lang="en-US" sz="3200" dirty="0"/>
              <a:t>B</a:t>
            </a:r>
          </a:p>
        </p:txBody>
      </p:sp>
      <p:sp>
        <p:nvSpPr>
          <p:cNvPr id="10" name="Rectangle 1">
            <a:extLst>
              <a:ext uri="{FF2B5EF4-FFF2-40B4-BE49-F238E27FC236}">
                <a16:creationId xmlns:a16="http://schemas.microsoft.com/office/drawing/2014/main" id="{B217C724-6DF1-400B-8685-335375C5A7CC}"/>
              </a:ext>
            </a:extLst>
          </p:cNvPr>
          <p:cNvSpPr/>
          <p:nvPr/>
        </p:nvSpPr>
        <p:spPr>
          <a:xfrm>
            <a:off x="6392926" y="170061"/>
            <a:ext cx="2751074" cy="461665"/>
          </a:xfrm>
          <a:prstGeom prst="rect">
            <a:avLst/>
          </a:prstGeom>
        </p:spPr>
        <p:txBody>
          <a:bodyPr wrap="none">
            <a:spAutoFit/>
          </a:bodyPr>
          <a:lstStyle/>
          <a:p>
            <a:r>
              <a:rPr lang="en-US" sz="2400" dirty="0">
                <a:highlight>
                  <a:srgbClr val="00FF00"/>
                </a:highlight>
              </a:rPr>
              <a:t>https://bit.ly/ibn_hd</a:t>
            </a:r>
            <a:endParaRPr lang="en-US" sz="2400" dirty="0"/>
          </a:p>
        </p:txBody>
      </p:sp>
    </p:spTree>
    <p:extLst>
      <p:ext uri="{BB962C8B-B14F-4D97-AF65-F5344CB8AC3E}">
        <p14:creationId xmlns:p14="http://schemas.microsoft.com/office/powerpoint/2010/main" val="3281463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Effect transition="in" filter="fade">
                                      <p:cBhvr>
                                        <p:cTn id="7" dur="500"/>
                                        <p:tgtEl>
                                          <p:spTgt spid="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9">
                                            <p:txEl>
                                              <p:pRg st="1" end="1"/>
                                            </p:txEl>
                                          </p:spTgt>
                                        </p:tgtEl>
                                        <p:attrNameLst>
                                          <p:attrName>style.visibility</p:attrName>
                                        </p:attrNameLst>
                                      </p:cBhvr>
                                      <p:to>
                                        <p:strVal val="visible"/>
                                      </p:to>
                                    </p:set>
                                    <p:animEffect transition="in" filter="fade">
                                      <p:cBhvr>
                                        <p:cTn id="12" dur="500"/>
                                        <p:tgtEl>
                                          <p:spTgt spid="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9">
                                            <p:txEl>
                                              <p:pRg st="2" end="2"/>
                                            </p:txEl>
                                          </p:spTgt>
                                        </p:tgtEl>
                                        <p:attrNameLst>
                                          <p:attrName>style.visibility</p:attrName>
                                        </p:attrNameLst>
                                      </p:cBhvr>
                                      <p:to>
                                        <p:strVal val="visible"/>
                                      </p:to>
                                    </p:set>
                                    <p:animEffect transition="in" filter="fade">
                                      <p:cBhvr>
                                        <p:cTn id="17" dur="500"/>
                                        <p:tgtEl>
                                          <p:spTgt spid="9">
                                            <p:txEl>
                                              <p:pRg st="2" end="2"/>
                                            </p:txEl>
                                          </p:spTgt>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9">
                                            <p:txEl>
                                              <p:pRg st="3" end="3"/>
                                            </p:txEl>
                                          </p:spTgt>
                                        </p:tgtEl>
                                        <p:attrNameLst>
                                          <p:attrName>style.visibility</p:attrName>
                                        </p:attrNameLst>
                                      </p:cBhvr>
                                      <p:to>
                                        <p:strVal val="visible"/>
                                      </p:to>
                                    </p:set>
                                    <p:animEffect transition="in" filter="fade">
                                      <p:cBhvr>
                                        <p:cTn id="20" dur="500"/>
                                        <p:tgtEl>
                                          <p:spTgt spid="9">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9538" name="Rectangle 2"/>
          <p:cNvSpPr>
            <a:spLocks noGrp="1" noChangeArrowheads="1"/>
          </p:cNvSpPr>
          <p:nvPr>
            <p:ph type="title"/>
          </p:nvPr>
        </p:nvSpPr>
        <p:spPr/>
        <p:txBody>
          <a:bodyPr/>
          <a:lstStyle/>
          <a:p>
            <a:r>
              <a:rPr lang="de-DE" dirty="0"/>
              <a:t>Weiterleitungstabelle – Kompakt/3: Präfixe</a:t>
            </a:r>
          </a:p>
        </p:txBody>
      </p:sp>
      <p:sp>
        <p:nvSpPr>
          <p:cNvPr id="12" name="Slide Number Placeholder 5"/>
          <p:cNvSpPr>
            <a:spLocks noGrp="1"/>
          </p:cNvSpPr>
          <p:nvPr>
            <p:ph type="sldNum" sz="quarter" idx="12"/>
          </p:nvPr>
        </p:nvSpPr>
        <p:spPr/>
        <p:txBody>
          <a:bodyPr/>
          <a:lstStyle/>
          <a:p>
            <a:fld id="{13A0C86C-89D7-4356-B940-D47C37348220}" type="slidenum">
              <a:rPr lang="en-US" smtClean="0"/>
              <a:pPr/>
              <a:t>12</a:t>
            </a:fld>
            <a:endParaRPr lang="en-US" dirty="0"/>
          </a:p>
        </p:txBody>
      </p:sp>
      <p:sp>
        <p:nvSpPr>
          <p:cNvPr id="3" name="Content Placeholder 2"/>
          <p:cNvSpPr>
            <a:spLocks noGrp="1"/>
          </p:cNvSpPr>
          <p:nvPr>
            <p:ph sz="quarter" idx="1"/>
          </p:nvPr>
        </p:nvSpPr>
        <p:spPr>
          <a:xfrm>
            <a:off x="457200" y="1219200"/>
            <a:ext cx="8229600" cy="1777752"/>
          </a:xfrm>
        </p:spPr>
        <p:txBody>
          <a:bodyPr>
            <a:normAutofit/>
          </a:bodyPr>
          <a:lstStyle/>
          <a:p>
            <a:r>
              <a:rPr lang="de-DE" dirty="0"/>
              <a:t>Wir kodieren also Adress-Intervalle durch </a:t>
            </a:r>
            <a:r>
              <a:rPr lang="de-DE" b="1" dirty="0">
                <a:solidFill>
                  <a:srgbClr val="FF0000"/>
                </a:solidFill>
              </a:rPr>
              <a:t>Präfixe </a:t>
            </a:r>
          </a:p>
          <a:p>
            <a:r>
              <a:rPr lang="de-DE" b="1" dirty="0">
                <a:solidFill>
                  <a:srgbClr val="FF0000"/>
                </a:solidFill>
              </a:rPr>
              <a:t>Präfix </a:t>
            </a:r>
            <a:r>
              <a:rPr lang="de-DE" dirty="0"/>
              <a:t>= </a:t>
            </a:r>
            <a:r>
              <a:rPr lang="de-DE" dirty="0">
                <a:solidFill>
                  <a:srgbClr val="0070C0"/>
                </a:solidFill>
              </a:rPr>
              <a:t>k obere Stellen einer IP-Adresse, die in der unteren und oberen Adr.-Grenzen übereinstimmen</a:t>
            </a:r>
          </a:p>
        </p:txBody>
      </p:sp>
      <p:graphicFrame>
        <p:nvGraphicFramePr>
          <p:cNvPr id="16" name="Table 15"/>
          <p:cNvGraphicFramePr>
            <a:graphicFrameLocks noGrp="1"/>
          </p:cNvGraphicFramePr>
          <p:nvPr/>
        </p:nvGraphicFramePr>
        <p:xfrm>
          <a:off x="611560" y="3144376"/>
          <a:ext cx="8362722" cy="3017520"/>
        </p:xfrm>
        <a:graphic>
          <a:graphicData uri="http://schemas.openxmlformats.org/drawingml/2006/table">
            <a:tbl>
              <a:tblPr firstRow="1" bandRow="1">
                <a:tableStyleId>{21E4AEA4-8DFA-4A89-87EB-49C32662AFE0}</a:tableStyleId>
              </a:tblPr>
              <a:tblGrid>
                <a:gridCol w="4249908">
                  <a:extLst>
                    <a:ext uri="{9D8B030D-6E8A-4147-A177-3AD203B41FA5}">
                      <a16:colId xmlns:a16="http://schemas.microsoft.com/office/drawing/2014/main" val="20000"/>
                    </a:ext>
                  </a:extLst>
                </a:gridCol>
                <a:gridCol w="4112814">
                  <a:extLst>
                    <a:ext uri="{9D8B030D-6E8A-4147-A177-3AD203B41FA5}">
                      <a16:colId xmlns:a16="http://schemas.microsoft.com/office/drawing/2014/main" val="20001"/>
                    </a:ext>
                  </a:extLst>
                </a:gridCol>
              </a:tblGrid>
              <a:tr h="0">
                <a:tc>
                  <a:txBody>
                    <a:bodyPr/>
                    <a:lstStyle/>
                    <a:p>
                      <a:r>
                        <a:rPr lang="de-DE" sz="2400" dirty="0"/>
                        <a:t>Bereich der Zieladressen</a:t>
                      </a:r>
                    </a:p>
                  </a:txBody>
                  <a:tcPr/>
                </a:tc>
                <a:tc>
                  <a:txBody>
                    <a:bodyPr/>
                    <a:lstStyle/>
                    <a:p>
                      <a:pPr algn="ctr"/>
                      <a:r>
                        <a:rPr lang="de-DE" sz="2400" dirty="0"/>
                        <a:t>Präfix?</a:t>
                      </a:r>
                    </a:p>
                  </a:txBody>
                  <a:tcPr/>
                </a:tc>
                <a:extLst>
                  <a:ext uri="{0D108BD9-81ED-4DB2-BD59-A6C34878D82A}">
                    <a16:rowId xmlns:a16="http://schemas.microsoft.com/office/drawing/2014/main" val="10000"/>
                  </a:ext>
                </a:extLst>
              </a:tr>
              <a:tr h="370840">
                <a:tc>
                  <a:txBody>
                    <a:bodyPr/>
                    <a:lstStyle/>
                    <a:p>
                      <a:pPr algn="just"/>
                      <a:r>
                        <a:rPr lang="en-US" sz="1600" dirty="0">
                          <a:solidFill>
                            <a:srgbClr val="FF0000"/>
                          </a:solidFill>
                          <a:latin typeface="Consolas" panose="020B0609020204030204" pitchFamily="49" charset="0"/>
                        </a:rPr>
                        <a:t>11001000 00010111 00010</a:t>
                      </a:r>
                      <a:r>
                        <a:rPr lang="en-US" sz="1600" dirty="0">
                          <a:latin typeface="Consolas" panose="020B0609020204030204" pitchFamily="49" charset="0"/>
                        </a:rPr>
                        <a:t>000 00000000</a:t>
                      </a:r>
                    </a:p>
                    <a:p>
                      <a:pPr algn="just"/>
                      <a:r>
                        <a:rPr lang="en-US" sz="1800" dirty="0" err="1">
                          <a:latin typeface="Consolas" panose="020B0609020204030204" pitchFamily="49" charset="0"/>
                        </a:rPr>
                        <a:t>bis</a:t>
                      </a:r>
                      <a:endParaRPr lang="en-US" sz="1800" dirty="0">
                        <a:latin typeface="Consolas" panose="020B0609020204030204" pitchFamily="49" charset="0"/>
                      </a:endParaRPr>
                    </a:p>
                    <a:p>
                      <a:pPr algn="just"/>
                      <a:r>
                        <a:rPr lang="en-US" sz="1600" dirty="0">
                          <a:solidFill>
                            <a:srgbClr val="FF0000"/>
                          </a:solidFill>
                          <a:latin typeface="Consolas" panose="020B0609020204030204" pitchFamily="49" charset="0"/>
                        </a:rPr>
                        <a:t>11001000 00010111 00010</a:t>
                      </a:r>
                      <a:r>
                        <a:rPr lang="en-US" sz="1600" dirty="0">
                          <a:latin typeface="Consolas" panose="020B0609020204030204" pitchFamily="49" charset="0"/>
                        </a:rPr>
                        <a:t>111 11111111</a:t>
                      </a:r>
                      <a:endParaRPr lang="en-US" sz="1600" dirty="0">
                        <a:latin typeface="Consolas" panose="020B0609020204030204" pitchFamily="49" charset="0"/>
                        <a:cs typeface="Courier New" pitchFamily="49" charset="0"/>
                      </a:endParaRPr>
                    </a:p>
                  </a:txBody>
                  <a:tcPr/>
                </a:tc>
                <a:tc>
                  <a:txBody>
                    <a:bodyPr/>
                    <a:lstStyle/>
                    <a:p>
                      <a:pPr algn="ctr"/>
                      <a:endParaRPr lang="de-DE" sz="2400" dirty="0"/>
                    </a:p>
                  </a:txBody>
                  <a:tcPr anchor="ctr"/>
                </a:tc>
                <a:extLst>
                  <a:ext uri="{0D108BD9-81ED-4DB2-BD59-A6C34878D82A}">
                    <a16:rowId xmlns:a16="http://schemas.microsoft.com/office/drawing/2014/main" val="10001"/>
                  </a:ext>
                </a:extLst>
              </a:tr>
              <a:tr h="370840">
                <a:tc>
                  <a:txBody>
                    <a:bodyPr/>
                    <a:lstStyle/>
                    <a:p>
                      <a:pPr algn="just"/>
                      <a:r>
                        <a:rPr lang="en-US" sz="1600" dirty="0">
                          <a:solidFill>
                            <a:srgbClr val="FF0000"/>
                          </a:solidFill>
                          <a:latin typeface="Consolas" panose="020B0609020204030204" pitchFamily="49" charset="0"/>
                        </a:rPr>
                        <a:t>11001000 00010111 00011000 </a:t>
                      </a:r>
                      <a:r>
                        <a:rPr lang="en-US" sz="1600" dirty="0">
                          <a:latin typeface="Consolas" panose="020B0609020204030204" pitchFamily="49" charset="0"/>
                        </a:rPr>
                        <a:t>00000000</a:t>
                      </a:r>
                    </a:p>
                    <a:p>
                      <a:pPr algn="just"/>
                      <a:r>
                        <a:rPr lang="en-US" sz="1800" dirty="0" err="1">
                          <a:latin typeface="Consolas" panose="020B0609020204030204" pitchFamily="49" charset="0"/>
                        </a:rPr>
                        <a:t>bis</a:t>
                      </a:r>
                      <a:endParaRPr lang="en-US" sz="1800" dirty="0">
                        <a:latin typeface="Consolas" panose="020B0609020204030204" pitchFamily="49" charset="0"/>
                      </a:endParaRPr>
                    </a:p>
                    <a:p>
                      <a:pPr algn="just"/>
                      <a:r>
                        <a:rPr lang="en-US" sz="1600" dirty="0">
                          <a:solidFill>
                            <a:srgbClr val="FF0000"/>
                          </a:solidFill>
                          <a:latin typeface="Consolas" panose="020B0609020204030204" pitchFamily="49" charset="0"/>
                        </a:rPr>
                        <a:t>11001000 00010111 00011000 </a:t>
                      </a:r>
                      <a:r>
                        <a:rPr lang="en-US" sz="1600" dirty="0">
                          <a:latin typeface="Consolas" panose="020B0609020204030204" pitchFamily="49" charset="0"/>
                        </a:rPr>
                        <a:t>11111111 </a:t>
                      </a:r>
                      <a:endParaRPr lang="en-US" sz="1600" dirty="0">
                        <a:latin typeface="Consolas" panose="020B0609020204030204" pitchFamily="49" charset="0"/>
                        <a:cs typeface="Courier New" pitchFamily="49" charset="0"/>
                      </a:endParaRPr>
                    </a:p>
                  </a:txBody>
                  <a:tcPr/>
                </a:tc>
                <a:tc>
                  <a:txBody>
                    <a:bodyPr/>
                    <a:lstStyle/>
                    <a:p>
                      <a:pPr algn="ctr"/>
                      <a:endParaRPr lang="de-DE" sz="2400" dirty="0"/>
                    </a:p>
                  </a:txBody>
                  <a:tcPr anchor="ctr"/>
                </a:tc>
                <a:extLst>
                  <a:ext uri="{0D108BD9-81ED-4DB2-BD59-A6C34878D82A}">
                    <a16:rowId xmlns:a16="http://schemas.microsoft.com/office/drawing/2014/main" val="10002"/>
                  </a:ext>
                </a:extLst>
              </a:tr>
              <a:tr h="370840">
                <a:tc>
                  <a:txBody>
                    <a:bodyPr/>
                    <a:lstStyle/>
                    <a:p>
                      <a:pPr algn="just"/>
                      <a:r>
                        <a:rPr lang="en-US" sz="1600" dirty="0">
                          <a:latin typeface="Consolas" panose="020B0609020204030204" pitchFamily="49" charset="0"/>
                        </a:rPr>
                        <a:t>11001000 00010111 00011001 00000000</a:t>
                      </a:r>
                    </a:p>
                    <a:p>
                      <a:pPr algn="just"/>
                      <a:r>
                        <a:rPr lang="en-US" sz="1800" dirty="0" err="1">
                          <a:latin typeface="Consolas" panose="020B0609020204030204" pitchFamily="49" charset="0"/>
                        </a:rPr>
                        <a:t>bis</a:t>
                      </a:r>
                      <a:endParaRPr lang="en-US" sz="1800" dirty="0">
                        <a:latin typeface="Consolas" panose="020B0609020204030204" pitchFamily="49" charset="0"/>
                      </a:endParaRPr>
                    </a:p>
                    <a:p>
                      <a:pPr algn="just"/>
                      <a:r>
                        <a:rPr lang="en-US" sz="1600" dirty="0">
                          <a:latin typeface="Consolas" panose="020B0609020204030204" pitchFamily="49" charset="0"/>
                        </a:rPr>
                        <a:t>11001000 00010111 00011111 11111111 </a:t>
                      </a:r>
                      <a:endParaRPr lang="en-US" sz="1600" dirty="0">
                        <a:latin typeface="Consolas" panose="020B0609020204030204" pitchFamily="49" charset="0"/>
                        <a:cs typeface="Courier New" pitchFamily="49" charset="0"/>
                      </a:endParaRPr>
                    </a:p>
                  </a:txBody>
                  <a:tcPr/>
                </a:tc>
                <a:tc>
                  <a:txBody>
                    <a:bodyPr/>
                    <a:lstStyle/>
                    <a:p>
                      <a:pPr algn="ctr"/>
                      <a:endParaRPr lang="de-DE" sz="2400" dirty="0"/>
                    </a:p>
                  </a:txBody>
                  <a:tcPr anchor="ctr"/>
                </a:tc>
                <a:extLst>
                  <a:ext uri="{0D108BD9-81ED-4DB2-BD59-A6C34878D82A}">
                    <a16:rowId xmlns:a16="http://schemas.microsoft.com/office/drawing/2014/main" val="10003"/>
                  </a:ext>
                </a:extLst>
              </a:tr>
            </a:tbl>
          </a:graphicData>
        </a:graphic>
      </p:graphicFrame>
      <p:sp>
        <p:nvSpPr>
          <p:cNvPr id="5" name="TextBox 4"/>
          <p:cNvSpPr txBox="1"/>
          <p:nvPr/>
        </p:nvSpPr>
        <p:spPr>
          <a:xfrm>
            <a:off x="5004048" y="3789040"/>
            <a:ext cx="3816424" cy="400110"/>
          </a:xfrm>
          <a:prstGeom prst="rect">
            <a:avLst/>
          </a:prstGeom>
          <a:noFill/>
        </p:spPr>
        <p:txBody>
          <a:bodyPr wrap="square" rtlCol="0">
            <a:spAutoFit/>
          </a:bodyPr>
          <a:lstStyle/>
          <a:p>
            <a:r>
              <a:rPr lang="en-US" sz="2000" b="1" dirty="0">
                <a:latin typeface="Consolas" panose="020B0609020204030204" pitchFamily="49" charset="0"/>
                <a:cs typeface="Courier New" pitchFamily="49" charset="0"/>
              </a:rPr>
              <a:t>11001000 00010111 00010</a:t>
            </a:r>
            <a:endParaRPr lang="de-DE" sz="2000" b="1" dirty="0">
              <a:latin typeface="Consolas" panose="020B0609020204030204" pitchFamily="49" charset="0"/>
            </a:endParaRPr>
          </a:p>
        </p:txBody>
      </p:sp>
      <p:sp>
        <p:nvSpPr>
          <p:cNvPr id="18" name="TextBox 17"/>
          <p:cNvSpPr txBox="1"/>
          <p:nvPr/>
        </p:nvSpPr>
        <p:spPr>
          <a:xfrm>
            <a:off x="5004048" y="4653136"/>
            <a:ext cx="3816424" cy="400110"/>
          </a:xfrm>
          <a:prstGeom prst="rect">
            <a:avLst/>
          </a:prstGeom>
          <a:noFill/>
        </p:spPr>
        <p:txBody>
          <a:bodyPr wrap="square" rtlCol="0">
            <a:spAutoFit/>
          </a:bodyPr>
          <a:lstStyle/>
          <a:p>
            <a:r>
              <a:rPr lang="en-US" sz="2000" b="1" dirty="0">
                <a:latin typeface="Consolas" panose="020B0609020204030204" pitchFamily="49" charset="0"/>
                <a:cs typeface="Courier New" pitchFamily="49" charset="0"/>
              </a:rPr>
              <a:t>11001000 00010111 00011000</a:t>
            </a:r>
            <a:endParaRPr lang="de-DE" sz="2000" b="1" dirty="0">
              <a:latin typeface="Consolas" panose="020B0609020204030204" pitchFamily="49" charset="0"/>
            </a:endParaRPr>
          </a:p>
        </p:txBody>
      </p:sp>
      <p:sp>
        <p:nvSpPr>
          <p:cNvPr id="10" name="TextBox 17"/>
          <p:cNvSpPr txBox="1"/>
          <p:nvPr/>
        </p:nvSpPr>
        <p:spPr>
          <a:xfrm>
            <a:off x="5004048" y="5517232"/>
            <a:ext cx="3816424" cy="400110"/>
          </a:xfrm>
          <a:prstGeom prst="rect">
            <a:avLst/>
          </a:prstGeom>
          <a:noFill/>
        </p:spPr>
        <p:txBody>
          <a:bodyPr wrap="square" rtlCol="0">
            <a:spAutoFit/>
          </a:bodyPr>
          <a:lstStyle/>
          <a:p>
            <a:r>
              <a:rPr lang="en-US" sz="2000" b="1" dirty="0">
                <a:latin typeface="Consolas" panose="020B0609020204030204" pitchFamily="49" charset="0"/>
                <a:cs typeface="Courier New" pitchFamily="49" charset="0"/>
              </a:rPr>
              <a:t>11001000 00010111 00011</a:t>
            </a:r>
            <a:endParaRPr lang="de-DE" sz="2000" b="1" dirty="0">
              <a:latin typeface="Consolas" panose="020B0609020204030204" pitchFamily="49" charset="0"/>
            </a:endParaRPr>
          </a:p>
        </p:txBody>
      </p:sp>
    </p:spTree>
    <p:extLst>
      <p:ext uri="{BB962C8B-B14F-4D97-AF65-F5344CB8AC3E}">
        <p14:creationId xmlns:p14="http://schemas.microsoft.com/office/powerpoint/2010/main" val="27189759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18" grpId="0"/>
      <p:bldP spid="10"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9538" name="Rectangle 2"/>
          <p:cNvSpPr>
            <a:spLocks noGrp="1" noChangeArrowheads="1"/>
          </p:cNvSpPr>
          <p:nvPr>
            <p:ph type="title"/>
          </p:nvPr>
        </p:nvSpPr>
        <p:spPr/>
        <p:txBody>
          <a:bodyPr/>
          <a:lstStyle/>
          <a:p>
            <a:r>
              <a:rPr lang="de-DE" dirty="0"/>
              <a:t>Weiterleitungstabelle – Kompakt/4: Präfixe</a:t>
            </a:r>
          </a:p>
        </p:txBody>
      </p:sp>
      <p:sp>
        <p:nvSpPr>
          <p:cNvPr id="12" name="Slide Number Placeholder 5"/>
          <p:cNvSpPr>
            <a:spLocks noGrp="1"/>
          </p:cNvSpPr>
          <p:nvPr>
            <p:ph type="sldNum" sz="quarter" idx="12"/>
          </p:nvPr>
        </p:nvSpPr>
        <p:spPr/>
        <p:txBody>
          <a:bodyPr/>
          <a:lstStyle/>
          <a:p>
            <a:fld id="{13A0C86C-89D7-4356-B940-D47C37348220}" type="slidenum">
              <a:rPr lang="en-US" smtClean="0"/>
              <a:pPr/>
              <a:t>13</a:t>
            </a:fld>
            <a:endParaRPr lang="en-US" dirty="0"/>
          </a:p>
        </p:txBody>
      </p:sp>
      <p:sp>
        <p:nvSpPr>
          <p:cNvPr id="3" name="Content Placeholder 2"/>
          <p:cNvSpPr>
            <a:spLocks noGrp="1"/>
          </p:cNvSpPr>
          <p:nvPr>
            <p:ph sz="quarter" idx="1"/>
          </p:nvPr>
        </p:nvSpPr>
        <p:spPr>
          <a:xfrm>
            <a:off x="457200" y="1219200"/>
            <a:ext cx="8229600" cy="1777752"/>
          </a:xfrm>
        </p:spPr>
        <p:txBody>
          <a:bodyPr>
            <a:normAutofit/>
          </a:bodyPr>
          <a:lstStyle/>
          <a:p>
            <a:r>
              <a:rPr lang="de-DE" b="1" dirty="0">
                <a:solidFill>
                  <a:srgbClr val="FF0000"/>
                </a:solidFill>
              </a:rPr>
              <a:t>Präfix </a:t>
            </a:r>
            <a:r>
              <a:rPr lang="de-DE" dirty="0"/>
              <a:t>= </a:t>
            </a:r>
            <a:r>
              <a:rPr lang="de-DE" dirty="0">
                <a:solidFill>
                  <a:srgbClr val="0070C0"/>
                </a:solidFill>
              </a:rPr>
              <a:t>k obere Stellen einer IP-Adresse, die in der unteren und oberen Adr.-Grenzen übereinstimmen</a:t>
            </a:r>
            <a:endParaRPr lang="de-DE" dirty="0"/>
          </a:p>
          <a:p>
            <a:r>
              <a:rPr lang="de-DE" dirty="0"/>
              <a:t>Unsere Weiterleitungstabelle sieht dann so aus:</a:t>
            </a:r>
          </a:p>
        </p:txBody>
      </p:sp>
      <p:graphicFrame>
        <p:nvGraphicFramePr>
          <p:cNvPr id="11" name="Table 1"/>
          <p:cNvGraphicFramePr>
            <a:graphicFrameLocks noGrp="1"/>
          </p:cNvGraphicFramePr>
          <p:nvPr/>
        </p:nvGraphicFramePr>
        <p:xfrm>
          <a:off x="1043608" y="2995673"/>
          <a:ext cx="6912768" cy="2286000"/>
        </p:xfrm>
        <a:graphic>
          <a:graphicData uri="http://schemas.openxmlformats.org/drawingml/2006/table">
            <a:tbl>
              <a:tblPr firstRow="1" bandRow="1">
                <a:tableStyleId>{21E4AEA4-8DFA-4A89-87EB-49C32662AFE0}</a:tableStyleId>
              </a:tblPr>
              <a:tblGrid>
                <a:gridCol w="5275532">
                  <a:extLst>
                    <a:ext uri="{9D8B030D-6E8A-4147-A177-3AD203B41FA5}">
                      <a16:colId xmlns:a16="http://schemas.microsoft.com/office/drawing/2014/main" val="20000"/>
                    </a:ext>
                  </a:extLst>
                </a:gridCol>
                <a:gridCol w="1637236">
                  <a:extLst>
                    <a:ext uri="{9D8B030D-6E8A-4147-A177-3AD203B41FA5}">
                      <a16:colId xmlns:a16="http://schemas.microsoft.com/office/drawing/2014/main" val="20001"/>
                    </a:ext>
                  </a:extLst>
                </a:gridCol>
              </a:tblGrid>
              <a:tr h="396240">
                <a:tc>
                  <a:txBody>
                    <a:bodyPr/>
                    <a:lstStyle/>
                    <a:p>
                      <a:r>
                        <a:rPr lang="de-DE" sz="2400" dirty="0"/>
                        <a:t>Präfix</a:t>
                      </a:r>
                      <a:endParaRPr lang="de-DE" sz="2400" dirty="0">
                        <a:latin typeface="+mj-lt"/>
                      </a:endParaRPr>
                    </a:p>
                  </a:txBody>
                  <a:tcPr/>
                </a:tc>
                <a:tc>
                  <a:txBody>
                    <a:bodyPr/>
                    <a:lstStyle/>
                    <a:p>
                      <a:r>
                        <a:rPr lang="de-DE" sz="2400" dirty="0"/>
                        <a:t>Ausgang</a:t>
                      </a:r>
                      <a:endParaRPr lang="de-DE" sz="2400" dirty="0">
                        <a:latin typeface="+mj-lt"/>
                      </a:endParaRPr>
                    </a:p>
                  </a:txBody>
                  <a:tcPr/>
                </a:tc>
                <a:extLst>
                  <a:ext uri="{0D108BD9-81ED-4DB2-BD59-A6C34878D82A}">
                    <a16:rowId xmlns:a16="http://schemas.microsoft.com/office/drawing/2014/main" val="10000"/>
                  </a:ext>
                </a:extLst>
              </a:tr>
              <a:tr h="370840">
                <a:tc>
                  <a:txBody>
                    <a:bodyPr/>
                    <a:lstStyle/>
                    <a:p>
                      <a:r>
                        <a:rPr lang="en-US" sz="2400" dirty="0">
                          <a:latin typeface="Consolas" panose="020B0609020204030204" pitchFamily="49" charset="0"/>
                        </a:rPr>
                        <a:t>11001000 00010111 00010 </a:t>
                      </a:r>
                      <a:endParaRPr lang="de-DE" sz="2400" dirty="0">
                        <a:latin typeface="Consolas" panose="020B0609020204030204" pitchFamily="49" charset="0"/>
                      </a:endParaRPr>
                    </a:p>
                  </a:txBody>
                  <a:tcPr/>
                </a:tc>
                <a:tc>
                  <a:txBody>
                    <a:bodyPr/>
                    <a:lstStyle/>
                    <a:p>
                      <a:r>
                        <a:rPr lang="de-DE" sz="2400" dirty="0"/>
                        <a:t>0</a:t>
                      </a:r>
                      <a:endParaRPr lang="de-DE" sz="2400" dirty="0">
                        <a:latin typeface="+mj-lt"/>
                      </a:endParaRPr>
                    </a:p>
                  </a:txBody>
                  <a:tcPr/>
                </a:tc>
                <a:extLst>
                  <a:ext uri="{0D108BD9-81ED-4DB2-BD59-A6C34878D82A}">
                    <a16:rowId xmlns:a16="http://schemas.microsoft.com/office/drawing/2014/main" val="10001"/>
                  </a:ext>
                </a:extLst>
              </a:tr>
              <a:tr h="370840">
                <a:tc>
                  <a:txBody>
                    <a:bodyPr/>
                    <a:lstStyle/>
                    <a:p>
                      <a:r>
                        <a:rPr lang="en-US" sz="2400" dirty="0">
                          <a:latin typeface="Consolas" panose="020B0609020204030204" pitchFamily="49" charset="0"/>
                        </a:rPr>
                        <a:t>11001000 00010111 00011000 </a:t>
                      </a:r>
                      <a:endParaRPr lang="de-DE" sz="2400" dirty="0">
                        <a:latin typeface="Consolas" panose="020B0609020204030204" pitchFamily="49" charset="0"/>
                      </a:endParaRPr>
                    </a:p>
                  </a:txBody>
                  <a:tcPr/>
                </a:tc>
                <a:tc>
                  <a:txBody>
                    <a:bodyPr/>
                    <a:lstStyle/>
                    <a:p>
                      <a:r>
                        <a:rPr lang="de-DE" sz="2400" dirty="0"/>
                        <a:t>1</a:t>
                      </a:r>
                      <a:endParaRPr lang="de-DE" sz="2400" dirty="0">
                        <a:latin typeface="+mj-lt"/>
                      </a:endParaRPr>
                    </a:p>
                  </a:txBody>
                  <a:tcPr/>
                </a:tc>
                <a:extLst>
                  <a:ext uri="{0D108BD9-81ED-4DB2-BD59-A6C34878D82A}">
                    <a16:rowId xmlns:a16="http://schemas.microsoft.com/office/drawing/2014/main" val="10002"/>
                  </a:ext>
                </a:extLst>
              </a:tr>
              <a:tr h="370840">
                <a:tc>
                  <a:txBody>
                    <a:bodyPr/>
                    <a:lstStyle/>
                    <a:p>
                      <a:r>
                        <a:rPr lang="en-US" sz="2400" dirty="0">
                          <a:latin typeface="Consolas" panose="020B0609020204030204" pitchFamily="49" charset="0"/>
                        </a:rPr>
                        <a:t>11001000 00010111 00011 </a:t>
                      </a:r>
                      <a:endParaRPr lang="de-DE" sz="2400" dirty="0">
                        <a:latin typeface="Consolas" panose="020B0609020204030204" pitchFamily="49" charset="0"/>
                      </a:endParaRPr>
                    </a:p>
                  </a:txBody>
                  <a:tcPr/>
                </a:tc>
                <a:tc>
                  <a:txBody>
                    <a:bodyPr/>
                    <a:lstStyle/>
                    <a:p>
                      <a:r>
                        <a:rPr lang="de-DE" sz="2400" dirty="0"/>
                        <a:t>2</a:t>
                      </a:r>
                      <a:endParaRPr lang="de-DE" sz="2400" dirty="0">
                        <a:latin typeface="+mj-lt"/>
                      </a:endParaRPr>
                    </a:p>
                  </a:txBody>
                  <a:tcPr/>
                </a:tc>
                <a:extLst>
                  <a:ext uri="{0D108BD9-81ED-4DB2-BD59-A6C34878D82A}">
                    <a16:rowId xmlns:a16="http://schemas.microsoft.com/office/drawing/2014/main" val="10003"/>
                  </a:ext>
                </a:extLst>
              </a:tr>
              <a:tr h="370840">
                <a:tc>
                  <a:txBody>
                    <a:bodyPr/>
                    <a:lstStyle/>
                    <a:p>
                      <a:r>
                        <a:rPr lang="de-DE" sz="2400" dirty="0"/>
                        <a:t>sonst</a:t>
                      </a:r>
                      <a:endParaRPr lang="de-DE" sz="2400" dirty="0">
                        <a:latin typeface="+mj-lt"/>
                      </a:endParaRPr>
                    </a:p>
                  </a:txBody>
                  <a:tcPr/>
                </a:tc>
                <a:tc>
                  <a:txBody>
                    <a:bodyPr/>
                    <a:lstStyle/>
                    <a:p>
                      <a:r>
                        <a:rPr lang="de-DE" sz="2400" dirty="0"/>
                        <a:t>3</a:t>
                      </a:r>
                      <a:endParaRPr lang="de-DE" sz="2400" dirty="0">
                        <a:latin typeface="+mj-lt"/>
                      </a:endParaRPr>
                    </a:p>
                  </a:txBody>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382270156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nummernplatzhalter 1"/>
          <p:cNvSpPr>
            <a:spLocks noGrp="1"/>
          </p:cNvSpPr>
          <p:nvPr>
            <p:ph type="sldNum" sz="quarter" idx="12"/>
          </p:nvPr>
        </p:nvSpPr>
        <p:spPr/>
        <p:txBody>
          <a:bodyPr/>
          <a:lstStyle/>
          <a:p>
            <a:fld id="{6C6AE60A-B69C-4790-82F7-3882EDF23186}" type="slidenum">
              <a:rPr lang="de-DE" smtClean="0"/>
              <a:pPr/>
              <a:t>14</a:t>
            </a:fld>
            <a:endParaRPr lang="de-DE" dirty="0"/>
          </a:p>
        </p:txBody>
      </p:sp>
      <p:sp>
        <p:nvSpPr>
          <p:cNvPr id="3" name="Titel 2"/>
          <p:cNvSpPr>
            <a:spLocks noGrp="1"/>
          </p:cNvSpPr>
          <p:nvPr>
            <p:ph type="title"/>
          </p:nvPr>
        </p:nvSpPr>
        <p:spPr>
          <a:xfrm>
            <a:off x="971600" y="2348880"/>
            <a:ext cx="7200800" cy="2376264"/>
          </a:xfrm>
        </p:spPr>
        <p:txBody>
          <a:bodyPr>
            <a:normAutofit/>
          </a:bodyPr>
          <a:lstStyle/>
          <a:p>
            <a:pPr lvl="1" algn="ctr" rtl="0">
              <a:spcBef>
                <a:spcPct val="0"/>
              </a:spcBef>
            </a:pPr>
            <a:r>
              <a:rPr lang="de-DE" sz="4000" dirty="0"/>
              <a:t>Router:</a:t>
            </a:r>
            <a:br>
              <a:rPr lang="de-DE" sz="4000" dirty="0"/>
            </a:br>
            <a:r>
              <a:rPr lang="de-DE" sz="4000" dirty="0" err="1"/>
              <a:t>Longest-Prefix-Matching</a:t>
            </a:r>
            <a:endParaRPr lang="de-DE" sz="4000" dirty="0"/>
          </a:p>
        </p:txBody>
      </p:sp>
    </p:spTree>
    <p:extLst>
      <p:ext uri="{BB962C8B-B14F-4D97-AF65-F5344CB8AC3E}">
        <p14:creationId xmlns:p14="http://schemas.microsoft.com/office/powerpoint/2010/main" val="115666951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de-DE" dirty="0"/>
              <a:t>Präfixlänge und Subnetzgröße</a:t>
            </a:r>
          </a:p>
        </p:txBody>
      </p:sp>
      <p:sp>
        <p:nvSpPr>
          <p:cNvPr id="3" name="Slide Number Placeholder 2"/>
          <p:cNvSpPr>
            <a:spLocks noGrp="1"/>
          </p:cNvSpPr>
          <p:nvPr>
            <p:ph type="sldNum" sz="quarter" idx="12"/>
          </p:nvPr>
        </p:nvSpPr>
        <p:spPr/>
        <p:txBody>
          <a:bodyPr/>
          <a:lstStyle/>
          <a:p>
            <a:fld id="{7183533A-8A50-4A1F-BEA9-C8C6956451EB}" type="slidenum">
              <a:rPr lang="en-US" noProof="0" smtClean="0"/>
              <a:pPr/>
              <a:t>15</a:t>
            </a:fld>
            <a:endParaRPr lang="en-US" noProof="0" dirty="0"/>
          </a:p>
        </p:txBody>
      </p:sp>
      <p:sp>
        <p:nvSpPr>
          <p:cNvPr id="6" name="Content Placeholder 5"/>
          <p:cNvSpPr>
            <a:spLocks noGrp="1"/>
          </p:cNvSpPr>
          <p:nvPr>
            <p:ph sz="quarter" idx="1"/>
          </p:nvPr>
        </p:nvSpPr>
        <p:spPr>
          <a:xfrm>
            <a:off x="457200" y="1219200"/>
            <a:ext cx="8363272" cy="3145904"/>
          </a:xfrm>
        </p:spPr>
        <p:txBody>
          <a:bodyPr>
            <a:normAutofit/>
          </a:bodyPr>
          <a:lstStyle/>
          <a:p>
            <a:r>
              <a:rPr lang="de-DE" dirty="0"/>
              <a:t>Die Weiterleitungstabelle besteht aus solchen </a:t>
            </a:r>
            <a:r>
              <a:rPr lang="de-DE" dirty="0">
                <a:solidFill>
                  <a:srgbClr val="0070C0"/>
                </a:solidFill>
              </a:rPr>
              <a:t>Präfixen</a:t>
            </a:r>
            <a:r>
              <a:rPr lang="de-DE" dirty="0"/>
              <a:t> und den zugehörigen Ausgängen</a:t>
            </a:r>
          </a:p>
          <a:p>
            <a:r>
              <a:rPr lang="de-DE" u="sng" dirty="0"/>
              <a:t>Job des Routes</a:t>
            </a:r>
            <a:r>
              <a:rPr lang="de-DE" dirty="0"/>
              <a:t>: für jede Zieladresse wird ein passender Präfix gefunden und das Paket an den zugehörigen Ausgang weitergeleitet</a:t>
            </a:r>
          </a:p>
          <a:p>
            <a:r>
              <a:rPr lang="de-DE" dirty="0"/>
              <a:t>Wenn Präfix P die Länge k hat, wie viele IP-Adressen leitet der Router an den Ausgang zu P?</a:t>
            </a:r>
          </a:p>
        </p:txBody>
      </p:sp>
      <p:sp>
        <p:nvSpPr>
          <p:cNvPr id="7" name="Content Placeholder 6"/>
          <p:cNvSpPr>
            <a:spLocks noGrp="1"/>
          </p:cNvSpPr>
          <p:nvPr>
            <p:ph sz="quarter" idx="13"/>
          </p:nvPr>
        </p:nvSpPr>
        <p:spPr>
          <a:xfrm>
            <a:off x="467544" y="4365104"/>
            <a:ext cx="8352928" cy="2304256"/>
          </a:xfrm>
        </p:spPr>
        <p:txBody>
          <a:bodyPr>
            <a:normAutofit/>
          </a:bodyPr>
          <a:lstStyle/>
          <a:p>
            <a:r>
              <a:rPr lang="de-DE" dirty="0"/>
              <a:t>Router leitet N = 2</a:t>
            </a:r>
            <a:r>
              <a:rPr lang="de-DE" baseline="30000" dirty="0"/>
              <a:t>(32-k)</a:t>
            </a:r>
            <a:r>
              <a:rPr lang="de-DE" dirty="0"/>
              <a:t> verschiedene Adressen an diesen Ausgang</a:t>
            </a:r>
          </a:p>
          <a:p>
            <a:pPr lvl="1"/>
            <a:r>
              <a:rPr lang="de-DE" dirty="0"/>
              <a:t>Davon sind i.A. nur N-2 benutzbar</a:t>
            </a:r>
          </a:p>
          <a:p>
            <a:r>
              <a:rPr lang="de-DE" dirty="0"/>
              <a:t>Aber muss N eine Zweierpotenz sein? Gleich …</a:t>
            </a:r>
          </a:p>
        </p:txBody>
      </p:sp>
    </p:spTree>
    <p:extLst>
      <p:ext uri="{BB962C8B-B14F-4D97-AF65-F5344CB8AC3E}">
        <p14:creationId xmlns:p14="http://schemas.microsoft.com/office/powerpoint/2010/main" val="18130011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2000"/>
                                        <p:tgtEl>
                                          <p:spTgt spid="7">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7">
                                            <p:txEl>
                                              <p:pRg st="1" end="1"/>
                                            </p:txEl>
                                          </p:spTgt>
                                        </p:tgtEl>
                                        <p:attrNameLst>
                                          <p:attrName>style.visibility</p:attrName>
                                        </p:attrNameLst>
                                      </p:cBhvr>
                                      <p:to>
                                        <p:strVal val="visible"/>
                                      </p:to>
                                    </p:set>
                                    <p:animEffect transition="in" filter="fade">
                                      <p:cBhvr>
                                        <p:cTn id="10" dur="2000"/>
                                        <p:tgtEl>
                                          <p:spTgt spid="7">
                                            <p:txEl>
                                              <p:pRg st="1" end="1"/>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xEl>
                                              <p:pRg st="2" end="2"/>
                                            </p:txEl>
                                          </p:spTgt>
                                        </p:tgtEl>
                                        <p:attrNameLst>
                                          <p:attrName>style.visibility</p:attrName>
                                        </p:attrNameLst>
                                      </p:cBhvr>
                                      <p:to>
                                        <p:strVal val="visible"/>
                                      </p:to>
                                    </p:set>
                                    <p:animEffect transition="in" filter="fade">
                                      <p:cBhvr>
                                        <p:cTn id="13" dur="2000"/>
                                        <p:tgtEl>
                                          <p:spTgt spid="7">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allAtOnce"/>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9538" name="Rectangle 2"/>
          <p:cNvSpPr>
            <a:spLocks noGrp="1" noChangeArrowheads="1"/>
          </p:cNvSpPr>
          <p:nvPr>
            <p:ph type="title"/>
          </p:nvPr>
        </p:nvSpPr>
        <p:spPr/>
        <p:txBody>
          <a:bodyPr/>
          <a:lstStyle/>
          <a:p>
            <a:r>
              <a:rPr lang="en-US" dirty="0"/>
              <a:t>Longest-Prefix-Matching</a:t>
            </a:r>
          </a:p>
        </p:txBody>
      </p:sp>
      <p:sp>
        <p:nvSpPr>
          <p:cNvPr id="12" name="Slide Number Placeholder 5"/>
          <p:cNvSpPr>
            <a:spLocks noGrp="1"/>
          </p:cNvSpPr>
          <p:nvPr>
            <p:ph type="sldNum" sz="quarter" idx="12"/>
          </p:nvPr>
        </p:nvSpPr>
        <p:spPr/>
        <p:txBody>
          <a:bodyPr/>
          <a:lstStyle/>
          <a:p>
            <a:fld id="{13A0C86C-89D7-4356-B940-D47C37348220}" type="slidenum">
              <a:rPr lang="en-US" smtClean="0"/>
              <a:pPr/>
              <a:t>16</a:t>
            </a:fld>
            <a:endParaRPr lang="en-US" dirty="0"/>
          </a:p>
        </p:txBody>
      </p:sp>
      <p:sp>
        <p:nvSpPr>
          <p:cNvPr id="3" name="Content Placeholder 2"/>
          <p:cNvSpPr>
            <a:spLocks noGrp="1"/>
          </p:cNvSpPr>
          <p:nvPr>
            <p:ph sz="quarter" idx="1"/>
          </p:nvPr>
        </p:nvSpPr>
        <p:spPr>
          <a:xfrm>
            <a:off x="457200" y="3416048"/>
            <a:ext cx="8229600" cy="2713856"/>
          </a:xfrm>
        </p:spPr>
        <p:txBody>
          <a:bodyPr>
            <a:normAutofit/>
          </a:bodyPr>
          <a:lstStyle/>
          <a:p>
            <a:r>
              <a:rPr lang="de-DE" dirty="0"/>
              <a:t>Der Präfix zu A2 ist in Präfix zu A1 „enthalten“  </a:t>
            </a:r>
          </a:p>
          <a:p>
            <a:r>
              <a:rPr lang="de-DE" dirty="0"/>
              <a:t>Die Regel </a:t>
            </a:r>
            <a:r>
              <a:rPr lang="de-DE" b="1" dirty="0">
                <a:solidFill>
                  <a:srgbClr val="FF0000"/>
                </a:solidFill>
              </a:rPr>
              <a:t>Longest </a:t>
            </a:r>
            <a:r>
              <a:rPr lang="de-DE" b="1" dirty="0" err="1">
                <a:solidFill>
                  <a:srgbClr val="FF0000"/>
                </a:solidFill>
              </a:rPr>
              <a:t>Prefix</a:t>
            </a:r>
            <a:r>
              <a:rPr lang="de-DE" b="1" dirty="0">
                <a:solidFill>
                  <a:srgbClr val="FF0000"/>
                </a:solidFill>
              </a:rPr>
              <a:t> </a:t>
            </a:r>
            <a:r>
              <a:rPr lang="de-DE" b="1" dirty="0" err="1">
                <a:solidFill>
                  <a:srgbClr val="FF0000"/>
                </a:solidFill>
              </a:rPr>
              <a:t>Matching</a:t>
            </a:r>
            <a:r>
              <a:rPr lang="de-DE" b="1" dirty="0">
                <a:solidFill>
                  <a:srgbClr val="FF0000"/>
                </a:solidFill>
              </a:rPr>
              <a:t> </a:t>
            </a:r>
            <a:r>
              <a:rPr lang="de-DE" dirty="0"/>
              <a:t>(</a:t>
            </a:r>
            <a:r>
              <a:rPr lang="de-DE" b="1" dirty="0">
                <a:solidFill>
                  <a:srgbClr val="FF0000"/>
                </a:solidFill>
              </a:rPr>
              <a:t>LPM</a:t>
            </a:r>
            <a:r>
              <a:rPr lang="de-DE" dirty="0"/>
              <a:t>) sagt:</a:t>
            </a:r>
          </a:p>
          <a:p>
            <a:pPr marL="450850" lvl="1" indent="-180975"/>
            <a:r>
              <a:rPr lang="de-DE" i="1" dirty="0">
                <a:solidFill>
                  <a:srgbClr val="0070C0"/>
                </a:solidFill>
              </a:rPr>
              <a:t>Passen mehrere Präfixe zu einer Zieladresse, nehmen wir den Ausgang mit der </a:t>
            </a:r>
            <a:r>
              <a:rPr lang="de-DE" i="1" u="sng" dirty="0">
                <a:solidFill>
                  <a:srgbClr val="0070C0"/>
                </a:solidFill>
              </a:rPr>
              <a:t>längsten</a:t>
            </a:r>
            <a:r>
              <a:rPr lang="de-DE" i="1" dirty="0">
                <a:solidFill>
                  <a:srgbClr val="0070C0"/>
                </a:solidFill>
              </a:rPr>
              <a:t> </a:t>
            </a:r>
            <a:r>
              <a:rPr lang="de-DE" i="1" dirty="0" err="1">
                <a:solidFill>
                  <a:srgbClr val="0070C0"/>
                </a:solidFill>
              </a:rPr>
              <a:t>Prefix</a:t>
            </a:r>
            <a:r>
              <a:rPr lang="de-DE" i="1" dirty="0">
                <a:solidFill>
                  <a:srgbClr val="0070C0"/>
                </a:solidFill>
              </a:rPr>
              <a:t>-Übereinstimmung </a:t>
            </a:r>
          </a:p>
          <a:p>
            <a:r>
              <a:rPr lang="de-DE" dirty="0"/>
              <a:t>Beispiel –Ausgang A1 oder A2?</a:t>
            </a:r>
          </a:p>
        </p:txBody>
      </p:sp>
      <p:sp>
        <p:nvSpPr>
          <p:cNvPr id="449543" name="Rectangle 7"/>
          <p:cNvSpPr>
            <a:spLocks noChangeArrowheads="1"/>
          </p:cNvSpPr>
          <p:nvPr/>
        </p:nvSpPr>
        <p:spPr bwMode="auto">
          <a:xfrm>
            <a:off x="443969" y="6129904"/>
            <a:ext cx="648446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r>
              <a:rPr lang="en-US" sz="2000" dirty="0" err="1">
                <a:solidFill>
                  <a:srgbClr val="FF0000"/>
                </a:solidFill>
              </a:rPr>
              <a:t>Ziel</a:t>
            </a:r>
            <a:r>
              <a:rPr lang="en-US" sz="2000" dirty="0">
                <a:solidFill>
                  <a:srgbClr val="FF0000"/>
                </a:solidFill>
              </a:rPr>
              <a:t> Q</a:t>
            </a:r>
            <a:r>
              <a:rPr lang="en-US" sz="2000" dirty="0"/>
              <a:t>: </a:t>
            </a:r>
            <a:r>
              <a:rPr lang="en-US" sz="2000" dirty="0">
                <a:latin typeface="Consolas" panose="020B0609020204030204" pitchFamily="49" charset="0"/>
              </a:rPr>
              <a:t>11001000  00010111  0001</a:t>
            </a:r>
            <a:r>
              <a:rPr lang="en-US" sz="2000" dirty="0">
                <a:solidFill>
                  <a:srgbClr val="0070C0"/>
                </a:solidFill>
                <a:latin typeface="Consolas" panose="020B0609020204030204" pitchFamily="49" charset="0"/>
              </a:rPr>
              <a:t>1000  </a:t>
            </a:r>
            <a:r>
              <a:rPr lang="en-US" sz="2000" dirty="0">
                <a:latin typeface="Consolas" panose="020B0609020204030204" pitchFamily="49" charset="0"/>
              </a:rPr>
              <a:t>10101010 </a:t>
            </a:r>
          </a:p>
        </p:txBody>
      </p:sp>
      <p:sp>
        <p:nvSpPr>
          <p:cNvPr id="449545" name="Text Box 9"/>
          <p:cNvSpPr txBox="1">
            <a:spLocks noChangeArrowheads="1"/>
          </p:cNvSpPr>
          <p:nvPr/>
        </p:nvSpPr>
        <p:spPr bwMode="auto">
          <a:xfrm>
            <a:off x="477392" y="5637975"/>
            <a:ext cx="647029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sz="2000" dirty="0" err="1">
                <a:solidFill>
                  <a:srgbClr val="FF0000"/>
                </a:solidFill>
              </a:rPr>
              <a:t>Ziel</a:t>
            </a:r>
            <a:r>
              <a:rPr lang="en-US" sz="2000" dirty="0">
                <a:solidFill>
                  <a:srgbClr val="FF0000"/>
                </a:solidFill>
              </a:rPr>
              <a:t> P</a:t>
            </a:r>
            <a:r>
              <a:rPr lang="en-US" sz="2000" dirty="0"/>
              <a:t>: </a:t>
            </a:r>
            <a:r>
              <a:rPr lang="en-US" sz="2000" dirty="0">
                <a:latin typeface="Consolas" panose="020B0609020204030204" pitchFamily="49" charset="0"/>
              </a:rPr>
              <a:t>11001000  00010111  0001</a:t>
            </a:r>
            <a:r>
              <a:rPr lang="en-US" sz="2000" dirty="0">
                <a:solidFill>
                  <a:srgbClr val="0070C0"/>
                </a:solidFill>
                <a:latin typeface="Consolas" panose="020B0609020204030204" pitchFamily="49" charset="0"/>
              </a:rPr>
              <a:t>1110  </a:t>
            </a:r>
            <a:r>
              <a:rPr lang="en-US" sz="2000" dirty="0">
                <a:latin typeface="Consolas" panose="020B0609020204030204" pitchFamily="49" charset="0"/>
              </a:rPr>
              <a:t>10100001 </a:t>
            </a:r>
          </a:p>
        </p:txBody>
      </p:sp>
      <p:graphicFrame>
        <p:nvGraphicFramePr>
          <p:cNvPr id="2" name="Table 1"/>
          <p:cNvGraphicFramePr>
            <a:graphicFrameLocks noGrp="1"/>
          </p:cNvGraphicFramePr>
          <p:nvPr/>
        </p:nvGraphicFramePr>
        <p:xfrm>
          <a:off x="1403648" y="1244492"/>
          <a:ext cx="5976664" cy="1981200"/>
        </p:xfrm>
        <a:graphic>
          <a:graphicData uri="http://schemas.openxmlformats.org/drawingml/2006/table">
            <a:tbl>
              <a:tblPr firstRow="1" bandRow="1">
                <a:tableStyleId>{21E4AEA4-8DFA-4A89-87EB-49C32662AFE0}</a:tableStyleId>
              </a:tblPr>
              <a:tblGrid>
                <a:gridCol w="4561137">
                  <a:extLst>
                    <a:ext uri="{9D8B030D-6E8A-4147-A177-3AD203B41FA5}">
                      <a16:colId xmlns:a16="http://schemas.microsoft.com/office/drawing/2014/main" val="20000"/>
                    </a:ext>
                  </a:extLst>
                </a:gridCol>
                <a:gridCol w="1415527">
                  <a:extLst>
                    <a:ext uri="{9D8B030D-6E8A-4147-A177-3AD203B41FA5}">
                      <a16:colId xmlns:a16="http://schemas.microsoft.com/office/drawing/2014/main" val="20001"/>
                    </a:ext>
                  </a:extLst>
                </a:gridCol>
              </a:tblGrid>
              <a:tr h="396240">
                <a:tc>
                  <a:txBody>
                    <a:bodyPr/>
                    <a:lstStyle/>
                    <a:p>
                      <a:r>
                        <a:rPr lang="de-DE" sz="2000" dirty="0"/>
                        <a:t>Präfix</a:t>
                      </a:r>
                      <a:endParaRPr lang="de-DE" sz="2000" dirty="0">
                        <a:latin typeface="+mj-lt"/>
                      </a:endParaRPr>
                    </a:p>
                  </a:txBody>
                  <a:tcPr/>
                </a:tc>
                <a:tc>
                  <a:txBody>
                    <a:bodyPr/>
                    <a:lstStyle/>
                    <a:p>
                      <a:r>
                        <a:rPr lang="de-DE" sz="2000" dirty="0"/>
                        <a:t>Ausgang</a:t>
                      </a:r>
                      <a:endParaRPr lang="de-DE" sz="2000" dirty="0">
                        <a:latin typeface="+mj-lt"/>
                      </a:endParaRPr>
                    </a:p>
                  </a:txBody>
                  <a:tcPr/>
                </a:tc>
                <a:extLst>
                  <a:ext uri="{0D108BD9-81ED-4DB2-BD59-A6C34878D82A}">
                    <a16:rowId xmlns:a16="http://schemas.microsoft.com/office/drawing/2014/main" val="10000"/>
                  </a:ext>
                </a:extLst>
              </a:tr>
              <a:tr h="370840">
                <a:tc>
                  <a:txBody>
                    <a:bodyPr/>
                    <a:lstStyle/>
                    <a:p>
                      <a:r>
                        <a:rPr lang="en-US" sz="2000" dirty="0">
                          <a:solidFill>
                            <a:schemeClr val="bg1">
                              <a:lumMod val="65000"/>
                            </a:schemeClr>
                          </a:solidFill>
                          <a:latin typeface="Consolas" panose="020B0609020204030204" pitchFamily="49" charset="0"/>
                        </a:rPr>
                        <a:t>11001000 00010111 00010 </a:t>
                      </a:r>
                      <a:endParaRPr lang="de-DE" sz="2000" dirty="0">
                        <a:solidFill>
                          <a:schemeClr val="bg1">
                            <a:lumMod val="65000"/>
                          </a:schemeClr>
                        </a:solidFill>
                        <a:latin typeface="Consolas" panose="020B0609020204030204" pitchFamily="49" charset="0"/>
                      </a:endParaRPr>
                    </a:p>
                  </a:txBody>
                  <a:tcPr/>
                </a:tc>
                <a:tc>
                  <a:txBody>
                    <a:bodyPr/>
                    <a:lstStyle/>
                    <a:p>
                      <a:r>
                        <a:rPr lang="de-DE" sz="2000" dirty="0">
                          <a:solidFill>
                            <a:schemeClr val="bg1">
                              <a:lumMod val="65000"/>
                            </a:schemeClr>
                          </a:solidFill>
                        </a:rPr>
                        <a:t>0</a:t>
                      </a:r>
                      <a:endParaRPr lang="de-DE" sz="2000" dirty="0">
                        <a:solidFill>
                          <a:schemeClr val="bg1">
                            <a:lumMod val="65000"/>
                          </a:schemeClr>
                        </a:solidFill>
                        <a:latin typeface="+mj-lt"/>
                      </a:endParaRPr>
                    </a:p>
                  </a:txBody>
                  <a:tcPr/>
                </a:tc>
                <a:extLst>
                  <a:ext uri="{0D108BD9-81ED-4DB2-BD59-A6C34878D82A}">
                    <a16:rowId xmlns:a16="http://schemas.microsoft.com/office/drawing/2014/main" val="10001"/>
                  </a:ext>
                </a:extLst>
              </a:tr>
              <a:tr h="370840">
                <a:tc>
                  <a:txBody>
                    <a:bodyPr/>
                    <a:lstStyle/>
                    <a:p>
                      <a:r>
                        <a:rPr lang="en-US" sz="2000" dirty="0">
                          <a:latin typeface="Consolas" panose="020B0609020204030204" pitchFamily="49" charset="0"/>
                        </a:rPr>
                        <a:t>11001000 00010111 0001</a:t>
                      </a:r>
                      <a:r>
                        <a:rPr lang="en-US" sz="2000" dirty="0">
                          <a:solidFill>
                            <a:srgbClr val="0070C0"/>
                          </a:solidFill>
                          <a:latin typeface="Consolas" panose="020B0609020204030204" pitchFamily="49" charset="0"/>
                        </a:rPr>
                        <a:t>1000</a:t>
                      </a:r>
                      <a:r>
                        <a:rPr lang="en-US" sz="2000" dirty="0">
                          <a:latin typeface="Consolas" panose="020B0609020204030204" pitchFamily="49" charset="0"/>
                        </a:rPr>
                        <a:t> </a:t>
                      </a:r>
                      <a:endParaRPr lang="de-DE" sz="2000" dirty="0">
                        <a:latin typeface="Consolas" panose="020B0609020204030204" pitchFamily="49" charset="0"/>
                      </a:endParaRPr>
                    </a:p>
                  </a:txBody>
                  <a:tcPr/>
                </a:tc>
                <a:tc>
                  <a:txBody>
                    <a:bodyPr/>
                    <a:lstStyle/>
                    <a:p>
                      <a:r>
                        <a:rPr lang="de-DE" sz="2000" dirty="0"/>
                        <a:t>A1</a:t>
                      </a:r>
                      <a:endParaRPr lang="de-DE" sz="2000" dirty="0">
                        <a:latin typeface="+mj-lt"/>
                      </a:endParaRPr>
                    </a:p>
                  </a:txBody>
                  <a:tcPr/>
                </a:tc>
                <a:extLst>
                  <a:ext uri="{0D108BD9-81ED-4DB2-BD59-A6C34878D82A}">
                    <a16:rowId xmlns:a16="http://schemas.microsoft.com/office/drawing/2014/main" val="10002"/>
                  </a:ext>
                </a:extLst>
              </a:tr>
              <a:tr h="370840">
                <a:tc>
                  <a:txBody>
                    <a:bodyPr/>
                    <a:lstStyle/>
                    <a:p>
                      <a:r>
                        <a:rPr lang="en-US" sz="2000" dirty="0">
                          <a:latin typeface="Consolas" panose="020B0609020204030204" pitchFamily="49" charset="0"/>
                        </a:rPr>
                        <a:t>11001000 00010111 0001</a:t>
                      </a:r>
                      <a:r>
                        <a:rPr lang="en-US" sz="2000" dirty="0">
                          <a:solidFill>
                            <a:srgbClr val="0070C0"/>
                          </a:solidFill>
                          <a:latin typeface="Consolas" panose="020B0609020204030204" pitchFamily="49" charset="0"/>
                        </a:rPr>
                        <a:t>1</a:t>
                      </a:r>
                      <a:endParaRPr lang="de-DE" sz="2000" dirty="0">
                        <a:solidFill>
                          <a:srgbClr val="0070C0"/>
                        </a:solidFill>
                        <a:latin typeface="Consolas" panose="020B0609020204030204" pitchFamily="49" charset="0"/>
                      </a:endParaRPr>
                    </a:p>
                  </a:txBody>
                  <a:tcPr/>
                </a:tc>
                <a:tc>
                  <a:txBody>
                    <a:bodyPr/>
                    <a:lstStyle/>
                    <a:p>
                      <a:r>
                        <a:rPr lang="de-DE" sz="2000" dirty="0"/>
                        <a:t>A2</a:t>
                      </a:r>
                      <a:endParaRPr lang="de-DE" sz="2000" dirty="0">
                        <a:latin typeface="+mj-lt"/>
                      </a:endParaRPr>
                    </a:p>
                  </a:txBody>
                  <a:tcPr/>
                </a:tc>
                <a:extLst>
                  <a:ext uri="{0D108BD9-81ED-4DB2-BD59-A6C34878D82A}">
                    <a16:rowId xmlns:a16="http://schemas.microsoft.com/office/drawing/2014/main" val="10003"/>
                  </a:ext>
                </a:extLst>
              </a:tr>
              <a:tr h="370840">
                <a:tc>
                  <a:txBody>
                    <a:bodyPr/>
                    <a:lstStyle/>
                    <a:p>
                      <a:r>
                        <a:rPr lang="de-DE" sz="2000" dirty="0">
                          <a:solidFill>
                            <a:schemeClr val="bg1">
                              <a:lumMod val="65000"/>
                            </a:schemeClr>
                          </a:solidFill>
                        </a:rPr>
                        <a:t>sonst</a:t>
                      </a:r>
                      <a:endParaRPr lang="de-DE" sz="2000" dirty="0">
                        <a:solidFill>
                          <a:schemeClr val="bg1">
                            <a:lumMod val="65000"/>
                          </a:schemeClr>
                        </a:solidFill>
                        <a:latin typeface="+mj-lt"/>
                      </a:endParaRPr>
                    </a:p>
                  </a:txBody>
                  <a:tcPr/>
                </a:tc>
                <a:tc>
                  <a:txBody>
                    <a:bodyPr/>
                    <a:lstStyle/>
                    <a:p>
                      <a:r>
                        <a:rPr lang="de-DE" sz="2000" dirty="0">
                          <a:solidFill>
                            <a:schemeClr val="bg1">
                              <a:lumMod val="65000"/>
                            </a:schemeClr>
                          </a:solidFill>
                        </a:rPr>
                        <a:t>3</a:t>
                      </a:r>
                      <a:endParaRPr lang="de-DE" sz="2000" dirty="0">
                        <a:solidFill>
                          <a:schemeClr val="bg1">
                            <a:lumMod val="65000"/>
                          </a:schemeClr>
                        </a:solidFill>
                        <a:latin typeface="+mj-lt"/>
                      </a:endParaRPr>
                    </a:p>
                  </a:txBody>
                  <a:tcPr/>
                </a:tc>
                <a:extLst>
                  <a:ext uri="{0D108BD9-81ED-4DB2-BD59-A6C34878D82A}">
                    <a16:rowId xmlns:a16="http://schemas.microsoft.com/office/drawing/2014/main" val="10004"/>
                  </a:ext>
                </a:extLst>
              </a:tr>
            </a:tbl>
          </a:graphicData>
        </a:graphic>
      </p:graphicFrame>
      <p:sp>
        <p:nvSpPr>
          <p:cNvPr id="9" name="Rechteck 8"/>
          <p:cNvSpPr/>
          <p:nvPr/>
        </p:nvSpPr>
        <p:spPr>
          <a:xfrm>
            <a:off x="6876256" y="5618280"/>
            <a:ext cx="1368153" cy="461665"/>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r>
              <a:rPr lang="de-DE" sz="2400" dirty="0"/>
              <a:t>an A2</a:t>
            </a:r>
          </a:p>
        </p:txBody>
      </p:sp>
      <p:sp>
        <p:nvSpPr>
          <p:cNvPr id="10" name="Rechteck 9"/>
          <p:cNvSpPr/>
          <p:nvPr/>
        </p:nvSpPr>
        <p:spPr>
          <a:xfrm>
            <a:off x="6876256" y="6079945"/>
            <a:ext cx="1944216" cy="461665"/>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r>
              <a:rPr lang="de-DE" sz="2400" dirty="0"/>
              <a:t>an A1 (LPM)</a:t>
            </a:r>
          </a:p>
        </p:txBody>
      </p:sp>
    </p:spTree>
    <p:extLst>
      <p:ext uri="{BB962C8B-B14F-4D97-AF65-F5344CB8AC3E}">
        <p14:creationId xmlns:p14="http://schemas.microsoft.com/office/powerpoint/2010/main" val="13584619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49545"/>
                                        </p:tgtEl>
                                        <p:attrNameLst>
                                          <p:attrName>style.visibility</p:attrName>
                                        </p:attrNameLst>
                                      </p:cBhvr>
                                      <p:to>
                                        <p:strVal val="visible"/>
                                      </p:to>
                                    </p:set>
                                    <p:animEffect transition="in" filter="fade">
                                      <p:cBhvr>
                                        <p:cTn id="7" dur="500"/>
                                        <p:tgtEl>
                                          <p:spTgt spid="44954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5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49543"/>
                                        </p:tgtEl>
                                        <p:attrNameLst>
                                          <p:attrName>style.visibility</p:attrName>
                                        </p:attrNameLst>
                                      </p:cBhvr>
                                      <p:to>
                                        <p:strVal val="visible"/>
                                      </p:to>
                                    </p:set>
                                    <p:animEffect transition="in" filter="fade">
                                      <p:cBhvr>
                                        <p:cTn id="17" dur="500"/>
                                        <p:tgtEl>
                                          <p:spTgt spid="449543"/>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fade">
                                      <p:cBhvr>
                                        <p:cTn id="22"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9543" grpId="0"/>
      <p:bldP spid="449545" grpId="0"/>
      <p:bldP spid="9" grpId="0" animBg="1"/>
      <p:bldP spid="10"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9538" name="Rectangle 2"/>
          <p:cNvSpPr>
            <a:spLocks noGrp="1" noChangeArrowheads="1"/>
          </p:cNvSpPr>
          <p:nvPr>
            <p:ph type="title"/>
          </p:nvPr>
        </p:nvSpPr>
        <p:spPr/>
        <p:txBody>
          <a:bodyPr/>
          <a:lstStyle/>
          <a:p>
            <a:r>
              <a:rPr lang="en-US" dirty="0"/>
              <a:t>Longest-Prefix-Matching: </a:t>
            </a:r>
            <a:r>
              <a:rPr lang="en-US" dirty="0" err="1"/>
              <a:t>Verwendung</a:t>
            </a:r>
            <a:endParaRPr lang="en-US" dirty="0"/>
          </a:p>
        </p:txBody>
      </p:sp>
      <p:sp>
        <p:nvSpPr>
          <p:cNvPr id="12" name="Slide Number Placeholder 5"/>
          <p:cNvSpPr>
            <a:spLocks noGrp="1"/>
          </p:cNvSpPr>
          <p:nvPr>
            <p:ph type="sldNum" sz="quarter" idx="12"/>
          </p:nvPr>
        </p:nvSpPr>
        <p:spPr/>
        <p:txBody>
          <a:bodyPr/>
          <a:lstStyle/>
          <a:p>
            <a:fld id="{13A0C86C-89D7-4356-B940-D47C37348220}" type="slidenum">
              <a:rPr lang="en-US" smtClean="0"/>
              <a:pPr/>
              <a:t>17</a:t>
            </a:fld>
            <a:endParaRPr lang="en-US" dirty="0"/>
          </a:p>
        </p:txBody>
      </p:sp>
      <p:sp>
        <p:nvSpPr>
          <p:cNvPr id="3" name="Content Placeholder 2"/>
          <p:cNvSpPr>
            <a:spLocks noGrp="1"/>
          </p:cNvSpPr>
          <p:nvPr>
            <p:ph sz="quarter" idx="1"/>
          </p:nvPr>
        </p:nvSpPr>
        <p:spPr>
          <a:xfrm>
            <a:off x="456634" y="2721404"/>
            <a:ext cx="4907454" cy="3989738"/>
          </a:xfrm>
        </p:spPr>
        <p:txBody>
          <a:bodyPr>
            <a:noAutofit/>
          </a:bodyPr>
          <a:lstStyle/>
          <a:p>
            <a:r>
              <a:rPr lang="de-DE" dirty="0"/>
              <a:t>Ein Teil der IP-Adressen zum A2 geht wegen der LPM-Regel an den A1 </a:t>
            </a:r>
          </a:p>
          <a:p>
            <a:r>
              <a:rPr lang="de-DE" dirty="0"/>
              <a:t>Wir können damit aus dem Adressenbereich zu A2 einen Teil „</a:t>
            </a:r>
            <a:r>
              <a:rPr lang="de-DE" dirty="0">
                <a:solidFill>
                  <a:srgbClr val="0070C0"/>
                </a:solidFill>
              </a:rPr>
              <a:t>herausschneiden</a:t>
            </a:r>
            <a:r>
              <a:rPr lang="de-DE" dirty="0"/>
              <a:t>“</a:t>
            </a:r>
          </a:p>
          <a:p>
            <a:pPr lvl="1"/>
            <a:r>
              <a:rPr lang="de-DE" dirty="0"/>
              <a:t>#Adressen zu A2 ist keine 2er-Potenz mehr!</a:t>
            </a:r>
          </a:p>
          <a:p>
            <a:r>
              <a:rPr lang="de-DE" dirty="0"/>
              <a:t>Wie viele Adressen hat A2?</a:t>
            </a:r>
          </a:p>
          <a:p>
            <a:endParaRPr lang="de-DE" dirty="0"/>
          </a:p>
        </p:txBody>
      </p:sp>
      <p:graphicFrame>
        <p:nvGraphicFramePr>
          <p:cNvPr id="2" name="Table 1"/>
          <p:cNvGraphicFramePr>
            <a:graphicFrameLocks noGrp="1"/>
          </p:cNvGraphicFramePr>
          <p:nvPr/>
        </p:nvGraphicFramePr>
        <p:xfrm>
          <a:off x="395535" y="1276882"/>
          <a:ext cx="8291264" cy="1310640"/>
        </p:xfrm>
        <a:graphic>
          <a:graphicData uri="http://schemas.openxmlformats.org/drawingml/2006/table">
            <a:tbl>
              <a:tblPr firstRow="1" bandRow="1">
                <a:tableStyleId>{21E4AEA4-8DFA-4A89-87EB-49C32662AFE0}</a:tableStyleId>
              </a:tblPr>
              <a:tblGrid>
                <a:gridCol w="4028375">
                  <a:extLst>
                    <a:ext uri="{9D8B030D-6E8A-4147-A177-3AD203B41FA5}">
                      <a16:colId xmlns:a16="http://schemas.microsoft.com/office/drawing/2014/main" val="20000"/>
                    </a:ext>
                  </a:extLst>
                </a:gridCol>
                <a:gridCol w="1342792">
                  <a:extLst>
                    <a:ext uri="{9D8B030D-6E8A-4147-A177-3AD203B41FA5}">
                      <a16:colId xmlns:a16="http://schemas.microsoft.com/office/drawing/2014/main" val="20001"/>
                    </a:ext>
                  </a:extLst>
                </a:gridCol>
                <a:gridCol w="671396">
                  <a:extLst>
                    <a:ext uri="{9D8B030D-6E8A-4147-A177-3AD203B41FA5}">
                      <a16:colId xmlns:a16="http://schemas.microsoft.com/office/drawing/2014/main" val="20002"/>
                    </a:ext>
                  </a:extLst>
                </a:gridCol>
                <a:gridCol w="2248701">
                  <a:extLst>
                    <a:ext uri="{9D8B030D-6E8A-4147-A177-3AD203B41FA5}">
                      <a16:colId xmlns:a16="http://schemas.microsoft.com/office/drawing/2014/main" val="20003"/>
                    </a:ext>
                  </a:extLst>
                </a:gridCol>
              </a:tblGrid>
              <a:tr h="396240">
                <a:tc>
                  <a:txBody>
                    <a:bodyPr/>
                    <a:lstStyle/>
                    <a:p>
                      <a:r>
                        <a:rPr lang="de-DE" sz="2000" dirty="0"/>
                        <a:t>Präfix mit Länge</a:t>
                      </a:r>
                      <a:r>
                        <a:rPr lang="de-DE" sz="2000" baseline="0" dirty="0"/>
                        <a:t> k</a:t>
                      </a:r>
                      <a:endParaRPr lang="de-DE" sz="2000" dirty="0">
                        <a:latin typeface="+mj-lt"/>
                      </a:endParaRPr>
                    </a:p>
                  </a:txBody>
                  <a:tcPr/>
                </a:tc>
                <a:tc>
                  <a:txBody>
                    <a:bodyPr/>
                    <a:lstStyle/>
                    <a:p>
                      <a:r>
                        <a:rPr lang="de-DE" sz="2000" dirty="0"/>
                        <a:t>Ausgang</a:t>
                      </a:r>
                      <a:endParaRPr lang="de-DE" sz="2000" dirty="0">
                        <a:latin typeface="+mj-lt"/>
                      </a:endParaRPr>
                    </a:p>
                  </a:txBody>
                  <a:tcPr/>
                </a:tc>
                <a:tc>
                  <a:txBody>
                    <a:bodyPr/>
                    <a:lstStyle/>
                    <a:p>
                      <a:r>
                        <a:rPr lang="de-DE" sz="2000" dirty="0">
                          <a:latin typeface="+mj-lt"/>
                        </a:rPr>
                        <a:t>k</a:t>
                      </a:r>
                    </a:p>
                  </a:txBody>
                  <a:tcPr/>
                </a:tc>
                <a:tc>
                  <a:txBody>
                    <a:bodyPr/>
                    <a:lstStyle/>
                    <a:p>
                      <a:r>
                        <a:rPr lang="de-DE" sz="2000" dirty="0">
                          <a:latin typeface="+mj-lt"/>
                        </a:rPr>
                        <a:t>Anz.</a:t>
                      </a:r>
                      <a:r>
                        <a:rPr lang="de-DE" sz="2000" baseline="0" dirty="0">
                          <a:latin typeface="+mj-lt"/>
                        </a:rPr>
                        <a:t> </a:t>
                      </a:r>
                      <a:r>
                        <a:rPr lang="de-DE" sz="2000" dirty="0">
                          <a:latin typeface="+mj-lt"/>
                        </a:rPr>
                        <a:t>Adressen</a:t>
                      </a:r>
                    </a:p>
                  </a:txBody>
                  <a:tcPr/>
                </a:tc>
                <a:extLst>
                  <a:ext uri="{0D108BD9-81ED-4DB2-BD59-A6C34878D82A}">
                    <a16:rowId xmlns:a16="http://schemas.microsoft.com/office/drawing/2014/main" val="10000"/>
                  </a:ext>
                </a:extLst>
              </a:tr>
              <a:tr h="370840">
                <a:tc>
                  <a:txBody>
                    <a:bodyPr/>
                    <a:lstStyle/>
                    <a:p>
                      <a:r>
                        <a:rPr lang="en-US" sz="2000" dirty="0">
                          <a:latin typeface="Consolas" panose="020B0609020204030204" pitchFamily="49" charset="0"/>
                        </a:rPr>
                        <a:t>11001000 00010111 0001</a:t>
                      </a:r>
                      <a:r>
                        <a:rPr lang="en-US" sz="2000" dirty="0">
                          <a:solidFill>
                            <a:srgbClr val="0070C0"/>
                          </a:solidFill>
                          <a:latin typeface="Consolas" panose="020B0609020204030204" pitchFamily="49" charset="0"/>
                        </a:rPr>
                        <a:t>1000</a:t>
                      </a:r>
                      <a:r>
                        <a:rPr lang="en-US" sz="2000" dirty="0">
                          <a:latin typeface="Consolas" panose="020B0609020204030204" pitchFamily="49" charset="0"/>
                        </a:rPr>
                        <a:t> </a:t>
                      </a:r>
                      <a:endParaRPr lang="de-DE" sz="2000" dirty="0">
                        <a:latin typeface="Consolas" panose="020B0609020204030204" pitchFamily="49" charset="0"/>
                      </a:endParaRPr>
                    </a:p>
                  </a:txBody>
                  <a:tcPr/>
                </a:tc>
                <a:tc>
                  <a:txBody>
                    <a:bodyPr/>
                    <a:lstStyle/>
                    <a:p>
                      <a:r>
                        <a:rPr lang="de-DE" sz="2400" dirty="0"/>
                        <a:t>A1</a:t>
                      </a:r>
                      <a:endParaRPr lang="de-DE" sz="2400" dirty="0">
                        <a:latin typeface="+mj-lt"/>
                      </a:endParaRPr>
                    </a:p>
                  </a:txBody>
                  <a:tcPr/>
                </a:tc>
                <a:tc>
                  <a:txBody>
                    <a:bodyPr/>
                    <a:lstStyle/>
                    <a:p>
                      <a:r>
                        <a:rPr lang="de-DE" sz="2400" dirty="0">
                          <a:solidFill>
                            <a:srgbClr val="FF0000"/>
                          </a:solidFill>
                          <a:latin typeface="+mj-lt"/>
                        </a:rPr>
                        <a:t>24</a:t>
                      </a:r>
                    </a:p>
                  </a:txBody>
                  <a:tcPr/>
                </a:tc>
                <a:tc>
                  <a:txBody>
                    <a:bodyPr/>
                    <a:lstStyle/>
                    <a:p>
                      <a:r>
                        <a:rPr lang="de-DE" sz="2400" dirty="0">
                          <a:latin typeface="+mj-lt"/>
                        </a:rPr>
                        <a:t>2</a:t>
                      </a:r>
                      <a:r>
                        <a:rPr lang="de-DE" sz="2400" baseline="30000" dirty="0">
                          <a:latin typeface="+mj-lt"/>
                        </a:rPr>
                        <a:t>32-</a:t>
                      </a:r>
                      <a:r>
                        <a:rPr lang="de-DE" sz="2400" baseline="30000" dirty="0">
                          <a:solidFill>
                            <a:srgbClr val="FF0000"/>
                          </a:solidFill>
                          <a:latin typeface="+mj-lt"/>
                        </a:rPr>
                        <a:t>24</a:t>
                      </a:r>
                      <a:r>
                        <a:rPr lang="de-DE" sz="2400" baseline="30000" dirty="0">
                          <a:latin typeface="+mj-lt"/>
                        </a:rPr>
                        <a:t> </a:t>
                      </a:r>
                      <a:r>
                        <a:rPr lang="de-DE" sz="2400" dirty="0">
                          <a:latin typeface="+mj-lt"/>
                        </a:rPr>
                        <a:t>= 2</a:t>
                      </a:r>
                      <a:r>
                        <a:rPr lang="de-DE" sz="2400" baseline="30000" dirty="0">
                          <a:latin typeface="+mj-lt"/>
                        </a:rPr>
                        <a:t>8</a:t>
                      </a:r>
                    </a:p>
                  </a:txBody>
                  <a:tcPr/>
                </a:tc>
                <a:extLst>
                  <a:ext uri="{0D108BD9-81ED-4DB2-BD59-A6C34878D82A}">
                    <a16:rowId xmlns:a16="http://schemas.microsoft.com/office/drawing/2014/main" val="10001"/>
                  </a:ext>
                </a:extLst>
              </a:tr>
              <a:tr h="370840">
                <a:tc>
                  <a:txBody>
                    <a:bodyPr/>
                    <a:lstStyle/>
                    <a:p>
                      <a:r>
                        <a:rPr lang="en-US" sz="2000" dirty="0">
                          <a:latin typeface="Consolas" panose="020B0609020204030204" pitchFamily="49" charset="0"/>
                        </a:rPr>
                        <a:t>11001000 00010111 0001</a:t>
                      </a:r>
                      <a:r>
                        <a:rPr lang="en-US" sz="2000" dirty="0">
                          <a:solidFill>
                            <a:srgbClr val="0070C0"/>
                          </a:solidFill>
                          <a:latin typeface="Consolas" panose="020B0609020204030204" pitchFamily="49" charset="0"/>
                        </a:rPr>
                        <a:t>1</a:t>
                      </a:r>
                      <a:endParaRPr lang="de-DE" sz="2000" dirty="0">
                        <a:solidFill>
                          <a:srgbClr val="0070C0"/>
                        </a:solidFill>
                        <a:latin typeface="Consolas" panose="020B0609020204030204" pitchFamily="49" charset="0"/>
                      </a:endParaRPr>
                    </a:p>
                  </a:txBody>
                  <a:tcPr/>
                </a:tc>
                <a:tc>
                  <a:txBody>
                    <a:bodyPr/>
                    <a:lstStyle/>
                    <a:p>
                      <a:r>
                        <a:rPr lang="de-DE" sz="2400" dirty="0"/>
                        <a:t>A2</a:t>
                      </a:r>
                      <a:endParaRPr lang="de-DE" sz="2400" dirty="0">
                        <a:latin typeface="+mj-lt"/>
                      </a:endParaRPr>
                    </a:p>
                  </a:txBody>
                  <a:tcPr/>
                </a:tc>
                <a:tc>
                  <a:txBody>
                    <a:bodyPr/>
                    <a:lstStyle/>
                    <a:p>
                      <a:r>
                        <a:rPr lang="de-DE" sz="2400" dirty="0">
                          <a:solidFill>
                            <a:srgbClr val="FF0000"/>
                          </a:solidFill>
                          <a:latin typeface="+mj-lt"/>
                        </a:rPr>
                        <a:t>21</a:t>
                      </a:r>
                    </a:p>
                  </a:txBody>
                  <a:tcPr/>
                </a:tc>
                <a:tc>
                  <a:txBody>
                    <a:bodyPr/>
                    <a:lstStyle/>
                    <a:p>
                      <a:r>
                        <a:rPr lang="de-DE" sz="2400" b="1" dirty="0">
                          <a:solidFill>
                            <a:schemeClr val="tx1"/>
                          </a:solidFill>
                          <a:latin typeface="+mj-lt"/>
                        </a:rPr>
                        <a:t>?</a:t>
                      </a:r>
                    </a:p>
                  </a:txBody>
                  <a:tcPr/>
                </a:tc>
                <a:extLst>
                  <a:ext uri="{0D108BD9-81ED-4DB2-BD59-A6C34878D82A}">
                    <a16:rowId xmlns:a16="http://schemas.microsoft.com/office/drawing/2014/main" val="10002"/>
                  </a:ext>
                </a:extLst>
              </a:tr>
            </a:tbl>
          </a:graphicData>
        </a:graphic>
      </p:graphicFrame>
      <p:grpSp>
        <p:nvGrpSpPr>
          <p:cNvPr id="5" name="Gruppieren 4"/>
          <p:cNvGrpSpPr/>
          <p:nvPr/>
        </p:nvGrpSpPr>
        <p:grpSpPr>
          <a:xfrm>
            <a:off x="5436096" y="2996952"/>
            <a:ext cx="3250703" cy="2520280"/>
            <a:chOff x="5436096" y="2996952"/>
            <a:chExt cx="3250703" cy="2520280"/>
          </a:xfrm>
        </p:grpSpPr>
        <p:sp>
          <p:nvSpPr>
            <p:cNvPr id="4" name="Rechteck 3"/>
            <p:cNvSpPr/>
            <p:nvPr/>
          </p:nvSpPr>
          <p:spPr>
            <a:xfrm>
              <a:off x="5436096" y="2996952"/>
              <a:ext cx="3250703" cy="2520280"/>
            </a:xfrm>
            <a:prstGeom prst="rect">
              <a:avLst/>
            </a:prstGeom>
            <a:solidFill>
              <a:schemeClr val="accent2">
                <a:lumMod val="20000"/>
                <a:lumOff val="80000"/>
              </a:schemeClr>
            </a:solidFill>
            <a:ln/>
          </p:spPr>
          <p:style>
            <a:lnRef idx="1">
              <a:schemeClr val="accent2"/>
            </a:lnRef>
            <a:fillRef idx="2">
              <a:schemeClr val="accent2"/>
            </a:fillRef>
            <a:effectRef idx="1">
              <a:schemeClr val="accent2"/>
            </a:effectRef>
            <a:fontRef idx="minor">
              <a:schemeClr val="dk1"/>
            </a:fontRef>
          </p:style>
          <p:txBody>
            <a:bodyPr rtlCol="0" anchor="t"/>
            <a:lstStyle/>
            <a:p>
              <a:pPr algn="ctr"/>
              <a:r>
                <a:rPr lang="de-DE" sz="2400" dirty="0"/>
                <a:t>#Adressen zu A2:</a:t>
              </a:r>
              <a:br>
                <a:rPr lang="de-DE" sz="2000" dirty="0"/>
              </a:br>
              <a:r>
                <a:rPr lang="de-DE" sz="2800" dirty="0"/>
                <a:t>2</a:t>
              </a:r>
              <a:r>
                <a:rPr lang="de-DE" sz="2800" baseline="30000" dirty="0"/>
                <a:t>32-k</a:t>
              </a:r>
              <a:r>
                <a:rPr lang="de-DE" sz="2800" dirty="0"/>
                <a:t> – </a:t>
              </a:r>
              <a:r>
                <a:rPr lang="de-DE" sz="2800" dirty="0">
                  <a:solidFill>
                    <a:srgbClr val="0070C0"/>
                  </a:solidFill>
                </a:rPr>
                <a:t>2</a:t>
              </a:r>
              <a:r>
                <a:rPr lang="de-DE" sz="2800" baseline="30000" dirty="0">
                  <a:solidFill>
                    <a:srgbClr val="0070C0"/>
                  </a:solidFill>
                </a:rPr>
                <a:t>32-j</a:t>
              </a:r>
            </a:p>
          </p:txBody>
        </p:sp>
        <p:sp>
          <p:nvSpPr>
            <p:cNvPr id="10" name="Rechteck 9"/>
            <p:cNvSpPr/>
            <p:nvPr/>
          </p:nvSpPr>
          <p:spPr>
            <a:xfrm>
              <a:off x="6084168" y="4284712"/>
              <a:ext cx="2602631" cy="1232520"/>
            </a:xfrm>
            <a:prstGeom prst="rect">
              <a:avLst/>
            </a:prstGeom>
            <a:solidFill>
              <a:srgbClr val="FFC000"/>
            </a:solidFill>
            <a:ln/>
          </p:spPr>
          <p:style>
            <a:lnRef idx="1">
              <a:schemeClr val="accent4"/>
            </a:lnRef>
            <a:fillRef idx="2">
              <a:schemeClr val="accent4"/>
            </a:fillRef>
            <a:effectRef idx="1">
              <a:schemeClr val="accent4"/>
            </a:effectRef>
            <a:fontRef idx="minor">
              <a:schemeClr val="dk1"/>
            </a:fontRef>
          </p:style>
          <p:txBody>
            <a:bodyPr rtlCol="0" anchor="t"/>
            <a:lstStyle/>
            <a:p>
              <a:pPr algn="ctr"/>
              <a:r>
                <a:rPr lang="de-DE" sz="2400" dirty="0"/>
                <a:t>#Adressen zu A1:</a:t>
              </a:r>
            </a:p>
            <a:p>
              <a:pPr algn="ctr"/>
              <a:r>
                <a:rPr lang="de-DE" sz="2800" dirty="0">
                  <a:solidFill>
                    <a:srgbClr val="0070C0"/>
                  </a:solidFill>
                </a:rPr>
                <a:t>2</a:t>
              </a:r>
              <a:r>
                <a:rPr lang="de-DE" sz="2800" baseline="30000" dirty="0">
                  <a:solidFill>
                    <a:srgbClr val="0070C0"/>
                  </a:solidFill>
                </a:rPr>
                <a:t>32-j</a:t>
              </a:r>
              <a:endParaRPr lang="de-DE" sz="2800" dirty="0">
                <a:solidFill>
                  <a:srgbClr val="0070C0"/>
                </a:solidFill>
              </a:endParaRPr>
            </a:p>
          </p:txBody>
        </p:sp>
      </p:grpSp>
      <p:sp>
        <p:nvSpPr>
          <p:cNvPr id="11" name="Rechteck 10"/>
          <p:cNvSpPr/>
          <p:nvPr/>
        </p:nvSpPr>
        <p:spPr>
          <a:xfrm>
            <a:off x="5441598" y="5997427"/>
            <a:ext cx="2808312" cy="461665"/>
          </a:xfrm>
          <a:prstGeom prst="rect">
            <a:avLst/>
          </a:prstGeom>
        </p:spPr>
        <p:style>
          <a:lnRef idx="2">
            <a:schemeClr val="accent6"/>
          </a:lnRef>
          <a:fillRef idx="1">
            <a:schemeClr val="lt1"/>
          </a:fillRef>
          <a:effectRef idx="0">
            <a:schemeClr val="accent6"/>
          </a:effectRef>
          <a:fontRef idx="minor">
            <a:schemeClr val="dk1"/>
          </a:fontRef>
        </p:style>
        <p:txBody>
          <a:bodyPr wrap="square">
            <a:spAutoFit/>
          </a:bodyPr>
          <a:lstStyle/>
          <a:p>
            <a:r>
              <a:rPr lang="de-DE" sz="2400" dirty="0"/>
              <a:t>2</a:t>
            </a:r>
            <a:r>
              <a:rPr lang="de-DE" sz="2400" baseline="30000" dirty="0"/>
              <a:t>32-21 </a:t>
            </a:r>
            <a:r>
              <a:rPr lang="de-DE" sz="2400" dirty="0"/>
              <a:t>– 2</a:t>
            </a:r>
            <a:r>
              <a:rPr lang="de-DE" sz="2400" baseline="30000" dirty="0"/>
              <a:t>8 </a:t>
            </a:r>
            <a:r>
              <a:rPr lang="de-DE" sz="2400" dirty="0"/>
              <a:t>= 2</a:t>
            </a:r>
            <a:r>
              <a:rPr lang="de-DE" sz="2400" baseline="30000" dirty="0"/>
              <a:t>11</a:t>
            </a:r>
            <a:r>
              <a:rPr lang="de-DE" sz="2400" dirty="0"/>
              <a:t> - 2</a:t>
            </a:r>
            <a:r>
              <a:rPr lang="de-DE" sz="2400" baseline="30000" dirty="0"/>
              <a:t>8</a:t>
            </a:r>
          </a:p>
        </p:txBody>
      </p:sp>
      <p:sp>
        <p:nvSpPr>
          <p:cNvPr id="13" name="Rectangle 1">
            <a:extLst>
              <a:ext uri="{FF2B5EF4-FFF2-40B4-BE49-F238E27FC236}">
                <a16:creationId xmlns:a16="http://schemas.microsoft.com/office/drawing/2014/main" id="{F2BCB861-7E13-436A-8883-A3E292970406}"/>
              </a:ext>
            </a:extLst>
          </p:cNvPr>
          <p:cNvSpPr/>
          <p:nvPr/>
        </p:nvSpPr>
        <p:spPr>
          <a:xfrm>
            <a:off x="6156176" y="96881"/>
            <a:ext cx="2751074" cy="461665"/>
          </a:xfrm>
          <a:prstGeom prst="rect">
            <a:avLst/>
          </a:prstGeom>
        </p:spPr>
        <p:txBody>
          <a:bodyPr wrap="none">
            <a:spAutoFit/>
          </a:bodyPr>
          <a:lstStyle/>
          <a:p>
            <a:r>
              <a:rPr lang="en-US" sz="2400" dirty="0">
                <a:highlight>
                  <a:srgbClr val="00FF00"/>
                </a:highlight>
              </a:rPr>
              <a:t>https://bit.ly/ibn_hd</a:t>
            </a:r>
            <a:endParaRPr lang="en-US" sz="2400" dirty="0"/>
          </a:p>
        </p:txBody>
      </p:sp>
    </p:spTree>
    <p:extLst>
      <p:ext uri="{BB962C8B-B14F-4D97-AF65-F5344CB8AC3E}">
        <p14:creationId xmlns:p14="http://schemas.microsoft.com/office/powerpoint/2010/main" val="35929327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1">
                                            <p:bg/>
                                          </p:spTgt>
                                        </p:tgtEl>
                                        <p:attrNameLst>
                                          <p:attrName>style.visibility</p:attrName>
                                        </p:attrNameLst>
                                      </p:cBhvr>
                                      <p:to>
                                        <p:strVal val="visible"/>
                                      </p:to>
                                    </p:set>
                                    <p:animEffect transition="in" filter="fade">
                                      <p:cBhvr>
                                        <p:cTn id="17" dur="2000"/>
                                        <p:tgtEl>
                                          <p:spTgt spid="11">
                                            <p:bg/>
                                          </p:spTgt>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11">
                                            <p:txEl>
                                              <p:pRg st="0" end="0"/>
                                            </p:txEl>
                                          </p:spTgt>
                                        </p:tgtEl>
                                        <p:attrNameLst>
                                          <p:attrName>style.visibility</p:attrName>
                                        </p:attrNameLst>
                                      </p:cBhvr>
                                      <p:to>
                                        <p:strVal val="visible"/>
                                      </p:to>
                                    </p:set>
                                    <p:animEffect transition="in" filter="fade">
                                      <p:cBhvr>
                                        <p:cTn id="20" dur="2000"/>
                                        <p:tgtEl>
                                          <p:spTgt spid="11">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1" grpId="0" build="allAtOnce"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9589" name="Rectangle 5"/>
          <p:cNvSpPr>
            <a:spLocks noGrp="1" noChangeArrowheads="1"/>
          </p:cNvSpPr>
          <p:nvPr>
            <p:ph type="title"/>
          </p:nvPr>
        </p:nvSpPr>
        <p:spPr/>
        <p:txBody>
          <a:bodyPr/>
          <a:lstStyle/>
          <a:p>
            <a:r>
              <a:rPr lang="de-DE" dirty="0"/>
              <a:t>Beschreibung der Subnetze</a:t>
            </a:r>
          </a:p>
        </p:txBody>
      </p:sp>
      <p:sp>
        <p:nvSpPr>
          <p:cNvPr id="49" name="Slide Number Placeholder 6"/>
          <p:cNvSpPr>
            <a:spLocks noGrp="1"/>
          </p:cNvSpPr>
          <p:nvPr>
            <p:ph type="sldNum" sz="quarter" idx="12"/>
          </p:nvPr>
        </p:nvSpPr>
        <p:spPr/>
        <p:txBody>
          <a:bodyPr/>
          <a:lstStyle/>
          <a:p>
            <a:fld id="{FCD08975-25F3-4DFF-B9C8-A74F27652591}" type="slidenum">
              <a:rPr lang="de-DE" smtClean="0"/>
              <a:pPr/>
              <a:t>18</a:t>
            </a:fld>
            <a:endParaRPr lang="de-DE"/>
          </a:p>
        </p:txBody>
      </p:sp>
      <p:sp>
        <p:nvSpPr>
          <p:cNvPr id="579590" name="Rectangle 6"/>
          <p:cNvSpPr>
            <a:spLocks noGrp="1" noChangeArrowheads="1"/>
          </p:cNvSpPr>
          <p:nvPr>
            <p:ph sz="quarter" idx="1"/>
          </p:nvPr>
        </p:nvSpPr>
        <p:spPr>
          <a:xfrm>
            <a:off x="457199" y="1219200"/>
            <a:ext cx="5316069" cy="5450160"/>
          </a:xfrm>
        </p:spPr>
        <p:txBody>
          <a:bodyPr>
            <a:normAutofit/>
          </a:bodyPr>
          <a:lstStyle/>
          <a:p>
            <a:r>
              <a:rPr lang="de-DE" sz="2400" dirty="0">
                <a:solidFill>
                  <a:srgbClr val="000000"/>
                </a:solidFill>
              </a:rPr>
              <a:t>Zur Erinnerung: Angabe der Adresse eines Subnetzes</a:t>
            </a:r>
          </a:p>
          <a:p>
            <a:pPr lvl="1"/>
            <a:r>
              <a:rPr lang="de-DE" sz="2000" b="1" dirty="0">
                <a:solidFill>
                  <a:srgbClr val="FF0000"/>
                </a:solidFill>
              </a:rPr>
              <a:t>Längenschreibweise</a:t>
            </a:r>
            <a:r>
              <a:rPr lang="de-DE" sz="2000" dirty="0">
                <a:solidFill>
                  <a:srgbClr val="000000"/>
                </a:solidFill>
              </a:rPr>
              <a:t>: </a:t>
            </a:r>
            <a:r>
              <a:rPr lang="de-DE" sz="2400" dirty="0">
                <a:solidFill>
                  <a:srgbClr val="000000"/>
                </a:solidFill>
              </a:rPr>
              <a:t>z.B. </a:t>
            </a:r>
            <a:r>
              <a:rPr lang="de-DE" sz="2400" dirty="0">
                <a:latin typeface="Arial" charset="0"/>
              </a:rPr>
              <a:t>223.1.3.0/24</a:t>
            </a:r>
            <a:endParaRPr lang="de-DE" sz="2400" dirty="0">
              <a:solidFill>
                <a:srgbClr val="000000"/>
              </a:solidFill>
            </a:endParaRPr>
          </a:p>
          <a:p>
            <a:pPr lvl="1"/>
            <a:r>
              <a:rPr lang="de-DE" sz="2000" b="1" dirty="0">
                <a:solidFill>
                  <a:srgbClr val="FF0000"/>
                </a:solidFill>
              </a:rPr>
              <a:t>Maskenschreibweise</a:t>
            </a:r>
            <a:r>
              <a:rPr lang="de-DE" sz="2000" dirty="0">
                <a:solidFill>
                  <a:srgbClr val="000000"/>
                </a:solidFill>
              </a:rPr>
              <a:t>: </a:t>
            </a:r>
            <a:br>
              <a:rPr lang="de-DE" sz="2000" dirty="0">
                <a:solidFill>
                  <a:srgbClr val="000000"/>
                </a:solidFill>
              </a:rPr>
            </a:br>
            <a:r>
              <a:rPr lang="de-DE" sz="1800" dirty="0">
                <a:solidFill>
                  <a:srgbClr val="000000"/>
                </a:solidFill>
              </a:rPr>
              <a:t>z.B. 255.255.255.0 (entspricht /24)</a:t>
            </a:r>
          </a:p>
          <a:p>
            <a:r>
              <a:rPr lang="de-DE" sz="2400" dirty="0">
                <a:solidFill>
                  <a:srgbClr val="000000"/>
                </a:solidFill>
              </a:rPr>
              <a:t>Problem bei Ausgang A2: </a:t>
            </a:r>
            <a:br>
              <a:rPr lang="de-DE" sz="2400" dirty="0">
                <a:solidFill>
                  <a:srgbClr val="000000"/>
                </a:solidFill>
              </a:rPr>
            </a:br>
            <a:r>
              <a:rPr lang="de-DE" sz="2400" dirty="0">
                <a:solidFill>
                  <a:srgbClr val="000000"/>
                </a:solidFill>
              </a:rPr>
              <a:t>wir haben einen Teil der </a:t>
            </a:r>
            <a:br>
              <a:rPr lang="de-DE" sz="2400" dirty="0">
                <a:solidFill>
                  <a:srgbClr val="000000"/>
                </a:solidFill>
              </a:rPr>
            </a:br>
            <a:r>
              <a:rPr lang="de-DE" sz="2400" dirty="0">
                <a:solidFill>
                  <a:srgbClr val="000000"/>
                </a:solidFill>
              </a:rPr>
              <a:t>Adressen herausgenommen!</a:t>
            </a:r>
          </a:p>
          <a:p>
            <a:r>
              <a:rPr lang="de-DE" sz="2400" dirty="0">
                <a:solidFill>
                  <a:srgbClr val="000000"/>
                </a:solidFill>
              </a:rPr>
              <a:t>Lösung: schreibe das in der </a:t>
            </a:r>
            <a:br>
              <a:rPr lang="de-DE" sz="2400" dirty="0">
                <a:solidFill>
                  <a:srgbClr val="000000"/>
                </a:solidFill>
              </a:rPr>
            </a:br>
            <a:r>
              <a:rPr lang="de-DE" sz="2400" dirty="0">
                <a:solidFill>
                  <a:srgbClr val="000000"/>
                </a:solidFill>
              </a:rPr>
              <a:t>Form </a:t>
            </a:r>
            <a:r>
              <a:rPr lang="de-DE" sz="2400" b="1" dirty="0" err="1">
                <a:solidFill>
                  <a:srgbClr val="FF0000"/>
                </a:solidFill>
              </a:rPr>
              <a:t>a.b.c.d</a:t>
            </a:r>
            <a:r>
              <a:rPr lang="de-DE" sz="2400" b="1" dirty="0">
                <a:solidFill>
                  <a:srgbClr val="FF0000"/>
                </a:solidFill>
              </a:rPr>
              <a:t>/x – </a:t>
            </a:r>
            <a:r>
              <a:rPr lang="de-DE" sz="2400" b="1" dirty="0" err="1">
                <a:solidFill>
                  <a:srgbClr val="FF0000"/>
                </a:solidFill>
              </a:rPr>
              <a:t>e.f.g.h</a:t>
            </a:r>
            <a:r>
              <a:rPr lang="de-DE" sz="2400" b="1" dirty="0">
                <a:solidFill>
                  <a:srgbClr val="FF0000"/>
                </a:solidFill>
              </a:rPr>
              <a:t>/y</a:t>
            </a:r>
          </a:p>
          <a:p>
            <a:r>
              <a:rPr lang="de-DE" sz="2400" dirty="0">
                <a:solidFill>
                  <a:srgbClr val="000000"/>
                </a:solidFill>
              </a:rPr>
              <a:t>D.h. „</a:t>
            </a:r>
            <a:r>
              <a:rPr lang="de-DE" sz="2400" dirty="0">
                <a:solidFill>
                  <a:srgbClr val="0070C0"/>
                </a:solidFill>
              </a:rPr>
              <a:t>großer Bereich</a:t>
            </a:r>
            <a:r>
              <a:rPr lang="de-DE" sz="2400" dirty="0">
                <a:solidFill>
                  <a:srgbClr val="000000"/>
                </a:solidFill>
              </a:rPr>
              <a:t>“ </a:t>
            </a:r>
            <a:r>
              <a:rPr lang="de-DE" sz="2400" b="1" dirty="0">
                <a:solidFill>
                  <a:srgbClr val="FF0000"/>
                </a:solidFill>
              </a:rPr>
              <a:t>–</a:t>
            </a:r>
            <a:r>
              <a:rPr lang="de-DE" sz="2400" dirty="0">
                <a:solidFill>
                  <a:srgbClr val="000000"/>
                </a:solidFill>
              </a:rPr>
              <a:t> „</a:t>
            </a:r>
            <a:r>
              <a:rPr lang="de-DE" sz="2400" dirty="0">
                <a:solidFill>
                  <a:srgbClr val="0070C0"/>
                </a:solidFill>
              </a:rPr>
              <a:t>Teilmenge</a:t>
            </a:r>
            <a:r>
              <a:rPr lang="de-DE" sz="2400" dirty="0">
                <a:solidFill>
                  <a:srgbClr val="000000"/>
                </a:solidFill>
              </a:rPr>
              <a:t>“</a:t>
            </a:r>
          </a:p>
          <a:p>
            <a:r>
              <a:rPr lang="de-DE" sz="2400" dirty="0">
                <a:solidFill>
                  <a:srgbClr val="000000"/>
                </a:solidFill>
              </a:rPr>
              <a:t>Beispiel für Ausgang A2?</a:t>
            </a:r>
            <a:endParaRPr lang="de-DE" sz="2100" dirty="0">
              <a:solidFill>
                <a:srgbClr val="000000"/>
              </a:solidFill>
            </a:endParaRPr>
          </a:p>
        </p:txBody>
      </p:sp>
      <p:grpSp>
        <p:nvGrpSpPr>
          <p:cNvPr id="5" name="Group 59"/>
          <p:cNvGrpSpPr>
            <a:grpSpLocks/>
          </p:cNvGrpSpPr>
          <p:nvPr/>
        </p:nvGrpSpPr>
        <p:grpSpPr bwMode="auto">
          <a:xfrm>
            <a:off x="4984753" y="1197413"/>
            <a:ext cx="4397378" cy="4378325"/>
            <a:chOff x="2526" y="505"/>
            <a:chExt cx="2770" cy="2758"/>
          </a:xfrm>
        </p:grpSpPr>
        <p:sp>
          <p:nvSpPr>
            <p:cNvPr id="579586" name="Freeform 2"/>
            <p:cNvSpPr>
              <a:spLocks/>
            </p:cNvSpPr>
            <p:nvPr/>
          </p:nvSpPr>
          <p:spPr bwMode="auto">
            <a:xfrm>
              <a:off x="2758" y="731"/>
              <a:ext cx="1223" cy="1291"/>
            </a:xfrm>
            <a:custGeom>
              <a:avLst/>
              <a:gdLst>
                <a:gd name="T0" fmla="*/ 1201 w 1223"/>
                <a:gd name="T1" fmla="*/ 756 h 1291"/>
                <a:gd name="T2" fmla="*/ 702 w 1223"/>
                <a:gd name="T3" fmla="*/ 670 h 1291"/>
                <a:gd name="T4" fmla="*/ 608 w 1223"/>
                <a:gd name="T5" fmla="*/ 103 h 1291"/>
                <a:gd name="T6" fmla="*/ 335 w 1223"/>
                <a:gd name="T7" fmla="*/ 52 h 1291"/>
                <a:gd name="T8" fmla="*/ 65 w 1223"/>
                <a:gd name="T9" fmla="*/ 82 h 1291"/>
                <a:gd name="T10" fmla="*/ 41 w 1223"/>
                <a:gd name="T11" fmla="*/ 544 h 1291"/>
                <a:gd name="T12" fmla="*/ 38 w 1223"/>
                <a:gd name="T13" fmla="*/ 751 h 1291"/>
                <a:gd name="T14" fmla="*/ 23 w 1223"/>
                <a:gd name="T15" fmla="*/ 940 h 1291"/>
                <a:gd name="T16" fmla="*/ 17 w 1223"/>
                <a:gd name="T17" fmla="*/ 1114 h 1291"/>
                <a:gd name="T18" fmla="*/ 128 w 1223"/>
                <a:gd name="T19" fmla="*/ 1219 h 1291"/>
                <a:gd name="T20" fmla="*/ 602 w 1223"/>
                <a:gd name="T21" fmla="*/ 1243 h 1291"/>
                <a:gd name="T22" fmla="*/ 686 w 1223"/>
                <a:gd name="T23" fmla="*/ 930 h 1291"/>
                <a:gd name="T24" fmla="*/ 1177 w 1223"/>
                <a:gd name="T25" fmla="*/ 916 h 1291"/>
                <a:gd name="T26" fmla="*/ 1201 w 1223"/>
                <a:gd name="T27" fmla="*/ 756 h 12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223" h="1291">
                  <a:moveTo>
                    <a:pt x="1201" y="756"/>
                  </a:moveTo>
                  <a:cubicBezTo>
                    <a:pt x="1180" y="640"/>
                    <a:pt x="798" y="744"/>
                    <a:pt x="702" y="670"/>
                  </a:cubicBezTo>
                  <a:cubicBezTo>
                    <a:pt x="603" y="561"/>
                    <a:pt x="669" y="206"/>
                    <a:pt x="608" y="103"/>
                  </a:cubicBezTo>
                  <a:cubicBezTo>
                    <a:pt x="547" y="0"/>
                    <a:pt x="425" y="55"/>
                    <a:pt x="335" y="52"/>
                  </a:cubicBezTo>
                  <a:cubicBezTo>
                    <a:pt x="245" y="49"/>
                    <a:pt x="114" y="0"/>
                    <a:pt x="65" y="82"/>
                  </a:cubicBezTo>
                  <a:cubicBezTo>
                    <a:pt x="16" y="164"/>
                    <a:pt x="45" y="433"/>
                    <a:pt x="41" y="544"/>
                  </a:cubicBezTo>
                  <a:cubicBezTo>
                    <a:pt x="37" y="655"/>
                    <a:pt x="41" y="685"/>
                    <a:pt x="38" y="751"/>
                  </a:cubicBezTo>
                  <a:cubicBezTo>
                    <a:pt x="35" y="817"/>
                    <a:pt x="26" y="880"/>
                    <a:pt x="23" y="940"/>
                  </a:cubicBezTo>
                  <a:cubicBezTo>
                    <a:pt x="20" y="1000"/>
                    <a:pt x="0" y="1068"/>
                    <a:pt x="17" y="1114"/>
                  </a:cubicBezTo>
                  <a:cubicBezTo>
                    <a:pt x="34" y="1160"/>
                    <a:pt x="31" y="1198"/>
                    <a:pt x="128" y="1219"/>
                  </a:cubicBezTo>
                  <a:cubicBezTo>
                    <a:pt x="225" y="1240"/>
                    <a:pt x="509" y="1291"/>
                    <a:pt x="602" y="1243"/>
                  </a:cubicBezTo>
                  <a:cubicBezTo>
                    <a:pt x="695" y="1195"/>
                    <a:pt x="590" y="984"/>
                    <a:pt x="686" y="930"/>
                  </a:cubicBezTo>
                  <a:cubicBezTo>
                    <a:pt x="782" y="876"/>
                    <a:pt x="1091" y="945"/>
                    <a:pt x="1177" y="916"/>
                  </a:cubicBezTo>
                  <a:cubicBezTo>
                    <a:pt x="1208" y="864"/>
                    <a:pt x="1223" y="871"/>
                    <a:pt x="1201" y="756"/>
                  </a:cubicBezTo>
                  <a:close/>
                </a:path>
              </a:pathLst>
            </a:custGeom>
            <a:solidFill>
              <a:srgbClr val="66CCFF"/>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latin typeface="+mj-lt"/>
              </a:endParaRPr>
            </a:p>
          </p:txBody>
        </p:sp>
        <p:sp>
          <p:nvSpPr>
            <p:cNvPr id="579588" name="Freeform 4"/>
            <p:cNvSpPr>
              <a:spLocks/>
            </p:cNvSpPr>
            <p:nvPr/>
          </p:nvSpPr>
          <p:spPr bwMode="auto">
            <a:xfrm>
              <a:off x="3514" y="1815"/>
              <a:ext cx="1286" cy="1247"/>
            </a:xfrm>
            <a:custGeom>
              <a:avLst/>
              <a:gdLst>
                <a:gd name="T0" fmla="*/ 587 w 1286"/>
                <a:gd name="T1" fmla="*/ 30 h 1247"/>
                <a:gd name="T2" fmla="*/ 509 w 1286"/>
                <a:gd name="T3" fmla="*/ 618 h 1247"/>
                <a:gd name="T4" fmla="*/ 77 w 1286"/>
                <a:gd name="T5" fmla="*/ 909 h 1247"/>
                <a:gd name="T6" fmla="*/ 47 w 1286"/>
                <a:gd name="T7" fmla="*/ 1095 h 1247"/>
                <a:gd name="T8" fmla="*/ 140 w 1286"/>
                <a:gd name="T9" fmla="*/ 1224 h 1247"/>
                <a:gd name="T10" fmla="*/ 461 w 1286"/>
                <a:gd name="T11" fmla="*/ 1209 h 1247"/>
                <a:gd name="T12" fmla="*/ 692 w 1286"/>
                <a:gd name="T13" fmla="*/ 1209 h 1247"/>
                <a:gd name="T14" fmla="*/ 1190 w 1286"/>
                <a:gd name="T15" fmla="*/ 1227 h 1247"/>
                <a:gd name="T16" fmla="*/ 1271 w 1286"/>
                <a:gd name="T17" fmla="*/ 1089 h 1247"/>
                <a:gd name="T18" fmla="*/ 1139 w 1286"/>
                <a:gd name="T19" fmla="*/ 741 h 1247"/>
                <a:gd name="T20" fmla="*/ 800 w 1286"/>
                <a:gd name="T21" fmla="*/ 627 h 1247"/>
                <a:gd name="T22" fmla="*/ 749 w 1286"/>
                <a:gd name="T23" fmla="*/ 42 h 1247"/>
                <a:gd name="T24" fmla="*/ 587 w 1286"/>
                <a:gd name="T25" fmla="*/ 30 h 12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86" h="1247">
                  <a:moveTo>
                    <a:pt x="587" y="30"/>
                  </a:moveTo>
                  <a:cubicBezTo>
                    <a:pt x="473" y="60"/>
                    <a:pt x="601" y="475"/>
                    <a:pt x="509" y="618"/>
                  </a:cubicBezTo>
                  <a:cubicBezTo>
                    <a:pt x="424" y="765"/>
                    <a:pt x="154" y="830"/>
                    <a:pt x="77" y="909"/>
                  </a:cubicBezTo>
                  <a:cubicBezTo>
                    <a:pt x="0" y="988"/>
                    <a:pt x="37" y="1043"/>
                    <a:pt x="47" y="1095"/>
                  </a:cubicBezTo>
                  <a:cubicBezTo>
                    <a:pt x="57" y="1147"/>
                    <a:pt x="71" y="1205"/>
                    <a:pt x="140" y="1224"/>
                  </a:cubicBezTo>
                  <a:cubicBezTo>
                    <a:pt x="209" y="1243"/>
                    <a:pt x="369" y="1212"/>
                    <a:pt x="461" y="1209"/>
                  </a:cubicBezTo>
                  <a:cubicBezTo>
                    <a:pt x="553" y="1206"/>
                    <a:pt x="571" y="1206"/>
                    <a:pt x="692" y="1209"/>
                  </a:cubicBezTo>
                  <a:cubicBezTo>
                    <a:pt x="813" y="1212"/>
                    <a:pt x="1094" y="1247"/>
                    <a:pt x="1190" y="1227"/>
                  </a:cubicBezTo>
                  <a:cubicBezTo>
                    <a:pt x="1286" y="1207"/>
                    <a:pt x="1279" y="1170"/>
                    <a:pt x="1271" y="1089"/>
                  </a:cubicBezTo>
                  <a:cubicBezTo>
                    <a:pt x="1263" y="1008"/>
                    <a:pt x="1217" y="818"/>
                    <a:pt x="1139" y="741"/>
                  </a:cubicBezTo>
                  <a:cubicBezTo>
                    <a:pt x="1061" y="664"/>
                    <a:pt x="865" y="743"/>
                    <a:pt x="800" y="627"/>
                  </a:cubicBezTo>
                  <a:cubicBezTo>
                    <a:pt x="735" y="511"/>
                    <a:pt x="785" y="142"/>
                    <a:pt x="749" y="42"/>
                  </a:cubicBezTo>
                  <a:cubicBezTo>
                    <a:pt x="695" y="15"/>
                    <a:pt x="701" y="0"/>
                    <a:pt x="587" y="30"/>
                  </a:cubicBezTo>
                  <a:close/>
                </a:path>
              </a:pathLst>
            </a:custGeom>
            <a:solidFill>
              <a:srgbClr val="66CCFF"/>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latin typeface="+mj-lt"/>
              </a:endParaRPr>
            </a:p>
          </p:txBody>
        </p:sp>
        <p:graphicFrame>
          <p:nvGraphicFramePr>
            <p:cNvPr id="579591" name="Object 7"/>
            <p:cNvGraphicFramePr>
              <a:graphicFrameLocks noChangeAspect="1"/>
            </p:cNvGraphicFramePr>
            <p:nvPr/>
          </p:nvGraphicFramePr>
          <p:xfrm>
            <a:off x="2807" y="797"/>
            <a:ext cx="368" cy="292"/>
          </p:xfrm>
          <a:graphic>
            <a:graphicData uri="http://schemas.openxmlformats.org/presentationml/2006/ole">
              <mc:AlternateContent xmlns:mc="http://schemas.openxmlformats.org/markup-compatibility/2006">
                <mc:Choice xmlns:v="urn:schemas-microsoft-com:vml" Requires="v">
                  <p:oleObj name="Clip" r:id="rId3" imgW="1307263" imgH="1084139" progId="">
                    <p:embed/>
                  </p:oleObj>
                </mc:Choice>
                <mc:Fallback>
                  <p:oleObj name="Clip" r:id="rId3" imgW="1307263" imgH="1084139" progId="">
                    <p:embed/>
                    <p:pic>
                      <p:nvPicPr>
                        <p:cNvPr id="579591"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07" y="797"/>
                          <a:ext cx="368" cy="29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79592" name="Line 8"/>
            <p:cNvSpPr>
              <a:spLocks noChangeShapeType="1"/>
            </p:cNvSpPr>
            <p:nvPr/>
          </p:nvSpPr>
          <p:spPr bwMode="auto">
            <a:xfrm>
              <a:off x="3160" y="1032"/>
              <a:ext cx="175" cy="1"/>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latin typeface="+mj-lt"/>
              </a:endParaRPr>
            </a:p>
          </p:txBody>
        </p:sp>
        <p:sp>
          <p:nvSpPr>
            <p:cNvPr id="579593" name="Line 9"/>
            <p:cNvSpPr>
              <a:spLocks noChangeShapeType="1"/>
            </p:cNvSpPr>
            <p:nvPr/>
          </p:nvSpPr>
          <p:spPr bwMode="auto">
            <a:xfrm flipH="1">
              <a:off x="3343" y="1023"/>
              <a:ext cx="0" cy="81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latin typeface="+mj-lt"/>
              </a:endParaRPr>
            </a:p>
          </p:txBody>
        </p:sp>
        <p:sp>
          <p:nvSpPr>
            <p:cNvPr id="579594" name="Line 10"/>
            <p:cNvSpPr>
              <a:spLocks noChangeShapeType="1"/>
            </p:cNvSpPr>
            <p:nvPr/>
          </p:nvSpPr>
          <p:spPr bwMode="auto">
            <a:xfrm flipV="1">
              <a:off x="3160" y="1438"/>
              <a:ext cx="175" cy="2"/>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latin typeface="+mj-lt"/>
              </a:endParaRPr>
            </a:p>
          </p:txBody>
        </p:sp>
        <p:sp>
          <p:nvSpPr>
            <p:cNvPr id="579595" name="Line 11"/>
            <p:cNvSpPr>
              <a:spLocks noChangeShapeType="1"/>
            </p:cNvSpPr>
            <p:nvPr/>
          </p:nvSpPr>
          <p:spPr bwMode="auto">
            <a:xfrm>
              <a:off x="3166" y="1833"/>
              <a:ext cx="172" cy="1"/>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latin typeface="+mj-lt"/>
              </a:endParaRPr>
            </a:p>
          </p:txBody>
        </p:sp>
        <p:graphicFrame>
          <p:nvGraphicFramePr>
            <p:cNvPr id="579596" name="Object 12"/>
            <p:cNvGraphicFramePr>
              <a:graphicFrameLocks noChangeAspect="1"/>
            </p:cNvGraphicFramePr>
            <p:nvPr/>
          </p:nvGraphicFramePr>
          <p:xfrm>
            <a:off x="2807" y="1217"/>
            <a:ext cx="368" cy="292"/>
          </p:xfrm>
          <a:graphic>
            <a:graphicData uri="http://schemas.openxmlformats.org/presentationml/2006/ole">
              <mc:AlternateContent xmlns:mc="http://schemas.openxmlformats.org/markup-compatibility/2006">
                <mc:Choice xmlns:v="urn:schemas-microsoft-com:vml" Requires="v">
                  <p:oleObj name="Clip" r:id="rId5" imgW="1307263" imgH="1084139" progId="">
                    <p:embed/>
                  </p:oleObj>
                </mc:Choice>
                <mc:Fallback>
                  <p:oleObj name="Clip" r:id="rId5" imgW="1307263" imgH="1084139" progId="">
                    <p:embed/>
                    <p:pic>
                      <p:nvPicPr>
                        <p:cNvPr id="579596" name="Object 1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07" y="1217"/>
                          <a:ext cx="368" cy="29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79597" name="Object 13"/>
            <p:cNvGraphicFramePr>
              <a:graphicFrameLocks noChangeAspect="1"/>
            </p:cNvGraphicFramePr>
            <p:nvPr/>
          </p:nvGraphicFramePr>
          <p:xfrm>
            <a:off x="2807" y="1601"/>
            <a:ext cx="368" cy="292"/>
          </p:xfrm>
          <a:graphic>
            <a:graphicData uri="http://schemas.openxmlformats.org/presentationml/2006/ole">
              <mc:AlternateContent xmlns:mc="http://schemas.openxmlformats.org/markup-compatibility/2006">
                <mc:Choice xmlns:v="urn:schemas-microsoft-com:vml" Requires="v">
                  <p:oleObj name="Clip" r:id="rId6" imgW="1307263" imgH="1084139" progId="">
                    <p:embed/>
                  </p:oleObj>
                </mc:Choice>
                <mc:Fallback>
                  <p:oleObj name="Clip" r:id="rId6" imgW="1307263" imgH="1084139" progId="">
                    <p:embed/>
                    <p:pic>
                      <p:nvPicPr>
                        <p:cNvPr id="579597" name="Object 1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07" y="1601"/>
                          <a:ext cx="368" cy="29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79598" name="Line 14"/>
            <p:cNvSpPr>
              <a:spLocks noChangeShapeType="1"/>
            </p:cNvSpPr>
            <p:nvPr/>
          </p:nvSpPr>
          <p:spPr bwMode="auto">
            <a:xfrm>
              <a:off x="3343" y="1563"/>
              <a:ext cx="652" cy="4"/>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latin typeface="+mj-lt"/>
              </a:endParaRPr>
            </a:p>
          </p:txBody>
        </p:sp>
        <p:grpSp>
          <p:nvGrpSpPr>
            <p:cNvPr id="6" name="Group 15"/>
            <p:cNvGrpSpPr>
              <a:grpSpLocks/>
            </p:cNvGrpSpPr>
            <p:nvPr/>
          </p:nvGrpSpPr>
          <p:grpSpPr bwMode="auto">
            <a:xfrm>
              <a:off x="3937" y="1541"/>
              <a:ext cx="448" cy="240"/>
              <a:chOff x="3600" y="219"/>
              <a:chExt cx="360" cy="175"/>
            </a:xfrm>
          </p:grpSpPr>
          <p:sp>
            <p:nvSpPr>
              <p:cNvPr id="579600" name="Oval 16"/>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latin typeface="+mj-lt"/>
                </a:endParaRPr>
              </a:p>
            </p:txBody>
          </p:sp>
          <p:sp>
            <p:nvSpPr>
              <p:cNvPr id="579601" name="Line 17"/>
              <p:cNvSpPr>
                <a:spLocks noChangeShapeType="1"/>
              </p:cNvSpPr>
              <p:nvPr/>
            </p:nvSpPr>
            <p:spPr bwMode="auto">
              <a:xfrm>
                <a:off x="3603" y="289"/>
                <a:ext cx="0" cy="6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latin typeface="+mj-lt"/>
                </a:endParaRPr>
              </a:p>
            </p:txBody>
          </p:sp>
          <p:sp>
            <p:nvSpPr>
              <p:cNvPr id="579602" name="Line 18"/>
              <p:cNvSpPr>
                <a:spLocks noChangeShapeType="1"/>
              </p:cNvSpPr>
              <p:nvPr/>
            </p:nvSpPr>
            <p:spPr bwMode="auto">
              <a:xfrm>
                <a:off x="3960" y="289"/>
                <a:ext cx="0" cy="6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latin typeface="+mj-lt"/>
                </a:endParaRPr>
              </a:p>
            </p:txBody>
          </p:sp>
          <p:sp>
            <p:nvSpPr>
              <p:cNvPr id="579603" name="Rectangle 19"/>
              <p:cNvSpPr>
                <a:spLocks noChangeArrowheads="1"/>
              </p:cNvSpPr>
              <p:nvPr/>
            </p:nvSpPr>
            <p:spPr bwMode="auto">
              <a:xfrm>
                <a:off x="3603" y="289"/>
                <a:ext cx="354" cy="59"/>
              </a:xfrm>
              <a:prstGeom prst="rect">
                <a:avLst/>
              </a:prstGeom>
              <a:solidFill>
                <a:schemeClr val="hlink"/>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de-DE" sz="2400">
                  <a:latin typeface="+mj-lt"/>
                </a:endParaRPr>
              </a:p>
            </p:txBody>
          </p:sp>
          <p:sp>
            <p:nvSpPr>
              <p:cNvPr id="579604" name="Oval 20"/>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latin typeface="+mj-lt"/>
                </a:endParaRPr>
              </a:p>
            </p:txBody>
          </p:sp>
          <p:grpSp>
            <p:nvGrpSpPr>
              <p:cNvPr id="7" name="Group 21"/>
              <p:cNvGrpSpPr>
                <a:grpSpLocks/>
              </p:cNvGrpSpPr>
              <p:nvPr/>
            </p:nvGrpSpPr>
            <p:grpSpPr bwMode="auto">
              <a:xfrm>
                <a:off x="3686" y="244"/>
                <a:ext cx="177" cy="66"/>
                <a:chOff x="2848" y="848"/>
                <a:chExt cx="140" cy="98"/>
              </a:xfrm>
            </p:grpSpPr>
            <p:sp>
              <p:nvSpPr>
                <p:cNvPr id="579606" name="Line 22"/>
                <p:cNvSpPr>
                  <a:spLocks noChangeShapeType="1"/>
                </p:cNvSpPr>
                <p:nvPr/>
              </p:nvSpPr>
              <p:spPr bwMode="auto">
                <a:xfrm flipV="1">
                  <a:off x="2848" y="848"/>
                  <a:ext cx="50" cy="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latin typeface="+mj-lt"/>
                  </a:endParaRPr>
                </a:p>
              </p:txBody>
            </p:sp>
            <p:sp>
              <p:nvSpPr>
                <p:cNvPr id="579607" name="Line 23"/>
                <p:cNvSpPr>
                  <a:spLocks noChangeShapeType="1"/>
                </p:cNvSpPr>
                <p:nvPr/>
              </p:nvSpPr>
              <p:spPr bwMode="auto">
                <a:xfrm>
                  <a:off x="2944" y="946"/>
                  <a:ext cx="4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latin typeface="+mj-lt"/>
                  </a:endParaRPr>
                </a:p>
              </p:txBody>
            </p:sp>
            <p:sp>
              <p:nvSpPr>
                <p:cNvPr id="579608" name="Line 24"/>
                <p:cNvSpPr>
                  <a:spLocks noChangeShapeType="1"/>
                </p:cNvSpPr>
                <p:nvPr/>
              </p:nvSpPr>
              <p:spPr bwMode="auto">
                <a:xfrm>
                  <a:off x="2894" y="850"/>
                  <a:ext cx="52" cy="9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latin typeface="+mj-lt"/>
                  </a:endParaRPr>
                </a:p>
              </p:txBody>
            </p:sp>
          </p:grpSp>
          <p:grpSp>
            <p:nvGrpSpPr>
              <p:cNvPr id="8" name="Group 25"/>
              <p:cNvGrpSpPr>
                <a:grpSpLocks/>
              </p:cNvGrpSpPr>
              <p:nvPr/>
            </p:nvGrpSpPr>
            <p:grpSpPr bwMode="auto">
              <a:xfrm flipV="1">
                <a:off x="3686" y="243"/>
                <a:ext cx="177" cy="66"/>
                <a:chOff x="2848" y="848"/>
                <a:chExt cx="140" cy="98"/>
              </a:xfrm>
            </p:grpSpPr>
            <p:sp>
              <p:nvSpPr>
                <p:cNvPr id="579610" name="Line 26"/>
                <p:cNvSpPr>
                  <a:spLocks noChangeShapeType="1"/>
                </p:cNvSpPr>
                <p:nvPr/>
              </p:nvSpPr>
              <p:spPr bwMode="auto">
                <a:xfrm flipV="1">
                  <a:off x="2848" y="848"/>
                  <a:ext cx="50" cy="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latin typeface="+mj-lt"/>
                  </a:endParaRPr>
                </a:p>
              </p:txBody>
            </p:sp>
            <p:sp>
              <p:nvSpPr>
                <p:cNvPr id="579611" name="Line 27"/>
                <p:cNvSpPr>
                  <a:spLocks noChangeShapeType="1"/>
                </p:cNvSpPr>
                <p:nvPr/>
              </p:nvSpPr>
              <p:spPr bwMode="auto">
                <a:xfrm>
                  <a:off x="2944" y="946"/>
                  <a:ext cx="4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latin typeface="+mj-lt"/>
                  </a:endParaRPr>
                </a:p>
              </p:txBody>
            </p:sp>
            <p:sp>
              <p:nvSpPr>
                <p:cNvPr id="579612" name="Line 28"/>
                <p:cNvSpPr>
                  <a:spLocks noChangeShapeType="1"/>
                </p:cNvSpPr>
                <p:nvPr/>
              </p:nvSpPr>
              <p:spPr bwMode="auto">
                <a:xfrm>
                  <a:off x="2894" y="850"/>
                  <a:ext cx="52" cy="9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latin typeface="+mj-lt"/>
                  </a:endParaRPr>
                </a:p>
              </p:txBody>
            </p:sp>
          </p:grpSp>
        </p:grpSp>
        <p:sp>
          <p:nvSpPr>
            <p:cNvPr id="579617" name="Text Box 33"/>
            <p:cNvSpPr txBox="1">
              <a:spLocks noChangeArrowheads="1"/>
            </p:cNvSpPr>
            <p:nvPr/>
          </p:nvSpPr>
          <p:spPr bwMode="auto">
            <a:xfrm>
              <a:off x="2526" y="505"/>
              <a:ext cx="2181" cy="25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de-DE" sz="2000" dirty="0">
                  <a:latin typeface="+mj-lt"/>
                  <a:cs typeface="Times New Roman" pitchFamily="18" charset="0"/>
                </a:rPr>
                <a:t>11001000  00010111  </a:t>
              </a:r>
              <a:r>
                <a:rPr lang="de-DE" sz="2000" b="1" dirty="0">
                  <a:solidFill>
                    <a:srgbClr val="FF0000"/>
                  </a:solidFill>
                  <a:latin typeface="+mj-lt"/>
                  <a:cs typeface="Times New Roman" pitchFamily="18" charset="0"/>
                </a:rPr>
                <a:t>00011</a:t>
              </a:r>
              <a:endParaRPr lang="de-DE" sz="2000" b="1" dirty="0">
                <a:solidFill>
                  <a:srgbClr val="FF0000"/>
                </a:solidFill>
                <a:latin typeface="+mj-lt"/>
              </a:endParaRPr>
            </a:p>
          </p:txBody>
        </p:sp>
        <p:sp>
          <p:nvSpPr>
            <p:cNvPr id="579629" name="Line 45"/>
            <p:cNvSpPr>
              <a:spLocks noChangeShapeType="1"/>
            </p:cNvSpPr>
            <p:nvPr/>
          </p:nvSpPr>
          <p:spPr bwMode="auto">
            <a:xfrm flipH="1">
              <a:off x="4168" y="1782"/>
              <a:ext cx="0" cy="81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latin typeface="+mj-lt"/>
              </a:endParaRPr>
            </a:p>
          </p:txBody>
        </p:sp>
        <p:sp>
          <p:nvSpPr>
            <p:cNvPr id="579630" name="Line 46"/>
            <p:cNvSpPr>
              <a:spLocks noChangeShapeType="1"/>
            </p:cNvSpPr>
            <p:nvPr/>
          </p:nvSpPr>
          <p:spPr bwMode="auto">
            <a:xfrm flipH="1">
              <a:off x="3784" y="2589"/>
              <a:ext cx="747"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latin typeface="+mj-lt"/>
              </a:endParaRPr>
            </a:p>
          </p:txBody>
        </p:sp>
        <p:sp>
          <p:nvSpPr>
            <p:cNvPr id="579631" name="Line 47"/>
            <p:cNvSpPr>
              <a:spLocks noChangeShapeType="1"/>
            </p:cNvSpPr>
            <p:nvPr/>
          </p:nvSpPr>
          <p:spPr bwMode="auto">
            <a:xfrm flipH="1" flipV="1">
              <a:off x="3782" y="2584"/>
              <a:ext cx="2" cy="152"/>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latin typeface="+mj-lt"/>
              </a:endParaRPr>
            </a:p>
          </p:txBody>
        </p:sp>
        <p:sp>
          <p:nvSpPr>
            <p:cNvPr id="579632" name="Line 48"/>
            <p:cNvSpPr>
              <a:spLocks noChangeShapeType="1"/>
            </p:cNvSpPr>
            <p:nvPr/>
          </p:nvSpPr>
          <p:spPr bwMode="auto">
            <a:xfrm flipH="1" flipV="1">
              <a:off x="4523" y="2587"/>
              <a:ext cx="2" cy="152"/>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latin typeface="+mj-lt"/>
              </a:endParaRPr>
            </a:p>
          </p:txBody>
        </p:sp>
        <p:graphicFrame>
          <p:nvGraphicFramePr>
            <p:cNvPr id="579633" name="Object 49"/>
            <p:cNvGraphicFramePr>
              <a:graphicFrameLocks noChangeAspect="1"/>
            </p:cNvGraphicFramePr>
            <p:nvPr/>
          </p:nvGraphicFramePr>
          <p:xfrm>
            <a:off x="4388" y="2687"/>
            <a:ext cx="368" cy="292"/>
          </p:xfrm>
          <a:graphic>
            <a:graphicData uri="http://schemas.openxmlformats.org/presentationml/2006/ole">
              <mc:AlternateContent xmlns:mc="http://schemas.openxmlformats.org/markup-compatibility/2006">
                <mc:Choice xmlns:v="urn:schemas-microsoft-com:vml" Requires="v">
                  <p:oleObj name="Clip" r:id="rId7" imgW="1307263" imgH="1084139" progId="">
                    <p:embed/>
                  </p:oleObj>
                </mc:Choice>
                <mc:Fallback>
                  <p:oleObj name="Clip" r:id="rId7" imgW="1307263" imgH="1084139" progId="">
                    <p:embed/>
                    <p:pic>
                      <p:nvPicPr>
                        <p:cNvPr id="579633" name="Object 4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388" y="2687"/>
                          <a:ext cx="368" cy="29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79634" name="Object 50"/>
            <p:cNvGraphicFramePr>
              <a:graphicFrameLocks noChangeAspect="1"/>
            </p:cNvGraphicFramePr>
            <p:nvPr/>
          </p:nvGraphicFramePr>
          <p:xfrm>
            <a:off x="3596" y="2696"/>
            <a:ext cx="368" cy="292"/>
          </p:xfrm>
          <a:graphic>
            <a:graphicData uri="http://schemas.openxmlformats.org/presentationml/2006/ole">
              <mc:AlternateContent xmlns:mc="http://schemas.openxmlformats.org/markup-compatibility/2006">
                <mc:Choice xmlns:v="urn:schemas-microsoft-com:vml" Requires="v">
                  <p:oleObj name="Clip" r:id="rId8" imgW="1307263" imgH="1084139" progId="">
                    <p:embed/>
                  </p:oleObj>
                </mc:Choice>
                <mc:Fallback>
                  <p:oleObj name="Clip" r:id="rId8" imgW="1307263" imgH="1084139" progId="">
                    <p:embed/>
                    <p:pic>
                      <p:nvPicPr>
                        <p:cNvPr id="579634" name="Object 5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96" y="2696"/>
                          <a:ext cx="368" cy="29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79635" name="Text Box 51"/>
            <p:cNvSpPr txBox="1">
              <a:spLocks noChangeArrowheads="1"/>
            </p:cNvSpPr>
            <p:nvPr/>
          </p:nvSpPr>
          <p:spPr bwMode="auto">
            <a:xfrm>
              <a:off x="2846" y="3011"/>
              <a:ext cx="2450" cy="25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de-DE" sz="2000">
                  <a:latin typeface="+mj-lt"/>
                  <a:cs typeface="Times New Roman" pitchFamily="18" charset="0"/>
                </a:rPr>
                <a:t>11001000  00010111  </a:t>
              </a:r>
              <a:r>
                <a:rPr lang="de-DE" sz="2000" b="1">
                  <a:solidFill>
                    <a:srgbClr val="FF0000"/>
                  </a:solidFill>
                  <a:latin typeface="+mj-lt"/>
                  <a:cs typeface="Times New Roman" pitchFamily="18" charset="0"/>
                </a:rPr>
                <a:t>00011000</a:t>
              </a:r>
              <a:r>
                <a:rPr lang="de-DE" sz="2000">
                  <a:latin typeface="+mj-lt"/>
                  <a:cs typeface="Times New Roman" pitchFamily="18" charset="0"/>
                </a:rPr>
                <a:t> </a:t>
              </a:r>
              <a:endParaRPr lang="de-DE" sz="2000">
                <a:latin typeface="+mj-lt"/>
              </a:endParaRPr>
            </a:p>
          </p:txBody>
        </p:sp>
        <p:sp>
          <p:nvSpPr>
            <p:cNvPr id="579636" name="Rectangle 52"/>
            <p:cNvSpPr>
              <a:spLocks noChangeArrowheads="1"/>
            </p:cNvSpPr>
            <p:nvPr/>
          </p:nvSpPr>
          <p:spPr bwMode="auto">
            <a:xfrm>
              <a:off x="3054" y="2412"/>
              <a:ext cx="534" cy="114"/>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latin typeface="+mj-lt"/>
              </a:endParaRPr>
            </a:p>
          </p:txBody>
        </p:sp>
        <p:sp>
          <p:nvSpPr>
            <p:cNvPr id="61" name="Line 45"/>
            <p:cNvSpPr>
              <a:spLocks noChangeShapeType="1"/>
            </p:cNvSpPr>
            <p:nvPr/>
          </p:nvSpPr>
          <p:spPr bwMode="auto">
            <a:xfrm flipV="1">
              <a:off x="4264" y="1363"/>
              <a:ext cx="179" cy="179"/>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latin typeface="+mj-lt"/>
              </a:endParaRPr>
            </a:p>
          </p:txBody>
        </p:sp>
        <p:sp>
          <p:nvSpPr>
            <p:cNvPr id="62" name="Line 45"/>
            <p:cNvSpPr>
              <a:spLocks noChangeShapeType="1"/>
            </p:cNvSpPr>
            <p:nvPr/>
          </p:nvSpPr>
          <p:spPr bwMode="auto">
            <a:xfrm flipV="1">
              <a:off x="4393" y="1637"/>
              <a:ext cx="174" cy="29"/>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latin typeface="+mj-lt"/>
              </a:endParaRPr>
            </a:p>
          </p:txBody>
        </p:sp>
      </p:grpSp>
      <p:sp>
        <p:nvSpPr>
          <p:cNvPr id="2" name="TextBox 1"/>
          <p:cNvSpPr txBox="1"/>
          <p:nvPr/>
        </p:nvSpPr>
        <p:spPr>
          <a:xfrm>
            <a:off x="6760062" y="2510361"/>
            <a:ext cx="561372" cy="461665"/>
          </a:xfrm>
          <a:prstGeom prst="rect">
            <a:avLst/>
          </a:prstGeom>
          <a:noFill/>
        </p:spPr>
        <p:txBody>
          <a:bodyPr wrap="none" rtlCol="0">
            <a:spAutoFit/>
          </a:bodyPr>
          <a:lstStyle/>
          <a:p>
            <a:r>
              <a:rPr lang="de-DE" sz="2400" dirty="0"/>
              <a:t>A2</a:t>
            </a:r>
          </a:p>
        </p:txBody>
      </p:sp>
      <p:sp>
        <p:nvSpPr>
          <p:cNvPr id="60" name="TextBox 59"/>
          <p:cNvSpPr txBox="1"/>
          <p:nvPr/>
        </p:nvSpPr>
        <p:spPr>
          <a:xfrm>
            <a:off x="7588141" y="3182731"/>
            <a:ext cx="561372" cy="461665"/>
          </a:xfrm>
          <a:prstGeom prst="rect">
            <a:avLst/>
          </a:prstGeom>
          <a:noFill/>
        </p:spPr>
        <p:txBody>
          <a:bodyPr wrap="none" rtlCol="0">
            <a:spAutoFit/>
          </a:bodyPr>
          <a:lstStyle/>
          <a:p>
            <a:r>
              <a:rPr lang="de-DE" sz="2400" dirty="0"/>
              <a:t>A1</a:t>
            </a:r>
          </a:p>
        </p:txBody>
      </p:sp>
      <p:sp>
        <p:nvSpPr>
          <p:cNvPr id="3" name="Rectangle 2"/>
          <p:cNvSpPr/>
          <p:nvPr/>
        </p:nvSpPr>
        <p:spPr>
          <a:xfrm>
            <a:off x="6427657" y="1484784"/>
            <a:ext cx="2536831" cy="400110"/>
          </a:xfrm>
          <a:prstGeom prst="rect">
            <a:avLst/>
          </a:prstGeom>
        </p:spPr>
        <p:txBody>
          <a:bodyPr wrap="square">
            <a:spAutoFit/>
          </a:bodyPr>
          <a:lstStyle/>
          <a:p>
            <a:r>
              <a:rPr lang="de-DE" sz="2000" u="sng" dirty="0">
                <a:latin typeface="+mj-lt"/>
                <a:cs typeface="Times New Roman" pitchFamily="18" charset="0"/>
              </a:rPr>
              <a:t>ohne</a:t>
            </a:r>
            <a:r>
              <a:rPr lang="de-DE" sz="2000" dirty="0">
                <a:latin typeface="+mj-lt"/>
                <a:cs typeface="Times New Roman" pitchFamily="18" charset="0"/>
              </a:rPr>
              <a:t> </a:t>
            </a:r>
            <a:r>
              <a:rPr lang="de-DE" sz="2000" u="sng" dirty="0">
                <a:latin typeface="+mj-lt"/>
                <a:cs typeface="Times New Roman" pitchFamily="18" charset="0"/>
              </a:rPr>
              <a:t>alles</a:t>
            </a:r>
            <a:r>
              <a:rPr lang="de-DE" sz="2000" dirty="0">
                <a:latin typeface="+mj-lt"/>
                <a:cs typeface="Times New Roman" pitchFamily="18" charset="0"/>
              </a:rPr>
              <a:t> über A1! </a:t>
            </a:r>
            <a:endParaRPr lang="de-DE" sz="2000" dirty="0">
              <a:latin typeface="+mj-lt"/>
            </a:endParaRPr>
          </a:p>
        </p:txBody>
      </p:sp>
      <p:sp>
        <p:nvSpPr>
          <p:cNvPr id="4" name="TextBox 3"/>
          <p:cNvSpPr txBox="1"/>
          <p:nvPr/>
        </p:nvSpPr>
        <p:spPr>
          <a:xfrm>
            <a:off x="6577539" y="5576470"/>
            <a:ext cx="2150204" cy="707886"/>
          </a:xfrm>
          <a:prstGeom prst="rect">
            <a:avLst/>
          </a:prstGeom>
        </p:spPr>
        <p:style>
          <a:lnRef idx="2">
            <a:schemeClr val="accent2"/>
          </a:lnRef>
          <a:fillRef idx="1">
            <a:schemeClr val="lt1"/>
          </a:fillRef>
          <a:effectRef idx="0">
            <a:schemeClr val="accent2"/>
          </a:effectRef>
          <a:fontRef idx="minor">
            <a:schemeClr val="dk1"/>
          </a:fontRef>
        </p:style>
        <p:txBody>
          <a:bodyPr wrap="none" rtlCol="0">
            <a:spAutoFit/>
          </a:bodyPr>
          <a:lstStyle/>
          <a:p>
            <a:r>
              <a:rPr lang="de-DE" sz="2000" dirty="0">
                <a:latin typeface="+mj-lt"/>
              </a:rPr>
              <a:t>Subnetz über A1:</a:t>
            </a:r>
          </a:p>
          <a:p>
            <a:r>
              <a:rPr lang="de-DE" sz="2000" dirty="0">
                <a:solidFill>
                  <a:srgbClr val="000000"/>
                </a:solidFill>
                <a:latin typeface="+mj-lt"/>
                <a:cs typeface="Times New Roman" pitchFamily="18" charset="0"/>
              </a:rPr>
              <a:t>200.23.24.0/24</a:t>
            </a:r>
            <a:endParaRPr lang="de-DE" sz="2000" dirty="0">
              <a:solidFill>
                <a:srgbClr val="000000"/>
              </a:solidFill>
              <a:latin typeface="+mj-lt"/>
            </a:endParaRPr>
          </a:p>
        </p:txBody>
      </p:sp>
      <p:sp>
        <p:nvSpPr>
          <p:cNvPr id="63" name="TextBox 62"/>
          <p:cNvSpPr txBox="1"/>
          <p:nvPr/>
        </p:nvSpPr>
        <p:spPr>
          <a:xfrm>
            <a:off x="4847375" y="3371831"/>
            <a:ext cx="2150204" cy="1015663"/>
          </a:xfrm>
          <a:prstGeom prst="rect">
            <a:avLst/>
          </a:prstGeom>
        </p:spPr>
        <p:style>
          <a:lnRef idx="2">
            <a:schemeClr val="accent2"/>
          </a:lnRef>
          <a:fillRef idx="1">
            <a:schemeClr val="lt1"/>
          </a:fillRef>
          <a:effectRef idx="0">
            <a:schemeClr val="accent2"/>
          </a:effectRef>
          <a:fontRef idx="minor">
            <a:schemeClr val="dk1"/>
          </a:fontRef>
        </p:style>
        <p:txBody>
          <a:bodyPr wrap="none" rtlCol="0">
            <a:spAutoFit/>
          </a:bodyPr>
          <a:lstStyle/>
          <a:p>
            <a:r>
              <a:rPr lang="de-DE" sz="2000" dirty="0">
                <a:latin typeface="+mj-lt"/>
              </a:rPr>
              <a:t>Subnetz über A2:</a:t>
            </a:r>
          </a:p>
          <a:p>
            <a:r>
              <a:rPr lang="de-DE" sz="2000" dirty="0">
                <a:solidFill>
                  <a:srgbClr val="000000"/>
                </a:solidFill>
                <a:latin typeface="+mj-lt"/>
                <a:cs typeface="Times New Roman" pitchFamily="18" charset="0"/>
              </a:rPr>
              <a:t>200.23.24.0/21 </a:t>
            </a:r>
            <a:r>
              <a:rPr lang="de-DE" sz="2000" b="1" dirty="0">
                <a:solidFill>
                  <a:srgbClr val="FF0000"/>
                </a:solidFill>
                <a:latin typeface="+mj-lt"/>
                <a:cs typeface="Times New Roman" pitchFamily="18" charset="0"/>
              </a:rPr>
              <a:t>–</a:t>
            </a:r>
            <a:endParaRPr lang="de-DE" sz="2000" b="1" dirty="0">
              <a:solidFill>
                <a:srgbClr val="FF0000"/>
              </a:solidFill>
              <a:latin typeface="+mj-lt"/>
            </a:endParaRPr>
          </a:p>
          <a:p>
            <a:r>
              <a:rPr lang="de-DE" sz="2000" dirty="0">
                <a:solidFill>
                  <a:srgbClr val="000000"/>
                </a:solidFill>
                <a:latin typeface="+mj-lt"/>
                <a:cs typeface="Times New Roman" pitchFamily="18" charset="0"/>
              </a:rPr>
              <a:t>200.23.24.0/24</a:t>
            </a:r>
          </a:p>
        </p:txBody>
      </p:sp>
    </p:spTree>
    <p:extLst>
      <p:ext uri="{BB962C8B-B14F-4D97-AF65-F5344CB8AC3E}">
        <p14:creationId xmlns:p14="http://schemas.microsoft.com/office/powerpoint/2010/main" val="39547590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5" presetClass="entr" presetSubtype="0" fill="hold" grpId="0" nodeType="clickEffect">
                                  <p:stCondLst>
                                    <p:cond delay="0"/>
                                  </p:stCondLst>
                                  <p:childTnLst>
                                    <p:set>
                                      <p:cBhvr>
                                        <p:cTn id="13" dur="1" fill="hold">
                                          <p:stCondLst>
                                            <p:cond delay="0"/>
                                          </p:stCondLst>
                                        </p:cTn>
                                        <p:tgtEl>
                                          <p:spTgt spid="63"/>
                                        </p:tgtEl>
                                        <p:attrNameLst>
                                          <p:attrName>style.visibility</p:attrName>
                                        </p:attrNameLst>
                                      </p:cBhvr>
                                      <p:to>
                                        <p:strVal val="visible"/>
                                      </p:to>
                                    </p:set>
                                    <p:animEffect transition="in" filter="fade">
                                      <p:cBhvr>
                                        <p:cTn id="14" dur="2000"/>
                                        <p:tgtEl>
                                          <p:spTgt spid="63"/>
                                        </p:tgtEl>
                                      </p:cBhvr>
                                    </p:animEffect>
                                    <p:anim calcmode="lin" valueType="num">
                                      <p:cBhvr>
                                        <p:cTn id="15" dur="2000" fill="hold"/>
                                        <p:tgtEl>
                                          <p:spTgt spid="63"/>
                                        </p:tgtEl>
                                        <p:attrNameLst>
                                          <p:attrName>ppt_w</p:attrName>
                                        </p:attrNameLst>
                                      </p:cBhvr>
                                      <p:tavLst>
                                        <p:tav tm="0" fmla="#ppt_w*sin(2.5*pi*$)">
                                          <p:val>
                                            <p:fltVal val="0"/>
                                          </p:val>
                                        </p:tav>
                                        <p:tav tm="100000">
                                          <p:val>
                                            <p:fltVal val="1"/>
                                          </p:val>
                                        </p:tav>
                                      </p:tavLst>
                                    </p:anim>
                                    <p:anim calcmode="lin" valueType="num">
                                      <p:cBhvr>
                                        <p:cTn id="16" dur="2000" fill="hold"/>
                                        <p:tgtEl>
                                          <p:spTgt spid="63"/>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3"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3FBECF2-188A-4ADC-B4CC-B466C0BC8F27}"/>
              </a:ext>
            </a:extLst>
          </p:cNvPr>
          <p:cNvSpPr>
            <a:spLocks noGrp="1"/>
          </p:cNvSpPr>
          <p:nvPr>
            <p:ph type="title"/>
          </p:nvPr>
        </p:nvSpPr>
        <p:spPr/>
        <p:txBody>
          <a:bodyPr>
            <a:normAutofit/>
          </a:bodyPr>
          <a:lstStyle/>
          <a:p>
            <a:r>
              <a:rPr lang="de-DE" b="1" dirty="0">
                <a:solidFill>
                  <a:srgbClr val="0070C0"/>
                </a:solidFill>
              </a:rPr>
              <a:t>Filius</a:t>
            </a:r>
            <a:r>
              <a:rPr lang="de-DE" dirty="0"/>
              <a:t> Lernanwendung – z.B. Routing </a:t>
            </a:r>
          </a:p>
        </p:txBody>
      </p:sp>
      <p:sp>
        <p:nvSpPr>
          <p:cNvPr id="3" name="Foliennummernplatzhalter 2">
            <a:extLst>
              <a:ext uri="{FF2B5EF4-FFF2-40B4-BE49-F238E27FC236}">
                <a16:creationId xmlns:a16="http://schemas.microsoft.com/office/drawing/2014/main" id="{CE7DE6E7-E29D-493E-81F6-C8FDE440455F}"/>
              </a:ext>
            </a:extLst>
          </p:cNvPr>
          <p:cNvSpPr>
            <a:spLocks noGrp="1"/>
          </p:cNvSpPr>
          <p:nvPr>
            <p:ph type="sldNum" sz="quarter" idx="12"/>
          </p:nvPr>
        </p:nvSpPr>
        <p:spPr/>
        <p:txBody>
          <a:bodyPr/>
          <a:lstStyle/>
          <a:p>
            <a:fld id="{7183533A-8A50-4A1F-BEA9-C8C6956451EB}" type="slidenum">
              <a:rPr lang="en-US" noProof="0" smtClean="0"/>
              <a:pPr/>
              <a:t>19</a:t>
            </a:fld>
            <a:endParaRPr lang="en-US" noProof="0" dirty="0"/>
          </a:p>
        </p:txBody>
      </p:sp>
      <p:sp>
        <p:nvSpPr>
          <p:cNvPr id="4" name="Inhaltsplatzhalter 3">
            <a:extLst>
              <a:ext uri="{FF2B5EF4-FFF2-40B4-BE49-F238E27FC236}">
                <a16:creationId xmlns:a16="http://schemas.microsoft.com/office/drawing/2014/main" id="{9212F06B-47D4-4494-AA75-5E4C6DF31385}"/>
              </a:ext>
            </a:extLst>
          </p:cNvPr>
          <p:cNvSpPr>
            <a:spLocks noGrp="1"/>
          </p:cNvSpPr>
          <p:nvPr>
            <p:ph sz="quarter" idx="1"/>
          </p:nvPr>
        </p:nvSpPr>
        <p:spPr/>
        <p:txBody>
          <a:bodyPr>
            <a:normAutofit/>
          </a:bodyPr>
          <a:lstStyle/>
          <a:p>
            <a:r>
              <a:rPr lang="de-DE" sz="1800" dirty="0"/>
              <a:t>https://www.lernsoftware-filius.de/Startseite</a:t>
            </a:r>
          </a:p>
          <a:p>
            <a:r>
              <a:rPr lang="de-DE" sz="1800" dirty="0"/>
              <a:t>https://www.lernsoftware-filius.de/downloads/Einfuehrung_Filius_2015.pdf </a:t>
            </a:r>
          </a:p>
        </p:txBody>
      </p:sp>
      <p:pic>
        <p:nvPicPr>
          <p:cNvPr id="7" name="Grafik 6">
            <a:extLst>
              <a:ext uri="{FF2B5EF4-FFF2-40B4-BE49-F238E27FC236}">
                <a16:creationId xmlns:a16="http://schemas.microsoft.com/office/drawing/2014/main" id="{2F27833F-0399-480F-8C10-2C65D54AB5E4}"/>
              </a:ext>
            </a:extLst>
          </p:cNvPr>
          <p:cNvPicPr>
            <a:picLocks noChangeAspect="1"/>
          </p:cNvPicPr>
          <p:nvPr/>
        </p:nvPicPr>
        <p:blipFill>
          <a:blip r:embed="rId2"/>
          <a:stretch>
            <a:fillRect/>
          </a:stretch>
        </p:blipFill>
        <p:spPr>
          <a:xfrm>
            <a:off x="325810" y="2132614"/>
            <a:ext cx="4246190" cy="2131062"/>
          </a:xfrm>
          <a:prstGeom prst="rect">
            <a:avLst/>
          </a:prstGeom>
        </p:spPr>
      </p:pic>
      <p:pic>
        <p:nvPicPr>
          <p:cNvPr id="13" name="Grafik 12">
            <a:extLst>
              <a:ext uri="{FF2B5EF4-FFF2-40B4-BE49-F238E27FC236}">
                <a16:creationId xmlns:a16="http://schemas.microsoft.com/office/drawing/2014/main" id="{98F60D8D-60D1-4E13-AF47-64B97A9F6149}"/>
              </a:ext>
            </a:extLst>
          </p:cNvPr>
          <p:cNvPicPr>
            <a:picLocks noChangeAspect="1"/>
          </p:cNvPicPr>
          <p:nvPr/>
        </p:nvPicPr>
        <p:blipFill>
          <a:blip r:embed="rId3"/>
          <a:stretch>
            <a:fillRect/>
          </a:stretch>
        </p:blipFill>
        <p:spPr>
          <a:xfrm>
            <a:off x="4572000" y="2031186"/>
            <a:ext cx="4204843" cy="2333918"/>
          </a:xfrm>
          <a:prstGeom prst="rect">
            <a:avLst/>
          </a:prstGeom>
        </p:spPr>
      </p:pic>
      <p:pic>
        <p:nvPicPr>
          <p:cNvPr id="15" name="Grafik 14">
            <a:extLst>
              <a:ext uri="{FF2B5EF4-FFF2-40B4-BE49-F238E27FC236}">
                <a16:creationId xmlns:a16="http://schemas.microsoft.com/office/drawing/2014/main" id="{B4CC5EB9-5AB8-49DB-BDF2-CDE25F04F7CC}"/>
              </a:ext>
            </a:extLst>
          </p:cNvPr>
          <p:cNvPicPr>
            <a:picLocks noChangeAspect="1"/>
          </p:cNvPicPr>
          <p:nvPr/>
        </p:nvPicPr>
        <p:blipFill>
          <a:blip r:embed="rId4"/>
          <a:stretch>
            <a:fillRect/>
          </a:stretch>
        </p:blipFill>
        <p:spPr>
          <a:xfrm>
            <a:off x="971600" y="4544058"/>
            <a:ext cx="6157354" cy="2131062"/>
          </a:xfrm>
          <a:prstGeom prst="rect">
            <a:avLst/>
          </a:prstGeom>
        </p:spPr>
      </p:pic>
    </p:spTree>
    <p:extLst>
      <p:ext uri="{BB962C8B-B14F-4D97-AF65-F5344CB8AC3E}">
        <p14:creationId xmlns:p14="http://schemas.microsoft.com/office/powerpoint/2010/main" val="268099302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nummernplatzhalter 1"/>
          <p:cNvSpPr>
            <a:spLocks noGrp="1"/>
          </p:cNvSpPr>
          <p:nvPr>
            <p:ph type="sldNum" sz="quarter" idx="12"/>
          </p:nvPr>
        </p:nvSpPr>
        <p:spPr/>
        <p:txBody>
          <a:bodyPr/>
          <a:lstStyle/>
          <a:p>
            <a:fld id="{6C6AE60A-B69C-4790-82F7-3882EDF23186}" type="slidenum">
              <a:rPr lang="de-DE" smtClean="0"/>
              <a:pPr/>
              <a:t>20</a:t>
            </a:fld>
            <a:endParaRPr lang="de-DE" dirty="0"/>
          </a:p>
        </p:txBody>
      </p:sp>
      <p:sp>
        <p:nvSpPr>
          <p:cNvPr id="3" name="Titel 2"/>
          <p:cNvSpPr>
            <a:spLocks noGrp="1"/>
          </p:cNvSpPr>
          <p:nvPr>
            <p:ph type="title"/>
          </p:nvPr>
        </p:nvSpPr>
        <p:spPr>
          <a:xfrm>
            <a:off x="971600" y="2348880"/>
            <a:ext cx="7200800" cy="2376264"/>
          </a:xfrm>
        </p:spPr>
        <p:txBody>
          <a:bodyPr>
            <a:normAutofit/>
          </a:bodyPr>
          <a:lstStyle/>
          <a:p>
            <a:r>
              <a:rPr lang="de-DE" dirty="0"/>
              <a:t>Routingalgorithmen </a:t>
            </a:r>
            <a:br>
              <a:rPr lang="de-DE" dirty="0"/>
            </a:br>
            <a:r>
              <a:rPr lang="de-DE" dirty="0"/>
              <a:t>(Netzwerkschicht)</a:t>
            </a:r>
          </a:p>
        </p:txBody>
      </p:sp>
    </p:spTree>
    <p:extLst>
      <p:ext uri="{BB962C8B-B14F-4D97-AF65-F5344CB8AC3E}">
        <p14:creationId xmlns:p14="http://schemas.microsoft.com/office/powerpoint/2010/main" val="211458119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 name="Slide Number Placeholder 4"/>
          <p:cNvSpPr>
            <a:spLocks noGrp="1"/>
          </p:cNvSpPr>
          <p:nvPr>
            <p:ph type="sldNum" sz="quarter" idx="12"/>
          </p:nvPr>
        </p:nvSpPr>
        <p:spPr/>
        <p:txBody>
          <a:bodyPr/>
          <a:lstStyle/>
          <a:p>
            <a:fld id="{E03E7E1A-2B5B-4D8D-88B8-8C8DD3EA0994}" type="slidenum">
              <a:rPr lang="de-DE" smtClean="0"/>
              <a:pPr/>
              <a:t>21</a:t>
            </a:fld>
            <a:endParaRPr lang="de-DE"/>
          </a:p>
        </p:txBody>
      </p:sp>
      <p:sp>
        <p:nvSpPr>
          <p:cNvPr id="454822" name="Rectangle 166"/>
          <p:cNvSpPr>
            <a:spLocks noGrp="1" noChangeArrowheads="1"/>
          </p:cNvSpPr>
          <p:nvPr>
            <p:ph type="title"/>
          </p:nvPr>
        </p:nvSpPr>
        <p:spPr>
          <a:xfrm>
            <a:off x="249238" y="0"/>
            <a:ext cx="8894762" cy="1143000"/>
          </a:xfrm>
        </p:spPr>
        <p:txBody>
          <a:bodyPr/>
          <a:lstStyle/>
          <a:p>
            <a:r>
              <a:rPr lang="de-DE" sz="3600" dirty="0"/>
              <a:t>Routing von Paketen</a:t>
            </a:r>
          </a:p>
        </p:txBody>
      </p:sp>
      <p:sp>
        <p:nvSpPr>
          <p:cNvPr id="2" name="TextBox 1"/>
          <p:cNvSpPr txBox="1"/>
          <p:nvPr/>
        </p:nvSpPr>
        <p:spPr>
          <a:xfrm>
            <a:off x="539552" y="1196752"/>
            <a:ext cx="8604449" cy="3200876"/>
          </a:xfrm>
          <a:prstGeom prst="rect">
            <a:avLst/>
          </a:prstGeom>
          <a:noFill/>
        </p:spPr>
        <p:txBody>
          <a:bodyPr wrap="square" rtlCol="0">
            <a:spAutoFit/>
          </a:bodyPr>
          <a:lstStyle/>
          <a:p>
            <a:pPr marL="274320" indent="-274320">
              <a:spcBef>
                <a:spcPts val="600"/>
              </a:spcBef>
              <a:buClr>
                <a:srgbClr val="53548A"/>
              </a:buClr>
              <a:buSzPct val="76000"/>
              <a:buFont typeface="Wingdings 3"/>
              <a:buChar char=""/>
            </a:pPr>
            <a:r>
              <a:rPr lang="de-DE" sz="2400" dirty="0">
                <a:solidFill>
                  <a:prstClr val="black"/>
                </a:solidFill>
              </a:rPr>
              <a:t>Ein Host ist üblicherweise einem </a:t>
            </a:r>
            <a:r>
              <a:rPr lang="de-DE" sz="2400" u="sng" dirty="0">
                <a:solidFill>
                  <a:prstClr val="black"/>
                </a:solidFill>
              </a:rPr>
              <a:t>Router</a:t>
            </a:r>
            <a:r>
              <a:rPr lang="de-DE" sz="2400" dirty="0">
                <a:solidFill>
                  <a:prstClr val="black"/>
                </a:solidFill>
              </a:rPr>
              <a:t> des lokalen Netzwerks zugeordnet, dem </a:t>
            </a:r>
            <a:r>
              <a:rPr lang="de-DE" sz="2400" b="1" dirty="0">
                <a:solidFill>
                  <a:srgbClr val="FF0000"/>
                </a:solidFill>
              </a:rPr>
              <a:t>Standard-Gateway</a:t>
            </a:r>
            <a:r>
              <a:rPr lang="de-DE" sz="2400" dirty="0">
                <a:solidFill>
                  <a:prstClr val="black"/>
                </a:solidFill>
              </a:rPr>
              <a:t> des Hosts</a:t>
            </a:r>
          </a:p>
          <a:p>
            <a:pPr marL="274320" indent="-274320">
              <a:spcBef>
                <a:spcPts val="600"/>
              </a:spcBef>
              <a:buClr>
                <a:srgbClr val="53548A"/>
              </a:buClr>
              <a:buSzPct val="76000"/>
              <a:buFont typeface="Wingdings 3"/>
              <a:buChar char=""/>
            </a:pPr>
            <a:r>
              <a:rPr lang="de-DE" sz="2400" dirty="0">
                <a:solidFill>
                  <a:prstClr val="black"/>
                </a:solidFill>
              </a:rPr>
              <a:t>Das Problem, ein Paket vom Quellhost zum Zielhost zu leiten, wird auf die Weiterleitung eines Paketes vom </a:t>
            </a:r>
            <a:r>
              <a:rPr lang="de-DE" sz="2400" b="1" dirty="0">
                <a:solidFill>
                  <a:srgbClr val="FF0000"/>
                </a:solidFill>
              </a:rPr>
              <a:t>Quellrouter </a:t>
            </a:r>
            <a:r>
              <a:rPr lang="de-DE" sz="2400" dirty="0">
                <a:solidFill>
                  <a:prstClr val="black"/>
                </a:solidFill>
              </a:rPr>
              <a:t>zum </a:t>
            </a:r>
            <a:r>
              <a:rPr lang="de-DE" sz="2400" b="1" dirty="0">
                <a:solidFill>
                  <a:srgbClr val="FF0000"/>
                </a:solidFill>
              </a:rPr>
              <a:t>Zielrouter </a:t>
            </a:r>
            <a:r>
              <a:rPr lang="de-DE" sz="2400" dirty="0">
                <a:solidFill>
                  <a:prstClr val="black"/>
                </a:solidFill>
              </a:rPr>
              <a:t>reduziert</a:t>
            </a:r>
          </a:p>
          <a:p>
            <a:pPr marL="274320" lvl="0" indent="-274320">
              <a:spcBef>
                <a:spcPts val="600"/>
              </a:spcBef>
              <a:buClr>
                <a:srgbClr val="53548A"/>
              </a:buClr>
              <a:buSzPct val="76000"/>
              <a:buFont typeface="Wingdings 3"/>
              <a:buChar char=""/>
            </a:pPr>
            <a:r>
              <a:rPr lang="de-DE" sz="2400" dirty="0">
                <a:solidFill>
                  <a:prstClr val="black"/>
                </a:solidFill>
              </a:rPr>
              <a:t>Das </a:t>
            </a:r>
            <a:r>
              <a:rPr lang="de-DE" sz="2400" b="1" dirty="0">
                <a:solidFill>
                  <a:srgbClr val="FF0000"/>
                </a:solidFill>
              </a:rPr>
              <a:t>Routing</a:t>
            </a:r>
            <a:r>
              <a:rPr lang="de-DE" sz="2400" dirty="0">
                <a:solidFill>
                  <a:prstClr val="black"/>
                </a:solidFill>
              </a:rPr>
              <a:t> ist also das Leiten eines Pakets vom </a:t>
            </a:r>
            <a:r>
              <a:rPr lang="de-DE" sz="2400" b="1" dirty="0">
                <a:solidFill>
                  <a:srgbClr val="FF0000"/>
                </a:solidFill>
              </a:rPr>
              <a:t>Quellrouter Q </a:t>
            </a:r>
            <a:r>
              <a:rPr lang="de-DE" sz="2400" dirty="0">
                <a:solidFill>
                  <a:prstClr val="black"/>
                </a:solidFill>
              </a:rPr>
              <a:t>zum </a:t>
            </a:r>
            <a:r>
              <a:rPr lang="de-DE" sz="2400" b="1" dirty="0">
                <a:solidFill>
                  <a:srgbClr val="FF0000"/>
                </a:solidFill>
              </a:rPr>
              <a:t>Zielrouter Z </a:t>
            </a:r>
            <a:r>
              <a:rPr lang="de-DE" sz="2400" dirty="0"/>
              <a:t>über die Router dazwischen</a:t>
            </a:r>
          </a:p>
        </p:txBody>
      </p:sp>
      <p:sp>
        <p:nvSpPr>
          <p:cNvPr id="161" name="TextBox 160"/>
          <p:cNvSpPr txBox="1"/>
          <p:nvPr/>
        </p:nvSpPr>
        <p:spPr>
          <a:xfrm>
            <a:off x="539552" y="4303441"/>
            <a:ext cx="8639226" cy="2046714"/>
          </a:xfrm>
          <a:prstGeom prst="rect">
            <a:avLst/>
          </a:prstGeom>
          <a:noFill/>
        </p:spPr>
        <p:txBody>
          <a:bodyPr wrap="square" rtlCol="0">
            <a:spAutoFit/>
          </a:bodyPr>
          <a:lstStyle/>
          <a:p>
            <a:pPr marL="274320" lvl="0" indent="-274320">
              <a:spcBef>
                <a:spcPts val="600"/>
              </a:spcBef>
              <a:buClr>
                <a:srgbClr val="53548A"/>
              </a:buClr>
              <a:buSzPct val="76000"/>
              <a:buFont typeface="Wingdings 3"/>
              <a:buChar char=""/>
            </a:pPr>
            <a:r>
              <a:rPr lang="de-DE" sz="2400" dirty="0"/>
              <a:t>Zwei Probleme:</a:t>
            </a:r>
            <a:endParaRPr lang="de-DE" sz="2200" dirty="0"/>
          </a:p>
          <a:p>
            <a:pPr marL="914400" lvl="1" indent="-457200">
              <a:spcBef>
                <a:spcPts val="600"/>
              </a:spcBef>
              <a:buClr>
                <a:srgbClr val="53548A"/>
              </a:buClr>
              <a:buSzPct val="76000"/>
              <a:buFont typeface="+mj-lt"/>
              <a:buAutoNum type="arabicPeriod"/>
            </a:pPr>
            <a:r>
              <a:rPr lang="de-DE" sz="2200" dirty="0">
                <a:solidFill>
                  <a:prstClr val="black"/>
                </a:solidFill>
              </a:rPr>
              <a:t>Wie finden wir einen (guten) Pfad zwischen Q und Z? </a:t>
            </a:r>
          </a:p>
          <a:p>
            <a:pPr marL="914400" lvl="1" indent="-457200">
              <a:spcBef>
                <a:spcPts val="600"/>
              </a:spcBef>
              <a:buClr>
                <a:srgbClr val="53548A"/>
              </a:buClr>
              <a:buSzPct val="76000"/>
              <a:buFont typeface="+mj-lt"/>
              <a:buAutoNum type="arabicPeriod"/>
            </a:pPr>
            <a:r>
              <a:rPr lang="de-DE" sz="2200" dirty="0">
                <a:solidFill>
                  <a:prstClr val="black"/>
                </a:solidFill>
              </a:rPr>
              <a:t>Wie stellen wir sicher, dass jeder Zwischenrouter das Paket entlang dieses (guten) Pfades leitet?</a:t>
            </a:r>
          </a:p>
          <a:p>
            <a:pPr marL="274320" indent="-274320">
              <a:spcBef>
                <a:spcPts val="600"/>
              </a:spcBef>
              <a:buClr>
                <a:srgbClr val="53548A"/>
              </a:buClr>
              <a:buSzPct val="76000"/>
              <a:buFont typeface="Wingdings 3"/>
              <a:buChar char=""/>
            </a:pPr>
            <a:endParaRPr lang="de-DE" sz="2200" dirty="0">
              <a:solidFill>
                <a:prstClr val="black"/>
              </a:solidFill>
            </a:endParaRPr>
          </a:p>
        </p:txBody>
      </p:sp>
    </p:spTree>
    <p:extLst>
      <p:ext uri="{BB962C8B-B14F-4D97-AF65-F5344CB8AC3E}">
        <p14:creationId xmlns:p14="http://schemas.microsoft.com/office/powerpoint/2010/main" val="26573926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61"/>
                                        </p:tgtEl>
                                        <p:attrNameLst>
                                          <p:attrName>style.visibility</p:attrName>
                                        </p:attrNameLst>
                                      </p:cBhvr>
                                      <p:to>
                                        <p:strVal val="visible"/>
                                      </p:to>
                                    </p:set>
                                    <p:animEffect transition="in" filter="fade">
                                      <p:cBhvr>
                                        <p:cTn id="7" dur="500"/>
                                        <p:tgtEl>
                                          <p:spTgt spid="1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1"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 name="Slide Number Placeholder 4"/>
          <p:cNvSpPr>
            <a:spLocks noGrp="1"/>
          </p:cNvSpPr>
          <p:nvPr>
            <p:ph type="sldNum" sz="quarter" idx="12"/>
          </p:nvPr>
        </p:nvSpPr>
        <p:spPr/>
        <p:txBody>
          <a:bodyPr/>
          <a:lstStyle/>
          <a:p>
            <a:fld id="{E03E7E1A-2B5B-4D8D-88B8-8C8DD3EA0994}" type="slidenum">
              <a:rPr lang="de-DE" smtClean="0"/>
              <a:pPr/>
              <a:t>22</a:t>
            </a:fld>
            <a:endParaRPr lang="de-DE"/>
          </a:p>
        </p:txBody>
      </p:sp>
      <p:sp>
        <p:nvSpPr>
          <p:cNvPr id="454659" name="Freeform 3"/>
          <p:cNvSpPr>
            <a:spLocks/>
          </p:cNvSpPr>
          <p:nvPr/>
        </p:nvSpPr>
        <p:spPr bwMode="auto">
          <a:xfrm>
            <a:off x="2167165" y="4342272"/>
            <a:ext cx="2847975" cy="1481138"/>
          </a:xfrm>
          <a:custGeom>
            <a:avLst/>
            <a:gdLst>
              <a:gd name="T0" fmla="*/ 6 w 1794"/>
              <a:gd name="T1" fmla="*/ 483 h 933"/>
              <a:gd name="T2" fmla="*/ 108 w 1794"/>
              <a:gd name="T3" fmla="*/ 125 h 933"/>
              <a:gd name="T4" fmla="*/ 559 w 1794"/>
              <a:gd name="T5" fmla="*/ 100 h 933"/>
              <a:gd name="T6" fmla="*/ 1128 w 1794"/>
              <a:gd name="T7" fmla="*/ 29 h 933"/>
              <a:gd name="T8" fmla="*/ 1716 w 1794"/>
              <a:gd name="T9" fmla="*/ 275 h 933"/>
              <a:gd name="T10" fmla="*/ 1596 w 1794"/>
              <a:gd name="T11" fmla="*/ 827 h 933"/>
              <a:gd name="T12" fmla="*/ 1380 w 1794"/>
              <a:gd name="T13" fmla="*/ 911 h 933"/>
              <a:gd name="T14" fmla="*/ 840 w 1794"/>
              <a:gd name="T15" fmla="*/ 929 h 933"/>
              <a:gd name="T16" fmla="*/ 414 w 1794"/>
              <a:gd name="T17" fmla="*/ 911 h 933"/>
              <a:gd name="T18" fmla="*/ 143 w 1794"/>
              <a:gd name="T19" fmla="*/ 832 h 933"/>
              <a:gd name="T20" fmla="*/ 6 w 1794"/>
              <a:gd name="T21" fmla="*/ 483 h 9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794" h="933">
                <a:moveTo>
                  <a:pt x="6" y="483"/>
                </a:moveTo>
                <a:cubicBezTo>
                  <a:pt x="0" y="365"/>
                  <a:pt x="16" y="189"/>
                  <a:pt x="108" y="125"/>
                </a:cubicBezTo>
                <a:cubicBezTo>
                  <a:pt x="200" y="61"/>
                  <a:pt x="389" y="116"/>
                  <a:pt x="559" y="100"/>
                </a:cubicBezTo>
                <a:cubicBezTo>
                  <a:pt x="729" y="84"/>
                  <a:pt x="935" y="0"/>
                  <a:pt x="1128" y="29"/>
                </a:cubicBezTo>
                <a:cubicBezTo>
                  <a:pt x="1321" y="58"/>
                  <a:pt x="1638" y="142"/>
                  <a:pt x="1716" y="275"/>
                </a:cubicBezTo>
                <a:cubicBezTo>
                  <a:pt x="1794" y="408"/>
                  <a:pt x="1652" y="721"/>
                  <a:pt x="1596" y="827"/>
                </a:cubicBezTo>
                <a:cubicBezTo>
                  <a:pt x="1540" y="933"/>
                  <a:pt x="1506" y="894"/>
                  <a:pt x="1380" y="911"/>
                </a:cubicBezTo>
                <a:cubicBezTo>
                  <a:pt x="1254" y="928"/>
                  <a:pt x="1001" y="929"/>
                  <a:pt x="840" y="929"/>
                </a:cubicBezTo>
                <a:cubicBezTo>
                  <a:pt x="679" y="929"/>
                  <a:pt x="530" y="927"/>
                  <a:pt x="414" y="911"/>
                </a:cubicBezTo>
                <a:cubicBezTo>
                  <a:pt x="298" y="895"/>
                  <a:pt x="211" y="903"/>
                  <a:pt x="143" y="832"/>
                </a:cubicBezTo>
                <a:cubicBezTo>
                  <a:pt x="75" y="761"/>
                  <a:pt x="4" y="624"/>
                  <a:pt x="6" y="483"/>
                </a:cubicBezTo>
                <a:close/>
              </a:path>
            </a:pathLst>
          </a:custGeom>
          <a:solidFill>
            <a:srgbClr val="66CCFF"/>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54660" name="Freeform 4"/>
          <p:cNvSpPr>
            <a:spLocks/>
          </p:cNvSpPr>
          <p:nvPr/>
        </p:nvSpPr>
        <p:spPr bwMode="auto">
          <a:xfrm>
            <a:off x="673328" y="3605672"/>
            <a:ext cx="2290763" cy="1295400"/>
          </a:xfrm>
          <a:custGeom>
            <a:avLst/>
            <a:gdLst>
              <a:gd name="T0" fmla="*/ 0 w 1443"/>
              <a:gd name="T1" fmla="*/ 0 h 816"/>
              <a:gd name="T2" fmla="*/ 1076 w 1443"/>
              <a:gd name="T3" fmla="*/ 782 h 816"/>
              <a:gd name="T4" fmla="*/ 1320 w 1443"/>
              <a:gd name="T5" fmla="*/ 788 h 816"/>
              <a:gd name="T6" fmla="*/ 1443 w 1443"/>
              <a:gd name="T7" fmla="*/ 5 h 816"/>
              <a:gd name="T8" fmla="*/ 0 w 1443"/>
              <a:gd name="T9" fmla="*/ 0 h 816"/>
            </a:gdLst>
            <a:ahLst/>
            <a:cxnLst>
              <a:cxn ang="0">
                <a:pos x="T0" y="T1"/>
              </a:cxn>
              <a:cxn ang="0">
                <a:pos x="T2" y="T3"/>
              </a:cxn>
              <a:cxn ang="0">
                <a:pos x="T4" y="T5"/>
              </a:cxn>
              <a:cxn ang="0">
                <a:pos x="T6" y="T7"/>
              </a:cxn>
              <a:cxn ang="0">
                <a:pos x="T8" y="T9"/>
              </a:cxn>
            </a:cxnLst>
            <a:rect l="0" t="0" r="r" b="b"/>
            <a:pathLst>
              <a:path w="1443" h="816">
                <a:moveTo>
                  <a:pt x="0" y="0"/>
                </a:moveTo>
                <a:cubicBezTo>
                  <a:pt x="571" y="285"/>
                  <a:pt x="856" y="408"/>
                  <a:pt x="1076" y="782"/>
                </a:cubicBezTo>
                <a:cubicBezTo>
                  <a:pt x="1185" y="775"/>
                  <a:pt x="1220" y="816"/>
                  <a:pt x="1320" y="788"/>
                </a:cubicBezTo>
                <a:cubicBezTo>
                  <a:pt x="1264" y="347"/>
                  <a:pt x="1276" y="352"/>
                  <a:pt x="1443" y="5"/>
                </a:cubicBezTo>
                <a:cubicBezTo>
                  <a:pt x="867" y="5"/>
                  <a:pt x="233" y="0"/>
                  <a:pt x="0" y="0"/>
                </a:cubicBezTo>
                <a:close/>
              </a:path>
            </a:pathLst>
          </a:custGeom>
          <a:gradFill rotWithShape="1">
            <a:gsLst>
              <a:gs pos="0">
                <a:schemeClr val="accent1"/>
              </a:gs>
              <a:gs pos="100000">
                <a:schemeClr val="bg1"/>
              </a:gs>
            </a:gsLst>
            <a:lin ang="540000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454661" name="Rectangle 5"/>
          <p:cNvSpPr>
            <a:spLocks noChangeArrowheads="1"/>
          </p:cNvSpPr>
          <p:nvPr/>
        </p:nvSpPr>
        <p:spPr bwMode="auto">
          <a:xfrm>
            <a:off x="663803" y="1279984"/>
            <a:ext cx="2317750" cy="2333625"/>
          </a:xfrm>
          <a:prstGeom prst="rect">
            <a:avLst/>
          </a:prstGeom>
          <a:solidFill>
            <a:schemeClr val="accent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54662" name="Oval 6"/>
          <p:cNvSpPr>
            <a:spLocks noChangeArrowheads="1"/>
          </p:cNvSpPr>
          <p:nvPr/>
        </p:nvSpPr>
        <p:spPr bwMode="auto">
          <a:xfrm>
            <a:off x="751489" y="1323040"/>
            <a:ext cx="2174875" cy="749299"/>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54663" name="Freeform 7"/>
          <p:cNvSpPr>
            <a:spLocks/>
          </p:cNvSpPr>
          <p:nvPr/>
        </p:nvSpPr>
        <p:spPr bwMode="auto">
          <a:xfrm>
            <a:off x="2805340" y="4645484"/>
            <a:ext cx="542925" cy="295275"/>
          </a:xfrm>
          <a:custGeom>
            <a:avLst/>
            <a:gdLst>
              <a:gd name="T0" fmla="*/ 0 w 342"/>
              <a:gd name="T1" fmla="*/ 186 h 186"/>
              <a:gd name="T2" fmla="*/ 342 w 342"/>
              <a:gd name="T3" fmla="*/ 0 h 186"/>
            </a:gdLst>
            <a:ahLst/>
            <a:cxnLst>
              <a:cxn ang="0">
                <a:pos x="T0" y="T1"/>
              </a:cxn>
              <a:cxn ang="0">
                <a:pos x="T2" y="T3"/>
              </a:cxn>
            </a:cxnLst>
            <a:rect l="0" t="0" r="r" b="b"/>
            <a:pathLst>
              <a:path w="342" h="186">
                <a:moveTo>
                  <a:pt x="0" y="186"/>
                </a:moveTo>
                <a:lnTo>
                  <a:pt x="342" y="0"/>
                </a:lnTo>
              </a:path>
            </a:pathLst>
          </a:custGeom>
          <a:noFill/>
          <a:ln w="127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grpSp>
        <p:nvGrpSpPr>
          <p:cNvPr id="454664" name="Group 8"/>
          <p:cNvGrpSpPr>
            <a:grpSpLocks/>
          </p:cNvGrpSpPr>
          <p:nvPr/>
        </p:nvGrpSpPr>
        <p:grpSpPr bwMode="auto">
          <a:xfrm>
            <a:off x="2311628" y="4820109"/>
            <a:ext cx="501650" cy="233363"/>
            <a:chOff x="3600" y="219"/>
            <a:chExt cx="360" cy="175"/>
          </a:xfrm>
        </p:grpSpPr>
        <p:sp>
          <p:nvSpPr>
            <p:cNvPr id="454665" name="Oval 9"/>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54666" name="Line 10"/>
            <p:cNvSpPr>
              <a:spLocks noChangeShapeType="1"/>
            </p:cNvSpPr>
            <p:nvPr/>
          </p:nvSpPr>
          <p:spPr bwMode="auto">
            <a:xfrm>
              <a:off x="3603" y="289"/>
              <a:ext cx="0" cy="6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54667" name="Line 11"/>
            <p:cNvSpPr>
              <a:spLocks noChangeShapeType="1"/>
            </p:cNvSpPr>
            <p:nvPr/>
          </p:nvSpPr>
          <p:spPr bwMode="auto">
            <a:xfrm>
              <a:off x="3960" y="289"/>
              <a:ext cx="0" cy="6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54668" name="Rectangle 12"/>
            <p:cNvSpPr>
              <a:spLocks noChangeArrowheads="1"/>
            </p:cNvSpPr>
            <p:nvPr/>
          </p:nvSpPr>
          <p:spPr bwMode="auto">
            <a:xfrm>
              <a:off x="3603" y="289"/>
              <a:ext cx="354" cy="59"/>
            </a:xfrm>
            <a:prstGeom prst="rect">
              <a:avLst/>
            </a:prstGeom>
            <a:solidFill>
              <a:schemeClr val="hlink"/>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de-DE" sz="2400">
                <a:latin typeface="Times New Roman" pitchFamily="18" charset="0"/>
              </a:endParaRPr>
            </a:p>
          </p:txBody>
        </p:sp>
        <p:sp>
          <p:nvSpPr>
            <p:cNvPr id="454669" name="Oval 13"/>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grpSp>
          <p:nvGrpSpPr>
            <p:cNvPr id="454670" name="Group 14"/>
            <p:cNvGrpSpPr>
              <a:grpSpLocks/>
            </p:cNvGrpSpPr>
            <p:nvPr/>
          </p:nvGrpSpPr>
          <p:grpSpPr bwMode="auto">
            <a:xfrm>
              <a:off x="3686" y="244"/>
              <a:ext cx="177" cy="66"/>
              <a:chOff x="2848" y="848"/>
              <a:chExt cx="140" cy="98"/>
            </a:xfrm>
          </p:grpSpPr>
          <p:sp>
            <p:nvSpPr>
              <p:cNvPr id="454671" name="Line 15"/>
              <p:cNvSpPr>
                <a:spLocks noChangeShapeType="1"/>
              </p:cNvSpPr>
              <p:nvPr/>
            </p:nvSpPr>
            <p:spPr bwMode="auto">
              <a:xfrm flipV="1">
                <a:off x="2848" y="848"/>
                <a:ext cx="50" cy="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54672" name="Line 16"/>
              <p:cNvSpPr>
                <a:spLocks noChangeShapeType="1"/>
              </p:cNvSpPr>
              <p:nvPr/>
            </p:nvSpPr>
            <p:spPr bwMode="auto">
              <a:xfrm>
                <a:off x="2944" y="946"/>
                <a:ext cx="4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54673" name="Line 17"/>
              <p:cNvSpPr>
                <a:spLocks noChangeShapeType="1"/>
              </p:cNvSpPr>
              <p:nvPr/>
            </p:nvSpPr>
            <p:spPr bwMode="auto">
              <a:xfrm>
                <a:off x="2894" y="850"/>
                <a:ext cx="52" cy="9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grpSp>
        <p:grpSp>
          <p:nvGrpSpPr>
            <p:cNvPr id="454674" name="Group 18"/>
            <p:cNvGrpSpPr>
              <a:grpSpLocks/>
            </p:cNvGrpSpPr>
            <p:nvPr/>
          </p:nvGrpSpPr>
          <p:grpSpPr bwMode="auto">
            <a:xfrm flipV="1">
              <a:off x="3686" y="243"/>
              <a:ext cx="177" cy="66"/>
              <a:chOff x="2848" y="848"/>
              <a:chExt cx="140" cy="98"/>
            </a:xfrm>
          </p:grpSpPr>
          <p:sp>
            <p:nvSpPr>
              <p:cNvPr id="454675" name="Line 19"/>
              <p:cNvSpPr>
                <a:spLocks noChangeShapeType="1"/>
              </p:cNvSpPr>
              <p:nvPr/>
            </p:nvSpPr>
            <p:spPr bwMode="auto">
              <a:xfrm flipV="1">
                <a:off x="2848" y="848"/>
                <a:ext cx="50" cy="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54676" name="Line 20"/>
              <p:cNvSpPr>
                <a:spLocks noChangeShapeType="1"/>
              </p:cNvSpPr>
              <p:nvPr/>
            </p:nvSpPr>
            <p:spPr bwMode="auto">
              <a:xfrm>
                <a:off x="2944" y="946"/>
                <a:ext cx="4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54677" name="Line 21"/>
              <p:cNvSpPr>
                <a:spLocks noChangeShapeType="1"/>
              </p:cNvSpPr>
              <p:nvPr/>
            </p:nvSpPr>
            <p:spPr bwMode="auto">
              <a:xfrm>
                <a:off x="2894" y="850"/>
                <a:ext cx="52" cy="9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grpSp>
      </p:grpSp>
      <p:grpSp>
        <p:nvGrpSpPr>
          <p:cNvPr id="454678" name="Group 22"/>
          <p:cNvGrpSpPr>
            <a:grpSpLocks/>
          </p:cNvGrpSpPr>
          <p:nvPr/>
        </p:nvGrpSpPr>
        <p:grpSpPr bwMode="auto">
          <a:xfrm>
            <a:off x="2664053" y="5458284"/>
            <a:ext cx="501650" cy="233363"/>
            <a:chOff x="3600" y="219"/>
            <a:chExt cx="360" cy="175"/>
          </a:xfrm>
        </p:grpSpPr>
        <p:sp>
          <p:nvSpPr>
            <p:cNvPr id="454679" name="Oval 23"/>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54680" name="Line 24"/>
            <p:cNvSpPr>
              <a:spLocks noChangeShapeType="1"/>
            </p:cNvSpPr>
            <p:nvPr/>
          </p:nvSpPr>
          <p:spPr bwMode="auto">
            <a:xfrm>
              <a:off x="3603" y="289"/>
              <a:ext cx="0" cy="6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54681" name="Line 25"/>
            <p:cNvSpPr>
              <a:spLocks noChangeShapeType="1"/>
            </p:cNvSpPr>
            <p:nvPr/>
          </p:nvSpPr>
          <p:spPr bwMode="auto">
            <a:xfrm>
              <a:off x="3960" y="289"/>
              <a:ext cx="0" cy="6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54682" name="Rectangle 26"/>
            <p:cNvSpPr>
              <a:spLocks noChangeArrowheads="1"/>
            </p:cNvSpPr>
            <p:nvPr/>
          </p:nvSpPr>
          <p:spPr bwMode="auto">
            <a:xfrm>
              <a:off x="3603" y="289"/>
              <a:ext cx="354" cy="59"/>
            </a:xfrm>
            <a:prstGeom prst="rect">
              <a:avLst/>
            </a:prstGeom>
            <a:solidFill>
              <a:schemeClr val="hlink"/>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de-DE" sz="2400">
                <a:latin typeface="Times New Roman" pitchFamily="18" charset="0"/>
              </a:endParaRPr>
            </a:p>
          </p:txBody>
        </p:sp>
        <p:sp>
          <p:nvSpPr>
            <p:cNvPr id="454683" name="Oval 27"/>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grpSp>
          <p:nvGrpSpPr>
            <p:cNvPr id="454684" name="Group 28"/>
            <p:cNvGrpSpPr>
              <a:grpSpLocks/>
            </p:cNvGrpSpPr>
            <p:nvPr/>
          </p:nvGrpSpPr>
          <p:grpSpPr bwMode="auto">
            <a:xfrm>
              <a:off x="3686" y="244"/>
              <a:ext cx="177" cy="66"/>
              <a:chOff x="2848" y="848"/>
              <a:chExt cx="140" cy="98"/>
            </a:xfrm>
          </p:grpSpPr>
          <p:sp>
            <p:nvSpPr>
              <p:cNvPr id="454685" name="Line 29"/>
              <p:cNvSpPr>
                <a:spLocks noChangeShapeType="1"/>
              </p:cNvSpPr>
              <p:nvPr/>
            </p:nvSpPr>
            <p:spPr bwMode="auto">
              <a:xfrm flipV="1">
                <a:off x="2848" y="848"/>
                <a:ext cx="50" cy="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54686" name="Line 30"/>
              <p:cNvSpPr>
                <a:spLocks noChangeShapeType="1"/>
              </p:cNvSpPr>
              <p:nvPr/>
            </p:nvSpPr>
            <p:spPr bwMode="auto">
              <a:xfrm>
                <a:off x="2944" y="946"/>
                <a:ext cx="4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54687" name="Line 31"/>
              <p:cNvSpPr>
                <a:spLocks noChangeShapeType="1"/>
              </p:cNvSpPr>
              <p:nvPr/>
            </p:nvSpPr>
            <p:spPr bwMode="auto">
              <a:xfrm>
                <a:off x="2894" y="850"/>
                <a:ext cx="52" cy="9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grpSp>
        <p:grpSp>
          <p:nvGrpSpPr>
            <p:cNvPr id="454688" name="Group 32"/>
            <p:cNvGrpSpPr>
              <a:grpSpLocks/>
            </p:cNvGrpSpPr>
            <p:nvPr/>
          </p:nvGrpSpPr>
          <p:grpSpPr bwMode="auto">
            <a:xfrm flipV="1">
              <a:off x="3686" y="243"/>
              <a:ext cx="177" cy="66"/>
              <a:chOff x="2848" y="848"/>
              <a:chExt cx="140" cy="98"/>
            </a:xfrm>
          </p:grpSpPr>
          <p:sp>
            <p:nvSpPr>
              <p:cNvPr id="454689" name="Line 33"/>
              <p:cNvSpPr>
                <a:spLocks noChangeShapeType="1"/>
              </p:cNvSpPr>
              <p:nvPr/>
            </p:nvSpPr>
            <p:spPr bwMode="auto">
              <a:xfrm flipV="1">
                <a:off x="2848" y="848"/>
                <a:ext cx="50" cy="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54690" name="Line 34"/>
              <p:cNvSpPr>
                <a:spLocks noChangeShapeType="1"/>
              </p:cNvSpPr>
              <p:nvPr/>
            </p:nvSpPr>
            <p:spPr bwMode="auto">
              <a:xfrm>
                <a:off x="2944" y="946"/>
                <a:ext cx="4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54691" name="Line 35"/>
              <p:cNvSpPr>
                <a:spLocks noChangeShapeType="1"/>
              </p:cNvSpPr>
              <p:nvPr/>
            </p:nvSpPr>
            <p:spPr bwMode="auto">
              <a:xfrm>
                <a:off x="2894" y="850"/>
                <a:ext cx="52" cy="9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grpSp>
      </p:grpSp>
      <p:grpSp>
        <p:nvGrpSpPr>
          <p:cNvPr id="454692" name="Group 36"/>
          <p:cNvGrpSpPr>
            <a:grpSpLocks/>
          </p:cNvGrpSpPr>
          <p:nvPr/>
        </p:nvGrpSpPr>
        <p:grpSpPr bwMode="auto">
          <a:xfrm>
            <a:off x="3338740" y="4515309"/>
            <a:ext cx="501650" cy="233363"/>
            <a:chOff x="3600" y="219"/>
            <a:chExt cx="360" cy="175"/>
          </a:xfrm>
        </p:grpSpPr>
        <p:sp>
          <p:nvSpPr>
            <p:cNvPr id="454693" name="Oval 37"/>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54694" name="Line 38"/>
            <p:cNvSpPr>
              <a:spLocks noChangeShapeType="1"/>
            </p:cNvSpPr>
            <p:nvPr/>
          </p:nvSpPr>
          <p:spPr bwMode="auto">
            <a:xfrm>
              <a:off x="3603" y="289"/>
              <a:ext cx="0" cy="6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54695" name="Line 39"/>
            <p:cNvSpPr>
              <a:spLocks noChangeShapeType="1"/>
            </p:cNvSpPr>
            <p:nvPr/>
          </p:nvSpPr>
          <p:spPr bwMode="auto">
            <a:xfrm>
              <a:off x="3960" y="289"/>
              <a:ext cx="0" cy="6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54696" name="Rectangle 40"/>
            <p:cNvSpPr>
              <a:spLocks noChangeArrowheads="1"/>
            </p:cNvSpPr>
            <p:nvPr/>
          </p:nvSpPr>
          <p:spPr bwMode="auto">
            <a:xfrm>
              <a:off x="3603" y="289"/>
              <a:ext cx="354" cy="59"/>
            </a:xfrm>
            <a:prstGeom prst="rect">
              <a:avLst/>
            </a:prstGeom>
            <a:solidFill>
              <a:schemeClr val="hlink"/>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de-DE" sz="2400">
                <a:latin typeface="Times New Roman" pitchFamily="18" charset="0"/>
              </a:endParaRPr>
            </a:p>
          </p:txBody>
        </p:sp>
        <p:sp>
          <p:nvSpPr>
            <p:cNvPr id="454697" name="Oval 41"/>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grpSp>
          <p:nvGrpSpPr>
            <p:cNvPr id="454698" name="Group 42"/>
            <p:cNvGrpSpPr>
              <a:grpSpLocks/>
            </p:cNvGrpSpPr>
            <p:nvPr/>
          </p:nvGrpSpPr>
          <p:grpSpPr bwMode="auto">
            <a:xfrm>
              <a:off x="3686" y="244"/>
              <a:ext cx="177" cy="66"/>
              <a:chOff x="2848" y="848"/>
              <a:chExt cx="140" cy="98"/>
            </a:xfrm>
          </p:grpSpPr>
          <p:sp>
            <p:nvSpPr>
              <p:cNvPr id="454699" name="Line 43"/>
              <p:cNvSpPr>
                <a:spLocks noChangeShapeType="1"/>
              </p:cNvSpPr>
              <p:nvPr/>
            </p:nvSpPr>
            <p:spPr bwMode="auto">
              <a:xfrm flipV="1">
                <a:off x="2848" y="848"/>
                <a:ext cx="50" cy="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54700" name="Line 44"/>
              <p:cNvSpPr>
                <a:spLocks noChangeShapeType="1"/>
              </p:cNvSpPr>
              <p:nvPr/>
            </p:nvSpPr>
            <p:spPr bwMode="auto">
              <a:xfrm>
                <a:off x="2944" y="946"/>
                <a:ext cx="4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54701" name="Line 45"/>
              <p:cNvSpPr>
                <a:spLocks noChangeShapeType="1"/>
              </p:cNvSpPr>
              <p:nvPr/>
            </p:nvSpPr>
            <p:spPr bwMode="auto">
              <a:xfrm>
                <a:off x="2894" y="850"/>
                <a:ext cx="52" cy="9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grpSp>
        <p:grpSp>
          <p:nvGrpSpPr>
            <p:cNvPr id="454702" name="Group 46"/>
            <p:cNvGrpSpPr>
              <a:grpSpLocks/>
            </p:cNvGrpSpPr>
            <p:nvPr/>
          </p:nvGrpSpPr>
          <p:grpSpPr bwMode="auto">
            <a:xfrm flipV="1">
              <a:off x="3686" y="243"/>
              <a:ext cx="177" cy="66"/>
              <a:chOff x="2848" y="848"/>
              <a:chExt cx="140" cy="98"/>
            </a:xfrm>
          </p:grpSpPr>
          <p:sp>
            <p:nvSpPr>
              <p:cNvPr id="454703" name="Line 47"/>
              <p:cNvSpPr>
                <a:spLocks noChangeShapeType="1"/>
              </p:cNvSpPr>
              <p:nvPr/>
            </p:nvSpPr>
            <p:spPr bwMode="auto">
              <a:xfrm flipV="1">
                <a:off x="2848" y="848"/>
                <a:ext cx="50" cy="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54704" name="Line 48"/>
              <p:cNvSpPr>
                <a:spLocks noChangeShapeType="1"/>
              </p:cNvSpPr>
              <p:nvPr/>
            </p:nvSpPr>
            <p:spPr bwMode="auto">
              <a:xfrm>
                <a:off x="2944" y="946"/>
                <a:ext cx="4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54705" name="Line 49"/>
              <p:cNvSpPr>
                <a:spLocks noChangeShapeType="1"/>
              </p:cNvSpPr>
              <p:nvPr/>
            </p:nvSpPr>
            <p:spPr bwMode="auto">
              <a:xfrm>
                <a:off x="2894" y="850"/>
                <a:ext cx="52" cy="9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grpSp>
      </p:grpSp>
      <p:grpSp>
        <p:nvGrpSpPr>
          <p:cNvPr id="454706" name="Group 50"/>
          <p:cNvGrpSpPr>
            <a:grpSpLocks/>
          </p:cNvGrpSpPr>
          <p:nvPr/>
        </p:nvGrpSpPr>
        <p:grpSpPr bwMode="auto">
          <a:xfrm>
            <a:off x="3260953" y="5180472"/>
            <a:ext cx="500063" cy="233363"/>
            <a:chOff x="3600" y="219"/>
            <a:chExt cx="360" cy="175"/>
          </a:xfrm>
        </p:grpSpPr>
        <p:sp>
          <p:nvSpPr>
            <p:cNvPr id="454707" name="Oval 51"/>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54708" name="Line 52"/>
            <p:cNvSpPr>
              <a:spLocks noChangeShapeType="1"/>
            </p:cNvSpPr>
            <p:nvPr/>
          </p:nvSpPr>
          <p:spPr bwMode="auto">
            <a:xfrm>
              <a:off x="3603" y="289"/>
              <a:ext cx="0" cy="6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54709" name="Line 53"/>
            <p:cNvSpPr>
              <a:spLocks noChangeShapeType="1"/>
            </p:cNvSpPr>
            <p:nvPr/>
          </p:nvSpPr>
          <p:spPr bwMode="auto">
            <a:xfrm>
              <a:off x="3960" y="289"/>
              <a:ext cx="0" cy="6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54710" name="Rectangle 54"/>
            <p:cNvSpPr>
              <a:spLocks noChangeArrowheads="1"/>
            </p:cNvSpPr>
            <p:nvPr/>
          </p:nvSpPr>
          <p:spPr bwMode="auto">
            <a:xfrm>
              <a:off x="3603" y="289"/>
              <a:ext cx="354" cy="59"/>
            </a:xfrm>
            <a:prstGeom prst="rect">
              <a:avLst/>
            </a:prstGeom>
            <a:solidFill>
              <a:schemeClr val="hlink"/>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de-DE" sz="2400">
                <a:latin typeface="Times New Roman" pitchFamily="18" charset="0"/>
              </a:endParaRPr>
            </a:p>
          </p:txBody>
        </p:sp>
        <p:sp>
          <p:nvSpPr>
            <p:cNvPr id="454711" name="Oval 55"/>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grpSp>
          <p:nvGrpSpPr>
            <p:cNvPr id="454712" name="Group 56"/>
            <p:cNvGrpSpPr>
              <a:grpSpLocks/>
            </p:cNvGrpSpPr>
            <p:nvPr/>
          </p:nvGrpSpPr>
          <p:grpSpPr bwMode="auto">
            <a:xfrm>
              <a:off x="3686" y="244"/>
              <a:ext cx="177" cy="66"/>
              <a:chOff x="2848" y="848"/>
              <a:chExt cx="140" cy="98"/>
            </a:xfrm>
          </p:grpSpPr>
          <p:sp>
            <p:nvSpPr>
              <p:cNvPr id="454713" name="Line 57"/>
              <p:cNvSpPr>
                <a:spLocks noChangeShapeType="1"/>
              </p:cNvSpPr>
              <p:nvPr/>
            </p:nvSpPr>
            <p:spPr bwMode="auto">
              <a:xfrm flipV="1">
                <a:off x="2848" y="848"/>
                <a:ext cx="50" cy="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54714" name="Line 58"/>
              <p:cNvSpPr>
                <a:spLocks noChangeShapeType="1"/>
              </p:cNvSpPr>
              <p:nvPr/>
            </p:nvSpPr>
            <p:spPr bwMode="auto">
              <a:xfrm>
                <a:off x="2944" y="946"/>
                <a:ext cx="4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54715" name="Line 59"/>
              <p:cNvSpPr>
                <a:spLocks noChangeShapeType="1"/>
              </p:cNvSpPr>
              <p:nvPr/>
            </p:nvSpPr>
            <p:spPr bwMode="auto">
              <a:xfrm>
                <a:off x="2894" y="850"/>
                <a:ext cx="52" cy="9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grpSp>
        <p:grpSp>
          <p:nvGrpSpPr>
            <p:cNvPr id="454716" name="Group 60"/>
            <p:cNvGrpSpPr>
              <a:grpSpLocks/>
            </p:cNvGrpSpPr>
            <p:nvPr/>
          </p:nvGrpSpPr>
          <p:grpSpPr bwMode="auto">
            <a:xfrm flipV="1">
              <a:off x="3686" y="243"/>
              <a:ext cx="177" cy="66"/>
              <a:chOff x="2848" y="848"/>
              <a:chExt cx="140" cy="98"/>
            </a:xfrm>
          </p:grpSpPr>
          <p:sp>
            <p:nvSpPr>
              <p:cNvPr id="454717" name="Line 61"/>
              <p:cNvSpPr>
                <a:spLocks noChangeShapeType="1"/>
              </p:cNvSpPr>
              <p:nvPr/>
            </p:nvSpPr>
            <p:spPr bwMode="auto">
              <a:xfrm flipV="1">
                <a:off x="2848" y="848"/>
                <a:ext cx="50" cy="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54718" name="Line 62"/>
              <p:cNvSpPr>
                <a:spLocks noChangeShapeType="1"/>
              </p:cNvSpPr>
              <p:nvPr/>
            </p:nvSpPr>
            <p:spPr bwMode="auto">
              <a:xfrm>
                <a:off x="2944" y="946"/>
                <a:ext cx="4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54719" name="Line 63"/>
              <p:cNvSpPr>
                <a:spLocks noChangeShapeType="1"/>
              </p:cNvSpPr>
              <p:nvPr/>
            </p:nvSpPr>
            <p:spPr bwMode="auto">
              <a:xfrm>
                <a:off x="2894" y="850"/>
                <a:ext cx="52" cy="9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grpSp>
      </p:grpSp>
      <p:grpSp>
        <p:nvGrpSpPr>
          <p:cNvPr id="454720" name="Group 64"/>
          <p:cNvGrpSpPr>
            <a:grpSpLocks/>
          </p:cNvGrpSpPr>
          <p:nvPr/>
        </p:nvGrpSpPr>
        <p:grpSpPr bwMode="auto">
          <a:xfrm>
            <a:off x="3895953" y="5477334"/>
            <a:ext cx="501650" cy="233363"/>
            <a:chOff x="3600" y="219"/>
            <a:chExt cx="360" cy="175"/>
          </a:xfrm>
        </p:grpSpPr>
        <p:sp>
          <p:nvSpPr>
            <p:cNvPr id="454721" name="Oval 65"/>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54722" name="Line 66"/>
            <p:cNvSpPr>
              <a:spLocks noChangeShapeType="1"/>
            </p:cNvSpPr>
            <p:nvPr/>
          </p:nvSpPr>
          <p:spPr bwMode="auto">
            <a:xfrm>
              <a:off x="3603" y="289"/>
              <a:ext cx="0" cy="6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54723" name="Line 67"/>
            <p:cNvSpPr>
              <a:spLocks noChangeShapeType="1"/>
            </p:cNvSpPr>
            <p:nvPr/>
          </p:nvSpPr>
          <p:spPr bwMode="auto">
            <a:xfrm>
              <a:off x="3960" y="289"/>
              <a:ext cx="0" cy="6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54724" name="Rectangle 68"/>
            <p:cNvSpPr>
              <a:spLocks noChangeArrowheads="1"/>
            </p:cNvSpPr>
            <p:nvPr/>
          </p:nvSpPr>
          <p:spPr bwMode="auto">
            <a:xfrm>
              <a:off x="3603" y="289"/>
              <a:ext cx="354" cy="59"/>
            </a:xfrm>
            <a:prstGeom prst="rect">
              <a:avLst/>
            </a:prstGeom>
            <a:solidFill>
              <a:schemeClr val="hlink"/>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de-DE" sz="2400">
                <a:latin typeface="Times New Roman" pitchFamily="18" charset="0"/>
              </a:endParaRPr>
            </a:p>
          </p:txBody>
        </p:sp>
        <p:sp>
          <p:nvSpPr>
            <p:cNvPr id="454725" name="Oval 69"/>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grpSp>
          <p:nvGrpSpPr>
            <p:cNvPr id="454726" name="Group 70"/>
            <p:cNvGrpSpPr>
              <a:grpSpLocks/>
            </p:cNvGrpSpPr>
            <p:nvPr/>
          </p:nvGrpSpPr>
          <p:grpSpPr bwMode="auto">
            <a:xfrm>
              <a:off x="3686" y="244"/>
              <a:ext cx="177" cy="66"/>
              <a:chOff x="2848" y="848"/>
              <a:chExt cx="140" cy="98"/>
            </a:xfrm>
          </p:grpSpPr>
          <p:sp>
            <p:nvSpPr>
              <p:cNvPr id="454727" name="Line 71"/>
              <p:cNvSpPr>
                <a:spLocks noChangeShapeType="1"/>
              </p:cNvSpPr>
              <p:nvPr/>
            </p:nvSpPr>
            <p:spPr bwMode="auto">
              <a:xfrm flipV="1">
                <a:off x="2848" y="848"/>
                <a:ext cx="50" cy="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54728" name="Line 72"/>
              <p:cNvSpPr>
                <a:spLocks noChangeShapeType="1"/>
              </p:cNvSpPr>
              <p:nvPr/>
            </p:nvSpPr>
            <p:spPr bwMode="auto">
              <a:xfrm>
                <a:off x="2944" y="946"/>
                <a:ext cx="4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54729" name="Line 73"/>
              <p:cNvSpPr>
                <a:spLocks noChangeShapeType="1"/>
              </p:cNvSpPr>
              <p:nvPr/>
            </p:nvSpPr>
            <p:spPr bwMode="auto">
              <a:xfrm>
                <a:off x="2894" y="850"/>
                <a:ext cx="52" cy="9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grpSp>
        <p:grpSp>
          <p:nvGrpSpPr>
            <p:cNvPr id="454730" name="Group 74"/>
            <p:cNvGrpSpPr>
              <a:grpSpLocks/>
            </p:cNvGrpSpPr>
            <p:nvPr/>
          </p:nvGrpSpPr>
          <p:grpSpPr bwMode="auto">
            <a:xfrm flipV="1">
              <a:off x="3686" y="243"/>
              <a:ext cx="177" cy="66"/>
              <a:chOff x="2848" y="848"/>
              <a:chExt cx="140" cy="98"/>
            </a:xfrm>
          </p:grpSpPr>
          <p:sp>
            <p:nvSpPr>
              <p:cNvPr id="454731" name="Line 75"/>
              <p:cNvSpPr>
                <a:spLocks noChangeShapeType="1"/>
              </p:cNvSpPr>
              <p:nvPr/>
            </p:nvSpPr>
            <p:spPr bwMode="auto">
              <a:xfrm flipV="1">
                <a:off x="2848" y="848"/>
                <a:ext cx="50" cy="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54732" name="Line 76"/>
              <p:cNvSpPr>
                <a:spLocks noChangeShapeType="1"/>
              </p:cNvSpPr>
              <p:nvPr/>
            </p:nvSpPr>
            <p:spPr bwMode="auto">
              <a:xfrm>
                <a:off x="2944" y="946"/>
                <a:ext cx="4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54733" name="Line 77"/>
              <p:cNvSpPr>
                <a:spLocks noChangeShapeType="1"/>
              </p:cNvSpPr>
              <p:nvPr/>
            </p:nvSpPr>
            <p:spPr bwMode="auto">
              <a:xfrm>
                <a:off x="2894" y="850"/>
                <a:ext cx="52" cy="9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grpSp>
      </p:grpSp>
      <p:grpSp>
        <p:nvGrpSpPr>
          <p:cNvPr id="454734" name="Group 78"/>
          <p:cNvGrpSpPr>
            <a:grpSpLocks/>
          </p:cNvGrpSpPr>
          <p:nvPr/>
        </p:nvGrpSpPr>
        <p:grpSpPr bwMode="auto">
          <a:xfrm>
            <a:off x="4340453" y="4821697"/>
            <a:ext cx="501650" cy="233363"/>
            <a:chOff x="3600" y="219"/>
            <a:chExt cx="360" cy="175"/>
          </a:xfrm>
        </p:grpSpPr>
        <p:sp>
          <p:nvSpPr>
            <p:cNvPr id="454735" name="Oval 79"/>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54736" name="Line 80"/>
            <p:cNvSpPr>
              <a:spLocks noChangeShapeType="1"/>
            </p:cNvSpPr>
            <p:nvPr/>
          </p:nvSpPr>
          <p:spPr bwMode="auto">
            <a:xfrm>
              <a:off x="3603" y="289"/>
              <a:ext cx="0" cy="6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54737" name="Line 81"/>
            <p:cNvSpPr>
              <a:spLocks noChangeShapeType="1"/>
            </p:cNvSpPr>
            <p:nvPr/>
          </p:nvSpPr>
          <p:spPr bwMode="auto">
            <a:xfrm>
              <a:off x="3960" y="289"/>
              <a:ext cx="0" cy="6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54738" name="Rectangle 82"/>
            <p:cNvSpPr>
              <a:spLocks noChangeArrowheads="1"/>
            </p:cNvSpPr>
            <p:nvPr/>
          </p:nvSpPr>
          <p:spPr bwMode="auto">
            <a:xfrm>
              <a:off x="3603" y="289"/>
              <a:ext cx="354" cy="59"/>
            </a:xfrm>
            <a:prstGeom prst="rect">
              <a:avLst/>
            </a:prstGeom>
            <a:solidFill>
              <a:schemeClr val="hlink"/>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de-DE" sz="2400">
                <a:latin typeface="Times New Roman" pitchFamily="18" charset="0"/>
              </a:endParaRPr>
            </a:p>
          </p:txBody>
        </p:sp>
        <p:sp>
          <p:nvSpPr>
            <p:cNvPr id="454739" name="Oval 83"/>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grpSp>
          <p:nvGrpSpPr>
            <p:cNvPr id="454740" name="Group 84"/>
            <p:cNvGrpSpPr>
              <a:grpSpLocks/>
            </p:cNvGrpSpPr>
            <p:nvPr/>
          </p:nvGrpSpPr>
          <p:grpSpPr bwMode="auto">
            <a:xfrm>
              <a:off x="3686" y="244"/>
              <a:ext cx="177" cy="66"/>
              <a:chOff x="2848" y="848"/>
              <a:chExt cx="140" cy="98"/>
            </a:xfrm>
          </p:grpSpPr>
          <p:sp>
            <p:nvSpPr>
              <p:cNvPr id="454741" name="Line 85"/>
              <p:cNvSpPr>
                <a:spLocks noChangeShapeType="1"/>
              </p:cNvSpPr>
              <p:nvPr/>
            </p:nvSpPr>
            <p:spPr bwMode="auto">
              <a:xfrm flipV="1">
                <a:off x="2848" y="848"/>
                <a:ext cx="50" cy="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54742" name="Line 86"/>
              <p:cNvSpPr>
                <a:spLocks noChangeShapeType="1"/>
              </p:cNvSpPr>
              <p:nvPr/>
            </p:nvSpPr>
            <p:spPr bwMode="auto">
              <a:xfrm>
                <a:off x="2944" y="946"/>
                <a:ext cx="4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54743" name="Line 87"/>
              <p:cNvSpPr>
                <a:spLocks noChangeShapeType="1"/>
              </p:cNvSpPr>
              <p:nvPr/>
            </p:nvSpPr>
            <p:spPr bwMode="auto">
              <a:xfrm>
                <a:off x="2894" y="850"/>
                <a:ext cx="52" cy="9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grpSp>
        <p:grpSp>
          <p:nvGrpSpPr>
            <p:cNvPr id="454744" name="Group 88"/>
            <p:cNvGrpSpPr>
              <a:grpSpLocks/>
            </p:cNvGrpSpPr>
            <p:nvPr/>
          </p:nvGrpSpPr>
          <p:grpSpPr bwMode="auto">
            <a:xfrm flipV="1">
              <a:off x="3686" y="243"/>
              <a:ext cx="177" cy="66"/>
              <a:chOff x="2848" y="848"/>
              <a:chExt cx="140" cy="98"/>
            </a:xfrm>
          </p:grpSpPr>
          <p:sp>
            <p:nvSpPr>
              <p:cNvPr id="454745" name="Line 89"/>
              <p:cNvSpPr>
                <a:spLocks noChangeShapeType="1"/>
              </p:cNvSpPr>
              <p:nvPr/>
            </p:nvSpPr>
            <p:spPr bwMode="auto">
              <a:xfrm flipV="1">
                <a:off x="2848" y="848"/>
                <a:ext cx="50" cy="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54746" name="Line 90"/>
              <p:cNvSpPr>
                <a:spLocks noChangeShapeType="1"/>
              </p:cNvSpPr>
              <p:nvPr/>
            </p:nvSpPr>
            <p:spPr bwMode="auto">
              <a:xfrm>
                <a:off x="2944" y="946"/>
                <a:ext cx="4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54747" name="Line 91"/>
              <p:cNvSpPr>
                <a:spLocks noChangeShapeType="1"/>
              </p:cNvSpPr>
              <p:nvPr/>
            </p:nvSpPr>
            <p:spPr bwMode="auto">
              <a:xfrm>
                <a:off x="2894" y="850"/>
                <a:ext cx="52" cy="9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grpSp>
      </p:grpSp>
      <p:sp>
        <p:nvSpPr>
          <p:cNvPr id="454748" name="Freeform 92"/>
          <p:cNvSpPr>
            <a:spLocks/>
          </p:cNvSpPr>
          <p:nvPr/>
        </p:nvSpPr>
        <p:spPr bwMode="auto">
          <a:xfrm>
            <a:off x="3846740" y="4639134"/>
            <a:ext cx="504825" cy="307975"/>
          </a:xfrm>
          <a:custGeom>
            <a:avLst/>
            <a:gdLst>
              <a:gd name="T0" fmla="*/ 0 w 318"/>
              <a:gd name="T1" fmla="*/ 0 h 194"/>
              <a:gd name="T2" fmla="*/ 318 w 318"/>
              <a:gd name="T3" fmla="*/ 194 h 194"/>
            </a:gdLst>
            <a:ahLst/>
            <a:cxnLst>
              <a:cxn ang="0">
                <a:pos x="T0" y="T1"/>
              </a:cxn>
              <a:cxn ang="0">
                <a:pos x="T2" y="T3"/>
              </a:cxn>
            </a:cxnLst>
            <a:rect l="0" t="0" r="r" b="b"/>
            <a:pathLst>
              <a:path w="318" h="194">
                <a:moveTo>
                  <a:pt x="0" y="0"/>
                </a:moveTo>
                <a:lnTo>
                  <a:pt x="318" y="194"/>
                </a:lnTo>
              </a:path>
            </a:pathLst>
          </a:custGeom>
          <a:noFill/>
          <a:ln w="127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54749" name="Freeform 93"/>
          <p:cNvSpPr>
            <a:spLocks/>
          </p:cNvSpPr>
          <p:nvPr/>
        </p:nvSpPr>
        <p:spPr bwMode="auto">
          <a:xfrm>
            <a:off x="2781528" y="5031247"/>
            <a:ext cx="481013" cy="238125"/>
          </a:xfrm>
          <a:custGeom>
            <a:avLst/>
            <a:gdLst>
              <a:gd name="T0" fmla="*/ 0 w 294"/>
              <a:gd name="T1" fmla="*/ 0 h 174"/>
              <a:gd name="T2" fmla="*/ 294 w 294"/>
              <a:gd name="T3" fmla="*/ 174 h 174"/>
            </a:gdLst>
            <a:ahLst/>
            <a:cxnLst>
              <a:cxn ang="0">
                <a:pos x="T0" y="T1"/>
              </a:cxn>
              <a:cxn ang="0">
                <a:pos x="T2" y="T3"/>
              </a:cxn>
            </a:cxnLst>
            <a:rect l="0" t="0" r="r" b="b"/>
            <a:pathLst>
              <a:path w="294" h="174">
                <a:moveTo>
                  <a:pt x="0" y="0"/>
                </a:moveTo>
                <a:lnTo>
                  <a:pt x="294" y="174"/>
                </a:lnTo>
              </a:path>
            </a:pathLst>
          </a:custGeom>
          <a:noFill/>
          <a:ln w="127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54750" name="Freeform 94"/>
          <p:cNvSpPr>
            <a:spLocks/>
          </p:cNvSpPr>
          <p:nvPr/>
        </p:nvSpPr>
        <p:spPr bwMode="auto">
          <a:xfrm>
            <a:off x="3729265" y="5007434"/>
            <a:ext cx="628650" cy="247650"/>
          </a:xfrm>
          <a:custGeom>
            <a:avLst/>
            <a:gdLst>
              <a:gd name="T0" fmla="*/ 0 w 378"/>
              <a:gd name="T1" fmla="*/ 174 h 174"/>
              <a:gd name="T2" fmla="*/ 378 w 378"/>
              <a:gd name="T3" fmla="*/ 0 h 174"/>
            </a:gdLst>
            <a:ahLst/>
            <a:cxnLst>
              <a:cxn ang="0">
                <a:pos x="T0" y="T1"/>
              </a:cxn>
              <a:cxn ang="0">
                <a:pos x="T2" y="T3"/>
              </a:cxn>
            </a:cxnLst>
            <a:rect l="0" t="0" r="r" b="b"/>
            <a:pathLst>
              <a:path w="378" h="174">
                <a:moveTo>
                  <a:pt x="0" y="174"/>
                </a:moveTo>
                <a:lnTo>
                  <a:pt x="378" y="0"/>
                </a:lnTo>
              </a:path>
            </a:pathLst>
          </a:custGeom>
          <a:noFill/>
          <a:ln w="127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54751" name="Freeform 95"/>
          <p:cNvSpPr>
            <a:spLocks/>
          </p:cNvSpPr>
          <p:nvPr/>
        </p:nvSpPr>
        <p:spPr bwMode="auto">
          <a:xfrm>
            <a:off x="4396015" y="5061409"/>
            <a:ext cx="206375" cy="508000"/>
          </a:xfrm>
          <a:custGeom>
            <a:avLst/>
            <a:gdLst>
              <a:gd name="T0" fmla="*/ 0 w 118"/>
              <a:gd name="T1" fmla="*/ 500 h 500"/>
              <a:gd name="T2" fmla="*/ 118 w 118"/>
              <a:gd name="T3" fmla="*/ 0 h 500"/>
            </a:gdLst>
            <a:ahLst/>
            <a:cxnLst>
              <a:cxn ang="0">
                <a:pos x="T0" y="T1"/>
              </a:cxn>
              <a:cxn ang="0">
                <a:pos x="T2" y="T3"/>
              </a:cxn>
            </a:cxnLst>
            <a:rect l="0" t="0" r="r" b="b"/>
            <a:pathLst>
              <a:path w="118" h="500">
                <a:moveTo>
                  <a:pt x="0" y="500"/>
                </a:moveTo>
                <a:lnTo>
                  <a:pt x="118" y="0"/>
                </a:lnTo>
              </a:path>
            </a:pathLst>
          </a:custGeom>
          <a:noFill/>
          <a:ln w="127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54752" name="Freeform 96"/>
          <p:cNvSpPr>
            <a:spLocks/>
          </p:cNvSpPr>
          <p:nvPr/>
        </p:nvSpPr>
        <p:spPr bwMode="auto">
          <a:xfrm>
            <a:off x="3160940" y="5594809"/>
            <a:ext cx="736600" cy="74613"/>
          </a:xfrm>
          <a:custGeom>
            <a:avLst/>
            <a:gdLst>
              <a:gd name="T0" fmla="*/ 370 w 370"/>
              <a:gd name="T1" fmla="*/ 32 h 32"/>
              <a:gd name="T2" fmla="*/ 0 w 370"/>
              <a:gd name="T3" fmla="*/ 0 h 32"/>
            </a:gdLst>
            <a:ahLst/>
            <a:cxnLst>
              <a:cxn ang="0">
                <a:pos x="T0" y="T1"/>
              </a:cxn>
              <a:cxn ang="0">
                <a:pos x="T2" y="T3"/>
              </a:cxn>
            </a:cxnLst>
            <a:rect l="0" t="0" r="r" b="b"/>
            <a:pathLst>
              <a:path w="370" h="32">
                <a:moveTo>
                  <a:pt x="370" y="32"/>
                </a:moveTo>
                <a:lnTo>
                  <a:pt x="0" y="0"/>
                </a:lnTo>
              </a:path>
            </a:pathLst>
          </a:custGeom>
          <a:noFill/>
          <a:ln w="127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54753" name="Freeform 97"/>
          <p:cNvSpPr>
            <a:spLocks/>
          </p:cNvSpPr>
          <p:nvPr/>
        </p:nvSpPr>
        <p:spPr bwMode="auto">
          <a:xfrm>
            <a:off x="2624365" y="5055059"/>
            <a:ext cx="193675" cy="425450"/>
          </a:xfrm>
          <a:custGeom>
            <a:avLst/>
            <a:gdLst>
              <a:gd name="T0" fmla="*/ 162 w 176"/>
              <a:gd name="T1" fmla="*/ 408 h 412"/>
              <a:gd name="T2" fmla="*/ 176 w 176"/>
              <a:gd name="T3" fmla="*/ 412 h 412"/>
              <a:gd name="T4" fmla="*/ 0 w 176"/>
              <a:gd name="T5" fmla="*/ 0 h 412"/>
            </a:gdLst>
            <a:ahLst/>
            <a:cxnLst>
              <a:cxn ang="0">
                <a:pos x="T0" y="T1"/>
              </a:cxn>
              <a:cxn ang="0">
                <a:pos x="T2" y="T3"/>
              </a:cxn>
              <a:cxn ang="0">
                <a:pos x="T4" y="T5"/>
              </a:cxn>
            </a:cxnLst>
            <a:rect l="0" t="0" r="r" b="b"/>
            <a:pathLst>
              <a:path w="176" h="412">
                <a:moveTo>
                  <a:pt x="162" y="408"/>
                </a:moveTo>
                <a:lnTo>
                  <a:pt x="176" y="412"/>
                </a:lnTo>
                <a:lnTo>
                  <a:pt x="0" y="0"/>
                </a:lnTo>
              </a:path>
            </a:pathLst>
          </a:custGeom>
          <a:noFill/>
          <a:ln w="127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54754" name="Rectangle 98"/>
          <p:cNvSpPr>
            <a:spLocks noChangeArrowheads="1"/>
          </p:cNvSpPr>
          <p:nvPr/>
        </p:nvSpPr>
        <p:spPr bwMode="auto">
          <a:xfrm>
            <a:off x="733653" y="4669297"/>
            <a:ext cx="1155700" cy="238125"/>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54755" name="Rectangle 99"/>
          <p:cNvSpPr>
            <a:spLocks noChangeArrowheads="1"/>
          </p:cNvSpPr>
          <p:nvPr/>
        </p:nvSpPr>
        <p:spPr bwMode="auto">
          <a:xfrm>
            <a:off x="709840" y="4693109"/>
            <a:ext cx="1147763" cy="238125"/>
          </a:xfrm>
          <a:prstGeom prst="rect">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54756" name="Line 100"/>
          <p:cNvSpPr>
            <a:spLocks noChangeShapeType="1"/>
          </p:cNvSpPr>
          <p:nvPr/>
        </p:nvSpPr>
        <p:spPr bwMode="auto">
          <a:xfrm>
            <a:off x="1735365" y="4824872"/>
            <a:ext cx="422275" cy="0"/>
          </a:xfrm>
          <a:prstGeom prst="line">
            <a:avLst/>
          </a:prstGeom>
          <a:noFill/>
          <a:ln w="9525">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54757" name="Text Box 101"/>
          <p:cNvSpPr txBox="1">
            <a:spLocks noChangeArrowheads="1"/>
          </p:cNvSpPr>
          <p:nvPr/>
        </p:nvSpPr>
        <p:spPr bwMode="auto">
          <a:xfrm>
            <a:off x="2737078" y="4540709"/>
            <a:ext cx="3111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de-DE" dirty="0">
                <a:latin typeface="Arial" charset="0"/>
              </a:rPr>
              <a:t>1</a:t>
            </a:r>
          </a:p>
        </p:txBody>
      </p:sp>
      <p:sp>
        <p:nvSpPr>
          <p:cNvPr id="454758" name="Text Box 102"/>
          <p:cNvSpPr txBox="1">
            <a:spLocks noChangeArrowheads="1"/>
          </p:cNvSpPr>
          <p:nvPr/>
        </p:nvSpPr>
        <p:spPr bwMode="auto">
          <a:xfrm>
            <a:off x="2627784" y="5013176"/>
            <a:ext cx="296863"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de-DE" sz="1600" dirty="0">
                <a:latin typeface="Arial" charset="0"/>
              </a:rPr>
              <a:t>2</a:t>
            </a:r>
          </a:p>
        </p:txBody>
      </p:sp>
      <p:sp>
        <p:nvSpPr>
          <p:cNvPr id="454759" name="Text Box 103"/>
          <p:cNvSpPr txBox="1">
            <a:spLocks noChangeArrowheads="1"/>
          </p:cNvSpPr>
          <p:nvPr/>
        </p:nvSpPr>
        <p:spPr bwMode="auto">
          <a:xfrm>
            <a:off x="2400528" y="5051884"/>
            <a:ext cx="296863"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de-DE" sz="1600" dirty="0">
                <a:latin typeface="Arial" charset="0"/>
              </a:rPr>
              <a:t>3</a:t>
            </a:r>
          </a:p>
        </p:txBody>
      </p:sp>
      <p:sp>
        <p:nvSpPr>
          <p:cNvPr id="454760" name="Rectangle 104"/>
          <p:cNvSpPr>
            <a:spLocks noChangeArrowheads="1"/>
          </p:cNvSpPr>
          <p:nvPr/>
        </p:nvSpPr>
        <p:spPr bwMode="auto">
          <a:xfrm>
            <a:off x="1338490" y="4696284"/>
            <a:ext cx="427038" cy="239713"/>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54761" name="Text Box 105"/>
          <p:cNvSpPr txBox="1">
            <a:spLocks noChangeArrowheads="1"/>
          </p:cNvSpPr>
          <p:nvPr/>
        </p:nvSpPr>
        <p:spPr bwMode="auto">
          <a:xfrm>
            <a:off x="1290865" y="4669297"/>
            <a:ext cx="5207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de-DE" sz="1200">
                <a:latin typeface="Arial" charset="0"/>
              </a:rPr>
              <a:t>0111</a:t>
            </a:r>
          </a:p>
        </p:txBody>
      </p:sp>
      <p:sp>
        <p:nvSpPr>
          <p:cNvPr id="454762" name="Text Box 106"/>
          <p:cNvSpPr txBox="1">
            <a:spLocks noChangeArrowheads="1"/>
          </p:cNvSpPr>
          <p:nvPr/>
        </p:nvSpPr>
        <p:spPr bwMode="auto">
          <a:xfrm>
            <a:off x="322490" y="3980322"/>
            <a:ext cx="1323975" cy="584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de-DE" sz="1600" dirty="0">
                <a:latin typeface="Arial" charset="0"/>
              </a:rPr>
              <a:t>Adressen im</a:t>
            </a:r>
            <a:br>
              <a:rPr lang="de-DE" sz="1600" dirty="0">
                <a:latin typeface="Arial" charset="0"/>
              </a:rPr>
            </a:br>
            <a:r>
              <a:rPr lang="de-DE" sz="1600" dirty="0">
                <a:latin typeface="Arial" charset="0"/>
              </a:rPr>
              <a:t>Header</a:t>
            </a:r>
          </a:p>
        </p:txBody>
      </p:sp>
      <p:sp>
        <p:nvSpPr>
          <p:cNvPr id="454763" name="Line 107"/>
          <p:cNvSpPr>
            <a:spLocks noChangeShapeType="1"/>
          </p:cNvSpPr>
          <p:nvPr/>
        </p:nvSpPr>
        <p:spPr bwMode="auto">
          <a:xfrm flipH="1">
            <a:off x="957490" y="4955047"/>
            <a:ext cx="1349375"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454764" name="Text Box 108"/>
          <p:cNvSpPr txBox="1">
            <a:spLocks noChangeArrowheads="1"/>
          </p:cNvSpPr>
          <p:nvPr/>
        </p:nvSpPr>
        <p:spPr bwMode="auto">
          <a:xfrm>
            <a:off x="843190" y="1377039"/>
            <a:ext cx="1992313" cy="5847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eaLnBrk="1" hangingPunct="1"/>
            <a:r>
              <a:rPr lang="de-DE" sz="1600" b="1" dirty="0">
                <a:solidFill>
                  <a:srgbClr val="FF0000"/>
                </a:solidFill>
                <a:latin typeface="Arial" charset="0"/>
              </a:rPr>
              <a:t>Routing-Algorithmus</a:t>
            </a:r>
          </a:p>
        </p:txBody>
      </p:sp>
      <p:sp>
        <p:nvSpPr>
          <p:cNvPr id="454765" name="Rectangle 109"/>
          <p:cNvSpPr>
            <a:spLocks noChangeArrowheads="1"/>
          </p:cNvSpPr>
          <p:nvPr/>
        </p:nvSpPr>
        <p:spPr bwMode="auto">
          <a:xfrm>
            <a:off x="806678" y="2237247"/>
            <a:ext cx="2041525" cy="1279525"/>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54766" name="Text Box 110"/>
          <p:cNvSpPr txBox="1">
            <a:spLocks noChangeArrowheads="1"/>
          </p:cNvSpPr>
          <p:nvPr/>
        </p:nvSpPr>
        <p:spPr bwMode="auto">
          <a:xfrm>
            <a:off x="806678" y="2189622"/>
            <a:ext cx="2249488" cy="30777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1" hangingPunct="1"/>
            <a:r>
              <a:rPr lang="de-DE" sz="1400" dirty="0">
                <a:solidFill>
                  <a:srgbClr val="0070C0"/>
                </a:solidFill>
                <a:latin typeface="Arial" charset="0"/>
              </a:rPr>
              <a:t>lokale Weiterleitungstab</a:t>
            </a:r>
            <a:r>
              <a:rPr lang="de-DE" sz="1400" dirty="0">
                <a:latin typeface="Arial" charset="0"/>
              </a:rPr>
              <a:t>.</a:t>
            </a:r>
          </a:p>
        </p:txBody>
      </p:sp>
      <p:sp>
        <p:nvSpPr>
          <p:cNvPr id="454767" name="Text Box 111"/>
          <p:cNvSpPr txBox="1">
            <a:spLocks noChangeArrowheads="1"/>
          </p:cNvSpPr>
          <p:nvPr/>
        </p:nvSpPr>
        <p:spPr bwMode="auto">
          <a:xfrm>
            <a:off x="733653" y="2437272"/>
            <a:ext cx="1285875" cy="3079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eaLnBrk="1" hangingPunct="1"/>
            <a:r>
              <a:rPr lang="de-DE" sz="1400">
                <a:latin typeface="Arial" charset="0"/>
              </a:rPr>
              <a:t>Header -Wert</a:t>
            </a:r>
          </a:p>
        </p:txBody>
      </p:sp>
      <p:sp>
        <p:nvSpPr>
          <p:cNvPr id="454768" name="Text Box 112"/>
          <p:cNvSpPr txBox="1">
            <a:spLocks noChangeArrowheads="1"/>
          </p:cNvSpPr>
          <p:nvPr/>
        </p:nvSpPr>
        <p:spPr bwMode="auto">
          <a:xfrm>
            <a:off x="1873478" y="2438859"/>
            <a:ext cx="1041400" cy="3048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1" hangingPunct="1"/>
            <a:r>
              <a:rPr lang="de-DE" sz="1400">
                <a:latin typeface="Arial" charset="0"/>
              </a:rPr>
              <a:t>“Ausgang”</a:t>
            </a:r>
          </a:p>
        </p:txBody>
      </p:sp>
      <p:sp>
        <p:nvSpPr>
          <p:cNvPr id="454769" name="Line 113"/>
          <p:cNvSpPr>
            <a:spLocks noChangeShapeType="1"/>
          </p:cNvSpPr>
          <p:nvPr/>
        </p:nvSpPr>
        <p:spPr bwMode="auto">
          <a:xfrm>
            <a:off x="1971903" y="2449972"/>
            <a:ext cx="7938" cy="1066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454770" name="Text Box 114"/>
          <p:cNvSpPr txBox="1">
            <a:spLocks noChangeArrowheads="1"/>
          </p:cNvSpPr>
          <p:nvPr/>
        </p:nvSpPr>
        <p:spPr bwMode="auto">
          <a:xfrm>
            <a:off x="1459140" y="2721434"/>
            <a:ext cx="523875" cy="83026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r" eaLnBrk="1" hangingPunct="1"/>
            <a:r>
              <a:rPr lang="de-DE" sz="1200">
                <a:latin typeface="Arial" charset="0"/>
              </a:rPr>
              <a:t>0100</a:t>
            </a:r>
          </a:p>
          <a:p>
            <a:pPr algn="r" eaLnBrk="1" hangingPunct="1"/>
            <a:r>
              <a:rPr lang="de-DE" sz="1200">
                <a:latin typeface="Arial" charset="0"/>
              </a:rPr>
              <a:t>0101</a:t>
            </a:r>
          </a:p>
          <a:p>
            <a:pPr algn="r" eaLnBrk="1" hangingPunct="1"/>
            <a:r>
              <a:rPr lang="de-DE" sz="1200">
                <a:latin typeface="Arial" charset="0"/>
              </a:rPr>
              <a:t>0111</a:t>
            </a:r>
          </a:p>
          <a:p>
            <a:pPr algn="r" eaLnBrk="1" hangingPunct="1"/>
            <a:r>
              <a:rPr lang="de-DE" sz="1200">
                <a:latin typeface="Arial" charset="0"/>
              </a:rPr>
              <a:t>1001</a:t>
            </a:r>
          </a:p>
        </p:txBody>
      </p:sp>
      <p:sp>
        <p:nvSpPr>
          <p:cNvPr id="454771" name="Text Box 115"/>
          <p:cNvSpPr txBox="1">
            <a:spLocks noChangeArrowheads="1"/>
          </p:cNvSpPr>
          <p:nvPr/>
        </p:nvSpPr>
        <p:spPr bwMode="auto">
          <a:xfrm>
            <a:off x="1987778" y="2721434"/>
            <a:ext cx="269875" cy="83026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r>
              <a:rPr lang="de-DE" sz="1200">
                <a:latin typeface="Arial" charset="0"/>
              </a:rPr>
              <a:t>3</a:t>
            </a:r>
          </a:p>
          <a:p>
            <a:pPr algn="ctr" eaLnBrk="1" hangingPunct="1"/>
            <a:r>
              <a:rPr lang="de-DE" sz="1200">
                <a:latin typeface="Arial" charset="0"/>
              </a:rPr>
              <a:t>2</a:t>
            </a:r>
          </a:p>
          <a:p>
            <a:pPr algn="ctr" eaLnBrk="1" hangingPunct="1"/>
            <a:r>
              <a:rPr lang="de-DE" sz="1200">
                <a:latin typeface="Arial" charset="0"/>
              </a:rPr>
              <a:t>2</a:t>
            </a:r>
          </a:p>
          <a:p>
            <a:pPr algn="ctr" eaLnBrk="1" hangingPunct="1"/>
            <a:r>
              <a:rPr lang="de-DE" sz="1200">
                <a:latin typeface="Arial" charset="0"/>
              </a:rPr>
              <a:t>1</a:t>
            </a:r>
          </a:p>
        </p:txBody>
      </p:sp>
      <p:sp>
        <p:nvSpPr>
          <p:cNvPr id="454772" name="Line 116"/>
          <p:cNvSpPr>
            <a:spLocks noChangeShapeType="1"/>
          </p:cNvSpPr>
          <p:nvPr/>
        </p:nvSpPr>
        <p:spPr bwMode="auto">
          <a:xfrm>
            <a:off x="843190" y="2707147"/>
            <a:ext cx="20066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454773" name="Line 117"/>
          <p:cNvSpPr>
            <a:spLocks noChangeShapeType="1"/>
          </p:cNvSpPr>
          <p:nvPr/>
        </p:nvSpPr>
        <p:spPr bwMode="auto">
          <a:xfrm>
            <a:off x="870178" y="2449972"/>
            <a:ext cx="20066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454774" name="AutoShape 118"/>
          <p:cNvSpPr>
            <a:spLocks noChangeArrowheads="1"/>
          </p:cNvSpPr>
          <p:nvPr/>
        </p:nvSpPr>
        <p:spPr bwMode="auto">
          <a:xfrm rot="5400000">
            <a:off x="1741715" y="1945146"/>
            <a:ext cx="239713" cy="273050"/>
          </a:xfrm>
          <a:prstGeom prst="rightArrow">
            <a:avLst>
              <a:gd name="adj1" fmla="val 51167"/>
              <a:gd name="adj2" fmla="val 39736"/>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54775" name="Line 119"/>
          <p:cNvSpPr>
            <a:spLocks noChangeShapeType="1"/>
          </p:cNvSpPr>
          <p:nvPr/>
        </p:nvSpPr>
        <p:spPr bwMode="auto">
          <a:xfrm>
            <a:off x="1105128" y="4451809"/>
            <a:ext cx="233363" cy="231775"/>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454776" name="Freeform 120"/>
          <p:cNvSpPr>
            <a:spLocks/>
          </p:cNvSpPr>
          <p:nvPr/>
        </p:nvSpPr>
        <p:spPr bwMode="auto">
          <a:xfrm>
            <a:off x="2192565" y="4877259"/>
            <a:ext cx="879475" cy="265113"/>
          </a:xfrm>
          <a:custGeom>
            <a:avLst/>
            <a:gdLst>
              <a:gd name="T0" fmla="*/ 0 w 554"/>
              <a:gd name="T1" fmla="*/ 10 h 167"/>
              <a:gd name="T2" fmla="*/ 324 w 554"/>
              <a:gd name="T3" fmla="*/ 26 h 167"/>
              <a:gd name="T4" fmla="*/ 554 w 554"/>
              <a:gd name="T5" fmla="*/ 167 h 167"/>
            </a:gdLst>
            <a:ahLst/>
            <a:cxnLst>
              <a:cxn ang="0">
                <a:pos x="T0" y="T1"/>
              </a:cxn>
              <a:cxn ang="0">
                <a:pos x="T2" y="T3"/>
              </a:cxn>
              <a:cxn ang="0">
                <a:pos x="T4" y="T5"/>
              </a:cxn>
            </a:cxnLst>
            <a:rect l="0" t="0" r="r" b="b"/>
            <a:pathLst>
              <a:path w="554" h="167">
                <a:moveTo>
                  <a:pt x="0" y="10"/>
                </a:moveTo>
                <a:cubicBezTo>
                  <a:pt x="102" y="0"/>
                  <a:pt x="240" y="5"/>
                  <a:pt x="324" y="26"/>
                </a:cubicBezTo>
                <a:cubicBezTo>
                  <a:pt x="416" y="52"/>
                  <a:pt x="502" y="120"/>
                  <a:pt x="554" y="167"/>
                </a:cubicBezTo>
              </a:path>
            </a:pathLst>
          </a:custGeom>
          <a:noFill/>
          <a:ln w="57150" cmpd="sng">
            <a:solidFill>
              <a:srgbClr val="FF3300"/>
            </a:solidFill>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454779" name="Freeform 123"/>
          <p:cNvSpPr>
            <a:spLocks/>
          </p:cNvSpPr>
          <p:nvPr/>
        </p:nvSpPr>
        <p:spPr bwMode="auto">
          <a:xfrm flipH="1" flipV="1">
            <a:off x="4184878" y="5713872"/>
            <a:ext cx="542925" cy="371475"/>
          </a:xfrm>
          <a:custGeom>
            <a:avLst/>
            <a:gdLst>
              <a:gd name="T0" fmla="*/ 0 w 1443"/>
              <a:gd name="T1" fmla="*/ 0 h 816"/>
              <a:gd name="T2" fmla="*/ 1076 w 1443"/>
              <a:gd name="T3" fmla="*/ 782 h 816"/>
              <a:gd name="T4" fmla="*/ 1320 w 1443"/>
              <a:gd name="T5" fmla="*/ 788 h 816"/>
              <a:gd name="T6" fmla="*/ 1443 w 1443"/>
              <a:gd name="T7" fmla="*/ 5 h 816"/>
              <a:gd name="T8" fmla="*/ 0 w 1443"/>
              <a:gd name="T9" fmla="*/ 0 h 816"/>
            </a:gdLst>
            <a:ahLst/>
            <a:cxnLst>
              <a:cxn ang="0">
                <a:pos x="T0" y="T1"/>
              </a:cxn>
              <a:cxn ang="0">
                <a:pos x="T2" y="T3"/>
              </a:cxn>
              <a:cxn ang="0">
                <a:pos x="T4" y="T5"/>
              </a:cxn>
              <a:cxn ang="0">
                <a:pos x="T6" y="T7"/>
              </a:cxn>
              <a:cxn ang="0">
                <a:pos x="T8" y="T9"/>
              </a:cxn>
            </a:cxnLst>
            <a:rect l="0" t="0" r="r" b="b"/>
            <a:pathLst>
              <a:path w="1443" h="816">
                <a:moveTo>
                  <a:pt x="0" y="0"/>
                </a:moveTo>
                <a:cubicBezTo>
                  <a:pt x="571" y="285"/>
                  <a:pt x="856" y="408"/>
                  <a:pt x="1076" y="782"/>
                </a:cubicBezTo>
                <a:cubicBezTo>
                  <a:pt x="1185" y="775"/>
                  <a:pt x="1220" y="816"/>
                  <a:pt x="1320" y="788"/>
                </a:cubicBezTo>
                <a:cubicBezTo>
                  <a:pt x="1264" y="347"/>
                  <a:pt x="1276" y="352"/>
                  <a:pt x="1443" y="5"/>
                </a:cubicBezTo>
                <a:cubicBezTo>
                  <a:pt x="867" y="5"/>
                  <a:pt x="233" y="0"/>
                  <a:pt x="0" y="0"/>
                </a:cubicBezTo>
                <a:close/>
              </a:path>
            </a:pathLst>
          </a:custGeom>
          <a:gradFill rotWithShape="1">
            <a:gsLst>
              <a:gs pos="0">
                <a:schemeClr val="accent1"/>
              </a:gs>
              <a:gs pos="100000">
                <a:schemeClr val="bg1"/>
              </a:gs>
            </a:gsLst>
            <a:lin ang="540000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454780" name="Freeform 124"/>
          <p:cNvSpPr>
            <a:spLocks/>
          </p:cNvSpPr>
          <p:nvPr/>
        </p:nvSpPr>
        <p:spPr bwMode="auto">
          <a:xfrm flipH="1" flipV="1">
            <a:off x="2835503" y="5697997"/>
            <a:ext cx="542925" cy="371475"/>
          </a:xfrm>
          <a:custGeom>
            <a:avLst/>
            <a:gdLst>
              <a:gd name="T0" fmla="*/ 0 w 1443"/>
              <a:gd name="T1" fmla="*/ 0 h 816"/>
              <a:gd name="T2" fmla="*/ 1076 w 1443"/>
              <a:gd name="T3" fmla="*/ 782 h 816"/>
              <a:gd name="T4" fmla="*/ 1320 w 1443"/>
              <a:gd name="T5" fmla="*/ 788 h 816"/>
              <a:gd name="T6" fmla="*/ 1443 w 1443"/>
              <a:gd name="T7" fmla="*/ 5 h 816"/>
              <a:gd name="T8" fmla="*/ 0 w 1443"/>
              <a:gd name="T9" fmla="*/ 0 h 816"/>
            </a:gdLst>
            <a:ahLst/>
            <a:cxnLst>
              <a:cxn ang="0">
                <a:pos x="T0" y="T1"/>
              </a:cxn>
              <a:cxn ang="0">
                <a:pos x="T2" y="T3"/>
              </a:cxn>
              <a:cxn ang="0">
                <a:pos x="T4" y="T5"/>
              </a:cxn>
              <a:cxn ang="0">
                <a:pos x="T6" y="T7"/>
              </a:cxn>
              <a:cxn ang="0">
                <a:pos x="T8" y="T9"/>
              </a:cxn>
            </a:cxnLst>
            <a:rect l="0" t="0" r="r" b="b"/>
            <a:pathLst>
              <a:path w="1443" h="816">
                <a:moveTo>
                  <a:pt x="0" y="0"/>
                </a:moveTo>
                <a:cubicBezTo>
                  <a:pt x="571" y="285"/>
                  <a:pt x="856" y="408"/>
                  <a:pt x="1076" y="782"/>
                </a:cubicBezTo>
                <a:cubicBezTo>
                  <a:pt x="1185" y="775"/>
                  <a:pt x="1220" y="816"/>
                  <a:pt x="1320" y="788"/>
                </a:cubicBezTo>
                <a:cubicBezTo>
                  <a:pt x="1264" y="347"/>
                  <a:pt x="1276" y="352"/>
                  <a:pt x="1443" y="5"/>
                </a:cubicBezTo>
                <a:cubicBezTo>
                  <a:pt x="867" y="5"/>
                  <a:pt x="233" y="0"/>
                  <a:pt x="0" y="0"/>
                </a:cubicBezTo>
                <a:close/>
              </a:path>
            </a:pathLst>
          </a:custGeom>
          <a:gradFill rotWithShape="1">
            <a:gsLst>
              <a:gs pos="0">
                <a:schemeClr val="accent1"/>
              </a:gs>
              <a:gs pos="100000">
                <a:schemeClr val="bg1"/>
              </a:gs>
            </a:gsLst>
            <a:lin ang="540000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454781" name="Freeform 125"/>
          <p:cNvSpPr>
            <a:spLocks/>
          </p:cNvSpPr>
          <p:nvPr/>
        </p:nvSpPr>
        <p:spPr bwMode="auto">
          <a:xfrm flipH="1" flipV="1">
            <a:off x="3475265" y="5405897"/>
            <a:ext cx="542925" cy="452438"/>
          </a:xfrm>
          <a:custGeom>
            <a:avLst/>
            <a:gdLst>
              <a:gd name="T0" fmla="*/ 0 w 1443"/>
              <a:gd name="T1" fmla="*/ 0 h 816"/>
              <a:gd name="T2" fmla="*/ 1076 w 1443"/>
              <a:gd name="T3" fmla="*/ 782 h 816"/>
              <a:gd name="T4" fmla="*/ 1320 w 1443"/>
              <a:gd name="T5" fmla="*/ 788 h 816"/>
              <a:gd name="T6" fmla="*/ 1443 w 1443"/>
              <a:gd name="T7" fmla="*/ 5 h 816"/>
              <a:gd name="T8" fmla="*/ 0 w 1443"/>
              <a:gd name="T9" fmla="*/ 0 h 816"/>
            </a:gdLst>
            <a:ahLst/>
            <a:cxnLst>
              <a:cxn ang="0">
                <a:pos x="T0" y="T1"/>
              </a:cxn>
              <a:cxn ang="0">
                <a:pos x="T2" y="T3"/>
              </a:cxn>
              <a:cxn ang="0">
                <a:pos x="T4" y="T5"/>
              </a:cxn>
              <a:cxn ang="0">
                <a:pos x="T6" y="T7"/>
              </a:cxn>
              <a:cxn ang="0">
                <a:pos x="T8" y="T9"/>
              </a:cxn>
            </a:cxnLst>
            <a:rect l="0" t="0" r="r" b="b"/>
            <a:pathLst>
              <a:path w="1443" h="816">
                <a:moveTo>
                  <a:pt x="0" y="0"/>
                </a:moveTo>
                <a:cubicBezTo>
                  <a:pt x="571" y="285"/>
                  <a:pt x="856" y="408"/>
                  <a:pt x="1076" y="782"/>
                </a:cubicBezTo>
                <a:cubicBezTo>
                  <a:pt x="1185" y="775"/>
                  <a:pt x="1220" y="816"/>
                  <a:pt x="1320" y="788"/>
                </a:cubicBezTo>
                <a:cubicBezTo>
                  <a:pt x="1264" y="347"/>
                  <a:pt x="1276" y="352"/>
                  <a:pt x="1443" y="5"/>
                </a:cubicBezTo>
                <a:cubicBezTo>
                  <a:pt x="867" y="5"/>
                  <a:pt x="233" y="0"/>
                  <a:pt x="0" y="0"/>
                </a:cubicBezTo>
                <a:close/>
              </a:path>
            </a:pathLst>
          </a:custGeom>
          <a:gradFill rotWithShape="1">
            <a:gsLst>
              <a:gs pos="0">
                <a:schemeClr val="accent1"/>
              </a:gs>
              <a:gs pos="100000">
                <a:schemeClr val="bg1"/>
              </a:gs>
            </a:gsLst>
            <a:lin ang="540000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grpSp>
        <p:nvGrpSpPr>
          <p:cNvPr id="454798" name="Group 142"/>
          <p:cNvGrpSpPr>
            <a:grpSpLocks/>
          </p:cNvGrpSpPr>
          <p:nvPr/>
        </p:nvGrpSpPr>
        <p:grpSpPr bwMode="auto">
          <a:xfrm>
            <a:off x="4167415" y="6072647"/>
            <a:ext cx="550863" cy="452438"/>
            <a:chOff x="2886" y="1668"/>
            <a:chExt cx="347" cy="285"/>
          </a:xfrm>
        </p:grpSpPr>
        <p:sp>
          <p:nvSpPr>
            <p:cNvPr id="454799" name="Rectangle 143"/>
            <p:cNvSpPr>
              <a:spLocks noChangeArrowheads="1"/>
            </p:cNvSpPr>
            <p:nvPr/>
          </p:nvSpPr>
          <p:spPr bwMode="auto">
            <a:xfrm>
              <a:off x="2886" y="1668"/>
              <a:ext cx="347" cy="285"/>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54800" name="Oval 144"/>
            <p:cNvSpPr>
              <a:spLocks noChangeArrowheads="1"/>
            </p:cNvSpPr>
            <p:nvPr/>
          </p:nvSpPr>
          <p:spPr bwMode="auto">
            <a:xfrm>
              <a:off x="2905" y="1674"/>
              <a:ext cx="314" cy="74"/>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54801" name="Rectangle 145"/>
            <p:cNvSpPr>
              <a:spLocks noChangeArrowheads="1"/>
            </p:cNvSpPr>
            <p:nvPr/>
          </p:nvSpPr>
          <p:spPr bwMode="auto">
            <a:xfrm>
              <a:off x="2913" y="1785"/>
              <a:ext cx="300" cy="156"/>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54802" name="Line 146"/>
            <p:cNvSpPr>
              <a:spLocks noChangeShapeType="1"/>
            </p:cNvSpPr>
            <p:nvPr/>
          </p:nvSpPr>
          <p:spPr bwMode="auto">
            <a:xfrm>
              <a:off x="3082" y="1811"/>
              <a:ext cx="1" cy="13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454803" name="Line 147"/>
            <p:cNvSpPr>
              <a:spLocks noChangeShapeType="1"/>
            </p:cNvSpPr>
            <p:nvPr/>
          </p:nvSpPr>
          <p:spPr bwMode="auto">
            <a:xfrm>
              <a:off x="2913" y="1842"/>
              <a:ext cx="3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454804" name="Line 148"/>
            <p:cNvSpPr>
              <a:spLocks noChangeShapeType="1"/>
            </p:cNvSpPr>
            <p:nvPr/>
          </p:nvSpPr>
          <p:spPr bwMode="auto">
            <a:xfrm>
              <a:off x="2912" y="1812"/>
              <a:ext cx="3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454805" name="AutoShape 149"/>
            <p:cNvSpPr>
              <a:spLocks noChangeArrowheads="1"/>
            </p:cNvSpPr>
            <p:nvPr/>
          </p:nvSpPr>
          <p:spPr bwMode="auto">
            <a:xfrm rot="5400000">
              <a:off x="3051" y="1745"/>
              <a:ext cx="29" cy="41"/>
            </a:xfrm>
            <a:prstGeom prst="rightArrow">
              <a:avLst>
                <a:gd name="adj1" fmla="val 51167"/>
                <a:gd name="adj2" fmla="val 39736"/>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grpSp>
      <p:grpSp>
        <p:nvGrpSpPr>
          <p:cNvPr id="454806" name="Group 150"/>
          <p:cNvGrpSpPr>
            <a:grpSpLocks/>
          </p:cNvGrpSpPr>
          <p:nvPr/>
        </p:nvGrpSpPr>
        <p:grpSpPr bwMode="auto">
          <a:xfrm>
            <a:off x="3472090" y="5853572"/>
            <a:ext cx="550863" cy="452438"/>
            <a:chOff x="2886" y="1668"/>
            <a:chExt cx="347" cy="285"/>
          </a:xfrm>
        </p:grpSpPr>
        <p:sp>
          <p:nvSpPr>
            <p:cNvPr id="454807" name="Rectangle 151"/>
            <p:cNvSpPr>
              <a:spLocks noChangeArrowheads="1"/>
            </p:cNvSpPr>
            <p:nvPr/>
          </p:nvSpPr>
          <p:spPr bwMode="auto">
            <a:xfrm>
              <a:off x="2886" y="1668"/>
              <a:ext cx="347" cy="285"/>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54808" name="Oval 152"/>
            <p:cNvSpPr>
              <a:spLocks noChangeArrowheads="1"/>
            </p:cNvSpPr>
            <p:nvPr/>
          </p:nvSpPr>
          <p:spPr bwMode="auto">
            <a:xfrm>
              <a:off x="2905" y="1674"/>
              <a:ext cx="314" cy="74"/>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54809" name="Rectangle 153"/>
            <p:cNvSpPr>
              <a:spLocks noChangeArrowheads="1"/>
            </p:cNvSpPr>
            <p:nvPr/>
          </p:nvSpPr>
          <p:spPr bwMode="auto">
            <a:xfrm>
              <a:off x="2913" y="1785"/>
              <a:ext cx="300" cy="156"/>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54810" name="Line 154"/>
            <p:cNvSpPr>
              <a:spLocks noChangeShapeType="1"/>
            </p:cNvSpPr>
            <p:nvPr/>
          </p:nvSpPr>
          <p:spPr bwMode="auto">
            <a:xfrm>
              <a:off x="3082" y="1811"/>
              <a:ext cx="1" cy="13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454811" name="Line 155"/>
            <p:cNvSpPr>
              <a:spLocks noChangeShapeType="1"/>
            </p:cNvSpPr>
            <p:nvPr/>
          </p:nvSpPr>
          <p:spPr bwMode="auto">
            <a:xfrm>
              <a:off x="2913" y="1842"/>
              <a:ext cx="3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454812" name="Line 156"/>
            <p:cNvSpPr>
              <a:spLocks noChangeShapeType="1"/>
            </p:cNvSpPr>
            <p:nvPr/>
          </p:nvSpPr>
          <p:spPr bwMode="auto">
            <a:xfrm>
              <a:off x="2912" y="1812"/>
              <a:ext cx="3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454813" name="AutoShape 157"/>
            <p:cNvSpPr>
              <a:spLocks noChangeArrowheads="1"/>
            </p:cNvSpPr>
            <p:nvPr/>
          </p:nvSpPr>
          <p:spPr bwMode="auto">
            <a:xfrm rot="5400000">
              <a:off x="3051" y="1745"/>
              <a:ext cx="29" cy="41"/>
            </a:xfrm>
            <a:prstGeom prst="rightArrow">
              <a:avLst>
                <a:gd name="adj1" fmla="val 51167"/>
                <a:gd name="adj2" fmla="val 39736"/>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grpSp>
      <p:grpSp>
        <p:nvGrpSpPr>
          <p:cNvPr id="454814" name="Group 158"/>
          <p:cNvGrpSpPr>
            <a:grpSpLocks/>
          </p:cNvGrpSpPr>
          <p:nvPr/>
        </p:nvGrpSpPr>
        <p:grpSpPr bwMode="auto">
          <a:xfrm>
            <a:off x="2816453" y="6045659"/>
            <a:ext cx="550863" cy="452438"/>
            <a:chOff x="2886" y="1668"/>
            <a:chExt cx="347" cy="285"/>
          </a:xfrm>
        </p:grpSpPr>
        <p:sp>
          <p:nvSpPr>
            <p:cNvPr id="454815" name="Rectangle 159"/>
            <p:cNvSpPr>
              <a:spLocks noChangeArrowheads="1"/>
            </p:cNvSpPr>
            <p:nvPr/>
          </p:nvSpPr>
          <p:spPr bwMode="auto">
            <a:xfrm>
              <a:off x="2886" y="1668"/>
              <a:ext cx="347" cy="285"/>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54816" name="Oval 160"/>
            <p:cNvSpPr>
              <a:spLocks noChangeArrowheads="1"/>
            </p:cNvSpPr>
            <p:nvPr/>
          </p:nvSpPr>
          <p:spPr bwMode="auto">
            <a:xfrm>
              <a:off x="2905" y="1674"/>
              <a:ext cx="314" cy="74"/>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54817" name="Rectangle 161"/>
            <p:cNvSpPr>
              <a:spLocks noChangeArrowheads="1"/>
            </p:cNvSpPr>
            <p:nvPr/>
          </p:nvSpPr>
          <p:spPr bwMode="auto">
            <a:xfrm>
              <a:off x="2913" y="1785"/>
              <a:ext cx="300" cy="156"/>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54818" name="Line 162"/>
            <p:cNvSpPr>
              <a:spLocks noChangeShapeType="1"/>
            </p:cNvSpPr>
            <p:nvPr/>
          </p:nvSpPr>
          <p:spPr bwMode="auto">
            <a:xfrm>
              <a:off x="3082" y="1811"/>
              <a:ext cx="1" cy="13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454819" name="Line 163"/>
            <p:cNvSpPr>
              <a:spLocks noChangeShapeType="1"/>
            </p:cNvSpPr>
            <p:nvPr/>
          </p:nvSpPr>
          <p:spPr bwMode="auto">
            <a:xfrm>
              <a:off x="2913" y="1842"/>
              <a:ext cx="3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454820" name="Line 164"/>
            <p:cNvSpPr>
              <a:spLocks noChangeShapeType="1"/>
            </p:cNvSpPr>
            <p:nvPr/>
          </p:nvSpPr>
          <p:spPr bwMode="auto">
            <a:xfrm>
              <a:off x="2912" y="1812"/>
              <a:ext cx="3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454821" name="AutoShape 165"/>
            <p:cNvSpPr>
              <a:spLocks noChangeArrowheads="1"/>
            </p:cNvSpPr>
            <p:nvPr/>
          </p:nvSpPr>
          <p:spPr bwMode="auto">
            <a:xfrm rot="5400000">
              <a:off x="3051" y="1745"/>
              <a:ext cx="29" cy="41"/>
            </a:xfrm>
            <a:prstGeom prst="rightArrow">
              <a:avLst>
                <a:gd name="adj1" fmla="val 51167"/>
                <a:gd name="adj2" fmla="val 39736"/>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grpSp>
      <p:sp>
        <p:nvSpPr>
          <p:cNvPr id="454822" name="Rectangle 166"/>
          <p:cNvSpPr>
            <a:spLocks noGrp="1" noChangeArrowheads="1"/>
          </p:cNvSpPr>
          <p:nvPr>
            <p:ph type="title"/>
          </p:nvPr>
        </p:nvSpPr>
        <p:spPr>
          <a:xfrm>
            <a:off x="249238" y="0"/>
            <a:ext cx="8894762" cy="1143000"/>
          </a:xfrm>
        </p:spPr>
        <p:txBody>
          <a:bodyPr/>
          <a:lstStyle/>
          <a:p>
            <a:r>
              <a:rPr lang="de-DE" sz="3600"/>
              <a:t>Routing und das Weiterleiten</a:t>
            </a:r>
          </a:p>
        </p:txBody>
      </p:sp>
      <p:sp>
        <p:nvSpPr>
          <p:cNvPr id="2" name="TextBox 1"/>
          <p:cNvSpPr txBox="1"/>
          <p:nvPr/>
        </p:nvSpPr>
        <p:spPr>
          <a:xfrm>
            <a:off x="3260954" y="1196752"/>
            <a:ext cx="5883048" cy="3000821"/>
          </a:xfrm>
          <a:prstGeom prst="rect">
            <a:avLst/>
          </a:prstGeom>
          <a:noFill/>
        </p:spPr>
        <p:txBody>
          <a:bodyPr wrap="square" rtlCol="0">
            <a:spAutoFit/>
          </a:bodyPr>
          <a:lstStyle/>
          <a:p>
            <a:pPr marL="274320" indent="-274320">
              <a:spcBef>
                <a:spcPts val="600"/>
              </a:spcBef>
              <a:buClr>
                <a:srgbClr val="53548A"/>
              </a:buClr>
              <a:buSzPct val="76000"/>
              <a:buFont typeface="Wingdings 3"/>
              <a:buChar char=""/>
            </a:pPr>
            <a:r>
              <a:rPr lang="de-DE" sz="2300" dirty="0">
                <a:solidFill>
                  <a:schemeClr val="bg2">
                    <a:lumMod val="50000"/>
                  </a:schemeClr>
                </a:solidFill>
              </a:rPr>
              <a:t>Wie stellen wir sicher, dass jeder Zwischenrouter das Paket entlang dieses (guten) Pfades leitet?</a:t>
            </a:r>
          </a:p>
          <a:p>
            <a:pPr marL="274320" indent="-274320">
              <a:spcBef>
                <a:spcPts val="600"/>
              </a:spcBef>
              <a:buClr>
                <a:srgbClr val="53548A"/>
              </a:buClr>
              <a:buSzPct val="76000"/>
              <a:buFont typeface="Wingdings 3"/>
              <a:buChar char=""/>
            </a:pPr>
            <a:r>
              <a:rPr lang="de-DE" sz="2300" dirty="0">
                <a:solidFill>
                  <a:prstClr val="black"/>
                </a:solidFill>
              </a:rPr>
              <a:t>Dazu führt jeder (Zwischen-) Router regelmäßig einen </a:t>
            </a:r>
            <a:r>
              <a:rPr lang="de-DE" sz="2300" b="1" dirty="0">
                <a:solidFill>
                  <a:srgbClr val="FF0000"/>
                </a:solidFill>
              </a:rPr>
              <a:t>Routing-Algorithmus </a:t>
            </a:r>
            <a:r>
              <a:rPr lang="de-DE" sz="2300" dirty="0">
                <a:solidFill>
                  <a:prstClr val="black"/>
                </a:solidFill>
              </a:rPr>
              <a:t>für ihm bekannte (ggf. ferne) Ziele aus, und speichert in der </a:t>
            </a:r>
            <a:r>
              <a:rPr lang="de-DE" sz="2300" dirty="0">
                <a:solidFill>
                  <a:srgbClr val="0070C0"/>
                </a:solidFill>
              </a:rPr>
              <a:t>Weiterleitungstabelle</a:t>
            </a:r>
            <a:r>
              <a:rPr lang="de-DE" sz="2300" dirty="0">
                <a:solidFill>
                  <a:prstClr val="black"/>
                </a:solidFill>
              </a:rPr>
              <a:t> nur den „nächsten Hop“</a:t>
            </a:r>
          </a:p>
        </p:txBody>
      </p:sp>
      <p:sp>
        <p:nvSpPr>
          <p:cNvPr id="161" name="TextBox 160"/>
          <p:cNvSpPr txBox="1"/>
          <p:nvPr/>
        </p:nvSpPr>
        <p:spPr>
          <a:xfrm>
            <a:off x="4680884" y="4166687"/>
            <a:ext cx="4449358" cy="2246769"/>
          </a:xfrm>
          <a:prstGeom prst="rect">
            <a:avLst/>
          </a:prstGeom>
          <a:noFill/>
        </p:spPr>
        <p:txBody>
          <a:bodyPr wrap="square" rtlCol="0">
            <a:spAutoFit/>
          </a:bodyPr>
          <a:lstStyle/>
          <a:p>
            <a:pPr marL="274320" lvl="0" indent="-274320">
              <a:spcBef>
                <a:spcPts val="600"/>
              </a:spcBef>
              <a:buClr>
                <a:srgbClr val="53548A"/>
              </a:buClr>
              <a:buSzPct val="76000"/>
              <a:buFont typeface="Wingdings 3"/>
              <a:buChar char=""/>
            </a:pPr>
            <a:r>
              <a:rPr lang="de-DE" sz="2300" u="sng" dirty="0">
                <a:solidFill>
                  <a:prstClr val="black"/>
                </a:solidFill>
              </a:rPr>
              <a:t>Damit wird das Routing durch lokale Entscheidungen an jedem Router</a:t>
            </a:r>
            <a:r>
              <a:rPr lang="de-DE" sz="2300" dirty="0">
                <a:solidFill>
                  <a:prstClr val="black"/>
                </a:solidFill>
              </a:rPr>
              <a:t> umgesetzt: </a:t>
            </a:r>
          </a:p>
          <a:p>
            <a:pPr marL="731520" lvl="1" indent="-274320">
              <a:spcBef>
                <a:spcPts val="600"/>
              </a:spcBef>
              <a:buClr>
                <a:srgbClr val="53548A"/>
              </a:buClr>
              <a:buSzPct val="76000"/>
              <a:buFont typeface="Wingdings 3"/>
              <a:buChar char=""/>
            </a:pPr>
            <a:r>
              <a:rPr lang="de-DE" sz="2200" dirty="0">
                <a:solidFill>
                  <a:prstClr val="black"/>
                </a:solidFill>
              </a:rPr>
              <a:t>Zu welchem </a:t>
            </a:r>
            <a:r>
              <a:rPr lang="de-DE" sz="2200" u="sng" dirty="0">
                <a:solidFill>
                  <a:prstClr val="black"/>
                </a:solidFill>
              </a:rPr>
              <a:t>direkt verbundenem</a:t>
            </a:r>
            <a:r>
              <a:rPr lang="de-DE" sz="2200" dirty="0">
                <a:solidFill>
                  <a:prstClr val="black"/>
                </a:solidFill>
              </a:rPr>
              <a:t> Router wird das Paket weitergeleitet?</a:t>
            </a:r>
          </a:p>
        </p:txBody>
      </p:sp>
    </p:spTree>
    <p:extLst>
      <p:ext uri="{BB962C8B-B14F-4D97-AF65-F5344CB8AC3E}">
        <p14:creationId xmlns:p14="http://schemas.microsoft.com/office/powerpoint/2010/main" val="145211480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 name="Slide Number Placeholder 4"/>
          <p:cNvSpPr>
            <a:spLocks noGrp="1"/>
          </p:cNvSpPr>
          <p:nvPr>
            <p:ph type="sldNum" sz="quarter" idx="12"/>
          </p:nvPr>
        </p:nvSpPr>
        <p:spPr/>
        <p:txBody>
          <a:bodyPr/>
          <a:lstStyle/>
          <a:p>
            <a:fld id="{09490C0A-AA5E-4FB9-AE41-486A2FC334E5}" type="slidenum">
              <a:rPr lang="en-US" smtClean="0"/>
              <a:pPr/>
              <a:t>23</a:t>
            </a:fld>
            <a:endParaRPr lang="en-US" dirty="0"/>
          </a:p>
        </p:txBody>
      </p:sp>
      <p:grpSp>
        <p:nvGrpSpPr>
          <p:cNvPr id="456706" name="Group 2"/>
          <p:cNvGrpSpPr>
            <a:grpSpLocks/>
          </p:cNvGrpSpPr>
          <p:nvPr/>
        </p:nvGrpSpPr>
        <p:grpSpPr bwMode="auto">
          <a:xfrm>
            <a:off x="3200400" y="1406525"/>
            <a:ext cx="3571875" cy="2236788"/>
            <a:chOff x="3162" y="1071"/>
            <a:chExt cx="2250" cy="1409"/>
          </a:xfrm>
        </p:grpSpPr>
        <p:sp>
          <p:nvSpPr>
            <p:cNvPr id="456707" name="Freeform 3"/>
            <p:cNvSpPr>
              <a:spLocks/>
            </p:cNvSpPr>
            <p:nvPr/>
          </p:nvSpPr>
          <p:spPr bwMode="auto">
            <a:xfrm>
              <a:off x="3162" y="1071"/>
              <a:ext cx="2250" cy="1409"/>
            </a:xfrm>
            <a:custGeom>
              <a:avLst/>
              <a:gdLst>
                <a:gd name="T0" fmla="*/ 0 w 2250"/>
                <a:gd name="T1" fmla="*/ 624 h 1409"/>
                <a:gd name="T2" fmla="*/ 219 w 2250"/>
                <a:gd name="T3" fmla="*/ 321 h 1409"/>
                <a:gd name="T4" fmla="*/ 529 w 2250"/>
                <a:gd name="T5" fmla="*/ 35 h 1409"/>
                <a:gd name="T6" fmla="*/ 1551 w 2250"/>
                <a:gd name="T7" fmla="*/ 111 h 1409"/>
                <a:gd name="T8" fmla="*/ 1968 w 2250"/>
                <a:gd name="T9" fmla="*/ 483 h 1409"/>
                <a:gd name="T10" fmla="*/ 2199 w 2250"/>
                <a:gd name="T11" fmla="*/ 906 h 1409"/>
                <a:gd name="T12" fmla="*/ 1659 w 2250"/>
                <a:gd name="T13" fmla="*/ 1314 h 1409"/>
                <a:gd name="T14" fmla="*/ 993 w 2250"/>
                <a:gd name="T15" fmla="*/ 1386 h 1409"/>
                <a:gd name="T16" fmla="*/ 465 w 2250"/>
                <a:gd name="T17" fmla="*/ 1356 h 1409"/>
                <a:gd name="T18" fmla="*/ 102 w 2250"/>
                <a:gd name="T19" fmla="*/ 1068 h 1409"/>
                <a:gd name="T20" fmla="*/ 0 w 2250"/>
                <a:gd name="T21" fmla="*/ 624 h 14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250" h="1409">
                  <a:moveTo>
                    <a:pt x="0" y="624"/>
                  </a:moveTo>
                  <a:cubicBezTo>
                    <a:pt x="5" y="506"/>
                    <a:pt x="131" y="419"/>
                    <a:pt x="219" y="321"/>
                  </a:cubicBezTo>
                  <a:cubicBezTo>
                    <a:pt x="307" y="223"/>
                    <a:pt x="307" y="70"/>
                    <a:pt x="529" y="35"/>
                  </a:cubicBezTo>
                  <a:cubicBezTo>
                    <a:pt x="751" y="0"/>
                    <a:pt x="1311" y="36"/>
                    <a:pt x="1551" y="111"/>
                  </a:cubicBezTo>
                  <a:cubicBezTo>
                    <a:pt x="1791" y="186"/>
                    <a:pt x="1860" y="351"/>
                    <a:pt x="1968" y="483"/>
                  </a:cubicBezTo>
                  <a:cubicBezTo>
                    <a:pt x="2076" y="615"/>
                    <a:pt x="2250" y="767"/>
                    <a:pt x="2199" y="906"/>
                  </a:cubicBezTo>
                  <a:cubicBezTo>
                    <a:pt x="2148" y="1045"/>
                    <a:pt x="1860" y="1234"/>
                    <a:pt x="1659" y="1314"/>
                  </a:cubicBezTo>
                  <a:cubicBezTo>
                    <a:pt x="1458" y="1394"/>
                    <a:pt x="1192" y="1379"/>
                    <a:pt x="993" y="1386"/>
                  </a:cubicBezTo>
                  <a:cubicBezTo>
                    <a:pt x="794" y="1393"/>
                    <a:pt x="613" y="1409"/>
                    <a:pt x="465" y="1356"/>
                  </a:cubicBezTo>
                  <a:cubicBezTo>
                    <a:pt x="317" y="1303"/>
                    <a:pt x="180" y="1190"/>
                    <a:pt x="102" y="1068"/>
                  </a:cubicBezTo>
                  <a:cubicBezTo>
                    <a:pt x="24" y="946"/>
                    <a:pt x="21" y="716"/>
                    <a:pt x="0" y="624"/>
                  </a:cubicBezTo>
                  <a:close/>
                </a:path>
              </a:pathLst>
            </a:custGeom>
            <a:solidFill>
              <a:srgbClr val="99CCFF"/>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56708" name="Freeform 4"/>
            <p:cNvSpPr>
              <a:spLocks/>
            </p:cNvSpPr>
            <p:nvPr/>
          </p:nvSpPr>
          <p:spPr bwMode="auto">
            <a:xfrm>
              <a:off x="3498" y="1620"/>
              <a:ext cx="342" cy="186"/>
            </a:xfrm>
            <a:custGeom>
              <a:avLst/>
              <a:gdLst>
                <a:gd name="T0" fmla="*/ 0 w 342"/>
                <a:gd name="T1" fmla="*/ 186 h 186"/>
                <a:gd name="T2" fmla="*/ 342 w 342"/>
                <a:gd name="T3" fmla="*/ 0 h 186"/>
              </a:gdLst>
              <a:ahLst/>
              <a:cxnLst>
                <a:cxn ang="0">
                  <a:pos x="T0" y="T1"/>
                </a:cxn>
                <a:cxn ang="0">
                  <a:pos x="T2" y="T3"/>
                </a:cxn>
              </a:cxnLst>
              <a:rect l="0" t="0" r="r" b="b"/>
              <a:pathLst>
                <a:path w="342" h="186">
                  <a:moveTo>
                    <a:pt x="0" y="186"/>
                  </a:moveTo>
                  <a:lnTo>
                    <a:pt x="342" y="0"/>
                  </a:lnTo>
                </a:path>
              </a:pathLst>
            </a:custGeom>
            <a:noFill/>
            <a:ln w="127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56709" name="Oval 5"/>
            <p:cNvSpPr>
              <a:spLocks noChangeArrowheads="1"/>
            </p:cNvSpPr>
            <p:nvPr/>
          </p:nvSpPr>
          <p:spPr bwMode="auto">
            <a:xfrm>
              <a:off x="3238" y="1862"/>
              <a:ext cx="313" cy="81"/>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56710" name="Line 6"/>
            <p:cNvSpPr>
              <a:spLocks noChangeShapeType="1"/>
            </p:cNvSpPr>
            <p:nvPr/>
          </p:nvSpPr>
          <p:spPr bwMode="auto">
            <a:xfrm>
              <a:off x="3238" y="1855"/>
              <a:ext cx="0" cy="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56711" name="Line 7"/>
            <p:cNvSpPr>
              <a:spLocks noChangeShapeType="1"/>
            </p:cNvSpPr>
            <p:nvPr/>
          </p:nvSpPr>
          <p:spPr bwMode="auto">
            <a:xfrm>
              <a:off x="3551" y="1855"/>
              <a:ext cx="0" cy="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56712" name="Rectangle 8"/>
            <p:cNvSpPr>
              <a:spLocks noChangeArrowheads="1"/>
            </p:cNvSpPr>
            <p:nvPr/>
          </p:nvSpPr>
          <p:spPr bwMode="auto">
            <a:xfrm>
              <a:off x="3238" y="1855"/>
              <a:ext cx="310" cy="49"/>
            </a:xfrm>
            <a:prstGeom prst="rect">
              <a:avLst/>
            </a:prstGeom>
            <a:solidFill>
              <a:schemeClr val="hlink"/>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de-DE" sz="2400">
                <a:latin typeface="Times New Roman" pitchFamily="18" charset="0"/>
              </a:endParaRPr>
            </a:p>
          </p:txBody>
        </p:sp>
        <p:sp>
          <p:nvSpPr>
            <p:cNvPr id="456713" name="Oval 9"/>
            <p:cNvSpPr>
              <a:spLocks noChangeArrowheads="1"/>
            </p:cNvSpPr>
            <p:nvPr/>
          </p:nvSpPr>
          <p:spPr bwMode="auto">
            <a:xfrm>
              <a:off x="3235" y="1796"/>
              <a:ext cx="313" cy="95"/>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56714" name="Oval 10"/>
            <p:cNvSpPr>
              <a:spLocks noChangeArrowheads="1"/>
            </p:cNvSpPr>
            <p:nvPr/>
          </p:nvSpPr>
          <p:spPr bwMode="auto">
            <a:xfrm>
              <a:off x="3712" y="2249"/>
              <a:ext cx="313" cy="81"/>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56715" name="Line 11"/>
            <p:cNvSpPr>
              <a:spLocks noChangeShapeType="1"/>
            </p:cNvSpPr>
            <p:nvPr/>
          </p:nvSpPr>
          <p:spPr bwMode="auto">
            <a:xfrm>
              <a:off x="3712" y="2242"/>
              <a:ext cx="0" cy="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56716" name="Line 12"/>
            <p:cNvSpPr>
              <a:spLocks noChangeShapeType="1"/>
            </p:cNvSpPr>
            <p:nvPr/>
          </p:nvSpPr>
          <p:spPr bwMode="auto">
            <a:xfrm>
              <a:off x="4025" y="2242"/>
              <a:ext cx="0" cy="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56717" name="Rectangle 13"/>
            <p:cNvSpPr>
              <a:spLocks noChangeArrowheads="1"/>
            </p:cNvSpPr>
            <p:nvPr/>
          </p:nvSpPr>
          <p:spPr bwMode="auto">
            <a:xfrm>
              <a:off x="3712" y="2242"/>
              <a:ext cx="310" cy="49"/>
            </a:xfrm>
            <a:prstGeom prst="rect">
              <a:avLst/>
            </a:prstGeom>
            <a:solidFill>
              <a:schemeClr val="hlink"/>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de-DE" sz="2400">
                <a:latin typeface="Times New Roman" pitchFamily="18" charset="0"/>
              </a:endParaRPr>
            </a:p>
          </p:txBody>
        </p:sp>
        <p:sp>
          <p:nvSpPr>
            <p:cNvPr id="456718" name="Oval 14"/>
            <p:cNvSpPr>
              <a:spLocks noChangeArrowheads="1"/>
            </p:cNvSpPr>
            <p:nvPr/>
          </p:nvSpPr>
          <p:spPr bwMode="auto">
            <a:xfrm>
              <a:off x="3709" y="2183"/>
              <a:ext cx="313" cy="95"/>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56719" name="Oval 15"/>
            <p:cNvSpPr>
              <a:spLocks noChangeArrowheads="1"/>
            </p:cNvSpPr>
            <p:nvPr/>
          </p:nvSpPr>
          <p:spPr bwMode="auto">
            <a:xfrm>
              <a:off x="3708" y="1559"/>
              <a:ext cx="313" cy="81"/>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56720" name="Line 16"/>
            <p:cNvSpPr>
              <a:spLocks noChangeShapeType="1"/>
            </p:cNvSpPr>
            <p:nvPr/>
          </p:nvSpPr>
          <p:spPr bwMode="auto">
            <a:xfrm>
              <a:off x="3708" y="1552"/>
              <a:ext cx="0" cy="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56721" name="Line 17"/>
            <p:cNvSpPr>
              <a:spLocks noChangeShapeType="1"/>
            </p:cNvSpPr>
            <p:nvPr/>
          </p:nvSpPr>
          <p:spPr bwMode="auto">
            <a:xfrm>
              <a:off x="4021" y="1552"/>
              <a:ext cx="0" cy="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56722" name="Rectangle 18"/>
            <p:cNvSpPr>
              <a:spLocks noChangeArrowheads="1"/>
            </p:cNvSpPr>
            <p:nvPr/>
          </p:nvSpPr>
          <p:spPr bwMode="auto">
            <a:xfrm>
              <a:off x="3708" y="1552"/>
              <a:ext cx="310" cy="49"/>
            </a:xfrm>
            <a:prstGeom prst="rect">
              <a:avLst/>
            </a:prstGeom>
            <a:solidFill>
              <a:schemeClr val="hlink"/>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de-DE" sz="2400">
                <a:latin typeface="Times New Roman" pitchFamily="18" charset="0"/>
              </a:endParaRPr>
            </a:p>
          </p:txBody>
        </p:sp>
        <p:sp>
          <p:nvSpPr>
            <p:cNvPr id="456723" name="Oval 19"/>
            <p:cNvSpPr>
              <a:spLocks noChangeArrowheads="1"/>
            </p:cNvSpPr>
            <p:nvPr/>
          </p:nvSpPr>
          <p:spPr bwMode="auto">
            <a:xfrm>
              <a:off x="3705" y="1493"/>
              <a:ext cx="313" cy="95"/>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56724" name="Oval 20"/>
            <p:cNvSpPr>
              <a:spLocks noChangeArrowheads="1"/>
            </p:cNvSpPr>
            <p:nvPr/>
          </p:nvSpPr>
          <p:spPr bwMode="auto">
            <a:xfrm>
              <a:off x="4391" y="1555"/>
              <a:ext cx="312" cy="81"/>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56725" name="Line 21"/>
            <p:cNvSpPr>
              <a:spLocks noChangeShapeType="1"/>
            </p:cNvSpPr>
            <p:nvPr/>
          </p:nvSpPr>
          <p:spPr bwMode="auto">
            <a:xfrm>
              <a:off x="4391" y="1548"/>
              <a:ext cx="0" cy="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56726" name="Line 22"/>
            <p:cNvSpPr>
              <a:spLocks noChangeShapeType="1"/>
            </p:cNvSpPr>
            <p:nvPr/>
          </p:nvSpPr>
          <p:spPr bwMode="auto">
            <a:xfrm>
              <a:off x="4703" y="1548"/>
              <a:ext cx="0" cy="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56727" name="Rectangle 23"/>
            <p:cNvSpPr>
              <a:spLocks noChangeArrowheads="1"/>
            </p:cNvSpPr>
            <p:nvPr/>
          </p:nvSpPr>
          <p:spPr bwMode="auto">
            <a:xfrm>
              <a:off x="4391" y="1548"/>
              <a:ext cx="309" cy="49"/>
            </a:xfrm>
            <a:prstGeom prst="rect">
              <a:avLst/>
            </a:prstGeom>
            <a:solidFill>
              <a:schemeClr val="hlink"/>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de-DE" sz="2400">
                <a:latin typeface="Times New Roman" pitchFamily="18" charset="0"/>
              </a:endParaRPr>
            </a:p>
          </p:txBody>
        </p:sp>
        <p:sp>
          <p:nvSpPr>
            <p:cNvPr id="456728" name="Oval 24"/>
            <p:cNvSpPr>
              <a:spLocks noChangeArrowheads="1"/>
            </p:cNvSpPr>
            <p:nvPr/>
          </p:nvSpPr>
          <p:spPr bwMode="auto">
            <a:xfrm>
              <a:off x="4394" y="1492"/>
              <a:ext cx="312" cy="95"/>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56729" name="Oval 25"/>
            <p:cNvSpPr>
              <a:spLocks noChangeArrowheads="1"/>
            </p:cNvSpPr>
            <p:nvPr/>
          </p:nvSpPr>
          <p:spPr bwMode="auto">
            <a:xfrm>
              <a:off x="4401" y="2246"/>
              <a:ext cx="313" cy="81"/>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56730" name="Line 26"/>
            <p:cNvSpPr>
              <a:spLocks noChangeShapeType="1"/>
            </p:cNvSpPr>
            <p:nvPr/>
          </p:nvSpPr>
          <p:spPr bwMode="auto">
            <a:xfrm>
              <a:off x="4401" y="2239"/>
              <a:ext cx="0" cy="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56731" name="Line 27"/>
            <p:cNvSpPr>
              <a:spLocks noChangeShapeType="1"/>
            </p:cNvSpPr>
            <p:nvPr/>
          </p:nvSpPr>
          <p:spPr bwMode="auto">
            <a:xfrm>
              <a:off x="4714" y="2239"/>
              <a:ext cx="0" cy="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56732" name="Rectangle 28"/>
            <p:cNvSpPr>
              <a:spLocks noChangeArrowheads="1"/>
            </p:cNvSpPr>
            <p:nvPr/>
          </p:nvSpPr>
          <p:spPr bwMode="auto">
            <a:xfrm>
              <a:off x="4401" y="2239"/>
              <a:ext cx="310" cy="49"/>
            </a:xfrm>
            <a:prstGeom prst="rect">
              <a:avLst/>
            </a:prstGeom>
            <a:solidFill>
              <a:schemeClr val="hlink"/>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de-DE" sz="2400">
                <a:latin typeface="Times New Roman" pitchFamily="18" charset="0"/>
              </a:endParaRPr>
            </a:p>
          </p:txBody>
        </p:sp>
        <p:sp>
          <p:nvSpPr>
            <p:cNvPr id="456733" name="Oval 29"/>
            <p:cNvSpPr>
              <a:spLocks noChangeArrowheads="1"/>
            </p:cNvSpPr>
            <p:nvPr/>
          </p:nvSpPr>
          <p:spPr bwMode="auto">
            <a:xfrm>
              <a:off x="4398" y="2180"/>
              <a:ext cx="313" cy="95"/>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56734" name="Oval 30"/>
            <p:cNvSpPr>
              <a:spLocks noChangeArrowheads="1"/>
            </p:cNvSpPr>
            <p:nvPr/>
          </p:nvSpPr>
          <p:spPr bwMode="auto">
            <a:xfrm>
              <a:off x="4966" y="1905"/>
              <a:ext cx="313" cy="81"/>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56735" name="Line 31"/>
            <p:cNvSpPr>
              <a:spLocks noChangeShapeType="1"/>
            </p:cNvSpPr>
            <p:nvPr/>
          </p:nvSpPr>
          <p:spPr bwMode="auto">
            <a:xfrm>
              <a:off x="4966" y="1898"/>
              <a:ext cx="0" cy="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56736" name="Line 32"/>
            <p:cNvSpPr>
              <a:spLocks noChangeShapeType="1"/>
            </p:cNvSpPr>
            <p:nvPr/>
          </p:nvSpPr>
          <p:spPr bwMode="auto">
            <a:xfrm>
              <a:off x="5279" y="1898"/>
              <a:ext cx="0" cy="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56737" name="Rectangle 33"/>
            <p:cNvSpPr>
              <a:spLocks noChangeArrowheads="1"/>
            </p:cNvSpPr>
            <p:nvPr/>
          </p:nvSpPr>
          <p:spPr bwMode="auto">
            <a:xfrm>
              <a:off x="4966" y="1898"/>
              <a:ext cx="310" cy="49"/>
            </a:xfrm>
            <a:prstGeom prst="rect">
              <a:avLst/>
            </a:prstGeom>
            <a:solidFill>
              <a:schemeClr val="hlink"/>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de-DE" sz="2400">
                <a:latin typeface="Times New Roman" pitchFamily="18" charset="0"/>
              </a:endParaRPr>
            </a:p>
          </p:txBody>
        </p:sp>
        <p:sp>
          <p:nvSpPr>
            <p:cNvPr id="456738" name="Oval 34"/>
            <p:cNvSpPr>
              <a:spLocks noChangeArrowheads="1"/>
            </p:cNvSpPr>
            <p:nvPr/>
          </p:nvSpPr>
          <p:spPr bwMode="auto">
            <a:xfrm>
              <a:off x="4963" y="1839"/>
              <a:ext cx="313" cy="95"/>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56739" name="Freeform 35"/>
            <p:cNvSpPr>
              <a:spLocks/>
            </p:cNvSpPr>
            <p:nvPr/>
          </p:nvSpPr>
          <p:spPr bwMode="auto">
            <a:xfrm>
              <a:off x="4557" y="1647"/>
              <a:ext cx="1" cy="522"/>
            </a:xfrm>
            <a:custGeom>
              <a:avLst/>
              <a:gdLst>
                <a:gd name="T0" fmla="*/ 0 w 1"/>
                <a:gd name="T1" fmla="*/ 0 h 522"/>
                <a:gd name="T2" fmla="*/ 0 w 1"/>
                <a:gd name="T3" fmla="*/ 522 h 522"/>
              </a:gdLst>
              <a:ahLst/>
              <a:cxnLst>
                <a:cxn ang="0">
                  <a:pos x="T0" y="T1"/>
                </a:cxn>
                <a:cxn ang="0">
                  <a:pos x="T2" y="T3"/>
                </a:cxn>
              </a:cxnLst>
              <a:rect l="0" t="0" r="r" b="b"/>
              <a:pathLst>
                <a:path w="1" h="522">
                  <a:moveTo>
                    <a:pt x="0" y="0"/>
                  </a:moveTo>
                  <a:lnTo>
                    <a:pt x="0" y="522"/>
                  </a:lnTo>
                </a:path>
              </a:pathLst>
            </a:custGeom>
            <a:noFill/>
            <a:ln w="127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56740" name="Freeform 36"/>
            <p:cNvSpPr>
              <a:spLocks/>
            </p:cNvSpPr>
            <p:nvPr/>
          </p:nvSpPr>
          <p:spPr bwMode="auto">
            <a:xfrm>
              <a:off x="3864" y="1653"/>
              <a:ext cx="1" cy="537"/>
            </a:xfrm>
            <a:custGeom>
              <a:avLst/>
              <a:gdLst>
                <a:gd name="T0" fmla="*/ 0 w 1"/>
                <a:gd name="T1" fmla="*/ 0 h 537"/>
                <a:gd name="T2" fmla="*/ 0 w 1"/>
                <a:gd name="T3" fmla="*/ 537 h 537"/>
              </a:gdLst>
              <a:ahLst/>
              <a:cxnLst>
                <a:cxn ang="0">
                  <a:pos x="T0" y="T1"/>
                </a:cxn>
                <a:cxn ang="0">
                  <a:pos x="T2" y="T3"/>
                </a:cxn>
              </a:cxnLst>
              <a:rect l="0" t="0" r="r" b="b"/>
              <a:pathLst>
                <a:path w="1" h="537">
                  <a:moveTo>
                    <a:pt x="0" y="0"/>
                  </a:moveTo>
                  <a:lnTo>
                    <a:pt x="0" y="537"/>
                  </a:lnTo>
                </a:path>
              </a:pathLst>
            </a:custGeom>
            <a:noFill/>
            <a:ln w="127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56741" name="Freeform 37"/>
            <p:cNvSpPr>
              <a:spLocks/>
            </p:cNvSpPr>
            <p:nvPr/>
          </p:nvSpPr>
          <p:spPr bwMode="auto">
            <a:xfrm>
              <a:off x="4029" y="1638"/>
              <a:ext cx="504" cy="600"/>
            </a:xfrm>
            <a:custGeom>
              <a:avLst/>
              <a:gdLst>
                <a:gd name="T0" fmla="*/ 0 w 378"/>
                <a:gd name="T1" fmla="*/ 174 h 174"/>
                <a:gd name="T2" fmla="*/ 378 w 378"/>
                <a:gd name="T3" fmla="*/ 0 h 174"/>
              </a:gdLst>
              <a:ahLst/>
              <a:cxnLst>
                <a:cxn ang="0">
                  <a:pos x="T0" y="T1"/>
                </a:cxn>
                <a:cxn ang="0">
                  <a:pos x="T2" y="T3"/>
                </a:cxn>
              </a:cxnLst>
              <a:rect l="0" t="0" r="r" b="b"/>
              <a:pathLst>
                <a:path w="378" h="174">
                  <a:moveTo>
                    <a:pt x="0" y="174"/>
                  </a:moveTo>
                  <a:lnTo>
                    <a:pt x="378" y="0"/>
                  </a:lnTo>
                </a:path>
              </a:pathLst>
            </a:custGeom>
            <a:noFill/>
            <a:ln w="127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56742" name="Freeform 38"/>
            <p:cNvSpPr>
              <a:spLocks/>
            </p:cNvSpPr>
            <p:nvPr/>
          </p:nvSpPr>
          <p:spPr bwMode="auto">
            <a:xfrm>
              <a:off x="4716" y="1986"/>
              <a:ext cx="366" cy="270"/>
            </a:xfrm>
            <a:custGeom>
              <a:avLst/>
              <a:gdLst>
                <a:gd name="T0" fmla="*/ 0 w 366"/>
                <a:gd name="T1" fmla="*/ 270 h 270"/>
                <a:gd name="T2" fmla="*/ 366 w 366"/>
                <a:gd name="T3" fmla="*/ 0 h 270"/>
              </a:gdLst>
              <a:ahLst/>
              <a:cxnLst>
                <a:cxn ang="0">
                  <a:pos x="T0" y="T1"/>
                </a:cxn>
                <a:cxn ang="0">
                  <a:pos x="T2" y="T3"/>
                </a:cxn>
              </a:cxnLst>
              <a:rect l="0" t="0" r="r" b="b"/>
              <a:pathLst>
                <a:path w="366" h="270">
                  <a:moveTo>
                    <a:pt x="0" y="270"/>
                  </a:moveTo>
                  <a:lnTo>
                    <a:pt x="366" y="0"/>
                  </a:lnTo>
                </a:path>
              </a:pathLst>
            </a:custGeom>
            <a:noFill/>
            <a:ln w="127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56743" name="Freeform 39"/>
            <p:cNvSpPr>
              <a:spLocks/>
            </p:cNvSpPr>
            <p:nvPr/>
          </p:nvSpPr>
          <p:spPr bwMode="auto">
            <a:xfrm>
              <a:off x="4035" y="2268"/>
              <a:ext cx="366" cy="1"/>
            </a:xfrm>
            <a:custGeom>
              <a:avLst/>
              <a:gdLst>
                <a:gd name="T0" fmla="*/ 366 w 366"/>
                <a:gd name="T1" fmla="*/ 0 h 1"/>
                <a:gd name="T2" fmla="*/ 0 w 366"/>
                <a:gd name="T3" fmla="*/ 0 h 1"/>
              </a:gdLst>
              <a:ahLst/>
              <a:cxnLst>
                <a:cxn ang="0">
                  <a:pos x="T0" y="T1"/>
                </a:cxn>
                <a:cxn ang="0">
                  <a:pos x="T2" y="T3"/>
                </a:cxn>
              </a:cxnLst>
              <a:rect l="0" t="0" r="r" b="b"/>
              <a:pathLst>
                <a:path w="366" h="1">
                  <a:moveTo>
                    <a:pt x="366" y="0"/>
                  </a:moveTo>
                  <a:lnTo>
                    <a:pt x="0" y="0"/>
                  </a:lnTo>
                </a:path>
              </a:pathLst>
            </a:custGeom>
            <a:noFill/>
            <a:ln w="127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56744" name="Freeform 40"/>
            <p:cNvSpPr>
              <a:spLocks/>
            </p:cNvSpPr>
            <p:nvPr/>
          </p:nvSpPr>
          <p:spPr bwMode="auto">
            <a:xfrm>
              <a:off x="3444" y="1944"/>
              <a:ext cx="276" cy="264"/>
            </a:xfrm>
            <a:custGeom>
              <a:avLst/>
              <a:gdLst>
                <a:gd name="T0" fmla="*/ 276 w 276"/>
                <a:gd name="T1" fmla="*/ 264 h 264"/>
                <a:gd name="T2" fmla="*/ 0 w 276"/>
                <a:gd name="T3" fmla="*/ 0 h 264"/>
              </a:gdLst>
              <a:ahLst/>
              <a:cxnLst>
                <a:cxn ang="0">
                  <a:pos x="T0" y="T1"/>
                </a:cxn>
                <a:cxn ang="0">
                  <a:pos x="T2" y="T3"/>
                </a:cxn>
              </a:cxnLst>
              <a:rect l="0" t="0" r="r" b="b"/>
              <a:pathLst>
                <a:path w="276" h="264">
                  <a:moveTo>
                    <a:pt x="276" y="264"/>
                  </a:moveTo>
                  <a:lnTo>
                    <a:pt x="0" y="0"/>
                  </a:lnTo>
                </a:path>
              </a:pathLst>
            </a:custGeom>
            <a:noFill/>
            <a:ln w="127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56745" name="Freeform 41"/>
            <p:cNvSpPr>
              <a:spLocks/>
            </p:cNvSpPr>
            <p:nvPr/>
          </p:nvSpPr>
          <p:spPr bwMode="auto">
            <a:xfrm>
              <a:off x="4029" y="1578"/>
              <a:ext cx="366" cy="1"/>
            </a:xfrm>
            <a:custGeom>
              <a:avLst/>
              <a:gdLst>
                <a:gd name="T0" fmla="*/ 366 w 366"/>
                <a:gd name="T1" fmla="*/ 0 h 1"/>
                <a:gd name="T2" fmla="*/ 0 w 366"/>
                <a:gd name="T3" fmla="*/ 0 h 1"/>
              </a:gdLst>
              <a:ahLst/>
              <a:cxnLst>
                <a:cxn ang="0">
                  <a:pos x="T0" y="T1"/>
                </a:cxn>
                <a:cxn ang="0">
                  <a:pos x="T2" y="T3"/>
                </a:cxn>
              </a:cxnLst>
              <a:rect l="0" t="0" r="r" b="b"/>
              <a:pathLst>
                <a:path w="366" h="1">
                  <a:moveTo>
                    <a:pt x="366" y="0"/>
                  </a:moveTo>
                  <a:lnTo>
                    <a:pt x="0" y="0"/>
                  </a:lnTo>
                </a:path>
              </a:pathLst>
            </a:custGeom>
            <a:noFill/>
            <a:ln w="127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56746" name="Freeform 42"/>
            <p:cNvSpPr>
              <a:spLocks/>
            </p:cNvSpPr>
            <p:nvPr/>
          </p:nvSpPr>
          <p:spPr bwMode="auto">
            <a:xfrm>
              <a:off x="4704" y="1575"/>
              <a:ext cx="396" cy="267"/>
            </a:xfrm>
            <a:custGeom>
              <a:avLst/>
              <a:gdLst>
                <a:gd name="T0" fmla="*/ 396 w 396"/>
                <a:gd name="T1" fmla="*/ 267 h 267"/>
                <a:gd name="T2" fmla="*/ 0 w 396"/>
                <a:gd name="T3" fmla="*/ 0 h 267"/>
              </a:gdLst>
              <a:ahLst/>
              <a:cxnLst>
                <a:cxn ang="0">
                  <a:pos x="T0" y="T1"/>
                </a:cxn>
                <a:cxn ang="0">
                  <a:pos x="T2" y="T3"/>
                </a:cxn>
              </a:cxnLst>
              <a:rect l="0" t="0" r="r" b="b"/>
              <a:pathLst>
                <a:path w="396" h="267">
                  <a:moveTo>
                    <a:pt x="396" y="267"/>
                  </a:moveTo>
                  <a:lnTo>
                    <a:pt x="0" y="0"/>
                  </a:lnTo>
                </a:path>
              </a:pathLst>
            </a:custGeom>
            <a:noFill/>
            <a:ln w="127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56747" name="Freeform 43"/>
            <p:cNvSpPr>
              <a:spLocks/>
            </p:cNvSpPr>
            <p:nvPr/>
          </p:nvSpPr>
          <p:spPr bwMode="auto">
            <a:xfrm>
              <a:off x="3387" y="1146"/>
              <a:ext cx="1110" cy="645"/>
            </a:xfrm>
            <a:custGeom>
              <a:avLst/>
              <a:gdLst>
                <a:gd name="T0" fmla="*/ 1110 w 1110"/>
                <a:gd name="T1" fmla="*/ 342 h 645"/>
                <a:gd name="T2" fmla="*/ 0 w 1110"/>
                <a:gd name="T3" fmla="*/ 645 h 645"/>
              </a:gdLst>
              <a:ahLst/>
              <a:cxnLst>
                <a:cxn ang="0">
                  <a:pos x="T0" y="T1"/>
                </a:cxn>
                <a:cxn ang="0">
                  <a:pos x="T2" y="T3"/>
                </a:cxn>
              </a:cxnLst>
              <a:rect l="0" t="0" r="r" b="b"/>
              <a:pathLst>
                <a:path w="1110" h="645">
                  <a:moveTo>
                    <a:pt x="1110" y="342"/>
                  </a:moveTo>
                  <a:cubicBezTo>
                    <a:pt x="1104" y="0"/>
                    <a:pt x="21" y="63"/>
                    <a:pt x="0" y="645"/>
                  </a:cubicBezTo>
                </a:path>
              </a:pathLst>
            </a:custGeom>
            <a:noFill/>
            <a:ln w="127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grpSp>
          <p:nvGrpSpPr>
            <p:cNvPr id="456748" name="Group 44"/>
            <p:cNvGrpSpPr>
              <a:grpSpLocks/>
            </p:cNvGrpSpPr>
            <p:nvPr/>
          </p:nvGrpSpPr>
          <p:grpSpPr bwMode="auto">
            <a:xfrm>
              <a:off x="3290" y="1748"/>
              <a:ext cx="199" cy="250"/>
              <a:chOff x="2957" y="2429"/>
              <a:chExt cx="202" cy="250"/>
            </a:xfrm>
          </p:grpSpPr>
          <p:sp>
            <p:nvSpPr>
              <p:cNvPr id="456749" name="Rectangle 45"/>
              <p:cNvSpPr>
                <a:spLocks noChangeArrowheads="1"/>
              </p:cNvSpPr>
              <p:nvPr/>
            </p:nvSpPr>
            <p:spPr bwMode="auto">
              <a:xfrm>
                <a:off x="2982" y="2490"/>
                <a:ext cx="144" cy="132"/>
              </a:xfrm>
              <a:prstGeom prst="rect">
                <a:avLst/>
              </a:prstGeom>
              <a:solidFill>
                <a:schemeClr va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56750" name="Text Box 46"/>
              <p:cNvSpPr txBox="1">
                <a:spLocks noChangeArrowheads="1"/>
              </p:cNvSpPr>
              <p:nvPr/>
            </p:nvSpPr>
            <p:spPr bwMode="auto">
              <a:xfrm>
                <a:off x="2957" y="2429"/>
                <a:ext cx="202"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2000"/>
                  <a:t>u</a:t>
                </a:r>
                <a:endParaRPr lang="en-US" sz="2400">
                  <a:latin typeface="Times New Roman" pitchFamily="18" charset="0"/>
                </a:endParaRPr>
              </a:p>
            </p:txBody>
          </p:sp>
        </p:grpSp>
        <p:grpSp>
          <p:nvGrpSpPr>
            <p:cNvPr id="456751" name="Group 47"/>
            <p:cNvGrpSpPr>
              <a:grpSpLocks/>
            </p:cNvGrpSpPr>
            <p:nvPr/>
          </p:nvGrpSpPr>
          <p:grpSpPr bwMode="auto">
            <a:xfrm>
              <a:off x="4460" y="2132"/>
              <a:ext cx="199" cy="250"/>
              <a:chOff x="2957" y="2429"/>
              <a:chExt cx="202" cy="250"/>
            </a:xfrm>
          </p:grpSpPr>
          <p:sp>
            <p:nvSpPr>
              <p:cNvPr id="456752" name="Rectangle 48"/>
              <p:cNvSpPr>
                <a:spLocks noChangeArrowheads="1"/>
              </p:cNvSpPr>
              <p:nvPr/>
            </p:nvSpPr>
            <p:spPr bwMode="auto">
              <a:xfrm>
                <a:off x="2982" y="2490"/>
                <a:ext cx="144" cy="132"/>
              </a:xfrm>
              <a:prstGeom prst="rect">
                <a:avLst/>
              </a:prstGeom>
              <a:solidFill>
                <a:schemeClr va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56753" name="Text Box 49"/>
              <p:cNvSpPr txBox="1">
                <a:spLocks noChangeArrowheads="1"/>
              </p:cNvSpPr>
              <p:nvPr/>
            </p:nvSpPr>
            <p:spPr bwMode="auto">
              <a:xfrm>
                <a:off x="2957" y="2429"/>
                <a:ext cx="202"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2000"/>
                  <a:t>y</a:t>
                </a:r>
                <a:endParaRPr lang="en-US" sz="2400">
                  <a:latin typeface="Times New Roman" pitchFamily="18" charset="0"/>
                </a:endParaRPr>
              </a:p>
            </p:txBody>
          </p:sp>
        </p:grpSp>
        <p:grpSp>
          <p:nvGrpSpPr>
            <p:cNvPr id="456754" name="Group 50"/>
            <p:cNvGrpSpPr>
              <a:grpSpLocks/>
            </p:cNvGrpSpPr>
            <p:nvPr/>
          </p:nvGrpSpPr>
          <p:grpSpPr bwMode="auto">
            <a:xfrm>
              <a:off x="3764" y="2099"/>
              <a:ext cx="229" cy="288"/>
              <a:chOff x="2943" y="2399"/>
              <a:chExt cx="230" cy="288"/>
            </a:xfrm>
          </p:grpSpPr>
          <p:sp>
            <p:nvSpPr>
              <p:cNvPr id="456755" name="Rectangle 51"/>
              <p:cNvSpPr>
                <a:spLocks noChangeArrowheads="1"/>
              </p:cNvSpPr>
              <p:nvPr/>
            </p:nvSpPr>
            <p:spPr bwMode="auto">
              <a:xfrm>
                <a:off x="2982" y="2490"/>
                <a:ext cx="144" cy="132"/>
              </a:xfrm>
              <a:prstGeom prst="rect">
                <a:avLst/>
              </a:prstGeom>
              <a:solidFill>
                <a:schemeClr va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56756" name="Text Box 52"/>
              <p:cNvSpPr txBox="1">
                <a:spLocks noChangeArrowheads="1"/>
              </p:cNvSpPr>
              <p:nvPr/>
            </p:nvSpPr>
            <p:spPr bwMode="auto">
              <a:xfrm>
                <a:off x="2943" y="2399"/>
                <a:ext cx="230"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2400"/>
                  <a:t>x</a:t>
                </a:r>
              </a:p>
            </p:txBody>
          </p:sp>
        </p:grpSp>
        <p:grpSp>
          <p:nvGrpSpPr>
            <p:cNvPr id="456757" name="Group 53"/>
            <p:cNvGrpSpPr>
              <a:grpSpLocks/>
            </p:cNvGrpSpPr>
            <p:nvPr/>
          </p:nvGrpSpPr>
          <p:grpSpPr bwMode="auto">
            <a:xfrm>
              <a:off x="4441" y="1442"/>
              <a:ext cx="225" cy="250"/>
              <a:chOff x="2944" y="2429"/>
              <a:chExt cx="228" cy="250"/>
            </a:xfrm>
          </p:grpSpPr>
          <p:sp>
            <p:nvSpPr>
              <p:cNvPr id="456758" name="Rectangle 54"/>
              <p:cNvSpPr>
                <a:spLocks noChangeArrowheads="1"/>
              </p:cNvSpPr>
              <p:nvPr/>
            </p:nvSpPr>
            <p:spPr bwMode="auto">
              <a:xfrm>
                <a:off x="2982" y="2490"/>
                <a:ext cx="144" cy="132"/>
              </a:xfrm>
              <a:prstGeom prst="rect">
                <a:avLst/>
              </a:prstGeom>
              <a:solidFill>
                <a:schemeClr va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56759" name="Text Box 55"/>
              <p:cNvSpPr txBox="1">
                <a:spLocks noChangeArrowheads="1"/>
              </p:cNvSpPr>
              <p:nvPr/>
            </p:nvSpPr>
            <p:spPr bwMode="auto">
              <a:xfrm>
                <a:off x="2944" y="2429"/>
                <a:ext cx="228"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2000"/>
                  <a:t>w</a:t>
                </a:r>
                <a:endParaRPr lang="en-US" sz="2400">
                  <a:latin typeface="Times New Roman" pitchFamily="18" charset="0"/>
                </a:endParaRPr>
              </a:p>
            </p:txBody>
          </p:sp>
        </p:grpSp>
        <p:grpSp>
          <p:nvGrpSpPr>
            <p:cNvPr id="456760" name="Group 56"/>
            <p:cNvGrpSpPr>
              <a:grpSpLocks/>
            </p:cNvGrpSpPr>
            <p:nvPr/>
          </p:nvGrpSpPr>
          <p:grpSpPr bwMode="auto">
            <a:xfrm>
              <a:off x="3772" y="1442"/>
              <a:ext cx="194" cy="250"/>
              <a:chOff x="2959" y="2429"/>
              <a:chExt cx="197" cy="250"/>
            </a:xfrm>
          </p:grpSpPr>
          <p:sp>
            <p:nvSpPr>
              <p:cNvPr id="456761" name="Rectangle 57"/>
              <p:cNvSpPr>
                <a:spLocks noChangeArrowheads="1"/>
              </p:cNvSpPr>
              <p:nvPr/>
            </p:nvSpPr>
            <p:spPr bwMode="auto">
              <a:xfrm>
                <a:off x="2982" y="2490"/>
                <a:ext cx="144" cy="132"/>
              </a:xfrm>
              <a:prstGeom prst="rect">
                <a:avLst/>
              </a:prstGeom>
              <a:solidFill>
                <a:schemeClr va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56762" name="Text Box 58"/>
              <p:cNvSpPr txBox="1">
                <a:spLocks noChangeArrowheads="1"/>
              </p:cNvSpPr>
              <p:nvPr/>
            </p:nvSpPr>
            <p:spPr bwMode="auto">
              <a:xfrm>
                <a:off x="2959" y="2429"/>
                <a:ext cx="197"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2000"/>
                  <a:t>v</a:t>
                </a:r>
                <a:endParaRPr lang="en-US" sz="2400">
                  <a:latin typeface="Times New Roman" pitchFamily="18" charset="0"/>
                </a:endParaRPr>
              </a:p>
            </p:txBody>
          </p:sp>
        </p:grpSp>
        <p:grpSp>
          <p:nvGrpSpPr>
            <p:cNvPr id="456763" name="Group 59"/>
            <p:cNvGrpSpPr>
              <a:grpSpLocks/>
            </p:cNvGrpSpPr>
            <p:nvPr/>
          </p:nvGrpSpPr>
          <p:grpSpPr bwMode="auto">
            <a:xfrm>
              <a:off x="5022" y="1760"/>
              <a:ext cx="219" cy="288"/>
              <a:chOff x="2946" y="2399"/>
              <a:chExt cx="221" cy="288"/>
            </a:xfrm>
          </p:grpSpPr>
          <p:sp>
            <p:nvSpPr>
              <p:cNvPr id="456764" name="Rectangle 60"/>
              <p:cNvSpPr>
                <a:spLocks noChangeArrowheads="1"/>
              </p:cNvSpPr>
              <p:nvPr/>
            </p:nvSpPr>
            <p:spPr bwMode="auto">
              <a:xfrm>
                <a:off x="2982" y="2490"/>
                <a:ext cx="144" cy="132"/>
              </a:xfrm>
              <a:prstGeom prst="rect">
                <a:avLst/>
              </a:prstGeom>
              <a:solidFill>
                <a:schemeClr va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56765" name="Text Box 61"/>
              <p:cNvSpPr txBox="1">
                <a:spLocks noChangeArrowheads="1"/>
              </p:cNvSpPr>
              <p:nvPr/>
            </p:nvSpPr>
            <p:spPr bwMode="auto">
              <a:xfrm>
                <a:off x="2946" y="2399"/>
                <a:ext cx="221"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2400"/>
                  <a:t>z</a:t>
                </a:r>
              </a:p>
            </p:txBody>
          </p:sp>
        </p:grpSp>
        <p:sp>
          <p:nvSpPr>
            <p:cNvPr id="456766" name="Text Box 62"/>
            <p:cNvSpPr txBox="1">
              <a:spLocks noChangeArrowheads="1"/>
            </p:cNvSpPr>
            <p:nvPr/>
          </p:nvSpPr>
          <p:spPr bwMode="auto">
            <a:xfrm>
              <a:off x="3489" y="1571"/>
              <a:ext cx="204"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t>2</a:t>
              </a:r>
              <a:endParaRPr lang="en-US" sz="2400">
                <a:latin typeface="Times New Roman" pitchFamily="18" charset="0"/>
              </a:endParaRPr>
            </a:p>
          </p:txBody>
        </p:sp>
        <p:sp>
          <p:nvSpPr>
            <p:cNvPr id="456767" name="Text Box 63"/>
            <p:cNvSpPr txBox="1">
              <a:spLocks noChangeArrowheads="1"/>
            </p:cNvSpPr>
            <p:nvPr/>
          </p:nvSpPr>
          <p:spPr bwMode="auto">
            <a:xfrm>
              <a:off x="3837" y="1790"/>
              <a:ext cx="204"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t>2</a:t>
              </a:r>
              <a:endParaRPr lang="en-US" sz="2400">
                <a:latin typeface="Times New Roman" pitchFamily="18" charset="0"/>
              </a:endParaRPr>
            </a:p>
          </p:txBody>
        </p:sp>
        <p:sp>
          <p:nvSpPr>
            <p:cNvPr id="456768" name="Text Box 64"/>
            <p:cNvSpPr txBox="1">
              <a:spLocks noChangeArrowheads="1"/>
            </p:cNvSpPr>
            <p:nvPr/>
          </p:nvSpPr>
          <p:spPr bwMode="auto">
            <a:xfrm>
              <a:off x="3413" y="2003"/>
              <a:ext cx="181"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t>1</a:t>
              </a:r>
              <a:endParaRPr lang="en-US" sz="2400">
                <a:latin typeface="Times New Roman" pitchFamily="18" charset="0"/>
              </a:endParaRPr>
            </a:p>
          </p:txBody>
        </p:sp>
        <p:sp>
          <p:nvSpPr>
            <p:cNvPr id="456769" name="Text Box 65"/>
            <p:cNvSpPr txBox="1">
              <a:spLocks noChangeArrowheads="1"/>
            </p:cNvSpPr>
            <p:nvPr/>
          </p:nvSpPr>
          <p:spPr bwMode="auto">
            <a:xfrm>
              <a:off x="4221" y="1883"/>
              <a:ext cx="204"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t>3</a:t>
              </a:r>
              <a:endParaRPr lang="en-US" sz="2400">
                <a:latin typeface="Times New Roman" pitchFamily="18" charset="0"/>
              </a:endParaRPr>
            </a:p>
          </p:txBody>
        </p:sp>
        <p:sp>
          <p:nvSpPr>
            <p:cNvPr id="456770" name="Text Box 66"/>
            <p:cNvSpPr txBox="1">
              <a:spLocks noChangeArrowheads="1"/>
            </p:cNvSpPr>
            <p:nvPr/>
          </p:nvSpPr>
          <p:spPr bwMode="auto">
            <a:xfrm>
              <a:off x="4169" y="2237"/>
              <a:ext cx="181"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t>1</a:t>
              </a:r>
              <a:endParaRPr lang="en-US" sz="2400">
                <a:latin typeface="Times New Roman" pitchFamily="18" charset="0"/>
              </a:endParaRPr>
            </a:p>
          </p:txBody>
        </p:sp>
        <p:sp>
          <p:nvSpPr>
            <p:cNvPr id="456771" name="Text Box 67"/>
            <p:cNvSpPr txBox="1">
              <a:spLocks noChangeArrowheads="1"/>
            </p:cNvSpPr>
            <p:nvPr/>
          </p:nvSpPr>
          <p:spPr bwMode="auto">
            <a:xfrm>
              <a:off x="4529" y="1808"/>
              <a:ext cx="181"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t>1</a:t>
              </a:r>
              <a:endParaRPr lang="en-US" sz="2400">
                <a:latin typeface="Times New Roman" pitchFamily="18" charset="0"/>
              </a:endParaRPr>
            </a:p>
          </p:txBody>
        </p:sp>
        <p:sp>
          <p:nvSpPr>
            <p:cNvPr id="456772" name="Text Box 68"/>
            <p:cNvSpPr txBox="1">
              <a:spLocks noChangeArrowheads="1"/>
            </p:cNvSpPr>
            <p:nvPr/>
          </p:nvSpPr>
          <p:spPr bwMode="auto">
            <a:xfrm>
              <a:off x="4878" y="2072"/>
              <a:ext cx="204"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t>2</a:t>
              </a:r>
              <a:endParaRPr lang="en-US" sz="2400">
                <a:latin typeface="Times New Roman" pitchFamily="18" charset="0"/>
              </a:endParaRPr>
            </a:p>
          </p:txBody>
        </p:sp>
        <p:sp>
          <p:nvSpPr>
            <p:cNvPr id="456773" name="Text Box 69"/>
            <p:cNvSpPr txBox="1">
              <a:spLocks noChangeArrowheads="1"/>
            </p:cNvSpPr>
            <p:nvPr/>
          </p:nvSpPr>
          <p:spPr bwMode="auto">
            <a:xfrm>
              <a:off x="4851" y="1535"/>
              <a:ext cx="204"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t>5</a:t>
              </a:r>
              <a:endParaRPr lang="en-US" sz="2400">
                <a:latin typeface="Times New Roman" pitchFamily="18" charset="0"/>
              </a:endParaRPr>
            </a:p>
          </p:txBody>
        </p:sp>
        <p:sp>
          <p:nvSpPr>
            <p:cNvPr id="456774" name="Text Box 70"/>
            <p:cNvSpPr txBox="1">
              <a:spLocks noChangeArrowheads="1"/>
            </p:cNvSpPr>
            <p:nvPr/>
          </p:nvSpPr>
          <p:spPr bwMode="auto">
            <a:xfrm>
              <a:off x="4116" y="1385"/>
              <a:ext cx="204"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t>3</a:t>
              </a:r>
              <a:endParaRPr lang="en-US" sz="2400">
                <a:latin typeface="Times New Roman" pitchFamily="18" charset="0"/>
              </a:endParaRPr>
            </a:p>
          </p:txBody>
        </p:sp>
        <p:sp>
          <p:nvSpPr>
            <p:cNvPr id="456775" name="Text Box 71"/>
            <p:cNvSpPr txBox="1">
              <a:spLocks noChangeArrowheads="1"/>
            </p:cNvSpPr>
            <p:nvPr/>
          </p:nvSpPr>
          <p:spPr bwMode="auto">
            <a:xfrm>
              <a:off x="3765" y="1118"/>
              <a:ext cx="204"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t>5</a:t>
              </a:r>
              <a:endParaRPr lang="en-US" sz="2400">
                <a:latin typeface="Times New Roman" pitchFamily="18" charset="0"/>
              </a:endParaRPr>
            </a:p>
          </p:txBody>
        </p:sp>
      </p:grpSp>
      <p:sp>
        <p:nvSpPr>
          <p:cNvPr id="456776" name="Text Box 72"/>
          <p:cNvSpPr txBox="1">
            <a:spLocks noChangeArrowheads="1"/>
          </p:cNvSpPr>
          <p:nvPr/>
        </p:nvSpPr>
        <p:spPr bwMode="auto">
          <a:xfrm>
            <a:off x="683568" y="3501008"/>
            <a:ext cx="8018670" cy="2677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de-DE" sz="2400" b="1">
                <a:solidFill>
                  <a:srgbClr val="FF0000"/>
                </a:solidFill>
                <a:latin typeface="Arial" charset="0"/>
              </a:rPr>
              <a:t>Graph</a:t>
            </a:r>
            <a:r>
              <a:rPr lang="de-DE" sz="2400">
                <a:latin typeface="Arial" charset="0"/>
              </a:rPr>
              <a:t>: </a:t>
            </a:r>
            <a:r>
              <a:rPr lang="de-DE" sz="2400" b="1">
                <a:solidFill>
                  <a:srgbClr val="FF0000"/>
                </a:solidFill>
                <a:latin typeface="Arial" charset="0"/>
              </a:rPr>
              <a:t>G</a:t>
            </a:r>
            <a:r>
              <a:rPr lang="de-DE" sz="2400">
                <a:latin typeface="Arial" charset="0"/>
              </a:rPr>
              <a:t> = (N,E)</a:t>
            </a:r>
          </a:p>
          <a:p>
            <a:pPr eaLnBrk="1" hangingPunct="1"/>
            <a:endParaRPr lang="de-DE" sz="2400">
              <a:latin typeface="Arial" charset="0"/>
            </a:endParaRPr>
          </a:p>
          <a:p>
            <a:pPr eaLnBrk="1" hangingPunct="1"/>
            <a:r>
              <a:rPr lang="de-DE" sz="2400" b="1">
                <a:solidFill>
                  <a:srgbClr val="FF0000"/>
                </a:solidFill>
                <a:latin typeface="Arial" charset="0"/>
              </a:rPr>
              <a:t>Knoten </a:t>
            </a:r>
            <a:r>
              <a:rPr lang="de-DE" sz="2400">
                <a:latin typeface="Arial" charset="0"/>
              </a:rPr>
              <a:t>(nodes):</a:t>
            </a:r>
          </a:p>
          <a:p>
            <a:pPr eaLnBrk="1" hangingPunct="1"/>
            <a:r>
              <a:rPr lang="de-DE" sz="2400">
                <a:latin typeface="Arial" charset="0"/>
              </a:rPr>
              <a:t>	N = Menge der Router = { u, v, w, x, y, z }</a:t>
            </a:r>
          </a:p>
          <a:p>
            <a:pPr eaLnBrk="1" hangingPunct="1"/>
            <a:r>
              <a:rPr lang="de-DE" sz="2400" b="1">
                <a:solidFill>
                  <a:srgbClr val="FF0000"/>
                </a:solidFill>
                <a:latin typeface="Arial" charset="0"/>
              </a:rPr>
              <a:t>Kanten </a:t>
            </a:r>
            <a:r>
              <a:rPr lang="de-DE" sz="2400">
                <a:latin typeface="Arial" charset="0"/>
              </a:rPr>
              <a:t>(edges):</a:t>
            </a:r>
          </a:p>
          <a:p>
            <a:pPr eaLnBrk="1" hangingPunct="1"/>
            <a:r>
              <a:rPr lang="de-DE" sz="2400">
                <a:latin typeface="Arial" charset="0"/>
              </a:rPr>
              <a:t>	E = Menge der Leitungen zwischen den Routern =</a:t>
            </a:r>
            <a:br>
              <a:rPr lang="de-DE" sz="2400">
                <a:latin typeface="Arial" charset="0"/>
              </a:rPr>
            </a:br>
            <a:r>
              <a:rPr lang="de-DE" sz="2400">
                <a:latin typeface="Arial" charset="0"/>
              </a:rPr>
              <a:t>      { (u,v), (u,x), (v,x), (v,w), (x,w), (x,y), (w,y), (w,z), (y,z) }</a:t>
            </a:r>
          </a:p>
        </p:txBody>
      </p:sp>
      <p:sp>
        <p:nvSpPr>
          <p:cNvPr id="456777" name="Rectangle 73"/>
          <p:cNvSpPr>
            <a:spLocks noGrp="1" noChangeArrowheads="1"/>
          </p:cNvSpPr>
          <p:nvPr>
            <p:ph type="title"/>
          </p:nvPr>
        </p:nvSpPr>
        <p:spPr/>
        <p:txBody>
          <a:bodyPr>
            <a:normAutofit fontScale="90000"/>
          </a:bodyPr>
          <a:lstStyle/>
          <a:p>
            <a:r>
              <a:rPr lang="de-DE" dirty="0"/>
              <a:t>Abstraktes Graphenmodell eines Computernetzwerkes</a:t>
            </a:r>
          </a:p>
        </p:txBody>
      </p:sp>
    </p:spTree>
    <p:extLst>
      <p:ext uri="{BB962C8B-B14F-4D97-AF65-F5344CB8AC3E}">
        <p14:creationId xmlns:p14="http://schemas.microsoft.com/office/powerpoint/2010/main" val="12589505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 name="Slide Number Placeholder 4"/>
          <p:cNvSpPr>
            <a:spLocks noGrp="1"/>
          </p:cNvSpPr>
          <p:nvPr>
            <p:ph type="sldNum" sz="quarter" idx="12"/>
          </p:nvPr>
        </p:nvSpPr>
        <p:spPr/>
        <p:txBody>
          <a:bodyPr/>
          <a:lstStyle/>
          <a:p>
            <a:fld id="{91305B1F-54F8-4677-B76C-220D1B4B2851}" type="slidenum">
              <a:rPr lang="de-DE" smtClean="0"/>
              <a:pPr/>
              <a:t>24</a:t>
            </a:fld>
            <a:endParaRPr lang="de-DE" dirty="0"/>
          </a:p>
        </p:txBody>
      </p:sp>
      <p:sp>
        <p:nvSpPr>
          <p:cNvPr id="457730" name="Rectangle 2"/>
          <p:cNvSpPr>
            <a:spLocks noGrp="1" noChangeArrowheads="1"/>
          </p:cNvSpPr>
          <p:nvPr>
            <p:ph type="title"/>
          </p:nvPr>
        </p:nvSpPr>
        <p:spPr/>
        <p:txBody>
          <a:bodyPr/>
          <a:lstStyle/>
          <a:p>
            <a:r>
              <a:rPr lang="de-DE" dirty="0"/>
              <a:t>Abstraktes Graphenmodell: Definitionen</a:t>
            </a:r>
          </a:p>
        </p:txBody>
      </p:sp>
      <p:grpSp>
        <p:nvGrpSpPr>
          <p:cNvPr id="457731" name="Group 3"/>
          <p:cNvGrpSpPr>
            <a:grpSpLocks/>
          </p:cNvGrpSpPr>
          <p:nvPr/>
        </p:nvGrpSpPr>
        <p:grpSpPr bwMode="auto">
          <a:xfrm>
            <a:off x="920750" y="1495425"/>
            <a:ext cx="3571875" cy="2236788"/>
            <a:chOff x="3162" y="1071"/>
            <a:chExt cx="2250" cy="1409"/>
          </a:xfrm>
        </p:grpSpPr>
        <p:sp>
          <p:nvSpPr>
            <p:cNvPr id="457732" name="Freeform 4"/>
            <p:cNvSpPr>
              <a:spLocks/>
            </p:cNvSpPr>
            <p:nvPr/>
          </p:nvSpPr>
          <p:spPr bwMode="auto">
            <a:xfrm>
              <a:off x="3162" y="1071"/>
              <a:ext cx="2250" cy="1409"/>
            </a:xfrm>
            <a:custGeom>
              <a:avLst/>
              <a:gdLst>
                <a:gd name="T0" fmla="*/ 0 w 2250"/>
                <a:gd name="T1" fmla="*/ 624 h 1409"/>
                <a:gd name="T2" fmla="*/ 219 w 2250"/>
                <a:gd name="T3" fmla="*/ 321 h 1409"/>
                <a:gd name="T4" fmla="*/ 529 w 2250"/>
                <a:gd name="T5" fmla="*/ 35 h 1409"/>
                <a:gd name="T6" fmla="*/ 1551 w 2250"/>
                <a:gd name="T7" fmla="*/ 111 h 1409"/>
                <a:gd name="T8" fmla="*/ 1968 w 2250"/>
                <a:gd name="T9" fmla="*/ 483 h 1409"/>
                <a:gd name="T10" fmla="*/ 2199 w 2250"/>
                <a:gd name="T11" fmla="*/ 906 h 1409"/>
                <a:gd name="T12" fmla="*/ 1659 w 2250"/>
                <a:gd name="T13" fmla="*/ 1314 h 1409"/>
                <a:gd name="T14" fmla="*/ 993 w 2250"/>
                <a:gd name="T15" fmla="*/ 1386 h 1409"/>
                <a:gd name="T16" fmla="*/ 465 w 2250"/>
                <a:gd name="T17" fmla="*/ 1356 h 1409"/>
                <a:gd name="T18" fmla="*/ 102 w 2250"/>
                <a:gd name="T19" fmla="*/ 1068 h 1409"/>
                <a:gd name="T20" fmla="*/ 0 w 2250"/>
                <a:gd name="T21" fmla="*/ 624 h 14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250" h="1409">
                  <a:moveTo>
                    <a:pt x="0" y="624"/>
                  </a:moveTo>
                  <a:cubicBezTo>
                    <a:pt x="5" y="506"/>
                    <a:pt x="131" y="419"/>
                    <a:pt x="219" y="321"/>
                  </a:cubicBezTo>
                  <a:cubicBezTo>
                    <a:pt x="307" y="223"/>
                    <a:pt x="307" y="70"/>
                    <a:pt x="529" y="35"/>
                  </a:cubicBezTo>
                  <a:cubicBezTo>
                    <a:pt x="751" y="0"/>
                    <a:pt x="1311" y="36"/>
                    <a:pt x="1551" y="111"/>
                  </a:cubicBezTo>
                  <a:cubicBezTo>
                    <a:pt x="1791" y="186"/>
                    <a:pt x="1860" y="351"/>
                    <a:pt x="1968" y="483"/>
                  </a:cubicBezTo>
                  <a:cubicBezTo>
                    <a:pt x="2076" y="615"/>
                    <a:pt x="2250" y="767"/>
                    <a:pt x="2199" y="906"/>
                  </a:cubicBezTo>
                  <a:cubicBezTo>
                    <a:pt x="2148" y="1045"/>
                    <a:pt x="1860" y="1234"/>
                    <a:pt x="1659" y="1314"/>
                  </a:cubicBezTo>
                  <a:cubicBezTo>
                    <a:pt x="1458" y="1394"/>
                    <a:pt x="1192" y="1379"/>
                    <a:pt x="993" y="1386"/>
                  </a:cubicBezTo>
                  <a:cubicBezTo>
                    <a:pt x="794" y="1393"/>
                    <a:pt x="613" y="1409"/>
                    <a:pt x="465" y="1356"/>
                  </a:cubicBezTo>
                  <a:cubicBezTo>
                    <a:pt x="317" y="1303"/>
                    <a:pt x="180" y="1190"/>
                    <a:pt x="102" y="1068"/>
                  </a:cubicBezTo>
                  <a:cubicBezTo>
                    <a:pt x="24" y="946"/>
                    <a:pt x="21" y="716"/>
                    <a:pt x="0" y="624"/>
                  </a:cubicBezTo>
                  <a:close/>
                </a:path>
              </a:pathLst>
            </a:custGeom>
            <a:solidFill>
              <a:srgbClr val="99CCFF"/>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57733" name="Freeform 5"/>
            <p:cNvSpPr>
              <a:spLocks/>
            </p:cNvSpPr>
            <p:nvPr/>
          </p:nvSpPr>
          <p:spPr bwMode="auto">
            <a:xfrm>
              <a:off x="3498" y="1620"/>
              <a:ext cx="342" cy="186"/>
            </a:xfrm>
            <a:custGeom>
              <a:avLst/>
              <a:gdLst>
                <a:gd name="T0" fmla="*/ 0 w 342"/>
                <a:gd name="T1" fmla="*/ 186 h 186"/>
                <a:gd name="T2" fmla="*/ 342 w 342"/>
                <a:gd name="T3" fmla="*/ 0 h 186"/>
              </a:gdLst>
              <a:ahLst/>
              <a:cxnLst>
                <a:cxn ang="0">
                  <a:pos x="T0" y="T1"/>
                </a:cxn>
                <a:cxn ang="0">
                  <a:pos x="T2" y="T3"/>
                </a:cxn>
              </a:cxnLst>
              <a:rect l="0" t="0" r="r" b="b"/>
              <a:pathLst>
                <a:path w="342" h="186">
                  <a:moveTo>
                    <a:pt x="0" y="186"/>
                  </a:moveTo>
                  <a:lnTo>
                    <a:pt x="342" y="0"/>
                  </a:lnTo>
                </a:path>
              </a:pathLst>
            </a:custGeom>
            <a:noFill/>
            <a:ln w="127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57734" name="Oval 6"/>
            <p:cNvSpPr>
              <a:spLocks noChangeArrowheads="1"/>
            </p:cNvSpPr>
            <p:nvPr/>
          </p:nvSpPr>
          <p:spPr bwMode="auto">
            <a:xfrm>
              <a:off x="3238" y="1862"/>
              <a:ext cx="313" cy="81"/>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57735" name="Line 7"/>
            <p:cNvSpPr>
              <a:spLocks noChangeShapeType="1"/>
            </p:cNvSpPr>
            <p:nvPr/>
          </p:nvSpPr>
          <p:spPr bwMode="auto">
            <a:xfrm>
              <a:off x="3238" y="1855"/>
              <a:ext cx="0" cy="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57736" name="Line 8"/>
            <p:cNvSpPr>
              <a:spLocks noChangeShapeType="1"/>
            </p:cNvSpPr>
            <p:nvPr/>
          </p:nvSpPr>
          <p:spPr bwMode="auto">
            <a:xfrm>
              <a:off x="3551" y="1855"/>
              <a:ext cx="0" cy="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57737" name="Rectangle 9"/>
            <p:cNvSpPr>
              <a:spLocks noChangeArrowheads="1"/>
            </p:cNvSpPr>
            <p:nvPr/>
          </p:nvSpPr>
          <p:spPr bwMode="auto">
            <a:xfrm>
              <a:off x="3238" y="1855"/>
              <a:ext cx="310" cy="49"/>
            </a:xfrm>
            <a:prstGeom prst="rect">
              <a:avLst/>
            </a:prstGeom>
            <a:solidFill>
              <a:schemeClr val="hlink"/>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de-DE" sz="2400">
                <a:latin typeface="Times New Roman" pitchFamily="18" charset="0"/>
              </a:endParaRPr>
            </a:p>
          </p:txBody>
        </p:sp>
        <p:sp>
          <p:nvSpPr>
            <p:cNvPr id="457738" name="Oval 10"/>
            <p:cNvSpPr>
              <a:spLocks noChangeArrowheads="1"/>
            </p:cNvSpPr>
            <p:nvPr/>
          </p:nvSpPr>
          <p:spPr bwMode="auto">
            <a:xfrm>
              <a:off x="3235" y="1796"/>
              <a:ext cx="313" cy="95"/>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57739" name="Oval 11"/>
            <p:cNvSpPr>
              <a:spLocks noChangeArrowheads="1"/>
            </p:cNvSpPr>
            <p:nvPr/>
          </p:nvSpPr>
          <p:spPr bwMode="auto">
            <a:xfrm>
              <a:off x="3712" y="2249"/>
              <a:ext cx="313" cy="81"/>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57740" name="Line 12"/>
            <p:cNvSpPr>
              <a:spLocks noChangeShapeType="1"/>
            </p:cNvSpPr>
            <p:nvPr/>
          </p:nvSpPr>
          <p:spPr bwMode="auto">
            <a:xfrm>
              <a:off x="3712" y="2242"/>
              <a:ext cx="0" cy="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57741" name="Line 13"/>
            <p:cNvSpPr>
              <a:spLocks noChangeShapeType="1"/>
            </p:cNvSpPr>
            <p:nvPr/>
          </p:nvSpPr>
          <p:spPr bwMode="auto">
            <a:xfrm>
              <a:off x="4025" y="2242"/>
              <a:ext cx="0" cy="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57742" name="Rectangle 14"/>
            <p:cNvSpPr>
              <a:spLocks noChangeArrowheads="1"/>
            </p:cNvSpPr>
            <p:nvPr/>
          </p:nvSpPr>
          <p:spPr bwMode="auto">
            <a:xfrm>
              <a:off x="3712" y="2242"/>
              <a:ext cx="310" cy="49"/>
            </a:xfrm>
            <a:prstGeom prst="rect">
              <a:avLst/>
            </a:prstGeom>
            <a:solidFill>
              <a:schemeClr val="hlink"/>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de-DE" sz="2400">
                <a:latin typeface="Times New Roman" pitchFamily="18" charset="0"/>
              </a:endParaRPr>
            </a:p>
          </p:txBody>
        </p:sp>
        <p:sp>
          <p:nvSpPr>
            <p:cNvPr id="457743" name="Oval 15"/>
            <p:cNvSpPr>
              <a:spLocks noChangeArrowheads="1"/>
            </p:cNvSpPr>
            <p:nvPr/>
          </p:nvSpPr>
          <p:spPr bwMode="auto">
            <a:xfrm>
              <a:off x="3709" y="2183"/>
              <a:ext cx="313" cy="95"/>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57744" name="Oval 16"/>
            <p:cNvSpPr>
              <a:spLocks noChangeArrowheads="1"/>
            </p:cNvSpPr>
            <p:nvPr/>
          </p:nvSpPr>
          <p:spPr bwMode="auto">
            <a:xfrm>
              <a:off x="3708" y="1559"/>
              <a:ext cx="313" cy="81"/>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57745" name="Line 17"/>
            <p:cNvSpPr>
              <a:spLocks noChangeShapeType="1"/>
            </p:cNvSpPr>
            <p:nvPr/>
          </p:nvSpPr>
          <p:spPr bwMode="auto">
            <a:xfrm>
              <a:off x="3708" y="1552"/>
              <a:ext cx="0" cy="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57746" name="Line 18"/>
            <p:cNvSpPr>
              <a:spLocks noChangeShapeType="1"/>
            </p:cNvSpPr>
            <p:nvPr/>
          </p:nvSpPr>
          <p:spPr bwMode="auto">
            <a:xfrm>
              <a:off x="4021" y="1552"/>
              <a:ext cx="0" cy="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57747" name="Rectangle 19"/>
            <p:cNvSpPr>
              <a:spLocks noChangeArrowheads="1"/>
            </p:cNvSpPr>
            <p:nvPr/>
          </p:nvSpPr>
          <p:spPr bwMode="auto">
            <a:xfrm>
              <a:off x="3708" y="1552"/>
              <a:ext cx="310" cy="49"/>
            </a:xfrm>
            <a:prstGeom prst="rect">
              <a:avLst/>
            </a:prstGeom>
            <a:solidFill>
              <a:schemeClr val="hlink"/>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de-DE" sz="2400">
                <a:latin typeface="Times New Roman" pitchFamily="18" charset="0"/>
              </a:endParaRPr>
            </a:p>
          </p:txBody>
        </p:sp>
        <p:sp>
          <p:nvSpPr>
            <p:cNvPr id="457748" name="Oval 20"/>
            <p:cNvSpPr>
              <a:spLocks noChangeArrowheads="1"/>
            </p:cNvSpPr>
            <p:nvPr/>
          </p:nvSpPr>
          <p:spPr bwMode="auto">
            <a:xfrm>
              <a:off x="3705" y="1493"/>
              <a:ext cx="313" cy="95"/>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57749" name="Oval 21"/>
            <p:cNvSpPr>
              <a:spLocks noChangeArrowheads="1"/>
            </p:cNvSpPr>
            <p:nvPr/>
          </p:nvSpPr>
          <p:spPr bwMode="auto">
            <a:xfrm>
              <a:off x="4391" y="1555"/>
              <a:ext cx="312" cy="81"/>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57750" name="Line 22"/>
            <p:cNvSpPr>
              <a:spLocks noChangeShapeType="1"/>
            </p:cNvSpPr>
            <p:nvPr/>
          </p:nvSpPr>
          <p:spPr bwMode="auto">
            <a:xfrm>
              <a:off x="4391" y="1548"/>
              <a:ext cx="0" cy="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57751" name="Line 23"/>
            <p:cNvSpPr>
              <a:spLocks noChangeShapeType="1"/>
            </p:cNvSpPr>
            <p:nvPr/>
          </p:nvSpPr>
          <p:spPr bwMode="auto">
            <a:xfrm>
              <a:off x="4703" y="1548"/>
              <a:ext cx="0" cy="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57752" name="Rectangle 24"/>
            <p:cNvSpPr>
              <a:spLocks noChangeArrowheads="1"/>
            </p:cNvSpPr>
            <p:nvPr/>
          </p:nvSpPr>
          <p:spPr bwMode="auto">
            <a:xfrm>
              <a:off x="4391" y="1548"/>
              <a:ext cx="309" cy="49"/>
            </a:xfrm>
            <a:prstGeom prst="rect">
              <a:avLst/>
            </a:prstGeom>
            <a:solidFill>
              <a:schemeClr val="hlink"/>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de-DE" sz="2400">
                <a:latin typeface="Times New Roman" pitchFamily="18" charset="0"/>
              </a:endParaRPr>
            </a:p>
          </p:txBody>
        </p:sp>
        <p:sp>
          <p:nvSpPr>
            <p:cNvPr id="457753" name="Oval 25"/>
            <p:cNvSpPr>
              <a:spLocks noChangeArrowheads="1"/>
            </p:cNvSpPr>
            <p:nvPr/>
          </p:nvSpPr>
          <p:spPr bwMode="auto">
            <a:xfrm>
              <a:off x="4394" y="1492"/>
              <a:ext cx="312" cy="95"/>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57754" name="Oval 26"/>
            <p:cNvSpPr>
              <a:spLocks noChangeArrowheads="1"/>
            </p:cNvSpPr>
            <p:nvPr/>
          </p:nvSpPr>
          <p:spPr bwMode="auto">
            <a:xfrm>
              <a:off x="4401" y="2246"/>
              <a:ext cx="313" cy="81"/>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57755" name="Line 27"/>
            <p:cNvSpPr>
              <a:spLocks noChangeShapeType="1"/>
            </p:cNvSpPr>
            <p:nvPr/>
          </p:nvSpPr>
          <p:spPr bwMode="auto">
            <a:xfrm>
              <a:off x="4401" y="2239"/>
              <a:ext cx="0" cy="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57756" name="Line 28"/>
            <p:cNvSpPr>
              <a:spLocks noChangeShapeType="1"/>
            </p:cNvSpPr>
            <p:nvPr/>
          </p:nvSpPr>
          <p:spPr bwMode="auto">
            <a:xfrm>
              <a:off x="4714" y="2239"/>
              <a:ext cx="0" cy="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57757" name="Rectangle 29"/>
            <p:cNvSpPr>
              <a:spLocks noChangeArrowheads="1"/>
            </p:cNvSpPr>
            <p:nvPr/>
          </p:nvSpPr>
          <p:spPr bwMode="auto">
            <a:xfrm>
              <a:off x="4401" y="2239"/>
              <a:ext cx="310" cy="49"/>
            </a:xfrm>
            <a:prstGeom prst="rect">
              <a:avLst/>
            </a:prstGeom>
            <a:solidFill>
              <a:schemeClr val="hlink"/>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de-DE" sz="2400">
                <a:latin typeface="Times New Roman" pitchFamily="18" charset="0"/>
              </a:endParaRPr>
            </a:p>
          </p:txBody>
        </p:sp>
        <p:sp>
          <p:nvSpPr>
            <p:cNvPr id="457758" name="Oval 30"/>
            <p:cNvSpPr>
              <a:spLocks noChangeArrowheads="1"/>
            </p:cNvSpPr>
            <p:nvPr/>
          </p:nvSpPr>
          <p:spPr bwMode="auto">
            <a:xfrm>
              <a:off x="4398" y="2180"/>
              <a:ext cx="313" cy="95"/>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57759" name="Oval 31"/>
            <p:cNvSpPr>
              <a:spLocks noChangeArrowheads="1"/>
            </p:cNvSpPr>
            <p:nvPr/>
          </p:nvSpPr>
          <p:spPr bwMode="auto">
            <a:xfrm>
              <a:off x="4966" y="1905"/>
              <a:ext cx="313" cy="81"/>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57760" name="Line 32"/>
            <p:cNvSpPr>
              <a:spLocks noChangeShapeType="1"/>
            </p:cNvSpPr>
            <p:nvPr/>
          </p:nvSpPr>
          <p:spPr bwMode="auto">
            <a:xfrm>
              <a:off x="4966" y="1898"/>
              <a:ext cx="0" cy="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57761" name="Line 33"/>
            <p:cNvSpPr>
              <a:spLocks noChangeShapeType="1"/>
            </p:cNvSpPr>
            <p:nvPr/>
          </p:nvSpPr>
          <p:spPr bwMode="auto">
            <a:xfrm>
              <a:off x="5279" y="1898"/>
              <a:ext cx="0" cy="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57762" name="Rectangle 34"/>
            <p:cNvSpPr>
              <a:spLocks noChangeArrowheads="1"/>
            </p:cNvSpPr>
            <p:nvPr/>
          </p:nvSpPr>
          <p:spPr bwMode="auto">
            <a:xfrm>
              <a:off x="4966" y="1898"/>
              <a:ext cx="310" cy="49"/>
            </a:xfrm>
            <a:prstGeom prst="rect">
              <a:avLst/>
            </a:prstGeom>
            <a:solidFill>
              <a:schemeClr val="hlink"/>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de-DE" sz="2400">
                <a:latin typeface="Times New Roman" pitchFamily="18" charset="0"/>
              </a:endParaRPr>
            </a:p>
          </p:txBody>
        </p:sp>
        <p:sp>
          <p:nvSpPr>
            <p:cNvPr id="457763" name="Oval 35"/>
            <p:cNvSpPr>
              <a:spLocks noChangeArrowheads="1"/>
            </p:cNvSpPr>
            <p:nvPr/>
          </p:nvSpPr>
          <p:spPr bwMode="auto">
            <a:xfrm>
              <a:off x="4963" y="1839"/>
              <a:ext cx="313" cy="95"/>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57764" name="Freeform 36"/>
            <p:cNvSpPr>
              <a:spLocks/>
            </p:cNvSpPr>
            <p:nvPr/>
          </p:nvSpPr>
          <p:spPr bwMode="auto">
            <a:xfrm>
              <a:off x="4557" y="1647"/>
              <a:ext cx="1" cy="522"/>
            </a:xfrm>
            <a:custGeom>
              <a:avLst/>
              <a:gdLst>
                <a:gd name="T0" fmla="*/ 0 w 1"/>
                <a:gd name="T1" fmla="*/ 0 h 522"/>
                <a:gd name="T2" fmla="*/ 0 w 1"/>
                <a:gd name="T3" fmla="*/ 522 h 522"/>
              </a:gdLst>
              <a:ahLst/>
              <a:cxnLst>
                <a:cxn ang="0">
                  <a:pos x="T0" y="T1"/>
                </a:cxn>
                <a:cxn ang="0">
                  <a:pos x="T2" y="T3"/>
                </a:cxn>
              </a:cxnLst>
              <a:rect l="0" t="0" r="r" b="b"/>
              <a:pathLst>
                <a:path w="1" h="522">
                  <a:moveTo>
                    <a:pt x="0" y="0"/>
                  </a:moveTo>
                  <a:lnTo>
                    <a:pt x="0" y="522"/>
                  </a:lnTo>
                </a:path>
              </a:pathLst>
            </a:custGeom>
            <a:noFill/>
            <a:ln w="127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57765" name="Freeform 37"/>
            <p:cNvSpPr>
              <a:spLocks/>
            </p:cNvSpPr>
            <p:nvPr/>
          </p:nvSpPr>
          <p:spPr bwMode="auto">
            <a:xfrm>
              <a:off x="3864" y="1653"/>
              <a:ext cx="1" cy="537"/>
            </a:xfrm>
            <a:custGeom>
              <a:avLst/>
              <a:gdLst>
                <a:gd name="T0" fmla="*/ 0 w 1"/>
                <a:gd name="T1" fmla="*/ 0 h 537"/>
                <a:gd name="T2" fmla="*/ 0 w 1"/>
                <a:gd name="T3" fmla="*/ 537 h 537"/>
              </a:gdLst>
              <a:ahLst/>
              <a:cxnLst>
                <a:cxn ang="0">
                  <a:pos x="T0" y="T1"/>
                </a:cxn>
                <a:cxn ang="0">
                  <a:pos x="T2" y="T3"/>
                </a:cxn>
              </a:cxnLst>
              <a:rect l="0" t="0" r="r" b="b"/>
              <a:pathLst>
                <a:path w="1" h="537">
                  <a:moveTo>
                    <a:pt x="0" y="0"/>
                  </a:moveTo>
                  <a:lnTo>
                    <a:pt x="0" y="537"/>
                  </a:lnTo>
                </a:path>
              </a:pathLst>
            </a:custGeom>
            <a:noFill/>
            <a:ln w="127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57766" name="Freeform 38"/>
            <p:cNvSpPr>
              <a:spLocks/>
            </p:cNvSpPr>
            <p:nvPr/>
          </p:nvSpPr>
          <p:spPr bwMode="auto">
            <a:xfrm>
              <a:off x="4029" y="1638"/>
              <a:ext cx="504" cy="600"/>
            </a:xfrm>
            <a:custGeom>
              <a:avLst/>
              <a:gdLst>
                <a:gd name="T0" fmla="*/ 0 w 378"/>
                <a:gd name="T1" fmla="*/ 174 h 174"/>
                <a:gd name="T2" fmla="*/ 378 w 378"/>
                <a:gd name="T3" fmla="*/ 0 h 174"/>
              </a:gdLst>
              <a:ahLst/>
              <a:cxnLst>
                <a:cxn ang="0">
                  <a:pos x="T0" y="T1"/>
                </a:cxn>
                <a:cxn ang="0">
                  <a:pos x="T2" y="T3"/>
                </a:cxn>
              </a:cxnLst>
              <a:rect l="0" t="0" r="r" b="b"/>
              <a:pathLst>
                <a:path w="378" h="174">
                  <a:moveTo>
                    <a:pt x="0" y="174"/>
                  </a:moveTo>
                  <a:lnTo>
                    <a:pt x="378" y="0"/>
                  </a:lnTo>
                </a:path>
              </a:pathLst>
            </a:custGeom>
            <a:noFill/>
            <a:ln w="127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57767" name="Freeform 39"/>
            <p:cNvSpPr>
              <a:spLocks/>
            </p:cNvSpPr>
            <p:nvPr/>
          </p:nvSpPr>
          <p:spPr bwMode="auto">
            <a:xfrm>
              <a:off x="4716" y="1986"/>
              <a:ext cx="366" cy="270"/>
            </a:xfrm>
            <a:custGeom>
              <a:avLst/>
              <a:gdLst>
                <a:gd name="T0" fmla="*/ 0 w 366"/>
                <a:gd name="T1" fmla="*/ 270 h 270"/>
                <a:gd name="T2" fmla="*/ 366 w 366"/>
                <a:gd name="T3" fmla="*/ 0 h 270"/>
              </a:gdLst>
              <a:ahLst/>
              <a:cxnLst>
                <a:cxn ang="0">
                  <a:pos x="T0" y="T1"/>
                </a:cxn>
                <a:cxn ang="0">
                  <a:pos x="T2" y="T3"/>
                </a:cxn>
              </a:cxnLst>
              <a:rect l="0" t="0" r="r" b="b"/>
              <a:pathLst>
                <a:path w="366" h="270">
                  <a:moveTo>
                    <a:pt x="0" y="270"/>
                  </a:moveTo>
                  <a:lnTo>
                    <a:pt x="366" y="0"/>
                  </a:lnTo>
                </a:path>
              </a:pathLst>
            </a:custGeom>
            <a:noFill/>
            <a:ln w="127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57768" name="Freeform 40"/>
            <p:cNvSpPr>
              <a:spLocks/>
            </p:cNvSpPr>
            <p:nvPr/>
          </p:nvSpPr>
          <p:spPr bwMode="auto">
            <a:xfrm>
              <a:off x="4035" y="2268"/>
              <a:ext cx="366" cy="1"/>
            </a:xfrm>
            <a:custGeom>
              <a:avLst/>
              <a:gdLst>
                <a:gd name="T0" fmla="*/ 366 w 366"/>
                <a:gd name="T1" fmla="*/ 0 h 1"/>
                <a:gd name="T2" fmla="*/ 0 w 366"/>
                <a:gd name="T3" fmla="*/ 0 h 1"/>
              </a:gdLst>
              <a:ahLst/>
              <a:cxnLst>
                <a:cxn ang="0">
                  <a:pos x="T0" y="T1"/>
                </a:cxn>
                <a:cxn ang="0">
                  <a:pos x="T2" y="T3"/>
                </a:cxn>
              </a:cxnLst>
              <a:rect l="0" t="0" r="r" b="b"/>
              <a:pathLst>
                <a:path w="366" h="1">
                  <a:moveTo>
                    <a:pt x="366" y="0"/>
                  </a:moveTo>
                  <a:lnTo>
                    <a:pt x="0" y="0"/>
                  </a:lnTo>
                </a:path>
              </a:pathLst>
            </a:custGeom>
            <a:noFill/>
            <a:ln w="127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57769" name="Freeform 41"/>
            <p:cNvSpPr>
              <a:spLocks/>
            </p:cNvSpPr>
            <p:nvPr/>
          </p:nvSpPr>
          <p:spPr bwMode="auto">
            <a:xfrm>
              <a:off x="3444" y="1944"/>
              <a:ext cx="276" cy="264"/>
            </a:xfrm>
            <a:custGeom>
              <a:avLst/>
              <a:gdLst>
                <a:gd name="T0" fmla="*/ 276 w 276"/>
                <a:gd name="T1" fmla="*/ 264 h 264"/>
                <a:gd name="T2" fmla="*/ 0 w 276"/>
                <a:gd name="T3" fmla="*/ 0 h 264"/>
              </a:gdLst>
              <a:ahLst/>
              <a:cxnLst>
                <a:cxn ang="0">
                  <a:pos x="T0" y="T1"/>
                </a:cxn>
                <a:cxn ang="0">
                  <a:pos x="T2" y="T3"/>
                </a:cxn>
              </a:cxnLst>
              <a:rect l="0" t="0" r="r" b="b"/>
              <a:pathLst>
                <a:path w="276" h="264">
                  <a:moveTo>
                    <a:pt x="276" y="264"/>
                  </a:moveTo>
                  <a:lnTo>
                    <a:pt x="0" y="0"/>
                  </a:lnTo>
                </a:path>
              </a:pathLst>
            </a:custGeom>
            <a:noFill/>
            <a:ln w="127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57770" name="Freeform 42"/>
            <p:cNvSpPr>
              <a:spLocks/>
            </p:cNvSpPr>
            <p:nvPr/>
          </p:nvSpPr>
          <p:spPr bwMode="auto">
            <a:xfrm>
              <a:off x="4029" y="1578"/>
              <a:ext cx="366" cy="1"/>
            </a:xfrm>
            <a:custGeom>
              <a:avLst/>
              <a:gdLst>
                <a:gd name="T0" fmla="*/ 366 w 366"/>
                <a:gd name="T1" fmla="*/ 0 h 1"/>
                <a:gd name="T2" fmla="*/ 0 w 366"/>
                <a:gd name="T3" fmla="*/ 0 h 1"/>
              </a:gdLst>
              <a:ahLst/>
              <a:cxnLst>
                <a:cxn ang="0">
                  <a:pos x="T0" y="T1"/>
                </a:cxn>
                <a:cxn ang="0">
                  <a:pos x="T2" y="T3"/>
                </a:cxn>
              </a:cxnLst>
              <a:rect l="0" t="0" r="r" b="b"/>
              <a:pathLst>
                <a:path w="366" h="1">
                  <a:moveTo>
                    <a:pt x="366" y="0"/>
                  </a:moveTo>
                  <a:lnTo>
                    <a:pt x="0" y="0"/>
                  </a:lnTo>
                </a:path>
              </a:pathLst>
            </a:custGeom>
            <a:noFill/>
            <a:ln w="127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57771" name="Freeform 43"/>
            <p:cNvSpPr>
              <a:spLocks/>
            </p:cNvSpPr>
            <p:nvPr/>
          </p:nvSpPr>
          <p:spPr bwMode="auto">
            <a:xfrm>
              <a:off x="4704" y="1575"/>
              <a:ext cx="396" cy="267"/>
            </a:xfrm>
            <a:custGeom>
              <a:avLst/>
              <a:gdLst>
                <a:gd name="T0" fmla="*/ 396 w 396"/>
                <a:gd name="T1" fmla="*/ 267 h 267"/>
                <a:gd name="T2" fmla="*/ 0 w 396"/>
                <a:gd name="T3" fmla="*/ 0 h 267"/>
              </a:gdLst>
              <a:ahLst/>
              <a:cxnLst>
                <a:cxn ang="0">
                  <a:pos x="T0" y="T1"/>
                </a:cxn>
                <a:cxn ang="0">
                  <a:pos x="T2" y="T3"/>
                </a:cxn>
              </a:cxnLst>
              <a:rect l="0" t="0" r="r" b="b"/>
              <a:pathLst>
                <a:path w="396" h="267">
                  <a:moveTo>
                    <a:pt x="396" y="267"/>
                  </a:moveTo>
                  <a:lnTo>
                    <a:pt x="0" y="0"/>
                  </a:lnTo>
                </a:path>
              </a:pathLst>
            </a:custGeom>
            <a:noFill/>
            <a:ln w="127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57772" name="Freeform 44"/>
            <p:cNvSpPr>
              <a:spLocks/>
            </p:cNvSpPr>
            <p:nvPr/>
          </p:nvSpPr>
          <p:spPr bwMode="auto">
            <a:xfrm>
              <a:off x="3387" y="1146"/>
              <a:ext cx="1110" cy="645"/>
            </a:xfrm>
            <a:custGeom>
              <a:avLst/>
              <a:gdLst>
                <a:gd name="T0" fmla="*/ 1110 w 1110"/>
                <a:gd name="T1" fmla="*/ 342 h 645"/>
                <a:gd name="T2" fmla="*/ 0 w 1110"/>
                <a:gd name="T3" fmla="*/ 645 h 645"/>
              </a:gdLst>
              <a:ahLst/>
              <a:cxnLst>
                <a:cxn ang="0">
                  <a:pos x="T0" y="T1"/>
                </a:cxn>
                <a:cxn ang="0">
                  <a:pos x="T2" y="T3"/>
                </a:cxn>
              </a:cxnLst>
              <a:rect l="0" t="0" r="r" b="b"/>
              <a:pathLst>
                <a:path w="1110" h="645">
                  <a:moveTo>
                    <a:pt x="1110" y="342"/>
                  </a:moveTo>
                  <a:cubicBezTo>
                    <a:pt x="1104" y="0"/>
                    <a:pt x="21" y="63"/>
                    <a:pt x="0" y="645"/>
                  </a:cubicBezTo>
                </a:path>
              </a:pathLst>
            </a:custGeom>
            <a:noFill/>
            <a:ln w="127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grpSp>
          <p:nvGrpSpPr>
            <p:cNvPr id="457773" name="Group 45"/>
            <p:cNvGrpSpPr>
              <a:grpSpLocks/>
            </p:cNvGrpSpPr>
            <p:nvPr/>
          </p:nvGrpSpPr>
          <p:grpSpPr bwMode="auto">
            <a:xfrm>
              <a:off x="3286" y="1748"/>
              <a:ext cx="216" cy="252"/>
              <a:chOff x="2949" y="2429"/>
              <a:chExt cx="219" cy="252"/>
            </a:xfrm>
          </p:grpSpPr>
          <p:sp>
            <p:nvSpPr>
              <p:cNvPr id="457774" name="Rectangle 46"/>
              <p:cNvSpPr>
                <a:spLocks noChangeArrowheads="1"/>
              </p:cNvSpPr>
              <p:nvPr/>
            </p:nvSpPr>
            <p:spPr bwMode="auto">
              <a:xfrm>
                <a:off x="2982" y="2490"/>
                <a:ext cx="144" cy="132"/>
              </a:xfrm>
              <a:prstGeom prst="rect">
                <a:avLst/>
              </a:prstGeom>
              <a:solidFill>
                <a:schemeClr va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57775" name="Text Box 47"/>
              <p:cNvSpPr txBox="1">
                <a:spLocks noChangeArrowheads="1"/>
              </p:cNvSpPr>
              <p:nvPr/>
            </p:nvSpPr>
            <p:spPr bwMode="auto">
              <a:xfrm>
                <a:off x="2949" y="2429"/>
                <a:ext cx="219" cy="25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de-DE" sz="2000" b="1">
                    <a:solidFill>
                      <a:srgbClr val="FF0000"/>
                    </a:solidFill>
                  </a:rPr>
                  <a:t>u</a:t>
                </a:r>
                <a:endParaRPr lang="de-DE" sz="2400" b="1">
                  <a:solidFill>
                    <a:srgbClr val="FF0000"/>
                  </a:solidFill>
                  <a:latin typeface="Times New Roman" pitchFamily="18" charset="0"/>
                </a:endParaRPr>
              </a:p>
            </p:txBody>
          </p:sp>
        </p:grpSp>
        <p:grpSp>
          <p:nvGrpSpPr>
            <p:cNvPr id="457776" name="Group 48"/>
            <p:cNvGrpSpPr>
              <a:grpSpLocks/>
            </p:cNvGrpSpPr>
            <p:nvPr/>
          </p:nvGrpSpPr>
          <p:grpSpPr bwMode="auto">
            <a:xfrm>
              <a:off x="4460" y="2132"/>
              <a:ext cx="199" cy="250"/>
              <a:chOff x="2957" y="2429"/>
              <a:chExt cx="202" cy="250"/>
            </a:xfrm>
          </p:grpSpPr>
          <p:sp>
            <p:nvSpPr>
              <p:cNvPr id="457777" name="Rectangle 49"/>
              <p:cNvSpPr>
                <a:spLocks noChangeArrowheads="1"/>
              </p:cNvSpPr>
              <p:nvPr/>
            </p:nvSpPr>
            <p:spPr bwMode="auto">
              <a:xfrm>
                <a:off x="2982" y="2490"/>
                <a:ext cx="144" cy="132"/>
              </a:xfrm>
              <a:prstGeom prst="rect">
                <a:avLst/>
              </a:prstGeom>
              <a:solidFill>
                <a:schemeClr va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57778" name="Text Box 50"/>
              <p:cNvSpPr txBox="1">
                <a:spLocks noChangeArrowheads="1"/>
              </p:cNvSpPr>
              <p:nvPr/>
            </p:nvSpPr>
            <p:spPr bwMode="auto">
              <a:xfrm>
                <a:off x="2957" y="2429"/>
                <a:ext cx="202"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de-DE" sz="2000"/>
                  <a:t>y</a:t>
                </a:r>
                <a:endParaRPr lang="de-DE" sz="2400">
                  <a:latin typeface="Times New Roman" pitchFamily="18" charset="0"/>
                </a:endParaRPr>
              </a:p>
            </p:txBody>
          </p:sp>
        </p:grpSp>
        <p:grpSp>
          <p:nvGrpSpPr>
            <p:cNvPr id="457779" name="Group 51"/>
            <p:cNvGrpSpPr>
              <a:grpSpLocks/>
            </p:cNvGrpSpPr>
            <p:nvPr/>
          </p:nvGrpSpPr>
          <p:grpSpPr bwMode="auto">
            <a:xfrm>
              <a:off x="3771" y="2099"/>
              <a:ext cx="213" cy="291"/>
              <a:chOff x="2951" y="2399"/>
              <a:chExt cx="214" cy="291"/>
            </a:xfrm>
          </p:grpSpPr>
          <p:sp>
            <p:nvSpPr>
              <p:cNvPr id="457780" name="Rectangle 52"/>
              <p:cNvSpPr>
                <a:spLocks noChangeArrowheads="1"/>
              </p:cNvSpPr>
              <p:nvPr/>
            </p:nvSpPr>
            <p:spPr bwMode="auto">
              <a:xfrm>
                <a:off x="2982" y="2490"/>
                <a:ext cx="144" cy="132"/>
              </a:xfrm>
              <a:prstGeom prst="rect">
                <a:avLst/>
              </a:prstGeom>
              <a:solidFill>
                <a:schemeClr va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57781" name="Text Box 53"/>
              <p:cNvSpPr txBox="1">
                <a:spLocks noChangeArrowheads="1"/>
              </p:cNvSpPr>
              <p:nvPr/>
            </p:nvSpPr>
            <p:spPr bwMode="auto">
              <a:xfrm>
                <a:off x="2951" y="2399"/>
                <a:ext cx="214" cy="29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de-DE" sz="2400"/>
                  <a:t>x</a:t>
                </a:r>
              </a:p>
            </p:txBody>
          </p:sp>
        </p:grpSp>
        <p:grpSp>
          <p:nvGrpSpPr>
            <p:cNvPr id="457782" name="Group 54"/>
            <p:cNvGrpSpPr>
              <a:grpSpLocks/>
            </p:cNvGrpSpPr>
            <p:nvPr/>
          </p:nvGrpSpPr>
          <p:grpSpPr bwMode="auto">
            <a:xfrm>
              <a:off x="4439" y="1442"/>
              <a:ext cx="234" cy="252"/>
              <a:chOff x="2940" y="2429"/>
              <a:chExt cx="237" cy="252"/>
            </a:xfrm>
          </p:grpSpPr>
          <p:sp>
            <p:nvSpPr>
              <p:cNvPr id="457783" name="Rectangle 55"/>
              <p:cNvSpPr>
                <a:spLocks noChangeArrowheads="1"/>
              </p:cNvSpPr>
              <p:nvPr/>
            </p:nvSpPr>
            <p:spPr bwMode="auto">
              <a:xfrm>
                <a:off x="2982" y="2490"/>
                <a:ext cx="144" cy="132"/>
              </a:xfrm>
              <a:prstGeom prst="rect">
                <a:avLst/>
              </a:prstGeom>
              <a:solidFill>
                <a:schemeClr va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57784" name="Text Box 56"/>
              <p:cNvSpPr txBox="1">
                <a:spLocks noChangeArrowheads="1"/>
              </p:cNvSpPr>
              <p:nvPr/>
            </p:nvSpPr>
            <p:spPr bwMode="auto">
              <a:xfrm>
                <a:off x="2940" y="2429"/>
                <a:ext cx="237" cy="25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de-DE" sz="2000"/>
                  <a:t>w</a:t>
                </a:r>
                <a:endParaRPr lang="de-DE" sz="2400">
                  <a:latin typeface="Times New Roman" pitchFamily="18" charset="0"/>
                </a:endParaRPr>
              </a:p>
            </p:txBody>
          </p:sp>
        </p:grpSp>
        <p:grpSp>
          <p:nvGrpSpPr>
            <p:cNvPr id="457785" name="Group 57"/>
            <p:cNvGrpSpPr>
              <a:grpSpLocks/>
            </p:cNvGrpSpPr>
            <p:nvPr/>
          </p:nvGrpSpPr>
          <p:grpSpPr bwMode="auto">
            <a:xfrm>
              <a:off x="3771" y="1442"/>
              <a:ext cx="197" cy="252"/>
              <a:chOff x="2957" y="2429"/>
              <a:chExt cx="200" cy="252"/>
            </a:xfrm>
          </p:grpSpPr>
          <p:sp>
            <p:nvSpPr>
              <p:cNvPr id="457786" name="Rectangle 58"/>
              <p:cNvSpPr>
                <a:spLocks noChangeArrowheads="1"/>
              </p:cNvSpPr>
              <p:nvPr/>
            </p:nvSpPr>
            <p:spPr bwMode="auto">
              <a:xfrm>
                <a:off x="2982" y="2490"/>
                <a:ext cx="144" cy="132"/>
              </a:xfrm>
              <a:prstGeom prst="rect">
                <a:avLst/>
              </a:prstGeom>
              <a:solidFill>
                <a:schemeClr va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57787" name="Text Box 59"/>
              <p:cNvSpPr txBox="1">
                <a:spLocks noChangeArrowheads="1"/>
              </p:cNvSpPr>
              <p:nvPr/>
            </p:nvSpPr>
            <p:spPr bwMode="auto">
              <a:xfrm>
                <a:off x="2957" y="2429"/>
                <a:ext cx="200" cy="25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de-DE" sz="2000"/>
                  <a:t>v</a:t>
                </a:r>
                <a:endParaRPr lang="de-DE" sz="2400">
                  <a:latin typeface="Times New Roman" pitchFamily="18" charset="0"/>
                </a:endParaRPr>
              </a:p>
            </p:txBody>
          </p:sp>
        </p:grpSp>
        <p:grpSp>
          <p:nvGrpSpPr>
            <p:cNvPr id="457788" name="Group 60"/>
            <p:cNvGrpSpPr>
              <a:grpSpLocks/>
            </p:cNvGrpSpPr>
            <p:nvPr/>
          </p:nvGrpSpPr>
          <p:grpSpPr bwMode="auto">
            <a:xfrm>
              <a:off x="5022" y="1760"/>
              <a:ext cx="219" cy="288"/>
              <a:chOff x="2946" y="2399"/>
              <a:chExt cx="221" cy="288"/>
            </a:xfrm>
          </p:grpSpPr>
          <p:sp>
            <p:nvSpPr>
              <p:cNvPr id="457789" name="Rectangle 61"/>
              <p:cNvSpPr>
                <a:spLocks noChangeArrowheads="1"/>
              </p:cNvSpPr>
              <p:nvPr/>
            </p:nvSpPr>
            <p:spPr bwMode="auto">
              <a:xfrm>
                <a:off x="2982" y="2490"/>
                <a:ext cx="144" cy="132"/>
              </a:xfrm>
              <a:prstGeom prst="rect">
                <a:avLst/>
              </a:prstGeom>
              <a:solidFill>
                <a:schemeClr va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57790" name="Text Box 62"/>
              <p:cNvSpPr txBox="1">
                <a:spLocks noChangeArrowheads="1"/>
              </p:cNvSpPr>
              <p:nvPr/>
            </p:nvSpPr>
            <p:spPr bwMode="auto">
              <a:xfrm>
                <a:off x="2946" y="2399"/>
                <a:ext cx="221"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de-DE" sz="2400" b="1">
                    <a:solidFill>
                      <a:srgbClr val="FF0000"/>
                    </a:solidFill>
                  </a:rPr>
                  <a:t>z</a:t>
                </a:r>
              </a:p>
            </p:txBody>
          </p:sp>
        </p:grpSp>
        <p:sp>
          <p:nvSpPr>
            <p:cNvPr id="457791" name="Text Box 63"/>
            <p:cNvSpPr txBox="1">
              <a:spLocks noChangeArrowheads="1"/>
            </p:cNvSpPr>
            <p:nvPr/>
          </p:nvSpPr>
          <p:spPr bwMode="auto">
            <a:xfrm>
              <a:off x="3489" y="1571"/>
              <a:ext cx="204"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de-DE"/>
                <a:t>2</a:t>
              </a:r>
              <a:endParaRPr lang="de-DE" sz="2400">
                <a:latin typeface="Times New Roman" pitchFamily="18" charset="0"/>
              </a:endParaRPr>
            </a:p>
          </p:txBody>
        </p:sp>
        <p:sp>
          <p:nvSpPr>
            <p:cNvPr id="457792" name="Text Box 64"/>
            <p:cNvSpPr txBox="1">
              <a:spLocks noChangeArrowheads="1"/>
            </p:cNvSpPr>
            <p:nvPr/>
          </p:nvSpPr>
          <p:spPr bwMode="auto">
            <a:xfrm>
              <a:off x="3837" y="1790"/>
              <a:ext cx="204"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de-DE"/>
                <a:t>2</a:t>
              </a:r>
              <a:endParaRPr lang="de-DE" sz="2400">
                <a:latin typeface="Times New Roman" pitchFamily="18" charset="0"/>
              </a:endParaRPr>
            </a:p>
          </p:txBody>
        </p:sp>
        <p:sp>
          <p:nvSpPr>
            <p:cNvPr id="457793" name="Text Box 65"/>
            <p:cNvSpPr txBox="1">
              <a:spLocks noChangeArrowheads="1"/>
            </p:cNvSpPr>
            <p:nvPr/>
          </p:nvSpPr>
          <p:spPr bwMode="auto">
            <a:xfrm>
              <a:off x="3405" y="2003"/>
              <a:ext cx="197" cy="23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de-DE"/>
                <a:t>1</a:t>
              </a:r>
              <a:endParaRPr lang="de-DE" sz="2400">
                <a:latin typeface="Times New Roman" pitchFamily="18" charset="0"/>
              </a:endParaRPr>
            </a:p>
          </p:txBody>
        </p:sp>
        <p:sp>
          <p:nvSpPr>
            <p:cNvPr id="457794" name="Text Box 66"/>
            <p:cNvSpPr txBox="1">
              <a:spLocks noChangeArrowheads="1"/>
            </p:cNvSpPr>
            <p:nvPr/>
          </p:nvSpPr>
          <p:spPr bwMode="auto">
            <a:xfrm>
              <a:off x="4221" y="1883"/>
              <a:ext cx="204"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de-DE"/>
                <a:t>3</a:t>
              </a:r>
              <a:endParaRPr lang="de-DE" sz="2400">
                <a:latin typeface="Times New Roman" pitchFamily="18" charset="0"/>
              </a:endParaRPr>
            </a:p>
          </p:txBody>
        </p:sp>
        <p:sp>
          <p:nvSpPr>
            <p:cNvPr id="457795" name="Text Box 67"/>
            <p:cNvSpPr txBox="1">
              <a:spLocks noChangeArrowheads="1"/>
            </p:cNvSpPr>
            <p:nvPr/>
          </p:nvSpPr>
          <p:spPr bwMode="auto">
            <a:xfrm>
              <a:off x="4161" y="2237"/>
              <a:ext cx="197" cy="23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de-DE"/>
                <a:t>1</a:t>
              </a:r>
              <a:endParaRPr lang="de-DE" sz="2400">
                <a:latin typeface="Times New Roman" pitchFamily="18" charset="0"/>
              </a:endParaRPr>
            </a:p>
          </p:txBody>
        </p:sp>
        <p:sp>
          <p:nvSpPr>
            <p:cNvPr id="457796" name="Text Box 68"/>
            <p:cNvSpPr txBox="1">
              <a:spLocks noChangeArrowheads="1"/>
            </p:cNvSpPr>
            <p:nvPr/>
          </p:nvSpPr>
          <p:spPr bwMode="auto">
            <a:xfrm>
              <a:off x="4521" y="1808"/>
              <a:ext cx="197" cy="23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de-DE"/>
                <a:t>1</a:t>
              </a:r>
              <a:endParaRPr lang="de-DE" sz="2400">
                <a:latin typeface="Times New Roman" pitchFamily="18" charset="0"/>
              </a:endParaRPr>
            </a:p>
          </p:txBody>
        </p:sp>
        <p:sp>
          <p:nvSpPr>
            <p:cNvPr id="457797" name="Text Box 69"/>
            <p:cNvSpPr txBox="1">
              <a:spLocks noChangeArrowheads="1"/>
            </p:cNvSpPr>
            <p:nvPr/>
          </p:nvSpPr>
          <p:spPr bwMode="auto">
            <a:xfrm>
              <a:off x="4878" y="2072"/>
              <a:ext cx="204"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de-DE"/>
                <a:t>2</a:t>
              </a:r>
              <a:endParaRPr lang="de-DE" sz="2400">
                <a:latin typeface="Times New Roman" pitchFamily="18" charset="0"/>
              </a:endParaRPr>
            </a:p>
          </p:txBody>
        </p:sp>
        <p:sp>
          <p:nvSpPr>
            <p:cNvPr id="457798" name="Text Box 70"/>
            <p:cNvSpPr txBox="1">
              <a:spLocks noChangeArrowheads="1"/>
            </p:cNvSpPr>
            <p:nvPr/>
          </p:nvSpPr>
          <p:spPr bwMode="auto">
            <a:xfrm>
              <a:off x="4851" y="1535"/>
              <a:ext cx="204"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de-DE"/>
                <a:t>5</a:t>
              </a:r>
              <a:endParaRPr lang="de-DE" sz="2400">
                <a:latin typeface="Times New Roman" pitchFamily="18" charset="0"/>
              </a:endParaRPr>
            </a:p>
          </p:txBody>
        </p:sp>
        <p:sp>
          <p:nvSpPr>
            <p:cNvPr id="457799" name="Text Box 71"/>
            <p:cNvSpPr txBox="1">
              <a:spLocks noChangeArrowheads="1"/>
            </p:cNvSpPr>
            <p:nvPr/>
          </p:nvSpPr>
          <p:spPr bwMode="auto">
            <a:xfrm>
              <a:off x="4116" y="1385"/>
              <a:ext cx="204"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de-DE"/>
                <a:t>3</a:t>
              </a:r>
              <a:endParaRPr lang="de-DE" sz="2400">
                <a:latin typeface="Times New Roman" pitchFamily="18" charset="0"/>
              </a:endParaRPr>
            </a:p>
          </p:txBody>
        </p:sp>
        <p:sp>
          <p:nvSpPr>
            <p:cNvPr id="457800" name="Text Box 72"/>
            <p:cNvSpPr txBox="1">
              <a:spLocks noChangeArrowheads="1"/>
            </p:cNvSpPr>
            <p:nvPr/>
          </p:nvSpPr>
          <p:spPr bwMode="auto">
            <a:xfrm>
              <a:off x="3765" y="1118"/>
              <a:ext cx="204"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de-DE"/>
                <a:t>5</a:t>
              </a:r>
              <a:endParaRPr lang="de-DE" sz="2400">
                <a:latin typeface="Times New Roman" pitchFamily="18" charset="0"/>
              </a:endParaRPr>
            </a:p>
          </p:txBody>
        </p:sp>
      </p:grpSp>
      <p:sp>
        <p:nvSpPr>
          <p:cNvPr id="457801" name="Text Box 73"/>
          <p:cNvSpPr txBox="1">
            <a:spLocks noChangeArrowheads="1"/>
          </p:cNvSpPr>
          <p:nvPr/>
        </p:nvSpPr>
        <p:spPr bwMode="auto">
          <a:xfrm>
            <a:off x="4499992" y="1196752"/>
            <a:ext cx="4399854" cy="35548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274320" indent="-274320">
              <a:spcBef>
                <a:spcPts val="600"/>
              </a:spcBef>
              <a:buClr>
                <a:srgbClr val="53548A"/>
              </a:buClr>
              <a:buSzPct val="76000"/>
              <a:buFont typeface="Wingdings 3"/>
              <a:buChar char=""/>
            </a:pPr>
            <a:r>
              <a:rPr lang="de-DE" sz="2400" b="1" dirty="0">
                <a:solidFill>
                  <a:srgbClr val="FF0000"/>
                </a:solidFill>
              </a:rPr>
              <a:t>c</a:t>
            </a:r>
            <a:r>
              <a:rPr lang="de-DE" sz="2400" dirty="0">
                <a:solidFill>
                  <a:prstClr val="black"/>
                </a:solidFill>
              </a:rPr>
              <a:t>(x,x’) = </a:t>
            </a:r>
            <a:r>
              <a:rPr lang="de-DE" sz="2400" b="1" dirty="0">
                <a:solidFill>
                  <a:srgbClr val="FF0000"/>
                </a:solidFill>
              </a:rPr>
              <a:t>Kosten der Übertragung </a:t>
            </a:r>
            <a:r>
              <a:rPr lang="de-DE" sz="2400" dirty="0">
                <a:solidFill>
                  <a:srgbClr val="000000"/>
                </a:solidFill>
              </a:rPr>
              <a:t>(bzw. Leitung)</a:t>
            </a:r>
            <a:r>
              <a:rPr lang="de-DE" sz="2400" b="1" dirty="0">
                <a:solidFill>
                  <a:srgbClr val="FF0000"/>
                </a:solidFill>
              </a:rPr>
              <a:t> </a:t>
            </a:r>
            <a:r>
              <a:rPr lang="de-DE" sz="2400" dirty="0">
                <a:solidFill>
                  <a:prstClr val="black"/>
                </a:solidFill>
              </a:rPr>
              <a:t>von x zu x’</a:t>
            </a:r>
          </a:p>
          <a:p>
            <a:pPr marL="731520" lvl="1" indent="-274320">
              <a:spcBef>
                <a:spcPts val="600"/>
              </a:spcBef>
              <a:buClr>
                <a:srgbClr val="53548A"/>
              </a:buClr>
              <a:buSzPct val="76000"/>
              <a:buFont typeface="Wingdings 3"/>
              <a:buChar char=""/>
            </a:pPr>
            <a:r>
              <a:rPr lang="de-DE" sz="2000" dirty="0">
                <a:solidFill>
                  <a:prstClr val="black"/>
                </a:solidFill>
              </a:rPr>
              <a:t>Z.B. c(w,z) = 5</a:t>
            </a:r>
            <a:endParaRPr lang="de-DE" dirty="0"/>
          </a:p>
          <a:p>
            <a:pPr marL="274320" indent="-274320">
              <a:spcBef>
                <a:spcPts val="600"/>
              </a:spcBef>
              <a:buClr>
                <a:srgbClr val="53548A"/>
              </a:buClr>
              <a:buSzPct val="76000"/>
              <a:buFont typeface="Wingdings 3"/>
              <a:buChar char=""/>
            </a:pPr>
            <a:r>
              <a:rPr lang="de-DE" sz="2400" b="1" dirty="0">
                <a:solidFill>
                  <a:srgbClr val="FF0000"/>
                </a:solidFill>
              </a:rPr>
              <a:t>Kosten</a:t>
            </a:r>
            <a:r>
              <a:rPr lang="de-DE" sz="2400" dirty="0">
                <a:solidFill>
                  <a:srgbClr val="FF0000"/>
                </a:solidFill>
              </a:rPr>
              <a:t> </a:t>
            </a:r>
            <a:r>
              <a:rPr lang="de-DE" sz="2400" dirty="0">
                <a:solidFill>
                  <a:prstClr val="black"/>
                </a:solidFill>
              </a:rPr>
              <a:t>könnten sein:</a:t>
            </a:r>
          </a:p>
          <a:p>
            <a:pPr marL="731520" lvl="1" indent="-274320">
              <a:spcBef>
                <a:spcPts val="600"/>
              </a:spcBef>
              <a:buClr>
                <a:srgbClr val="53548A"/>
              </a:buClr>
              <a:buSzPct val="76000"/>
              <a:buFont typeface="Wingdings 3"/>
              <a:buChar char=""/>
            </a:pPr>
            <a:r>
              <a:rPr lang="de-DE" sz="2000" dirty="0">
                <a:solidFill>
                  <a:prstClr val="black"/>
                </a:solidFill>
              </a:rPr>
              <a:t>Immer 1</a:t>
            </a:r>
          </a:p>
          <a:p>
            <a:pPr marL="731520" lvl="1" indent="-274320">
              <a:spcBef>
                <a:spcPts val="600"/>
              </a:spcBef>
              <a:buClr>
                <a:srgbClr val="53548A"/>
              </a:buClr>
              <a:buSzPct val="76000"/>
              <a:buFont typeface="Wingdings 3"/>
              <a:buChar char=""/>
            </a:pPr>
            <a:r>
              <a:rPr lang="de-DE" sz="2000" dirty="0">
                <a:solidFill>
                  <a:prstClr val="black"/>
                </a:solidFill>
              </a:rPr>
              <a:t>Proportional zur Überlastung</a:t>
            </a:r>
          </a:p>
          <a:p>
            <a:pPr marL="731520" lvl="1" indent="-274320">
              <a:spcBef>
                <a:spcPts val="600"/>
              </a:spcBef>
              <a:buClr>
                <a:srgbClr val="53548A"/>
              </a:buClr>
              <a:buSzPct val="76000"/>
              <a:buFont typeface="Wingdings 3"/>
              <a:buChar char=""/>
            </a:pPr>
            <a:r>
              <a:rPr lang="de-DE" sz="2000" dirty="0">
                <a:solidFill>
                  <a:prstClr val="black"/>
                </a:solidFill>
              </a:rPr>
              <a:t>Umgekehrt-Proportional zur Bandbreite</a:t>
            </a:r>
          </a:p>
        </p:txBody>
      </p:sp>
      <p:sp>
        <p:nvSpPr>
          <p:cNvPr id="457802" name="Text Box 74"/>
          <p:cNvSpPr txBox="1">
            <a:spLocks noChangeArrowheads="1"/>
          </p:cNvSpPr>
          <p:nvPr/>
        </p:nvSpPr>
        <p:spPr bwMode="auto">
          <a:xfrm>
            <a:off x="467544" y="4725144"/>
            <a:ext cx="822853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de-DE" sz="2000" dirty="0">
                <a:solidFill>
                  <a:srgbClr val="FF0000"/>
                </a:solidFill>
              </a:rPr>
              <a:t>Kosten des Pfads (x</a:t>
            </a:r>
            <a:r>
              <a:rPr lang="de-DE" sz="2000" baseline="-25000" dirty="0">
                <a:solidFill>
                  <a:srgbClr val="FF0000"/>
                </a:solidFill>
              </a:rPr>
              <a:t>1</a:t>
            </a:r>
            <a:r>
              <a:rPr lang="de-DE" sz="2000" dirty="0">
                <a:solidFill>
                  <a:srgbClr val="FF0000"/>
                </a:solidFill>
              </a:rPr>
              <a:t>, x</a:t>
            </a:r>
            <a:r>
              <a:rPr lang="de-DE" sz="2000" baseline="-25000" dirty="0">
                <a:solidFill>
                  <a:srgbClr val="FF0000"/>
                </a:solidFill>
              </a:rPr>
              <a:t>2</a:t>
            </a:r>
            <a:r>
              <a:rPr lang="de-DE" sz="2000" dirty="0">
                <a:solidFill>
                  <a:srgbClr val="FF0000"/>
                </a:solidFill>
              </a:rPr>
              <a:t>, x</a:t>
            </a:r>
            <a:r>
              <a:rPr lang="de-DE" sz="2000" baseline="-25000" dirty="0">
                <a:solidFill>
                  <a:srgbClr val="FF0000"/>
                </a:solidFill>
              </a:rPr>
              <a:t>3</a:t>
            </a:r>
            <a:r>
              <a:rPr lang="de-DE" sz="2000" dirty="0">
                <a:solidFill>
                  <a:srgbClr val="FF0000"/>
                </a:solidFill>
              </a:rPr>
              <a:t>,…, x</a:t>
            </a:r>
            <a:r>
              <a:rPr lang="de-DE" sz="2000" baseline="-25000" dirty="0">
                <a:solidFill>
                  <a:srgbClr val="FF0000"/>
                </a:solidFill>
              </a:rPr>
              <a:t>p</a:t>
            </a:r>
            <a:r>
              <a:rPr lang="de-DE" sz="2000" dirty="0">
                <a:solidFill>
                  <a:srgbClr val="FF0000"/>
                </a:solidFill>
              </a:rPr>
              <a:t>) </a:t>
            </a:r>
            <a:r>
              <a:rPr lang="de-DE" sz="2000" dirty="0"/>
              <a:t>:= c(x</a:t>
            </a:r>
            <a:r>
              <a:rPr lang="de-DE" sz="2000" baseline="-25000" dirty="0"/>
              <a:t>1</a:t>
            </a:r>
            <a:r>
              <a:rPr lang="de-DE" sz="2000" dirty="0"/>
              <a:t>,x</a:t>
            </a:r>
            <a:r>
              <a:rPr lang="de-DE" sz="2000" baseline="-25000" dirty="0"/>
              <a:t>2</a:t>
            </a:r>
            <a:r>
              <a:rPr lang="de-DE" sz="2000" dirty="0"/>
              <a:t>) + c(x</a:t>
            </a:r>
            <a:r>
              <a:rPr lang="de-DE" sz="2000" baseline="-25000" dirty="0"/>
              <a:t>2</a:t>
            </a:r>
            <a:r>
              <a:rPr lang="de-DE" sz="2000" dirty="0"/>
              <a:t>,x</a:t>
            </a:r>
            <a:r>
              <a:rPr lang="de-DE" sz="2000" baseline="-25000" dirty="0"/>
              <a:t>3</a:t>
            </a:r>
            <a:r>
              <a:rPr lang="de-DE" sz="2000" dirty="0"/>
              <a:t>) + … + c(x</a:t>
            </a:r>
            <a:r>
              <a:rPr lang="de-DE" sz="2000" baseline="-25000" dirty="0"/>
              <a:t>p-1</a:t>
            </a:r>
            <a:r>
              <a:rPr lang="de-DE" sz="2000" dirty="0"/>
              <a:t>,x</a:t>
            </a:r>
            <a:r>
              <a:rPr lang="de-DE" sz="2000" baseline="-25000" dirty="0"/>
              <a:t>p</a:t>
            </a:r>
            <a:r>
              <a:rPr lang="de-DE" sz="2000" dirty="0"/>
              <a:t>)  </a:t>
            </a:r>
          </a:p>
        </p:txBody>
      </p:sp>
      <p:sp>
        <p:nvSpPr>
          <p:cNvPr id="457803" name="Text Box 75"/>
          <p:cNvSpPr txBox="1">
            <a:spLocks noChangeArrowheads="1"/>
          </p:cNvSpPr>
          <p:nvPr/>
        </p:nvSpPr>
        <p:spPr bwMode="auto">
          <a:xfrm>
            <a:off x="539552" y="5229200"/>
            <a:ext cx="8247771" cy="400110"/>
          </a:xfrm>
          <a:prstGeom prst="rect">
            <a:avLst/>
          </a:prstGeom>
          <a:ln>
            <a:headEnd/>
            <a:tailEnd/>
          </a:ln>
        </p:spPr>
        <p:style>
          <a:lnRef idx="1">
            <a:schemeClr val="accent4"/>
          </a:lnRef>
          <a:fillRef idx="2">
            <a:schemeClr val="accent4"/>
          </a:fillRef>
          <a:effectRef idx="1">
            <a:schemeClr val="accent4"/>
          </a:effectRef>
          <a:fontRef idx="minor">
            <a:schemeClr val="dk1"/>
          </a:fontRef>
        </p:style>
        <p:txBody>
          <a:bodyPr wrap="none">
            <a:spAutoFit/>
          </a:bodyPr>
          <a:lstStyle/>
          <a:p>
            <a:r>
              <a:rPr lang="de-DE" sz="2000" dirty="0"/>
              <a:t>Routing-Problem: Was ist der kostengünstigste Pfad zwischen u und z?</a:t>
            </a:r>
          </a:p>
        </p:txBody>
      </p:sp>
      <p:sp>
        <p:nvSpPr>
          <p:cNvPr id="457804" name="Text Box 76"/>
          <p:cNvSpPr txBox="1">
            <a:spLocks noChangeArrowheads="1"/>
          </p:cNvSpPr>
          <p:nvPr/>
        </p:nvSpPr>
        <p:spPr bwMode="auto">
          <a:xfrm>
            <a:off x="719572" y="5842968"/>
            <a:ext cx="7704856" cy="830997"/>
          </a:xfrm>
          <a:prstGeom prst="rect">
            <a:avLst/>
          </a:prstGeom>
          <a:ln>
            <a:headEnd/>
            <a:tailEnd/>
          </a:ln>
        </p:spPr>
        <p:style>
          <a:lnRef idx="3">
            <a:schemeClr val="lt1"/>
          </a:lnRef>
          <a:fillRef idx="1">
            <a:schemeClr val="accent1"/>
          </a:fillRef>
          <a:effectRef idx="1">
            <a:schemeClr val="accent1"/>
          </a:effectRef>
          <a:fontRef idx="minor">
            <a:schemeClr val="lt1"/>
          </a:fontRef>
        </p:style>
        <p:txBody>
          <a:bodyPr wrap="square">
            <a:spAutoFit/>
          </a:bodyPr>
          <a:lstStyle/>
          <a:p>
            <a:pPr algn="ctr"/>
            <a:r>
              <a:rPr lang="de-DE" sz="2400" dirty="0"/>
              <a:t>Routing-Algorithmus: </a:t>
            </a:r>
            <a:br>
              <a:rPr lang="de-DE" sz="2400" dirty="0"/>
            </a:br>
            <a:r>
              <a:rPr lang="de-DE" sz="2400" dirty="0"/>
              <a:t>Algorithmus, der kosten-günstigste Pfade bestimmt</a:t>
            </a:r>
          </a:p>
        </p:txBody>
      </p:sp>
    </p:spTree>
    <p:extLst>
      <p:ext uri="{BB962C8B-B14F-4D97-AF65-F5344CB8AC3E}">
        <p14:creationId xmlns:p14="http://schemas.microsoft.com/office/powerpoint/2010/main" val="8033054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57803"/>
                                        </p:tgtEl>
                                        <p:attrNameLst>
                                          <p:attrName>style.visibility</p:attrName>
                                        </p:attrNameLst>
                                      </p:cBhvr>
                                      <p:to>
                                        <p:strVal val="visible"/>
                                      </p:to>
                                    </p:set>
                                    <p:animEffect transition="in" filter="fade">
                                      <p:cBhvr>
                                        <p:cTn id="7" dur="500"/>
                                        <p:tgtEl>
                                          <p:spTgt spid="45780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57804"/>
                                        </p:tgtEl>
                                        <p:attrNameLst>
                                          <p:attrName>style.visibility</p:attrName>
                                        </p:attrNameLst>
                                      </p:cBhvr>
                                      <p:to>
                                        <p:strVal val="visible"/>
                                      </p:to>
                                    </p:set>
                                    <p:animEffect transition="in" filter="fade">
                                      <p:cBhvr>
                                        <p:cTn id="12" dur="500"/>
                                        <p:tgtEl>
                                          <p:spTgt spid="45780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7803" grpId="0" animBg="1"/>
      <p:bldP spid="457804"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1826" name="Rectangle 2"/>
          <p:cNvSpPr>
            <a:spLocks noGrp="1" noChangeArrowheads="1"/>
          </p:cNvSpPr>
          <p:nvPr>
            <p:ph type="title"/>
          </p:nvPr>
        </p:nvSpPr>
        <p:spPr/>
        <p:txBody>
          <a:bodyPr>
            <a:normAutofit/>
          </a:bodyPr>
          <a:lstStyle/>
          <a:p>
            <a:r>
              <a:rPr lang="de-DE" sz="3600"/>
              <a:t>Klassifikation von Routing-Algorithmen</a:t>
            </a:r>
            <a:endParaRPr lang="de-DE"/>
          </a:p>
        </p:txBody>
      </p:sp>
      <p:sp>
        <p:nvSpPr>
          <p:cNvPr id="6" name="Slide Number Placeholder 6"/>
          <p:cNvSpPr>
            <a:spLocks noGrp="1"/>
          </p:cNvSpPr>
          <p:nvPr>
            <p:ph type="sldNum" sz="quarter" idx="12"/>
          </p:nvPr>
        </p:nvSpPr>
        <p:spPr/>
        <p:txBody>
          <a:bodyPr/>
          <a:lstStyle/>
          <a:p>
            <a:fld id="{CB3F382A-096F-4633-8ECC-07FDD627BF97}" type="slidenum">
              <a:rPr lang="de-DE" smtClean="0"/>
              <a:pPr/>
              <a:t>25</a:t>
            </a:fld>
            <a:endParaRPr lang="de-DE"/>
          </a:p>
        </p:txBody>
      </p:sp>
      <p:sp>
        <p:nvSpPr>
          <p:cNvPr id="461827" name="Rectangle 3"/>
          <p:cNvSpPr>
            <a:spLocks noGrp="1" noChangeArrowheads="1"/>
          </p:cNvSpPr>
          <p:nvPr>
            <p:ph sz="quarter" idx="1"/>
          </p:nvPr>
        </p:nvSpPr>
        <p:spPr>
          <a:xfrm>
            <a:off x="457200" y="1219200"/>
            <a:ext cx="4041648" cy="5638800"/>
          </a:xfrm>
        </p:spPr>
        <p:txBody>
          <a:bodyPr>
            <a:normAutofit fontScale="92500" lnSpcReduction="10000"/>
          </a:bodyPr>
          <a:lstStyle/>
          <a:p>
            <a:r>
              <a:rPr lang="de-DE" dirty="0">
                <a:solidFill>
                  <a:srgbClr val="FF0000"/>
                </a:solidFill>
              </a:rPr>
              <a:t>Globale or dezentrale Information?</a:t>
            </a:r>
            <a:endParaRPr lang="de-DE" dirty="0"/>
          </a:p>
          <a:p>
            <a:pPr>
              <a:buFont typeface="ZapfDingbats" pitchFamily="82" charset="2"/>
              <a:buNone/>
            </a:pPr>
            <a:r>
              <a:rPr lang="de-DE" u="sng" dirty="0">
                <a:solidFill>
                  <a:srgbClr val="0070C0"/>
                </a:solidFill>
              </a:rPr>
              <a:t>Global:</a:t>
            </a:r>
          </a:p>
          <a:p>
            <a:r>
              <a:rPr lang="de-DE" sz="2000" dirty="0"/>
              <a:t>Alle Router </a:t>
            </a:r>
            <a:r>
              <a:rPr lang="de-DE" sz="2000" dirty="0">
                <a:solidFill>
                  <a:srgbClr val="0070C0"/>
                </a:solidFill>
              </a:rPr>
              <a:t>kennen die komplette Topologie und die Kosten der Leitungen</a:t>
            </a:r>
            <a:r>
              <a:rPr lang="de-DE" sz="2000" dirty="0"/>
              <a:t> (links)</a:t>
            </a:r>
          </a:p>
          <a:p>
            <a:r>
              <a:rPr lang="de-DE" sz="2000" dirty="0"/>
              <a:t>“</a:t>
            </a:r>
            <a:r>
              <a:rPr lang="de-DE" sz="2000" b="1" dirty="0"/>
              <a:t>Link-State</a:t>
            </a:r>
            <a:r>
              <a:rPr lang="de-DE" sz="2000" dirty="0"/>
              <a:t>”-Algorithmen</a:t>
            </a:r>
          </a:p>
          <a:p>
            <a:pPr>
              <a:buFont typeface="ZapfDingbats" pitchFamily="82" charset="2"/>
              <a:buNone/>
            </a:pPr>
            <a:r>
              <a:rPr lang="de-DE" u="sng" dirty="0">
                <a:solidFill>
                  <a:srgbClr val="0070C0"/>
                </a:solidFill>
              </a:rPr>
              <a:t>Dezentral: </a:t>
            </a:r>
          </a:p>
          <a:p>
            <a:r>
              <a:rPr lang="de-DE" sz="2000" dirty="0"/>
              <a:t>Router </a:t>
            </a:r>
            <a:r>
              <a:rPr lang="de-DE" sz="2000" dirty="0">
                <a:solidFill>
                  <a:srgbClr val="0070C0"/>
                </a:solidFill>
              </a:rPr>
              <a:t>kennen nur die Router, mit denen sie direkt verbunden sind</a:t>
            </a:r>
            <a:r>
              <a:rPr lang="de-DE" sz="2000" dirty="0"/>
              <a:t> (und die Kosten der jeweiligen Leitungen)  </a:t>
            </a:r>
          </a:p>
          <a:p>
            <a:r>
              <a:rPr lang="de-DE" sz="2000" dirty="0"/>
              <a:t>Kostenberechnung ist ein iterativer Prozess mit Datenaustausch zwischen den Nachbarn </a:t>
            </a:r>
          </a:p>
          <a:p>
            <a:r>
              <a:rPr lang="de-DE" sz="2000" dirty="0"/>
              <a:t>“</a:t>
            </a:r>
            <a:r>
              <a:rPr lang="de-DE" sz="2000" b="1" dirty="0"/>
              <a:t>Distanzvektor</a:t>
            </a:r>
            <a:r>
              <a:rPr lang="de-DE" sz="2000" dirty="0"/>
              <a:t>”-Algorithmen </a:t>
            </a:r>
          </a:p>
        </p:txBody>
      </p:sp>
      <p:sp>
        <p:nvSpPr>
          <p:cNvPr id="461828" name="Rectangle 4"/>
          <p:cNvSpPr>
            <a:spLocks noGrp="1" noChangeArrowheads="1"/>
          </p:cNvSpPr>
          <p:nvPr>
            <p:ph sz="quarter" idx="2"/>
          </p:nvPr>
        </p:nvSpPr>
        <p:spPr>
          <a:xfrm>
            <a:off x="4632198" y="1216152"/>
            <a:ext cx="4041648" cy="5165176"/>
          </a:xfrm>
        </p:spPr>
        <p:txBody>
          <a:bodyPr>
            <a:normAutofit fontScale="92500" lnSpcReduction="10000"/>
          </a:bodyPr>
          <a:lstStyle/>
          <a:p>
            <a:r>
              <a:rPr lang="de-DE" dirty="0">
                <a:solidFill>
                  <a:srgbClr val="FF0000"/>
                </a:solidFill>
              </a:rPr>
              <a:t>Statische oder dynamische Algorithmen? </a:t>
            </a:r>
          </a:p>
          <a:p>
            <a:r>
              <a:rPr lang="de-DE" u="sng" dirty="0">
                <a:solidFill>
                  <a:srgbClr val="0070C0"/>
                </a:solidFill>
              </a:rPr>
              <a:t>Statisch: </a:t>
            </a:r>
          </a:p>
          <a:p>
            <a:pPr lvl="1"/>
            <a:r>
              <a:rPr lang="de-DE" sz="2100" dirty="0"/>
              <a:t>Routing-Pfade ändern sich langsam mit der Zeit</a:t>
            </a:r>
          </a:p>
          <a:p>
            <a:r>
              <a:rPr lang="de-DE" u="sng" dirty="0">
                <a:solidFill>
                  <a:srgbClr val="0070C0"/>
                </a:solidFill>
              </a:rPr>
              <a:t>Dynamisch:</a:t>
            </a:r>
          </a:p>
          <a:p>
            <a:pPr lvl="1"/>
            <a:r>
              <a:rPr lang="de-DE" sz="2200" dirty="0"/>
              <a:t>Routing-Pfade ändern sich häufig</a:t>
            </a:r>
          </a:p>
          <a:p>
            <a:pPr lvl="1"/>
            <a:r>
              <a:rPr lang="de-DE" dirty="0"/>
              <a:t>Periodische Aktualisierungen nötig</a:t>
            </a:r>
          </a:p>
          <a:p>
            <a:pPr lvl="1"/>
            <a:r>
              <a:rPr lang="de-DE" dirty="0"/>
              <a:t>Subkategorie von dynamisch:</a:t>
            </a:r>
          </a:p>
          <a:p>
            <a:pPr lvl="2"/>
            <a:r>
              <a:rPr lang="de-DE" b="1" dirty="0"/>
              <a:t>Lastsensitive</a:t>
            </a:r>
            <a:r>
              <a:rPr lang="de-DE" dirty="0"/>
              <a:t> bzw. </a:t>
            </a:r>
            <a:r>
              <a:rPr lang="de-DE" b="1" dirty="0" err="1"/>
              <a:t>lastinsensitive</a:t>
            </a:r>
            <a:r>
              <a:rPr lang="de-DE" dirty="0"/>
              <a:t> Algorithmen</a:t>
            </a:r>
          </a:p>
        </p:txBody>
      </p:sp>
    </p:spTree>
    <p:extLst>
      <p:ext uri="{BB962C8B-B14F-4D97-AF65-F5344CB8AC3E}">
        <p14:creationId xmlns:p14="http://schemas.microsoft.com/office/powerpoint/2010/main" val="114276225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nummernplatzhalter 1"/>
          <p:cNvSpPr>
            <a:spLocks noGrp="1"/>
          </p:cNvSpPr>
          <p:nvPr>
            <p:ph type="sldNum" sz="quarter" idx="12"/>
          </p:nvPr>
        </p:nvSpPr>
        <p:spPr/>
        <p:txBody>
          <a:bodyPr/>
          <a:lstStyle/>
          <a:p>
            <a:fld id="{6C6AE60A-B69C-4790-82F7-3882EDF23186}" type="slidenum">
              <a:rPr lang="de-DE" smtClean="0"/>
              <a:pPr/>
              <a:t>26</a:t>
            </a:fld>
            <a:endParaRPr lang="de-DE" dirty="0"/>
          </a:p>
        </p:txBody>
      </p:sp>
      <p:sp>
        <p:nvSpPr>
          <p:cNvPr id="3" name="Titel 2"/>
          <p:cNvSpPr>
            <a:spLocks noGrp="1"/>
          </p:cNvSpPr>
          <p:nvPr>
            <p:ph type="title"/>
          </p:nvPr>
        </p:nvSpPr>
        <p:spPr>
          <a:xfrm>
            <a:off x="971600" y="2348880"/>
            <a:ext cx="7200800" cy="2376264"/>
          </a:xfrm>
        </p:spPr>
        <p:txBody>
          <a:bodyPr>
            <a:normAutofit/>
          </a:bodyPr>
          <a:lstStyle/>
          <a:p>
            <a:r>
              <a:rPr lang="de-DE" dirty="0"/>
              <a:t>Routingalgorithmen:</a:t>
            </a:r>
            <a:br>
              <a:rPr lang="de-DE" dirty="0"/>
            </a:br>
            <a:r>
              <a:rPr lang="de-DE" dirty="0"/>
              <a:t>Link-State-Algorithmen (LS)</a:t>
            </a:r>
          </a:p>
        </p:txBody>
      </p:sp>
    </p:spTree>
    <p:extLst>
      <p:ext uri="{BB962C8B-B14F-4D97-AF65-F5344CB8AC3E}">
        <p14:creationId xmlns:p14="http://schemas.microsoft.com/office/powerpoint/2010/main" val="335875491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2850" name="Rectangle 2"/>
          <p:cNvSpPr>
            <a:spLocks noGrp="1" noChangeArrowheads="1"/>
          </p:cNvSpPr>
          <p:nvPr>
            <p:ph type="title"/>
          </p:nvPr>
        </p:nvSpPr>
        <p:spPr/>
        <p:txBody>
          <a:bodyPr/>
          <a:lstStyle/>
          <a:p>
            <a:r>
              <a:rPr lang="de-DE" sz="3600" dirty="0"/>
              <a:t>Ein Link-State-Algorithmus </a:t>
            </a:r>
            <a:endParaRPr lang="de-DE" dirty="0"/>
          </a:p>
        </p:txBody>
      </p:sp>
      <p:sp>
        <p:nvSpPr>
          <p:cNvPr id="6" name="Slide Number Placeholder 6"/>
          <p:cNvSpPr>
            <a:spLocks noGrp="1"/>
          </p:cNvSpPr>
          <p:nvPr>
            <p:ph type="sldNum" sz="quarter" idx="12"/>
          </p:nvPr>
        </p:nvSpPr>
        <p:spPr/>
        <p:txBody>
          <a:bodyPr/>
          <a:lstStyle/>
          <a:p>
            <a:fld id="{32CD0181-196A-4E3E-9EF8-1E1182EFA943}" type="slidenum">
              <a:rPr lang="de-DE" smtClean="0"/>
              <a:pPr/>
              <a:t>27</a:t>
            </a:fld>
            <a:endParaRPr lang="de-DE"/>
          </a:p>
        </p:txBody>
      </p:sp>
      <p:sp>
        <p:nvSpPr>
          <p:cNvPr id="462851" name="Rectangle 3"/>
          <p:cNvSpPr>
            <a:spLocks noGrp="1" noChangeArrowheads="1"/>
          </p:cNvSpPr>
          <p:nvPr>
            <p:ph sz="quarter" idx="1"/>
          </p:nvPr>
        </p:nvSpPr>
        <p:spPr>
          <a:xfrm>
            <a:off x="457200" y="1219200"/>
            <a:ext cx="4041648" cy="5450160"/>
          </a:xfrm>
        </p:spPr>
        <p:txBody>
          <a:bodyPr>
            <a:noAutofit/>
          </a:bodyPr>
          <a:lstStyle/>
          <a:p>
            <a:pPr marL="0" indent="0">
              <a:buNone/>
            </a:pPr>
            <a:r>
              <a:rPr lang="de-DE" sz="2800" dirty="0">
                <a:latin typeface="Calibri" panose="020F0502020204030204" pitchFamily="34" charset="0"/>
                <a:cs typeface="Calibri" panose="020F0502020204030204" pitchFamily="34" charset="0"/>
              </a:rPr>
              <a:t>Annahmen:</a:t>
            </a:r>
          </a:p>
          <a:p>
            <a:r>
              <a:rPr lang="de-DE" sz="2400" dirty="0">
                <a:latin typeface="Calibri" panose="020F0502020204030204" pitchFamily="34" charset="0"/>
                <a:cs typeface="Calibri" panose="020F0502020204030204" pitchFamily="34" charset="0"/>
              </a:rPr>
              <a:t>Netzwerktopologie und die Kosten </a:t>
            </a:r>
            <a:r>
              <a:rPr lang="de-DE" sz="2400" u="sng" dirty="0">
                <a:latin typeface="Calibri" panose="020F0502020204030204" pitchFamily="34" charset="0"/>
                <a:cs typeface="Calibri" panose="020F0502020204030204" pitchFamily="34" charset="0"/>
              </a:rPr>
              <a:t>aller</a:t>
            </a:r>
            <a:r>
              <a:rPr lang="de-DE" sz="2400" dirty="0">
                <a:latin typeface="Calibri" panose="020F0502020204030204" pitchFamily="34" charset="0"/>
                <a:cs typeface="Calibri" panose="020F0502020204030204" pitchFamily="34" charset="0"/>
              </a:rPr>
              <a:t> Knoten bekannt </a:t>
            </a:r>
          </a:p>
          <a:p>
            <a:pPr lvl="1"/>
            <a:r>
              <a:rPr lang="de-DE" sz="2200" dirty="0">
                <a:latin typeface="Calibri" panose="020F0502020204030204" pitchFamily="34" charset="0"/>
                <a:cs typeface="Calibri" panose="020F0502020204030204" pitchFamily="34" charset="0"/>
              </a:rPr>
              <a:t>Durch “link </a:t>
            </a:r>
            <a:r>
              <a:rPr lang="de-DE" sz="2200" dirty="0" err="1">
                <a:latin typeface="Calibri" panose="020F0502020204030204" pitchFamily="34" charset="0"/>
                <a:cs typeface="Calibri" panose="020F0502020204030204" pitchFamily="34" charset="0"/>
              </a:rPr>
              <a:t>state</a:t>
            </a:r>
            <a:r>
              <a:rPr lang="de-DE" sz="2200" dirty="0">
                <a:latin typeface="Calibri" panose="020F0502020204030204" pitchFamily="34" charset="0"/>
                <a:cs typeface="Calibri" panose="020F0502020204030204" pitchFamily="34" charset="0"/>
              </a:rPr>
              <a:t> </a:t>
            </a:r>
            <a:r>
              <a:rPr lang="de-DE" sz="2200" dirty="0" err="1">
                <a:latin typeface="Calibri" panose="020F0502020204030204" pitchFamily="34" charset="0"/>
                <a:cs typeface="Calibri" panose="020F0502020204030204" pitchFamily="34" charset="0"/>
              </a:rPr>
              <a:t>broadcast</a:t>
            </a:r>
            <a:r>
              <a:rPr lang="de-DE" sz="2200" dirty="0">
                <a:latin typeface="Calibri" panose="020F0502020204030204" pitchFamily="34" charset="0"/>
                <a:cs typeface="Calibri" panose="020F0502020204030204" pitchFamily="34" charset="0"/>
              </a:rPr>
              <a:t>” </a:t>
            </a:r>
          </a:p>
          <a:p>
            <a:pPr lvl="1"/>
            <a:r>
              <a:rPr lang="de-DE" sz="2200" dirty="0">
                <a:latin typeface="Calibri" panose="020F0502020204030204" pitchFamily="34" charset="0"/>
                <a:cs typeface="Calibri" panose="020F0502020204030204" pitchFamily="34" charset="0"/>
              </a:rPr>
              <a:t>Alle Knoten haben dieselben Informationen</a:t>
            </a:r>
          </a:p>
          <a:p>
            <a:pPr marL="0" indent="0">
              <a:buNone/>
            </a:pPr>
            <a:r>
              <a:rPr lang="de-DE" sz="2800" b="1" dirty="0">
                <a:latin typeface="Calibri" panose="020F0502020204030204" pitchFamily="34" charset="0"/>
                <a:cs typeface="Calibri" panose="020F0502020204030204" pitchFamily="34" charset="0"/>
              </a:rPr>
              <a:t>Dijkstra-Algorithmus</a:t>
            </a:r>
            <a:endParaRPr lang="de-DE" sz="2400" b="1" dirty="0">
              <a:latin typeface="Calibri" panose="020F0502020204030204" pitchFamily="34" charset="0"/>
              <a:cs typeface="Calibri" panose="020F0502020204030204" pitchFamily="34" charset="0"/>
            </a:endParaRPr>
          </a:p>
          <a:p>
            <a:r>
              <a:rPr lang="de-DE" sz="2400" dirty="0">
                <a:latin typeface="Calibri" panose="020F0502020204030204" pitchFamily="34" charset="0"/>
                <a:cs typeface="Calibri" panose="020F0502020204030204" pitchFamily="34" charset="0"/>
              </a:rPr>
              <a:t>Berechnet die kosten-günstigsten Pfade vom </a:t>
            </a:r>
            <a:r>
              <a:rPr lang="de-DE" sz="2400" b="1" dirty="0">
                <a:solidFill>
                  <a:srgbClr val="FF0000"/>
                </a:solidFill>
                <a:latin typeface="Calibri" panose="020F0502020204030204" pitchFamily="34" charset="0"/>
                <a:cs typeface="Calibri" panose="020F0502020204030204" pitchFamily="34" charset="0"/>
              </a:rPr>
              <a:t>Quellknoten u</a:t>
            </a:r>
            <a:r>
              <a:rPr lang="de-DE" sz="2400" dirty="0">
                <a:latin typeface="Calibri" panose="020F0502020204030204" pitchFamily="34" charset="0"/>
                <a:cs typeface="Calibri" panose="020F0502020204030204" pitchFamily="34" charset="0"/>
              </a:rPr>
              <a:t> zu allen a.</a:t>
            </a:r>
          </a:p>
          <a:p>
            <a:r>
              <a:rPr lang="de-DE" sz="2400" dirty="0">
                <a:latin typeface="Calibri" panose="020F0502020204030204" pitchFamily="34" charset="0"/>
                <a:cs typeface="Calibri" panose="020F0502020204030204" pitchFamily="34" charset="0"/>
              </a:rPr>
              <a:t>Erzeugt die Weiterleitungstabelle für den Quellknoten</a:t>
            </a:r>
          </a:p>
        </p:txBody>
      </p:sp>
      <p:sp>
        <p:nvSpPr>
          <p:cNvPr id="462852" name="Rectangle 4"/>
          <p:cNvSpPr>
            <a:spLocks noGrp="1" noChangeArrowheads="1"/>
          </p:cNvSpPr>
          <p:nvPr>
            <p:ph sz="quarter" idx="2"/>
          </p:nvPr>
        </p:nvSpPr>
        <p:spPr>
          <a:xfrm>
            <a:off x="4499992" y="1216152"/>
            <a:ext cx="4260282" cy="5641848"/>
          </a:xfrm>
        </p:spPr>
        <p:txBody>
          <a:bodyPr>
            <a:normAutofit fontScale="85000" lnSpcReduction="20000"/>
          </a:bodyPr>
          <a:lstStyle/>
          <a:p>
            <a:pPr>
              <a:buFont typeface="ZapfDingbats" pitchFamily="82" charset="2"/>
              <a:buNone/>
            </a:pPr>
            <a:r>
              <a:rPr lang="de-DE" sz="3000" dirty="0">
                <a:solidFill>
                  <a:srgbClr val="000000"/>
                </a:solidFill>
                <a:latin typeface="Calibri" panose="020F0502020204030204" pitchFamily="34" charset="0"/>
                <a:cs typeface="Calibri" panose="020F0502020204030204" pitchFamily="34" charset="0"/>
              </a:rPr>
              <a:t>Notation:</a:t>
            </a:r>
          </a:p>
          <a:p>
            <a:r>
              <a:rPr lang="de-DE" b="1" dirty="0">
                <a:solidFill>
                  <a:srgbClr val="FF0000"/>
                </a:solidFill>
                <a:latin typeface="Calibri" panose="020F0502020204030204" pitchFamily="34" charset="0"/>
                <a:cs typeface="Calibri" panose="020F0502020204030204" pitchFamily="34" charset="0"/>
              </a:rPr>
              <a:t>c(</a:t>
            </a:r>
            <a:r>
              <a:rPr lang="de-DE" b="1" dirty="0" err="1">
                <a:solidFill>
                  <a:srgbClr val="FF0000"/>
                </a:solidFill>
                <a:latin typeface="Calibri" panose="020F0502020204030204" pitchFamily="34" charset="0"/>
                <a:cs typeface="Calibri" panose="020F0502020204030204" pitchFamily="34" charset="0"/>
              </a:rPr>
              <a:t>x,y</a:t>
            </a:r>
            <a:r>
              <a:rPr lang="de-DE" b="1" dirty="0">
                <a:solidFill>
                  <a:srgbClr val="FF0000"/>
                </a:solidFill>
                <a:latin typeface="Calibri" panose="020F0502020204030204" pitchFamily="34" charset="0"/>
                <a:cs typeface="Calibri" panose="020F0502020204030204" pitchFamily="34" charset="0"/>
              </a:rPr>
              <a:t>): </a:t>
            </a:r>
            <a:r>
              <a:rPr lang="de-DE" dirty="0">
                <a:latin typeface="Calibri" panose="020F0502020204030204" pitchFamily="34" charset="0"/>
                <a:cs typeface="Calibri" panose="020F0502020204030204" pitchFamily="34" charset="0"/>
              </a:rPr>
              <a:t>Kosten der </a:t>
            </a:r>
            <a:r>
              <a:rPr lang="de-DE" u="sng" dirty="0">
                <a:latin typeface="Calibri" panose="020F0502020204030204" pitchFamily="34" charset="0"/>
                <a:cs typeface="Calibri" panose="020F0502020204030204" pitchFamily="34" charset="0"/>
              </a:rPr>
              <a:t>Leitung</a:t>
            </a:r>
            <a:r>
              <a:rPr lang="de-DE" dirty="0">
                <a:latin typeface="Calibri" panose="020F0502020204030204" pitchFamily="34" charset="0"/>
                <a:cs typeface="Calibri" panose="020F0502020204030204" pitchFamily="34" charset="0"/>
              </a:rPr>
              <a:t> von x nach y;  = </a:t>
            </a:r>
            <a:r>
              <a:rPr lang="de-DE" b="1" dirty="0">
                <a:solidFill>
                  <a:srgbClr val="0070C0"/>
                </a:solidFill>
                <a:latin typeface="Calibri" panose="020F0502020204030204" pitchFamily="34" charset="0"/>
                <a:cs typeface="Calibri" panose="020F0502020204030204" pitchFamily="34" charset="0"/>
              </a:rPr>
              <a:t>∞</a:t>
            </a:r>
            <a:r>
              <a:rPr lang="de-DE" dirty="0">
                <a:latin typeface="Calibri" panose="020F0502020204030204" pitchFamily="34" charset="0"/>
                <a:cs typeface="Calibri" panose="020F0502020204030204" pitchFamily="34" charset="0"/>
              </a:rPr>
              <a:t> falls x, y keine Nachbarn sind</a:t>
            </a:r>
          </a:p>
          <a:p>
            <a:r>
              <a:rPr lang="de-DE" b="1" dirty="0">
                <a:solidFill>
                  <a:srgbClr val="FF0000"/>
                </a:solidFill>
                <a:latin typeface="Calibri" panose="020F0502020204030204" pitchFamily="34" charset="0"/>
                <a:cs typeface="Calibri" panose="020F0502020204030204" pitchFamily="34" charset="0"/>
              </a:rPr>
              <a:t>N': </a:t>
            </a:r>
            <a:r>
              <a:rPr lang="de-DE" dirty="0">
                <a:latin typeface="Calibri" panose="020F0502020204030204" pitchFamily="34" charset="0"/>
                <a:cs typeface="Calibri" panose="020F0502020204030204" pitchFamily="34" charset="0"/>
              </a:rPr>
              <a:t>Teilmenge von Knoten v, für die der kostengünstigste Pfad von der Quelle zu </a:t>
            </a:r>
            <a:r>
              <a:rPr lang="de-DE" i="1" dirty="0">
                <a:latin typeface="Calibri" panose="020F0502020204030204" pitchFamily="34" charset="0"/>
                <a:cs typeface="Calibri" panose="020F0502020204030204" pitchFamily="34" charset="0"/>
              </a:rPr>
              <a:t>v </a:t>
            </a:r>
            <a:r>
              <a:rPr lang="de-DE" u="sng" dirty="0">
                <a:latin typeface="Calibri" panose="020F0502020204030204" pitchFamily="34" charset="0"/>
                <a:cs typeface="Calibri" panose="020F0502020204030204" pitchFamily="34" charset="0"/>
              </a:rPr>
              <a:t>definitiv</a:t>
            </a:r>
            <a:r>
              <a:rPr lang="de-DE" dirty="0">
                <a:latin typeface="Calibri" panose="020F0502020204030204" pitchFamily="34" charset="0"/>
                <a:cs typeface="Calibri" panose="020F0502020204030204" pitchFamily="34" charset="0"/>
              </a:rPr>
              <a:t> bekannt ist</a:t>
            </a:r>
            <a:endParaRPr lang="de-DE" dirty="0">
              <a:solidFill>
                <a:schemeClr val="accent2"/>
              </a:solidFill>
              <a:latin typeface="Calibri" panose="020F0502020204030204" pitchFamily="34" charset="0"/>
              <a:cs typeface="Calibri" panose="020F0502020204030204" pitchFamily="34" charset="0"/>
            </a:endParaRPr>
          </a:p>
          <a:p>
            <a:r>
              <a:rPr lang="de-DE" b="1" dirty="0">
                <a:solidFill>
                  <a:srgbClr val="FF0000"/>
                </a:solidFill>
                <a:latin typeface="Calibri" panose="020F0502020204030204" pitchFamily="34" charset="0"/>
                <a:cs typeface="Calibri" panose="020F0502020204030204" pitchFamily="34" charset="0"/>
              </a:rPr>
              <a:t>D(v): </a:t>
            </a:r>
            <a:r>
              <a:rPr lang="de-DE" dirty="0">
                <a:latin typeface="Calibri" panose="020F0502020204030204" pitchFamily="34" charset="0"/>
                <a:cs typeface="Calibri" panose="020F0502020204030204" pitchFamily="34" charset="0"/>
              </a:rPr>
              <a:t>die (</a:t>
            </a:r>
            <a:r>
              <a:rPr lang="de-DE" dirty="0">
                <a:solidFill>
                  <a:srgbClr val="0070C0"/>
                </a:solidFill>
                <a:latin typeface="Calibri" panose="020F0502020204030204" pitchFamily="34" charset="0"/>
                <a:cs typeface="Calibri" panose="020F0502020204030204" pitchFamily="34" charset="0"/>
              </a:rPr>
              <a:t>ggf. geschätzten</a:t>
            </a:r>
            <a:r>
              <a:rPr lang="de-DE" dirty="0">
                <a:latin typeface="Calibri" panose="020F0502020204030204" pitchFamily="34" charset="0"/>
                <a:cs typeface="Calibri" panose="020F0502020204030204" pitchFamily="34" charset="0"/>
              </a:rPr>
              <a:t>) Kosten eines kostengünstigsten Pfades von der Quelle zum Knoten </a:t>
            </a:r>
            <a:r>
              <a:rPr lang="de-DE" i="1" dirty="0">
                <a:latin typeface="Calibri" panose="020F0502020204030204" pitchFamily="34" charset="0"/>
                <a:cs typeface="Calibri" panose="020F0502020204030204" pitchFamily="34" charset="0"/>
              </a:rPr>
              <a:t>v</a:t>
            </a:r>
          </a:p>
          <a:p>
            <a:pPr lvl="1"/>
            <a:r>
              <a:rPr lang="de-DE" sz="2100" i="1" dirty="0">
                <a:latin typeface="Calibri" panose="020F0502020204030204" pitchFamily="34" charset="0"/>
                <a:cs typeface="Calibri" panose="020F0502020204030204" pitchFamily="34" charset="0"/>
              </a:rPr>
              <a:t>Für v </a:t>
            </a:r>
            <a:r>
              <a:rPr lang="de-DE" sz="2100" i="1" dirty="0">
                <a:latin typeface="Calibri" panose="020F0502020204030204" pitchFamily="34" charset="0"/>
                <a:cs typeface="Calibri" panose="020F0502020204030204" pitchFamily="34" charset="0"/>
                <a:sym typeface="Symbol"/>
              </a:rPr>
              <a:t> N' : exakte Kosten</a:t>
            </a:r>
          </a:p>
          <a:p>
            <a:pPr lvl="1"/>
            <a:r>
              <a:rPr lang="de-DE" sz="2100" i="1" dirty="0">
                <a:latin typeface="Calibri" panose="020F0502020204030204" pitchFamily="34" charset="0"/>
                <a:cs typeface="Calibri" panose="020F0502020204030204" pitchFamily="34" charset="0"/>
                <a:sym typeface="Symbol"/>
              </a:rPr>
              <a:t>Für v </a:t>
            </a:r>
            <a:r>
              <a:rPr lang="de-DE" sz="2100" dirty="0">
                <a:latin typeface="Calibri" panose="020F0502020204030204" pitchFamily="34" charset="0"/>
                <a:cs typeface="Calibri" panose="020F0502020204030204" pitchFamily="34" charset="0"/>
                <a:sym typeface="Symbol"/>
              </a:rPr>
              <a:t> </a:t>
            </a:r>
            <a:r>
              <a:rPr lang="de-DE" sz="2100" dirty="0">
                <a:latin typeface="Calibri" panose="020F0502020204030204" pitchFamily="34" charset="0"/>
                <a:cs typeface="Calibri" panose="020F0502020204030204" pitchFamily="34" charset="0"/>
              </a:rPr>
              <a:t>N': Abschätzungen</a:t>
            </a:r>
          </a:p>
          <a:p>
            <a:r>
              <a:rPr lang="de-DE" b="1" dirty="0">
                <a:solidFill>
                  <a:srgbClr val="FF0000"/>
                </a:solidFill>
                <a:latin typeface="Calibri" panose="020F0502020204030204" pitchFamily="34" charset="0"/>
                <a:cs typeface="Calibri" panose="020F0502020204030204" pitchFamily="34" charset="0"/>
              </a:rPr>
              <a:t>p(v): </a:t>
            </a:r>
            <a:r>
              <a:rPr lang="de-DE" dirty="0">
                <a:latin typeface="Calibri" panose="020F0502020204030204" pitchFamily="34" charset="0"/>
                <a:cs typeface="Calibri" panose="020F0502020204030204" pitchFamily="34" charset="0"/>
              </a:rPr>
              <a:t>letzter Knoten vor v (d.h. Nachbar von v) entlang des momentan kostengünstigsten Pfades von der Quelle zu </a:t>
            </a:r>
            <a:r>
              <a:rPr lang="de-DE" i="1" dirty="0">
                <a:latin typeface="Calibri" panose="020F0502020204030204" pitchFamily="34" charset="0"/>
                <a:cs typeface="Calibri" panose="020F0502020204030204" pitchFamily="34" charset="0"/>
              </a:rPr>
              <a:t>v</a:t>
            </a:r>
            <a:endParaRPr lang="de-DE" dirty="0">
              <a:latin typeface="Calibri" panose="020F0502020204030204" pitchFamily="34" charset="0"/>
              <a:cs typeface="Calibri" panose="020F0502020204030204" pitchFamily="34" charset="0"/>
            </a:endParaRPr>
          </a:p>
          <a:p>
            <a:endParaRPr lang="de-DE" sz="24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6222340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0C80303-63F8-4CBB-9BA5-3F84B61C2FB1}"/>
              </a:ext>
            </a:extLst>
          </p:cNvPr>
          <p:cNvSpPr>
            <a:spLocks noGrp="1"/>
          </p:cNvSpPr>
          <p:nvPr>
            <p:ph type="title"/>
          </p:nvPr>
        </p:nvSpPr>
        <p:spPr/>
        <p:txBody>
          <a:bodyPr/>
          <a:lstStyle/>
          <a:p>
            <a:r>
              <a:rPr lang="de-DE" dirty="0"/>
              <a:t>Dijkstra-Visualisierung</a:t>
            </a:r>
          </a:p>
        </p:txBody>
      </p:sp>
      <p:sp>
        <p:nvSpPr>
          <p:cNvPr id="3" name="Foliennummernplatzhalter 2">
            <a:extLst>
              <a:ext uri="{FF2B5EF4-FFF2-40B4-BE49-F238E27FC236}">
                <a16:creationId xmlns:a16="http://schemas.microsoft.com/office/drawing/2014/main" id="{1CAD4BE8-9421-4214-80C7-A85BB31DDB7A}"/>
              </a:ext>
            </a:extLst>
          </p:cNvPr>
          <p:cNvSpPr>
            <a:spLocks noGrp="1"/>
          </p:cNvSpPr>
          <p:nvPr>
            <p:ph type="sldNum" sz="quarter" idx="12"/>
          </p:nvPr>
        </p:nvSpPr>
        <p:spPr/>
        <p:txBody>
          <a:bodyPr/>
          <a:lstStyle/>
          <a:p>
            <a:fld id="{7183533A-8A50-4A1F-BEA9-C8C6956451EB}" type="slidenum">
              <a:rPr lang="en-US" noProof="0" smtClean="0"/>
              <a:pPr/>
              <a:t>28</a:t>
            </a:fld>
            <a:endParaRPr lang="en-US" noProof="0" dirty="0"/>
          </a:p>
        </p:txBody>
      </p:sp>
      <p:sp>
        <p:nvSpPr>
          <p:cNvPr id="4" name="Inhaltsplatzhalter 3">
            <a:extLst>
              <a:ext uri="{FF2B5EF4-FFF2-40B4-BE49-F238E27FC236}">
                <a16:creationId xmlns:a16="http://schemas.microsoft.com/office/drawing/2014/main" id="{45E432E9-985C-4F74-B5AD-7592B812BD00}"/>
              </a:ext>
            </a:extLst>
          </p:cNvPr>
          <p:cNvSpPr>
            <a:spLocks noGrp="1"/>
          </p:cNvSpPr>
          <p:nvPr>
            <p:ph sz="quarter" idx="1"/>
          </p:nvPr>
        </p:nvSpPr>
        <p:spPr/>
        <p:txBody>
          <a:bodyPr>
            <a:normAutofit/>
          </a:bodyPr>
          <a:lstStyle/>
          <a:p>
            <a:r>
              <a:rPr lang="de-DE" sz="1600" dirty="0">
                <a:hlinkClick r:id="rId2"/>
              </a:rPr>
              <a:t>https://www3.cs.stonybrook.edu/~skiena/combinatorica/animations/dijkstra.html</a:t>
            </a:r>
            <a:endParaRPr lang="de-DE" sz="1600" dirty="0"/>
          </a:p>
        </p:txBody>
      </p:sp>
      <p:sp>
        <p:nvSpPr>
          <p:cNvPr id="5" name="Inhaltsplatzhalter 4">
            <a:extLst>
              <a:ext uri="{FF2B5EF4-FFF2-40B4-BE49-F238E27FC236}">
                <a16:creationId xmlns:a16="http://schemas.microsoft.com/office/drawing/2014/main" id="{D2E2ED30-1CBC-462C-8665-72A4037FF5DC}"/>
              </a:ext>
            </a:extLst>
          </p:cNvPr>
          <p:cNvSpPr>
            <a:spLocks noGrp="1"/>
          </p:cNvSpPr>
          <p:nvPr>
            <p:ph sz="quarter" idx="13"/>
          </p:nvPr>
        </p:nvSpPr>
        <p:spPr/>
        <p:txBody>
          <a:bodyPr>
            <a:normAutofit/>
          </a:bodyPr>
          <a:lstStyle/>
          <a:p>
            <a:r>
              <a:rPr lang="de-DE" sz="1600" dirty="0">
                <a:hlinkClick r:id="rId3"/>
              </a:rPr>
              <a:t>https://www.cs.usfca.edu/~galles/visualization/Dijkstra.html</a:t>
            </a:r>
            <a:endParaRPr lang="de-DE" sz="1600" dirty="0"/>
          </a:p>
        </p:txBody>
      </p:sp>
      <p:pic>
        <p:nvPicPr>
          <p:cNvPr id="12290" name="Picture 2">
            <a:extLst>
              <a:ext uri="{FF2B5EF4-FFF2-40B4-BE49-F238E27FC236}">
                <a16:creationId xmlns:a16="http://schemas.microsoft.com/office/drawing/2014/main" id="{9A3F81BA-9B22-4E7E-8AE4-5070417D4791}"/>
              </a:ext>
            </a:extLst>
          </p:cNvPr>
          <p:cNvPicPr>
            <a:picLocks noChangeAspect="1" noChangeArrowheads="1" noCrop="1"/>
          </p:cNvPicPr>
          <p:nvPr/>
        </p:nvPicPr>
        <p:blipFill>
          <a:blip r:embed="rId4">
            <a:extLst>
              <a:ext uri="{28A0092B-C50C-407E-A947-70E740481C1C}">
                <a14:useLocalDpi xmlns:a14="http://schemas.microsoft.com/office/drawing/2010/main" val="0"/>
              </a:ext>
            </a:extLst>
          </a:blip>
          <a:srcRect/>
          <a:stretch>
            <a:fillRect/>
          </a:stretch>
        </p:blipFill>
        <p:spPr bwMode="auto">
          <a:xfrm>
            <a:off x="3161589" y="1583228"/>
            <a:ext cx="2016224" cy="2016224"/>
          </a:xfrm>
          <a:prstGeom prst="rect">
            <a:avLst/>
          </a:prstGeom>
          <a:noFill/>
          <a:extLst>
            <a:ext uri="{909E8E84-426E-40DD-AFC4-6F175D3DCCD1}">
              <a14:hiddenFill xmlns:a14="http://schemas.microsoft.com/office/drawing/2010/main">
                <a:solidFill>
                  <a:srgbClr val="FFFFFF"/>
                </a:solidFill>
              </a14:hiddenFill>
            </a:ext>
          </a:extLst>
        </p:spPr>
      </p:pic>
      <p:pic>
        <p:nvPicPr>
          <p:cNvPr id="7" name="Grafik 6">
            <a:extLst>
              <a:ext uri="{FF2B5EF4-FFF2-40B4-BE49-F238E27FC236}">
                <a16:creationId xmlns:a16="http://schemas.microsoft.com/office/drawing/2014/main" id="{788E7CA7-44B3-4A3C-B6A8-29DE2555DD6F}"/>
              </a:ext>
            </a:extLst>
          </p:cNvPr>
          <p:cNvPicPr>
            <a:picLocks noChangeAspect="1"/>
          </p:cNvPicPr>
          <p:nvPr/>
        </p:nvPicPr>
        <p:blipFill>
          <a:blip r:embed="rId5"/>
          <a:stretch>
            <a:fillRect/>
          </a:stretch>
        </p:blipFill>
        <p:spPr>
          <a:xfrm>
            <a:off x="611560" y="4005064"/>
            <a:ext cx="7380312" cy="906107"/>
          </a:xfrm>
          <a:prstGeom prst="rect">
            <a:avLst/>
          </a:prstGeom>
        </p:spPr>
      </p:pic>
      <p:pic>
        <p:nvPicPr>
          <p:cNvPr id="9" name="Grafik 8">
            <a:extLst>
              <a:ext uri="{FF2B5EF4-FFF2-40B4-BE49-F238E27FC236}">
                <a16:creationId xmlns:a16="http://schemas.microsoft.com/office/drawing/2014/main" id="{0D34D4C2-2793-41E8-98C7-CF2F337D6A7D}"/>
              </a:ext>
            </a:extLst>
          </p:cNvPr>
          <p:cNvPicPr>
            <a:picLocks noChangeAspect="1"/>
          </p:cNvPicPr>
          <p:nvPr/>
        </p:nvPicPr>
        <p:blipFill>
          <a:blip r:embed="rId6"/>
          <a:stretch>
            <a:fillRect/>
          </a:stretch>
        </p:blipFill>
        <p:spPr>
          <a:xfrm>
            <a:off x="2084231" y="4946847"/>
            <a:ext cx="2217485" cy="1841272"/>
          </a:xfrm>
          <a:prstGeom prst="rect">
            <a:avLst/>
          </a:prstGeom>
        </p:spPr>
      </p:pic>
      <p:pic>
        <p:nvPicPr>
          <p:cNvPr id="11" name="Grafik 10">
            <a:extLst>
              <a:ext uri="{FF2B5EF4-FFF2-40B4-BE49-F238E27FC236}">
                <a16:creationId xmlns:a16="http://schemas.microsoft.com/office/drawing/2014/main" id="{7EA88079-226F-4F52-B2C7-001C9285E419}"/>
              </a:ext>
            </a:extLst>
          </p:cNvPr>
          <p:cNvPicPr>
            <a:picLocks noChangeAspect="1"/>
          </p:cNvPicPr>
          <p:nvPr/>
        </p:nvPicPr>
        <p:blipFill>
          <a:blip r:embed="rId7"/>
          <a:stretch>
            <a:fillRect/>
          </a:stretch>
        </p:blipFill>
        <p:spPr>
          <a:xfrm>
            <a:off x="4842286" y="5002316"/>
            <a:ext cx="1529914" cy="1860286"/>
          </a:xfrm>
          <a:prstGeom prst="rect">
            <a:avLst/>
          </a:prstGeom>
        </p:spPr>
      </p:pic>
    </p:spTree>
    <p:extLst>
      <p:ext uri="{BB962C8B-B14F-4D97-AF65-F5344CB8AC3E}">
        <p14:creationId xmlns:p14="http://schemas.microsoft.com/office/powerpoint/2010/main" val="14023044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4"/>
          <p:cNvSpPr>
            <a:spLocks noGrp="1"/>
          </p:cNvSpPr>
          <p:nvPr>
            <p:ph type="sldNum" sz="quarter" idx="12"/>
          </p:nvPr>
        </p:nvSpPr>
        <p:spPr/>
        <p:txBody>
          <a:bodyPr/>
          <a:lstStyle/>
          <a:p>
            <a:fld id="{A5823FCF-A4B4-4DCB-965F-A6108C96896B}" type="slidenum">
              <a:rPr lang="de-DE" smtClean="0"/>
              <a:pPr/>
              <a:t>29</a:t>
            </a:fld>
            <a:endParaRPr lang="de-DE"/>
          </a:p>
        </p:txBody>
      </p:sp>
      <p:sp>
        <p:nvSpPr>
          <p:cNvPr id="463874" name="Rectangle 2"/>
          <p:cNvSpPr>
            <a:spLocks noGrp="1" noChangeArrowheads="1"/>
          </p:cNvSpPr>
          <p:nvPr>
            <p:ph type="title"/>
          </p:nvPr>
        </p:nvSpPr>
        <p:spPr/>
        <p:txBody>
          <a:bodyPr/>
          <a:lstStyle/>
          <a:p>
            <a:r>
              <a:rPr lang="de-DE" sz="3600" dirty="0"/>
              <a:t>Dijkstra-Algorithmus</a:t>
            </a:r>
            <a:endParaRPr lang="de-DE" dirty="0"/>
          </a:p>
        </p:txBody>
      </p:sp>
      <p:sp>
        <p:nvSpPr>
          <p:cNvPr id="463875" name="Text Box 3"/>
          <p:cNvSpPr txBox="1">
            <a:spLocks noChangeArrowheads="1"/>
          </p:cNvSpPr>
          <p:nvPr/>
        </p:nvSpPr>
        <p:spPr bwMode="auto">
          <a:xfrm>
            <a:off x="1141413" y="1458913"/>
            <a:ext cx="7669279" cy="470898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de-DE" sz="2000" dirty="0">
                <a:latin typeface="Arial" charset="0"/>
              </a:rPr>
              <a:t>1  </a:t>
            </a:r>
            <a:r>
              <a:rPr lang="de-DE" sz="2000" b="1" i="1" dirty="0">
                <a:latin typeface="Arial" charset="0"/>
              </a:rPr>
              <a:t>Initialisiere:</a:t>
            </a:r>
            <a:r>
              <a:rPr lang="de-DE" sz="2000" dirty="0">
                <a:latin typeface="Arial" charset="0"/>
              </a:rPr>
              <a:t> </a:t>
            </a:r>
          </a:p>
          <a:p>
            <a:r>
              <a:rPr lang="de-DE" sz="2000" dirty="0">
                <a:latin typeface="Arial" charset="0"/>
              </a:rPr>
              <a:t>2    N</a:t>
            </a:r>
            <a:r>
              <a:rPr lang="de-DE" sz="2000" dirty="0">
                <a:latin typeface="Arial" charset="0"/>
                <a:cs typeface="Arial" charset="0"/>
              </a:rPr>
              <a:t>'</a:t>
            </a:r>
            <a:r>
              <a:rPr lang="de-DE" sz="2000" dirty="0">
                <a:latin typeface="Arial" charset="0"/>
              </a:rPr>
              <a:t> = {</a:t>
            </a:r>
            <a:r>
              <a:rPr lang="de-DE" sz="2000" b="1" dirty="0">
                <a:solidFill>
                  <a:srgbClr val="FF0000"/>
                </a:solidFill>
                <a:latin typeface="Arial" charset="0"/>
              </a:rPr>
              <a:t>u</a:t>
            </a:r>
            <a:r>
              <a:rPr lang="de-DE" sz="2000" dirty="0">
                <a:latin typeface="Arial" charset="0"/>
              </a:rPr>
              <a:t>}     (</a:t>
            </a:r>
            <a:r>
              <a:rPr lang="de-DE" sz="2000" b="1" dirty="0">
                <a:solidFill>
                  <a:srgbClr val="FF0000"/>
                </a:solidFill>
                <a:latin typeface="Arial" charset="0"/>
              </a:rPr>
              <a:t>u</a:t>
            </a:r>
            <a:r>
              <a:rPr lang="de-DE" sz="2000" dirty="0">
                <a:latin typeface="Arial" charset="0"/>
              </a:rPr>
              <a:t> ist Quellknoten)</a:t>
            </a:r>
          </a:p>
          <a:p>
            <a:r>
              <a:rPr lang="de-DE" sz="2000" dirty="0">
                <a:latin typeface="Arial" charset="0"/>
              </a:rPr>
              <a:t>3    für alle Knoten v aus N </a:t>
            </a:r>
          </a:p>
          <a:p>
            <a:r>
              <a:rPr lang="de-DE" sz="2000" dirty="0">
                <a:latin typeface="Arial" charset="0"/>
              </a:rPr>
              <a:t>4      </a:t>
            </a:r>
            <a:r>
              <a:rPr lang="de-DE" sz="2000" dirty="0" err="1">
                <a:solidFill>
                  <a:srgbClr val="0070C0"/>
                </a:solidFill>
                <a:latin typeface="Arial" charset="0"/>
              </a:rPr>
              <a:t>if</a:t>
            </a:r>
            <a:r>
              <a:rPr lang="de-DE" sz="2000" dirty="0">
                <a:latin typeface="Arial" charset="0"/>
              </a:rPr>
              <a:t> v ist ein Nachbar von </a:t>
            </a:r>
            <a:r>
              <a:rPr lang="de-DE" sz="2000" b="1" dirty="0">
                <a:solidFill>
                  <a:srgbClr val="FF0000"/>
                </a:solidFill>
                <a:latin typeface="Arial" charset="0"/>
              </a:rPr>
              <a:t>u</a:t>
            </a:r>
            <a:r>
              <a:rPr lang="de-DE" sz="2000" dirty="0">
                <a:latin typeface="Arial" charset="0"/>
              </a:rPr>
              <a:t> :</a:t>
            </a:r>
          </a:p>
          <a:p>
            <a:r>
              <a:rPr lang="de-DE" sz="2000" dirty="0">
                <a:latin typeface="Arial" charset="0"/>
              </a:rPr>
              <a:t>5      </a:t>
            </a:r>
            <a:r>
              <a:rPr lang="de-DE" sz="2000" dirty="0" err="1">
                <a:solidFill>
                  <a:srgbClr val="0070C0"/>
                </a:solidFill>
                <a:latin typeface="Arial" charset="0"/>
              </a:rPr>
              <a:t>then</a:t>
            </a:r>
            <a:r>
              <a:rPr lang="de-DE" sz="2000" dirty="0">
                <a:latin typeface="Arial" charset="0"/>
              </a:rPr>
              <a:t> D(v) = c(</a:t>
            </a:r>
            <a:r>
              <a:rPr lang="de-DE" sz="2000" b="1" dirty="0" err="1">
                <a:solidFill>
                  <a:srgbClr val="FF0000"/>
                </a:solidFill>
                <a:latin typeface="Arial" charset="0"/>
              </a:rPr>
              <a:t>u</a:t>
            </a:r>
            <a:r>
              <a:rPr lang="de-DE" sz="2000" dirty="0" err="1">
                <a:latin typeface="Arial" charset="0"/>
              </a:rPr>
              <a:t>,v</a:t>
            </a:r>
            <a:r>
              <a:rPr lang="de-DE" sz="2000" dirty="0">
                <a:latin typeface="Arial" charset="0"/>
              </a:rPr>
              <a:t>) </a:t>
            </a:r>
          </a:p>
          <a:p>
            <a:r>
              <a:rPr lang="de-DE" sz="2000" dirty="0">
                <a:latin typeface="Arial" charset="0"/>
              </a:rPr>
              <a:t>6      </a:t>
            </a:r>
            <a:r>
              <a:rPr lang="de-DE" sz="2000" dirty="0" err="1">
                <a:solidFill>
                  <a:srgbClr val="0070C0"/>
                </a:solidFill>
                <a:latin typeface="Arial" charset="0"/>
              </a:rPr>
              <a:t>else</a:t>
            </a:r>
            <a:r>
              <a:rPr lang="de-DE" sz="2000" dirty="0">
                <a:latin typeface="Arial" charset="0"/>
              </a:rPr>
              <a:t> D(v) = </a:t>
            </a:r>
            <a:r>
              <a:rPr lang="de-DE" sz="2000" dirty="0">
                <a:latin typeface="Arial" charset="0"/>
                <a:cs typeface="Arial" charset="0"/>
              </a:rPr>
              <a:t>∞</a:t>
            </a:r>
            <a:r>
              <a:rPr lang="de-DE" sz="2000" dirty="0">
                <a:latin typeface="Arial" charset="0"/>
              </a:rPr>
              <a:t> </a:t>
            </a:r>
          </a:p>
          <a:p>
            <a:r>
              <a:rPr lang="de-DE" sz="2000" dirty="0">
                <a:latin typeface="Arial" charset="0"/>
              </a:rPr>
              <a:t>7 </a:t>
            </a:r>
          </a:p>
          <a:p>
            <a:r>
              <a:rPr lang="de-DE" sz="2000" dirty="0">
                <a:latin typeface="Arial" charset="0"/>
              </a:rPr>
              <a:t>8   </a:t>
            </a:r>
            <a:r>
              <a:rPr lang="de-DE" sz="2000" b="1" i="1" dirty="0">
                <a:latin typeface="Arial" charset="0"/>
              </a:rPr>
              <a:t>Wiederhole:</a:t>
            </a:r>
            <a:r>
              <a:rPr lang="de-DE" sz="2000" i="1" dirty="0">
                <a:latin typeface="Arial" charset="0"/>
              </a:rPr>
              <a:t> </a:t>
            </a:r>
            <a:endParaRPr lang="de-DE" sz="2000" dirty="0">
              <a:latin typeface="Arial" charset="0"/>
            </a:endParaRPr>
          </a:p>
          <a:p>
            <a:r>
              <a:rPr lang="de-DE" sz="2000" dirty="0">
                <a:latin typeface="Arial" charset="0"/>
              </a:rPr>
              <a:t>9     finde ein</a:t>
            </a:r>
            <a:r>
              <a:rPr lang="de-DE" sz="2000" dirty="0">
                <a:solidFill>
                  <a:srgbClr val="7030A0"/>
                </a:solidFill>
                <a:latin typeface="Arial" charset="0"/>
              </a:rPr>
              <a:t> w </a:t>
            </a:r>
            <a:r>
              <a:rPr lang="de-DE" sz="2000" dirty="0">
                <a:latin typeface="Arial" charset="0"/>
                <a:sym typeface="Symbol"/>
              </a:rPr>
              <a:t> </a:t>
            </a:r>
            <a:r>
              <a:rPr lang="de-DE" sz="2000" dirty="0">
                <a:latin typeface="Arial" charset="0"/>
              </a:rPr>
              <a:t>N</a:t>
            </a:r>
            <a:r>
              <a:rPr lang="de-DE" sz="2000" dirty="0">
                <a:latin typeface="Arial" charset="0"/>
                <a:cs typeface="Arial" charset="0"/>
              </a:rPr>
              <a:t>'</a:t>
            </a:r>
            <a:r>
              <a:rPr lang="de-DE" sz="2000" dirty="0">
                <a:latin typeface="Arial" charset="0"/>
              </a:rPr>
              <a:t>, so dass D(</a:t>
            </a:r>
            <a:r>
              <a:rPr lang="de-DE" sz="2000" dirty="0">
                <a:solidFill>
                  <a:srgbClr val="7030A0"/>
                </a:solidFill>
                <a:latin typeface="Arial" charset="0"/>
              </a:rPr>
              <a:t>w</a:t>
            </a:r>
            <a:r>
              <a:rPr lang="de-DE" sz="2000" dirty="0">
                <a:latin typeface="Arial" charset="0"/>
              </a:rPr>
              <a:t>) </a:t>
            </a:r>
            <a:r>
              <a:rPr lang="de-DE" sz="2000" u="sng" dirty="0">
                <a:latin typeface="Arial" charset="0"/>
              </a:rPr>
              <a:t>minimal</a:t>
            </a:r>
            <a:r>
              <a:rPr lang="de-DE" sz="2000" dirty="0">
                <a:latin typeface="Arial" charset="0"/>
              </a:rPr>
              <a:t> ist </a:t>
            </a:r>
          </a:p>
          <a:p>
            <a:r>
              <a:rPr lang="de-DE" sz="2000" dirty="0">
                <a:latin typeface="Arial" charset="0"/>
              </a:rPr>
              <a:t>10   füge </a:t>
            </a:r>
            <a:r>
              <a:rPr lang="de-DE" sz="2000" dirty="0">
                <a:solidFill>
                  <a:srgbClr val="7030A0"/>
                </a:solidFill>
                <a:latin typeface="Arial" charset="0"/>
              </a:rPr>
              <a:t>w</a:t>
            </a:r>
            <a:r>
              <a:rPr lang="de-DE" sz="2000" dirty="0">
                <a:latin typeface="Arial" charset="0"/>
              </a:rPr>
              <a:t> zu N</a:t>
            </a:r>
            <a:r>
              <a:rPr lang="de-DE" sz="2000" dirty="0">
                <a:latin typeface="Arial" charset="0"/>
                <a:cs typeface="Arial" charset="0"/>
              </a:rPr>
              <a:t>' hinzu</a:t>
            </a:r>
            <a:r>
              <a:rPr lang="de-DE" sz="2000" dirty="0">
                <a:latin typeface="Arial" charset="0"/>
              </a:rPr>
              <a:t> </a:t>
            </a:r>
          </a:p>
          <a:p>
            <a:r>
              <a:rPr lang="de-DE" sz="2000" dirty="0">
                <a:latin typeface="Arial" charset="0"/>
              </a:rPr>
              <a:t>11   Berechne </a:t>
            </a:r>
            <a:r>
              <a:rPr lang="de-DE" sz="2000" dirty="0">
                <a:solidFill>
                  <a:srgbClr val="0070C0"/>
                </a:solidFill>
                <a:latin typeface="Arial" charset="0"/>
              </a:rPr>
              <a:t>D(v), p(v) </a:t>
            </a:r>
            <a:r>
              <a:rPr lang="de-DE" sz="2000" dirty="0">
                <a:latin typeface="Arial" charset="0"/>
              </a:rPr>
              <a:t>neu </a:t>
            </a:r>
            <a:r>
              <a:rPr lang="de-DE" sz="2000" u="sng" dirty="0">
                <a:latin typeface="Arial" charset="0"/>
              </a:rPr>
              <a:t>für alle Nachbarn v von </a:t>
            </a:r>
            <a:r>
              <a:rPr lang="de-DE" sz="2000" u="sng" dirty="0">
                <a:solidFill>
                  <a:srgbClr val="7030A0"/>
                </a:solidFill>
                <a:latin typeface="Arial" charset="0"/>
              </a:rPr>
              <a:t>w </a:t>
            </a:r>
            <a:r>
              <a:rPr lang="de-DE" sz="2000" u="sng" dirty="0">
                <a:latin typeface="Arial" charset="0"/>
              </a:rPr>
              <a:t>mit v </a:t>
            </a:r>
            <a:r>
              <a:rPr lang="de-DE" sz="2000" u="sng" dirty="0">
                <a:latin typeface="Arial" charset="0"/>
                <a:sym typeface="Symbol"/>
              </a:rPr>
              <a:t> </a:t>
            </a:r>
            <a:r>
              <a:rPr lang="de-DE" sz="2000" u="sng" dirty="0">
                <a:latin typeface="Arial" charset="0"/>
              </a:rPr>
              <a:t>N</a:t>
            </a:r>
            <a:r>
              <a:rPr lang="de-DE" sz="2000" u="sng" dirty="0">
                <a:latin typeface="Arial" charset="0"/>
                <a:cs typeface="Arial" charset="0"/>
              </a:rPr>
              <a:t>'</a:t>
            </a:r>
            <a:r>
              <a:rPr lang="de-DE" sz="2000" u="sng" dirty="0">
                <a:latin typeface="Arial" charset="0"/>
              </a:rPr>
              <a:t>: </a:t>
            </a:r>
          </a:p>
          <a:p>
            <a:r>
              <a:rPr lang="de-DE" sz="2000" dirty="0">
                <a:latin typeface="Arial" charset="0"/>
              </a:rPr>
              <a:t>12       </a:t>
            </a:r>
            <a:r>
              <a:rPr lang="de-DE" sz="2000" dirty="0">
                <a:solidFill>
                  <a:srgbClr val="0070C0"/>
                </a:solidFill>
                <a:latin typeface="Arial" charset="0"/>
              </a:rPr>
              <a:t>D(v) = </a:t>
            </a:r>
            <a:r>
              <a:rPr lang="de-DE" sz="2000" dirty="0">
                <a:solidFill>
                  <a:srgbClr val="FF0000"/>
                </a:solidFill>
                <a:latin typeface="Arial" charset="0"/>
              </a:rPr>
              <a:t>min( D(v), D(</a:t>
            </a:r>
            <a:r>
              <a:rPr lang="de-DE" sz="2000" dirty="0">
                <a:solidFill>
                  <a:srgbClr val="7030A0"/>
                </a:solidFill>
                <a:latin typeface="Arial" charset="0"/>
              </a:rPr>
              <a:t>w</a:t>
            </a:r>
            <a:r>
              <a:rPr lang="de-DE" sz="2000" dirty="0">
                <a:solidFill>
                  <a:srgbClr val="FF0000"/>
                </a:solidFill>
                <a:latin typeface="Arial" charset="0"/>
              </a:rPr>
              <a:t>) + c(</a:t>
            </a:r>
            <a:r>
              <a:rPr lang="de-DE" sz="2000" dirty="0" err="1">
                <a:solidFill>
                  <a:srgbClr val="7030A0"/>
                </a:solidFill>
                <a:latin typeface="Arial" charset="0"/>
              </a:rPr>
              <a:t>w</a:t>
            </a:r>
            <a:r>
              <a:rPr lang="de-DE" sz="2000" dirty="0" err="1">
                <a:solidFill>
                  <a:srgbClr val="FF0000"/>
                </a:solidFill>
                <a:latin typeface="Arial" charset="0"/>
              </a:rPr>
              <a:t>,v</a:t>
            </a:r>
            <a:r>
              <a:rPr lang="de-DE" sz="2000" dirty="0">
                <a:solidFill>
                  <a:srgbClr val="FF0000"/>
                </a:solidFill>
                <a:latin typeface="Arial" charset="0"/>
              </a:rPr>
              <a:t>) ) </a:t>
            </a:r>
          </a:p>
          <a:p>
            <a:r>
              <a:rPr lang="de-DE" sz="2000" dirty="0">
                <a:latin typeface="Arial" charset="0"/>
              </a:rPr>
              <a:t>13    /* </a:t>
            </a:r>
            <a:r>
              <a:rPr lang="de-DE" sz="2000" dirty="0"/>
              <a:t>die neuen Kosten nach v sind entweder die alten Kosten</a:t>
            </a:r>
          </a:p>
          <a:p>
            <a:r>
              <a:rPr lang="de-DE" sz="2000" dirty="0"/>
              <a:t>14 	oder die Kosten nach w plus die Kosten von w nach v*/</a:t>
            </a:r>
            <a:r>
              <a:rPr lang="de-DE" sz="2000" dirty="0">
                <a:latin typeface="Arial" charset="0"/>
              </a:rPr>
              <a:t> </a:t>
            </a:r>
          </a:p>
          <a:p>
            <a:r>
              <a:rPr lang="de-DE" sz="2000" dirty="0">
                <a:latin typeface="Arial" charset="0"/>
              </a:rPr>
              <a:t>15  </a:t>
            </a:r>
            <a:r>
              <a:rPr lang="de-DE" sz="2000" b="1" i="1" dirty="0">
                <a:latin typeface="Arial" charset="0"/>
              </a:rPr>
              <a:t>bis alle Knoten in N</a:t>
            </a:r>
            <a:r>
              <a:rPr lang="de-DE" sz="2000" b="1" i="1" dirty="0">
                <a:latin typeface="Arial" charset="0"/>
                <a:cs typeface="Arial" charset="0"/>
              </a:rPr>
              <a:t>'</a:t>
            </a:r>
            <a:r>
              <a:rPr lang="de-DE" sz="2000" dirty="0">
                <a:latin typeface="Arial" charset="0"/>
              </a:rPr>
              <a:t> </a:t>
            </a:r>
            <a:r>
              <a:rPr lang="de-DE" sz="2000" b="1" i="1" dirty="0">
                <a:latin typeface="Arial" charset="0"/>
              </a:rPr>
              <a:t>sind</a:t>
            </a:r>
          </a:p>
        </p:txBody>
      </p:sp>
      <p:sp>
        <p:nvSpPr>
          <p:cNvPr id="463876" name="Freeform 4"/>
          <p:cNvSpPr>
            <a:spLocks/>
          </p:cNvSpPr>
          <p:nvPr/>
        </p:nvSpPr>
        <p:spPr bwMode="auto">
          <a:xfrm>
            <a:off x="600075" y="3543300"/>
            <a:ext cx="800100" cy="2886075"/>
          </a:xfrm>
          <a:custGeom>
            <a:avLst/>
            <a:gdLst>
              <a:gd name="T0" fmla="*/ 504 w 504"/>
              <a:gd name="T1" fmla="*/ 1596 h 1818"/>
              <a:gd name="T2" fmla="*/ 120 w 504"/>
              <a:gd name="T3" fmla="*/ 1602 h 1818"/>
              <a:gd name="T4" fmla="*/ 90 w 504"/>
              <a:gd name="T5" fmla="*/ 192 h 1818"/>
              <a:gd name="T6" fmla="*/ 396 w 504"/>
              <a:gd name="T7" fmla="*/ 144 h 1818"/>
            </a:gdLst>
            <a:ahLst/>
            <a:cxnLst>
              <a:cxn ang="0">
                <a:pos x="T0" y="T1"/>
              </a:cxn>
              <a:cxn ang="0">
                <a:pos x="T2" y="T3"/>
              </a:cxn>
              <a:cxn ang="0">
                <a:pos x="T4" y="T5"/>
              </a:cxn>
              <a:cxn ang="0">
                <a:pos x="T6" y="T7"/>
              </a:cxn>
            </a:cxnLst>
            <a:rect l="0" t="0" r="r" b="b"/>
            <a:pathLst>
              <a:path w="504" h="1818">
                <a:moveTo>
                  <a:pt x="504" y="1596"/>
                </a:moveTo>
                <a:cubicBezTo>
                  <a:pt x="444" y="1728"/>
                  <a:pt x="240" y="1818"/>
                  <a:pt x="120" y="1602"/>
                </a:cubicBezTo>
                <a:cubicBezTo>
                  <a:pt x="0" y="1386"/>
                  <a:pt x="48" y="444"/>
                  <a:pt x="90" y="192"/>
                </a:cubicBezTo>
                <a:cubicBezTo>
                  <a:pt x="162" y="0"/>
                  <a:pt x="294" y="84"/>
                  <a:pt x="396" y="144"/>
                </a:cubicBezTo>
              </a:path>
            </a:pathLst>
          </a:custGeom>
          <a:noFill/>
          <a:ln w="28575" cap="flat" cmpd="sng">
            <a:solidFill>
              <a:schemeClr val="accent2"/>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7" name="Textfeld 6"/>
          <p:cNvSpPr txBox="1"/>
          <p:nvPr/>
        </p:nvSpPr>
        <p:spPr>
          <a:xfrm>
            <a:off x="5796136" y="1484784"/>
            <a:ext cx="2884123" cy="400110"/>
          </a:xfrm>
          <a:prstGeom prst="rect">
            <a:avLst/>
          </a:prstGeom>
          <a:noFill/>
        </p:spPr>
        <p:txBody>
          <a:bodyPr wrap="none" rtlCol="0">
            <a:spAutoFit/>
          </a:bodyPr>
          <a:lstStyle/>
          <a:p>
            <a:r>
              <a:rPr lang="de-DE" sz="2000" dirty="0"/>
              <a:t>N = Menge aller Knoten</a:t>
            </a:r>
          </a:p>
        </p:txBody>
      </p:sp>
    </p:spTree>
    <p:extLst>
      <p:ext uri="{BB962C8B-B14F-4D97-AF65-F5344CB8AC3E}">
        <p14:creationId xmlns:p14="http://schemas.microsoft.com/office/powerpoint/2010/main" val="319762103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 name="Slide Number Placeholder 4"/>
          <p:cNvSpPr>
            <a:spLocks noGrp="1"/>
          </p:cNvSpPr>
          <p:nvPr>
            <p:ph type="sldNum" sz="quarter" idx="12"/>
          </p:nvPr>
        </p:nvSpPr>
        <p:spPr/>
        <p:txBody>
          <a:bodyPr/>
          <a:lstStyle/>
          <a:p>
            <a:fld id="{217C0808-8890-457D-A5BB-593028BD2895}" type="slidenum">
              <a:rPr lang="en-US" smtClean="0"/>
              <a:pPr/>
              <a:t>30</a:t>
            </a:fld>
            <a:endParaRPr lang="en-US" dirty="0"/>
          </a:p>
        </p:txBody>
      </p:sp>
      <p:sp>
        <p:nvSpPr>
          <p:cNvPr id="464898" name="Rectangle 2"/>
          <p:cNvSpPr>
            <a:spLocks noGrp="1" noChangeArrowheads="1"/>
          </p:cNvSpPr>
          <p:nvPr>
            <p:ph type="title"/>
          </p:nvPr>
        </p:nvSpPr>
        <p:spPr/>
        <p:txBody>
          <a:bodyPr/>
          <a:lstStyle/>
          <a:p>
            <a:r>
              <a:rPr lang="de-DE" sz="3600" dirty="0"/>
              <a:t>Dijkstra-Algorithmus: Beispiel</a:t>
            </a:r>
            <a:endParaRPr lang="en-US" dirty="0"/>
          </a:p>
        </p:txBody>
      </p:sp>
      <p:sp>
        <p:nvSpPr>
          <p:cNvPr id="464899" name="Text Box 3"/>
          <p:cNvSpPr txBox="1">
            <a:spLocks noChangeArrowheads="1"/>
          </p:cNvSpPr>
          <p:nvPr/>
        </p:nvSpPr>
        <p:spPr bwMode="auto">
          <a:xfrm>
            <a:off x="239713" y="1506538"/>
            <a:ext cx="706437" cy="22256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r"/>
            <a:r>
              <a:rPr lang="en-US" sz="2000">
                <a:latin typeface="Arial" charset="0"/>
              </a:rPr>
              <a:t>Step</a:t>
            </a:r>
          </a:p>
          <a:p>
            <a:pPr algn="r"/>
            <a:r>
              <a:rPr lang="en-US" sz="2000">
                <a:latin typeface="Arial" charset="0"/>
              </a:rPr>
              <a:t>0</a:t>
            </a:r>
          </a:p>
          <a:p>
            <a:pPr algn="r"/>
            <a:r>
              <a:rPr lang="en-US" sz="2000">
                <a:latin typeface="Arial" charset="0"/>
              </a:rPr>
              <a:t>1</a:t>
            </a:r>
          </a:p>
          <a:p>
            <a:pPr algn="r"/>
            <a:r>
              <a:rPr lang="en-US" sz="2000">
                <a:latin typeface="Arial" charset="0"/>
              </a:rPr>
              <a:t>2</a:t>
            </a:r>
          </a:p>
          <a:p>
            <a:pPr algn="r"/>
            <a:r>
              <a:rPr lang="en-US" sz="2000">
                <a:latin typeface="Arial" charset="0"/>
              </a:rPr>
              <a:t>3</a:t>
            </a:r>
          </a:p>
          <a:p>
            <a:pPr algn="r"/>
            <a:r>
              <a:rPr lang="en-US" sz="2000">
                <a:latin typeface="Arial" charset="0"/>
              </a:rPr>
              <a:t>4</a:t>
            </a:r>
          </a:p>
          <a:p>
            <a:pPr algn="r"/>
            <a:r>
              <a:rPr lang="en-US" sz="2000">
                <a:latin typeface="Arial" charset="0"/>
              </a:rPr>
              <a:t>5</a:t>
            </a:r>
          </a:p>
        </p:txBody>
      </p:sp>
      <p:sp>
        <p:nvSpPr>
          <p:cNvPr id="464900" name="Text Box 4"/>
          <p:cNvSpPr txBox="1">
            <a:spLocks noChangeArrowheads="1"/>
          </p:cNvSpPr>
          <p:nvPr/>
        </p:nvSpPr>
        <p:spPr bwMode="auto">
          <a:xfrm>
            <a:off x="1252538" y="1516063"/>
            <a:ext cx="1017587" cy="22256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r"/>
            <a:r>
              <a:rPr lang="en-US" sz="2000" dirty="0">
                <a:latin typeface="Arial" charset="0"/>
              </a:rPr>
              <a:t>N</a:t>
            </a:r>
            <a:r>
              <a:rPr lang="en-US" sz="2000" dirty="0">
                <a:latin typeface="Arial" charset="0"/>
                <a:cs typeface="Arial" charset="0"/>
              </a:rPr>
              <a:t>'</a:t>
            </a:r>
          </a:p>
          <a:p>
            <a:pPr algn="r"/>
            <a:r>
              <a:rPr lang="en-US" sz="2000" dirty="0">
                <a:latin typeface="Arial" charset="0"/>
              </a:rPr>
              <a:t>u</a:t>
            </a:r>
          </a:p>
          <a:p>
            <a:pPr algn="r"/>
            <a:r>
              <a:rPr lang="en-US" sz="2000" dirty="0" err="1">
                <a:latin typeface="Arial" charset="0"/>
              </a:rPr>
              <a:t>ux</a:t>
            </a:r>
            <a:endParaRPr lang="en-US" sz="2000" dirty="0">
              <a:latin typeface="Arial" charset="0"/>
            </a:endParaRPr>
          </a:p>
          <a:p>
            <a:pPr algn="r"/>
            <a:r>
              <a:rPr lang="en-US" sz="2000" dirty="0" err="1">
                <a:latin typeface="Arial" charset="0"/>
              </a:rPr>
              <a:t>uxy</a:t>
            </a:r>
            <a:endParaRPr lang="en-US" sz="2000" dirty="0">
              <a:latin typeface="Arial" charset="0"/>
            </a:endParaRPr>
          </a:p>
          <a:p>
            <a:pPr algn="r"/>
            <a:r>
              <a:rPr lang="en-US" sz="2000" dirty="0" err="1">
                <a:latin typeface="Arial" charset="0"/>
              </a:rPr>
              <a:t>uxyv</a:t>
            </a:r>
            <a:endParaRPr lang="en-US" sz="2000" dirty="0">
              <a:latin typeface="Arial" charset="0"/>
            </a:endParaRPr>
          </a:p>
          <a:p>
            <a:pPr algn="r"/>
            <a:r>
              <a:rPr lang="en-US" sz="2000" dirty="0" err="1">
                <a:latin typeface="Arial" charset="0"/>
              </a:rPr>
              <a:t>uxyvw</a:t>
            </a:r>
            <a:endParaRPr lang="en-US" sz="2000" dirty="0">
              <a:latin typeface="Arial" charset="0"/>
            </a:endParaRPr>
          </a:p>
          <a:p>
            <a:pPr algn="r"/>
            <a:r>
              <a:rPr lang="en-US" sz="2000" dirty="0" err="1">
                <a:latin typeface="Arial" charset="0"/>
              </a:rPr>
              <a:t>uxyvwz</a:t>
            </a:r>
            <a:endParaRPr lang="en-US" sz="2000" dirty="0">
              <a:latin typeface="Arial" charset="0"/>
            </a:endParaRPr>
          </a:p>
        </p:txBody>
      </p:sp>
      <p:sp>
        <p:nvSpPr>
          <p:cNvPr id="464901" name="Text Box 5"/>
          <p:cNvSpPr txBox="1">
            <a:spLocks noChangeArrowheads="1"/>
          </p:cNvSpPr>
          <p:nvPr/>
        </p:nvSpPr>
        <p:spPr bwMode="auto">
          <a:xfrm>
            <a:off x="2500313" y="1497013"/>
            <a:ext cx="1169987" cy="13112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r"/>
            <a:r>
              <a:rPr lang="en-US" sz="2000">
                <a:latin typeface="Arial" charset="0"/>
              </a:rPr>
              <a:t>D(v),p(v)</a:t>
            </a:r>
          </a:p>
          <a:p>
            <a:pPr algn="r"/>
            <a:r>
              <a:rPr lang="en-US" sz="2000">
                <a:latin typeface="Arial" charset="0"/>
              </a:rPr>
              <a:t>2,u</a:t>
            </a:r>
          </a:p>
          <a:p>
            <a:pPr algn="r"/>
            <a:r>
              <a:rPr lang="en-US" sz="2000">
                <a:latin typeface="Arial" charset="0"/>
              </a:rPr>
              <a:t>2,u</a:t>
            </a:r>
          </a:p>
          <a:p>
            <a:pPr algn="r"/>
            <a:r>
              <a:rPr lang="en-US" sz="2000">
                <a:latin typeface="Arial" charset="0"/>
              </a:rPr>
              <a:t>2,u</a:t>
            </a:r>
          </a:p>
        </p:txBody>
      </p:sp>
      <p:sp>
        <p:nvSpPr>
          <p:cNvPr id="464902" name="Text Box 6"/>
          <p:cNvSpPr txBox="1">
            <a:spLocks noChangeArrowheads="1"/>
          </p:cNvSpPr>
          <p:nvPr/>
        </p:nvSpPr>
        <p:spPr bwMode="auto">
          <a:xfrm>
            <a:off x="3667125" y="1501775"/>
            <a:ext cx="1284288" cy="16160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r"/>
            <a:r>
              <a:rPr lang="en-US" sz="2000" dirty="0">
                <a:latin typeface="Arial" charset="0"/>
              </a:rPr>
              <a:t>D(w),p(w)</a:t>
            </a:r>
          </a:p>
          <a:p>
            <a:pPr algn="r"/>
            <a:r>
              <a:rPr lang="en-US" sz="2000" dirty="0">
                <a:latin typeface="Arial" charset="0"/>
              </a:rPr>
              <a:t>5,u</a:t>
            </a:r>
          </a:p>
          <a:p>
            <a:pPr algn="r"/>
            <a:r>
              <a:rPr lang="en-US" sz="2000" b="1" dirty="0">
                <a:solidFill>
                  <a:srgbClr val="FF0000"/>
                </a:solidFill>
                <a:latin typeface="Arial" charset="0"/>
              </a:rPr>
              <a:t>4</a:t>
            </a:r>
            <a:r>
              <a:rPr lang="en-US" sz="2000" dirty="0">
                <a:latin typeface="Arial" charset="0"/>
              </a:rPr>
              <a:t>,x</a:t>
            </a:r>
          </a:p>
          <a:p>
            <a:pPr algn="r"/>
            <a:r>
              <a:rPr lang="en-US" sz="2000" dirty="0">
                <a:latin typeface="Arial" charset="0"/>
              </a:rPr>
              <a:t>3,y</a:t>
            </a:r>
          </a:p>
          <a:p>
            <a:pPr algn="r"/>
            <a:r>
              <a:rPr lang="en-US" sz="2000" dirty="0">
                <a:latin typeface="Arial" charset="0"/>
              </a:rPr>
              <a:t>3,y</a:t>
            </a:r>
          </a:p>
        </p:txBody>
      </p:sp>
      <p:sp>
        <p:nvSpPr>
          <p:cNvPr id="464903" name="Text Box 7"/>
          <p:cNvSpPr txBox="1">
            <a:spLocks noChangeArrowheads="1"/>
          </p:cNvSpPr>
          <p:nvPr/>
        </p:nvSpPr>
        <p:spPr bwMode="auto">
          <a:xfrm>
            <a:off x="5057775" y="1497013"/>
            <a:ext cx="1169988" cy="7016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r"/>
            <a:r>
              <a:rPr lang="en-US" sz="2000">
                <a:latin typeface="Arial" charset="0"/>
              </a:rPr>
              <a:t>D(x),p(x)</a:t>
            </a:r>
          </a:p>
          <a:p>
            <a:pPr algn="r"/>
            <a:r>
              <a:rPr lang="en-US" sz="2000">
                <a:latin typeface="Arial" charset="0"/>
              </a:rPr>
              <a:t>1,u</a:t>
            </a:r>
          </a:p>
        </p:txBody>
      </p:sp>
      <p:sp>
        <p:nvSpPr>
          <p:cNvPr id="464904" name="Text Box 8"/>
          <p:cNvSpPr txBox="1">
            <a:spLocks noChangeArrowheads="1"/>
          </p:cNvSpPr>
          <p:nvPr/>
        </p:nvSpPr>
        <p:spPr bwMode="auto">
          <a:xfrm>
            <a:off x="6353175" y="1501775"/>
            <a:ext cx="1169988" cy="10064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r"/>
            <a:r>
              <a:rPr lang="en-US" sz="2000" dirty="0">
                <a:latin typeface="Arial" charset="0"/>
              </a:rPr>
              <a:t>D(y),p(y)</a:t>
            </a:r>
          </a:p>
          <a:p>
            <a:pPr algn="r"/>
            <a:r>
              <a:rPr lang="en-US" sz="2000" dirty="0">
                <a:cs typeface="Arial" charset="0"/>
              </a:rPr>
              <a:t>∞</a:t>
            </a:r>
          </a:p>
          <a:p>
            <a:pPr algn="r"/>
            <a:r>
              <a:rPr lang="en-US" sz="2000" b="1" dirty="0">
                <a:solidFill>
                  <a:srgbClr val="FF0000"/>
                </a:solidFill>
                <a:latin typeface="Arial" charset="0"/>
              </a:rPr>
              <a:t>2</a:t>
            </a:r>
            <a:r>
              <a:rPr lang="en-US" sz="2000" dirty="0">
                <a:latin typeface="Arial" charset="0"/>
              </a:rPr>
              <a:t>,x</a:t>
            </a:r>
          </a:p>
        </p:txBody>
      </p:sp>
      <p:sp>
        <p:nvSpPr>
          <p:cNvPr id="464905" name="Text Box 9"/>
          <p:cNvSpPr txBox="1">
            <a:spLocks noChangeArrowheads="1"/>
          </p:cNvSpPr>
          <p:nvPr/>
        </p:nvSpPr>
        <p:spPr bwMode="auto">
          <a:xfrm>
            <a:off x="7605713" y="1516063"/>
            <a:ext cx="1169987" cy="1860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r"/>
            <a:r>
              <a:rPr lang="en-US" sz="2000">
                <a:latin typeface="Arial" charset="0"/>
              </a:rPr>
              <a:t>D(z),p(z)</a:t>
            </a:r>
          </a:p>
          <a:p>
            <a:pPr algn="r"/>
            <a:r>
              <a:rPr lang="en-US"/>
              <a:t>∞ </a:t>
            </a:r>
            <a:endParaRPr lang="en-US" sz="2000">
              <a:latin typeface="Arial" charset="0"/>
            </a:endParaRPr>
          </a:p>
          <a:p>
            <a:pPr algn="r"/>
            <a:r>
              <a:rPr lang="en-US"/>
              <a:t>∞ </a:t>
            </a:r>
            <a:endParaRPr lang="en-US" sz="2000">
              <a:latin typeface="Arial" charset="0"/>
            </a:endParaRPr>
          </a:p>
          <a:p>
            <a:pPr algn="r"/>
            <a:r>
              <a:rPr lang="en-US" sz="2000">
                <a:latin typeface="Arial" charset="0"/>
              </a:rPr>
              <a:t>4,y</a:t>
            </a:r>
          </a:p>
          <a:p>
            <a:pPr algn="r"/>
            <a:r>
              <a:rPr lang="en-US" sz="2000">
                <a:latin typeface="Arial" charset="0"/>
              </a:rPr>
              <a:t>4,y</a:t>
            </a:r>
          </a:p>
          <a:p>
            <a:pPr algn="r"/>
            <a:r>
              <a:rPr lang="en-US" sz="2000">
                <a:latin typeface="Arial" charset="0"/>
              </a:rPr>
              <a:t>4,y</a:t>
            </a:r>
          </a:p>
        </p:txBody>
      </p:sp>
      <p:sp>
        <p:nvSpPr>
          <p:cNvPr id="464906" name="Line 10"/>
          <p:cNvSpPr>
            <a:spLocks noChangeShapeType="1"/>
          </p:cNvSpPr>
          <p:nvPr/>
        </p:nvSpPr>
        <p:spPr bwMode="auto">
          <a:xfrm>
            <a:off x="361950" y="1857375"/>
            <a:ext cx="8505825" cy="9525"/>
          </a:xfrm>
          <a:prstGeom prst="line">
            <a:avLst/>
          </a:prstGeom>
          <a:noFill/>
          <a:ln w="28575">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64907" name="Line 11"/>
          <p:cNvSpPr>
            <a:spLocks noChangeShapeType="1"/>
          </p:cNvSpPr>
          <p:nvPr/>
        </p:nvSpPr>
        <p:spPr bwMode="auto">
          <a:xfrm>
            <a:off x="519113" y="2162175"/>
            <a:ext cx="8296275" cy="0"/>
          </a:xfrm>
          <a:prstGeom prst="line">
            <a:avLst/>
          </a:prstGeom>
          <a:noFill/>
          <a:ln w="1905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64908" name="Line 12"/>
          <p:cNvSpPr>
            <a:spLocks noChangeShapeType="1"/>
          </p:cNvSpPr>
          <p:nvPr/>
        </p:nvSpPr>
        <p:spPr bwMode="auto">
          <a:xfrm>
            <a:off x="538163" y="2457450"/>
            <a:ext cx="8267700" cy="4763"/>
          </a:xfrm>
          <a:prstGeom prst="line">
            <a:avLst/>
          </a:prstGeom>
          <a:noFill/>
          <a:ln w="1905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64909" name="Line 13"/>
          <p:cNvSpPr>
            <a:spLocks noChangeShapeType="1"/>
          </p:cNvSpPr>
          <p:nvPr/>
        </p:nvSpPr>
        <p:spPr bwMode="auto">
          <a:xfrm>
            <a:off x="547688" y="2767013"/>
            <a:ext cx="8253412" cy="9525"/>
          </a:xfrm>
          <a:prstGeom prst="line">
            <a:avLst/>
          </a:prstGeom>
          <a:noFill/>
          <a:ln w="1905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64910" name="Line 14"/>
          <p:cNvSpPr>
            <a:spLocks noChangeShapeType="1"/>
          </p:cNvSpPr>
          <p:nvPr/>
        </p:nvSpPr>
        <p:spPr bwMode="auto">
          <a:xfrm>
            <a:off x="557213" y="3071813"/>
            <a:ext cx="8267700" cy="9525"/>
          </a:xfrm>
          <a:prstGeom prst="line">
            <a:avLst/>
          </a:prstGeom>
          <a:noFill/>
          <a:ln w="1905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64911" name="Line 15"/>
          <p:cNvSpPr>
            <a:spLocks noChangeShapeType="1"/>
          </p:cNvSpPr>
          <p:nvPr/>
        </p:nvSpPr>
        <p:spPr bwMode="auto">
          <a:xfrm>
            <a:off x="571500" y="3386138"/>
            <a:ext cx="8262938" cy="4762"/>
          </a:xfrm>
          <a:prstGeom prst="line">
            <a:avLst/>
          </a:prstGeom>
          <a:noFill/>
          <a:ln w="1905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grpSp>
        <p:nvGrpSpPr>
          <p:cNvPr id="464912" name="Group 16"/>
          <p:cNvGrpSpPr>
            <a:grpSpLocks/>
          </p:cNvGrpSpPr>
          <p:nvPr/>
        </p:nvGrpSpPr>
        <p:grpSpPr bwMode="auto">
          <a:xfrm>
            <a:off x="2224088" y="4043363"/>
            <a:ext cx="3571875" cy="2236787"/>
            <a:chOff x="3162" y="1071"/>
            <a:chExt cx="2250" cy="1409"/>
          </a:xfrm>
        </p:grpSpPr>
        <p:sp>
          <p:nvSpPr>
            <p:cNvPr id="464913" name="Freeform 17"/>
            <p:cNvSpPr>
              <a:spLocks/>
            </p:cNvSpPr>
            <p:nvPr/>
          </p:nvSpPr>
          <p:spPr bwMode="auto">
            <a:xfrm>
              <a:off x="3162" y="1071"/>
              <a:ext cx="2250" cy="1409"/>
            </a:xfrm>
            <a:custGeom>
              <a:avLst/>
              <a:gdLst>
                <a:gd name="T0" fmla="*/ 0 w 2250"/>
                <a:gd name="T1" fmla="*/ 624 h 1409"/>
                <a:gd name="T2" fmla="*/ 219 w 2250"/>
                <a:gd name="T3" fmla="*/ 321 h 1409"/>
                <a:gd name="T4" fmla="*/ 529 w 2250"/>
                <a:gd name="T5" fmla="*/ 35 h 1409"/>
                <a:gd name="T6" fmla="*/ 1551 w 2250"/>
                <a:gd name="T7" fmla="*/ 111 h 1409"/>
                <a:gd name="T8" fmla="*/ 1968 w 2250"/>
                <a:gd name="T9" fmla="*/ 483 h 1409"/>
                <a:gd name="T10" fmla="*/ 2199 w 2250"/>
                <a:gd name="T11" fmla="*/ 906 h 1409"/>
                <a:gd name="T12" fmla="*/ 1659 w 2250"/>
                <a:gd name="T13" fmla="*/ 1314 h 1409"/>
                <a:gd name="T14" fmla="*/ 993 w 2250"/>
                <a:gd name="T15" fmla="*/ 1386 h 1409"/>
                <a:gd name="T16" fmla="*/ 465 w 2250"/>
                <a:gd name="T17" fmla="*/ 1356 h 1409"/>
                <a:gd name="T18" fmla="*/ 102 w 2250"/>
                <a:gd name="T19" fmla="*/ 1068 h 1409"/>
                <a:gd name="T20" fmla="*/ 0 w 2250"/>
                <a:gd name="T21" fmla="*/ 624 h 14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250" h="1409">
                  <a:moveTo>
                    <a:pt x="0" y="624"/>
                  </a:moveTo>
                  <a:cubicBezTo>
                    <a:pt x="5" y="506"/>
                    <a:pt x="131" y="419"/>
                    <a:pt x="219" y="321"/>
                  </a:cubicBezTo>
                  <a:cubicBezTo>
                    <a:pt x="307" y="223"/>
                    <a:pt x="307" y="70"/>
                    <a:pt x="529" y="35"/>
                  </a:cubicBezTo>
                  <a:cubicBezTo>
                    <a:pt x="751" y="0"/>
                    <a:pt x="1311" y="36"/>
                    <a:pt x="1551" y="111"/>
                  </a:cubicBezTo>
                  <a:cubicBezTo>
                    <a:pt x="1791" y="186"/>
                    <a:pt x="1860" y="351"/>
                    <a:pt x="1968" y="483"/>
                  </a:cubicBezTo>
                  <a:cubicBezTo>
                    <a:pt x="2076" y="615"/>
                    <a:pt x="2250" y="767"/>
                    <a:pt x="2199" y="906"/>
                  </a:cubicBezTo>
                  <a:cubicBezTo>
                    <a:pt x="2148" y="1045"/>
                    <a:pt x="1860" y="1234"/>
                    <a:pt x="1659" y="1314"/>
                  </a:cubicBezTo>
                  <a:cubicBezTo>
                    <a:pt x="1458" y="1394"/>
                    <a:pt x="1192" y="1379"/>
                    <a:pt x="993" y="1386"/>
                  </a:cubicBezTo>
                  <a:cubicBezTo>
                    <a:pt x="794" y="1393"/>
                    <a:pt x="613" y="1409"/>
                    <a:pt x="465" y="1356"/>
                  </a:cubicBezTo>
                  <a:cubicBezTo>
                    <a:pt x="317" y="1303"/>
                    <a:pt x="180" y="1190"/>
                    <a:pt x="102" y="1068"/>
                  </a:cubicBezTo>
                  <a:cubicBezTo>
                    <a:pt x="24" y="946"/>
                    <a:pt x="21" y="716"/>
                    <a:pt x="0" y="624"/>
                  </a:cubicBezTo>
                  <a:close/>
                </a:path>
              </a:pathLst>
            </a:custGeom>
            <a:solidFill>
              <a:srgbClr val="99CCFF"/>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64914" name="Freeform 18"/>
            <p:cNvSpPr>
              <a:spLocks/>
            </p:cNvSpPr>
            <p:nvPr/>
          </p:nvSpPr>
          <p:spPr bwMode="auto">
            <a:xfrm>
              <a:off x="3498" y="1620"/>
              <a:ext cx="342" cy="186"/>
            </a:xfrm>
            <a:custGeom>
              <a:avLst/>
              <a:gdLst>
                <a:gd name="T0" fmla="*/ 0 w 342"/>
                <a:gd name="T1" fmla="*/ 186 h 186"/>
                <a:gd name="T2" fmla="*/ 342 w 342"/>
                <a:gd name="T3" fmla="*/ 0 h 186"/>
              </a:gdLst>
              <a:ahLst/>
              <a:cxnLst>
                <a:cxn ang="0">
                  <a:pos x="T0" y="T1"/>
                </a:cxn>
                <a:cxn ang="0">
                  <a:pos x="T2" y="T3"/>
                </a:cxn>
              </a:cxnLst>
              <a:rect l="0" t="0" r="r" b="b"/>
              <a:pathLst>
                <a:path w="342" h="186">
                  <a:moveTo>
                    <a:pt x="0" y="186"/>
                  </a:moveTo>
                  <a:lnTo>
                    <a:pt x="342" y="0"/>
                  </a:lnTo>
                </a:path>
              </a:pathLst>
            </a:custGeom>
            <a:noFill/>
            <a:ln w="127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64915" name="Oval 19"/>
            <p:cNvSpPr>
              <a:spLocks noChangeArrowheads="1"/>
            </p:cNvSpPr>
            <p:nvPr/>
          </p:nvSpPr>
          <p:spPr bwMode="auto">
            <a:xfrm>
              <a:off x="3238" y="1862"/>
              <a:ext cx="313" cy="81"/>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64916" name="Line 20"/>
            <p:cNvSpPr>
              <a:spLocks noChangeShapeType="1"/>
            </p:cNvSpPr>
            <p:nvPr/>
          </p:nvSpPr>
          <p:spPr bwMode="auto">
            <a:xfrm>
              <a:off x="3238" y="1855"/>
              <a:ext cx="0" cy="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64917" name="Line 21"/>
            <p:cNvSpPr>
              <a:spLocks noChangeShapeType="1"/>
            </p:cNvSpPr>
            <p:nvPr/>
          </p:nvSpPr>
          <p:spPr bwMode="auto">
            <a:xfrm>
              <a:off x="3551" y="1855"/>
              <a:ext cx="0" cy="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64918" name="Rectangle 22"/>
            <p:cNvSpPr>
              <a:spLocks noChangeArrowheads="1"/>
            </p:cNvSpPr>
            <p:nvPr/>
          </p:nvSpPr>
          <p:spPr bwMode="auto">
            <a:xfrm>
              <a:off x="3238" y="1855"/>
              <a:ext cx="310" cy="49"/>
            </a:xfrm>
            <a:prstGeom prst="rect">
              <a:avLst/>
            </a:prstGeom>
            <a:solidFill>
              <a:schemeClr val="hlink"/>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de-DE" sz="2400">
                <a:latin typeface="Times New Roman" pitchFamily="18" charset="0"/>
              </a:endParaRPr>
            </a:p>
          </p:txBody>
        </p:sp>
        <p:sp>
          <p:nvSpPr>
            <p:cNvPr id="464919" name="Oval 23"/>
            <p:cNvSpPr>
              <a:spLocks noChangeArrowheads="1"/>
            </p:cNvSpPr>
            <p:nvPr/>
          </p:nvSpPr>
          <p:spPr bwMode="auto">
            <a:xfrm>
              <a:off x="3235" y="1796"/>
              <a:ext cx="313" cy="95"/>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64920" name="Oval 24"/>
            <p:cNvSpPr>
              <a:spLocks noChangeArrowheads="1"/>
            </p:cNvSpPr>
            <p:nvPr/>
          </p:nvSpPr>
          <p:spPr bwMode="auto">
            <a:xfrm>
              <a:off x="3712" y="2249"/>
              <a:ext cx="313" cy="81"/>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64921" name="Line 25"/>
            <p:cNvSpPr>
              <a:spLocks noChangeShapeType="1"/>
            </p:cNvSpPr>
            <p:nvPr/>
          </p:nvSpPr>
          <p:spPr bwMode="auto">
            <a:xfrm>
              <a:off x="3712" y="2242"/>
              <a:ext cx="0" cy="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64922" name="Line 26"/>
            <p:cNvSpPr>
              <a:spLocks noChangeShapeType="1"/>
            </p:cNvSpPr>
            <p:nvPr/>
          </p:nvSpPr>
          <p:spPr bwMode="auto">
            <a:xfrm>
              <a:off x="4025" y="2242"/>
              <a:ext cx="0" cy="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64923" name="Rectangle 27"/>
            <p:cNvSpPr>
              <a:spLocks noChangeArrowheads="1"/>
            </p:cNvSpPr>
            <p:nvPr/>
          </p:nvSpPr>
          <p:spPr bwMode="auto">
            <a:xfrm>
              <a:off x="3712" y="2242"/>
              <a:ext cx="310" cy="49"/>
            </a:xfrm>
            <a:prstGeom prst="rect">
              <a:avLst/>
            </a:prstGeom>
            <a:solidFill>
              <a:schemeClr val="hlink"/>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de-DE" sz="2400">
                <a:latin typeface="Times New Roman" pitchFamily="18" charset="0"/>
              </a:endParaRPr>
            </a:p>
          </p:txBody>
        </p:sp>
        <p:sp>
          <p:nvSpPr>
            <p:cNvPr id="464924" name="Oval 28"/>
            <p:cNvSpPr>
              <a:spLocks noChangeArrowheads="1"/>
            </p:cNvSpPr>
            <p:nvPr/>
          </p:nvSpPr>
          <p:spPr bwMode="auto">
            <a:xfrm>
              <a:off x="3709" y="2183"/>
              <a:ext cx="313" cy="95"/>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64925" name="Oval 29"/>
            <p:cNvSpPr>
              <a:spLocks noChangeArrowheads="1"/>
            </p:cNvSpPr>
            <p:nvPr/>
          </p:nvSpPr>
          <p:spPr bwMode="auto">
            <a:xfrm>
              <a:off x="3708" y="1559"/>
              <a:ext cx="313" cy="81"/>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64926" name="Line 30"/>
            <p:cNvSpPr>
              <a:spLocks noChangeShapeType="1"/>
            </p:cNvSpPr>
            <p:nvPr/>
          </p:nvSpPr>
          <p:spPr bwMode="auto">
            <a:xfrm>
              <a:off x="3708" y="1552"/>
              <a:ext cx="0" cy="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64927" name="Line 31"/>
            <p:cNvSpPr>
              <a:spLocks noChangeShapeType="1"/>
            </p:cNvSpPr>
            <p:nvPr/>
          </p:nvSpPr>
          <p:spPr bwMode="auto">
            <a:xfrm>
              <a:off x="4021" y="1552"/>
              <a:ext cx="0" cy="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64928" name="Rectangle 32"/>
            <p:cNvSpPr>
              <a:spLocks noChangeArrowheads="1"/>
            </p:cNvSpPr>
            <p:nvPr/>
          </p:nvSpPr>
          <p:spPr bwMode="auto">
            <a:xfrm>
              <a:off x="3708" y="1552"/>
              <a:ext cx="310" cy="49"/>
            </a:xfrm>
            <a:prstGeom prst="rect">
              <a:avLst/>
            </a:prstGeom>
            <a:solidFill>
              <a:schemeClr val="hlink"/>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de-DE" sz="2400">
                <a:latin typeface="Times New Roman" pitchFamily="18" charset="0"/>
              </a:endParaRPr>
            </a:p>
          </p:txBody>
        </p:sp>
        <p:sp>
          <p:nvSpPr>
            <p:cNvPr id="464929" name="Oval 33"/>
            <p:cNvSpPr>
              <a:spLocks noChangeArrowheads="1"/>
            </p:cNvSpPr>
            <p:nvPr/>
          </p:nvSpPr>
          <p:spPr bwMode="auto">
            <a:xfrm>
              <a:off x="3705" y="1493"/>
              <a:ext cx="313" cy="95"/>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64930" name="Oval 34"/>
            <p:cNvSpPr>
              <a:spLocks noChangeArrowheads="1"/>
            </p:cNvSpPr>
            <p:nvPr/>
          </p:nvSpPr>
          <p:spPr bwMode="auto">
            <a:xfrm>
              <a:off x="4391" y="1555"/>
              <a:ext cx="312" cy="81"/>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64931" name="Line 35"/>
            <p:cNvSpPr>
              <a:spLocks noChangeShapeType="1"/>
            </p:cNvSpPr>
            <p:nvPr/>
          </p:nvSpPr>
          <p:spPr bwMode="auto">
            <a:xfrm>
              <a:off x="4391" y="1548"/>
              <a:ext cx="0" cy="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64932" name="Line 36"/>
            <p:cNvSpPr>
              <a:spLocks noChangeShapeType="1"/>
            </p:cNvSpPr>
            <p:nvPr/>
          </p:nvSpPr>
          <p:spPr bwMode="auto">
            <a:xfrm>
              <a:off x="4703" y="1548"/>
              <a:ext cx="0" cy="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64933" name="Rectangle 37"/>
            <p:cNvSpPr>
              <a:spLocks noChangeArrowheads="1"/>
            </p:cNvSpPr>
            <p:nvPr/>
          </p:nvSpPr>
          <p:spPr bwMode="auto">
            <a:xfrm>
              <a:off x="4391" y="1548"/>
              <a:ext cx="309" cy="49"/>
            </a:xfrm>
            <a:prstGeom prst="rect">
              <a:avLst/>
            </a:prstGeom>
            <a:solidFill>
              <a:schemeClr val="hlink"/>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de-DE" sz="2400">
                <a:latin typeface="Times New Roman" pitchFamily="18" charset="0"/>
              </a:endParaRPr>
            </a:p>
          </p:txBody>
        </p:sp>
        <p:sp>
          <p:nvSpPr>
            <p:cNvPr id="464934" name="Oval 38"/>
            <p:cNvSpPr>
              <a:spLocks noChangeArrowheads="1"/>
            </p:cNvSpPr>
            <p:nvPr/>
          </p:nvSpPr>
          <p:spPr bwMode="auto">
            <a:xfrm>
              <a:off x="4394" y="1492"/>
              <a:ext cx="312" cy="95"/>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64935" name="Oval 39"/>
            <p:cNvSpPr>
              <a:spLocks noChangeArrowheads="1"/>
            </p:cNvSpPr>
            <p:nvPr/>
          </p:nvSpPr>
          <p:spPr bwMode="auto">
            <a:xfrm>
              <a:off x="4401" y="2246"/>
              <a:ext cx="313" cy="81"/>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64936" name="Line 40"/>
            <p:cNvSpPr>
              <a:spLocks noChangeShapeType="1"/>
            </p:cNvSpPr>
            <p:nvPr/>
          </p:nvSpPr>
          <p:spPr bwMode="auto">
            <a:xfrm>
              <a:off x="4401" y="2239"/>
              <a:ext cx="0" cy="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64937" name="Line 41"/>
            <p:cNvSpPr>
              <a:spLocks noChangeShapeType="1"/>
            </p:cNvSpPr>
            <p:nvPr/>
          </p:nvSpPr>
          <p:spPr bwMode="auto">
            <a:xfrm>
              <a:off x="4714" y="2239"/>
              <a:ext cx="0" cy="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64938" name="Rectangle 42"/>
            <p:cNvSpPr>
              <a:spLocks noChangeArrowheads="1"/>
            </p:cNvSpPr>
            <p:nvPr/>
          </p:nvSpPr>
          <p:spPr bwMode="auto">
            <a:xfrm>
              <a:off x="4401" y="2239"/>
              <a:ext cx="310" cy="49"/>
            </a:xfrm>
            <a:prstGeom prst="rect">
              <a:avLst/>
            </a:prstGeom>
            <a:solidFill>
              <a:schemeClr val="hlink"/>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de-DE" sz="2400">
                <a:latin typeface="Times New Roman" pitchFamily="18" charset="0"/>
              </a:endParaRPr>
            </a:p>
          </p:txBody>
        </p:sp>
        <p:sp>
          <p:nvSpPr>
            <p:cNvPr id="464939" name="Oval 43"/>
            <p:cNvSpPr>
              <a:spLocks noChangeArrowheads="1"/>
            </p:cNvSpPr>
            <p:nvPr/>
          </p:nvSpPr>
          <p:spPr bwMode="auto">
            <a:xfrm>
              <a:off x="4398" y="2180"/>
              <a:ext cx="313" cy="95"/>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64940" name="Oval 44"/>
            <p:cNvSpPr>
              <a:spLocks noChangeArrowheads="1"/>
            </p:cNvSpPr>
            <p:nvPr/>
          </p:nvSpPr>
          <p:spPr bwMode="auto">
            <a:xfrm>
              <a:off x="4966" y="1905"/>
              <a:ext cx="313" cy="81"/>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64941" name="Line 45"/>
            <p:cNvSpPr>
              <a:spLocks noChangeShapeType="1"/>
            </p:cNvSpPr>
            <p:nvPr/>
          </p:nvSpPr>
          <p:spPr bwMode="auto">
            <a:xfrm>
              <a:off x="4966" y="1898"/>
              <a:ext cx="0" cy="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64942" name="Line 46"/>
            <p:cNvSpPr>
              <a:spLocks noChangeShapeType="1"/>
            </p:cNvSpPr>
            <p:nvPr/>
          </p:nvSpPr>
          <p:spPr bwMode="auto">
            <a:xfrm>
              <a:off x="5279" y="1898"/>
              <a:ext cx="0" cy="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64943" name="Rectangle 47"/>
            <p:cNvSpPr>
              <a:spLocks noChangeArrowheads="1"/>
            </p:cNvSpPr>
            <p:nvPr/>
          </p:nvSpPr>
          <p:spPr bwMode="auto">
            <a:xfrm>
              <a:off x="4966" y="1898"/>
              <a:ext cx="310" cy="49"/>
            </a:xfrm>
            <a:prstGeom prst="rect">
              <a:avLst/>
            </a:prstGeom>
            <a:solidFill>
              <a:schemeClr val="hlink"/>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de-DE" sz="2400">
                <a:latin typeface="Times New Roman" pitchFamily="18" charset="0"/>
              </a:endParaRPr>
            </a:p>
          </p:txBody>
        </p:sp>
        <p:sp>
          <p:nvSpPr>
            <p:cNvPr id="464944" name="Oval 48"/>
            <p:cNvSpPr>
              <a:spLocks noChangeArrowheads="1"/>
            </p:cNvSpPr>
            <p:nvPr/>
          </p:nvSpPr>
          <p:spPr bwMode="auto">
            <a:xfrm>
              <a:off x="4963" y="1839"/>
              <a:ext cx="313" cy="95"/>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64945" name="Freeform 49"/>
            <p:cNvSpPr>
              <a:spLocks/>
            </p:cNvSpPr>
            <p:nvPr/>
          </p:nvSpPr>
          <p:spPr bwMode="auto">
            <a:xfrm>
              <a:off x="4557" y="1647"/>
              <a:ext cx="1" cy="522"/>
            </a:xfrm>
            <a:custGeom>
              <a:avLst/>
              <a:gdLst>
                <a:gd name="T0" fmla="*/ 0 w 1"/>
                <a:gd name="T1" fmla="*/ 0 h 522"/>
                <a:gd name="T2" fmla="*/ 0 w 1"/>
                <a:gd name="T3" fmla="*/ 522 h 522"/>
              </a:gdLst>
              <a:ahLst/>
              <a:cxnLst>
                <a:cxn ang="0">
                  <a:pos x="T0" y="T1"/>
                </a:cxn>
                <a:cxn ang="0">
                  <a:pos x="T2" y="T3"/>
                </a:cxn>
              </a:cxnLst>
              <a:rect l="0" t="0" r="r" b="b"/>
              <a:pathLst>
                <a:path w="1" h="522">
                  <a:moveTo>
                    <a:pt x="0" y="0"/>
                  </a:moveTo>
                  <a:lnTo>
                    <a:pt x="0" y="522"/>
                  </a:lnTo>
                </a:path>
              </a:pathLst>
            </a:custGeom>
            <a:noFill/>
            <a:ln w="127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64946" name="Freeform 50"/>
            <p:cNvSpPr>
              <a:spLocks/>
            </p:cNvSpPr>
            <p:nvPr/>
          </p:nvSpPr>
          <p:spPr bwMode="auto">
            <a:xfrm>
              <a:off x="3864" y="1653"/>
              <a:ext cx="1" cy="537"/>
            </a:xfrm>
            <a:custGeom>
              <a:avLst/>
              <a:gdLst>
                <a:gd name="T0" fmla="*/ 0 w 1"/>
                <a:gd name="T1" fmla="*/ 0 h 537"/>
                <a:gd name="T2" fmla="*/ 0 w 1"/>
                <a:gd name="T3" fmla="*/ 537 h 537"/>
              </a:gdLst>
              <a:ahLst/>
              <a:cxnLst>
                <a:cxn ang="0">
                  <a:pos x="T0" y="T1"/>
                </a:cxn>
                <a:cxn ang="0">
                  <a:pos x="T2" y="T3"/>
                </a:cxn>
              </a:cxnLst>
              <a:rect l="0" t="0" r="r" b="b"/>
              <a:pathLst>
                <a:path w="1" h="537">
                  <a:moveTo>
                    <a:pt x="0" y="0"/>
                  </a:moveTo>
                  <a:lnTo>
                    <a:pt x="0" y="537"/>
                  </a:lnTo>
                </a:path>
              </a:pathLst>
            </a:custGeom>
            <a:noFill/>
            <a:ln w="127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64947" name="Freeform 51"/>
            <p:cNvSpPr>
              <a:spLocks/>
            </p:cNvSpPr>
            <p:nvPr/>
          </p:nvSpPr>
          <p:spPr bwMode="auto">
            <a:xfrm>
              <a:off x="4029" y="1638"/>
              <a:ext cx="504" cy="600"/>
            </a:xfrm>
            <a:custGeom>
              <a:avLst/>
              <a:gdLst>
                <a:gd name="T0" fmla="*/ 0 w 378"/>
                <a:gd name="T1" fmla="*/ 174 h 174"/>
                <a:gd name="T2" fmla="*/ 378 w 378"/>
                <a:gd name="T3" fmla="*/ 0 h 174"/>
              </a:gdLst>
              <a:ahLst/>
              <a:cxnLst>
                <a:cxn ang="0">
                  <a:pos x="T0" y="T1"/>
                </a:cxn>
                <a:cxn ang="0">
                  <a:pos x="T2" y="T3"/>
                </a:cxn>
              </a:cxnLst>
              <a:rect l="0" t="0" r="r" b="b"/>
              <a:pathLst>
                <a:path w="378" h="174">
                  <a:moveTo>
                    <a:pt x="0" y="174"/>
                  </a:moveTo>
                  <a:lnTo>
                    <a:pt x="378" y="0"/>
                  </a:lnTo>
                </a:path>
              </a:pathLst>
            </a:custGeom>
            <a:noFill/>
            <a:ln w="127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64948" name="Freeform 52"/>
            <p:cNvSpPr>
              <a:spLocks/>
            </p:cNvSpPr>
            <p:nvPr/>
          </p:nvSpPr>
          <p:spPr bwMode="auto">
            <a:xfrm>
              <a:off x="4716" y="1986"/>
              <a:ext cx="366" cy="270"/>
            </a:xfrm>
            <a:custGeom>
              <a:avLst/>
              <a:gdLst>
                <a:gd name="T0" fmla="*/ 0 w 366"/>
                <a:gd name="T1" fmla="*/ 270 h 270"/>
                <a:gd name="T2" fmla="*/ 366 w 366"/>
                <a:gd name="T3" fmla="*/ 0 h 270"/>
              </a:gdLst>
              <a:ahLst/>
              <a:cxnLst>
                <a:cxn ang="0">
                  <a:pos x="T0" y="T1"/>
                </a:cxn>
                <a:cxn ang="0">
                  <a:pos x="T2" y="T3"/>
                </a:cxn>
              </a:cxnLst>
              <a:rect l="0" t="0" r="r" b="b"/>
              <a:pathLst>
                <a:path w="366" h="270">
                  <a:moveTo>
                    <a:pt x="0" y="270"/>
                  </a:moveTo>
                  <a:lnTo>
                    <a:pt x="366" y="0"/>
                  </a:lnTo>
                </a:path>
              </a:pathLst>
            </a:custGeom>
            <a:noFill/>
            <a:ln w="127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64949" name="Freeform 53"/>
            <p:cNvSpPr>
              <a:spLocks/>
            </p:cNvSpPr>
            <p:nvPr/>
          </p:nvSpPr>
          <p:spPr bwMode="auto">
            <a:xfrm>
              <a:off x="4035" y="2268"/>
              <a:ext cx="366" cy="1"/>
            </a:xfrm>
            <a:custGeom>
              <a:avLst/>
              <a:gdLst>
                <a:gd name="T0" fmla="*/ 366 w 366"/>
                <a:gd name="T1" fmla="*/ 0 h 1"/>
                <a:gd name="T2" fmla="*/ 0 w 366"/>
                <a:gd name="T3" fmla="*/ 0 h 1"/>
              </a:gdLst>
              <a:ahLst/>
              <a:cxnLst>
                <a:cxn ang="0">
                  <a:pos x="T0" y="T1"/>
                </a:cxn>
                <a:cxn ang="0">
                  <a:pos x="T2" y="T3"/>
                </a:cxn>
              </a:cxnLst>
              <a:rect l="0" t="0" r="r" b="b"/>
              <a:pathLst>
                <a:path w="366" h="1">
                  <a:moveTo>
                    <a:pt x="366" y="0"/>
                  </a:moveTo>
                  <a:lnTo>
                    <a:pt x="0" y="0"/>
                  </a:lnTo>
                </a:path>
              </a:pathLst>
            </a:custGeom>
            <a:noFill/>
            <a:ln w="127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64950" name="Freeform 54"/>
            <p:cNvSpPr>
              <a:spLocks/>
            </p:cNvSpPr>
            <p:nvPr/>
          </p:nvSpPr>
          <p:spPr bwMode="auto">
            <a:xfrm>
              <a:off x="3444" y="1944"/>
              <a:ext cx="276" cy="264"/>
            </a:xfrm>
            <a:custGeom>
              <a:avLst/>
              <a:gdLst>
                <a:gd name="T0" fmla="*/ 276 w 276"/>
                <a:gd name="T1" fmla="*/ 264 h 264"/>
                <a:gd name="T2" fmla="*/ 0 w 276"/>
                <a:gd name="T3" fmla="*/ 0 h 264"/>
              </a:gdLst>
              <a:ahLst/>
              <a:cxnLst>
                <a:cxn ang="0">
                  <a:pos x="T0" y="T1"/>
                </a:cxn>
                <a:cxn ang="0">
                  <a:pos x="T2" y="T3"/>
                </a:cxn>
              </a:cxnLst>
              <a:rect l="0" t="0" r="r" b="b"/>
              <a:pathLst>
                <a:path w="276" h="264">
                  <a:moveTo>
                    <a:pt x="276" y="264"/>
                  </a:moveTo>
                  <a:lnTo>
                    <a:pt x="0" y="0"/>
                  </a:lnTo>
                </a:path>
              </a:pathLst>
            </a:custGeom>
            <a:noFill/>
            <a:ln w="127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64951" name="Freeform 55"/>
            <p:cNvSpPr>
              <a:spLocks/>
            </p:cNvSpPr>
            <p:nvPr/>
          </p:nvSpPr>
          <p:spPr bwMode="auto">
            <a:xfrm>
              <a:off x="4029" y="1578"/>
              <a:ext cx="366" cy="1"/>
            </a:xfrm>
            <a:custGeom>
              <a:avLst/>
              <a:gdLst>
                <a:gd name="T0" fmla="*/ 366 w 366"/>
                <a:gd name="T1" fmla="*/ 0 h 1"/>
                <a:gd name="T2" fmla="*/ 0 w 366"/>
                <a:gd name="T3" fmla="*/ 0 h 1"/>
              </a:gdLst>
              <a:ahLst/>
              <a:cxnLst>
                <a:cxn ang="0">
                  <a:pos x="T0" y="T1"/>
                </a:cxn>
                <a:cxn ang="0">
                  <a:pos x="T2" y="T3"/>
                </a:cxn>
              </a:cxnLst>
              <a:rect l="0" t="0" r="r" b="b"/>
              <a:pathLst>
                <a:path w="366" h="1">
                  <a:moveTo>
                    <a:pt x="366" y="0"/>
                  </a:moveTo>
                  <a:lnTo>
                    <a:pt x="0" y="0"/>
                  </a:lnTo>
                </a:path>
              </a:pathLst>
            </a:custGeom>
            <a:noFill/>
            <a:ln w="127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64952" name="Freeform 56"/>
            <p:cNvSpPr>
              <a:spLocks/>
            </p:cNvSpPr>
            <p:nvPr/>
          </p:nvSpPr>
          <p:spPr bwMode="auto">
            <a:xfrm>
              <a:off x="4704" y="1575"/>
              <a:ext cx="396" cy="267"/>
            </a:xfrm>
            <a:custGeom>
              <a:avLst/>
              <a:gdLst>
                <a:gd name="T0" fmla="*/ 396 w 396"/>
                <a:gd name="T1" fmla="*/ 267 h 267"/>
                <a:gd name="T2" fmla="*/ 0 w 396"/>
                <a:gd name="T3" fmla="*/ 0 h 267"/>
              </a:gdLst>
              <a:ahLst/>
              <a:cxnLst>
                <a:cxn ang="0">
                  <a:pos x="T0" y="T1"/>
                </a:cxn>
                <a:cxn ang="0">
                  <a:pos x="T2" y="T3"/>
                </a:cxn>
              </a:cxnLst>
              <a:rect l="0" t="0" r="r" b="b"/>
              <a:pathLst>
                <a:path w="396" h="267">
                  <a:moveTo>
                    <a:pt x="396" y="267"/>
                  </a:moveTo>
                  <a:lnTo>
                    <a:pt x="0" y="0"/>
                  </a:lnTo>
                </a:path>
              </a:pathLst>
            </a:custGeom>
            <a:noFill/>
            <a:ln w="127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64953" name="Freeform 57"/>
            <p:cNvSpPr>
              <a:spLocks/>
            </p:cNvSpPr>
            <p:nvPr/>
          </p:nvSpPr>
          <p:spPr bwMode="auto">
            <a:xfrm>
              <a:off x="3387" y="1146"/>
              <a:ext cx="1110" cy="645"/>
            </a:xfrm>
            <a:custGeom>
              <a:avLst/>
              <a:gdLst>
                <a:gd name="T0" fmla="*/ 1110 w 1110"/>
                <a:gd name="T1" fmla="*/ 342 h 645"/>
                <a:gd name="T2" fmla="*/ 0 w 1110"/>
                <a:gd name="T3" fmla="*/ 645 h 645"/>
              </a:gdLst>
              <a:ahLst/>
              <a:cxnLst>
                <a:cxn ang="0">
                  <a:pos x="T0" y="T1"/>
                </a:cxn>
                <a:cxn ang="0">
                  <a:pos x="T2" y="T3"/>
                </a:cxn>
              </a:cxnLst>
              <a:rect l="0" t="0" r="r" b="b"/>
              <a:pathLst>
                <a:path w="1110" h="645">
                  <a:moveTo>
                    <a:pt x="1110" y="342"/>
                  </a:moveTo>
                  <a:cubicBezTo>
                    <a:pt x="1104" y="0"/>
                    <a:pt x="21" y="63"/>
                    <a:pt x="0" y="645"/>
                  </a:cubicBezTo>
                </a:path>
              </a:pathLst>
            </a:custGeom>
            <a:noFill/>
            <a:ln w="127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grpSp>
          <p:nvGrpSpPr>
            <p:cNvPr id="464954" name="Group 58"/>
            <p:cNvGrpSpPr>
              <a:grpSpLocks/>
            </p:cNvGrpSpPr>
            <p:nvPr/>
          </p:nvGrpSpPr>
          <p:grpSpPr bwMode="auto">
            <a:xfrm>
              <a:off x="3287" y="1731"/>
              <a:ext cx="183" cy="252"/>
              <a:chOff x="2941" y="2412"/>
              <a:chExt cx="185" cy="252"/>
            </a:xfrm>
          </p:grpSpPr>
          <p:sp>
            <p:nvSpPr>
              <p:cNvPr id="464955" name="Rectangle 59"/>
              <p:cNvSpPr>
                <a:spLocks noChangeArrowheads="1"/>
              </p:cNvSpPr>
              <p:nvPr/>
            </p:nvSpPr>
            <p:spPr bwMode="auto">
              <a:xfrm>
                <a:off x="2982" y="2490"/>
                <a:ext cx="144" cy="132"/>
              </a:xfrm>
              <a:prstGeom prst="rect">
                <a:avLst/>
              </a:prstGeom>
              <a:solidFill>
                <a:schemeClr va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64956" name="Text Box 60"/>
              <p:cNvSpPr txBox="1">
                <a:spLocks noChangeArrowheads="1"/>
              </p:cNvSpPr>
              <p:nvPr/>
            </p:nvSpPr>
            <p:spPr bwMode="auto">
              <a:xfrm>
                <a:off x="2941" y="2412"/>
                <a:ext cx="157" cy="25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r>
                  <a:rPr lang="en-US" sz="2000" b="1" dirty="0">
                    <a:solidFill>
                      <a:srgbClr val="FF0000"/>
                    </a:solidFill>
                  </a:rPr>
                  <a:t>u</a:t>
                </a:r>
                <a:endParaRPr lang="en-US" sz="2400" b="1" dirty="0">
                  <a:solidFill>
                    <a:srgbClr val="FF0000"/>
                  </a:solidFill>
                  <a:latin typeface="Times New Roman" pitchFamily="18" charset="0"/>
                </a:endParaRPr>
              </a:p>
            </p:txBody>
          </p:sp>
        </p:grpSp>
        <p:grpSp>
          <p:nvGrpSpPr>
            <p:cNvPr id="464957" name="Group 61"/>
            <p:cNvGrpSpPr>
              <a:grpSpLocks/>
            </p:cNvGrpSpPr>
            <p:nvPr/>
          </p:nvGrpSpPr>
          <p:grpSpPr bwMode="auto">
            <a:xfrm>
              <a:off x="4460" y="2132"/>
              <a:ext cx="199" cy="250"/>
              <a:chOff x="2957" y="2429"/>
              <a:chExt cx="202" cy="250"/>
            </a:xfrm>
          </p:grpSpPr>
          <p:sp>
            <p:nvSpPr>
              <p:cNvPr id="464958" name="Rectangle 62"/>
              <p:cNvSpPr>
                <a:spLocks noChangeArrowheads="1"/>
              </p:cNvSpPr>
              <p:nvPr/>
            </p:nvSpPr>
            <p:spPr bwMode="auto">
              <a:xfrm>
                <a:off x="2982" y="2490"/>
                <a:ext cx="144" cy="132"/>
              </a:xfrm>
              <a:prstGeom prst="rect">
                <a:avLst/>
              </a:prstGeom>
              <a:solidFill>
                <a:schemeClr va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64959" name="Text Box 63"/>
              <p:cNvSpPr txBox="1">
                <a:spLocks noChangeArrowheads="1"/>
              </p:cNvSpPr>
              <p:nvPr/>
            </p:nvSpPr>
            <p:spPr bwMode="auto">
              <a:xfrm>
                <a:off x="2957" y="2429"/>
                <a:ext cx="202"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2000"/>
                  <a:t>y</a:t>
                </a:r>
                <a:endParaRPr lang="en-US" sz="2400">
                  <a:latin typeface="Times New Roman" pitchFamily="18" charset="0"/>
                </a:endParaRPr>
              </a:p>
            </p:txBody>
          </p:sp>
        </p:grpSp>
        <p:grpSp>
          <p:nvGrpSpPr>
            <p:cNvPr id="464960" name="Group 64"/>
            <p:cNvGrpSpPr>
              <a:grpSpLocks/>
            </p:cNvGrpSpPr>
            <p:nvPr/>
          </p:nvGrpSpPr>
          <p:grpSpPr bwMode="auto">
            <a:xfrm>
              <a:off x="3764" y="2099"/>
              <a:ext cx="229" cy="288"/>
              <a:chOff x="2943" y="2399"/>
              <a:chExt cx="230" cy="288"/>
            </a:xfrm>
          </p:grpSpPr>
          <p:sp>
            <p:nvSpPr>
              <p:cNvPr id="464961" name="Rectangle 65"/>
              <p:cNvSpPr>
                <a:spLocks noChangeArrowheads="1"/>
              </p:cNvSpPr>
              <p:nvPr/>
            </p:nvSpPr>
            <p:spPr bwMode="auto">
              <a:xfrm>
                <a:off x="2982" y="2490"/>
                <a:ext cx="144" cy="132"/>
              </a:xfrm>
              <a:prstGeom prst="rect">
                <a:avLst/>
              </a:prstGeom>
              <a:solidFill>
                <a:schemeClr va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64962" name="Text Box 66"/>
              <p:cNvSpPr txBox="1">
                <a:spLocks noChangeArrowheads="1"/>
              </p:cNvSpPr>
              <p:nvPr/>
            </p:nvSpPr>
            <p:spPr bwMode="auto">
              <a:xfrm>
                <a:off x="2943" y="2399"/>
                <a:ext cx="230"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2400"/>
                  <a:t>x</a:t>
                </a:r>
              </a:p>
            </p:txBody>
          </p:sp>
        </p:grpSp>
        <p:grpSp>
          <p:nvGrpSpPr>
            <p:cNvPr id="464963" name="Group 67"/>
            <p:cNvGrpSpPr>
              <a:grpSpLocks/>
            </p:cNvGrpSpPr>
            <p:nvPr/>
          </p:nvGrpSpPr>
          <p:grpSpPr bwMode="auto">
            <a:xfrm>
              <a:off x="4441" y="1442"/>
              <a:ext cx="225" cy="250"/>
              <a:chOff x="2944" y="2429"/>
              <a:chExt cx="228" cy="250"/>
            </a:xfrm>
          </p:grpSpPr>
          <p:sp>
            <p:nvSpPr>
              <p:cNvPr id="464964" name="Rectangle 68"/>
              <p:cNvSpPr>
                <a:spLocks noChangeArrowheads="1"/>
              </p:cNvSpPr>
              <p:nvPr/>
            </p:nvSpPr>
            <p:spPr bwMode="auto">
              <a:xfrm>
                <a:off x="2982" y="2490"/>
                <a:ext cx="144" cy="132"/>
              </a:xfrm>
              <a:prstGeom prst="rect">
                <a:avLst/>
              </a:prstGeom>
              <a:solidFill>
                <a:schemeClr va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64965" name="Text Box 69"/>
              <p:cNvSpPr txBox="1">
                <a:spLocks noChangeArrowheads="1"/>
              </p:cNvSpPr>
              <p:nvPr/>
            </p:nvSpPr>
            <p:spPr bwMode="auto">
              <a:xfrm>
                <a:off x="2944" y="2429"/>
                <a:ext cx="228"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2000"/>
                  <a:t>w</a:t>
                </a:r>
                <a:endParaRPr lang="en-US" sz="2400">
                  <a:latin typeface="Times New Roman" pitchFamily="18" charset="0"/>
                </a:endParaRPr>
              </a:p>
            </p:txBody>
          </p:sp>
        </p:grpSp>
        <p:grpSp>
          <p:nvGrpSpPr>
            <p:cNvPr id="464966" name="Group 70"/>
            <p:cNvGrpSpPr>
              <a:grpSpLocks/>
            </p:cNvGrpSpPr>
            <p:nvPr/>
          </p:nvGrpSpPr>
          <p:grpSpPr bwMode="auto">
            <a:xfrm>
              <a:off x="3772" y="1442"/>
              <a:ext cx="194" cy="250"/>
              <a:chOff x="2959" y="2429"/>
              <a:chExt cx="197" cy="250"/>
            </a:xfrm>
          </p:grpSpPr>
          <p:sp>
            <p:nvSpPr>
              <p:cNvPr id="464967" name="Rectangle 71"/>
              <p:cNvSpPr>
                <a:spLocks noChangeArrowheads="1"/>
              </p:cNvSpPr>
              <p:nvPr/>
            </p:nvSpPr>
            <p:spPr bwMode="auto">
              <a:xfrm>
                <a:off x="2982" y="2490"/>
                <a:ext cx="144" cy="132"/>
              </a:xfrm>
              <a:prstGeom prst="rect">
                <a:avLst/>
              </a:prstGeom>
              <a:solidFill>
                <a:schemeClr va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64968" name="Text Box 72"/>
              <p:cNvSpPr txBox="1">
                <a:spLocks noChangeArrowheads="1"/>
              </p:cNvSpPr>
              <p:nvPr/>
            </p:nvSpPr>
            <p:spPr bwMode="auto">
              <a:xfrm>
                <a:off x="2959" y="2429"/>
                <a:ext cx="197"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2000"/>
                  <a:t>v</a:t>
                </a:r>
                <a:endParaRPr lang="en-US" sz="2400">
                  <a:latin typeface="Times New Roman" pitchFamily="18" charset="0"/>
                </a:endParaRPr>
              </a:p>
            </p:txBody>
          </p:sp>
        </p:grpSp>
        <p:grpSp>
          <p:nvGrpSpPr>
            <p:cNvPr id="464969" name="Group 73"/>
            <p:cNvGrpSpPr>
              <a:grpSpLocks/>
            </p:cNvGrpSpPr>
            <p:nvPr/>
          </p:nvGrpSpPr>
          <p:grpSpPr bwMode="auto">
            <a:xfrm>
              <a:off x="5022" y="1760"/>
              <a:ext cx="219" cy="288"/>
              <a:chOff x="2946" y="2399"/>
              <a:chExt cx="221" cy="288"/>
            </a:xfrm>
          </p:grpSpPr>
          <p:sp>
            <p:nvSpPr>
              <p:cNvPr id="464970" name="Rectangle 74"/>
              <p:cNvSpPr>
                <a:spLocks noChangeArrowheads="1"/>
              </p:cNvSpPr>
              <p:nvPr/>
            </p:nvSpPr>
            <p:spPr bwMode="auto">
              <a:xfrm>
                <a:off x="2982" y="2490"/>
                <a:ext cx="144" cy="132"/>
              </a:xfrm>
              <a:prstGeom prst="rect">
                <a:avLst/>
              </a:prstGeom>
              <a:solidFill>
                <a:schemeClr va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64971" name="Text Box 75"/>
              <p:cNvSpPr txBox="1">
                <a:spLocks noChangeArrowheads="1"/>
              </p:cNvSpPr>
              <p:nvPr/>
            </p:nvSpPr>
            <p:spPr bwMode="auto">
              <a:xfrm>
                <a:off x="2946" y="2399"/>
                <a:ext cx="221"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2400" dirty="0"/>
                  <a:t>z</a:t>
                </a:r>
              </a:p>
            </p:txBody>
          </p:sp>
        </p:grpSp>
        <p:sp>
          <p:nvSpPr>
            <p:cNvPr id="464972" name="Text Box 76"/>
            <p:cNvSpPr txBox="1">
              <a:spLocks noChangeArrowheads="1"/>
            </p:cNvSpPr>
            <p:nvPr/>
          </p:nvSpPr>
          <p:spPr bwMode="auto">
            <a:xfrm>
              <a:off x="3489" y="1571"/>
              <a:ext cx="204"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t>2</a:t>
              </a:r>
              <a:endParaRPr lang="en-US" sz="2400">
                <a:latin typeface="Times New Roman" pitchFamily="18" charset="0"/>
              </a:endParaRPr>
            </a:p>
          </p:txBody>
        </p:sp>
        <p:sp>
          <p:nvSpPr>
            <p:cNvPr id="464973" name="Text Box 77"/>
            <p:cNvSpPr txBox="1">
              <a:spLocks noChangeArrowheads="1"/>
            </p:cNvSpPr>
            <p:nvPr/>
          </p:nvSpPr>
          <p:spPr bwMode="auto">
            <a:xfrm>
              <a:off x="3837" y="1790"/>
              <a:ext cx="204"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t>2</a:t>
              </a:r>
              <a:endParaRPr lang="en-US" sz="2400">
                <a:latin typeface="Times New Roman" pitchFamily="18" charset="0"/>
              </a:endParaRPr>
            </a:p>
          </p:txBody>
        </p:sp>
        <p:sp>
          <p:nvSpPr>
            <p:cNvPr id="464974" name="Text Box 78"/>
            <p:cNvSpPr txBox="1">
              <a:spLocks noChangeArrowheads="1"/>
            </p:cNvSpPr>
            <p:nvPr/>
          </p:nvSpPr>
          <p:spPr bwMode="auto">
            <a:xfrm>
              <a:off x="3413" y="2003"/>
              <a:ext cx="181"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t>1</a:t>
              </a:r>
              <a:endParaRPr lang="en-US" sz="2400">
                <a:latin typeface="Times New Roman" pitchFamily="18" charset="0"/>
              </a:endParaRPr>
            </a:p>
          </p:txBody>
        </p:sp>
        <p:sp>
          <p:nvSpPr>
            <p:cNvPr id="464975" name="Text Box 79"/>
            <p:cNvSpPr txBox="1">
              <a:spLocks noChangeArrowheads="1"/>
            </p:cNvSpPr>
            <p:nvPr/>
          </p:nvSpPr>
          <p:spPr bwMode="auto">
            <a:xfrm>
              <a:off x="4221" y="1883"/>
              <a:ext cx="204"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t>3</a:t>
              </a:r>
              <a:endParaRPr lang="en-US" sz="2400">
                <a:latin typeface="Times New Roman" pitchFamily="18" charset="0"/>
              </a:endParaRPr>
            </a:p>
          </p:txBody>
        </p:sp>
        <p:sp>
          <p:nvSpPr>
            <p:cNvPr id="464976" name="Text Box 80"/>
            <p:cNvSpPr txBox="1">
              <a:spLocks noChangeArrowheads="1"/>
            </p:cNvSpPr>
            <p:nvPr/>
          </p:nvSpPr>
          <p:spPr bwMode="auto">
            <a:xfrm>
              <a:off x="4169" y="2237"/>
              <a:ext cx="181"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t>1</a:t>
              </a:r>
              <a:endParaRPr lang="en-US" sz="2400">
                <a:latin typeface="Times New Roman" pitchFamily="18" charset="0"/>
              </a:endParaRPr>
            </a:p>
          </p:txBody>
        </p:sp>
        <p:sp>
          <p:nvSpPr>
            <p:cNvPr id="464977" name="Text Box 81"/>
            <p:cNvSpPr txBox="1">
              <a:spLocks noChangeArrowheads="1"/>
            </p:cNvSpPr>
            <p:nvPr/>
          </p:nvSpPr>
          <p:spPr bwMode="auto">
            <a:xfrm>
              <a:off x="4529" y="1808"/>
              <a:ext cx="181"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t>1</a:t>
              </a:r>
              <a:endParaRPr lang="en-US" sz="2400">
                <a:latin typeface="Times New Roman" pitchFamily="18" charset="0"/>
              </a:endParaRPr>
            </a:p>
          </p:txBody>
        </p:sp>
        <p:sp>
          <p:nvSpPr>
            <p:cNvPr id="464978" name="Text Box 82"/>
            <p:cNvSpPr txBox="1">
              <a:spLocks noChangeArrowheads="1"/>
            </p:cNvSpPr>
            <p:nvPr/>
          </p:nvSpPr>
          <p:spPr bwMode="auto">
            <a:xfrm>
              <a:off x="4878" y="2072"/>
              <a:ext cx="204"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t>2</a:t>
              </a:r>
              <a:endParaRPr lang="en-US" sz="2400">
                <a:latin typeface="Times New Roman" pitchFamily="18" charset="0"/>
              </a:endParaRPr>
            </a:p>
          </p:txBody>
        </p:sp>
        <p:sp>
          <p:nvSpPr>
            <p:cNvPr id="464979" name="Text Box 83"/>
            <p:cNvSpPr txBox="1">
              <a:spLocks noChangeArrowheads="1"/>
            </p:cNvSpPr>
            <p:nvPr/>
          </p:nvSpPr>
          <p:spPr bwMode="auto">
            <a:xfrm>
              <a:off x="4851" y="1535"/>
              <a:ext cx="204"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t>5</a:t>
              </a:r>
              <a:endParaRPr lang="en-US" sz="2400">
                <a:latin typeface="Times New Roman" pitchFamily="18" charset="0"/>
              </a:endParaRPr>
            </a:p>
          </p:txBody>
        </p:sp>
        <p:sp>
          <p:nvSpPr>
            <p:cNvPr id="464980" name="Text Box 84"/>
            <p:cNvSpPr txBox="1">
              <a:spLocks noChangeArrowheads="1"/>
            </p:cNvSpPr>
            <p:nvPr/>
          </p:nvSpPr>
          <p:spPr bwMode="auto">
            <a:xfrm>
              <a:off x="4116" y="1385"/>
              <a:ext cx="204"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t>3</a:t>
              </a:r>
              <a:endParaRPr lang="en-US" sz="2400">
                <a:latin typeface="Times New Roman" pitchFamily="18" charset="0"/>
              </a:endParaRPr>
            </a:p>
          </p:txBody>
        </p:sp>
        <p:sp>
          <p:nvSpPr>
            <p:cNvPr id="464981" name="Text Box 85"/>
            <p:cNvSpPr txBox="1">
              <a:spLocks noChangeArrowheads="1"/>
            </p:cNvSpPr>
            <p:nvPr/>
          </p:nvSpPr>
          <p:spPr bwMode="auto">
            <a:xfrm>
              <a:off x="3765" y="1118"/>
              <a:ext cx="204"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t>5</a:t>
              </a:r>
              <a:endParaRPr lang="en-US" sz="2400">
                <a:latin typeface="Times New Roman" pitchFamily="18" charset="0"/>
              </a:endParaRPr>
            </a:p>
          </p:txBody>
        </p:sp>
      </p:grpSp>
      <p:sp>
        <p:nvSpPr>
          <p:cNvPr id="465052" name="Line 156"/>
          <p:cNvSpPr>
            <a:spLocks noChangeShapeType="1"/>
          </p:cNvSpPr>
          <p:nvPr/>
        </p:nvSpPr>
        <p:spPr bwMode="auto">
          <a:xfrm flipH="1">
            <a:off x="2241550" y="2035175"/>
            <a:ext cx="3514725" cy="309563"/>
          </a:xfrm>
          <a:prstGeom prst="line">
            <a:avLst/>
          </a:prstGeom>
          <a:noFill/>
          <a:ln w="952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de-DE"/>
          </a:p>
        </p:txBody>
      </p:sp>
      <p:sp>
        <p:nvSpPr>
          <p:cNvPr id="465053" name="Line 157"/>
          <p:cNvSpPr>
            <a:spLocks noChangeShapeType="1"/>
          </p:cNvSpPr>
          <p:nvPr/>
        </p:nvSpPr>
        <p:spPr bwMode="auto">
          <a:xfrm flipH="1">
            <a:off x="2163763" y="2330450"/>
            <a:ext cx="4894262" cy="334963"/>
          </a:xfrm>
          <a:prstGeom prst="line">
            <a:avLst/>
          </a:prstGeom>
          <a:noFill/>
          <a:ln w="952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de-DE"/>
          </a:p>
        </p:txBody>
      </p:sp>
      <p:sp>
        <p:nvSpPr>
          <p:cNvPr id="465054" name="Line 158"/>
          <p:cNvSpPr>
            <a:spLocks noChangeShapeType="1"/>
          </p:cNvSpPr>
          <p:nvPr/>
        </p:nvSpPr>
        <p:spPr bwMode="auto">
          <a:xfrm flipH="1">
            <a:off x="2227263" y="2692400"/>
            <a:ext cx="914400" cy="257175"/>
          </a:xfrm>
          <a:prstGeom prst="line">
            <a:avLst/>
          </a:prstGeom>
          <a:noFill/>
          <a:ln w="952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de-DE"/>
          </a:p>
        </p:txBody>
      </p:sp>
      <p:sp>
        <p:nvSpPr>
          <p:cNvPr id="465055" name="Line 159"/>
          <p:cNvSpPr>
            <a:spLocks noChangeShapeType="1"/>
          </p:cNvSpPr>
          <p:nvPr/>
        </p:nvSpPr>
        <p:spPr bwMode="auto">
          <a:xfrm flipH="1">
            <a:off x="2241550" y="2949575"/>
            <a:ext cx="2239963" cy="309563"/>
          </a:xfrm>
          <a:prstGeom prst="line">
            <a:avLst/>
          </a:prstGeom>
          <a:noFill/>
          <a:ln w="952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de-DE"/>
          </a:p>
        </p:txBody>
      </p:sp>
      <p:sp>
        <p:nvSpPr>
          <p:cNvPr id="465056" name="Line 160"/>
          <p:cNvSpPr>
            <a:spLocks noChangeShapeType="1"/>
          </p:cNvSpPr>
          <p:nvPr/>
        </p:nvSpPr>
        <p:spPr bwMode="auto">
          <a:xfrm flipH="1">
            <a:off x="2254250" y="3206750"/>
            <a:ext cx="5975350" cy="334963"/>
          </a:xfrm>
          <a:prstGeom prst="line">
            <a:avLst/>
          </a:prstGeom>
          <a:noFill/>
          <a:ln w="952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de-DE"/>
          </a:p>
        </p:txBody>
      </p:sp>
      <p:sp>
        <p:nvSpPr>
          <p:cNvPr id="2" name="Rectangle 1"/>
          <p:cNvSpPr/>
          <p:nvPr/>
        </p:nvSpPr>
        <p:spPr>
          <a:xfrm>
            <a:off x="6012161" y="4623217"/>
            <a:ext cx="2986782" cy="1508105"/>
          </a:xfrm>
          <a:prstGeom prst="rect">
            <a:avLst/>
          </a:prstGeom>
        </p:spPr>
        <p:txBody>
          <a:bodyPr wrap="square">
            <a:spAutoFit/>
          </a:bodyPr>
          <a:lstStyle/>
          <a:p>
            <a:r>
              <a:rPr lang="en-US" sz="2000" dirty="0">
                <a:solidFill>
                  <a:srgbClr val="0070C0"/>
                </a:solidFill>
                <a:latin typeface="Arial" charset="0"/>
              </a:rPr>
              <a:t>p(s):</a:t>
            </a:r>
            <a:r>
              <a:rPr lang="en-US" dirty="0">
                <a:solidFill>
                  <a:srgbClr val="0070C0"/>
                </a:solidFill>
              </a:rPr>
              <a:t> </a:t>
            </a:r>
            <a:r>
              <a:rPr lang="de-DE" dirty="0"/>
              <a:t>vorheriger Knoten (Nachbar von s) entlang des momentan kostengünstigsten Pfades von der Quelle zu </a:t>
            </a:r>
            <a:r>
              <a:rPr lang="de-DE" i="1" dirty="0"/>
              <a:t>s</a:t>
            </a:r>
            <a:endParaRPr lang="de-DE" dirty="0"/>
          </a:p>
        </p:txBody>
      </p:sp>
    </p:spTree>
    <p:extLst>
      <p:ext uri="{BB962C8B-B14F-4D97-AF65-F5344CB8AC3E}">
        <p14:creationId xmlns:p14="http://schemas.microsoft.com/office/powerpoint/2010/main" val="83321806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65052"/>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65053"/>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65054"/>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65055"/>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6505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5052" grpId="0" animBg="1"/>
      <p:bldP spid="465053" grpId="0" animBg="1"/>
      <p:bldP spid="465054" grpId="0" animBg="1"/>
      <p:bldP spid="465055" grpId="0" animBg="1"/>
      <p:bldP spid="465056"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 name="Slide Number Placeholder 4"/>
          <p:cNvSpPr>
            <a:spLocks noGrp="1"/>
          </p:cNvSpPr>
          <p:nvPr>
            <p:ph type="sldNum" sz="quarter" idx="12"/>
          </p:nvPr>
        </p:nvSpPr>
        <p:spPr/>
        <p:txBody>
          <a:bodyPr/>
          <a:lstStyle/>
          <a:p>
            <a:fld id="{0E5EC3BC-4851-4AA9-A586-69BD8EF24F71}" type="slidenum">
              <a:rPr lang="de-DE" smtClean="0"/>
              <a:pPr/>
              <a:t>31</a:t>
            </a:fld>
            <a:endParaRPr lang="de-DE"/>
          </a:p>
        </p:txBody>
      </p:sp>
      <p:sp>
        <p:nvSpPr>
          <p:cNvPr id="617476" name="Rectangle 4"/>
          <p:cNvSpPr>
            <a:spLocks noGrp="1" noChangeArrowheads="1"/>
          </p:cNvSpPr>
          <p:nvPr>
            <p:ph type="title"/>
          </p:nvPr>
        </p:nvSpPr>
        <p:spPr/>
        <p:txBody>
          <a:bodyPr/>
          <a:lstStyle/>
          <a:p>
            <a:r>
              <a:rPr lang="de-DE" sz="3600" dirty="0"/>
              <a:t>Dijkstra-Algorithmus: Beispiel /2</a:t>
            </a:r>
          </a:p>
        </p:txBody>
      </p:sp>
      <p:grpSp>
        <p:nvGrpSpPr>
          <p:cNvPr id="617549" name="Group 77"/>
          <p:cNvGrpSpPr>
            <a:grpSpLocks/>
          </p:cNvGrpSpPr>
          <p:nvPr/>
        </p:nvGrpSpPr>
        <p:grpSpPr bwMode="auto">
          <a:xfrm>
            <a:off x="4716016" y="4106593"/>
            <a:ext cx="3619277" cy="1735233"/>
            <a:chOff x="1385" y="1287"/>
            <a:chExt cx="2044" cy="940"/>
          </a:xfrm>
        </p:grpSpPr>
        <p:sp>
          <p:nvSpPr>
            <p:cNvPr id="617479" name="Freeform 7"/>
            <p:cNvSpPr>
              <a:spLocks/>
            </p:cNvSpPr>
            <p:nvPr/>
          </p:nvSpPr>
          <p:spPr bwMode="auto">
            <a:xfrm>
              <a:off x="1648" y="1465"/>
              <a:ext cx="342" cy="186"/>
            </a:xfrm>
            <a:custGeom>
              <a:avLst/>
              <a:gdLst>
                <a:gd name="T0" fmla="*/ 0 w 342"/>
                <a:gd name="T1" fmla="*/ 186 h 186"/>
                <a:gd name="T2" fmla="*/ 342 w 342"/>
                <a:gd name="T3" fmla="*/ 0 h 186"/>
              </a:gdLst>
              <a:ahLst/>
              <a:cxnLst>
                <a:cxn ang="0">
                  <a:pos x="T0" y="T1"/>
                </a:cxn>
                <a:cxn ang="0">
                  <a:pos x="T2" y="T3"/>
                </a:cxn>
              </a:cxnLst>
              <a:rect l="0" t="0" r="r" b="b"/>
              <a:pathLst>
                <a:path w="342" h="186">
                  <a:moveTo>
                    <a:pt x="0" y="186"/>
                  </a:moveTo>
                  <a:lnTo>
                    <a:pt x="342" y="0"/>
                  </a:lnTo>
                </a:path>
              </a:pathLst>
            </a:custGeom>
            <a:noFill/>
            <a:ln w="127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sz="2000"/>
            </a:p>
          </p:txBody>
        </p:sp>
        <p:sp>
          <p:nvSpPr>
            <p:cNvPr id="617480" name="Oval 8"/>
            <p:cNvSpPr>
              <a:spLocks noChangeArrowheads="1"/>
            </p:cNvSpPr>
            <p:nvPr/>
          </p:nvSpPr>
          <p:spPr bwMode="auto">
            <a:xfrm>
              <a:off x="1388" y="1707"/>
              <a:ext cx="313" cy="81"/>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sz="2000"/>
            </a:p>
          </p:txBody>
        </p:sp>
        <p:sp>
          <p:nvSpPr>
            <p:cNvPr id="617481" name="Line 9"/>
            <p:cNvSpPr>
              <a:spLocks noChangeShapeType="1"/>
            </p:cNvSpPr>
            <p:nvPr/>
          </p:nvSpPr>
          <p:spPr bwMode="auto">
            <a:xfrm>
              <a:off x="1388" y="1700"/>
              <a:ext cx="0" cy="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sz="2000"/>
            </a:p>
          </p:txBody>
        </p:sp>
        <p:sp>
          <p:nvSpPr>
            <p:cNvPr id="617482" name="Line 10"/>
            <p:cNvSpPr>
              <a:spLocks noChangeShapeType="1"/>
            </p:cNvSpPr>
            <p:nvPr/>
          </p:nvSpPr>
          <p:spPr bwMode="auto">
            <a:xfrm>
              <a:off x="1701" y="1700"/>
              <a:ext cx="0" cy="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sz="2000"/>
            </a:p>
          </p:txBody>
        </p:sp>
        <p:sp>
          <p:nvSpPr>
            <p:cNvPr id="617483" name="Rectangle 11"/>
            <p:cNvSpPr>
              <a:spLocks noChangeArrowheads="1"/>
            </p:cNvSpPr>
            <p:nvPr/>
          </p:nvSpPr>
          <p:spPr bwMode="auto">
            <a:xfrm>
              <a:off x="1388" y="1700"/>
              <a:ext cx="310" cy="49"/>
            </a:xfrm>
            <a:prstGeom prst="rect">
              <a:avLst/>
            </a:prstGeom>
            <a:solidFill>
              <a:schemeClr val="hlink"/>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de-DE" sz="2800">
                <a:latin typeface="Times New Roman" pitchFamily="18" charset="0"/>
              </a:endParaRPr>
            </a:p>
          </p:txBody>
        </p:sp>
        <p:sp>
          <p:nvSpPr>
            <p:cNvPr id="617484" name="Oval 12"/>
            <p:cNvSpPr>
              <a:spLocks noChangeArrowheads="1"/>
            </p:cNvSpPr>
            <p:nvPr/>
          </p:nvSpPr>
          <p:spPr bwMode="auto">
            <a:xfrm>
              <a:off x="1385" y="1641"/>
              <a:ext cx="313" cy="95"/>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sz="2000"/>
            </a:p>
          </p:txBody>
        </p:sp>
        <p:sp>
          <p:nvSpPr>
            <p:cNvPr id="617485" name="Oval 13"/>
            <p:cNvSpPr>
              <a:spLocks noChangeArrowheads="1"/>
            </p:cNvSpPr>
            <p:nvPr/>
          </p:nvSpPr>
          <p:spPr bwMode="auto">
            <a:xfrm>
              <a:off x="1862" y="2094"/>
              <a:ext cx="313" cy="81"/>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sz="2000"/>
            </a:p>
          </p:txBody>
        </p:sp>
        <p:sp>
          <p:nvSpPr>
            <p:cNvPr id="617486" name="Line 14"/>
            <p:cNvSpPr>
              <a:spLocks noChangeShapeType="1"/>
            </p:cNvSpPr>
            <p:nvPr/>
          </p:nvSpPr>
          <p:spPr bwMode="auto">
            <a:xfrm>
              <a:off x="1862" y="2087"/>
              <a:ext cx="0" cy="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sz="2000"/>
            </a:p>
          </p:txBody>
        </p:sp>
        <p:sp>
          <p:nvSpPr>
            <p:cNvPr id="617487" name="Line 15"/>
            <p:cNvSpPr>
              <a:spLocks noChangeShapeType="1"/>
            </p:cNvSpPr>
            <p:nvPr/>
          </p:nvSpPr>
          <p:spPr bwMode="auto">
            <a:xfrm>
              <a:off x="2175" y="2087"/>
              <a:ext cx="0" cy="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sz="2000"/>
            </a:p>
          </p:txBody>
        </p:sp>
        <p:sp>
          <p:nvSpPr>
            <p:cNvPr id="617488" name="Rectangle 16"/>
            <p:cNvSpPr>
              <a:spLocks noChangeArrowheads="1"/>
            </p:cNvSpPr>
            <p:nvPr/>
          </p:nvSpPr>
          <p:spPr bwMode="auto">
            <a:xfrm>
              <a:off x="1862" y="2087"/>
              <a:ext cx="310" cy="49"/>
            </a:xfrm>
            <a:prstGeom prst="rect">
              <a:avLst/>
            </a:prstGeom>
            <a:solidFill>
              <a:schemeClr val="hlink"/>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de-DE" sz="2800">
                <a:latin typeface="Times New Roman" pitchFamily="18" charset="0"/>
              </a:endParaRPr>
            </a:p>
          </p:txBody>
        </p:sp>
        <p:sp>
          <p:nvSpPr>
            <p:cNvPr id="617489" name="Oval 17"/>
            <p:cNvSpPr>
              <a:spLocks noChangeArrowheads="1"/>
            </p:cNvSpPr>
            <p:nvPr/>
          </p:nvSpPr>
          <p:spPr bwMode="auto">
            <a:xfrm>
              <a:off x="1859" y="2028"/>
              <a:ext cx="313" cy="95"/>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sz="2000"/>
            </a:p>
          </p:txBody>
        </p:sp>
        <p:sp>
          <p:nvSpPr>
            <p:cNvPr id="617490" name="Oval 18"/>
            <p:cNvSpPr>
              <a:spLocks noChangeArrowheads="1"/>
            </p:cNvSpPr>
            <p:nvPr/>
          </p:nvSpPr>
          <p:spPr bwMode="auto">
            <a:xfrm>
              <a:off x="1858" y="1404"/>
              <a:ext cx="313" cy="81"/>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sz="2000"/>
            </a:p>
          </p:txBody>
        </p:sp>
        <p:sp>
          <p:nvSpPr>
            <p:cNvPr id="617491" name="Line 19"/>
            <p:cNvSpPr>
              <a:spLocks noChangeShapeType="1"/>
            </p:cNvSpPr>
            <p:nvPr/>
          </p:nvSpPr>
          <p:spPr bwMode="auto">
            <a:xfrm>
              <a:off x="1858" y="1397"/>
              <a:ext cx="0" cy="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sz="2000"/>
            </a:p>
          </p:txBody>
        </p:sp>
        <p:sp>
          <p:nvSpPr>
            <p:cNvPr id="617492" name="Line 20"/>
            <p:cNvSpPr>
              <a:spLocks noChangeShapeType="1"/>
            </p:cNvSpPr>
            <p:nvPr/>
          </p:nvSpPr>
          <p:spPr bwMode="auto">
            <a:xfrm>
              <a:off x="2171" y="1397"/>
              <a:ext cx="0" cy="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sz="2000"/>
            </a:p>
          </p:txBody>
        </p:sp>
        <p:sp>
          <p:nvSpPr>
            <p:cNvPr id="617493" name="Rectangle 21"/>
            <p:cNvSpPr>
              <a:spLocks noChangeArrowheads="1"/>
            </p:cNvSpPr>
            <p:nvPr/>
          </p:nvSpPr>
          <p:spPr bwMode="auto">
            <a:xfrm>
              <a:off x="1858" y="1397"/>
              <a:ext cx="310" cy="49"/>
            </a:xfrm>
            <a:prstGeom prst="rect">
              <a:avLst/>
            </a:prstGeom>
            <a:solidFill>
              <a:schemeClr val="hlink"/>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de-DE" sz="2800">
                <a:latin typeface="Times New Roman" pitchFamily="18" charset="0"/>
              </a:endParaRPr>
            </a:p>
          </p:txBody>
        </p:sp>
        <p:sp>
          <p:nvSpPr>
            <p:cNvPr id="617494" name="Oval 22"/>
            <p:cNvSpPr>
              <a:spLocks noChangeArrowheads="1"/>
            </p:cNvSpPr>
            <p:nvPr/>
          </p:nvSpPr>
          <p:spPr bwMode="auto">
            <a:xfrm>
              <a:off x="1855" y="1338"/>
              <a:ext cx="313" cy="95"/>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sz="2000"/>
            </a:p>
          </p:txBody>
        </p:sp>
        <p:sp>
          <p:nvSpPr>
            <p:cNvPr id="617495" name="Oval 23"/>
            <p:cNvSpPr>
              <a:spLocks noChangeArrowheads="1"/>
            </p:cNvSpPr>
            <p:nvPr/>
          </p:nvSpPr>
          <p:spPr bwMode="auto">
            <a:xfrm>
              <a:off x="2541" y="1400"/>
              <a:ext cx="312" cy="81"/>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sz="2000"/>
            </a:p>
          </p:txBody>
        </p:sp>
        <p:sp>
          <p:nvSpPr>
            <p:cNvPr id="617496" name="Line 24"/>
            <p:cNvSpPr>
              <a:spLocks noChangeShapeType="1"/>
            </p:cNvSpPr>
            <p:nvPr/>
          </p:nvSpPr>
          <p:spPr bwMode="auto">
            <a:xfrm>
              <a:off x="2541" y="1393"/>
              <a:ext cx="0" cy="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sz="2000"/>
            </a:p>
          </p:txBody>
        </p:sp>
        <p:sp>
          <p:nvSpPr>
            <p:cNvPr id="617497" name="Line 25"/>
            <p:cNvSpPr>
              <a:spLocks noChangeShapeType="1"/>
            </p:cNvSpPr>
            <p:nvPr/>
          </p:nvSpPr>
          <p:spPr bwMode="auto">
            <a:xfrm>
              <a:off x="2853" y="1393"/>
              <a:ext cx="0" cy="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sz="2000"/>
            </a:p>
          </p:txBody>
        </p:sp>
        <p:sp>
          <p:nvSpPr>
            <p:cNvPr id="617498" name="Rectangle 26"/>
            <p:cNvSpPr>
              <a:spLocks noChangeArrowheads="1"/>
            </p:cNvSpPr>
            <p:nvPr/>
          </p:nvSpPr>
          <p:spPr bwMode="auto">
            <a:xfrm>
              <a:off x="2541" y="1393"/>
              <a:ext cx="309" cy="49"/>
            </a:xfrm>
            <a:prstGeom prst="rect">
              <a:avLst/>
            </a:prstGeom>
            <a:solidFill>
              <a:schemeClr val="hlink"/>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de-DE" sz="2800">
                <a:latin typeface="Times New Roman" pitchFamily="18" charset="0"/>
              </a:endParaRPr>
            </a:p>
          </p:txBody>
        </p:sp>
        <p:sp>
          <p:nvSpPr>
            <p:cNvPr id="617499" name="Oval 27"/>
            <p:cNvSpPr>
              <a:spLocks noChangeArrowheads="1"/>
            </p:cNvSpPr>
            <p:nvPr/>
          </p:nvSpPr>
          <p:spPr bwMode="auto">
            <a:xfrm>
              <a:off x="2544" y="1337"/>
              <a:ext cx="312" cy="95"/>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sz="2000"/>
            </a:p>
          </p:txBody>
        </p:sp>
        <p:sp>
          <p:nvSpPr>
            <p:cNvPr id="617500" name="Oval 28"/>
            <p:cNvSpPr>
              <a:spLocks noChangeArrowheads="1"/>
            </p:cNvSpPr>
            <p:nvPr/>
          </p:nvSpPr>
          <p:spPr bwMode="auto">
            <a:xfrm>
              <a:off x="2551" y="2091"/>
              <a:ext cx="313" cy="81"/>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sz="2000"/>
            </a:p>
          </p:txBody>
        </p:sp>
        <p:sp>
          <p:nvSpPr>
            <p:cNvPr id="617501" name="Line 29"/>
            <p:cNvSpPr>
              <a:spLocks noChangeShapeType="1"/>
            </p:cNvSpPr>
            <p:nvPr/>
          </p:nvSpPr>
          <p:spPr bwMode="auto">
            <a:xfrm>
              <a:off x="2551" y="2084"/>
              <a:ext cx="0" cy="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sz="2000"/>
            </a:p>
          </p:txBody>
        </p:sp>
        <p:sp>
          <p:nvSpPr>
            <p:cNvPr id="617502" name="Line 30"/>
            <p:cNvSpPr>
              <a:spLocks noChangeShapeType="1"/>
            </p:cNvSpPr>
            <p:nvPr/>
          </p:nvSpPr>
          <p:spPr bwMode="auto">
            <a:xfrm>
              <a:off x="2864" y="2084"/>
              <a:ext cx="0" cy="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sz="2000"/>
            </a:p>
          </p:txBody>
        </p:sp>
        <p:sp>
          <p:nvSpPr>
            <p:cNvPr id="617503" name="Rectangle 31"/>
            <p:cNvSpPr>
              <a:spLocks noChangeArrowheads="1"/>
            </p:cNvSpPr>
            <p:nvPr/>
          </p:nvSpPr>
          <p:spPr bwMode="auto">
            <a:xfrm>
              <a:off x="2551" y="2084"/>
              <a:ext cx="310" cy="49"/>
            </a:xfrm>
            <a:prstGeom prst="rect">
              <a:avLst/>
            </a:prstGeom>
            <a:solidFill>
              <a:schemeClr val="hlink"/>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de-DE" sz="2800">
                <a:latin typeface="Times New Roman" pitchFamily="18" charset="0"/>
              </a:endParaRPr>
            </a:p>
          </p:txBody>
        </p:sp>
        <p:sp>
          <p:nvSpPr>
            <p:cNvPr id="617504" name="Oval 32"/>
            <p:cNvSpPr>
              <a:spLocks noChangeArrowheads="1"/>
            </p:cNvSpPr>
            <p:nvPr/>
          </p:nvSpPr>
          <p:spPr bwMode="auto">
            <a:xfrm>
              <a:off x="2548" y="2025"/>
              <a:ext cx="313" cy="95"/>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sz="2000"/>
            </a:p>
          </p:txBody>
        </p:sp>
        <p:sp>
          <p:nvSpPr>
            <p:cNvPr id="617505" name="Oval 33"/>
            <p:cNvSpPr>
              <a:spLocks noChangeArrowheads="1"/>
            </p:cNvSpPr>
            <p:nvPr/>
          </p:nvSpPr>
          <p:spPr bwMode="auto">
            <a:xfrm>
              <a:off x="3116" y="1750"/>
              <a:ext cx="313" cy="81"/>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sz="2000"/>
            </a:p>
          </p:txBody>
        </p:sp>
        <p:sp>
          <p:nvSpPr>
            <p:cNvPr id="617506" name="Line 34"/>
            <p:cNvSpPr>
              <a:spLocks noChangeShapeType="1"/>
            </p:cNvSpPr>
            <p:nvPr/>
          </p:nvSpPr>
          <p:spPr bwMode="auto">
            <a:xfrm>
              <a:off x="3116" y="1743"/>
              <a:ext cx="0" cy="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sz="2000"/>
            </a:p>
          </p:txBody>
        </p:sp>
        <p:sp>
          <p:nvSpPr>
            <p:cNvPr id="617507" name="Line 35"/>
            <p:cNvSpPr>
              <a:spLocks noChangeShapeType="1"/>
            </p:cNvSpPr>
            <p:nvPr/>
          </p:nvSpPr>
          <p:spPr bwMode="auto">
            <a:xfrm>
              <a:off x="3429" y="1743"/>
              <a:ext cx="0" cy="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sz="2000"/>
            </a:p>
          </p:txBody>
        </p:sp>
        <p:sp>
          <p:nvSpPr>
            <p:cNvPr id="617508" name="Rectangle 36"/>
            <p:cNvSpPr>
              <a:spLocks noChangeArrowheads="1"/>
            </p:cNvSpPr>
            <p:nvPr/>
          </p:nvSpPr>
          <p:spPr bwMode="auto">
            <a:xfrm>
              <a:off x="3116" y="1743"/>
              <a:ext cx="310" cy="49"/>
            </a:xfrm>
            <a:prstGeom prst="rect">
              <a:avLst/>
            </a:prstGeom>
            <a:solidFill>
              <a:schemeClr val="hlink"/>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de-DE" sz="2800">
                <a:latin typeface="Times New Roman" pitchFamily="18" charset="0"/>
              </a:endParaRPr>
            </a:p>
          </p:txBody>
        </p:sp>
        <p:sp>
          <p:nvSpPr>
            <p:cNvPr id="617509" name="Oval 37"/>
            <p:cNvSpPr>
              <a:spLocks noChangeArrowheads="1"/>
            </p:cNvSpPr>
            <p:nvPr/>
          </p:nvSpPr>
          <p:spPr bwMode="auto">
            <a:xfrm>
              <a:off x="3113" y="1684"/>
              <a:ext cx="313" cy="95"/>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sz="2000"/>
            </a:p>
          </p:txBody>
        </p:sp>
        <p:sp>
          <p:nvSpPr>
            <p:cNvPr id="617510" name="Freeform 38"/>
            <p:cNvSpPr>
              <a:spLocks/>
            </p:cNvSpPr>
            <p:nvPr/>
          </p:nvSpPr>
          <p:spPr bwMode="auto">
            <a:xfrm>
              <a:off x="2707" y="1492"/>
              <a:ext cx="1" cy="522"/>
            </a:xfrm>
            <a:custGeom>
              <a:avLst/>
              <a:gdLst>
                <a:gd name="T0" fmla="*/ 0 w 1"/>
                <a:gd name="T1" fmla="*/ 0 h 522"/>
                <a:gd name="T2" fmla="*/ 0 w 1"/>
                <a:gd name="T3" fmla="*/ 522 h 522"/>
              </a:gdLst>
              <a:ahLst/>
              <a:cxnLst>
                <a:cxn ang="0">
                  <a:pos x="T0" y="T1"/>
                </a:cxn>
                <a:cxn ang="0">
                  <a:pos x="T2" y="T3"/>
                </a:cxn>
              </a:cxnLst>
              <a:rect l="0" t="0" r="r" b="b"/>
              <a:pathLst>
                <a:path w="1" h="522">
                  <a:moveTo>
                    <a:pt x="0" y="0"/>
                  </a:moveTo>
                  <a:lnTo>
                    <a:pt x="0" y="522"/>
                  </a:lnTo>
                </a:path>
              </a:pathLst>
            </a:custGeom>
            <a:noFill/>
            <a:ln w="127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sz="2000"/>
            </a:p>
          </p:txBody>
        </p:sp>
        <p:sp>
          <p:nvSpPr>
            <p:cNvPr id="617513" name="Freeform 41"/>
            <p:cNvSpPr>
              <a:spLocks/>
            </p:cNvSpPr>
            <p:nvPr/>
          </p:nvSpPr>
          <p:spPr bwMode="auto">
            <a:xfrm>
              <a:off x="2866" y="1831"/>
              <a:ext cx="366" cy="270"/>
            </a:xfrm>
            <a:custGeom>
              <a:avLst/>
              <a:gdLst>
                <a:gd name="T0" fmla="*/ 0 w 366"/>
                <a:gd name="T1" fmla="*/ 270 h 270"/>
                <a:gd name="T2" fmla="*/ 366 w 366"/>
                <a:gd name="T3" fmla="*/ 0 h 270"/>
              </a:gdLst>
              <a:ahLst/>
              <a:cxnLst>
                <a:cxn ang="0">
                  <a:pos x="T0" y="T1"/>
                </a:cxn>
                <a:cxn ang="0">
                  <a:pos x="T2" y="T3"/>
                </a:cxn>
              </a:cxnLst>
              <a:rect l="0" t="0" r="r" b="b"/>
              <a:pathLst>
                <a:path w="366" h="270">
                  <a:moveTo>
                    <a:pt x="0" y="270"/>
                  </a:moveTo>
                  <a:lnTo>
                    <a:pt x="366" y="0"/>
                  </a:lnTo>
                </a:path>
              </a:pathLst>
            </a:custGeom>
            <a:noFill/>
            <a:ln w="127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sz="2000"/>
            </a:p>
          </p:txBody>
        </p:sp>
        <p:sp>
          <p:nvSpPr>
            <p:cNvPr id="617514" name="Freeform 42"/>
            <p:cNvSpPr>
              <a:spLocks/>
            </p:cNvSpPr>
            <p:nvPr/>
          </p:nvSpPr>
          <p:spPr bwMode="auto">
            <a:xfrm>
              <a:off x="2185" y="2113"/>
              <a:ext cx="366" cy="1"/>
            </a:xfrm>
            <a:custGeom>
              <a:avLst/>
              <a:gdLst>
                <a:gd name="T0" fmla="*/ 366 w 366"/>
                <a:gd name="T1" fmla="*/ 0 h 1"/>
                <a:gd name="T2" fmla="*/ 0 w 366"/>
                <a:gd name="T3" fmla="*/ 0 h 1"/>
              </a:gdLst>
              <a:ahLst/>
              <a:cxnLst>
                <a:cxn ang="0">
                  <a:pos x="T0" y="T1"/>
                </a:cxn>
                <a:cxn ang="0">
                  <a:pos x="T2" y="T3"/>
                </a:cxn>
              </a:cxnLst>
              <a:rect l="0" t="0" r="r" b="b"/>
              <a:pathLst>
                <a:path w="366" h="1">
                  <a:moveTo>
                    <a:pt x="366" y="0"/>
                  </a:moveTo>
                  <a:lnTo>
                    <a:pt x="0" y="0"/>
                  </a:lnTo>
                </a:path>
              </a:pathLst>
            </a:custGeom>
            <a:noFill/>
            <a:ln w="127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sz="2000"/>
            </a:p>
          </p:txBody>
        </p:sp>
        <p:sp>
          <p:nvSpPr>
            <p:cNvPr id="617515" name="Freeform 43"/>
            <p:cNvSpPr>
              <a:spLocks/>
            </p:cNvSpPr>
            <p:nvPr/>
          </p:nvSpPr>
          <p:spPr bwMode="auto">
            <a:xfrm>
              <a:off x="1594" y="1789"/>
              <a:ext cx="276" cy="264"/>
            </a:xfrm>
            <a:custGeom>
              <a:avLst/>
              <a:gdLst>
                <a:gd name="T0" fmla="*/ 276 w 276"/>
                <a:gd name="T1" fmla="*/ 264 h 264"/>
                <a:gd name="T2" fmla="*/ 0 w 276"/>
                <a:gd name="T3" fmla="*/ 0 h 264"/>
              </a:gdLst>
              <a:ahLst/>
              <a:cxnLst>
                <a:cxn ang="0">
                  <a:pos x="T0" y="T1"/>
                </a:cxn>
                <a:cxn ang="0">
                  <a:pos x="T2" y="T3"/>
                </a:cxn>
              </a:cxnLst>
              <a:rect l="0" t="0" r="r" b="b"/>
              <a:pathLst>
                <a:path w="276" h="264">
                  <a:moveTo>
                    <a:pt x="276" y="264"/>
                  </a:moveTo>
                  <a:lnTo>
                    <a:pt x="0" y="0"/>
                  </a:lnTo>
                </a:path>
              </a:pathLst>
            </a:custGeom>
            <a:noFill/>
            <a:ln w="127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sz="2000"/>
            </a:p>
          </p:txBody>
        </p:sp>
        <p:grpSp>
          <p:nvGrpSpPr>
            <p:cNvPr id="617519" name="Group 47"/>
            <p:cNvGrpSpPr>
              <a:grpSpLocks/>
            </p:cNvGrpSpPr>
            <p:nvPr/>
          </p:nvGrpSpPr>
          <p:grpSpPr bwMode="auto">
            <a:xfrm>
              <a:off x="1436" y="1593"/>
              <a:ext cx="210" cy="250"/>
              <a:chOff x="2951" y="2429"/>
              <a:chExt cx="213" cy="250"/>
            </a:xfrm>
          </p:grpSpPr>
          <p:sp>
            <p:nvSpPr>
              <p:cNvPr id="617520" name="Rectangle 48"/>
              <p:cNvSpPr>
                <a:spLocks noChangeArrowheads="1"/>
              </p:cNvSpPr>
              <p:nvPr/>
            </p:nvSpPr>
            <p:spPr bwMode="auto">
              <a:xfrm>
                <a:off x="2982" y="2490"/>
                <a:ext cx="144" cy="132"/>
              </a:xfrm>
              <a:prstGeom prst="rect">
                <a:avLst/>
              </a:prstGeom>
              <a:solidFill>
                <a:schemeClr va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sz="2000"/>
              </a:p>
            </p:txBody>
          </p:sp>
          <p:sp>
            <p:nvSpPr>
              <p:cNvPr id="617521" name="Text Box 49"/>
              <p:cNvSpPr txBox="1">
                <a:spLocks noChangeArrowheads="1"/>
              </p:cNvSpPr>
              <p:nvPr/>
            </p:nvSpPr>
            <p:spPr bwMode="auto">
              <a:xfrm>
                <a:off x="2951" y="2429"/>
                <a:ext cx="213"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de-DE" sz="2400" b="1" dirty="0">
                    <a:solidFill>
                      <a:srgbClr val="0070C0"/>
                    </a:solidFill>
                  </a:rPr>
                  <a:t>u</a:t>
                </a:r>
                <a:endParaRPr lang="de-DE" sz="2800" b="1" dirty="0">
                  <a:solidFill>
                    <a:srgbClr val="0070C0"/>
                  </a:solidFill>
                  <a:latin typeface="Times New Roman" pitchFamily="18" charset="0"/>
                </a:endParaRPr>
              </a:p>
            </p:txBody>
          </p:sp>
        </p:grpSp>
        <p:grpSp>
          <p:nvGrpSpPr>
            <p:cNvPr id="617522" name="Group 50"/>
            <p:cNvGrpSpPr>
              <a:grpSpLocks/>
            </p:cNvGrpSpPr>
            <p:nvPr/>
          </p:nvGrpSpPr>
          <p:grpSpPr bwMode="auto">
            <a:xfrm>
              <a:off x="2612" y="1977"/>
              <a:ext cx="191" cy="250"/>
              <a:chOff x="2961" y="2429"/>
              <a:chExt cx="194" cy="250"/>
            </a:xfrm>
          </p:grpSpPr>
          <p:sp>
            <p:nvSpPr>
              <p:cNvPr id="617523" name="Rectangle 51"/>
              <p:cNvSpPr>
                <a:spLocks noChangeArrowheads="1"/>
              </p:cNvSpPr>
              <p:nvPr/>
            </p:nvSpPr>
            <p:spPr bwMode="auto">
              <a:xfrm>
                <a:off x="2982" y="2490"/>
                <a:ext cx="144" cy="132"/>
              </a:xfrm>
              <a:prstGeom prst="rect">
                <a:avLst/>
              </a:prstGeom>
              <a:solidFill>
                <a:schemeClr va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sz="2000"/>
              </a:p>
            </p:txBody>
          </p:sp>
          <p:sp>
            <p:nvSpPr>
              <p:cNvPr id="617524" name="Text Box 52"/>
              <p:cNvSpPr txBox="1">
                <a:spLocks noChangeArrowheads="1"/>
              </p:cNvSpPr>
              <p:nvPr/>
            </p:nvSpPr>
            <p:spPr bwMode="auto">
              <a:xfrm>
                <a:off x="2961" y="2429"/>
                <a:ext cx="194"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de-DE" sz="2400"/>
                  <a:t>y</a:t>
                </a:r>
                <a:endParaRPr lang="de-DE" sz="2800">
                  <a:latin typeface="Times New Roman" pitchFamily="18" charset="0"/>
                </a:endParaRPr>
              </a:p>
            </p:txBody>
          </p:sp>
        </p:grpSp>
        <p:grpSp>
          <p:nvGrpSpPr>
            <p:cNvPr id="617525" name="Group 53"/>
            <p:cNvGrpSpPr>
              <a:grpSpLocks/>
            </p:cNvGrpSpPr>
            <p:nvPr/>
          </p:nvGrpSpPr>
          <p:grpSpPr bwMode="auto">
            <a:xfrm>
              <a:off x="1921" y="1944"/>
              <a:ext cx="217" cy="283"/>
              <a:chOff x="2951" y="2399"/>
              <a:chExt cx="218" cy="283"/>
            </a:xfrm>
          </p:grpSpPr>
          <p:sp>
            <p:nvSpPr>
              <p:cNvPr id="617526" name="Rectangle 54"/>
              <p:cNvSpPr>
                <a:spLocks noChangeArrowheads="1"/>
              </p:cNvSpPr>
              <p:nvPr/>
            </p:nvSpPr>
            <p:spPr bwMode="auto">
              <a:xfrm>
                <a:off x="2982" y="2490"/>
                <a:ext cx="144" cy="132"/>
              </a:xfrm>
              <a:prstGeom prst="rect">
                <a:avLst/>
              </a:prstGeom>
              <a:solidFill>
                <a:schemeClr va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sz="2000"/>
              </a:p>
            </p:txBody>
          </p:sp>
          <p:sp>
            <p:nvSpPr>
              <p:cNvPr id="617527" name="Text Box 55"/>
              <p:cNvSpPr txBox="1">
                <a:spLocks noChangeArrowheads="1"/>
              </p:cNvSpPr>
              <p:nvPr/>
            </p:nvSpPr>
            <p:spPr bwMode="auto">
              <a:xfrm>
                <a:off x="2951" y="2399"/>
                <a:ext cx="218" cy="28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de-DE" sz="2800" b="1"/>
                  <a:t>x</a:t>
                </a:r>
              </a:p>
            </p:txBody>
          </p:sp>
        </p:grpSp>
        <p:grpSp>
          <p:nvGrpSpPr>
            <p:cNvPr id="617528" name="Group 56"/>
            <p:cNvGrpSpPr>
              <a:grpSpLocks/>
            </p:cNvGrpSpPr>
            <p:nvPr/>
          </p:nvGrpSpPr>
          <p:grpSpPr bwMode="auto">
            <a:xfrm>
              <a:off x="2590" y="1287"/>
              <a:ext cx="230" cy="250"/>
              <a:chOff x="2942" y="2429"/>
              <a:chExt cx="233" cy="250"/>
            </a:xfrm>
          </p:grpSpPr>
          <p:sp>
            <p:nvSpPr>
              <p:cNvPr id="617529" name="Rectangle 57"/>
              <p:cNvSpPr>
                <a:spLocks noChangeArrowheads="1"/>
              </p:cNvSpPr>
              <p:nvPr/>
            </p:nvSpPr>
            <p:spPr bwMode="auto">
              <a:xfrm>
                <a:off x="2982" y="2490"/>
                <a:ext cx="144" cy="132"/>
              </a:xfrm>
              <a:prstGeom prst="rect">
                <a:avLst/>
              </a:prstGeom>
              <a:solidFill>
                <a:schemeClr va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sz="2000"/>
              </a:p>
            </p:txBody>
          </p:sp>
          <p:sp>
            <p:nvSpPr>
              <p:cNvPr id="617530" name="Text Box 58"/>
              <p:cNvSpPr txBox="1">
                <a:spLocks noChangeArrowheads="1"/>
              </p:cNvSpPr>
              <p:nvPr/>
            </p:nvSpPr>
            <p:spPr bwMode="auto">
              <a:xfrm>
                <a:off x="2942" y="2429"/>
                <a:ext cx="233"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de-DE" sz="2400"/>
                  <a:t>w</a:t>
                </a:r>
                <a:endParaRPr lang="de-DE" sz="2800">
                  <a:latin typeface="Times New Roman" pitchFamily="18" charset="0"/>
                </a:endParaRPr>
              </a:p>
            </p:txBody>
          </p:sp>
        </p:grpSp>
        <p:grpSp>
          <p:nvGrpSpPr>
            <p:cNvPr id="617531" name="Group 59"/>
            <p:cNvGrpSpPr>
              <a:grpSpLocks/>
            </p:cNvGrpSpPr>
            <p:nvPr/>
          </p:nvGrpSpPr>
          <p:grpSpPr bwMode="auto">
            <a:xfrm>
              <a:off x="1920" y="1287"/>
              <a:ext cx="201" cy="250"/>
              <a:chOff x="2956" y="2429"/>
              <a:chExt cx="204" cy="250"/>
            </a:xfrm>
          </p:grpSpPr>
          <p:sp>
            <p:nvSpPr>
              <p:cNvPr id="617532" name="Rectangle 60"/>
              <p:cNvSpPr>
                <a:spLocks noChangeArrowheads="1"/>
              </p:cNvSpPr>
              <p:nvPr/>
            </p:nvSpPr>
            <p:spPr bwMode="auto">
              <a:xfrm>
                <a:off x="2982" y="2490"/>
                <a:ext cx="144" cy="132"/>
              </a:xfrm>
              <a:prstGeom prst="rect">
                <a:avLst/>
              </a:prstGeom>
              <a:solidFill>
                <a:schemeClr va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sz="2000"/>
              </a:p>
            </p:txBody>
          </p:sp>
          <p:sp>
            <p:nvSpPr>
              <p:cNvPr id="617533" name="Text Box 61"/>
              <p:cNvSpPr txBox="1">
                <a:spLocks noChangeArrowheads="1"/>
              </p:cNvSpPr>
              <p:nvPr/>
            </p:nvSpPr>
            <p:spPr bwMode="auto">
              <a:xfrm>
                <a:off x="2956" y="2429"/>
                <a:ext cx="204"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de-DE" sz="2400" b="1"/>
                  <a:t>v</a:t>
                </a:r>
                <a:endParaRPr lang="de-DE" sz="2800" b="1">
                  <a:latin typeface="Times New Roman" pitchFamily="18" charset="0"/>
                </a:endParaRPr>
              </a:p>
            </p:txBody>
          </p:sp>
        </p:grpSp>
        <p:grpSp>
          <p:nvGrpSpPr>
            <p:cNvPr id="617534" name="Group 62"/>
            <p:cNvGrpSpPr>
              <a:grpSpLocks/>
            </p:cNvGrpSpPr>
            <p:nvPr/>
          </p:nvGrpSpPr>
          <p:grpSpPr bwMode="auto">
            <a:xfrm>
              <a:off x="3177" y="1605"/>
              <a:ext cx="205" cy="283"/>
              <a:chOff x="2953" y="2399"/>
              <a:chExt cx="207" cy="283"/>
            </a:xfrm>
          </p:grpSpPr>
          <p:sp>
            <p:nvSpPr>
              <p:cNvPr id="617535" name="Rectangle 63"/>
              <p:cNvSpPr>
                <a:spLocks noChangeArrowheads="1"/>
              </p:cNvSpPr>
              <p:nvPr/>
            </p:nvSpPr>
            <p:spPr bwMode="auto">
              <a:xfrm>
                <a:off x="2982" y="2490"/>
                <a:ext cx="144" cy="132"/>
              </a:xfrm>
              <a:prstGeom prst="rect">
                <a:avLst/>
              </a:prstGeom>
              <a:solidFill>
                <a:schemeClr va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sz="2000"/>
              </a:p>
            </p:txBody>
          </p:sp>
          <p:sp>
            <p:nvSpPr>
              <p:cNvPr id="617536" name="Text Box 64"/>
              <p:cNvSpPr txBox="1">
                <a:spLocks noChangeArrowheads="1"/>
              </p:cNvSpPr>
              <p:nvPr/>
            </p:nvSpPr>
            <p:spPr bwMode="auto">
              <a:xfrm>
                <a:off x="2953" y="2399"/>
                <a:ext cx="207" cy="28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de-DE" sz="2800"/>
                  <a:t>z</a:t>
                </a:r>
              </a:p>
            </p:txBody>
          </p:sp>
        </p:grpSp>
      </p:grpSp>
      <p:grpSp>
        <p:nvGrpSpPr>
          <p:cNvPr id="617572" name="Group 100"/>
          <p:cNvGrpSpPr>
            <a:grpSpLocks/>
          </p:cNvGrpSpPr>
          <p:nvPr/>
        </p:nvGrpSpPr>
        <p:grpSpPr bwMode="auto">
          <a:xfrm>
            <a:off x="1244741" y="3704955"/>
            <a:ext cx="2389186" cy="2300288"/>
            <a:chOff x="739" y="2794"/>
            <a:chExt cx="1505" cy="1449"/>
          </a:xfrm>
        </p:grpSpPr>
        <p:sp>
          <p:nvSpPr>
            <p:cNvPr id="617551" name="Line 79"/>
            <p:cNvSpPr>
              <a:spLocks noChangeShapeType="1"/>
            </p:cNvSpPr>
            <p:nvPr/>
          </p:nvSpPr>
          <p:spPr bwMode="auto">
            <a:xfrm>
              <a:off x="1152" y="2880"/>
              <a:ext cx="8" cy="132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de-DE" sz="2400"/>
            </a:p>
          </p:txBody>
        </p:sp>
        <p:sp>
          <p:nvSpPr>
            <p:cNvPr id="617552" name="Line 80"/>
            <p:cNvSpPr>
              <a:spLocks noChangeShapeType="1"/>
            </p:cNvSpPr>
            <p:nvPr/>
          </p:nvSpPr>
          <p:spPr bwMode="auto">
            <a:xfrm>
              <a:off x="739" y="3063"/>
              <a:ext cx="1363"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de-DE" sz="2400"/>
            </a:p>
          </p:txBody>
        </p:sp>
        <p:sp>
          <p:nvSpPr>
            <p:cNvPr id="617553" name="Text Box 81"/>
            <p:cNvSpPr txBox="1">
              <a:spLocks noChangeArrowheads="1"/>
            </p:cNvSpPr>
            <p:nvPr/>
          </p:nvSpPr>
          <p:spPr bwMode="auto">
            <a:xfrm>
              <a:off x="883" y="3063"/>
              <a:ext cx="213"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de-DE" sz="2400"/>
                <a:t>v</a:t>
              </a:r>
            </a:p>
          </p:txBody>
        </p:sp>
        <p:sp>
          <p:nvSpPr>
            <p:cNvPr id="617554" name="Text Box 82"/>
            <p:cNvSpPr txBox="1">
              <a:spLocks noChangeArrowheads="1"/>
            </p:cNvSpPr>
            <p:nvPr/>
          </p:nvSpPr>
          <p:spPr bwMode="auto">
            <a:xfrm>
              <a:off x="876" y="3250"/>
              <a:ext cx="213"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de-DE" sz="2400"/>
                <a:t>x</a:t>
              </a:r>
            </a:p>
          </p:txBody>
        </p:sp>
        <p:sp>
          <p:nvSpPr>
            <p:cNvPr id="617562" name="Text Box 90"/>
            <p:cNvSpPr txBox="1">
              <a:spLocks noChangeArrowheads="1"/>
            </p:cNvSpPr>
            <p:nvPr/>
          </p:nvSpPr>
          <p:spPr bwMode="auto">
            <a:xfrm>
              <a:off x="890" y="3485"/>
              <a:ext cx="213"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de-DE" sz="2400"/>
                <a:t>y</a:t>
              </a:r>
            </a:p>
          </p:txBody>
        </p:sp>
        <p:sp>
          <p:nvSpPr>
            <p:cNvPr id="617563" name="Text Box 91"/>
            <p:cNvSpPr txBox="1">
              <a:spLocks noChangeArrowheads="1"/>
            </p:cNvSpPr>
            <p:nvPr/>
          </p:nvSpPr>
          <p:spPr bwMode="auto">
            <a:xfrm>
              <a:off x="875" y="3720"/>
              <a:ext cx="257"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de-DE" sz="2400"/>
                <a:t>w</a:t>
              </a:r>
            </a:p>
          </p:txBody>
        </p:sp>
        <p:sp>
          <p:nvSpPr>
            <p:cNvPr id="617564" name="Text Box 92"/>
            <p:cNvSpPr txBox="1">
              <a:spLocks noChangeArrowheads="1"/>
            </p:cNvSpPr>
            <p:nvPr/>
          </p:nvSpPr>
          <p:spPr bwMode="auto">
            <a:xfrm>
              <a:off x="884" y="3946"/>
              <a:ext cx="213"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de-DE" sz="2400"/>
                <a:t>z</a:t>
              </a:r>
            </a:p>
          </p:txBody>
        </p:sp>
        <p:sp>
          <p:nvSpPr>
            <p:cNvPr id="617565" name="Text Box 93"/>
            <p:cNvSpPr txBox="1">
              <a:spLocks noChangeArrowheads="1"/>
            </p:cNvSpPr>
            <p:nvPr/>
          </p:nvSpPr>
          <p:spPr bwMode="auto">
            <a:xfrm>
              <a:off x="1248" y="3047"/>
              <a:ext cx="515"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de-DE" sz="2400" dirty="0"/>
                <a:t>(</a:t>
              </a:r>
              <a:r>
                <a:rPr lang="de-DE" sz="2400" dirty="0" err="1"/>
                <a:t>u,</a:t>
              </a:r>
              <a:r>
                <a:rPr lang="de-DE" sz="2400" b="1" dirty="0" err="1">
                  <a:solidFill>
                    <a:srgbClr val="7030A0"/>
                  </a:solidFill>
                </a:rPr>
                <a:t>v</a:t>
              </a:r>
              <a:r>
                <a:rPr lang="de-DE" sz="2400" dirty="0"/>
                <a:t>)</a:t>
              </a:r>
            </a:p>
          </p:txBody>
        </p:sp>
        <p:sp>
          <p:nvSpPr>
            <p:cNvPr id="617566" name="Text Box 94"/>
            <p:cNvSpPr txBox="1">
              <a:spLocks noChangeArrowheads="1"/>
            </p:cNvSpPr>
            <p:nvPr/>
          </p:nvSpPr>
          <p:spPr bwMode="auto">
            <a:xfrm>
              <a:off x="1249" y="3249"/>
              <a:ext cx="515"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de-DE" sz="2400"/>
                <a:t>(u,</a:t>
              </a:r>
              <a:r>
                <a:rPr lang="de-DE" sz="2400" b="1">
                  <a:solidFill>
                    <a:srgbClr val="00B050"/>
                  </a:solidFill>
                </a:rPr>
                <a:t>x</a:t>
              </a:r>
              <a:r>
                <a:rPr lang="de-DE" sz="2400"/>
                <a:t>)</a:t>
              </a:r>
            </a:p>
          </p:txBody>
        </p:sp>
        <p:sp>
          <p:nvSpPr>
            <p:cNvPr id="617567" name="Text Box 95"/>
            <p:cNvSpPr txBox="1">
              <a:spLocks noChangeArrowheads="1"/>
            </p:cNvSpPr>
            <p:nvPr/>
          </p:nvSpPr>
          <p:spPr bwMode="auto">
            <a:xfrm>
              <a:off x="1248" y="3500"/>
              <a:ext cx="515"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de-DE" sz="2400"/>
                <a:t>(u,</a:t>
              </a:r>
              <a:r>
                <a:rPr lang="de-DE" sz="2400" b="1">
                  <a:solidFill>
                    <a:srgbClr val="00B050"/>
                  </a:solidFill>
                </a:rPr>
                <a:t>x</a:t>
              </a:r>
              <a:r>
                <a:rPr lang="de-DE" sz="2400"/>
                <a:t>)</a:t>
              </a:r>
            </a:p>
          </p:txBody>
        </p:sp>
        <p:sp>
          <p:nvSpPr>
            <p:cNvPr id="617568" name="Text Box 96"/>
            <p:cNvSpPr txBox="1">
              <a:spLocks noChangeArrowheads="1"/>
            </p:cNvSpPr>
            <p:nvPr/>
          </p:nvSpPr>
          <p:spPr bwMode="auto">
            <a:xfrm>
              <a:off x="1264" y="3718"/>
              <a:ext cx="515"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de-DE" sz="2400"/>
                <a:t>(u,</a:t>
              </a:r>
              <a:r>
                <a:rPr lang="de-DE" sz="2400" b="1">
                  <a:solidFill>
                    <a:srgbClr val="00B050"/>
                  </a:solidFill>
                </a:rPr>
                <a:t>x</a:t>
              </a:r>
              <a:r>
                <a:rPr lang="de-DE" sz="2400"/>
                <a:t>)</a:t>
              </a:r>
            </a:p>
          </p:txBody>
        </p:sp>
        <p:sp>
          <p:nvSpPr>
            <p:cNvPr id="617569" name="Text Box 97"/>
            <p:cNvSpPr txBox="1">
              <a:spLocks noChangeArrowheads="1"/>
            </p:cNvSpPr>
            <p:nvPr/>
          </p:nvSpPr>
          <p:spPr bwMode="auto">
            <a:xfrm>
              <a:off x="1254" y="3952"/>
              <a:ext cx="515"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de-DE" sz="2400"/>
                <a:t>(u,</a:t>
              </a:r>
              <a:r>
                <a:rPr lang="de-DE" sz="2400" b="1">
                  <a:solidFill>
                    <a:srgbClr val="00B050"/>
                  </a:solidFill>
                </a:rPr>
                <a:t>x</a:t>
              </a:r>
              <a:r>
                <a:rPr lang="de-DE" sz="2400"/>
                <a:t>)</a:t>
              </a:r>
            </a:p>
          </p:txBody>
        </p:sp>
        <p:sp>
          <p:nvSpPr>
            <p:cNvPr id="617570" name="Text Box 98"/>
            <p:cNvSpPr txBox="1">
              <a:spLocks noChangeArrowheads="1"/>
            </p:cNvSpPr>
            <p:nvPr/>
          </p:nvSpPr>
          <p:spPr bwMode="auto">
            <a:xfrm>
              <a:off x="739" y="2794"/>
              <a:ext cx="429"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de-DE" sz="2400"/>
                <a:t>Ziel</a:t>
              </a:r>
            </a:p>
          </p:txBody>
        </p:sp>
        <p:sp>
          <p:nvSpPr>
            <p:cNvPr id="617571" name="Text Box 99"/>
            <p:cNvSpPr txBox="1">
              <a:spLocks noChangeArrowheads="1"/>
            </p:cNvSpPr>
            <p:nvPr/>
          </p:nvSpPr>
          <p:spPr bwMode="auto">
            <a:xfrm>
              <a:off x="1232" y="2794"/>
              <a:ext cx="1012"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de-DE" sz="2400"/>
                <a:t>“Ausgang”</a:t>
              </a:r>
            </a:p>
          </p:txBody>
        </p:sp>
      </p:grpSp>
      <p:sp>
        <p:nvSpPr>
          <p:cNvPr id="617573" name="Text Box 101"/>
          <p:cNvSpPr txBox="1">
            <a:spLocks noChangeArrowheads="1"/>
          </p:cNvSpPr>
          <p:nvPr/>
        </p:nvSpPr>
        <p:spPr bwMode="auto">
          <a:xfrm>
            <a:off x="457200" y="2716560"/>
            <a:ext cx="3357843"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de-DE" sz="2400" b="1" dirty="0">
                <a:solidFill>
                  <a:srgbClr val="FF0000"/>
                </a:solidFill>
              </a:rPr>
              <a:t>Weiterleitungstabelle </a:t>
            </a:r>
          </a:p>
          <a:p>
            <a:pPr algn="ctr"/>
            <a:r>
              <a:rPr lang="de-DE" sz="2400" dirty="0"/>
              <a:t>für </a:t>
            </a:r>
            <a:r>
              <a:rPr lang="de-DE" sz="2400" b="1" dirty="0">
                <a:solidFill>
                  <a:srgbClr val="0070C0"/>
                </a:solidFill>
              </a:rPr>
              <a:t>u</a:t>
            </a:r>
            <a:r>
              <a:rPr lang="de-DE" sz="2400" dirty="0"/>
              <a:t>:</a:t>
            </a:r>
            <a:endParaRPr lang="de-DE" sz="2400" u="sng" dirty="0">
              <a:solidFill>
                <a:srgbClr val="FF0000"/>
              </a:solidFill>
            </a:endParaRPr>
          </a:p>
        </p:txBody>
      </p:sp>
      <p:sp>
        <p:nvSpPr>
          <p:cNvPr id="76" name="Content Placeholder 3"/>
          <p:cNvSpPr txBox="1">
            <a:spLocks/>
          </p:cNvSpPr>
          <p:nvPr/>
        </p:nvSpPr>
        <p:spPr>
          <a:xfrm>
            <a:off x="457200" y="1219200"/>
            <a:ext cx="8229600" cy="1417712"/>
          </a:xfrm>
          <a:prstGeom prst="rect">
            <a:avLst/>
          </a:prstGeom>
        </p:spPr>
        <p:txBody>
          <a:bodyPr>
            <a:normAutofit/>
          </a:bodyPr>
          <a:lst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r>
              <a:rPr lang="de-DE" dirty="0"/>
              <a:t>Die Werte p(v) nach der letzten Operation erlauben uns, die </a:t>
            </a:r>
            <a:r>
              <a:rPr lang="de-DE" u="sng" dirty="0"/>
              <a:t>Weiterleitungstabelle</a:t>
            </a:r>
            <a:r>
              <a:rPr lang="de-DE" dirty="0"/>
              <a:t> und die </a:t>
            </a:r>
            <a:r>
              <a:rPr lang="de-DE" u="sng" dirty="0"/>
              <a:t>Routing-Pfade</a:t>
            </a:r>
            <a:r>
              <a:rPr lang="de-DE" dirty="0"/>
              <a:t> zu bestimmen (für u als Quellknoten)</a:t>
            </a:r>
          </a:p>
        </p:txBody>
      </p:sp>
      <p:sp>
        <p:nvSpPr>
          <p:cNvPr id="77" name="Text Box 101"/>
          <p:cNvSpPr txBox="1">
            <a:spLocks noChangeArrowheads="1"/>
          </p:cNvSpPr>
          <p:nvPr/>
        </p:nvSpPr>
        <p:spPr bwMode="auto">
          <a:xfrm>
            <a:off x="4791509" y="2636911"/>
            <a:ext cx="3842719"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de-DE" sz="2400" b="1">
                <a:solidFill>
                  <a:srgbClr val="FF0000"/>
                </a:solidFill>
              </a:rPr>
              <a:t>Baum der </a:t>
            </a:r>
            <a:br>
              <a:rPr lang="de-DE" sz="2400" b="1">
                <a:solidFill>
                  <a:srgbClr val="FF0000"/>
                </a:solidFill>
              </a:rPr>
            </a:br>
            <a:r>
              <a:rPr lang="de-DE" sz="2400" b="1">
                <a:solidFill>
                  <a:srgbClr val="FF0000"/>
                </a:solidFill>
              </a:rPr>
              <a:t>kostengünstigsten Pfade</a:t>
            </a:r>
          </a:p>
          <a:p>
            <a:pPr algn="ctr"/>
            <a:r>
              <a:rPr lang="de-DE" sz="2400"/>
              <a:t>für u:</a:t>
            </a:r>
            <a:endParaRPr lang="de-DE" sz="2400" u="sng">
              <a:solidFill>
                <a:srgbClr val="FF0000"/>
              </a:solidFill>
            </a:endParaRPr>
          </a:p>
        </p:txBody>
      </p:sp>
      <p:sp>
        <p:nvSpPr>
          <p:cNvPr id="78" name="Textfeld 77"/>
          <p:cNvSpPr txBox="1"/>
          <p:nvPr/>
        </p:nvSpPr>
        <p:spPr>
          <a:xfrm>
            <a:off x="467544" y="6165304"/>
            <a:ext cx="4791696" cy="461665"/>
          </a:xfrm>
          <a:prstGeom prst="rect">
            <a:avLst/>
          </a:prstGeom>
          <a:noFill/>
        </p:spPr>
        <p:txBody>
          <a:bodyPr wrap="none" rtlCol="0">
            <a:spAutoFit/>
          </a:bodyPr>
          <a:lstStyle/>
          <a:p>
            <a:r>
              <a:rPr lang="de-DE" sz="2400" dirty="0"/>
              <a:t>Wie genau berechnet man diese?</a:t>
            </a:r>
          </a:p>
        </p:txBody>
      </p:sp>
    </p:spTree>
    <p:extLst>
      <p:ext uri="{BB962C8B-B14F-4D97-AF65-F5344CB8AC3E}">
        <p14:creationId xmlns:p14="http://schemas.microsoft.com/office/powerpoint/2010/main" val="29458392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 name="Slide Number Placeholder 6"/>
          <p:cNvSpPr>
            <a:spLocks noGrp="1"/>
          </p:cNvSpPr>
          <p:nvPr>
            <p:ph type="sldNum" sz="quarter" idx="12"/>
          </p:nvPr>
        </p:nvSpPr>
        <p:spPr/>
        <p:txBody>
          <a:bodyPr/>
          <a:lstStyle/>
          <a:p>
            <a:fld id="{52A64CB8-CE9A-4CD4-B887-60CA742FF8AD}" type="slidenum">
              <a:rPr lang="de-DE" smtClean="0"/>
              <a:pPr/>
              <a:t>32</a:t>
            </a:fld>
            <a:endParaRPr lang="de-DE"/>
          </a:p>
        </p:txBody>
      </p:sp>
      <p:sp>
        <p:nvSpPr>
          <p:cNvPr id="465922" name="Rectangle 2"/>
          <p:cNvSpPr>
            <a:spLocks noGrp="1" noChangeArrowheads="1"/>
          </p:cNvSpPr>
          <p:nvPr>
            <p:ph type="title"/>
          </p:nvPr>
        </p:nvSpPr>
        <p:spPr/>
        <p:txBody>
          <a:bodyPr/>
          <a:lstStyle/>
          <a:p>
            <a:r>
              <a:rPr lang="de-DE" sz="3600" dirty="0"/>
              <a:t>Dijkstra-Algorithmus - Diskussion</a:t>
            </a:r>
            <a:endParaRPr lang="de-DE" dirty="0"/>
          </a:p>
        </p:txBody>
      </p:sp>
      <p:sp>
        <p:nvSpPr>
          <p:cNvPr id="465923" name="Rectangle 3"/>
          <p:cNvSpPr>
            <a:spLocks noGrp="1" noChangeArrowheads="1"/>
          </p:cNvSpPr>
          <p:nvPr>
            <p:ph type="body" sz="half" idx="1"/>
          </p:nvPr>
        </p:nvSpPr>
        <p:spPr>
          <a:xfrm>
            <a:off x="433997" y="1196752"/>
            <a:ext cx="8277225" cy="2651125"/>
          </a:xfrm>
        </p:spPr>
        <p:txBody>
          <a:bodyPr>
            <a:normAutofit/>
          </a:bodyPr>
          <a:lstStyle/>
          <a:p>
            <a:pPr>
              <a:lnSpc>
                <a:spcPct val="90000"/>
              </a:lnSpc>
              <a:buFont typeface="ZapfDingbats" pitchFamily="82" charset="2"/>
              <a:buNone/>
            </a:pPr>
            <a:r>
              <a:rPr lang="de-DE" sz="2400" b="1" dirty="0">
                <a:solidFill>
                  <a:srgbClr val="FF0000"/>
                </a:solidFill>
              </a:rPr>
              <a:t>Komplexität </a:t>
            </a:r>
            <a:r>
              <a:rPr lang="de-DE" sz="2400" dirty="0">
                <a:solidFill>
                  <a:srgbClr val="000000"/>
                </a:solidFill>
              </a:rPr>
              <a:t>bei </a:t>
            </a:r>
            <a:r>
              <a:rPr lang="de-DE" sz="2400" dirty="0"/>
              <a:t>n Knoten:</a:t>
            </a:r>
          </a:p>
          <a:p>
            <a:pPr>
              <a:lnSpc>
                <a:spcPct val="90000"/>
              </a:lnSpc>
            </a:pPr>
            <a:r>
              <a:rPr lang="de-DE" sz="2400" dirty="0"/>
              <a:t>jede Iteration: muss alle Knoten w (nicht in N‘) überprüfen</a:t>
            </a:r>
          </a:p>
          <a:p>
            <a:pPr>
              <a:lnSpc>
                <a:spcPct val="90000"/>
              </a:lnSpc>
            </a:pPr>
            <a:r>
              <a:rPr lang="de-DE" sz="2400" dirty="0"/>
              <a:t>max. n(n+1)/2 Vergleiche: O(n</a:t>
            </a:r>
            <a:r>
              <a:rPr lang="de-DE" sz="2400" baseline="30000" dirty="0"/>
              <a:t>2</a:t>
            </a:r>
            <a:r>
              <a:rPr lang="de-DE" sz="2400" dirty="0"/>
              <a:t>)</a:t>
            </a:r>
          </a:p>
          <a:p>
            <a:pPr>
              <a:lnSpc>
                <a:spcPct val="90000"/>
              </a:lnSpc>
            </a:pPr>
            <a:r>
              <a:rPr lang="de-DE" sz="2400" dirty="0"/>
              <a:t>Es gibt effizientere Verfahren mit Heaps =&gt; O(n log(n))</a:t>
            </a:r>
          </a:p>
          <a:p>
            <a:pPr>
              <a:lnSpc>
                <a:spcPct val="90000"/>
              </a:lnSpc>
              <a:spcBef>
                <a:spcPct val="40000"/>
              </a:spcBef>
              <a:buNone/>
            </a:pPr>
            <a:r>
              <a:rPr lang="de-DE" sz="2400" dirty="0">
                <a:solidFill>
                  <a:srgbClr val="000000"/>
                </a:solidFill>
              </a:rPr>
              <a:t>Problem: </a:t>
            </a:r>
            <a:r>
              <a:rPr lang="de-DE" sz="2400" b="1" dirty="0">
                <a:solidFill>
                  <a:srgbClr val="FF0000"/>
                </a:solidFill>
              </a:rPr>
              <a:t>Oszillationen </a:t>
            </a:r>
            <a:r>
              <a:rPr lang="de-DE" sz="2400" dirty="0">
                <a:solidFill>
                  <a:srgbClr val="000000"/>
                </a:solidFill>
              </a:rPr>
              <a:t>sind möglich!</a:t>
            </a:r>
            <a:endParaRPr lang="de-DE" sz="2400" dirty="0"/>
          </a:p>
          <a:p>
            <a:pPr>
              <a:lnSpc>
                <a:spcPct val="90000"/>
              </a:lnSpc>
            </a:pPr>
            <a:r>
              <a:rPr lang="de-DE" sz="2400" dirty="0"/>
              <a:t>z.B., Leitungskosten = aktuelles Verkehrsaufkommen</a:t>
            </a:r>
          </a:p>
        </p:txBody>
      </p:sp>
      <p:grpSp>
        <p:nvGrpSpPr>
          <p:cNvPr id="2" name="Gruppieren 1"/>
          <p:cNvGrpSpPr/>
          <p:nvPr/>
        </p:nvGrpSpPr>
        <p:grpSpPr>
          <a:xfrm>
            <a:off x="347663" y="3899696"/>
            <a:ext cx="8796336" cy="2744788"/>
            <a:chOff x="347663" y="3899696"/>
            <a:chExt cx="8796336" cy="2744788"/>
          </a:xfrm>
        </p:grpSpPr>
        <p:grpSp>
          <p:nvGrpSpPr>
            <p:cNvPr id="465924" name="Group 4"/>
            <p:cNvGrpSpPr>
              <a:grpSpLocks/>
            </p:cNvGrpSpPr>
            <p:nvPr/>
          </p:nvGrpSpPr>
          <p:grpSpPr bwMode="auto">
            <a:xfrm>
              <a:off x="347663" y="3899696"/>
              <a:ext cx="8796336" cy="2744788"/>
              <a:chOff x="244" y="2691"/>
              <a:chExt cx="5541" cy="1729"/>
            </a:xfrm>
          </p:grpSpPr>
          <p:sp>
            <p:nvSpPr>
              <p:cNvPr id="465925" name="Freeform 5"/>
              <p:cNvSpPr>
                <a:spLocks/>
              </p:cNvSpPr>
              <p:nvPr/>
            </p:nvSpPr>
            <p:spPr bwMode="auto">
              <a:xfrm>
                <a:off x="281" y="2691"/>
                <a:ext cx="1242" cy="854"/>
              </a:xfrm>
              <a:custGeom>
                <a:avLst/>
                <a:gdLst>
                  <a:gd name="T0" fmla="*/ 1 w 1242"/>
                  <a:gd name="T1" fmla="*/ 381 h 854"/>
                  <a:gd name="T2" fmla="*/ 169 w 1242"/>
                  <a:gd name="T3" fmla="*/ 162 h 854"/>
                  <a:gd name="T4" fmla="*/ 487 w 1242"/>
                  <a:gd name="T5" fmla="*/ 18 h 854"/>
                  <a:gd name="T6" fmla="*/ 823 w 1242"/>
                  <a:gd name="T7" fmla="*/ 30 h 854"/>
                  <a:gd name="T8" fmla="*/ 1183 w 1242"/>
                  <a:gd name="T9" fmla="*/ 261 h 854"/>
                  <a:gd name="T10" fmla="*/ 1177 w 1242"/>
                  <a:gd name="T11" fmla="*/ 609 h 854"/>
                  <a:gd name="T12" fmla="*/ 928 w 1242"/>
                  <a:gd name="T13" fmla="*/ 780 h 854"/>
                  <a:gd name="T14" fmla="*/ 448 w 1242"/>
                  <a:gd name="T15" fmla="*/ 837 h 854"/>
                  <a:gd name="T16" fmla="*/ 178 w 1242"/>
                  <a:gd name="T17" fmla="*/ 675 h 854"/>
                  <a:gd name="T18" fmla="*/ 1 w 1242"/>
                  <a:gd name="T19" fmla="*/ 381 h 8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242" h="854">
                    <a:moveTo>
                      <a:pt x="1" y="381"/>
                    </a:moveTo>
                    <a:cubicBezTo>
                      <a:pt x="0" y="296"/>
                      <a:pt x="88" y="222"/>
                      <a:pt x="169" y="162"/>
                    </a:cubicBezTo>
                    <a:cubicBezTo>
                      <a:pt x="250" y="102"/>
                      <a:pt x="378" y="40"/>
                      <a:pt x="487" y="18"/>
                    </a:cubicBezTo>
                    <a:cubicBezTo>
                      <a:pt x="616" y="6"/>
                      <a:pt x="685" y="0"/>
                      <a:pt x="823" y="30"/>
                    </a:cubicBezTo>
                    <a:cubicBezTo>
                      <a:pt x="961" y="60"/>
                      <a:pt x="1121" y="165"/>
                      <a:pt x="1183" y="261"/>
                    </a:cubicBezTo>
                    <a:cubicBezTo>
                      <a:pt x="1242" y="357"/>
                      <a:pt x="1219" y="523"/>
                      <a:pt x="1177" y="609"/>
                    </a:cubicBezTo>
                    <a:cubicBezTo>
                      <a:pt x="1135" y="695"/>
                      <a:pt x="1049" y="742"/>
                      <a:pt x="928" y="780"/>
                    </a:cubicBezTo>
                    <a:cubicBezTo>
                      <a:pt x="807" y="818"/>
                      <a:pt x="573" y="854"/>
                      <a:pt x="448" y="837"/>
                    </a:cubicBezTo>
                    <a:cubicBezTo>
                      <a:pt x="323" y="820"/>
                      <a:pt x="252" y="751"/>
                      <a:pt x="178" y="675"/>
                    </a:cubicBezTo>
                    <a:cubicBezTo>
                      <a:pt x="104" y="599"/>
                      <a:pt x="2" y="466"/>
                      <a:pt x="1" y="381"/>
                    </a:cubicBezTo>
                    <a:close/>
                  </a:path>
                </a:pathLst>
              </a:custGeom>
              <a:solidFill>
                <a:srgbClr val="66CCFF"/>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65926" name="Freeform 6"/>
              <p:cNvSpPr>
                <a:spLocks/>
              </p:cNvSpPr>
              <p:nvPr/>
            </p:nvSpPr>
            <p:spPr bwMode="auto">
              <a:xfrm>
                <a:off x="534" y="2904"/>
                <a:ext cx="246" cy="132"/>
              </a:xfrm>
              <a:custGeom>
                <a:avLst/>
                <a:gdLst>
                  <a:gd name="T0" fmla="*/ 0 w 342"/>
                  <a:gd name="T1" fmla="*/ 186 h 186"/>
                  <a:gd name="T2" fmla="*/ 342 w 342"/>
                  <a:gd name="T3" fmla="*/ 0 h 186"/>
                </a:gdLst>
                <a:ahLst/>
                <a:cxnLst>
                  <a:cxn ang="0">
                    <a:pos x="T0" y="T1"/>
                  </a:cxn>
                  <a:cxn ang="0">
                    <a:pos x="T2" y="T3"/>
                  </a:cxn>
                </a:cxnLst>
                <a:rect l="0" t="0" r="r" b="b"/>
                <a:pathLst>
                  <a:path w="342" h="186">
                    <a:moveTo>
                      <a:pt x="0" y="186"/>
                    </a:moveTo>
                    <a:lnTo>
                      <a:pt x="342" y="0"/>
                    </a:lnTo>
                  </a:path>
                </a:pathLst>
              </a:custGeom>
              <a:noFill/>
              <a:ln w="12700">
                <a:solidFill>
                  <a:schemeClr val="tx1"/>
                </a:solidFill>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grpSp>
            <p:nvGrpSpPr>
              <p:cNvPr id="465927" name="Group 7"/>
              <p:cNvGrpSpPr>
                <a:grpSpLocks/>
              </p:cNvGrpSpPr>
              <p:nvPr/>
            </p:nvGrpSpPr>
            <p:grpSpPr bwMode="auto">
              <a:xfrm>
                <a:off x="727" y="2708"/>
                <a:ext cx="316" cy="250"/>
                <a:chOff x="1747" y="3194"/>
                <a:chExt cx="316" cy="250"/>
              </a:xfrm>
            </p:grpSpPr>
            <p:sp>
              <p:nvSpPr>
                <p:cNvPr id="465928" name="Oval 8"/>
                <p:cNvSpPr>
                  <a:spLocks noChangeArrowheads="1"/>
                </p:cNvSpPr>
                <p:nvPr/>
              </p:nvSpPr>
              <p:spPr bwMode="auto">
                <a:xfrm>
                  <a:off x="1750" y="3308"/>
                  <a:ext cx="313" cy="81"/>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65929" name="Line 9"/>
                <p:cNvSpPr>
                  <a:spLocks noChangeShapeType="1"/>
                </p:cNvSpPr>
                <p:nvPr/>
              </p:nvSpPr>
              <p:spPr bwMode="auto">
                <a:xfrm>
                  <a:off x="1750" y="3301"/>
                  <a:ext cx="0" cy="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65930" name="Line 10"/>
                <p:cNvSpPr>
                  <a:spLocks noChangeShapeType="1"/>
                </p:cNvSpPr>
                <p:nvPr/>
              </p:nvSpPr>
              <p:spPr bwMode="auto">
                <a:xfrm>
                  <a:off x="2063" y="3301"/>
                  <a:ext cx="0" cy="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65931" name="Rectangle 11"/>
                <p:cNvSpPr>
                  <a:spLocks noChangeArrowheads="1"/>
                </p:cNvSpPr>
                <p:nvPr/>
              </p:nvSpPr>
              <p:spPr bwMode="auto">
                <a:xfrm>
                  <a:off x="1750" y="3301"/>
                  <a:ext cx="310" cy="49"/>
                </a:xfrm>
                <a:prstGeom prst="rect">
                  <a:avLst/>
                </a:prstGeom>
                <a:solidFill>
                  <a:schemeClr val="hlink"/>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de-DE" sz="2400">
                    <a:latin typeface="Times New Roman" pitchFamily="18" charset="0"/>
                  </a:endParaRPr>
                </a:p>
              </p:txBody>
            </p:sp>
            <p:sp>
              <p:nvSpPr>
                <p:cNvPr id="465932" name="Oval 12"/>
                <p:cNvSpPr>
                  <a:spLocks noChangeArrowheads="1"/>
                </p:cNvSpPr>
                <p:nvPr/>
              </p:nvSpPr>
              <p:spPr bwMode="auto">
                <a:xfrm>
                  <a:off x="1747" y="3242"/>
                  <a:ext cx="313" cy="95"/>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grpSp>
              <p:nvGrpSpPr>
                <p:cNvPr id="465933" name="Group 13"/>
                <p:cNvGrpSpPr>
                  <a:grpSpLocks/>
                </p:cNvGrpSpPr>
                <p:nvPr/>
              </p:nvGrpSpPr>
              <p:grpSpPr bwMode="auto">
                <a:xfrm>
                  <a:off x="1785" y="3194"/>
                  <a:ext cx="233" cy="250"/>
                  <a:chOff x="2940" y="2429"/>
                  <a:chExt cx="236" cy="250"/>
                </a:xfrm>
              </p:grpSpPr>
              <p:sp>
                <p:nvSpPr>
                  <p:cNvPr id="465934" name="Rectangle 14"/>
                  <p:cNvSpPr>
                    <a:spLocks noChangeArrowheads="1"/>
                  </p:cNvSpPr>
                  <p:nvPr/>
                </p:nvSpPr>
                <p:spPr bwMode="auto">
                  <a:xfrm>
                    <a:off x="2982" y="2490"/>
                    <a:ext cx="144" cy="132"/>
                  </a:xfrm>
                  <a:prstGeom prst="rect">
                    <a:avLst/>
                  </a:prstGeom>
                  <a:solidFill>
                    <a:schemeClr va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65935" name="Text Box 15"/>
                  <p:cNvSpPr txBox="1">
                    <a:spLocks noChangeArrowheads="1"/>
                  </p:cNvSpPr>
                  <p:nvPr/>
                </p:nvSpPr>
                <p:spPr bwMode="auto">
                  <a:xfrm>
                    <a:off x="2940" y="2429"/>
                    <a:ext cx="236"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de-DE" sz="2000"/>
                      <a:t>A</a:t>
                    </a:r>
                    <a:endParaRPr lang="de-DE" sz="2400">
                      <a:latin typeface="Times New Roman" pitchFamily="18" charset="0"/>
                    </a:endParaRPr>
                  </a:p>
                </p:txBody>
              </p:sp>
            </p:grpSp>
          </p:grpSp>
          <p:grpSp>
            <p:nvGrpSpPr>
              <p:cNvPr id="465936" name="Group 16"/>
              <p:cNvGrpSpPr>
                <a:grpSpLocks/>
              </p:cNvGrpSpPr>
              <p:nvPr/>
            </p:nvGrpSpPr>
            <p:grpSpPr bwMode="auto">
              <a:xfrm>
                <a:off x="319" y="2963"/>
                <a:ext cx="316" cy="252"/>
                <a:chOff x="2221" y="3575"/>
                <a:chExt cx="316" cy="252"/>
              </a:xfrm>
            </p:grpSpPr>
            <p:sp>
              <p:nvSpPr>
                <p:cNvPr id="465937" name="Oval 17"/>
                <p:cNvSpPr>
                  <a:spLocks noChangeArrowheads="1"/>
                </p:cNvSpPr>
                <p:nvPr/>
              </p:nvSpPr>
              <p:spPr bwMode="auto">
                <a:xfrm>
                  <a:off x="2224" y="3695"/>
                  <a:ext cx="313" cy="81"/>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65938" name="Line 18"/>
                <p:cNvSpPr>
                  <a:spLocks noChangeShapeType="1"/>
                </p:cNvSpPr>
                <p:nvPr/>
              </p:nvSpPr>
              <p:spPr bwMode="auto">
                <a:xfrm>
                  <a:off x="2224" y="3688"/>
                  <a:ext cx="0" cy="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65939" name="Line 19"/>
                <p:cNvSpPr>
                  <a:spLocks noChangeShapeType="1"/>
                </p:cNvSpPr>
                <p:nvPr/>
              </p:nvSpPr>
              <p:spPr bwMode="auto">
                <a:xfrm>
                  <a:off x="2537" y="3688"/>
                  <a:ext cx="0" cy="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65940" name="Rectangle 20"/>
                <p:cNvSpPr>
                  <a:spLocks noChangeArrowheads="1"/>
                </p:cNvSpPr>
                <p:nvPr/>
              </p:nvSpPr>
              <p:spPr bwMode="auto">
                <a:xfrm>
                  <a:off x="2224" y="3688"/>
                  <a:ext cx="310" cy="49"/>
                </a:xfrm>
                <a:prstGeom prst="rect">
                  <a:avLst/>
                </a:prstGeom>
                <a:solidFill>
                  <a:schemeClr val="hlink"/>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de-DE" sz="2400">
                    <a:latin typeface="Times New Roman" pitchFamily="18" charset="0"/>
                  </a:endParaRPr>
                </a:p>
              </p:txBody>
            </p:sp>
            <p:sp>
              <p:nvSpPr>
                <p:cNvPr id="465941" name="Oval 21"/>
                <p:cNvSpPr>
                  <a:spLocks noChangeArrowheads="1"/>
                </p:cNvSpPr>
                <p:nvPr/>
              </p:nvSpPr>
              <p:spPr bwMode="auto">
                <a:xfrm>
                  <a:off x="2221" y="3629"/>
                  <a:ext cx="313" cy="95"/>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grpSp>
              <p:nvGrpSpPr>
                <p:cNvPr id="465942" name="Group 22"/>
                <p:cNvGrpSpPr>
                  <a:grpSpLocks/>
                </p:cNvGrpSpPr>
                <p:nvPr/>
              </p:nvGrpSpPr>
              <p:grpSpPr bwMode="auto">
                <a:xfrm>
                  <a:off x="2274" y="3575"/>
                  <a:ext cx="233" cy="252"/>
                  <a:chOff x="2940" y="2429"/>
                  <a:chExt cx="236" cy="252"/>
                </a:xfrm>
              </p:grpSpPr>
              <p:sp>
                <p:nvSpPr>
                  <p:cNvPr id="465943" name="Rectangle 23"/>
                  <p:cNvSpPr>
                    <a:spLocks noChangeArrowheads="1"/>
                  </p:cNvSpPr>
                  <p:nvPr/>
                </p:nvSpPr>
                <p:spPr bwMode="auto">
                  <a:xfrm>
                    <a:off x="2982" y="2490"/>
                    <a:ext cx="144" cy="132"/>
                  </a:xfrm>
                  <a:prstGeom prst="rect">
                    <a:avLst/>
                  </a:prstGeom>
                  <a:solidFill>
                    <a:schemeClr va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65944" name="Text Box 24"/>
                  <p:cNvSpPr txBox="1">
                    <a:spLocks noChangeArrowheads="1"/>
                  </p:cNvSpPr>
                  <p:nvPr/>
                </p:nvSpPr>
                <p:spPr bwMode="auto">
                  <a:xfrm>
                    <a:off x="2940" y="2429"/>
                    <a:ext cx="236" cy="25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de-DE" sz="2000"/>
                      <a:t>D</a:t>
                    </a:r>
                    <a:endParaRPr lang="de-DE" sz="2400">
                      <a:latin typeface="Times New Roman" pitchFamily="18" charset="0"/>
                    </a:endParaRPr>
                  </a:p>
                </p:txBody>
              </p:sp>
            </p:grpSp>
          </p:grpSp>
          <p:grpSp>
            <p:nvGrpSpPr>
              <p:cNvPr id="465945" name="Group 25"/>
              <p:cNvGrpSpPr>
                <a:grpSpLocks/>
              </p:cNvGrpSpPr>
              <p:nvPr/>
            </p:nvGrpSpPr>
            <p:grpSpPr bwMode="auto">
              <a:xfrm>
                <a:off x="719" y="3254"/>
                <a:ext cx="315" cy="252"/>
                <a:chOff x="2903" y="2888"/>
                <a:chExt cx="315" cy="252"/>
              </a:xfrm>
            </p:grpSpPr>
            <p:grpSp>
              <p:nvGrpSpPr>
                <p:cNvPr id="465946" name="Group 26"/>
                <p:cNvGrpSpPr>
                  <a:grpSpLocks/>
                </p:cNvGrpSpPr>
                <p:nvPr/>
              </p:nvGrpSpPr>
              <p:grpSpPr bwMode="auto">
                <a:xfrm>
                  <a:off x="2903" y="2938"/>
                  <a:ext cx="315" cy="144"/>
                  <a:chOff x="2903" y="2938"/>
                  <a:chExt cx="315" cy="144"/>
                </a:xfrm>
              </p:grpSpPr>
              <p:sp>
                <p:nvSpPr>
                  <p:cNvPr id="465947" name="Oval 27"/>
                  <p:cNvSpPr>
                    <a:spLocks noChangeArrowheads="1"/>
                  </p:cNvSpPr>
                  <p:nvPr/>
                </p:nvSpPr>
                <p:spPr bwMode="auto">
                  <a:xfrm>
                    <a:off x="2903" y="3001"/>
                    <a:ext cx="312" cy="81"/>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65948" name="Line 28"/>
                  <p:cNvSpPr>
                    <a:spLocks noChangeShapeType="1"/>
                  </p:cNvSpPr>
                  <p:nvPr/>
                </p:nvSpPr>
                <p:spPr bwMode="auto">
                  <a:xfrm>
                    <a:off x="2903" y="2994"/>
                    <a:ext cx="0" cy="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65949" name="Line 29"/>
                  <p:cNvSpPr>
                    <a:spLocks noChangeShapeType="1"/>
                  </p:cNvSpPr>
                  <p:nvPr/>
                </p:nvSpPr>
                <p:spPr bwMode="auto">
                  <a:xfrm>
                    <a:off x="3215" y="2994"/>
                    <a:ext cx="0" cy="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65950" name="Rectangle 30"/>
                  <p:cNvSpPr>
                    <a:spLocks noChangeArrowheads="1"/>
                  </p:cNvSpPr>
                  <p:nvPr/>
                </p:nvSpPr>
                <p:spPr bwMode="auto">
                  <a:xfrm>
                    <a:off x="2903" y="2994"/>
                    <a:ext cx="309" cy="49"/>
                  </a:xfrm>
                  <a:prstGeom prst="rect">
                    <a:avLst/>
                  </a:prstGeom>
                  <a:solidFill>
                    <a:schemeClr val="hlink"/>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de-DE" sz="2400">
                      <a:latin typeface="Times New Roman" pitchFamily="18" charset="0"/>
                    </a:endParaRPr>
                  </a:p>
                </p:txBody>
              </p:sp>
              <p:sp>
                <p:nvSpPr>
                  <p:cNvPr id="465951" name="Oval 31"/>
                  <p:cNvSpPr>
                    <a:spLocks noChangeArrowheads="1"/>
                  </p:cNvSpPr>
                  <p:nvPr/>
                </p:nvSpPr>
                <p:spPr bwMode="auto">
                  <a:xfrm>
                    <a:off x="2906" y="2938"/>
                    <a:ext cx="312" cy="95"/>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grpSp>
            <p:grpSp>
              <p:nvGrpSpPr>
                <p:cNvPr id="465952" name="Group 32"/>
                <p:cNvGrpSpPr>
                  <a:grpSpLocks/>
                </p:cNvGrpSpPr>
                <p:nvPr/>
              </p:nvGrpSpPr>
              <p:grpSpPr bwMode="auto">
                <a:xfrm>
                  <a:off x="2952" y="2888"/>
                  <a:ext cx="234" cy="252"/>
                  <a:chOff x="2939" y="2429"/>
                  <a:chExt cx="237" cy="252"/>
                </a:xfrm>
              </p:grpSpPr>
              <p:sp>
                <p:nvSpPr>
                  <p:cNvPr id="465953" name="Rectangle 33"/>
                  <p:cNvSpPr>
                    <a:spLocks noChangeArrowheads="1"/>
                  </p:cNvSpPr>
                  <p:nvPr/>
                </p:nvSpPr>
                <p:spPr bwMode="auto">
                  <a:xfrm>
                    <a:off x="2982" y="2490"/>
                    <a:ext cx="144" cy="132"/>
                  </a:xfrm>
                  <a:prstGeom prst="rect">
                    <a:avLst/>
                  </a:prstGeom>
                  <a:solidFill>
                    <a:schemeClr va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65954" name="Text Box 34"/>
                  <p:cNvSpPr txBox="1">
                    <a:spLocks noChangeArrowheads="1"/>
                  </p:cNvSpPr>
                  <p:nvPr/>
                </p:nvSpPr>
                <p:spPr bwMode="auto">
                  <a:xfrm>
                    <a:off x="2939" y="2429"/>
                    <a:ext cx="237" cy="25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de-DE" sz="2000"/>
                      <a:t>C</a:t>
                    </a:r>
                    <a:endParaRPr lang="de-DE" sz="2400">
                      <a:latin typeface="Times New Roman" pitchFamily="18" charset="0"/>
                    </a:endParaRPr>
                  </a:p>
                </p:txBody>
              </p:sp>
            </p:grpSp>
          </p:grpSp>
          <p:grpSp>
            <p:nvGrpSpPr>
              <p:cNvPr id="465955" name="Group 35"/>
              <p:cNvGrpSpPr>
                <a:grpSpLocks/>
              </p:cNvGrpSpPr>
              <p:nvPr/>
            </p:nvGrpSpPr>
            <p:grpSpPr bwMode="auto">
              <a:xfrm>
                <a:off x="1131" y="2972"/>
                <a:ext cx="316" cy="252"/>
                <a:chOff x="2217" y="2888"/>
                <a:chExt cx="316" cy="252"/>
              </a:xfrm>
            </p:grpSpPr>
            <p:sp>
              <p:nvSpPr>
                <p:cNvPr id="465956" name="Oval 36"/>
                <p:cNvSpPr>
                  <a:spLocks noChangeArrowheads="1"/>
                </p:cNvSpPr>
                <p:nvPr/>
              </p:nvSpPr>
              <p:spPr bwMode="auto">
                <a:xfrm>
                  <a:off x="2220" y="3005"/>
                  <a:ext cx="313" cy="81"/>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65957" name="Line 37"/>
                <p:cNvSpPr>
                  <a:spLocks noChangeShapeType="1"/>
                </p:cNvSpPr>
                <p:nvPr/>
              </p:nvSpPr>
              <p:spPr bwMode="auto">
                <a:xfrm>
                  <a:off x="2220" y="2998"/>
                  <a:ext cx="0" cy="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65958" name="Line 38"/>
                <p:cNvSpPr>
                  <a:spLocks noChangeShapeType="1"/>
                </p:cNvSpPr>
                <p:nvPr/>
              </p:nvSpPr>
              <p:spPr bwMode="auto">
                <a:xfrm>
                  <a:off x="2533" y="2998"/>
                  <a:ext cx="0" cy="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65959" name="Rectangle 39"/>
                <p:cNvSpPr>
                  <a:spLocks noChangeArrowheads="1"/>
                </p:cNvSpPr>
                <p:nvPr/>
              </p:nvSpPr>
              <p:spPr bwMode="auto">
                <a:xfrm>
                  <a:off x="2220" y="2998"/>
                  <a:ext cx="310" cy="49"/>
                </a:xfrm>
                <a:prstGeom prst="rect">
                  <a:avLst/>
                </a:prstGeom>
                <a:solidFill>
                  <a:schemeClr val="hlink"/>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de-DE" sz="2400">
                    <a:latin typeface="Times New Roman" pitchFamily="18" charset="0"/>
                  </a:endParaRPr>
                </a:p>
              </p:txBody>
            </p:sp>
            <p:sp>
              <p:nvSpPr>
                <p:cNvPr id="465960" name="Oval 40"/>
                <p:cNvSpPr>
                  <a:spLocks noChangeArrowheads="1"/>
                </p:cNvSpPr>
                <p:nvPr/>
              </p:nvSpPr>
              <p:spPr bwMode="auto">
                <a:xfrm>
                  <a:off x="2217" y="2939"/>
                  <a:ext cx="313" cy="95"/>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grpSp>
              <p:nvGrpSpPr>
                <p:cNvPr id="465961" name="Group 41"/>
                <p:cNvGrpSpPr>
                  <a:grpSpLocks/>
                </p:cNvGrpSpPr>
                <p:nvPr/>
              </p:nvGrpSpPr>
              <p:grpSpPr bwMode="auto">
                <a:xfrm>
                  <a:off x="2270" y="2888"/>
                  <a:ext cx="224" cy="252"/>
                  <a:chOff x="2944" y="2429"/>
                  <a:chExt cx="227" cy="252"/>
                </a:xfrm>
              </p:grpSpPr>
              <p:sp>
                <p:nvSpPr>
                  <p:cNvPr id="465962" name="Rectangle 42"/>
                  <p:cNvSpPr>
                    <a:spLocks noChangeArrowheads="1"/>
                  </p:cNvSpPr>
                  <p:nvPr/>
                </p:nvSpPr>
                <p:spPr bwMode="auto">
                  <a:xfrm>
                    <a:off x="2982" y="2490"/>
                    <a:ext cx="144" cy="132"/>
                  </a:xfrm>
                  <a:prstGeom prst="rect">
                    <a:avLst/>
                  </a:prstGeom>
                  <a:solidFill>
                    <a:schemeClr va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65963" name="Text Box 43"/>
                  <p:cNvSpPr txBox="1">
                    <a:spLocks noChangeArrowheads="1"/>
                  </p:cNvSpPr>
                  <p:nvPr/>
                </p:nvSpPr>
                <p:spPr bwMode="auto">
                  <a:xfrm>
                    <a:off x="2944" y="2429"/>
                    <a:ext cx="227" cy="25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de-DE" sz="2000"/>
                      <a:t>B</a:t>
                    </a:r>
                    <a:endParaRPr lang="de-DE" sz="2400">
                      <a:latin typeface="Times New Roman" pitchFamily="18" charset="0"/>
                    </a:endParaRPr>
                  </a:p>
                </p:txBody>
              </p:sp>
            </p:grpSp>
          </p:grpSp>
          <p:sp>
            <p:nvSpPr>
              <p:cNvPr id="465964" name="Text Box 44"/>
              <p:cNvSpPr txBox="1">
                <a:spLocks noChangeArrowheads="1"/>
              </p:cNvSpPr>
              <p:nvPr/>
            </p:nvSpPr>
            <p:spPr bwMode="auto">
              <a:xfrm>
                <a:off x="525" y="2783"/>
                <a:ext cx="197" cy="23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de-DE"/>
                  <a:t>1</a:t>
                </a:r>
                <a:endParaRPr lang="de-DE" sz="2400">
                  <a:latin typeface="Times New Roman" pitchFamily="18" charset="0"/>
                </a:endParaRPr>
              </a:p>
            </p:txBody>
          </p:sp>
          <p:sp>
            <p:nvSpPr>
              <p:cNvPr id="465965" name="Freeform 45"/>
              <p:cNvSpPr>
                <a:spLocks/>
              </p:cNvSpPr>
              <p:nvPr/>
            </p:nvSpPr>
            <p:spPr bwMode="auto">
              <a:xfrm flipH="1">
                <a:off x="966" y="2904"/>
                <a:ext cx="213" cy="129"/>
              </a:xfrm>
              <a:custGeom>
                <a:avLst/>
                <a:gdLst>
                  <a:gd name="T0" fmla="*/ 0 w 342"/>
                  <a:gd name="T1" fmla="*/ 186 h 186"/>
                  <a:gd name="T2" fmla="*/ 342 w 342"/>
                  <a:gd name="T3" fmla="*/ 0 h 186"/>
                </a:gdLst>
                <a:ahLst/>
                <a:cxnLst>
                  <a:cxn ang="0">
                    <a:pos x="T0" y="T1"/>
                  </a:cxn>
                  <a:cxn ang="0">
                    <a:pos x="T2" y="T3"/>
                  </a:cxn>
                </a:cxnLst>
                <a:rect l="0" t="0" r="r" b="b"/>
                <a:pathLst>
                  <a:path w="342" h="186">
                    <a:moveTo>
                      <a:pt x="0" y="186"/>
                    </a:moveTo>
                    <a:lnTo>
                      <a:pt x="342" y="0"/>
                    </a:lnTo>
                  </a:path>
                </a:pathLst>
              </a:custGeom>
              <a:noFill/>
              <a:ln w="12700">
                <a:solidFill>
                  <a:schemeClr val="tx1"/>
                </a:solidFill>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65966" name="Freeform 46"/>
              <p:cNvSpPr>
                <a:spLocks/>
              </p:cNvSpPr>
              <p:nvPr/>
            </p:nvSpPr>
            <p:spPr bwMode="auto">
              <a:xfrm flipH="1" flipV="1">
                <a:off x="975" y="3165"/>
                <a:ext cx="198" cy="144"/>
              </a:xfrm>
              <a:custGeom>
                <a:avLst/>
                <a:gdLst>
                  <a:gd name="T0" fmla="*/ 0 w 342"/>
                  <a:gd name="T1" fmla="*/ 186 h 186"/>
                  <a:gd name="T2" fmla="*/ 342 w 342"/>
                  <a:gd name="T3" fmla="*/ 0 h 186"/>
                </a:gdLst>
                <a:ahLst/>
                <a:cxnLst>
                  <a:cxn ang="0">
                    <a:pos x="T0" y="T1"/>
                  </a:cxn>
                  <a:cxn ang="0">
                    <a:pos x="T2" y="T3"/>
                  </a:cxn>
                </a:cxnLst>
                <a:rect l="0" t="0" r="r" b="b"/>
                <a:pathLst>
                  <a:path w="342" h="186">
                    <a:moveTo>
                      <a:pt x="0" y="186"/>
                    </a:moveTo>
                    <a:lnTo>
                      <a:pt x="342" y="0"/>
                    </a:lnTo>
                  </a:path>
                </a:pathLst>
              </a:custGeom>
              <a:noFill/>
              <a:ln w="12700">
                <a:solidFill>
                  <a:schemeClr val="tx1"/>
                </a:solidFill>
                <a:round/>
                <a:headEnd type="triangl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65967" name="Freeform 47"/>
              <p:cNvSpPr>
                <a:spLocks/>
              </p:cNvSpPr>
              <p:nvPr/>
            </p:nvSpPr>
            <p:spPr bwMode="auto">
              <a:xfrm flipV="1">
                <a:off x="573" y="3159"/>
                <a:ext cx="204" cy="156"/>
              </a:xfrm>
              <a:custGeom>
                <a:avLst/>
                <a:gdLst>
                  <a:gd name="T0" fmla="*/ 0 w 342"/>
                  <a:gd name="T1" fmla="*/ 186 h 186"/>
                  <a:gd name="T2" fmla="*/ 342 w 342"/>
                  <a:gd name="T3" fmla="*/ 0 h 186"/>
                </a:gdLst>
                <a:ahLst/>
                <a:cxnLst>
                  <a:cxn ang="0">
                    <a:pos x="T0" y="T1"/>
                  </a:cxn>
                  <a:cxn ang="0">
                    <a:pos x="T2" y="T3"/>
                  </a:cxn>
                </a:cxnLst>
                <a:rect l="0" t="0" r="r" b="b"/>
                <a:pathLst>
                  <a:path w="342" h="186">
                    <a:moveTo>
                      <a:pt x="0" y="186"/>
                    </a:moveTo>
                    <a:lnTo>
                      <a:pt x="342" y="0"/>
                    </a:lnTo>
                  </a:path>
                </a:pathLst>
              </a:custGeom>
              <a:noFill/>
              <a:ln w="12700">
                <a:solidFill>
                  <a:schemeClr val="tx1"/>
                </a:solidFill>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65968" name="Text Box 48"/>
              <p:cNvSpPr txBox="1">
                <a:spLocks noChangeArrowheads="1"/>
              </p:cNvSpPr>
              <p:nvPr/>
            </p:nvSpPr>
            <p:spPr bwMode="auto">
              <a:xfrm>
                <a:off x="1025" y="2816"/>
                <a:ext cx="363" cy="23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de-DE"/>
                  <a:t>1+e</a:t>
                </a:r>
                <a:endParaRPr lang="de-DE" sz="2400">
                  <a:latin typeface="Times New Roman" pitchFamily="18" charset="0"/>
                </a:endParaRPr>
              </a:p>
            </p:txBody>
          </p:sp>
          <p:sp>
            <p:nvSpPr>
              <p:cNvPr id="465969" name="Text Box 49"/>
              <p:cNvSpPr txBox="1">
                <a:spLocks noChangeArrowheads="1"/>
              </p:cNvSpPr>
              <p:nvPr/>
            </p:nvSpPr>
            <p:spPr bwMode="auto">
              <a:xfrm>
                <a:off x="1051" y="3161"/>
                <a:ext cx="197" cy="23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de-DE"/>
                  <a:t>e</a:t>
                </a:r>
                <a:endParaRPr lang="de-DE" sz="2400">
                  <a:latin typeface="Times New Roman" pitchFamily="18" charset="0"/>
                </a:endParaRPr>
              </a:p>
            </p:txBody>
          </p:sp>
          <p:sp>
            <p:nvSpPr>
              <p:cNvPr id="465970" name="Text Box 50"/>
              <p:cNvSpPr txBox="1">
                <a:spLocks noChangeArrowheads="1"/>
              </p:cNvSpPr>
              <p:nvPr/>
            </p:nvSpPr>
            <p:spPr bwMode="auto">
              <a:xfrm>
                <a:off x="499" y="3176"/>
                <a:ext cx="204"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de-DE"/>
                  <a:t>0</a:t>
                </a:r>
                <a:endParaRPr lang="de-DE" sz="2400">
                  <a:latin typeface="Times New Roman" pitchFamily="18" charset="0"/>
                </a:endParaRPr>
              </a:p>
            </p:txBody>
          </p:sp>
          <p:sp>
            <p:nvSpPr>
              <p:cNvPr id="465971" name="Line 51"/>
              <p:cNvSpPr>
                <a:spLocks noChangeShapeType="1"/>
              </p:cNvSpPr>
              <p:nvPr/>
            </p:nvSpPr>
            <p:spPr bwMode="auto">
              <a:xfrm flipV="1">
                <a:off x="870" y="3453"/>
                <a:ext cx="0" cy="252"/>
              </a:xfrm>
              <a:prstGeom prst="line">
                <a:avLst/>
              </a:prstGeom>
              <a:noFill/>
              <a:ln w="1905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65972" name="Text Box 52"/>
              <p:cNvSpPr txBox="1">
                <a:spLocks noChangeArrowheads="1"/>
              </p:cNvSpPr>
              <p:nvPr/>
            </p:nvSpPr>
            <p:spPr bwMode="auto">
              <a:xfrm>
                <a:off x="758" y="3665"/>
                <a:ext cx="197" cy="23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de-DE" dirty="0">
                    <a:solidFill>
                      <a:srgbClr val="FF0000"/>
                    </a:solidFill>
                  </a:rPr>
                  <a:t>e</a:t>
                </a:r>
                <a:endParaRPr lang="de-DE" sz="2400" dirty="0">
                  <a:latin typeface="Times New Roman" pitchFamily="18" charset="0"/>
                </a:endParaRPr>
              </a:p>
            </p:txBody>
          </p:sp>
          <p:sp>
            <p:nvSpPr>
              <p:cNvPr id="465973" name="Line 53"/>
              <p:cNvSpPr>
                <a:spLocks noChangeShapeType="1"/>
              </p:cNvSpPr>
              <p:nvPr/>
            </p:nvSpPr>
            <p:spPr bwMode="auto">
              <a:xfrm flipH="1" flipV="1">
                <a:off x="354" y="3159"/>
                <a:ext cx="3" cy="213"/>
              </a:xfrm>
              <a:prstGeom prst="line">
                <a:avLst/>
              </a:prstGeom>
              <a:noFill/>
              <a:ln w="1905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65974" name="Text Box 54"/>
              <p:cNvSpPr txBox="1">
                <a:spLocks noChangeArrowheads="1"/>
              </p:cNvSpPr>
              <p:nvPr/>
            </p:nvSpPr>
            <p:spPr bwMode="auto">
              <a:xfrm>
                <a:off x="244" y="3344"/>
                <a:ext cx="197" cy="23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de-DE">
                    <a:solidFill>
                      <a:srgbClr val="FF0000"/>
                    </a:solidFill>
                  </a:rPr>
                  <a:t>1</a:t>
                </a:r>
                <a:endParaRPr lang="de-DE" sz="2400">
                  <a:latin typeface="Times New Roman" pitchFamily="18" charset="0"/>
                </a:endParaRPr>
              </a:p>
            </p:txBody>
          </p:sp>
          <p:sp>
            <p:nvSpPr>
              <p:cNvPr id="465975" name="Line 55"/>
              <p:cNvSpPr>
                <a:spLocks noChangeShapeType="1"/>
              </p:cNvSpPr>
              <p:nvPr/>
            </p:nvSpPr>
            <p:spPr bwMode="auto">
              <a:xfrm flipV="1">
                <a:off x="1311" y="3180"/>
                <a:ext cx="0" cy="270"/>
              </a:xfrm>
              <a:prstGeom prst="line">
                <a:avLst/>
              </a:prstGeom>
              <a:noFill/>
              <a:ln w="1905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65976" name="Text Box 56"/>
              <p:cNvSpPr txBox="1">
                <a:spLocks noChangeArrowheads="1"/>
              </p:cNvSpPr>
              <p:nvPr/>
            </p:nvSpPr>
            <p:spPr bwMode="auto">
              <a:xfrm>
                <a:off x="1210" y="3410"/>
                <a:ext cx="197" cy="23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de-DE" dirty="0">
                    <a:solidFill>
                      <a:srgbClr val="FF0000"/>
                    </a:solidFill>
                  </a:rPr>
                  <a:t>1</a:t>
                </a:r>
                <a:endParaRPr lang="de-DE" sz="2400" dirty="0">
                  <a:latin typeface="Times New Roman" pitchFamily="18" charset="0"/>
                </a:endParaRPr>
              </a:p>
            </p:txBody>
          </p:sp>
          <p:sp>
            <p:nvSpPr>
              <p:cNvPr id="465977" name="Freeform 57"/>
              <p:cNvSpPr>
                <a:spLocks/>
              </p:cNvSpPr>
              <p:nvPr/>
            </p:nvSpPr>
            <p:spPr bwMode="auto">
              <a:xfrm flipH="1" flipV="1">
                <a:off x="915" y="3138"/>
                <a:ext cx="198" cy="144"/>
              </a:xfrm>
              <a:custGeom>
                <a:avLst/>
                <a:gdLst>
                  <a:gd name="T0" fmla="*/ 0 w 342"/>
                  <a:gd name="T1" fmla="*/ 186 h 186"/>
                  <a:gd name="T2" fmla="*/ 342 w 342"/>
                  <a:gd name="T3" fmla="*/ 0 h 186"/>
                </a:gdLst>
                <a:ahLst/>
                <a:cxnLst>
                  <a:cxn ang="0">
                    <a:pos x="T0" y="T1"/>
                  </a:cxn>
                  <a:cxn ang="0">
                    <a:pos x="T2" y="T3"/>
                  </a:cxn>
                </a:cxnLst>
                <a:rect l="0" t="0" r="r" b="b"/>
                <a:pathLst>
                  <a:path w="342" h="186">
                    <a:moveTo>
                      <a:pt x="0" y="186"/>
                    </a:moveTo>
                    <a:lnTo>
                      <a:pt x="342" y="0"/>
                    </a:lnTo>
                  </a:path>
                </a:pathLst>
              </a:custGeom>
              <a:noFill/>
              <a:ln w="12700">
                <a:solidFill>
                  <a:schemeClr val="tx1"/>
                </a:solidFill>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65978" name="Freeform 58"/>
              <p:cNvSpPr>
                <a:spLocks/>
              </p:cNvSpPr>
              <p:nvPr/>
            </p:nvSpPr>
            <p:spPr bwMode="auto">
              <a:xfrm flipH="1">
                <a:off x="630" y="3144"/>
                <a:ext cx="192" cy="138"/>
              </a:xfrm>
              <a:custGeom>
                <a:avLst/>
                <a:gdLst>
                  <a:gd name="T0" fmla="*/ 0 w 342"/>
                  <a:gd name="T1" fmla="*/ 186 h 186"/>
                  <a:gd name="T2" fmla="*/ 342 w 342"/>
                  <a:gd name="T3" fmla="*/ 0 h 186"/>
                </a:gdLst>
                <a:ahLst/>
                <a:cxnLst>
                  <a:cxn ang="0">
                    <a:pos x="T0" y="T1"/>
                  </a:cxn>
                  <a:cxn ang="0">
                    <a:pos x="T2" y="T3"/>
                  </a:cxn>
                </a:cxnLst>
                <a:rect l="0" t="0" r="r" b="b"/>
                <a:pathLst>
                  <a:path w="342" h="186">
                    <a:moveTo>
                      <a:pt x="0" y="186"/>
                    </a:moveTo>
                    <a:lnTo>
                      <a:pt x="342" y="0"/>
                    </a:lnTo>
                  </a:path>
                </a:pathLst>
              </a:custGeom>
              <a:noFill/>
              <a:ln w="12700">
                <a:solidFill>
                  <a:schemeClr val="tx1"/>
                </a:solidFill>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65979" name="Text Box 59"/>
              <p:cNvSpPr txBox="1">
                <a:spLocks noChangeArrowheads="1"/>
              </p:cNvSpPr>
              <p:nvPr/>
            </p:nvSpPr>
            <p:spPr bwMode="auto">
              <a:xfrm>
                <a:off x="679" y="3038"/>
                <a:ext cx="204"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de-DE"/>
                  <a:t>0</a:t>
                </a:r>
                <a:endParaRPr lang="de-DE" sz="2400">
                  <a:latin typeface="Times New Roman" pitchFamily="18" charset="0"/>
                </a:endParaRPr>
              </a:p>
            </p:txBody>
          </p:sp>
          <p:sp>
            <p:nvSpPr>
              <p:cNvPr id="465980" name="Text Box 60"/>
              <p:cNvSpPr txBox="1">
                <a:spLocks noChangeArrowheads="1"/>
              </p:cNvSpPr>
              <p:nvPr/>
            </p:nvSpPr>
            <p:spPr bwMode="auto">
              <a:xfrm>
                <a:off x="895" y="3026"/>
                <a:ext cx="204"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de-DE"/>
                  <a:t>0</a:t>
                </a:r>
                <a:endParaRPr lang="de-DE" sz="2400">
                  <a:latin typeface="Times New Roman" pitchFamily="18" charset="0"/>
                </a:endParaRPr>
              </a:p>
            </p:txBody>
          </p:sp>
          <p:sp>
            <p:nvSpPr>
              <p:cNvPr id="465981" name="Freeform 61"/>
              <p:cNvSpPr>
                <a:spLocks/>
              </p:cNvSpPr>
              <p:nvPr/>
            </p:nvSpPr>
            <p:spPr bwMode="auto">
              <a:xfrm>
                <a:off x="1692" y="2721"/>
                <a:ext cx="1225" cy="854"/>
              </a:xfrm>
              <a:custGeom>
                <a:avLst/>
                <a:gdLst>
                  <a:gd name="T0" fmla="*/ 0 w 1225"/>
                  <a:gd name="T1" fmla="*/ 387 h 854"/>
                  <a:gd name="T2" fmla="*/ 168 w 1225"/>
                  <a:gd name="T3" fmla="*/ 162 h 854"/>
                  <a:gd name="T4" fmla="*/ 486 w 1225"/>
                  <a:gd name="T5" fmla="*/ 18 h 854"/>
                  <a:gd name="T6" fmla="*/ 822 w 1225"/>
                  <a:gd name="T7" fmla="*/ 30 h 854"/>
                  <a:gd name="T8" fmla="*/ 1152 w 1225"/>
                  <a:gd name="T9" fmla="*/ 267 h 854"/>
                  <a:gd name="T10" fmla="*/ 1188 w 1225"/>
                  <a:gd name="T11" fmla="*/ 537 h 854"/>
                  <a:gd name="T12" fmla="*/ 927 w 1225"/>
                  <a:gd name="T13" fmla="*/ 780 h 854"/>
                  <a:gd name="T14" fmla="*/ 447 w 1225"/>
                  <a:gd name="T15" fmla="*/ 837 h 854"/>
                  <a:gd name="T16" fmla="*/ 177 w 1225"/>
                  <a:gd name="T17" fmla="*/ 675 h 854"/>
                  <a:gd name="T18" fmla="*/ 0 w 1225"/>
                  <a:gd name="T19" fmla="*/ 387 h 8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225" h="854">
                    <a:moveTo>
                      <a:pt x="0" y="387"/>
                    </a:moveTo>
                    <a:cubicBezTo>
                      <a:pt x="0" y="243"/>
                      <a:pt x="87" y="223"/>
                      <a:pt x="168" y="162"/>
                    </a:cubicBezTo>
                    <a:cubicBezTo>
                      <a:pt x="249" y="101"/>
                      <a:pt x="377" y="40"/>
                      <a:pt x="486" y="18"/>
                    </a:cubicBezTo>
                    <a:cubicBezTo>
                      <a:pt x="615" y="6"/>
                      <a:pt x="684" y="0"/>
                      <a:pt x="822" y="30"/>
                    </a:cubicBezTo>
                    <a:cubicBezTo>
                      <a:pt x="960" y="60"/>
                      <a:pt x="1099" y="169"/>
                      <a:pt x="1152" y="267"/>
                    </a:cubicBezTo>
                    <a:cubicBezTo>
                      <a:pt x="1213" y="351"/>
                      <a:pt x="1225" y="452"/>
                      <a:pt x="1188" y="537"/>
                    </a:cubicBezTo>
                    <a:cubicBezTo>
                      <a:pt x="1151" y="622"/>
                      <a:pt x="1050" y="730"/>
                      <a:pt x="927" y="780"/>
                    </a:cubicBezTo>
                    <a:cubicBezTo>
                      <a:pt x="804" y="830"/>
                      <a:pt x="572" y="854"/>
                      <a:pt x="447" y="837"/>
                    </a:cubicBezTo>
                    <a:cubicBezTo>
                      <a:pt x="322" y="820"/>
                      <a:pt x="251" y="750"/>
                      <a:pt x="177" y="675"/>
                    </a:cubicBezTo>
                    <a:cubicBezTo>
                      <a:pt x="103" y="600"/>
                      <a:pt x="0" y="531"/>
                      <a:pt x="0" y="387"/>
                    </a:cubicBezTo>
                    <a:close/>
                  </a:path>
                </a:pathLst>
              </a:custGeom>
              <a:solidFill>
                <a:srgbClr val="66CCFF"/>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65982" name="Freeform 62"/>
              <p:cNvSpPr>
                <a:spLocks/>
              </p:cNvSpPr>
              <p:nvPr/>
            </p:nvSpPr>
            <p:spPr bwMode="auto">
              <a:xfrm>
                <a:off x="1944" y="2934"/>
                <a:ext cx="246" cy="132"/>
              </a:xfrm>
              <a:custGeom>
                <a:avLst/>
                <a:gdLst>
                  <a:gd name="T0" fmla="*/ 0 w 342"/>
                  <a:gd name="T1" fmla="*/ 186 h 186"/>
                  <a:gd name="T2" fmla="*/ 342 w 342"/>
                  <a:gd name="T3" fmla="*/ 0 h 186"/>
                </a:gdLst>
                <a:ahLst/>
                <a:cxnLst>
                  <a:cxn ang="0">
                    <a:pos x="T0" y="T1"/>
                  </a:cxn>
                  <a:cxn ang="0">
                    <a:pos x="T2" y="T3"/>
                  </a:cxn>
                </a:cxnLst>
                <a:rect l="0" t="0" r="r" b="b"/>
                <a:pathLst>
                  <a:path w="342" h="186">
                    <a:moveTo>
                      <a:pt x="0" y="186"/>
                    </a:moveTo>
                    <a:lnTo>
                      <a:pt x="342" y="0"/>
                    </a:lnTo>
                  </a:path>
                </a:pathLst>
              </a:custGeom>
              <a:noFill/>
              <a:ln w="12700">
                <a:solidFill>
                  <a:schemeClr val="tx1"/>
                </a:solidFill>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grpSp>
            <p:nvGrpSpPr>
              <p:cNvPr id="465983" name="Group 63"/>
              <p:cNvGrpSpPr>
                <a:grpSpLocks/>
              </p:cNvGrpSpPr>
              <p:nvPr/>
            </p:nvGrpSpPr>
            <p:grpSpPr bwMode="auto">
              <a:xfrm>
                <a:off x="2137" y="2738"/>
                <a:ext cx="316" cy="250"/>
                <a:chOff x="1747" y="3194"/>
                <a:chExt cx="316" cy="250"/>
              </a:xfrm>
            </p:grpSpPr>
            <p:sp>
              <p:nvSpPr>
                <p:cNvPr id="465984" name="Oval 64"/>
                <p:cNvSpPr>
                  <a:spLocks noChangeArrowheads="1"/>
                </p:cNvSpPr>
                <p:nvPr/>
              </p:nvSpPr>
              <p:spPr bwMode="auto">
                <a:xfrm>
                  <a:off x="1750" y="3308"/>
                  <a:ext cx="313" cy="81"/>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65985" name="Line 65"/>
                <p:cNvSpPr>
                  <a:spLocks noChangeShapeType="1"/>
                </p:cNvSpPr>
                <p:nvPr/>
              </p:nvSpPr>
              <p:spPr bwMode="auto">
                <a:xfrm>
                  <a:off x="1750" y="3301"/>
                  <a:ext cx="0" cy="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65986" name="Line 66"/>
                <p:cNvSpPr>
                  <a:spLocks noChangeShapeType="1"/>
                </p:cNvSpPr>
                <p:nvPr/>
              </p:nvSpPr>
              <p:spPr bwMode="auto">
                <a:xfrm>
                  <a:off x="2063" y="3301"/>
                  <a:ext cx="0" cy="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65987" name="Rectangle 67"/>
                <p:cNvSpPr>
                  <a:spLocks noChangeArrowheads="1"/>
                </p:cNvSpPr>
                <p:nvPr/>
              </p:nvSpPr>
              <p:spPr bwMode="auto">
                <a:xfrm>
                  <a:off x="1750" y="3301"/>
                  <a:ext cx="310" cy="49"/>
                </a:xfrm>
                <a:prstGeom prst="rect">
                  <a:avLst/>
                </a:prstGeom>
                <a:solidFill>
                  <a:schemeClr val="hlink"/>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de-DE" sz="2400">
                    <a:latin typeface="Times New Roman" pitchFamily="18" charset="0"/>
                  </a:endParaRPr>
                </a:p>
              </p:txBody>
            </p:sp>
            <p:sp>
              <p:nvSpPr>
                <p:cNvPr id="465988" name="Oval 68"/>
                <p:cNvSpPr>
                  <a:spLocks noChangeArrowheads="1"/>
                </p:cNvSpPr>
                <p:nvPr/>
              </p:nvSpPr>
              <p:spPr bwMode="auto">
                <a:xfrm>
                  <a:off x="1747" y="3242"/>
                  <a:ext cx="313" cy="95"/>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grpSp>
              <p:nvGrpSpPr>
                <p:cNvPr id="465989" name="Group 69"/>
                <p:cNvGrpSpPr>
                  <a:grpSpLocks/>
                </p:cNvGrpSpPr>
                <p:nvPr/>
              </p:nvGrpSpPr>
              <p:grpSpPr bwMode="auto">
                <a:xfrm>
                  <a:off x="1785" y="3194"/>
                  <a:ext cx="233" cy="250"/>
                  <a:chOff x="2940" y="2429"/>
                  <a:chExt cx="236" cy="250"/>
                </a:xfrm>
              </p:grpSpPr>
              <p:sp>
                <p:nvSpPr>
                  <p:cNvPr id="465990" name="Rectangle 70"/>
                  <p:cNvSpPr>
                    <a:spLocks noChangeArrowheads="1"/>
                  </p:cNvSpPr>
                  <p:nvPr/>
                </p:nvSpPr>
                <p:spPr bwMode="auto">
                  <a:xfrm>
                    <a:off x="2982" y="2490"/>
                    <a:ext cx="144" cy="132"/>
                  </a:xfrm>
                  <a:prstGeom prst="rect">
                    <a:avLst/>
                  </a:prstGeom>
                  <a:solidFill>
                    <a:schemeClr va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65991" name="Text Box 71"/>
                  <p:cNvSpPr txBox="1">
                    <a:spLocks noChangeArrowheads="1"/>
                  </p:cNvSpPr>
                  <p:nvPr/>
                </p:nvSpPr>
                <p:spPr bwMode="auto">
                  <a:xfrm>
                    <a:off x="2940" y="2429"/>
                    <a:ext cx="236"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de-DE" sz="2000"/>
                      <a:t>A</a:t>
                    </a:r>
                    <a:endParaRPr lang="de-DE" sz="2400">
                      <a:latin typeface="Times New Roman" pitchFamily="18" charset="0"/>
                    </a:endParaRPr>
                  </a:p>
                </p:txBody>
              </p:sp>
            </p:grpSp>
          </p:grpSp>
          <p:grpSp>
            <p:nvGrpSpPr>
              <p:cNvPr id="465992" name="Group 72"/>
              <p:cNvGrpSpPr>
                <a:grpSpLocks/>
              </p:cNvGrpSpPr>
              <p:nvPr/>
            </p:nvGrpSpPr>
            <p:grpSpPr bwMode="auto">
              <a:xfrm>
                <a:off x="1729" y="2993"/>
                <a:ext cx="316" cy="252"/>
                <a:chOff x="2221" y="3575"/>
                <a:chExt cx="316" cy="252"/>
              </a:xfrm>
            </p:grpSpPr>
            <p:sp>
              <p:nvSpPr>
                <p:cNvPr id="465993" name="Oval 73"/>
                <p:cNvSpPr>
                  <a:spLocks noChangeArrowheads="1"/>
                </p:cNvSpPr>
                <p:nvPr/>
              </p:nvSpPr>
              <p:spPr bwMode="auto">
                <a:xfrm>
                  <a:off x="2224" y="3695"/>
                  <a:ext cx="313" cy="81"/>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65994" name="Line 74"/>
                <p:cNvSpPr>
                  <a:spLocks noChangeShapeType="1"/>
                </p:cNvSpPr>
                <p:nvPr/>
              </p:nvSpPr>
              <p:spPr bwMode="auto">
                <a:xfrm>
                  <a:off x="2224" y="3688"/>
                  <a:ext cx="0" cy="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65995" name="Line 75"/>
                <p:cNvSpPr>
                  <a:spLocks noChangeShapeType="1"/>
                </p:cNvSpPr>
                <p:nvPr/>
              </p:nvSpPr>
              <p:spPr bwMode="auto">
                <a:xfrm>
                  <a:off x="2537" y="3688"/>
                  <a:ext cx="0" cy="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65996" name="Rectangle 76"/>
                <p:cNvSpPr>
                  <a:spLocks noChangeArrowheads="1"/>
                </p:cNvSpPr>
                <p:nvPr/>
              </p:nvSpPr>
              <p:spPr bwMode="auto">
                <a:xfrm>
                  <a:off x="2224" y="3688"/>
                  <a:ext cx="310" cy="49"/>
                </a:xfrm>
                <a:prstGeom prst="rect">
                  <a:avLst/>
                </a:prstGeom>
                <a:solidFill>
                  <a:schemeClr val="hlink"/>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de-DE" sz="2400">
                    <a:latin typeface="Times New Roman" pitchFamily="18" charset="0"/>
                  </a:endParaRPr>
                </a:p>
              </p:txBody>
            </p:sp>
            <p:sp>
              <p:nvSpPr>
                <p:cNvPr id="465997" name="Oval 77"/>
                <p:cNvSpPr>
                  <a:spLocks noChangeArrowheads="1"/>
                </p:cNvSpPr>
                <p:nvPr/>
              </p:nvSpPr>
              <p:spPr bwMode="auto">
                <a:xfrm>
                  <a:off x="2221" y="3629"/>
                  <a:ext cx="313" cy="95"/>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grpSp>
              <p:nvGrpSpPr>
                <p:cNvPr id="465998" name="Group 78"/>
                <p:cNvGrpSpPr>
                  <a:grpSpLocks/>
                </p:cNvGrpSpPr>
                <p:nvPr/>
              </p:nvGrpSpPr>
              <p:grpSpPr bwMode="auto">
                <a:xfrm>
                  <a:off x="2274" y="3575"/>
                  <a:ext cx="233" cy="252"/>
                  <a:chOff x="2940" y="2429"/>
                  <a:chExt cx="236" cy="252"/>
                </a:xfrm>
              </p:grpSpPr>
              <p:sp>
                <p:nvSpPr>
                  <p:cNvPr id="465999" name="Rectangle 79"/>
                  <p:cNvSpPr>
                    <a:spLocks noChangeArrowheads="1"/>
                  </p:cNvSpPr>
                  <p:nvPr/>
                </p:nvSpPr>
                <p:spPr bwMode="auto">
                  <a:xfrm>
                    <a:off x="2982" y="2490"/>
                    <a:ext cx="144" cy="132"/>
                  </a:xfrm>
                  <a:prstGeom prst="rect">
                    <a:avLst/>
                  </a:prstGeom>
                  <a:solidFill>
                    <a:schemeClr va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66000" name="Text Box 80"/>
                  <p:cNvSpPr txBox="1">
                    <a:spLocks noChangeArrowheads="1"/>
                  </p:cNvSpPr>
                  <p:nvPr/>
                </p:nvSpPr>
                <p:spPr bwMode="auto">
                  <a:xfrm>
                    <a:off x="2940" y="2429"/>
                    <a:ext cx="236" cy="25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de-DE" sz="2000"/>
                      <a:t>D</a:t>
                    </a:r>
                    <a:endParaRPr lang="de-DE" sz="2400">
                      <a:latin typeface="Times New Roman" pitchFamily="18" charset="0"/>
                    </a:endParaRPr>
                  </a:p>
                </p:txBody>
              </p:sp>
            </p:grpSp>
          </p:grpSp>
          <p:grpSp>
            <p:nvGrpSpPr>
              <p:cNvPr id="466001" name="Group 81"/>
              <p:cNvGrpSpPr>
                <a:grpSpLocks/>
              </p:cNvGrpSpPr>
              <p:nvPr/>
            </p:nvGrpSpPr>
            <p:grpSpPr bwMode="auto">
              <a:xfrm>
                <a:off x="2129" y="3284"/>
                <a:ext cx="315" cy="252"/>
                <a:chOff x="2903" y="2888"/>
                <a:chExt cx="315" cy="252"/>
              </a:xfrm>
            </p:grpSpPr>
            <p:grpSp>
              <p:nvGrpSpPr>
                <p:cNvPr id="466002" name="Group 82"/>
                <p:cNvGrpSpPr>
                  <a:grpSpLocks/>
                </p:cNvGrpSpPr>
                <p:nvPr/>
              </p:nvGrpSpPr>
              <p:grpSpPr bwMode="auto">
                <a:xfrm>
                  <a:off x="2903" y="2938"/>
                  <a:ext cx="315" cy="144"/>
                  <a:chOff x="2903" y="2938"/>
                  <a:chExt cx="315" cy="144"/>
                </a:xfrm>
              </p:grpSpPr>
              <p:sp>
                <p:nvSpPr>
                  <p:cNvPr id="466003" name="Oval 83"/>
                  <p:cNvSpPr>
                    <a:spLocks noChangeArrowheads="1"/>
                  </p:cNvSpPr>
                  <p:nvPr/>
                </p:nvSpPr>
                <p:spPr bwMode="auto">
                  <a:xfrm>
                    <a:off x="2903" y="3001"/>
                    <a:ext cx="312" cy="81"/>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66004" name="Line 84"/>
                  <p:cNvSpPr>
                    <a:spLocks noChangeShapeType="1"/>
                  </p:cNvSpPr>
                  <p:nvPr/>
                </p:nvSpPr>
                <p:spPr bwMode="auto">
                  <a:xfrm>
                    <a:off x="2903" y="2994"/>
                    <a:ext cx="0" cy="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66005" name="Line 85"/>
                  <p:cNvSpPr>
                    <a:spLocks noChangeShapeType="1"/>
                  </p:cNvSpPr>
                  <p:nvPr/>
                </p:nvSpPr>
                <p:spPr bwMode="auto">
                  <a:xfrm>
                    <a:off x="3215" y="2994"/>
                    <a:ext cx="0" cy="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66006" name="Rectangle 86"/>
                  <p:cNvSpPr>
                    <a:spLocks noChangeArrowheads="1"/>
                  </p:cNvSpPr>
                  <p:nvPr/>
                </p:nvSpPr>
                <p:spPr bwMode="auto">
                  <a:xfrm>
                    <a:off x="2903" y="2994"/>
                    <a:ext cx="309" cy="49"/>
                  </a:xfrm>
                  <a:prstGeom prst="rect">
                    <a:avLst/>
                  </a:prstGeom>
                  <a:solidFill>
                    <a:schemeClr val="hlink"/>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de-DE" sz="2400">
                      <a:latin typeface="Times New Roman" pitchFamily="18" charset="0"/>
                    </a:endParaRPr>
                  </a:p>
                </p:txBody>
              </p:sp>
              <p:sp>
                <p:nvSpPr>
                  <p:cNvPr id="466007" name="Oval 87"/>
                  <p:cNvSpPr>
                    <a:spLocks noChangeArrowheads="1"/>
                  </p:cNvSpPr>
                  <p:nvPr/>
                </p:nvSpPr>
                <p:spPr bwMode="auto">
                  <a:xfrm>
                    <a:off x="2906" y="2938"/>
                    <a:ext cx="312" cy="95"/>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grpSp>
            <p:grpSp>
              <p:nvGrpSpPr>
                <p:cNvPr id="466008" name="Group 88"/>
                <p:cNvGrpSpPr>
                  <a:grpSpLocks/>
                </p:cNvGrpSpPr>
                <p:nvPr/>
              </p:nvGrpSpPr>
              <p:grpSpPr bwMode="auto">
                <a:xfrm>
                  <a:off x="2952" y="2888"/>
                  <a:ext cx="234" cy="252"/>
                  <a:chOff x="2939" y="2429"/>
                  <a:chExt cx="237" cy="252"/>
                </a:xfrm>
              </p:grpSpPr>
              <p:sp>
                <p:nvSpPr>
                  <p:cNvPr id="466009" name="Rectangle 89"/>
                  <p:cNvSpPr>
                    <a:spLocks noChangeArrowheads="1"/>
                  </p:cNvSpPr>
                  <p:nvPr/>
                </p:nvSpPr>
                <p:spPr bwMode="auto">
                  <a:xfrm>
                    <a:off x="2982" y="2490"/>
                    <a:ext cx="144" cy="132"/>
                  </a:xfrm>
                  <a:prstGeom prst="rect">
                    <a:avLst/>
                  </a:prstGeom>
                  <a:solidFill>
                    <a:schemeClr va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66010" name="Text Box 90"/>
                  <p:cNvSpPr txBox="1">
                    <a:spLocks noChangeArrowheads="1"/>
                  </p:cNvSpPr>
                  <p:nvPr/>
                </p:nvSpPr>
                <p:spPr bwMode="auto">
                  <a:xfrm>
                    <a:off x="2939" y="2429"/>
                    <a:ext cx="237" cy="25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de-DE" sz="2000"/>
                      <a:t>C</a:t>
                    </a:r>
                    <a:endParaRPr lang="de-DE" sz="2400">
                      <a:latin typeface="Times New Roman" pitchFamily="18" charset="0"/>
                    </a:endParaRPr>
                  </a:p>
                </p:txBody>
              </p:sp>
            </p:grpSp>
          </p:grpSp>
          <p:grpSp>
            <p:nvGrpSpPr>
              <p:cNvPr id="466011" name="Group 91"/>
              <p:cNvGrpSpPr>
                <a:grpSpLocks/>
              </p:cNvGrpSpPr>
              <p:nvPr/>
            </p:nvGrpSpPr>
            <p:grpSpPr bwMode="auto">
              <a:xfrm>
                <a:off x="2541" y="3002"/>
                <a:ext cx="316" cy="252"/>
                <a:chOff x="2217" y="2888"/>
                <a:chExt cx="316" cy="252"/>
              </a:xfrm>
            </p:grpSpPr>
            <p:sp>
              <p:nvSpPr>
                <p:cNvPr id="466012" name="Oval 92"/>
                <p:cNvSpPr>
                  <a:spLocks noChangeArrowheads="1"/>
                </p:cNvSpPr>
                <p:nvPr/>
              </p:nvSpPr>
              <p:spPr bwMode="auto">
                <a:xfrm>
                  <a:off x="2220" y="3005"/>
                  <a:ext cx="313" cy="81"/>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66013" name="Line 93"/>
                <p:cNvSpPr>
                  <a:spLocks noChangeShapeType="1"/>
                </p:cNvSpPr>
                <p:nvPr/>
              </p:nvSpPr>
              <p:spPr bwMode="auto">
                <a:xfrm>
                  <a:off x="2220" y="2998"/>
                  <a:ext cx="0" cy="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66014" name="Line 94"/>
                <p:cNvSpPr>
                  <a:spLocks noChangeShapeType="1"/>
                </p:cNvSpPr>
                <p:nvPr/>
              </p:nvSpPr>
              <p:spPr bwMode="auto">
                <a:xfrm>
                  <a:off x="2533" y="2998"/>
                  <a:ext cx="0" cy="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66015" name="Rectangle 95"/>
                <p:cNvSpPr>
                  <a:spLocks noChangeArrowheads="1"/>
                </p:cNvSpPr>
                <p:nvPr/>
              </p:nvSpPr>
              <p:spPr bwMode="auto">
                <a:xfrm>
                  <a:off x="2220" y="2998"/>
                  <a:ext cx="310" cy="49"/>
                </a:xfrm>
                <a:prstGeom prst="rect">
                  <a:avLst/>
                </a:prstGeom>
                <a:solidFill>
                  <a:schemeClr val="hlink"/>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de-DE" sz="2400">
                    <a:latin typeface="Times New Roman" pitchFamily="18" charset="0"/>
                  </a:endParaRPr>
                </a:p>
              </p:txBody>
            </p:sp>
            <p:sp>
              <p:nvSpPr>
                <p:cNvPr id="466016" name="Oval 96"/>
                <p:cNvSpPr>
                  <a:spLocks noChangeArrowheads="1"/>
                </p:cNvSpPr>
                <p:nvPr/>
              </p:nvSpPr>
              <p:spPr bwMode="auto">
                <a:xfrm>
                  <a:off x="2217" y="2939"/>
                  <a:ext cx="313" cy="95"/>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grpSp>
              <p:nvGrpSpPr>
                <p:cNvPr id="466017" name="Group 97"/>
                <p:cNvGrpSpPr>
                  <a:grpSpLocks/>
                </p:cNvGrpSpPr>
                <p:nvPr/>
              </p:nvGrpSpPr>
              <p:grpSpPr bwMode="auto">
                <a:xfrm>
                  <a:off x="2270" y="2888"/>
                  <a:ext cx="224" cy="252"/>
                  <a:chOff x="2944" y="2429"/>
                  <a:chExt cx="227" cy="252"/>
                </a:xfrm>
              </p:grpSpPr>
              <p:sp>
                <p:nvSpPr>
                  <p:cNvPr id="466018" name="Rectangle 98"/>
                  <p:cNvSpPr>
                    <a:spLocks noChangeArrowheads="1"/>
                  </p:cNvSpPr>
                  <p:nvPr/>
                </p:nvSpPr>
                <p:spPr bwMode="auto">
                  <a:xfrm>
                    <a:off x="2982" y="2490"/>
                    <a:ext cx="144" cy="132"/>
                  </a:xfrm>
                  <a:prstGeom prst="rect">
                    <a:avLst/>
                  </a:prstGeom>
                  <a:solidFill>
                    <a:schemeClr va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66019" name="Text Box 99"/>
                  <p:cNvSpPr txBox="1">
                    <a:spLocks noChangeArrowheads="1"/>
                  </p:cNvSpPr>
                  <p:nvPr/>
                </p:nvSpPr>
                <p:spPr bwMode="auto">
                  <a:xfrm>
                    <a:off x="2944" y="2429"/>
                    <a:ext cx="227" cy="25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de-DE" sz="2000"/>
                      <a:t>B</a:t>
                    </a:r>
                    <a:endParaRPr lang="de-DE" sz="2400">
                      <a:latin typeface="Times New Roman" pitchFamily="18" charset="0"/>
                    </a:endParaRPr>
                  </a:p>
                </p:txBody>
              </p:sp>
            </p:grpSp>
          </p:grpSp>
          <p:sp>
            <p:nvSpPr>
              <p:cNvPr id="466020" name="Text Box 100"/>
              <p:cNvSpPr txBox="1">
                <a:spLocks noChangeArrowheads="1"/>
              </p:cNvSpPr>
              <p:nvPr/>
            </p:nvSpPr>
            <p:spPr bwMode="auto">
              <a:xfrm>
                <a:off x="1776" y="2825"/>
                <a:ext cx="363" cy="23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de-DE"/>
                  <a:t>2+e</a:t>
                </a:r>
                <a:endParaRPr lang="de-DE" sz="2400">
                  <a:latin typeface="Times New Roman" pitchFamily="18" charset="0"/>
                </a:endParaRPr>
              </a:p>
            </p:txBody>
          </p:sp>
          <p:sp>
            <p:nvSpPr>
              <p:cNvPr id="466021" name="Freeform 101"/>
              <p:cNvSpPr>
                <a:spLocks/>
              </p:cNvSpPr>
              <p:nvPr/>
            </p:nvSpPr>
            <p:spPr bwMode="auto">
              <a:xfrm flipH="1">
                <a:off x="2376" y="2934"/>
                <a:ext cx="213" cy="129"/>
              </a:xfrm>
              <a:custGeom>
                <a:avLst/>
                <a:gdLst>
                  <a:gd name="T0" fmla="*/ 0 w 342"/>
                  <a:gd name="T1" fmla="*/ 186 h 186"/>
                  <a:gd name="T2" fmla="*/ 342 w 342"/>
                  <a:gd name="T3" fmla="*/ 0 h 186"/>
                </a:gdLst>
                <a:ahLst/>
                <a:cxnLst>
                  <a:cxn ang="0">
                    <a:pos x="T0" y="T1"/>
                  </a:cxn>
                  <a:cxn ang="0">
                    <a:pos x="T2" y="T3"/>
                  </a:cxn>
                </a:cxnLst>
                <a:rect l="0" t="0" r="r" b="b"/>
                <a:pathLst>
                  <a:path w="342" h="186">
                    <a:moveTo>
                      <a:pt x="0" y="186"/>
                    </a:moveTo>
                    <a:lnTo>
                      <a:pt x="342" y="0"/>
                    </a:lnTo>
                  </a:path>
                </a:pathLst>
              </a:custGeom>
              <a:noFill/>
              <a:ln w="12700">
                <a:solidFill>
                  <a:schemeClr val="tx1"/>
                </a:solidFill>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66022" name="Freeform 102"/>
              <p:cNvSpPr>
                <a:spLocks/>
              </p:cNvSpPr>
              <p:nvPr/>
            </p:nvSpPr>
            <p:spPr bwMode="auto">
              <a:xfrm flipH="1" flipV="1">
                <a:off x="2385" y="3195"/>
                <a:ext cx="198" cy="144"/>
              </a:xfrm>
              <a:custGeom>
                <a:avLst/>
                <a:gdLst>
                  <a:gd name="T0" fmla="*/ 0 w 342"/>
                  <a:gd name="T1" fmla="*/ 186 h 186"/>
                  <a:gd name="T2" fmla="*/ 342 w 342"/>
                  <a:gd name="T3" fmla="*/ 0 h 186"/>
                </a:gdLst>
                <a:ahLst/>
                <a:cxnLst>
                  <a:cxn ang="0">
                    <a:pos x="T0" y="T1"/>
                  </a:cxn>
                  <a:cxn ang="0">
                    <a:pos x="T2" y="T3"/>
                  </a:cxn>
                </a:cxnLst>
                <a:rect l="0" t="0" r="r" b="b"/>
                <a:pathLst>
                  <a:path w="342" h="186">
                    <a:moveTo>
                      <a:pt x="0" y="186"/>
                    </a:moveTo>
                    <a:lnTo>
                      <a:pt x="342" y="0"/>
                    </a:lnTo>
                  </a:path>
                </a:pathLst>
              </a:custGeom>
              <a:noFill/>
              <a:ln w="12700">
                <a:solidFill>
                  <a:schemeClr val="tx1"/>
                </a:solidFill>
                <a:round/>
                <a:headEnd type="triangl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66023" name="Freeform 103"/>
              <p:cNvSpPr>
                <a:spLocks/>
              </p:cNvSpPr>
              <p:nvPr/>
            </p:nvSpPr>
            <p:spPr bwMode="auto">
              <a:xfrm flipV="1">
                <a:off x="1983" y="3189"/>
                <a:ext cx="204" cy="156"/>
              </a:xfrm>
              <a:custGeom>
                <a:avLst/>
                <a:gdLst>
                  <a:gd name="T0" fmla="*/ 0 w 342"/>
                  <a:gd name="T1" fmla="*/ 186 h 186"/>
                  <a:gd name="T2" fmla="*/ 342 w 342"/>
                  <a:gd name="T3" fmla="*/ 0 h 186"/>
                </a:gdLst>
                <a:ahLst/>
                <a:cxnLst>
                  <a:cxn ang="0">
                    <a:pos x="T0" y="T1"/>
                  </a:cxn>
                  <a:cxn ang="0">
                    <a:pos x="T2" y="T3"/>
                  </a:cxn>
                </a:cxnLst>
                <a:rect l="0" t="0" r="r" b="b"/>
                <a:pathLst>
                  <a:path w="342" h="186">
                    <a:moveTo>
                      <a:pt x="0" y="186"/>
                    </a:moveTo>
                    <a:lnTo>
                      <a:pt x="342" y="0"/>
                    </a:lnTo>
                  </a:path>
                </a:pathLst>
              </a:custGeom>
              <a:noFill/>
              <a:ln w="12700">
                <a:solidFill>
                  <a:schemeClr val="tx1"/>
                </a:solidFill>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66024" name="Text Box 104"/>
              <p:cNvSpPr txBox="1">
                <a:spLocks noChangeArrowheads="1"/>
              </p:cNvSpPr>
              <p:nvPr/>
            </p:nvSpPr>
            <p:spPr bwMode="auto">
              <a:xfrm>
                <a:off x="2514" y="2846"/>
                <a:ext cx="204"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de-DE"/>
                  <a:t>0</a:t>
                </a:r>
                <a:endParaRPr lang="de-DE" sz="2400">
                  <a:latin typeface="Times New Roman" pitchFamily="18" charset="0"/>
                </a:endParaRPr>
              </a:p>
            </p:txBody>
          </p:sp>
          <p:sp>
            <p:nvSpPr>
              <p:cNvPr id="466025" name="Text Box 105"/>
              <p:cNvSpPr txBox="1">
                <a:spLocks noChangeArrowheads="1"/>
              </p:cNvSpPr>
              <p:nvPr/>
            </p:nvSpPr>
            <p:spPr bwMode="auto">
              <a:xfrm>
                <a:off x="2458" y="3191"/>
                <a:ext cx="204"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de-DE"/>
                  <a:t>0</a:t>
                </a:r>
                <a:endParaRPr lang="de-DE" sz="2400">
                  <a:latin typeface="Times New Roman" pitchFamily="18" charset="0"/>
                </a:endParaRPr>
              </a:p>
            </p:txBody>
          </p:sp>
          <p:sp>
            <p:nvSpPr>
              <p:cNvPr id="466026" name="Text Box 106"/>
              <p:cNvSpPr txBox="1">
                <a:spLocks noChangeArrowheads="1"/>
              </p:cNvSpPr>
              <p:nvPr/>
            </p:nvSpPr>
            <p:spPr bwMode="auto">
              <a:xfrm>
                <a:off x="1909" y="3206"/>
                <a:ext cx="204"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de-DE"/>
                  <a:t>0</a:t>
                </a:r>
                <a:endParaRPr lang="de-DE" sz="2400">
                  <a:latin typeface="Times New Roman" pitchFamily="18" charset="0"/>
                </a:endParaRPr>
              </a:p>
            </p:txBody>
          </p:sp>
          <p:sp>
            <p:nvSpPr>
              <p:cNvPr id="466027" name="Freeform 107"/>
              <p:cNvSpPr>
                <a:spLocks/>
              </p:cNvSpPr>
              <p:nvPr/>
            </p:nvSpPr>
            <p:spPr bwMode="auto">
              <a:xfrm flipH="1" flipV="1">
                <a:off x="2325" y="3168"/>
                <a:ext cx="198" cy="144"/>
              </a:xfrm>
              <a:custGeom>
                <a:avLst/>
                <a:gdLst>
                  <a:gd name="T0" fmla="*/ 0 w 342"/>
                  <a:gd name="T1" fmla="*/ 186 h 186"/>
                  <a:gd name="T2" fmla="*/ 342 w 342"/>
                  <a:gd name="T3" fmla="*/ 0 h 186"/>
                </a:gdLst>
                <a:ahLst/>
                <a:cxnLst>
                  <a:cxn ang="0">
                    <a:pos x="T0" y="T1"/>
                  </a:cxn>
                  <a:cxn ang="0">
                    <a:pos x="T2" y="T3"/>
                  </a:cxn>
                </a:cxnLst>
                <a:rect l="0" t="0" r="r" b="b"/>
                <a:pathLst>
                  <a:path w="342" h="186">
                    <a:moveTo>
                      <a:pt x="0" y="186"/>
                    </a:moveTo>
                    <a:lnTo>
                      <a:pt x="342" y="0"/>
                    </a:lnTo>
                  </a:path>
                </a:pathLst>
              </a:custGeom>
              <a:noFill/>
              <a:ln w="12700">
                <a:solidFill>
                  <a:schemeClr val="tx1"/>
                </a:solidFill>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66028" name="Freeform 108"/>
              <p:cNvSpPr>
                <a:spLocks/>
              </p:cNvSpPr>
              <p:nvPr/>
            </p:nvSpPr>
            <p:spPr bwMode="auto">
              <a:xfrm flipH="1">
                <a:off x="2040" y="3174"/>
                <a:ext cx="192" cy="138"/>
              </a:xfrm>
              <a:custGeom>
                <a:avLst/>
                <a:gdLst>
                  <a:gd name="T0" fmla="*/ 0 w 342"/>
                  <a:gd name="T1" fmla="*/ 186 h 186"/>
                  <a:gd name="T2" fmla="*/ 342 w 342"/>
                  <a:gd name="T3" fmla="*/ 0 h 186"/>
                </a:gdLst>
                <a:ahLst/>
                <a:cxnLst>
                  <a:cxn ang="0">
                    <a:pos x="T0" y="T1"/>
                  </a:cxn>
                  <a:cxn ang="0">
                    <a:pos x="T2" y="T3"/>
                  </a:cxn>
                </a:cxnLst>
                <a:rect l="0" t="0" r="r" b="b"/>
                <a:pathLst>
                  <a:path w="342" h="186">
                    <a:moveTo>
                      <a:pt x="0" y="186"/>
                    </a:moveTo>
                    <a:lnTo>
                      <a:pt x="342" y="0"/>
                    </a:lnTo>
                  </a:path>
                </a:pathLst>
              </a:custGeom>
              <a:noFill/>
              <a:ln w="12700">
                <a:solidFill>
                  <a:schemeClr val="tx1"/>
                </a:solidFill>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66029" name="Text Box 109"/>
              <p:cNvSpPr txBox="1">
                <a:spLocks noChangeArrowheads="1"/>
              </p:cNvSpPr>
              <p:nvPr/>
            </p:nvSpPr>
            <p:spPr bwMode="auto">
              <a:xfrm>
                <a:off x="2040" y="3062"/>
                <a:ext cx="363" cy="23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de-DE"/>
                  <a:t>1+e</a:t>
                </a:r>
                <a:endParaRPr lang="de-DE" sz="2400">
                  <a:latin typeface="Times New Roman" pitchFamily="18" charset="0"/>
                </a:endParaRPr>
              </a:p>
            </p:txBody>
          </p:sp>
          <p:sp>
            <p:nvSpPr>
              <p:cNvPr id="466030" name="Text Box 110"/>
              <p:cNvSpPr txBox="1">
                <a:spLocks noChangeArrowheads="1"/>
              </p:cNvSpPr>
              <p:nvPr/>
            </p:nvSpPr>
            <p:spPr bwMode="auto">
              <a:xfrm>
                <a:off x="2308" y="3056"/>
                <a:ext cx="197" cy="23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de-DE"/>
                  <a:t>1</a:t>
                </a:r>
                <a:endParaRPr lang="de-DE" sz="2400">
                  <a:latin typeface="Times New Roman" pitchFamily="18" charset="0"/>
                </a:endParaRPr>
              </a:p>
            </p:txBody>
          </p:sp>
          <p:sp>
            <p:nvSpPr>
              <p:cNvPr id="466031" name="Freeform 111"/>
              <p:cNvSpPr>
                <a:spLocks/>
              </p:cNvSpPr>
              <p:nvPr/>
            </p:nvSpPr>
            <p:spPr bwMode="auto">
              <a:xfrm>
                <a:off x="3048" y="2727"/>
                <a:ext cx="1225" cy="854"/>
              </a:xfrm>
              <a:custGeom>
                <a:avLst/>
                <a:gdLst>
                  <a:gd name="T0" fmla="*/ 0 w 1225"/>
                  <a:gd name="T1" fmla="*/ 387 h 854"/>
                  <a:gd name="T2" fmla="*/ 168 w 1225"/>
                  <a:gd name="T3" fmla="*/ 162 h 854"/>
                  <a:gd name="T4" fmla="*/ 486 w 1225"/>
                  <a:gd name="T5" fmla="*/ 18 h 854"/>
                  <a:gd name="T6" fmla="*/ 822 w 1225"/>
                  <a:gd name="T7" fmla="*/ 30 h 854"/>
                  <a:gd name="T8" fmla="*/ 1152 w 1225"/>
                  <a:gd name="T9" fmla="*/ 267 h 854"/>
                  <a:gd name="T10" fmla="*/ 1188 w 1225"/>
                  <a:gd name="T11" fmla="*/ 537 h 854"/>
                  <a:gd name="T12" fmla="*/ 927 w 1225"/>
                  <a:gd name="T13" fmla="*/ 780 h 854"/>
                  <a:gd name="T14" fmla="*/ 447 w 1225"/>
                  <a:gd name="T15" fmla="*/ 837 h 854"/>
                  <a:gd name="T16" fmla="*/ 177 w 1225"/>
                  <a:gd name="T17" fmla="*/ 675 h 854"/>
                  <a:gd name="T18" fmla="*/ 0 w 1225"/>
                  <a:gd name="T19" fmla="*/ 387 h 8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225" h="854">
                    <a:moveTo>
                      <a:pt x="0" y="387"/>
                    </a:moveTo>
                    <a:cubicBezTo>
                      <a:pt x="0" y="243"/>
                      <a:pt x="87" y="223"/>
                      <a:pt x="168" y="162"/>
                    </a:cubicBezTo>
                    <a:cubicBezTo>
                      <a:pt x="249" y="101"/>
                      <a:pt x="377" y="40"/>
                      <a:pt x="486" y="18"/>
                    </a:cubicBezTo>
                    <a:cubicBezTo>
                      <a:pt x="615" y="6"/>
                      <a:pt x="684" y="0"/>
                      <a:pt x="822" y="30"/>
                    </a:cubicBezTo>
                    <a:cubicBezTo>
                      <a:pt x="960" y="60"/>
                      <a:pt x="1099" y="169"/>
                      <a:pt x="1152" y="267"/>
                    </a:cubicBezTo>
                    <a:cubicBezTo>
                      <a:pt x="1213" y="351"/>
                      <a:pt x="1225" y="452"/>
                      <a:pt x="1188" y="537"/>
                    </a:cubicBezTo>
                    <a:cubicBezTo>
                      <a:pt x="1151" y="622"/>
                      <a:pt x="1050" y="730"/>
                      <a:pt x="927" y="780"/>
                    </a:cubicBezTo>
                    <a:cubicBezTo>
                      <a:pt x="804" y="830"/>
                      <a:pt x="572" y="854"/>
                      <a:pt x="447" y="837"/>
                    </a:cubicBezTo>
                    <a:cubicBezTo>
                      <a:pt x="322" y="820"/>
                      <a:pt x="251" y="750"/>
                      <a:pt x="177" y="675"/>
                    </a:cubicBezTo>
                    <a:cubicBezTo>
                      <a:pt x="103" y="600"/>
                      <a:pt x="0" y="531"/>
                      <a:pt x="0" y="387"/>
                    </a:cubicBezTo>
                    <a:close/>
                  </a:path>
                </a:pathLst>
              </a:custGeom>
              <a:solidFill>
                <a:srgbClr val="66CCFF"/>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66032" name="Freeform 112"/>
              <p:cNvSpPr>
                <a:spLocks/>
              </p:cNvSpPr>
              <p:nvPr/>
            </p:nvSpPr>
            <p:spPr bwMode="auto">
              <a:xfrm>
                <a:off x="3300" y="2940"/>
                <a:ext cx="246" cy="132"/>
              </a:xfrm>
              <a:custGeom>
                <a:avLst/>
                <a:gdLst>
                  <a:gd name="T0" fmla="*/ 0 w 342"/>
                  <a:gd name="T1" fmla="*/ 186 h 186"/>
                  <a:gd name="T2" fmla="*/ 342 w 342"/>
                  <a:gd name="T3" fmla="*/ 0 h 186"/>
                </a:gdLst>
                <a:ahLst/>
                <a:cxnLst>
                  <a:cxn ang="0">
                    <a:pos x="T0" y="T1"/>
                  </a:cxn>
                  <a:cxn ang="0">
                    <a:pos x="T2" y="T3"/>
                  </a:cxn>
                </a:cxnLst>
                <a:rect l="0" t="0" r="r" b="b"/>
                <a:pathLst>
                  <a:path w="342" h="186">
                    <a:moveTo>
                      <a:pt x="0" y="186"/>
                    </a:moveTo>
                    <a:lnTo>
                      <a:pt x="342" y="0"/>
                    </a:lnTo>
                  </a:path>
                </a:pathLst>
              </a:custGeom>
              <a:noFill/>
              <a:ln w="12700">
                <a:solidFill>
                  <a:schemeClr val="tx1"/>
                </a:solidFill>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grpSp>
            <p:nvGrpSpPr>
              <p:cNvPr id="466033" name="Group 113"/>
              <p:cNvGrpSpPr>
                <a:grpSpLocks/>
              </p:cNvGrpSpPr>
              <p:nvPr/>
            </p:nvGrpSpPr>
            <p:grpSpPr bwMode="auto">
              <a:xfrm>
                <a:off x="3493" y="2744"/>
                <a:ext cx="316" cy="250"/>
                <a:chOff x="1747" y="3194"/>
                <a:chExt cx="316" cy="250"/>
              </a:xfrm>
            </p:grpSpPr>
            <p:sp>
              <p:nvSpPr>
                <p:cNvPr id="466034" name="Oval 114"/>
                <p:cNvSpPr>
                  <a:spLocks noChangeArrowheads="1"/>
                </p:cNvSpPr>
                <p:nvPr/>
              </p:nvSpPr>
              <p:spPr bwMode="auto">
                <a:xfrm>
                  <a:off x="1750" y="3308"/>
                  <a:ext cx="313" cy="81"/>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66035" name="Line 115"/>
                <p:cNvSpPr>
                  <a:spLocks noChangeShapeType="1"/>
                </p:cNvSpPr>
                <p:nvPr/>
              </p:nvSpPr>
              <p:spPr bwMode="auto">
                <a:xfrm>
                  <a:off x="1750" y="3301"/>
                  <a:ext cx="0" cy="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66036" name="Line 116"/>
                <p:cNvSpPr>
                  <a:spLocks noChangeShapeType="1"/>
                </p:cNvSpPr>
                <p:nvPr/>
              </p:nvSpPr>
              <p:spPr bwMode="auto">
                <a:xfrm>
                  <a:off x="2063" y="3301"/>
                  <a:ext cx="0" cy="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66037" name="Rectangle 117"/>
                <p:cNvSpPr>
                  <a:spLocks noChangeArrowheads="1"/>
                </p:cNvSpPr>
                <p:nvPr/>
              </p:nvSpPr>
              <p:spPr bwMode="auto">
                <a:xfrm>
                  <a:off x="1750" y="3301"/>
                  <a:ext cx="310" cy="49"/>
                </a:xfrm>
                <a:prstGeom prst="rect">
                  <a:avLst/>
                </a:prstGeom>
                <a:solidFill>
                  <a:schemeClr val="hlink"/>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de-DE" sz="2400">
                    <a:latin typeface="Times New Roman" pitchFamily="18" charset="0"/>
                  </a:endParaRPr>
                </a:p>
              </p:txBody>
            </p:sp>
            <p:sp>
              <p:nvSpPr>
                <p:cNvPr id="466038" name="Oval 118"/>
                <p:cNvSpPr>
                  <a:spLocks noChangeArrowheads="1"/>
                </p:cNvSpPr>
                <p:nvPr/>
              </p:nvSpPr>
              <p:spPr bwMode="auto">
                <a:xfrm>
                  <a:off x="1747" y="3242"/>
                  <a:ext cx="313" cy="95"/>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grpSp>
              <p:nvGrpSpPr>
                <p:cNvPr id="466039" name="Group 119"/>
                <p:cNvGrpSpPr>
                  <a:grpSpLocks/>
                </p:cNvGrpSpPr>
                <p:nvPr/>
              </p:nvGrpSpPr>
              <p:grpSpPr bwMode="auto">
                <a:xfrm>
                  <a:off x="1785" y="3194"/>
                  <a:ext cx="233" cy="250"/>
                  <a:chOff x="2940" y="2429"/>
                  <a:chExt cx="236" cy="250"/>
                </a:xfrm>
              </p:grpSpPr>
              <p:sp>
                <p:nvSpPr>
                  <p:cNvPr id="466040" name="Rectangle 120"/>
                  <p:cNvSpPr>
                    <a:spLocks noChangeArrowheads="1"/>
                  </p:cNvSpPr>
                  <p:nvPr/>
                </p:nvSpPr>
                <p:spPr bwMode="auto">
                  <a:xfrm>
                    <a:off x="2982" y="2490"/>
                    <a:ext cx="144" cy="132"/>
                  </a:xfrm>
                  <a:prstGeom prst="rect">
                    <a:avLst/>
                  </a:prstGeom>
                  <a:solidFill>
                    <a:schemeClr va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66041" name="Text Box 121"/>
                  <p:cNvSpPr txBox="1">
                    <a:spLocks noChangeArrowheads="1"/>
                  </p:cNvSpPr>
                  <p:nvPr/>
                </p:nvSpPr>
                <p:spPr bwMode="auto">
                  <a:xfrm>
                    <a:off x="2940" y="2429"/>
                    <a:ext cx="236"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de-DE" sz="2000"/>
                      <a:t>A</a:t>
                    </a:r>
                    <a:endParaRPr lang="de-DE" sz="2400">
                      <a:latin typeface="Times New Roman" pitchFamily="18" charset="0"/>
                    </a:endParaRPr>
                  </a:p>
                </p:txBody>
              </p:sp>
            </p:grpSp>
          </p:grpSp>
          <p:grpSp>
            <p:nvGrpSpPr>
              <p:cNvPr id="466042" name="Group 122"/>
              <p:cNvGrpSpPr>
                <a:grpSpLocks/>
              </p:cNvGrpSpPr>
              <p:nvPr/>
            </p:nvGrpSpPr>
            <p:grpSpPr bwMode="auto">
              <a:xfrm>
                <a:off x="3085" y="2999"/>
                <a:ext cx="316" cy="252"/>
                <a:chOff x="2221" y="3575"/>
                <a:chExt cx="316" cy="252"/>
              </a:xfrm>
            </p:grpSpPr>
            <p:sp>
              <p:nvSpPr>
                <p:cNvPr id="466043" name="Oval 123"/>
                <p:cNvSpPr>
                  <a:spLocks noChangeArrowheads="1"/>
                </p:cNvSpPr>
                <p:nvPr/>
              </p:nvSpPr>
              <p:spPr bwMode="auto">
                <a:xfrm>
                  <a:off x="2224" y="3695"/>
                  <a:ext cx="313" cy="81"/>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66044" name="Line 124"/>
                <p:cNvSpPr>
                  <a:spLocks noChangeShapeType="1"/>
                </p:cNvSpPr>
                <p:nvPr/>
              </p:nvSpPr>
              <p:spPr bwMode="auto">
                <a:xfrm>
                  <a:off x="2224" y="3688"/>
                  <a:ext cx="0" cy="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66045" name="Line 125"/>
                <p:cNvSpPr>
                  <a:spLocks noChangeShapeType="1"/>
                </p:cNvSpPr>
                <p:nvPr/>
              </p:nvSpPr>
              <p:spPr bwMode="auto">
                <a:xfrm>
                  <a:off x="2537" y="3688"/>
                  <a:ext cx="0" cy="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66046" name="Rectangle 126"/>
                <p:cNvSpPr>
                  <a:spLocks noChangeArrowheads="1"/>
                </p:cNvSpPr>
                <p:nvPr/>
              </p:nvSpPr>
              <p:spPr bwMode="auto">
                <a:xfrm>
                  <a:off x="2224" y="3688"/>
                  <a:ext cx="310" cy="49"/>
                </a:xfrm>
                <a:prstGeom prst="rect">
                  <a:avLst/>
                </a:prstGeom>
                <a:solidFill>
                  <a:schemeClr val="hlink"/>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de-DE" sz="2400">
                    <a:latin typeface="Times New Roman" pitchFamily="18" charset="0"/>
                  </a:endParaRPr>
                </a:p>
              </p:txBody>
            </p:sp>
            <p:sp>
              <p:nvSpPr>
                <p:cNvPr id="466047" name="Oval 127"/>
                <p:cNvSpPr>
                  <a:spLocks noChangeArrowheads="1"/>
                </p:cNvSpPr>
                <p:nvPr/>
              </p:nvSpPr>
              <p:spPr bwMode="auto">
                <a:xfrm>
                  <a:off x="2221" y="3629"/>
                  <a:ext cx="313" cy="95"/>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grpSp>
              <p:nvGrpSpPr>
                <p:cNvPr id="466048" name="Group 128"/>
                <p:cNvGrpSpPr>
                  <a:grpSpLocks/>
                </p:cNvGrpSpPr>
                <p:nvPr/>
              </p:nvGrpSpPr>
              <p:grpSpPr bwMode="auto">
                <a:xfrm>
                  <a:off x="2274" y="3575"/>
                  <a:ext cx="233" cy="252"/>
                  <a:chOff x="2940" y="2429"/>
                  <a:chExt cx="236" cy="252"/>
                </a:xfrm>
              </p:grpSpPr>
              <p:sp>
                <p:nvSpPr>
                  <p:cNvPr id="466049" name="Rectangle 129"/>
                  <p:cNvSpPr>
                    <a:spLocks noChangeArrowheads="1"/>
                  </p:cNvSpPr>
                  <p:nvPr/>
                </p:nvSpPr>
                <p:spPr bwMode="auto">
                  <a:xfrm>
                    <a:off x="2982" y="2490"/>
                    <a:ext cx="144" cy="132"/>
                  </a:xfrm>
                  <a:prstGeom prst="rect">
                    <a:avLst/>
                  </a:prstGeom>
                  <a:solidFill>
                    <a:schemeClr va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66050" name="Text Box 130"/>
                  <p:cNvSpPr txBox="1">
                    <a:spLocks noChangeArrowheads="1"/>
                  </p:cNvSpPr>
                  <p:nvPr/>
                </p:nvSpPr>
                <p:spPr bwMode="auto">
                  <a:xfrm>
                    <a:off x="2940" y="2429"/>
                    <a:ext cx="236" cy="25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de-DE" sz="2000"/>
                      <a:t>D</a:t>
                    </a:r>
                    <a:endParaRPr lang="de-DE" sz="2400">
                      <a:latin typeface="Times New Roman" pitchFamily="18" charset="0"/>
                    </a:endParaRPr>
                  </a:p>
                </p:txBody>
              </p:sp>
            </p:grpSp>
          </p:grpSp>
          <p:grpSp>
            <p:nvGrpSpPr>
              <p:cNvPr id="466051" name="Group 131"/>
              <p:cNvGrpSpPr>
                <a:grpSpLocks/>
              </p:cNvGrpSpPr>
              <p:nvPr/>
            </p:nvGrpSpPr>
            <p:grpSpPr bwMode="auto">
              <a:xfrm>
                <a:off x="3485" y="3290"/>
                <a:ext cx="315" cy="252"/>
                <a:chOff x="2903" y="2888"/>
                <a:chExt cx="315" cy="252"/>
              </a:xfrm>
            </p:grpSpPr>
            <p:grpSp>
              <p:nvGrpSpPr>
                <p:cNvPr id="466052" name="Group 132"/>
                <p:cNvGrpSpPr>
                  <a:grpSpLocks/>
                </p:cNvGrpSpPr>
                <p:nvPr/>
              </p:nvGrpSpPr>
              <p:grpSpPr bwMode="auto">
                <a:xfrm>
                  <a:off x="2903" y="2938"/>
                  <a:ext cx="315" cy="144"/>
                  <a:chOff x="2903" y="2938"/>
                  <a:chExt cx="315" cy="144"/>
                </a:xfrm>
              </p:grpSpPr>
              <p:sp>
                <p:nvSpPr>
                  <p:cNvPr id="466053" name="Oval 133"/>
                  <p:cNvSpPr>
                    <a:spLocks noChangeArrowheads="1"/>
                  </p:cNvSpPr>
                  <p:nvPr/>
                </p:nvSpPr>
                <p:spPr bwMode="auto">
                  <a:xfrm>
                    <a:off x="2903" y="3001"/>
                    <a:ext cx="312" cy="81"/>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66054" name="Line 134"/>
                  <p:cNvSpPr>
                    <a:spLocks noChangeShapeType="1"/>
                  </p:cNvSpPr>
                  <p:nvPr/>
                </p:nvSpPr>
                <p:spPr bwMode="auto">
                  <a:xfrm>
                    <a:off x="2903" y="2994"/>
                    <a:ext cx="0" cy="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66055" name="Line 135"/>
                  <p:cNvSpPr>
                    <a:spLocks noChangeShapeType="1"/>
                  </p:cNvSpPr>
                  <p:nvPr/>
                </p:nvSpPr>
                <p:spPr bwMode="auto">
                  <a:xfrm>
                    <a:off x="3215" y="2994"/>
                    <a:ext cx="0" cy="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66056" name="Rectangle 136"/>
                  <p:cNvSpPr>
                    <a:spLocks noChangeArrowheads="1"/>
                  </p:cNvSpPr>
                  <p:nvPr/>
                </p:nvSpPr>
                <p:spPr bwMode="auto">
                  <a:xfrm>
                    <a:off x="2903" y="2994"/>
                    <a:ext cx="309" cy="49"/>
                  </a:xfrm>
                  <a:prstGeom prst="rect">
                    <a:avLst/>
                  </a:prstGeom>
                  <a:solidFill>
                    <a:schemeClr val="hlink"/>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de-DE" sz="2400">
                      <a:latin typeface="Times New Roman" pitchFamily="18" charset="0"/>
                    </a:endParaRPr>
                  </a:p>
                </p:txBody>
              </p:sp>
              <p:sp>
                <p:nvSpPr>
                  <p:cNvPr id="466057" name="Oval 137"/>
                  <p:cNvSpPr>
                    <a:spLocks noChangeArrowheads="1"/>
                  </p:cNvSpPr>
                  <p:nvPr/>
                </p:nvSpPr>
                <p:spPr bwMode="auto">
                  <a:xfrm>
                    <a:off x="2906" y="2938"/>
                    <a:ext cx="312" cy="95"/>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grpSp>
            <p:grpSp>
              <p:nvGrpSpPr>
                <p:cNvPr id="466058" name="Group 138"/>
                <p:cNvGrpSpPr>
                  <a:grpSpLocks/>
                </p:cNvGrpSpPr>
                <p:nvPr/>
              </p:nvGrpSpPr>
              <p:grpSpPr bwMode="auto">
                <a:xfrm>
                  <a:off x="2952" y="2888"/>
                  <a:ext cx="234" cy="252"/>
                  <a:chOff x="2939" y="2429"/>
                  <a:chExt cx="237" cy="252"/>
                </a:xfrm>
              </p:grpSpPr>
              <p:sp>
                <p:nvSpPr>
                  <p:cNvPr id="466059" name="Rectangle 139"/>
                  <p:cNvSpPr>
                    <a:spLocks noChangeArrowheads="1"/>
                  </p:cNvSpPr>
                  <p:nvPr/>
                </p:nvSpPr>
                <p:spPr bwMode="auto">
                  <a:xfrm>
                    <a:off x="2982" y="2490"/>
                    <a:ext cx="144" cy="132"/>
                  </a:xfrm>
                  <a:prstGeom prst="rect">
                    <a:avLst/>
                  </a:prstGeom>
                  <a:solidFill>
                    <a:schemeClr va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66060" name="Text Box 140"/>
                  <p:cNvSpPr txBox="1">
                    <a:spLocks noChangeArrowheads="1"/>
                  </p:cNvSpPr>
                  <p:nvPr/>
                </p:nvSpPr>
                <p:spPr bwMode="auto">
                  <a:xfrm>
                    <a:off x="2939" y="2429"/>
                    <a:ext cx="237" cy="25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de-DE" sz="2000"/>
                      <a:t>C</a:t>
                    </a:r>
                    <a:endParaRPr lang="de-DE" sz="2400">
                      <a:latin typeface="Times New Roman" pitchFamily="18" charset="0"/>
                    </a:endParaRPr>
                  </a:p>
                </p:txBody>
              </p:sp>
            </p:grpSp>
          </p:grpSp>
          <p:grpSp>
            <p:nvGrpSpPr>
              <p:cNvPr id="466061" name="Group 141"/>
              <p:cNvGrpSpPr>
                <a:grpSpLocks/>
              </p:cNvGrpSpPr>
              <p:nvPr/>
            </p:nvGrpSpPr>
            <p:grpSpPr bwMode="auto">
              <a:xfrm>
                <a:off x="3897" y="3008"/>
                <a:ext cx="316" cy="252"/>
                <a:chOff x="2217" y="2888"/>
                <a:chExt cx="316" cy="252"/>
              </a:xfrm>
            </p:grpSpPr>
            <p:sp>
              <p:nvSpPr>
                <p:cNvPr id="466062" name="Oval 142"/>
                <p:cNvSpPr>
                  <a:spLocks noChangeArrowheads="1"/>
                </p:cNvSpPr>
                <p:nvPr/>
              </p:nvSpPr>
              <p:spPr bwMode="auto">
                <a:xfrm>
                  <a:off x="2220" y="3005"/>
                  <a:ext cx="313" cy="81"/>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66063" name="Line 143"/>
                <p:cNvSpPr>
                  <a:spLocks noChangeShapeType="1"/>
                </p:cNvSpPr>
                <p:nvPr/>
              </p:nvSpPr>
              <p:spPr bwMode="auto">
                <a:xfrm>
                  <a:off x="2220" y="2998"/>
                  <a:ext cx="0" cy="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66064" name="Line 144"/>
                <p:cNvSpPr>
                  <a:spLocks noChangeShapeType="1"/>
                </p:cNvSpPr>
                <p:nvPr/>
              </p:nvSpPr>
              <p:spPr bwMode="auto">
                <a:xfrm>
                  <a:off x="2533" y="2998"/>
                  <a:ext cx="0" cy="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66065" name="Rectangle 145"/>
                <p:cNvSpPr>
                  <a:spLocks noChangeArrowheads="1"/>
                </p:cNvSpPr>
                <p:nvPr/>
              </p:nvSpPr>
              <p:spPr bwMode="auto">
                <a:xfrm>
                  <a:off x="2220" y="2998"/>
                  <a:ext cx="310" cy="49"/>
                </a:xfrm>
                <a:prstGeom prst="rect">
                  <a:avLst/>
                </a:prstGeom>
                <a:solidFill>
                  <a:schemeClr val="hlink"/>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de-DE" sz="2400">
                    <a:latin typeface="Times New Roman" pitchFamily="18" charset="0"/>
                  </a:endParaRPr>
                </a:p>
              </p:txBody>
            </p:sp>
            <p:sp>
              <p:nvSpPr>
                <p:cNvPr id="466066" name="Oval 146"/>
                <p:cNvSpPr>
                  <a:spLocks noChangeArrowheads="1"/>
                </p:cNvSpPr>
                <p:nvPr/>
              </p:nvSpPr>
              <p:spPr bwMode="auto">
                <a:xfrm>
                  <a:off x="2217" y="2939"/>
                  <a:ext cx="313" cy="95"/>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grpSp>
              <p:nvGrpSpPr>
                <p:cNvPr id="466067" name="Group 147"/>
                <p:cNvGrpSpPr>
                  <a:grpSpLocks/>
                </p:cNvGrpSpPr>
                <p:nvPr/>
              </p:nvGrpSpPr>
              <p:grpSpPr bwMode="auto">
                <a:xfrm>
                  <a:off x="2270" y="2888"/>
                  <a:ext cx="224" cy="252"/>
                  <a:chOff x="2944" y="2429"/>
                  <a:chExt cx="227" cy="252"/>
                </a:xfrm>
              </p:grpSpPr>
              <p:sp>
                <p:nvSpPr>
                  <p:cNvPr id="466068" name="Rectangle 148"/>
                  <p:cNvSpPr>
                    <a:spLocks noChangeArrowheads="1"/>
                  </p:cNvSpPr>
                  <p:nvPr/>
                </p:nvSpPr>
                <p:spPr bwMode="auto">
                  <a:xfrm>
                    <a:off x="2982" y="2490"/>
                    <a:ext cx="144" cy="132"/>
                  </a:xfrm>
                  <a:prstGeom prst="rect">
                    <a:avLst/>
                  </a:prstGeom>
                  <a:solidFill>
                    <a:schemeClr va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66069" name="Text Box 149"/>
                  <p:cNvSpPr txBox="1">
                    <a:spLocks noChangeArrowheads="1"/>
                  </p:cNvSpPr>
                  <p:nvPr/>
                </p:nvSpPr>
                <p:spPr bwMode="auto">
                  <a:xfrm>
                    <a:off x="2944" y="2429"/>
                    <a:ext cx="227" cy="25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de-DE" sz="2000"/>
                      <a:t>B</a:t>
                    </a:r>
                    <a:endParaRPr lang="de-DE" sz="2400">
                      <a:latin typeface="Times New Roman" pitchFamily="18" charset="0"/>
                    </a:endParaRPr>
                  </a:p>
                </p:txBody>
              </p:sp>
            </p:grpSp>
          </p:grpSp>
          <p:sp>
            <p:nvSpPr>
              <p:cNvPr id="466070" name="Text Box 150"/>
              <p:cNvSpPr txBox="1">
                <a:spLocks noChangeArrowheads="1"/>
              </p:cNvSpPr>
              <p:nvPr/>
            </p:nvSpPr>
            <p:spPr bwMode="auto">
              <a:xfrm>
                <a:off x="3211" y="2831"/>
                <a:ext cx="204"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de-DE"/>
                  <a:t>0</a:t>
                </a:r>
                <a:endParaRPr lang="de-DE" sz="2400">
                  <a:latin typeface="Times New Roman" pitchFamily="18" charset="0"/>
                </a:endParaRPr>
              </a:p>
            </p:txBody>
          </p:sp>
          <p:sp>
            <p:nvSpPr>
              <p:cNvPr id="466071" name="Freeform 151"/>
              <p:cNvSpPr>
                <a:spLocks/>
              </p:cNvSpPr>
              <p:nvPr/>
            </p:nvSpPr>
            <p:spPr bwMode="auto">
              <a:xfrm flipH="1">
                <a:off x="3732" y="2940"/>
                <a:ext cx="213" cy="129"/>
              </a:xfrm>
              <a:custGeom>
                <a:avLst/>
                <a:gdLst>
                  <a:gd name="T0" fmla="*/ 0 w 342"/>
                  <a:gd name="T1" fmla="*/ 186 h 186"/>
                  <a:gd name="T2" fmla="*/ 342 w 342"/>
                  <a:gd name="T3" fmla="*/ 0 h 186"/>
                </a:gdLst>
                <a:ahLst/>
                <a:cxnLst>
                  <a:cxn ang="0">
                    <a:pos x="T0" y="T1"/>
                  </a:cxn>
                  <a:cxn ang="0">
                    <a:pos x="T2" y="T3"/>
                  </a:cxn>
                </a:cxnLst>
                <a:rect l="0" t="0" r="r" b="b"/>
                <a:pathLst>
                  <a:path w="342" h="186">
                    <a:moveTo>
                      <a:pt x="0" y="186"/>
                    </a:moveTo>
                    <a:lnTo>
                      <a:pt x="342" y="0"/>
                    </a:lnTo>
                  </a:path>
                </a:pathLst>
              </a:custGeom>
              <a:noFill/>
              <a:ln w="12700">
                <a:solidFill>
                  <a:schemeClr val="tx1"/>
                </a:solidFill>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66072" name="Freeform 152"/>
              <p:cNvSpPr>
                <a:spLocks/>
              </p:cNvSpPr>
              <p:nvPr/>
            </p:nvSpPr>
            <p:spPr bwMode="auto">
              <a:xfrm flipH="1" flipV="1">
                <a:off x="3741" y="3201"/>
                <a:ext cx="198" cy="144"/>
              </a:xfrm>
              <a:custGeom>
                <a:avLst/>
                <a:gdLst>
                  <a:gd name="T0" fmla="*/ 0 w 342"/>
                  <a:gd name="T1" fmla="*/ 186 h 186"/>
                  <a:gd name="T2" fmla="*/ 342 w 342"/>
                  <a:gd name="T3" fmla="*/ 0 h 186"/>
                </a:gdLst>
                <a:ahLst/>
                <a:cxnLst>
                  <a:cxn ang="0">
                    <a:pos x="T0" y="T1"/>
                  </a:cxn>
                  <a:cxn ang="0">
                    <a:pos x="T2" y="T3"/>
                  </a:cxn>
                </a:cxnLst>
                <a:rect l="0" t="0" r="r" b="b"/>
                <a:pathLst>
                  <a:path w="342" h="186">
                    <a:moveTo>
                      <a:pt x="0" y="186"/>
                    </a:moveTo>
                    <a:lnTo>
                      <a:pt x="342" y="0"/>
                    </a:lnTo>
                  </a:path>
                </a:pathLst>
              </a:custGeom>
              <a:noFill/>
              <a:ln w="12700">
                <a:solidFill>
                  <a:schemeClr val="tx1"/>
                </a:solidFill>
                <a:round/>
                <a:headEnd type="triangl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66073" name="Freeform 153"/>
              <p:cNvSpPr>
                <a:spLocks/>
              </p:cNvSpPr>
              <p:nvPr/>
            </p:nvSpPr>
            <p:spPr bwMode="auto">
              <a:xfrm flipV="1">
                <a:off x="3339" y="3195"/>
                <a:ext cx="204" cy="156"/>
              </a:xfrm>
              <a:custGeom>
                <a:avLst/>
                <a:gdLst>
                  <a:gd name="T0" fmla="*/ 0 w 342"/>
                  <a:gd name="T1" fmla="*/ 186 h 186"/>
                  <a:gd name="T2" fmla="*/ 342 w 342"/>
                  <a:gd name="T3" fmla="*/ 0 h 186"/>
                </a:gdLst>
                <a:ahLst/>
                <a:cxnLst>
                  <a:cxn ang="0">
                    <a:pos x="T0" y="T1"/>
                  </a:cxn>
                  <a:cxn ang="0">
                    <a:pos x="T2" y="T3"/>
                  </a:cxn>
                </a:cxnLst>
                <a:rect l="0" t="0" r="r" b="b"/>
                <a:pathLst>
                  <a:path w="342" h="186">
                    <a:moveTo>
                      <a:pt x="0" y="186"/>
                    </a:moveTo>
                    <a:lnTo>
                      <a:pt x="342" y="0"/>
                    </a:lnTo>
                  </a:path>
                </a:pathLst>
              </a:custGeom>
              <a:noFill/>
              <a:ln w="12700">
                <a:solidFill>
                  <a:schemeClr val="tx1"/>
                </a:solidFill>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66074" name="Text Box 154"/>
              <p:cNvSpPr txBox="1">
                <a:spLocks noChangeArrowheads="1"/>
              </p:cNvSpPr>
              <p:nvPr/>
            </p:nvSpPr>
            <p:spPr bwMode="auto">
              <a:xfrm>
                <a:off x="3792" y="2852"/>
                <a:ext cx="363" cy="23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de-DE"/>
                  <a:t>2+e</a:t>
                </a:r>
                <a:endParaRPr lang="de-DE" sz="2400">
                  <a:latin typeface="Times New Roman" pitchFamily="18" charset="0"/>
                </a:endParaRPr>
              </a:p>
            </p:txBody>
          </p:sp>
          <p:sp>
            <p:nvSpPr>
              <p:cNvPr id="466075" name="Text Box 155"/>
              <p:cNvSpPr txBox="1">
                <a:spLocks noChangeArrowheads="1"/>
              </p:cNvSpPr>
              <p:nvPr/>
            </p:nvSpPr>
            <p:spPr bwMode="auto">
              <a:xfrm>
                <a:off x="3735" y="3221"/>
                <a:ext cx="363" cy="23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de-DE"/>
                  <a:t>1+e</a:t>
                </a:r>
                <a:endParaRPr lang="de-DE" sz="2400">
                  <a:latin typeface="Times New Roman" pitchFamily="18" charset="0"/>
                </a:endParaRPr>
              </a:p>
            </p:txBody>
          </p:sp>
          <p:sp>
            <p:nvSpPr>
              <p:cNvPr id="466076" name="Text Box 156"/>
              <p:cNvSpPr txBox="1">
                <a:spLocks noChangeArrowheads="1"/>
              </p:cNvSpPr>
              <p:nvPr/>
            </p:nvSpPr>
            <p:spPr bwMode="auto">
              <a:xfrm>
                <a:off x="3268" y="3212"/>
                <a:ext cx="197" cy="23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de-DE"/>
                  <a:t>1</a:t>
                </a:r>
                <a:endParaRPr lang="de-DE" sz="2400">
                  <a:latin typeface="Times New Roman" pitchFamily="18" charset="0"/>
                </a:endParaRPr>
              </a:p>
            </p:txBody>
          </p:sp>
          <p:sp>
            <p:nvSpPr>
              <p:cNvPr id="466077" name="Freeform 157"/>
              <p:cNvSpPr>
                <a:spLocks/>
              </p:cNvSpPr>
              <p:nvPr/>
            </p:nvSpPr>
            <p:spPr bwMode="auto">
              <a:xfrm flipH="1" flipV="1">
                <a:off x="3681" y="3174"/>
                <a:ext cx="198" cy="144"/>
              </a:xfrm>
              <a:custGeom>
                <a:avLst/>
                <a:gdLst>
                  <a:gd name="T0" fmla="*/ 0 w 342"/>
                  <a:gd name="T1" fmla="*/ 186 h 186"/>
                  <a:gd name="T2" fmla="*/ 342 w 342"/>
                  <a:gd name="T3" fmla="*/ 0 h 186"/>
                </a:gdLst>
                <a:ahLst/>
                <a:cxnLst>
                  <a:cxn ang="0">
                    <a:pos x="T0" y="T1"/>
                  </a:cxn>
                  <a:cxn ang="0">
                    <a:pos x="T2" y="T3"/>
                  </a:cxn>
                </a:cxnLst>
                <a:rect l="0" t="0" r="r" b="b"/>
                <a:pathLst>
                  <a:path w="342" h="186">
                    <a:moveTo>
                      <a:pt x="0" y="186"/>
                    </a:moveTo>
                    <a:lnTo>
                      <a:pt x="342" y="0"/>
                    </a:lnTo>
                  </a:path>
                </a:pathLst>
              </a:custGeom>
              <a:noFill/>
              <a:ln w="12700">
                <a:solidFill>
                  <a:schemeClr val="tx1"/>
                </a:solidFill>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66078" name="Freeform 158"/>
              <p:cNvSpPr>
                <a:spLocks/>
              </p:cNvSpPr>
              <p:nvPr/>
            </p:nvSpPr>
            <p:spPr bwMode="auto">
              <a:xfrm flipH="1">
                <a:off x="3396" y="3180"/>
                <a:ext cx="192" cy="138"/>
              </a:xfrm>
              <a:custGeom>
                <a:avLst/>
                <a:gdLst>
                  <a:gd name="T0" fmla="*/ 0 w 342"/>
                  <a:gd name="T1" fmla="*/ 186 h 186"/>
                  <a:gd name="T2" fmla="*/ 342 w 342"/>
                  <a:gd name="T3" fmla="*/ 0 h 186"/>
                </a:gdLst>
                <a:ahLst/>
                <a:cxnLst>
                  <a:cxn ang="0">
                    <a:pos x="T0" y="T1"/>
                  </a:cxn>
                  <a:cxn ang="0">
                    <a:pos x="T2" y="T3"/>
                  </a:cxn>
                </a:cxnLst>
                <a:rect l="0" t="0" r="r" b="b"/>
                <a:pathLst>
                  <a:path w="342" h="186">
                    <a:moveTo>
                      <a:pt x="0" y="186"/>
                    </a:moveTo>
                    <a:lnTo>
                      <a:pt x="342" y="0"/>
                    </a:lnTo>
                  </a:path>
                </a:pathLst>
              </a:custGeom>
              <a:noFill/>
              <a:ln w="12700">
                <a:solidFill>
                  <a:schemeClr val="tx1"/>
                </a:solidFill>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66079" name="Text Box 159"/>
              <p:cNvSpPr txBox="1">
                <a:spLocks noChangeArrowheads="1"/>
              </p:cNvSpPr>
              <p:nvPr/>
            </p:nvSpPr>
            <p:spPr bwMode="auto">
              <a:xfrm>
                <a:off x="3475" y="3068"/>
                <a:ext cx="204"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de-DE"/>
                  <a:t>0</a:t>
                </a:r>
                <a:endParaRPr lang="de-DE" sz="2400">
                  <a:latin typeface="Times New Roman" pitchFamily="18" charset="0"/>
                </a:endParaRPr>
              </a:p>
            </p:txBody>
          </p:sp>
          <p:sp>
            <p:nvSpPr>
              <p:cNvPr id="466080" name="Text Box 160"/>
              <p:cNvSpPr txBox="1">
                <a:spLocks noChangeArrowheads="1"/>
              </p:cNvSpPr>
              <p:nvPr/>
            </p:nvSpPr>
            <p:spPr bwMode="auto">
              <a:xfrm>
                <a:off x="3661" y="3062"/>
                <a:ext cx="204"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de-DE"/>
                  <a:t>0</a:t>
                </a:r>
                <a:endParaRPr lang="de-DE" sz="2400">
                  <a:latin typeface="Times New Roman" pitchFamily="18" charset="0"/>
                </a:endParaRPr>
              </a:p>
            </p:txBody>
          </p:sp>
          <p:sp>
            <p:nvSpPr>
              <p:cNvPr id="466081" name="Freeform 161"/>
              <p:cNvSpPr>
                <a:spLocks/>
              </p:cNvSpPr>
              <p:nvPr/>
            </p:nvSpPr>
            <p:spPr bwMode="auto">
              <a:xfrm>
                <a:off x="4368" y="2739"/>
                <a:ext cx="1225" cy="854"/>
              </a:xfrm>
              <a:custGeom>
                <a:avLst/>
                <a:gdLst>
                  <a:gd name="T0" fmla="*/ 0 w 1225"/>
                  <a:gd name="T1" fmla="*/ 387 h 854"/>
                  <a:gd name="T2" fmla="*/ 168 w 1225"/>
                  <a:gd name="T3" fmla="*/ 162 h 854"/>
                  <a:gd name="T4" fmla="*/ 486 w 1225"/>
                  <a:gd name="T5" fmla="*/ 18 h 854"/>
                  <a:gd name="T6" fmla="*/ 822 w 1225"/>
                  <a:gd name="T7" fmla="*/ 30 h 854"/>
                  <a:gd name="T8" fmla="*/ 1152 w 1225"/>
                  <a:gd name="T9" fmla="*/ 267 h 854"/>
                  <a:gd name="T10" fmla="*/ 1188 w 1225"/>
                  <a:gd name="T11" fmla="*/ 537 h 854"/>
                  <a:gd name="T12" fmla="*/ 927 w 1225"/>
                  <a:gd name="T13" fmla="*/ 780 h 854"/>
                  <a:gd name="T14" fmla="*/ 447 w 1225"/>
                  <a:gd name="T15" fmla="*/ 837 h 854"/>
                  <a:gd name="T16" fmla="*/ 177 w 1225"/>
                  <a:gd name="T17" fmla="*/ 675 h 854"/>
                  <a:gd name="T18" fmla="*/ 0 w 1225"/>
                  <a:gd name="T19" fmla="*/ 387 h 8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225" h="854">
                    <a:moveTo>
                      <a:pt x="0" y="387"/>
                    </a:moveTo>
                    <a:cubicBezTo>
                      <a:pt x="0" y="243"/>
                      <a:pt x="87" y="223"/>
                      <a:pt x="168" y="162"/>
                    </a:cubicBezTo>
                    <a:cubicBezTo>
                      <a:pt x="249" y="101"/>
                      <a:pt x="377" y="40"/>
                      <a:pt x="486" y="18"/>
                    </a:cubicBezTo>
                    <a:cubicBezTo>
                      <a:pt x="615" y="6"/>
                      <a:pt x="684" y="0"/>
                      <a:pt x="822" y="30"/>
                    </a:cubicBezTo>
                    <a:cubicBezTo>
                      <a:pt x="960" y="60"/>
                      <a:pt x="1099" y="169"/>
                      <a:pt x="1152" y="267"/>
                    </a:cubicBezTo>
                    <a:cubicBezTo>
                      <a:pt x="1213" y="351"/>
                      <a:pt x="1225" y="452"/>
                      <a:pt x="1188" y="537"/>
                    </a:cubicBezTo>
                    <a:cubicBezTo>
                      <a:pt x="1151" y="622"/>
                      <a:pt x="1050" y="730"/>
                      <a:pt x="927" y="780"/>
                    </a:cubicBezTo>
                    <a:cubicBezTo>
                      <a:pt x="804" y="830"/>
                      <a:pt x="572" y="854"/>
                      <a:pt x="447" y="837"/>
                    </a:cubicBezTo>
                    <a:cubicBezTo>
                      <a:pt x="322" y="820"/>
                      <a:pt x="251" y="750"/>
                      <a:pt x="177" y="675"/>
                    </a:cubicBezTo>
                    <a:cubicBezTo>
                      <a:pt x="103" y="600"/>
                      <a:pt x="0" y="531"/>
                      <a:pt x="0" y="387"/>
                    </a:cubicBezTo>
                    <a:close/>
                  </a:path>
                </a:pathLst>
              </a:custGeom>
              <a:solidFill>
                <a:srgbClr val="66CCFF"/>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66082" name="Freeform 162"/>
              <p:cNvSpPr>
                <a:spLocks/>
              </p:cNvSpPr>
              <p:nvPr/>
            </p:nvSpPr>
            <p:spPr bwMode="auto">
              <a:xfrm>
                <a:off x="4620" y="2952"/>
                <a:ext cx="246" cy="132"/>
              </a:xfrm>
              <a:custGeom>
                <a:avLst/>
                <a:gdLst>
                  <a:gd name="T0" fmla="*/ 0 w 342"/>
                  <a:gd name="T1" fmla="*/ 186 h 186"/>
                  <a:gd name="T2" fmla="*/ 342 w 342"/>
                  <a:gd name="T3" fmla="*/ 0 h 186"/>
                </a:gdLst>
                <a:ahLst/>
                <a:cxnLst>
                  <a:cxn ang="0">
                    <a:pos x="T0" y="T1"/>
                  </a:cxn>
                  <a:cxn ang="0">
                    <a:pos x="T2" y="T3"/>
                  </a:cxn>
                </a:cxnLst>
                <a:rect l="0" t="0" r="r" b="b"/>
                <a:pathLst>
                  <a:path w="342" h="186">
                    <a:moveTo>
                      <a:pt x="0" y="186"/>
                    </a:moveTo>
                    <a:lnTo>
                      <a:pt x="342" y="0"/>
                    </a:lnTo>
                  </a:path>
                </a:pathLst>
              </a:custGeom>
              <a:noFill/>
              <a:ln w="12700">
                <a:solidFill>
                  <a:schemeClr val="tx1"/>
                </a:solidFill>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grpSp>
            <p:nvGrpSpPr>
              <p:cNvPr id="466083" name="Group 163"/>
              <p:cNvGrpSpPr>
                <a:grpSpLocks/>
              </p:cNvGrpSpPr>
              <p:nvPr/>
            </p:nvGrpSpPr>
            <p:grpSpPr bwMode="auto">
              <a:xfrm>
                <a:off x="4813" y="2756"/>
                <a:ext cx="316" cy="250"/>
                <a:chOff x="1747" y="3194"/>
                <a:chExt cx="316" cy="250"/>
              </a:xfrm>
            </p:grpSpPr>
            <p:sp>
              <p:nvSpPr>
                <p:cNvPr id="466084" name="Oval 164"/>
                <p:cNvSpPr>
                  <a:spLocks noChangeArrowheads="1"/>
                </p:cNvSpPr>
                <p:nvPr/>
              </p:nvSpPr>
              <p:spPr bwMode="auto">
                <a:xfrm>
                  <a:off x="1750" y="3308"/>
                  <a:ext cx="313" cy="81"/>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66085" name="Line 165"/>
                <p:cNvSpPr>
                  <a:spLocks noChangeShapeType="1"/>
                </p:cNvSpPr>
                <p:nvPr/>
              </p:nvSpPr>
              <p:spPr bwMode="auto">
                <a:xfrm>
                  <a:off x="1750" y="3301"/>
                  <a:ext cx="0" cy="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66086" name="Line 166"/>
                <p:cNvSpPr>
                  <a:spLocks noChangeShapeType="1"/>
                </p:cNvSpPr>
                <p:nvPr/>
              </p:nvSpPr>
              <p:spPr bwMode="auto">
                <a:xfrm>
                  <a:off x="2063" y="3301"/>
                  <a:ext cx="0" cy="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66087" name="Rectangle 167"/>
                <p:cNvSpPr>
                  <a:spLocks noChangeArrowheads="1"/>
                </p:cNvSpPr>
                <p:nvPr/>
              </p:nvSpPr>
              <p:spPr bwMode="auto">
                <a:xfrm>
                  <a:off x="1750" y="3301"/>
                  <a:ext cx="310" cy="49"/>
                </a:xfrm>
                <a:prstGeom prst="rect">
                  <a:avLst/>
                </a:prstGeom>
                <a:solidFill>
                  <a:schemeClr val="hlink"/>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de-DE" sz="2400">
                    <a:latin typeface="Times New Roman" pitchFamily="18" charset="0"/>
                  </a:endParaRPr>
                </a:p>
              </p:txBody>
            </p:sp>
            <p:sp>
              <p:nvSpPr>
                <p:cNvPr id="466088" name="Oval 168"/>
                <p:cNvSpPr>
                  <a:spLocks noChangeArrowheads="1"/>
                </p:cNvSpPr>
                <p:nvPr/>
              </p:nvSpPr>
              <p:spPr bwMode="auto">
                <a:xfrm>
                  <a:off x="1747" y="3242"/>
                  <a:ext cx="313" cy="95"/>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grpSp>
              <p:nvGrpSpPr>
                <p:cNvPr id="466089" name="Group 169"/>
                <p:cNvGrpSpPr>
                  <a:grpSpLocks/>
                </p:cNvGrpSpPr>
                <p:nvPr/>
              </p:nvGrpSpPr>
              <p:grpSpPr bwMode="auto">
                <a:xfrm>
                  <a:off x="1785" y="3194"/>
                  <a:ext cx="233" cy="250"/>
                  <a:chOff x="2940" y="2429"/>
                  <a:chExt cx="236" cy="250"/>
                </a:xfrm>
              </p:grpSpPr>
              <p:sp>
                <p:nvSpPr>
                  <p:cNvPr id="466090" name="Rectangle 170"/>
                  <p:cNvSpPr>
                    <a:spLocks noChangeArrowheads="1"/>
                  </p:cNvSpPr>
                  <p:nvPr/>
                </p:nvSpPr>
                <p:spPr bwMode="auto">
                  <a:xfrm>
                    <a:off x="2982" y="2490"/>
                    <a:ext cx="144" cy="132"/>
                  </a:xfrm>
                  <a:prstGeom prst="rect">
                    <a:avLst/>
                  </a:prstGeom>
                  <a:solidFill>
                    <a:schemeClr va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66091" name="Text Box 171"/>
                  <p:cNvSpPr txBox="1">
                    <a:spLocks noChangeArrowheads="1"/>
                  </p:cNvSpPr>
                  <p:nvPr/>
                </p:nvSpPr>
                <p:spPr bwMode="auto">
                  <a:xfrm>
                    <a:off x="2940" y="2429"/>
                    <a:ext cx="236"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de-DE" sz="2000"/>
                      <a:t>A</a:t>
                    </a:r>
                    <a:endParaRPr lang="de-DE" sz="2400">
                      <a:latin typeface="Times New Roman" pitchFamily="18" charset="0"/>
                    </a:endParaRPr>
                  </a:p>
                </p:txBody>
              </p:sp>
            </p:grpSp>
          </p:grpSp>
          <p:grpSp>
            <p:nvGrpSpPr>
              <p:cNvPr id="466092" name="Group 172"/>
              <p:cNvGrpSpPr>
                <a:grpSpLocks/>
              </p:cNvGrpSpPr>
              <p:nvPr/>
            </p:nvGrpSpPr>
            <p:grpSpPr bwMode="auto">
              <a:xfrm>
                <a:off x="4405" y="3011"/>
                <a:ext cx="316" cy="252"/>
                <a:chOff x="2221" y="3575"/>
                <a:chExt cx="316" cy="252"/>
              </a:xfrm>
            </p:grpSpPr>
            <p:sp>
              <p:nvSpPr>
                <p:cNvPr id="466093" name="Oval 173"/>
                <p:cNvSpPr>
                  <a:spLocks noChangeArrowheads="1"/>
                </p:cNvSpPr>
                <p:nvPr/>
              </p:nvSpPr>
              <p:spPr bwMode="auto">
                <a:xfrm>
                  <a:off x="2224" y="3695"/>
                  <a:ext cx="313" cy="81"/>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66094" name="Line 174"/>
                <p:cNvSpPr>
                  <a:spLocks noChangeShapeType="1"/>
                </p:cNvSpPr>
                <p:nvPr/>
              </p:nvSpPr>
              <p:spPr bwMode="auto">
                <a:xfrm>
                  <a:off x="2224" y="3688"/>
                  <a:ext cx="0" cy="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66095" name="Line 175"/>
                <p:cNvSpPr>
                  <a:spLocks noChangeShapeType="1"/>
                </p:cNvSpPr>
                <p:nvPr/>
              </p:nvSpPr>
              <p:spPr bwMode="auto">
                <a:xfrm>
                  <a:off x="2537" y="3688"/>
                  <a:ext cx="0" cy="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66096" name="Rectangle 176"/>
                <p:cNvSpPr>
                  <a:spLocks noChangeArrowheads="1"/>
                </p:cNvSpPr>
                <p:nvPr/>
              </p:nvSpPr>
              <p:spPr bwMode="auto">
                <a:xfrm>
                  <a:off x="2224" y="3688"/>
                  <a:ext cx="310" cy="49"/>
                </a:xfrm>
                <a:prstGeom prst="rect">
                  <a:avLst/>
                </a:prstGeom>
                <a:solidFill>
                  <a:schemeClr val="hlink"/>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de-DE" sz="2400">
                    <a:latin typeface="Times New Roman" pitchFamily="18" charset="0"/>
                  </a:endParaRPr>
                </a:p>
              </p:txBody>
            </p:sp>
            <p:sp>
              <p:nvSpPr>
                <p:cNvPr id="466097" name="Oval 177"/>
                <p:cNvSpPr>
                  <a:spLocks noChangeArrowheads="1"/>
                </p:cNvSpPr>
                <p:nvPr/>
              </p:nvSpPr>
              <p:spPr bwMode="auto">
                <a:xfrm>
                  <a:off x="2221" y="3629"/>
                  <a:ext cx="313" cy="95"/>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grpSp>
              <p:nvGrpSpPr>
                <p:cNvPr id="466098" name="Group 178"/>
                <p:cNvGrpSpPr>
                  <a:grpSpLocks/>
                </p:cNvGrpSpPr>
                <p:nvPr/>
              </p:nvGrpSpPr>
              <p:grpSpPr bwMode="auto">
                <a:xfrm>
                  <a:off x="2274" y="3575"/>
                  <a:ext cx="233" cy="252"/>
                  <a:chOff x="2940" y="2429"/>
                  <a:chExt cx="236" cy="252"/>
                </a:xfrm>
              </p:grpSpPr>
              <p:sp>
                <p:nvSpPr>
                  <p:cNvPr id="466099" name="Rectangle 179"/>
                  <p:cNvSpPr>
                    <a:spLocks noChangeArrowheads="1"/>
                  </p:cNvSpPr>
                  <p:nvPr/>
                </p:nvSpPr>
                <p:spPr bwMode="auto">
                  <a:xfrm>
                    <a:off x="2982" y="2490"/>
                    <a:ext cx="144" cy="132"/>
                  </a:xfrm>
                  <a:prstGeom prst="rect">
                    <a:avLst/>
                  </a:prstGeom>
                  <a:solidFill>
                    <a:schemeClr va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66100" name="Text Box 180"/>
                  <p:cNvSpPr txBox="1">
                    <a:spLocks noChangeArrowheads="1"/>
                  </p:cNvSpPr>
                  <p:nvPr/>
                </p:nvSpPr>
                <p:spPr bwMode="auto">
                  <a:xfrm>
                    <a:off x="2940" y="2429"/>
                    <a:ext cx="236" cy="25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de-DE" sz="2000"/>
                      <a:t>D</a:t>
                    </a:r>
                    <a:endParaRPr lang="de-DE" sz="2400">
                      <a:latin typeface="Times New Roman" pitchFamily="18" charset="0"/>
                    </a:endParaRPr>
                  </a:p>
                </p:txBody>
              </p:sp>
            </p:grpSp>
          </p:grpSp>
          <p:grpSp>
            <p:nvGrpSpPr>
              <p:cNvPr id="466101" name="Group 181"/>
              <p:cNvGrpSpPr>
                <a:grpSpLocks/>
              </p:cNvGrpSpPr>
              <p:nvPr/>
            </p:nvGrpSpPr>
            <p:grpSpPr bwMode="auto">
              <a:xfrm>
                <a:off x="4805" y="3302"/>
                <a:ext cx="315" cy="252"/>
                <a:chOff x="2903" y="2888"/>
                <a:chExt cx="315" cy="252"/>
              </a:xfrm>
            </p:grpSpPr>
            <p:grpSp>
              <p:nvGrpSpPr>
                <p:cNvPr id="466102" name="Group 182"/>
                <p:cNvGrpSpPr>
                  <a:grpSpLocks/>
                </p:cNvGrpSpPr>
                <p:nvPr/>
              </p:nvGrpSpPr>
              <p:grpSpPr bwMode="auto">
                <a:xfrm>
                  <a:off x="2903" y="2938"/>
                  <a:ext cx="315" cy="144"/>
                  <a:chOff x="2903" y="2938"/>
                  <a:chExt cx="315" cy="144"/>
                </a:xfrm>
              </p:grpSpPr>
              <p:sp>
                <p:nvSpPr>
                  <p:cNvPr id="466103" name="Oval 183"/>
                  <p:cNvSpPr>
                    <a:spLocks noChangeArrowheads="1"/>
                  </p:cNvSpPr>
                  <p:nvPr/>
                </p:nvSpPr>
                <p:spPr bwMode="auto">
                  <a:xfrm>
                    <a:off x="2903" y="3001"/>
                    <a:ext cx="312" cy="81"/>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66104" name="Line 184"/>
                  <p:cNvSpPr>
                    <a:spLocks noChangeShapeType="1"/>
                  </p:cNvSpPr>
                  <p:nvPr/>
                </p:nvSpPr>
                <p:spPr bwMode="auto">
                  <a:xfrm>
                    <a:off x="2903" y="2994"/>
                    <a:ext cx="0" cy="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66105" name="Line 185"/>
                  <p:cNvSpPr>
                    <a:spLocks noChangeShapeType="1"/>
                  </p:cNvSpPr>
                  <p:nvPr/>
                </p:nvSpPr>
                <p:spPr bwMode="auto">
                  <a:xfrm>
                    <a:off x="3215" y="2994"/>
                    <a:ext cx="0" cy="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66106" name="Rectangle 186"/>
                  <p:cNvSpPr>
                    <a:spLocks noChangeArrowheads="1"/>
                  </p:cNvSpPr>
                  <p:nvPr/>
                </p:nvSpPr>
                <p:spPr bwMode="auto">
                  <a:xfrm>
                    <a:off x="2903" y="2994"/>
                    <a:ext cx="309" cy="49"/>
                  </a:xfrm>
                  <a:prstGeom prst="rect">
                    <a:avLst/>
                  </a:prstGeom>
                  <a:solidFill>
                    <a:schemeClr val="hlink"/>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de-DE" sz="2400">
                      <a:latin typeface="Times New Roman" pitchFamily="18" charset="0"/>
                    </a:endParaRPr>
                  </a:p>
                </p:txBody>
              </p:sp>
              <p:sp>
                <p:nvSpPr>
                  <p:cNvPr id="466107" name="Oval 187"/>
                  <p:cNvSpPr>
                    <a:spLocks noChangeArrowheads="1"/>
                  </p:cNvSpPr>
                  <p:nvPr/>
                </p:nvSpPr>
                <p:spPr bwMode="auto">
                  <a:xfrm>
                    <a:off x="2906" y="2938"/>
                    <a:ext cx="312" cy="95"/>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grpSp>
            <p:grpSp>
              <p:nvGrpSpPr>
                <p:cNvPr id="466108" name="Group 188"/>
                <p:cNvGrpSpPr>
                  <a:grpSpLocks/>
                </p:cNvGrpSpPr>
                <p:nvPr/>
              </p:nvGrpSpPr>
              <p:grpSpPr bwMode="auto">
                <a:xfrm>
                  <a:off x="2952" y="2888"/>
                  <a:ext cx="234" cy="252"/>
                  <a:chOff x="2939" y="2429"/>
                  <a:chExt cx="237" cy="252"/>
                </a:xfrm>
              </p:grpSpPr>
              <p:sp>
                <p:nvSpPr>
                  <p:cNvPr id="466109" name="Rectangle 189"/>
                  <p:cNvSpPr>
                    <a:spLocks noChangeArrowheads="1"/>
                  </p:cNvSpPr>
                  <p:nvPr/>
                </p:nvSpPr>
                <p:spPr bwMode="auto">
                  <a:xfrm>
                    <a:off x="2982" y="2490"/>
                    <a:ext cx="144" cy="132"/>
                  </a:xfrm>
                  <a:prstGeom prst="rect">
                    <a:avLst/>
                  </a:prstGeom>
                  <a:solidFill>
                    <a:schemeClr va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66110" name="Text Box 190"/>
                  <p:cNvSpPr txBox="1">
                    <a:spLocks noChangeArrowheads="1"/>
                  </p:cNvSpPr>
                  <p:nvPr/>
                </p:nvSpPr>
                <p:spPr bwMode="auto">
                  <a:xfrm>
                    <a:off x="2939" y="2429"/>
                    <a:ext cx="237" cy="25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de-DE" sz="2000"/>
                      <a:t>C</a:t>
                    </a:r>
                    <a:endParaRPr lang="de-DE" sz="2400">
                      <a:latin typeface="Times New Roman" pitchFamily="18" charset="0"/>
                    </a:endParaRPr>
                  </a:p>
                </p:txBody>
              </p:sp>
            </p:grpSp>
          </p:grpSp>
          <p:grpSp>
            <p:nvGrpSpPr>
              <p:cNvPr id="466111" name="Group 191"/>
              <p:cNvGrpSpPr>
                <a:grpSpLocks/>
              </p:cNvGrpSpPr>
              <p:nvPr/>
            </p:nvGrpSpPr>
            <p:grpSpPr bwMode="auto">
              <a:xfrm>
                <a:off x="5217" y="3020"/>
                <a:ext cx="316" cy="252"/>
                <a:chOff x="2217" y="2888"/>
                <a:chExt cx="316" cy="252"/>
              </a:xfrm>
            </p:grpSpPr>
            <p:sp>
              <p:nvSpPr>
                <p:cNvPr id="466112" name="Oval 192"/>
                <p:cNvSpPr>
                  <a:spLocks noChangeArrowheads="1"/>
                </p:cNvSpPr>
                <p:nvPr/>
              </p:nvSpPr>
              <p:spPr bwMode="auto">
                <a:xfrm>
                  <a:off x="2220" y="3005"/>
                  <a:ext cx="313" cy="81"/>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66113" name="Line 193"/>
                <p:cNvSpPr>
                  <a:spLocks noChangeShapeType="1"/>
                </p:cNvSpPr>
                <p:nvPr/>
              </p:nvSpPr>
              <p:spPr bwMode="auto">
                <a:xfrm>
                  <a:off x="2220" y="2998"/>
                  <a:ext cx="0" cy="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66114" name="Line 194"/>
                <p:cNvSpPr>
                  <a:spLocks noChangeShapeType="1"/>
                </p:cNvSpPr>
                <p:nvPr/>
              </p:nvSpPr>
              <p:spPr bwMode="auto">
                <a:xfrm>
                  <a:off x="2533" y="2998"/>
                  <a:ext cx="0" cy="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66115" name="Rectangle 195"/>
                <p:cNvSpPr>
                  <a:spLocks noChangeArrowheads="1"/>
                </p:cNvSpPr>
                <p:nvPr/>
              </p:nvSpPr>
              <p:spPr bwMode="auto">
                <a:xfrm>
                  <a:off x="2220" y="2998"/>
                  <a:ext cx="310" cy="49"/>
                </a:xfrm>
                <a:prstGeom prst="rect">
                  <a:avLst/>
                </a:prstGeom>
                <a:solidFill>
                  <a:schemeClr val="hlink"/>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de-DE" sz="2400">
                    <a:latin typeface="Times New Roman" pitchFamily="18" charset="0"/>
                  </a:endParaRPr>
                </a:p>
              </p:txBody>
            </p:sp>
            <p:sp>
              <p:nvSpPr>
                <p:cNvPr id="466116" name="Oval 196"/>
                <p:cNvSpPr>
                  <a:spLocks noChangeArrowheads="1"/>
                </p:cNvSpPr>
                <p:nvPr/>
              </p:nvSpPr>
              <p:spPr bwMode="auto">
                <a:xfrm>
                  <a:off x="2217" y="2939"/>
                  <a:ext cx="313" cy="95"/>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grpSp>
              <p:nvGrpSpPr>
                <p:cNvPr id="466117" name="Group 197"/>
                <p:cNvGrpSpPr>
                  <a:grpSpLocks/>
                </p:cNvGrpSpPr>
                <p:nvPr/>
              </p:nvGrpSpPr>
              <p:grpSpPr bwMode="auto">
                <a:xfrm>
                  <a:off x="2270" y="2888"/>
                  <a:ext cx="224" cy="252"/>
                  <a:chOff x="2944" y="2429"/>
                  <a:chExt cx="227" cy="252"/>
                </a:xfrm>
              </p:grpSpPr>
              <p:sp>
                <p:nvSpPr>
                  <p:cNvPr id="466118" name="Rectangle 198"/>
                  <p:cNvSpPr>
                    <a:spLocks noChangeArrowheads="1"/>
                  </p:cNvSpPr>
                  <p:nvPr/>
                </p:nvSpPr>
                <p:spPr bwMode="auto">
                  <a:xfrm>
                    <a:off x="2982" y="2490"/>
                    <a:ext cx="144" cy="132"/>
                  </a:xfrm>
                  <a:prstGeom prst="rect">
                    <a:avLst/>
                  </a:prstGeom>
                  <a:solidFill>
                    <a:schemeClr va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66119" name="Text Box 199"/>
                  <p:cNvSpPr txBox="1">
                    <a:spLocks noChangeArrowheads="1"/>
                  </p:cNvSpPr>
                  <p:nvPr/>
                </p:nvSpPr>
                <p:spPr bwMode="auto">
                  <a:xfrm>
                    <a:off x="2944" y="2429"/>
                    <a:ext cx="227" cy="25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de-DE" sz="2000"/>
                      <a:t>B</a:t>
                    </a:r>
                    <a:endParaRPr lang="de-DE" sz="2400">
                      <a:latin typeface="Times New Roman" pitchFamily="18" charset="0"/>
                    </a:endParaRPr>
                  </a:p>
                </p:txBody>
              </p:sp>
            </p:grpSp>
          </p:grpSp>
          <p:sp>
            <p:nvSpPr>
              <p:cNvPr id="466120" name="Text Box 200"/>
              <p:cNvSpPr txBox="1">
                <a:spLocks noChangeArrowheads="1"/>
              </p:cNvSpPr>
              <p:nvPr/>
            </p:nvSpPr>
            <p:spPr bwMode="auto">
              <a:xfrm>
                <a:off x="4452" y="2843"/>
                <a:ext cx="363" cy="23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de-DE"/>
                  <a:t>2+e</a:t>
                </a:r>
                <a:endParaRPr lang="de-DE" sz="2400">
                  <a:latin typeface="Times New Roman" pitchFamily="18" charset="0"/>
                </a:endParaRPr>
              </a:p>
            </p:txBody>
          </p:sp>
          <p:sp>
            <p:nvSpPr>
              <p:cNvPr id="466121" name="Freeform 201"/>
              <p:cNvSpPr>
                <a:spLocks/>
              </p:cNvSpPr>
              <p:nvPr/>
            </p:nvSpPr>
            <p:spPr bwMode="auto">
              <a:xfrm flipH="1">
                <a:off x="5052" y="2952"/>
                <a:ext cx="213" cy="129"/>
              </a:xfrm>
              <a:custGeom>
                <a:avLst/>
                <a:gdLst>
                  <a:gd name="T0" fmla="*/ 0 w 342"/>
                  <a:gd name="T1" fmla="*/ 186 h 186"/>
                  <a:gd name="T2" fmla="*/ 342 w 342"/>
                  <a:gd name="T3" fmla="*/ 0 h 186"/>
                </a:gdLst>
                <a:ahLst/>
                <a:cxnLst>
                  <a:cxn ang="0">
                    <a:pos x="T0" y="T1"/>
                  </a:cxn>
                  <a:cxn ang="0">
                    <a:pos x="T2" y="T3"/>
                  </a:cxn>
                </a:cxnLst>
                <a:rect l="0" t="0" r="r" b="b"/>
                <a:pathLst>
                  <a:path w="342" h="186">
                    <a:moveTo>
                      <a:pt x="0" y="186"/>
                    </a:moveTo>
                    <a:lnTo>
                      <a:pt x="342" y="0"/>
                    </a:lnTo>
                  </a:path>
                </a:pathLst>
              </a:custGeom>
              <a:noFill/>
              <a:ln w="12700">
                <a:solidFill>
                  <a:schemeClr val="tx1"/>
                </a:solidFill>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66122" name="Freeform 202"/>
              <p:cNvSpPr>
                <a:spLocks/>
              </p:cNvSpPr>
              <p:nvPr/>
            </p:nvSpPr>
            <p:spPr bwMode="auto">
              <a:xfrm flipH="1" flipV="1">
                <a:off x="5061" y="3213"/>
                <a:ext cx="198" cy="144"/>
              </a:xfrm>
              <a:custGeom>
                <a:avLst/>
                <a:gdLst>
                  <a:gd name="T0" fmla="*/ 0 w 342"/>
                  <a:gd name="T1" fmla="*/ 186 h 186"/>
                  <a:gd name="T2" fmla="*/ 342 w 342"/>
                  <a:gd name="T3" fmla="*/ 0 h 186"/>
                </a:gdLst>
                <a:ahLst/>
                <a:cxnLst>
                  <a:cxn ang="0">
                    <a:pos x="T0" y="T1"/>
                  </a:cxn>
                  <a:cxn ang="0">
                    <a:pos x="T2" y="T3"/>
                  </a:cxn>
                </a:cxnLst>
                <a:rect l="0" t="0" r="r" b="b"/>
                <a:pathLst>
                  <a:path w="342" h="186">
                    <a:moveTo>
                      <a:pt x="0" y="186"/>
                    </a:moveTo>
                    <a:lnTo>
                      <a:pt x="342" y="0"/>
                    </a:lnTo>
                  </a:path>
                </a:pathLst>
              </a:custGeom>
              <a:noFill/>
              <a:ln w="12700">
                <a:solidFill>
                  <a:schemeClr val="tx1"/>
                </a:solidFill>
                <a:round/>
                <a:headEnd type="triangl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66123" name="Freeform 203"/>
              <p:cNvSpPr>
                <a:spLocks/>
              </p:cNvSpPr>
              <p:nvPr/>
            </p:nvSpPr>
            <p:spPr bwMode="auto">
              <a:xfrm flipV="1">
                <a:off x="4659" y="3207"/>
                <a:ext cx="204" cy="156"/>
              </a:xfrm>
              <a:custGeom>
                <a:avLst/>
                <a:gdLst>
                  <a:gd name="T0" fmla="*/ 0 w 342"/>
                  <a:gd name="T1" fmla="*/ 186 h 186"/>
                  <a:gd name="T2" fmla="*/ 342 w 342"/>
                  <a:gd name="T3" fmla="*/ 0 h 186"/>
                </a:gdLst>
                <a:ahLst/>
                <a:cxnLst>
                  <a:cxn ang="0">
                    <a:pos x="T0" y="T1"/>
                  </a:cxn>
                  <a:cxn ang="0">
                    <a:pos x="T2" y="T3"/>
                  </a:cxn>
                </a:cxnLst>
                <a:rect l="0" t="0" r="r" b="b"/>
                <a:pathLst>
                  <a:path w="342" h="186">
                    <a:moveTo>
                      <a:pt x="0" y="186"/>
                    </a:moveTo>
                    <a:lnTo>
                      <a:pt x="342" y="0"/>
                    </a:lnTo>
                  </a:path>
                </a:pathLst>
              </a:custGeom>
              <a:noFill/>
              <a:ln w="12700">
                <a:solidFill>
                  <a:schemeClr val="tx1"/>
                </a:solidFill>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66124" name="Text Box 204"/>
              <p:cNvSpPr txBox="1">
                <a:spLocks noChangeArrowheads="1"/>
              </p:cNvSpPr>
              <p:nvPr/>
            </p:nvSpPr>
            <p:spPr bwMode="auto">
              <a:xfrm>
                <a:off x="5190" y="2864"/>
                <a:ext cx="204"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de-DE"/>
                  <a:t>0</a:t>
                </a:r>
                <a:endParaRPr lang="de-DE" sz="2400">
                  <a:latin typeface="Times New Roman" pitchFamily="18" charset="0"/>
                </a:endParaRPr>
              </a:p>
            </p:txBody>
          </p:sp>
          <p:sp>
            <p:nvSpPr>
              <p:cNvPr id="466125" name="Text Box 205"/>
              <p:cNvSpPr txBox="1">
                <a:spLocks noChangeArrowheads="1"/>
              </p:cNvSpPr>
              <p:nvPr/>
            </p:nvSpPr>
            <p:spPr bwMode="auto">
              <a:xfrm>
                <a:off x="5137" y="3209"/>
                <a:ext cx="197" cy="23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de-DE"/>
                  <a:t>e</a:t>
                </a:r>
                <a:endParaRPr lang="de-DE" sz="2400">
                  <a:latin typeface="Times New Roman" pitchFamily="18" charset="0"/>
                </a:endParaRPr>
              </a:p>
            </p:txBody>
          </p:sp>
          <p:sp>
            <p:nvSpPr>
              <p:cNvPr id="466126" name="Text Box 206"/>
              <p:cNvSpPr txBox="1">
                <a:spLocks noChangeArrowheads="1"/>
              </p:cNvSpPr>
              <p:nvPr/>
            </p:nvSpPr>
            <p:spPr bwMode="auto">
              <a:xfrm>
                <a:off x="4585" y="3224"/>
                <a:ext cx="204"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de-DE"/>
                  <a:t>0</a:t>
                </a:r>
                <a:endParaRPr lang="de-DE" sz="2400">
                  <a:latin typeface="Times New Roman" pitchFamily="18" charset="0"/>
                </a:endParaRPr>
              </a:p>
            </p:txBody>
          </p:sp>
          <p:sp>
            <p:nvSpPr>
              <p:cNvPr id="466127" name="Freeform 207"/>
              <p:cNvSpPr>
                <a:spLocks/>
              </p:cNvSpPr>
              <p:nvPr/>
            </p:nvSpPr>
            <p:spPr bwMode="auto">
              <a:xfrm flipH="1" flipV="1">
                <a:off x="5001" y="3186"/>
                <a:ext cx="198" cy="144"/>
              </a:xfrm>
              <a:custGeom>
                <a:avLst/>
                <a:gdLst>
                  <a:gd name="T0" fmla="*/ 0 w 342"/>
                  <a:gd name="T1" fmla="*/ 186 h 186"/>
                  <a:gd name="T2" fmla="*/ 342 w 342"/>
                  <a:gd name="T3" fmla="*/ 0 h 186"/>
                </a:gdLst>
                <a:ahLst/>
                <a:cxnLst>
                  <a:cxn ang="0">
                    <a:pos x="T0" y="T1"/>
                  </a:cxn>
                  <a:cxn ang="0">
                    <a:pos x="T2" y="T3"/>
                  </a:cxn>
                </a:cxnLst>
                <a:rect l="0" t="0" r="r" b="b"/>
                <a:pathLst>
                  <a:path w="342" h="186">
                    <a:moveTo>
                      <a:pt x="0" y="186"/>
                    </a:moveTo>
                    <a:lnTo>
                      <a:pt x="342" y="0"/>
                    </a:lnTo>
                  </a:path>
                </a:pathLst>
              </a:custGeom>
              <a:noFill/>
              <a:ln w="12700">
                <a:solidFill>
                  <a:schemeClr val="tx1"/>
                </a:solidFill>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66128" name="Freeform 208"/>
              <p:cNvSpPr>
                <a:spLocks/>
              </p:cNvSpPr>
              <p:nvPr/>
            </p:nvSpPr>
            <p:spPr bwMode="auto">
              <a:xfrm flipH="1">
                <a:off x="4716" y="3192"/>
                <a:ext cx="192" cy="138"/>
              </a:xfrm>
              <a:custGeom>
                <a:avLst/>
                <a:gdLst>
                  <a:gd name="T0" fmla="*/ 0 w 342"/>
                  <a:gd name="T1" fmla="*/ 186 h 186"/>
                  <a:gd name="T2" fmla="*/ 342 w 342"/>
                  <a:gd name="T3" fmla="*/ 0 h 186"/>
                </a:gdLst>
                <a:ahLst/>
                <a:cxnLst>
                  <a:cxn ang="0">
                    <a:pos x="T0" y="T1"/>
                  </a:cxn>
                  <a:cxn ang="0">
                    <a:pos x="T2" y="T3"/>
                  </a:cxn>
                </a:cxnLst>
                <a:rect l="0" t="0" r="r" b="b"/>
                <a:pathLst>
                  <a:path w="342" h="186">
                    <a:moveTo>
                      <a:pt x="0" y="186"/>
                    </a:moveTo>
                    <a:lnTo>
                      <a:pt x="342" y="0"/>
                    </a:lnTo>
                  </a:path>
                </a:pathLst>
              </a:custGeom>
              <a:noFill/>
              <a:ln w="12700">
                <a:solidFill>
                  <a:schemeClr val="tx1"/>
                </a:solidFill>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66129" name="Text Box 209"/>
              <p:cNvSpPr txBox="1">
                <a:spLocks noChangeArrowheads="1"/>
              </p:cNvSpPr>
              <p:nvPr/>
            </p:nvSpPr>
            <p:spPr bwMode="auto">
              <a:xfrm>
                <a:off x="4716" y="3080"/>
                <a:ext cx="363" cy="23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de-DE"/>
                  <a:t>1+e</a:t>
                </a:r>
                <a:endParaRPr lang="de-DE" sz="2400">
                  <a:latin typeface="Times New Roman" pitchFamily="18" charset="0"/>
                </a:endParaRPr>
              </a:p>
            </p:txBody>
          </p:sp>
          <p:sp>
            <p:nvSpPr>
              <p:cNvPr id="466130" name="Text Box 210"/>
              <p:cNvSpPr txBox="1">
                <a:spLocks noChangeArrowheads="1"/>
              </p:cNvSpPr>
              <p:nvPr/>
            </p:nvSpPr>
            <p:spPr bwMode="auto">
              <a:xfrm>
                <a:off x="4984" y="3074"/>
                <a:ext cx="197" cy="23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de-DE"/>
                  <a:t>1</a:t>
                </a:r>
                <a:endParaRPr lang="de-DE" sz="2400">
                  <a:latin typeface="Times New Roman" pitchFamily="18" charset="0"/>
                </a:endParaRPr>
              </a:p>
            </p:txBody>
          </p:sp>
          <p:sp>
            <p:nvSpPr>
              <p:cNvPr id="466131" name="Text Box 211"/>
              <p:cNvSpPr txBox="1">
                <a:spLocks noChangeArrowheads="1"/>
              </p:cNvSpPr>
              <p:nvPr/>
            </p:nvSpPr>
            <p:spPr bwMode="auto">
              <a:xfrm>
                <a:off x="470" y="3893"/>
                <a:ext cx="709" cy="25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de-DE" sz="2000">
                    <a:solidFill>
                      <a:schemeClr val="accent2"/>
                    </a:solidFill>
                  </a:rPr>
                  <a:t>Anfangs</a:t>
                </a:r>
                <a:endParaRPr lang="de-DE" sz="2400">
                  <a:latin typeface="Times New Roman" pitchFamily="18" charset="0"/>
                </a:endParaRPr>
              </a:p>
            </p:txBody>
          </p:sp>
          <p:sp>
            <p:nvSpPr>
              <p:cNvPr id="466132" name="Text Box 212"/>
              <p:cNvSpPr txBox="1">
                <a:spLocks noChangeArrowheads="1"/>
              </p:cNvSpPr>
              <p:nvPr/>
            </p:nvSpPr>
            <p:spPr bwMode="auto">
              <a:xfrm>
                <a:off x="1439" y="3704"/>
                <a:ext cx="1402" cy="6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r>
                  <a:rPr lang="de-DE" sz="2000" dirty="0">
                    <a:solidFill>
                      <a:schemeClr val="accent2"/>
                    </a:solidFill>
                  </a:rPr>
                  <a:t>C, B entdecken</a:t>
                </a:r>
                <a:br>
                  <a:rPr lang="de-DE" sz="2000" dirty="0">
                    <a:solidFill>
                      <a:schemeClr val="accent2"/>
                    </a:solidFill>
                  </a:rPr>
                </a:br>
                <a:r>
                  <a:rPr lang="de-DE" sz="2000" dirty="0">
                    <a:solidFill>
                      <a:schemeClr val="accent2"/>
                    </a:solidFill>
                  </a:rPr>
                  <a:t>einen besseren Pfad nach A</a:t>
                </a:r>
                <a:endParaRPr lang="de-DE" sz="2400" dirty="0">
                  <a:latin typeface="Times New Roman" pitchFamily="18" charset="0"/>
                </a:endParaRPr>
              </a:p>
            </p:txBody>
          </p:sp>
          <p:sp>
            <p:nvSpPr>
              <p:cNvPr id="466133" name="Text Box 213"/>
              <p:cNvSpPr txBox="1">
                <a:spLocks noChangeArrowheads="1"/>
              </p:cNvSpPr>
              <p:nvPr/>
            </p:nvSpPr>
            <p:spPr bwMode="auto">
              <a:xfrm>
                <a:off x="2777" y="3664"/>
                <a:ext cx="1545" cy="75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r>
                  <a:rPr lang="de-DE">
                    <a:solidFill>
                      <a:schemeClr val="accent2"/>
                    </a:solidFill>
                  </a:rPr>
                  <a:t>D, C, B entdecken</a:t>
                </a:r>
                <a:br>
                  <a:rPr lang="de-DE">
                    <a:solidFill>
                      <a:schemeClr val="accent2"/>
                    </a:solidFill>
                  </a:rPr>
                </a:br>
                <a:r>
                  <a:rPr lang="de-DE">
                    <a:solidFill>
                      <a:schemeClr val="accent2"/>
                    </a:solidFill>
                  </a:rPr>
                  <a:t>den gegen den Uhrz.-S. verlaufenden Pfad nach A</a:t>
                </a:r>
                <a:endParaRPr lang="de-DE" sz="2000">
                  <a:latin typeface="Times New Roman" pitchFamily="18" charset="0"/>
                </a:endParaRPr>
              </a:p>
            </p:txBody>
          </p:sp>
          <p:sp>
            <p:nvSpPr>
              <p:cNvPr id="466134" name="Text Box 214"/>
              <p:cNvSpPr txBox="1">
                <a:spLocks noChangeArrowheads="1"/>
              </p:cNvSpPr>
              <p:nvPr/>
            </p:nvSpPr>
            <p:spPr bwMode="auto">
              <a:xfrm>
                <a:off x="4257" y="3659"/>
                <a:ext cx="1528" cy="75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r>
                  <a:rPr lang="de-DE" dirty="0">
                    <a:solidFill>
                      <a:schemeClr val="accent2"/>
                    </a:solidFill>
                  </a:rPr>
                  <a:t>D, C, B entdecken</a:t>
                </a:r>
                <a:br>
                  <a:rPr lang="de-DE" dirty="0">
                    <a:solidFill>
                      <a:schemeClr val="accent2"/>
                    </a:solidFill>
                  </a:rPr>
                </a:br>
                <a:r>
                  <a:rPr lang="de-DE" dirty="0">
                    <a:solidFill>
                      <a:schemeClr val="accent2"/>
                    </a:solidFill>
                  </a:rPr>
                  <a:t>den gegen den Uhrz.-S. verlaufenden Pfad nach A</a:t>
                </a:r>
                <a:endParaRPr lang="de-DE" sz="2000" dirty="0">
                  <a:latin typeface="Times New Roman" pitchFamily="18" charset="0"/>
                </a:endParaRPr>
              </a:p>
            </p:txBody>
          </p:sp>
          <p:sp>
            <p:nvSpPr>
              <p:cNvPr id="466135" name="Line 215"/>
              <p:cNvSpPr>
                <a:spLocks noChangeShapeType="1"/>
              </p:cNvSpPr>
              <p:nvPr/>
            </p:nvSpPr>
            <p:spPr bwMode="auto">
              <a:xfrm flipV="1">
                <a:off x="2292" y="3489"/>
                <a:ext cx="0" cy="156"/>
              </a:xfrm>
              <a:prstGeom prst="line">
                <a:avLst/>
              </a:prstGeom>
              <a:noFill/>
              <a:ln w="1905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66136" name="Line 216"/>
              <p:cNvSpPr>
                <a:spLocks noChangeShapeType="1"/>
              </p:cNvSpPr>
              <p:nvPr/>
            </p:nvSpPr>
            <p:spPr bwMode="auto">
              <a:xfrm flipV="1">
                <a:off x="1872" y="3201"/>
                <a:ext cx="0" cy="156"/>
              </a:xfrm>
              <a:prstGeom prst="line">
                <a:avLst/>
              </a:prstGeom>
              <a:noFill/>
              <a:ln w="1905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66137" name="Line 217"/>
              <p:cNvSpPr>
                <a:spLocks noChangeShapeType="1"/>
              </p:cNvSpPr>
              <p:nvPr/>
            </p:nvSpPr>
            <p:spPr bwMode="auto">
              <a:xfrm flipV="1">
                <a:off x="2712" y="3204"/>
                <a:ext cx="0" cy="156"/>
              </a:xfrm>
              <a:prstGeom prst="line">
                <a:avLst/>
              </a:prstGeom>
              <a:noFill/>
              <a:ln w="1905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66138" name="Line 218"/>
              <p:cNvSpPr>
                <a:spLocks noChangeShapeType="1"/>
              </p:cNvSpPr>
              <p:nvPr/>
            </p:nvSpPr>
            <p:spPr bwMode="auto">
              <a:xfrm flipV="1">
                <a:off x="3237" y="3207"/>
                <a:ext cx="0" cy="156"/>
              </a:xfrm>
              <a:prstGeom prst="line">
                <a:avLst/>
              </a:prstGeom>
              <a:noFill/>
              <a:ln w="1905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66139" name="Line 219"/>
              <p:cNvSpPr>
                <a:spLocks noChangeShapeType="1"/>
              </p:cNvSpPr>
              <p:nvPr/>
            </p:nvSpPr>
            <p:spPr bwMode="auto">
              <a:xfrm flipV="1">
                <a:off x="3654" y="3489"/>
                <a:ext cx="0" cy="156"/>
              </a:xfrm>
              <a:prstGeom prst="line">
                <a:avLst/>
              </a:prstGeom>
              <a:noFill/>
              <a:ln w="1905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66140" name="Line 220"/>
              <p:cNvSpPr>
                <a:spLocks noChangeShapeType="1"/>
              </p:cNvSpPr>
              <p:nvPr/>
            </p:nvSpPr>
            <p:spPr bwMode="auto">
              <a:xfrm flipV="1">
                <a:off x="4071" y="3207"/>
                <a:ext cx="0" cy="156"/>
              </a:xfrm>
              <a:prstGeom prst="line">
                <a:avLst/>
              </a:prstGeom>
              <a:noFill/>
              <a:ln w="1905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66141" name="Line 221"/>
              <p:cNvSpPr>
                <a:spLocks noChangeShapeType="1"/>
              </p:cNvSpPr>
              <p:nvPr/>
            </p:nvSpPr>
            <p:spPr bwMode="auto">
              <a:xfrm flipV="1">
                <a:off x="4566" y="3219"/>
                <a:ext cx="0" cy="156"/>
              </a:xfrm>
              <a:prstGeom prst="line">
                <a:avLst/>
              </a:prstGeom>
              <a:noFill/>
              <a:ln w="1905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66142" name="Line 222"/>
              <p:cNvSpPr>
                <a:spLocks noChangeShapeType="1"/>
              </p:cNvSpPr>
              <p:nvPr/>
            </p:nvSpPr>
            <p:spPr bwMode="auto">
              <a:xfrm flipV="1">
                <a:off x="4977" y="3501"/>
                <a:ext cx="0" cy="156"/>
              </a:xfrm>
              <a:prstGeom prst="line">
                <a:avLst/>
              </a:prstGeom>
              <a:noFill/>
              <a:ln w="1905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466143" name="Line 223"/>
              <p:cNvSpPr>
                <a:spLocks noChangeShapeType="1"/>
              </p:cNvSpPr>
              <p:nvPr/>
            </p:nvSpPr>
            <p:spPr bwMode="auto">
              <a:xfrm flipV="1">
                <a:off x="5388" y="3225"/>
                <a:ext cx="0" cy="156"/>
              </a:xfrm>
              <a:prstGeom prst="line">
                <a:avLst/>
              </a:prstGeom>
              <a:noFill/>
              <a:ln w="1905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grpSp>
        <p:sp>
          <p:nvSpPr>
            <p:cNvPr id="226" name="Text Box 56"/>
            <p:cNvSpPr txBox="1">
              <a:spLocks noChangeArrowheads="1"/>
            </p:cNvSpPr>
            <p:nvPr/>
          </p:nvSpPr>
          <p:spPr bwMode="auto">
            <a:xfrm>
              <a:off x="4115162" y="5013176"/>
              <a:ext cx="312906" cy="3693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de-DE" dirty="0">
                  <a:solidFill>
                    <a:srgbClr val="FF0000"/>
                  </a:solidFill>
                </a:rPr>
                <a:t>1</a:t>
              </a:r>
              <a:endParaRPr lang="de-DE" sz="2400" dirty="0">
                <a:latin typeface="Times New Roman" pitchFamily="18" charset="0"/>
              </a:endParaRPr>
            </a:p>
          </p:txBody>
        </p:sp>
        <p:sp>
          <p:nvSpPr>
            <p:cNvPr id="227" name="Text Box 56"/>
            <p:cNvSpPr txBox="1">
              <a:spLocks noChangeArrowheads="1"/>
            </p:cNvSpPr>
            <p:nvPr/>
          </p:nvSpPr>
          <p:spPr bwMode="auto">
            <a:xfrm>
              <a:off x="6228184" y="4941168"/>
              <a:ext cx="312906" cy="3693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de-DE" dirty="0">
                  <a:solidFill>
                    <a:srgbClr val="FF0000"/>
                  </a:solidFill>
                </a:rPr>
                <a:t>1</a:t>
              </a:r>
              <a:endParaRPr lang="de-DE" sz="2400" dirty="0">
                <a:latin typeface="Times New Roman" pitchFamily="18" charset="0"/>
              </a:endParaRPr>
            </a:p>
          </p:txBody>
        </p:sp>
        <p:sp>
          <p:nvSpPr>
            <p:cNvPr id="228" name="Text Box 56"/>
            <p:cNvSpPr txBox="1">
              <a:spLocks noChangeArrowheads="1"/>
            </p:cNvSpPr>
            <p:nvPr/>
          </p:nvSpPr>
          <p:spPr bwMode="auto">
            <a:xfrm>
              <a:off x="8388424" y="4941168"/>
              <a:ext cx="312906" cy="3693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de-DE" dirty="0">
                  <a:solidFill>
                    <a:srgbClr val="FF0000"/>
                  </a:solidFill>
                </a:rPr>
                <a:t>1</a:t>
              </a:r>
              <a:endParaRPr lang="de-DE" sz="2400" dirty="0">
                <a:latin typeface="Times New Roman" pitchFamily="18" charset="0"/>
              </a:endParaRPr>
            </a:p>
          </p:txBody>
        </p:sp>
        <p:sp>
          <p:nvSpPr>
            <p:cNvPr id="229" name="Text Box 52"/>
            <p:cNvSpPr txBox="1">
              <a:spLocks noChangeArrowheads="1"/>
            </p:cNvSpPr>
            <p:nvPr/>
          </p:nvSpPr>
          <p:spPr bwMode="auto">
            <a:xfrm>
              <a:off x="3419872" y="5301208"/>
              <a:ext cx="312737" cy="3698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de-DE" dirty="0">
                  <a:solidFill>
                    <a:srgbClr val="FF0000"/>
                  </a:solidFill>
                </a:rPr>
                <a:t>e</a:t>
              </a:r>
              <a:endParaRPr lang="de-DE" sz="2400" dirty="0">
                <a:latin typeface="Times New Roman" pitchFamily="18" charset="0"/>
              </a:endParaRPr>
            </a:p>
          </p:txBody>
        </p:sp>
        <p:sp>
          <p:nvSpPr>
            <p:cNvPr id="230" name="Text Box 52"/>
            <p:cNvSpPr txBox="1">
              <a:spLocks noChangeArrowheads="1"/>
            </p:cNvSpPr>
            <p:nvPr/>
          </p:nvSpPr>
          <p:spPr bwMode="auto">
            <a:xfrm>
              <a:off x="5508104" y="5157192"/>
              <a:ext cx="312737" cy="3698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de-DE" dirty="0">
                  <a:solidFill>
                    <a:srgbClr val="FF0000"/>
                  </a:solidFill>
                </a:rPr>
                <a:t>e</a:t>
              </a:r>
              <a:endParaRPr lang="de-DE" sz="2400" dirty="0">
                <a:latin typeface="Times New Roman" pitchFamily="18" charset="0"/>
              </a:endParaRPr>
            </a:p>
          </p:txBody>
        </p:sp>
        <p:sp>
          <p:nvSpPr>
            <p:cNvPr id="231" name="Text Box 52"/>
            <p:cNvSpPr txBox="1">
              <a:spLocks noChangeArrowheads="1"/>
            </p:cNvSpPr>
            <p:nvPr/>
          </p:nvSpPr>
          <p:spPr bwMode="auto">
            <a:xfrm>
              <a:off x="7571631" y="5157192"/>
              <a:ext cx="312737" cy="3698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de-DE" dirty="0">
                  <a:solidFill>
                    <a:srgbClr val="FF0000"/>
                  </a:solidFill>
                </a:rPr>
                <a:t>e</a:t>
              </a:r>
              <a:endParaRPr lang="de-DE" sz="2400" dirty="0">
                <a:latin typeface="Times New Roman" pitchFamily="18" charset="0"/>
              </a:endParaRPr>
            </a:p>
          </p:txBody>
        </p:sp>
        <p:sp>
          <p:nvSpPr>
            <p:cNvPr id="232" name="Text Box 56"/>
            <p:cNvSpPr txBox="1">
              <a:spLocks noChangeArrowheads="1"/>
            </p:cNvSpPr>
            <p:nvPr/>
          </p:nvSpPr>
          <p:spPr bwMode="auto">
            <a:xfrm>
              <a:off x="7020272" y="4941168"/>
              <a:ext cx="312906" cy="3693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de-DE" dirty="0">
                  <a:solidFill>
                    <a:srgbClr val="FF0000"/>
                  </a:solidFill>
                </a:rPr>
                <a:t>1</a:t>
              </a:r>
              <a:endParaRPr lang="de-DE" sz="2400" dirty="0">
                <a:latin typeface="Times New Roman" pitchFamily="18" charset="0"/>
              </a:endParaRPr>
            </a:p>
          </p:txBody>
        </p:sp>
        <p:sp>
          <p:nvSpPr>
            <p:cNvPr id="233" name="Text Box 56"/>
            <p:cNvSpPr txBox="1">
              <a:spLocks noChangeArrowheads="1"/>
            </p:cNvSpPr>
            <p:nvPr/>
          </p:nvSpPr>
          <p:spPr bwMode="auto">
            <a:xfrm>
              <a:off x="2699792" y="4941168"/>
              <a:ext cx="312906" cy="3693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de-DE" dirty="0">
                  <a:solidFill>
                    <a:srgbClr val="FF0000"/>
                  </a:solidFill>
                </a:rPr>
                <a:t>1</a:t>
              </a:r>
              <a:endParaRPr lang="de-DE" sz="2400" dirty="0">
                <a:latin typeface="Times New Roman" pitchFamily="18" charset="0"/>
              </a:endParaRPr>
            </a:p>
          </p:txBody>
        </p:sp>
        <p:sp>
          <p:nvSpPr>
            <p:cNvPr id="235" name="Text Box 56"/>
            <p:cNvSpPr txBox="1">
              <a:spLocks noChangeArrowheads="1"/>
            </p:cNvSpPr>
            <p:nvPr/>
          </p:nvSpPr>
          <p:spPr bwMode="auto">
            <a:xfrm>
              <a:off x="4932040" y="5013176"/>
              <a:ext cx="312906" cy="3693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de-DE" dirty="0">
                  <a:solidFill>
                    <a:srgbClr val="FF0000"/>
                  </a:solidFill>
                </a:rPr>
                <a:t>1</a:t>
              </a:r>
              <a:endParaRPr lang="de-DE" sz="2400" dirty="0">
                <a:latin typeface="Times New Roman" pitchFamily="18" charset="0"/>
              </a:endParaRPr>
            </a:p>
          </p:txBody>
        </p:sp>
      </p:grpSp>
    </p:spTree>
    <p:extLst>
      <p:ext uri="{BB962C8B-B14F-4D97-AF65-F5344CB8AC3E}">
        <p14:creationId xmlns:p14="http://schemas.microsoft.com/office/powerpoint/2010/main" val="10679786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65923">
                                            <p:txEl>
                                              <p:pRg st="1" end="1"/>
                                            </p:txEl>
                                          </p:spTgt>
                                        </p:tgtEl>
                                        <p:attrNameLst>
                                          <p:attrName>style.visibility</p:attrName>
                                        </p:attrNameLst>
                                      </p:cBhvr>
                                      <p:to>
                                        <p:strVal val="visible"/>
                                      </p:to>
                                    </p:set>
                                    <p:animEffect transition="in" filter="fade">
                                      <p:cBhvr>
                                        <p:cTn id="7" dur="500"/>
                                        <p:tgtEl>
                                          <p:spTgt spid="465923">
                                            <p:txEl>
                                              <p:pRg st="1" end="1"/>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465923">
                                            <p:txEl>
                                              <p:pRg st="2" end="2"/>
                                            </p:txEl>
                                          </p:spTgt>
                                        </p:tgtEl>
                                        <p:attrNameLst>
                                          <p:attrName>style.visibility</p:attrName>
                                        </p:attrNameLst>
                                      </p:cBhvr>
                                      <p:to>
                                        <p:strVal val="visible"/>
                                      </p:to>
                                    </p:set>
                                    <p:animEffect transition="in" filter="fade">
                                      <p:cBhvr>
                                        <p:cTn id="10" dur="500"/>
                                        <p:tgtEl>
                                          <p:spTgt spid="465923">
                                            <p:txEl>
                                              <p:pRg st="2" end="2"/>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465923">
                                            <p:txEl>
                                              <p:pRg st="3" end="3"/>
                                            </p:txEl>
                                          </p:spTgt>
                                        </p:tgtEl>
                                        <p:attrNameLst>
                                          <p:attrName>style.visibility</p:attrName>
                                        </p:attrNameLst>
                                      </p:cBhvr>
                                      <p:to>
                                        <p:strVal val="visible"/>
                                      </p:to>
                                    </p:set>
                                    <p:animEffect transition="in" filter="fade">
                                      <p:cBhvr>
                                        <p:cTn id="13" dur="500"/>
                                        <p:tgtEl>
                                          <p:spTgt spid="465923">
                                            <p:txEl>
                                              <p:pRg st="3" end="3"/>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465923">
                                            <p:txEl>
                                              <p:pRg st="4" end="4"/>
                                            </p:txEl>
                                          </p:spTgt>
                                        </p:tgtEl>
                                        <p:attrNameLst>
                                          <p:attrName>style.visibility</p:attrName>
                                        </p:attrNameLst>
                                      </p:cBhvr>
                                      <p:to>
                                        <p:strVal val="visible"/>
                                      </p:to>
                                    </p:set>
                                    <p:animEffect transition="in" filter="fade">
                                      <p:cBhvr>
                                        <p:cTn id="18" dur="500"/>
                                        <p:tgtEl>
                                          <p:spTgt spid="465923">
                                            <p:txEl>
                                              <p:pRg st="4" end="4"/>
                                            </p:txEl>
                                          </p:spTgt>
                                        </p:tgtEl>
                                      </p:cBhvr>
                                    </p:animEffect>
                                  </p:childTnLst>
                                </p:cTn>
                              </p:par>
                              <p:par>
                                <p:cTn id="19" presetID="10" presetClass="entr" presetSubtype="0" fill="hold" nodeType="withEffect">
                                  <p:stCondLst>
                                    <p:cond delay="0"/>
                                  </p:stCondLst>
                                  <p:childTnLst>
                                    <p:set>
                                      <p:cBhvr>
                                        <p:cTn id="20" dur="1" fill="hold">
                                          <p:stCondLst>
                                            <p:cond delay="0"/>
                                          </p:stCondLst>
                                        </p:cTn>
                                        <p:tgtEl>
                                          <p:spTgt spid="465923">
                                            <p:txEl>
                                              <p:pRg st="5" end="5"/>
                                            </p:txEl>
                                          </p:spTgt>
                                        </p:tgtEl>
                                        <p:attrNameLst>
                                          <p:attrName>style.visibility</p:attrName>
                                        </p:attrNameLst>
                                      </p:cBhvr>
                                      <p:to>
                                        <p:strVal val="visible"/>
                                      </p:to>
                                    </p:set>
                                    <p:animEffect transition="in" filter="fade">
                                      <p:cBhvr>
                                        <p:cTn id="21" dur="500"/>
                                        <p:tgtEl>
                                          <p:spTgt spid="465923">
                                            <p:txEl>
                                              <p:pRg st="5" end="5"/>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2"/>
                                        </p:tgtEl>
                                        <p:attrNameLst>
                                          <p:attrName>style.visibility</p:attrName>
                                        </p:attrNameLst>
                                      </p:cBhvr>
                                      <p:to>
                                        <p:strVal val="visible"/>
                                      </p:to>
                                    </p:set>
                                    <p:animEffect transition="in" filter="fade">
                                      <p:cBhvr>
                                        <p:cTn id="26"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nummernplatzhalter 1"/>
          <p:cNvSpPr>
            <a:spLocks noGrp="1"/>
          </p:cNvSpPr>
          <p:nvPr>
            <p:ph type="sldNum" sz="quarter" idx="12"/>
          </p:nvPr>
        </p:nvSpPr>
        <p:spPr/>
        <p:txBody>
          <a:bodyPr/>
          <a:lstStyle/>
          <a:p>
            <a:fld id="{6C6AE60A-B69C-4790-82F7-3882EDF23186}" type="slidenum">
              <a:rPr lang="de-DE" smtClean="0"/>
              <a:pPr/>
              <a:t>33</a:t>
            </a:fld>
            <a:endParaRPr lang="de-DE" dirty="0"/>
          </a:p>
        </p:txBody>
      </p:sp>
      <p:sp>
        <p:nvSpPr>
          <p:cNvPr id="3" name="Titel 2"/>
          <p:cNvSpPr>
            <a:spLocks noGrp="1"/>
          </p:cNvSpPr>
          <p:nvPr>
            <p:ph type="title"/>
          </p:nvPr>
        </p:nvSpPr>
        <p:spPr/>
        <p:txBody>
          <a:bodyPr/>
          <a:lstStyle/>
          <a:p>
            <a:r>
              <a:rPr lang="de-DE"/>
              <a:t>Danke.</a:t>
            </a:r>
            <a:endParaRPr lang="de-DE" dirty="0"/>
          </a:p>
        </p:txBody>
      </p:sp>
    </p:spTree>
    <p:extLst>
      <p:ext uri="{BB962C8B-B14F-4D97-AF65-F5344CB8AC3E}">
        <p14:creationId xmlns:p14="http://schemas.microsoft.com/office/powerpoint/2010/main" val="128899598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nummernplatzhalter 1">
            <a:extLst>
              <a:ext uri="{FF2B5EF4-FFF2-40B4-BE49-F238E27FC236}">
                <a16:creationId xmlns:a16="http://schemas.microsoft.com/office/drawing/2014/main" id="{057F26EB-2B3D-4894-A784-BB226C832E45}"/>
              </a:ext>
            </a:extLst>
          </p:cNvPr>
          <p:cNvSpPr>
            <a:spLocks noGrp="1"/>
          </p:cNvSpPr>
          <p:nvPr>
            <p:ph type="sldNum" sz="quarter" idx="12"/>
          </p:nvPr>
        </p:nvSpPr>
        <p:spPr/>
        <p:txBody>
          <a:bodyPr/>
          <a:lstStyle/>
          <a:p>
            <a:fld id="{6C6AE60A-B69C-4790-82F7-3882EDF23186}" type="slidenum">
              <a:rPr lang="de-DE" smtClean="0"/>
              <a:pPr/>
              <a:t>34</a:t>
            </a:fld>
            <a:endParaRPr lang="de-DE" dirty="0"/>
          </a:p>
        </p:txBody>
      </p:sp>
      <p:sp>
        <p:nvSpPr>
          <p:cNvPr id="3" name="Titel 2">
            <a:extLst>
              <a:ext uri="{FF2B5EF4-FFF2-40B4-BE49-F238E27FC236}">
                <a16:creationId xmlns:a16="http://schemas.microsoft.com/office/drawing/2014/main" id="{DD1A78AA-0F13-4E4F-A085-0AADD539978F}"/>
              </a:ext>
            </a:extLst>
          </p:cNvPr>
          <p:cNvSpPr>
            <a:spLocks noGrp="1"/>
          </p:cNvSpPr>
          <p:nvPr>
            <p:ph type="title"/>
          </p:nvPr>
        </p:nvSpPr>
        <p:spPr/>
        <p:txBody>
          <a:bodyPr/>
          <a:lstStyle/>
          <a:p>
            <a:r>
              <a:rPr lang="de-DE" dirty="0"/>
              <a:t>Zusätzliche Folien</a:t>
            </a:r>
            <a:endParaRPr lang="en-US" dirty="0"/>
          </a:p>
        </p:txBody>
      </p:sp>
    </p:spTree>
    <p:extLst>
      <p:ext uri="{BB962C8B-B14F-4D97-AF65-F5344CB8AC3E}">
        <p14:creationId xmlns:p14="http://schemas.microsoft.com/office/powerpoint/2010/main" val="4252310238"/>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FIRSTARTUR@ADJTKIKJTTW835ML" val="3112"/>
</p:tagLst>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keanos">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Larissa Klassisch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keanos">
      <a:fillStyleLst>
        <a:solidFill>
          <a:schemeClr val="phClr"/>
        </a:solidFill>
        <a:gradFill rotWithShape="1">
          <a:gsLst>
            <a:gs pos="0">
              <a:schemeClr val="phClr">
                <a:tint val="45000"/>
                <a:satMod val="200000"/>
              </a:schemeClr>
            </a:gs>
            <a:gs pos="30000">
              <a:schemeClr val="phClr">
                <a:tint val="61000"/>
                <a:satMod val="200000"/>
              </a:schemeClr>
            </a:gs>
            <a:gs pos="45000">
              <a:schemeClr val="phClr">
                <a:tint val="66000"/>
                <a:satMod val="200000"/>
              </a:schemeClr>
            </a:gs>
            <a:gs pos="55000">
              <a:schemeClr val="phClr">
                <a:tint val="66000"/>
                <a:satMod val="200000"/>
              </a:schemeClr>
            </a:gs>
            <a:gs pos="73000">
              <a:schemeClr val="phClr">
                <a:tint val="61000"/>
                <a:satMod val="200000"/>
              </a:schemeClr>
            </a:gs>
            <a:gs pos="100000">
              <a:schemeClr val="phClr">
                <a:tint val="45000"/>
                <a:satMod val="200000"/>
              </a:schemeClr>
            </a:gs>
          </a:gsLst>
          <a:lin ang="950000" scaled="1"/>
        </a:gradFill>
        <a:gradFill rotWithShape="1">
          <a:gsLst>
            <a:gs pos="0">
              <a:schemeClr val="phClr">
                <a:shade val="63000"/>
              </a:schemeClr>
            </a:gs>
            <a:gs pos="30000">
              <a:schemeClr val="phClr">
                <a:shade val="90000"/>
                <a:satMod val="110000"/>
              </a:schemeClr>
            </a:gs>
            <a:gs pos="45000">
              <a:schemeClr val="phClr">
                <a:shade val="100000"/>
                <a:satMod val="118000"/>
              </a:schemeClr>
            </a:gs>
            <a:gs pos="55000">
              <a:schemeClr val="phClr">
                <a:shade val="100000"/>
                <a:satMod val="118000"/>
              </a:schemeClr>
            </a:gs>
            <a:gs pos="73000">
              <a:schemeClr val="phClr">
                <a:shade val="90000"/>
                <a:satMod val="110000"/>
              </a:schemeClr>
            </a:gs>
            <a:gs pos="100000">
              <a:schemeClr val="phClr">
                <a:shade val="63000"/>
              </a:schemeClr>
            </a:gs>
          </a:gsLst>
          <a:lin ang="950000" scaled="1"/>
        </a:gradFill>
      </a:fillStyleLst>
      <a:lnStyleLst>
        <a:ln w="9525"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outerShdw blurRad="38100" dist="25400" dir="5400000" rotWithShape="0">
              <a:srgbClr val="000000">
                <a:alpha val="40000"/>
              </a:srgbClr>
            </a:outerShdw>
          </a:effectLst>
        </a:effectStyle>
        <a:effectStyle>
          <a:effectLst>
            <a:outerShdw blurRad="50800" dist="43000" dir="5400000" rotWithShape="0">
              <a:srgbClr val="000000">
                <a:alpha val="40000"/>
              </a:srgbClr>
            </a:outerShdw>
          </a:effectLst>
          <a:scene3d>
            <a:camera prst="orthographicFront" fov="0">
              <a:rot lat="0" lon="0" rev="0"/>
            </a:camera>
            <a:lightRig rig="balanced" dir="t">
              <a:rot lat="0" lon="0" rev="0"/>
            </a:lightRig>
          </a:scene3d>
          <a:sp3d prstMaterial="matte">
            <a:bevelT w="0" h="0"/>
            <a:contourClr>
              <a:schemeClr val="phClr">
                <a:tint val="100000"/>
                <a:shade val="100000"/>
                <a:hueMod val="100000"/>
                <a:satMod val="100000"/>
              </a:schemeClr>
            </a:contourClr>
          </a:sp3d>
        </a:effectStyle>
        <a:effectStyle>
          <a:effectLst>
            <a:outerShdw blurRad="50800" dist="25400" dir="5400000" rotWithShape="0">
              <a:srgbClr val="000000">
                <a:alpha val="50000"/>
              </a:srgbClr>
            </a:outerShdw>
          </a:effectLst>
          <a:scene3d>
            <a:camera prst="orthographicFront" fov="0">
              <a:rot lat="0" lon="0" rev="0"/>
            </a:camera>
            <a:lightRig rig="soft" dir="t">
              <a:rot lat="0" lon="0" rev="2700000"/>
            </a:lightRig>
          </a:scene3d>
          <a:sp3d prstMaterial="matte">
            <a:bevelT w="50800" h="50800"/>
            <a:contourClr>
              <a:schemeClr val="phClr"/>
            </a:contourClr>
          </a:sp3d>
        </a:effectStyle>
      </a:effectStyleLst>
      <a:bgFillStyleLst>
        <a:solidFill>
          <a:schemeClr val="phClr"/>
        </a:solidFill>
        <a:gradFill rotWithShape="1">
          <a:gsLst>
            <a:gs pos="0">
              <a:schemeClr val="phClr">
                <a:shade val="60000"/>
                <a:satMod val="300000"/>
              </a:schemeClr>
            </a:gs>
            <a:gs pos="30000">
              <a:schemeClr val="phClr">
                <a:shade val="80000"/>
                <a:satMod val="230000"/>
              </a:schemeClr>
            </a:gs>
            <a:gs pos="100000">
              <a:schemeClr val="phClr">
                <a:tint val="97000"/>
                <a:satMod val="220000"/>
              </a:schemeClr>
            </a:gs>
          </a:gsLst>
          <a:lin ang="16200000" scaled="1"/>
        </a:gradFill>
        <a:blipFill>
          <a:blip xmlns:r="http://schemas.openxmlformats.org/officeDocument/2006/relationships" r:embed="rId1">
            <a:duotone>
              <a:schemeClr val="phClr">
                <a:shade val="6000"/>
                <a:satMod val="120000"/>
              </a:schemeClr>
              <a:schemeClr val="phClr">
                <a:tint val="90000"/>
              </a:schemeClr>
            </a:duotone>
          </a:blip>
          <a:tile tx="0" ty="0" sx="35000" sy="40000" flip="x" algn="tl"/>
        </a:blipFill>
      </a:bgFillStyleLst>
    </a:fmtScheme>
  </a:themeElements>
  <a:objectDefaults>
    <a:spDef>
      <a:spPr>
        <a:solidFill>
          <a:srgbClr val="92D050"/>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28575">
          <a:solidFill>
            <a:schemeClr val="tx1"/>
          </a:solidFill>
          <a:headEnd type="none" w="med" len="med"/>
          <a:tailEnd type="arrow" w="med" len="med"/>
        </a:ln>
      </a:spPr>
      <a:bodyPr/>
      <a:lstStyle/>
      <a:style>
        <a:lnRef idx="1">
          <a:schemeClr val="accent1"/>
        </a:lnRef>
        <a:fillRef idx="0">
          <a:schemeClr val="accent1"/>
        </a:fillRef>
        <a:effectRef idx="0">
          <a:schemeClr val="accent1"/>
        </a:effectRef>
        <a:fontRef idx="minor">
          <a:schemeClr val="tx1"/>
        </a:fontRef>
      </a:style>
    </a:lnDef>
  </a:objectDefaults>
  <a:extraClrSchemeLst/>
</a:theme>
</file>

<file path=ppt/theme/theme2.xml><?xml version="1.0" encoding="utf-8"?>
<a:theme xmlns:a="http://schemas.openxmlformats.org/drawingml/2006/main" name="Larissa-Design">
  <a:themeElements>
    <a:clrScheme name="Larissa">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Larissa-Design">
  <a:themeElements>
    <a:clrScheme name="Larissa">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Origin</Template>
  <TotalTime>0</TotalTime>
  <Words>4414</Words>
  <Application>Microsoft Office PowerPoint</Application>
  <PresentationFormat>Bildschirmpräsentation (4:3)</PresentationFormat>
  <Paragraphs>664</Paragraphs>
  <Slides>34</Slides>
  <Notes>16</Notes>
  <HiddenSlides>0</HiddenSlides>
  <MMClips>0</MMClips>
  <ScaleCrop>false</ScaleCrop>
  <HeadingPairs>
    <vt:vector size="8" baseType="variant">
      <vt:variant>
        <vt:lpstr>Verwendete Schriftarten</vt:lpstr>
      </vt:variant>
      <vt:variant>
        <vt:i4>9</vt:i4>
      </vt:variant>
      <vt:variant>
        <vt:lpstr>Design</vt:lpstr>
      </vt:variant>
      <vt:variant>
        <vt:i4>1</vt:i4>
      </vt:variant>
      <vt:variant>
        <vt:lpstr>Eingebettete OLE-Server</vt:lpstr>
      </vt:variant>
      <vt:variant>
        <vt:i4>1</vt:i4>
      </vt:variant>
      <vt:variant>
        <vt:lpstr>Folientitel</vt:lpstr>
      </vt:variant>
      <vt:variant>
        <vt:i4>34</vt:i4>
      </vt:variant>
    </vt:vector>
  </HeadingPairs>
  <TitlesOfParts>
    <vt:vector size="45" baseType="lpstr">
      <vt:lpstr>Arial</vt:lpstr>
      <vt:lpstr>Bitstream Vera Sans</vt:lpstr>
      <vt:lpstr>Calibri</vt:lpstr>
      <vt:lpstr>Consolas</vt:lpstr>
      <vt:lpstr>Courier New</vt:lpstr>
      <vt:lpstr>Times New Roman</vt:lpstr>
      <vt:lpstr>Wingdings</vt:lpstr>
      <vt:lpstr>Wingdings 3</vt:lpstr>
      <vt:lpstr>ZapfDingbats</vt:lpstr>
      <vt:lpstr>Okeanos</vt:lpstr>
      <vt:lpstr>Clip</vt:lpstr>
      <vt:lpstr>Betriebssysteme und Netzwerke Vorlesung N04</vt:lpstr>
      <vt:lpstr>Evaluation der Vorlesung</vt:lpstr>
      <vt:lpstr>Internet-Protokollstapel: Netzwerkschicht</vt:lpstr>
      <vt:lpstr>IP-Adressierung – Netzwerke</vt:lpstr>
      <vt:lpstr>Adressierung von Subnetzen /1</vt:lpstr>
      <vt:lpstr>Router</vt:lpstr>
      <vt:lpstr>Hauptaufgabe des Routers: Weiterleitung</vt:lpstr>
      <vt:lpstr>Forwarding und Routing</vt:lpstr>
      <vt:lpstr>Weiterleitungstabelle</vt:lpstr>
      <vt:lpstr>Weiterleitungstabelle – Kompakt /1</vt:lpstr>
      <vt:lpstr>Weiterleitungstabelle – Kompakt /2</vt:lpstr>
      <vt:lpstr>Weiterleitungstabelle – Kompakt/3: Präfixe</vt:lpstr>
      <vt:lpstr>Weiterleitungstabelle – Kompakt/4: Präfixe</vt:lpstr>
      <vt:lpstr>Router: Longest-Prefix-Matching</vt:lpstr>
      <vt:lpstr>Präfixlänge und Subnetzgröße</vt:lpstr>
      <vt:lpstr>Longest-Prefix-Matching</vt:lpstr>
      <vt:lpstr>Longest-Prefix-Matching: Verwendung</vt:lpstr>
      <vt:lpstr>Beschreibung der Subnetze</vt:lpstr>
      <vt:lpstr>Filius Lernanwendung – z.B. Routing </vt:lpstr>
      <vt:lpstr>Routingalgorithmen  (Netzwerkschicht)</vt:lpstr>
      <vt:lpstr>Routing von Paketen</vt:lpstr>
      <vt:lpstr>Routing und das Weiterleiten</vt:lpstr>
      <vt:lpstr>Abstraktes Graphenmodell eines Computernetzwerkes</vt:lpstr>
      <vt:lpstr>Abstraktes Graphenmodell: Definitionen</vt:lpstr>
      <vt:lpstr>Klassifikation von Routing-Algorithmen</vt:lpstr>
      <vt:lpstr>Routingalgorithmen: Link-State-Algorithmen (LS)</vt:lpstr>
      <vt:lpstr>Ein Link-State-Algorithmus </vt:lpstr>
      <vt:lpstr>Dijkstra-Visualisierung</vt:lpstr>
      <vt:lpstr>Dijkstra-Algorithmus</vt:lpstr>
      <vt:lpstr>Dijkstra-Algorithmus: Beispiel</vt:lpstr>
      <vt:lpstr>Dijkstra-Algorithmus: Beispiel /2</vt:lpstr>
      <vt:lpstr>Dijkstra-Algorithmus - Diskussion</vt:lpstr>
      <vt:lpstr>Danke.</vt:lpstr>
      <vt:lpstr>Zusätzliche Folien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VL Betriebssysteme und Netzwerke</dc:title>
  <dc:creator>Artur Andrzejak</dc:creator>
  <cp:lastModifiedBy>Artur Andrzejak</cp:lastModifiedBy>
  <cp:revision>3998</cp:revision>
  <cp:lastPrinted>2025-06-30T10:51:03Z</cp:lastPrinted>
  <dcterms:created xsi:type="dcterms:W3CDTF">2009-04-16T23:00:57Z</dcterms:created>
  <dcterms:modified xsi:type="dcterms:W3CDTF">2026-06-24T10:48:57Z</dcterms:modified>
</cp:coreProperties>
</file>