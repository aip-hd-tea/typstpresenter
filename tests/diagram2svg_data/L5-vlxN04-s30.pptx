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36"/>
  </p:notesMasterIdLst>
  <p:handoutMasterIdLst>
    <p:handoutMasterId r:id="rId37"/>
  </p:handoutMasterIdLst>
  <p:sldIdLst>
    <p:sldId id="1687" r:id="rId31"/>
  </p:sldIdLst>
  <p:sldSz cx="9144000" cy="6858000" type="screen4x3"/>
  <p:notesSz cx="7104063" cy="10234613"/>
  <p:custDataLst>
    <p:tags r:id="rId3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FFC000"/>
    <a:srgbClr val="FF0000"/>
    <a:srgbClr val="AC8300"/>
    <a:srgbClr val="00B050"/>
    <a:srgbClr val="F22E33"/>
    <a:srgbClr val="004376"/>
    <a:srgbClr val="B40000"/>
    <a:srgbClr val="8080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vertBarState="maximized">
    <p:restoredLeft sz="15492" autoAdjust="0"/>
    <p:restoredTop sz="95749" autoAdjust="0"/>
  </p:normalViewPr>
  <p:slideViewPr>
    <p:cSldViewPr>
      <p:cViewPr varScale="1">
        <p:scale>
          <a:sx n="70" d="100"/>
          <a:sy n="70" d="100"/>
        </p:scale>
        <p:origin x="476" y="52"/>
      </p:cViewPr>
      <p:guideLst>
        <p:guide orient="horz" pos="2160"/>
        <p:guide pos="1020"/>
      </p:guideLst>
    </p:cSldViewPr>
  </p:slideViewPr>
  <p:notesTextViewPr>
    <p:cViewPr>
      <p:scale>
        <a:sx n="3" d="2"/>
        <a:sy n="3" d="2"/>
      </p:scale>
      <p:origin x="0" y="0"/>
    </p:cViewPr>
  </p:notesTextViewPr>
  <p:sorterViewPr>
    <p:cViewPr>
      <p:scale>
        <a:sx n="101" d="100"/>
        <a:sy n="101" d="100"/>
      </p:scale>
      <p:origin x="0" y="-953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tags" Target="tags/tag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3"/>
            <a:ext cx="3078427" cy="511731"/>
          </a:xfrm>
          <a:prstGeom prst="rect">
            <a:avLst/>
          </a:prstGeom>
        </p:spPr>
        <p:txBody>
          <a:bodyPr vert="horz" lIns="95489" tIns="47744" rIns="95489" bIns="47744" rtlCol="0"/>
          <a:lstStyle>
            <a:lvl1pPr algn="l">
              <a:defRPr sz="1400"/>
            </a:lvl1pPr>
          </a:lstStyle>
          <a:p>
            <a:endParaRPr lang="de-DE" dirty="0"/>
          </a:p>
        </p:txBody>
      </p:sp>
      <p:sp>
        <p:nvSpPr>
          <p:cNvPr id="3" name="Datumsplatzhalter 2"/>
          <p:cNvSpPr>
            <a:spLocks noGrp="1"/>
          </p:cNvSpPr>
          <p:nvPr>
            <p:ph type="dt" sz="quarter" idx="1"/>
          </p:nvPr>
        </p:nvSpPr>
        <p:spPr>
          <a:xfrm>
            <a:off x="4023994" y="3"/>
            <a:ext cx="3078427" cy="511731"/>
          </a:xfrm>
          <a:prstGeom prst="rect">
            <a:avLst/>
          </a:prstGeom>
        </p:spPr>
        <p:txBody>
          <a:bodyPr vert="horz" lIns="95489" tIns="47744" rIns="95489" bIns="47744" rtlCol="0"/>
          <a:lstStyle>
            <a:lvl1pPr algn="r">
              <a:defRPr sz="1400"/>
            </a:lvl1pPr>
          </a:lstStyle>
          <a:p>
            <a:fld id="{503D259A-BC5A-44A4-AF17-09BFC30AC7B9}" type="datetimeFigureOut">
              <a:rPr lang="de-DE" smtClean="0"/>
              <a:pPr/>
              <a:t>24.06.2026</a:t>
            </a:fld>
            <a:endParaRPr lang="de-DE" dirty="0"/>
          </a:p>
        </p:txBody>
      </p:sp>
      <p:sp>
        <p:nvSpPr>
          <p:cNvPr id="4" name="Fußzeilenplatzhalter 3"/>
          <p:cNvSpPr>
            <a:spLocks noGrp="1"/>
          </p:cNvSpPr>
          <p:nvPr>
            <p:ph type="ftr" sz="quarter" idx="2"/>
          </p:nvPr>
        </p:nvSpPr>
        <p:spPr>
          <a:xfrm>
            <a:off x="2" y="9721110"/>
            <a:ext cx="3078427" cy="511731"/>
          </a:xfrm>
          <a:prstGeom prst="rect">
            <a:avLst/>
          </a:prstGeom>
        </p:spPr>
        <p:txBody>
          <a:bodyPr vert="horz" lIns="95489" tIns="47744" rIns="95489" bIns="47744" rtlCol="0" anchor="b"/>
          <a:lstStyle>
            <a:lvl1pPr algn="l">
              <a:defRPr sz="1400"/>
            </a:lvl1pPr>
          </a:lstStyle>
          <a:p>
            <a:endParaRPr lang="de-DE" dirty="0"/>
          </a:p>
        </p:txBody>
      </p:sp>
      <p:sp>
        <p:nvSpPr>
          <p:cNvPr id="5" name="Foliennummernplatzhalter 4"/>
          <p:cNvSpPr>
            <a:spLocks noGrp="1"/>
          </p:cNvSpPr>
          <p:nvPr>
            <p:ph type="sldNum" sz="quarter" idx="3"/>
          </p:nvPr>
        </p:nvSpPr>
        <p:spPr>
          <a:xfrm>
            <a:off x="4023994" y="9721110"/>
            <a:ext cx="3078427" cy="511731"/>
          </a:xfrm>
          <a:prstGeom prst="rect">
            <a:avLst/>
          </a:prstGeom>
        </p:spPr>
        <p:txBody>
          <a:bodyPr vert="horz" lIns="95489" tIns="47744" rIns="95489" bIns="47744" rtlCol="0" anchor="b"/>
          <a:lstStyle>
            <a:lvl1pPr algn="r">
              <a:defRPr sz="1400"/>
            </a:lvl1pPr>
          </a:lstStyle>
          <a:p>
            <a:fld id="{69916C2F-BC73-49DB-9119-EC35D25111C2}" type="slidenum">
              <a:rPr lang="de-DE" smtClean="0"/>
              <a:pPr/>
              <a:t>‹Nr.›</a:t>
            </a:fld>
            <a:endParaRPr lang="de-DE" dirty="0"/>
          </a:p>
        </p:txBody>
      </p:sp>
    </p:spTree>
    <p:extLst>
      <p:ext uri="{BB962C8B-B14F-4D97-AF65-F5344CB8AC3E}">
        <p14:creationId xmlns:p14="http://schemas.microsoft.com/office/powerpoint/2010/main" val="772789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3"/>
            <a:ext cx="3078427" cy="511731"/>
          </a:xfrm>
          <a:prstGeom prst="rect">
            <a:avLst/>
          </a:prstGeom>
        </p:spPr>
        <p:txBody>
          <a:bodyPr vert="horz" lIns="95489" tIns="47744" rIns="95489" bIns="47744" rtlCol="0"/>
          <a:lstStyle>
            <a:lvl1pPr algn="l">
              <a:defRPr sz="1400"/>
            </a:lvl1pPr>
          </a:lstStyle>
          <a:p>
            <a:endParaRPr lang="en-US" dirty="0"/>
          </a:p>
        </p:txBody>
      </p:sp>
      <p:sp>
        <p:nvSpPr>
          <p:cNvPr id="3" name="Datumsplatzhalter 2"/>
          <p:cNvSpPr>
            <a:spLocks noGrp="1"/>
          </p:cNvSpPr>
          <p:nvPr>
            <p:ph type="dt" idx="1"/>
          </p:nvPr>
        </p:nvSpPr>
        <p:spPr>
          <a:xfrm>
            <a:off x="4023994" y="3"/>
            <a:ext cx="3078427" cy="511731"/>
          </a:xfrm>
          <a:prstGeom prst="rect">
            <a:avLst/>
          </a:prstGeom>
        </p:spPr>
        <p:txBody>
          <a:bodyPr vert="horz" lIns="95489" tIns="47744" rIns="95489" bIns="47744" rtlCol="0"/>
          <a:lstStyle>
            <a:lvl1pPr algn="r">
              <a:defRPr sz="1400"/>
            </a:lvl1pPr>
          </a:lstStyle>
          <a:p>
            <a:fld id="{4007A66C-EE28-4ADD-A611-42716BED3A40}" type="datetimeFigureOut">
              <a:rPr lang="en-US" smtClean="0"/>
              <a:pPr/>
              <a:t>6/24/2026</a:t>
            </a:fld>
            <a:endParaRPr lang="en-US" dirty="0"/>
          </a:p>
        </p:txBody>
      </p:sp>
      <p:sp>
        <p:nvSpPr>
          <p:cNvPr id="4" name="Folienbildplatzhalter 3"/>
          <p:cNvSpPr>
            <a:spLocks noGrp="1" noRot="1" noChangeAspect="1"/>
          </p:cNvSpPr>
          <p:nvPr>
            <p:ph type="sldImg" idx="2"/>
          </p:nvPr>
        </p:nvSpPr>
        <p:spPr>
          <a:xfrm>
            <a:off x="992188" y="766763"/>
            <a:ext cx="5119687" cy="3838575"/>
          </a:xfrm>
          <a:prstGeom prst="rect">
            <a:avLst/>
          </a:prstGeom>
          <a:noFill/>
          <a:ln w="12700">
            <a:solidFill>
              <a:prstClr val="black"/>
            </a:solidFill>
          </a:ln>
        </p:spPr>
        <p:txBody>
          <a:bodyPr vert="horz" lIns="95489" tIns="47744" rIns="95489" bIns="47744" rtlCol="0" anchor="ctr"/>
          <a:lstStyle/>
          <a:p>
            <a:endParaRPr lang="en-US" dirty="0"/>
          </a:p>
        </p:txBody>
      </p:sp>
      <p:sp>
        <p:nvSpPr>
          <p:cNvPr id="5" name="Notizenplatzhalter 4"/>
          <p:cNvSpPr>
            <a:spLocks noGrp="1"/>
          </p:cNvSpPr>
          <p:nvPr>
            <p:ph type="body" sz="quarter" idx="3"/>
          </p:nvPr>
        </p:nvSpPr>
        <p:spPr>
          <a:xfrm>
            <a:off x="710410" y="4861442"/>
            <a:ext cx="5683249" cy="4605574"/>
          </a:xfrm>
          <a:prstGeom prst="rect">
            <a:avLst/>
          </a:prstGeom>
        </p:spPr>
        <p:txBody>
          <a:bodyPr vert="horz" lIns="95489" tIns="47744" rIns="95489" bIns="47744"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2" y="9721110"/>
            <a:ext cx="3078427" cy="511731"/>
          </a:xfrm>
          <a:prstGeom prst="rect">
            <a:avLst/>
          </a:prstGeom>
        </p:spPr>
        <p:txBody>
          <a:bodyPr vert="horz" lIns="95489" tIns="47744" rIns="95489" bIns="47744" rtlCol="0" anchor="b"/>
          <a:lstStyle>
            <a:lvl1pPr algn="l">
              <a:defRPr sz="1400"/>
            </a:lvl1pPr>
          </a:lstStyle>
          <a:p>
            <a:endParaRPr lang="en-US" dirty="0"/>
          </a:p>
        </p:txBody>
      </p:sp>
      <p:sp>
        <p:nvSpPr>
          <p:cNvPr id="7" name="Foliennummernplatzhalter 6"/>
          <p:cNvSpPr>
            <a:spLocks noGrp="1"/>
          </p:cNvSpPr>
          <p:nvPr>
            <p:ph type="sldNum" sz="quarter" idx="5"/>
          </p:nvPr>
        </p:nvSpPr>
        <p:spPr>
          <a:xfrm>
            <a:off x="4023994" y="9721110"/>
            <a:ext cx="3078427" cy="511731"/>
          </a:xfrm>
          <a:prstGeom prst="rect">
            <a:avLst/>
          </a:prstGeom>
        </p:spPr>
        <p:txBody>
          <a:bodyPr vert="horz" lIns="95489" tIns="47744" rIns="95489" bIns="47744" rtlCol="0" anchor="b"/>
          <a:lstStyle>
            <a:lvl1pPr algn="r">
              <a:defRPr sz="1400"/>
            </a:lvl1pPr>
          </a:lstStyle>
          <a:p>
            <a:fld id="{6D176CDC-8D0E-409F-856B-BAE38288A8E4}" type="slidenum">
              <a:rPr lang="en-US" smtClean="0"/>
              <a:pPr/>
              <a:t>‹Nr.›</a:t>
            </a:fld>
            <a:endParaRPr lang="en-US" dirty="0"/>
          </a:p>
        </p:txBody>
      </p:sp>
    </p:spTree>
    <p:extLst>
      <p:ext uri="{BB962C8B-B14F-4D97-AF65-F5344CB8AC3E}">
        <p14:creationId xmlns:p14="http://schemas.microsoft.com/office/powerpoint/2010/main" val="1060508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acc6.its.brooklyn.cuny.edu/~gurwitz/core5/nav2tool.html"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7500" lnSpcReduction="20000"/>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Gesamtheit der Protokolle der verschiedenen Schichten wird als Protokollstapel </a:t>
            </a:r>
            <a:r>
              <a:rPr lang="de-DE" sz="1200" b="0" i="1" u="none" strike="noStrike" kern="1200" baseline="0" dirty="0">
                <a:solidFill>
                  <a:schemeClr val="tx1"/>
                </a:solidFill>
                <a:latin typeface="+mn-lt"/>
                <a:ea typeface="+mn-ea"/>
                <a:cs typeface="+mn-cs"/>
              </a:rPr>
              <a:t>(protocol stack) </a:t>
            </a:r>
            <a:r>
              <a:rPr lang="de-DE" sz="1200" b="0" i="0" u="none" strike="noStrike" kern="1200" baseline="0" dirty="0">
                <a:solidFill>
                  <a:schemeClr val="tx1"/>
                </a:solidFill>
                <a:latin typeface="+mn-lt"/>
                <a:ea typeface="+mn-ea"/>
                <a:cs typeface="+mn-cs"/>
              </a:rPr>
              <a:t>bezeichnet. Wie in  Abbildung  gezeigt, besteht der Internet Pro-tokollstapel aus fünf Schichten: Bitübertragungsschicht, Sicherungsschicht, Netzwerkschicht, Transportschicht und Anwendungsschicht. Betrachten Sie das Inhalts-verzeichnis, werden Sie feststellen, dass wir dieses Buch mithilfe der Schichten des Internet-Protokollstapels strukturiert haben. Mit unserem Top-Down-Ansatz beginnen wir bei der Anwendungsschicht und dringen von dort aus tiefer vor. </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Eine Protokollschicht kann in Software, in Hardware oder in einer Kombination der beiden implementiert werden. Protokolle der Anwendungsschicht </a:t>
            </a:r>
            <a:r>
              <a:rPr lang="de-DE" sz="1200" b="0" i="1" u="none" strike="noStrike" kern="1200" baseline="0" dirty="0">
                <a:solidFill>
                  <a:schemeClr val="tx1"/>
                </a:solidFill>
                <a:latin typeface="+mn-lt"/>
                <a:ea typeface="+mn-ea"/>
                <a:cs typeface="+mn-cs"/>
              </a:rPr>
              <a:t>(application layer)- </a:t>
            </a:r>
            <a:r>
              <a:rPr lang="de-DE" sz="1200" b="0" i="0" u="none" strike="noStrike" kern="1200" baseline="0" dirty="0">
                <a:solidFill>
                  <a:schemeClr val="tx1"/>
                </a:solidFill>
                <a:latin typeface="+mn-lt"/>
                <a:ea typeface="+mn-ea"/>
                <a:cs typeface="+mn-cs"/>
              </a:rPr>
              <a:t>wie HTTP und SMTP - sind fast immer in der Software der Endsysteme untergebracht, genauso wie die Protokolle der Transportschicht </a:t>
            </a:r>
            <a:r>
              <a:rPr lang="de-DE" sz="1200" b="0" i="1" u="none" strike="noStrike" kern="1200" baseline="0" dirty="0">
                <a:solidFill>
                  <a:schemeClr val="tx1"/>
                </a:solidFill>
                <a:latin typeface="+mn-lt"/>
                <a:ea typeface="+mn-ea"/>
                <a:cs typeface="+mn-cs"/>
              </a:rPr>
              <a:t>(transport layer). </a:t>
            </a:r>
            <a:r>
              <a:rPr lang="de-DE" sz="1200" b="0" i="0" u="none" strike="noStrike" kern="1200" baseline="0" dirty="0">
                <a:solidFill>
                  <a:schemeClr val="tx1"/>
                </a:solidFill>
                <a:latin typeface="+mn-lt"/>
                <a:ea typeface="+mn-ea"/>
                <a:cs typeface="+mn-cs"/>
              </a:rPr>
              <a:t>Weil die Bitübertragungsschicht </a:t>
            </a:r>
            <a:r>
              <a:rPr lang="de-DE" sz="1200" b="0" i="1" u="none" strike="noStrike" kern="1200" baseline="0" dirty="0">
                <a:solidFill>
                  <a:schemeClr val="tx1"/>
                </a:solidFill>
                <a:latin typeface="+mn-lt"/>
                <a:ea typeface="+mn-ea"/>
                <a:cs typeface="+mn-cs"/>
              </a:rPr>
              <a:t>(physical layer) </a:t>
            </a:r>
            <a:r>
              <a:rPr lang="de-DE" sz="1200" b="0" i="0" u="none" strike="noStrike" kern="1200" baseline="0" dirty="0">
                <a:solidFill>
                  <a:schemeClr val="tx1"/>
                </a:solidFill>
                <a:latin typeface="+mn-lt"/>
                <a:ea typeface="+mn-ea"/>
                <a:cs typeface="+mn-cs"/>
              </a:rPr>
              <a:t>und die Sicherungsschicht </a:t>
            </a:r>
            <a:r>
              <a:rPr lang="de-DE" sz="1200" b="0" i="1" u="none" strike="noStrike" kern="1200" baseline="0" dirty="0">
                <a:solidFill>
                  <a:schemeClr val="tx1"/>
                </a:solidFill>
                <a:latin typeface="+mn-lt"/>
                <a:ea typeface="+mn-ea"/>
                <a:cs typeface="+mn-cs"/>
              </a:rPr>
              <a:t>{data link layer) </a:t>
            </a:r>
            <a:r>
              <a:rPr lang="de-DE" sz="1200" b="0" i="0" u="none" strike="noStrike" kern="1200" baseline="0" dirty="0">
                <a:solidFill>
                  <a:schemeClr val="tx1"/>
                </a:solidFill>
                <a:latin typeface="+mn-lt"/>
                <a:ea typeface="+mn-ea"/>
                <a:cs typeface="+mn-cs"/>
              </a:rPr>
              <a:t>für die Kommunikation über eine bestimmte Leitungsart verantwortlich sind, werden sie normalerweise in einer Netzwerkkarte untergebracht, die für eine bestimmte Leitungsart geeignet ist (zum Beispiel Ethernet- oder WLAN-Netzwerkkarten). Die Netzwerkschicht </a:t>
            </a:r>
            <a:r>
              <a:rPr lang="de-DE" sz="1200" b="0" i="1" u="none" strike="noStrike" kern="1200" baseline="0" dirty="0">
                <a:solidFill>
                  <a:schemeClr val="tx1"/>
                </a:solidFill>
                <a:latin typeface="+mn-lt"/>
                <a:ea typeface="+mn-ea"/>
                <a:cs typeface="+mn-cs"/>
              </a:rPr>
              <a:t>(network layer) </a:t>
            </a:r>
            <a:r>
              <a:rPr lang="de-DE" sz="1200" b="0" i="0" u="none" strike="noStrike" kern="1200" baseline="0" dirty="0">
                <a:solidFill>
                  <a:schemeClr val="tx1"/>
                </a:solidFill>
                <a:latin typeface="+mn-lt"/>
                <a:ea typeface="+mn-ea"/>
                <a:cs typeface="+mn-cs"/>
              </a:rPr>
              <a:t>ist oft eine Mischung aus Hardware und Software. </a:t>
            </a:r>
          </a:p>
          <a:p>
            <a:endParaRPr lang="de-DE" dirty="0"/>
          </a:p>
          <a:p>
            <a:r>
              <a:rPr lang="de-DE" dirty="0"/>
              <a:t>--------------</a:t>
            </a:r>
          </a:p>
          <a:p>
            <a:r>
              <a:rPr lang="de-DE" sz="1200" b="1" i="0" u="none" strike="noStrike" kern="1200" baseline="0" dirty="0">
                <a:solidFill>
                  <a:schemeClr val="tx1"/>
                </a:solidFill>
                <a:latin typeface="+mn-lt"/>
                <a:ea typeface="+mn-ea"/>
                <a:cs typeface="+mn-cs"/>
              </a:rPr>
              <a:t>Anwendungsschicht </a:t>
            </a:r>
            <a:r>
              <a:rPr lang="de-DE" sz="1200" b="0" i="0" u="none" strike="noStrike" kern="1200" baseline="0" dirty="0">
                <a:solidFill>
                  <a:schemeClr val="tx1"/>
                </a:solidFill>
                <a:latin typeface="+mn-lt"/>
                <a:ea typeface="+mn-ea"/>
                <a:cs typeface="+mn-cs"/>
              </a:rPr>
              <a:t>In der Anwendungsschicht sind Netzanwendungen und ihre Protokolle beheimatet. Die Anwendungsschicht des Internets enthält viele Protokolle wie z.B. das HTTP-Pro-tokoll (das die Anforderung und Übertragung von Webdokumenten ermöglicht), SMTP (das die Übertragung von E-Mails steuert) und FTP (für die Übertragung von Dateien zwischen zwei Endsystemen). Wir werden noch sehen, dass bestimmte Netz-werkfunktionen ebenfalls mithilfe eines Anwendungsschicht-Protokolls durchgeführt werden, etwa die Übersetzung von leserfreundlichen Namen für Internetendsysteme wie </a:t>
            </a:r>
            <a:r>
              <a:rPr lang="de-DE" sz="1200" b="0" i="1" u="none" strike="noStrike" kern="1200" baseline="0" dirty="0">
                <a:solidFill>
                  <a:schemeClr val="tx1"/>
                </a:solidFill>
                <a:latin typeface="+mn-lt"/>
                <a:ea typeface="+mn-ea"/>
                <a:cs typeface="+mn-cs"/>
              </a:rPr>
              <a:t>www.ietf.org </a:t>
            </a:r>
            <a:r>
              <a:rPr lang="de-DE" sz="1200" b="0" i="0" u="none" strike="noStrike" kern="1200" baseline="0" dirty="0">
                <a:solidFill>
                  <a:schemeClr val="tx1"/>
                </a:solidFill>
                <a:latin typeface="+mn-lt"/>
                <a:ea typeface="+mn-ea"/>
                <a:cs typeface="+mn-cs"/>
              </a:rPr>
              <a:t>in eine 32 Bit-Netzadresse durch das Domain Name System (DNS). Wir werden in Kapitel 2 erfahren, dass eigene Anwendungsschichtprotokolle sehr einfach erzeugt und eingesetzt werden können. Ein Anwendungsschichtprotokoll verteilt sich über mehrere Endsysteme hinweg, wobei eine Anwendung auf einem Endsystem das Protokoll benutzt, um Informati-onspakete mit Anwendungen auf einem anderen Endsystem auszutauschen. Wir nen-nen dieses Informationspaket der Anwendungsschicht eine Nachricht.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Transportschicht </a:t>
            </a:r>
            <a:endParaRPr lang="de-DE" sz="1200" b="0" i="0" u="none" strike="noStrike" kern="1200" baseline="0" dirty="0">
              <a:solidFill>
                <a:schemeClr val="tx1"/>
              </a:solidFill>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b="0" i="0" u="none" strike="noStrike" kern="1200" baseline="0" dirty="0">
                <a:solidFill>
                  <a:schemeClr val="tx1"/>
                </a:solidFill>
                <a:latin typeface="+mn-lt"/>
                <a:ea typeface="+mn-ea"/>
                <a:cs typeface="+mn-cs"/>
              </a:rPr>
              <a:t>Die Transportschicht des Internets überträgt Nachrichten der Anwendungsschicht zwischen Endpunkten von Anwendungen. Im Internet gibt es die beiden TransportprotokolleTCPundUDP,diebeideNachrichtenderAnwendungsschicht transportieren können.TCPbietetdenAnwendungen einenverbindungsorientiertenDienstan.Dieser Dienst beinhaltet die garantierte Zustellung von Nachrichten der Anwendungsschicht zum Ziel sowie eine Flusskontrolle (das heißt, die Geschwindigkeiten von SenderundEmpfängerwerdeneinanderangepasst).TCPzerlegtlangeNachrichten in kürzere Segmente und liefert zudem einen Überlastkontrollmechanismus, so dass eine Quelle ihre Übertragungsgeschwindigkeit zurückfahren kann, wenn das Netz überlastet ist. Das UDP-Protokoll bietet Anwendungen dagegen einen verbindungslosen Dienst. Dies ist ein Dienst ohne jedeA Schnickschnack, der weder Zuverlässigkeit, Flusskontrolle noch Überlastkontrolle beinhaltet. In diesem Buch nennen wir ein Paket der Transportschicht ein Segment.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Netzwerkschicht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Pakete der Netzwerkschicht, die als Data-gramme bezeichnet werden, von einem Host zu einem anderen. Genau wie Sie einen Brief mit einer Zieladresse an den Postdienst geben würden, reicht das Transportschichtprotokoll (TCP oder UDP) eines Quellsystem sein Segment der Transportschicht und eine Zieladresse an die Netzwerkschicht weiter. DieNetzwerkschicht erbringtdann der Transportschicht ihren Dienst und liefert das Segment an den Zielhost. </a:t>
            </a:r>
          </a:p>
          <a:p>
            <a:r>
              <a:rPr lang="de-DE" sz="1200" b="0" i="0" u="none" strike="noStrike" kern="1200" baseline="0" dirty="0">
                <a:solidFill>
                  <a:schemeClr val="tx1"/>
                </a:solidFill>
                <a:latin typeface="+mn-lt"/>
                <a:ea typeface="+mn-ea"/>
                <a:cs typeface="+mn-cs"/>
              </a:rPr>
              <a:t>Die Netzwerkschicht des Internets beinhaltet das bekannte IP-Protokoll, das die Felder im Datagramm definiert und auch die Reaktion der Endsysteme und Router auf dieseFelderfestlegt. EsgibtnureinIP-ProtokollundalleKomponenten desInternets, die eine Netzwerkschicht besitzen, müssen das IP-Protokoll verwenden. Die Netzwerkschicht des Internets enthält auch Routing-Protokolle, welche die Wege bestimmen, die Datagramme zwischen Quelle und Ziel einschlagen. Allerdings hat das Internet viele Routing-Protokolle. Wie wir in Abschnitt 1.3 gesehen haben, ist das Internet ein Netz von Netzwerken und innerhalb eines Netzes kann der Netzadministrator jedes beliebige Routing-Protokoll einsetzen. Obwohl die Netzwerkschicht sowohl das IP-Protokoll als auch zahlreiche Routing-Protokolle enthält, wird es oft einfach die IP-Schicht genannt, was der Tatsache Rechnung trägt, dass IP der Leim ist, der das Internet zusammenhält. </a:t>
            </a:r>
          </a:p>
          <a:p>
            <a:r>
              <a:rPr lang="de-DE" sz="1200" b="0" i="0" u="none" strike="noStrike" kern="1200" baseline="0" dirty="0">
                <a:solidFill>
                  <a:schemeClr val="tx1"/>
                </a:solidFill>
                <a:latin typeface="+mn-lt"/>
                <a:ea typeface="+mn-ea"/>
                <a:cs typeface="+mn-cs"/>
              </a:rPr>
              <a:t>-------------------------</a:t>
            </a:r>
          </a:p>
          <a:p>
            <a:r>
              <a:rPr lang="de-DE" sz="1200" b="1" i="0" u="none" strike="noStrike" kern="1200" baseline="0" dirty="0">
                <a:solidFill>
                  <a:schemeClr val="tx1"/>
                </a:solidFill>
                <a:latin typeface="+mn-lt"/>
                <a:ea typeface="+mn-ea"/>
                <a:cs typeface="+mn-cs"/>
              </a:rPr>
              <a:t>Sicherungsschicht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Die Netzwerkschicht des Internets leitet ein Datagramm über eine Reihe von Routern von der Quelle zum Ziel. Um ein Paket von einem Knoten (einem Host oder einem Router) zum nächsten Knoten zu bringen, verlässt sich die Netzwerkschicht auf die Dienste der Sicherungs schicht. Insbesondere leitet die Netzwerkschicht an jedem Knoten das Datagramm zur Sicherungsschicht, die es zum nächsten Knoten entlang der Strecke schickt. An diesem nächsten Knoten reicht die Sicherungsschicht das Datagramm dann zur Netzwerkschicht zurück. Die von der Sicherungs schicht erbrachten Dienste hängen vom jeweiligen Protokoll der Sicherungsschicht ab, das auf dieser Leitung aktiv ist. Zum Beispiel bieten einige Sicherungsschichtprotokolle die zuverlässige Übertragung vom sendenden Knoten über eine Leitung zum empfangenden Knoten. Beachten Sie bitte, dass diese Art der zuverlässigen Übertragung etwas anderes ist als die zuverlässige Übertragung von TCP -Letztere gewährleistet die zuverlässige Übertragung von einem Endsystem zu einem anderen. Beispiele für Protokolle der Sicherungsschicht sind Ethernet, WLAN und das Point-to-Point Protocol (PPP). Da Datagramme normalerweise mehrere Leitungen auf ihrem Wegvon der Quelle zu ihrem Zielort durchqueren, kann ein Datagramm von verschiedenen Sicherungsschichtprotokollen über verschiedene Leitungen übertragen werden. Zum Beispiel kann ein Datagramm über eine Leitung mittels Ethernet, über eine andere aber mittels PPP übertragen werden. In diesem Buch bezeichnen wir die Pakete der Sicherungsschicht als Rahmen </a:t>
            </a:r>
            <a:r>
              <a:rPr lang="de-DE" sz="1200" b="0" i="1" u="none" strike="noStrike" kern="1200" baseline="0" dirty="0">
                <a:solidFill>
                  <a:schemeClr val="tx1"/>
                </a:solidFill>
                <a:latin typeface="+mn-lt"/>
                <a:ea typeface="+mn-ea"/>
                <a:cs typeface="+mn-cs"/>
              </a:rPr>
              <a:t>(Frames). </a:t>
            </a:r>
          </a:p>
          <a:p>
            <a:endParaRPr lang="de-DE" sz="1200" b="0" i="0" u="none" strike="noStrike" kern="1200" baseline="0" dirty="0">
              <a:solidFill>
                <a:schemeClr val="tx1"/>
              </a:solidFill>
              <a:latin typeface="+mn-lt"/>
              <a:ea typeface="+mn-ea"/>
              <a:cs typeface="+mn-cs"/>
            </a:endParaRPr>
          </a:p>
          <a:p>
            <a:r>
              <a:rPr lang="de-DE" sz="1200" b="1" i="0" u="none" strike="noStrike" kern="1200" baseline="0" dirty="0">
                <a:solidFill>
                  <a:schemeClr val="tx1"/>
                </a:solidFill>
                <a:latin typeface="+mn-lt"/>
                <a:ea typeface="+mn-ea"/>
                <a:cs typeface="+mn-cs"/>
              </a:rPr>
              <a:t>Bitübertragungsschicht </a:t>
            </a:r>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Während die Aufgabe der Sicherungsschicht darin liegt, komplette Rahmen von einem Element des Netzwerkes zu einem benachbarten Element zu transportieren, befasst sich die Bitübertragungsschicht damit, die </a:t>
            </a:r>
            <a:r>
              <a:rPr lang="de-DE" sz="1200" b="0" i="1" u="none" strike="noStrike" kern="1200" baseline="0" dirty="0">
                <a:solidFill>
                  <a:schemeClr val="tx1"/>
                </a:solidFill>
                <a:latin typeface="+mn-lt"/>
                <a:ea typeface="+mn-ea"/>
                <a:cs typeface="+mn-cs"/>
              </a:rPr>
              <a:t>einzelnen Bits </a:t>
            </a:r>
            <a:r>
              <a:rPr lang="de-DE" sz="1200" b="0" i="0" u="none" strike="noStrike" kern="1200" baseline="0" dirty="0">
                <a:solidFill>
                  <a:schemeClr val="tx1"/>
                </a:solidFill>
                <a:latin typeface="+mn-lt"/>
                <a:ea typeface="+mn-ea"/>
                <a:cs typeface="+mn-cs"/>
              </a:rPr>
              <a:t>innerhalb eines Rahmens von einem Knoten zum nächsten zu übermitteln. Die Protokolle in dieser Schicht hängen wieder von der Leitung ab, aber auch vom tatsächlich auf dieser Leitung verwendeten Übertragungsmedium (z.B. verdrillte Kupferdrähte oder Glasfasern). Ethernet zum Beispiel sieht viele Protokolle für die Bitübertragungsschicht vor: eines für verdrillte Kupferdrähte, ein anderes für Koaxialkabel, wieder ein anderes für Glasfasern usw. In jedem dieser Fälle wird ein Bit auf andere Weise über die  Leitung transportiert. </a:t>
            </a: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sz="1200" b="0" i="0" u="none" strike="noStrike" kern="1200" baseline="0" dirty="0">
              <a:solidFill>
                <a:schemeClr val="tx1"/>
              </a:solidFill>
              <a:latin typeface="+mn-lt"/>
              <a:ea typeface="+mn-ea"/>
              <a:cs typeface="+mn-cs"/>
            </a:endParaRP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a:t>
            </a:fld>
            <a:endParaRPr lang="en-US" dirty="0"/>
          </a:p>
        </p:txBody>
      </p:sp>
    </p:spTree>
    <p:extLst>
      <p:ext uri="{BB962C8B-B14F-4D97-AF65-F5344CB8AC3E}">
        <p14:creationId xmlns:p14="http://schemas.microsoft.com/office/powerpoint/2010/main" val="24192012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4018" name="Rectangle 7"/>
          <p:cNvSpPr>
            <a:spLocks noGrp="1" noChangeArrowheads="1"/>
          </p:cNvSpPr>
          <p:nvPr>
            <p:ph type="sldNum" sz="quarter" idx="5"/>
          </p:nvPr>
        </p:nvSpPr>
        <p:spPr>
          <a:noFill/>
        </p:spPr>
        <p:txBody>
          <a:bodyPr/>
          <a:lstStyle/>
          <a:p>
            <a:fld id="{8ED4F609-BD96-42B0-9A88-E200CB249394}" type="slidenum">
              <a:rPr lang="en-US" smtClean="0"/>
              <a:pPr/>
              <a:t>5</a:t>
            </a:fld>
            <a:endParaRPr lang="en-US"/>
          </a:p>
        </p:txBody>
      </p:sp>
      <p:sp>
        <p:nvSpPr>
          <p:cNvPr id="214019" name="Rectangle 2"/>
          <p:cNvSpPr>
            <a:spLocks noGrp="1" noRot="1" noChangeAspect="1" noChangeArrowheads="1" noTextEdit="1"/>
          </p:cNvSpPr>
          <p:nvPr>
            <p:ph type="sldImg"/>
          </p:nvPr>
        </p:nvSpPr>
        <p:spPr>
          <a:xfrm>
            <a:off x="1211263" y="1023938"/>
            <a:ext cx="4676775" cy="3506787"/>
          </a:xfrm>
          <a:ln/>
        </p:spPr>
      </p:sp>
      <p:sp>
        <p:nvSpPr>
          <p:cNvPr id="214020" name="Rectangle 3"/>
          <p:cNvSpPr>
            <a:spLocks noGrp="1" noChangeArrowheads="1"/>
          </p:cNvSpPr>
          <p:nvPr>
            <p:ph type="body" idx="1"/>
          </p:nvPr>
        </p:nvSpPr>
        <p:spPr>
          <a:xfrm>
            <a:off x="1428499" y="4897317"/>
            <a:ext cx="4242348" cy="3946283"/>
          </a:xfrm>
          <a:noFill/>
          <a:ln/>
        </p:spPr>
        <p:txBody>
          <a:bodyPr wrap="none" anchor="ctr"/>
          <a:lstStyle/>
          <a:p>
            <a:pPr defTabSz="449263"/>
            <a:endParaRPr lang="de-DE"/>
          </a:p>
        </p:txBody>
      </p:sp>
    </p:spTree>
    <p:extLst>
      <p:ext uri="{BB962C8B-B14F-4D97-AF65-F5344CB8AC3E}">
        <p14:creationId xmlns:p14="http://schemas.microsoft.com/office/powerpoint/2010/main" val="3147415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6</a:t>
            </a:fld>
            <a:endParaRPr lang="en-US" dirty="0"/>
          </a:p>
        </p:txBody>
      </p:sp>
    </p:spTree>
    <p:extLst>
      <p:ext uri="{BB962C8B-B14F-4D97-AF65-F5344CB8AC3E}">
        <p14:creationId xmlns:p14="http://schemas.microsoft.com/office/powerpoint/2010/main" val="34721721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In (älteren) Routern musste man Speicherplatz sparen</a:t>
            </a:r>
          </a:p>
          <a:p>
            <a:endParaRPr lang="de-DE" dirty="0"/>
          </a:p>
        </p:txBody>
      </p:sp>
      <p:sp>
        <p:nvSpPr>
          <p:cNvPr id="4" name="Foliennummernplatzhalter 3"/>
          <p:cNvSpPr>
            <a:spLocks noGrp="1"/>
          </p:cNvSpPr>
          <p:nvPr>
            <p:ph type="sldNum" sz="quarter" idx="5"/>
          </p:nvPr>
        </p:nvSpPr>
        <p:spPr/>
        <p:txBody>
          <a:bodyPr/>
          <a:lstStyle/>
          <a:p>
            <a:fld id="{6D176CDC-8D0E-409F-856B-BAE38288A8E4}" type="slidenum">
              <a:rPr lang="en-US" smtClean="0"/>
              <a:pPr/>
              <a:t>10</a:t>
            </a:fld>
            <a:endParaRPr lang="en-US" dirty="0"/>
          </a:p>
        </p:txBody>
      </p:sp>
    </p:spTree>
    <p:extLst>
      <p:ext uri="{BB962C8B-B14F-4D97-AF65-F5344CB8AC3E}">
        <p14:creationId xmlns:p14="http://schemas.microsoft.com/office/powerpoint/2010/main" val="39866074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Wie bestimmt man den Präfix für</a:t>
            </a:r>
            <a:r>
              <a:rPr lang="de-DE" baseline="0" dirty="0"/>
              <a:t> den Bereich [a, b]</a:t>
            </a:r>
            <a:r>
              <a:rPr lang="de-DE" dirty="0"/>
              <a:t>?</a:t>
            </a:r>
          </a:p>
          <a:p>
            <a:r>
              <a:rPr lang="de-DE" dirty="0"/>
              <a:t>Man</a:t>
            </a:r>
            <a:r>
              <a:rPr lang="de-DE" baseline="0" dirty="0"/>
              <a:t> nehme den längsten Teil von links, bei dem die Bits von a und von b noch übereinstimmen</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12</a:t>
            </a:fld>
            <a:endParaRPr lang="en-US" dirty="0"/>
          </a:p>
        </p:txBody>
      </p:sp>
    </p:spTree>
    <p:extLst>
      <p:ext uri="{BB962C8B-B14F-4D97-AF65-F5344CB8AC3E}">
        <p14:creationId xmlns:p14="http://schemas.microsoft.com/office/powerpoint/2010/main" val="8662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Wie bestimmt man den Präfix für</a:t>
            </a:r>
            <a:r>
              <a:rPr lang="de-DE" baseline="0" dirty="0"/>
              <a:t> den Bereich [a, b]</a:t>
            </a:r>
            <a:r>
              <a:rPr lang="de-DE" dirty="0"/>
              <a:t>?</a:t>
            </a:r>
          </a:p>
          <a:p>
            <a:r>
              <a:rPr lang="de-DE" dirty="0"/>
              <a:t>Man</a:t>
            </a:r>
            <a:r>
              <a:rPr lang="de-DE" baseline="0" dirty="0"/>
              <a:t> nehme den längsten Teil von links, bei dem die Bits von a und von b noch übereinstimmen</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13</a:t>
            </a:fld>
            <a:endParaRPr lang="en-US" dirty="0"/>
          </a:p>
        </p:txBody>
      </p:sp>
    </p:spTree>
    <p:extLst>
      <p:ext uri="{BB962C8B-B14F-4D97-AF65-F5344CB8AC3E}">
        <p14:creationId xmlns:p14="http://schemas.microsoft.com/office/powerpoint/2010/main" val="3619949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14</a:t>
            </a:fld>
            <a:endParaRPr lang="en-US" dirty="0"/>
          </a:p>
        </p:txBody>
      </p:sp>
    </p:spTree>
    <p:extLst>
      <p:ext uri="{BB962C8B-B14F-4D97-AF65-F5344CB8AC3E}">
        <p14:creationId xmlns:p14="http://schemas.microsoft.com/office/powerpoint/2010/main" val="1704384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baseline="0" dirty="0"/>
              <a:t>Welcher Ausgang:</a:t>
            </a:r>
          </a:p>
          <a:p>
            <a:r>
              <a:rPr lang="de-DE" baseline="0" dirty="0"/>
              <a:t>A: =&gt; 2</a:t>
            </a:r>
          </a:p>
          <a:p>
            <a:r>
              <a:rPr lang="de-DE" baseline="0" dirty="0"/>
              <a:t>B: =&gt; 1</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16</a:t>
            </a:fld>
            <a:endParaRPr lang="en-US" dirty="0"/>
          </a:p>
        </p:txBody>
      </p:sp>
    </p:spTree>
    <p:extLst>
      <p:ext uri="{BB962C8B-B14F-4D97-AF65-F5344CB8AC3E}">
        <p14:creationId xmlns:p14="http://schemas.microsoft.com/office/powerpoint/2010/main" val="3792516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baseline="0" dirty="0"/>
              <a:t>Welcher Ausgang:</a:t>
            </a:r>
          </a:p>
          <a:p>
            <a:r>
              <a:rPr lang="de-DE" baseline="0" dirty="0"/>
              <a:t>A: =&gt; 2</a:t>
            </a:r>
          </a:p>
          <a:p>
            <a:r>
              <a:rPr lang="de-DE" baseline="0" dirty="0"/>
              <a:t>B: =&gt; 1</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17</a:t>
            </a:fld>
            <a:endParaRPr lang="en-US" dirty="0"/>
          </a:p>
        </p:txBody>
      </p:sp>
    </p:spTree>
    <p:extLst>
      <p:ext uri="{BB962C8B-B14F-4D97-AF65-F5344CB8AC3E}">
        <p14:creationId xmlns:p14="http://schemas.microsoft.com/office/powerpoint/2010/main" val="28325074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1" i="0" kern="1200" dirty="0">
                <a:solidFill>
                  <a:schemeClr val="tx1"/>
                </a:solidFill>
                <a:effectLst/>
                <a:latin typeface="+mn-lt"/>
                <a:ea typeface="+mn-ea"/>
                <a:cs typeface="+mn-cs"/>
              </a:rPr>
              <a:t>Decimal/Binary Conversion Tool</a:t>
            </a:r>
            <a:r>
              <a:rPr lang="de-DE" sz="1200" b="0" i="0" kern="1200" dirty="0">
                <a:solidFill>
                  <a:schemeClr val="tx1"/>
                </a:solidFill>
                <a:effectLst/>
                <a:latin typeface="+mn-lt"/>
                <a:ea typeface="+mn-ea"/>
                <a:cs typeface="+mn-cs"/>
              </a:rPr>
              <a:t>:</a:t>
            </a:r>
            <a:r>
              <a:rPr lang="de-DE" sz="1200" b="0" i="0" kern="1200" baseline="0" dirty="0">
                <a:solidFill>
                  <a:schemeClr val="tx1"/>
                </a:solidFill>
                <a:effectLst/>
                <a:latin typeface="+mn-lt"/>
                <a:ea typeface="+mn-ea"/>
                <a:cs typeface="+mn-cs"/>
              </a:rPr>
              <a:t> </a:t>
            </a:r>
            <a:r>
              <a:rPr lang="de-DE" dirty="0">
                <a:hlinkClick r:id="rId3"/>
              </a:rPr>
              <a:t>http://acc6.its.brooklyn.cuny.edu/~gurwitz/core5/nav2tool.html</a:t>
            </a:r>
            <a:r>
              <a:rPr lang="de-DE" dirty="0"/>
              <a:t> </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1"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D176CDC-8D0E-409F-856B-BAE38288A8E4}" type="slidenum">
              <a:rPr lang="en-US" smtClean="0"/>
              <a:pPr/>
              <a:t>18</a:t>
            </a:fld>
            <a:endParaRPr lang="en-US" dirty="0"/>
          </a:p>
        </p:txBody>
      </p:sp>
    </p:spTree>
    <p:extLst>
      <p:ext uri="{BB962C8B-B14F-4D97-AF65-F5344CB8AC3E}">
        <p14:creationId xmlns:p14="http://schemas.microsoft.com/office/powerpoint/2010/main" val="40979953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20</a:t>
            </a:fld>
            <a:endParaRPr lang="en-US" dirty="0"/>
          </a:p>
        </p:txBody>
      </p:sp>
    </p:spTree>
    <p:extLst>
      <p:ext uri="{BB962C8B-B14F-4D97-AF65-F5344CB8AC3E}">
        <p14:creationId xmlns:p14="http://schemas.microsoft.com/office/powerpoint/2010/main" val="377325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26</a:t>
            </a:fld>
            <a:endParaRPr lang="en-US" dirty="0"/>
          </a:p>
        </p:txBody>
      </p:sp>
    </p:spTree>
    <p:extLst>
      <p:ext uri="{BB962C8B-B14F-4D97-AF65-F5344CB8AC3E}">
        <p14:creationId xmlns:p14="http://schemas.microsoft.com/office/powerpoint/2010/main" val="15633004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de-DE" sz="1200" b="0" i="0" u="none" strike="noStrike" kern="1200" baseline="0" dirty="0">
                <a:solidFill>
                  <a:schemeClr val="tx1"/>
                </a:solidFill>
                <a:latin typeface="+mn-lt"/>
                <a:ea typeface="+mn-ea"/>
                <a:cs typeface="+mn-cs"/>
              </a:rPr>
              <a:t>Im Initialisierungsschritt werden die gegenwärtig bekannten kostengünstigsten</a:t>
            </a:r>
          </a:p>
          <a:p>
            <a:r>
              <a:rPr lang="de-DE" sz="1200" b="0" i="0" u="none" strike="noStrike" kern="1200" baseline="0" dirty="0">
                <a:solidFill>
                  <a:schemeClr val="tx1"/>
                </a:solidFill>
                <a:latin typeface="+mn-lt"/>
                <a:ea typeface="+mn-ea"/>
                <a:cs typeface="+mn-cs"/>
              </a:rPr>
              <a:t>Pfade von </a:t>
            </a:r>
            <a:r>
              <a:rPr lang="de-DE" sz="1200" b="0" i="1" u="none" strike="noStrike" kern="1200" baseline="0" dirty="0">
                <a:solidFill>
                  <a:schemeClr val="tx1"/>
                </a:solidFill>
                <a:latin typeface="+mn-lt"/>
                <a:ea typeface="+mn-ea"/>
                <a:cs typeface="+mn-cs"/>
              </a:rPr>
              <a:t>u </a:t>
            </a:r>
            <a:r>
              <a:rPr lang="de-DE" sz="1200" b="0" i="0" u="none" strike="noStrike" kern="1200" baseline="0" dirty="0">
                <a:solidFill>
                  <a:schemeClr val="tx1"/>
                </a:solidFill>
                <a:latin typeface="+mn-lt"/>
                <a:ea typeface="+mn-ea"/>
                <a:cs typeface="+mn-cs"/>
              </a:rPr>
              <a:t>zu seinen direkten Nachbarn </a:t>
            </a:r>
            <a:r>
              <a:rPr lang="de-DE" sz="1200" b="0" i="1" u="none" strike="noStrike" kern="1200" baseline="0" dirty="0">
                <a:solidFill>
                  <a:schemeClr val="tx1"/>
                </a:solidFill>
                <a:latin typeface="+mn-lt"/>
                <a:ea typeface="+mn-ea"/>
                <a:cs typeface="+mn-cs"/>
              </a:rPr>
              <a:t>v, </a:t>
            </a:r>
            <a:r>
              <a:rPr lang="de-DE" sz="1200" b="0" i="0" u="none" strike="noStrike" kern="1200" baseline="0" dirty="0">
                <a:solidFill>
                  <a:schemeClr val="tx1"/>
                </a:solidFill>
                <a:latin typeface="+mn-lt"/>
                <a:ea typeface="+mn-ea"/>
                <a:cs typeface="+mn-cs"/>
              </a:rPr>
              <a:t>x und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mit 2, 1 bzw. 5 festgelegt.</a:t>
            </a:r>
          </a:p>
          <a:p>
            <a:r>
              <a:rPr lang="de-DE" sz="1200" b="0" i="0" u="none" strike="noStrike" kern="1200" baseline="0" dirty="0">
                <a:solidFill>
                  <a:schemeClr val="tx1"/>
                </a:solidFill>
                <a:latin typeface="+mn-lt"/>
                <a:ea typeface="+mn-ea"/>
                <a:cs typeface="+mn-cs"/>
              </a:rPr>
              <a:t>Beachten Sie insbesondere, dass die Kosten für wauf 5 gesetzt wurden (obwohl wir</a:t>
            </a:r>
          </a:p>
          <a:p>
            <a:r>
              <a:rPr lang="de-DE" sz="1200" b="0" i="0" u="none" strike="noStrike" kern="1200" baseline="0" dirty="0">
                <a:solidFill>
                  <a:schemeClr val="tx1"/>
                </a:solidFill>
                <a:latin typeface="+mn-lt"/>
                <a:ea typeface="+mn-ea"/>
                <a:cs typeface="+mn-cs"/>
              </a:rPr>
              <a:t>bald sehen werden, dass tatsächlich ein Pfad mit geringeren Kosten existiert), da</a:t>
            </a:r>
          </a:p>
          <a:p>
            <a:r>
              <a:rPr lang="de-DE" sz="1200" b="0" i="0" u="none" strike="noStrike" kern="1200" baseline="0" dirty="0">
                <a:solidFill>
                  <a:schemeClr val="tx1"/>
                </a:solidFill>
                <a:latin typeface="+mn-lt"/>
                <a:ea typeface="+mn-ea"/>
                <a:cs typeface="+mn-cs"/>
              </a:rPr>
              <a:t>dies die Kosten der direkten Leitung zwischen </a:t>
            </a:r>
            <a:r>
              <a:rPr lang="de-DE" sz="1200" b="0" i="1" u="none" strike="noStrike" kern="1200" baseline="0" dirty="0">
                <a:solidFill>
                  <a:schemeClr val="tx1"/>
                </a:solidFill>
                <a:latin typeface="+mn-lt"/>
                <a:ea typeface="+mn-ea"/>
                <a:cs typeface="+mn-cs"/>
              </a:rPr>
              <a:t>u </a:t>
            </a:r>
            <a:r>
              <a:rPr lang="de-DE" sz="1200" b="0" i="0" u="none" strike="noStrike" kern="1200" baseline="0" dirty="0">
                <a:solidFill>
                  <a:schemeClr val="tx1"/>
                </a:solidFill>
                <a:latin typeface="+mn-lt"/>
                <a:ea typeface="+mn-ea"/>
                <a:cs typeface="+mn-cs"/>
              </a:rPr>
              <a:t>und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sind. Die Kosten für y</a:t>
            </a:r>
          </a:p>
          <a:p>
            <a:r>
              <a:rPr lang="de-DE" sz="1200" b="0" i="0" u="none" strike="noStrike" kern="1200" baseline="0" dirty="0">
                <a:solidFill>
                  <a:schemeClr val="tx1"/>
                </a:solidFill>
                <a:latin typeface="+mn-lt"/>
                <a:ea typeface="+mn-ea"/>
                <a:cs typeface="+mn-cs"/>
              </a:rPr>
              <a:t>und </a:t>
            </a:r>
            <a:r>
              <a:rPr lang="de-DE" sz="1200" b="0" i="1" u="none" strike="noStrike" kern="1200" baseline="0" dirty="0">
                <a:solidFill>
                  <a:schemeClr val="tx1"/>
                </a:solidFill>
                <a:latin typeface="+mn-lt"/>
                <a:ea typeface="+mn-ea"/>
                <a:cs typeface="+mn-cs"/>
              </a:rPr>
              <a:t>z </a:t>
            </a:r>
            <a:r>
              <a:rPr lang="de-DE" sz="1200" b="0" i="0" u="none" strike="noStrike" kern="1200" baseline="0" dirty="0">
                <a:solidFill>
                  <a:schemeClr val="tx1"/>
                </a:solidFill>
                <a:latin typeface="+mn-lt"/>
                <a:ea typeface="+mn-ea"/>
                <a:cs typeface="+mn-cs"/>
              </a:rPr>
              <a:t>betragen unendlich, weil sie nicht direkt mit </a:t>
            </a:r>
            <a:r>
              <a:rPr lang="de-DE" sz="1200" b="0" i="1" u="none" strike="noStrike" kern="1200" baseline="0" dirty="0">
                <a:solidFill>
                  <a:schemeClr val="tx1"/>
                </a:solidFill>
                <a:latin typeface="+mn-lt"/>
                <a:ea typeface="+mn-ea"/>
                <a:cs typeface="+mn-cs"/>
              </a:rPr>
              <a:t>u </a:t>
            </a:r>
            <a:r>
              <a:rPr lang="de-DE" sz="1200" b="0" i="0" u="none" strike="noStrike" kern="1200" baseline="0" dirty="0">
                <a:solidFill>
                  <a:schemeClr val="tx1"/>
                </a:solidFill>
                <a:latin typeface="+mn-lt"/>
                <a:ea typeface="+mn-ea"/>
                <a:cs typeface="+mn-cs"/>
              </a:rPr>
              <a:t>zusammenhängen.</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In der ersten Iteration durchsuchen wir die Knoten, die der Menge N' noch nicht</a:t>
            </a:r>
          </a:p>
          <a:p>
            <a:r>
              <a:rPr lang="de-DE" sz="1200" b="0" i="0" u="none" strike="noStrike" kern="1200" baseline="0" dirty="0">
                <a:solidFill>
                  <a:schemeClr val="tx1"/>
                </a:solidFill>
                <a:latin typeface="+mn-lt"/>
                <a:ea typeface="+mn-ea"/>
                <a:cs typeface="+mn-cs"/>
              </a:rPr>
              <a:t>hinzugefügt wurden, und identifizieren denjenigen Knoten, der zum Ende der vorherigen</a:t>
            </a:r>
          </a:p>
          <a:p>
            <a:r>
              <a:rPr lang="de-DE" sz="1200" b="0" i="0" u="none" strike="noStrike" kern="1200" baseline="0" dirty="0">
                <a:solidFill>
                  <a:schemeClr val="tx1"/>
                </a:solidFill>
                <a:latin typeface="+mn-lt"/>
                <a:ea typeface="+mn-ea"/>
                <a:cs typeface="+mn-cs"/>
              </a:rPr>
              <a:t>Iteration die geringsten Kosten aufwies. Dieser Knoten ist x, mit den Kosten</a:t>
            </a:r>
          </a:p>
          <a:p>
            <a:r>
              <a:rPr lang="de-DE" sz="1200" b="0" i="0" u="none" strike="noStrike" kern="1200" baseline="0" dirty="0">
                <a:solidFill>
                  <a:schemeClr val="tx1"/>
                </a:solidFill>
                <a:latin typeface="+mn-lt"/>
                <a:ea typeface="+mn-ea"/>
                <a:cs typeface="+mn-cs"/>
              </a:rPr>
              <a:t>1, und daher wird x zur Menge N' hinzugefügt. Zeile 12 des LS-Routing-Algorithmus</a:t>
            </a:r>
          </a:p>
          <a:p>
            <a:r>
              <a:rPr lang="de-DE" sz="1200" b="0" i="0" u="none" strike="noStrike" kern="1200" baseline="0" dirty="0">
                <a:solidFill>
                  <a:schemeClr val="tx1"/>
                </a:solidFill>
                <a:latin typeface="+mn-lt"/>
                <a:ea typeface="+mn-ea"/>
                <a:cs typeface="+mn-cs"/>
              </a:rPr>
              <a:t>wird ausgeführt, um </a:t>
            </a:r>
            <a:r>
              <a:rPr lang="de-DE" sz="1200" b="0" i="1" u="none" strike="noStrike" kern="1200" baseline="0" dirty="0">
                <a:solidFill>
                  <a:schemeClr val="tx1"/>
                </a:solidFill>
                <a:latin typeface="+mn-lt"/>
                <a:ea typeface="+mn-ea"/>
                <a:cs typeface="+mn-cs"/>
              </a:rPr>
              <a:t>D(v) </a:t>
            </a:r>
            <a:r>
              <a:rPr lang="de-DE" sz="1200" b="0" i="0" u="none" strike="noStrike" kern="1200" baseline="0" dirty="0">
                <a:solidFill>
                  <a:schemeClr val="tx1"/>
                </a:solidFill>
                <a:latin typeface="+mn-lt"/>
                <a:ea typeface="+mn-ea"/>
                <a:cs typeface="+mn-cs"/>
              </a:rPr>
              <a:t>für alle Knoten </a:t>
            </a:r>
            <a:r>
              <a:rPr lang="de-DE" sz="1200" b="0" i="1" u="none" strike="noStrike" kern="1200" baseline="0" dirty="0">
                <a:solidFill>
                  <a:schemeClr val="tx1"/>
                </a:solidFill>
                <a:latin typeface="+mn-lt"/>
                <a:ea typeface="+mn-ea"/>
                <a:cs typeface="+mn-cs"/>
              </a:rPr>
              <a:t>v </a:t>
            </a:r>
            <a:r>
              <a:rPr lang="de-DE" sz="1200" b="0" i="0" u="none" strike="noStrike" kern="1200" baseline="0" dirty="0">
                <a:solidFill>
                  <a:schemeClr val="tx1"/>
                </a:solidFill>
                <a:latin typeface="+mn-lt"/>
                <a:ea typeface="+mn-ea"/>
                <a:cs typeface="+mn-cs"/>
              </a:rPr>
              <a:t>zu aktualisieren, was zu den</a:t>
            </a:r>
          </a:p>
          <a:p>
            <a:r>
              <a:rPr lang="de-DE" sz="1200" b="0" i="0" u="none" strike="noStrike" kern="1200" baseline="0" dirty="0">
                <a:solidFill>
                  <a:schemeClr val="tx1"/>
                </a:solidFill>
                <a:latin typeface="+mn-lt"/>
                <a:ea typeface="+mn-ea"/>
                <a:cs typeface="+mn-cs"/>
              </a:rPr>
              <a:t>Ergebnissen der zweiten Zeile (Schritt 1) in Tabelle führt. Die Kosten des Pfades</a:t>
            </a:r>
          </a:p>
          <a:p>
            <a:r>
              <a:rPr lang="de-DE" sz="1200" b="0" i="0" u="none" strike="noStrike" kern="1200" baseline="0" dirty="0">
                <a:solidFill>
                  <a:schemeClr val="tx1"/>
                </a:solidFill>
                <a:latin typeface="+mn-lt"/>
                <a:ea typeface="+mn-ea"/>
                <a:cs typeface="+mn-cs"/>
              </a:rPr>
              <a:t>zu </a:t>
            </a:r>
            <a:r>
              <a:rPr lang="de-DE" sz="1200" b="0" i="1" u="none" strike="noStrike" kern="1200" baseline="0" dirty="0">
                <a:solidFill>
                  <a:schemeClr val="tx1"/>
                </a:solidFill>
                <a:latin typeface="+mn-lt"/>
                <a:ea typeface="+mn-ea"/>
                <a:cs typeface="+mn-cs"/>
              </a:rPr>
              <a:t>v </a:t>
            </a:r>
            <a:r>
              <a:rPr lang="de-DE" sz="1200" b="0" i="0" u="none" strike="noStrike" kern="1200" baseline="0" dirty="0">
                <a:solidFill>
                  <a:schemeClr val="tx1"/>
                </a:solidFill>
                <a:latin typeface="+mn-lt"/>
                <a:ea typeface="+mn-ea"/>
                <a:cs typeface="+mn-cs"/>
              </a:rPr>
              <a:t>verändern sich nicht. Die Kosten des Pfades zu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(die nach der Initialisierung</a:t>
            </a:r>
          </a:p>
          <a:p>
            <a:r>
              <a:rPr lang="de-DE" sz="1200" b="0" i="0" u="none" strike="noStrike" kern="1200" baseline="0" dirty="0">
                <a:solidFill>
                  <a:schemeClr val="tx1"/>
                </a:solidFill>
                <a:latin typeface="+mn-lt"/>
                <a:ea typeface="+mn-ea"/>
                <a:cs typeface="+mn-cs"/>
              </a:rPr>
              <a:t>zunächst 5 betrugen) über Knoten x betragen 4. Daher wird dieser kostengünstigere</a:t>
            </a:r>
          </a:p>
          <a:p>
            <a:r>
              <a:rPr lang="de-DE" sz="1200" b="0" i="0" u="none" strike="noStrike" kern="1200" baseline="0" dirty="0">
                <a:solidFill>
                  <a:schemeClr val="tx1"/>
                </a:solidFill>
                <a:latin typeface="+mn-lt"/>
                <a:ea typeface="+mn-ea"/>
                <a:cs typeface="+mn-cs"/>
              </a:rPr>
              <a:t>Pfad gewählt und der Vorgänger von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auf dem kürzesten Pfad von </a:t>
            </a:r>
            <a:r>
              <a:rPr lang="de-DE" sz="1200" b="0" i="1" u="none" strike="noStrike" kern="1200" baseline="0" dirty="0">
                <a:solidFill>
                  <a:schemeClr val="tx1"/>
                </a:solidFill>
                <a:latin typeface="+mn-lt"/>
                <a:ea typeface="+mn-ea"/>
                <a:cs typeface="+mn-cs"/>
              </a:rPr>
              <a:t>u </a:t>
            </a:r>
            <a:r>
              <a:rPr lang="de-DE" sz="1200" b="0" i="0" u="none" strike="noStrike" kern="1200" baseline="0" dirty="0">
                <a:solidFill>
                  <a:schemeClr val="tx1"/>
                </a:solidFill>
                <a:latin typeface="+mn-lt"/>
                <a:ea typeface="+mn-ea"/>
                <a:cs typeface="+mn-cs"/>
              </a:rPr>
              <a:t>wird</a:t>
            </a:r>
          </a:p>
          <a:p>
            <a:r>
              <a:rPr lang="de-DE" sz="1200" b="0" i="0" u="none" strike="noStrike" kern="1200" baseline="0" dirty="0">
                <a:solidFill>
                  <a:schemeClr val="tx1"/>
                </a:solidFill>
                <a:latin typeface="+mn-lt"/>
                <a:ea typeface="+mn-ea"/>
                <a:cs typeface="+mn-cs"/>
              </a:rPr>
              <a:t>auf x gesetzt. Ebenso werden die Kosten für y (über x) zu 2 berechnet und die</a:t>
            </a:r>
          </a:p>
          <a:p>
            <a:r>
              <a:rPr lang="de-DE" sz="1200" b="0" i="0" u="none" strike="noStrike" kern="1200" baseline="0" dirty="0">
                <a:solidFill>
                  <a:schemeClr val="tx1"/>
                </a:solidFill>
                <a:latin typeface="+mn-lt"/>
                <a:ea typeface="+mn-ea"/>
                <a:cs typeface="+mn-cs"/>
              </a:rPr>
              <a:t>Tabelle wird dementsprechend aktualisiert.</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In der zweiten Iteration haben wir sowohl für </a:t>
            </a:r>
            <a:r>
              <a:rPr lang="de-DE" sz="1200" b="0" i="1" u="none" strike="noStrike" kern="1200" baseline="0" dirty="0">
                <a:solidFill>
                  <a:schemeClr val="tx1"/>
                </a:solidFill>
                <a:latin typeface="+mn-lt"/>
                <a:ea typeface="+mn-ea"/>
                <a:cs typeface="+mn-cs"/>
              </a:rPr>
              <a:t>v </a:t>
            </a:r>
            <a:r>
              <a:rPr lang="de-DE" sz="1200" b="0" i="0" u="none" strike="noStrike" kern="1200" baseline="0" dirty="0">
                <a:solidFill>
                  <a:schemeClr val="tx1"/>
                </a:solidFill>
                <a:latin typeface="+mn-lt"/>
                <a:ea typeface="+mn-ea"/>
                <a:cs typeface="+mn-cs"/>
              </a:rPr>
              <a:t>als auch für y einen kostengÜllstigsten</a:t>
            </a:r>
          </a:p>
          <a:p>
            <a:r>
              <a:rPr lang="de-DE" sz="1200" b="0" i="0" u="none" strike="noStrike" kern="1200" baseline="0" dirty="0">
                <a:solidFill>
                  <a:schemeClr val="tx1"/>
                </a:solidFill>
                <a:latin typeface="+mn-lt"/>
                <a:ea typeface="+mn-ea"/>
                <a:cs typeface="+mn-cs"/>
              </a:rPr>
              <a:t>Pfad mit Länge 2. Wir lösen diese Pattsituation ganz nach Belieben auf und fügen</a:t>
            </a:r>
          </a:p>
          <a:p>
            <a:r>
              <a:rPr lang="de-DE" sz="1200" b="0" i="0" u="none" strike="noStrike" kern="1200" baseline="0" dirty="0">
                <a:solidFill>
                  <a:schemeClr val="tx1"/>
                </a:solidFill>
                <a:latin typeface="+mn-lt"/>
                <a:ea typeface="+mn-ea"/>
                <a:cs typeface="+mn-cs"/>
              </a:rPr>
              <a:t>N' den Knoten y hinzu, so dass N' jetzt </a:t>
            </a:r>
            <a:r>
              <a:rPr lang="de-DE" sz="1200" b="0" i="1" u="none" strike="noStrike" kern="1200" baseline="0" dirty="0">
                <a:solidFill>
                  <a:schemeClr val="tx1"/>
                </a:solidFill>
                <a:latin typeface="+mn-lt"/>
                <a:ea typeface="+mn-ea"/>
                <a:cs typeface="+mn-cs"/>
              </a:rPr>
              <a:t>u, </a:t>
            </a:r>
            <a:r>
              <a:rPr lang="de-DE" sz="1200" b="0" i="0" u="none" strike="noStrike" kern="1200" baseline="0" dirty="0">
                <a:solidFill>
                  <a:schemeClr val="tx1"/>
                </a:solidFill>
                <a:latin typeface="+mn-lt"/>
                <a:ea typeface="+mn-ea"/>
                <a:cs typeface="+mn-cs"/>
              </a:rPr>
              <a:t>x und y enthält. Die Kosten der übrigen</a:t>
            </a:r>
          </a:p>
          <a:p>
            <a:r>
              <a:rPr lang="de-DE" sz="1200" b="0" i="0" u="none" strike="noStrike" kern="1200" baseline="0" dirty="0">
                <a:solidFill>
                  <a:schemeClr val="tx1"/>
                </a:solidFill>
                <a:latin typeface="+mn-lt"/>
                <a:ea typeface="+mn-ea"/>
                <a:cs typeface="+mn-cs"/>
              </a:rPr>
              <a:t>Knoten, die noch nicht in N' enthalten sind, das heißt die Knoten </a:t>
            </a:r>
            <a:r>
              <a:rPr lang="de-DE" sz="1200" b="0" i="1" u="none" strike="noStrike" kern="1200" baseline="0" dirty="0">
                <a:solidFill>
                  <a:schemeClr val="tx1"/>
                </a:solidFill>
                <a:latin typeface="+mn-lt"/>
                <a:ea typeface="+mn-ea"/>
                <a:cs typeface="+mn-cs"/>
              </a:rPr>
              <a:t>V, w und z, </a:t>
            </a:r>
            <a:r>
              <a:rPr lang="de-DE" sz="1200" b="0" i="0" u="none" strike="noStrike" kern="1200" baseline="0" dirty="0">
                <a:solidFill>
                  <a:schemeClr val="tx1"/>
                </a:solidFill>
                <a:latin typeface="+mn-lt"/>
                <a:ea typeface="+mn-ea"/>
                <a:cs typeface="+mn-cs"/>
              </a:rPr>
              <a:t>werden</a:t>
            </a:r>
          </a:p>
          <a:p>
            <a:r>
              <a:rPr lang="de-DE" sz="1200" b="0" i="0" u="none" strike="noStrike" kern="1200" baseline="0" dirty="0">
                <a:solidFill>
                  <a:schemeClr val="tx1"/>
                </a:solidFill>
                <a:latin typeface="+mn-lt"/>
                <a:ea typeface="+mn-ea"/>
                <a:cs typeface="+mn-cs"/>
              </a:rPr>
              <a:t>mittels Zeile 12 des LS-Routing-Algorithmus aktualisiert, wodurch die Ergebnisse</a:t>
            </a:r>
          </a:p>
          <a:p>
            <a:r>
              <a:rPr lang="de-DE" sz="1200" b="0" i="0" u="none" strike="noStrike" kern="1200" baseline="0" dirty="0">
                <a:solidFill>
                  <a:schemeClr val="tx1"/>
                </a:solidFill>
                <a:latin typeface="+mn-lt"/>
                <a:ea typeface="+mn-ea"/>
                <a:cs typeface="+mn-cs"/>
              </a:rPr>
              <a:t>der dritten Zeile in Tabelle entstehen.</a:t>
            </a:r>
          </a:p>
          <a:p>
            <a:endParaRPr lang="de-DE" sz="1200" b="0" i="0" u="none" strike="noStrike" kern="1200" baseline="0" dirty="0">
              <a:solidFill>
                <a:schemeClr val="tx1"/>
              </a:solidFill>
              <a:latin typeface="+mn-lt"/>
              <a:ea typeface="+mn-ea"/>
              <a:cs typeface="+mn-cs"/>
            </a:endParaRPr>
          </a:p>
          <a:p>
            <a:r>
              <a:rPr lang="de-DE" sz="1200" b="0" i="0" u="none" strike="noStrike" kern="1200" baseline="0" dirty="0">
                <a:solidFill>
                  <a:schemeClr val="tx1"/>
                </a:solidFill>
                <a:latin typeface="+mn-lt"/>
                <a:ea typeface="+mn-ea"/>
                <a:cs typeface="+mn-cs"/>
              </a:rPr>
              <a:t>Und so weiter ...</a:t>
            </a:r>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30</a:t>
            </a:fld>
            <a:endParaRPr lang="en-US" dirty="0"/>
          </a:p>
        </p:txBody>
      </p:sp>
    </p:spTree>
    <p:extLst>
      <p:ext uri="{BB962C8B-B14F-4D97-AF65-F5344CB8AC3E}">
        <p14:creationId xmlns:p14="http://schemas.microsoft.com/office/powerpoint/2010/main" val="3146632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Wie genau berechnet man diese?</a:t>
            </a:r>
          </a:p>
          <a:p>
            <a:pPr marL="0" marR="0" indent="0" algn="l" defTabSz="914400" rtl="0" eaLnBrk="1" fontAlgn="auto" latinLnBrk="0" hangingPunct="1">
              <a:lnSpc>
                <a:spcPct val="100000"/>
              </a:lnSpc>
              <a:spcBef>
                <a:spcPts val="0"/>
              </a:spcBef>
              <a:spcAft>
                <a:spcPts val="0"/>
              </a:spcAft>
              <a:buClrTx/>
              <a:buSzTx/>
              <a:buFontTx/>
              <a:buNone/>
              <a:tabLst/>
              <a:defRPr/>
            </a:pPr>
            <a:r>
              <a:rPr lang="de-DE" dirty="0"/>
              <a:t>Man startet</a:t>
            </a:r>
            <a:r>
              <a:rPr lang="de-DE" baseline="0" dirty="0"/>
              <a:t> bei einem Zielknoten T und geht nacheinander die „Parent“-Zeiger bis u durch. Damit hat man den günstigsten Weg von u nach T in umgekehrter Richtung durchlaufen. Der letzte Knoten vor u wird als der Ausgang für das Ziel T in die Weiterleitungstabelle eingetragen. Das tut man für alle Ziele.</a:t>
            </a:r>
            <a:endParaRPr lang="de-DE" dirty="0"/>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31</a:t>
            </a:fld>
            <a:endParaRPr lang="en-US" dirty="0"/>
          </a:p>
        </p:txBody>
      </p:sp>
    </p:spTree>
    <p:extLst>
      <p:ext uri="{BB962C8B-B14F-4D97-AF65-F5344CB8AC3E}">
        <p14:creationId xmlns:p14="http://schemas.microsoft.com/office/powerpoint/2010/main" val="30404838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de-DE" sz="1200" b="1" dirty="0">
                <a:solidFill>
                  <a:srgbClr val="FF0000"/>
                </a:solidFill>
              </a:rPr>
              <a:t>Oszillationen</a:t>
            </a:r>
          </a:p>
          <a:p>
            <a:r>
              <a:rPr lang="de-DE" sz="1200" b="0" i="0" u="none" strike="noStrike" kern="1200" baseline="0" dirty="0">
                <a:solidFill>
                  <a:schemeClr val="tx1"/>
                </a:solidFill>
                <a:latin typeface="+mn-lt"/>
                <a:ea typeface="+mn-ea"/>
                <a:cs typeface="+mn-cs"/>
              </a:rPr>
              <a:t>Betrachten wir eine problematische Situation, die auftreten könnte. Abbildung zeigt eine einfache</a:t>
            </a:r>
          </a:p>
          <a:p>
            <a:r>
              <a:rPr lang="de-DE" sz="1200" b="0" i="0" u="none" strike="noStrike" kern="1200" baseline="0" dirty="0">
                <a:solidFill>
                  <a:schemeClr val="tx1"/>
                </a:solidFill>
                <a:latin typeface="+mn-lt"/>
                <a:ea typeface="+mn-ea"/>
                <a:cs typeface="+mn-cs"/>
              </a:rPr>
              <a:t>Netzwerktopologie, in der die Leitungskosten der Last auf der Leitung entsprechen,</a:t>
            </a:r>
          </a:p>
          <a:p>
            <a:r>
              <a:rPr lang="de-DE" sz="1200" b="0" i="0" u="none" strike="noStrike" kern="1200" baseline="0" dirty="0">
                <a:solidFill>
                  <a:schemeClr val="tx1"/>
                </a:solidFill>
                <a:latin typeface="+mn-lt"/>
                <a:ea typeface="+mn-ea"/>
                <a:cs typeface="+mn-cs"/>
              </a:rPr>
              <a:t>um zum Beispiel die Verzögerung widerzuspiegeln. In diesem Beispiel sind die</a:t>
            </a:r>
          </a:p>
          <a:p>
            <a:r>
              <a:rPr lang="de-DE" sz="1200" b="0" i="0" u="none" strike="noStrike" kern="1200" baseline="0" dirty="0">
                <a:solidFill>
                  <a:schemeClr val="tx1"/>
                </a:solidFill>
                <a:latin typeface="+mn-lt"/>
                <a:ea typeface="+mn-ea"/>
                <a:cs typeface="+mn-cs"/>
              </a:rPr>
              <a:t>Leitungskosten nicht symmetrisch; das heißt, </a:t>
            </a:r>
            <a:r>
              <a:rPr lang="de-DE" sz="1200" b="0" i="1" u="none" strike="noStrike" kern="1200" baseline="0" dirty="0">
                <a:solidFill>
                  <a:schemeClr val="tx1"/>
                </a:solidFill>
                <a:latin typeface="+mn-lt"/>
                <a:ea typeface="+mn-ea"/>
                <a:cs typeface="+mn-cs"/>
              </a:rPr>
              <a:t>c(u, v) </a:t>
            </a:r>
            <a:r>
              <a:rPr lang="de-DE" sz="1200" b="0" i="0" u="none" strike="noStrike" kern="1200" baseline="0" dirty="0">
                <a:solidFill>
                  <a:schemeClr val="tx1"/>
                </a:solidFill>
                <a:latin typeface="+mn-lt"/>
                <a:ea typeface="+mn-ea"/>
                <a:cs typeface="+mn-cs"/>
              </a:rPr>
              <a:t>ist nur dann gleich </a:t>
            </a:r>
            <a:r>
              <a:rPr lang="de-DE" sz="1200" b="0" i="1" u="none" strike="noStrike" kern="1200" baseline="0" dirty="0">
                <a:solidFill>
                  <a:schemeClr val="tx1"/>
                </a:solidFill>
                <a:latin typeface="+mn-lt"/>
                <a:ea typeface="+mn-ea"/>
                <a:cs typeface="+mn-cs"/>
              </a:rPr>
              <a:t>c(u, v), </a:t>
            </a:r>
            <a:r>
              <a:rPr lang="de-DE" sz="1200" b="0" i="0" u="none" strike="noStrike" kern="1200" baseline="0" dirty="0">
                <a:solidFill>
                  <a:schemeClr val="tx1"/>
                </a:solidFill>
                <a:latin typeface="+mn-lt"/>
                <a:ea typeface="+mn-ea"/>
                <a:cs typeface="+mn-cs"/>
              </a:rPr>
              <a:t>wenn</a:t>
            </a:r>
          </a:p>
          <a:p>
            <a:r>
              <a:rPr lang="de-DE" sz="1200" b="0" i="0" u="none" strike="noStrike" kern="1200" baseline="0" dirty="0">
                <a:solidFill>
                  <a:schemeClr val="tx1"/>
                </a:solidFill>
                <a:latin typeface="+mn-lt"/>
                <a:ea typeface="+mn-ea"/>
                <a:cs typeface="+mn-cs"/>
              </a:rPr>
              <a:t>auch die Last auf der Leitung </a:t>
            </a:r>
            <a:r>
              <a:rPr lang="de-DE" sz="1200" b="0" i="1" u="none" strike="noStrike" kern="1200" baseline="0" dirty="0">
                <a:solidFill>
                  <a:schemeClr val="tx1"/>
                </a:solidFill>
                <a:latin typeface="+mn-lt"/>
                <a:ea typeface="+mn-ea"/>
                <a:cs typeface="+mn-cs"/>
              </a:rPr>
              <a:t>(u, v) </a:t>
            </a:r>
            <a:r>
              <a:rPr lang="de-DE" sz="1200" b="0" i="0" u="none" strike="noStrike" kern="1200" baseline="0" dirty="0">
                <a:solidFill>
                  <a:schemeClr val="tx1"/>
                </a:solidFill>
                <a:latin typeface="+mn-lt"/>
                <a:ea typeface="+mn-ea"/>
                <a:cs typeface="+mn-cs"/>
              </a:rPr>
              <a:t>ebenfalls in beide Richtungen gleich ist. In diesem</a:t>
            </a:r>
          </a:p>
          <a:p>
            <a:r>
              <a:rPr lang="de-DE" sz="1200" b="0" i="0" u="none" strike="noStrike" kern="1200" baseline="0" dirty="0">
                <a:solidFill>
                  <a:schemeClr val="tx1"/>
                </a:solidFill>
                <a:latin typeface="+mn-lt"/>
                <a:ea typeface="+mn-ea"/>
                <a:cs typeface="+mn-cs"/>
              </a:rPr>
              <a:t>Beispiel verursacht Knoten z (D) eine Einheit des für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 (A) </a:t>
            </a:r>
            <a:r>
              <a:rPr lang="de-DE" sz="1200" b="0" i="1" u="none" strike="noStrike" kern="1200" baseline="0" dirty="0">
                <a:solidFill>
                  <a:schemeClr val="tx1"/>
                </a:solidFill>
                <a:latin typeface="+mn-lt"/>
                <a:ea typeface="+mn-ea"/>
                <a:cs typeface="+mn-cs"/>
              </a:rPr>
              <a:t> </a:t>
            </a:r>
            <a:r>
              <a:rPr lang="de-DE" sz="1200" b="0" i="0" u="none" strike="noStrike" kern="1200" baseline="0" dirty="0">
                <a:solidFill>
                  <a:schemeClr val="tx1"/>
                </a:solidFill>
                <a:latin typeface="+mn-lt"/>
                <a:ea typeface="+mn-ea"/>
                <a:cs typeface="+mn-cs"/>
              </a:rPr>
              <a:t>bestimmten Verkehrs, Knoten x (B)</a:t>
            </a:r>
          </a:p>
          <a:p>
            <a:r>
              <a:rPr lang="de-DE" sz="1200" b="0" i="0" u="none" strike="noStrike" kern="1200" baseline="0" dirty="0">
                <a:solidFill>
                  <a:schemeClr val="tx1"/>
                </a:solidFill>
                <a:latin typeface="+mn-lt"/>
                <a:ea typeface="+mn-ea"/>
                <a:cs typeface="+mn-cs"/>
              </a:rPr>
              <a:t>verursacht ebenfalls eine Einheit des für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bestimmten Verkehrs und Knoten y (C)</a:t>
            </a:r>
          </a:p>
          <a:p>
            <a:r>
              <a:rPr lang="de-DE" sz="1200" b="0" i="0" u="none" strike="noStrike" kern="1200" baseline="0" dirty="0">
                <a:solidFill>
                  <a:schemeClr val="tx1"/>
                </a:solidFill>
                <a:latin typeface="+mn-lt"/>
                <a:ea typeface="+mn-ea"/>
                <a:cs typeface="+mn-cs"/>
              </a:rPr>
              <a:t>erzeugt das Verkehrsaufkommen </a:t>
            </a:r>
            <a:r>
              <a:rPr lang="de-DE" sz="1200" b="0" i="1" u="none" strike="noStrike" kern="1200" baseline="0" dirty="0">
                <a:solidFill>
                  <a:schemeClr val="tx1"/>
                </a:solidFill>
                <a:latin typeface="+mn-lt"/>
                <a:ea typeface="+mn-ea"/>
                <a:cs typeface="+mn-cs"/>
              </a:rPr>
              <a:t>e, </a:t>
            </a:r>
            <a:r>
              <a:rPr lang="de-DE" sz="1200" b="0" i="0" u="none" strike="noStrike" kern="1200" baseline="0" dirty="0">
                <a:solidFill>
                  <a:schemeClr val="tx1"/>
                </a:solidFill>
                <a:latin typeface="+mn-lt"/>
                <a:ea typeface="+mn-ea"/>
                <a:cs typeface="+mn-cs"/>
              </a:rPr>
              <a:t>das ebenfalls für </a:t>
            </a:r>
            <a:r>
              <a:rPr lang="de-DE" sz="1200" b="0" i="1" u="none" strike="noStrike" kern="1200" baseline="0" dirty="0">
                <a:solidFill>
                  <a:schemeClr val="tx1"/>
                </a:solidFill>
                <a:latin typeface="+mn-lt"/>
                <a:ea typeface="+mn-ea"/>
                <a:cs typeface="+mn-cs"/>
              </a:rPr>
              <a:t>w </a:t>
            </a:r>
            <a:r>
              <a:rPr lang="de-DE" sz="1200" b="0" i="0" u="none" strike="noStrike" kern="1200" baseline="0" dirty="0">
                <a:solidFill>
                  <a:schemeClr val="tx1"/>
                </a:solidFill>
                <a:latin typeface="+mn-lt"/>
                <a:ea typeface="+mn-ea"/>
                <a:cs typeface="+mn-cs"/>
              </a:rPr>
              <a:t>bestimmt ist.</a:t>
            </a:r>
          </a:p>
          <a:p>
            <a:r>
              <a:rPr lang="de-DE" sz="1200" b="0" i="0" u="none" strike="noStrike" kern="1200" baseline="0" dirty="0">
                <a:solidFill>
                  <a:schemeClr val="tx1"/>
                </a:solidFill>
                <a:latin typeface="+mn-lt"/>
                <a:ea typeface="+mn-ea"/>
                <a:cs typeface="+mn-cs"/>
              </a:rPr>
              <a:t>Das anfängliche Routing ist in Abbildung links dargestellt, zusammen mit den Leitungskosten,</a:t>
            </a:r>
          </a:p>
          <a:p>
            <a:r>
              <a:rPr lang="de-DE" sz="1200" b="0" i="0" u="none" strike="noStrike" kern="1200" baseline="0" dirty="0">
                <a:solidFill>
                  <a:schemeClr val="tx1"/>
                </a:solidFill>
                <a:latin typeface="+mn-lt"/>
                <a:ea typeface="+mn-ea"/>
                <a:cs typeface="+mn-cs"/>
              </a:rPr>
              <a:t>die dem Verkehrsaufkommen entsprechen.</a:t>
            </a:r>
          </a:p>
          <a:p>
            <a:endParaRPr lang="de-DE" dirty="0"/>
          </a:p>
          <a:p>
            <a:r>
              <a:rPr lang="de-DE" dirty="0"/>
              <a:t>Wenn der LS-Routing-Algorithmus das nächste Mal ausgeführt wird, bestimmt Knoten</a:t>
            </a:r>
          </a:p>
          <a:p>
            <a:r>
              <a:rPr lang="de-DE" dirty="0"/>
              <a:t>Y (C) (basierend auf den Leitungskosten in Abbildung, dass für den Pfad nach w im</a:t>
            </a:r>
          </a:p>
          <a:p>
            <a:r>
              <a:rPr lang="de-DE" dirty="0"/>
              <a:t>Uhrzeigersinn die Kosten 1 betragen, während für den Pfad nach w gegen den Uhrzeigersinn</a:t>
            </a:r>
          </a:p>
          <a:p>
            <a:r>
              <a:rPr lang="de-DE" dirty="0"/>
              <a:t>(den er verwendet hatte) die Kosten 1 + e betragen. Daher ist der kostengünstigste</a:t>
            </a:r>
          </a:p>
          <a:p>
            <a:r>
              <a:rPr lang="de-DE" dirty="0"/>
              <a:t>Pfad für y nach w jetzt der im Uhrzeigersinn. In gleicher Weise bestimmt x, dass</a:t>
            </a:r>
          </a:p>
          <a:p>
            <a:r>
              <a:rPr lang="de-DE" dirty="0"/>
              <a:t>sein neuer kostengünstigster Pfad zu webenfalls im Uhrzeigersinn verläuft. Dies führt</a:t>
            </a:r>
          </a:p>
          <a:p>
            <a:r>
              <a:rPr lang="de-DE" dirty="0"/>
              <a:t>zu der in Abbildung 2  gezeigten Situation. Wenn der LS-Routing-Algorithmus</a:t>
            </a:r>
          </a:p>
          <a:p>
            <a:r>
              <a:rPr lang="de-DE" dirty="0"/>
              <a:t>das nächste Mal ausgeführt wird, entdecken die Knoten x, y und z alle einen kostengünstigsten</a:t>
            </a:r>
          </a:p>
          <a:p>
            <a:r>
              <a:rPr lang="de-DE" dirty="0"/>
              <a:t>Pfad zu W, der gegen den Uhrzeigersinn verläuft, und leiten alle ihren Verkehr</a:t>
            </a:r>
          </a:p>
          <a:p>
            <a:r>
              <a:rPr lang="de-DE" dirty="0"/>
              <a:t>auf den gegen den Uhrzeigersinn verlaufenden Pfaden weiter. Bei der nächsten</a:t>
            </a:r>
          </a:p>
          <a:p>
            <a:r>
              <a:rPr lang="de-DE" dirty="0"/>
              <a:t>Ausführung des LS-Routing-Algorithmus leiten x, y und z ihren Verkehr alle wieder</a:t>
            </a:r>
          </a:p>
          <a:p>
            <a:r>
              <a:rPr lang="de-DE" dirty="0"/>
              <a:t>über die im Uhrzeigersinn verlaufenden Pfade weiter und so weiter.</a:t>
            </a:r>
          </a:p>
        </p:txBody>
      </p:sp>
      <p:sp>
        <p:nvSpPr>
          <p:cNvPr id="4" name="Slide Number Placeholder 3"/>
          <p:cNvSpPr>
            <a:spLocks noGrp="1"/>
          </p:cNvSpPr>
          <p:nvPr>
            <p:ph type="sldNum" sz="quarter" idx="10"/>
          </p:nvPr>
        </p:nvSpPr>
        <p:spPr/>
        <p:txBody>
          <a:bodyPr/>
          <a:lstStyle/>
          <a:p>
            <a:fld id="{6D176CDC-8D0E-409F-856B-BAE38288A8E4}" type="slidenum">
              <a:rPr lang="en-US" smtClean="0"/>
              <a:pPr/>
              <a:t>32</a:t>
            </a:fld>
            <a:endParaRPr lang="en-US" dirty="0"/>
          </a:p>
        </p:txBody>
      </p:sp>
    </p:spTree>
    <p:extLst>
      <p:ext uri="{BB962C8B-B14F-4D97-AF65-F5344CB8AC3E}">
        <p14:creationId xmlns:p14="http://schemas.microsoft.com/office/powerpoint/2010/main" val="3742990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33</a:t>
            </a:fld>
            <a:endParaRPr lang="en-US" dirty="0"/>
          </a:p>
        </p:txBody>
      </p:sp>
    </p:spTree>
    <p:extLst>
      <p:ext uri="{BB962C8B-B14F-4D97-AF65-F5344CB8AC3E}">
        <p14:creationId xmlns:p14="http://schemas.microsoft.com/office/powerpoint/2010/main" val="7626472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dirty="0"/>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dirty="0"/>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bg>
      <p:bgRef idx="1001">
        <a:schemeClr val="bg2"/>
      </p:bgRef>
    </p:bg>
    <p:spTree>
      <p:nvGrpSpPr>
        <p:cNvPr id="1" name=""/>
        <p:cNvGrpSpPr/>
        <p:nvPr/>
      </p:nvGrpSpPr>
      <p:grpSpPr>
        <a:xfrm>
          <a:off x="0" y="0"/>
          <a:ext cx="0" cy="0"/>
          <a:chOff x="0" y="0"/>
          <a:chExt cx="0" cy="0"/>
        </a:xfrm>
      </p:grpSpPr>
      <p:sp>
        <p:nvSpPr>
          <p:cNvPr id="2" name="Titel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Datumsplatzhalter 3"/>
          <p:cNvSpPr>
            <a:spLocks noGrp="1"/>
          </p:cNvSpPr>
          <p:nvPr>
            <p:ph type="dt" sz="half" idx="10"/>
          </p:nvPr>
        </p:nvSpPr>
        <p:spPr>
          <a:xfrm>
            <a:off x="6400800" y="6355080"/>
            <a:ext cx="2286000" cy="365760"/>
          </a:xfrm>
          <a:prstGeom prst="rect">
            <a:avLst/>
          </a:prstGeom>
        </p:spPr>
        <p:txBody>
          <a:bodyPr/>
          <a:lstStyle/>
          <a:p>
            <a:endParaRPr lang="de-DE" dirty="0"/>
          </a:p>
        </p:txBody>
      </p:sp>
      <p:sp>
        <p:nvSpPr>
          <p:cNvPr id="5" name="Fußzeilenplatzhalter 4"/>
          <p:cNvSpPr>
            <a:spLocks noGrp="1"/>
          </p:cNvSpPr>
          <p:nvPr>
            <p:ph type="ftr" sz="quarter" idx="11"/>
          </p:nvPr>
        </p:nvSpPr>
        <p:spPr>
          <a:xfrm>
            <a:off x="2898648" y="6355080"/>
            <a:ext cx="3474720" cy="365760"/>
          </a:xfrm>
          <a:prstGeom prst="rect">
            <a:avLst/>
          </a:prstGeom>
        </p:spPr>
        <p:txBody>
          <a:bodyPr/>
          <a:lstStyle/>
          <a:p>
            <a:endParaRPr lang="de-DE" dirty="0"/>
          </a:p>
        </p:txBody>
      </p:sp>
      <p:sp>
        <p:nvSpPr>
          <p:cNvPr id="6" name="Foliennummernplatzhalter 5"/>
          <p:cNvSpPr>
            <a:spLocks noGrp="1"/>
          </p:cNvSpPr>
          <p:nvPr>
            <p:ph type="sldNum" sz="quarter" idx="12"/>
          </p:nvPr>
        </p:nvSpPr>
        <p:spPr>
          <a:xfrm>
            <a:off x="1069848" y="6355080"/>
            <a:ext cx="1520952" cy="365760"/>
          </a:xfrm>
        </p:spPr>
        <p:txBody>
          <a:bodyPr/>
          <a:lstStyle/>
          <a:p>
            <a:fld id="{6C6AE60A-B69C-4790-82F7-3882EDF23186}" type="slidenum">
              <a:rPr lang="de-DE" smtClean="0"/>
              <a:pPr/>
              <a:t>‹Nr.›</a:t>
            </a:fld>
            <a:endParaRPr lang="de-DE" dirty="0"/>
          </a:p>
        </p:txBody>
      </p:sp>
      <p:sp>
        <p:nvSpPr>
          <p:cNvPr id="7" name="Rechteck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8" name="Rechteck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a:xfrm>
            <a:off x="457200" y="274638"/>
            <a:ext cx="6019800" cy="5851525"/>
          </a:xfrm>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
        <p:nvSpPr>
          <p:cNvPr id="8" name="Gleichschenkliges Dreieck 7"/>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9" name="Gerade Verbindung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97" r:id="rId3"/>
    <p:sldLayoutId id="2147483696" r:id="rId4"/>
    <p:sldLayoutId id="2147483692" r:id="rId5"/>
    <p:sldLayoutId id="2147483690" r:id="rId6"/>
    <p:sldLayoutId id="2147483688" r:id="rId7"/>
    <p:sldLayoutId id="2147483689" r:id="rId8"/>
    <p:sldLayoutId id="2147483691" r:id="rId9"/>
    <p:sldLayoutId id="2147483687" r:id="rId10"/>
    <p:sldLayoutId id="2147483694" r:id="rId11"/>
    <p:sldLayoutId id="2147483695"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oleObject" Target="../embeddings/oleObject1.bin"/><Relationship Id="rId4" Type="http://schemas.openxmlformats.org/officeDocument/2006/relationships/image" Target="../media/image4.wmf"/><Relationship Id="rId5" Type="http://schemas.openxmlformats.org/officeDocument/2006/relationships/oleObject" Target="../embeddings/oleObject2.bin"/><Relationship Id="rId6" Type="http://schemas.openxmlformats.org/officeDocument/2006/relationships/oleObject" Target="../embeddings/oleObject3.bin"/><Relationship Id="rId7" Type="http://schemas.openxmlformats.org/officeDocument/2006/relationships/oleObject" Target="../embeddings/oleObject4.bin"/><Relationship Id="rId8" Type="http://schemas.openxmlformats.org/officeDocument/2006/relationships/oleObject" Target="../embeddings/oleObject5.bin"/><Relationship Id="rId9" Type="http://schemas.openxmlformats.org/officeDocument/2006/relationships/image" Target="../media/image5.wmf"/><Relationship Id="rId10" Type="http://schemas.openxmlformats.org/officeDocument/2006/relationships/oleObject" Target="../embeddings/oleObject6.bin"/><Relationship Id="rId11" Type="http://schemas.openxmlformats.org/officeDocument/2006/relationships/image" Target="../media/image6.wmf"/><Relationship Id="rId12" Type="http://schemas.openxmlformats.org/officeDocument/2006/relationships/oleObject" Target="../embeddings/oleObject7.bin"/><Relationship Id="rId13" Type="http://schemas.openxmlformats.org/officeDocument/2006/relationships/oleObject" Target="../embeddings/oleObject8.bin"/><Relationship Id="rId1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oleObject" Target="../embeddings/oleObject9.bin"/><Relationship Id="rId4" Type="http://schemas.openxmlformats.org/officeDocument/2006/relationships/image" Target="../media/image4.wmf"/><Relationship Id="rId5" Type="http://schemas.openxmlformats.org/officeDocument/2006/relationships/oleObject" Target="../embeddings/oleObject10.bin"/><Relationship Id="rId6" Type="http://schemas.openxmlformats.org/officeDocument/2006/relationships/oleObject" Target="../embeddings/oleObject11.bin"/><Relationship Id="rId7" Type="http://schemas.openxmlformats.org/officeDocument/2006/relationships/oleObject" Target="../embeddings/oleObject12.bin"/><Relationship Id="rId8" Type="http://schemas.openxmlformats.org/officeDocument/2006/relationships/oleObject" Target="../embeddings/oleObject13.bin"/></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3.cs.stonybrook.edu/~skiena/combinatorica/animations/dijkstra.html" TargetMode="External"/><Relationship Id="rId3" Type="http://schemas.openxmlformats.org/officeDocument/2006/relationships/hyperlink" Target="https://www.cs.usfca.edu/~galles/visualization/Dijkstra.html" TargetMode="External"/><Relationship Id="rId4" Type="http://schemas.openxmlformats.org/officeDocument/2006/relationships/image" Target="../media/image11.gif"/><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N04</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5D2791-2875-18A2-018C-79F233DB7045}"/>
              </a:ext>
            </a:extLst>
          </p:cNvPr>
          <p:cNvSpPr>
            <a:spLocks noGrp="1"/>
          </p:cNvSpPr>
          <p:nvPr>
            <p:ph type="title"/>
          </p:nvPr>
        </p:nvSpPr>
        <p:spPr/>
        <p:txBody>
          <a:bodyPr/>
          <a:lstStyle/>
          <a:p>
            <a:r>
              <a:rPr lang="de-DE" dirty="0"/>
              <a:t>Evaluation der Vorlesung</a:t>
            </a:r>
          </a:p>
        </p:txBody>
      </p:sp>
      <p:sp>
        <p:nvSpPr>
          <p:cNvPr id="3" name="Foliennummernplatzhalter 2">
            <a:extLst>
              <a:ext uri="{FF2B5EF4-FFF2-40B4-BE49-F238E27FC236}">
                <a16:creationId xmlns:a16="http://schemas.microsoft.com/office/drawing/2014/main" id="{20FE6782-12F4-8E01-8456-23692103B75D}"/>
              </a:ext>
            </a:extLst>
          </p:cNvPr>
          <p:cNvSpPr>
            <a:spLocks noGrp="1"/>
          </p:cNvSpPr>
          <p:nvPr>
            <p:ph type="sldNum" sz="quarter" idx="12"/>
          </p:nvPr>
        </p:nvSpPr>
        <p:spPr/>
        <p:txBody>
          <a:bodyPr/>
          <a:lstStyle/>
          <a:p>
            <a:fld id="{7183533A-8A50-4A1F-BEA9-C8C6956451EB}" type="slidenum">
              <a:rPr lang="en-US" noProof="0" smtClean="0"/>
              <a:pPr/>
              <a:t>2</a:t>
            </a:fld>
            <a:endParaRPr lang="en-US" noProof="0" dirty="0"/>
          </a:p>
        </p:txBody>
      </p:sp>
      <p:sp>
        <p:nvSpPr>
          <p:cNvPr id="4" name="Inhaltsplatzhalter 3">
            <a:extLst>
              <a:ext uri="{FF2B5EF4-FFF2-40B4-BE49-F238E27FC236}">
                <a16:creationId xmlns:a16="http://schemas.microsoft.com/office/drawing/2014/main" id="{4BD98220-BC6D-BBE4-A247-85CE2C585E69}"/>
              </a:ext>
            </a:extLst>
          </p:cNvPr>
          <p:cNvSpPr>
            <a:spLocks noGrp="1"/>
          </p:cNvSpPr>
          <p:nvPr>
            <p:ph sz="quarter" idx="1"/>
          </p:nvPr>
        </p:nvSpPr>
        <p:spPr>
          <a:xfrm>
            <a:off x="457199" y="1219200"/>
            <a:ext cx="8261093" cy="5210196"/>
          </a:xfrm>
        </p:spPr>
        <p:txBody>
          <a:bodyPr/>
          <a:lstStyle/>
          <a:p>
            <a:r>
              <a:rPr lang="de-DE" dirty="0"/>
              <a:t>Bitte teilnehmen – noch bis zum 28.06.2026 (effektiv)</a:t>
            </a:r>
          </a:p>
          <a:p>
            <a:r>
              <a:rPr lang="de-DE" dirty="0"/>
              <a:t>Sie müssen nicht (dürfen aber </a:t>
            </a:r>
            <a:r>
              <a:rPr lang="de-DE" dirty="0">
                <a:sym typeface="Wingdings" panose="05000000000000000000" pitchFamily="2" charset="2"/>
              </a:rPr>
              <a:t>) nett zu uns sein</a:t>
            </a:r>
          </a:p>
          <a:p>
            <a:r>
              <a:rPr lang="de-DE" dirty="0">
                <a:sym typeface="Wingdings" panose="05000000000000000000" pitchFamily="2" charset="2"/>
              </a:rPr>
              <a:t>Ihr Feedback ist uns wichtig für Verbesserungen!</a:t>
            </a:r>
            <a:endParaRPr lang="de-DE" dirty="0"/>
          </a:p>
        </p:txBody>
      </p:sp>
      <p:pic>
        <p:nvPicPr>
          <p:cNvPr id="6" name="Grafik 5">
            <a:extLst>
              <a:ext uri="{FF2B5EF4-FFF2-40B4-BE49-F238E27FC236}">
                <a16:creationId xmlns:a16="http://schemas.microsoft.com/office/drawing/2014/main" id="{5FFC03C8-7F79-5614-F273-FE9A77BAF8DB}"/>
              </a:ext>
            </a:extLst>
          </p:cNvPr>
          <p:cNvPicPr>
            <a:picLocks noChangeAspect="1"/>
          </p:cNvPicPr>
          <p:nvPr/>
        </p:nvPicPr>
        <p:blipFill>
          <a:blip r:embed="rId2"/>
          <a:stretch>
            <a:fillRect/>
          </a:stretch>
        </p:blipFill>
        <p:spPr>
          <a:xfrm>
            <a:off x="425707" y="3328335"/>
            <a:ext cx="8117898" cy="2088322"/>
          </a:xfrm>
          <a:prstGeom prst="rect">
            <a:avLst/>
          </a:prstGeom>
        </p:spPr>
      </p:pic>
    </p:spTree>
    <p:extLst>
      <p:ext uri="{BB962C8B-B14F-4D97-AF65-F5344CB8AC3E}">
        <p14:creationId xmlns:p14="http://schemas.microsoft.com/office/powerpoint/2010/main" val="1976360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de-DE" dirty="0"/>
              <a:t>Internet-Protokollstapel: Netzwerkschicht</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3</a:t>
            </a:fld>
            <a:endParaRPr lang="en-US" noProof="0" dirty="0"/>
          </a:p>
        </p:txBody>
      </p:sp>
      <p:sp>
        <p:nvSpPr>
          <p:cNvPr id="6" name="Content Placeholder 5"/>
          <p:cNvSpPr>
            <a:spLocks noGrp="1"/>
          </p:cNvSpPr>
          <p:nvPr>
            <p:ph sz="quarter" idx="1"/>
          </p:nvPr>
        </p:nvSpPr>
        <p:spPr>
          <a:xfrm>
            <a:off x="457200" y="1219200"/>
            <a:ext cx="8229600" cy="1489720"/>
          </a:xfrm>
        </p:spPr>
        <p:txBody>
          <a:bodyPr/>
          <a:lstStyle/>
          <a:p>
            <a:endParaRPr lang="de-DE" sz="2800" dirty="0"/>
          </a:p>
        </p:txBody>
      </p:sp>
      <p:graphicFrame>
        <p:nvGraphicFramePr>
          <p:cNvPr id="7" name="Table 6"/>
          <p:cNvGraphicFramePr>
            <a:graphicFrameLocks noGrp="1"/>
          </p:cNvGraphicFramePr>
          <p:nvPr/>
        </p:nvGraphicFramePr>
        <p:xfrm>
          <a:off x="323528" y="4077072"/>
          <a:ext cx="8352928" cy="640080"/>
        </p:xfrm>
        <a:graphic>
          <a:graphicData uri="http://schemas.openxmlformats.org/drawingml/2006/table">
            <a:tbl>
              <a:tblPr firstRow="1" bandRow="1">
                <a:tableStyleId>{5C22544A-7EE6-4342-B048-85BDC9FD1C3A}</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dirty="0"/>
                        <a:t>Transportschicht (transport layer)</a:t>
                      </a:r>
                    </a:p>
                  </a:txBody>
                  <a:tcPr>
                    <a:solidFill>
                      <a:srgbClr val="92D050"/>
                    </a:solidFill>
                  </a:tcPr>
                </a:tc>
                <a:tc>
                  <a:txBody>
                    <a:bodyPr/>
                    <a:lstStyle/>
                    <a:p>
                      <a:r>
                        <a:rPr lang="de-DE" dirty="0"/>
                        <a:t>Überträgt</a:t>
                      </a:r>
                      <a:r>
                        <a:rPr lang="de-DE" baseline="0" dirty="0"/>
                        <a:t> Nachrichten zwischen BS-Prozessen</a:t>
                      </a:r>
                      <a:endParaRPr lang="de-DE" dirty="0"/>
                    </a:p>
                  </a:txBody>
                  <a:tcPr>
                    <a:solidFill>
                      <a:srgbClr val="92D050"/>
                    </a:solidFill>
                  </a:tcPr>
                </a:tc>
                <a:tc>
                  <a:txBody>
                    <a:bodyPr/>
                    <a:lstStyle/>
                    <a:p>
                      <a:r>
                        <a:rPr lang="de-DE" dirty="0"/>
                        <a:t>TCP, UDP</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1" name="Table 10"/>
          <p:cNvGraphicFramePr>
            <a:graphicFrameLocks noGrp="1"/>
          </p:cNvGraphicFramePr>
          <p:nvPr/>
        </p:nvGraphicFramePr>
        <p:xfrm>
          <a:off x="323528" y="3356992"/>
          <a:ext cx="8352928" cy="712088"/>
        </p:xfrm>
        <a:graphic>
          <a:graphicData uri="http://schemas.openxmlformats.org/drawingml/2006/table">
            <a:tbl>
              <a:tblPr firstRow="1" bandRow="1">
                <a:tableStyleId>{00A15C55-8517-42AA-B614-E9B94910E393}</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712088">
                <a:tc>
                  <a:txBody>
                    <a:bodyPr/>
                    <a:lstStyle/>
                    <a:p>
                      <a:r>
                        <a:rPr lang="de-DE" dirty="0"/>
                        <a:t>Anwendungsschicht (application layer)</a:t>
                      </a:r>
                    </a:p>
                  </a:txBody>
                  <a:tcPr>
                    <a:solidFill>
                      <a:srgbClr val="92D050"/>
                    </a:solidFill>
                  </a:tcPr>
                </a:tc>
                <a:tc>
                  <a:txBody>
                    <a:bodyPr/>
                    <a:lstStyle/>
                    <a:p>
                      <a:r>
                        <a:rPr lang="de-DE" baseline="0" dirty="0"/>
                        <a:t>Netzwerkanwendungen</a:t>
                      </a:r>
                      <a:endParaRPr lang="de-DE" dirty="0"/>
                    </a:p>
                  </a:txBody>
                  <a:tcPr>
                    <a:solidFill>
                      <a:srgbClr val="92D050"/>
                    </a:solidFill>
                  </a:tcPr>
                </a:tc>
                <a:tc>
                  <a:txBody>
                    <a:bodyPr/>
                    <a:lstStyle/>
                    <a:p>
                      <a:r>
                        <a:rPr lang="de-DE" dirty="0"/>
                        <a:t>HTTP,</a:t>
                      </a:r>
                      <a:r>
                        <a:rPr lang="de-DE" baseline="0" dirty="0"/>
                        <a:t> FTP, SMTP</a:t>
                      </a:r>
                      <a:endParaRPr lang="de-DE" dirty="0"/>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2" name="Table 11"/>
          <p:cNvGraphicFramePr>
            <a:graphicFrameLocks noGrp="1"/>
          </p:cNvGraphicFramePr>
          <p:nvPr/>
        </p:nvGraphicFramePr>
        <p:xfrm>
          <a:off x="323528" y="4725144"/>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800" u="none" strike="noStrike" kern="1200" baseline="0" dirty="0"/>
                        <a:t>Netzwerkschicht </a:t>
                      </a:r>
                      <a:r>
                        <a:rPr lang="de-DE" dirty="0"/>
                        <a:t>(network layer)</a:t>
                      </a:r>
                    </a:p>
                  </a:txBody>
                  <a:tcPr>
                    <a:solidFill>
                      <a:srgbClr val="0070C0"/>
                    </a:solidFill>
                  </a:tcPr>
                </a:tc>
                <a:tc>
                  <a:txBody>
                    <a:bodyPr/>
                    <a:lstStyle/>
                    <a:p>
                      <a:r>
                        <a:rPr lang="de-DE" dirty="0"/>
                        <a:t>Leitet die Pakete (Data-gramme)</a:t>
                      </a:r>
                      <a:r>
                        <a:rPr lang="de-DE" baseline="0" dirty="0"/>
                        <a:t> zwischen Hosts  </a:t>
                      </a:r>
                      <a:endParaRPr lang="de-DE" dirty="0"/>
                    </a:p>
                  </a:txBody>
                  <a:tcPr>
                    <a:solidFill>
                      <a:srgbClr val="0070C0"/>
                    </a:solidFill>
                  </a:tcPr>
                </a:tc>
                <a:tc>
                  <a:txBody>
                    <a:bodyPr/>
                    <a:lstStyle/>
                    <a:p>
                      <a:r>
                        <a:rPr lang="de-DE" dirty="0"/>
                        <a:t>IP, Routing-Protokolle</a:t>
                      </a:r>
                    </a:p>
                  </a:txBody>
                  <a:tcPr>
                    <a:solidFill>
                      <a:srgbClr val="0070C0"/>
                    </a:solidFill>
                  </a:tcPr>
                </a:tc>
                <a:extLst>
                  <a:ext uri="{0D108BD9-81ED-4DB2-BD59-A6C34878D82A}">
                    <a16:rowId xmlns:a16="http://schemas.microsoft.com/office/drawing/2014/main" val="10000"/>
                  </a:ext>
                </a:extLst>
              </a:tr>
            </a:tbl>
          </a:graphicData>
        </a:graphic>
      </p:graphicFrame>
      <p:graphicFrame>
        <p:nvGraphicFramePr>
          <p:cNvPr id="13" name="Table 12"/>
          <p:cNvGraphicFramePr>
            <a:graphicFrameLocks noGrp="1"/>
          </p:cNvGraphicFramePr>
          <p:nvPr/>
        </p:nvGraphicFramePr>
        <p:xfrm>
          <a:off x="323528" y="5373216"/>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40080">
                <a:tc>
                  <a:txBody>
                    <a:bodyPr/>
                    <a:lstStyle/>
                    <a:p>
                      <a:r>
                        <a:rPr lang="de-DE" sz="1800" u="none" strike="noStrike" kern="1200" baseline="0" dirty="0"/>
                        <a:t>Sicherungsschicht (data link layer)</a:t>
                      </a:r>
                      <a:endParaRPr lang="de-DE" dirty="0"/>
                    </a:p>
                  </a:txBody>
                  <a:tcPr>
                    <a:solidFill>
                      <a:srgbClr val="92D050"/>
                    </a:solidFill>
                  </a:tcPr>
                </a:tc>
                <a:tc>
                  <a:txBody>
                    <a:bodyPr/>
                    <a:lstStyle/>
                    <a:p>
                      <a:r>
                        <a:rPr lang="de-DE" dirty="0"/>
                        <a:t>Leitet die Pakete </a:t>
                      </a:r>
                      <a:r>
                        <a:rPr lang="de-DE" baseline="0" dirty="0"/>
                        <a:t>zwischen Netzwerkknoten (Routern)</a:t>
                      </a:r>
                      <a:endParaRPr lang="de-DE" dirty="0"/>
                    </a:p>
                  </a:txBody>
                  <a:tcPr>
                    <a:solidFill>
                      <a:srgbClr val="92D050"/>
                    </a:solidFill>
                  </a:tcPr>
                </a:tc>
                <a:tc>
                  <a:txBody>
                    <a:bodyPr/>
                    <a:lstStyle/>
                    <a:p>
                      <a:r>
                        <a:rPr lang="de-DE" dirty="0"/>
                        <a:t>PPP, Ethernet</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nvGraphicFramePr>
        <p:xfrm>
          <a:off x="323528" y="6021288"/>
          <a:ext cx="8352928" cy="640080"/>
        </p:xfrm>
        <a:graphic>
          <a:graphicData uri="http://schemas.openxmlformats.org/drawingml/2006/table">
            <a:tbl>
              <a:tblPr firstRow="1" bandRow="1">
                <a:tableStyleId>{7DF18680-E054-41AD-8BC1-D1AEF772440D}</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600067">
                <a:tc>
                  <a:txBody>
                    <a:bodyPr/>
                    <a:lstStyle/>
                    <a:p>
                      <a:r>
                        <a:rPr lang="de-DE" sz="1800" u="none" strike="noStrike" kern="1200" baseline="0" dirty="0"/>
                        <a:t>Bitübertragungss.</a:t>
                      </a:r>
                    </a:p>
                    <a:p>
                      <a:r>
                        <a:rPr lang="de-DE" sz="1800" u="none" strike="noStrike" kern="1200" baseline="0" dirty="0"/>
                        <a:t>(physical layer)  </a:t>
                      </a:r>
                      <a:endParaRPr lang="de-DE" dirty="0"/>
                    </a:p>
                  </a:txBody>
                  <a:tcPr>
                    <a:solidFill>
                      <a:srgbClr val="92D050"/>
                    </a:solidFill>
                  </a:tcPr>
                </a:tc>
                <a:tc>
                  <a:txBody>
                    <a:bodyPr/>
                    <a:lstStyle/>
                    <a:p>
                      <a:r>
                        <a:rPr lang="de-DE" dirty="0"/>
                        <a:t>Überträgt</a:t>
                      </a:r>
                      <a:r>
                        <a:rPr lang="de-DE" baseline="0" dirty="0"/>
                        <a:t> einzelne Bits zwischen Netzwerkknoten</a:t>
                      </a:r>
                      <a:endParaRPr lang="de-DE" dirty="0"/>
                    </a:p>
                  </a:txBody>
                  <a:tcPr>
                    <a:solidFill>
                      <a:srgbClr val="92D050"/>
                    </a:solidFill>
                  </a:tcPr>
                </a:tc>
                <a:tc>
                  <a:txBody>
                    <a:bodyPr/>
                    <a:lstStyle/>
                    <a:p>
                      <a:r>
                        <a:rPr lang="de-DE" dirty="0"/>
                        <a:t>Hängt vom Medium ab</a:t>
                      </a:r>
                    </a:p>
                  </a:txBody>
                  <a:tcPr>
                    <a:solidFill>
                      <a:srgbClr val="92D050"/>
                    </a:solidFill>
                  </a:tcPr>
                </a:tc>
                <a:extLst>
                  <a:ext uri="{0D108BD9-81ED-4DB2-BD59-A6C34878D82A}">
                    <a16:rowId xmlns:a16="http://schemas.microsoft.com/office/drawing/2014/main" val="10000"/>
                  </a:ext>
                </a:extLst>
              </a:tr>
            </a:tbl>
          </a:graphicData>
        </a:graphic>
      </p:graphicFrame>
      <p:graphicFrame>
        <p:nvGraphicFramePr>
          <p:cNvPr id="15" name="Table 14"/>
          <p:cNvGraphicFramePr>
            <a:graphicFrameLocks noGrp="1"/>
          </p:cNvGraphicFramePr>
          <p:nvPr/>
        </p:nvGraphicFramePr>
        <p:xfrm>
          <a:off x="323528" y="2708920"/>
          <a:ext cx="8352928" cy="545192"/>
        </p:xfrm>
        <a:graphic>
          <a:graphicData uri="http://schemas.openxmlformats.org/drawingml/2006/table">
            <a:tbl>
              <a:tblPr firstRow="1" bandRow="1">
                <a:tableStyleId>{93296810-A885-4BE3-A3E7-6D5BEEA58F35}</a:tableStyleId>
              </a:tblPr>
              <a:tblGrid>
                <a:gridCol w="2491224">
                  <a:extLst>
                    <a:ext uri="{9D8B030D-6E8A-4147-A177-3AD203B41FA5}">
                      <a16:colId xmlns:a16="http://schemas.microsoft.com/office/drawing/2014/main" val="20000"/>
                    </a:ext>
                  </a:extLst>
                </a:gridCol>
                <a:gridCol w="3413432">
                  <a:extLst>
                    <a:ext uri="{9D8B030D-6E8A-4147-A177-3AD203B41FA5}">
                      <a16:colId xmlns:a16="http://schemas.microsoft.com/office/drawing/2014/main" val="20001"/>
                    </a:ext>
                  </a:extLst>
                </a:gridCol>
                <a:gridCol w="2448272">
                  <a:extLst>
                    <a:ext uri="{9D8B030D-6E8A-4147-A177-3AD203B41FA5}">
                      <a16:colId xmlns:a16="http://schemas.microsoft.com/office/drawing/2014/main" val="20002"/>
                    </a:ext>
                  </a:extLst>
                </a:gridCol>
              </a:tblGrid>
              <a:tr h="545192">
                <a:tc>
                  <a:txBody>
                    <a:bodyPr/>
                    <a:lstStyle/>
                    <a:p>
                      <a:r>
                        <a:rPr lang="de-DE" sz="2400" dirty="0"/>
                        <a:t>Name</a:t>
                      </a:r>
                    </a:p>
                  </a:txBody>
                  <a:tcPr/>
                </a:tc>
                <a:tc>
                  <a:txBody>
                    <a:bodyPr/>
                    <a:lstStyle/>
                    <a:p>
                      <a:r>
                        <a:rPr lang="de-DE" sz="2400" dirty="0"/>
                        <a:t>Funktion</a:t>
                      </a:r>
                      <a:endParaRPr lang="de-DE" sz="2000" dirty="0"/>
                    </a:p>
                  </a:txBody>
                  <a:tcPr/>
                </a:tc>
                <a:tc>
                  <a:txBody>
                    <a:bodyPr/>
                    <a:lstStyle/>
                    <a:p>
                      <a:r>
                        <a:rPr lang="de-DE" sz="2400" dirty="0"/>
                        <a:t>Bsp-Protokolle</a:t>
                      </a:r>
                    </a:p>
                  </a:txBody>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920660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60" descr="15"/>
          <p:cNvPicPr>
            <a:picLocks noChangeAspect="1" noChangeArrowheads="1"/>
          </p:cNvPicPr>
          <p:nvPr/>
        </p:nvPicPr>
        <p:blipFill>
          <a:blip r:embed="rId2" cstate="print"/>
          <a:stretch>
            <a:fillRect/>
          </a:stretch>
        </p:blipFill>
        <p:spPr>
          <a:xfrm>
            <a:off x="4363580" y="1113080"/>
            <a:ext cx="4846440" cy="3324032"/>
          </a:xfrm>
          <a:prstGeom prst="rect">
            <a:avLst/>
          </a:prstGeom>
          <a:noFill/>
        </p:spPr>
      </p:pic>
      <p:sp>
        <p:nvSpPr>
          <p:cNvPr id="2" name="Titel 1"/>
          <p:cNvSpPr>
            <a:spLocks noGrp="1"/>
          </p:cNvSpPr>
          <p:nvPr>
            <p:ph type="title"/>
          </p:nvPr>
        </p:nvSpPr>
        <p:spPr/>
        <p:txBody>
          <a:bodyPr>
            <a:normAutofit/>
          </a:bodyPr>
          <a:lstStyle/>
          <a:p>
            <a:r>
              <a:rPr lang="de-DE" dirty="0"/>
              <a:t>IP-Adressierung – Netzwerke</a:t>
            </a:r>
          </a:p>
        </p:txBody>
      </p:sp>
      <p:sp>
        <p:nvSpPr>
          <p:cNvPr id="3" name="Foliennummernplatzhalter 2"/>
          <p:cNvSpPr>
            <a:spLocks noGrp="1"/>
          </p:cNvSpPr>
          <p:nvPr>
            <p:ph type="sldNum" sz="quarter" idx="12"/>
          </p:nvPr>
        </p:nvSpPr>
        <p:spPr/>
        <p:txBody>
          <a:bodyPr/>
          <a:lstStyle/>
          <a:p>
            <a:fld id="{6C6AE60A-B69C-4790-82F7-3882EDF23186}" type="slidenum">
              <a:rPr lang="de-DE" smtClean="0"/>
              <a:pPr/>
              <a:t>4</a:t>
            </a:fld>
            <a:endParaRPr lang="de-DE" dirty="0"/>
          </a:p>
        </p:txBody>
      </p:sp>
      <p:sp>
        <p:nvSpPr>
          <p:cNvPr id="4" name="Inhaltsplatzhalter 3"/>
          <p:cNvSpPr>
            <a:spLocks noGrp="1"/>
          </p:cNvSpPr>
          <p:nvPr>
            <p:ph sz="quarter" idx="1"/>
          </p:nvPr>
        </p:nvSpPr>
        <p:spPr>
          <a:xfrm>
            <a:off x="457200" y="1219200"/>
            <a:ext cx="4330824" cy="5378152"/>
          </a:xfrm>
        </p:spPr>
        <p:txBody>
          <a:bodyPr>
            <a:noAutofit/>
          </a:bodyPr>
          <a:lstStyle/>
          <a:p>
            <a:r>
              <a:rPr lang="de-DE" sz="2400" dirty="0"/>
              <a:t>IP-Adressen haben zwei Bestandteile: </a:t>
            </a:r>
          </a:p>
          <a:p>
            <a:pPr lvl="1"/>
            <a:r>
              <a:rPr lang="de-DE" sz="2000" b="1" dirty="0" err="1">
                <a:solidFill>
                  <a:srgbClr val="FF0000"/>
                </a:solidFill>
              </a:rPr>
              <a:t>Netid</a:t>
            </a:r>
            <a:r>
              <a:rPr lang="de-DE" sz="2000" b="1" dirty="0">
                <a:solidFill>
                  <a:srgbClr val="FF0000"/>
                </a:solidFill>
              </a:rPr>
              <a:t>: </a:t>
            </a:r>
            <a:r>
              <a:rPr lang="de-DE" sz="2000" b="1" u="sng" dirty="0">
                <a:solidFill>
                  <a:srgbClr val="FF0000"/>
                </a:solidFill>
              </a:rPr>
              <a:t>Netzwerk</a:t>
            </a:r>
            <a:r>
              <a:rPr lang="de-DE" sz="2000" b="1" dirty="0">
                <a:solidFill>
                  <a:srgbClr val="FF0000"/>
                </a:solidFill>
              </a:rPr>
              <a:t>teil</a:t>
            </a:r>
            <a:r>
              <a:rPr lang="de-DE" sz="2000" dirty="0"/>
              <a:t>: Die oberen Bits der Adresse, </a:t>
            </a:r>
            <a:r>
              <a:rPr lang="de-DE" sz="2000" u="sng" dirty="0"/>
              <a:t>identifizieren ein Netzwerk</a:t>
            </a:r>
          </a:p>
          <a:p>
            <a:pPr lvl="1"/>
            <a:r>
              <a:rPr lang="de-DE" sz="2000" b="1" dirty="0" err="1">
                <a:solidFill>
                  <a:srgbClr val="FF0000"/>
                </a:solidFill>
              </a:rPr>
              <a:t>Hostid</a:t>
            </a:r>
            <a:r>
              <a:rPr lang="de-DE" sz="2000" b="1" dirty="0">
                <a:solidFill>
                  <a:srgbClr val="FF0000"/>
                </a:solidFill>
              </a:rPr>
              <a:t>: - </a:t>
            </a:r>
            <a:r>
              <a:rPr lang="de-DE" sz="2000" b="1" u="sng" dirty="0">
                <a:solidFill>
                  <a:srgbClr val="FF0000"/>
                </a:solidFill>
              </a:rPr>
              <a:t>Host</a:t>
            </a:r>
            <a:r>
              <a:rPr lang="de-DE" sz="2000" b="1" dirty="0">
                <a:solidFill>
                  <a:srgbClr val="FF0000"/>
                </a:solidFill>
              </a:rPr>
              <a:t>teil</a:t>
            </a:r>
            <a:r>
              <a:rPr lang="de-DE" sz="2000" dirty="0"/>
              <a:t>: Die unteren Bits der Adresse, </a:t>
            </a:r>
            <a:r>
              <a:rPr lang="de-DE" sz="2000" u="sng" dirty="0"/>
              <a:t>identifizieren ein Interface</a:t>
            </a:r>
            <a:r>
              <a:rPr lang="de-DE" sz="2000" dirty="0"/>
              <a:t> innerhalb des Netzwerks</a:t>
            </a:r>
          </a:p>
          <a:p>
            <a:r>
              <a:rPr lang="de-DE" sz="2400" dirty="0"/>
              <a:t>Wenn der Adressenbereich eines Netzwerks 2</a:t>
            </a:r>
            <a:r>
              <a:rPr lang="de-DE" sz="2400" baseline="30000" dirty="0"/>
              <a:t>k</a:t>
            </a:r>
            <a:r>
              <a:rPr lang="de-DE" sz="2400" dirty="0"/>
              <a:t> Adressen umfasst, dann</a:t>
            </a:r>
          </a:p>
          <a:p>
            <a:pPr lvl="1"/>
            <a:r>
              <a:rPr lang="de-DE" sz="2200" dirty="0">
                <a:solidFill>
                  <a:srgbClr val="FF0000"/>
                </a:solidFill>
              </a:rPr>
              <a:t>Hostid</a:t>
            </a:r>
            <a:r>
              <a:rPr lang="de-DE" sz="2200" dirty="0"/>
              <a:t> hat die unteren k Bits</a:t>
            </a:r>
          </a:p>
          <a:p>
            <a:pPr lvl="1"/>
            <a:r>
              <a:rPr lang="de-DE" sz="2200" dirty="0">
                <a:solidFill>
                  <a:srgbClr val="FF0000"/>
                </a:solidFill>
              </a:rPr>
              <a:t>Netid</a:t>
            </a:r>
            <a:r>
              <a:rPr lang="de-DE" sz="2200" dirty="0"/>
              <a:t> hat die oberen </a:t>
            </a:r>
            <a:r>
              <a:rPr lang="de-DE" sz="2200" u="sng" dirty="0"/>
              <a:t>32-k</a:t>
            </a:r>
            <a:r>
              <a:rPr lang="de-DE" sz="2200" dirty="0"/>
              <a:t> Bits</a:t>
            </a:r>
          </a:p>
          <a:p>
            <a:endParaRPr lang="de-DE" sz="2400" dirty="0"/>
          </a:p>
        </p:txBody>
      </p:sp>
      <p:sp>
        <p:nvSpPr>
          <p:cNvPr id="5" name="Inhaltsplatzhalter 4"/>
          <p:cNvSpPr>
            <a:spLocks noGrp="1"/>
          </p:cNvSpPr>
          <p:nvPr>
            <p:ph sz="quarter" idx="2"/>
          </p:nvPr>
        </p:nvSpPr>
        <p:spPr>
          <a:xfrm>
            <a:off x="4644008" y="4581128"/>
            <a:ext cx="4392488" cy="2016224"/>
          </a:xfrm>
        </p:spPr>
        <p:txBody>
          <a:bodyPr>
            <a:noAutofit/>
          </a:bodyPr>
          <a:lstStyle/>
          <a:p>
            <a:r>
              <a:rPr lang="de-DE" sz="2400" dirty="0">
                <a:solidFill>
                  <a:srgbClr val="000000"/>
                </a:solidFill>
                <a:latin typeface="Bitstream Vera Sans" charset="0"/>
              </a:rPr>
              <a:t>Z.B. das untere Netzwerk hat 256 IP-Adressen:</a:t>
            </a:r>
          </a:p>
          <a:p>
            <a:pPr lvl="1"/>
            <a:r>
              <a:rPr lang="de-DE" sz="2100" dirty="0">
                <a:solidFill>
                  <a:srgbClr val="000000"/>
                </a:solidFill>
                <a:latin typeface="Bitstream Vera Sans" charset="0"/>
              </a:rPr>
              <a:t>8 (untere) Bits als </a:t>
            </a:r>
            <a:r>
              <a:rPr lang="de-DE" sz="2100" dirty="0">
                <a:solidFill>
                  <a:srgbClr val="FF0000"/>
                </a:solidFill>
                <a:latin typeface="Bitstream Vera Sans" charset="0"/>
              </a:rPr>
              <a:t>Hostteil </a:t>
            </a:r>
          </a:p>
          <a:p>
            <a:pPr lvl="1"/>
            <a:r>
              <a:rPr lang="de-DE" sz="2100" dirty="0">
                <a:solidFill>
                  <a:srgbClr val="000000"/>
                </a:solidFill>
                <a:latin typeface="Bitstream Vera Sans" charset="0"/>
              </a:rPr>
              <a:t>24 obere Bits (223.1.3.*) als </a:t>
            </a:r>
            <a:r>
              <a:rPr lang="de-DE" sz="2100" dirty="0">
                <a:solidFill>
                  <a:srgbClr val="FF0000"/>
                </a:solidFill>
                <a:latin typeface="Bitstream Vera Sans" charset="0"/>
              </a:rPr>
              <a:t>Netzwerkteil</a:t>
            </a:r>
          </a:p>
          <a:p>
            <a:endParaRPr lang="de-DE" sz="2000" dirty="0"/>
          </a:p>
        </p:txBody>
      </p:sp>
      <p:sp>
        <p:nvSpPr>
          <p:cNvPr id="7" name="Rechteck 6">
            <a:extLst>
              <a:ext uri="{FF2B5EF4-FFF2-40B4-BE49-F238E27FC236}">
                <a16:creationId xmlns:a16="http://schemas.microsoft.com/office/drawing/2014/main" id="{48EB7682-73B6-A238-F0CA-E44A6E02C33C}"/>
              </a:ext>
            </a:extLst>
          </p:cNvPr>
          <p:cNvSpPr/>
          <p:nvPr/>
        </p:nvSpPr>
        <p:spPr>
          <a:xfrm>
            <a:off x="6627467" y="228600"/>
            <a:ext cx="2376264" cy="375760"/>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de-DE" dirty="0"/>
              <a:t>Wiederholung</a:t>
            </a:r>
          </a:p>
        </p:txBody>
      </p:sp>
    </p:spTree>
    <p:extLst>
      <p:ext uri="{BB962C8B-B14F-4D97-AF65-F5344CB8AC3E}">
        <p14:creationId xmlns:p14="http://schemas.microsoft.com/office/powerpoint/2010/main" val="409894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lIns="0" tIns="0" rIns="0" bIns="0"/>
          <a:lstStyle/>
          <a:p>
            <a:pPr defTabSz="449263">
              <a:lnSpc>
                <a:spcPct val="98000"/>
              </a:lnSpc>
              <a:tabLst>
                <a:tab pos="723900" algn="l"/>
                <a:tab pos="1447800" algn="l"/>
                <a:tab pos="2171700" algn="l"/>
                <a:tab pos="2895600" algn="l"/>
                <a:tab pos="3619500" algn="l"/>
                <a:tab pos="4343400" algn="l"/>
                <a:tab pos="5067300" algn="l"/>
                <a:tab pos="5791200" algn="l"/>
                <a:tab pos="6515100" algn="l"/>
                <a:tab pos="7239000" algn="l"/>
                <a:tab pos="7962900" algn="l"/>
              </a:tabLst>
            </a:pPr>
            <a:r>
              <a:rPr lang="de-DE" dirty="0"/>
              <a:t>Adressierung von Subnetzen /1</a:t>
            </a:r>
          </a:p>
        </p:txBody>
      </p:sp>
      <p:sp>
        <p:nvSpPr>
          <p:cNvPr id="26" name="Slide Number Placeholder 6"/>
          <p:cNvSpPr>
            <a:spLocks noGrp="1"/>
          </p:cNvSpPr>
          <p:nvPr>
            <p:ph type="sldNum" sz="quarter" idx="12"/>
          </p:nvPr>
        </p:nvSpPr>
        <p:spPr/>
        <p:txBody>
          <a:bodyPr/>
          <a:lstStyle/>
          <a:p>
            <a:fld id="{DAD4710D-7044-4A3F-B9DE-CA79DBB0B75F}" type="slidenum">
              <a:rPr lang="de-DE" smtClean="0"/>
              <a:pPr/>
              <a:t>5</a:t>
            </a:fld>
            <a:endParaRPr lang="de-DE" dirty="0"/>
          </a:p>
        </p:txBody>
      </p:sp>
      <p:sp>
        <p:nvSpPr>
          <p:cNvPr id="49156" name="Rectangle 3"/>
          <p:cNvSpPr>
            <a:spLocks noGrp="1" noChangeArrowheads="1"/>
          </p:cNvSpPr>
          <p:nvPr>
            <p:ph sz="quarter" idx="1"/>
          </p:nvPr>
        </p:nvSpPr>
        <p:spPr>
          <a:xfrm>
            <a:off x="457200" y="1219200"/>
            <a:ext cx="8229600" cy="1273696"/>
          </a:xfrm>
        </p:spPr>
        <p:txBody>
          <a:bodyPr lIns="81639" tIns="42452" rIns="81639" bIns="42452">
            <a:normAutofit/>
          </a:bodyPr>
          <a:lstStyle/>
          <a:p>
            <a:pPr marL="431800" indent="-323850" defTabSz="449263">
              <a:lnSpc>
                <a:spcPct val="98000"/>
              </a:lnSpc>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solidFill>
                  <a:srgbClr val="808080"/>
                </a:solidFill>
              </a:rPr>
              <a:t>Institutionen wollen oft ihre Adressenbereiche aufteilen</a:t>
            </a:r>
          </a:p>
          <a:p>
            <a:pPr marL="431800" indent="-323850" defTabSz="449263">
              <a:spcBef>
                <a:spcPts val="700"/>
              </a:spcBef>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de-DE" sz="2400" dirty="0"/>
              <a:t>Daher teilt man die </a:t>
            </a:r>
            <a:r>
              <a:rPr lang="de-DE" sz="2400" u="sng" dirty="0"/>
              <a:t>hostid</a:t>
            </a:r>
            <a:r>
              <a:rPr lang="de-DE" sz="2400" dirty="0"/>
              <a:t> weiter auf, z.B. so:</a:t>
            </a:r>
          </a:p>
        </p:txBody>
      </p:sp>
      <p:sp>
        <p:nvSpPr>
          <p:cNvPr id="7" name="Content Placeholder 6"/>
          <p:cNvSpPr>
            <a:spLocks noGrp="1"/>
          </p:cNvSpPr>
          <p:nvPr>
            <p:ph sz="quarter" idx="13"/>
          </p:nvPr>
        </p:nvSpPr>
        <p:spPr>
          <a:xfrm>
            <a:off x="469255" y="3821839"/>
            <a:ext cx="5184575" cy="2952328"/>
          </a:xfrm>
        </p:spPr>
        <p:txBody>
          <a:bodyPr>
            <a:normAutofit lnSpcReduction="10000"/>
          </a:bodyPr>
          <a:lstStyle/>
          <a:p>
            <a:r>
              <a:rPr lang="de-DE" sz="2400" dirty="0"/>
              <a:t>Der Router A kennt die Zuordnung der </a:t>
            </a:r>
            <a:r>
              <a:rPr lang="de-DE" sz="2400" u="sng" dirty="0"/>
              <a:t>Subnetid</a:t>
            </a:r>
            <a:r>
              <a:rPr lang="de-DE" sz="2400" dirty="0"/>
              <a:t> zu den Routern  „unter ihm“ (wie B, C)</a:t>
            </a:r>
          </a:p>
          <a:p>
            <a:r>
              <a:rPr lang="de-DE" sz="2400" dirty="0"/>
              <a:t>Die Router B, C, …, gehören </a:t>
            </a:r>
            <a:br>
              <a:rPr lang="de-DE" sz="2400" dirty="0"/>
            </a:br>
            <a:r>
              <a:rPr lang="de-DE" sz="2400" dirty="0"/>
              <a:t>zu je einem Subnetz und kennen die IP-Adressen aller Interfaces darin sowie die netid+subnetid der </a:t>
            </a:r>
            <a:r>
              <a:rPr lang="de-DE" sz="2400" u="sng" dirty="0"/>
              <a:t>lokalen</a:t>
            </a:r>
            <a:r>
              <a:rPr lang="de-DE" sz="2400" dirty="0"/>
              <a:t> Router (A, B, C)</a:t>
            </a:r>
          </a:p>
          <a:p>
            <a:endParaRPr lang="de-DE" sz="2400" dirty="0"/>
          </a:p>
        </p:txBody>
      </p:sp>
      <p:grpSp>
        <p:nvGrpSpPr>
          <p:cNvPr id="2" name="Group 7"/>
          <p:cNvGrpSpPr/>
          <p:nvPr/>
        </p:nvGrpSpPr>
        <p:grpSpPr>
          <a:xfrm>
            <a:off x="1160737" y="2060848"/>
            <a:ext cx="6687795" cy="806303"/>
            <a:chOff x="1693515" y="3125755"/>
            <a:chExt cx="6687795" cy="806303"/>
          </a:xfrm>
        </p:grpSpPr>
        <p:grpSp>
          <p:nvGrpSpPr>
            <p:cNvPr id="3" name="Group 5"/>
            <p:cNvGrpSpPr>
              <a:grpSpLocks/>
            </p:cNvGrpSpPr>
            <p:nvPr/>
          </p:nvGrpSpPr>
          <p:grpSpPr bwMode="auto">
            <a:xfrm>
              <a:off x="2017365" y="3501008"/>
              <a:ext cx="322263" cy="407988"/>
              <a:chOff x="1347" y="2077"/>
              <a:chExt cx="224" cy="283"/>
            </a:xfrm>
          </p:grpSpPr>
          <p:sp>
            <p:nvSpPr>
              <p:cNvPr id="49175" name="AutoShape 6"/>
              <p:cNvSpPr>
                <a:spLocks noChangeArrowheads="1"/>
              </p:cNvSpPr>
              <p:nvPr/>
            </p:nvSpPr>
            <p:spPr bwMode="auto">
              <a:xfrm>
                <a:off x="1347" y="2077"/>
                <a:ext cx="225" cy="284"/>
              </a:xfrm>
              <a:prstGeom prst="roundRect">
                <a:avLst>
                  <a:gd name="adj" fmla="val 444"/>
                </a:avLst>
              </a:prstGeom>
              <a:noFill/>
              <a:ln w="12600">
                <a:solidFill>
                  <a:srgbClr val="000000"/>
                </a:solidFill>
                <a:round/>
                <a:headEnd/>
                <a:tailEnd/>
              </a:ln>
            </p:spPr>
            <p:txBody>
              <a:bodyPr wrap="none" anchor="ctr"/>
              <a:lstStyle/>
              <a:p>
                <a:endParaRPr lang="de-DE"/>
              </a:p>
            </p:txBody>
          </p:sp>
          <p:sp>
            <p:nvSpPr>
              <p:cNvPr id="49176" name="Text Box 7"/>
              <p:cNvSpPr txBox="1">
                <a:spLocks noChangeArrowheads="1"/>
              </p:cNvSpPr>
              <p:nvPr/>
            </p:nvSpPr>
            <p:spPr bwMode="auto">
              <a:xfrm>
                <a:off x="1347" y="2077"/>
                <a:ext cx="225" cy="284"/>
              </a:xfrm>
              <a:prstGeom prst="rect">
                <a:avLst/>
              </a:prstGeom>
              <a:noFill/>
              <a:ln w="9525">
                <a:noFill/>
                <a:round/>
                <a:headEnd/>
                <a:tailEnd/>
              </a:ln>
            </p:spPr>
            <p:txBody>
              <a:bodyPr lIns="81639" tIns="42452" rIns="81639" bIns="42452" anchor="ctr"/>
              <a:lstStyle/>
              <a:p>
                <a:pPr algn="ctr" defTabSz="828675" eaLnBrk="1">
                  <a:lnSpc>
                    <a:spcPct val="98000"/>
                  </a:lnSpc>
                  <a:spcBef>
                    <a:spcPts val="1138"/>
                  </a:spcBef>
                  <a:buClr>
                    <a:srgbClr val="000000"/>
                  </a:buClr>
                  <a:buSzPct val="45000"/>
                  <a:buFont typeface="Wingdings" pitchFamily="2" charset="2"/>
                  <a:buNone/>
                </a:pPr>
                <a:r>
                  <a:rPr lang="de-DE">
                    <a:solidFill>
                      <a:srgbClr val="000000"/>
                    </a:solidFill>
                    <a:latin typeface="Bitstream Vera Sans" charset="0"/>
                  </a:rPr>
                  <a:t>0</a:t>
                </a:r>
              </a:p>
            </p:txBody>
          </p:sp>
        </p:grpSp>
        <p:grpSp>
          <p:nvGrpSpPr>
            <p:cNvPr id="4" name="Group 8"/>
            <p:cNvGrpSpPr>
              <a:grpSpLocks/>
            </p:cNvGrpSpPr>
            <p:nvPr/>
          </p:nvGrpSpPr>
          <p:grpSpPr bwMode="auto">
            <a:xfrm>
              <a:off x="2339628" y="3501008"/>
              <a:ext cx="2755900" cy="407988"/>
              <a:chOff x="1571" y="2077"/>
              <a:chExt cx="1914" cy="283"/>
            </a:xfrm>
          </p:grpSpPr>
          <p:sp>
            <p:nvSpPr>
              <p:cNvPr id="49173" name="AutoShape 9"/>
              <p:cNvSpPr>
                <a:spLocks noChangeArrowheads="1"/>
              </p:cNvSpPr>
              <p:nvPr/>
            </p:nvSpPr>
            <p:spPr bwMode="auto">
              <a:xfrm>
                <a:off x="1571" y="2077"/>
                <a:ext cx="1915"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74" name="Text Box 10"/>
              <p:cNvSpPr txBox="1">
                <a:spLocks noChangeArrowheads="1"/>
              </p:cNvSpPr>
              <p:nvPr/>
            </p:nvSpPr>
            <p:spPr bwMode="auto">
              <a:xfrm>
                <a:off x="1571" y="2077"/>
                <a:ext cx="1915"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 pos="1970088" algn="l"/>
                    <a:tab pos="2627313" algn="l"/>
                  </a:tabLst>
                </a:pPr>
                <a:r>
                  <a:rPr lang="de-DE" b="1" dirty="0" err="1">
                    <a:solidFill>
                      <a:srgbClr val="0070C0"/>
                    </a:solidFill>
                    <a:latin typeface="Bitstream Vera Sans" charset="0"/>
                  </a:rPr>
                  <a:t>netid</a:t>
                </a:r>
                <a:endParaRPr lang="de-DE" b="1" dirty="0">
                  <a:solidFill>
                    <a:srgbClr val="0070C0"/>
                  </a:solidFill>
                  <a:latin typeface="Bitstream Vera Sans" charset="0"/>
                </a:endParaRPr>
              </a:p>
            </p:txBody>
          </p:sp>
        </p:grpSp>
        <p:sp>
          <p:nvSpPr>
            <p:cNvPr id="49160" name="AutoShape 11"/>
            <p:cNvSpPr>
              <a:spLocks noChangeArrowheads="1"/>
            </p:cNvSpPr>
            <p:nvPr/>
          </p:nvSpPr>
          <p:spPr bwMode="auto">
            <a:xfrm>
              <a:off x="3284910" y="3125755"/>
              <a:ext cx="866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14 Bit</a:t>
              </a:r>
            </a:p>
          </p:txBody>
        </p:sp>
        <p:grpSp>
          <p:nvGrpSpPr>
            <p:cNvPr id="5" name="Group 12"/>
            <p:cNvGrpSpPr>
              <a:grpSpLocks/>
            </p:cNvGrpSpPr>
            <p:nvPr/>
          </p:nvGrpSpPr>
          <p:grpSpPr bwMode="auto">
            <a:xfrm>
              <a:off x="6748069" y="3501004"/>
              <a:ext cx="1633241" cy="431054"/>
              <a:chOff x="4632" y="2077"/>
              <a:chExt cx="1135" cy="299"/>
            </a:xfrm>
          </p:grpSpPr>
          <p:sp>
            <p:nvSpPr>
              <p:cNvPr id="49171" name="AutoShape 13"/>
              <p:cNvSpPr>
                <a:spLocks noChangeArrowheads="1"/>
              </p:cNvSpPr>
              <p:nvPr/>
            </p:nvSpPr>
            <p:spPr bwMode="auto">
              <a:xfrm>
                <a:off x="4632" y="2077"/>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72" name="Text Box 14"/>
              <p:cNvSpPr txBox="1">
                <a:spLocks noChangeArrowheads="1"/>
              </p:cNvSpPr>
              <p:nvPr/>
            </p:nvSpPr>
            <p:spPr bwMode="auto">
              <a:xfrm>
                <a:off x="4633" y="2092"/>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sz="1400" dirty="0" err="1">
                    <a:solidFill>
                      <a:srgbClr val="000000"/>
                    </a:solidFill>
                    <a:latin typeface="Bitstream Vera Sans" charset="0"/>
                  </a:rPr>
                  <a:t>Hostid</a:t>
                </a:r>
                <a:r>
                  <a:rPr lang="de-DE" sz="1400" dirty="0">
                    <a:solidFill>
                      <a:srgbClr val="000000"/>
                    </a:solidFill>
                    <a:latin typeface="Bitstream Vera Sans" charset="0"/>
                  </a:rPr>
                  <a:t> im Subnetz</a:t>
                </a:r>
              </a:p>
            </p:txBody>
          </p:sp>
        </p:grpSp>
        <p:sp>
          <p:nvSpPr>
            <p:cNvPr id="49162" name="AutoShape 15"/>
            <p:cNvSpPr>
              <a:spLocks noChangeArrowheads="1"/>
            </p:cNvSpPr>
            <p:nvPr/>
          </p:nvSpPr>
          <p:spPr bwMode="auto">
            <a:xfrm>
              <a:off x="5512428" y="3127592"/>
              <a:ext cx="739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8 Bit</a:t>
              </a:r>
            </a:p>
          </p:txBody>
        </p:sp>
        <p:grpSp>
          <p:nvGrpSpPr>
            <p:cNvPr id="6" name="Group 16"/>
            <p:cNvGrpSpPr>
              <a:grpSpLocks/>
            </p:cNvGrpSpPr>
            <p:nvPr/>
          </p:nvGrpSpPr>
          <p:grpSpPr bwMode="auto">
            <a:xfrm>
              <a:off x="1693515" y="3501008"/>
              <a:ext cx="322263" cy="407988"/>
              <a:chOff x="1122" y="2077"/>
              <a:chExt cx="224" cy="283"/>
            </a:xfrm>
          </p:grpSpPr>
          <p:sp>
            <p:nvSpPr>
              <p:cNvPr id="49169" name="AutoShape 17"/>
              <p:cNvSpPr>
                <a:spLocks noChangeArrowheads="1"/>
              </p:cNvSpPr>
              <p:nvPr/>
            </p:nvSpPr>
            <p:spPr bwMode="auto">
              <a:xfrm>
                <a:off x="1122" y="2077"/>
                <a:ext cx="225" cy="284"/>
              </a:xfrm>
              <a:prstGeom prst="roundRect">
                <a:avLst>
                  <a:gd name="adj" fmla="val 444"/>
                </a:avLst>
              </a:prstGeom>
              <a:noFill/>
              <a:ln w="12600">
                <a:solidFill>
                  <a:srgbClr val="000000"/>
                </a:solidFill>
                <a:round/>
                <a:headEnd/>
                <a:tailEnd/>
              </a:ln>
            </p:spPr>
            <p:txBody>
              <a:bodyPr wrap="none" anchor="ctr"/>
              <a:lstStyle/>
              <a:p>
                <a:endParaRPr lang="de-DE"/>
              </a:p>
            </p:txBody>
          </p:sp>
          <p:sp>
            <p:nvSpPr>
              <p:cNvPr id="49170" name="Text Box 18"/>
              <p:cNvSpPr txBox="1">
                <a:spLocks noChangeArrowheads="1"/>
              </p:cNvSpPr>
              <p:nvPr/>
            </p:nvSpPr>
            <p:spPr bwMode="auto">
              <a:xfrm>
                <a:off x="1122" y="2077"/>
                <a:ext cx="225" cy="284"/>
              </a:xfrm>
              <a:prstGeom prst="rect">
                <a:avLst/>
              </a:prstGeom>
              <a:noFill/>
              <a:ln w="9525">
                <a:noFill/>
                <a:round/>
                <a:headEnd/>
                <a:tailEnd/>
              </a:ln>
            </p:spPr>
            <p:txBody>
              <a:bodyPr lIns="81639" tIns="42452" rIns="81639" bIns="42452" anchor="ctr"/>
              <a:lstStyle/>
              <a:p>
                <a:pPr algn="ctr" defTabSz="828675" eaLnBrk="1">
                  <a:lnSpc>
                    <a:spcPct val="98000"/>
                  </a:lnSpc>
                  <a:spcBef>
                    <a:spcPts val="1138"/>
                  </a:spcBef>
                  <a:buClr>
                    <a:srgbClr val="000000"/>
                  </a:buClr>
                  <a:buSzPct val="45000"/>
                  <a:buFont typeface="Wingdings" pitchFamily="2" charset="2"/>
                  <a:buNone/>
                </a:pPr>
                <a:r>
                  <a:rPr lang="de-DE">
                    <a:solidFill>
                      <a:srgbClr val="000000"/>
                    </a:solidFill>
                    <a:latin typeface="Bitstream Vera Sans" charset="0"/>
                  </a:rPr>
                  <a:t>1</a:t>
                </a:r>
              </a:p>
            </p:txBody>
          </p:sp>
        </p:grpSp>
        <p:grpSp>
          <p:nvGrpSpPr>
            <p:cNvPr id="8" name="Group 19"/>
            <p:cNvGrpSpPr>
              <a:grpSpLocks/>
            </p:cNvGrpSpPr>
            <p:nvPr/>
          </p:nvGrpSpPr>
          <p:grpSpPr bwMode="auto">
            <a:xfrm>
              <a:off x="5097115" y="3501008"/>
              <a:ext cx="1631950" cy="407988"/>
              <a:chOff x="3486" y="2077"/>
              <a:chExt cx="1133" cy="283"/>
            </a:xfrm>
          </p:grpSpPr>
          <p:sp>
            <p:nvSpPr>
              <p:cNvPr id="49167" name="AutoShape 20"/>
              <p:cNvSpPr>
                <a:spLocks noChangeArrowheads="1"/>
              </p:cNvSpPr>
              <p:nvPr/>
            </p:nvSpPr>
            <p:spPr bwMode="auto">
              <a:xfrm>
                <a:off x="3486" y="2077"/>
                <a:ext cx="1134" cy="284"/>
              </a:xfrm>
              <a:prstGeom prst="roundRect">
                <a:avLst>
                  <a:gd name="adj" fmla="val 352"/>
                </a:avLst>
              </a:prstGeom>
              <a:noFill/>
              <a:ln w="12600">
                <a:solidFill>
                  <a:srgbClr val="000000"/>
                </a:solidFill>
                <a:round/>
                <a:headEnd/>
                <a:tailEnd/>
              </a:ln>
            </p:spPr>
            <p:txBody>
              <a:bodyPr wrap="none" anchor="ctr"/>
              <a:lstStyle/>
              <a:p>
                <a:endParaRPr lang="de-DE"/>
              </a:p>
            </p:txBody>
          </p:sp>
          <p:sp>
            <p:nvSpPr>
              <p:cNvPr id="49168" name="Text Box 21"/>
              <p:cNvSpPr txBox="1">
                <a:spLocks noChangeArrowheads="1"/>
              </p:cNvSpPr>
              <p:nvPr/>
            </p:nvSpPr>
            <p:spPr bwMode="auto">
              <a:xfrm>
                <a:off x="3486" y="2077"/>
                <a:ext cx="1134" cy="284"/>
              </a:xfrm>
              <a:prstGeom prst="rect">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 pos="1312863" algn="l"/>
                  </a:tabLst>
                </a:pPr>
                <a:r>
                  <a:rPr lang="de-DE" b="1" dirty="0" err="1">
                    <a:solidFill>
                      <a:srgbClr val="7030A0"/>
                    </a:solidFill>
                    <a:latin typeface="Bitstream Vera Sans" charset="0"/>
                  </a:rPr>
                  <a:t>subnetid</a:t>
                </a:r>
                <a:endParaRPr lang="de-DE" b="1" dirty="0">
                  <a:solidFill>
                    <a:srgbClr val="7030A0"/>
                  </a:solidFill>
                  <a:latin typeface="Bitstream Vera Sans" charset="0"/>
                </a:endParaRPr>
              </a:p>
            </p:txBody>
          </p:sp>
        </p:grpSp>
        <p:sp>
          <p:nvSpPr>
            <p:cNvPr id="49165" name="AutoShape 22"/>
            <p:cNvSpPr>
              <a:spLocks noChangeArrowheads="1"/>
            </p:cNvSpPr>
            <p:nvPr/>
          </p:nvSpPr>
          <p:spPr bwMode="auto">
            <a:xfrm>
              <a:off x="7054243" y="3125756"/>
              <a:ext cx="739775" cy="396875"/>
            </a:xfrm>
            <a:prstGeom prst="roundRect">
              <a:avLst>
                <a:gd name="adj" fmla="val 361"/>
              </a:avLst>
            </a:prstGeom>
            <a:noFill/>
            <a:ln w="9525">
              <a:noFill/>
              <a:round/>
              <a:headEnd/>
              <a:tailEnd/>
            </a:ln>
          </p:spPr>
          <p:txBody>
            <a:bodyPr lIns="81639" tIns="42452" rIns="81639" bIns="42452" anchor="ctr"/>
            <a:lstStyle/>
            <a:p>
              <a:pPr algn="ctr" defTabSz="407988" eaLnBrk="1">
                <a:lnSpc>
                  <a:spcPct val="98000"/>
                </a:lnSpc>
                <a:spcBef>
                  <a:spcPts val="1138"/>
                </a:spcBef>
                <a:buClr>
                  <a:srgbClr val="000000"/>
                </a:buClr>
                <a:buSzPct val="45000"/>
                <a:buFont typeface="Wingdings" pitchFamily="2" charset="2"/>
                <a:buNone/>
                <a:tabLst>
                  <a:tab pos="657225" algn="l"/>
                </a:tabLst>
              </a:pPr>
              <a:r>
                <a:rPr lang="de-DE" dirty="0">
                  <a:solidFill>
                    <a:srgbClr val="000000"/>
                  </a:solidFill>
                  <a:latin typeface="Bitstream Vera Sans" charset="0"/>
                </a:rPr>
                <a:t>8 Bit</a:t>
              </a:r>
            </a:p>
          </p:txBody>
        </p:sp>
      </p:grpSp>
      <p:grpSp>
        <p:nvGrpSpPr>
          <p:cNvPr id="9" name="Group 8"/>
          <p:cNvGrpSpPr/>
          <p:nvPr/>
        </p:nvGrpSpPr>
        <p:grpSpPr>
          <a:xfrm>
            <a:off x="5356975" y="4166122"/>
            <a:ext cx="3472090" cy="1830572"/>
            <a:chOff x="5011985" y="4406740"/>
            <a:chExt cx="3472090" cy="1830572"/>
          </a:xfrm>
        </p:grpSpPr>
        <p:sp>
          <p:nvSpPr>
            <p:cNvPr id="27" name="Freeform 463"/>
            <p:cNvSpPr>
              <a:spLocks/>
            </p:cNvSpPr>
            <p:nvPr/>
          </p:nvSpPr>
          <p:spPr bwMode="auto">
            <a:xfrm>
              <a:off x="5011985" y="4406740"/>
              <a:ext cx="3472090" cy="1830572"/>
            </a:xfrm>
            <a:custGeom>
              <a:avLst/>
              <a:gdLst>
                <a:gd name="T0" fmla="*/ 889 w 1877"/>
                <a:gd name="T1" fmla="*/ 23 h 917"/>
                <a:gd name="T2" fmla="*/ 692 w 1877"/>
                <a:gd name="T3" fmla="*/ 109 h 917"/>
                <a:gd name="T4" fmla="*/ 415 w 1877"/>
                <a:gd name="T5" fmla="*/ 91 h 917"/>
                <a:gd name="T6" fmla="*/ 112 w 1877"/>
                <a:gd name="T7" fmla="*/ 170 h 917"/>
                <a:gd name="T8" fmla="*/ 50 w 1877"/>
                <a:gd name="T9" fmla="*/ 353 h 917"/>
                <a:gd name="T10" fmla="*/ 14 w 1877"/>
                <a:gd name="T11" fmla="*/ 528 h 917"/>
                <a:gd name="T12" fmla="*/ 139 w 1877"/>
                <a:gd name="T13" fmla="*/ 650 h 917"/>
                <a:gd name="T14" fmla="*/ 505 w 1877"/>
                <a:gd name="T15" fmla="*/ 781 h 917"/>
                <a:gd name="T16" fmla="*/ 933 w 1877"/>
                <a:gd name="T17" fmla="*/ 886 h 917"/>
                <a:gd name="T18" fmla="*/ 1370 w 1877"/>
                <a:gd name="T19" fmla="*/ 901 h 917"/>
                <a:gd name="T20" fmla="*/ 1676 w 1877"/>
                <a:gd name="T21" fmla="*/ 793 h 917"/>
                <a:gd name="T22" fmla="*/ 1860 w 1877"/>
                <a:gd name="T23" fmla="*/ 624 h 917"/>
                <a:gd name="T24" fmla="*/ 1776 w 1877"/>
                <a:gd name="T25" fmla="*/ 219 h 917"/>
                <a:gd name="T26" fmla="*/ 1503 w 1877"/>
                <a:gd name="T27" fmla="*/ 100 h 917"/>
                <a:gd name="T28" fmla="*/ 1200 w 1877"/>
                <a:gd name="T29" fmla="*/ 13 h 917"/>
                <a:gd name="T30" fmla="*/ 889 w 1877"/>
                <a:gd name="T31" fmla="*/ 23 h 91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77"/>
                <a:gd name="T49" fmla="*/ 0 h 917"/>
                <a:gd name="T50" fmla="*/ 1877 w 1877"/>
                <a:gd name="T51" fmla="*/ 917 h 917"/>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77" h="917">
                  <a:moveTo>
                    <a:pt x="889" y="23"/>
                  </a:moveTo>
                  <a:cubicBezTo>
                    <a:pt x="804" y="39"/>
                    <a:pt x="771" y="98"/>
                    <a:pt x="692" y="109"/>
                  </a:cubicBezTo>
                  <a:cubicBezTo>
                    <a:pt x="613" y="120"/>
                    <a:pt x="511" y="81"/>
                    <a:pt x="415" y="91"/>
                  </a:cubicBezTo>
                  <a:cubicBezTo>
                    <a:pt x="319" y="101"/>
                    <a:pt x="174" y="126"/>
                    <a:pt x="112" y="170"/>
                  </a:cubicBezTo>
                  <a:cubicBezTo>
                    <a:pt x="51" y="214"/>
                    <a:pt x="66" y="294"/>
                    <a:pt x="50" y="353"/>
                  </a:cubicBezTo>
                  <a:cubicBezTo>
                    <a:pt x="34" y="412"/>
                    <a:pt x="0" y="479"/>
                    <a:pt x="14" y="528"/>
                  </a:cubicBezTo>
                  <a:cubicBezTo>
                    <a:pt x="29" y="577"/>
                    <a:pt x="57" y="608"/>
                    <a:pt x="139" y="650"/>
                  </a:cubicBezTo>
                  <a:cubicBezTo>
                    <a:pt x="221" y="692"/>
                    <a:pt x="372" y="742"/>
                    <a:pt x="505" y="781"/>
                  </a:cubicBezTo>
                  <a:cubicBezTo>
                    <a:pt x="638" y="820"/>
                    <a:pt x="789" y="866"/>
                    <a:pt x="933" y="886"/>
                  </a:cubicBezTo>
                  <a:cubicBezTo>
                    <a:pt x="1077" y="906"/>
                    <a:pt x="1246" y="917"/>
                    <a:pt x="1370" y="901"/>
                  </a:cubicBezTo>
                  <a:cubicBezTo>
                    <a:pt x="1494" y="885"/>
                    <a:pt x="1594" y="839"/>
                    <a:pt x="1676" y="793"/>
                  </a:cubicBezTo>
                  <a:cubicBezTo>
                    <a:pt x="1758" y="747"/>
                    <a:pt x="1843" y="720"/>
                    <a:pt x="1860" y="624"/>
                  </a:cubicBezTo>
                  <a:cubicBezTo>
                    <a:pt x="1877" y="528"/>
                    <a:pt x="1835" y="306"/>
                    <a:pt x="1776" y="219"/>
                  </a:cubicBezTo>
                  <a:cubicBezTo>
                    <a:pt x="1717" y="132"/>
                    <a:pt x="1599" y="134"/>
                    <a:pt x="1503" y="100"/>
                  </a:cubicBezTo>
                  <a:cubicBezTo>
                    <a:pt x="1407" y="66"/>
                    <a:pt x="1302" y="26"/>
                    <a:pt x="1200" y="13"/>
                  </a:cubicBezTo>
                  <a:cubicBezTo>
                    <a:pt x="1098" y="0"/>
                    <a:pt x="974" y="7"/>
                    <a:pt x="889" y="23"/>
                  </a:cubicBezTo>
                  <a:close/>
                </a:path>
              </a:pathLst>
            </a:custGeom>
            <a:solidFill>
              <a:srgbClr val="00CC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28" name="Line 464"/>
            <p:cNvSpPr>
              <a:spLocks noChangeShapeType="1"/>
            </p:cNvSpPr>
            <p:nvPr/>
          </p:nvSpPr>
          <p:spPr bwMode="auto">
            <a:xfrm rot="16200000">
              <a:off x="7594201" y="5339449"/>
              <a:ext cx="658767" cy="16278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12" name="Group 465"/>
            <p:cNvGrpSpPr>
              <a:grpSpLocks/>
            </p:cNvGrpSpPr>
            <p:nvPr/>
          </p:nvGrpSpPr>
          <p:grpSpPr bwMode="auto">
            <a:xfrm>
              <a:off x="7516626" y="5504684"/>
              <a:ext cx="231226" cy="459140"/>
              <a:chOff x="4180" y="783"/>
              <a:chExt cx="150" cy="307"/>
            </a:xfrm>
          </p:grpSpPr>
          <p:sp>
            <p:nvSpPr>
              <p:cNvPr id="30" name="AutoShape 466"/>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31" name="Rectangle 467"/>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32" name="Rectangle 468"/>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33" name="AutoShape 469"/>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34" name="Line 470"/>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5" name="Line 471"/>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6" name="Rectangle 472"/>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37" name="Rectangle 473"/>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sp>
          <p:nvSpPr>
            <p:cNvPr id="38" name="Line 474"/>
            <p:cNvSpPr>
              <a:spLocks noChangeShapeType="1"/>
            </p:cNvSpPr>
            <p:nvPr/>
          </p:nvSpPr>
          <p:spPr bwMode="auto">
            <a:xfrm rot="5400000" flipV="1">
              <a:off x="7788402" y="5690298"/>
              <a:ext cx="3992" cy="9989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39" name="Line 475"/>
            <p:cNvSpPr>
              <a:spLocks noChangeShapeType="1"/>
            </p:cNvSpPr>
            <p:nvPr/>
          </p:nvSpPr>
          <p:spPr bwMode="auto">
            <a:xfrm rot="16200000">
              <a:off x="8004976" y="5284379"/>
              <a:ext cx="0" cy="13318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nvGrpSpPr>
            <p:cNvPr id="13" name="Group 476"/>
            <p:cNvGrpSpPr>
              <a:grpSpLocks/>
            </p:cNvGrpSpPr>
            <p:nvPr/>
          </p:nvGrpSpPr>
          <p:grpSpPr bwMode="auto">
            <a:xfrm>
              <a:off x="7514776" y="4913791"/>
              <a:ext cx="584540" cy="295446"/>
              <a:chOff x="3600" y="219"/>
              <a:chExt cx="360" cy="175"/>
            </a:xfrm>
          </p:grpSpPr>
          <p:sp>
            <p:nvSpPr>
              <p:cNvPr id="41" name="Oval 47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42" name="Line 478"/>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3" name="Line 479"/>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4" name="Rectangle 480"/>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45" name="Oval 48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4" name="Group 482"/>
              <p:cNvGrpSpPr>
                <a:grpSpLocks/>
              </p:cNvGrpSpPr>
              <p:nvPr/>
            </p:nvGrpSpPr>
            <p:grpSpPr bwMode="auto">
              <a:xfrm>
                <a:off x="3686" y="244"/>
                <a:ext cx="177" cy="66"/>
                <a:chOff x="2848" y="848"/>
                <a:chExt cx="140" cy="98"/>
              </a:xfrm>
            </p:grpSpPr>
            <p:sp>
              <p:nvSpPr>
                <p:cNvPr id="51" name="Line 483"/>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2" name="Line 484"/>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3" name="Line 485"/>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5" name="Group 486"/>
              <p:cNvGrpSpPr>
                <a:grpSpLocks/>
              </p:cNvGrpSpPr>
              <p:nvPr/>
            </p:nvGrpSpPr>
            <p:grpSpPr bwMode="auto">
              <a:xfrm flipV="1">
                <a:off x="3686" y="243"/>
                <a:ext cx="177" cy="66"/>
                <a:chOff x="2848" y="848"/>
                <a:chExt cx="140" cy="98"/>
              </a:xfrm>
            </p:grpSpPr>
            <p:sp>
              <p:nvSpPr>
                <p:cNvPr id="48" name="Line 48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49" name="Line 48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0" name="Line 48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6" name="Group 490"/>
            <p:cNvGrpSpPr>
              <a:grpSpLocks/>
            </p:cNvGrpSpPr>
            <p:nvPr/>
          </p:nvGrpSpPr>
          <p:grpSpPr bwMode="auto">
            <a:xfrm>
              <a:off x="6563974" y="4566441"/>
              <a:ext cx="584540" cy="295446"/>
              <a:chOff x="3600" y="219"/>
              <a:chExt cx="360" cy="175"/>
            </a:xfrm>
          </p:grpSpPr>
          <p:sp>
            <p:nvSpPr>
              <p:cNvPr id="55" name="Oval 49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56" name="Line 492"/>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7" name="Line 493"/>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58" name="Rectangle 494"/>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59" name="Oval 49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17" name="Group 496"/>
              <p:cNvGrpSpPr>
                <a:grpSpLocks/>
              </p:cNvGrpSpPr>
              <p:nvPr/>
            </p:nvGrpSpPr>
            <p:grpSpPr bwMode="auto">
              <a:xfrm>
                <a:off x="3686" y="244"/>
                <a:ext cx="177" cy="66"/>
                <a:chOff x="2848" y="848"/>
                <a:chExt cx="140" cy="98"/>
              </a:xfrm>
            </p:grpSpPr>
            <p:sp>
              <p:nvSpPr>
                <p:cNvPr id="65" name="Line 497"/>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6" name="Line 498"/>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7" name="Line 499"/>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18" name="Group 500"/>
              <p:cNvGrpSpPr>
                <a:grpSpLocks/>
              </p:cNvGrpSpPr>
              <p:nvPr/>
            </p:nvGrpSpPr>
            <p:grpSpPr bwMode="auto">
              <a:xfrm flipV="1">
                <a:off x="3686" y="243"/>
                <a:ext cx="177" cy="66"/>
                <a:chOff x="2848" y="848"/>
                <a:chExt cx="140" cy="98"/>
              </a:xfrm>
            </p:grpSpPr>
            <p:sp>
              <p:nvSpPr>
                <p:cNvPr id="62" name="Line 50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3" name="Line 50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64" name="Line 50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grpSp>
          <p:nvGrpSpPr>
            <p:cNvPr id="19" name="Group 504"/>
            <p:cNvGrpSpPr>
              <a:grpSpLocks/>
            </p:cNvGrpSpPr>
            <p:nvPr/>
          </p:nvGrpSpPr>
          <p:grpSpPr bwMode="auto">
            <a:xfrm>
              <a:off x="5788904" y="4949723"/>
              <a:ext cx="584540" cy="295446"/>
              <a:chOff x="3600" y="219"/>
              <a:chExt cx="360" cy="175"/>
            </a:xfrm>
          </p:grpSpPr>
          <p:sp>
            <p:nvSpPr>
              <p:cNvPr id="69" name="Oval 50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p:spPr>
            <p:txBody>
              <a:bodyPr wrap="none" anchor="ctr"/>
              <a:lstStyle/>
              <a:p>
                <a:endParaRPr lang="de-DE"/>
              </a:p>
            </p:txBody>
          </p:sp>
          <p:sp>
            <p:nvSpPr>
              <p:cNvPr id="70" name="Line 506"/>
              <p:cNvSpPr>
                <a:spLocks noChangeShapeType="1"/>
              </p:cNvSpPr>
              <p:nvPr/>
            </p:nvSpPr>
            <p:spPr bwMode="auto">
              <a:xfrm>
                <a:off x="3603"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1" name="Line 507"/>
              <p:cNvSpPr>
                <a:spLocks noChangeShapeType="1"/>
              </p:cNvSpPr>
              <p:nvPr/>
            </p:nvSpPr>
            <p:spPr bwMode="auto">
              <a:xfrm>
                <a:off x="3960" y="289"/>
                <a:ext cx="0" cy="6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2" name="Rectangle 508"/>
              <p:cNvSpPr>
                <a:spLocks noChangeArrowheads="1"/>
              </p:cNvSpPr>
              <p:nvPr/>
            </p:nvSpPr>
            <p:spPr bwMode="auto">
              <a:xfrm>
                <a:off x="3603" y="289"/>
                <a:ext cx="354" cy="59"/>
              </a:xfrm>
              <a:prstGeom prst="rect">
                <a:avLst/>
              </a:prstGeom>
              <a:solidFill>
                <a:schemeClr val="hlink"/>
              </a:solidFill>
              <a:ln>
                <a:noFill/>
              </a:ln>
              <a:extLst>
                <a:ext uri="{91240B29-F687-4F45-9708-019B960494DF}">
                  <a14:hiddenLine xmlns:a14="http://schemas.microsoft.com/office/drawing/2010/main" w="12700">
                    <a:solidFill>
                      <a:srgbClr val="000000"/>
                    </a:solidFill>
                    <a:miter lim="800000"/>
                    <a:headEnd/>
                    <a:tailEnd/>
                  </a14:hiddenLine>
                </a:ext>
              </a:extLst>
            </p:spPr>
            <p:txBody>
              <a:bodyPr wrap="none" anchor="ctr"/>
              <a:lstStyle/>
              <a:p>
                <a:pPr algn="ctr"/>
                <a:endParaRPr lang="de-DE"/>
              </a:p>
            </p:txBody>
          </p:sp>
          <p:sp>
            <p:nvSpPr>
              <p:cNvPr id="73" name="Oval 50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p:spPr>
            <p:txBody>
              <a:bodyPr wrap="none" anchor="ctr"/>
              <a:lstStyle/>
              <a:p>
                <a:endParaRPr lang="de-DE"/>
              </a:p>
            </p:txBody>
          </p:sp>
          <p:grpSp>
            <p:nvGrpSpPr>
              <p:cNvPr id="20" name="Group 510"/>
              <p:cNvGrpSpPr>
                <a:grpSpLocks/>
              </p:cNvGrpSpPr>
              <p:nvPr/>
            </p:nvGrpSpPr>
            <p:grpSpPr bwMode="auto">
              <a:xfrm>
                <a:off x="3686" y="244"/>
                <a:ext cx="177" cy="66"/>
                <a:chOff x="2848" y="848"/>
                <a:chExt cx="140" cy="98"/>
              </a:xfrm>
            </p:grpSpPr>
            <p:sp>
              <p:nvSpPr>
                <p:cNvPr id="79" name="Line 511"/>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80" name="Line 512"/>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81" name="Line 513"/>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nvGrpSpPr>
              <p:cNvPr id="21" name="Group 514"/>
              <p:cNvGrpSpPr>
                <a:grpSpLocks/>
              </p:cNvGrpSpPr>
              <p:nvPr/>
            </p:nvGrpSpPr>
            <p:grpSpPr bwMode="auto">
              <a:xfrm flipV="1">
                <a:off x="3686" y="243"/>
                <a:ext cx="177" cy="66"/>
                <a:chOff x="2848" y="848"/>
                <a:chExt cx="140" cy="98"/>
              </a:xfrm>
            </p:grpSpPr>
            <p:sp>
              <p:nvSpPr>
                <p:cNvPr id="76" name="Line 515"/>
                <p:cNvSpPr>
                  <a:spLocks noChangeShapeType="1"/>
                </p:cNvSpPr>
                <p:nvPr/>
              </p:nvSpPr>
              <p:spPr bwMode="auto">
                <a:xfrm flipV="1">
                  <a:off x="2848" y="848"/>
                  <a:ext cx="50" cy="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7" name="Line 516"/>
                <p:cNvSpPr>
                  <a:spLocks noChangeShapeType="1"/>
                </p:cNvSpPr>
                <p:nvPr/>
              </p:nvSpPr>
              <p:spPr bwMode="auto">
                <a:xfrm>
                  <a:off x="2944" y="946"/>
                  <a:ext cx="44"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78" name="Line 517"/>
                <p:cNvSpPr>
                  <a:spLocks noChangeShapeType="1"/>
                </p:cNvSpPr>
                <p:nvPr/>
              </p:nvSpPr>
              <p:spPr bwMode="auto">
                <a:xfrm>
                  <a:off x="2894" y="850"/>
                  <a:ext cx="52" cy="9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grpSp>
        </p:grpSp>
        <p:sp>
          <p:nvSpPr>
            <p:cNvPr id="82" name="Line 518"/>
            <p:cNvSpPr>
              <a:spLocks noChangeShapeType="1"/>
            </p:cNvSpPr>
            <p:nvPr/>
          </p:nvSpPr>
          <p:spPr bwMode="auto">
            <a:xfrm>
              <a:off x="7087471" y="4831944"/>
              <a:ext cx="418056" cy="1517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3" name="Line 519"/>
            <p:cNvSpPr>
              <a:spLocks noChangeShapeType="1"/>
            </p:cNvSpPr>
            <p:nvPr/>
          </p:nvSpPr>
          <p:spPr bwMode="auto">
            <a:xfrm flipV="1">
              <a:off x="6327199" y="4847914"/>
              <a:ext cx="323716" cy="13774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4" name="Line 520"/>
            <p:cNvSpPr>
              <a:spLocks noChangeShapeType="1"/>
            </p:cNvSpPr>
            <p:nvPr/>
          </p:nvSpPr>
          <p:spPr bwMode="auto">
            <a:xfrm flipV="1">
              <a:off x="6377144" y="5103435"/>
              <a:ext cx="113208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5" name="Line 521"/>
            <p:cNvSpPr>
              <a:spLocks noChangeShapeType="1"/>
            </p:cNvSpPr>
            <p:nvPr/>
          </p:nvSpPr>
          <p:spPr bwMode="auto">
            <a:xfrm flipH="1">
              <a:off x="5555829" y="4784033"/>
              <a:ext cx="295969" cy="5908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6" name="Line 522"/>
            <p:cNvSpPr>
              <a:spLocks noChangeShapeType="1"/>
            </p:cNvSpPr>
            <p:nvPr/>
          </p:nvSpPr>
          <p:spPr bwMode="auto">
            <a:xfrm>
              <a:off x="5585426" y="4847914"/>
              <a:ext cx="2293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7" name="Line 523"/>
            <p:cNvSpPr>
              <a:spLocks noChangeShapeType="1"/>
            </p:cNvSpPr>
            <p:nvPr/>
          </p:nvSpPr>
          <p:spPr bwMode="auto">
            <a:xfrm>
              <a:off x="5422643" y="5271121"/>
              <a:ext cx="17943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8" name="Line 524"/>
            <p:cNvSpPr>
              <a:spLocks noChangeShapeType="1"/>
            </p:cNvSpPr>
            <p:nvPr/>
          </p:nvSpPr>
          <p:spPr bwMode="auto">
            <a:xfrm>
              <a:off x="5716763" y="5370935"/>
              <a:ext cx="57159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89" name="Line 525"/>
            <p:cNvSpPr>
              <a:spLocks noChangeShapeType="1"/>
            </p:cNvSpPr>
            <p:nvPr/>
          </p:nvSpPr>
          <p:spPr bwMode="auto">
            <a:xfrm flipH="1">
              <a:off x="5996083" y="5255151"/>
              <a:ext cx="62894" cy="10779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90" name="Line 526"/>
            <p:cNvSpPr>
              <a:spLocks noChangeShapeType="1"/>
            </p:cNvSpPr>
            <p:nvPr/>
          </p:nvSpPr>
          <p:spPr bwMode="auto">
            <a:xfrm>
              <a:off x="5777806" y="5366942"/>
              <a:ext cx="1850" cy="10380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91" name="Line 527"/>
            <p:cNvSpPr>
              <a:spLocks noChangeShapeType="1"/>
            </p:cNvSpPr>
            <p:nvPr/>
          </p:nvSpPr>
          <p:spPr bwMode="auto">
            <a:xfrm flipH="1" flipV="1">
              <a:off x="6240258" y="5376924"/>
              <a:ext cx="0" cy="9582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aphicFrame>
          <p:nvGraphicFramePr>
            <p:cNvPr id="92" name="Object 528"/>
            <p:cNvGraphicFramePr>
              <a:graphicFrameLocks noChangeAspect="1"/>
            </p:cNvGraphicFramePr>
            <p:nvPr/>
          </p:nvGraphicFramePr>
          <p:xfrm>
            <a:off x="5139622" y="5123398"/>
            <a:ext cx="399558" cy="359327"/>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92" name="Object 52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39622" y="5123398"/>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3" name="Object 529"/>
            <p:cNvGraphicFramePr>
              <a:graphicFrameLocks noChangeAspect="1"/>
            </p:cNvGraphicFramePr>
            <p:nvPr/>
          </p:nvGraphicFramePr>
          <p:xfrm>
            <a:off x="5332002" y="4724146"/>
            <a:ext cx="399558" cy="359327"/>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93" name="Object 5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2002" y="4724146"/>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4" name="Object 530"/>
            <p:cNvGraphicFramePr>
              <a:graphicFrameLocks noChangeAspect="1"/>
            </p:cNvGraphicFramePr>
            <p:nvPr/>
          </p:nvGraphicFramePr>
          <p:xfrm>
            <a:off x="5642770" y="5442800"/>
            <a:ext cx="399558" cy="359327"/>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94" name="Object 53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42770" y="5442800"/>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5" name="Object 531"/>
            <p:cNvGraphicFramePr>
              <a:graphicFrameLocks noChangeAspect="1"/>
            </p:cNvGraphicFramePr>
            <p:nvPr/>
          </p:nvGraphicFramePr>
          <p:xfrm>
            <a:off x="6038629" y="5446792"/>
            <a:ext cx="399558" cy="359327"/>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95" name="Object 53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38629" y="5446792"/>
                          <a:ext cx="399558" cy="35932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2" name="Group 532"/>
            <p:cNvGrpSpPr>
              <a:grpSpLocks/>
            </p:cNvGrpSpPr>
            <p:nvPr/>
          </p:nvGrpSpPr>
          <p:grpSpPr bwMode="auto">
            <a:xfrm>
              <a:off x="7096720" y="5604497"/>
              <a:ext cx="318167" cy="429196"/>
              <a:chOff x="2870" y="1518"/>
              <a:chExt cx="292" cy="320"/>
            </a:xfrm>
          </p:grpSpPr>
          <p:graphicFrame>
            <p:nvGraphicFramePr>
              <p:cNvPr id="97" name="Object 533"/>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8" imgW="826829" imgH="840406" progId="">
                      <p:embed/>
                    </p:oleObj>
                  </mc:Choice>
                  <mc:Fallback>
                    <p:oleObj name="Clip" r:id="rId8" imgW="826829" imgH="840406" progId="">
                      <p:embed/>
                      <p:pic>
                        <p:nvPicPr>
                          <p:cNvPr id="97" name="Object 53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8" name="Object 534"/>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0" imgW="1268295" imgH="1199426" progId="">
                      <p:embed/>
                    </p:oleObj>
                  </mc:Choice>
                  <mc:Fallback>
                    <p:oleObj name="Clip" r:id="rId10" imgW="1268295" imgH="1199426" progId="">
                      <p:embed/>
                      <p:pic>
                        <p:nvPicPr>
                          <p:cNvPr id="98" name="Object 534"/>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3" name="Group 535"/>
            <p:cNvGrpSpPr>
              <a:grpSpLocks/>
            </p:cNvGrpSpPr>
            <p:nvPr/>
          </p:nvGrpSpPr>
          <p:grpSpPr bwMode="auto">
            <a:xfrm>
              <a:off x="6571374" y="5668378"/>
              <a:ext cx="406958" cy="405241"/>
              <a:chOff x="2870" y="1518"/>
              <a:chExt cx="292" cy="320"/>
            </a:xfrm>
          </p:grpSpPr>
          <p:graphicFrame>
            <p:nvGraphicFramePr>
              <p:cNvPr id="100" name="Object 536"/>
              <p:cNvGraphicFramePr>
                <a:graphicFrameLocks noChangeAspect="1"/>
              </p:cNvGraphicFramePr>
              <p:nvPr/>
            </p:nvGraphicFramePr>
            <p:xfrm>
              <a:off x="2870" y="1518"/>
              <a:ext cx="272" cy="282"/>
            </p:xfrm>
            <a:graphic>
              <a:graphicData uri="http://schemas.openxmlformats.org/presentationml/2006/ole">
                <mc:AlternateContent xmlns:mc="http://schemas.openxmlformats.org/markup-compatibility/2006">
                  <mc:Choice xmlns:v="urn:schemas-microsoft-com:vml" Requires="v">
                    <p:oleObj name="Clip" r:id="rId12" imgW="826829" imgH="840406" progId="">
                      <p:embed/>
                    </p:oleObj>
                  </mc:Choice>
                  <mc:Fallback>
                    <p:oleObj name="Clip" r:id="rId12" imgW="826829" imgH="840406" progId="">
                      <p:embed/>
                      <p:pic>
                        <p:nvPicPr>
                          <p:cNvPr id="100" name="Object 53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70" y="1518"/>
                            <a:ext cx="272" cy="28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1" name="Object 537"/>
              <p:cNvGraphicFramePr>
                <a:graphicFrameLocks noChangeAspect="1"/>
              </p:cNvGraphicFramePr>
              <p:nvPr/>
            </p:nvGraphicFramePr>
            <p:xfrm>
              <a:off x="2913" y="1602"/>
              <a:ext cx="249" cy="236"/>
            </p:xfrm>
            <a:graphic>
              <a:graphicData uri="http://schemas.openxmlformats.org/presentationml/2006/ole">
                <mc:AlternateContent xmlns:mc="http://schemas.openxmlformats.org/markup-compatibility/2006">
                  <mc:Choice xmlns:v="urn:schemas-microsoft-com:vml" Requires="v">
                    <p:oleObj name="Clip" r:id="rId13" imgW="1268295" imgH="1199426" progId="">
                      <p:embed/>
                    </p:oleObj>
                  </mc:Choice>
                  <mc:Fallback>
                    <p:oleObj name="Clip" r:id="rId13" imgW="1268295" imgH="1199426" progId="">
                      <p:embed/>
                      <p:pic>
                        <p:nvPicPr>
                          <p:cNvPr id="101" name="Object 5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913" y="1602"/>
                            <a:ext cx="249" cy="23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grpSp>
          <p:nvGrpSpPr>
            <p:cNvPr id="24" name="Group 538"/>
            <p:cNvGrpSpPr>
              <a:grpSpLocks/>
            </p:cNvGrpSpPr>
            <p:nvPr/>
          </p:nvGrpSpPr>
          <p:grpSpPr bwMode="auto">
            <a:xfrm>
              <a:off x="6754505" y="5181290"/>
              <a:ext cx="338515" cy="509047"/>
              <a:chOff x="2556" y="2689"/>
              <a:chExt cx="183" cy="255"/>
            </a:xfrm>
          </p:grpSpPr>
          <p:pic>
            <p:nvPicPr>
              <p:cNvPr id="103" name="Picture 539" descr="31u_bnrz[1]"/>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2609" y="2770"/>
                <a:ext cx="121" cy="1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Freeform 540"/>
              <p:cNvSpPr>
                <a:spLocks/>
              </p:cNvSpPr>
              <p:nvPr/>
            </p:nvSpPr>
            <p:spPr bwMode="auto">
              <a:xfrm>
                <a:off x="2605" y="2702"/>
                <a:ext cx="33" cy="39"/>
              </a:xfrm>
              <a:custGeom>
                <a:avLst/>
                <a:gdLst>
                  <a:gd name="T0" fmla="*/ 12 w 199"/>
                  <a:gd name="T1" fmla="*/ 5 h 232"/>
                  <a:gd name="T2" fmla="*/ 9 w 199"/>
                  <a:gd name="T3" fmla="*/ 7 h 232"/>
                  <a:gd name="T4" fmla="*/ 7 w 199"/>
                  <a:gd name="T5" fmla="*/ 8 h 232"/>
                  <a:gd name="T6" fmla="*/ 5 w 199"/>
                  <a:gd name="T7" fmla="*/ 11 h 232"/>
                  <a:gd name="T8" fmla="*/ 3 w 199"/>
                  <a:gd name="T9" fmla="*/ 13 h 232"/>
                  <a:gd name="T10" fmla="*/ 2 w 199"/>
                  <a:gd name="T11" fmla="*/ 15 h 232"/>
                  <a:gd name="T12" fmla="*/ 1 w 199"/>
                  <a:gd name="T13" fmla="*/ 18 h 232"/>
                  <a:gd name="T14" fmla="*/ 0 w 199"/>
                  <a:gd name="T15" fmla="*/ 21 h 232"/>
                  <a:gd name="T16" fmla="*/ 0 w 199"/>
                  <a:gd name="T17" fmla="*/ 24 h 232"/>
                  <a:gd name="T18" fmla="*/ 0 w 199"/>
                  <a:gd name="T19" fmla="*/ 28 h 232"/>
                  <a:gd name="T20" fmla="*/ 2 w 199"/>
                  <a:gd name="T21" fmla="*/ 31 h 232"/>
                  <a:gd name="T22" fmla="*/ 4 w 199"/>
                  <a:gd name="T23" fmla="*/ 34 h 232"/>
                  <a:gd name="T24" fmla="*/ 7 w 199"/>
                  <a:gd name="T25" fmla="*/ 36 h 232"/>
                  <a:gd name="T26" fmla="*/ 11 w 199"/>
                  <a:gd name="T27" fmla="*/ 38 h 232"/>
                  <a:gd name="T28" fmla="*/ 15 w 199"/>
                  <a:gd name="T29" fmla="*/ 39 h 232"/>
                  <a:gd name="T30" fmla="*/ 18 w 199"/>
                  <a:gd name="T31" fmla="*/ 39 h 232"/>
                  <a:gd name="T32" fmla="*/ 22 w 199"/>
                  <a:gd name="T33" fmla="*/ 38 h 232"/>
                  <a:gd name="T34" fmla="*/ 23 w 199"/>
                  <a:gd name="T35" fmla="*/ 38 h 232"/>
                  <a:gd name="T36" fmla="*/ 24 w 199"/>
                  <a:gd name="T37" fmla="*/ 38 h 232"/>
                  <a:gd name="T38" fmla="*/ 24 w 199"/>
                  <a:gd name="T39" fmla="*/ 37 h 232"/>
                  <a:gd name="T40" fmla="*/ 25 w 199"/>
                  <a:gd name="T41" fmla="*/ 37 h 232"/>
                  <a:gd name="T42" fmla="*/ 24 w 199"/>
                  <a:gd name="T43" fmla="*/ 36 h 232"/>
                  <a:gd name="T44" fmla="*/ 23 w 199"/>
                  <a:gd name="T45" fmla="*/ 35 h 232"/>
                  <a:gd name="T46" fmla="*/ 22 w 199"/>
                  <a:gd name="T47" fmla="*/ 34 h 232"/>
                  <a:gd name="T48" fmla="*/ 21 w 199"/>
                  <a:gd name="T49" fmla="*/ 34 h 232"/>
                  <a:gd name="T50" fmla="*/ 19 w 199"/>
                  <a:gd name="T51" fmla="*/ 33 h 232"/>
                  <a:gd name="T52" fmla="*/ 17 w 199"/>
                  <a:gd name="T53" fmla="*/ 33 h 232"/>
                  <a:gd name="T54" fmla="*/ 16 w 199"/>
                  <a:gd name="T55" fmla="*/ 32 h 232"/>
                  <a:gd name="T56" fmla="*/ 14 w 199"/>
                  <a:gd name="T57" fmla="*/ 32 h 232"/>
                  <a:gd name="T58" fmla="*/ 12 w 199"/>
                  <a:gd name="T59" fmla="*/ 31 h 232"/>
                  <a:gd name="T60" fmla="*/ 10 w 199"/>
                  <a:gd name="T61" fmla="*/ 31 h 232"/>
                  <a:gd name="T62" fmla="*/ 9 w 199"/>
                  <a:gd name="T63" fmla="*/ 30 h 232"/>
                  <a:gd name="T64" fmla="*/ 7 w 199"/>
                  <a:gd name="T65" fmla="*/ 28 h 232"/>
                  <a:gd name="T66" fmla="*/ 7 w 199"/>
                  <a:gd name="T67" fmla="*/ 22 h 232"/>
                  <a:gd name="T68" fmla="*/ 8 w 199"/>
                  <a:gd name="T69" fmla="*/ 16 h 232"/>
                  <a:gd name="T70" fmla="*/ 11 w 199"/>
                  <a:gd name="T71" fmla="*/ 12 h 232"/>
                  <a:gd name="T72" fmla="*/ 16 w 199"/>
                  <a:gd name="T73" fmla="*/ 8 h 232"/>
                  <a:gd name="T74" fmla="*/ 20 w 199"/>
                  <a:gd name="T75" fmla="*/ 6 h 232"/>
                  <a:gd name="T76" fmla="*/ 25 w 199"/>
                  <a:gd name="T77" fmla="*/ 4 h 232"/>
                  <a:gd name="T78" fmla="*/ 30 w 199"/>
                  <a:gd name="T79" fmla="*/ 2 h 232"/>
                  <a:gd name="T80" fmla="*/ 33 w 199"/>
                  <a:gd name="T81" fmla="*/ 1 h 232"/>
                  <a:gd name="T82" fmla="*/ 31 w 199"/>
                  <a:gd name="T83" fmla="*/ 0 h 232"/>
                  <a:gd name="T84" fmla="*/ 29 w 199"/>
                  <a:gd name="T85" fmla="*/ 0 h 232"/>
                  <a:gd name="T86" fmla="*/ 26 w 199"/>
                  <a:gd name="T87" fmla="*/ 0 h 232"/>
                  <a:gd name="T88" fmla="*/ 23 w 199"/>
                  <a:gd name="T89" fmla="*/ 1 h 232"/>
                  <a:gd name="T90" fmla="*/ 20 w 199"/>
                  <a:gd name="T91" fmla="*/ 2 h 232"/>
                  <a:gd name="T92" fmla="*/ 17 w 199"/>
                  <a:gd name="T93" fmla="*/ 3 h 232"/>
                  <a:gd name="T94" fmla="*/ 14 w 199"/>
                  <a:gd name="T95" fmla="*/ 4 h 232"/>
                  <a:gd name="T96" fmla="*/ 12 w 199"/>
                  <a:gd name="T97" fmla="*/ 5 h 23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99"/>
                  <a:gd name="T148" fmla="*/ 0 h 232"/>
                  <a:gd name="T149" fmla="*/ 199 w 199"/>
                  <a:gd name="T150" fmla="*/ 232 h 23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99" h="232">
                    <a:moveTo>
                      <a:pt x="70" y="29"/>
                    </a:moveTo>
                    <a:lnTo>
                      <a:pt x="55" y="39"/>
                    </a:lnTo>
                    <a:lnTo>
                      <a:pt x="42" y="50"/>
                    </a:lnTo>
                    <a:lnTo>
                      <a:pt x="30" y="63"/>
                    </a:lnTo>
                    <a:lnTo>
                      <a:pt x="20" y="77"/>
                    </a:lnTo>
                    <a:lnTo>
                      <a:pt x="12" y="91"/>
                    </a:lnTo>
                    <a:lnTo>
                      <a:pt x="6" y="108"/>
                    </a:lnTo>
                    <a:lnTo>
                      <a:pt x="2" y="125"/>
                    </a:lnTo>
                    <a:lnTo>
                      <a:pt x="0" y="142"/>
                    </a:lnTo>
                    <a:lnTo>
                      <a:pt x="2" y="166"/>
                    </a:lnTo>
                    <a:lnTo>
                      <a:pt x="12" y="186"/>
                    </a:lnTo>
                    <a:lnTo>
                      <a:pt x="26" y="203"/>
                    </a:lnTo>
                    <a:lnTo>
                      <a:pt x="45" y="216"/>
                    </a:lnTo>
                    <a:lnTo>
                      <a:pt x="66" y="226"/>
                    </a:lnTo>
                    <a:lnTo>
                      <a:pt x="88" y="230"/>
                    </a:lnTo>
                    <a:lnTo>
                      <a:pt x="111" y="232"/>
                    </a:lnTo>
                    <a:lnTo>
                      <a:pt x="134" y="228"/>
                    </a:lnTo>
                    <a:lnTo>
                      <a:pt x="138" y="228"/>
                    </a:lnTo>
                    <a:lnTo>
                      <a:pt x="143" y="226"/>
                    </a:lnTo>
                    <a:lnTo>
                      <a:pt x="147" y="222"/>
                    </a:lnTo>
                    <a:lnTo>
                      <a:pt x="148" y="218"/>
                    </a:lnTo>
                    <a:lnTo>
                      <a:pt x="145" y="212"/>
                    </a:lnTo>
                    <a:lnTo>
                      <a:pt x="141" y="207"/>
                    </a:lnTo>
                    <a:lnTo>
                      <a:pt x="135" y="203"/>
                    </a:lnTo>
                    <a:lnTo>
                      <a:pt x="129" y="201"/>
                    </a:lnTo>
                    <a:lnTo>
                      <a:pt x="117" y="197"/>
                    </a:lnTo>
                    <a:lnTo>
                      <a:pt x="105" y="195"/>
                    </a:lnTo>
                    <a:lnTo>
                      <a:pt x="94" y="193"/>
                    </a:lnTo>
                    <a:lnTo>
                      <a:pt x="83" y="190"/>
                    </a:lnTo>
                    <a:lnTo>
                      <a:pt x="73" y="187"/>
                    </a:lnTo>
                    <a:lnTo>
                      <a:pt x="62" y="182"/>
                    </a:lnTo>
                    <a:lnTo>
                      <a:pt x="53" y="176"/>
                    </a:lnTo>
                    <a:lnTo>
                      <a:pt x="43" y="167"/>
                    </a:lnTo>
                    <a:lnTo>
                      <a:pt x="40" y="128"/>
                    </a:lnTo>
                    <a:lnTo>
                      <a:pt x="49" y="96"/>
                    </a:lnTo>
                    <a:lnTo>
                      <a:pt x="68" y="71"/>
                    </a:lnTo>
                    <a:lnTo>
                      <a:pt x="94" y="50"/>
                    </a:lnTo>
                    <a:lnTo>
                      <a:pt x="122" y="34"/>
                    </a:lnTo>
                    <a:lnTo>
                      <a:pt x="151" y="21"/>
                    </a:lnTo>
                    <a:lnTo>
                      <a:pt x="178" y="12"/>
                    </a:lnTo>
                    <a:lnTo>
                      <a:pt x="199" y="4"/>
                    </a:lnTo>
                    <a:lnTo>
                      <a:pt x="186" y="1"/>
                    </a:lnTo>
                    <a:lnTo>
                      <a:pt x="172" y="0"/>
                    </a:lnTo>
                    <a:lnTo>
                      <a:pt x="156" y="2"/>
                    </a:lnTo>
                    <a:lnTo>
                      <a:pt x="138" y="4"/>
                    </a:lnTo>
                    <a:lnTo>
                      <a:pt x="121" y="10"/>
                    </a:lnTo>
                    <a:lnTo>
                      <a:pt x="103" y="16"/>
                    </a:lnTo>
                    <a:lnTo>
                      <a:pt x="86" y="23"/>
                    </a:lnTo>
                    <a:lnTo>
                      <a:pt x="70" y="2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5" name="Freeform 541"/>
              <p:cNvSpPr>
                <a:spLocks/>
              </p:cNvSpPr>
              <p:nvPr/>
            </p:nvSpPr>
            <p:spPr bwMode="auto">
              <a:xfrm>
                <a:off x="2661" y="2701"/>
                <a:ext cx="22" cy="30"/>
              </a:xfrm>
              <a:custGeom>
                <a:avLst/>
                <a:gdLst>
                  <a:gd name="T0" fmla="*/ 19 w 128"/>
                  <a:gd name="T1" fmla="*/ 10 h 180"/>
                  <a:gd name="T2" fmla="*/ 19 w 128"/>
                  <a:gd name="T3" fmla="*/ 13 h 180"/>
                  <a:gd name="T4" fmla="*/ 19 w 128"/>
                  <a:gd name="T5" fmla="*/ 16 h 180"/>
                  <a:gd name="T6" fmla="*/ 18 w 128"/>
                  <a:gd name="T7" fmla="*/ 18 h 180"/>
                  <a:gd name="T8" fmla="*/ 16 w 128"/>
                  <a:gd name="T9" fmla="*/ 20 h 180"/>
                  <a:gd name="T10" fmla="*/ 13 w 128"/>
                  <a:gd name="T11" fmla="*/ 22 h 180"/>
                  <a:gd name="T12" fmla="*/ 10 w 128"/>
                  <a:gd name="T13" fmla="*/ 24 h 180"/>
                  <a:gd name="T14" fmla="*/ 8 w 128"/>
                  <a:gd name="T15" fmla="*/ 26 h 180"/>
                  <a:gd name="T16" fmla="*/ 5 w 128"/>
                  <a:gd name="T17" fmla="*/ 27 h 180"/>
                  <a:gd name="T18" fmla="*/ 5 w 128"/>
                  <a:gd name="T19" fmla="*/ 28 h 180"/>
                  <a:gd name="T20" fmla="*/ 5 w 128"/>
                  <a:gd name="T21" fmla="*/ 28 h 180"/>
                  <a:gd name="T22" fmla="*/ 5 w 128"/>
                  <a:gd name="T23" fmla="*/ 29 h 180"/>
                  <a:gd name="T24" fmla="*/ 5 w 128"/>
                  <a:gd name="T25" fmla="*/ 30 h 180"/>
                  <a:gd name="T26" fmla="*/ 6 w 128"/>
                  <a:gd name="T27" fmla="*/ 30 h 180"/>
                  <a:gd name="T28" fmla="*/ 6 w 128"/>
                  <a:gd name="T29" fmla="*/ 30 h 180"/>
                  <a:gd name="T30" fmla="*/ 6 w 128"/>
                  <a:gd name="T31" fmla="*/ 30 h 180"/>
                  <a:gd name="T32" fmla="*/ 7 w 128"/>
                  <a:gd name="T33" fmla="*/ 30 h 180"/>
                  <a:gd name="T34" fmla="*/ 10 w 128"/>
                  <a:gd name="T35" fmla="*/ 28 h 180"/>
                  <a:gd name="T36" fmla="*/ 13 w 128"/>
                  <a:gd name="T37" fmla="*/ 26 h 180"/>
                  <a:gd name="T38" fmla="*/ 16 w 128"/>
                  <a:gd name="T39" fmla="*/ 24 h 180"/>
                  <a:gd name="T40" fmla="*/ 19 w 128"/>
                  <a:gd name="T41" fmla="*/ 22 h 180"/>
                  <a:gd name="T42" fmla="*/ 21 w 128"/>
                  <a:gd name="T43" fmla="*/ 19 h 180"/>
                  <a:gd name="T44" fmla="*/ 22 w 128"/>
                  <a:gd name="T45" fmla="*/ 16 h 180"/>
                  <a:gd name="T46" fmla="*/ 22 w 128"/>
                  <a:gd name="T47" fmla="*/ 13 h 180"/>
                  <a:gd name="T48" fmla="*/ 21 w 128"/>
                  <a:gd name="T49" fmla="*/ 9 h 180"/>
                  <a:gd name="T50" fmla="*/ 19 w 128"/>
                  <a:gd name="T51" fmla="*/ 7 h 180"/>
                  <a:gd name="T52" fmla="*/ 17 w 128"/>
                  <a:gd name="T53" fmla="*/ 4 h 180"/>
                  <a:gd name="T54" fmla="*/ 14 w 128"/>
                  <a:gd name="T55" fmla="*/ 2 h 180"/>
                  <a:gd name="T56" fmla="*/ 10 w 128"/>
                  <a:gd name="T57" fmla="*/ 1 h 180"/>
                  <a:gd name="T58" fmla="*/ 6 w 128"/>
                  <a:gd name="T59" fmla="*/ 0 h 180"/>
                  <a:gd name="T60" fmla="*/ 3 w 128"/>
                  <a:gd name="T61" fmla="*/ 0 h 180"/>
                  <a:gd name="T62" fmla="*/ 1 w 128"/>
                  <a:gd name="T63" fmla="*/ 0 h 180"/>
                  <a:gd name="T64" fmla="*/ 0 w 128"/>
                  <a:gd name="T65" fmla="*/ 1 h 180"/>
                  <a:gd name="T66" fmla="*/ 2 w 128"/>
                  <a:gd name="T67" fmla="*/ 2 h 180"/>
                  <a:gd name="T68" fmla="*/ 5 w 128"/>
                  <a:gd name="T69" fmla="*/ 2 h 180"/>
                  <a:gd name="T70" fmla="*/ 8 w 128"/>
                  <a:gd name="T71" fmla="*/ 3 h 180"/>
                  <a:gd name="T72" fmla="*/ 10 w 128"/>
                  <a:gd name="T73" fmla="*/ 4 h 180"/>
                  <a:gd name="T74" fmla="*/ 13 w 128"/>
                  <a:gd name="T75" fmla="*/ 5 h 180"/>
                  <a:gd name="T76" fmla="*/ 15 w 128"/>
                  <a:gd name="T77" fmla="*/ 6 h 180"/>
                  <a:gd name="T78" fmla="*/ 17 w 128"/>
                  <a:gd name="T79" fmla="*/ 8 h 180"/>
                  <a:gd name="T80" fmla="*/ 19 w 128"/>
                  <a:gd name="T81" fmla="*/ 10 h 18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0"/>
                  <a:gd name="T125" fmla="*/ 128 w 128"/>
                  <a:gd name="T126" fmla="*/ 180 h 18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0">
                    <a:moveTo>
                      <a:pt x="108" y="59"/>
                    </a:moveTo>
                    <a:lnTo>
                      <a:pt x="113" y="77"/>
                    </a:lnTo>
                    <a:lnTo>
                      <a:pt x="111" y="94"/>
                    </a:lnTo>
                    <a:lnTo>
                      <a:pt x="103" y="108"/>
                    </a:lnTo>
                    <a:lnTo>
                      <a:pt x="91" y="121"/>
                    </a:lnTo>
                    <a:lnTo>
                      <a:pt x="77" y="132"/>
                    </a:lnTo>
                    <a:lnTo>
                      <a:pt x="61" y="144"/>
                    </a:lnTo>
                    <a:lnTo>
                      <a:pt x="45" y="154"/>
                    </a:lnTo>
                    <a:lnTo>
                      <a:pt x="30" y="164"/>
                    </a:lnTo>
                    <a:lnTo>
                      <a:pt x="28" y="168"/>
                    </a:lnTo>
                    <a:lnTo>
                      <a:pt x="27" y="170"/>
                    </a:lnTo>
                    <a:lnTo>
                      <a:pt x="27" y="174"/>
                    </a:lnTo>
                    <a:lnTo>
                      <a:pt x="28" y="177"/>
                    </a:lnTo>
                    <a:lnTo>
                      <a:pt x="32" y="179"/>
                    </a:lnTo>
                    <a:lnTo>
                      <a:pt x="35" y="180"/>
                    </a:lnTo>
                    <a:lnTo>
                      <a:pt x="37" y="180"/>
                    </a:lnTo>
                    <a:lnTo>
                      <a:pt x="41" y="179"/>
                    </a:lnTo>
                    <a:lnTo>
                      <a:pt x="60" y="169"/>
                    </a:lnTo>
                    <a:lnTo>
                      <a:pt x="77" y="158"/>
                    </a:lnTo>
                    <a:lnTo>
                      <a:pt x="94" y="145"/>
                    </a:lnTo>
                    <a:lnTo>
                      <a:pt x="109" y="130"/>
                    </a:lnTo>
                    <a:lnTo>
                      <a:pt x="120" y="114"/>
                    </a:lnTo>
                    <a:lnTo>
                      <a:pt x="127" y="95"/>
                    </a:lnTo>
                    <a:lnTo>
                      <a:pt x="128" y="76"/>
                    </a:lnTo>
                    <a:lnTo>
                      <a:pt x="123" y="55"/>
                    </a:lnTo>
                    <a:lnTo>
                      <a:pt x="113" y="39"/>
                    </a:lnTo>
                    <a:lnTo>
                      <a:pt x="97" y="25"/>
                    </a:lnTo>
                    <a:lnTo>
                      <a:pt x="79" y="15"/>
                    </a:lnTo>
                    <a:lnTo>
                      <a:pt x="57" y="7"/>
                    </a:lnTo>
                    <a:lnTo>
                      <a:pt x="36" y="2"/>
                    </a:lnTo>
                    <a:lnTo>
                      <a:pt x="19" y="0"/>
                    </a:lnTo>
                    <a:lnTo>
                      <a:pt x="6" y="0"/>
                    </a:lnTo>
                    <a:lnTo>
                      <a:pt x="0" y="4"/>
                    </a:lnTo>
                    <a:lnTo>
                      <a:pt x="14" y="9"/>
                    </a:lnTo>
                    <a:lnTo>
                      <a:pt x="29" y="14"/>
                    </a:lnTo>
                    <a:lnTo>
                      <a:pt x="46" y="19"/>
                    </a:lnTo>
                    <a:lnTo>
                      <a:pt x="61" y="23"/>
                    </a:lnTo>
                    <a:lnTo>
                      <a:pt x="76" y="29"/>
                    </a:lnTo>
                    <a:lnTo>
                      <a:pt x="89" y="37"/>
                    </a:lnTo>
                    <a:lnTo>
                      <a:pt x="100" y="46"/>
                    </a:lnTo>
                    <a:lnTo>
                      <a:pt x="108" y="5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6" name="Freeform 542"/>
              <p:cNvSpPr>
                <a:spLocks/>
              </p:cNvSpPr>
              <p:nvPr/>
            </p:nvSpPr>
            <p:spPr bwMode="auto">
              <a:xfrm>
                <a:off x="2584" y="2694"/>
                <a:ext cx="54" cy="63"/>
              </a:xfrm>
              <a:custGeom>
                <a:avLst/>
                <a:gdLst>
                  <a:gd name="T0" fmla="*/ 17 w 322"/>
                  <a:gd name="T1" fmla="*/ 12 h 378"/>
                  <a:gd name="T2" fmla="*/ 9 w 322"/>
                  <a:gd name="T3" fmla="*/ 19 h 378"/>
                  <a:gd name="T4" fmla="*/ 3 w 322"/>
                  <a:gd name="T5" fmla="*/ 28 h 378"/>
                  <a:gd name="T6" fmla="*/ 0 w 322"/>
                  <a:gd name="T7" fmla="*/ 38 h 378"/>
                  <a:gd name="T8" fmla="*/ 1 w 322"/>
                  <a:gd name="T9" fmla="*/ 44 h 378"/>
                  <a:gd name="T10" fmla="*/ 2 w 322"/>
                  <a:gd name="T11" fmla="*/ 47 h 378"/>
                  <a:gd name="T12" fmla="*/ 3 w 322"/>
                  <a:gd name="T13" fmla="*/ 50 h 378"/>
                  <a:gd name="T14" fmla="*/ 5 w 322"/>
                  <a:gd name="T15" fmla="*/ 52 h 378"/>
                  <a:gd name="T16" fmla="*/ 9 w 322"/>
                  <a:gd name="T17" fmla="*/ 54 h 378"/>
                  <a:gd name="T18" fmla="*/ 14 w 322"/>
                  <a:gd name="T19" fmla="*/ 56 h 378"/>
                  <a:gd name="T20" fmla="*/ 20 w 322"/>
                  <a:gd name="T21" fmla="*/ 58 h 378"/>
                  <a:gd name="T22" fmla="*/ 25 w 322"/>
                  <a:gd name="T23" fmla="*/ 60 h 378"/>
                  <a:gd name="T24" fmla="*/ 31 w 322"/>
                  <a:gd name="T25" fmla="*/ 61 h 378"/>
                  <a:gd name="T26" fmla="*/ 37 w 322"/>
                  <a:gd name="T27" fmla="*/ 62 h 378"/>
                  <a:gd name="T28" fmla="*/ 43 w 322"/>
                  <a:gd name="T29" fmla="*/ 62 h 378"/>
                  <a:gd name="T30" fmla="*/ 48 w 322"/>
                  <a:gd name="T31" fmla="*/ 63 h 378"/>
                  <a:gd name="T32" fmla="*/ 52 w 322"/>
                  <a:gd name="T33" fmla="*/ 63 h 378"/>
                  <a:gd name="T34" fmla="*/ 54 w 322"/>
                  <a:gd name="T35" fmla="*/ 62 h 378"/>
                  <a:gd name="T36" fmla="*/ 54 w 322"/>
                  <a:gd name="T37" fmla="*/ 60 h 378"/>
                  <a:gd name="T38" fmla="*/ 53 w 322"/>
                  <a:gd name="T39" fmla="*/ 59 h 378"/>
                  <a:gd name="T40" fmla="*/ 49 w 322"/>
                  <a:gd name="T41" fmla="*/ 58 h 378"/>
                  <a:gd name="T42" fmla="*/ 44 w 322"/>
                  <a:gd name="T43" fmla="*/ 57 h 378"/>
                  <a:gd name="T44" fmla="*/ 39 w 322"/>
                  <a:gd name="T45" fmla="*/ 56 h 378"/>
                  <a:gd name="T46" fmla="*/ 34 w 322"/>
                  <a:gd name="T47" fmla="*/ 55 h 378"/>
                  <a:gd name="T48" fmla="*/ 29 w 322"/>
                  <a:gd name="T49" fmla="*/ 54 h 378"/>
                  <a:gd name="T50" fmla="*/ 23 w 322"/>
                  <a:gd name="T51" fmla="*/ 53 h 378"/>
                  <a:gd name="T52" fmla="*/ 18 w 322"/>
                  <a:gd name="T53" fmla="*/ 52 h 378"/>
                  <a:gd name="T54" fmla="*/ 13 w 322"/>
                  <a:gd name="T55" fmla="*/ 50 h 378"/>
                  <a:gd name="T56" fmla="*/ 9 w 322"/>
                  <a:gd name="T57" fmla="*/ 47 h 378"/>
                  <a:gd name="T58" fmla="*/ 6 w 322"/>
                  <a:gd name="T59" fmla="*/ 43 h 378"/>
                  <a:gd name="T60" fmla="*/ 6 w 322"/>
                  <a:gd name="T61" fmla="*/ 39 h 378"/>
                  <a:gd name="T62" fmla="*/ 6 w 322"/>
                  <a:gd name="T63" fmla="*/ 33 h 378"/>
                  <a:gd name="T64" fmla="*/ 9 w 322"/>
                  <a:gd name="T65" fmla="*/ 28 h 378"/>
                  <a:gd name="T66" fmla="*/ 12 w 322"/>
                  <a:gd name="T67" fmla="*/ 23 h 378"/>
                  <a:gd name="T68" fmla="*/ 16 w 322"/>
                  <a:gd name="T69" fmla="*/ 18 h 378"/>
                  <a:gd name="T70" fmla="*/ 21 w 322"/>
                  <a:gd name="T71" fmla="*/ 14 h 378"/>
                  <a:gd name="T72" fmla="*/ 26 w 322"/>
                  <a:gd name="T73" fmla="*/ 9 h 378"/>
                  <a:gd name="T74" fmla="*/ 33 w 322"/>
                  <a:gd name="T75" fmla="*/ 6 h 378"/>
                  <a:gd name="T76" fmla="*/ 40 w 322"/>
                  <a:gd name="T77" fmla="*/ 3 h 378"/>
                  <a:gd name="T78" fmla="*/ 44 w 322"/>
                  <a:gd name="T79" fmla="*/ 1 h 378"/>
                  <a:gd name="T80" fmla="*/ 43 w 322"/>
                  <a:gd name="T81" fmla="*/ 0 h 378"/>
                  <a:gd name="T82" fmla="*/ 37 w 322"/>
                  <a:gd name="T83" fmla="*/ 1 h 378"/>
                  <a:gd name="T84" fmla="*/ 30 w 322"/>
                  <a:gd name="T85" fmla="*/ 3 h 378"/>
                  <a:gd name="T86" fmla="*/ 24 w 322"/>
                  <a:gd name="T87" fmla="*/ 6 h 378"/>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2"/>
                  <a:gd name="T133" fmla="*/ 0 h 378"/>
                  <a:gd name="T134" fmla="*/ 322 w 322"/>
                  <a:gd name="T135" fmla="*/ 378 h 378"/>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2" h="378">
                    <a:moveTo>
                      <a:pt x="125" y="49"/>
                    </a:moveTo>
                    <a:lnTo>
                      <a:pt x="100" y="70"/>
                    </a:lnTo>
                    <a:lnTo>
                      <a:pt x="76" y="90"/>
                    </a:lnTo>
                    <a:lnTo>
                      <a:pt x="53" y="115"/>
                    </a:lnTo>
                    <a:lnTo>
                      <a:pt x="34" y="140"/>
                    </a:lnTo>
                    <a:lnTo>
                      <a:pt x="17" y="166"/>
                    </a:lnTo>
                    <a:lnTo>
                      <a:pt x="5" y="195"/>
                    </a:lnTo>
                    <a:lnTo>
                      <a:pt x="0" y="226"/>
                    </a:lnTo>
                    <a:lnTo>
                      <a:pt x="1" y="258"/>
                    </a:lnTo>
                    <a:lnTo>
                      <a:pt x="3" y="266"/>
                    </a:lnTo>
                    <a:lnTo>
                      <a:pt x="5" y="275"/>
                    </a:lnTo>
                    <a:lnTo>
                      <a:pt x="9" y="282"/>
                    </a:lnTo>
                    <a:lnTo>
                      <a:pt x="14" y="290"/>
                    </a:lnTo>
                    <a:lnTo>
                      <a:pt x="19" y="297"/>
                    </a:lnTo>
                    <a:lnTo>
                      <a:pt x="26" y="304"/>
                    </a:lnTo>
                    <a:lnTo>
                      <a:pt x="32" y="310"/>
                    </a:lnTo>
                    <a:lnTo>
                      <a:pt x="41" y="314"/>
                    </a:lnTo>
                    <a:lnTo>
                      <a:pt x="56" y="324"/>
                    </a:lnTo>
                    <a:lnTo>
                      <a:pt x="71" y="332"/>
                    </a:lnTo>
                    <a:lnTo>
                      <a:pt x="86" y="338"/>
                    </a:lnTo>
                    <a:lnTo>
                      <a:pt x="103" y="344"/>
                    </a:lnTo>
                    <a:lnTo>
                      <a:pt x="119" y="350"/>
                    </a:lnTo>
                    <a:lnTo>
                      <a:pt x="136" y="355"/>
                    </a:lnTo>
                    <a:lnTo>
                      <a:pt x="152" y="359"/>
                    </a:lnTo>
                    <a:lnTo>
                      <a:pt x="168" y="363"/>
                    </a:lnTo>
                    <a:lnTo>
                      <a:pt x="186" y="366"/>
                    </a:lnTo>
                    <a:lnTo>
                      <a:pt x="202" y="368"/>
                    </a:lnTo>
                    <a:lnTo>
                      <a:pt x="220" y="371"/>
                    </a:lnTo>
                    <a:lnTo>
                      <a:pt x="238" y="373"/>
                    </a:lnTo>
                    <a:lnTo>
                      <a:pt x="254" y="374"/>
                    </a:lnTo>
                    <a:lnTo>
                      <a:pt x="272" y="375"/>
                    </a:lnTo>
                    <a:lnTo>
                      <a:pt x="289" y="376"/>
                    </a:lnTo>
                    <a:lnTo>
                      <a:pt x="306" y="378"/>
                    </a:lnTo>
                    <a:lnTo>
                      <a:pt x="311" y="378"/>
                    </a:lnTo>
                    <a:lnTo>
                      <a:pt x="316" y="375"/>
                    </a:lnTo>
                    <a:lnTo>
                      <a:pt x="320" y="371"/>
                    </a:lnTo>
                    <a:lnTo>
                      <a:pt x="322" y="366"/>
                    </a:lnTo>
                    <a:lnTo>
                      <a:pt x="322" y="360"/>
                    </a:lnTo>
                    <a:lnTo>
                      <a:pt x="320" y="356"/>
                    </a:lnTo>
                    <a:lnTo>
                      <a:pt x="315" y="352"/>
                    </a:lnTo>
                    <a:lnTo>
                      <a:pt x="309" y="350"/>
                    </a:lnTo>
                    <a:lnTo>
                      <a:pt x="294" y="347"/>
                    </a:lnTo>
                    <a:lnTo>
                      <a:pt x="279" y="344"/>
                    </a:lnTo>
                    <a:lnTo>
                      <a:pt x="263" y="341"/>
                    </a:lnTo>
                    <a:lnTo>
                      <a:pt x="247" y="338"/>
                    </a:lnTo>
                    <a:lnTo>
                      <a:pt x="232" y="336"/>
                    </a:lnTo>
                    <a:lnTo>
                      <a:pt x="216" y="334"/>
                    </a:lnTo>
                    <a:lnTo>
                      <a:pt x="200" y="332"/>
                    </a:lnTo>
                    <a:lnTo>
                      <a:pt x="185" y="328"/>
                    </a:lnTo>
                    <a:lnTo>
                      <a:pt x="170" y="326"/>
                    </a:lnTo>
                    <a:lnTo>
                      <a:pt x="154" y="322"/>
                    </a:lnTo>
                    <a:lnTo>
                      <a:pt x="139" y="318"/>
                    </a:lnTo>
                    <a:lnTo>
                      <a:pt x="124" y="314"/>
                    </a:lnTo>
                    <a:lnTo>
                      <a:pt x="110" y="309"/>
                    </a:lnTo>
                    <a:lnTo>
                      <a:pt x="94" y="303"/>
                    </a:lnTo>
                    <a:lnTo>
                      <a:pt x="80" y="297"/>
                    </a:lnTo>
                    <a:lnTo>
                      <a:pt x="66" y="289"/>
                    </a:lnTo>
                    <a:lnTo>
                      <a:pt x="55" y="281"/>
                    </a:lnTo>
                    <a:lnTo>
                      <a:pt x="45" y="271"/>
                    </a:lnTo>
                    <a:lnTo>
                      <a:pt x="38" y="259"/>
                    </a:lnTo>
                    <a:lnTo>
                      <a:pt x="35" y="245"/>
                    </a:lnTo>
                    <a:lnTo>
                      <a:pt x="34" y="232"/>
                    </a:lnTo>
                    <a:lnTo>
                      <a:pt x="35" y="216"/>
                    </a:lnTo>
                    <a:lnTo>
                      <a:pt x="38" y="200"/>
                    </a:lnTo>
                    <a:lnTo>
                      <a:pt x="43" y="187"/>
                    </a:lnTo>
                    <a:lnTo>
                      <a:pt x="51" y="170"/>
                    </a:lnTo>
                    <a:lnTo>
                      <a:pt x="60" y="152"/>
                    </a:lnTo>
                    <a:lnTo>
                      <a:pt x="71" y="137"/>
                    </a:lnTo>
                    <a:lnTo>
                      <a:pt x="83" y="124"/>
                    </a:lnTo>
                    <a:lnTo>
                      <a:pt x="94" y="110"/>
                    </a:lnTo>
                    <a:lnTo>
                      <a:pt x="107" y="96"/>
                    </a:lnTo>
                    <a:lnTo>
                      <a:pt x="123" y="82"/>
                    </a:lnTo>
                    <a:lnTo>
                      <a:pt x="138" y="69"/>
                    </a:lnTo>
                    <a:lnTo>
                      <a:pt x="153" y="57"/>
                    </a:lnTo>
                    <a:lnTo>
                      <a:pt x="173" y="47"/>
                    </a:lnTo>
                    <a:lnTo>
                      <a:pt x="195" y="38"/>
                    </a:lnTo>
                    <a:lnTo>
                      <a:pt x="218" y="28"/>
                    </a:lnTo>
                    <a:lnTo>
                      <a:pt x="238" y="20"/>
                    </a:lnTo>
                    <a:lnTo>
                      <a:pt x="254" y="13"/>
                    </a:lnTo>
                    <a:lnTo>
                      <a:pt x="264" y="7"/>
                    </a:lnTo>
                    <a:lnTo>
                      <a:pt x="268" y="2"/>
                    </a:lnTo>
                    <a:lnTo>
                      <a:pt x="256" y="0"/>
                    </a:lnTo>
                    <a:lnTo>
                      <a:pt x="240" y="1"/>
                    </a:lnTo>
                    <a:lnTo>
                      <a:pt x="221" y="4"/>
                    </a:lnTo>
                    <a:lnTo>
                      <a:pt x="201" y="10"/>
                    </a:lnTo>
                    <a:lnTo>
                      <a:pt x="180" y="18"/>
                    </a:lnTo>
                    <a:lnTo>
                      <a:pt x="160" y="27"/>
                    </a:lnTo>
                    <a:lnTo>
                      <a:pt x="141" y="38"/>
                    </a:lnTo>
                    <a:lnTo>
                      <a:pt x="125" y="49"/>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7" name="Freeform 543"/>
              <p:cNvSpPr>
                <a:spLocks/>
              </p:cNvSpPr>
              <p:nvPr/>
            </p:nvSpPr>
            <p:spPr bwMode="auto">
              <a:xfrm>
                <a:off x="2660" y="2692"/>
                <a:ext cx="47" cy="42"/>
              </a:xfrm>
              <a:custGeom>
                <a:avLst/>
                <a:gdLst>
                  <a:gd name="T0" fmla="*/ 39 w 283"/>
                  <a:gd name="T1" fmla="*/ 13 h 252"/>
                  <a:gd name="T2" fmla="*/ 41 w 283"/>
                  <a:gd name="T3" fmla="*/ 15 h 252"/>
                  <a:gd name="T4" fmla="*/ 43 w 283"/>
                  <a:gd name="T5" fmla="*/ 18 h 252"/>
                  <a:gd name="T6" fmla="*/ 43 w 283"/>
                  <a:gd name="T7" fmla="*/ 21 h 252"/>
                  <a:gd name="T8" fmla="*/ 43 w 283"/>
                  <a:gd name="T9" fmla="*/ 24 h 252"/>
                  <a:gd name="T10" fmla="*/ 43 w 283"/>
                  <a:gd name="T11" fmla="*/ 26 h 252"/>
                  <a:gd name="T12" fmla="*/ 42 w 283"/>
                  <a:gd name="T13" fmla="*/ 28 h 252"/>
                  <a:gd name="T14" fmla="*/ 41 w 283"/>
                  <a:gd name="T15" fmla="*/ 31 h 252"/>
                  <a:gd name="T16" fmla="*/ 39 w 283"/>
                  <a:gd name="T17" fmla="*/ 32 h 252"/>
                  <a:gd name="T18" fmla="*/ 37 w 283"/>
                  <a:gd name="T19" fmla="*/ 34 h 252"/>
                  <a:gd name="T20" fmla="*/ 36 w 283"/>
                  <a:gd name="T21" fmla="*/ 36 h 252"/>
                  <a:gd name="T22" fmla="*/ 34 w 283"/>
                  <a:gd name="T23" fmla="*/ 37 h 252"/>
                  <a:gd name="T24" fmla="*/ 32 w 283"/>
                  <a:gd name="T25" fmla="*/ 39 h 252"/>
                  <a:gd name="T26" fmla="*/ 32 w 283"/>
                  <a:gd name="T27" fmla="*/ 40 h 252"/>
                  <a:gd name="T28" fmla="*/ 32 w 283"/>
                  <a:gd name="T29" fmla="*/ 40 h 252"/>
                  <a:gd name="T30" fmla="*/ 32 w 283"/>
                  <a:gd name="T31" fmla="*/ 41 h 252"/>
                  <a:gd name="T32" fmla="*/ 32 w 283"/>
                  <a:gd name="T33" fmla="*/ 41 h 252"/>
                  <a:gd name="T34" fmla="*/ 33 w 283"/>
                  <a:gd name="T35" fmla="*/ 42 h 252"/>
                  <a:gd name="T36" fmla="*/ 34 w 283"/>
                  <a:gd name="T37" fmla="*/ 42 h 252"/>
                  <a:gd name="T38" fmla="*/ 34 w 283"/>
                  <a:gd name="T39" fmla="*/ 42 h 252"/>
                  <a:gd name="T40" fmla="*/ 35 w 283"/>
                  <a:gd name="T41" fmla="*/ 41 h 252"/>
                  <a:gd name="T42" fmla="*/ 39 w 283"/>
                  <a:gd name="T43" fmla="*/ 39 h 252"/>
                  <a:gd name="T44" fmla="*/ 42 w 283"/>
                  <a:gd name="T45" fmla="*/ 36 h 252"/>
                  <a:gd name="T46" fmla="*/ 45 w 283"/>
                  <a:gd name="T47" fmla="*/ 32 h 252"/>
                  <a:gd name="T48" fmla="*/ 46 w 283"/>
                  <a:gd name="T49" fmla="*/ 28 h 252"/>
                  <a:gd name="T50" fmla="*/ 47 w 283"/>
                  <a:gd name="T51" fmla="*/ 24 h 252"/>
                  <a:gd name="T52" fmla="*/ 47 w 283"/>
                  <a:gd name="T53" fmla="*/ 19 h 252"/>
                  <a:gd name="T54" fmla="*/ 45 w 283"/>
                  <a:gd name="T55" fmla="*/ 15 h 252"/>
                  <a:gd name="T56" fmla="*/ 42 w 283"/>
                  <a:gd name="T57" fmla="*/ 12 h 252"/>
                  <a:gd name="T58" fmla="*/ 40 w 283"/>
                  <a:gd name="T59" fmla="*/ 10 h 252"/>
                  <a:gd name="T60" fmla="*/ 37 w 283"/>
                  <a:gd name="T61" fmla="*/ 8 h 252"/>
                  <a:gd name="T62" fmla="*/ 34 w 283"/>
                  <a:gd name="T63" fmla="*/ 7 h 252"/>
                  <a:gd name="T64" fmla="*/ 31 w 283"/>
                  <a:gd name="T65" fmla="*/ 5 h 252"/>
                  <a:gd name="T66" fmla="*/ 27 w 283"/>
                  <a:gd name="T67" fmla="*/ 4 h 252"/>
                  <a:gd name="T68" fmla="*/ 24 w 283"/>
                  <a:gd name="T69" fmla="*/ 3 h 252"/>
                  <a:gd name="T70" fmla="*/ 20 w 283"/>
                  <a:gd name="T71" fmla="*/ 2 h 252"/>
                  <a:gd name="T72" fmla="*/ 17 w 283"/>
                  <a:gd name="T73" fmla="*/ 1 h 252"/>
                  <a:gd name="T74" fmla="*/ 14 w 283"/>
                  <a:gd name="T75" fmla="*/ 1 h 252"/>
                  <a:gd name="T76" fmla="*/ 11 w 283"/>
                  <a:gd name="T77" fmla="*/ 0 h 252"/>
                  <a:gd name="T78" fmla="*/ 8 w 283"/>
                  <a:gd name="T79" fmla="*/ 0 h 252"/>
                  <a:gd name="T80" fmla="*/ 6 w 283"/>
                  <a:gd name="T81" fmla="*/ 0 h 252"/>
                  <a:gd name="T82" fmla="*/ 3 w 283"/>
                  <a:gd name="T83" fmla="*/ 0 h 252"/>
                  <a:gd name="T84" fmla="*/ 2 w 283"/>
                  <a:gd name="T85" fmla="*/ 0 h 252"/>
                  <a:gd name="T86" fmla="*/ 1 w 283"/>
                  <a:gd name="T87" fmla="*/ 0 h 252"/>
                  <a:gd name="T88" fmla="*/ 0 w 283"/>
                  <a:gd name="T89" fmla="*/ 1 h 252"/>
                  <a:gd name="T90" fmla="*/ 2 w 283"/>
                  <a:gd name="T91" fmla="*/ 1 h 252"/>
                  <a:gd name="T92" fmla="*/ 4 w 283"/>
                  <a:gd name="T93" fmla="*/ 1 h 252"/>
                  <a:gd name="T94" fmla="*/ 6 w 283"/>
                  <a:gd name="T95" fmla="*/ 2 h 252"/>
                  <a:gd name="T96" fmla="*/ 9 w 283"/>
                  <a:gd name="T97" fmla="*/ 2 h 252"/>
                  <a:gd name="T98" fmla="*/ 11 w 283"/>
                  <a:gd name="T99" fmla="*/ 3 h 252"/>
                  <a:gd name="T100" fmla="*/ 14 w 283"/>
                  <a:gd name="T101" fmla="*/ 3 h 252"/>
                  <a:gd name="T102" fmla="*/ 16 w 283"/>
                  <a:gd name="T103" fmla="*/ 4 h 252"/>
                  <a:gd name="T104" fmla="*/ 19 w 283"/>
                  <a:gd name="T105" fmla="*/ 4 h 252"/>
                  <a:gd name="T106" fmla="*/ 21 w 283"/>
                  <a:gd name="T107" fmla="*/ 5 h 252"/>
                  <a:gd name="T108" fmla="*/ 24 w 283"/>
                  <a:gd name="T109" fmla="*/ 6 h 252"/>
                  <a:gd name="T110" fmla="*/ 27 w 283"/>
                  <a:gd name="T111" fmla="*/ 7 h 252"/>
                  <a:gd name="T112" fmla="*/ 29 w 283"/>
                  <a:gd name="T113" fmla="*/ 8 h 252"/>
                  <a:gd name="T114" fmla="*/ 32 w 283"/>
                  <a:gd name="T115" fmla="*/ 9 h 252"/>
                  <a:gd name="T116" fmla="*/ 35 w 283"/>
                  <a:gd name="T117" fmla="*/ 10 h 252"/>
                  <a:gd name="T118" fmla="*/ 37 w 283"/>
                  <a:gd name="T119" fmla="*/ 11 h 252"/>
                  <a:gd name="T120" fmla="*/ 39 w 283"/>
                  <a:gd name="T121" fmla="*/ 13 h 25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3"/>
                  <a:gd name="T184" fmla="*/ 0 h 252"/>
                  <a:gd name="T185" fmla="*/ 283 w 283"/>
                  <a:gd name="T186" fmla="*/ 252 h 25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3" h="252">
                    <a:moveTo>
                      <a:pt x="235" y="77"/>
                    </a:moveTo>
                    <a:lnTo>
                      <a:pt x="248" y="91"/>
                    </a:lnTo>
                    <a:lnTo>
                      <a:pt x="256" y="107"/>
                    </a:lnTo>
                    <a:lnTo>
                      <a:pt x="259" y="124"/>
                    </a:lnTo>
                    <a:lnTo>
                      <a:pt x="259" y="142"/>
                    </a:lnTo>
                    <a:lnTo>
                      <a:pt x="257" y="157"/>
                    </a:lnTo>
                    <a:lnTo>
                      <a:pt x="252" y="170"/>
                    </a:lnTo>
                    <a:lnTo>
                      <a:pt x="244" y="183"/>
                    </a:lnTo>
                    <a:lnTo>
                      <a:pt x="236" y="193"/>
                    </a:lnTo>
                    <a:lnTo>
                      <a:pt x="225" y="204"/>
                    </a:lnTo>
                    <a:lnTo>
                      <a:pt x="215" y="214"/>
                    </a:lnTo>
                    <a:lnTo>
                      <a:pt x="204" y="224"/>
                    </a:lnTo>
                    <a:lnTo>
                      <a:pt x="194" y="234"/>
                    </a:lnTo>
                    <a:lnTo>
                      <a:pt x="191" y="238"/>
                    </a:lnTo>
                    <a:lnTo>
                      <a:pt x="191" y="241"/>
                    </a:lnTo>
                    <a:lnTo>
                      <a:pt x="191" y="245"/>
                    </a:lnTo>
                    <a:lnTo>
                      <a:pt x="194" y="248"/>
                    </a:lnTo>
                    <a:lnTo>
                      <a:pt x="197" y="250"/>
                    </a:lnTo>
                    <a:lnTo>
                      <a:pt x="202" y="252"/>
                    </a:lnTo>
                    <a:lnTo>
                      <a:pt x="205" y="250"/>
                    </a:lnTo>
                    <a:lnTo>
                      <a:pt x="209" y="248"/>
                    </a:lnTo>
                    <a:lnTo>
                      <a:pt x="232" y="233"/>
                    </a:lnTo>
                    <a:lnTo>
                      <a:pt x="252" y="214"/>
                    </a:lnTo>
                    <a:lnTo>
                      <a:pt x="268" y="192"/>
                    </a:lnTo>
                    <a:lnTo>
                      <a:pt x="278" y="167"/>
                    </a:lnTo>
                    <a:lnTo>
                      <a:pt x="283" y="141"/>
                    </a:lnTo>
                    <a:lnTo>
                      <a:pt x="280" y="115"/>
                    </a:lnTo>
                    <a:lnTo>
                      <a:pt x="271" y="91"/>
                    </a:lnTo>
                    <a:lnTo>
                      <a:pt x="252" y="69"/>
                    </a:lnTo>
                    <a:lnTo>
                      <a:pt x="238" y="57"/>
                    </a:lnTo>
                    <a:lnTo>
                      <a:pt x="222" y="48"/>
                    </a:lnTo>
                    <a:lnTo>
                      <a:pt x="204" y="39"/>
                    </a:lnTo>
                    <a:lnTo>
                      <a:pt x="184" y="31"/>
                    </a:lnTo>
                    <a:lnTo>
                      <a:pt x="164" y="23"/>
                    </a:lnTo>
                    <a:lnTo>
                      <a:pt x="144" y="17"/>
                    </a:lnTo>
                    <a:lnTo>
                      <a:pt x="123" y="13"/>
                    </a:lnTo>
                    <a:lnTo>
                      <a:pt x="103" y="8"/>
                    </a:lnTo>
                    <a:lnTo>
                      <a:pt x="83" y="5"/>
                    </a:lnTo>
                    <a:lnTo>
                      <a:pt x="66" y="2"/>
                    </a:lnTo>
                    <a:lnTo>
                      <a:pt x="48" y="0"/>
                    </a:lnTo>
                    <a:lnTo>
                      <a:pt x="34" y="0"/>
                    </a:lnTo>
                    <a:lnTo>
                      <a:pt x="21" y="0"/>
                    </a:lnTo>
                    <a:lnTo>
                      <a:pt x="11" y="0"/>
                    </a:lnTo>
                    <a:lnTo>
                      <a:pt x="4" y="2"/>
                    </a:lnTo>
                    <a:lnTo>
                      <a:pt x="0" y="5"/>
                    </a:lnTo>
                    <a:lnTo>
                      <a:pt x="12" y="7"/>
                    </a:lnTo>
                    <a:lnTo>
                      <a:pt x="24" y="8"/>
                    </a:lnTo>
                    <a:lnTo>
                      <a:pt x="38" y="10"/>
                    </a:lnTo>
                    <a:lnTo>
                      <a:pt x="52" y="13"/>
                    </a:lnTo>
                    <a:lnTo>
                      <a:pt x="66" y="16"/>
                    </a:lnTo>
                    <a:lnTo>
                      <a:pt x="82" y="18"/>
                    </a:lnTo>
                    <a:lnTo>
                      <a:pt x="98" y="22"/>
                    </a:lnTo>
                    <a:lnTo>
                      <a:pt x="114" y="25"/>
                    </a:lnTo>
                    <a:lnTo>
                      <a:pt x="129" y="30"/>
                    </a:lnTo>
                    <a:lnTo>
                      <a:pt x="146" y="34"/>
                    </a:lnTo>
                    <a:lnTo>
                      <a:pt x="162" y="39"/>
                    </a:lnTo>
                    <a:lnTo>
                      <a:pt x="177" y="45"/>
                    </a:lnTo>
                    <a:lnTo>
                      <a:pt x="193" y="52"/>
                    </a:lnTo>
                    <a:lnTo>
                      <a:pt x="208" y="60"/>
                    </a:lnTo>
                    <a:lnTo>
                      <a:pt x="222" y="68"/>
                    </a:lnTo>
                    <a:lnTo>
                      <a:pt x="235" y="77"/>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8" name="Freeform 544"/>
              <p:cNvSpPr>
                <a:spLocks/>
              </p:cNvSpPr>
              <p:nvPr/>
            </p:nvSpPr>
            <p:spPr bwMode="auto">
              <a:xfrm>
                <a:off x="2564" y="2712"/>
                <a:ext cx="19" cy="39"/>
              </a:xfrm>
              <a:custGeom>
                <a:avLst/>
                <a:gdLst>
                  <a:gd name="T0" fmla="*/ 0 w 114"/>
                  <a:gd name="T1" fmla="*/ 21 h 238"/>
                  <a:gd name="T2" fmla="*/ 0 w 114"/>
                  <a:gd name="T3" fmla="*/ 24 h 238"/>
                  <a:gd name="T4" fmla="*/ 1 w 114"/>
                  <a:gd name="T5" fmla="*/ 28 h 238"/>
                  <a:gd name="T6" fmla="*/ 2 w 114"/>
                  <a:gd name="T7" fmla="*/ 30 h 238"/>
                  <a:gd name="T8" fmla="*/ 4 w 114"/>
                  <a:gd name="T9" fmla="*/ 33 h 238"/>
                  <a:gd name="T10" fmla="*/ 6 w 114"/>
                  <a:gd name="T11" fmla="*/ 35 h 238"/>
                  <a:gd name="T12" fmla="*/ 9 w 114"/>
                  <a:gd name="T13" fmla="*/ 37 h 238"/>
                  <a:gd name="T14" fmla="*/ 12 w 114"/>
                  <a:gd name="T15" fmla="*/ 38 h 238"/>
                  <a:gd name="T16" fmla="*/ 15 w 114"/>
                  <a:gd name="T17" fmla="*/ 39 h 238"/>
                  <a:gd name="T18" fmla="*/ 16 w 114"/>
                  <a:gd name="T19" fmla="*/ 39 h 238"/>
                  <a:gd name="T20" fmla="*/ 17 w 114"/>
                  <a:gd name="T21" fmla="*/ 39 h 238"/>
                  <a:gd name="T22" fmla="*/ 18 w 114"/>
                  <a:gd name="T23" fmla="*/ 38 h 238"/>
                  <a:gd name="T24" fmla="*/ 19 w 114"/>
                  <a:gd name="T25" fmla="*/ 37 h 238"/>
                  <a:gd name="T26" fmla="*/ 19 w 114"/>
                  <a:gd name="T27" fmla="*/ 36 h 238"/>
                  <a:gd name="T28" fmla="*/ 18 w 114"/>
                  <a:gd name="T29" fmla="*/ 35 h 238"/>
                  <a:gd name="T30" fmla="*/ 18 w 114"/>
                  <a:gd name="T31" fmla="*/ 35 h 238"/>
                  <a:gd name="T32" fmla="*/ 17 w 114"/>
                  <a:gd name="T33" fmla="*/ 34 h 238"/>
                  <a:gd name="T34" fmla="*/ 14 w 114"/>
                  <a:gd name="T35" fmla="*/ 33 h 238"/>
                  <a:gd name="T36" fmla="*/ 11 w 114"/>
                  <a:gd name="T37" fmla="*/ 32 h 238"/>
                  <a:gd name="T38" fmla="*/ 8 w 114"/>
                  <a:gd name="T39" fmla="*/ 29 h 238"/>
                  <a:gd name="T40" fmla="*/ 7 w 114"/>
                  <a:gd name="T41" fmla="*/ 27 h 238"/>
                  <a:gd name="T42" fmla="*/ 5 w 114"/>
                  <a:gd name="T43" fmla="*/ 24 h 238"/>
                  <a:gd name="T44" fmla="*/ 5 w 114"/>
                  <a:gd name="T45" fmla="*/ 21 h 238"/>
                  <a:gd name="T46" fmla="*/ 5 w 114"/>
                  <a:gd name="T47" fmla="*/ 18 h 238"/>
                  <a:gd name="T48" fmla="*/ 6 w 114"/>
                  <a:gd name="T49" fmla="*/ 15 h 238"/>
                  <a:gd name="T50" fmla="*/ 7 w 114"/>
                  <a:gd name="T51" fmla="*/ 12 h 238"/>
                  <a:gd name="T52" fmla="*/ 9 w 114"/>
                  <a:gd name="T53" fmla="*/ 10 h 238"/>
                  <a:gd name="T54" fmla="*/ 10 w 114"/>
                  <a:gd name="T55" fmla="*/ 8 h 238"/>
                  <a:gd name="T56" fmla="*/ 12 w 114"/>
                  <a:gd name="T57" fmla="*/ 6 h 238"/>
                  <a:gd name="T58" fmla="*/ 14 w 114"/>
                  <a:gd name="T59" fmla="*/ 5 h 238"/>
                  <a:gd name="T60" fmla="*/ 16 w 114"/>
                  <a:gd name="T61" fmla="*/ 3 h 238"/>
                  <a:gd name="T62" fmla="*/ 18 w 114"/>
                  <a:gd name="T63" fmla="*/ 1 h 238"/>
                  <a:gd name="T64" fmla="*/ 19 w 114"/>
                  <a:gd name="T65" fmla="*/ 0 h 238"/>
                  <a:gd name="T66" fmla="*/ 18 w 114"/>
                  <a:gd name="T67" fmla="*/ 0 h 238"/>
                  <a:gd name="T68" fmla="*/ 16 w 114"/>
                  <a:gd name="T69" fmla="*/ 1 h 238"/>
                  <a:gd name="T70" fmla="*/ 13 w 114"/>
                  <a:gd name="T71" fmla="*/ 3 h 238"/>
                  <a:gd name="T72" fmla="*/ 9 w 114"/>
                  <a:gd name="T73" fmla="*/ 6 h 238"/>
                  <a:gd name="T74" fmla="*/ 6 w 114"/>
                  <a:gd name="T75" fmla="*/ 9 h 238"/>
                  <a:gd name="T76" fmla="*/ 3 w 114"/>
                  <a:gd name="T77" fmla="*/ 13 h 238"/>
                  <a:gd name="T78" fmla="*/ 1 w 114"/>
                  <a:gd name="T79" fmla="*/ 17 h 238"/>
                  <a:gd name="T80" fmla="*/ 0 w 114"/>
                  <a:gd name="T81" fmla="*/ 21 h 2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4"/>
                  <a:gd name="T124" fmla="*/ 0 h 238"/>
                  <a:gd name="T125" fmla="*/ 114 w 114"/>
                  <a:gd name="T126" fmla="*/ 238 h 2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4" h="238">
                    <a:moveTo>
                      <a:pt x="0" y="130"/>
                    </a:moveTo>
                    <a:lnTo>
                      <a:pt x="0" y="149"/>
                    </a:lnTo>
                    <a:lnTo>
                      <a:pt x="4" y="168"/>
                    </a:lnTo>
                    <a:lnTo>
                      <a:pt x="12" y="185"/>
                    </a:lnTo>
                    <a:lnTo>
                      <a:pt x="24" y="200"/>
                    </a:lnTo>
                    <a:lnTo>
                      <a:pt x="38" y="213"/>
                    </a:lnTo>
                    <a:lnTo>
                      <a:pt x="55" y="224"/>
                    </a:lnTo>
                    <a:lnTo>
                      <a:pt x="73" y="232"/>
                    </a:lnTo>
                    <a:lnTo>
                      <a:pt x="92" y="237"/>
                    </a:lnTo>
                    <a:lnTo>
                      <a:pt x="98" y="238"/>
                    </a:lnTo>
                    <a:lnTo>
                      <a:pt x="104" y="235"/>
                    </a:lnTo>
                    <a:lnTo>
                      <a:pt x="109" y="232"/>
                    </a:lnTo>
                    <a:lnTo>
                      <a:pt x="111" y="227"/>
                    </a:lnTo>
                    <a:lnTo>
                      <a:pt x="111" y="222"/>
                    </a:lnTo>
                    <a:lnTo>
                      <a:pt x="110" y="216"/>
                    </a:lnTo>
                    <a:lnTo>
                      <a:pt x="106" y="211"/>
                    </a:lnTo>
                    <a:lnTo>
                      <a:pt x="100" y="209"/>
                    </a:lnTo>
                    <a:lnTo>
                      <a:pt x="82" y="202"/>
                    </a:lnTo>
                    <a:lnTo>
                      <a:pt x="64" y="193"/>
                    </a:lnTo>
                    <a:lnTo>
                      <a:pt x="50" y="180"/>
                    </a:lnTo>
                    <a:lnTo>
                      <a:pt x="39" y="167"/>
                    </a:lnTo>
                    <a:lnTo>
                      <a:pt x="32" y="149"/>
                    </a:lnTo>
                    <a:lnTo>
                      <a:pt x="29" y="131"/>
                    </a:lnTo>
                    <a:lnTo>
                      <a:pt x="29" y="111"/>
                    </a:lnTo>
                    <a:lnTo>
                      <a:pt x="35" y="91"/>
                    </a:lnTo>
                    <a:lnTo>
                      <a:pt x="42" y="76"/>
                    </a:lnTo>
                    <a:lnTo>
                      <a:pt x="51" y="62"/>
                    </a:lnTo>
                    <a:lnTo>
                      <a:pt x="62" y="49"/>
                    </a:lnTo>
                    <a:lnTo>
                      <a:pt x="73" y="38"/>
                    </a:lnTo>
                    <a:lnTo>
                      <a:pt x="84" y="28"/>
                    </a:lnTo>
                    <a:lnTo>
                      <a:pt x="96" y="18"/>
                    </a:lnTo>
                    <a:lnTo>
                      <a:pt x="106" y="9"/>
                    </a:lnTo>
                    <a:lnTo>
                      <a:pt x="114" y="1"/>
                    </a:lnTo>
                    <a:lnTo>
                      <a:pt x="106" y="0"/>
                    </a:lnTo>
                    <a:lnTo>
                      <a:pt x="93" y="6"/>
                    </a:lnTo>
                    <a:lnTo>
                      <a:pt x="76" y="18"/>
                    </a:lnTo>
                    <a:lnTo>
                      <a:pt x="56" y="36"/>
                    </a:lnTo>
                    <a:lnTo>
                      <a:pt x="37" y="57"/>
                    </a:lnTo>
                    <a:lnTo>
                      <a:pt x="20" y="80"/>
                    </a:lnTo>
                    <a:lnTo>
                      <a:pt x="7" y="106"/>
                    </a:lnTo>
                    <a:lnTo>
                      <a:pt x="0" y="130"/>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09" name="Freeform 545"/>
              <p:cNvSpPr>
                <a:spLocks/>
              </p:cNvSpPr>
              <p:nvPr/>
            </p:nvSpPr>
            <p:spPr bwMode="auto">
              <a:xfrm>
                <a:off x="2698" y="2689"/>
                <a:ext cx="41" cy="52"/>
              </a:xfrm>
              <a:custGeom>
                <a:avLst/>
                <a:gdLst>
                  <a:gd name="T0" fmla="*/ 35 w 246"/>
                  <a:gd name="T1" fmla="*/ 21 h 310"/>
                  <a:gd name="T2" fmla="*/ 37 w 246"/>
                  <a:gd name="T3" fmla="*/ 24 h 310"/>
                  <a:gd name="T4" fmla="*/ 38 w 246"/>
                  <a:gd name="T5" fmla="*/ 28 h 310"/>
                  <a:gd name="T6" fmla="*/ 37 w 246"/>
                  <a:gd name="T7" fmla="*/ 31 h 310"/>
                  <a:gd name="T8" fmla="*/ 35 w 246"/>
                  <a:gd name="T9" fmla="*/ 35 h 310"/>
                  <a:gd name="T10" fmla="*/ 31 w 246"/>
                  <a:gd name="T11" fmla="*/ 38 h 310"/>
                  <a:gd name="T12" fmla="*/ 28 w 246"/>
                  <a:gd name="T13" fmla="*/ 41 h 310"/>
                  <a:gd name="T14" fmla="*/ 24 w 246"/>
                  <a:gd name="T15" fmla="*/ 44 h 310"/>
                  <a:gd name="T16" fmla="*/ 22 w 246"/>
                  <a:gd name="T17" fmla="*/ 47 h 310"/>
                  <a:gd name="T18" fmla="*/ 21 w 246"/>
                  <a:gd name="T19" fmla="*/ 48 h 310"/>
                  <a:gd name="T20" fmla="*/ 20 w 246"/>
                  <a:gd name="T21" fmla="*/ 50 h 310"/>
                  <a:gd name="T22" fmla="*/ 20 w 246"/>
                  <a:gd name="T23" fmla="*/ 51 h 310"/>
                  <a:gd name="T24" fmla="*/ 22 w 246"/>
                  <a:gd name="T25" fmla="*/ 52 h 310"/>
                  <a:gd name="T26" fmla="*/ 23 w 246"/>
                  <a:gd name="T27" fmla="*/ 52 h 310"/>
                  <a:gd name="T28" fmla="*/ 26 w 246"/>
                  <a:gd name="T29" fmla="*/ 49 h 310"/>
                  <a:gd name="T30" fmla="*/ 30 w 246"/>
                  <a:gd name="T31" fmla="*/ 45 h 310"/>
                  <a:gd name="T32" fmla="*/ 35 w 246"/>
                  <a:gd name="T33" fmla="*/ 41 h 310"/>
                  <a:gd name="T34" fmla="*/ 39 w 246"/>
                  <a:gd name="T35" fmla="*/ 37 h 310"/>
                  <a:gd name="T36" fmla="*/ 41 w 246"/>
                  <a:gd name="T37" fmla="*/ 31 h 310"/>
                  <a:gd name="T38" fmla="*/ 40 w 246"/>
                  <a:gd name="T39" fmla="*/ 26 h 310"/>
                  <a:gd name="T40" fmla="*/ 38 w 246"/>
                  <a:gd name="T41" fmla="*/ 20 h 310"/>
                  <a:gd name="T42" fmla="*/ 34 w 246"/>
                  <a:gd name="T43" fmla="*/ 16 h 310"/>
                  <a:gd name="T44" fmla="*/ 30 w 246"/>
                  <a:gd name="T45" fmla="*/ 12 h 310"/>
                  <a:gd name="T46" fmla="*/ 25 w 246"/>
                  <a:gd name="T47" fmla="*/ 10 h 310"/>
                  <a:gd name="T48" fmla="*/ 21 w 246"/>
                  <a:gd name="T49" fmla="*/ 7 h 310"/>
                  <a:gd name="T50" fmla="*/ 16 w 246"/>
                  <a:gd name="T51" fmla="*/ 5 h 310"/>
                  <a:gd name="T52" fmla="*/ 12 w 246"/>
                  <a:gd name="T53" fmla="*/ 3 h 310"/>
                  <a:gd name="T54" fmla="*/ 8 w 246"/>
                  <a:gd name="T55" fmla="*/ 1 h 310"/>
                  <a:gd name="T56" fmla="*/ 4 w 246"/>
                  <a:gd name="T57" fmla="*/ 0 h 310"/>
                  <a:gd name="T58" fmla="*/ 1 w 246"/>
                  <a:gd name="T59" fmla="*/ 0 h 310"/>
                  <a:gd name="T60" fmla="*/ 1 w 246"/>
                  <a:gd name="T61" fmla="*/ 1 h 310"/>
                  <a:gd name="T62" fmla="*/ 5 w 246"/>
                  <a:gd name="T63" fmla="*/ 2 h 310"/>
                  <a:gd name="T64" fmla="*/ 9 w 246"/>
                  <a:gd name="T65" fmla="*/ 4 h 310"/>
                  <a:gd name="T66" fmla="*/ 13 w 246"/>
                  <a:gd name="T67" fmla="*/ 6 h 310"/>
                  <a:gd name="T68" fmla="*/ 18 w 246"/>
                  <a:gd name="T69" fmla="*/ 9 h 310"/>
                  <a:gd name="T70" fmla="*/ 22 w 246"/>
                  <a:gd name="T71" fmla="*/ 12 h 310"/>
                  <a:gd name="T72" fmla="*/ 27 w 246"/>
                  <a:gd name="T73" fmla="*/ 15 h 310"/>
                  <a:gd name="T74" fmla="*/ 31 w 246"/>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6"/>
                  <a:gd name="T115" fmla="*/ 0 h 310"/>
                  <a:gd name="T116" fmla="*/ 246 w 246"/>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6" h="310">
                    <a:moveTo>
                      <a:pt x="199" y="116"/>
                    </a:moveTo>
                    <a:lnTo>
                      <a:pt x="207" y="124"/>
                    </a:lnTo>
                    <a:lnTo>
                      <a:pt x="214" y="133"/>
                    </a:lnTo>
                    <a:lnTo>
                      <a:pt x="219" y="143"/>
                    </a:lnTo>
                    <a:lnTo>
                      <a:pt x="223" y="154"/>
                    </a:lnTo>
                    <a:lnTo>
                      <a:pt x="225" y="164"/>
                    </a:lnTo>
                    <a:lnTo>
                      <a:pt x="225" y="176"/>
                    </a:lnTo>
                    <a:lnTo>
                      <a:pt x="221" y="187"/>
                    </a:lnTo>
                    <a:lnTo>
                      <a:pt x="216" y="197"/>
                    </a:lnTo>
                    <a:lnTo>
                      <a:pt x="208" y="209"/>
                    </a:lnTo>
                    <a:lnTo>
                      <a:pt x="199" y="219"/>
                    </a:lnTo>
                    <a:lnTo>
                      <a:pt x="188" y="228"/>
                    </a:lnTo>
                    <a:lnTo>
                      <a:pt x="177" y="238"/>
                    </a:lnTo>
                    <a:lnTo>
                      <a:pt x="166" y="246"/>
                    </a:lnTo>
                    <a:lnTo>
                      <a:pt x="154" y="255"/>
                    </a:lnTo>
                    <a:lnTo>
                      <a:pt x="143" y="264"/>
                    </a:lnTo>
                    <a:lnTo>
                      <a:pt x="132" y="274"/>
                    </a:lnTo>
                    <a:lnTo>
                      <a:pt x="129" y="278"/>
                    </a:lnTo>
                    <a:lnTo>
                      <a:pt x="126" y="282"/>
                    </a:lnTo>
                    <a:lnTo>
                      <a:pt x="124" y="287"/>
                    </a:lnTo>
                    <a:lnTo>
                      <a:pt x="121" y="292"/>
                    </a:lnTo>
                    <a:lnTo>
                      <a:pt x="120" y="296"/>
                    </a:lnTo>
                    <a:lnTo>
                      <a:pt x="120" y="301"/>
                    </a:lnTo>
                    <a:lnTo>
                      <a:pt x="121" y="305"/>
                    </a:lnTo>
                    <a:lnTo>
                      <a:pt x="125" y="309"/>
                    </a:lnTo>
                    <a:lnTo>
                      <a:pt x="130" y="310"/>
                    </a:lnTo>
                    <a:lnTo>
                      <a:pt x="134" y="310"/>
                    </a:lnTo>
                    <a:lnTo>
                      <a:pt x="139" y="309"/>
                    </a:lnTo>
                    <a:lnTo>
                      <a:pt x="143" y="305"/>
                    </a:lnTo>
                    <a:lnTo>
                      <a:pt x="154" y="293"/>
                    </a:lnTo>
                    <a:lnTo>
                      <a:pt x="167" y="280"/>
                    </a:lnTo>
                    <a:lnTo>
                      <a:pt x="180" y="269"/>
                    </a:lnTo>
                    <a:lnTo>
                      <a:pt x="194" y="257"/>
                    </a:lnTo>
                    <a:lnTo>
                      <a:pt x="207" y="246"/>
                    </a:lnTo>
                    <a:lnTo>
                      <a:pt x="219" y="233"/>
                    </a:lnTo>
                    <a:lnTo>
                      <a:pt x="231" y="219"/>
                    </a:lnTo>
                    <a:lnTo>
                      <a:pt x="239" y="204"/>
                    </a:lnTo>
                    <a:lnTo>
                      <a:pt x="245" y="187"/>
                    </a:lnTo>
                    <a:lnTo>
                      <a:pt x="246" y="170"/>
                    </a:lnTo>
                    <a:lnTo>
                      <a:pt x="242" y="153"/>
                    </a:lnTo>
                    <a:lnTo>
                      <a:pt x="236" y="136"/>
                    </a:lnTo>
                    <a:lnTo>
                      <a:pt x="227" y="120"/>
                    </a:lnTo>
                    <a:lnTo>
                      <a:pt x="215" y="107"/>
                    </a:lnTo>
                    <a:lnTo>
                      <a:pt x="201" y="94"/>
                    </a:lnTo>
                    <a:lnTo>
                      <a:pt x="187" y="82"/>
                    </a:lnTo>
                    <a:lnTo>
                      <a:pt x="177" y="74"/>
                    </a:lnTo>
                    <a:lnTo>
                      <a:pt x="165" y="68"/>
                    </a:lnTo>
                    <a:lnTo>
                      <a:pt x="152" y="60"/>
                    </a:lnTo>
                    <a:lnTo>
                      <a:pt x="139" y="51"/>
                    </a:lnTo>
                    <a:lnTo>
                      <a:pt x="126" y="43"/>
                    </a:lnTo>
                    <a:lnTo>
                      <a:pt x="112" y="35"/>
                    </a:lnTo>
                    <a:lnTo>
                      <a:pt x="98" y="28"/>
                    </a:lnTo>
                    <a:lnTo>
                      <a:pt x="85" y="22"/>
                    </a:lnTo>
                    <a:lnTo>
                      <a:pt x="72" y="16"/>
                    </a:lnTo>
                    <a:lnTo>
                      <a:pt x="59" y="10"/>
                    </a:lnTo>
                    <a:lnTo>
                      <a:pt x="46" y="7"/>
                    </a:lnTo>
                    <a:lnTo>
                      <a:pt x="35" y="3"/>
                    </a:lnTo>
                    <a:lnTo>
                      <a:pt x="24" y="1"/>
                    </a:lnTo>
                    <a:lnTo>
                      <a:pt x="15" y="0"/>
                    </a:lnTo>
                    <a:lnTo>
                      <a:pt x="7" y="1"/>
                    </a:lnTo>
                    <a:lnTo>
                      <a:pt x="0" y="3"/>
                    </a:lnTo>
                    <a:lnTo>
                      <a:pt x="8" y="6"/>
                    </a:lnTo>
                    <a:lnTo>
                      <a:pt x="17" y="9"/>
                    </a:lnTo>
                    <a:lnTo>
                      <a:pt x="28" y="14"/>
                    </a:lnTo>
                    <a:lnTo>
                      <a:pt x="38" y="18"/>
                    </a:lnTo>
                    <a:lnTo>
                      <a:pt x="51" y="24"/>
                    </a:lnTo>
                    <a:lnTo>
                      <a:pt x="64" y="30"/>
                    </a:lnTo>
                    <a:lnTo>
                      <a:pt x="78" y="37"/>
                    </a:lnTo>
                    <a:lnTo>
                      <a:pt x="92" y="43"/>
                    </a:lnTo>
                    <a:lnTo>
                      <a:pt x="106" y="51"/>
                    </a:lnTo>
                    <a:lnTo>
                      <a:pt x="120" y="60"/>
                    </a:lnTo>
                    <a:lnTo>
                      <a:pt x="134" y="69"/>
                    </a:lnTo>
                    <a:lnTo>
                      <a:pt x="148" y="78"/>
                    </a:lnTo>
                    <a:lnTo>
                      <a:pt x="163" y="87"/>
                    </a:lnTo>
                    <a:lnTo>
                      <a:pt x="175" y="96"/>
                    </a:lnTo>
                    <a:lnTo>
                      <a:pt x="187" y="105"/>
                    </a:lnTo>
                    <a:lnTo>
                      <a:pt x="199" y="116"/>
                    </a:lnTo>
                    <a:close/>
                  </a:path>
                </a:pathLst>
              </a:custGeom>
              <a:solidFill>
                <a:srgbClr val="C9E8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0" name="Freeform 546"/>
              <p:cNvSpPr>
                <a:spLocks/>
              </p:cNvSpPr>
              <p:nvPr/>
            </p:nvSpPr>
            <p:spPr bwMode="auto">
              <a:xfrm>
                <a:off x="2653" y="2750"/>
                <a:ext cx="14" cy="31"/>
              </a:xfrm>
              <a:custGeom>
                <a:avLst/>
                <a:gdLst>
                  <a:gd name="T0" fmla="*/ 5 w 83"/>
                  <a:gd name="T1" fmla="*/ 2 h 187"/>
                  <a:gd name="T2" fmla="*/ 5 w 83"/>
                  <a:gd name="T3" fmla="*/ 1 h 187"/>
                  <a:gd name="T4" fmla="*/ 4 w 83"/>
                  <a:gd name="T5" fmla="*/ 0 h 187"/>
                  <a:gd name="T6" fmla="*/ 3 w 83"/>
                  <a:gd name="T7" fmla="*/ 0 h 187"/>
                  <a:gd name="T8" fmla="*/ 2 w 83"/>
                  <a:gd name="T9" fmla="*/ 0 h 187"/>
                  <a:gd name="T10" fmla="*/ 1 w 83"/>
                  <a:gd name="T11" fmla="*/ 0 h 187"/>
                  <a:gd name="T12" fmla="*/ 1 w 83"/>
                  <a:gd name="T13" fmla="*/ 1 h 187"/>
                  <a:gd name="T14" fmla="*/ 0 w 83"/>
                  <a:gd name="T15" fmla="*/ 2 h 187"/>
                  <a:gd name="T16" fmla="*/ 0 w 83"/>
                  <a:gd name="T17" fmla="*/ 3 h 187"/>
                  <a:gd name="T18" fmla="*/ 1 w 83"/>
                  <a:gd name="T19" fmla="*/ 7 h 187"/>
                  <a:gd name="T20" fmla="*/ 3 w 83"/>
                  <a:gd name="T21" fmla="*/ 12 h 187"/>
                  <a:gd name="T22" fmla="*/ 5 w 83"/>
                  <a:gd name="T23" fmla="*/ 17 h 187"/>
                  <a:gd name="T24" fmla="*/ 7 w 83"/>
                  <a:gd name="T25" fmla="*/ 21 h 187"/>
                  <a:gd name="T26" fmla="*/ 9 w 83"/>
                  <a:gd name="T27" fmla="*/ 25 h 187"/>
                  <a:gd name="T28" fmla="*/ 11 w 83"/>
                  <a:gd name="T29" fmla="*/ 28 h 187"/>
                  <a:gd name="T30" fmla="*/ 13 w 83"/>
                  <a:gd name="T31" fmla="*/ 31 h 187"/>
                  <a:gd name="T32" fmla="*/ 14 w 83"/>
                  <a:gd name="T33" fmla="*/ 31 h 187"/>
                  <a:gd name="T34" fmla="*/ 13 w 83"/>
                  <a:gd name="T35" fmla="*/ 29 h 187"/>
                  <a:gd name="T36" fmla="*/ 13 w 83"/>
                  <a:gd name="T37" fmla="*/ 26 h 187"/>
                  <a:gd name="T38" fmla="*/ 11 w 83"/>
                  <a:gd name="T39" fmla="*/ 23 h 187"/>
                  <a:gd name="T40" fmla="*/ 10 w 83"/>
                  <a:gd name="T41" fmla="*/ 19 h 187"/>
                  <a:gd name="T42" fmla="*/ 9 w 83"/>
                  <a:gd name="T43" fmla="*/ 15 h 187"/>
                  <a:gd name="T44" fmla="*/ 7 w 83"/>
                  <a:gd name="T45" fmla="*/ 10 h 187"/>
                  <a:gd name="T46" fmla="*/ 6 w 83"/>
                  <a:gd name="T47" fmla="*/ 6 h 187"/>
                  <a:gd name="T48" fmla="*/ 5 w 83"/>
                  <a:gd name="T49" fmla="*/ 2 h 18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83"/>
                  <a:gd name="T76" fmla="*/ 0 h 187"/>
                  <a:gd name="T77" fmla="*/ 83 w 83"/>
                  <a:gd name="T78" fmla="*/ 187 h 187"/>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83" h="187">
                    <a:moveTo>
                      <a:pt x="31" y="14"/>
                    </a:moveTo>
                    <a:lnTo>
                      <a:pt x="29" y="8"/>
                    </a:lnTo>
                    <a:lnTo>
                      <a:pt x="25" y="3"/>
                    </a:lnTo>
                    <a:lnTo>
                      <a:pt x="19" y="1"/>
                    </a:lnTo>
                    <a:lnTo>
                      <a:pt x="14" y="0"/>
                    </a:lnTo>
                    <a:lnTo>
                      <a:pt x="8" y="2"/>
                    </a:lnTo>
                    <a:lnTo>
                      <a:pt x="3" y="5"/>
                    </a:lnTo>
                    <a:lnTo>
                      <a:pt x="0" y="11"/>
                    </a:lnTo>
                    <a:lnTo>
                      <a:pt x="0" y="17"/>
                    </a:lnTo>
                    <a:lnTo>
                      <a:pt x="5" y="42"/>
                    </a:lnTo>
                    <a:lnTo>
                      <a:pt x="15" y="71"/>
                    </a:lnTo>
                    <a:lnTo>
                      <a:pt x="27" y="100"/>
                    </a:lnTo>
                    <a:lnTo>
                      <a:pt x="41" y="127"/>
                    </a:lnTo>
                    <a:lnTo>
                      <a:pt x="55" y="151"/>
                    </a:lnTo>
                    <a:lnTo>
                      <a:pt x="68" y="171"/>
                    </a:lnTo>
                    <a:lnTo>
                      <a:pt x="77" y="184"/>
                    </a:lnTo>
                    <a:lnTo>
                      <a:pt x="83" y="187"/>
                    </a:lnTo>
                    <a:lnTo>
                      <a:pt x="80" y="174"/>
                    </a:lnTo>
                    <a:lnTo>
                      <a:pt x="75" y="158"/>
                    </a:lnTo>
                    <a:lnTo>
                      <a:pt x="68" y="138"/>
                    </a:lnTo>
                    <a:lnTo>
                      <a:pt x="59" y="113"/>
                    </a:lnTo>
                    <a:lnTo>
                      <a:pt x="51" y="88"/>
                    </a:lnTo>
                    <a:lnTo>
                      <a:pt x="43" y="63"/>
                    </a:lnTo>
                    <a:lnTo>
                      <a:pt x="36" y="38"/>
                    </a:lnTo>
                    <a:lnTo>
                      <a:pt x="31" y="1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1" name="Freeform 547"/>
              <p:cNvSpPr>
                <a:spLocks/>
              </p:cNvSpPr>
              <p:nvPr/>
            </p:nvSpPr>
            <p:spPr bwMode="auto">
              <a:xfrm>
                <a:off x="2647" y="2733"/>
                <a:ext cx="7" cy="16"/>
              </a:xfrm>
              <a:custGeom>
                <a:avLst/>
                <a:gdLst>
                  <a:gd name="T0" fmla="*/ 4 w 44"/>
                  <a:gd name="T1" fmla="*/ 2 h 94"/>
                  <a:gd name="T2" fmla="*/ 3 w 44"/>
                  <a:gd name="T3" fmla="*/ 1 h 94"/>
                  <a:gd name="T4" fmla="*/ 3 w 44"/>
                  <a:gd name="T5" fmla="*/ 0 h 94"/>
                  <a:gd name="T6" fmla="*/ 2 w 44"/>
                  <a:gd name="T7" fmla="*/ 0 h 94"/>
                  <a:gd name="T8" fmla="*/ 2 w 44"/>
                  <a:gd name="T9" fmla="*/ 0 h 94"/>
                  <a:gd name="T10" fmla="*/ 1 w 44"/>
                  <a:gd name="T11" fmla="*/ 0 h 94"/>
                  <a:gd name="T12" fmla="*/ 0 w 44"/>
                  <a:gd name="T13" fmla="*/ 1 h 94"/>
                  <a:gd name="T14" fmla="*/ 0 w 44"/>
                  <a:gd name="T15" fmla="*/ 1 h 94"/>
                  <a:gd name="T16" fmla="*/ 0 w 44"/>
                  <a:gd name="T17" fmla="*/ 2 h 94"/>
                  <a:gd name="T18" fmla="*/ 0 w 44"/>
                  <a:gd name="T19" fmla="*/ 4 h 94"/>
                  <a:gd name="T20" fmla="*/ 1 w 44"/>
                  <a:gd name="T21" fmla="*/ 6 h 94"/>
                  <a:gd name="T22" fmla="*/ 1 w 44"/>
                  <a:gd name="T23" fmla="*/ 9 h 94"/>
                  <a:gd name="T24" fmla="*/ 2 w 44"/>
                  <a:gd name="T25" fmla="*/ 11 h 94"/>
                  <a:gd name="T26" fmla="*/ 3 w 44"/>
                  <a:gd name="T27" fmla="*/ 13 h 94"/>
                  <a:gd name="T28" fmla="*/ 4 w 44"/>
                  <a:gd name="T29" fmla="*/ 15 h 94"/>
                  <a:gd name="T30" fmla="*/ 6 w 44"/>
                  <a:gd name="T31" fmla="*/ 16 h 94"/>
                  <a:gd name="T32" fmla="*/ 7 w 44"/>
                  <a:gd name="T33" fmla="*/ 16 h 94"/>
                  <a:gd name="T34" fmla="*/ 7 w 44"/>
                  <a:gd name="T35" fmla="*/ 13 h 94"/>
                  <a:gd name="T36" fmla="*/ 6 w 44"/>
                  <a:gd name="T37" fmla="*/ 9 h 94"/>
                  <a:gd name="T38" fmla="*/ 5 w 44"/>
                  <a:gd name="T39" fmla="*/ 5 h 94"/>
                  <a:gd name="T40" fmla="*/ 4 w 44"/>
                  <a:gd name="T41" fmla="*/ 2 h 9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44"/>
                  <a:gd name="T64" fmla="*/ 0 h 94"/>
                  <a:gd name="T65" fmla="*/ 44 w 44"/>
                  <a:gd name="T66" fmla="*/ 94 h 9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44" h="94">
                    <a:moveTo>
                      <a:pt x="22" y="10"/>
                    </a:moveTo>
                    <a:lnTo>
                      <a:pt x="21" y="6"/>
                    </a:lnTo>
                    <a:lnTo>
                      <a:pt x="18" y="2"/>
                    </a:lnTo>
                    <a:lnTo>
                      <a:pt x="14" y="0"/>
                    </a:lnTo>
                    <a:lnTo>
                      <a:pt x="10" y="0"/>
                    </a:lnTo>
                    <a:lnTo>
                      <a:pt x="6" y="1"/>
                    </a:lnTo>
                    <a:lnTo>
                      <a:pt x="3" y="3"/>
                    </a:lnTo>
                    <a:lnTo>
                      <a:pt x="0" y="7"/>
                    </a:lnTo>
                    <a:lnTo>
                      <a:pt x="0" y="11"/>
                    </a:lnTo>
                    <a:lnTo>
                      <a:pt x="0" y="24"/>
                    </a:lnTo>
                    <a:lnTo>
                      <a:pt x="4" y="38"/>
                    </a:lnTo>
                    <a:lnTo>
                      <a:pt x="8" y="52"/>
                    </a:lnTo>
                    <a:lnTo>
                      <a:pt x="14" y="65"/>
                    </a:lnTo>
                    <a:lnTo>
                      <a:pt x="21" y="78"/>
                    </a:lnTo>
                    <a:lnTo>
                      <a:pt x="28" y="87"/>
                    </a:lnTo>
                    <a:lnTo>
                      <a:pt x="37" y="93"/>
                    </a:lnTo>
                    <a:lnTo>
                      <a:pt x="42" y="94"/>
                    </a:lnTo>
                    <a:lnTo>
                      <a:pt x="44" y="76"/>
                    </a:lnTo>
                    <a:lnTo>
                      <a:pt x="38" y="54"/>
                    </a:lnTo>
                    <a:lnTo>
                      <a:pt x="31" y="32"/>
                    </a:lnTo>
                    <a:lnTo>
                      <a:pt x="22" y="1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2" name="Freeform 548"/>
              <p:cNvSpPr>
                <a:spLocks/>
              </p:cNvSpPr>
              <p:nvPr/>
            </p:nvSpPr>
            <p:spPr bwMode="auto">
              <a:xfrm>
                <a:off x="2641" y="2722"/>
                <a:ext cx="6" cy="9"/>
              </a:xfrm>
              <a:custGeom>
                <a:avLst/>
                <a:gdLst>
                  <a:gd name="T0" fmla="*/ 3 w 38"/>
                  <a:gd name="T1" fmla="*/ 1 h 54"/>
                  <a:gd name="T2" fmla="*/ 3 w 38"/>
                  <a:gd name="T3" fmla="*/ 1 h 54"/>
                  <a:gd name="T4" fmla="*/ 3 w 38"/>
                  <a:gd name="T5" fmla="*/ 1 h 54"/>
                  <a:gd name="T6" fmla="*/ 3 w 38"/>
                  <a:gd name="T7" fmla="*/ 1 h 54"/>
                  <a:gd name="T8" fmla="*/ 3 w 38"/>
                  <a:gd name="T9" fmla="*/ 1 h 54"/>
                  <a:gd name="T10" fmla="*/ 3 w 38"/>
                  <a:gd name="T11" fmla="*/ 1 h 54"/>
                  <a:gd name="T12" fmla="*/ 2 w 38"/>
                  <a:gd name="T13" fmla="*/ 0 h 54"/>
                  <a:gd name="T14" fmla="*/ 2 w 38"/>
                  <a:gd name="T15" fmla="*/ 0 h 54"/>
                  <a:gd name="T16" fmla="*/ 1 w 38"/>
                  <a:gd name="T17" fmla="*/ 0 h 54"/>
                  <a:gd name="T18" fmla="*/ 1 w 38"/>
                  <a:gd name="T19" fmla="*/ 0 h 54"/>
                  <a:gd name="T20" fmla="*/ 0 w 38"/>
                  <a:gd name="T21" fmla="*/ 1 h 54"/>
                  <a:gd name="T22" fmla="*/ 0 w 38"/>
                  <a:gd name="T23" fmla="*/ 1 h 54"/>
                  <a:gd name="T24" fmla="*/ 0 w 38"/>
                  <a:gd name="T25" fmla="*/ 2 h 54"/>
                  <a:gd name="T26" fmla="*/ 0 w 38"/>
                  <a:gd name="T27" fmla="*/ 3 h 54"/>
                  <a:gd name="T28" fmla="*/ 1 w 38"/>
                  <a:gd name="T29" fmla="*/ 4 h 54"/>
                  <a:gd name="T30" fmla="*/ 1 w 38"/>
                  <a:gd name="T31" fmla="*/ 5 h 54"/>
                  <a:gd name="T32" fmla="*/ 2 w 38"/>
                  <a:gd name="T33" fmla="*/ 7 h 54"/>
                  <a:gd name="T34" fmla="*/ 3 w 38"/>
                  <a:gd name="T35" fmla="*/ 8 h 54"/>
                  <a:gd name="T36" fmla="*/ 4 w 38"/>
                  <a:gd name="T37" fmla="*/ 8 h 54"/>
                  <a:gd name="T38" fmla="*/ 5 w 38"/>
                  <a:gd name="T39" fmla="*/ 9 h 54"/>
                  <a:gd name="T40" fmla="*/ 6 w 38"/>
                  <a:gd name="T41" fmla="*/ 9 h 54"/>
                  <a:gd name="T42" fmla="*/ 6 w 38"/>
                  <a:gd name="T43" fmla="*/ 7 h 54"/>
                  <a:gd name="T44" fmla="*/ 5 w 38"/>
                  <a:gd name="T45" fmla="*/ 5 h 54"/>
                  <a:gd name="T46" fmla="*/ 4 w 38"/>
                  <a:gd name="T47" fmla="*/ 3 h 54"/>
                  <a:gd name="T48" fmla="*/ 3 w 38"/>
                  <a:gd name="T49" fmla="*/ 1 h 5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38"/>
                  <a:gd name="T76" fmla="*/ 0 h 54"/>
                  <a:gd name="T77" fmla="*/ 38 w 38"/>
                  <a:gd name="T78" fmla="*/ 54 h 54"/>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38" h="54">
                    <a:moveTo>
                      <a:pt x="20" y="7"/>
                    </a:moveTo>
                    <a:lnTo>
                      <a:pt x="20" y="8"/>
                    </a:lnTo>
                    <a:lnTo>
                      <a:pt x="19" y="4"/>
                    </a:lnTo>
                    <a:lnTo>
                      <a:pt x="15" y="1"/>
                    </a:lnTo>
                    <a:lnTo>
                      <a:pt x="12" y="0"/>
                    </a:lnTo>
                    <a:lnTo>
                      <a:pt x="7" y="0"/>
                    </a:lnTo>
                    <a:lnTo>
                      <a:pt x="4" y="1"/>
                    </a:lnTo>
                    <a:lnTo>
                      <a:pt x="1" y="4"/>
                    </a:lnTo>
                    <a:lnTo>
                      <a:pt x="0" y="8"/>
                    </a:lnTo>
                    <a:lnTo>
                      <a:pt x="0" y="11"/>
                    </a:lnTo>
                    <a:lnTo>
                      <a:pt x="1" y="17"/>
                    </a:lnTo>
                    <a:lnTo>
                      <a:pt x="4" y="24"/>
                    </a:lnTo>
                    <a:lnTo>
                      <a:pt x="8" y="32"/>
                    </a:lnTo>
                    <a:lnTo>
                      <a:pt x="14" y="39"/>
                    </a:lnTo>
                    <a:lnTo>
                      <a:pt x="20" y="46"/>
                    </a:lnTo>
                    <a:lnTo>
                      <a:pt x="27" y="50"/>
                    </a:lnTo>
                    <a:lnTo>
                      <a:pt x="33" y="54"/>
                    </a:lnTo>
                    <a:lnTo>
                      <a:pt x="38" y="54"/>
                    </a:lnTo>
                    <a:lnTo>
                      <a:pt x="36" y="42"/>
                    </a:lnTo>
                    <a:lnTo>
                      <a:pt x="32" y="29"/>
                    </a:lnTo>
                    <a:lnTo>
                      <a:pt x="25" y="16"/>
                    </a:lnTo>
                    <a:lnTo>
                      <a:pt x="20" y="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3" name="Freeform 549"/>
              <p:cNvSpPr>
                <a:spLocks/>
              </p:cNvSpPr>
              <p:nvPr/>
            </p:nvSpPr>
            <p:spPr bwMode="auto">
              <a:xfrm>
                <a:off x="2636" y="2714"/>
                <a:ext cx="8" cy="6"/>
              </a:xfrm>
              <a:custGeom>
                <a:avLst/>
                <a:gdLst>
                  <a:gd name="T0" fmla="*/ 6 w 52"/>
                  <a:gd name="T1" fmla="*/ 4 h 36"/>
                  <a:gd name="T2" fmla="*/ 7 w 52"/>
                  <a:gd name="T3" fmla="*/ 4 h 36"/>
                  <a:gd name="T4" fmla="*/ 8 w 52"/>
                  <a:gd name="T5" fmla="*/ 3 h 36"/>
                  <a:gd name="T6" fmla="*/ 8 w 52"/>
                  <a:gd name="T7" fmla="*/ 3 h 36"/>
                  <a:gd name="T8" fmla="*/ 8 w 52"/>
                  <a:gd name="T9" fmla="*/ 2 h 36"/>
                  <a:gd name="T10" fmla="*/ 8 w 52"/>
                  <a:gd name="T11" fmla="*/ 1 h 36"/>
                  <a:gd name="T12" fmla="*/ 7 w 52"/>
                  <a:gd name="T13" fmla="*/ 0 h 36"/>
                  <a:gd name="T14" fmla="*/ 6 w 52"/>
                  <a:gd name="T15" fmla="*/ 0 h 36"/>
                  <a:gd name="T16" fmla="*/ 6 w 52"/>
                  <a:gd name="T17" fmla="*/ 0 h 36"/>
                  <a:gd name="T18" fmla="*/ 5 w 52"/>
                  <a:gd name="T19" fmla="*/ 0 h 36"/>
                  <a:gd name="T20" fmla="*/ 4 w 52"/>
                  <a:gd name="T21" fmla="*/ 0 h 36"/>
                  <a:gd name="T22" fmla="*/ 3 w 52"/>
                  <a:gd name="T23" fmla="*/ 1 h 36"/>
                  <a:gd name="T24" fmla="*/ 2 w 52"/>
                  <a:gd name="T25" fmla="*/ 1 h 36"/>
                  <a:gd name="T26" fmla="*/ 1 w 52"/>
                  <a:gd name="T27" fmla="*/ 2 h 36"/>
                  <a:gd name="T28" fmla="*/ 0 w 52"/>
                  <a:gd name="T29" fmla="*/ 4 h 36"/>
                  <a:gd name="T30" fmla="*/ 0 w 52"/>
                  <a:gd name="T31" fmla="*/ 5 h 36"/>
                  <a:gd name="T32" fmla="*/ 0 w 52"/>
                  <a:gd name="T33" fmla="*/ 5 h 36"/>
                  <a:gd name="T34" fmla="*/ 1 w 52"/>
                  <a:gd name="T35" fmla="*/ 6 h 36"/>
                  <a:gd name="T36" fmla="*/ 1 w 52"/>
                  <a:gd name="T37" fmla="*/ 6 h 36"/>
                  <a:gd name="T38" fmla="*/ 2 w 52"/>
                  <a:gd name="T39" fmla="*/ 6 h 36"/>
                  <a:gd name="T40" fmla="*/ 3 w 52"/>
                  <a:gd name="T41" fmla="*/ 6 h 36"/>
                  <a:gd name="T42" fmla="*/ 4 w 52"/>
                  <a:gd name="T43" fmla="*/ 6 h 36"/>
                  <a:gd name="T44" fmla="*/ 5 w 52"/>
                  <a:gd name="T45" fmla="*/ 5 h 36"/>
                  <a:gd name="T46" fmla="*/ 6 w 52"/>
                  <a:gd name="T47" fmla="*/ 5 h 36"/>
                  <a:gd name="T48" fmla="*/ 6 w 52"/>
                  <a:gd name="T49" fmla="*/ 4 h 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52"/>
                  <a:gd name="T76" fmla="*/ 0 h 36"/>
                  <a:gd name="T77" fmla="*/ 52 w 52"/>
                  <a:gd name="T78" fmla="*/ 36 h 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52" h="36">
                    <a:moveTo>
                      <a:pt x="41" y="27"/>
                    </a:moveTo>
                    <a:lnTo>
                      <a:pt x="46" y="24"/>
                    </a:lnTo>
                    <a:lnTo>
                      <a:pt x="51" y="21"/>
                    </a:lnTo>
                    <a:lnTo>
                      <a:pt x="52" y="16"/>
                    </a:lnTo>
                    <a:lnTo>
                      <a:pt x="52" y="12"/>
                    </a:lnTo>
                    <a:lnTo>
                      <a:pt x="50" y="6"/>
                    </a:lnTo>
                    <a:lnTo>
                      <a:pt x="46" y="2"/>
                    </a:lnTo>
                    <a:lnTo>
                      <a:pt x="41" y="0"/>
                    </a:lnTo>
                    <a:lnTo>
                      <a:pt x="36" y="0"/>
                    </a:lnTo>
                    <a:lnTo>
                      <a:pt x="33" y="0"/>
                    </a:lnTo>
                    <a:lnTo>
                      <a:pt x="29" y="1"/>
                    </a:lnTo>
                    <a:lnTo>
                      <a:pt x="21" y="4"/>
                    </a:lnTo>
                    <a:lnTo>
                      <a:pt x="13" y="8"/>
                    </a:lnTo>
                    <a:lnTo>
                      <a:pt x="6" y="15"/>
                    </a:lnTo>
                    <a:lnTo>
                      <a:pt x="3" y="22"/>
                    </a:lnTo>
                    <a:lnTo>
                      <a:pt x="0" y="29"/>
                    </a:lnTo>
                    <a:lnTo>
                      <a:pt x="0" y="31"/>
                    </a:lnTo>
                    <a:lnTo>
                      <a:pt x="4" y="33"/>
                    </a:lnTo>
                    <a:lnTo>
                      <a:pt x="9" y="36"/>
                    </a:lnTo>
                    <a:lnTo>
                      <a:pt x="13" y="36"/>
                    </a:lnTo>
                    <a:lnTo>
                      <a:pt x="18" y="36"/>
                    </a:lnTo>
                    <a:lnTo>
                      <a:pt x="24" y="33"/>
                    </a:lnTo>
                    <a:lnTo>
                      <a:pt x="30" y="32"/>
                    </a:lnTo>
                    <a:lnTo>
                      <a:pt x="36" y="30"/>
                    </a:lnTo>
                    <a:lnTo>
                      <a:pt x="41" y="2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4" name="Freeform 550"/>
              <p:cNvSpPr>
                <a:spLocks/>
              </p:cNvSpPr>
              <p:nvPr/>
            </p:nvSpPr>
            <p:spPr bwMode="auto">
              <a:xfrm>
                <a:off x="2596" y="2704"/>
                <a:ext cx="33" cy="39"/>
              </a:xfrm>
              <a:custGeom>
                <a:avLst/>
                <a:gdLst>
                  <a:gd name="T0" fmla="*/ 12 w 198"/>
                  <a:gd name="T1" fmla="*/ 6 h 236"/>
                  <a:gd name="T2" fmla="*/ 10 w 198"/>
                  <a:gd name="T3" fmla="*/ 8 h 236"/>
                  <a:gd name="T4" fmla="*/ 8 w 198"/>
                  <a:gd name="T5" fmla="*/ 10 h 236"/>
                  <a:gd name="T6" fmla="*/ 6 w 198"/>
                  <a:gd name="T7" fmla="*/ 12 h 236"/>
                  <a:gd name="T8" fmla="*/ 4 w 198"/>
                  <a:gd name="T9" fmla="*/ 14 h 236"/>
                  <a:gd name="T10" fmla="*/ 2 w 198"/>
                  <a:gd name="T11" fmla="*/ 17 h 236"/>
                  <a:gd name="T12" fmla="*/ 1 w 198"/>
                  <a:gd name="T13" fmla="*/ 19 h 236"/>
                  <a:gd name="T14" fmla="*/ 0 w 198"/>
                  <a:gd name="T15" fmla="*/ 21 h 236"/>
                  <a:gd name="T16" fmla="*/ 0 w 198"/>
                  <a:gd name="T17" fmla="*/ 24 h 236"/>
                  <a:gd name="T18" fmla="*/ 0 w 198"/>
                  <a:gd name="T19" fmla="*/ 28 h 236"/>
                  <a:gd name="T20" fmla="*/ 2 w 198"/>
                  <a:gd name="T21" fmla="*/ 31 h 236"/>
                  <a:gd name="T22" fmla="*/ 4 w 198"/>
                  <a:gd name="T23" fmla="*/ 34 h 236"/>
                  <a:gd name="T24" fmla="*/ 7 w 198"/>
                  <a:gd name="T25" fmla="*/ 36 h 236"/>
                  <a:gd name="T26" fmla="*/ 11 w 198"/>
                  <a:gd name="T27" fmla="*/ 38 h 236"/>
                  <a:gd name="T28" fmla="*/ 15 w 198"/>
                  <a:gd name="T29" fmla="*/ 39 h 236"/>
                  <a:gd name="T30" fmla="*/ 18 w 198"/>
                  <a:gd name="T31" fmla="*/ 39 h 236"/>
                  <a:gd name="T32" fmla="*/ 22 w 198"/>
                  <a:gd name="T33" fmla="*/ 38 h 236"/>
                  <a:gd name="T34" fmla="*/ 23 w 198"/>
                  <a:gd name="T35" fmla="*/ 38 h 236"/>
                  <a:gd name="T36" fmla="*/ 24 w 198"/>
                  <a:gd name="T37" fmla="*/ 38 h 236"/>
                  <a:gd name="T38" fmla="*/ 24 w 198"/>
                  <a:gd name="T39" fmla="*/ 37 h 236"/>
                  <a:gd name="T40" fmla="*/ 24 w 198"/>
                  <a:gd name="T41" fmla="*/ 37 h 236"/>
                  <a:gd name="T42" fmla="*/ 24 w 198"/>
                  <a:gd name="T43" fmla="*/ 36 h 236"/>
                  <a:gd name="T44" fmla="*/ 24 w 198"/>
                  <a:gd name="T45" fmla="*/ 36 h 236"/>
                  <a:gd name="T46" fmla="*/ 23 w 198"/>
                  <a:gd name="T47" fmla="*/ 36 h 236"/>
                  <a:gd name="T48" fmla="*/ 22 w 198"/>
                  <a:gd name="T49" fmla="*/ 36 h 236"/>
                  <a:gd name="T50" fmla="*/ 21 w 198"/>
                  <a:gd name="T51" fmla="*/ 36 h 236"/>
                  <a:gd name="T52" fmla="*/ 20 w 198"/>
                  <a:gd name="T53" fmla="*/ 36 h 236"/>
                  <a:gd name="T54" fmla="*/ 19 w 198"/>
                  <a:gd name="T55" fmla="*/ 36 h 236"/>
                  <a:gd name="T56" fmla="*/ 18 w 198"/>
                  <a:gd name="T57" fmla="*/ 36 h 236"/>
                  <a:gd name="T58" fmla="*/ 16 w 198"/>
                  <a:gd name="T59" fmla="*/ 36 h 236"/>
                  <a:gd name="T60" fmla="*/ 15 w 198"/>
                  <a:gd name="T61" fmla="*/ 36 h 236"/>
                  <a:gd name="T62" fmla="*/ 13 w 198"/>
                  <a:gd name="T63" fmla="*/ 35 h 236"/>
                  <a:gd name="T64" fmla="*/ 10 w 198"/>
                  <a:gd name="T65" fmla="*/ 35 h 236"/>
                  <a:gd name="T66" fmla="*/ 8 w 198"/>
                  <a:gd name="T67" fmla="*/ 34 h 236"/>
                  <a:gd name="T68" fmla="*/ 7 w 198"/>
                  <a:gd name="T69" fmla="*/ 33 h 236"/>
                  <a:gd name="T70" fmla="*/ 5 w 198"/>
                  <a:gd name="T71" fmla="*/ 31 h 236"/>
                  <a:gd name="T72" fmla="*/ 3 w 198"/>
                  <a:gd name="T73" fmla="*/ 29 h 236"/>
                  <a:gd name="T74" fmla="*/ 2 w 198"/>
                  <a:gd name="T75" fmla="*/ 26 h 236"/>
                  <a:gd name="T76" fmla="*/ 3 w 198"/>
                  <a:gd name="T77" fmla="*/ 23 h 236"/>
                  <a:gd name="T78" fmla="*/ 4 w 198"/>
                  <a:gd name="T79" fmla="*/ 20 h 236"/>
                  <a:gd name="T80" fmla="*/ 5 w 198"/>
                  <a:gd name="T81" fmla="*/ 18 h 236"/>
                  <a:gd name="T82" fmla="*/ 7 w 198"/>
                  <a:gd name="T83" fmla="*/ 16 h 236"/>
                  <a:gd name="T84" fmla="*/ 8 w 198"/>
                  <a:gd name="T85" fmla="*/ 14 h 236"/>
                  <a:gd name="T86" fmla="*/ 10 w 198"/>
                  <a:gd name="T87" fmla="*/ 12 h 236"/>
                  <a:gd name="T88" fmla="*/ 13 w 198"/>
                  <a:gd name="T89" fmla="*/ 10 h 236"/>
                  <a:gd name="T90" fmla="*/ 16 w 198"/>
                  <a:gd name="T91" fmla="*/ 8 h 236"/>
                  <a:gd name="T92" fmla="*/ 18 w 198"/>
                  <a:gd name="T93" fmla="*/ 6 h 236"/>
                  <a:gd name="T94" fmla="*/ 21 w 198"/>
                  <a:gd name="T95" fmla="*/ 5 h 236"/>
                  <a:gd name="T96" fmla="*/ 24 w 198"/>
                  <a:gd name="T97" fmla="*/ 4 h 236"/>
                  <a:gd name="T98" fmla="*/ 26 w 198"/>
                  <a:gd name="T99" fmla="*/ 3 h 236"/>
                  <a:gd name="T100" fmla="*/ 29 w 198"/>
                  <a:gd name="T101" fmla="*/ 2 h 236"/>
                  <a:gd name="T102" fmla="*/ 31 w 198"/>
                  <a:gd name="T103" fmla="*/ 2 h 236"/>
                  <a:gd name="T104" fmla="*/ 33 w 198"/>
                  <a:gd name="T105" fmla="*/ 1 h 236"/>
                  <a:gd name="T106" fmla="*/ 32 w 198"/>
                  <a:gd name="T107" fmla="*/ 0 h 236"/>
                  <a:gd name="T108" fmla="*/ 30 w 198"/>
                  <a:gd name="T109" fmla="*/ 0 h 236"/>
                  <a:gd name="T110" fmla="*/ 27 w 198"/>
                  <a:gd name="T111" fmla="*/ 0 h 236"/>
                  <a:gd name="T112" fmla="*/ 24 w 198"/>
                  <a:gd name="T113" fmla="*/ 1 h 236"/>
                  <a:gd name="T114" fmla="*/ 21 w 198"/>
                  <a:gd name="T115" fmla="*/ 2 h 236"/>
                  <a:gd name="T116" fmla="*/ 17 w 198"/>
                  <a:gd name="T117" fmla="*/ 3 h 236"/>
                  <a:gd name="T118" fmla="*/ 15 w 198"/>
                  <a:gd name="T119" fmla="*/ 5 h 236"/>
                  <a:gd name="T120" fmla="*/ 12 w 198"/>
                  <a:gd name="T121" fmla="*/ 6 h 2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98"/>
                  <a:gd name="T184" fmla="*/ 0 h 236"/>
                  <a:gd name="T185" fmla="*/ 198 w 198"/>
                  <a:gd name="T186" fmla="*/ 236 h 2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98" h="236">
                    <a:moveTo>
                      <a:pt x="73" y="36"/>
                    </a:moveTo>
                    <a:lnTo>
                      <a:pt x="58" y="46"/>
                    </a:lnTo>
                    <a:lnTo>
                      <a:pt x="46" y="58"/>
                    </a:lnTo>
                    <a:lnTo>
                      <a:pt x="33" y="72"/>
                    </a:lnTo>
                    <a:lnTo>
                      <a:pt x="22" y="85"/>
                    </a:lnTo>
                    <a:lnTo>
                      <a:pt x="14" y="100"/>
                    </a:lnTo>
                    <a:lnTo>
                      <a:pt x="7" y="115"/>
                    </a:lnTo>
                    <a:lnTo>
                      <a:pt x="2" y="130"/>
                    </a:lnTo>
                    <a:lnTo>
                      <a:pt x="0" y="146"/>
                    </a:lnTo>
                    <a:lnTo>
                      <a:pt x="2" y="170"/>
                    </a:lnTo>
                    <a:lnTo>
                      <a:pt x="12" y="190"/>
                    </a:lnTo>
                    <a:lnTo>
                      <a:pt x="26" y="207"/>
                    </a:lnTo>
                    <a:lnTo>
                      <a:pt x="43" y="220"/>
                    </a:lnTo>
                    <a:lnTo>
                      <a:pt x="64" y="229"/>
                    </a:lnTo>
                    <a:lnTo>
                      <a:pt x="88" y="235"/>
                    </a:lnTo>
                    <a:lnTo>
                      <a:pt x="110" y="236"/>
                    </a:lnTo>
                    <a:lnTo>
                      <a:pt x="132" y="232"/>
                    </a:lnTo>
                    <a:lnTo>
                      <a:pt x="137" y="232"/>
                    </a:lnTo>
                    <a:lnTo>
                      <a:pt x="142" y="230"/>
                    </a:lnTo>
                    <a:lnTo>
                      <a:pt x="145" y="226"/>
                    </a:lnTo>
                    <a:lnTo>
                      <a:pt x="146" y="221"/>
                    </a:lnTo>
                    <a:lnTo>
                      <a:pt x="145" y="219"/>
                    </a:lnTo>
                    <a:lnTo>
                      <a:pt x="142" y="219"/>
                    </a:lnTo>
                    <a:lnTo>
                      <a:pt x="137" y="217"/>
                    </a:lnTo>
                    <a:lnTo>
                      <a:pt x="131" y="217"/>
                    </a:lnTo>
                    <a:lnTo>
                      <a:pt x="124" y="217"/>
                    </a:lnTo>
                    <a:lnTo>
                      <a:pt x="118" y="217"/>
                    </a:lnTo>
                    <a:lnTo>
                      <a:pt x="112" y="217"/>
                    </a:lnTo>
                    <a:lnTo>
                      <a:pt x="109" y="217"/>
                    </a:lnTo>
                    <a:lnTo>
                      <a:pt x="97" y="216"/>
                    </a:lnTo>
                    <a:lnTo>
                      <a:pt x="87" y="215"/>
                    </a:lnTo>
                    <a:lnTo>
                      <a:pt x="75" y="214"/>
                    </a:lnTo>
                    <a:lnTo>
                      <a:pt x="63" y="211"/>
                    </a:lnTo>
                    <a:lnTo>
                      <a:pt x="51" y="207"/>
                    </a:lnTo>
                    <a:lnTo>
                      <a:pt x="40" y="199"/>
                    </a:lnTo>
                    <a:lnTo>
                      <a:pt x="29" y="189"/>
                    </a:lnTo>
                    <a:lnTo>
                      <a:pt x="17" y="174"/>
                    </a:lnTo>
                    <a:lnTo>
                      <a:pt x="15" y="157"/>
                    </a:lnTo>
                    <a:lnTo>
                      <a:pt x="16" y="141"/>
                    </a:lnTo>
                    <a:lnTo>
                      <a:pt x="21" y="124"/>
                    </a:lnTo>
                    <a:lnTo>
                      <a:pt x="28" y="109"/>
                    </a:lnTo>
                    <a:lnTo>
                      <a:pt x="39" y="96"/>
                    </a:lnTo>
                    <a:lnTo>
                      <a:pt x="50" y="82"/>
                    </a:lnTo>
                    <a:lnTo>
                      <a:pt x="63" y="70"/>
                    </a:lnTo>
                    <a:lnTo>
                      <a:pt x="78" y="59"/>
                    </a:lnTo>
                    <a:lnTo>
                      <a:pt x="94" y="49"/>
                    </a:lnTo>
                    <a:lnTo>
                      <a:pt x="110" y="39"/>
                    </a:lnTo>
                    <a:lnTo>
                      <a:pt x="126" y="31"/>
                    </a:lnTo>
                    <a:lnTo>
                      <a:pt x="142" y="24"/>
                    </a:lnTo>
                    <a:lnTo>
                      <a:pt x="158" y="19"/>
                    </a:lnTo>
                    <a:lnTo>
                      <a:pt x="172" y="13"/>
                    </a:lnTo>
                    <a:lnTo>
                      <a:pt x="186" y="10"/>
                    </a:lnTo>
                    <a:lnTo>
                      <a:pt x="198" y="7"/>
                    </a:lnTo>
                    <a:lnTo>
                      <a:pt x="190" y="3"/>
                    </a:lnTo>
                    <a:lnTo>
                      <a:pt x="177" y="0"/>
                    </a:lnTo>
                    <a:lnTo>
                      <a:pt x="162" y="3"/>
                    </a:lnTo>
                    <a:lnTo>
                      <a:pt x="144" y="6"/>
                    </a:lnTo>
                    <a:lnTo>
                      <a:pt x="124" y="12"/>
                    </a:lnTo>
                    <a:lnTo>
                      <a:pt x="105" y="19"/>
                    </a:lnTo>
                    <a:lnTo>
                      <a:pt x="88" y="28"/>
                    </a:lnTo>
                    <a:lnTo>
                      <a:pt x="73" y="3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5" name="Freeform 551"/>
              <p:cNvSpPr>
                <a:spLocks/>
              </p:cNvSpPr>
              <p:nvPr/>
            </p:nvSpPr>
            <p:spPr bwMode="auto">
              <a:xfrm>
                <a:off x="2652" y="2704"/>
                <a:ext cx="22" cy="30"/>
              </a:xfrm>
              <a:custGeom>
                <a:avLst/>
                <a:gdLst>
                  <a:gd name="T0" fmla="*/ 19 w 128"/>
                  <a:gd name="T1" fmla="*/ 10 h 183"/>
                  <a:gd name="T2" fmla="*/ 19 w 128"/>
                  <a:gd name="T3" fmla="*/ 13 h 183"/>
                  <a:gd name="T4" fmla="*/ 19 w 128"/>
                  <a:gd name="T5" fmla="*/ 16 h 183"/>
                  <a:gd name="T6" fmla="*/ 17 w 128"/>
                  <a:gd name="T7" fmla="*/ 18 h 183"/>
                  <a:gd name="T8" fmla="*/ 15 w 128"/>
                  <a:gd name="T9" fmla="*/ 20 h 183"/>
                  <a:gd name="T10" fmla="*/ 13 w 128"/>
                  <a:gd name="T11" fmla="*/ 22 h 183"/>
                  <a:gd name="T12" fmla="*/ 10 w 128"/>
                  <a:gd name="T13" fmla="*/ 24 h 183"/>
                  <a:gd name="T14" fmla="*/ 7 w 128"/>
                  <a:gd name="T15" fmla="*/ 26 h 183"/>
                  <a:gd name="T16" fmla="*/ 5 w 128"/>
                  <a:gd name="T17" fmla="*/ 27 h 183"/>
                  <a:gd name="T18" fmla="*/ 5 w 128"/>
                  <a:gd name="T19" fmla="*/ 28 h 183"/>
                  <a:gd name="T20" fmla="*/ 4 w 128"/>
                  <a:gd name="T21" fmla="*/ 28 h 183"/>
                  <a:gd name="T22" fmla="*/ 4 w 128"/>
                  <a:gd name="T23" fmla="*/ 29 h 183"/>
                  <a:gd name="T24" fmla="*/ 5 w 128"/>
                  <a:gd name="T25" fmla="*/ 29 h 183"/>
                  <a:gd name="T26" fmla="*/ 5 w 128"/>
                  <a:gd name="T27" fmla="*/ 30 h 183"/>
                  <a:gd name="T28" fmla="*/ 6 w 128"/>
                  <a:gd name="T29" fmla="*/ 30 h 183"/>
                  <a:gd name="T30" fmla="*/ 6 w 128"/>
                  <a:gd name="T31" fmla="*/ 30 h 183"/>
                  <a:gd name="T32" fmla="*/ 7 w 128"/>
                  <a:gd name="T33" fmla="*/ 30 h 183"/>
                  <a:gd name="T34" fmla="*/ 10 w 128"/>
                  <a:gd name="T35" fmla="*/ 28 h 183"/>
                  <a:gd name="T36" fmla="*/ 13 w 128"/>
                  <a:gd name="T37" fmla="*/ 26 h 183"/>
                  <a:gd name="T38" fmla="*/ 16 w 128"/>
                  <a:gd name="T39" fmla="*/ 24 h 183"/>
                  <a:gd name="T40" fmla="*/ 19 w 128"/>
                  <a:gd name="T41" fmla="*/ 22 h 183"/>
                  <a:gd name="T42" fmla="*/ 20 w 128"/>
                  <a:gd name="T43" fmla="*/ 19 h 183"/>
                  <a:gd name="T44" fmla="*/ 21 w 128"/>
                  <a:gd name="T45" fmla="*/ 16 h 183"/>
                  <a:gd name="T46" fmla="*/ 22 w 128"/>
                  <a:gd name="T47" fmla="*/ 13 h 183"/>
                  <a:gd name="T48" fmla="*/ 21 w 128"/>
                  <a:gd name="T49" fmla="*/ 10 h 183"/>
                  <a:gd name="T50" fmla="*/ 19 w 128"/>
                  <a:gd name="T51" fmla="*/ 7 h 183"/>
                  <a:gd name="T52" fmla="*/ 17 w 128"/>
                  <a:gd name="T53" fmla="*/ 5 h 183"/>
                  <a:gd name="T54" fmla="*/ 14 w 128"/>
                  <a:gd name="T55" fmla="*/ 3 h 183"/>
                  <a:gd name="T56" fmla="*/ 10 w 128"/>
                  <a:gd name="T57" fmla="*/ 1 h 183"/>
                  <a:gd name="T58" fmla="*/ 7 w 128"/>
                  <a:gd name="T59" fmla="*/ 0 h 183"/>
                  <a:gd name="T60" fmla="*/ 4 w 128"/>
                  <a:gd name="T61" fmla="*/ 0 h 183"/>
                  <a:gd name="T62" fmla="*/ 2 w 128"/>
                  <a:gd name="T63" fmla="*/ 0 h 183"/>
                  <a:gd name="T64" fmla="*/ 0 w 128"/>
                  <a:gd name="T65" fmla="*/ 1 h 183"/>
                  <a:gd name="T66" fmla="*/ 3 w 128"/>
                  <a:gd name="T67" fmla="*/ 2 h 183"/>
                  <a:gd name="T68" fmla="*/ 6 w 128"/>
                  <a:gd name="T69" fmla="*/ 2 h 183"/>
                  <a:gd name="T70" fmla="*/ 8 w 128"/>
                  <a:gd name="T71" fmla="*/ 3 h 183"/>
                  <a:gd name="T72" fmla="*/ 11 w 128"/>
                  <a:gd name="T73" fmla="*/ 4 h 183"/>
                  <a:gd name="T74" fmla="*/ 13 w 128"/>
                  <a:gd name="T75" fmla="*/ 5 h 183"/>
                  <a:gd name="T76" fmla="*/ 15 w 128"/>
                  <a:gd name="T77" fmla="*/ 6 h 183"/>
                  <a:gd name="T78" fmla="*/ 17 w 128"/>
                  <a:gd name="T79" fmla="*/ 8 h 183"/>
                  <a:gd name="T80" fmla="*/ 19 w 128"/>
                  <a:gd name="T81" fmla="*/ 10 h 18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28"/>
                  <a:gd name="T124" fmla="*/ 0 h 183"/>
                  <a:gd name="T125" fmla="*/ 128 w 128"/>
                  <a:gd name="T126" fmla="*/ 183 h 183"/>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28" h="183">
                    <a:moveTo>
                      <a:pt x="108" y="61"/>
                    </a:moveTo>
                    <a:lnTo>
                      <a:pt x="111" y="80"/>
                    </a:lnTo>
                    <a:lnTo>
                      <a:pt x="109" y="97"/>
                    </a:lnTo>
                    <a:lnTo>
                      <a:pt x="101" y="110"/>
                    </a:lnTo>
                    <a:lnTo>
                      <a:pt x="89" y="123"/>
                    </a:lnTo>
                    <a:lnTo>
                      <a:pt x="75" y="134"/>
                    </a:lnTo>
                    <a:lnTo>
                      <a:pt x="60" y="145"/>
                    </a:lnTo>
                    <a:lnTo>
                      <a:pt x="43" y="156"/>
                    </a:lnTo>
                    <a:lnTo>
                      <a:pt x="29" y="167"/>
                    </a:lnTo>
                    <a:lnTo>
                      <a:pt x="27" y="170"/>
                    </a:lnTo>
                    <a:lnTo>
                      <a:pt x="26" y="172"/>
                    </a:lnTo>
                    <a:lnTo>
                      <a:pt x="26" y="176"/>
                    </a:lnTo>
                    <a:lnTo>
                      <a:pt x="28" y="179"/>
                    </a:lnTo>
                    <a:lnTo>
                      <a:pt x="30" y="182"/>
                    </a:lnTo>
                    <a:lnTo>
                      <a:pt x="34" y="183"/>
                    </a:lnTo>
                    <a:lnTo>
                      <a:pt x="37" y="183"/>
                    </a:lnTo>
                    <a:lnTo>
                      <a:pt x="41" y="182"/>
                    </a:lnTo>
                    <a:lnTo>
                      <a:pt x="58" y="171"/>
                    </a:lnTo>
                    <a:lnTo>
                      <a:pt x="76" y="160"/>
                    </a:lnTo>
                    <a:lnTo>
                      <a:pt x="92" y="147"/>
                    </a:lnTo>
                    <a:lnTo>
                      <a:pt x="108" y="132"/>
                    </a:lnTo>
                    <a:lnTo>
                      <a:pt x="118" y="116"/>
                    </a:lnTo>
                    <a:lnTo>
                      <a:pt x="125" y="98"/>
                    </a:lnTo>
                    <a:lnTo>
                      <a:pt x="128" y="78"/>
                    </a:lnTo>
                    <a:lnTo>
                      <a:pt x="123" y="58"/>
                    </a:lnTo>
                    <a:lnTo>
                      <a:pt x="112" y="41"/>
                    </a:lnTo>
                    <a:lnTo>
                      <a:pt x="98" y="28"/>
                    </a:lnTo>
                    <a:lnTo>
                      <a:pt x="80" y="16"/>
                    </a:lnTo>
                    <a:lnTo>
                      <a:pt x="61" y="8"/>
                    </a:lnTo>
                    <a:lnTo>
                      <a:pt x="41" y="2"/>
                    </a:lnTo>
                    <a:lnTo>
                      <a:pt x="23" y="0"/>
                    </a:lnTo>
                    <a:lnTo>
                      <a:pt x="9" y="1"/>
                    </a:lnTo>
                    <a:lnTo>
                      <a:pt x="0" y="6"/>
                    </a:lnTo>
                    <a:lnTo>
                      <a:pt x="16" y="10"/>
                    </a:lnTo>
                    <a:lnTo>
                      <a:pt x="33" y="14"/>
                    </a:lnTo>
                    <a:lnTo>
                      <a:pt x="48" y="17"/>
                    </a:lnTo>
                    <a:lnTo>
                      <a:pt x="63" y="22"/>
                    </a:lnTo>
                    <a:lnTo>
                      <a:pt x="77" y="28"/>
                    </a:lnTo>
                    <a:lnTo>
                      <a:pt x="90" y="36"/>
                    </a:lnTo>
                    <a:lnTo>
                      <a:pt x="101" y="46"/>
                    </a:lnTo>
                    <a:lnTo>
                      <a:pt x="108" y="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6" name="Freeform 552"/>
              <p:cNvSpPr>
                <a:spLocks/>
              </p:cNvSpPr>
              <p:nvPr/>
            </p:nvSpPr>
            <p:spPr bwMode="auto">
              <a:xfrm>
                <a:off x="2575" y="2697"/>
                <a:ext cx="53" cy="63"/>
              </a:xfrm>
              <a:custGeom>
                <a:avLst/>
                <a:gdLst>
                  <a:gd name="T0" fmla="*/ 17 w 323"/>
                  <a:gd name="T1" fmla="*/ 12 h 379"/>
                  <a:gd name="T2" fmla="*/ 9 w 323"/>
                  <a:gd name="T3" fmla="*/ 19 h 379"/>
                  <a:gd name="T4" fmla="*/ 3 w 323"/>
                  <a:gd name="T5" fmla="*/ 28 h 379"/>
                  <a:gd name="T6" fmla="*/ 0 w 323"/>
                  <a:gd name="T7" fmla="*/ 38 h 379"/>
                  <a:gd name="T8" fmla="*/ 1 w 323"/>
                  <a:gd name="T9" fmla="*/ 44 h 379"/>
                  <a:gd name="T10" fmla="*/ 2 w 323"/>
                  <a:gd name="T11" fmla="*/ 47 h 379"/>
                  <a:gd name="T12" fmla="*/ 3 w 323"/>
                  <a:gd name="T13" fmla="*/ 50 h 379"/>
                  <a:gd name="T14" fmla="*/ 6 w 323"/>
                  <a:gd name="T15" fmla="*/ 52 h 379"/>
                  <a:gd name="T16" fmla="*/ 9 w 323"/>
                  <a:gd name="T17" fmla="*/ 54 h 379"/>
                  <a:gd name="T18" fmla="*/ 14 w 323"/>
                  <a:gd name="T19" fmla="*/ 57 h 379"/>
                  <a:gd name="T20" fmla="*/ 20 w 323"/>
                  <a:gd name="T21" fmla="*/ 58 h 379"/>
                  <a:gd name="T22" fmla="*/ 25 w 323"/>
                  <a:gd name="T23" fmla="*/ 60 h 379"/>
                  <a:gd name="T24" fmla="*/ 31 w 323"/>
                  <a:gd name="T25" fmla="*/ 61 h 379"/>
                  <a:gd name="T26" fmla="*/ 36 w 323"/>
                  <a:gd name="T27" fmla="*/ 62 h 379"/>
                  <a:gd name="T28" fmla="*/ 42 w 323"/>
                  <a:gd name="T29" fmla="*/ 62 h 379"/>
                  <a:gd name="T30" fmla="*/ 48 w 323"/>
                  <a:gd name="T31" fmla="*/ 63 h 379"/>
                  <a:gd name="T32" fmla="*/ 51 w 323"/>
                  <a:gd name="T33" fmla="*/ 63 h 379"/>
                  <a:gd name="T34" fmla="*/ 53 w 323"/>
                  <a:gd name="T35" fmla="*/ 62 h 379"/>
                  <a:gd name="T36" fmla="*/ 53 w 323"/>
                  <a:gd name="T37" fmla="*/ 60 h 379"/>
                  <a:gd name="T38" fmla="*/ 52 w 323"/>
                  <a:gd name="T39" fmla="*/ 59 h 379"/>
                  <a:gd name="T40" fmla="*/ 48 w 323"/>
                  <a:gd name="T41" fmla="*/ 58 h 379"/>
                  <a:gd name="T42" fmla="*/ 43 w 323"/>
                  <a:gd name="T43" fmla="*/ 58 h 379"/>
                  <a:gd name="T44" fmla="*/ 38 w 323"/>
                  <a:gd name="T45" fmla="*/ 58 h 379"/>
                  <a:gd name="T46" fmla="*/ 33 w 323"/>
                  <a:gd name="T47" fmla="*/ 57 h 379"/>
                  <a:gd name="T48" fmla="*/ 28 w 323"/>
                  <a:gd name="T49" fmla="*/ 56 h 379"/>
                  <a:gd name="T50" fmla="*/ 22 w 323"/>
                  <a:gd name="T51" fmla="*/ 55 h 379"/>
                  <a:gd name="T52" fmla="*/ 17 w 323"/>
                  <a:gd name="T53" fmla="*/ 53 h 379"/>
                  <a:gd name="T54" fmla="*/ 12 w 323"/>
                  <a:gd name="T55" fmla="*/ 51 h 379"/>
                  <a:gd name="T56" fmla="*/ 8 w 323"/>
                  <a:gd name="T57" fmla="*/ 48 h 379"/>
                  <a:gd name="T58" fmla="*/ 6 w 323"/>
                  <a:gd name="T59" fmla="*/ 45 h 379"/>
                  <a:gd name="T60" fmla="*/ 5 w 323"/>
                  <a:gd name="T61" fmla="*/ 40 h 379"/>
                  <a:gd name="T62" fmla="*/ 6 w 323"/>
                  <a:gd name="T63" fmla="*/ 33 h 379"/>
                  <a:gd name="T64" fmla="*/ 8 w 323"/>
                  <a:gd name="T65" fmla="*/ 27 h 379"/>
                  <a:gd name="T66" fmla="*/ 11 w 323"/>
                  <a:gd name="T67" fmla="*/ 23 h 379"/>
                  <a:gd name="T68" fmla="*/ 15 w 323"/>
                  <a:gd name="T69" fmla="*/ 18 h 379"/>
                  <a:gd name="T70" fmla="*/ 19 w 323"/>
                  <a:gd name="T71" fmla="*/ 15 h 379"/>
                  <a:gd name="T72" fmla="*/ 24 w 323"/>
                  <a:gd name="T73" fmla="*/ 11 h 379"/>
                  <a:gd name="T74" fmla="*/ 30 w 323"/>
                  <a:gd name="T75" fmla="*/ 7 h 379"/>
                  <a:gd name="T76" fmla="*/ 36 w 323"/>
                  <a:gd name="T77" fmla="*/ 4 h 379"/>
                  <a:gd name="T78" fmla="*/ 42 w 323"/>
                  <a:gd name="T79" fmla="*/ 1 h 379"/>
                  <a:gd name="T80" fmla="*/ 42 w 323"/>
                  <a:gd name="T81" fmla="*/ 0 h 379"/>
                  <a:gd name="T82" fmla="*/ 36 w 323"/>
                  <a:gd name="T83" fmla="*/ 1 h 379"/>
                  <a:gd name="T84" fmla="*/ 30 w 323"/>
                  <a:gd name="T85" fmla="*/ 3 h 379"/>
                  <a:gd name="T86" fmla="*/ 23 w 323"/>
                  <a:gd name="T87" fmla="*/ 6 h 37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3"/>
                  <a:gd name="T133" fmla="*/ 0 h 379"/>
                  <a:gd name="T134" fmla="*/ 323 w 323"/>
                  <a:gd name="T135" fmla="*/ 379 h 37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3" h="379">
                    <a:moveTo>
                      <a:pt x="126" y="50"/>
                    </a:moveTo>
                    <a:lnTo>
                      <a:pt x="101" y="70"/>
                    </a:lnTo>
                    <a:lnTo>
                      <a:pt x="76" y="92"/>
                    </a:lnTo>
                    <a:lnTo>
                      <a:pt x="54" y="115"/>
                    </a:lnTo>
                    <a:lnTo>
                      <a:pt x="34" y="140"/>
                    </a:lnTo>
                    <a:lnTo>
                      <a:pt x="18" y="167"/>
                    </a:lnTo>
                    <a:lnTo>
                      <a:pt x="6" y="196"/>
                    </a:lnTo>
                    <a:lnTo>
                      <a:pt x="0" y="227"/>
                    </a:lnTo>
                    <a:lnTo>
                      <a:pt x="1" y="259"/>
                    </a:lnTo>
                    <a:lnTo>
                      <a:pt x="4" y="267"/>
                    </a:lnTo>
                    <a:lnTo>
                      <a:pt x="7" y="277"/>
                    </a:lnTo>
                    <a:lnTo>
                      <a:pt x="11" y="283"/>
                    </a:lnTo>
                    <a:lnTo>
                      <a:pt x="15" y="291"/>
                    </a:lnTo>
                    <a:lnTo>
                      <a:pt x="21" y="298"/>
                    </a:lnTo>
                    <a:lnTo>
                      <a:pt x="27" y="305"/>
                    </a:lnTo>
                    <a:lnTo>
                      <a:pt x="34" y="311"/>
                    </a:lnTo>
                    <a:lnTo>
                      <a:pt x="41" y="316"/>
                    </a:lnTo>
                    <a:lnTo>
                      <a:pt x="57" y="325"/>
                    </a:lnTo>
                    <a:lnTo>
                      <a:pt x="72" y="333"/>
                    </a:lnTo>
                    <a:lnTo>
                      <a:pt x="87" y="340"/>
                    </a:lnTo>
                    <a:lnTo>
                      <a:pt x="103" y="345"/>
                    </a:lnTo>
                    <a:lnTo>
                      <a:pt x="120" y="351"/>
                    </a:lnTo>
                    <a:lnTo>
                      <a:pt x="136" y="356"/>
                    </a:lnTo>
                    <a:lnTo>
                      <a:pt x="153" y="360"/>
                    </a:lnTo>
                    <a:lnTo>
                      <a:pt x="169" y="364"/>
                    </a:lnTo>
                    <a:lnTo>
                      <a:pt x="187" y="367"/>
                    </a:lnTo>
                    <a:lnTo>
                      <a:pt x="204" y="370"/>
                    </a:lnTo>
                    <a:lnTo>
                      <a:pt x="221" y="372"/>
                    </a:lnTo>
                    <a:lnTo>
                      <a:pt x="238" y="374"/>
                    </a:lnTo>
                    <a:lnTo>
                      <a:pt x="256" y="375"/>
                    </a:lnTo>
                    <a:lnTo>
                      <a:pt x="273" y="376"/>
                    </a:lnTo>
                    <a:lnTo>
                      <a:pt x="290" y="378"/>
                    </a:lnTo>
                    <a:lnTo>
                      <a:pt x="307" y="379"/>
                    </a:lnTo>
                    <a:lnTo>
                      <a:pt x="312" y="379"/>
                    </a:lnTo>
                    <a:lnTo>
                      <a:pt x="317" y="375"/>
                    </a:lnTo>
                    <a:lnTo>
                      <a:pt x="320" y="372"/>
                    </a:lnTo>
                    <a:lnTo>
                      <a:pt x="323" y="366"/>
                    </a:lnTo>
                    <a:lnTo>
                      <a:pt x="323" y="360"/>
                    </a:lnTo>
                    <a:lnTo>
                      <a:pt x="320" y="356"/>
                    </a:lnTo>
                    <a:lnTo>
                      <a:pt x="316" y="352"/>
                    </a:lnTo>
                    <a:lnTo>
                      <a:pt x="311" y="351"/>
                    </a:lnTo>
                    <a:lnTo>
                      <a:pt x="295" y="351"/>
                    </a:lnTo>
                    <a:lnTo>
                      <a:pt x="279" y="351"/>
                    </a:lnTo>
                    <a:lnTo>
                      <a:pt x="263" y="350"/>
                    </a:lnTo>
                    <a:lnTo>
                      <a:pt x="248" y="349"/>
                    </a:lnTo>
                    <a:lnTo>
                      <a:pt x="231" y="348"/>
                    </a:lnTo>
                    <a:lnTo>
                      <a:pt x="215" y="345"/>
                    </a:lnTo>
                    <a:lnTo>
                      <a:pt x="200" y="343"/>
                    </a:lnTo>
                    <a:lnTo>
                      <a:pt x="183" y="341"/>
                    </a:lnTo>
                    <a:lnTo>
                      <a:pt x="168" y="337"/>
                    </a:lnTo>
                    <a:lnTo>
                      <a:pt x="151" y="334"/>
                    </a:lnTo>
                    <a:lnTo>
                      <a:pt x="136" y="329"/>
                    </a:lnTo>
                    <a:lnTo>
                      <a:pt x="121" y="325"/>
                    </a:lnTo>
                    <a:lnTo>
                      <a:pt x="106" y="320"/>
                    </a:lnTo>
                    <a:lnTo>
                      <a:pt x="92" y="313"/>
                    </a:lnTo>
                    <a:lnTo>
                      <a:pt x="76" y="306"/>
                    </a:lnTo>
                    <a:lnTo>
                      <a:pt x="62" y="300"/>
                    </a:lnTo>
                    <a:lnTo>
                      <a:pt x="51" y="291"/>
                    </a:lnTo>
                    <a:lnTo>
                      <a:pt x="41" y="280"/>
                    </a:lnTo>
                    <a:lnTo>
                      <a:pt x="35" y="269"/>
                    </a:lnTo>
                    <a:lnTo>
                      <a:pt x="31" y="255"/>
                    </a:lnTo>
                    <a:lnTo>
                      <a:pt x="31" y="239"/>
                    </a:lnTo>
                    <a:lnTo>
                      <a:pt x="33" y="218"/>
                    </a:lnTo>
                    <a:lnTo>
                      <a:pt x="38" y="197"/>
                    </a:lnTo>
                    <a:lnTo>
                      <a:pt x="42" y="182"/>
                    </a:lnTo>
                    <a:lnTo>
                      <a:pt x="51" y="165"/>
                    </a:lnTo>
                    <a:lnTo>
                      <a:pt x="60" y="150"/>
                    </a:lnTo>
                    <a:lnTo>
                      <a:pt x="68" y="136"/>
                    </a:lnTo>
                    <a:lnTo>
                      <a:pt x="79" y="124"/>
                    </a:lnTo>
                    <a:lnTo>
                      <a:pt x="89" y="111"/>
                    </a:lnTo>
                    <a:lnTo>
                      <a:pt x="101" y="100"/>
                    </a:lnTo>
                    <a:lnTo>
                      <a:pt x="114" y="88"/>
                    </a:lnTo>
                    <a:lnTo>
                      <a:pt x="129" y="76"/>
                    </a:lnTo>
                    <a:lnTo>
                      <a:pt x="144" y="64"/>
                    </a:lnTo>
                    <a:lnTo>
                      <a:pt x="162" y="53"/>
                    </a:lnTo>
                    <a:lnTo>
                      <a:pt x="181" y="41"/>
                    </a:lnTo>
                    <a:lnTo>
                      <a:pt x="201" y="31"/>
                    </a:lnTo>
                    <a:lnTo>
                      <a:pt x="219" y="22"/>
                    </a:lnTo>
                    <a:lnTo>
                      <a:pt x="237" y="14"/>
                    </a:lnTo>
                    <a:lnTo>
                      <a:pt x="253" y="7"/>
                    </a:lnTo>
                    <a:lnTo>
                      <a:pt x="268" y="1"/>
                    </a:lnTo>
                    <a:lnTo>
                      <a:pt x="255" y="0"/>
                    </a:lnTo>
                    <a:lnTo>
                      <a:pt x="238" y="1"/>
                    </a:lnTo>
                    <a:lnTo>
                      <a:pt x="221" y="5"/>
                    </a:lnTo>
                    <a:lnTo>
                      <a:pt x="201" y="11"/>
                    </a:lnTo>
                    <a:lnTo>
                      <a:pt x="181" y="19"/>
                    </a:lnTo>
                    <a:lnTo>
                      <a:pt x="161" y="28"/>
                    </a:lnTo>
                    <a:lnTo>
                      <a:pt x="142" y="39"/>
                    </a:lnTo>
                    <a:lnTo>
                      <a:pt x="126" y="5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7" name="Freeform 553"/>
              <p:cNvSpPr>
                <a:spLocks/>
              </p:cNvSpPr>
              <p:nvPr/>
            </p:nvSpPr>
            <p:spPr bwMode="auto">
              <a:xfrm>
                <a:off x="2650" y="2695"/>
                <a:ext cx="47" cy="42"/>
              </a:xfrm>
              <a:custGeom>
                <a:avLst/>
                <a:gdLst>
                  <a:gd name="T0" fmla="*/ 39 w 282"/>
                  <a:gd name="T1" fmla="*/ 13 h 253"/>
                  <a:gd name="T2" fmla="*/ 41 w 282"/>
                  <a:gd name="T3" fmla="*/ 15 h 253"/>
                  <a:gd name="T4" fmla="*/ 42 w 282"/>
                  <a:gd name="T5" fmla="*/ 18 h 253"/>
                  <a:gd name="T6" fmla="*/ 43 w 282"/>
                  <a:gd name="T7" fmla="*/ 21 h 253"/>
                  <a:gd name="T8" fmla="*/ 43 w 282"/>
                  <a:gd name="T9" fmla="*/ 24 h 253"/>
                  <a:gd name="T10" fmla="*/ 43 w 282"/>
                  <a:gd name="T11" fmla="*/ 26 h 253"/>
                  <a:gd name="T12" fmla="*/ 42 w 282"/>
                  <a:gd name="T13" fmla="*/ 28 h 253"/>
                  <a:gd name="T14" fmla="*/ 41 w 282"/>
                  <a:gd name="T15" fmla="*/ 31 h 253"/>
                  <a:gd name="T16" fmla="*/ 39 w 282"/>
                  <a:gd name="T17" fmla="*/ 32 h 253"/>
                  <a:gd name="T18" fmla="*/ 37 w 282"/>
                  <a:gd name="T19" fmla="*/ 34 h 253"/>
                  <a:gd name="T20" fmla="*/ 36 w 282"/>
                  <a:gd name="T21" fmla="*/ 36 h 253"/>
                  <a:gd name="T22" fmla="*/ 34 w 282"/>
                  <a:gd name="T23" fmla="*/ 37 h 253"/>
                  <a:gd name="T24" fmla="*/ 32 w 282"/>
                  <a:gd name="T25" fmla="*/ 39 h 253"/>
                  <a:gd name="T26" fmla="*/ 32 w 282"/>
                  <a:gd name="T27" fmla="*/ 40 h 253"/>
                  <a:gd name="T28" fmla="*/ 32 w 282"/>
                  <a:gd name="T29" fmla="*/ 40 h 253"/>
                  <a:gd name="T30" fmla="*/ 32 w 282"/>
                  <a:gd name="T31" fmla="*/ 41 h 253"/>
                  <a:gd name="T32" fmla="*/ 32 w 282"/>
                  <a:gd name="T33" fmla="*/ 41 h 253"/>
                  <a:gd name="T34" fmla="*/ 33 w 282"/>
                  <a:gd name="T35" fmla="*/ 42 h 253"/>
                  <a:gd name="T36" fmla="*/ 33 w 282"/>
                  <a:gd name="T37" fmla="*/ 42 h 253"/>
                  <a:gd name="T38" fmla="*/ 34 w 282"/>
                  <a:gd name="T39" fmla="*/ 42 h 253"/>
                  <a:gd name="T40" fmla="*/ 35 w 282"/>
                  <a:gd name="T41" fmla="*/ 41 h 253"/>
                  <a:gd name="T42" fmla="*/ 39 w 282"/>
                  <a:gd name="T43" fmla="*/ 39 h 253"/>
                  <a:gd name="T44" fmla="*/ 42 w 282"/>
                  <a:gd name="T45" fmla="*/ 36 h 253"/>
                  <a:gd name="T46" fmla="*/ 45 w 282"/>
                  <a:gd name="T47" fmla="*/ 32 h 253"/>
                  <a:gd name="T48" fmla="*/ 46 w 282"/>
                  <a:gd name="T49" fmla="*/ 28 h 253"/>
                  <a:gd name="T50" fmla="*/ 47 w 282"/>
                  <a:gd name="T51" fmla="*/ 23 h 253"/>
                  <a:gd name="T52" fmla="*/ 47 w 282"/>
                  <a:gd name="T53" fmla="*/ 19 h 253"/>
                  <a:gd name="T54" fmla="*/ 45 w 282"/>
                  <a:gd name="T55" fmla="*/ 15 h 253"/>
                  <a:gd name="T56" fmla="*/ 42 w 282"/>
                  <a:gd name="T57" fmla="*/ 12 h 253"/>
                  <a:gd name="T58" fmla="*/ 39 w 282"/>
                  <a:gd name="T59" fmla="*/ 10 h 253"/>
                  <a:gd name="T60" fmla="*/ 37 w 282"/>
                  <a:gd name="T61" fmla="*/ 8 h 253"/>
                  <a:gd name="T62" fmla="*/ 34 w 282"/>
                  <a:gd name="T63" fmla="*/ 6 h 253"/>
                  <a:gd name="T64" fmla="*/ 30 w 282"/>
                  <a:gd name="T65" fmla="*/ 5 h 253"/>
                  <a:gd name="T66" fmla="*/ 27 w 282"/>
                  <a:gd name="T67" fmla="*/ 4 h 253"/>
                  <a:gd name="T68" fmla="*/ 24 w 282"/>
                  <a:gd name="T69" fmla="*/ 3 h 253"/>
                  <a:gd name="T70" fmla="*/ 20 w 282"/>
                  <a:gd name="T71" fmla="*/ 2 h 253"/>
                  <a:gd name="T72" fmla="*/ 17 w 282"/>
                  <a:gd name="T73" fmla="*/ 1 h 253"/>
                  <a:gd name="T74" fmla="*/ 14 w 282"/>
                  <a:gd name="T75" fmla="*/ 1 h 253"/>
                  <a:gd name="T76" fmla="*/ 10 w 282"/>
                  <a:gd name="T77" fmla="*/ 0 h 253"/>
                  <a:gd name="T78" fmla="*/ 8 w 282"/>
                  <a:gd name="T79" fmla="*/ 0 h 253"/>
                  <a:gd name="T80" fmla="*/ 5 w 282"/>
                  <a:gd name="T81" fmla="*/ 0 h 253"/>
                  <a:gd name="T82" fmla="*/ 3 w 282"/>
                  <a:gd name="T83" fmla="*/ 0 h 253"/>
                  <a:gd name="T84" fmla="*/ 2 w 282"/>
                  <a:gd name="T85" fmla="*/ 0 h 253"/>
                  <a:gd name="T86" fmla="*/ 1 w 282"/>
                  <a:gd name="T87" fmla="*/ 1 h 253"/>
                  <a:gd name="T88" fmla="*/ 0 w 282"/>
                  <a:gd name="T89" fmla="*/ 1 h 253"/>
                  <a:gd name="T90" fmla="*/ 2 w 282"/>
                  <a:gd name="T91" fmla="*/ 1 h 253"/>
                  <a:gd name="T92" fmla="*/ 4 w 282"/>
                  <a:gd name="T93" fmla="*/ 1 h 253"/>
                  <a:gd name="T94" fmla="*/ 6 w 282"/>
                  <a:gd name="T95" fmla="*/ 2 h 253"/>
                  <a:gd name="T96" fmla="*/ 9 w 282"/>
                  <a:gd name="T97" fmla="*/ 2 h 253"/>
                  <a:gd name="T98" fmla="*/ 11 w 282"/>
                  <a:gd name="T99" fmla="*/ 3 h 253"/>
                  <a:gd name="T100" fmla="*/ 14 w 282"/>
                  <a:gd name="T101" fmla="*/ 3 h 253"/>
                  <a:gd name="T102" fmla="*/ 16 w 282"/>
                  <a:gd name="T103" fmla="*/ 4 h 253"/>
                  <a:gd name="T104" fmla="*/ 19 w 282"/>
                  <a:gd name="T105" fmla="*/ 4 h 253"/>
                  <a:gd name="T106" fmla="*/ 22 w 282"/>
                  <a:gd name="T107" fmla="*/ 5 h 253"/>
                  <a:gd name="T108" fmla="*/ 24 w 282"/>
                  <a:gd name="T109" fmla="*/ 6 h 253"/>
                  <a:gd name="T110" fmla="*/ 27 w 282"/>
                  <a:gd name="T111" fmla="*/ 7 h 253"/>
                  <a:gd name="T112" fmla="*/ 29 w 282"/>
                  <a:gd name="T113" fmla="*/ 8 h 253"/>
                  <a:gd name="T114" fmla="*/ 32 w 282"/>
                  <a:gd name="T115" fmla="*/ 9 h 253"/>
                  <a:gd name="T116" fmla="*/ 35 w 282"/>
                  <a:gd name="T117" fmla="*/ 10 h 253"/>
                  <a:gd name="T118" fmla="*/ 37 w 282"/>
                  <a:gd name="T119" fmla="*/ 11 h 253"/>
                  <a:gd name="T120" fmla="*/ 39 w 282"/>
                  <a:gd name="T121" fmla="*/ 13 h 2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82"/>
                  <a:gd name="T184" fmla="*/ 0 h 253"/>
                  <a:gd name="T185" fmla="*/ 282 w 282"/>
                  <a:gd name="T186" fmla="*/ 253 h 25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82" h="253">
                    <a:moveTo>
                      <a:pt x="235" y="78"/>
                    </a:moveTo>
                    <a:lnTo>
                      <a:pt x="248" y="92"/>
                    </a:lnTo>
                    <a:lnTo>
                      <a:pt x="255" y="108"/>
                    </a:lnTo>
                    <a:lnTo>
                      <a:pt x="259" y="125"/>
                    </a:lnTo>
                    <a:lnTo>
                      <a:pt x="259" y="144"/>
                    </a:lnTo>
                    <a:lnTo>
                      <a:pt x="257" y="159"/>
                    </a:lnTo>
                    <a:lnTo>
                      <a:pt x="252" y="171"/>
                    </a:lnTo>
                    <a:lnTo>
                      <a:pt x="244" y="184"/>
                    </a:lnTo>
                    <a:lnTo>
                      <a:pt x="236" y="194"/>
                    </a:lnTo>
                    <a:lnTo>
                      <a:pt x="225" y="206"/>
                    </a:lnTo>
                    <a:lnTo>
                      <a:pt x="215" y="215"/>
                    </a:lnTo>
                    <a:lnTo>
                      <a:pt x="204" y="225"/>
                    </a:lnTo>
                    <a:lnTo>
                      <a:pt x="194" y="236"/>
                    </a:lnTo>
                    <a:lnTo>
                      <a:pt x="191" y="239"/>
                    </a:lnTo>
                    <a:lnTo>
                      <a:pt x="190" y="242"/>
                    </a:lnTo>
                    <a:lnTo>
                      <a:pt x="191" y="246"/>
                    </a:lnTo>
                    <a:lnTo>
                      <a:pt x="194" y="249"/>
                    </a:lnTo>
                    <a:lnTo>
                      <a:pt x="197" y="252"/>
                    </a:lnTo>
                    <a:lnTo>
                      <a:pt x="201" y="253"/>
                    </a:lnTo>
                    <a:lnTo>
                      <a:pt x="205" y="252"/>
                    </a:lnTo>
                    <a:lnTo>
                      <a:pt x="209" y="249"/>
                    </a:lnTo>
                    <a:lnTo>
                      <a:pt x="232" y="234"/>
                    </a:lnTo>
                    <a:lnTo>
                      <a:pt x="251" y="215"/>
                    </a:lnTo>
                    <a:lnTo>
                      <a:pt x="267" y="192"/>
                    </a:lnTo>
                    <a:lnTo>
                      <a:pt x="278" y="168"/>
                    </a:lnTo>
                    <a:lnTo>
                      <a:pt x="282" y="141"/>
                    </a:lnTo>
                    <a:lnTo>
                      <a:pt x="279" y="116"/>
                    </a:lnTo>
                    <a:lnTo>
                      <a:pt x="270" y="92"/>
                    </a:lnTo>
                    <a:lnTo>
                      <a:pt x="251" y="70"/>
                    </a:lnTo>
                    <a:lnTo>
                      <a:pt x="237" y="59"/>
                    </a:lnTo>
                    <a:lnTo>
                      <a:pt x="221" y="48"/>
                    </a:lnTo>
                    <a:lnTo>
                      <a:pt x="202" y="39"/>
                    </a:lnTo>
                    <a:lnTo>
                      <a:pt x="183" y="31"/>
                    </a:lnTo>
                    <a:lnTo>
                      <a:pt x="163" y="24"/>
                    </a:lnTo>
                    <a:lnTo>
                      <a:pt x="142" y="18"/>
                    </a:lnTo>
                    <a:lnTo>
                      <a:pt x="122" y="13"/>
                    </a:lnTo>
                    <a:lnTo>
                      <a:pt x="101" y="8"/>
                    </a:lnTo>
                    <a:lnTo>
                      <a:pt x="82" y="5"/>
                    </a:lnTo>
                    <a:lnTo>
                      <a:pt x="63" y="2"/>
                    </a:lnTo>
                    <a:lnTo>
                      <a:pt x="47" y="0"/>
                    </a:lnTo>
                    <a:lnTo>
                      <a:pt x="32" y="0"/>
                    </a:lnTo>
                    <a:lnTo>
                      <a:pt x="19" y="0"/>
                    </a:lnTo>
                    <a:lnTo>
                      <a:pt x="10" y="1"/>
                    </a:lnTo>
                    <a:lnTo>
                      <a:pt x="4" y="4"/>
                    </a:lnTo>
                    <a:lnTo>
                      <a:pt x="0" y="6"/>
                    </a:lnTo>
                    <a:lnTo>
                      <a:pt x="12" y="8"/>
                    </a:lnTo>
                    <a:lnTo>
                      <a:pt x="25" y="9"/>
                    </a:lnTo>
                    <a:lnTo>
                      <a:pt x="38" y="12"/>
                    </a:lnTo>
                    <a:lnTo>
                      <a:pt x="52" y="14"/>
                    </a:lnTo>
                    <a:lnTo>
                      <a:pt x="67" y="16"/>
                    </a:lnTo>
                    <a:lnTo>
                      <a:pt x="82" y="18"/>
                    </a:lnTo>
                    <a:lnTo>
                      <a:pt x="97" y="22"/>
                    </a:lnTo>
                    <a:lnTo>
                      <a:pt x="114" y="25"/>
                    </a:lnTo>
                    <a:lnTo>
                      <a:pt x="129" y="30"/>
                    </a:lnTo>
                    <a:lnTo>
                      <a:pt x="146" y="35"/>
                    </a:lnTo>
                    <a:lnTo>
                      <a:pt x="162" y="40"/>
                    </a:lnTo>
                    <a:lnTo>
                      <a:pt x="177" y="46"/>
                    </a:lnTo>
                    <a:lnTo>
                      <a:pt x="192" y="53"/>
                    </a:lnTo>
                    <a:lnTo>
                      <a:pt x="208" y="60"/>
                    </a:lnTo>
                    <a:lnTo>
                      <a:pt x="222" y="69"/>
                    </a:lnTo>
                    <a:lnTo>
                      <a:pt x="235" y="7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8" name="Freeform 554"/>
              <p:cNvSpPr>
                <a:spLocks/>
              </p:cNvSpPr>
              <p:nvPr/>
            </p:nvSpPr>
            <p:spPr bwMode="auto">
              <a:xfrm>
                <a:off x="2556" y="2718"/>
                <a:ext cx="19" cy="39"/>
              </a:xfrm>
              <a:custGeom>
                <a:avLst/>
                <a:gdLst>
                  <a:gd name="T0" fmla="*/ 0 w 115"/>
                  <a:gd name="T1" fmla="*/ 21 h 236"/>
                  <a:gd name="T2" fmla="*/ 0 w 115"/>
                  <a:gd name="T3" fmla="*/ 24 h 236"/>
                  <a:gd name="T4" fmla="*/ 1 w 115"/>
                  <a:gd name="T5" fmla="*/ 27 h 236"/>
                  <a:gd name="T6" fmla="*/ 2 w 115"/>
                  <a:gd name="T7" fmla="*/ 30 h 236"/>
                  <a:gd name="T8" fmla="*/ 4 w 115"/>
                  <a:gd name="T9" fmla="*/ 33 h 236"/>
                  <a:gd name="T10" fmla="*/ 6 w 115"/>
                  <a:gd name="T11" fmla="*/ 35 h 236"/>
                  <a:gd name="T12" fmla="*/ 9 w 115"/>
                  <a:gd name="T13" fmla="*/ 37 h 236"/>
                  <a:gd name="T14" fmla="*/ 12 w 115"/>
                  <a:gd name="T15" fmla="*/ 38 h 236"/>
                  <a:gd name="T16" fmla="*/ 15 w 115"/>
                  <a:gd name="T17" fmla="*/ 39 h 236"/>
                  <a:gd name="T18" fmla="*/ 16 w 115"/>
                  <a:gd name="T19" fmla="*/ 39 h 236"/>
                  <a:gd name="T20" fmla="*/ 17 w 115"/>
                  <a:gd name="T21" fmla="*/ 39 h 236"/>
                  <a:gd name="T22" fmla="*/ 18 w 115"/>
                  <a:gd name="T23" fmla="*/ 38 h 236"/>
                  <a:gd name="T24" fmla="*/ 18 w 115"/>
                  <a:gd name="T25" fmla="*/ 37 h 236"/>
                  <a:gd name="T26" fmla="*/ 18 w 115"/>
                  <a:gd name="T27" fmla="*/ 36 h 236"/>
                  <a:gd name="T28" fmla="*/ 18 w 115"/>
                  <a:gd name="T29" fmla="*/ 36 h 236"/>
                  <a:gd name="T30" fmla="*/ 18 w 115"/>
                  <a:gd name="T31" fmla="*/ 35 h 236"/>
                  <a:gd name="T32" fmla="*/ 17 w 115"/>
                  <a:gd name="T33" fmla="*/ 34 h 236"/>
                  <a:gd name="T34" fmla="*/ 14 w 115"/>
                  <a:gd name="T35" fmla="*/ 33 h 236"/>
                  <a:gd name="T36" fmla="*/ 11 w 115"/>
                  <a:gd name="T37" fmla="*/ 32 h 236"/>
                  <a:gd name="T38" fmla="*/ 8 w 115"/>
                  <a:gd name="T39" fmla="*/ 30 h 236"/>
                  <a:gd name="T40" fmla="*/ 7 w 115"/>
                  <a:gd name="T41" fmla="*/ 27 h 236"/>
                  <a:gd name="T42" fmla="*/ 5 w 115"/>
                  <a:gd name="T43" fmla="*/ 24 h 236"/>
                  <a:gd name="T44" fmla="*/ 5 w 115"/>
                  <a:gd name="T45" fmla="*/ 21 h 236"/>
                  <a:gd name="T46" fmla="*/ 5 w 115"/>
                  <a:gd name="T47" fmla="*/ 18 h 236"/>
                  <a:gd name="T48" fmla="*/ 6 w 115"/>
                  <a:gd name="T49" fmla="*/ 15 h 236"/>
                  <a:gd name="T50" fmla="*/ 7 w 115"/>
                  <a:gd name="T51" fmla="*/ 12 h 236"/>
                  <a:gd name="T52" fmla="*/ 9 w 115"/>
                  <a:gd name="T53" fmla="*/ 10 h 236"/>
                  <a:gd name="T54" fmla="*/ 12 w 115"/>
                  <a:gd name="T55" fmla="*/ 8 h 236"/>
                  <a:gd name="T56" fmla="*/ 14 w 115"/>
                  <a:gd name="T57" fmla="*/ 5 h 236"/>
                  <a:gd name="T58" fmla="*/ 16 w 115"/>
                  <a:gd name="T59" fmla="*/ 4 h 236"/>
                  <a:gd name="T60" fmla="*/ 18 w 115"/>
                  <a:gd name="T61" fmla="*/ 2 h 236"/>
                  <a:gd name="T62" fmla="*/ 19 w 115"/>
                  <a:gd name="T63" fmla="*/ 1 h 236"/>
                  <a:gd name="T64" fmla="*/ 19 w 115"/>
                  <a:gd name="T65" fmla="*/ 0 h 236"/>
                  <a:gd name="T66" fmla="*/ 17 w 115"/>
                  <a:gd name="T67" fmla="*/ 1 h 236"/>
                  <a:gd name="T68" fmla="*/ 14 w 115"/>
                  <a:gd name="T69" fmla="*/ 2 h 236"/>
                  <a:gd name="T70" fmla="*/ 11 w 115"/>
                  <a:gd name="T71" fmla="*/ 4 h 236"/>
                  <a:gd name="T72" fmla="*/ 8 w 115"/>
                  <a:gd name="T73" fmla="*/ 7 h 236"/>
                  <a:gd name="T74" fmla="*/ 5 w 115"/>
                  <a:gd name="T75" fmla="*/ 10 h 236"/>
                  <a:gd name="T76" fmla="*/ 3 w 115"/>
                  <a:gd name="T77" fmla="*/ 14 h 236"/>
                  <a:gd name="T78" fmla="*/ 1 w 115"/>
                  <a:gd name="T79" fmla="*/ 17 h 236"/>
                  <a:gd name="T80" fmla="*/ 0 w 115"/>
                  <a:gd name="T81" fmla="*/ 21 h 2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15"/>
                  <a:gd name="T124" fmla="*/ 0 h 236"/>
                  <a:gd name="T125" fmla="*/ 115 w 115"/>
                  <a:gd name="T126" fmla="*/ 236 h 2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15" h="236">
                    <a:moveTo>
                      <a:pt x="0" y="128"/>
                    </a:moveTo>
                    <a:lnTo>
                      <a:pt x="0" y="148"/>
                    </a:lnTo>
                    <a:lnTo>
                      <a:pt x="5" y="166"/>
                    </a:lnTo>
                    <a:lnTo>
                      <a:pt x="13" y="184"/>
                    </a:lnTo>
                    <a:lnTo>
                      <a:pt x="24" y="198"/>
                    </a:lnTo>
                    <a:lnTo>
                      <a:pt x="39" y="211"/>
                    </a:lnTo>
                    <a:lnTo>
                      <a:pt x="55" y="223"/>
                    </a:lnTo>
                    <a:lnTo>
                      <a:pt x="74" y="231"/>
                    </a:lnTo>
                    <a:lnTo>
                      <a:pt x="92" y="235"/>
                    </a:lnTo>
                    <a:lnTo>
                      <a:pt x="98" y="236"/>
                    </a:lnTo>
                    <a:lnTo>
                      <a:pt x="104" y="234"/>
                    </a:lnTo>
                    <a:lnTo>
                      <a:pt x="109" y="231"/>
                    </a:lnTo>
                    <a:lnTo>
                      <a:pt x="111" y="226"/>
                    </a:lnTo>
                    <a:lnTo>
                      <a:pt x="111" y="220"/>
                    </a:lnTo>
                    <a:lnTo>
                      <a:pt x="110" y="215"/>
                    </a:lnTo>
                    <a:lnTo>
                      <a:pt x="107" y="210"/>
                    </a:lnTo>
                    <a:lnTo>
                      <a:pt x="101" y="208"/>
                    </a:lnTo>
                    <a:lnTo>
                      <a:pt x="82" y="201"/>
                    </a:lnTo>
                    <a:lnTo>
                      <a:pt x="64" y="192"/>
                    </a:lnTo>
                    <a:lnTo>
                      <a:pt x="50" y="179"/>
                    </a:lnTo>
                    <a:lnTo>
                      <a:pt x="40" y="165"/>
                    </a:lnTo>
                    <a:lnTo>
                      <a:pt x="33" y="148"/>
                    </a:lnTo>
                    <a:lnTo>
                      <a:pt x="29" y="130"/>
                    </a:lnTo>
                    <a:lnTo>
                      <a:pt x="29" y="110"/>
                    </a:lnTo>
                    <a:lnTo>
                      <a:pt x="35" y="89"/>
                    </a:lnTo>
                    <a:lnTo>
                      <a:pt x="43" y="74"/>
                    </a:lnTo>
                    <a:lnTo>
                      <a:pt x="56" y="60"/>
                    </a:lnTo>
                    <a:lnTo>
                      <a:pt x="70" y="46"/>
                    </a:lnTo>
                    <a:lnTo>
                      <a:pt x="85" y="33"/>
                    </a:lnTo>
                    <a:lnTo>
                      <a:pt x="98" y="23"/>
                    </a:lnTo>
                    <a:lnTo>
                      <a:pt x="109" y="12"/>
                    </a:lnTo>
                    <a:lnTo>
                      <a:pt x="115" y="6"/>
                    </a:lnTo>
                    <a:lnTo>
                      <a:pt x="115" y="0"/>
                    </a:lnTo>
                    <a:lnTo>
                      <a:pt x="102" y="4"/>
                    </a:lnTo>
                    <a:lnTo>
                      <a:pt x="85" y="12"/>
                    </a:lnTo>
                    <a:lnTo>
                      <a:pt x="68" y="26"/>
                    </a:lnTo>
                    <a:lnTo>
                      <a:pt x="49" y="42"/>
                    </a:lnTo>
                    <a:lnTo>
                      <a:pt x="32" y="61"/>
                    </a:lnTo>
                    <a:lnTo>
                      <a:pt x="17" y="82"/>
                    </a:lnTo>
                    <a:lnTo>
                      <a:pt x="6" y="105"/>
                    </a:lnTo>
                    <a:lnTo>
                      <a:pt x="0" y="1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sp>
            <p:nvSpPr>
              <p:cNvPr id="119" name="Freeform 555"/>
              <p:cNvSpPr>
                <a:spLocks/>
              </p:cNvSpPr>
              <p:nvPr/>
            </p:nvSpPr>
            <p:spPr bwMode="auto">
              <a:xfrm>
                <a:off x="2689" y="2692"/>
                <a:ext cx="41" cy="52"/>
              </a:xfrm>
              <a:custGeom>
                <a:avLst/>
                <a:gdLst>
                  <a:gd name="T0" fmla="*/ 35 w 245"/>
                  <a:gd name="T1" fmla="*/ 21 h 310"/>
                  <a:gd name="T2" fmla="*/ 37 w 245"/>
                  <a:gd name="T3" fmla="*/ 24 h 310"/>
                  <a:gd name="T4" fmla="*/ 38 w 245"/>
                  <a:gd name="T5" fmla="*/ 28 h 310"/>
                  <a:gd name="T6" fmla="*/ 37 w 245"/>
                  <a:gd name="T7" fmla="*/ 31 h 310"/>
                  <a:gd name="T8" fmla="*/ 35 w 245"/>
                  <a:gd name="T9" fmla="*/ 35 h 310"/>
                  <a:gd name="T10" fmla="*/ 31 w 245"/>
                  <a:gd name="T11" fmla="*/ 38 h 310"/>
                  <a:gd name="T12" fmla="*/ 28 w 245"/>
                  <a:gd name="T13" fmla="*/ 41 h 310"/>
                  <a:gd name="T14" fmla="*/ 24 w 245"/>
                  <a:gd name="T15" fmla="*/ 44 h 310"/>
                  <a:gd name="T16" fmla="*/ 21 w 245"/>
                  <a:gd name="T17" fmla="*/ 47 h 310"/>
                  <a:gd name="T18" fmla="*/ 21 w 245"/>
                  <a:gd name="T19" fmla="*/ 48 h 310"/>
                  <a:gd name="T20" fmla="*/ 20 w 245"/>
                  <a:gd name="T21" fmla="*/ 50 h 310"/>
                  <a:gd name="T22" fmla="*/ 20 w 245"/>
                  <a:gd name="T23" fmla="*/ 51 h 310"/>
                  <a:gd name="T24" fmla="*/ 22 w 245"/>
                  <a:gd name="T25" fmla="*/ 52 h 310"/>
                  <a:gd name="T26" fmla="*/ 23 w 245"/>
                  <a:gd name="T27" fmla="*/ 52 h 310"/>
                  <a:gd name="T28" fmla="*/ 26 w 245"/>
                  <a:gd name="T29" fmla="*/ 49 h 310"/>
                  <a:gd name="T30" fmla="*/ 30 w 245"/>
                  <a:gd name="T31" fmla="*/ 45 h 310"/>
                  <a:gd name="T32" fmla="*/ 35 w 245"/>
                  <a:gd name="T33" fmla="*/ 41 h 310"/>
                  <a:gd name="T34" fmla="*/ 38 w 245"/>
                  <a:gd name="T35" fmla="*/ 37 h 310"/>
                  <a:gd name="T36" fmla="*/ 41 w 245"/>
                  <a:gd name="T37" fmla="*/ 31 h 310"/>
                  <a:gd name="T38" fmla="*/ 41 w 245"/>
                  <a:gd name="T39" fmla="*/ 25 h 310"/>
                  <a:gd name="T40" fmla="*/ 38 w 245"/>
                  <a:gd name="T41" fmla="*/ 20 h 310"/>
                  <a:gd name="T42" fmla="*/ 34 w 245"/>
                  <a:gd name="T43" fmla="*/ 16 h 310"/>
                  <a:gd name="T44" fmla="*/ 29 w 245"/>
                  <a:gd name="T45" fmla="*/ 13 h 310"/>
                  <a:gd name="T46" fmla="*/ 25 w 245"/>
                  <a:gd name="T47" fmla="*/ 10 h 310"/>
                  <a:gd name="T48" fmla="*/ 20 w 245"/>
                  <a:gd name="T49" fmla="*/ 8 h 310"/>
                  <a:gd name="T50" fmla="*/ 16 w 245"/>
                  <a:gd name="T51" fmla="*/ 5 h 310"/>
                  <a:gd name="T52" fmla="*/ 11 w 245"/>
                  <a:gd name="T53" fmla="*/ 3 h 310"/>
                  <a:gd name="T54" fmla="*/ 7 w 245"/>
                  <a:gd name="T55" fmla="*/ 1 h 310"/>
                  <a:gd name="T56" fmla="*/ 3 w 245"/>
                  <a:gd name="T57" fmla="*/ 0 h 310"/>
                  <a:gd name="T58" fmla="*/ 1 w 245"/>
                  <a:gd name="T59" fmla="*/ 0 h 310"/>
                  <a:gd name="T60" fmla="*/ 2 w 245"/>
                  <a:gd name="T61" fmla="*/ 1 h 310"/>
                  <a:gd name="T62" fmla="*/ 6 w 245"/>
                  <a:gd name="T63" fmla="*/ 3 h 310"/>
                  <a:gd name="T64" fmla="*/ 10 w 245"/>
                  <a:gd name="T65" fmla="*/ 5 h 310"/>
                  <a:gd name="T66" fmla="*/ 14 w 245"/>
                  <a:gd name="T67" fmla="*/ 7 h 310"/>
                  <a:gd name="T68" fmla="*/ 19 w 245"/>
                  <a:gd name="T69" fmla="*/ 10 h 310"/>
                  <a:gd name="T70" fmla="*/ 23 w 245"/>
                  <a:gd name="T71" fmla="*/ 12 h 310"/>
                  <a:gd name="T72" fmla="*/ 28 w 245"/>
                  <a:gd name="T73" fmla="*/ 15 h 310"/>
                  <a:gd name="T74" fmla="*/ 31 w 245"/>
                  <a:gd name="T75" fmla="*/ 18 h 31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45"/>
                  <a:gd name="T115" fmla="*/ 0 h 310"/>
                  <a:gd name="T116" fmla="*/ 245 w 245"/>
                  <a:gd name="T117" fmla="*/ 310 h 310"/>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45" h="310">
                    <a:moveTo>
                      <a:pt x="200" y="116"/>
                    </a:moveTo>
                    <a:lnTo>
                      <a:pt x="208" y="124"/>
                    </a:lnTo>
                    <a:lnTo>
                      <a:pt x="214" y="133"/>
                    </a:lnTo>
                    <a:lnTo>
                      <a:pt x="220" y="144"/>
                    </a:lnTo>
                    <a:lnTo>
                      <a:pt x="223" y="154"/>
                    </a:lnTo>
                    <a:lnTo>
                      <a:pt x="226" y="164"/>
                    </a:lnTo>
                    <a:lnTo>
                      <a:pt x="224" y="176"/>
                    </a:lnTo>
                    <a:lnTo>
                      <a:pt x="222" y="187"/>
                    </a:lnTo>
                    <a:lnTo>
                      <a:pt x="216" y="198"/>
                    </a:lnTo>
                    <a:lnTo>
                      <a:pt x="208" y="209"/>
                    </a:lnTo>
                    <a:lnTo>
                      <a:pt x="199" y="219"/>
                    </a:lnTo>
                    <a:lnTo>
                      <a:pt x="188" y="229"/>
                    </a:lnTo>
                    <a:lnTo>
                      <a:pt x="177" y="238"/>
                    </a:lnTo>
                    <a:lnTo>
                      <a:pt x="166" y="246"/>
                    </a:lnTo>
                    <a:lnTo>
                      <a:pt x="154" y="255"/>
                    </a:lnTo>
                    <a:lnTo>
                      <a:pt x="142" y="264"/>
                    </a:lnTo>
                    <a:lnTo>
                      <a:pt x="132" y="275"/>
                    </a:lnTo>
                    <a:lnTo>
                      <a:pt x="128" y="278"/>
                    </a:lnTo>
                    <a:lnTo>
                      <a:pt x="126" y="283"/>
                    </a:lnTo>
                    <a:lnTo>
                      <a:pt x="124" y="287"/>
                    </a:lnTo>
                    <a:lnTo>
                      <a:pt x="121" y="292"/>
                    </a:lnTo>
                    <a:lnTo>
                      <a:pt x="120" y="296"/>
                    </a:lnTo>
                    <a:lnTo>
                      <a:pt x="120" y="301"/>
                    </a:lnTo>
                    <a:lnTo>
                      <a:pt x="122" y="306"/>
                    </a:lnTo>
                    <a:lnTo>
                      <a:pt x="126" y="309"/>
                    </a:lnTo>
                    <a:lnTo>
                      <a:pt x="131" y="310"/>
                    </a:lnTo>
                    <a:lnTo>
                      <a:pt x="135" y="310"/>
                    </a:lnTo>
                    <a:lnTo>
                      <a:pt x="139" y="309"/>
                    </a:lnTo>
                    <a:lnTo>
                      <a:pt x="142" y="306"/>
                    </a:lnTo>
                    <a:lnTo>
                      <a:pt x="154" y="292"/>
                    </a:lnTo>
                    <a:lnTo>
                      <a:pt x="167" y="280"/>
                    </a:lnTo>
                    <a:lnTo>
                      <a:pt x="180" y="269"/>
                    </a:lnTo>
                    <a:lnTo>
                      <a:pt x="194" y="257"/>
                    </a:lnTo>
                    <a:lnTo>
                      <a:pt x="207" y="246"/>
                    </a:lnTo>
                    <a:lnTo>
                      <a:pt x="220" y="233"/>
                    </a:lnTo>
                    <a:lnTo>
                      <a:pt x="230" y="219"/>
                    </a:lnTo>
                    <a:lnTo>
                      <a:pt x="238" y="204"/>
                    </a:lnTo>
                    <a:lnTo>
                      <a:pt x="244" y="186"/>
                    </a:lnTo>
                    <a:lnTo>
                      <a:pt x="245" y="169"/>
                    </a:lnTo>
                    <a:lnTo>
                      <a:pt x="243" y="152"/>
                    </a:lnTo>
                    <a:lnTo>
                      <a:pt x="237" y="134"/>
                    </a:lnTo>
                    <a:lnTo>
                      <a:pt x="228" y="119"/>
                    </a:lnTo>
                    <a:lnTo>
                      <a:pt x="217" y="105"/>
                    </a:lnTo>
                    <a:lnTo>
                      <a:pt x="203" y="93"/>
                    </a:lnTo>
                    <a:lnTo>
                      <a:pt x="188" y="83"/>
                    </a:lnTo>
                    <a:lnTo>
                      <a:pt x="176" y="76"/>
                    </a:lnTo>
                    <a:lnTo>
                      <a:pt x="163" y="69"/>
                    </a:lnTo>
                    <a:lnTo>
                      <a:pt x="151" y="61"/>
                    </a:lnTo>
                    <a:lnTo>
                      <a:pt x="136" y="54"/>
                    </a:lnTo>
                    <a:lnTo>
                      <a:pt x="122" y="46"/>
                    </a:lnTo>
                    <a:lnTo>
                      <a:pt x="107" y="39"/>
                    </a:lnTo>
                    <a:lnTo>
                      <a:pt x="93" y="31"/>
                    </a:lnTo>
                    <a:lnTo>
                      <a:pt x="79" y="24"/>
                    </a:lnTo>
                    <a:lnTo>
                      <a:pt x="66" y="18"/>
                    </a:lnTo>
                    <a:lnTo>
                      <a:pt x="53" y="13"/>
                    </a:lnTo>
                    <a:lnTo>
                      <a:pt x="40" y="8"/>
                    </a:lnTo>
                    <a:lnTo>
                      <a:pt x="30" y="5"/>
                    </a:lnTo>
                    <a:lnTo>
                      <a:pt x="20" y="1"/>
                    </a:lnTo>
                    <a:lnTo>
                      <a:pt x="12" y="0"/>
                    </a:lnTo>
                    <a:lnTo>
                      <a:pt x="5" y="0"/>
                    </a:lnTo>
                    <a:lnTo>
                      <a:pt x="0" y="2"/>
                    </a:lnTo>
                    <a:lnTo>
                      <a:pt x="11" y="8"/>
                    </a:lnTo>
                    <a:lnTo>
                      <a:pt x="23" y="14"/>
                    </a:lnTo>
                    <a:lnTo>
                      <a:pt x="36" y="20"/>
                    </a:lnTo>
                    <a:lnTo>
                      <a:pt x="47" y="25"/>
                    </a:lnTo>
                    <a:lnTo>
                      <a:pt x="60" y="31"/>
                    </a:lnTo>
                    <a:lnTo>
                      <a:pt x="73" y="37"/>
                    </a:lnTo>
                    <a:lnTo>
                      <a:pt x="86" y="44"/>
                    </a:lnTo>
                    <a:lnTo>
                      <a:pt x="99" y="51"/>
                    </a:lnTo>
                    <a:lnTo>
                      <a:pt x="113" y="57"/>
                    </a:lnTo>
                    <a:lnTo>
                      <a:pt x="126" y="64"/>
                    </a:lnTo>
                    <a:lnTo>
                      <a:pt x="139" y="71"/>
                    </a:lnTo>
                    <a:lnTo>
                      <a:pt x="152" y="79"/>
                    </a:lnTo>
                    <a:lnTo>
                      <a:pt x="165" y="88"/>
                    </a:lnTo>
                    <a:lnTo>
                      <a:pt x="176" y="96"/>
                    </a:lnTo>
                    <a:lnTo>
                      <a:pt x="188" y="106"/>
                    </a:lnTo>
                    <a:lnTo>
                      <a:pt x="200" y="11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de-DE"/>
              </a:p>
            </p:txBody>
          </p:sp>
        </p:grpSp>
        <p:sp>
          <p:nvSpPr>
            <p:cNvPr id="120" name="Line 556"/>
            <p:cNvSpPr>
              <a:spLocks noChangeShapeType="1"/>
            </p:cNvSpPr>
            <p:nvPr/>
          </p:nvSpPr>
          <p:spPr bwMode="auto">
            <a:xfrm>
              <a:off x="6334598" y="5199256"/>
              <a:ext cx="586389" cy="33936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21" name="Line 557"/>
            <p:cNvSpPr>
              <a:spLocks noChangeShapeType="1"/>
            </p:cNvSpPr>
            <p:nvPr/>
          </p:nvSpPr>
          <p:spPr bwMode="auto">
            <a:xfrm>
              <a:off x="5692715" y="5117409"/>
              <a:ext cx="9434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grpSp>
          <p:nvGrpSpPr>
            <p:cNvPr id="25" name="Group 558"/>
            <p:cNvGrpSpPr>
              <a:grpSpLocks/>
            </p:cNvGrpSpPr>
            <p:nvPr/>
          </p:nvGrpSpPr>
          <p:grpSpPr bwMode="auto">
            <a:xfrm>
              <a:off x="7995726" y="5193268"/>
              <a:ext cx="242325" cy="515036"/>
              <a:chOff x="4180" y="783"/>
              <a:chExt cx="150" cy="307"/>
            </a:xfrm>
          </p:grpSpPr>
          <p:sp>
            <p:nvSpPr>
              <p:cNvPr id="123" name="AutoShape 559"/>
              <p:cNvSpPr>
                <a:spLocks noChangeArrowheads="1"/>
              </p:cNvSpPr>
              <p:nvPr/>
            </p:nvSpPr>
            <p:spPr bwMode="auto">
              <a:xfrm>
                <a:off x="4180" y="1019"/>
                <a:ext cx="150" cy="71"/>
              </a:xfrm>
              <a:prstGeom prst="parallelogram">
                <a:avLst>
                  <a:gd name="adj" fmla="val 81387"/>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4" name="Rectangle 560"/>
              <p:cNvSpPr>
                <a:spLocks noChangeArrowheads="1"/>
              </p:cNvSpPr>
              <p:nvPr/>
            </p:nvSpPr>
            <p:spPr bwMode="auto">
              <a:xfrm>
                <a:off x="4256" y="785"/>
                <a:ext cx="69" cy="236"/>
              </a:xfrm>
              <a:prstGeom prst="rect">
                <a:avLst/>
              </a:prstGeom>
              <a:solidFill>
                <a:srgbClr val="33CCCC"/>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sp>
            <p:nvSpPr>
              <p:cNvPr id="125" name="Rectangle 561"/>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p:spPr>
            <p:txBody>
              <a:bodyPr wrap="none" anchor="ctr"/>
              <a:lstStyle/>
              <a:p>
                <a:endParaRPr lang="de-DE"/>
              </a:p>
            </p:txBody>
          </p:sp>
          <p:sp>
            <p:nvSpPr>
              <p:cNvPr id="126" name="AutoShape 562"/>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p:spPr>
            <p:txBody>
              <a:bodyPr wrap="none" anchor="ctr"/>
              <a:lstStyle/>
              <a:p>
                <a:endParaRPr lang="de-DE"/>
              </a:p>
            </p:txBody>
          </p:sp>
          <p:sp>
            <p:nvSpPr>
              <p:cNvPr id="127" name="Line 563"/>
              <p:cNvSpPr>
                <a:spLocks noChangeShapeType="1"/>
              </p:cNvSpPr>
              <p:nvPr/>
            </p:nvSpPr>
            <p:spPr bwMode="auto">
              <a:xfrm>
                <a:off x="4330" y="788"/>
                <a:ext cx="0" cy="23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8" name="Line 564"/>
              <p:cNvSpPr>
                <a:spLocks noChangeShapeType="1"/>
              </p:cNvSpPr>
              <p:nvPr/>
            </p:nvSpPr>
            <p:spPr bwMode="auto">
              <a:xfrm flipH="1">
                <a:off x="4276" y="1019"/>
                <a:ext cx="54" cy="6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de-DE"/>
              </a:p>
            </p:txBody>
          </p:sp>
          <p:sp>
            <p:nvSpPr>
              <p:cNvPr id="129" name="Rectangle 565"/>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p:spPr>
            <p:txBody>
              <a:bodyPr wrap="none" anchor="ctr"/>
              <a:lstStyle/>
              <a:p>
                <a:endParaRPr lang="de-DE"/>
              </a:p>
            </p:txBody>
          </p:sp>
          <p:sp>
            <p:nvSpPr>
              <p:cNvPr id="130" name="Rectangle 566"/>
              <p:cNvSpPr>
                <a:spLocks noChangeArrowheads="1"/>
              </p:cNvSpPr>
              <p:nvPr/>
            </p:nvSpPr>
            <p:spPr bwMode="auto">
              <a:xfrm>
                <a:off x="4202" y="924"/>
                <a:ext cx="48" cy="4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de-DE"/>
              </a:p>
            </p:txBody>
          </p:sp>
        </p:grpSp>
      </p:grpSp>
      <p:sp>
        <p:nvSpPr>
          <p:cNvPr id="131" name="Line 434"/>
          <p:cNvSpPr>
            <a:spLocks noChangeShapeType="1"/>
          </p:cNvSpPr>
          <p:nvPr/>
        </p:nvSpPr>
        <p:spPr bwMode="auto">
          <a:xfrm flipV="1">
            <a:off x="7254880" y="3573015"/>
            <a:ext cx="166482" cy="75280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de-DE"/>
          </a:p>
        </p:txBody>
      </p:sp>
      <p:sp>
        <p:nvSpPr>
          <p:cNvPr id="10" name="Oval 9"/>
          <p:cNvSpPr/>
          <p:nvPr/>
        </p:nvSpPr>
        <p:spPr>
          <a:xfrm>
            <a:off x="6850696" y="3859977"/>
            <a:ext cx="511472" cy="433285"/>
          </a:xfrm>
          <a:prstGeom prst="ellipse">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de-DE" sz="2800" b="1" dirty="0"/>
              <a:t>A</a:t>
            </a:r>
          </a:p>
        </p:txBody>
      </p:sp>
      <p:sp>
        <p:nvSpPr>
          <p:cNvPr id="133" name="Oval 132"/>
          <p:cNvSpPr/>
          <p:nvPr/>
        </p:nvSpPr>
        <p:spPr>
          <a:xfrm>
            <a:off x="6091812" y="4293262"/>
            <a:ext cx="511472" cy="433285"/>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800" b="1" dirty="0"/>
              <a:t>B</a:t>
            </a:r>
          </a:p>
        </p:txBody>
      </p:sp>
      <p:sp>
        <p:nvSpPr>
          <p:cNvPr id="134" name="Oval 133"/>
          <p:cNvSpPr/>
          <p:nvPr/>
        </p:nvSpPr>
        <p:spPr>
          <a:xfrm>
            <a:off x="7977229" y="4187959"/>
            <a:ext cx="511472" cy="433285"/>
          </a:xfrm>
          <a:prstGeom prst="ellipse">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800" b="1" dirty="0"/>
              <a:t>C</a:t>
            </a:r>
          </a:p>
        </p:txBody>
      </p:sp>
      <p:sp>
        <p:nvSpPr>
          <p:cNvPr id="11" name="TextBox 10"/>
          <p:cNvSpPr txBox="1"/>
          <p:nvPr/>
        </p:nvSpPr>
        <p:spPr>
          <a:xfrm>
            <a:off x="671279" y="3276435"/>
            <a:ext cx="6596549" cy="461665"/>
          </a:xfrm>
          <a:prstGeom prst="rect">
            <a:avLst/>
          </a:prstGeom>
          <a:noFill/>
        </p:spPr>
        <p:txBody>
          <a:bodyPr wrap="none" rtlCol="0">
            <a:spAutoFit/>
          </a:bodyPr>
          <a:lstStyle/>
          <a:p>
            <a:r>
              <a:rPr lang="de-DE" sz="2400" dirty="0"/>
              <a:t>Welche Daten müssen Router A, B, C kennen?</a:t>
            </a:r>
          </a:p>
        </p:txBody>
      </p:sp>
      <p:sp>
        <p:nvSpPr>
          <p:cNvPr id="47" name="Left Brace 46"/>
          <p:cNvSpPr/>
          <p:nvPr/>
        </p:nvSpPr>
        <p:spPr>
          <a:xfrm rot="16200000">
            <a:off x="6069948" y="1363821"/>
            <a:ext cx="273817" cy="3280477"/>
          </a:xfrm>
          <a:prstGeom prst="leftBrace">
            <a:avLst>
              <a:gd name="adj1" fmla="val 8333"/>
              <a:gd name="adj2" fmla="val 88198"/>
            </a:avLst>
          </a:prstGeom>
          <a:ln w="28575">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54" name="TextBox 53"/>
          <p:cNvSpPr txBox="1"/>
          <p:nvPr/>
        </p:nvSpPr>
        <p:spPr>
          <a:xfrm>
            <a:off x="7999407" y="2634630"/>
            <a:ext cx="1144594" cy="1323439"/>
          </a:xfrm>
          <a:prstGeom prst="rect">
            <a:avLst/>
          </a:prstGeom>
          <a:noFill/>
        </p:spPr>
        <p:txBody>
          <a:bodyPr wrap="square" rtlCol="0">
            <a:spAutoFit/>
          </a:bodyPr>
          <a:lstStyle/>
          <a:p>
            <a:r>
              <a:rPr lang="de-DE" sz="1600" b="1" dirty="0">
                <a:solidFill>
                  <a:srgbClr val="FF0000"/>
                </a:solidFill>
              </a:rPr>
              <a:t>Von </a:t>
            </a:r>
            <a:br>
              <a:rPr lang="de-DE" sz="1600" b="1" dirty="0">
                <a:solidFill>
                  <a:srgbClr val="FF0000"/>
                </a:solidFill>
              </a:rPr>
            </a:br>
            <a:r>
              <a:rPr lang="de-DE" sz="1600" b="1" dirty="0">
                <a:solidFill>
                  <a:srgbClr val="FF0000"/>
                </a:solidFill>
              </a:rPr>
              <a:t>Außen</a:t>
            </a:r>
            <a:br>
              <a:rPr lang="de-DE" sz="1600" b="1" dirty="0">
                <a:solidFill>
                  <a:srgbClr val="FF0000"/>
                </a:solidFill>
              </a:rPr>
            </a:br>
            <a:r>
              <a:rPr lang="de-DE" sz="1600" b="1" dirty="0">
                <a:solidFill>
                  <a:srgbClr val="FF0000"/>
                </a:solidFill>
              </a:rPr>
              <a:t>gesehen:</a:t>
            </a:r>
          </a:p>
          <a:p>
            <a:r>
              <a:rPr lang="de-DE" sz="1600" b="1" dirty="0">
                <a:solidFill>
                  <a:srgbClr val="FF0000"/>
                </a:solidFill>
              </a:rPr>
              <a:t>16 Bit</a:t>
            </a:r>
            <a:br>
              <a:rPr lang="de-DE" sz="1600" b="1" dirty="0">
                <a:solidFill>
                  <a:srgbClr val="FF0000"/>
                </a:solidFill>
              </a:rPr>
            </a:br>
            <a:r>
              <a:rPr lang="de-DE" sz="1600" b="1" dirty="0" err="1">
                <a:solidFill>
                  <a:srgbClr val="FF0000"/>
                </a:solidFill>
              </a:rPr>
              <a:t>Hostid</a:t>
            </a:r>
            <a:endParaRPr lang="de-DE" sz="1600" b="1" dirty="0">
              <a:solidFill>
                <a:srgbClr val="FF0000"/>
              </a:solidFill>
            </a:endParaRPr>
          </a:p>
        </p:txBody>
      </p:sp>
      <p:cxnSp>
        <p:nvCxnSpPr>
          <p:cNvPr id="61" name="Straight Arrow Connector 60"/>
          <p:cNvCxnSpPr>
            <a:stCxn id="54" idx="1"/>
            <a:endCxn id="47" idx="1"/>
          </p:cNvCxnSpPr>
          <p:nvPr/>
        </p:nvCxnSpPr>
        <p:spPr>
          <a:xfrm flipH="1" flipV="1">
            <a:off x="7459933" y="3140968"/>
            <a:ext cx="539474" cy="155382"/>
          </a:xfrm>
          <a:prstGeom prst="straightConnector1">
            <a:avLst/>
          </a:prstGeom>
          <a:ln w="28575">
            <a:solidFill>
              <a:srgbClr val="FF0000"/>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9" name="Rechteck 28">
            <a:extLst>
              <a:ext uri="{FF2B5EF4-FFF2-40B4-BE49-F238E27FC236}">
                <a16:creationId xmlns:a16="http://schemas.microsoft.com/office/drawing/2014/main" id="{23F9E3FF-025E-865E-A0FE-0C99E86E9D64}"/>
              </a:ext>
            </a:extLst>
          </p:cNvPr>
          <p:cNvSpPr/>
          <p:nvPr/>
        </p:nvSpPr>
        <p:spPr>
          <a:xfrm>
            <a:off x="6627467" y="228600"/>
            <a:ext cx="2376264" cy="375760"/>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de-DE" dirty="0"/>
              <a:t>Wiederholung</a:t>
            </a:r>
          </a:p>
        </p:txBody>
      </p:sp>
    </p:spTree>
    <p:extLst>
      <p:ext uri="{BB962C8B-B14F-4D97-AF65-F5344CB8AC3E}">
        <p14:creationId xmlns:p14="http://schemas.microsoft.com/office/powerpoint/2010/main" val="22208469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6</a:t>
            </a:fld>
            <a:endParaRPr lang="de-DE" dirty="0"/>
          </a:p>
        </p:txBody>
      </p:sp>
      <p:sp>
        <p:nvSpPr>
          <p:cNvPr id="3" name="Titel 2"/>
          <p:cNvSpPr>
            <a:spLocks noGrp="1"/>
          </p:cNvSpPr>
          <p:nvPr>
            <p:ph type="title"/>
          </p:nvPr>
        </p:nvSpPr>
        <p:spPr>
          <a:xfrm>
            <a:off x="971600" y="2348880"/>
            <a:ext cx="7200800" cy="2376264"/>
          </a:xfrm>
        </p:spPr>
        <p:txBody>
          <a:bodyPr>
            <a:normAutofit/>
          </a:bodyPr>
          <a:lstStyle/>
          <a:p>
            <a:pPr lvl="1" algn="ctr" rtl="0">
              <a:spcBef>
                <a:spcPct val="0"/>
              </a:spcBef>
            </a:pPr>
            <a:r>
              <a:rPr lang="de-DE" sz="4000" dirty="0"/>
              <a:t>Router</a:t>
            </a:r>
          </a:p>
        </p:txBody>
      </p:sp>
    </p:spTree>
    <p:extLst>
      <p:ext uri="{BB962C8B-B14F-4D97-AF65-F5344CB8AC3E}">
        <p14:creationId xmlns:p14="http://schemas.microsoft.com/office/powerpoint/2010/main" val="37414100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6971" y="1312297"/>
            <a:ext cx="5127690" cy="4816703"/>
          </a:xfrm>
          <a:prstGeom prst="rect">
            <a:avLst/>
          </a:prstGeom>
          <a:noFill/>
        </p:spPr>
        <p:txBody>
          <a:bodyPr wrap="square" rtlCol="0">
            <a:spAutoFit/>
          </a:bodyPr>
          <a:lstStyle/>
          <a:p>
            <a:pPr marL="274320" indent="-274320">
              <a:spcBef>
                <a:spcPts val="600"/>
              </a:spcBef>
              <a:buClr>
                <a:srgbClr val="53548A"/>
              </a:buClr>
              <a:buSzPct val="76000"/>
              <a:buFont typeface="Wingdings 3"/>
              <a:buChar char=""/>
            </a:pPr>
            <a:r>
              <a:rPr lang="de-DE" sz="2800" b="1" dirty="0">
                <a:solidFill>
                  <a:srgbClr val="FF0000"/>
                </a:solidFill>
              </a:rPr>
              <a:t>Weiterleitung</a:t>
            </a:r>
            <a:r>
              <a:rPr lang="de-DE" sz="2800" dirty="0">
                <a:solidFill>
                  <a:srgbClr val="FF0000"/>
                </a:solidFill>
              </a:rPr>
              <a:t> </a:t>
            </a:r>
            <a:r>
              <a:rPr lang="de-DE" sz="2800" dirty="0">
                <a:solidFill>
                  <a:prstClr val="black"/>
                </a:solidFill>
              </a:rPr>
              <a:t>(</a:t>
            </a:r>
            <a:r>
              <a:rPr lang="de-DE" sz="2800" b="1" dirty="0" err="1">
                <a:solidFill>
                  <a:srgbClr val="FF0000"/>
                </a:solidFill>
              </a:rPr>
              <a:t>Forwarding</a:t>
            </a:r>
            <a:r>
              <a:rPr lang="de-DE" sz="2800" dirty="0">
                <a:solidFill>
                  <a:prstClr val="black"/>
                </a:solidFill>
              </a:rPr>
              <a:t>) </a:t>
            </a:r>
          </a:p>
          <a:p>
            <a:pPr marL="630238" lvl="1" indent="-457200">
              <a:spcBef>
                <a:spcPts val="600"/>
              </a:spcBef>
              <a:buClr>
                <a:srgbClr val="53548A"/>
              </a:buClr>
              <a:buSzPct val="76000"/>
              <a:buFont typeface="+mj-lt"/>
              <a:buAutoNum type="arabicPeriod"/>
            </a:pPr>
            <a:r>
              <a:rPr lang="de-DE" sz="2400" dirty="0">
                <a:solidFill>
                  <a:prstClr val="black"/>
                </a:solidFill>
              </a:rPr>
              <a:t>Router liest die </a:t>
            </a:r>
            <a:br>
              <a:rPr lang="de-DE" sz="2400" dirty="0">
                <a:solidFill>
                  <a:prstClr val="black"/>
                </a:solidFill>
              </a:rPr>
            </a:br>
            <a:r>
              <a:rPr lang="de-DE" sz="2400" b="1" dirty="0">
                <a:solidFill>
                  <a:srgbClr val="0070C0"/>
                </a:solidFill>
              </a:rPr>
              <a:t>Zieladresse</a:t>
            </a:r>
            <a:r>
              <a:rPr lang="de-DE" sz="2400" dirty="0">
                <a:solidFill>
                  <a:prstClr val="black"/>
                </a:solidFill>
              </a:rPr>
              <a:t> des </a:t>
            </a:r>
            <a:br>
              <a:rPr lang="de-DE" sz="2400" dirty="0">
                <a:solidFill>
                  <a:prstClr val="black"/>
                </a:solidFill>
              </a:rPr>
            </a:br>
            <a:r>
              <a:rPr lang="de-DE" sz="2400" dirty="0">
                <a:solidFill>
                  <a:prstClr val="black"/>
                </a:solidFill>
              </a:rPr>
              <a:t>Pakets ab</a:t>
            </a:r>
          </a:p>
          <a:p>
            <a:pPr marL="630238" lvl="1" indent="-457200">
              <a:spcBef>
                <a:spcPts val="600"/>
              </a:spcBef>
              <a:buClr>
                <a:srgbClr val="53548A"/>
              </a:buClr>
              <a:buSzPct val="76000"/>
              <a:buFont typeface="+mj-lt"/>
              <a:buAutoNum type="arabicPeriod"/>
            </a:pPr>
            <a:r>
              <a:rPr lang="de-DE" sz="2400" dirty="0">
                <a:solidFill>
                  <a:prstClr val="black"/>
                </a:solidFill>
              </a:rPr>
              <a:t>Findet einen passenden </a:t>
            </a:r>
            <a:br>
              <a:rPr lang="de-DE" sz="2400" dirty="0">
                <a:solidFill>
                  <a:prstClr val="black"/>
                </a:solidFill>
              </a:rPr>
            </a:br>
            <a:r>
              <a:rPr lang="de-DE" sz="2400" dirty="0">
                <a:solidFill>
                  <a:prstClr val="black"/>
                </a:solidFill>
              </a:rPr>
              <a:t>Eintrag in der </a:t>
            </a:r>
            <a:br>
              <a:rPr lang="de-DE" sz="2400" dirty="0">
                <a:solidFill>
                  <a:prstClr val="black"/>
                </a:solidFill>
              </a:rPr>
            </a:br>
            <a:r>
              <a:rPr lang="de-DE" sz="2400" b="1" dirty="0">
                <a:solidFill>
                  <a:srgbClr val="0070C0"/>
                </a:solidFill>
              </a:rPr>
              <a:t>Weiterleitungs-</a:t>
            </a:r>
            <a:br>
              <a:rPr lang="de-DE" sz="2400" b="1" dirty="0">
                <a:solidFill>
                  <a:srgbClr val="0070C0"/>
                </a:solidFill>
              </a:rPr>
            </a:br>
            <a:r>
              <a:rPr lang="de-DE" sz="2400" b="1" dirty="0" err="1">
                <a:solidFill>
                  <a:srgbClr val="0070C0"/>
                </a:solidFill>
              </a:rPr>
              <a:t>tabelle</a:t>
            </a:r>
            <a:r>
              <a:rPr lang="de-DE" sz="2400" dirty="0">
                <a:solidFill>
                  <a:srgbClr val="0070C0"/>
                </a:solidFill>
              </a:rPr>
              <a:t> </a:t>
            </a:r>
            <a:r>
              <a:rPr lang="de-DE" sz="2400" dirty="0">
                <a:solidFill>
                  <a:prstClr val="black"/>
                </a:solidFill>
              </a:rPr>
              <a:t>(</a:t>
            </a:r>
            <a:r>
              <a:rPr lang="de-DE" sz="2400" b="1" dirty="0" err="1">
                <a:solidFill>
                  <a:srgbClr val="0070C0"/>
                </a:solidFill>
              </a:rPr>
              <a:t>forwarding</a:t>
            </a:r>
            <a:r>
              <a:rPr lang="de-DE" sz="2400" b="1" dirty="0">
                <a:solidFill>
                  <a:srgbClr val="0070C0"/>
                </a:solidFill>
              </a:rPr>
              <a:t> </a:t>
            </a:r>
            <a:br>
              <a:rPr lang="de-DE" sz="2400" b="1" dirty="0">
                <a:solidFill>
                  <a:srgbClr val="0070C0"/>
                </a:solidFill>
              </a:rPr>
            </a:br>
            <a:r>
              <a:rPr lang="de-DE" sz="2400" b="1" dirty="0" err="1">
                <a:solidFill>
                  <a:srgbClr val="0070C0"/>
                </a:solidFill>
              </a:rPr>
              <a:t>table</a:t>
            </a:r>
            <a:r>
              <a:rPr lang="de-DE" sz="2400" dirty="0">
                <a:solidFill>
                  <a:prstClr val="black"/>
                </a:solidFill>
              </a:rPr>
              <a:t>) </a:t>
            </a:r>
          </a:p>
          <a:p>
            <a:pPr marL="630238" lvl="1" indent="-457200">
              <a:spcBef>
                <a:spcPts val="600"/>
              </a:spcBef>
              <a:buClr>
                <a:srgbClr val="53548A"/>
              </a:buClr>
              <a:buSzPct val="76000"/>
              <a:buFont typeface="+mj-lt"/>
              <a:buAutoNum type="arabicPeriod"/>
            </a:pPr>
            <a:r>
              <a:rPr lang="de-DE" sz="2400" dirty="0">
                <a:solidFill>
                  <a:prstClr val="black"/>
                </a:solidFill>
              </a:rPr>
              <a:t>Leitet das Paket über </a:t>
            </a:r>
            <a:br>
              <a:rPr lang="de-DE" sz="2400" dirty="0">
                <a:solidFill>
                  <a:prstClr val="black"/>
                </a:solidFill>
              </a:rPr>
            </a:br>
            <a:r>
              <a:rPr lang="de-DE" sz="2400" dirty="0">
                <a:solidFill>
                  <a:prstClr val="black"/>
                </a:solidFill>
              </a:rPr>
              <a:t>den gefundenen </a:t>
            </a:r>
            <a:br>
              <a:rPr lang="de-DE" sz="2400" dirty="0">
                <a:solidFill>
                  <a:prstClr val="black"/>
                </a:solidFill>
              </a:rPr>
            </a:br>
            <a:r>
              <a:rPr lang="de-DE" sz="2400" dirty="0">
                <a:solidFill>
                  <a:prstClr val="black"/>
                </a:solidFill>
              </a:rPr>
              <a:t>Ausgang weiter</a:t>
            </a:r>
          </a:p>
        </p:txBody>
      </p:sp>
      <p:sp>
        <p:nvSpPr>
          <p:cNvPr id="168" name="Slide Number Placeholder 4"/>
          <p:cNvSpPr>
            <a:spLocks noGrp="1"/>
          </p:cNvSpPr>
          <p:nvPr>
            <p:ph type="sldNum" sz="quarter" idx="12"/>
          </p:nvPr>
        </p:nvSpPr>
        <p:spPr/>
        <p:txBody>
          <a:bodyPr/>
          <a:lstStyle/>
          <a:p>
            <a:fld id="{E03E7E1A-2B5B-4D8D-88B8-8C8DD3EA0994}" type="slidenum">
              <a:rPr lang="de-DE" smtClean="0"/>
              <a:pPr/>
              <a:t>7</a:t>
            </a:fld>
            <a:endParaRPr lang="de-DE"/>
          </a:p>
        </p:txBody>
      </p:sp>
      <p:grpSp>
        <p:nvGrpSpPr>
          <p:cNvPr id="3" name="Group 2"/>
          <p:cNvGrpSpPr>
            <a:grpSpLocks/>
          </p:cNvGrpSpPr>
          <p:nvPr/>
        </p:nvGrpSpPr>
        <p:grpSpPr bwMode="auto">
          <a:xfrm>
            <a:off x="4211960" y="2204864"/>
            <a:ext cx="4781550" cy="4335463"/>
            <a:chOff x="870" y="702"/>
            <a:chExt cx="3012" cy="2731"/>
          </a:xfrm>
        </p:grpSpPr>
        <p:sp>
          <p:nvSpPr>
            <p:cNvPr id="454659" name="Freeform 3"/>
            <p:cNvSpPr>
              <a:spLocks/>
            </p:cNvSpPr>
            <p:nvPr/>
          </p:nvSpPr>
          <p:spPr bwMode="auto">
            <a:xfrm>
              <a:off x="2031" y="2058"/>
              <a:ext cx="1794" cy="933"/>
            </a:xfrm>
            <a:custGeom>
              <a:avLst/>
              <a:gdLst>
                <a:gd name="T0" fmla="*/ 6 w 1794"/>
                <a:gd name="T1" fmla="*/ 483 h 933"/>
                <a:gd name="T2" fmla="*/ 108 w 1794"/>
                <a:gd name="T3" fmla="*/ 125 h 933"/>
                <a:gd name="T4" fmla="*/ 559 w 1794"/>
                <a:gd name="T5" fmla="*/ 100 h 933"/>
                <a:gd name="T6" fmla="*/ 1128 w 1794"/>
                <a:gd name="T7" fmla="*/ 29 h 933"/>
                <a:gd name="T8" fmla="*/ 1716 w 1794"/>
                <a:gd name="T9" fmla="*/ 275 h 933"/>
                <a:gd name="T10" fmla="*/ 1596 w 1794"/>
                <a:gd name="T11" fmla="*/ 827 h 933"/>
                <a:gd name="T12" fmla="*/ 1380 w 1794"/>
                <a:gd name="T13" fmla="*/ 911 h 933"/>
                <a:gd name="T14" fmla="*/ 840 w 1794"/>
                <a:gd name="T15" fmla="*/ 929 h 933"/>
                <a:gd name="T16" fmla="*/ 414 w 1794"/>
                <a:gd name="T17" fmla="*/ 911 h 933"/>
                <a:gd name="T18" fmla="*/ 143 w 1794"/>
                <a:gd name="T19" fmla="*/ 832 h 933"/>
                <a:gd name="T20" fmla="*/ 6 w 1794"/>
                <a:gd name="T21" fmla="*/ 483 h 9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794" h="933">
                  <a:moveTo>
                    <a:pt x="6" y="483"/>
                  </a:moveTo>
                  <a:cubicBezTo>
                    <a:pt x="0" y="365"/>
                    <a:pt x="16" y="189"/>
                    <a:pt x="108" y="125"/>
                  </a:cubicBezTo>
                  <a:cubicBezTo>
                    <a:pt x="200" y="61"/>
                    <a:pt x="389" y="116"/>
                    <a:pt x="559" y="100"/>
                  </a:cubicBezTo>
                  <a:cubicBezTo>
                    <a:pt x="729" y="84"/>
                    <a:pt x="935" y="0"/>
                    <a:pt x="1128" y="29"/>
                  </a:cubicBezTo>
                  <a:cubicBezTo>
                    <a:pt x="1321" y="58"/>
                    <a:pt x="1638" y="142"/>
                    <a:pt x="1716" y="275"/>
                  </a:cubicBezTo>
                  <a:cubicBezTo>
                    <a:pt x="1794" y="408"/>
                    <a:pt x="1652" y="721"/>
                    <a:pt x="1596" y="827"/>
                  </a:cubicBezTo>
                  <a:cubicBezTo>
                    <a:pt x="1540" y="933"/>
                    <a:pt x="1506" y="894"/>
                    <a:pt x="1380" y="911"/>
                  </a:cubicBezTo>
                  <a:cubicBezTo>
                    <a:pt x="1254" y="928"/>
                    <a:pt x="1001" y="929"/>
                    <a:pt x="840" y="929"/>
                  </a:cubicBezTo>
                  <a:cubicBezTo>
                    <a:pt x="679" y="929"/>
                    <a:pt x="530" y="927"/>
                    <a:pt x="414" y="911"/>
                  </a:cubicBezTo>
                  <a:cubicBezTo>
                    <a:pt x="298" y="895"/>
                    <a:pt x="211" y="903"/>
                    <a:pt x="143" y="832"/>
                  </a:cubicBezTo>
                  <a:cubicBezTo>
                    <a:pt x="75" y="761"/>
                    <a:pt x="4" y="624"/>
                    <a:pt x="6" y="483"/>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0" name="Freeform 4"/>
            <p:cNvSpPr>
              <a:spLocks/>
            </p:cNvSpPr>
            <p:nvPr/>
          </p:nvSpPr>
          <p:spPr bwMode="auto">
            <a:xfrm>
              <a:off x="1090" y="1594"/>
              <a:ext cx="1443" cy="816"/>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solidFill>
              <a:schemeClr val="accent2">
                <a:lumMod val="20000"/>
                <a:lumOff val="80000"/>
              </a:schemeClr>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663" name="Freeform 7"/>
            <p:cNvSpPr>
              <a:spLocks/>
            </p:cNvSpPr>
            <p:nvPr/>
          </p:nvSpPr>
          <p:spPr bwMode="auto">
            <a:xfrm>
              <a:off x="2433" y="2249"/>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 name="Group 8"/>
            <p:cNvGrpSpPr>
              <a:grpSpLocks/>
            </p:cNvGrpSpPr>
            <p:nvPr/>
          </p:nvGrpSpPr>
          <p:grpSpPr bwMode="auto">
            <a:xfrm>
              <a:off x="2122" y="2359"/>
              <a:ext cx="316" cy="147"/>
              <a:chOff x="3600" y="219"/>
              <a:chExt cx="360" cy="175"/>
            </a:xfrm>
          </p:grpSpPr>
          <p:sp>
            <p:nvSpPr>
              <p:cNvPr id="454665" name="Oval 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6" name="Line 1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7" name="Line 1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8" name="Rectangle 1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69" name="Oval 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5" name="Group 14"/>
              <p:cNvGrpSpPr>
                <a:grpSpLocks/>
              </p:cNvGrpSpPr>
              <p:nvPr/>
            </p:nvGrpSpPr>
            <p:grpSpPr bwMode="auto">
              <a:xfrm>
                <a:off x="3686" y="244"/>
                <a:ext cx="177" cy="66"/>
                <a:chOff x="2848" y="848"/>
                <a:chExt cx="140" cy="98"/>
              </a:xfrm>
            </p:grpSpPr>
            <p:sp>
              <p:nvSpPr>
                <p:cNvPr id="454671" name="Line 1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2" name="Line 1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3" name="Line 1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6" name="Group 18"/>
              <p:cNvGrpSpPr>
                <a:grpSpLocks/>
              </p:cNvGrpSpPr>
              <p:nvPr/>
            </p:nvGrpSpPr>
            <p:grpSpPr bwMode="auto">
              <a:xfrm flipV="1">
                <a:off x="3686" y="243"/>
                <a:ext cx="177" cy="66"/>
                <a:chOff x="2848" y="848"/>
                <a:chExt cx="140" cy="98"/>
              </a:xfrm>
            </p:grpSpPr>
            <p:sp>
              <p:nvSpPr>
                <p:cNvPr id="454675" name="Line 1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6" name="Line 2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7" name="Line 2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7" name="Group 22"/>
            <p:cNvGrpSpPr>
              <a:grpSpLocks/>
            </p:cNvGrpSpPr>
            <p:nvPr/>
          </p:nvGrpSpPr>
          <p:grpSpPr bwMode="auto">
            <a:xfrm>
              <a:off x="2344" y="2761"/>
              <a:ext cx="316" cy="147"/>
              <a:chOff x="3600" y="219"/>
              <a:chExt cx="360" cy="175"/>
            </a:xfrm>
          </p:grpSpPr>
          <p:sp>
            <p:nvSpPr>
              <p:cNvPr id="454679" name="Oval 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0" name="Line 24"/>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1" name="Line 25"/>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2" name="Rectangle 26"/>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83" name="Oval 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8" name="Group 28"/>
              <p:cNvGrpSpPr>
                <a:grpSpLocks/>
              </p:cNvGrpSpPr>
              <p:nvPr/>
            </p:nvGrpSpPr>
            <p:grpSpPr bwMode="auto">
              <a:xfrm>
                <a:off x="3686" y="244"/>
                <a:ext cx="177" cy="66"/>
                <a:chOff x="2848" y="848"/>
                <a:chExt cx="140" cy="98"/>
              </a:xfrm>
            </p:grpSpPr>
            <p:sp>
              <p:nvSpPr>
                <p:cNvPr id="454685" name="Line 2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6" name="Line 3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7" name="Line 3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9" name="Group 32"/>
              <p:cNvGrpSpPr>
                <a:grpSpLocks/>
              </p:cNvGrpSpPr>
              <p:nvPr/>
            </p:nvGrpSpPr>
            <p:grpSpPr bwMode="auto">
              <a:xfrm flipV="1">
                <a:off x="3686" y="243"/>
                <a:ext cx="177" cy="66"/>
                <a:chOff x="2848" y="848"/>
                <a:chExt cx="140" cy="98"/>
              </a:xfrm>
            </p:grpSpPr>
            <p:sp>
              <p:nvSpPr>
                <p:cNvPr id="454689" name="Line 3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0" name="Line 3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1" name="Line 3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0" name="Group 36"/>
            <p:cNvGrpSpPr>
              <a:grpSpLocks/>
            </p:cNvGrpSpPr>
            <p:nvPr/>
          </p:nvGrpSpPr>
          <p:grpSpPr bwMode="auto">
            <a:xfrm>
              <a:off x="2769" y="2167"/>
              <a:ext cx="316" cy="147"/>
              <a:chOff x="3600" y="219"/>
              <a:chExt cx="360" cy="175"/>
            </a:xfrm>
          </p:grpSpPr>
          <p:sp>
            <p:nvSpPr>
              <p:cNvPr id="454693" name="Oval 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4" name="Line 38"/>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5" name="Line 39"/>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6" name="Rectangle 40"/>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97" name="Oval 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1" name="Group 42"/>
              <p:cNvGrpSpPr>
                <a:grpSpLocks/>
              </p:cNvGrpSpPr>
              <p:nvPr/>
            </p:nvGrpSpPr>
            <p:grpSpPr bwMode="auto">
              <a:xfrm>
                <a:off x="3686" y="244"/>
                <a:ext cx="177" cy="66"/>
                <a:chOff x="2848" y="848"/>
                <a:chExt cx="140" cy="98"/>
              </a:xfrm>
            </p:grpSpPr>
            <p:sp>
              <p:nvSpPr>
                <p:cNvPr id="454699" name="Line 4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0" name="Line 4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1" name="Line 4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2" name="Group 46"/>
              <p:cNvGrpSpPr>
                <a:grpSpLocks/>
              </p:cNvGrpSpPr>
              <p:nvPr/>
            </p:nvGrpSpPr>
            <p:grpSpPr bwMode="auto">
              <a:xfrm flipV="1">
                <a:off x="3686" y="243"/>
                <a:ext cx="177" cy="66"/>
                <a:chOff x="2848" y="848"/>
                <a:chExt cx="140" cy="98"/>
              </a:xfrm>
            </p:grpSpPr>
            <p:sp>
              <p:nvSpPr>
                <p:cNvPr id="454703" name="Line 4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4" name="Line 4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5" name="Line 4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3" name="Group 50"/>
            <p:cNvGrpSpPr>
              <a:grpSpLocks/>
            </p:cNvGrpSpPr>
            <p:nvPr/>
          </p:nvGrpSpPr>
          <p:grpSpPr bwMode="auto">
            <a:xfrm>
              <a:off x="2720" y="2586"/>
              <a:ext cx="315" cy="147"/>
              <a:chOff x="3600" y="219"/>
              <a:chExt cx="360" cy="175"/>
            </a:xfrm>
          </p:grpSpPr>
          <p:sp>
            <p:nvSpPr>
              <p:cNvPr id="454707" name="Oval 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8" name="Line 52"/>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9" name="Line 53"/>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0" name="Rectangle 54"/>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11" name="Oval 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4" name="Group 56"/>
              <p:cNvGrpSpPr>
                <a:grpSpLocks/>
              </p:cNvGrpSpPr>
              <p:nvPr/>
            </p:nvGrpSpPr>
            <p:grpSpPr bwMode="auto">
              <a:xfrm>
                <a:off x="3686" y="244"/>
                <a:ext cx="177" cy="66"/>
                <a:chOff x="2848" y="848"/>
                <a:chExt cx="140" cy="98"/>
              </a:xfrm>
            </p:grpSpPr>
            <p:sp>
              <p:nvSpPr>
                <p:cNvPr id="454713" name="Line 5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4" name="Line 5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5" name="Line 5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5" name="Group 60"/>
              <p:cNvGrpSpPr>
                <a:grpSpLocks/>
              </p:cNvGrpSpPr>
              <p:nvPr/>
            </p:nvGrpSpPr>
            <p:grpSpPr bwMode="auto">
              <a:xfrm flipV="1">
                <a:off x="3686" y="243"/>
                <a:ext cx="177" cy="66"/>
                <a:chOff x="2848" y="848"/>
                <a:chExt cx="140" cy="98"/>
              </a:xfrm>
            </p:grpSpPr>
            <p:sp>
              <p:nvSpPr>
                <p:cNvPr id="454717" name="Line 6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8" name="Line 6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9" name="Line 6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6" name="Group 64"/>
            <p:cNvGrpSpPr>
              <a:grpSpLocks/>
            </p:cNvGrpSpPr>
            <p:nvPr/>
          </p:nvGrpSpPr>
          <p:grpSpPr bwMode="auto">
            <a:xfrm>
              <a:off x="3120" y="2773"/>
              <a:ext cx="316" cy="147"/>
              <a:chOff x="3600" y="219"/>
              <a:chExt cx="360" cy="175"/>
            </a:xfrm>
          </p:grpSpPr>
          <p:sp>
            <p:nvSpPr>
              <p:cNvPr id="454721" name="Oval 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2" name="Line 66"/>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3" name="Line 67"/>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4" name="Rectangle 68"/>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25" name="Oval 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7" name="Group 70"/>
              <p:cNvGrpSpPr>
                <a:grpSpLocks/>
              </p:cNvGrpSpPr>
              <p:nvPr/>
            </p:nvGrpSpPr>
            <p:grpSpPr bwMode="auto">
              <a:xfrm>
                <a:off x="3686" y="244"/>
                <a:ext cx="177" cy="66"/>
                <a:chOff x="2848" y="848"/>
                <a:chExt cx="140" cy="98"/>
              </a:xfrm>
            </p:grpSpPr>
            <p:sp>
              <p:nvSpPr>
                <p:cNvPr id="454727" name="Line 7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8" name="Line 7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9" name="Line 7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8" name="Group 74"/>
              <p:cNvGrpSpPr>
                <a:grpSpLocks/>
              </p:cNvGrpSpPr>
              <p:nvPr/>
            </p:nvGrpSpPr>
            <p:grpSpPr bwMode="auto">
              <a:xfrm flipV="1">
                <a:off x="3686" y="243"/>
                <a:ext cx="177" cy="66"/>
                <a:chOff x="2848" y="848"/>
                <a:chExt cx="140" cy="98"/>
              </a:xfrm>
            </p:grpSpPr>
            <p:sp>
              <p:nvSpPr>
                <p:cNvPr id="454731" name="Line 7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2" name="Line 7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3" name="Line 7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9" name="Group 78"/>
            <p:cNvGrpSpPr>
              <a:grpSpLocks/>
            </p:cNvGrpSpPr>
            <p:nvPr/>
          </p:nvGrpSpPr>
          <p:grpSpPr bwMode="auto">
            <a:xfrm>
              <a:off x="3400" y="2360"/>
              <a:ext cx="316" cy="147"/>
              <a:chOff x="3600" y="219"/>
              <a:chExt cx="360" cy="175"/>
            </a:xfrm>
          </p:grpSpPr>
          <p:sp>
            <p:nvSpPr>
              <p:cNvPr id="454735" name="Oval 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6" name="Line 8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7" name="Line 8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8" name="Rectangle 8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39" name="Oval 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0" name="Group 84"/>
              <p:cNvGrpSpPr>
                <a:grpSpLocks/>
              </p:cNvGrpSpPr>
              <p:nvPr/>
            </p:nvGrpSpPr>
            <p:grpSpPr bwMode="auto">
              <a:xfrm>
                <a:off x="3686" y="244"/>
                <a:ext cx="177" cy="66"/>
                <a:chOff x="2848" y="848"/>
                <a:chExt cx="140" cy="98"/>
              </a:xfrm>
            </p:grpSpPr>
            <p:sp>
              <p:nvSpPr>
                <p:cNvPr id="454741" name="Line 8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2" name="Line 8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3" name="Line 8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1" name="Group 88"/>
              <p:cNvGrpSpPr>
                <a:grpSpLocks/>
              </p:cNvGrpSpPr>
              <p:nvPr/>
            </p:nvGrpSpPr>
            <p:grpSpPr bwMode="auto">
              <a:xfrm flipV="1">
                <a:off x="3686" y="243"/>
                <a:ext cx="177" cy="66"/>
                <a:chOff x="2848" y="848"/>
                <a:chExt cx="140" cy="98"/>
              </a:xfrm>
            </p:grpSpPr>
            <p:sp>
              <p:nvSpPr>
                <p:cNvPr id="454745" name="Line 8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6" name="Line 9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7" name="Line 9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454748" name="Freeform 92"/>
            <p:cNvSpPr>
              <a:spLocks/>
            </p:cNvSpPr>
            <p:nvPr/>
          </p:nvSpPr>
          <p:spPr bwMode="auto">
            <a:xfrm>
              <a:off x="3089" y="2245"/>
              <a:ext cx="318" cy="194"/>
            </a:xfrm>
            <a:custGeom>
              <a:avLst/>
              <a:gdLst>
                <a:gd name="T0" fmla="*/ 0 w 318"/>
                <a:gd name="T1" fmla="*/ 0 h 194"/>
                <a:gd name="T2" fmla="*/ 318 w 318"/>
                <a:gd name="T3" fmla="*/ 194 h 194"/>
              </a:gdLst>
              <a:ahLst/>
              <a:cxnLst>
                <a:cxn ang="0">
                  <a:pos x="T0" y="T1"/>
                </a:cxn>
                <a:cxn ang="0">
                  <a:pos x="T2" y="T3"/>
                </a:cxn>
              </a:cxnLst>
              <a:rect l="0" t="0" r="r" b="b"/>
              <a:pathLst>
                <a:path w="318" h="194">
                  <a:moveTo>
                    <a:pt x="0" y="0"/>
                  </a:moveTo>
                  <a:lnTo>
                    <a:pt x="318" y="19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9" name="Freeform 93"/>
            <p:cNvSpPr>
              <a:spLocks/>
            </p:cNvSpPr>
            <p:nvPr/>
          </p:nvSpPr>
          <p:spPr bwMode="auto">
            <a:xfrm>
              <a:off x="2418" y="2492"/>
              <a:ext cx="303" cy="150"/>
            </a:xfrm>
            <a:custGeom>
              <a:avLst/>
              <a:gdLst>
                <a:gd name="T0" fmla="*/ 0 w 294"/>
                <a:gd name="T1" fmla="*/ 0 h 174"/>
                <a:gd name="T2" fmla="*/ 294 w 294"/>
                <a:gd name="T3" fmla="*/ 174 h 174"/>
              </a:gdLst>
              <a:ahLst/>
              <a:cxnLst>
                <a:cxn ang="0">
                  <a:pos x="T0" y="T1"/>
                </a:cxn>
                <a:cxn ang="0">
                  <a:pos x="T2" y="T3"/>
                </a:cxn>
              </a:cxnLst>
              <a:rect l="0" t="0" r="r" b="b"/>
              <a:pathLst>
                <a:path w="294" h="174">
                  <a:moveTo>
                    <a:pt x="0" y="0"/>
                  </a:moveTo>
                  <a:lnTo>
                    <a:pt x="294" y="17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0" name="Freeform 94"/>
            <p:cNvSpPr>
              <a:spLocks/>
            </p:cNvSpPr>
            <p:nvPr/>
          </p:nvSpPr>
          <p:spPr bwMode="auto">
            <a:xfrm>
              <a:off x="3015" y="2477"/>
              <a:ext cx="396" cy="156"/>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1" name="Freeform 95"/>
            <p:cNvSpPr>
              <a:spLocks/>
            </p:cNvSpPr>
            <p:nvPr/>
          </p:nvSpPr>
          <p:spPr bwMode="auto">
            <a:xfrm>
              <a:off x="3435" y="2511"/>
              <a:ext cx="130" cy="320"/>
            </a:xfrm>
            <a:custGeom>
              <a:avLst/>
              <a:gdLst>
                <a:gd name="T0" fmla="*/ 0 w 118"/>
                <a:gd name="T1" fmla="*/ 500 h 500"/>
                <a:gd name="T2" fmla="*/ 118 w 118"/>
                <a:gd name="T3" fmla="*/ 0 h 500"/>
              </a:gdLst>
              <a:ahLst/>
              <a:cxnLst>
                <a:cxn ang="0">
                  <a:pos x="T0" y="T1"/>
                </a:cxn>
                <a:cxn ang="0">
                  <a:pos x="T2" y="T3"/>
                </a:cxn>
              </a:cxnLst>
              <a:rect l="0" t="0" r="r" b="b"/>
              <a:pathLst>
                <a:path w="118" h="500">
                  <a:moveTo>
                    <a:pt x="0" y="500"/>
                  </a:moveTo>
                  <a:lnTo>
                    <a:pt x="11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2" name="Freeform 96"/>
            <p:cNvSpPr>
              <a:spLocks/>
            </p:cNvSpPr>
            <p:nvPr/>
          </p:nvSpPr>
          <p:spPr bwMode="auto">
            <a:xfrm>
              <a:off x="2657" y="2847"/>
              <a:ext cx="464" cy="47"/>
            </a:xfrm>
            <a:custGeom>
              <a:avLst/>
              <a:gdLst>
                <a:gd name="T0" fmla="*/ 370 w 370"/>
                <a:gd name="T1" fmla="*/ 32 h 32"/>
                <a:gd name="T2" fmla="*/ 0 w 370"/>
                <a:gd name="T3" fmla="*/ 0 h 32"/>
              </a:gdLst>
              <a:ahLst/>
              <a:cxnLst>
                <a:cxn ang="0">
                  <a:pos x="T0" y="T1"/>
                </a:cxn>
                <a:cxn ang="0">
                  <a:pos x="T2" y="T3"/>
                </a:cxn>
              </a:cxnLst>
              <a:rect l="0" t="0" r="r" b="b"/>
              <a:pathLst>
                <a:path w="370" h="32">
                  <a:moveTo>
                    <a:pt x="370" y="32"/>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3" name="Freeform 97"/>
            <p:cNvSpPr>
              <a:spLocks/>
            </p:cNvSpPr>
            <p:nvPr/>
          </p:nvSpPr>
          <p:spPr bwMode="auto">
            <a:xfrm>
              <a:off x="2319" y="2507"/>
              <a:ext cx="122" cy="268"/>
            </a:xfrm>
            <a:custGeom>
              <a:avLst/>
              <a:gdLst>
                <a:gd name="T0" fmla="*/ 162 w 176"/>
                <a:gd name="T1" fmla="*/ 408 h 412"/>
                <a:gd name="T2" fmla="*/ 176 w 176"/>
                <a:gd name="T3" fmla="*/ 412 h 412"/>
                <a:gd name="T4" fmla="*/ 0 w 176"/>
                <a:gd name="T5" fmla="*/ 0 h 412"/>
              </a:gdLst>
              <a:ahLst/>
              <a:cxnLst>
                <a:cxn ang="0">
                  <a:pos x="T0" y="T1"/>
                </a:cxn>
                <a:cxn ang="0">
                  <a:pos x="T2" y="T3"/>
                </a:cxn>
                <a:cxn ang="0">
                  <a:pos x="T4" y="T5"/>
                </a:cxn>
              </a:cxnLst>
              <a:rect l="0" t="0" r="r" b="b"/>
              <a:pathLst>
                <a:path w="176" h="412">
                  <a:moveTo>
                    <a:pt x="162" y="408"/>
                  </a:moveTo>
                  <a:lnTo>
                    <a:pt x="176" y="412"/>
                  </a:ln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4" name="Rectangle 98"/>
            <p:cNvSpPr>
              <a:spLocks noChangeArrowheads="1"/>
            </p:cNvSpPr>
            <p:nvPr/>
          </p:nvSpPr>
          <p:spPr bwMode="auto">
            <a:xfrm>
              <a:off x="1128" y="2264"/>
              <a:ext cx="728" cy="150"/>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5" name="Rectangle 99"/>
            <p:cNvSpPr>
              <a:spLocks noChangeArrowheads="1"/>
            </p:cNvSpPr>
            <p:nvPr/>
          </p:nvSpPr>
          <p:spPr bwMode="auto">
            <a:xfrm>
              <a:off x="1113" y="2279"/>
              <a:ext cx="723" cy="150"/>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6" name="Line 100"/>
            <p:cNvSpPr>
              <a:spLocks noChangeShapeType="1"/>
            </p:cNvSpPr>
            <p:nvPr/>
          </p:nvSpPr>
          <p:spPr bwMode="auto">
            <a:xfrm>
              <a:off x="1759" y="2362"/>
              <a:ext cx="266" cy="0"/>
            </a:xfrm>
            <a:prstGeom prst="line">
              <a:avLst/>
            </a:prstGeom>
            <a:noFill/>
            <a:ln w="9525">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7" name="Text Box 101"/>
            <p:cNvSpPr txBox="1">
              <a:spLocks noChangeArrowheads="1"/>
            </p:cNvSpPr>
            <p:nvPr/>
          </p:nvSpPr>
          <p:spPr bwMode="auto">
            <a:xfrm>
              <a:off x="2390" y="2183"/>
              <a:ext cx="19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a:latin typeface="Arial" charset="0"/>
                </a:rPr>
                <a:t>1</a:t>
              </a:r>
            </a:p>
          </p:txBody>
        </p:sp>
        <p:sp>
          <p:nvSpPr>
            <p:cNvPr id="454758" name="Text Box 102"/>
            <p:cNvSpPr txBox="1">
              <a:spLocks noChangeArrowheads="1"/>
            </p:cNvSpPr>
            <p:nvPr/>
          </p:nvSpPr>
          <p:spPr bwMode="auto">
            <a:xfrm>
              <a:off x="2336" y="2459"/>
              <a:ext cx="187"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a:latin typeface="Arial" charset="0"/>
                </a:rPr>
                <a:t>2</a:t>
              </a:r>
            </a:p>
          </p:txBody>
        </p:sp>
        <p:sp>
          <p:nvSpPr>
            <p:cNvPr id="454759" name="Text Box 103"/>
            <p:cNvSpPr txBox="1">
              <a:spLocks noChangeArrowheads="1"/>
            </p:cNvSpPr>
            <p:nvPr/>
          </p:nvSpPr>
          <p:spPr bwMode="auto">
            <a:xfrm>
              <a:off x="2178" y="2505"/>
              <a:ext cx="187"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a:latin typeface="Arial" charset="0"/>
                </a:rPr>
                <a:t>3</a:t>
              </a:r>
            </a:p>
          </p:txBody>
        </p:sp>
        <p:sp>
          <p:nvSpPr>
            <p:cNvPr id="454760" name="Rectangle 104"/>
            <p:cNvSpPr>
              <a:spLocks noChangeArrowheads="1"/>
            </p:cNvSpPr>
            <p:nvPr/>
          </p:nvSpPr>
          <p:spPr bwMode="auto">
            <a:xfrm>
              <a:off x="1509" y="2281"/>
              <a:ext cx="269" cy="151"/>
            </a:xfrm>
            <a:prstGeom prst="rect">
              <a:avLst/>
            </a:prstGeom>
            <a:solidFill>
              <a:srgbClr val="FF0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1" name="Text Box 105"/>
            <p:cNvSpPr txBox="1">
              <a:spLocks noChangeArrowheads="1"/>
            </p:cNvSpPr>
            <p:nvPr/>
          </p:nvSpPr>
          <p:spPr bwMode="auto">
            <a:xfrm>
              <a:off x="1484" y="2254"/>
              <a:ext cx="354"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400" b="1" dirty="0">
                  <a:latin typeface="Arial" charset="0"/>
                </a:rPr>
                <a:t>0111</a:t>
              </a:r>
            </a:p>
          </p:txBody>
        </p:sp>
        <p:sp>
          <p:nvSpPr>
            <p:cNvPr id="454762" name="Text Box 106"/>
            <p:cNvSpPr txBox="1">
              <a:spLocks noChangeArrowheads="1"/>
            </p:cNvSpPr>
            <p:nvPr/>
          </p:nvSpPr>
          <p:spPr bwMode="auto">
            <a:xfrm>
              <a:off x="870" y="1659"/>
              <a:ext cx="1134" cy="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b="1" dirty="0">
                  <a:solidFill>
                    <a:srgbClr val="0070C0"/>
                  </a:solidFill>
                  <a:latin typeface="Arial" charset="0"/>
                </a:rPr>
                <a:t>Zieladresse</a:t>
              </a:r>
              <a:r>
                <a:rPr lang="de-DE" dirty="0">
                  <a:latin typeface="Arial" charset="0"/>
                </a:rPr>
                <a:t> im</a:t>
              </a:r>
              <a:br>
                <a:rPr lang="de-DE" dirty="0">
                  <a:latin typeface="Arial" charset="0"/>
                </a:rPr>
              </a:br>
              <a:r>
                <a:rPr lang="de-DE" dirty="0">
                  <a:latin typeface="Arial" charset="0"/>
                </a:rPr>
                <a:t>Header eines</a:t>
              </a:r>
            </a:p>
            <a:p>
              <a:pPr eaLnBrk="1" hangingPunct="1"/>
              <a:r>
                <a:rPr lang="de-DE" dirty="0">
                  <a:latin typeface="Arial" charset="0"/>
                </a:rPr>
                <a:t>IP-Datagramms</a:t>
              </a:r>
            </a:p>
          </p:txBody>
        </p:sp>
        <p:sp>
          <p:nvSpPr>
            <p:cNvPr id="454763" name="Line 107"/>
            <p:cNvSpPr>
              <a:spLocks noChangeShapeType="1"/>
            </p:cNvSpPr>
            <p:nvPr/>
          </p:nvSpPr>
          <p:spPr bwMode="auto">
            <a:xfrm flipH="1">
              <a:off x="1269" y="2444"/>
              <a:ext cx="85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65" name="Rectangle 109"/>
            <p:cNvSpPr>
              <a:spLocks noChangeArrowheads="1"/>
            </p:cNvSpPr>
            <p:nvPr/>
          </p:nvSpPr>
          <p:spPr bwMode="auto">
            <a:xfrm>
              <a:off x="1197" y="732"/>
              <a:ext cx="1305" cy="80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6" name="Text Box 110"/>
            <p:cNvSpPr txBox="1">
              <a:spLocks noChangeArrowheads="1"/>
            </p:cNvSpPr>
            <p:nvPr/>
          </p:nvSpPr>
          <p:spPr bwMode="auto">
            <a:xfrm>
              <a:off x="1148" y="702"/>
              <a:ext cx="1417" cy="19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de-DE" sz="1400" dirty="0">
                  <a:latin typeface="Arial" charset="0"/>
                </a:rPr>
                <a:t>lokale </a:t>
              </a:r>
              <a:r>
                <a:rPr lang="de-DE" sz="1400" b="1" dirty="0">
                  <a:solidFill>
                    <a:srgbClr val="0070C0"/>
                  </a:solidFill>
                  <a:latin typeface="Arial" charset="0"/>
                </a:rPr>
                <a:t>Weiterleitungstab</a:t>
              </a:r>
              <a:r>
                <a:rPr lang="de-DE" sz="1400" dirty="0">
                  <a:latin typeface="Arial" charset="0"/>
                </a:rPr>
                <a:t>.</a:t>
              </a:r>
            </a:p>
          </p:txBody>
        </p:sp>
        <p:sp>
          <p:nvSpPr>
            <p:cNvPr id="454767" name="Text Box 111"/>
            <p:cNvSpPr txBox="1">
              <a:spLocks noChangeArrowheads="1"/>
            </p:cNvSpPr>
            <p:nvPr/>
          </p:nvSpPr>
          <p:spPr bwMode="auto">
            <a:xfrm>
              <a:off x="1128" y="858"/>
              <a:ext cx="810" cy="19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1" hangingPunct="1"/>
              <a:r>
                <a:rPr lang="de-DE" sz="1400">
                  <a:latin typeface="Arial" charset="0"/>
                </a:rPr>
                <a:t>Header -Wert</a:t>
              </a:r>
            </a:p>
          </p:txBody>
        </p:sp>
        <p:sp>
          <p:nvSpPr>
            <p:cNvPr id="454768" name="Text Box 112"/>
            <p:cNvSpPr txBox="1">
              <a:spLocks noChangeArrowheads="1"/>
            </p:cNvSpPr>
            <p:nvPr/>
          </p:nvSpPr>
          <p:spPr bwMode="auto">
            <a:xfrm>
              <a:off x="1846" y="859"/>
              <a:ext cx="656" cy="1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1" hangingPunct="1"/>
              <a:r>
                <a:rPr lang="de-DE" sz="1400">
                  <a:latin typeface="Arial" charset="0"/>
                </a:rPr>
                <a:t>“Ausgang”</a:t>
              </a:r>
            </a:p>
          </p:txBody>
        </p:sp>
        <p:sp>
          <p:nvSpPr>
            <p:cNvPr id="454769" name="Line 113"/>
            <p:cNvSpPr>
              <a:spLocks noChangeShapeType="1"/>
            </p:cNvSpPr>
            <p:nvPr/>
          </p:nvSpPr>
          <p:spPr bwMode="auto">
            <a:xfrm>
              <a:off x="1908" y="866"/>
              <a:ext cx="5" cy="67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0" name="Text Box 114"/>
            <p:cNvSpPr txBox="1">
              <a:spLocks noChangeArrowheads="1"/>
            </p:cNvSpPr>
            <p:nvPr/>
          </p:nvSpPr>
          <p:spPr bwMode="auto">
            <a:xfrm>
              <a:off x="1585" y="1037"/>
              <a:ext cx="330" cy="5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1" hangingPunct="1"/>
              <a:r>
                <a:rPr lang="de-DE" sz="1200" dirty="0">
                  <a:latin typeface="Arial" charset="0"/>
                </a:rPr>
                <a:t>0100</a:t>
              </a:r>
            </a:p>
            <a:p>
              <a:pPr algn="r" eaLnBrk="1" hangingPunct="1"/>
              <a:r>
                <a:rPr lang="de-DE" sz="1200" dirty="0">
                  <a:latin typeface="Arial" charset="0"/>
                </a:rPr>
                <a:t>0101</a:t>
              </a:r>
            </a:p>
            <a:p>
              <a:pPr algn="r" eaLnBrk="1" hangingPunct="1"/>
              <a:r>
                <a:rPr lang="de-DE" sz="1200" b="1" dirty="0">
                  <a:solidFill>
                    <a:srgbClr val="FF0000"/>
                  </a:solidFill>
                  <a:latin typeface="Arial" charset="0"/>
                </a:rPr>
                <a:t>0111</a:t>
              </a:r>
            </a:p>
            <a:p>
              <a:pPr algn="r" eaLnBrk="1" hangingPunct="1"/>
              <a:r>
                <a:rPr lang="de-DE" sz="1200" dirty="0">
                  <a:latin typeface="Arial" charset="0"/>
                </a:rPr>
                <a:t>1001</a:t>
              </a:r>
            </a:p>
          </p:txBody>
        </p:sp>
        <p:sp>
          <p:nvSpPr>
            <p:cNvPr id="454771" name="Text Box 115"/>
            <p:cNvSpPr txBox="1">
              <a:spLocks noChangeArrowheads="1"/>
            </p:cNvSpPr>
            <p:nvPr/>
          </p:nvSpPr>
          <p:spPr bwMode="auto">
            <a:xfrm>
              <a:off x="1918" y="1037"/>
              <a:ext cx="170" cy="5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lang="de-DE" sz="1200">
                  <a:latin typeface="Arial" charset="0"/>
                </a:rPr>
                <a:t>3</a:t>
              </a:r>
            </a:p>
            <a:p>
              <a:pPr algn="ctr" eaLnBrk="1" hangingPunct="1"/>
              <a:r>
                <a:rPr lang="de-DE" sz="1200">
                  <a:latin typeface="Arial" charset="0"/>
                </a:rPr>
                <a:t>2</a:t>
              </a:r>
            </a:p>
            <a:p>
              <a:pPr algn="ctr" eaLnBrk="1" hangingPunct="1"/>
              <a:r>
                <a:rPr lang="de-DE" sz="1200">
                  <a:latin typeface="Arial" charset="0"/>
                </a:rPr>
                <a:t>2</a:t>
              </a:r>
            </a:p>
            <a:p>
              <a:pPr algn="ctr" eaLnBrk="1" hangingPunct="1"/>
              <a:r>
                <a:rPr lang="de-DE" sz="1200">
                  <a:latin typeface="Arial" charset="0"/>
                </a:rPr>
                <a:t>1</a:t>
              </a:r>
            </a:p>
          </p:txBody>
        </p:sp>
        <p:sp>
          <p:nvSpPr>
            <p:cNvPr id="454772" name="Line 116"/>
            <p:cNvSpPr>
              <a:spLocks noChangeShapeType="1"/>
            </p:cNvSpPr>
            <p:nvPr/>
          </p:nvSpPr>
          <p:spPr bwMode="auto">
            <a:xfrm>
              <a:off x="1197" y="1028"/>
              <a:ext cx="126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3" name="Line 117"/>
            <p:cNvSpPr>
              <a:spLocks noChangeShapeType="1"/>
            </p:cNvSpPr>
            <p:nvPr/>
          </p:nvSpPr>
          <p:spPr bwMode="auto">
            <a:xfrm>
              <a:off x="1214" y="866"/>
              <a:ext cx="126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5" name="Line 119"/>
            <p:cNvSpPr>
              <a:spLocks noChangeShapeType="1"/>
            </p:cNvSpPr>
            <p:nvPr/>
          </p:nvSpPr>
          <p:spPr bwMode="auto">
            <a:xfrm>
              <a:off x="1437" y="2226"/>
              <a:ext cx="72" cy="4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6" name="Freeform 120"/>
            <p:cNvSpPr>
              <a:spLocks/>
            </p:cNvSpPr>
            <p:nvPr/>
          </p:nvSpPr>
          <p:spPr bwMode="auto">
            <a:xfrm>
              <a:off x="2047" y="2395"/>
              <a:ext cx="554" cy="167"/>
            </a:xfrm>
            <a:custGeom>
              <a:avLst/>
              <a:gdLst>
                <a:gd name="T0" fmla="*/ 0 w 554"/>
                <a:gd name="T1" fmla="*/ 10 h 167"/>
                <a:gd name="T2" fmla="*/ 324 w 554"/>
                <a:gd name="T3" fmla="*/ 26 h 167"/>
                <a:gd name="T4" fmla="*/ 554 w 554"/>
                <a:gd name="T5" fmla="*/ 167 h 167"/>
              </a:gdLst>
              <a:ahLst/>
              <a:cxnLst>
                <a:cxn ang="0">
                  <a:pos x="T0" y="T1"/>
                </a:cxn>
                <a:cxn ang="0">
                  <a:pos x="T2" y="T3"/>
                </a:cxn>
                <a:cxn ang="0">
                  <a:pos x="T4" y="T5"/>
                </a:cxn>
              </a:cxnLst>
              <a:rect l="0" t="0" r="r" b="b"/>
              <a:pathLst>
                <a:path w="554" h="167">
                  <a:moveTo>
                    <a:pt x="0" y="10"/>
                  </a:moveTo>
                  <a:cubicBezTo>
                    <a:pt x="102" y="0"/>
                    <a:pt x="240" y="5"/>
                    <a:pt x="324" y="26"/>
                  </a:cubicBezTo>
                  <a:cubicBezTo>
                    <a:pt x="416" y="52"/>
                    <a:pt x="502" y="120"/>
                    <a:pt x="554" y="167"/>
                  </a:cubicBezTo>
                </a:path>
              </a:pathLst>
            </a:custGeom>
            <a:noFill/>
            <a:ln w="57150" cmpd="sng">
              <a:solidFill>
                <a:srgbClr val="FF33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7" name="Freeform 121"/>
            <p:cNvSpPr>
              <a:spLocks/>
            </p:cNvSpPr>
            <p:nvPr/>
          </p:nvSpPr>
          <p:spPr bwMode="auto">
            <a:xfrm flipH="1">
              <a:off x="3518" y="2127"/>
              <a:ext cx="364"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8" name="Freeform 122"/>
            <p:cNvSpPr>
              <a:spLocks/>
            </p:cNvSpPr>
            <p:nvPr/>
          </p:nvSpPr>
          <p:spPr bwMode="auto">
            <a:xfrm flipH="1">
              <a:off x="2881" y="1948"/>
              <a:ext cx="364"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9" name="Freeform 123"/>
            <p:cNvSpPr>
              <a:spLocks/>
            </p:cNvSpPr>
            <p:nvPr/>
          </p:nvSpPr>
          <p:spPr bwMode="auto">
            <a:xfrm flipH="1" flipV="1">
              <a:off x="3302" y="2922"/>
              <a:ext cx="342"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0" name="Freeform 124"/>
            <p:cNvSpPr>
              <a:spLocks/>
            </p:cNvSpPr>
            <p:nvPr/>
          </p:nvSpPr>
          <p:spPr bwMode="auto">
            <a:xfrm flipH="1" flipV="1">
              <a:off x="2452" y="2912"/>
              <a:ext cx="342"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1" name="Freeform 125"/>
            <p:cNvSpPr>
              <a:spLocks/>
            </p:cNvSpPr>
            <p:nvPr/>
          </p:nvSpPr>
          <p:spPr bwMode="auto">
            <a:xfrm flipH="1" flipV="1">
              <a:off x="2855" y="2728"/>
              <a:ext cx="342" cy="285"/>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grpSp>
          <p:nvGrpSpPr>
            <p:cNvPr id="22" name="Group 126"/>
            <p:cNvGrpSpPr>
              <a:grpSpLocks/>
            </p:cNvGrpSpPr>
            <p:nvPr/>
          </p:nvGrpSpPr>
          <p:grpSpPr bwMode="auto">
            <a:xfrm>
              <a:off x="2886" y="1668"/>
              <a:ext cx="347" cy="285"/>
              <a:chOff x="2886" y="1668"/>
              <a:chExt cx="347" cy="285"/>
            </a:xfrm>
          </p:grpSpPr>
          <p:sp>
            <p:nvSpPr>
              <p:cNvPr id="454783" name="Rectangle 127"/>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84" name="Oval 128"/>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85" name="Rectangle 129"/>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86" name="Line 130"/>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7" name="Line 131"/>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8" name="Line 132"/>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9" name="AutoShape 133"/>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3" name="Group 134"/>
            <p:cNvGrpSpPr>
              <a:grpSpLocks/>
            </p:cNvGrpSpPr>
            <p:nvPr/>
          </p:nvGrpSpPr>
          <p:grpSpPr bwMode="auto">
            <a:xfrm>
              <a:off x="3524" y="1840"/>
              <a:ext cx="347" cy="285"/>
              <a:chOff x="2886" y="1668"/>
              <a:chExt cx="347" cy="285"/>
            </a:xfrm>
          </p:grpSpPr>
          <p:sp>
            <p:nvSpPr>
              <p:cNvPr id="454791" name="Rectangle 135"/>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2" name="Oval 136"/>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3" name="Rectangle 137"/>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4" name="Line 138"/>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5" name="Line 139"/>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6" name="Line 140"/>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7" name="AutoShape 141"/>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4" name="Group 142"/>
            <p:cNvGrpSpPr>
              <a:grpSpLocks/>
            </p:cNvGrpSpPr>
            <p:nvPr/>
          </p:nvGrpSpPr>
          <p:grpSpPr bwMode="auto">
            <a:xfrm>
              <a:off x="3291" y="3148"/>
              <a:ext cx="347" cy="285"/>
              <a:chOff x="2886" y="1668"/>
              <a:chExt cx="347" cy="285"/>
            </a:xfrm>
          </p:grpSpPr>
          <p:sp>
            <p:nvSpPr>
              <p:cNvPr id="454799" name="Rectangle 143"/>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0" name="Oval 144"/>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1" name="Rectangle 145"/>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2" name="Line 146"/>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3" name="Line 147"/>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4" name="Line 148"/>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5" name="AutoShape 149"/>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5" name="Group 150"/>
            <p:cNvGrpSpPr>
              <a:grpSpLocks/>
            </p:cNvGrpSpPr>
            <p:nvPr/>
          </p:nvGrpSpPr>
          <p:grpSpPr bwMode="auto">
            <a:xfrm>
              <a:off x="2853" y="3010"/>
              <a:ext cx="347" cy="285"/>
              <a:chOff x="2886" y="1668"/>
              <a:chExt cx="347" cy="285"/>
            </a:xfrm>
          </p:grpSpPr>
          <p:sp>
            <p:nvSpPr>
              <p:cNvPr id="454807" name="Rectangle 151"/>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8" name="Oval 152"/>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9" name="Rectangle 153"/>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0" name="Line 154"/>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1" name="Line 155"/>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2" name="Line 156"/>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3" name="AutoShape 157"/>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6" name="Group 158"/>
            <p:cNvGrpSpPr>
              <a:grpSpLocks/>
            </p:cNvGrpSpPr>
            <p:nvPr/>
          </p:nvGrpSpPr>
          <p:grpSpPr bwMode="auto">
            <a:xfrm>
              <a:off x="2440" y="3131"/>
              <a:ext cx="347" cy="285"/>
              <a:chOff x="2886" y="1668"/>
              <a:chExt cx="347" cy="285"/>
            </a:xfrm>
          </p:grpSpPr>
          <p:sp>
            <p:nvSpPr>
              <p:cNvPr id="454815" name="Rectangle 159"/>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6" name="Oval 160"/>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7" name="Rectangle 161"/>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8" name="Line 162"/>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9" name="Line 163"/>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0" name="Line 164"/>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1" name="AutoShape 165"/>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454822" name="Rectangle 166"/>
          <p:cNvSpPr>
            <a:spLocks noGrp="1" noChangeArrowheads="1"/>
          </p:cNvSpPr>
          <p:nvPr>
            <p:ph type="title"/>
          </p:nvPr>
        </p:nvSpPr>
        <p:spPr>
          <a:xfrm>
            <a:off x="249238" y="0"/>
            <a:ext cx="8894762" cy="1143000"/>
          </a:xfrm>
        </p:spPr>
        <p:txBody>
          <a:bodyPr>
            <a:noAutofit/>
          </a:bodyPr>
          <a:lstStyle/>
          <a:p>
            <a:r>
              <a:rPr lang="de-DE" sz="3600" dirty="0"/>
              <a:t>Hauptaufgabe des Routers: </a:t>
            </a:r>
            <a:r>
              <a:rPr lang="de-DE" sz="3600" dirty="0">
                <a:solidFill>
                  <a:srgbClr val="FF0000"/>
                </a:solidFill>
              </a:rPr>
              <a:t>Weiterleitung</a:t>
            </a:r>
            <a:endParaRPr lang="de-DE" sz="3600" dirty="0"/>
          </a:p>
        </p:txBody>
      </p:sp>
    </p:spTree>
    <p:extLst>
      <p:ext uri="{BB962C8B-B14F-4D97-AF65-F5344CB8AC3E}">
        <p14:creationId xmlns:p14="http://schemas.microsoft.com/office/powerpoint/2010/main" val="1777204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Slide Number Placeholder 4"/>
          <p:cNvSpPr>
            <a:spLocks noGrp="1"/>
          </p:cNvSpPr>
          <p:nvPr>
            <p:ph type="sldNum" sz="quarter" idx="12"/>
          </p:nvPr>
        </p:nvSpPr>
        <p:spPr/>
        <p:txBody>
          <a:bodyPr/>
          <a:lstStyle/>
          <a:p>
            <a:fld id="{E03E7E1A-2B5B-4D8D-88B8-8C8DD3EA0994}" type="slidenum">
              <a:rPr lang="de-DE" smtClean="0"/>
              <a:pPr/>
              <a:t>8</a:t>
            </a:fld>
            <a:endParaRPr lang="de-DE"/>
          </a:p>
        </p:txBody>
      </p:sp>
      <p:grpSp>
        <p:nvGrpSpPr>
          <p:cNvPr id="3" name="Group 2"/>
          <p:cNvGrpSpPr>
            <a:grpSpLocks/>
          </p:cNvGrpSpPr>
          <p:nvPr/>
        </p:nvGrpSpPr>
        <p:grpSpPr bwMode="auto">
          <a:xfrm>
            <a:off x="3371065" y="2449364"/>
            <a:ext cx="4781550" cy="4335463"/>
            <a:chOff x="870" y="702"/>
            <a:chExt cx="3012" cy="2731"/>
          </a:xfrm>
        </p:grpSpPr>
        <p:sp>
          <p:nvSpPr>
            <p:cNvPr id="454659" name="Freeform 3"/>
            <p:cNvSpPr>
              <a:spLocks/>
            </p:cNvSpPr>
            <p:nvPr/>
          </p:nvSpPr>
          <p:spPr bwMode="auto">
            <a:xfrm>
              <a:off x="2031" y="2058"/>
              <a:ext cx="1794" cy="933"/>
            </a:xfrm>
            <a:custGeom>
              <a:avLst/>
              <a:gdLst>
                <a:gd name="T0" fmla="*/ 6 w 1794"/>
                <a:gd name="T1" fmla="*/ 483 h 933"/>
                <a:gd name="T2" fmla="*/ 108 w 1794"/>
                <a:gd name="T3" fmla="*/ 125 h 933"/>
                <a:gd name="T4" fmla="*/ 559 w 1794"/>
                <a:gd name="T5" fmla="*/ 100 h 933"/>
                <a:gd name="T6" fmla="*/ 1128 w 1794"/>
                <a:gd name="T7" fmla="*/ 29 h 933"/>
                <a:gd name="T8" fmla="*/ 1716 w 1794"/>
                <a:gd name="T9" fmla="*/ 275 h 933"/>
                <a:gd name="T10" fmla="*/ 1596 w 1794"/>
                <a:gd name="T11" fmla="*/ 827 h 933"/>
                <a:gd name="T12" fmla="*/ 1380 w 1794"/>
                <a:gd name="T13" fmla="*/ 911 h 933"/>
                <a:gd name="T14" fmla="*/ 840 w 1794"/>
                <a:gd name="T15" fmla="*/ 929 h 933"/>
                <a:gd name="T16" fmla="*/ 414 w 1794"/>
                <a:gd name="T17" fmla="*/ 911 h 933"/>
                <a:gd name="T18" fmla="*/ 143 w 1794"/>
                <a:gd name="T19" fmla="*/ 832 h 933"/>
                <a:gd name="T20" fmla="*/ 6 w 1794"/>
                <a:gd name="T21" fmla="*/ 483 h 9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794" h="933">
                  <a:moveTo>
                    <a:pt x="6" y="483"/>
                  </a:moveTo>
                  <a:cubicBezTo>
                    <a:pt x="0" y="365"/>
                    <a:pt x="16" y="189"/>
                    <a:pt x="108" y="125"/>
                  </a:cubicBezTo>
                  <a:cubicBezTo>
                    <a:pt x="200" y="61"/>
                    <a:pt x="389" y="116"/>
                    <a:pt x="559" y="100"/>
                  </a:cubicBezTo>
                  <a:cubicBezTo>
                    <a:pt x="729" y="84"/>
                    <a:pt x="935" y="0"/>
                    <a:pt x="1128" y="29"/>
                  </a:cubicBezTo>
                  <a:cubicBezTo>
                    <a:pt x="1321" y="58"/>
                    <a:pt x="1638" y="142"/>
                    <a:pt x="1716" y="275"/>
                  </a:cubicBezTo>
                  <a:cubicBezTo>
                    <a:pt x="1794" y="408"/>
                    <a:pt x="1652" y="721"/>
                    <a:pt x="1596" y="827"/>
                  </a:cubicBezTo>
                  <a:cubicBezTo>
                    <a:pt x="1540" y="933"/>
                    <a:pt x="1506" y="894"/>
                    <a:pt x="1380" y="911"/>
                  </a:cubicBezTo>
                  <a:cubicBezTo>
                    <a:pt x="1254" y="928"/>
                    <a:pt x="1001" y="929"/>
                    <a:pt x="840" y="929"/>
                  </a:cubicBezTo>
                  <a:cubicBezTo>
                    <a:pt x="679" y="929"/>
                    <a:pt x="530" y="927"/>
                    <a:pt x="414" y="911"/>
                  </a:cubicBezTo>
                  <a:cubicBezTo>
                    <a:pt x="298" y="895"/>
                    <a:pt x="211" y="903"/>
                    <a:pt x="143" y="832"/>
                  </a:cubicBezTo>
                  <a:cubicBezTo>
                    <a:pt x="75" y="761"/>
                    <a:pt x="4" y="624"/>
                    <a:pt x="6" y="483"/>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0" name="Freeform 4"/>
            <p:cNvSpPr>
              <a:spLocks/>
            </p:cNvSpPr>
            <p:nvPr/>
          </p:nvSpPr>
          <p:spPr bwMode="auto">
            <a:xfrm>
              <a:off x="1090" y="1594"/>
              <a:ext cx="1443" cy="816"/>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solidFill>
              <a:schemeClr val="accent2">
                <a:lumMod val="20000"/>
                <a:lumOff val="80000"/>
              </a:schemeClr>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663" name="Freeform 7"/>
            <p:cNvSpPr>
              <a:spLocks/>
            </p:cNvSpPr>
            <p:nvPr/>
          </p:nvSpPr>
          <p:spPr bwMode="auto">
            <a:xfrm>
              <a:off x="2433" y="2249"/>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 name="Group 8"/>
            <p:cNvGrpSpPr>
              <a:grpSpLocks/>
            </p:cNvGrpSpPr>
            <p:nvPr/>
          </p:nvGrpSpPr>
          <p:grpSpPr bwMode="auto">
            <a:xfrm>
              <a:off x="2122" y="2359"/>
              <a:ext cx="316" cy="147"/>
              <a:chOff x="3600" y="219"/>
              <a:chExt cx="360" cy="175"/>
            </a:xfrm>
          </p:grpSpPr>
          <p:sp>
            <p:nvSpPr>
              <p:cNvPr id="454665" name="Oval 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6" name="Line 1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7" name="Line 1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8" name="Rectangle 1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69" name="Oval 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5" name="Group 14"/>
              <p:cNvGrpSpPr>
                <a:grpSpLocks/>
              </p:cNvGrpSpPr>
              <p:nvPr/>
            </p:nvGrpSpPr>
            <p:grpSpPr bwMode="auto">
              <a:xfrm>
                <a:off x="3686" y="244"/>
                <a:ext cx="177" cy="66"/>
                <a:chOff x="2848" y="848"/>
                <a:chExt cx="140" cy="98"/>
              </a:xfrm>
            </p:grpSpPr>
            <p:sp>
              <p:nvSpPr>
                <p:cNvPr id="454671" name="Line 1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2" name="Line 1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3" name="Line 1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6" name="Group 18"/>
              <p:cNvGrpSpPr>
                <a:grpSpLocks/>
              </p:cNvGrpSpPr>
              <p:nvPr/>
            </p:nvGrpSpPr>
            <p:grpSpPr bwMode="auto">
              <a:xfrm flipV="1">
                <a:off x="3686" y="243"/>
                <a:ext cx="177" cy="66"/>
                <a:chOff x="2848" y="848"/>
                <a:chExt cx="140" cy="98"/>
              </a:xfrm>
            </p:grpSpPr>
            <p:sp>
              <p:nvSpPr>
                <p:cNvPr id="454675" name="Line 1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6" name="Line 2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7" name="Line 2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7" name="Group 22"/>
            <p:cNvGrpSpPr>
              <a:grpSpLocks/>
            </p:cNvGrpSpPr>
            <p:nvPr/>
          </p:nvGrpSpPr>
          <p:grpSpPr bwMode="auto">
            <a:xfrm>
              <a:off x="2344" y="2761"/>
              <a:ext cx="316" cy="147"/>
              <a:chOff x="3600" y="219"/>
              <a:chExt cx="360" cy="175"/>
            </a:xfrm>
          </p:grpSpPr>
          <p:sp>
            <p:nvSpPr>
              <p:cNvPr id="454679" name="Oval 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0" name="Line 24"/>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1" name="Line 25"/>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2" name="Rectangle 26"/>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83" name="Oval 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8" name="Group 28"/>
              <p:cNvGrpSpPr>
                <a:grpSpLocks/>
              </p:cNvGrpSpPr>
              <p:nvPr/>
            </p:nvGrpSpPr>
            <p:grpSpPr bwMode="auto">
              <a:xfrm>
                <a:off x="3686" y="244"/>
                <a:ext cx="177" cy="66"/>
                <a:chOff x="2848" y="848"/>
                <a:chExt cx="140" cy="98"/>
              </a:xfrm>
            </p:grpSpPr>
            <p:sp>
              <p:nvSpPr>
                <p:cNvPr id="454685" name="Line 2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6" name="Line 3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7" name="Line 3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9" name="Group 32"/>
              <p:cNvGrpSpPr>
                <a:grpSpLocks/>
              </p:cNvGrpSpPr>
              <p:nvPr/>
            </p:nvGrpSpPr>
            <p:grpSpPr bwMode="auto">
              <a:xfrm flipV="1">
                <a:off x="3686" y="243"/>
                <a:ext cx="177" cy="66"/>
                <a:chOff x="2848" y="848"/>
                <a:chExt cx="140" cy="98"/>
              </a:xfrm>
            </p:grpSpPr>
            <p:sp>
              <p:nvSpPr>
                <p:cNvPr id="454689" name="Line 3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0" name="Line 3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1" name="Line 3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0" name="Group 36"/>
            <p:cNvGrpSpPr>
              <a:grpSpLocks/>
            </p:cNvGrpSpPr>
            <p:nvPr/>
          </p:nvGrpSpPr>
          <p:grpSpPr bwMode="auto">
            <a:xfrm>
              <a:off x="2769" y="2167"/>
              <a:ext cx="316" cy="147"/>
              <a:chOff x="3600" y="219"/>
              <a:chExt cx="360" cy="175"/>
            </a:xfrm>
          </p:grpSpPr>
          <p:sp>
            <p:nvSpPr>
              <p:cNvPr id="454693" name="Oval 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4" name="Line 38"/>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5" name="Line 39"/>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6" name="Rectangle 40"/>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97" name="Oval 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1" name="Group 42"/>
              <p:cNvGrpSpPr>
                <a:grpSpLocks/>
              </p:cNvGrpSpPr>
              <p:nvPr/>
            </p:nvGrpSpPr>
            <p:grpSpPr bwMode="auto">
              <a:xfrm>
                <a:off x="3686" y="244"/>
                <a:ext cx="177" cy="66"/>
                <a:chOff x="2848" y="848"/>
                <a:chExt cx="140" cy="98"/>
              </a:xfrm>
            </p:grpSpPr>
            <p:sp>
              <p:nvSpPr>
                <p:cNvPr id="454699" name="Line 4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0" name="Line 4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1" name="Line 4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2" name="Group 46"/>
              <p:cNvGrpSpPr>
                <a:grpSpLocks/>
              </p:cNvGrpSpPr>
              <p:nvPr/>
            </p:nvGrpSpPr>
            <p:grpSpPr bwMode="auto">
              <a:xfrm flipV="1">
                <a:off x="3686" y="243"/>
                <a:ext cx="177" cy="66"/>
                <a:chOff x="2848" y="848"/>
                <a:chExt cx="140" cy="98"/>
              </a:xfrm>
            </p:grpSpPr>
            <p:sp>
              <p:nvSpPr>
                <p:cNvPr id="454703" name="Line 4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4" name="Line 4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5" name="Line 4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3" name="Group 50"/>
            <p:cNvGrpSpPr>
              <a:grpSpLocks/>
            </p:cNvGrpSpPr>
            <p:nvPr/>
          </p:nvGrpSpPr>
          <p:grpSpPr bwMode="auto">
            <a:xfrm>
              <a:off x="2720" y="2586"/>
              <a:ext cx="315" cy="147"/>
              <a:chOff x="3600" y="219"/>
              <a:chExt cx="360" cy="175"/>
            </a:xfrm>
          </p:grpSpPr>
          <p:sp>
            <p:nvSpPr>
              <p:cNvPr id="454707" name="Oval 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8" name="Line 52"/>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9" name="Line 53"/>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0" name="Rectangle 54"/>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11" name="Oval 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4" name="Group 56"/>
              <p:cNvGrpSpPr>
                <a:grpSpLocks/>
              </p:cNvGrpSpPr>
              <p:nvPr/>
            </p:nvGrpSpPr>
            <p:grpSpPr bwMode="auto">
              <a:xfrm>
                <a:off x="3686" y="244"/>
                <a:ext cx="177" cy="66"/>
                <a:chOff x="2848" y="848"/>
                <a:chExt cx="140" cy="98"/>
              </a:xfrm>
            </p:grpSpPr>
            <p:sp>
              <p:nvSpPr>
                <p:cNvPr id="454713" name="Line 5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4" name="Line 5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5" name="Line 5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5" name="Group 60"/>
              <p:cNvGrpSpPr>
                <a:grpSpLocks/>
              </p:cNvGrpSpPr>
              <p:nvPr/>
            </p:nvGrpSpPr>
            <p:grpSpPr bwMode="auto">
              <a:xfrm flipV="1">
                <a:off x="3686" y="243"/>
                <a:ext cx="177" cy="66"/>
                <a:chOff x="2848" y="848"/>
                <a:chExt cx="140" cy="98"/>
              </a:xfrm>
            </p:grpSpPr>
            <p:sp>
              <p:nvSpPr>
                <p:cNvPr id="454717" name="Line 6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8" name="Line 6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9" name="Line 6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6" name="Group 64"/>
            <p:cNvGrpSpPr>
              <a:grpSpLocks/>
            </p:cNvGrpSpPr>
            <p:nvPr/>
          </p:nvGrpSpPr>
          <p:grpSpPr bwMode="auto">
            <a:xfrm>
              <a:off x="3120" y="2773"/>
              <a:ext cx="316" cy="147"/>
              <a:chOff x="3600" y="219"/>
              <a:chExt cx="360" cy="175"/>
            </a:xfrm>
          </p:grpSpPr>
          <p:sp>
            <p:nvSpPr>
              <p:cNvPr id="454721" name="Oval 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2" name="Line 66"/>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3" name="Line 67"/>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4" name="Rectangle 68"/>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25" name="Oval 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17" name="Group 70"/>
              <p:cNvGrpSpPr>
                <a:grpSpLocks/>
              </p:cNvGrpSpPr>
              <p:nvPr/>
            </p:nvGrpSpPr>
            <p:grpSpPr bwMode="auto">
              <a:xfrm>
                <a:off x="3686" y="244"/>
                <a:ext cx="177" cy="66"/>
                <a:chOff x="2848" y="848"/>
                <a:chExt cx="140" cy="98"/>
              </a:xfrm>
            </p:grpSpPr>
            <p:sp>
              <p:nvSpPr>
                <p:cNvPr id="454727" name="Line 7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8" name="Line 7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9" name="Line 7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18" name="Group 74"/>
              <p:cNvGrpSpPr>
                <a:grpSpLocks/>
              </p:cNvGrpSpPr>
              <p:nvPr/>
            </p:nvGrpSpPr>
            <p:grpSpPr bwMode="auto">
              <a:xfrm flipV="1">
                <a:off x="3686" y="243"/>
                <a:ext cx="177" cy="66"/>
                <a:chOff x="2848" y="848"/>
                <a:chExt cx="140" cy="98"/>
              </a:xfrm>
            </p:grpSpPr>
            <p:sp>
              <p:nvSpPr>
                <p:cNvPr id="454731" name="Line 7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2" name="Line 7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3" name="Line 7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19" name="Group 78"/>
            <p:cNvGrpSpPr>
              <a:grpSpLocks/>
            </p:cNvGrpSpPr>
            <p:nvPr/>
          </p:nvGrpSpPr>
          <p:grpSpPr bwMode="auto">
            <a:xfrm>
              <a:off x="3400" y="2360"/>
              <a:ext cx="316" cy="147"/>
              <a:chOff x="3600" y="219"/>
              <a:chExt cx="360" cy="175"/>
            </a:xfrm>
          </p:grpSpPr>
          <p:sp>
            <p:nvSpPr>
              <p:cNvPr id="454735" name="Oval 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6" name="Line 8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7" name="Line 8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8" name="Rectangle 8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39" name="Oval 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20" name="Group 84"/>
              <p:cNvGrpSpPr>
                <a:grpSpLocks/>
              </p:cNvGrpSpPr>
              <p:nvPr/>
            </p:nvGrpSpPr>
            <p:grpSpPr bwMode="auto">
              <a:xfrm>
                <a:off x="3686" y="244"/>
                <a:ext cx="177" cy="66"/>
                <a:chOff x="2848" y="848"/>
                <a:chExt cx="140" cy="98"/>
              </a:xfrm>
            </p:grpSpPr>
            <p:sp>
              <p:nvSpPr>
                <p:cNvPr id="454741" name="Line 8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2" name="Line 8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3" name="Line 8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1" name="Group 88"/>
              <p:cNvGrpSpPr>
                <a:grpSpLocks/>
              </p:cNvGrpSpPr>
              <p:nvPr/>
            </p:nvGrpSpPr>
            <p:grpSpPr bwMode="auto">
              <a:xfrm flipV="1">
                <a:off x="3686" y="243"/>
                <a:ext cx="177" cy="66"/>
                <a:chOff x="2848" y="848"/>
                <a:chExt cx="140" cy="98"/>
              </a:xfrm>
            </p:grpSpPr>
            <p:sp>
              <p:nvSpPr>
                <p:cNvPr id="454745" name="Line 8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6" name="Line 9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7" name="Line 9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454748" name="Freeform 92"/>
            <p:cNvSpPr>
              <a:spLocks/>
            </p:cNvSpPr>
            <p:nvPr/>
          </p:nvSpPr>
          <p:spPr bwMode="auto">
            <a:xfrm>
              <a:off x="3089" y="2245"/>
              <a:ext cx="318" cy="194"/>
            </a:xfrm>
            <a:custGeom>
              <a:avLst/>
              <a:gdLst>
                <a:gd name="T0" fmla="*/ 0 w 318"/>
                <a:gd name="T1" fmla="*/ 0 h 194"/>
                <a:gd name="T2" fmla="*/ 318 w 318"/>
                <a:gd name="T3" fmla="*/ 194 h 194"/>
              </a:gdLst>
              <a:ahLst/>
              <a:cxnLst>
                <a:cxn ang="0">
                  <a:pos x="T0" y="T1"/>
                </a:cxn>
                <a:cxn ang="0">
                  <a:pos x="T2" y="T3"/>
                </a:cxn>
              </a:cxnLst>
              <a:rect l="0" t="0" r="r" b="b"/>
              <a:pathLst>
                <a:path w="318" h="194">
                  <a:moveTo>
                    <a:pt x="0" y="0"/>
                  </a:moveTo>
                  <a:lnTo>
                    <a:pt x="318" y="19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9" name="Freeform 93"/>
            <p:cNvSpPr>
              <a:spLocks/>
            </p:cNvSpPr>
            <p:nvPr/>
          </p:nvSpPr>
          <p:spPr bwMode="auto">
            <a:xfrm>
              <a:off x="2418" y="2492"/>
              <a:ext cx="303" cy="150"/>
            </a:xfrm>
            <a:custGeom>
              <a:avLst/>
              <a:gdLst>
                <a:gd name="T0" fmla="*/ 0 w 294"/>
                <a:gd name="T1" fmla="*/ 0 h 174"/>
                <a:gd name="T2" fmla="*/ 294 w 294"/>
                <a:gd name="T3" fmla="*/ 174 h 174"/>
              </a:gdLst>
              <a:ahLst/>
              <a:cxnLst>
                <a:cxn ang="0">
                  <a:pos x="T0" y="T1"/>
                </a:cxn>
                <a:cxn ang="0">
                  <a:pos x="T2" y="T3"/>
                </a:cxn>
              </a:cxnLst>
              <a:rect l="0" t="0" r="r" b="b"/>
              <a:pathLst>
                <a:path w="294" h="174">
                  <a:moveTo>
                    <a:pt x="0" y="0"/>
                  </a:moveTo>
                  <a:lnTo>
                    <a:pt x="294" y="17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0" name="Freeform 94"/>
            <p:cNvSpPr>
              <a:spLocks/>
            </p:cNvSpPr>
            <p:nvPr/>
          </p:nvSpPr>
          <p:spPr bwMode="auto">
            <a:xfrm>
              <a:off x="3015" y="2477"/>
              <a:ext cx="396" cy="156"/>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1" name="Freeform 95"/>
            <p:cNvSpPr>
              <a:spLocks/>
            </p:cNvSpPr>
            <p:nvPr/>
          </p:nvSpPr>
          <p:spPr bwMode="auto">
            <a:xfrm>
              <a:off x="3435" y="2511"/>
              <a:ext cx="130" cy="320"/>
            </a:xfrm>
            <a:custGeom>
              <a:avLst/>
              <a:gdLst>
                <a:gd name="T0" fmla="*/ 0 w 118"/>
                <a:gd name="T1" fmla="*/ 500 h 500"/>
                <a:gd name="T2" fmla="*/ 118 w 118"/>
                <a:gd name="T3" fmla="*/ 0 h 500"/>
              </a:gdLst>
              <a:ahLst/>
              <a:cxnLst>
                <a:cxn ang="0">
                  <a:pos x="T0" y="T1"/>
                </a:cxn>
                <a:cxn ang="0">
                  <a:pos x="T2" y="T3"/>
                </a:cxn>
              </a:cxnLst>
              <a:rect l="0" t="0" r="r" b="b"/>
              <a:pathLst>
                <a:path w="118" h="500">
                  <a:moveTo>
                    <a:pt x="0" y="500"/>
                  </a:moveTo>
                  <a:lnTo>
                    <a:pt x="11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2" name="Freeform 96"/>
            <p:cNvSpPr>
              <a:spLocks/>
            </p:cNvSpPr>
            <p:nvPr/>
          </p:nvSpPr>
          <p:spPr bwMode="auto">
            <a:xfrm>
              <a:off x="2657" y="2847"/>
              <a:ext cx="464" cy="47"/>
            </a:xfrm>
            <a:custGeom>
              <a:avLst/>
              <a:gdLst>
                <a:gd name="T0" fmla="*/ 370 w 370"/>
                <a:gd name="T1" fmla="*/ 32 h 32"/>
                <a:gd name="T2" fmla="*/ 0 w 370"/>
                <a:gd name="T3" fmla="*/ 0 h 32"/>
              </a:gdLst>
              <a:ahLst/>
              <a:cxnLst>
                <a:cxn ang="0">
                  <a:pos x="T0" y="T1"/>
                </a:cxn>
                <a:cxn ang="0">
                  <a:pos x="T2" y="T3"/>
                </a:cxn>
              </a:cxnLst>
              <a:rect l="0" t="0" r="r" b="b"/>
              <a:pathLst>
                <a:path w="370" h="32">
                  <a:moveTo>
                    <a:pt x="370" y="32"/>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3" name="Freeform 97"/>
            <p:cNvSpPr>
              <a:spLocks/>
            </p:cNvSpPr>
            <p:nvPr/>
          </p:nvSpPr>
          <p:spPr bwMode="auto">
            <a:xfrm>
              <a:off x="2319" y="2507"/>
              <a:ext cx="122" cy="268"/>
            </a:xfrm>
            <a:custGeom>
              <a:avLst/>
              <a:gdLst>
                <a:gd name="T0" fmla="*/ 162 w 176"/>
                <a:gd name="T1" fmla="*/ 408 h 412"/>
                <a:gd name="T2" fmla="*/ 176 w 176"/>
                <a:gd name="T3" fmla="*/ 412 h 412"/>
                <a:gd name="T4" fmla="*/ 0 w 176"/>
                <a:gd name="T5" fmla="*/ 0 h 412"/>
              </a:gdLst>
              <a:ahLst/>
              <a:cxnLst>
                <a:cxn ang="0">
                  <a:pos x="T0" y="T1"/>
                </a:cxn>
                <a:cxn ang="0">
                  <a:pos x="T2" y="T3"/>
                </a:cxn>
                <a:cxn ang="0">
                  <a:pos x="T4" y="T5"/>
                </a:cxn>
              </a:cxnLst>
              <a:rect l="0" t="0" r="r" b="b"/>
              <a:pathLst>
                <a:path w="176" h="412">
                  <a:moveTo>
                    <a:pt x="162" y="408"/>
                  </a:moveTo>
                  <a:lnTo>
                    <a:pt x="176" y="412"/>
                  </a:ln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4" name="Rectangle 98"/>
            <p:cNvSpPr>
              <a:spLocks noChangeArrowheads="1"/>
            </p:cNvSpPr>
            <p:nvPr/>
          </p:nvSpPr>
          <p:spPr bwMode="auto">
            <a:xfrm>
              <a:off x="1128" y="2264"/>
              <a:ext cx="728" cy="150"/>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5" name="Rectangle 99"/>
            <p:cNvSpPr>
              <a:spLocks noChangeArrowheads="1"/>
            </p:cNvSpPr>
            <p:nvPr/>
          </p:nvSpPr>
          <p:spPr bwMode="auto">
            <a:xfrm>
              <a:off x="1113" y="2279"/>
              <a:ext cx="723" cy="150"/>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6" name="Line 100"/>
            <p:cNvSpPr>
              <a:spLocks noChangeShapeType="1"/>
            </p:cNvSpPr>
            <p:nvPr/>
          </p:nvSpPr>
          <p:spPr bwMode="auto">
            <a:xfrm>
              <a:off x="1759" y="2362"/>
              <a:ext cx="266" cy="0"/>
            </a:xfrm>
            <a:prstGeom prst="line">
              <a:avLst/>
            </a:prstGeom>
            <a:noFill/>
            <a:ln w="9525">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7" name="Text Box 101"/>
            <p:cNvSpPr txBox="1">
              <a:spLocks noChangeArrowheads="1"/>
            </p:cNvSpPr>
            <p:nvPr/>
          </p:nvSpPr>
          <p:spPr bwMode="auto">
            <a:xfrm>
              <a:off x="2390" y="2183"/>
              <a:ext cx="196"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a:latin typeface="Arial" charset="0"/>
                </a:rPr>
                <a:t>1</a:t>
              </a:r>
            </a:p>
          </p:txBody>
        </p:sp>
        <p:sp>
          <p:nvSpPr>
            <p:cNvPr id="454758" name="Text Box 102"/>
            <p:cNvSpPr txBox="1">
              <a:spLocks noChangeArrowheads="1"/>
            </p:cNvSpPr>
            <p:nvPr/>
          </p:nvSpPr>
          <p:spPr bwMode="auto">
            <a:xfrm>
              <a:off x="2336" y="2459"/>
              <a:ext cx="187"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a:latin typeface="Arial" charset="0"/>
                </a:rPr>
                <a:t>2</a:t>
              </a:r>
            </a:p>
          </p:txBody>
        </p:sp>
        <p:sp>
          <p:nvSpPr>
            <p:cNvPr id="454759" name="Text Box 103"/>
            <p:cNvSpPr txBox="1">
              <a:spLocks noChangeArrowheads="1"/>
            </p:cNvSpPr>
            <p:nvPr/>
          </p:nvSpPr>
          <p:spPr bwMode="auto">
            <a:xfrm>
              <a:off x="2178" y="2505"/>
              <a:ext cx="187"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a:latin typeface="Arial" charset="0"/>
                </a:rPr>
                <a:t>3</a:t>
              </a:r>
            </a:p>
          </p:txBody>
        </p:sp>
        <p:sp>
          <p:nvSpPr>
            <p:cNvPr id="454760" name="Rectangle 104"/>
            <p:cNvSpPr>
              <a:spLocks noChangeArrowheads="1"/>
            </p:cNvSpPr>
            <p:nvPr/>
          </p:nvSpPr>
          <p:spPr bwMode="auto">
            <a:xfrm>
              <a:off x="1509" y="2281"/>
              <a:ext cx="269" cy="151"/>
            </a:xfrm>
            <a:prstGeom prst="rect">
              <a:avLst/>
            </a:prstGeom>
            <a:solidFill>
              <a:srgbClr val="FF0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1" name="Text Box 105"/>
            <p:cNvSpPr txBox="1">
              <a:spLocks noChangeArrowheads="1"/>
            </p:cNvSpPr>
            <p:nvPr/>
          </p:nvSpPr>
          <p:spPr bwMode="auto">
            <a:xfrm>
              <a:off x="1475" y="2255"/>
              <a:ext cx="354"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400" b="1" dirty="0">
                  <a:latin typeface="Arial" charset="0"/>
                </a:rPr>
                <a:t>0111</a:t>
              </a:r>
            </a:p>
          </p:txBody>
        </p:sp>
        <p:sp>
          <p:nvSpPr>
            <p:cNvPr id="454762" name="Text Box 106"/>
            <p:cNvSpPr txBox="1">
              <a:spLocks noChangeArrowheads="1"/>
            </p:cNvSpPr>
            <p:nvPr/>
          </p:nvSpPr>
          <p:spPr bwMode="auto">
            <a:xfrm>
              <a:off x="870" y="1659"/>
              <a:ext cx="1022" cy="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1600" b="1" dirty="0">
                  <a:solidFill>
                    <a:srgbClr val="0070C0"/>
                  </a:solidFill>
                  <a:latin typeface="Arial" charset="0"/>
                </a:rPr>
                <a:t>Zieladresse</a:t>
              </a:r>
              <a:r>
                <a:rPr lang="de-DE" sz="1600" dirty="0">
                  <a:latin typeface="Arial" charset="0"/>
                </a:rPr>
                <a:t> im</a:t>
              </a:r>
              <a:br>
                <a:rPr lang="de-DE" sz="1600" dirty="0">
                  <a:latin typeface="Arial" charset="0"/>
                </a:rPr>
              </a:br>
              <a:r>
                <a:rPr lang="de-DE" sz="1600" dirty="0">
                  <a:latin typeface="Arial" charset="0"/>
                </a:rPr>
                <a:t>Header eines</a:t>
              </a:r>
            </a:p>
            <a:p>
              <a:r>
                <a:rPr lang="de-DE" sz="1600" dirty="0">
                  <a:latin typeface="Arial" charset="0"/>
                </a:rPr>
                <a:t>IP-Datagramms</a:t>
              </a:r>
            </a:p>
          </p:txBody>
        </p:sp>
        <p:sp>
          <p:nvSpPr>
            <p:cNvPr id="454763" name="Line 107"/>
            <p:cNvSpPr>
              <a:spLocks noChangeShapeType="1"/>
            </p:cNvSpPr>
            <p:nvPr/>
          </p:nvSpPr>
          <p:spPr bwMode="auto">
            <a:xfrm flipH="1">
              <a:off x="1269" y="2444"/>
              <a:ext cx="85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65" name="Rectangle 109"/>
            <p:cNvSpPr>
              <a:spLocks noChangeArrowheads="1"/>
            </p:cNvSpPr>
            <p:nvPr/>
          </p:nvSpPr>
          <p:spPr bwMode="auto">
            <a:xfrm>
              <a:off x="1197" y="732"/>
              <a:ext cx="1263" cy="80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6" name="Text Box 110"/>
            <p:cNvSpPr txBox="1">
              <a:spLocks noChangeArrowheads="1"/>
            </p:cNvSpPr>
            <p:nvPr/>
          </p:nvSpPr>
          <p:spPr bwMode="auto">
            <a:xfrm>
              <a:off x="1148" y="702"/>
              <a:ext cx="1417" cy="19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de-DE" sz="1400" dirty="0">
                  <a:latin typeface="Arial" charset="0"/>
                </a:rPr>
                <a:t>lokale </a:t>
              </a:r>
              <a:r>
                <a:rPr lang="de-DE" sz="1400" b="1" dirty="0">
                  <a:solidFill>
                    <a:srgbClr val="0070C0"/>
                  </a:solidFill>
                  <a:latin typeface="Arial" charset="0"/>
                </a:rPr>
                <a:t>Weiterleitungstab</a:t>
              </a:r>
              <a:r>
                <a:rPr lang="de-DE" sz="1400" dirty="0">
                  <a:latin typeface="Arial" charset="0"/>
                </a:rPr>
                <a:t>.</a:t>
              </a:r>
            </a:p>
          </p:txBody>
        </p:sp>
        <p:sp>
          <p:nvSpPr>
            <p:cNvPr id="454767" name="Text Box 111"/>
            <p:cNvSpPr txBox="1">
              <a:spLocks noChangeArrowheads="1"/>
            </p:cNvSpPr>
            <p:nvPr/>
          </p:nvSpPr>
          <p:spPr bwMode="auto">
            <a:xfrm>
              <a:off x="1128" y="858"/>
              <a:ext cx="810" cy="19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1" hangingPunct="1"/>
              <a:r>
                <a:rPr lang="de-DE" sz="1400">
                  <a:latin typeface="Arial" charset="0"/>
                </a:rPr>
                <a:t>Header -Wert</a:t>
              </a:r>
            </a:p>
          </p:txBody>
        </p:sp>
        <p:sp>
          <p:nvSpPr>
            <p:cNvPr id="454768" name="Text Box 112"/>
            <p:cNvSpPr txBox="1">
              <a:spLocks noChangeArrowheads="1"/>
            </p:cNvSpPr>
            <p:nvPr/>
          </p:nvSpPr>
          <p:spPr bwMode="auto">
            <a:xfrm>
              <a:off x="1846" y="859"/>
              <a:ext cx="656" cy="1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1" hangingPunct="1"/>
              <a:r>
                <a:rPr lang="de-DE" sz="1400">
                  <a:latin typeface="Arial" charset="0"/>
                </a:rPr>
                <a:t>“Ausgang”</a:t>
              </a:r>
            </a:p>
          </p:txBody>
        </p:sp>
        <p:sp>
          <p:nvSpPr>
            <p:cNvPr id="454769" name="Line 113"/>
            <p:cNvSpPr>
              <a:spLocks noChangeShapeType="1"/>
            </p:cNvSpPr>
            <p:nvPr/>
          </p:nvSpPr>
          <p:spPr bwMode="auto">
            <a:xfrm>
              <a:off x="1908" y="866"/>
              <a:ext cx="5" cy="67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0" name="Text Box 114"/>
            <p:cNvSpPr txBox="1">
              <a:spLocks noChangeArrowheads="1"/>
            </p:cNvSpPr>
            <p:nvPr/>
          </p:nvSpPr>
          <p:spPr bwMode="auto">
            <a:xfrm>
              <a:off x="1585" y="1037"/>
              <a:ext cx="330" cy="5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1" hangingPunct="1"/>
              <a:r>
                <a:rPr lang="de-DE" sz="1200" dirty="0">
                  <a:latin typeface="Arial" charset="0"/>
                </a:rPr>
                <a:t>0100</a:t>
              </a:r>
            </a:p>
            <a:p>
              <a:pPr algn="r" eaLnBrk="1" hangingPunct="1"/>
              <a:r>
                <a:rPr lang="de-DE" sz="1200" dirty="0">
                  <a:latin typeface="Arial" charset="0"/>
                </a:rPr>
                <a:t>0101</a:t>
              </a:r>
            </a:p>
            <a:p>
              <a:pPr algn="r" eaLnBrk="1" hangingPunct="1"/>
              <a:r>
                <a:rPr lang="de-DE" sz="1200" dirty="0">
                  <a:latin typeface="Arial" charset="0"/>
                </a:rPr>
                <a:t>0111</a:t>
              </a:r>
            </a:p>
            <a:p>
              <a:pPr algn="r" eaLnBrk="1" hangingPunct="1"/>
              <a:r>
                <a:rPr lang="de-DE" sz="1200" dirty="0">
                  <a:latin typeface="Arial" charset="0"/>
                </a:rPr>
                <a:t>1001</a:t>
              </a:r>
            </a:p>
          </p:txBody>
        </p:sp>
        <p:sp>
          <p:nvSpPr>
            <p:cNvPr id="454771" name="Text Box 115"/>
            <p:cNvSpPr txBox="1">
              <a:spLocks noChangeArrowheads="1"/>
            </p:cNvSpPr>
            <p:nvPr/>
          </p:nvSpPr>
          <p:spPr bwMode="auto">
            <a:xfrm>
              <a:off x="1918" y="1037"/>
              <a:ext cx="170" cy="5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lang="de-DE" sz="1200">
                  <a:latin typeface="Arial" charset="0"/>
                </a:rPr>
                <a:t>3</a:t>
              </a:r>
            </a:p>
            <a:p>
              <a:pPr algn="ctr" eaLnBrk="1" hangingPunct="1"/>
              <a:r>
                <a:rPr lang="de-DE" sz="1200">
                  <a:latin typeface="Arial" charset="0"/>
                </a:rPr>
                <a:t>2</a:t>
              </a:r>
            </a:p>
            <a:p>
              <a:pPr algn="ctr" eaLnBrk="1" hangingPunct="1"/>
              <a:r>
                <a:rPr lang="de-DE" sz="1200">
                  <a:latin typeface="Arial" charset="0"/>
                </a:rPr>
                <a:t>2</a:t>
              </a:r>
            </a:p>
            <a:p>
              <a:pPr algn="ctr" eaLnBrk="1" hangingPunct="1"/>
              <a:r>
                <a:rPr lang="de-DE" sz="1200">
                  <a:latin typeface="Arial" charset="0"/>
                </a:rPr>
                <a:t>1</a:t>
              </a:r>
            </a:p>
          </p:txBody>
        </p:sp>
        <p:sp>
          <p:nvSpPr>
            <p:cNvPr id="454772" name="Line 116"/>
            <p:cNvSpPr>
              <a:spLocks noChangeShapeType="1"/>
            </p:cNvSpPr>
            <p:nvPr/>
          </p:nvSpPr>
          <p:spPr bwMode="auto">
            <a:xfrm>
              <a:off x="1197" y="1028"/>
              <a:ext cx="126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3" name="Line 117"/>
            <p:cNvSpPr>
              <a:spLocks noChangeShapeType="1"/>
            </p:cNvSpPr>
            <p:nvPr/>
          </p:nvSpPr>
          <p:spPr bwMode="auto">
            <a:xfrm>
              <a:off x="1214" y="866"/>
              <a:ext cx="126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5" name="Line 119"/>
            <p:cNvSpPr>
              <a:spLocks noChangeShapeType="1"/>
            </p:cNvSpPr>
            <p:nvPr/>
          </p:nvSpPr>
          <p:spPr bwMode="auto">
            <a:xfrm>
              <a:off x="1362" y="2127"/>
              <a:ext cx="147" cy="146"/>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6" name="Freeform 120"/>
            <p:cNvSpPr>
              <a:spLocks/>
            </p:cNvSpPr>
            <p:nvPr/>
          </p:nvSpPr>
          <p:spPr bwMode="auto">
            <a:xfrm>
              <a:off x="2047" y="2395"/>
              <a:ext cx="554" cy="167"/>
            </a:xfrm>
            <a:custGeom>
              <a:avLst/>
              <a:gdLst>
                <a:gd name="T0" fmla="*/ 0 w 554"/>
                <a:gd name="T1" fmla="*/ 10 h 167"/>
                <a:gd name="T2" fmla="*/ 324 w 554"/>
                <a:gd name="T3" fmla="*/ 26 h 167"/>
                <a:gd name="T4" fmla="*/ 554 w 554"/>
                <a:gd name="T5" fmla="*/ 167 h 167"/>
              </a:gdLst>
              <a:ahLst/>
              <a:cxnLst>
                <a:cxn ang="0">
                  <a:pos x="T0" y="T1"/>
                </a:cxn>
                <a:cxn ang="0">
                  <a:pos x="T2" y="T3"/>
                </a:cxn>
                <a:cxn ang="0">
                  <a:pos x="T4" y="T5"/>
                </a:cxn>
              </a:cxnLst>
              <a:rect l="0" t="0" r="r" b="b"/>
              <a:pathLst>
                <a:path w="554" h="167">
                  <a:moveTo>
                    <a:pt x="0" y="10"/>
                  </a:moveTo>
                  <a:cubicBezTo>
                    <a:pt x="102" y="0"/>
                    <a:pt x="240" y="5"/>
                    <a:pt x="324" y="26"/>
                  </a:cubicBezTo>
                  <a:cubicBezTo>
                    <a:pt x="416" y="52"/>
                    <a:pt x="502" y="120"/>
                    <a:pt x="554" y="167"/>
                  </a:cubicBezTo>
                </a:path>
              </a:pathLst>
            </a:custGeom>
            <a:noFill/>
            <a:ln w="57150" cmpd="sng">
              <a:solidFill>
                <a:srgbClr val="FF33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7" name="Freeform 121"/>
            <p:cNvSpPr>
              <a:spLocks/>
            </p:cNvSpPr>
            <p:nvPr/>
          </p:nvSpPr>
          <p:spPr bwMode="auto">
            <a:xfrm flipH="1">
              <a:off x="3518" y="2127"/>
              <a:ext cx="364"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9" name="Freeform 123"/>
            <p:cNvSpPr>
              <a:spLocks/>
            </p:cNvSpPr>
            <p:nvPr/>
          </p:nvSpPr>
          <p:spPr bwMode="auto">
            <a:xfrm flipH="1" flipV="1">
              <a:off x="3302" y="2922"/>
              <a:ext cx="342"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0" name="Freeform 124"/>
            <p:cNvSpPr>
              <a:spLocks/>
            </p:cNvSpPr>
            <p:nvPr/>
          </p:nvSpPr>
          <p:spPr bwMode="auto">
            <a:xfrm flipH="1" flipV="1">
              <a:off x="2452" y="2912"/>
              <a:ext cx="342" cy="234"/>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1" name="Freeform 125"/>
            <p:cNvSpPr>
              <a:spLocks/>
            </p:cNvSpPr>
            <p:nvPr/>
          </p:nvSpPr>
          <p:spPr bwMode="auto">
            <a:xfrm flipH="1" flipV="1">
              <a:off x="2855" y="2728"/>
              <a:ext cx="342" cy="285"/>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grpSp>
          <p:nvGrpSpPr>
            <p:cNvPr id="23" name="Group 134"/>
            <p:cNvGrpSpPr>
              <a:grpSpLocks/>
            </p:cNvGrpSpPr>
            <p:nvPr/>
          </p:nvGrpSpPr>
          <p:grpSpPr bwMode="auto">
            <a:xfrm>
              <a:off x="3524" y="1840"/>
              <a:ext cx="347" cy="285"/>
              <a:chOff x="2886" y="1668"/>
              <a:chExt cx="347" cy="285"/>
            </a:xfrm>
          </p:grpSpPr>
          <p:sp>
            <p:nvSpPr>
              <p:cNvPr id="454791" name="Rectangle 135"/>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2" name="Oval 136"/>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3" name="Rectangle 137"/>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94" name="Line 138"/>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5" name="Line 139"/>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6" name="Line 140"/>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97" name="AutoShape 141"/>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4" name="Group 142"/>
            <p:cNvGrpSpPr>
              <a:grpSpLocks/>
            </p:cNvGrpSpPr>
            <p:nvPr/>
          </p:nvGrpSpPr>
          <p:grpSpPr bwMode="auto">
            <a:xfrm>
              <a:off x="3291" y="3148"/>
              <a:ext cx="347" cy="285"/>
              <a:chOff x="2886" y="1668"/>
              <a:chExt cx="347" cy="285"/>
            </a:xfrm>
          </p:grpSpPr>
          <p:sp>
            <p:nvSpPr>
              <p:cNvPr id="454799" name="Rectangle 143"/>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0" name="Oval 144"/>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1" name="Rectangle 145"/>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2" name="Line 146"/>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3" name="Line 147"/>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4" name="Line 148"/>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5" name="AutoShape 149"/>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5" name="Group 150"/>
            <p:cNvGrpSpPr>
              <a:grpSpLocks/>
            </p:cNvGrpSpPr>
            <p:nvPr/>
          </p:nvGrpSpPr>
          <p:grpSpPr bwMode="auto">
            <a:xfrm>
              <a:off x="2853" y="3010"/>
              <a:ext cx="347" cy="285"/>
              <a:chOff x="2886" y="1668"/>
              <a:chExt cx="347" cy="285"/>
            </a:xfrm>
          </p:grpSpPr>
          <p:sp>
            <p:nvSpPr>
              <p:cNvPr id="454807" name="Rectangle 151"/>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8" name="Oval 152"/>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9" name="Rectangle 153"/>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0" name="Line 154"/>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1" name="Line 155"/>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2" name="Line 156"/>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3" name="AutoShape 157"/>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26" name="Group 158"/>
            <p:cNvGrpSpPr>
              <a:grpSpLocks/>
            </p:cNvGrpSpPr>
            <p:nvPr/>
          </p:nvGrpSpPr>
          <p:grpSpPr bwMode="auto">
            <a:xfrm>
              <a:off x="2440" y="3131"/>
              <a:ext cx="347" cy="285"/>
              <a:chOff x="2886" y="1668"/>
              <a:chExt cx="347" cy="285"/>
            </a:xfrm>
          </p:grpSpPr>
          <p:sp>
            <p:nvSpPr>
              <p:cNvPr id="454815" name="Rectangle 159"/>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6" name="Oval 160"/>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7" name="Rectangle 161"/>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8" name="Line 162"/>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9" name="Line 163"/>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0" name="Line 164"/>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1" name="AutoShape 165"/>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454822" name="Rectangle 166"/>
          <p:cNvSpPr>
            <a:spLocks noGrp="1" noChangeArrowheads="1"/>
          </p:cNvSpPr>
          <p:nvPr>
            <p:ph type="title"/>
          </p:nvPr>
        </p:nvSpPr>
        <p:spPr>
          <a:xfrm>
            <a:off x="249238" y="0"/>
            <a:ext cx="8894762" cy="1143000"/>
          </a:xfrm>
        </p:spPr>
        <p:txBody>
          <a:bodyPr/>
          <a:lstStyle/>
          <a:p>
            <a:r>
              <a:rPr lang="de-DE" sz="3600" dirty="0" err="1"/>
              <a:t>Forwarding</a:t>
            </a:r>
            <a:r>
              <a:rPr lang="de-DE" sz="3600" dirty="0"/>
              <a:t> und Routing</a:t>
            </a:r>
          </a:p>
        </p:txBody>
      </p:sp>
      <p:sp>
        <p:nvSpPr>
          <p:cNvPr id="2" name="TextBox 1"/>
          <p:cNvSpPr txBox="1"/>
          <p:nvPr/>
        </p:nvSpPr>
        <p:spPr>
          <a:xfrm>
            <a:off x="175765" y="1238533"/>
            <a:ext cx="3441380" cy="4555093"/>
          </a:xfrm>
          <a:prstGeom prst="rect">
            <a:avLst/>
          </a:prstGeom>
          <a:noFill/>
        </p:spPr>
        <p:txBody>
          <a:bodyPr wrap="square" rtlCol="0">
            <a:spAutoFit/>
          </a:bodyPr>
          <a:lstStyle/>
          <a:p>
            <a:pPr marL="274320" lvl="0" indent="-274320">
              <a:spcBef>
                <a:spcPts val="600"/>
              </a:spcBef>
              <a:buClr>
                <a:srgbClr val="53548A"/>
              </a:buClr>
              <a:buSzPct val="76000"/>
              <a:buFont typeface="Wingdings 3"/>
              <a:buChar char=""/>
            </a:pPr>
            <a:r>
              <a:rPr lang="de-DE" sz="2800" dirty="0">
                <a:solidFill>
                  <a:prstClr val="black"/>
                </a:solidFill>
              </a:rPr>
              <a:t>Ein Router macht eine </a:t>
            </a:r>
            <a:r>
              <a:rPr lang="de-DE" sz="2800" u="sng" dirty="0">
                <a:solidFill>
                  <a:prstClr val="black"/>
                </a:solidFill>
              </a:rPr>
              <a:t>lokale</a:t>
            </a:r>
            <a:r>
              <a:rPr lang="de-DE" sz="2800" dirty="0">
                <a:solidFill>
                  <a:prstClr val="black"/>
                </a:solidFill>
              </a:rPr>
              <a:t> Entscheidung: Paket an einen Ausgang schicken</a:t>
            </a:r>
          </a:p>
          <a:p>
            <a:pPr marL="274320" lvl="0" indent="-274320">
              <a:spcBef>
                <a:spcPts val="600"/>
              </a:spcBef>
              <a:buClr>
                <a:srgbClr val="53548A"/>
              </a:buClr>
              <a:buSzPct val="76000"/>
              <a:buFont typeface="Wingdings 3"/>
              <a:buChar char=""/>
            </a:pPr>
            <a:r>
              <a:rPr lang="de-DE" sz="2800" dirty="0">
                <a:solidFill>
                  <a:prstClr val="black"/>
                </a:solidFill>
              </a:rPr>
              <a:t>Warum kommen die Pakete damit im Ziel an?</a:t>
            </a:r>
          </a:p>
          <a:p>
            <a:pPr marL="274320" lvl="0" indent="-274320">
              <a:spcBef>
                <a:spcPts val="600"/>
              </a:spcBef>
              <a:buClr>
                <a:srgbClr val="53548A"/>
              </a:buClr>
              <a:buSzPct val="76000"/>
              <a:buFont typeface="Wingdings 3"/>
              <a:buChar char=""/>
            </a:pPr>
            <a:r>
              <a:rPr lang="de-DE" sz="2800" dirty="0">
                <a:solidFill>
                  <a:prstClr val="black"/>
                </a:solidFill>
              </a:rPr>
              <a:t>D.h. woher kommt die „Weitsicht“?</a:t>
            </a:r>
            <a:endParaRPr lang="de-DE" sz="2400" dirty="0">
              <a:solidFill>
                <a:prstClr val="black"/>
              </a:solidFill>
            </a:endParaRPr>
          </a:p>
        </p:txBody>
      </p:sp>
      <p:sp>
        <p:nvSpPr>
          <p:cNvPr id="27" name="TextBox 26"/>
          <p:cNvSpPr txBox="1"/>
          <p:nvPr/>
        </p:nvSpPr>
        <p:spPr>
          <a:xfrm>
            <a:off x="6301983" y="351590"/>
            <a:ext cx="2638492" cy="3416320"/>
          </a:xfrm>
          <a:prstGeom prst="rect">
            <a:avLst/>
          </a:prstGeom>
          <a:noFill/>
        </p:spPr>
        <p:txBody>
          <a:bodyPr wrap="square" rtlCol="0">
            <a:spAutoFit/>
          </a:bodyPr>
          <a:lstStyle/>
          <a:p>
            <a:pPr lvl="0"/>
            <a:r>
              <a:rPr lang="de-DE" sz="2400" dirty="0">
                <a:solidFill>
                  <a:prstClr val="black"/>
                </a:solidFill>
              </a:rPr>
              <a:t>Antwort: </a:t>
            </a:r>
            <a:br>
              <a:rPr lang="de-DE" sz="2400" dirty="0">
                <a:solidFill>
                  <a:prstClr val="black"/>
                </a:solidFill>
              </a:rPr>
            </a:br>
            <a:r>
              <a:rPr lang="de-DE" sz="2400" dirty="0">
                <a:solidFill>
                  <a:prstClr val="black"/>
                </a:solidFill>
              </a:rPr>
              <a:t>Die (größeren) Router führen ab und zu einen </a:t>
            </a:r>
            <a:r>
              <a:rPr lang="de-DE" sz="2400" b="1" dirty="0">
                <a:solidFill>
                  <a:srgbClr val="FF0000"/>
                </a:solidFill>
              </a:rPr>
              <a:t>Routing-Algorithmus</a:t>
            </a:r>
            <a:r>
              <a:rPr lang="de-DE" sz="2400" dirty="0">
                <a:solidFill>
                  <a:prstClr val="black"/>
                </a:solidFill>
              </a:rPr>
              <a:t> aus, um die </a:t>
            </a:r>
            <a:r>
              <a:rPr lang="de-DE" sz="2400" dirty="0">
                <a:solidFill>
                  <a:srgbClr val="0070C0"/>
                </a:solidFill>
                <a:latin typeface="Arial" charset="0"/>
              </a:rPr>
              <a:t>Weiter-</a:t>
            </a:r>
            <a:r>
              <a:rPr lang="de-DE" sz="2400" dirty="0" err="1">
                <a:solidFill>
                  <a:srgbClr val="0070C0"/>
                </a:solidFill>
                <a:latin typeface="Arial" charset="0"/>
              </a:rPr>
              <a:t>leitungstabelle</a:t>
            </a:r>
            <a:r>
              <a:rPr lang="de-DE" sz="2400" b="1" dirty="0">
                <a:solidFill>
                  <a:srgbClr val="0070C0"/>
                </a:solidFill>
                <a:latin typeface="Arial" charset="0"/>
              </a:rPr>
              <a:t> </a:t>
            </a:r>
            <a:r>
              <a:rPr lang="de-DE" sz="2400" dirty="0">
                <a:solidFill>
                  <a:prstClr val="black"/>
                </a:solidFill>
              </a:rPr>
              <a:t>zu aktualisieren</a:t>
            </a:r>
            <a:endParaRPr lang="de-DE" dirty="0">
              <a:solidFill>
                <a:srgbClr val="424456"/>
              </a:solidFill>
            </a:endParaRPr>
          </a:p>
        </p:txBody>
      </p:sp>
      <p:grpSp>
        <p:nvGrpSpPr>
          <p:cNvPr id="28" name="Gruppieren 27"/>
          <p:cNvGrpSpPr/>
          <p:nvPr/>
        </p:nvGrpSpPr>
        <p:grpSpPr>
          <a:xfrm>
            <a:off x="3707904" y="1238533"/>
            <a:ext cx="2495654" cy="1258456"/>
            <a:chOff x="313372" y="5536766"/>
            <a:chExt cx="2495654" cy="1258456"/>
          </a:xfrm>
        </p:grpSpPr>
        <p:sp>
          <p:nvSpPr>
            <p:cNvPr id="170" name="Oval 6"/>
            <p:cNvSpPr>
              <a:spLocks noChangeArrowheads="1"/>
            </p:cNvSpPr>
            <p:nvPr/>
          </p:nvSpPr>
          <p:spPr bwMode="auto">
            <a:xfrm>
              <a:off x="313372" y="5536766"/>
              <a:ext cx="2495654" cy="1028710"/>
            </a:xfrm>
            <a:prstGeom prst="ellipse">
              <a:avLst/>
            </a:prstGeom>
            <a:solidFill>
              <a:srgbClr val="FFC000"/>
            </a:solidFill>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algn="ctr"/>
              <a:r>
                <a:rPr lang="de-DE" sz="2400" b="1" dirty="0">
                  <a:solidFill>
                    <a:srgbClr val="FF0000"/>
                  </a:solidFill>
                  <a:latin typeface="Arial" charset="0"/>
                </a:rPr>
                <a:t>Routing-</a:t>
              </a:r>
              <a:br>
                <a:rPr lang="de-DE" sz="2400" b="1" dirty="0">
                  <a:solidFill>
                    <a:srgbClr val="FF0000"/>
                  </a:solidFill>
                  <a:latin typeface="Arial" charset="0"/>
                </a:rPr>
              </a:br>
              <a:r>
                <a:rPr lang="de-DE" sz="2400" b="1" dirty="0">
                  <a:solidFill>
                    <a:srgbClr val="FF0000"/>
                  </a:solidFill>
                  <a:latin typeface="Arial" charset="0"/>
                </a:rPr>
                <a:t>Algorithmus</a:t>
              </a:r>
            </a:p>
          </p:txBody>
        </p:sp>
        <p:sp>
          <p:nvSpPr>
            <p:cNvPr id="171" name="AutoShape 118"/>
            <p:cNvSpPr>
              <a:spLocks noChangeArrowheads="1"/>
            </p:cNvSpPr>
            <p:nvPr/>
          </p:nvSpPr>
          <p:spPr bwMode="auto">
            <a:xfrm rot="5400000">
              <a:off x="1479101" y="6538841"/>
              <a:ext cx="239713" cy="273050"/>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Tree>
    <p:extLst>
      <p:ext uri="{BB962C8B-B14F-4D97-AF65-F5344CB8AC3E}">
        <p14:creationId xmlns:p14="http://schemas.microsoft.com/office/powerpoint/2010/main" val="95708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755576" y="1340768"/>
          <a:ext cx="7618942" cy="4114800"/>
        </p:xfrm>
        <a:graphic>
          <a:graphicData uri="http://schemas.openxmlformats.org/drawingml/2006/table">
            <a:tbl>
              <a:tblPr firstRow="1" bandRow="1">
                <a:tableStyleId>{21E4AEA4-8DFA-4A89-87EB-49C32662AFE0}</a:tableStyleId>
              </a:tblPr>
              <a:tblGrid>
                <a:gridCol w="5401360">
                  <a:extLst>
                    <a:ext uri="{9D8B030D-6E8A-4147-A177-3AD203B41FA5}">
                      <a16:colId xmlns:a16="http://schemas.microsoft.com/office/drawing/2014/main" val="20000"/>
                    </a:ext>
                  </a:extLst>
                </a:gridCol>
                <a:gridCol w="2217582">
                  <a:extLst>
                    <a:ext uri="{9D8B030D-6E8A-4147-A177-3AD203B41FA5}">
                      <a16:colId xmlns:a16="http://schemas.microsoft.com/office/drawing/2014/main" val="20001"/>
                    </a:ext>
                  </a:extLst>
                </a:gridCol>
              </a:tblGrid>
              <a:tr h="0">
                <a:tc>
                  <a:txBody>
                    <a:bodyPr/>
                    <a:lstStyle/>
                    <a:p>
                      <a:r>
                        <a:rPr lang="de-DE" sz="2400" dirty="0"/>
                        <a:t>Intervall der Zieladressen</a:t>
                      </a:r>
                    </a:p>
                  </a:txBody>
                  <a:tcPr/>
                </a:tc>
                <a:tc>
                  <a:txBody>
                    <a:bodyPr/>
                    <a:lstStyle/>
                    <a:p>
                      <a:pPr algn="ctr"/>
                      <a:r>
                        <a:rPr lang="de-DE" sz="2400" dirty="0"/>
                        <a:t>Interface (Ausgang)</a:t>
                      </a:r>
                    </a:p>
                  </a:txBody>
                  <a:tcPr/>
                </a:tc>
                <a:extLst>
                  <a:ext uri="{0D108BD9-81ED-4DB2-BD59-A6C34878D82A}">
                    <a16:rowId xmlns:a16="http://schemas.microsoft.com/office/drawing/2014/main" val="10000"/>
                  </a:ext>
                </a:extLst>
              </a:tr>
              <a:tr h="370840">
                <a:tc>
                  <a:txBody>
                    <a:bodyPr/>
                    <a:lstStyle/>
                    <a:p>
                      <a:pPr algn="just"/>
                      <a:r>
                        <a:rPr lang="en-US" dirty="0">
                          <a:latin typeface="Consolas" panose="020B0609020204030204" pitchFamily="49" charset="0"/>
                        </a:rPr>
                        <a:t>11001000 00010111 00010000 00000000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latin typeface="Consolas" panose="020B0609020204030204" pitchFamily="49" charset="0"/>
                        </a:rPr>
                        <a:t>11001000 00010111 00010111 11111111</a:t>
                      </a:r>
                      <a:endParaRPr lang="en-US" dirty="0">
                        <a:latin typeface="Consolas" panose="020B0609020204030204" pitchFamily="49" charset="0"/>
                        <a:cs typeface="Courier New" pitchFamily="49" charset="0"/>
                      </a:endParaRPr>
                    </a:p>
                  </a:txBody>
                  <a:tcPr/>
                </a:tc>
                <a:tc>
                  <a:txBody>
                    <a:bodyPr/>
                    <a:lstStyle/>
                    <a:p>
                      <a:pPr algn="ctr"/>
                      <a:r>
                        <a:rPr lang="de-DE" sz="2400" dirty="0">
                          <a:solidFill>
                            <a:srgbClr val="0070C0"/>
                          </a:solidFill>
                        </a:rPr>
                        <a:t>0</a:t>
                      </a:r>
                    </a:p>
                  </a:txBody>
                  <a:tcPr anchor="ctr"/>
                </a:tc>
                <a:extLst>
                  <a:ext uri="{0D108BD9-81ED-4DB2-BD59-A6C34878D82A}">
                    <a16:rowId xmlns:a16="http://schemas.microsoft.com/office/drawing/2014/main" val="10001"/>
                  </a:ext>
                </a:extLst>
              </a:tr>
              <a:tr h="370840">
                <a:tc>
                  <a:txBody>
                    <a:bodyPr/>
                    <a:lstStyle/>
                    <a:p>
                      <a:pPr algn="just"/>
                      <a:r>
                        <a:rPr lang="en-US" dirty="0">
                          <a:latin typeface="Consolas" panose="020B0609020204030204" pitchFamily="49" charset="0"/>
                        </a:rPr>
                        <a:t>11001000 00010111 00011000 00000000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latin typeface="Consolas" panose="020B0609020204030204" pitchFamily="49" charset="0"/>
                        </a:rPr>
                        <a:t>11001000 00010111 00011000 11111111 </a:t>
                      </a:r>
                      <a:endParaRPr lang="en-US" dirty="0">
                        <a:latin typeface="Consolas" panose="020B0609020204030204" pitchFamily="49" charset="0"/>
                        <a:cs typeface="Courier New" pitchFamily="49" charset="0"/>
                      </a:endParaRPr>
                    </a:p>
                  </a:txBody>
                  <a:tcPr/>
                </a:tc>
                <a:tc>
                  <a:txBody>
                    <a:bodyPr/>
                    <a:lstStyle/>
                    <a:p>
                      <a:pPr algn="ctr"/>
                      <a:r>
                        <a:rPr lang="de-DE" sz="2400" dirty="0"/>
                        <a:t>1</a:t>
                      </a:r>
                    </a:p>
                  </a:txBody>
                  <a:tcPr anchor="ctr"/>
                </a:tc>
                <a:extLst>
                  <a:ext uri="{0D108BD9-81ED-4DB2-BD59-A6C34878D82A}">
                    <a16:rowId xmlns:a16="http://schemas.microsoft.com/office/drawing/2014/main" val="10002"/>
                  </a:ext>
                </a:extLst>
              </a:tr>
              <a:tr h="370840">
                <a:tc>
                  <a:txBody>
                    <a:bodyPr/>
                    <a:lstStyle/>
                    <a:p>
                      <a:pPr algn="just"/>
                      <a:r>
                        <a:rPr lang="en-US" dirty="0">
                          <a:latin typeface="Consolas" panose="020B0609020204030204" pitchFamily="49" charset="0"/>
                        </a:rPr>
                        <a:t>11001000 00010111 00011001 00000000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latin typeface="Consolas" panose="020B0609020204030204" pitchFamily="49" charset="0"/>
                        </a:rPr>
                        <a:t>11001000 00010111 00011111 11111111 </a:t>
                      </a:r>
                      <a:endParaRPr lang="en-US" dirty="0">
                        <a:latin typeface="Consolas" panose="020B0609020204030204" pitchFamily="49" charset="0"/>
                        <a:cs typeface="Courier New" pitchFamily="49" charset="0"/>
                      </a:endParaRPr>
                    </a:p>
                  </a:txBody>
                  <a:tcPr/>
                </a:tc>
                <a:tc>
                  <a:txBody>
                    <a:bodyPr/>
                    <a:lstStyle/>
                    <a:p>
                      <a:pPr algn="ctr"/>
                      <a:r>
                        <a:rPr lang="de-DE" sz="2400" dirty="0">
                          <a:solidFill>
                            <a:srgbClr val="FF0000"/>
                          </a:solidFill>
                        </a:rPr>
                        <a:t>2</a:t>
                      </a:r>
                    </a:p>
                  </a:txBody>
                  <a:tcPr anchor="ctr"/>
                </a:tc>
                <a:extLst>
                  <a:ext uri="{0D108BD9-81ED-4DB2-BD59-A6C34878D82A}">
                    <a16:rowId xmlns:a16="http://schemas.microsoft.com/office/drawing/2014/main" val="10003"/>
                  </a:ext>
                </a:extLst>
              </a:tr>
              <a:tr h="370840">
                <a:tc>
                  <a:txBody>
                    <a:bodyPr/>
                    <a:lstStyle/>
                    <a:p>
                      <a:pPr algn="just"/>
                      <a:r>
                        <a:rPr lang="de-DE" dirty="0"/>
                        <a:t>Sonst</a:t>
                      </a:r>
                      <a:endParaRPr lang="en-US" dirty="0">
                        <a:latin typeface="Courier New" pitchFamily="49" charset="0"/>
                        <a:cs typeface="Courier New" pitchFamily="49" charset="0"/>
                      </a:endParaRPr>
                    </a:p>
                  </a:txBody>
                  <a:tcPr/>
                </a:tc>
                <a:tc>
                  <a:txBody>
                    <a:bodyPr/>
                    <a:lstStyle/>
                    <a:p>
                      <a:pPr algn="ctr"/>
                      <a:r>
                        <a:rPr lang="de-DE" sz="2400" dirty="0"/>
                        <a:t>3</a:t>
                      </a:r>
                    </a:p>
                  </a:txBody>
                  <a:tcPr anchor="ctr"/>
                </a:tc>
                <a:extLst>
                  <a:ext uri="{0D108BD9-81ED-4DB2-BD59-A6C34878D82A}">
                    <a16:rowId xmlns:a16="http://schemas.microsoft.com/office/drawing/2014/main" val="10004"/>
                  </a:ext>
                </a:extLst>
              </a:tr>
            </a:tbl>
          </a:graphicData>
        </a:graphic>
      </p:graphicFrame>
      <p:sp>
        <p:nvSpPr>
          <p:cNvPr id="448514" name="Rectangle 2"/>
          <p:cNvSpPr>
            <a:spLocks noGrp="1" noChangeArrowheads="1"/>
          </p:cNvSpPr>
          <p:nvPr>
            <p:ph type="title"/>
          </p:nvPr>
        </p:nvSpPr>
        <p:spPr/>
        <p:txBody>
          <a:bodyPr/>
          <a:lstStyle/>
          <a:p>
            <a:r>
              <a:rPr lang="de-DE" dirty="0"/>
              <a:t>Weiterleitungstabelle</a:t>
            </a:r>
          </a:p>
        </p:txBody>
      </p:sp>
      <p:sp>
        <p:nvSpPr>
          <p:cNvPr id="6" name="Slide Number Placeholder 5"/>
          <p:cNvSpPr>
            <a:spLocks noGrp="1"/>
          </p:cNvSpPr>
          <p:nvPr>
            <p:ph type="sldNum" sz="quarter" idx="12"/>
          </p:nvPr>
        </p:nvSpPr>
        <p:spPr/>
        <p:txBody>
          <a:bodyPr/>
          <a:lstStyle/>
          <a:p>
            <a:fld id="{50D21153-8179-48DC-924A-15B3CB6F1CBB}" type="slidenum">
              <a:rPr lang="de-DE" smtClean="0"/>
              <a:pPr/>
              <a:t>9</a:t>
            </a:fld>
            <a:endParaRPr lang="de-DE"/>
          </a:p>
        </p:txBody>
      </p:sp>
      <p:sp>
        <p:nvSpPr>
          <p:cNvPr id="2" name="Legende mit Linie 2 1"/>
          <p:cNvSpPr/>
          <p:nvPr/>
        </p:nvSpPr>
        <p:spPr>
          <a:xfrm>
            <a:off x="5867012" y="297664"/>
            <a:ext cx="3312368" cy="936104"/>
          </a:xfrm>
          <a:prstGeom prst="borderCallout2">
            <a:avLst>
              <a:gd name="adj1" fmla="val 98343"/>
              <a:gd name="adj2" fmla="val 20295"/>
              <a:gd name="adj3" fmla="val 226117"/>
              <a:gd name="adj4" fmla="val 3294"/>
              <a:gd name="adj5" fmla="val 254172"/>
              <a:gd name="adj6" fmla="val -18713"/>
            </a:avLst>
          </a:prstGeom>
          <a:solidFill>
            <a:schemeClr val="accent2">
              <a:lumMod val="20000"/>
              <a:lumOff val="80000"/>
            </a:schemeClr>
          </a:solidFill>
          <a:ln w="38100"/>
        </p:spPr>
        <p:style>
          <a:lnRef idx="1">
            <a:schemeClr val="accent4"/>
          </a:lnRef>
          <a:fillRef idx="2">
            <a:schemeClr val="accent4"/>
          </a:fillRef>
          <a:effectRef idx="1">
            <a:schemeClr val="accent4"/>
          </a:effectRef>
          <a:fontRef idx="minor">
            <a:schemeClr val="dk1"/>
          </a:fontRef>
        </p:style>
        <p:txBody>
          <a:bodyPr rtlCol="0" anchor="ctr"/>
          <a:lstStyle/>
          <a:p>
            <a:pPr algn="ctr"/>
            <a:r>
              <a:rPr lang="de-DE" sz="2000" dirty="0"/>
              <a:t>Leite diesen Bereich der IP-Adressen an Ausgang </a:t>
            </a:r>
            <a:r>
              <a:rPr lang="de-DE" sz="2000" dirty="0">
                <a:solidFill>
                  <a:srgbClr val="0070C0"/>
                </a:solidFill>
              </a:rPr>
              <a:t>0</a:t>
            </a:r>
          </a:p>
        </p:txBody>
      </p:sp>
      <p:sp>
        <p:nvSpPr>
          <p:cNvPr id="10" name="Legende mit Linie 2 9"/>
          <p:cNvSpPr/>
          <p:nvPr/>
        </p:nvSpPr>
        <p:spPr>
          <a:xfrm>
            <a:off x="5062150" y="5654017"/>
            <a:ext cx="3312368" cy="936104"/>
          </a:xfrm>
          <a:prstGeom prst="borderCallout2">
            <a:avLst>
              <a:gd name="adj1" fmla="val -79"/>
              <a:gd name="adj2" fmla="val 43718"/>
              <a:gd name="adj3" fmla="val -63967"/>
              <a:gd name="adj4" fmla="val 17933"/>
              <a:gd name="adj5" fmla="val -124714"/>
              <a:gd name="adj6" fmla="val 6593"/>
            </a:avLst>
          </a:prstGeom>
          <a:solidFill>
            <a:schemeClr val="accent2">
              <a:lumMod val="20000"/>
              <a:lumOff val="80000"/>
            </a:schemeClr>
          </a:solidFill>
          <a:ln w="38100"/>
        </p:spPr>
        <p:style>
          <a:lnRef idx="1">
            <a:schemeClr val="accent4"/>
          </a:lnRef>
          <a:fillRef idx="2">
            <a:schemeClr val="accent4"/>
          </a:fillRef>
          <a:effectRef idx="1">
            <a:schemeClr val="accent4"/>
          </a:effectRef>
          <a:fontRef idx="minor">
            <a:schemeClr val="dk1"/>
          </a:fontRef>
        </p:style>
        <p:txBody>
          <a:bodyPr rtlCol="0" anchor="ctr"/>
          <a:lstStyle/>
          <a:p>
            <a:pPr algn="ctr"/>
            <a:r>
              <a:rPr lang="de-DE" sz="2000" dirty="0"/>
              <a:t>Leite diesen Bereich der IP-Adressen an Ausgang </a:t>
            </a:r>
            <a:r>
              <a:rPr lang="de-DE" sz="2000" dirty="0">
                <a:solidFill>
                  <a:srgbClr val="FF0000"/>
                </a:solidFill>
              </a:rPr>
              <a:t>2</a:t>
            </a:r>
          </a:p>
        </p:txBody>
      </p:sp>
    </p:spTree>
    <p:extLst>
      <p:ext uri="{BB962C8B-B14F-4D97-AF65-F5344CB8AC3E}">
        <p14:creationId xmlns:p14="http://schemas.microsoft.com/office/powerpoint/2010/main" val="27131835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755576" y="1340768"/>
          <a:ext cx="7618942" cy="2346960"/>
        </p:xfrm>
        <a:graphic>
          <a:graphicData uri="http://schemas.openxmlformats.org/drawingml/2006/table">
            <a:tbl>
              <a:tblPr firstRow="1" bandRow="1">
                <a:tableStyleId>{21E4AEA4-8DFA-4A89-87EB-49C32662AFE0}</a:tableStyleId>
              </a:tblPr>
              <a:tblGrid>
                <a:gridCol w="5401360">
                  <a:extLst>
                    <a:ext uri="{9D8B030D-6E8A-4147-A177-3AD203B41FA5}">
                      <a16:colId xmlns:a16="http://schemas.microsoft.com/office/drawing/2014/main" val="20000"/>
                    </a:ext>
                  </a:extLst>
                </a:gridCol>
                <a:gridCol w="2217582">
                  <a:extLst>
                    <a:ext uri="{9D8B030D-6E8A-4147-A177-3AD203B41FA5}">
                      <a16:colId xmlns:a16="http://schemas.microsoft.com/office/drawing/2014/main" val="20001"/>
                    </a:ext>
                  </a:extLst>
                </a:gridCol>
              </a:tblGrid>
              <a:tr h="0">
                <a:tc>
                  <a:txBody>
                    <a:bodyPr/>
                    <a:lstStyle/>
                    <a:p>
                      <a:r>
                        <a:rPr lang="de-DE" sz="2400" dirty="0"/>
                        <a:t>Intervall der Zieladressen</a:t>
                      </a:r>
                    </a:p>
                  </a:txBody>
                  <a:tcPr/>
                </a:tc>
                <a:tc>
                  <a:txBody>
                    <a:bodyPr/>
                    <a:lstStyle/>
                    <a:p>
                      <a:pPr algn="ctr"/>
                      <a:r>
                        <a:rPr lang="de-DE" sz="2400" dirty="0"/>
                        <a:t>Ausgang</a:t>
                      </a:r>
                    </a:p>
                  </a:txBody>
                  <a:tcPr/>
                </a:tc>
                <a:extLst>
                  <a:ext uri="{0D108BD9-81ED-4DB2-BD59-A6C34878D82A}">
                    <a16:rowId xmlns:a16="http://schemas.microsoft.com/office/drawing/2014/main" val="10000"/>
                  </a:ext>
                </a:extLst>
              </a:tr>
              <a:tr h="370840">
                <a:tc>
                  <a:txBody>
                    <a:bodyPr/>
                    <a:lstStyle/>
                    <a:p>
                      <a:pPr algn="just"/>
                      <a:r>
                        <a:rPr lang="en-US" dirty="0">
                          <a:latin typeface="Consolas" panose="020B0609020204030204" pitchFamily="49" charset="0"/>
                        </a:rPr>
                        <a:t>11001000 00010111 00010000 00000000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latin typeface="Consolas" panose="020B0609020204030204" pitchFamily="49" charset="0"/>
                        </a:rPr>
                        <a:t>11001000 00010111 00010111 11111111</a:t>
                      </a:r>
                      <a:endParaRPr lang="en-US" dirty="0">
                        <a:latin typeface="Consolas" panose="020B0609020204030204" pitchFamily="49" charset="0"/>
                        <a:cs typeface="Courier New" pitchFamily="49" charset="0"/>
                      </a:endParaRPr>
                    </a:p>
                  </a:txBody>
                  <a:tcPr/>
                </a:tc>
                <a:tc>
                  <a:txBody>
                    <a:bodyPr/>
                    <a:lstStyle/>
                    <a:p>
                      <a:pPr algn="ctr"/>
                      <a:r>
                        <a:rPr lang="de-DE" sz="2400" dirty="0"/>
                        <a:t>0</a:t>
                      </a:r>
                    </a:p>
                  </a:txBody>
                  <a:tcPr anchor="ctr"/>
                </a:tc>
                <a:extLst>
                  <a:ext uri="{0D108BD9-81ED-4DB2-BD59-A6C34878D82A}">
                    <a16:rowId xmlns:a16="http://schemas.microsoft.com/office/drawing/2014/main" val="10001"/>
                  </a:ext>
                </a:extLst>
              </a:tr>
              <a:tr h="370840">
                <a:tc>
                  <a:txBody>
                    <a:bodyPr/>
                    <a:lstStyle/>
                    <a:p>
                      <a:pPr algn="just"/>
                      <a:r>
                        <a:rPr lang="en-US" dirty="0">
                          <a:solidFill>
                            <a:srgbClr val="7030A0"/>
                          </a:solidFill>
                          <a:latin typeface="Consolas" panose="020B0609020204030204" pitchFamily="49" charset="0"/>
                        </a:rPr>
                        <a:t>11001000 00010111 00011000 00000000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solidFill>
                            <a:srgbClr val="FF0000"/>
                          </a:solidFill>
                          <a:latin typeface="Consolas" panose="020B0609020204030204" pitchFamily="49" charset="0"/>
                        </a:rPr>
                        <a:t>11001000 00010111 00011000 11111111 </a:t>
                      </a:r>
                      <a:endParaRPr lang="en-US" dirty="0">
                        <a:solidFill>
                          <a:srgbClr val="FF0000"/>
                        </a:solidFill>
                        <a:latin typeface="Consolas" panose="020B0609020204030204" pitchFamily="49" charset="0"/>
                        <a:cs typeface="Courier New" pitchFamily="49" charset="0"/>
                      </a:endParaRPr>
                    </a:p>
                  </a:txBody>
                  <a:tcPr/>
                </a:tc>
                <a:tc>
                  <a:txBody>
                    <a:bodyPr/>
                    <a:lstStyle/>
                    <a:p>
                      <a:pPr algn="ctr"/>
                      <a:r>
                        <a:rPr lang="de-DE" sz="2400" dirty="0"/>
                        <a:t>1</a:t>
                      </a:r>
                    </a:p>
                  </a:txBody>
                  <a:tcPr anchor="ctr"/>
                </a:tc>
                <a:extLst>
                  <a:ext uri="{0D108BD9-81ED-4DB2-BD59-A6C34878D82A}">
                    <a16:rowId xmlns:a16="http://schemas.microsoft.com/office/drawing/2014/main" val="10002"/>
                  </a:ext>
                </a:extLst>
              </a:tr>
            </a:tbl>
          </a:graphicData>
        </a:graphic>
      </p:graphicFrame>
      <p:sp>
        <p:nvSpPr>
          <p:cNvPr id="448514" name="Rectangle 2"/>
          <p:cNvSpPr>
            <a:spLocks noGrp="1" noChangeArrowheads="1"/>
          </p:cNvSpPr>
          <p:nvPr>
            <p:ph type="title"/>
          </p:nvPr>
        </p:nvSpPr>
        <p:spPr/>
        <p:txBody>
          <a:bodyPr/>
          <a:lstStyle/>
          <a:p>
            <a:r>
              <a:rPr lang="de-DE" dirty="0"/>
              <a:t>Weiterleitungstabelle – Kompakt /1</a:t>
            </a:r>
          </a:p>
        </p:txBody>
      </p:sp>
      <p:sp>
        <p:nvSpPr>
          <p:cNvPr id="6" name="Slide Number Placeholder 5"/>
          <p:cNvSpPr>
            <a:spLocks noGrp="1"/>
          </p:cNvSpPr>
          <p:nvPr>
            <p:ph type="sldNum" sz="quarter" idx="12"/>
          </p:nvPr>
        </p:nvSpPr>
        <p:spPr/>
        <p:txBody>
          <a:bodyPr/>
          <a:lstStyle/>
          <a:p>
            <a:fld id="{50D21153-8179-48DC-924A-15B3CB6F1CBB}" type="slidenum">
              <a:rPr lang="de-DE" smtClean="0"/>
              <a:pPr/>
              <a:t>10</a:t>
            </a:fld>
            <a:endParaRPr lang="de-DE"/>
          </a:p>
        </p:txBody>
      </p:sp>
      <p:sp>
        <p:nvSpPr>
          <p:cNvPr id="9" name="Content Placeholder 8"/>
          <p:cNvSpPr>
            <a:spLocks noGrp="1"/>
          </p:cNvSpPr>
          <p:nvPr>
            <p:ph sz="quarter" idx="13"/>
          </p:nvPr>
        </p:nvSpPr>
        <p:spPr>
          <a:xfrm>
            <a:off x="399032" y="4347410"/>
            <a:ext cx="8493447" cy="1889902"/>
          </a:xfrm>
        </p:spPr>
        <p:txBody>
          <a:bodyPr>
            <a:noAutofit/>
          </a:bodyPr>
          <a:lstStyle/>
          <a:p>
            <a:r>
              <a:rPr lang="de-DE" dirty="0"/>
              <a:t>Wie können wir die linke Spalte </a:t>
            </a:r>
            <a:r>
              <a:rPr lang="de-DE" u="sng" dirty="0"/>
              <a:t>kompakt</a:t>
            </a:r>
            <a:r>
              <a:rPr lang="de-DE" dirty="0"/>
              <a:t> kodieren?</a:t>
            </a:r>
          </a:p>
          <a:p>
            <a:r>
              <a:rPr lang="de-DE" dirty="0"/>
              <a:t>Wie können wir z.B. bei B die (</a:t>
            </a:r>
            <a:r>
              <a:rPr lang="de-DE" dirty="0">
                <a:solidFill>
                  <a:srgbClr val="7030A0"/>
                </a:solidFill>
              </a:rPr>
              <a:t>Adressen-Untergrenze</a:t>
            </a:r>
            <a:r>
              <a:rPr lang="de-DE" dirty="0"/>
              <a:t>, </a:t>
            </a:r>
            <a:r>
              <a:rPr lang="de-DE" dirty="0">
                <a:solidFill>
                  <a:srgbClr val="FF0000"/>
                </a:solidFill>
              </a:rPr>
              <a:t>Adressen-Obergrenze</a:t>
            </a:r>
            <a:r>
              <a:rPr lang="de-DE" dirty="0"/>
              <a:t>) durch </a:t>
            </a:r>
            <a:r>
              <a:rPr lang="de-DE" u="sng" dirty="0"/>
              <a:t>einen</a:t>
            </a:r>
            <a:r>
              <a:rPr lang="de-DE" dirty="0"/>
              <a:t> Eintrag ersetzen?</a:t>
            </a:r>
          </a:p>
        </p:txBody>
      </p:sp>
      <p:sp>
        <p:nvSpPr>
          <p:cNvPr id="3" name="Abgerundetes Rechteck 2"/>
          <p:cNvSpPr/>
          <p:nvPr/>
        </p:nvSpPr>
        <p:spPr>
          <a:xfrm>
            <a:off x="114497" y="1934527"/>
            <a:ext cx="569072" cy="576064"/>
          </a:xfrm>
          <a:prstGeom prst="round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A</a:t>
            </a:r>
          </a:p>
        </p:txBody>
      </p:sp>
      <p:sp>
        <p:nvSpPr>
          <p:cNvPr id="8" name="Abgerundetes Rechteck 7"/>
          <p:cNvSpPr/>
          <p:nvPr/>
        </p:nvSpPr>
        <p:spPr>
          <a:xfrm>
            <a:off x="114497" y="2862064"/>
            <a:ext cx="569072" cy="576064"/>
          </a:xfrm>
          <a:prstGeom prst="round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B</a:t>
            </a:r>
          </a:p>
        </p:txBody>
      </p:sp>
    </p:spTree>
    <p:extLst>
      <p:ext uri="{BB962C8B-B14F-4D97-AF65-F5344CB8AC3E}">
        <p14:creationId xmlns:p14="http://schemas.microsoft.com/office/powerpoint/2010/main" val="2871670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nvGraphicFramePr>
        <p:xfrm>
          <a:off x="755576" y="1340768"/>
          <a:ext cx="7618942" cy="2346960"/>
        </p:xfrm>
        <a:graphic>
          <a:graphicData uri="http://schemas.openxmlformats.org/drawingml/2006/table">
            <a:tbl>
              <a:tblPr firstRow="1" bandRow="1">
                <a:tableStyleId>{21E4AEA4-8DFA-4A89-87EB-49C32662AFE0}</a:tableStyleId>
              </a:tblPr>
              <a:tblGrid>
                <a:gridCol w="5401360">
                  <a:extLst>
                    <a:ext uri="{9D8B030D-6E8A-4147-A177-3AD203B41FA5}">
                      <a16:colId xmlns:a16="http://schemas.microsoft.com/office/drawing/2014/main" val="20000"/>
                    </a:ext>
                  </a:extLst>
                </a:gridCol>
                <a:gridCol w="2217582">
                  <a:extLst>
                    <a:ext uri="{9D8B030D-6E8A-4147-A177-3AD203B41FA5}">
                      <a16:colId xmlns:a16="http://schemas.microsoft.com/office/drawing/2014/main" val="20001"/>
                    </a:ext>
                  </a:extLst>
                </a:gridCol>
              </a:tblGrid>
              <a:tr h="0">
                <a:tc>
                  <a:txBody>
                    <a:bodyPr/>
                    <a:lstStyle/>
                    <a:p>
                      <a:r>
                        <a:rPr lang="de-DE" sz="2400" dirty="0"/>
                        <a:t>Intervall der Zieladressen</a:t>
                      </a:r>
                    </a:p>
                  </a:txBody>
                  <a:tcPr/>
                </a:tc>
                <a:tc>
                  <a:txBody>
                    <a:bodyPr/>
                    <a:lstStyle/>
                    <a:p>
                      <a:pPr algn="ctr"/>
                      <a:r>
                        <a:rPr lang="de-DE" sz="2400" dirty="0"/>
                        <a:t>Ausgang</a:t>
                      </a:r>
                    </a:p>
                  </a:txBody>
                  <a:tcPr/>
                </a:tc>
                <a:extLst>
                  <a:ext uri="{0D108BD9-81ED-4DB2-BD59-A6C34878D82A}">
                    <a16:rowId xmlns:a16="http://schemas.microsoft.com/office/drawing/2014/main" val="10000"/>
                  </a:ext>
                </a:extLst>
              </a:tr>
              <a:tr h="370840">
                <a:tc>
                  <a:txBody>
                    <a:bodyPr/>
                    <a:lstStyle/>
                    <a:p>
                      <a:pPr algn="just"/>
                      <a:r>
                        <a:rPr lang="en-US" dirty="0">
                          <a:latin typeface="Consolas" panose="020B0609020204030204" pitchFamily="49" charset="0"/>
                        </a:rPr>
                        <a:t>11001000 00010111 00010000 00000000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dirty="0">
                          <a:latin typeface="Consolas" panose="020B0609020204030204" pitchFamily="49" charset="0"/>
                        </a:rPr>
                        <a:t>11001000 00010111 00010111 11111111</a:t>
                      </a:r>
                      <a:endParaRPr lang="en-US" dirty="0">
                        <a:latin typeface="Consolas" panose="020B0609020204030204" pitchFamily="49" charset="0"/>
                        <a:cs typeface="Courier New" pitchFamily="49" charset="0"/>
                      </a:endParaRPr>
                    </a:p>
                  </a:txBody>
                  <a:tcPr/>
                </a:tc>
                <a:tc>
                  <a:txBody>
                    <a:bodyPr/>
                    <a:lstStyle/>
                    <a:p>
                      <a:pPr algn="ctr"/>
                      <a:r>
                        <a:rPr lang="de-DE" sz="2400" dirty="0"/>
                        <a:t>0</a:t>
                      </a:r>
                    </a:p>
                  </a:txBody>
                  <a:tcPr anchor="ctr"/>
                </a:tc>
                <a:extLst>
                  <a:ext uri="{0D108BD9-81ED-4DB2-BD59-A6C34878D82A}">
                    <a16:rowId xmlns:a16="http://schemas.microsoft.com/office/drawing/2014/main" val="10001"/>
                  </a:ext>
                </a:extLst>
              </a:tr>
              <a:tr h="370840">
                <a:tc>
                  <a:txBody>
                    <a:bodyPr/>
                    <a:lstStyle/>
                    <a:p>
                      <a:pPr algn="just"/>
                      <a:r>
                        <a:rPr lang="en-US" b="1" dirty="0">
                          <a:solidFill>
                            <a:srgbClr val="FF0000"/>
                          </a:solidFill>
                          <a:latin typeface="Consolas" panose="020B0609020204030204" pitchFamily="49" charset="0"/>
                        </a:rPr>
                        <a:t>11001000 00010111 00011000 </a:t>
                      </a:r>
                      <a:r>
                        <a:rPr lang="en-US" dirty="0">
                          <a:solidFill>
                            <a:srgbClr val="0070C0"/>
                          </a:solidFill>
                          <a:latin typeface="Consolas" panose="020B0609020204030204" pitchFamily="49" charset="0"/>
                        </a:rPr>
                        <a:t>00000000</a:t>
                      </a:r>
                    </a:p>
                    <a:p>
                      <a:pPr algn="just"/>
                      <a:r>
                        <a:rPr lang="en-US" sz="2000" dirty="0" err="1">
                          <a:latin typeface="Consolas" panose="020B0609020204030204" pitchFamily="49" charset="0"/>
                        </a:rPr>
                        <a:t>bis</a:t>
                      </a:r>
                      <a:endParaRPr lang="en-US" sz="2000" dirty="0">
                        <a:latin typeface="Consolas" panose="020B0609020204030204" pitchFamily="49" charset="0"/>
                      </a:endParaRPr>
                    </a:p>
                    <a:p>
                      <a:pPr algn="just"/>
                      <a:r>
                        <a:rPr lang="en-US" b="1" dirty="0">
                          <a:solidFill>
                            <a:srgbClr val="FF0000"/>
                          </a:solidFill>
                          <a:latin typeface="Consolas" panose="020B0609020204030204" pitchFamily="49" charset="0"/>
                        </a:rPr>
                        <a:t>11001000 00010111 00011000 </a:t>
                      </a:r>
                      <a:r>
                        <a:rPr lang="en-US" dirty="0">
                          <a:solidFill>
                            <a:srgbClr val="0070C0"/>
                          </a:solidFill>
                          <a:latin typeface="Consolas" panose="020B0609020204030204" pitchFamily="49" charset="0"/>
                        </a:rPr>
                        <a:t>11111111 </a:t>
                      </a:r>
                      <a:endParaRPr lang="en-US" dirty="0">
                        <a:solidFill>
                          <a:srgbClr val="0070C0"/>
                        </a:solidFill>
                        <a:latin typeface="Consolas" panose="020B0609020204030204" pitchFamily="49" charset="0"/>
                        <a:cs typeface="Courier New" pitchFamily="49" charset="0"/>
                      </a:endParaRPr>
                    </a:p>
                  </a:txBody>
                  <a:tcPr/>
                </a:tc>
                <a:tc>
                  <a:txBody>
                    <a:bodyPr/>
                    <a:lstStyle/>
                    <a:p>
                      <a:pPr algn="ctr"/>
                      <a:r>
                        <a:rPr lang="de-DE" sz="2400" dirty="0"/>
                        <a:t>1</a:t>
                      </a:r>
                    </a:p>
                  </a:txBody>
                  <a:tcPr anchor="ctr"/>
                </a:tc>
                <a:extLst>
                  <a:ext uri="{0D108BD9-81ED-4DB2-BD59-A6C34878D82A}">
                    <a16:rowId xmlns:a16="http://schemas.microsoft.com/office/drawing/2014/main" val="10002"/>
                  </a:ext>
                </a:extLst>
              </a:tr>
            </a:tbl>
          </a:graphicData>
        </a:graphic>
      </p:graphicFrame>
      <p:sp>
        <p:nvSpPr>
          <p:cNvPr id="448514" name="Rectangle 2"/>
          <p:cNvSpPr>
            <a:spLocks noGrp="1" noChangeArrowheads="1"/>
          </p:cNvSpPr>
          <p:nvPr>
            <p:ph type="title"/>
          </p:nvPr>
        </p:nvSpPr>
        <p:spPr/>
        <p:txBody>
          <a:bodyPr/>
          <a:lstStyle/>
          <a:p>
            <a:r>
              <a:rPr lang="de-DE" dirty="0"/>
              <a:t>Weiterleitungstabelle – Kompakt /2</a:t>
            </a:r>
          </a:p>
        </p:txBody>
      </p:sp>
      <p:sp>
        <p:nvSpPr>
          <p:cNvPr id="6" name="Slide Number Placeholder 5"/>
          <p:cNvSpPr>
            <a:spLocks noGrp="1"/>
          </p:cNvSpPr>
          <p:nvPr>
            <p:ph type="sldNum" sz="quarter" idx="12"/>
          </p:nvPr>
        </p:nvSpPr>
        <p:spPr/>
        <p:txBody>
          <a:bodyPr/>
          <a:lstStyle/>
          <a:p>
            <a:fld id="{50D21153-8179-48DC-924A-15B3CB6F1CBB}" type="slidenum">
              <a:rPr lang="de-DE" smtClean="0"/>
              <a:pPr/>
              <a:t>11</a:t>
            </a:fld>
            <a:endParaRPr lang="de-DE"/>
          </a:p>
        </p:txBody>
      </p:sp>
      <p:sp>
        <p:nvSpPr>
          <p:cNvPr id="9" name="Content Placeholder 8"/>
          <p:cNvSpPr>
            <a:spLocks noGrp="1"/>
          </p:cNvSpPr>
          <p:nvPr>
            <p:ph sz="quarter" idx="13"/>
          </p:nvPr>
        </p:nvSpPr>
        <p:spPr>
          <a:xfrm>
            <a:off x="399032" y="3933056"/>
            <a:ext cx="8744968" cy="2808312"/>
          </a:xfrm>
        </p:spPr>
        <p:txBody>
          <a:bodyPr>
            <a:noAutofit/>
          </a:bodyPr>
          <a:lstStyle/>
          <a:p>
            <a:r>
              <a:rPr lang="de-DE" dirty="0"/>
              <a:t>Wie kann man mit nur </a:t>
            </a:r>
            <a:r>
              <a:rPr lang="de-DE" u="sng" dirty="0"/>
              <a:t>einem</a:t>
            </a:r>
            <a:r>
              <a:rPr lang="de-DE" dirty="0"/>
              <a:t> Eintrag auskommen?</a:t>
            </a:r>
          </a:p>
          <a:p>
            <a:r>
              <a:rPr lang="de-DE" dirty="0"/>
              <a:t>Bei B: die „blauen“ Bits sind für Weiterleitung irrelevant </a:t>
            </a:r>
          </a:p>
          <a:p>
            <a:r>
              <a:rPr lang="de-DE" dirty="0"/>
              <a:t>=&gt; Behalte für B nur </a:t>
            </a:r>
            <a:r>
              <a:rPr lang="de-DE" u="sng" dirty="0"/>
              <a:t>einen</a:t>
            </a:r>
            <a:r>
              <a:rPr lang="de-DE" dirty="0"/>
              <a:t> Eintrag in der Form:</a:t>
            </a:r>
          </a:p>
          <a:p>
            <a:pPr lvl="1"/>
            <a:r>
              <a:rPr lang="en-US" b="1" dirty="0">
                <a:solidFill>
                  <a:srgbClr val="FF0000"/>
                </a:solidFill>
                <a:latin typeface="Consolas" panose="020B0609020204030204" pitchFamily="49" charset="0"/>
              </a:rPr>
              <a:t>11001000 00010111 00011000 </a:t>
            </a:r>
            <a:r>
              <a:rPr lang="en-US" dirty="0">
                <a:solidFill>
                  <a:srgbClr val="0070C0"/>
                </a:solidFill>
                <a:latin typeface="Consolas" panose="020B0609020204030204" pitchFamily="49" charset="0"/>
              </a:rPr>
              <a:t>********</a:t>
            </a:r>
          </a:p>
        </p:txBody>
      </p:sp>
      <p:sp>
        <p:nvSpPr>
          <p:cNvPr id="3" name="Abgerundetes Rechteck 2"/>
          <p:cNvSpPr/>
          <p:nvPr/>
        </p:nvSpPr>
        <p:spPr>
          <a:xfrm>
            <a:off x="114497" y="1934527"/>
            <a:ext cx="569072" cy="576064"/>
          </a:xfrm>
          <a:prstGeom prst="round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A</a:t>
            </a:r>
          </a:p>
        </p:txBody>
      </p:sp>
      <p:sp>
        <p:nvSpPr>
          <p:cNvPr id="8" name="Abgerundetes Rechteck 7"/>
          <p:cNvSpPr/>
          <p:nvPr/>
        </p:nvSpPr>
        <p:spPr>
          <a:xfrm>
            <a:off x="114497" y="2862064"/>
            <a:ext cx="569072" cy="576064"/>
          </a:xfrm>
          <a:prstGeom prst="round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B</a:t>
            </a:r>
          </a:p>
        </p:txBody>
      </p:sp>
      <p:sp>
        <p:nvSpPr>
          <p:cNvPr id="10" name="Rectangle 1">
            <a:extLst>
              <a:ext uri="{FF2B5EF4-FFF2-40B4-BE49-F238E27FC236}">
                <a16:creationId xmlns:a16="http://schemas.microsoft.com/office/drawing/2014/main" id="{B217C724-6DF1-400B-8685-335375C5A7CC}"/>
              </a:ext>
            </a:extLst>
          </p:cNvPr>
          <p:cNvSpPr/>
          <p:nvPr/>
        </p:nvSpPr>
        <p:spPr>
          <a:xfrm>
            <a:off x="6392926" y="170061"/>
            <a:ext cx="2751074" cy="461665"/>
          </a:xfrm>
          <a:prstGeom prst="rect">
            <a:avLst/>
          </a:prstGeom>
        </p:spPr>
        <p:txBody>
          <a:bodyPr wrap="none">
            <a:spAutoFit/>
          </a:bodyPr>
          <a:lstStyle/>
          <a:p>
            <a:r>
              <a:rPr lang="en-US" sz="2400" dirty="0">
                <a:highlight>
                  <a:srgbClr val="00FF00"/>
                </a:highlight>
              </a:rPr>
              <a:t>https://bit.ly/ibn_hd</a:t>
            </a:r>
            <a:endParaRPr lang="en-US" sz="2400" dirty="0"/>
          </a:p>
        </p:txBody>
      </p:sp>
    </p:spTree>
    <p:extLst>
      <p:ext uri="{BB962C8B-B14F-4D97-AF65-F5344CB8AC3E}">
        <p14:creationId xmlns:p14="http://schemas.microsoft.com/office/powerpoint/2010/main" val="3281463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fade">
                                      <p:cBhvr>
                                        <p:cTn id="17" dur="500"/>
                                        <p:tgtEl>
                                          <p:spTgt spid="9">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fade">
                                      <p:cBhvr>
                                        <p:cTn id="20"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r>
              <a:rPr lang="de-DE" dirty="0"/>
              <a:t>Weiterleitungstabelle – Kompakt/3: Präfixe</a:t>
            </a:r>
          </a:p>
        </p:txBody>
      </p:sp>
      <p:sp>
        <p:nvSpPr>
          <p:cNvPr id="12" name="Slide Number Placeholder 5"/>
          <p:cNvSpPr>
            <a:spLocks noGrp="1"/>
          </p:cNvSpPr>
          <p:nvPr>
            <p:ph type="sldNum" sz="quarter" idx="12"/>
          </p:nvPr>
        </p:nvSpPr>
        <p:spPr/>
        <p:txBody>
          <a:bodyPr/>
          <a:lstStyle/>
          <a:p>
            <a:fld id="{13A0C86C-89D7-4356-B940-D47C37348220}" type="slidenum">
              <a:rPr lang="en-US" smtClean="0"/>
              <a:pPr/>
              <a:t>12</a:t>
            </a:fld>
            <a:endParaRPr lang="en-US" dirty="0"/>
          </a:p>
        </p:txBody>
      </p:sp>
      <p:sp>
        <p:nvSpPr>
          <p:cNvPr id="3" name="Content Placeholder 2"/>
          <p:cNvSpPr>
            <a:spLocks noGrp="1"/>
          </p:cNvSpPr>
          <p:nvPr>
            <p:ph sz="quarter" idx="1"/>
          </p:nvPr>
        </p:nvSpPr>
        <p:spPr>
          <a:xfrm>
            <a:off x="457200" y="1219200"/>
            <a:ext cx="8229600" cy="1777752"/>
          </a:xfrm>
        </p:spPr>
        <p:txBody>
          <a:bodyPr>
            <a:normAutofit/>
          </a:bodyPr>
          <a:lstStyle/>
          <a:p>
            <a:r>
              <a:rPr lang="de-DE" dirty="0"/>
              <a:t>Wir kodieren also Adress-Intervalle durch </a:t>
            </a:r>
            <a:r>
              <a:rPr lang="de-DE" b="1" dirty="0">
                <a:solidFill>
                  <a:srgbClr val="FF0000"/>
                </a:solidFill>
              </a:rPr>
              <a:t>Präfixe </a:t>
            </a:r>
          </a:p>
          <a:p>
            <a:r>
              <a:rPr lang="de-DE" b="1" dirty="0">
                <a:solidFill>
                  <a:srgbClr val="FF0000"/>
                </a:solidFill>
              </a:rPr>
              <a:t>Präfix </a:t>
            </a:r>
            <a:r>
              <a:rPr lang="de-DE" dirty="0"/>
              <a:t>= </a:t>
            </a:r>
            <a:r>
              <a:rPr lang="de-DE" dirty="0">
                <a:solidFill>
                  <a:srgbClr val="0070C0"/>
                </a:solidFill>
              </a:rPr>
              <a:t>k obere Stellen einer IP-Adresse, die in der unteren und oberen Adr.-Grenzen übereinstimmen</a:t>
            </a:r>
          </a:p>
        </p:txBody>
      </p:sp>
      <p:graphicFrame>
        <p:nvGraphicFramePr>
          <p:cNvPr id="16" name="Table 15"/>
          <p:cNvGraphicFramePr>
            <a:graphicFrameLocks noGrp="1"/>
          </p:cNvGraphicFramePr>
          <p:nvPr/>
        </p:nvGraphicFramePr>
        <p:xfrm>
          <a:off x="611560" y="3144376"/>
          <a:ext cx="8362722" cy="3017520"/>
        </p:xfrm>
        <a:graphic>
          <a:graphicData uri="http://schemas.openxmlformats.org/drawingml/2006/table">
            <a:tbl>
              <a:tblPr firstRow="1" bandRow="1">
                <a:tableStyleId>{21E4AEA4-8DFA-4A89-87EB-49C32662AFE0}</a:tableStyleId>
              </a:tblPr>
              <a:tblGrid>
                <a:gridCol w="4249908">
                  <a:extLst>
                    <a:ext uri="{9D8B030D-6E8A-4147-A177-3AD203B41FA5}">
                      <a16:colId xmlns:a16="http://schemas.microsoft.com/office/drawing/2014/main" val="20000"/>
                    </a:ext>
                  </a:extLst>
                </a:gridCol>
                <a:gridCol w="4112814">
                  <a:extLst>
                    <a:ext uri="{9D8B030D-6E8A-4147-A177-3AD203B41FA5}">
                      <a16:colId xmlns:a16="http://schemas.microsoft.com/office/drawing/2014/main" val="20001"/>
                    </a:ext>
                  </a:extLst>
                </a:gridCol>
              </a:tblGrid>
              <a:tr h="0">
                <a:tc>
                  <a:txBody>
                    <a:bodyPr/>
                    <a:lstStyle/>
                    <a:p>
                      <a:r>
                        <a:rPr lang="de-DE" sz="2400" dirty="0"/>
                        <a:t>Bereich der Zieladressen</a:t>
                      </a:r>
                    </a:p>
                  </a:txBody>
                  <a:tcPr/>
                </a:tc>
                <a:tc>
                  <a:txBody>
                    <a:bodyPr/>
                    <a:lstStyle/>
                    <a:p>
                      <a:pPr algn="ctr"/>
                      <a:r>
                        <a:rPr lang="de-DE" sz="2400" dirty="0"/>
                        <a:t>Präfix?</a:t>
                      </a:r>
                    </a:p>
                  </a:txBody>
                  <a:tcPr/>
                </a:tc>
                <a:extLst>
                  <a:ext uri="{0D108BD9-81ED-4DB2-BD59-A6C34878D82A}">
                    <a16:rowId xmlns:a16="http://schemas.microsoft.com/office/drawing/2014/main" val="10000"/>
                  </a:ext>
                </a:extLst>
              </a:tr>
              <a:tr h="370840">
                <a:tc>
                  <a:txBody>
                    <a:bodyPr/>
                    <a:lstStyle/>
                    <a:p>
                      <a:pPr algn="just"/>
                      <a:r>
                        <a:rPr lang="en-US" sz="1600" dirty="0">
                          <a:solidFill>
                            <a:srgbClr val="FF0000"/>
                          </a:solidFill>
                          <a:latin typeface="Consolas" panose="020B0609020204030204" pitchFamily="49" charset="0"/>
                        </a:rPr>
                        <a:t>11001000 00010111 00010</a:t>
                      </a:r>
                      <a:r>
                        <a:rPr lang="en-US" sz="1600" dirty="0">
                          <a:latin typeface="Consolas" panose="020B0609020204030204" pitchFamily="49" charset="0"/>
                        </a:rPr>
                        <a:t>000 00000000</a:t>
                      </a:r>
                    </a:p>
                    <a:p>
                      <a:pPr algn="just"/>
                      <a:r>
                        <a:rPr lang="en-US" sz="1800" dirty="0" err="1">
                          <a:latin typeface="Consolas" panose="020B0609020204030204" pitchFamily="49" charset="0"/>
                        </a:rPr>
                        <a:t>bis</a:t>
                      </a:r>
                      <a:endParaRPr lang="en-US" sz="1800" dirty="0">
                        <a:latin typeface="Consolas" panose="020B0609020204030204" pitchFamily="49" charset="0"/>
                      </a:endParaRPr>
                    </a:p>
                    <a:p>
                      <a:pPr algn="just"/>
                      <a:r>
                        <a:rPr lang="en-US" sz="1600" dirty="0">
                          <a:solidFill>
                            <a:srgbClr val="FF0000"/>
                          </a:solidFill>
                          <a:latin typeface="Consolas" panose="020B0609020204030204" pitchFamily="49" charset="0"/>
                        </a:rPr>
                        <a:t>11001000 00010111 00010</a:t>
                      </a:r>
                      <a:r>
                        <a:rPr lang="en-US" sz="1600" dirty="0">
                          <a:latin typeface="Consolas" panose="020B0609020204030204" pitchFamily="49" charset="0"/>
                        </a:rPr>
                        <a:t>111 11111111</a:t>
                      </a:r>
                      <a:endParaRPr lang="en-US" sz="1600" dirty="0">
                        <a:latin typeface="Consolas" panose="020B0609020204030204" pitchFamily="49" charset="0"/>
                        <a:cs typeface="Courier New" pitchFamily="49" charset="0"/>
                      </a:endParaRPr>
                    </a:p>
                  </a:txBody>
                  <a:tcPr/>
                </a:tc>
                <a:tc>
                  <a:txBody>
                    <a:bodyPr/>
                    <a:lstStyle/>
                    <a:p>
                      <a:pPr algn="ctr"/>
                      <a:endParaRPr lang="de-DE" sz="2400" dirty="0"/>
                    </a:p>
                  </a:txBody>
                  <a:tcPr anchor="ctr"/>
                </a:tc>
                <a:extLst>
                  <a:ext uri="{0D108BD9-81ED-4DB2-BD59-A6C34878D82A}">
                    <a16:rowId xmlns:a16="http://schemas.microsoft.com/office/drawing/2014/main" val="10001"/>
                  </a:ext>
                </a:extLst>
              </a:tr>
              <a:tr h="370840">
                <a:tc>
                  <a:txBody>
                    <a:bodyPr/>
                    <a:lstStyle/>
                    <a:p>
                      <a:pPr algn="just"/>
                      <a:r>
                        <a:rPr lang="en-US" sz="1600" dirty="0">
                          <a:solidFill>
                            <a:srgbClr val="FF0000"/>
                          </a:solidFill>
                          <a:latin typeface="Consolas" panose="020B0609020204030204" pitchFamily="49" charset="0"/>
                        </a:rPr>
                        <a:t>11001000 00010111 00011000 </a:t>
                      </a:r>
                      <a:r>
                        <a:rPr lang="en-US" sz="1600" dirty="0">
                          <a:latin typeface="Consolas" panose="020B0609020204030204" pitchFamily="49" charset="0"/>
                        </a:rPr>
                        <a:t>00000000</a:t>
                      </a:r>
                    </a:p>
                    <a:p>
                      <a:pPr algn="just"/>
                      <a:r>
                        <a:rPr lang="en-US" sz="1800" dirty="0" err="1">
                          <a:latin typeface="Consolas" panose="020B0609020204030204" pitchFamily="49" charset="0"/>
                        </a:rPr>
                        <a:t>bis</a:t>
                      </a:r>
                      <a:endParaRPr lang="en-US" sz="1800" dirty="0">
                        <a:latin typeface="Consolas" panose="020B0609020204030204" pitchFamily="49" charset="0"/>
                      </a:endParaRPr>
                    </a:p>
                    <a:p>
                      <a:pPr algn="just"/>
                      <a:r>
                        <a:rPr lang="en-US" sz="1600" dirty="0">
                          <a:solidFill>
                            <a:srgbClr val="FF0000"/>
                          </a:solidFill>
                          <a:latin typeface="Consolas" panose="020B0609020204030204" pitchFamily="49" charset="0"/>
                        </a:rPr>
                        <a:t>11001000 00010111 00011000 </a:t>
                      </a:r>
                      <a:r>
                        <a:rPr lang="en-US" sz="1600" dirty="0">
                          <a:latin typeface="Consolas" panose="020B0609020204030204" pitchFamily="49" charset="0"/>
                        </a:rPr>
                        <a:t>11111111 </a:t>
                      </a:r>
                      <a:endParaRPr lang="en-US" sz="1600" dirty="0">
                        <a:latin typeface="Consolas" panose="020B0609020204030204" pitchFamily="49" charset="0"/>
                        <a:cs typeface="Courier New" pitchFamily="49" charset="0"/>
                      </a:endParaRPr>
                    </a:p>
                  </a:txBody>
                  <a:tcPr/>
                </a:tc>
                <a:tc>
                  <a:txBody>
                    <a:bodyPr/>
                    <a:lstStyle/>
                    <a:p>
                      <a:pPr algn="ctr"/>
                      <a:endParaRPr lang="de-DE" sz="2400" dirty="0"/>
                    </a:p>
                  </a:txBody>
                  <a:tcPr anchor="ctr"/>
                </a:tc>
                <a:extLst>
                  <a:ext uri="{0D108BD9-81ED-4DB2-BD59-A6C34878D82A}">
                    <a16:rowId xmlns:a16="http://schemas.microsoft.com/office/drawing/2014/main" val="10002"/>
                  </a:ext>
                </a:extLst>
              </a:tr>
              <a:tr h="370840">
                <a:tc>
                  <a:txBody>
                    <a:bodyPr/>
                    <a:lstStyle/>
                    <a:p>
                      <a:pPr algn="just"/>
                      <a:r>
                        <a:rPr lang="en-US" sz="1600" dirty="0">
                          <a:latin typeface="Consolas" panose="020B0609020204030204" pitchFamily="49" charset="0"/>
                        </a:rPr>
                        <a:t>11001000 00010111 00011001 00000000</a:t>
                      </a:r>
                    </a:p>
                    <a:p>
                      <a:pPr algn="just"/>
                      <a:r>
                        <a:rPr lang="en-US" sz="1800" dirty="0" err="1">
                          <a:latin typeface="Consolas" panose="020B0609020204030204" pitchFamily="49" charset="0"/>
                        </a:rPr>
                        <a:t>bis</a:t>
                      </a:r>
                      <a:endParaRPr lang="en-US" sz="1800" dirty="0">
                        <a:latin typeface="Consolas" panose="020B0609020204030204" pitchFamily="49" charset="0"/>
                      </a:endParaRPr>
                    </a:p>
                    <a:p>
                      <a:pPr algn="just"/>
                      <a:r>
                        <a:rPr lang="en-US" sz="1600" dirty="0">
                          <a:latin typeface="Consolas" panose="020B0609020204030204" pitchFamily="49" charset="0"/>
                        </a:rPr>
                        <a:t>11001000 00010111 00011111 11111111 </a:t>
                      </a:r>
                      <a:endParaRPr lang="en-US" sz="1600" dirty="0">
                        <a:latin typeface="Consolas" panose="020B0609020204030204" pitchFamily="49" charset="0"/>
                        <a:cs typeface="Courier New" pitchFamily="49" charset="0"/>
                      </a:endParaRPr>
                    </a:p>
                  </a:txBody>
                  <a:tcPr/>
                </a:tc>
                <a:tc>
                  <a:txBody>
                    <a:bodyPr/>
                    <a:lstStyle/>
                    <a:p>
                      <a:pPr algn="ctr"/>
                      <a:endParaRPr lang="de-DE" sz="2400" dirty="0"/>
                    </a:p>
                  </a:txBody>
                  <a:tcPr anchor="ctr"/>
                </a:tc>
                <a:extLst>
                  <a:ext uri="{0D108BD9-81ED-4DB2-BD59-A6C34878D82A}">
                    <a16:rowId xmlns:a16="http://schemas.microsoft.com/office/drawing/2014/main" val="10003"/>
                  </a:ext>
                </a:extLst>
              </a:tr>
            </a:tbl>
          </a:graphicData>
        </a:graphic>
      </p:graphicFrame>
      <p:sp>
        <p:nvSpPr>
          <p:cNvPr id="5" name="TextBox 4"/>
          <p:cNvSpPr txBox="1"/>
          <p:nvPr/>
        </p:nvSpPr>
        <p:spPr>
          <a:xfrm>
            <a:off x="5004048" y="3789040"/>
            <a:ext cx="3816424" cy="400110"/>
          </a:xfrm>
          <a:prstGeom prst="rect">
            <a:avLst/>
          </a:prstGeom>
          <a:noFill/>
        </p:spPr>
        <p:txBody>
          <a:bodyPr wrap="square" rtlCol="0">
            <a:spAutoFit/>
          </a:bodyPr>
          <a:lstStyle/>
          <a:p>
            <a:r>
              <a:rPr lang="en-US" sz="2000" b="1" dirty="0">
                <a:latin typeface="Consolas" panose="020B0609020204030204" pitchFamily="49" charset="0"/>
                <a:cs typeface="Courier New" pitchFamily="49" charset="0"/>
              </a:rPr>
              <a:t>11001000 00010111 00010</a:t>
            </a:r>
            <a:endParaRPr lang="de-DE" sz="2000" b="1" dirty="0">
              <a:latin typeface="Consolas" panose="020B0609020204030204" pitchFamily="49" charset="0"/>
            </a:endParaRPr>
          </a:p>
        </p:txBody>
      </p:sp>
      <p:sp>
        <p:nvSpPr>
          <p:cNvPr id="18" name="TextBox 17"/>
          <p:cNvSpPr txBox="1"/>
          <p:nvPr/>
        </p:nvSpPr>
        <p:spPr>
          <a:xfrm>
            <a:off x="5004048" y="4653136"/>
            <a:ext cx="3816424" cy="400110"/>
          </a:xfrm>
          <a:prstGeom prst="rect">
            <a:avLst/>
          </a:prstGeom>
          <a:noFill/>
        </p:spPr>
        <p:txBody>
          <a:bodyPr wrap="square" rtlCol="0">
            <a:spAutoFit/>
          </a:bodyPr>
          <a:lstStyle/>
          <a:p>
            <a:r>
              <a:rPr lang="en-US" sz="2000" b="1" dirty="0">
                <a:latin typeface="Consolas" panose="020B0609020204030204" pitchFamily="49" charset="0"/>
                <a:cs typeface="Courier New" pitchFamily="49" charset="0"/>
              </a:rPr>
              <a:t>11001000 00010111 00011000</a:t>
            </a:r>
            <a:endParaRPr lang="de-DE" sz="2000" b="1" dirty="0">
              <a:latin typeface="Consolas" panose="020B0609020204030204" pitchFamily="49" charset="0"/>
            </a:endParaRPr>
          </a:p>
        </p:txBody>
      </p:sp>
      <p:sp>
        <p:nvSpPr>
          <p:cNvPr id="10" name="TextBox 17"/>
          <p:cNvSpPr txBox="1"/>
          <p:nvPr/>
        </p:nvSpPr>
        <p:spPr>
          <a:xfrm>
            <a:off x="5004048" y="5517232"/>
            <a:ext cx="3816424" cy="400110"/>
          </a:xfrm>
          <a:prstGeom prst="rect">
            <a:avLst/>
          </a:prstGeom>
          <a:noFill/>
        </p:spPr>
        <p:txBody>
          <a:bodyPr wrap="square" rtlCol="0">
            <a:spAutoFit/>
          </a:bodyPr>
          <a:lstStyle/>
          <a:p>
            <a:r>
              <a:rPr lang="en-US" sz="2000" b="1" dirty="0">
                <a:latin typeface="Consolas" panose="020B0609020204030204" pitchFamily="49" charset="0"/>
                <a:cs typeface="Courier New" pitchFamily="49" charset="0"/>
              </a:rPr>
              <a:t>11001000 00010111 00011</a:t>
            </a:r>
            <a:endParaRPr lang="de-DE" sz="2000" b="1" dirty="0">
              <a:latin typeface="Consolas" panose="020B0609020204030204" pitchFamily="49" charset="0"/>
            </a:endParaRPr>
          </a:p>
        </p:txBody>
      </p:sp>
    </p:spTree>
    <p:extLst>
      <p:ext uri="{BB962C8B-B14F-4D97-AF65-F5344CB8AC3E}">
        <p14:creationId xmlns:p14="http://schemas.microsoft.com/office/powerpoint/2010/main" val="2718975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8" grpId="0"/>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r>
              <a:rPr lang="de-DE" dirty="0"/>
              <a:t>Weiterleitungstabelle – Kompakt/4: Präfixe</a:t>
            </a:r>
          </a:p>
        </p:txBody>
      </p:sp>
      <p:sp>
        <p:nvSpPr>
          <p:cNvPr id="12" name="Slide Number Placeholder 5"/>
          <p:cNvSpPr>
            <a:spLocks noGrp="1"/>
          </p:cNvSpPr>
          <p:nvPr>
            <p:ph type="sldNum" sz="quarter" idx="12"/>
          </p:nvPr>
        </p:nvSpPr>
        <p:spPr/>
        <p:txBody>
          <a:bodyPr/>
          <a:lstStyle/>
          <a:p>
            <a:fld id="{13A0C86C-89D7-4356-B940-D47C37348220}" type="slidenum">
              <a:rPr lang="en-US" smtClean="0"/>
              <a:pPr/>
              <a:t>13</a:t>
            </a:fld>
            <a:endParaRPr lang="en-US" dirty="0"/>
          </a:p>
        </p:txBody>
      </p:sp>
      <p:sp>
        <p:nvSpPr>
          <p:cNvPr id="3" name="Content Placeholder 2"/>
          <p:cNvSpPr>
            <a:spLocks noGrp="1"/>
          </p:cNvSpPr>
          <p:nvPr>
            <p:ph sz="quarter" idx="1"/>
          </p:nvPr>
        </p:nvSpPr>
        <p:spPr>
          <a:xfrm>
            <a:off x="457200" y="1219200"/>
            <a:ext cx="8229600" cy="1777752"/>
          </a:xfrm>
        </p:spPr>
        <p:txBody>
          <a:bodyPr>
            <a:normAutofit/>
          </a:bodyPr>
          <a:lstStyle/>
          <a:p>
            <a:r>
              <a:rPr lang="de-DE" b="1" dirty="0">
                <a:solidFill>
                  <a:srgbClr val="FF0000"/>
                </a:solidFill>
              </a:rPr>
              <a:t>Präfix </a:t>
            </a:r>
            <a:r>
              <a:rPr lang="de-DE" dirty="0"/>
              <a:t>= </a:t>
            </a:r>
            <a:r>
              <a:rPr lang="de-DE" dirty="0">
                <a:solidFill>
                  <a:srgbClr val="0070C0"/>
                </a:solidFill>
              </a:rPr>
              <a:t>k obere Stellen einer IP-Adresse, die in der unteren und oberen Adr.-Grenzen übereinstimmen</a:t>
            </a:r>
            <a:endParaRPr lang="de-DE" dirty="0"/>
          </a:p>
          <a:p>
            <a:r>
              <a:rPr lang="de-DE" dirty="0"/>
              <a:t>Unsere Weiterleitungstabelle sieht dann so aus:</a:t>
            </a:r>
          </a:p>
        </p:txBody>
      </p:sp>
      <p:graphicFrame>
        <p:nvGraphicFramePr>
          <p:cNvPr id="11" name="Table 1"/>
          <p:cNvGraphicFramePr>
            <a:graphicFrameLocks noGrp="1"/>
          </p:cNvGraphicFramePr>
          <p:nvPr/>
        </p:nvGraphicFramePr>
        <p:xfrm>
          <a:off x="1043608" y="2995673"/>
          <a:ext cx="6912768" cy="2286000"/>
        </p:xfrm>
        <a:graphic>
          <a:graphicData uri="http://schemas.openxmlformats.org/drawingml/2006/table">
            <a:tbl>
              <a:tblPr firstRow="1" bandRow="1">
                <a:tableStyleId>{21E4AEA4-8DFA-4A89-87EB-49C32662AFE0}</a:tableStyleId>
              </a:tblPr>
              <a:tblGrid>
                <a:gridCol w="5275532">
                  <a:extLst>
                    <a:ext uri="{9D8B030D-6E8A-4147-A177-3AD203B41FA5}">
                      <a16:colId xmlns:a16="http://schemas.microsoft.com/office/drawing/2014/main" val="20000"/>
                    </a:ext>
                  </a:extLst>
                </a:gridCol>
                <a:gridCol w="1637236">
                  <a:extLst>
                    <a:ext uri="{9D8B030D-6E8A-4147-A177-3AD203B41FA5}">
                      <a16:colId xmlns:a16="http://schemas.microsoft.com/office/drawing/2014/main" val="20001"/>
                    </a:ext>
                  </a:extLst>
                </a:gridCol>
              </a:tblGrid>
              <a:tr h="396240">
                <a:tc>
                  <a:txBody>
                    <a:bodyPr/>
                    <a:lstStyle/>
                    <a:p>
                      <a:r>
                        <a:rPr lang="de-DE" sz="2400" dirty="0"/>
                        <a:t>Präfix</a:t>
                      </a:r>
                      <a:endParaRPr lang="de-DE" sz="2400" dirty="0">
                        <a:latin typeface="+mj-lt"/>
                      </a:endParaRPr>
                    </a:p>
                  </a:txBody>
                  <a:tcPr/>
                </a:tc>
                <a:tc>
                  <a:txBody>
                    <a:bodyPr/>
                    <a:lstStyle/>
                    <a:p>
                      <a:r>
                        <a:rPr lang="de-DE" sz="2400" dirty="0"/>
                        <a:t>Ausgang</a:t>
                      </a:r>
                      <a:endParaRPr lang="de-DE" sz="2400" dirty="0">
                        <a:latin typeface="+mj-lt"/>
                      </a:endParaRPr>
                    </a:p>
                  </a:txBody>
                  <a:tcPr/>
                </a:tc>
                <a:extLst>
                  <a:ext uri="{0D108BD9-81ED-4DB2-BD59-A6C34878D82A}">
                    <a16:rowId xmlns:a16="http://schemas.microsoft.com/office/drawing/2014/main" val="10000"/>
                  </a:ext>
                </a:extLst>
              </a:tr>
              <a:tr h="370840">
                <a:tc>
                  <a:txBody>
                    <a:bodyPr/>
                    <a:lstStyle/>
                    <a:p>
                      <a:r>
                        <a:rPr lang="en-US" sz="2400" dirty="0">
                          <a:latin typeface="Consolas" panose="020B0609020204030204" pitchFamily="49" charset="0"/>
                        </a:rPr>
                        <a:t>11001000 00010111 00010 </a:t>
                      </a:r>
                      <a:endParaRPr lang="de-DE" sz="2400" dirty="0">
                        <a:latin typeface="Consolas" panose="020B0609020204030204" pitchFamily="49" charset="0"/>
                      </a:endParaRPr>
                    </a:p>
                  </a:txBody>
                  <a:tcPr/>
                </a:tc>
                <a:tc>
                  <a:txBody>
                    <a:bodyPr/>
                    <a:lstStyle/>
                    <a:p>
                      <a:r>
                        <a:rPr lang="de-DE" sz="2400" dirty="0"/>
                        <a:t>0</a:t>
                      </a:r>
                      <a:endParaRPr lang="de-DE" sz="2400" dirty="0">
                        <a:latin typeface="+mj-lt"/>
                      </a:endParaRPr>
                    </a:p>
                  </a:txBody>
                  <a:tcPr/>
                </a:tc>
                <a:extLst>
                  <a:ext uri="{0D108BD9-81ED-4DB2-BD59-A6C34878D82A}">
                    <a16:rowId xmlns:a16="http://schemas.microsoft.com/office/drawing/2014/main" val="10001"/>
                  </a:ext>
                </a:extLst>
              </a:tr>
              <a:tr h="370840">
                <a:tc>
                  <a:txBody>
                    <a:bodyPr/>
                    <a:lstStyle/>
                    <a:p>
                      <a:r>
                        <a:rPr lang="en-US" sz="2400" dirty="0">
                          <a:latin typeface="Consolas" panose="020B0609020204030204" pitchFamily="49" charset="0"/>
                        </a:rPr>
                        <a:t>11001000 00010111 00011000 </a:t>
                      </a:r>
                      <a:endParaRPr lang="de-DE" sz="2400" dirty="0">
                        <a:latin typeface="Consolas" panose="020B0609020204030204" pitchFamily="49" charset="0"/>
                      </a:endParaRPr>
                    </a:p>
                  </a:txBody>
                  <a:tcPr/>
                </a:tc>
                <a:tc>
                  <a:txBody>
                    <a:bodyPr/>
                    <a:lstStyle/>
                    <a:p>
                      <a:r>
                        <a:rPr lang="de-DE" sz="2400" dirty="0"/>
                        <a:t>1</a:t>
                      </a:r>
                      <a:endParaRPr lang="de-DE" sz="2400" dirty="0">
                        <a:latin typeface="+mj-lt"/>
                      </a:endParaRPr>
                    </a:p>
                  </a:txBody>
                  <a:tcPr/>
                </a:tc>
                <a:extLst>
                  <a:ext uri="{0D108BD9-81ED-4DB2-BD59-A6C34878D82A}">
                    <a16:rowId xmlns:a16="http://schemas.microsoft.com/office/drawing/2014/main" val="10002"/>
                  </a:ext>
                </a:extLst>
              </a:tr>
              <a:tr h="370840">
                <a:tc>
                  <a:txBody>
                    <a:bodyPr/>
                    <a:lstStyle/>
                    <a:p>
                      <a:r>
                        <a:rPr lang="en-US" sz="2400" dirty="0">
                          <a:latin typeface="Consolas" panose="020B0609020204030204" pitchFamily="49" charset="0"/>
                        </a:rPr>
                        <a:t>11001000 00010111 00011 </a:t>
                      </a:r>
                      <a:endParaRPr lang="de-DE" sz="2400" dirty="0">
                        <a:latin typeface="Consolas" panose="020B0609020204030204" pitchFamily="49" charset="0"/>
                      </a:endParaRPr>
                    </a:p>
                  </a:txBody>
                  <a:tcPr/>
                </a:tc>
                <a:tc>
                  <a:txBody>
                    <a:bodyPr/>
                    <a:lstStyle/>
                    <a:p>
                      <a:r>
                        <a:rPr lang="de-DE" sz="2400" dirty="0"/>
                        <a:t>2</a:t>
                      </a:r>
                      <a:endParaRPr lang="de-DE" sz="2400" dirty="0">
                        <a:latin typeface="+mj-lt"/>
                      </a:endParaRPr>
                    </a:p>
                  </a:txBody>
                  <a:tcPr/>
                </a:tc>
                <a:extLst>
                  <a:ext uri="{0D108BD9-81ED-4DB2-BD59-A6C34878D82A}">
                    <a16:rowId xmlns:a16="http://schemas.microsoft.com/office/drawing/2014/main" val="10003"/>
                  </a:ext>
                </a:extLst>
              </a:tr>
              <a:tr h="370840">
                <a:tc>
                  <a:txBody>
                    <a:bodyPr/>
                    <a:lstStyle/>
                    <a:p>
                      <a:r>
                        <a:rPr lang="de-DE" sz="2400" dirty="0"/>
                        <a:t>sonst</a:t>
                      </a:r>
                      <a:endParaRPr lang="de-DE" sz="2400" dirty="0">
                        <a:latin typeface="+mj-lt"/>
                      </a:endParaRPr>
                    </a:p>
                  </a:txBody>
                  <a:tcPr/>
                </a:tc>
                <a:tc>
                  <a:txBody>
                    <a:bodyPr/>
                    <a:lstStyle/>
                    <a:p>
                      <a:r>
                        <a:rPr lang="de-DE" sz="2400" dirty="0"/>
                        <a:t>3</a:t>
                      </a:r>
                      <a:endParaRPr lang="de-DE" sz="2400" dirty="0">
                        <a:latin typeface="+mj-lt"/>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22701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14</a:t>
            </a:fld>
            <a:endParaRPr lang="de-DE" dirty="0"/>
          </a:p>
        </p:txBody>
      </p:sp>
      <p:sp>
        <p:nvSpPr>
          <p:cNvPr id="3" name="Titel 2"/>
          <p:cNvSpPr>
            <a:spLocks noGrp="1"/>
          </p:cNvSpPr>
          <p:nvPr>
            <p:ph type="title"/>
          </p:nvPr>
        </p:nvSpPr>
        <p:spPr>
          <a:xfrm>
            <a:off x="971600" y="2348880"/>
            <a:ext cx="7200800" cy="2376264"/>
          </a:xfrm>
        </p:spPr>
        <p:txBody>
          <a:bodyPr>
            <a:normAutofit/>
          </a:bodyPr>
          <a:lstStyle/>
          <a:p>
            <a:pPr lvl="1" algn="ctr" rtl="0">
              <a:spcBef>
                <a:spcPct val="0"/>
              </a:spcBef>
            </a:pPr>
            <a:r>
              <a:rPr lang="de-DE" sz="4000" dirty="0"/>
              <a:t>Router:</a:t>
            </a:r>
            <a:br>
              <a:rPr lang="de-DE" sz="4000" dirty="0"/>
            </a:br>
            <a:r>
              <a:rPr lang="de-DE" sz="4000" dirty="0" err="1"/>
              <a:t>Longest-Prefix-Matching</a:t>
            </a:r>
            <a:endParaRPr lang="de-DE" sz="4000" dirty="0"/>
          </a:p>
        </p:txBody>
      </p:sp>
    </p:spTree>
    <p:extLst>
      <p:ext uri="{BB962C8B-B14F-4D97-AF65-F5344CB8AC3E}">
        <p14:creationId xmlns:p14="http://schemas.microsoft.com/office/powerpoint/2010/main" val="11566695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de-DE" dirty="0"/>
              <a:t>Präfixlänge und Subnetzgröße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15</a:t>
            </a:fld>
            <a:endParaRPr lang="en-US" noProof="0" dirty="0"/>
          </a:p>
        </p:txBody>
      </p:sp>
      <p:sp>
        <p:nvSpPr>
          <p:cNvPr id="6" name="Content Placeholder 5"/>
          <p:cNvSpPr>
            <a:spLocks noGrp="1"/>
          </p:cNvSpPr>
          <p:nvPr>
            <p:ph sz="quarter" idx="1"/>
          </p:nvPr>
        </p:nvSpPr>
        <p:spPr>
          <a:xfrm>
            <a:off x="457200" y="1219200"/>
            <a:ext cx="8363272" cy="3145904"/>
          </a:xfrm>
        </p:spPr>
        <p:txBody>
          <a:bodyPr>
            <a:normAutofit/>
          </a:bodyPr>
          <a:lstStyle/>
          <a:p>
            <a:r>
              <a:rPr lang="de-DE" dirty="0"/>
              <a:t>Die Weiterleitungstabelle besteht aus solchen </a:t>
            </a:r>
            <a:r>
              <a:rPr lang="de-DE" dirty="0">
                <a:solidFill>
                  <a:srgbClr val="0070C0"/>
                </a:solidFill>
              </a:rPr>
              <a:t>Präfixen</a:t>
            </a:r>
            <a:r>
              <a:rPr lang="de-DE" dirty="0"/>
              <a:t> und den zugehörigen Ausgängen</a:t>
            </a:r>
          </a:p>
          <a:p>
            <a:r>
              <a:rPr lang="de-DE" u="sng" dirty="0"/>
              <a:t>Job des Routes</a:t>
            </a:r>
            <a:r>
              <a:rPr lang="de-DE" dirty="0"/>
              <a:t>: für jede Zieladresse wird ein passender Präfix gefunden und das Paket an den zugehörigen Ausgang weitergeleitet</a:t>
            </a:r>
          </a:p>
          <a:p>
            <a:r>
              <a:rPr lang="de-DE" dirty="0"/>
              <a:t>Wenn Präfix P die Länge k hat, wie viele IP-Adressen leitet der Router an den Ausgang zu P?</a:t>
            </a:r>
          </a:p>
        </p:txBody>
      </p:sp>
      <p:sp>
        <p:nvSpPr>
          <p:cNvPr id="7" name="Content Placeholder 6"/>
          <p:cNvSpPr>
            <a:spLocks noGrp="1"/>
          </p:cNvSpPr>
          <p:nvPr>
            <p:ph sz="quarter" idx="13"/>
          </p:nvPr>
        </p:nvSpPr>
        <p:spPr>
          <a:xfrm>
            <a:off x="467544" y="4365104"/>
            <a:ext cx="8352928" cy="2304256"/>
          </a:xfrm>
        </p:spPr>
        <p:txBody>
          <a:bodyPr>
            <a:normAutofit/>
          </a:bodyPr>
          <a:lstStyle/>
          <a:p>
            <a:r>
              <a:rPr lang="de-DE" dirty="0"/>
              <a:t>Router leitet N = 2</a:t>
            </a:r>
            <a:r>
              <a:rPr lang="de-DE" baseline="30000" dirty="0"/>
              <a:t>(32-k)</a:t>
            </a:r>
            <a:r>
              <a:rPr lang="de-DE" dirty="0"/>
              <a:t> verschiedene Adressen an diesen Ausgang</a:t>
            </a:r>
          </a:p>
          <a:p>
            <a:pPr lvl="1"/>
            <a:r>
              <a:rPr lang="de-DE" dirty="0"/>
              <a:t>Davon sind i.A. nur N-2 benutzbar</a:t>
            </a:r>
          </a:p>
          <a:p>
            <a:r>
              <a:rPr lang="de-DE" dirty="0"/>
              <a:t>Aber muss N eine Zweierpotenz sein? Gleich …</a:t>
            </a:r>
          </a:p>
        </p:txBody>
      </p:sp>
    </p:spTree>
    <p:extLst>
      <p:ext uri="{BB962C8B-B14F-4D97-AF65-F5344CB8AC3E}">
        <p14:creationId xmlns:p14="http://schemas.microsoft.com/office/powerpoint/2010/main" val="1813001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0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2000"/>
                                        <p:tgtEl>
                                          <p:spTgt spid="7">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r>
              <a:rPr lang="en-US" dirty="0"/>
              <a:t>Longest-Prefix-Matching</a:t>
            </a:r>
          </a:p>
        </p:txBody>
      </p:sp>
      <p:sp>
        <p:nvSpPr>
          <p:cNvPr id="12" name="Slide Number Placeholder 5"/>
          <p:cNvSpPr>
            <a:spLocks noGrp="1"/>
          </p:cNvSpPr>
          <p:nvPr>
            <p:ph type="sldNum" sz="quarter" idx="12"/>
          </p:nvPr>
        </p:nvSpPr>
        <p:spPr/>
        <p:txBody>
          <a:bodyPr/>
          <a:lstStyle/>
          <a:p>
            <a:fld id="{13A0C86C-89D7-4356-B940-D47C37348220}" type="slidenum">
              <a:rPr lang="en-US" smtClean="0"/>
              <a:pPr/>
              <a:t>16</a:t>
            </a:fld>
            <a:endParaRPr lang="en-US" dirty="0"/>
          </a:p>
        </p:txBody>
      </p:sp>
      <p:sp>
        <p:nvSpPr>
          <p:cNvPr id="3" name="Content Placeholder 2"/>
          <p:cNvSpPr>
            <a:spLocks noGrp="1"/>
          </p:cNvSpPr>
          <p:nvPr>
            <p:ph sz="quarter" idx="1"/>
          </p:nvPr>
        </p:nvSpPr>
        <p:spPr>
          <a:xfrm>
            <a:off x="457200" y="3416048"/>
            <a:ext cx="8229600" cy="2713856"/>
          </a:xfrm>
        </p:spPr>
        <p:txBody>
          <a:bodyPr>
            <a:normAutofit/>
          </a:bodyPr>
          <a:lstStyle/>
          <a:p>
            <a:r>
              <a:rPr lang="de-DE" dirty="0"/>
              <a:t>Der Präfix zu A2 ist in Präfix zu A1 „enthalten“  </a:t>
            </a:r>
          </a:p>
          <a:p>
            <a:r>
              <a:rPr lang="de-DE" dirty="0"/>
              <a:t>Die Regel </a:t>
            </a:r>
            <a:r>
              <a:rPr lang="de-DE" b="1" dirty="0">
                <a:solidFill>
                  <a:srgbClr val="FF0000"/>
                </a:solidFill>
              </a:rPr>
              <a:t>Longest </a:t>
            </a:r>
            <a:r>
              <a:rPr lang="de-DE" b="1" dirty="0" err="1">
                <a:solidFill>
                  <a:srgbClr val="FF0000"/>
                </a:solidFill>
              </a:rPr>
              <a:t>Prefix</a:t>
            </a:r>
            <a:r>
              <a:rPr lang="de-DE" b="1" dirty="0">
                <a:solidFill>
                  <a:srgbClr val="FF0000"/>
                </a:solidFill>
              </a:rPr>
              <a:t> </a:t>
            </a:r>
            <a:r>
              <a:rPr lang="de-DE" b="1" dirty="0" err="1">
                <a:solidFill>
                  <a:srgbClr val="FF0000"/>
                </a:solidFill>
              </a:rPr>
              <a:t>Matching</a:t>
            </a:r>
            <a:r>
              <a:rPr lang="de-DE" b="1" dirty="0">
                <a:solidFill>
                  <a:srgbClr val="FF0000"/>
                </a:solidFill>
              </a:rPr>
              <a:t> </a:t>
            </a:r>
            <a:r>
              <a:rPr lang="de-DE" dirty="0"/>
              <a:t>(</a:t>
            </a:r>
            <a:r>
              <a:rPr lang="de-DE" b="1" dirty="0">
                <a:solidFill>
                  <a:srgbClr val="FF0000"/>
                </a:solidFill>
              </a:rPr>
              <a:t>LPM</a:t>
            </a:r>
            <a:r>
              <a:rPr lang="de-DE" dirty="0"/>
              <a:t>) sagt:</a:t>
            </a:r>
          </a:p>
          <a:p>
            <a:pPr marL="450850" lvl="1" indent="-180975"/>
            <a:r>
              <a:rPr lang="de-DE" i="1" dirty="0">
                <a:solidFill>
                  <a:srgbClr val="0070C0"/>
                </a:solidFill>
              </a:rPr>
              <a:t>Passen mehrere Präfixe zu einer Zieladresse, nehmen wir den Ausgang mit der </a:t>
            </a:r>
            <a:r>
              <a:rPr lang="de-DE" i="1" u="sng" dirty="0">
                <a:solidFill>
                  <a:srgbClr val="0070C0"/>
                </a:solidFill>
              </a:rPr>
              <a:t>längsten</a:t>
            </a:r>
            <a:r>
              <a:rPr lang="de-DE" i="1" dirty="0">
                <a:solidFill>
                  <a:srgbClr val="0070C0"/>
                </a:solidFill>
              </a:rPr>
              <a:t> </a:t>
            </a:r>
            <a:r>
              <a:rPr lang="de-DE" i="1" dirty="0" err="1">
                <a:solidFill>
                  <a:srgbClr val="0070C0"/>
                </a:solidFill>
              </a:rPr>
              <a:t>Prefix</a:t>
            </a:r>
            <a:r>
              <a:rPr lang="de-DE" i="1" dirty="0">
                <a:solidFill>
                  <a:srgbClr val="0070C0"/>
                </a:solidFill>
              </a:rPr>
              <a:t>-Übereinstimmung </a:t>
            </a:r>
          </a:p>
          <a:p>
            <a:r>
              <a:rPr lang="de-DE" dirty="0"/>
              <a:t>Beispiel –Ausgang A1 oder A2?</a:t>
            </a:r>
          </a:p>
        </p:txBody>
      </p:sp>
      <p:sp>
        <p:nvSpPr>
          <p:cNvPr id="449543" name="Rectangle 7"/>
          <p:cNvSpPr>
            <a:spLocks noChangeArrowheads="1"/>
          </p:cNvSpPr>
          <p:nvPr/>
        </p:nvSpPr>
        <p:spPr bwMode="auto">
          <a:xfrm>
            <a:off x="443969" y="6129904"/>
            <a:ext cx="64844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sz="2000" dirty="0" err="1">
                <a:solidFill>
                  <a:srgbClr val="FF0000"/>
                </a:solidFill>
              </a:rPr>
              <a:t>Ziel</a:t>
            </a:r>
            <a:r>
              <a:rPr lang="en-US" sz="2000" dirty="0">
                <a:solidFill>
                  <a:srgbClr val="FF0000"/>
                </a:solidFill>
              </a:rPr>
              <a:t> Q</a:t>
            </a:r>
            <a:r>
              <a:rPr lang="en-US" sz="2000" dirty="0"/>
              <a:t>: </a:t>
            </a:r>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1000  </a:t>
            </a:r>
            <a:r>
              <a:rPr lang="en-US" sz="2000" dirty="0">
                <a:latin typeface="Consolas" panose="020B0609020204030204" pitchFamily="49" charset="0"/>
              </a:rPr>
              <a:t>10101010 </a:t>
            </a:r>
          </a:p>
        </p:txBody>
      </p:sp>
      <p:sp>
        <p:nvSpPr>
          <p:cNvPr id="449545" name="Text Box 9"/>
          <p:cNvSpPr txBox="1">
            <a:spLocks noChangeArrowheads="1"/>
          </p:cNvSpPr>
          <p:nvPr/>
        </p:nvSpPr>
        <p:spPr bwMode="auto">
          <a:xfrm>
            <a:off x="477392" y="5637975"/>
            <a:ext cx="64702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2000" dirty="0" err="1">
                <a:solidFill>
                  <a:srgbClr val="FF0000"/>
                </a:solidFill>
              </a:rPr>
              <a:t>Ziel</a:t>
            </a:r>
            <a:r>
              <a:rPr lang="en-US" sz="2000" dirty="0">
                <a:solidFill>
                  <a:srgbClr val="FF0000"/>
                </a:solidFill>
              </a:rPr>
              <a:t> P</a:t>
            </a:r>
            <a:r>
              <a:rPr lang="en-US" sz="2000" dirty="0"/>
              <a:t>: </a:t>
            </a:r>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1110  </a:t>
            </a:r>
            <a:r>
              <a:rPr lang="en-US" sz="2000" dirty="0">
                <a:latin typeface="Consolas" panose="020B0609020204030204" pitchFamily="49" charset="0"/>
              </a:rPr>
              <a:t>10100001 </a:t>
            </a:r>
          </a:p>
        </p:txBody>
      </p:sp>
      <p:graphicFrame>
        <p:nvGraphicFramePr>
          <p:cNvPr id="2" name="Table 1"/>
          <p:cNvGraphicFramePr>
            <a:graphicFrameLocks noGrp="1"/>
          </p:cNvGraphicFramePr>
          <p:nvPr/>
        </p:nvGraphicFramePr>
        <p:xfrm>
          <a:off x="1403648" y="1244492"/>
          <a:ext cx="5976664" cy="1981200"/>
        </p:xfrm>
        <a:graphic>
          <a:graphicData uri="http://schemas.openxmlformats.org/drawingml/2006/table">
            <a:tbl>
              <a:tblPr firstRow="1" bandRow="1">
                <a:tableStyleId>{21E4AEA4-8DFA-4A89-87EB-49C32662AFE0}</a:tableStyleId>
              </a:tblPr>
              <a:tblGrid>
                <a:gridCol w="4561137">
                  <a:extLst>
                    <a:ext uri="{9D8B030D-6E8A-4147-A177-3AD203B41FA5}">
                      <a16:colId xmlns:a16="http://schemas.microsoft.com/office/drawing/2014/main" val="20000"/>
                    </a:ext>
                  </a:extLst>
                </a:gridCol>
                <a:gridCol w="1415527">
                  <a:extLst>
                    <a:ext uri="{9D8B030D-6E8A-4147-A177-3AD203B41FA5}">
                      <a16:colId xmlns:a16="http://schemas.microsoft.com/office/drawing/2014/main" val="20001"/>
                    </a:ext>
                  </a:extLst>
                </a:gridCol>
              </a:tblGrid>
              <a:tr h="396240">
                <a:tc>
                  <a:txBody>
                    <a:bodyPr/>
                    <a:lstStyle/>
                    <a:p>
                      <a:r>
                        <a:rPr lang="de-DE" sz="2000" dirty="0"/>
                        <a:t>Präfix</a:t>
                      </a:r>
                      <a:endParaRPr lang="de-DE" sz="2000" dirty="0">
                        <a:latin typeface="+mj-lt"/>
                      </a:endParaRPr>
                    </a:p>
                  </a:txBody>
                  <a:tcPr/>
                </a:tc>
                <a:tc>
                  <a:txBody>
                    <a:bodyPr/>
                    <a:lstStyle/>
                    <a:p>
                      <a:r>
                        <a:rPr lang="de-DE" sz="2000" dirty="0"/>
                        <a:t>Ausgang</a:t>
                      </a:r>
                      <a:endParaRPr lang="de-DE" sz="2000" dirty="0">
                        <a:latin typeface="+mj-lt"/>
                      </a:endParaRPr>
                    </a:p>
                  </a:txBody>
                  <a:tcPr/>
                </a:tc>
                <a:extLst>
                  <a:ext uri="{0D108BD9-81ED-4DB2-BD59-A6C34878D82A}">
                    <a16:rowId xmlns:a16="http://schemas.microsoft.com/office/drawing/2014/main" val="10000"/>
                  </a:ext>
                </a:extLst>
              </a:tr>
              <a:tr h="370840">
                <a:tc>
                  <a:txBody>
                    <a:bodyPr/>
                    <a:lstStyle/>
                    <a:p>
                      <a:r>
                        <a:rPr lang="en-US" sz="2000" dirty="0">
                          <a:solidFill>
                            <a:schemeClr val="bg1">
                              <a:lumMod val="65000"/>
                            </a:schemeClr>
                          </a:solidFill>
                          <a:latin typeface="Consolas" panose="020B0609020204030204" pitchFamily="49" charset="0"/>
                        </a:rPr>
                        <a:t>11001000 00010111 00010 </a:t>
                      </a:r>
                      <a:endParaRPr lang="de-DE" sz="2000" dirty="0">
                        <a:solidFill>
                          <a:schemeClr val="bg1">
                            <a:lumMod val="65000"/>
                          </a:schemeClr>
                        </a:solidFill>
                        <a:latin typeface="Consolas" panose="020B0609020204030204" pitchFamily="49" charset="0"/>
                      </a:endParaRPr>
                    </a:p>
                  </a:txBody>
                  <a:tcPr/>
                </a:tc>
                <a:tc>
                  <a:txBody>
                    <a:bodyPr/>
                    <a:lstStyle/>
                    <a:p>
                      <a:r>
                        <a:rPr lang="de-DE" sz="2000" dirty="0">
                          <a:solidFill>
                            <a:schemeClr val="bg1">
                              <a:lumMod val="65000"/>
                            </a:schemeClr>
                          </a:solidFill>
                        </a:rPr>
                        <a:t>0</a:t>
                      </a:r>
                      <a:endParaRPr lang="de-DE" sz="2000" dirty="0">
                        <a:solidFill>
                          <a:schemeClr val="bg1">
                            <a:lumMod val="65000"/>
                          </a:schemeClr>
                        </a:solidFill>
                        <a:latin typeface="+mj-lt"/>
                      </a:endParaRPr>
                    </a:p>
                  </a:txBody>
                  <a:tcPr/>
                </a:tc>
                <a:extLst>
                  <a:ext uri="{0D108BD9-81ED-4DB2-BD59-A6C34878D82A}">
                    <a16:rowId xmlns:a16="http://schemas.microsoft.com/office/drawing/2014/main" val="10001"/>
                  </a:ext>
                </a:extLst>
              </a:tr>
              <a:tr h="370840">
                <a:tc>
                  <a:txBody>
                    <a:bodyPr/>
                    <a:lstStyle/>
                    <a:p>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1000</a:t>
                      </a:r>
                      <a:r>
                        <a:rPr lang="en-US" sz="2000" dirty="0">
                          <a:latin typeface="Consolas" panose="020B0609020204030204" pitchFamily="49" charset="0"/>
                        </a:rPr>
                        <a:t> </a:t>
                      </a:r>
                      <a:endParaRPr lang="de-DE" sz="2000" dirty="0">
                        <a:latin typeface="Consolas" panose="020B0609020204030204" pitchFamily="49" charset="0"/>
                      </a:endParaRPr>
                    </a:p>
                  </a:txBody>
                  <a:tcPr/>
                </a:tc>
                <a:tc>
                  <a:txBody>
                    <a:bodyPr/>
                    <a:lstStyle/>
                    <a:p>
                      <a:r>
                        <a:rPr lang="de-DE" sz="2000" dirty="0"/>
                        <a:t>A1</a:t>
                      </a:r>
                      <a:endParaRPr lang="de-DE" sz="2000" dirty="0">
                        <a:latin typeface="+mj-lt"/>
                      </a:endParaRPr>
                    </a:p>
                  </a:txBody>
                  <a:tcPr/>
                </a:tc>
                <a:extLst>
                  <a:ext uri="{0D108BD9-81ED-4DB2-BD59-A6C34878D82A}">
                    <a16:rowId xmlns:a16="http://schemas.microsoft.com/office/drawing/2014/main" val="10002"/>
                  </a:ext>
                </a:extLst>
              </a:tr>
              <a:tr h="370840">
                <a:tc>
                  <a:txBody>
                    <a:bodyPr/>
                    <a:lstStyle/>
                    <a:p>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a:t>
                      </a:r>
                      <a:endParaRPr lang="de-DE" sz="2000" dirty="0">
                        <a:solidFill>
                          <a:srgbClr val="0070C0"/>
                        </a:solidFill>
                        <a:latin typeface="Consolas" panose="020B0609020204030204" pitchFamily="49" charset="0"/>
                      </a:endParaRPr>
                    </a:p>
                  </a:txBody>
                  <a:tcPr/>
                </a:tc>
                <a:tc>
                  <a:txBody>
                    <a:bodyPr/>
                    <a:lstStyle/>
                    <a:p>
                      <a:r>
                        <a:rPr lang="de-DE" sz="2000" dirty="0"/>
                        <a:t>A2</a:t>
                      </a:r>
                      <a:endParaRPr lang="de-DE" sz="2000" dirty="0">
                        <a:latin typeface="+mj-lt"/>
                      </a:endParaRPr>
                    </a:p>
                  </a:txBody>
                  <a:tcPr/>
                </a:tc>
                <a:extLst>
                  <a:ext uri="{0D108BD9-81ED-4DB2-BD59-A6C34878D82A}">
                    <a16:rowId xmlns:a16="http://schemas.microsoft.com/office/drawing/2014/main" val="10003"/>
                  </a:ext>
                </a:extLst>
              </a:tr>
              <a:tr h="370840">
                <a:tc>
                  <a:txBody>
                    <a:bodyPr/>
                    <a:lstStyle/>
                    <a:p>
                      <a:r>
                        <a:rPr lang="de-DE" sz="2000" dirty="0">
                          <a:solidFill>
                            <a:schemeClr val="bg1">
                              <a:lumMod val="65000"/>
                            </a:schemeClr>
                          </a:solidFill>
                        </a:rPr>
                        <a:t>sonst</a:t>
                      </a:r>
                      <a:endParaRPr lang="de-DE" sz="2000" dirty="0">
                        <a:solidFill>
                          <a:schemeClr val="bg1">
                            <a:lumMod val="65000"/>
                          </a:schemeClr>
                        </a:solidFill>
                        <a:latin typeface="+mj-lt"/>
                      </a:endParaRPr>
                    </a:p>
                  </a:txBody>
                  <a:tcPr/>
                </a:tc>
                <a:tc>
                  <a:txBody>
                    <a:bodyPr/>
                    <a:lstStyle/>
                    <a:p>
                      <a:r>
                        <a:rPr lang="de-DE" sz="2000" dirty="0">
                          <a:solidFill>
                            <a:schemeClr val="bg1">
                              <a:lumMod val="65000"/>
                            </a:schemeClr>
                          </a:solidFill>
                        </a:rPr>
                        <a:t>3</a:t>
                      </a:r>
                      <a:endParaRPr lang="de-DE" sz="2000" dirty="0">
                        <a:solidFill>
                          <a:schemeClr val="bg1">
                            <a:lumMod val="65000"/>
                          </a:schemeClr>
                        </a:solidFill>
                        <a:latin typeface="+mj-lt"/>
                      </a:endParaRPr>
                    </a:p>
                  </a:txBody>
                  <a:tcPr/>
                </a:tc>
                <a:extLst>
                  <a:ext uri="{0D108BD9-81ED-4DB2-BD59-A6C34878D82A}">
                    <a16:rowId xmlns:a16="http://schemas.microsoft.com/office/drawing/2014/main" val="10004"/>
                  </a:ext>
                </a:extLst>
              </a:tr>
            </a:tbl>
          </a:graphicData>
        </a:graphic>
      </p:graphicFrame>
      <p:sp>
        <p:nvSpPr>
          <p:cNvPr id="9" name="Rechteck 8"/>
          <p:cNvSpPr/>
          <p:nvPr/>
        </p:nvSpPr>
        <p:spPr>
          <a:xfrm>
            <a:off x="6876256" y="5618280"/>
            <a:ext cx="1368153" cy="46166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de-DE" sz="2400" dirty="0"/>
              <a:t>an A2</a:t>
            </a:r>
          </a:p>
        </p:txBody>
      </p:sp>
      <p:sp>
        <p:nvSpPr>
          <p:cNvPr id="10" name="Rechteck 9"/>
          <p:cNvSpPr/>
          <p:nvPr/>
        </p:nvSpPr>
        <p:spPr>
          <a:xfrm>
            <a:off x="6876256" y="6079945"/>
            <a:ext cx="1944216" cy="46166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de-DE" sz="2400" dirty="0"/>
              <a:t>an A1 (LPM)</a:t>
            </a:r>
          </a:p>
        </p:txBody>
      </p:sp>
    </p:spTree>
    <p:extLst>
      <p:ext uri="{BB962C8B-B14F-4D97-AF65-F5344CB8AC3E}">
        <p14:creationId xmlns:p14="http://schemas.microsoft.com/office/powerpoint/2010/main" val="1358461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9545"/>
                                        </p:tgtEl>
                                        <p:attrNameLst>
                                          <p:attrName>style.visibility</p:attrName>
                                        </p:attrNameLst>
                                      </p:cBhvr>
                                      <p:to>
                                        <p:strVal val="visible"/>
                                      </p:to>
                                    </p:set>
                                    <p:animEffect transition="in" filter="fade">
                                      <p:cBhvr>
                                        <p:cTn id="7" dur="500"/>
                                        <p:tgtEl>
                                          <p:spTgt spid="44954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49543"/>
                                        </p:tgtEl>
                                        <p:attrNameLst>
                                          <p:attrName>style.visibility</p:attrName>
                                        </p:attrNameLst>
                                      </p:cBhvr>
                                      <p:to>
                                        <p:strVal val="visible"/>
                                      </p:to>
                                    </p:set>
                                    <p:animEffect transition="in" filter="fade">
                                      <p:cBhvr>
                                        <p:cTn id="17" dur="500"/>
                                        <p:tgtEl>
                                          <p:spTgt spid="44954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9543" grpId="0"/>
      <p:bldP spid="449545" grpId="0"/>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r>
              <a:rPr lang="en-US" dirty="0"/>
              <a:t>Longest-Prefix-Matching: </a:t>
            </a:r>
            <a:r>
              <a:rPr lang="en-US" dirty="0" err="1"/>
              <a:t>Verwendung</a:t>
            </a:r>
            <a:endParaRPr lang="en-US" dirty="0"/>
          </a:p>
        </p:txBody>
      </p:sp>
      <p:sp>
        <p:nvSpPr>
          <p:cNvPr id="12" name="Slide Number Placeholder 5"/>
          <p:cNvSpPr>
            <a:spLocks noGrp="1"/>
          </p:cNvSpPr>
          <p:nvPr>
            <p:ph type="sldNum" sz="quarter" idx="12"/>
          </p:nvPr>
        </p:nvSpPr>
        <p:spPr/>
        <p:txBody>
          <a:bodyPr/>
          <a:lstStyle/>
          <a:p>
            <a:fld id="{13A0C86C-89D7-4356-B940-D47C37348220}" type="slidenum">
              <a:rPr lang="en-US" smtClean="0"/>
              <a:pPr/>
              <a:t>17</a:t>
            </a:fld>
            <a:endParaRPr lang="en-US" dirty="0"/>
          </a:p>
        </p:txBody>
      </p:sp>
      <p:sp>
        <p:nvSpPr>
          <p:cNvPr id="3" name="Content Placeholder 2"/>
          <p:cNvSpPr>
            <a:spLocks noGrp="1"/>
          </p:cNvSpPr>
          <p:nvPr>
            <p:ph sz="quarter" idx="1"/>
          </p:nvPr>
        </p:nvSpPr>
        <p:spPr>
          <a:xfrm>
            <a:off x="456634" y="2721404"/>
            <a:ext cx="4907454" cy="3989738"/>
          </a:xfrm>
        </p:spPr>
        <p:txBody>
          <a:bodyPr>
            <a:noAutofit/>
          </a:bodyPr>
          <a:lstStyle/>
          <a:p>
            <a:r>
              <a:rPr lang="de-DE" dirty="0"/>
              <a:t>Ein Teil der IP-Adressen zum A2 geht wegen der LPM-Regel an den A1 </a:t>
            </a:r>
          </a:p>
          <a:p>
            <a:r>
              <a:rPr lang="de-DE" dirty="0"/>
              <a:t>Wir können damit aus dem Adressenbereich zu A2 einen Teil „</a:t>
            </a:r>
            <a:r>
              <a:rPr lang="de-DE" dirty="0">
                <a:solidFill>
                  <a:srgbClr val="0070C0"/>
                </a:solidFill>
              </a:rPr>
              <a:t>herausschneiden</a:t>
            </a:r>
            <a:r>
              <a:rPr lang="de-DE" dirty="0"/>
              <a:t>“</a:t>
            </a:r>
          </a:p>
          <a:p>
            <a:pPr lvl="1"/>
            <a:r>
              <a:rPr lang="de-DE" dirty="0"/>
              <a:t>#Adressen zu A2 ist keine 2er-Potenz mehr!</a:t>
            </a:r>
          </a:p>
          <a:p>
            <a:r>
              <a:rPr lang="de-DE" dirty="0"/>
              <a:t>Wie viele Adressen hat A2?</a:t>
            </a:r>
          </a:p>
          <a:p>
            <a:endParaRPr lang="de-DE" dirty="0"/>
          </a:p>
        </p:txBody>
      </p:sp>
      <p:graphicFrame>
        <p:nvGraphicFramePr>
          <p:cNvPr id="2" name="Table 1"/>
          <p:cNvGraphicFramePr>
            <a:graphicFrameLocks noGrp="1"/>
          </p:cNvGraphicFramePr>
          <p:nvPr/>
        </p:nvGraphicFramePr>
        <p:xfrm>
          <a:off x="395535" y="1276882"/>
          <a:ext cx="8291264" cy="1310640"/>
        </p:xfrm>
        <a:graphic>
          <a:graphicData uri="http://schemas.openxmlformats.org/drawingml/2006/table">
            <a:tbl>
              <a:tblPr firstRow="1" bandRow="1">
                <a:tableStyleId>{21E4AEA4-8DFA-4A89-87EB-49C32662AFE0}</a:tableStyleId>
              </a:tblPr>
              <a:tblGrid>
                <a:gridCol w="4028375">
                  <a:extLst>
                    <a:ext uri="{9D8B030D-6E8A-4147-A177-3AD203B41FA5}">
                      <a16:colId xmlns:a16="http://schemas.microsoft.com/office/drawing/2014/main" val="20000"/>
                    </a:ext>
                  </a:extLst>
                </a:gridCol>
                <a:gridCol w="1342792">
                  <a:extLst>
                    <a:ext uri="{9D8B030D-6E8A-4147-A177-3AD203B41FA5}">
                      <a16:colId xmlns:a16="http://schemas.microsoft.com/office/drawing/2014/main" val="20001"/>
                    </a:ext>
                  </a:extLst>
                </a:gridCol>
                <a:gridCol w="671396">
                  <a:extLst>
                    <a:ext uri="{9D8B030D-6E8A-4147-A177-3AD203B41FA5}">
                      <a16:colId xmlns:a16="http://schemas.microsoft.com/office/drawing/2014/main" val="20002"/>
                    </a:ext>
                  </a:extLst>
                </a:gridCol>
                <a:gridCol w="2248701">
                  <a:extLst>
                    <a:ext uri="{9D8B030D-6E8A-4147-A177-3AD203B41FA5}">
                      <a16:colId xmlns:a16="http://schemas.microsoft.com/office/drawing/2014/main" val="20003"/>
                    </a:ext>
                  </a:extLst>
                </a:gridCol>
              </a:tblGrid>
              <a:tr h="396240">
                <a:tc>
                  <a:txBody>
                    <a:bodyPr/>
                    <a:lstStyle/>
                    <a:p>
                      <a:r>
                        <a:rPr lang="de-DE" sz="2000" dirty="0"/>
                        <a:t>Präfix mit Länge</a:t>
                      </a:r>
                      <a:r>
                        <a:rPr lang="de-DE" sz="2000" baseline="0" dirty="0"/>
                        <a:t> k</a:t>
                      </a:r>
                      <a:endParaRPr lang="de-DE" sz="2000" dirty="0">
                        <a:latin typeface="+mj-lt"/>
                      </a:endParaRPr>
                    </a:p>
                  </a:txBody>
                  <a:tcPr/>
                </a:tc>
                <a:tc>
                  <a:txBody>
                    <a:bodyPr/>
                    <a:lstStyle/>
                    <a:p>
                      <a:r>
                        <a:rPr lang="de-DE" sz="2000" dirty="0"/>
                        <a:t>Ausgang</a:t>
                      </a:r>
                      <a:endParaRPr lang="de-DE" sz="2000" dirty="0">
                        <a:latin typeface="+mj-lt"/>
                      </a:endParaRPr>
                    </a:p>
                  </a:txBody>
                  <a:tcPr/>
                </a:tc>
                <a:tc>
                  <a:txBody>
                    <a:bodyPr/>
                    <a:lstStyle/>
                    <a:p>
                      <a:r>
                        <a:rPr lang="de-DE" sz="2000" dirty="0">
                          <a:latin typeface="+mj-lt"/>
                        </a:rPr>
                        <a:t>k</a:t>
                      </a:r>
                    </a:p>
                  </a:txBody>
                  <a:tcPr/>
                </a:tc>
                <a:tc>
                  <a:txBody>
                    <a:bodyPr/>
                    <a:lstStyle/>
                    <a:p>
                      <a:r>
                        <a:rPr lang="de-DE" sz="2000" dirty="0">
                          <a:latin typeface="+mj-lt"/>
                        </a:rPr>
                        <a:t>Anz.</a:t>
                      </a:r>
                      <a:r>
                        <a:rPr lang="de-DE" sz="2000" baseline="0" dirty="0">
                          <a:latin typeface="+mj-lt"/>
                        </a:rPr>
                        <a:t> </a:t>
                      </a:r>
                      <a:r>
                        <a:rPr lang="de-DE" sz="2000" dirty="0">
                          <a:latin typeface="+mj-lt"/>
                        </a:rPr>
                        <a:t>Adressen</a:t>
                      </a:r>
                    </a:p>
                  </a:txBody>
                  <a:tcPr/>
                </a:tc>
                <a:extLst>
                  <a:ext uri="{0D108BD9-81ED-4DB2-BD59-A6C34878D82A}">
                    <a16:rowId xmlns:a16="http://schemas.microsoft.com/office/drawing/2014/main" val="10000"/>
                  </a:ext>
                </a:extLst>
              </a:tr>
              <a:tr h="370840">
                <a:tc>
                  <a:txBody>
                    <a:bodyPr/>
                    <a:lstStyle/>
                    <a:p>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1000</a:t>
                      </a:r>
                      <a:r>
                        <a:rPr lang="en-US" sz="2000" dirty="0">
                          <a:latin typeface="Consolas" panose="020B0609020204030204" pitchFamily="49" charset="0"/>
                        </a:rPr>
                        <a:t> </a:t>
                      </a:r>
                      <a:endParaRPr lang="de-DE" sz="2000" dirty="0">
                        <a:latin typeface="Consolas" panose="020B0609020204030204" pitchFamily="49" charset="0"/>
                      </a:endParaRPr>
                    </a:p>
                  </a:txBody>
                  <a:tcPr/>
                </a:tc>
                <a:tc>
                  <a:txBody>
                    <a:bodyPr/>
                    <a:lstStyle/>
                    <a:p>
                      <a:r>
                        <a:rPr lang="de-DE" sz="2400" dirty="0"/>
                        <a:t>A1</a:t>
                      </a:r>
                      <a:endParaRPr lang="de-DE" sz="2400" dirty="0">
                        <a:latin typeface="+mj-lt"/>
                      </a:endParaRPr>
                    </a:p>
                  </a:txBody>
                  <a:tcPr/>
                </a:tc>
                <a:tc>
                  <a:txBody>
                    <a:bodyPr/>
                    <a:lstStyle/>
                    <a:p>
                      <a:r>
                        <a:rPr lang="de-DE" sz="2400" dirty="0">
                          <a:solidFill>
                            <a:srgbClr val="FF0000"/>
                          </a:solidFill>
                          <a:latin typeface="+mj-lt"/>
                        </a:rPr>
                        <a:t>24</a:t>
                      </a:r>
                    </a:p>
                  </a:txBody>
                  <a:tcPr/>
                </a:tc>
                <a:tc>
                  <a:txBody>
                    <a:bodyPr/>
                    <a:lstStyle/>
                    <a:p>
                      <a:r>
                        <a:rPr lang="de-DE" sz="2400" dirty="0">
                          <a:latin typeface="+mj-lt"/>
                        </a:rPr>
                        <a:t>2</a:t>
                      </a:r>
                      <a:r>
                        <a:rPr lang="de-DE" sz="2400" baseline="30000" dirty="0">
                          <a:latin typeface="+mj-lt"/>
                        </a:rPr>
                        <a:t>32-</a:t>
                      </a:r>
                      <a:r>
                        <a:rPr lang="de-DE" sz="2400" baseline="30000" dirty="0">
                          <a:solidFill>
                            <a:srgbClr val="FF0000"/>
                          </a:solidFill>
                          <a:latin typeface="+mj-lt"/>
                        </a:rPr>
                        <a:t>24</a:t>
                      </a:r>
                      <a:r>
                        <a:rPr lang="de-DE" sz="2400" baseline="30000" dirty="0">
                          <a:latin typeface="+mj-lt"/>
                        </a:rPr>
                        <a:t> </a:t>
                      </a:r>
                      <a:r>
                        <a:rPr lang="de-DE" sz="2400" dirty="0">
                          <a:latin typeface="+mj-lt"/>
                        </a:rPr>
                        <a:t>= 2</a:t>
                      </a:r>
                      <a:r>
                        <a:rPr lang="de-DE" sz="2400" baseline="30000" dirty="0">
                          <a:latin typeface="+mj-lt"/>
                        </a:rPr>
                        <a:t>8</a:t>
                      </a:r>
                    </a:p>
                  </a:txBody>
                  <a:tcPr/>
                </a:tc>
                <a:extLst>
                  <a:ext uri="{0D108BD9-81ED-4DB2-BD59-A6C34878D82A}">
                    <a16:rowId xmlns:a16="http://schemas.microsoft.com/office/drawing/2014/main" val="10001"/>
                  </a:ext>
                </a:extLst>
              </a:tr>
              <a:tr h="370840">
                <a:tc>
                  <a:txBody>
                    <a:bodyPr/>
                    <a:lstStyle/>
                    <a:p>
                      <a:r>
                        <a:rPr lang="en-US" sz="2000" dirty="0">
                          <a:latin typeface="Consolas" panose="020B0609020204030204" pitchFamily="49" charset="0"/>
                        </a:rPr>
                        <a:t>11001000 00010111 0001</a:t>
                      </a:r>
                      <a:r>
                        <a:rPr lang="en-US" sz="2000" dirty="0">
                          <a:solidFill>
                            <a:srgbClr val="0070C0"/>
                          </a:solidFill>
                          <a:latin typeface="Consolas" panose="020B0609020204030204" pitchFamily="49" charset="0"/>
                        </a:rPr>
                        <a:t>1</a:t>
                      </a:r>
                      <a:endParaRPr lang="de-DE" sz="2000" dirty="0">
                        <a:solidFill>
                          <a:srgbClr val="0070C0"/>
                        </a:solidFill>
                        <a:latin typeface="Consolas" panose="020B0609020204030204" pitchFamily="49" charset="0"/>
                      </a:endParaRPr>
                    </a:p>
                  </a:txBody>
                  <a:tcPr/>
                </a:tc>
                <a:tc>
                  <a:txBody>
                    <a:bodyPr/>
                    <a:lstStyle/>
                    <a:p>
                      <a:r>
                        <a:rPr lang="de-DE" sz="2400" dirty="0"/>
                        <a:t>A2</a:t>
                      </a:r>
                      <a:endParaRPr lang="de-DE" sz="2400" dirty="0">
                        <a:latin typeface="+mj-lt"/>
                      </a:endParaRPr>
                    </a:p>
                  </a:txBody>
                  <a:tcPr/>
                </a:tc>
                <a:tc>
                  <a:txBody>
                    <a:bodyPr/>
                    <a:lstStyle/>
                    <a:p>
                      <a:r>
                        <a:rPr lang="de-DE" sz="2400" dirty="0">
                          <a:solidFill>
                            <a:srgbClr val="FF0000"/>
                          </a:solidFill>
                          <a:latin typeface="+mj-lt"/>
                        </a:rPr>
                        <a:t>21</a:t>
                      </a:r>
                    </a:p>
                  </a:txBody>
                  <a:tcPr/>
                </a:tc>
                <a:tc>
                  <a:txBody>
                    <a:bodyPr/>
                    <a:lstStyle/>
                    <a:p>
                      <a:r>
                        <a:rPr lang="de-DE" sz="2400" b="1" dirty="0">
                          <a:solidFill>
                            <a:schemeClr val="tx1"/>
                          </a:solidFill>
                          <a:latin typeface="+mj-lt"/>
                        </a:rPr>
                        <a:t>?</a:t>
                      </a:r>
                    </a:p>
                  </a:txBody>
                  <a:tcPr/>
                </a:tc>
                <a:extLst>
                  <a:ext uri="{0D108BD9-81ED-4DB2-BD59-A6C34878D82A}">
                    <a16:rowId xmlns:a16="http://schemas.microsoft.com/office/drawing/2014/main" val="10002"/>
                  </a:ext>
                </a:extLst>
              </a:tr>
            </a:tbl>
          </a:graphicData>
        </a:graphic>
      </p:graphicFrame>
      <p:grpSp>
        <p:nvGrpSpPr>
          <p:cNvPr id="5" name="Gruppieren 4"/>
          <p:cNvGrpSpPr/>
          <p:nvPr/>
        </p:nvGrpSpPr>
        <p:grpSpPr>
          <a:xfrm>
            <a:off x="5436096" y="2996952"/>
            <a:ext cx="3250703" cy="2520280"/>
            <a:chOff x="5436096" y="2996952"/>
            <a:chExt cx="3250703" cy="2520280"/>
          </a:xfrm>
        </p:grpSpPr>
        <p:sp>
          <p:nvSpPr>
            <p:cNvPr id="4" name="Rechteck 3"/>
            <p:cNvSpPr/>
            <p:nvPr/>
          </p:nvSpPr>
          <p:spPr>
            <a:xfrm>
              <a:off x="5436096" y="2996952"/>
              <a:ext cx="3250703" cy="2520280"/>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tlCol="0" anchor="t"/>
            <a:lstStyle/>
            <a:p>
              <a:pPr algn="ctr"/>
              <a:r>
                <a:rPr lang="de-DE" sz="2400" dirty="0"/>
                <a:t>#Adressen zu A2:</a:t>
              </a:r>
              <a:br>
                <a:rPr lang="de-DE" sz="2000" dirty="0"/>
              </a:br>
              <a:r>
                <a:rPr lang="de-DE" sz="2800" dirty="0"/>
                <a:t>2</a:t>
              </a:r>
              <a:r>
                <a:rPr lang="de-DE" sz="2800" baseline="30000" dirty="0"/>
                <a:t>32-k</a:t>
              </a:r>
              <a:r>
                <a:rPr lang="de-DE" sz="2800" dirty="0"/>
                <a:t> – </a:t>
              </a:r>
              <a:r>
                <a:rPr lang="de-DE" sz="2800" dirty="0">
                  <a:solidFill>
                    <a:srgbClr val="0070C0"/>
                  </a:solidFill>
                </a:rPr>
                <a:t>2</a:t>
              </a:r>
              <a:r>
                <a:rPr lang="de-DE" sz="2800" baseline="30000" dirty="0">
                  <a:solidFill>
                    <a:srgbClr val="0070C0"/>
                  </a:solidFill>
                </a:rPr>
                <a:t>32-j</a:t>
              </a:r>
            </a:p>
          </p:txBody>
        </p:sp>
        <p:sp>
          <p:nvSpPr>
            <p:cNvPr id="10" name="Rechteck 9"/>
            <p:cNvSpPr/>
            <p:nvPr/>
          </p:nvSpPr>
          <p:spPr>
            <a:xfrm>
              <a:off x="6084168" y="4284712"/>
              <a:ext cx="2602631" cy="1232520"/>
            </a:xfrm>
            <a:prstGeom prst="rect">
              <a:avLst/>
            </a:prstGeom>
            <a:solidFill>
              <a:srgbClr val="FFC000"/>
            </a:solidFill>
            <a:ln/>
          </p:spPr>
          <p:style>
            <a:lnRef idx="1">
              <a:schemeClr val="accent4"/>
            </a:lnRef>
            <a:fillRef idx="2">
              <a:schemeClr val="accent4"/>
            </a:fillRef>
            <a:effectRef idx="1">
              <a:schemeClr val="accent4"/>
            </a:effectRef>
            <a:fontRef idx="minor">
              <a:schemeClr val="dk1"/>
            </a:fontRef>
          </p:style>
          <p:txBody>
            <a:bodyPr rtlCol="0" anchor="t"/>
            <a:lstStyle/>
            <a:p>
              <a:pPr algn="ctr"/>
              <a:r>
                <a:rPr lang="de-DE" sz="2400" dirty="0"/>
                <a:t>#Adressen zu A1:</a:t>
              </a:r>
            </a:p>
            <a:p>
              <a:pPr algn="ctr"/>
              <a:r>
                <a:rPr lang="de-DE" sz="2800" dirty="0">
                  <a:solidFill>
                    <a:srgbClr val="0070C0"/>
                  </a:solidFill>
                </a:rPr>
                <a:t>2</a:t>
              </a:r>
              <a:r>
                <a:rPr lang="de-DE" sz="2800" baseline="30000" dirty="0">
                  <a:solidFill>
                    <a:srgbClr val="0070C0"/>
                  </a:solidFill>
                </a:rPr>
                <a:t>32-j</a:t>
              </a:r>
              <a:endParaRPr lang="de-DE" sz="2800" dirty="0">
                <a:solidFill>
                  <a:srgbClr val="0070C0"/>
                </a:solidFill>
              </a:endParaRPr>
            </a:p>
          </p:txBody>
        </p:sp>
      </p:grpSp>
      <p:sp>
        <p:nvSpPr>
          <p:cNvPr id="11" name="Rechteck 10"/>
          <p:cNvSpPr/>
          <p:nvPr/>
        </p:nvSpPr>
        <p:spPr>
          <a:xfrm>
            <a:off x="5441598" y="5997427"/>
            <a:ext cx="2808312" cy="461665"/>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de-DE" sz="2400" dirty="0"/>
              <a:t>2</a:t>
            </a:r>
            <a:r>
              <a:rPr lang="de-DE" sz="2400" baseline="30000" dirty="0"/>
              <a:t>32-21 </a:t>
            </a:r>
            <a:r>
              <a:rPr lang="de-DE" sz="2400" dirty="0"/>
              <a:t>– 2</a:t>
            </a:r>
            <a:r>
              <a:rPr lang="de-DE" sz="2400" baseline="30000" dirty="0"/>
              <a:t>8 </a:t>
            </a:r>
            <a:r>
              <a:rPr lang="de-DE" sz="2400" dirty="0"/>
              <a:t>= 2</a:t>
            </a:r>
            <a:r>
              <a:rPr lang="de-DE" sz="2400" baseline="30000" dirty="0"/>
              <a:t>11</a:t>
            </a:r>
            <a:r>
              <a:rPr lang="de-DE" sz="2400" dirty="0"/>
              <a:t> - 2</a:t>
            </a:r>
            <a:r>
              <a:rPr lang="de-DE" sz="2400" baseline="30000" dirty="0"/>
              <a:t>8</a:t>
            </a:r>
          </a:p>
        </p:txBody>
      </p:sp>
      <p:sp>
        <p:nvSpPr>
          <p:cNvPr id="13" name="Rectangle 1">
            <a:extLst>
              <a:ext uri="{FF2B5EF4-FFF2-40B4-BE49-F238E27FC236}">
                <a16:creationId xmlns:a16="http://schemas.microsoft.com/office/drawing/2014/main" id="{F2BCB861-7E13-436A-8883-A3E292970406}"/>
              </a:ext>
            </a:extLst>
          </p:cNvPr>
          <p:cNvSpPr/>
          <p:nvPr/>
        </p:nvSpPr>
        <p:spPr>
          <a:xfrm>
            <a:off x="6156176" y="96881"/>
            <a:ext cx="2751074" cy="461665"/>
          </a:xfrm>
          <a:prstGeom prst="rect">
            <a:avLst/>
          </a:prstGeom>
        </p:spPr>
        <p:txBody>
          <a:bodyPr wrap="none">
            <a:spAutoFit/>
          </a:bodyPr>
          <a:lstStyle/>
          <a:p>
            <a:r>
              <a:rPr lang="en-US" sz="2400" dirty="0">
                <a:highlight>
                  <a:srgbClr val="00FF00"/>
                </a:highlight>
              </a:rPr>
              <a:t>https://bit.ly/ibn_hd</a:t>
            </a:r>
            <a:endParaRPr lang="en-US" sz="2400" dirty="0"/>
          </a:p>
        </p:txBody>
      </p:sp>
    </p:spTree>
    <p:extLst>
      <p:ext uri="{BB962C8B-B14F-4D97-AF65-F5344CB8AC3E}">
        <p14:creationId xmlns:p14="http://schemas.microsoft.com/office/powerpoint/2010/main" val="3592932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bg/>
                                          </p:spTgt>
                                        </p:tgtEl>
                                        <p:attrNameLst>
                                          <p:attrName>style.visibility</p:attrName>
                                        </p:attrNameLst>
                                      </p:cBhvr>
                                      <p:to>
                                        <p:strVal val="visible"/>
                                      </p:to>
                                    </p:set>
                                    <p:animEffect transition="in" filter="fade">
                                      <p:cBhvr>
                                        <p:cTn id="17" dur="2000"/>
                                        <p:tgtEl>
                                          <p:spTgt spid="11">
                                            <p:bg/>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xEl>
                                              <p:pRg st="0" end="0"/>
                                            </p:txEl>
                                          </p:spTgt>
                                        </p:tgtEl>
                                        <p:attrNameLst>
                                          <p:attrName>style.visibility</p:attrName>
                                        </p:attrNameLst>
                                      </p:cBhvr>
                                      <p:to>
                                        <p:strVal val="visible"/>
                                      </p:to>
                                    </p:set>
                                    <p:animEffect transition="in" filter="fade">
                                      <p:cBhvr>
                                        <p:cTn id="20"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9" name="Rectangle 5"/>
          <p:cNvSpPr>
            <a:spLocks noGrp="1" noChangeArrowheads="1"/>
          </p:cNvSpPr>
          <p:nvPr>
            <p:ph type="title"/>
          </p:nvPr>
        </p:nvSpPr>
        <p:spPr/>
        <p:txBody>
          <a:bodyPr/>
          <a:lstStyle/>
          <a:p>
            <a:r>
              <a:rPr lang="de-DE" dirty="0"/>
              <a:t>Beschreibung der Subnetze</a:t>
            </a:r>
          </a:p>
        </p:txBody>
      </p:sp>
      <p:sp>
        <p:nvSpPr>
          <p:cNvPr id="49" name="Slide Number Placeholder 6"/>
          <p:cNvSpPr>
            <a:spLocks noGrp="1"/>
          </p:cNvSpPr>
          <p:nvPr>
            <p:ph type="sldNum" sz="quarter" idx="12"/>
          </p:nvPr>
        </p:nvSpPr>
        <p:spPr/>
        <p:txBody>
          <a:bodyPr/>
          <a:lstStyle/>
          <a:p>
            <a:fld id="{FCD08975-25F3-4DFF-B9C8-A74F27652591}" type="slidenum">
              <a:rPr lang="de-DE" smtClean="0"/>
              <a:pPr/>
              <a:t>18</a:t>
            </a:fld>
            <a:endParaRPr lang="de-DE"/>
          </a:p>
        </p:txBody>
      </p:sp>
      <p:sp>
        <p:nvSpPr>
          <p:cNvPr id="579590" name="Rectangle 6"/>
          <p:cNvSpPr>
            <a:spLocks noGrp="1" noChangeArrowheads="1"/>
          </p:cNvSpPr>
          <p:nvPr>
            <p:ph sz="quarter" idx="1"/>
          </p:nvPr>
        </p:nvSpPr>
        <p:spPr>
          <a:xfrm>
            <a:off x="457199" y="1219200"/>
            <a:ext cx="5316069" cy="5450160"/>
          </a:xfrm>
        </p:spPr>
        <p:txBody>
          <a:bodyPr>
            <a:normAutofit/>
          </a:bodyPr>
          <a:lstStyle/>
          <a:p>
            <a:r>
              <a:rPr lang="de-DE" sz="2400" dirty="0">
                <a:solidFill>
                  <a:srgbClr val="000000"/>
                </a:solidFill>
              </a:rPr>
              <a:t>Zur Erinnerung: Angabe der Adresse eines Subnetzes</a:t>
            </a:r>
          </a:p>
          <a:p>
            <a:pPr lvl="1"/>
            <a:r>
              <a:rPr lang="de-DE" sz="2000" b="1" dirty="0">
                <a:solidFill>
                  <a:srgbClr val="FF0000"/>
                </a:solidFill>
              </a:rPr>
              <a:t>Längenschreibweise</a:t>
            </a:r>
            <a:r>
              <a:rPr lang="de-DE" sz="2000" dirty="0">
                <a:solidFill>
                  <a:srgbClr val="000000"/>
                </a:solidFill>
              </a:rPr>
              <a:t>: </a:t>
            </a:r>
            <a:r>
              <a:rPr lang="de-DE" sz="2400" dirty="0">
                <a:solidFill>
                  <a:srgbClr val="000000"/>
                </a:solidFill>
              </a:rPr>
              <a:t>z.B. </a:t>
            </a:r>
            <a:r>
              <a:rPr lang="de-DE" sz="2400" dirty="0">
                <a:latin typeface="Arial" charset="0"/>
              </a:rPr>
              <a:t>223.1.3.0/24</a:t>
            </a:r>
            <a:endParaRPr lang="de-DE" sz="2400" dirty="0">
              <a:solidFill>
                <a:srgbClr val="000000"/>
              </a:solidFill>
            </a:endParaRPr>
          </a:p>
          <a:p>
            <a:pPr lvl="1"/>
            <a:r>
              <a:rPr lang="de-DE" sz="2000" b="1" dirty="0">
                <a:solidFill>
                  <a:srgbClr val="FF0000"/>
                </a:solidFill>
              </a:rPr>
              <a:t>Maskenschreibweise</a:t>
            </a:r>
            <a:r>
              <a:rPr lang="de-DE" sz="2000" dirty="0">
                <a:solidFill>
                  <a:srgbClr val="000000"/>
                </a:solidFill>
              </a:rPr>
              <a:t>: </a:t>
            </a:r>
            <a:br>
              <a:rPr lang="de-DE" sz="2000" dirty="0">
                <a:solidFill>
                  <a:srgbClr val="000000"/>
                </a:solidFill>
              </a:rPr>
            </a:br>
            <a:r>
              <a:rPr lang="de-DE" sz="1800" dirty="0">
                <a:solidFill>
                  <a:srgbClr val="000000"/>
                </a:solidFill>
              </a:rPr>
              <a:t>z.B. 255.255.255.0 (entspricht /24)</a:t>
            </a:r>
          </a:p>
          <a:p>
            <a:r>
              <a:rPr lang="de-DE" sz="2400" dirty="0">
                <a:solidFill>
                  <a:srgbClr val="000000"/>
                </a:solidFill>
              </a:rPr>
              <a:t>Problem bei Ausgang A2: </a:t>
            </a:r>
            <a:br>
              <a:rPr lang="de-DE" sz="2400" dirty="0">
                <a:solidFill>
                  <a:srgbClr val="000000"/>
                </a:solidFill>
              </a:rPr>
            </a:br>
            <a:r>
              <a:rPr lang="de-DE" sz="2400" dirty="0">
                <a:solidFill>
                  <a:srgbClr val="000000"/>
                </a:solidFill>
              </a:rPr>
              <a:t>wir haben einen Teil der </a:t>
            </a:r>
            <a:br>
              <a:rPr lang="de-DE" sz="2400" dirty="0">
                <a:solidFill>
                  <a:srgbClr val="000000"/>
                </a:solidFill>
              </a:rPr>
            </a:br>
            <a:r>
              <a:rPr lang="de-DE" sz="2400" dirty="0">
                <a:solidFill>
                  <a:srgbClr val="000000"/>
                </a:solidFill>
              </a:rPr>
              <a:t>Adressen herausgenommen!</a:t>
            </a:r>
          </a:p>
          <a:p>
            <a:r>
              <a:rPr lang="de-DE" sz="2400" dirty="0">
                <a:solidFill>
                  <a:srgbClr val="000000"/>
                </a:solidFill>
              </a:rPr>
              <a:t>Lösung: schreibe das in der </a:t>
            </a:r>
            <a:br>
              <a:rPr lang="de-DE" sz="2400" dirty="0">
                <a:solidFill>
                  <a:srgbClr val="000000"/>
                </a:solidFill>
              </a:rPr>
            </a:br>
            <a:r>
              <a:rPr lang="de-DE" sz="2400" dirty="0">
                <a:solidFill>
                  <a:srgbClr val="000000"/>
                </a:solidFill>
              </a:rPr>
              <a:t>Form </a:t>
            </a:r>
            <a:r>
              <a:rPr lang="de-DE" sz="2400" b="1" dirty="0" err="1">
                <a:solidFill>
                  <a:srgbClr val="FF0000"/>
                </a:solidFill>
              </a:rPr>
              <a:t>a.b.c.d</a:t>
            </a:r>
            <a:r>
              <a:rPr lang="de-DE" sz="2400" b="1" dirty="0">
                <a:solidFill>
                  <a:srgbClr val="FF0000"/>
                </a:solidFill>
              </a:rPr>
              <a:t>/x – </a:t>
            </a:r>
            <a:r>
              <a:rPr lang="de-DE" sz="2400" b="1" dirty="0" err="1">
                <a:solidFill>
                  <a:srgbClr val="FF0000"/>
                </a:solidFill>
              </a:rPr>
              <a:t>e.f.g.h</a:t>
            </a:r>
            <a:r>
              <a:rPr lang="de-DE" sz="2400" b="1" dirty="0">
                <a:solidFill>
                  <a:srgbClr val="FF0000"/>
                </a:solidFill>
              </a:rPr>
              <a:t>/y</a:t>
            </a:r>
          </a:p>
          <a:p>
            <a:r>
              <a:rPr lang="de-DE" sz="2400" dirty="0">
                <a:solidFill>
                  <a:srgbClr val="000000"/>
                </a:solidFill>
              </a:rPr>
              <a:t>D.h. „</a:t>
            </a:r>
            <a:r>
              <a:rPr lang="de-DE" sz="2400" dirty="0">
                <a:solidFill>
                  <a:srgbClr val="0070C0"/>
                </a:solidFill>
              </a:rPr>
              <a:t>großer Bereich</a:t>
            </a:r>
            <a:r>
              <a:rPr lang="de-DE" sz="2400" dirty="0">
                <a:solidFill>
                  <a:srgbClr val="000000"/>
                </a:solidFill>
              </a:rPr>
              <a:t>“ </a:t>
            </a:r>
            <a:r>
              <a:rPr lang="de-DE" sz="2400" b="1" dirty="0">
                <a:solidFill>
                  <a:srgbClr val="FF0000"/>
                </a:solidFill>
              </a:rPr>
              <a:t>–</a:t>
            </a:r>
            <a:r>
              <a:rPr lang="de-DE" sz="2400" dirty="0">
                <a:solidFill>
                  <a:srgbClr val="000000"/>
                </a:solidFill>
              </a:rPr>
              <a:t> „</a:t>
            </a:r>
            <a:r>
              <a:rPr lang="de-DE" sz="2400" dirty="0">
                <a:solidFill>
                  <a:srgbClr val="0070C0"/>
                </a:solidFill>
              </a:rPr>
              <a:t>Teilmenge</a:t>
            </a:r>
            <a:r>
              <a:rPr lang="de-DE" sz="2400" dirty="0">
                <a:solidFill>
                  <a:srgbClr val="000000"/>
                </a:solidFill>
              </a:rPr>
              <a:t>“</a:t>
            </a:r>
          </a:p>
          <a:p>
            <a:r>
              <a:rPr lang="de-DE" sz="2400" dirty="0">
                <a:solidFill>
                  <a:srgbClr val="000000"/>
                </a:solidFill>
              </a:rPr>
              <a:t>Beispiel für Ausgang A2?</a:t>
            </a:r>
            <a:endParaRPr lang="de-DE" sz="2100" dirty="0">
              <a:solidFill>
                <a:srgbClr val="000000"/>
              </a:solidFill>
            </a:endParaRPr>
          </a:p>
        </p:txBody>
      </p:sp>
      <p:grpSp>
        <p:nvGrpSpPr>
          <p:cNvPr id="5" name="Group 59"/>
          <p:cNvGrpSpPr>
            <a:grpSpLocks/>
          </p:cNvGrpSpPr>
          <p:nvPr/>
        </p:nvGrpSpPr>
        <p:grpSpPr bwMode="auto">
          <a:xfrm>
            <a:off x="4984753" y="1197413"/>
            <a:ext cx="4397378" cy="4378325"/>
            <a:chOff x="2526" y="505"/>
            <a:chExt cx="2770" cy="2758"/>
          </a:xfrm>
        </p:grpSpPr>
        <p:sp>
          <p:nvSpPr>
            <p:cNvPr id="579586" name="Freeform 2"/>
            <p:cNvSpPr>
              <a:spLocks/>
            </p:cNvSpPr>
            <p:nvPr/>
          </p:nvSpPr>
          <p:spPr bwMode="auto">
            <a:xfrm>
              <a:off x="2758" y="731"/>
              <a:ext cx="1223" cy="1291"/>
            </a:xfrm>
            <a:custGeom>
              <a:avLst/>
              <a:gdLst>
                <a:gd name="T0" fmla="*/ 1201 w 1223"/>
                <a:gd name="T1" fmla="*/ 756 h 1291"/>
                <a:gd name="T2" fmla="*/ 702 w 1223"/>
                <a:gd name="T3" fmla="*/ 670 h 1291"/>
                <a:gd name="T4" fmla="*/ 608 w 1223"/>
                <a:gd name="T5" fmla="*/ 103 h 1291"/>
                <a:gd name="T6" fmla="*/ 335 w 1223"/>
                <a:gd name="T7" fmla="*/ 52 h 1291"/>
                <a:gd name="T8" fmla="*/ 65 w 1223"/>
                <a:gd name="T9" fmla="*/ 82 h 1291"/>
                <a:gd name="T10" fmla="*/ 41 w 1223"/>
                <a:gd name="T11" fmla="*/ 544 h 1291"/>
                <a:gd name="T12" fmla="*/ 38 w 1223"/>
                <a:gd name="T13" fmla="*/ 751 h 1291"/>
                <a:gd name="T14" fmla="*/ 23 w 1223"/>
                <a:gd name="T15" fmla="*/ 940 h 1291"/>
                <a:gd name="T16" fmla="*/ 17 w 1223"/>
                <a:gd name="T17" fmla="*/ 1114 h 1291"/>
                <a:gd name="T18" fmla="*/ 128 w 1223"/>
                <a:gd name="T19" fmla="*/ 1219 h 1291"/>
                <a:gd name="T20" fmla="*/ 602 w 1223"/>
                <a:gd name="T21" fmla="*/ 1243 h 1291"/>
                <a:gd name="T22" fmla="*/ 686 w 1223"/>
                <a:gd name="T23" fmla="*/ 930 h 1291"/>
                <a:gd name="T24" fmla="*/ 1177 w 1223"/>
                <a:gd name="T25" fmla="*/ 916 h 1291"/>
                <a:gd name="T26" fmla="*/ 1201 w 1223"/>
                <a:gd name="T27" fmla="*/ 756 h 12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23" h="1291">
                  <a:moveTo>
                    <a:pt x="1201" y="756"/>
                  </a:moveTo>
                  <a:cubicBezTo>
                    <a:pt x="1180" y="640"/>
                    <a:pt x="798" y="744"/>
                    <a:pt x="702" y="670"/>
                  </a:cubicBezTo>
                  <a:cubicBezTo>
                    <a:pt x="603" y="561"/>
                    <a:pt x="669" y="206"/>
                    <a:pt x="608" y="103"/>
                  </a:cubicBezTo>
                  <a:cubicBezTo>
                    <a:pt x="547" y="0"/>
                    <a:pt x="425" y="55"/>
                    <a:pt x="335" y="52"/>
                  </a:cubicBezTo>
                  <a:cubicBezTo>
                    <a:pt x="245" y="49"/>
                    <a:pt x="114" y="0"/>
                    <a:pt x="65" y="82"/>
                  </a:cubicBezTo>
                  <a:cubicBezTo>
                    <a:pt x="16" y="164"/>
                    <a:pt x="45" y="433"/>
                    <a:pt x="41" y="544"/>
                  </a:cubicBezTo>
                  <a:cubicBezTo>
                    <a:pt x="37" y="655"/>
                    <a:pt x="41" y="685"/>
                    <a:pt x="38" y="751"/>
                  </a:cubicBezTo>
                  <a:cubicBezTo>
                    <a:pt x="35" y="817"/>
                    <a:pt x="26" y="880"/>
                    <a:pt x="23" y="940"/>
                  </a:cubicBezTo>
                  <a:cubicBezTo>
                    <a:pt x="20" y="1000"/>
                    <a:pt x="0" y="1068"/>
                    <a:pt x="17" y="1114"/>
                  </a:cubicBezTo>
                  <a:cubicBezTo>
                    <a:pt x="34" y="1160"/>
                    <a:pt x="31" y="1198"/>
                    <a:pt x="128" y="1219"/>
                  </a:cubicBezTo>
                  <a:cubicBezTo>
                    <a:pt x="225" y="1240"/>
                    <a:pt x="509" y="1291"/>
                    <a:pt x="602" y="1243"/>
                  </a:cubicBezTo>
                  <a:cubicBezTo>
                    <a:pt x="695" y="1195"/>
                    <a:pt x="590" y="984"/>
                    <a:pt x="686" y="930"/>
                  </a:cubicBezTo>
                  <a:cubicBezTo>
                    <a:pt x="782" y="876"/>
                    <a:pt x="1091" y="945"/>
                    <a:pt x="1177" y="916"/>
                  </a:cubicBezTo>
                  <a:cubicBezTo>
                    <a:pt x="1208" y="864"/>
                    <a:pt x="1223" y="871"/>
                    <a:pt x="1201" y="756"/>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588" name="Freeform 4"/>
            <p:cNvSpPr>
              <a:spLocks/>
            </p:cNvSpPr>
            <p:nvPr/>
          </p:nvSpPr>
          <p:spPr bwMode="auto">
            <a:xfrm>
              <a:off x="3514" y="1815"/>
              <a:ext cx="1286" cy="1247"/>
            </a:xfrm>
            <a:custGeom>
              <a:avLst/>
              <a:gdLst>
                <a:gd name="T0" fmla="*/ 587 w 1286"/>
                <a:gd name="T1" fmla="*/ 30 h 1247"/>
                <a:gd name="T2" fmla="*/ 509 w 1286"/>
                <a:gd name="T3" fmla="*/ 618 h 1247"/>
                <a:gd name="T4" fmla="*/ 77 w 1286"/>
                <a:gd name="T5" fmla="*/ 909 h 1247"/>
                <a:gd name="T6" fmla="*/ 47 w 1286"/>
                <a:gd name="T7" fmla="*/ 1095 h 1247"/>
                <a:gd name="T8" fmla="*/ 140 w 1286"/>
                <a:gd name="T9" fmla="*/ 1224 h 1247"/>
                <a:gd name="T10" fmla="*/ 461 w 1286"/>
                <a:gd name="T11" fmla="*/ 1209 h 1247"/>
                <a:gd name="T12" fmla="*/ 692 w 1286"/>
                <a:gd name="T13" fmla="*/ 1209 h 1247"/>
                <a:gd name="T14" fmla="*/ 1190 w 1286"/>
                <a:gd name="T15" fmla="*/ 1227 h 1247"/>
                <a:gd name="T16" fmla="*/ 1271 w 1286"/>
                <a:gd name="T17" fmla="*/ 1089 h 1247"/>
                <a:gd name="T18" fmla="*/ 1139 w 1286"/>
                <a:gd name="T19" fmla="*/ 741 h 1247"/>
                <a:gd name="T20" fmla="*/ 800 w 1286"/>
                <a:gd name="T21" fmla="*/ 627 h 1247"/>
                <a:gd name="T22" fmla="*/ 749 w 1286"/>
                <a:gd name="T23" fmla="*/ 42 h 1247"/>
                <a:gd name="T24" fmla="*/ 587 w 1286"/>
                <a:gd name="T25" fmla="*/ 30 h 1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86" h="1247">
                  <a:moveTo>
                    <a:pt x="587" y="30"/>
                  </a:moveTo>
                  <a:cubicBezTo>
                    <a:pt x="473" y="60"/>
                    <a:pt x="601" y="475"/>
                    <a:pt x="509" y="618"/>
                  </a:cubicBezTo>
                  <a:cubicBezTo>
                    <a:pt x="424" y="765"/>
                    <a:pt x="154" y="830"/>
                    <a:pt x="77" y="909"/>
                  </a:cubicBezTo>
                  <a:cubicBezTo>
                    <a:pt x="0" y="988"/>
                    <a:pt x="37" y="1043"/>
                    <a:pt x="47" y="1095"/>
                  </a:cubicBezTo>
                  <a:cubicBezTo>
                    <a:pt x="57" y="1147"/>
                    <a:pt x="71" y="1205"/>
                    <a:pt x="140" y="1224"/>
                  </a:cubicBezTo>
                  <a:cubicBezTo>
                    <a:pt x="209" y="1243"/>
                    <a:pt x="369" y="1212"/>
                    <a:pt x="461" y="1209"/>
                  </a:cubicBezTo>
                  <a:cubicBezTo>
                    <a:pt x="553" y="1206"/>
                    <a:pt x="571" y="1206"/>
                    <a:pt x="692" y="1209"/>
                  </a:cubicBezTo>
                  <a:cubicBezTo>
                    <a:pt x="813" y="1212"/>
                    <a:pt x="1094" y="1247"/>
                    <a:pt x="1190" y="1227"/>
                  </a:cubicBezTo>
                  <a:cubicBezTo>
                    <a:pt x="1286" y="1207"/>
                    <a:pt x="1279" y="1170"/>
                    <a:pt x="1271" y="1089"/>
                  </a:cubicBezTo>
                  <a:cubicBezTo>
                    <a:pt x="1263" y="1008"/>
                    <a:pt x="1217" y="818"/>
                    <a:pt x="1139" y="741"/>
                  </a:cubicBezTo>
                  <a:cubicBezTo>
                    <a:pt x="1061" y="664"/>
                    <a:pt x="865" y="743"/>
                    <a:pt x="800" y="627"/>
                  </a:cubicBezTo>
                  <a:cubicBezTo>
                    <a:pt x="735" y="511"/>
                    <a:pt x="785" y="142"/>
                    <a:pt x="749" y="42"/>
                  </a:cubicBezTo>
                  <a:cubicBezTo>
                    <a:pt x="695" y="15"/>
                    <a:pt x="701" y="0"/>
                    <a:pt x="587" y="30"/>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aphicFrame>
          <p:nvGraphicFramePr>
            <p:cNvPr id="579591" name="Object 7"/>
            <p:cNvGraphicFramePr>
              <a:graphicFrameLocks noChangeAspect="1"/>
            </p:cNvGraphicFramePr>
            <p:nvPr/>
          </p:nvGraphicFramePr>
          <p:xfrm>
            <a:off x="2807" y="797"/>
            <a:ext cx="368" cy="292"/>
          </p:xfrm>
          <a:graphic>
            <a:graphicData uri="http://schemas.openxmlformats.org/presentationml/2006/ole">
              <mc:AlternateContent xmlns:mc="http://schemas.openxmlformats.org/markup-compatibility/2006">
                <mc:Choice xmlns:v="urn:schemas-microsoft-com:vml" Requires="v">
                  <p:oleObj name="Clip" r:id="rId3" imgW="1307263" imgH="1084139" progId="">
                    <p:embed/>
                  </p:oleObj>
                </mc:Choice>
                <mc:Fallback>
                  <p:oleObj name="Clip" r:id="rId3" imgW="1307263" imgH="1084139" progId="">
                    <p:embed/>
                    <p:pic>
                      <p:nvPicPr>
                        <p:cNvPr id="579591"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79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592" name="Line 8"/>
            <p:cNvSpPr>
              <a:spLocks noChangeShapeType="1"/>
            </p:cNvSpPr>
            <p:nvPr/>
          </p:nvSpPr>
          <p:spPr bwMode="auto">
            <a:xfrm>
              <a:off x="3160" y="1032"/>
              <a:ext cx="175"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593" name="Line 9"/>
            <p:cNvSpPr>
              <a:spLocks noChangeShapeType="1"/>
            </p:cNvSpPr>
            <p:nvPr/>
          </p:nvSpPr>
          <p:spPr bwMode="auto">
            <a:xfrm flipH="1">
              <a:off x="3343" y="1023"/>
              <a:ext cx="0" cy="8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594" name="Line 10"/>
            <p:cNvSpPr>
              <a:spLocks noChangeShapeType="1"/>
            </p:cNvSpPr>
            <p:nvPr/>
          </p:nvSpPr>
          <p:spPr bwMode="auto">
            <a:xfrm flipV="1">
              <a:off x="3160" y="1438"/>
              <a:ext cx="175" cy="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595" name="Line 11"/>
            <p:cNvSpPr>
              <a:spLocks noChangeShapeType="1"/>
            </p:cNvSpPr>
            <p:nvPr/>
          </p:nvSpPr>
          <p:spPr bwMode="auto">
            <a:xfrm>
              <a:off x="3166" y="1833"/>
              <a:ext cx="172" cy="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aphicFrame>
          <p:nvGraphicFramePr>
            <p:cNvPr id="579596" name="Object 12"/>
            <p:cNvGraphicFramePr>
              <a:graphicFrameLocks noChangeAspect="1"/>
            </p:cNvGraphicFramePr>
            <p:nvPr/>
          </p:nvGraphicFramePr>
          <p:xfrm>
            <a:off x="2807" y="1217"/>
            <a:ext cx="368" cy="292"/>
          </p:xfrm>
          <a:graphic>
            <a:graphicData uri="http://schemas.openxmlformats.org/presentationml/2006/ole">
              <mc:AlternateContent xmlns:mc="http://schemas.openxmlformats.org/markup-compatibility/2006">
                <mc:Choice xmlns:v="urn:schemas-microsoft-com:vml" Requires="v">
                  <p:oleObj name="Clip" r:id="rId5" imgW="1307263" imgH="1084139" progId="">
                    <p:embed/>
                  </p:oleObj>
                </mc:Choice>
                <mc:Fallback>
                  <p:oleObj name="Clip" r:id="rId5" imgW="1307263" imgH="1084139" progId="">
                    <p:embed/>
                    <p:pic>
                      <p:nvPicPr>
                        <p:cNvPr id="579596" name="Object 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121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79597" name="Object 13"/>
            <p:cNvGraphicFramePr>
              <a:graphicFrameLocks noChangeAspect="1"/>
            </p:cNvGraphicFramePr>
            <p:nvPr/>
          </p:nvGraphicFramePr>
          <p:xfrm>
            <a:off x="2807" y="1601"/>
            <a:ext cx="368" cy="292"/>
          </p:xfrm>
          <a:graphic>
            <a:graphicData uri="http://schemas.openxmlformats.org/presentationml/2006/ole">
              <mc:AlternateContent xmlns:mc="http://schemas.openxmlformats.org/markup-compatibility/2006">
                <mc:Choice xmlns:v="urn:schemas-microsoft-com:vml" Requires="v">
                  <p:oleObj name="Clip" r:id="rId6" imgW="1307263" imgH="1084139" progId="">
                    <p:embed/>
                  </p:oleObj>
                </mc:Choice>
                <mc:Fallback>
                  <p:oleObj name="Clip" r:id="rId6" imgW="1307263" imgH="1084139" progId="">
                    <p:embed/>
                    <p:pic>
                      <p:nvPicPr>
                        <p:cNvPr id="579597"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7" y="1601"/>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598" name="Line 14"/>
            <p:cNvSpPr>
              <a:spLocks noChangeShapeType="1"/>
            </p:cNvSpPr>
            <p:nvPr/>
          </p:nvSpPr>
          <p:spPr bwMode="auto">
            <a:xfrm>
              <a:off x="3343" y="1563"/>
              <a:ext cx="652" cy="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pSp>
          <p:nvGrpSpPr>
            <p:cNvPr id="6" name="Group 15"/>
            <p:cNvGrpSpPr>
              <a:grpSpLocks/>
            </p:cNvGrpSpPr>
            <p:nvPr/>
          </p:nvGrpSpPr>
          <p:grpSpPr bwMode="auto">
            <a:xfrm>
              <a:off x="3937" y="1541"/>
              <a:ext cx="448" cy="240"/>
              <a:chOff x="3600" y="219"/>
              <a:chExt cx="360" cy="175"/>
            </a:xfrm>
          </p:grpSpPr>
          <p:sp>
            <p:nvSpPr>
              <p:cNvPr id="579600" name="Oval 16"/>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01" name="Line 17"/>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02" name="Line 18"/>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03" name="Rectangle 19"/>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mj-lt"/>
                </a:endParaRPr>
              </a:p>
            </p:txBody>
          </p:sp>
          <p:sp>
            <p:nvSpPr>
              <p:cNvPr id="579604" name="Oval 20"/>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pSp>
            <p:nvGrpSpPr>
              <p:cNvPr id="7" name="Group 21"/>
              <p:cNvGrpSpPr>
                <a:grpSpLocks/>
              </p:cNvGrpSpPr>
              <p:nvPr/>
            </p:nvGrpSpPr>
            <p:grpSpPr bwMode="auto">
              <a:xfrm>
                <a:off x="3686" y="244"/>
                <a:ext cx="177" cy="66"/>
                <a:chOff x="2848" y="848"/>
                <a:chExt cx="140" cy="98"/>
              </a:xfrm>
            </p:grpSpPr>
            <p:sp>
              <p:nvSpPr>
                <p:cNvPr id="579606" name="Line 22"/>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07" name="Line 23"/>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08" name="Line 24"/>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pSp>
          <p:grpSp>
            <p:nvGrpSpPr>
              <p:cNvPr id="8" name="Group 25"/>
              <p:cNvGrpSpPr>
                <a:grpSpLocks/>
              </p:cNvGrpSpPr>
              <p:nvPr/>
            </p:nvGrpSpPr>
            <p:grpSpPr bwMode="auto">
              <a:xfrm flipV="1">
                <a:off x="3686" y="243"/>
                <a:ext cx="177" cy="66"/>
                <a:chOff x="2848" y="848"/>
                <a:chExt cx="140" cy="98"/>
              </a:xfrm>
            </p:grpSpPr>
            <p:sp>
              <p:nvSpPr>
                <p:cNvPr id="579610" name="Line 26"/>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11" name="Line 27"/>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12" name="Line 28"/>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pSp>
        </p:grpSp>
        <p:sp>
          <p:nvSpPr>
            <p:cNvPr id="579617" name="Text Box 33"/>
            <p:cNvSpPr txBox="1">
              <a:spLocks noChangeArrowheads="1"/>
            </p:cNvSpPr>
            <p:nvPr/>
          </p:nvSpPr>
          <p:spPr bwMode="auto">
            <a:xfrm>
              <a:off x="2526" y="505"/>
              <a:ext cx="2181"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000" dirty="0">
                  <a:latin typeface="+mj-lt"/>
                  <a:cs typeface="Times New Roman" pitchFamily="18" charset="0"/>
                </a:rPr>
                <a:t>11001000  00010111  </a:t>
              </a:r>
              <a:r>
                <a:rPr lang="de-DE" sz="2000" b="1" dirty="0">
                  <a:solidFill>
                    <a:srgbClr val="FF0000"/>
                  </a:solidFill>
                  <a:latin typeface="+mj-lt"/>
                  <a:cs typeface="Times New Roman" pitchFamily="18" charset="0"/>
                </a:rPr>
                <a:t>00011</a:t>
              </a:r>
              <a:endParaRPr lang="de-DE" sz="2000" b="1" dirty="0">
                <a:solidFill>
                  <a:srgbClr val="FF0000"/>
                </a:solidFill>
                <a:latin typeface="+mj-lt"/>
              </a:endParaRPr>
            </a:p>
          </p:txBody>
        </p:sp>
        <p:sp>
          <p:nvSpPr>
            <p:cNvPr id="579629" name="Line 45"/>
            <p:cNvSpPr>
              <a:spLocks noChangeShapeType="1"/>
            </p:cNvSpPr>
            <p:nvPr/>
          </p:nvSpPr>
          <p:spPr bwMode="auto">
            <a:xfrm flipH="1">
              <a:off x="4168" y="1782"/>
              <a:ext cx="0" cy="8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30" name="Line 46"/>
            <p:cNvSpPr>
              <a:spLocks noChangeShapeType="1"/>
            </p:cNvSpPr>
            <p:nvPr/>
          </p:nvSpPr>
          <p:spPr bwMode="auto">
            <a:xfrm flipH="1">
              <a:off x="3784" y="2589"/>
              <a:ext cx="74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31" name="Line 47"/>
            <p:cNvSpPr>
              <a:spLocks noChangeShapeType="1"/>
            </p:cNvSpPr>
            <p:nvPr/>
          </p:nvSpPr>
          <p:spPr bwMode="auto">
            <a:xfrm flipH="1" flipV="1">
              <a:off x="3782" y="2584"/>
              <a:ext cx="2" cy="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579632" name="Line 48"/>
            <p:cNvSpPr>
              <a:spLocks noChangeShapeType="1"/>
            </p:cNvSpPr>
            <p:nvPr/>
          </p:nvSpPr>
          <p:spPr bwMode="auto">
            <a:xfrm flipH="1" flipV="1">
              <a:off x="4523" y="2587"/>
              <a:ext cx="2" cy="1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aphicFrame>
          <p:nvGraphicFramePr>
            <p:cNvPr id="579633" name="Object 49"/>
            <p:cNvGraphicFramePr>
              <a:graphicFrameLocks noChangeAspect="1"/>
            </p:cNvGraphicFramePr>
            <p:nvPr/>
          </p:nvGraphicFramePr>
          <p:xfrm>
            <a:off x="4388" y="2687"/>
            <a:ext cx="368" cy="292"/>
          </p:xfrm>
          <a:graphic>
            <a:graphicData uri="http://schemas.openxmlformats.org/presentationml/2006/ole">
              <mc:AlternateContent xmlns:mc="http://schemas.openxmlformats.org/markup-compatibility/2006">
                <mc:Choice xmlns:v="urn:schemas-microsoft-com:vml" Requires="v">
                  <p:oleObj name="Clip" r:id="rId7" imgW="1307263" imgH="1084139" progId="">
                    <p:embed/>
                  </p:oleObj>
                </mc:Choice>
                <mc:Fallback>
                  <p:oleObj name="Clip" r:id="rId7" imgW="1307263" imgH="1084139" progId="">
                    <p:embed/>
                    <p:pic>
                      <p:nvPicPr>
                        <p:cNvPr id="579633" name="Object 4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8" y="2687"/>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579634" name="Object 50"/>
            <p:cNvGraphicFramePr>
              <a:graphicFrameLocks noChangeAspect="1"/>
            </p:cNvGraphicFramePr>
            <p:nvPr/>
          </p:nvGraphicFramePr>
          <p:xfrm>
            <a:off x="3596" y="2696"/>
            <a:ext cx="368" cy="292"/>
          </p:xfrm>
          <a:graphic>
            <a:graphicData uri="http://schemas.openxmlformats.org/presentationml/2006/ole">
              <mc:AlternateContent xmlns:mc="http://schemas.openxmlformats.org/markup-compatibility/2006">
                <mc:Choice xmlns:v="urn:schemas-microsoft-com:vml" Requires="v">
                  <p:oleObj name="Clip" r:id="rId8" imgW="1307263" imgH="1084139" progId="">
                    <p:embed/>
                  </p:oleObj>
                </mc:Choice>
                <mc:Fallback>
                  <p:oleObj name="Clip" r:id="rId8" imgW="1307263" imgH="1084139" progId="">
                    <p:embed/>
                    <p:pic>
                      <p:nvPicPr>
                        <p:cNvPr id="579634" name="Object 5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6" y="2696"/>
                          <a:ext cx="368" cy="29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79635" name="Text Box 51"/>
            <p:cNvSpPr txBox="1">
              <a:spLocks noChangeArrowheads="1"/>
            </p:cNvSpPr>
            <p:nvPr/>
          </p:nvSpPr>
          <p:spPr bwMode="auto">
            <a:xfrm>
              <a:off x="2846" y="3011"/>
              <a:ext cx="2450"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000">
                  <a:latin typeface="+mj-lt"/>
                  <a:cs typeface="Times New Roman" pitchFamily="18" charset="0"/>
                </a:rPr>
                <a:t>11001000  00010111  </a:t>
              </a:r>
              <a:r>
                <a:rPr lang="de-DE" sz="2000" b="1">
                  <a:solidFill>
                    <a:srgbClr val="FF0000"/>
                  </a:solidFill>
                  <a:latin typeface="+mj-lt"/>
                  <a:cs typeface="Times New Roman" pitchFamily="18" charset="0"/>
                </a:rPr>
                <a:t>00011000</a:t>
              </a:r>
              <a:r>
                <a:rPr lang="de-DE" sz="2000">
                  <a:latin typeface="+mj-lt"/>
                  <a:cs typeface="Times New Roman" pitchFamily="18" charset="0"/>
                </a:rPr>
                <a:t> </a:t>
              </a:r>
              <a:endParaRPr lang="de-DE" sz="2000">
                <a:latin typeface="+mj-lt"/>
              </a:endParaRPr>
            </a:p>
          </p:txBody>
        </p:sp>
        <p:sp>
          <p:nvSpPr>
            <p:cNvPr id="579636" name="Rectangle 52"/>
            <p:cNvSpPr>
              <a:spLocks noChangeArrowheads="1"/>
            </p:cNvSpPr>
            <p:nvPr/>
          </p:nvSpPr>
          <p:spPr bwMode="auto">
            <a:xfrm>
              <a:off x="3054" y="2412"/>
              <a:ext cx="534" cy="1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61" name="Line 45"/>
            <p:cNvSpPr>
              <a:spLocks noChangeShapeType="1"/>
            </p:cNvSpPr>
            <p:nvPr/>
          </p:nvSpPr>
          <p:spPr bwMode="auto">
            <a:xfrm flipV="1">
              <a:off x="4264" y="1363"/>
              <a:ext cx="179" cy="17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sp>
          <p:nvSpPr>
            <p:cNvPr id="62" name="Line 45"/>
            <p:cNvSpPr>
              <a:spLocks noChangeShapeType="1"/>
            </p:cNvSpPr>
            <p:nvPr/>
          </p:nvSpPr>
          <p:spPr bwMode="auto">
            <a:xfrm flipV="1">
              <a:off x="4393" y="1637"/>
              <a:ext cx="174" cy="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latin typeface="+mj-lt"/>
              </a:endParaRPr>
            </a:p>
          </p:txBody>
        </p:sp>
      </p:grpSp>
      <p:sp>
        <p:nvSpPr>
          <p:cNvPr id="2" name="TextBox 1"/>
          <p:cNvSpPr txBox="1"/>
          <p:nvPr/>
        </p:nvSpPr>
        <p:spPr>
          <a:xfrm>
            <a:off x="6760062" y="2510361"/>
            <a:ext cx="561372" cy="461665"/>
          </a:xfrm>
          <a:prstGeom prst="rect">
            <a:avLst/>
          </a:prstGeom>
          <a:noFill/>
        </p:spPr>
        <p:txBody>
          <a:bodyPr wrap="none" rtlCol="0">
            <a:spAutoFit/>
          </a:bodyPr>
          <a:lstStyle/>
          <a:p>
            <a:r>
              <a:rPr lang="de-DE" sz="2400" dirty="0"/>
              <a:t>A2</a:t>
            </a:r>
          </a:p>
        </p:txBody>
      </p:sp>
      <p:sp>
        <p:nvSpPr>
          <p:cNvPr id="60" name="TextBox 59"/>
          <p:cNvSpPr txBox="1"/>
          <p:nvPr/>
        </p:nvSpPr>
        <p:spPr>
          <a:xfrm>
            <a:off x="7588141" y="3182731"/>
            <a:ext cx="561372" cy="461665"/>
          </a:xfrm>
          <a:prstGeom prst="rect">
            <a:avLst/>
          </a:prstGeom>
          <a:noFill/>
        </p:spPr>
        <p:txBody>
          <a:bodyPr wrap="none" rtlCol="0">
            <a:spAutoFit/>
          </a:bodyPr>
          <a:lstStyle/>
          <a:p>
            <a:r>
              <a:rPr lang="de-DE" sz="2400" dirty="0"/>
              <a:t>A1</a:t>
            </a:r>
          </a:p>
        </p:txBody>
      </p:sp>
      <p:sp>
        <p:nvSpPr>
          <p:cNvPr id="3" name="Rectangle 2"/>
          <p:cNvSpPr/>
          <p:nvPr/>
        </p:nvSpPr>
        <p:spPr>
          <a:xfrm>
            <a:off x="6427657" y="1484784"/>
            <a:ext cx="2536831" cy="400110"/>
          </a:xfrm>
          <a:prstGeom prst="rect">
            <a:avLst/>
          </a:prstGeom>
        </p:spPr>
        <p:txBody>
          <a:bodyPr wrap="square">
            <a:spAutoFit/>
          </a:bodyPr>
          <a:lstStyle/>
          <a:p>
            <a:r>
              <a:rPr lang="de-DE" sz="2000" u="sng" dirty="0">
                <a:latin typeface="+mj-lt"/>
                <a:cs typeface="Times New Roman" pitchFamily="18" charset="0"/>
              </a:rPr>
              <a:t>ohne</a:t>
            </a:r>
            <a:r>
              <a:rPr lang="de-DE" sz="2000" dirty="0">
                <a:latin typeface="+mj-lt"/>
                <a:cs typeface="Times New Roman" pitchFamily="18" charset="0"/>
              </a:rPr>
              <a:t> </a:t>
            </a:r>
            <a:r>
              <a:rPr lang="de-DE" sz="2000" u="sng" dirty="0">
                <a:latin typeface="+mj-lt"/>
                <a:cs typeface="Times New Roman" pitchFamily="18" charset="0"/>
              </a:rPr>
              <a:t>alles</a:t>
            </a:r>
            <a:r>
              <a:rPr lang="de-DE" sz="2000" dirty="0">
                <a:latin typeface="+mj-lt"/>
                <a:cs typeface="Times New Roman" pitchFamily="18" charset="0"/>
              </a:rPr>
              <a:t> über A1! </a:t>
            </a:r>
            <a:endParaRPr lang="de-DE" sz="2000" dirty="0">
              <a:latin typeface="+mj-lt"/>
            </a:endParaRPr>
          </a:p>
        </p:txBody>
      </p:sp>
      <p:sp>
        <p:nvSpPr>
          <p:cNvPr id="4" name="TextBox 3"/>
          <p:cNvSpPr txBox="1"/>
          <p:nvPr/>
        </p:nvSpPr>
        <p:spPr>
          <a:xfrm>
            <a:off x="6577539" y="5576470"/>
            <a:ext cx="2150204" cy="707886"/>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de-DE" sz="2000" dirty="0">
                <a:latin typeface="+mj-lt"/>
              </a:rPr>
              <a:t>Subnetz über A1:</a:t>
            </a:r>
          </a:p>
          <a:p>
            <a:r>
              <a:rPr lang="de-DE" sz="2000" dirty="0">
                <a:solidFill>
                  <a:srgbClr val="000000"/>
                </a:solidFill>
                <a:latin typeface="+mj-lt"/>
                <a:cs typeface="Times New Roman" pitchFamily="18" charset="0"/>
              </a:rPr>
              <a:t>200.23.24.0/24</a:t>
            </a:r>
            <a:endParaRPr lang="de-DE" sz="2000" dirty="0">
              <a:solidFill>
                <a:srgbClr val="000000"/>
              </a:solidFill>
              <a:latin typeface="+mj-lt"/>
            </a:endParaRPr>
          </a:p>
        </p:txBody>
      </p:sp>
      <p:sp>
        <p:nvSpPr>
          <p:cNvPr id="63" name="TextBox 62"/>
          <p:cNvSpPr txBox="1"/>
          <p:nvPr/>
        </p:nvSpPr>
        <p:spPr>
          <a:xfrm>
            <a:off x="4847375" y="3371831"/>
            <a:ext cx="2150204" cy="1015663"/>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de-DE" sz="2000" dirty="0">
                <a:latin typeface="+mj-lt"/>
              </a:rPr>
              <a:t>Subnetz über A2:</a:t>
            </a:r>
          </a:p>
          <a:p>
            <a:r>
              <a:rPr lang="de-DE" sz="2000" dirty="0">
                <a:solidFill>
                  <a:srgbClr val="000000"/>
                </a:solidFill>
                <a:latin typeface="+mj-lt"/>
                <a:cs typeface="Times New Roman" pitchFamily="18" charset="0"/>
              </a:rPr>
              <a:t>200.23.24.0/21 </a:t>
            </a:r>
            <a:r>
              <a:rPr lang="de-DE" sz="2000" b="1" dirty="0">
                <a:solidFill>
                  <a:srgbClr val="FF0000"/>
                </a:solidFill>
                <a:latin typeface="+mj-lt"/>
                <a:cs typeface="Times New Roman" pitchFamily="18" charset="0"/>
              </a:rPr>
              <a:t>–</a:t>
            </a:r>
            <a:endParaRPr lang="de-DE" sz="2000" b="1" dirty="0">
              <a:solidFill>
                <a:srgbClr val="FF0000"/>
              </a:solidFill>
              <a:latin typeface="+mj-lt"/>
            </a:endParaRPr>
          </a:p>
          <a:p>
            <a:r>
              <a:rPr lang="de-DE" sz="2000" dirty="0">
                <a:solidFill>
                  <a:srgbClr val="000000"/>
                </a:solidFill>
                <a:latin typeface="+mj-lt"/>
                <a:cs typeface="Times New Roman" pitchFamily="18" charset="0"/>
              </a:rPr>
              <a:t>200.23.24.0/24</a:t>
            </a:r>
          </a:p>
        </p:txBody>
      </p:sp>
    </p:spTree>
    <p:extLst>
      <p:ext uri="{BB962C8B-B14F-4D97-AF65-F5344CB8AC3E}">
        <p14:creationId xmlns:p14="http://schemas.microsoft.com/office/powerpoint/2010/main" val="3954759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5" presetClass="entr" presetSubtype="0" fill="hold" grpId="0" nodeType="clickEffect">
                                  <p:stCondLst>
                                    <p:cond delay="0"/>
                                  </p:stCondLst>
                                  <p:childTnLst>
                                    <p:set>
                                      <p:cBhvr>
                                        <p:cTn id="13" dur="1" fill="hold">
                                          <p:stCondLst>
                                            <p:cond delay="0"/>
                                          </p:stCondLst>
                                        </p:cTn>
                                        <p:tgtEl>
                                          <p:spTgt spid="63"/>
                                        </p:tgtEl>
                                        <p:attrNameLst>
                                          <p:attrName>style.visibility</p:attrName>
                                        </p:attrNameLst>
                                      </p:cBhvr>
                                      <p:to>
                                        <p:strVal val="visible"/>
                                      </p:to>
                                    </p:set>
                                    <p:animEffect transition="in" filter="fade">
                                      <p:cBhvr>
                                        <p:cTn id="14" dur="2000"/>
                                        <p:tgtEl>
                                          <p:spTgt spid="63"/>
                                        </p:tgtEl>
                                      </p:cBhvr>
                                    </p:animEffect>
                                    <p:anim calcmode="lin" valueType="num">
                                      <p:cBhvr>
                                        <p:cTn id="15" dur="2000" fill="hold"/>
                                        <p:tgtEl>
                                          <p:spTgt spid="63"/>
                                        </p:tgtEl>
                                        <p:attrNameLst>
                                          <p:attrName>ppt_w</p:attrName>
                                        </p:attrNameLst>
                                      </p:cBhvr>
                                      <p:tavLst>
                                        <p:tav tm="0" fmla="#ppt_w*sin(2.5*pi*$)">
                                          <p:val>
                                            <p:fltVal val="0"/>
                                          </p:val>
                                        </p:tav>
                                        <p:tav tm="100000">
                                          <p:val>
                                            <p:fltVal val="1"/>
                                          </p:val>
                                        </p:tav>
                                      </p:tavLst>
                                    </p:anim>
                                    <p:anim calcmode="lin" valueType="num">
                                      <p:cBhvr>
                                        <p:cTn id="16" dur="2000" fill="hold"/>
                                        <p:tgtEl>
                                          <p:spTgt spid="6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FBECF2-188A-4ADC-B4CC-B466C0BC8F27}"/>
              </a:ext>
            </a:extLst>
          </p:cNvPr>
          <p:cNvSpPr>
            <a:spLocks noGrp="1"/>
          </p:cNvSpPr>
          <p:nvPr>
            <p:ph type="title"/>
          </p:nvPr>
        </p:nvSpPr>
        <p:spPr/>
        <p:txBody>
          <a:bodyPr>
            <a:normAutofit/>
          </a:bodyPr>
          <a:lstStyle/>
          <a:p>
            <a:r>
              <a:rPr lang="de-DE" b="1" dirty="0">
                <a:solidFill>
                  <a:srgbClr val="0070C0"/>
                </a:solidFill>
              </a:rPr>
              <a:t>Filius</a:t>
            </a:r>
            <a:r>
              <a:rPr lang="de-DE" dirty="0"/>
              <a:t> Lernanwendung – z.B. Routing </a:t>
            </a:r>
          </a:p>
        </p:txBody>
      </p:sp>
      <p:sp>
        <p:nvSpPr>
          <p:cNvPr id="3" name="Foliennummernplatzhalter 2">
            <a:extLst>
              <a:ext uri="{FF2B5EF4-FFF2-40B4-BE49-F238E27FC236}">
                <a16:creationId xmlns:a16="http://schemas.microsoft.com/office/drawing/2014/main" id="{CE7DE6E7-E29D-493E-81F6-C8FDE440455F}"/>
              </a:ext>
            </a:extLst>
          </p:cNvPr>
          <p:cNvSpPr>
            <a:spLocks noGrp="1"/>
          </p:cNvSpPr>
          <p:nvPr>
            <p:ph type="sldNum" sz="quarter" idx="12"/>
          </p:nvPr>
        </p:nvSpPr>
        <p:spPr/>
        <p:txBody>
          <a:bodyPr/>
          <a:lstStyle/>
          <a:p>
            <a:fld id="{7183533A-8A50-4A1F-BEA9-C8C6956451EB}" type="slidenum">
              <a:rPr lang="en-US" noProof="0" smtClean="0"/>
              <a:pPr/>
              <a:t>19</a:t>
            </a:fld>
            <a:endParaRPr lang="en-US" noProof="0" dirty="0"/>
          </a:p>
        </p:txBody>
      </p:sp>
      <p:sp>
        <p:nvSpPr>
          <p:cNvPr id="4" name="Inhaltsplatzhalter 3">
            <a:extLst>
              <a:ext uri="{FF2B5EF4-FFF2-40B4-BE49-F238E27FC236}">
                <a16:creationId xmlns:a16="http://schemas.microsoft.com/office/drawing/2014/main" id="{9212F06B-47D4-4494-AA75-5E4C6DF31385}"/>
              </a:ext>
            </a:extLst>
          </p:cNvPr>
          <p:cNvSpPr>
            <a:spLocks noGrp="1"/>
          </p:cNvSpPr>
          <p:nvPr>
            <p:ph sz="quarter" idx="1"/>
          </p:nvPr>
        </p:nvSpPr>
        <p:spPr/>
        <p:txBody>
          <a:bodyPr>
            <a:normAutofit/>
          </a:bodyPr>
          <a:lstStyle/>
          <a:p>
            <a:r>
              <a:rPr lang="de-DE" sz="1800" dirty="0"/>
              <a:t>https://www.lernsoftware-filius.de/Startseite</a:t>
            </a:r>
          </a:p>
          <a:p>
            <a:r>
              <a:rPr lang="de-DE" sz="1800" dirty="0"/>
              <a:t>https://www.lernsoftware-filius.de/downloads/Einfuehrung_Filius_2015.pdf </a:t>
            </a:r>
          </a:p>
        </p:txBody>
      </p:sp>
      <p:pic>
        <p:nvPicPr>
          <p:cNvPr id="7" name="Grafik 6">
            <a:extLst>
              <a:ext uri="{FF2B5EF4-FFF2-40B4-BE49-F238E27FC236}">
                <a16:creationId xmlns:a16="http://schemas.microsoft.com/office/drawing/2014/main" id="{2F27833F-0399-480F-8C10-2C65D54AB5E4}"/>
              </a:ext>
            </a:extLst>
          </p:cNvPr>
          <p:cNvPicPr>
            <a:picLocks noChangeAspect="1"/>
          </p:cNvPicPr>
          <p:nvPr/>
        </p:nvPicPr>
        <p:blipFill>
          <a:blip r:embed="rId2"/>
          <a:stretch>
            <a:fillRect/>
          </a:stretch>
        </p:blipFill>
        <p:spPr>
          <a:xfrm>
            <a:off x="325810" y="2132614"/>
            <a:ext cx="4246190" cy="2131062"/>
          </a:xfrm>
          <a:prstGeom prst="rect">
            <a:avLst/>
          </a:prstGeom>
        </p:spPr>
      </p:pic>
      <p:pic>
        <p:nvPicPr>
          <p:cNvPr id="13" name="Grafik 12">
            <a:extLst>
              <a:ext uri="{FF2B5EF4-FFF2-40B4-BE49-F238E27FC236}">
                <a16:creationId xmlns:a16="http://schemas.microsoft.com/office/drawing/2014/main" id="{98F60D8D-60D1-4E13-AF47-64B97A9F6149}"/>
              </a:ext>
            </a:extLst>
          </p:cNvPr>
          <p:cNvPicPr>
            <a:picLocks noChangeAspect="1"/>
          </p:cNvPicPr>
          <p:nvPr/>
        </p:nvPicPr>
        <p:blipFill>
          <a:blip r:embed="rId3"/>
          <a:stretch>
            <a:fillRect/>
          </a:stretch>
        </p:blipFill>
        <p:spPr>
          <a:xfrm>
            <a:off x="4572000" y="2031186"/>
            <a:ext cx="4204843" cy="2333918"/>
          </a:xfrm>
          <a:prstGeom prst="rect">
            <a:avLst/>
          </a:prstGeom>
        </p:spPr>
      </p:pic>
      <p:pic>
        <p:nvPicPr>
          <p:cNvPr id="15" name="Grafik 14">
            <a:extLst>
              <a:ext uri="{FF2B5EF4-FFF2-40B4-BE49-F238E27FC236}">
                <a16:creationId xmlns:a16="http://schemas.microsoft.com/office/drawing/2014/main" id="{B4CC5EB9-5AB8-49DB-BDF2-CDE25F04F7CC}"/>
              </a:ext>
            </a:extLst>
          </p:cNvPr>
          <p:cNvPicPr>
            <a:picLocks noChangeAspect="1"/>
          </p:cNvPicPr>
          <p:nvPr/>
        </p:nvPicPr>
        <p:blipFill>
          <a:blip r:embed="rId4"/>
          <a:stretch>
            <a:fillRect/>
          </a:stretch>
        </p:blipFill>
        <p:spPr>
          <a:xfrm>
            <a:off x="971600" y="4544058"/>
            <a:ext cx="6157354" cy="2131062"/>
          </a:xfrm>
          <a:prstGeom prst="rect">
            <a:avLst/>
          </a:prstGeom>
        </p:spPr>
      </p:pic>
    </p:spTree>
    <p:extLst>
      <p:ext uri="{BB962C8B-B14F-4D97-AF65-F5344CB8AC3E}">
        <p14:creationId xmlns:p14="http://schemas.microsoft.com/office/powerpoint/2010/main" val="26809930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20</a:t>
            </a:fld>
            <a:endParaRPr lang="de-DE" dirty="0"/>
          </a:p>
        </p:txBody>
      </p:sp>
      <p:sp>
        <p:nvSpPr>
          <p:cNvPr id="3" name="Titel 2"/>
          <p:cNvSpPr>
            <a:spLocks noGrp="1"/>
          </p:cNvSpPr>
          <p:nvPr>
            <p:ph type="title"/>
          </p:nvPr>
        </p:nvSpPr>
        <p:spPr>
          <a:xfrm>
            <a:off x="971600" y="2348880"/>
            <a:ext cx="7200800" cy="2376264"/>
          </a:xfrm>
        </p:spPr>
        <p:txBody>
          <a:bodyPr>
            <a:normAutofit/>
          </a:bodyPr>
          <a:lstStyle/>
          <a:p>
            <a:r>
              <a:rPr lang="de-DE" dirty="0"/>
              <a:t>Routingalgorithmen </a:t>
            </a:r>
            <a:br>
              <a:rPr lang="de-DE" dirty="0"/>
            </a:br>
            <a:r>
              <a:rPr lang="de-DE" dirty="0"/>
              <a:t>(Netzwerkschicht)</a:t>
            </a:r>
          </a:p>
        </p:txBody>
      </p:sp>
    </p:spTree>
    <p:extLst>
      <p:ext uri="{BB962C8B-B14F-4D97-AF65-F5344CB8AC3E}">
        <p14:creationId xmlns:p14="http://schemas.microsoft.com/office/powerpoint/2010/main" val="21145811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Slide Number Placeholder 4"/>
          <p:cNvSpPr>
            <a:spLocks noGrp="1"/>
          </p:cNvSpPr>
          <p:nvPr>
            <p:ph type="sldNum" sz="quarter" idx="12"/>
          </p:nvPr>
        </p:nvSpPr>
        <p:spPr/>
        <p:txBody>
          <a:bodyPr/>
          <a:lstStyle/>
          <a:p>
            <a:fld id="{E03E7E1A-2B5B-4D8D-88B8-8C8DD3EA0994}" type="slidenum">
              <a:rPr lang="de-DE" smtClean="0"/>
              <a:pPr/>
              <a:t>21</a:t>
            </a:fld>
            <a:endParaRPr lang="de-DE"/>
          </a:p>
        </p:txBody>
      </p:sp>
      <p:sp>
        <p:nvSpPr>
          <p:cNvPr id="454822" name="Rectangle 166"/>
          <p:cNvSpPr>
            <a:spLocks noGrp="1" noChangeArrowheads="1"/>
          </p:cNvSpPr>
          <p:nvPr>
            <p:ph type="title"/>
          </p:nvPr>
        </p:nvSpPr>
        <p:spPr>
          <a:xfrm>
            <a:off x="249238" y="0"/>
            <a:ext cx="8894762" cy="1143000"/>
          </a:xfrm>
        </p:spPr>
        <p:txBody>
          <a:bodyPr/>
          <a:lstStyle/>
          <a:p>
            <a:r>
              <a:rPr lang="de-DE" sz="3600" dirty="0"/>
              <a:t>Routing von Paketen</a:t>
            </a:r>
          </a:p>
        </p:txBody>
      </p:sp>
      <p:sp>
        <p:nvSpPr>
          <p:cNvPr id="2" name="TextBox 1"/>
          <p:cNvSpPr txBox="1"/>
          <p:nvPr/>
        </p:nvSpPr>
        <p:spPr>
          <a:xfrm>
            <a:off x="539552" y="1196752"/>
            <a:ext cx="8604449" cy="3200876"/>
          </a:xfrm>
          <a:prstGeom prst="rect">
            <a:avLst/>
          </a:prstGeom>
          <a:noFill/>
        </p:spPr>
        <p:txBody>
          <a:bodyPr wrap="square" rtlCol="0">
            <a:spAutoFit/>
          </a:bodyPr>
          <a:lstStyle/>
          <a:p>
            <a:pPr marL="274320" indent="-274320">
              <a:spcBef>
                <a:spcPts val="600"/>
              </a:spcBef>
              <a:buClr>
                <a:srgbClr val="53548A"/>
              </a:buClr>
              <a:buSzPct val="76000"/>
              <a:buFont typeface="Wingdings 3"/>
              <a:buChar char=""/>
            </a:pPr>
            <a:r>
              <a:rPr lang="de-DE" sz="2400" dirty="0">
                <a:solidFill>
                  <a:prstClr val="black"/>
                </a:solidFill>
              </a:rPr>
              <a:t>Ein Host ist üblicherweise einem </a:t>
            </a:r>
            <a:r>
              <a:rPr lang="de-DE" sz="2400" u="sng" dirty="0">
                <a:solidFill>
                  <a:prstClr val="black"/>
                </a:solidFill>
              </a:rPr>
              <a:t>Router</a:t>
            </a:r>
            <a:r>
              <a:rPr lang="de-DE" sz="2400" dirty="0">
                <a:solidFill>
                  <a:prstClr val="black"/>
                </a:solidFill>
              </a:rPr>
              <a:t> des lokalen Netzwerks zugeordnet, dem </a:t>
            </a:r>
            <a:r>
              <a:rPr lang="de-DE" sz="2400" b="1" dirty="0">
                <a:solidFill>
                  <a:srgbClr val="FF0000"/>
                </a:solidFill>
              </a:rPr>
              <a:t>Standard-Gateway</a:t>
            </a:r>
            <a:r>
              <a:rPr lang="de-DE" sz="2400" dirty="0">
                <a:solidFill>
                  <a:prstClr val="black"/>
                </a:solidFill>
              </a:rPr>
              <a:t> des Hosts</a:t>
            </a:r>
          </a:p>
          <a:p>
            <a:pPr marL="274320" indent="-274320">
              <a:spcBef>
                <a:spcPts val="600"/>
              </a:spcBef>
              <a:buClr>
                <a:srgbClr val="53548A"/>
              </a:buClr>
              <a:buSzPct val="76000"/>
              <a:buFont typeface="Wingdings 3"/>
              <a:buChar char=""/>
            </a:pPr>
            <a:r>
              <a:rPr lang="de-DE" sz="2400" dirty="0">
                <a:solidFill>
                  <a:prstClr val="black"/>
                </a:solidFill>
              </a:rPr>
              <a:t>Das Problem, ein Paket vom Quellhost zum Zielhost zu leiten, wird auf die Weiterleitung eines Paketes vom </a:t>
            </a:r>
            <a:r>
              <a:rPr lang="de-DE" sz="2400" b="1" dirty="0">
                <a:solidFill>
                  <a:srgbClr val="FF0000"/>
                </a:solidFill>
              </a:rPr>
              <a:t>Quellrouter </a:t>
            </a:r>
            <a:r>
              <a:rPr lang="de-DE" sz="2400" dirty="0">
                <a:solidFill>
                  <a:prstClr val="black"/>
                </a:solidFill>
              </a:rPr>
              <a:t>zum </a:t>
            </a:r>
            <a:r>
              <a:rPr lang="de-DE" sz="2400" b="1" dirty="0">
                <a:solidFill>
                  <a:srgbClr val="FF0000"/>
                </a:solidFill>
              </a:rPr>
              <a:t>Zielrouter </a:t>
            </a:r>
            <a:r>
              <a:rPr lang="de-DE" sz="2400" dirty="0">
                <a:solidFill>
                  <a:prstClr val="black"/>
                </a:solidFill>
              </a:rPr>
              <a:t>reduziert</a:t>
            </a:r>
          </a:p>
          <a:p>
            <a:pPr marL="274320" lvl="0" indent="-274320">
              <a:spcBef>
                <a:spcPts val="600"/>
              </a:spcBef>
              <a:buClr>
                <a:srgbClr val="53548A"/>
              </a:buClr>
              <a:buSzPct val="76000"/>
              <a:buFont typeface="Wingdings 3"/>
              <a:buChar char=""/>
            </a:pPr>
            <a:r>
              <a:rPr lang="de-DE" sz="2400" dirty="0">
                <a:solidFill>
                  <a:prstClr val="black"/>
                </a:solidFill>
              </a:rPr>
              <a:t>Das </a:t>
            </a:r>
            <a:r>
              <a:rPr lang="de-DE" sz="2400" b="1" dirty="0">
                <a:solidFill>
                  <a:srgbClr val="FF0000"/>
                </a:solidFill>
              </a:rPr>
              <a:t>Routing</a:t>
            </a:r>
            <a:r>
              <a:rPr lang="de-DE" sz="2400" dirty="0">
                <a:solidFill>
                  <a:prstClr val="black"/>
                </a:solidFill>
              </a:rPr>
              <a:t> ist also das Leiten eines Pakets vom </a:t>
            </a:r>
            <a:r>
              <a:rPr lang="de-DE" sz="2400" b="1" dirty="0">
                <a:solidFill>
                  <a:srgbClr val="FF0000"/>
                </a:solidFill>
              </a:rPr>
              <a:t>Quellrouter Q </a:t>
            </a:r>
            <a:r>
              <a:rPr lang="de-DE" sz="2400" dirty="0">
                <a:solidFill>
                  <a:prstClr val="black"/>
                </a:solidFill>
              </a:rPr>
              <a:t>zum </a:t>
            </a:r>
            <a:r>
              <a:rPr lang="de-DE" sz="2400" b="1" dirty="0">
                <a:solidFill>
                  <a:srgbClr val="FF0000"/>
                </a:solidFill>
              </a:rPr>
              <a:t>Zielrouter Z </a:t>
            </a:r>
            <a:r>
              <a:rPr lang="de-DE" sz="2400" dirty="0"/>
              <a:t>über die Router dazwischen</a:t>
            </a:r>
          </a:p>
        </p:txBody>
      </p:sp>
      <p:sp>
        <p:nvSpPr>
          <p:cNvPr id="161" name="TextBox 160"/>
          <p:cNvSpPr txBox="1"/>
          <p:nvPr/>
        </p:nvSpPr>
        <p:spPr>
          <a:xfrm>
            <a:off x="539552" y="4303441"/>
            <a:ext cx="8639226" cy="2046714"/>
          </a:xfrm>
          <a:prstGeom prst="rect">
            <a:avLst/>
          </a:prstGeom>
          <a:noFill/>
        </p:spPr>
        <p:txBody>
          <a:bodyPr wrap="square" rtlCol="0">
            <a:spAutoFit/>
          </a:bodyPr>
          <a:lstStyle/>
          <a:p>
            <a:pPr marL="274320" lvl="0" indent="-274320">
              <a:spcBef>
                <a:spcPts val="600"/>
              </a:spcBef>
              <a:buClr>
                <a:srgbClr val="53548A"/>
              </a:buClr>
              <a:buSzPct val="76000"/>
              <a:buFont typeface="Wingdings 3"/>
              <a:buChar char=""/>
            </a:pPr>
            <a:r>
              <a:rPr lang="de-DE" sz="2400" dirty="0"/>
              <a:t>Zwei Probleme:</a:t>
            </a:r>
            <a:endParaRPr lang="de-DE" sz="2200" dirty="0"/>
          </a:p>
          <a:p>
            <a:pPr marL="914400" lvl="1" indent="-457200">
              <a:spcBef>
                <a:spcPts val="600"/>
              </a:spcBef>
              <a:buClr>
                <a:srgbClr val="53548A"/>
              </a:buClr>
              <a:buSzPct val="76000"/>
              <a:buFont typeface="+mj-lt"/>
              <a:buAutoNum type="arabicPeriod"/>
            </a:pPr>
            <a:r>
              <a:rPr lang="de-DE" sz="2200" dirty="0">
                <a:solidFill>
                  <a:prstClr val="black"/>
                </a:solidFill>
              </a:rPr>
              <a:t>Wie finden wir einen (guten) Pfad zwischen Q und Z? </a:t>
            </a:r>
          </a:p>
          <a:p>
            <a:pPr marL="914400" lvl="1" indent="-457200">
              <a:spcBef>
                <a:spcPts val="600"/>
              </a:spcBef>
              <a:buClr>
                <a:srgbClr val="53548A"/>
              </a:buClr>
              <a:buSzPct val="76000"/>
              <a:buFont typeface="+mj-lt"/>
              <a:buAutoNum type="arabicPeriod"/>
            </a:pPr>
            <a:r>
              <a:rPr lang="de-DE" sz="2200" dirty="0">
                <a:solidFill>
                  <a:prstClr val="black"/>
                </a:solidFill>
              </a:rPr>
              <a:t>Wie stellen wir sicher, dass jeder Zwischenrouter das Paket entlang dieses (guten) Pfades leitet?</a:t>
            </a:r>
          </a:p>
          <a:p>
            <a:pPr marL="274320" indent="-274320">
              <a:spcBef>
                <a:spcPts val="600"/>
              </a:spcBef>
              <a:buClr>
                <a:srgbClr val="53548A"/>
              </a:buClr>
              <a:buSzPct val="76000"/>
              <a:buFont typeface="Wingdings 3"/>
              <a:buChar char=""/>
            </a:pPr>
            <a:endParaRPr lang="de-DE" sz="2200" dirty="0">
              <a:solidFill>
                <a:prstClr val="black"/>
              </a:solidFill>
            </a:endParaRPr>
          </a:p>
        </p:txBody>
      </p:sp>
    </p:spTree>
    <p:extLst>
      <p:ext uri="{BB962C8B-B14F-4D97-AF65-F5344CB8AC3E}">
        <p14:creationId xmlns:p14="http://schemas.microsoft.com/office/powerpoint/2010/main" val="265739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1"/>
                                        </p:tgtEl>
                                        <p:attrNameLst>
                                          <p:attrName>style.visibility</p:attrName>
                                        </p:attrNameLst>
                                      </p:cBhvr>
                                      <p:to>
                                        <p:strVal val="visible"/>
                                      </p:to>
                                    </p:set>
                                    <p:animEffect transition="in" filter="fade">
                                      <p:cBhvr>
                                        <p:cTn id="7"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1"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Slide Number Placeholder 4"/>
          <p:cNvSpPr>
            <a:spLocks noGrp="1"/>
          </p:cNvSpPr>
          <p:nvPr>
            <p:ph type="sldNum" sz="quarter" idx="12"/>
          </p:nvPr>
        </p:nvSpPr>
        <p:spPr/>
        <p:txBody>
          <a:bodyPr/>
          <a:lstStyle/>
          <a:p>
            <a:fld id="{E03E7E1A-2B5B-4D8D-88B8-8C8DD3EA0994}" type="slidenum">
              <a:rPr lang="de-DE" smtClean="0"/>
              <a:pPr/>
              <a:t>22</a:t>
            </a:fld>
            <a:endParaRPr lang="de-DE"/>
          </a:p>
        </p:txBody>
      </p:sp>
      <p:sp>
        <p:nvSpPr>
          <p:cNvPr id="454659" name="Freeform 3"/>
          <p:cNvSpPr>
            <a:spLocks/>
          </p:cNvSpPr>
          <p:nvPr/>
        </p:nvSpPr>
        <p:spPr bwMode="auto">
          <a:xfrm>
            <a:off x="2167165" y="4342272"/>
            <a:ext cx="2847975" cy="1481138"/>
          </a:xfrm>
          <a:custGeom>
            <a:avLst/>
            <a:gdLst>
              <a:gd name="T0" fmla="*/ 6 w 1794"/>
              <a:gd name="T1" fmla="*/ 483 h 933"/>
              <a:gd name="T2" fmla="*/ 108 w 1794"/>
              <a:gd name="T3" fmla="*/ 125 h 933"/>
              <a:gd name="T4" fmla="*/ 559 w 1794"/>
              <a:gd name="T5" fmla="*/ 100 h 933"/>
              <a:gd name="T6" fmla="*/ 1128 w 1794"/>
              <a:gd name="T7" fmla="*/ 29 h 933"/>
              <a:gd name="T8" fmla="*/ 1716 w 1794"/>
              <a:gd name="T9" fmla="*/ 275 h 933"/>
              <a:gd name="T10" fmla="*/ 1596 w 1794"/>
              <a:gd name="T11" fmla="*/ 827 h 933"/>
              <a:gd name="T12" fmla="*/ 1380 w 1794"/>
              <a:gd name="T13" fmla="*/ 911 h 933"/>
              <a:gd name="T14" fmla="*/ 840 w 1794"/>
              <a:gd name="T15" fmla="*/ 929 h 933"/>
              <a:gd name="T16" fmla="*/ 414 w 1794"/>
              <a:gd name="T17" fmla="*/ 911 h 933"/>
              <a:gd name="T18" fmla="*/ 143 w 1794"/>
              <a:gd name="T19" fmla="*/ 832 h 933"/>
              <a:gd name="T20" fmla="*/ 6 w 1794"/>
              <a:gd name="T21" fmla="*/ 483 h 9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794" h="933">
                <a:moveTo>
                  <a:pt x="6" y="483"/>
                </a:moveTo>
                <a:cubicBezTo>
                  <a:pt x="0" y="365"/>
                  <a:pt x="16" y="189"/>
                  <a:pt x="108" y="125"/>
                </a:cubicBezTo>
                <a:cubicBezTo>
                  <a:pt x="200" y="61"/>
                  <a:pt x="389" y="116"/>
                  <a:pt x="559" y="100"/>
                </a:cubicBezTo>
                <a:cubicBezTo>
                  <a:pt x="729" y="84"/>
                  <a:pt x="935" y="0"/>
                  <a:pt x="1128" y="29"/>
                </a:cubicBezTo>
                <a:cubicBezTo>
                  <a:pt x="1321" y="58"/>
                  <a:pt x="1638" y="142"/>
                  <a:pt x="1716" y="275"/>
                </a:cubicBezTo>
                <a:cubicBezTo>
                  <a:pt x="1794" y="408"/>
                  <a:pt x="1652" y="721"/>
                  <a:pt x="1596" y="827"/>
                </a:cubicBezTo>
                <a:cubicBezTo>
                  <a:pt x="1540" y="933"/>
                  <a:pt x="1506" y="894"/>
                  <a:pt x="1380" y="911"/>
                </a:cubicBezTo>
                <a:cubicBezTo>
                  <a:pt x="1254" y="928"/>
                  <a:pt x="1001" y="929"/>
                  <a:pt x="840" y="929"/>
                </a:cubicBezTo>
                <a:cubicBezTo>
                  <a:pt x="679" y="929"/>
                  <a:pt x="530" y="927"/>
                  <a:pt x="414" y="911"/>
                </a:cubicBezTo>
                <a:cubicBezTo>
                  <a:pt x="298" y="895"/>
                  <a:pt x="211" y="903"/>
                  <a:pt x="143" y="832"/>
                </a:cubicBezTo>
                <a:cubicBezTo>
                  <a:pt x="75" y="761"/>
                  <a:pt x="4" y="624"/>
                  <a:pt x="6" y="483"/>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0" name="Freeform 4"/>
          <p:cNvSpPr>
            <a:spLocks/>
          </p:cNvSpPr>
          <p:nvPr/>
        </p:nvSpPr>
        <p:spPr bwMode="auto">
          <a:xfrm>
            <a:off x="673328" y="3605672"/>
            <a:ext cx="2290763" cy="1295400"/>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661" name="Rectangle 5"/>
          <p:cNvSpPr>
            <a:spLocks noChangeArrowheads="1"/>
          </p:cNvSpPr>
          <p:nvPr/>
        </p:nvSpPr>
        <p:spPr bwMode="auto">
          <a:xfrm>
            <a:off x="663803" y="1279984"/>
            <a:ext cx="2317750" cy="2333625"/>
          </a:xfrm>
          <a:prstGeom prst="rect">
            <a:avLst/>
          </a:prstGeom>
          <a:solidFill>
            <a:schemeClr val="accent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2" name="Oval 6"/>
          <p:cNvSpPr>
            <a:spLocks noChangeArrowheads="1"/>
          </p:cNvSpPr>
          <p:nvPr/>
        </p:nvSpPr>
        <p:spPr bwMode="auto">
          <a:xfrm>
            <a:off x="751489" y="1323040"/>
            <a:ext cx="2174875" cy="749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3" name="Freeform 7"/>
          <p:cNvSpPr>
            <a:spLocks/>
          </p:cNvSpPr>
          <p:nvPr/>
        </p:nvSpPr>
        <p:spPr bwMode="auto">
          <a:xfrm>
            <a:off x="2805340" y="4645484"/>
            <a:ext cx="542925" cy="295275"/>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664" name="Group 8"/>
          <p:cNvGrpSpPr>
            <a:grpSpLocks/>
          </p:cNvGrpSpPr>
          <p:nvPr/>
        </p:nvGrpSpPr>
        <p:grpSpPr bwMode="auto">
          <a:xfrm>
            <a:off x="2311628" y="4820109"/>
            <a:ext cx="501650" cy="233363"/>
            <a:chOff x="3600" y="219"/>
            <a:chExt cx="360" cy="175"/>
          </a:xfrm>
        </p:grpSpPr>
        <p:sp>
          <p:nvSpPr>
            <p:cNvPr id="454665" name="Oval 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6" name="Line 1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7" name="Line 1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68" name="Rectangle 1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69" name="Oval 1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670" name="Group 14"/>
            <p:cNvGrpSpPr>
              <a:grpSpLocks/>
            </p:cNvGrpSpPr>
            <p:nvPr/>
          </p:nvGrpSpPr>
          <p:grpSpPr bwMode="auto">
            <a:xfrm>
              <a:off x="3686" y="244"/>
              <a:ext cx="177" cy="66"/>
              <a:chOff x="2848" y="848"/>
              <a:chExt cx="140" cy="98"/>
            </a:xfrm>
          </p:grpSpPr>
          <p:sp>
            <p:nvSpPr>
              <p:cNvPr id="454671" name="Line 1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2" name="Line 1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3" name="Line 1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674" name="Group 18"/>
            <p:cNvGrpSpPr>
              <a:grpSpLocks/>
            </p:cNvGrpSpPr>
            <p:nvPr/>
          </p:nvGrpSpPr>
          <p:grpSpPr bwMode="auto">
            <a:xfrm flipV="1">
              <a:off x="3686" y="243"/>
              <a:ext cx="177" cy="66"/>
              <a:chOff x="2848" y="848"/>
              <a:chExt cx="140" cy="98"/>
            </a:xfrm>
          </p:grpSpPr>
          <p:sp>
            <p:nvSpPr>
              <p:cNvPr id="454675" name="Line 1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6" name="Line 2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77" name="Line 2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454678" name="Group 22"/>
          <p:cNvGrpSpPr>
            <a:grpSpLocks/>
          </p:cNvGrpSpPr>
          <p:nvPr/>
        </p:nvGrpSpPr>
        <p:grpSpPr bwMode="auto">
          <a:xfrm>
            <a:off x="2664053" y="5458284"/>
            <a:ext cx="501650" cy="233363"/>
            <a:chOff x="3600" y="219"/>
            <a:chExt cx="360" cy="175"/>
          </a:xfrm>
        </p:grpSpPr>
        <p:sp>
          <p:nvSpPr>
            <p:cNvPr id="454679" name="Oval 23"/>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0" name="Line 24"/>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1" name="Line 25"/>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2" name="Rectangle 26"/>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83" name="Oval 27"/>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684" name="Group 28"/>
            <p:cNvGrpSpPr>
              <a:grpSpLocks/>
            </p:cNvGrpSpPr>
            <p:nvPr/>
          </p:nvGrpSpPr>
          <p:grpSpPr bwMode="auto">
            <a:xfrm>
              <a:off x="3686" y="244"/>
              <a:ext cx="177" cy="66"/>
              <a:chOff x="2848" y="848"/>
              <a:chExt cx="140" cy="98"/>
            </a:xfrm>
          </p:grpSpPr>
          <p:sp>
            <p:nvSpPr>
              <p:cNvPr id="454685" name="Line 2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6" name="Line 3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87" name="Line 3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688" name="Group 32"/>
            <p:cNvGrpSpPr>
              <a:grpSpLocks/>
            </p:cNvGrpSpPr>
            <p:nvPr/>
          </p:nvGrpSpPr>
          <p:grpSpPr bwMode="auto">
            <a:xfrm flipV="1">
              <a:off x="3686" y="243"/>
              <a:ext cx="177" cy="66"/>
              <a:chOff x="2848" y="848"/>
              <a:chExt cx="140" cy="98"/>
            </a:xfrm>
          </p:grpSpPr>
          <p:sp>
            <p:nvSpPr>
              <p:cNvPr id="454689" name="Line 3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0" name="Line 3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1" name="Line 3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454692" name="Group 36"/>
          <p:cNvGrpSpPr>
            <a:grpSpLocks/>
          </p:cNvGrpSpPr>
          <p:nvPr/>
        </p:nvGrpSpPr>
        <p:grpSpPr bwMode="auto">
          <a:xfrm>
            <a:off x="3338740" y="4515309"/>
            <a:ext cx="501650" cy="233363"/>
            <a:chOff x="3600" y="219"/>
            <a:chExt cx="360" cy="175"/>
          </a:xfrm>
        </p:grpSpPr>
        <p:sp>
          <p:nvSpPr>
            <p:cNvPr id="454693" name="Oval 37"/>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4" name="Line 38"/>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5" name="Line 39"/>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696" name="Rectangle 40"/>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697" name="Oval 41"/>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698" name="Group 42"/>
            <p:cNvGrpSpPr>
              <a:grpSpLocks/>
            </p:cNvGrpSpPr>
            <p:nvPr/>
          </p:nvGrpSpPr>
          <p:grpSpPr bwMode="auto">
            <a:xfrm>
              <a:off x="3686" y="244"/>
              <a:ext cx="177" cy="66"/>
              <a:chOff x="2848" y="848"/>
              <a:chExt cx="140" cy="98"/>
            </a:xfrm>
          </p:grpSpPr>
          <p:sp>
            <p:nvSpPr>
              <p:cNvPr id="454699" name="Line 43"/>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0" name="Line 44"/>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1" name="Line 45"/>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702" name="Group 46"/>
            <p:cNvGrpSpPr>
              <a:grpSpLocks/>
            </p:cNvGrpSpPr>
            <p:nvPr/>
          </p:nvGrpSpPr>
          <p:grpSpPr bwMode="auto">
            <a:xfrm flipV="1">
              <a:off x="3686" y="243"/>
              <a:ext cx="177" cy="66"/>
              <a:chOff x="2848" y="848"/>
              <a:chExt cx="140" cy="98"/>
            </a:xfrm>
          </p:grpSpPr>
          <p:sp>
            <p:nvSpPr>
              <p:cNvPr id="454703" name="Line 4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4" name="Line 4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5" name="Line 4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454706" name="Group 50"/>
          <p:cNvGrpSpPr>
            <a:grpSpLocks/>
          </p:cNvGrpSpPr>
          <p:nvPr/>
        </p:nvGrpSpPr>
        <p:grpSpPr bwMode="auto">
          <a:xfrm>
            <a:off x="3260953" y="5180472"/>
            <a:ext cx="500063" cy="233363"/>
            <a:chOff x="3600" y="219"/>
            <a:chExt cx="360" cy="175"/>
          </a:xfrm>
        </p:grpSpPr>
        <p:sp>
          <p:nvSpPr>
            <p:cNvPr id="454707" name="Oval 51"/>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8" name="Line 52"/>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09" name="Line 53"/>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0" name="Rectangle 54"/>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11" name="Oval 55"/>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712" name="Group 56"/>
            <p:cNvGrpSpPr>
              <a:grpSpLocks/>
            </p:cNvGrpSpPr>
            <p:nvPr/>
          </p:nvGrpSpPr>
          <p:grpSpPr bwMode="auto">
            <a:xfrm>
              <a:off x="3686" y="244"/>
              <a:ext cx="177" cy="66"/>
              <a:chOff x="2848" y="848"/>
              <a:chExt cx="140" cy="98"/>
            </a:xfrm>
          </p:grpSpPr>
          <p:sp>
            <p:nvSpPr>
              <p:cNvPr id="454713" name="Line 57"/>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4" name="Line 58"/>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5" name="Line 59"/>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716" name="Group 60"/>
            <p:cNvGrpSpPr>
              <a:grpSpLocks/>
            </p:cNvGrpSpPr>
            <p:nvPr/>
          </p:nvGrpSpPr>
          <p:grpSpPr bwMode="auto">
            <a:xfrm flipV="1">
              <a:off x="3686" y="243"/>
              <a:ext cx="177" cy="66"/>
              <a:chOff x="2848" y="848"/>
              <a:chExt cx="140" cy="98"/>
            </a:xfrm>
          </p:grpSpPr>
          <p:sp>
            <p:nvSpPr>
              <p:cNvPr id="454717" name="Line 6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8" name="Line 6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19" name="Line 6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454720" name="Group 64"/>
          <p:cNvGrpSpPr>
            <a:grpSpLocks/>
          </p:cNvGrpSpPr>
          <p:nvPr/>
        </p:nvGrpSpPr>
        <p:grpSpPr bwMode="auto">
          <a:xfrm>
            <a:off x="3895953" y="5477334"/>
            <a:ext cx="501650" cy="233363"/>
            <a:chOff x="3600" y="219"/>
            <a:chExt cx="360" cy="175"/>
          </a:xfrm>
        </p:grpSpPr>
        <p:sp>
          <p:nvSpPr>
            <p:cNvPr id="454721" name="Oval 65"/>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2" name="Line 66"/>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3" name="Line 67"/>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4" name="Rectangle 68"/>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25" name="Oval 69"/>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726" name="Group 70"/>
            <p:cNvGrpSpPr>
              <a:grpSpLocks/>
            </p:cNvGrpSpPr>
            <p:nvPr/>
          </p:nvGrpSpPr>
          <p:grpSpPr bwMode="auto">
            <a:xfrm>
              <a:off x="3686" y="244"/>
              <a:ext cx="177" cy="66"/>
              <a:chOff x="2848" y="848"/>
              <a:chExt cx="140" cy="98"/>
            </a:xfrm>
          </p:grpSpPr>
          <p:sp>
            <p:nvSpPr>
              <p:cNvPr id="454727" name="Line 71"/>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8" name="Line 72"/>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29" name="Line 73"/>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730" name="Group 74"/>
            <p:cNvGrpSpPr>
              <a:grpSpLocks/>
            </p:cNvGrpSpPr>
            <p:nvPr/>
          </p:nvGrpSpPr>
          <p:grpSpPr bwMode="auto">
            <a:xfrm flipV="1">
              <a:off x="3686" y="243"/>
              <a:ext cx="177" cy="66"/>
              <a:chOff x="2848" y="848"/>
              <a:chExt cx="140" cy="98"/>
            </a:xfrm>
          </p:grpSpPr>
          <p:sp>
            <p:nvSpPr>
              <p:cNvPr id="454731" name="Line 7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2" name="Line 7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3" name="Line 7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grpSp>
        <p:nvGrpSpPr>
          <p:cNvPr id="454734" name="Group 78"/>
          <p:cNvGrpSpPr>
            <a:grpSpLocks/>
          </p:cNvGrpSpPr>
          <p:nvPr/>
        </p:nvGrpSpPr>
        <p:grpSpPr bwMode="auto">
          <a:xfrm>
            <a:off x="4340453" y="4821697"/>
            <a:ext cx="501650" cy="233363"/>
            <a:chOff x="3600" y="219"/>
            <a:chExt cx="360" cy="175"/>
          </a:xfrm>
        </p:grpSpPr>
        <p:sp>
          <p:nvSpPr>
            <p:cNvPr id="454735" name="Oval 79"/>
            <p:cNvSpPr>
              <a:spLocks noChangeArrowheads="1"/>
            </p:cNvSpPr>
            <p:nvPr/>
          </p:nvSpPr>
          <p:spPr bwMode="auto">
            <a:xfrm>
              <a:off x="3603" y="297"/>
              <a:ext cx="357" cy="97"/>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6" name="Line 80"/>
            <p:cNvSpPr>
              <a:spLocks noChangeShapeType="1"/>
            </p:cNvSpPr>
            <p:nvPr/>
          </p:nvSpPr>
          <p:spPr bwMode="auto">
            <a:xfrm>
              <a:off x="3603"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7" name="Line 81"/>
            <p:cNvSpPr>
              <a:spLocks noChangeShapeType="1"/>
            </p:cNvSpPr>
            <p:nvPr/>
          </p:nvSpPr>
          <p:spPr bwMode="auto">
            <a:xfrm>
              <a:off x="3960" y="289"/>
              <a:ext cx="0" cy="6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38" name="Rectangle 82"/>
            <p:cNvSpPr>
              <a:spLocks noChangeArrowheads="1"/>
            </p:cNvSpPr>
            <p:nvPr/>
          </p:nvSpPr>
          <p:spPr bwMode="auto">
            <a:xfrm>
              <a:off x="3603" y="289"/>
              <a:ext cx="354" cy="5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4739" name="Oval 83"/>
            <p:cNvSpPr>
              <a:spLocks noChangeArrowheads="1"/>
            </p:cNvSpPr>
            <p:nvPr/>
          </p:nvSpPr>
          <p:spPr bwMode="auto">
            <a:xfrm>
              <a:off x="3600" y="219"/>
              <a:ext cx="357" cy="113"/>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4740" name="Group 84"/>
            <p:cNvGrpSpPr>
              <a:grpSpLocks/>
            </p:cNvGrpSpPr>
            <p:nvPr/>
          </p:nvGrpSpPr>
          <p:grpSpPr bwMode="auto">
            <a:xfrm>
              <a:off x="3686" y="244"/>
              <a:ext cx="177" cy="66"/>
              <a:chOff x="2848" y="848"/>
              <a:chExt cx="140" cy="98"/>
            </a:xfrm>
          </p:grpSpPr>
          <p:sp>
            <p:nvSpPr>
              <p:cNvPr id="454741" name="Line 85"/>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2" name="Line 86"/>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3" name="Line 87"/>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744" name="Group 88"/>
            <p:cNvGrpSpPr>
              <a:grpSpLocks/>
            </p:cNvGrpSpPr>
            <p:nvPr/>
          </p:nvGrpSpPr>
          <p:grpSpPr bwMode="auto">
            <a:xfrm flipV="1">
              <a:off x="3686" y="243"/>
              <a:ext cx="177" cy="66"/>
              <a:chOff x="2848" y="848"/>
              <a:chExt cx="140" cy="98"/>
            </a:xfrm>
          </p:grpSpPr>
          <p:sp>
            <p:nvSpPr>
              <p:cNvPr id="454745" name="Line 89"/>
              <p:cNvSpPr>
                <a:spLocks noChangeShapeType="1"/>
              </p:cNvSpPr>
              <p:nvPr/>
            </p:nvSpPr>
            <p:spPr bwMode="auto">
              <a:xfrm flipV="1">
                <a:off x="2848" y="848"/>
                <a:ext cx="50" cy="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6" name="Line 90"/>
              <p:cNvSpPr>
                <a:spLocks noChangeShapeType="1"/>
              </p:cNvSpPr>
              <p:nvPr/>
            </p:nvSpPr>
            <p:spPr bwMode="auto">
              <a:xfrm>
                <a:off x="2944" y="946"/>
                <a:ext cx="44"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7" name="Line 91"/>
              <p:cNvSpPr>
                <a:spLocks noChangeShapeType="1"/>
              </p:cNvSpPr>
              <p:nvPr/>
            </p:nvSpPr>
            <p:spPr bwMode="auto">
              <a:xfrm>
                <a:off x="2894" y="850"/>
                <a:ext cx="52" cy="9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sp>
        <p:nvSpPr>
          <p:cNvPr id="454748" name="Freeform 92"/>
          <p:cNvSpPr>
            <a:spLocks/>
          </p:cNvSpPr>
          <p:nvPr/>
        </p:nvSpPr>
        <p:spPr bwMode="auto">
          <a:xfrm>
            <a:off x="3846740" y="4639134"/>
            <a:ext cx="504825" cy="307975"/>
          </a:xfrm>
          <a:custGeom>
            <a:avLst/>
            <a:gdLst>
              <a:gd name="T0" fmla="*/ 0 w 318"/>
              <a:gd name="T1" fmla="*/ 0 h 194"/>
              <a:gd name="T2" fmla="*/ 318 w 318"/>
              <a:gd name="T3" fmla="*/ 194 h 194"/>
            </a:gdLst>
            <a:ahLst/>
            <a:cxnLst>
              <a:cxn ang="0">
                <a:pos x="T0" y="T1"/>
              </a:cxn>
              <a:cxn ang="0">
                <a:pos x="T2" y="T3"/>
              </a:cxn>
            </a:cxnLst>
            <a:rect l="0" t="0" r="r" b="b"/>
            <a:pathLst>
              <a:path w="318" h="194">
                <a:moveTo>
                  <a:pt x="0" y="0"/>
                </a:moveTo>
                <a:lnTo>
                  <a:pt x="318" y="19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49" name="Freeform 93"/>
          <p:cNvSpPr>
            <a:spLocks/>
          </p:cNvSpPr>
          <p:nvPr/>
        </p:nvSpPr>
        <p:spPr bwMode="auto">
          <a:xfrm>
            <a:off x="2781528" y="5031247"/>
            <a:ext cx="481013" cy="238125"/>
          </a:xfrm>
          <a:custGeom>
            <a:avLst/>
            <a:gdLst>
              <a:gd name="T0" fmla="*/ 0 w 294"/>
              <a:gd name="T1" fmla="*/ 0 h 174"/>
              <a:gd name="T2" fmla="*/ 294 w 294"/>
              <a:gd name="T3" fmla="*/ 174 h 174"/>
            </a:gdLst>
            <a:ahLst/>
            <a:cxnLst>
              <a:cxn ang="0">
                <a:pos x="T0" y="T1"/>
              </a:cxn>
              <a:cxn ang="0">
                <a:pos x="T2" y="T3"/>
              </a:cxn>
            </a:cxnLst>
            <a:rect l="0" t="0" r="r" b="b"/>
            <a:pathLst>
              <a:path w="294" h="174">
                <a:moveTo>
                  <a:pt x="0" y="0"/>
                </a:moveTo>
                <a:lnTo>
                  <a:pt x="294" y="174"/>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0" name="Freeform 94"/>
          <p:cNvSpPr>
            <a:spLocks/>
          </p:cNvSpPr>
          <p:nvPr/>
        </p:nvSpPr>
        <p:spPr bwMode="auto">
          <a:xfrm>
            <a:off x="3729265" y="5007434"/>
            <a:ext cx="628650" cy="247650"/>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1" name="Freeform 95"/>
          <p:cNvSpPr>
            <a:spLocks/>
          </p:cNvSpPr>
          <p:nvPr/>
        </p:nvSpPr>
        <p:spPr bwMode="auto">
          <a:xfrm>
            <a:off x="4396015" y="5061409"/>
            <a:ext cx="206375" cy="508000"/>
          </a:xfrm>
          <a:custGeom>
            <a:avLst/>
            <a:gdLst>
              <a:gd name="T0" fmla="*/ 0 w 118"/>
              <a:gd name="T1" fmla="*/ 500 h 500"/>
              <a:gd name="T2" fmla="*/ 118 w 118"/>
              <a:gd name="T3" fmla="*/ 0 h 500"/>
            </a:gdLst>
            <a:ahLst/>
            <a:cxnLst>
              <a:cxn ang="0">
                <a:pos x="T0" y="T1"/>
              </a:cxn>
              <a:cxn ang="0">
                <a:pos x="T2" y="T3"/>
              </a:cxn>
            </a:cxnLst>
            <a:rect l="0" t="0" r="r" b="b"/>
            <a:pathLst>
              <a:path w="118" h="500">
                <a:moveTo>
                  <a:pt x="0" y="500"/>
                </a:moveTo>
                <a:lnTo>
                  <a:pt x="11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2" name="Freeform 96"/>
          <p:cNvSpPr>
            <a:spLocks/>
          </p:cNvSpPr>
          <p:nvPr/>
        </p:nvSpPr>
        <p:spPr bwMode="auto">
          <a:xfrm>
            <a:off x="3160940" y="5594809"/>
            <a:ext cx="736600" cy="74613"/>
          </a:xfrm>
          <a:custGeom>
            <a:avLst/>
            <a:gdLst>
              <a:gd name="T0" fmla="*/ 370 w 370"/>
              <a:gd name="T1" fmla="*/ 32 h 32"/>
              <a:gd name="T2" fmla="*/ 0 w 370"/>
              <a:gd name="T3" fmla="*/ 0 h 32"/>
            </a:gdLst>
            <a:ahLst/>
            <a:cxnLst>
              <a:cxn ang="0">
                <a:pos x="T0" y="T1"/>
              </a:cxn>
              <a:cxn ang="0">
                <a:pos x="T2" y="T3"/>
              </a:cxn>
            </a:cxnLst>
            <a:rect l="0" t="0" r="r" b="b"/>
            <a:pathLst>
              <a:path w="370" h="32">
                <a:moveTo>
                  <a:pt x="370" y="32"/>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3" name="Freeform 97"/>
          <p:cNvSpPr>
            <a:spLocks/>
          </p:cNvSpPr>
          <p:nvPr/>
        </p:nvSpPr>
        <p:spPr bwMode="auto">
          <a:xfrm>
            <a:off x="2624365" y="5055059"/>
            <a:ext cx="193675" cy="425450"/>
          </a:xfrm>
          <a:custGeom>
            <a:avLst/>
            <a:gdLst>
              <a:gd name="T0" fmla="*/ 162 w 176"/>
              <a:gd name="T1" fmla="*/ 408 h 412"/>
              <a:gd name="T2" fmla="*/ 176 w 176"/>
              <a:gd name="T3" fmla="*/ 412 h 412"/>
              <a:gd name="T4" fmla="*/ 0 w 176"/>
              <a:gd name="T5" fmla="*/ 0 h 412"/>
            </a:gdLst>
            <a:ahLst/>
            <a:cxnLst>
              <a:cxn ang="0">
                <a:pos x="T0" y="T1"/>
              </a:cxn>
              <a:cxn ang="0">
                <a:pos x="T2" y="T3"/>
              </a:cxn>
              <a:cxn ang="0">
                <a:pos x="T4" y="T5"/>
              </a:cxn>
            </a:cxnLst>
            <a:rect l="0" t="0" r="r" b="b"/>
            <a:pathLst>
              <a:path w="176" h="412">
                <a:moveTo>
                  <a:pt x="162" y="408"/>
                </a:moveTo>
                <a:lnTo>
                  <a:pt x="176" y="412"/>
                </a:ln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4" name="Rectangle 98"/>
          <p:cNvSpPr>
            <a:spLocks noChangeArrowheads="1"/>
          </p:cNvSpPr>
          <p:nvPr/>
        </p:nvSpPr>
        <p:spPr bwMode="auto">
          <a:xfrm>
            <a:off x="733653" y="4669297"/>
            <a:ext cx="1155700" cy="23812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5" name="Rectangle 99"/>
          <p:cNvSpPr>
            <a:spLocks noChangeArrowheads="1"/>
          </p:cNvSpPr>
          <p:nvPr/>
        </p:nvSpPr>
        <p:spPr bwMode="auto">
          <a:xfrm>
            <a:off x="709840" y="4693109"/>
            <a:ext cx="1147763" cy="238125"/>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6" name="Line 100"/>
          <p:cNvSpPr>
            <a:spLocks noChangeShapeType="1"/>
          </p:cNvSpPr>
          <p:nvPr/>
        </p:nvSpPr>
        <p:spPr bwMode="auto">
          <a:xfrm>
            <a:off x="1735365" y="4824872"/>
            <a:ext cx="422275" cy="0"/>
          </a:xfrm>
          <a:prstGeom prst="line">
            <a:avLst/>
          </a:prstGeom>
          <a:noFill/>
          <a:ln w="9525">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57" name="Text Box 101"/>
          <p:cNvSpPr txBox="1">
            <a:spLocks noChangeArrowheads="1"/>
          </p:cNvSpPr>
          <p:nvPr/>
        </p:nvSpPr>
        <p:spPr bwMode="auto">
          <a:xfrm>
            <a:off x="2737078" y="4540709"/>
            <a:ext cx="311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dirty="0">
                <a:latin typeface="Arial" charset="0"/>
              </a:rPr>
              <a:t>1</a:t>
            </a:r>
          </a:p>
        </p:txBody>
      </p:sp>
      <p:sp>
        <p:nvSpPr>
          <p:cNvPr id="454758" name="Text Box 102"/>
          <p:cNvSpPr txBox="1">
            <a:spLocks noChangeArrowheads="1"/>
          </p:cNvSpPr>
          <p:nvPr/>
        </p:nvSpPr>
        <p:spPr bwMode="auto">
          <a:xfrm>
            <a:off x="2627784" y="5013176"/>
            <a:ext cx="296863"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dirty="0">
                <a:latin typeface="Arial" charset="0"/>
              </a:rPr>
              <a:t>2</a:t>
            </a:r>
          </a:p>
        </p:txBody>
      </p:sp>
      <p:sp>
        <p:nvSpPr>
          <p:cNvPr id="454759" name="Text Box 103"/>
          <p:cNvSpPr txBox="1">
            <a:spLocks noChangeArrowheads="1"/>
          </p:cNvSpPr>
          <p:nvPr/>
        </p:nvSpPr>
        <p:spPr bwMode="auto">
          <a:xfrm>
            <a:off x="2400528" y="5051884"/>
            <a:ext cx="296863"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dirty="0">
                <a:latin typeface="Arial" charset="0"/>
              </a:rPr>
              <a:t>3</a:t>
            </a:r>
          </a:p>
        </p:txBody>
      </p:sp>
      <p:sp>
        <p:nvSpPr>
          <p:cNvPr id="454760" name="Rectangle 104"/>
          <p:cNvSpPr>
            <a:spLocks noChangeArrowheads="1"/>
          </p:cNvSpPr>
          <p:nvPr/>
        </p:nvSpPr>
        <p:spPr bwMode="auto">
          <a:xfrm>
            <a:off x="1338490" y="4696284"/>
            <a:ext cx="427038" cy="239713"/>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1" name="Text Box 105"/>
          <p:cNvSpPr txBox="1">
            <a:spLocks noChangeArrowheads="1"/>
          </p:cNvSpPr>
          <p:nvPr/>
        </p:nvSpPr>
        <p:spPr bwMode="auto">
          <a:xfrm>
            <a:off x="1290865" y="4669297"/>
            <a:ext cx="520700"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200">
                <a:latin typeface="Arial" charset="0"/>
              </a:rPr>
              <a:t>0111</a:t>
            </a:r>
          </a:p>
        </p:txBody>
      </p:sp>
      <p:sp>
        <p:nvSpPr>
          <p:cNvPr id="454762" name="Text Box 106"/>
          <p:cNvSpPr txBox="1">
            <a:spLocks noChangeArrowheads="1"/>
          </p:cNvSpPr>
          <p:nvPr/>
        </p:nvSpPr>
        <p:spPr bwMode="auto">
          <a:xfrm>
            <a:off x="322490" y="3980322"/>
            <a:ext cx="1323975"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1600" dirty="0">
                <a:latin typeface="Arial" charset="0"/>
              </a:rPr>
              <a:t>Adressen im</a:t>
            </a:r>
            <a:br>
              <a:rPr lang="de-DE" sz="1600" dirty="0">
                <a:latin typeface="Arial" charset="0"/>
              </a:rPr>
            </a:br>
            <a:r>
              <a:rPr lang="de-DE" sz="1600" dirty="0">
                <a:latin typeface="Arial" charset="0"/>
              </a:rPr>
              <a:t>Header</a:t>
            </a:r>
          </a:p>
        </p:txBody>
      </p:sp>
      <p:sp>
        <p:nvSpPr>
          <p:cNvPr id="454763" name="Line 107"/>
          <p:cNvSpPr>
            <a:spLocks noChangeShapeType="1"/>
          </p:cNvSpPr>
          <p:nvPr/>
        </p:nvSpPr>
        <p:spPr bwMode="auto">
          <a:xfrm flipH="1">
            <a:off x="957490" y="4955047"/>
            <a:ext cx="134937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64" name="Text Box 108"/>
          <p:cNvSpPr txBox="1">
            <a:spLocks noChangeArrowheads="1"/>
          </p:cNvSpPr>
          <p:nvPr/>
        </p:nvSpPr>
        <p:spPr bwMode="auto">
          <a:xfrm>
            <a:off x="843190" y="1377039"/>
            <a:ext cx="1992313" cy="5847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1" hangingPunct="1"/>
            <a:r>
              <a:rPr lang="de-DE" sz="1600" b="1" dirty="0">
                <a:solidFill>
                  <a:srgbClr val="FF0000"/>
                </a:solidFill>
                <a:latin typeface="Arial" charset="0"/>
              </a:rPr>
              <a:t>Routing-Algorithmus</a:t>
            </a:r>
          </a:p>
        </p:txBody>
      </p:sp>
      <p:sp>
        <p:nvSpPr>
          <p:cNvPr id="454765" name="Rectangle 109"/>
          <p:cNvSpPr>
            <a:spLocks noChangeArrowheads="1"/>
          </p:cNvSpPr>
          <p:nvPr/>
        </p:nvSpPr>
        <p:spPr bwMode="auto">
          <a:xfrm>
            <a:off x="806678" y="2237247"/>
            <a:ext cx="2041525" cy="127952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66" name="Text Box 110"/>
          <p:cNvSpPr txBox="1">
            <a:spLocks noChangeArrowheads="1"/>
          </p:cNvSpPr>
          <p:nvPr/>
        </p:nvSpPr>
        <p:spPr bwMode="auto">
          <a:xfrm>
            <a:off x="806678" y="2189622"/>
            <a:ext cx="2249488"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r>
              <a:rPr lang="de-DE" sz="1400" dirty="0">
                <a:solidFill>
                  <a:srgbClr val="0070C0"/>
                </a:solidFill>
                <a:latin typeface="Arial" charset="0"/>
              </a:rPr>
              <a:t>lokale Weiterleitungstab</a:t>
            </a:r>
            <a:r>
              <a:rPr lang="de-DE" sz="1400" dirty="0">
                <a:latin typeface="Arial" charset="0"/>
              </a:rPr>
              <a:t>.</a:t>
            </a:r>
          </a:p>
        </p:txBody>
      </p:sp>
      <p:sp>
        <p:nvSpPr>
          <p:cNvPr id="454767" name="Text Box 111"/>
          <p:cNvSpPr txBox="1">
            <a:spLocks noChangeArrowheads="1"/>
          </p:cNvSpPr>
          <p:nvPr/>
        </p:nvSpPr>
        <p:spPr bwMode="auto">
          <a:xfrm>
            <a:off x="733653" y="2437272"/>
            <a:ext cx="1285875"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1" hangingPunct="1"/>
            <a:r>
              <a:rPr lang="de-DE" sz="1400">
                <a:latin typeface="Arial" charset="0"/>
              </a:rPr>
              <a:t>Header -Wert</a:t>
            </a:r>
          </a:p>
        </p:txBody>
      </p:sp>
      <p:sp>
        <p:nvSpPr>
          <p:cNvPr id="454768" name="Text Box 112"/>
          <p:cNvSpPr txBox="1">
            <a:spLocks noChangeArrowheads="1"/>
          </p:cNvSpPr>
          <p:nvPr/>
        </p:nvSpPr>
        <p:spPr bwMode="auto">
          <a:xfrm>
            <a:off x="1873478" y="2438859"/>
            <a:ext cx="1041400" cy="304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1" hangingPunct="1"/>
            <a:r>
              <a:rPr lang="de-DE" sz="1400">
                <a:latin typeface="Arial" charset="0"/>
              </a:rPr>
              <a:t>“Ausgang”</a:t>
            </a:r>
          </a:p>
        </p:txBody>
      </p:sp>
      <p:sp>
        <p:nvSpPr>
          <p:cNvPr id="454769" name="Line 113"/>
          <p:cNvSpPr>
            <a:spLocks noChangeShapeType="1"/>
          </p:cNvSpPr>
          <p:nvPr/>
        </p:nvSpPr>
        <p:spPr bwMode="auto">
          <a:xfrm>
            <a:off x="1971903" y="2449972"/>
            <a:ext cx="7938" cy="10668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0" name="Text Box 114"/>
          <p:cNvSpPr txBox="1">
            <a:spLocks noChangeArrowheads="1"/>
          </p:cNvSpPr>
          <p:nvPr/>
        </p:nvSpPr>
        <p:spPr bwMode="auto">
          <a:xfrm>
            <a:off x="1459140" y="2721434"/>
            <a:ext cx="523875" cy="8302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1" hangingPunct="1"/>
            <a:r>
              <a:rPr lang="de-DE" sz="1200">
                <a:latin typeface="Arial" charset="0"/>
              </a:rPr>
              <a:t>0100</a:t>
            </a:r>
          </a:p>
          <a:p>
            <a:pPr algn="r" eaLnBrk="1" hangingPunct="1"/>
            <a:r>
              <a:rPr lang="de-DE" sz="1200">
                <a:latin typeface="Arial" charset="0"/>
              </a:rPr>
              <a:t>0101</a:t>
            </a:r>
          </a:p>
          <a:p>
            <a:pPr algn="r" eaLnBrk="1" hangingPunct="1"/>
            <a:r>
              <a:rPr lang="de-DE" sz="1200">
                <a:latin typeface="Arial" charset="0"/>
              </a:rPr>
              <a:t>0111</a:t>
            </a:r>
          </a:p>
          <a:p>
            <a:pPr algn="r" eaLnBrk="1" hangingPunct="1"/>
            <a:r>
              <a:rPr lang="de-DE" sz="1200">
                <a:latin typeface="Arial" charset="0"/>
              </a:rPr>
              <a:t>1001</a:t>
            </a:r>
          </a:p>
        </p:txBody>
      </p:sp>
      <p:sp>
        <p:nvSpPr>
          <p:cNvPr id="454771" name="Text Box 115"/>
          <p:cNvSpPr txBox="1">
            <a:spLocks noChangeArrowheads="1"/>
          </p:cNvSpPr>
          <p:nvPr/>
        </p:nvSpPr>
        <p:spPr bwMode="auto">
          <a:xfrm>
            <a:off x="1987778" y="2721434"/>
            <a:ext cx="269875" cy="8302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lang="de-DE" sz="1200">
                <a:latin typeface="Arial" charset="0"/>
              </a:rPr>
              <a:t>3</a:t>
            </a:r>
          </a:p>
          <a:p>
            <a:pPr algn="ctr" eaLnBrk="1" hangingPunct="1"/>
            <a:r>
              <a:rPr lang="de-DE" sz="1200">
                <a:latin typeface="Arial" charset="0"/>
              </a:rPr>
              <a:t>2</a:t>
            </a:r>
          </a:p>
          <a:p>
            <a:pPr algn="ctr" eaLnBrk="1" hangingPunct="1"/>
            <a:r>
              <a:rPr lang="de-DE" sz="1200">
                <a:latin typeface="Arial" charset="0"/>
              </a:rPr>
              <a:t>2</a:t>
            </a:r>
          </a:p>
          <a:p>
            <a:pPr algn="ctr" eaLnBrk="1" hangingPunct="1"/>
            <a:r>
              <a:rPr lang="de-DE" sz="1200">
                <a:latin typeface="Arial" charset="0"/>
              </a:rPr>
              <a:t>1</a:t>
            </a:r>
          </a:p>
        </p:txBody>
      </p:sp>
      <p:sp>
        <p:nvSpPr>
          <p:cNvPr id="454772" name="Line 116"/>
          <p:cNvSpPr>
            <a:spLocks noChangeShapeType="1"/>
          </p:cNvSpPr>
          <p:nvPr/>
        </p:nvSpPr>
        <p:spPr bwMode="auto">
          <a:xfrm>
            <a:off x="843190" y="2707147"/>
            <a:ext cx="2006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3" name="Line 117"/>
          <p:cNvSpPr>
            <a:spLocks noChangeShapeType="1"/>
          </p:cNvSpPr>
          <p:nvPr/>
        </p:nvSpPr>
        <p:spPr bwMode="auto">
          <a:xfrm>
            <a:off x="870178" y="2449972"/>
            <a:ext cx="2006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4" name="AutoShape 118"/>
          <p:cNvSpPr>
            <a:spLocks noChangeArrowheads="1"/>
          </p:cNvSpPr>
          <p:nvPr/>
        </p:nvSpPr>
        <p:spPr bwMode="auto">
          <a:xfrm rot="5400000">
            <a:off x="1741715" y="1945146"/>
            <a:ext cx="239713" cy="273050"/>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775" name="Line 119"/>
          <p:cNvSpPr>
            <a:spLocks noChangeShapeType="1"/>
          </p:cNvSpPr>
          <p:nvPr/>
        </p:nvSpPr>
        <p:spPr bwMode="auto">
          <a:xfrm>
            <a:off x="1105128" y="4451809"/>
            <a:ext cx="233363" cy="2317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6" name="Freeform 120"/>
          <p:cNvSpPr>
            <a:spLocks/>
          </p:cNvSpPr>
          <p:nvPr/>
        </p:nvSpPr>
        <p:spPr bwMode="auto">
          <a:xfrm>
            <a:off x="2192565" y="4877259"/>
            <a:ext cx="879475" cy="265113"/>
          </a:xfrm>
          <a:custGeom>
            <a:avLst/>
            <a:gdLst>
              <a:gd name="T0" fmla="*/ 0 w 554"/>
              <a:gd name="T1" fmla="*/ 10 h 167"/>
              <a:gd name="T2" fmla="*/ 324 w 554"/>
              <a:gd name="T3" fmla="*/ 26 h 167"/>
              <a:gd name="T4" fmla="*/ 554 w 554"/>
              <a:gd name="T5" fmla="*/ 167 h 167"/>
            </a:gdLst>
            <a:ahLst/>
            <a:cxnLst>
              <a:cxn ang="0">
                <a:pos x="T0" y="T1"/>
              </a:cxn>
              <a:cxn ang="0">
                <a:pos x="T2" y="T3"/>
              </a:cxn>
              <a:cxn ang="0">
                <a:pos x="T4" y="T5"/>
              </a:cxn>
            </a:cxnLst>
            <a:rect l="0" t="0" r="r" b="b"/>
            <a:pathLst>
              <a:path w="554" h="167">
                <a:moveTo>
                  <a:pt x="0" y="10"/>
                </a:moveTo>
                <a:cubicBezTo>
                  <a:pt x="102" y="0"/>
                  <a:pt x="240" y="5"/>
                  <a:pt x="324" y="26"/>
                </a:cubicBezTo>
                <a:cubicBezTo>
                  <a:pt x="416" y="52"/>
                  <a:pt x="502" y="120"/>
                  <a:pt x="554" y="167"/>
                </a:cubicBezTo>
              </a:path>
            </a:pathLst>
          </a:custGeom>
          <a:noFill/>
          <a:ln w="57150" cmpd="sng">
            <a:solidFill>
              <a:srgbClr val="FF33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79" name="Freeform 123"/>
          <p:cNvSpPr>
            <a:spLocks/>
          </p:cNvSpPr>
          <p:nvPr/>
        </p:nvSpPr>
        <p:spPr bwMode="auto">
          <a:xfrm flipH="1" flipV="1">
            <a:off x="4184878" y="5713872"/>
            <a:ext cx="542925" cy="371475"/>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0" name="Freeform 124"/>
          <p:cNvSpPr>
            <a:spLocks/>
          </p:cNvSpPr>
          <p:nvPr/>
        </p:nvSpPr>
        <p:spPr bwMode="auto">
          <a:xfrm flipH="1" flipV="1">
            <a:off x="2835503" y="5697997"/>
            <a:ext cx="542925" cy="371475"/>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781" name="Freeform 125"/>
          <p:cNvSpPr>
            <a:spLocks/>
          </p:cNvSpPr>
          <p:nvPr/>
        </p:nvSpPr>
        <p:spPr bwMode="auto">
          <a:xfrm flipH="1" flipV="1">
            <a:off x="3475265" y="5405897"/>
            <a:ext cx="542925" cy="452438"/>
          </a:xfrm>
          <a:custGeom>
            <a:avLst/>
            <a:gdLst>
              <a:gd name="T0" fmla="*/ 0 w 1443"/>
              <a:gd name="T1" fmla="*/ 0 h 816"/>
              <a:gd name="T2" fmla="*/ 1076 w 1443"/>
              <a:gd name="T3" fmla="*/ 782 h 816"/>
              <a:gd name="T4" fmla="*/ 1320 w 1443"/>
              <a:gd name="T5" fmla="*/ 788 h 816"/>
              <a:gd name="T6" fmla="*/ 1443 w 1443"/>
              <a:gd name="T7" fmla="*/ 5 h 816"/>
              <a:gd name="T8" fmla="*/ 0 w 1443"/>
              <a:gd name="T9" fmla="*/ 0 h 816"/>
            </a:gdLst>
            <a:ahLst/>
            <a:cxnLst>
              <a:cxn ang="0">
                <a:pos x="T0" y="T1"/>
              </a:cxn>
              <a:cxn ang="0">
                <a:pos x="T2" y="T3"/>
              </a:cxn>
              <a:cxn ang="0">
                <a:pos x="T4" y="T5"/>
              </a:cxn>
              <a:cxn ang="0">
                <a:pos x="T6" y="T7"/>
              </a:cxn>
              <a:cxn ang="0">
                <a:pos x="T8" y="T9"/>
              </a:cxn>
            </a:cxnLst>
            <a:rect l="0" t="0" r="r" b="b"/>
            <a:pathLst>
              <a:path w="1443" h="816">
                <a:moveTo>
                  <a:pt x="0" y="0"/>
                </a:moveTo>
                <a:cubicBezTo>
                  <a:pt x="571" y="285"/>
                  <a:pt x="856" y="408"/>
                  <a:pt x="1076" y="782"/>
                </a:cubicBezTo>
                <a:cubicBezTo>
                  <a:pt x="1185" y="775"/>
                  <a:pt x="1220" y="816"/>
                  <a:pt x="1320" y="788"/>
                </a:cubicBezTo>
                <a:cubicBezTo>
                  <a:pt x="1264" y="347"/>
                  <a:pt x="1276" y="352"/>
                  <a:pt x="1443" y="5"/>
                </a:cubicBezTo>
                <a:cubicBezTo>
                  <a:pt x="867" y="5"/>
                  <a:pt x="233" y="0"/>
                  <a:pt x="0" y="0"/>
                </a:cubicBezTo>
                <a:close/>
              </a:path>
            </a:pathLst>
          </a:custGeom>
          <a:gradFill rotWithShape="1">
            <a:gsLst>
              <a:gs pos="0">
                <a:schemeClr val="accent1"/>
              </a:gs>
              <a:gs pos="100000">
                <a:schemeClr val="bg1"/>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grpSp>
        <p:nvGrpSpPr>
          <p:cNvPr id="454798" name="Group 142"/>
          <p:cNvGrpSpPr>
            <a:grpSpLocks/>
          </p:cNvGrpSpPr>
          <p:nvPr/>
        </p:nvGrpSpPr>
        <p:grpSpPr bwMode="auto">
          <a:xfrm>
            <a:off x="4167415" y="6072647"/>
            <a:ext cx="550863" cy="452438"/>
            <a:chOff x="2886" y="1668"/>
            <a:chExt cx="347" cy="285"/>
          </a:xfrm>
        </p:grpSpPr>
        <p:sp>
          <p:nvSpPr>
            <p:cNvPr id="454799" name="Rectangle 143"/>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0" name="Oval 144"/>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1" name="Rectangle 145"/>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2" name="Line 146"/>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3" name="Line 147"/>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4" name="Line 148"/>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05" name="AutoShape 149"/>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806" name="Group 150"/>
          <p:cNvGrpSpPr>
            <a:grpSpLocks/>
          </p:cNvGrpSpPr>
          <p:nvPr/>
        </p:nvGrpSpPr>
        <p:grpSpPr bwMode="auto">
          <a:xfrm>
            <a:off x="3472090" y="5853572"/>
            <a:ext cx="550863" cy="452438"/>
            <a:chOff x="2886" y="1668"/>
            <a:chExt cx="347" cy="285"/>
          </a:xfrm>
        </p:grpSpPr>
        <p:sp>
          <p:nvSpPr>
            <p:cNvPr id="454807" name="Rectangle 151"/>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8" name="Oval 152"/>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09" name="Rectangle 153"/>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0" name="Line 154"/>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1" name="Line 155"/>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2" name="Line 156"/>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3" name="AutoShape 157"/>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54814" name="Group 158"/>
          <p:cNvGrpSpPr>
            <a:grpSpLocks/>
          </p:cNvGrpSpPr>
          <p:nvPr/>
        </p:nvGrpSpPr>
        <p:grpSpPr bwMode="auto">
          <a:xfrm>
            <a:off x="2816453" y="6045659"/>
            <a:ext cx="550863" cy="452438"/>
            <a:chOff x="2886" y="1668"/>
            <a:chExt cx="347" cy="285"/>
          </a:xfrm>
        </p:grpSpPr>
        <p:sp>
          <p:nvSpPr>
            <p:cNvPr id="454815" name="Rectangle 159"/>
            <p:cNvSpPr>
              <a:spLocks noChangeArrowheads="1"/>
            </p:cNvSpPr>
            <p:nvPr/>
          </p:nvSpPr>
          <p:spPr bwMode="auto">
            <a:xfrm>
              <a:off x="2886" y="1668"/>
              <a:ext cx="347" cy="28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6" name="Oval 160"/>
            <p:cNvSpPr>
              <a:spLocks noChangeArrowheads="1"/>
            </p:cNvSpPr>
            <p:nvPr/>
          </p:nvSpPr>
          <p:spPr bwMode="auto">
            <a:xfrm>
              <a:off x="2905" y="1674"/>
              <a:ext cx="314" cy="7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7" name="Rectangle 161"/>
            <p:cNvSpPr>
              <a:spLocks noChangeArrowheads="1"/>
            </p:cNvSpPr>
            <p:nvPr/>
          </p:nvSpPr>
          <p:spPr bwMode="auto">
            <a:xfrm>
              <a:off x="2913" y="1785"/>
              <a:ext cx="300" cy="15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4818" name="Line 162"/>
            <p:cNvSpPr>
              <a:spLocks noChangeShapeType="1"/>
            </p:cNvSpPr>
            <p:nvPr/>
          </p:nvSpPr>
          <p:spPr bwMode="auto">
            <a:xfrm>
              <a:off x="3082" y="1811"/>
              <a:ext cx="1" cy="13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19" name="Line 163"/>
            <p:cNvSpPr>
              <a:spLocks noChangeShapeType="1"/>
            </p:cNvSpPr>
            <p:nvPr/>
          </p:nvSpPr>
          <p:spPr bwMode="auto">
            <a:xfrm>
              <a:off x="2913" y="184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0" name="Line 164"/>
            <p:cNvSpPr>
              <a:spLocks noChangeShapeType="1"/>
            </p:cNvSpPr>
            <p:nvPr/>
          </p:nvSpPr>
          <p:spPr bwMode="auto">
            <a:xfrm>
              <a:off x="2912" y="1812"/>
              <a:ext cx="3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DE"/>
            </a:p>
          </p:txBody>
        </p:sp>
        <p:sp>
          <p:nvSpPr>
            <p:cNvPr id="454821" name="AutoShape 165"/>
            <p:cNvSpPr>
              <a:spLocks noChangeArrowheads="1"/>
            </p:cNvSpPr>
            <p:nvPr/>
          </p:nvSpPr>
          <p:spPr bwMode="auto">
            <a:xfrm rot="5400000">
              <a:off x="3051" y="1745"/>
              <a:ext cx="29" cy="41"/>
            </a:xfrm>
            <a:prstGeom prst="rightArrow">
              <a:avLst>
                <a:gd name="adj1" fmla="val 51167"/>
                <a:gd name="adj2" fmla="val 39736"/>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454822" name="Rectangle 166"/>
          <p:cNvSpPr>
            <a:spLocks noGrp="1" noChangeArrowheads="1"/>
          </p:cNvSpPr>
          <p:nvPr>
            <p:ph type="title"/>
          </p:nvPr>
        </p:nvSpPr>
        <p:spPr>
          <a:xfrm>
            <a:off x="249238" y="0"/>
            <a:ext cx="8894762" cy="1143000"/>
          </a:xfrm>
        </p:spPr>
        <p:txBody>
          <a:bodyPr/>
          <a:lstStyle/>
          <a:p>
            <a:r>
              <a:rPr lang="de-DE" sz="3600"/>
              <a:t>Routing und das Weiterleiten</a:t>
            </a:r>
          </a:p>
        </p:txBody>
      </p:sp>
      <p:sp>
        <p:nvSpPr>
          <p:cNvPr id="2" name="TextBox 1"/>
          <p:cNvSpPr txBox="1"/>
          <p:nvPr/>
        </p:nvSpPr>
        <p:spPr>
          <a:xfrm>
            <a:off x="3260954" y="1196752"/>
            <a:ext cx="5883048" cy="3000821"/>
          </a:xfrm>
          <a:prstGeom prst="rect">
            <a:avLst/>
          </a:prstGeom>
          <a:noFill/>
        </p:spPr>
        <p:txBody>
          <a:bodyPr wrap="square" rtlCol="0">
            <a:spAutoFit/>
          </a:bodyPr>
          <a:lstStyle/>
          <a:p>
            <a:pPr marL="274320" indent="-274320">
              <a:spcBef>
                <a:spcPts val="600"/>
              </a:spcBef>
              <a:buClr>
                <a:srgbClr val="53548A"/>
              </a:buClr>
              <a:buSzPct val="76000"/>
              <a:buFont typeface="Wingdings 3"/>
              <a:buChar char=""/>
            </a:pPr>
            <a:r>
              <a:rPr lang="de-DE" sz="2300" dirty="0">
                <a:solidFill>
                  <a:schemeClr val="bg2">
                    <a:lumMod val="50000"/>
                  </a:schemeClr>
                </a:solidFill>
              </a:rPr>
              <a:t>Wie stellen wir sicher, dass jeder Zwischenrouter das Paket entlang dieses (guten) Pfades leitet?</a:t>
            </a:r>
          </a:p>
          <a:p>
            <a:pPr marL="274320" indent="-274320">
              <a:spcBef>
                <a:spcPts val="600"/>
              </a:spcBef>
              <a:buClr>
                <a:srgbClr val="53548A"/>
              </a:buClr>
              <a:buSzPct val="76000"/>
              <a:buFont typeface="Wingdings 3"/>
              <a:buChar char=""/>
            </a:pPr>
            <a:r>
              <a:rPr lang="de-DE" sz="2300" dirty="0">
                <a:solidFill>
                  <a:prstClr val="black"/>
                </a:solidFill>
              </a:rPr>
              <a:t>Dazu führt jeder (Zwischen-) Router regelmäßig einen </a:t>
            </a:r>
            <a:r>
              <a:rPr lang="de-DE" sz="2300" b="1" dirty="0">
                <a:solidFill>
                  <a:srgbClr val="FF0000"/>
                </a:solidFill>
              </a:rPr>
              <a:t>Routing-Algorithmus </a:t>
            </a:r>
            <a:r>
              <a:rPr lang="de-DE" sz="2300" dirty="0">
                <a:solidFill>
                  <a:prstClr val="black"/>
                </a:solidFill>
              </a:rPr>
              <a:t>für ihm bekannte (ggf. ferne) Ziele aus, und speichert in der </a:t>
            </a:r>
            <a:r>
              <a:rPr lang="de-DE" sz="2300" dirty="0">
                <a:solidFill>
                  <a:srgbClr val="0070C0"/>
                </a:solidFill>
              </a:rPr>
              <a:t>Weiterleitungstabelle</a:t>
            </a:r>
            <a:r>
              <a:rPr lang="de-DE" sz="2300" dirty="0">
                <a:solidFill>
                  <a:prstClr val="black"/>
                </a:solidFill>
              </a:rPr>
              <a:t> nur den „nächsten Hop“</a:t>
            </a:r>
          </a:p>
        </p:txBody>
      </p:sp>
      <p:sp>
        <p:nvSpPr>
          <p:cNvPr id="161" name="TextBox 160"/>
          <p:cNvSpPr txBox="1"/>
          <p:nvPr/>
        </p:nvSpPr>
        <p:spPr>
          <a:xfrm>
            <a:off x="4680884" y="4166687"/>
            <a:ext cx="4449358" cy="2246769"/>
          </a:xfrm>
          <a:prstGeom prst="rect">
            <a:avLst/>
          </a:prstGeom>
          <a:noFill/>
        </p:spPr>
        <p:txBody>
          <a:bodyPr wrap="square" rtlCol="0">
            <a:spAutoFit/>
          </a:bodyPr>
          <a:lstStyle/>
          <a:p>
            <a:pPr marL="274320" lvl="0" indent="-274320">
              <a:spcBef>
                <a:spcPts val="600"/>
              </a:spcBef>
              <a:buClr>
                <a:srgbClr val="53548A"/>
              </a:buClr>
              <a:buSzPct val="76000"/>
              <a:buFont typeface="Wingdings 3"/>
              <a:buChar char=""/>
            </a:pPr>
            <a:r>
              <a:rPr lang="de-DE" sz="2300" u="sng" dirty="0">
                <a:solidFill>
                  <a:prstClr val="black"/>
                </a:solidFill>
              </a:rPr>
              <a:t>Damit wird das Routing durch lokale Entscheidungen an jedem Router</a:t>
            </a:r>
            <a:r>
              <a:rPr lang="de-DE" sz="2300" dirty="0">
                <a:solidFill>
                  <a:prstClr val="black"/>
                </a:solidFill>
              </a:rPr>
              <a:t> umgesetzt: </a:t>
            </a:r>
          </a:p>
          <a:p>
            <a:pPr marL="731520" lvl="1" indent="-274320">
              <a:spcBef>
                <a:spcPts val="600"/>
              </a:spcBef>
              <a:buClr>
                <a:srgbClr val="53548A"/>
              </a:buClr>
              <a:buSzPct val="76000"/>
              <a:buFont typeface="Wingdings 3"/>
              <a:buChar char=""/>
            </a:pPr>
            <a:r>
              <a:rPr lang="de-DE" sz="2200" dirty="0">
                <a:solidFill>
                  <a:prstClr val="black"/>
                </a:solidFill>
              </a:rPr>
              <a:t>Zu welchem </a:t>
            </a:r>
            <a:r>
              <a:rPr lang="de-DE" sz="2200" u="sng" dirty="0">
                <a:solidFill>
                  <a:prstClr val="black"/>
                </a:solidFill>
              </a:rPr>
              <a:t>direkt verbundenem</a:t>
            </a:r>
            <a:r>
              <a:rPr lang="de-DE" sz="2200" dirty="0">
                <a:solidFill>
                  <a:prstClr val="black"/>
                </a:solidFill>
              </a:rPr>
              <a:t> Router wird das Paket weitergeleitet?</a:t>
            </a:r>
          </a:p>
        </p:txBody>
      </p:sp>
    </p:spTree>
    <p:extLst>
      <p:ext uri="{BB962C8B-B14F-4D97-AF65-F5344CB8AC3E}">
        <p14:creationId xmlns:p14="http://schemas.microsoft.com/office/powerpoint/2010/main" val="1452114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lide Number Placeholder 4"/>
          <p:cNvSpPr>
            <a:spLocks noGrp="1"/>
          </p:cNvSpPr>
          <p:nvPr>
            <p:ph type="sldNum" sz="quarter" idx="12"/>
          </p:nvPr>
        </p:nvSpPr>
        <p:spPr/>
        <p:txBody>
          <a:bodyPr/>
          <a:lstStyle/>
          <a:p>
            <a:fld id="{09490C0A-AA5E-4FB9-AE41-486A2FC334E5}" type="slidenum">
              <a:rPr lang="en-US" smtClean="0"/>
              <a:pPr/>
              <a:t>23</a:t>
            </a:fld>
            <a:endParaRPr lang="en-US" dirty="0"/>
          </a:p>
        </p:txBody>
      </p:sp>
      <p:grpSp>
        <p:nvGrpSpPr>
          <p:cNvPr id="456706" name="Group 2"/>
          <p:cNvGrpSpPr>
            <a:grpSpLocks/>
          </p:cNvGrpSpPr>
          <p:nvPr/>
        </p:nvGrpSpPr>
        <p:grpSpPr bwMode="auto">
          <a:xfrm>
            <a:off x="3200400" y="1406525"/>
            <a:ext cx="3571875" cy="2236788"/>
            <a:chOff x="3162" y="1071"/>
            <a:chExt cx="2250" cy="1409"/>
          </a:xfrm>
        </p:grpSpPr>
        <p:sp>
          <p:nvSpPr>
            <p:cNvPr id="456707" name="Freeform 3"/>
            <p:cNvSpPr>
              <a:spLocks/>
            </p:cNvSpPr>
            <p:nvPr/>
          </p:nvSpPr>
          <p:spPr bwMode="auto">
            <a:xfrm>
              <a:off x="3162" y="1071"/>
              <a:ext cx="2250" cy="1409"/>
            </a:xfrm>
            <a:custGeom>
              <a:avLst/>
              <a:gdLst>
                <a:gd name="T0" fmla="*/ 0 w 2250"/>
                <a:gd name="T1" fmla="*/ 624 h 1409"/>
                <a:gd name="T2" fmla="*/ 219 w 2250"/>
                <a:gd name="T3" fmla="*/ 321 h 1409"/>
                <a:gd name="T4" fmla="*/ 529 w 2250"/>
                <a:gd name="T5" fmla="*/ 35 h 1409"/>
                <a:gd name="T6" fmla="*/ 1551 w 2250"/>
                <a:gd name="T7" fmla="*/ 111 h 1409"/>
                <a:gd name="T8" fmla="*/ 1968 w 2250"/>
                <a:gd name="T9" fmla="*/ 483 h 1409"/>
                <a:gd name="T10" fmla="*/ 2199 w 2250"/>
                <a:gd name="T11" fmla="*/ 906 h 1409"/>
                <a:gd name="T12" fmla="*/ 1659 w 2250"/>
                <a:gd name="T13" fmla="*/ 1314 h 1409"/>
                <a:gd name="T14" fmla="*/ 993 w 2250"/>
                <a:gd name="T15" fmla="*/ 1386 h 1409"/>
                <a:gd name="T16" fmla="*/ 465 w 2250"/>
                <a:gd name="T17" fmla="*/ 1356 h 1409"/>
                <a:gd name="T18" fmla="*/ 102 w 2250"/>
                <a:gd name="T19" fmla="*/ 1068 h 1409"/>
                <a:gd name="T20" fmla="*/ 0 w 2250"/>
                <a:gd name="T21" fmla="*/ 624 h 1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1409">
                  <a:moveTo>
                    <a:pt x="0" y="624"/>
                  </a:moveTo>
                  <a:cubicBezTo>
                    <a:pt x="5" y="506"/>
                    <a:pt x="131" y="419"/>
                    <a:pt x="219" y="321"/>
                  </a:cubicBezTo>
                  <a:cubicBezTo>
                    <a:pt x="307" y="223"/>
                    <a:pt x="307" y="70"/>
                    <a:pt x="529" y="35"/>
                  </a:cubicBezTo>
                  <a:cubicBezTo>
                    <a:pt x="751" y="0"/>
                    <a:pt x="1311" y="36"/>
                    <a:pt x="1551" y="111"/>
                  </a:cubicBezTo>
                  <a:cubicBezTo>
                    <a:pt x="1791" y="186"/>
                    <a:pt x="1860" y="351"/>
                    <a:pt x="1968" y="483"/>
                  </a:cubicBezTo>
                  <a:cubicBezTo>
                    <a:pt x="2076" y="615"/>
                    <a:pt x="2250" y="767"/>
                    <a:pt x="2199" y="906"/>
                  </a:cubicBezTo>
                  <a:cubicBezTo>
                    <a:pt x="2148" y="1045"/>
                    <a:pt x="1860" y="1234"/>
                    <a:pt x="1659" y="1314"/>
                  </a:cubicBezTo>
                  <a:cubicBezTo>
                    <a:pt x="1458" y="1394"/>
                    <a:pt x="1192" y="1379"/>
                    <a:pt x="993" y="1386"/>
                  </a:cubicBezTo>
                  <a:cubicBezTo>
                    <a:pt x="794" y="1393"/>
                    <a:pt x="613" y="1409"/>
                    <a:pt x="465" y="1356"/>
                  </a:cubicBezTo>
                  <a:cubicBezTo>
                    <a:pt x="317" y="1303"/>
                    <a:pt x="180" y="1190"/>
                    <a:pt x="102" y="1068"/>
                  </a:cubicBezTo>
                  <a:cubicBezTo>
                    <a:pt x="24" y="946"/>
                    <a:pt x="21" y="716"/>
                    <a:pt x="0" y="624"/>
                  </a:cubicBezTo>
                  <a:close/>
                </a:path>
              </a:pathLst>
            </a:custGeom>
            <a:solidFill>
              <a:srgbClr val="99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08" name="Freeform 4"/>
            <p:cNvSpPr>
              <a:spLocks/>
            </p:cNvSpPr>
            <p:nvPr/>
          </p:nvSpPr>
          <p:spPr bwMode="auto">
            <a:xfrm>
              <a:off x="3498" y="1620"/>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09" name="Oval 5"/>
            <p:cNvSpPr>
              <a:spLocks noChangeArrowheads="1"/>
            </p:cNvSpPr>
            <p:nvPr/>
          </p:nvSpPr>
          <p:spPr bwMode="auto">
            <a:xfrm>
              <a:off x="3238" y="1862"/>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0" name="Line 6"/>
            <p:cNvSpPr>
              <a:spLocks noChangeShapeType="1"/>
            </p:cNvSpPr>
            <p:nvPr/>
          </p:nvSpPr>
          <p:spPr bwMode="auto">
            <a:xfrm>
              <a:off x="3238"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1" name="Line 7"/>
            <p:cNvSpPr>
              <a:spLocks noChangeShapeType="1"/>
            </p:cNvSpPr>
            <p:nvPr/>
          </p:nvSpPr>
          <p:spPr bwMode="auto">
            <a:xfrm>
              <a:off x="3551"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2" name="Rectangle 8"/>
            <p:cNvSpPr>
              <a:spLocks noChangeArrowheads="1"/>
            </p:cNvSpPr>
            <p:nvPr/>
          </p:nvSpPr>
          <p:spPr bwMode="auto">
            <a:xfrm>
              <a:off x="3238" y="1855"/>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13" name="Oval 9"/>
            <p:cNvSpPr>
              <a:spLocks noChangeArrowheads="1"/>
            </p:cNvSpPr>
            <p:nvPr/>
          </p:nvSpPr>
          <p:spPr bwMode="auto">
            <a:xfrm>
              <a:off x="3235" y="1796"/>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4" name="Oval 10"/>
            <p:cNvSpPr>
              <a:spLocks noChangeArrowheads="1"/>
            </p:cNvSpPr>
            <p:nvPr/>
          </p:nvSpPr>
          <p:spPr bwMode="auto">
            <a:xfrm>
              <a:off x="3712" y="224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5" name="Line 11"/>
            <p:cNvSpPr>
              <a:spLocks noChangeShapeType="1"/>
            </p:cNvSpPr>
            <p:nvPr/>
          </p:nvSpPr>
          <p:spPr bwMode="auto">
            <a:xfrm>
              <a:off x="3712"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6" name="Line 12"/>
            <p:cNvSpPr>
              <a:spLocks noChangeShapeType="1"/>
            </p:cNvSpPr>
            <p:nvPr/>
          </p:nvSpPr>
          <p:spPr bwMode="auto">
            <a:xfrm>
              <a:off x="4025"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7" name="Rectangle 13"/>
            <p:cNvSpPr>
              <a:spLocks noChangeArrowheads="1"/>
            </p:cNvSpPr>
            <p:nvPr/>
          </p:nvSpPr>
          <p:spPr bwMode="auto">
            <a:xfrm>
              <a:off x="3712" y="224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18" name="Oval 14"/>
            <p:cNvSpPr>
              <a:spLocks noChangeArrowheads="1"/>
            </p:cNvSpPr>
            <p:nvPr/>
          </p:nvSpPr>
          <p:spPr bwMode="auto">
            <a:xfrm>
              <a:off x="3709" y="218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19" name="Oval 15"/>
            <p:cNvSpPr>
              <a:spLocks noChangeArrowheads="1"/>
            </p:cNvSpPr>
            <p:nvPr/>
          </p:nvSpPr>
          <p:spPr bwMode="auto">
            <a:xfrm>
              <a:off x="3708" y="155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0" name="Line 16"/>
            <p:cNvSpPr>
              <a:spLocks noChangeShapeType="1"/>
            </p:cNvSpPr>
            <p:nvPr/>
          </p:nvSpPr>
          <p:spPr bwMode="auto">
            <a:xfrm>
              <a:off x="3708"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1" name="Line 17"/>
            <p:cNvSpPr>
              <a:spLocks noChangeShapeType="1"/>
            </p:cNvSpPr>
            <p:nvPr/>
          </p:nvSpPr>
          <p:spPr bwMode="auto">
            <a:xfrm>
              <a:off x="4021"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2" name="Rectangle 18"/>
            <p:cNvSpPr>
              <a:spLocks noChangeArrowheads="1"/>
            </p:cNvSpPr>
            <p:nvPr/>
          </p:nvSpPr>
          <p:spPr bwMode="auto">
            <a:xfrm>
              <a:off x="3708" y="155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23" name="Oval 19"/>
            <p:cNvSpPr>
              <a:spLocks noChangeArrowheads="1"/>
            </p:cNvSpPr>
            <p:nvPr/>
          </p:nvSpPr>
          <p:spPr bwMode="auto">
            <a:xfrm>
              <a:off x="3705" y="149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4" name="Oval 20"/>
            <p:cNvSpPr>
              <a:spLocks noChangeArrowheads="1"/>
            </p:cNvSpPr>
            <p:nvPr/>
          </p:nvSpPr>
          <p:spPr bwMode="auto">
            <a:xfrm>
              <a:off x="4391" y="1555"/>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5" name="Line 21"/>
            <p:cNvSpPr>
              <a:spLocks noChangeShapeType="1"/>
            </p:cNvSpPr>
            <p:nvPr/>
          </p:nvSpPr>
          <p:spPr bwMode="auto">
            <a:xfrm>
              <a:off x="4391"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6" name="Line 22"/>
            <p:cNvSpPr>
              <a:spLocks noChangeShapeType="1"/>
            </p:cNvSpPr>
            <p:nvPr/>
          </p:nvSpPr>
          <p:spPr bwMode="auto">
            <a:xfrm>
              <a:off x="4703"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7" name="Rectangle 23"/>
            <p:cNvSpPr>
              <a:spLocks noChangeArrowheads="1"/>
            </p:cNvSpPr>
            <p:nvPr/>
          </p:nvSpPr>
          <p:spPr bwMode="auto">
            <a:xfrm>
              <a:off x="4391" y="1548"/>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28" name="Oval 24"/>
            <p:cNvSpPr>
              <a:spLocks noChangeArrowheads="1"/>
            </p:cNvSpPr>
            <p:nvPr/>
          </p:nvSpPr>
          <p:spPr bwMode="auto">
            <a:xfrm>
              <a:off x="4394" y="1492"/>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29" name="Oval 25"/>
            <p:cNvSpPr>
              <a:spLocks noChangeArrowheads="1"/>
            </p:cNvSpPr>
            <p:nvPr/>
          </p:nvSpPr>
          <p:spPr bwMode="auto">
            <a:xfrm>
              <a:off x="4401" y="2246"/>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0" name="Line 26"/>
            <p:cNvSpPr>
              <a:spLocks noChangeShapeType="1"/>
            </p:cNvSpPr>
            <p:nvPr/>
          </p:nvSpPr>
          <p:spPr bwMode="auto">
            <a:xfrm>
              <a:off x="4401"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1" name="Line 27"/>
            <p:cNvSpPr>
              <a:spLocks noChangeShapeType="1"/>
            </p:cNvSpPr>
            <p:nvPr/>
          </p:nvSpPr>
          <p:spPr bwMode="auto">
            <a:xfrm>
              <a:off x="4714"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2" name="Rectangle 28"/>
            <p:cNvSpPr>
              <a:spLocks noChangeArrowheads="1"/>
            </p:cNvSpPr>
            <p:nvPr/>
          </p:nvSpPr>
          <p:spPr bwMode="auto">
            <a:xfrm>
              <a:off x="4401" y="2239"/>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33" name="Oval 29"/>
            <p:cNvSpPr>
              <a:spLocks noChangeArrowheads="1"/>
            </p:cNvSpPr>
            <p:nvPr/>
          </p:nvSpPr>
          <p:spPr bwMode="auto">
            <a:xfrm>
              <a:off x="4398" y="2180"/>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4" name="Oval 30"/>
            <p:cNvSpPr>
              <a:spLocks noChangeArrowheads="1"/>
            </p:cNvSpPr>
            <p:nvPr/>
          </p:nvSpPr>
          <p:spPr bwMode="auto">
            <a:xfrm>
              <a:off x="4966" y="19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5" name="Line 31"/>
            <p:cNvSpPr>
              <a:spLocks noChangeShapeType="1"/>
            </p:cNvSpPr>
            <p:nvPr/>
          </p:nvSpPr>
          <p:spPr bwMode="auto">
            <a:xfrm>
              <a:off x="4966"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6" name="Line 32"/>
            <p:cNvSpPr>
              <a:spLocks noChangeShapeType="1"/>
            </p:cNvSpPr>
            <p:nvPr/>
          </p:nvSpPr>
          <p:spPr bwMode="auto">
            <a:xfrm>
              <a:off x="5279"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7" name="Rectangle 33"/>
            <p:cNvSpPr>
              <a:spLocks noChangeArrowheads="1"/>
            </p:cNvSpPr>
            <p:nvPr/>
          </p:nvSpPr>
          <p:spPr bwMode="auto">
            <a:xfrm>
              <a:off x="4966" y="18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6738" name="Oval 34"/>
            <p:cNvSpPr>
              <a:spLocks noChangeArrowheads="1"/>
            </p:cNvSpPr>
            <p:nvPr/>
          </p:nvSpPr>
          <p:spPr bwMode="auto">
            <a:xfrm>
              <a:off x="4963" y="18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39" name="Freeform 35"/>
            <p:cNvSpPr>
              <a:spLocks/>
            </p:cNvSpPr>
            <p:nvPr/>
          </p:nvSpPr>
          <p:spPr bwMode="auto">
            <a:xfrm>
              <a:off x="4557" y="1647"/>
              <a:ext cx="1" cy="522"/>
            </a:xfrm>
            <a:custGeom>
              <a:avLst/>
              <a:gdLst>
                <a:gd name="T0" fmla="*/ 0 w 1"/>
                <a:gd name="T1" fmla="*/ 0 h 522"/>
                <a:gd name="T2" fmla="*/ 0 w 1"/>
                <a:gd name="T3" fmla="*/ 522 h 522"/>
              </a:gdLst>
              <a:ahLst/>
              <a:cxnLst>
                <a:cxn ang="0">
                  <a:pos x="T0" y="T1"/>
                </a:cxn>
                <a:cxn ang="0">
                  <a:pos x="T2" y="T3"/>
                </a:cxn>
              </a:cxnLst>
              <a:rect l="0" t="0" r="r" b="b"/>
              <a:pathLst>
                <a:path w="1" h="522">
                  <a:moveTo>
                    <a:pt x="0" y="0"/>
                  </a:moveTo>
                  <a:lnTo>
                    <a:pt x="0" y="522"/>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0" name="Freeform 36"/>
            <p:cNvSpPr>
              <a:spLocks/>
            </p:cNvSpPr>
            <p:nvPr/>
          </p:nvSpPr>
          <p:spPr bwMode="auto">
            <a:xfrm>
              <a:off x="3864" y="1653"/>
              <a:ext cx="1" cy="537"/>
            </a:xfrm>
            <a:custGeom>
              <a:avLst/>
              <a:gdLst>
                <a:gd name="T0" fmla="*/ 0 w 1"/>
                <a:gd name="T1" fmla="*/ 0 h 537"/>
                <a:gd name="T2" fmla="*/ 0 w 1"/>
                <a:gd name="T3" fmla="*/ 537 h 537"/>
              </a:gdLst>
              <a:ahLst/>
              <a:cxnLst>
                <a:cxn ang="0">
                  <a:pos x="T0" y="T1"/>
                </a:cxn>
                <a:cxn ang="0">
                  <a:pos x="T2" y="T3"/>
                </a:cxn>
              </a:cxnLst>
              <a:rect l="0" t="0" r="r" b="b"/>
              <a:pathLst>
                <a:path w="1" h="537">
                  <a:moveTo>
                    <a:pt x="0" y="0"/>
                  </a:moveTo>
                  <a:lnTo>
                    <a:pt x="0" y="537"/>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1" name="Freeform 37"/>
            <p:cNvSpPr>
              <a:spLocks/>
            </p:cNvSpPr>
            <p:nvPr/>
          </p:nvSpPr>
          <p:spPr bwMode="auto">
            <a:xfrm>
              <a:off x="4029" y="1638"/>
              <a:ext cx="504" cy="600"/>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2" name="Freeform 38"/>
            <p:cNvSpPr>
              <a:spLocks/>
            </p:cNvSpPr>
            <p:nvPr/>
          </p:nvSpPr>
          <p:spPr bwMode="auto">
            <a:xfrm>
              <a:off x="4716" y="1986"/>
              <a:ext cx="366" cy="270"/>
            </a:xfrm>
            <a:custGeom>
              <a:avLst/>
              <a:gdLst>
                <a:gd name="T0" fmla="*/ 0 w 366"/>
                <a:gd name="T1" fmla="*/ 270 h 270"/>
                <a:gd name="T2" fmla="*/ 366 w 366"/>
                <a:gd name="T3" fmla="*/ 0 h 270"/>
              </a:gdLst>
              <a:ahLst/>
              <a:cxnLst>
                <a:cxn ang="0">
                  <a:pos x="T0" y="T1"/>
                </a:cxn>
                <a:cxn ang="0">
                  <a:pos x="T2" y="T3"/>
                </a:cxn>
              </a:cxnLst>
              <a:rect l="0" t="0" r="r" b="b"/>
              <a:pathLst>
                <a:path w="366" h="270">
                  <a:moveTo>
                    <a:pt x="0" y="270"/>
                  </a:moveTo>
                  <a:lnTo>
                    <a:pt x="366"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3" name="Freeform 39"/>
            <p:cNvSpPr>
              <a:spLocks/>
            </p:cNvSpPr>
            <p:nvPr/>
          </p:nvSpPr>
          <p:spPr bwMode="auto">
            <a:xfrm>
              <a:off x="4035" y="226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4" name="Freeform 40"/>
            <p:cNvSpPr>
              <a:spLocks/>
            </p:cNvSpPr>
            <p:nvPr/>
          </p:nvSpPr>
          <p:spPr bwMode="auto">
            <a:xfrm>
              <a:off x="3444" y="1944"/>
              <a:ext cx="276" cy="264"/>
            </a:xfrm>
            <a:custGeom>
              <a:avLst/>
              <a:gdLst>
                <a:gd name="T0" fmla="*/ 276 w 276"/>
                <a:gd name="T1" fmla="*/ 264 h 264"/>
                <a:gd name="T2" fmla="*/ 0 w 276"/>
                <a:gd name="T3" fmla="*/ 0 h 264"/>
              </a:gdLst>
              <a:ahLst/>
              <a:cxnLst>
                <a:cxn ang="0">
                  <a:pos x="T0" y="T1"/>
                </a:cxn>
                <a:cxn ang="0">
                  <a:pos x="T2" y="T3"/>
                </a:cxn>
              </a:cxnLst>
              <a:rect l="0" t="0" r="r" b="b"/>
              <a:pathLst>
                <a:path w="276" h="264">
                  <a:moveTo>
                    <a:pt x="276" y="264"/>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5" name="Freeform 41"/>
            <p:cNvSpPr>
              <a:spLocks/>
            </p:cNvSpPr>
            <p:nvPr/>
          </p:nvSpPr>
          <p:spPr bwMode="auto">
            <a:xfrm>
              <a:off x="4029" y="157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6" name="Freeform 42"/>
            <p:cNvSpPr>
              <a:spLocks/>
            </p:cNvSpPr>
            <p:nvPr/>
          </p:nvSpPr>
          <p:spPr bwMode="auto">
            <a:xfrm>
              <a:off x="4704" y="1575"/>
              <a:ext cx="396" cy="267"/>
            </a:xfrm>
            <a:custGeom>
              <a:avLst/>
              <a:gdLst>
                <a:gd name="T0" fmla="*/ 396 w 396"/>
                <a:gd name="T1" fmla="*/ 267 h 267"/>
                <a:gd name="T2" fmla="*/ 0 w 396"/>
                <a:gd name="T3" fmla="*/ 0 h 267"/>
              </a:gdLst>
              <a:ahLst/>
              <a:cxnLst>
                <a:cxn ang="0">
                  <a:pos x="T0" y="T1"/>
                </a:cxn>
                <a:cxn ang="0">
                  <a:pos x="T2" y="T3"/>
                </a:cxn>
              </a:cxnLst>
              <a:rect l="0" t="0" r="r" b="b"/>
              <a:pathLst>
                <a:path w="396" h="267">
                  <a:moveTo>
                    <a:pt x="396" y="267"/>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47" name="Freeform 43"/>
            <p:cNvSpPr>
              <a:spLocks/>
            </p:cNvSpPr>
            <p:nvPr/>
          </p:nvSpPr>
          <p:spPr bwMode="auto">
            <a:xfrm>
              <a:off x="3387" y="1146"/>
              <a:ext cx="1110" cy="645"/>
            </a:xfrm>
            <a:custGeom>
              <a:avLst/>
              <a:gdLst>
                <a:gd name="T0" fmla="*/ 1110 w 1110"/>
                <a:gd name="T1" fmla="*/ 342 h 645"/>
                <a:gd name="T2" fmla="*/ 0 w 1110"/>
                <a:gd name="T3" fmla="*/ 645 h 645"/>
              </a:gdLst>
              <a:ahLst/>
              <a:cxnLst>
                <a:cxn ang="0">
                  <a:pos x="T0" y="T1"/>
                </a:cxn>
                <a:cxn ang="0">
                  <a:pos x="T2" y="T3"/>
                </a:cxn>
              </a:cxnLst>
              <a:rect l="0" t="0" r="r" b="b"/>
              <a:pathLst>
                <a:path w="1110" h="645">
                  <a:moveTo>
                    <a:pt x="1110" y="342"/>
                  </a:moveTo>
                  <a:cubicBezTo>
                    <a:pt x="1104" y="0"/>
                    <a:pt x="21" y="63"/>
                    <a:pt x="0" y="645"/>
                  </a:cubicBez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6748" name="Group 44"/>
            <p:cNvGrpSpPr>
              <a:grpSpLocks/>
            </p:cNvGrpSpPr>
            <p:nvPr/>
          </p:nvGrpSpPr>
          <p:grpSpPr bwMode="auto">
            <a:xfrm>
              <a:off x="3290" y="1748"/>
              <a:ext cx="199" cy="250"/>
              <a:chOff x="2957" y="2429"/>
              <a:chExt cx="202" cy="250"/>
            </a:xfrm>
          </p:grpSpPr>
          <p:sp>
            <p:nvSpPr>
              <p:cNvPr id="456749" name="Rectangle 45"/>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50" name="Text Box 46"/>
              <p:cNvSpPr txBox="1">
                <a:spLocks noChangeArrowheads="1"/>
              </p:cNvSpPr>
              <p:nvPr/>
            </p:nvSpPr>
            <p:spPr bwMode="auto">
              <a:xfrm>
                <a:off x="2957" y="2429"/>
                <a:ext cx="202"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u</a:t>
                </a:r>
                <a:endParaRPr lang="en-US" sz="2400">
                  <a:latin typeface="Times New Roman" pitchFamily="18" charset="0"/>
                </a:endParaRPr>
              </a:p>
            </p:txBody>
          </p:sp>
        </p:grpSp>
        <p:grpSp>
          <p:nvGrpSpPr>
            <p:cNvPr id="456751" name="Group 47"/>
            <p:cNvGrpSpPr>
              <a:grpSpLocks/>
            </p:cNvGrpSpPr>
            <p:nvPr/>
          </p:nvGrpSpPr>
          <p:grpSpPr bwMode="auto">
            <a:xfrm>
              <a:off x="4460" y="2132"/>
              <a:ext cx="199" cy="250"/>
              <a:chOff x="2957" y="2429"/>
              <a:chExt cx="202" cy="250"/>
            </a:xfrm>
          </p:grpSpPr>
          <p:sp>
            <p:nvSpPr>
              <p:cNvPr id="456752" name="Rectangle 4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53" name="Text Box 49"/>
              <p:cNvSpPr txBox="1">
                <a:spLocks noChangeArrowheads="1"/>
              </p:cNvSpPr>
              <p:nvPr/>
            </p:nvSpPr>
            <p:spPr bwMode="auto">
              <a:xfrm>
                <a:off x="2957" y="2429"/>
                <a:ext cx="202"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y</a:t>
                </a:r>
                <a:endParaRPr lang="en-US" sz="2400">
                  <a:latin typeface="Times New Roman" pitchFamily="18" charset="0"/>
                </a:endParaRPr>
              </a:p>
            </p:txBody>
          </p:sp>
        </p:grpSp>
        <p:grpSp>
          <p:nvGrpSpPr>
            <p:cNvPr id="456754" name="Group 50"/>
            <p:cNvGrpSpPr>
              <a:grpSpLocks/>
            </p:cNvGrpSpPr>
            <p:nvPr/>
          </p:nvGrpSpPr>
          <p:grpSpPr bwMode="auto">
            <a:xfrm>
              <a:off x="3764" y="2099"/>
              <a:ext cx="229" cy="288"/>
              <a:chOff x="2943" y="2399"/>
              <a:chExt cx="230" cy="288"/>
            </a:xfrm>
          </p:grpSpPr>
          <p:sp>
            <p:nvSpPr>
              <p:cNvPr id="456755" name="Rectangle 51"/>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56" name="Text Box 52"/>
              <p:cNvSpPr txBox="1">
                <a:spLocks noChangeArrowheads="1"/>
              </p:cNvSpPr>
              <p:nvPr/>
            </p:nvSpPr>
            <p:spPr bwMode="auto">
              <a:xfrm>
                <a:off x="2943" y="2399"/>
                <a:ext cx="230"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400"/>
                  <a:t>x</a:t>
                </a:r>
              </a:p>
            </p:txBody>
          </p:sp>
        </p:grpSp>
        <p:grpSp>
          <p:nvGrpSpPr>
            <p:cNvPr id="456757" name="Group 53"/>
            <p:cNvGrpSpPr>
              <a:grpSpLocks/>
            </p:cNvGrpSpPr>
            <p:nvPr/>
          </p:nvGrpSpPr>
          <p:grpSpPr bwMode="auto">
            <a:xfrm>
              <a:off x="4441" y="1442"/>
              <a:ext cx="225" cy="250"/>
              <a:chOff x="2944" y="2429"/>
              <a:chExt cx="228" cy="250"/>
            </a:xfrm>
          </p:grpSpPr>
          <p:sp>
            <p:nvSpPr>
              <p:cNvPr id="456758" name="Rectangle 54"/>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59" name="Text Box 55"/>
              <p:cNvSpPr txBox="1">
                <a:spLocks noChangeArrowheads="1"/>
              </p:cNvSpPr>
              <p:nvPr/>
            </p:nvSpPr>
            <p:spPr bwMode="auto">
              <a:xfrm>
                <a:off x="2944" y="2429"/>
                <a:ext cx="228"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w</a:t>
                </a:r>
                <a:endParaRPr lang="en-US" sz="2400">
                  <a:latin typeface="Times New Roman" pitchFamily="18" charset="0"/>
                </a:endParaRPr>
              </a:p>
            </p:txBody>
          </p:sp>
        </p:grpSp>
        <p:grpSp>
          <p:nvGrpSpPr>
            <p:cNvPr id="456760" name="Group 56"/>
            <p:cNvGrpSpPr>
              <a:grpSpLocks/>
            </p:cNvGrpSpPr>
            <p:nvPr/>
          </p:nvGrpSpPr>
          <p:grpSpPr bwMode="auto">
            <a:xfrm>
              <a:off x="3772" y="1442"/>
              <a:ext cx="194" cy="250"/>
              <a:chOff x="2959" y="2429"/>
              <a:chExt cx="197" cy="250"/>
            </a:xfrm>
          </p:grpSpPr>
          <p:sp>
            <p:nvSpPr>
              <p:cNvPr id="456761" name="Rectangle 57"/>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62" name="Text Box 58"/>
              <p:cNvSpPr txBox="1">
                <a:spLocks noChangeArrowheads="1"/>
              </p:cNvSpPr>
              <p:nvPr/>
            </p:nvSpPr>
            <p:spPr bwMode="auto">
              <a:xfrm>
                <a:off x="2959" y="2429"/>
                <a:ext cx="197"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v</a:t>
                </a:r>
                <a:endParaRPr lang="en-US" sz="2400">
                  <a:latin typeface="Times New Roman" pitchFamily="18" charset="0"/>
                </a:endParaRPr>
              </a:p>
            </p:txBody>
          </p:sp>
        </p:grpSp>
        <p:grpSp>
          <p:nvGrpSpPr>
            <p:cNvPr id="456763" name="Group 59"/>
            <p:cNvGrpSpPr>
              <a:grpSpLocks/>
            </p:cNvGrpSpPr>
            <p:nvPr/>
          </p:nvGrpSpPr>
          <p:grpSpPr bwMode="auto">
            <a:xfrm>
              <a:off x="5022" y="1760"/>
              <a:ext cx="219" cy="288"/>
              <a:chOff x="2946" y="2399"/>
              <a:chExt cx="221" cy="288"/>
            </a:xfrm>
          </p:grpSpPr>
          <p:sp>
            <p:nvSpPr>
              <p:cNvPr id="456764" name="Rectangle 60"/>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6765" name="Text Box 61"/>
              <p:cNvSpPr txBox="1">
                <a:spLocks noChangeArrowheads="1"/>
              </p:cNvSpPr>
              <p:nvPr/>
            </p:nvSpPr>
            <p:spPr bwMode="auto">
              <a:xfrm>
                <a:off x="2946" y="2399"/>
                <a:ext cx="221"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400"/>
                  <a:t>z</a:t>
                </a:r>
              </a:p>
            </p:txBody>
          </p:sp>
        </p:grpSp>
        <p:sp>
          <p:nvSpPr>
            <p:cNvPr id="456766" name="Text Box 62"/>
            <p:cNvSpPr txBox="1">
              <a:spLocks noChangeArrowheads="1"/>
            </p:cNvSpPr>
            <p:nvPr/>
          </p:nvSpPr>
          <p:spPr bwMode="auto">
            <a:xfrm>
              <a:off x="3489" y="1571"/>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56767" name="Text Box 63"/>
            <p:cNvSpPr txBox="1">
              <a:spLocks noChangeArrowheads="1"/>
            </p:cNvSpPr>
            <p:nvPr/>
          </p:nvSpPr>
          <p:spPr bwMode="auto">
            <a:xfrm>
              <a:off x="3837" y="1790"/>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56768" name="Text Box 64"/>
            <p:cNvSpPr txBox="1">
              <a:spLocks noChangeArrowheads="1"/>
            </p:cNvSpPr>
            <p:nvPr/>
          </p:nvSpPr>
          <p:spPr bwMode="auto">
            <a:xfrm>
              <a:off x="3413" y="2003"/>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56769" name="Text Box 65"/>
            <p:cNvSpPr txBox="1">
              <a:spLocks noChangeArrowheads="1"/>
            </p:cNvSpPr>
            <p:nvPr/>
          </p:nvSpPr>
          <p:spPr bwMode="auto">
            <a:xfrm>
              <a:off x="4221" y="1883"/>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3</a:t>
              </a:r>
              <a:endParaRPr lang="en-US" sz="2400">
                <a:latin typeface="Times New Roman" pitchFamily="18" charset="0"/>
              </a:endParaRPr>
            </a:p>
          </p:txBody>
        </p:sp>
        <p:sp>
          <p:nvSpPr>
            <p:cNvPr id="456770" name="Text Box 66"/>
            <p:cNvSpPr txBox="1">
              <a:spLocks noChangeArrowheads="1"/>
            </p:cNvSpPr>
            <p:nvPr/>
          </p:nvSpPr>
          <p:spPr bwMode="auto">
            <a:xfrm>
              <a:off x="4169" y="2237"/>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56771" name="Text Box 67"/>
            <p:cNvSpPr txBox="1">
              <a:spLocks noChangeArrowheads="1"/>
            </p:cNvSpPr>
            <p:nvPr/>
          </p:nvSpPr>
          <p:spPr bwMode="auto">
            <a:xfrm>
              <a:off x="4529" y="1808"/>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56772" name="Text Box 68"/>
            <p:cNvSpPr txBox="1">
              <a:spLocks noChangeArrowheads="1"/>
            </p:cNvSpPr>
            <p:nvPr/>
          </p:nvSpPr>
          <p:spPr bwMode="auto">
            <a:xfrm>
              <a:off x="4878" y="2072"/>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56773" name="Text Box 69"/>
            <p:cNvSpPr txBox="1">
              <a:spLocks noChangeArrowheads="1"/>
            </p:cNvSpPr>
            <p:nvPr/>
          </p:nvSpPr>
          <p:spPr bwMode="auto">
            <a:xfrm>
              <a:off x="4851" y="153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5</a:t>
              </a:r>
              <a:endParaRPr lang="en-US" sz="2400">
                <a:latin typeface="Times New Roman" pitchFamily="18" charset="0"/>
              </a:endParaRPr>
            </a:p>
          </p:txBody>
        </p:sp>
        <p:sp>
          <p:nvSpPr>
            <p:cNvPr id="456774" name="Text Box 70"/>
            <p:cNvSpPr txBox="1">
              <a:spLocks noChangeArrowheads="1"/>
            </p:cNvSpPr>
            <p:nvPr/>
          </p:nvSpPr>
          <p:spPr bwMode="auto">
            <a:xfrm>
              <a:off x="4116" y="138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3</a:t>
              </a:r>
              <a:endParaRPr lang="en-US" sz="2400">
                <a:latin typeface="Times New Roman" pitchFamily="18" charset="0"/>
              </a:endParaRPr>
            </a:p>
          </p:txBody>
        </p:sp>
        <p:sp>
          <p:nvSpPr>
            <p:cNvPr id="456775" name="Text Box 71"/>
            <p:cNvSpPr txBox="1">
              <a:spLocks noChangeArrowheads="1"/>
            </p:cNvSpPr>
            <p:nvPr/>
          </p:nvSpPr>
          <p:spPr bwMode="auto">
            <a:xfrm>
              <a:off x="3765" y="1118"/>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5</a:t>
              </a:r>
              <a:endParaRPr lang="en-US" sz="2400">
                <a:latin typeface="Times New Roman" pitchFamily="18" charset="0"/>
              </a:endParaRPr>
            </a:p>
          </p:txBody>
        </p:sp>
      </p:grpSp>
      <p:sp>
        <p:nvSpPr>
          <p:cNvPr id="456776" name="Text Box 72"/>
          <p:cNvSpPr txBox="1">
            <a:spLocks noChangeArrowheads="1"/>
          </p:cNvSpPr>
          <p:nvPr/>
        </p:nvSpPr>
        <p:spPr bwMode="auto">
          <a:xfrm>
            <a:off x="683568" y="3501008"/>
            <a:ext cx="8018670"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lang="de-DE" sz="2400" b="1">
                <a:solidFill>
                  <a:srgbClr val="FF0000"/>
                </a:solidFill>
                <a:latin typeface="Arial" charset="0"/>
              </a:rPr>
              <a:t>Graph</a:t>
            </a:r>
            <a:r>
              <a:rPr lang="de-DE" sz="2400">
                <a:latin typeface="Arial" charset="0"/>
              </a:rPr>
              <a:t>: </a:t>
            </a:r>
            <a:r>
              <a:rPr lang="de-DE" sz="2400" b="1">
                <a:solidFill>
                  <a:srgbClr val="FF0000"/>
                </a:solidFill>
                <a:latin typeface="Arial" charset="0"/>
              </a:rPr>
              <a:t>G</a:t>
            </a:r>
            <a:r>
              <a:rPr lang="de-DE" sz="2400">
                <a:latin typeface="Arial" charset="0"/>
              </a:rPr>
              <a:t> = (N,E)</a:t>
            </a:r>
          </a:p>
          <a:p>
            <a:pPr eaLnBrk="1" hangingPunct="1"/>
            <a:endParaRPr lang="de-DE" sz="2400">
              <a:latin typeface="Arial" charset="0"/>
            </a:endParaRPr>
          </a:p>
          <a:p>
            <a:pPr eaLnBrk="1" hangingPunct="1"/>
            <a:r>
              <a:rPr lang="de-DE" sz="2400" b="1">
                <a:solidFill>
                  <a:srgbClr val="FF0000"/>
                </a:solidFill>
                <a:latin typeface="Arial" charset="0"/>
              </a:rPr>
              <a:t>Knoten </a:t>
            </a:r>
            <a:r>
              <a:rPr lang="de-DE" sz="2400">
                <a:latin typeface="Arial" charset="0"/>
              </a:rPr>
              <a:t>(nodes):</a:t>
            </a:r>
          </a:p>
          <a:p>
            <a:pPr eaLnBrk="1" hangingPunct="1"/>
            <a:r>
              <a:rPr lang="de-DE" sz="2400">
                <a:latin typeface="Arial" charset="0"/>
              </a:rPr>
              <a:t>	N = Menge der Router = { u, v, w, x, y, z }</a:t>
            </a:r>
          </a:p>
          <a:p>
            <a:pPr eaLnBrk="1" hangingPunct="1"/>
            <a:r>
              <a:rPr lang="de-DE" sz="2400" b="1">
                <a:solidFill>
                  <a:srgbClr val="FF0000"/>
                </a:solidFill>
                <a:latin typeface="Arial" charset="0"/>
              </a:rPr>
              <a:t>Kanten </a:t>
            </a:r>
            <a:r>
              <a:rPr lang="de-DE" sz="2400">
                <a:latin typeface="Arial" charset="0"/>
              </a:rPr>
              <a:t>(edges):</a:t>
            </a:r>
          </a:p>
          <a:p>
            <a:pPr eaLnBrk="1" hangingPunct="1"/>
            <a:r>
              <a:rPr lang="de-DE" sz="2400">
                <a:latin typeface="Arial" charset="0"/>
              </a:rPr>
              <a:t>	E = Menge der Leitungen zwischen den Routern =</a:t>
            </a:r>
            <a:br>
              <a:rPr lang="de-DE" sz="2400">
                <a:latin typeface="Arial" charset="0"/>
              </a:rPr>
            </a:br>
            <a:r>
              <a:rPr lang="de-DE" sz="2400">
                <a:latin typeface="Arial" charset="0"/>
              </a:rPr>
              <a:t>      { (u,v), (u,x), (v,x), (v,w), (x,w), (x,y), (w,y), (w,z), (y,z) }</a:t>
            </a:r>
          </a:p>
        </p:txBody>
      </p:sp>
      <p:sp>
        <p:nvSpPr>
          <p:cNvPr id="456777" name="Rectangle 73"/>
          <p:cNvSpPr>
            <a:spLocks noGrp="1" noChangeArrowheads="1"/>
          </p:cNvSpPr>
          <p:nvPr>
            <p:ph type="title"/>
          </p:nvPr>
        </p:nvSpPr>
        <p:spPr/>
        <p:txBody>
          <a:bodyPr>
            <a:normAutofit fontScale="90000"/>
          </a:bodyPr>
          <a:lstStyle/>
          <a:p>
            <a:r>
              <a:rPr lang="de-DE" dirty="0"/>
              <a:t>Abstraktes Graphenmodell eines Computernetzwerkes</a:t>
            </a:r>
          </a:p>
        </p:txBody>
      </p:sp>
    </p:spTree>
    <p:extLst>
      <p:ext uri="{BB962C8B-B14F-4D97-AF65-F5344CB8AC3E}">
        <p14:creationId xmlns:p14="http://schemas.microsoft.com/office/powerpoint/2010/main" val="1258950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Slide Number Placeholder 4"/>
          <p:cNvSpPr>
            <a:spLocks noGrp="1"/>
          </p:cNvSpPr>
          <p:nvPr>
            <p:ph type="sldNum" sz="quarter" idx="12"/>
          </p:nvPr>
        </p:nvSpPr>
        <p:spPr/>
        <p:txBody>
          <a:bodyPr/>
          <a:lstStyle/>
          <a:p>
            <a:fld id="{91305B1F-54F8-4677-B76C-220D1B4B2851}" type="slidenum">
              <a:rPr lang="de-DE" smtClean="0"/>
              <a:pPr/>
              <a:t>24</a:t>
            </a:fld>
            <a:endParaRPr lang="de-DE" dirty="0"/>
          </a:p>
        </p:txBody>
      </p:sp>
      <p:sp>
        <p:nvSpPr>
          <p:cNvPr id="457730" name="Rectangle 2"/>
          <p:cNvSpPr>
            <a:spLocks noGrp="1" noChangeArrowheads="1"/>
          </p:cNvSpPr>
          <p:nvPr>
            <p:ph type="title"/>
          </p:nvPr>
        </p:nvSpPr>
        <p:spPr/>
        <p:txBody>
          <a:bodyPr/>
          <a:lstStyle/>
          <a:p>
            <a:r>
              <a:rPr lang="de-DE" dirty="0"/>
              <a:t>Abstraktes Graphenmodell: Definitionen</a:t>
            </a:r>
          </a:p>
        </p:txBody>
      </p:sp>
      <p:grpSp>
        <p:nvGrpSpPr>
          <p:cNvPr id="457731" name="Group 3"/>
          <p:cNvGrpSpPr>
            <a:grpSpLocks/>
          </p:cNvGrpSpPr>
          <p:nvPr/>
        </p:nvGrpSpPr>
        <p:grpSpPr bwMode="auto">
          <a:xfrm>
            <a:off x="920750" y="1495425"/>
            <a:ext cx="3571875" cy="2236788"/>
            <a:chOff x="3162" y="1071"/>
            <a:chExt cx="2250" cy="1409"/>
          </a:xfrm>
        </p:grpSpPr>
        <p:sp>
          <p:nvSpPr>
            <p:cNvPr id="457732" name="Freeform 4"/>
            <p:cNvSpPr>
              <a:spLocks/>
            </p:cNvSpPr>
            <p:nvPr/>
          </p:nvSpPr>
          <p:spPr bwMode="auto">
            <a:xfrm>
              <a:off x="3162" y="1071"/>
              <a:ext cx="2250" cy="1409"/>
            </a:xfrm>
            <a:custGeom>
              <a:avLst/>
              <a:gdLst>
                <a:gd name="T0" fmla="*/ 0 w 2250"/>
                <a:gd name="T1" fmla="*/ 624 h 1409"/>
                <a:gd name="T2" fmla="*/ 219 w 2250"/>
                <a:gd name="T3" fmla="*/ 321 h 1409"/>
                <a:gd name="T4" fmla="*/ 529 w 2250"/>
                <a:gd name="T5" fmla="*/ 35 h 1409"/>
                <a:gd name="T6" fmla="*/ 1551 w 2250"/>
                <a:gd name="T7" fmla="*/ 111 h 1409"/>
                <a:gd name="T8" fmla="*/ 1968 w 2250"/>
                <a:gd name="T9" fmla="*/ 483 h 1409"/>
                <a:gd name="T10" fmla="*/ 2199 w 2250"/>
                <a:gd name="T11" fmla="*/ 906 h 1409"/>
                <a:gd name="T12" fmla="*/ 1659 w 2250"/>
                <a:gd name="T13" fmla="*/ 1314 h 1409"/>
                <a:gd name="T14" fmla="*/ 993 w 2250"/>
                <a:gd name="T15" fmla="*/ 1386 h 1409"/>
                <a:gd name="T16" fmla="*/ 465 w 2250"/>
                <a:gd name="T17" fmla="*/ 1356 h 1409"/>
                <a:gd name="T18" fmla="*/ 102 w 2250"/>
                <a:gd name="T19" fmla="*/ 1068 h 1409"/>
                <a:gd name="T20" fmla="*/ 0 w 2250"/>
                <a:gd name="T21" fmla="*/ 624 h 1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1409">
                  <a:moveTo>
                    <a:pt x="0" y="624"/>
                  </a:moveTo>
                  <a:cubicBezTo>
                    <a:pt x="5" y="506"/>
                    <a:pt x="131" y="419"/>
                    <a:pt x="219" y="321"/>
                  </a:cubicBezTo>
                  <a:cubicBezTo>
                    <a:pt x="307" y="223"/>
                    <a:pt x="307" y="70"/>
                    <a:pt x="529" y="35"/>
                  </a:cubicBezTo>
                  <a:cubicBezTo>
                    <a:pt x="751" y="0"/>
                    <a:pt x="1311" y="36"/>
                    <a:pt x="1551" y="111"/>
                  </a:cubicBezTo>
                  <a:cubicBezTo>
                    <a:pt x="1791" y="186"/>
                    <a:pt x="1860" y="351"/>
                    <a:pt x="1968" y="483"/>
                  </a:cubicBezTo>
                  <a:cubicBezTo>
                    <a:pt x="2076" y="615"/>
                    <a:pt x="2250" y="767"/>
                    <a:pt x="2199" y="906"/>
                  </a:cubicBezTo>
                  <a:cubicBezTo>
                    <a:pt x="2148" y="1045"/>
                    <a:pt x="1860" y="1234"/>
                    <a:pt x="1659" y="1314"/>
                  </a:cubicBezTo>
                  <a:cubicBezTo>
                    <a:pt x="1458" y="1394"/>
                    <a:pt x="1192" y="1379"/>
                    <a:pt x="993" y="1386"/>
                  </a:cubicBezTo>
                  <a:cubicBezTo>
                    <a:pt x="794" y="1393"/>
                    <a:pt x="613" y="1409"/>
                    <a:pt x="465" y="1356"/>
                  </a:cubicBezTo>
                  <a:cubicBezTo>
                    <a:pt x="317" y="1303"/>
                    <a:pt x="180" y="1190"/>
                    <a:pt x="102" y="1068"/>
                  </a:cubicBezTo>
                  <a:cubicBezTo>
                    <a:pt x="24" y="946"/>
                    <a:pt x="21" y="716"/>
                    <a:pt x="0" y="624"/>
                  </a:cubicBezTo>
                  <a:close/>
                </a:path>
              </a:pathLst>
            </a:custGeom>
            <a:solidFill>
              <a:srgbClr val="99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3" name="Freeform 5"/>
            <p:cNvSpPr>
              <a:spLocks/>
            </p:cNvSpPr>
            <p:nvPr/>
          </p:nvSpPr>
          <p:spPr bwMode="auto">
            <a:xfrm>
              <a:off x="3498" y="1620"/>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4" name="Oval 6"/>
            <p:cNvSpPr>
              <a:spLocks noChangeArrowheads="1"/>
            </p:cNvSpPr>
            <p:nvPr/>
          </p:nvSpPr>
          <p:spPr bwMode="auto">
            <a:xfrm>
              <a:off x="3238" y="1862"/>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5" name="Line 7"/>
            <p:cNvSpPr>
              <a:spLocks noChangeShapeType="1"/>
            </p:cNvSpPr>
            <p:nvPr/>
          </p:nvSpPr>
          <p:spPr bwMode="auto">
            <a:xfrm>
              <a:off x="3238"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6" name="Line 8"/>
            <p:cNvSpPr>
              <a:spLocks noChangeShapeType="1"/>
            </p:cNvSpPr>
            <p:nvPr/>
          </p:nvSpPr>
          <p:spPr bwMode="auto">
            <a:xfrm>
              <a:off x="3551"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7" name="Rectangle 9"/>
            <p:cNvSpPr>
              <a:spLocks noChangeArrowheads="1"/>
            </p:cNvSpPr>
            <p:nvPr/>
          </p:nvSpPr>
          <p:spPr bwMode="auto">
            <a:xfrm>
              <a:off x="3238" y="1855"/>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38" name="Oval 10"/>
            <p:cNvSpPr>
              <a:spLocks noChangeArrowheads="1"/>
            </p:cNvSpPr>
            <p:nvPr/>
          </p:nvSpPr>
          <p:spPr bwMode="auto">
            <a:xfrm>
              <a:off x="3235" y="1796"/>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39" name="Oval 11"/>
            <p:cNvSpPr>
              <a:spLocks noChangeArrowheads="1"/>
            </p:cNvSpPr>
            <p:nvPr/>
          </p:nvSpPr>
          <p:spPr bwMode="auto">
            <a:xfrm>
              <a:off x="3712" y="224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0" name="Line 12"/>
            <p:cNvSpPr>
              <a:spLocks noChangeShapeType="1"/>
            </p:cNvSpPr>
            <p:nvPr/>
          </p:nvSpPr>
          <p:spPr bwMode="auto">
            <a:xfrm>
              <a:off x="3712"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1" name="Line 13"/>
            <p:cNvSpPr>
              <a:spLocks noChangeShapeType="1"/>
            </p:cNvSpPr>
            <p:nvPr/>
          </p:nvSpPr>
          <p:spPr bwMode="auto">
            <a:xfrm>
              <a:off x="4025"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2" name="Rectangle 14"/>
            <p:cNvSpPr>
              <a:spLocks noChangeArrowheads="1"/>
            </p:cNvSpPr>
            <p:nvPr/>
          </p:nvSpPr>
          <p:spPr bwMode="auto">
            <a:xfrm>
              <a:off x="3712" y="224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43" name="Oval 15"/>
            <p:cNvSpPr>
              <a:spLocks noChangeArrowheads="1"/>
            </p:cNvSpPr>
            <p:nvPr/>
          </p:nvSpPr>
          <p:spPr bwMode="auto">
            <a:xfrm>
              <a:off x="3709" y="218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4" name="Oval 16"/>
            <p:cNvSpPr>
              <a:spLocks noChangeArrowheads="1"/>
            </p:cNvSpPr>
            <p:nvPr/>
          </p:nvSpPr>
          <p:spPr bwMode="auto">
            <a:xfrm>
              <a:off x="3708" y="155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5" name="Line 17"/>
            <p:cNvSpPr>
              <a:spLocks noChangeShapeType="1"/>
            </p:cNvSpPr>
            <p:nvPr/>
          </p:nvSpPr>
          <p:spPr bwMode="auto">
            <a:xfrm>
              <a:off x="3708"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6" name="Line 18"/>
            <p:cNvSpPr>
              <a:spLocks noChangeShapeType="1"/>
            </p:cNvSpPr>
            <p:nvPr/>
          </p:nvSpPr>
          <p:spPr bwMode="auto">
            <a:xfrm>
              <a:off x="4021"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7" name="Rectangle 19"/>
            <p:cNvSpPr>
              <a:spLocks noChangeArrowheads="1"/>
            </p:cNvSpPr>
            <p:nvPr/>
          </p:nvSpPr>
          <p:spPr bwMode="auto">
            <a:xfrm>
              <a:off x="3708" y="155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48" name="Oval 20"/>
            <p:cNvSpPr>
              <a:spLocks noChangeArrowheads="1"/>
            </p:cNvSpPr>
            <p:nvPr/>
          </p:nvSpPr>
          <p:spPr bwMode="auto">
            <a:xfrm>
              <a:off x="3705" y="149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49" name="Oval 21"/>
            <p:cNvSpPr>
              <a:spLocks noChangeArrowheads="1"/>
            </p:cNvSpPr>
            <p:nvPr/>
          </p:nvSpPr>
          <p:spPr bwMode="auto">
            <a:xfrm>
              <a:off x="4391" y="1555"/>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0" name="Line 22"/>
            <p:cNvSpPr>
              <a:spLocks noChangeShapeType="1"/>
            </p:cNvSpPr>
            <p:nvPr/>
          </p:nvSpPr>
          <p:spPr bwMode="auto">
            <a:xfrm>
              <a:off x="4391"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1" name="Line 23"/>
            <p:cNvSpPr>
              <a:spLocks noChangeShapeType="1"/>
            </p:cNvSpPr>
            <p:nvPr/>
          </p:nvSpPr>
          <p:spPr bwMode="auto">
            <a:xfrm>
              <a:off x="4703"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2" name="Rectangle 24"/>
            <p:cNvSpPr>
              <a:spLocks noChangeArrowheads="1"/>
            </p:cNvSpPr>
            <p:nvPr/>
          </p:nvSpPr>
          <p:spPr bwMode="auto">
            <a:xfrm>
              <a:off x="4391" y="1548"/>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53" name="Oval 25"/>
            <p:cNvSpPr>
              <a:spLocks noChangeArrowheads="1"/>
            </p:cNvSpPr>
            <p:nvPr/>
          </p:nvSpPr>
          <p:spPr bwMode="auto">
            <a:xfrm>
              <a:off x="4394" y="1492"/>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4" name="Oval 26"/>
            <p:cNvSpPr>
              <a:spLocks noChangeArrowheads="1"/>
            </p:cNvSpPr>
            <p:nvPr/>
          </p:nvSpPr>
          <p:spPr bwMode="auto">
            <a:xfrm>
              <a:off x="4401" y="2246"/>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5" name="Line 27"/>
            <p:cNvSpPr>
              <a:spLocks noChangeShapeType="1"/>
            </p:cNvSpPr>
            <p:nvPr/>
          </p:nvSpPr>
          <p:spPr bwMode="auto">
            <a:xfrm>
              <a:off x="4401"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6" name="Line 28"/>
            <p:cNvSpPr>
              <a:spLocks noChangeShapeType="1"/>
            </p:cNvSpPr>
            <p:nvPr/>
          </p:nvSpPr>
          <p:spPr bwMode="auto">
            <a:xfrm>
              <a:off x="4714"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7" name="Rectangle 29"/>
            <p:cNvSpPr>
              <a:spLocks noChangeArrowheads="1"/>
            </p:cNvSpPr>
            <p:nvPr/>
          </p:nvSpPr>
          <p:spPr bwMode="auto">
            <a:xfrm>
              <a:off x="4401" y="2239"/>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58" name="Oval 30"/>
            <p:cNvSpPr>
              <a:spLocks noChangeArrowheads="1"/>
            </p:cNvSpPr>
            <p:nvPr/>
          </p:nvSpPr>
          <p:spPr bwMode="auto">
            <a:xfrm>
              <a:off x="4398" y="2180"/>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59" name="Oval 31"/>
            <p:cNvSpPr>
              <a:spLocks noChangeArrowheads="1"/>
            </p:cNvSpPr>
            <p:nvPr/>
          </p:nvSpPr>
          <p:spPr bwMode="auto">
            <a:xfrm>
              <a:off x="4966" y="19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0" name="Line 32"/>
            <p:cNvSpPr>
              <a:spLocks noChangeShapeType="1"/>
            </p:cNvSpPr>
            <p:nvPr/>
          </p:nvSpPr>
          <p:spPr bwMode="auto">
            <a:xfrm>
              <a:off x="4966"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1" name="Line 33"/>
            <p:cNvSpPr>
              <a:spLocks noChangeShapeType="1"/>
            </p:cNvSpPr>
            <p:nvPr/>
          </p:nvSpPr>
          <p:spPr bwMode="auto">
            <a:xfrm>
              <a:off x="5279"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2" name="Rectangle 34"/>
            <p:cNvSpPr>
              <a:spLocks noChangeArrowheads="1"/>
            </p:cNvSpPr>
            <p:nvPr/>
          </p:nvSpPr>
          <p:spPr bwMode="auto">
            <a:xfrm>
              <a:off x="4966" y="18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57763" name="Oval 35"/>
            <p:cNvSpPr>
              <a:spLocks noChangeArrowheads="1"/>
            </p:cNvSpPr>
            <p:nvPr/>
          </p:nvSpPr>
          <p:spPr bwMode="auto">
            <a:xfrm>
              <a:off x="4963" y="18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4" name="Freeform 36"/>
            <p:cNvSpPr>
              <a:spLocks/>
            </p:cNvSpPr>
            <p:nvPr/>
          </p:nvSpPr>
          <p:spPr bwMode="auto">
            <a:xfrm>
              <a:off x="4557" y="1647"/>
              <a:ext cx="1" cy="522"/>
            </a:xfrm>
            <a:custGeom>
              <a:avLst/>
              <a:gdLst>
                <a:gd name="T0" fmla="*/ 0 w 1"/>
                <a:gd name="T1" fmla="*/ 0 h 522"/>
                <a:gd name="T2" fmla="*/ 0 w 1"/>
                <a:gd name="T3" fmla="*/ 522 h 522"/>
              </a:gdLst>
              <a:ahLst/>
              <a:cxnLst>
                <a:cxn ang="0">
                  <a:pos x="T0" y="T1"/>
                </a:cxn>
                <a:cxn ang="0">
                  <a:pos x="T2" y="T3"/>
                </a:cxn>
              </a:cxnLst>
              <a:rect l="0" t="0" r="r" b="b"/>
              <a:pathLst>
                <a:path w="1" h="522">
                  <a:moveTo>
                    <a:pt x="0" y="0"/>
                  </a:moveTo>
                  <a:lnTo>
                    <a:pt x="0" y="522"/>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5" name="Freeform 37"/>
            <p:cNvSpPr>
              <a:spLocks/>
            </p:cNvSpPr>
            <p:nvPr/>
          </p:nvSpPr>
          <p:spPr bwMode="auto">
            <a:xfrm>
              <a:off x="3864" y="1653"/>
              <a:ext cx="1" cy="537"/>
            </a:xfrm>
            <a:custGeom>
              <a:avLst/>
              <a:gdLst>
                <a:gd name="T0" fmla="*/ 0 w 1"/>
                <a:gd name="T1" fmla="*/ 0 h 537"/>
                <a:gd name="T2" fmla="*/ 0 w 1"/>
                <a:gd name="T3" fmla="*/ 537 h 537"/>
              </a:gdLst>
              <a:ahLst/>
              <a:cxnLst>
                <a:cxn ang="0">
                  <a:pos x="T0" y="T1"/>
                </a:cxn>
                <a:cxn ang="0">
                  <a:pos x="T2" y="T3"/>
                </a:cxn>
              </a:cxnLst>
              <a:rect l="0" t="0" r="r" b="b"/>
              <a:pathLst>
                <a:path w="1" h="537">
                  <a:moveTo>
                    <a:pt x="0" y="0"/>
                  </a:moveTo>
                  <a:lnTo>
                    <a:pt x="0" y="537"/>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6" name="Freeform 38"/>
            <p:cNvSpPr>
              <a:spLocks/>
            </p:cNvSpPr>
            <p:nvPr/>
          </p:nvSpPr>
          <p:spPr bwMode="auto">
            <a:xfrm>
              <a:off x="4029" y="1638"/>
              <a:ext cx="504" cy="600"/>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7" name="Freeform 39"/>
            <p:cNvSpPr>
              <a:spLocks/>
            </p:cNvSpPr>
            <p:nvPr/>
          </p:nvSpPr>
          <p:spPr bwMode="auto">
            <a:xfrm>
              <a:off x="4716" y="1986"/>
              <a:ext cx="366" cy="270"/>
            </a:xfrm>
            <a:custGeom>
              <a:avLst/>
              <a:gdLst>
                <a:gd name="T0" fmla="*/ 0 w 366"/>
                <a:gd name="T1" fmla="*/ 270 h 270"/>
                <a:gd name="T2" fmla="*/ 366 w 366"/>
                <a:gd name="T3" fmla="*/ 0 h 270"/>
              </a:gdLst>
              <a:ahLst/>
              <a:cxnLst>
                <a:cxn ang="0">
                  <a:pos x="T0" y="T1"/>
                </a:cxn>
                <a:cxn ang="0">
                  <a:pos x="T2" y="T3"/>
                </a:cxn>
              </a:cxnLst>
              <a:rect l="0" t="0" r="r" b="b"/>
              <a:pathLst>
                <a:path w="366" h="270">
                  <a:moveTo>
                    <a:pt x="0" y="270"/>
                  </a:moveTo>
                  <a:lnTo>
                    <a:pt x="366"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8" name="Freeform 40"/>
            <p:cNvSpPr>
              <a:spLocks/>
            </p:cNvSpPr>
            <p:nvPr/>
          </p:nvSpPr>
          <p:spPr bwMode="auto">
            <a:xfrm>
              <a:off x="4035" y="226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69" name="Freeform 41"/>
            <p:cNvSpPr>
              <a:spLocks/>
            </p:cNvSpPr>
            <p:nvPr/>
          </p:nvSpPr>
          <p:spPr bwMode="auto">
            <a:xfrm>
              <a:off x="3444" y="1944"/>
              <a:ext cx="276" cy="264"/>
            </a:xfrm>
            <a:custGeom>
              <a:avLst/>
              <a:gdLst>
                <a:gd name="T0" fmla="*/ 276 w 276"/>
                <a:gd name="T1" fmla="*/ 264 h 264"/>
                <a:gd name="T2" fmla="*/ 0 w 276"/>
                <a:gd name="T3" fmla="*/ 0 h 264"/>
              </a:gdLst>
              <a:ahLst/>
              <a:cxnLst>
                <a:cxn ang="0">
                  <a:pos x="T0" y="T1"/>
                </a:cxn>
                <a:cxn ang="0">
                  <a:pos x="T2" y="T3"/>
                </a:cxn>
              </a:cxnLst>
              <a:rect l="0" t="0" r="r" b="b"/>
              <a:pathLst>
                <a:path w="276" h="264">
                  <a:moveTo>
                    <a:pt x="276" y="264"/>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70" name="Freeform 42"/>
            <p:cNvSpPr>
              <a:spLocks/>
            </p:cNvSpPr>
            <p:nvPr/>
          </p:nvSpPr>
          <p:spPr bwMode="auto">
            <a:xfrm>
              <a:off x="4029" y="157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71" name="Freeform 43"/>
            <p:cNvSpPr>
              <a:spLocks/>
            </p:cNvSpPr>
            <p:nvPr/>
          </p:nvSpPr>
          <p:spPr bwMode="auto">
            <a:xfrm>
              <a:off x="4704" y="1575"/>
              <a:ext cx="396" cy="267"/>
            </a:xfrm>
            <a:custGeom>
              <a:avLst/>
              <a:gdLst>
                <a:gd name="T0" fmla="*/ 396 w 396"/>
                <a:gd name="T1" fmla="*/ 267 h 267"/>
                <a:gd name="T2" fmla="*/ 0 w 396"/>
                <a:gd name="T3" fmla="*/ 0 h 267"/>
              </a:gdLst>
              <a:ahLst/>
              <a:cxnLst>
                <a:cxn ang="0">
                  <a:pos x="T0" y="T1"/>
                </a:cxn>
                <a:cxn ang="0">
                  <a:pos x="T2" y="T3"/>
                </a:cxn>
              </a:cxnLst>
              <a:rect l="0" t="0" r="r" b="b"/>
              <a:pathLst>
                <a:path w="396" h="267">
                  <a:moveTo>
                    <a:pt x="396" y="267"/>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72" name="Freeform 44"/>
            <p:cNvSpPr>
              <a:spLocks/>
            </p:cNvSpPr>
            <p:nvPr/>
          </p:nvSpPr>
          <p:spPr bwMode="auto">
            <a:xfrm>
              <a:off x="3387" y="1146"/>
              <a:ext cx="1110" cy="645"/>
            </a:xfrm>
            <a:custGeom>
              <a:avLst/>
              <a:gdLst>
                <a:gd name="T0" fmla="*/ 1110 w 1110"/>
                <a:gd name="T1" fmla="*/ 342 h 645"/>
                <a:gd name="T2" fmla="*/ 0 w 1110"/>
                <a:gd name="T3" fmla="*/ 645 h 645"/>
              </a:gdLst>
              <a:ahLst/>
              <a:cxnLst>
                <a:cxn ang="0">
                  <a:pos x="T0" y="T1"/>
                </a:cxn>
                <a:cxn ang="0">
                  <a:pos x="T2" y="T3"/>
                </a:cxn>
              </a:cxnLst>
              <a:rect l="0" t="0" r="r" b="b"/>
              <a:pathLst>
                <a:path w="1110" h="645">
                  <a:moveTo>
                    <a:pt x="1110" y="342"/>
                  </a:moveTo>
                  <a:cubicBezTo>
                    <a:pt x="1104" y="0"/>
                    <a:pt x="21" y="63"/>
                    <a:pt x="0" y="645"/>
                  </a:cubicBez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57773" name="Group 45"/>
            <p:cNvGrpSpPr>
              <a:grpSpLocks/>
            </p:cNvGrpSpPr>
            <p:nvPr/>
          </p:nvGrpSpPr>
          <p:grpSpPr bwMode="auto">
            <a:xfrm>
              <a:off x="3286" y="1748"/>
              <a:ext cx="216" cy="252"/>
              <a:chOff x="2949" y="2429"/>
              <a:chExt cx="219" cy="252"/>
            </a:xfrm>
          </p:grpSpPr>
          <p:sp>
            <p:nvSpPr>
              <p:cNvPr id="457774" name="Rectangle 46"/>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75" name="Text Box 47"/>
              <p:cNvSpPr txBox="1">
                <a:spLocks noChangeArrowheads="1"/>
              </p:cNvSpPr>
              <p:nvPr/>
            </p:nvSpPr>
            <p:spPr bwMode="auto">
              <a:xfrm>
                <a:off x="2949" y="2429"/>
                <a:ext cx="219"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b="1">
                    <a:solidFill>
                      <a:srgbClr val="FF0000"/>
                    </a:solidFill>
                  </a:rPr>
                  <a:t>u</a:t>
                </a:r>
                <a:endParaRPr lang="de-DE" sz="2400" b="1">
                  <a:solidFill>
                    <a:srgbClr val="FF0000"/>
                  </a:solidFill>
                  <a:latin typeface="Times New Roman" pitchFamily="18" charset="0"/>
                </a:endParaRPr>
              </a:p>
            </p:txBody>
          </p:sp>
        </p:grpSp>
        <p:grpSp>
          <p:nvGrpSpPr>
            <p:cNvPr id="457776" name="Group 48"/>
            <p:cNvGrpSpPr>
              <a:grpSpLocks/>
            </p:cNvGrpSpPr>
            <p:nvPr/>
          </p:nvGrpSpPr>
          <p:grpSpPr bwMode="auto">
            <a:xfrm>
              <a:off x="4460" y="2132"/>
              <a:ext cx="199" cy="250"/>
              <a:chOff x="2957" y="2429"/>
              <a:chExt cx="202" cy="250"/>
            </a:xfrm>
          </p:grpSpPr>
          <p:sp>
            <p:nvSpPr>
              <p:cNvPr id="457777" name="Rectangle 4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78" name="Text Box 50"/>
              <p:cNvSpPr txBox="1">
                <a:spLocks noChangeArrowheads="1"/>
              </p:cNvSpPr>
              <p:nvPr/>
            </p:nvSpPr>
            <p:spPr bwMode="auto">
              <a:xfrm>
                <a:off x="2957" y="2429"/>
                <a:ext cx="202"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y</a:t>
                </a:r>
                <a:endParaRPr lang="de-DE" sz="2400">
                  <a:latin typeface="Times New Roman" pitchFamily="18" charset="0"/>
                </a:endParaRPr>
              </a:p>
            </p:txBody>
          </p:sp>
        </p:grpSp>
        <p:grpSp>
          <p:nvGrpSpPr>
            <p:cNvPr id="457779" name="Group 51"/>
            <p:cNvGrpSpPr>
              <a:grpSpLocks/>
            </p:cNvGrpSpPr>
            <p:nvPr/>
          </p:nvGrpSpPr>
          <p:grpSpPr bwMode="auto">
            <a:xfrm>
              <a:off x="3771" y="2099"/>
              <a:ext cx="213" cy="291"/>
              <a:chOff x="2951" y="2399"/>
              <a:chExt cx="214" cy="291"/>
            </a:xfrm>
          </p:grpSpPr>
          <p:sp>
            <p:nvSpPr>
              <p:cNvPr id="457780" name="Rectangle 52"/>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81" name="Text Box 53"/>
              <p:cNvSpPr txBox="1">
                <a:spLocks noChangeArrowheads="1"/>
              </p:cNvSpPr>
              <p:nvPr/>
            </p:nvSpPr>
            <p:spPr bwMode="auto">
              <a:xfrm>
                <a:off x="2951" y="2399"/>
                <a:ext cx="214"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a:t>x</a:t>
                </a:r>
              </a:p>
            </p:txBody>
          </p:sp>
        </p:grpSp>
        <p:grpSp>
          <p:nvGrpSpPr>
            <p:cNvPr id="457782" name="Group 54"/>
            <p:cNvGrpSpPr>
              <a:grpSpLocks/>
            </p:cNvGrpSpPr>
            <p:nvPr/>
          </p:nvGrpSpPr>
          <p:grpSpPr bwMode="auto">
            <a:xfrm>
              <a:off x="4439" y="1442"/>
              <a:ext cx="234" cy="252"/>
              <a:chOff x="2940" y="2429"/>
              <a:chExt cx="237" cy="252"/>
            </a:xfrm>
          </p:grpSpPr>
          <p:sp>
            <p:nvSpPr>
              <p:cNvPr id="457783" name="Rectangle 55"/>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84" name="Text Box 56"/>
              <p:cNvSpPr txBox="1">
                <a:spLocks noChangeArrowheads="1"/>
              </p:cNvSpPr>
              <p:nvPr/>
            </p:nvSpPr>
            <p:spPr bwMode="auto">
              <a:xfrm>
                <a:off x="2940" y="2429"/>
                <a:ext cx="23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w</a:t>
                </a:r>
                <a:endParaRPr lang="de-DE" sz="2400">
                  <a:latin typeface="Times New Roman" pitchFamily="18" charset="0"/>
                </a:endParaRPr>
              </a:p>
            </p:txBody>
          </p:sp>
        </p:grpSp>
        <p:grpSp>
          <p:nvGrpSpPr>
            <p:cNvPr id="457785" name="Group 57"/>
            <p:cNvGrpSpPr>
              <a:grpSpLocks/>
            </p:cNvGrpSpPr>
            <p:nvPr/>
          </p:nvGrpSpPr>
          <p:grpSpPr bwMode="auto">
            <a:xfrm>
              <a:off x="3771" y="1442"/>
              <a:ext cx="197" cy="252"/>
              <a:chOff x="2957" y="2429"/>
              <a:chExt cx="200" cy="252"/>
            </a:xfrm>
          </p:grpSpPr>
          <p:sp>
            <p:nvSpPr>
              <p:cNvPr id="457786" name="Rectangle 5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87" name="Text Box 59"/>
              <p:cNvSpPr txBox="1">
                <a:spLocks noChangeArrowheads="1"/>
              </p:cNvSpPr>
              <p:nvPr/>
            </p:nvSpPr>
            <p:spPr bwMode="auto">
              <a:xfrm>
                <a:off x="2957" y="2429"/>
                <a:ext cx="200"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v</a:t>
                </a:r>
                <a:endParaRPr lang="de-DE" sz="2400">
                  <a:latin typeface="Times New Roman" pitchFamily="18" charset="0"/>
                </a:endParaRPr>
              </a:p>
            </p:txBody>
          </p:sp>
        </p:grpSp>
        <p:grpSp>
          <p:nvGrpSpPr>
            <p:cNvPr id="457788" name="Group 60"/>
            <p:cNvGrpSpPr>
              <a:grpSpLocks/>
            </p:cNvGrpSpPr>
            <p:nvPr/>
          </p:nvGrpSpPr>
          <p:grpSpPr bwMode="auto">
            <a:xfrm>
              <a:off x="5022" y="1760"/>
              <a:ext cx="219" cy="288"/>
              <a:chOff x="2946" y="2399"/>
              <a:chExt cx="221" cy="288"/>
            </a:xfrm>
          </p:grpSpPr>
          <p:sp>
            <p:nvSpPr>
              <p:cNvPr id="457789" name="Rectangle 61"/>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57790" name="Text Box 62"/>
              <p:cNvSpPr txBox="1">
                <a:spLocks noChangeArrowheads="1"/>
              </p:cNvSpPr>
              <p:nvPr/>
            </p:nvSpPr>
            <p:spPr bwMode="auto">
              <a:xfrm>
                <a:off x="2946" y="2399"/>
                <a:ext cx="221"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b="1">
                    <a:solidFill>
                      <a:srgbClr val="FF0000"/>
                    </a:solidFill>
                  </a:rPr>
                  <a:t>z</a:t>
                </a:r>
              </a:p>
            </p:txBody>
          </p:sp>
        </p:grpSp>
        <p:sp>
          <p:nvSpPr>
            <p:cNvPr id="457791" name="Text Box 63"/>
            <p:cNvSpPr txBox="1">
              <a:spLocks noChangeArrowheads="1"/>
            </p:cNvSpPr>
            <p:nvPr/>
          </p:nvSpPr>
          <p:spPr bwMode="auto">
            <a:xfrm>
              <a:off x="3489" y="1571"/>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a:t>
              </a:r>
              <a:endParaRPr lang="de-DE" sz="2400">
                <a:latin typeface="Times New Roman" pitchFamily="18" charset="0"/>
              </a:endParaRPr>
            </a:p>
          </p:txBody>
        </p:sp>
        <p:sp>
          <p:nvSpPr>
            <p:cNvPr id="457792" name="Text Box 64"/>
            <p:cNvSpPr txBox="1">
              <a:spLocks noChangeArrowheads="1"/>
            </p:cNvSpPr>
            <p:nvPr/>
          </p:nvSpPr>
          <p:spPr bwMode="auto">
            <a:xfrm>
              <a:off x="3837" y="1790"/>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a:t>
              </a:r>
              <a:endParaRPr lang="de-DE" sz="2400">
                <a:latin typeface="Times New Roman" pitchFamily="18" charset="0"/>
              </a:endParaRPr>
            </a:p>
          </p:txBody>
        </p:sp>
        <p:sp>
          <p:nvSpPr>
            <p:cNvPr id="457793" name="Text Box 65"/>
            <p:cNvSpPr txBox="1">
              <a:spLocks noChangeArrowheads="1"/>
            </p:cNvSpPr>
            <p:nvPr/>
          </p:nvSpPr>
          <p:spPr bwMode="auto">
            <a:xfrm>
              <a:off x="3405" y="2003"/>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57794" name="Text Box 66"/>
            <p:cNvSpPr txBox="1">
              <a:spLocks noChangeArrowheads="1"/>
            </p:cNvSpPr>
            <p:nvPr/>
          </p:nvSpPr>
          <p:spPr bwMode="auto">
            <a:xfrm>
              <a:off x="4221" y="1883"/>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3</a:t>
              </a:r>
              <a:endParaRPr lang="de-DE" sz="2400">
                <a:latin typeface="Times New Roman" pitchFamily="18" charset="0"/>
              </a:endParaRPr>
            </a:p>
          </p:txBody>
        </p:sp>
        <p:sp>
          <p:nvSpPr>
            <p:cNvPr id="457795" name="Text Box 67"/>
            <p:cNvSpPr txBox="1">
              <a:spLocks noChangeArrowheads="1"/>
            </p:cNvSpPr>
            <p:nvPr/>
          </p:nvSpPr>
          <p:spPr bwMode="auto">
            <a:xfrm>
              <a:off x="4161" y="2237"/>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57796" name="Text Box 68"/>
            <p:cNvSpPr txBox="1">
              <a:spLocks noChangeArrowheads="1"/>
            </p:cNvSpPr>
            <p:nvPr/>
          </p:nvSpPr>
          <p:spPr bwMode="auto">
            <a:xfrm>
              <a:off x="4521" y="1808"/>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57797" name="Text Box 69"/>
            <p:cNvSpPr txBox="1">
              <a:spLocks noChangeArrowheads="1"/>
            </p:cNvSpPr>
            <p:nvPr/>
          </p:nvSpPr>
          <p:spPr bwMode="auto">
            <a:xfrm>
              <a:off x="4878" y="2072"/>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a:t>
              </a:r>
              <a:endParaRPr lang="de-DE" sz="2400">
                <a:latin typeface="Times New Roman" pitchFamily="18" charset="0"/>
              </a:endParaRPr>
            </a:p>
          </p:txBody>
        </p:sp>
        <p:sp>
          <p:nvSpPr>
            <p:cNvPr id="457798" name="Text Box 70"/>
            <p:cNvSpPr txBox="1">
              <a:spLocks noChangeArrowheads="1"/>
            </p:cNvSpPr>
            <p:nvPr/>
          </p:nvSpPr>
          <p:spPr bwMode="auto">
            <a:xfrm>
              <a:off x="4851" y="153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5</a:t>
              </a:r>
              <a:endParaRPr lang="de-DE" sz="2400">
                <a:latin typeface="Times New Roman" pitchFamily="18" charset="0"/>
              </a:endParaRPr>
            </a:p>
          </p:txBody>
        </p:sp>
        <p:sp>
          <p:nvSpPr>
            <p:cNvPr id="457799" name="Text Box 71"/>
            <p:cNvSpPr txBox="1">
              <a:spLocks noChangeArrowheads="1"/>
            </p:cNvSpPr>
            <p:nvPr/>
          </p:nvSpPr>
          <p:spPr bwMode="auto">
            <a:xfrm>
              <a:off x="4116" y="138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3</a:t>
              </a:r>
              <a:endParaRPr lang="de-DE" sz="2400">
                <a:latin typeface="Times New Roman" pitchFamily="18" charset="0"/>
              </a:endParaRPr>
            </a:p>
          </p:txBody>
        </p:sp>
        <p:sp>
          <p:nvSpPr>
            <p:cNvPr id="457800" name="Text Box 72"/>
            <p:cNvSpPr txBox="1">
              <a:spLocks noChangeArrowheads="1"/>
            </p:cNvSpPr>
            <p:nvPr/>
          </p:nvSpPr>
          <p:spPr bwMode="auto">
            <a:xfrm>
              <a:off x="3765" y="1118"/>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5</a:t>
              </a:r>
              <a:endParaRPr lang="de-DE" sz="2400">
                <a:latin typeface="Times New Roman" pitchFamily="18" charset="0"/>
              </a:endParaRPr>
            </a:p>
          </p:txBody>
        </p:sp>
      </p:grpSp>
      <p:sp>
        <p:nvSpPr>
          <p:cNvPr id="457801" name="Text Box 73"/>
          <p:cNvSpPr txBox="1">
            <a:spLocks noChangeArrowheads="1"/>
          </p:cNvSpPr>
          <p:nvPr/>
        </p:nvSpPr>
        <p:spPr bwMode="auto">
          <a:xfrm>
            <a:off x="4499992" y="1196752"/>
            <a:ext cx="4399854" cy="3554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4320" indent="-274320">
              <a:spcBef>
                <a:spcPts val="600"/>
              </a:spcBef>
              <a:buClr>
                <a:srgbClr val="53548A"/>
              </a:buClr>
              <a:buSzPct val="76000"/>
              <a:buFont typeface="Wingdings 3"/>
              <a:buChar char=""/>
            </a:pPr>
            <a:r>
              <a:rPr lang="de-DE" sz="2400" b="1" dirty="0">
                <a:solidFill>
                  <a:srgbClr val="FF0000"/>
                </a:solidFill>
              </a:rPr>
              <a:t>c</a:t>
            </a:r>
            <a:r>
              <a:rPr lang="de-DE" sz="2400" dirty="0">
                <a:solidFill>
                  <a:prstClr val="black"/>
                </a:solidFill>
              </a:rPr>
              <a:t>(x,x’) = </a:t>
            </a:r>
            <a:r>
              <a:rPr lang="de-DE" sz="2400" b="1" dirty="0">
                <a:solidFill>
                  <a:srgbClr val="FF0000"/>
                </a:solidFill>
              </a:rPr>
              <a:t>Kosten der Übertragung </a:t>
            </a:r>
            <a:r>
              <a:rPr lang="de-DE" sz="2400" dirty="0">
                <a:solidFill>
                  <a:srgbClr val="000000"/>
                </a:solidFill>
              </a:rPr>
              <a:t>(bzw. Leitung)</a:t>
            </a:r>
            <a:r>
              <a:rPr lang="de-DE" sz="2400" b="1" dirty="0">
                <a:solidFill>
                  <a:srgbClr val="FF0000"/>
                </a:solidFill>
              </a:rPr>
              <a:t> </a:t>
            </a:r>
            <a:r>
              <a:rPr lang="de-DE" sz="2400" dirty="0">
                <a:solidFill>
                  <a:prstClr val="black"/>
                </a:solidFill>
              </a:rPr>
              <a:t>von x zu x’</a:t>
            </a:r>
          </a:p>
          <a:p>
            <a:pPr marL="731520" lvl="1" indent="-274320">
              <a:spcBef>
                <a:spcPts val="600"/>
              </a:spcBef>
              <a:buClr>
                <a:srgbClr val="53548A"/>
              </a:buClr>
              <a:buSzPct val="76000"/>
              <a:buFont typeface="Wingdings 3"/>
              <a:buChar char=""/>
            </a:pPr>
            <a:r>
              <a:rPr lang="de-DE" sz="2000" dirty="0">
                <a:solidFill>
                  <a:prstClr val="black"/>
                </a:solidFill>
              </a:rPr>
              <a:t>Z.B. c(w,z) = 5</a:t>
            </a:r>
            <a:endParaRPr lang="de-DE" dirty="0"/>
          </a:p>
          <a:p>
            <a:pPr marL="274320" indent="-274320">
              <a:spcBef>
                <a:spcPts val="600"/>
              </a:spcBef>
              <a:buClr>
                <a:srgbClr val="53548A"/>
              </a:buClr>
              <a:buSzPct val="76000"/>
              <a:buFont typeface="Wingdings 3"/>
              <a:buChar char=""/>
            </a:pPr>
            <a:r>
              <a:rPr lang="de-DE" sz="2400" b="1" dirty="0">
                <a:solidFill>
                  <a:srgbClr val="FF0000"/>
                </a:solidFill>
              </a:rPr>
              <a:t>Kosten</a:t>
            </a:r>
            <a:r>
              <a:rPr lang="de-DE" sz="2400" dirty="0">
                <a:solidFill>
                  <a:srgbClr val="FF0000"/>
                </a:solidFill>
              </a:rPr>
              <a:t> </a:t>
            </a:r>
            <a:r>
              <a:rPr lang="de-DE" sz="2400" dirty="0">
                <a:solidFill>
                  <a:prstClr val="black"/>
                </a:solidFill>
              </a:rPr>
              <a:t>könnten sein:</a:t>
            </a:r>
          </a:p>
          <a:p>
            <a:pPr marL="731520" lvl="1" indent="-274320">
              <a:spcBef>
                <a:spcPts val="600"/>
              </a:spcBef>
              <a:buClr>
                <a:srgbClr val="53548A"/>
              </a:buClr>
              <a:buSzPct val="76000"/>
              <a:buFont typeface="Wingdings 3"/>
              <a:buChar char=""/>
            </a:pPr>
            <a:r>
              <a:rPr lang="de-DE" sz="2000" dirty="0">
                <a:solidFill>
                  <a:prstClr val="black"/>
                </a:solidFill>
              </a:rPr>
              <a:t>Immer 1</a:t>
            </a:r>
          </a:p>
          <a:p>
            <a:pPr marL="731520" lvl="1" indent="-274320">
              <a:spcBef>
                <a:spcPts val="600"/>
              </a:spcBef>
              <a:buClr>
                <a:srgbClr val="53548A"/>
              </a:buClr>
              <a:buSzPct val="76000"/>
              <a:buFont typeface="Wingdings 3"/>
              <a:buChar char=""/>
            </a:pPr>
            <a:r>
              <a:rPr lang="de-DE" sz="2000" dirty="0">
                <a:solidFill>
                  <a:prstClr val="black"/>
                </a:solidFill>
              </a:rPr>
              <a:t>Proportional zur Überlastung</a:t>
            </a:r>
          </a:p>
          <a:p>
            <a:pPr marL="731520" lvl="1" indent="-274320">
              <a:spcBef>
                <a:spcPts val="600"/>
              </a:spcBef>
              <a:buClr>
                <a:srgbClr val="53548A"/>
              </a:buClr>
              <a:buSzPct val="76000"/>
              <a:buFont typeface="Wingdings 3"/>
              <a:buChar char=""/>
            </a:pPr>
            <a:r>
              <a:rPr lang="de-DE" sz="2000" dirty="0">
                <a:solidFill>
                  <a:prstClr val="black"/>
                </a:solidFill>
              </a:rPr>
              <a:t>Umgekehrt-Proportional zur Bandbreite</a:t>
            </a:r>
          </a:p>
        </p:txBody>
      </p:sp>
      <p:sp>
        <p:nvSpPr>
          <p:cNvPr id="457802" name="Text Box 74"/>
          <p:cNvSpPr txBox="1">
            <a:spLocks noChangeArrowheads="1"/>
          </p:cNvSpPr>
          <p:nvPr/>
        </p:nvSpPr>
        <p:spPr bwMode="auto">
          <a:xfrm>
            <a:off x="467544" y="4725144"/>
            <a:ext cx="82285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000" dirty="0">
                <a:solidFill>
                  <a:srgbClr val="FF0000"/>
                </a:solidFill>
              </a:rPr>
              <a:t>Kosten des Pfads (x</a:t>
            </a:r>
            <a:r>
              <a:rPr lang="de-DE" sz="2000" baseline="-25000" dirty="0">
                <a:solidFill>
                  <a:srgbClr val="FF0000"/>
                </a:solidFill>
              </a:rPr>
              <a:t>1</a:t>
            </a:r>
            <a:r>
              <a:rPr lang="de-DE" sz="2000" dirty="0">
                <a:solidFill>
                  <a:srgbClr val="FF0000"/>
                </a:solidFill>
              </a:rPr>
              <a:t>, x</a:t>
            </a:r>
            <a:r>
              <a:rPr lang="de-DE" sz="2000" baseline="-25000" dirty="0">
                <a:solidFill>
                  <a:srgbClr val="FF0000"/>
                </a:solidFill>
              </a:rPr>
              <a:t>2</a:t>
            </a:r>
            <a:r>
              <a:rPr lang="de-DE" sz="2000" dirty="0">
                <a:solidFill>
                  <a:srgbClr val="FF0000"/>
                </a:solidFill>
              </a:rPr>
              <a:t>, x</a:t>
            </a:r>
            <a:r>
              <a:rPr lang="de-DE" sz="2000" baseline="-25000" dirty="0">
                <a:solidFill>
                  <a:srgbClr val="FF0000"/>
                </a:solidFill>
              </a:rPr>
              <a:t>3</a:t>
            </a:r>
            <a:r>
              <a:rPr lang="de-DE" sz="2000" dirty="0">
                <a:solidFill>
                  <a:srgbClr val="FF0000"/>
                </a:solidFill>
              </a:rPr>
              <a:t>,…, x</a:t>
            </a:r>
            <a:r>
              <a:rPr lang="de-DE" sz="2000" baseline="-25000" dirty="0">
                <a:solidFill>
                  <a:srgbClr val="FF0000"/>
                </a:solidFill>
              </a:rPr>
              <a:t>p</a:t>
            </a:r>
            <a:r>
              <a:rPr lang="de-DE" sz="2000" dirty="0">
                <a:solidFill>
                  <a:srgbClr val="FF0000"/>
                </a:solidFill>
              </a:rPr>
              <a:t>) </a:t>
            </a:r>
            <a:r>
              <a:rPr lang="de-DE" sz="2000" dirty="0"/>
              <a:t>:= c(x</a:t>
            </a:r>
            <a:r>
              <a:rPr lang="de-DE" sz="2000" baseline="-25000" dirty="0"/>
              <a:t>1</a:t>
            </a:r>
            <a:r>
              <a:rPr lang="de-DE" sz="2000" dirty="0"/>
              <a:t>,x</a:t>
            </a:r>
            <a:r>
              <a:rPr lang="de-DE" sz="2000" baseline="-25000" dirty="0"/>
              <a:t>2</a:t>
            </a:r>
            <a:r>
              <a:rPr lang="de-DE" sz="2000" dirty="0"/>
              <a:t>) + c(x</a:t>
            </a:r>
            <a:r>
              <a:rPr lang="de-DE" sz="2000" baseline="-25000" dirty="0"/>
              <a:t>2</a:t>
            </a:r>
            <a:r>
              <a:rPr lang="de-DE" sz="2000" dirty="0"/>
              <a:t>,x</a:t>
            </a:r>
            <a:r>
              <a:rPr lang="de-DE" sz="2000" baseline="-25000" dirty="0"/>
              <a:t>3</a:t>
            </a:r>
            <a:r>
              <a:rPr lang="de-DE" sz="2000" dirty="0"/>
              <a:t>) + … + c(x</a:t>
            </a:r>
            <a:r>
              <a:rPr lang="de-DE" sz="2000" baseline="-25000" dirty="0"/>
              <a:t>p-1</a:t>
            </a:r>
            <a:r>
              <a:rPr lang="de-DE" sz="2000" dirty="0"/>
              <a:t>,x</a:t>
            </a:r>
            <a:r>
              <a:rPr lang="de-DE" sz="2000" baseline="-25000" dirty="0"/>
              <a:t>p</a:t>
            </a:r>
            <a:r>
              <a:rPr lang="de-DE" sz="2000" dirty="0"/>
              <a:t>)  </a:t>
            </a:r>
          </a:p>
        </p:txBody>
      </p:sp>
      <p:sp>
        <p:nvSpPr>
          <p:cNvPr id="457803" name="Text Box 75"/>
          <p:cNvSpPr txBox="1">
            <a:spLocks noChangeArrowheads="1"/>
          </p:cNvSpPr>
          <p:nvPr/>
        </p:nvSpPr>
        <p:spPr bwMode="auto">
          <a:xfrm>
            <a:off x="539552" y="5229200"/>
            <a:ext cx="8247771" cy="400110"/>
          </a:xfrm>
          <a:prstGeom prst="rect">
            <a:avLst/>
          </a:prstGeom>
          <a:ln>
            <a:headEnd/>
            <a:tailEnd/>
          </a:ln>
        </p:spPr>
        <p:style>
          <a:lnRef idx="1">
            <a:schemeClr val="accent4"/>
          </a:lnRef>
          <a:fillRef idx="2">
            <a:schemeClr val="accent4"/>
          </a:fillRef>
          <a:effectRef idx="1">
            <a:schemeClr val="accent4"/>
          </a:effectRef>
          <a:fontRef idx="minor">
            <a:schemeClr val="dk1"/>
          </a:fontRef>
        </p:style>
        <p:txBody>
          <a:bodyPr wrap="none">
            <a:spAutoFit/>
          </a:bodyPr>
          <a:lstStyle/>
          <a:p>
            <a:r>
              <a:rPr lang="de-DE" sz="2000" dirty="0"/>
              <a:t>Routing-Problem: Was ist der kostengünstigste Pfad zwischen u und z?</a:t>
            </a:r>
          </a:p>
        </p:txBody>
      </p:sp>
      <p:sp>
        <p:nvSpPr>
          <p:cNvPr id="457804" name="Text Box 76"/>
          <p:cNvSpPr txBox="1">
            <a:spLocks noChangeArrowheads="1"/>
          </p:cNvSpPr>
          <p:nvPr/>
        </p:nvSpPr>
        <p:spPr bwMode="auto">
          <a:xfrm>
            <a:off x="719572" y="5842968"/>
            <a:ext cx="7704856" cy="830997"/>
          </a:xfrm>
          <a:prstGeom prst="rect">
            <a:avLst/>
          </a:prstGeom>
          <a:ln>
            <a:headEnd/>
            <a:tailEnd/>
          </a:ln>
        </p:spPr>
        <p:style>
          <a:lnRef idx="3">
            <a:schemeClr val="lt1"/>
          </a:lnRef>
          <a:fillRef idx="1">
            <a:schemeClr val="accent1"/>
          </a:fillRef>
          <a:effectRef idx="1">
            <a:schemeClr val="accent1"/>
          </a:effectRef>
          <a:fontRef idx="minor">
            <a:schemeClr val="lt1"/>
          </a:fontRef>
        </p:style>
        <p:txBody>
          <a:bodyPr wrap="square">
            <a:spAutoFit/>
          </a:bodyPr>
          <a:lstStyle/>
          <a:p>
            <a:pPr algn="ctr"/>
            <a:r>
              <a:rPr lang="de-DE" sz="2400" dirty="0"/>
              <a:t>Routing-Algorithmus: </a:t>
            </a:r>
            <a:br>
              <a:rPr lang="de-DE" sz="2400" dirty="0"/>
            </a:br>
            <a:r>
              <a:rPr lang="de-DE" sz="2400" dirty="0"/>
              <a:t>Algorithmus, der kosten-günstigste Pfade bestimmt</a:t>
            </a:r>
          </a:p>
        </p:txBody>
      </p:sp>
    </p:spTree>
    <p:extLst>
      <p:ext uri="{BB962C8B-B14F-4D97-AF65-F5344CB8AC3E}">
        <p14:creationId xmlns:p14="http://schemas.microsoft.com/office/powerpoint/2010/main" val="803305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57803"/>
                                        </p:tgtEl>
                                        <p:attrNameLst>
                                          <p:attrName>style.visibility</p:attrName>
                                        </p:attrNameLst>
                                      </p:cBhvr>
                                      <p:to>
                                        <p:strVal val="visible"/>
                                      </p:to>
                                    </p:set>
                                    <p:animEffect transition="in" filter="fade">
                                      <p:cBhvr>
                                        <p:cTn id="7" dur="500"/>
                                        <p:tgtEl>
                                          <p:spTgt spid="45780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57804"/>
                                        </p:tgtEl>
                                        <p:attrNameLst>
                                          <p:attrName>style.visibility</p:attrName>
                                        </p:attrNameLst>
                                      </p:cBhvr>
                                      <p:to>
                                        <p:strVal val="visible"/>
                                      </p:to>
                                    </p:set>
                                    <p:animEffect transition="in" filter="fade">
                                      <p:cBhvr>
                                        <p:cTn id="12" dur="500"/>
                                        <p:tgtEl>
                                          <p:spTgt spid="4578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7803" grpId="0" animBg="1"/>
      <p:bldP spid="45780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6" name="Rectangle 2"/>
          <p:cNvSpPr>
            <a:spLocks noGrp="1" noChangeArrowheads="1"/>
          </p:cNvSpPr>
          <p:nvPr>
            <p:ph type="title"/>
          </p:nvPr>
        </p:nvSpPr>
        <p:spPr/>
        <p:txBody>
          <a:bodyPr>
            <a:normAutofit/>
          </a:bodyPr>
          <a:lstStyle/>
          <a:p>
            <a:r>
              <a:rPr lang="de-DE" sz="3600"/>
              <a:t>Klassifikation von Routing-Algorithmen</a:t>
            </a:r>
            <a:endParaRPr lang="de-DE"/>
          </a:p>
        </p:txBody>
      </p:sp>
      <p:sp>
        <p:nvSpPr>
          <p:cNvPr id="6" name="Slide Number Placeholder 6"/>
          <p:cNvSpPr>
            <a:spLocks noGrp="1"/>
          </p:cNvSpPr>
          <p:nvPr>
            <p:ph type="sldNum" sz="quarter" idx="12"/>
          </p:nvPr>
        </p:nvSpPr>
        <p:spPr/>
        <p:txBody>
          <a:bodyPr/>
          <a:lstStyle/>
          <a:p>
            <a:fld id="{CB3F382A-096F-4633-8ECC-07FDD627BF97}" type="slidenum">
              <a:rPr lang="de-DE" smtClean="0"/>
              <a:pPr/>
              <a:t>25</a:t>
            </a:fld>
            <a:endParaRPr lang="de-DE"/>
          </a:p>
        </p:txBody>
      </p:sp>
      <p:sp>
        <p:nvSpPr>
          <p:cNvPr id="461827" name="Rectangle 3"/>
          <p:cNvSpPr>
            <a:spLocks noGrp="1" noChangeArrowheads="1"/>
          </p:cNvSpPr>
          <p:nvPr>
            <p:ph sz="quarter" idx="1"/>
          </p:nvPr>
        </p:nvSpPr>
        <p:spPr>
          <a:xfrm>
            <a:off x="457200" y="1219200"/>
            <a:ext cx="4041648" cy="5638800"/>
          </a:xfrm>
        </p:spPr>
        <p:txBody>
          <a:bodyPr>
            <a:normAutofit fontScale="92500" lnSpcReduction="10000"/>
          </a:bodyPr>
          <a:lstStyle/>
          <a:p>
            <a:r>
              <a:rPr lang="de-DE" dirty="0">
                <a:solidFill>
                  <a:srgbClr val="FF0000"/>
                </a:solidFill>
              </a:rPr>
              <a:t>Globale or dezentrale Information?</a:t>
            </a:r>
            <a:endParaRPr lang="de-DE" dirty="0"/>
          </a:p>
          <a:p>
            <a:pPr>
              <a:buFont typeface="ZapfDingbats" pitchFamily="82" charset="2"/>
              <a:buNone/>
            </a:pPr>
            <a:r>
              <a:rPr lang="de-DE" u="sng" dirty="0">
                <a:solidFill>
                  <a:srgbClr val="0070C0"/>
                </a:solidFill>
              </a:rPr>
              <a:t>Global:</a:t>
            </a:r>
          </a:p>
          <a:p>
            <a:r>
              <a:rPr lang="de-DE" sz="2000" dirty="0"/>
              <a:t>Alle Router </a:t>
            </a:r>
            <a:r>
              <a:rPr lang="de-DE" sz="2000" dirty="0">
                <a:solidFill>
                  <a:srgbClr val="0070C0"/>
                </a:solidFill>
              </a:rPr>
              <a:t>kennen die komplette Topologie und die Kosten der Leitungen</a:t>
            </a:r>
            <a:r>
              <a:rPr lang="de-DE" sz="2000" dirty="0"/>
              <a:t> (links)</a:t>
            </a:r>
          </a:p>
          <a:p>
            <a:r>
              <a:rPr lang="de-DE" sz="2000" dirty="0"/>
              <a:t>“</a:t>
            </a:r>
            <a:r>
              <a:rPr lang="de-DE" sz="2000" b="1" dirty="0"/>
              <a:t>Link-State</a:t>
            </a:r>
            <a:r>
              <a:rPr lang="de-DE" sz="2000" dirty="0"/>
              <a:t>”-Algorithmen</a:t>
            </a:r>
          </a:p>
          <a:p>
            <a:pPr>
              <a:buFont typeface="ZapfDingbats" pitchFamily="82" charset="2"/>
              <a:buNone/>
            </a:pPr>
            <a:r>
              <a:rPr lang="de-DE" u="sng" dirty="0">
                <a:solidFill>
                  <a:srgbClr val="0070C0"/>
                </a:solidFill>
              </a:rPr>
              <a:t>Dezentral: </a:t>
            </a:r>
          </a:p>
          <a:p>
            <a:r>
              <a:rPr lang="de-DE" sz="2000" dirty="0"/>
              <a:t>Router </a:t>
            </a:r>
            <a:r>
              <a:rPr lang="de-DE" sz="2000" dirty="0">
                <a:solidFill>
                  <a:srgbClr val="0070C0"/>
                </a:solidFill>
              </a:rPr>
              <a:t>kennen nur die Router, mit denen sie direkt verbunden sind</a:t>
            </a:r>
            <a:r>
              <a:rPr lang="de-DE" sz="2000" dirty="0"/>
              <a:t> (und die Kosten der jeweiligen Leitungen)  </a:t>
            </a:r>
          </a:p>
          <a:p>
            <a:r>
              <a:rPr lang="de-DE" sz="2000" dirty="0"/>
              <a:t>Kostenberechnung ist ein iterativer Prozess mit Datenaustausch zwischen den Nachbarn </a:t>
            </a:r>
          </a:p>
          <a:p>
            <a:r>
              <a:rPr lang="de-DE" sz="2000" dirty="0"/>
              <a:t>“</a:t>
            </a:r>
            <a:r>
              <a:rPr lang="de-DE" sz="2000" b="1" dirty="0"/>
              <a:t>Distanzvektor</a:t>
            </a:r>
            <a:r>
              <a:rPr lang="de-DE" sz="2000" dirty="0"/>
              <a:t>”-Algorithmen </a:t>
            </a:r>
          </a:p>
        </p:txBody>
      </p:sp>
      <p:sp>
        <p:nvSpPr>
          <p:cNvPr id="461828" name="Rectangle 4"/>
          <p:cNvSpPr>
            <a:spLocks noGrp="1" noChangeArrowheads="1"/>
          </p:cNvSpPr>
          <p:nvPr>
            <p:ph sz="quarter" idx="2"/>
          </p:nvPr>
        </p:nvSpPr>
        <p:spPr>
          <a:xfrm>
            <a:off x="4632198" y="1216152"/>
            <a:ext cx="4041648" cy="5165176"/>
          </a:xfrm>
        </p:spPr>
        <p:txBody>
          <a:bodyPr>
            <a:normAutofit fontScale="92500" lnSpcReduction="10000"/>
          </a:bodyPr>
          <a:lstStyle/>
          <a:p>
            <a:r>
              <a:rPr lang="de-DE" dirty="0">
                <a:solidFill>
                  <a:srgbClr val="FF0000"/>
                </a:solidFill>
              </a:rPr>
              <a:t>Statische oder dynamische Algorithmen? </a:t>
            </a:r>
          </a:p>
          <a:p>
            <a:r>
              <a:rPr lang="de-DE" u="sng" dirty="0">
                <a:solidFill>
                  <a:srgbClr val="0070C0"/>
                </a:solidFill>
              </a:rPr>
              <a:t>Statisch: </a:t>
            </a:r>
          </a:p>
          <a:p>
            <a:pPr lvl="1"/>
            <a:r>
              <a:rPr lang="de-DE" sz="2100" dirty="0"/>
              <a:t>Routing-Pfade ändern sich langsam mit der Zeit</a:t>
            </a:r>
          </a:p>
          <a:p>
            <a:r>
              <a:rPr lang="de-DE" u="sng" dirty="0">
                <a:solidFill>
                  <a:srgbClr val="0070C0"/>
                </a:solidFill>
              </a:rPr>
              <a:t>Dynamisch:</a:t>
            </a:r>
          </a:p>
          <a:p>
            <a:pPr lvl="1"/>
            <a:r>
              <a:rPr lang="de-DE" sz="2200" dirty="0"/>
              <a:t>Routing-Pfade ändern sich häufig</a:t>
            </a:r>
          </a:p>
          <a:p>
            <a:pPr lvl="1"/>
            <a:r>
              <a:rPr lang="de-DE" dirty="0"/>
              <a:t>Periodische Aktualisierungen nötig</a:t>
            </a:r>
          </a:p>
          <a:p>
            <a:pPr lvl="1"/>
            <a:r>
              <a:rPr lang="de-DE" dirty="0"/>
              <a:t>Subkategorie von dynamisch:</a:t>
            </a:r>
          </a:p>
          <a:p>
            <a:pPr lvl="2"/>
            <a:r>
              <a:rPr lang="de-DE" b="1" dirty="0"/>
              <a:t>Lastsensitive</a:t>
            </a:r>
            <a:r>
              <a:rPr lang="de-DE" dirty="0"/>
              <a:t> bzw. </a:t>
            </a:r>
            <a:r>
              <a:rPr lang="de-DE" b="1" dirty="0" err="1"/>
              <a:t>lastinsensitive</a:t>
            </a:r>
            <a:r>
              <a:rPr lang="de-DE" dirty="0"/>
              <a:t> Algorithmen</a:t>
            </a:r>
          </a:p>
        </p:txBody>
      </p:sp>
    </p:spTree>
    <p:extLst>
      <p:ext uri="{BB962C8B-B14F-4D97-AF65-F5344CB8AC3E}">
        <p14:creationId xmlns:p14="http://schemas.microsoft.com/office/powerpoint/2010/main" val="11427622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26</a:t>
            </a:fld>
            <a:endParaRPr lang="de-DE" dirty="0"/>
          </a:p>
        </p:txBody>
      </p:sp>
      <p:sp>
        <p:nvSpPr>
          <p:cNvPr id="3" name="Titel 2"/>
          <p:cNvSpPr>
            <a:spLocks noGrp="1"/>
          </p:cNvSpPr>
          <p:nvPr>
            <p:ph type="title"/>
          </p:nvPr>
        </p:nvSpPr>
        <p:spPr>
          <a:xfrm>
            <a:off x="971600" y="2348880"/>
            <a:ext cx="7200800" cy="2376264"/>
          </a:xfrm>
        </p:spPr>
        <p:txBody>
          <a:bodyPr>
            <a:normAutofit/>
          </a:bodyPr>
          <a:lstStyle/>
          <a:p>
            <a:r>
              <a:rPr lang="de-DE" dirty="0"/>
              <a:t>Routingalgorithmen:</a:t>
            </a:r>
            <a:br>
              <a:rPr lang="de-DE" dirty="0"/>
            </a:br>
            <a:r>
              <a:rPr lang="de-DE" dirty="0"/>
              <a:t>Link-State-Algorithmen (LS)</a:t>
            </a:r>
          </a:p>
        </p:txBody>
      </p:sp>
    </p:spTree>
    <p:extLst>
      <p:ext uri="{BB962C8B-B14F-4D97-AF65-F5344CB8AC3E}">
        <p14:creationId xmlns:p14="http://schemas.microsoft.com/office/powerpoint/2010/main" val="33587549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2850" name="Rectangle 2"/>
          <p:cNvSpPr>
            <a:spLocks noGrp="1" noChangeArrowheads="1"/>
          </p:cNvSpPr>
          <p:nvPr>
            <p:ph type="title"/>
          </p:nvPr>
        </p:nvSpPr>
        <p:spPr/>
        <p:txBody>
          <a:bodyPr/>
          <a:lstStyle/>
          <a:p>
            <a:r>
              <a:rPr lang="de-DE" sz="3600" dirty="0"/>
              <a:t>Ein Link-State-Algorithmus </a:t>
            </a:r>
            <a:endParaRPr lang="de-DE" dirty="0"/>
          </a:p>
        </p:txBody>
      </p:sp>
      <p:sp>
        <p:nvSpPr>
          <p:cNvPr id="6" name="Slide Number Placeholder 6"/>
          <p:cNvSpPr>
            <a:spLocks noGrp="1"/>
          </p:cNvSpPr>
          <p:nvPr>
            <p:ph type="sldNum" sz="quarter" idx="12"/>
          </p:nvPr>
        </p:nvSpPr>
        <p:spPr/>
        <p:txBody>
          <a:bodyPr/>
          <a:lstStyle/>
          <a:p>
            <a:fld id="{32CD0181-196A-4E3E-9EF8-1E1182EFA943}" type="slidenum">
              <a:rPr lang="de-DE" smtClean="0"/>
              <a:pPr/>
              <a:t>27</a:t>
            </a:fld>
            <a:endParaRPr lang="de-DE"/>
          </a:p>
        </p:txBody>
      </p:sp>
      <p:sp>
        <p:nvSpPr>
          <p:cNvPr id="462851" name="Rectangle 3"/>
          <p:cNvSpPr>
            <a:spLocks noGrp="1" noChangeArrowheads="1"/>
          </p:cNvSpPr>
          <p:nvPr>
            <p:ph sz="quarter" idx="1"/>
          </p:nvPr>
        </p:nvSpPr>
        <p:spPr>
          <a:xfrm>
            <a:off x="457200" y="1219200"/>
            <a:ext cx="4041648" cy="5450160"/>
          </a:xfrm>
        </p:spPr>
        <p:txBody>
          <a:bodyPr>
            <a:noAutofit/>
          </a:bodyPr>
          <a:lstStyle/>
          <a:p>
            <a:pPr marL="0" indent="0">
              <a:buNone/>
            </a:pPr>
            <a:r>
              <a:rPr lang="de-DE" sz="2800" dirty="0">
                <a:latin typeface="Calibri" panose="020F0502020204030204" pitchFamily="34" charset="0"/>
                <a:cs typeface="Calibri" panose="020F0502020204030204" pitchFamily="34" charset="0"/>
              </a:rPr>
              <a:t>Annahmen:</a:t>
            </a:r>
          </a:p>
          <a:p>
            <a:r>
              <a:rPr lang="de-DE" sz="2400" dirty="0">
                <a:latin typeface="Calibri" panose="020F0502020204030204" pitchFamily="34" charset="0"/>
                <a:cs typeface="Calibri" panose="020F0502020204030204" pitchFamily="34" charset="0"/>
              </a:rPr>
              <a:t>Netzwerktopologie und die Kosten </a:t>
            </a:r>
            <a:r>
              <a:rPr lang="de-DE" sz="2400" u="sng" dirty="0">
                <a:latin typeface="Calibri" panose="020F0502020204030204" pitchFamily="34" charset="0"/>
                <a:cs typeface="Calibri" panose="020F0502020204030204" pitchFamily="34" charset="0"/>
              </a:rPr>
              <a:t>aller</a:t>
            </a:r>
            <a:r>
              <a:rPr lang="de-DE" sz="2400" dirty="0">
                <a:latin typeface="Calibri" panose="020F0502020204030204" pitchFamily="34" charset="0"/>
                <a:cs typeface="Calibri" panose="020F0502020204030204" pitchFamily="34" charset="0"/>
              </a:rPr>
              <a:t> Knoten bekannt </a:t>
            </a:r>
          </a:p>
          <a:p>
            <a:pPr lvl="1"/>
            <a:r>
              <a:rPr lang="de-DE" sz="2200" dirty="0">
                <a:latin typeface="Calibri" panose="020F0502020204030204" pitchFamily="34" charset="0"/>
                <a:cs typeface="Calibri" panose="020F0502020204030204" pitchFamily="34" charset="0"/>
              </a:rPr>
              <a:t>Durch “link </a:t>
            </a:r>
            <a:r>
              <a:rPr lang="de-DE" sz="2200" dirty="0" err="1">
                <a:latin typeface="Calibri" panose="020F0502020204030204" pitchFamily="34" charset="0"/>
                <a:cs typeface="Calibri" panose="020F0502020204030204" pitchFamily="34" charset="0"/>
              </a:rPr>
              <a:t>state</a:t>
            </a:r>
            <a:r>
              <a:rPr lang="de-DE" sz="2200" dirty="0">
                <a:latin typeface="Calibri" panose="020F0502020204030204" pitchFamily="34" charset="0"/>
                <a:cs typeface="Calibri" panose="020F0502020204030204" pitchFamily="34" charset="0"/>
              </a:rPr>
              <a:t> </a:t>
            </a:r>
            <a:r>
              <a:rPr lang="de-DE" sz="2200" dirty="0" err="1">
                <a:latin typeface="Calibri" panose="020F0502020204030204" pitchFamily="34" charset="0"/>
                <a:cs typeface="Calibri" panose="020F0502020204030204" pitchFamily="34" charset="0"/>
              </a:rPr>
              <a:t>broadcast</a:t>
            </a:r>
            <a:r>
              <a:rPr lang="de-DE" sz="2200" dirty="0">
                <a:latin typeface="Calibri" panose="020F0502020204030204" pitchFamily="34" charset="0"/>
                <a:cs typeface="Calibri" panose="020F0502020204030204" pitchFamily="34" charset="0"/>
              </a:rPr>
              <a:t>” </a:t>
            </a:r>
          </a:p>
          <a:p>
            <a:pPr lvl="1"/>
            <a:r>
              <a:rPr lang="de-DE" sz="2200" dirty="0">
                <a:latin typeface="Calibri" panose="020F0502020204030204" pitchFamily="34" charset="0"/>
                <a:cs typeface="Calibri" panose="020F0502020204030204" pitchFamily="34" charset="0"/>
              </a:rPr>
              <a:t>Alle Knoten haben dieselben Informationen</a:t>
            </a:r>
          </a:p>
          <a:p>
            <a:pPr marL="0" indent="0">
              <a:buNone/>
            </a:pPr>
            <a:r>
              <a:rPr lang="de-DE" sz="2800" b="1" dirty="0">
                <a:latin typeface="Calibri" panose="020F0502020204030204" pitchFamily="34" charset="0"/>
                <a:cs typeface="Calibri" panose="020F0502020204030204" pitchFamily="34" charset="0"/>
              </a:rPr>
              <a:t>Dijkstra-Algorithmus</a:t>
            </a:r>
            <a:endParaRPr lang="de-DE" sz="2400" b="1" dirty="0">
              <a:latin typeface="Calibri" panose="020F0502020204030204" pitchFamily="34" charset="0"/>
              <a:cs typeface="Calibri" panose="020F0502020204030204" pitchFamily="34" charset="0"/>
            </a:endParaRPr>
          </a:p>
          <a:p>
            <a:r>
              <a:rPr lang="de-DE" sz="2400" dirty="0">
                <a:latin typeface="Calibri" panose="020F0502020204030204" pitchFamily="34" charset="0"/>
                <a:cs typeface="Calibri" panose="020F0502020204030204" pitchFamily="34" charset="0"/>
              </a:rPr>
              <a:t>Berechnet die kosten-günstigsten Pfade vom </a:t>
            </a:r>
            <a:r>
              <a:rPr lang="de-DE" sz="2400" b="1" dirty="0">
                <a:solidFill>
                  <a:srgbClr val="FF0000"/>
                </a:solidFill>
                <a:latin typeface="Calibri" panose="020F0502020204030204" pitchFamily="34" charset="0"/>
                <a:cs typeface="Calibri" panose="020F0502020204030204" pitchFamily="34" charset="0"/>
              </a:rPr>
              <a:t>Quellknoten u</a:t>
            </a:r>
            <a:r>
              <a:rPr lang="de-DE" sz="2400" dirty="0">
                <a:latin typeface="Calibri" panose="020F0502020204030204" pitchFamily="34" charset="0"/>
                <a:cs typeface="Calibri" panose="020F0502020204030204" pitchFamily="34" charset="0"/>
              </a:rPr>
              <a:t> zu allen a.</a:t>
            </a:r>
          </a:p>
          <a:p>
            <a:r>
              <a:rPr lang="de-DE" sz="2400" dirty="0">
                <a:latin typeface="Calibri" panose="020F0502020204030204" pitchFamily="34" charset="0"/>
                <a:cs typeface="Calibri" panose="020F0502020204030204" pitchFamily="34" charset="0"/>
              </a:rPr>
              <a:t>Erzeugt die Weiterleitungstabelle für den Quellknoten</a:t>
            </a:r>
          </a:p>
        </p:txBody>
      </p:sp>
      <p:sp>
        <p:nvSpPr>
          <p:cNvPr id="462852" name="Rectangle 4"/>
          <p:cNvSpPr>
            <a:spLocks noGrp="1" noChangeArrowheads="1"/>
          </p:cNvSpPr>
          <p:nvPr>
            <p:ph sz="quarter" idx="2"/>
          </p:nvPr>
        </p:nvSpPr>
        <p:spPr>
          <a:xfrm>
            <a:off x="4499992" y="1216152"/>
            <a:ext cx="4260282" cy="5641848"/>
          </a:xfrm>
        </p:spPr>
        <p:txBody>
          <a:bodyPr>
            <a:normAutofit fontScale="85000" lnSpcReduction="20000"/>
          </a:bodyPr>
          <a:lstStyle/>
          <a:p>
            <a:pPr>
              <a:buFont typeface="ZapfDingbats" pitchFamily="82" charset="2"/>
              <a:buNone/>
            </a:pPr>
            <a:r>
              <a:rPr lang="de-DE" sz="3000" dirty="0">
                <a:solidFill>
                  <a:srgbClr val="000000"/>
                </a:solidFill>
                <a:latin typeface="Calibri" panose="020F0502020204030204" pitchFamily="34" charset="0"/>
                <a:cs typeface="Calibri" panose="020F0502020204030204" pitchFamily="34" charset="0"/>
              </a:rPr>
              <a:t>Notation:</a:t>
            </a:r>
          </a:p>
          <a:p>
            <a:r>
              <a:rPr lang="de-DE" b="1" dirty="0">
                <a:solidFill>
                  <a:srgbClr val="FF0000"/>
                </a:solidFill>
                <a:latin typeface="Calibri" panose="020F0502020204030204" pitchFamily="34" charset="0"/>
                <a:cs typeface="Calibri" panose="020F0502020204030204" pitchFamily="34" charset="0"/>
              </a:rPr>
              <a:t>c(</a:t>
            </a:r>
            <a:r>
              <a:rPr lang="de-DE" b="1" dirty="0" err="1">
                <a:solidFill>
                  <a:srgbClr val="FF0000"/>
                </a:solidFill>
                <a:latin typeface="Calibri" panose="020F0502020204030204" pitchFamily="34" charset="0"/>
                <a:cs typeface="Calibri" panose="020F0502020204030204" pitchFamily="34" charset="0"/>
              </a:rPr>
              <a:t>x,y</a:t>
            </a:r>
            <a:r>
              <a:rPr lang="de-DE" b="1" dirty="0">
                <a:solidFill>
                  <a:srgbClr val="FF0000"/>
                </a:solidFill>
                <a:latin typeface="Calibri" panose="020F0502020204030204" pitchFamily="34" charset="0"/>
                <a:cs typeface="Calibri" panose="020F0502020204030204" pitchFamily="34" charset="0"/>
              </a:rPr>
              <a:t>): </a:t>
            </a:r>
            <a:r>
              <a:rPr lang="de-DE" dirty="0">
                <a:latin typeface="Calibri" panose="020F0502020204030204" pitchFamily="34" charset="0"/>
                <a:cs typeface="Calibri" panose="020F0502020204030204" pitchFamily="34" charset="0"/>
              </a:rPr>
              <a:t>Kosten der </a:t>
            </a:r>
            <a:r>
              <a:rPr lang="de-DE" u="sng" dirty="0">
                <a:latin typeface="Calibri" panose="020F0502020204030204" pitchFamily="34" charset="0"/>
                <a:cs typeface="Calibri" panose="020F0502020204030204" pitchFamily="34" charset="0"/>
              </a:rPr>
              <a:t>Leitung</a:t>
            </a:r>
            <a:r>
              <a:rPr lang="de-DE" dirty="0">
                <a:latin typeface="Calibri" panose="020F0502020204030204" pitchFamily="34" charset="0"/>
                <a:cs typeface="Calibri" panose="020F0502020204030204" pitchFamily="34" charset="0"/>
              </a:rPr>
              <a:t> von x nach y;  = </a:t>
            </a:r>
            <a:r>
              <a:rPr lang="de-DE" b="1" dirty="0">
                <a:solidFill>
                  <a:srgbClr val="0070C0"/>
                </a:solidFill>
                <a:latin typeface="Calibri" panose="020F0502020204030204" pitchFamily="34" charset="0"/>
                <a:cs typeface="Calibri" panose="020F0502020204030204" pitchFamily="34" charset="0"/>
              </a:rPr>
              <a:t>∞</a:t>
            </a:r>
            <a:r>
              <a:rPr lang="de-DE" dirty="0">
                <a:latin typeface="Calibri" panose="020F0502020204030204" pitchFamily="34" charset="0"/>
                <a:cs typeface="Calibri" panose="020F0502020204030204" pitchFamily="34" charset="0"/>
              </a:rPr>
              <a:t> falls x, y keine Nachbarn sind</a:t>
            </a:r>
          </a:p>
          <a:p>
            <a:r>
              <a:rPr lang="de-DE" b="1" dirty="0">
                <a:solidFill>
                  <a:srgbClr val="FF0000"/>
                </a:solidFill>
                <a:latin typeface="Calibri" panose="020F0502020204030204" pitchFamily="34" charset="0"/>
                <a:cs typeface="Calibri" panose="020F0502020204030204" pitchFamily="34" charset="0"/>
              </a:rPr>
              <a:t>N': </a:t>
            </a:r>
            <a:r>
              <a:rPr lang="de-DE" dirty="0">
                <a:latin typeface="Calibri" panose="020F0502020204030204" pitchFamily="34" charset="0"/>
                <a:cs typeface="Calibri" panose="020F0502020204030204" pitchFamily="34" charset="0"/>
              </a:rPr>
              <a:t>Teilmenge von Knoten v, für die der kostengünstigste Pfad von der Quelle zu </a:t>
            </a:r>
            <a:r>
              <a:rPr lang="de-DE" i="1" dirty="0">
                <a:latin typeface="Calibri" panose="020F0502020204030204" pitchFamily="34" charset="0"/>
                <a:cs typeface="Calibri" panose="020F0502020204030204" pitchFamily="34" charset="0"/>
              </a:rPr>
              <a:t>v </a:t>
            </a:r>
            <a:r>
              <a:rPr lang="de-DE" u="sng" dirty="0">
                <a:latin typeface="Calibri" panose="020F0502020204030204" pitchFamily="34" charset="0"/>
                <a:cs typeface="Calibri" panose="020F0502020204030204" pitchFamily="34" charset="0"/>
              </a:rPr>
              <a:t>definitiv</a:t>
            </a:r>
            <a:r>
              <a:rPr lang="de-DE" dirty="0">
                <a:latin typeface="Calibri" panose="020F0502020204030204" pitchFamily="34" charset="0"/>
                <a:cs typeface="Calibri" panose="020F0502020204030204" pitchFamily="34" charset="0"/>
              </a:rPr>
              <a:t> bekannt ist</a:t>
            </a:r>
            <a:endParaRPr lang="de-DE" dirty="0">
              <a:solidFill>
                <a:schemeClr val="accent2"/>
              </a:solidFill>
              <a:latin typeface="Calibri" panose="020F0502020204030204" pitchFamily="34" charset="0"/>
              <a:cs typeface="Calibri" panose="020F0502020204030204" pitchFamily="34" charset="0"/>
            </a:endParaRPr>
          </a:p>
          <a:p>
            <a:r>
              <a:rPr lang="de-DE" b="1" dirty="0">
                <a:solidFill>
                  <a:srgbClr val="FF0000"/>
                </a:solidFill>
                <a:latin typeface="Calibri" panose="020F0502020204030204" pitchFamily="34" charset="0"/>
                <a:cs typeface="Calibri" panose="020F0502020204030204" pitchFamily="34" charset="0"/>
              </a:rPr>
              <a:t>D(v): </a:t>
            </a:r>
            <a:r>
              <a:rPr lang="de-DE" dirty="0">
                <a:latin typeface="Calibri" panose="020F0502020204030204" pitchFamily="34" charset="0"/>
                <a:cs typeface="Calibri" panose="020F0502020204030204" pitchFamily="34" charset="0"/>
              </a:rPr>
              <a:t>die (</a:t>
            </a:r>
            <a:r>
              <a:rPr lang="de-DE" dirty="0">
                <a:solidFill>
                  <a:srgbClr val="0070C0"/>
                </a:solidFill>
                <a:latin typeface="Calibri" panose="020F0502020204030204" pitchFamily="34" charset="0"/>
                <a:cs typeface="Calibri" panose="020F0502020204030204" pitchFamily="34" charset="0"/>
              </a:rPr>
              <a:t>ggf. geschätzten</a:t>
            </a:r>
            <a:r>
              <a:rPr lang="de-DE" dirty="0">
                <a:latin typeface="Calibri" panose="020F0502020204030204" pitchFamily="34" charset="0"/>
                <a:cs typeface="Calibri" panose="020F0502020204030204" pitchFamily="34" charset="0"/>
              </a:rPr>
              <a:t>) Kosten eines kostengünstigsten Pfades von der Quelle zum Knoten </a:t>
            </a:r>
            <a:r>
              <a:rPr lang="de-DE" i="1" dirty="0">
                <a:latin typeface="Calibri" panose="020F0502020204030204" pitchFamily="34" charset="0"/>
                <a:cs typeface="Calibri" panose="020F0502020204030204" pitchFamily="34" charset="0"/>
              </a:rPr>
              <a:t>v</a:t>
            </a:r>
          </a:p>
          <a:p>
            <a:pPr lvl="1"/>
            <a:r>
              <a:rPr lang="de-DE" sz="2100" i="1" dirty="0">
                <a:latin typeface="Calibri" panose="020F0502020204030204" pitchFamily="34" charset="0"/>
                <a:cs typeface="Calibri" panose="020F0502020204030204" pitchFamily="34" charset="0"/>
              </a:rPr>
              <a:t>Für v </a:t>
            </a:r>
            <a:r>
              <a:rPr lang="de-DE" sz="2100" i="1" dirty="0">
                <a:latin typeface="Calibri" panose="020F0502020204030204" pitchFamily="34" charset="0"/>
                <a:cs typeface="Calibri" panose="020F0502020204030204" pitchFamily="34" charset="0"/>
                <a:sym typeface="Symbol"/>
              </a:rPr>
              <a:t> N' : exakte Kosten</a:t>
            </a:r>
          </a:p>
          <a:p>
            <a:pPr lvl="1"/>
            <a:r>
              <a:rPr lang="de-DE" sz="2100" i="1" dirty="0">
                <a:latin typeface="Calibri" panose="020F0502020204030204" pitchFamily="34" charset="0"/>
                <a:cs typeface="Calibri" panose="020F0502020204030204" pitchFamily="34" charset="0"/>
                <a:sym typeface="Symbol"/>
              </a:rPr>
              <a:t>Für v </a:t>
            </a:r>
            <a:r>
              <a:rPr lang="de-DE" sz="2100" dirty="0">
                <a:latin typeface="Calibri" panose="020F0502020204030204" pitchFamily="34" charset="0"/>
                <a:cs typeface="Calibri" panose="020F0502020204030204" pitchFamily="34" charset="0"/>
                <a:sym typeface="Symbol"/>
              </a:rPr>
              <a:t> </a:t>
            </a:r>
            <a:r>
              <a:rPr lang="de-DE" sz="2100" dirty="0">
                <a:latin typeface="Calibri" panose="020F0502020204030204" pitchFamily="34" charset="0"/>
                <a:cs typeface="Calibri" panose="020F0502020204030204" pitchFamily="34" charset="0"/>
              </a:rPr>
              <a:t>N': Abschätzungen</a:t>
            </a:r>
          </a:p>
          <a:p>
            <a:r>
              <a:rPr lang="de-DE" b="1" dirty="0">
                <a:solidFill>
                  <a:srgbClr val="FF0000"/>
                </a:solidFill>
                <a:latin typeface="Calibri" panose="020F0502020204030204" pitchFamily="34" charset="0"/>
                <a:cs typeface="Calibri" panose="020F0502020204030204" pitchFamily="34" charset="0"/>
              </a:rPr>
              <a:t>p(v): </a:t>
            </a:r>
            <a:r>
              <a:rPr lang="de-DE" dirty="0">
                <a:latin typeface="Calibri" panose="020F0502020204030204" pitchFamily="34" charset="0"/>
                <a:cs typeface="Calibri" panose="020F0502020204030204" pitchFamily="34" charset="0"/>
              </a:rPr>
              <a:t>letzter Knoten vor v (d.h. Nachbar von v) entlang des momentan kostengünstigsten Pfades von der Quelle zu </a:t>
            </a:r>
            <a:r>
              <a:rPr lang="de-DE" i="1" dirty="0">
                <a:latin typeface="Calibri" panose="020F0502020204030204" pitchFamily="34" charset="0"/>
                <a:cs typeface="Calibri" panose="020F0502020204030204" pitchFamily="34" charset="0"/>
              </a:rPr>
              <a:t>v</a:t>
            </a:r>
            <a:endParaRPr lang="de-DE" dirty="0">
              <a:latin typeface="Calibri" panose="020F0502020204030204" pitchFamily="34" charset="0"/>
              <a:cs typeface="Calibri" panose="020F0502020204030204" pitchFamily="34" charset="0"/>
            </a:endParaRPr>
          </a:p>
          <a:p>
            <a:endParaRPr lang="de-DE"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622234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0C80303-63F8-4CBB-9BA5-3F84B61C2FB1}"/>
              </a:ext>
            </a:extLst>
          </p:cNvPr>
          <p:cNvSpPr>
            <a:spLocks noGrp="1"/>
          </p:cNvSpPr>
          <p:nvPr>
            <p:ph type="title"/>
          </p:nvPr>
        </p:nvSpPr>
        <p:spPr/>
        <p:txBody>
          <a:bodyPr/>
          <a:lstStyle/>
          <a:p>
            <a:r>
              <a:rPr lang="de-DE" dirty="0"/>
              <a:t>Dijkstra-Visualisierung</a:t>
            </a:r>
          </a:p>
        </p:txBody>
      </p:sp>
      <p:sp>
        <p:nvSpPr>
          <p:cNvPr id="3" name="Foliennummernplatzhalter 2">
            <a:extLst>
              <a:ext uri="{FF2B5EF4-FFF2-40B4-BE49-F238E27FC236}">
                <a16:creationId xmlns:a16="http://schemas.microsoft.com/office/drawing/2014/main" id="{1CAD4BE8-9421-4214-80C7-A85BB31DDB7A}"/>
              </a:ext>
            </a:extLst>
          </p:cNvPr>
          <p:cNvSpPr>
            <a:spLocks noGrp="1"/>
          </p:cNvSpPr>
          <p:nvPr>
            <p:ph type="sldNum" sz="quarter" idx="12"/>
          </p:nvPr>
        </p:nvSpPr>
        <p:spPr/>
        <p:txBody>
          <a:bodyPr/>
          <a:lstStyle/>
          <a:p>
            <a:fld id="{7183533A-8A50-4A1F-BEA9-C8C6956451EB}" type="slidenum">
              <a:rPr lang="en-US" noProof="0" smtClean="0"/>
              <a:pPr/>
              <a:t>28</a:t>
            </a:fld>
            <a:endParaRPr lang="en-US" noProof="0" dirty="0"/>
          </a:p>
        </p:txBody>
      </p:sp>
      <p:sp>
        <p:nvSpPr>
          <p:cNvPr id="4" name="Inhaltsplatzhalter 3">
            <a:extLst>
              <a:ext uri="{FF2B5EF4-FFF2-40B4-BE49-F238E27FC236}">
                <a16:creationId xmlns:a16="http://schemas.microsoft.com/office/drawing/2014/main" id="{45E432E9-985C-4F74-B5AD-7592B812BD00}"/>
              </a:ext>
            </a:extLst>
          </p:cNvPr>
          <p:cNvSpPr>
            <a:spLocks noGrp="1"/>
          </p:cNvSpPr>
          <p:nvPr>
            <p:ph sz="quarter" idx="1"/>
          </p:nvPr>
        </p:nvSpPr>
        <p:spPr/>
        <p:txBody>
          <a:bodyPr>
            <a:normAutofit/>
          </a:bodyPr>
          <a:lstStyle/>
          <a:p>
            <a:r>
              <a:rPr lang="de-DE" sz="1600" dirty="0">
                <a:hlinkClick r:id="rId2"/>
              </a:rPr>
              <a:t>https://www3.cs.stonybrook.edu/~skiena/combinatorica/animations/dijkstra.html</a:t>
            </a:r>
            <a:endParaRPr lang="de-DE" sz="1600" dirty="0"/>
          </a:p>
        </p:txBody>
      </p:sp>
      <p:sp>
        <p:nvSpPr>
          <p:cNvPr id="5" name="Inhaltsplatzhalter 4">
            <a:extLst>
              <a:ext uri="{FF2B5EF4-FFF2-40B4-BE49-F238E27FC236}">
                <a16:creationId xmlns:a16="http://schemas.microsoft.com/office/drawing/2014/main" id="{D2E2ED30-1CBC-462C-8665-72A4037FF5DC}"/>
              </a:ext>
            </a:extLst>
          </p:cNvPr>
          <p:cNvSpPr>
            <a:spLocks noGrp="1"/>
          </p:cNvSpPr>
          <p:nvPr>
            <p:ph sz="quarter" idx="13"/>
          </p:nvPr>
        </p:nvSpPr>
        <p:spPr/>
        <p:txBody>
          <a:bodyPr>
            <a:normAutofit/>
          </a:bodyPr>
          <a:lstStyle/>
          <a:p>
            <a:r>
              <a:rPr lang="de-DE" sz="1600" dirty="0">
                <a:hlinkClick r:id="rId3"/>
              </a:rPr>
              <a:t>https://www.cs.usfca.edu/~galles/visualization/Dijkstra.html</a:t>
            </a:r>
            <a:endParaRPr lang="de-DE" sz="1600" dirty="0"/>
          </a:p>
        </p:txBody>
      </p:sp>
      <p:pic>
        <p:nvPicPr>
          <p:cNvPr id="12290" name="Picture 2">
            <a:extLst>
              <a:ext uri="{FF2B5EF4-FFF2-40B4-BE49-F238E27FC236}">
                <a16:creationId xmlns:a16="http://schemas.microsoft.com/office/drawing/2014/main" id="{9A3F81BA-9B22-4E7E-8AE4-5070417D4791}"/>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3161589" y="1583228"/>
            <a:ext cx="2016224" cy="2016224"/>
          </a:xfrm>
          <a:prstGeom prst="rect">
            <a:avLst/>
          </a:prstGeom>
          <a:noFill/>
          <a:extLst>
            <a:ext uri="{909E8E84-426E-40DD-AFC4-6F175D3DCCD1}">
              <a14:hiddenFill xmlns:a14="http://schemas.microsoft.com/office/drawing/2010/main">
                <a:solidFill>
                  <a:srgbClr val="FFFFFF"/>
                </a:solidFill>
              </a14:hiddenFill>
            </a:ext>
          </a:extLst>
        </p:spPr>
      </p:pic>
      <p:pic>
        <p:nvPicPr>
          <p:cNvPr id="7" name="Grafik 6">
            <a:extLst>
              <a:ext uri="{FF2B5EF4-FFF2-40B4-BE49-F238E27FC236}">
                <a16:creationId xmlns:a16="http://schemas.microsoft.com/office/drawing/2014/main" id="{788E7CA7-44B3-4A3C-B6A8-29DE2555DD6F}"/>
              </a:ext>
            </a:extLst>
          </p:cNvPr>
          <p:cNvPicPr>
            <a:picLocks noChangeAspect="1"/>
          </p:cNvPicPr>
          <p:nvPr/>
        </p:nvPicPr>
        <p:blipFill>
          <a:blip r:embed="rId5"/>
          <a:stretch>
            <a:fillRect/>
          </a:stretch>
        </p:blipFill>
        <p:spPr>
          <a:xfrm>
            <a:off x="611560" y="4005064"/>
            <a:ext cx="7380312" cy="906107"/>
          </a:xfrm>
          <a:prstGeom prst="rect">
            <a:avLst/>
          </a:prstGeom>
        </p:spPr>
      </p:pic>
      <p:pic>
        <p:nvPicPr>
          <p:cNvPr id="9" name="Grafik 8">
            <a:extLst>
              <a:ext uri="{FF2B5EF4-FFF2-40B4-BE49-F238E27FC236}">
                <a16:creationId xmlns:a16="http://schemas.microsoft.com/office/drawing/2014/main" id="{0D34D4C2-2793-41E8-98C7-CF2F337D6A7D}"/>
              </a:ext>
            </a:extLst>
          </p:cNvPr>
          <p:cNvPicPr>
            <a:picLocks noChangeAspect="1"/>
          </p:cNvPicPr>
          <p:nvPr/>
        </p:nvPicPr>
        <p:blipFill>
          <a:blip r:embed="rId6"/>
          <a:stretch>
            <a:fillRect/>
          </a:stretch>
        </p:blipFill>
        <p:spPr>
          <a:xfrm>
            <a:off x="2084231" y="4946847"/>
            <a:ext cx="2217485" cy="1841272"/>
          </a:xfrm>
          <a:prstGeom prst="rect">
            <a:avLst/>
          </a:prstGeom>
        </p:spPr>
      </p:pic>
      <p:pic>
        <p:nvPicPr>
          <p:cNvPr id="11" name="Grafik 10">
            <a:extLst>
              <a:ext uri="{FF2B5EF4-FFF2-40B4-BE49-F238E27FC236}">
                <a16:creationId xmlns:a16="http://schemas.microsoft.com/office/drawing/2014/main" id="{7EA88079-226F-4F52-B2C7-001C9285E419}"/>
              </a:ext>
            </a:extLst>
          </p:cNvPr>
          <p:cNvPicPr>
            <a:picLocks noChangeAspect="1"/>
          </p:cNvPicPr>
          <p:nvPr/>
        </p:nvPicPr>
        <p:blipFill>
          <a:blip r:embed="rId7"/>
          <a:stretch>
            <a:fillRect/>
          </a:stretch>
        </p:blipFill>
        <p:spPr>
          <a:xfrm>
            <a:off x="4842286" y="5002316"/>
            <a:ext cx="1529914" cy="1860286"/>
          </a:xfrm>
          <a:prstGeom prst="rect">
            <a:avLst/>
          </a:prstGeom>
        </p:spPr>
      </p:pic>
    </p:spTree>
    <p:extLst>
      <p:ext uri="{BB962C8B-B14F-4D97-AF65-F5344CB8AC3E}">
        <p14:creationId xmlns:p14="http://schemas.microsoft.com/office/powerpoint/2010/main" val="1402304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a:spLocks noGrp="1"/>
          </p:cNvSpPr>
          <p:nvPr>
            <p:ph type="sldNum" sz="quarter" idx="12"/>
          </p:nvPr>
        </p:nvSpPr>
        <p:spPr/>
        <p:txBody>
          <a:bodyPr/>
          <a:lstStyle/>
          <a:p>
            <a:fld id="{A5823FCF-A4B4-4DCB-965F-A6108C96896B}" type="slidenum">
              <a:rPr lang="de-DE" smtClean="0"/>
              <a:pPr/>
              <a:t>29</a:t>
            </a:fld>
            <a:endParaRPr lang="de-DE"/>
          </a:p>
        </p:txBody>
      </p:sp>
      <p:sp>
        <p:nvSpPr>
          <p:cNvPr id="463874" name="Rectangle 2"/>
          <p:cNvSpPr>
            <a:spLocks noGrp="1" noChangeArrowheads="1"/>
          </p:cNvSpPr>
          <p:nvPr>
            <p:ph type="title"/>
          </p:nvPr>
        </p:nvSpPr>
        <p:spPr/>
        <p:txBody>
          <a:bodyPr/>
          <a:lstStyle/>
          <a:p>
            <a:r>
              <a:rPr lang="de-DE" sz="3600" dirty="0"/>
              <a:t>Dijkstra-Algorithmus</a:t>
            </a:r>
            <a:endParaRPr lang="de-DE" dirty="0"/>
          </a:p>
        </p:txBody>
      </p:sp>
      <p:sp>
        <p:nvSpPr>
          <p:cNvPr id="463875" name="Text Box 3"/>
          <p:cNvSpPr txBox="1">
            <a:spLocks noChangeArrowheads="1"/>
          </p:cNvSpPr>
          <p:nvPr/>
        </p:nvSpPr>
        <p:spPr bwMode="auto">
          <a:xfrm>
            <a:off x="1141413" y="1458913"/>
            <a:ext cx="7669279" cy="47089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000" dirty="0">
                <a:latin typeface="Arial" charset="0"/>
              </a:rPr>
              <a:t>1  </a:t>
            </a:r>
            <a:r>
              <a:rPr lang="de-DE" sz="2000" b="1" i="1" dirty="0">
                <a:latin typeface="Arial" charset="0"/>
              </a:rPr>
              <a:t>Initialisiere:</a:t>
            </a:r>
            <a:r>
              <a:rPr lang="de-DE" sz="2000" dirty="0">
                <a:latin typeface="Arial" charset="0"/>
              </a:rPr>
              <a:t> </a:t>
            </a:r>
          </a:p>
          <a:p>
            <a:r>
              <a:rPr lang="de-DE" sz="2000" dirty="0">
                <a:latin typeface="Arial" charset="0"/>
              </a:rPr>
              <a:t>2    N</a:t>
            </a:r>
            <a:r>
              <a:rPr lang="de-DE" sz="2000" dirty="0">
                <a:latin typeface="Arial" charset="0"/>
                <a:cs typeface="Arial" charset="0"/>
              </a:rPr>
              <a:t>'</a:t>
            </a:r>
            <a:r>
              <a:rPr lang="de-DE" sz="2000" dirty="0">
                <a:latin typeface="Arial" charset="0"/>
              </a:rPr>
              <a:t> = {</a:t>
            </a:r>
            <a:r>
              <a:rPr lang="de-DE" sz="2000" b="1" dirty="0">
                <a:solidFill>
                  <a:srgbClr val="FF0000"/>
                </a:solidFill>
                <a:latin typeface="Arial" charset="0"/>
              </a:rPr>
              <a:t>u</a:t>
            </a:r>
            <a:r>
              <a:rPr lang="de-DE" sz="2000" dirty="0">
                <a:latin typeface="Arial" charset="0"/>
              </a:rPr>
              <a:t>}     (</a:t>
            </a:r>
            <a:r>
              <a:rPr lang="de-DE" sz="2000" b="1" dirty="0">
                <a:solidFill>
                  <a:srgbClr val="FF0000"/>
                </a:solidFill>
                <a:latin typeface="Arial" charset="0"/>
              </a:rPr>
              <a:t>u</a:t>
            </a:r>
            <a:r>
              <a:rPr lang="de-DE" sz="2000" dirty="0">
                <a:latin typeface="Arial" charset="0"/>
              </a:rPr>
              <a:t> ist Quellknoten)</a:t>
            </a:r>
          </a:p>
          <a:p>
            <a:r>
              <a:rPr lang="de-DE" sz="2000" dirty="0">
                <a:latin typeface="Arial" charset="0"/>
              </a:rPr>
              <a:t>3    für alle Knoten v aus N </a:t>
            </a:r>
          </a:p>
          <a:p>
            <a:r>
              <a:rPr lang="de-DE" sz="2000" dirty="0">
                <a:latin typeface="Arial" charset="0"/>
              </a:rPr>
              <a:t>4      </a:t>
            </a:r>
            <a:r>
              <a:rPr lang="de-DE" sz="2000" dirty="0" err="1">
                <a:solidFill>
                  <a:srgbClr val="0070C0"/>
                </a:solidFill>
                <a:latin typeface="Arial" charset="0"/>
              </a:rPr>
              <a:t>if</a:t>
            </a:r>
            <a:r>
              <a:rPr lang="de-DE" sz="2000" dirty="0">
                <a:latin typeface="Arial" charset="0"/>
              </a:rPr>
              <a:t> v ist ein Nachbar von </a:t>
            </a:r>
            <a:r>
              <a:rPr lang="de-DE" sz="2000" b="1" dirty="0">
                <a:solidFill>
                  <a:srgbClr val="FF0000"/>
                </a:solidFill>
                <a:latin typeface="Arial" charset="0"/>
              </a:rPr>
              <a:t>u</a:t>
            </a:r>
            <a:r>
              <a:rPr lang="de-DE" sz="2000" dirty="0">
                <a:latin typeface="Arial" charset="0"/>
              </a:rPr>
              <a:t> :</a:t>
            </a:r>
          </a:p>
          <a:p>
            <a:r>
              <a:rPr lang="de-DE" sz="2000" dirty="0">
                <a:latin typeface="Arial" charset="0"/>
              </a:rPr>
              <a:t>5      </a:t>
            </a:r>
            <a:r>
              <a:rPr lang="de-DE" sz="2000" dirty="0" err="1">
                <a:solidFill>
                  <a:srgbClr val="0070C0"/>
                </a:solidFill>
                <a:latin typeface="Arial" charset="0"/>
              </a:rPr>
              <a:t>then</a:t>
            </a:r>
            <a:r>
              <a:rPr lang="de-DE" sz="2000" dirty="0">
                <a:latin typeface="Arial" charset="0"/>
              </a:rPr>
              <a:t> D(v) = c(</a:t>
            </a:r>
            <a:r>
              <a:rPr lang="de-DE" sz="2000" b="1" dirty="0" err="1">
                <a:solidFill>
                  <a:srgbClr val="FF0000"/>
                </a:solidFill>
                <a:latin typeface="Arial" charset="0"/>
              </a:rPr>
              <a:t>u</a:t>
            </a:r>
            <a:r>
              <a:rPr lang="de-DE" sz="2000" dirty="0" err="1">
                <a:latin typeface="Arial" charset="0"/>
              </a:rPr>
              <a:t>,v</a:t>
            </a:r>
            <a:r>
              <a:rPr lang="de-DE" sz="2000" dirty="0">
                <a:latin typeface="Arial" charset="0"/>
              </a:rPr>
              <a:t>) </a:t>
            </a:r>
          </a:p>
          <a:p>
            <a:r>
              <a:rPr lang="de-DE" sz="2000" dirty="0">
                <a:latin typeface="Arial" charset="0"/>
              </a:rPr>
              <a:t>6      </a:t>
            </a:r>
            <a:r>
              <a:rPr lang="de-DE" sz="2000" dirty="0" err="1">
                <a:solidFill>
                  <a:srgbClr val="0070C0"/>
                </a:solidFill>
                <a:latin typeface="Arial" charset="0"/>
              </a:rPr>
              <a:t>else</a:t>
            </a:r>
            <a:r>
              <a:rPr lang="de-DE" sz="2000" dirty="0">
                <a:latin typeface="Arial" charset="0"/>
              </a:rPr>
              <a:t> D(v) = </a:t>
            </a:r>
            <a:r>
              <a:rPr lang="de-DE" sz="2000" dirty="0">
                <a:latin typeface="Arial" charset="0"/>
                <a:cs typeface="Arial" charset="0"/>
              </a:rPr>
              <a:t>∞</a:t>
            </a:r>
            <a:r>
              <a:rPr lang="de-DE" sz="2000" dirty="0">
                <a:latin typeface="Arial" charset="0"/>
              </a:rPr>
              <a:t> </a:t>
            </a:r>
          </a:p>
          <a:p>
            <a:r>
              <a:rPr lang="de-DE" sz="2000" dirty="0">
                <a:latin typeface="Arial" charset="0"/>
              </a:rPr>
              <a:t>7 </a:t>
            </a:r>
          </a:p>
          <a:p>
            <a:r>
              <a:rPr lang="de-DE" sz="2000" dirty="0">
                <a:latin typeface="Arial" charset="0"/>
              </a:rPr>
              <a:t>8   </a:t>
            </a:r>
            <a:r>
              <a:rPr lang="de-DE" sz="2000" b="1" i="1" dirty="0">
                <a:latin typeface="Arial" charset="0"/>
              </a:rPr>
              <a:t>Wiederhole:</a:t>
            </a:r>
            <a:r>
              <a:rPr lang="de-DE" sz="2000" i="1" dirty="0">
                <a:latin typeface="Arial" charset="0"/>
              </a:rPr>
              <a:t> </a:t>
            </a:r>
            <a:endParaRPr lang="de-DE" sz="2000" dirty="0">
              <a:latin typeface="Arial" charset="0"/>
            </a:endParaRPr>
          </a:p>
          <a:p>
            <a:r>
              <a:rPr lang="de-DE" sz="2000" dirty="0">
                <a:latin typeface="Arial" charset="0"/>
              </a:rPr>
              <a:t>9     finde ein</a:t>
            </a:r>
            <a:r>
              <a:rPr lang="de-DE" sz="2000" dirty="0">
                <a:solidFill>
                  <a:srgbClr val="7030A0"/>
                </a:solidFill>
                <a:latin typeface="Arial" charset="0"/>
              </a:rPr>
              <a:t> w </a:t>
            </a:r>
            <a:r>
              <a:rPr lang="de-DE" sz="2000" dirty="0">
                <a:latin typeface="Arial" charset="0"/>
                <a:sym typeface="Symbol"/>
              </a:rPr>
              <a:t> </a:t>
            </a:r>
            <a:r>
              <a:rPr lang="de-DE" sz="2000" dirty="0">
                <a:latin typeface="Arial" charset="0"/>
              </a:rPr>
              <a:t>N</a:t>
            </a:r>
            <a:r>
              <a:rPr lang="de-DE" sz="2000" dirty="0">
                <a:latin typeface="Arial" charset="0"/>
                <a:cs typeface="Arial" charset="0"/>
              </a:rPr>
              <a:t>'</a:t>
            </a:r>
            <a:r>
              <a:rPr lang="de-DE" sz="2000" dirty="0">
                <a:latin typeface="Arial" charset="0"/>
              </a:rPr>
              <a:t>, so dass D(</a:t>
            </a:r>
            <a:r>
              <a:rPr lang="de-DE" sz="2000" dirty="0">
                <a:solidFill>
                  <a:srgbClr val="7030A0"/>
                </a:solidFill>
                <a:latin typeface="Arial" charset="0"/>
              </a:rPr>
              <a:t>w</a:t>
            </a:r>
            <a:r>
              <a:rPr lang="de-DE" sz="2000" dirty="0">
                <a:latin typeface="Arial" charset="0"/>
              </a:rPr>
              <a:t>) </a:t>
            </a:r>
            <a:r>
              <a:rPr lang="de-DE" sz="2000" u="sng" dirty="0">
                <a:latin typeface="Arial" charset="0"/>
              </a:rPr>
              <a:t>minimal</a:t>
            </a:r>
            <a:r>
              <a:rPr lang="de-DE" sz="2000" dirty="0">
                <a:latin typeface="Arial" charset="0"/>
              </a:rPr>
              <a:t> ist </a:t>
            </a:r>
          </a:p>
          <a:p>
            <a:r>
              <a:rPr lang="de-DE" sz="2000" dirty="0">
                <a:latin typeface="Arial" charset="0"/>
              </a:rPr>
              <a:t>10   füge </a:t>
            </a:r>
            <a:r>
              <a:rPr lang="de-DE" sz="2000" dirty="0">
                <a:solidFill>
                  <a:srgbClr val="7030A0"/>
                </a:solidFill>
                <a:latin typeface="Arial" charset="0"/>
              </a:rPr>
              <a:t>w</a:t>
            </a:r>
            <a:r>
              <a:rPr lang="de-DE" sz="2000" dirty="0">
                <a:latin typeface="Arial" charset="0"/>
              </a:rPr>
              <a:t> zu N</a:t>
            </a:r>
            <a:r>
              <a:rPr lang="de-DE" sz="2000" dirty="0">
                <a:latin typeface="Arial" charset="0"/>
                <a:cs typeface="Arial" charset="0"/>
              </a:rPr>
              <a:t>' hinzu</a:t>
            </a:r>
            <a:r>
              <a:rPr lang="de-DE" sz="2000" dirty="0">
                <a:latin typeface="Arial" charset="0"/>
              </a:rPr>
              <a:t> </a:t>
            </a:r>
          </a:p>
          <a:p>
            <a:r>
              <a:rPr lang="de-DE" sz="2000" dirty="0">
                <a:latin typeface="Arial" charset="0"/>
              </a:rPr>
              <a:t>11   Berechne </a:t>
            </a:r>
            <a:r>
              <a:rPr lang="de-DE" sz="2000" dirty="0">
                <a:solidFill>
                  <a:srgbClr val="0070C0"/>
                </a:solidFill>
                <a:latin typeface="Arial" charset="0"/>
              </a:rPr>
              <a:t>D(v), p(v) </a:t>
            </a:r>
            <a:r>
              <a:rPr lang="de-DE" sz="2000" dirty="0">
                <a:latin typeface="Arial" charset="0"/>
              </a:rPr>
              <a:t>neu </a:t>
            </a:r>
            <a:r>
              <a:rPr lang="de-DE" sz="2000" u="sng" dirty="0">
                <a:latin typeface="Arial" charset="0"/>
              </a:rPr>
              <a:t>für alle Nachbarn v von </a:t>
            </a:r>
            <a:r>
              <a:rPr lang="de-DE" sz="2000" u="sng" dirty="0">
                <a:solidFill>
                  <a:srgbClr val="7030A0"/>
                </a:solidFill>
                <a:latin typeface="Arial" charset="0"/>
              </a:rPr>
              <a:t>w </a:t>
            </a:r>
            <a:r>
              <a:rPr lang="de-DE" sz="2000" u="sng" dirty="0">
                <a:latin typeface="Arial" charset="0"/>
              </a:rPr>
              <a:t>mit v </a:t>
            </a:r>
            <a:r>
              <a:rPr lang="de-DE" sz="2000" u="sng" dirty="0">
                <a:latin typeface="Arial" charset="0"/>
                <a:sym typeface="Symbol"/>
              </a:rPr>
              <a:t> </a:t>
            </a:r>
            <a:r>
              <a:rPr lang="de-DE" sz="2000" u="sng" dirty="0">
                <a:latin typeface="Arial" charset="0"/>
              </a:rPr>
              <a:t>N</a:t>
            </a:r>
            <a:r>
              <a:rPr lang="de-DE" sz="2000" u="sng" dirty="0">
                <a:latin typeface="Arial" charset="0"/>
                <a:cs typeface="Arial" charset="0"/>
              </a:rPr>
              <a:t>'</a:t>
            </a:r>
            <a:r>
              <a:rPr lang="de-DE" sz="2000" u="sng" dirty="0">
                <a:latin typeface="Arial" charset="0"/>
              </a:rPr>
              <a:t>: </a:t>
            </a:r>
          </a:p>
          <a:p>
            <a:r>
              <a:rPr lang="de-DE" sz="2000" dirty="0">
                <a:latin typeface="Arial" charset="0"/>
              </a:rPr>
              <a:t>12       </a:t>
            </a:r>
            <a:r>
              <a:rPr lang="de-DE" sz="2000" dirty="0">
                <a:solidFill>
                  <a:srgbClr val="0070C0"/>
                </a:solidFill>
                <a:latin typeface="Arial" charset="0"/>
              </a:rPr>
              <a:t>D(v) = </a:t>
            </a:r>
            <a:r>
              <a:rPr lang="de-DE" sz="2000" dirty="0">
                <a:solidFill>
                  <a:srgbClr val="FF0000"/>
                </a:solidFill>
                <a:latin typeface="Arial" charset="0"/>
              </a:rPr>
              <a:t>min( D(v), D(</a:t>
            </a:r>
            <a:r>
              <a:rPr lang="de-DE" sz="2000" dirty="0">
                <a:solidFill>
                  <a:srgbClr val="7030A0"/>
                </a:solidFill>
                <a:latin typeface="Arial" charset="0"/>
              </a:rPr>
              <a:t>w</a:t>
            </a:r>
            <a:r>
              <a:rPr lang="de-DE" sz="2000" dirty="0">
                <a:solidFill>
                  <a:srgbClr val="FF0000"/>
                </a:solidFill>
                <a:latin typeface="Arial" charset="0"/>
              </a:rPr>
              <a:t>) + c(</a:t>
            </a:r>
            <a:r>
              <a:rPr lang="de-DE" sz="2000" dirty="0" err="1">
                <a:solidFill>
                  <a:srgbClr val="7030A0"/>
                </a:solidFill>
                <a:latin typeface="Arial" charset="0"/>
              </a:rPr>
              <a:t>w</a:t>
            </a:r>
            <a:r>
              <a:rPr lang="de-DE" sz="2000" dirty="0" err="1">
                <a:solidFill>
                  <a:srgbClr val="FF0000"/>
                </a:solidFill>
                <a:latin typeface="Arial" charset="0"/>
              </a:rPr>
              <a:t>,v</a:t>
            </a:r>
            <a:r>
              <a:rPr lang="de-DE" sz="2000" dirty="0">
                <a:solidFill>
                  <a:srgbClr val="FF0000"/>
                </a:solidFill>
                <a:latin typeface="Arial" charset="0"/>
              </a:rPr>
              <a:t>) ) </a:t>
            </a:r>
          </a:p>
          <a:p>
            <a:r>
              <a:rPr lang="de-DE" sz="2000" dirty="0">
                <a:latin typeface="Arial" charset="0"/>
              </a:rPr>
              <a:t>13    /* </a:t>
            </a:r>
            <a:r>
              <a:rPr lang="de-DE" sz="2000" dirty="0"/>
              <a:t>die neuen Kosten nach v sind entweder die alten Kosten</a:t>
            </a:r>
          </a:p>
          <a:p>
            <a:r>
              <a:rPr lang="de-DE" sz="2000" dirty="0"/>
              <a:t>14 	oder die Kosten nach w plus die Kosten von w nach v*/</a:t>
            </a:r>
            <a:r>
              <a:rPr lang="de-DE" sz="2000" dirty="0">
                <a:latin typeface="Arial" charset="0"/>
              </a:rPr>
              <a:t> </a:t>
            </a:r>
          </a:p>
          <a:p>
            <a:r>
              <a:rPr lang="de-DE" sz="2000" dirty="0">
                <a:latin typeface="Arial" charset="0"/>
              </a:rPr>
              <a:t>15  </a:t>
            </a:r>
            <a:r>
              <a:rPr lang="de-DE" sz="2000" b="1" i="1" dirty="0">
                <a:latin typeface="Arial" charset="0"/>
              </a:rPr>
              <a:t>bis alle Knoten in N</a:t>
            </a:r>
            <a:r>
              <a:rPr lang="de-DE" sz="2000" b="1" i="1" dirty="0">
                <a:latin typeface="Arial" charset="0"/>
                <a:cs typeface="Arial" charset="0"/>
              </a:rPr>
              <a:t>'</a:t>
            </a:r>
            <a:r>
              <a:rPr lang="de-DE" sz="2000" dirty="0">
                <a:latin typeface="Arial" charset="0"/>
              </a:rPr>
              <a:t> </a:t>
            </a:r>
            <a:r>
              <a:rPr lang="de-DE" sz="2000" b="1" i="1" dirty="0">
                <a:latin typeface="Arial" charset="0"/>
              </a:rPr>
              <a:t>sind</a:t>
            </a:r>
          </a:p>
        </p:txBody>
      </p:sp>
      <p:sp>
        <p:nvSpPr>
          <p:cNvPr id="463876" name="Freeform 4"/>
          <p:cNvSpPr>
            <a:spLocks/>
          </p:cNvSpPr>
          <p:nvPr/>
        </p:nvSpPr>
        <p:spPr bwMode="auto">
          <a:xfrm>
            <a:off x="600075" y="3543300"/>
            <a:ext cx="800100" cy="2886075"/>
          </a:xfrm>
          <a:custGeom>
            <a:avLst/>
            <a:gdLst>
              <a:gd name="T0" fmla="*/ 504 w 504"/>
              <a:gd name="T1" fmla="*/ 1596 h 1818"/>
              <a:gd name="T2" fmla="*/ 120 w 504"/>
              <a:gd name="T3" fmla="*/ 1602 h 1818"/>
              <a:gd name="T4" fmla="*/ 90 w 504"/>
              <a:gd name="T5" fmla="*/ 192 h 1818"/>
              <a:gd name="T6" fmla="*/ 396 w 504"/>
              <a:gd name="T7" fmla="*/ 144 h 1818"/>
            </a:gdLst>
            <a:ahLst/>
            <a:cxnLst>
              <a:cxn ang="0">
                <a:pos x="T0" y="T1"/>
              </a:cxn>
              <a:cxn ang="0">
                <a:pos x="T2" y="T3"/>
              </a:cxn>
              <a:cxn ang="0">
                <a:pos x="T4" y="T5"/>
              </a:cxn>
              <a:cxn ang="0">
                <a:pos x="T6" y="T7"/>
              </a:cxn>
            </a:cxnLst>
            <a:rect l="0" t="0" r="r" b="b"/>
            <a:pathLst>
              <a:path w="504" h="1818">
                <a:moveTo>
                  <a:pt x="504" y="1596"/>
                </a:moveTo>
                <a:cubicBezTo>
                  <a:pt x="444" y="1728"/>
                  <a:pt x="240" y="1818"/>
                  <a:pt x="120" y="1602"/>
                </a:cubicBezTo>
                <a:cubicBezTo>
                  <a:pt x="0" y="1386"/>
                  <a:pt x="48" y="444"/>
                  <a:pt x="90" y="192"/>
                </a:cubicBezTo>
                <a:cubicBezTo>
                  <a:pt x="162" y="0"/>
                  <a:pt x="294" y="84"/>
                  <a:pt x="396" y="144"/>
                </a:cubicBezTo>
              </a:path>
            </a:pathLst>
          </a:custGeom>
          <a:noFill/>
          <a:ln w="28575" cap="flat" cmpd="sng">
            <a:solidFill>
              <a:schemeClr val="accent2"/>
            </a:solidFill>
            <a:prstDash val="solid"/>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7" name="Textfeld 6"/>
          <p:cNvSpPr txBox="1"/>
          <p:nvPr/>
        </p:nvSpPr>
        <p:spPr>
          <a:xfrm>
            <a:off x="5796136" y="1484784"/>
            <a:ext cx="2884123" cy="400110"/>
          </a:xfrm>
          <a:prstGeom prst="rect">
            <a:avLst/>
          </a:prstGeom>
          <a:noFill/>
        </p:spPr>
        <p:txBody>
          <a:bodyPr wrap="none" rtlCol="0">
            <a:spAutoFit/>
          </a:bodyPr>
          <a:lstStyle/>
          <a:p>
            <a:r>
              <a:rPr lang="de-DE" sz="2000" dirty="0"/>
              <a:t>N = Menge aller Knoten</a:t>
            </a:r>
          </a:p>
        </p:txBody>
      </p:sp>
    </p:spTree>
    <p:extLst>
      <p:ext uri="{BB962C8B-B14F-4D97-AF65-F5344CB8AC3E}">
        <p14:creationId xmlns:p14="http://schemas.microsoft.com/office/powerpoint/2010/main" val="31976210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Slide Number Placeholder 4"/>
          <p:cNvSpPr>
            <a:spLocks noGrp="1"/>
          </p:cNvSpPr>
          <p:nvPr>
            <p:ph type="sldNum" sz="quarter" idx="12"/>
          </p:nvPr>
        </p:nvSpPr>
        <p:spPr/>
        <p:txBody>
          <a:bodyPr/>
          <a:lstStyle/>
          <a:p>
            <a:fld id="{217C0808-8890-457D-A5BB-593028BD2895}" type="slidenum">
              <a:rPr lang="en-US" smtClean="0"/>
              <a:pPr/>
              <a:t>30</a:t>
            </a:fld>
            <a:endParaRPr lang="en-US" dirty="0"/>
          </a:p>
        </p:txBody>
      </p:sp>
      <p:sp>
        <p:nvSpPr>
          <p:cNvPr id="464898" name="Rectangle 2"/>
          <p:cNvSpPr>
            <a:spLocks noGrp="1" noChangeArrowheads="1"/>
          </p:cNvSpPr>
          <p:nvPr>
            <p:ph type="title"/>
          </p:nvPr>
        </p:nvSpPr>
        <p:spPr/>
        <p:txBody>
          <a:bodyPr/>
          <a:lstStyle/>
          <a:p>
            <a:r>
              <a:rPr lang="de-DE" sz="3600" dirty="0"/>
              <a:t>Dijkstra-Algorithmus: Beispiel</a:t>
            </a:r>
            <a:endParaRPr lang="en-US" dirty="0"/>
          </a:p>
        </p:txBody>
      </p:sp>
      <p:sp>
        <p:nvSpPr>
          <p:cNvPr id="464899" name="Text Box 3"/>
          <p:cNvSpPr txBox="1">
            <a:spLocks noChangeArrowheads="1"/>
          </p:cNvSpPr>
          <p:nvPr/>
        </p:nvSpPr>
        <p:spPr bwMode="auto">
          <a:xfrm>
            <a:off x="239713" y="1506538"/>
            <a:ext cx="706437" cy="2225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a:latin typeface="Arial" charset="0"/>
              </a:rPr>
              <a:t>Step</a:t>
            </a:r>
          </a:p>
          <a:p>
            <a:pPr algn="r"/>
            <a:r>
              <a:rPr lang="en-US" sz="2000">
                <a:latin typeface="Arial" charset="0"/>
              </a:rPr>
              <a:t>0</a:t>
            </a:r>
          </a:p>
          <a:p>
            <a:pPr algn="r"/>
            <a:r>
              <a:rPr lang="en-US" sz="2000">
                <a:latin typeface="Arial" charset="0"/>
              </a:rPr>
              <a:t>1</a:t>
            </a:r>
          </a:p>
          <a:p>
            <a:pPr algn="r"/>
            <a:r>
              <a:rPr lang="en-US" sz="2000">
                <a:latin typeface="Arial" charset="0"/>
              </a:rPr>
              <a:t>2</a:t>
            </a:r>
          </a:p>
          <a:p>
            <a:pPr algn="r"/>
            <a:r>
              <a:rPr lang="en-US" sz="2000">
                <a:latin typeface="Arial" charset="0"/>
              </a:rPr>
              <a:t>3</a:t>
            </a:r>
          </a:p>
          <a:p>
            <a:pPr algn="r"/>
            <a:r>
              <a:rPr lang="en-US" sz="2000">
                <a:latin typeface="Arial" charset="0"/>
              </a:rPr>
              <a:t>4</a:t>
            </a:r>
          </a:p>
          <a:p>
            <a:pPr algn="r"/>
            <a:r>
              <a:rPr lang="en-US" sz="2000">
                <a:latin typeface="Arial" charset="0"/>
              </a:rPr>
              <a:t>5</a:t>
            </a:r>
          </a:p>
        </p:txBody>
      </p:sp>
      <p:sp>
        <p:nvSpPr>
          <p:cNvPr id="464900" name="Text Box 4"/>
          <p:cNvSpPr txBox="1">
            <a:spLocks noChangeArrowheads="1"/>
          </p:cNvSpPr>
          <p:nvPr/>
        </p:nvSpPr>
        <p:spPr bwMode="auto">
          <a:xfrm>
            <a:off x="1252538" y="1516063"/>
            <a:ext cx="1017587" cy="2225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dirty="0">
                <a:latin typeface="Arial" charset="0"/>
              </a:rPr>
              <a:t>N</a:t>
            </a:r>
            <a:r>
              <a:rPr lang="en-US" sz="2000" dirty="0">
                <a:latin typeface="Arial" charset="0"/>
                <a:cs typeface="Arial" charset="0"/>
              </a:rPr>
              <a:t>'</a:t>
            </a:r>
          </a:p>
          <a:p>
            <a:pPr algn="r"/>
            <a:r>
              <a:rPr lang="en-US" sz="2000" dirty="0">
                <a:latin typeface="Arial" charset="0"/>
              </a:rPr>
              <a:t>u</a:t>
            </a:r>
          </a:p>
          <a:p>
            <a:pPr algn="r"/>
            <a:r>
              <a:rPr lang="en-US" sz="2000" dirty="0" err="1">
                <a:latin typeface="Arial" charset="0"/>
              </a:rPr>
              <a:t>ux</a:t>
            </a:r>
            <a:endParaRPr lang="en-US" sz="2000" dirty="0">
              <a:latin typeface="Arial" charset="0"/>
            </a:endParaRPr>
          </a:p>
          <a:p>
            <a:pPr algn="r"/>
            <a:r>
              <a:rPr lang="en-US" sz="2000" dirty="0" err="1">
                <a:latin typeface="Arial" charset="0"/>
              </a:rPr>
              <a:t>uxy</a:t>
            </a:r>
            <a:endParaRPr lang="en-US" sz="2000" dirty="0">
              <a:latin typeface="Arial" charset="0"/>
            </a:endParaRPr>
          </a:p>
          <a:p>
            <a:pPr algn="r"/>
            <a:r>
              <a:rPr lang="en-US" sz="2000" dirty="0" err="1">
                <a:latin typeface="Arial" charset="0"/>
              </a:rPr>
              <a:t>uxyv</a:t>
            </a:r>
            <a:endParaRPr lang="en-US" sz="2000" dirty="0">
              <a:latin typeface="Arial" charset="0"/>
            </a:endParaRPr>
          </a:p>
          <a:p>
            <a:pPr algn="r"/>
            <a:r>
              <a:rPr lang="en-US" sz="2000" dirty="0" err="1">
                <a:latin typeface="Arial" charset="0"/>
              </a:rPr>
              <a:t>uxyvw</a:t>
            </a:r>
            <a:endParaRPr lang="en-US" sz="2000" dirty="0">
              <a:latin typeface="Arial" charset="0"/>
            </a:endParaRPr>
          </a:p>
          <a:p>
            <a:pPr algn="r"/>
            <a:r>
              <a:rPr lang="en-US" sz="2000" dirty="0" err="1">
                <a:latin typeface="Arial" charset="0"/>
              </a:rPr>
              <a:t>uxyvwz</a:t>
            </a:r>
            <a:endParaRPr lang="en-US" sz="2000" dirty="0">
              <a:latin typeface="Arial" charset="0"/>
            </a:endParaRPr>
          </a:p>
        </p:txBody>
      </p:sp>
      <p:sp>
        <p:nvSpPr>
          <p:cNvPr id="464901" name="Text Box 5"/>
          <p:cNvSpPr txBox="1">
            <a:spLocks noChangeArrowheads="1"/>
          </p:cNvSpPr>
          <p:nvPr/>
        </p:nvSpPr>
        <p:spPr bwMode="auto">
          <a:xfrm>
            <a:off x="2500313" y="1497013"/>
            <a:ext cx="1169987" cy="13112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a:latin typeface="Arial" charset="0"/>
              </a:rPr>
              <a:t>D(v),p(v)</a:t>
            </a:r>
          </a:p>
          <a:p>
            <a:pPr algn="r"/>
            <a:r>
              <a:rPr lang="en-US" sz="2000">
                <a:latin typeface="Arial" charset="0"/>
              </a:rPr>
              <a:t>2,u</a:t>
            </a:r>
          </a:p>
          <a:p>
            <a:pPr algn="r"/>
            <a:r>
              <a:rPr lang="en-US" sz="2000">
                <a:latin typeface="Arial" charset="0"/>
              </a:rPr>
              <a:t>2,u</a:t>
            </a:r>
          </a:p>
          <a:p>
            <a:pPr algn="r"/>
            <a:r>
              <a:rPr lang="en-US" sz="2000">
                <a:latin typeface="Arial" charset="0"/>
              </a:rPr>
              <a:t>2,u</a:t>
            </a:r>
          </a:p>
        </p:txBody>
      </p:sp>
      <p:sp>
        <p:nvSpPr>
          <p:cNvPr id="464902" name="Text Box 6"/>
          <p:cNvSpPr txBox="1">
            <a:spLocks noChangeArrowheads="1"/>
          </p:cNvSpPr>
          <p:nvPr/>
        </p:nvSpPr>
        <p:spPr bwMode="auto">
          <a:xfrm>
            <a:off x="3667125" y="1501775"/>
            <a:ext cx="1284288" cy="16160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dirty="0">
                <a:latin typeface="Arial" charset="0"/>
              </a:rPr>
              <a:t>D(w),p(w)</a:t>
            </a:r>
          </a:p>
          <a:p>
            <a:pPr algn="r"/>
            <a:r>
              <a:rPr lang="en-US" sz="2000" dirty="0">
                <a:latin typeface="Arial" charset="0"/>
              </a:rPr>
              <a:t>5,u</a:t>
            </a:r>
          </a:p>
          <a:p>
            <a:pPr algn="r"/>
            <a:r>
              <a:rPr lang="en-US" sz="2000" b="1" dirty="0">
                <a:solidFill>
                  <a:srgbClr val="FF0000"/>
                </a:solidFill>
                <a:latin typeface="Arial" charset="0"/>
              </a:rPr>
              <a:t>4</a:t>
            </a:r>
            <a:r>
              <a:rPr lang="en-US" sz="2000" dirty="0">
                <a:latin typeface="Arial" charset="0"/>
              </a:rPr>
              <a:t>,x</a:t>
            </a:r>
          </a:p>
          <a:p>
            <a:pPr algn="r"/>
            <a:r>
              <a:rPr lang="en-US" sz="2000" dirty="0">
                <a:latin typeface="Arial" charset="0"/>
              </a:rPr>
              <a:t>3,y</a:t>
            </a:r>
          </a:p>
          <a:p>
            <a:pPr algn="r"/>
            <a:r>
              <a:rPr lang="en-US" sz="2000" dirty="0">
                <a:latin typeface="Arial" charset="0"/>
              </a:rPr>
              <a:t>3,y</a:t>
            </a:r>
          </a:p>
        </p:txBody>
      </p:sp>
      <p:sp>
        <p:nvSpPr>
          <p:cNvPr id="464903" name="Text Box 7"/>
          <p:cNvSpPr txBox="1">
            <a:spLocks noChangeArrowheads="1"/>
          </p:cNvSpPr>
          <p:nvPr/>
        </p:nvSpPr>
        <p:spPr bwMode="auto">
          <a:xfrm>
            <a:off x="5057775" y="1497013"/>
            <a:ext cx="1169988" cy="701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a:latin typeface="Arial" charset="0"/>
              </a:rPr>
              <a:t>D(x),p(x)</a:t>
            </a:r>
          </a:p>
          <a:p>
            <a:pPr algn="r"/>
            <a:r>
              <a:rPr lang="en-US" sz="2000">
                <a:latin typeface="Arial" charset="0"/>
              </a:rPr>
              <a:t>1,u</a:t>
            </a:r>
          </a:p>
        </p:txBody>
      </p:sp>
      <p:sp>
        <p:nvSpPr>
          <p:cNvPr id="464904" name="Text Box 8"/>
          <p:cNvSpPr txBox="1">
            <a:spLocks noChangeArrowheads="1"/>
          </p:cNvSpPr>
          <p:nvPr/>
        </p:nvSpPr>
        <p:spPr bwMode="auto">
          <a:xfrm>
            <a:off x="6353175" y="1501775"/>
            <a:ext cx="1169988" cy="10064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dirty="0">
                <a:latin typeface="Arial" charset="0"/>
              </a:rPr>
              <a:t>D(y),p(y)</a:t>
            </a:r>
          </a:p>
          <a:p>
            <a:pPr algn="r"/>
            <a:r>
              <a:rPr lang="en-US" sz="2000" dirty="0">
                <a:cs typeface="Arial" charset="0"/>
              </a:rPr>
              <a:t>∞</a:t>
            </a:r>
          </a:p>
          <a:p>
            <a:pPr algn="r"/>
            <a:r>
              <a:rPr lang="en-US" sz="2000" b="1" dirty="0">
                <a:solidFill>
                  <a:srgbClr val="FF0000"/>
                </a:solidFill>
                <a:latin typeface="Arial" charset="0"/>
              </a:rPr>
              <a:t>2</a:t>
            </a:r>
            <a:r>
              <a:rPr lang="en-US" sz="2000" dirty="0">
                <a:latin typeface="Arial" charset="0"/>
              </a:rPr>
              <a:t>,x</a:t>
            </a:r>
          </a:p>
        </p:txBody>
      </p:sp>
      <p:sp>
        <p:nvSpPr>
          <p:cNvPr id="464905" name="Text Box 9"/>
          <p:cNvSpPr txBox="1">
            <a:spLocks noChangeArrowheads="1"/>
          </p:cNvSpPr>
          <p:nvPr/>
        </p:nvSpPr>
        <p:spPr bwMode="auto">
          <a:xfrm>
            <a:off x="7605713" y="1516063"/>
            <a:ext cx="1169987" cy="1860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en-US" sz="2000">
                <a:latin typeface="Arial" charset="0"/>
              </a:rPr>
              <a:t>D(z),p(z)</a:t>
            </a:r>
          </a:p>
          <a:p>
            <a:pPr algn="r"/>
            <a:r>
              <a:rPr lang="en-US"/>
              <a:t>∞ </a:t>
            </a:r>
            <a:endParaRPr lang="en-US" sz="2000">
              <a:latin typeface="Arial" charset="0"/>
            </a:endParaRPr>
          </a:p>
          <a:p>
            <a:pPr algn="r"/>
            <a:r>
              <a:rPr lang="en-US"/>
              <a:t>∞ </a:t>
            </a:r>
            <a:endParaRPr lang="en-US" sz="2000">
              <a:latin typeface="Arial" charset="0"/>
            </a:endParaRPr>
          </a:p>
          <a:p>
            <a:pPr algn="r"/>
            <a:r>
              <a:rPr lang="en-US" sz="2000">
                <a:latin typeface="Arial" charset="0"/>
              </a:rPr>
              <a:t>4,y</a:t>
            </a:r>
          </a:p>
          <a:p>
            <a:pPr algn="r"/>
            <a:r>
              <a:rPr lang="en-US" sz="2000">
                <a:latin typeface="Arial" charset="0"/>
              </a:rPr>
              <a:t>4,y</a:t>
            </a:r>
          </a:p>
          <a:p>
            <a:pPr algn="r"/>
            <a:r>
              <a:rPr lang="en-US" sz="2000">
                <a:latin typeface="Arial" charset="0"/>
              </a:rPr>
              <a:t>4,y</a:t>
            </a:r>
          </a:p>
        </p:txBody>
      </p:sp>
      <p:sp>
        <p:nvSpPr>
          <p:cNvPr id="464906" name="Line 10"/>
          <p:cNvSpPr>
            <a:spLocks noChangeShapeType="1"/>
          </p:cNvSpPr>
          <p:nvPr/>
        </p:nvSpPr>
        <p:spPr bwMode="auto">
          <a:xfrm>
            <a:off x="361950" y="1857375"/>
            <a:ext cx="8505825" cy="9525"/>
          </a:xfrm>
          <a:prstGeom prst="line">
            <a:avLst/>
          </a:prstGeom>
          <a:noFill/>
          <a:ln w="2857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07" name="Line 11"/>
          <p:cNvSpPr>
            <a:spLocks noChangeShapeType="1"/>
          </p:cNvSpPr>
          <p:nvPr/>
        </p:nvSpPr>
        <p:spPr bwMode="auto">
          <a:xfrm>
            <a:off x="519113" y="2162175"/>
            <a:ext cx="8296275" cy="0"/>
          </a:xfrm>
          <a:prstGeom prst="line">
            <a:avLst/>
          </a:prstGeom>
          <a:noFill/>
          <a:ln w="1905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08" name="Line 12"/>
          <p:cNvSpPr>
            <a:spLocks noChangeShapeType="1"/>
          </p:cNvSpPr>
          <p:nvPr/>
        </p:nvSpPr>
        <p:spPr bwMode="auto">
          <a:xfrm>
            <a:off x="538163" y="2457450"/>
            <a:ext cx="8267700" cy="4763"/>
          </a:xfrm>
          <a:prstGeom prst="line">
            <a:avLst/>
          </a:prstGeom>
          <a:noFill/>
          <a:ln w="1905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09" name="Line 13"/>
          <p:cNvSpPr>
            <a:spLocks noChangeShapeType="1"/>
          </p:cNvSpPr>
          <p:nvPr/>
        </p:nvSpPr>
        <p:spPr bwMode="auto">
          <a:xfrm>
            <a:off x="547688" y="2767013"/>
            <a:ext cx="8253412" cy="9525"/>
          </a:xfrm>
          <a:prstGeom prst="line">
            <a:avLst/>
          </a:prstGeom>
          <a:noFill/>
          <a:ln w="1905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0" name="Line 14"/>
          <p:cNvSpPr>
            <a:spLocks noChangeShapeType="1"/>
          </p:cNvSpPr>
          <p:nvPr/>
        </p:nvSpPr>
        <p:spPr bwMode="auto">
          <a:xfrm>
            <a:off x="557213" y="3071813"/>
            <a:ext cx="8267700" cy="9525"/>
          </a:xfrm>
          <a:prstGeom prst="line">
            <a:avLst/>
          </a:prstGeom>
          <a:noFill/>
          <a:ln w="1905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1" name="Line 15"/>
          <p:cNvSpPr>
            <a:spLocks noChangeShapeType="1"/>
          </p:cNvSpPr>
          <p:nvPr/>
        </p:nvSpPr>
        <p:spPr bwMode="auto">
          <a:xfrm>
            <a:off x="571500" y="3386138"/>
            <a:ext cx="8262938" cy="4762"/>
          </a:xfrm>
          <a:prstGeom prst="line">
            <a:avLst/>
          </a:prstGeom>
          <a:noFill/>
          <a:ln w="1905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4912" name="Group 16"/>
          <p:cNvGrpSpPr>
            <a:grpSpLocks/>
          </p:cNvGrpSpPr>
          <p:nvPr/>
        </p:nvGrpSpPr>
        <p:grpSpPr bwMode="auto">
          <a:xfrm>
            <a:off x="2224088" y="4043363"/>
            <a:ext cx="3571875" cy="2236787"/>
            <a:chOff x="3162" y="1071"/>
            <a:chExt cx="2250" cy="1409"/>
          </a:xfrm>
        </p:grpSpPr>
        <p:sp>
          <p:nvSpPr>
            <p:cNvPr id="464913" name="Freeform 17"/>
            <p:cNvSpPr>
              <a:spLocks/>
            </p:cNvSpPr>
            <p:nvPr/>
          </p:nvSpPr>
          <p:spPr bwMode="auto">
            <a:xfrm>
              <a:off x="3162" y="1071"/>
              <a:ext cx="2250" cy="1409"/>
            </a:xfrm>
            <a:custGeom>
              <a:avLst/>
              <a:gdLst>
                <a:gd name="T0" fmla="*/ 0 w 2250"/>
                <a:gd name="T1" fmla="*/ 624 h 1409"/>
                <a:gd name="T2" fmla="*/ 219 w 2250"/>
                <a:gd name="T3" fmla="*/ 321 h 1409"/>
                <a:gd name="T4" fmla="*/ 529 w 2250"/>
                <a:gd name="T5" fmla="*/ 35 h 1409"/>
                <a:gd name="T6" fmla="*/ 1551 w 2250"/>
                <a:gd name="T7" fmla="*/ 111 h 1409"/>
                <a:gd name="T8" fmla="*/ 1968 w 2250"/>
                <a:gd name="T9" fmla="*/ 483 h 1409"/>
                <a:gd name="T10" fmla="*/ 2199 w 2250"/>
                <a:gd name="T11" fmla="*/ 906 h 1409"/>
                <a:gd name="T12" fmla="*/ 1659 w 2250"/>
                <a:gd name="T13" fmla="*/ 1314 h 1409"/>
                <a:gd name="T14" fmla="*/ 993 w 2250"/>
                <a:gd name="T15" fmla="*/ 1386 h 1409"/>
                <a:gd name="T16" fmla="*/ 465 w 2250"/>
                <a:gd name="T17" fmla="*/ 1356 h 1409"/>
                <a:gd name="T18" fmla="*/ 102 w 2250"/>
                <a:gd name="T19" fmla="*/ 1068 h 1409"/>
                <a:gd name="T20" fmla="*/ 0 w 2250"/>
                <a:gd name="T21" fmla="*/ 624 h 1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250" h="1409">
                  <a:moveTo>
                    <a:pt x="0" y="624"/>
                  </a:moveTo>
                  <a:cubicBezTo>
                    <a:pt x="5" y="506"/>
                    <a:pt x="131" y="419"/>
                    <a:pt x="219" y="321"/>
                  </a:cubicBezTo>
                  <a:cubicBezTo>
                    <a:pt x="307" y="223"/>
                    <a:pt x="307" y="70"/>
                    <a:pt x="529" y="35"/>
                  </a:cubicBezTo>
                  <a:cubicBezTo>
                    <a:pt x="751" y="0"/>
                    <a:pt x="1311" y="36"/>
                    <a:pt x="1551" y="111"/>
                  </a:cubicBezTo>
                  <a:cubicBezTo>
                    <a:pt x="1791" y="186"/>
                    <a:pt x="1860" y="351"/>
                    <a:pt x="1968" y="483"/>
                  </a:cubicBezTo>
                  <a:cubicBezTo>
                    <a:pt x="2076" y="615"/>
                    <a:pt x="2250" y="767"/>
                    <a:pt x="2199" y="906"/>
                  </a:cubicBezTo>
                  <a:cubicBezTo>
                    <a:pt x="2148" y="1045"/>
                    <a:pt x="1860" y="1234"/>
                    <a:pt x="1659" y="1314"/>
                  </a:cubicBezTo>
                  <a:cubicBezTo>
                    <a:pt x="1458" y="1394"/>
                    <a:pt x="1192" y="1379"/>
                    <a:pt x="993" y="1386"/>
                  </a:cubicBezTo>
                  <a:cubicBezTo>
                    <a:pt x="794" y="1393"/>
                    <a:pt x="613" y="1409"/>
                    <a:pt x="465" y="1356"/>
                  </a:cubicBezTo>
                  <a:cubicBezTo>
                    <a:pt x="317" y="1303"/>
                    <a:pt x="180" y="1190"/>
                    <a:pt x="102" y="1068"/>
                  </a:cubicBezTo>
                  <a:cubicBezTo>
                    <a:pt x="24" y="946"/>
                    <a:pt x="21" y="716"/>
                    <a:pt x="0" y="624"/>
                  </a:cubicBezTo>
                  <a:close/>
                </a:path>
              </a:pathLst>
            </a:custGeom>
            <a:solidFill>
              <a:srgbClr val="99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4" name="Freeform 18"/>
            <p:cNvSpPr>
              <a:spLocks/>
            </p:cNvSpPr>
            <p:nvPr/>
          </p:nvSpPr>
          <p:spPr bwMode="auto">
            <a:xfrm>
              <a:off x="3498" y="1620"/>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5" name="Oval 19"/>
            <p:cNvSpPr>
              <a:spLocks noChangeArrowheads="1"/>
            </p:cNvSpPr>
            <p:nvPr/>
          </p:nvSpPr>
          <p:spPr bwMode="auto">
            <a:xfrm>
              <a:off x="3238" y="1862"/>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6" name="Line 20"/>
            <p:cNvSpPr>
              <a:spLocks noChangeShapeType="1"/>
            </p:cNvSpPr>
            <p:nvPr/>
          </p:nvSpPr>
          <p:spPr bwMode="auto">
            <a:xfrm>
              <a:off x="3238"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7" name="Line 21"/>
            <p:cNvSpPr>
              <a:spLocks noChangeShapeType="1"/>
            </p:cNvSpPr>
            <p:nvPr/>
          </p:nvSpPr>
          <p:spPr bwMode="auto">
            <a:xfrm>
              <a:off x="3551" y="1855"/>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18" name="Rectangle 22"/>
            <p:cNvSpPr>
              <a:spLocks noChangeArrowheads="1"/>
            </p:cNvSpPr>
            <p:nvPr/>
          </p:nvSpPr>
          <p:spPr bwMode="auto">
            <a:xfrm>
              <a:off x="3238" y="1855"/>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19" name="Oval 23"/>
            <p:cNvSpPr>
              <a:spLocks noChangeArrowheads="1"/>
            </p:cNvSpPr>
            <p:nvPr/>
          </p:nvSpPr>
          <p:spPr bwMode="auto">
            <a:xfrm>
              <a:off x="3235" y="1796"/>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0" name="Oval 24"/>
            <p:cNvSpPr>
              <a:spLocks noChangeArrowheads="1"/>
            </p:cNvSpPr>
            <p:nvPr/>
          </p:nvSpPr>
          <p:spPr bwMode="auto">
            <a:xfrm>
              <a:off x="3712" y="224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1" name="Line 25"/>
            <p:cNvSpPr>
              <a:spLocks noChangeShapeType="1"/>
            </p:cNvSpPr>
            <p:nvPr/>
          </p:nvSpPr>
          <p:spPr bwMode="auto">
            <a:xfrm>
              <a:off x="3712"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2" name="Line 26"/>
            <p:cNvSpPr>
              <a:spLocks noChangeShapeType="1"/>
            </p:cNvSpPr>
            <p:nvPr/>
          </p:nvSpPr>
          <p:spPr bwMode="auto">
            <a:xfrm>
              <a:off x="4025" y="224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3" name="Rectangle 27"/>
            <p:cNvSpPr>
              <a:spLocks noChangeArrowheads="1"/>
            </p:cNvSpPr>
            <p:nvPr/>
          </p:nvSpPr>
          <p:spPr bwMode="auto">
            <a:xfrm>
              <a:off x="3712" y="224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24" name="Oval 28"/>
            <p:cNvSpPr>
              <a:spLocks noChangeArrowheads="1"/>
            </p:cNvSpPr>
            <p:nvPr/>
          </p:nvSpPr>
          <p:spPr bwMode="auto">
            <a:xfrm>
              <a:off x="3709" y="218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5" name="Oval 29"/>
            <p:cNvSpPr>
              <a:spLocks noChangeArrowheads="1"/>
            </p:cNvSpPr>
            <p:nvPr/>
          </p:nvSpPr>
          <p:spPr bwMode="auto">
            <a:xfrm>
              <a:off x="3708" y="1559"/>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6" name="Line 30"/>
            <p:cNvSpPr>
              <a:spLocks noChangeShapeType="1"/>
            </p:cNvSpPr>
            <p:nvPr/>
          </p:nvSpPr>
          <p:spPr bwMode="auto">
            <a:xfrm>
              <a:off x="3708"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7" name="Line 31"/>
            <p:cNvSpPr>
              <a:spLocks noChangeShapeType="1"/>
            </p:cNvSpPr>
            <p:nvPr/>
          </p:nvSpPr>
          <p:spPr bwMode="auto">
            <a:xfrm>
              <a:off x="4021" y="1552"/>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28" name="Rectangle 32"/>
            <p:cNvSpPr>
              <a:spLocks noChangeArrowheads="1"/>
            </p:cNvSpPr>
            <p:nvPr/>
          </p:nvSpPr>
          <p:spPr bwMode="auto">
            <a:xfrm>
              <a:off x="3708" y="1552"/>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29" name="Oval 33"/>
            <p:cNvSpPr>
              <a:spLocks noChangeArrowheads="1"/>
            </p:cNvSpPr>
            <p:nvPr/>
          </p:nvSpPr>
          <p:spPr bwMode="auto">
            <a:xfrm>
              <a:off x="3705" y="1493"/>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0" name="Oval 34"/>
            <p:cNvSpPr>
              <a:spLocks noChangeArrowheads="1"/>
            </p:cNvSpPr>
            <p:nvPr/>
          </p:nvSpPr>
          <p:spPr bwMode="auto">
            <a:xfrm>
              <a:off x="4391" y="1555"/>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1" name="Line 35"/>
            <p:cNvSpPr>
              <a:spLocks noChangeShapeType="1"/>
            </p:cNvSpPr>
            <p:nvPr/>
          </p:nvSpPr>
          <p:spPr bwMode="auto">
            <a:xfrm>
              <a:off x="4391"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2" name="Line 36"/>
            <p:cNvSpPr>
              <a:spLocks noChangeShapeType="1"/>
            </p:cNvSpPr>
            <p:nvPr/>
          </p:nvSpPr>
          <p:spPr bwMode="auto">
            <a:xfrm>
              <a:off x="4703" y="154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3" name="Rectangle 37"/>
            <p:cNvSpPr>
              <a:spLocks noChangeArrowheads="1"/>
            </p:cNvSpPr>
            <p:nvPr/>
          </p:nvSpPr>
          <p:spPr bwMode="auto">
            <a:xfrm>
              <a:off x="4391" y="1548"/>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34" name="Oval 38"/>
            <p:cNvSpPr>
              <a:spLocks noChangeArrowheads="1"/>
            </p:cNvSpPr>
            <p:nvPr/>
          </p:nvSpPr>
          <p:spPr bwMode="auto">
            <a:xfrm>
              <a:off x="4394" y="1492"/>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5" name="Oval 39"/>
            <p:cNvSpPr>
              <a:spLocks noChangeArrowheads="1"/>
            </p:cNvSpPr>
            <p:nvPr/>
          </p:nvSpPr>
          <p:spPr bwMode="auto">
            <a:xfrm>
              <a:off x="4401" y="2246"/>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6" name="Line 40"/>
            <p:cNvSpPr>
              <a:spLocks noChangeShapeType="1"/>
            </p:cNvSpPr>
            <p:nvPr/>
          </p:nvSpPr>
          <p:spPr bwMode="auto">
            <a:xfrm>
              <a:off x="4401"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7" name="Line 41"/>
            <p:cNvSpPr>
              <a:spLocks noChangeShapeType="1"/>
            </p:cNvSpPr>
            <p:nvPr/>
          </p:nvSpPr>
          <p:spPr bwMode="auto">
            <a:xfrm>
              <a:off x="4714" y="2239"/>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38" name="Rectangle 42"/>
            <p:cNvSpPr>
              <a:spLocks noChangeArrowheads="1"/>
            </p:cNvSpPr>
            <p:nvPr/>
          </p:nvSpPr>
          <p:spPr bwMode="auto">
            <a:xfrm>
              <a:off x="4401" y="2239"/>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39" name="Oval 43"/>
            <p:cNvSpPr>
              <a:spLocks noChangeArrowheads="1"/>
            </p:cNvSpPr>
            <p:nvPr/>
          </p:nvSpPr>
          <p:spPr bwMode="auto">
            <a:xfrm>
              <a:off x="4398" y="2180"/>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0" name="Oval 44"/>
            <p:cNvSpPr>
              <a:spLocks noChangeArrowheads="1"/>
            </p:cNvSpPr>
            <p:nvPr/>
          </p:nvSpPr>
          <p:spPr bwMode="auto">
            <a:xfrm>
              <a:off x="4966" y="19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1" name="Line 45"/>
            <p:cNvSpPr>
              <a:spLocks noChangeShapeType="1"/>
            </p:cNvSpPr>
            <p:nvPr/>
          </p:nvSpPr>
          <p:spPr bwMode="auto">
            <a:xfrm>
              <a:off x="4966"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2" name="Line 46"/>
            <p:cNvSpPr>
              <a:spLocks noChangeShapeType="1"/>
            </p:cNvSpPr>
            <p:nvPr/>
          </p:nvSpPr>
          <p:spPr bwMode="auto">
            <a:xfrm>
              <a:off x="5279" y="18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3" name="Rectangle 47"/>
            <p:cNvSpPr>
              <a:spLocks noChangeArrowheads="1"/>
            </p:cNvSpPr>
            <p:nvPr/>
          </p:nvSpPr>
          <p:spPr bwMode="auto">
            <a:xfrm>
              <a:off x="4966" y="18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4944" name="Oval 48"/>
            <p:cNvSpPr>
              <a:spLocks noChangeArrowheads="1"/>
            </p:cNvSpPr>
            <p:nvPr/>
          </p:nvSpPr>
          <p:spPr bwMode="auto">
            <a:xfrm>
              <a:off x="4963" y="18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5" name="Freeform 49"/>
            <p:cNvSpPr>
              <a:spLocks/>
            </p:cNvSpPr>
            <p:nvPr/>
          </p:nvSpPr>
          <p:spPr bwMode="auto">
            <a:xfrm>
              <a:off x="4557" y="1647"/>
              <a:ext cx="1" cy="522"/>
            </a:xfrm>
            <a:custGeom>
              <a:avLst/>
              <a:gdLst>
                <a:gd name="T0" fmla="*/ 0 w 1"/>
                <a:gd name="T1" fmla="*/ 0 h 522"/>
                <a:gd name="T2" fmla="*/ 0 w 1"/>
                <a:gd name="T3" fmla="*/ 522 h 522"/>
              </a:gdLst>
              <a:ahLst/>
              <a:cxnLst>
                <a:cxn ang="0">
                  <a:pos x="T0" y="T1"/>
                </a:cxn>
                <a:cxn ang="0">
                  <a:pos x="T2" y="T3"/>
                </a:cxn>
              </a:cxnLst>
              <a:rect l="0" t="0" r="r" b="b"/>
              <a:pathLst>
                <a:path w="1" h="522">
                  <a:moveTo>
                    <a:pt x="0" y="0"/>
                  </a:moveTo>
                  <a:lnTo>
                    <a:pt x="0" y="522"/>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6" name="Freeform 50"/>
            <p:cNvSpPr>
              <a:spLocks/>
            </p:cNvSpPr>
            <p:nvPr/>
          </p:nvSpPr>
          <p:spPr bwMode="auto">
            <a:xfrm>
              <a:off x="3864" y="1653"/>
              <a:ext cx="1" cy="537"/>
            </a:xfrm>
            <a:custGeom>
              <a:avLst/>
              <a:gdLst>
                <a:gd name="T0" fmla="*/ 0 w 1"/>
                <a:gd name="T1" fmla="*/ 0 h 537"/>
                <a:gd name="T2" fmla="*/ 0 w 1"/>
                <a:gd name="T3" fmla="*/ 537 h 537"/>
              </a:gdLst>
              <a:ahLst/>
              <a:cxnLst>
                <a:cxn ang="0">
                  <a:pos x="T0" y="T1"/>
                </a:cxn>
                <a:cxn ang="0">
                  <a:pos x="T2" y="T3"/>
                </a:cxn>
              </a:cxnLst>
              <a:rect l="0" t="0" r="r" b="b"/>
              <a:pathLst>
                <a:path w="1" h="537">
                  <a:moveTo>
                    <a:pt x="0" y="0"/>
                  </a:moveTo>
                  <a:lnTo>
                    <a:pt x="0" y="537"/>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7" name="Freeform 51"/>
            <p:cNvSpPr>
              <a:spLocks/>
            </p:cNvSpPr>
            <p:nvPr/>
          </p:nvSpPr>
          <p:spPr bwMode="auto">
            <a:xfrm>
              <a:off x="4029" y="1638"/>
              <a:ext cx="504" cy="600"/>
            </a:xfrm>
            <a:custGeom>
              <a:avLst/>
              <a:gdLst>
                <a:gd name="T0" fmla="*/ 0 w 378"/>
                <a:gd name="T1" fmla="*/ 174 h 174"/>
                <a:gd name="T2" fmla="*/ 378 w 378"/>
                <a:gd name="T3" fmla="*/ 0 h 174"/>
              </a:gdLst>
              <a:ahLst/>
              <a:cxnLst>
                <a:cxn ang="0">
                  <a:pos x="T0" y="T1"/>
                </a:cxn>
                <a:cxn ang="0">
                  <a:pos x="T2" y="T3"/>
                </a:cxn>
              </a:cxnLst>
              <a:rect l="0" t="0" r="r" b="b"/>
              <a:pathLst>
                <a:path w="378" h="174">
                  <a:moveTo>
                    <a:pt x="0" y="174"/>
                  </a:moveTo>
                  <a:lnTo>
                    <a:pt x="378"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8" name="Freeform 52"/>
            <p:cNvSpPr>
              <a:spLocks/>
            </p:cNvSpPr>
            <p:nvPr/>
          </p:nvSpPr>
          <p:spPr bwMode="auto">
            <a:xfrm>
              <a:off x="4716" y="1986"/>
              <a:ext cx="366" cy="270"/>
            </a:xfrm>
            <a:custGeom>
              <a:avLst/>
              <a:gdLst>
                <a:gd name="T0" fmla="*/ 0 w 366"/>
                <a:gd name="T1" fmla="*/ 270 h 270"/>
                <a:gd name="T2" fmla="*/ 366 w 366"/>
                <a:gd name="T3" fmla="*/ 0 h 270"/>
              </a:gdLst>
              <a:ahLst/>
              <a:cxnLst>
                <a:cxn ang="0">
                  <a:pos x="T0" y="T1"/>
                </a:cxn>
                <a:cxn ang="0">
                  <a:pos x="T2" y="T3"/>
                </a:cxn>
              </a:cxnLst>
              <a:rect l="0" t="0" r="r" b="b"/>
              <a:pathLst>
                <a:path w="366" h="270">
                  <a:moveTo>
                    <a:pt x="0" y="270"/>
                  </a:moveTo>
                  <a:lnTo>
                    <a:pt x="366"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49" name="Freeform 53"/>
            <p:cNvSpPr>
              <a:spLocks/>
            </p:cNvSpPr>
            <p:nvPr/>
          </p:nvSpPr>
          <p:spPr bwMode="auto">
            <a:xfrm>
              <a:off x="4035" y="226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0" name="Freeform 54"/>
            <p:cNvSpPr>
              <a:spLocks/>
            </p:cNvSpPr>
            <p:nvPr/>
          </p:nvSpPr>
          <p:spPr bwMode="auto">
            <a:xfrm>
              <a:off x="3444" y="1944"/>
              <a:ext cx="276" cy="264"/>
            </a:xfrm>
            <a:custGeom>
              <a:avLst/>
              <a:gdLst>
                <a:gd name="T0" fmla="*/ 276 w 276"/>
                <a:gd name="T1" fmla="*/ 264 h 264"/>
                <a:gd name="T2" fmla="*/ 0 w 276"/>
                <a:gd name="T3" fmla="*/ 0 h 264"/>
              </a:gdLst>
              <a:ahLst/>
              <a:cxnLst>
                <a:cxn ang="0">
                  <a:pos x="T0" y="T1"/>
                </a:cxn>
                <a:cxn ang="0">
                  <a:pos x="T2" y="T3"/>
                </a:cxn>
              </a:cxnLst>
              <a:rect l="0" t="0" r="r" b="b"/>
              <a:pathLst>
                <a:path w="276" h="264">
                  <a:moveTo>
                    <a:pt x="276" y="264"/>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1" name="Freeform 55"/>
            <p:cNvSpPr>
              <a:spLocks/>
            </p:cNvSpPr>
            <p:nvPr/>
          </p:nvSpPr>
          <p:spPr bwMode="auto">
            <a:xfrm>
              <a:off x="4029" y="1578"/>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2" name="Freeform 56"/>
            <p:cNvSpPr>
              <a:spLocks/>
            </p:cNvSpPr>
            <p:nvPr/>
          </p:nvSpPr>
          <p:spPr bwMode="auto">
            <a:xfrm>
              <a:off x="4704" y="1575"/>
              <a:ext cx="396" cy="267"/>
            </a:xfrm>
            <a:custGeom>
              <a:avLst/>
              <a:gdLst>
                <a:gd name="T0" fmla="*/ 396 w 396"/>
                <a:gd name="T1" fmla="*/ 267 h 267"/>
                <a:gd name="T2" fmla="*/ 0 w 396"/>
                <a:gd name="T3" fmla="*/ 0 h 267"/>
              </a:gdLst>
              <a:ahLst/>
              <a:cxnLst>
                <a:cxn ang="0">
                  <a:pos x="T0" y="T1"/>
                </a:cxn>
                <a:cxn ang="0">
                  <a:pos x="T2" y="T3"/>
                </a:cxn>
              </a:cxnLst>
              <a:rect l="0" t="0" r="r" b="b"/>
              <a:pathLst>
                <a:path w="396" h="267">
                  <a:moveTo>
                    <a:pt x="396" y="267"/>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3" name="Freeform 57"/>
            <p:cNvSpPr>
              <a:spLocks/>
            </p:cNvSpPr>
            <p:nvPr/>
          </p:nvSpPr>
          <p:spPr bwMode="auto">
            <a:xfrm>
              <a:off x="3387" y="1146"/>
              <a:ext cx="1110" cy="645"/>
            </a:xfrm>
            <a:custGeom>
              <a:avLst/>
              <a:gdLst>
                <a:gd name="T0" fmla="*/ 1110 w 1110"/>
                <a:gd name="T1" fmla="*/ 342 h 645"/>
                <a:gd name="T2" fmla="*/ 0 w 1110"/>
                <a:gd name="T3" fmla="*/ 645 h 645"/>
              </a:gdLst>
              <a:ahLst/>
              <a:cxnLst>
                <a:cxn ang="0">
                  <a:pos x="T0" y="T1"/>
                </a:cxn>
                <a:cxn ang="0">
                  <a:pos x="T2" y="T3"/>
                </a:cxn>
              </a:cxnLst>
              <a:rect l="0" t="0" r="r" b="b"/>
              <a:pathLst>
                <a:path w="1110" h="645">
                  <a:moveTo>
                    <a:pt x="1110" y="342"/>
                  </a:moveTo>
                  <a:cubicBezTo>
                    <a:pt x="1104" y="0"/>
                    <a:pt x="21" y="63"/>
                    <a:pt x="0" y="645"/>
                  </a:cubicBez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4954" name="Group 58"/>
            <p:cNvGrpSpPr>
              <a:grpSpLocks/>
            </p:cNvGrpSpPr>
            <p:nvPr/>
          </p:nvGrpSpPr>
          <p:grpSpPr bwMode="auto">
            <a:xfrm>
              <a:off x="3287" y="1731"/>
              <a:ext cx="183" cy="252"/>
              <a:chOff x="2941" y="2412"/>
              <a:chExt cx="185" cy="252"/>
            </a:xfrm>
          </p:grpSpPr>
          <p:sp>
            <p:nvSpPr>
              <p:cNvPr id="464955" name="Rectangle 5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6" name="Text Box 60"/>
              <p:cNvSpPr txBox="1">
                <a:spLocks noChangeArrowheads="1"/>
              </p:cNvSpPr>
              <p:nvPr/>
            </p:nvSpPr>
            <p:spPr bwMode="auto">
              <a:xfrm>
                <a:off x="2941" y="2412"/>
                <a:ext cx="157" cy="25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sz="2000" b="1" dirty="0">
                    <a:solidFill>
                      <a:srgbClr val="FF0000"/>
                    </a:solidFill>
                  </a:rPr>
                  <a:t>u</a:t>
                </a:r>
                <a:endParaRPr lang="en-US" sz="2400" b="1" dirty="0">
                  <a:solidFill>
                    <a:srgbClr val="FF0000"/>
                  </a:solidFill>
                  <a:latin typeface="Times New Roman" pitchFamily="18" charset="0"/>
                </a:endParaRPr>
              </a:p>
            </p:txBody>
          </p:sp>
        </p:grpSp>
        <p:grpSp>
          <p:nvGrpSpPr>
            <p:cNvPr id="464957" name="Group 61"/>
            <p:cNvGrpSpPr>
              <a:grpSpLocks/>
            </p:cNvGrpSpPr>
            <p:nvPr/>
          </p:nvGrpSpPr>
          <p:grpSpPr bwMode="auto">
            <a:xfrm>
              <a:off x="4460" y="2132"/>
              <a:ext cx="199" cy="250"/>
              <a:chOff x="2957" y="2429"/>
              <a:chExt cx="202" cy="250"/>
            </a:xfrm>
          </p:grpSpPr>
          <p:sp>
            <p:nvSpPr>
              <p:cNvPr id="464958" name="Rectangle 62"/>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59" name="Text Box 63"/>
              <p:cNvSpPr txBox="1">
                <a:spLocks noChangeArrowheads="1"/>
              </p:cNvSpPr>
              <p:nvPr/>
            </p:nvSpPr>
            <p:spPr bwMode="auto">
              <a:xfrm>
                <a:off x="2957" y="2429"/>
                <a:ext cx="202"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y</a:t>
                </a:r>
                <a:endParaRPr lang="en-US" sz="2400">
                  <a:latin typeface="Times New Roman" pitchFamily="18" charset="0"/>
                </a:endParaRPr>
              </a:p>
            </p:txBody>
          </p:sp>
        </p:grpSp>
        <p:grpSp>
          <p:nvGrpSpPr>
            <p:cNvPr id="464960" name="Group 64"/>
            <p:cNvGrpSpPr>
              <a:grpSpLocks/>
            </p:cNvGrpSpPr>
            <p:nvPr/>
          </p:nvGrpSpPr>
          <p:grpSpPr bwMode="auto">
            <a:xfrm>
              <a:off x="3764" y="2099"/>
              <a:ext cx="229" cy="288"/>
              <a:chOff x="2943" y="2399"/>
              <a:chExt cx="230" cy="288"/>
            </a:xfrm>
          </p:grpSpPr>
          <p:sp>
            <p:nvSpPr>
              <p:cNvPr id="464961" name="Rectangle 65"/>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62" name="Text Box 66"/>
              <p:cNvSpPr txBox="1">
                <a:spLocks noChangeArrowheads="1"/>
              </p:cNvSpPr>
              <p:nvPr/>
            </p:nvSpPr>
            <p:spPr bwMode="auto">
              <a:xfrm>
                <a:off x="2943" y="2399"/>
                <a:ext cx="230"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400"/>
                  <a:t>x</a:t>
                </a:r>
              </a:p>
            </p:txBody>
          </p:sp>
        </p:grpSp>
        <p:grpSp>
          <p:nvGrpSpPr>
            <p:cNvPr id="464963" name="Group 67"/>
            <p:cNvGrpSpPr>
              <a:grpSpLocks/>
            </p:cNvGrpSpPr>
            <p:nvPr/>
          </p:nvGrpSpPr>
          <p:grpSpPr bwMode="auto">
            <a:xfrm>
              <a:off x="4441" y="1442"/>
              <a:ext cx="225" cy="250"/>
              <a:chOff x="2944" y="2429"/>
              <a:chExt cx="228" cy="250"/>
            </a:xfrm>
          </p:grpSpPr>
          <p:sp>
            <p:nvSpPr>
              <p:cNvPr id="464964" name="Rectangle 6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65" name="Text Box 69"/>
              <p:cNvSpPr txBox="1">
                <a:spLocks noChangeArrowheads="1"/>
              </p:cNvSpPr>
              <p:nvPr/>
            </p:nvSpPr>
            <p:spPr bwMode="auto">
              <a:xfrm>
                <a:off x="2944" y="2429"/>
                <a:ext cx="228"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w</a:t>
                </a:r>
                <a:endParaRPr lang="en-US" sz="2400">
                  <a:latin typeface="Times New Roman" pitchFamily="18" charset="0"/>
                </a:endParaRPr>
              </a:p>
            </p:txBody>
          </p:sp>
        </p:grpSp>
        <p:grpSp>
          <p:nvGrpSpPr>
            <p:cNvPr id="464966" name="Group 70"/>
            <p:cNvGrpSpPr>
              <a:grpSpLocks/>
            </p:cNvGrpSpPr>
            <p:nvPr/>
          </p:nvGrpSpPr>
          <p:grpSpPr bwMode="auto">
            <a:xfrm>
              <a:off x="3772" y="1442"/>
              <a:ext cx="194" cy="250"/>
              <a:chOff x="2959" y="2429"/>
              <a:chExt cx="197" cy="250"/>
            </a:xfrm>
          </p:grpSpPr>
          <p:sp>
            <p:nvSpPr>
              <p:cNvPr id="464967" name="Rectangle 71"/>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68" name="Text Box 72"/>
              <p:cNvSpPr txBox="1">
                <a:spLocks noChangeArrowheads="1"/>
              </p:cNvSpPr>
              <p:nvPr/>
            </p:nvSpPr>
            <p:spPr bwMode="auto">
              <a:xfrm>
                <a:off x="2959" y="2429"/>
                <a:ext cx="197"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000"/>
                  <a:t>v</a:t>
                </a:r>
                <a:endParaRPr lang="en-US" sz="2400">
                  <a:latin typeface="Times New Roman" pitchFamily="18" charset="0"/>
                </a:endParaRPr>
              </a:p>
            </p:txBody>
          </p:sp>
        </p:grpSp>
        <p:grpSp>
          <p:nvGrpSpPr>
            <p:cNvPr id="464969" name="Group 73"/>
            <p:cNvGrpSpPr>
              <a:grpSpLocks/>
            </p:cNvGrpSpPr>
            <p:nvPr/>
          </p:nvGrpSpPr>
          <p:grpSpPr bwMode="auto">
            <a:xfrm>
              <a:off x="5022" y="1760"/>
              <a:ext cx="219" cy="288"/>
              <a:chOff x="2946" y="2399"/>
              <a:chExt cx="221" cy="288"/>
            </a:xfrm>
          </p:grpSpPr>
          <p:sp>
            <p:nvSpPr>
              <p:cNvPr id="464970" name="Rectangle 74"/>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4971" name="Text Box 75"/>
              <p:cNvSpPr txBox="1">
                <a:spLocks noChangeArrowheads="1"/>
              </p:cNvSpPr>
              <p:nvPr/>
            </p:nvSpPr>
            <p:spPr bwMode="auto">
              <a:xfrm>
                <a:off x="2946" y="2399"/>
                <a:ext cx="221" cy="2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sz="2400" dirty="0"/>
                  <a:t>z</a:t>
                </a:r>
              </a:p>
            </p:txBody>
          </p:sp>
        </p:grpSp>
        <p:sp>
          <p:nvSpPr>
            <p:cNvPr id="464972" name="Text Box 76"/>
            <p:cNvSpPr txBox="1">
              <a:spLocks noChangeArrowheads="1"/>
            </p:cNvSpPr>
            <p:nvPr/>
          </p:nvSpPr>
          <p:spPr bwMode="auto">
            <a:xfrm>
              <a:off x="3489" y="1571"/>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64973" name="Text Box 77"/>
            <p:cNvSpPr txBox="1">
              <a:spLocks noChangeArrowheads="1"/>
            </p:cNvSpPr>
            <p:nvPr/>
          </p:nvSpPr>
          <p:spPr bwMode="auto">
            <a:xfrm>
              <a:off x="3837" y="1790"/>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64974" name="Text Box 78"/>
            <p:cNvSpPr txBox="1">
              <a:spLocks noChangeArrowheads="1"/>
            </p:cNvSpPr>
            <p:nvPr/>
          </p:nvSpPr>
          <p:spPr bwMode="auto">
            <a:xfrm>
              <a:off x="3413" y="2003"/>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64975" name="Text Box 79"/>
            <p:cNvSpPr txBox="1">
              <a:spLocks noChangeArrowheads="1"/>
            </p:cNvSpPr>
            <p:nvPr/>
          </p:nvSpPr>
          <p:spPr bwMode="auto">
            <a:xfrm>
              <a:off x="4221" y="1883"/>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3</a:t>
              </a:r>
              <a:endParaRPr lang="en-US" sz="2400">
                <a:latin typeface="Times New Roman" pitchFamily="18" charset="0"/>
              </a:endParaRPr>
            </a:p>
          </p:txBody>
        </p:sp>
        <p:sp>
          <p:nvSpPr>
            <p:cNvPr id="464976" name="Text Box 80"/>
            <p:cNvSpPr txBox="1">
              <a:spLocks noChangeArrowheads="1"/>
            </p:cNvSpPr>
            <p:nvPr/>
          </p:nvSpPr>
          <p:spPr bwMode="auto">
            <a:xfrm>
              <a:off x="4169" y="2237"/>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64977" name="Text Box 81"/>
            <p:cNvSpPr txBox="1">
              <a:spLocks noChangeArrowheads="1"/>
            </p:cNvSpPr>
            <p:nvPr/>
          </p:nvSpPr>
          <p:spPr bwMode="auto">
            <a:xfrm>
              <a:off x="4529" y="1808"/>
              <a:ext cx="18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1</a:t>
              </a:r>
              <a:endParaRPr lang="en-US" sz="2400">
                <a:latin typeface="Times New Roman" pitchFamily="18" charset="0"/>
              </a:endParaRPr>
            </a:p>
          </p:txBody>
        </p:sp>
        <p:sp>
          <p:nvSpPr>
            <p:cNvPr id="464978" name="Text Box 82"/>
            <p:cNvSpPr txBox="1">
              <a:spLocks noChangeArrowheads="1"/>
            </p:cNvSpPr>
            <p:nvPr/>
          </p:nvSpPr>
          <p:spPr bwMode="auto">
            <a:xfrm>
              <a:off x="4878" y="2072"/>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2</a:t>
              </a:r>
              <a:endParaRPr lang="en-US" sz="2400">
                <a:latin typeface="Times New Roman" pitchFamily="18" charset="0"/>
              </a:endParaRPr>
            </a:p>
          </p:txBody>
        </p:sp>
        <p:sp>
          <p:nvSpPr>
            <p:cNvPr id="464979" name="Text Box 83"/>
            <p:cNvSpPr txBox="1">
              <a:spLocks noChangeArrowheads="1"/>
            </p:cNvSpPr>
            <p:nvPr/>
          </p:nvSpPr>
          <p:spPr bwMode="auto">
            <a:xfrm>
              <a:off x="4851" y="153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5</a:t>
              </a:r>
              <a:endParaRPr lang="en-US" sz="2400">
                <a:latin typeface="Times New Roman" pitchFamily="18" charset="0"/>
              </a:endParaRPr>
            </a:p>
          </p:txBody>
        </p:sp>
        <p:sp>
          <p:nvSpPr>
            <p:cNvPr id="464980" name="Text Box 84"/>
            <p:cNvSpPr txBox="1">
              <a:spLocks noChangeArrowheads="1"/>
            </p:cNvSpPr>
            <p:nvPr/>
          </p:nvSpPr>
          <p:spPr bwMode="auto">
            <a:xfrm>
              <a:off x="4116" y="1385"/>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3</a:t>
              </a:r>
              <a:endParaRPr lang="en-US" sz="2400">
                <a:latin typeface="Times New Roman" pitchFamily="18" charset="0"/>
              </a:endParaRPr>
            </a:p>
          </p:txBody>
        </p:sp>
        <p:sp>
          <p:nvSpPr>
            <p:cNvPr id="464981" name="Text Box 85"/>
            <p:cNvSpPr txBox="1">
              <a:spLocks noChangeArrowheads="1"/>
            </p:cNvSpPr>
            <p:nvPr/>
          </p:nvSpPr>
          <p:spPr bwMode="auto">
            <a:xfrm>
              <a:off x="3765" y="1118"/>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t>5</a:t>
              </a:r>
              <a:endParaRPr lang="en-US" sz="2400">
                <a:latin typeface="Times New Roman" pitchFamily="18" charset="0"/>
              </a:endParaRPr>
            </a:p>
          </p:txBody>
        </p:sp>
      </p:grpSp>
      <p:sp>
        <p:nvSpPr>
          <p:cNvPr id="465052" name="Line 156"/>
          <p:cNvSpPr>
            <a:spLocks noChangeShapeType="1"/>
          </p:cNvSpPr>
          <p:nvPr/>
        </p:nvSpPr>
        <p:spPr bwMode="auto">
          <a:xfrm flipH="1">
            <a:off x="2241550" y="2035175"/>
            <a:ext cx="3514725" cy="309563"/>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a:p>
        </p:txBody>
      </p:sp>
      <p:sp>
        <p:nvSpPr>
          <p:cNvPr id="465053" name="Line 157"/>
          <p:cNvSpPr>
            <a:spLocks noChangeShapeType="1"/>
          </p:cNvSpPr>
          <p:nvPr/>
        </p:nvSpPr>
        <p:spPr bwMode="auto">
          <a:xfrm flipH="1">
            <a:off x="2163763" y="2330450"/>
            <a:ext cx="4894262" cy="334963"/>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a:p>
        </p:txBody>
      </p:sp>
      <p:sp>
        <p:nvSpPr>
          <p:cNvPr id="465054" name="Line 158"/>
          <p:cNvSpPr>
            <a:spLocks noChangeShapeType="1"/>
          </p:cNvSpPr>
          <p:nvPr/>
        </p:nvSpPr>
        <p:spPr bwMode="auto">
          <a:xfrm flipH="1">
            <a:off x="2227263" y="2692400"/>
            <a:ext cx="914400" cy="257175"/>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a:p>
        </p:txBody>
      </p:sp>
      <p:sp>
        <p:nvSpPr>
          <p:cNvPr id="465055" name="Line 159"/>
          <p:cNvSpPr>
            <a:spLocks noChangeShapeType="1"/>
          </p:cNvSpPr>
          <p:nvPr/>
        </p:nvSpPr>
        <p:spPr bwMode="auto">
          <a:xfrm flipH="1">
            <a:off x="2241550" y="2949575"/>
            <a:ext cx="2239963" cy="309563"/>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a:p>
        </p:txBody>
      </p:sp>
      <p:sp>
        <p:nvSpPr>
          <p:cNvPr id="465056" name="Line 160"/>
          <p:cNvSpPr>
            <a:spLocks noChangeShapeType="1"/>
          </p:cNvSpPr>
          <p:nvPr/>
        </p:nvSpPr>
        <p:spPr bwMode="auto">
          <a:xfrm flipH="1">
            <a:off x="2254250" y="3206750"/>
            <a:ext cx="5975350" cy="334963"/>
          </a:xfrm>
          <a:prstGeom prst="line">
            <a:avLst/>
          </a:prstGeom>
          <a:noFill/>
          <a:ln w="9525">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a:p>
        </p:txBody>
      </p:sp>
      <p:sp>
        <p:nvSpPr>
          <p:cNvPr id="2" name="Rectangle 1"/>
          <p:cNvSpPr/>
          <p:nvPr/>
        </p:nvSpPr>
        <p:spPr>
          <a:xfrm>
            <a:off x="6012161" y="4623217"/>
            <a:ext cx="2986782" cy="1508105"/>
          </a:xfrm>
          <a:prstGeom prst="rect">
            <a:avLst/>
          </a:prstGeom>
        </p:spPr>
        <p:txBody>
          <a:bodyPr wrap="square">
            <a:spAutoFit/>
          </a:bodyPr>
          <a:lstStyle/>
          <a:p>
            <a:r>
              <a:rPr lang="en-US" sz="2000" dirty="0">
                <a:solidFill>
                  <a:srgbClr val="0070C0"/>
                </a:solidFill>
                <a:latin typeface="Arial" charset="0"/>
              </a:rPr>
              <a:t>p(s):</a:t>
            </a:r>
            <a:r>
              <a:rPr lang="en-US" dirty="0">
                <a:solidFill>
                  <a:srgbClr val="0070C0"/>
                </a:solidFill>
              </a:rPr>
              <a:t> </a:t>
            </a:r>
            <a:r>
              <a:rPr lang="de-DE" dirty="0"/>
              <a:t>vorheriger Knoten (Nachbar von s) entlang des momentan kostengünstigsten Pfades von der Quelle zu </a:t>
            </a:r>
            <a:r>
              <a:rPr lang="de-DE" i="1" dirty="0"/>
              <a:t>s</a:t>
            </a:r>
            <a:endParaRPr lang="de-DE" dirty="0"/>
          </a:p>
        </p:txBody>
      </p:sp>
    </p:spTree>
    <p:extLst>
      <p:ext uri="{BB962C8B-B14F-4D97-AF65-F5344CB8AC3E}">
        <p14:creationId xmlns:p14="http://schemas.microsoft.com/office/powerpoint/2010/main" val="83321806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05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505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505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50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650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052" grpId="0" animBg="1"/>
      <p:bldP spid="465053" grpId="0" animBg="1"/>
      <p:bldP spid="465054" grpId="0" animBg="1"/>
      <p:bldP spid="465055" grpId="0" animBg="1"/>
      <p:bldP spid="46505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Slide Number Placeholder 4"/>
          <p:cNvSpPr>
            <a:spLocks noGrp="1"/>
          </p:cNvSpPr>
          <p:nvPr>
            <p:ph type="sldNum" sz="quarter" idx="12"/>
          </p:nvPr>
        </p:nvSpPr>
        <p:spPr/>
        <p:txBody>
          <a:bodyPr/>
          <a:lstStyle/>
          <a:p>
            <a:fld id="{0E5EC3BC-4851-4AA9-A586-69BD8EF24F71}" type="slidenum">
              <a:rPr lang="de-DE" smtClean="0"/>
              <a:pPr/>
              <a:t>31</a:t>
            </a:fld>
            <a:endParaRPr lang="de-DE"/>
          </a:p>
        </p:txBody>
      </p:sp>
      <p:sp>
        <p:nvSpPr>
          <p:cNvPr id="617476" name="Rectangle 4"/>
          <p:cNvSpPr>
            <a:spLocks noGrp="1" noChangeArrowheads="1"/>
          </p:cNvSpPr>
          <p:nvPr>
            <p:ph type="title"/>
          </p:nvPr>
        </p:nvSpPr>
        <p:spPr/>
        <p:txBody>
          <a:bodyPr/>
          <a:lstStyle/>
          <a:p>
            <a:r>
              <a:rPr lang="de-DE" sz="3600" dirty="0"/>
              <a:t>Dijkstra-Algorithmus: Beispiel /2</a:t>
            </a:r>
          </a:p>
        </p:txBody>
      </p:sp>
      <p:grpSp>
        <p:nvGrpSpPr>
          <p:cNvPr id="617549" name="Group 77"/>
          <p:cNvGrpSpPr>
            <a:grpSpLocks/>
          </p:cNvGrpSpPr>
          <p:nvPr/>
        </p:nvGrpSpPr>
        <p:grpSpPr bwMode="auto">
          <a:xfrm>
            <a:off x="4716016" y="4106593"/>
            <a:ext cx="3619277" cy="1735233"/>
            <a:chOff x="1385" y="1287"/>
            <a:chExt cx="2044" cy="940"/>
          </a:xfrm>
        </p:grpSpPr>
        <p:sp>
          <p:nvSpPr>
            <p:cNvPr id="617479" name="Freeform 7"/>
            <p:cNvSpPr>
              <a:spLocks/>
            </p:cNvSpPr>
            <p:nvPr/>
          </p:nvSpPr>
          <p:spPr bwMode="auto">
            <a:xfrm>
              <a:off x="1648" y="1465"/>
              <a:ext cx="342" cy="18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0" name="Oval 8"/>
            <p:cNvSpPr>
              <a:spLocks noChangeArrowheads="1"/>
            </p:cNvSpPr>
            <p:nvPr/>
          </p:nvSpPr>
          <p:spPr bwMode="auto">
            <a:xfrm>
              <a:off x="1388" y="1707"/>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1" name="Line 9"/>
            <p:cNvSpPr>
              <a:spLocks noChangeShapeType="1"/>
            </p:cNvSpPr>
            <p:nvPr/>
          </p:nvSpPr>
          <p:spPr bwMode="auto">
            <a:xfrm>
              <a:off x="1388" y="1700"/>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2" name="Line 10"/>
            <p:cNvSpPr>
              <a:spLocks noChangeShapeType="1"/>
            </p:cNvSpPr>
            <p:nvPr/>
          </p:nvSpPr>
          <p:spPr bwMode="auto">
            <a:xfrm>
              <a:off x="1701" y="1700"/>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3" name="Rectangle 11"/>
            <p:cNvSpPr>
              <a:spLocks noChangeArrowheads="1"/>
            </p:cNvSpPr>
            <p:nvPr/>
          </p:nvSpPr>
          <p:spPr bwMode="auto">
            <a:xfrm>
              <a:off x="1388" y="1700"/>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484" name="Oval 12"/>
            <p:cNvSpPr>
              <a:spLocks noChangeArrowheads="1"/>
            </p:cNvSpPr>
            <p:nvPr/>
          </p:nvSpPr>
          <p:spPr bwMode="auto">
            <a:xfrm>
              <a:off x="1385" y="1641"/>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5" name="Oval 13"/>
            <p:cNvSpPr>
              <a:spLocks noChangeArrowheads="1"/>
            </p:cNvSpPr>
            <p:nvPr/>
          </p:nvSpPr>
          <p:spPr bwMode="auto">
            <a:xfrm>
              <a:off x="1862" y="2094"/>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6" name="Line 14"/>
            <p:cNvSpPr>
              <a:spLocks noChangeShapeType="1"/>
            </p:cNvSpPr>
            <p:nvPr/>
          </p:nvSpPr>
          <p:spPr bwMode="auto">
            <a:xfrm>
              <a:off x="1862" y="2087"/>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7" name="Line 15"/>
            <p:cNvSpPr>
              <a:spLocks noChangeShapeType="1"/>
            </p:cNvSpPr>
            <p:nvPr/>
          </p:nvSpPr>
          <p:spPr bwMode="auto">
            <a:xfrm>
              <a:off x="2175" y="2087"/>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88" name="Rectangle 16"/>
            <p:cNvSpPr>
              <a:spLocks noChangeArrowheads="1"/>
            </p:cNvSpPr>
            <p:nvPr/>
          </p:nvSpPr>
          <p:spPr bwMode="auto">
            <a:xfrm>
              <a:off x="1862" y="2087"/>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489" name="Oval 17"/>
            <p:cNvSpPr>
              <a:spLocks noChangeArrowheads="1"/>
            </p:cNvSpPr>
            <p:nvPr/>
          </p:nvSpPr>
          <p:spPr bwMode="auto">
            <a:xfrm>
              <a:off x="1859" y="2028"/>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0" name="Oval 18"/>
            <p:cNvSpPr>
              <a:spLocks noChangeArrowheads="1"/>
            </p:cNvSpPr>
            <p:nvPr/>
          </p:nvSpPr>
          <p:spPr bwMode="auto">
            <a:xfrm>
              <a:off x="1858" y="1404"/>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1" name="Line 19"/>
            <p:cNvSpPr>
              <a:spLocks noChangeShapeType="1"/>
            </p:cNvSpPr>
            <p:nvPr/>
          </p:nvSpPr>
          <p:spPr bwMode="auto">
            <a:xfrm>
              <a:off x="1858" y="1397"/>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2" name="Line 20"/>
            <p:cNvSpPr>
              <a:spLocks noChangeShapeType="1"/>
            </p:cNvSpPr>
            <p:nvPr/>
          </p:nvSpPr>
          <p:spPr bwMode="auto">
            <a:xfrm>
              <a:off x="2171" y="1397"/>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3" name="Rectangle 21"/>
            <p:cNvSpPr>
              <a:spLocks noChangeArrowheads="1"/>
            </p:cNvSpPr>
            <p:nvPr/>
          </p:nvSpPr>
          <p:spPr bwMode="auto">
            <a:xfrm>
              <a:off x="1858" y="1397"/>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494" name="Oval 22"/>
            <p:cNvSpPr>
              <a:spLocks noChangeArrowheads="1"/>
            </p:cNvSpPr>
            <p:nvPr/>
          </p:nvSpPr>
          <p:spPr bwMode="auto">
            <a:xfrm>
              <a:off x="1855" y="1338"/>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5" name="Oval 23"/>
            <p:cNvSpPr>
              <a:spLocks noChangeArrowheads="1"/>
            </p:cNvSpPr>
            <p:nvPr/>
          </p:nvSpPr>
          <p:spPr bwMode="auto">
            <a:xfrm>
              <a:off x="2541" y="1400"/>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6" name="Line 24"/>
            <p:cNvSpPr>
              <a:spLocks noChangeShapeType="1"/>
            </p:cNvSpPr>
            <p:nvPr/>
          </p:nvSpPr>
          <p:spPr bwMode="auto">
            <a:xfrm>
              <a:off x="2541" y="1393"/>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7" name="Line 25"/>
            <p:cNvSpPr>
              <a:spLocks noChangeShapeType="1"/>
            </p:cNvSpPr>
            <p:nvPr/>
          </p:nvSpPr>
          <p:spPr bwMode="auto">
            <a:xfrm>
              <a:off x="2853" y="1393"/>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498" name="Rectangle 26"/>
            <p:cNvSpPr>
              <a:spLocks noChangeArrowheads="1"/>
            </p:cNvSpPr>
            <p:nvPr/>
          </p:nvSpPr>
          <p:spPr bwMode="auto">
            <a:xfrm>
              <a:off x="2541" y="1393"/>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499" name="Oval 27"/>
            <p:cNvSpPr>
              <a:spLocks noChangeArrowheads="1"/>
            </p:cNvSpPr>
            <p:nvPr/>
          </p:nvSpPr>
          <p:spPr bwMode="auto">
            <a:xfrm>
              <a:off x="2544" y="1337"/>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0" name="Oval 28"/>
            <p:cNvSpPr>
              <a:spLocks noChangeArrowheads="1"/>
            </p:cNvSpPr>
            <p:nvPr/>
          </p:nvSpPr>
          <p:spPr bwMode="auto">
            <a:xfrm>
              <a:off x="2551" y="2091"/>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1" name="Line 29"/>
            <p:cNvSpPr>
              <a:spLocks noChangeShapeType="1"/>
            </p:cNvSpPr>
            <p:nvPr/>
          </p:nvSpPr>
          <p:spPr bwMode="auto">
            <a:xfrm>
              <a:off x="2551" y="208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2" name="Line 30"/>
            <p:cNvSpPr>
              <a:spLocks noChangeShapeType="1"/>
            </p:cNvSpPr>
            <p:nvPr/>
          </p:nvSpPr>
          <p:spPr bwMode="auto">
            <a:xfrm>
              <a:off x="2864" y="208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3" name="Rectangle 31"/>
            <p:cNvSpPr>
              <a:spLocks noChangeArrowheads="1"/>
            </p:cNvSpPr>
            <p:nvPr/>
          </p:nvSpPr>
          <p:spPr bwMode="auto">
            <a:xfrm>
              <a:off x="2551" y="2084"/>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504" name="Oval 32"/>
            <p:cNvSpPr>
              <a:spLocks noChangeArrowheads="1"/>
            </p:cNvSpPr>
            <p:nvPr/>
          </p:nvSpPr>
          <p:spPr bwMode="auto">
            <a:xfrm>
              <a:off x="2548" y="2025"/>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5" name="Oval 33"/>
            <p:cNvSpPr>
              <a:spLocks noChangeArrowheads="1"/>
            </p:cNvSpPr>
            <p:nvPr/>
          </p:nvSpPr>
          <p:spPr bwMode="auto">
            <a:xfrm>
              <a:off x="3116" y="1750"/>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6" name="Line 34"/>
            <p:cNvSpPr>
              <a:spLocks noChangeShapeType="1"/>
            </p:cNvSpPr>
            <p:nvPr/>
          </p:nvSpPr>
          <p:spPr bwMode="auto">
            <a:xfrm>
              <a:off x="3116" y="1743"/>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7" name="Line 35"/>
            <p:cNvSpPr>
              <a:spLocks noChangeShapeType="1"/>
            </p:cNvSpPr>
            <p:nvPr/>
          </p:nvSpPr>
          <p:spPr bwMode="auto">
            <a:xfrm>
              <a:off x="3429" y="1743"/>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08" name="Rectangle 36"/>
            <p:cNvSpPr>
              <a:spLocks noChangeArrowheads="1"/>
            </p:cNvSpPr>
            <p:nvPr/>
          </p:nvSpPr>
          <p:spPr bwMode="auto">
            <a:xfrm>
              <a:off x="3116" y="1743"/>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800">
                <a:latin typeface="Times New Roman" pitchFamily="18" charset="0"/>
              </a:endParaRPr>
            </a:p>
          </p:txBody>
        </p:sp>
        <p:sp>
          <p:nvSpPr>
            <p:cNvPr id="617509" name="Oval 37"/>
            <p:cNvSpPr>
              <a:spLocks noChangeArrowheads="1"/>
            </p:cNvSpPr>
            <p:nvPr/>
          </p:nvSpPr>
          <p:spPr bwMode="auto">
            <a:xfrm>
              <a:off x="3113" y="1684"/>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10" name="Freeform 38"/>
            <p:cNvSpPr>
              <a:spLocks/>
            </p:cNvSpPr>
            <p:nvPr/>
          </p:nvSpPr>
          <p:spPr bwMode="auto">
            <a:xfrm>
              <a:off x="2707" y="1492"/>
              <a:ext cx="1" cy="522"/>
            </a:xfrm>
            <a:custGeom>
              <a:avLst/>
              <a:gdLst>
                <a:gd name="T0" fmla="*/ 0 w 1"/>
                <a:gd name="T1" fmla="*/ 0 h 522"/>
                <a:gd name="T2" fmla="*/ 0 w 1"/>
                <a:gd name="T3" fmla="*/ 522 h 522"/>
              </a:gdLst>
              <a:ahLst/>
              <a:cxnLst>
                <a:cxn ang="0">
                  <a:pos x="T0" y="T1"/>
                </a:cxn>
                <a:cxn ang="0">
                  <a:pos x="T2" y="T3"/>
                </a:cxn>
              </a:cxnLst>
              <a:rect l="0" t="0" r="r" b="b"/>
              <a:pathLst>
                <a:path w="1" h="522">
                  <a:moveTo>
                    <a:pt x="0" y="0"/>
                  </a:moveTo>
                  <a:lnTo>
                    <a:pt x="0" y="522"/>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13" name="Freeform 41"/>
            <p:cNvSpPr>
              <a:spLocks/>
            </p:cNvSpPr>
            <p:nvPr/>
          </p:nvSpPr>
          <p:spPr bwMode="auto">
            <a:xfrm>
              <a:off x="2866" y="1831"/>
              <a:ext cx="366" cy="270"/>
            </a:xfrm>
            <a:custGeom>
              <a:avLst/>
              <a:gdLst>
                <a:gd name="T0" fmla="*/ 0 w 366"/>
                <a:gd name="T1" fmla="*/ 270 h 270"/>
                <a:gd name="T2" fmla="*/ 366 w 366"/>
                <a:gd name="T3" fmla="*/ 0 h 270"/>
              </a:gdLst>
              <a:ahLst/>
              <a:cxnLst>
                <a:cxn ang="0">
                  <a:pos x="T0" y="T1"/>
                </a:cxn>
                <a:cxn ang="0">
                  <a:pos x="T2" y="T3"/>
                </a:cxn>
              </a:cxnLst>
              <a:rect l="0" t="0" r="r" b="b"/>
              <a:pathLst>
                <a:path w="366" h="270">
                  <a:moveTo>
                    <a:pt x="0" y="270"/>
                  </a:moveTo>
                  <a:lnTo>
                    <a:pt x="366"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14" name="Freeform 42"/>
            <p:cNvSpPr>
              <a:spLocks/>
            </p:cNvSpPr>
            <p:nvPr/>
          </p:nvSpPr>
          <p:spPr bwMode="auto">
            <a:xfrm>
              <a:off x="2185" y="2113"/>
              <a:ext cx="366" cy="1"/>
            </a:xfrm>
            <a:custGeom>
              <a:avLst/>
              <a:gdLst>
                <a:gd name="T0" fmla="*/ 366 w 366"/>
                <a:gd name="T1" fmla="*/ 0 h 1"/>
                <a:gd name="T2" fmla="*/ 0 w 366"/>
                <a:gd name="T3" fmla="*/ 0 h 1"/>
              </a:gdLst>
              <a:ahLst/>
              <a:cxnLst>
                <a:cxn ang="0">
                  <a:pos x="T0" y="T1"/>
                </a:cxn>
                <a:cxn ang="0">
                  <a:pos x="T2" y="T3"/>
                </a:cxn>
              </a:cxnLst>
              <a:rect l="0" t="0" r="r" b="b"/>
              <a:pathLst>
                <a:path w="366" h="1">
                  <a:moveTo>
                    <a:pt x="366" y="0"/>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15" name="Freeform 43"/>
            <p:cNvSpPr>
              <a:spLocks/>
            </p:cNvSpPr>
            <p:nvPr/>
          </p:nvSpPr>
          <p:spPr bwMode="auto">
            <a:xfrm>
              <a:off x="1594" y="1789"/>
              <a:ext cx="276" cy="264"/>
            </a:xfrm>
            <a:custGeom>
              <a:avLst/>
              <a:gdLst>
                <a:gd name="T0" fmla="*/ 276 w 276"/>
                <a:gd name="T1" fmla="*/ 264 h 264"/>
                <a:gd name="T2" fmla="*/ 0 w 276"/>
                <a:gd name="T3" fmla="*/ 0 h 264"/>
              </a:gdLst>
              <a:ahLst/>
              <a:cxnLst>
                <a:cxn ang="0">
                  <a:pos x="T0" y="T1"/>
                </a:cxn>
                <a:cxn ang="0">
                  <a:pos x="T2" y="T3"/>
                </a:cxn>
              </a:cxnLst>
              <a:rect l="0" t="0" r="r" b="b"/>
              <a:pathLst>
                <a:path w="276" h="264">
                  <a:moveTo>
                    <a:pt x="276" y="264"/>
                  </a:moveTo>
                  <a:lnTo>
                    <a:pt x="0" y="0"/>
                  </a:lnTo>
                </a:path>
              </a:pathLst>
            </a:custGeom>
            <a:noFill/>
            <a:ln w="12700">
              <a:solidFill>
                <a:schemeClr val="tx1"/>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grpSp>
          <p:nvGrpSpPr>
            <p:cNvPr id="617519" name="Group 47"/>
            <p:cNvGrpSpPr>
              <a:grpSpLocks/>
            </p:cNvGrpSpPr>
            <p:nvPr/>
          </p:nvGrpSpPr>
          <p:grpSpPr bwMode="auto">
            <a:xfrm>
              <a:off x="1436" y="1593"/>
              <a:ext cx="210" cy="250"/>
              <a:chOff x="2951" y="2429"/>
              <a:chExt cx="213" cy="250"/>
            </a:xfrm>
          </p:grpSpPr>
          <p:sp>
            <p:nvSpPr>
              <p:cNvPr id="617520" name="Rectangle 4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21" name="Text Box 49"/>
              <p:cNvSpPr txBox="1">
                <a:spLocks noChangeArrowheads="1"/>
              </p:cNvSpPr>
              <p:nvPr/>
            </p:nvSpPr>
            <p:spPr bwMode="auto">
              <a:xfrm>
                <a:off x="2951" y="2429"/>
                <a:ext cx="213"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b="1" dirty="0">
                    <a:solidFill>
                      <a:srgbClr val="0070C0"/>
                    </a:solidFill>
                  </a:rPr>
                  <a:t>u</a:t>
                </a:r>
                <a:endParaRPr lang="de-DE" sz="2800" b="1" dirty="0">
                  <a:solidFill>
                    <a:srgbClr val="0070C0"/>
                  </a:solidFill>
                  <a:latin typeface="Times New Roman" pitchFamily="18" charset="0"/>
                </a:endParaRPr>
              </a:p>
            </p:txBody>
          </p:sp>
        </p:grpSp>
        <p:grpSp>
          <p:nvGrpSpPr>
            <p:cNvPr id="617522" name="Group 50"/>
            <p:cNvGrpSpPr>
              <a:grpSpLocks/>
            </p:cNvGrpSpPr>
            <p:nvPr/>
          </p:nvGrpSpPr>
          <p:grpSpPr bwMode="auto">
            <a:xfrm>
              <a:off x="2612" y="1977"/>
              <a:ext cx="191" cy="250"/>
              <a:chOff x="2961" y="2429"/>
              <a:chExt cx="194" cy="250"/>
            </a:xfrm>
          </p:grpSpPr>
          <p:sp>
            <p:nvSpPr>
              <p:cNvPr id="617523" name="Rectangle 51"/>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24" name="Text Box 52"/>
              <p:cNvSpPr txBox="1">
                <a:spLocks noChangeArrowheads="1"/>
              </p:cNvSpPr>
              <p:nvPr/>
            </p:nvSpPr>
            <p:spPr bwMode="auto">
              <a:xfrm>
                <a:off x="2961" y="2429"/>
                <a:ext cx="194"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a:t>y</a:t>
                </a:r>
                <a:endParaRPr lang="de-DE" sz="2800">
                  <a:latin typeface="Times New Roman" pitchFamily="18" charset="0"/>
                </a:endParaRPr>
              </a:p>
            </p:txBody>
          </p:sp>
        </p:grpSp>
        <p:grpSp>
          <p:nvGrpSpPr>
            <p:cNvPr id="617525" name="Group 53"/>
            <p:cNvGrpSpPr>
              <a:grpSpLocks/>
            </p:cNvGrpSpPr>
            <p:nvPr/>
          </p:nvGrpSpPr>
          <p:grpSpPr bwMode="auto">
            <a:xfrm>
              <a:off x="1921" y="1944"/>
              <a:ext cx="217" cy="283"/>
              <a:chOff x="2951" y="2399"/>
              <a:chExt cx="218" cy="283"/>
            </a:xfrm>
          </p:grpSpPr>
          <p:sp>
            <p:nvSpPr>
              <p:cNvPr id="617526" name="Rectangle 54"/>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27" name="Text Box 55"/>
              <p:cNvSpPr txBox="1">
                <a:spLocks noChangeArrowheads="1"/>
              </p:cNvSpPr>
              <p:nvPr/>
            </p:nvSpPr>
            <p:spPr bwMode="auto">
              <a:xfrm>
                <a:off x="2951" y="2399"/>
                <a:ext cx="218" cy="2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800" b="1"/>
                  <a:t>x</a:t>
                </a:r>
              </a:p>
            </p:txBody>
          </p:sp>
        </p:grpSp>
        <p:grpSp>
          <p:nvGrpSpPr>
            <p:cNvPr id="617528" name="Group 56"/>
            <p:cNvGrpSpPr>
              <a:grpSpLocks/>
            </p:cNvGrpSpPr>
            <p:nvPr/>
          </p:nvGrpSpPr>
          <p:grpSpPr bwMode="auto">
            <a:xfrm>
              <a:off x="2590" y="1287"/>
              <a:ext cx="230" cy="250"/>
              <a:chOff x="2942" y="2429"/>
              <a:chExt cx="233" cy="250"/>
            </a:xfrm>
          </p:grpSpPr>
          <p:sp>
            <p:nvSpPr>
              <p:cNvPr id="617529" name="Rectangle 57"/>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30" name="Text Box 58"/>
              <p:cNvSpPr txBox="1">
                <a:spLocks noChangeArrowheads="1"/>
              </p:cNvSpPr>
              <p:nvPr/>
            </p:nvSpPr>
            <p:spPr bwMode="auto">
              <a:xfrm>
                <a:off x="2942" y="2429"/>
                <a:ext cx="233"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a:t>w</a:t>
                </a:r>
                <a:endParaRPr lang="de-DE" sz="2800">
                  <a:latin typeface="Times New Roman" pitchFamily="18" charset="0"/>
                </a:endParaRPr>
              </a:p>
            </p:txBody>
          </p:sp>
        </p:grpSp>
        <p:grpSp>
          <p:nvGrpSpPr>
            <p:cNvPr id="617531" name="Group 59"/>
            <p:cNvGrpSpPr>
              <a:grpSpLocks/>
            </p:cNvGrpSpPr>
            <p:nvPr/>
          </p:nvGrpSpPr>
          <p:grpSpPr bwMode="auto">
            <a:xfrm>
              <a:off x="1920" y="1287"/>
              <a:ext cx="201" cy="250"/>
              <a:chOff x="2956" y="2429"/>
              <a:chExt cx="204" cy="250"/>
            </a:xfrm>
          </p:grpSpPr>
          <p:sp>
            <p:nvSpPr>
              <p:cNvPr id="617532" name="Rectangle 60"/>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33" name="Text Box 61"/>
              <p:cNvSpPr txBox="1">
                <a:spLocks noChangeArrowheads="1"/>
              </p:cNvSpPr>
              <p:nvPr/>
            </p:nvSpPr>
            <p:spPr bwMode="auto">
              <a:xfrm>
                <a:off x="2956" y="2429"/>
                <a:ext cx="204"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b="1"/>
                  <a:t>v</a:t>
                </a:r>
                <a:endParaRPr lang="de-DE" sz="2800" b="1">
                  <a:latin typeface="Times New Roman" pitchFamily="18" charset="0"/>
                </a:endParaRPr>
              </a:p>
            </p:txBody>
          </p:sp>
        </p:grpSp>
        <p:grpSp>
          <p:nvGrpSpPr>
            <p:cNvPr id="617534" name="Group 62"/>
            <p:cNvGrpSpPr>
              <a:grpSpLocks/>
            </p:cNvGrpSpPr>
            <p:nvPr/>
          </p:nvGrpSpPr>
          <p:grpSpPr bwMode="auto">
            <a:xfrm>
              <a:off x="3177" y="1605"/>
              <a:ext cx="205" cy="283"/>
              <a:chOff x="2953" y="2399"/>
              <a:chExt cx="207" cy="283"/>
            </a:xfrm>
          </p:grpSpPr>
          <p:sp>
            <p:nvSpPr>
              <p:cNvPr id="617535" name="Rectangle 63"/>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sz="2000"/>
              </a:p>
            </p:txBody>
          </p:sp>
          <p:sp>
            <p:nvSpPr>
              <p:cNvPr id="617536" name="Text Box 64"/>
              <p:cNvSpPr txBox="1">
                <a:spLocks noChangeArrowheads="1"/>
              </p:cNvSpPr>
              <p:nvPr/>
            </p:nvSpPr>
            <p:spPr bwMode="auto">
              <a:xfrm>
                <a:off x="2953" y="2399"/>
                <a:ext cx="207" cy="2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800"/>
                  <a:t>z</a:t>
                </a:r>
              </a:p>
            </p:txBody>
          </p:sp>
        </p:grpSp>
      </p:grpSp>
      <p:grpSp>
        <p:nvGrpSpPr>
          <p:cNvPr id="617572" name="Group 100"/>
          <p:cNvGrpSpPr>
            <a:grpSpLocks/>
          </p:cNvGrpSpPr>
          <p:nvPr/>
        </p:nvGrpSpPr>
        <p:grpSpPr bwMode="auto">
          <a:xfrm>
            <a:off x="1244741" y="3704955"/>
            <a:ext cx="2389186" cy="2300288"/>
            <a:chOff x="739" y="2794"/>
            <a:chExt cx="1505" cy="1449"/>
          </a:xfrm>
        </p:grpSpPr>
        <p:sp>
          <p:nvSpPr>
            <p:cNvPr id="617551" name="Line 79"/>
            <p:cNvSpPr>
              <a:spLocks noChangeShapeType="1"/>
            </p:cNvSpPr>
            <p:nvPr/>
          </p:nvSpPr>
          <p:spPr bwMode="auto">
            <a:xfrm>
              <a:off x="1152" y="2880"/>
              <a:ext cx="8" cy="132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sz="2400"/>
            </a:p>
          </p:txBody>
        </p:sp>
        <p:sp>
          <p:nvSpPr>
            <p:cNvPr id="617552" name="Line 80"/>
            <p:cNvSpPr>
              <a:spLocks noChangeShapeType="1"/>
            </p:cNvSpPr>
            <p:nvPr/>
          </p:nvSpPr>
          <p:spPr bwMode="auto">
            <a:xfrm>
              <a:off x="739" y="3063"/>
              <a:ext cx="13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de-DE" sz="2400"/>
            </a:p>
          </p:txBody>
        </p:sp>
        <p:sp>
          <p:nvSpPr>
            <p:cNvPr id="617553" name="Text Box 81"/>
            <p:cNvSpPr txBox="1">
              <a:spLocks noChangeArrowheads="1"/>
            </p:cNvSpPr>
            <p:nvPr/>
          </p:nvSpPr>
          <p:spPr bwMode="auto">
            <a:xfrm>
              <a:off x="883" y="3063"/>
              <a:ext cx="21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v</a:t>
              </a:r>
            </a:p>
          </p:txBody>
        </p:sp>
        <p:sp>
          <p:nvSpPr>
            <p:cNvPr id="617554" name="Text Box 82"/>
            <p:cNvSpPr txBox="1">
              <a:spLocks noChangeArrowheads="1"/>
            </p:cNvSpPr>
            <p:nvPr/>
          </p:nvSpPr>
          <p:spPr bwMode="auto">
            <a:xfrm>
              <a:off x="876" y="3250"/>
              <a:ext cx="21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x</a:t>
              </a:r>
            </a:p>
          </p:txBody>
        </p:sp>
        <p:sp>
          <p:nvSpPr>
            <p:cNvPr id="617562" name="Text Box 90"/>
            <p:cNvSpPr txBox="1">
              <a:spLocks noChangeArrowheads="1"/>
            </p:cNvSpPr>
            <p:nvPr/>
          </p:nvSpPr>
          <p:spPr bwMode="auto">
            <a:xfrm>
              <a:off x="890" y="3485"/>
              <a:ext cx="21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y</a:t>
              </a:r>
            </a:p>
          </p:txBody>
        </p:sp>
        <p:sp>
          <p:nvSpPr>
            <p:cNvPr id="617563" name="Text Box 91"/>
            <p:cNvSpPr txBox="1">
              <a:spLocks noChangeArrowheads="1"/>
            </p:cNvSpPr>
            <p:nvPr/>
          </p:nvSpPr>
          <p:spPr bwMode="auto">
            <a:xfrm>
              <a:off x="875" y="3720"/>
              <a:ext cx="25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w</a:t>
              </a:r>
            </a:p>
          </p:txBody>
        </p:sp>
        <p:sp>
          <p:nvSpPr>
            <p:cNvPr id="617564" name="Text Box 92"/>
            <p:cNvSpPr txBox="1">
              <a:spLocks noChangeArrowheads="1"/>
            </p:cNvSpPr>
            <p:nvPr/>
          </p:nvSpPr>
          <p:spPr bwMode="auto">
            <a:xfrm>
              <a:off x="884" y="3946"/>
              <a:ext cx="21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z</a:t>
              </a:r>
            </a:p>
          </p:txBody>
        </p:sp>
        <p:sp>
          <p:nvSpPr>
            <p:cNvPr id="617565" name="Text Box 93"/>
            <p:cNvSpPr txBox="1">
              <a:spLocks noChangeArrowheads="1"/>
            </p:cNvSpPr>
            <p:nvPr/>
          </p:nvSpPr>
          <p:spPr bwMode="auto">
            <a:xfrm>
              <a:off x="1248" y="3047"/>
              <a:ext cx="515"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dirty="0"/>
                <a:t>(</a:t>
              </a:r>
              <a:r>
                <a:rPr lang="de-DE" sz="2400" dirty="0" err="1"/>
                <a:t>u,</a:t>
              </a:r>
              <a:r>
                <a:rPr lang="de-DE" sz="2400" b="1" dirty="0" err="1">
                  <a:solidFill>
                    <a:srgbClr val="7030A0"/>
                  </a:solidFill>
                </a:rPr>
                <a:t>v</a:t>
              </a:r>
              <a:r>
                <a:rPr lang="de-DE" sz="2400" dirty="0"/>
                <a:t>)</a:t>
              </a:r>
            </a:p>
          </p:txBody>
        </p:sp>
        <p:sp>
          <p:nvSpPr>
            <p:cNvPr id="617566" name="Text Box 94"/>
            <p:cNvSpPr txBox="1">
              <a:spLocks noChangeArrowheads="1"/>
            </p:cNvSpPr>
            <p:nvPr/>
          </p:nvSpPr>
          <p:spPr bwMode="auto">
            <a:xfrm>
              <a:off x="1249" y="3249"/>
              <a:ext cx="515"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(u,</a:t>
              </a:r>
              <a:r>
                <a:rPr lang="de-DE" sz="2400" b="1">
                  <a:solidFill>
                    <a:srgbClr val="00B050"/>
                  </a:solidFill>
                </a:rPr>
                <a:t>x</a:t>
              </a:r>
              <a:r>
                <a:rPr lang="de-DE" sz="2400"/>
                <a:t>)</a:t>
              </a:r>
            </a:p>
          </p:txBody>
        </p:sp>
        <p:sp>
          <p:nvSpPr>
            <p:cNvPr id="617567" name="Text Box 95"/>
            <p:cNvSpPr txBox="1">
              <a:spLocks noChangeArrowheads="1"/>
            </p:cNvSpPr>
            <p:nvPr/>
          </p:nvSpPr>
          <p:spPr bwMode="auto">
            <a:xfrm>
              <a:off x="1248" y="3500"/>
              <a:ext cx="515"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(u,</a:t>
              </a:r>
              <a:r>
                <a:rPr lang="de-DE" sz="2400" b="1">
                  <a:solidFill>
                    <a:srgbClr val="00B050"/>
                  </a:solidFill>
                </a:rPr>
                <a:t>x</a:t>
              </a:r>
              <a:r>
                <a:rPr lang="de-DE" sz="2400"/>
                <a:t>)</a:t>
              </a:r>
            </a:p>
          </p:txBody>
        </p:sp>
        <p:sp>
          <p:nvSpPr>
            <p:cNvPr id="617568" name="Text Box 96"/>
            <p:cNvSpPr txBox="1">
              <a:spLocks noChangeArrowheads="1"/>
            </p:cNvSpPr>
            <p:nvPr/>
          </p:nvSpPr>
          <p:spPr bwMode="auto">
            <a:xfrm>
              <a:off x="1264" y="3718"/>
              <a:ext cx="515"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(u,</a:t>
              </a:r>
              <a:r>
                <a:rPr lang="de-DE" sz="2400" b="1">
                  <a:solidFill>
                    <a:srgbClr val="00B050"/>
                  </a:solidFill>
                </a:rPr>
                <a:t>x</a:t>
              </a:r>
              <a:r>
                <a:rPr lang="de-DE" sz="2400"/>
                <a:t>)</a:t>
              </a:r>
            </a:p>
          </p:txBody>
        </p:sp>
        <p:sp>
          <p:nvSpPr>
            <p:cNvPr id="617569" name="Text Box 97"/>
            <p:cNvSpPr txBox="1">
              <a:spLocks noChangeArrowheads="1"/>
            </p:cNvSpPr>
            <p:nvPr/>
          </p:nvSpPr>
          <p:spPr bwMode="auto">
            <a:xfrm>
              <a:off x="1254" y="3952"/>
              <a:ext cx="515"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(u,</a:t>
              </a:r>
              <a:r>
                <a:rPr lang="de-DE" sz="2400" b="1">
                  <a:solidFill>
                    <a:srgbClr val="00B050"/>
                  </a:solidFill>
                </a:rPr>
                <a:t>x</a:t>
              </a:r>
              <a:r>
                <a:rPr lang="de-DE" sz="2400"/>
                <a:t>)</a:t>
              </a:r>
            </a:p>
          </p:txBody>
        </p:sp>
        <p:sp>
          <p:nvSpPr>
            <p:cNvPr id="617570" name="Text Box 98"/>
            <p:cNvSpPr txBox="1">
              <a:spLocks noChangeArrowheads="1"/>
            </p:cNvSpPr>
            <p:nvPr/>
          </p:nvSpPr>
          <p:spPr bwMode="auto">
            <a:xfrm>
              <a:off x="739" y="2794"/>
              <a:ext cx="429"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Ziel</a:t>
              </a:r>
            </a:p>
          </p:txBody>
        </p:sp>
        <p:sp>
          <p:nvSpPr>
            <p:cNvPr id="617571" name="Text Box 99"/>
            <p:cNvSpPr txBox="1">
              <a:spLocks noChangeArrowheads="1"/>
            </p:cNvSpPr>
            <p:nvPr/>
          </p:nvSpPr>
          <p:spPr bwMode="auto">
            <a:xfrm>
              <a:off x="1232" y="2794"/>
              <a:ext cx="1012"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de-DE" sz="2400"/>
                <a:t>“Ausgang”</a:t>
              </a:r>
            </a:p>
          </p:txBody>
        </p:sp>
      </p:grpSp>
      <p:sp>
        <p:nvSpPr>
          <p:cNvPr id="617573" name="Text Box 101"/>
          <p:cNvSpPr txBox="1">
            <a:spLocks noChangeArrowheads="1"/>
          </p:cNvSpPr>
          <p:nvPr/>
        </p:nvSpPr>
        <p:spPr bwMode="auto">
          <a:xfrm>
            <a:off x="457200" y="2716560"/>
            <a:ext cx="3357843"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b="1" dirty="0">
                <a:solidFill>
                  <a:srgbClr val="FF0000"/>
                </a:solidFill>
              </a:rPr>
              <a:t>Weiterleitungstabelle </a:t>
            </a:r>
          </a:p>
          <a:p>
            <a:pPr algn="ctr"/>
            <a:r>
              <a:rPr lang="de-DE" sz="2400" dirty="0"/>
              <a:t>für </a:t>
            </a:r>
            <a:r>
              <a:rPr lang="de-DE" sz="2400" b="1" dirty="0">
                <a:solidFill>
                  <a:srgbClr val="0070C0"/>
                </a:solidFill>
              </a:rPr>
              <a:t>u</a:t>
            </a:r>
            <a:r>
              <a:rPr lang="de-DE" sz="2400" dirty="0"/>
              <a:t>:</a:t>
            </a:r>
            <a:endParaRPr lang="de-DE" sz="2400" u="sng" dirty="0">
              <a:solidFill>
                <a:srgbClr val="FF0000"/>
              </a:solidFill>
            </a:endParaRPr>
          </a:p>
        </p:txBody>
      </p:sp>
      <p:sp>
        <p:nvSpPr>
          <p:cNvPr id="76" name="Content Placeholder 3"/>
          <p:cNvSpPr txBox="1">
            <a:spLocks/>
          </p:cNvSpPr>
          <p:nvPr/>
        </p:nvSpPr>
        <p:spPr>
          <a:xfrm>
            <a:off x="457200" y="1219200"/>
            <a:ext cx="8229600" cy="1417712"/>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de-DE" dirty="0"/>
              <a:t>Die Werte p(v) nach der letzten Operation erlauben uns, die </a:t>
            </a:r>
            <a:r>
              <a:rPr lang="de-DE" u="sng" dirty="0"/>
              <a:t>Weiterleitungstabelle</a:t>
            </a:r>
            <a:r>
              <a:rPr lang="de-DE" dirty="0"/>
              <a:t> und die </a:t>
            </a:r>
            <a:r>
              <a:rPr lang="de-DE" u="sng" dirty="0"/>
              <a:t>Routing-Pfade</a:t>
            </a:r>
            <a:r>
              <a:rPr lang="de-DE" dirty="0"/>
              <a:t> zu bestimmen (für u als Quellknoten)</a:t>
            </a:r>
          </a:p>
        </p:txBody>
      </p:sp>
      <p:sp>
        <p:nvSpPr>
          <p:cNvPr id="77" name="Text Box 101"/>
          <p:cNvSpPr txBox="1">
            <a:spLocks noChangeArrowheads="1"/>
          </p:cNvSpPr>
          <p:nvPr/>
        </p:nvSpPr>
        <p:spPr bwMode="auto">
          <a:xfrm>
            <a:off x="4791509" y="2636911"/>
            <a:ext cx="384271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400" b="1">
                <a:solidFill>
                  <a:srgbClr val="FF0000"/>
                </a:solidFill>
              </a:rPr>
              <a:t>Baum der </a:t>
            </a:r>
            <a:br>
              <a:rPr lang="de-DE" sz="2400" b="1">
                <a:solidFill>
                  <a:srgbClr val="FF0000"/>
                </a:solidFill>
              </a:rPr>
            </a:br>
            <a:r>
              <a:rPr lang="de-DE" sz="2400" b="1">
                <a:solidFill>
                  <a:srgbClr val="FF0000"/>
                </a:solidFill>
              </a:rPr>
              <a:t>kostengünstigsten Pfade</a:t>
            </a:r>
          </a:p>
          <a:p>
            <a:pPr algn="ctr"/>
            <a:r>
              <a:rPr lang="de-DE" sz="2400"/>
              <a:t>für u:</a:t>
            </a:r>
            <a:endParaRPr lang="de-DE" sz="2400" u="sng">
              <a:solidFill>
                <a:srgbClr val="FF0000"/>
              </a:solidFill>
            </a:endParaRPr>
          </a:p>
        </p:txBody>
      </p:sp>
      <p:sp>
        <p:nvSpPr>
          <p:cNvPr id="78" name="Textfeld 77"/>
          <p:cNvSpPr txBox="1"/>
          <p:nvPr/>
        </p:nvSpPr>
        <p:spPr>
          <a:xfrm>
            <a:off x="467544" y="6165304"/>
            <a:ext cx="4791696" cy="461665"/>
          </a:xfrm>
          <a:prstGeom prst="rect">
            <a:avLst/>
          </a:prstGeom>
          <a:noFill/>
        </p:spPr>
        <p:txBody>
          <a:bodyPr wrap="none" rtlCol="0">
            <a:spAutoFit/>
          </a:bodyPr>
          <a:lstStyle/>
          <a:p>
            <a:r>
              <a:rPr lang="de-DE" sz="2400" dirty="0"/>
              <a:t>Wie genau berechnet man diese?</a:t>
            </a:r>
          </a:p>
        </p:txBody>
      </p:sp>
    </p:spTree>
    <p:extLst>
      <p:ext uri="{BB962C8B-B14F-4D97-AF65-F5344CB8AC3E}">
        <p14:creationId xmlns:p14="http://schemas.microsoft.com/office/powerpoint/2010/main" val="294583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Slide Number Placeholder 6"/>
          <p:cNvSpPr>
            <a:spLocks noGrp="1"/>
          </p:cNvSpPr>
          <p:nvPr>
            <p:ph type="sldNum" sz="quarter" idx="12"/>
          </p:nvPr>
        </p:nvSpPr>
        <p:spPr/>
        <p:txBody>
          <a:bodyPr/>
          <a:lstStyle/>
          <a:p>
            <a:fld id="{52A64CB8-CE9A-4CD4-B887-60CA742FF8AD}" type="slidenum">
              <a:rPr lang="de-DE" smtClean="0"/>
              <a:pPr/>
              <a:t>32</a:t>
            </a:fld>
            <a:endParaRPr lang="de-DE"/>
          </a:p>
        </p:txBody>
      </p:sp>
      <p:sp>
        <p:nvSpPr>
          <p:cNvPr id="465922" name="Rectangle 2"/>
          <p:cNvSpPr>
            <a:spLocks noGrp="1" noChangeArrowheads="1"/>
          </p:cNvSpPr>
          <p:nvPr>
            <p:ph type="title"/>
          </p:nvPr>
        </p:nvSpPr>
        <p:spPr/>
        <p:txBody>
          <a:bodyPr/>
          <a:lstStyle/>
          <a:p>
            <a:r>
              <a:rPr lang="de-DE" sz="3600" dirty="0"/>
              <a:t>Dijkstra-Algorithmus - Diskussion</a:t>
            </a:r>
            <a:endParaRPr lang="de-DE" dirty="0"/>
          </a:p>
        </p:txBody>
      </p:sp>
      <p:sp>
        <p:nvSpPr>
          <p:cNvPr id="465923" name="Rectangle 3"/>
          <p:cNvSpPr>
            <a:spLocks noGrp="1" noChangeArrowheads="1"/>
          </p:cNvSpPr>
          <p:nvPr>
            <p:ph type="body" sz="half" idx="1"/>
          </p:nvPr>
        </p:nvSpPr>
        <p:spPr>
          <a:xfrm>
            <a:off x="433997" y="1196752"/>
            <a:ext cx="8277225" cy="2651125"/>
          </a:xfrm>
        </p:spPr>
        <p:txBody>
          <a:bodyPr>
            <a:normAutofit/>
          </a:bodyPr>
          <a:lstStyle/>
          <a:p>
            <a:pPr>
              <a:lnSpc>
                <a:spcPct val="90000"/>
              </a:lnSpc>
              <a:buFont typeface="ZapfDingbats" pitchFamily="82" charset="2"/>
              <a:buNone/>
            </a:pPr>
            <a:r>
              <a:rPr lang="de-DE" sz="2400" b="1" dirty="0">
                <a:solidFill>
                  <a:srgbClr val="FF0000"/>
                </a:solidFill>
              </a:rPr>
              <a:t>Komplexität </a:t>
            </a:r>
            <a:r>
              <a:rPr lang="de-DE" sz="2400" dirty="0">
                <a:solidFill>
                  <a:srgbClr val="000000"/>
                </a:solidFill>
              </a:rPr>
              <a:t>bei </a:t>
            </a:r>
            <a:r>
              <a:rPr lang="de-DE" sz="2400" dirty="0"/>
              <a:t>n Knoten:</a:t>
            </a:r>
          </a:p>
          <a:p>
            <a:pPr>
              <a:lnSpc>
                <a:spcPct val="90000"/>
              </a:lnSpc>
            </a:pPr>
            <a:r>
              <a:rPr lang="de-DE" sz="2400" dirty="0"/>
              <a:t>jede Iteration: muss alle Knoten w (nicht in N‘) überprüfen</a:t>
            </a:r>
          </a:p>
          <a:p>
            <a:pPr>
              <a:lnSpc>
                <a:spcPct val="90000"/>
              </a:lnSpc>
            </a:pPr>
            <a:r>
              <a:rPr lang="de-DE" sz="2400" dirty="0"/>
              <a:t>max. n(n+1)/2 Vergleiche: O(n</a:t>
            </a:r>
            <a:r>
              <a:rPr lang="de-DE" sz="2400" baseline="30000" dirty="0"/>
              <a:t>2</a:t>
            </a:r>
            <a:r>
              <a:rPr lang="de-DE" sz="2400" dirty="0"/>
              <a:t>)</a:t>
            </a:r>
          </a:p>
          <a:p>
            <a:pPr>
              <a:lnSpc>
                <a:spcPct val="90000"/>
              </a:lnSpc>
            </a:pPr>
            <a:r>
              <a:rPr lang="de-DE" sz="2400" dirty="0"/>
              <a:t>Es gibt effizientere Verfahren mit Heaps =&gt; O(n log(n))</a:t>
            </a:r>
          </a:p>
          <a:p>
            <a:pPr>
              <a:lnSpc>
                <a:spcPct val="90000"/>
              </a:lnSpc>
              <a:spcBef>
                <a:spcPct val="40000"/>
              </a:spcBef>
              <a:buNone/>
            </a:pPr>
            <a:r>
              <a:rPr lang="de-DE" sz="2400" dirty="0">
                <a:solidFill>
                  <a:srgbClr val="000000"/>
                </a:solidFill>
              </a:rPr>
              <a:t>Problem: </a:t>
            </a:r>
            <a:r>
              <a:rPr lang="de-DE" sz="2400" b="1" dirty="0">
                <a:solidFill>
                  <a:srgbClr val="FF0000"/>
                </a:solidFill>
              </a:rPr>
              <a:t>Oszillationen </a:t>
            </a:r>
            <a:r>
              <a:rPr lang="de-DE" sz="2400" dirty="0">
                <a:solidFill>
                  <a:srgbClr val="000000"/>
                </a:solidFill>
              </a:rPr>
              <a:t>sind möglich!</a:t>
            </a:r>
            <a:endParaRPr lang="de-DE" sz="2400" dirty="0"/>
          </a:p>
          <a:p>
            <a:pPr>
              <a:lnSpc>
                <a:spcPct val="90000"/>
              </a:lnSpc>
            </a:pPr>
            <a:r>
              <a:rPr lang="de-DE" sz="2400" dirty="0"/>
              <a:t>z.B., Leitungskosten = aktuelles Verkehrsaufkommen</a:t>
            </a:r>
          </a:p>
        </p:txBody>
      </p:sp>
      <p:grpSp>
        <p:nvGrpSpPr>
          <p:cNvPr id="2" name="Gruppieren 1"/>
          <p:cNvGrpSpPr/>
          <p:nvPr/>
        </p:nvGrpSpPr>
        <p:grpSpPr>
          <a:xfrm>
            <a:off x="347663" y="3899696"/>
            <a:ext cx="8796336" cy="2744788"/>
            <a:chOff x="347663" y="3899696"/>
            <a:chExt cx="8796336" cy="2744788"/>
          </a:xfrm>
        </p:grpSpPr>
        <p:grpSp>
          <p:nvGrpSpPr>
            <p:cNvPr id="465924" name="Group 4"/>
            <p:cNvGrpSpPr>
              <a:grpSpLocks/>
            </p:cNvGrpSpPr>
            <p:nvPr/>
          </p:nvGrpSpPr>
          <p:grpSpPr bwMode="auto">
            <a:xfrm>
              <a:off x="347663" y="3899696"/>
              <a:ext cx="8796336" cy="2744788"/>
              <a:chOff x="244" y="2691"/>
              <a:chExt cx="5541" cy="1729"/>
            </a:xfrm>
          </p:grpSpPr>
          <p:sp>
            <p:nvSpPr>
              <p:cNvPr id="465925" name="Freeform 5"/>
              <p:cNvSpPr>
                <a:spLocks/>
              </p:cNvSpPr>
              <p:nvPr/>
            </p:nvSpPr>
            <p:spPr bwMode="auto">
              <a:xfrm>
                <a:off x="281" y="2691"/>
                <a:ext cx="1242" cy="854"/>
              </a:xfrm>
              <a:custGeom>
                <a:avLst/>
                <a:gdLst>
                  <a:gd name="T0" fmla="*/ 1 w 1242"/>
                  <a:gd name="T1" fmla="*/ 381 h 854"/>
                  <a:gd name="T2" fmla="*/ 169 w 1242"/>
                  <a:gd name="T3" fmla="*/ 162 h 854"/>
                  <a:gd name="T4" fmla="*/ 487 w 1242"/>
                  <a:gd name="T5" fmla="*/ 18 h 854"/>
                  <a:gd name="T6" fmla="*/ 823 w 1242"/>
                  <a:gd name="T7" fmla="*/ 30 h 854"/>
                  <a:gd name="T8" fmla="*/ 1183 w 1242"/>
                  <a:gd name="T9" fmla="*/ 261 h 854"/>
                  <a:gd name="T10" fmla="*/ 1177 w 1242"/>
                  <a:gd name="T11" fmla="*/ 609 h 854"/>
                  <a:gd name="T12" fmla="*/ 928 w 1242"/>
                  <a:gd name="T13" fmla="*/ 780 h 854"/>
                  <a:gd name="T14" fmla="*/ 448 w 1242"/>
                  <a:gd name="T15" fmla="*/ 837 h 854"/>
                  <a:gd name="T16" fmla="*/ 178 w 1242"/>
                  <a:gd name="T17" fmla="*/ 675 h 854"/>
                  <a:gd name="T18" fmla="*/ 1 w 1242"/>
                  <a:gd name="T19" fmla="*/ 381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42" h="854">
                    <a:moveTo>
                      <a:pt x="1" y="381"/>
                    </a:moveTo>
                    <a:cubicBezTo>
                      <a:pt x="0" y="296"/>
                      <a:pt x="88" y="222"/>
                      <a:pt x="169" y="162"/>
                    </a:cubicBezTo>
                    <a:cubicBezTo>
                      <a:pt x="250" y="102"/>
                      <a:pt x="378" y="40"/>
                      <a:pt x="487" y="18"/>
                    </a:cubicBezTo>
                    <a:cubicBezTo>
                      <a:pt x="616" y="6"/>
                      <a:pt x="685" y="0"/>
                      <a:pt x="823" y="30"/>
                    </a:cubicBezTo>
                    <a:cubicBezTo>
                      <a:pt x="961" y="60"/>
                      <a:pt x="1121" y="165"/>
                      <a:pt x="1183" y="261"/>
                    </a:cubicBezTo>
                    <a:cubicBezTo>
                      <a:pt x="1242" y="357"/>
                      <a:pt x="1219" y="523"/>
                      <a:pt x="1177" y="609"/>
                    </a:cubicBezTo>
                    <a:cubicBezTo>
                      <a:pt x="1135" y="695"/>
                      <a:pt x="1049" y="742"/>
                      <a:pt x="928" y="780"/>
                    </a:cubicBezTo>
                    <a:cubicBezTo>
                      <a:pt x="807" y="818"/>
                      <a:pt x="573" y="854"/>
                      <a:pt x="448" y="837"/>
                    </a:cubicBezTo>
                    <a:cubicBezTo>
                      <a:pt x="323" y="820"/>
                      <a:pt x="252" y="751"/>
                      <a:pt x="178" y="675"/>
                    </a:cubicBezTo>
                    <a:cubicBezTo>
                      <a:pt x="104" y="599"/>
                      <a:pt x="2" y="466"/>
                      <a:pt x="1" y="381"/>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26" name="Freeform 6"/>
              <p:cNvSpPr>
                <a:spLocks/>
              </p:cNvSpPr>
              <p:nvPr/>
            </p:nvSpPr>
            <p:spPr bwMode="auto">
              <a:xfrm>
                <a:off x="534" y="2904"/>
                <a:ext cx="246" cy="132"/>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27" name="Group 7"/>
              <p:cNvGrpSpPr>
                <a:grpSpLocks/>
              </p:cNvGrpSpPr>
              <p:nvPr/>
            </p:nvGrpSpPr>
            <p:grpSpPr bwMode="auto">
              <a:xfrm>
                <a:off x="727" y="2708"/>
                <a:ext cx="316" cy="250"/>
                <a:chOff x="1747" y="3194"/>
                <a:chExt cx="316" cy="250"/>
              </a:xfrm>
            </p:grpSpPr>
            <p:sp>
              <p:nvSpPr>
                <p:cNvPr id="465928" name="Oval 8"/>
                <p:cNvSpPr>
                  <a:spLocks noChangeArrowheads="1"/>
                </p:cNvSpPr>
                <p:nvPr/>
              </p:nvSpPr>
              <p:spPr bwMode="auto">
                <a:xfrm>
                  <a:off x="1750" y="3308"/>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29" name="Line 9"/>
                <p:cNvSpPr>
                  <a:spLocks noChangeShapeType="1"/>
                </p:cNvSpPr>
                <p:nvPr/>
              </p:nvSpPr>
              <p:spPr bwMode="auto">
                <a:xfrm>
                  <a:off x="1750"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30" name="Line 10"/>
                <p:cNvSpPr>
                  <a:spLocks noChangeShapeType="1"/>
                </p:cNvSpPr>
                <p:nvPr/>
              </p:nvSpPr>
              <p:spPr bwMode="auto">
                <a:xfrm>
                  <a:off x="2063"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31" name="Rectangle 11"/>
                <p:cNvSpPr>
                  <a:spLocks noChangeArrowheads="1"/>
                </p:cNvSpPr>
                <p:nvPr/>
              </p:nvSpPr>
              <p:spPr bwMode="auto">
                <a:xfrm>
                  <a:off x="1750" y="3301"/>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32" name="Oval 12"/>
                <p:cNvSpPr>
                  <a:spLocks noChangeArrowheads="1"/>
                </p:cNvSpPr>
                <p:nvPr/>
              </p:nvSpPr>
              <p:spPr bwMode="auto">
                <a:xfrm>
                  <a:off x="1747" y="3242"/>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33" name="Group 13"/>
                <p:cNvGrpSpPr>
                  <a:grpSpLocks/>
                </p:cNvGrpSpPr>
                <p:nvPr/>
              </p:nvGrpSpPr>
              <p:grpSpPr bwMode="auto">
                <a:xfrm>
                  <a:off x="1785" y="3194"/>
                  <a:ext cx="233" cy="250"/>
                  <a:chOff x="2940" y="2429"/>
                  <a:chExt cx="236" cy="250"/>
                </a:xfrm>
              </p:grpSpPr>
              <p:sp>
                <p:nvSpPr>
                  <p:cNvPr id="465934" name="Rectangle 14"/>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35" name="Text Box 15"/>
                  <p:cNvSpPr txBox="1">
                    <a:spLocks noChangeArrowheads="1"/>
                  </p:cNvSpPr>
                  <p:nvPr/>
                </p:nvSpPr>
                <p:spPr bwMode="auto">
                  <a:xfrm>
                    <a:off x="2940" y="2429"/>
                    <a:ext cx="236"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A</a:t>
                    </a:r>
                    <a:endParaRPr lang="de-DE" sz="2400">
                      <a:latin typeface="Times New Roman" pitchFamily="18" charset="0"/>
                    </a:endParaRPr>
                  </a:p>
                </p:txBody>
              </p:sp>
            </p:grpSp>
          </p:grpSp>
          <p:grpSp>
            <p:nvGrpSpPr>
              <p:cNvPr id="465936" name="Group 16"/>
              <p:cNvGrpSpPr>
                <a:grpSpLocks/>
              </p:cNvGrpSpPr>
              <p:nvPr/>
            </p:nvGrpSpPr>
            <p:grpSpPr bwMode="auto">
              <a:xfrm>
                <a:off x="319" y="2963"/>
                <a:ext cx="316" cy="252"/>
                <a:chOff x="2221" y="3575"/>
                <a:chExt cx="316" cy="252"/>
              </a:xfrm>
            </p:grpSpPr>
            <p:sp>
              <p:nvSpPr>
                <p:cNvPr id="465937" name="Oval 17"/>
                <p:cNvSpPr>
                  <a:spLocks noChangeArrowheads="1"/>
                </p:cNvSpPr>
                <p:nvPr/>
              </p:nvSpPr>
              <p:spPr bwMode="auto">
                <a:xfrm>
                  <a:off x="2224" y="369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38" name="Line 18"/>
                <p:cNvSpPr>
                  <a:spLocks noChangeShapeType="1"/>
                </p:cNvSpPr>
                <p:nvPr/>
              </p:nvSpPr>
              <p:spPr bwMode="auto">
                <a:xfrm>
                  <a:off x="2224"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39" name="Line 19"/>
                <p:cNvSpPr>
                  <a:spLocks noChangeShapeType="1"/>
                </p:cNvSpPr>
                <p:nvPr/>
              </p:nvSpPr>
              <p:spPr bwMode="auto">
                <a:xfrm>
                  <a:off x="2537"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40" name="Rectangle 20"/>
                <p:cNvSpPr>
                  <a:spLocks noChangeArrowheads="1"/>
                </p:cNvSpPr>
                <p:nvPr/>
              </p:nvSpPr>
              <p:spPr bwMode="auto">
                <a:xfrm>
                  <a:off x="2224" y="368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41" name="Oval 21"/>
                <p:cNvSpPr>
                  <a:spLocks noChangeArrowheads="1"/>
                </p:cNvSpPr>
                <p:nvPr/>
              </p:nvSpPr>
              <p:spPr bwMode="auto">
                <a:xfrm>
                  <a:off x="2221" y="362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42" name="Group 22"/>
                <p:cNvGrpSpPr>
                  <a:grpSpLocks/>
                </p:cNvGrpSpPr>
                <p:nvPr/>
              </p:nvGrpSpPr>
              <p:grpSpPr bwMode="auto">
                <a:xfrm>
                  <a:off x="2274" y="3575"/>
                  <a:ext cx="233" cy="252"/>
                  <a:chOff x="2940" y="2429"/>
                  <a:chExt cx="236" cy="252"/>
                </a:xfrm>
              </p:grpSpPr>
              <p:sp>
                <p:nvSpPr>
                  <p:cNvPr id="465943" name="Rectangle 23"/>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44" name="Text Box 24"/>
                  <p:cNvSpPr txBox="1">
                    <a:spLocks noChangeArrowheads="1"/>
                  </p:cNvSpPr>
                  <p:nvPr/>
                </p:nvSpPr>
                <p:spPr bwMode="auto">
                  <a:xfrm>
                    <a:off x="2940" y="2429"/>
                    <a:ext cx="236"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D</a:t>
                    </a:r>
                    <a:endParaRPr lang="de-DE" sz="2400">
                      <a:latin typeface="Times New Roman" pitchFamily="18" charset="0"/>
                    </a:endParaRPr>
                  </a:p>
                </p:txBody>
              </p:sp>
            </p:grpSp>
          </p:grpSp>
          <p:grpSp>
            <p:nvGrpSpPr>
              <p:cNvPr id="465945" name="Group 25"/>
              <p:cNvGrpSpPr>
                <a:grpSpLocks/>
              </p:cNvGrpSpPr>
              <p:nvPr/>
            </p:nvGrpSpPr>
            <p:grpSpPr bwMode="auto">
              <a:xfrm>
                <a:off x="719" y="3254"/>
                <a:ext cx="315" cy="252"/>
                <a:chOff x="2903" y="2888"/>
                <a:chExt cx="315" cy="252"/>
              </a:xfrm>
            </p:grpSpPr>
            <p:grpSp>
              <p:nvGrpSpPr>
                <p:cNvPr id="465946" name="Group 26"/>
                <p:cNvGrpSpPr>
                  <a:grpSpLocks/>
                </p:cNvGrpSpPr>
                <p:nvPr/>
              </p:nvGrpSpPr>
              <p:grpSpPr bwMode="auto">
                <a:xfrm>
                  <a:off x="2903" y="2938"/>
                  <a:ext cx="315" cy="144"/>
                  <a:chOff x="2903" y="2938"/>
                  <a:chExt cx="315" cy="144"/>
                </a:xfrm>
              </p:grpSpPr>
              <p:sp>
                <p:nvSpPr>
                  <p:cNvPr id="465947" name="Oval 27"/>
                  <p:cNvSpPr>
                    <a:spLocks noChangeArrowheads="1"/>
                  </p:cNvSpPr>
                  <p:nvPr/>
                </p:nvSpPr>
                <p:spPr bwMode="auto">
                  <a:xfrm>
                    <a:off x="2903" y="3001"/>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48" name="Line 28"/>
                  <p:cNvSpPr>
                    <a:spLocks noChangeShapeType="1"/>
                  </p:cNvSpPr>
                  <p:nvPr/>
                </p:nvSpPr>
                <p:spPr bwMode="auto">
                  <a:xfrm>
                    <a:off x="2903"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49" name="Line 29"/>
                  <p:cNvSpPr>
                    <a:spLocks noChangeShapeType="1"/>
                  </p:cNvSpPr>
                  <p:nvPr/>
                </p:nvSpPr>
                <p:spPr bwMode="auto">
                  <a:xfrm>
                    <a:off x="3215"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50" name="Rectangle 30"/>
                  <p:cNvSpPr>
                    <a:spLocks noChangeArrowheads="1"/>
                  </p:cNvSpPr>
                  <p:nvPr/>
                </p:nvSpPr>
                <p:spPr bwMode="auto">
                  <a:xfrm>
                    <a:off x="2903" y="2994"/>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51" name="Oval 31"/>
                  <p:cNvSpPr>
                    <a:spLocks noChangeArrowheads="1"/>
                  </p:cNvSpPr>
                  <p:nvPr/>
                </p:nvSpPr>
                <p:spPr bwMode="auto">
                  <a:xfrm>
                    <a:off x="2906" y="2938"/>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65952" name="Group 32"/>
                <p:cNvGrpSpPr>
                  <a:grpSpLocks/>
                </p:cNvGrpSpPr>
                <p:nvPr/>
              </p:nvGrpSpPr>
              <p:grpSpPr bwMode="auto">
                <a:xfrm>
                  <a:off x="2952" y="2888"/>
                  <a:ext cx="234" cy="252"/>
                  <a:chOff x="2939" y="2429"/>
                  <a:chExt cx="237" cy="252"/>
                </a:xfrm>
              </p:grpSpPr>
              <p:sp>
                <p:nvSpPr>
                  <p:cNvPr id="465953" name="Rectangle 33"/>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54" name="Text Box 34"/>
                  <p:cNvSpPr txBox="1">
                    <a:spLocks noChangeArrowheads="1"/>
                  </p:cNvSpPr>
                  <p:nvPr/>
                </p:nvSpPr>
                <p:spPr bwMode="auto">
                  <a:xfrm>
                    <a:off x="2939" y="2429"/>
                    <a:ext cx="23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C</a:t>
                    </a:r>
                    <a:endParaRPr lang="de-DE" sz="2400">
                      <a:latin typeface="Times New Roman" pitchFamily="18" charset="0"/>
                    </a:endParaRPr>
                  </a:p>
                </p:txBody>
              </p:sp>
            </p:grpSp>
          </p:grpSp>
          <p:grpSp>
            <p:nvGrpSpPr>
              <p:cNvPr id="465955" name="Group 35"/>
              <p:cNvGrpSpPr>
                <a:grpSpLocks/>
              </p:cNvGrpSpPr>
              <p:nvPr/>
            </p:nvGrpSpPr>
            <p:grpSpPr bwMode="auto">
              <a:xfrm>
                <a:off x="1131" y="2972"/>
                <a:ext cx="316" cy="252"/>
                <a:chOff x="2217" y="2888"/>
                <a:chExt cx="316" cy="252"/>
              </a:xfrm>
            </p:grpSpPr>
            <p:sp>
              <p:nvSpPr>
                <p:cNvPr id="465956" name="Oval 36"/>
                <p:cNvSpPr>
                  <a:spLocks noChangeArrowheads="1"/>
                </p:cNvSpPr>
                <p:nvPr/>
              </p:nvSpPr>
              <p:spPr bwMode="auto">
                <a:xfrm>
                  <a:off x="2220" y="30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57" name="Line 37"/>
                <p:cNvSpPr>
                  <a:spLocks noChangeShapeType="1"/>
                </p:cNvSpPr>
                <p:nvPr/>
              </p:nvSpPr>
              <p:spPr bwMode="auto">
                <a:xfrm>
                  <a:off x="2220"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58" name="Line 38"/>
                <p:cNvSpPr>
                  <a:spLocks noChangeShapeType="1"/>
                </p:cNvSpPr>
                <p:nvPr/>
              </p:nvSpPr>
              <p:spPr bwMode="auto">
                <a:xfrm>
                  <a:off x="2533"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59" name="Rectangle 39"/>
                <p:cNvSpPr>
                  <a:spLocks noChangeArrowheads="1"/>
                </p:cNvSpPr>
                <p:nvPr/>
              </p:nvSpPr>
              <p:spPr bwMode="auto">
                <a:xfrm>
                  <a:off x="2220" y="29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60" name="Oval 40"/>
                <p:cNvSpPr>
                  <a:spLocks noChangeArrowheads="1"/>
                </p:cNvSpPr>
                <p:nvPr/>
              </p:nvSpPr>
              <p:spPr bwMode="auto">
                <a:xfrm>
                  <a:off x="2217" y="29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61" name="Group 41"/>
                <p:cNvGrpSpPr>
                  <a:grpSpLocks/>
                </p:cNvGrpSpPr>
                <p:nvPr/>
              </p:nvGrpSpPr>
              <p:grpSpPr bwMode="auto">
                <a:xfrm>
                  <a:off x="2270" y="2888"/>
                  <a:ext cx="224" cy="252"/>
                  <a:chOff x="2944" y="2429"/>
                  <a:chExt cx="227" cy="252"/>
                </a:xfrm>
              </p:grpSpPr>
              <p:sp>
                <p:nvSpPr>
                  <p:cNvPr id="465962" name="Rectangle 42"/>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63" name="Text Box 43"/>
                  <p:cNvSpPr txBox="1">
                    <a:spLocks noChangeArrowheads="1"/>
                  </p:cNvSpPr>
                  <p:nvPr/>
                </p:nvSpPr>
                <p:spPr bwMode="auto">
                  <a:xfrm>
                    <a:off x="2944" y="2429"/>
                    <a:ext cx="22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B</a:t>
                    </a:r>
                    <a:endParaRPr lang="de-DE" sz="2400">
                      <a:latin typeface="Times New Roman" pitchFamily="18" charset="0"/>
                    </a:endParaRPr>
                  </a:p>
                </p:txBody>
              </p:sp>
            </p:grpSp>
          </p:grpSp>
          <p:sp>
            <p:nvSpPr>
              <p:cNvPr id="465964" name="Text Box 44"/>
              <p:cNvSpPr txBox="1">
                <a:spLocks noChangeArrowheads="1"/>
              </p:cNvSpPr>
              <p:nvPr/>
            </p:nvSpPr>
            <p:spPr bwMode="auto">
              <a:xfrm>
                <a:off x="525" y="2783"/>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65965" name="Freeform 45"/>
              <p:cNvSpPr>
                <a:spLocks/>
              </p:cNvSpPr>
              <p:nvPr/>
            </p:nvSpPr>
            <p:spPr bwMode="auto">
              <a:xfrm flipH="1">
                <a:off x="966" y="2904"/>
                <a:ext cx="213" cy="129"/>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66" name="Freeform 46"/>
              <p:cNvSpPr>
                <a:spLocks/>
              </p:cNvSpPr>
              <p:nvPr/>
            </p:nvSpPr>
            <p:spPr bwMode="auto">
              <a:xfrm flipH="1" flipV="1">
                <a:off x="975" y="3165"/>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67" name="Freeform 47"/>
              <p:cNvSpPr>
                <a:spLocks/>
              </p:cNvSpPr>
              <p:nvPr/>
            </p:nvSpPr>
            <p:spPr bwMode="auto">
              <a:xfrm flipV="1">
                <a:off x="573" y="3159"/>
                <a:ext cx="204" cy="15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68" name="Text Box 48"/>
              <p:cNvSpPr txBox="1">
                <a:spLocks noChangeArrowheads="1"/>
              </p:cNvSpPr>
              <p:nvPr/>
            </p:nvSpPr>
            <p:spPr bwMode="auto">
              <a:xfrm>
                <a:off x="1025" y="2816"/>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1+e</a:t>
                </a:r>
                <a:endParaRPr lang="de-DE" sz="2400">
                  <a:latin typeface="Times New Roman" pitchFamily="18" charset="0"/>
                </a:endParaRPr>
              </a:p>
            </p:txBody>
          </p:sp>
          <p:sp>
            <p:nvSpPr>
              <p:cNvPr id="465969" name="Text Box 49"/>
              <p:cNvSpPr txBox="1">
                <a:spLocks noChangeArrowheads="1"/>
              </p:cNvSpPr>
              <p:nvPr/>
            </p:nvSpPr>
            <p:spPr bwMode="auto">
              <a:xfrm>
                <a:off x="1051" y="3161"/>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e</a:t>
                </a:r>
                <a:endParaRPr lang="de-DE" sz="2400">
                  <a:latin typeface="Times New Roman" pitchFamily="18" charset="0"/>
                </a:endParaRPr>
              </a:p>
            </p:txBody>
          </p:sp>
          <p:sp>
            <p:nvSpPr>
              <p:cNvPr id="465970" name="Text Box 50"/>
              <p:cNvSpPr txBox="1">
                <a:spLocks noChangeArrowheads="1"/>
              </p:cNvSpPr>
              <p:nvPr/>
            </p:nvSpPr>
            <p:spPr bwMode="auto">
              <a:xfrm>
                <a:off x="499" y="3176"/>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5971" name="Line 51"/>
              <p:cNvSpPr>
                <a:spLocks noChangeShapeType="1"/>
              </p:cNvSpPr>
              <p:nvPr/>
            </p:nvSpPr>
            <p:spPr bwMode="auto">
              <a:xfrm flipV="1">
                <a:off x="870" y="3453"/>
                <a:ext cx="0" cy="252"/>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72" name="Text Box 52"/>
              <p:cNvSpPr txBox="1">
                <a:spLocks noChangeArrowheads="1"/>
              </p:cNvSpPr>
              <p:nvPr/>
            </p:nvSpPr>
            <p:spPr bwMode="auto">
              <a:xfrm>
                <a:off x="758" y="3665"/>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e</a:t>
                </a:r>
                <a:endParaRPr lang="de-DE" sz="2400" dirty="0">
                  <a:latin typeface="Times New Roman" pitchFamily="18" charset="0"/>
                </a:endParaRPr>
              </a:p>
            </p:txBody>
          </p:sp>
          <p:sp>
            <p:nvSpPr>
              <p:cNvPr id="465973" name="Line 53"/>
              <p:cNvSpPr>
                <a:spLocks noChangeShapeType="1"/>
              </p:cNvSpPr>
              <p:nvPr/>
            </p:nvSpPr>
            <p:spPr bwMode="auto">
              <a:xfrm flipH="1" flipV="1">
                <a:off x="354" y="3159"/>
                <a:ext cx="3" cy="213"/>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74" name="Text Box 54"/>
              <p:cNvSpPr txBox="1">
                <a:spLocks noChangeArrowheads="1"/>
              </p:cNvSpPr>
              <p:nvPr/>
            </p:nvSpPr>
            <p:spPr bwMode="auto">
              <a:xfrm>
                <a:off x="244" y="3344"/>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solidFill>
                      <a:srgbClr val="FF0000"/>
                    </a:solidFill>
                  </a:rPr>
                  <a:t>1</a:t>
                </a:r>
                <a:endParaRPr lang="de-DE" sz="2400">
                  <a:latin typeface="Times New Roman" pitchFamily="18" charset="0"/>
                </a:endParaRPr>
              </a:p>
            </p:txBody>
          </p:sp>
          <p:sp>
            <p:nvSpPr>
              <p:cNvPr id="465975" name="Line 55"/>
              <p:cNvSpPr>
                <a:spLocks noChangeShapeType="1"/>
              </p:cNvSpPr>
              <p:nvPr/>
            </p:nvSpPr>
            <p:spPr bwMode="auto">
              <a:xfrm flipV="1">
                <a:off x="1311" y="3180"/>
                <a:ext cx="0" cy="270"/>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76" name="Text Box 56"/>
              <p:cNvSpPr txBox="1">
                <a:spLocks noChangeArrowheads="1"/>
              </p:cNvSpPr>
              <p:nvPr/>
            </p:nvSpPr>
            <p:spPr bwMode="auto">
              <a:xfrm>
                <a:off x="1210" y="3410"/>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465977" name="Freeform 57"/>
              <p:cNvSpPr>
                <a:spLocks/>
              </p:cNvSpPr>
              <p:nvPr/>
            </p:nvSpPr>
            <p:spPr bwMode="auto">
              <a:xfrm flipH="1" flipV="1">
                <a:off x="915" y="3138"/>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78" name="Freeform 58"/>
              <p:cNvSpPr>
                <a:spLocks/>
              </p:cNvSpPr>
              <p:nvPr/>
            </p:nvSpPr>
            <p:spPr bwMode="auto">
              <a:xfrm flipH="1">
                <a:off x="630" y="3144"/>
                <a:ext cx="192" cy="138"/>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79" name="Text Box 59"/>
              <p:cNvSpPr txBox="1">
                <a:spLocks noChangeArrowheads="1"/>
              </p:cNvSpPr>
              <p:nvPr/>
            </p:nvSpPr>
            <p:spPr bwMode="auto">
              <a:xfrm>
                <a:off x="679" y="3038"/>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5980" name="Text Box 60"/>
              <p:cNvSpPr txBox="1">
                <a:spLocks noChangeArrowheads="1"/>
              </p:cNvSpPr>
              <p:nvPr/>
            </p:nvSpPr>
            <p:spPr bwMode="auto">
              <a:xfrm>
                <a:off x="895" y="3026"/>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5981" name="Freeform 61"/>
              <p:cNvSpPr>
                <a:spLocks/>
              </p:cNvSpPr>
              <p:nvPr/>
            </p:nvSpPr>
            <p:spPr bwMode="auto">
              <a:xfrm>
                <a:off x="1692" y="2721"/>
                <a:ext cx="1225" cy="854"/>
              </a:xfrm>
              <a:custGeom>
                <a:avLst/>
                <a:gdLst>
                  <a:gd name="T0" fmla="*/ 0 w 1225"/>
                  <a:gd name="T1" fmla="*/ 387 h 854"/>
                  <a:gd name="T2" fmla="*/ 168 w 1225"/>
                  <a:gd name="T3" fmla="*/ 162 h 854"/>
                  <a:gd name="T4" fmla="*/ 486 w 1225"/>
                  <a:gd name="T5" fmla="*/ 18 h 854"/>
                  <a:gd name="T6" fmla="*/ 822 w 1225"/>
                  <a:gd name="T7" fmla="*/ 30 h 854"/>
                  <a:gd name="T8" fmla="*/ 1152 w 1225"/>
                  <a:gd name="T9" fmla="*/ 267 h 854"/>
                  <a:gd name="T10" fmla="*/ 1188 w 1225"/>
                  <a:gd name="T11" fmla="*/ 537 h 854"/>
                  <a:gd name="T12" fmla="*/ 927 w 1225"/>
                  <a:gd name="T13" fmla="*/ 780 h 854"/>
                  <a:gd name="T14" fmla="*/ 447 w 1225"/>
                  <a:gd name="T15" fmla="*/ 837 h 854"/>
                  <a:gd name="T16" fmla="*/ 177 w 1225"/>
                  <a:gd name="T17" fmla="*/ 675 h 854"/>
                  <a:gd name="T18" fmla="*/ 0 w 1225"/>
                  <a:gd name="T19" fmla="*/ 387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25" h="854">
                    <a:moveTo>
                      <a:pt x="0" y="387"/>
                    </a:moveTo>
                    <a:cubicBezTo>
                      <a:pt x="0" y="243"/>
                      <a:pt x="87" y="223"/>
                      <a:pt x="168" y="162"/>
                    </a:cubicBezTo>
                    <a:cubicBezTo>
                      <a:pt x="249" y="101"/>
                      <a:pt x="377" y="40"/>
                      <a:pt x="486" y="18"/>
                    </a:cubicBezTo>
                    <a:cubicBezTo>
                      <a:pt x="615" y="6"/>
                      <a:pt x="684" y="0"/>
                      <a:pt x="822" y="30"/>
                    </a:cubicBezTo>
                    <a:cubicBezTo>
                      <a:pt x="960" y="60"/>
                      <a:pt x="1099" y="169"/>
                      <a:pt x="1152" y="267"/>
                    </a:cubicBezTo>
                    <a:cubicBezTo>
                      <a:pt x="1213" y="351"/>
                      <a:pt x="1225" y="452"/>
                      <a:pt x="1188" y="537"/>
                    </a:cubicBezTo>
                    <a:cubicBezTo>
                      <a:pt x="1151" y="622"/>
                      <a:pt x="1050" y="730"/>
                      <a:pt x="927" y="780"/>
                    </a:cubicBezTo>
                    <a:cubicBezTo>
                      <a:pt x="804" y="830"/>
                      <a:pt x="572" y="854"/>
                      <a:pt x="447" y="837"/>
                    </a:cubicBezTo>
                    <a:cubicBezTo>
                      <a:pt x="322" y="820"/>
                      <a:pt x="251" y="750"/>
                      <a:pt x="177" y="675"/>
                    </a:cubicBezTo>
                    <a:cubicBezTo>
                      <a:pt x="103" y="600"/>
                      <a:pt x="0" y="531"/>
                      <a:pt x="0" y="387"/>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82" name="Freeform 62"/>
              <p:cNvSpPr>
                <a:spLocks/>
              </p:cNvSpPr>
              <p:nvPr/>
            </p:nvSpPr>
            <p:spPr bwMode="auto">
              <a:xfrm>
                <a:off x="1944" y="2934"/>
                <a:ext cx="246" cy="132"/>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83" name="Group 63"/>
              <p:cNvGrpSpPr>
                <a:grpSpLocks/>
              </p:cNvGrpSpPr>
              <p:nvPr/>
            </p:nvGrpSpPr>
            <p:grpSpPr bwMode="auto">
              <a:xfrm>
                <a:off x="2137" y="2738"/>
                <a:ext cx="316" cy="250"/>
                <a:chOff x="1747" y="3194"/>
                <a:chExt cx="316" cy="250"/>
              </a:xfrm>
            </p:grpSpPr>
            <p:sp>
              <p:nvSpPr>
                <p:cNvPr id="465984" name="Oval 64"/>
                <p:cNvSpPr>
                  <a:spLocks noChangeArrowheads="1"/>
                </p:cNvSpPr>
                <p:nvPr/>
              </p:nvSpPr>
              <p:spPr bwMode="auto">
                <a:xfrm>
                  <a:off x="1750" y="3308"/>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85" name="Line 65"/>
                <p:cNvSpPr>
                  <a:spLocks noChangeShapeType="1"/>
                </p:cNvSpPr>
                <p:nvPr/>
              </p:nvSpPr>
              <p:spPr bwMode="auto">
                <a:xfrm>
                  <a:off x="1750"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86" name="Line 66"/>
                <p:cNvSpPr>
                  <a:spLocks noChangeShapeType="1"/>
                </p:cNvSpPr>
                <p:nvPr/>
              </p:nvSpPr>
              <p:spPr bwMode="auto">
                <a:xfrm>
                  <a:off x="2063"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87" name="Rectangle 67"/>
                <p:cNvSpPr>
                  <a:spLocks noChangeArrowheads="1"/>
                </p:cNvSpPr>
                <p:nvPr/>
              </p:nvSpPr>
              <p:spPr bwMode="auto">
                <a:xfrm>
                  <a:off x="1750" y="3301"/>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88" name="Oval 68"/>
                <p:cNvSpPr>
                  <a:spLocks noChangeArrowheads="1"/>
                </p:cNvSpPr>
                <p:nvPr/>
              </p:nvSpPr>
              <p:spPr bwMode="auto">
                <a:xfrm>
                  <a:off x="1747" y="3242"/>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89" name="Group 69"/>
                <p:cNvGrpSpPr>
                  <a:grpSpLocks/>
                </p:cNvGrpSpPr>
                <p:nvPr/>
              </p:nvGrpSpPr>
              <p:grpSpPr bwMode="auto">
                <a:xfrm>
                  <a:off x="1785" y="3194"/>
                  <a:ext cx="233" cy="250"/>
                  <a:chOff x="2940" y="2429"/>
                  <a:chExt cx="236" cy="250"/>
                </a:xfrm>
              </p:grpSpPr>
              <p:sp>
                <p:nvSpPr>
                  <p:cNvPr id="465990" name="Rectangle 70"/>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91" name="Text Box 71"/>
                  <p:cNvSpPr txBox="1">
                    <a:spLocks noChangeArrowheads="1"/>
                  </p:cNvSpPr>
                  <p:nvPr/>
                </p:nvSpPr>
                <p:spPr bwMode="auto">
                  <a:xfrm>
                    <a:off x="2940" y="2429"/>
                    <a:ext cx="236"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A</a:t>
                    </a:r>
                    <a:endParaRPr lang="de-DE" sz="2400">
                      <a:latin typeface="Times New Roman" pitchFamily="18" charset="0"/>
                    </a:endParaRPr>
                  </a:p>
                </p:txBody>
              </p:sp>
            </p:grpSp>
          </p:grpSp>
          <p:grpSp>
            <p:nvGrpSpPr>
              <p:cNvPr id="465992" name="Group 72"/>
              <p:cNvGrpSpPr>
                <a:grpSpLocks/>
              </p:cNvGrpSpPr>
              <p:nvPr/>
            </p:nvGrpSpPr>
            <p:grpSpPr bwMode="auto">
              <a:xfrm>
                <a:off x="1729" y="2993"/>
                <a:ext cx="316" cy="252"/>
                <a:chOff x="2221" y="3575"/>
                <a:chExt cx="316" cy="252"/>
              </a:xfrm>
            </p:grpSpPr>
            <p:sp>
              <p:nvSpPr>
                <p:cNvPr id="465993" name="Oval 73"/>
                <p:cNvSpPr>
                  <a:spLocks noChangeArrowheads="1"/>
                </p:cNvSpPr>
                <p:nvPr/>
              </p:nvSpPr>
              <p:spPr bwMode="auto">
                <a:xfrm>
                  <a:off x="2224" y="369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94" name="Line 74"/>
                <p:cNvSpPr>
                  <a:spLocks noChangeShapeType="1"/>
                </p:cNvSpPr>
                <p:nvPr/>
              </p:nvSpPr>
              <p:spPr bwMode="auto">
                <a:xfrm>
                  <a:off x="2224"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95" name="Line 75"/>
                <p:cNvSpPr>
                  <a:spLocks noChangeShapeType="1"/>
                </p:cNvSpPr>
                <p:nvPr/>
              </p:nvSpPr>
              <p:spPr bwMode="auto">
                <a:xfrm>
                  <a:off x="2537"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5996" name="Rectangle 76"/>
                <p:cNvSpPr>
                  <a:spLocks noChangeArrowheads="1"/>
                </p:cNvSpPr>
                <p:nvPr/>
              </p:nvSpPr>
              <p:spPr bwMode="auto">
                <a:xfrm>
                  <a:off x="2224" y="368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5997" name="Oval 77"/>
                <p:cNvSpPr>
                  <a:spLocks noChangeArrowheads="1"/>
                </p:cNvSpPr>
                <p:nvPr/>
              </p:nvSpPr>
              <p:spPr bwMode="auto">
                <a:xfrm>
                  <a:off x="2221" y="362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5998" name="Group 78"/>
                <p:cNvGrpSpPr>
                  <a:grpSpLocks/>
                </p:cNvGrpSpPr>
                <p:nvPr/>
              </p:nvGrpSpPr>
              <p:grpSpPr bwMode="auto">
                <a:xfrm>
                  <a:off x="2274" y="3575"/>
                  <a:ext cx="233" cy="252"/>
                  <a:chOff x="2940" y="2429"/>
                  <a:chExt cx="236" cy="252"/>
                </a:xfrm>
              </p:grpSpPr>
              <p:sp>
                <p:nvSpPr>
                  <p:cNvPr id="465999" name="Rectangle 7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00" name="Text Box 80"/>
                  <p:cNvSpPr txBox="1">
                    <a:spLocks noChangeArrowheads="1"/>
                  </p:cNvSpPr>
                  <p:nvPr/>
                </p:nvSpPr>
                <p:spPr bwMode="auto">
                  <a:xfrm>
                    <a:off x="2940" y="2429"/>
                    <a:ext cx="236"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D</a:t>
                    </a:r>
                    <a:endParaRPr lang="de-DE" sz="2400">
                      <a:latin typeface="Times New Roman" pitchFamily="18" charset="0"/>
                    </a:endParaRPr>
                  </a:p>
                </p:txBody>
              </p:sp>
            </p:grpSp>
          </p:grpSp>
          <p:grpSp>
            <p:nvGrpSpPr>
              <p:cNvPr id="466001" name="Group 81"/>
              <p:cNvGrpSpPr>
                <a:grpSpLocks/>
              </p:cNvGrpSpPr>
              <p:nvPr/>
            </p:nvGrpSpPr>
            <p:grpSpPr bwMode="auto">
              <a:xfrm>
                <a:off x="2129" y="3284"/>
                <a:ext cx="315" cy="252"/>
                <a:chOff x="2903" y="2888"/>
                <a:chExt cx="315" cy="252"/>
              </a:xfrm>
            </p:grpSpPr>
            <p:grpSp>
              <p:nvGrpSpPr>
                <p:cNvPr id="466002" name="Group 82"/>
                <p:cNvGrpSpPr>
                  <a:grpSpLocks/>
                </p:cNvGrpSpPr>
                <p:nvPr/>
              </p:nvGrpSpPr>
              <p:grpSpPr bwMode="auto">
                <a:xfrm>
                  <a:off x="2903" y="2938"/>
                  <a:ext cx="315" cy="144"/>
                  <a:chOff x="2903" y="2938"/>
                  <a:chExt cx="315" cy="144"/>
                </a:xfrm>
              </p:grpSpPr>
              <p:sp>
                <p:nvSpPr>
                  <p:cNvPr id="466003" name="Oval 83"/>
                  <p:cNvSpPr>
                    <a:spLocks noChangeArrowheads="1"/>
                  </p:cNvSpPr>
                  <p:nvPr/>
                </p:nvSpPr>
                <p:spPr bwMode="auto">
                  <a:xfrm>
                    <a:off x="2903" y="3001"/>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04" name="Line 84"/>
                  <p:cNvSpPr>
                    <a:spLocks noChangeShapeType="1"/>
                  </p:cNvSpPr>
                  <p:nvPr/>
                </p:nvSpPr>
                <p:spPr bwMode="auto">
                  <a:xfrm>
                    <a:off x="2903"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05" name="Line 85"/>
                  <p:cNvSpPr>
                    <a:spLocks noChangeShapeType="1"/>
                  </p:cNvSpPr>
                  <p:nvPr/>
                </p:nvSpPr>
                <p:spPr bwMode="auto">
                  <a:xfrm>
                    <a:off x="3215"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06" name="Rectangle 86"/>
                  <p:cNvSpPr>
                    <a:spLocks noChangeArrowheads="1"/>
                  </p:cNvSpPr>
                  <p:nvPr/>
                </p:nvSpPr>
                <p:spPr bwMode="auto">
                  <a:xfrm>
                    <a:off x="2903" y="2994"/>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07" name="Oval 87"/>
                  <p:cNvSpPr>
                    <a:spLocks noChangeArrowheads="1"/>
                  </p:cNvSpPr>
                  <p:nvPr/>
                </p:nvSpPr>
                <p:spPr bwMode="auto">
                  <a:xfrm>
                    <a:off x="2906" y="2938"/>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66008" name="Group 88"/>
                <p:cNvGrpSpPr>
                  <a:grpSpLocks/>
                </p:cNvGrpSpPr>
                <p:nvPr/>
              </p:nvGrpSpPr>
              <p:grpSpPr bwMode="auto">
                <a:xfrm>
                  <a:off x="2952" y="2888"/>
                  <a:ext cx="234" cy="252"/>
                  <a:chOff x="2939" y="2429"/>
                  <a:chExt cx="237" cy="252"/>
                </a:xfrm>
              </p:grpSpPr>
              <p:sp>
                <p:nvSpPr>
                  <p:cNvPr id="466009" name="Rectangle 8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10" name="Text Box 90"/>
                  <p:cNvSpPr txBox="1">
                    <a:spLocks noChangeArrowheads="1"/>
                  </p:cNvSpPr>
                  <p:nvPr/>
                </p:nvSpPr>
                <p:spPr bwMode="auto">
                  <a:xfrm>
                    <a:off x="2939" y="2429"/>
                    <a:ext cx="23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C</a:t>
                    </a:r>
                    <a:endParaRPr lang="de-DE" sz="2400">
                      <a:latin typeface="Times New Roman" pitchFamily="18" charset="0"/>
                    </a:endParaRPr>
                  </a:p>
                </p:txBody>
              </p:sp>
            </p:grpSp>
          </p:grpSp>
          <p:grpSp>
            <p:nvGrpSpPr>
              <p:cNvPr id="466011" name="Group 91"/>
              <p:cNvGrpSpPr>
                <a:grpSpLocks/>
              </p:cNvGrpSpPr>
              <p:nvPr/>
            </p:nvGrpSpPr>
            <p:grpSpPr bwMode="auto">
              <a:xfrm>
                <a:off x="2541" y="3002"/>
                <a:ext cx="316" cy="252"/>
                <a:chOff x="2217" y="2888"/>
                <a:chExt cx="316" cy="252"/>
              </a:xfrm>
            </p:grpSpPr>
            <p:sp>
              <p:nvSpPr>
                <p:cNvPr id="466012" name="Oval 92"/>
                <p:cNvSpPr>
                  <a:spLocks noChangeArrowheads="1"/>
                </p:cNvSpPr>
                <p:nvPr/>
              </p:nvSpPr>
              <p:spPr bwMode="auto">
                <a:xfrm>
                  <a:off x="2220" y="30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13" name="Line 93"/>
                <p:cNvSpPr>
                  <a:spLocks noChangeShapeType="1"/>
                </p:cNvSpPr>
                <p:nvPr/>
              </p:nvSpPr>
              <p:spPr bwMode="auto">
                <a:xfrm>
                  <a:off x="2220"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14" name="Line 94"/>
                <p:cNvSpPr>
                  <a:spLocks noChangeShapeType="1"/>
                </p:cNvSpPr>
                <p:nvPr/>
              </p:nvSpPr>
              <p:spPr bwMode="auto">
                <a:xfrm>
                  <a:off x="2533"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15" name="Rectangle 95"/>
                <p:cNvSpPr>
                  <a:spLocks noChangeArrowheads="1"/>
                </p:cNvSpPr>
                <p:nvPr/>
              </p:nvSpPr>
              <p:spPr bwMode="auto">
                <a:xfrm>
                  <a:off x="2220" y="29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16" name="Oval 96"/>
                <p:cNvSpPr>
                  <a:spLocks noChangeArrowheads="1"/>
                </p:cNvSpPr>
                <p:nvPr/>
              </p:nvSpPr>
              <p:spPr bwMode="auto">
                <a:xfrm>
                  <a:off x="2217" y="29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17" name="Group 97"/>
                <p:cNvGrpSpPr>
                  <a:grpSpLocks/>
                </p:cNvGrpSpPr>
                <p:nvPr/>
              </p:nvGrpSpPr>
              <p:grpSpPr bwMode="auto">
                <a:xfrm>
                  <a:off x="2270" y="2888"/>
                  <a:ext cx="224" cy="252"/>
                  <a:chOff x="2944" y="2429"/>
                  <a:chExt cx="227" cy="252"/>
                </a:xfrm>
              </p:grpSpPr>
              <p:sp>
                <p:nvSpPr>
                  <p:cNvPr id="466018" name="Rectangle 9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19" name="Text Box 99"/>
                  <p:cNvSpPr txBox="1">
                    <a:spLocks noChangeArrowheads="1"/>
                  </p:cNvSpPr>
                  <p:nvPr/>
                </p:nvSpPr>
                <p:spPr bwMode="auto">
                  <a:xfrm>
                    <a:off x="2944" y="2429"/>
                    <a:ext cx="22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B</a:t>
                    </a:r>
                    <a:endParaRPr lang="de-DE" sz="2400">
                      <a:latin typeface="Times New Roman" pitchFamily="18" charset="0"/>
                    </a:endParaRPr>
                  </a:p>
                </p:txBody>
              </p:sp>
            </p:grpSp>
          </p:grpSp>
          <p:sp>
            <p:nvSpPr>
              <p:cNvPr id="466020" name="Text Box 100"/>
              <p:cNvSpPr txBox="1">
                <a:spLocks noChangeArrowheads="1"/>
              </p:cNvSpPr>
              <p:nvPr/>
            </p:nvSpPr>
            <p:spPr bwMode="auto">
              <a:xfrm>
                <a:off x="1776" y="2825"/>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2+e</a:t>
                </a:r>
                <a:endParaRPr lang="de-DE" sz="2400">
                  <a:latin typeface="Times New Roman" pitchFamily="18" charset="0"/>
                </a:endParaRPr>
              </a:p>
            </p:txBody>
          </p:sp>
          <p:sp>
            <p:nvSpPr>
              <p:cNvPr id="466021" name="Freeform 101"/>
              <p:cNvSpPr>
                <a:spLocks/>
              </p:cNvSpPr>
              <p:nvPr/>
            </p:nvSpPr>
            <p:spPr bwMode="auto">
              <a:xfrm flipH="1">
                <a:off x="2376" y="2934"/>
                <a:ext cx="213" cy="129"/>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22" name="Freeform 102"/>
              <p:cNvSpPr>
                <a:spLocks/>
              </p:cNvSpPr>
              <p:nvPr/>
            </p:nvSpPr>
            <p:spPr bwMode="auto">
              <a:xfrm flipH="1" flipV="1">
                <a:off x="2385" y="3195"/>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23" name="Freeform 103"/>
              <p:cNvSpPr>
                <a:spLocks/>
              </p:cNvSpPr>
              <p:nvPr/>
            </p:nvSpPr>
            <p:spPr bwMode="auto">
              <a:xfrm flipV="1">
                <a:off x="1983" y="3189"/>
                <a:ext cx="204" cy="15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24" name="Text Box 104"/>
              <p:cNvSpPr txBox="1">
                <a:spLocks noChangeArrowheads="1"/>
              </p:cNvSpPr>
              <p:nvPr/>
            </p:nvSpPr>
            <p:spPr bwMode="auto">
              <a:xfrm>
                <a:off x="2514" y="2846"/>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25" name="Text Box 105"/>
              <p:cNvSpPr txBox="1">
                <a:spLocks noChangeArrowheads="1"/>
              </p:cNvSpPr>
              <p:nvPr/>
            </p:nvSpPr>
            <p:spPr bwMode="auto">
              <a:xfrm>
                <a:off x="2458" y="3191"/>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26" name="Text Box 106"/>
              <p:cNvSpPr txBox="1">
                <a:spLocks noChangeArrowheads="1"/>
              </p:cNvSpPr>
              <p:nvPr/>
            </p:nvSpPr>
            <p:spPr bwMode="auto">
              <a:xfrm>
                <a:off x="1909" y="3206"/>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27" name="Freeform 107"/>
              <p:cNvSpPr>
                <a:spLocks/>
              </p:cNvSpPr>
              <p:nvPr/>
            </p:nvSpPr>
            <p:spPr bwMode="auto">
              <a:xfrm flipH="1" flipV="1">
                <a:off x="2325" y="3168"/>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28" name="Freeform 108"/>
              <p:cNvSpPr>
                <a:spLocks/>
              </p:cNvSpPr>
              <p:nvPr/>
            </p:nvSpPr>
            <p:spPr bwMode="auto">
              <a:xfrm flipH="1">
                <a:off x="2040" y="3174"/>
                <a:ext cx="192" cy="138"/>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29" name="Text Box 109"/>
              <p:cNvSpPr txBox="1">
                <a:spLocks noChangeArrowheads="1"/>
              </p:cNvSpPr>
              <p:nvPr/>
            </p:nvSpPr>
            <p:spPr bwMode="auto">
              <a:xfrm>
                <a:off x="2040" y="3062"/>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1+e</a:t>
                </a:r>
                <a:endParaRPr lang="de-DE" sz="2400">
                  <a:latin typeface="Times New Roman" pitchFamily="18" charset="0"/>
                </a:endParaRPr>
              </a:p>
            </p:txBody>
          </p:sp>
          <p:sp>
            <p:nvSpPr>
              <p:cNvPr id="466030" name="Text Box 110"/>
              <p:cNvSpPr txBox="1">
                <a:spLocks noChangeArrowheads="1"/>
              </p:cNvSpPr>
              <p:nvPr/>
            </p:nvSpPr>
            <p:spPr bwMode="auto">
              <a:xfrm>
                <a:off x="2308" y="3056"/>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66031" name="Freeform 111"/>
              <p:cNvSpPr>
                <a:spLocks/>
              </p:cNvSpPr>
              <p:nvPr/>
            </p:nvSpPr>
            <p:spPr bwMode="auto">
              <a:xfrm>
                <a:off x="3048" y="2727"/>
                <a:ext cx="1225" cy="854"/>
              </a:xfrm>
              <a:custGeom>
                <a:avLst/>
                <a:gdLst>
                  <a:gd name="T0" fmla="*/ 0 w 1225"/>
                  <a:gd name="T1" fmla="*/ 387 h 854"/>
                  <a:gd name="T2" fmla="*/ 168 w 1225"/>
                  <a:gd name="T3" fmla="*/ 162 h 854"/>
                  <a:gd name="T4" fmla="*/ 486 w 1225"/>
                  <a:gd name="T5" fmla="*/ 18 h 854"/>
                  <a:gd name="T6" fmla="*/ 822 w 1225"/>
                  <a:gd name="T7" fmla="*/ 30 h 854"/>
                  <a:gd name="T8" fmla="*/ 1152 w 1225"/>
                  <a:gd name="T9" fmla="*/ 267 h 854"/>
                  <a:gd name="T10" fmla="*/ 1188 w 1225"/>
                  <a:gd name="T11" fmla="*/ 537 h 854"/>
                  <a:gd name="T12" fmla="*/ 927 w 1225"/>
                  <a:gd name="T13" fmla="*/ 780 h 854"/>
                  <a:gd name="T14" fmla="*/ 447 w 1225"/>
                  <a:gd name="T15" fmla="*/ 837 h 854"/>
                  <a:gd name="T16" fmla="*/ 177 w 1225"/>
                  <a:gd name="T17" fmla="*/ 675 h 854"/>
                  <a:gd name="T18" fmla="*/ 0 w 1225"/>
                  <a:gd name="T19" fmla="*/ 387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25" h="854">
                    <a:moveTo>
                      <a:pt x="0" y="387"/>
                    </a:moveTo>
                    <a:cubicBezTo>
                      <a:pt x="0" y="243"/>
                      <a:pt x="87" y="223"/>
                      <a:pt x="168" y="162"/>
                    </a:cubicBezTo>
                    <a:cubicBezTo>
                      <a:pt x="249" y="101"/>
                      <a:pt x="377" y="40"/>
                      <a:pt x="486" y="18"/>
                    </a:cubicBezTo>
                    <a:cubicBezTo>
                      <a:pt x="615" y="6"/>
                      <a:pt x="684" y="0"/>
                      <a:pt x="822" y="30"/>
                    </a:cubicBezTo>
                    <a:cubicBezTo>
                      <a:pt x="960" y="60"/>
                      <a:pt x="1099" y="169"/>
                      <a:pt x="1152" y="267"/>
                    </a:cubicBezTo>
                    <a:cubicBezTo>
                      <a:pt x="1213" y="351"/>
                      <a:pt x="1225" y="452"/>
                      <a:pt x="1188" y="537"/>
                    </a:cubicBezTo>
                    <a:cubicBezTo>
                      <a:pt x="1151" y="622"/>
                      <a:pt x="1050" y="730"/>
                      <a:pt x="927" y="780"/>
                    </a:cubicBezTo>
                    <a:cubicBezTo>
                      <a:pt x="804" y="830"/>
                      <a:pt x="572" y="854"/>
                      <a:pt x="447" y="837"/>
                    </a:cubicBezTo>
                    <a:cubicBezTo>
                      <a:pt x="322" y="820"/>
                      <a:pt x="251" y="750"/>
                      <a:pt x="177" y="675"/>
                    </a:cubicBezTo>
                    <a:cubicBezTo>
                      <a:pt x="103" y="600"/>
                      <a:pt x="0" y="531"/>
                      <a:pt x="0" y="387"/>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32" name="Freeform 112"/>
              <p:cNvSpPr>
                <a:spLocks/>
              </p:cNvSpPr>
              <p:nvPr/>
            </p:nvSpPr>
            <p:spPr bwMode="auto">
              <a:xfrm>
                <a:off x="3300" y="2940"/>
                <a:ext cx="246" cy="132"/>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33" name="Group 113"/>
              <p:cNvGrpSpPr>
                <a:grpSpLocks/>
              </p:cNvGrpSpPr>
              <p:nvPr/>
            </p:nvGrpSpPr>
            <p:grpSpPr bwMode="auto">
              <a:xfrm>
                <a:off x="3493" y="2744"/>
                <a:ext cx="316" cy="250"/>
                <a:chOff x="1747" y="3194"/>
                <a:chExt cx="316" cy="250"/>
              </a:xfrm>
            </p:grpSpPr>
            <p:sp>
              <p:nvSpPr>
                <p:cNvPr id="466034" name="Oval 114"/>
                <p:cNvSpPr>
                  <a:spLocks noChangeArrowheads="1"/>
                </p:cNvSpPr>
                <p:nvPr/>
              </p:nvSpPr>
              <p:spPr bwMode="auto">
                <a:xfrm>
                  <a:off x="1750" y="3308"/>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35" name="Line 115"/>
                <p:cNvSpPr>
                  <a:spLocks noChangeShapeType="1"/>
                </p:cNvSpPr>
                <p:nvPr/>
              </p:nvSpPr>
              <p:spPr bwMode="auto">
                <a:xfrm>
                  <a:off x="1750"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36" name="Line 116"/>
                <p:cNvSpPr>
                  <a:spLocks noChangeShapeType="1"/>
                </p:cNvSpPr>
                <p:nvPr/>
              </p:nvSpPr>
              <p:spPr bwMode="auto">
                <a:xfrm>
                  <a:off x="2063"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37" name="Rectangle 117"/>
                <p:cNvSpPr>
                  <a:spLocks noChangeArrowheads="1"/>
                </p:cNvSpPr>
                <p:nvPr/>
              </p:nvSpPr>
              <p:spPr bwMode="auto">
                <a:xfrm>
                  <a:off x="1750" y="3301"/>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38" name="Oval 118"/>
                <p:cNvSpPr>
                  <a:spLocks noChangeArrowheads="1"/>
                </p:cNvSpPr>
                <p:nvPr/>
              </p:nvSpPr>
              <p:spPr bwMode="auto">
                <a:xfrm>
                  <a:off x="1747" y="3242"/>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39" name="Group 119"/>
                <p:cNvGrpSpPr>
                  <a:grpSpLocks/>
                </p:cNvGrpSpPr>
                <p:nvPr/>
              </p:nvGrpSpPr>
              <p:grpSpPr bwMode="auto">
                <a:xfrm>
                  <a:off x="1785" y="3194"/>
                  <a:ext cx="233" cy="250"/>
                  <a:chOff x="2940" y="2429"/>
                  <a:chExt cx="236" cy="250"/>
                </a:xfrm>
              </p:grpSpPr>
              <p:sp>
                <p:nvSpPr>
                  <p:cNvPr id="466040" name="Rectangle 120"/>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41" name="Text Box 121"/>
                  <p:cNvSpPr txBox="1">
                    <a:spLocks noChangeArrowheads="1"/>
                  </p:cNvSpPr>
                  <p:nvPr/>
                </p:nvSpPr>
                <p:spPr bwMode="auto">
                  <a:xfrm>
                    <a:off x="2940" y="2429"/>
                    <a:ext cx="236"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A</a:t>
                    </a:r>
                    <a:endParaRPr lang="de-DE" sz="2400">
                      <a:latin typeface="Times New Roman" pitchFamily="18" charset="0"/>
                    </a:endParaRPr>
                  </a:p>
                </p:txBody>
              </p:sp>
            </p:grpSp>
          </p:grpSp>
          <p:grpSp>
            <p:nvGrpSpPr>
              <p:cNvPr id="466042" name="Group 122"/>
              <p:cNvGrpSpPr>
                <a:grpSpLocks/>
              </p:cNvGrpSpPr>
              <p:nvPr/>
            </p:nvGrpSpPr>
            <p:grpSpPr bwMode="auto">
              <a:xfrm>
                <a:off x="3085" y="2999"/>
                <a:ext cx="316" cy="252"/>
                <a:chOff x="2221" y="3575"/>
                <a:chExt cx="316" cy="252"/>
              </a:xfrm>
            </p:grpSpPr>
            <p:sp>
              <p:nvSpPr>
                <p:cNvPr id="466043" name="Oval 123"/>
                <p:cNvSpPr>
                  <a:spLocks noChangeArrowheads="1"/>
                </p:cNvSpPr>
                <p:nvPr/>
              </p:nvSpPr>
              <p:spPr bwMode="auto">
                <a:xfrm>
                  <a:off x="2224" y="369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44" name="Line 124"/>
                <p:cNvSpPr>
                  <a:spLocks noChangeShapeType="1"/>
                </p:cNvSpPr>
                <p:nvPr/>
              </p:nvSpPr>
              <p:spPr bwMode="auto">
                <a:xfrm>
                  <a:off x="2224"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45" name="Line 125"/>
                <p:cNvSpPr>
                  <a:spLocks noChangeShapeType="1"/>
                </p:cNvSpPr>
                <p:nvPr/>
              </p:nvSpPr>
              <p:spPr bwMode="auto">
                <a:xfrm>
                  <a:off x="2537"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46" name="Rectangle 126"/>
                <p:cNvSpPr>
                  <a:spLocks noChangeArrowheads="1"/>
                </p:cNvSpPr>
                <p:nvPr/>
              </p:nvSpPr>
              <p:spPr bwMode="auto">
                <a:xfrm>
                  <a:off x="2224" y="368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47" name="Oval 127"/>
                <p:cNvSpPr>
                  <a:spLocks noChangeArrowheads="1"/>
                </p:cNvSpPr>
                <p:nvPr/>
              </p:nvSpPr>
              <p:spPr bwMode="auto">
                <a:xfrm>
                  <a:off x="2221" y="362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48" name="Group 128"/>
                <p:cNvGrpSpPr>
                  <a:grpSpLocks/>
                </p:cNvGrpSpPr>
                <p:nvPr/>
              </p:nvGrpSpPr>
              <p:grpSpPr bwMode="auto">
                <a:xfrm>
                  <a:off x="2274" y="3575"/>
                  <a:ext cx="233" cy="252"/>
                  <a:chOff x="2940" y="2429"/>
                  <a:chExt cx="236" cy="252"/>
                </a:xfrm>
              </p:grpSpPr>
              <p:sp>
                <p:nvSpPr>
                  <p:cNvPr id="466049" name="Rectangle 12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50" name="Text Box 130"/>
                  <p:cNvSpPr txBox="1">
                    <a:spLocks noChangeArrowheads="1"/>
                  </p:cNvSpPr>
                  <p:nvPr/>
                </p:nvSpPr>
                <p:spPr bwMode="auto">
                  <a:xfrm>
                    <a:off x="2940" y="2429"/>
                    <a:ext cx="236"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D</a:t>
                    </a:r>
                    <a:endParaRPr lang="de-DE" sz="2400">
                      <a:latin typeface="Times New Roman" pitchFamily="18" charset="0"/>
                    </a:endParaRPr>
                  </a:p>
                </p:txBody>
              </p:sp>
            </p:grpSp>
          </p:grpSp>
          <p:grpSp>
            <p:nvGrpSpPr>
              <p:cNvPr id="466051" name="Group 131"/>
              <p:cNvGrpSpPr>
                <a:grpSpLocks/>
              </p:cNvGrpSpPr>
              <p:nvPr/>
            </p:nvGrpSpPr>
            <p:grpSpPr bwMode="auto">
              <a:xfrm>
                <a:off x="3485" y="3290"/>
                <a:ext cx="315" cy="252"/>
                <a:chOff x="2903" y="2888"/>
                <a:chExt cx="315" cy="252"/>
              </a:xfrm>
            </p:grpSpPr>
            <p:grpSp>
              <p:nvGrpSpPr>
                <p:cNvPr id="466052" name="Group 132"/>
                <p:cNvGrpSpPr>
                  <a:grpSpLocks/>
                </p:cNvGrpSpPr>
                <p:nvPr/>
              </p:nvGrpSpPr>
              <p:grpSpPr bwMode="auto">
                <a:xfrm>
                  <a:off x="2903" y="2938"/>
                  <a:ext cx="315" cy="144"/>
                  <a:chOff x="2903" y="2938"/>
                  <a:chExt cx="315" cy="144"/>
                </a:xfrm>
              </p:grpSpPr>
              <p:sp>
                <p:nvSpPr>
                  <p:cNvPr id="466053" name="Oval 133"/>
                  <p:cNvSpPr>
                    <a:spLocks noChangeArrowheads="1"/>
                  </p:cNvSpPr>
                  <p:nvPr/>
                </p:nvSpPr>
                <p:spPr bwMode="auto">
                  <a:xfrm>
                    <a:off x="2903" y="3001"/>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54" name="Line 134"/>
                  <p:cNvSpPr>
                    <a:spLocks noChangeShapeType="1"/>
                  </p:cNvSpPr>
                  <p:nvPr/>
                </p:nvSpPr>
                <p:spPr bwMode="auto">
                  <a:xfrm>
                    <a:off x="2903"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55" name="Line 135"/>
                  <p:cNvSpPr>
                    <a:spLocks noChangeShapeType="1"/>
                  </p:cNvSpPr>
                  <p:nvPr/>
                </p:nvSpPr>
                <p:spPr bwMode="auto">
                  <a:xfrm>
                    <a:off x="3215"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56" name="Rectangle 136"/>
                  <p:cNvSpPr>
                    <a:spLocks noChangeArrowheads="1"/>
                  </p:cNvSpPr>
                  <p:nvPr/>
                </p:nvSpPr>
                <p:spPr bwMode="auto">
                  <a:xfrm>
                    <a:off x="2903" y="2994"/>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57" name="Oval 137"/>
                  <p:cNvSpPr>
                    <a:spLocks noChangeArrowheads="1"/>
                  </p:cNvSpPr>
                  <p:nvPr/>
                </p:nvSpPr>
                <p:spPr bwMode="auto">
                  <a:xfrm>
                    <a:off x="2906" y="2938"/>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66058" name="Group 138"/>
                <p:cNvGrpSpPr>
                  <a:grpSpLocks/>
                </p:cNvGrpSpPr>
                <p:nvPr/>
              </p:nvGrpSpPr>
              <p:grpSpPr bwMode="auto">
                <a:xfrm>
                  <a:off x="2952" y="2888"/>
                  <a:ext cx="234" cy="252"/>
                  <a:chOff x="2939" y="2429"/>
                  <a:chExt cx="237" cy="252"/>
                </a:xfrm>
              </p:grpSpPr>
              <p:sp>
                <p:nvSpPr>
                  <p:cNvPr id="466059" name="Rectangle 13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60" name="Text Box 140"/>
                  <p:cNvSpPr txBox="1">
                    <a:spLocks noChangeArrowheads="1"/>
                  </p:cNvSpPr>
                  <p:nvPr/>
                </p:nvSpPr>
                <p:spPr bwMode="auto">
                  <a:xfrm>
                    <a:off x="2939" y="2429"/>
                    <a:ext cx="23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C</a:t>
                    </a:r>
                    <a:endParaRPr lang="de-DE" sz="2400">
                      <a:latin typeface="Times New Roman" pitchFamily="18" charset="0"/>
                    </a:endParaRPr>
                  </a:p>
                </p:txBody>
              </p:sp>
            </p:grpSp>
          </p:grpSp>
          <p:grpSp>
            <p:nvGrpSpPr>
              <p:cNvPr id="466061" name="Group 141"/>
              <p:cNvGrpSpPr>
                <a:grpSpLocks/>
              </p:cNvGrpSpPr>
              <p:nvPr/>
            </p:nvGrpSpPr>
            <p:grpSpPr bwMode="auto">
              <a:xfrm>
                <a:off x="3897" y="3008"/>
                <a:ext cx="316" cy="252"/>
                <a:chOff x="2217" y="2888"/>
                <a:chExt cx="316" cy="252"/>
              </a:xfrm>
            </p:grpSpPr>
            <p:sp>
              <p:nvSpPr>
                <p:cNvPr id="466062" name="Oval 142"/>
                <p:cNvSpPr>
                  <a:spLocks noChangeArrowheads="1"/>
                </p:cNvSpPr>
                <p:nvPr/>
              </p:nvSpPr>
              <p:spPr bwMode="auto">
                <a:xfrm>
                  <a:off x="2220" y="30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63" name="Line 143"/>
                <p:cNvSpPr>
                  <a:spLocks noChangeShapeType="1"/>
                </p:cNvSpPr>
                <p:nvPr/>
              </p:nvSpPr>
              <p:spPr bwMode="auto">
                <a:xfrm>
                  <a:off x="2220"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64" name="Line 144"/>
                <p:cNvSpPr>
                  <a:spLocks noChangeShapeType="1"/>
                </p:cNvSpPr>
                <p:nvPr/>
              </p:nvSpPr>
              <p:spPr bwMode="auto">
                <a:xfrm>
                  <a:off x="2533"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65" name="Rectangle 145"/>
                <p:cNvSpPr>
                  <a:spLocks noChangeArrowheads="1"/>
                </p:cNvSpPr>
                <p:nvPr/>
              </p:nvSpPr>
              <p:spPr bwMode="auto">
                <a:xfrm>
                  <a:off x="2220" y="29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66" name="Oval 146"/>
                <p:cNvSpPr>
                  <a:spLocks noChangeArrowheads="1"/>
                </p:cNvSpPr>
                <p:nvPr/>
              </p:nvSpPr>
              <p:spPr bwMode="auto">
                <a:xfrm>
                  <a:off x="2217" y="29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67" name="Group 147"/>
                <p:cNvGrpSpPr>
                  <a:grpSpLocks/>
                </p:cNvGrpSpPr>
                <p:nvPr/>
              </p:nvGrpSpPr>
              <p:grpSpPr bwMode="auto">
                <a:xfrm>
                  <a:off x="2270" y="2888"/>
                  <a:ext cx="224" cy="252"/>
                  <a:chOff x="2944" y="2429"/>
                  <a:chExt cx="227" cy="252"/>
                </a:xfrm>
              </p:grpSpPr>
              <p:sp>
                <p:nvSpPr>
                  <p:cNvPr id="466068" name="Rectangle 14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69" name="Text Box 149"/>
                  <p:cNvSpPr txBox="1">
                    <a:spLocks noChangeArrowheads="1"/>
                  </p:cNvSpPr>
                  <p:nvPr/>
                </p:nvSpPr>
                <p:spPr bwMode="auto">
                  <a:xfrm>
                    <a:off x="2944" y="2429"/>
                    <a:ext cx="22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B</a:t>
                    </a:r>
                    <a:endParaRPr lang="de-DE" sz="2400">
                      <a:latin typeface="Times New Roman" pitchFamily="18" charset="0"/>
                    </a:endParaRPr>
                  </a:p>
                </p:txBody>
              </p:sp>
            </p:grpSp>
          </p:grpSp>
          <p:sp>
            <p:nvSpPr>
              <p:cNvPr id="466070" name="Text Box 150"/>
              <p:cNvSpPr txBox="1">
                <a:spLocks noChangeArrowheads="1"/>
              </p:cNvSpPr>
              <p:nvPr/>
            </p:nvSpPr>
            <p:spPr bwMode="auto">
              <a:xfrm>
                <a:off x="3211" y="2831"/>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71" name="Freeform 151"/>
              <p:cNvSpPr>
                <a:spLocks/>
              </p:cNvSpPr>
              <p:nvPr/>
            </p:nvSpPr>
            <p:spPr bwMode="auto">
              <a:xfrm flipH="1">
                <a:off x="3732" y="2940"/>
                <a:ext cx="213" cy="129"/>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72" name="Freeform 152"/>
              <p:cNvSpPr>
                <a:spLocks/>
              </p:cNvSpPr>
              <p:nvPr/>
            </p:nvSpPr>
            <p:spPr bwMode="auto">
              <a:xfrm flipH="1" flipV="1">
                <a:off x="3741" y="3201"/>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73" name="Freeform 153"/>
              <p:cNvSpPr>
                <a:spLocks/>
              </p:cNvSpPr>
              <p:nvPr/>
            </p:nvSpPr>
            <p:spPr bwMode="auto">
              <a:xfrm flipV="1">
                <a:off x="3339" y="3195"/>
                <a:ext cx="204" cy="15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74" name="Text Box 154"/>
              <p:cNvSpPr txBox="1">
                <a:spLocks noChangeArrowheads="1"/>
              </p:cNvSpPr>
              <p:nvPr/>
            </p:nvSpPr>
            <p:spPr bwMode="auto">
              <a:xfrm>
                <a:off x="3792" y="2852"/>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2+e</a:t>
                </a:r>
                <a:endParaRPr lang="de-DE" sz="2400">
                  <a:latin typeface="Times New Roman" pitchFamily="18" charset="0"/>
                </a:endParaRPr>
              </a:p>
            </p:txBody>
          </p:sp>
          <p:sp>
            <p:nvSpPr>
              <p:cNvPr id="466075" name="Text Box 155"/>
              <p:cNvSpPr txBox="1">
                <a:spLocks noChangeArrowheads="1"/>
              </p:cNvSpPr>
              <p:nvPr/>
            </p:nvSpPr>
            <p:spPr bwMode="auto">
              <a:xfrm>
                <a:off x="3735" y="3221"/>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1+e</a:t>
                </a:r>
                <a:endParaRPr lang="de-DE" sz="2400">
                  <a:latin typeface="Times New Roman" pitchFamily="18" charset="0"/>
                </a:endParaRPr>
              </a:p>
            </p:txBody>
          </p:sp>
          <p:sp>
            <p:nvSpPr>
              <p:cNvPr id="466076" name="Text Box 156"/>
              <p:cNvSpPr txBox="1">
                <a:spLocks noChangeArrowheads="1"/>
              </p:cNvSpPr>
              <p:nvPr/>
            </p:nvSpPr>
            <p:spPr bwMode="auto">
              <a:xfrm>
                <a:off x="3268" y="3212"/>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66077" name="Freeform 157"/>
              <p:cNvSpPr>
                <a:spLocks/>
              </p:cNvSpPr>
              <p:nvPr/>
            </p:nvSpPr>
            <p:spPr bwMode="auto">
              <a:xfrm flipH="1" flipV="1">
                <a:off x="3681" y="3174"/>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78" name="Freeform 158"/>
              <p:cNvSpPr>
                <a:spLocks/>
              </p:cNvSpPr>
              <p:nvPr/>
            </p:nvSpPr>
            <p:spPr bwMode="auto">
              <a:xfrm flipH="1">
                <a:off x="3396" y="3180"/>
                <a:ext cx="192" cy="138"/>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79" name="Text Box 159"/>
              <p:cNvSpPr txBox="1">
                <a:spLocks noChangeArrowheads="1"/>
              </p:cNvSpPr>
              <p:nvPr/>
            </p:nvSpPr>
            <p:spPr bwMode="auto">
              <a:xfrm>
                <a:off x="3475" y="3068"/>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80" name="Text Box 160"/>
              <p:cNvSpPr txBox="1">
                <a:spLocks noChangeArrowheads="1"/>
              </p:cNvSpPr>
              <p:nvPr/>
            </p:nvSpPr>
            <p:spPr bwMode="auto">
              <a:xfrm>
                <a:off x="3661" y="3062"/>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081" name="Freeform 161"/>
              <p:cNvSpPr>
                <a:spLocks/>
              </p:cNvSpPr>
              <p:nvPr/>
            </p:nvSpPr>
            <p:spPr bwMode="auto">
              <a:xfrm>
                <a:off x="4368" y="2739"/>
                <a:ext cx="1225" cy="854"/>
              </a:xfrm>
              <a:custGeom>
                <a:avLst/>
                <a:gdLst>
                  <a:gd name="T0" fmla="*/ 0 w 1225"/>
                  <a:gd name="T1" fmla="*/ 387 h 854"/>
                  <a:gd name="T2" fmla="*/ 168 w 1225"/>
                  <a:gd name="T3" fmla="*/ 162 h 854"/>
                  <a:gd name="T4" fmla="*/ 486 w 1225"/>
                  <a:gd name="T5" fmla="*/ 18 h 854"/>
                  <a:gd name="T6" fmla="*/ 822 w 1225"/>
                  <a:gd name="T7" fmla="*/ 30 h 854"/>
                  <a:gd name="T8" fmla="*/ 1152 w 1225"/>
                  <a:gd name="T9" fmla="*/ 267 h 854"/>
                  <a:gd name="T10" fmla="*/ 1188 w 1225"/>
                  <a:gd name="T11" fmla="*/ 537 h 854"/>
                  <a:gd name="T12" fmla="*/ 927 w 1225"/>
                  <a:gd name="T13" fmla="*/ 780 h 854"/>
                  <a:gd name="T14" fmla="*/ 447 w 1225"/>
                  <a:gd name="T15" fmla="*/ 837 h 854"/>
                  <a:gd name="T16" fmla="*/ 177 w 1225"/>
                  <a:gd name="T17" fmla="*/ 675 h 854"/>
                  <a:gd name="T18" fmla="*/ 0 w 1225"/>
                  <a:gd name="T19" fmla="*/ 387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25" h="854">
                    <a:moveTo>
                      <a:pt x="0" y="387"/>
                    </a:moveTo>
                    <a:cubicBezTo>
                      <a:pt x="0" y="243"/>
                      <a:pt x="87" y="223"/>
                      <a:pt x="168" y="162"/>
                    </a:cubicBezTo>
                    <a:cubicBezTo>
                      <a:pt x="249" y="101"/>
                      <a:pt x="377" y="40"/>
                      <a:pt x="486" y="18"/>
                    </a:cubicBezTo>
                    <a:cubicBezTo>
                      <a:pt x="615" y="6"/>
                      <a:pt x="684" y="0"/>
                      <a:pt x="822" y="30"/>
                    </a:cubicBezTo>
                    <a:cubicBezTo>
                      <a:pt x="960" y="60"/>
                      <a:pt x="1099" y="169"/>
                      <a:pt x="1152" y="267"/>
                    </a:cubicBezTo>
                    <a:cubicBezTo>
                      <a:pt x="1213" y="351"/>
                      <a:pt x="1225" y="452"/>
                      <a:pt x="1188" y="537"/>
                    </a:cubicBezTo>
                    <a:cubicBezTo>
                      <a:pt x="1151" y="622"/>
                      <a:pt x="1050" y="730"/>
                      <a:pt x="927" y="780"/>
                    </a:cubicBezTo>
                    <a:cubicBezTo>
                      <a:pt x="804" y="830"/>
                      <a:pt x="572" y="854"/>
                      <a:pt x="447" y="837"/>
                    </a:cubicBezTo>
                    <a:cubicBezTo>
                      <a:pt x="322" y="820"/>
                      <a:pt x="251" y="750"/>
                      <a:pt x="177" y="675"/>
                    </a:cubicBezTo>
                    <a:cubicBezTo>
                      <a:pt x="103" y="600"/>
                      <a:pt x="0" y="531"/>
                      <a:pt x="0" y="387"/>
                    </a:cubicBezTo>
                    <a:close/>
                  </a:path>
                </a:pathLst>
              </a:custGeom>
              <a:solidFill>
                <a:srgbClr val="66CC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82" name="Freeform 162"/>
              <p:cNvSpPr>
                <a:spLocks/>
              </p:cNvSpPr>
              <p:nvPr/>
            </p:nvSpPr>
            <p:spPr bwMode="auto">
              <a:xfrm>
                <a:off x="4620" y="2952"/>
                <a:ext cx="246" cy="132"/>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83" name="Group 163"/>
              <p:cNvGrpSpPr>
                <a:grpSpLocks/>
              </p:cNvGrpSpPr>
              <p:nvPr/>
            </p:nvGrpSpPr>
            <p:grpSpPr bwMode="auto">
              <a:xfrm>
                <a:off x="4813" y="2756"/>
                <a:ext cx="316" cy="250"/>
                <a:chOff x="1747" y="3194"/>
                <a:chExt cx="316" cy="250"/>
              </a:xfrm>
            </p:grpSpPr>
            <p:sp>
              <p:nvSpPr>
                <p:cNvPr id="466084" name="Oval 164"/>
                <p:cNvSpPr>
                  <a:spLocks noChangeArrowheads="1"/>
                </p:cNvSpPr>
                <p:nvPr/>
              </p:nvSpPr>
              <p:spPr bwMode="auto">
                <a:xfrm>
                  <a:off x="1750" y="3308"/>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85" name="Line 165"/>
                <p:cNvSpPr>
                  <a:spLocks noChangeShapeType="1"/>
                </p:cNvSpPr>
                <p:nvPr/>
              </p:nvSpPr>
              <p:spPr bwMode="auto">
                <a:xfrm>
                  <a:off x="1750"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86" name="Line 166"/>
                <p:cNvSpPr>
                  <a:spLocks noChangeShapeType="1"/>
                </p:cNvSpPr>
                <p:nvPr/>
              </p:nvSpPr>
              <p:spPr bwMode="auto">
                <a:xfrm>
                  <a:off x="2063" y="3301"/>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87" name="Rectangle 167"/>
                <p:cNvSpPr>
                  <a:spLocks noChangeArrowheads="1"/>
                </p:cNvSpPr>
                <p:nvPr/>
              </p:nvSpPr>
              <p:spPr bwMode="auto">
                <a:xfrm>
                  <a:off x="1750" y="3301"/>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88" name="Oval 168"/>
                <p:cNvSpPr>
                  <a:spLocks noChangeArrowheads="1"/>
                </p:cNvSpPr>
                <p:nvPr/>
              </p:nvSpPr>
              <p:spPr bwMode="auto">
                <a:xfrm>
                  <a:off x="1747" y="3242"/>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89" name="Group 169"/>
                <p:cNvGrpSpPr>
                  <a:grpSpLocks/>
                </p:cNvGrpSpPr>
                <p:nvPr/>
              </p:nvGrpSpPr>
              <p:grpSpPr bwMode="auto">
                <a:xfrm>
                  <a:off x="1785" y="3194"/>
                  <a:ext cx="233" cy="250"/>
                  <a:chOff x="2940" y="2429"/>
                  <a:chExt cx="236" cy="250"/>
                </a:xfrm>
              </p:grpSpPr>
              <p:sp>
                <p:nvSpPr>
                  <p:cNvPr id="466090" name="Rectangle 170"/>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91" name="Text Box 171"/>
                  <p:cNvSpPr txBox="1">
                    <a:spLocks noChangeArrowheads="1"/>
                  </p:cNvSpPr>
                  <p:nvPr/>
                </p:nvSpPr>
                <p:spPr bwMode="auto">
                  <a:xfrm>
                    <a:off x="2940" y="2429"/>
                    <a:ext cx="236" cy="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A</a:t>
                    </a:r>
                    <a:endParaRPr lang="de-DE" sz="2400">
                      <a:latin typeface="Times New Roman" pitchFamily="18" charset="0"/>
                    </a:endParaRPr>
                  </a:p>
                </p:txBody>
              </p:sp>
            </p:grpSp>
          </p:grpSp>
          <p:grpSp>
            <p:nvGrpSpPr>
              <p:cNvPr id="466092" name="Group 172"/>
              <p:cNvGrpSpPr>
                <a:grpSpLocks/>
              </p:cNvGrpSpPr>
              <p:nvPr/>
            </p:nvGrpSpPr>
            <p:grpSpPr bwMode="auto">
              <a:xfrm>
                <a:off x="4405" y="3011"/>
                <a:ext cx="316" cy="252"/>
                <a:chOff x="2221" y="3575"/>
                <a:chExt cx="316" cy="252"/>
              </a:xfrm>
            </p:grpSpPr>
            <p:sp>
              <p:nvSpPr>
                <p:cNvPr id="466093" name="Oval 173"/>
                <p:cNvSpPr>
                  <a:spLocks noChangeArrowheads="1"/>
                </p:cNvSpPr>
                <p:nvPr/>
              </p:nvSpPr>
              <p:spPr bwMode="auto">
                <a:xfrm>
                  <a:off x="2224" y="369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94" name="Line 174"/>
                <p:cNvSpPr>
                  <a:spLocks noChangeShapeType="1"/>
                </p:cNvSpPr>
                <p:nvPr/>
              </p:nvSpPr>
              <p:spPr bwMode="auto">
                <a:xfrm>
                  <a:off x="2224"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95" name="Line 175"/>
                <p:cNvSpPr>
                  <a:spLocks noChangeShapeType="1"/>
                </p:cNvSpPr>
                <p:nvPr/>
              </p:nvSpPr>
              <p:spPr bwMode="auto">
                <a:xfrm>
                  <a:off x="2537" y="368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096" name="Rectangle 176"/>
                <p:cNvSpPr>
                  <a:spLocks noChangeArrowheads="1"/>
                </p:cNvSpPr>
                <p:nvPr/>
              </p:nvSpPr>
              <p:spPr bwMode="auto">
                <a:xfrm>
                  <a:off x="2224" y="368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097" name="Oval 177"/>
                <p:cNvSpPr>
                  <a:spLocks noChangeArrowheads="1"/>
                </p:cNvSpPr>
                <p:nvPr/>
              </p:nvSpPr>
              <p:spPr bwMode="auto">
                <a:xfrm>
                  <a:off x="2221" y="362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098" name="Group 178"/>
                <p:cNvGrpSpPr>
                  <a:grpSpLocks/>
                </p:cNvGrpSpPr>
                <p:nvPr/>
              </p:nvGrpSpPr>
              <p:grpSpPr bwMode="auto">
                <a:xfrm>
                  <a:off x="2274" y="3575"/>
                  <a:ext cx="233" cy="252"/>
                  <a:chOff x="2940" y="2429"/>
                  <a:chExt cx="236" cy="252"/>
                </a:xfrm>
              </p:grpSpPr>
              <p:sp>
                <p:nvSpPr>
                  <p:cNvPr id="466099" name="Rectangle 17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00" name="Text Box 180"/>
                  <p:cNvSpPr txBox="1">
                    <a:spLocks noChangeArrowheads="1"/>
                  </p:cNvSpPr>
                  <p:nvPr/>
                </p:nvSpPr>
                <p:spPr bwMode="auto">
                  <a:xfrm>
                    <a:off x="2940" y="2429"/>
                    <a:ext cx="236"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D</a:t>
                    </a:r>
                    <a:endParaRPr lang="de-DE" sz="2400">
                      <a:latin typeface="Times New Roman" pitchFamily="18" charset="0"/>
                    </a:endParaRPr>
                  </a:p>
                </p:txBody>
              </p:sp>
            </p:grpSp>
          </p:grpSp>
          <p:grpSp>
            <p:nvGrpSpPr>
              <p:cNvPr id="466101" name="Group 181"/>
              <p:cNvGrpSpPr>
                <a:grpSpLocks/>
              </p:cNvGrpSpPr>
              <p:nvPr/>
            </p:nvGrpSpPr>
            <p:grpSpPr bwMode="auto">
              <a:xfrm>
                <a:off x="4805" y="3302"/>
                <a:ext cx="315" cy="252"/>
                <a:chOff x="2903" y="2888"/>
                <a:chExt cx="315" cy="252"/>
              </a:xfrm>
            </p:grpSpPr>
            <p:grpSp>
              <p:nvGrpSpPr>
                <p:cNvPr id="466102" name="Group 182"/>
                <p:cNvGrpSpPr>
                  <a:grpSpLocks/>
                </p:cNvGrpSpPr>
                <p:nvPr/>
              </p:nvGrpSpPr>
              <p:grpSpPr bwMode="auto">
                <a:xfrm>
                  <a:off x="2903" y="2938"/>
                  <a:ext cx="315" cy="144"/>
                  <a:chOff x="2903" y="2938"/>
                  <a:chExt cx="315" cy="144"/>
                </a:xfrm>
              </p:grpSpPr>
              <p:sp>
                <p:nvSpPr>
                  <p:cNvPr id="466103" name="Oval 183"/>
                  <p:cNvSpPr>
                    <a:spLocks noChangeArrowheads="1"/>
                  </p:cNvSpPr>
                  <p:nvPr/>
                </p:nvSpPr>
                <p:spPr bwMode="auto">
                  <a:xfrm>
                    <a:off x="2903" y="3001"/>
                    <a:ext cx="312"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04" name="Line 184"/>
                  <p:cNvSpPr>
                    <a:spLocks noChangeShapeType="1"/>
                  </p:cNvSpPr>
                  <p:nvPr/>
                </p:nvSpPr>
                <p:spPr bwMode="auto">
                  <a:xfrm>
                    <a:off x="2903"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05" name="Line 185"/>
                  <p:cNvSpPr>
                    <a:spLocks noChangeShapeType="1"/>
                  </p:cNvSpPr>
                  <p:nvPr/>
                </p:nvSpPr>
                <p:spPr bwMode="auto">
                  <a:xfrm>
                    <a:off x="3215" y="2994"/>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06" name="Rectangle 186"/>
                  <p:cNvSpPr>
                    <a:spLocks noChangeArrowheads="1"/>
                  </p:cNvSpPr>
                  <p:nvPr/>
                </p:nvSpPr>
                <p:spPr bwMode="auto">
                  <a:xfrm>
                    <a:off x="2903" y="2994"/>
                    <a:ext cx="309"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107" name="Oval 187"/>
                  <p:cNvSpPr>
                    <a:spLocks noChangeArrowheads="1"/>
                  </p:cNvSpPr>
                  <p:nvPr/>
                </p:nvSpPr>
                <p:spPr bwMode="auto">
                  <a:xfrm>
                    <a:off x="2906" y="2938"/>
                    <a:ext cx="312"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grpSp>
              <p:nvGrpSpPr>
                <p:cNvPr id="466108" name="Group 188"/>
                <p:cNvGrpSpPr>
                  <a:grpSpLocks/>
                </p:cNvGrpSpPr>
                <p:nvPr/>
              </p:nvGrpSpPr>
              <p:grpSpPr bwMode="auto">
                <a:xfrm>
                  <a:off x="2952" y="2888"/>
                  <a:ext cx="234" cy="252"/>
                  <a:chOff x="2939" y="2429"/>
                  <a:chExt cx="237" cy="252"/>
                </a:xfrm>
              </p:grpSpPr>
              <p:sp>
                <p:nvSpPr>
                  <p:cNvPr id="466109" name="Rectangle 189"/>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10" name="Text Box 190"/>
                  <p:cNvSpPr txBox="1">
                    <a:spLocks noChangeArrowheads="1"/>
                  </p:cNvSpPr>
                  <p:nvPr/>
                </p:nvSpPr>
                <p:spPr bwMode="auto">
                  <a:xfrm>
                    <a:off x="2939" y="2429"/>
                    <a:ext cx="23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C</a:t>
                    </a:r>
                    <a:endParaRPr lang="de-DE" sz="2400">
                      <a:latin typeface="Times New Roman" pitchFamily="18" charset="0"/>
                    </a:endParaRPr>
                  </a:p>
                </p:txBody>
              </p:sp>
            </p:grpSp>
          </p:grpSp>
          <p:grpSp>
            <p:nvGrpSpPr>
              <p:cNvPr id="466111" name="Group 191"/>
              <p:cNvGrpSpPr>
                <a:grpSpLocks/>
              </p:cNvGrpSpPr>
              <p:nvPr/>
            </p:nvGrpSpPr>
            <p:grpSpPr bwMode="auto">
              <a:xfrm>
                <a:off x="5217" y="3020"/>
                <a:ext cx="316" cy="252"/>
                <a:chOff x="2217" y="2888"/>
                <a:chExt cx="316" cy="252"/>
              </a:xfrm>
            </p:grpSpPr>
            <p:sp>
              <p:nvSpPr>
                <p:cNvPr id="466112" name="Oval 192"/>
                <p:cNvSpPr>
                  <a:spLocks noChangeArrowheads="1"/>
                </p:cNvSpPr>
                <p:nvPr/>
              </p:nvSpPr>
              <p:spPr bwMode="auto">
                <a:xfrm>
                  <a:off x="2220" y="3005"/>
                  <a:ext cx="313" cy="81"/>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13" name="Line 193"/>
                <p:cNvSpPr>
                  <a:spLocks noChangeShapeType="1"/>
                </p:cNvSpPr>
                <p:nvPr/>
              </p:nvSpPr>
              <p:spPr bwMode="auto">
                <a:xfrm>
                  <a:off x="2220"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14" name="Line 194"/>
                <p:cNvSpPr>
                  <a:spLocks noChangeShapeType="1"/>
                </p:cNvSpPr>
                <p:nvPr/>
              </p:nvSpPr>
              <p:spPr bwMode="auto">
                <a:xfrm>
                  <a:off x="2533" y="2998"/>
                  <a:ext cx="0" cy="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15" name="Rectangle 195"/>
                <p:cNvSpPr>
                  <a:spLocks noChangeArrowheads="1"/>
                </p:cNvSpPr>
                <p:nvPr/>
              </p:nvSpPr>
              <p:spPr bwMode="auto">
                <a:xfrm>
                  <a:off x="2220" y="2998"/>
                  <a:ext cx="310" cy="49"/>
                </a:xfrm>
                <a:prstGeom prst="rect">
                  <a:avLst/>
                </a:prstGeom>
                <a:solidFill>
                  <a:schemeClr val="hlink"/>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de-DE" sz="2400">
                    <a:latin typeface="Times New Roman" pitchFamily="18" charset="0"/>
                  </a:endParaRPr>
                </a:p>
              </p:txBody>
            </p:sp>
            <p:sp>
              <p:nvSpPr>
                <p:cNvPr id="466116" name="Oval 196"/>
                <p:cNvSpPr>
                  <a:spLocks noChangeArrowheads="1"/>
                </p:cNvSpPr>
                <p:nvPr/>
              </p:nvSpPr>
              <p:spPr bwMode="auto">
                <a:xfrm>
                  <a:off x="2217" y="2939"/>
                  <a:ext cx="313" cy="95"/>
                </a:xfrm>
                <a:prstGeom prst="ellipse">
                  <a:avLst/>
                </a:prstGeom>
                <a:solidFill>
                  <a:schemeClr val="hlink"/>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nvGrpSpPr>
                <p:cNvPr id="466117" name="Group 197"/>
                <p:cNvGrpSpPr>
                  <a:grpSpLocks/>
                </p:cNvGrpSpPr>
                <p:nvPr/>
              </p:nvGrpSpPr>
              <p:grpSpPr bwMode="auto">
                <a:xfrm>
                  <a:off x="2270" y="2888"/>
                  <a:ext cx="224" cy="252"/>
                  <a:chOff x="2944" y="2429"/>
                  <a:chExt cx="227" cy="252"/>
                </a:xfrm>
              </p:grpSpPr>
              <p:sp>
                <p:nvSpPr>
                  <p:cNvPr id="466118" name="Rectangle 198"/>
                  <p:cNvSpPr>
                    <a:spLocks noChangeArrowheads="1"/>
                  </p:cNvSpPr>
                  <p:nvPr/>
                </p:nvSpPr>
                <p:spPr bwMode="auto">
                  <a:xfrm>
                    <a:off x="2982" y="2490"/>
                    <a:ext cx="144" cy="132"/>
                  </a:xfrm>
                  <a:prstGeom prst="rect">
                    <a:avLst/>
                  </a:prstGeom>
                  <a:solidFill>
                    <a:schemeClr va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19" name="Text Box 199"/>
                  <p:cNvSpPr txBox="1">
                    <a:spLocks noChangeArrowheads="1"/>
                  </p:cNvSpPr>
                  <p:nvPr/>
                </p:nvSpPr>
                <p:spPr bwMode="auto">
                  <a:xfrm>
                    <a:off x="2944" y="2429"/>
                    <a:ext cx="227"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t>B</a:t>
                    </a:r>
                    <a:endParaRPr lang="de-DE" sz="2400">
                      <a:latin typeface="Times New Roman" pitchFamily="18" charset="0"/>
                    </a:endParaRPr>
                  </a:p>
                </p:txBody>
              </p:sp>
            </p:grpSp>
          </p:grpSp>
          <p:sp>
            <p:nvSpPr>
              <p:cNvPr id="466120" name="Text Box 200"/>
              <p:cNvSpPr txBox="1">
                <a:spLocks noChangeArrowheads="1"/>
              </p:cNvSpPr>
              <p:nvPr/>
            </p:nvSpPr>
            <p:spPr bwMode="auto">
              <a:xfrm>
                <a:off x="4452" y="2843"/>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2+e</a:t>
                </a:r>
                <a:endParaRPr lang="de-DE" sz="2400">
                  <a:latin typeface="Times New Roman" pitchFamily="18" charset="0"/>
                </a:endParaRPr>
              </a:p>
            </p:txBody>
          </p:sp>
          <p:sp>
            <p:nvSpPr>
              <p:cNvPr id="466121" name="Freeform 201"/>
              <p:cNvSpPr>
                <a:spLocks/>
              </p:cNvSpPr>
              <p:nvPr/>
            </p:nvSpPr>
            <p:spPr bwMode="auto">
              <a:xfrm flipH="1">
                <a:off x="5052" y="2952"/>
                <a:ext cx="213" cy="129"/>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22" name="Freeform 202"/>
              <p:cNvSpPr>
                <a:spLocks/>
              </p:cNvSpPr>
              <p:nvPr/>
            </p:nvSpPr>
            <p:spPr bwMode="auto">
              <a:xfrm flipH="1" flipV="1">
                <a:off x="5061" y="3213"/>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23" name="Freeform 203"/>
              <p:cNvSpPr>
                <a:spLocks/>
              </p:cNvSpPr>
              <p:nvPr/>
            </p:nvSpPr>
            <p:spPr bwMode="auto">
              <a:xfrm flipV="1">
                <a:off x="4659" y="3207"/>
                <a:ext cx="204" cy="156"/>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24" name="Text Box 204"/>
              <p:cNvSpPr txBox="1">
                <a:spLocks noChangeArrowheads="1"/>
              </p:cNvSpPr>
              <p:nvPr/>
            </p:nvSpPr>
            <p:spPr bwMode="auto">
              <a:xfrm>
                <a:off x="5190" y="2864"/>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125" name="Text Box 205"/>
              <p:cNvSpPr txBox="1">
                <a:spLocks noChangeArrowheads="1"/>
              </p:cNvSpPr>
              <p:nvPr/>
            </p:nvSpPr>
            <p:spPr bwMode="auto">
              <a:xfrm>
                <a:off x="5137" y="3209"/>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e</a:t>
                </a:r>
                <a:endParaRPr lang="de-DE" sz="2400">
                  <a:latin typeface="Times New Roman" pitchFamily="18" charset="0"/>
                </a:endParaRPr>
              </a:p>
            </p:txBody>
          </p:sp>
          <p:sp>
            <p:nvSpPr>
              <p:cNvPr id="466126" name="Text Box 206"/>
              <p:cNvSpPr txBox="1">
                <a:spLocks noChangeArrowheads="1"/>
              </p:cNvSpPr>
              <p:nvPr/>
            </p:nvSpPr>
            <p:spPr bwMode="auto">
              <a:xfrm>
                <a:off x="4585" y="3224"/>
                <a:ext cx="204"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0</a:t>
                </a:r>
                <a:endParaRPr lang="de-DE" sz="2400">
                  <a:latin typeface="Times New Roman" pitchFamily="18" charset="0"/>
                </a:endParaRPr>
              </a:p>
            </p:txBody>
          </p:sp>
          <p:sp>
            <p:nvSpPr>
              <p:cNvPr id="466127" name="Freeform 207"/>
              <p:cNvSpPr>
                <a:spLocks/>
              </p:cNvSpPr>
              <p:nvPr/>
            </p:nvSpPr>
            <p:spPr bwMode="auto">
              <a:xfrm flipH="1" flipV="1">
                <a:off x="5001" y="3186"/>
                <a:ext cx="198" cy="144"/>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28" name="Freeform 208"/>
              <p:cNvSpPr>
                <a:spLocks/>
              </p:cNvSpPr>
              <p:nvPr/>
            </p:nvSpPr>
            <p:spPr bwMode="auto">
              <a:xfrm flipH="1">
                <a:off x="4716" y="3192"/>
                <a:ext cx="192" cy="138"/>
              </a:xfrm>
              <a:custGeom>
                <a:avLst/>
                <a:gdLst>
                  <a:gd name="T0" fmla="*/ 0 w 342"/>
                  <a:gd name="T1" fmla="*/ 186 h 186"/>
                  <a:gd name="T2" fmla="*/ 342 w 342"/>
                  <a:gd name="T3" fmla="*/ 0 h 186"/>
                </a:gdLst>
                <a:ahLst/>
                <a:cxnLst>
                  <a:cxn ang="0">
                    <a:pos x="T0" y="T1"/>
                  </a:cxn>
                  <a:cxn ang="0">
                    <a:pos x="T2" y="T3"/>
                  </a:cxn>
                </a:cxnLst>
                <a:rect l="0" t="0" r="r" b="b"/>
                <a:pathLst>
                  <a:path w="342" h="186">
                    <a:moveTo>
                      <a:pt x="0" y="186"/>
                    </a:moveTo>
                    <a:lnTo>
                      <a:pt x="342" y="0"/>
                    </a:lnTo>
                  </a:path>
                </a:pathLst>
              </a:custGeom>
              <a:noFill/>
              <a:ln w="12700">
                <a:solidFill>
                  <a:schemeClr val="tx1"/>
                </a:solidFill>
                <a:round/>
                <a:headEnd type="none" w="med" len="med"/>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29" name="Text Box 209"/>
              <p:cNvSpPr txBox="1">
                <a:spLocks noChangeArrowheads="1"/>
              </p:cNvSpPr>
              <p:nvPr/>
            </p:nvSpPr>
            <p:spPr bwMode="auto">
              <a:xfrm>
                <a:off x="4716" y="3080"/>
                <a:ext cx="363"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1+e</a:t>
                </a:r>
                <a:endParaRPr lang="de-DE" sz="2400">
                  <a:latin typeface="Times New Roman" pitchFamily="18" charset="0"/>
                </a:endParaRPr>
              </a:p>
            </p:txBody>
          </p:sp>
          <p:sp>
            <p:nvSpPr>
              <p:cNvPr id="466130" name="Text Box 210"/>
              <p:cNvSpPr txBox="1">
                <a:spLocks noChangeArrowheads="1"/>
              </p:cNvSpPr>
              <p:nvPr/>
            </p:nvSpPr>
            <p:spPr bwMode="auto">
              <a:xfrm>
                <a:off x="4984" y="3074"/>
                <a:ext cx="197" cy="23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a:t>1</a:t>
                </a:r>
                <a:endParaRPr lang="de-DE" sz="2400">
                  <a:latin typeface="Times New Roman" pitchFamily="18" charset="0"/>
                </a:endParaRPr>
              </a:p>
            </p:txBody>
          </p:sp>
          <p:sp>
            <p:nvSpPr>
              <p:cNvPr id="466131" name="Text Box 211"/>
              <p:cNvSpPr txBox="1">
                <a:spLocks noChangeArrowheads="1"/>
              </p:cNvSpPr>
              <p:nvPr/>
            </p:nvSpPr>
            <p:spPr bwMode="auto">
              <a:xfrm>
                <a:off x="470" y="3893"/>
                <a:ext cx="709" cy="2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sz="2000">
                    <a:solidFill>
                      <a:schemeClr val="accent2"/>
                    </a:solidFill>
                  </a:rPr>
                  <a:t>Anfangs</a:t>
                </a:r>
                <a:endParaRPr lang="de-DE" sz="2400">
                  <a:latin typeface="Times New Roman" pitchFamily="18" charset="0"/>
                </a:endParaRPr>
              </a:p>
            </p:txBody>
          </p:sp>
          <p:sp>
            <p:nvSpPr>
              <p:cNvPr id="466132" name="Text Box 212"/>
              <p:cNvSpPr txBox="1">
                <a:spLocks noChangeArrowheads="1"/>
              </p:cNvSpPr>
              <p:nvPr/>
            </p:nvSpPr>
            <p:spPr bwMode="auto">
              <a:xfrm>
                <a:off x="1439" y="3704"/>
                <a:ext cx="1402" cy="6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de-DE" sz="2000" dirty="0">
                    <a:solidFill>
                      <a:schemeClr val="accent2"/>
                    </a:solidFill>
                  </a:rPr>
                  <a:t>C, B entdecken</a:t>
                </a:r>
                <a:br>
                  <a:rPr lang="de-DE" sz="2000" dirty="0">
                    <a:solidFill>
                      <a:schemeClr val="accent2"/>
                    </a:solidFill>
                  </a:rPr>
                </a:br>
                <a:r>
                  <a:rPr lang="de-DE" sz="2000" dirty="0">
                    <a:solidFill>
                      <a:schemeClr val="accent2"/>
                    </a:solidFill>
                  </a:rPr>
                  <a:t>einen besseren Pfad nach A</a:t>
                </a:r>
                <a:endParaRPr lang="de-DE" sz="2400" dirty="0">
                  <a:latin typeface="Times New Roman" pitchFamily="18" charset="0"/>
                </a:endParaRPr>
              </a:p>
            </p:txBody>
          </p:sp>
          <p:sp>
            <p:nvSpPr>
              <p:cNvPr id="466133" name="Text Box 213"/>
              <p:cNvSpPr txBox="1">
                <a:spLocks noChangeArrowheads="1"/>
              </p:cNvSpPr>
              <p:nvPr/>
            </p:nvSpPr>
            <p:spPr bwMode="auto">
              <a:xfrm>
                <a:off x="2777" y="3664"/>
                <a:ext cx="1545" cy="7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de-DE">
                    <a:solidFill>
                      <a:schemeClr val="accent2"/>
                    </a:solidFill>
                  </a:rPr>
                  <a:t>D, C, B entdecken</a:t>
                </a:r>
                <a:br>
                  <a:rPr lang="de-DE">
                    <a:solidFill>
                      <a:schemeClr val="accent2"/>
                    </a:solidFill>
                  </a:rPr>
                </a:br>
                <a:r>
                  <a:rPr lang="de-DE">
                    <a:solidFill>
                      <a:schemeClr val="accent2"/>
                    </a:solidFill>
                  </a:rPr>
                  <a:t>den gegen den Uhrz.-S. verlaufenden Pfad nach A</a:t>
                </a:r>
                <a:endParaRPr lang="de-DE" sz="2000">
                  <a:latin typeface="Times New Roman" pitchFamily="18" charset="0"/>
                </a:endParaRPr>
              </a:p>
            </p:txBody>
          </p:sp>
          <p:sp>
            <p:nvSpPr>
              <p:cNvPr id="466134" name="Text Box 214"/>
              <p:cNvSpPr txBox="1">
                <a:spLocks noChangeArrowheads="1"/>
              </p:cNvSpPr>
              <p:nvPr/>
            </p:nvSpPr>
            <p:spPr bwMode="auto">
              <a:xfrm>
                <a:off x="4257" y="3659"/>
                <a:ext cx="1528" cy="7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de-DE" dirty="0">
                    <a:solidFill>
                      <a:schemeClr val="accent2"/>
                    </a:solidFill>
                  </a:rPr>
                  <a:t>D, C, B entdecken</a:t>
                </a:r>
                <a:br>
                  <a:rPr lang="de-DE" dirty="0">
                    <a:solidFill>
                      <a:schemeClr val="accent2"/>
                    </a:solidFill>
                  </a:rPr>
                </a:br>
                <a:r>
                  <a:rPr lang="de-DE" dirty="0">
                    <a:solidFill>
                      <a:schemeClr val="accent2"/>
                    </a:solidFill>
                  </a:rPr>
                  <a:t>den gegen den Uhrz.-S. verlaufenden Pfad nach A</a:t>
                </a:r>
                <a:endParaRPr lang="de-DE" sz="2000" dirty="0">
                  <a:latin typeface="Times New Roman" pitchFamily="18" charset="0"/>
                </a:endParaRPr>
              </a:p>
            </p:txBody>
          </p:sp>
          <p:sp>
            <p:nvSpPr>
              <p:cNvPr id="466135" name="Line 215"/>
              <p:cNvSpPr>
                <a:spLocks noChangeShapeType="1"/>
              </p:cNvSpPr>
              <p:nvPr/>
            </p:nvSpPr>
            <p:spPr bwMode="auto">
              <a:xfrm flipV="1">
                <a:off x="2292" y="3489"/>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36" name="Line 216"/>
              <p:cNvSpPr>
                <a:spLocks noChangeShapeType="1"/>
              </p:cNvSpPr>
              <p:nvPr/>
            </p:nvSpPr>
            <p:spPr bwMode="auto">
              <a:xfrm flipV="1">
                <a:off x="1872" y="3201"/>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37" name="Line 217"/>
              <p:cNvSpPr>
                <a:spLocks noChangeShapeType="1"/>
              </p:cNvSpPr>
              <p:nvPr/>
            </p:nvSpPr>
            <p:spPr bwMode="auto">
              <a:xfrm flipV="1">
                <a:off x="2712" y="3204"/>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38" name="Line 218"/>
              <p:cNvSpPr>
                <a:spLocks noChangeShapeType="1"/>
              </p:cNvSpPr>
              <p:nvPr/>
            </p:nvSpPr>
            <p:spPr bwMode="auto">
              <a:xfrm flipV="1">
                <a:off x="3237" y="3207"/>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39" name="Line 219"/>
              <p:cNvSpPr>
                <a:spLocks noChangeShapeType="1"/>
              </p:cNvSpPr>
              <p:nvPr/>
            </p:nvSpPr>
            <p:spPr bwMode="auto">
              <a:xfrm flipV="1">
                <a:off x="3654" y="3489"/>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40" name="Line 220"/>
              <p:cNvSpPr>
                <a:spLocks noChangeShapeType="1"/>
              </p:cNvSpPr>
              <p:nvPr/>
            </p:nvSpPr>
            <p:spPr bwMode="auto">
              <a:xfrm flipV="1">
                <a:off x="4071" y="3207"/>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41" name="Line 221"/>
              <p:cNvSpPr>
                <a:spLocks noChangeShapeType="1"/>
              </p:cNvSpPr>
              <p:nvPr/>
            </p:nvSpPr>
            <p:spPr bwMode="auto">
              <a:xfrm flipV="1">
                <a:off x="4566" y="3219"/>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42" name="Line 222"/>
              <p:cNvSpPr>
                <a:spLocks noChangeShapeType="1"/>
              </p:cNvSpPr>
              <p:nvPr/>
            </p:nvSpPr>
            <p:spPr bwMode="auto">
              <a:xfrm flipV="1">
                <a:off x="4977" y="3501"/>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sp>
            <p:nvSpPr>
              <p:cNvPr id="466143" name="Line 223"/>
              <p:cNvSpPr>
                <a:spLocks noChangeShapeType="1"/>
              </p:cNvSpPr>
              <p:nvPr/>
            </p:nvSpPr>
            <p:spPr bwMode="auto">
              <a:xfrm flipV="1">
                <a:off x="5388" y="3225"/>
                <a:ext cx="0" cy="156"/>
              </a:xfrm>
              <a:prstGeom prst="line">
                <a:avLst/>
              </a:prstGeom>
              <a:noFill/>
              <a:ln w="1905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de-DE"/>
              </a:p>
            </p:txBody>
          </p:sp>
        </p:grpSp>
        <p:sp>
          <p:nvSpPr>
            <p:cNvPr id="226" name="Text Box 56"/>
            <p:cNvSpPr txBox="1">
              <a:spLocks noChangeArrowheads="1"/>
            </p:cNvSpPr>
            <p:nvPr/>
          </p:nvSpPr>
          <p:spPr bwMode="auto">
            <a:xfrm>
              <a:off x="4115162" y="5013176"/>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227" name="Text Box 56"/>
            <p:cNvSpPr txBox="1">
              <a:spLocks noChangeArrowheads="1"/>
            </p:cNvSpPr>
            <p:nvPr/>
          </p:nvSpPr>
          <p:spPr bwMode="auto">
            <a:xfrm>
              <a:off x="6228184" y="4941168"/>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228" name="Text Box 56"/>
            <p:cNvSpPr txBox="1">
              <a:spLocks noChangeArrowheads="1"/>
            </p:cNvSpPr>
            <p:nvPr/>
          </p:nvSpPr>
          <p:spPr bwMode="auto">
            <a:xfrm>
              <a:off x="8388424" y="4941168"/>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229" name="Text Box 52"/>
            <p:cNvSpPr txBox="1">
              <a:spLocks noChangeArrowheads="1"/>
            </p:cNvSpPr>
            <p:nvPr/>
          </p:nvSpPr>
          <p:spPr bwMode="auto">
            <a:xfrm>
              <a:off x="3419872" y="5301208"/>
              <a:ext cx="312737" cy="369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e</a:t>
              </a:r>
              <a:endParaRPr lang="de-DE" sz="2400" dirty="0">
                <a:latin typeface="Times New Roman" pitchFamily="18" charset="0"/>
              </a:endParaRPr>
            </a:p>
          </p:txBody>
        </p:sp>
        <p:sp>
          <p:nvSpPr>
            <p:cNvPr id="230" name="Text Box 52"/>
            <p:cNvSpPr txBox="1">
              <a:spLocks noChangeArrowheads="1"/>
            </p:cNvSpPr>
            <p:nvPr/>
          </p:nvSpPr>
          <p:spPr bwMode="auto">
            <a:xfrm>
              <a:off x="5508104" y="5157192"/>
              <a:ext cx="312737" cy="369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e</a:t>
              </a:r>
              <a:endParaRPr lang="de-DE" sz="2400" dirty="0">
                <a:latin typeface="Times New Roman" pitchFamily="18" charset="0"/>
              </a:endParaRPr>
            </a:p>
          </p:txBody>
        </p:sp>
        <p:sp>
          <p:nvSpPr>
            <p:cNvPr id="231" name="Text Box 52"/>
            <p:cNvSpPr txBox="1">
              <a:spLocks noChangeArrowheads="1"/>
            </p:cNvSpPr>
            <p:nvPr/>
          </p:nvSpPr>
          <p:spPr bwMode="auto">
            <a:xfrm>
              <a:off x="7571631" y="5157192"/>
              <a:ext cx="312737" cy="3698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e</a:t>
              </a:r>
              <a:endParaRPr lang="de-DE" sz="2400" dirty="0">
                <a:latin typeface="Times New Roman" pitchFamily="18" charset="0"/>
              </a:endParaRPr>
            </a:p>
          </p:txBody>
        </p:sp>
        <p:sp>
          <p:nvSpPr>
            <p:cNvPr id="232" name="Text Box 56"/>
            <p:cNvSpPr txBox="1">
              <a:spLocks noChangeArrowheads="1"/>
            </p:cNvSpPr>
            <p:nvPr/>
          </p:nvSpPr>
          <p:spPr bwMode="auto">
            <a:xfrm>
              <a:off x="7020272" y="4941168"/>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233" name="Text Box 56"/>
            <p:cNvSpPr txBox="1">
              <a:spLocks noChangeArrowheads="1"/>
            </p:cNvSpPr>
            <p:nvPr/>
          </p:nvSpPr>
          <p:spPr bwMode="auto">
            <a:xfrm>
              <a:off x="2699792" y="4941168"/>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sp>
          <p:nvSpPr>
            <p:cNvPr id="235" name="Text Box 56"/>
            <p:cNvSpPr txBox="1">
              <a:spLocks noChangeArrowheads="1"/>
            </p:cNvSpPr>
            <p:nvPr/>
          </p:nvSpPr>
          <p:spPr bwMode="auto">
            <a:xfrm>
              <a:off x="4932040" y="5013176"/>
              <a:ext cx="312906"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de-DE" dirty="0">
                  <a:solidFill>
                    <a:srgbClr val="FF0000"/>
                  </a:solidFill>
                </a:rPr>
                <a:t>1</a:t>
              </a:r>
              <a:endParaRPr lang="de-DE" sz="2400" dirty="0">
                <a:latin typeface="Times New Roman" pitchFamily="18" charset="0"/>
              </a:endParaRPr>
            </a:p>
          </p:txBody>
        </p:sp>
      </p:grpSp>
    </p:spTree>
    <p:extLst>
      <p:ext uri="{BB962C8B-B14F-4D97-AF65-F5344CB8AC3E}">
        <p14:creationId xmlns:p14="http://schemas.microsoft.com/office/powerpoint/2010/main" val="1067978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5923">
                                            <p:txEl>
                                              <p:pRg st="1" end="1"/>
                                            </p:txEl>
                                          </p:spTgt>
                                        </p:tgtEl>
                                        <p:attrNameLst>
                                          <p:attrName>style.visibility</p:attrName>
                                        </p:attrNameLst>
                                      </p:cBhvr>
                                      <p:to>
                                        <p:strVal val="visible"/>
                                      </p:to>
                                    </p:set>
                                    <p:animEffect transition="in" filter="fade">
                                      <p:cBhvr>
                                        <p:cTn id="7" dur="500"/>
                                        <p:tgtEl>
                                          <p:spTgt spid="46592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465923">
                                            <p:txEl>
                                              <p:pRg st="2" end="2"/>
                                            </p:txEl>
                                          </p:spTgt>
                                        </p:tgtEl>
                                        <p:attrNameLst>
                                          <p:attrName>style.visibility</p:attrName>
                                        </p:attrNameLst>
                                      </p:cBhvr>
                                      <p:to>
                                        <p:strVal val="visible"/>
                                      </p:to>
                                    </p:set>
                                    <p:animEffect transition="in" filter="fade">
                                      <p:cBhvr>
                                        <p:cTn id="10" dur="500"/>
                                        <p:tgtEl>
                                          <p:spTgt spid="46592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465923">
                                            <p:txEl>
                                              <p:pRg st="3" end="3"/>
                                            </p:txEl>
                                          </p:spTgt>
                                        </p:tgtEl>
                                        <p:attrNameLst>
                                          <p:attrName>style.visibility</p:attrName>
                                        </p:attrNameLst>
                                      </p:cBhvr>
                                      <p:to>
                                        <p:strVal val="visible"/>
                                      </p:to>
                                    </p:set>
                                    <p:animEffect transition="in" filter="fade">
                                      <p:cBhvr>
                                        <p:cTn id="13" dur="500"/>
                                        <p:tgtEl>
                                          <p:spTgt spid="46592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65923">
                                            <p:txEl>
                                              <p:pRg st="4" end="4"/>
                                            </p:txEl>
                                          </p:spTgt>
                                        </p:tgtEl>
                                        <p:attrNameLst>
                                          <p:attrName>style.visibility</p:attrName>
                                        </p:attrNameLst>
                                      </p:cBhvr>
                                      <p:to>
                                        <p:strVal val="visible"/>
                                      </p:to>
                                    </p:set>
                                    <p:animEffect transition="in" filter="fade">
                                      <p:cBhvr>
                                        <p:cTn id="18" dur="500"/>
                                        <p:tgtEl>
                                          <p:spTgt spid="46592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465923">
                                            <p:txEl>
                                              <p:pRg st="5" end="5"/>
                                            </p:txEl>
                                          </p:spTgt>
                                        </p:tgtEl>
                                        <p:attrNameLst>
                                          <p:attrName>style.visibility</p:attrName>
                                        </p:attrNameLst>
                                      </p:cBhvr>
                                      <p:to>
                                        <p:strVal val="visible"/>
                                      </p:to>
                                    </p:set>
                                    <p:animEffect transition="in" filter="fade">
                                      <p:cBhvr>
                                        <p:cTn id="21" dur="500"/>
                                        <p:tgtEl>
                                          <p:spTgt spid="46592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33</a:t>
            </a:fld>
            <a:endParaRPr lang="de-DE" dirty="0"/>
          </a:p>
        </p:txBody>
      </p:sp>
      <p:sp>
        <p:nvSpPr>
          <p:cNvPr id="3" name="Titel 2"/>
          <p:cNvSpPr>
            <a:spLocks noGrp="1"/>
          </p:cNvSpPr>
          <p:nvPr>
            <p:ph type="title"/>
          </p:nvPr>
        </p:nvSpPr>
        <p:spPr/>
        <p:txBody>
          <a:bodyPr/>
          <a:lstStyle/>
          <a:p>
            <a:r>
              <a:rPr lang="de-DE"/>
              <a:t>Danke.</a:t>
            </a:r>
            <a:endParaRPr lang="de-DE" dirty="0"/>
          </a:p>
        </p:txBody>
      </p:sp>
    </p:spTree>
    <p:extLst>
      <p:ext uri="{BB962C8B-B14F-4D97-AF65-F5344CB8AC3E}">
        <p14:creationId xmlns:p14="http://schemas.microsoft.com/office/powerpoint/2010/main" val="12889959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57F26EB-2B3D-4894-A784-BB226C832E45}"/>
              </a:ext>
            </a:extLst>
          </p:cNvPr>
          <p:cNvSpPr>
            <a:spLocks noGrp="1"/>
          </p:cNvSpPr>
          <p:nvPr>
            <p:ph type="sldNum" sz="quarter" idx="12"/>
          </p:nvPr>
        </p:nvSpPr>
        <p:spPr/>
        <p:txBody>
          <a:bodyPr/>
          <a:lstStyle/>
          <a:p>
            <a:fld id="{6C6AE60A-B69C-4790-82F7-3882EDF23186}" type="slidenum">
              <a:rPr lang="de-DE" smtClean="0"/>
              <a:pPr/>
              <a:t>34</a:t>
            </a:fld>
            <a:endParaRPr lang="de-DE" dirty="0"/>
          </a:p>
        </p:txBody>
      </p:sp>
      <p:sp>
        <p:nvSpPr>
          <p:cNvPr id="3" name="Titel 2">
            <a:extLst>
              <a:ext uri="{FF2B5EF4-FFF2-40B4-BE49-F238E27FC236}">
                <a16:creationId xmlns:a16="http://schemas.microsoft.com/office/drawing/2014/main" id="{DD1A78AA-0F13-4E4F-A085-0AADD539978F}"/>
              </a:ext>
            </a:extLst>
          </p:cNvPr>
          <p:cNvSpPr>
            <a:spLocks noGrp="1"/>
          </p:cNvSpPr>
          <p:nvPr>
            <p:ph type="title"/>
          </p:nvPr>
        </p:nvSpPr>
        <p:spPr/>
        <p:txBody>
          <a:bodyPr/>
          <a:lstStyle/>
          <a:p>
            <a:r>
              <a:rPr lang="de-DE" dirty="0"/>
              <a:t>Zusätzliche Folien</a:t>
            </a:r>
            <a:endParaRPr lang="en-US" dirty="0"/>
          </a:p>
        </p:txBody>
      </p:sp>
    </p:spTree>
    <p:extLst>
      <p:ext uri="{BB962C8B-B14F-4D97-AF65-F5344CB8AC3E}">
        <p14:creationId xmlns:p14="http://schemas.microsoft.com/office/powerpoint/2010/main" val="425231023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4414</Words>
  <Application>Microsoft Office PowerPoint</Application>
  <PresentationFormat>Bildschirmpräsentation (4:3)</PresentationFormat>
  <Paragraphs>664</Paragraphs>
  <Slides>34</Slides>
  <Notes>16</Notes>
  <HiddenSlides>0</HiddenSlides>
  <MMClips>0</MMClips>
  <ScaleCrop>false</ScaleCrop>
  <HeadingPairs>
    <vt:vector size="8" baseType="variant">
      <vt:variant>
        <vt:lpstr>Verwendete Schriftarten</vt:lpstr>
      </vt:variant>
      <vt:variant>
        <vt:i4>9</vt:i4>
      </vt:variant>
      <vt:variant>
        <vt:lpstr>Design</vt:lpstr>
      </vt:variant>
      <vt:variant>
        <vt:i4>1</vt:i4>
      </vt:variant>
      <vt:variant>
        <vt:lpstr>Eingebettete OLE-Server</vt:lpstr>
      </vt:variant>
      <vt:variant>
        <vt:i4>1</vt:i4>
      </vt:variant>
      <vt:variant>
        <vt:lpstr>Folientitel</vt:lpstr>
      </vt:variant>
      <vt:variant>
        <vt:i4>34</vt:i4>
      </vt:variant>
    </vt:vector>
  </HeadingPairs>
  <TitlesOfParts>
    <vt:vector size="45" baseType="lpstr">
      <vt:lpstr>Arial</vt:lpstr>
      <vt:lpstr>Bitstream Vera Sans</vt:lpstr>
      <vt:lpstr>Calibri</vt:lpstr>
      <vt:lpstr>Consolas</vt:lpstr>
      <vt:lpstr>Courier New</vt:lpstr>
      <vt:lpstr>Times New Roman</vt:lpstr>
      <vt:lpstr>Wingdings</vt:lpstr>
      <vt:lpstr>Wingdings 3</vt:lpstr>
      <vt:lpstr>ZapfDingbats</vt:lpstr>
      <vt:lpstr>Okeanos</vt:lpstr>
      <vt:lpstr>Clip</vt:lpstr>
      <vt:lpstr>Betriebssysteme und Netzwerke Vorlesung N04</vt:lpstr>
      <vt:lpstr>Evaluation der Vorlesung</vt:lpstr>
      <vt:lpstr>Internet-Protokollstapel: Netzwerkschicht</vt:lpstr>
      <vt:lpstr>IP-Adressierung – Netzwerke</vt:lpstr>
      <vt:lpstr>Adressierung von Subnetzen /1</vt:lpstr>
      <vt:lpstr>Router</vt:lpstr>
      <vt:lpstr>Hauptaufgabe des Routers: Weiterleitung</vt:lpstr>
      <vt:lpstr>Forwarding und Routing</vt:lpstr>
      <vt:lpstr>Weiterleitungstabelle</vt:lpstr>
      <vt:lpstr>Weiterleitungstabelle – Kompakt /1</vt:lpstr>
      <vt:lpstr>Weiterleitungstabelle – Kompakt /2</vt:lpstr>
      <vt:lpstr>Weiterleitungstabelle – Kompakt/3: Präfixe</vt:lpstr>
      <vt:lpstr>Weiterleitungstabelle – Kompakt/4: Präfixe</vt:lpstr>
      <vt:lpstr>Router: Longest-Prefix-Matching</vt:lpstr>
      <vt:lpstr>Präfixlänge und Subnetzgröße</vt:lpstr>
      <vt:lpstr>Longest-Prefix-Matching</vt:lpstr>
      <vt:lpstr>Longest-Prefix-Matching: Verwendung</vt:lpstr>
      <vt:lpstr>Beschreibung der Subnetze</vt:lpstr>
      <vt:lpstr>Filius Lernanwendung – z.B. Routing </vt:lpstr>
      <vt:lpstr>Routingalgorithmen  (Netzwerkschicht)</vt:lpstr>
      <vt:lpstr>Routing von Paketen</vt:lpstr>
      <vt:lpstr>Routing und das Weiterleiten</vt:lpstr>
      <vt:lpstr>Abstraktes Graphenmodell eines Computernetzwerkes</vt:lpstr>
      <vt:lpstr>Abstraktes Graphenmodell: Definitionen</vt:lpstr>
      <vt:lpstr>Klassifikation von Routing-Algorithmen</vt:lpstr>
      <vt:lpstr>Routingalgorithmen: Link-State-Algorithmen (LS)</vt:lpstr>
      <vt:lpstr>Ein Link-State-Algorithmus </vt:lpstr>
      <vt:lpstr>Dijkstra-Visualisierung</vt:lpstr>
      <vt:lpstr>Dijkstra-Algorithmus</vt:lpstr>
      <vt:lpstr>Dijkstra-Algorithmus: Beispiel</vt:lpstr>
      <vt:lpstr>Dijkstra-Algorithmus: Beispiel /2</vt:lpstr>
      <vt:lpstr>Dijkstra-Algorithmus - Diskussion</vt:lpstr>
      <vt:lpstr>Danke.</vt:lpstr>
      <vt:lpstr>Zusätzliche Folien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3998</cp:revision>
  <cp:lastPrinted>2025-06-30T10:51:03Z</cp:lastPrinted>
  <dcterms:created xsi:type="dcterms:W3CDTF">2009-04-16T23:00:57Z</dcterms:created>
  <dcterms:modified xsi:type="dcterms:W3CDTF">2026-06-24T10:48:57Z</dcterms:modified>
</cp:coreProperties>
</file>