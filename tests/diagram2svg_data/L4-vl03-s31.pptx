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73"/>
  </p:notesMasterIdLst>
  <p:handoutMasterIdLst>
    <p:handoutMasterId r:id="rId74"/>
  </p:handoutMasterIdLst>
  <p:sldIdLst>
    <p:sldId id="698" r:id="rId32"/>
  </p:sldIdLst>
  <p:sldSz cx="9144000" cy="6858000" type="screen4x3"/>
  <p:notesSz cx="10234613" cy="7099300"/>
  <p:custDataLst>
    <p:tags r:id="rId75"/>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33CCFF"/>
    <a:srgbClr val="CCFFFF"/>
    <a:srgbClr val="66FFCC"/>
    <a:srgbClr val="FFFF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931" autoAdjust="0"/>
    <p:restoredTop sz="69798" autoAdjust="0"/>
  </p:normalViewPr>
  <p:slideViewPr>
    <p:cSldViewPr>
      <p:cViewPr varScale="1">
        <p:scale>
          <a:sx n="109" d="100"/>
          <a:sy n="109" d="100"/>
        </p:scale>
        <p:origin x="284" y="72"/>
      </p:cViewPr>
      <p:guideLst>
        <p:guide orient="horz" pos="2160"/>
        <p:guide pos="1020"/>
      </p:guideLst>
    </p:cSldViewPr>
  </p:slideViewPr>
  <p:notesTextViewPr>
    <p:cViewPr>
      <p:scale>
        <a:sx n="3" d="2"/>
        <a:sy n="3" d="2"/>
      </p:scale>
      <p:origin x="0" y="-40"/>
    </p:cViewPr>
  </p:notesTextViewPr>
  <p:sorterViewPr>
    <p:cViewPr varScale="1">
      <p:scale>
        <a:sx n="1" d="1"/>
        <a:sy n="1" d="1"/>
      </p:scale>
      <p:origin x="0" y="-837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handoutMaster" Target="handoutMasters/handoutMaster1.xml"/><Relationship Id="rId75" Type="http://schemas.openxmlformats.org/officeDocument/2006/relationships/tags" Target="tags/tag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4434999" cy="354965"/>
          </a:xfrm>
          <a:prstGeom prst="rect">
            <a:avLst/>
          </a:prstGeom>
        </p:spPr>
        <p:txBody>
          <a:bodyPr vert="horz" lIns="95491" tIns="47745" rIns="95491" bIns="47745" rtlCol="0"/>
          <a:lstStyle>
            <a:lvl1pPr algn="l">
              <a:defRPr sz="1300"/>
            </a:lvl1pPr>
          </a:lstStyle>
          <a:p>
            <a:endParaRPr lang="de-DE"/>
          </a:p>
        </p:txBody>
      </p:sp>
      <p:sp>
        <p:nvSpPr>
          <p:cNvPr id="3" name="Datumsplatzhalter 2"/>
          <p:cNvSpPr>
            <a:spLocks noGrp="1"/>
          </p:cNvSpPr>
          <p:nvPr>
            <p:ph type="dt" sz="quarter" idx="1"/>
          </p:nvPr>
        </p:nvSpPr>
        <p:spPr>
          <a:xfrm>
            <a:off x="5797247" y="0"/>
            <a:ext cx="4434999" cy="354965"/>
          </a:xfrm>
          <a:prstGeom prst="rect">
            <a:avLst/>
          </a:prstGeom>
        </p:spPr>
        <p:txBody>
          <a:bodyPr vert="horz" lIns="95491" tIns="47745" rIns="95491" bIns="47745" rtlCol="0"/>
          <a:lstStyle>
            <a:lvl1pPr algn="r">
              <a:defRPr sz="1300"/>
            </a:lvl1pPr>
          </a:lstStyle>
          <a:p>
            <a:fld id="{503D259A-BC5A-44A4-AF17-09BFC30AC7B9}" type="datetimeFigureOut">
              <a:rPr lang="de-DE" smtClean="0"/>
              <a:pPr/>
              <a:t>20.04.2026</a:t>
            </a:fld>
            <a:endParaRPr lang="de-DE"/>
          </a:p>
        </p:txBody>
      </p:sp>
      <p:sp>
        <p:nvSpPr>
          <p:cNvPr id="4" name="Fußzeilenplatzhalter 3"/>
          <p:cNvSpPr>
            <a:spLocks noGrp="1"/>
          </p:cNvSpPr>
          <p:nvPr>
            <p:ph type="ftr" sz="quarter" idx="2"/>
          </p:nvPr>
        </p:nvSpPr>
        <p:spPr>
          <a:xfrm>
            <a:off x="1" y="6743104"/>
            <a:ext cx="4434999" cy="354965"/>
          </a:xfrm>
          <a:prstGeom prst="rect">
            <a:avLst/>
          </a:prstGeom>
        </p:spPr>
        <p:txBody>
          <a:bodyPr vert="horz" lIns="95491" tIns="47745" rIns="95491" bIns="47745" rtlCol="0" anchor="b"/>
          <a:lstStyle>
            <a:lvl1pPr algn="l">
              <a:defRPr sz="1300"/>
            </a:lvl1pPr>
          </a:lstStyle>
          <a:p>
            <a:endParaRPr lang="de-DE"/>
          </a:p>
        </p:txBody>
      </p:sp>
      <p:sp>
        <p:nvSpPr>
          <p:cNvPr id="5" name="Foliennummernplatzhalter 4"/>
          <p:cNvSpPr>
            <a:spLocks noGrp="1"/>
          </p:cNvSpPr>
          <p:nvPr>
            <p:ph type="sldNum" sz="quarter" idx="3"/>
          </p:nvPr>
        </p:nvSpPr>
        <p:spPr>
          <a:xfrm>
            <a:off x="5797247" y="6743104"/>
            <a:ext cx="4434999" cy="354965"/>
          </a:xfrm>
          <a:prstGeom prst="rect">
            <a:avLst/>
          </a:prstGeom>
        </p:spPr>
        <p:txBody>
          <a:bodyPr vert="horz" lIns="95491" tIns="47745" rIns="95491" bIns="47745" rtlCol="0" anchor="b"/>
          <a:lstStyle>
            <a:lvl1pPr algn="r">
              <a:defRPr sz="1300"/>
            </a:lvl1pPr>
          </a:lstStyle>
          <a:p>
            <a:fld id="{69916C2F-BC73-49DB-9119-EC35D25111C2}" type="slidenum">
              <a:rPr lang="de-DE" smtClean="0"/>
              <a:pPr/>
              <a:t>‹Nr.›</a:t>
            </a:fld>
            <a:endParaRPr lang="de-DE"/>
          </a:p>
        </p:txBody>
      </p:sp>
    </p:spTree>
    <p:extLst>
      <p:ext uri="{BB962C8B-B14F-4D97-AF65-F5344CB8AC3E}">
        <p14:creationId xmlns:p14="http://schemas.microsoft.com/office/powerpoint/2010/main" val="15712049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4434999" cy="354965"/>
          </a:xfrm>
          <a:prstGeom prst="rect">
            <a:avLst/>
          </a:prstGeom>
        </p:spPr>
        <p:txBody>
          <a:bodyPr vert="horz" lIns="95491" tIns="47745" rIns="95491" bIns="47745" rtlCol="0"/>
          <a:lstStyle>
            <a:lvl1pPr algn="l">
              <a:defRPr sz="1300"/>
            </a:lvl1pPr>
          </a:lstStyle>
          <a:p>
            <a:endParaRPr lang="en-US"/>
          </a:p>
        </p:txBody>
      </p:sp>
      <p:sp>
        <p:nvSpPr>
          <p:cNvPr id="3" name="Datumsplatzhalter 2"/>
          <p:cNvSpPr>
            <a:spLocks noGrp="1"/>
          </p:cNvSpPr>
          <p:nvPr>
            <p:ph type="dt" idx="1"/>
          </p:nvPr>
        </p:nvSpPr>
        <p:spPr>
          <a:xfrm>
            <a:off x="5797247" y="0"/>
            <a:ext cx="4434999" cy="354965"/>
          </a:xfrm>
          <a:prstGeom prst="rect">
            <a:avLst/>
          </a:prstGeom>
        </p:spPr>
        <p:txBody>
          <a:bodyPr vert="horz" lIns="95491" tIns="47745" rIns="95491" bIns="47745" rtlCol="0"/>
          <a:lstStyle>
            <a:lvl1pPr algn="r">
              <a:defRPr sz="1300"/>
            </a:lvl1pPr>
          </a:lstStyle>
          <a:p>
            <a:fld id="{4007A66C-EE28-4ADD-A611-42716BED3A40}" type="datetimeFigureOut">
              <a:rPr lang="en-US" smtClean="0"/>
              <a:pPr/>
              <a:t>4/20/2026</a:t>
            </a:fld>
            <a:endParaRPr lang="en-US"/>
          </a:p>
        </p:txBody>
      </p:sp>
      <p:sp>
        <p:nvSpPr>
          <p:cNvPr id="4" name="Folienbildplatzhalter 3"/>
          <p:cNvSpPr>
            <a:spLocks noGrp="1" noRot="1" noChangeAspect="1"/>
          </p:cNvSpPr>
          <p:nvPr>
            <p:ph type="sldImg" idx="2"/>
          </p:nvPr>
        </p:nvSpPr>
        <p:spPr>
          <a:xfrm>
            <a:off x="3343275" y="531813"/>
            <a:ext cx="3548063" cy="2662237"/>
          </a:xfrm>
          <a:prstGeom prst="rect">
            <a:avLst/>
          </a:prstGeom>
          <a:noFill/>
          <a:ln w="12700">
            <a:solidFill>
              <a:prstClr val="black"/>
            </a:solidFill>
          </a:ln>
        </p:spPr>
        <p:txBody>
          <a:bodyPr vert="horz" lIns="95491" tIns="47745" rIns="95491" bIns="47745" rtlCol="0" anchor="ctr"/>
          <a:lstStyle/>
          <a:p>
            <a:endParaRPr lang="en-US"/>
          </a:p>
        </p:txBody>
      </p:sp>
      <p:sp>
        <p:nvSpPr>
          <p:cNvPr id="5" name="Notizenplatzhalter 4"/>
          <p:cNvSpPr>
            <a:spLocks noGrp="1"/>
          </p:cNvSpPr>
          <p:nvPr>
            <p:ph type="body" sz="quarter" idx="3"/>
          </p:nvPr>
        </p:nvSpPr>
        <p:spPr>
          <a:xfrm>
            <a:off x="1023463" y="3372168"/>
            <a:ext cx="8187689" cy="3194684"/>
          </a:xfrm>
          <a:prstGeom prst="rect">
            <a:avLst/>
          </a:prstGeom>
        </p:spPr>
        <p:txBody>
          <a:bodyPr vert="horz" lIns="95491" tIns="47745" rIns="95491" bIns="47745"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1" y="6743104"/>
            <a:ext cx="4434999" cy="354965"/>
          </a:xfrm>
          <a:prstGeom prst="rect">
            <a:avLst/>
          </a:prstGeom>
        </p:spPr>
        <p:txBody>
          <a:bodyPr vert="horz" lIns="95491" tIns="47745" rIns="95491" bIns="47745" rtlCol="0" anchor="b"/>
          <a:lstStyle>
            <a:lvl1pPr algn="l">
              <a:defRPr sz="1300"/>
            </a:lvl1pPr>
          </a:lstStyle>
          <a:p>
            <a:endParaRPr lang="en-US"/>
          </a:p>
        </p:txBody>
      </p:sp>
      <p:sp>
        <p:nvSpPr>
          <p:cNvPr id="7" name="Foliennummernplatzhalter 6"/>
          <p:cNvSpPr>
            <a:spLocks noGrp="1"/>
          </p:cNvSpPr>
          <p:nvPr>
            <p:ph type="sldNum" sz="quarter" idx="5"/>
          </p:nvPr>
        </p:nvSpPr>
        <p:spPr>
          <a:xfrm>
            <a:off x="5797247" y="6743104"/>
            <a:ext cx="4434999" cy="354965"/>
          </a:xfrm>
          <a:prstGeom prst="rect">
            <a:avLst/>
          </a:prstGeom>
        </p:spPr>
        <p:txBody>
          <a:bodyPr vert="horz" lIns="95491" tIns="47745" rIns="95491" bIns="47745" rtlCol="0" anchor="b"/>
          <a:lstStyle>
            <a:lvl1pPr algn="r">
              <a:defRPr sz="1300"/>
            </a:lvl1pPr>
          </a:lstStyle>
          <a:p>
            <a:fld id="{6D176CDC-8D0E-409F-856B-BAE38288A8E4}" type="slidenum">
              <a:rPr lang="en-US" smtClean="0"/>
              <a:pPr/>
              <a:t>‹Nr.›</a:t>
            </a:fld>
            <a:endParaRPr lang="en-US"/>
          </a:p>
        </p:txBody>
      </p:sp>
    </p:spTree>
    <p:extLst>
      <p:ext uri="{BB962C8B-B14F-4D97-AF65-F5344CB8AC3E}">
        <p14:creationId xmlns:p14="http://schemas.microsoft.com/office/powerpoint/2010/main" val="375176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www.addison-wesley.de/main/main.asp?page=deutsch/bookdetails&amp;productid=111084"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msdn.microsoft.com/en-us/library/aa365467(VS.85).aspx"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cs.microsoft.com/en-us/windows/wsl/tutorials/wsl-container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www.cs.fsu.edu/~baker/devices/lxr/http/source/linux/include/linux/sched.h"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repos.fds-team.de/ibnos/doc/"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pingo.coactum.de/events/301541/surveys/67fccf7890ae7e0001679b41"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Was macht X=$(</a:t>
            </a:r>
            <a:r>
              <a:rPr lang="de-DE" sz="1200" dirty="0" err="1"/>
              <a:t>cmd</a:t>
            </a:r>
            <a:r>
              <a:rPr lang="de-DE"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Was passiert beim SYSENTER?</a:t>
            </a:r>
          </a:p>
          <a:p>
            <a:endParaRPr lang="de-DE" dirty="0"/>
          </a:p>
        </p:txBody>
      </p:sp>
      <p:sp>
        <p:nvSpPr>
          <p:cNvPr id="4" name="Foliennummernplatzhalter 3"/>
          <p:cNvSpPr>
            <a:spLocks noGrp="1"/>
          </p:cNvSpPr>
          <p:nvPr>
            <p:ph type="sldNum" sz="quarter" idx="5"/>
          </p:nvPr>
        </p:nvSpPr>
        <p:spPr/>
        <p:txBody>
          <a:bodyPr/>
          <a:lstStyle/>
          <a:p>
            <a:fld id="{6D176CDC-8D0E-409F-856B-BAE38288A8E4}" type="slidenum">
              <a:rPr lang="en-US" smtClean="0"/>
              <a:pPr/>
              <a:t>2</a:t>
            </a:fld>
            <a:endParaRPr lang="en-US"/>
          </a:p>
        </p:txBody>
      </p:sp>
    </p:spTree>
    <p:extLst>
      <p:ext uri="{BB962C8B-B14F-4D97-AF65-F5344CB8AC3E}">
        <p14:creationId xmlns:p14="http://schemas.microsoft.com/office/powerpoint/2010/main" val="3649707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ighlight>
                  <a:srgbClr val="00FF00"/>
                </a:highlight>
              </a:rPr>
              <a:t>https://bit.ly/ibn_hd</a:t>
            </a:r>
            <a:endParaRPr lang="de-DE" sz="1200" dirty="0">
              <a:highlight>
                <a:srgbClr val="00FF00"/>
              </a:highlight>
            </a:endParaRPr>
          </a:p>
        </p:txBody>
      </p:sp>
      <p:sp>
        <p:nvSpPr>
          <p:cNvPr id="4" name="Slide Number Placeholder 3"/>
          <p:cNvSpPr>
            <a:spLocks noGrp="1"/>
          </p:cNvSpPr>
          <p:nvPr>
            <p:ph type="sldNum" sz="quarter" idx="10"/>
          </p:nvPr>
        </p:nvSpPr>
        <p:spPr/>
        <p:txBody>
          <a:bodyPr/>
          <a:lstStyle/>
          <a:p>
            <a:fld id="{6D176CDC-8D0E-409F-856B-BAE38288A8E4}"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63212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  </a:t>
            </a:r>
            <a:r>
              <a:rPr lang="de-DE" sz="1200" dirty="0">
                <a:solidFill>
                  <a:srgbClr val="0070C0"/>
                </a:solidFill>
              </a:rPr>
              <a:t>cd PFAD</a:t>
            </a:r>
            <a:r>
              <a:rPr lang="de-DE" sz="1200" dirty="0"/>
              <a:t>: Verzeichnis wechseln</a:t>
            </a:r>
          </a:p>
          <a:p>
            <a:endParaRPr lang="de-DE" dirty="0"/>
          </a:p>
        </p:txBody>
      </p:sp>
      <p:sp>
        <p:nvSpPr>
          <p:cNvPr id="4" name="Foliennummernplatzhalter 3"/>
          <p:cNvSpPr>
            <a:spLocks noGrp="1"/>
          </p:cNvSpPr>
          <p:nvPr>
            <p:ph type="sldNum" sz="quarter" idx="5"/>
          </p:nvPr>
        </p:nvSpPr>
        <p:spPr/>
        <p:txBody>
          <a:bodyPr/>
          <a:lstStyle/>
          <a:p>
            <a:fld id="{6D176CDC-8D0E-409F-856B-BAE38288A8E4}" type="slidenum">
              <a:rPr lang="en-US" smtClean="0"/>
              <a:pPr/>
              <a:t>10</a:t>
            </a:fld>
            <a:endParaRPr lang="en-US"/>
          </a:p>
        </p:txBody>
      </p:sp>
    </p:spTree>
    <p:extLst>
      <p:ext uri="{BB962C8B-B14F-4D97-AF65-F5344CB8AC3E}">
        <p14:creationId xmlns:p14="http://schemas.microsoft.com/office/powerpoint/2010/main" val="62497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Du kannst dieses Skript wunderbar nutzen, um den Studierenden zu zeigen, wie man von einfachen Befehlen zur echten </a:t>
            </a:r>
            <a:r>
              <a:rPr lang="de-DE" b="1" dirty="0"/>
              <a:t>System-Integration</a:t>
            </a:r>
            <a:r>
              <a:rPr lang="de-DE" dirty="0"/>
              <a:t> gelangt:</a:t>
            </a:r>
          </a:p>
          <a:p>
            <a:pPr>
              <a:buFont typeface="+mj-lt"/>
              <a:buAutoNum type="arabicPeriod"/>
            </a:pPr>
            <a:r>
              <a:rPr lang="de-DE" b="1" dirty="0"/>
              <a:t>Validierung</a:t>
            </a:r>
            <a:r>
              <a:rPr lang="de-DE" dirty="0"/>
              <a:t> (Sind alle Daten da?)</a:t>
            </a:r>
          </a:p>
          <a:p>
            <a:pPr>
              <a:buFont typeface="+mj-lt"/>
              <a:buAutoNum type="arabicPeriod"/>
            </a:pPr>
            <a:r>
              <a:rPr lang="de-DE" b="1" dirty="0"/>
              <a:t>Identifikation</a:t>
            </a:r>
            <a:r>
              <a:rPr lang="de-DE" dirty="0"/>
              <a:t> (Welche Dateien sind neu?)</a:t>
            </a:r>
          </a:p>
          <a:p>
            <a:pPr>
              <a:buFont typeface="+mj-lt"/>
              <a:buAutoNum type="arabicPeriod"/>
            </a:pPr>
            <a:r>
              <a:rPr lang="de-DE" b="1" dirty="0"/>
              <a:t>Aktion</a:t>
            </a:r>
            <a:r>
              <a:rPr lang="de-DE" dirty="0"/>
              <a:t> (Übertragung via Netzwerk-Protokoll)</a:t>
            </a:r>
          </a:p>
          <a:p>
            <a:pPr>
              <a:buFont typeface="+mj-lt"/>
              <a:buAutoNum type="arabicPeriod"/>
            </a:pPr>
            <a:r>
              <a:rPr lang="de-DE" b="1" dirty="0"/>
              <a:t>Warten</a:t>
            </a:r>
            <a:r>
              <a:rPr lang="de-DE" dirty="0"/>
              <a:t> (Ressourcenschonung durch </a:t>
            </a:r>
            <a:r>
              <a:rPr lang="de-DE" dirty="0" err="1"/>
              <a:t>sleep</a:t>
            </a:r>
            <a:r>
              <a:rPr lang="de-DE" dirty="0"/>
              <a:t>) </a:t>
            </a:r>
          </a:p>
          <a:p>
            <a:endParaRPr lang="de-DE" dirty="0"/>
          </a:p>
          <a:p>
            <a:r>
              <a:rPr lang="de-DE" b="1" dirty="0">
                <a:effectLst/>
                <a:latin typeface="Google Sans"/>
              </a:rPr>
              <a:t>Korrekturbedarf &amp; Fehlerquellen</a:t>
            </a:r>
          </a:p>
          <a:p>
            <a:pPr>
              <a:buFont typeface="Arial" panose="020B0604020202020204" pitchFamily="34" charset="0"/>
              <a:buChar char="•"/>
            </a:pPr>
            <a:r>
              <a:rPr lang="de-DE" b="1" dirty="0">
                <a:effectLst/>
                <a:latin typeface="Google Sans Text"/>
              </a:rPr>
              <a:t>Typografische Anführungszeichen:</a:t>
            </a:r>
            <a:r>
              <a:rPr lang="de-DE" dirty="0">
                <a:effectLst/>
                <a:latin typeface="Google Sans Text"/>
              </a:rPr>
              <a:t> Im Befehl find “$WATCH_DIR“ werden "Smart </a:t>
            </a:r>
            <a:r>
              <a:rPr lang="de-DE" dirty="0" err="1">
                <a:effectLst/>
                <a:latin typeface="Google Sans Text"/>
              </a:rPr>
              <a:t>Quotes</a:t>
            </a:r>
            <a:r>
              <a:rPr lang="de-DE" dirty="0">
                <a:effectLst/>
                <a:latin typeface="Google Sans Text"/>
              </a:rPr>
              <a:t>" (geschwungene Anführungszeichen) verwendet – die Bash akzeptiert jedoch nur gerade Anführungszeichen " </a:t>
            </a:r>
          </a:p>
          <a:p>
            <a:pPr>
              <a:buFont typeface="Arial" panose="020B0604020202020204" pitchFamily="34" charset="0"/>
              <a:buChar char="•"/>
            </a:pPr>
            <a:r>
              <a:rPr lang="de-DE" b="1" dirty="0">
                <a:effectLst/>
                <a:latin typeface="Google Sans Text"/>
              </a:rPr>
              <a:t>Dateinamen mit Leerzeichen:</a:t>
            </a:r>
            <a:r>
              <a:rPr lang="de-DE" dirty="0">
                <a:effectLst/>
                <a:latin typeface="Google Sans Text"/>
              </a:rPr>
              <a:t> Die </a:t>
            </a:r>
            <a:r>
              <a:rPr lang="de-DE" dirty="0" err="1">
                <a:effectLst/>
                <a:latin typeface="Google Sans Text"/>
              </a:rPr>
              <a:t>for</a:t>
            </a:r>
            <a:r>
              <a:rPr lang="de-DE" dirty="0">
                <a:effectLst/>
                <a:latin typeface="Google Sans Text"/>
              </a:rPr>
              <a:t> FILE in $CHANGED-Schleife würde bei einer Datei namens mein bild.jpg versuchen, erst mein und dann bild.jpg zu übertragen – für Profis wäre hier eine Pipe mit </a:t>
            </a:r>
            <a:r>
              <a:rPr lang="de-DE" dirty="0" err="1">
                <a:effectLst/>
                <a:latin typeface="Google Sans Text"/>
              </a:rPr>
              <a:t>while</a:t>
            </a:r>
            <a:r>
              <a:rPr lang="de-DE" dirty="0">
                <a:effectLst/>
                <a:latin typeface="Google Sans Text"/>
              </a:rPr>
              <a:t> </a:t>
            </a:r>
            <a:r>
              <a:rPr lang="de-DE" dirty="0" err="1">
                <a:effectLst/>
                <a:latin typeface="Google Sans Text"/>
              </a:rPr>
              <a:t>read</a:t>
            </a:r>
            <a:r>
              <a:rPr lang="de-DE" dirty="0">
                <a:effectLst/>
                <a:latin typeface="Google Sans Text"/>
              </a:rPr>
              <a:t> sicherer </a:t>
            </a:r>
          </a:p>
          <a:p>
            <a:endParaRPr lang="de-DE" dirty="0"/>
          </a:p>
        </p:txBody>
      </p:sp>
      <p:sp>
        <p:nvSpPr>
          <p:cNvPr id="4" name="Foliennummernplatzhalter 3"/>
          <p:cNvSpPr>
            <a:spLocks noGrp="1"/>
          </p:cNvSpPr>
          <p:nvPr>
            <p:ph type="sldNum" sz="quarter" idx="5"/>
          </p:nvPr>
        </p:nvSpPr>
        <p:spPr/>
        <p:txBody>
          <a:bodyPr/>
          <a:lstStyle/>
          <a:p>
            <a:fld id="{6D176CDC-8D0E-409F-856B-BAE38288A8E4}" type="slidenum">
              <a:rPr lang="en-US" smtClean="0"/>
              <a:pPr/>
              <a:t>13</a:t>
            </a:fld>
            <a:endParaRPr lang="en-US"/>
          </a:p>
        </p:txBody>
      </p:sp>
    </p:spTree>
    <p:extLst>
      <p:ext uri="{BB962C8B-B14F-4D97-AF65-F5344CB8AC3E}">
        <p14:creationId xmlns:p14="http://schemas.microsoft.com/office/powerpoint/2010/main" val="312516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3473179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Nach</a:t>
            </a:r>
            <a:r>
              <a:rPr lang="de-DE" baseline="0" dirty="0"/>
              <a:t> dem Buch: </a:t>
            </a:r>
          </a:p>
          <a:p>
            <a:pPr marL="0" marR="0" indent="0" algn="l" defTabSz="914400" rtl="0" eaLnBrk="1" fontAlgn="auto" latinLnBrk="0" hangingPunct="1">
              <a:lnSpc>
                <a:spcPct val="100000"/>
              </a:lnSpc>
              <a:spcBef>
                <a:spcPts val="0"/>
              </a:spcBef>
              <a:spcAft>
                <a:spcPts val="0"/>
              </a:spcAft>
              <a:buClrTx/>
              <a:buSzTx/>
              <a:buFontTx/>
              <a:buNone/>
              <a:tabLst/>
              <a:defRPr/>
            </a:pPr>
            <a:r>
              <a:rPr lang="de-DE" dirty="0"/>
              <a:t>Greg Hoglund / James Butler</a:t>
            </a:r>
          </a:p>
          <a:p>
            <a:r>
              <a:rPr lang="de-DE" baseline="0" dirty="0"/>
              <a:t>Rootkits - </a:t>
            </a:r>
            <a:r>
              <a:rPr lang="de-DE" dirty="0"/>
              <a:t>Windows-Kernel unterwandern</a:t>
            </a:r>
          </a:p>
          <a:p>
            <a:r>
              <a:rPr lang="de-DE" sz="1200" b="0" i="0" kern="1200" dirty="0">
                <a:solidFill>
                  <a:schemeClr val="tx1"/>
                </a:solidFill>
                <a:effectLst/>
                <a:latin typeface="+mn-lt"/>
                <a:ea typeface="+mn-ea"/>
                <a:cs typeface="+mn-cs"/>
              </a:rPr>
              <a:t>ISBN: 978-3-8273-2341-5</a:t>
            </a:r>
          </a:p>
          <a:p>
            <a:r>
              <a:rPr lang="de-DE" sz="1200" b="0" i="0" kern="1200" dirty="0">
                <a:solidFill>
                  <a:schemeClr val="tx1"/>
                </a:solidFill>
                <a:effectLst/>
                <a:latin typeface="+mn-lt"/>
                <a:ea typeface="+mn-ea"/>
                <a:cs typeface="+mn-cs"/>
              </a:rPr>
              <a:t>Dezember 2005</a:t>
            </a:r>
          </a:p>
          <a:p>
            <a:r>
              <a:rPr lang="de-DE" dirty="0">
                <a:hlinkClick r:id="rId3"/>
              </a:rPr>
              <a:t>http://www.addison-wesley.de/main/main.asp?page=deutsch%2Fbookdetails&amp;productid=111084</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490374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ReadFile:</a:t>
            </a:r>
            <a:r>
              <a:rPr lang="de-DE" baseline="0" dirty="0"/>
              <a:t> </a:t>
            </a:r>
            <a:r>
              <a:rPr lang="de-DE" dirty="0">
                <a:hlinkClick r:id="rId3"/>
              </a:rPr>
              <a:t>http://msdn.microsoft.com/en-us/library/aa365467(VS.85).aspx</a:t>
            </a:r>
            <a:endParaRPr lang="de-DE" dirty="0"/>
          </a:p>
          <a:p>
            <a:r>
              <a:rPr lang="en-US" sz="1200" b="0" i="0" kern="1200" dirty="0">
                <a:solidFill>
                  <a:schemeClr val="tx1"/>
                </a:solidFill>
                <a:effectLst/>
                <a:latin typeface="+mn-lt"/>
                <a:ea typeface="+mn-ea"/>
                <a:cs typeface="+mn-cs"/>
              </a:rPr>
              <a:t>Reads data from the specified file or input/output (I/O) device.</a:t>
            </a:r>
          </a:p>
          <a:p>
            <a:r>
              <a:rPr lang="en-US" sz="1200" b="0" i="0" kern="1200" dirty="0" err="1">
                <a:solidFill>
                  <a:schemeClr val="tx1"/>
                </a:solidFill>
                <a:effectLst/>
                <a:latin typeface="+mn-lt"/>
                <a:ea typeface="+mn-ea"/>
                <a:cs typeface="+mn-cs"/>
              </a:rPr>
              <a:t>Antwort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Reads occur at the position specified by the file pointer if supported by the device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function is designed for both synchronous and asynchronous operations.</a:t>
            </a:r>
          </a:p>
          <a:p>
            <a:endParaRPr lang="de-DE" dirty="0"/>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1847881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WSL 2 architecture</a:t>
            </a:r>
          </a:p>
          <a:p>
            <a:r>
              <a:rPr lang="en-US" sz="1200" b="0" i="0" kern="1200" dirty="0">
                <a:solidFill>
                  <a:schemeClr val="tx1"/>
                </a:solidFill>
                <a:effectLst/>
                <a:latin typeface="+mn-lt"/>
                <a:ea typeface="+mn-ea"/>
                <a:cs typeface="+mn-cs"/>
              </a:rPr>
              <a:t>A traditional VM experience can be slow to boot up, is isolated, consumes a lot of resources, and requires your time to manage it. WSL 2 does not have these attributes.</a:t>
            </a:r>
          </a:p>
          <a:p>
            <a:r>
              <a:rPr lang="en-US" sz="1200" b="0" i="0" kern="1200" dirty="0">
                <a:solidFill>
                  <a:schemeClr val="tx1"/>
                </a:solidFill>
                <a:effectLst/>
                <a:latin typeface="+mn-lt"/>
                <a:ea typeface="+mn-ea"/>
                <a:cs typeface="+mn-cs"/>
              </a:rPr>
              <a:t>WSL 2 provides the benefits of WSL 1, including seamless integration between Windows and Linux, fast boot times, a small resource footprint, and requires no VM configuration or management. While WSL 2 does use a VM, it is managed and run behind the scenes, leaving you with the same user experience as WSL 1.</a:t>
            </a:r>
          </a:p>
          <a:p>
            <a:r>
              <a:rPr lang="en-US" dirty="0"/>
              <a:t>---</a:t>
            </a:r>
          </a:p>
          <a:p>
            <a:r>
              <a:rPr lang="en-US" sz="1200" b="1" i="0" kern="1200" dirty="0">
                <a:solidFill>
                  <a:schemeClr val="tx1"/>
                </a:solidFill>
                <a:effectLst/>
                <a:latin typeface="+mn-lt"/>
                <a:ea typeface="+mn-ea"/>
                <a:cs typeface="+mn-cs"/>
              </a:rPr>
              <a:t>Full system call compatibility</a:t>
            </a:r>
          </a:p>
          <a:p>
            <a:r>
              <a:rPr lang="en-US" sz="1200" b="0" i="0" kern="1200" dirty="0">
                <a:solidFill>
                  <a:schemeClr val="tx1"/>
                </a:solidFill>
                <a:effectLst/>
                <a:latin typeface="+mn-lt"/>
                <a:ea typeface="+mn-ea"/>
                <a:cs typeface="+mn-cs"/>
              </a:rPr>
              <a:t>Linux binaries use system calls to perform functions such as accessing files, requesting memory, creating processes, and more. Whereas WSL 1 used a translation layer that was built by the WSL team, WSL 2 includes its own Linux kernel with full system call compatibility. Benefits include:</a:t>
            </a:r>
          </a:p>
          <a:p>
            <a:r>
              <a:rPr lang="en-US" sz="1200" b="0" i="0" kern="1200" dirty="0">
                <a:solidFill>
                  <a:schemeClr val="tx1"/>
                </a:solidFill>
                <a:effectLst/>
                <a:latin typeface="+mn-lt"/>
                <a:ea typeface="+mn-ea"/>
                <a:cs typeface="+mn-cs"/>
              </a:rPr>
              <a:t>A whole new set of apps that you can run inside of WSL, such as </a:t>
            </a:r>
            <a:r>
              <a:rPr lang="en-US" sz="1200" b="1" i="0" u="sng" kern="1200" dirty="0">
                <a:solidFill>
                  <a:schemeClr val="tx1"/>
                </a:solidFill>
                <a:effectLst/>
                <a:latin typeface="+mn-lt"/>
                <a:ea typeface="+mn-ea"/>
                <a:cs typeface="+mn-cs"/>
                <a:hlinkClick r:id="rId3"/>
              </a:rPr>
              <a:t>Docker</a:t>
            </a:r>
            <a:r>
              <a:rPr lang="en-US" sz="1200" b="0" i="0" kern="1200" dirty="0">
                <a:solidFill>
                  <a:schemeClr val="tx1"/>
                </a:solidFill>
                <a:effectLst/>
                <a:latin typeface="+mn-lt"/>
                <a:ea typeface="+mn-ea"/>
                <a:cs typeface="+mn-cs"/>
              </a:rPr>
              <a:t> and more.</a:t>
            </a:r>
          </a:p>
          <a:p>
            <a:r>
              <a:rPr lang="en-US" sz="1200" b="0" i="0" kern="1200" dirty="0">
                <a:solidFill>
                  <a:schemeClr val="tx1"/>
                </a:solidFill>
                <a:effectLst/>
                <a:latin typeface="+mn-lt"/>
                <a:ea typeface="+mn-ea"/>
                <a:cs typeface="+mn-cs"/>
              </a:rPr>
              <a:t>Any updates to the Linux kernel are immediately ready for use. (You don't have to wait for the WSL team to implement updates and add the changes).</a:t>
            </a:r>
          </a:p>
          <a:p>
            <a:endParaRPr lang="en-US" dirty="0"/>
          </a:p>
        </p:txBody>
      </p:sp>
      <p:sp>
        <p:nvSpPr>
          <p:cNvPr id="4" name="Slide Number Placeholder 3"/>
          <p:cNvSpPr>
            <a:spLocks noGrp="1"/>
          </p:cNvSpPr>
          <p:nvPr>
            <p:ph type="sldNum" sz="quarter" idx="5"/>
          </p:nvPr>
        </p:nvSpPr>
        <p:spPr/>
        <p:txBody>
          <a:bodyPr/>
          <a:lstStyle/>
          <a:p>
            <a:fld id="{6D176CDC-8D0E-409F-856B-BAE38288A8E4}" type="slidenum">
              <a:rPr lang="en-US" smtClean="0"/>
              <a:pPr/>
              <a:t>20</a:t>
            </a:fld>
            <a:endParaRPr lang="en-US"/>
          </a:p>
        </p:txBody>
      </p:sp>
    </p:spTree>
    <p:extLst>
      <p:ext uri="{BB962C8B-B14F-4D97-AF65-F5344CB8AC3E}">
        <p14:creationId xmlns:p14="http://schemas.microsoft.com/office/powerpoint/2010/main" val="678037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22</a:t>
            </a:fld>
            <a:endParaRPr lang="en-US"/>
          </a:p>
        </p:txBody>
      </p:sp>
    </p:spTree>
    <p:extLst>
      <p:ext uri="{BB962C8B-B14F-4D97-AF65-F5344CB8AC3E}">
        <p14:creationId xmlns:p14="http://schemas.microsoft.com/office/powerpoint/2010/main" val="1980490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23</a:t>
            </a:fld>
            <a:endParaRPr lang="en-US"/>
          </a:p>
        </p:txBody>
      </p:sp>
    </p:spTree>
    <p:extLst>
      <p:ext uri="{BB962C8B-B14F-4D97-AF65-F5344CB8AC3E}">
        <p14:creationId xmlns:p14="http://schemas.microsoft.com/office/powerpoint/2010/main" val="721011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Zu Deutsch:</a:t>
            </a:r>
            <a:r>
              <a:rPr lang="de-DE" baseline="0" dirty="0"/>
              <a:t> Prozess-Kontrollblock</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24</a:t>
            </a:fld>
            <a:endParaRPr lang="en-US"/>
          </a:p>
        </p:txBody>
      </p:sp>
    </p:spTree>
    <p:extLst>
      <p:ext uri="{BB962C8B-B14F-4D97-AF65-F5344CB8AC3E}">
        <p14:creationId xmlns:p14="http://schemas.microsoft.com/office/powerpoint/2010/main" val="2234438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b="1" dirty="0" err="1">
                <a:solidFill>
                  <a:srgbClr val="FF0000"/>
                </a:solidFill>
              </a:rPr>
              <a:t>task_struct</a:t>
            </a:r>
            <a:r>
              <a:rPr lang="de-DE" b="1">
                <a:solidFill>
                  <a:srgbClr val="FF0000"/>
                </a:solidFill>
              </a:rPr>
              <a:t> Quelltext:</a:t>
            </a:r>
          </a:p>
          <a:p>
            <a:r>
              <a:rPr lang="de-DE" dirty="0" err="1"/>
              <a:t>include</a:t>
            </a:r>
            <a:r>
              <a:rPr lang="de-DE" dirty="0"/>
              <a:t>/</a:t>
            </a:r>
            <a:r>
              <a:rPr lang="de-DE" dirty="0" err="1"/>
              <a:t>linux</a:t>
            </a:r>
            <a:r>
              <a:rPr lang="de-DE" dirty="0"/>
              <a:t>/</a:t>
            </a:r>
            <a:r>
              <a:rPr lang="de-DE" dirty="0" err="1"/>
              <a:t>sched.h</a:t>
            </a:r>
            <a:r>
              <a:rPr lang="de-DE" dirty="0"/>
              <a:t> ab Zeile 1166:</a:t>
            </a:r>
            <a:br>
              <a:rPr lang="de-DE" dirty="0"/>
            </a:br>
            <a:r>
              <a:rPr lang="de-DE" dirty="0">
                <a:hlinkClick r:id="rId3"/>
              </a:rPr>
              <a:t>http://www.cs.fsu.edu/~baker/devices/lxr/http/source/linux/include/linux/sched.h</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25</a:t>
            </a:fld>
            <a:endParaRPr lang="en-US"/>
          </a:p>
        </p:txBody>
      </p:sp>
    </p:spTree>
    <p:extLst>
      <p:ext uri="{BB962C8B-B14F-4D97-AF65-F5344CB8AC3E}">
        <p14:creationId xmlns:p14="http://schemas.microsoft.com/office/powerpoint/2010/main" val="239564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55000" lnSpcReduction="20000"/>
          </a:bodyPr>
          <a:lstStyle/>
          <a:p>
            <a:r>
              <a:rPr lang="de-DE" dirty="0"/>
              <a:t>Adapted </a:t>
            </a:r>
            <a:r>
              <a:rPr lang="en-US" sz="1200" dirty="0">
                <a:latin typeface="Arial" charset="0"/>
              </a:rPr>
              <a:t>Figure 1-18 from:</a:t>
            </a:r>
            <a:r>
              <a:rPr lang="en-US" sz="1200" baseline="0" dirty="0">
                <a:latin typeface="Arial" charset="0"/>
              </a:rPr>
              <a:t> </a:t>
            </a:r>
            <a:r>
              <a:rPr lang="en-US" sz="1200" dirty="0">
                <a:latin typeface="Arial" charset="0"/>
              </a:rPr>
              <a:t>Tanenbaum, Modern Operating Systems 3 e, (c) 2008 Prentice-Hall, Inc. All rights reserved. </a:t>
            </a:r>
          </a:p>
          <a:p>
            <a:endParaRPr lang="de-DE" sz="1200" dirty="0">
              <a:latin typeface="Arial" charset="0"/>
            </a:endParaRPr>
          </a:p>
          <a:p>
            <a:r>
              <a:rPr lang="en-US" sz="1200" dirty="0">
                <a:latin typeface="Arial" charset="0"/>
              </a:rPr>
              <a:t>http://openbook.galileocomputing.de/linux_unix_programmierung/Kap07-009.htm#RxxKap07009040002001F028100</a:t>
            </a:r>
          </a:p>
          <a:p>
            <a:endParaRPr lang="de-DE" sz="1200" dirty="0">
              <a:latin typeface="Arial" charset="0"/>
            </a:endParaRPr>
          </a:p>
          <a:p>
            <a:r>
              <a:rPr lang="de-DE" sz="1200" dirty="0">
                <a:latin typeface="Arial" charset="0"/>
              </a:rPr>
              <a:t>------------</a:t>
            </a:r>
          </a:p>
          <a:p>
            <a:r>
              <a:rPr lang="de-DE" b="1" dirty="0"/>
              <a:t>7.10 Die </a:t>
            </a:r>
            <a:r>
              <a:rPr lang="de-DE" b="1" dirty="0" err="1"/>
              <a:t>exec</a:t>
            </a:r>
            <a:r>
              <a:rPr lang="de-DE" b="1" dirty="0"/>
              <a:t>-Familie  </a:t>
            </a:r>
          </a:p>
          <a:p>
            <a:r>
              <a:rPr lang="de-DE" dirty="0"/>
              <a:t>Die Funktionen der </a:t>
            </a:r>
            <a:r>
              <a:rPr lang="de-DE" dirty="0" err="1"/>
              <a:t>exec</a:t>
            </a:r>
            <a:r>
              <a:rPr lang="de-DE" dirty="0"/>
              <a:t>-Familie wurden in diesem Kapitel schon des Öfteren erwähnt. Häufig finden Sie diese Anwendung, indem mit </a:t>
            </a:r>
            <a:r>
              <a:rPr lang="de-DE" dirty="0" err="1"/>
              <a:t>fork</a:t>
            </a:r>
            <a:r>
              <a:rPr lang="de-DE" dirty="0"/>
              <a:t>() ein neuer </a:t>
            </a:r>
            <a:r>
              <a:rPr lang="de-DE" dirty="0" err="1"/>
              <a:t>Kindprozess</a:t>
            </a:r>
            <a:r>
              <a:rPr lang="de-DE" dirty="0"/>
              <a:t> erzeugt und, mit Aufruf einer </a:t>
            </a:r>
            <a:r>
              <a:rPr lang="de-DE" dirty="0" err="1"/>
              <a:t>exec</a:t>
            </a:r>
            <a:r>
              <a:rPr lang="de-DE" dirty="0"/>
              <a:t>-Funktion durch das neue angegebene Programm, komplett ersetzt wird. Außerdem bewirkt ein </a:t>
            </a:r>
            <a:r>
              <a:rPr lang="de-DE" dirty="0" err="1"/>
              <a:t>exec</a:t>
            </a:r>
            <a:r>
              <a:rPr lang="de-DE" dirty="0"/>
              <a:t>-Aufruf auch keine Änderung der PID, da ja kein neuer Prozess erzeugt wird, sondern eben nur die Segmente des aktuellen Prozesses durch die Segmente des neuen Prozesses überschrieben werden. Es gibt sechs verschiedene </a:t>
            </a:r>
            <a:r>
              <a:rPr lang="de-DE" dirty="0" err="1"/>
              <a:t>exec</a:t>
            </a:r>
            <a:r>
              <a:rPr lang="de-DE" dirty="0"/>
              <a:t>-Funktionen, die sich nur geringfügig anhand der Parameter voneinander unterscheiden. Allerdings basieren alle </a:t>
            </a:r>
            <a:r>
              <a:rPr lang="de-DE" dirty="0" err="1"/>
              <a:t>exec</a:t>
            </a:r>
            <a:r>
              <a:rPr lang="de-DE" dirty="0"/>
              <a:t>-Funktionen auf der Funktion </a:t>
            </a:r>
            <a:r>
              <a:rPr lang="de-DE" dirty="0" err="1"/>
              <a:t>execve</a:t>
            </a:r>
            <a:r>
              <a:rPr lang="de-DE" dirty="0"/>
              <a:t>(), die einen Systemaufruf darstellt. Hierzu die Syntax der vorhandenen </a:t>
            </a:r>
            <a:r>
              <a:rPr lang="de-DE" dirty="0" err="1"/>
              <a:t>exec</a:t>
            </a:r>
            <a:r>
              <a:rPr lang="de-DE" dirty="0"/>
              <a:t>-Funktionen:</a:t>
            </a:r>
          </a:p>
          <a:p>
            <a:endParaRPr lang="de-DE" dirty="0"/>
          </a:p>
          <a:p>
            <a:r>
              <a:rPr lang="de-DE" dirty="0"/>
              <a:t>#</a:t>
            </a:r>
            <a:r>
              <a:rPr lang="de-DE" dirty="0" err="1"/>
              <a:t>include</a:t>
            </a:r>
            <a:r>
              <a:rPr lang="de-DE" dirty="0"/>
              <a:t> &lt;</a:t>
            </a:r>
            <a:r>
              <a:rPr lang="de-DE" dirty="0" err="1"/>
              <a:t>unistd</a:t>
            </a:r>
            <a:r>
              <a:rPr lang="de-DE" dirty="0"/>
              <a:t>. h.&gt; extern </a:t>
            </a:r>
            <a:r>
              <a:rPr lang="de-DE" dirty="0" err="1"/>
              <a:t>char</a:t>
            </a:r>
            <a:r>
              <a:rPr lang="de-DE" dirty="0"/>
              <a:t> **</a:t>
            </a:r>
            <a:r>
              <a:rPr lang="de-DE" dirty="0" err="1"/>
              <a:t>environ</a:t>
            </a:r>
            <a:r>
              <a:rPr lang="de-DE" dirty="0"/>
              <a:t>; </a:t>
            </a:r>
          </a:p>
          <a:p>
            <a:r>
              <a:rPr lang="de-DE" dirty="0"/>
              <a:t>/* Bibliotheksfunktionen */ </a:t>
            </a:r>
          </a:p>
          <a:p>
            <a:r>
              <a:rPr lang="de-DE" dirty="0" err="1"/>
              <a:t>int</a:t>
            </a:r>
            <a:r>
              <a:rPr lang="de-DE" dirty="0"/>
              <a:t> </a:t>
            </a:r>
            <a:r>
              <a:rPr lang="de-DE" dirty="0" err="1"/>
              <a:t>execl</a:t>
            </a:r>
            <a:r>
              <a:rPr lang="de-DE" dirty="0"/>
              <a:t>(</a:t>
            </a:r>
            <a:r>
              <a:rPr lang="de-DE" dirty="0" err="1"/>
              <a:t>const</a:t>
            </a:r>
            <a:r>
              <a:rPr lang="de-DE" dirty="0"/>
              <a:t> </a:t>
            </a:r>
            <a:r>
              <a:rPr lang="de-DE" dirty="0" err="1"/>
              <a:t>char</a:t>
            </a:r>
            <a:r>
              <a:rPr lang="de-DE" dirty="0"/>
              <a:t> *</a:t>
            </a:r>
            <a:r>
              <a:rPr lang="de-DE" dirty="0" err="1"/>
              <a:t>path</a:t>
            </a:r>
            <a:r>
              <a:rPr lang="de-DE" dirty="0"/>
              <a:t>, </a:t>
            </a:r>
            <a:r>
              <a:rPr lang="de-DE" dirty="0" err="1"/>
              <a:t>const</a:t>
            </a:r>
            <a:r>
              <a:rPr lang="de-DE" dirty="0"/>
              <a:t> </a:t>
            </a:r>
            <a:r>
              <a:rPr lang="de-DE" dirty="0" err="1"/>
              <a:t>char</a:t>
            </a:r>
            <a:r>
              <a:rPr lang="de-DE" dirty="0"/>
              <a:t> *arg, ...); </a:t>
            </a:r>
          </a:p>
          <a:p>
            <a:r>
              <a:rPr lang="de-DE" dirty="0" err="1"/>
              <a:t>int</a:t>
            </a:r>
            <a:r>
              <a:rPr lang="de-DE" dirty="0"/>
              <a:t> </a:t>
            </a:r>
            <a:r>
              <a:rPr lang="de-DE" dirty="0" err="1"/>
              <a:t>execlp</a:t>
            </a:r>
            <a:r>
              <a:rPr lang="de-DE" dirty="0"/>
              <a:t>(</a:t>
            </a:r>
            <a:r>
              <a:rPr lang="de-DE" dirty="0" err="1"/>
              <a:t>const</a:t>
            </a:r>
            <a:r>
              <a:rPr lang="de-DE" dirty="0"/>
              <a:t> </a:t>
            </a:r>
            <a:r>
              <a:rPr lang="de-DE" dirty="0" err="1"/>
              <a:t>char</a:t>
            </a:r>
            <a:r>
              <a:rPr lang="de-DE" dirty="0"/>
              <a:t> *</a:t>
            </a:r>
            <a:r>
              <a:rPr lang="de-DE" dirty="0" err="1"/>
              <a:t>file</a:t>
            </a:r>
            <a:r>
              <a:rPr lang="de-DE" dirty="0"/>
              <a:t>, </a:t>
            </a:r>
            <a:r>
              <a:rPr lang="de-DE" dirty="0" err="1"/>
              <a:t>const</a:t>
            </a:r>
            <a:r>
              <a:rPr lang="de-DE" dirty="0"/>
              <a:t> </a:t>
            </a:r>
            <a:r>
              <a:rPr lang="de-DE" dirty="0" err="1"/>
              <a:t>char</a:t>
            </a:r>
            <a:r>
              <a:rPr lang="de-DE" dirty="0"/>
              <a:t> *arg, ...); </a:t>
            </a:r>
          </a:p>
          <a:p>
            <a:r>
              <a:rPr lang="de-DE" dirty="0" err="1"/>
              <a:t>int</a:t>
            </a:r>
            <a:r>
              <a:rPr lang="de-DE" dirty="0"/>
              <a:t> </a:t>
            </a:r>
            <a:r>
              <a:rPr lang="de-DE" dirty="0" err="1"/>
              <a:t>execle</a:t>
            </a:r>
            <a:r>
              <a:rPr lang="de-DE" dirty="0"/>
              <a:t>(</a:t>
            </a:r>
            <a:r>
              <a:rPr lang="de-DE" dirty="0" err="1"/>
              <a:t>const</a:t>
            </a:r>
            <a:r>
              <a:rPr lang="de-DE" dirty="0"/>
              <a:t> </a:t>
            </a:r>
            <a:r>
              <a:rPr lang="de-DE" dirty="0" err="1"/>
              <a:t>char</a:t>
            </a:r>
            <a:r>
              <a:rPr lang="de-DE" dirty="0"/>
              <a:t> *</a:t>
            </a:r>
            <a:r>
              <a:rPr lang="de-DE" dirty="0" err="1"/>
              <a:t>path</a:t>
            </a:r>
            <a:r>
              <a:rPr lang="de-DE" dirty="0"/>
              <a:t>, </a:t>
            </a:r>
            <a:r>
              <a:rPr lang="de-DE" dirty="0" err="1"/>
              <a:t>const</a:t>
            </a:r>
            <a:r>
              <a:rPr lang="de-DE" dirty="0"/>
              <a:t> </a:t>
            </a:r>
            <a:r>
              <a:rPr lang="de-DE" dirty="0" err="1"/>
              <a:t>char</a:t>
            </a:r>
            <a:r>
              <a:rPr lang="de-DE" dirty="0"/>
              <a:t> *arg , ...,             </a:t>
            </a:r>
            <a:r>
              <a:rPr lang="de-DE" dirty="0" err="1"/>
              <a:t>char</a:t>
            </a:r>
            <a:r>
              <a:rPr lang="de-DE" dirty="0"/>
              <a:t> *</a:t>
            </a:r>
            <a:r>
              <a:rPr lang="de-DE" dirty="0" err="1"/>
              <a:t>const</a:t>
            </a:r>
            <a:r>
              <a:rPr lang="de-DE" dirty="0"/>
              <a:t> </a:t>
            </a:r>
            <a:r>
              <a:rPr lang="de-DE" dirty="0" err="1"/>
              <a:t>envp</a:t>
            </a:r>
            <a:r>
              <a:rPr lang="de-DE" dirty="0"/>
              <a:t>[]); </a:t>
            </a:r>
          </a:p>
          <a:p>
            <a:r>
              <a:rPr lang="de-DE" dirty="0" err="1"/>
              <a:t>int</a:t>
            </a:r>
            <a:r>
              <a:rPr lang="de-DE" dirty="0"/>
              <a:t> </a:t>
            </a:r>
            <a:r>
              <a:rPr lang="de-DE" dirty="0" err="1"/>
              <a:t>execv</a:t>
            </a:r>
            <a:r>
              <a:rPr lang="de-DE" dirty="0"/>
              <a:t>(</a:t>
            </a:r>
            <a:r>
              <a:rPr lang="de-DE" dirty="0" err="1"/>
              <a:t>const</a:t>
            </a:r>
            <a:r>
              <a:rPr lang="de-DE" dirty="0"/>
              <a:t> </a:t>
            </a:r>
            <a:r>
              <a:rPr lang="de-DE" dirty="0" err="1"/>
              <a:t>char</a:t>
            </a:r>
            <a:r>
              <a:rPr lang="de-DE" dirty="0"/>
              <a:t> *</a:t>
            </a:r>
            <a:r>
              <a:rPr lang="de-DE" dirty="0" err="1"/>
              <a:t>path</a:t>
            </a:r>
            <a:r>
              <a:rPr lang="de-DE" dirty="0"/>
              <a:t>, </a:t>
            </a:r>
            <a:r>
              <a:rPr lang="de-DE" dirty="0" err="1"/>
              <a:t>char</a:t>
            </a:r>
            <a:r>
              <a:rPr lang="de-DE" dirty="0"/>
              <a:t> *</a:t>
            </a:r>
            <a:r>
              <a:rPr lang="de-DE" dirty="0" err="1"/>
              <a:t>const</a:t>
            </a:r>
            <a:r>
              <a:rPr lang="de-DE" dirty="0"/>
              <a:t> </a:t>
            </a:r>
            <a:r>
              <a:rPr lang="de-DE" dirty="0" err="1"/>
              <a:t>argv</a:t>
            </a:r>
            <a:r>
              <a:rPr lang="de-DE" dirty="0"/>
              <a:t>[]); </a:t>
            </a:r>
          </a:p>
          <a:p>
            <a:r>
              <a:rPr lang="de-DE" dirty="0" err="1"/>
              <a:t>int</a:t>
            </a:r>
            <a:r>
              <a:rPr lang="de-DE" dirty="0"/>
              <a:t> </a:t>
            </a:r>
            <a:r>
              <a:rPr lang="de-DE" dirty="0" err="1"/>
              <a:t>execvp</a:t>
            </a:r>
            <a:r>
              <a:rPr lang="de-DE" dirty="0"/>
              <a:t>(</a:t>
            </a:r>
            <a:r>
              <a:rPr lang="de-DE" dirty="0" err="1"/>
              <a:t>const</a:t>
            </a:r>
            <a:r>
              <a:rPr lang="de-DE" dirty="0"/>
              <a:t> </a:t>
            </a:r>
            <a:r>
              <a:rPr lang="de-DE" dirty="0" err="1"/>
              <a:t>char</a:t>
            </a:r>
            <a:r>
              <a:rPr lang="de-DE" dirty="0"/>
              <a:t> *</a:t>
            </a:r>
            <a:r>
              <a:rPr lang="de-DE" dirty="0" err="1"/>
              <a:t>file</a:t>
            </a:r>
            <a:r>
              <a:rPr lang="de-DE" dirty="0"/>
              <a:t>, </a:t>
            </a:r>
            <a:r>
              <a:rPr lang="de-DE" dirty="0" err="1"/>
              <a:t>char</a:t>
            </a:r>
            <a:r>
              <a:rPr lang="de-DE" dirty="0"/>
              <a:t> *</a:t>
            </a:r>
            <a:r>
              <a:rPr lang="de-DE" dirty="0" err="1"/>
              <a:t>const</a:t>
            </a:r>
            <a:r>
              <a:rPr lang="de-DE" dirty="0"/>
              <a:t> </a:t>
            </a:r>
            <a:r>
              <a:rPr lang="de-DE" dirty="0" err="1"/>
              <a:t>argv</a:t>
            </a:r>
            <a:r>
              <a:rPr lang="de-DE" dirty="0"/>
              <a:t>[]); </a:t>
            </a:r>
          </a:p>
          <a:p>
            <a:endParaRPr lang="de-DE" dirty="0"/>
          </a:p>
          <a:p>
            <a:r>
              <a:rPr lang="de-DE" dirty="0"/>
              <a:t>/* Systemaufruf */ </a:t>
            </a:r>
          </a:p>
          <a:p>
            <a:r>
              <a:rPr lang="de-DE" dirty="0" err="1"/>
              <a:t>int</a:t>
            </a:r>
            <a:r>
              <a:rPr lang="de-DE" dirty="0"/>
              <a:t> </a:t>
            </a:r>
            <a:r>
              <a:rPr lang="de-DE" dirty="0" err="1"/>
              <a:t>execve</a:t>
            </a:r>
            <a:r>
              <a:rPr lang="de-DE" dirty="0"/>
              <a:t>(</a:t>
            </a:r>
            <a:r>
              <a:rPr lang="de-DE" dirty="0" err="1"/>
              <a:t>const</a:t>
            </a:r>
            <a:r>
              <a:rPr lang="de-DE" dirty="0"/>
              <a:t> </a:t>
            </a:r>
            <a:r>
              <a:rPr lang="de-DE" dirty="0" err="1"/>
              <a:t>char</a:t>
            </a:r>
            <a:r>
              <a:rPr lang="de-DE" dirty="0"/>
              <a:t> *</a:t>
            </a:r>
            <a:r>
              <a:rPr lang="de-DE" dirty="0" err="1"/>
              <a:t>filename</a:t>
            </a:r>
            <a:r>
              <a:rPr lang="de-DE" dirty="0"/>
              <a:t>, </a:t>
            </a:r>
            <a:r>
              <a:rPr lang="de-DE" dirty="0" err="1"/>
              <a:t>char</a:t>
            </a:r>
            <a:r>
              <a:rPr lang="de-DE" dirty="0"/>
              <a:t> *</a:t>
            </a:r>
            <a:r>
              <a:rPr lang="de-DE" dirty="0" err="1"/>
              <a:t>const</a:t>
            </a:r>
            <a:r>
              <a:rPr lang="de-DE" dirty="0"/>
              <a:t> </a:t>
            </a:r>
            <a:r>
              <a:rPr lang="de-DE" dirty="0" err="1"/>
              <a:t>argv</a:t>
            </a:r>
            <a:r>
              <a:rPr lang="de-DE" dirty="0"/>
              <a:t> [],            </a:t>
            </a:r>
            <a:r>
              <a:rPr lang="de-DE" dirty="0" err="1"/>
              <a:t>char</a:t>
            </a:r>
            <a:r>
              <a:rPr lang="de-DE" dirty="0"/>
              <a:t> *</a:t>
            </a:r>
            <a:r>
              <a:rPr lang="de-DE" dirty="0" err="1"/>
              <a:t>const</a:t>
            </a:r>
            <a:r>
              <a:rPr lang="de-DE" dirty="0"/>
              <a:t> </a:t>
            </a:r>
            <a:r>
              <a:rPr lang="de-DE" dirty="0" err="1"/>
              <a:t>envp</a:t>
            </a:r>
            <a:r>
              <a:rPr lang="de-DE" dirty="0"/>
              <a:t>[]); </a:t>
            </a:r>
          </a:p>
          <a:p>
            <a:endParaRPr lang="de-DE" dirty="0"/>
          </a:p>
          <a:p>
            <a:endParaRPr lang="de-DE" dirty="0"/>
          </a:p>
          <a:p>
            <a:r>
              <a:rPr lang="de-DE" dirty="0"/>
              <a:t>Alle Funktionen geben im Falle eines Fehlers -1 zurück, ansonsten gibt es bei Ausführung keine Rückkehr mehr zum aufrufenden Programm. Es ist daher überflüssig, den Rückgabewert zu überprüfen; man kann gleich mit der Fehlerroutine weitermachen. Die einzelnen Funktionen unterscheiden sich anhand der Endungen, wobei jeder der vier Buchstaben folgende Bedeutung hat:</a:t>
            </a:r>
          </a:p>
          <a:p>
            <a:br>
              <a:rPr lang="de-DE" dirty="0"/>
            </a:br>
            <a:r>
              <a:rPr lang="de-DE" b="1" dirty="0"/>
              <a:t>Buchstabe</a:t>
            </a:r>
            <a:r>
              <a:rPr lang="de-DE" dirty="0"/>
              <a:t> </a:t>
            </a:r>
            <a:r>
              <a:rPr lang="de-DE" b="1" dirty="0"/>
              <a:t>Bedeutung</a:t>
            </a:r>
            <a:r>
              <a:rPr lang="de-DE" dirty="0"/>
              <a:t> </a:t>
            </a:r>
          </a:p>
          <a:p>
            <a:r>
              <a:rPr lang="de-DE" dirty="0"/>
              <a:t>e Es wird eine </a:t>
            </a:r>
            <a:r>
              <a:rPr lang="de-DE" dirty="0" err="1"/>
              <a:t>Environmentliste</a:t>
            </a:r>
            <a:r>
              <a:rPr lang="de-DE" dirty="0"/>
              <a:t> (Umgebungsvariablen) als Vektor erwartet. </a:t>
            </a:r>
          </a:p>
          <a:p>
            <a:r>
              <a:rPr lang="de-DE" dirty="0"/>
              <a:t>l Es werden die Kommandozeilenargumente in Form einer Liste erwartet. </a:t>
            </a:r>
          </a:p>
          <a:p>
            <a:r>
              <a:rPr lang="de-DE" dirty="0"/>
              <a:t>v Es werden die Kommandozeilenargumente in Form eines Vektors erwartet. </a:t>
            </a:r>
          </a:p>
          <a:p>
            <a:r>
              <a:rPr lang="de-DE" dirty="0"/>
              <a:t>p Es wird ein Dateiname und nicht ein Pfadname als Argument zum Aufruf des Programms erwartet. </a:t>
            </a:r>
            <a:endParaRPr lang="de-DE" b="1" dirty="0"/>
          </a:p>
          <a:p>
            <a:endParaRPr lang="en-US" sz="1200" dirty="0">
              <a:latin typeface="Arial" charset="0"/>
            </a:endParaRPr>
          </a:p>
        </p:txBody>
      </p:sp>
      <p:sp>
        <p:nvSpPr>
          <p:cNvPr id="4" name="Foliennummernplatzhalter 3"/>
          <p:cNvSpPr>
            <a:spLocks noGrp="1"/>
          </p:cNvSpPr>
          <p:nvPr>
            <p:ph type="sldNum" sz="quarter" idx="10"/>
          </p:nvPr>
        </p:nvSpPr>
        <p:spPr/>
        <p:txBody>
          <a:bodyPr/>
          <a:lstStyle/>
          <a:p>
            <a:fld id="{6D176CDC-8D0E-409F-856B-BAE38288A8E4}"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3871149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Antwort:</a:t>
            </a:r>
            <a:r>
              <a:rPr lang="de-DE" baseline="0" dirty="0"/>
              <a:t> durch die Abfrage von pid und Vergleich ==0 bzw. !=0</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579304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Adapted </a:t>
            </a:r>
            <a:r>
              <a:rPr lang="en-US" sz="1200" dirty="0">
                <a:latin typeface="Arial" charset="0"/>
              </a:rPr>
              <a:t>Figure 1-19</a:t>
            </a:r>
            <a:r>
              <a:rPr lang="de-DE" sz="1200" baseline="0" dirty="0">
                <a:latin typeface="+mn-lt"/>
              </a:rPr>
              <a:t> from</a:t>
            </a:r>
            <a:r>
              <a:rPr lang="de-DE" dirty="0"/>
              <a:t>:</a:t>
            </a:r>
            <a:r>
              <a:rPr lang="de-DE" baseline="0" dirty="0"/>
              <a:t> </a:t>
            </a:r>
            <a:r>
              <a:rPr lang="en-US" sz="1200" dirty="0">
                <a:solidFill>
                  <a:srgbClr val="898989"/>
                </a:solidFill>
              </a:rPr>
              <a:t>Tanenbaum, Modern Operating Systems 3 e, (c) 2008 Prentice-Hall, Inc. All rights reserved. </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1990044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31</a:t>
            </a:fld>
            <a:endParaRPr lang="en-US" dirty="0"/>
          </a:p>
        </p:txBody>
      </p:sp>
    </p:spTree>
    <p:extLst>
      <p:ext uri="{BB962C8B-B14F-4D97-AF65-F5344CB8AC3E}">
        <p14:creationId xmlns:p14="http://schemas.microsoft.com/office/powerpoint/2010/main" val="3646545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fontAlgn="t"/>
            <a:r>
              <a:rPr lang="de-DE" dirty="0"/>
              <a:t> Ausführung der Prozesse – i.A. zwei Modi</a:t>
            </a:r>
          </a:p>
          <a:p>
            <a:pPr lvl="1" fontAlgn="t"/>
            <a:r>
              <a:rPr lang="de-DE" dirty="0"/>
              <a:t>Eltern und Kinder werden nebenläufig ausgeführt</a:t>
            </a:r>
          </a:p>
          <a:p>
            <a:pPr lvl="1" fontAlgn="t"/>
            <a:r>
              <a:rPr lang="de-DE" dirty="0"/>
              <a:t>Oder: Elternprozess wartet, bis Kinder terminieren</a:t>
            </a:r>
          </a:p>
          <a:p>
            <a:pPr lvl="1" fontAlgn="t"/>
            <a:endParaRPr lang="de-DE" dirty="0"/>
          </a:p>
          <a:p>
            <a:pPr lvl="1" fontAlgn="t"/>
            <a:r>
              <a:rPr lang="de-DE" dirty="0"/>
              <a:t>Z.B. </a:t>
            </a:r>
            <a:r>
              <a:rPr lang="de-DE" dirty="0" err="1"/>
              <a:t>How</a:t>
            </a:r>
            <a:r>
              <a:rPr lang="de-DE" dirty="0"/>
              <a:t> </a:t>
            </a:r>
            <a:r>
              <a:rPr lang="de-DE" dirty="0" err="1"/>
              <a:t>the</a:t>
            </a:r>
            <a:r>
              <a:rPr lang="de-DE" dirty="0"/>
              <a:t> OS Works (</a:t>
            </a:r>
            <a:r>
              <a:rPr lang="de-DE" dirty="0">
                <a:hlinkClick r:id="rId3"/>
              </a:rPr>
              <a:t>http://repos.fds-team.de/ibnos/doc/</a:t>
            </a:r>
            <a:r>
              <a:rPr lang="de-DE" dirty="0"/>
              <a:t>)</a:t>
            </a:r>
          </a:p>
          <a:p>
            <a:pPr lvl="1" fontAlgn="t"/>
            <a:r>
              <a:rPr lang="de-DE" dirty="0"/>
              <a:t>"… 10. </a:t>
            </a:r>
            <a:r>
              <a:rPr lang="en-US" dirty="0"/>
              <a:t>load the </a:t>
            </a:r>
            <a:r>
              <a:rPr lang="en-US" dirty="0" err="1"/>
              <a:t>init</a:t>
            </a:r>
            <a:r>
              <a:rPr lang="en-US" dirty="0"/>
              <a:t> process and switch to it"</a:t>
            </a:r>
            <a:endParaRPr lang="de-DE" dirty="0"/>
          </a:p>
          <a:p>
            <a:pPr lvl="1" fontAlgn="t"/>
            <a:endParaRPr lang="de-DE" dirty="0"/>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33</a:t>
            </a:fld>
            <a:endParaRPr lang="en-US" dirty="0"/>
          </a:p>
        </p:txBody>
      </p:sp>
    </p:spTree>
    <p:extLst>
      <p:ext uri="{BB962C8B-B14F-4D97-AF65-F5344CB8AC3E}">
        <p14:creationId xmlns:p14="http://schemas.microsoft.com/office/powerpoint/2010/main" val="3181235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35</a:t>
            </a:fld>
            <a:endParaRPr lang="en-US" dirty="0"/>
          </a:p>
        </p:txBody>
      </p:sp>
    </p:spTree>
    <p:extLst>
      <p:ext uri="{BB962C8B-B14F-4D97-AF65-F5344CB8AC3E}">
        <p14:creationId xmlns:p14="http://schemas.microsoft.com/office/powerpoint/2010/main" val="194759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fontAlgn="t"/>
            <a:r>
              <a:rPr lang="de-DE" dirty="0"/>
              <a:t> Ausführung der Prozesse – i.A. zwei Modi</a:t>
            </a:r>
          </a:p>
          <a:p>
            <a:pPr lvl="1" fontAlgn="t"/>
            <a:r>
              <a:rPr lang="de-DE" dirty="0"/>
              <a:t>Eltern und Kinder werden nebenläufig ausgeführt</a:t>
            </a:r>
          </a:p>
          <a:p>
            <a:pPr lvl="1" fontAlgn="t"/>
            <a:r>
              <a:rPr lang="de-DE" dirty="0"/>
              <a:t>Oder: Elternprozess wartet, bis Kinder terminieren</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36</a:t>
            </a:fld>
            <a:endParaRPr lang="en-US" dirty="0"/>
          </a:p>
        </p:txBody>
      </p:sp>
    </p:spTree>
    <p:extLst>
      <p:ext uri="{BB962C8B-B14F-4D97-AF65-F5344CB8AC3E}">
        <p14:creationId xmlns:p14="http://schemas.microsoft.com/office/powerpoint/2010/main" val="2741212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r>
              <a:rPr lang="de-DE" dirty="0"/>
              <a:t> </a:t>
            </a:r>
            <a:r>
              <a:rPr lang="en-US" sz="1300" dirty="0"/>
              <a:t>Two parameters passed to CreateProcess () are instances of the STARTUPINFO</a:t>
            </a:r>
          </a:p>
          <a:p>
            <a:r>
              <a:rPr lang="en-US" sz="1300" dirty="0"/>
              <a:t>and PROCESSJNFORMATION structures. STARTUPINFO specifies many</a:t>
            </a:r>
          </a:p>
          <a:p>
            <a:r>
              <a:rPr lang="en-US" sz="1300" dirty="0"/>
              <a:t>properties of the new process, such as window size and appearance and handles</a:t>
            </a:r>
          </a:p>
          <a:p>
            <a:r>
              <a:rPr lang="en-US" sz="1300" dirty="0"/>
              <a:t>to standard input and output files. The PROCESSJNFORMATION structure</a:t>
            </a:r>
          </a:p>
          <a:p>
            <a:r>
              <a:rPr lang="en-US" sz="1300" dirty="0"/>
              <a:t>contains a handle and the identifiers to the newly created process and its thread.</a:t>
            </a:r>
          </a:p>
          <a:p>
            <a:r>
              <a:rPr lang="en-US" sz="1300" dirty="0"/>
              <a:t>We invoke the </a:t>
            </a:r>
            <a:r>
              <a:rPr lang="en-US" sz="1300" dirty="0" err="1"/>
              <a:t>ZeroMemoryO</a:t>
            </a:r>
            <a:r>
              <a:rPr lang="en-US" sz="1300" dirty="0"/>
              <a:t> function to allocate memory for each of these</a:t>
            </a:r>
          </a:p>
          <a:p>
            <a:r>
              <a:rPr lang="en-US" sz="1300" dirty="0"/>
              <a:t>structures before proceeding with CreateProcess ().</a:t>
            </a:r>
          </a:p>
          <a:p>
            <a:r>
              <a:rPr lang="en-US" sz="1300" dirty="0"/>
              <a:t>The first two parameters passed to CreateProcess () are the application</a:t>
            </a:r>
          </a:p>
          <a:p>
            <a:r>
              <a:rPr lang="en-US" sz="1300" dirty="0"/>
              <a:t>name and command line parameters. If the application name is NULL (which</a:t>
            </a:r>
          </a:p>
          <a:p>
            <a:r>
              <a:rPr lang="en-US" sz="1300" dirty="0"/>
              <a:t>in this case it is), the command line parameter specifies the application to</a:t>
            </a:r>
          </a:p>
          <a:p>
            <a:r>
              <a:rPr lang="en-US" sz="1300" dirty="0"/>
              <a:t>load. In this instance we are loading the Microsoft Windows </a:t>
            </a:r>
            <a:r>
              <a:rPr lang="en-US" sz="1300" i="1" dirty="0" err="1"/>
              <a:t>mspaint</a:t>
            </a:r>
            <a:endParaRPr lang="en-US" sz="1300" i="1" dirty="0"/>
          </a:p>
          <a:p>
            <a:r>
              <a:rPr lang="en-US" sz="1300" dirty="0"/>
              <a:t>application. Beyond these two initial parameters, we use the default parameters</a:t>
            </a:r>
          </a:p>
          <a:p>
            <a:r>
              <a:rPr lang="en-US" sz="1300" dirty="0"/>
              <a:t>for inheriting process and thread handles as well as specifying no creation flags.</a:t>
            </a:r>
          </a:p>
          <a:p>
            <a:r>
              <a:rPr lang="en-US" sz="1300" dirty="0"/>
              <a:t>We also use the parent's existing environment block and starting directory.</a:t>
            </a:r>
          </a:p>
          <a:p>
            <a:r>
              <a:rPr lang="en-US" sz="1300" dirty="0"/>
              <a:t>Last, we provide two pointers to the STARTUPINFO and PROCESS-INFORMATION</a:t>
            </a:r>
          </a:p>
          <a:p>
            <a:r>
              <a:rPr lang="en-US" sz="1300" dirty="0"/>
              <a:t>structures created at the beginning of the program. In Figure 3.10, the parent</a:t>
            </a:r>
          </a:p>
          <a:p>
            <a:r>
              <a:rPr lang="en-US" sz="1300" dirty="0"/>
              <a:t>process waits for the child to complete by invoking the </a:t>
            </a:r>
            <a:r>
              <a:rPr lang="en-US" sz="1300" dirty="0" err="1"/>
              <a:t>waitO</a:t>
            </a:r>
            <a:r>
              <a:rPr lang="en-US" sz="1300" dirty="0"/>
              <a:t> system call.</a:t>
            </a:r>
          </a:p>
          <a:p>
            <a:r>
              <a:rPr lang="en-US" sz="1300" dirty="0"/>
              <a:t>The equivalent of this in Win32 is </a:t>
            </a:r>
            <a:r>
              <a:rPr lang="en-US" sz="1300" dirty="0" err="1"/>
              <a:t>WaitForSingleObj</a:t>
            </a:r>
            <a:r>
              <a:rPr lang="en-US" sz="1300" dirty="0"/>
              <a:t> </a:t>
            </a:r>
            <a:r>
              <a:rPr lang="en-US" sz="1300" dirty="0" err="1"/>
              <a:t>ect</a:t>
            </a:r>
            <a:r>
              <a:rPr lang="en-US" sz="1300" dirty="0"/>
              <a:t> ( ) , which is passed a</a:t>
            </a:r>
          </a:p>
          <a:p>
            <a:r>
              <a:rPr lang="en-US" sz="1300" dirty="0"/>
              <a:t>handle of the child process—pi . </a:t>
            </a:r>
            <a:r>
              <a:rPr lang="en-US" sz="1300" dirty="0" err="1"/>
              <a:t>hProcess</a:t>
            </a:r>
            <a:r>
              <a:rPr lang="en-US" sz="1300" dirty="0"/>
              <a:t>— that it is waiting for to complete.</a:t>
            </a:r>
          </a:p>
          <a:p>
            <a:r>
              <a:rPr lang="en-US" sz="1300" dirty="0"/>
              <a:t>Once the child process exits, control returns from the </a:t>
            </a:r>
            <a:r>
              <a:rPr lang="en-US" sz="1300" dirty="0" err="1"/>
              <a:t>WaitForSingleOb</a:t>
            </a:r>
            <a:r>
              <a:rPr lang="en-US" sz="1300" dirty="0"/>
              <a:t> j </a:t>
            </a:r>
            <a:r>
              <a:rPr lang="en-US" sz="1300" dirty="0" err="1"/>
              <a:t>ect</a:t>
            </a:r>
            <a:r>
              <a:rPr lang="en-US" sz="1300" dirty="0"/>
              <a:t> ()</a:t>
            </a:r>
          </a:p>
          <a:p>
            <a:r>
              <a:rPr lang="en-US" sz="1300" dirty="0"/>
              <a:t>function in the parent process.</a:t>
            </a:r>
          </a:p>
          <a:p>
            <a:endParaRPr lang="en-US" sz="1300" i="1"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37</a:t>
            </a:fld>
            <a:endParaRPr lang="en-US"/>
          </a:p>
        </p:txBody>
      </p:sp>
    </p:spTree>
    <p:extLst>
      <p:ext uri="{BB962C8B-B14F-4D97-AF65-F5344CB8AC3E}">
        <p14:creationId xmlns:p14="http://schemas.microsoft.com/office/powerpoint/2010/main" val="1155942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r>
              <a:rPr lang="de-DE" dirty="0"/>
              <a:t> </a:t>
            </a:r>
            <a:r>
              <a:rPr lang="en-US" sz="1300" dirty="0"/>
              <a:t>Two parameters passed to CreateProcess () are instances of the STARTUPINFO</a:t>
            </a:r>
          </a:p>
          <a:p>
            <a:r>
              <a:rPr lang="en-US" sz="1300" dirty="0"/>
              <a:t>and PROCESSJNFORMATION structures. STARTUPINFO specifies many</a:t>
            </a:r>
          </a:p>
          <a:p>
            <a:r>
              <a:rPr lang="en-US" sz="1300" dirty="0"/>
              <a:t>properties of the new process, such as window size and appearance and handles</a:t>
            </a:r>
          </a:p>
          <a:p>
            <a:r>
              <a:rPr lang="en-US" sz="1300" dirty="0"/>
              <a:t>to standard input and output files. The PROCESSJNFORMATION structure</a:t>
            </a:r>
          </a:p>
          <a:p>
            <a:r>
              <a:rPr lang="en-US" sz="1300" dirty="0"/>
              <a:t>contains a handle and the identifiers to the newly created process and its thread.</a:t>
            </a:r>
          </a:p>
          <a:p>
            <a:r>
              <a:rPr lang="en-US" sz="1300" dirty="0"/>
              <a:t>We invoke the </a:t>
            </a:r>
            <a:r>
              <a:rPr lang="en-US" sz="1300" dirty="0" err="1"/>
              <a:t>ZeroMemoryO</a:t>
            </a:r>
            <a:r>
              <a:rPr lang="en-US" sz="1300" dirty="0"/>
              <a:t> function to allocate memory for each of these</a:t>
            </a:r>
          </a:p>
          <a:p>
            <a:r>
              <a:rPr lang="en-US" sz="1300" dirty="0"/>
              <a:t>structures before proceeding with CreateProcess ().</a:t>
            </a:r>
          </a:p>
          <a:p>
            <a:r>
              <a:rPr lang="en-US" sz="1300" dirty="0"/>
              <a:t>The first two parameters passed to CreateProcess () are the application</a:t>
            </a:r>
          </a:p>
          <a:p>
            <a:r>
              <a:rPr lang="en-US" sz="1300" dirty="0"/>
              <a:t>name and command line parameters. If the application name is NULL (which</a:t>
            </a:r>
          </a:p>
          <a:p>
            <a:r>
              <a:rPr lang="en-US" sz="1300" dirty="0"/>
              <a:t>in this case it is), the command line parameter specifies the application to</a:t>
            </a:r>
          </a:p>
          <a:p>
            <a:r>
              <a:rPr lang="en-US" sz="1300" dirty="0"/>
              <a:t>load. In this instance we are loading the Microsoft Windows </a:t>
            </a:r>
            <a:r>
              <a:rPr lang="en-US" sz="1300" i="1" dirty="0" err="1"/>
              <a:t>mspaint</a:t>
            </a:r>
            <a:endParaRPr lang="en-US" sz="1300" i="1" dirty="0"/>
          </a:p>
          <a:p>
            <a:r>
              <a:rPr lang="en-US" sz="1300" dirty="0"/>
              <a:t>application. Beyond these two initial parameters, we use the default parameters</a:t>
            </a:r>
          </a:p>
          <a:p>
            <a:r>
              <a:rPr lang="en-US" sz="1300" dirty="0"/>
              <a:t>for inheriting process and thread handles as well as specifying no creation flags.</a:t>
            </a:r>
          </a:p>
          <a:p>
            <a:r>
              <a:rPr lang="en-US" sz="1300" dirty="0"/>
              <a:t>We also use the parent's existing environment block and starting directory.</a:t>
            </a:r>
          </a:p>
          <a:p>
            <a:r>
              <a:rPr lang="en-US" sz="1300" dirty="0"/>
              <a:t>Last, we provide two pointers to the STARTUPINFO and PROCESS-INFORMATION</a:t>
            </a:r>
          </a:p>
          <a:p>
            <a:r>
              <a:rPr lang="en-US" sz="1300" dirty="0"/>
              <a:t>structures created at the beginning of the program. In Figure 3.10, the parent</a:t>
            </a:r>
          </a:p>
          <a:p>
            <a:r>
              <a:rPr lang="en-US" sz="1300" dirty="0"/>
              <a:t>process waits for the child to complete by invoking the </a:t>
            </a:r>
            <a:r>
              <a:rPr lang="en-US" sz="1300" dirty="0" err="1"/>
              <a:t>waitO</a:t>
            </a:r>
            <a:r>
              <a:rPr lang="en-US" sz="1300" dirty="0"/>
              <a:t> system call.</a:t>
            </a:r>
          </a:p>
          <a:p>
            <a:r>
              <a:rPr lang="en-US" sz="1300" dirty="0"/>
              <a:t>The equivalent of this in Win32 is </a:t>
            </a:r>
            <a:r>
              <a:rPr lang="en-US" sz="1300" dirty="0" err="1"/>
              <a:t>WaitForSingleObj</a:t>
            </a:r>
            <a:r>
              <a:rPr lang="en-US" sz="1300" dirty="0"/>
              <a:t> </a:t>
            </a:r>
            <a:r>
              <a:rPr lang="en-US" sz="1300" dirty="0" err="1"/>
              <a:t>ect</a:t>
            </a:r>
            <a:r>
              <a:rPr lang="en-US" sz="1300" dirty="0"/>
              <a:t> ( ) , which is passed a</a:t>
            </a:r>
          </a:p>
          <a:p>
            <a:r>
              <a:rPr lang="en-US" sz="1300" dirty="0"/>
              <a:t>handle of the child process—pi . </a:t>
            </a:r>
            <a:r>
              <a:rPr lang="en-US" sz="1300" dirty="0" err="1"/>
              <a:t>hProcess</a:t>
            </a:r>
            <a:r>
              <a:rPr lang="en-US" sz="1300" dirty="0"/>
              <a:t>— that it is waiting for to complete.</a:t>
            </a:r>
          </a:p>
          <a:p>
            <a:r>
              <a:rPr lang="en-US" sz="1300" dirty="0"/>
              <a:t>Once the child process exits, control returns from the </a:t>
            </a:r>
            <a:r>
              <a:rPr lang="en-US" sz="1300" dirty="0" err="1"/>
              <a:t>WaitForSingleOb</a:t>
            </a:r>
            <a:r>
              <a:rPr lang="en-US" sz="1300" dirty="0"/>
              <a:t> j </a:t>
            </a:r>
            <a:r>
              <a:rPr lang="en-US" sz="1300" dirty="0" err="1"/>
              <a:t>ect</a:t>
            </a:r>
            <a:r>
              <a:rPr lang="en-US" sz="1300" dirty="0"/>
              <a:t> ()</a:t>
            </a:r>
          </a:p>
          <a:p>
            <a:r>
              <a:rPr lang="en-US" sz="1300" dirty="0"/>
              <a:t>function in the parent process.</a:t>
            </a:r>
          </a:p>
          <a:p>
            <a:endParaRPr lang="en-US" sz="1300" i="1"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38</a:t>
            </a:fld>
            <a:endParaRPr lang="en-US"/>
          </a:p>
        </p:txBody>
      </p:sp>
    </p:spTree>
    <p:extLst>
      <p:ext uri="{BB962C8B-B14F-4D97-AF65-F5344CB8AC3E}">
        <p14:creationId xmlns:p14="http://schemas.microsoft.com/office/powerpoint/2010/main" val="18583746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r>
              <a:rPr lang="de-DE" dirty="0"/>
              <a:t> </a:t>
            </a:r>
            <a:r>
              <a:rPr lang="en-US" sz="1300" dirty="0"/>
              <a:t>Two parameters passed to CreateProcess () are instances of the STARTUPINFO</a:t>
            </a:r>
          </a:p>
          <a:p>
            <a:r>
              <a:rPr lang="en-US" sz="1300" dirty="0"/>
              <a:t>and PROCESSJNFORMATION structures. STARTUPINFO specifies many</a:t>
            </a:r>
          </a:p>
          <a:p>
            <a:r>
              <a:rPr lang="en-US" sz="1300" dirty="0"/>
              <a:t>properties of the new process, such as window size and appearance and handles</a:t>
            </a:r>
          </a:p>
          <a:p>
            <a:r>
              <a:rPr lang="en-US" sz="1300" dirty="0"/>
              <a:t>to standard input and output files. The PROCESSJNFORMATION structure</a:t>
            </a:r>
          </a:p>
          <a:p>
            <a:r>
              <a:rPr lang="en-US" sz="1300" dirty="0"/>
              <a:t>contains a handle and the identifiers to the newly created process and its thread.</a:t>
            </a:r>
          </a:p>
          <a:p>
            <a:r>
              <a:rPr lang="en-US" sz="1300" dirty="0"/>
              <a:t>We invoke the </a:t>
            </a:r>
            <a:r>
              <a:rPr lang="en-US" sz="1300" dirty="0" err="1"/>
              <a:t>ZeroMemoryO</a:t>
            </a:r>
            <a:r>
              <a:rPr lang="en-US" sz="1300" dirty="0"/>
              <a:t> function to allocate memory for each of these</a:t>
            </a:r>
          </a:p>
          <a:p>
            <a:r>
              <a:rPr lang="en-US" sz="1300" dirty="0"/>
              <a:t>structures before proceeding with CreateProcess ().</a:t>
            </a:r>
          </a:p>
          <a:p>
            <a:r>
              <a:rPr lang="en-US" sz="1300" dirty="0"/>
              <a:t>The first two parameters passed to CreateProcess () are the application</a:t>
            </a:r>
          </a:p>
          <a:p>
            <a:r>
              <a:rPr lang="en-US" sz="1300" dirty="0"/>
              <a:t>name and command line parameters. If the application name is NULL (which</a:t>
            </a:r>
          </a:p>
          <a:p>
            <a:r>
              <a:rPr lang="en-US" sz="1300" dirty="0"/>
              <a:t>in this case it is), the command line parameter specifies the application to</a:t>
            </a:r>
          </a:p>
          <a:p>
            <a:r>
              <a:rPr lang="en-US" sz="1300" dirty="0"/>
              <a:t>load. In this instance we are loading the Microsoft Windows </a:t>
            </a:r>
            <a:r>
              <a:rPr lang="en-US" sz="1300" i="1" dirty="0" err="1"/>
              <a:t>mspaint</a:t>
            </a:r>
            <a:endParaRPr lang="en-US" sz="1300" i="1" dirty="0"/>
          </a:p>
          <a:p>
            <a:r>
              <a:rPr lang="en-US" sz="1300" dirty="0"/>
              <a:t>application. Beyond these two initial parameters, we use the default parameters</a:t>
            </a:r>
          </a:p>
          <a:p>
            <a:r>
              <a:rPr lang="en-US" sz="1300" dirty="0"/>
              <a:t>for inheriting process and thread handles as well as specifying no creation flags.</a:t>
            </a:r>
          </a:p>
          <a:p>
            <a:r>
              <a:rPr lang="en-US" sz="1300" dirty="0"/>
              <a:t>We also use the parent's existing environment block and starting directory.</a:t>
            </a:r>
          </a:p>
          <a:p>
            <a:r>
              <a:rPr lang="en-US" sz="1300" dirty="0"/>
              <a:t>Last, we provide two pointers to the STARTUPINFO and PROCESS-INFORMATION</a:t>
            </a:r>
          </a:p>
          <a:p>
            <a:r>
              <a:rPr lang="en-US" sz="1300" dirty="0"/>
              <a:t>structures created at the beginning of the program. In Figure 3.10, the parent</a:t>
            </a:r>
          </a:p>
          <a:p>
            <a:r>
              <a:rPr lang="en-US" sz="1300" dirty="0"/>
              <a:t>process waits for the child to complete by invoking the </a:t>
            </a:r>
            <a:r>
              <a:rPr lang="en-US" sz="1300" dirty="0" err="1"/>
              <a:t>waitO</a:t>
            </a:r>
            <a:r>
              <a:rPr lang="en-US" sz="1300" dirty="0"/>
              <a:t> system call.</a:t>
            </a:r>
          </a:p>
          <a:p>
            <a:r>
              <a:rPr lang="en-US" sz="1300" dirty="0"/>
              <a:t>The equivalent of this in Win32 is </a:t>
            </a:r>
            <a:r>
              <a:rPr lang="en-US" sz="1300" dirty="0" err="1"/>
              <a:t>WaitForSingleObj</a:t>
            </a:r>
            <a:r>
              <a:rPr lang="en-US" sz="1300" dirty="0"/>
              <a:t> </a:t>
            </a:r>
            <a:r>
              <a:rPr lang="en-US" sz="1300" dirty="0" err="1"/>
              <a:t>ect</a:t>
            </a:r>
            <a:r>
              <a:rPr lang="en-US" sz="1300" dirty="0"/>
              <a:t> ( ) , which is passed a</a:t>
            </a:r>
          </a:p>
          <a:p>
            <a:r>
              <a:rPr lang="en-US" sz="1300" dirty="0"/>
              <a:t>handle of the child process—pi . </a:t>
            </a:r>
            <a:r>
              <a:rPr lang="en-US" sz="1300" dirty="0" err="1"/>
              <a:t>hProcess</a:t>
            </a:r>
            <a:r>
              <a:rPr lang="en-US" sz="1300" dirty="0"/>
              <a:t>— that it is waiting for to complete.</a:t>
            </a:r>
          </a:p>
          <a:p>
            <a:r>
              <a:rPr lang="en-US" sz="1300" dirty="0"/>
              <a:t>Once the child process exits, control returns from the </a:t>
            </a:r>
            <a:r>
              <a:rPr lang="en-US" sz="1300" dirty="0" err="1"/>
              <a:t>WaitForSingleOb</a:t>
            </a:r>
            <a:r>
              <a:rPr lang="en-US" sz="1300" dirty="0"/>
              <a:t> j </a:t>
            </a:r>
            <a:r>
              <a:rPr lang="en-US" sz="1300" dirty="0" err="1"/>
              <a:t>ect</a:t>
            </a:r>
            <a:r>
              <a:rPr lang="en-US" sz="1300" dirty="0"/>
              <a:t> ()</a:t>
            </a:r>
          </a:p>
          <a:p>
            <a:r>
              <a:rPr lang="en-US" sz="1300" dirty="0"/>
              <a:t>function in the parent process.</a:t>
            </a:r>
          </a:p>
          <a:p>
            <a:endParaRPr lang="en-US" sz="1300" i="1"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39</a:t>
            </a:fld>
            <a:endParaRPr lang="en-US"/>
          </a:p>
        </p:txBody>
      </p:sp>
    </p:spTree>
    <p:extLst>
      <p:ext uri="{BB962C8B-B14F-4D97-AF65-F5344CB8AC3E}">
        <p14:creationId xmlns:p14="http://schemas.microsoft.com/office/powerpoint/2010/main" val="1833053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r>
              <a:rPr lang="de-DE" dirty="0" err="1"/>
              <a:t>exit</a:t>
            </a:r>
            <a:r>
              <a:rPr lang="de-DE" dirty="0"/>
              <a:t> = deutsch „Ausfahrt“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40</a:t>
            </a:fld>
            <a:endParaRPr lang="en-US"/>
          </a:p>
        </p:txBody>
      </p:sp>
    </p:spTree>
    <p:extLst>
      <p:ext uri="{BB962C8B-B14F-4D97-AF65-F5344CB8AC3E}">
        <p14:creationId xmlns:p14="http://schemas.microsoft.com/office/powerpoint/2010/main" val="4174212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hlinkClick r:id="rId3"/>
              </a:rPr>
              <a:t>[Gen MC4]: Was ist richtig/besser? (Optionen auf der Folie) [301541] – PINGO</a:t>
            </a: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https://pingo.coactum.de/events/301541/surveys/67fccf7890ae7e0001679b41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Kann ein </a:t>
            </a:r>
            <a:r>
              <a:rPr lang="de-DE" b="1" dirty="0" err="1"/>
              <a:t>Kindprozess</a:t>
            </a:r>
            <a:r>
              <a:rPr lang="de-DE" b="1" dirty="0"/>
              <a:t> nach seiner Erzeugung unabhängig vom Elternprozess weiterlaufen?</a:t>
            </a:r>
            <a:br>
              <a:rPr lang="de-DE" dirty="0"/>
            </a:br>
            <a:r>
              <a:rPr lang="de-DE" dirty="0"/>
              <a:t>→ Ja</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a:buFont typeface="+mj-lt"/>
              <a:buAutoNum type="arabicPeriod"/>
            </a:pPr>
            <a:r>
              <a:rPr lang="de-DE" b="1" dirty="0"/>
              <a:t>Ersetzt der Systemaufruf </a:t>
            </a:r>
            <a:r>
              <a:rPr lang="de-DE" b="1" dirty="0" err="1"/>
              <a:t>exec</a:t>
            </a:r>
            <a:r>
              <a:rPr lang="de-DE" b="1" dirty="0"/>
              <a:t>() den aktuellen Prozesskontext durch einen neuen, ohne die Prozess-ID zu ändern?</a:t>
            </a:r>
            <a:br>
              <a:rPr lang="de-DE" dirty="0"/>
            </a:br>
            <a:r>
              <a:rPr lang="de-DE" dirty="0"/>
              <a:t>→ </a:t>
            </a:r>
            <a:r>
              <a:rPr lang="de-DE" b="1" dirty="0"/>
              <a:t>Ja</a:t>
            </a:r>
            <a:endParaRPr lang="de-DE" dirty="0"/>
          </a:p>
          <a:p>
            <a:pPr>
              <a:buFont typeface="+mj-lt"/>
              <a:buAutoNum type="arabicPeriod" startAt="2"/>
            </a:pPr>
            <a:r>
              <a:rPr lang="de-DE" b="1" dirty="0"/>
              <a:t>Kann ein Prozess mehr als einen Elternprozess haben?</a:t>
            </a:r>
            <a:br>
              <a:rPr lang="de-DE" dirty="0"/>
            </a:br>
            <a:r>
              <a:rPr lang="de-DE" dirty="0"/>
              <a:t>→ </a:t>
            </a:r>
            <a:r>
              <a:rPr lang="de-DE" b="1" dirty="0"/>
              <a:t>Nein</a:t>
            </a:r>
            <a:br>
              <a:rPr lang="de-DE" dirty="0"/>
            </a:br>
            <a:r>
              <a:rPr lang="de-DE" dirty="0"/>
              <a:t>(</a:t>
            </a:r>
            <a:r>
              <a:rPr lang="de-DE" i="1" dirty="0"/>
              <a:t>Ein Prozess hat genau einen Elternprozess, außer im Fall spezieller </a:t>
            </a:r>
            <a:r>
              <a:rPr lang="de-DE" i="1" dirty="0" err="1"/>
              <a:t>Systemkonstrukte</a:t>
            </a:r>
            <a:r>
              <a:rPr lang="de-DE" i="1" dirty="0"/>
              <a:t> wie Threads.</a:t>
            </a:r>
            <a:r>
              <a:rPr lang="de-DE" dirty="0"/>
              <a:t>)</a:t>
            </a:r>
          </a:p>
          <a:p>
            <a:pPr>
              <a:buFont typeface="+mj-lt"/>
              <a:buAutoNum type="arabicPeriod" startAt="3"/>
            </a:pPr>
            <a:r>
              <a:rPr lang="de-DE" b="1" dirty="0"/>
              <a:t>Wird ein Zombie-Prozess automatisch vom Betriebssystem entfernt, sobald er entsteht?</a:t>
            </a:r>
            <a:br>
              <a:rPr lang="de-DE" dirty="0"/>
            </a:br>
            <a:r>
              <a:rPr lang="de-DE" dirty="0"/>
              <a:t>→ </a:t>
            </a:r>
            <a:r>
              <a:rPr lang="de-DE" b="1" dirty="0"/>
              <a:t>Nein</a:t>
            </a:r>
            <a:br>
              <a:rPr lang="de-DE" dirty="0"/>
            </a:br>
            <a:r>
              <a:rPr lang="de-DE" dirty="0"/>
              <a:t>(</a:t>
            </a:r>
            <a:r>
              <a:rPr lang="de-DE" i="1" dirty="0"/>
              <a:t>Ein Zombie-Prozess bleibt bestehen, bis der Elternprozess ihn mit </a:t>
            </a:r>
            <a:r>
              <a:rPr lang="de-DE" i="1" dirty="0" err="1"/>
              <a:t>wait</a:t>
            </a:r>
            <a:r>
              <a:rPr lang="de-DE" i="1" dirty="0"/>
              <a:t>() oder </a:t>
            </a:r>
            <a:r>
              <a:rPr lang="de-DE" i="1" dirty="0" err="1"/>
              <a:t>waitpid</a:t>
            </a:r>
            <a:r>
              <a:rPr lang="de-DE" i="1" dirty="0"/>
              <a:t>() einsammelt.</a:t>
            </a:r>
            <a:r>
              <a:rPr lang="de-DE" dirty="0"/>
              <a:t>)</a:t>
            </a:r>
          </a:p>
          <a:p>
            <a:pPr>
              <a:buFont typeface="+mj-lt"/>
              <a:buAutoNum type="arabicPeriod" startAt="4"/>
            </a:pPr>
            <a:r>
              <a:rPr lang="de-DE" b="1" dirty="0"/>
              <a:t>Kann ein Prozess mithilfe des Systemaufrufs kill() auch sich selbst beenden?</a:t>
            </a:r>
            <a:br>
              <a:rPr lang="de-DE" dirty="0"/>
            </a:br>
            <a:r>
              <a:rPr lang="de-DE" dirty="0"/>
              <a:t>→ </a:t>
            </a:r>
            <a:r>
              <a:rPr lang="de-DE" b="1" dirty="0"/>
              <a:t>Ja</a:t>
            </a:r>
            <a:br>
              <a:rPr lang="de-DE" dirty="0"/>
            </a:br>
            <a:r>
              <a:rPr lang="de-DE" dirty="0"/>
              <a:t>(</a:t>
            </a:r>
            <a:r>
              <a:rPr lang="de-DE" i="1" dirty="0"/>
              <a:t>Ein Prozess kann sich selbst mit einem entsprechenden Signal beenden, z. B. kill(</a:t>
            </a:r>
            <a:r>
              <a:rPr lang="de-DE" i="1" dirty="0" err="1"/>
              <a:t>getpid</a:t>
            </a:r>
            <a:r>
              <a:rPr lang="de-DE" i="1" dirty="0"/>
              <a:t>(), SIGTERM).</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41</a:t>
            </a:fld>
            <a:endParaRPr lang="en-US"/>
          </a:p>
        </p:txBody>
      </p:sp>
    </p:spTree>
    <p:extLst>
      <p:ext uri="{BB962C8B-B14F-4D97-AF65-F5344CB8AC3E}">
        <p14:creationId xmlns:p14="http://schemas.microsoft.com/office/powerpoint/2010/main" val="3323087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43</a:t>
            </a:fld>
            <a:endParaRPr lang="en-US"/>
          </a:p>
        </p:txBody>
      </p:sp>
    </p:spTree>
    <p:extLst>
      <p:ext uri="{BB962C8B-B14F-4D97-AF65-F5344CB8AC3E}">
        <p14:creationId xmlns:p14="http://schemas.microsoft.com/office/powerpoint/2010/main" val="30081145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Multiprogrammierung ==</a:t>
            </a:r>
            <a:r>
              <a:rPr lang="de-DE" baseline="0" dirty="0"/>
              <a:t> </a:t>
            </a:r>
            <a:r>
              <a:rPr lang="de-DE" dirty="0"/>
              <a:t>Mehrprozessbetrieb</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19641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46</a:t>
            </a:fld>
            <a:endParaRPr lang="en-US" dirty="0"/>
          </a:p>
        </p:txBody>
      </p:sp>
    </p:spTree>
    <p:extLst>
      <p:ext uri="{BB962C8B-B14F-4D97-AF65-F5344CB8AC3E}">
        <p14:creationId xmlns:p14="http://schemas.microsoft.com/office/powerpoint/2010/main" val="20313421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47</a:t>
            </a:fld>
            <a:endParaRPr lang="en-US" dirty="0"/>
          </a:p>
        </p:txBody>
      </p:sp>
    </p:spTree>
    <p:extLst>
      <p:ext uri="{BB962C8B-B14F-4D97-AF65-F5344CB8AC3E}">
        <p14:creationId xmlns:p14="http://schemas.microsoft.com/office/powerpoint/2010/main" val="4952150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48</a:t>
            </a:fld>
            <a:endParaRPr lang="en-US" dirty="0"/>
          </a:p>
        </p:txBody>
      </p:sp>
    </p:spTree>
    <p:extLst>
      <p:ext uri="{BB962C8B-B14F-4D97-AF65-F5344CB8AC3E}">
        <p14:creationId xmlns:p14="http://schemas.microsoft.com/office/powerpoint/2010/main" val="1068324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Stallings,</a:t>
            </a:r>
            <a:r>
              <a:rPr lang="de-DE" baseline="0" dirty="0"/>
              <a:t> Kap. 3, Fig 3.17</a:t>
            </a:r>
            <a:endParaRPr lang="de-DE" dirty="0"/>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50</a:t>
            </a:fld>
            <a:endParaRPr lang="en-US"/>
          </a:p>
        </p:txBody>
      </p:sp>
    </p:spTree>
    <p:extLst>
      <p:ext uri="{BB962C8B-B14F-4D97-AF65-F5344CB8AC3E}">
        <p14:creationId xmlns:p14="http://schemas.microsoft.com/office/powerpoint/2010/main" val="37820941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Stallings,</a:t>
            </a:r>
            <a:r>
              <a:rPr lang="de-DE" baseline="0" dirty="0"/>
              <a:t> Kap. 3, Table 3.9</a:t>
            </a:r>
            <a:endParaRPr lang="de-DE" dirty="0"/>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51</a:t>
            </a:fld>
            <a:endParaRPr lang="en-US"/>
          </a:p>
        </p:txBody>
      </p:sp>
    </p:spTree>
    <p:extLst>
      <p:ext uri="{BB962C8B-B14F-4D97-AF65-F5344CB8AC3E}">
        <p14:creationId xmlns:p14="http://schemas.microsoft.com/office/powerpoint/2010/main" val="2876984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Aus Stallings Kap. 3, Folie 22</a:t>
            </a:r>
          </a:p>
          <a:p>
            <a:pPr marL="0" marR="0" indent="0" algn="l" defTabSz="914400" rtl="0" eaLnBrk="1" fontAlgn="auto" latinLnBrk="0" hangingPunct="1">
              <a:lnSpc>
                <a:spcPct val="100000"/>
              </a:lnSpc>
              <a:spcBef>
                <a:spcPts val="0"/>
              </a:spcBef>
              <a:spcAft>
                <a:spcPts val="0"/>
              </a:spcAft>
              <a:buClrTx/>
              <a:buSzTx/>
              <a:buFontTx/>
              <a:buNone/>
              <a:tabLst/>
              <a:defRPr/>
            </a:pPr>
            <a:r>
              <a:rPr lang="de-DE" dirty="0"/>
              <a:t>Das ist nicht effizient – warum?</a:t>
            </a:r>
          </a:p>
          <a:p>
            <a:r>
              <a:rPr lang="de-DE" dirty="0"/>
              <a:t>Wir müssen bei einem neuen Event (z.B. ein fertiger</a:t>
            </a:r>
            <a:r>
              <a:rPr lang="de-DE" baseline="0" dirty="0"/>
              <a:t> I/O)-Vorgang die </a:t>
            </a:r>
            <a:r>
              <a:rPr lang="de-DE" dirty="0"/>
              <a:t>„Blocked Queue“ nach passendem</a:t>
            </a:r>
            <a:r>
              <a:rPr lang="de-DE" baseline="0" dirty="0"/>
              <a:t> Prozess </a:t>
            </a:r>
            <a:r>
              <a:rPr lang="de-DE" dirty="0"/>
              <a:t>durchsuchen, und</a:t>
            </a:r>
            <a:r>
              <a:rPr lang="de-DE" baseline="0" dirty="0"/>
              <a:t> den an den Kopf der Schlange stellen.</a:t>
            </a:r>
          </a:p>
          <a:p>
            <a:r>
              <a:rPr lang="de-DE" baseline="0" dirty="0"/>
              <a:t>Wenn man nur den Prozess am Kopf von </a:t>
            </a:r>
            <a:r>
              <a:rPr lang="de-DE" dirty="0"/>
              <a:t>„Blocked Queue“ betrachtet,</a:t>
            </a:r>
            <a:r>
              <a:rPr lang="de-DE" baseline="0" dirty="0"/>
              <a:t> wird es noch schlimmer: es </a:t>
            </a:r>
            <a:r>
              <a:rPr lang="de-DE" dirty="0"/>
              <a:t>könnten einige Prozesse</a:t>
            </a:r>
            <a:r>
              <a:rPr lang="de-DE" baseline="0" dirty="0"/>
              <a:t> „ready“ werden (aufgrund von fertigen I/O-Vorgängen), die nicht an dem Kopf der Schlange sind – diese gehören in die „Ready Queue“.</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52</a:t>
            </a:fld>
            <a:endParaRPr lang="en-US"/>
          </a:p>
        </p:txBody>
      </p:sp>
    </p:spTree>
    <p:extLst>
      <p:ext uri="{BB962C8B-B14F-4D97-AF65-F5344CB8AC3E}">
        <p14:creationId xmlns:p14="http://schemas.microsoft.com/office/powerpoint/2010/main" val="27843744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53</a:t>
            </a:fld>
            <a:endParaRPr lang="en-US" dirty="0"/>
          </a:p>
        </p:txBody>
      </p:sp>
    </p:spTree>
    <p:extLst>
      <p:ext uri="{BB962C8B-B14F-4D97-AF65-F5344CB8AC3E}">
        <p14:creationId xmlns:p14="http://schemas.microsoft.com/office/powerpoint/2010/main" val="33814293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55</a:t>
            </a:fld>
            <a:endParaRPr lang="en-US"/>
          </a:p>
        </p:txBody>
      </p:sp>
    </p:spTree>
    <p:extLst>
      <p:ext uri="{BB962C8B-B14F-4D97-AF65-F5344CB8AC3E}">
        <p14:creationId xmlns:p14="http://schemas.microsoft.com/office/powerpoint/2010/main" val="1827676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56</a:t>
            </a:fld>
            <a:endParaRPr lang="en-US"/>
          </a:p>
        </p:txBody>
      </p:sp>
    </p:spTree>
    <p:extLst>
      <p:ext uri="{BB962C8B-B14F-4D97-AF65-F5344CB8AC3E}">
        <p14:creationId xmlns:p14="http://schemas.microsoft.com/office/powerpoint/2010/main" val="41947068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57</a:t>
            </a:fld>
            <a:endParaRPr lang="en-US"/>
          </a:p>
        </p:txBody>
      </p:sp>
    </p:spTree>
    <p:extLst>
      <p:ext uri="{BB962C8B-B14F-4D97-AF65-F5344CB8AC3E}">
        <p14:creationId xmlns:p14="http://schemas.microsoft.com/office/powerpoint/2010/main" val="19279094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58</a:t>
            </a:fld>
            <a:endParaRPr lang="en-US"/>
          </a:p>
        </p:txBody>
      </p:sp>
    </p:spTree>
    <p:extLst>
      <p:ext uri="{BB962C8B-B14F-4D97-AF65-F5344CB8AC3E}">
        <p14:creationId xmlns:p14="http://schemas.microsoft.com/office/powerpoint/2010/main" val="10205342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59</a:t>
            </a:fld>
            <a:endParaRPr lang="en-US"/>
          </a:p>
        </p:txBody>
      </p:sp>
    </p:spTree>
    <p:extLst>
      <p:ext uri="{BB962C8B-B14F-4D97-AF65-F5344CB8AC3E}">
        <p14:creationId xmlns:p14="http://schemas.microsoft.com/office/powerpoint/2010/main" val="3754358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60</a:t>
            </a:fld>
            <a:endParaRPr lang="en-US"/>
          </a:p>
        </p:txBody>
      </p:sp>
    </p:spTree>
    <p:extLst>
      <p:ext uri="{BB962C8B-B14F-4D97-AF65-F5344CB8AC3E}">
        <p14:creationId xmlns:p14="http://schemas.microsoft.com/office/powerpoint/2010/main" val="18616506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61</a:t>
            </a:fld>
            <a:endParaRPr lang="en-US"/>
          </a:p>
        </p:txBody>
      </p:sp>
    </p:spTree>
    <p:extLst>
      <p:ext uri="{BB962C8B-B14F-4D97-AF65-F5344CB8AC3E}">
        <p14:creationId xmlns:p14="http://schemas.microsoft.com/office/powerpoint/2010/main" val="7150271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62</a:t>
            </a:fld>
            <a:endParaRPr lang="en-US"/>
          </a:p>
        </p:txBody>
      </p:sp>
    </p:spTree>
    <p:extLst>
      <p:ext uri="{BB962C8B-B14F-4D97-AF65-F5344CB8AC3E}">
        <p14:creationId xmlns:p14="http://schemas.microsoft.com/office/powerpoint/2010/main" val="39499375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dirty="0"/>
              <a:t> Jedes Kernmodul ist von anderen getrennt und kommuniziert über bekannte Schnittstellen</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63</a:t>
            </a:fld>
            <a:endParaRPr lang="en-US"/>
          </a:p>
        </p:txBody>
      </p:sp>
    </p:spTree>
    <p:extLst>
      <p:ext uri="{BB962C8B-B14F-4D97-AF65-F5344CB8AC3E}">
        <p14:creationId xmlns:p14="http://schemas.microsoft.com/office/powerpoint/2010/main" val="31018019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65</a:t>
            </a:fld>
            <a:endParaRPr lang="en-US"/>
          </a:p>
        </p:txBody>
      </p:sp>
    </p:spTree>
    <p:extLst>
      <p:ext uri="{BB962C8B-B14F-4D97-AF65-F5344CB8AC3E}">
        <p14:creationId xmlns:p14="http://schemas.microsoft.com/office/powerpoint/2010/main" val="24760157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66</a:t>
            </a:fld>
            <a:endParaRPr lang="en-US"/>
          </a:p>
        </p:txBody>
      </p:sp>
    </p:spTree>
    <p:extLst>
      <p:ext uri="{BB962C8B-B14F-4D97-AF65-F5344CB8AC3E}">
        <p14:creationId xmlns:p14="http://schemas.microsoft.com/office/powerpoint/2010/main" val="2107315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67</a:t>
            </a:fld>
            <a:endParaRPr lang="en-US"/>
          </a:p>
        </p:txBody>
      </p:sp>
    </p:spTree>
    <p:extLst>
      <p:ext uri="{BB962C8B-B14F-4D97-AF65-F5344CB8AC3E}">
        <p14:creationId xmlns:p14="http://schemas.microsoft.com/office/powerpoint/2010/main" val="23567511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68</a:t>
            </a:fld>
            <a:endParaRPr lang="en-US"/>
          </a:p>
        </p:txBody>
      </p:sp>
    </p:spTree>
    <p:extLst>
      <p:ext uri="{BB962C8B-B14F-4D97-AF65-F5344CB8AC3E}">
        <p14:creationId xmlns:p14="http://schemas.microsoft.com/office/powerpoint/2010/main" val="40036945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69</a:t>
            </a:fld>
            <a:endParaRPr lang="en-US"/>
          </a:p>
        </p:txBody>
      </p:sp>
    </p:spTree>
    <p:extLst>
      <p:ext uri="{BB962C8B-B14F-4D97-AF65-F5344CB8AC3E}">
        <p14:creationId xmlns:p14="http://schemas.microsoft.com/office/powerpoint/2010/main" val="2512760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70</a:t>
            </a:fld>
            <a:endParaRPr lang="en-US"/>
          </a:p>
        </p:txBody>
      </p:sp>
    </p:spTree>
    <p:extLst>
      <p:ext uri="{BB962C8B-B14F-4D97-AF65-F5344CB8AC3E}">
        <p14:creationId xmlns:p14="http://schemas.microsoft.com/office/powerpoint/2010/main" val="2648393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Aus Silberschatz,</a:t>
            </a:r>
            <a:r>
              <a:rPr lang="de-DE" baseline="0" dirty="0"/>
              <a:t> Kap. 2, Fig. 2.41</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71</a:t>
            </a:fld>
            <a:endParaRPr lang="en-US"/>
          </a:p>
        </p:txBody>
      </p:sp>
    </p:spTree>
    <p:extLst>
      <p:ext uri="{BB962C8B-B14F-4D97-AF65-F5344CB8AC3E}">
        <p14:creationId xmlns:p14="http://schemas.microsoft.com/office/powerpoint/2010/main" val="3002377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extLst>
      <p:ext uri="{BB962C8B-B14F-4D97-AF65-F5344CB8AC3E}">
        <p14:creationId xmlns:p14="http://schemas.microsoft.com/office/powerpoint/2010/main" val="555910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extLst>
      <p:ext uri="{BB962C8B-B14F-4D97-AF65-F5344CB8AC3E}">
        <p14:creationId xmlns:p14="http://schemas.microsoft.com/office/powerpoint/2010/main" val="1085171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el und Inhalt 75% (Bild ob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41148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extLst>
      <p:ext uri="{BB962C8B-B14F-4D97-AF65-F5344CB8AC3E}">
        <p14:creationId xmlns:p14="http://schemas.microsoft.com/office/powerpoint/2010/main" val="278060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8" r:id="rId3"/>
    <p:sldLayoutId id="2147483696" r:id="rId4"/>
    <p:sldLayoutId id="2147483697" r:id="rId5"/>
    <p:sldLayoutId id="2147483698" r:id="rId6"/>
    <p:sldLayoutId id="2147483692" r:id="rId7"/>
    <p:sldLayoutId id="2147483690" r:id="rId8"/>
    <p:sldLayoutId id="2147483689" r:id="rId9"/>
    <p:sldLayoutId id="2147483691" r:id="rId10"/>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msdn.microsoft.com/en-us/library/aa365467(VS.85).aspx"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microsoft.com/en-us/windows/wsl/install-win10" TargetMode="External"/><Relationship Id="rId4" Type="http://schemas.openxmlformats.org/officeDocument/2006/relationships/hyperlink" Target="https://sourceforge.net/projects/xming/" TargetMode="External"/><Relationship Id="rId5" Type="http://schemas.openxmlformats.org/officeDocument/2006/relationships/hyperlink" Target="https://channel9.msdn.com/Blogs/Seth-Juarez/Windows-Subsystem-for-Linux-Architectural-Overview" TargetMode="External"/><Relationship Id="rId6" Type="http://schemas.openxmlformats.org/officeDocument/2006/relationships/hyperlink" Target="https://channel9.msdn.com/Blogs/One-Dev-Minute/Learn-how-to-install-WSL-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inf.fu-berlin.de/inst/ag-ss/montagswort/ablaufsteuerung.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gnu.org/software/libc/manual/html_node/Exit-Statu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xHu7qI1gDPA" TargetMode="Externa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pearsonhighered.com/stalling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www.inf.fu-berlin.de/inst/ag-ss/montagswort/ablaufsteuerung.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5.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8.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en.wikipedia.org/wiki/Loadable_kernel_module"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3.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en.wikipedia.org/wiki/Hypervisor"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5.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3</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152400"/>
            <a:ext cx="8219256" cy="990600"/>
          </a:xfrm>
        </p:spPr>
        <p:txBody>
          <a:bodyPr>
            <a:normAutofit/>
          </a:bodyPr>
          <a:lstStyle/>
          <a:p>
            <a:r>
              <a:rPr lang="de-DE" dirty="0"/>
              <a:t>Quiz: Vorlesung 2 und davor (1-3 Antworten)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a:t>
            </a:fld>
            <a:endParaRPr lang="en-US" noProof="0" dirty="0"/>
          </a:p>
        </p:txBody>
      </p:sp>
      <p:sp>
        <p:nvSpPr>
          <p:cNvPr id="10" name="Textfeld 9"/>
          <p:cNvSpPr txBox="1"/>
          <p:nvPr/>
        </p:nvSpPr>
        <p:spPr>
          <a:xfrm>
            <a:off x="395536" y="1870988"/>
            <a:ext cx="5587620" cy="461665"/>
          </a:xfrm>
          <a:prstGeom prst="rect">
            <a:avLst/>
          </a:prstGeom>
          <a:noFill/>
        </p:spPr>
        <p:txBody>
          <a:bodyPr wrap="none" rtlCol="0">
            <a:spAutoFit/>
          </a:bodyPr>
          <a:lstStyle/>
          <a:p>
            <a:r>
              <a:rPr lang="de-DE" sz="2400" dirty="0"/>
              <a:t>Welche 4 Modi hat ein IA32 Prozessor?</a:t>
            </a:r>
          </a:p>
        </p:txBody>
      </p:sp>
      <p:sp>
        <p:nvSpPr>
          <p:cNvPr id="11" name="Textfeld 10"/>
          <p:cNvSpPr txBox="1"/>
          <p:nvPr/>
        </p:nvSpPr>
        <p:spPr>
          <a:xfrm>
            <a:off x="482434" y="4063683"/>
            <a:ext cx="6873228" cy="461665"/>
          </a:xfrm>
          <a:prstGeom prst="rect">
            <a:avLst/>
          </a:prstGeom>
          <a:noFill/>
        </p:spPr>
        <p:txBody>
          <a:bodyPr wrap="none" rtlCol="0">
            <a:spAutoFit/>
          </a:bodyPr>
          <a:lstStyle/>
          <a:p>
            <a:r>
              <a:rPr lang="de-DE" sz="2400" dirty="0"/>
              <a:t>Welche Programmiersprachen gibt es für Shells?</a:t>
            </a:r>
          </a:p>
        </p:txBody>
      </p:sp>
      <p:sp>
        <p:nvSpPr>
          <p:cNvPr id="12" name="Textfeld 11"/>
          <p:cNvSpPr txBox="1"/>
          <p:nvPr/>
        </p:nvSpPr>
        <p:spPr>
          <a:xfrm>
            <a:off x="1772560" y="5304622"/>
            <a:ext cx="6769674" cy="461665"/>
          </a:xfrm>
          <a:prstGeom prst="rect">
            <a:avLst/>
          </a:prstGeom>
          <a:noFill/>
        </p:spPr>
        <p:txBody>
          <a:bodyPr wrap="none" rtlCol="0">
            <a:spAutoFit/>
          </a:bodyPr>
          <a:lstStyle/>
          <a:p>
            <a:r>
              <a:rPr lang="de-DE" sz="2400" dirty="0"/>
              <a:t>Welche API-Familien der BS gibt es (Beispiele)?</a:t>
            </a:r>
          </a:p>
        </p:txBody>
      </p:sp>
      <p:sp>
        <p:nvSpPr>
          <p:cNvPr id="13" name="Textfeld 6">
            <a:extLst>
              <a:ext uri="{FF2B5EF4-FFF2-40B4-BE49-F238E27FC236}">
                <a16:creationId xmlns:a16="http://schemas.microsoft.com/office/drawing/2014/main" id="{1EC2A4C6-CE39-47DC-AE22-37F900B98EF5}"/>
              </a:ext>
            </a:extLst>
          </p:cNvPr>
          <p:cNvSpPr txBox="1"/>
          <p:nvPr/>
        </p:nvSpPr>
        <p:spPr>
          <a:xfrm>
            <a:off x="2667845" y="2829808"/>
            <a:ext cx="5832046" cy="461665"/>
          </a:xfrm>
          <a:prstGeom prst="rect">
            <a:avLst/>
          </a:prstGeom>
          <a:noFill/>
        </p:spPr>
        <p:txBody>
          <a:bodyPr wrap="none" rtlCol="0">
            <a:spAutoFit/>
          </a:bodyPr>
          <a:lstStyle/>
          <a:p>
            <a:r>
              <a:rPr lang="de-DE" sz="2400" dirty="0"/>
              <a:t>Ist es ein </a:t>
            </a:r>
            <a:r>
              <a:rPr lang="de-DE" sz="2400" i="1" dirty="0"/>
              <a:t>Call Stack </a:t>
            </a:r>
            <a:r>
              <a:rPr lang="de-DE" sz="2400" dirty="0"/>
              <a:t>oder ein</a:t>
            </a:r>
            <a:r>
              <a:rPr lang="de-DE" sz="2400" i="1" dirty="0"/>
              <a:t> </a:t>
            </a:r>
            <a:r>
              <a:rPr lang="de-DE" sz="2400" i="1" dirty="0" err="1"/>
              <a:t>Cow</a:t>
            </a:r>
            <a:r>
              <a:rPr lang="de-DE" sz="2400" i="1" dirty="0"/>
              <a:t> Steak?</a:t>
            </a:r>
          </a:p>
        </p:txBody>
      </p:sp>
      <p:sp>
        <p:nvSpPr>
          <p:cNvPr id="14" name="Textfeld 4">
            <a:extLst>
              <a:ext uri="{FF2B5EF4-FFF2-40B4-BE49-F238E27FC236}">
                <a16:creationId xmlns:a16="http://schemas.microsoft.com/office/drawing/2014/main" id="{5EA6C981-6F21-4858-BD9B-6212815D7256}"/>
              </a:ext>
            </a:extLst>
          </p:cNvPr>
          <p:cNvSpPr txBox="1"/>
          <p:nvPr/>
        </p:nvSpPr>
        <p:spPr>
          <a:xfrm>
            <a:off x="2915816" y="0"/>
            <a:ext cx="3168352"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2800" dirty="0">
                <a:highlight>
                  <a:srgbClr val="00FF00"/>
                </a:highlight>
              </a:rPr>
              <a:t>https://bit.ly/ibn_hd</a:t>
            </a:r>
            <a:endParaRPr lang="de-DE" sz="2800" dirty="0">
              <a:highlight>
                <a:srgbClr val="00FF00"/>
              </a:highlight>
            </a:endParaRPr>
          </a:p>
        </p:txBody>
      </p:sp>
    </p:spTree>
    <p:extLst>
      <p:ext uri="{BB962C8B-B14F-4D97-AF65-F5344CB8AC3E}">
        <p14:creationId xmlns:p14="http://schemas.microsoft.com/office/powerpoint/2010/main" val="400273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solidFill>
                  <a:srgbClr val="4F271C"/>
                </a:solidFill>
              </a:rPr>
              <a:pPr/>
              <a:t>3</a:t>
            </a:fld>
            <a:endParaRPr lang="de-DE">
              <a:solidFill>
                <a:srgbClr val="4F271C"/>
              </a:solidFill>
            </a:endParaRPr>
          </a:p>
        </p:txBody>
      </p:sp>
      <p:sp>
        <p:nvSpPr>
          <p:cNvPr id="3" name="Titel 2"/>
          <p:cNvSpPr>
            <a:spLocks noGrp="1"/>
          </p:cNvSpPr>
          <p:nvPr>
            <p:ph type="title"/>
          </p:nvPr>
        </p:nvSpPr>
        <p:spPr/>
        <p:txBody>
          <a:bodyPr/>
          <a:lstStyle/>
          <a:p>
            <a:r>
              <a:rPr lang="de-DE" dirty="0"/>
              <a:t>Shells und Shell-Skripte</a:t>
            </a:r>
            <a:br>
              <a:rPr lang="de-DE" dirty="0"/>
            </a:br>
            <a:r>
              <a:rPr lang="de-DE" dirty="0"/>
              <a:t>(Fortsetzung)</a:t>
            </a:r>
          </a:p>
        </p:txBody>
      </p:sp>
    </p:spTree>
    <p:extLst>
      <p:ext uri="{BB962C8B-B14F-4D97-AF65-F5344CB8AC3E}">
        <p14:creationId xmlns:p14="http://schemas.microsoft.com/office/powerpoint/2010/main" val="119651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Bash-Skripte: Hello World</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4</a:t>
            </a:fld>
            <a:endParaRPr lang="en-US" dirty="0">
              <a:solidFill>
                <a:srgbClr val="4F271C"/>
              </a:solidFill>
            </a:endParaRPr>
          </a:p>
        </p:txBody>
      </p:sp>
      <p:sp>
        <p:nvSpPr>
          <p:cNvPr id="4" name="Content Placeholder 3"/>
          <p:cNvSpPr>
            <a:spLocks noGrp="1"/>
          </p:cNvSpPr>
          <p:nvPr>
            <p:ph sz="quarter" idx="1"/>
          </p:nvPr>
        </p:nvSpPr>
        <p:spPr/>
        <p:txBody>
          <a:bodyPr/>
          <a:lstStyle/>
          <a:p>
            <a:r>
              <a:rPr lang="de-DE" dirty="0"/>
              <a:t>Um herauszufinden, wo </a:t>
            </a:r>
            <a:r>
              <a:rPr lang="de-DE" dirty="0" err="1"/>
              <a:t>bash</a:t>
            </a:r>
            <a:r>
              <a:rPr lang="de-DE" dirty="0"/>
              <a:t>-Programm liegt …</a:t>
            </a:r>
          </a:p>
          <a:p>
            <a:pPr lvl="1"/>
            <a:r>
              <a:rPr lang="de-DE" dirty="0">
                <a:solidFill>
                  <a:srgbClr val="0070C0"/>
                </a:solidFill>
              </a:rPr>
              <a:t>which bash </a:t>
            </a:r>
            <a:r>
              <a:rPr lang="de-DE" dirty="0">
                <a:solidFill>
                  <a:srgbClr val="FF0000"/>
                </a:solidFill>
              </a:rPr>
              <a:t>	</a:t>
            </a:r>
            <a:r>
              <a:rPr lang="de-DE" dirty="0">
                <a:solidFill>
                  <a:schemeClr val="tx1"/>
                </a:solidFill>
              </a:rPr>
              <a:t>=&gt; /bin/</a:t>
            </a:r>
            <a:r>
              <a:rPr lang="de-DE" dirty="0" err="1">
                <a:solidFill>
                  <a:schemeClr val="tx1"/>
                </a:solidFill>
              </a:rPr>
              <a:t>bash</a:t>
            </a:r>
            <a:endParaRPr lang="de-DE" dirty="0">
              <a:solidFill>
                <a:schemeClr val="tx1"/>
              </a:solidFill>
            </a:endParaRPr>
          </a:p>
          <a:p>
            <a:r>
              <a:rPr lang="de-DE" dirty="0"/>
              <a:t>Skript-Inhalt in Datei hello.sh schreiben</a:t>
            </a:r>
          </a:p>
          <a:p>
            <a:pPr lvl="1"/>
            <a:r>
              <a:rPr lang="de-DE" dirty="0">
                <a:solidFill>
                  <a:srgbClr val="0070C0"/>
                </a:solidFill>
              </a:rPr>
              <a:t>#! /bin/bash</a:t>
            </a:r>
          </a:p>
          <a:p>
            <a:pPr lvl="1"/>
            <a:r>
              <a:rPr lang="de-DE" dirty="0">
                <a:solidFill>
                  <a:srgbClr val="0070C0"/>
                </a:solidFill>
              </a:rPr>
              <a:t>echo </a:t>
            </a:r>
            <a:r>
              <a:rPr lang="de-DE" dirty="0" err="1">
                <a:solidFill>
                  <a:srgbClr val="0070C0"/>
                </a:solidFill>
              </a:rPr>
              <a:t>Hello</a:t>
            </a:r>
            <a:r>
              <a:rPr lang="de-DE" dirty="0">
                <a:solidFill>
                  <a:srgbClr val="0070C0"/>
                </a:solidFill>
              </a:rPr>
              <a:t> World</a:t>
            </a:r>
          </a:p>
          <a:p>
            <a:pPr lvl="2"/>
            <a:r>
              <a:rPr lang="de-DE" dirty="0"/>
              <a:t>Bem. „</a:t>
            </a:r>
            <a:r>
              <a:rPr lang="de-DE" b="1" dirty="0">
                <a:solidFill>
                  <a:srgbClr val="FF0000"/>
                </a:solidFill>
              </a:rPr>
              <a:t>#!</a:t>
            </a:r>
            <a:r>
              <a:rPr lang="de-DE" dirty="0"/>
              <a:t>“ (</a:t>
            </a:r>
            <a:r>
              <a:rPr lang="de-DE" dirty="0">
                <a:solidFill>
                  <a:srgbClr val="FF0000"/>
                </a:solidFill>
              </a:rPr>
              <a:t>Hash-Bang</a:t>
            </a:r>
            <a:r>
              <a:rPr lang="de-DE" dirty="0"/>
              <a:t> bzw. </a:t>
            </a:r>
            <a:r>
              <a:rPr lang="de-DE" dirty="0">
                <a:solidFill>
                  <a:srgbClr val="FF0000"/>
                </a:solidFill>
              </a:rPr>
              <a:t>She-Bang</a:t>
            </a:r>
            <a:r>
              <a:rPr lang="de-DE" dirty="0"/>
              <a:t>) sagt dem Linux/Unix, welches Programm die Datei interpretieren soll</a:t>
            </a:r>
          </a:p>
          <a:p>
            <a:r>
              <a:rPr lang="de-DE" dirty="0"/>
              <a:t>Berechtigung zum Ausführen setzen</a:t>
            </a:r>
          </a:p>
          <a:p>
            <a:pPr lvl="1"/>
            <a:r>
              <a:rPr lang="de-DE" dirty="0">
                <a:solidFill>
                  <a:srgbClr val="0070C0"/>
                </a:solidFill>
              </a:rPr>
              <a:t>chmod +x hello.sh</a:t>
            </a:r>
          </a:p>
          <a:p>
            <a:r>
              <a:rPr lang="de-DE" dirty="0"/>
              <a:t>Ausführen</a:t>
            </a:r>
          </a:p>
          <a:p>
            <a:pPr lvl="1"/>
            <a:r>
              <a:rPr lang="de-DE" dirty="0">
                <a:solidFill>
                  <a:srgbClr val="0070C0"/>
                </a:solidFill>
              </a:rPr>
              <a:t>./hello.sh</a:t>
            </a:r>
          </a:p>
        </p:txBody>
      </p:sp>
    </p:spTree>
    <p:extLst>
      <p:ext uri="{BB962C8B-B14F-4D97-AF65-F5344CB8AC3E}">
        <p14:creationId xmlns:p14="http://schemas.microsoft.com/office/powerpoint/2010/main" val="273827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xEl>
                                              <p:pRg st="9" end="9"/>
                                            </p:txEl>
                                          </p:spTgt>
                                        </p:tgtEl>
                                        <p:attrNameLst>
                                          <p:attrName>style.visibility</p:attrName>
                                        </p:attrNameLst>
                                      </p:cBhvr>
                                      <p:to>
                                        <p:strVal val="visible"/>
                                      </p:to>
                                    </p:set>
                                    <p:animEffect transition="in" filter="fade">
                                      <p:cBhvr>
                                        <p:cTn id="40"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Variablen, Quoting und Parameter</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5</a:t>
            </a:fld>
            <a:endParaRPr lang="en-US" dirty="0">
              <a:solidFill>
                <a:srgbClr val="4F271C"/>
              </a:solidFill>
            </a:endParaRPr>
          </a:p>
        </p:txBody>
      </p:sp>
      <p:sp>
        <p:nvSpPr>
          <p:cNvPr id="4" name="Content Placeholder 3"/>
          <p:cNvSpPr>
            <a:spLocks noGrp="1"/>
          </p:cNvSpPr>
          <p:nvPr>
            <p:ph sz="quarter" idx="1"/>
          </p:nvPr>
        </p:nvSpPr>
        <p:spPr>
          <a:xfrm>
            <a:off x="457200" y="1219200"/>
            <a:ext cx="8363272" cy="5210196"/>
          </a:xfrm>
        </p:spPr>
        <p:txBody>
          <a:bodyPr>
            <a:normAutofit/>
          </a:bodyPr>
          <a:lstStyle/>
          <a:p>
            <a:r>
              <a:rPr lang="de-DE" dirty="0"/>
              <a:t>Zuweisen von Werten von Variablen in Skripten</a:t>
            </a:r>
          </a:p>
          <a:p>
            <a:pPr lvl="1"/>
            <a:r>
              <a:rPr lang="de-DE" sz="2000" dirty="0">
                <a:solidFill>
                  <a:srgbClr val="0070C0"/>
                </a:solidFill>
              </a:rPr>
              <a:t>new_var=10</a:t>
            </a:r>
            <a:r>
              <a:rPr lang="de-DE" sz="2000" dirty="0">
                <a:solidFill>
                  <a:srgbClr val="FF0000"/>
                </a:solidFill>
              </a:rPr>
              <a:t>	           # Variablendeklaration und Zuweisung </a:t>
            </a:r>
          </a:p>
          <a:p>
            <a:pPr lvl="1"/>
            <a:r>
              <a:rPr lang="de-DE" sz="2000" dirty="0">
                <a:solidFill>
                  <a:srgbClr val="0070C0"/>
                </a:solidFill>
              </a:rPr>
              <a:t>new_var2=“Ein String.“     </a:t>
            </a:r>
            <a:r>
              <a:rPr lang="de-DE" sz="2000" dirty="0">
                <a:solidFill>
                  <a:srgbClr val="FF0000"/>
                </a:solidFill>
              </a:rPr>
              <a:t># Bem.: </a:t>
            </a:r>
            <a:r>
              <a:rPr lang="de-DE" sz="2000" b="1" dirty="0">
                <a:solidFill>
                  <a:srgbClr val="FF0000"/>
                </a:solidFill>
              </a:rPr>
              <a:t>Kein</a:t>
            </a:r>
            <a:r>
              <a:rPr lang="de-DE" sz="2000" dirty="0">
                <a:solidFill>
                  <a:srgbClr val="FF0000"/>
                </a:solidFill>
              </a:rPr>
              <a:t> Leerzeichen vor/nach „=„</a:t>
            </a:r>
          </a:p>
          <a:p>
            <a:pPr lvl="1"/>
            <a:r>
              <a:rPr lang="de-DE" sz="2000" dirty="0">
                <a:solidFill>
                  <a:srgbClr val="0070C0"/>
                </a:solidFill>
              </a:rPr>
              <a:t>myhost=$(</a:t>
            </a:r>
            <a:r>
              <a:rPr lang="de-DE" sz="2000" dirty="0" err="1">
                <a:solidFill>
                  <a:srgbClr val="0070C0"/>
                </a:solidFill>
              </a:rPr>
              <a:t>hostname</a:t>
            </a:r>
            <a:r>
              <a:rPr lang="de-DE" sz="2000" dirty="0">
                <a:solidFill>
                  <a:srgbClr val="0070C0"/>
                </a:solidFill>
              </a:rPr>
              <a:t>)</a:t>
            </a:r>
            <a:r>
              <a:rPr lang="de-DE" sz="2000" dirty="0">
                <a:solidFill>
                  <a:srgbClr val="FF0000"/>
                </a:solidFill>
              </a:rPr>
              <a:t>   # Führe Befehl X aus, Ausgabe -&gt; </a:t>
            </a:r>
            <a:r>
              <a:rPr lang="de-DE" sz="2000" dirty="0" err="1">
                <a:solidFill>
                  <a:srgbClr val="FF0000"/>
                </a:solidFill>
              </a:rPr>
              <a:t>myhost</a:t>
            </a:r>
            <a:endParaRPr lang="de-DE" sz="2000" dirty="0">
              <a:solidFill>
                <a:srgbClr val="FF0000"/>
              </a:solidFill>
            </a:endParaRPr>
          </a:p>
          <a:p>
            <a:pPr lvl="1"/>
            <a:r>
              <a:rPr lang="de-DE" sz="2000" dirty="0">
                <a:solidFill>
                  <a:srgbClr val="0070C0"/>
                </a:solidFill>
              </a:rPr>
              <a:t>myhost=</a:t>
            </a:r>
            <a:r>
              <a:rPr lang="de-DE" sz="2000" b="1" dirty="0">
                <a:solidFill>
                  <a:srgbClr val="0070C0"/>
                </a:solidFill>
              </a:rPr>
              <a:t>`</a:t>
            </a:r>
            <a:r>
              <a:rPr lang="de-DE" sz="2000" dirty="0" err="1">
                <a:solidFill>
                  <a:srgbClr val="0070C0"/>
                </a:solidFill>
              </a:rPr>
              <a:t>hostname</a:t>
            </a:r>
            <a:r>
              <a:rPr lang="de-DE" sz="2000" b="1" dirty="0">
                <a:solidFill>
                  <a:srgbClr val="0070C0"/>
                </a:solidFill>
              </a:rPr>
              <a:t>`</a:t>
            </a:r>
            <a:r>
              <a:rPr lang="de-DE" sz="2000" dirty="0">
                <a:solidFill>
                  <a:srgbClr val="FF0000"/>
                </a:solidFill>
              </a:rPr>
              <a:t>     # alternative Schreibweise zu $( )</a:t>
            </a:r>
          </a:p>
          <a:p>
            <a:r>
              <a:rPr lang="de-DE" dirty="0"/>
              <a:t>Anzeigen und Quoting von Variableninhalten</a:t>
            </a:r>
          </a:p>
          <a:p>
            <a:pPr lvl="1"/>
            <a:r>
              <a:rPr lang="de-DE" dirty="0">
                <a:solidFill>
                  <a:srgbClr val="0070C0"/>
                </a:solidFill>
              </a:rPr>
              <a:t>echo “new_var hat den Wert </a:t>
            </a:r>
            <a:r>
              <a:rPr lang="de-DE" dirty="0">
                <a:solidFill>
                  <a:srgbClr val="FF0000"/>
                </a:solidFill>
              </a:rPr>
              <a:t>$new_var</a:t>
            </a:r>
            <a:r>
              <a:rPr lang="de-DE" dirty="0">
                <a:solidFill>
                  <a:srgbClr val="0070C0"/>
                </a:solidFill>
              </a:rPr>
              <a:t>“</a:t>
            </a:r>
          </a:p>
          <a:p>
            <a:pPr lvl="1"/>
            <a:r>
              <a:rPr lang="de-DE" dirty="0">
                <a:solidFill>
                  <a:srgbClr val="0070C0"/>
                </a:solidFill>
              </a:rPr>
              <a:t>echo “</a:t>
            </a:r>
            <a:r>
              <a:rPr lang="de-DE" dirty="0">
                <a:solidFill>
                  <a:srgbClr val="FF0000"/>
                </a:solidFill>
              </a:rPr>
              <a:t>\$</a:t>
            </a:r>
            <a:r>
              <a:rPr lang="de-DE" dirty="0">
                <a:solidFill>
                  <a:srgbClr val="0070C0"/>
                </a:solidFill>
              </a:rPr>
              <a:t>myhost =</a:t>
            </a:r>
            <a:r>
              <a:rPr lang="de-DE" dirty="0"/>
              <a:t> </a:t>
            </a:r>
            <a:r>
              <a:rPr lang="de-DE" dirty="0">
                <a:solidFill>
                  <a:srgbClr val="FF0000"/>
                </a:solidFill>
              </a:rPr>
              <a:t>$</a:t>
            </a:r>
            <a:r>
              <a:rPr lang="de-DE" dirty="0">
                <a:solidFill>
                  <a:srgbClr val="0070C0"/>
                </a:solidFill>
              </a:rPr>
              <a:t>myhost“</a:t>
            </a:r>
            <a:r>
              <a:rPr lang="de-DE" dirty="0"/>
              <a:t>	#   =&gt; $myhost = pvs13</a:t>
            </a:r>
          </a:p>
          <a:p>
            <a:r>
              <a:rPr lang="de-DE" dirty="0"/>
              <a:t>Parameter</a:t>
            </a:r>
          </a:p>
          <a:p>
            <a:pPr lvl="1"/>
            <a:r>
              <a:rPr lang="de-DE" dirty="0"/>
              <a:t>Parameter an ein Skript werden als </a:t>
            </a:r>
            <a:r>
              <a:rPr lang="de-DE" dirty="0">
                <a:solidFill>
                  <a:srgbClr val="FF0000"/>
                </a:solidFill>
              </a:rPr>
              <a:t>$1</a:t>
            </a:r>
            <a:r>
              <a:rPr lang="de-DE" dirty="0"/>
              <a:t>, </a:t>
            </a:r>
            <a:r>
              <a:rPr lang="de-DE" dirty="0">
                <a:solidFill>
                  <a:srgbClr val="FF0000"/>
                </a:solidFill>
              </a:rPr>
              <a:t>$2</a:t>
            </a:r>
            <a:r>
              <a:rPr lang="de-DE" dirty="0"/>
              <a:t>, … referenziert</a:t>
            </a:r>
          </a:p>
          <a:p>
            <a:pPr lvl="1"/>
            <a:r>
              <a:rPr lang="de-DE" dirty="0"/>
              <a:t>Bsp. </a:t>
            </a:r>
            <a:r>
              <a:rPr lang="de-DE" b="1" dirty="0">
                <a:solidFill>
                  <a:srgbClr val="FF0000"/>
                </a:solidFill>
              </a:rPr>
              <a:t>./myskript a b c</a:t>
            </a:r>
            <a:r>
              <a:rPr lang="de-DE" dirty="0"/>
              <a:t>	=&gt; $1 ist “a“, $2 ist “b“ usw.</a:t>
            </a:r>
          </a:p>
          <a:p>
            <a:endParaRPr lang="de-DE" dirty="0"/>
          </a:p>
        </p:txBody>
      </p:sp>
    </p:spTree>
    <p:extLst>
      <p:ext uri="{BB962C8B-B14F-4D97-AF65-F5344CB8AC3E}">
        <p14:creationId xmlns:p14="http://schemas.microsoft.com/office/powerpoint/2010/main" val="376895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fade">
                                      <p:cBhvr>
                                        <p:cTn id="30" dur="500"/>
                                        <p:tgtEl>
                                          <p:spTgt spid="4">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fade">
                                      <p:cBhvr>
                                        <p:cTn id="38" dur="500"/>
                                        <p:tgtEl>
                                          <p:spTgt spid="4">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animEffect transition="in" filter="fade">
                                      <p:cBhvr>
                                        <p:cTn id="41"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Unser Anwendungsbeispiel: Der Watchdog</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6</a:t>
            </a:fld>
            <a:endParaRPr lang="en-US" dirty="0">
              <a:solidFill>
                <a:srgbClr val="4F271C"/>
              </a:solidFill>
            </a:endParaRPr>
          </a:p>
        </p:txBody>
      </p:sp>
      <p:sp>
        <p:nvSpPr>
          <p:cNvPr id="4" name="Content Placeholder 3"/>
          <p:cNvSpPr>
            <a:spLocks noGrp="1"/>
          </p:cNvSpPr>
          <p:nvPr>
            <p:ph sz="quarter" idx="1"/>
          </p:nvPr>
        </p:nvSpPr>
        <p:spPr>
          <a:xfrm>
            <a:off x="457200" y="1219200"/>
            <a:ext cx="8363272" cy="5210196"/>
          </a:xfrm>
        </p:spPr>
        <p:txBody>
          <a:bodyPr>
            <a:normAutofit lnSpcReduction="10000"/>
          </a:bodyPr>
          <a:lstStyle/>
          <a:p>
            <a:r>
              <a:rPr lang="de-DE" sz="2400" b="1" dirty="0"/>
              <a:t>Was wollen wir bauen?</a:t>
            </a:r>
          </a:p>
          <a:p>
            <a:pPr lvl="1"/>
            <a:r>
              <a:rPr lang="de-DE" sz="2000" dirty="0"/>
              <a:t>Ein Bash-Skript, das automatisch ein Verzeichnis überwacht</a:t>
            </a:r>
          </a:p>
          <a:p>
            <a:pPr lvl="1"/>
            <a:r>
              <a:rPr lang="de-DE" sz="2000" dirty="0"/>
              <a:t>Erkennt neue oder geänderte Dateien → Übertragung per FTP</a:t>
            </a:r>
          </a:p>
          <a:p>
            <a:pPr lvl="1"/>
            <a:r>
              <a:rPr lang="de-DE" sz="2000" dirty="0"/>
              <a:t>Läuft dauerhaft (im Hintergrund) auf dem Quellrechner</a:t>
            </a:r>
          </a:p>
          <a:p>
            <a:r>
              <a:rPr lang="de-DE" sz="2400" b="1" dirty="0"/>
              <a:t>Typische Anwendungsfälle</a:t>
            </a:r>
          </a:p>
          <a:p>
            <a:pPr lvl="1"/>
            <a:r>
              <a:rPr lang="de-DE" sz="2000" dirty="0"/>
              <a:t>Backup-Synchronisation zwischen zwei Rechnern</a:t>
            </a:r>
          </a:p>
          <a:p>
            <a:pPr lvl="1"/>
            <a:r>
              <a:rPr lang="de-DE" sz="2000" dirty="0"/>
              <a:t>Automatische Übertragung von Sensordaten, Log-Dateien usw.</a:t>
            </a:r>
          </a:p>
          <a:p>
            <a:r>
              <a:rPr lang="de-DE" sz="2400" b="1" dirty="0"/>
              <a:t>Warum Bash?</a:t>
            </a:r>
          </a:p>
          <a:p>
            <a:pPr lvl="1"/>
            <a:r>
              <a:rPr lang="de-DE" sz="2000" dirty="0"/>
              <a:t>Direkte Integration von Linux-Befehlen: </a:t>
            </a:r>
          </a:p>
          <a:p>
            <a:pPr lvl="1"/>
            <a:r>
              <a:rPr lang="de-DE" sz="2000" dirty="0">
                <a:solidFill>
                  <a:srgbClr val="0070C0"/>
                </a:solidFill>
              </a:rPr>
              <a:t>find, ftp, sleep, touch, … – alles ohne zusätzliche Bibliotheken</a:t>
            </a:r>
          </a:p>
          <a:p>
            <a:r>
              <a:rPr lang="de-DE" sz="2400" b="1" dirty="0"/>
              <a:t>Unser Lernpfad – 3 Versionen</a:t>
            </a:r>
          </a:p>
          <a:p>
            <a:pPr lvl="1"/>
            <a:r>
              <a:rPr lang="de-DE" sz="2000" dirty="0"/>
              <a:t>Version 1: Feste Werte – Verzeichnis &amp; Intervall direkt im Skript</a:t>
            </a:r>
          </a:p>
          <a:p>
            <a:pPr lvl="1"/>
            <a:r>
              <a:rPr lang="de-DE" sz="2000" dirty="0"/>
              <a:t>Version 2: FTP-Übertragung hinzufügen</a:t>
            </a:r>
          </a:p>
          <a:p>
            <a:pPr lvl="1"/>
            <a:r>
              <a:rPr lang="de-DE" sz="2000" dirty="0"/>
              <a:t>Version 3: Flexibel – Kommandozeilenparameter nutzen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fade">
                                      <p:cBhvr>
                                        <p:cTn id="38" dur="500"/>
                                        <p:tgtEl>
                                          <p:spTgt spid="4">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animEffect transition="in" filter="fade">
                                      <p:cBhvr>
                                        <p:cTn id="43" dur="500"/>
                                        <p:tgtEl>
                                          <p:spTgt spid="4">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
                                            <p:txEl>
                                              <p:pRg st="11" end="11"/>
                                            </p:txEl>
                                          </p:spTgt>
                                        </p:tgtEl>
                                        <p:attrNameLst>
                                          <p:attrName>style.visibility</p:attrName>
                                        </p:attrNameLst>
                                      </p:cBhvr>
                                      <p:to>
                                        <p:strVal val="visible"/>
                                      </p:to>
                                    </p:set>
                                    <p:animEffect transition="in" filter="fade">
                                      <p:cBhvr>
                                        <p:cTn id="46" dur="500"/>
                                        <p:tgtEl>
                                          <p:spTgt spid="4">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fade">
                                      <p:cBhvr>
                                        <p:cTn id="49" dur="500"/>
                                        <p:tgtEl>
                                          <p:spTgt spid="4">
                                            <p:txEl>
                                              <p:pRg st="12" end="1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
                                            <p:txEl>
                                              <p:pRg st="13" end="13"/>
                                            </p:txEl>
                                          </p:spTgt>
                                        </p:tgtEl>
                                        <p:attrNameLst>
                                          <p:attrName>style.visibility</p:attrName>
                                        </p:attrNameLst>
                                      </p:cBhvr>
                                      <p:to>
                                        <p:strVal val="visible"/>
                                      </p:to>
                                    </p:set>
                                    <p:animEffect transition="in" filter="fade">
                                      <p:cBhvr>
                                        <p:cTn id="52"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e-DE" dirty="0"/>
              <a:t>Version 1: </a:t>
            </a:r>
            <a:r>
              <a:rPr lang="de-DE" dirty="0" err="1"/>
              <a:t>Watchdog</a:t>
            </a:r>
            <a:r>
              <a:rPr lang="de-DE" dirty="0"/>
              <a:t> mit festen Werten</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7</a:t>
            </a:fld>
            <a:endParaRPr lang="en-US" dirty="0">
              <a:solidFill>
                <a:srgbClr val="4F271C"/>
              </a:solidFill>
            </a:endParaRPr>
          </a:p>
        </p:txBody>
      </p:sp>
      <p:sp>
        <p:nvSpPr>
          <p:cNvPr id="4" name="Content Placeholder 3"/>
          <p:cNvSpPr>
            <a:spLocks noGrp="1"/>
          </p:cNvSpPr>
          <p:nvPr>
            <p:ph sz="quarter" idx="1"/>
          </p:nvPr>
        </p:nvSpPr>
        <p:spPr>
          <a:xfrm>
            <a:off x="457200" y="1219200"/>
            <a:ext cx="8363272" cy="5210196"/>
          </a:xfrm>
        </p:spPr>
        <p:txBody>
          <a:bodyPr>
            <a:normAutofit/>
          </a:bodyPr>
          <a:lstStyle/>
          <a:p>
            <a:r>
              <a:rPr lang="de-DE" sz="2400" b="1" dirty="0"/>
              <a:t>Was macht Version 1?</a:t>
            </a:r>
          </a:p>
          <a:p>
            <a:pPr lvl="1"/>
            <a:r>
              <a:rPr lang="de-DE" sz="2000" dirty="0"/>
              <a:t>Überwacht ein festes Quellverzeichnis: /home/user/watch/</a:t>
            </a:r>
          </a:p>
          <a:p>
            <a:pPr lvl="1"/>
            <a:r>
              <a:rPr lang="de-DE" sz="2000" dirty="0"/>
              <a:t>Prüft alle 30 Sekunden auf neue oder geänderte Dateien</a:t>
            </a:r>
          </a:p>
          <a:p>
            <a:pPr lvl="1"/>
            <a:r>
              <a:rPr lang="de-DE" sz="2000" dirty="0"/>
              <a:t>Gibt die Namen der geänderten Dateien auf dem Terminal aus</a:t>
            </a:r>
          </a:p>
          <a:p>
            <a:r>
              <a:rPr lang="de-DE" sz="2400" b="1" dirty="0"/>
              <a:t>Benötigte bash-Konzepte</a:t>
            </a:r>
          </a:p>
          <a:p>
            <a:pPr lvl="1"/>
            <a:r>
              <a:rPr lang="de-DE" sz="2000" dirty="0">
                <a:solidFill>
                  <a:srgbClr val="0070C0"/>
                </a:solidFill>
              </a:rPr>
              <a:t>while true</a:t>
            </a:r>
            <a:r>
              <a:rPr lang="de-DE" sz="2000" dirty="0"/>
              <a:t>: Läuft endlos (Abbruch mit Ctrl+C)</a:t>
            </a:r>
          </a:p>
          <a:p>
            <a:pPr lvl="1"/>
            <a:r>
              <a:rPr lang="de-DE" sz="2000" dirty="0">
                <a:solidFill>
                  <a:srgbClr val="0070C0"/>
                </a:solidFill>
              </a:rPr>
              <a:t>sleep N</a:t>
            </a:r>
            <a:r>
              <a:rPr lang="de-DE" sz="2000" dirty="0"/>
              <a:t>: Wartet N Sekunden</a:t>
            </a:r>
          </a:p>
          <a:p>
            <a:pPr lvl="1"/>
            <a:r>
              <a:rPr lang="de-DE" sz="2000" dirty="0">
                <a:solidFill>
                  <a:srgbClr val="0070C0"/>
                </a:solidFill>
              </a:rPr>
              <a:t>find -newer ref</a:t>
            </a:r>
            <a:r>
              <a:rPr lang="de-DE" sz="2000" dirty="0"/>
              <a:t>: Findet Dateien, die neuer als Datei </a:t>
            </a:r>
            <a:r>
              <a:rPr lang="de-DE" sz="2000" dirty="0" err="1">
                <a:solidFill>
                  <a:srgbClr val="0070C0"/>
                </a:solidFill>
              </a:rPr>
              <a:t>ref</a:t>
            </a:r>
            <a:r>
              <a:rPr lang="de-DE" sz="2000" dirty="0"/>
              <a:t> sind</a:t>
            </a:r>
          </a:p>
          <a:p>
            <a:pPr lvl="1"/>
            <a:r>
              <a:rPr lang="de-DE" sz="2000" dirty="0">
                <a:solidFill>
                  <a:srgbClr val="0070C0"/>
                </a:solidFill>
              </a:rPr>
              <a:t>touch ref</a:t>
            </a:r>
            <a:r>
              <a:rPr lang="de-DE" sz="2000" dirty="0"/>
              <a:t>: Aktualisiert den Zeitstempel bzw. erzeugt eine Datei</a:t>
            </a:r>
          </a:p>
          <a:p>
            <a:r>
              <a:rPr lang="de-DE" sz="2400" b="1" dirty="0"/>
              <a:t>Ablauf des Skripts</a:t>
            </a:r>
          </a:p>
          <a:p>
            <a:pPr lvl="1"/>
            <a:r>
              <a:rPr lang="de-DE" sz="2000" dirty="0"/>
              <a:t>1. Erstelle Referenz-Datei (setzt Zeitstempel = jetzt)</a:t>
            </a:r>
          </a:p>
          <a:p>
            <a:pPr lvl="1"/>
            <a:r>
              <a:rPr lang="de-DE" sz="2000" dirty="0"/>
              <a:t>2. Schleife: finde Dateien neuer als Referenz → </a:t>
            </a:r>
            <a:r>
              <a:rPr lang="de-DE" sz="2000" dirty="0">
                <a:highlight>
                  <a:srgbClr val="00FF00"/>
                </a:highlight>
              </a:rPr>
              <a:t>ausgeben</a:t>
            </a:r>
          </a:p>
          <a:p>
            <a:pPr lvl="1"/>
            <a:r>
              <a:rPr lang="de-DE" sz="2000" dirty="0"/>
              <a:t>3. Aktualisiere Referenz-Datei → warte Intervall → Goto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fade">
                                      <p:cBhvr>
                                        <p:cTn id="30" dur="500"/>
                                        <p:tgtEl>
                                          <p:spTgt spid="4">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fade">
                                      <p:cBhvr>
                                        <p:cTn id="33" dur="500"/>
                                        <p:tgtEl>
                                          <p:spTgt spid="4">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fade">
                                      <p:cBhvr>
                                        <p:cTn id="38" dur="500"/>
                                        <p:tgtEl>
                                          <p:spTgt spid="4">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animEffect transition="in" filter="fade">
                                      <p:cBhvr>
                                        <p:cTn id="41" dur="500"/>
                                        <p:tgtEl>
                                          <p:spTgt spid="4">
                                            <p:txEl>
                                              <p:pRg st="10" end="1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
                                            <p:txEl>
                                              <p:pRg st="11" end="11"/>
                                            </p:txEl>
                                          </p:spTgt>
                                        </p:tgtEl>
                                        <p:attrNameLst>
                                          <p:attrName>style.visibility</p:attrName>
                                        </p:attrNameLst>
                                      </p:cBhvr>
                                      <p:to>
                                        <p:strVal val="visible"/>
                                      </p:to>
                                    </p:set>
                                    <p:animEffect transition="in" filter="fade">
                                      <p:cBhvr>
                                        <p:cTn id="44" dur="500"/>
                                        <p:tgtEl>
                                          <p:spTgt spid="4">
                                            <p:txEl>
                                              <p:pRg st="11" end="11"/>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animEffect transition="in" filter="fade">
                                      <p:cBhvr>
                                        <p:cTn id="4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Version 1: watchdog_v1.sh</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8</a:t>
            </a:fld>
            <a:endParaRPr lang="en-US" dirty="0">
              <a:solidFill>
                <a:srgbClr val="4F271C"/>
              </a:solidFill>
            </a:endParaRPr>
          </a:p>
        </p:txBody>
      </p:sp>
      <p:sp>
        <p:nvSpPr>
          <p:cNvPr id="4" name="Content Placeholder 3"/>
          <p:cNvSpPr>
            <a:spLocks noGrp="1"/>
          </p:cNvSpPr>
          <p:nvPr>
            <p:ph sz="quarter" idx="1"/>
          </p:nvPr>
        </p:nvSpPr>
        <p:spPr>
          <a:xfrm>
            <a:off x="457200" y="1219200"/>
            <a:ext cx="8363272" cy="5594176"/>
          </a:xfrm>
        </p:spPr>
        <p:txBody>
          <a:bodyPr>
            <a:normAutofit/>
          </a:bodyPr>
          <a:lstStyle/>
          <a:p>
            <a:r>
              <a:rPr lang="de-DE" sz="2400" b="1" dirty="0"/>
              <a:t>Das Skript watchdog_v1.sh – feste Werte:</a:t>
            </a:r>
            <a:endParaRPr lang="de-DE" sz="2400" dirty="0"/>
          </a:p>
          <a:p>
            <a:pPr marL="274320" lvl="2" indent="0">
              <a:spcBef>
                <a:spcPts val="400"/>
              </a:spcBef>
              <a:buNone/>
            </a:pPr>
            <a:r>
              <a:rPr lang="en-US" sz="1800" dirty="0">
                <a:solidFill>
                  <a:srgbClr val="007700"/>
                </a:solidFill>
              </a:rPr>
              <a:t>#!/bin/bash</a:t>
            </a:r>
          </a:p>
          <a:p>
            <a:pPr marL="274320" lvl="2" indent="0">
              <a:spcBef>
                <a:spcPts val="400"/>
              </a:spcBef>
              <a:buNone/>
            </a:pPr>
            <a:r>
              <a:rPr lang="en-US" sz="1800" dirty="0">
                <a:solidFill>
                  <a:srgbClr val="007700"/>
                </a:solidFill>
              </a:rPr>
              <a:t># Watchdog v1: feste Werte, kein FTP</a:t>
            </a:r>
          </a:p>
          <a:p>
            <a:pPr marL="274320" lvl="2" indent="0">
              <a:spcBef>
                <a:spcPts val="400"/>
              </a:spcBef>
              <a:buNone/>
            </a:pPr>
            <a:r>
              <a:rPr lang="en-US" sz="1800" dirty="0">
                <a:solidFill>
                  <a:srgbClr val="0070C0"/>
                </a:solidFill>
              </a:rPr>
              <a:t>WATCH_DIR=</a:t>
            </a:r>
            <a:r>
              <a:rPr lang="en-US" sz="1800" dirty="0">
                <a:solidFill>
                  <a:srgbClr val="CC3300"/>
                </a:solidFill>
              </a:rPr>
              <a:t>"/home/user/watch"</a:t>
            </a:r>
            <a:r>
              <a:rPr lang="en-US" sz="1800" dirty="0"/>
              <a:t>       	</a:t>
            </a:r>
            <a:r>
              <a:rPr lang="en-US" sz="1800" dirty="0">
                <a:solidFill>
                  <a:srgbClr val="007700"/>
                </a:solidFill>
              </a:rPr>
              <a:t># festes Verzeichnis</a:t>
            </a:r>
          </a:p>
          <a:p>
            <a:pPr marL="274320" lvl="2" indent="0">
              <a:spcBef>
                <a:spcPts val="400"/>
              </a:spcBef>
              <a:buNone/>
            </a:pPr>
            <a:r>
              <a:rPr lang="en-US" sz="1800" dirty="0">
                <a:solidFill>
                  <a:srgbClr val="0070C0"/>
                </a:solidFill>
              </a:rPr>
              <a:t>INTERVAL=</a:t>
            </a:r>
            <a:r>
              <a:rPr lang="en-US" sz="1800" dirty="0">
                <a:solidFill>
                  <a:srgbClr val="CC3300"/>
                </a:solidFill>
              </a:rPr>
              <a:t>30</a:t>
            </a:r>
            <a:r>
              <a:rPr lang="en-US" sz="1800" dirty="0"/>
              <a:t>                     		</a:t>
            </a:r>
            <a:r>
              <a:rPr lang="en-US" sz="1800" dirty="0">
                <a:solidFill>
                  <a:srgbClr val="007700"/>
                </a:solidFill>
              </a:rPr>
              <a:t># Prüfintervall in Sekunden</a:t>
            </a:r>
          </a:p>
          <a:p>
            <a:pPr marL="274320" lvl="2" indent="0">
              <a:spcBef>
                <a:spcPts val="400"/>
              </a:spcBef>
              <a:buNone/>
            </a:pPr>
            <a:r>
              <a:rPr lang="en-US" sz="1800" dirty="0">
                <a:solidFill>
                  <a:srgbClr val="0070C0"/>
                </a:solidFill>
              </a:rPr>
              <a:t>REF_FILE=</a:t>
            </a:r>
            <a:r>
              <a:rPr lang="en-US" sz="1800" dirty="0">
                <a:solidFill>
                  <a:srgbClr val="CC3300"/>
                </a:solidFill>
              </a:rPr>
              <a:t>"/tmp/watchdog_ref"</a:t>
            </a:r>
          </a:p>
          <a:p>
            <a:endParaRPr lang="de-DE" sz="1200" dirty="0"/>
          </a:p>
          <a:p>
            <a:pPr marL="274320" lvl="2" indent="0">
              <a:spcBef>
                <a:spcPts val="400"/>
              </a:spcBef>
              <a:buNone/>
            </a:pPr>
            <a:r>
              <a:rPr lang="en-US" sz="1800" dirty="0">
                <a:solidFill>
                  <a:srgbClr val="007700"/>
                </a:solidFill>
              </a:rPr>
              <a:t># Referenz-Datei initialisieren</a:t>
            </a:r>
          </a:p>
          <a:p>
            <a:pPr marL="274320" lvl="2" indent="0">
              <a:spcBef>
                <a:spcPts val="400"/>
              </a:spcBef>
              <a:buNone/>
            </a:pPr>
            <a:r>
              <a:rPr lang="en-US" sz="1800" dirty="0">
                <a:solidFill>
                  <a:srgbClr val="0070C0"/>
                </a:solidFill>
              </a:rPr>
              <a:t>touch </a:t>
            </a:r>
            <a:r>
              <a:rPr lang="en-US" sz="1800" dirty="0">
                <a:solidFill>
                  <a:srgbClr val="0070C0"/>
                </a:solidFill>
                <a:highlight>
                  <a:srgbClr val="FFFF00"/>
                </a:highlight>
              </a:rPr>
              <a:t>$REF_FILE</a:t>
            </a:r>
          </a:p>
          <a:p>
            <a:endParaRPr lang="de-DE" sz="1200" dirty="0"/>
          </a:p>
          <a:p>
            <a:pPr marL="274320" lvl="2" indent="0">
              <a:spcBef>
                <a:spcPts val="400"/>
              </a:spcBef>
              <a:buNone/>
            </a:pPr>
            <a:r>
              <a:rPr lang="en-US" sz="1800" dirty="0">
                <a:solidFill>
                  <a:srgbClr val="FF6600"/>
                </a:solidFill>
              </a:rPr>
              <a:t>while </a:t>
            </a:r>
            <a:r>
              <a:rPr lang="en-US" sz="1800" dirty="0">
                <a:solidFill>
                  <a:srgbClr val="0070C0"/>
                </a:solidFill>
              </a:rPr>
              <a:t>true</a:t>
            </a:r>
            <a:r>
              <a:rPr lang="en-US" sz="1800" dirty="0">
                <a:solidFill>
                  <a:srgbClr val="FF6600"/>
                </a:solidFill>
              </a:rPr>
              <a:t>; do</a:t>
            </a:r>
          </a:p>
          <a:p>
            <a:pPr marL="274320" lvl="2" indent="0">
              <a:spcBef>
                <a:spcPts val="400"/>
              </a:spcBef>
              <a:buNone/>
            </a:pPr>
            <a:r>
              <a:rPr lang="en-US" sz="1800" dirty="0">
                <a:solidFill>
                  <a:srgbClr val="0070C0"/>
                </a:solidFill>
              </a:rPr>
              <a:t>  echo </a:t>
            </a:r>
            <a:r>
              <a:rPr lang="en-US" sz="1800" dirty="0">
                <a:solidFill>
                  <a:srgbClr val="CC3300"/>
                </a:solidFill>
              </a:rPr>
              <a:t>"=== Prüfe Änderungen in $WATCH_DIR ==="</a:t>
            </a:r>
          </a:p>
          <a:p>
            <a:pPr marL="274320" lvl="2" indent="0">
              <a:spcBef>
                <a:spcPts val="400"/>
              </a:spcBef>
              <a:buNone/>
            </a:pPr>
            <a:r>
              <a:rPr lang="en-US" sz="1800" dirty="0">
                <a:solidFill>
                  <a:srgbClr val="0070C0"/>
                </a:solidFill>
              </a:rPr>
              <a:t>  find </a:t>
            </a:r>
            <a:r>
              <a:rPr lang="en-US" sz="1800" dirty="0">
                <a:solidFill>
                  <a:srgbClr val="0070C0"/>
                </a:solidFill>
                <a:highlight>
                  <a:srgbClr val="FFFF00"/>
                </a:highlight>
              </a:rPr>
              <a:t>$WATCH_DIR</a:t>
            </a:r>
            <a:r>
              <a:rPr lang="en-US" sz="1800" dirty="0">
                <a:solidFill>
                  <a:srgbClr val="0070C0"/>
                </a:solidFill>
              </a:rPr>
              <a:t> -newer </a:t>
            </a:r>
            <a:r>
              <a:rPr lang="en-US" sz="1800" dirty="0">
                <a:solidFill>
                  <a:srgbClr val="0070C0"/>
                </a:solidFill>
                <a:highlight>
                  <a:srgbClr val="FFFF00"/>
                </a:highlight>
              </a:rPr>
              <a:t>$REF_FILE</a:t>
            </a:r>
            <a:r>
              <a:rPr lang="en-US" sz="1800" dirty="0">
                <a:solidFill>
                  <a:srgbClr val="0070C0"/>
                </a:solidFill>
              </a:rPr>
              <a:t> -type f</a:t>
            </a:r>
          </a:p>
          <a:p>
            <a:pPr marL="274320" lvl="2" indent="0">
              <a:spcBef>
                <a:spcPts val="400"/>
              </a:spcBef>
              <a:buNone/>
            </a:pPr>
            <a:r>
              <a:rPr lang="en-US" sz="1800" dirty="0">
                <a:solidFill>
                  <a:srgbClr val="0070C0"/>
                </a:solidFill>
              </a:rPr>
              <a:t>  touch </a:t>
            </a:r>
            <a:r>
              <a:rPr lang="en-US" sz="1800" dirty="0">
                <a:solidFill>
                  <a:srgbClr val="0070C0"/>
                </a:solidFill>
                <a:highlight>
                  <a:srgbClr val="FFFF00"/>
                </a:highlight>
              </a:rPr>
              <a:t>$REF_FILE</a:t>
            </a:r>
            <a:r>
              <a:rPr lang="en-US" sz="1800" dirty="0"/>
              <a:t>           		</a:t>
            </a:r>
            <a:r>
              <a:rPr lang="en-US" sz="1800" dirty="0">
                <a:solidFill>
                  <a:srgbClr val="007700"/>
                </a:solidFill>
              </a:rPr>
              <a:t># Zeitstempel erneuern</a:t>
            </a:r>
          </a:p>
          <a:p>
            <a:pPr marL="274320" lvl="2" indent="0">
              <a:spcBef>
                <a:spcPts val="400"/>
              </a:spcBef>
              <a:buNone/>
            </a:pPr>
            <a:r>
              <a:rPr lang="en-US" sz="1800" dirty="0">
                <a:solidFill>
                  <a:srgbClr val="0070C0"/>
                </a:solidFill>
              </a:rPr>
              <a:t>  sleep </a:t>
            </a:r>
            <a:r>
              <a:rPr lang="en-US" sz="1800" dirty="0">
                <a:solidFill>
                  <a:srgbClr val="0070C0"/>
                </a:solidFill>
                <a:highlight>
                  <a:srgbClr val="FFFF00"/>
                </a:highlight>
              </a:rPr>
              <a:t>$INTERVAL</a:t>
            </a:r>
          </a:p>
          <a:p>
            <a:pPr marL="274320" lvl="2" indent="0">
              <a:spcBef>
                <a:spcPts val="400"/>
              </a:spcBef>
              <a:buNone/>
            </a:pPr>
            <a:r>
              <a:rPr lang="en-US" sz="1800" dirty="0">
                <a:solidFill>
                  <a:srgbClr val="FF6600"/>
                </a:solidFill>
              </a:rPr>
              <a:t>done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while-Schleife, sleep und find -newer</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9</a:t>
            </a:fld>
            <a:endParaRPr lang="en-US" dirty="0">
              <a:solidFill>
                <a:srgbClr val="4F271C"/>
              </a:solidFill>
            </a:endParaRPr>
          </a:p>
        </p:txBody>
      </p:sp>
      <p:sp>
        <p:nvSpPr>
          <p:cNvPr id="4" name="Content Placeholder 3"/>
          <p:cNvSpPr>
            <a:spLocks noGrp="1"/>
          </p:cNvSpPr>
          <p:nvPr>
            <p:ph sz="quarter" idx="1"/>
          </p:nvPr>
        </p:nvSpPr>
        <p:spPr>
          <a:xfrm>
            <a:off x="457200" y="1219200"/>
            <a:ext cx="8363272" cy="5210196"/>
          </a:xfrm>
        </p:spPr>
        <p:txBody>
          <a:bodyPr>
            <a:normAutofit fontScale="92500" lnSpcReduction="20000"/>
          </a:bodyPr>
          <a:lstStyle/>
          <a:p>
            <a:r>
              <a:rPr lang="de-DE" sz="2400" b="1" dirty="0"/>
              <a:t>Die while-Schleife in bash</a:t>
            </a:r>
          </a:p>
          <a:p>
            <a:pPr lvl="1"/>
            <a:r>
              <a:rPr lang="de-DE" sz="2000" dirty="0">
                <a:solidFill>
                  <a:srgbClr val="FF6600"/>
                </a:solidFill>
              </a:rPr>
              <a:t>while</a:t>
            </a:r>
            <a:r>
              <a:rPr lang="de-DE" sz="2000" dirty="0">
                <a:solidFill>
                  <a:srgbClr val="0070C0"/>
                </a:solidFill>
              </a:rPr>
              <a:t>  Bedingung</a:t>
            </a:r>
            <a:r>
              <a:rPr lang="de-DE" sz="2000" dirty="0">
                <a:solidFill>
                  <a:srgbClr val="FF6600"/>
                </a:solidFill>
              </a:rPr>
              <a:t>; do  ...  done</a:t>
            </a:r>
          </a:p>
          <a:p>
            <a:pPr lvl="1"/>
            <a:r>
              <a:rPr lang="de-DE" sz="2000" dirty="0"/>
              <a:t>Bedingung wird vor jeder Iteration ausgewertet</a:t>
            </a:r>
          </a:p>
          <a:p>
            <a:pPr lvl="1"/>
            <a:r>
              <a:rPr lang="de-DE" sz="2000" dirty="0">
                <a:solidFill>
                  <a:srgbClr val="0070C0"/>
                </a:solidFill>
              </a:rPr>
              <a:t>while true</a:t>
            </a:r>
            <a:r>
              <a:rPr lang="de-DE" sz="2000" dirty="0"/>
              <a:t>: Läuft ewig (Sonderfall: Bedingung immer wahr)</a:t>
            </a:r>
          </a:p>
          <a:p>
            <a:pPr lvl="1"/>
            <a:r>
              <a:rPr lang="de-DE" sz="2000" dirty="0">
                <a:solidFill>
                  <a:srgbClr val="CC0000"/>
                </a:solidFill>
              </a:rPr>
              <a:t>Ctrl+C</a:t>
            </a:r>
            <a:r>
              <a:rPr lang="de-DE" sz="2000" dirty="0"/>
              <a:t> oder </a:t>
            </a:r>
            <a:r>
              <a:rPr lang="de-DE" sz="2000" dirty="0">
                <a:solidFill>
                  <a:srgbClr val="CC0000"/>
                </a:solidFill>
              </a:rPr>
              <a:t>kill</a:t>
            </a:r>
            <a:r>
              <a:rPr lang="de-DE" sz="2000" dirty="0"/>
              <a:t> bricht die Schleife ab</a:t>
            </a:r>
          </a:p>
          <a:p>
            <a:r>
              <a:rPr lang="de-DE" sz="2400" b="1" dirty="0"/>
              <a:t>Der sleep-Befehl</a:t>
            </a:r>
          </a:p>
          <a:p>
            <a:pPr lvl="1"/>
            <a:r>
              <a:rPr lang="de-DE" sz="2000" dirty="0">
                <a:solidFill>
                  <a:srgbClr val="0070C0"/>
                </a:solidFill>
              </a:rPr>
              <a:t>sleep N</a:t>
            </a:r>
            <a:r>
              <a:rPr lang="de-DE" sz="2000" dirty="0"/>
              <a:t>: Pausiert das Skript für N Sekunden</a:t>
            </a:r>
          </a:p>
          <a:p>
            <a:pPr lvl="1"/>
            <a:r>
              <a:rPr lang="de-DE" sz="2000" dirty="0">
                <a:solidFill>
                  <a:srgbClr val="0070C0"/>
                </a:solidFill>
              </a:rPr>
              <a:t>sleep 0.5</a:t>
            </a:r>
            <a:r>
              <a:rPr lang="de-DE" sz="2000" dirty="0"/>
              <a:t>: Auch Dezimalzahlen möglich (halbe Sekunde)</a:t>
            </a:r>
          </a:p>
          <a:p>
            <a:r>
              <a:rPr lang="de-DE" sz="2400" b="1" dirty="0"/>
              <a:t>Beispiel: Endlosschleife mit Ausgabe</a:t>
            </a:r>
          </a:p>
          <a:p>
            <a:pPr marL="274320" lvl="2" indent="0">
              <a:spcBef>
                <a:spcPts val="400"/>
              </a:spcBef>
              <a:buNone/>
            </a:pPr>
            <a:r>
              <a:rPr lang="en-US" sz="1800" dirty="0">
                <a:solidFill>
                  <a:srgbClr val="FF6600"/>
                </a:solidFill>
              </a:rPr>
              <a:t>while </a:t>
            </a:r>
            <a:r>
              <a:rPr lang="en-US" sz="1800" dirty="0">
                <a:solidFill>
                  <a:srgbClr val="0070C0"/>
                </a:solidFill>
              </a:rPr>
              <a:t>true</a:t>
            </a:r>
            <a:r>
              <a:rPr lang="en-US" sz="1800" dirty="0">
                <a:solidFill>
                  <a:srgbClr val="FF6600"/>
                </a:solidFill>
              </a:rPr>
              <a:t>; do</a:t>
            </a:r>
          </a:p>
          <a:p>
            <a:pPr marL="274320" lvl="2" indent="0">
              <a:spcBef>
                <a:spcPts val="400"/>
              </a:spcBef>
              <a:buNone/>
            </a:pPr>
            <a:r>
              <a:rPr lang="en-US" sz="1800" dirty="0">
                <a:solidFill>
                  <a:srgbClr val="0070C0"/>
                </a:solidFill>
              </a:rPr>
              <a:t>  echo "Tick: $(date)"</a:t>
            </a:r>
          </a:p>
          <a:p>
            <a:pPr marL="274320" lvl="2" indent="0">
              <a:spcBef>
                <a:spcPts val="400"/>
              </a:spcBef>
              <a:buNone/>
            </a:pPr>
            <a:r>
              <a:rPr lang="en-US" sz="1800" dirty="0">
                <a:solidFill>
                  <a:srgbClr val="0070C0"/>
                </a:solidFill>
              </a:rPr>
              <a:t>  sleep </a:t>
            </a:r>
            <a:r>
              <a:rPr lang="en-US" sz="1800" dirty="0">
                <a:solidFill>
                  <a:srgbClr val="CC3300"/>
                </a:solidFill>
              </a:rPr>
              <a:t>5</a:t>
            </a:r>
          </a:p>
          <a:p>
            <a:pPr marL="274320" lvl="2" indent="0">
              <a:spcBef>
                <a:spcPts val="400"/>
              </a:spcBef>
              <a:buNone/>
            </a:pPr>
            <a:r>
              <a:rPr lang="en-US" sz="1800" dirty="0">
                <a:solidFill>
                  <a:srgbClr val="FF6600"/>
                </a:solidFill>
              </a:rPr>
              <a:t>done</a:t>
            </a:r>
          </a:p>
          <a:p>
            <a:r>
              <a:rPr lang="de-DE" sz="2400" b="1" dirty="0"/>
              <a:t>find -newer: Dateiänderungen erkennen</a:t>
            </a:r>
          </a:p>
          <a:p>
            <a:pPr lvl="1"/>
            <a:r>
              <a:rPr lang="de-DE" sz="2000" dirty="0">
                <a:solidFill>
                  <a:srgbClr val="0070C0"/>
                </a:solidFill>
              </a:rPr>
              <a:t>find DIR -newer REF -type f</a:t>
            </a:r>
            <a:r>
              <a:rPr lang="de-DE" sz="2000" dirty="0"/>
              <a:t>: Listet alle Dateien in DIR, die jünger als REF sind</a:t>
            </a:r>
          </a:p>
          <a:p>
            <a:pPr lvl="1"/>
            <a:r>
              <a:rPr lang="de-DE" sz="2000" dirty="0">
                <a:solidFill>
                  <a:srgbClr val="0070C0"/>
                </a:solidFill>
              </a:rPr>
              <a:t>touch REF</a:t>
            </a:r>
            <a:r>
              <a:rPr lang="de-DE" sz="2000" dirty="0"/>
              <a:t>: Setzt Zeitstempel von REF auf „jetzt“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FTP mit bash: Dateien übertragen</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10</a:t>
            </a:fld>
            <a:endParaRPr lang="en-US" dirty="0">
              <a:solidFill>
                <a:srgbClr val="4F271C"/>
              </a:solidFill>
            </a:endParaRPr>
          </a:p>
        </p:txBody>
      </p:sp>
      <p:sp>
        <p:nvSpPr>
          <p:cNvPr id="4" name="Content Placeholder 3"/>
          <p:cNvSpPr>
            <a:spLocks noGrp="1"/>
          </p:cNvSpPr>
          <p:nvPr>
            <p:ph sz="quarter" idx="1"/>
          </p:nvPr>
        </p:nvSpPr>
        <p:spPr>
          <a:xfrm>
            <a:off x="457200" y="1219200"/>
            <a:ext cx="8363272" cy="5210196"/>
          </a:xfrm>
        </p:spPr>
        <p:txBody>
          <a:bodyPr>
            <a:normAutofit fontScale="92500" lnSpcReduction="20000"/>
          </a:bodyPr>
          <a:lstStyle/>
          <a:p>
            <a:r>
              <a:rPr lang="de-DE" sz="2400" b="1" dirty="0"/>
              <a:t>FTP: File Transfer Protocol</a:t>
            </a:r>
          </a:p>
          <a:p>
            <a:pPr lvl="1"/>
            <a:r>
              <a:rPr lang="de-DE" sz="2000" dirty="0"/>
              <a:t>Überträgt Dateien zwischen zwei Rechnern über das Netzwerk</a:t>
            </a:r>
          </a:p>
          <a:p>
            <a:pPr lvl="1"/>
            <a:r>
              <a:rPr lang="de-DE" sz="2000" dirty="0"/>
              <a:t>Befehle: </a:t>
            </a:r>
            <a:r>
              <a:rPr lang="de-DE" sz="2000" dirty="0">
                <a:solidFill>
                  <a:srgbClr val="0070C0"/>
                </a:solidFill>
              </a:rPr>
              <a:t>ftp</a:t>
            </a:r>
            <a:r>
              <a:rPr lang="de-DE" sz="2000" dirty="0"/>
              <a:t> (Standard) oder </a:t>
            </a:r>
            <a:r>
              <a:rPr lang="de-DE" sz="2000" dirty="0">
                <a:solidFill>
                  <a:srgbClr val="0070C0"/>
                </a:solidFill>
              </a:rPr>
              <a:t>ncftp</a:t>
            </a:r>
            <a:r>
              <a:rPr lang="de-DE" sz="2000" dirty="0"/>
              <a:t>, </a:t>
            </a:r>
            <a:r>
              <a:rPr lang="de-DE" sz="2000" dirty="0">
                <a:solidFill>
                  <a:srgbClr val="0070C0"/>
                </a:solidFill>
              </a:rPr>
              <a:t>lftp</a:t>
            </a:r>
            <a:r>
              <a:rPr lang="de-DE" sz="2000" dirty="0"/>
              <a:t> (komfortabler)</a:t>
            </a:r>
          </a:p>
          <a:p>
            <a:r>
              <a:rPr lang="de-DE" sz="2400" b="1" dirty="0"/>
              <a:t>FTP per bash-Skript: Batch-Modus</a:t>
            </a:r>
          </a:p>
          <a:p>
            <a:pPr lvl="1"/>
            <a:r>
              <a:rPr lang="de-DE" sz="2000" dirty="0">
                <a:solidFill>
                  <a:srgbClr val="0070C0"/>
                </a:solidFill>
              </a:rPr>
              <a:t>ftp</a:t>
            </a:r>
            <a:r>
              <a:rPr lang="de-DE" sz="2000" dirty="0"/>
              <a:t> unterstützt interaktive Eingaben – Batch-Modus via </a:t>
            </a:r>
            <a:r>
              <a:rPr lang="de-DE" sz="2000" b="1" dirty="0">
                <a:solidFill>
                  <a:srgbClr val="0070C0"/>
                </a:solidFill>
              </a:rPr>
              <a:t>Heredoc</a:t>
            </a:r>
          </a:p>
          <a:p>
            <a:pPr lvl="1"/>
            <a:r>
              <a:rPr lang="de-DE" sz="2000" b="1" dirty="0" err="1">
                <a:solidFill>
                  <a:srgbClr val="0070C0"/>
                </a:solidFill>
              </a:rPr>
              <a:t>Heredoc</a:t>
            </a:r>
            <a:r>
              <a:rPr lang="de-DE" sz="2000" dirty="0"/>
              <a:t> (&lt;&lt;EOF ... EOF): übergibt mehrere Zeilen als Eingabe an einen Befehl</a:t>
            </a:r>
          </a:p>
          <a:p>
            <a:pPr marL="274320" lvl="2" indent="0">
              <a:spcBef>
                <a:spcPts val="400"/>
              </a:spcBef>
              <a:buNone/>
            </a:pPr>
            <a:r>
              <a:rPr lang="en-US" sz="1800" dirty="0">
                <a:solidFill>
                  <a:srgbClr val="0070C0"/>
                </a:solidFill>
              </a:rPr>
              <a:t>ftp -n </a:t>
            </a:r>
            <a:r>
              <a:rPr lang="en-US" sz="1800" dirty="0">
                <a:solidFill>
                  <a:srgbClr val="0070C0"/>
                </a:solidFill>
                <a:highlight>
                  <a:srgbClr val="FFFF00"/>
                </a:highlight>
              </a:rPr>
              <a:t>$FTP_HOST</a:t>
            </a:r>
            <a:r>
              <a:rPr lang="en-US" sz="1800" dirty="0">
                <a:solidFill>
                  <a:srgbClr val="FF6600"/>
                </a:solidFill>
              </a:rPr>
              <a:t> &lt;&lt;EOF</a:t>
            </a:r>
          </a:p>
          <a:p>
            <a:pPr marL="274320" lvl="2" indent="0">
              <a:spcBef>
                <a:spcPts val="400"/>
              </a:spcBef>
              <a:buNone/>
            </a:pPr>
            <a:r>
              <a:rPr lang="en-US" sz="1800" dirty="0">
                <a:solidFill>
                  <a:srgbClr val="0070C0"/>
                </a:solidFill>
              </a:rPr>
              <a:t>user $FTP_USER $FTP_PASS</a:t>
            </a:r>
          </a:p>
          <a:p>
            <a:pPr marL="274320" lvl="2" indent="0">
              <a:spcBef>
                <a:spcPts val="400"/>
              </a:spcBef>
              <a:buNone/>
            </a:pPr>
            <a:r>
              <a:rPr lang="en-US" sz="1800" dirty="0">
                <a:solidFill>
                  <a:srgbClr val="0070C0"/>
                </a:solidFill>
              </a:rPr>
              <a:t>binary</a:t>
            </a:r>
          </a:p>
          <a:p>
            <a:pPr marL="274320" lvl="2" indent="0">
              <a:spcBef>
                <a:spcPts val="400"/>
              </a:spcBef>
              <a:buNone/>
            </a:pPr>
            <a:r>
              <a:rPr lang="en-US" sz="1800" dirty="0">
                <a:solidFill>
                  <a:srgbClr val="0070C0"/>
                </a:solidFill>
              </a:rPr>
              <a:t>put </a:t>
            </a:r>
            <a:r>
              <a:rPr lang="en-US" sz="1800" dirty="0">
                <a:solidFill>
                  <a:srgbClr val="0070C0"/>
                </a:solidFill>
                <a:highlight>
                  <a:srgbClr val="FFFF00"/>
                </a:highlight>
              </a:rPr>
              <a:t>$FILE</a:t>
            </a:r>
            <a:r>
              <a:rPr lang="en-US" sz="1800" dirty="0"/>
              <a:t>   </a:t>
            </a:r>
            <a:r>
              <a:rPr lang="en-US" sz="1800" dirty="0">
                <a:solidFill>
                  <a:srgbClr val="007700"/>
                </a:solidFill>
              </a:rPr>
              <a:t># Datei hochladen</a:t>
            </a:r>
          </a:p>
          <a:p>
            <a:pPr marL="274320" lvl="2" indent="0">
              <a:spcBef>
                <a:spcPts val="400"/>
              </a:spcBef>
              <a:buNone/>
            </a:pPr>
            <a:r>
              <a:rPr lang="en-US" sz="1800" dirty="0">
                <a:solidFill>
                  <a:srgbClr val="0070C0"/>
                </a:solidFill>
              </a:rPr>
              <a:t>bye</a:t>
            </a:r>
          </a:p>
          <a:p>
            <a:pPr marL="274320" lvl="2" indent="0">
              <a:spcBef>
                <a:spcPts val="400"/>
              </a:spcBef>
              <a:buNone/>
            </a:pPr>
            <a:r>
              <a:rPr lang="en-US" sz="1800" dirty="0">
                <a:solidFill>
                  <a:srgbClr val="FF6600"/>
                </a:solidFill>
              </a:rPr>
              <a:t>EOF</a:t>
            </a:r>
          </a:p>
          <a:p>
            <a:r>
              <a:rPr lang="de-DE" sz="2400" b="1" dirty="0"/>
              <a:t>Wichtige FTP-Befehle im Batch</a:t>
            </a:r>
          </a:p>
          <a:p>
            <a:pPr lvl="1"/>
            <a:r>
              <a:rPr lang="de-DE" sz="2000" dirty="0">
                <a:solidFill>
                  <a:srgbClr val="0070C0"/>
                </a:solidFill>
              </a:rPr>
              <a:t>user LOGIN PASS</a:t>
            </a:r>
            <a:r>
              <a:rPr lang="de-DE" sz="2000" dirty="0"/>
              <a:t>: Anmelden</a:t>
            </a:r>
          </a:p>
          <a:p>
            <a:pPr lvl="1"/>
            <a:r>
              <a:rPr lang="de-DE" sz="2000" dirty="0">
                <a:solidFill>
                  <a:srgbClr val="0070C0"/>
                </a:solidFill>
              </a:rPr>
              <a:t>put DATEI</a:t>
            </a:r>
            <a:r>
              <a:rPr lang="de-DE" sz="2000" dirty="0"/>
              <a:t>: Datei hochladen  </a:t>
            </a:r>
          </a:p>
          <a:p>
            <a:pPr lvl="1"/>
            <a:r>
              <a:rPr lang="de-DE" sz="2000" dirty="0" err="1">
                <a:solidFill>
                  <a:srgbClr val="0070C0"/>
                </a:solidFill>
              </a:rPr>
              <a:t>binary</a:t>
            </a:r>
            <a:r>
              <a:rPr lang="de-DE" sz="2000" dirty="0"/>
              <a:t>: Binärübertragung (für alle Dateitypen empfohlen)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e-DE" dirty="0"/>
              <a:t>Version 2: watchdog_v2.sh (mit FTP-Upload)</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11</a:t>
            </a:fld>
            <a:endParaRPr lang="en-US" dirty="0">
              <a:solidFill>
                <a:srgbClr val="4F271C"/>
              </a:solidFill>
            </a:endParaRPr>
          </a:p>
        </p:txBody>
      </p:sp>
      <p:sp>
        <p:nvSpPr>
          <p:cNvPr id="4" name="Content Placeholder 3"/>
          <p:cNvSpPr>
            <a:spLocks noGrp="1"/>
          </p:cNvSpPr>
          <p:nvPr>
            <p:ph sz="quarter" idx="1"/>
          </p:nvPr>
        </p:nvSpPr>
        <p:spPr>
          <a:xfrm>
            <a:off x="457200" y="1219200"/>
            <a:ext cx="8363272" cy="5594176"/>
          </a:xfrm>
        </p:spPr>
        <p:txBody>
          <a:bodyPr>
            <a:normAutofit fontScale="92500" lnSpcReduction="20000"/>
          </a:bodyPr>
          <a:lstStyle/>
          <a:p>
            <a:r>
              <a:rPr lang="de-DE" sz="2400" b="1" dirty="0"/>
              <a:t>Erweiterung von Version 1: FTP-Upload</a:t>
            </a:r>
          </a:p>
          <a:p>
            <a:pPr lvl="1"/>
            <a:r>
              <a:rPr lang="de-DE" sz="2000" dirty="0"/>
              <a:t>Neue Variable: FTP-Zielserver, Benutzer, Passwort (fest kodiert)</a:t>
            </a:r>
          </a:p>
          <a:p>
            <a:pPr lvl="1"/>
            <a:r>
              <a:rPr lang="de-DE" sz="2000" dirty="0"/>
              <a:t>Gefundene Dateien werden in einer Schleife per FTP hochgeladen</a:t>
            </a:r>
            <a:endParaRPr lang="de-DE" sz="2400" dirty="0"/>
          </a:p>
          <a:p>
            <a:pPr marL="274320" lvl="2" indent="0">
              <a:spcBef>
                <a:spcPts val="400"/>
              </a:spcBef>
              <a:buNone/>
            </a:pPr>
            <a:r>
              <a:rPr lang="en-US" sz="1800" dirty="0">
                <a:solidFill>
                  <a:srgbClr val="007700"/>
                </a:solidFill>
              </a:rPr>
              <a:t>#!/bin/bash   # watchdog_v2.sh – mit FTP-Upload</a:t>
            </a:r>
          </a:p>
          <a:p>
            <a:pPr marL="274320" lvl="2" indent="0">
              <a:spcBef>
                <a:spcPts val="400"/>
              </a:spcBef>
              <a:buNone/>
            </a:pPr>
            <a:r>
              <a:rPr lang="en-US" sz="1800" dirty="0">
                <a:solidFill>
                  <a:srgbClr val="0070C0"/>
                </a:solidFill>
              </a:rPr>
              <a:t>WATCH_DIR=</a:t>
            </a:r>
            <a:r>
              <a:rPr lang="en-US" sz="1800" dirty="0">
                <a:solidFill>
                  <a:srgbClr val="CC3300"/>
                </a:solidFill>
              </a:rPr>
              <a:t>"/home/user/watch"</a:t>
            </a:r>
            <a:r>
              <a:rPr lang="en-US" sz="1800" dirty="0"/>
              <a:t>  </a:t>
            </a:r>
            <a:r>
              <a:rPr lang="en-US" sz="1800" dirty="0">
                <a:solidFill>
                  <a:srgbClr val="0070C0"/>
                </a:solidFill>
              </a:rPr>
              <a:t>INTERVAL=</a:t>
            </a:r>
            <a:r>
              <a:rPr lang="en-US" sz="1800" dirty="0">
                <a:solidFill>
                  <a:srgbClr val="CC3300"/>
                </a:solidFill>
              </a:rPr>
              <a:t>30</a:t>
            </a:r>
          </a:p>
          <a:p>
            <a:pPr marL="274320" lvl="2" indent="0">
              <a:spcBef>
                <a:spcPts val="400"/>
              </a:spcBef>
              <a:buNone/>
            </a:pPr>
            <a:r>
              <a:rPr lang="en-US" sz="1800" dirty="0">
                <a:solidFill>
                  <a:srgbClr val="0070C0"/>
                </a:solidFill>
              </a:rPr>
              <a:t>FTP_HOST=</a:t>
            </a:r>
            <a:r>
              <a:rPr lang="en-US" sz="1800" dirty="0">
                <a:solidFill>
                  <a:srgbClr val="CC3300"/>
                </a:solidFill>
              </a:rPr>
              <a:t>"server.example.com"</a:t>
            </a:r>
          </a:p>
          <a:p>
            <a:pPr marL="274320" lvl="2" indent="0">
              <a:spcBef>
                <a:spcPts val="400"/>
              </a:spcBef>
              <a:buNone/>
            </a:pPr>
            <a:r>
              <a:rPr lang="en-US" sz="1800" dirty="0">
                <a:solidFill>
                  <a:srgbClr val="0070C0"/>
                </a:solidFill>
              </a:rPr>
              <a:t>FTP_USER=</a:t>
            </a:r>
            <a:r>
              <a:rPr lang="en-US" sz="1800" dirty="0">
                <a:solidFill>
                  <a:srgbClr val="CC3300"/>
                </a:solidFill>
              </a:rPr>
              <a:t>"ftpuser"</a:t>
            </a:r>
            <a:r>
              <a:rPr lang="en-US" sz="1800" dirty="0">
                <a:solidFill>
                  <a:srgbClr val="0070C0"/>
                </a:solidFill>
              </a:rPr>
              <a:t>   FTP_PASS=</a:t>
            </a:r>
            <a:r>
              <a:rPr lang="en-US" sz="1800" dirty="0">
                <a:solidFill>
                  <a:srgbClr val="CC3300"/>
                </a:solidFill>
              </a:rPr>
              <a:t>"geheim"</a:t>
            </a:r>
          </a:p>
          <a:p>
            <a:pPr marL="274320" lvl="2" indent="0">
              <a:spcBef>
                <a:spcPts val="400"/>
              </a:spcBef>
              <a:buNone/>
            </a:pPr>
            <a:r>
              <a:rPr lang="en-US" sz="1800" dirty="0">
                <a:solidFill>
                  <a:srgbClr val="0070C0"/>
                </a:solidFill>
              </a:rPr>
              <a:t>REF_FILE=</a:t>
            </a:r>
            <a:r>
              <a:rPr lang="en-US" sz="1800" dirty="0">
                <a:solidFill>
                  <a:srgbClr val="CC3300"/>
                </a:solidFill>
              </a:rPr>
              <a:t>"/tmp/watchdog_ref"</a:t>
            </a:r>
          </a:p>
          <a:p>
            <a:pPr marL="274320" lvl="2" indent="0">
              <a:spcBef>
                <a:spcPts val="400"/>
              </a:spcBef>
              <a:buNone/>
            </a:pPr>
            <a:r>
              <a:rPr lang="en-US" sz="1800" dirty="0">
                <a:solidFill>
                  <a:srgbClr val="0070C0"/>
                </a:solidFill>
              </a:rPr>
              <a:t>touch </a:t>
            </a:r>
            <a:r>
              <a:rPr lang="en-US" sz="1800" dirty="0">
                <a:solidFill>
                  <a:srgbClr val="0070C0"/>
                </a:solidFill>
                <a:highlight>
                  <a:srgbClr val="FFFF00"/>
                </a:highlight>
              </a:rPr>
              <a:t>$REF_FILE</a:t>
            </a:r>
          </a:p>
          <a:p>
            <a:pPr marL="274320" lvl="2" indent="0">
              <a:spcBef>
                <a:spcPts val="400"/>
              </a:spcBef>
              <a:buNone/>
            </a:pPr>
            <a:r>
              <a:rPr lang="en-US" sz="1800" dirty="0">
                <a:solidFill>
                  <a:srgbClr val="FF6600"/>
                </a:solidFill>
              </a:rPr>
              <a:t>while </a:t>
            </a:r>
            <a:r>
              <a:rPr lang="en-US" sz="1800" dirty="0">
                <a:solidFill>
                  <a:srgbClr val="0070C0"/>
                </a:solidFill>
              </a:rPr>
              <a:t>true</a:t>
            </a:r>
            <a:r>
              <a:rPr lang="en-US" sz="1800" dirty="0">
                <a:solidFill>
                  <a:srgbClr val="FF6600"/>
                </a:solidFill>
              </a:rPr>
              <a:t>; do</a:t>
            </a:r>
          </a:p>
          <a:p>
            <a:pPr marL="274320" lvl="2" indent="0">
              <a:spcBef>
                <a:spcPts val="400"/>
              </a:spcBef>
              <a:buNone/>
            </a:pPr>
            <a:r>
              <a:rPr lang="en-US" sz="1800" dirty="0">
                <a:solidFill>
                  <a:srgbClr val="0070C0"/>
                </a:solidFill>
              </a:rPr>
              <a:t>  CHANGED=$(find “</a:t>
            </a:r>
            <a:r>
              <a:rPr lang="en-US" sz="1800" dirty="0">
                <a:solidFill>
                  <a:srgbClr val="0070C0"/>
                </a:solidFill>
                <a:highlight>
                  <a:srgbClr val="FFFF00"/>
                </a:highlight>
              </a:rPr>
              <a:t>$WATCH_DIR</a:t>
            </a:r>
            <a:r>
              <a:rPr lang="en-US" sz="1800" dirty="0">
                <a:solidFill>
                  <a:srgbClr val="0070C0"/>
                </a:solidFill>
              </a:rPr>
              <a:t>“ -newer “</a:t>
            </a:r>
            <a:r>
              <a:rPr lang="en-US" sz="1800" dirty="0">
                <a:solidFill>
                  <a:srgbClr val="0070C0"/>
                </a:solidFill>
                <a:highlight>
                  <a:srgbClr val="FFFF00"/>
                </a:highlight>
              </a:rPr>
              <a:t>$REF_FILE</a:t>
            </a:r>
            <a:r>
              <a:rPr lang="en-US" sz="1800" dirty="0">
                <a:solidFill>
                  <a:srgbClr val="0070C0"/>
                </a:solidFill>
              </a:rPr>
              <a:t>“ -type f)</a:t>
            </a:r>
          </a:p>
          <a:p>
            <a:pPr marL="274320" lvl="2" indent="0">
              <a:spcBef>
                <a:spcPts val="400"/>
              </a:spcBef>
              <a:buNone/>
            </a:pPr>
            <a:r>
              <a:rPr lang="en-US" sz="1800" dirty="0">
                <a:solidFill>
                  <a:srgbClr val="FF6600"/>
                </a:solidFill>
              </a:rPr>
              <a:t>  for </a:t>
            </a:r>
            <a:r>
              <a:rPr lang="en-US" sz="1800" dirty="0">
                <a:solidFill>
                  <a:srgbClr val="0070C0"/>
                </a:solidFill>
              </a:rPr>
              <a:t>FILE </a:t>
            </a:r>
            <a:r>
              <a:rPr lang="en-US" sz="1800" dirty="0">
                <a:solidFill>
                  <a:srgbClr val="FF6600"/>
                </a:solidFill>
              </a:rPr>
              <a:t>in </a:t>
            </a:r>
            <a:r>
              <a:rPr lang="en-US" sz="1800" dirty="0">
                <a:solidFill>
                  <a:srgbClr val="0070C0"/>
                </a:solidFill>
              </a:rPr>
              <a:t>$CHANGED</a:t>
            </a:r>
            <a:r>
              <a:rPr lang="en-US" sz="1800" dirty="0">
                <a:solidFill>
                  <a:srgbClr val="FF6600"/>
                </a:solidFill>
              </a:rPr>
              <a:t>; do</a:t>
            </a:r>
          </a:p>
          <a:p>
            <a:pPr marL="274320" lvl="2" indent="0">
              <a:spcBef>
                <a:spcPts val="400"/>
              </a:spcBef>
              <a:buNone/>
            </a:pPr>
            <a:r>
              <a:rPr lang="en-US" sz="1800" dirty="0">
                <a:solidFill>
                  <a:srgbClr val="0070C0"/>
                </a:solidFill>
              </a:rPr>
              <a:t>    echo "Sende: $FILE"</a:t>
            </a:r>
          </a:p>
          <a:p>
            <a:pPr marL="274320" lvl="2" indent="0">
              <a:spcBef>
                <a:spcPts val="400"/>
              </a:spcBef>
              <a:buNone/>
            </a:pPr>
            <a:r>
              <a:rPr lang="en-US" sz="1800" dirty="0">
                <a:solidFill>
                  <a:srgbClr val="0070C0"/>
                </a:solidFill>
              </a:rPr>
              <a:t>    ftp -n </a:t>
            </a:r>
            <a:r>
              <a:rPr lang="en-US" sz="1800" dirty="0">
                <a:solidFill>
                  <a:srgbClr val="0070C0"/>
                </a:solidFill>
                <a:highlight>
                  <a:srgbClr val="FFFF00"/>
                </a:highlight>
              </a:rPr>
              <a:t>$FTP_HOST</a:t>
            </a:r>
            <a:r>
              <a:rPr lang="en-US" sz="1800" dirty="0">
                <a:solidFill>
                  <a:srgbClr val="FF6600"/>
                </a:solidFill>
              </a:rPr>
              <a:t> &lt;&lt;EOF</a:t>
            </a:r>
          </a:p>
          <a:p>
            <a:pPr marL="274320" lvl="2" indent="0">
              <a:spcBef>
                <a:spcPts val="400"/>
              </a:spcBef>
              <a:buNone/>
            </a:pPr>
            <a:r>
              <a:rPr lang="en-US" sz="1800" dirty="0">
                <a:solidFill>
                  <a:srgbClr val="0070C0"/>
                </a:solidFill>
              </a:rPr>
              <a:t>    user $FTP_USER $FTP_PASS</a:t>
            </a:r>
          </a:p>
          <a:p>
            <a:pPr marL="274320" lvl="2" indent="0">
              <a:spcBef>
                <a:spcPts val="400"/>
              </a:spcBef>
              <a:buNone/>
            </a:pPr>
            <a:r>
              <a:rPr lang="en-US" sz="1800" dirty="0">
                <a:solidFill>
                  <a:srgbClr val="0070C0"/>
                </a:solidFill>
              </a:rPr>
              <a:t>    binary ; put </a:t>
            </a:r>
            <a:r>
              <a:rPr lang="en-US" sz="1800" dirty="0">
                <a:solidFill>
                  <a:srgbClr val="0070C0"/>
                </a:solidFill>
                <a:highlight>
                  <a:srgbClr val="FFFF00"/>
                </a:highlight>
              </a:rPr>
              <a:t>$FILE</a:t>
            </a:r>
            <a:r>
              <a:rPr lang="en-US" sz="1800" dirty="0">
                <a:solidFill>
                  <a:srgbClr val="0070C0"/>
                </a:solidFill>
              </a:rPr>
              <a:t> ; bye</a:t>
            </a:r>
          </a:p>
          <a:p>
            <a:pPr marL="274320" lvl="2" indent="0">
              <a:spcBef>
                <a:spcPts val="400"/>
              </a:spcBef>
              <a:buNone/>
            </a:pPr>
            <a:r>
              <a:rPr lang="en-US" sz="1800" dirty="0">
                <a:solidFill>
                  <a:srgbClr val="FF6600"/>
                </a:solidFill>
              </a:rPr>
              <a:t>EOF</a:t>
            </a:r>
          </a:p>
          <a:p>
            <a:pPr marL="274320" lvl="2" indent="0">
              <a:spcBef>
                <a:spcPts val="400"/>
              </a:spcBef>
              <a:buNone/>
            </a:pPr>
            <a:r>
              <a:rPr lang="en-US" sz="1800" dirty="0">
                <a:solidFill>
                  <a:srgbClr val="FF6600"/>
                </a:solidFill>
              </a:rPr>
              <a:t>  done</a:t>
            </a:r>
          </a:p>
          <a:p>
            <a:pPr marL="274320" lvl="2" indent="0">
              <a:spcBef>
                <a:spcPts val="400"/>
              </a:spcBef>
              <a:buNone/>
            </a:pPr>
            <a:r>
              <a:rPr lang="en-US" sz="1800" dirty="0">
                <a:solidFill>
                  <a:srgbClr val="0070C0"/>
                </a:solidFill>
              </a:rPr>
              <a:t>  touch </a:t>
            </a:r>
            <a:r>
              <a:rPr lang="en-US" sz="1800" dirty="0">
                <a:solidFill>
                  <a:srgbClr val="0070C0"/>
                </a:solidFill>
                <a:highlight>
                  <a:srgbClr val="FFFF00"/>
                </a:highlight>
              </a:rPr>
              <a:t>$REF_FILE</a:t>
            </a:r>
            <a:r>
              <a:rPr lang="en-US" sz="1800" dirty="0">
                <a:solidFill>
                  <a:srgbClr val="0070C0"/>
                </a:solidFill>
              </a:rPr>
              <a:t> ; sleep </a:t>
            </a:r>
            <a:r>
              <a:rPr lang="en-US" sz="1800" dirty="0">
                <a:solidFill>
                  <a:srgbClr val="0070C0"/>
                </a:solidFill>
                <a:highlight>
                  <a:srgbClr val="FFFF00"/>
                </a:highlight>
              </a:rPr>
              <a:t>$INTERVAL</a:t>
            </a:r>
          </a:p>
          <a:p>
            <a:pPr marL="274320" lvl="2" indent="0">
              <a:spcBef>
                <a:spcPts val="400"/>
              </a:spcBef>
              <a:buNone/>
            </a:pPr>
            <a:r>
              <a:rPr lang="en-US" sz="1800" dirty="0">
                <a:solidFill>
                  <a:srgbClr val="FF6600"/>
                </a:solidFill>
              </a:rPr>
              <a:t>done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Kommandozeilenparameter: Flexibel bleiben</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12</a:t>
            </a:fld>
            <a:endParaRPr lang="en-US" dirty="0">
              <a:solidFill>
                <a:srgbClr val="4F271C"/>
              </a:solidFill>
            </a:endParaRPr>
          </a:p>
        </p:txBody>
      </p:sp>
      <p:sp>
        <p:nvSpPr>
          <p:cNvPr id="4" name="Content Placeholder 3"/>
          <p:cNvSpPr>
            <a:spLocks noGrp="1"/>
          </p:cNvSpPr>
          <p:nvPr>
            <p:ph sz="quarter" idx="1"/>
          </p:nvPr>
        </p:nvSpPr>
        <p:spPr>
          <a:xfrm>
            <a:off x="457200" y="1219200"/>
            <a:ext cx="8363272" cy="5210196"/>
          </a:xfrm>
        </p:spPr>
        <p:txBody>
          <a:bodyPr>
            <a:normAutofit lnSpcReduction="10000"/>
          </a:bodyPr>
          <a:lstStyle/>
          <a:p>
            <a:r>
              <a:rPr lang="de-DE" sz="2300" dirty="0"/>
              <a:t>Das Skript nur für ein festes Verzeichnis oder Server</a:t>
            </a:r>
          </a:p>
          <a:p>
            <a:r>
              <a:rPr lang="de-DE" sz="2300" dirty="0"/>
              <a:t>Lösung: Werte als </a:t>
            </a:r>
            <a:r>
              <a:rPr lang="de-DE" sz="2300" dirty="0">
                <a:solidFill>
                  <a:schemeClr val="accent1"/>
                </a:solidFill>
              </a:rPr>
              <a:t>Kommandozeilenparameter</a:t>
            </a:r>
            <a:r>
              <a:rPr lang="de-DE" sz="2300" dirty="0"/>
              <a:t> übergeben</a:t>
            </a:r>
          </a:p>
          <a:p>
            <a:r>
              <a:rPr lang="de-DE" sz="2400" b="1" dirty="0"/>
              <a:t>Parameter in bash</a:t>
            </a:r>
          </a:p>
          <a:p>
            <a:pPr lvl="1"/>
            <a:r>
              <a:rPr lang="de-DE" sz="2000" dirty="0">
                <a:solidFill>
                  <a:srgbClr val="0070C0"/>
                </a:solidFill>
              </a:rPr>
              <a:t>$1</a:t>
            </a:r>
            <a:r>
              <a:rPr lang="de-DE" sz="2000" dirty="0"/>
              <a:t>, </a:t>
            </a:r>
            <a:r>
              <a:rPr lang="de-DE" sz="2000" dirty="0">
                <a:solidFill>
                  <a:srgbClr val="0070C0"/>
                </a:solidFill>
              </a:rPr>
              <a:t>$2</a:t>
            </a:r>
            <a:r>
              <a:rPr lang="de-DE" sz="2000" dirty="0"/>
              <a:t>, </a:t>
            </a:r>
            <a:r>
              <a:rPr lang="de-DE" sz="2000" dirty="0">
                <a:solidFill>
                  <a:srgbClr val="0070C0"/>
                </a:solidFill>
              </a:rPr>
              <a:t>$3</a:t>
            </a:r>
            <a:r>
              <a:rPr lang="de-DE" sz="2000" dirty="0"/>
              <a:t> usw. = die übergebenen Parameter</a:t>
            </a:r>
          </a:p>
          <a:p>
            <a:pPr lvl="1"/>
            <a:r>
              <a:rPr lang="de-DE" sz="2000" dirty="0">
                <a:solidFill>
                  <a:srgbClr val="0070C0"/>
                </a:solidFill>
              </a:rPr>
              <a:t>$0</a:t>
            </a:r>
            <a:r>
              <a:rPr lang="de-DE" sz="2000" dirty="0"/>
              <a:t> = Name des Skripts selbst</a:t>
            </a:r>
          </a:p>
          <a:p>
            <a:pPr lvl="1"/>
            <a:r>
              <a:rPr lang="de-DE" sz="2000" dirty="0">
                <a:solidFill>
                  <a:srgbClr val="0070C0"/>
                </a:solidFill>
              </a:rPr>
              <a:t>$#</a:t>
            </a:r>
            <a:r>
              <a:rPr lang="de-DE" sz="2000" dirty="0"/>
              <a:t> = Anzahl der Parameter  |  </a:t>
            </a:r>
            <a:r>
              <a:rPr lang="de-DE" sz="2000" dirty="0">
                <a:solidFill>
                  <a:srgbClr val="0070C0"/>
                </a:solidFill>
              </a:rPr>
              <a:t>"$@"</a:t>
            </a:r>
            <a:r>
              <a:rPr lang="de-DE" sz="2000" dirty="0"/>
              <a:t> = alle Parameter</a:t>
            </a:r>
          </a:p>
          <a:p>
            <a:r>
              <a:rPr lang="de-DE" sz="2400" b="1" dirty="0"/>
              <a:t>Verwendungsbeispiel</a:t>
            </a:r>
          </a:p>
          <a:p>
            <a:pPr marL="274320" lvl="2" indent="0">
              <a:spcBef>
                <a:spcPts val="400"/>
              </a:spcBef>
              <a:buNone/>
            </a:pPr>
            <a:r>
              <a:rPr lang="en-US" sz="1800" dirty="0">
                <a:solidFill>
                  <a:srgbClr val="0070C0"/>
                </a:solidFill>
              </a:rPr>
              <a:t>./watchdog_v3.sh </a:t>
            </a:r>
            <a:r>
              <a:rPr lang="en-US" sz="1800" dirty="0">
                <a:solidFill>
                  <a:srgbClr val="CC3300"/>
                </a:solidFill>
              </a:rPr>
              <a:t>/home/user/watch</a:t>
            </a:r>
            <a:r>
              <a:rPr lang="en-US" sz="1800" dirty="0"/>
              <a:t> </a:t>
            </a:r>
            <a:r>
              <a:rPr lang="en-US" sz="1800" dirty="0">
                <a:solidFill>
                  <a:srgbClr val="CC3300"/>
                </a:solidFill>
              </a:rPr>
              <a:t>server.example.com</a:t>
            </a:r>
            <a:r>
              <a:rPr lang="en-US" sz="1800" dirty="0"/>
              <a:t> </a:t>
            </a:r>
            <a:r>
              <a:rPr lang="en-US" sz="1800" dirty="0">
                <a:solidFill>
                  <a:srgbClr val="CC3300"/>
                </a:solidFill>
              </a:rPr>
              <a:t>ftpuser</a:t>
            </a:r>
            <a:r>
              <a:rPr lang="en-US" sz="1800" dirty="0"/>
              <a:t> </a:t>
            </a:r>
            <a:r>
              <a:rPr lang="en-US" sz="1800" dirty="0">
                <a:solidFill>
                  <a:srgbClr val="CC3300"/>
                </a:solidFill>
              </a:rPr>
              <a:t>geheim</a:t>
            </a:r>
            <a:r>
              <a:rPr lang="en-US" sz="1800" dirty="0"/>
              <a:t> </a:t>
            </a:r>
            <a:r>
              <a:rPr lang="en-US" sz="1800" dirty="0">
                <a:solidFill>
                  <a:srgbClr val="CC3300"/>
                </a:solidFill>
              </a:rPr>
              <a:t>30</a:t>
            </a:r>
          </a:p>
          <a:p>
            <a:pPr marL="274320" lvl="2" indent="0">
              <a:spcBef>
                <a:spcPts val="400"/>
              </a:spcBef>
              <a:buNone/>
            </a:pPr>
            <a:r>
              <a:rPr lang="en-US" sz="1800" dirty="0"/>
              <a:t>               	     </a:t>
            </a:r>
            <a:r>
              <a:rPr lang="en-US" sz="1800" dirty="0">
                <a:solidFill>
                  <a:srgbClr val="0070C0"/>
                </a:solidFill>
                <a:highlight>
                  <a:srgbClr val="00FF00"/>
                </a:highlight>
              </a:rPr>
              <a:t>$1</a:t>
            </a:r>
            <a:r>
              <a:rPr lang="en-US" sz="1800" dirty="0"/>
              <a:t>                          </a:t>
            </a:r>
            <a:r>
              <a:rPr lang="en-US" sz="1800" dirty="0">
                <a:solidFill>
                  <a:srgbClr val="0070C0"/>
                </a:solidFill>
                <a:highlight>
                  <a:srgbClr val="FFFF00"/>
                </a:highlight>
              </a:rPr>
              <a:t>$2</a:t>
            </a:r>
            <a:r>
              <a:rPr lang="en-US" sz="1800" dirty="0"/>
              <a:t>             	          </a:t>
            </a:r>
            <a:r>
              <a:rPr lang="en-US" sz="1800" dirty="0">
                <a:solidFill>
                  <a:srgbClr val="0070C0"/>
                </a:solidFill>
                <a:highlight>
                  <a:srgbClr val="00FF00"/>
                </a:highlight>
              </a:rPr>
              <a:t>$3</a:t>
            </a:r>
            <a:r>
              <a:rPr lang="en-US" sz="1800" dirty="0"/>
              <a:t>        </a:t>
            </a:r>
            <a:r>
              <a:rPr lang="en-US" sz="1800" dirty="0">
                <a:solidFill>
                  <a:srgbClr val="0070C0"/>
                </a:solidFill>
                <a:highlight>
                  <a:srgbClr val="FFFF00"/>
                </a:highlight>
              </a:rPr>
              <a:t>$4         </a:t>
            </a:r>
            <a:r>
              <a:rPr lang="en-US" sz="1800" dirty="0">
                <a:solidFill>
                  <a:srgbClr val="0070C0"/>
                </a:solidFill>
                <a:highlight>
                  <a:srgbClr val="00FF00"/>
                </a:highlight>
              </a:rPr>
              <a:t>$5</a:t>
            </a:r>
            <a:r>
              <a:rPr lang="en-US" sz="1800" dirty="0">
                <a:solidFill>
                  <a:srgbClr val="0070C0"/>
                </a:solidFill>
                <a:highlight>
                  <a:srgbClr val="FFFF00"/>
                </a:highlight>
              </a:rPr>
              <a:t>  </a:t>
            </a:r>
            <a:endParaRPr lang="en-US" sz="1800" dirty="0">
              <a:solidFill>
                <a:srgbClr val="0070C0"/>
              </a:solidFill>
              <a:highlight>
                <a:srgbClr val="00FF00"/>
              </a:highlight>
            </a:endParaRPr>
          </a:p>
          <a:p>
            <a:r>
              <a:rPr lang="de-DE" sz="2400" b="1" dirty="0"/>
              <a:t>Prüfung: Hat der Benutzer alle Parameter angegeben?</a:t>
            </a:r>
          </a:p>
          <a:p>
            <a:pPr marL="274320" lvl="2" indent="0">
              <a:spcBef>
                <a:spcPts val="400"/>
              </a:spcBef>
              <a:buNone/>
            </a:pPr>
            <a:r>
              <a:rPr lang="en-US" sz="1800" dirty="0">
                <a:solidFill>
                  <a:srgbClr val="FF6600"/>
                </a:solidFill>
              </a:rPr>
              <a:t>if </a:t>
            </a:r>
            <a:r>
              <a:rPr lang="en-US" sz="1800" dirty="0">
                <a:solidFill>
                  <a:srgbClr val="0070C0"/>
                </a:solidFill>
              </a:rPr>
              <a:t>[ $# -ne 5 ]</a:t>
            </a:r>
            <a:r>
              <a:rPr lang="en-US" sz="1800" dirty="0">
                <a:solidFill>
                  <a:srgbClr val="FF6600"/>
                </a:solidFill>
              </a:rPr>
              <a:t>; then</a:t>
            </a:r>
          </a:p>
          <a:p>
            <a:pPr marL="274320" lvl="2" indent="0">
              <a:spcBef>
                <a:spcPts val="400"/>
              </a:spcBef>
              <a:buNone/>
            </a:pPr>
            <a:r>
              <a:rPr lang="en-US" sz="1800" dirty="0">
                <a:solidFill>
                  <a:srgbClr val="0070C0"/>
                </a:solidFill>
              </a:rPr>
              <a:t>  echo "Aufruf: $0 DIR HOST USER PASS INTERVAL"</a:t>
            </a:r>
          </a:p>
          <a:p>
            <a:pPr marL="274320" lvl="2" indent="0">
              <a:spcBef>
                <a:spcPts val="400"/>
              </a:spcBef>
              <a:buNone/>
            </a:pPr>
            <a:r>
              <a:rPr lang="en-US" sz="1800" dirty="0">
                <a:solidFill>
                  <a:srgbClr val="0070C0"/>
                </a:solidFill>
              </a:rPr>
              <a:t>  exit </a:t>
            </a:r>
            <a:r>
              <a:rPr lang="en-US" sz="1800" dirty="0">
                <a:solidFill>
                  <a:srgbClr val="CC3300"/>
                </a:solidFill>
              </a:rPr>
              <a:t>1</a:t>
            </a:r>
            <a:r>
              <a:rPr lang="en-US" sz="1800" dirty="0"/>
              <a:t>   </a:t>
            </a:r>
            <a:r>
              <a:rPr lang="en-US" sz="1800" dirty="0">
                <a:solidFill>
                  <a:srgbClr val="007700"/>
                </a:solidFill>
              </a:rPr>
              <a:t># Fehlercode 1 = falscher Aufruf</a:t>
            </a:r>
          </a:p>
          <a:p>
            <a:pPr marL="274320" lvl="2" indent="0">
              <a:spcBef>
                <a:spcPts val="400"/>
              </a:spcBef>
              <a:buNone/>
            </a:pPr>
            <a:r>
              <a:rPr lang="en-US" sz="1800" dirty="0">
                <a:solidFill>
                  <a:srgbClr val="FF6600"/>
                </a:solidFill>
              </a:rPr>
              <a:t>fi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Version 3: watchdog_v3.sh (vollständig)</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F271C"/>
                </a:solidFill>
              </a:rPr>
              <a:pPr/>
              <a:t>13</a:t>
            </a:fld>
            <a:endParaRPr lang="en-US" dirty="0">
              <a:solidFill>
                <a:srgbClr val="4F271C"/>
              </a:solidFill>
            </a:endParaRPr>
          </a:p>
        </p:txBody>
      </p:sp>
      <p:sp>
        <p:nvSpPr>
          <p:cNvPr id="4" name="Content Placeholder 3"/>
          <p:cNvSpPr>
            <a:spLocks noGrp="1"/>
          </p:cNvSpPr>
          <p:nvPr>
            <p:ph sz="quarter" idx="1"/>
          </p:nvPr>
        </p:nvSpPr>
        <p:spPr>
          <a:xfrm>
            <a:off x="457200" y="1219200"/>
            <a:ext cx="8363272" cy="5594176"/>
          </a:xfrm>
        </p:spPr>
        <p:txBody>
          <a:bodyPr>
            <a:normAutofit fontScale="92500" lnSpcReduction="10000"/>
          </a:bodyPr>
          <a:lstStyle/>
          <a:p>
            <a:r>
              <a:rPr lang="de-DE" sz="2400" b="1" dirty="0"/>
              <a:t>Version 3: watchdog_v3.sh – alles parametrisierbar:</a:t>
            </a:r>
            <a:endParaRPr lang="de-DE" sz="2400" dirty="0"/>
          </a:p>
          <a:p>
            <a:pPr marL="274320" lvl="2" indent="0">
              <a:spcBef>
                <a:spcPts val="400"/>
              </a:spcBef>
              <a:buNone/>
            </a:pPr>
            <a:r>
              <a:rPr lang="en-US" sz="1800" dirty="0">
                <a:solidFill>
                  <a:srgbClr val="007700"/>
                </a:solidFill>
              </a:rPr>
              <a:t>#!/bin/bash   # Aufruf: ./watchdog_v3.sh DIR HOST USER PASS INTERVAL</a:t>
            </a:r>
          </a:p>
          <a:p>
            <a:pPr marL="274320" lvl="2" indent="0">
              <a:spcBef>
                <a:spcPts val="400"/>
              </a:spcBef>
              <a:buNone/>
            </a:pPr>
            <a:r>
              <a:rPr lang="en-US" sz="1800" dirty="0">
                <a:solidFill>
                  <a:srgbClr val="FF6600"/>
                </a:solidFill>
              </a:rPr>
              <a:t>if </a:t>
            </a:r>
            <a:r>
              <a:rPr lang="en-US" sz="1800" dirty="0">
                <a:solidFill>
                  <a:srgbClr val="0070C0"/>
                </a:solidFill>
              </a:rPr>
              <a:t>[ $# -ne 5 ]</a:t>
            </a:r>
            <a:r>
              <a:rPr lang="en-US" sz="1800" dirty="0">
                <a:solidFill>
                  <a:srgbClr val="FF6600"/>
                </a:solidFill>
              </a:rPr>
              <a:t>; then</a:t>
            </a:r>
          </a:p>
          <a:p>
            <a:pPr marL="274320" lvl="2" indent="0">
              <a:spcBef>
                <a:spcPts val="400"/>
              </a:spcBef>
              <a:buNone/>
            </a:pPr>
            <a:r>
              <a:rPr lang="en-US" sz="1800" dirty="0">
                <a:solidFill>
                  <a:srgbClr val="0070C0"/>
                </a:solidFill>
              </a:rPr>
              <a:t>  echo "Aufruf: $0 </a:t>
            </a:r>
            <a:r>
              <a:rPr lang="en-US" sz="1800" dirty="0">
                <a:solidFill>
                  <a:srgbClr val="CC3300"/>
                </a:solidFill>
              </a:rPr>
              <a:t>DIR HOST USER PASS INTERVAL</a:t>
            </a:r>
            <a:r>
              <a:rPr lang="en-US" sz="1800" dirty="0">
                <a:solidFill>
                  <a:srgbClr val="0070C0"/>
                </a:solidFill>
              </a:rPr>
              <a:t>"; exit 1</a:t>
            </a:r>
          </a:p>
          <a:p>
            <a:pPr marL="274320" lvl="2" indent="0">
              <a:spcBef>
                <a:spcPts val="400"/>
              </a:spcBef>
              <a:buNone/>
            </a:pPr>
            <a:r>
              <a:rPr lang="en-US" sz="1800" dirty="0">
                <a:solidFill>
                  <a:srgbClr val="FF6600"/>
                </a:solidFill>
              </a:rPr>
              <a:t>fi</a:t>
            </a:r>
          </a:p>
          <a:p>
            <a:pPr marL="274320" lvl="2" indent="0">
              <a:spcBef>
                <a:spcPts val="400"/>
              </a:spcBef>
              <a:buNone/>
            </a:pPr>
            <a:r>
              <a:rPr lang="en-US" sz="1800" dirty="0">
                <a:solidFill>
                  <a:srgbClr val="0070C0"/>
                </a:solidFill>
              </a:rPr>
              <a:t>WATCH_DIR=</a:t>
            </a:r>
            <a:r>
              <a:rPr lang="en-US" sz="1800" dirty="0">
                <a:solidFill>
                  <a:srgbClr val="0070C0"/>
                </a:solidFill>
                <a:highlight>
                  <a:srgbClr val="00FF00"/>
                </a:highlight>
              </a:rPr>
              <a:t>$1</a:t>
            </a:r>
            <a:r>
              <a:rPr lang="en-US" sz="1800" dirty="0">
                <a:solidFill>
                  <a:srgbClr val="0070C0"/>
                </a:solidFill>
              </a:rPr>
              <a:t>  FTP_HOST=</a:t>
            </a:r>
            <a:r>
              <a:rPr lang="en-US" sz="1800" dirty="0">
                <a:solidFill>
                  <a:srgbClr val="0070C0"/>
                </a:solidFill>
                <a:highlight>
                  <a:srgbClr val="C0C0C0"/>
                </a:highlight>
              </a:rPr>
              <a:t>$2</a:t>
            </a:r>
          </a:p>
          <a:p>
            <a:pPr marL="274320" lvl="2" indent="0">
              <a:spcBef>
                <a:spcPts val="400"/>
              </a:spcBef>
              <a:buNone/>
            </a:pPr>
            <a:r>
              <a:rPr lang="en-US" sz="1800" dirty="0">
                <a:solidFill>
                  <a:srgbClr val="0070C0"/>
                </a:solidFill>
              </a:rPr>
              <a:t>FTP_USER=</a:t>
            </a:r>
            <a:r>
              <a:rPr lang="en-US" sz="1800" dirty="0">
                <a:solidFill>
                  <a:srgbClr val="0070C0"/>
                </a:solidFill>
                <a:highlight>
                  <a:srgbClr val="00FF00"/>
                </a:highlight>
              </a:rPr>
              <a:t>$3</a:t>
            </a:r>
            <a:r>
              <a:rPr lang="en-US" sz="1800" dirty="0">
                <a:solidFill>
                  <a:srgbClr val="0070C0"/>
                </a:solidFill>
              </a:rPr>
              <a:t>  FTP_PASS=</a:t>
            </a:r>
            <a:r>
              <a:rPr lang="en-US" sz="1800" dirty="0">
                <a:solidFill>
                  <a:srgbClr val="0070C0"/>
                </a:solidFill>
                <a:highlight>
                  <a:srgbClr val="C0C0C0"/>
                </a:highlight>
              </a:rPr>
              <a:t>$4</a:t>
            </a:r>
            <a:r>
              <a:rPr lang="en-US" sz="1800" dirty="0">
                <a:solidFill>
                  <a:srgbClr val="0070C0"/>
                </a:solidFill>
              </a:rPr>
              <a:t>  INTERVAL=</a:t>
            </a:r>
            <a:r>
              <a:rPr lang="en-US" sz="1800" dirty="0">
                <a:solidFill>
                  <a:srgbClr val="0070C0"/>
                </a:solidFill>
                <a:highlight>
                  <a:srgbClr val="00FF00"/>
                </a:highlight>
              </a:rPr>
              <a:t>$5</a:t>
            </a:r>
          </a:p>
          <a:p>
            <a:pPr marL="274320" lvl="2" indent="0">
              <a:spcBef>
                <a:spcPts val="400"/>
              </a:spcBef>
              <a:buNone/>
            </a:pPr>
            <a:r>
              <a:rPr lang="en-US" sz="1800" dirty="0">
                <a:solidFill>
                  <a:srgbClr val="0070C0"/>
                </a:solidFill>
              </a:rPr>
              <a:t>REF_FILE=</a:t>
            </a:r>
            <a:r>
              <a:rPr lang="en-US" sz="1800" dirty="0">
                <a:solidFill>
                  <a:srgbClr val="CC3300"/>
                </a:solidFill>
              </a:rPr>
              <a:t>"/tmp/watchdog_ref"</a:t>
            </a:r>
          </a:p>
          <a:p>
            <a:pPr marL="274320" lvl="2" indent="0">
              <a:spcBef>
                <a:spcPts val="400"/>
              </a:spcBef>
              <a:buNone/>
            </a:pPr>
            <a:r>
              <a:rPr lang="en-US" sz="1800" dirty="0">
                <a:solidFill>
                  <a:srgbClr val="0070C0"/>
                </a:solidFill>
              </a:rPr>
              <a:t>touch </a:t>
            </a:r>
            <a:r>
              <a:rPr lang="en-US" sz="1800" dirty="0">
                <a:solidFill>
                  <a:srgbClr val="0070C0"/>
                </a:solidFill>
                <a:highlight>
                  <a:srgbClr val="FFFF00"/>
                </a:highlight>
              </a:rPr>
              <a:t>$REF_FILE</a:t>
            </a:r>
          </a:p>
          <a:p>
            <a:pPr marL="274320" lvl="2" indent="0">
              <a:spcBef>
                <a:spcPts val="400"/>
              </a:spcBef>
              <a:buNone/>
            </a:pPr>
            <a:r>
              <a:rPr lang="en-US" sz="1800" dirty="0">
                <a:solidFill>
                  <a:srgbClr val="FF6600"/>
                </a:solidFill>
              </a:rPr>
              <a:t>while </a:t>
            </a:r>
            <a:r>
              <a:rPr lang="en-US" sz="1800" dirty="0">
                <a:solidFill>
                  <a:srgbClr val="0070C0"/>
                </a:solidFill>
              </a:rPr>
              <a:t>true</a:t>
            </a:r>
            <a:r>
              <a:rPr lang="en-US" sz="1800" dirty="0">
                <a:solidFill>
                  <a:srgbClr val="FF6600"/>
                </a:solidFill>
              </a:rPr>
              <a:t>; do</a:t>
            </a:r>
          </a:p>
          <a:p>
            <a:pPr marL="274320" lvl="2" indent="0">
              <a:spcBef>
                <a:spcPts val="400"/>
              </a:spcBef>
              <a:buNone/>
            </a:pPr>
            <a:r>
              <a:rPr lang="en-US" sz="1800" dirty="0">
                <a:solidFill>
                  <a:srgbClr val="0070C0"/>
                </a:solidFill>
              </a:rPr>
              <a:t>  CHANGED=$(find “</a:t>
            </a:r>
            <a:r>
              <a:rPr lang="en-US" sz="1800" dirty="0">
                <a:solidFill>
                  <a:srgbClr val="0070C0"/>
                </a:solidFill>
                <a:highlight>
                  <a:srgbClr val="FFFF00"/>
                </a:highlight>
              </a:rPr>
              <a:t>$WATCH_DIR”</a:t>
            </a:r>
            <a:r>
              <a:rPr lang="en-US" sz="1800" dirty="0">
                <a:solidFill>
                  <a:srgbClr val="0070C0"/>
                </a:solidFill>
              </a:rPr>
              <a:t> -newer “</a:t>
            </a:r>
            <a:r>
              <a:rPr lang="en-US" sz="1800" dirty="0">
                <a:solidFill>
                  <a:srgbClr val="0070C0"/>
                </a:solidFill>
                <a:highlight>
                  <a:srgbClr val="FFFF00"/>
                </a:highlight>
              </a:rPr>
              <a:t>$REF_FILE</a:t>
            </a:r>
            <a:r>
              <a:rPr lang="en-US" sz="1800" dirty="0">
                <a:solidFill>
                  <a:srgbClr val="0070C0"/>
                </a:solidFill>
              </a:rPr>
              <a:t>“ -type f)</a:t>
            </a:r>
          </a:p>
          <a:p>
            <a:pPr marL="274320" lvl="2" indent="0">
              <a:spcBef>
                <a:spcPts val="400"/>
              </a:spcBef>
              <a:buNone/>
            </a:pPr>
            <a:r>
              <a:rPr lang="en-US" sz="1800" dirty="0">
                <a:solidFill>
                  <a:srgbClr val="FF6600"/>
                </a:solidFill>
              </a:rPr>
              <a:t>  for </a:t>
            </a:r>
            <a:r>
              <a:rPr lang="en-US" sz="1800" dirty="0">
                <a:solidFill>
                  <a:srgbClr val="0070C0"/>
                </a:solidFill>
              </a:rPr>
              <a:t>FILE </a:t>
            </a:r>
            <a:r>
              <a:rPr lang="en-US" sz="1800" dirty="0">
                <a:solidFill>
                  <a:srgbClr val="FF6600"/>
                </a:solidFill>
              </a:rPr>
              <a:t>in </a:t>
            </a:r>
            <a:r>
              <a:rPr lang="en-US" sz="1800" dirty="0">
                <a:solidFill>
                  <a:srgbClr val="0070C0"/>
                </a:solidFill>
              </a:rPr>
              <a:t>$CHANGED</a:t>
            </a:r>
            <a:r>
              <a:rPr lang="en-US" sz="1800" dirty="0">
                <a:solidFill>
                  <a:srgbClr val="FF6600"/>
                </a:solidFill>
              </a:rPr>
              <a:t>; do</a:t>
            </a:r>
          </a:p>
          <a:p>
            <a:pPr marL="274320" lvl="2" indent="0">
              <a:spcBef>
                <a:spcPts val="400"/>
              </a:spcBef>
              <a:buNone/>
            </a:pPr>
            <a:r>
              <a:rPr lang="en-US" sz="1800" dirty="0">
                <a:solidFill>
                  <a:srgbClr val="0070C0"/>
                </a:solidFill>
              </a:rPr>
              <a:t>    ftp -n </a:t>
            </a:r>
            <a:r>
              <a:rPr lang="en-US" sz="1800" dirty="0">
                <a:solidFill>
                  <a:srgbClr val="0070C0"/>
                </a:solidFill>
                <a:highlight>
                  <a:srgbClr val="FFFF00"/>
                </a:highlight>
              </a:rPr>
              <a:t>$FTP_HOST</a:t>
            </a:r>
            <a:r>
              <a:rPr lang="en-US" sz="1800" dirty="0">
                <a:solidFill>
                  <a:srgbClr val="FF6600"/>
                </a:solidFill>
              </a:rPr>
              <a:t> &lt;&lt;EOF</a:t>
            </a:r>
          </a:p>
          <a:p>
            <a:pPr marL="274320" lvl="2" indent="0">
              <a:spcBef>
                <a:spcPts val="400"/>
              </a:spcBef>
              <a:buNone/>
            </a:pPr>
            <a:r>
              <a:rPr lang="en-US" sz="1800" dirty="0">
                <a:solidFill>
                  <a:srgbClr val="0070C0"/>
                </a:solidFill>
              </a:rPr>
              <a:t>    user $FTP_USER $FTP_PASS</a:t>
            </a:r>
          </a:p>
          <a:p>
            <a:pPr marL="274320" lvl="2" indent="0">
              <a:spcBef>
                <a:spcPts val="400"/>
              </a:spcBef>
              <a:buNone/>
            </a:pPr>
            <a:r>
              <a:rPr lang="en-US" sz="1800" dirty="0">
                <a:solidFill>
                  <a:srgbClr val="0070C0"/>
                </a:solidFill>
              </a:rPr>
              <a:t>    binary ; put </a:t>
            </a:r>
            <a:r>
              <a:rPr lang="en-US" sz="1800" dirty="0">
                <a:solidFill>
                  <a:srgbClr val="0070C0"/>
                </a:solidFill>
                <a:highlight>
                  <a:srgbClr val="FFFF00"/>
                </a:highlight>
              </a:rPr>
              <a:t>$FILE</a:t>
            </a:r>
            <a:r>
              <a:rPr lang="en-US" sz="1800" dirty="0">
                <a:solidFill>
                  <a:srgbClr val="0070C0"/>
                </a:solidFill>
              </a:rPr>
              <a:t> ; bye</a:t>
            </a:r>
          </a:p>
          <a:p>
            <a:pPr marL="274320" lvl="2" indent="0">
              <a:spcBef>
                <a:spcPts val="400"/>
              </a:spcBef>
              <a:buNone/>
            </a:pPr>
            <a:r>
              <a:rPr lang="en-US" sz="1800" dirty="0">
                <a:solidFill>
                  <a:srgbClr val="FF6600"/>
                </a:solidFill>
              </a:rPr>
              <a:t>EOF</a:t>
            </a:r>
          </a:p>
          <a:p>
            <a:pPr marL="274320" lvl="2" indent="0">
              <a:spcBef>
                <a:spcPts val="400"/>
              </a:spcBef>
              <a:buNone/>
            </a:pPr>
            <a:r>
              <a:rPr lang="en-US" sz="1800" dirty="0">
                <a:solidFill>
                  <a:srgbClr val="FF6600"/>
                </a:solidFill>
              </a:rPr>
              <a:t>  done</a:t>
            </a:r>
          </a:p>
          <a:p>
            <a:pPr marL="274320" lvl="2" indent="0">
              <a:spcBef>
                <a:spcPts val="400"/>
              </a:spcBef>
              <a:buNone/>
            </a:pPr>
            <a:r>
              <a:rPr lang="en-US" sz="1800" dirty="0">
                <a:solidFill>
                  <a:srgbClr val="0070C0"/>
                </a:solidFill>
              </a:rPr>
              <a:t>  touch </a:t>
            </a:r>
            <a:r>
              <a:rPr lang="en-US" sz="1800" dirty="0">
                <a:solidFill>
                  <a:srgbClr val="0070C0"/>
                </a:solidFill>
                <a:highlight>
                  <a:srgbClr val="FFFF00"/>
                </a:highlight>
              </a:rPr>
              <a:t>$REF_FILE</a:t>
            </a:r>
            <a:r>
              <a:rPr lang="en-US" sz="1800" dirty="0">
                <a:solidFill>
                  <a:srgbClr val="0070C0"/>
                </a:solidFill>
              </a:rPr>
              <a:t> ; sleep </a:t>
            </a:r>
            <a:r>
              <a:rPr lang="en-US" sz="1800" dirty="0">
                <a:solidFill>
                  <a:srgbClr val="0070C0"/>
                </a:solidFill>
                <a:highlight>
                  <a:srgbClr val="FFFF00"/>
                </a:highlight>
              </a:rPr>
              <a:t>$INTERVAL</a:t>
            </a:r>
          </a:p>
          <a:p>
            <a:pPr marL="274320" lvl="2" indent="0">
              <a:spcBef>
                <a:spcPts val="400"/>
              </a:spcBef>
              <a:buNone/>
            </a:pPr>
            <a:r>
              <a:rPr lang="en-US" sz="1800" dirty="0">
                <a:solidFill>
                  <a:srgbClr val="FF6600"/>
                </a:solidFill>
              </a:rPr>
              <a:t>done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solidFill>
                  <a:srgbClr val="424456"/>
                </a:solidFill>
              </a:rPr>
              <a:pPr/>
              <a:t>14</a:t>
            </a:fld>
            <a:endParaRPr lang="de-DE">
              <a:solidFill>
                <a:srgbClr val="424456"/>
              </a:solidFill>
            </a:endParaRPr>
          </a:p>
        </p:txBody>
      </p:sp>
      <p:sp>
        <p:nvSpPr>
          <p:cNvPr id="3" name="Titel 2"/>
          <p:cNvSpPr>
            <a:spLocks noGrp="1"/>
          </p:cNvSpPr>
          <p:nvPr>
            <p:ph type="title"/>
          </p:nvPr>
        </p:nvSpPr>
        <p:spPr/>
        <p:txBody>
          <a:bodyPr/>
          <a:lstStyle/>
          <a:p>
            <a:r>
              <a:rPr lang="de-DE" dirty="0"/>
              <a:t>Windows APIs</a:t>
            </a:r>
            <a:br>
              <a:rPr lang="de-DE" dirty="0"/>
            </a:br>
            <a:r>
              <a:rPr lang="de-DE" dirty="0"/>
              <a:t>und Windows </a:t>
            </a:r>
            <a:br>
              <a:rPr lang="de-DE" dirty="0"/>
            </a:br>
            <a:r>
              <a:rPr lang="de-DE" dirty="0"/>
              <a:t>Subsysteme</a:t>
            </a:r>
            <a:endParaRPr lang="de-DE" dirty="0">
              <a:solidFill>
                <a:srgbClr val="0070C0"/>
              </a:solidFill>
            </a:endParaRPr>
          </a:p>
        </p:txBody>
      </p:sp>
    </p:spTree>
    <p:extLst>
      <p:ext uri="{BB962C8B-B14F-4D97-AF65-F5344CB8AC3E}">
        <p14:creationId xmlns:p14="http://schemas.microsoft.com/office/powerpoint/2010/main" val="1467942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Win32 API</a:t>
            </a:r>
          </a:p>
        </p:txBody>
      </p:sp>
      <p:sp>
        <p:nvSpPr>
          <p:cNvPr id="3" name="Inhaltsplatzhalter 2"/>
          <p:cNvSpPr>
            <a:spLocks noGrp="1"/>
          </p:cNvSpPr>
          <p:nvPr>
            <p:ph sz="quarter" idx="1"/>
          </p:nvPr>
        </p:nvSpPr>
        <p:spPr>
          <a:xfrm>
            <a:off x="457200" y="1219200"/>
            <a:ext cx="8435280" cy="5210196"/>
          </a:xfrm>
        </p:spPr>
        <p:txBody>
          <a:bodyPr>
            <a:normAutofit/>
          </a:bodyPr>
          <a:lstStyle/>
          <a:p>
            <a:r>
              <a:rPr lang="de-DE" dirty="0"/>
              <a:t>In Windows gibt es drei Subsysteme</a:t>
            </a:r>
            <a:r>
              <a:rPr lang="de-DE" b="1" dirty="0">
                <a:solidFill>
                  <a:srgbClr val="FF0000"/>
                </a:solidFill>
              </a:rPr>
              <a:t> </a:t>
            </a:r>
            <a:r>
              <a:rPr lang="de-DE" dirty="0"/>
              <a:t>(= Mengen von Systemaufrufen):</a:t>
            </a:r>
            <a:r>
              <a:rPr lang="de-DE" b="1" dirty="0">
                <a:solidFill>
                  <a:srgbClr val="FF0000"/>
                </a:solidFill>
              </a:rPr>
              <a:t> </a:t>
            </a:r>
            <a:r>
              <a:rPr lang="de-DE" b="1" dirty="0">
                <a:solidFill>
                  <a:srgbClr val="0070C0"/>
                </a:solidFill>
              </a:rPr>
              <a:t>Win32</a:t>
            </a:r>
            <a:r>
              <a:rPr lang="de-DE" dirty="0"/>
              <a:t>, POSIX und OS/2</a:t>
            </a:r>
          </a:p>
          <a:p>
            <a:r>
              <a:rPr lang="de-DE" dirty="0"/>
              <a:t>Es ist nicht ganz klar, woraus sich Win32 API wirklich zusammensetzt</a:t>
            </a:r>
          </a:p>
          <a:p>
            <a:r>
              <a:rPr lang="de-DE" dirty="0"/>
              <a:t>Die Anzahl der Funktionen ist sehr groß - Tausende</a:t>
            </a:r>
          </a:p>
          <a:p>
            <a:pPr lvl="1"/>
            <a:r>
              <a:rPr lang="de-DE"/>
              <a:t>Da mit Windows 2000, XP und Vista viele neue Systemaufrufe eingeführt wurden</a:t>
            </a:r>
          </a:p>
          <a:p>
            <a:pPr lvl="1"/>
            <a:r>
              <a:rPr lang="de-DE" dirty="0"/>
              <a:t>Riesige Anzahl der Funktionen zum Verwalten von Fenstern, Text, Schriftarten, </a:t>
            </a:r>
            <a:r>
              <a:rPr lang="de-DE" dirty="0" err="1"/>
              <a:t>Scrollbalken</a:t>
            </a:r>
            <a:r>
              <a:rPr lang="de-DE" dirty="0"/>
              <a:t>, Dialogboxen, Menüs und sonstigen GUI-Elementen</a:t>
            </a:r>
            <a:endParaRPr lang="de-DE" i="1" dirty="0"/>
          </a:p>
          <a:p>
            <a:r>
              <a:rPr lang="de-DE" dirty="0"/>
              <a:t>Viele laufen vollständig im </a:t>
            </a:r>
            <a:r>
              <a:rPr lang="de-DE" b="1" dirty="0">
                <a:solidFill>
                  <a:srgbClr val="FF0000"/>
                </a:solidFill>
              </a:rPr>
              <a:t>Benutzermodus</a:t>
            </a:r>
            <a:endParaRPr lang="de-DE" dirty="0"/>
          </a:p>
          <a:p>
            <a:pPr lvl="1"/>
            <a:r>
              <a:rPr lang="de-DE" dirty="0"/>
              <a:t>Unklar, welche davon „echte“ Systemaufrufe sind</a:t>
            </a:r>
          </a:p>
        </p:txBody>
      </p:sp>
      <p:sp>
        <p:nvSpPr>
          <p:cNvPr id="4" name="Foliennummernplatzhalter 3"/>
          <p:cNvSpPr>
            <a:spLocks noGrp="1"/>
          </p:cNvSpPr>
          <p:nvPr>
            <p:ph type="sldNum" sz="quarter" idx="12"/>
          </p:nvPr>
        </p:nvSpPr>
        <p:spPr/>
        <p:txBody>
          <a:bodyPr/>
          <a:lstStyle/>
          <a:p>
            <a:fld id="{7183533A-8A50-4A1F-BEA9-C8C6956451EB}" type="slidenum">
              <a:rPr lang="en-US" smtClean="0">
                <a:solidFill>
                  <a:srgbClr val="424456"/>
                </a:solidFill>
              </a:rPr>
              <a:pPr/>
              <a:t>15</a:t>
            </a:fld>
            <a:endParaRPr lang="en-US" dirty="0">
              <a:solidFill>
                <a:srgbClr val="424456"/>
              </a:solidFill>
            </a:endParaRPr>
          </a:p>
        </p:txBody>
      </p:sp>
    </p:spTree>
    <p:extLst>
      <p:ext uri="{BB962C8B-B14F-4D97-AF65-F5344CB8AC3E}">
        <p14:creationId xmlns:p14="http://schemas.microsoft.com/office/powerpoint/2010/main" val="1410077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Systemaufrufe in Windows: Beispiel</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16</a:t>
            </a:fld>
            <a:endParaRPr lang="en-US" dirty="0">
              <a:solidFill>
                <a:srgbClr val="424456"/>
              </a:solidFill>
            </a:endParaRPr>
          </a:p>
        </p:txBody>
      </p:sp>
      <p:sp>
        <p:nvSpPr>
          <p:cNvPr id="4" name="Inhaltsplatzhalter 3"/>
          <p:cNvSpPr>
            <a:spLocks noGrp="1"/>
          </p:cNvSpPr>
          <p:nvPr>
            <p:ph sz="quarter" idx="1"/>
          </p:nvPr>
        </p:nvSpPr>
        <p:spPr/>
        <p:txBody>
          <a:bodyPr>
            <a:normAutofit/>
          </a:bodyPr>
          <a:lstStyle/>
          <a:p>
            <a:r>
              <a:rPr lang="de-DE" b="1" dirty="0" err="1"/>
              <a:t>Bspl</a:t>
            </a:r>
            <a:r>
              <a:rPr lang="de-DE" b="1" dirty="0"/>
              <a:t>.</a:t>
            </a:r>
            <a:r>
              <a:rPr lang="de-DE" dirty="0"/>
              <a:t>: Auflisten aller Dateien eines Verzeichnisses</a:t>
            </a:r>
          </a:p>
          <a:p>
            <a:r>
              <a:rPr lang="de-DE" dirty="0"/>
              <a:t>Der Prozess (= Programm in der Ausführung) braucht mehrere </a:t>
            </a:r>
            <a:r>
              <a:rPr lang="de-DE" b="1" dirty="0">
                <a:solidFill>
                  <a:srgbClr val="FF0000"/>
                </a:solidFill>
              </a:rPr>
              <a:t>DLL</a:t>
            </a:r>
            <a:r>
              <a:rPr lang="de-DE" dirty="0"/>
              <a:t>s = </a:t>
            </a:r>
            <a:r>
              <a:rPr lang="de-DE" b="1" dirty="0">
                <a:solidFill>
                  <a:srgbClr val="FF0000"/>
                </a:solidFill>
              </a:rPr>
              <a:t>Dynamic Load Libraries</a:t>
            </a:r>
          </a:p>
          <a:p>
            <a:pPr lvl="1"/>
            <a:r>
              <a:rPr lang="de-DE" dirty="0"/>
              <a:t>U.a. </a:t>
            </a:r>
            <a:r>
              <a:rPr lang="de-DE" b="1" dirty="0">
                <a:solidFill>
                  <a:srgbClr val="FF0000"/>
                </a:solidFill>
              </a:rPr>
              <a:t>Kernl32.dll</a:t>
            </a:r>
            <a:r>
              <a:rPr lang="de-DE" dirty="0"/>
              <a:t>, </a:t>
            </a:r>
            <a:r>
              <a:rPr lang="de-DE" b="1" dirty="0">
                <a:solidFill>
                  <a:srgbClr val="FF0000"/>
                </a:solidFill>
              </a:rPr>
              <a:t>User32.dll</a:t>
            </a:r>
            <a:r>
              <a:rPr lang="de-DE" dirty="0"/>
              <a:t>, </a:t>
            </a:r>
            <a:r>
              <a:rPr lang="de-DE" b="1" dirty="0">
                <a:solidFill>
                  <a:srgbClr val="FF0000"/>
                </a:solidFill>
              </a:rPr>
              <a:t>Gdi32.dll </a:t>
            </a:r>
            <a:r>
              <a:rPr lang="de-DE" dirty="0"/>
              <a:t>und </a:t>
            </a:r>
            <a:r>
              <a:rPr lang="de-DE" b="1" dirty="0">
                <a:solidFill>
                  <a:srgbClr val="FF0000"/>
                </a:solidFill>
              </a:rPr>
              <a:t>Advapi.dll</a:t>
            </a:r>
            <a:endParaRPr lang="de-DE" dirty="0"/>
          </a:p>
          <a:p>
            <a:pPr lvl="1"/>
            <a:r>
              <a:rPr lang="de-DE" dirty="0"/>
              <a:t>DLLs werden automatisch beim Prozessstart geladen</a:t>
            </a:r>
          </a:p>
          <a:p>
            <a:r>
              <a:rPr lang="de-DE" dirty="0"/>
              <a:t>Der Prozess muss zuerst die Funktion </a:t>
            </a:r>
            <a:r>
              <a:rPr lang="de-DE" b="1" dirty="0" err="1">
                <a:solidFill>
                  <a:srgbClr val="0070C0"/>
                </a:solidFill>
              </a:rPr>
              <a:t>FindFirstFile</a:t>
            </a:r>
            <a:r>
              <a:rPr lang="de-DE" b="1" dirty="0">
                <a:solidFill>
                  <a:srgbClr val="FF0000"/>
                </a:solidFill>
              </a:rPr>
              <a:t> </a:t>
            </a:r>
            <a:r>
              <a:rPr lang="de-DE" dirty="0"/>
              <a:t>aufrufen (aus Kernel32.dll) </a:t>
            </a:r>
          </a:p>
          <a:p>
            <a:r>
              <a:rPr lang="de-DE" dirty="0"/>
              <a:t>Bei einem erfolgreichen Aufruf gibt </a:t>
            </a:r>
            <a:r>
              <a:rPr lang="de-DE" b="1" dirty="0">
                <a:solidFill>
                  <a:srgbClr val="0070C0"/>
                </a:solidFill>
              </a:rPr>
              <a:t>FindFirstFile</a:t>
            </a:r>
            <a:r>
              <a:rPr lang="de-DE" dirty="0"/>
              <a:t> ein </a:t>
            </a:r>
            <a:r>
              <a:rPr lang="de-DE" b="1" dirty="0">
                <a:solidFill>
                  <a:srgbClr val="FF0000"/>
                </a:solidFill>
              </a:rPr>
              <a:t>Handle</a:t>
            </a:r>
            <a:r>
              <a:rPr lang="de-DE" dirty="0"/>
              <a:t> (= Referenz bzw. Pointer) zurück, </a:t>
            </a:r>
          </a:p>
          <a:p>
            <a:pPr lvl="1"/>
            <a:r>
              <a:rPr lang="de-DE" dirty="0"/>
              <a:t>Dieser wird für folgende Aufrufe (durch </a:t>
            </a:r>
            <a:r>
              <a:rPr lang="de-DE" b="1" dirty="0">
                <a:solidFill>
                  <a:srgbClr val="0070C0"/>
                </a:solidFill>
              </a:rPr>
              <a:t>Find</a:t>
            </a:r>
            <a:r>
              <a:rPr lang="de-DE" b="1" u="sng" dirty="0">
                <a:solidFill>
                  <a:srgbClr val="0070C0"/>
                </a:solidFill>
              </a:rPr>
              <a:t>Next</a:t>
            </a:r>
            <a:r>
              <a:rPr lang="de-DE" b="1" dirty="0">
                <a:solidFill>
                  <a:srgbClr val="0070C0"/>
                </a:solidFill>
              </a:rPr>
              <a:t>File</a:t>
            </a:r>
            <a:r>
              <a:rPr lang="de-DE" dirty="0"/>
              <a:t>) verwendet</a:t>
            </a:r>
          </a:p>
          <a:p>
            <a:pPr lvl="1"/>
            <a:endParaRPr lang="de-DE" dirty="0"/>
          </a:p>
        </p:txBody>
      </p:sp>
    </p:spTree>
    <p:extLst>
      <p:ext uri="{BB962C8B-B14F-4D97-AF65-F5344CB8AC3E}">
        <p14:creationId xmlns:p14="http://schemas.microsoft.com/office/powerpoint/2010/main" val="301408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500"/>
                                        <p:tgtEl>
                                          <p:spTgt spid="4">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p:cNvSpPr/>
          <p:nvPr/>
        </p:nvSpPr>
        <p:spPr>
          <a:xfrm>
            <a:off x="238819" y="3560217"/>
            <a:ext cx="6462714" cy="258408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de-DE" dirty="0">
              <a:solidFill>
                <a:prstClr val="white"/>
              </a:solidFill>
            </a:endParaRPr>
          </a:p>
        </p:txBody>
      </p:sp>
      <p:sp>
        <p:nvSpPr>
          <p:cNvPr id="4097" name="Rounded Rectangle 4096"/>
          <p:cNvSpPr/>
          <p:nvPr/>
        </p:nvSpPr>
        <p:spPr>
          <a:xfrm>
            <a:off x="251520" y="1412776"/>
            <a:ext cx="6462714" cy="147033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de-DE" dirty="0">
              <a:solidFill>
                <a:prstClr val="black"/>
              </a:solidFill>
            </a:endParaRPr>
          </a:p>
        </p:txBody>
      </p:sp>
      <p:sp>
        <p:nvSpPr>
          <p:cNvPr id="2" name="Titel 1"/>
          <p:cNvSpPr>
            <a:spLocks noGrp="1"/>
          </p:cNvSpPr>
          <p:nvPr>
            <p:ph type="title"/>
          </p:nvPr>
        </p:nvSpPr>
        <p:spPr/>
        <p:txBody>
          <a:bodyPr/>
          <a:lstStyle/>
          <a:p>
            <a:r>
              <a:rPr lang="de-DE" dirty="0" err="1"/>
              <a:t>FindNextFile</a:t>
            </a:r>
            <a:r>
              <a:rPr lang="de-DE" dirty="0"/>
              <a:t> - Ablauf</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17</a:t>
            </a:fld>
            <a:endParaRPr lang="en-US" dirty="0">
              <a:solidFill>
                <a:srgbClr val="424456"/>
              </a:solidFill>
            </a:endParaRPr>
          </a:p>
        </p:txBody>
      </p:sp>
      <p:sp>
        <p:nvSpPr>
          <p:cNvPr id="6" name="Textfeld 5"/>
          <p:cNvSpPr txBox="1"/>
          <p:nvPr/>
        </p:nvSpPr>
        <p:spPr>
          <a:xfrm>
            <a:off x="7236157" y="3021608"/>
            <a:ext cx="1781257" cy="1015663"/>
          </a:xfrm>
          <a:prstGeom prst="rect">
            <a:avLst/>
          </a:prstGeom>
          <a:noFill/>
        </p:spPr>
        <p:txBody>
          <a:bodyPr wrap="none" rtlCol="0">
            <a:spAutoFit/>
          </a:bodyPr>
          <a:lstStyle/>
          <a:p>
            <a:r>
              <a:rPr lang="de-DE" sz="2000" b="1" dirty="0">
                <a:solidFill>
                  <a:srgbClr val="FF0000"/>
                </a:solidFill>
              </a:rPr>
              <a:t>Trap</a:t>
            </a:r>
            <a:r>
              <a:rPr lang="de-DE" sz="2000" dirty="0">
                <a:solidFill>
                  <a:prstClr val="black"/>
                </a:solidFill>
              </a:rPr>
              <a:t>-Befehl</a:t>
            </a:r>
          </a:p>
          <a:p>
            <a:r>
              <a:rPr lang="de-DE" sz="2000" dirty="0">
                <a:solidFill>
                  <a:prstClr val="black"/>
                </a:solidFill>
              </a:rPr>
              <a:t>(bewirkt einen</a:t>
            </a:r>
          </a:p>
          <a:p>
            <a:r>
              <a:rPr lang="de-DE" sz="2000" dirty="0">
                <a:solidFill>
                  <a:prstClr val="black"/>
                </a:solidFill>
              </a:rPr>
              <a:t>„Interrupt“)</a:t>
            </a:r>
          </a:p>
        </p:txBody>
      </p:sp>
      <p:cxnSp>
        <p:nvCxnSpPr>
          <p:cNvPr id="9" name="Gerade Verbindung mit Pfeil 8"/>
          <p:cNvCxnSpPr>
            <a:endCxn id="14" idx="3"/>
          </p:cNvCxnSpPr>
          <p:nvPr/>
        </p:nvCxnSpPr>
        <p:spPr>
          <a:xfrm flipH="1">
            <a:off x="6350496" y="3206274"/>
            <a:ext cx="727477"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077973" y="4943970"/>
            <a:ext cx="1867819" cy="1323439"/>
          </a:xfrm>
          <a:prstGeom prst="rect">
            <a:avLst/>
          </a:prstGeom>
          <a:noFill/>
        </p:spPr>
        <p:txBody>
          <a:bodyPr wrap="none" rtlCol="0">
            <a:spAutoFit/>
          </a:bodyPr>
          <a:lstStyle/>
          <a:p>
            <a:r>
              <a:rPr lang="de-DE" sz="2000" dirty="0">
                <a:solidFill>
                  <a:prstClr val="black"/>
                </a:solidFill>
              </a:rPr>
              <a:t>Entspricht der</a:t>
            </a:r>
          </a:p>
          <a:p>
            <a:r>
              <a:rPr lang="de-DE" sz="2000" dirty="0">
                <a:solidFill>
                  <a:prstClr val="black"/>
                </a:solidFill>
              </a:rPr>
              <a:t>Funktion </a:t>
            </a:r>
          </a:p>
          <a:p>
            <a:r>
              <a:rPr lang="de-DE" sz="2000" dirty="0">
                <a:solidFill>
                  <a:prstClr val="black"/>
                </a:solidFill>
              </a:rPr>
              <a:t>FindNextFile(),</a:t>
            </a:r>
          </a:p>
          <a:p>
            <a:r>
              <a:rPr lang="de-DE" sz="2000" dirty="0">
                <a:solidFill>
                  <a:prstClr val="black"/>
                </a:solidFill>
              </a:rPr>
              <a:t>aber im Kernel</a:t>
            </a:r>
          </a:p>
        </p:txBody>
      </p:sp>
      <p:cxnSp>
        <p:nvCxnSpPr>
          <p:cNvPr id="11" name="Gerade Verbindung mit Pfeil 10"/>
          <p:cNvCxnSpPr/>
          <p:nvPr/>
        </p:nvCxnSpPr>
        <p:spPr>
          <a:xfrm flipH="1" flipV="1">
            <a:off x="6335624" y="5544134"/>
            <a:ext cx="742349" cy="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67544" y="1556792"/>
            <a:ext cx="2592288" cy="70788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de-DE" sz="2000" dirty="0">
                <a:solidFill>
                  <a:prstClr val="black"/>
                </a:solidFill>
              </a:rPr>
              <a:t>Benutzerprozess ruft</a:t>
            </a:r>
          </a:p>
          <a:p>
            <a:pPr algn="ctr"/>
            <a:r>
              <a:rPr lang="de-DE" sz="2000" b="1" dirty="0">
                <a:solidFill>
                  <a:srgbClr val="0070C0"/>
                </a:solidFill>
              </a:rPr>
              <a:t>FindNextFile</a:t>
            </a:r>
            <a:r>
              <a:rPr lang="de-DE" sz="2000" dirty="0">
                <a:solidFill>
                  <a:prstClr val="black"/>
                </a:solidFill>
              </a:rPr>
              <a:t> auf</a:t>
            </a:r>
          </a:p>
        </p:txBody>
      </p:sp>
      <p:sp>
        <p:nvSpPr>
          <p:cNvPr id="13" name="Rectangle 12"/>
          <p:cNvSpPr/>
          <p:nvPr/>
        </p:nvSpPr>
        <p:spPr>
          <a:xfrm>
            <a:off x="3491880" y="1556792"/>
            <a:ext cx="2858616" cy="70788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de-DE" sz="2000" dirty="0">
                <a:solidFill>
                  <a:prstClr val="black"/>
                </a:solidFill>
              </a:rPr>
              <a:t>FindNextFile in</a:t>
            </a:r>
          </a:p>
          <a:p>
            <a:pPr algn="ctr"/>
            <a:r>
              <a:rPr lang="de-DE" sz="2000" dirty="0">
                <a:solidFill>
                  <a:prstClr val="black"/>
                </a:solidFill>
              </a:rPr>
              <a:t>kernel32.dll</a:t>
            </a:r>
          </a:p>
        </p:txBody>
      </p:sp>
      <p:sp>
        <p:nvSpPr>
          <p:cNvPr id="14" name="Rectangle 13"/>
          <p:cNvSpPr/>
          <p:nvPr/>
        </p:nvSpPr>
        <p:spPr>
          <a:xfrm>
            <a:off x="3470176" y="2852331"/>
            <a:ext cx="2880320" cy="70788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de-DE" sz="2000" b="1" dirty="0">
                <a:solidFill>
                  <a:srgbClr val="0070C0"/>
                </a:solidFill>
              </a:rPr>
              <a:t>SYSENTER</a:t>
            </a:r>
            <a:r>
              <a:rPr lang="de-DE" sz="2000" dirty="0">
                <a:solidFill>
                  <a:prstClr val="black"/>
                </a:solidFill>
              </a:rPr>
              <a:t> oder</a:t>
            </a:r>
          </a:p>
          <a:p>
            <a:pPr algn="ctr"/>
            <a:r>
              <a:rPr lang="de-DE" sz="2000" b="1" dirty="0">
                <a:solidFill>
                  <a:srgbClr val="0070C0"/>
                </a:solidFill>
              </a:rPr>
              <a:t>INT 2E</a:t>
            </a:r>
          </a:p>
        </p:txBody>
      </p:sp>
      <p:sp>
        <p:nvSpPr>
          <p:cNvPr id="15" name="Rectangle 14"/>
          <p:cNvSpPr/>
          <p:nvPr/>
        </p:nvSpPr>
        <p:spPr>
          <a:xfrm>
            <a:off x="3470176" y="4154572"/>
            <a:ext cx="2880320" cy="40011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de-DE" sz="2000" b="1" dirty="0">
                <a:solidFill>
                  <a:srgbClr val="0070C0"/>
                </a:solidFill>
              </a:rPr>
              <a:t>KiSystemService</a:t>
            </a:r>
          </a:p>
        </p:txBody>
      </p:sp>
      <p:sp>
        <p:nvSpPr>
          <p:cNvPr id="16" name="Rectangle 15"/>
          <p:cNvSpPr/>
          <p:nvPr/>
        </p:nvSpPr>
        <p:spPr>
          <a:xfrm>
            <a:off x="3456444" y="5190192"/>
            <a:ext cx="2880320" cy="70788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de-DE" sz="2000" b="1" dirty="0">
                <a:solidFill>
                  <a:srgbClr val="0070C0"/>
                </a:solidFill>
              </a:rPr>
              <a:t>NtQueryDirectoryFile</a:t>
            </a:r>
          </a:p>
          <a:p>
            <a:pPr algn="ctr"/>
            <a:r>
              <a:rPr lang="de-DE" sz="2000" dirty="0">
                <a:solidFill>
                  <a:prstClr val="black"/>
                </a:solidFill>
              </a:rPr>
              <a:t>in ntoskrnl.exe</a:t>
            </a:r>
          </a:p>
        </p:txBody>
      </p:sp>
      <p:cxnSp>
        <p:nvCxnSpPr>
          <p:cNvPr id="19" name="Gerade Verbindung mit Pfeil 8"/>
          <p:cNvCxnSpPr>
            <a:stCxn id="12" idx="3"/>
            <a:endCxn id="13" idx="1"/>
          </p:cNvCxnSpPr>
          <p:nvPr/>
        </p:nvCxnSpPr>
        <p:spPr>
          <a:xfrm>
            <a:off x="3059832" y="1910735"/>
            <a:ext cx="432048"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8"/>
          <p:cNvCxnSpPr>
            <a:stCxn id="13" idx="2"/>
            <a:endCxn id="14" idx="0"/>
          </p:cNvCxnSpPr>
          <p:nvPr/>
        </p:nvCxnSpPr>
        <p:spPr>
          <a:xfrm flipH="1">
            <a:off x="4910336" y="2264678"/>
            <a:ext cx="10852" cy="587653"/>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5" name="Gerade Verbindung mit Pfeil 8"/>
          <p:cNvCxnSpPr>
            <a:stCxn id="14" idx="2"/>
            <a:endCxn id="15" idx="0"/>
          </p:cNvCxnSpPr>
          <p:nvPr/>
        </p:nvCxnSpPr>
        <p:spPr>
          <a:xfrm>
            <a:off x="4910336" y="3560217"/>
            <a:ext cx="0" cy="594355"/>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8" name="Gerade Verbindung mit Pfeil 8"/>
          <p:cNvCxnSpPr>
            <a:stCxn id="15" idx="2"/>
            <a:endCxn id="16" idx="0"/>
          </p:cNvCxnSpPr>
          <p:nvPr/>
        </p:nvCxnSpPr>
        <p:spPr>
          <a:xfrm flipH="1">
            <a:off x="4896604" y="4554682"/>
            <a:ext cx="13732" cy="63551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098" name="TextBox 4097"/>
          <p:cNvSpPr txBox="1"/>
          <p:nvPr/>
        </p:nvSpPr>
        <p:spPr>
          <a:xfrm>
            <a:off x="467544" y="2529165"/>
            <a:ext cx="3005951" cy="400110"/>
          </a:xfrm>
          <a:prstGeom prst="rect">
            <a:avLst/>
          </a:prstGeom>
          <a:noFill/>
        </p:spPr>
        <p:txBody>
          <a:bodyPr wrap="none" rtlCol="0">
            <a:spAutoFit/>
          </a:bodyPr>
          <a:lstStyle/>
          <a:p>
            <a:r>
              <a:rPr lang="de-DE" sz="2000" dirty="0">
                <a:solidFill>
                  <a:prstClr val="black"/>
                </a:solidFill>
              </a:rPr>
              <a:t>Code im Benutzermodus</a:t>
            </a:r>
          </a:p>
        </p:txBody>
      </p:sp>
      <p:sp>
        <p:nvSpPr>
          <p:cNvPr id="37" name="TextBox 36"/>
          <p:cNvSpPr txBox="1"/>
          <p:nvPr/>
        </p:nvSpPr>
        <p:spPr>
          <a:xfrm>
            <a:off x="491580" y="5190192"/>
            <a:ext cx="1282723" cy="707886"/>
          </a:xfrm>
          <a:prstGeom prst="rect">
            <a:avLst/>
          </a:prstGeom>
          <a:noFill/>
        </p:spPr>
        <p:txBody>
          <a:bodyPr wrap="none" rtlCol="0">
            <a:spAutoFit/>
          </a:bodyPr>
          <a:lstStyle/>
          <a:p>
            <a:r>
              <a:rPr lang="de-DE" sz="2000" dirty="0">
                <a:solidFill>
                  <a:prstClr val="black"/>
                </a:solidFill>
              </a:rPr>
              <a:t>Code des</a:t>
            </a:r>
          </a:p>
          <a:p>
            <a:r>
              <a:rPr lang="de-DE" sz="2000" dirty="0">
                <a:solidFill>
                  <a:prstClr val="black"/>
                </a:solidFill>
              </a:rPr>
              <a:t>Kernels</a:t>
            </a:r>
          </a:p>
        </p:txBody>
      </p:sp>
    </p:spTree>
    <p:extLst>
      <p:ext uri="{BB962C8B-B14F-4D97-AF65-F5344CB8AC3E}">
        <p14:creationId xmlns:p14="http://schemas.microsoft.com/office/powerpoint/2010/main" val="4293105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Win32 API – Lesen von einer Datei (</a:t>
            </a:r>
            <a:r>
              <a:rPr lang="de-DE" dirty="0">
                <a:hlinkClick r:id="rId3"/>
              </a:rPr>
              <a:t>Link</a:t>
            </a:r>
            <a:r>
              <a:rPr lang="de-DE" dirty="0"/>
              <a:t>)</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24456"/>
                </a:solidFill>
              </a:rPr>
              <a:pPr/>
              <a:t>18</a:t>
            </a:fld>
            <a:endParaRPr lang="en-US" dirty="0">
              <a:solidFill>
                <a:srgbClr val="424456"/>
              </a:solidFill>
            </a:endParaRPr>
          </a:p>
        </p:txBody>
      </p:sp>
      <p:sp>
        <p:nvSpPr>
          <p:cNvPr id="5" name="Content Placeholder 4"/>
          <p:cNvSpPr>
            <a:spLocks noGrp="1"/>
          </p:cNvSpPr>
          <p:nvPr>
            <p:ph sz="quarter" idx="13"/>
          </p:nvPr>
        </p:nvSpPr>
        <p:spPr>
          <a:xfrm>
            <a:off x="467544" y="3140968"/>
            <a:ext cx="8208912" cy="3519309"/>
          </a:xfrm>
        </p:spPr>
        <p:txBody>
          <a:bodyPr>
            <a:normAutofit fontScale="85000" lnSpcReduction="10000"/>
          </a:bodyPr>
          <a:lstStyle/>
          <a:p>
            <a:r>
              <a:rPr lang="de-DE" dirty="0">
                <a:solidFill>
                  <a:srgbClr val="FF0000"/>
                </a:solidFill>
              </a:rPr>
              <a:t>file</a:t>
            </a:r>
            <a:r>
              <a:rPr lang="de-DE" dirty="0"/>
              <a:t> – </a:t>
            </a:r>
            <a:r>
              <a:rPr lang="de-DE" b="1" dirty="0">
                <a:solidFill>
                  <a:srgbClr val="FF0000"/>
                </a:solidFill>
              </a:rPr>
              <a:t>Handle</a:t>
            </a:r>
            <a:r>
              <a:rPr lang="de-DE" dirty="0"/>
              <a:t> (d.h. Referenz + Daten) der zu lesenden Datei</a:t>
            </a:r>
          </a:p>
          <a:p>
            <a:r>
              <a:rPr lang="de-DE" dirty="0">
                <a:solidFill>
                  <a:srgbClr val="FF0000"/>
                </a:solidFill>
              </a:rPr>
              <a:t>buffer</a:t>
            </a:r>
            <a:r>
              <a:rPr lang="de-DE" dirty="0"/>
              <a:t> - Puffer, in den das BS die Daten schreibt</a:t>
            </a:r>
          </a:p>
          <a:p>
            <a:r>
              <a:rPr lang="de-DE" dirty="0">
                <a:solidFill>
                  <a:srgbClr val="FF0000"/>
                </a:solidFill>
              </a:rPr>
              <a:t>bytesToRead</a:t>
            </a:r>
            <a:r>
              <a:rPr lang="de-DE" dirty="0"/>
              <a:t> - die Anzahl der Bytes, die  in den Puffer eingelesen werden sollen</a:t>
            </a:r>
          </a:p>
          <a:p>
            <a:r>
              <a:rPr lang="de-DE" dirty="0">
                <a:solidFill>
                  <a:srgbClr val="FF0000"/>
                </a:solidFill>
              </a:rPr>
              <a:t>bytesRead</a:t>
            </a:r>
            <a:r>
              <a:rPr lang="de-DE" dirty="0"/>
              <a:t> – Anzahl der Bytes, die bei der letzten Operation gelesen wurden</a:t>
            </a:r>
          </a:p>
          <a:p>
            <a:r>
              <a:rPr lang="de-DE" dirty="0">
                <a:solidFill>
                  <a:srgbClr val="FF0000"/>
                </a:solidFill>
              </a:rPr>
              <a:t>lpOverlapped</a:t>
            </a:r>
            <a:r>
              <a:rPr lang="de-DE" sz="2800" dirty="0">
                <a:solidFill>
                  <a:srgbClr val="FF0000"/>
                </a:solidFill>
              </a:rPr>
              <a:t> </a:t>
            </a:r>
            <a:r>
              <a:rPr lang="de-DE" dirty="0"/>
              <a:t>– falls null, blockiert der Aufruf, bis alles gelesen wurde; sonst sog. </a:t>
            </a:r>
            <a:r>
              <a:rPr lang="de-DE" b="1" dirty="0">
                <a:solidFill>
                  <a:srgbClr val="0070C0"/>
                </a:solidFill>
              </a:rPr>
              <a:t>asynchroner</a:t>
            </a:r>
            <a:r>
              <a:rPr lang="de-DE" dirty="0"/>
              <a:t> Aufruf (“overlapped I/O”)</a:t>
            </a:r>
          </a:p>
          <a:p>
            <a:pPr lvl="1"/>
            <a:r>
              <a:rPr lang="de-DE" dirty="0"/>
              <a:t>Asynchron =  der Aufruf ist </a:t>
            </a:r>
            <a:r>
              <a:rPr lang="de-DE" u="sng" dirty="0"/>
              <a:t>nicht blockierend</a:t>
            </a:r>
            <a:r>
              <a:rPr lang="de-DE" dirty="0"/>
              <a:t> und die Datei wird “im Hintergrund” gelesen</a:t>
            </a:r>
          </a:p>
        </p:txBody>
      </p:sp>
      <p:sp>
        <p:nvSpPr>
          <p:cNvPr id="7" name="TextBox 6"/>
          <p:cNvSpPr txBox="1"/>
          <p:nvPr/>
        </p:nvSpPr>
        <p:spPr>
          <a:xfrm>
            <a:off x="323528" y="1340768"/>
            <a:ext cx="8712968" cy="1692771"/>
          </a:xfrm>
          <a:prstGeom prst="rect">
            <a:avLst/>
          </a:prstGeom>
          <a:noFill/>
        </p:spPr>
        <p:txBody>
          <a:bodyPr wrap="square" rtlCol="0">
            <a:spAutoFit/>
          </a:bodyPr>
          <a:lstStyle/>
          <a:p>
            <a:r>
              <a:rPr lang="de-DE" sz="2000" dirty="0">
                <a:solidFill>
                  <a:prstClr val="black"/>
                </a:solidFill>
              </a:rPr>
              <a:t>BOOL WINAPI </a:t>
            </a:r>
            <a:r>
              <a:rPr lang="de-DE" sz="2400" b="1" dirty="0">
                <a:solidFill>
                  <a:srgbClr val="FF0000"/>
                </a:solidFill>
              </a:rPr>
              <a:t>ReadFile</a:t>
            </a:r>
            <a:r>
              <a:rPr lang="de-DE" sz="2000" dirty="0">
                <a:solidFill>
                  <a:prstClr val="black"/>
                </a:solidFill>
              </a:rPr>
              <a:t>( __in HANDLE 	</a:t>
            </a:r>
            <a:r>
              <a:rPr lang="de-DE" sz="2000" dirty="0">
                <a:solidFill>
                  <a:srgbClr val="FF0000"/>
                </a:solidFill>
              </a:rPr>
              <a:t>h</a:t>
            </a:r>
            <a:r>
              <a:rPr lang="de-DE" sz="2000" u="sng" dirty="0">
                <a:solidFill>
                  <a:srgbClr val="FF0000"/>
                </a:solidFill>
              </a:rPr>
              <a:t>File</a:t>
            </a:r>
            <a:r>
              <a:rPr lang="de-DE" sz="2000" dirty="0">
                <a:solidFill>
                  <a:prstClr val="black"/>
                </a:solidFill>
              </a:rPr>
              <a:t>, </a:t>
            </a:r>
          </a:p>
          <a:p>
            <a:r>
              <a:rPr lang="de-DE" sz="2000" dirty="0">
                <a:solidFill>
                  <a:prstClr val="black"/>
                </a:solidFill>
              </a:rPr>
              <a:t>			  __out LPVOID 	</a:t>
            </a:r>
            <a:r>
              <a:rPr lang="de-DE" sz="2000" dirty="0">
                <a:solidFill>
                  <a:srgbClr val="FF0000"/>
                </a:solidFill>
              </a:rPr>
              <a:t>lp</a:t>
            </a:r>
            <a:r>
              <a:rPr lang="de-DE" sz="2000" u="sng" dirty="0">
                <a:solidFill>
                  <a:srgbClr val="FF0000"/>
                </a:solidFill>
              </a:rPr>
              <a:t>Buffer</a:t>
            </a:r>
            <a:r>
              <a:rPr lang="de-DE" sz="2000" dirty="0">
                <a:solidFill>
                  <a:prstClr val="black"/>
                </a:solidFill>
              </a:rPr>
              <a:t>, </a:t>
            </a:r>
          </a:p>
          <a:p>
            <a:r>
              <a:rPr lang="de-DE" sz="2000" dirty="0">
                <a:solidFill>
                  <a:prstClr val="black"/>
                </a:solidFill>
              </a:rPr>
              <a:t>			  __in DWORD 		</a:t>
            </a:r>
            <a:r>
              <a:rPr lang="de-DE" sz="2000" dirty="0">
                <a:solidFill>
                  <a:srgbClr val="FF0000"/>
                </a:solidFill>
              </a:rPr>
              <a:t>nNumberOf</a:t>
            </a:r>
            <a:r>
              <a:rPr lang="de-DE" sz="2000" u="sng" dirty="0">
                <a:solidFill>
                  <a:srgbClr val="FF0000"/>
                </a:solidFill>
              </a:rPr>
              <a:t>BytesToRead</a:t>
            </a:r>
            <a:r>
              <a:rPr lang="de-DE" sz="2000" dirty="0">
                <a:solidFill>
                  <a:prstClr val="black"/>
                </a:solidFill>
              </a:rPr>
              <a:t>, </a:t>
            </a:r>
          </a:p>
          <a:p>
            <a:r>
              <a:rPr lang="de-DE" sz="2000" dirty="0">
                <a:solidFill>
                  <a:prstClr val="black"/>
                </a:solidFill>
              </a:rPr>
              <a:t>			  __out_opt LPDWORD 	</a:t>
            </a:r>
            <a:r>
              <a:rPr lang="de-DE" sz="2000" dirty="0">
                <a:solidFill>
                  <a:srgbClr val="FF0000"/>
                </a:solidFill>
              </a:rPr>
              <a:t>lpNumberOf</a:t>
            </a:r>
            <a:r>
              <a:rPr lang="de-DE" sz="2000" u="sng" dirty="0">
                <a:solidFill>
                  <a:srgbClr val="FF0000"/>
                </a:solidFill>
              </a:rPr>
              <a:t>BytesRead</a:t>
            </a:r>
            <a:r>
              <a:rPr lang="de-DE" sz="2000" dirty="0">
                <a:solidFill>
                  <a:prstClr val="black"/>
                </a:solidFill>
              </a:rPr>
              <a:t>, </a:t>
            </a:r>
          </a:p>
          <a:p>
            <a:r>
              <a:rPr lang="de-DE" sz="2000" dirty="0">
                <a:solidFill>
                  <a:prstClr val="black"/>
                </a:solidFill>
              </a:rPr>
              <a:t>			  __inout_opt LPOVERLAPPED 	</a:t>
            </a:r>
            <a:r>
              <a:rPr lang="de-DE" sz="2000" dirty="0">
                <a:solidFill>
                  <a:srgbClr val="FF0000"/>
                </a:solidFill>
              </a:rPr>
              <a:t>lp</a:t>
            </a:r>
            <a:r>
              <a:rPr lang="de-DE" sz="2000" u="sng" dirty="0">
                <a:solidFill>
                  <a:srgbClr val="FF0000"/>
                </a:solidFill>
              </a:rPr>
              <a:t>Overlapped</a:t>
            </a:r>
            <a:r>
              <a:rPr lang="de-DE" sz="2000" dirty="0">
                <a:solidFill>
                  <a:prstClr val="black"/>
                </a:solidFill>
              </a:rPr>
              <a:t> );</a:t>
            </a:r>
          </a:p>
        </p:txBody>
      </p:sp>
      <p:sp>
        <p:nvSpPr>
          <p:cNvPr id="8" name="Rectangle 7"/>
          <p:cNvSpPr/>
          <p:nvPr/>
        </p:nvSpPr>
        <p:spPr>
          <a:xfrm>
            <a:off x="179512" y="1844824"/>
            <a:ext cx="2952328" cy="9144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DE" sz="2400" dirty="0">
                <a:solidFill>
                  <a:prstClr val="black"/>
                </a:solidFill>
              </a:rPr>
              <a:t>Ab welcher Position wird gelesen?</a:t>
            </a:r>
          </a:p>
        </p:txBody>
      </p:sp>
    </p:spTree>
    <p:extLst>
      <p:ext uri="{BB962C8B-B14F-4D97-AF65-F5344CB8AC3E}">
        <p14:creationId xmlns:p14="http://schemas.microsoft.com/office/powerpoint/2010/main" val="81493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APIs - Win32 – vs. POSIX - Beispiele</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24456"/>
                </a:solidFill>
              </a:rPr>
              <a:pPr/>
              <a:t>19</a:t>
            </a:fld>
            <a:endParaRPr lang="en-US" dirty="0">
              <a:solidFill>
                <a:srgbClr val="424456"/>
              </a:solidFill>
            </a:endParaRPr>
          </a:p>
        </p:txBody>
      </p:sp>
      <p:graphicFrame>
        <p:nvGraphicFramePr>
          <p:cNvPr id="5" name="Table 4"/>
          <p:cNvGraphicFramePr>
            <a:graphicFrameLocks noGrp="1"/>
          </p:cNvGraphicFramePr>
          <p:nvPr/>
        </p:nvGraphicFramePr>
        <p:xfrm>
          <a:off x="611559" y="1397000"/>
          <a:ext cx="8064897" cy="4328264"/>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20000"/>
                    </a:ext>
                  </a:extLst>
                </a:gridCol>
                <a:gridCol w="2376264">
                  <a:extLst>
                    <a:ext uri="{9D8B030D-6E8A-4147-A177-3AD203B41FA5}">
                      <a16:colId xmlns:a16="http://schemas.microsoft.com/office/drawing/2014/main" val="20001"/>
                    </a:ext>
                  </a:extLst>
                </a:gridCol>
                <a:gridCol w="4392488">
                  <a:extLst>
                    <a:ext uri="{9D8B030D-6E8A-4147-A177-3AD203B41FA5}">
                      <a16:colId xmlns:a16="http://schemas.microsoft.com/office/drawing/2014/main" val="20002"/>
                    </a:ext>
                  </a:extLst>
                </a:gridCol>
              </a:tblGrid>
              <a:tr h="461023">
                <a:tc>
                  <a:txBody>
                    <a:bodyPr/>
                    <a:lstStyle/>
                    <a:p>
                      <a:r>
                        <a:rPr lang="de-DE" sz="2400" dirty="0"/>
                        <a:t>POSIX</a:t>
                      </a:r>
                    </a:p>
                  </a:txBody>
                  <a:tcPr/>
                </a:tc>
                <a:tc>
                  <a:txBody>
                    <a:bodyPr/>
                    <a:lstStyle/>
                    <a:p>
                      <a:r>
                        <a:rPr lang="de-DE" sz="2400" dirty="0"/>
                        <a:t>Win32</a:t>
                      </a:r>
                    </a:p>
                  </a:txBody>
                  <a:tcPr/>
                </a:tc>
                <a:tc>
                  <a:txBody>
                    <a:bodyPr/>
                    <a:lstStyle/>
                    <a:p>
                      <a:r>
                        <a:rPr lang="de-DE" sz="2400" dirty="0"/>
                        <a:t>Erklärung</a:t>
                      </a:r>
                    </a:p>
                  </a:txBody>
                  <a:tcPr/>
                </a:tc>
                <a:extLst>
                  <a:ext uri="{0D108BD9-81ED-4DB2-BD59-A6C34878D82A}">
                    <a16:rowId xmlns:a16="http://schemas.microsoft.com/office/drawing/2014/main" val="10000"/>
                  </a:ext>
                </a:extLst>
              </a:tr>
              <a:tr h="461023">
                <a:tc>
                  <a:txBody>
                    <a:bodyPr/>
                    <a:lstStyle/>
                    <a:p>
                      <a:r>
                        <a:rPr lang="de-DE" dirty="0"/>
                        <a:t>fork</a:t>
                      </a:r>
                    </a:p>
                  </a:txBody>
                  <a:tcPr/>
                </a:tc>
                <a:tc>
                  <a:txBody>
                    <a:bodyPr/>
                    <a:lstStyle/>
                    <a:p>
                      <a:r>
                        <a:rPr lang="de-DE" dirty="0"/>
                        <a:t>CreateProcess</a:t>
                      </a:r>
                    </a:p>
                  </a:txBody>
                  <a:tcPr/>
                </a:tc>
                <a:tc>
                  <a:txBody>
                    <a:bodyPr/>
                    <a:lstStyle/>
                    <a:p>
                      <a:r>
                        <a:rPr lang="de-DE" dirty="0"/>
                        <a:t>Erzeugen eines neuen Prozesses </a:t>
                      </a:r>
                    </a:p>
                  </a:txBody>
                  <a:tcPr/>
                </a:tc>
                <a:extLst>
                  <a:ext uri="{0D108BD9-81ED-4DB2-BD59-A6C34878D82A}">
                    <a16:rowId xmlns:a16="http://schemas.microsoft.com/office/drawing/2014/main" val="10001"/>
                  </a:ext>
                </a:extLst>
              </a:tr>
              <a:tr h="461023">
                <a:tc>
                  <a:txBody>
                    <a:bodyPr/>
                    <a:lstStyle/>
                    <a:p>
                      <a:r>
                        <a:rPr lang="de-DE" dirty="0"/>
                        <a:t>waitpid</a:t>
                      </a:r>
                    </a:p>
                  </a:txBody>
                  <a:tcPr/>
                </a:tc>
                <a:tc>
                  <a:txBody>
                    <a:bodyPr/>
                    <a:lstStyle/>
                    <a:p>
                      <a:r>
                        <a:rPr lang="de-DE" dirty="0"/>
                        <a:t>WaitForSingleObject</a:t>
                      </a:r>
                    </a:p>
                  </a:txBody>
                  <a:tcPr/>
                </a:tc>
                <a:tc>
                  <a:txBody>
                    <a:bodyPr/>
                    <a:lstStyle/>
                    <a:p>
                      <a:r>
                        <a:rPr lang="de-DE" dirty="0"/>
                        <a:t>Warten auf das Ende eines Prozesses </a:t>
                      </a:r>
                    </a:p>
                  </a:txBody>
                  <a:tcPr/>
                </a:tc>
                <a:extLst>
                  <a:ext uri="{0D108BD9-81ED-4DB2-BD59-A6C34878D82A}">
                    <a16:rowId xmlns:a16="http://schemas.microsoft.com/office/drawing/2014/main" val="10002"/>
                  </a:ext>
                </a:extLst>
              </a:tr>
              <a:tr h="461023">
                <a:tc>
                  <a:txBody>
                    <a:bodyPr/>
                    <a:lstStyle/>
                    <a:p>
                      <a:r>
                        <a:rPr lang="de-DE" dirty="0"/>
                        <a:t>execve</a:t>
                      </a:r>
                    </a:p>
                  </a:txBody>
                  <a:tcPr/>
                </a:tc>
                <a:tc>
                  <a:txBody>
                    <a:bodyPr/>
                    <a:lstStyle/>
                    <a:p>
                      <a:r>
                        <a:rPr lang="de-DE" dirty="0"/>
                        <a:t>-</a:t>
                      </a:r>
                    </a:p>
                  </a:txBody>
                  <a:tcPr/>
                </a:tc>
                <a:tc>
                  <a:txBody>
                    <a:bodyPr/>
                    <a:lstStyle/>
                    <a:p>
                      <a:r>
                        <a:rPr lang="de-DE" dirty="0">
                          <a:solidFill>
                            <a:srgbClr val="0070C0"/>
                          </a:solidFill>
                        </a:rPr>
                        <a:t>CreateProcess </a:t>
                      </a:r>
                      <a:r>
                        <a:rPr lang="de-DE" dirty="0"/>
                        <a:t>ersetzt  </a:t>
                      </a:r>
                      <a:r>
                        <a:rPr lang="de-DE" dirty="0">
                          <a:solidFill>
                            <a:srgbClr val="0070C0"/>
                          </a:solidFill>
                        </a:rPr>
                        <a:t>fork </a:t>
                      </a:r>
                      <a:r>
                        <a:rPr lang="de-DE" dirty="0"/>
                        <a:t>+ </a:t>
                      </a:r>
                      <a:r>
                        <a:rPr lang="de-DE" dirty="0">
                          <a:solidFill>
                            <a:srgbClr val="0070C0"/>
                          </a:solidFill>
                        </a:rPr>
                        <a:t>execve </a:t>
                      </a:r>
                    </a:p>
                  </a:txBody>
                  <a:tcPr/>
                </a:tc>
                <a:extLst>
                  <a:ext uri="{0D108BD9-81ED-4DB2-BD59-A6C34878D82A}">
                    <a16:rowId xmlns:a16="http://schemas.microsoft.com/office/drawing/2014/main" val="10003"/>
                  </a:ext>
                </a:extLst>
              </a:tr>
              <a:tr h="461023">
                <a:tc>
                  <a:txBody>
                    <a:bodyPr/>
                    <a:lstStyle/>
                    <a:p>
                      <a:r>
                        <a:rPr lang="de-DE" dirty="0"/>
                        <a:t>exit</a:t>
                      </a:r>
                    </a:p>
                  </a:txBody>
                  <a:tcPr/>
                </a:tc>
                <a:tc>
                  <a:txBody>
                    <a:bodyPr/>
                    <a:lstStyle/>
                    <a:p>
                      <a:r>
                        <a:rPr lang="de-DE" dirty="0"/>
                        <a:t>ExitProcess</a:t>
                      </a:r>
                    </a:p>
                  </a:txBody>
                  <a:tcPr/>
                </a:tc>
                <a:tc>
                  <a:txBody>
                    <a:bodyPr/>
                    <a:lstStyle/>
                    <a:p>
                      <a:r>
                        <a:rPr lang="de-DE" dirty="0"/>
                        <a:t>Ausführung beenden</a:t>
                      </a:r>
                    </a:p>
                  </a:txBody>
                  <a:tcPr/>
                </a:tc>
                <a:extLst>
                  <a:ext uri="{0D108BD9-81ED-4DB2-BD59-A6C34878D82A}">
                    <a16:rowId xmlns:a16="http://schemas.microsoft.com/office/drawing/2014/main" val="10004"/>
                  </a:ext>
                </a:extLst>
              </a:tr>
              <a:tr h="461023">
                <a:tc>
                  <a:txBody>
                    <a:bodyPr/>
                    <a:lstStyle/>
                    <a:p>
                      <a:r>
                        <a:rPr lang="de-DE" dirty="0"/>
                        <a:t>open</a:t>
                      </a:r>
                    </a:p>
                  </a:txBody>
                  <a:tcPr/>
                </a:tc>
                <a:tc>
                  <a:txBody>
                    <a:bodyPr/>
                    <a:lstStyle/>
                    <a:p>
                      <a:r>
                        <a:rPr lang="de-DE" dirty="0"/>
                        <a:t>CreateFile </a:t>
                      </a:r>
                    </a:p>
                  </a:txBody>
                  <a:tcPr/>
                </a:tc>
                <a:tc>
                  <a:txBody>
                    <a:bodyPr/>
                    <a:lstStyle/>
                    <a:p>
                      <a:r>
                        <a:rPr lang="de-DE" dirty="0"/>
                        <a:t>Erzeugen einer Datei oder Öffnen einer existierenden Datei</a:t>
                      </a:r>
                    </a:p>
                  </a:txBody>
                  <a:tcPr/>
                </a:tc>
                <a:extLst>
                  <a:ext uri="{0D108BD9-81ED-4DB2-BD59-A6C34878D82A}">
                    <a16:rowId xmlns:a16="http://schemas.microsoft.com/office/drawing/2014/main" val="10005"/>
                  </a:ext>
                </a:extLst>
              </a:tr>
              <a:tr h="461023">
                <a:tc>
                  <a:txBody>
                    <a:bodyPr/>
                    <a:lstStyle/>
                    <a:p>
                      <a:r>
                        <a:rPr lang="de-DE" dirty="0"/>
                        <a:t>close</a:t>
                      </a:r>
                    </a:p>
                  </a:txBody>
                  <a:tcPr/>
                </a:tc>
                <a:tc>
                  <a:txBody>
                    <a:bodyPr/>
                    <a:lstStyle/>
                    <a:p>
                      <a:r>
                        <a:rPr lang="de-DE" dirty="0"/>
                        <a:t>CloseHandle</a:t>
                      </a:r>
                    </a:p>
                  </a:txBody>
                  <a:tcPr/>
                </a:tc>
                <a:tc>
                  <a:txBody>
                    <a:bodyPr/>
                    <a:lstStyle/>
                    <a:p>
                      <a:r>
                        <a:rPr lang="de-DE" dirty="0"/>
                        <a:t>Datei schließen </a:t>
                      </a:r>
                    </a:p>
                  </a:txBody>
                  <a:tcPr/>
                </a:tc>
                <a:extLst>
                  <a:ext uri="{0D108BD9-81ED-4DB2-BD59-A6C34878D82A}">
                    <a16:rowId xmlns:a16="http://schemas.microsoft.com/office/drawing/2014/main" val="10006"/>
                  </a:ext>
                </a:extLst>
              </a:tr>
              <a:tr h="461023">
                <a:tc>
                  <a:txBody>
                    <a:bodyPr/>
                    <a:lstStyle/>
                    <a:p>
                      <a:r>
                        <a:rPr lang="de-DE" dirty="0"/>
                        <a:t>lseek </a:t>
                      </a:r>
                    </a:p>
                  </a:txBody>
                  <a:tcPr/>
                </a:tc>
                <a:tc>
                  <a:txBody>
                    <a:bodyPr/>
                    <a:lstStyle/>
                    <a:p>
                      <a:r>
                        <a:rPr lang="de-DE" dirty="0"/>
                        <a:t>SetFilePointer</a:t>
                      </a:r>
                    </a:p>
                  </a:txBody>
                  <a:tcPr/>
                </a:tc>
                <a:tc>
                  <a:txBody>
                    <a:bodyPr/>
                    <a:lstStyle/>
                    <a:p>
                      <a:r>
                        <a:rPr lang="de-DE" dirty="0"/>
                        <a:t>Dateizeiger bewegen</a:t>
                      </a:r>
                    </a:p>
                  </a:txBody>
                  <a:tcPr/>
                </a:tc>
                <a:extLst>
                  <a:ext uri="{0D108BD9-81ED-4DB2-BD59-A6C34878D82A}">
                    <a16:rowId xmlns:a16="http://schemas.microsoft.com/office/drawing/2014/main" val="10007"/>
                  </a:ext>
                </a:extLst>
              </a:tr>
              <a:tr h="461023">
                <a:tc>
                  <a:txBody>
                    <a:bodyPr/>
                    <a:lstStyle/>
                    <a:p>
                      <a:r>
                        <a:rPr lang="de-DE" dirty="0"/>
                        <a:t>stat</a:t>
                      </a:r>
                    </a:p>
                  </a:txBody>
                  <a:tcPr/>
                </a:tc>
                <a:tc>
                  <a:txBody>
                    <a:bodyPr/>
                    <a:lstStyle/>
                    <a:p>
                      <a:r>
                        <a:rPr lang="de-DE" dirty="0"/>
                        <a:t>GetFileAttributesEx</a:t>
                      </a:r>
                    </a:p>
                  </a:txBody>
                  <a:tcPr/>
                </a:tc>
                <a:tc>
                  <a:txBody>
                    <a:bodyPr/>
                    <a:lstStyle/>
                    <a:p>
                      <a:r>
                        <a:rPr lang="de-DE" dirty="0"/>
                        <a:t>Dateiattribute erfragen </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98741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Windows Subsystem </a:t>
            </a:r>
            <a:r>
              <a:rPr lang="de-DE" dirty="0" err="1"/>
              <a:t>for</a:t>
            </a:r>
            <a:r>
              <a:rPr lang="de-DE" dirty="0"/>
              <a:t> Linux (WSL)</a:t>
            </a:r>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20</a:t>
            </a:fld>
            <a:endParaRPr lang="en-US" dirty="0">
              <a:solidFill>
                <a:srgbClr val="424456"/>
              </a:solidFill>
            </a:endParaRPr>
          </a:p>
        </p:txBody>
      </p:sp>
      <p:sp>
        <p:nvSpPr>
          <p:cNvPr id="4" name="Inhaltsplatzhalter 3"/>
          <p:cNvSpPr>
            <a:spLocks noGrp="1"/>
          </p:cNvSpPr>
          <p:nvPr>
            <p:ph sz="quarter" idx="1"/>
          </p:nvPr>
        </p:nvSpPr>
        <p:spPr/>
        <p:txBody>
          <a:bodyPr>
            <a:normAutofit lnSpcReduction="10000"/>
          </a:bodyPr>
          <a:lstStyle/>
          <a:p>
            <a:r>
              <a:rPr lang="de-DE" dirty="0"/>
              <a:t>Kann man eine gewöhnliche Linux-Anwendung unter Windows ausführen? (Nicht unter POSIX-API)</a:t>
            </a:r>
          </a:p>
          <a:p>
            <a:r>
              <a:rPr lang="de-DE" dirty="0"/>
              <a:t>Ja, ab Windows 10 (</a:t>
            </a:r>
            <a:r>
              <a:rPr lang="de-DE" dirty="0" err="1"/>
              <a:t>build</a:t>
            </a:r>
            <a:r>
              <a:rPr lang="de-DE" dirty="0"/>
              <a:t> 16215+) ist das möglich!</a:t>
            </a:r>
          </a:p>
          <a:p>
            <a:pPr lvl="1"/>
            <a:r>
              <a:rPr lang="de-DE" sz="2000" dirty="0">
                <a:hlinkClick r:id="rId3"/>
              </a:rPr>
              <a:t>https://docs.microsoft.com/en-us/windows/wsl/install-win10</a:t>
            </a:r>
            <a:r>
              <a:rPr lang="de-DE" sz="2000" dirty="0"/>
              <a:t> </a:t>
            </a:r>
          </a:p>
          <a:p>
            <a:pPr lvl="1"/>
            <a:r>
              <a:rPr lang="de-DE" dirty="0"/>
              <a:t>Ubuntu, </a:t>
            </a:r>
            <a:r>
              <a:rPr lang="de-DE" dirty="0" err="1"/>
              <a:t>OpenSUSE</a:t>
            </a:r>
            <a:r>
              <a:rPr lang="de-DE" dirty="0"/>
              <a:t>, SLES, Kali Linux, Debian GNU</a:t>
            </a:r>
          </a:p>
          <a:p>
            <a:r>
              <a:rPr lang="de-DE" dirty="0"/>
              <a:t>Graphische Oberfläche via X11 möglich:</a:t>
            </a:r>
          </a:p>
          <a:p>
            <a:pPr lvl="1"/>
            <a:r>
              <a:rPr lang="de-DE" dirty="0"/>
              <a:t>Installiere einen X11-Server (in Windows), z.B. </a:t>
            </a:r>
            <a:r>
              <a:rPr lang="de-DE" dirty="0" err="1">
                <a:solidFill>
                  <a:srgbClr val="0070C0"/>
                </a:solidFill>
                <a:hlinkClick r:id="rId4"/>
              </a:rPr>
              <a:t>Xming</a:t>
            </a:r>
            <a:endParaRPr lang="de-DE" dirty="0">
              <a:solidFill>
                <a:srgbClr val="0070C0"/>
              </a:solidFill>
            </a:endParaRPr>
          </a:p>
          <a:p>
            <a:pPr lvl="1"/>
            <a:r>
              <a:rPr lang="de-DE" dirty="0"/>
              <a:t>Setze in Linux die Umgebungs-Variable </a:t>
            </a:r>
            <a:r>
              <a:rPr lang="de-DE" dirty="0">
                <a:solidFill>
                  <a:srgbClr val="0070C0"/>
                </a:solidFill>
              </a:rPr>
              <a:t>DISPLAY</a:t>
            </a:r>
          </a:p>
          <a:p>
            <a:pPr lvl="2"/>
            <a:r>
              <a:rPr lang="de-DE" dirty="0" err="1">
                <a:solidFill>
                  <a:srgbClr val="0070C0"/>
                </a:solidFill>
              </a:rPr>
              <a:t>export</a:t>
            </a:r>
            <a:r>
              <a:rPr lang="de-DE" dirty="0">
                <a:solidFill>
                  <a:srgbClr val="0070C0"/>
                </a:solidFill>
              </a:rPr>
              <a:t> DISPLAY=localhost:0.0</a:t>
            </a:r>
          </a:p>
          <a:p>
            <a:pPr lvl="1"/>
            <a:r>
              <a:rPr lang="de-DE" dirty="0"/>
              <a:t>Starte eine X11-Anwendung (in Linux), z.B. </a:t>
            </a:r>
            <a:r>
              <a:rPr lang="de-DE" dirty="0" err="1"/>
              <a:t>xclock</a:t>
            </a:r>
            <a:endParaRPr lang="de-DE" dirty="0"/>
          </a:p>
          <a:p>
            <a:r>
              <a:rPr lang="de-DE" dirty="0"/>
              <a:t>Info: Windows-Dateisystem unter: </a:t>
            </a:r>
            <a:r>
              <a:rPr lang="de-DE" dirty="0">
                <a:solidFill>
                  <a:srgbClr val="0070C0"/>
                </a:solidFill>
              </a:rPr>
              <a:t>/</a:t>
            </a:r>
            <a:r>
              <a:rPr lang="de-DE" dirty="0" err="1">
                <a:solidFill>
                  <a:srgbClr val="0070C0"/>
                </a:solidFill>
              </a:rPr>
              <a:t>mnt</a:t>
            </a:r>
            <a:r>
              <a:rPr lang="de-DE" dirty="0">
                <a:solidFill>
                  <a:srgbClr val="0070C0"/>
                </a:solidFill>
              </a:rPr>
              <a:t>/c/</a:t>
            </a:r>
          </a:p>
          <a:p>
            <a:r>
              <a:rPr lang="en-US" dirty="0"/>
              <a:t>Video: WSL - Architectural Overview</a:t>
            </a:r>
            <a:r>
              <a:rPr lang="de-DE" dirty="0">
                <a:solidFill>
                  <a:srgbClr val="0070C0"/>
                </a:solidFill>
              </a:rPr>
              <a:t> (</a:t>
            </a:r>
            <a:r>
              <a:rPr lang="de-DE" dirty="0">
                <a:solidFill>
                  <a:srgbClr val="0070C0"/>
                </a:solidFill>
                <a:hlinkClick r:id="rId5"/>
              </a:rPr>
              <a:t>Link</a:t>
            </a:r>
            <a:r>
              <a:rPr lang="de-DE" dirty="0">
                <a:solidFill>
                  <a:srgbClr val="0070C0"/>
                </a:solidFill>
              </a:rPr>
              <a:t>)</a:t>
            </a:r>
          </a:p>
          <a:p>
            <a:r>
              <a:rPr lang="de-DE" dirty="0"/>
              <a:t>Neu: </a:t>
            </a:r>
            <a:r>
              <a:rPr lang="en-US" dirty="0"/>
              <a:t>WSL 2 ab Windows 10 build 18917+ (</a:t>
            </a:r>
            <a:r>
              <a:rPr lang="en-US" dirty="0">
                <a:hlinkClick r:id="rId6"/>
              </a:rPr>
              <a:t>Link</a:t>
            </a:r>
            <a:r>
              <a:rPr lang="en-US" dirty="0"/>
              <a:t>)</a:t>
            </a:r>
            <a:endParaRPr lang="de-DE" dirty="0"/>
          </a:p>
        </p:txBody>
      </p:sp>
    </p:spTree>
    <p:extLst>
      <p:ext uri="{BB962C8B-B14F-4D97-AF65-F5344CB8AC3E}">
        <p14:creationId xmlns:p14="http://schemas.microsoft.com/office/powerpoint/2010/main" val="426002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
                                            <p:txEl>
                                              <p:pRg st="7" end="7"/>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21</a:t>
            </a:fld>
            <a:endParaRPr lang="de-DE"/>
          </a:p>
        </p:txBody>
      </p:sp>
      <p:sp>
        <p:nvSpPr>
          <p:cNvPr id="3" name="Titel 2"/>
          <p:cNvSpPr>
            <a:spLocks noGrp="1"/>
          </p:cNvSpPr>
          <p:nvPr>
            <p:ph type="title"/>
          </p:nvPr>
        </p:nvSpPr>
        <p:spPr>
          <a:xfrm>
            <a:off x="971600" y="1844824"/>
            <a:ext cx="7200800" cy="2160240"/>
          </a:xfrm>
        </p:spPr>
        <p:txBody>
          <a:bodyPr/>
          <a:lstStyle/>
          <a:p>
            <a:r>
              <a:rPr lang="de-DE" dirty="0"/>
              <a:t>Prozesse - Grundlagen</a:t>
            </a:r>
          </a:p>
        </p:txBody>
      </p:sp>
      <p:pic>
        <p:nvPicPr>
          <p:cNvPr id="2050" name="Picture 2" descr="C:\Artur\Academic\Lehre\10.WS-IBN\VL\figures\vl03\der Prozess - Kafka.png"/>
          <p:cNvPicPr>
            <a:picLocks noChangeAspect="1" noChangeArrowheads="1"/>
          </p:cNvPicPr>
          <p:nvPr/>
        </p:nvPicPr>
        <p:blipFill>
          <a:blip r:embed="rId2" cstate="print"/>
          <a:srcRect/>
          <a:stretch>
            <a:fillRect/>
          </a:stretch>
        </p:blipFill>
        <p:spPr bwMode="auto">
          <a:xfrm>
            <a:off x="3599892" y="3934315"/>
            <a:ext cx="1944216" cy="274080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Prozesse</a:t>
            </a:r>
          </a:p>
        </p:txBody>
      </p:sp>
      <p:sp>
        <p:nvSpPr>
          <p:cNvPr id="3" name="Inhaltsplatzhalter 2"/>
          <p:cNvSpPr>
            <a:spLocks noGrp="1"/>
          </p:cNvSpPr>
          <p:nvPr>
            <p:ph sz="quarter" idx="1"/>
          </p:nvPr>
        </p:nvSpPr>
        <p:spPr>
          <a:xfrm>
            <a:off x="457200" y="1219200"/>
            <a:ext cx="8435280" cy="4874096"/>
          </a:xfrm>
        </p:spPr>
        <p:txBody>
          <a:bodyPr>
            <a:normAutofit/>
          </a:bodyPr>
          <a:lstStyle/>
          <a:p>
            <a:pPr fontAlgn="t"/>
            <a:r>
              <a:rPr lang="de-DE" b="1" dirty="0">
                <a:solidFill>
                  <a:srgbClr val="FF0000"/>
                </a:solidFill>
              </a:rPr>
              <a:t>Prozess</a:t>
            </a:r>
            <a:r>
              <a:rPr lang="de-DE" dirty="0"/>
              <a:t> := ein Programm in Ausführung</a:t>
            </a:r>
          </a:p>
          <a:p>
            <a:pPr fontAlgn="t"/>
            <a:r>
              <a:rPr lang="de-DE" dirty="0"/>
              <a:t>Aktives Gebilde, im Gegensatz zu einem </a:t>
            </a:r>
            <a:r>
              <a:rPr lang="de-DE" b="1" dirty="0">
                <a:solidFill>
                  <a:srgbClr val="0070C0"/>
                </a:solidFill>
              </a:rPr>
              <a:t>Programm</a:t>
            </a:r>
            <a:r>
              <a:rPr lang="de-DE" dirty="0"/>
              <a:t>  </a:t>
            </a:r>
          </a:p>
          <a:p>
            <a:pPr lvl="1" fontAlgn="t"/>
            <a:r>
              <a:rPr lang="de-DE" dirty="0"/>
              <a:t>Ein Programm wird zum Prozess, wenn das BS den </a:t>
            </a:r>
            <a:r>
              <a:rPr lang="de-DE" b="1" dirty="0">
                <a:solidFill>
                  <a:srgbClr val="0070C0"/>
                </a:solidFill>
              </a:rPr>
              <a:t>Programmcode</a:t>
            </a:r>
            <a:r>
              <a:rPr lang="de-DE" dirty="0"/>
              <a:t> in den Speicher lädt und startet</a:t>
            </a:r>
          </a:p>
          <a:p>
            <a:pPr lvl="1" fontAlgn="t"/>
            <a:r>
              <a:rPr lang="de-DE" dirty="0"/>
              <a:t>Gleiches Programm mehrmals gestartet =&gt; </a:t>
            </a:r>
            <a:r>
              <a:rPr lang="de-DE" u="sng" dirty="0"/>
              <a:t>mehrere</a:t>
            </a:r>
            <a:r>
              <a:rPr lang="de-DE" dirty="0"/>
              <a:t> Prozesse</a:t>
            </a:r>
          </a:p>
          <a:p>
            <a:pPr fontAlgn="t"/>
            <a:r>
              <a:rPr lang="de-DE" dirty="0"/>
              <a:t>Besteht aus viel mehr als nur dem Programmcode</a:t>
            </a:r>
          </a:p>
          <a:p>
            <a:pPr lvl="1" fontAlgn="t"/>
            <a:r>
              <a:rPr lang="de-DE" u="sng" dirty="0"/>
              <a:t>Im Hauptspeicher</a:t>
            </a:r>
            <a:r>
              <a:rPr lang="de-DE" dirty="0"/>
              <a:t>: mehrere Bereiche</a:t>
            </a:r>
          </a:p>
          <a:p>
            <a:pPr lvl="1" fontAlgn="t"/>
            <a:r>
              <a:rPr lang="de-DE" u="sng" dirty="0"/>
              <a:t>In der „Buchhaltung“ des BS</a:t>
            </a:r>
            <a:r>
              <a:rPr lang="de-DE" dirty="0"/>
              <a:t>: Beschreibung des Prozesses und seiner aktiven Ressourcen (z.B. offenen Dateien)</a:t>
            </a:r>
          </a:p>
          <a:p>
            <a:pPr lvl="1" fontAlgn="t"/>
            <a:r>
              <a:rPr lang="de-DE" u="sng" dirty="0"/>
              <a:t>In der CPU</a:t>
            </a:r>
            <a:r>
              <a:rPr lang="de-DE" dirty="0"/>
              <a:t>: Registerinhalte, u.a. Programmzähler</a:t>
            </a:r>
          </a:p>
          <a:p>
            <a:pPr fontAlgn="t"/>
            <a:endParaRPr lang="de-DE" dirty="0">
              <a:solidFill>
                <a:schemeClr val="tx1"/>
              </a:solidFill>
            </a:endParaRPr>
          </a:p>
          <a:p>
            <a:pPr lvl="1" fontAlgn="t">
              <a:buNone/>
            </a:pP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22</a:t>
            </a:fld>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„Layout“ eines Prozesses im Hauptspeicher</a:t>
            </a:r>
          </a:p>
        </p:txBody>
      </p:sp>
      <p:sp>
        <p:nvSpPr>
          <p:cNvPr id="3" name="Inhaltsplatzhalter 2"/>
          <p:cNvSpPr>
            <a:spLocks noGrp="1"/>
          </p:cNvSpPr>
          <p:nvPr>
            <p:ph sz="quarter" idx="1"/>
          </p:nvPr>
        </p:nvSpPr>
        <p:spPr>
          <a:xfrm>
            <a:off x="3851920" y="1340768"/>
            <a:ext cx="4680520" cy="5184576"/>
          </a:xfrm>
        </p:spPr>
        <p:txBody>
          <a:bodyPr>
            <a:normAutofit fontScale="92500" lnSpcReduction="10000"/>
          </a:bodyPr>
          <a:lstStyle/>
          <a:p>
            <a:pPr marL="0" indent="0" fontAlgn="t">
              <a:buNone/>
            </a:pPr>
            <a:r>
              <a:rPr lang="de-DE" dirty="0"/>
              <a:t>Temporäre Daten</a:t>
            </a:r>
          </a:p>
          <a:p>
            <a:pPr lvl="1" fontAlgn="t"/>
            <a:r>
              <a:rPr lang="de-DE" dirty="0">
                <a:solidFill>
                  <a:schemeClr val="tx1"/>
                </a:solidFill>
              </a:rPr>
              <a:t>Rücksprungadressen, lokale Variablen, …</a:t>
            </a:r>
            <a:r>
              <a:rPr lang="de-DE" b="1" dirty="0">
                <a:solidFill>
                  <a:srgbClr val="FF0000"/>
                </a:solidFill>
              </a:rPr>
              <a:t> </a:t>
            </a:r>
          </a:p>
          <a:p>
            <a:pPr lvl="1" fontAlgn="t"/>
            <a:endParaRPr lang="de-DE" b="1" dirty="0">
              <a:solidFill>
                <a:srgbClr val="FF0000"/>
              </a:solidFill>
            </a:endParaRPr>
          </a:p>
          <a:p>
            <a:pPr lvl="1" fontAlgn="t"/>
            <a:endParaRPr lang="de-DE" b="1" dirty="0">
              <a:solidFill>
                <a:srgbClr val="FF0000"/>
              </a:solidFill>
            </a:endParaRPr>
          </a:p>
          <a:p>
            <a:pPr lvl="1" fontAlgn="t"/>
            <a:endParaRPr lang="de-DE" b="1" dirty="0">
              <a:solidFill>
                <a:srgbClr val="FF0000"/>
              </a:solidFill>
            </a:endParaRPr>
          </a:p>
          <a:p>
            <a:pPr lvl="1" fontAlgn="t"/>
            <a:endParaRPr lang="de-DE" b="1" dirty="0">
              <a:solidFill>
                <a:srgbClr val="FF0000"/>
              </a:solidFill>
            </a:endParaRPr>
          </a:p>
          <a:p>
            <a:pPr lvl="1" fontAlgn="t"/>
            <a:endParaRPr lang="de-DE" b="1" dirty="0">
              <a:solidFill>
                <a:srgbClr val="FF0000"/>
              </a:solidFill>
            </a:endParaRPr>
          </a:p>
          <a:p>
            <a:pPr marL="0" indent="0" fontAlgn="t">
              <a:buNone/>
            </a:pPr>
            <a:r>
              <a:rPr lang="de-DE" dirty="0"/>
              <a:t>Dynamisch angeforderter Speicher (C: </a:t>
            </a:r>
            <a:r>
              <a:rPr lang="de-DE" dirty="0" err="1"/>
              <a:t>malloc</a:t>
            </a:r>
            <a:r>
              <a:rPr lang="de-DE" dirty="0"/>
              <a:t>() / </a:t>
            </a:r>
            <a:r>
              <a:rPr lang="de-DE" dirty="0" err="1"/>
              <a:t>free</a:t>
            </a:r>
            <a:r>
              <a:rPr lang="de-DE"/>
              <a:t>() )</a:t>
            </a:r>
            <a:endParaRPr lang="de-DE" dirty="0"/>
          </a:p>
          <a:p>
            <a:pPr marL="0" indent="0" fontAlgn="t">
              <a:buNone/>
            </a:pPr>
            <a:endParaRPr lang="de-DE" sz="1900" dirty="0"/>
          </a:p>
          <a:p>
            <a:pPr marL="0" indent="0" fontAlgn="t">
              <a:buNone/>
            </a:pPr>
            <a:r>
              <a:rPr lang="de-DE" dirty="0"/>
              <a:t>Globale Variablen, Konstanten</a:t>
            </a:r>
          </a:p>
          <a:p>
            <a:pPr marL="0" indent="0" fontAlgn="t">
              <a:buNone/>
            </a:pPr>
            <a:endParaRPr lang="de-DE" sz="1700" dirty="0"/>
          </a:p>
          <a:p>
            <a:pPr marL="0" indent="0" fontAlgn="t">
              <a:buNone/>
            </a:pPr>
            <a:r>
              <a:rPr lang="de-DE" dirty="0"/>
              <a:t>Ausführbarer Code</a:t>
            </a:r>
          </a:p>
          <a:p>
            <a:pPr fontAlgn="t"/>
            <a:endParaRPr lang="de-DE" dirty="0">
              <a:solidFill>
                <a:schemeClr val="tx1"/>
              </a:solidFill>
            </a:endParaRPr>
          </a:p>
          <a:p>
            <a:pPr lvl="1" fontAlgn="t">
              <a:buNone/>
            </a:pP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23</a:t>
            </a:fld>
            <a:endParaRPr lang="en-US" noProof="0" dirty="0"/>
          </a:p>
        </p:txBody>
      </p:sp>
      <p:sp>
        <p:nvSpPr>
          <p:cNvPr id="5" name="Rechteck 4"/>
          <p:cNvSpPr/>
          <p:nvPr/>
        </p:nvSpPr>
        <p:spPr>
          <a:xfrm>
            <a:off x="899592" y="1340768"/>
            <a:ext cx="2448272" cy="518457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5"/>
          <p:cNvSpPr txBox="1"/>
          <p:nvPr/>
        </p:nvSpPr>
        <p:spPr>
          <a:xfrm>
            <a:off x="333400" y="6223087"/>
            <a:ext cx="312906" cy="369332"/>
          </a:xfrm>
          <a:prstGeom prst="rect">
            <a:avLst/>
          </a:prstGeom>
          <a:noFill/>
        </p:spPr>
        <p:txBody>
          <a:bodyPr wrap="none" rtlCol="0">
            <a:spAutoFit/>
          </a:bodyPr>
          <a:lstStyle/>
          <a:p>
            <a:r>
              <a:rPr lang="de-DE" dirty="0"/>
              <a:t>0</a:t>
            </a:r>
          </a:p>
        </p:txBody>
      </p:sp>
      <p:sp>
        <p:nvSpPr>
          <p:cNvPr id="7" name="Textfeld 6"/>
          <p:cNvSpPr txBox="1"/>
          <p:nvPr/>
        </p:nvSpPr>
        <p:spPr>
          <a:xfrm>
            <a:off x="179512" y="1196752"/>
            <a:ext cx="620683" cy="369332"/>
          </a:xfrm>
          <a:prstGeom prst="rect">
            <a:avLst/>
          </a:prstGeom>
          <a:noFill/>
        </p:spPr>
        <p:txBody>
          <a:bodyPr wrap="none" rtlCol="0">
            <a:spAutoFit/>
          </a:bodyPr>
          <a:lstStyle/>
          <a:p>
            <a:r>
              <a:rPr lang="de-DE" dirty="0" err="1"/>
              <a:t>max</a:t>
            </a:r>
            <a:endParaRPr lang="de-DE" dirty="0"/>
          </a:p>
        </p:txBody>
      </p:sp>
      <p:sp>
        <p:nvSpPr>
          <p:cNvPr id="8" name="Rechteck 7"/>
          <p:cNvSpPr/>
          <p:nvPr/>
        </p:nvSpPr>
        <p:spPr>
          <a:xfrm>
            <a:off x="899592" y="5661248"/>
            <a:ext cx="2448272" cy="864096"/>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Programmcode </a:t>
            </a:r>
            <a:br>
              <a:rPr lang="de-DE" sz="2000" dirty="0">
                <a:solidFill>
                  <a:schemeClr val="tx1"/>
                </a:solidFill>
              </a:rPr>
            </a:br>
            <a:r>
              <a:rPr lang="de-DE" sz="2000" dirty="0">
                <a:solidFill>
                  <a:schemeClr val="tx1"/>
                </a:solidFill>
              </a:rPr>
              <a:t>(</a:t>
            </a:r>
            <a:r>
              <a:rPr lang="de-DE" sz="2000" b="1" dirty="0" err="1">
                <a:solidFill>
                  <a:schemeClr val="tx1"/>
                </a:solidFill>
              </a:rPr>
              <a:t>text</a:t>
            </a:r>
            <a:r>
              <a:rPr lang="de-DE" sz="2000" dirty="0">
                <a:solidFill>
                  <a:schemeClr val="tx1"/>
                </a:solidFill>
              </a:rPr>
              <a:t>)</a:t>
            </a:r>
          </a:p>
        </p:txBody>
      </p:sp>
      <p:sp>
        <p:nvSpPr>
          <p:cNvPr id="9" name="Rechteck 8"/>
          <p:cNvSpPr/>
          <p:nvPr/>
        </p:nvSpPr>
        <p:spPr>
          <a:xfrm>
            <a:off x="899592" y="4941168"/>
            <a:ext cx="2448272" cy="720080"/>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Daten</a:t>
            </a:r>
          </a:p>
        </p:txBody>
      </p:sp>
      <p:sp>
        <p:nvSpPr>
          <p:cNvPr id="10" name="Rechteck 9"/>
          <p:cNvSpPr/>
          <p:nvPr/>
        </p:nvSpPr>
        <p:spPr>
          <a:xfrm>
            <a:off x="899592" y="3789040"/>
            <a:ext cx="2448272" cy="115212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Halde (</a:t>
            </a:r>
            <a:r>
              <a:rPr lang="de-DE" sz="2000" b="1" dirty="0" err="1">
                <a:solidFill>
                  <a:schemeClr val="tx1"/>
                </a:solidFill>
              </a:rPr>
              <a:t>heap</a:t>
            </a:r>
            <a:r>
              <a:rPr lang="de-DE" sz="2000" dirty="0">
                <a:solidFill>
                  <a:schemeClr val="tx1"/>
                </a:solidFill>
              </a:rPr>
              <a:t>)</a:t>
            </a:r>
          </a:p>
        </p:txBody>
      </p:sp>
      <p:sp>
        <p:nvSpPr>
          <p:cNvPr id="11" name="Rechteck 10"/>
          <p:cNvSpPr/>
          <p:nvPr/>
        </p:nvSpPr>
        <p:spPr>
          <a:xfrm>
            <a:off x="899592" y="1340768"/>
            <a:ext cx="2448272" cy="86409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Kellerspeicher (</a:t>
            </a:r>
            <a:r>
              <a:rPr lang="de-DE" sz="2000" b="1" dirty="0">
                <a:solidFill>
                  <a:schemeClr val="tx1"/>
                </a:solidFill>
              </a:rPr>
              <a:t>Stack</a:t>
            </a:r>
            <a:r>
              <a:rPr lang="de-DE" sz="2000" dirty="0">
                <a:solidFill>
                  <a:schemeClr val="tx1"/>
                </a:solidFill>
              </a:rPr>
              <a:t>)</a:t>
            </a:r>
          </a:p>
        </p:txBody>
      </p:sp>
      <p:sp>
        <p:nvSpPr>
          <p:cNvPr id="12" name="TextBox 11"/>
          <p:cNvSpPr txBox="1"/>
          <p:nvPr/>
        </p:nvSpPr>
        <p:spPr>
          <a:xfrm rot="16200000">
            <a:off x="-1714232" y="3700047"/>
            <a:ext cx="4408170" cy="369332"/>
          </a:xfrm>
          <a:prstGeom prst="rect">
            <a:avLst/>
          </a:prstGeom>
          <a:noFill/>
        </p:spPr>
        <p:txBody>
          <a:bodyPr wrap="square" rtlCol="0">
            <a:spAutoFit/>
          </a:bodyPr>
          <a:lstStyle/>
          <a:p>
            <a:pPr algn="ctr"/>
            <a:r>
              <a:rPr lang="de-DE" dirty="0"/>
              <a:t>Adressen aus Sicht des Prozesses</a:t>
            </a:r>
          </a:p>
        </p:txBody>
      </p:sp>
      <p:sp>
        <p:nvSpPr>
          <p:cNvPr id="13" name="Pfeil nach unten 12"/>
          <p:cNvSpPr/>
          <p:nvPr/>
        </p:nvSpPr>
        <p:spPr>
          <a:xfrm>
            <a:off x="3419872" y="1340768"/>
            <a:ext cx="360040" cy="864096"/>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feil nach unten 13"/>
          <p:cNvSpPr/>
          <p:nvPr/>
        </p:nvSpPr>
        <p:spPr>
          <a:xfrm rot="10800000">
            <a:off x="3419872" y="3789040"/>
            <a:ext cx="360040" cy="1152128"/>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1" dirty="0" err="1">
                <a:solidFill>
                  <a:srgbClr val="FF0000"/>
                </a:solidFill>
              </a:rPr>
              <a:t>Process</a:t>
            </a:r>
            <a:r>
              <a:rPr lang="de-DE" b="1" dirty="0">
                <a:solidFill>
                  <a:srgbClr val="FF0000"/>
                </a:solidFill>
              </a:rPr>
              <a:t> </a:t>
            </a:r>
            <a:r>
              <a:rPr lang="de-DE" b="1" dirty="0" err="1">
                <a:solidFill>
                  <a:srgbClr val="FF0000"/>
                </a:solidFill>
              </a:rPr>
              <a:t>Control</a:t>
            </a:r>
            <a:r>
              <a:rPr lang="de-DE" b="1" dirty="0">
                <a:solidFill>
                  <a:srgbClr val="FF0000"/>
                </a:solidFill>
              </a:rPr>
              <a:t> Block </a:t>
            </a:r>
            <a:r>
              <a:rPr lang="de-DE" dirty="0"/>
              <a:t>(</a:t>
            </a:r>
            <a:r>
              <a:rPr lang="de-DE" b="1" dirty="0">
                <a:solidFill>
                  <a:srgbClr val="FF0000"/>
                </a:solidFill>
              </a:rPr>
              <a:t>PCB</a:t>
            </a:r>
            <a:r>
              <a:rPr lang="de-DE" dirty="0"/>
              <a:t>)</a:t>
            </a:r>
          </a:p>
        </p:txBody>
      </p:sp>
      <p:sp>
        <p:nvSpPr>
          <p:cNvPr id="3" name="Inhaltsplatzhalter 2"/>
          <p:cNvSpPr>
            <a:spLocks noGrp="1"/>
          </p:cNvSpPr>
          <p:nvPr>
            <p:ph sz="quarter" idx="1"/>
          </p:nvPr>
        </p:nvSpPr>
        <p:spPr>
          <a:xfrm>
            <a:off x="457200" y="1219200"/>
            <a:ext cx="8435280" cy="769640"/>
          </a:xfrm>
        </p:spPr>
        <p:txBody>
          <a:bodyPr>
            <a:normAutofit fontScale="92500" lnSpcReduction="10000"/>
          </a:bodyPr>
          <a:lstStyle/>
          <a:p>
            <a:pPr fontAlgn="t"/>
            <a:r>
              <a:rPr lang="de-DE" dirty="0"/>
              <a:t>Eine Beschreibung des Prozesses aus der Sicht des BS („Buchhaltung“ des BS)</a:t>
            </a:r>
          </a:p>
          <a:p>
            <a:pPr lvl="1" fontAlgn="t">
              <a:buNone/>
            </a:pP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24</a:t>
            </a:fld>
            <a:endParaRPr lang="en-US" noProof="0" dirty="0"/>
          </a:p>
        </p:txBody>
      </p:sp>
      <p:sp>
        <p:nvSpPr>
          <p:cNvPr id="5" name="Rechteck 4"/>
          <p:cNvSpPr/>
          <p:nvPr/>
        </p:nvSpPr>
        <p:spPr>
          <a:xfrm>
            <a:off x="611560" y="2492896"/>
            <a:ext cx="3528392" cy="432048"/>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Prozesszustand (kommt noch)</a:t>
            </a:r>
          </a:p>
        </p:txBody>
      </p:sp>
      <p:sp>
        <p:nvSpPr>
          <p:cNvPr id="6" name="Rechteck 5"/>
          <p:cNvSpPr/>
          <p:nvPr/>
        </p:nvSpPr>
        <p:spPr>
          <a:xfrm>
            <a:off x="611560" y="2060848"/>
            <a:ext cx="3528392" cy="432048"/>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Prozesskennung  (</a:t>
            </a:r>
            <a:r>
              <a:rPr lang="de-DE" b="1" dirty="0" err="1">
                <a:solidFill>
                  <a:srgbClr val="FF0000"/>
                </a:solidFill>
              </a:rPr>
              <a:t>pid</a:t>
            </a:r>
            <a:r>
              <a:rPr lang="de-DE" dirty="0">
                <a:solidFill>
                  <a:schemeClr val="tx1"/>
                </a:solidFill>
              </a:rPr>
              <a:t>)</a:t>
            </a:r>
          </a:p>
        </p:txBody>
      </p:sp>
      <p:sp>
        <p:nvSpPr>
          <p:cNvPr id="7" name="Rechteck 6"/>
          <p:cNvSpPr/>
          <p:nvPr/>
        </p:nvSpPr>
        <p:spPr>
          <a:xfrm>
            <a:off x="611560" y="2924944"/>
            <a:ext cx="3528392" cy="432048"/>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CPU-Programmzähler (Kopie)</a:t>
            </a:r>
          </a:p>
        </p:txBody>
      </p:sp>
      <p:sp>
        <p:nvSpPr>
          <p:cNvPr id="8" name="Rechteck 7"/>
          <p:cNvSpPr/>
          <p:nvPr/>
        </p:nvSpPr>
        <p:spPr>
          <a:xfrm>
            <a:off x="611560" y="3356992"/>
            <a:ext cx="3528392" cy="1152128"/>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Kopien </a:t>
            </a:r>
          </a:p>
          <a:p>
            <a:pPr algn="ctr"/>
            <a:r>
              <a:rPr lang="de-DE" dirty="0">
                <a:solidFill>
                  <a:schemeClr val="tx1"/>
                </a:solidFill>
              </a:rPr>
              <a:t>von Inhalten</a:t>
            </a:r>
          </a:p>
          <a:p>
            <a:pPr algn="ctr"/>
            <a:r>
              <a:rPr lang="de-DE" dirty="0">
                <a:solidFill>
                  <a:schemeClr val="tx1"/>
                </a:solidFill>
              </a:rPr>
              <a:t>anderer CPU-Register</a:t>
            </a:r>
          </a:p>
        </p:txBody>
      </p:sp>
      <p:sp>
        <p:nvSpPr>
          <p:cNvPr id="9" name="Rechteck 8"/>
          <p:cNvSpPr/>
          <p:nvPr/>
        </p:nvSpPr>
        <p:spPr>
          <a:xfrm>
            <a:off x="611560" y="4509120"/>
            <a:ext cx="3528392" cy="864096"/>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rPr>
              <a:t>Schedulinginformation</a:t>
            </a:r>
            <a:r>
              <a:rPr lang="de-DE" dirty="0">
                <a:solidFill>
                  <a:schemeClr val="tx1"/>
                </a:solidFill>
              </a:rPr>
              <a:t> (</a:t>
            </a:r>
            <a:r>
              <a:rPr lang="de-DE" dirty="0" err="1">
                <a:solidFill>
                  <a:schemeClr val="tx1"/>
                </a:solidFill>
              </a:rPr>
              <a:t>Scheduling</a:t>
            </a:r>
            <a:r>
              <a:rPr lang="de-DE" dirty="0">
                <a:solidFill>
                  <a:schemeClr val="tx1"/>
                </a:solidFill>
              </a:rPr>
              <a:t>: </a:t>
            </a:r>
            <a:r>
              <a:rPr lang="de-DE" b="1" dirty="0">
                <a:solidFill>
                  <a:schemeClr val="tx1"/>
                </a:solidFill>
                <a:hlinkClick r:id="rId3"/>
              </a:rPr>
              <a:t>Ablaufsteuerung</a:t>
            </a:r>
            <a:r>
              <a:rPr lang="de-DE" dirty="0">
                <a:solidFill>
                  <a:schemeClr val="tx1"/>
                </a:solidFill>
              </a:rPr>
              <a:t>)</a:t>
            </a:r>
          </a:p>
        </p:txBody>
      </p:sp>
      <p:sp>
        <p:nvSpPr>
          <p:cNvPr id="10" name="Rechteck 9"/>
          <p:cNvSpPr/>
          <p:nvPr/>
        </p:nvSpPr>
        <p:spPr>
          <a:xfrm>
            <a:off x="611560" y="5373216"/>
            <a:ext cx="3528392" cy="720080"/>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Speichergrenzen,</a:t>
            </a:r>
            <a:br>
              <a:rPr lang="de-DE" dirty="0">
                <a:solidFill>
                  <a:schemeClr val="tx1"/>
                </a:solidFill>
              </a:rPr>
            </a:br>
            <a:r>
              <a:rPr lang="de-DE" dirty="0">
                <a:solidFill>
                  <a:schemeClr val="tx1"/>
                </a:solidFill>
              </a:rPr>
              <a:t>Daten zu Speichermanagement</a:t>
            </a:r>
          </a:p>
        </p:txBody>
      </p:sp>
      <p:sp>
        <p:nvSpPr>
          <p:cNvPr id="11" name="Rechteck 10"/>
          <p:cNvSpPr/>
          <p:nvPr/>
        </p:nvSpPr>
        <p:spPr>
          <a:xfrm>
            <a:off x="4716016" y="2060848"/>
            <a:ext cx="3528392" cy="720080"/>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Liste der offenen Dateien</a:t>
            </a:r>
          </a:p>
        </p:txBody>
      </p:sp>
      <p:sp>
        <p:nvSpPr>
          <p:cNvPr id="12" name="Rechteck 11"/>
          <p:cNvSpPr/>
          <p:nvPr/>
        </p:nvSpPr>
        <p:spPr>
          <a:xfrm>
            <a:off x="4716016" y="2780928"/>
            <a:ext cx="3528392" cy="504056"/>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Status von I/O-Geräten</a:t>
            </a:r>
          </a:p>
        </p:txBody>
      </p:sp>
      <p:sp>
        <p:nvSpPr>
          <p:cNvPr id="13" name="Rechteck 12"/>
          <p:cNvSpPr/>
          <p:nvPr/>
        </p:nvSpPr>
        <p:spPr>
          <a:xfrm>
            <a:off x="4716016" y="3284984"/>
            <a:ext cx="3528392" cy="864096"/>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Abrechnungsinformationen, Nutzungsstatistiken</a:t>
            </a:r>
          </a:p>
        </p:txBody>
      </p:sp>
      <p:sp>
        <p:nvSpPr>
          <p:cNvPr id="14" name="Rechteck 13"/>
          <p:cNvSpPr/>
          <p:nvPr/>
        </p:nvSpPr>
        <p:spPr>
          <a:xfrm>
            <a:off x="4716016" y="4149080"/>
            <a:ext cx="3528392" cy="864096"/>
          </a:xfrm>
          <a:prstGeom prst="rect">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Threads (später)</a:t>
            </a:r>
          </a:p>
        </p:txBody>
      </p:sp>
      <p:sp>
        <p:nvSpPr>
          <p:cNvPr id="15" name="Rechteck 14"/>
          <p:cNvSpPr/>
          <p:nvPr/>
        </p:nvSpPr>
        <p:spPr>
          <a:xfrm>
            <a:off x="4716016" y="5013176"/>
            <a:ext cx="3528392" cy="1080120"/>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PCB in Linux</a:t>
            </a:r>
          </a:p>
        </p:txBody>
      </p:sp>
      <p:sp>
        <p:nvSpPr>
          <p:cNvPr id="3" name="Inhaltsplatzhalter 2"/>
          <p:cNvSpPr>
            <a:spLocks noGrp="1"/>
          </p:cNvSpPr>
          <p:nvPr>
            <p:ph sz="quarter" idx="1"/>
          </p:nvPr>
        </p:nvSpPr>
        <p:spPr>
          <a:xfrm>
            <a:off x="457200" y="1219200"/>
            <a:ext cx="8435280" cy="1849760"/>
          </a:xfrm>
        </p:spPr>
        <p:txBody>
          <a:bodyPr>
            <a:normAutofit fontScale="92500" lnSpcReduction="10000"/>
          </a:bodyPr>
          <a:lstStyle/>
          <a:p>
            <a:pPr fontAlgn="t"/>
            <a:r>
              <a:rPr lang="de-DE" dirty="0"/>
              <a:t>PCB wird in Linux als eine </a:t>
            </a:r>
            <a:r>
              <a:rPr lang="de-DE" dirty="0">
                <a:solidFill>
                  <a:srgbClr val="0070C0"/>
                </a:solidFill>
              </a:rPr>
              <a:t>C struct </a:t>
            </a:r>
            <a:r>
              <a:rPr lang="de-DE" dirty="0"/>
              <a:t>(Verbund) namens </a:t>
            </a:r>
            <a:r>
              <a:rPr lang="de-DE" b="1" dirty="0">
                <a:solidFill>
                  <a:srgbClr val="0070C0"/>
                </a:solidFill>
              </a:rPr>
              <a:t>task_struct</a:t>
            </a:r>
            <a:r>
              <a:rPr lang="de-DE" b="1" dirty="0">
                <a:solidFill>
                  <a:srgbClr val="FF0000"/>
                </a:solidFill>
              </a:rPr>
              <a:t> </a:t>
            </a:r>
            <a:r>
              <a:rPr lang="de-DE" dirty="0"/>
              <a:t>gespeichert  </a:t>
            </a:r>
            <a:endParaRPr lang="de-DE" b="1" dirty="0">
              <a:solidFill>
                <a:srgbClr val="FF0000"/>
              </a:solidFill>
            </a:endParaRPr>
          </a:p>
          <a:p>
            <a:pPr lvl="1" fontAlgn="t"/>
            <a:r>
              <a:rPr lang="de-DE" dirty="0">
                <a:solidFill>
                  <a:schemeClr val="tx1"/>
                </a:solidFill>
              </a:rPr>
              <a:t>Alle aktiven Prozesse sind als eine doppelt-verkette Liste von task_struct‘s dargestellt </a:t>
            </a:r>
          </a:p>
          <a:p>
            <a:pPr lvl="1" fontAlgn="t"/>
            <a:r>
              <a:rPr lang="de-DE" dirty="0">
                <a:solidFill>
                  <a:schemeClr val="tx1"/>
                </a:solidFill>
              </a:rPr>
              <a:t>Zeiger </a:t>
            </a:r>
            <a:r>
              <a:rPr lang="de-DE" b="1" dirty="0" err="1">
                <a:solidFill>
                  <a:srgbClr val="0070C0"/>
                </a:solidFill>
              </a:rPr>
              <a:t>current</a:t>
            </a:r>
            <a:r>
              <a:rPr lang="de-DE" dirty="0">
                <a:solidFill>
                  <a:schemeClr val="tx1"/>
                </a:solidFill>
              </a:rPr>
              <a:t> zeigt zu dem aktuell ausgeführten Prozess</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25</a:t>
            </a:fld>
            <a:endParaRPr lang="en-US" noProof="0" dirty="0"/>
          </a:p>
        </p:txBody>
      </p:sp>
      <p:graphicFrame>
        <p:nvGraphicFramePr>
          <p:cNvPr id="5" name="Tabelle 4"/>
          <p:cNvGraphicFramePr>
            <a:graphicFrameLocks noGrp="1"/>
          </p:cNvGraphicFramePr>
          <p:nvPr/>
        </p:nvGraphicFramePr>
        <p:xfrm>
          <a:off x="467544" y="3068960"/>
          <a:ext cx="7776864" cy="3435808"/>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0000"/>
                    </a:ext>
                  </a:extLst>
                </a:gridCol>
                <a:gridCol w="4968552">
                  <a:extLst>
                    <a:ext uri="{9D8B030D-6E8A-4147-A177-3AD203B41FA5}">
                      <a16:colId xmlns:a16="http://schemas.microsoft.com/office/drawing/2014/main" val="20001"/>
                    </a:ext>
                  </a:extLst>
                </a:gridCol>
              </a:tblGrid>
              <a:tr h="429476">
                <a:tc>
                  <a:txBody>
                    <a:bodyPr/>
                    <a:lstStyle/>
                    <a:p>
                      <a:r>
                        <a:rPr lang="de-DE" dirty="0"/>
                        <a:t>Feld in PCB</a:t>
                      </a:r>
                    </a:p>
                  </a:txBody>
                  <a:tcPr/>
                </a:tc>
                <a:tc>
                  <a:txBody>
                    <a:bodyPr/>
                    <a:lstStyle/>
                    <a:p>
                      <a:r>
                        <a:rPr lang="de-DE" dirty="0"/>
                        <a:t>Beschreibung</a:t>
                      </a:r>
                    </a:p>
                  </a:txBody>
                  <a:tcPr/>
                </a:tc>
                <a:extLst>
                  <a:ext uri="{0D108BD9-81ED-4DB2-BD59-A6C34878D82A}">
                    <a16:rowId xmlns:a16="http://schemas.microsoft.com/office/drawing/2014/main" val="10000"/>
                  </a:ext>
                </a:extLst>
              </a:tr>
              <a:tr h="429476">
                <a:tc>
                  <a:txBody>
                    <a:bodyPr/>
                    <a:lstStyle/>
                    <a:p>
                      <a:r>
                        <a:rPr lang="de-DE" dirty="0" err="1"/>
                        <a:t>pid_t</a:t>
                      </a:r>
                      <a:r>
                        <a:rPr lang="de-DE" dirty="0"/>
                        <a:t> </a:t>
                      </a:r>
                      <a:r>
                        <a:rPr lang="de-DE" dirty="0" err="1">
                          <a:solidFill>
                            <a:srgbClr val="FF0000"/>
                          </a:solidFill>
                        </a:rPr>
                        <a:t>pid</a:t>
                      </a:r>
                      <a:endParaRPr lang="de-DE" dirty="0">
                        <a:solidFill>
                          <a:srgbClr val="FF0000"/>
                        </a:solidFill>
                      </a:endParaRPr>
                    </a:p>
                  </a:txBody>
                  <a:tcPr/>
                </a:tc>
                <a:tc>
                  <a:txBody>
                    <a:bodyPr/>
                    <a:lstStyle/>
                    <a:p>
                      <a:r>
                        <a:rPr lang="de-DE" dirty="0"/>
                        <a:t>Prozesskennung</a:t>
                      </a:r>
                      <a:r>
                        <a:rPr lang="de-DE" baseline="0" dirty="0"/>
                        <a:t> (</a:t>
                      </a:r>
                      <a:r>
                        <a:rPr lang="de-DE" baseline="0" dirty="0" err="1"/>
                        <a:t>process</a:t>
                      </a:r>
                      <a:r>
                        <a:rPr lang="de-DE" baseline="0" dirty="0"/>
                        <a:t> </a:t>
                      </a:r>
                      <a:r>
                        <a:rPr lang="de-DE" baseline="0" dirty="0" err="1"/>
                        <a:t>id</a:t>
                      </a:r>
                      <a:r>
                        <a:rPr lang="de-DE" baseline="0" dirty="0"/>
                        <a:t>)</a:t>
                      </a:r>
                      <a:endParaRPr lang="de-DE" dirty="0"/>
                    </a:p>
                  </a:txBody>
                  <a:tcPr/>
                </a:tc>
                <a:extLst>
                  <a:ext uri="{0D108BD9-81ED-4DB2-BD59-A6C34878D82A}">
                    <a16:rowId xmlns:a16="http://schemas.microsoft.com/office/drawing/2014/main" val="10001"/>
                  </a:ext>
                </a:extLst>
              </a:tr>
              <a:tr h="429476">
                <a:tc>
                  <a:txBody>
                    <a:bodyPr/>
                    <a:lstStyle/>
                    <a:p>
                      <a:r>
                        <a:rPr lang="de-DE" dirty="0" err="1"/>
                        <a:t>long</a:t>
                      </a:r>
                      <a:r>
                        <a:rPr lang="de-DE" dirty="0"/>
                        <a:t> </a:t>
                      </a:r>
                      <a:r>
                        <a:rPr lang="de-DE" dirty="0" err="1">
                          <a:solidFill>
                            <a:srgbClr val="FF0000"/>
                          </a:solidFill>
                        </a:rPr>
                        <a:t>state</a:t>
                      </a:r>
                      <a:endParaRPr lang="de-DE" dirty="0">
                        <a:solidFill>
                          <a:srgbClr val="FF0000"/>
                        </a:solidFill>
                      </a:endParaRPr>
                    </a:p>
                  </a:txBody>
                  <a:tcPr/>
                </a:tc>
                <a:tc>
                  <a:txBody>
                    <a:bodyPr/>
                    <a:lstStyle/>
                    <a:p>
                      <a:r>
                        <a:rPr lang="de-DE" dirty="0"/>
                        <a:t>Zustand</a:t>
                      </a:r>
                    </a:p>
                  </a:txBody>
                  <a:tcPr/>
                </a:tc>
                <a:extLst>
                  <a:ext uri="{0D108BD9-81ED-4DB2-BD59-A6C34878D82A}">
                    <a16:rowId xmlns:a16="http://schemas.microsoft.com/office/drawing/2014/main" val="10002"/>
                  </a:ext>
                </a:extLst>
              </a:tr>
              <a:tr h="429476">
                <a:tc>
                  <a:txBody>
                    <a:bodyPr/>
                    <a:lstStyle/>
                    <a:p>
                      <a:r>
                        <a:rPr lang="de-DE" dirty="0" err="1"/>
                        <a:t>unsigned</a:t>
                      </a:r>
                      <a:r>
                        <a:rPr lang="de-DE" dirty="0"/>
                        <a:t> </a:t>
                      </a:r>
                      <a:r>
                        <a:rPr lang="de-DE" dirty="0" err="1"/>
                        <a:t>int</a:t>
                      </a:r>
                      <a:r>
                        <a:rPr lang="de-DE" dirty="0"/>
                        <a:t> </a:t>
                      </a:r>
                      <a:r>
                        <a:rPr lang="de-DE" dirty="0" err="1">
                          <a:solidFill>
                            <a:srgbClr val="FF0000"/>
                          </a:solidFill>
                        </a:rPr>
                        <a:t>time_slice</a:t>
                      </a:r>
                      <a:endParaRPr lang="de-DE" dirty="0">
                        <a:solidFill>
                          <a:srgbClr val="FF0000"/>
                        </a:solidFill>
                      </a:endParaRPr>
                    </a:p>
                  </a:txBody>
                  <a:tcPr/>
                </a:tc>
                <a:tc>
                  <a:txBody>
                    <a:bodyPr/>
                    <a:lstStyle/>
                    <a:p>
                      <a:r>
                        <a:rPr lang="de-DE" dirty="0" err="1"/>
                        <a:t>Scheduling</a:t>
                      </a:r>
                      <a:r>
                        <a:rPr lang="de-DE" dirty="0"/>
                        <a:t>-Information</a:t>
                      </a:r>
                    </a:p>
                  </a:txBody>
                  <a:tcPr/>
                </a:tc>
                <a:extLst>
                  <a:ext uri="{0D108BD9-81ED-4DB2-BD59-A6C34878D82A}">
                    <a16:rowId xmlns:a16="http://schemas.microsoft.com/office/drawing/2014/main" val="10003"/>
                  </a:ext>
                </a:extLst>
              </a:tr>
              <a:tr h="429476">
                <a:tc>
                  <a:txBody>
                    <a:bodyPr/>
                    <a:lstStyle/>
                    <a:p>
                      <a:r>
                        <a:rPr lang="de-DE" dirty="0" err="1"/>
                        <a:t>struct</a:t>
                      </a:r>
                      <a:r>
                        <a:rPr lang="de-DE" dirty="0"/>
                        <a:t> </a:t>
                      </a:r>
                      <a:r>
                        <a:rPr lang="de-DE" dirty="0" err="1"/>
                        <a:t>task_struct</a:t>
                      </a:r>
                      <a:r>
                        <a:rPr lang="de-DE" dirty="0"/>
                        <a:t> *</a:t>
                      </a:r>
                      <a:r>
                        <a:rPr lang="de-DE" dirty="0" err="1">
                          <a:solidFill>
                            <a:srgbClr val="FF0000"/>
                          </a:solidFill>
                        </a:rPr>
                        <a:t>parent</a:t>
                      </a:r>
                      <a:endParaRPr lang="de-DE" dirty="0">
                        <a:solidFill>
                          <a:srgbClr val="FF0000"/>
                        </a:solidFill>
                      </a:endParaRPr>
                    </a:p>
                  </a:txBody>
                  <a:tcPr/>
                </a:tc>
                <a:tc>
                  <a:txBody>
                    <a:bodyPr/>
                    <a:lstStyle/>
                    <a:p>
                      <a:r>
                        <a:rPr lang="de-DE" dirty="0"/>
                        <a:t>Zeiger auf den PCB des Elternprozesses</a:t>
                      </a:r>
                    </a:p>
                  </a:txBody>
                  <a:tcPr/>
                </a:tc>
                <a:extLst>
                  <a:ext uri="{0D108BD9-81ED-4DB2-BD59-A6C34878D82A}">
                    <a16:rowId xmlns:a16="http://schemas.microsoft.com/office/drawing/2014/main" val="10004"/>
                  </a:ext>
                </a:extLst>
              </a:tr>
              <a:tr h="429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err="1"/>
                        <a:t>struct</a:t>
                      </a:r>
                      <a:r>
                        <a:rPr lang="de-DE" dirty="0"/>
                        <a:t> </a:t>
                      </a:r>
                      <a:r>
                        <a:rPr lang="de-DE" dirty="0" err="1"/>
                        <a:t>list_head</a:t>
                      </a:r>
                      <a:r>
                        <a:rPr lang="de-DE" dirty="0"/>
                        <a:t> </a:t>
                      </a:r>
                      <a:r>
                        <a:rPr lang="de-DE" dirty="0" err="1">
                          <a:solidFill>
                            <a:srgbClr val="FF0000"/>
                          </a:solidFill>
                        </a:rPr>
                        <a:t>children</a:t>
                      </a:r>
                      <a:endParaRPr lang="de-DE" dirty="0">
                        <a:solidFill>
                          <a:srgbClr val="FF0000"/>
                        </a:solidFill>
                      </a:endParaRPr>
                    </a:p>
                  </a:txBody>
                  <a:tcPr/>
                </a:tc>
                <a:tc>
                  <a:txBody>
                    <a:bodyPr/>
                    <a:lstStyle/>
                    <a:p>
                      <a:r>
                        <a:rPr lang="de-DE" dirty="0"/>
                        <a:t>Anfang der Liste von Kinderprozessen</a:t>
                      </a:r>
                    </a:p>
                  </a:txBody>
                  <a:tcPr/>
                </a:tc>
                <a:extLst>
                  <a:ext uri="{0D108BD9-81ED-4DB2-BD59-A6C34878D82A}">
                    <a16:rowId xmlns:a16="http://schemas.microsoft.com/office/drawing/2014/main" val="10005"/>
                  </a:ext>
                </a:extLst>
              </a:tr>
              <a:tr h="429476">
                <a:tc>
                  <a:txBody>
                    <a:bodyPr/>
                    <a:lstStyle/>
                    <a:p>
                      <a:r>
                        <a:rPr lang="de-DE" dirty="0" err="1"/>
                        <a:t>struct</a:t>
                      </a:r>
                      <a:r>
                        <a:rPr lang="de-DE" baseline="0" dirty="0"/>
                        <a:t> </a:t>
                      </a:r>
                      <a:r>
                        <a:rPr lang="de-DE" baseline="0" dirty="0" err="1"/>
                        <a:t>files_struct</a:t>
                      </a:r>
                      <a:r>
                        <a:rPr lang="de-DE" baseline="0" dirty="0"/>
                        <a:t> *</a:t>
                      </a:r>
                      <a:r>
                        <a:rPr lang="de-DE" baseline="0" dirty="0" err="1">
                          <a:solidFill>
                            <a:srgbClr val="FF0000"/>
                          </a:solidFill>
                        </a:rPr>
                        <a:t>files</a:t>
                      </a:r>
                      <a:endParaRPr lang="de-DE" dirty="0">
                        <a:solidFill>
                          <a:srgbClr val="FF0000"/>
                        </a:solidFill>
                      </a:endParaRPr>
                    </a:p>
                  </a:txBody>
                  <a:tcPr/>
                </a:tc>
                <a:tc>
                  <a:txBody>
                    <a:bodyPr/>
                    <a:lstStyle/>
                    <a:p>
                      <a:r>
                        <a:rPr lang="de-DE" dirty="0"/>
                        <a:t>Liste der geöffneten</a:t>
                      </a:r>
                      <a:r>
                        <a:rPr lang="de-DE" baseline="0" dirty="0"/>
                        <a:t> Dateien</a:t>
                      </a:r>
                      <a:endParaRPr lang="de-DE" dirty="0"/>
                    </a:p>
                  </a:txBody>
                  <a:tcPr/>
                </a:tc>
                <a:extLst>
                  <a:ext uri="{0D108BD9-81ED-4DB2-BD59-A6C34878D82A}">
                    <a16:rowId xmlns:a16="http://schemas.microsoft.com/office/drawing/2014/main" val="10006"/>
                  </a:ext>
                </a:extLst>
              </a:tr>
              <a:tr h="429476">
                <a:tc>
                  <a:txBody>
                    <a:bodyPr/>
                    <a:lstStyle/>
                    <a:p>
                      <a:r>
                        <a:rPr lang="de-DE" dirty="0" err="1"/>
                        <a:t>struct</a:t>
                      </a:r>
                      <a:r>
                        <a:rPr lang="de-DE" dirty="0"/>
                        <a:t> </a:t>
                      </a:r>
                      <a:r>
                        <a:rPr lang="de-DE" dirty="0" err="1"/>
                        <a:t>mm_struct</a:t>
                      </a:r>
                      <a:r>
                        <a:rPr lang="de-DE" dirty="0"/>
                        <a:t> *</a:t>
                      </a:r>
                      <a:r>
                        <a:rPr lang="de-DE" dirty="0">
                          <a:solidFill>
                            <a:srgbClr val="FF0000"/>
                          </a:solidFill>
                        </a:rPr>
                        <a:t>mm</a:t>
                      </a:r>
                    </a:p>
                  </a:txBody>
                  <a:tcPr/>
                </a:tc>
                <a:tc>
                  <a:txBody>
                    <a:bodyPr/>
                    <a:lstStyle/>
                    <a:p>
                      <a:r>
                        <a:rPr lang="de-DE" dirty="0"/>
                        <a:t>Infos zum Adressraum</a:t>
                      </a:r>
                      <a:r>
                        <a:rPr lang="de-DE" baseline="0" dirty="0"/>
                        <a:t> des Prozesses</a:t>
                      </a:r>
                      <a:endParaRPr lang="de-DE" dirty="0"/>
                    </a:p>
                  </a:txBody>
                  <a:tcPr/>
                </a:tc>
                <a:extLst>
                  <a:ext uri="{0D108BD9-81ED-4DB2-BD59-A6C34878D82A}">
                    <a16:rowId xmlns:a16="http://schemas.microsoft.com/office/drawing/2014/main" val="10007"/>
                  </a:ext>
                </a:extLst>
              </a:tr>
            </a:tbl>
          </a:graphicData>
        </a:graphic>
      </p:graphicFrame>
      <p:sp>
        <p:nvSpPr>
          <p:cNvPr id="6" name="Textfeld 5"/>
          <p:cNvSpPr txBox="1"/>
          <p:nvPr/>
        </p:nvSpPr>
        <p:spPr>
          <a:xfrm>
            <a:off x="1619672" y="6488668"/>
            <a:ext cx="415498" cy="369332"/>
          </a:xfrm>
          <a:prstGeom prst="rect">
            <a:avLst/>
          </a:prstGeom>
          <a:noFill/>
        </p:spPr>
        <p:txBody>
          <a:bodyPr wrap="none" rtlCol="0">
            <a:spAutoFit/>
          </a:bodyPr>
          <a:lstStyle/>
          <a:p>
            <a:r>
              <a:rPr lang="de-DE" dirty="0"/>
              <a:t>…</a:t>
            </a:r>
          </a:p>
        </p:txBody>
      </p:sp>
      <p:sp>
        <p:nvSpPr>
          <p:cNvPr id="7" name="Textfeld 6"/>
          <p:cNvSpPr txBox="1"/>
          <p:nvPr/>
        </p:nvSpPr>
        <p:spPr>
          <a:xfrm>
            <a:off x="3995936" y="6488668"/>
            <a:ext cx="415498" cy="369332"/>
          </a:xfrm>
          <a:prstGeom prst="rect">
            <a:avLst/>
          </a:prstGeom>
          <a:noFill/>
        </p:spPr>
        <p:txBody>
          <a:bodyPr wrap="none" rtlCol="0">
            <a:spAutoFit/>
          </a:bodyPr>
          <a:lstStyle/>
          <a:p>
            <a:r>
              <a:rPr lang="de-DE"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solidFill>
                  <a:srgbClr val="424456"/>
                </a:solidFill>
              </a:rPr>
              <a:pPr/>
              <a:t>26</a:t>
            </a:fld>
            <a:endParaRPr lang="de-DE">
              <a:solidFill>
                <a:srgbClr val="424456"/>
              </a:solidFill>
            </a:endParaRPr>
          </a:p>
        </p:txBody>
      </p:sp>
      <p:sp>
        <p:nvSpPr>
          <p:cNvPr id="3" name="Titel 2"/>
          <p:cNvSpPr>
            <a:spLocks noGrp="1"/>
          </p:cNvSpPr>
          <p:nvPr>
            <p:ph type="title"/>
          </p:nvPr>
        </p:nvSpPr>
        <p:spPr/>
        <p:txBody>
          <a:bodyPr/>
          <a:lstStyle/>
          <a:p>
            <a:r>
              <a:rPr lang="de-DE" dirty="0">
                <a:solidFill>
                  <a:schemeClr val="tx1"/>
                </a:solidFill>
              </a:rPr>
              <a:t>Systemaufrufe zur Prozessverwaltung</a:t>
            </a:r>
          </a:p>
        </p:txBody>
      </p:sp>
    </p:spTree>
    <p:extLst>
      <p:ext uri="{BB962C8B-B14F-4D97-AF65-F5344CB8AC3E}">
        <p14:creationId xmlns:p14="http://schemas.microsoft.com/office/powerpoint/2010/main" val="3316350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POSIX Prozessverwaltung</a:t>
            </a:r>
          </a:p>
        </p:txBody>
      </p:sp>
      <p:sp>
        <p:nvSpPr>
          <p:cNvPr id="3" name="Inhaltsplatzhalter 2"/>
          <p:cNvSpPr>
            <a:spLocks noGrp="1"/>
          </p:cNvSpPr>
          <p:nvPr>
            <p:ph sz="quarter" idx="1"/>
          </p:nvPr>
        </p:nvSpPr>
        <p:spPr>
          <a:xfrm>
            <a:off x="457200" y="4869160"/>
            <a:ext cx="8435280" cy="1944216"/>
          </a:xfrm>
        </p:spPr>
        <p:txBody>
          <a:bodyPr>
            <a:normAutofit fontScale="92500" lnSpcReduction="10000"/>
          </a:bodyPr>
          <a:lstStyle/>
          <a:p>
            <a:r>
              <a:rPr lang="de-DE" b="1" dirty="0">
                <a:solidFill>
                  <a:srgbClr val="FF0000"/>
                </a:solidFill>
              </a:rPr>
              <a:t>fork()</a:t>
            </a:r>
            <a:r>
              <a:rPr lang="de-DE" dirty="0"/>
              <a:t>: erzeugt eine </a:t>
            </a:r>
            <a:r>
              <a:rPr lang="de-DE" u="sng" dirty="0"/>
              <a:t>identische</a:t>
            </a:r>
            <a:r>
              <a:rPr lang="de-DE" dirty="0"/>
              <a:t> Kopie des Prozesses (und startet diese) – ein </a:t>
            </a:r>
            <a:r>
              <a:rPr lang="de-DE" dirty="0" err="1">
                <a:solidFill>
                  <a:srgbClr val="FF0000"/>
                </a:solidFill>
              </a:rPr>
              <a:t>Kindprozess</a:t>
            </a:r>
            <a:endParaRPr lang="de-DE" dirty="0">
              <a:solidFill>
                <a:srgbClr val="FF0000"/>
              </a:solidFill>
            </a:endParaRPr>
          </a:p>
          <a:p>
            <a:r>
              <a:rPr lang="de-DE" b="1" dirty="0">
                <a:solidFill>
                  <a:srgbClr val="FF0000"/>
                </a:solidFill>
              </a:rPr>
              <a:t>execve()</a:t>
            </a:r>
            <a:r>
              <a:rPr lang="de-DE" dirty="0"/>
              <a:t>: das Speicherabbild (= Programmcode, Daten ..) des aufrufenden Prozesses wird durch den Inhalt einer Datei mit Pfad „name“ ersetzt</a:t>
            </a:r>
          </a:p>
          <a:p>
            <a:endParaRPr lang="de-DE" dirty="0"/>
          </a:p>
          <a:p>
            <a:endParaRPr lang="de-DE" b="1" dirty="0">
              <a:solidFill>
                <a:srgbClr val="FF0000"/>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smtClean="0">
                <a:solidFill>
                  <a:srgbClr val="424456"/>
                </a:solidFill>
              </a:rPr>
              <a:pPr/>
              <a:t>27</a:t>
            </a:fld>
            <a:endParaRPr lang="en-US" dirty="0">
              <a:solidFill>
                <a:srgbClr val="424456"/>
              </a:solidFill>
            </a:endParaRPr>
          </a:p>
        </p:txBody>
      </p:sp>
      <p:graphicFrame>
        <p:nvGraphicFramePr>
          <p:cNvPr id="5" name="Tabelle 4"/>
          <p:cNvGraphicFramePr>
            <a:graphicFrameLocks noGrp="1"/>
          </p:cNvGraphicFramePr>
          <p:nvPr/>
        </p:nvGraphicFramePr>
        <p:xfrm>
          <a:off x="395536" y="1340768"/>
          <a:ext cx="8280920" cy="3370460"/>
        </p:xfrm>
        <a:graphic>
          <a:graphicData uri="http://schemas.openxmlformats.org/drawingml/2006/table">
            <a:tbl>
              <a:tblPr firstRow="1" bandRow="1">
                <a:tableStyleId>{5C22544A-7EE6-4342-B048-85BDC9FD1C3A}</a:tableStyleId>
              </a:tblPr>
              <a:tblGrid>
                <a:gridCol w="4140460">
                  <a:extLst>
                    <a:ext uri="{9D8B030D-6E8A-4147-A177-3AD203B41FA5}">
                      <a16:colId xmlns:a16="http://schemas.microsoft.com/office/drawing/2014/main" val="20000"/>
                    </a:ext>
                  </a:extLst>
                </a:gridCol>
                <a:gridCol w="4140460">
                  <a:extLst>
                    <a:ext uri="{9D8B030D-6E8A-4147-A177-3AD203B41FA5}">
                      <a16:colId xmlns:a16="http://schemas.microsoft.com/office/drawing/2014/main" val="20001"/>
                    </a:ext>
                  </a:extLst>
                </a:gridCol>
              </a:tblGrid>
              <a:tr h="633670">
                <a:tc>
                  <a:txBody>
                    <a:bodyPr/>
                    <a:lstStyle/>
                    <a:p>
                      <a:r>
                        <a:rPr lang="de-DE" sz="2000" dirty="0"/>
                        <a:t>Aufruf</a:t>
                      </a:r>
                    </a:p>
                  </a:txBody>
                  <a:tcPr/>
                </a:tc>
                <a:tc>
                  <a:txBody>
                    <a:bodyPr/>
                    <a:lstStyle/>
                    <a:p>
                      <a:r>
                        <a:rPr lang="de-DE" sz="2000" dirty="0"/>
                        <a:t>Beschreibung</a:t>
                      </a:r>
                    </a:p>
                  </a:txBody>
                  <a:tcPr/>
                </a:tc>
                <a:extLst>
                  <a:ext uri="{0D108BD9-81ED-4DB2-BD59-A6C34878D82A}">
                    <a16:rowId xmlns:a16="http://schemas.microsoft.com/office/drawing/2014/main" val="10000"/>
                  </a:ext>
                </a:extLst>
              </a:tr>
              <a:tr h="633670">
                <a:tc>
                  <a:txBody>
                    <a:bodyPr/>
                    <a:lstStyle/>
                    <a:p>
                      <a:r>
                        <a:rPr lang="de-DE" sz="2000" dirty="0" err="1"/>
                        <a:t>pid</a:t>
                      </a:r>
                      <a:r>
                        <a:rPr lang="de-DE" sz="2000" dirty="0"/>
                        <a:t> = </a:t>
                      </a:r>
                      <a:r>
                        <a:rPr lang="de-DE" sz="2000" b="1" dirty="0" err="1">
                          <a:solidFill>
                            <a:srgbClr val="FF0000"/>
                          </a:solidFill>
                        </a:rPr>
                        <a:t>fork</a:t>
                      </a:r>
                      <a:r>
                        <a:rPr lang="de-DE" sz="2000" dirty="0"/>
                        <a:t>()</a:t>
                      </a:r>
                    </a:p>
                  </a:txBody>
                  <a:tcPr/>
                </a:tc>
                <a:tc>
                  <a:txBody>
                    <a:bodyPr/>
                    <a:lstStyle/>
                    <a:p>
                      <a:r>
                        <a:rPr lang="de-DE" sz="2000" dirty="0"/>
                        <a:t>Erzeugen eines (Kind)Prozesses</a:t>
                      </a:r>
                    </a:p>
                  </a:txBody>
                  <a:tcPr/>
                </a:tc>
                <a:extLst>
                  <a:ext uri="{0D108BD9-81ED-4DB2-BD59-A6C34878D82A}">
                    <a16:rowId xmlns:a16="http://schemas.microsoft.com/office/drawing/2014/main" val="10001"/>
                  </a:ext>
                </a:extLst>
              </a:tr>
              <a:tr h="633670">
                <a:tc>
                  <a:txBody>
                    <a:bodyPr/>
                    <a:lstStyle/>
                    <a:p>
                      <a:r>
                        <a:rPr lang="de-DE" sz="2000" dirty="0"/>
                        <a:t>s = </a:t>
                      </a:r>
                      <a:r>
                        <a:rPr lang="de-DE" sz="2000" b="1" dirty="0" err="1">
                          <a:solidFill>
                            <a:srgbClr val="FF0000"/>
                          </a:solidFill>
                        </a:rPr>
                        <a:t>execve</a:t>
                      </a:r>
                      <a:r>
                        <a:rPr lang="de-DE" sz="2000" dirty="0"/>
                        <a:t> (</a:t>
                      </a:r>
                      <a:r>
                        <a:rPr lang="de-DE" sz="2000" dirty="0" err="1"/>
                        <a:t>name</a:t>
                      </a:r>
                      <a:r>
                        <a:rPr lang="de-DE" sz="2000" dirty="0"/>
                        <a:t>, </a:t>
                      </a:r>
                      <a:r>
                        <a:rPr lang="de-DE" sz="2000" dirty="0" err="1"/>
                        <a:t>argv</a:t>
                      </a:r>
                      <a:r>
                        <a:rPr lang="de-DE" sz="2000" dirty="0"/>
                        <a:t>, </a:t>
                      </a:r>
                      <a:r>
                        <a:rPr lang="de-DE" sz="2000" dirty="0" err="1"/>
                        <a:t>environp</a:t>
                      </a:r>
                      <a:r>
                        <a:rPr lang="de-DE" sz="2000" dirty="0"/>
                        <a:t>)</a:t>
                      </a:r>
                    </a:p>
                  </a:txBody>
                  <a:tcPr/>
                </a:tc>
                <a:tc>
                  <a:txBody>
                    <a:bodyPr/>
                    <a:lstStyle/>
                    <a:p>
                      <a:r>
                        <a:rPr lang="de-DE" sz="2000" dirty="0"/>
                        <a:t>Speicherabbild eines Prozesses ersetzen</a:t>
                      </a:r>
                    </a:p>
                  </a:txBody>
                  <a:tcPr/>
                </a:tc>
                <a:extLst>
                  <a:ext uri="{0D108BD9-81ED-4DB2-BD59-A6C34878D82A}">
                    <a16:rowId xmlns:a16="http://schemas.microsoft.com/office/drawing/2014/main" val="10002"/>
                  </a:ext>
                </a:extLst>
              </a:tr>
              <a:tr h="633670">
                <a:tc>
                  <a:txBody>
                    <a:bodyPr/>
                    <a:lstStyle/>
                    <a:p>
                      <a:r>
                        <a:rPr lang="de-DE" sz="2000" dirty="0"/>
                        <a:t>pid = </a:t>
                      </a:r>
                      <a:r>
                        <a:rPr lang="de-DE" sz="2000" b="1" dirty="0">
                          <a:solidFill>
                            <a:srgbClr val="FF0000"/>
                          </a:solidFill>
                        </a:rPr>
                        <a:t>waitpid</a:t>
                      </a:r>
                      <a:r>
                        <a:rPr lang="de-DE" sz="2000" dirty="0">
                          <a:solidFill>
                            <a:srgbClr val="FF0000"/>
                          </a:solidFill>
                        </a:rPr>
                        <a:t> </a:t>
                      </a:r>
                      <a:r>
                        <a:rPr lang="de-DE" sz="2000" dirty="0">
                          <a:solidFill>
                            <a:schemeClr val="tx1"/>
                          </a:solidFill>
                        </a:rPr>
                        <a:t>(pid</a:t>
                      </a:r>
                      <a:r>
                        <a:rPr lang="de-DE" sz="2000" dirty="0"/>
                        <a:t>, &amp;statloc,</a:t>
                      </a:r>
                      <a:r>
                        <a:rPr lang="de-DE" sz="2000" baseline="0" dirty="0"/>
                        <a:t> options)</a:t>
                      </a:r>
                      <a:endParaRPr lang="de-DE" sz="2000" dirty="0"/>
                    </a:p>
                  </a:txBody>
                  <a:tcPr/>
                </a:tc>
                <a:tc>
                  <a:txBody>
                    <a:bodyPr/>
                    <a:lstStyle/>
                    <a:p>
                      <a:r>
                        <a:rPr lang="de-DE" sz="2000" dirty="0"/>
                        <a:t>Warten auf Beendigung eines </a:t>
                      </a:r>
                      <a:r>
                        <a:rPr lang="de-DE" sz="2000" dirty="0" err="1"/>
                        <a:t>Kindprozesses</a:t>
                      </a:r>
                      <a:endParaRPr lang="de-DE" sz="2000" dirty="0"/>
                    </a:p>
                  </a:txBody>
                  <a:tcPr/>
                </a:tc>
                <a:extLst>
                  <a:ext uri="{0D108BD9-81ED-4DB2-BD59-A6C34878D82A}">
                    <a16:rowId xmlns:a16="http://schemas.microsoft.com/office/drawing/2014/main" val="10003"/>
                  </a:ext>
                </a:extLst>
              </a:tr>
              <a:tr h="633670">
                <a:tc>
                  <a:txBody>
                    <a:bodyPr/>
                    <a:lstStyle/>
                    <a:p>
                      <a:r>
                        <a:rPr lang="de-DE" sz="2000" b="1" dirty="0">
                          <a:solidFill>
                            <a:srgbClr val="FF0000"/>
                          </a:solidFill>
                        </a:rPr>
                        <a:t>_</a:t>
                      </a:r>
                      <a:r>
                        <a:rPr lang="de-DE" sz="2000" b="1" dirty="0" err="1">
                          <a:solidFill>
                            <a:srgbClr val="FF0000"/>
                          </a:solidFill>
                        </a:rPr>
                        <a:t>exit</a:t>
                      </a:r>
                      <a:r>
                        <a:rPr lang="de-DE" sz="2000" dirty="0"/>
                        <a:t> (</a:t>
                      </a:r>
                      <a:r>
                        <a:rPr lang="de-DE" sz="2000" dirty="0" err="1"/>
                        <a:t>status</a:t>
                      </a:r>
                      <a:r>
                        <a:rPr lang="de-DE" sz="2000" dirty="0"/>
                        <a:t>)</a:t>
                      </a:r>
                    </a:p>
                  </a:txBody>
                  <a:tcPr/>
                </a:tc>
                <a:tc>
                  <a:txBody>
                    <a:bodyPr/>
                    <a:lstStyle/>
                    <a:p>
                      <a:r>
                        <a:rPr lang="de-DE" sz="2000" dirty="0"/>
                        <a:t>Prozess beenden und status</a:t>
                      </a:r>
                      <a:r>
                        <a:rPr lang="de-DE" sz="2000" baseline="0" dirty="0"/>
                        <a:t> zurückgeben (0 = alles OK, </a:t>
                      </a:r>
                      <a:r>
                        <a:rPr lang="de-DE" sz="2000" baseline="0" dirty="0">
                          <a:hlinkClick r:id="rId3"/>
                        </a:rPr>
                        <a:t>link</a:t>
                      </a:r>
                      <a:r>
                        <a:rPr lang="de-DE" sz="2000" baseline="0" dirty="0"/>
                        <a:t>)</a:t>
                      </a:r>
                      <a:endParaRPr lang="de-DE" sz="20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68278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Video: </a:t>
            </a:r>
            <a:r>
              <a:rPr lang="de-DE" dirty="0" err="1"/>
              <a:t>Fork</a:t>
            </a:r>
            <a:r>
              <a:rPr lang="de-DE" dirty="0"/>
              <a:t>, </a:t>
            </a:r>
            <a:r>
              <a:rPr lang="de-DE" dirty="0" err="1"/>
              <a:t>Exec</a:t>
            </a:r>
            <a:r>
              <a:rPr lang="de-DE" dirty="0"/>
              <a:t>, </a:t>
            </a:r>
            <a:r>
              <a:rPr lang="de-DE" dirty="0" err="1"/>
              <a:t>Waitpid</a:t>
            </a:r>
            <a:endParaRPr lang="de-DE" dirty="0"/>
          </a:p>
        </p:txBody>
      </p:sp>
      <p:sp>
        <p:nvSpPr>
          <p:cNvPr id="3" name="Foliennummernplatzhalter 2"/>
          <p:cNvSpPr>
            <a:spLocks noGrp="1"/>
          </p:cNvSpPr>
          <p:nvPr>
            <p:ph type="sldNum" sz="quarter" idx="12"/>
          </p:nvPr>
        </p:nvSpPr>
        <p:spPr/>
        <p:txBody>
          <a:bodyPr/>
          <a:lstStyle/>
          <a:p>
            <a:fld id="{7183533A-8A50-4A1F-BEA9-C8C6956451EB}" type="slidenum">
              <a:rPr lang="en-US" smtClean="0">
                <a:solidFill>
                  <a:srgbClr val="424456"/>
                </a:solidFill>
              </a:rPr>
              <a:pPr/>
              <a:t>28</a:t>
            </a:fld>
            <a:endParaRPr lang="en-US" dirty="0">
              <a:solidFill>
                <a:srgbClr val="424456"/>
              </a:solidFill>
            </a:endParaRPr>
          </a:p>
        </p:txBody>
      </p:sp>
      <p:sp>
        <p:nvSpPr>
          <p:cNvPr id="4" name="Inhaltsplatzhalter 3"/>
          <p:cNvSpPr>
            <a:spLocks noGrp="1"/>
          </p:cNvSpPr>
          <p:nvPr>
            <p:ph sz="quarter" idx="1"/>
          </p:nvPr>
        </p:nvSpPr>
        <p:spPr/>
        <p:txBody>
          <a:bodyPr/>
          <a:lstStyle/>
          <a:p>
            <a:r>
              <a:rPr lang="de-DE" b="1" dirty="0"/>
              <a:t>Unix </a:t>
            </a:r>
            <a:r>
              <a:rPr lang="de-DE" b="1" dirty="0" err="1"/>
              <a:t>system</a:t>
            </a:r>
            <a:r>
              <a:rPr lang="de-DE" b="1" dirty="0"/>
              <a:t> </a:t>
            </a:r>
            <a:r>
              <a:rPr lang="de-DE" b="1" dirty="0" err="1"/>
              <a:t>calls</a:t>
            </a:r>
            <a:r>
              <a:rPr lang="de-DE" b="1" dirty="0"/>
              <a:t> (1/2) </a:t>
            </a:r>
          </a:p>
          <a:p>
            <a:r>
              <a:rPr lang="de-DE" dirty="0"/>
              <a:t>Teil 1: von 22:35 min bis 24:20 min [02c]</a:t>
            </a:r>
          </a:p>
          <a:p>
            <a:r>
              <a:rPr lang="de-DE" dirty="0"/>
              <a:t>Teil 2: von 27:07 min bis 31:50 min</a:t>
            </a:r>
            <a:endParaRPr lang="de-DE" dirty="0">
              <a:solidFill>
                <a:srgbClr val="0070C0"/>
              </a:solidFill>
            </a:endParaRPr>
          </a:p>
          <a:p>
            <a:r>
              <a:rPr lang="de-DE" dirty="0"/>
              <a:t>Link: </a:t>
            </a:r>
            <a:r>
              <a:rPr lang="de-DE" sz="2400" dirty="0">
                <a:hlinkClick r:id="rId2"/>
              </a:rPr>
              <a:t>https://www.youtube.com/watch?v=xHu7qI1gDPA</a:t>
            </a:r>
            <a:r>
              <a:rPr lang="de-DE" sz="2400" dirty="0"/>
              <a:t> </a:t>
            </a:r>
            <a:endParaRPr lang="de-DE" dirty="0"/>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9721" y="3652506"/>
            <a:ext cx="5624557" cy="1872208"/>
          </a:xfrm>
          <a:prstGeom prst="rect">
            <a:avLst/>
          </a:prstGeom>
        </p:spPr>
      </p:pic>
    </p:spTree>
    <p:extLst>
      <p:ext uri="{BB962C8B-B14F-4D97-AF65-F5344CB8AC3E}">
        <p14:creationId xmlns:p14="http://schemas.microsoft.com/office/powerpoint/2010/main" val="4190738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Details von fork()</a:t>
            </a:r>
          </a:p>
        </p:txBody>
      </p:sp>
      <p:sp>
        <p:nvSpPr>
          <p:cNvPr id="3" name="Slide Number Placeholder 2"/>
          <p:cNvSpPr>
            <a:spLocks noGrp="1"/>
          </p:cNvSpPr>
          <p:nvPr>
            <p:ph type="sldNum" sz="quarter" idx="12"/>
          </p:nvPr>
        </p:nvSpPr>
        <p:spPr/>
        <p:txBody>
          <a:bodyPr/>
          <a:lstStyle/>
          <a:p>
            <a:fld id="{7183533A-8A50-4A1F-BEA9-C8C6956451EB}" type="slidenum">
              <a:rPr lang="en-US" smtClean="0">
                <a:solidFill>
                  <a:srgbClr val="424456"/>
                </a:solidFill>
              </a:rPr>
              <a:pPr/>
              <a:t>29</a:t>
            </a:fld>
            <a:endParaRPr lang="en-US" dirty="0">
              <a:solidFill>
                <a:srgbClr val="424456"/>
              </a:solidFill>
            </a:endParaRPr>
          </a:p>
        </p:txBody>
      </p:sp>
      <p:sp>
        <p:nvSpPr>
          <p:cNvPr id="4" name="Content Placeholder 3"/>
          <p:cNvSpPr>
            <a:spLocks noGrp="1"/>
          </p:cNvSpPr>
          <p:nvPr>
            <p:ph sz="quarter" idx="1"/>
          </p:nvPr>
        </p:nvSpPr>
        <p:spPr>
          <a:xfrm>
            <a:off x="457200" y="1219200"/>
            <a:ext cx="8435280" cy="1417712"/>
          </a:xfrm>
        </p:spPr>
        <p:txBody>
          <a:bodyPr/>
          <a:lstStyle/>
          <a:p>
            <a:r>
              <a:rPr lang="de-DE" dirty="0"/>
              <a:t>Der Aufruf von </a:t>
            </a:r>
            <a:r>
              <a:rPr lang="de-DE" b="1" dirty="0">
                <a:solidFill>
                  <a:srgbClr val="0070C0"/>
                </a:solidFill>
              </a:rPr>
              <a:t>pid = fork() </a:t>
            </a:r>
            <a:r>
              <a:rPr lang="de-DE" dirty="0"/>
              <a:t>erzeugt ein </a:t>
            </a:r>
            <a:r>
              <a:rPr lang="de-DE" dirty="0" err="1">
                <a:solidFill>
                  <a:srgbClr val="FF0000"/>
                </a:solidFill>
              </a:rPr>
              <a:t>Kindprozess</a:t>
            </a:r>
            <a:r>
              <a:rPr lang="de-DE" dirty="0">
                <a:solidFill>
                  <a:srgbClr val="0070C0"/>
                </a:solidFill>
              </a:rPr>
              <a:t> </a:t>
            </a:r>
            <a:r>
              <a:rPr lang="de-DE" dirty="0"/>
              <a:t>(</a:t>
            </a:r>
            <a:r>
              <a:rPr lang="de-DE" dirty="0">
                <a:solidFill>
                  <a:srgbClr val="FF0000"/>
                </a:solidFill>
              </a:rPr>
              <a:t>K</a:t>
            </a:r>
            <a:r>
              <a:rPr lang="de-DE" dirty="0"/>
              <a:t>), aber der </a:t>
            </a:r>
            <a:r>
              <a:rPr lang="de-DE" u="sng" dirty="0">
                <a:solidFill>
                  <a:srgbClr val="0070C0"/>
                </a:solidFill>
              </a:rPr>
              <a:t>Eltern-Prozess</a:t>
            </a:r>
            <a:r>
              <a:rPr lang="de-DE" dirty="0"/>
              <a:t> (</a:t>
            </a:r>
            <a:r>
              <a:rPr lang="de-DE" dirty="0">
                <a:solidFill>
                  <a:srgbClr val="0070C0"/>
                </a:solidFill>
              </a:rPr>
              <a:t>E</a:t>
            </a:r>
            <a:r>
              <a:rPr lang="de-DE" dirty="0"/>
              <a:t>) </a:t>
            </a:r>
            <a:r>
              <a:rPr lang="de-DE" u="sng" dirty="0"/>
              <a:t>läuft auch weiter</a:t>
            </a:r>
            <a:r>
              <a:rPr lang="de-DE" dirty="0"/>
              <a:t>!</a:t>
            </a:r>
          </a:p>
          <a:p>
            <a:r>
              <a:rPr lang="de-DE" dirty="0"/>
              <a:t>Was passiert nach der Rückkehr von fork() in </a:t>
            </a:r>
            <a:r>
              <a:rPr lang="de-DE" dirty="0">
                <a:solidFill>
                  <a:srgbClr val="FF0000"/>
                </a:solidFill>
              </a:rPr>
              <a:t>K</a:t>
            </a:r>
            <a:r>
              <a:rPr lang="de-DE" dirty="0"/>
              <a:t> / in </a:t>
            </a:r>
            <a:r>
              <a:rPr lang="de-DE" dirty="0">
                <a:solidFill>
                  <a:srgbClr val="0070C0"/>
                </a:solidFill>
              </a:rPr>
              <a:t>E</a:t>
            </a:r>
            <a:r>
              <a:rPr lang="de-DE" dirty="0"/>
              <a:t>?</a:t>
            </a:r>
          </a:p>
        </p:txBody>
      </p:sp>
      <p:sp>
        <p:nvSpPr>
          <p:cNvPr id="5" name="Content Placeholder 4"/>
          <p:cNvSpPr>
            <a:spLocks noGrp="1"/>
          </p:cNvSpPr>
          <p:nvPr>
            <p:ph sz="quarter" idx="13"/>
          </p:nvPr>
        </p:nvSpPr>
        <p:spPr>
          <a:xfrm>
            <a:off x="467544" y="2636911"/>
            <a:ext cx="8568952" cy="2689729"/>
          </a:xfrm>
        </p:spPr>
        <p:txBody>
          <a:bodyPr>
            <a:normAutofit/>
          </a:bodyPr>
          <a:lstStyle/>
          <a:p>
            <a:r>
              <a:rPr lang="de-DE" dirty="0">
                <a:solidFill>
                  <a:srgbClr val="0070C0"/>
                </a:solidFill>
              </a:rPr>
              <a:t>E</a:t>
            </a:r>
            <a:r>
              <a:rPr lang="de-DE" dirty="0"/>
              <a:t>: Die Prozessnummer (process ID) wird in Variable pid geschrieben, </a:t>
            </a:r>
            <a:r>
              <a:rPr lang="de-DE" dirty="0">
                <a:solidFill>
                  <a:srgbClr val="0070C0"/>
                </a:solidFill>
              </a:rPr>
              <a:t>E</a:t>
            </a:r>
            <a:r>
              <a:rPr lang="de-DE" dirty="0"/>
              <a:t> läuft normal weiter</a:t>
            </a:r>
          </a:p>
          <a:p>
            <a:r>
              <a:rPr lang="de-DE" dirty="0">
                <a:solidFill>
                  <a:srgbClr val="FF0000"/>
                </a:solidFill>
              </a:rPr>
              <a:t>K</a:t>
            </a:r>
            <a:r>
              <a:rPr lang="de-DE" dirty="0"/>
              <a:t>: </a:t>
            </a:r>
            <a:r>
              <a:rPr lang="de-DE" u="sng" dirty="0"/>
              <a:t>pid wird auf 0 gesetzt</a:t>
            </a:r>
            <a:r>
              <a:rPr lang="de-DE" dirty="0"/>
              <a:t> (wichtig!), </a:t>
            </a:r>
            <a:r>
              <a:rPr lang="de-DE" dirty="0">
                <a:solidFill>
                  <a:srgbClr val="FF0000"/>
                </a:solidFill>
              </a:rPr>
              <a:t>K</a:t>
            </a:r>
            <a:r>
              <a:rPr lang="de-DE" dirty="0"/>
              <a:t> läuft „weiter“, als ob es bis jetzt der Prozess </a:t>
            </a:r>
            <a:r>
              <a:rPr lang="de-DE" dirty="0">
                <a:solidFill>
                  <a:srgbClr val="0070C0"/>
                </a:solidFill>
              </a:rPr>
              <a:t>E</a:t>
            </a:r>
            <a:r>
              <a:rPr lang="de-DE" dirty="0"/>
              <a:t> wäre</a:t>
            </a:r>
          </a:p>
          <a:p>
            <a:pPr lvl="1"/>
            <a:r>
              <a:rPr lang="de-DE" sz="2400" u="sng" dirty="0"/>
              <a:t>Also </a:t>
            </a:r>
            <a:r>
              <a:rPr lang="de-DE" sz="2400" b="1" u="sng" dirty="0"/>
              <a:t>keine</a:t>
            </a:r>
            <a:r>
              <a:rPr lang="de-DE" sz="2400" u="sng" dirty="0"/>
              <a:t> Ausführung von </a:t>
            </a:r>
            <a:r>
              <a:rPr lang="de-DE" sz="2400" u="sng" dirty="0">
                <a:solidFill>
                  <a:srgbClr val="FF0000"/>
                </a:solidFill>
              </a:rPr>
              <a:t>K</a:t>
            </a:r>
            <a:r>
              <a:rPr lang="de-DE" sz="2400" u="sng" dirty="0"/>
              <a:t> ab dem Code-Start, d.h. </a:t>
            </a:r>
            <a:r>
              <a:rPr lang="de-DE" sz="2400" u="sng" dirty="0" err="1"/>
              <a:t>main</a:t>
            </a:r>
            <a:r>
              <a:rPr lang="de-DE" sz="2400" u="sng" dirty="0"/>
              <a:t>()</a:t>
            </a:r>
            <a:r>
              <a:rPr lang="de-DE" sz="2400" dirty="0"/>
              <a:t>!</a:t>
            </a:r>
          </a:p>
        </p:txBody>
      </p:sp>
      <p:sp>
        <p:nvSpPr>
          <p:cNvPr id="6" name="Content Placeholder 4"/>
          <p:cNvSpPr txBox="1">
            <a:spLocks/>
          </p:cNvSpPr>
          <p:nvPr/>
        </p:nvSpPr>
        <p:spPr>
          <a:xfrm>
            <a:off x="467544" y="5326641"/>
            <a:ext cx="8208912" cy="936104"/>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Clr>
                <a:srgbClr val="53548A"/>
              </a:buClr>
            </a:pPr>
            <a:r>
              <a:rPr lang="de-DE" dirty="0">
                <a:solidFill>
                  <a:prstClr val="black"/>
                </a:solidFill>
              </a:rPr>
              <a:t>Wie erreichen wir in unserem Programm, dass sich </a:t>
            </a:r>
            <a:r>
              <a:rPr lang="de-DE" dirty="0">
                <a:solidFill>
                  <a:srgbClr val="FF0000"/>
                </a:solidFill>
              </a:rPr>
              <a:t>K</a:t>
            </a:r>
            <a:r>
              <a:rPr lang="de-DE" dirty="0">
                <a:solidFill>
                  <a:prstClr val="black"/>
                </a:solidFill>
              </a:rPr>
              <a:t> und E verschieden verhalten?</a:t>
            </a:r>
          </a:p>
        </p:txBody>
      </p:sp>
    </p:spTree>
    <p:extLst>
      <p:ext uri="{BB962C8B-B14F-4D97-AF65-F5344CB8AC3E}">
        <p14:creationId xmlns:p14="http://schemas.microsoft.com/office/powerpoint/2010/main" val="227214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„Do </a:t>
            </a:r>
            <a:r>
              <a:rPr lang="de-DE" dirty="0" err="1"/>
              <a:t>it</a:t>
            </a:r>
            <a:r>
              <a:rPr lang="de-DE" dirty="0"/>
              <a:t> yourself“ - Mini-Shell</a:t>
            </a:r>
          </a:p>
        </p:txBody>
      </p:sp>
      <p:sp>
        <p:nvSpPr>
          <p:cNvPr id="3" name="Inhaltsplatzhalter 2"/>
          <p:cNvSpPr>
            <a:spLocks noGrp="1"/>
          </p:cNvSpPr>
          <p:nvPr>
            <p:ph sz="quarter" idx="1"/>
          </p:nvPr>
        </p:nvSpPr>
        <p:spPr>
          <a:xfrm>
            <a:off x="457200" y="5085184"/>
            <a:ext cx="8435280" cy="1344212"/>
          </a:xfrm>
        </p:spPr>
        <p:txBody>
          <a:bodyPr>
            <a:normAutofit/>
          </a:bodyPr>
          <a:lstStyle/>
          <a:p>
            <a:pPr>
              <a:buNone/>
            </a:pPr>
            <a:endParaRPr lang="de-DE" dirty="0"/>
          </a:p>
          <a:p>
            <a:endParaRPr lang="de-DE" b="1" dirty="0">
              <a:solidFill>
                <a:srgbClr val="FF0000"/>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smtClean="0">
                <a:solidFill>
                  <a:srgbClr val="424456"/>
                </a:solidFill>
              </a:rPr>
              <a:pPr/>
              <a:t>30</a:t>
            </a:fld>
            <a:endParaRPr lang="en-US" dirty="0">
              <a:solidFill>
                <a:srgbClr val="424456"/>
              </a:solidFill>
            </a:endParaRPr>
          </a:p>
        </p:txBody>
      </p:sp>
      <p:sp>
        <p:nvSpPr>
          <p:cNvPr id="6" name="Textfeld 5"/>
          <p:cNvSpPr txBox="1"/>
          <p:nvPr/>
        </p:nvSpPr>
        <p:spPr>
          <a:xfrm>
            <a:off x="611560" y="1556792"/>
            <a:ext cx="8518999" cy="4093428"/>
          </a:xfrm>
          <a:prstGeom prst="rect">
            <a:avLst/>
          </a:prstGeom>
          <a:noFill/>
        </p:spPr>
        <p:txBody>
          <a:bodyPr wrap="none" rtlCol="0">
            <a:spAutoFit/>
          </a:bodyPr>
          <a:lstStyle/>
          <a:p>
            <a:r>
              <a:rPr lang="de-DE" sz="2000" dirty="0">
                <a:solidFill>
                  <a:prstClr val="black"/>
                </a:solidFill>
              </a:rPr>
              <a:t>#</a:t>
            </a:r>
            <a:r>
              <a:rPr lang="de-DE" sz="2000" dirty="0" err="1">
                <a:solidFill>
                  <a:prstClr val="black"/>
                </a:solidFill>
              </a:rPr>
              <a:t>define</a:t>
            </a:r>
            <a:r>
              <a:rPr lang="de-DE" sz="2000" dirty="0">
                <a:solidFill>
                  <a:prstClr val="black"/>
                </a:solidFill>
              </a:rPr>
              <a:t> TRUE 1</a:t>
            </a:r>
          </a:p>
          <a:p>
            <a:r>
              <a:rPr lang="de-DE" sz="2000" dirty="0" err="1">
                <a:solidFill>
                  <a:prstClr val="black"/>
                </a:solidFill>
              </a:rPr>
              <a:t>while</a:t>
            </a:r>
            <a:r>
              <a:rPr lang="de-DE" sz="2000" dirty="0">
                <a:solidFill>
                  <a:prstClr val="black"/>
                </a:solidFill>
              </a:rPr>
              <a:t> (TRUE) {</a:t>
            </a:r>
          </a:p>
          <a:p>
            <a:pPr>
              <a:tabLst>
                <a:tab pos="263525" algn="l"/>
              </a:tabLst>
            </a:pPr>
            <a:r>
              <a:rPr lang="de-DE" sz="2000" dirty="0">
                <a:solidFill>
                  <a:prstClr val="black"/>
                </a:solidFill>
              </a:rPr>
              <a:t>	type_prompt ();				</a:t>
            </a:r>
            <a:r>
              <a:rPr lang="de-DE" sz="2000" dirty="0">
                <a:solidFill>
                  <a:srgbClr val="FF0000"/>
                </a:solidFill>
              </a:rPr>
              <a:t>/* Prompt ausgeben */</a:t>
            </a:r>
          </a:p>
          <a:p>
            <a:pPr>
              <a:tabLst>
                <a:tab pos="263525" algn="l"/>
              </a:tabLst>
            </a:pPr>
            <a:r>
              <a:rPr lang="de-DE" sz="2000" dirty="0">
                <a:solidFill>
                  <a:prstClr val="black"/>
                </a:solidFill>
              </a:rPr>
              <a:t>	</a:t>
            </a:r>
            <a:r>
              <a:rPr lang="de-DE" sz="2000" dirty="0" err="1">
                <a:solidFill>
                  <a:prstClr val="black"/>
                </a:solidFill>
              </a:rPr>
              <a:t>read_command</a:t>
            </a:r>
            <a:r>
              <a:rPr lang="de-DE" sz="2000" dirty="0">
                <a:solidFill>
                  <a:prstClr val="black"/>
                </a:solidFill>
              </a:rPr>
              <a:t> (</a:t>
            </a:r>
            <a:r>
              <a:rPr lang="de-DE" sz="2000" u="sng" dirty="0" err="1">
                <a:solidFill>
                  <a:prstClr val="black"/>
                </a:solidFill>
              </a:rPr>
              <a:t>command</a:t>
            </a:r>
            <a:r>
              <a:rPr lang="de-DE" sz="2000" dirty="0">
                <a:solidFill>
                  <a:prstClr val="black"/>
                </a:solidFill>
              </a:rPr>
              <a:t>, </a:t>
            </a:r>
            <a:r>
              <a:rPr lang="de-DE" sz="2000" dirty="0" err="1">
                <a:solidFill>
                  <a:prstClr val="black"/>
                </a:solidFill>
              </a:rPr>
              <a:t>parameters</a:t>
            </a:r>
            <a:r>
              <a:rPr lang="de-DE" sz="2000" dirty="0">
                <a:solidFill>
                  <a:prstClr val="black"/>
                </a:solidFill>
              </a:rPr>
              <a:t>);	</a:t>
            </a:r>
            <a:r>
              <a:rPr lang="de-DE" sz="2000" dirty="0">
                <a:solidFill>
                  <a:srgbClr val="FF0000"/>
                </a:solidFill>
              </a:rPr>
              <a:t>/* Befehl einlesen */</a:t>
            </a:r>
          </a:p>
          <a:p>
            <a:pPr>
              <a:tabLst>
                <a:tab pos="263525" algn="l"/>
              </a:tabLst>
            </a:pPr>
            <a:r>
              <a:rPr lang="de-DE" sz="2000" dirty="0">
                <a:solidFill>
                  <a:prstClr val="black"/>
                </a:solidFill>
              </a:rPr>
              <a:t>	</a:t>
            </a:r>
          </a:p>
          <a:p>
            <a:pPr>
              <a:tabLst>
                <a:tab pos="263525" algn="l"/>
              </a:tabLst>
            </a:pPr>
            <a:r>
              <a:rPr lang="de-DE" sz="2000" dirty="0">
                <a:solidFill>
                  <a:prstClr val="black"/>
                </a:solidFill>
              </a:rPr>
              <a:t>	if ( </a:t>
            </a:r>
            <a:r>
              <a:rPr lang="de-DE" sz="2000" b="1" dirty="0">
                <a:solidFill>
                  <a:srgbClr val="FF0000"/>
                </a:solidFill>
              </a:rPr>
              <a:t>??????</a:t>
            </a:r>
            <a:r>
              <a:rPr lang="de-DE" sz="2000" dirty="0">
                <a:solidFill>
                  <a:prstClr val="black"/>
                </a:solidFill>
              </a:rPr>
              <a:t> ) {	</a:t>
            </a:r>
            <a:r>
              <a:rPr lang="de-DE" sz="2000" dirty="0">
                <a:solidFill>
                  <a:srgbClr val="FF0000"/>
                </a:solidFill>
              </a:rPr>
              <a:t>/* Kindprozess erzeugen */</a:t>
            </a:r>
          </a:p>
          <a:p>
            <a:pPr>
              <a:tabLst>
                <a:tab pos="263525" algn="l"/>
                <a:tab pos="630238" algn="l"/>
                <a:tab pos="985838" algn="l"/>
              </a:tabLst>
            </a:pPr>
            <a:r>
              <a:rPr lang="de-DE" sz="2000" dirty="0">
                <a:solidFill>
                  <a:prstClr val="black"/>
                </a:solidFill>
              </a:rPr>
              <a:t>		</a:t>
            </a:r>
            <a:r>
              <a:rPr lang="de-DE" sz="2000" dirty="0">
                <a:solidFill>
                  <a:srgbClr val="0070C0"/>
                </a:solidFill>
              </a:rPr>
              <a:t>/* Code des Elternprozesses */</a:t>
            </a:r>
          </a:p>
          <a:p>
            <a:pPr>
              <a:tabLst>
                <a:tab pos="263525" algn="l"/>
                <a:tab pos="630238" algn="l"/>
                <a:tab pos="985838" algn="l"/>
              </a:tabLst>
            </a:pPr>
            <a:r>
              <a:rPr lang="de-DE" sz="2000" dirty="0">
                <a:solidFill>
                  <a:srgbClr val="0070C0"/>
                </a:solidFill>
              </a:rPr>
              <a:t>		</a:t>
            </a:r>
            <a:r>
              <a:rPr lang="de-DE" sz="2000" b="1" dirty="0">
                <a:solidFill>
                  <a:srgbClr val="FF0000"/>
                </a:solidFill>
              </a:rPr>
              <a:t>???????</a:t>
            </a:r>
            <a:r>
              <a:rPr lang="de-DE" sz="2000" dirty="0">
                <a:solidFill>
                  <a:srgbClr val="0070C0"/>
                </a:solidFill>
              </a:rPr>
              <a:t>;	</a:t>
            </a:r>
            <a:r>
              <a:rPr lang="de-DE" sz="2000" dirty="0">
                <a:solidFill>
                  <a:prstClr val="black"/>
                </a:solidFill>
              </a:rPr>
              <a:t>	</a:t>
            </a:r>
            <a:r>
              <a:rPr lang="de-DE" sz="2000" dirty="0">
                <a:solidFill>
                  <a:srgbClr val="FF0000"/>
                </a:solidFill>
              </a:rPr>
              <a:t>/* Auf das Ende des Kindprozesses warten */</a:t>
            </a:r>
          </a:p>
          <a:p>
            <a:pPr>
              <a:tabLst>
                <a:tab pos="263525" algn="l"/>
                <a:tab pos="630238" algn="l"/>
                <a:tab pos="985838" algn="l"/>
              </a:tabLst>
            </a:pPr>
            <a:r>
              <a:rPr lang="de-DE" sz="2000" dirty="0">
                <a:solidFill>
                  <a:prstClr val="black"/>
                </a:solidFill>
              </a:rPr>
              <a:t>	} </a:t>
            </a:r>
            <a:r>
              <a:rPr lang="de-DE" sz="2000" dirty="0" err="1">
                <a:solidFill>
                  <a:prstClr val="black"/>
                </a:solidFill>
              </a:rPr>
              <a:t>else</a:t>
            </a:r>
            <a:r>
              <a:rPr lang="de-DE" sz="2000" dirty="0">
                <a:solidFill>
                  <a:prstClr val="black"/>
                </a:solidFill>
              </a:rPr>
              <a:t> {</a:t>
            </a:r>
          </a:p>
          <a:p>
            <a:pPr>
              <a:tabLst>
                <a:tab pos="263525" algn="l"/>
                <a:tab pos="630238" algn="l"/>
                <a:tab pos="985838" algn="l"/>
              </a:tabLst>
            </a:pPr>
            <a:r>
              <a:rPr lang="de-DE" sz="2000" dirty="0">
                <a:solidFill>
                  <a:prstClr val="black"/>
                </a:solidFill>
              </a:rPr>
              <a:t>		</a:t>
            </a:r>
            <a:r>
              <a:rPr lang="de-DE" sz="2000" dirty="0">
                <a:solidFill>
                  <a:srgbClr val="7030A0"/>
                </a:solidFill>
              </a:rPr>
              <a:t>/* Code des </a:t>
            </a:r>
            <a:r>
              <a:rPr lang="de-DE" sz="2000" dirty="0" err="1">
                <a:solidFill>
                  <a:srgbClr val="7030A0"/>
                </a:solidFill>
              </a:rPr>
              <a:t>Kindprozesses</a:t>
            </a:r>
            <a:r>
              <a:rPr lang="de-DE" sz="2000" dirty="0">
                <a:solidFill>
                  <a:srgbClr val="7030A0"/>
                </a:solidFill>
              </a:rPr>
              <a:t> */</a:t>
            </a:r>
          </a:p>
          <a:p>
            <a:pPr>
              <a:tabLst>
                <a:tab pos="263525" algn="l"/>
                <a:tab pos="630238" algn="l"/>
                <a:tab pos="985838" algn="l"/>
              </a:tabLst>
            </a:pPr>
            <a:r>
              <a:rPr lang="de-DE" sz="2000" dirty="0">
                <a:solidFill>
                  <a:srgbClr val="7030A0"/>
                </a:solidFill>
              </a:rPr>
              <a:t>		</a:t>
            </a:r>
            <a:r>
              <a:rPr lang="de-DE" sz="2000" b="1" dirty="0">
                <a:solidFill>
                  <a:srgbClr val="FF0000"/>
                </a:solidFill>
              </a:rPr>
              <a:t>???????</a:t>
            </a:r>
            <a:r>
              <a:rPr lang="de-DE" sz="2000" dirty="0">
                <a:solidFill>
                  <a:srgbClr val="0070C0"/>
                </a:solidFill>
              </a:rPr>
              <a:t> ;	</a:t>
            </a:r>
            <a:r>
              <a:rPr lang="de-DE" sz="2000" dirty="0">
                <a:solidFill>
                  <a:srgbClr val="FF0000"/>
                </a:solidFill>
              </a:rPr>
              <a:t>/* Befehl </a:t>
            </a:r>
            <a:r>
              <a:rPr lang="de-DE" sz="2000" u="sng" dirty="0">
                <a:solidFill>
                  <a:prstClr val="black"/>
                </a:solidFill>
              </a:rPr>
              <a:t>command</a:t>
            </a:r>
            <a:r>
              <a:rPr lang="de-DE" sz="2000" dirty="0">
                <a:solidFill>
                  <a:prstClr val="black"/>
                </a:solidFill>
              </a:rPr>
              <a:t> </a:t>
            </a:r>
            <a:r>
              <a:rPr lang="de-DE" sz="2000" dirty="0">
                <a:solidFill>
                  <a:srgbClr val="FF0000"/>
                </a:solidFill>
              </a:rPr>
              <a:t>ausführen */</a:t>
            </a:r>
          </a:p>
          <a:p>
            <a:pPr>
              <a:tabLst>
                <a:tab pos="263525" algn="l"/>
                <a:tab pos="630238" algn="l"/>
                <a:tab pos="985838" algn="l"/>
              </a:tabLst>
            </a:pPr>
            <a:r>
              <a:rPr lang="de-DE" sz="2000" dirty="0">
                <a:solidFill>
                  <a:prstClr val="black"/>
                </a:solidFill>
              </a:rPr>
              <a:t>	}</a:t>
            </a:r>
          </a:p>
          <a:p>
            <a:pPr>
              <a:tabLst>
                <a:tab pos="263525" algn="l"/>
                <a:tab pos="630238" algn="l"/>
                <a:tab pos="985838" algn="l"/>
              </a:tabLst>
            </a:pPr>
            <a:r>
              <a:rPr lang="de-DE" sz="2000" dirty="0">
                <a:solidFill>
                  <a:prstClr val="black"/>
                </a:solidFill>
              </a:rPr>
              <a:t>}</a:t>
            </a:r>
          </a:p>
        </p:txBody>
      </p:sp>
    </p:spTree>
    <p:extLst>
      <p:ext uri="{BB962C8B-B14F-4D97-AF65-F5344CB8AC3E}">
        <p14:creationId xmlns:p14="http://schemas.microsoft.com/office/powerpoint/2010/main" val="1476573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 Do </a:t>
            </a:r>
            <a:r>
              <a:rPr lang="de-DE" dirty="0" err="1"/>
              <a:t>it</a:t>
            </a:r>
            <a:r>
              <a:rPr lang="de-DE" dirty="0"/>
              <a:t> </a:t>
            </a:r>
            <a:r>
              <a:rPr lang="de-DE" dirty="0" err="1"/>
              <a:t>yourself</a:t>
            </a:r>
            <a:r>
              <a:rPr lang="de-DE" dirty="0"/>
              <a:t>“ - Mini-Shell (Auflösung)</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31</a:t>
            </a:fld>
            <a:endParaRPr lang="en-US" noProof="0" dirty="0"/>
          </a:p>
        </p:txBody>
      </p:sp>
      <p:sp>
        <p:nvSpPr>
          <p:cNvPr id="6" name="Textfeld 5"/>
          <p:cNvSpPr txBox="1"/>
          <p:nvPr/>
        </p:nvSpPr>
        <p:spPr>
          <a:xfrm>
            <a:off x="467544" y="1268760"/>
            <a:ext cx="8244629" cy="3724096"/>
          </a:xfrm>
          <a:prstGeom prst="rect">
            <a:avLst/>
          </a:prstGeom>
          <a:noFill/>
        </p:spPr>
        <p:txBody>
          <a:bodyPr wrap="none" rtlCol="0">
            <a:spAutoFit/>
          </a:bodyPr>
          <a:lstStyle/>
          <a:p>
            <a:r>
              <a:rPr lang="de-DE" dirty="0"/>
              <a:t>#</a:t>
            </a:r>
            <a:r>
              <a:rPr lang="de-DE" dirty="0" err="1"/>
              <a:t>define</a:t>
            </a:r>
            <a:r>
              <a:rPr lang="de-DE" dirty="0"/>
              <a:t> TRUE 1</a:t>
            </a:r>
          </a:p>
          <a:p>
            <a:r>
              <a:rPr lang="de-DE" dirty="0" err="1"/>
              <a:t>while</a:t>
            </a:r>
            <a:r>
              <a:rPr lang="de-DE" dirty="0"/>
              <a:t> (TRUE) {</a:t>
            </a:r>
          </a:p>
          <a:p>
            <a:pPr>
              <a:tabLst>
                <a:tab pos="263525" algn="l"/>
              </a:tabLst>
            </a:pPr>
            <a:r>
              <a:rPr lang="de-DE" dirty="0"/>
              <a:t>	</a:t>
            </a:r>
            <a:r>
              <a:rPr lang="de-DE" dirty="0" err="1"/>
              <a:t>type_prompt</a:t>
            </a:r>
            <a:r>
              <a:rPr lang="de-DE" dirty="0"/>
              <a:t>();				</a:t>
            </a:r>
            <a:r>
              <a:rPr lang="de-DE" dirty="0">
                <a:solidFill>
                  <a:srgbClr val="FF0000"/>
                </a:solidFill>
              </a:rPr>
              <a:t>/* Prompt ausgeben */</a:t>
            </a:r>
          </a:p>
          <a:p>
            <a:pPr>
              <a:tabLst>
                <a:tab pos="263525" algn="l"/>
              </a:tabLst>
            </a:pPr>
            <a:r>
              <a:rPr lang="de-DE" dirty="0"/>
              <a:t>	</a:t>
            </a:r>
            <a:r>
              <a:rPr lang="de-DE" dirty="0" err="1"/>
              <a:t>read_command</a:t>
            </a:r>
            <a:r>
              <a:rPr lang="de-DE" dirty="0"/>
              <a:t> (</a:t>
            </a:r>
            <a:r>
              <a:rPr lang="de-DE" dirty="0" err="1"/>
              <a:t>command</a:t>
            </a:r>
            <a:r>
              <a:rPr lang="de-DE" dirty="0"/>
              <a:t>, </a:t>
            </a:r>
            <a:r>
              <a:rPr lang="de-DE" dirty="0" err="1"/>
              <a:t>parameters</a:t>
            </a:r>
            <a:r>
              <a:rPr lang="de-DE" dirty="0"/>
              <a:t>);	</a:t>
            </a:r>
            <a:r>
              <a:rPr lang="de-DE" dirty="0">
                <a:solidFill>
                  <a:srgbClr val="FF0000"/>
                </a:solidFill>
              </a:rPr>
              <a:t>/* Befehl einlesen */</a:t>
            </a:r>
          </a:p>
          <a:p>
            <a:pPr>
              <a:tabLst>
                <a:tab pos="263525" algn="l"/>
              </a:tabLst>
            </a:pPr>
            <a:r>
              <a:rPr lang="de-DE" dirty="0"/>
              <a:t>	</a:t>
            </a:r>
          </a:p>
          <a:p>
            <a:pPr>
              <a:tabLst>
                <a:tab pos="263525" algn="l"/>
              </a:tabLst>
            </a:pPr>
            <a:r>
              <a:rPr lang="de-DE" dirty="0"/>
              <a:t>	</a:t>
            </a:r>
            <a:r>
              <a:rPr lang="de-DE" dirty="0" err="1"/>
              <a:t>if</a:t>
            </a:r>
            <a:r>
              <a:rPr lang="de-DE" dirty="0"/>
              <a:t> ( </a:t>
            </a:r>
            <a:r>
              <a:rPr lang="de-DE" b="1" dirty="0" err="1">
                <a:solidFill>
                  <a:srgbClr val="FF0000"/>
                </a:solidFill>
              </a:rPr>
              <a:t>fork</a:t>
            </a:r>
            <a:r>
              <a:rPr lang="de-DE" b="1" dirty="0">
                <a:solidFill>
                  <a:srgbClr val="FF0000"/>
                </a:solidFill>
              </a:rPr>
              <a:t>() </a:t>
            </a:r>
            <a:r>
              <a:rPr lang="de-DE" dirty="0"/>
              <a:t>!= 0 ) {			</a:t>
            </a:r>
            <a:r>
              <a:rPr lang="de-DE" dirty="0">
                <a:solidFill>
                  <a:srgbClr val="FF0000"/>
                </a:solidFill>
              </a:rPr>
              <a:t>/* </a:t>
            </a:r>
            <a:r>
              <a:rPr lang="de-DE" dirty="0" err="1">
                <a:solidFill>
                  <a:srgbClr val="FF0000"/>
                </a:solidFill>
              </a:rPr>
              <a:t>Kindprozess</a:t>
            </a:r>
            <a:r>
              <a:rPr lang="de-DE" dirty="0">
                <a:solidFill>
                  <a:srgbClr val="FF0000"/>
                </a:solidFill>
              </a:rPr>
              <a:t> erzeugen */</a:t>
            </a:r>
          </a:p>
          <a:p>
            <a:pPr>
              <a:tabLst>
                <a:tab pos="263525" algn="l"/>
                <a:tab pos="630238" algn="l"/>
                <a:tab pos="985838" algn="l"/>
              </a:tabLst>
            </a:pPr>
            <a:r>
              <a:rPr lang="de-DE" dirty="0"/>
              <a:t>		</a:t>
            </a:r>
            <a:r>
              <a:rPr lang="de-DE" dirty="0">
                <a:solidFill>
                  <a:srgbClr val="FF0000"/>
                </a:solidFill>
              </a:rPr>
              <a:t>/* Code des Elternprozesses */</a:t>
            </a:r>
          </a:p>
          <a:p>
            <a:pPr>
              <a:tabLst>
                <a:tab pos="263525" algn="l"/>
                <a:tab pos="630238" algn="l"/>
                <a:tab pos="985838" algn="l"/>
              </a:tabLst>
            </a:pPr>
            <a:r>
              <a:rPr lang="de-DE" dirty="0"/>
              <a:t>		</a:t>
            </a:r>
            <a:r>
              <a:rPr lang="de-DE" b="1" dirty="0">
                <a:solidFill>
                  <a:srgbClr val="FF0000"/>
                </a:solidFill>
              </a:rPr>
              <a:t>waitpid</a:t>
            </a:r>
            <a:r>
              <a:rPr lang="de-DE" dirty="0"/>
              <a:t> (-1, &amp;status, 0);	</a:t>
            </a:r>
            <a:r>
              <a:rPr lang="de-DE" dirty="0">
                <a:solidFill>
                  <a:srgbClr val="FF0000"/>
                </a:solidFill>
              </a:rPr>
              <a:t>/* Auf Ende des Kindprozesses warten */</a:t>
            </a:r>
          </a:p>
          <a:p>
            <a:pPr>
              <a:tabLst>
                <a:tab pos="263525" algn="l"/>
                <a:tab pos="630238" algn="l"/>
                <a:tab pos="985838" algn="l"/>
              </a:tabLst>
            </a:pPr>
            <a:r>
              <a:rPr lang="de-DE" dirty="0"/>
              <a:t>	} </a:t>
            </a:r>
            <a:r>
              <a:rPr lang="de-DE" dirty="0" err="1"/>
              <a:t>else</a:t>
            </a:r>
            <a:r>
              <a:rPr lang="de-DE" dirty="0"/>
              <a:t> {</a:t>
            </a:r>
          </a:p>
          <a:p>
            <a:pPr>
              <a:tabLst>
                <a:tab pos="263525" algn="l"/>
                <a:tab pos="630238" algn="l"/>
                <a:tab pos="985838" algn="l"/>
              </a:tabLst>
            </a:pPr>
            <a:r>
              <a:rPr lang="de-DE" dirty="0"/>
              <a:t>		</a:t>
            </a:r>
            <a:r>
              <a:rPr lang="de-DE" dirty="0">
                <a:solidFill>
                  <a:srgbClr val="FF0000"/>
                </a:solidFill>
              </a:rPr>
              <a:t>/* Code des </a:t>
            </a:r>
            <a:r>
              <a:rPr lang="de-DE" dirty="0" err="1">
                <a:solidFill>
                  <a:srgbClr val="FF0000"/>
                </a:solidFill>
              </a:rPr>
              <a:t>Kindprozesses</a:t>
            </a:r>
            <a:r>
              <a:rPr lang="de-DE" dirty="0">
                <a:solidFill>
                  <a:srgbClr val="FF0000"/>
                </a:solidFill>
              </a:rPr>
              <a:t> */</a:t>
            </a:r>
          </a:p>
          <a:p>
            <a:pPr>
              <a:tabLst>
                <a:tab pos="263525" algn="l"/>
                <a:tab pos="630238" algn="l"/>
                <a:tab pos="985838" algn="l"/>
              </a:tabLst>
            </a:pPr>
            <a:r>
              <a:rPr lang="de-DE" dirty="0"/>
              <a:t>		</a:t>
            </a:r>
            <a:r>
              <a:rPr lang="de-DE" b="1" dirty="0">
                <a:solidFill>
                  <a:srgbClr val="FF0000"/>
                </a:solidFill>
              </a:rPr>
              <a:t>execve</a:t>
            </a:r>
            <a:r>
              <a:rPr lang="de-DE" dirty="0"/>
              <a:t> (command, parameters, 0); 	</a:t>
            </a:r>
            <a:r>
              <a:rPr lang="de-DE" dirty="0">
                <a:solidFill>
                  <a:srgbClr val="FF0000"/>
                </a:solidFill>
              </a:rPr>
              <a:t>/* Befehl </a:t>
            </a:r>
            <a:r>
              <a:rPr lang="de-DE" dirty="0"/>
              <a:t>command </a:t>
            </a:r>
            <a:r>
              <a:rPr lang="de-DE" dirty="0">
                <a:solidFill>
                  <a:srgbClr val="FF0000"/>
                </a:solidFill>
              </a:rPr>
              <a:t>ausführen */</a:t>
            </a:r>
          </a:p>
          <a:p>
            <a:pPr>
              <a:tabLst>
                <a:tab pos="263525" algn="l"/>
                <a:tab pos="630238" algn="l"/>
                <a:tab pos="985838" algn="l"/>
              </a:tabLst>
            </a:pPr>
            <a:r>
              <a:rPr lang="de-DE" dirty="0"/>
              <a:t>	}</a:t>
            </a:r>
          </a:p>
          <a:p>
            <a:pPr>
              <a:tabLst>
                <a:tab pos="263525" algn="l"/>
                <a:tab pos="630238" algn="l"/>
                <a:tab pos="985838" algn="l"/>
              </a:tabLst>
            </a:pPr>
            <a:r>
              <a:rPr lang="de-DE" dirty="0"/>
              <a:t>}</a:t>
            </a:r>
          </a:p>
        </p:txBody>
      </p:sp>
      <p:grpSp>
        <p:nvGrpSpPr>
          <p:cNvPr id="3" name="Gruppieren 2"/>
          <p:cNvGrpSpPr/>
          <p:nvPr/>
        </p:nvGrpSpPr>
        <p:grpSpPr>
          <a:xfrm>
            <a:off x="395536" y="4725144"/>
            <a:ext cx="8191431" cy="1728192"/>
            <a:chOff x="395536" y="4725144"/>
            <a:chExt cx="8191431" cy="1728192"/>
          </a:xfrm>
        </p:grpSpPr>
        <p:sp>
          <p:nvSpPr>
            <p:cNvPr id="7" name="Ellipse 6"/>
            <p:cNvSpPr/>
            <p:nvPr/>
          </p:nvSpPr>
          <p:spPr>
            <a:xfrm>
              <a:off x="395536" y="5301208"/>
              <a:ext cx="1440160" cy="648072"/>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de-DE" sz="2400" dirty="0" err="1"/>
                <a:t>fork</a:t>
              </a:r>
              <a:endParaRPr lang="de-DE" sz="2400" dirty="0"/>
            </a:p>
          </p:txBody>
        </p:sp>
        <p:sp>
          <p:nvSpPr>
            <p:cNvPr id="8" name="Ellipse 7"/>
            <p:cNvSpPr/>
            <p:nvPr/>
          </p:nvSpPr>
          <p:spPr>
            <a:xfrm>
              <a:off x="2915816" y="5805264"/>
              <a:ext cx="1674042" cy="648072"/>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de-DE" sz="2400" dirty="0"/>
                <a:t>execve</a:t>
              </a:r>
            </a:p>
          </p:txBody>
        </p:sp>
        <p:sp>
          <p:nvSpPr>
            <p:cNvPr id="9" name="Ellipse 8"/>
            <p:cNvSpPr/>
            <p:nvPr/>
          </p:nvSpPr>
          <p:spPr>
            <a:xfrm>
              <a:off x="5220072" y="5805264"/>
              <a:ext cx="1656184" cy="64807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de-DE" sz="2400" dirty="0" err="1"/>
                <a:t>exit</a:t>
              </a:r>
              <a:endParaRPr lang="de-DE" sz="2400" dirty="0"/>
            </a:p>
          </p:txBody>
        </p:sp>
        <p:sp>
          <p:nvSpPr>
            <p:cNvPr id="10" name="Ellipse 9"/>
            <p:cNvSpPr/>
            <p:nvPr/>
          </p:nvSpPr>
          <p:spPr>
            <a:xfrm>
              <a:off x="5202591" y="4725144"/>
              <a:ext cx="1656184" cy="64807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DE" sz="2400" dirty="0" err="1"/>
                <a:t>waitpid</a:t>
              </a:r>
              <a:endParaRPr lang="de-DE" sz="2400" dirty="0"/>
            </a:p>
          </p:txBody>
        </p:sp>
        <p:cxnSp>
          <p:nvCxnSpPr>
            <p:cNvPr id="12" name="Form 11"/>
            <p:cNvCxnSpPr>
              <a:stCxn id="7" idx="5"/>
              <a:endCxn id="8" idx="2"/>
            </p:cNvCxnSpPr>
            <p:nvPr/>
          </p:nvCxnSpPr>
          <p:spPr>
            <a:xfrm rot="16200000" flipH="1">
              <a:off x="2132838" y="5346322"/>
              <a:ext cx="274928" cy="1291027"/>
            </a:xfrm>
            <a:prstGeom prst="curvedConnector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Form 12"/>
            <p:cNvCxnSpPr>
              <a:stCxn id="7" idx="7"/>
              <a:endCxn id="10" idx="2"/>
            </p:cNvCxnSpPr>
            <p:nvPr/>
          </p:nvCxnSpPr>
          <p:spPr>
            <a:xfrm rot="5400000" flipH="1" flipV="1">
              <a:off x="3240222" y="3433747"/>
              <a:ext cx="346936" cy="3577802"/>
            </a:xfrm>
            <a:prstGeom prst="curvedConnector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Form 15"/>
            <p:cNvCxnSpPr>
              <a:stCxn id="8" idx="6"/>
              <a:endCxn id="9" idx="2"/>
            </p:cNvCxnSpPr>
            <p:nvPr/>
          </p:nvCxnSpPr>
          <p:spPr>
            <a:xfrm>
              <a:off x="4589858" y="6129300"/>
              <a:ext cx="630214" cy="12700"/>
            </a:xfrm>
            <a:prstGeom prst="curved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Form 15"/>
            <p:cNvCxnSpPr>
              <a:stCxn id="9" idx="0"/>
              <a:endCxn id="10" idx="4"/>
            </p:cNvCxnSpPr>
            <p:nvPr/>
          </p:nvCxnSpPr>
          <p:spPr>
            <a:xfrm rot="16200000" flipV="1">
              <a:off x="5823400" y="5580499"/>
              <a:ext cx="432048" cy="17481"/>
            </a:xfrm>
            <a:prstGeom prst="curved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Form 24"/>
            <p:cNvCxnSpPr>
              <a:stCxn id="10" idx="6"/>
            </p:cNvCxnSpPr>
            <p:nvPr/>
          </p:nvCxnSpPr>
          <p:spPr>
            <a:xfrm>
              <a:off x="6858775" y="5049180"/>
              <a:ext cx="1728192" cy="12700"/>
            </a:xfrm>
            <a:prstGeom prst="curved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feld 28"/>
            <p:cNvSpPr txBox="1"/>
            <p:nvPr/>
          </p:nvSpPr>
          <p:spPr>
            <a:xfrm>
              <a:off x="2771800" y="4725144"/>
              <a:ext cx="1595309" cy="369332"/>
            </a:xfrm>
            <a:prstGeom prst="rect">
              <a:avLst/>
            </a:prstGeom>
            <a:noFill/>
          </p:spPr>
          <p:txBody>
            <a:bodyPr wrap="none" rtlCol="0">
              <a:spAutoFit/>
            </a:bodyPr>
            <a:lstStyle/>
            <a:p>
              <a:r>
                <a:rPr lang="de-DE" dirty="0"/>
                <a:t>Elternprozess</a:t>
              </a:r>
            </a:p>
          </p:txBody>
        </p:sp>
        <p:sp>
          <p:nvSpPr>
            <p:cNvPr id="30" name="Textfeld 29"/>
            <p:cNvSpPr txBox="1"/>
            <p:nvPr/>
          </p:nvSpPr>
          <p:spPr>
            <a:xfrm>
              <a:off x="1403648" y="6021288"/>
              <a:ext cx="1454244" cy="369332"/>
            </a:xfrm>
            <a:prstGeom prst="rect">
              <a:avLst/>
            </a:prstGeom>
            <a:noFill/>
          </p:spPr>
          <p:txBody>
            <a:bodyPr wrap="none" rtlCol="0">
              <a:spAutoFit/>
            </a:bodyPr>
            <a:lstStyle/>
            <a:p>
              <a:r>
                <a:rPr lang="de-DE" dirty="0" err="1"/>
                <a:t>Kindprozess</a:t>
              </a:r>
              <a:endParaRPr lang="de-DE" dirty="0"/>
            </a:p>
          </p:txBody>
        </p:sp>
        <p:sp>
          <p:nvSpPr>
            <p:cNvPr id="33" name="Textfeld 32"/>
            <p:cNvSpPr txBox="1"/>
            <p:nvPr/>
          </p:nvSpPr>
          <p:spPr>
            <a:xfrm>
              <a:off x="7092280" y="5013176"/>
              <a:ext cx="1043876" cy="369332"/>
            </a:xfrm>
            <a:prstGeom prst="rect">
              <a:avLst/>
            </a:prstGeom>
            <a:noFill/>
          </p:spPr>
          <p:txBody>
            <a:bodyPr wrap="none" rtlCol="0">
              <a:spAutoFit/>
            </a:bodyPr>
            <a:lstStyle/>
            <a:p>
              <a:r>
                <a:rPr lang="de-DE" dirty="0"/>
                <a:t>fährt fort</a:t>
              </a:r>
            </a:p>
          </p:txBody>
        </p:sp>
      </p:grpSp>
    </p:spTree>
    <p:extLst>
      <p:ext uri="{BB962C8B-B14F-4D97-AF65-F5344CB8AC3E}">
        <p14:creationId xmlns:p14="http://schemas.microsoft.com/office/powerpoint/2010/main" val="2396087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32</a:t>
            </a:fld>
            <a:endParaRPr lang="de-DE"/>
          </a:p>
        </p:txBody>
      </p:sp>
      <p:sp>
        <p:nvSpPr>
          <p:cNvPr id="3" name="Titel 2"/>
          <p:cNvSpPr>
            <a:spLocks noGrp="1"/>
          </p:cNvSpPr>
          <p:nvPr>
            <p:ph type="title"/>
          </p:nvPr>
        </p:nvSpPr>
        <p:spPr/>
        <p:txBody>
          <a:bodyPr/>
          <a:lstStyle/>
          <a:p>
            <a:r>
              <a:rPr lang="de-DE" dirty="0"/>
              <a:t>Prozesserzeugung und Prozesshierarchien</a:t>
            </a:r>
          </a:p>
        </p:txBody>
      </p:sp>
    </p:spTree>
    <p:extLst>
      <p:ext uri="{BB962C8B-B14F-4D97-AF65-F5344CB8AC3E}">
        <p14:creationId xmlns:p14="http://schemas.microsoft.com/office/powerpoint/2010/main" val="1934622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 </a:t>
            </a:r>
            <a:r>
              <a:rPr lang="de-DE" dirty="0" err="1"/>
              <a:t>init</a:t>
            </a:r>
            <a:endParaRPr lang="de-DE" dirty="0"/>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33</a:t>
            </a:fld>
            <a:endParaRPr lang="en-US" noProof="0" dirty="0"/>
          </a:p>
        </p:txBody>
      </p:sp>
      <p:sp>
        <p:nvSpPr>
          <p:cNvPr id="3" name="Inhaltsplatzhalter 2"/>
          <p:cNvSpPr>
            <a:spLocks noGrp="1"/>
          </p:cNvSpPr>
          <p:nvPr>
            <p:ph sz="quarter" idx="1"/>
          </p:nvPr>
        </p:nvSpPr>
        <p:spPr/>
        <p:txBody>
          <a:bodyPr>
            <a:normAutofit/>
          </a:bodyPr>
          <a:lstStyle/>
          <a:p>
            <a:pPr fontAlgn="t"/>
            <a:r>
              <a:rPr lang="de-DE" dirty="0"/>
              <a:t>Unter Linux / UNIX / erzeugt der Kernel nur wenige Prozesse</a:t>
            </a:r>
          </a:p>
          <a:p>
            <a:pPr fontAlgn="t"/>
            <a:r>
              <a:rPr lang="de-DE" dirty="0"/>
              <a:t>Die restlichen erzeugt der Prozess </a:t>
            </a:r>
            <a:r>
              <a:rPr lang="de-DE" b="1" dirty="0" err="1">
                <a:solidFill>
                  <a:srgbClr val="0070C0"/>
                </a:solidFill>
              </a:rPr>
              <a:t>init</a:t>
            </a:r>
            <a:endParaRPr lang="de-DE" b="1" dirty="0">
              <a:solidFill>
                <a:srgbClr val="0070C0"/>
              </a:solidFill>
            </a:endParaRPr>
          </a:p>
          <a:p>
            <a:pPr fontAlgn="t"/>
            <a:r>
              <a:rPr lang="de-DE" b="1" dirty="0" err="1">
                <a:solidFill>
                  <a:srgbClr val="0070C0"/>
                </a:solidFill>
              </a:rPr>
              <a:t>init</a:t>
            </a:r>
            <a:r>
              <a:rPr lang="de-DE" dirty="0">
                <a:solidFill>
                  <a:srgbClr val="0070C0"/>
                </a:solidFill>
              </a:rPr>
              <a:t> </a:t>
            </a:r>
            <a:r>
              <a:rPr lang="de-DE" dirty="0">
                <a:solidFill>
                  <a:schemeClr val="tx1"/>
                </a:solidFill>
              </a:rPr>
              <a:t>führt alle Startup-Skripte aus und ist "Vater" aller Prozesse, die nicht vom Kernel erzeugt wurden</a:t>
            </a:r>
          </a:p>
          <a:p>
            <a:pPr lvl="1" fontAlgn="t"/>
            <a:r>
              <a:rPr lang="de-DE" sz="2600" b="1" dirty="0" err="1">
                <a:solidFill>
                  <a:srgbClr val="0070C0"/>
                </a:solidFill>
              </a:rPr>
              <a:t>init</a:t>
            </a:r>
            <a:r>
              <a:rPr lang="de-DE" sz="2600" dirty="0">
                <a:solidFill>
                  <a:srgbClr val="0070C0"/>
                </a:solidFill>
              </a:rPr>
              <a:t> </a:t>
            </a:r>
            <a:r>
              <a:rPr lang="de-DE" sz="2600" dirty="0">
                <a:solidFill>
                  <a:schemeClr val="tx1"/>
                </a:solidFill>
              </a:rPr>
              <a:t>hat </a:t>
            </a:r>
            <a:r>
              <a:rPr lang="de-DE" sz="2600" dirty="0" err="1">
                <a:solidFill>
                  <a:srgbClr val="0070C0"/>
                </a:solidFill>
              </a:rPr>
              <a:t>Process</a:t>
            </a:r>
            <a:r>
              <a:rPr lang="de-DE" sz="2600" dirty="0">
                <a:solidFill>
                  <a:srgbClr val="0070C0"/>
                </a:solidFill>
              </a:rPr>
              <a:t> ID </a:t>
            </a:r>
            <a:r>
              <a:rPr lang="de-DE" sz="2600" dirty="0">
                <a:solidFill>
                  <a:schemeClr val="tx1"/>
                </a:solidFill>
              </a:rPr>
              <a:t>(</a:t>
            </a:r>
            <a:r>
              <a:rPr lang="de-DE" sz="2600" dirty="0">
                <a:solidFill>
                  <a:srgbClr val="0070C0"/>
                </a:solidFill>
              </a:rPr>
              <a:t>PID</a:t>
            </a:r>
            <a:r>
              <a:rPr lang="de-DE" sz="2600" dirty="0">
                <a:solidFill>
                  <a:schemeClr val="tx1"/>
                </a:solidFill>
              </a:rPr>
              <a:t>) 1</a:t>
            </a:r>
          </a:p>
          <a:p>
            <a:pPr fontAlgn="t"/>
            <a:r>
              <a:rPr lang="de-DE" dirty="0"/>
              <a:t>Es erzeugt eine </a:t>
            </a:r>
            <a:r>
              <a:rPr lang="de-DE" dirty="0">
                <a:solidFill>
                  <a:srgbClr val="0070C0"/>
                </a:solidFill>
              </a:rPr>
              <a:t>Prozesshierarchie</a:t>
            </a:r>
          </a:p>
          <a:p>
            <a:pPr lvl="1" fontAlgn="t"/>
            <a:endParaRPr lang="de-DE" sz="2100" dirty="0">
              <a:solidFill>
                <a:schemeClr val="tx1"/>
              </a:solidFill>
            </a:endParaRPr>
          </a:p>
          <a:p>
            <a:pPr lvl="1" fontAlgn="t"/>
            <a:endParaRPr lang="de-DE" dirty="0"/>
          </a:p>
          <a:p>
            <a:pPr lvl="1" fontAlgn="t"/>
            <a:endParaRPr lang="de-DE" dirty="0">
              <a:solidFill>
                <a:schemeClr val="tx1"/>
              </a:solidFill>
            </a:endParaRPr>
          </a:p>
        </p:txBody>
      </p:sp>
    </p:spTree>
    <p:extLst>
      <p:ext uri="{BB962C8B-B14F-4D97-AF65-F5344CB8AC3E}">
        <p14:creationId xmlns:p14="http://schemas.microsoft.com/office/powerpoint/2010/main" val="724268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Prozesshierarchie Linux: </a:t>
            </a:r>
            <a:r>
              <a:rPr lang="en-US" dirty="0" err="1">
                <a:solidFill>
                  <a:srgbClr val="0070C0"/>
                </a:solidFill>
              </a:rPr>
              <a:t>pstree</a:t>
            </a:r>
            <a:r>
              <a:rPr lang="en-US" dirty="0">
                <a:solidFill>
                  <a:srgbClr val="0070C0"/>
                </a:solidFill>
              </a:rPr>
              <a:t> -p</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34</a:t>
            </a:fld>
            <a:endParaRPr lang="en-US" noProof="0" dirty="0"/>
          </a:p>
        </p:txBody>
      </p:sp>
      <p:sp>
        <p:nvSpPr>
          <p:cNvPr id="4" name="Inhaltsplatzhalter 3"/>
          <p:cNvSpPr>
            <a:spLocks noGrp="1"/>
          </p:cNvSpPr>
          <p:nvPr>
            <p:ph sz="quarter" idx="1"/>
          </p:nvPr>
        </p:nvSpPr>
        <p:spPr/>
        <p:txBody>
          <a:bodyPr>
            <a:noAutofit/>
          </a:bodyPr>
          <a:lstStyle/>
          <a:p>
            <a:pPr marL="0" indent="0">
              <a:buNone/>
            </a:pPr>
            <a:r>
              <a:rPr lang="en-US" sz="1400" b="1" dirty="0" err="1">
                <a:solidFill>
                  <a:srgbClr val="FF0000"/>
                </a:solidFill>
              </a:rPr>
              <a:t>init</a:t>
            </a:r>
            <a:r>
              <a:rPr lang="en-US" sz="1400" dirty="0"/>
              <a:t>(</a:t>
            </a:r>
            <a:r>
              <a:rPr lang="en-US" sz="1400" b="1" dirty="0">
                <a:solidFill>
                  <a:srgbClr val="FF0000"/>
                </a:solidFill>
              </a:rPr>
              <a:t>1</a:t>
            </a:r>
            <a:r>
              <a:rPr lang="en-US" sz="1400" dirty="0"/>
              <a:t>)-+-</a:t>
            </a:r>
            <a:r>
              <a:rPr lang="en-US" sz="1400" dirty="0" err="1"/>
              <a:t>NetworkManager</a:t>
            </a:r>
            <a:r>
              <a:rPr lang="en-US" sz="1400" dirty="0"/>
              <a:t>(1063)---{</a:t>
            </a:r>
            <a:r>
              <a:rPr lang="en-US" sz="1400" dirty="0" err="1"/>
              <a:t>NetworkManager</a:t>
            </a:r>
            <a:r>
              <a:rPr lang="en-US" sz="1400" dirty="0"/>
              <a:t>}(1131)</a:t>
            </a:r>
          </a:p>
          <a:p>
            <a:pPr marL="0" indent="0">
              <a:buNone/>
            </a:pPr>
            <a:r>
              <a:rPr lang="en-US" sz="1400" dirty="0"/>
              <a:t>        |-accounts-daemon(1384)---{accounts-daemon}(1385)</a:t>
            </a:r>
          </a:p>
          <a:p>
            <a:pPr marL="0" indent="0">
              <a:buNone/>
            </a:pPr>
            <a:r>
              <a:rPr lang="en-US" sz="1400" dirty="0"/>
              <a:t>        |-at-</a:t>
            </a:r>
            <a:r>
              <a:rPr lang="en-US" sz="1400" dirty="0" err="1"/>
              <a:t>spi</a:t>
            </a:r>
            <a:r>
              <a:rPr lang="en-US" sz="1400" dirty="0"/>
              <a:t>-bus-</a:t>
            </a:r>
            <a:r>
              <a:rPr lang="en-US" sz="1400" dirty="0" err="1"/>
              <a:t>laun</a:t>
            </a:r>
            <a:r>
              <a:rPr lang="en-US" sz="1400" dirty="0"/>
              <a:t>(1482)-+-</a:t>
            </a:r>
            <a:r>
              <a:rPr lang="en-US" sz="1400" dirty="0" err="1"/>
              <a:t>dbus</a:t>
            </a:r>
            <a:r>
              <a:rPr lang="en-US" sz="1400" dirty="0"/>
              <a:t>-daemon(1486)</a:t>
            </a:r>
          </a:p>
          <a:p>
            <a:pPr marL="0" indent="0">
              <a:buNone/>
            </a:pPr>
            <a:r>
              <a:rPr lang="en-US" sz="1400" dirty="0"/>
              <a:t>		...</a:t>
            </a:r>
          </a:p>
          <a:p>
            <a:pPr marL="0" indent="0">
              <a:buNone/>
            </a:pPr>
            <a:r>
              <a:rPr lang="en-US" sz="1400" dirty="0"/>
              <a:t>        |-console-kit-</a:t>
            </a:r>
            <a:r>
              <a:rPr lang="en-US" sz="1400" dirty="0" err="1"/>
              <a:t>dae</a:t>
            </a:r>
            <a:r>
              <a:rPr lang="en-US" sz="1400" dirty="0"/>
              <a:t>(1401)-+-{console-kit-</a:t>
            </a:r>
            <a:r>
              <a:rPr lang="en-US" sz="1400" dirty="0" err="1"/>
              <a:t>dae</a:t>
            </a:r>
            <a:r>
              <a:rPr lang="en-US" sz="1400" dirty="0"/>
              <a:t>}(1402)</a:t>
            </a:r>
          </a:p>
          <a:p>
            <a:pPr marL="0" indent="0">
              <a:buNone/>
            </a:pPr>
            <a:r>
              <a:rPr lang="en-US" sz="1400" dirty="0"/>
              <a:t>        |                       	          |-{console-kit-</a:t>
            </a:r>
            <a:r>
              <a:rPr lang="en-US" sz="1400" dirty="0" err="1"/>
              <a:t>dae</a:t>
            </a:r>
            <a:r>
              <a:rPr lang="en-US" sz="1400" dirty="0"/>
              <a:t>}(1403)</a:t>
            </a:r>
          </a:p>
          <a:p>
            <a:pPr marL="0" indent="0">
              <a:buNone/>
            </a:pPr>
            <a:r>
              <a:rPr lang="en-US" sz="1400" dirty="0"/>
              <a:t>		...</a:t>
            </a:r>
          </a:p>
          <a:p>
            <a:pPr marL="0" indent="0">
              <a:buNone/>
            </a:pPr>
            <a:r>
              <a:rPr lang="en-US" sz="1400" dirty="0"/>
              <a:t>        |-</a:t>
            </a:r>
            <a:r>
              <a:rPr lang="en-US" sz="1400" dirty="0" err="1"/>
              <a:t>cron</a:t>
            </a:r>
            <a:r>
              <a:rPr lang="en-US" sz="1400" dirty="0"/>
              <a:t>(1090)---</a:t>
            </a:r>
            <a:r>
              <a:rPr lang="en-US" sz="1400" dirty="0" err="1"/>
              <a:t>cron</a:t>
            </a:r>
            <a:r>
              <a:rPr lang="en-US" sz="1400" dirty="0"/>
              <a:t>(12263)---</a:t>
            </a:r>
            <a:r>
              <a:rPr lang="en-US" sz="1400" dirty="0" err="1"/>
              <a:t>sh</a:t>
            </a:r>
            <a:r>
              <a:rPr lang="en-US" sz="1400" dirty="0"/>
              <a:t>(12264)---</a:t>
            </a:r>
            <a:r>
              <a:rPr lang="en-US" sz="1400" dirty="0" err="1"/>
              <a:t>getYdataLinux.s</a:t>
            </a:r>
            <a:r>
              <a:rPr lang="en-US" sz="1400" dirty="0"/>
              <a:t>(12265)---java(12266)-+-{java}(12267)</a:t>
            </a:r>
          </a:p>
          <a:p>
            <a:pPr marL="0" indent="0">
              <a:buNone/>
            </a:pPr>
            <a:r>
              <a:rPr lang="en-US" sz="1400" dirty="0"/>
              <a:t>        |                                                                             		                          |-{java}(12268)</a:t>
            </a:r>
          </a:p>
          <a:p>
            <a:pPr marL="0" indent="0">
              <a:buNone/>
            </a:pPr>
            <a:r>
              <a:rPr lang="en-US" sz="1400" dirty="0"/>
              <a:t>		...</a:t>
            </a:r>
          </a:p>
          <a:p>
            <a:pPr marL="0" indent="0">
              <a:buNone/>
            </a:pPr>
            <a:r>
              <a:rPr lang="en-US" sz="1400" dirty="0"/>
              <a:t>        |-</a:t>
            </a:r>
            <a:r>
              <a:rPr lang="en-US" sz="1400" dirty="0" err="1"/>
              <a:t>rsyslogd</a:t>
            </a:r>
            <a:r>
              <a:rPr lang="en-US" sz="1400" dirty="0"/>
              <a:t>(906)-+-{</a:t>
            </a:r>
            <a:r>
              <a:rPr lang="en-US" sz="1400" dirty="0" err="1"/>
              <a:t>rsyslogd</a:t>
            </a:r>
            <a:r>
              <a:rPr lang="en-US" sz="1400" dirty="0"/>
              <a:t>}(937)</a:t>
            </a:r>
          </a:p>
          <a:p>
            <a:pPr marL="0" indent="0">
              <a:buNone/>
            </a:pPr>
            <a:r>
              <a:rPr lang="en-US" sz="1400" dirty="0"/>
              <a:t>        |                         |-{</a:t>
            </a:r>
            <a:r>
              <a:rPr lang="en-US" sz="1400" dirty="0" err="1"/>
              <a:t>rsyslogd</a:t>
            </a:r>
            <a:r>
              <a:rPr lang="en-US" sz="1400" dirty="0"/>
              <a:t>}(938)</a:t>
            </a:r>
          </a:p>
          <a:p>
            <a:pPr marL="0" indent="0">
              <a:buNone/>
            </a:pPr>
            <a:r>
              <a:rPr lang="en-US" sz="1400" dirty="0"/>
              <a:t>        |                         `-{</a:t>
            </a:r>
            <a:r>
              <a:rPr lang="en-US" sz="1400" dirty="0" err="1"/>
              <a:t>rsyslogd</a:t>
            </a:r>
            <a:r>
              <a:rPr lang="en-US" sz="1400" dirty="0"/>
              <a:t>}(939)</a:t>
            </a:r>
          </a:p>
          <a:p>
            <a:pPr marL="0" indent="0">
              <a:buNone/>
            </a:pPr>
            <a:r>
              <a:rPr lang="en-US" sz="1400" dirty="0"/>
              <a:t>        |-</a:t>
            </a:r>
            <a:r>
              <a:rPr lang="en-US" sz="1400" dirty="0" err="1"/>
              <a:t>rtkit</a:t>
            </a:r>
            <a:r>
              <a:rPr lang="en-US" sz="1400" dirty="0"/>
              <a:t>-daemon(1654)-+-{</a:t>
            </a:r>
            <a:r>
              <a:rPr lang="en-US" sz="1400" dirty="0" err="1"/>
              <a:t>rtkit</a:t>
            </a:r>
            <a:r>
              <a:rPr lang="en-US" sz="1400" dirty="0"/>
              <a:t>-daemon}(1655)</a:t>
            </a:r>
          </a:p>
          <a:p>
            <a:pPr marL="0" indent="0">
              <a:buNone/>
            </a:pPr>
            <a:r>
              <a:rPr lang="en-US" sz="1400" dirty="0"/>
              <a:t>        |                                  `-{</a:t>
            </a:r>
            <a:r>
              <a:rPr lang="en-US" sz="1400" dirty="0" err="1"/>
              <a:t>rtkit</a:t>
            </a:r>
            <a:r>
              <a:rPr lang="en-US" sz="1400" dirty="0"/>
              <a:t>-daemon}(1656)</a:t>
            </a:r>
          </a:p>
          <a:p>
            <a:pPr marL="0" indent="0">
              <a:buNone/>
            </a:pPr>
            <a:r>
              <a:rPr lang="en-US" sz="1400" dirty="0"/>
              <a:t>        |-</a:t>
            </a:r>
            <a:r>
              <a:rPr lang="en-US" sz="1400" dirty="0" err="1"/>
              <a:t>sshd</a:t>
            </a:r>
            <a:r>
              <a:rPr lang="en-US" sz="1400" dirty="0"/>
              <a:t>(898)---</a:t>
            </a:r>
            <a:r>
              <a:rPr lang="en-US" sz="1400" dirty="0" err="1"/>
              <a:t>sshd</a:t>
            </a:r>
            <a:r>
              <a:rPr lang="en-US" sz="1400" dirty="0"/>
              <a:t>(7057)---</a:t>
            </a:r>
            <a:r>
              <a:rPr lang="en-US" sz="1400" dirty="0" err="1"/>
              <a:t>sshd</a:t>
            </a:r>
            <a:r>
              <a:rPr lang="en-US" sz="1400" dirty="0"/>
              <a:t>(7223)---bash(7226)---</a:t>
            </a:r>
            <a:r>
              <a:rPr lang="en-US" sz="1400" b="1" dirty="0" err="1">
                <a:solidFill>
                  <a:srgbClr val="FF0000"/>
                </a:solidFill>
              </a:rPr>
              <a:t>pstree</a:t>
            </a:r>
            <a:r>
              <a:rPr lang="en-US" sz="1400" b="1" dirty="0"/>
              <a:t>(</a:t>
            </a:r>
            <a:r>
              <a:rPr lang="en-US" sz="1400" dirty="0"/>
              <a:t>7364)</a:t>
            </a:r>
          </a:p>
          <a:p>
            <a:pPr marL="0" indent="0">
              <a:buNone/>
            </a:pPr>
            <a:r>
              <a:rPr lang="en-US" sz="1400" dirty="0"/>
              <a:t>        |-</a:t>
            </a:r>
            <a:r>
              <a:rPr lang="en-US" sz="1400" dirty="0" err="1"/>
              <a:t>ubuntu-geoip-pr</a:t>
            </a:r>
            <a:r>
              <a:rPr lang="en-US" sz="1400" dirty="0"/>
              <a:t>(1687)-+-{</a:t>
            </a:r>
            <a:r>
              <a:rPr lang="en-US" sz="1400" dirty="0" err="1"/>
              <a:t>ubuntu-geoip-pr</a:t>
            </a:r>
            <a:r>
              <a:rPr lang="en-US" sz="1400" dirty="0"/>
              <a:t>}(1688)</a:t>
            </a:r>
          </a:p>
          <a:p>
            <a:pPr marL="0" indent="0">
              <a:buNone/>
            </a:pPr>
            <a:r>
              <a:rPr lang="en-US" sz="1400" dirty="0"/>
              <a:t>        |                                       `-{</a:t>
            </a:r>
            <a:r>
              <a:rPr lang="en-US" sz="1400" dirty="0" err="1"/>
              <a:t>ubuntu-geoip-pr</a:t>
            </a:r>
            <a:r>
              <a:rPr lang="en-US" sz="1400" dirty="0"/>
              <a:t>}(1689)</a:t>
            </a:r>
          </a:p>
          <a:p>
            <a:pPr marL="0" indent="0">
              <a:buNone/>
            </a:pPr>
            <a:r>
              <a:rPr lang="en-US" sz="1400" dirty="0"/>
              <a:t>         </a:t>
            </a:r>
          </a:p>
        </p:txBody>
      </p:sp>
    </p:spTree>
    <p:extLst>
      <p:ext uri="{BB962C8B-B14F-4D97-AF65-F5344CB8AC3E}">
        <p14:creationId xmlns:p14="http://schemas.microsoft.com/office/powerpoint/2010/main" val="2651216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Prozesserzeugung POSIX - Wiederholung</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35</a:t>
            </a:fld>
            <a:endParaRPr lang="en-US" noProof="0" dirty="0"/>
          </a:p>
        </p:txBody>
      </p:sp>
      <p:sp>
        <p:nvSpPr>
          <p:cNvPr id="6" name="Textfeld 5"/>
          <p:cNvSpPr txBox="1"/>
          <p:nvPr/>
        </p:nvSpPr>
        <p:spPr>
          <a:xfrm>
            <a:off x="467544" y="1268760"/>
            <a:ext cx="8244629" cy="3724096"/>
          </a:xfrm>
          <a:prstGeom prst="rect">
            <a:avLst/>
          </a:prstGeom>
          <a:noFill/>
        </p:spPr>
        <p:txBody>
          <a:bodyPr wrap="none" rtlCol="0">
            <a:spAutoFit/>
          </a:bodyPr>
          <a:lstStyle/>
          <a:p>
            <a:r>
              <a:rPr lang="de-DE" dirty="0"/>
              <a:t>#</a:t>
            </a:r>
            <a:r>
              <a:rPr lang="de-DE" dirty="0" err="1"/>
              <a:t>define</a:t>
            </a:r>
            <a:r>
              <a:rPr lang="de-DE" dirty="0"/>
              <a:t> TRUE 1</a:t>
            </a:r>
          </a:p>
          <a:p>
            <a:r>
              <a:rPr lang="de-DE" dirty="0" err="1"/>
              <a:t>while</a:t>
            </a:r>
            <a:r>
              <a:rPr lang="de-DE" dirty="0"/>
              <a:t> (TRUE) {</a:t>
            </a:r>
          </a:p>
          <a:p>
            <a:pPr>
              <a:tabLst>
                <a:tab pos="263525" algn="l"/>
              </a:tabLst>
            </a:pPr>
            <a:r>
              <a:rPr lang="de-DE" dirty="0"/>
              <a:t>	</a:t>
            </a:r>
            <a:r>
              <a:rPr lang="de-DE" dirty="0" err="1"/>
              <a:t>type_prompt</a:t>
            </a:r>
            <a:r>
              <a:rPr lang="de-DE" dirty="0"/>
              <a:t>();				</a:t>
            </a:r>
            <a:r>
              <a:rPr lang="de-DE" dirty="0">
                <a:solidFill>
                  <a:srgbClr val="FF0000"/>
                </a:solidFill>
              </a:rPr>
              <a:t>/* Prompt ausgeben */</a:t>
            </a:r>
          </a:p>
          <a:p>
            <a:pPr>
              <a:tabLst>
                <a:tab pos="263525" algn="l"/>
              </a:tabLst>
            </a:pPr>
            <a:r>
              <a:rPr lang="de-DE" dirty="0"/>
              <a:t>	</a:t>
            </a:r>
            <a:r>
              <a:rPr lang="de-DE" dirty="0" err="1"/>
              <a:t>read_command</a:t>
            </a:r>
            <a:r>
              <a:rPr lang="de-DE" dirty="0"/>
              <a:t> (</a:t>
            </a:r>
            <a:r>
              <a:rPr lang="de-DE" dirty="0" err="1"/>
              <a:t>command</a:t>
            </a:r>
            <a:r>
              <a:rPr lang="de-DE" dirty="0"/>
              <a:t>, </a:t>
            </a:r>
            <a:r>
              <a:rPr lang="de-DE" dirty="0" err="1"/>
              <a:t>parameters</a:t>
            </a:r>
            <a:r>
              <a:rPr lang="de-DE" dirty="0"/>
              <a:t>);	</a:t>
            </a:r>
            <a:r>
              <a:rPr lang="de-DE" dirty="0">
                <a:solidFill>
                  <a:srgbClr val="FF0000"/>
                </a:solidFill>
              </a:rPr>
              <a:t>/* Befehl einlesen */</a:t>
            </a:r>
          </a:p>
          <a:p>
            <a:pPr>
              <a:tabLst>
                <a:tab pos="263525" algn="l"/>
              </a:tabLst>
            </a:pPr>
            <a:r>
              <a:rPr lang="de-DE" dirty="0"/>
              <a:t>	</a:t>
            </a:r>
          </a:p>
          <a:p>
            <a:pPr>
              <a:tabLst>
                <a:tab pos="263525" algn="l"/>
              </a:tabLst>
            </a:pPr>
            <a:r>
              <a:rPr lang="de-DE" dirty="0"/>
              <a:t>	</a:t>
            </a:r>
            <a:r>
              <a:rPr lang="de-DE" dirty="0" err="1"/>
              <a:t>if</a:t>
            </a:r>
            <a:r>
              <a:rPr lang="de-DE" dirty="0"/>
              <a:t> ( </a:t>
            </a:r>
            <a:r>
              <a:rPr lang="de-DE" b="1" dirty="0" err="1">
                <a:solidFill>
                  <a:srgbClr val="FF0000"/>
                </a:solidFill>
              </a:rPr>
              <a:t>fork</a:t>
            </a:r>
            <a:r>
              <a:rPr lang="de-DE" b="1" dirty="0">
                <a:solidFill>
                  <a:srgbClr val="FF0000"/>
                </a:solidFill>
              </a:rPr>
              <a:t>() </a:t>
            </a:r>
            <a:r>
              <a:rPr lang="de-DE" dirty="0"/>
              <a:t>!= 0 ) {			</a:t>
            </a:r>
            <a:r>
              <a:rPr lang="de-DE" dirty="0">
                <a:solidFill>
                  <a:srgbClr val="FF0000"/>
                </a:solidFill>
              </a:rPr>
              <a:t>/* </a:t>
            </a:r>
            <a:r>
              <a:rPr lang="de-DE" dirty="0" err="1">
                <a:solidFill>
                  <a:srgbClr val="FF0000"/>
                </a:solidFill>
              </a:rPr>
              <a:t>Kindprozess</a:t>
            </a:r>
            <a:r>
              <a:rPr lang="de-DE" dirty="0">
                <a:solidFill>
                  <a:srgbClr val="FF0000"/>
                </a:solidFill>
              </a:rPr>
              <a:t> erzeugen */</a:t>
            </a:r>
          </a:p>
          <a:p>
            <a:pPr>
              <a:tabLst>
                <a:tab pos="263525" algn="l"/>
                <a:tab pos="630238" algn="l"/>
                <a:tab pos="985838" algn="l"/>
              </a:tabLst>
            </a:pPr>
            <a:r>
              <a:rPr lang="de-DE" dirty="0"/>
              <a:t>		</a:t>
            </a:r>
            <a:r>
              <a:rPr lang="de-DE" dirty="0">
                <a:solidFill>
                  <a:srgbClr val="FF0000"/>
                </a:solidFill>
              </a:rPr>
              <a:t>/* Code des Elternprozesses */</a:t>
            </a:r>
          </a:p>
          <a:p>
            <a:pPr>
              <a:tabLst>
                <a:tab pos="263525" algn="l"/>
                <a:tab pos="630238" algn="l"/>
                <a:tab pos="985838" algn="l"/>
              </a:tabLst>
            </a:pPr>
            <a:r>
              <a:rPr lang="de-DE" dirty="0"/>
              <a:t>		</a:t>
            </a:r>
            <a:r>
              <a:rPr lang="de-DE" b="1" dirty="0">
                <a:solidFill>
                  <a:srgbClr val="FF0000"/>
                </a:solidFill>
              </a:rPr>
              <a:t>waitpid</a:t>
            </a:r>
            <a:r>
              <a:rPr lang="de-DE" dirty="0"/>
              <a:t> (-1, &amp;status, 0);	</a:t>
            </a:r>
            <a:r>
              <a:rPr lang="de-DE" dirty="0">
                <a:solidFill>
                  <a:srgbClr val="FF0000"/>
                </a:solidFill>
              </a:rPr>
              <a:t>/* Auf Ende des Kindprozesses warten */</a:t>
            </a:r>
          </a:p>
          <a:p>
            <a:pPr>
              <a:tabLst>
                <a:tab pos="263525" algn="l"/>
                <a:tab pos="630238" algn="l"/>
                <a:tab pos="985838" algn="l"/>
              </a:tabLst>
            </a:pPr>
            <a:r>
              <a:rPr lang="de-DE" dirty="0"/>
              <a:t>	} </a:t>
            </a:r>
            <a:r>
              <a:rPr lang="de-DE" dirty="0" err="1"/>
              <a:t>else</a:t>
            </a:r>
            <a:r>
              <a:rPr lang="de-DE" dirty="0"/>
              <a:t> {</a:t>
            </a:r>
          </a:p>
          <a:p>
            <a:pPr>
              <a:tabLst>
                <a:tab pos="263525" algn="l"/>
                <a:tab pos="630238" algn="l"/>
                <a:tab pos="985838" algn="l"/>
              </a:tabLst>
            </a:pPr>
            <a:r>
              <a:rPr lang="de-DE" dirty="0"/>
              <a:t>		</a:t>
            </a:r>
            <a:r>
              <a:rPr lang="de-DE" dirty="0">
                <a:solidFill>
                  <a:srgbClr val="FF0000"/>
                </a:solidFill>
              </a:rPr>
              <a:t>/* Code des </a:t>
            </a:r>
            <a:r>
              <a:rPr lang="de-DE" dirty="0" err="1">
                <a:solidFill>
                  <a:srgbClr val="FF0000"/>
                </a:solidFill>
              </a:rPr>
              <a:t>Kindprozesses</a:t>
            </a:r>
            <a:r>
              <a:rPr lang="de-DE" dirty="0">
                <a:solidFill>
                  <a:srgbClr val="FF0000"/>
                </a:solidFill>
              </a:rPr>
              <a:t> */</a:t>
            </a:r>
          </a:p>
          <a:p>
            <a:pPr>
              <a:tabLst>
                <a:tab pos="263525" algn="l"/>
                <a:tab pos="630238" algn="l"/>
                <a:tab pos="985838" algn="l"/>
              </a:tabLst>
            </a:pPr>
            <a:r>
              <a:rPr lang="de-DE" dirty="0"/>
              <a:t>		</a:t>
            </a:r>
            <a:r>
              <a:rPr lang="de-DE" b="1" dirty="0">
                <a:solidFill>
                  <a:srgbClr val="FF0000"/>
                </a:solidFill>
              </a:rPr>
              <a:t>execve</a:t>
            </a:r>
            <a:r>
              <a:rPr lang="de-DE" dirty="0"/>
              <a:t> (command, parameters, 0); 	</a:t>
            </a:r>
            <a:r>
              <a:rPr lang="de-DE" dirty="0">
                <a:solidFill>
                  <a:srgbClr val="FF0000"/>
                </a:solidFill>
              </a:rPr>
              <a:t>/* Befehl </a:t>
            </a:r>
            <a:r>
              <a:rPr lang="de-DE" dirty="0"/>
              <a:t>command </a:t>
            </a:r>
            <a:r>
              <a:rPr lang="de-DE" dirty="0">
                <a:solidFill>
                  <a:srgbClr val="FF0000"/>
                </a:solidFill>
              </a:rPr>
              <a:t>ausführen */</a:t>
            </a:r>
          </a:p>
          <a:p>
            <a:pPr>
              <a:tabLst>
                <a:tab pos="263525" algn="l"/>
                <a:tab pos="630238" algn="l"/>
                <a:tab pos="985838" algn="l"/>
              </a:tabLst>
            </a:pPr>
            <a:r>
              <a:rPr lang="de-DE" dirty="0"/>
              <a:t>	}</a:t>
            </a:r>
          </a:p>
          <a:p>
            <a:pPr>
              <a:tabLst>
                <a:tab pos="263525" algn="l"/>
                <a:tab pos="630238" algn="l"/>
                <a:tab pos="985838" algn="l"/>
              </a:tabLst>
            </a:pPr>
            <a:r>
              <a:rPr lang="de-DE" dirty="0"/>
              <a:t>}</a:t>
            </a:r>
          </a:p>
        </p:txBody>
      </p:sp>
      <p:grpSp>
        <p:nvGrpSpPr>
          <p:cNvPr id="17" name="Gruppieren 16"/>
          <p:cNvGrpSpPr/>
          <p:nvPr/>
        </p:nvGrpSpPr>
        <p:grpSpPr>
          <a:xfrm>
            <a:off x="395536" y="4725144"/>
            <a:ext cx="8191431" cy="1728192"/>
            <a:chOff x="395536" y="4725144"/>
            <a:chExt cx="8191431" cy="1728192"/>
          </a:xfrm>
        </p:grpSpPr>
        <p:sp>
          <p:nvSpPr>
            <p:cNvPr id="18" name="Ellipse 17"/>
            <p:cNvSpPr/>
            <p:nvPr/>
          </p:nvSpPr>
          <p:spPr>
            <a:xfrm>
              <a:off x="395536" y="5301208"/>
              <a:ext cx="1440160" cy="648072"/>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de-DE" sz="2400" dirty="0" err="1"/>
                <a:t>fork</a:t>
              </a:r>
              <a:endParaRPr lang="de-DE" sz="2400" dirty="0"/>
            </a:p>
          </p:txBody>
        </p:sp>
        <p:sp>
          <p:nvSpPr>
            <p:cNvPr id="19" name="Ellipse 18"/>
            <p:cNvSpPr/>
            <p:nvPr/>
          </p:nvSpPr>
          <p:spPr>
            <a:xfrm>
              <a:off x="2915816" y="5805264"/>
              <a:ext cx="1674042" cy="648072"/>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de-DE" sz="2400" dirty="0"/>
                <a:t>execve</a:t>
              </a:r>
            </a:p>
          </p:txBody>
        </p:sp>
        <p:sp>
          <p:nvSpPr>
            <p:cNvPr id="21" name="Ellipse 20"/>
            <p:cNvSpPr/>
            <p:nvPr/>
          </p:nvSpPr>
          <p:spPr>
            <a:xfrm>
              <a:off x="5220072" y="5805264"/>
              <a:ext cx="1656184" cy="64807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de-DE" sz="2400" dirty="0" err="1"/>
                <a:t>exit</a:t>
              </a:r>
              <a:endParaRPr lang="de-DE" sz="2400" dirty="0"/>
            </a:p>
          </p:txBody>
        </p:sp>
        <p:sp>
          <p:nvSpPr>
            <p:cNvPr id="22" name="Ellipse 21"/>
            <p:cNvSpPr/>
            <p:nvPr/>
          </p:nvSpPr>
          <p:spPr>
            <a:xfrm>
              <a:off x="5202591" y="4725144"/>
              <a:ext cx="1656184" cy="64807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DE" sz="2400" dirty="0" err="1"/>
                <a:t>waitpid</a:t>
              </a:r>
              <a:endParaRPr lang="de-DE" sz="2400" dirty="0"/>
            </a:p>
          </p:txBody>
        </p:sp>
        <p:cxnSp>
          <p:nvCxnSpPr>
            <p:cNvPr id="23" name="Form 11"/>
            <p:cNvCxnSpPr>
              <a:stCxn id="18" idx="5"/>
              <a:endCxn id="19" idx="2"/>
            </p:cNvCxnSpPr>
            <p:nvPr/>
          </p:nvCxnSpPr>
          <p:spPr>
            <a:xfrm rot="16200000" flipH="1">
              <a:off x="2132838" y="5346322"/>
              <a:ext cx="274928" cy="1291027"/>
            </a:xfrm>
            <a:prstGeom prst="curvedConnector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Form 12"/>
            <p:cNvCxnSpPr>
              <a:stCxn id="18" idx="7"/>
              <a:endCxn id="22" idx="2"/>
            </p:cNvCxnSpPr>
            <p:nvPr/>
          </p:nvCxnSpPr>
          <p:spPr>
            <a:xfrm rot="5400000" flipH="1" flipV="1">
              <a:off x="3240222" y="3433747"/>
              <a:ext cx="346936" cy="3577802"/>
            </a:xfrm>
            <a:prstGeom prst="curvedConnector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Form 15"/>
            <p:cNvCxnSpPr>
              <a:stCxn id="19" idx="6"/>
              <a:endCxn id="21" idx="2"/>
            </p:cNvCxnSpPr>
            <p:nvPr/>
          </p:nvCxnSpPr>
          <p:spPr>
            <a:xfrm>
              <a:off x="4589858" y="6129300"/>
              <a:ext cx="630214" cy="12700"/>
            </a:xfrm>
            <a:prstGeom prst="curved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7" name="Form 15"/>
            <p:cNvCxnSpPr>
              <a:stCxn id="21" idx="0"/>
              <a:endCxn id="22" idx="4"/>
            </p:cNvCxnSpPr>
            <p:nvPr/>
          </p:nvCxnSpPr>
          <p:spPr>
            <a:xfrm rot="16200000" flipV="1">
              <a:off x="5823400" y="5580499"/>
              <a:ext cx="432048" cy="17481"/>
            </a:xfrm>
            <a:prstGeom prst="curved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8" name="Form 24"/>
            <p:cNvCxnSpPr>
              <a:stCxn id="22" idx="6"/>
            </p:cNvCxnSpPr>
            <p:nvPr/>
          </p:nvCxnSpPr>
          <p:spPr>
            <a:xfrm>
              <a:off x="6858775" y="5049180"/>
              <a:ext cx="1728192" cy="12700"/>
            </a:xfrm>
            <a:prstGeom prst="curved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1" name="Textfeld 30"/>
            <p:cNvSpPr txBox="1"/>
            <p:nvPr/>
          </p:nvSpPr>
          <p:spPr>
            <a:xfrm>
              <a:off x="2771800" y="4725144"/>
              <a:ext cx="1595309" cy="369332"/>
            </a:xfrm>
            <a:prstGeom prst="rect">
              <a:avLst/>
            </a:prstGeom>
            <a:noFill/>
          </p:spPr>
          <p:txBody>
            <a:bodyPr wrap="none" rtlCol="0">
              <a:spAutoFit/>
            </a:bodyPr>
            <a:lstStyle/>
            <a:p>
              <a:r>
                <a:rPr lang="de-DE" dirty="0"/>
                <a:t>Elternprozess</a:t>
              </a:r>
            </a:p>
          </p:txBody>
        </p:sp>
        <p:sp>
          <p:nvSpPr>
            <p:cNvPr id="32" name="Textfeld 31"/>
            <p:cNvSpPr txBox="1"/>
            <p:nvPr/>
          </p:nvSpPr>
          <p:spPr>
            <a:xfrm>
              <a:off x="1403648" y="6021288"/>
              <a:ext cx="1454244" cy="369332"/>
            </a:xfrm>
            <a:prstGeom prst="rect">
              <a:avLst/>
            </a:prstGeom>
            <a:noFill/>
          </p:spPr>
          <p:txBody>
            <a:bodyPr wrap="none" rtlCol="0">
              <a:spAutoFit/>
            </a:bodyPr>
            <a:lstStyle/>
            <a:p>
              <a:r>
                <a:rPr lang="de-DE" dirty="0" err="1"/>
                <a:t>Kindprozess</a:t>
              </a:r>
              <a:endParaRPr lang="de-DE" dirty="0"/>
            </a:p>
          </p:txBody>
        </p:sp>
        <p:sp>
          <p:nvSpPr>
            <p:cNvPr id="34" name="Textfeld 33"/>
            <p:cNvSpPr txBox="1"/>
            <p:nvPr/>
          </p:nvSpPr>
          <p:spPr>
            <a:xfrm>
              <a:off x="7092280" y="5013176"/>
              <a:ext cx="1043876" cy="369332"/>
            </a:xfrm>
            <a:prstGeom prst="rect">
              <a:avLst/>
            </a:prstGeom>
            <a:noFill/>
          </p:spPr>
          <p:txBody>
            <a:bodyPr wrap="none" rtlCol="0">
              <a:spAutoFit/>
            </a:bodyPr>
            <a:lstStyle/>
            <a:p>
              <a:r>
                <a:rPr lang="de-DE" dirty="0"/>
                <a:t>fährt fort</a:t>
              </a:r>
            </a:p>
          </p:txBody>
        </p:sp>
      </p:grpSp>
    </p:spTree>
    <p:extLst>
      <p:ext uri="{BB962C8B-B14F-4D97-AF65-F5344CB8AC3E}">
        <p14:creationId xmlns:p14="http://schemas.microsoft.com/office/powerpoint/2010/main" val="3429275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Fork</a:t>
            </a:r>
            <a:r>
              <a:rPr lang="de-DE" dirty="0"/>
              <a:t>() – was wird vererbt?</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36</a:t>
            </a:fld>
            <a:endParaRPr lang="en-US" noProof="0" dirty="0"/>
          </a:p>
        </p:txBody>
      </p:sp>
      <p:sp>
        <p:nvSpPr>
          <p:cNvPr id="3" name="Inhaltsplatzhalter 2"/>
          <p:cNvSpPr>
            <a:spLocks noGrp="1"/>
          </p:cNvSpPr>
          <p:nvPr>
            <p:ph sz="quarter" idx="1"/>
          </p:nvPr>
        </p:nvSpPr>
        <p:spPr/>
        <p:txBody>
          <a:bodyPr>
            <a:normAutofit/>
          </a:bodyPr>
          <a:lstStyle/>
          <a:p>
            <a:pPr fontAlgn="t"/>
            <a:r>
              <a:rPr lang="de-DE" dirty="0"/>
              <a:t>Speicher: Code (Text), Halden (Heaps), Stack</a:t>
            </a:r>
            <a:endParaRPr lang="en-US" dirty="0"/>
          </a:p>
          <a:p>
            <a:pPr fontAlgn="t"/>
            <a:r>
              <a:rPr lang="en-US" dirty="0" err="1"/>
              <a:t>Alle</a:t>
            </a:r>
            <a:r>
              <a:rPr lang="en-US" dirty="0"/>
              <a:t> </a:t>
            </a:r>
            <a:r>
              <a:rPr lang="en-US" dirty="0" err="1"/>
              <a:t>offenen</a:t>
            </a:r>
            <a:r>
              <a:rPr lang="en-US" dirty="0"/>
              <a:t> </a:t>
            </a:r>
            <a:r>
              <a:rPr lang="en-US" dirty="0" err="1"/>
              <a:t>Dateideskriptoren</a:t>
            </a:r>
            <a:r>
              <a:rPr lang="de-DE" dirty="0"/>
              <a:t> ("Zeiger" auf Dateien)</a:t>
            </a:r>
          </a:p>
          <a:p>
            <a:pPr fontAlgn="t"/>
            <a:r>
              <a:rPr lang="en-US" dirty="0" err="1"/>
              <a:t>Arbeits</a:t>
            </a:r>
            <a:r>
              <a:rPr lang="en-US" dirty="0"/>
              <a:t>- und </a:t>
            </a:r>
            <a:r>
              <a:rPr lang="en-US" dirty="0" err="1"/>
              <a:t>Wurzelverzeichnis</a:t>
            </a:r>
            <a:endParaRPr lang="en-US" dirty="0"/>
          </a:p>
          <a:p>
            <a:pPr fontAlgn="t"/>
            <a:r>
              <a:rPr lang="en-US" dirty="0" err="1"/>
              <a:t>Umgebungsvariablen</a:t>
            </a:r>
            <a:endParaRPr lang="en-US" dirty="0"/>
          </a:p>
          <a:p>
            <a:pPr fontAlgn="t"/>
            <a:r>
              <a:rPr lang="en-US" dirty="0" err="1"/>
              <a:t>Ressourcenlimits</a:t>
            </a:r>
            <a:endParaRPr lang="en-US" dirty="0"/>
          </a:p>
          <a:p>
            <a:pPr fontAlgn="t"/>
            <a:endParaRPr lang="en-US" dirty="0"/>
          </a:p>
          <a:p>
            <a:pPr fontAlgn="t"/>
            <a:endParaRPr lang="en-US" dirty="0"/>
          </a:p>
          <a:p>
            <a:pPr fontAlgn="t"/>
            <a:endParaRPr lang="de-DE" dirty="0"/>
          </a:p>
          <a:p>
            <a:pPr lvl="1" fontAlgn="t"/>
            <a:endParaRPr lang="de-DE" dirty="0"/>
          </a:p>
          <a:p>
            <a:pPr lvl="1" fontAlgn="t"/>
            <a:endParaRPr lang="de-DE" dirty="0">
              <a:solidFill>
                <a:schemeClr val="tx1"/>
              </a:solidFill>
            </a:endParaRPr>
          </a:p>
        </p:txBody>
      </p:sp>
      <p:sp>
        <p:nvSpPr>
          <p:cNvPr id="7" name="Inhaltsplatzhalter 6"/>
          <p:cNvSpPr>
            <a:spLocks noGrp="1"/>
          </p:cNvSpPr>
          <p:nvPr>
            <p:ph sz="quarter" idx="13"/>
          </p:nvPr>
        </p:nvSpPr>
        <p:spPr/>
        <p:txBody>
          <a:bodyPr/>
          <a:lstStyle/>
          <a:p>
            <a:pPr fontAlgn="t"/>
            <a:r>
              <a:rPr lang="en-US" dirty="0" err="1">
                <a:solidFill>
                  <a:schemeClr val="bg1">
                    <a:lumMod val="50000"/>
                  </a:schemeClr>
                </a:solidFill>
              </a:rPr>
              <a:t>Dateierstellungsmaske</a:t>
            </a:r>
            <a:r>
              <a:rPr lang="en-US" dirty="0">
                <a:solidFill>
                  <a:schemeClr val="bg1">
                    <a:lumMod val="50000"/>
                  </a:schemeClr>
                </a:solidFill>
              </a:rPr>
              <a:t>; </a:t>
            </a:r>
            <a:r>
              <a:rPr lang="en-US" dirty="0" err="1">
                <a:solidFill>
                  <a:schemeClr val="bg1">
                    <a:lumMod val="50000"/>
                  </a:schemeClr>
                </a:solidFill>
              </a:rPr>
              <a:t>Signalmaske</a:t>
            </a:r>
            <a:r>
              <a:rPr lang="en-US" dirty="0">
                <a:solidFill>
                  <a:schemeClr val="bg1">
                    <a:lumMod val="50000"/>
                  </a:schemeClr>
                </a:solidFill>
              </a:rPr>
              <a:t> und Handler</a:t>
            </a:r>
          </a:p>
          <a:p>
            <a:pPr fontAlgn="t"/>
            <a:r>
              <a:rPr lang="en-US" dirty="0">
                <a:solidFill>
                  <a:schemeClr val="bg1">
                    <a:lumMod val="50000"/>
                  </a:schemeClr>
                </a:solidFill>
              </a:rPr>
              <a:t>UID, EUID, GID, EGID, </a:t>
            </a:r>
            <a:r>
              <a:rPr lang="en-US" dirty="0" err="1">
                <a:solidFill>
                  <a:schemeClr val="bg1">
                    <a:lumMod val="50000"/>
                  </a:schemeClr>
                </a:solidFill>
              </a:rPr>
              <a:t>Prozessgruppen</a:t>
            </a:r>
            <a:r>
              <a:rPr lang="en-US" dirty="0">
                <a:solidFill>
                  <a:schemeClr val="bg1">
                    <a:lumMod val="50000"/>
                  </a:schemeClr>
                </a:solidFill>
              </a:rPr>
              <a:t>-, Session-, </a:t>
            </a:r>
            <a:r>
              <a:rPr lang="en-US" dirty="0" err="1">
                <a:solidFill>
                  <a:schemeClr val="bg1">
                    <a:lumMod val="50000"/>
                  </a:schemeClr>
                </a:solidFill>
              </a:rPr>
              <a:t>Setuser</a:t>
            </a:r>
            <a:r>
              <a:rPr lang="en-US" dirty="0">
                <a:solidFill>
                  <a:schemeClr val="bg1">
                    <a:lumMod val="50000"/>
                  </a:schemeClr>
                </a:solidFill>
              </a:rPr>
              <a:t>- und </a:t>
            </a:r>
            <a:r>
              <a:rPr lang="en-US" dirty="0" err="1">
                <a:solidFill>
                  <a:schemeClr val="bg1">
                    <a:lumMod val="50000"/>
                  </a:schemeClr>
                </a:solidFill>
              </a:rPr>
              <a:t>Setgroup</a:t>
            </a:r>
            <a:r>
              <a:rPr lang="en-US" dirty="0">
                <a:solidFill>
                  <a:schemeClr val="bg1">
                    <a:lumMod val="50000"/>
                  </a:schemeClr>
                </a:solidFill>
              </a:rPr>
              <a:t>-ID</a:t>
            </a:r>
          </a:p>
          <a:p>
            <a:pPr fontAlgn="t"/>
            <a:r>
              <a:rPr lang="en-US" dirty="0" err="1">
                <a:solidFill>
                  <a:schemeClr val="bg1">
                    <a:lumMod val="50000"/>
                  </a:schemeClr>
                </a:solidFill>
              </a:rPr>
              <a:t>Steuerterminal</a:t>
            </a:r>
            <a:r>
              <a:rPr lang="en-US" dirty="0">
                <a:solidFill>
                  <a:schemeClr val="bg1">
                    <a:lumMod val="50000"/>
                  </a:schemeClr>
                </a:solidFill>
              </a:rPr>
              <a:t> (CTTY)</a:t>
            </a:r>
          </a:p>
          <a:p>
            <a:pPr fontAlgn="t"/>
            <a:r>
              <a:rPr lang="en-US" dirty="0">
                <a:solidFill>
                  <a:schemeClr val="bg1">
                    <a:lumMod val="50000"/>
                  </a:schemeClr>
                </a:solidFill>
              </a:rPr>
              <a:t>Shared-Memory-</a:t>
            </a:r>
            <a:r>
              <a:rPr lang="en-US" dirty="0" err="1">
                <a:solidFill>
                  <a:schemeClr val="bg1">
                    <a:lumMod val="50000"/>
                  </a:schemeClr>
                </a:solidFill>
              </a:rPr>
              <a:t>Segmente</a:t>
            </a:r>
            <a:r>
              <a:rPr lang="en-US" dirty="0">
                <a:solidFill>
                  <a:schemeClr val="bg1">
                    <a:lumMod val="50000"/>
                  </a:schemeClr>
                </a:solidFill>
              </a:rPr>
              <a:t> (falls </a:t>
            </a:r>
            <a:r>
              <a:rPr lang="en-US" dirty="0" err="1">
                <a:solidFill>
                  <a:schemeClr val="bg1">
                    <a:lumMod val="50000"/>
                  </a:schemeClr>
                </a:solidFill>
              </a:rPr>
              <a:t>vorhanden</a:t>
            </a:r>
            <a:r>
              <a:rPr lang="en-US" dirty="0">
                <a:solidFill>
                  <a:schemeClr val="bg1">
                    <a:lumMod val="50000"/>
                  </a:schemeClr>
                </a:solidFill>
              </a:rPr>
              <a:t>)</a:t>
            </a:r>
          </a:p>
          <a:p>
            <a:endParaRPr lang="en-US" dirty="0"/>
          </a:p>
        </p:txBody>
      </p:sp>
      <p:sp>
        <p:nvSpPr>
          <p:cNvPr id="6" name="Abgerundete rechteckige Legende 5"/>
          <p:cNvSpPr/>
          <p:nvPr/>
        </p:nvSpPr>
        <p:spPr>
          <a:xfrm>
            <a:off x="5868144" y="2420888"/>
            <a:ext cx="2736304" cy="1080120"/>
          </a:xfrm>
          <a:prstGeom prst="wedgeRoundRectCallout">
            <a:avLst>
              <a:gd name="adj1" fmla="val -67322"/>
              <a:gd name="adj2" fmla="val 5832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DE" dirty="0"/>
              <a:t>"Fortgeschrittene" Details, nur der Vollständigkeit halber</a:t>
            </a:r>
            <a:endParaRPr lang="en-US" dirty="0"/>
          </a:p>
        </p:txBody>
      </p:sp>
    </p:spTree>
    <p:extLst>
      <p:ext uri="{BB962C8B-B14F-4D97-AF65-F5344CB8AC3E}">
        <p14:creationId xmlns:p14="http://schemas.microsoft.com/office/powerpoint/2010/main" val="352026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Prozesserzeugung in Windows /1</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37</a:t>
            </a:fld>
            <a:endParaRPr lang="en-US" noProof="0" dirty="0"/>
          </a:p>
        </p:txBody>
      </p:sp>
      <p:sp>
        <p:nvSpPr>
          <p:cNvPr id="3" name="Inhaltsplatzhalter 2"/>
          <p:cNvSpPr>
            <a:spLocks noGrp="1"/>
          </p:cNvSpPr>
          <p:nvPr>
            <p:ph sz="quarter" idx="1"/>
          </p:nvPr>
        </p:nvSpPr>
        <p:spPr/>
        <p:txBody>
          <a:bodyPr numCol="1">
            <a:normAutofit fontScale="92500" lnSpcReduction="20000"/>
          </a:bodyPr>
          <a:lstStyle/>
          <a:p>
            <a:pPr>
              <a:buNone/>
            </a:pPr>
            <a:r>
              <a:rPr lang="de-DE" dirty="0"/>
              <a:t>#include &lt;stdio.h&gt; 	</a:t>
            </a:r>
          </a:p>
          <a:p>
            <a:pPr>
              <a:buNone/>
            </a:pPr>
            <a:r>
              <a:rPr lang="de-DE" dirty="0"/>
              <a:t>#</a:t>
            </a:r>
            <a:r>
              <a:rPr lang="de-DE" dirty="0" err="1"/>
              <a:t>include</a:t>
            </a:r>
            <a:r>
              <a:rPr lang="de-DE" dirty="0"/>
              <a:t> &lt;</a:t>
            </a:r>
            <a:r>
              <a:rPr lang="de-DE" dirty="0" err="1"/>
              <a:t>windows.h</a:t>
            </a:r>
            <a:r>
              <a:rPr lang="de-DE" dirty="0"/>
              <a:t>&gt;</a:t>
            </a:r>
          </a:p>
          <a:p>
            <a:pPr>
              <a:buNone/>
            </a:pPr>
            <a:r>
              <a:rPr lang="de-DE" dirty="0" err="1"/>
              <a:t>int</a:t>
            </a:r>
            <a:r>
              <a:rPr lang="de-DE" dirty="0"/>
              <a:t> </a:t>
            </a:r>
            <a:r>
              <a:rPr lang="de-DE" dirty="0" err="1"/>
              <a:t>main</a:t>
            </a:r>
            <a:r>
              <a:rPr lang="de-DE" dirty="0"/>
              <a:t>(VOID)</a:t>
            </a:r>
          </a:p>
          <a:p>
            <a:pPr>
              <a:buNone/>
            </a:pPr>
            <a:r>
              <a:rPr lang="de-DE" dirty="0"/>
              <a:t>{</a:t>
            </a:r>
          </a:p>
          <a:p>
            <a:pPr>
              <a:buNone/>
            </a:pPr>
            <a:r>
              <a:rPr lang="de-DE" sz="2900" dirty="0"/>
              <a:t>	</a:t>
            </a:r>
            <a:r>
              <a:rPr lang="de-DE" sz="2900" dirty="0">
                <a:solidFill>
                  <a:schemeClr val="accent4"/>
                </a:solidFill>
              </a:rPr>
              <a:t>STARTUPINFO </a:t>
            </a:r>
            <a:r>
              <a:rPr lang="de-DE" sz="2900" b="1" dirty="0">
                <a:solidFill>
                  <a:schemeClr val="accent4"/>
                </a:solidFill>
              </a:rPr>
              <a:t>si</a:t>
            </a:r>
            <a:r>
              <a:rPr lang="de-DE" sz="2900" dirty="0"/>
              <a:t>;</a:t>
            </a:r>
          </a:p>
          <a:p>
            <a:pPr>
              <a:buNone/>
            </a:pPr>
            <a:r>
              <a:rPr lang="de-DE" sz="2900" dirty="0"/>
              <a:t>	</a:t>
            </a:r>
            <a:r>
              <a:rPr lang="de-DE" sz="2900" dirty="0">
                <a:solidFill>
                  <a:schemeClr val="accent3">
                    <a:lumMod val="75000"/>
                  </a:schemeClr>
                </a:solidFill>
              </a:rPr>
              <a:t>PROCESS_INFORMATION </a:t>
            </a:r>
            <a:r>
              <a:rPr lang="de-DE" sz="2900" b="1" dirty="0" err="1">
                <a:solidFill>
                  <a:schemeClr val="accent3">
                    <a:lumMod val="75000"/>
                  </a:schemeClr>
                </a:solidFill>
              </a:rPr>
              <a:t>pi</a:t>
            </a:r>
            <a:r>
              <a:rPr lang="de-DE" sz="2900" dirty="0"/>
              <a:t>;</a:t>
            </a:r>
          </a:p>
          <a:p>
            <a:pPr>
              <a:buNone/>
            </a:pPr>
            <a:r>
              <a:rPr lang="de-DE" sz="2900" dirty="0"/>
              <a:t>	// </a:t>
            </a:r>
            <a:r>
              <a:rPr lang="de-DE" sz="2900" dirty="0" err="1"/>
              <a:t>allocate</a:t>
            </a:r>
            <a:r>
              <a:rPr lang="de-DE" sz="2900" dirty="0"/>
              <a:t> </a:t>
            </a:r>
            <a:r>
              <a:rPr lang="de-DE" sz="2900" dirty="0" err="1"/>
              <a:t>memory</a:t>
            </a:r>
            <a:endParaRPr lang="de-DE" sz="2900" dirty="0"/>
          </a:p>
          <a:p>
            <a:pPr>
              <a:buNone/>
            </a:pPr>
            <a:r>
              <a:rPr lang="de-DE" sz="2900" dirty="0"/>
              <a:t>	ZeroMemory(&amp;</a:t>
            </a:r>
            <a:r>
              <a:rPr lang="de-DE" sz="2900" b="1" dirty="0">
                <a:solidFill>
                  <a:schemeClr val="accent4"/>
                </a:solidFill>
              </a:rPr>
              <a:t> si</a:t>
            </a:r>
            <a:r>
              <a:rPr lang="de-DE" sz="2900" dirty="0"/>
              <a:t>, </a:t>
            </a:r>
            <a:r>
              <a:rPr lang="de-DE" sz="2900" dirty="0" err="1"/>
              <a:t>sizeof</a:t>
            </a:r>
            <a:r>
              <a:rPr lang="de-DE" sz="2900" dirty="0"/>
              <a:t> (</a:t>
            </a:r>
            <a:r>
              <a:rPr lang="de-DE" sz="2900" b="1" dirty="0">
                <a:solidFill>
                  <a:schemeClr val="accent4"/>
                </a:solidFill>
              </a:rPr>
              <a:t>si</a:t>
            </a:r>
            <a:r>
              <a:rPr lang="de-DE" sz="2900" dirty="0"/>
              <a:t>)) ;</a:t>
            </a:r>
          </a:p>
          <a:p>
            <a:pPr>
              <a:buNone/>
            </a:pPr>
            <a:r>
              <a:rPr lang="de-DE" sz="2900" dirty="0"/>
              <a:t>	</a:t>
            </a:r>
            <a:r>
              <a:rPr lang="de-DE" sz="2900" dirty="0" err="1"/>
              <a:t>si.cb</a:t>
            </a:r>
            <a:r>
              <a:rPr lang="de-DE" sz="2900" dirty="0"/>
              <a:t> = </a:t>
            </a:r>
            <a:r>
              <a:rPr lang="de-DE" sz="2900" dirty="0" err="1"/>
              <a:t>sizeof</a:t>
            </a:r>
            <a:r>
              <a:rPr lang="de-DE" sz="2900" dirty="0"/>
              <a:t> (</a:t>
            </a:r>
            <a:r>
              <a:rPr lang="de-DE" sz="2900" b="1" dirty="0">
                <a:solidFill>
                  <a:schemeClr val="accent4"/>
                </a:solidFill>
              </a:rPr>
              <a:t>si</a:t>
            </a:r>
            <a:r>
              <a:rPr lang="de-DE" sz="2900" dirty="0"/>
              <a:t>) ;</a:t>
            </a:r>
          </a:p>
          <a:p>
            <a:pPr>
              <a:buNone/>
            </a:pPr>
            <a:r>
              <a:rPr lang="de-DE" sz="2900" dirty="0"/>
              <a:t>	ZeroMemory(&amp;</a:t>
            </a:r>
            <a:r>
              <a:rPr lang="de-DE" sz="2900" b="1" dirty="0" err="1">
                <a:solidFill>
                  <a:schemeClr val="accent3">
                    <a:lumMod val="75000"/>
                  </a:schemeClr>
                </a:solidFill>
              </a:rPr>
              <a:t>pi</a:t>
            </a:r>
            <a:r>
              <a:rPr lang="de-DE" sz="2900" dirty="0"/>
              <a:t>, </a:t>
            </a:r>
            <a:r>
              <a:rPr lang="de-DE" sz="2900" dirty="0" err="1"/>
              <a:t>sizeof</a:t>
            </a:r>
            <a:r>
              <a:rPr lang="de-DE" sz="2900" dirty="0"/>
              <a:t>(</a:t>
            </a:r>
            <a:r>
              <a:rPr lang="de-DE" sz="2900" b="1" dirty="0" err="1">
                <a:solidFill>
                  <a:schemeClr val="accent3">
                    <a:lumMod val="75000"/>
                  </a:schemeClr>
                </a:solidFill>
              </a:rPr>
              <a:t>pi</a:t>
            </a:r>
            <a:r>
              <a:rPr lang="de-DE" sz="2900" dirty="0"/>
              <a:t>));</a:t>
            </a:r>
          </a:p>
          <a:p>
            <a:pPr>
              <a:buNone/>
            </a:pPr>
            <a:r>
              <a:rPr lang="de-DE" sz="2900" dirty="0"/>
              <a:t>	</a:t>
            </a:r>
            <a:endParaRPr lang="en-US" sz="2900" dirty="0"/>
          </a:p>
          <a:p>
            <a:pPr>
              <a:buNone/>
            </a:pPr>
            <a:r>
              <a:rPr lang="en-US" sz="3400" dirty="0"/>
              <a:t>	</a:t>
            </a:r>
            <a:endParaRPr lang="de-DE" sz="3400" dirty="0"/>
          </a:p>
        </p:txBody>
      </p:sp>
    </p:spTree>
    <p:extLst>
      <p:ext uri="{BB962C8B-B14F-4D97-AF65-F5344CB8AC3E}">
        <p14:creationId xmlns:p14="http://schemas.microsoft.com/office/powerpoint/2010/main" val="2508180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Prozesserzeugung in Windows /2</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38</a:t>
            </a:fld>
            <a:endParaRPr lang="en-US" noProof="0" dirty="0"/>
          </a:p>
        </p:txBody>
      </p:sp>
      <p:sp>
        <p:nvSpPr>
          <p:cNvPr id="3" name="Inhaltsplatzhalter 2"/>
          <p:cNvSpPr>
            <a:spLocks noGrp="1"/>
          </p:cNvSpPr>
          <p:nvPr>
            <p:ph sz="quarter" idx="1"/>
          </p:nvPr>
        </p:nvSpPr>
        <p:spPr/>
        <p:txBody>
          <a:bodyPr numCol="1">
            <a:normAutofit/>
          </a:bodyPr>
          <a:lstStyle/>
          <a:p>
            <a:pPr>
              <a:buNone/>
            </a:pPr>
            <a:r>
              <a:rPr lang="de-DE" sz="2800" dirty="0"/>
              <a:t>	// </a:t>
            </a:r>
            <a:r>
              <a:rPr lang="de-DE" sz="2800" dirty="0" err="1"/>
              <a:t>create</a:t>
            </a:r>
            <a:r>
              <a:rPr lang="de-DE" sz="2800" dirty="0"/>
              <a:t> </a:t>
            </a:r>
            <a:r>
              <a:rPr lang="de-DE" sz="2800" dirty="0" err="1"/>
              <a:t>child</a:t>
            </a:r>
            <a:r>
              <a:rPr lang="de-DE" sz="2800" dirty="0"/>
              <a:t> </a:t>
            </a:r>
            <a:r>
              <a:rPr lang="de-DE" sz="2800" dirty="0" err="1"/>
              <a:t>process</a:t>
            </a:r>
            <a:r>
              <a:rPr lang="de-DE" sz="2800" dirty="0"/>
              <a:t> </a:t>
            </a:r>
            <a:r>
              <a:rPr lang="en-US" dirty="0"/>
              <a:t>	</a:t>
            </a:r>
          </a:p>
          <a:p>
            <a:pPr>
              <a:buNone/>
            </a:pPr>
            <a:r>
              <a:rPr lang="en-US" dirty="0"/>
              <a:t>	if (!</a:t>
            </a:r>
            <a:r>
              <a:rPr lang="en-US" b="1" dirty="0">
                <a:solidFill>
                  <a:srgbClr val="FF0000"/>
                </a:solidFill>
              </a:rPr>
              <a:t>CreateProcess</a:t>
            </a:r>
            <a:r>
              <a:rPr lang="en-US" dirty="0"/>
              <a:t> (</a:t>
            </a:r>
          </a:p>
          <a:p>
            <a:pPr lvl="1">
              <a:buNone/>
            </a:pPr>
            <a:r>
              <a:rPr lang="en-US" dirty="0"/>
              <a:t>	NULL, 	// use </a:t>
            </a:r>
            <a:r>
              <a:rPr lang="en-US" dirty="0" err="1"/>
              <a:t>cmd</a:t>
            </a:r>
            <a:r>
              <a:rPr lang="en-US" dirty="0"/>
              <a:t> line</a:t>
            </a:r>
          </a:p>
          <a:p>
            <a:pPr lvl="1">
              <a:buNone/>
            </a:pPr>
            <a:r>
              <a:rPr lang="en-US" dirty="0"/>
              <a:t>	"C:\\WINDOWS\\system32\\</a:t>
            </a:r>
            <a:r>
              <a:rPr lang="en-US" u="sng" dirty="0">
                <a:solidFill>
                  <a:srgbClr val="FF0000"/>
                </a:solidFill>
              </a:rPr>
              <a:t>mspaint.exe</a:t>
            </a:r>
            <a:r>
              <a:rPr lang="en-US" dirty="0"/>
              <a:t>", // </a:t>
            </a:r>
            <a:r>
              <a:rPr lang="en-US" dirty="0" err="1"/>
              <a:t>cmd</a:t>
            </a:r>
            <a:r>
              <a:rPr lang="en-US" dirty="0"/>
              <a:t> line</a:t>
            </a:r>
          </a:p>
          <a:p>
            <a:pPr lvl="1">
              <a:buNone/>
            </a:pPr>
            <a:r>
              <a:rPr lang="en-US" dirty="0"/>
              <a:t>	NULL, 	// don't inherit process handle</a:t>
            </a:r>
          </a:p>
          <a:p>
            <a:pPr lvl="1">
              <a:buNone/>
            </a:pPr>
            <a:r>
              <a:rPr lang="en-US" dirty="0"/>
              <a:t>	NULL, 	// don't inherit thread handle</a:t>
            </a:r>
          </a:p>
          <a:p>
            <a:pPr lvl="1">
              <a:buNone/>
            </a:pPr>
            <a:r>
              <a:rPr lang="de-DE" dirty="0"/>
              <a:t>	FALSE, 	// disable handle inheritance</a:t>
            </a:r>
          </a:p>
          <a:p>
            <a:pPr lvl="1">
              <a:buNone/>
            </a:pPr>
            <a:r>
              <a:rPr lang="de-DE" dirty="0"/>
              <a:t>	0, 		//no creation flags</a:t>
            </a:r>
          </a:p>
          <a:p>
            <a:pPr lvl="1">
              <a:buNone/>
            </a:pPr>
            <a:r>
              <a:rPr lang="en-US" dirty="0"/>
              <a:t>	NULL, 	// use parent's environment block</a:t>
            </a:r>
          </a:p>
          <a:p>
            <a:pPr lvl="1">
              <a:buNone/>
            </a:pPr>
            <a:r>
              <a:rPr lang="en-US" dirty="0"/>
              <a:t>	NULL, 	// use parent's existing directory</a:t>
            </a:r>
          </a:p>
          <a:p>
            <a:pPr>
              <a:buNone/>
            </a:pPr>
            <a:r>
              <a:rPr lang="de-DE" dirty="0"/>
              <a:t>	&amp;</a:t>
            </a:r>
            <a:r>
              <a:rPr lang="de-DE" b="1" dirty="0">
                <a:solidFill>
                  <a:schemeClr val="accent4"/>
                </a:solidFill>
              </a:rPr>
              <a:t>si</a:t>
            </a:r>
            <a:r>
              <a:rPr lang="de-DE" dirty="0"/>
              <a:t>, &amp;</a:t>
            </a:r>
            <a:r>
              <a:rPr lang="de-DE" b="1" dirty="0">
                <a:solidFill>
                  <a:schemeClr val="accent3">
                    <a:lumMod val="75000"/>
                  </a:schemeClr>
                </a:solidFill>
              </a:rPr>
              <a:t>pi</a:t>
            </a:r>
            <a:r>
              <a:rPr lang="de-DE" dirty="0"/>
              <a:t>))</a:t>
            </a:r>
          </a:p>
        </p:txBody>
      </p:sp>
      <p:sp>
        <p:nvSpPr>
          <p:cNvPr id="5" name="Abgerundetes Rechteck 4"/>
          <p:cNvSpPr/>
          <p:nvPr/>
        </p:nvSpPr>
        <p:spPr>
          <a:xfrm rot="16200000">
            <a:off x="6552220" y="3825044"/>
            <a:ext cx="3024336" cy="136815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de-DE" sz="2800" dirty="0"/>
              <a:t>Ressource Sharing</a:t>
            </a:r>
          </a:p>
        </p:txBody>
      </p:sp>
    </p:spTree>
    <p:extLst>
      <p:ext uri="{BB962C8B-B14F-4D97-AF65-F5344CB8AC3E}">
        <p14:creationId xmlns:p14="http://schemas.microsoft.com/office/powerpoint/2010/main" val="2691915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Prozesserzeugung in Windows /3</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39</a:t>
            </a:fld>
            <a:endParaRPr lang="en-US" noProof="0" dirty="0"/>
          </a:p>
        </p:txBody>
      </p:sp>
      <p:sp>
        <p:nvSpPr>
          <p:cNvPr id="3" name="Inhaltsplatzhalter 2"/>
          <p:cNvSpPr>
            <a:spLocks noGrp="1"/>
          </p:cNvSpPr>
          <p:nvPr>
            <p:ph sz="quarter" idx="1"/>
          </p:nvPr>
        </p:nvSpPr>
        <p:spPr/>
        <p:txBody>
          <a:bodyPr numCol="1">
            <a:normAutofit/>
          </a:bodyPr>
          <a:lstStyle/>
          <a:p>
            <a:pPr lvl="1">
              <a:buNone/>
            </a:pPr>
            <a:r>
              <a:rPr lang="de-DE" dirty="0"/>
              <a:t>{ /* if-body: 0 returned by CreateProcess */</a:t>
            </a:r>
          </a:p>
          <a:p>
            <a:pPr lvl="1">
              <a:buNone/>
            </a:pPr>
            <a:r>
              <a:rPr lang="de-DE" dirty="0"/>
              <a:t>	fprintf (stderr, "Create Process Failed");</a:t>
            </a:r>
          </a:p>
          <a:p>
            <a:pPr lvl="1">
              <a:buNone/>
            </a:pPr>
            <a:r>
              <a:rPr lang="de-DE" dirty="0"/>
              <a:t>	return -1;</a:t>
            </a:r>
          </a:p>
          <a:p>
            <a:pPr lvl="1">
              <a:buNone/>
            </a:pPr>
            <a:r>
              <a:rPr lang="de-DE" dirty="0"/>
              <a:t>}</a:t>
            </a:r>
          </a:p>
          <a:p>
            <a:pPr lvl="1">
              <a:buNone/>
            </a:pPr>
            <a:r>
              <a:rPr lang="en-US" dirty="0"/>
              <a:t>// parent will wait for the child to complete</a:t>
            </a:r>
          </a:p>
          <a:p>
            <a:pPr lvl="1">
              <a:buNone/>
            </a:pPr>
            <a:r>
              <a:rPr lang="de-DE" b="1" dirty="0">
                <a:solidFill>
                  <a:srgbClr val="FF0000"/>
                </a:solidFill>
              </a:rPr>
              <a:t>WaitForSingleObject</a:t>
            </a:r>
            <a:r>
              <a:rPr lang="de-DE" dirty="0"/>
              <a:t> (</a:t>
            </a:r>
            <a:r>
              <a:rPr lang="de-DE" b="1" dirty="0">
                <a:solidFill>
                  <a:schemeClr val="accent3">
                    <a:lumMod val="75000"/>
                  </a:schemeClr>
                </a:solidFill>
              </a:rPr>
              <a:t>pi</a:t>
            </a:r>
            <a:r>
              <a:rPr lang="de-DE" dirty="0"/>
              <a:t>.hProcess, INFINITE);</a:t>
            </a:r>
          </a:p>
          <a:p>
            <a:pPr lvl="1">
              <a:buNone/>
            </a:pPr>
            <a:r>
              <a:rPr lang="de-DE" dirty="0"/>
              <a:t>printf ("Child Complete");</a:t>
            </a:r>
          </a:p>
          <a:p>
            <a:pPr lvl="1">
              <a:buNone/>
            </a:pPr>
            <a:r>
              <a:rPr lang="de-DE" dirty="0"/>
              <a:t>// close handles</a:t>
            </a:r>
          </a:p>
          <a:p>
            <a:pPr lvl="1">
              <a:buNone/>
            </a:pPr>
            <a:r>
              <a:rPr lang="de-DE" b="1" dirty="0">
                <a:solidFill>
                  <a:srgbClr val="FF0000"/>
                </a:solidFill>
              </a:rPr>
              <a:t>CloseHandle</a:t>
            </a:r>
            <a:r>
              <a:rPr lang="de-DE" dirty="0"/>
              <a:t> (</a:t>
            </a:r>
            <a:r>
              <a:rPr lang="de-DE" b="1" dirty="0">
                <a:solidFill>
                  <a:schemeClr val="accent3">
                    <a:lumMod val="75000"/>
                  </a:schemeClr>
                </a:solidFill>
              </a:rPr>
              <a:t>pi</a:t>
            </a:r>
            <a:r>
              <a:rPr lang="de-DE" dirty="0"/>
              <a:t>.hProcess);</a:t>
            </a:r>
          </a:p>
          <a:p>
            <a:pPr lvl="1">
              <a:buNone/>
            </a:pPr>
            <a:r>
              <a:rPr lang="de-DE" b="1" dirty="0">
                <a:solidFill>
                  <a:srgbClr val="FF0000"/>
                </a:solidFill>
              </a:rPr>
              <a:t>CloseHandle</a:t>
            </a:r>
            <a:r>
              <a:rPr lang="de-DE" dirty="0"/>
              <a:t> (</a:t>
            </a:r>
            <a:r>
              <a:rPr lang="de-DE" b="1" dirty="0">
                <a:solidFill>
                  <a:schemeClr val="accent3">
                    <a:lumMod val="75000"/>
                  </a:schemeClr>
                </a:solidFill>
              </a:rPr>
              <a:t>pi</a:t>
            </a:r>
            <a:r>
              <a:rPr lang="de-DE" dirty="0"/>
              <a:t>.hThread);</a:t>
            </a:r>
          </a:p>
          <a:p>
            <a:pPr>
              <a:buNone/>
            </a:pPr>
            <a:r>
              <a:rPr lang="de-DE" dirty="0"/>
              <a:t>}</a:t>
            </a:r>
          </a:p>
        </p:txBody>
      </p:sp>
    </p:spTree>
    <p:extLst>
      <p:ext uri="{BB962C8B-B14F-4D97-AF65-F5344CB8AC3E}">
        <p14:creationId xmlns:p14="http://schemas.microsoft.com/office/powerpoint/2010/main" val="117812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Prozessterminierung (mehrere BS)</a:t>
            </a:r>
          </a:p>
        </p:txBody>
      </p:sp>
      <p:sp>
        <p:nvSpPr>
          <p:cNvPr id="3" name="Inhaltsplatzhalter 2"/>
          <p:cNvSpPr>
            <a:spLocks noGrp="1"/>
          </p:cNvSpPr>
          <p:nvPr>
            <p:ph sz="quarter" idx="1"/>
          </p:nvPr>
        </p:nvSpPr>
        <p:spPr>
          <a:xfrm>
            <a:off x="457200" y="1219200"/>
            <a:ext cx="8579296" cy="5162128"/>
          </a:xfrm>
        </p:spPr>
        <p:txBody>
          <a:bodyPr>
            <a:normAutofit/>
          </a:bodyPr>
          <a:lstStyle/>
          <a:p>
            <a:pPr fontAlgn="t"/>
            <a:r>
              <a:rPr lang="de-DE" dirty="0"/>
              <a:t>Prozess terminiert sich selbst via </a:t>
            </a:r>
            <a:r>
              <a:rPr lang="de-DE" b="1" dirty="0" err="1">
                <a:solidFill>
                  <a:srgbClr val="0070C0"/>
                </a:solidFill>
              </a:rPr>
              <a:t>exit</a:t>
            </a:r>
            <a:endParaRPr lang="de-DE" b="1" dirty="0">
              <a:solidFill>
                <a:srgbClr val="0070C0"/>
              </a:solidFill>
            </a:endParaRPr>
          </a:p>
          <a:p>
            <a:pPr lvl="1" fontAlgn="t"/>
            <a:r>
              <a:rPr lang="de-DE" dirty="0"/>
              <a:t>Kann Daten an seinen Elterteil übermitteln (Lesen via wait())</a:t>
            </a:r>
          </a:p>
          <a:p>
            <a:pPr lvl="1" fontAlgn="t"/>
            <a:r>
              <a:rPr lang="de-DE" dirty="0"/>
              <a:t>Seine Ressourcen (Hauptspeicher, offene Dateien, GUI, …) werden vom BS automatisch freigegeben</a:t>
            </a:r>
          </a:p>
          <a:p>
            <a:pPr fontAlgn="t"/>
            <a:r>
              <a:rPr lang="de-DE" dirty="0"/>
              <a:t>Elternteil kann ein </a:t>
            </a:r>
            <a:r>
              <a:rPr lang="de-DE" dirty="0" err="1"/>
              <a:t>Kindprozess</a:t>
            </a:r>
            <a:r>
              <a:rPr lang="de-DE" dirty="0"/>
              <a:t> terminieren </a:t>
            </a:r>
          </a:p>
          <a:p>
            <a:pPr lvl="1" fontAlgn="t"/>
            <a:r>
              <a:rPr lang="sv-SE" b="1" dirty="0">
                <a:solidFill>
                  <a:srgbClr val="0070C0"/>
                </a:solidFill>
              </a:rPr>
              <a:t>#include &lt;signal.h&gt;</a:t>
            </a:r>
          </a:p>
          <a:p>
            <a:pPr lvl="1" fontAlgn="t"/>
            <a:r>
              <a:rPr lang="sv-SE" b="1" dirty="0">
                <a:solidFill>
                  <a:srgbClr val="0070C0"/>
                </a:solidFill>
              </a:rPr>
              <a:t>int kill(pid_t pid, int sig)</a:t>
            </a:r>
          </a:p>
          <a:p>
            <a:pPr fontAlgn="t"/>
            <a:r>
              <a:rPr lang="de-DE" dirty="0"/>
              <a:t>Falls ein Elternteil terminiert, werden in manchen BS auch alle Kinder terminiert</a:t>
            </a:r>
          </a:p>
          <a:p>
            <a:pPr lvl="1" fontAlgn="t"/>
            <a:r>
              <a:rPr lang="de-DE" dirty="0"/>
              <a:t>Kaskadierte Terminierung </a:t>
            </a:r>
            <a:r>
              <a:rPr lang="de-DE" dirty="0">
                <a:solidFill>
                  <a:schemeClr val="tx1"/>
                </a:solidFill>
              </a:rPr>
              <a:t>(</a:t>
            </a:r>
            <a:r>
              <a:rPr lang="de-DE" i="1" dirty="0" err="1">
                <a:solidFill>
                  <a:schemeClr val="tx1"/>
                </a:solidFill>
              </a:rPr>
              <a:t>cascading</a:t>
            </a:r>
            <a:r>
              <a:rPr lang="de-DE" i="1" dirty="0">
                <a:solidFill>
                  <a:schemeClr val="tx1"/>
                </a:solidFill>
              </a:rPr>
              <a:t> termination</a:t>
            </a:r>
            <a:r>
              <a:rPr lang="de-DE" dirty="0">
                <a:solidFill>
                  <a:schemeClr val="tx1"/>
                </a:solidFill>
              </a:rPr>
              <a:t>)</a:t>
            </a:r>
          </a:p>
          <a:p>
            <a:pPr lvl="1" fontAlgn="t"/>
            <a:r>
              <a:rPr lang="de-DE" dirty="0">
                <a:solidFill>
                  <a:schemeClr val="tx1"/>
                </a:solidFill>
              </a:rPr>
              <a:t>Z.B. in Virtual Memory System (VMS) von DEC / HP, heute </a:t>
            </a:r>
            <a:r>
              <a:rPr lang="de-DE" dirty="0" err="1">
                <a:solidFill>
                  <a:schemeClr val="tx1"/>
                </a:solidFill>
              </a:rPr>
              <a:t>OpenVMS</a:t>
            </a:r>
            <a:endParaRPr lang="sv-SE" dirty="0">
              <a:solidFill>
                <a:schemeClr val="tx1"/>
              </a:solidFill>
            </a:endParaRPr>
          </a:p>
          <a:p>
            <a:pPr lvl="1" fontAlgn="t"/>
            <a:endParaRPr lang="de-DE" dirty="0"/>
          </a:p>
          <a:p>
            <a:pPr lvl="1" fontAlgn="t"/>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40</a:t>
            </a:fld>
            <a:endParaRPr lang="en-US" noProof="0" dirty="0"/>
          </a:p>
        </p:txBody>
      </p:sp>
    </p:spTree>
    <p:extLst>
      <p:ext uri="{BB962C8B-B14F-4D97-AF65-F5344CB8AC3E}">
        <p14:creationId xmlns:p14="http://schemas.microsoft.com/office/powerpoint/2010/main" val="1378455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Umfrage via </a:t>
            </a:r>
            <a:r>
              <a:rPr lang="de-DE" dirty="0" err="1"/>
              <a:t>Pingo</a:t>
            </a:r>
            <a:r>
              <a:rPr lang="de-DE" dirty="0"/>
              <a:t> - </a:t>
            </a:r>
            <a:r>
              <a:rPr lang="en-US" dirty="0">
                <a:highlight>
                  <a:srgbClr val="00FF00"/>
                </a:highlight>
              </a:rPr>
              <a:t>https://bit.ly/ibn_hd</a:t>
            </a:r>
            <a:endParaRPr lang="de-DE" dirty="0"/>
          </a:p>
        </p:txBody>
      </p:sp>
      <p:sp>
        <p:nvSpPr>
          <p:cNvPr id="3" name="Inhaltsplatzhalter 2"/>
          <p:cNvSpPr>
            <a:spLocks noGrp="1"/>
          </p:cNvSpPr>
          <p:nvPr>
            <p:ph sz="quarter" idx="1"/>
          </p:nvPr>
        </p:nvSpPr>
        <p:spPr/>
        <p:txBody>
          <a:bodyPr>
            <a:normAutofit lnSpcReduction="10000"/>
          </a:bodyPr>
          <a:lstStyle/>
          <a:p>
            <a:r>
              <a:rPr lang="de-DE" dirty="0">
                <a:solidFill>
                  <a:srgbClr val="424456"/>
                </a:solidFill>
              </a:rPr>
              <a:t>Welche der Aussagen trifft zu? </a:t>
            </a:r>
          </a:p>
          <a:p>
            <a:pPr lvl="1"/>
            <a:r>
              <a:rPr lang="de-DE" dirty="0">
                <a:solidFill>
                  <a:srgbClr val="424456"/>
                </a:solidFill>
              </a:rPr>
              <a:t>Mehrere ja/</a:t>
            </a:r>
            <a:r>
              <a:rPr lang="de-DE">
                <a:solidFill>
                  <a:srgbClr val="424456"/>
                </a:solidFill>
              </a:rPr>
              <a:t>nein Antworten sind möglich</a:t>
            </a:r>
            <a:endParaRPr lang="de-DE" dirty="0">
              <a:solidFill>
                <a:srgbClr val="424456"/>
              </a:solidFill>
            </a:endParaRPr>
          </a:p>
          <a:p>
            <a:endParaRPr lang="de-DE" dirty="0">
              <a:solidFill>
                <a:srgbClr val="424456"/>
              </a:solidFill>
            </a:endParaRPr>
          </a:p>
          <a:p>
            <a:r>
              <a:rPr lang="de-DE" dirty="0">
                <a:solidFill>
                  <a:srgbClr val="424456"/>
                </a:solidFill>
              </a:rPr>
              <a:t>A. Kann ein </a:t>
            </a:r>
            <a:r>
              <a:rPr lang="de-DE" dirty="0" err="1">
                <a:solidFill>
                  <a:srgbClr val="424456"/>
                </a:solidFill>
              </a:rPr>
              <a:t>Kindprozess</a:t>
            </a:r>
            <a:r>
              <a:rPr lang="de-DE" dirty="0">
                <a:solidFill>
                  <a:srgbClr val="424456"/>
                </a:solidFill>
              </a:rPr>
              <a:t> nach seiner Erzeugung unabhängig vom Elternprozess weiterlaufen?</a:t>
            </a:r>
          </a:p>
          <a:p>
            <a:r>
              <a:rPr lang="de-DE" dirty="0">
                <a:solidFill>
                  <a:srgbClr val="424456"/>
                </a:solidFill>
              </a:rPr>
              <a:t>B. Ersetzt der Systemaufruf </a:t>
            </a:r>
            <a:r>
              <a:rPr lang="de-DE" dirty="0" err="1">
                <a:solidFill>
                  <a:srgbClr val="424456"/>
                </a:solidFill>
              </a:rPr>
              <a:t>exec</a:t>
            </a:r>
            <a:r>
              <a:rPr lang="de-DE" dirty="0">
                <a:solidFill>
                  <a:srgbClr val="424456"/>
                </a:solidFill>
              </a:rPr>
              <a:t>() den aktuellen Prozesskontext durch einen neuen, ohne die Prozess-ID zu ändern?</a:t>
            </a:r>
          </a:p>
          <a:p>
            <a:r>
              <a:rPr lang="de-DE" dirty="0">
                <a:solidFill>
                  <a:srgbClr val="424456"/>
                </a:solidFill>
              </a:rPr>
              <a:t>C. Kann ein Prozess mehr als einen Elternprozess haben?</a:t>
            </a:r>
            <a:br>
              <a:rPr lang="de-DE" dirty="0">
                <a:solidFill>
                  <a:srgbClr val="424456"/>
                </a:solidFill>
              </a:rPr>
            </a:br>
            <a:r>
              <a:rPr lang="de-DE" dirty="0">
                <a:solidFill>
                  <a:srgbClr val="424456"/>
                </a:solidFill>
              </a:rPr>
              <a:t>D. Kann ein Prozess mithilfe des Systemaufrufs kill() sich selbst beenden?</a:t>
            </a:r>
            <a:br>
              <a:rPr lang="de-DE" dirty="0">
                <a:solidFill>
                  <a:srgbClr val="424456"/>
                </a:solidFill>
              </a:rPr>
            </a:br>
            <a:endParaRPr lang="de-DE" dirty="0">
              <a:solidFill>
                <a:srgbClr val="424456"/>
              </a:solidFill>
            </a:endParaRPr>
          </a:p>
          <a:p>
            <a:endParaRPr lang="de-DE" dirty="0"/>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41</a:t>
            </a:fld>
            <a:endParaRPr lang="en-US" noProof="0" dirty="0"/>
          </a:p>
        </p:txBody>
      </p:sp>
      <p:pic>
        <p:nvPicPr>
          <p:cNvPr id="5" name="Grafik 4">
            <a:extLst>
              <a:ext uri="{FF2B5EF4-FFF2-40B4-BE49-F238E27FC236}">
                <a16:creationId xmlns:a16="http://schemas.microsoft.com/office/drawing/2014/main" id="{C3863F5B-2AC5-4890-9B25-4F9E7DEAE32C}"/>
              </a:ext>
            </a:extLst>
          </p:cNvPr>
          <p:cNvPicPr>
            <a:picLocks noChangeAspect="1"/>
          </p:cNvPicPr>
          <p:nvPr/>
        </p:nvPicPr>
        <p:blipFill>
          <a:blip r:embed="rId3"/>
          <a:stretch>
            <a:fillRect/>
          </a:stretch>
        </p:blipFill>
        <p:spPr>
          <a:xfrm>
            <a:off x="7789337" y="28725"/>
            <a:ext cx="1332759" cy="1312043"/>
          </a:xfrm>
          <a:prstGeom prst="rect">
            <a:avLst/>
          </a:prstGeom>
        </p:spPr>
      </p:pic>
    </p:spTree>
    <p:extLst>
      <p:ext uri="{BB962C8B-B14F-4D97-AF65-F5344CB8AC3E}">
        <p14:creationId xmlns:p14="http://schemas.microsoft.com/office/powerpoint/2010/main" val="1725045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183533A-8A50-4A1F-BEA9-C8C6956451EB}" type="slidenum">
              <a:rPr lang="en-US" noProof="0" smtClean="0"/>
              <a:pPr/>
              <a:t>42</a:t>
            </a:fld>
            <a:endParaRPr lang="en-US" noProof="0" dirty="0"/>
          </a:p>
        </p:txBody>
      </p:sp>
      <p:sp>
        <p:nvSpPr>
          <p:cNvPr id="5" name="Title 4"/>
          <p:cNvSpPr>
            <a:spLocks noGrp="1"/>
          </p:cNvSpPr>
          <p:nvPr>
            <p:ph type="title"/>
          </p:nvPr>
        </p:nvSpPr>
        <p:spPr/>
        <p:txBody>
          <a:bodyPr/>
          <a:lstStyle/>
          <a:p>
            <a:r>
              <a:rPr lang="de-DE" dirty="0"/>
              <a:t>Danke schön.</a:t>
            </a:r>
          </a:p>
        </p:txBody>
      </p:sp>
    </p:spTree>
    <p:extLst>
      <p:ext uri="{BB962C8B-B14F-4D97-AF65-F5344CB8AC3E}">
        <p14:creationId xmlns:p14="http://schemas.microsoft.com/office/powerpoint/2010/main" val="1070198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Zusammenfassung</a:t>
            </a:r>
          </a:p>
        </p:txBody>
      </p:sp>
      <p:sp>
        <p:nvSpPr>
          <p:cNvPr id="3" name="Inhaltsplatzhalter 2"/>
          <p:cNvSpPr>
            <a:spLocks noGrp="1"/>
          </p:cNvSpPr>
          <p:nvPr>
            <p:ph sz="quarter" idx="1"/>
          </p:nvPr>
        </p:nvSpPr>
        <p:spPr>
          <a:xfrm>
            <a:off x="457200" y="1219200"/>
            <a:ext cx="8435280" cy="5234136"/>
          </a:xfrm>
        </p:spPr>
        <p:txBody>
          <a:bodyPr>
            <a:normAutofit/>
          </a:bodyPr>
          <a:lstStyle/>
          <a:p>
            <a:r>
              <a:rPr lang="de-DE" dirty="0"/>
              <a:t>Systemaufrufe</a:t>
            </a:r>
          </a:p>
          <a:p>
            <a:r>
              <a:rPr lang="de-DE" dirty="0"/>
              <a:t>Windows API</a:t>
            </a:r>
          </a:p>
          <a:p>
            <a:r>
              <a:rPr lang="de-DE" dirty="0"/>
              <a:t>Shell-Programmierung</a:t>
            </a:r>
          </a:p>
          <a:p>
            <a:r>
              <a:rPr lang="de-DE" dirty="0"/>
              <a:t>Struktur von BS (Zusatzfolien)</a:t>
            </a:r>
          </a:p>
          <a:p>
            <a:r>
              <a:rPr lang="de-DE" dirty="0"/>
              <a:t>Quellen</a:t>
            </a:r>
          </a:p>
          <a:p>
            <a:pPr lvl="1"/>
            <a:r>
              <a:rPr lang="de-DE" dirty="0"/>
              <a:t>Tannenbaum, Kapitel 1 und 2</a:t>
            </a:r>
          </a:p>
          <a:p>
            <a:pPr lvl="1"/>
            <a:r>
              <a:rPr lang="de-DE" dirty="0"/>
              <a:t>Silberschatz et al., Kapitel 3  </a:t>
            </a:r>
          </a:p>
          <a:p>
            <a:pPr lvl="1"/>
            <a:r>
              <a:rPr lang="de-DE" dirty="0"/>
              <a:t>Manche Abbildungen: William </a:t>
            </a:r>
            <a:r>
              <a:rPr lang="de-DE" dirty="0" err="1"/>
              <a:t>Stallings</a:t>
            </a:r>
            <a:r>
              <a:rPr lang="de-DE" dirty="0"/>
              <a:t>, </a:t>
            </a:r>
            <a:r>
              <a:rPr lang="en-US" dirty="0"/>
              <a:t>Operating Systems: Internals and Design Principles, 6/e (</a:t>
            </a:r>
            <a:r>
              <a:rPr lang="en-US" dirty="0">
                <a:hlinkClick r:id="rId3"/>
              </a:rPr>
              <a:t>Link</a:t>
            </a:r>
            <a:r>
              <a:rPr lang="en-US" dirty="0"/>
              <a:t>)</a:t>
            </a:r>
            <a:endParaRPr lang="de-DE" dirty="0"/>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43</a:t>
            </a:fld>
            <a:endParaRPr lang="en-US"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44</a:t>
            </a:fld>
            <a:endParaRPr lang="de-DE"/>
          </a:p>
        </p:txBody>
      </p:sp>
      <p:sp>
        <p:nvSpPr>
          <p:cNvPr id="3" name="Titel 2"/>
          <p:cNvSpPr>
            <a:spLocks noGrp="1"/>
          </p:cNvSpPr>
          <p:nvPr>
            <p:ph type="title"/>
          </p:nvPr>
        </p:nvSpPr>
        <p:spPr/>
        <p:txBody>
          <a:bodyPr/>
          <a:lstStyle/>
          <a:p>
            <a:r>
              <a:rPr lang="de-DE" dirty="0"/>
              <a:t>Prozesse:</a:t>
            </a:r>
            <a:br>
              <a:rPr lang="de-DE" dirty="0"/>
            </a:br>
            <a:r>
              <a:rPr lang="de-DE" dirty="0"/>
              <a:t>Zusätzliche Folien</a:t>
            </a:r>
          </a:p>
        </p:txBody>
      </p:sp>
    </p:spTree>
    <p:extLst>
      <p:ext uri="{BB962C8B-B14F-4D97-AF65-F5344CB8AC3E}">
        <p14:creationId xmlns:p14="http://schemas.microsoft.com/office/powerpoint/2010/main" val="2126724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solidFill>
                  <a:schemeClr val="tx1"/>
                </a:solidFill>
              </a:rPr>
              <a:t>Prozesse und Multiprogrammierung</a:t>
            </a:r>
          </a:p>
        </p:txBody>
      </p:sp>
      <p:sp>
        <p:nvSpPr>
          <p:cNvPr id="4" name="Foliennummernplatzhalt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sp>
        <p:nvSpPr>
          <p:cNvPr id="3" name="Inhaltsplatzhalter 2"/>
          <p:cNvSpPr>
            <a:spLocks noGrp="1"/>
          </p:cNvSpPr>
          <p:nvPr>
            <p:ph sz="quarter" idx="1"/>
          </p:nvPr>
        </p:nvSpPr>
        <p:spPr/>
        <p:txBody>
          <a:bodyPr>
            <a:normAutofit/>
          </a:bodyPr>
          <a:lstStyle/>
          <a:p>
            <a:pPr fontAlgn="t"/>
            <a:r>
              <a:rPr lang="de-DE" dirty="0"/>
              <a:t>Erinnerung: die Multiprogrammierung (zuerst bei OS/360) war ein erheblicher Fortschritt</a:t>
            </a:r>
          </a:p>
          <a:p>
            <a:pPr fontAlgn="t"/>
            <a:r>
              <a:rPr lang="de-DE" dirty="0"/>
              <a:t>Es bedeutete zugleich einen </a:t>
            </a:r>
            <a:r>
              <a:rPr lang="de-DE" dirty="0">
                <a:solidFill>
                  <a:srgbClr val="0070C0"/>
                </a:solidFill>
              </a:rPr>
              <a:t>10-100 fachen Zuwachs an BS-Komplexität</a:t>
            </a:r>
            <a:r>
              <a:rPr lang="de-DE" dirty="0"/>
              <a:t> – warum? </a:t>
            </a:r>
          </a:p>
          <a:p>
            <a:pPr fontAlgn="t"/>
            <a:r>
              <a:rPr lang="de-DE" dirty="0"/>
              <a:t>Viele neue Funktionen waren notwendig:</a:t>
            </a:r>
          </a:p>
          <a:p>
            <a:pPr fontAlgn="t"/>
            <a:r>
              <a:rPr lang="de-DE" dirty="0"/>
              <a:t>Verwaltung und Scheduling (</a:t>
            </a:r>
            <a:r>
              <a:rPr lang="de-DE" b="1" dirty="0">
                <a:hlinkClick r:id="rId3"/>
              </a:rPr>
              <a:t>Ablaufsteuerung</a:t>
            </a:r>
            <a:r>
              <a:rPr lang="de-DE" dirty="0"/>
              <a:t>) von Prozessen</a:t>
            </a:r>
          </a:p>
          <a:p>
            <a:pPr fontAlgn="t"/>
            <a:r>
              <a:rPr lang="de-DE" dirty="0"/>
              <a:t>Kommunikation der Prozesse untereinander</a:t>
            </a:r>
          </a:p>
          <a:p>
            <a:pPr fontAlgn="t"/>
            <a:r>
              <a:rPr lang="de-DE" dirty="0"/>
              <a:t>Schutz voneinander =&gt; komplexe Speicherverwaltung</a:t>
            </a:r>
          </a:p>
          <a:p>
            <a:pPr lvl="1" fontAlgn="t">
              <a:buNone/>
            </a:pPr>
            <a:endParaRPr lang="de-DE" dirty="0">
              <a:solidFill>
                <a:schemeClr val="tx1"/>
              </a:solidFill>
            </a:endParaRPr>
          </a:p>
        </p:txBody>
      </p:sp>
    </p:spTree>
    <p:extLst>
      <p:ext uri="{BB962C8B-B14F-4D97-AF65-F5344CB8AC3E}">
        <p14:creationId xmlns:p14="http://schemas.microsoft.com/office/powerpoint/2010/main" val="138720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Prozessscheduling</a:t>
            </a:r>
            <a:endParaRPr lang="de-DE" dirty="0"/>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46</a:t>
            </a:fld>
            <a:endParaRPr lang="en-US" noProof="0" dirty="0"/>
          </a:p>
        </p:txBody>
      </p:sp>
      <p:sp>
        <p:nvSpPr>
          <p:cNvPr id="3" name="Inhaltsplatzhalter 2"/>
          <p:cNvSpPr>
            <a:spLocks noGrp="1"/>
          </p:cNvSpPr>
          <p:nvPr>
            <p:ph sz="quarter" idx="1"/>
          </p:nvPr>
        </p:nvSpPr>
        <p:spPr>
          <a:xfrm>
            <a:off x="457199" y="1219199"/>
            <a:ext cx="5866559" cy="5289521"/>
          </a:xfrm>
        </p:spPr>
        <p:txBody>
          <a:bodyPr>
            <a:normAutofit/>
          </a:bodyPr>
          <a:lstStyle/>
          <a:p>
            <a:pPr fontAlgn="t"/>
            <a:r>
              <a:rPr lang="de-DE" b="1" dirty="0">
                <a:solidFill>
                  <a:srgbClr val="FF0000"/>
                </a:solidFill>
              </a:rPr>
              <a:t>Scheduling</a:t>
            </a:r>
            <a:r>
              <a:rPr lang="de-DE" dirty="0">
                <a:solidFill>
                  <a:srgbClr val="FF0000"/>
                </a:solidFill>
              </a:rPr>
              <a:t> </a:t>
            </a:r>
            <a:r>
              <a:rPr lang="de-DE" dirty="0"/>
              <a:t>bedeutet </a:t>
            </a:r>
            <a:r>
              <a:rPr lang="de-DE" b="1" dirty="0"/>
              <a:t>Ablaufsteuerung</a:t>
            </a:r>
            <a:endParaRPr lang="de-DE" dirty="0"/>
          </a:p>
          <a:p>
            <a:pPr lvl="1" fontAlgn="t"/>
            <a:r>
              <a:rPr lang="de-DE" dirty="0">
                <a:solidFill>
                  <a:schemeClr val="tx1"/>
                </a:solidFill>
              </a:rPr>
              <a:t>„Steuerung der </a:t>
            </a:r>
            <a:r>
              <a:rPr lang="de-DE" dirty="0">
                <a:solidFill>
                  <a:srgbClr val="0070C0"/>
                </a:solidFill>
              </a:rPr>
              <a:t>Zuteilung von Ressourcen an Prozesse</a:t>
            </a:r>
            <a:r>
              <a:rPr lang="de-DE" dirty="0">
                <a:solidFill>
                  <a:schemeClr val="tx1"/>
                </a:solidFill>
              </a:rPr>
              <a:t>“</a:t>
            </a:r>
          </a:p>
          <a:p>
            <a:pPr fontAlgn="t"/>
            <a:r>
              <a:rPr lang="de-DE" dirty="0">
                <a:solidFill>
                  <a:schemeClr val="tx1"/>
                </a:solidFill>
              </a:rPr>
              <a:t>Bei der Ressource „CPU“ ist Scheduling das Entscheidende: „Welcher Prozess soll </a:t>
            </a:r>
            <a:r>
              <a:rPr lang="de-DE" dirty="0"/>
              <a:t>jetzt</a:t>
            </a:r>
            <a:r>
              <a:rPr lang="de-DE" dirty="0">
                <a:solidFill>
                  <a:schemeClr val="tx1"/>
                </a:solidFill>
              </a:rPr>
              <a:t> ausgeführt werden (und wie lange)?“</a:t>
            </a:r>
          </a:p>
          <a:p>
            <a:pPr fontAlgn="t"/>
            <a:r>
              <a:rPr lang="de-DE" dirty="0"/>
              <a:t>Einfachstes Vorgehen: Man nimmt immer den Prozess </a:t>
            </a:r>
            <a:r>
              <a:rPr lang="de-DE" u="sng" dirty="0"/>
              <a:t>am Kopf </a:t>
            </a:r>
            <a:br>
              <a:rPr lang="de-DE" u="sng" dirty="0"/>
            </a:br>
            <a:r>
              <a:rPr lang="de-DE" dirty="0"/>
              <a:t>der </a:t>
            </a:r>
            <a:r>
              <a:rPr lang="de-DE" dirty="0" err="1"/>
              <a:t>Ready</a:t>
            </a:r>
            <a:r>
              <a:rPr lang="de-DE" dirty="0"/>
              <a:t>-Queue</a:t>
            </a:r>
          </a:p>
          <a:p>
            <a:pPr lvl="1" fontAlgn="t"/>
            <a:r>
              <a:rPr lang="de-DE" dirty="0">
                <a:solidFill>
                  <a:schemeClr val="tx1"/>
                </a:solidFill>
              </a:rPr>
              <a:t>In Wirklichkeit ist das komplizierter</a:t>
            </a:r>
          </a:p>
        </p:txBody>
      </p:sp>
      <p:pic>
        <p:nvPicPr>
          <p:cNvPr id="15" name="Picture 2" descr="C:\Artur\Academic\Lehre\11.WS-IBN\VL\pics\vl02-two queues (Stallings folie 2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5077107" y="2923896"/>
            <a:ext cx="5311967" cy="185768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21"/>
          <p:cNvGrpSpPr/>
          <p:nvPr/>
        </p:nvGrpSpPr>
        <p:grpSpPr>
          <a:xfrm>
            <a:off x="5940152" y="4156587"/>
            <a:ext cx="1152128" cy="1072613"/>
            <a:chOff x="5868144" y="4156587"/>
            <a:chExt cx="1224136" cy="1072613"/>
          </a:xfrm>
        </p:grpSpPr>
        <p:cxnSp>
          <p:nvCxnSpPr>
            <p:cNvPr id="6" name="Straight Arrow Connector 5"/>
            <p:cNvCxnSpPr/>
            <p:nvPr/>
          </p:nvCxnSpPr>
          <p:spPr>
            <a:xfrm flipV="1">
              <a:off x="5868144" y="4221088"/>
              <a:ext cx="1224136" cy="57606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 name="Straight Arrow Connector 17"/>
            <p:cNvCxnSpPr/>
            <p:nvPr/>
          </p:nvCxnSpPr>
          <p:spPr>
            <a:xfrm flipV="1">
              <a:off x="5868144" y="4725144"/>
              <a:ext cx="1224136" cy="7200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a:off x="5868144" y="4797152"/>
              <a:ext cx="1224136" cy="43204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TextBox 18"/>
            <p:cNvSpPr txBox="1"/>
            <p:nvPr/>
          </p:nvSpPr>
          <p:spPr>
            <a:xfrm>
              <a:off x="6323759" y="4156587"/>
              <a:ext cx="312906" cy="369332"/>
            </a:xfrm>
            <a:prstGeom prst="rect">
              <a:avLst/>
            </a:prstGeom>
            <a:noFill/>
          </p:spPr>
          <p:txBody>
            <a:bodyPr wrap="none" rtlCol="0">
              <a:spAutoFit/>
            </a:bodyPr>
            <a:lstStyle/>
            <a:p>
              <a:r>
                <a:rPr lang="de-DE" dirty="0"/>
                <a:t>?</a:t>
              </a:r>
            </a:p>
          </p:txBody>
        </p:sp>
        <p:sp>
          <p:nvSpPr>
            <p:cNvPr id="24" name="TextBox 23"/>
            <p:cNvSpPr txBox="1"/>
            <p:nvPr/>
          </p:nvSpPr>
          <p:spPr>
            <a:xfrm>
              <a:off x="6583073" y="4416885"/>
              <a:ext cx="312906" cy="369332"/>
            </a:xfrm>
            <a:prstGeom prst="rect">
              <a:avLst/>
            </a:prstGeom>
            <a:noFill/>
          </p:spPr>
          <p:txBody>
            <a:bodyPr wrap="none" rtlCol="0">
              <a:spAutoFit/>
            </a:bodyPr>
            <a:lstStyle/>
            <a:p>
              <a:r>
                <a:rPr lang="de-DE" dirty="0"/>
                <a:t>?</a:t>
              </a:r>
            </a:p>
          </p:txBody>
        </p:sp>
        <p:sp>
          <p:nvSpPr>
            <p:cNvPr id="25" name="TextBox 24"/>
            <p:cNvSpPr txBox="1"/>
            <p:nvPr/>
          </p:nvSpPr>
          <p:spPr>
            <a:xfrm>
              <a:off x="6579488" y="4774891"/>
              <a:ext cx="312906" cy="369332"/>
            </a:xfrm>
            <a:prstGeom prst="rect">
              <a:avLst/>
            </a:prstGeom>
            <a:noFill/>
          </p:spPr>
          <p:txBody>
            <a:bodyPr wrap="none" rtlCol="0">
              <a:spAutoFit/>
            </a:bodyPr>
            <a:lstStyle/>
            <a:p>
              <a:r>
                <a:rPr lang="de-DE" dirty="0"/>
                <a:t>?</a:t>
              </a:r>
            </a:p>
          </p:txBody>
        </p:sp>
      </p:grpSp>
    </p:spTree>
    <p:extLst>
      <p:ext uri="{BB962C8B-B14F-4D97-AF65-F5344CB8AC3E}">
        <p14:creationId xmlns:p14="http://schemas.microsoft.com/office/powerpoint/2010/main" val="106345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Scheduler: Definition und zwei Typen</a:t>
            </a:r>
          </a:p>
        </p:txBody>
      </p:sp>
      <p:sp>
        <p:nvSpPr>
          <p:cNvPr id="3" name="Inhaltsplatzhalter 2"/>
          <p:cNvSpPr>
            <a:spLocks noGrp="1"/>
          </p:cNvSpPr>
          <p:nvPr>
            <p:ph sz="quarter" idx="1"/>
          </p:nvPr>
        </p:nvSpPr>
        <p:spPr>
          <a:xfrm>
            <a:off x="457200" y="1219200"/>
            <a:ext cx="8435280" cy="4874096"/>
          </a:xfrm>
        </p:spPr>
        <p:txBody>
          <a:bodyPr>
            <a:normAutofit/>
          </a:bodyPr>
          <a:lstStyle/>
          <a:p>
            <a:pPr fontAlgn="t"/>
            <a:r>
              <a:rPr lang="de-DE" b="1" dirty="0">
                <a:solidFill>
                  <a:srgbClr val="FF0000"/>
                </a:solidFill>
              </a:rPr>
              <a:t>Scheduler</a:t>
            </a:r>
            <a:r>
              <a:rPr lang="de-DE" dirty="0"/>
              <a:t> sind Implementationen von Algorithmen, die über </a:t>
            </a:r>
            <a:r>
              <a:rPr lang="de-DE" b="1" dirty="0">
                <a:solidFill>
                  <a:srgbClr val="FF0000"/>
                </a:solidFill>
              </a:rPr>
              <a:t>Scheduling</a:t>
            </a:r>
            <a:r>
              <a:rPr lang="de-DE" dirty="0"/>
              <a:t> (= Ablaufsteuerung) entscheiden</a:t>
            </a:r>
          </a:p>
          <a:p>
            <a:pPr fontAlgn="t"/>
            <a:r>
              <a:rPr lang="de-DE" b="1" dirty="0">
                <a:solidFill>
                  <a:srgbClr val="FF0000"/>
                </a:solidFill>
              </a:rPr>
              <a:t>CPU-Scheduler </a:t>
            </a:r>
            <a:r>
              <a:rPr lang="de-DE" dirty="0"/>
              <a:t>bzw. </a:t>
            </a:r>
            <a:r>
              <a:rPr lang="de-DE" b="1" dirty="0">
                <a:solidFill>
                  <a:srgbClr val="FF0000"/>
                </a:solidFill>
              </a:rPr>
              <a:t>Kurzzeit-Scheduler</a:t>
            </a:r>
            <a:endParaRPr lang="de-DE" dirty="0"/>
          </a:p>
          <a:p>
            <a:pPr lvl="1" fontAlgn="t"/>
            <a:r>
              <a:rPr lang="de-DE" dirty="0"/>
              <a:t>Entscheidet, welcher der Prozesse als nächster ausgeführt wird, und ob ggf. der laufende Prozess unterbrochen wird</a:t>
            </a:r>
          </a:p>
          <a:p>
            <a:pPr lvl="1" fontAlgn="t"/>
            <a:r>
              <a:rPr lang="de-DE" dirty="0"/>
              <a:t>Wird sehr häufig (alle 10-100 Millisekunden) aufgerufen</a:t>
            </a:r>
            <a:endParaRPr lang="de-DE" b="1" dirty="0">
              <a:solidFill>
                <a:srgbClr val="FF0000"/>
              </a:solidFill>
            </a:endParaRPr>
          </a:p>
          <a:p>
            <a:pPr fontAlgn="t"/>
            <a:r>
              <a:rPr lang="de-DE" b="1" dirty="0">
                <a:solidFill>
                  <a:srgbClr val="FF0000"/>
                </a:solidFill>
              </a:rPr>
              <a:t>Langzeit-Scheduler</a:t>
            </a:r>
          </a:p>
          <a:p>
            <a:pPr lvl="1" fontAlgn="t"/>
            <a:r>
              <a:rPr lang="de-DE" dirty="0">
                <a:solidFill>
                  <a:schemeClr val="tx1"/>
                </a:solidFill>
              </a:rPr>
              <a:t>Wählt die Prozesse aus, die überhaupt in die „</a:t>
            </a:r>
            <a:r>
              <a:rPr lang="de-DE" dirty="0" err="1">
                <a:solidFill>
                  <a:schemeClr val="tx1"/>
                </a:solidFill>
              </a:rPr>
              <a:t>ready</a:t>
            </a:r>
            <a:r>
              <a:rPr lang="de-DE" dirty="0">
                <a:solidFill>
                  <a:schemeClr val="tx1"/>
                </a:solidFill>
              </a:rPr>
              <a:t>“-Schlange aufgenommen werden</a:t>
            </a:r>
          </a:p>
          <a:p>
            <a:pPr lvl="1" fontAlgn="t"/>
            <a:r>
              <a:rPr lang="de-DE" dirty="0"/>
              <a:t>Wird sehr selten (alle paar Sekunden, Minuten) aufgerufen</a:t>
            </a:r>
            <a:endParaRPr lang="de-DE" dirty="0">
              <a:solidFill>
                <a:schemeClr val="tx1"/>
              </a:solidFill>
            </a:endParaRPr>
          </a:p>
          <a:p>
            <a:pPr lvl="1" fontAlgn="t"/>
            <a:r>
              <a:rPr lang="de-DE" dirty="0">
                <a:solidFill>
                  <a:schemeClr val="tx1"/>
                </a:solidFill>
              </a:rPr>
              <a:t>Von Bedeutung in Cluster-Systemen, Supercomputern usw.</a:t>
            </a:r>
          </a:p>
          <a:p>
            <a:pPr lvl="1" fontAlgn="t"/>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47</a:t>
            </a:fld>
            <a:endParaRPr lang="en-US" noProof="0" dirty="0"/>
          </a:p>
        </p:txBody>
      </p:sp>
    </p:spTree>
    <p:extLst>
      <p:ext uri="{BB962C8B-B14F-4D97-AF65-F5344CB8AC3E}">
        <p14:creationId xmlns:p14="http://schemas.microsoft.com/office/powerpoint/2010/main" val="3090150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Verhalten der Prozesse</a:t>
            </a:r>
          </a:p>
        </p:txBody>
      </p:sp>
      <p:sp>
        <p:nvSpPr>
          <p:cNvPr id="3" name="Inhaltsplatzhalter 2"/>
          <p:cNvSpPr>
            <a:spLocks noGrp="1"/>
          </p:cNvSpPr>
          <p:nvPr>
            <p:ph sz="quarter" idx="1"/>
          </p:nvPr>
        </p:nvSpPr>
        <p:spPr>
          <a:xfrm>
            <a:off x="457200" y="1219200"/>
            <a:ext cx="8435280" cy="5162128"/>
          </a:xfrm>
        </p:spPr>
        <p:txBody>
          <a:bodyPr>
            <a:normAutofit/>
          </a:bodyPr>
          <a:lstStyle/>
          <a:p>
            <a:pPr fontAlgn="t"/>
            <a:r>
              <a:rPr lang="de-DE" dirty="0"/>
              <a:t>Prozesse werden je nach Last in </a:t>
            </a:r>
            <a:r>
              <a:rPr lang="de-DE" u="sng" dirty="0"/>
              <a:t>zwei Typen</a:t>
            </a:r>
            <a:r>
              <a:rPr lang="de-DE" dirty="0"/>
              <a:t> unterteilt</a:t>
            </a:r>
          </a:p>
          <a:p>
            <a:r>
              <a:rPr lang="de-DE" b="1" dirty="0">
                <a:solidFill>
                  <a:srgbClr val="FF0000"/>
                </a:solidFill>
              </a:rPr>
              <a:t>Rechenintensiv </a:t>
            </a:r>
            <a:r>
              <a:rPr lang="de-DE" dirty="0"/>
              <a:t>(</a:t>
            </a:r>
            <a:r>
              <a:rPr lang="de-DE" b="1" dirty="0" err="1">
                <a:solidFill>
                  <a:srgbClr val="FF0000"/>
                </a:solidFill>
              </a:rPr>
              <a:t>compute-bound</a:t>
            </a:r>
            <a:r>
              <a:rPr lang="de-DE" dirty="0"/>
              <a:t>) bzw. </a:t>
            </a:r>
            <a:r>
              <a:rPr lang="de-DE" b="1" dirty="0">
                <a:solidFill>
                  <a:srgbClr val="FF0000"/>
                </a:solidFill>
              </a:rPr>
              <a:t>CPU-intensiv</a:t>
            </a:r>
            <a:r>
              <a:rPr lang="de-DE" dirty="0"/>
              <a:t> (</a:t>
            </a:r>
            <a:r>
              <a:rPr lang="de-DE" b="1" dirty="0">
                <a:solidFill>
                  <a:srgbClr val="FF0000"/>
                </a:solidFill>
              </a:rPr>
              <a:t>CPU-</a:t>
            </a:r>
            <a:r>
              <a:rPr lang="de-DE" b="1" dirty="0" err="1">
                <a:solidFill>
                  <a:srgbClr val="FF0000"/>
                </a:solidFill>
              </a:rPr>
              <a:t>bound</a:t>
            </a:r>
            <a:r>
              <a:rPr lang="de-DE" dirty="0"/>
              <a:t>)</a:t>
            </a:r>
          </a:p>
          <a:p>
            <a:pPr lvl="1"/>
            <a:r>
              <a:rPr lang="de-DE" dirty="0"/>
              <a:t>Verbringen mehr Zeit mit Berechnungen oder treffender: kürzere oder seltene I/O-Phasen</a:t>
            </a:r>
          </a:p>
          <a:p>
            <a:r>
              <a:rPr lang="de-DE" b="1" dirty="0">
                <a:solidFill>
                  <a:srgbClr val="FF0000"/>
                </a:solidFill>
              </a:rPr>
              <a:t>I/O-intensiv</a:t>
            </a:r>
            <a:r>
              <a:rPr lang="de-DE" dirty="0"/>
              <a:t> (</a:t>
            </a:r>
            <a:r>
              <a:rPr lang="de-DE" b="1" dirty="0">
                <a:solidFill>
                  <a:srgbClr val="FF0000"/>
                </a:solidFill>
              </a:rPr>
              <a:t>I/O-bound</a:t>
            </a:r>
            <a:r>
              <a:rPr lang="de-DE" dirty="0"/>
              <a:t>) </a:t>
            </a:r>
          </a:p>
          <a:p>
            <a:pPr lvl="1"/>
            <a:r>
              <a:rPr lang="de-DE" dirty="0"/>
              <a:t>Diese müssen i.A. nicht länger auf I/O-warten, sondern haben einfach </a:t>
            </a:r>
            <a:r>
              <a:rPr lang="de-DE" i="1" dirty="0"/>
              <a:t>kürzere</a:t>
            </a:r>
            <a:r>
              <a:rPr lang="de-DE" dirty="0"/>
              <a:t> Berechnungs-Phasen</a:t>
            </a:r>
          </a:p>
          <a:p>
            <a:pPr fontAlgn="t"/>
            <a:r>
              <a:rPr lang="de-DE" dirty="0">
                <a:solidFill>
                  <a:schemeClr val="tx1"/>
                </a:solidFill>
              </a:rPr>
              <a:t>=&gt; Scheduler sollen beide Typen balancieren, um die Ausführung effizient zu gestalten</a:t>
            </a:r>
          </a:p>
          <a:p>
            <a:pPr lvl="1" fontAlgn="t"/>
            <a:r>
              <a:rPr lang="de-DE" dirty="0"/>
              <a:t>Später kommt eine ganze Vorlesung dazu!</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48</a:t>
            </a:fld>
            <a:endParaRPr lang="en-US" noProof="0" dirty="0"/>
          </a:p>
        </p:txBody>
      </p:sp>
    </p:spTree>
    <p:extLst>
      <p:ext uri="{BB962C8B-B14F-4D97-AF65-F5344CB8AC3E}">
        <p14:creationId xmlns:p14="http://schemas.microsoft.com/office/powerpoint/2010/main" val="1376446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49</a:t>
            </a:fld>
            <a:endParaRPr lang="de-DE"/>
          </a:p>
        </p:txBody>
      </p:sp>
      <p:sp>
        <p:nvSpPr>
          <p:cNvPr id="3" name="Titel 2"/>
          <p:cNvSpPr>
            <a:spLocks noGrp="1"/>
          </p:cNvSpPr>
          <p:nvPr>
            <p:ph type="title"/>
          </p:nvPr>
        </p:nvSpPr>
        <p:spPr/>
        <p:txBody>
          <a:bodyPr/>
          <a:lstStyle/>
          <a:p>
            <a:r>
              <a:rPr lang="de-DE" dirty="0"/>
              <a:t>Zusatzfolien</a:t>
            </a:r>
            <a:br>
              <a:rPr lang="de-DE" dirty="0"/>
            </a:br>
            <a:r>
              <a:rPr lang="de-DE" dirty="0"/>
              <a:t>Prozessverwaltung: Interessante Details</a:t>
            </a:r>
          </a:p>
        </p:txBody>
      </p:sp>
    </p:spTree>
    <p:extLst>
      <p:ext uri="{BB962C8B-B14F-4D97-AF65-F5344CB8AC3E}">
        <p14:creationId xmlns:p14="http://schemas.microsoft.com/office/powerpoint/2010/main" val="14572670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Artur\Academic\Lehre\11.WS-IBN\VL\pics\vl02 - unix zustandswechsel (Stallings 3-1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838"/>
          <a:stretch/>
        </p:blipFill>
        <p:spPr bwMode="auto">
          <a:xfrm>
            <a:off x="755576" y="1196752"/>
            <a:ext cx="7741631" cy="55597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de-DE" dirty="0"/>
              <a:t>Wirkliche Prozesszustände (UNIX) /1</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50</a:t>
            </a:fld>
            <a:endParaRPr lang="en-US" noProof="0" dirty="0"/>
          </a:p>
        </p:txBody>
      </p:sp>
    </p:spTree>
    <p:extLst>
      <p:ext uri="{BB962C8B-B14F-4D97-AF65-F5344CB8AC3E}">
        <p14:creationId xmlns:p14="http://schemas.microsoft.com/office/powerpoint/2010/main" val="20624505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Wirkliche Prozesszustände (UNIX) /2</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51</a:t>
            </a:fld>
            <a:endParaRPr lang="en-US" noProof="0" dirty="0"/>
          </a:p>
        </p:txBody>
      </p:sp>
      <p:graphicFrame>
        <p:nvGraphicFramePr>
          <p:cNvPr id="5" name="Table 4"/>
          <p:cNvGraphicFramePr>
            <a:graphicFrameLocks noGrp="1"/>
          </p:cNvGraphicFramePr>
          <p:nvPr/>
        </p:nvGraphicFramePr>
        <p:xfrm>
          <a:off x="467544" y="1268760"/>
          <a:ext cx="8424936" cy="4896544"/>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20000"/>
                    </a:ext>
                  </a:extLst>
                </a:gridCol>
                <a:gridCol w="5400600">
                  <a:extLst>
                    <a:ext uri="{9D8B030D-6E8A-4147-A177-3AD203B41FA5}">
                      <a16:colId xmlns:a16="http://schemas.microsoft.com/office/drawing/2014/main" val="20001"/>
                    </a:ext>
                  </a:extLst>
                </a:gridCol>
              </a:tblGrid>
              <a:tr h="374291">
                <a:tc>
                  <a:txBody>
                    <a:bodyPr/>
                    <a:lstStyle/>
                    <a:p>
                      <a:r>
                        <a:rPr lang="de-DE" dirty="0"/>
                        <a:t>Zustand</a:t>
                      </a:r>
                    </a:p>
                  </a:txBody>
                  <a:tcPr/>
                </a:tc>
                <a:tc>
                  <a:txBody>
                    <a:bodyPr/>
                    <a:lstStyle/>
                    <a:p>
                      <a:r>
                        <a:rPr lang="de-DE" dirty="0"/>
                        <a:t>Erläuterung</a:t>
                      </a:r>
                    </a:p>
                  </a:txBody>
                  <a:tcPr/>
                </a:tc>
                <a:extLst>
                  <a:ext uri="{0D108BD9-81ED-4DB2-BD59-A6C34878D82A}">
                    <a16:rowId xmlns:a16="http://schemas.microsoft.com/office/drawing/2014/main" val="10000"/>
                  </a:ext>
                </a:extLst>
              </a:tr>
              <a:tr h="4522253">
                <a:tc>
                  <a:txBody>
                    <a:bodyPr/>
                    <a:lstStyle/>
                    <a:p>
                      <a:r>
                        <a:rPr lang="en-US" dirty="0"/>
                        <a:t>User </a:t>
                      </a:r>
                      <a:r>
                        <a:rPr lang="en-US" dirty="0">
                          <a:solidFill>
                            <a:srgbClr val="FF0000"/>
                          </a:solidFill>
                        </a:rPr>
                        <a:t>Running</a:t>
                      </a:r>
                    </a:p>
                    <a:p>
                      <a:r>
                        <a:rPr lang="en-US" dirty="0"/>
                        <a:t>Kernel Running</a:t>
                      </a:r>
                    </a:p>
                    <a:p>
                      <a:r>
                        <a:rPr lang="en-US" dirty="0">
                          <a:solidFill>
                            <a:srgbClr val="FF0000"/>
                          </a:solidFill>
                        </a:rPr>
                        <a:t>Ready to Run</a:t>
                      </a:r>
                      <a:r>
                        <a:rPr lang="en-US" dirty="0"/>
                        <a:t>, in Memory</a:t>
                      </a:r>
                    </a:p>
                    <a:p>
                      <a:r>
                        <a:rPr lang="en-US" dirty="0"/>
                        <a:t>Asleep in Memory</a:t>
                      </a:r>
                      <a:r>
                        <a:rPr lang="en-US" baseline="0" dirty="0"/>
                        <a:t> </a:t>
                      </a:r>
                      <a:r>
                        <a:rPr lang="en-US" dirty="0"/>
                        <a:t>(</a:t>
                      </a:r>
                      <a:r>
                        <a:rPr lang="en-US" dirty="0">
                          <a:solidFill>
                            <a:srgbClr val="FF0000"/>
                          </a:solidFill>
                        </a:rPr>
                        <a:t>blocked</a:t>
                      </a:r>
                      <a:r>
                        <a:rPr lang="en-US" dirty="0"/>
                        <a:t>)</a:t>
                      </a:r>
                    </a:p>
                    <a:p>
                      <a:endParaRPr lang="en-US" dirty="0"/>
                    </a:p>
                    <a:p>
                      <a:r>
                        <a:rPr lang="en-US" dirty="0"/>
                        <a:t>Ready to Run, Swapped</a:t>
                      </a:r>
                    </a:p>
                    <a:p>
                      <a:endParaRPr lang="en-US" dirty="0"/>
                    </a:p>
                    <a:p>
                      <a:endParaRPr lang="en-US" dirty="0"/>
                    </a:p>
                    <a:p>
                      <a:r>
                        <a:rPr lang="en-US" dirty="0"/>
                        <a:t>Sleeping, Swapped</a:t>
                      </a:r>
                    </a:p>
                    <a:p>
                      <a:endParaRPr lang="en-US" dirty="0"/>
                    </a:p>
                    <a:p>
                      <a:r>
                        <a:rPr lang="en-US" dirty="0"/>
                        <a:t>Preempted</a:t>
                      </a:r>
                    </a:p>
                    <a:p>
                      <a:endParaRPr lang="en-US" dirty="0"/>
                    </a:p>
                    <a:p>
                      <a:endParaRPr lang="en-US" dirty="0"/>
                    </a:p>
                    <a:p>
                      <a:r>
                        <a:rPr lang="en-US" dirty="0">
                          <a:solidFill>
                            <a:srgbClr val="FF0000"/>
                          </a:solidFill>
                        </a:rPr>
                        <a:t>Created</a:t>
                      </a:r>
                    </a:p>
                    <a:p>
                      <a:r>
                        <a:rPr lang="en-US" dirty="0">
                          <a:solidFill>
                            <a:srgbClr val="FF0000"/>
                          </a:solidFill>
                        </a:rPr>
                        <a:t>Zombie</a:t>
                      </a:r>
                    </a:p>
                  </a:txBody>
                  <a:tcPr/>
                </a:tc>
                <a:tc>
                  <a:txBody>
                    <a:bodyPr/>
                    <a:lstStyle/>
                    <a:p>
                      <a:r>
                        <a:rPr lang="en-US" dirty="0"/>
                        <a:t>Executing  in user mode</a:t>
                      </a:r>
                    </a:p>
                    <a:p>
                      <a:r>
                        <a:rPr lang="en-US" dirty="0"/>
                        <a:t>Executing  in kernel mode</a:t>
                      </a:r>
                    </a:p>
                    <a:p>
                      <a:r>
                        <a:rPr lang="en-US" dirty="0"/>
                        <a:t>Ready to run as soon as the kernel schedules it</a:t>
                      </a:r>
                    </a:p>
                    <a:p>
                      <a:r>
                        <a:rPr lang="en-US" dirty="0"/>
                        <a:t>Unable to execute until an event occurs; process is in main memory (a blocked state)</a:t>
                      </a:r>
                    </a:p>
                    <a:p>
                      <a:r>
                        <a:rPr lang="en-US" dirty="0"/>
                        <a:t>Process is ready to run, but the swapper must swap the process into main memory before the kernel can schedule it to execute</a:t>
                      </a:r>
                    </a:p>
                    <a:p>
                      <a:r>
                        <a:rPr lang="en-US" dirty="0"/>
                        <a:t>The process is awaiting an event and has been swapped to secondary storage (a blocked state)</a:t>
                      </a:r>
                    </a:p>
                    <a:p>
                      <a:r>
                        <a:rPr lang="en-US" dirty="0"/>
                        <a:t>Process is returning from kernel to user mode, but the kernel preempts it and does a process switch to schedule another process</a:t>
                      </a:r>
                    </a:p>
                    <a:p>
                      <a:r>
                        <a:rPr lang="en-US" dirty="0"/>
                        <a:t>Process is newly created and not yet ready to run</a:t>
                      </a:r>
                    </a:p>
                    <a:p>
                      <a:r>
                        <a:rPr lang="en-US" dirty="0"/>
                        <a:t>Process no longer exists, but it leaves a record for its parent process to collect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50798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Artur\Academic\Lehre\11.WS-IBN\VL\pics\vl02-two queues (Stallings folie 2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760" y="3441179"/>
            <a:ext cx="6836479" cy="239082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de-DE" dirty="0"/>
              <a:t>Warteschlangen /1</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52</a:t>
            </a:fld>
            <a:endParaRPr lang="en-US" noProof="0" dirty="0"/>
          </a:p>
        </p:txBody>
      </p:sp>
      <p:sp>
        <p:nvSpPr>
          <p:cNvPr id="6" name="Content Placeholder 5"/>
          <p:cNvSpPr>
            <a:spLocks noGrp="1"/>
          </p:cNvSpPr>
          <p:nvPr>
            <p:ph sz="quarter" idx="1"/>
          </p:nvPr>
        </p:nvSpPr>
        <p:spPr/>
        <p:txBody>
          <a:bodyPr/>
          <a:lstStyle/>
          <a:p>
            <a:r>
              <a:rPr lang="de-DE" dirty="0"/>
              <a:t>Wie erkennt das BS, welche Prozesse bereit und welche wartend (blockiert) sind?</a:t>
            </a:r>
          </a:p>
          <a:p>
            <a:r>
              <a:rPr lang="de-DE" dirty="0"/>
              <a:t>Hier helfen die sog. </a:t>
            </a:r>
            <a:r>
              <a:rPr lang="de-DE" b="1" dirty="0">
                <a:solidFill>
                  <a:srgbClr val="0070C0"/>
                </a:solidFill>
              </a:rPr>
              <a:t>Warteschlangen</a:t>
            </a:r>
            <a:r>
              <a:rPr lang="de-DE" dirty="0"/>
              <a:t> (</a:t>
            </a:r>
            <a:r>
              <a:rPr lang="de-DE" dirty="0">
                <a:solidFill>
                  <a:srgbClr val="0070C0"/>
                </a:solidFill>
              </a:rPr>
              <a:t>Queues</a:t>
            </a:r>
            <a:r>
              <a:rPr lang="de-DE" dirty="0"/>
              <a:t>)</a:t>
            </a:r>
          </a:p>
          <a:p>
            <a:pPr lvl="1"/>
            <a:r>
              <a:rPr lang="de-DE" b="1" dirty="0">
                <a:solidFill>
                  <a:srgbClr val="0070C0"/>
                </a:solidFill>
              </a:rPr>
              <a:t>Ready Queue</a:t>
            </a:r>
            <a:r>
              <a:rPr lang="de-DE" dirty="0"/>
              <a:t>: </a:t>
            </a:r>
            <a:r>
              <a:rPr lang="de-DE" dirty="0">
                <a:solidFill>
                  <a:schemeClr val="tx1"/>
                </a:solidFill>
              </a:rPr>
              <a:t>alle Prozesse, die bereit sind</a:t>
            </a:r>
          </a:p>
          <a:p>
            <a:pPr lvl="1"/>
            <a:r>
              <a:rPr lang="de-DE" b="1" dirty="0">
                <a:solidFill>
                  <a:srgbClr val="0070C0"/>
                </a:solidFill>
              </a:rPr>
              <a:t>Blocked Queue</a:t>
            </a:r>
            <a:r>
              <a:rPr lang="de-DE" dirty="0"/>
              <a:t>: </a:t>
            </a:r>
            <a:r>
              <a:rPr lang="de-DE" dirty="0">
                <a:solidFill>
                  <a:schemeClr val="tx1"/>
                </a:solidFill>
              </a:rPr>
              <a:t>alle blockierten Prozesse</a:t>
            </a:r>
          </a:p>
        </p:txBody>
      </p:sp>
      <p:sp>
        <p:nvSpPr>
          <p:cNvPr id="7" name="Content Placeholder 6"/>
          <p:cNvSpPr>
            <a:spLocks noGrp="1"/>
          </p:cNvSpPr>
          <p:nvPr>
            <p:ph sz="quarter" idx="13"/>
          </p:nvPr>
        </p:nvSpPr>
        <p:spPr>
          <a:xfrm>
            <a:off x="480583" y="5938206"/>
            <a:ext cx="8208912" cy="553616"/>
          </a:xfrm>
        </p:spPr>
        <p:txBody>
          <a:bodyPr/>
          <a:lstStyle/>
          <a:p>
            <a:r>
              <a:rPr lang="de-DE" dirty="0"/>
              <a:t>Man kann das etwas effizienter machen …</a:t>
            </a:r>
          </a:p>
        </p:txBody>
      </p:sp>
    </p:spTree>
    <p:extLst>
      <p:ext uri="{BB962C8B-B14F-4D97-AF65-F5344CB8AC3E}">
        <p14:creationId xmlns:p14="http://schemas.microsoft.com/office/powerpoint/2010/main" val="7075904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Warteschlangen /2</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53</a:t>
            </a:fld>
            <a:endParaRPr lang="en-US" noProof="0" dirty="0"/>
          </a:p>
        </p:txBody>
      </p:sp>
      <p:sp>
        <p:nvSpPr>
          <p:cNvPr id="3" name="Inhaltsplatzhalter 2"/>
          <p:cNvSpPr>
            <a:spLocks noGrp="1"/>
          </p:cNvSpPr>
          <p:nvPr>
            <p:ph sz="quarter" idx="1"/>
          </p:nvPr>
        </p:nvSpPr>
        <p:spPr>
          <a:xfrm>
            <a:off x="457200" y="1219200"/>
            <a:ext cx="3202958" cy="5378152"/>
          </a:xfrm>
        </p:spPr>
        <p:txBody>
          <a:bodyPr>
            <a:normAutofit fontScale="92500"/>
          </a:bodyPr>
          <a:lstStyle/>
          <a:p>
            <a:pPr fontAlgn="t"/>
            <a:r>
              <a:rPr lang="de-DE" dirty="0"/>
              <a:t>Man führt die </a:t>
            </a:r>
            <a:r>
              <a:rPr lang="de-DE" b="1" dirty="0" err="1">
                <a:solidFill>
                  <a:srgbClr val="FF0000"/>
                </a:solidFill>
              </a:rPr>
              <a:t>device</a:t>
            </a:r>
            <a:r>
              <a:rPr lang="de-DE" b="1" dirty="0">
                <a:solidFill>
                  <a:srgbClr val="FF0000"/>
                </a:solidFill>
              </a:rPr>
              <a:t> </a:t>
            </a:r>
            <a:r>
              <a:rPr lang="de-DE" b="1" dirty="0" err="1">
                <a:solidFill>
                  <a:srgbClr val="FF0000"/>
                </a:solidFill>
              </a:rPr>
              <a:t>queues</a:t>
            </a:r>
            <a:r>
              <a:rPr lang="de-DE" b="1" dirty="0">
                <a:solidFill>
                  <a:srgbClr val="FF0000"/>
                </a:solidFill>
              </a:rPr>
              <a:t> </a:t>
            </a:r>
            <a:r>
              <a:rPr lang="de-DE" dirty="0"/>
              <a:t>ein:</a:t>
            </a:r>
            <a:r>
              <a:rPr lang="de-DE" b="1" dirty="0">
                <a:solidFill>
                  <a:srgbClr val="FF0000"/>
                </a:solidFill>
              </a:rPr>
              <a:t> </a:t>
            </a:r>
            <a:r>
              <a:rPr lang="de-DE" dirty="0"/>
              <a:t>Warteschlange pro Ereignistyp</a:t>
            </a:r>
          </a:p>
          <a:p>
            <a:pPr fontAlgn="t"/>
            <a:r>
              <a:rPr lang="de-DE" dirty="0"/>
              <a:t>Bei einem Ereignis von einem Gerät (z.B. USB, Netzwerk) weiß man ohne Suchen, welche Prozesse in den Zustand „bereit“ versetzt werden können</a:t>
            </a:r>
          </a:p>
        </p:txBody>
      </p:sp>
      <p:sp>
        <p:nvSpPr>
          <p:cNvPr id="5" name="Content Placeholder 4"/>
          <p:cNvSpPr>
            <a:spLocks noGrp="1"/>
          </p:cNvSpPr>
          <p:nvPr>
            <p:ph sz="quarter" idx="2"/>
          </p:nvPr>
        </p:nvSpPr>
        <p:spPr/>
        <p:txBody>
          <a:bodyPr>
            <a:normAutofit fontScale="92500"/>
          </a:bodyPr>
          <a:lstStyle/>
          <a:p>
            <a:endParaRPr lang="de-DE"/>
          </a:p>
        </p:txBody>
      </p:sp>
      <p:pic>
        <p:nvPicPr>
          <p:cNvPr id="5123" name="Picture 3" descr="C:\Artur\Academic\Lehre\10.WS-IBN\VL\figures\vl03\warteschlangen.png"/>
          <p:cNvPicPr>
            <a:picLocks noChangeAspect="1" noChangeArrowheads="1"/>
          </p:cNvPicPr>
          <p:nvPr/>
        </p:nvPicPr>
        <p:blipFill>
          <a:blip r:embed="rId3" cstate="print"/>
          <a:srcRect/>
          <a:stretch>
            <a:fillRect/>
          </a:stretch>
        </p:blipFill>
        <p:spPr bwMode="auto">
          <a:xfrm>
            <a:off x="4499992" y="1268760"/>
            <a:ext cx="4644008" cy="4848225"/>
          </a:xfrm>
          <a:prstGeom prst="rect">
            <a:avLst/>
          </a:prstGeom>
          <a:noFill/>
        </p:spPr>
      </p:pic>
      <p:sp>
        <p:nvSpPr>
          <p:cNvPr id="7" name="Textfeld 6"/>
          <p:cNvSpPr txBox="1"/>
          <p:nvPr/>
        </p:nvSpPr>
        <p:spPr>
          <a:xfrm>
            <a:off x="3660158" y="1216152"/>
            <a:ext cx="864096"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de-DE" dirty="0" err="1"/>
              <a:t>ready</a:t>
            </a:r>
            <a:endParaRPr lang="de-DE" dirty="0"/>
          </a:p>
          <a:p>
            <a:r>
              <a:rPr lang="de-DE" dirty="0" err="1"/>
              <a:t>queue</a:t>
            </a:r>
            <a:endParaRPr lang="de-DE" dirty="0"/>
          </a:p>
        </p:txBody>
      </p:sp>
      <p:sp>
        <p:nvSpPr>
          <p:cNvPr id="9" name="Textfeld 8"/>
          <p:cNvSpPr txBox="1"/>
          <p:nvPr/>
        </p:nvSpPr>
        <p:spPr>
          <a:xfrm>
            <a:off x="3660159" y="3094837"/>
            <a:ext cx="1547337"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dirty="0"/>
              <a:t>Magnetband</a:t>
            </a:r>
          </a:p>
        </p:txBody>
      </p:sp>
      <p:sp>
        <p:nvSpPr>
          <p:cNvPr id="10" name="Textfeld 9"/>
          <p:cNvSpPr txBox="1"/>
          <p:nvPr/>
        </p:nvSpPr>
        <p:spPr>
          <a:xfrm>
            <a:off x="3785755" y="4869160"/>
            <a:ext cx="129614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dirty="0"/>
              <a:t>terminal 0</a:t>
            </a:r>
          </a:p>
        </p:txBody>
      </p:sp>
      <p:sp>
        <p:nvSpPr>
          <p:cNvPr id="11" name="Textfeld 10"/>
          <p:cNvSpPr txBox="1"/>
          <p:nvPr/>
        </p:nvSpPr>
        <p:spPr>
          <a:xfrm>
            <a:off x="3851920" y="4073569"/>
            <a:ext cx="864096"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dirty="0" err="1"/>
              <a:t>disk</a:t>
            </a:r>
            <a:r>
              <a:rPr lang="de-DE" dirty="0"/>
              <a:t> 1</a:t>
            </a:r>
          </a:p>
        </p:txBody>
      </p:sp>
      <p:sp>
        <p:nvSpPr>
          <p:cNvPr id="12" name="Textfeld 11"/>
          <p:cNvSpPr txBox="1"/>
          <p:nvPr/>
        </p:nvSpPr>
        <p:spPr>
          <a:xfrm>
            <a:off x="3660158" y="2251828"/>
            <a:ext cx="983849"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dirty="0" err="1"/>
              <a:t>usb</a:t>
            </a:r>
            <a:r>
              <a:rPr lang="de-DE" dirty="0"/>
              <a:t> 0</a:t>
            </a:r>
          </a:p>
        </p:txBody>
      </p:sp>
    </p:spTree>
    <p:extLst>
      <p:ext uri="{BB962C8B-B14F-4D97-AF65-F5344CB8AC3E}">
        <p14:creationId xmlns:p14="http://schemas.microsoft.com/office/powerpoint/2010/main" val="245763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54</a:t>
            </a:fld>
            <a:endParaRPr lang="de-DE"/>
          </a:p>
        </p:txBody>
      </p:sp>
      <p:sp>
        <p:nvSpPr>
          <p:cNvPr id="3" name="Titel 2"/>
          <p:cNvSpPr>
            <a:spLocks noGrp="1"/>
          </p:cNvSpPr>
          <p:nvPr>
            <p:ph type="title"/>
          </p:nvPr>
        </p:nvSpPr>
        <p:spPr>
          <a:xfrm>
            <a:off x="971600" y="1700808"/>
            <a:ext cx="7200800" cy="2160240"/>
          </a:xfrm>
        </p:spPr>
        <p:txBody>
          <a:bodyPr/>
          <a:lstStyle/>
          <a:p>
            <a:r>
              <a:rPr lang="de-DE" dirty="0"/>
              <a:t>Architektur von Betriebssystemen</a:t>
            </a:r>
            <a:br>
              <a:rPr lang="de-DE" dirty="0"/>
            </a:br>
            <a:r>
              <a:rPr lang="de-DE" dirty="0"/>
              <a:t>- Zusatzfolien -</a:t>
            </a:r>
          </a:p>
        </p:txBody>
      </p:sp>
      <p:pic>
        <p:nvPicPr>
          <p:cNvPr id="4" name="Picture 2" descr="C:\Artur\Academic\Lehre\10.WS-IBN\VL\figures\vl02\bs strukturen\eierlegende vollmilchsau.jpg"/>
          <p:cNvPicPr>
            <a:picLocks noChangeAspect="1" noChangeArrowheads="1"/>
          </p:cNvPicPr>
          <p:nvPr/>
        </p:nvPicPr>
        <p:blipFill>
          <a:blip r:embed="rId2" cstate="print"/>
          <a:srcRect/>
          <a:stretch>
            <a:fillRect/>
          </a:stretch>
        </p:blipFill>
        <p:spPr bwMode="auto">
          <a:xfrm>
            <a:off x="2771800" y="3933056"/>
            <a:ext cx="3817119" cy="2343844"/>
          </a:xfrm>
          <a:prstGeom prst="rect">
            <a:avLst/>
          </a:prstGeom>
          <a:noFill/>
        </p:spPr>
      </p:pic>
    </p:spTree>
    <p:extLst>
      <p:ext uri="{BB962C8B-B14F-4D97-AF65-F5344CB8AC3E}">
        <p14:creationId xmlns:p14="http://schemas.microsoft.com/office/powerpoint/2010/main" val="38651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Wie baut man ein optimales BS?</a:t>
            </a:r>
          </a:p>
        </p:txBody>
      </p:sp>
      <p:sp>
        <p:nvSpPr>
          <p:cNvPr id="3" name="Inhaltsplatzhalter 2"/>
          <p:cNvSpPr>
            <a:spLocks noGrp="1"/>
          </p:cNvSpPr>
          <p:nvPr>
            <p:ph sz="quarter" idx="1"/>
          </p:nvPr>
        </p:nvSpPr>
        <p:spPr>
          <a:xfrm>
            <a:off x="457200" y="1219200"/>
            <a:ext cx="8435280" cy="5162128"/>
          </a:xfrm>
        </p:spPr>
        <p:txBody>
          <a:bodyPr>
            <a:normAutofit/>
          </a:bodyPr>
          <a:lstStyle/>
          <a:p>
            <a:r>
              <a:rPr lang="de-DE" dirty="0"/>
              <a:t>Unklar, aber einige Ansätze haben sich bewährt</a:t>
            </a:r>
          </a:p>
          <a:p>
            <a:r>
              <a:rPr lang="de-DE" dirty="0"/>
              <a:t>1. Ziele und Spezifikationen klar definieren</a:t>
            </a:r>
          </a:p>
          <a:p>
            <a:pPr lvl="1"/>
            <a:r>
              <a:rPr lang="de-DE" dirty="0"/>
              <a:t>Abhängig von der Hardware und dem Typ des Systems</a:t>
            </a:r>
          </a:p>
          <a:p>
            <a:pPr lvl="1"/>
            <a:r>
              <a:rPr lang="de-DE" dirty="0"/>
              <a:t>Benutzerziele (</a:t>
            </a:r>
            <a:r>
              <a:rPr lang="de-DE" dirty="0" err="1"/>
              <a:t>Bedienbarkeit</a:t>
            </a:r>
            <a:r>
              <a:rPr lang="de-DE" dirty="0"/>
              <a:t>) und Systemziele (z.B. Effizienz)</a:t>
            </a:r>
          </a:p>
          <a:p>
            <a:r>
              <a:rPr lang="de-DE" dirty="0"/>
              <a:t>2. Trennung von Richtlinie und Mechanismus:</a:t>
            </a:r>
          </a:p>
          <a:p>
            <a:pPr lvl="1"/>
            <a:r>
              <a:rPr lang="de-DE" b="1" dirty="0">
                <a:solidFill>
                  <a:srgbClr val="FF0000"/>
                </a:solidFill>
              </a:rPr>
              <a:t>Richtlinie</a:t>
            </a:r>
            <a:r>
              <a:rPr lang="de-DE" dirty="0"/>
              <a:t> (</a:t>
            </a:r>
            <a:r>
              <a:rPr lang="de-DE" b="1" dirty="0" err="1">
                <a:solidFill>
                  <a:srgbClr val="FF0000"/>
                </a:solidFill>
              </a:rPr>
              <a:t>policy</a:t>
            </a:r>
            <a:r>
              <a:rPr lang="de-DE" dirty="0"/>
              <a:t>): </a:t>
            </a:r>
            <a:r>
              <a:rPr lang="de-DE" u="sng" dirty="0"/>
              <a:t>Was</a:t>
            </a:r>
            <a:r>
              <a:rPr lang="de-DE" dirty="0"/>
              <a:t> sollte getan / erreicht werden?</a:t>
            </a:r>
          </a:p>
          <a:p>
            <a:pPr lvl="1"/>
            <a:r>
              <a:rPr lang="de-DE" b="1" dirty="0">
                <a:solidFill>
                  <a:srgbClr val="FF0000"/>
                </a:solidFill>
              </a:rPr>
              <a:t>Mechanismus</a:t>
            </a:r>
            <a:r>
              <a:rPr lang="de-DE" dirty="0"/>
              <a:t>: </a:t>
            </a:r>
            <a:r>
              <a:rPr lang="de-DE" u="sng" dirty="0"/>
              <a:t>Wie</a:t>
            </a:r>
            <a:r>
              <a:rPr lang="de-DE" dirty="0"/>
              <a:t> sollte das erreicht werden?</a:t>
            </a:r>
          </a:p>
          <a:p>
            <a:pPr lvl="1"/>
            <a:r>
              <a:rPr lang="de-DE" dirty="0">
                <a:solidFill>
                  <a:schemeClr val="tx1"/>
                </a:solidFill>
              </a:rPr>
              <a:t>Wichtiges Prinzip: es gewährleistet hohe Flexibilität bei späteren Änderungen der Umsetzung </a:t>
            </a:r>
            <a:endParaRPr lang="de-DE" b="1" dirty="0">
              <a:solidFill>
                <a:srgbClr val="FF0000"/>
              </a:solidFill>
            </a:endParaRPr>
          </a:p>
          <a:p>
            <a:endParaRPr lang="de-DE" dirty="0"/>
          </a:p>
          <a:p>
            <a:endParaRPr lang="de-DE" b="1" dirty="0">
              <a:solidFill>
                <a:srgbClr val="FF0000"/>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55</a:t>
            </a:fld>
            <a:endParaRPr lang="en-US" noProof="0" dirty="0"/>
          </a:p>
        </p:txBody>
      </p:sp>
    </p:spTree>
    <p:extLst>
      <p:ext uri="{BB962C8B-B14F-4D97-AF65-F5344CB8AC3E}">
        <p14:creationId xmlns:p14="http://schemas.microsoft.com/office/powerpoint/2010/main" val="111659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Typische Architekturen von BS</a:t>
            </a:r>
          </a:p>
        </p:txBody>
      </p:sp>
      <p:sp>
        <p:nvSpPr>
          <p:cNvPr id="3" name="Inhaltsplatzhalter 2"/>
          <p:cNvSpPr>
            <a:spLocks noGrp="1"/>
          </p:cNvSpPr>
          <p:nvPr>
            <p:ph sz="quarter" idx="1"/>
          </p:nvPr>
        </p:nvSpPr>
        <p:spPr>
          <a:xfrm>
            <a:off x="457200" y="1219200"/>
            <a:ext cx="8435280" cy="4226024"/>
          </a:xfrm>
        </p:spPr>
        <p:txBody>
          <a:bodyPr>
            <a:normAutofit/>
          </a:bodyPr>
          <a:lstStyle/>
          <a:p>
            <a:r>
              <a:rPr lang="de-DE" dirty="0"/>
              <a:t>Historische Entwicklungen führten zu einigen Typen von </a:t>
            </a:r>
            <a:r>
              <a:rPr lang="de-DE" dirty="0">
                <a:solidFill>
                  <a:srgbClr val="0070C0"/>
                </a:solidFill>
              </a:rPr>
              <a:t>BS-Architekturen</a:t>
            </a:r>
            <a:endParaRPr lang="de-DE" b="1" dirty="0">
              <a:solidFill>
                <a:srgbClr val="0070C0"/>
              </a:solidFill>
            </a:endParaRPr>
          </a:p>
          <a:p>
            <a:pPr lvl="1"/>
            <a:r>
              <a:rPr lang="de-DE" sz="2800" dirty="0">
                <a:solidFill>
                  <a:schemeClr val="tx1"/>
                </a:solidFill>
              </a:rPr>
              <a:t>Monolithische Systeme</a:t>
            </a:r>
          </a:p>
          <a:p>
            <a:pPr lvl="1"/>
            <a:r>
              <a:rPr lang="de-DE" sz="2800" dirty="0">
                <a:solidFill>
                  <a:schemeClr val="tx1"/>
                </a:solidFill>
              </a:rPr>
              <a:t>Geschichtete Systeme</a:t>
            </a:r>
          </a:p>
          <a:p>
            <a:pPr lvl="1"/>
            <a:r>
              <a:rPr lang="de-DE" sz="2800" dirty="0">
                <a:solidFill>
                  <a:schemeClr val="tx1"/>
                </a:solidFill>
              </a:rPr>
              <a:t>Modulare Systeme</a:t>
            </a:r>
          </a:p>
          <a:p>
            <a:pPr lvl="1"/>
            <a:r>
              <a:rPr lang="de-DE" sz="2800" dirty="0">
                <a:solidFill>
                  <a:schemeClr val="tx1"/>
                </a:solidFill>
              </a:rPr>
              <a:t>Mikrokerne</a:t>
            </a:r>
          </a:p>
          <a:p>
            <a:pPr lvl="1"/>
            <a:r>
              <a:rPr lang="de-DE" sz="2800" dirty="0">
                <a:solidFill>
                  <a:schemeClr val="tx1"/>
                </a:solidFill>
              </a:rPr>
              <a:t>Client-Server-Systeme</a:t>
            </a:r>
          </a:p>
          <a:p>
            <a:pPr lvl="1"/>
            <a:r>
              <a:rPr lang="de-DE" sz="2800" dirty="0">
                <a:solidFill>
                  <a:schemeClr val="tx1"/>
                </a:solidFill>
              </a:rPr>
              <a:t>Virtuelle Maschinen</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56</a:t>
            </a:fld>
            <a:endParaRPr lang="en-US" noProof="0" dirty="0"/>
          </a:p>
        </p:txBody>
      </p:sp>
    </p:spTree>
    <p:extLst>
      <p:ext uri="{BB962C8B-B14F-4D97-AF65-F5344CB8AC3E}">
        <p14:creationId xmlns:p14="http://schemas.microsoft.com/office/powerpoint/2010/main" val="40090018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Monolithische Systeme</a:t>
            </a:r>
          </a:p>
        </p:txBody>
      </p:sp>
      <p:sp>
        <p:nvSpPr>
          <p:cNvPr id="3" name="Inhaltsplatzhalter 2"/>
          <p:cNvSpPr>
            <a:spLocks noGrp="1"/>
          </p:cNvSpPr>
          <p:nvPr>
            <p:ph sz="quarter" idx="1"/>
          </p:nvPr>
        </p:nvSpPr>
        <p:spPr>
          <a:xfrm>
            <a:off x="457200" y="1219200"/>
            <a:ext cx="8435280" cy="2785864"/>
          </a:xfrm>
        </p:spPr>
        <p:txBody>
          <a:bodyPr>
            <a:normAutofit/>
          </a:bodyPr>
          <a:lstStyle/>
          <a:p>
            <a:r>
              <a:rPr lang="de-DE" dirty="0"/>
              <a:t>Grundstruktur:</a:t>
            </a:r>
          </a:p>
          <a:p>
            <a:pPr lvl="1"/>
            <a:r>
              <a:rPr lang="de-DE" dirty="0"/>
              <a:t>Eine </a:t>
            </a:r>
            <a:r>
              <a:rPr lang="de-DE" b="1" dirty="0">
                <a:solidFill>
                  <a:srgbClr val="FF0000"/>
                </a:solidFill>
              </a:rPr>
              <a:t>Hauptfunktion</a:t>
            </a:r>
            <a:r>
              <a:rPr lang="de-DE" dirty="0"/>
              <a:t>, die die angeforderten Dienstprozeduren aufruft</a:t>
            </a:r>
          </a:p>
          <a:p>
            <a:pPr lvl="1"/>
            <a:r>
              <a:rPr lang="de-DE" dirty="0"/>
              <a:t>Eine Reihe von </a:t>
            </a:r>
            <a:r>
              <a:rPr lang="de-DE" b="1" dirty="0">
                <a:solidFill>
                  <a:srgbClr val="FF0000"/>
                </a:solidFill>
              </a:rPr>
              <a:t>Dienstprozeduren</a:t>
            </a:r>
            <a:r>
              <a:rPr lang="de-DE" dirty="0"/>
              <a:t>, die die Systemaufrufe ausführen</a:t>
            </a:r>
          </a:p>
          <a:p>
            <a:pPr lvl="1"/>
            <a:r>
              <a:rPr lang="de-DE" dirty="0"/>
              <a:t>Eine Menge von </a:t>
            </a:r>
            <a:r>
              <a:rPr lang="de-DE" b="1" dirty="0">
                <a:solidFill>
                  <a:srgbClr val="FF0000"/>
                </a:solidFill>
              </a:rPr>
              <a:t>Hilfsprozeduren</a:t>
            </a:r>
            <a:r>
              <a:rPr lang="de-DE" dirty="0"/>
              <a:t>, die den Dienstprozeduren helfen</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57</a:t>
            </a:fld>
            <a:endParaRPr lang="en-US" noProof="0" dirty="0"/>
          </a:p>
        </p:txBody>
      </p:sp>
      <p:pic>
        <p:nvPicPr>
          <p:cNvPr id="3074" name="Picture 2" descr="C:\Artur\Academic\Lehre\10.WS-IBN\VL\figures\vl02\bs strukturen\monolithisches System.PNG"/>
          <p:cNvPicPr>
            <a:picLocks noChangeAspect="1" noChangeArrowheads="1"/>
          </p:cNvPicPr>
          <p:nvPr/>
        </p:nvPicPr>
        <p:blipFill>
          <a:blip r:embed="rId3" cstate="print"/>
          <a:srcRect/>
          <a:stretch>
            <a:fillRect/>
          </a:stretch>
        </p:blipFill>
        <p:spPr bwMode="auto">
          <a:xfrm>
            <a:off x="1067772" y="4149080"/>
            <a:ext cx="4384398" cy="2392950"/>
          </a:xfrm>
          <a:prstGeom prst="rect">
            <a:avLst/>
          </a:prstGeom>
          <a:noFill/>
        </p:spPr>
      </p:pic>
      <p:sp>
        <p:nvSpPr>
          <p:cNvPr id="6" name="Textfeld 5"/>
          <p:cNvSpPr txBox="1"/>
          <p:nvPr/>
        </p:nvSpPr>
        <p:spPr>
          <a:xfrm>
            <a:off x="5796136" y="4365104"/>
            <a:ext cx="1749197" cy="369332"/>
          </a:xfrm>
          <a:prstGeom prst="rect">
            <a:avLst/>
          </a:prstGeom>
          <a:noFill/>
        </p:spPr>
        <p:txBody>
          <a:bodyPr wrap="none" rtlCol="0">
            <a:spAutoFit/>
          </a:bodyPr>
          <a:lstStyle/>
          <a:p>
            <a:r>
              <a:rPr lang="de-DE" b="1" dirty="0">
                <a:solidFill>
                  <a:srgbClr val="FF0000"/>
                </a:solidFill>
              </a:rPr>
              <a:t>Hauptfunktion</a:t>
            </a:r>
            <a:endParaRPr lang="de-DE" dirty="0"/>
          </a:p>
        </p:txBody>
      </p:sp>
      <p:sp>
        <p:nvSpPr>
          <p:cNvPr id="7" name="Textfeld 6"/>
          <p:cNvSpPr txBox="1"/>
          <p:nvPr/>
        </p:nvSpPr>
        <p:spPr>
          <a:xfrm>
            <a:off x="5796136" y="5157192"/>
            <a:ext cx="2146742" cy="369332"/>
          </a:xfrm>
          <a:prstGeom prst="rect">
            <a:avLst/>
          </a:prstGeom>
          <a:noFill/>
        </p:spPr>
        <p:txBody>
          <a:bodyPr wrap="none" rtlCol="0">
            <a:spAutoFit/>
          </a:bodyPr>
          <a:lstStyle/>
          <a:p>
            <a:r>
              <a:rPr lang="de-DE" b="1" dirty="0">
                <a:solidFill>
                  <a:srgbClr val="FF0000"/>
                </a:solidFill>
              </a:rPr>
              <a:t>Dienstprozeduren</a:t>
            </a:r>
            <a:endParaRPr lang="de-DE" dirty="0"/>
          </a:p>
        </p:txBody>
      </p:sp>
      <p:sp>
        <p:nvSpPr>
          <p:cNvPr id="8" name="Textfeld 7"/>
          <p:cNvSpPr txBox="1"/>
          <p:nvPr/>
        </p:nvSpPr>
        <p:spPr>
          <a:xfrm>
            <a:off x="5835192" y="5957518"/>
            <a:ext cx="1941557" cy="369332"/>
          </a:xfrm>
          <a:prstGeom prst="rect">
            <a:avLst/>
          </a:prstGeom>
          <a:noFill/>
        </p:spPr>
        <p:txBody>
          <a:bodyPr wrap="none" rtlCol="0">
            <a:spAutoFit/>
          </a:bodyPr>
          <a:lstStyle/>
          <a:p>
            <a:r>
              <a:rPr lang="de-DE" b="1" dirty="0">
                <a:solidFill>
                  <a:srgbClr val="FF0000"/>
                </a:solidFill>
              </a:rPr>
              <a:t>Hilfsprozeduren</a:t>
            </a:r>
            <a:endParaRPr lang="de-DE" dirty="0"/>
          </a:p>
        </p:txBody>
      </p:sp>
    </p:spTree>
    <p:extLst>
      <p:ext uri="{BB962C8B-B14F-4D97-AF65-F5344CB8AC3E}">
        <p14:creationId xmlns:p14="http://schemas.microsoft.com/office/powerpoint/2010/main" val="26882794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Monolithische Systeme – MS-DOS</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58</a:t>
            </a:fld>
            <a:endParaRPr lang="en-US" noProof="0" dirty="0"/>
          </a:p>
        </p:txBody>
      </p:sp>
      <p:pic>
        <p:nvPicPr>
          <p:cNvPr id="2050" name="Picture 2" descr="C:\Artur\Academic\Lehre\10.WS-IBN\VL\figures\vl02\bs strukturen\ms-dos stukturjpg.jpg"/>
          <p:cNvPicPr>
            <a:picLocks noChangeAspect="1" noChangeArrowheads="1"/>
          </p:cNvPicPr>
          <p:nvPr/>
        </p:nvPicPr>
        <p:blipFill>
          <a:blip r:embed="rId3" cstate="print"/>
          <a:srcRect/>
          <a:stretch>
            <a:fillRect/>
          </a:stretch>
        </p:blipFill>
        <p:spPr bwMode="auto">
          <a:xfrm>
            <a:off x="4644008" y="1772816"/>
            <a:ext cx="4032448" cy="3883374"/>
          </a:xfrm>
          <a:prstGeom prst="rect">
            <a:avLst/>
          </a:prstGeom>
          <a:noFill/>
        </p:spPr>
      </p:pic>
      <p:sp>
        <p:nvSpPr>
          <p:cNvPr id="7" name="Inhaltsplatzhalter 2"/>
          <p:cNvSpPr>
            <a:spLocks noGrp="1"/>
          </p:cNvSpPr>
          <p:nvPr>
            <p:ph sz="quarter" idx="1"/>
          </p:nvPr>
        </p:nvSpPr>
        <p:spPr>
          <a:xfrm>
            <a:off x="395536" y="1268760"/>
            <a:ext cx="4392488" cy="5256584"/>
          </a:xfrm>
        </p:spPr>
        <p:txBody>
          <a:bodyPr>
            <a:normAutofit/>
          </a:bodyPr>
          <a:lstStyle/>
          <a:p>
            <a:r>
              <a:rPr lang="de-DE" dirty="0">
                <a:solidFill>
                  <a:schemeClr val="tx1"/>
                </a:solidFill>
              </a:rPr>
              <a:t>Beispiel: </a:t>
            </a:r>
            <a:r>
              <a:rPr lang="de-DE" b="1" dirty="0">
                <a:solidFill>
                  <a:srgbClr val="FF0000"/>
                </a:solidFill>
              </a:rPr>
              <a:t>MS-DOS</a:t>
            </a:r>
            <a:r>
              <a:rPr lang="de-DE" dirty="0">
                <a:solidFill>
                  <a:schemeClr val="tx1"/>
                </a:solidFill>
              </a:rPr>
              <a:t> – geschrieben, um die größte Funktionalität im kleinsten Speicher zu unterbringen</a:t>
            </a:r>
          </a:p>
          <a:p>
            <a:pPr lvl="1"/>
            <a:r>
              <a:rPr lang="de-DE" sz="2400" dirty="0">
                <a:solidFill>
                  <a:schemeClr val="tx1"/>
                </a:solidFill>
              </a:rPr>
              <a:t>Keine Unterteilung in Module</a:t>
            </a:r>
          </a:p>
          <a:p>
            <a:pPr lvl="1"/>
            <a:r>
              <a:rPr lang="de-DE" sz="2400" dirty="0">
                <a:solidFill>
                  <a:schemeClr val="tx1"/>
                </a:solidFill>
              </a:rPr>
              <a:t>Obwohl es gewisse Struktur besitzt, sind die Schnittstellen (APIs) und Schichten der Funktionalität nicht gut separiert</a:t>
            </a:r>
          </a:p>
        </p:txBody>
      </p:sp>
    </p:spTree>
    <p:extLst>
      <p:ext uri="{BB962C8B-B14F-4D97-AF65-F5344CB8AC3E}">
        <p14:creationId xmlns:p14="http://schemas.microsoft.com/office/powerpoint/2010/main" val="34525965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Geschichtete Systeme</a:t>
            </a:r>
          </a:p>
        </p:txBody>
      </p:sp>
      <p:sp>
        <p:nvSpPr>
          <p:cNvPr id="3" name="Inhaltsplatzhalter 2"/>
          <p:cNvSpPr>
            <a:spLocks noGrp="1"/>
          </p:cNvSpPr>
          <p:nvPr>
            <p:ph sz="quarter" idx="1"/>
          </p:nvPr>
        </p:nvSpPr>
        <p:spPr>
          <a:xfrm>
            <a:off x="457200" y="1219200"/>
            <a:ext cx="8435280" cy="5090120"/>
          </a:xfrm>
        </p:spPr>
        <p:txBody>
          <a:bodyPr>
            <a:normAutofit/>
          </a:bodyPr>
          <a:lstStyle/>
          <a:p>
            <a:pPr fontAlgn="t"/>
            <a:r>
              <a:rPr lang="de-DE" dirty="0"/>
              <a:t>Hier ist ein BS in eine Anzahl von Schichten (Ebenen) unterteilt, von denen jede auf den darunterliegenden Schichten aufgebaut ist</a:t>
            </a:r>
          </a:p>
          <a:p>
            <a:pPr lvl="1" fontAlgn="t"/>
            <a:r>
              <a:rPr lang="de-DE" sz="2400" dirty="0"/>
              <a:t>Die untere Schicht (Schicht 0) ist die Hardware, die höchste (Schicht N) ist die Benutzeroberfläche</a:t>
            </a:r>
            <a:endParaRPr lang="de-DE" dirty="0"/>
          </a:p>
          <a:p>
            <a:pPr fontAlgn="t"/>
            <a:r>
              <a:rPr lang="de-DE" dirty="0"/>
              <a:t>Mit Hilfe der Modularität sind die Schichten so gewählt, dass jede Funktion und jeder Dienst nur die </a:t>
            </a:r>
            <a:r>
              <a:rPr lang="de-DE" u="sng" dirty="0"/>
              <a:t>untergeordneten</a:t>
            </a:r>
            <a:r>
              <a:rPr lang="de-DE" dirty="0"/>
              <a:t> Schichten verwendet </a:t>
            </a:r>
          </a:p>
          <a:p>
            <a:r>
              <a:rPr lang="de-DE" dirty="0"/>
              <a:t>Beispiele</a:t>
            </a:r>
          </a:p>
          <a:p>
            <a:pPr lvl="1"/>
            <a:r>
              <a:rPr lang="de-DE" dirty="0"/>
              <a:t>Das </a:t>
            </a:r>
            <a:r>
              <a:rPr lang="de-DE" b="1" dirty="0">
                <a:solidFill>
                  <a:srgbClr val="FF0000"/>
                </a:solidFill>
              </a:rPr>
              <a:t>THE-System</a:t>
            </a:r>
            <a:r>
              <a:rPr lang="de-DE" dirty="0"/>
              <a:t>, gebaut von E. W. Dijkstra (1968) an der Tech. Hochschule Eindhoven (5 Schichten)</a:t>
            </a:r>
          </a:p>
          <a:p>
            <a:pPr lvl="1"/>
            <a:r>
              <a:rPr lang="de-DE" dirty="0"/>
              <a:t>Das </a:t>
            </a:r>
            <a:r>
              <a:rPr lang="de-DE" b="1" dirty="0">
                <a:solidFill>
                  <a:srgbClr val="FF0000"/>
                </a:solidFill>
              </a:rPr>
              <a:t>MULTICS-System</a:t>
            </a: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59</a:t>
            </a:fld>
            <a:endParaRPr lang="en-US" noProof="0" dirty="0"/>
          </a:p>
        </p:txBody>
      </p:sp>
    </p:spTree>
    <p:extLst>
      <p:ext uri="{BB962C8B-B14F-4D97-AF65-F5344CB8AC3E}">
        <p14:creationId xmlns:p14="http://schemas.microsoft.com/office/powerpoint/2010/main" val="8689498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Geschichtete Systeme</a:t>
            </a:r>
          </a:p>
        </p:txBody>
      </p:sp>
      <p:sp>
        <p:nvSpPr>
          <p:cNvPr id="3" name="Inhaltsplatzhalter 2"/>
          <p:cNvSpPr>
            <a:spLocks noGrp="1"/>
          </p:cNvSpPr>
          <p:nvPr>
            <p:ph sz="quarter" idx="1"/>
          </p:nvPr>
        </p:nvSpPr>
        <p:spPr>
          <a:xfrm>
            <a:off x="457200" y="1196752"/>
            <a:ext cx="5194920" cy="5544616"/>
          </a:xfrm>
        </p:spPr>
        <p:txBody>
          <a:bodyPr>
            <a:normAutofit/>
          </a:bodyPr>
          <a:lstStyle/>
          <a:p>
            <a:r>
              <a:rPr lang="de-DE" dirty="0"/>
              <a:t>Das </a:t>
            </a:r>
            <a:r>
              <a:rPr lang="de-DE" b="1" dirty="0">
                <a:solidFill>
                  <a:srgbClr val="FF0000"/>
                </a:solidFill>
              </a:rPr>
              <a:t>MULTICS-System</a:t>
            </a:r>
            <a:r>
              <a:rPr lang="de-DE" dirty="0"/>
              <a:t> war als eine Folge konzentrischer Ringe organisiert </a:t>
            </a:r>
          </a:p>
          <a:p>
            <a:r>
              <a:rPr lang="de-DE" dirty="0"/>
              <a:t>Wenn Code vom Ring n+1 eine Prozedur aus Ring n aufrufen wollte, musste im Prinzip ein Systemaufruf stattfinden, </a:t>
            </a:r>
          </a:p>
          <a:p>
            <a:pPr lvl="1"/>
            <a:r>
              <a:rPr lang="de-DE" dirty="0"/>
              <a:t>Dabei wurden die Parameter überprüft</a:t>
            </a:r>
          </a:p>
          <a:p>
            <a:r>
              <a:rPr lang="de-DE" dirty="0"/>
              <a:t>Die Prozesse vom Ring n waren (durch Hardware) vom Zugriff durch die Prozesse aus Ringen n+1, n+2, … geschützt</a:t>
            </a: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60</a:t>
            </a:fld>
            <a:endParaRPr lang="en-US" noProof="0" dirty="0"/>
          </a:p>
        </p:txBody>
      </p:sp>
      <p:pic>
        <p:nvPicPr>
          <p:cNvPr id="4098" name="Picture 2" descr="C:\Artur\Academic\Lehre\10.WS-IBN\VL\figures\vl02\bs strukturen\layered OS.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24128" y="1844824"/>
            <a:ext cx="3175602" cy="3158468"/>
          </a:xfrm>
          <a:prstGeom prst="rect">
            <a:avLst/>
          </a:prstGeom>
          <a:noFill/>
        </p:spPr>
      </p:pic>
    </p:spTree>
    <p:extLst>
      <p:ext uri="{BB962C8B-B14F-4D97-AF65-F5344CB8AC3E}">
        <p14:creationId xmlns:p14="http://schemas.microsoft.com/office/powerpoint/2010/main" val="10913060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Geschichtete Systeme - UNIX</a:t>
            </a:r>
          </a:p>
        </p:txBody>
      </p:sp>
      <p:sp>
        <p:nvSpPr>
          <p:cNvPr id="3" name="Inhaltsplatzhalter 2"/>
          <p:cNvSpPr>
            <a:spLocks noGrp="1"/>
          </p:cNvSpPr>
          <p:nvPr>
            <p:ph sz="quarter" idx="1"/>
          </p:nvPr>
        </p:nvSpPr>
        <p:spPr>
          <a:xfrm>
            <a:off x="457200" y="1219200"/>
            <a:ext cx="8435280" cy="5090120"/>
          </a:xfrm>
        </p:spPr>
        <p:txBody>
          <a:bodyPr>
            <a:normAutofit/>
          </a:bodyPr>
          <a:lstStyle/>
          <a:p>
            <a:pPr fontAlgn="t"/>
            <a:r>
              <a:rPr lang="de-DE" dirty="0"/>
              <a:t>Das ursprüngliche UNIX hatte nur beschränkte Strukturierung (begrenzt durch die Hardware)</a:t>
            </a:r>
          </a:p>
          <a:p>
            <a:pPr lvl="1" fontAlgn="t"/>
            <a:r>
              <a:rPr lang="de-DE" dirty="0"/>
              <a:t>Es bestand aus zwei trennbaren Teilen</a:t>
            </a:r>
          </a:p>
          <a:p>
            <a:pPr fontAlgn="t"/>
            <a:r>
              <a:rPr lang="de-DE" b="1" dirty="0">
                <a:solidFill>
                  <a:srgbClr val="FF0000"/>
                </a:solidFill>
              </a:rPr>
              <a:t>Systemprogramme</a:t>
            </a:r>
          </a:p>
          <a:p>
            <a:pPr fontAlgn="t"/>
            <a:r>
              <a:rPr lang="de-DE" b="1" dirty="0">
                <a:solidFill>
                  <a:srgbClr val="FF0000"/>
                </a:solidFill>
              </a:rPr>
              <a:t>Kern</a:t>
            </a:r>
            <a:r>
              <a:rPr lang="de-DE" dirty="0"/>
              <a:t>(</a:t>
            </a:r>
            <a:r>
              <a:rPr lang="de-DE" b="1" dirty="0">
                <a:solidFill>
                  <a:srgbClr val="FF0000"/>
                </a:solidFill>
              </a:rPr>
              <a:t>el</a:t>
            </a:r>
            <a:r>
              <a:rPr lang="de-DE" dirty="0"/>
              <a:t>)</a:t>
            </a:r>
          </a:p>
          <a:p>
            <a:pPr lvl="1" fontAlgn="t"/>
            <a:r>
              <a:rPr lang="de-DE" dirty="0"/>
              <a:t>Dieser Bestand aus allem unter der Systemaufruf-Schnittstelle und über der physischen Hardware</a:t>
            </a:r>
          </a:p>
          <a:p>
            <a:pPr lvl="1" fontAlgn="t"/>
            <a:r>
              <a:rPr lang="de-DE" dirty="0"/>
              <a:t>Stellte das Dateisystem, CPU-</a:t>
            </a:r>
            <a:r>
              <a:rPr lang="de-DE" dirty="0" err="1"/>
              <a:t>Scheduling</a:t>
            </a:r>
            <a:r>
              <a:rPr lang="de-DE" dirty="0"/>
              <a:t>, Speicherverwaltung und andere Betriebssystem-Funktionen bereit</a:t>
            </a:r>
          </a:p>
          <a:p>
            <a:pPr lvl="1" fontAlgn="t"/>
            <a:r>
              <a:rPr lang="de-DE" dirty="0"/>
              <a:t>Eine (zu große) Vielzahl von Funktionen für diese Ebene</a:t>
            </a: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61</a:t>
            </a:fld>
            <a:endParaRPr lang="en-US" noProof="0" dirty="0"/>
          </a:p>
        </p:txBody>
      </p:sp>
    </p:spTree>
    <p:extLst>
      <p:ext uri="{BB962C8B-B14F-4D97-AF65-F5344CB8AC3E}">
        <p14:creationId xmlns:p14="http://schemas.microsoft.com/office/powerpoint/2010/main" val="797134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Geschichtete Systeme - UNIX</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62</a:t>
            </a:fld>
            <a:endParaRPr lang="en-US" noProof="0" dirty="0"/>
          </a:p>
        </p:txBody>
      </p:sp>
      <p:pic>
        <p:nvPicPr>
          <p:cNvPr id="5122" name="Picture 2" descr="C:\Artur\Academic\Lehre\10.WS-IBN\VL\figures\vl02\bs strukturen\UNIX-Struktur.png"/>
          <p:cNvPicPr>
            <a:picLocks noChangeAspect="1" noChangeArrowheads="1"/>
          </p:cNvPicPr>
          <p:nvPr/>
        </p:nvPicPr>
        <p:blipFill>
          <a:blip r:embed="rId3" cstate="print"/>
          <a:srcRect/>
          <a:stretch>
            <a:fillRect/>
          </a:stretch>
        </p:blipFill>
        <p:spPr bwMode="auto">
          <a:xfrm>
            <a:off x="251520" y="1268760"/>
            <a:ext cx="8268180" cy="4999087"/>
          </a:xfrm>
          <a:prstGeom prst="rect">
            <a:avLst/>
          </a:prstGeom>
          <a:noFill/>
        </p:spPr>
      </p:pic>
    </p:spTree>
    <p:extLst>
      <p:ext uri="{BB962C8B-B14F-4D97-AF65-F5344CB8AC3E}">
        <p14:creationId xmlns:p14="http://schemas.microsoft.com/office/powerpoint/2010/main" val="2485600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Modulare Systeme</a:t>
            </a:r>
          </a:p>
        </p:txBody>
      </p:sp>
      <p:sp>
        <p:nvSpPr>
          <p:cNvPr id="3" name="Inhaltsplatzhalter 2"/>
          <p:cNvSpPr>
            <a:spLocks noGrp="1"/>
          </p:cNvSpPr>
          <p:nvPr>
            <p:ph sz="quarter" idx="1"/>
          </p:nvPr>
        </p:nvSpPr>
        <p:spPr>
          <a:xfrm>
            <a:off x="457200" y="1219200"/>
            <a:ext cx="8507288" cy="2569840"/>
          </a:xfrm>
        </p:spPr>
        <p:txBody>
          <a:bodyPr>
            <a:normAutofit/>
          </a:bodyPr>
          <a:lstStyle/>
          <a:p>
            <a:pPr fontAlgn="t"/>
            <a:r>
              <a:rPr lang="de-DE" dirty="0"/>
              <a:t>Die meisten modernen BS nutzen </a:t>
            </a:r>
            <a:r>
              <a:rPr lang="de-DE" b="1" dirty="0">
                <a:solidFill>
                  <a:srgbClr val="FF0000"/>
                </a:solidFill>
              </a:rPr>
              <a:t>Kern-Module (loadable kernel module, LKM)</a:t>
            </a:r>
          </a:p>
          <a:p>
            <a:pPr lvl="1" fontAlgn="t"/>
            <a:r>
              <a:rPr lang="de-DE" dirty="0"/>
              <a:t>Jedes Kernmodul implementiert eine Teilfunktionalität und kann zur Laufzeit nachgeladen oder entfernt werden</a:t>
            </a:r>
          </a:p>
          <a:p>
            <a:pPr lvl="1" fontAlgn="t"/>
            <a:r>
              <a:rPr lang="de-DE" dirty="0">
                <a:solidFill>
                  <a:schemeClr val="tx1"/>
                </a:solidFill>
              </a:rPr>
              <a:t>Beispiele: Linux, FreeBSD, OS X (</a:t>
            </a:r>
            <a:r>
              <a:rPr lang="de-DE" dirty="0">
                <a:solidFill>
                  <a:schemeClr val="tx1"/>
                </a:solidFill>
                <a:hlinkClick r:id="rId3"/>
              </a:rPr>
              <a:t>Link</a:t>
            </a:r>
            <a:r>
              <a:rPr lang="de-DE" dirty="0">
                <a:solidFill>
                  <a:schemeClr val="tx1"/>
                </a:solidFill>
              </a:rPr>
              <a:t>)</a:t>
            </a:r>
            <a:endParaRPr lang="de-DE" dirty="0"/>
          </a:p>
          <a:p>
            <a:pPr fontAlgn="t"/>
            <a:r>
              <a:rPr lang="de-DE" dirty="0"/>
              <a:t>Vorteile?</a:t>
            </a:r>
          </a:p>
          <a:p>
            <a:pPr fontAlgn="t"/>
            <a:endParaRPr lang="de-DE" sz="2700"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63</a:t>
            </a:fld>
            <a:endParaRPr lang="en-US" noProof="0" dirty="0"/>
          </a:p>
        </p:txBody>
      </p:sp>
      <p:sp>
        <p:nvSpPr>
          <p:cNvPr id="5" name="Inhaltsplatzhalter 2"/>
          <p:cNvSpPr txBox="1">
            <a:spLocks/>
          </p:cNvSpPr>
          <p:nvPr/>
        </p:nvSpPr>
        <p:spPr>
          <a:xfrm>
            <a:off x="395536" y="3717470"/>
            <a:ext cx="8579296" cy="3023898"/>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t"/>
            <a:r>
              <a:rPr lang="de-DE" dirty="0"/>
              <a:t>Erweiterbarkeit ohne Overhead und Reboot</a:t>
            </a:r>
          </a:p>
          <a:p>
            <a:pPr lvl="1" fontAlgn="t"/>
            <a:r>
              <a:rPr lang="de-DE" dirty="0"/>
              <a:t>Ohne LKM, jede neue Funktionalität müsste in den Basis-Kernel eingebunden werden =&gt; sehr großer Kernel</a:t>
            </a:r>
          </a:p>
          <a:p>
            <a:pPr lvl="2" fontAlgn="t"/>
            <a:r>
              <a:rPr lang="de-DE" dirty="0"/>
              <a:t>Bei Änderungen nötig: 1. Kernel neu kompilieren, 2. Reboot</a:t>
            </a:r>
          </a:p>
          <a:p>
            <a:pPr lvl="1" fontAlgn="t"/>
            <a:r>
              <a:rPr lang="de-DE" dirty="0"/>
              <a:t>Mit LKM kann neue Funktionalität (via ein Modul) zur Laufzeit geladen werden, nur wenn es benötigt wird</a:t>
            </a:r>
          </a:p>
          <a:p>
            <a:pPr fontAlgn="t"/>
            <a:r>
              <a:rPr lang="de-DE" dirty="0"/>
              <a:t>Beschleunigte Entwicklung: Jedes Modul kann separat kompiliert werden</a:t>
            </a:r>
          </a:p>
          <a:p>
            <a:pPr fontAlgn="t"/>
            <a:endParaRPr lang="de-DE" sz="2700" dirty="0"/>
          </a:p>
        </p:txBody>
      </p:sp>
    </p:spTree>
    <p:extLst>
      <p:ext uri="{BB962C8B-B14F-4D97-AF65-F5344CB8AC3E}">
        <p14:creationId xmlns:p14="http://schemas.microsoft.com/office/powerpoint/2010/main" val="363978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Wie fehlerfrei sind Betriebssysteme?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64</a:t>
            </a:fld>
            <a:endParaRPr lang="en-US" noProof="0" dirty="0"/>
          </a:p>
        </p:txBody>
      </p:sp>
      <p:sp>
        <p:nvSpPr>
          <p:cNvPr id="4" name="Inhaltsplatzhalter 3"/>
          <p:cNvSpPr>
            <a:spLocks noGrp="1"/>
          </p:cNvSpPr>
          <p:nvPr>
            <p:ph sz="quarter" idx="1"/>
          </p:nvPr>
        </p:nvSpPr>
        <p:spPr>
          <a:xfrm>
            <a:off x="457200" y="1219200"/>
            <a:ext cx="8229600" cy="1129680"/>
          </a:xfrm>
        </p:spPr>
        <p:txBody>
          <a:bodyPr/>
          <a:lstStyle/>
          <a:p>
            <a:r>
              <a:rPr lang="de-DE" dirty="0"/>
              <a:t>Wie viele Fehler könnte ein monolithisches BS mit 5 Mio. Codezeilen haben?</a:t>
            </a:r>
          </a:p>
          <a:p>
            <a:endParaRPr lang="de-DE" dirty="0"/>
          </a:p>
        </p:txBody>
      </p:sp>
      <p:sp>
        <p:nvSpPr>
          <p:cNvPr id="5" name="Inhaltsplatzhalter 3"/>
          <p:cNvSpPr txBox="1">
            <a:spLocks/>
          </p:cNvSpPr>
          <p:nvPr/>
        </p:nvSpPr>
        <p:spPr>
          <a:xfrm>
            <a:off x="611560" y="2276872"/>
            <a:ext cx="8229600" cy="3937992"/>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600" dirty="0"/>
              <a:t>Erfahrungsgröße: 10 Fehler pro 1000 Codezeilen in soliden industriellen Systemen</a:t>
            </a:r>
          </a:p>
          <a:p>
            <a:pPr marL="274320" lvl="0" indent="-274320">
              <a:spcBef>
                <a:spcPts val="600"/>
              </a:spcBef>
              <a:buClr>
                <a:schemeClr val="accent1"/>
              </a:buClr>
              <a:buSzPct val="76000"/>
              <a:buFont typeface="Wingdings 3"/>
              <a:buChar char=""/>
            </a:pPr>
            <a:r>
              <a:rPr lang="de-DE" sz="2600" dirty="0"/>
              <a:t>D.h. ein monolithisches BS mit 5 Mio. Codezeilen hat (wahrscheinlich) ca. 50.000 Fehler im Kern</a:t>
            </a:r>
          </a:p>
          <a:p>
            <a:pPr marL="274320" lvl="0" indent="-274320">
              <a:spcBef>
                <a:spcPts val="600"/>
              </a:spcBef>
              <a:buClr>
                <a:schemeClr val="accent1"/>
              </a:buClr>
              <a:buSzPct val="76000"/>
              <a:buFont typeface="Wingdings 3"/>
              <a:buChar char=""/>
            </a:pPr>
            <a:r>
              <a:rPr lang="de-DE" sz="2600" dirty="0"/>
              <a:t>Deshalb gab es den </a:t>
            </a:r>
            <a:r>
              <a:rPr lang="de-DE" sz="2600" dirty="0" err="1"/>
              <a:t>Reset</a:t>
            </a:r>
            <a:r>
              <a:rPr lang="de-DE" sz="2600" dirty="0"/>
              <a:t>-Knopf </a:t>
            </a:r>
            <a:r>
              <a:rPr lang="de-DE" sz="2600" dirty="0">
                <a:sym typeface="Wingdings" pitchFamily="2" charset="2"/>
              </a:rPr>
              <a:t></a:t>
            </a:r>
            <a:endParaRPr lang="de-DE" sz="2600" dirty="0"/>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de-DE" sz="26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8220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Mikrokerne</a:t>
            </a:r>
          </a:p>
        </p:txBody>
      </p:sp>
      <p:sp>
        <p:nvSpPr>
          <p:cNvPr id="3" name="Inhaltsplatzhalter 2"/>
          <p:cNvSpPr>
            <a:spLocks noGrp="1"/>
          </p:cNvSpPr>
          <p:nvPr>
            <p:ph sz="quarter" idx="1"/>
          </p:nvPr>
        </p:nvSpPr>
        <p:spPr>
          <a:xfrm>
            <a:off x="457200" y="1219200"/>
            <a:ext cx="8435280" cy="5090120"/>
          </a:xfrm>
        </p:spPr>
        <p:txBody>
          <a:bodyPr>
            <a:normAutofit/>
          </a:bodyPr>
          <a:lstStyle/>
          <a:p>
            <a:pPr fontAlgn="t"/>
            <a:r>
              <a:rPr lang="de-DE" dirty="0"/>
              <a:t>Deshalb hat man versucht, so wenig Code wie möglich in dem Kernmodus (= im </a:t>
            </a:r>
            <a:r>
              <a:rPr lang="de-DE" dirty="0" err="1"/>
              <a:t>Kernel</a:t>
            </a:r>
            <a:r>
              <a:rPr lang="de-DE" dirty="0"/>
              <a:t>) auszuführen </a:t>
            </a:r>
          </a:p>
          <a:p>
            <a:pPr lvl="1" fontAlgn="t"/>
            <a:r>
              <a:rPr lang="de-DE" sz="2400" dirty="0"/>
              <a:t>Fehler im Kern können das System sofort zu Fall bringen</a:t>
            </a:r>
          </a:p>
          <a:p>
            <a:pPr lvl="1" fontAlgn="t"/>
            <a:r>
              <a:rPr lang="de-DE" sz="2400" dirty="0"/>
              <a:t>Idee: Das BS wird in sehr kleine, wohldefinierte Module aufgespalten</a:t>
            </a:r>
          </a:p>
          <a:p>
            <a:pPr fontAlgn="t"/>
            <a:r>
              <a:rPr lang="de-DE" dirty="0"/>
              <a:t>Nur eines von denen – der </a:t>
            </a:r>
            <a:r>
              <a:rPr lang="de-DE" b="1" dirty="0">
                <a:solidFill>
                  <a:srgbClr val="FF0000"/>
                </a:solidFill>
              </a:rPr>
              <a:t>Mikrokern</a:t>
            </a:r>
            <a:r>
              <a:rPr lang="de-DE" dirty="0"/>
              <a:t> – wird im Kernmodus ausgeführt</a:t>
            </a:r>
          </a:p>
          <a:p>
            <a:pPr fontAlgn="t"/>
            <a:r>
              <a:rPr lang="de-DE" dirty="0">
                <a:solidFill>
                  <a:schemeClr val="tx1"/>
                </a:solidFill>
              </a:rPr>
              <a:t>Alle anderen Module (auch </a:t>
            </a:r>
            <a:r>
              <a:rPr lang="de-DE" dirty="0">
                <a:solidFill>
                  <a:srgbClr val="0070C0"/>
                </a:solidFill>
              </a:rPr>
              <a:t>Gerätetreiber</a:t>
            </a:r>
            <a:r>
              <a:rPr lang="de-DE" dirty="0">
                <a:solidFill>
                  <a:schemeClr val="tx1"/>
                </a:solidFill>
              </a:rPr>
              <a:t>) werden im Benutzermodus ausgeführt </a:t>
            </a:r>
          </a:p>
          <a:p>
            <a:pPr lvl="1" fontAlgn="t"/>
            <a:r>
              <a:rPr lang="de-DE" dirty="0"/>
              <a:t>Ein Fehler hier wird das System nicht sofort lahmlegen</a:t>
            </a:r>
            <a:r>
              <a:rPr lang="de-DE" dirty="0">
                <a:solidFill>
                  <a:schemeClr val="tx1"/>
                </a:solidFill>
              </a:rPr>
              <a:t> </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65</a:t>
            </a:fld>
            <a:endParaRPr lang="en-US" noProof="0" dirty="0"/>
          </a:p>
        </p:txBody>
      </p:sp>
    </p:spTree>
    <p:extLst>
      <p:ext uri="{BB962C8B-B14F-4D97-AF65-F5344CB8AC3E}">
        <p14:creationId xmlns:p14="http://schemas.microsoft.com/office/powerpoint/2010/main" val="35284678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Mikrokerne /2</a:t>
            </a:r>
          </a:p>
        </p:txBody>
      </p:sp>
      <p:sp>
        <p:nvSpPr>
          <p:cNvPr id="3" name="Inhaltsplatzhalter 2"/>
          <p:cNvSpPr>
            <a:spLocks noGrp="1"/>
          </p:cNvSpPr>
          <p:nvPr>
            <p:ph sz="quarter" idx="1"/>
          </p:nvPr>
        </p:nvSpPr>
        <p:spPr>
          <a:xfrm>
            <a:off x="457200" y="1219200"/>
            <a:ext cx="8435280" cy="5638800"/>
          </a:xfrm>
        </p:spPr>
        <p:txBody>
          <a:bodyPr>
            <a:normAutofit/>
          </a:bodyPr>
          <a:lstStyle/>
          <a:p>
            <a:pPr fontAlgn="t"/>
            <a:r>
              <a:rPr lang="de-DE" dirty="0"/>
              <a:t>Die Kommunikation erfolgt zwischen diesen Modulen durch </a:t>
            </a:r>
            <a:r>
              <a:rPr lang="de-DE" b="1" dirty="0">
                <a:solidFill>
                  <a:srgbClr val="FF0000"/>
                </a:solidFill>
              </a:rPr>
              <a:t>Nachrichtenaustausch</a:t>
            </a:r>
            <a:r>
              <a:rPr lang="de-DE" dirty="0"/>
              <a:t> (</a:t>
            </a:r>
            <a:r>
              <a:rPr lang="de-DE" b="1" dirty="0" err="1">
                <a:solidFill>
                  <a:srgbClr val="FF0000"/>
                </a:solidFill>
              </a:rPr>
              <a:t>message</a:t>
            </a:r>
            <a:r>
              <a:rPr lang="de-DE" b="1" dirty="0">
                <a:solidFill>
                  <a:srgbClr val="FF0000"/>
                </a:solidFill>
              </a:rPr>
              <a:t> </a:t>
            </a:r>
            <a:r>
              <a:rPr lang="de-DE" b="1" dirty="0" err="1">
                <a:solidFill>
                  <a:srgbClr val="FF0000"/>
                </a:solidFill>
              </a:rPr>
              <a:t>passing</a:t>
            </a:r>
            <a:r>
              <a:rPr lang="de-DE" dirty="0"/>
              <a:t>)</a:t>
            </a:r>
          </a:p>
          <a:p>
            <a:pPr fontAlgn="t"/>
            <a:r>
              <a:rPr lang="de-DE" dirty="0"/>
              <a:t>Vorteile:</a:t>
            </a:r>
          </a:p>
          <a:p>
            <a:pPr lvl="1" fontAlgn="t"/>
            <a:r>
              <a:rPr lang="de-DE" sz="2400" dirty="0"/>
              <a:t>Einfacher, den Mikrokern zu erweitern</a:t>
            </a:r>
          </a:p>
          <a:p>
            <a:pPr lvl="1" fontAlgn="t"/>
            <a:r>
              <a:rPr lang="de-DE" sz="2400" dirty="0"/>
              <a:t>Einfacher, das BS auf neue Architekturen zu portieren</a:t>
            </a:r>
          </a:p>
          <a:p>
            <a:pPr lvl="1" fontAlgn="t"/>
            <a:r>
              <a:rPr lang="de-DE" sz="2400" dirty="0"/>
              <a:t>Verlässlicher, da weniger Code im Kernel-Modus ausgeführt wird</a:t>
            </a:r>
          </a:p>
          <a:p>
            <a:pPr lvl="1" fontAlgn="t"/>
            <a:r>
              <a:rPr lang="de-DE" sz="2400" dirty="0"/>
              <a:t>Mehr Sicherheit</a:t>
            </a:r>
          </a:p>
          <a:p>
            <a:pPr fontAlgn="t"/>
            <a:r>
              <a:rPr lang="de-DE" dirty="0"/>
              <a:t>Nachteile:</a:t>
            </a:r>
          </a:p>
          <a:p>
            <a:pPr lvl="1" fontAlgn="t"/>
            <a:r>
              <a:rPr lang="de-DE" sz="2400" dirty="0"/>
              <a:t>Hoher Overhead bei der Kommunikation zwischen den Modulen</a:t>
            </a:r>
          </a:p>
          <a:p>
            <a:pPr lvl="1" fontAlgn="t"/>
            <a:r>
              <a:rPr lang="de-DE" sz="2400" dirty="0">
                <a:solidFill>
                  <a:schemeClr val="tx1"/>
                </a:solidFill>
              </a:rPr>
              <a:t>Geschichte der frühen Versionen von Windows NT</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66</a:t>
            </a:fld>
            <a:endParaRPr lang="en-US" noProof="0" dirty="0"/>
          </a:p>
        </p:txBody>
      </p:sp>
    </p:spTree>
    <p:extLst>
      <p:ext uri="{BB962C8B-B14F-4D97-AF65-F5344CB8AC3E}">
        <p14:creationId xmlns:p14="http://schemas.microsoft.com/office/powerpoint/2010/main" val="5810490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Mikrokerne – </a:t>
            </a:r>
            <a:r>
              <a:rPr lang="de-DE" b="1" dirty="0">
                <a:solidFill>
                  <a:srgbClr val="FF0000"/>
                </a:solidFill>
              </a:rPr>
              <a:t>MINIX 3</a:t>
            </a:r>
          </a:p>
        </p:txBody>
      </p:sp>
      <p:sp>
        <p:nvSpPr>
          <p:cNvPr id="3" name="Inhaltsplatzhalter 2"/>
          <p:cNvSpPr>
            <a:spLocks noGrp="1"/>
          </p:cNvSpPr>
          <p:nvPr>
            <p:ph sz="quarter" idx="1"/>
          </p:nvPr>
        </p:nvSpPr>
        <p:spPr>
          <a:xfrm>
            <a:off x="539552" y="1268760"/>
            <a:ext cx="8435280" cy="1656184"/>
          </a:xfrm>
        </p:spPr>
        <p:txBody>
          <a:bodyPr>
            <a:normAutofit fontScale="85000" lnSpcReduction="10000"/>
          </a:bodyPr>
          <a:lstStyle/>
          <a:p>
            <a:pPr fontAlgn="t"/>
            <a:r>
              <a:rPr lang="de-DE" dirty="0"/>
              <a:t>Mikrokern: 3200 Zeilen C und 800 Zeilen Assembler-Code</a:t>
            </a:r>
          </a:p>
          <a:p>
            <a:pPr lvl="1" fontAlgn="t"/>
            <a:r>
              <a:rPr lang="de-DE" dirty="0"/>
              <a:t>35 Kernaufrufe</a:t>
            </a:r>
          </a:p>
          <a:p>
            <a:pPr fontAlgn="t"/>
            <a:r>
              <a:rPr lang="de-DE" b="1" dirty="0">
                <a:solidFill>
                  <a:srgbClr val="FF0000"/>
                </a:solidFill>
              </a:rPr>
              <a:t>Reincarnation-Server</a:t>
            </a:r>
            <a:r>
              <a:rPr lang="de-DE" dirty="0"/>
              <a:t>: Automatischer Neustart von Modulen</a:t>
            </a:r>
          </a:p>
          <a:p>
            <a:pPr fontAlgn="t"/>
            <a:r>
              <a:rPr lang="de-DE" dirty="0"/>
              <a:t>POSIX-Konform, Open-Source: www.minix3.org</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67</a:t>
            </a:fld>
            <a:endParaRPr lang="en-US" noProof="0" dirty="0"/>
          </a:p>
        </p:txBody>
      </p:sp>
      <p:pic>
        <p:nvPicPr>
          <p:cNvPr id="5" name="Picture 6" descr="D:\b\b4\IBM\01-26.jpg"/>
          <p:cNvPicPr>
            <a:picLocks noChangeAspect="1" noChangeArrowheads="1"/>
          </p:cNvPicPr>
          <p:nvPr/>
        </p:nvPicPr>
        <p:blipFill>
          <a:blip r:embed="rId3" cstate="print"/>
          <a:srcRect/>
          <a:stretch>
            <a:fillRect/>
          </a:stretch>
        </p:blipFill>
        <p:spPr bwMode="auto">
          <a:xfrm>
            <a:off x="827584" y="2924944"/>
            <a:ext cx="7272808" cy="3506682"/>
          </a:xfrm>
          <a:prstGeom prst="rect">
            <a:avLst/>
          </a:prstGeom>
          <a:noFill/>
        </p:spPr>
      </p:pic>
    </p:spTree>
    <p:extLst>
      <p:ext uri="{BB962C8B-B14F-4D97-AF65-F5344CB8AC3E}">
        <p14:creationId xmlns:p14="http://schemas.microsoft.com/office/powerpoint/2010/main" val="34589162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Das Client-Server-Modell</a:t>
            </a:r>
          </a:p>
        </p:txBody>
      </p:sp>
      <p:sp>
        <p:nvSpPr>
          <p:cNvPr id="3" name="Inhaltsplatzhalter 2"/>
          <p:cNvSpPr>
            <a:spLocks noGrp="1"/>
          </p:cNvSpPr>
          <p:nvPr>
            <p:ph sz="quarter" idx="1"/>
          </p:nvPr>
        </p:nvSpPr>
        <p:spPr>
          <a:xfrm>
            <a:off x="457200" y="1219200"/>
            <a:ext cx="8435280" cy="3073896"/>
          </a:xfrm>
        </p:spPr>
        <p:txBody>
          <a:bodyPr>
            <a:normAutofit fontScale="92500" lnSpcReduction="10000"/>
          </a:bodyPr>
          <a:lstStyle/>
          <a:p>
            <a:pPr fontAlgn="t"/>
            <a:r>
              <a:rPr lang="de-DE" dirty="0"/>
              <a:t>Eine Variante der Mikrokern-Idee ist die Einteilung der Prozesse in zwei Klassen</a:t>
            </a:r>
          </a:p>
          <a:p>
            <a:pPr lvl="1" fontAlgn="t"/>
            <a:r>
              <a:rPr lang="de-DE" b="1" dirty="0">
                <a:solidFill>
                  <a:srgbClr val="FF0000"/>
                </a:solidFill>
              </a:rPr>
              <a:t>Server</a:t>
            </a:r>
            <a:r>
              <a:rPr lang="de-DE" dirty="0">
                <a:solidFill>
                  <a:schemeClr val="tx1"/>
                </a:solidFill>
              </a:rPr>
              <a:t>, von denen jeder einige Dienste zu Verfügung stellt</a:t>
            </a:r>
          </a:p>
          <a:p>
            <a:pPr lvl="2" fontAlgn="t"/>
            <a:r>
              <a:rPr lang="de-DE" sz="2200" dirty="0"/>
              <a:t>Im Prinzip (eine Menge von) Mikrokernen</a:t>
            </a:r>
            <a:endParaRPr lang="de-DE" dirty="0">
              <a:solidFill>
                <a:schemeClr val="tx1"/>
              </a:solidFill>
            </a:endParaRPr>
          </a:p>
          <a:p>
            <a:pPr lvl="1" fontAlgn="t"/>
            <a:r>
              <a:rPr lang="de-DE" b="1" dirty="0">
                <a:solidFill>
                  <a:srgbClr val="FF0000"/>
                </a:solidFill>
              </a:rPr>
              <a:t>Clients</a:t>
            </a:r>
            <a:r>
              <a:rPr lang="de-DE" dirty="0">
                <a:solidFill>
                  <a:schemeClr val="tx1"/>
                </a:solidFill>
              </a:rPr>
              <a:t>, die solche Dienste nutzen</a:t>
            </a:r>
          </a:p>
          <a:p>
            <a:pPr lvl="2" fontAlgn="t"/>
            <a:r>
              <a:rPr lang="de-DE" sz="2200" dirty="0"/>
              <a:t>Weniger kritische Prozesse</a:t>
            </a:r>
          </a:p>
          <a:p>
            <a:pPr fontAlgn="t"/>
            <a:r>
              <a:rPr lang="de-DE" dirty="0">
                <a:solidFill>
                  <a:schemeClr val="tx1"/>
                </a:solidFill>
              </a:rPr>
              <a:t>Kommunikation auch über Nachrichten</a:t>
            </a:r>
          </a:p>
          <a:p>
            <a:pPr fontAlgn="t"/>
            <a:r>
              <a:rPr lang="de-DE" dirty="0"/>
              <a:t>Verallgemeinerung: Verteilung der Prozesse</a:t>
            </a: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68</a:t>
            </a:fld>
            <a:endParaRPr lang="en-US" noProof="0" dirty="0"/>
          </a:p>
        </p:txBody>
      </p:sp>
      <p:pic>
        <p:nvPicPr>
          <p:cNvPr id="5" name="Picture 1030" descr="D:\b\b4\IBM\01-27.jpg"/>
          <p:cNvPicPr>
            <a:picLocks noChangeAspect="1" noChangeArrowheads="1"/>
          </p:cNvPicPr>
          <p:nvPr/>
        </p:nvPicPr>
        <p:blipFill>
          <a:blip r:embed="rId3" cstate="print"/>
          <a:srcRect/>
          <a:stretch>
            <a:fillRect/>
          </a:stretch>
        </p:blipFill>
        <p:spPr bwMode="auto">
          <a:xfrm>
            <a:off x="539552" y="4293096"/>
            <a:ext cx="8009657" cy="2160240"/>
          </a:xfrm>
          <a:prstGeom prst="rect">
            <a:avLst/>
          </a:prstGeom>
          <a:noFill/>
        </p:spPr>
      </p:pic>
    </p:spTree>
    <p:extLst>
      <p:ext uri="{BB962C8B-B14F-4D97-AF65-F5344CB8AC3E}">
        <p14:creationId xmlns:p14="http://schemas.microsoft.com/office/powerpoint/2010/main" val="33021028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Virtuelle Maschinen /1</a:t>
            </a:r>
          </a:p>
        </p:txBody>
      </p:sp>
      <p:sp>
        <p:nvSpPr>
          <p:cNvPr id="3" name="Inhaltsplatzhalter 2"/>
          <p:cNvSpPr>
            <a:spLocks noGrp="1"/>
          </p:cNvSpPr>
          <p:nvPr>
            <p:ph sz="quarter" idx="1"/>
          </p:nvPr>
        </p:nvSpPr>
        <p:spPr>
          <a:xfrm>
            <a:off x="457200" y="1219200"/>
            <a:ext cx="8435280" cy="3865984"/>
          </a:xfrm>
        </p:spPr>
        <p:txBody>
          <a:bodyPr>
            <a:normAutofit fontScale="92500" lnSpcReduction="10000"/>
          </a:bodyPr>
          <a:lstStyle/>
          <a:p>
            <a:pPr fontAlgn="t"/>
            <a:r>
              <a:rPr lang="de-DE" dirty="0">
                <a:solidFill>
                  <a:schemeClr val="tx1"/>
                </a:solidFill>
              </a:rPr>
              <a:t>Beobachtung: </a:t>
            </a:r>
            <a:r>
              <a:rPr lang="de-DE" dirty="0"/>
              <a:t>D</a:t>
            </a:r>
            <a:r>
              <a:rPr lang="de-DE" dirty="0">
                <a:solidFill>
                  <a:schemeClr val="tx1"/>
                </a:solidFill>
              </a:rPr>
              <a:t>as Konzept der erweiterten Maschine ist </a:t>
            </a:r>
            <a:r>
              <a:rPr lang="de-DE" u="sng" dirty="0">
                <a:solidFill>
                  <a:schemeClr val="tx1"/>
                </a:solidFill>
              </a:rPr>
              <a:t>unabhängig</a:t>
            </a:r>
            <a:r>
              <a:rPr lang="de-DE" dirty="0">
                <a:solidFill>
                  <a:schemeClr val="tx1"/>
                </a:solidFill>
              </a:rPr>
              <a:t> von dem der </a:t>
            </a:r>
            <a:r>
              <a:rPr lang="de-DE" b="1" dirty="0">
                <a:solidFill>
                  <a:srgbClr val="0070C0"/>
                </a:solidFill>
              </a:rPr>
              <a:t>Multiprogrammierung</a:t>
            </a:r>
            <a:r>
              <a:rPr lang="de-DE" dirty="0">
                <a:solidFill>
                  <a:schemeClr val="tx1"/>
                </a:solidFill>
              </a:rPr>
              <a:t> (MP)</a:t>
            </a:r>
          </a:p>
          <a:p>
            <a:pPr fontAlgn="t"/>
            <a:r>
              <a:rPr lang="de-DE" dirty="0"/>
              <a:t>Idee: (</a:t>
            </a:r>
            <a:r>
              <a:rPr lang="de-DE" dirty="0">
                <a:solidFill>
                  <a:srgbClr val="FF0000"/>
                </a:solidFill>
              </a:rPr>
              <a:t>1</a:t>
            </a:r>
            <a:r>
              <a:rPr lang="de-DE" dirty="0"/>
              <a:t>) man simuliert mehrere blanke Maschinen und (</a:t>
            </a:r>
            <a:r>
              <a:rPr lang="de-DE" dirty="0">
                <a:solidFill>
                  <a:srgbClr val="FF0000"/>
                </a:solidFill>
              </a:rPr>
              <a:t>2</a:t>
            </a:r>
            <a:r>
              <a:rPr lang="de-DE" dirty="0"/>
              <a:t>) lässt in jeder von ihnen ein eigenes BS laufen  </a:t>
            </a:r>
          </a:p>
          <a:p>
            <a:pPr fontAlgn="t"/>
            <a:r>
              <a:rPr lang="de-DE" dirty="0"/>
              <a:t>Die Simulation erfolgt durch eine Softwareschicht (i.A. </a:t>
            </a:r>
            <a:r>
              <a:rPr lang="de-DE" dirty="0">
                <a:hlinkClick r:id="rId3"/>
              </a:rPr>
              <a:t>Hypervisor</a:t>
            </a:r>
            <a:r>
              <a:rPr lang="de-DE" dirty="0"/>
              <a:t>)</a:t>
            </a:r>
          </a:p>
          <a:p>
            <a:pPr lvl="1" fontAlgn="t"/>
            <a:r>
              <a:rPr lang="de-DE" sz="2400" dirty="0"/>
              <a:t>Die simulierte Hardware nennt man </a:t>
            </a:r>
            <a:r>
              <a:rPr lang="de-DE" sz="2400" b="1" dirty="0">
                <a:solidFill>
                  <a:srgbClr val="FF0000"/>
                </a:solidFill>
              </a:rPr>
              <a:t>virtuelle Maschine </a:t>
            </a:r>
            <a:r>
              <a:rPr lang="de-DE" sz="2400" dirty="0"/>
              <a:t>(</a:t>
            </a:r>
            <a:r>
              <a:rPr lang="de-DE" sz="2400" b="1" dirty="0">
                <a:solidFill>
                  <a:srgbClr val="FF0000"/>
                </a:solidFill>
              </a:rPr>
              <a:t>VM</a:t>
            </a:r>
            <a:r>
              <a:rPr lang="de-DE" sz="2400" dirty="0"/>
              <a:t>) </a:t>
            </a:r>
            <a:endParaRPr lang="de-DE" sz="2400" b="1" dirty="0">
              <a:solidFill>
                <a:srgbClr val="FF0000"/>
              </a:solidFill>
            </a:endParaRPr>
          </a:p>
          <a:p>
            <a:pPr fontAlgn="t"/>
            <a:r>
              <a:rPr lang="de-DE" dirty="0"/>
              <a:t>(1): MP entsteht durch den Wechsel zwischen VMs</a:t>
            </a:r>
          </a:p>
          <a:p>
            <a:pPr fontAlgn="t"/>
            <a:r>
              <a:rPr lang="de-DE" dirty="0"/>
              <a:t>(2): Jede VM wird durch eigenes BS in eine erweiterte Maschine umgewandelt </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69</a:t>
            </a:fld>
            <a:endParaRPr lang="en-US" noProof="0" dirty="0"/>
          </a:p>
        </p:txBody>
      </p:sp>
      <p:grpSp>
        <p:nvGrpSpPr>
          <p:cNvPr id="14" name="Gruppieren 13"/>
          <p:cNvGrpSpPr/>
          <p:nvPr/>
        </p:nvGrpSpPr>
        <p:grpSpPr>
          <a:xfrm>
            <a:off x="2483768" y="5085184"/>
            <a:ext cx="3816424" cy="1656184"/>
            <a:chOff x="2483768" y="5085184"/>
            <a:chExt cx="3816424" cy="1656184"/>
          </a:xfrm>
        </p:grpSpPr>
        <p:sp>
          <p:nvSpPr>
            <p:cNvPr id="6" name="Rechteck 5"/>
            <p:cNvSpPr/>
            <p:nvPr/>
          </p:nvSpPr>
          <p:spPr>
            <a:xfrm>
              <a:off x="2483768" y="6381328"/>
              <a:ext cx="3816424" cy="36004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de-DE" dirty="0"/>
                <a:t>Hardware</a:t>
              </a:r>
            </a:p>
          </p:txBody>
        </p:sp>
        <p:sp>
          <p:nvSpPr>
            <p:cNvPr id="7" name="Rechteck 6"/>
            <p:cNvSpPr/>
            <p:nvPr/>
          </p:nvSpPr>
          <p:spPr>
            <a:xfrm>
              <a:off x="2483768" y="5949280"/>
              <a:ext cx="3816424" cy="36004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de-DE" dirty="0"/>
                <a:t>Hypervisor</a:t>
              </a:r>
            </a:p>
          </p:txBody>
        </p:sp>
        <p:sp>
          <p:nvSpPr>
            <p:cNvPr id="8" name="Rechteck 7"/>
            <p:cNvSpPr/>
            <p:nvPr/>
          </p:nvSpPr>
          <p:spPr>
            <a:xfrm>
              <a:off x="2483768" y="5517232"/>
              <a:ext cx="1224136" cy="36004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VM1</a:t>
              </a:r>
            </a:p>
          </p:txBody>
        </p:sp>
        <p:sp>
          <p:nvSpPr>
            <p:cNvPr id="9" name="Rechteck 8"/>
            <p:cNvSpPr/>
            <p:nvPr/>
          </p:nvSpPr>
          <p:spPr>
            <a:xfrm>
              <a:off x="3779912" y="5517232"/>
              <a:ext cx="1224136" cy="36004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VM2</a:t>
              </a:r>
            </a:p>
          </p:txBody>
        </p:sp>
        <p:sp>
          <p:nvSpPr>
            <p:cNvPr id="10" name="Rechteck 9"/>
            <p:cNvSpPr/>
            <p:nvPr/>
          </p:nvSpPr>
          <p:spPr>
            <a:xfrm>
              <a:off x="5076056" y="5517232"/>
              <a:ext cx="1224136" cy="36004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dirty="0"/>
                <a:t>VM3</a:t>
              </a:r>
            </a:p>
          </p:txBody>
        </p:sp>
        <p:sp>
          <p:nvSpPr>
            <p:cNvPr id="11" name="Rechteck 10"/>
            <p:cNvSpPr/>
            <p:nvPr/>
          </p:nvSpPr>
          <p:spPr>
            <a:xfrm>
              <a:off x="2483768" y="5085184"/>
              <a:ext cx="1224136" cy="36004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DE" dirty="0" err="1"/>
                <a:t>BSa</a:t>
              </a:r>
              <a:endParaRPr lang="de-DE" dirty="0"/>
            </a:p>
          </p:txBody>
        </p:sp>
        <p:sp>
          <p:nvSpPr>
            <p:cNvPr id="12" name="Rechteck 11"/>
            <p:cNvSpPr/>
            <p:nvPr/>
          </p:nvSpPr>
          <p:spPr>
            <a:xfrm>
              <a:off x="3779912" y="5085184"/>
              <a:ext cx="1224136" cy="36004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DE" dirty="0" err="1"/>
                <a:t>BSb</a:t>
              </a:r>
              <a:endParaRPr lang="de-DE" dirty="0"/>
            </a:p>
          </p:txBody>
        </p:sp>
        <p:sp>
          <p:nvSpPr>
            <p:cNvPr id="13" name="Rechteck 12"/>
            <p:cNvSpPr/>
            <p:nvPr/>
          </p:nvSpPr>
          <p:spPr>
            <a:xfrm>
              <a:off x="5076056" y="5085184"/>
              <a:ext cx="1224136" cy="36004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de-DE" dirty="0" err="1"/>
                <a:t>BSc</a:t>
              </a:r>
              <a:endParaRPr lang="de-DE" dirty="0"/>
            </a:p>
          </p:txBody>
        </p:sp>
      </p:grpSp>
    </p:spTree>
    <p:extLst>
      <p:ext uri="{BB962C8B-B14F-4D97-AF65-F5344CB8AC3E}">
        <p14:creationId xmlns:p14="http://schemas.microsoft.com/office/powerpoint/2010/main" val="1482909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Virtuelle Maschinen /2</a:t>
            </a:r>
          </a:p>
        </p:txBody>
      </p:sp>
      <p:sp>
        <p:nvSpPr>
          <p:cNvPr id="3" name="Inhaltsplatzhalter 2"/>
          <p:cNvSpPr>
            <a:spLocks noGrp="1"/>
          </p:cNvSpPr>
          <p:nvPr>
            <p:ph sz="quarter" idx="1"/>
          </p:nvPr>
        </p:nvSpPr>
        <p:spPr>
          <a:xfrm>
            <a:off x="457200" y="1219200"/>
            <a:ext cx="8435280" cy="3001888"/>
          </a:xfrm>
        </p:spPr>
        <p:txBody>
          <a:bodyPr>
            <a:normAutofit fontScale="92500" lnSpcReduction="20000"/>
          </a:bodyPr>
          <a:lstStyle/>
          <a:p>
            <a:pPr fontAlgn="t"/>
            <a:r>
              <a:rPr lang="de-DE" dirty="0"/>
              <a:t>Dieses Konzept wurde bei einem Nachfolger von OS/360 umgesetzt: </a:t>
            </a:r>
            <a:r>
              <a:rPr lang="de-DE" b="1" dirty="0">
                <a:solidFill>
                  <a:srgbClr val="FF0000"/>
                </a:solidFill>
              </a:rPr>
              <a:t>VM/370</a:t>
            </a:r>
            <a:r>
              <a:rPr lang="de-DE" dirty="0"/>
              <a:t> (später </a:t>
            </a:r>
            <a:r>
              <a:rPr lang="de-DE" b="1" dirty="0">
                <a:solidFill>
                  <a:srgbClr val="FF0000"/>
                </a:solidFill>
              </a:rPr>
              <a:t>z/VM</a:t>
            </a:r>
            <a:r>
              <a:rPr lang="de-DE" dirty="0"/>
              <a:t>)</a:t>
            </a:r>
          </a:p>
          <a:p>
            <a:pPr fontAlgn="t"/>
            <a:r>
              <a:rPr lang="de-DE" dirty="0"/>
              <a:t>VM/370 simulierte mehrere VMs </a:t>
            </a:r>
          </a:p>
          <a:p>
            <a:pPr lvl="1" fontAlgn="t"/>
            <a:r>
              <a:rPr lang="de-DE" dirty="0"/>
              <a:t>Und sorgte (durch Wechsel zwischen ihnen) für MP</a:t>
            </a:r>
          </a:p>
          <a:p>
            <a:pPr fontAlgn="t"/>
            <a:r>
              <a:rPr lang="de-DE" dirty="0"/>
              <a:t>Jede VM bekam ein eigenes BS =&gt; erweiterte Maschine</a:t>
            </a:r>
          </a:p>
          <a:p>
            <a:pPr lvl="1" fontAlgn="t"/>
            <a:r>
              <a:rPr lang="de-DE" dirty="0"/>
              <a:t>Damals oft OS/360 oder CMS (</a:t>
            </a:r>
            <a:r>
              <a:rPr lang="de-DE" dirty="0" err="1"/>
              <a:t>Conversational</a:t>
            </a:r>
            <a:r>
              <a:rPr lang="de-DE" dirty="0"/>
              <a:t> Monitor System)</a:t>
            </a:r>
          </a:p>
          <a:p>
            <a:pPr fontAlgn="t"/>
            <a:r>
              <a:rPr lang="de-DE" dirty="0"/>
              <a:t>Die Idee der VM wurde vor ca. 10 Jahren im PC-Bereich wiederentdeckt: </a:t>
            </a:r>
            <a:r>
              <a:rPr lang="de-DE" dirty="0" err="1"/>
              <a:t>VMWare</a:t>
            </a:r>
            <a:r>
              <a:rPr lang="de-DE" dirty="0"/>
              <a:t>, XEN, </a:t>
            </a:r>
            <a:r>
              <a:rPr lang="de-DE" dirty="0" err="1"/>
              <a:t>VirtualBox</a:t>
            </a:r>
            <a:r>
              <a:rPr lang="de-DE" dirty="0"/>
              <a:t>, ..</a:t>
            </a:r>
            <a:endParaRPr lang="de-DE" dirty="0">
              <a:solidFill>
                <a:schemeClr val="tx1"/>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70</a:t>
            </a:fld>
            <a:endParaRPr lang="en-US" noProof="0" dirty="0"/>
          </a:p>
        </p:txBody>
      </p:sp>
      <p:pic>
        <p:nvPicPr>
          <p:cNvPr id="5" name="Picture 6" descr="D:\b\b4\IBM\01-28.jpg"/>
          <p:cNvPicPr>
            <a:picLocks noChangeAspect="1" noChangeArrowheads="1"/>
          </p:cNvPicPr>
          <p:nvPr/>
        </p:nvPicPr>
        <p:blipFill>
          <a:blip r:embed="rId3" cstate="print"/>
          <a:srcRect/>
          <a:stretch>
            <a:fillRect/>
          </a:stretch>
        </p:blipFill>
        <p:spPr bwMode="auto">
          <a:xfrm>
            <a:off x="251520" y="4293096"/>
            <a:ext cx="8389226" cy="2232248"/>
          </a:xfrm>
          <a:prstGeom prst="rect">
            <a:avLst/>
          </a:prstGeom>
          <a:noFill/>
        </p:spPr>
      </p:pic>
    </p:spTree>
    <p:extLst>
      <p:ext uri="{BB962C8B-B14F-4D97-AF65-F5344CB8AC3E}">
        <p14:creationId xmlns:p14="http://schemas.microsoft.com/office/powerpoint/2010/main" val="19016661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Native Ausführung vs. Virtuelle Maschinen </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71</a:t>
            </a:fld>
            <a:endParaRPr lang="en-US" noProof="0" dirty="0"/>
          </a:p>
        </p:txBody>
      </p:sp>
      <p:pic>
        <p:nvPicPr>
          <p:cNvPr id="1026" name="Picture 2" descr="C:\Artur\Academic\Lehre\11.WS-IBN\VL\pics\vm vs non-vm.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827584" y="1484783"/>
            <a:ext cx="7344816" cy="45594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49896" y="6268670"/>
            <a:ext cx="1890261" cy="369332"/>
          </a:xfrm>
          <a:prstGeom prst="rect">
            <a:avLst/>
          </a:prstGeom>
          <a:noFill/>
        </p:spPr>
        <p:txBody>
          <a:bodyPr wrap="none" rtlCol="0">
            <a:spAutoFit/>
          </a:bodyPr>
          <a:lstStyle/>
          <a:p>
            <a:r>
              <a:rPr lang="de-DE" dirty="0"/>
              <a:t>Native Maschine</a:t>
            </a:r>
          </a:p>
        </p:txBody>
      </p:sp>
      <p:sp>
        <p:nvSpPr>
          <p:cNvPr id="7" name="TextBox 6"/>
          <p:cNvSpPr txBox="1"/>
          <p:nvPr/>
        </p:nvSpPr>
        <p:spPr>
          <a:xfrm>
            <a:off x="5436096" y="6268670"/>
            <a:ext cx="2262158" cy="369332"/>
          </a:xfrm>
          <a:prstGeom prst="rect">
            <a:avLst/>
          </a:prstGeom>
          <a:noFill/>
        </p:spPr>
        <p:txBody>
          <a:bodyPr wrap="none" rtlCol="0">
            <a:spAutoFit/>
          </a:bodyPr>
          <a:lstStyle/>
          <a:p>
            <a:r>
              <a:rPr lang="de-DE" dirty="0"/>
              <a:t>Ausführung mit VMs</a:t>
            </a:r>
          </a:p>
        </p:txBody>
      </p:sp>
    </p:spTree>
    <p:extLst>
      <p:ext uri="{BB962C8B-B14F-4D97-AF65-F5344CB8AC3E}">
        <p14:creationId xmlns:p14="http://schemas.microsoft.com/office/powerpoint/2010/main" val="25239929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 name="FIRSTARTUR@PCFZCHKFOEYEY5H8" val="467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7451</Words>
  <Application>Microsoft Office PowerPoint</Application>
  <PresentationFormat>Bildschirmpräsentation (4:3)</PresentationFormat>
  <Paragraphs>1010</Paragraphs>
  <Slides>71</Slides>
  <Notes>49</Notes>
  <HiddenSlides>2</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71</vt:i4>
      </vt:variant>
    </vt:vector>
  </HeadingPairs>
  <TitlesOfParts>
    <vt:vector size="78" baseType="lpstr">
      <vt:lpstr>Arial</vt:lpstr>
      <vt:lpstr>Calibri</vt:lpstr>
      <vt:lpstr>Google Sans</vt:lpstr>
      <vt:lpstr>Google Sans Text</vt:lpstr>
      <vt:lpstr>Wingdings</vt:lpstr>
      <vt:lpstr>Wingdings 3</vt:lpstr>
      <vt:lpstr>Okeanos</vt:lpstr>
      <vt:lpstr>Betriebssysteme und Netzwerke Vorlesung 3</vt:lpstr>
      <vt:lpstr>Quiz: Vorlesung 2 und davor (1-3 Antworten)</vt:lpstr>
      <vt:lpstr>Shells und Shell-Skripte (Fortsetzung)</vt:lpstr>
      <vt:lpstr>Bash-Skripte: Hello World</vt:lpstr>
      <vt:lpstr>Variablen, Quoting und Parameter</vt:lpstr>
      <vt:lpstr>Unser Anwendungsbeispiel: Der Watchdog</vt:lpstr>
      <vt:lpstr>Version 1: Watchdog mit festen Werten</vt:lpstr>
      <vt:lpstr>Version 1: watchdog_v1.sh</vt:lpstr>
      <vt:lpstr>while-Schleife, sleep und find -newer</vt:lpstr>
      <vt:lpstr>FTP mit bash: Dateien übertragen</vt:lpstr>
      <vt:lpstr>Version 2: watchdog_v2.sh (mit FTP-Upload)</vt:lpstr>
      <vt:lpstr>Kommandozeilenparameter: Flexibel bleiben</vt:lpstr>
      <vt:lpstr>Version 3: watchdog_v3.sh (vollständig)</vt:lpstr>
      <vt:lpstr>Windows APIs und Windows  Subsysteme</vt:lpstr>
      <vt:lpstr>Win32 API</vt:lpstr>
      <vt:lpstr>Systemaufrufe in Windows: Beispiel</vt:lpstr>
      <vt:lpstr>FindNextFile - Ablauf</vt:lpstr>
      <vt:lpstr>Win32 API – Lesen von einer Datei (Link)</vt:lpstr>
      <vt:lpstr>APIs - Win32 – vs. POSIX - Beispiele</vt:lpstr>
      <vt:lpstr>Windows Subsystem for Linux (WSL)</vt:lpstr>
      <vt:lpstr>Prozesse - Grundlagen</vt:lpstr>
      <vt:lpstr>Prozesse</vt:lpstr>
      <vt:lpstr>„Layout“ eines Prozesses im Hauptspeicher</vt:lpstr>
      <vt:lpstr>Process Control Block (PCB)</vt:lpstr>
      <vt:lpstr>PCB in Linux</vt:lpstr>
      <vt:lpstr>Systemaufrufe zur Prozessverwaltung</vt:lpstr>
      <vt:lpstr>POSIX Prozessverwaltung</vt:lpstr>
      <vt:lpstr>Video: Fork, Exec, Waitpid</vt:lpstr>
      <vt:lpstr>Details von fork()</vt:lpstr>
      <vt:lpstr>„Do it yourself“ - Mini-Shell</vt:lpstr>
      <vt:lpstr>„ Do it yourself“ - Mini-Shell (Auflösung)</vt:lpstr>
      <vt:lpstr>Prozesserzeugung und Prozesshierarchien</vt:lpstr>
      <vt:lpstr>Prozess init</vt:lpstr>
      <vt:lpstr>Prozesshierarchie Linux: pstree -p</vt:lpstr>
      <vt:lpstr>Prozesserzeugung POSIX - Wiederholung</vt:lpstr>
      <vt:lpstr>Fork() – was wird vererbt?</vt:lpstr>
      <vt:lpstr>Prozesserzeugung in Windows /1</vt:lpstr>
      <vt:lpstr>Prozesserzeugung in Windows /2</vt:lpstr>
      <vt:lpstr>Prozesserzeugung in Windows /3</vt:lpstr>
      <vt:lpstr>Prozessterminierung (mehrere BS)</vt:lpstr>
      <vt:lpstr>Umfrage via Pingo - https://bit.ly/ibn_hd</vt:lpstr>
      <vt:lpstr>Danke schön.</vt:lpstr>
      <vt:lpstr>Zusammenfassung</vt:lpstr>
      <vt:lpstr>Prozesse: Zusätzliche Folien</vt:lpstr>
      <vt:lpstr>Prozesse und Multiprogrammierung</vt:lpstr>
      <vt:lpstr>Prozessscheduling</vt:lpstr>
      <vt:lpstr>Scheduler: Definition und zwei Typen</vt:lpstr>
      <vt:lpstr>Verhalten der Prozesse</vt:lpstr>
      <vt:lpstr>Zusatzfolien Prozessverwaltung: Interessante Details</vt:lpstr>
      <vt:lpstr>Wirkliche Prozesszustände (UNIX) /1</vt:lpstr>
      <vt:lpstr>Wirkliche Prozesszustände (UNIX) /2</vt:lpstr>
      <vt:lpstr>Warteschlangen /1</vt:lpstr>
      <vt:lpstr>Warteschlangen /2</vt:lpstr>
      <vt:lpstr>Architektur von Betriebssystemen - Zusatzfolien -</vt:lpstr>
      <vt:lpstr>Wie baut man ein optimales BS?</vt:lpstr>
      <vt:lpstr>Typische Architekturen von BS</vt:lpstr>
      <vt:lpstr>Monolithische Systeme</vt:lpstr>
      <vt:lpstr>Monolithische Systeme – MS-DOS</vt:lpstr>
      <vt:lpstr>Geschichtete Systeme</vt:lpstr>
      <vt:lpstr>Geschichtete Systeme</vt:lpstr>
      <vt:lpstr>Geschichtete Systeme - UNIX</vt:lpstr>
      <vt:lpstr>Geschichtete Systeme - UNIX</vt:lpstr>
      <vt:lpstr>Modulare Systeme</vt:lpstr>
      <vt:lpstr>Wie fehlerfrei sind Betriebssysteme?</vt:lpstr>
      <vt:lpstr>Mikrokerne</vt:lpstr>
      <vt:lpstr>Mikrokerne /2</vt:lpstr>
      <vt:lpstr>Mikrokerne – MINIX 3</vt:lpstr>
      <vt:lpstr>Das Client-Server-Modell</vt:lpstr>
      <vt:lpstr>Virtuelle Maschinen /1</vt:lpstr>
      <vt:lpstr>Virtuelle Maschinen /2</vt:lpstr>
      <vt:lpstr>Native Ausführung vs. Virtuelle Maschinen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1220</cp:revision>
  <dcterms:created xsi:type="dcterms:W3CDTF">2009-04-16T23:00:57Z</dcterms:created>
  <dcterms:modified xsi:type="dcterms:W3CDTF">2026-04-20T14:56:41Z</dcterms:modified>
</cp:coreProperties>
</file>