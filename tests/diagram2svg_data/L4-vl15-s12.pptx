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1"/>
  </p:sldMasterIdLst>
  <p:notesMasterIdLst>
    <p:notesMasterId r:id="rId39"/>
  </p:notesMasterIdLst>
  <p:handoutMasterIdLst>
    <p:handoutMasterId r:id="rId40"/>
  </p:handoutMasterIdLst>
  <p:sldIdLst>
    <p:sldId id="1308" r:id="rId13"/>
  </p:sldIdLst>
  <p:sldSz cx="9144000" cy="6858000" type="screen4x3"/>
  <p:notesSz cx="7104063" cy="10234613"/>
  <p:custDataLst>
    <p:tags r:id="rId41"/>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10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0070C0"/>
    </p:penClr>
    <p:extLst>
      <p:ext uri="{EC167BDD-8182-4AB7-AECC-EB403E3ABB37}">
        <p14:laserClr xmlns:p14="http://schemas.microsoft.com/office/powerpoint/2010/main">
          <a:srgbClr val="00FF00"/>
        </p14:laserClr>
      </p:ext>
      <p:ext uri="{2FDB2607-1784-4EEB-B798-7EB5836EED8A}">
        <p14:showMediaCtrls xmlns:p14="http://schemas.microsoft.com/office/powerpoint/2010/main" val="1"/>
      </p:ext>
    </p:extLst>
  </p:showPr>
  <p:clrMru>
    <a:srgbClr val="FFC000"/>
    <a:srgbClr val="FF0000"/>
    <a:srgbClr val="F22E33"/>
    <a:srgbClr val="8080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Helle Formatvorlage 1 - Akz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ittlere Formatvorlage 2 - Akz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ittlere Formatvorlage 2 - Akz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Keine Formatvorlage, kein Gitternetz">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2833802-FEF1-4C79-8D5D-14CF1EAF98D9}" styleName="Helle Formatvorlage 2 - Akz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E3FDE45-AF77-4B5C-9715-49D594BDF05E}" styleName="Helle Formatvorlage 1 - Akz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10A1B5D5-9B99-4C35-A422-299274C87663}" styleName="Mittlere Formatvorlage 1 - Akz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125E5076-3810-47DD-B79F-674D7AD40C01}" styleName="Dunkle Formatvorlage 1 - Akz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0A15C55-8517-42AA-B614-E9B94910E393}" styleName="Mittlere Formatvorlage 2 - Akz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940675A-B579-460E-94D1-54222C63F5DA}" styleName="Keine Formatvorlage, Tabellengitternetz">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26354" autoAdjust="0"/>
    <p:restoredTop sz="80669" autoAdjust="0"/>
  </p:normalViewPr>
  <p:slideViewPr>
    <p:cSldViewPr>
      <p:cViewPr varScale="1">
        <p:scale>
          <a:sx n="60" d="100"/>
          <a:sy n="60" d="100"/>
        </p:scale>
        <p:origin x="1048" y="36"/>
      </p:cViewPr>
      <p:guideLst>
        <p:guide orient="horz" pos="2160"/>
        <p:guide pos="1020"/>
      </p:guideLst>
    </p:cSldViewPr>
  </p:slideViewPr>
  <p:notesTextViewPr>
    <p:cViewPr>
      <p:scale>
        <a:sx n="3" d="2"/>
        <a:sy n="3" d="2"/>
      </p:scale>
      <p:origin x="0" y="0"/>
    </p:cViewPr>
  </p:notesTextViewPr>
  <p:sorterViewPr>
    <p:cViewPr varScale="1">
      <p:scale>
        <a:sx n="1" d="1"/>
        <a:sy n="1" d="1"/>
      </p:scale>
      <p:origin x="0" y="-1082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handoutMaster" Target="handoutMasters/handoutMaster1.xml"/><Relationship Id="rId41" Type="http://schemas.openxmlformats.org/officeDocument/2006/relationships/tags" Target="tags/tag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3" y="3"/>
            <a:ext cx="3078427" cy="511731"/>
          </a:xfrm>
          <a:prstGeom prst="rect">
            <a:avLst/>
          </a:prstGeom>
        </p:spPr>
        <p:txBody>
          <a:bodyPr vert="horz" lIns="95498" tIns="47749" rIns="95498" bIns="47749" rtlCol="0"/>
          <a:lstStyle>
            <a:lvl1pPr algn="l">
              <a:defRPr sz="1400"/>
            </a:lvl1pPr>
          </a:lstStyle>
          <a:p>
            <a:endParaRPr lang="de-DE"/>
          </a:p>
        </p:txBody>
      </p:sp>
      <p:sp>
        <p:nvSpPr>
          <p:cNvPr id="3" name="Datumsplatzhalter 2"/>
          <p:cNvSpPr>
            <a:spLocks noGrp="1"/>
          </p:cNvSpPr>
          <p:nvPr>
            <p:ph type="dt" sz="quarter" idx="1"/>
          </p:nvPr>
        </p:nvSpPr>
        <p:spPr>
          <a:xfrm>
            <a:off x="4023994" y="3"/>
            <a:ext cx="3078427" cy="511731"/>
          </a:xfrm>
          <a:prstGeom prst="rect">
            <a:avLst/>
          </a:prstGeom>
        </p:spPr>
        <p:txBody>
          <a:bodyPr vert="horz" lIns="95498" tIns="47749" rIns="95498" bIns="47749" rtlCol="0"/>
          <a:lstStyle>
            <a:lvl1pPr algn="r">
              <a:defRPr sz="1400"/>
            </a:lvl1pPr>
          </a:lstStyle>
          <a:p>
            <a:fld id="{503D259A-BC5A-44A4-AF17-09BFC30AC7B9}" type="datetimeFigureOut">
              <a:rPr lang="de-DE" smtClean="0"/>
              <a:pPr/>
              <a:t>03.06.2026</a:t>
            </a:fld>
            <a:endParaRPr lang="de-DE"/>
          </a:p>
        </p:txBody>
      </p:sp>
      <p:sp>
        <p:nvSpPr>
          <p:cNvPr id="4" name="Fußzeilenplatzhalter 3"/>
          <p:cNvSpPr>
            <a:spLocks noGrp="1"/>
          </p:cNvSpPr>
          <p:nvPr>
            <p:ph type="ftr" sz="quarter" idx="2"/>
          </p:nvPr>
        </p:nvSpPr>
        <p:spPr>
          <a:xfrm>
            <a:off x="3" y="9721110"/>
            <a:ext cx="3078427" cy="511731"/>
          </a:xfrm>
          <a:prstGeom prst="rect">
            <a:avLst/>
          </a:prstGeom>
        </p:spPr>
        <p:txBody>
          <a:bodyPr vert="horz" lIns="95498" tIns="47749" rIns="95498" bIns="47749" rtlCol="0" anchor="b"/>
          <a:lstStyle>
            <a:lvl1pPr algn="l">
              <a:defRPr sz="1400"/>
            </a:lvl1pPr>
          </a:lstStyle>
          <a:p>
            <a:endParaRPr lang="de-DE"/>
          </a:p>
        </p:txBody>
      </p:sp>
      <p:sp>
        <p:nvSpPr>
          <p:cNvPr id="5" name="Foliennummernplatzhalter 4"/>
          <p:cNvSpPr>
            <a:spLocks noGrp="1"/>
          </p:cNvSpPr>
          <p:nvPr>
            <p:ph type="sldNum" sz="quarter" idx="3"/>
          </p:nvPr>
        </p:nvSpPr>
        <p:spPr>
          <a:xfrm>
            <a:off x="4023994" y="9721110"/>
            <a:ext cx="3078427" cy="511731"/>
          </a:xfrm>
          <a:prstGeom prst="rect">
            <a:avLst/>
          </a:prstGeom>
        </p:spPr>
        <p:txBody>
          <a:bodyPr vert="horz" lIns="95498" tIns="47749" rIns="95498" bIns="47749" rtlCol="0" anchor="b"/>
          <a:lstStyle>
            <a:lvl1pPr algn="r">
              <a:defRPr sz="1400"/>
            </a:lvl1pPr>
          </a:lstStyle>
          <a:p>
            <a:fld id="{69916C2F-BC73-49DB-9119-EC35D25111C2}" type="slidenum">
              <a:rPr lang="de-DE" smtClean="0"/>
              <a:pPr/>
              <a:t>‹Nr.›</a:t>
            </a:fld>
            <a:endParaRPr lang="de-DE"/>
          </a:p>
        </p:txBody>
      </p:sp>
    </p:spTree>
    <p:extLst>
      <p:ext uri="{BB962C8B-B14F-4D97-AF65-F5344CB8AC3E}">
        <p14:creationId xmlns:p14="http://schemas.microsoft.com/office/powerpoint/2010/main" val="111892287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3" y="3"/>
            <a:ext cx="3078427" cy="511731"/>
          </a:xfrm>
          <a:prstGeom prst="rect">
            <a:avLst/>
          </a:prstGeom>
        </p:spPr>
        <p:txBody>
          <a:bodyPr vert="horz" lIns="95498" tIns="47749" rIns="95498" bIns="47749" rtlCol="0"/>
          <a:lstStyle>
            <a:lvl1pPr algn="l">
              <a:defRPr sz="1400"/>
            </a:lvl1pPr>
          </a:lstStyle>
          <a:p>
            <a:endParaRPr lang="en-US"/>
          </a:p>
        </p:txBody>
      </p:sp>
      <p:sp>
        <p:nvSpPr>
          <p:cNvPr id="3" name="Datumsplatzhalter 2"/>
          <p:cNvSpPr>
            <a:spLocks noGrp="1"/>
          </p:cNvSpPr>
          <p:nvPr>
            <p:ph type="dt" idx="1"/>
          </p:nvPr>
        </p:nvSpPr>
        <p:spPr>
          <a:xfrm>
            <a:off x="4023994" y="3"/>
            <a:ext cx="3078427" cy="511731"/>
          </a:xfrm>
          <a:prstGeom prst="rect">
            <a:avLst/>
          </a:prstGeom>
        </p:spPr>
        <p:txBody>
          <a:bodyPr vert="horz" lIns="95498" tIns="47749" rIns="95498" bIns="47749" rtlCol="0"/>
          <a:lstStyle>
            <a:lvl1pPr algn="r">
              <a:defRPr sz="1400"/>
            </a:lvl1pPr>
          </a:lstStyle>
          <a:p>
            <a:fld id="{4007A66C-EE28-4ADD-A611-42716BED3A40}" type="datetimeFigureOut">
              <a:rPr lang="en-US" smtClean="0"/>
              <a:pPr/>
              <a:t>6/3/2026</a:t>
            </a:fld>
            <a:endParaRPr lang="en-US"/>
          </a:p>
        </p:txBody>
      </p:sp>
      <p:sp>
        <p:nvSpPr>
          <p:cNvPr id="4" name="Folienbildplatzhalter 3"/>
          <p:cNvSpPr>
            <a:spLocks noGrp="1" noRot="1" noChangeAspect="1"/>
          </p:cNvSpPr>
          <p:nvPr>
            <p:ph type="sldImg" idx="2"/>
          </p:nvPr>
        </p:nvSpPr>
        <p:spPr>
          <a:xfrm>
            <a:off x="992188" y="766763"/>
            <a:ext cx="5119687" cy="3838575"/>
          </a:xfrm>
          <a:prstGeom prst="rect">
            <a:avLst/>
          </a:prstGeom>
          <a:noFill/>
          <a:ln w="12700">
            <a:solidFill>
              <a:prstClr val="black"/>
            </a:solidFill>
          </a:ln>
        </p:spPr>
        <p:txBody>
          <a:bodyPr vert="horz" lIns="95498" tIns="47749" rIns="95498" bIns="47749" rtlCol="0" anchor="ctr"/>
          <a:lstStyle/>
          <a:p>
            <a:endParaRPr lang="en-US"/>
          </a:p>
        </p:txBody>
      </p:sp>
      <p:sp>
        <p:nvSpPr>
          <p:cNvPr id="5" name="Notizenplatzhalter 4"/>
          <p:cNvSpPr>
            <a:spLocks noGrp="1"/>
          </p:cNvSpPr>
          <p:nvPr>
            <p:ph type="body" sz="quarter" idx="3"/>
          </p:nvPr>
        </p:nvSpPr>
        <p:spPr>
          <a:xfrm>
            <a:off x="710411" y="4861442"/>
            <a:ext cx="5683249" cy="4605574"/>
          </a:xfrm>
          <a:prstGeom prst="rect">
            <a:avLst/>
          </a:prstGeom>
        </p:spPr>
        <p:txBody>
          <a:bodyPr vert="horz" lIns="95498" tIns="47749" rIns="95498" bIns="47749" rtlCol="0">
            <a:normAutofit/>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6" name="Fußzeilenplatzhalter 5"/>
          <p:cNvSpPr>
            <a:spLocks noGrp="1"/>
          </p:cNvSpPr>
          <p:nvPr>
            <p:ph type="ftr" sz="quarter" idx="4"/>
          </p:nvPr>
        </p:nvSpPr>
        <p:spPr>
          <a:xfrm>
            <a:off x="3" y="9721110"/>
            <a:ext cx="3078427" cy="511731"/>
          </a:xfrm>
          <a:prstGeom prst="rect">
            <a:avLst/>
          </a:prstGeom>
        </p:spPr>
        <p:txBody>
          <a:bodyPr vert="horz" lIns="95498" tIns="47749" rIns="95498" bIns="47749" rtlCol="0" anchor="b"/>
          <a:lstStyle>
            <a:lvl1pPr algn="l">
              <a:defRPr sz="1400"/>
            </a:lvl1pPr>
          </a:lstStyle>
          <a:p>
            <a:endParaRPr lang="en-US"/>
          </a:p>
        </p:txBody>
      </p:sp>
      <p:sp>
        <p:nvSpPr>
          <p:cNvPr id="7" name="Foliennummernplatzhalter 6"/>
          <p:cNvSpPr>
            <a:spLocks noGrp="1"/>
          </p:cNvSpPr>
          <p:nvPr>
            <p:ph type="sldNum" sz="quarter" idx="5"/>
          </p:nvPr>
        </p:nvSpPr>
        <p:spPr>
          <a:xfrm>
            <a:off x="4023994" y="9721110"/>
            <a:ext cx="3078427" cy="511731"/>
          </a:xfrm>
          <a:prstGeom prst="rect">
            <a:avLst/>
          </a:prstGeom>
        </p:spPr>
        <p:txBody>
          <a:bodyPr vert="horz" lIns="95498" tIns="47749" rIns="95498" bIns="47749" rtlCol="0" anchor="b"/>
          <a:lstStyle>
            <a:lvl1pPr algn="r">
              <a:defRPr sz="1400"/>
            </a:lvl1pPr>
          </a:lstStyle>
          <a:p>
            <a:fld id="{6D176CDC-8D0E-409F-856B-BAE38288A8E4}" type="slidenum">
              <a:rPr lang="en-US" smtClean="0"/>
              <a:pPr/>
              <a:t>‹Nr.›</a:t>
            </a:fld>
            <a:endParaRPr lang="en-US"/>
          </a:p>
        </p:txBody>
      </p:sp>
    </p:spTree>
    <p:extLst>
      <p:ext uri="{BB962C8B-B14F-4D97-AF65-F5344CB8AC3E}">
        <p14:creationId xmlns:p14="http://schemas.microsoft.com/office/powerpoint/2010/main" val="2179010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 Id="rId3" Type="http://schemas.openxmlformats.org/officeDocument/2006/relationships/hyperlink" Target="http://en.wikipedia.org/wiki/Livelock" TargetMode="External"/><Relationship Id="rId4" Type="http://schemas.openxmlformats.org/officeDocument/2006/relationships/hyperlink" Target="http://en.wikipedia.org/wiki/Resource_starvation"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2</a:t>
            </a:fld>
            <a:endParaRPr lang="en-US"/>
          </a:p>
        </p:txBody>
      </p:sp>
    </p:spTree>
    <p:extLst>
      <p:ext uri="{BB962C8B-B14F-4D97-AF65-F5344CB8AC3E}">
        <p14:creationId xmlns:p14="http://schemas.microsoft.com/office/powerpoint/2010/main" val="8612468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3</a:t>
            </a:fld>
            <a:endParaRPr lang="en-US"/>
          </a:p>
        </p:txBody>
      </p:sp>
    </p:spTree>
    <p:extLst>
      <p:ext uri="{BB962C8B-B14F-4D97-AF65-F5344CB8AC3E}">
        <p14:creationId xmlns:p14="http://schemas.microsoft.com/office/powerpoint/2010/main" val="25070739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r>
              <a:rPr lang="de-DE" dirty="0">
                <a:hlinkClick r:id="rId3"/>
              </a:rPr>
              <a:t>http://en.wikipedia.org/wiki/Livelock#Livelock</a:t>
            </a:r>
            <a:endParaRPr lang="de-DE" dirty="0"/>
          </a:p>
          <a:p>
            <a:r>
              <a:rPr lang="en-US" dirty="0"/>
              <a:t>A </a:t>
            </a:r>
            <a:r>
              <a:rPr lang="en-US" b="1" dirty="0" err="1"/>
              <a:t>livelock</a:t>
            </a:r>
            <a:r>
              <a:rPr lang="en-US" dirty="0"/>
              <a:t> is similar to a deadlock, except that the states of the processes involved in the </a:t>
            </a:r>
            <a:r>
              <a:rPr lang="en-US" dirty="0" err="1"/>
              <a:t>livelock</a:t>
            </a:r>
            <a:r>
              <a:rPr lang="en-US" dirty="0"/>
              <a:t> constantly change with regard to one another, none progressing.</a:t>
            </a:r>
            <a:r>
              <a:rPr lang="en-US" baseline="30000" dirty="0">
                <a:hlinkClick r:id="rId3"/>
              </a:rPr>
              <a:t>[10]</a:t>
            </a:r>
            <a:r>
              <a:rPr lang="en-US" dirty="0"/>
              <a:t> </a:t>
            </a:r>
            <a:r>
              <a:rPr lang="en-US" dirty="0" err="1"/>
              <a:t>Livelock</a:t>
            </a:r>
            <a:r>
              <a:rPr lang="en-US" dirty="0"/>
              <a:t> is a special case of </a:t>
            </a:r>
            <a:r>
              <a:rPr lang="en-US" dirty="0">
                <a:hlinkClick r:id="rId4" tooltip="Resource starvation"/>
              </a:rPr>
              <a:t>resource starvation</a:t>
            </a:r>
            <a:r>
              <a:rPr lang="en-US" dirty="0"/>
              <a:t>; the general definition only states that a specific process is not progressing.</a:t>
            </a:r>
            <a:r>
              <a:rPr lang="en-US" baseline="30000" dirty="0">
                <a:hlinkClick r:id="rId3"/>
              </a:rPr>
              <a:t>[11]</a:t>
            </a:r>
            <a:endParaRPr lang="en-US" dirty="0"/>
          </a:p>
          <a:p>
            <a:r>
              <a:rPr lang="en-US" dirty="0"/>
              <a:t>A real-world example of </a:t>
            </a:r>
            <a:r>
              <a:rPr lang="en-US" dirty="0" err="1"/>
              <a:t>livelock</a:t>
            </a:r>
            <a:r>
              <a:rPr lang="en-US" dirty="0"/>
              <a:t> occurs when two people meet in a narrow corridor, and each tries to be polite by moving aside to let the other pass, but they end up swaying from side to side without making any progress because they both repeatedly move the same way at the same time.</a:t>
            </a:r>
          </a:p>
          <a:p>
            <a:r>
              <a:rPr lang="en-US" dirty="0" err="1"/>
              <a:t>Livelock</a:t>
            </a:r>
            <a:r>
              <a:rPr lang="en-US" dirty="0"/>
              <a:t> is a risk with some algorithms that detect and recover from deadlock. If more than one process takes action, the deadlock detection algorithm can be repeatedly triggered. This can be avoided by ensuring that only one process (chosen randomly or by priority) takes action.</a:t>
            </a:r>
          </a:p>
          <a:p>
            <a:endParaRPr lang="de-DE" dirty="0"/>
          </a:p>
          <a:p>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7</a:t>
            </a:fld>
            <a:endParaRPr lang="en-US"/>
          </a:p>
        </p:txBody>
      </p:sp>
    </p:spTree>
    <p:extLst>
      <p:ext uri="{BB962C8B-B14F-4D97-AF65-F5344CB8AC3E}">
        <p14:creationId xmlns:p14="http://schemas.microsoft.com/office/powerpoint/2010/main" val="26604805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8</a:t>
            </a:fld>
            <a:endParaRPr lang="en-US"/>
          </a:p>
        </p:txBody>
      </p:sp>
    </p:spTree>
    <p:extLst>
      <p:ext uri="{BB962C8B-B14F-4D97-AF65-F5344CB8AC3E}">
        <p14:creationId xmlns:p14="http://schemas.microsoft.com/office/powerpoint/2010/main" val="17410709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10</a:t>
            </a:fld>
            <a:endParaRPr lang="en-US"/>
          </a:p>
        </p:txBody>
      </p:sp>
    </p:spTree>
    <p:extLst>
      <p:ext uri="{BB962C8B-B14F-4D97-AF65-F5344CB8AC3E}">
        <p14:creationId xmlns:p14="http://schemas.microsoft.com/office/powerpoint/2010/main" val="19074169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r>
              <a:rPr lang="de-DE" dirty="0"/>
              <a:t>Abbildung zeigt einen Deadlock: Prozess C wartet auf die Ressource T, die</a:t>
            </a:r>
          </a:p>
          <a:p>
            <a:r>
              <a:rPr lang="de-DE" dirty="0"/>
              <a:t>gerade von Prozess D belegt wird. Prozess D wird die Ressource T nicht freigeben,</a:t>
            </a:r>
          </a:p>
          <a:p>
            <a:r>
              <a:rPr lang="de-DE" dirty="0"/>
              <a:t>weil er auf die Ressource U wartet, die wiederum von C belegt wird. Ein Zyklus im Graphen bedeutet, dass ein Deadlock</a:t>
            </a:r>
            <a:r>
              <a:rPr lang="de-DE" baseline="0" dirty="0"/>
              <a:t> vorliegt!</a:t>
            </a:r>
          </a:p>
          <a:p>
            <a:r>
              <a:rPr lang="de-DE" dirty="0"/>
              <a:t>In diesem Beispiel ist der Zyklus C-T-D-U-C.</a:t>
            </a:r>
          </a:p>
        </p:txBody>
      </p:sp>
      <p:sp>
        <p:nvSpPr>
          <p:cNvPr id="4" name="Foliennummernplatzhalter 3"/>
          <p:cNvSpPr>
            <a:spLocks noGrp="1"/>
          </p:cNvSpPr>
          <p:nvPr>
            <p:ph type="sldNum" sz="quarter" idx="10"/>
          </p:nvPr>
        </p:nvSpPr>
        <p:spPr/>
        <p:txBody>
          <a:bodyPr/>
          <a:lstStyle/>
          <a:p>
            <a:fld id="{6D176CDC-8D0E-409F-856B-BAE38288A8E4}" type="slidenum">
              <a:rPr lang="en-US" smtClean="0"/>
              <a:pPr/>
              <a:t>11</a:t>
            </a:fld>
            <a:endParaRPr lang="en-US"/>
          </a:p>
        </p:txBody>
      </p:sp>
    </p:spTree>
    <p:extLst>
      <p:ext uri="{BB962C8B-B14F-4D97-AF65-F5344CB8AC3E}">
        <p14:creationId xmlns:p14="http://schemas.microsoft.com/office/powerpoint/2010/main" val="568642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r>
              <a:rPr lang="de-DE" dirty="0"/>
              <a:t>Abbildung zeigt einen Deadlock: Prozess C wartet auf die Ressource T, die</a:t>
            </a:r>
          </a:p>
          <a:p>
            <a:r>
              <a:rPr lang="de-DE" dirty="0"/>
              <a:t>gerade von Prozess D belegt wird. Prozess D wird die Ressource T nicht freigeben,</a:t>
            </a:r>
          </a:p>
          <a:p>
            <a:r>
              <a:rPr lang="de-DE" dirty="0"/>
              <a:t>weil er auf die Ressource U wartet, die wiederum von C belegt wird. Ein Zyklus im Graphen bedeutet, dass ein Deadlock</a:t>
            </a:r>
            <a:r>
              <a:rPr lang="de-DE" baseline="0" dirty="0"/>
              <a:t> vorliegt!</a:t>
            </a:r>
          </a:p>
          <a:p>
            <a:r>
              <a:rPr lang="de-DE" dirty="0"/>
              <a:t>In diesem Beispiel ist der Zyklus C-T-D-U-C.</a:t>
            </a:r>
          </a:p>
        </p:txBody>
      </p:sp>
      <p:sp>
        <p:nvSpPr>
          <p:cNvPr id="4" name="Foliennummernplatzhalter 3"/>
          <p:cNvSpPr>
            <a:spLocks noGrp="1"/>
          </p:cNvSpPr>
          <p:nvPr>
            <p:ph type="sldNum" sz="quarter" idx="10"/>
          </p:nvPr>
        </p:nvSpPr>
        <p:spPr/>
        <p:txBody>
          <a:bodyPr/>
          <a:lstStyle/>
          <a:p>
            <a:fld id="{6D176CDC-8D0E-409F-856B-BAE38288A8E4}" type="slidenum">
              <a:rPr lang="en-US" smtClean="0"/>
              <a:pPr/>
              <a:t>12</a:t>
            </a:fld>
            <a:endParaRPr lang="en-US"/>
          </a:p>
        </p:txBody>
      </p:sp>
    </p:spTree>
    <p:extLst>
      <p:ext uri="{BB962C8B-B14F-4D97-AF65-F5344CB8AC3E}">
        <p14:creationId xmlns:p14="http://schemas.microsoft.com/office/powerpoint/2010/main" val="29507245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17</a:t>
            </a:fld>
            <a:endParaRPr lang="en-US"/>
          </a:p>
        </p:txBody>
      </p:sp>
    </p:spTree>
    <p:extLst>
      <p:ext uri="{BB962C8B-B14F-4D97-AF65-F5344CB8AC3E}">
        <p14:creationId xmlns:p14="http://schemas.microsoft.com/office/powerpoint/2010/main" val="6051027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21</a:t>
            </a:fld>
            <a:endParaRPr lang="en-US"/>
          </a:p>
        </p:txBody>
      </p:sp>
    </p:spTree>
    <p:extLst>
      <p:ext uri="{BB962C8B-B14F-4D97-AF65-F5344CB8AC3E}">
        <p14:creationId xmlns:p14="http://schemas.microsoft.com/office/powerpoint/2010/main" val="9416044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29</a:t>
            </a:fld>
            <a:endParaRPr lang="en-US"/>
          </a:p>
        </p:txBody>
      </p:sp>
    </p:spTree>
    <p:extLst>
      <p:ext uri="{BB962C8B-B14F-4D97-AF65-F5344CB8AC3E}">
        <p14:creationId xmlns:p14="http://schemas.microsoft.com/office/powerpoint/2010/main" val="84846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pPr defTabSz="988540">
              <a:defRPr/>
            </a:pPr>
            <a:r>
              <a:rPr lang="en-US" b="1" dirty="0">
                <a:solidFill>
                  <a:srgbClr val="FF0066"/>
                </a:solidFill>
                <a:latin typeface="Helvetica" charset="0"/>
                <a:sym typeface="Symbol" charset="2"/>
              </a:rPr>
              <a:t>Algorithm requires an order of O(</a:t>
            </a:r>
            <a:r>
              <a:rPr lang="en-US" b="1" i="1" dirty="0">
                <a:solidFill>
                  <a:srgbClr val="FF0066"/>
                </a:solidFill>
                <a:latin typeface="Helvetica" charset="0"/>
                <a:sym typeface="Symbol" charset="2"/>
              </a:rPr>
              <a:t>m </a:t>
            </a:r>
            <a:r>
              <a:rPr lang="en-US" b="1" dirty="0">
                <a:solidFill>
                  <a:srgbClr val="FF0066"/>
                </a:solidFill>
                <a:latin typeface="Helvetica" charset="0"/>
                <a:sym typeface="Symbol" charset="2"/>
              </a:rPr>
              <a:t>x</a:t>
            </a:r>
            <a:r>
              <a:rPr lang="en-US" b="1" i="1" dirty="0">
                <a:solidFill>
                  <a:srgbClr val="FF0066"/>
                </a:solidFill>
                <a:latin typeface="Helvetica" charset="0"/>
                <a:sym typeface="Symbol" charset="2"/>
              </a:rPr>
              <a:t> n</a:t>
            </a:r>
            <a:r>
              <a:rPr lang="en-US" b="1" baseline="30000" dirty="0">
                <a:solidFill>
                  <a:srgbClr val="FF0066"/>
                </a:solidFill>
                <a:latin typeface="Helvetica" charset="0"/>
                <a:sym typeface="Symbol" charset="2"/>
              </a:rPr>
              <a:t>2)</a:t>
            </a:r>
            <a:r>
              <a:rPr lang="en-US" b="1" dirty="0">
                <a:solidFill>
                  <a:srgbClr val="FF0066"/>
                </a:solidFill>
                <a:latin typeface="Helvetica" charset="0"/>
                <a:sym typeface="Symbol" charset="2"/>
              </a:rPr>
              <a:t> operations to detect whether the system is in deadlocked state</a:t>
            </a:r>
            <a:endParaRPr lang="en-US" dirty="0">
              <a:solidFill>
                <a:srgbClr val="FF0066"/>
              </a:solidFill>
              <a:latin typeface="Helvetica" charset="0"/>
            </a:endParaRPr>
          </a:p>
          <a:p>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32</a:t>
            </a:fld>
            <a:endParaRPr lang="en-US"/>
          </a:p>
        </p:txBody>
      </p:sp>
    </p:spTree>
    <p:extLst>
      <p:ext uri="{BB962C8B-B14F-4D97-AF65-F5344CB8AC3E}">
        <p14:creationId xmlns:p14="http://schemas.microsoft.com/office/powerpoint/2010/main" val="24233151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pPr eaLnBrk="1" hangingPunct="1">
              <a:buFontTx/>
              <a:buChar char="•"/>
            </a:pPr>
            <a:r>
              <a:rPr lang="en-US" dirty="0"/>
              <a:t>Recovery through preemption</a:t>
            </a:r>
          </a:p>
          <a:p>
            <a:pPr eaLnBrk="1" hangingPunct="1">
              <a:buFontTx/>
              <a:buChar char="•"/>
            </a:pPr>
            <a:r>
              <a:rPr lang="en-US" dirty="0"/>
              <a:t>Recovery through rollback</a:t>
            </a:r>
          </a:p>
          <a:p>
            <a:pPr eaLnBrk="1" hangingPunct="1">
              <a:buFontTx/>
              <a:buChar char="•"/>
            </a:pPr>
            <a:r>
              <a:rPr lang="en-US" dirty="0"/>
              <a:t>Recovery through killing processes</a:t>
            </a:r>
          </a:p>
          <a:p>
            <a:endParaRPr lang="de-DE" dirty="0"/>
          </a:p>
          <a:p>
            <a:r>
              <a:rPr lang="en-US" dirty="0"/>
              <a:t>In which order should we choose to abort?</a:t>
            </a:r>
          </a:p>
          <a:p>
            <a:pPr lvl="1"/>
            <a:r>
              <a:rPr lang="en-US" dirty="0"/>
              <a:t>Priority of the process</a:t>
            </a:r>
          </a:p>
          <a:p>
            <a:pPr lvl="1"/>
            <a:r>
              <a:rPr lang="en-US" dirty="0"/>
              <a:t>How long process has computed, and how much longer to completion</a:t>
            </a:r>
          </a:p>
          <a:p>
            <a:pPr lvl="1"/>
            <a:r>
              <a:rPr lang="en-US" dirty="0"/>
              <a:t>Resources the process has used</a:t>
            </a:r>
          </a:p>
          <a:p>
            <a:pPr lvl="1"/>
            <a:r>
              <a:rPr lang="en-US" dirty="0"/>
              <a:t>Resources process needs to complete</a:t>
            </a:r>
          </a:p>
          <a:p>
            <a:pPr lvl="1"/>
            <a:r>
              <a:rPr lang="en-US" dirty="0"/>
              <a:t>How many processes will need to be terminated</a:t>
            </a:r>
          </a:p>
          <a:p>
            <a:pPr lvl="1"/>
            <a:r>
              <a:rPr lang="en-US" dirty="0"/>
              <a:t>Is process interactive or batch?</a:t>
            </a:r>
          </a:p>
          <a:p>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34</a:t>
            </a:fld>
            <a:endParaRPr lang="en-US"/>
          </a:p>
        </p:txBody>
      </p:sp>
    </p:spTree>
    <p:extLst>
      <p:ext uri="{BB962C8B-B14F-4D97-AF65-F5344CB8AC3E}">
        <p14:creationId xmlns:p14="http://schemas.microsoft.com/office/powerpoint/2010/main" val="14898578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folie">
    <p:spTree>
      <p:nvGrpSpPr>
        <p:cNvPr id="1" name=""/>
        <p:cNvGrpSpPr/>
        <p:nvPr/>
      </p:nvGrpSpPr>
      <p:grpSpPr>
        <a:xfrm>
          <a:off x="0" y="0"/>
          <a:ext cx="0" cy="0"/>
          <a:chOff x="0" y="0"/>
          <a:chExt cx="0" cy="0"/>
        </a:xfrm>
      </p:grpSpPr>
      <p:sp>
        <p:nvSpPr>
          <p:cNvPr id="8" name="Titel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9" name="Untertitel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noProof="0" dirty="0" err="1"/>
              <a:t>Formatvorlage</a:t>
            </a:r>
            <a:r>
              <a:rPr kumimoji="0" lang="en-US" noProof="0" dirty="0"/>
              <a:t> des </a:t>
            </a:r>
            <a:r>
              <a:rPr kumimoji="0" lang="en-US" noProof="0" dirty="0" err="1"/>
              <a:t>Untertitelmasters</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21" name="Rechteck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hteck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hteck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hteck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6" name="Foliennummernplatzhalter 5"/>
          <p:cNvSpPr>
            <a:spLocks noGrp="1"/>
          </p:cNvSpPr>
          <p:nvPr>
            <p:ph type="sldNum" sz="quarter" idx="12"/>
          </p:nvPr>
        </p:nvSpPr>
        <p:spPr/>
        <p:txBody>
          <a:bodyPr/>
          <a:lstStyle/>
          <a:p>
            <a:fld id="{7183533A-8A50-4A1F-BEA9-C8C6956451EB}" type="slidenum">
              <a:rPr lang="en-US" noProof="0" smtClean="0"/>
              <a:pPr/>
              <a:t>‹Nr.›</a:t>
            </a:fld>
            <a:endParaRPr lang="en-US" noProof="0" dirty="0"/>
          </a:p>
        </p:txBody>
      </p:sp>
      <p:sp>
        <p:nvSpPr>
          <p:cNvPr id="8" name="Inhaltsplatzhalter 7"/>
          <p:cNvSpPr>
            <a:spLocks noGrp="1"/>
          </p:cNvSpPr>
          <p:nvPr>
            <p:ph sz="quarter" idx="1"/>
          </p:nvPr>
        </p:nvSpPr>
        <p:spPr>
          <a:xfrm>
            <a:off x="457200" y="1219200"/>
            <a:ext cx="8229600" cy="5210196"/>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a:xfrm>
            <a:off x="457200" y="228600"/>
            <a:ext cx="8229600" cy="914400"/>
          </a:xfrm>
        </p:spPr>
        <p:txBody>
          <a:body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7" name="Foliennummernplatzhalter 6"/>
          <p:cNvSpPr>
            <a:spLocks noGrp="1"/>
          </p:cNvSpPr>
          <p:nvPr>
            <p:ph type="sldNum" sz="quarter" idx="12"/>
          </p:nvPr>
        </p:nvSpPr>
        <p:spPr>
          <a:xfrm>
            <a:off x="8542234" y="6500834"/>
            <a:ext cx="601766" cy="357166"/>
          </a:xfrm>
        </p:spPr>
        <p:txBody>
          <a:bodyPr/>
          <a:lstStyle/>
          <a:p>
            <a:fld id="{6C6AE60A-B69C-4790-82F7-3882EDF23186}" type="slidenum">
              <a:rPr lang="de-DE" smtClean="0"/>
              <a:pPr/>
              <a:t>‹Nr.›</a:t>
            </a:fld>
            <a:endParaRPr lang="de-DE"/>
          </a:p>
        </p:txBody>
      </p:sp>
      <p:sp>
        <p:nvSpPr>
          <p:cNvPr id="9" name="Inhaltsplatzhalter 8"/>
          <p:cNvSpPr>
            <a:spLocks noGrp="1"/>
          </p:cNvSpPr>
          <p:nvPr>
            <p:ph sz="quarter" idx="1"/>
          </p:nvPr>
        </p:nvSpPr>
        <p:spPr>
          <a:xfrm>
            <a:off x="457200" y="1219200"/>
            <a:ext cx="4041648" cy="4937760"/>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
        <p:nvSpPr>
          <p:cNvPr id="11" name="Inhaltsplatzhalter 10"/>
          <p:cNvSpPr>
            <a:spLocks noGrp="1"/>
          </p:cNvSpPr>
          <p:nvPr>
            <p:ph sz="quarter" idx="2"/>
          </p:nvPr>
        </p:nvSpPr>
        <p:spPr>
          <a:xfrm>
            <a:off x="4632198" y="1216152"/>
            <a:ext cx="4041648" cy="4937760"/>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el und Inhalt - 2 Teil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6" name="Foliennummernplatzhalter 5"/>
          <p:cNvSpPr>
            <a:spLocks noGrp="1"/>
          </p:cNvSpPr>
          <p:nvPr>
            <p:ph type="sldNum" sz="quarter" idx="12"/>
          </p:nvPr>
        </p:nvSpPr>
        <p:spPr/>
        <p:txBody>
          <a:bodyPr/>
          <a:lstStyle/>
          <a:p>
            <a:fld id="{7183533A-8A50-4A1F-BEA9-C8C6956451EB}" type="slidenum">
              <a:rPr lang="en-US" noProof="0" smtClean="0"/>
              <a:pPr/>
              <a:t>‹Nr.›</a:t>
            </a:fld>
            <a:endParaRPr lang="en-US" noProof="0" dirty="0"/>
          </a:p>
        </p:txBody>
      </p:sp>
      <p:sp>
        <p:nvSpPr>
          <p:cNvPr id="8" name="Inhaltsplatzhalter 7"/>
          <p:cNvSpPr>
            <a:spLocks noGrp="1"/>
          </p:cNvSpPr>
          <p:nvPr>
            <p:ph sz="quarter" idx="1"/>
          </p:nvPr>
        </p:nvSpPr>
        <p:spPr>
          <a:xfrm>
            <a:off x="457200" y="1219200"/>
            <a:ext cx="8229600" cy="2641848"/>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
        <p:nvSpPr>
          <p:cNvPr id="5" name="Inhaltsplatzhalter 7"/>
          <p:cNvSpPr>
            <a:spLocks noGrp="1"/>
          </p:cNvSpPr>
          <p:nvPr>
            <p:ph sz="quarter" idx="13"/>
          </p:nvPr>
        </p:nvSpPr>
        <p:spPr>
          <a:xfrm>
            <a:off x="467544" y="3645024"/>
            <a:ext cx="8208912" cy="2713856"/>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el und Inhalt 75%">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6" name="Foliennummernplatzhalter 5"/>
          <p:cNvSpPr>
            <a:spLocks noGrp="1"/>
          </p:cNvSpPr>
          <p:nvPr>
            <p:ph type="sldNum" sz="quarter" idx="12"/>
          </p:nvPr>
        </p:nvSpPr>
        <p:spPr/>
        <p:txBody>
          <a:bodyPr/>
          <a:lstStyle/>
          <a:p>
            <a:fld id="{7183533A-8A50-4A1F-BEA9-C8C6956451EB}" type="slidenum">
              <a:rPr lang="en-US" noProof="0" smtClean="0"/>
              <a:pPr/>
              <a:t>‹Nr.›</a:t>
            </a:fld>
            <a:endParaRPr lang="en-US" noProof="0" dirty="0"/>
          </a:p>
        </p:txBody>
      </p:sp>
      <p:sp>
        <p:nvSpPr>
          <p:cNvPr id="8" name="Inhaltsplatzhalter 7"/>
          <p:cNvSpPr>
            <a:spLocks noGrp="1"/>
          </p:cNvSpPr>
          <p:nvPr>
            <p:ph sz="quarter" idx="1"/>
          </p:nvPr>
        </p:nvSpPr>
        <p:spPr>
          <a:xfrm>
            <a:off x="457200" y="1219200"/>
            <a:ext cx="8229600" cy="2569840"/>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
        <p:nvSpPr>
          <p:cNvPr id="5" name="Inhaltsplatzhalter 7"/>
          <p:cNvSpPr>
            <a:spLocks noGrp="1"/>
          </p:cNvSpPr>
          <p:nvPr>
            <p:ph sz="quarter" idx="13"/>
          </p:nvPr>
        </p:nvSpPr>
        <p:spPr>
          <a:xfrm>
            <a:off x="467544" y="3645024"/>
            <a:ext cx="4104456" cy="2713856"/>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el und Inhalt 75% (Bild oben)">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6" name="Foliennummernplatzhalter 5"/>
          <p:cNvSpPr>
            <a:spLocks noGrp="1"/>
          </p:cNvSpPr>
          <p:nvPr>
            <p:ph type="sldNum" sz="quarter" idx="12"/>
          </p:nvPr>
        </p:nvSpPr>
        <p:spPr/>
        <p:txBody>
          <a:bodyPr/>
          <a:lstStyle/>
          <a:p>
            <a:fld id="{7183533A-8A50-4A1F-BEA9-C8C6956451EB}" type="slidenum">
              <a:rPr lang="en-US" noProof="0" smtClean="0"/>
              <a:pPr/>
              <a:t>‹Nr.›</a:t>
            </a:fld>
            <a:endParaRPr lang="en-US" noProof="0" dirty="0"/>
          </a:p>
        </p:txBody>
      </p:sp>
      <p:sp>
        <p:nvSpPr>
          <p:cNvPr id="8" name="Inhaltsplatzhalter 7"/>
          <p:cNvSpPr>
            <a:spLocks noGrp="1"/>
          </p:cNvSpPr>
          <p:nvPr>
            <p:ph sz="quarter" idx="1"/>
          </p:nvPr>
        </p:nvSpPr>
        <p:spPr>
          <a:xfrm>
            <a:off x="457200" y="1219200"/>
            <a:ext cx="4114800" cy="2569840"/>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
        <p:nvSpPr>
          <p:cNvPr id="5" name="Inhaltsplatzhalter 7"/>
          <p:cNvSpPr>
            <a:spLocks noGrp="1"/>
          </p:cNvSpPr>
          <p:nvPr>
            <p:ph sz="quarter" idx="13"/>
          </p:nvPr>
        </p:nvSpPr>
        <p:spPr>
          <a:xfrm>
            <a:off x="467544" y="3645024"/>
            <a:ext cx="8208912" cy="2713856"/>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Tree>
    <p:extLst>
      <p:ext uri="{BB962C8B-B14F-4D97-AF65-F5344CB8AC3E}">
        <p14:creationId xmlns:p14="http://schemas.microsoft.com/office/powerpoint/2010/main" val="6027047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3" name="Textplatzhalt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noProof="0" dirty="0" err="1"/>
              <a:t>Textmasterformate</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7" name="Foliennummernplatzhalter 6"/>
          <p:cNvSpPr>
            <a:spLocks noGrp="1"/>
          </p:cNvSpPr>
          <p:nvPr>
            <p:ph type="sldNum" sz="quarter" idx="12"/>
          </p:nvPr>
        </p:nvSpPr>
        <p:spPr/>
        <p:txBody>
          <a:bodyPr/>
          <a:lstStyle/>
          <a:p>
            <a:fld id="{6C6AE60A-B69C-4790-82F7-3882EDF23186}" type="slidenum">
              <a:rPr lang="de-DE" smtClean="0"/>
              <a:pPr/>
              <a:t>‹Nr.›</a:t>
            </a:fld>
            <a:endParaRPr lang="de-DE"/>
          </a:p>
        </p:txBody>
      </p:sp>
      <p:sp>
        <p:nvSpPr>
          <p:cNvPr id="10" name="Gerade Verbindung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Gleichschenkliges Dreieck 8"/>
          <p:cNvSpPr>
            <a:spLocks noChangeAspect="1"/>
          </p:cNvSpPr>
          <p:nvPr/>
        </p:nvSpPr>
        <p:spPr>
          <a:xfrm rot="5400000">
            <a:off x="8394385" y="6607540"/>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Inhaltsplatzhalter 11"/>
          <p:cNvSpPr>
            <a:spLocks noGrp="1"/>
          </p:cNvSpPr>
          <p:nvPr>
            <p:ph sz="quarter" idx="1"/>
          </p:nvPr>
        </p:nvSpPr>
        <p:spPr>
          <a:xfrm>
            <a:off x="304800" y="304800"/>
            <a:ext cx="5715000" cy="5715000"/>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a:xfrm>
            <a:off x="457200" y="228600"/>
            <a:ext cx="8229600" cy="914400"/>
          </a:xfrm>
        </p:spPr>
        <p:txBody>
          <a:body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5" name="Foliennummernplatzhalter 4"/>
          <p:cNvSpPr>
            <a:spLocks noGrp="1"/>
          </p:cNvSpPr>
          <p:nvPr>
            <p:ph type="sldNum" sz="quarter" idx="12"/>
          </p:nvPr>
        </p:nvSpPr>
        <p:spPr/>
        <p:txBody>
          <a:bodyPr/>
          <a:lstStyle/>
          <a:p>
            <a:fld id="{6C6AE60A-B69C-4790-82F7-3882EDF23186}" type="slidenum">
              <a:rPr lang="de-DE" smtClean="0"/>
              <a:pPr/>
              <a:t>‹Nr.›</a:t>
            </a:fld>
            <a:endParaRPr lang="de-D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457200" y="228600"/>
            <a:ext cx="8229600" cy="914400"/>
          </a:xfrm>
        </p:spPr>
        <p:txBody>
          <a:bodyPr anchor="ctr"/>
          <a:lstStyle>
            <a:lvl1pPr>
              <a:defRPr/>
            </a:lvl1p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3" name="Textplatzhalt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noProof="0" dirty="0" err="1"/>
              <a:t>Textmasterformate</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4" name="Textplatzhalt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noProof="0" dirty="0" err="1"/>
              <a:t>Textmasterformate</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9" name="Foliennummernplatzhalter 8"/>
          <p:cNvSpPr>
            <a:spLocks noGrp="1"/>
          </p:cNvSpPr>
          <p:nvPr>
            <p:ph type="sldNum" sz="quarter" idx="12"/>
          </p:nvPr>
        </p:nvSpPr>
        <p:spPr/>
        <p:txBody>
          <a:bodyPr/>
          <a:lstStyle/>
          <a:p>
            <a:fld id="{6C6AE60A-B69C-4790-82F7-3882EDF23186}" type="slidenum">
              <a:rPr lang="de-DE" smtClean="0"/>
              <a:pPr/>
              <a:t>‹Nr.›</a:t>
            </a:fld>
            <a:endParaRPr lang="de-DE"/>
          </a:p>
        </p:txBody>
      </p:sp>
      <p:sp>
        <p:nvSpPr>
          <p:cNvPr id="11" name="Inhaltsplatzhalter 10"/>
          <p:cNvSpPr>
            <a:spLocks noGrp="1"/>
          </p:cNvSpPr>
          <p:nvPr>
            <p:ph sz="quarter" idx="2"/>
          </p:nvPr>
        </p:nvSpPr>
        <p:spPr>
          <a:xfrm>
            <a:off x="457200" y="2133600"/>
            <a:ext cx="4038600" cy="4038600"/>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
        <p:nvSpPr>
          <p:cNvPr id="13" name="Inhaltsplatzhalter 12"/>
          <p:cNvSpPr>
            <a:spLocks noGrp="1"/>
          </p:cNvSpPr>
          <p:nvPr>
            <p:ph sz="quarter" idx="4"/>
          </p:nvPr>
        </p:nvSpPr>
        <p:spPr>
          <a:xfrm>
            <a:off x="4648200" y="2133600"/>
            <a:ext cx="4038600" cy="4038600"/>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Leer">
    <p:spTree>
      <p:nvGrpSpPr>
        <p:cNvPr id="1" name=""/>
        <p:cNvGrpSpPr/>
        <p:nvPr/>
      </p:nvGrpSpPr>
      <p:grpSpPr>
        <a:xfrm>
          <a:off x="0" y="0"/>
          <a:ext cx="0" cy="0"/>
          <a:chOff x="0" y="0"/>
          <a:chExt cx="0" cy="0"/>
        </a:xfrm>
      </p:grpSpPr>
      <p:sp>
        <p:nvSpPr>
          <p:cNvPr id="4" name="Foliennummernplatzhalter 3"/>
          <p:cNvSpPr>
            <a:spLocks noGrp="1"/>
          </p:cNvSpPr>
          <p:nvPr>
            <p:ph type="sldNum" sz="quarter" idx="12"/>
          </p:nvPr>
        </p:nvSpPr>
        <p:spPr/>
        <p:txBody>
          <a:bodyPr/>
          <a:lstStyle/>
          <a:p>
            <a:fld id="{6C6AE60A-B69C-4790-82F7-3882EDF23186}" type="slidenum">
              <a:rPr lang="de-DE" smtClean="0"/>
              <a:pPr/>
              <a:t>‹Nr.›</a:t>
            </a:fld>
            <a:endParaRPr lang="de-DE"/>
          </a:p>
        </p:txBody>
      </p:sp>
      <p:sp>
        <p:nvSpPr>
          <p:cNvPr id="7" name="Gleichschenkliges Dreieck 6"/>
          <p:cNvSpPr>
            <a:spLocks noChangeAspect="1"/>
          </p:cNvSpPr>
          <p:nvPr userDrawn="1"/>
        </p:nvSpPr>
        <p:spPr>
          <a:xfrm rot="5400000">
            <a:off x="8394384" y="6607540"/>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el 1"/>
          <p:cNvSpPr>
            <a:spLocks noGrp="1"/>
          </p:cNvSpPr>
          <p:nvPr>
            <p:ph type="title"/>
          </p:nvPr>
        </p:nvSpPr>
        <p:spPr>
          <a:xfrm>
            <a:off x="971600" y="2348880"/>
            <a:ext cx="7200800" cy="2160240"/>
          </a:xfrm>
        </p:spPr>
        <p:txBody>
          <a:bodyPr anchor="ctr">
            <a:normAutofit/>
          </a:bodyPr>
          <a:lstStyle>
            <a:lvl1pPr algn="ctr">
              <a:defRPr sz="4000"/>
            </a:lvl1p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elplatzhalt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13" name="Textplatzhalter 12"/>
          <p:cNvSpPr>
            <a:spLocks noGrp="1"/>
          </p:cNvSpPr>
          <p:nvPr>
            <p:ph type="body" idx="1"/>
          </p:nvPr>
        </p:nvSpPr>
        <p:spPr>
          <a:xfrm>
            <a:off x="457200" y="1219200"/>
            <a:ext cx="8229600" cy="5210196"/>
          </a:xfrm>
          <a:prstGeom prst="rect">
            <a:avLst/>
          </a:prstGeom>
        </p:spPr>
        <p:txBody>
          <a:bodyPr vert="horz">
            <a:normAutofit/>
          </a:bodyPr>
          <a:lstStyle/>
          <a:p>
            <a:pPr lvl="0" eaLnBrk="1" latinLnBrk="0" hangingPunct="1"/>
            <a:r>
              <a:rPr kumimoji="0" lang="en-US" noProof="0" dirty="0" err="1"/>
              <a:t>Textmasterformate</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a:p>
            <a:pPr lvl="1" eaLnBrk="1" latinLnBrk="0" hangingPunct="1"/>
            <a:r>
              <a:rPr kumimoji="0" lang="en-US" noProof="0" dirty="0" err="1"/>
              <a:t>Zweite</a:t>
            </a:r>
            <a:r>
              <a:rPr kumimoji="0" lang="en-US" noProof="0" dirty="0"/>
              <a:t> </a:t>
            </a:r>
            <a:r>
              <a:rPr kumimoji="0" lang="en-US" noProof="0" dirty="0" err="1"/>
              <a:t>Ebene</a:t>
            </a:r>
            <a:endParaRPr kumimoji="0" lang="en-US" noProof="0" dirty="0"/>
          </a:p>
          <a:p>
            <a:pPr lvl="2" eaLnBrk="1" latinLnBrk="0" hangingPunct="1"/>
            <a:r>
              <a:rPr kumimoji="0" lang="en-US" noProof="0" dirty="0" err="1"/>
              <a:t>Dritte</a:t>
            </a:r>
            <a:r>
              <a:rPr kumimoji="0" lang="en-US" noProof="0" dirty="0"/>
              <a:t> </a:t>
            </a:r>
            <a:r>
              <a:rPr kumimoji="0" lang="en-US" noProof="0" dirty="0" err="1"/>
              <a:t>Ebene</a:t>
            </a:r>
            <a:endParaRPr kumimoji="0" lang="en-US" noProof="0" dirty="0"/>
          </a:p>
          <a:p>
            <a:pPr lvl="3" eaLnBrk="1" latinLnBrk="0" hangingPunct="1"/>
            <a:r>
              <a:rPr kumimoji="0" lang="en-US" noProof="0" dirty="0" err="1"/>
              <a:t>Vierte</a:t>
            </a:r>
            <a:r>
              <a:rPr kumimoji="0" lang="en-US" noProof="0" dirty="0"/>
              <a:t> </a:t>
            </a:r>
            <a:r>
              <a:rPr kumimoji="0" lang="en-US" noProof="0" dirty="0" err="1"/>
              <a:t>Ebene</a:t>
            </a:r>
            <a:endParaRPr kumimoji="0" lang="en-US" noProof="0" dirty="0"/>
          </a:p>
          <a:p>
            <a:pPr lvl="4" eaLnBrk="1" latinLnBrk="0" hangingPunct="1"/>
            <a:r>
              <a:rPr kumimoji="0" lang="en-US" noProof="0" dirty="0" err="1"/>
              <a:t>Fünfte</a:t>
            </a:r>
            <a:r>
              <a:rPr kumimoji="0" lang="en-US" noProof="0" dirty="0"/>
              <a:t> </a:t>
            </a:r>
            <a:r>
              <a:rPr kumimoji="0" lang="en-US" noProof="0" dirty="0" err="1"/>
              <a:t>Ebene</a:t>
            </a:r>
            <a:endParaRPr kumimoji="0" lang="en-US" noProof="0" dirty="0"/>
          </a:p>
        </p:txBody>
      </p:sp>
      <p:sp>
        <p:nvSpPr>
          <p:cNvPr id="23" name="Foliennummernplatzhalter 22"/>
          <p:cNvSpPr>
            <a:spLocks noGrp="1"/>
          </p:cNvSpPr>
          <p:nvPr>
            <p:ph type="sldNum" sz="quarter" idx="4"/>
          </p:nvPr>
        </p:nvSpPr>
        <p:spPr>
          <a:xfrm>
            <a:off x="8542234" y="6492240"/>
            <a:ext cx="601766" cy="365760"/>
          </a:xfrm>
          <a:prstGeom prst="rect">
            <a:avLst/>
          </a:prstGeom>
        </p:spPr>
        <p:txBody>
          <a:bodyPr vert="horz"/>
          <a:lstStyle>
            <a:lvl1pPr algn="l" eaLnBrk="1" latinLnBrk="0" hangingPunct="1">
              <a:defRPr kumimoji="0" sz="1400">
                <a:solidFill>
                  <a:schemeClr val="tx2"/>
                </a:solidFill>
              </a:defRPr>
            </a:lvl1pPr>
          </a:lstStyle>
          <a:p>
            <a:r>
              <a:rPr lang="de-DE" dirty="0"/>
              <a:t>1</a:t>
            </a:r>
          </a:p>
        </p:txBody>
      </p:sp>
      <p:sp>
        <p:nvSpPr>
          <p:cNvPr id="29" name="Gerade Verbindung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Gleichschenkliges Dreieck 9"/>
          <p:cNvSpPr>
            <a:spLocks noChangeAspect="1"/>
          </p:cNvSpPr>
          <p:nvPr/>
        </p:nvSpPr>
        <p:spPr>
          <a:xfrm rot="5400000">
            <a:off x="8394384" y="6607540"/>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8" r:id="rId3"/>
    <p:sldLayoutId id="2147483697" r:id="rId4"/>
    <p:sldLayoutId id="2147483696" r:id="rId5"/>
    <p:sldLayoutId id="2147483698" r:id="rId6"/>
    <p:sldLayoutId id="2147483692" r:id="rId7"/>
    <p:sldLayoutId id="2147483690" r:id="rId8"/>
    <p:sldLayoutId id="2147483689" r:id="rId9"/>
    <p:sldLayoutId id="2147483691" r:id="rId10"/>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jpeg"/><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bit.ly/ibn_hd"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s://bit.ly/ibn_hd"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jpeg"/><Relationship Id="rId3" Type="http://schemas.openxmlformats.org/officeDocument/2006/relationships/image" Target="../media/image5.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jpeg"/><Relationship Id="rId3" Type="http://schemas.openxmlformats.org/officeDocument/2006/relationships/image" Target="../media/image7.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9.png"/><Relationship Id="rId3" Type="http://schemas.openxmlformats.org/officeDocument/2006/relationships/hyperlink" Target="https://bit.ly/ibn_hd"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9.png"/><Relationship Id="rId3" Type="http://schemas.openxmlformats.org/officeDocument/2006/relationships/hyperlink" Target="https://bit.ly/ibn_hd"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jpeg"/><Relationship Id="rId3" Type="http://schemas.openxmlformats.org/officeDocument/2006/relationships/image" Target="../media/image12.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hyperlink" Target="http://de.wikipedia.org/wiki/Bankieralgorithmus"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youtube.com/watch?v=TVkQ1VeRKt4"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a:xfrm>
            <a:off x="1115616" y="3717032"/>
            <a:ext cx="7056784" cy="1159768"/>
          </a:xfrm>
        </p:spPr>
        <p:txBody>
          <a:bodyPr>
            <a:noAutofit/>
          </a:bodyPr>
          <a:lstStyle/>
          <a:p>
            <a:r>
              <a:rPr lang="de-DE" sz="3600" dirty="0"/>
              <a:t>Betriebssysteme und Netzwerke</a:t>
            </a:r>
            <a:br>
              <a:rPr lang="de-DE" sz="3600" dirty="0"/>
            </a:br>
            <a:r>
              <a:rPr lang="de-DE" sz="3600"/>
              <a:t>Vorlesung 15</a:t>
            </a:r>
            <a:endParaRPr lang="en-US" sz="3600" dirty="0"/>
          </a:p>
        </p:txBody>
      </p:sp>
      <p:sp>
        <p:nvSpPr>
          <p:cNvPr id="3" name="Untertitel 2"/>
          <p:cNvSpPr>
            <a:spLocks noGrp="1"/>
          </p:cNvSpPr>
          <p:nvPr>
            <p:ph type="subTitle" idx="1"/>
          </p:nvPr>
        </p:nvSpPr>
        <p:spPr>
          <a:xfrm>
            <a:off x="5786446" y="5124450"/>
            <a:ext cx="2290754" cy="533400"/>
          </a:xfrm>
        </p:spPr>
        <p:txBody>
          <a:bodyPr>
            <a:normAutofit/>
          </a:bodyPr>
          <a:lstStyle/>
          <a:p>
            <a:r>
              <a:rPr lang="de-DE" dirty="0"/>
              <a:t>Artur Andrzejak</a:t>
            </a:r>
          </a:p>
        </p:txBody>
      </p:sp>
      <p:sp>
        <p:nvSpPr>
          <p:cNvPr id="4" name="Untertitel 2"/>
          <p:cNvSpPr txBox="1">
            <a:spLocks/>
          </p:cNvSpPr>
          <p:nvPr/>
        </p:nvSpPr>
        <p:spPr>
          <a:xfrm>
            <a:off x="1214414" y="5072074"/>
            <a:ext cx="1214446" cy="642942"/>
          </a:xfrm>
          <a:prstGeom prst="rect">
            <a:avLst/>
          </a:prstGeom>
        </p:spPr>
        <p:txBody>
          <a:bodyPr vert="horz">
            <a:noAutofit/>
          </a:bodyPr>
          <a:lstStyle/>
          <a:p>
            <a:pPr marL="0" marR="0" lvl="0" indent="0" defTabSz="914400" rtl="0" eaLnBrk="1" fontAlgn="auto" latinLnBrk="0" hangingPunct="1">
              <a:lnSpc>
                <a:spcPct val="100000"/>
              </a:lnSpc>
              <a:spcBef>
                <a:spcPts val="600"/>
              </a:spcBef>
              <a:spcAft>
                <a:spcPts val="0"/>
              </a:spcAft>
              <a:buClr>
                <a:schemeClr val="accent1"/>
              </a:buClr>
              <a:buSzPct val="76000"/>
              <a:buFont typeface="Wingdings 3"/>
              <a:buNone/>
              <a:tabLst/>
              <a:defRPr/>
            </a:pPr>
            <a:endParaRPr kumimoji="0" lang="de-DE" sz="2000" b="0" i="0" u="none" strike="noStrike" kern="1200" cap="none" spc="0" normalizeH="0" baseline="0" noProof="0" dirty="0">
              <a:ln>
                <a:noFill/>
              </a:ln>
              <a:solidFill>
                <a:schemeClr val="tx2"/>
              </a:solidFill>
              <a:effectLst/>
              <a:uLnTx/>
              <a:uFillTx/>
              <a:latin typeface="+mj-lt"/>
              <a:ea typeface="+mj-ea"/>
              <a:cs typeface="+mj-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Wiederholung Dateisysteme</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2</a:t>
            </a:fld>
            <a:endParaRPr lang="en-US" noProof="0" dirty="0"/>
          </a:p>
        </p:txBody>
      </p:sp>
      <p:sp>
        <p:nvSpPr>
          <p:cNvPr id="6" name="Textfeld 5"/>
          <p:cNvSpPr txBox="1"/>
          <p:nvPr/>
        </p:nvSpPr>
        <p:spPr>
          <a:xfrm>
            <a:off x="5586616" y="2123786"/>
            <a:ext cx="3557384" cy="830997"/>
          </a:xfrm>
          <a:prstGeom prst="rect">
            <a:avLst/>
          </a:prstGeom>
          <a:noFill/>
        </p:spPr>
        <p:txBody>
          <a:bodyPr wrap="none" rtlCol="0">
            <a:spAutoFit/>
          </a:bodyPr>
          <a:lstStyle/>
          <a:p>
            <a:r>
              <a:rPr lang="de-DE" sz="2400" dirty="0"/>
              <a:t>C-LOOK oder Elevator</a:t>
            </a:r>
          </a:p>
          <a:p>
            <a:r>
              <a:rPr lang="de-DE" sz="2400" dirty="0"/>
              <a:t>- was finden Sie besser?</a:t>
            </a:r>
          </a:p>
        </p:txBody>
      </p:sp>
      <p:sp>
        <p:nvSpPr>
          <p:cNvPr id="9" name="Textfeld 8"/>
          <p:cNvSpPr txBox="1"/>
          <p:nvPr/>
        </p:nvSpPr>
        <p:spPr>
          <a:xfrm>
            <a:off x="3650966" y="4162245"/>
            <a:ext cx="3238387" cy="830997"/>
          </a:xfrm>
          <a:prstGeom prst="rect">
            <a:avLst/>
          </a:prstGeom>
          <a:noFill/>
        </p:spPr>
        <p:txBody>
          <a:bodyPr wrap="none" rtlCol="0">
            <a:spAutoFit/>
          </a:bodyPr>
          <a:lstStyle/>
          <a:p>
            <a:r>
              <a:rPr lang="de-DE" sz="2400" dirty="0"/>
              <a:t>RAID: I = </a:t>
            </a:r>
            <a:r>
              <a:rPr lang="de-DE" sz="2400" dirty="0" err="1"/>
              <a:t>inexpensive</a:t>
            </a:r>
            <a:r>
              <a:rPr lang="de-DE" sz="2400" dirty="0"/>
              <a:t> </a:t>
            </a:r>
            <a:br>
              <a:rPr lang="de-DE" sz="2400" dirty="0"/>
            </a:br>
            <a:r>
              <a:rPr lang="de-DE" sz="2400" dirty="0"/>
              <a:t>oder </a:t>
            </a:r>
            <a:r>
              <a:rPr lang="de-DE" sz="2400" dirty="0" err="1"/>
              <a:t>independent</a:t>
            </a:r>
            <a:r>
              <a:rPr lang="de-DE" sz="2400" dirty="0"/>
              <a:t>?</a:t>
            </a:r>
          </a:p>
        </p:txBody>
      </p:sp>
      <p:sp>
        <p:nvSpPr>
          <p:cNvPr id="11" name="Textfeld 10"/>
          <p:cNvSpPr txBox="1"/>
          <p:nvPr/>
        </p:nvSpPr>
        <p:spPr>
          <a:xfrm>
            <a:off x="175087" y="1373423"/>
            <a:ext cx="2658933" cy="461665"/>
          </a:xfrm>
          <a:prstGeom prst="rect">
            <a:avLst/>
          </a:prstGeom>
          <a:noFill/>
        </p:spPr>
        <p:txBody>
          <a:bodyPr wrap="none" rtlCol="0">
            <a:spAutoFit/>
          </a:bodyPr>
          <a:lstStyle/>
          <a:p>
            <a:r>
              <a:rPr lang="de-DE" sz="2400" dirty="0"/>
              <a:t>Wofür steht CHS?</a:t>
            </a:r>
          </a:p>
        </p:txBody>
      </p:sp>
      <p:sp>
        <p:nvSpPr>
          <p:cNvPr id="12" name="Textfeld 11"/>
          <p:cNvSpPr txBox="1"/>
          <p:nvPr/>
        </p:nvSpPr>
        <p:spPr>
          <a:xfrm>
            <a:off x="619752" y="2035650"/>
            <a:ext cx="2428870" cy="830997"/>
          </a:xfrm>
          <a:prstGeom prst="rect">
            <a:avLst/>
          </a:prstGeom>
          <a:noFill/>
        </p:spPr>
        <p:txBody>
          <a:bodyPr wrap="none" rtlCol="0">
            <a:spAutoFit/>
          </a:bodyPr>
          <a:lstStyle/>
          <a:p>
            <a:r>
              <a:rPr lang="de-DE" sz="2400" dirty="0"/>
              <a:t>Superblock oder</a:t>
            </a:r>
          </a:p>
          <a:p>
            <a:r>
              <a:rPr lang="de-DE" sz="2400" dirty="0"/>
              <a:t>Superblocker?</a:t>
            </a:r>
          </a:p>
        </p:txBody>
      </p:sp>
      <p:sp>
        <p:nvSpPr>
          <p:cNvPr id="13" name="Textfeld 12"/>
          <p:cNvSpPr txBox="1"/>
          <p:nvPr/>
        </p:nvSpPr>
        <p:spPr>
          <a:xfrm>
            <a:off x="5791479" y="3283771"/>
            <a:ext cx="3147657" cy="830997"/>
          </a:xfrm>
          <a:prstGeom prst="rect">
            <a:avLst/>
          </a:prstGeom>
          <a:noFill/>
        </p:spPr>
        <p:txBody>
          <a:bodyPr wrap="none" rtlCol="0">
            <a:spAutoFit/>
          </a:bodyPr>
          <a:lstStyle/>
          <a:p>
            <a:pPr algn="r"/>
            <a:r>
              <a:rPr lang="de-DE" sz="2400" dirty="0"/>
              <a:t>iPod, iPad, </a:t>
            </a:r>
            <a:r>
              <a:rPr lang="de-DE" sz="2400" dirty="0" err="1"/>
              <a:t>iNodes</a:t>
            </a:r>
            <a:r>
              <a:rPr lang="de-DE" sz="2400" dirty="0"/>
              <a:t>, </a:t>
            </a:r>
            <a:br>
              <a:rPr lang="de-DE" sz="2400" dirty="0"/>
            </a:br>
            <a:r>
              <a:rPr lang="de-DE" sz="2400" dirty="0"/>
              <a:t>iPhone – alles Apfel?</a:t>
            </a:r>
          </a:p>
        </p:txBody>
      </p:sp>
      <p:sp>
        <p:nvSpPr>
          <p:cNvPr id="4" name="Rechteck 3"/>
          <p:cNvSpPr/>
          <p:nvPr/>
        </p:nvSpPr>
        <p:spPr>
          <a:xfrm>
            <a:off x="3268765" y="1217894"/>
            <a:ext cx="3041217" cy="830997"/>
          </a:xfrm>
          <a:prstGeom prst="rect">
            <a:avLst/>
          </a:prstGeom>
        </p:spPr>
        <p:txBody>
          <a:bodyPr wrap="none">
            <a:spAutoFit/>
          </a:bodyPr>
          <a:lstStyle/>
          <a:p>
            <a:r>
              <a:rPr lang="de-DE" sz="2400" dirty="0"/>
              <a:t>RAID 0 oder RAID 1 </a:t>
            </a:r>
            <a:br>
              <a:rPr lang="de-DE" sz="2400" dirty="0"/>
            </a:br>
            <a:r>
              <a:rPr lang="de-DE" sz="2400" dirty="0"/>
              <a:t>eine für DJ-Anlage?</a:t>
            </a:r>
          </a:p>
        </p:txBody>
      </p:sp>
      <p:sp>
        <p:nvSpPr>
          <p:cNvPr id="14" name="Textfeld 13">
            <a:extLst>
              <a:ext uri="{FF2B5EF4-FFF2-40B4-BE49-F238E27FC236}">
                <a16:creationId xmlns:a16="http://schemas.microsoft.com/office/drawing/2014/main" id="{1F795F5D-0C62-43CA-80F7-134999DF66B0}"/>
              </a:ext>
            </a:extLst>
          </p:cNvPr>
          <p:cNvSpPr txBox="1"/>
          <p:nvPr/>
        </p:nvSpPr>
        <p:spPr>
          <a:xfrm>
            <a:off x="3093562" y="5320605"/>
            <a:ext cx="5120313" cy="1384995"/>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algn="r"/>
            <a:r>
              <a:rPr lang="en-US" sz="2800" dirty="0">
                <a:highlight>
                  <a:srgbClr val="00FF00"/>
                </a:highlight>
              </a:rPr>
              <a:t>https://bit.ly/ibn_hd  </a:t>
            </a:r>
            <a:br>
              <a:rPr lang="en-US" sz="2800" dirty="0">
                <a:highlight>
                  <a:srgbClr val="00FF00"/>
                </a:highlight>
              </a:rPr>
            </a:br>
            <a:r>
              <a:rPr lang="en-US" sz="2800" dirty="0">
                <a:highlight>
                  <a:srgbClr val="00FF00"/>
                </a:highlight>
              </a:rPr>
              <a:t>+1 </a:t>
            </a:r>
            <a:r>
              <a:rPr lang="en-US" sz="2800" dirty="0" err="1">
                <a:highlight>
                  <a:srgbClr val="00FF00"/>
                </a:highlight>
              </a:rPr>
              <a:t>für</a:t>
            </a:r>
            <a:r>
              <a:rPr lang="en-US" sz="2800" dirty="0">
                <a:highlight>
                  <a:srgbClr val="00FF00"/>
                </a:highlight>
              </a:rPr>
              <a:t> </a:t>
            </a:r>
            <a:r>
              <a:rPr lang="en-US" sz="2800" dirty="0" err="1">
                <a:highlight>
                  <a:srgbClr val="00FF00"/>
                </a:highlight>
              </a:rPr>
              <a:t>jede</a:t>
            </a:r>
            <a:r>
              <a:rPr lang="en-US" sz="2800" dirty="0">
                <a:highlight>
                  <a:srgbClr val="00FF00"/>
                </a:highlight>
              </a:rPr>
              <a:t> </a:t>
            </a:r>
            <a:r>
              <a:rPr lang="en-US" sz="2800" dirty="0" err="1">
                <a:highlight>
                  <a:srgbClr val="00FF00"/>
                </a:highlight>
              </a:rPr>
              <a:t>Frage</a:t>
            </a:r>
            <a:r>
              <a:rPr lang="en-US" sz="2800" dirty="0">
                <a:highlight>
                  <a:srgbClr val="00FF00"/>
                </a:highlight>
              </a:rPr>
              <a:t>, die Sie </a:t>
            </a:r>
            <a:r>
              <a:rPr lang="en-US" sz="2800" dirty="0" err="1">
                <a:highlight>
                  <a:srgbClr val="00FF00"/>
                </a:highlight>
              </a:rPr>
              <a:t>wissen</a:t>
            </a:r>
            <a:r>
              <a:rPr lang="en-US" sz="2800" dirty="0">
                <a:highlight>
                  <a:srgbClr val="00FF00"/>
                </a:highlight>
              </a:rPr>
              <a:t> – was </a:t>
            </a:r>
            <a:r>
              <a:rPr lang="en-US" sz="2800" dirty="0" err="1">
                <a:highlight>
                  <a:srgbClr val="00FF00"/>
                </a:highlight>
              </a:rPr>
              <a:t>ist</a:t>
            </a:r>
            <a:r>
              <a:rPr lang="en-US" sz="2800" dirty="0">
                <a:highlight>
                  <a:srgbClr val="00FF00"/>
                </a:highlight>
              </a:rPr>
              <a:t> </a:t>
            </a:r>
            <a:r>
              <a:rPr lang="en-US" sz="2800" dirty="0" err="1">
                <a:highlight>
                  <a:srgbClr val="00FF00"/>
                </a:highlight>
              </a:rPr>
              <a:t>Ihre</a:t>
            </a:r>
            <a:r>
              <a:rPr lang="en-US" sz="2800" dirty="0">
                <a:highlight>
                  <a:srgbClr val="00FF00"/>
                </a:highlight>
              </a:rPr>
              <a:t> </a:t>
            </a:r>
            <a:r>
              <a:rPr lang="en-US" sz="2800" dirty="0" err="1">
                <a:highlight>
                  <a:srgbClr val="00FF00"/>
                </a:highlight>
              </a:rPr>
              <a:t>Summe</a:t>
            </a:r>
            <a:r>
              <a:rPr lang="en-US" sz="2800" dirty="0">
                <a:highlight>
                  <a:srgbClr val="00FF00"/>
                </a:highlight>
              </a:rPr>
              <a:t>?</a:t>
            </a:r>
            <a:endParaRPr lang="de-DE" sz="2800" dirty="0">
              <a:highlight>
                <a:srgbClr val="00FF00"/>
              </a:highlight>
            </a:endParaRPr>
          </a:p>
        </p:txBody>
      </p:sp>
      <p:grpSp>
        <p:nvGrpSpPr>
          <p:cNvPr id="16" name="Gruppieren 34">
            <a:extLst>
              <a:ext uri="{FF2B5EF4-FFF2-40B4-BE49-F238E27FC236}">
                <a16:creationId xmlns:a16="http://schemas.microsoft.com/office/drawing/2014/main" id="{C08CF9A5-A609-4365-8B71-1AF93D463808}"/>
              </a:ext>
            </a:extLst>
          </p:cNvPr>
          <p:cNvGrpSpPr/>
          <p:nvPr/>
        </p:nvGrpSpPr>
        <p:grpSpPr>
          <a:xfrm>
            <a:off x="261211" y="4064065"/>
            <a:ext cx="2380588" cy="2641535"/>
            <a:chOff x="5072066" y="3071810"/>
            <a:chExt cx="3241864" cy="3298290"/>
          </a:xfrm>
        </p:grpSpPr>
        <p:grpSp>
          <p:nvGrpSpPr>
            <p:cNvPr id="17" name="Gruppieren 16">
              <a:extLst>
                <a:ext uri="{FF2B5EF4-FFF2-40B4-BE49-F238E27FC236}">
                  <a16:creationId xmlns:a16="http://schemas.microsoft.com/office/drawing/2014/main" id="{C3E9E25D-CE7C-4397-AFC0-CFB1AF89BEA4}"/>
                </a:ext>
              </a:extLst>
            </p:cNvPr>
            <p:cNvGrpSpPr/>
            <p:nvPr/>
          </p:nvGrpSpPr>
          <p:grpSpPr>
            <a:xfrm>
              <a:off x="5072066" y="3071810"/>
              <a:ext cx="2700000" cy="2700000"/>
              <a:chOff x="5572132" y="3429000"/>
              <a:chExt cx="2700000" cy="2700000"/>
            </a:xfrm>
          </p:grpSpPr>
          <p:sp>
            <p:nvSpPr>
              <p:cNvPr id="37" name="Rechteck 36">
                <a:extLst>
                  <a:ext uri="{FF2B5EF4-FFF2-40B4-BE49-F238E27FC236}">
                    <a16:creationId xmlns:a16="http://schemas.microsoft.com/office/drawing/2014/main" id="{4EC6358F-5723-40C5-8646-AAA4C230F350}"/>
                  </a:ext>
                </a:extLst>
              </p:cNvPr>
              <p:cNvSpPr/>
              <p:nvPr/>
            </p:nvSpPr>
            <p:spPr>
              <a:xfrm>
                <a:off x="5572132" y="3429000"/>
                <a:ext cx="2700000" cy="2700000"/>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8" name="Rechteck 37">
                <a:extLst>
                  <a:ext uri="{FF2B5EF4-FFF2-40B4-BE49-F238E27FC236}">
                    <a16:creationId xmlns:a16="http://schemas.microsoft.com/office/drawing/2014/main" id="{9FFD8E30-903C-4747-87EB-7C587C9C502C}"/>
                  </a:ext>
                </a:extLst>
              </p:cNvPr>
              <p:cNvSpPr/>
              <p:nvPr/>
            </p:nvSpPr>
            <p:spPr>
              <a:xfrm>
                <a:off x="5572132" y="3429000"/>
                <a:ext cx="934314" cy="2700000"/>
              </a:xfrm>
              <a:prstGeom prst="rect">
                <a:avLst/>
              </a:prstGeom>
              <a:solidFill>
                <a:srgbClr val="FF0000">
                  <a:alpha val="5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9" name="Rechteck 38">
                <a:extLst>
                  <a:ext uri="{FF2B5EF4-FFF2-40B4-BE49-F238E27FC236}">
                    <a16:creationId xmlns:a16="http://schemas.microsoft.com/office/drawing/2014/main" id="{1B95C630-3844-4314-9F15-DB498F8F5DBA}"/>
                  </a:ext>
                </a:extLst>
              </p:cNvPr>
              <p:cNvSpPr/>
              <p:nvPr/>
            </p:nvSpPr>
            <p:spPr>
              <a:xfrm rot="16200000">
                <a:off x="6454975" y="2546157"/>
                <a:ext cx="934314" cy="2700000"/>
              </a:xfrm>
              <a:prstGeom prst="rect">
                <a:avLst/>
              </a:prstGeom>
              <a:solidFill>
                <a:srgbClr val="FF0000">
                  <a:alpha val="5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18" name="Geschweifte Klammer rechts 17">
              <a:extLst>
                <a:ext uri="{FF2B5EF4-FFF2-40B4-BE49-F238E27FC236}">
                  <a16:creationId xmlns:a16="http://schemas.microsoft.com/office/drawing/2014/main" id="{E0A7A55D-3A09-43FF-9C04-C03F5561F80D}"/>
                </a:ext>
              </a:extLst>
            </p:cNvPr>
            <p:cNvSpPr/>
            <p:nvPr/>
          </p:nvSpPr>
          <p:spPr>
            <a:xfrm rot="5400000">
              <a:off x="5429256" y="5429264"/>
              <a:ext cx="214314" cy="928694"/>
            </a:xfrm>
            <a:prstGeom prst="rightBrac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19" name="Geschweifte Klammer rechts 18">
              <a:extLst>
                <a:ext uri="{FF2B5EF4-FFF2-40B4-BE49-F238E27FC236}">
                  <a16:creationId xmlns:a16="http://schemas.microsoft.com/office/drawing/2014/main" id="{8D820576-ADC8-4564-8189-46F7168F117E}"/>
                </a:ext>
              </a:extLst>
            </p:cNvPr>
            <p:cNvSpPr/>
            <p:nvPr/>
          </p:nvSpPr>
          <p:spPr>
            <a:xfrm rot="5400000">
              <a:off x="6769907" y="5017307"/>
              <a:ext cx="220010" cy="1758304"/>
            </a:xfrm>
            <a:prstGeom prst="rightBrac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20" name="Textfeld 19">
              <a:extLst>
                <a:ext uri="{FF2B5EF4-FFF2-40B4-BE49-F238E27FC236}">
                  <a16:creationId xmlns:a16="http://schemas.microsoft.com/office/drawing/2014/main" id="{F15F11FD-5B6D-46E8-B9CE-F106597D62F3}"/>
                </a:ext>
              </a:extLst>
            </p:cNvPr>
            <p:cNvSpPr txBox="1"/>
            <p:nvPr/>
          </p:nvSpPr>
          <p:spPr>
            <a:xfrm>
              <a:off x="5357818" y="6000768"/>
              <a:ext cx="312906" cy="369332"/>
            </a:xfrm>
            <a:prstGeom prst="rect">
              <a:avLst/>
            </a:prstGeom>
            <a:noFill/>
          </p:spPr>
          <p:txBody>
            <a:bodyPr wrap="none" rtlCol="0">
              <a:spAutoFit/>
            </a:bodyPr>
            <a:lstStyle/>
            <a:p>
              <a:r>
                <a:rPr lang="de-DE" dirty="0"/>
                <a:t>b</a:t>
              </a:r>
            </a:p>
          </p:txBody>
        </p:sp>
        <p:sp>
          <p:nvSpPr>
            <p:cNvPr id="21" name="Textfeld 20">
              <a:extLst>
                <a:ext uri="{FF2B5EF4-FFF2-40B4-BE49-F238E27FC236}">
                  <a16:creationId xmlns:a16="http://schemas.microsoft.com/office/drawing/2014/main" id="{CD20D629-AF62-4F3D-A2B2-442C020FD9FB}"/>
                </a:ext>
              </a:extLst>
            </p:cNvPr>
            <p:cNvSpPr txBox="1"/>
            <p:nvPr/>
          </p:nvSpPr>
          <p:spPr>
            <a:xfrm>
              <a:off x="6715140" y="6000768"/>
              <a:ext cx="312906" cy="369332"/>
            </a:xfrm>
            <a:prstGeom prst="rect">
              <a:avLst/>
            </a:prstGeom>
            <a:noFill/>
          </p:spPr>
          <p:txBody>
            <a:bodyPr wrap="none" rtlCol="0">
              <a:spAutoFit/>
            </a:bodyPr>
            <a:lstStyle/>
            <a:p>
              <a:r>
                <a:rPr lang="de-DE" dirty="0"/>
                <a:t>g</a:t>
              </a:r>
            </a:p>
          </p:txBody>
        </p:sp>
        <p:grpSp>
          <p:nvGrpSpPr>
            <p:cNvPr id="24" name="Gruppieren 23">
              <a:extLst>
                <a:ext uri="{FF2B5EF4-FFF2-40B4-BE49-F238E27FC236}">
                  <a16:creationId xmlns:a16="http://schemas.microsoft.com/office/drawing/2014/main" id="{60E19851-8C29-47F2-8F29-527256D2623C}"/>
                </a:ext>
              </a:extLst>
            </p:cNvPr>
            <p:cNvGrpSpPr/>
            <p:nvPr/>
          </p:nvGrpSpPr>
          <p:grpSpPr>
            <a:xfrm rot="5400000" flipV="1">
              <a:off x="6553216" y="4305304"/>
              <a:ext cx="2686998" cy="220010"/>
              <a:chOff x="5224466" y="5938854"/>
              <a:chExt cx="2686998" cy="220010"/>
            </a:xfrm>
          </p:grpSpPr>
          <p:sp>
            <p:nvSpPr>
              <p:cNvPr id="35" name="Geschweifte Klammer rechts 34">
                <a:extLst>
                  <a:ext uri="{FF2B5EF4-FFF2-40B4-BE49-F238E27FC236}">
                    <a16:creationId xmlns:a16="http://schemas.microsoft.com/office/drawing/2014/main" id="{44914756-E604-4CEE-8FCD-A3E81A277497}"/>
                  </a:ext>
                </a:extLst>
              </p:cNvPr>
              <p:cNvSpPr/>
              <p:nvPr/>
            </p:nvSpPr>
            <p:spPr>
              <a:xfrm rot="5400000">
                <a:off x="5581656" y="5581664"/>
                <a:ext cx="214314" cy="928694"/>
              </a:xfrm>
              <a:prstGeom prst="rightBrac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36" name="Geschweifte Klammer rechts 35">
                <a:extLst>
                  <a:ext uri="{FF2B5EF4-FFF2-40B4-BE49-F238E27FC236}">
                    <a16:creationId xmlns:a16="http://schemas.microsoft.com/office/drawing/2014/main" id="{1E7402D3-14FF-4F41-A1DF-537C4D5465E0}"/>
                  </a:ext>
                </a:extLst>
              </p:cNvPr>
              <p:cNvSpPr/>
              <p:nvPr/>
            </p:nvSpPr>
            <p:spPr>
              <a:xfrm rot="5400000">
                <a:off x="6922307" y="5169707"/>
                <a:ext cx="220010" cy="1758304"/>
              </a:xfrm>
              <a:prstGeom prst="rightBrac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grpSp>
        <p:sp>
          <p:nvSpPr>
            <p:cNvPr id="25" name="Textfeld 24">
              <a:extLst>
                <a:ext uri="{FF2B5EF4-FFF2-40B4-BE49-F238E27FC236}">
                  <a16:creationId xmlns:a16="http://schemas.microsoft.com/office/drawing/2014/main" id="{D1DA724A-9057-45A7-8613-53CC913BD95A}"/>
                </a:ext>
              </a:extLst>
            </p:cNvPr>
            <p:cNvSpPr txBox="1"/>
            <p:nvPr/>
          </p:nvSpPr>
          <p:spPr>
            <a:xfrm>
              <a:off x="8001024" y="3357562"/>
              <a:ext cx="312906" cy="369332"/>
            </a:xfrm>
            <a:prstGeom prst="rect">
              <a:avLst/>
            </a:prstGeom>
            <a:noFill/>
          </p:spPr>
          <p:txBody>
            <a:bodyPr wrap="none" rtlCol="0">
              <a:spAutoFit/>
            </a:bodyPr>
            <a:lstStyle/>
            <a:p>
              <a:r>
                <a:rPr lang="de-DE" dirty="0"/>
                <a:t>b</a:t>
              </a:r>
            </a:p>
          </p:txBody>
        </p:sp>
        <p:sp>
          <p:nvSpPr>
            <p:cNvPr id="26" name="Textfeld 25">
              <a:extLst>
                <a:ext uri="{FF2B5EF4-FFF2-40B4-BE49-F238E27FC236}">
                  <a16:creationId xmlns:a16="http://schemas.microsoft.com/office/drawing/2014/main" id="{35B5112E-F56B-4ED1-A490-9387C277B9D0}"/>
                </a:ext>
              </a:extLst>
            </p:cNvPr>
            <p:cNvSpPr txBox="1"/>
            <p:nvPr/>
          </p:nvSpPr>
          <p:spPr>
            <a:xfrm>
              <a:off x="8001024" y="4681546"/>
              <a:ext cx="312906" cy="369332"/>
            </a:xfrm>
            <a:prstGeom prst="rect">
              <a:avLst/>
            </a:prstGeom>
            <a:noFill/>
          </p:spPr>
          <p:txBody>
            <a:bodyPr wrap="none" rtlCol="0">
              <a:spAutoFit/>
            </a:bodyPr>
            <a:lstStyle/>
            <a:p>
              <a:r>
                <a:rPr lang="de-DE" dirty="0"/>
                <a:t>g</a:t>
              </a:r>
            </a:p>
          </p:txBody>
        </p:sp>
        <p:pic>
          <p:nvPicPr>
            <p:cNvPr id="27" name="Picture 4" descr="C:\Artur\Academic\Lehre\10.WS-IBN\VL\figures\vl13\che-guevara-albertokorda-1950.jpg">
              <a:extLst>
                <a:ext uri="{FF2B5EF4-FFF2-40B4-BE49-F238E27FC236}">
                  <a16:creationId xmlns:a16="http://schemas.microsoft.com/office/drawing/2014/main" id="{E2479C7D-D9EC-44B3-8971-BCDC3FDA1B09}"/>
                </a:ext>
              </a:extLst>
            </p:cNvPr>
            <p:cNvPicPr>
              <a:picLocks noChangeAspect="1" noChangeArrowheads="1"/>
            </p:cNvPicPr>
            <p:nvPr/>
          </p:nvPicPr>
          <p:blipFill>
            <a:blip r:embed="rId3" cstate="print"/>
            <a:srcRect/>
            <a:stretch>
              <a:fillRect/>
            </a:stretch>
          </p:blipFill>
          <p:spPr bwMode="auto">
            <a:xfrm>
              <a:off x="5572132" y="4643446"/>
              <a:ext cx="269969" cy="357190"/>
            </a:xfrm>
            <a:prstGeom prst="rect">
              <a:avLst/>
            </a:prstGeom>
            <a:noFill/>
          </p:spPr>
        </p:pic>
        <p:pic>
          <p:nvPicPr>
            <p:cNvPr id="28" name="Picture 8" descr="C:\Artur\Academic\Lehre\10.WS-IBN\VL\figures\vl13\dr-evil-smaller.jpg">
              <a:extLst>
                <a:ext uri="{FF2B5EF4-FFF2-40B4-BE49-F238E27FC236}">
                  <a16:creationId xmlns:a16="http://schemas.microsoft.com/office/drawing/2014/main" id="{3ACA2BAA-54D2-4133-8832-08D1B97E8ACD}"/>
                </a:ext>
              </a:extLst>
            </p:cNvPr>
            <p:cNvPicPr>
              <a:picLocks noChangeAspect="1" noChangeArrowheads="1"/>
            </p:cNvPicPr>
            <p:nvPr/>
          </p:nvPicPr>
          <p:blipFill>
            <a:blip r:embed="rId4" cstate="print"/>
            <a:srcRect/>
            <a:stretch>
              <a:fillRect/>
            </a:stretch>
          </p:blipFill>
          <p:spPr bwMode="auto">
            <a:xfrm>
              <a:off x="5143504" y="3357562"/>
              <a:ext cx="345382" cy="357190"/>
            </a:xfrm>
            <a:prstGeom prst="rect">
              <a:avLst/>
            </a:prstGeom>
            <a:noFill/>
          </p:spPr>
        </p:pic>
        <p:pic>
          <p:nvPicPr>
            <p:cNvPr id="29" name="Picture 8" descr="C:\Artur\Academic\Lehre\10.WS-IBN\VL\figures\vl13\dr-evil-smaller.jpg">
              <a:extLst>
                <a:ext uri="{FF2B5EF4-FFF2-40B4-BE49-F238E27FC236}">
                  <a16:creationId xmlns:a16="http://schemas.microsoft.com/office/drawing/2014/main" id="{E2B5C2FE-99B2-48D3-B73E-89AB186040C7}"/>
                </a:ext>
              </a:extLst>
            </p:cNvPr>
            <p:cNvPicPr>
              <a:picLocks noChangeAspect="1" noChangeArrowheads="1"/>
            </p:cNvPicPr>
            <p:nvPr/>
          </p:nvPicPr>
          <p:blipFill>
            <a:blip r:embed="rId4" cstate="print"/>
            <a:srcRect/>
            <a:stretch>
              <a:fillRect/>
            </a:stretch>
          </p:blipFill>
          <p:spPr bwMode="auto">
            <a:xfrm>
              <a:off x="5500694" y="3357562"/>
              <a:ext cx="345382" cy="357190"/>
            </a:xfrm>
            <a:prstGeom prst="rect">
              <a:avLst/>
            </a:prstGeom>
            <a:noFill/>
          </p:spPr>
        </p:pic>
        <p:pic>
          <p:nvPicPr>
            <p:cNvPr id="30" name="Picture 8" descr="C:\Artur\Academic\Lehre\10.WS-IBN\VL\figures\vl13\dr-evil-smaller.jpg">
              <a:extLst>
                <a:ext uri="{FF2B5EF4-FFF2-40B4-BE49-F238E27FC236}">
                  <a16:creationId xmlns:a16="http://schemas.microsoft.com/office/drawing/2014/main" id="{9D4C3A20-1DD9-49A3-8483-DF71F0D34942}"/>
                </a:ext>
              </a:extLst>
            </p:cNvPr>
            <p:cNvPicPr>
              <a:picLocks noChangeAspect="1" noChangeArrowheads="1"/>
            </p:cNvPicPr>
            <p:nvPr/>
          </p:nvPicPr>
          <p:blipFill>
            <a:blip r:embed="rId4" cstate="print"/>
            <a:srcRect/>
            <a:stretch>
              <a:fillRect/>
            </a:stretch>
          </p:blipFill>
          <p:spPr bwMode="auto">
            <a:xfrm>
              <a:off x="5214942" y="4643446"/>
              <a:ext cx="345382" cy="357190"/>
            </a:xfrm>
            <a:prstGeom prst="rect">
              <a:avLst/>
            </a:prstGeom>
            <a:noFill/>
          </p:spPr>
        </p:pic>
        <p:pic>
          <p:nvPicPr>
            <p:cNvPr id="31" name="Picture 4" descr="C:\Artur\Academic\Lehre\10.WS-IBN\VL\figures\vl13\che-guevara-albertokorda-1950.jpg">
              <a:extLst>
                <a:ext uri="{FF2B5EF4-FFF2-40B4-BE49-F238E27FC236}">
                  <a16:creationId xmlns:a16="http://schemas.microsoft.com/office/drawing/2014/main" id="{A792C9EE-B4A4-4CC8-AD88-2818D379B38E}"/>
                </a:ext>
              </a:extLst>
            </p:cNvPr>
            <p:cNvPicPr>
              <a:picLocks noChangeAspect="1" noChangeArrowheads="1"/>
            </p:cNvPicPr>
            <p:nvPr/>
          </p:nvPicPr>
          <p:blipFill>
            <a:blip r:embed="rId3" cstate="print"/>
            <a:srcRect/>
            <a:stretch>
              <a:fillRect/>
            </a:stretch>
          </p:blipFill>
          <p:spPr bwMode="auto">
            <a:xfrm>
              <a:off x="6643702" y="3357562"/>
              <a:ext cx="269969" cy="357190"/>
            </a:xfrm>
            <a:prstGeom prst="rect">
              <a:avLst/>
            </a:prstGeom>
            <a:noFill/>
          </p:spPr>
        </p:pic>
        <p:pic>
          <p:nvPicPr>
            <p:cNvPr id="32" name="Picture 8" descr="C:\Artur\Academic\Lehre\10.WS-IBN\VL\figures\vl13\dr-evil-smaller.jpg">
              <a:extLst>
                <a:ext uri="{FF2B5EF4-FFF2-40B4-BE49-F238E27FC236}">
                  <a16:creationId xmlns:a16="http://schemas.microsoft.com/office/drawing/2014/main" id="{0A014F96-E343-4A05-8E1A-302087002AAE}"/>
                </a:ext>
              </a:extLst>
            </p:cNvPr>
            <p:cNvPicPr>
              <a:picLocks noChangeAspect="1" noChangeArrowheads="1"/>
            </p:cNvPicPr>
            <p:nvPr/>
          </p:nvPicPr>
          <p:blipFill>
            <a:blip r:embed="rId4" cstate="print"/>
            <a:srcRect/>
            <a:stretch>
              <a:fillRect/>
            </a:stretch>
          </p:blipFill>
          <p:spPr bwMode="auto">
            <a:xfrm>
              <a:off x="6929454" y="3357562"/>
              <a:ext cx="345382" cy="357190"/>
            </a:xfrm>
            <a:prstGeom prst="rect">
              <a:avLst/>
            </a:prstGeom>
            <a:noFill/>
          </p:spPr>
        </p:pic>
        <p:pic>
          <p:nvPicPr>
            <p:cNvPr id="33" name="Picture 4" descr="C:\Artur\Academic\Lehre\10.WS-IBN\VL\figures\vl13\che-guevara-albertokorda-1950.jpg">
              <a:extLst>
                <a:ext uri="{FF2B5EF4-FFF2-40B4-BE49-F238E27FC236}">
                  <a16:creationId xmlns:a16="http://schemas.microsoft.com/office/drawing/2014/main" id="{8EC5ED54-8BE4-4E65-B36D-D95F12586388}"/>
                </a:ext>
              </a:extLst>
            </p:cNvPr>
            <p:cNvPicPr>
              <a:picLocks noChangeAspect="1" noChangeArrowheads="1"/>
            </p:cNvPicPr>
            <p:nvPr/>
          </p:nvPicPr>
          <p:blipFill>
            <a:blip r:embed="rId3" cstate="print"/>
            <a:srcRect/>
            <a:stretch>
              <a:fillRect/>
            </a:stretch>
          </p:blipFill>
          <p:spPr bwMode="auto">
            <a:xfrm>
              <a:off x="6715140" y="4643446"/>
              <a:ext cx="269969" cy="357190"/>
            </a:xfrm>
            <a:prstGeom prst="rect">
              <a:avLst/>
            </a:prstGeom>
            <a:noFill/>
          </p:spPr>
        </p:pic>
        <p:pic>
          <p:nvPicPr>
            <p:cNvPr id="34" name="Picture 4" descr="C:\Artur\Academic\Lehre\10.WS-IBN\VL\figures\vl13\che-guevara-albertokorda-1950.jpg">
              <a:extLst>
                <a:ext uri="{FF2B5EF4-FFF2-40B4-BE49-F238E27FC236}">
                  <a16:creationId xmlns:a16="http://schemas.microsoft.com/office/drawing/2014/main" id="{B84CFEA5-3A0F-4235-BEF6-62BA562CF0EF}"/>
                </a:ext>
              </a:extLst>
            </p:cNvPr>
            <p:cNvPicPr>
              <a:picLocks noChangeAspect="1" noChangeArrowheads="1"/>
            </p:cNvPicPr>
            <p:nvPr/>
          </p:nvPicPr>
          <p:blipFill>
            <a:blip r:embed="rId3" cstate="print"/>
            <a:srcRect/>
            <a:stretch>
              <a:fillRect/>
            </a:stretch>
          </p:blipFill>
          <p:spPr bwMode="auto">
            <a:xfrm>
              <a:off x="7000892" y="4643446"/>
              <a:ext cx="269969" cy="357190"/>
            </a:xfrm>
            <a:prstGeom prst="rect">
              <a:avLst/>
            </a:prstGeom>
            <a:noFill/>
          </p:spPr>
        </p:pic>
      </p:grpSp>
      <p:sp>
        <p:nvSpPr>
          <p:cNvPr id="8" name="Sprechblase: rechteckig mit abgerundeten Ecken 7">
            <a:extLst>
              <a:ext uri="{FF2B5EF4-FFF2-40B4-BE49-F238E27FC236}">
                <a16:creationId xmlns:a16="http://schemas.microsoft.com/office/drawing/2014/main" id="{154A4364-A23D-4EB0-B01A-45753A80BFC2}"/>
              </a:ext>
            </a:extLst>
          </p:cNvPr>
          <p:cNvSpPr/>
          <p:nvPr/>
        </p:nvSpPr>
        <p:spPr>
          <a:xfrm>
            <a:off x="366025" y="3296465"/>
            <a:ext cx="2160240" cy="541843"/>
          </a:xfrm>
          <a:prstGeom prst="wedgeRoundRectCallout">
            <a:avLst>
              <a:gd name="adj1" fmla="val -13039"/>
              <a:gd name="adj2" fmla="val 89275"/>
              <a:gd name="adj3" fmla="val 16667"/>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Was wollen wir hier berechnen?</a:t>
            </a:r>
            <a:endParaRPr lang="en-US" dirty="0"/>
          </a:p>
        </p:txBody>
      </p:sp>
      <p:sp>
        <p:nvSpPr>
          <p:cNvPr id="40" name="Textfeld 39">
            <a:extLst>
              <a:ext uri="{FF2B5EF4-FFF2-40B4-BE49-F238E27FC236}">
                <a16:creationId xmlns:a16="http://schemas.microsoft.com/office/drawing/2014/main" id="{05A0606C-C613-4B81-8887-56C9575814B6}"/>
              </a:ext>
            </a:extLst>
          </p:cNvPr>
          <p:cNvSpPr txBox="1"/>
          <p:nvPr/>
        </p:nvSpPr>
        <p:spPr>
          <a:xfrm>
            <a:off x="2727429" y="2880966"/>
            <a:ext cx="3143809" cy="830997"/>
          </a:xfrm>
          <a:prstGeom prst="rect">
            <a:avLst/>
          </a:prstGeom>
          <a:noFill/>
        </p:spPr>
        <p:txBody>
          <a:bodyPr wrap="none" rtlCol="0">
            <a:spAutoFit/>
          </a:bodyPr>
          <a:lstStyle/>
          <a:p>
            <a:r>
              <a:rPr lang="de-DE" sz="2400" dirty="0"/>
              <a:t>Hart oder s. – kein Ei,</a:t>
            </a:r>
          </a:p>
          <a:p>
            <a:r>
              <a:rPr lang="de-DE" sz="2400" dirty="0"/>
              <a:t>sondern ein …?</a:t>
            </a:r>
          </a:p>
        </p:txBody>
      </p:sp>
    </p:spTree>
    <p:extLst>
      <p:ext uri="{BB962C8B-B14F-4D97-AF65-F5344CB8AC3E}">
        <p14:creationId xmlns:p14="http://schemas.microsoft.com/office/powerpoint/2010/main" val="654373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6C6AE60A-B69C-4790-82F7-3882EDF23186}" type="slidenum">
              <a:rPr lang="de-DE" smtClean="0"/>
              <a:pPr/>
              <a:t>3</a:t>
            </a:fld>
            <a:endParaRPr lang="de-DE" dirty="0"/>
          </a:p>
        </p:txBody>
      </p:sp>
      <p:sp>
        <p:nvSpPr>
          <p:cNvPr id="3" name="Titel 2"/>
          <p:cNvSpPr>
            <a:spLocks noGrp="1"/>
          </p:cNvSpPr>
          <p:nvPr>
            <p:ph type="title"/>
          </p:nvPr>
        </p:nvSpPr>
        <p:spPr/>
        <p:txBody>
          <a:bodyPr/>
          <a:lstStyle/>
          <a:p>
            <a:r>
              <a:rPr lang="de-DE" dirty="0"/>
              <a:t>Deadlocks - Grundlagen</a:t>
            </a:r>
          </a:p>
        </p:txBody>
      </p:sp>
    </p:spTree>
    <p:extLst>
      <p:ext uri="{BB962C8B-B14F-4D97-AF65-F5344CB8AC3E}">
        <p14:creationId xmlns:p14="http://schemas.microsoft.com/office/powerpoint/2010/main" val="13261110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Deadlocks - Verklemmungen</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4</a:t>
            </a:fld>
            <a:endParaRPr lang="en-US" noProof="0" dirty="0"/>
          </a:p>
        </p:txBody>
      </p:sp>
      <p:sp>
        <p:nvSpPr>
          <p:cNvPr id="4" name="Inhaltsplatzhalter 3"/>
          <p:cNvSpPr>
            <a:spLocks noGrp="1"/>
          </p:cNvSpPr>
          <p:nvPr>
            <p:ph sz="quarter" idx="1"/>
          </p:nvPr>
        </p:nvSpPr>
        <p:spPr>
          <a:xfrm>
            <a:off x="457200" y="1219200"/>
            <a:ext cx="8003232" cy="2641848"/>
          </a:xfrm>
        </p:spPr>
        <p:txBody>
          <a:bodyPr/>
          <a:lstStyle/>
          <a:p>
            <a:r>
              <a:rPr lang="de-DE" dirty="0"/>
              <a:t>Ein Gesetz, das in US-Staat Kansas anfangs des 20. Jahrhunderts verabschiedet wurde, besagt:</a:t>
            </a:r>
          </a:p>
          <a:p>
            <a:pPr lvl="1"/>
            <a:endParaRPr lang="de-DE" dirty="0"/>
          </a:p>
        </p:txBody>
      </p:sp>
      <p:sp>
        <p:nvSpPr>
          <p:cNvPr id="7" name="Inhaltsplatzhalter 6"/>
          <p:cNvSpPr>
            <a:spLocks noGrp="1"/>
          </p:cNvSpPr>
          <p:nvPr>
            <p:ph sz="quarter" idx="13"/>
          </p:nvPr>
        </p:nvSpPr>
        <p:spPr/>
        <p:txBody>
          <a:bodyPr/>
          <a:lstStyle/>
          <a:p>
            <a:r>
              <a:rPr lang="de-DE" dirty="0"/>
              <a:t>Generell, ein </a:t>
            </a:r>
            <a:r>
              <a:rPr lang="de-DE" b="1" dirty="0">
                <a:solidFill>
                  <a:srgbClr val="FF0000"/>
                </a:solidFill>
              </a:rPr>
              <a:t>Deadlock </a:t>
            </a:r>
            <a:r>
              <a:rPr lang="de-DE" dirty="0"/>
              <a:t>(</a:t>
            </a:r>
            <a:r>
              <a:rPr lang="de-DE" b="1" dirty="0">
                <a:solidFill>
                  <a:srgbClr val="FF0000"/>
                </a:solidFill>
              </a:rPr>
              <a:t>Verklemmung</a:t>
            </a:r>
            <a:r>
              <a:rPr lang="de-DE" dirty="0"/>
              <a:t>) entsteht, wenn mehrere Prozesse aufeinander warten …</a:t>
            </a:r>
          </a:p>
          <a:p>
            <a:r>
              <a:rPr lang="de-DE" dirty="0"/>
              <a:t>Und keiner die Ausführung fortsetzen kann </a:t>
            </a:r>
          </a:p>
          <a:p>
            <a:pPr lvl="1"/>
            <a:r>
              <a:rPr lang="de-DE" dirty="0"/>
              <a:t>Weil </a:t>
            </a:r>
            <a:r>
              <a:rPr lang="de-DE" u="sng" dirty="0"/>
              <a:t>andere</a:t>
            </a:r>
            <a:r>
              <a:rPr lang="de-DE" dirty="0"/>
              <a:t> wartende Prozesse Ressourcen gesperrt haben, die benötig sind, um weiterzumachen</a:t>
            </a:r>
          </a:p>
        </p:txBody>
      </p:sp>
      <p:sp>
        <p:nvSpPr>
          <p:cNvPr id="8" name="Rechteck 7"/>
          <p:cNvSpPr/>
          <p:nvPr/>
        </p:nvSpPr>
        <p:spPr>
          <a:xfrm>
            <a:off x="827584" y="2204864"/>
            <a:ext cx="7272808" cy="1200329"/>
          </a:xfrm>
          <a:prstGeom prst="rect">
            <a:avLst/>
          </a:prstGeom>
          <a:solidFill>
            <a:srgbClr val="FFC000"/>
          </a:solidFill>
          <a:ln/>
        </p:spPr>
        <p:style>
          <a:lnRef idx="0">
            <a:schemeClr val="accent6"/>
          </a:lnRef>
          <a:fillRef idx="3">
            <a:schemeClr val="accent6"/>
          </a:fillRef>
          <a:effectRef idx="3">
            <a:schemeClr val="accent6"/>
          </a:effectRef>
          <a:fontRef idx="minor">
            <a:schemeClr val="lt1"/>
          </a:fontRef>
        </p:style>
        <p:txBody>
          <a:bodyPr wrap="square">
            <a:spAutoFit/>
          </a:bodyPr>
          <a:lstStyle/>
          <a:p>
            <a:r>
              <a:rPr lang="en-US" sz="2400" i="1" dirty="0"/>
              <a:t>„When two trains approach each other at a crossing, both shall come to a full stop and neither shall start up again until the other has gone.“</a:t>
            </a:r>
          </a:p>
        </p:txBody>
      </p:sp>
    </p:spTree>
    <p:extLst>
      <p:ext uri="{BB962C8B-B14F-4D97-AF65-F5344CB8AC3E}">
        <p14:creationId xmlns:p14="http://schemas.microsoft.com/office/powerpoint/2010/main" val="4280221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2000"/>
                                        <p:tgtEl>
                                          <p:spTgt spid="7">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xEl>
                                              <p:pRg st="1" end="1"/>
                                            </p:txEl>
                                          </p:spTgt>
                                        </p:tgtEl>
                                        <p:attrNameLst>
                                          <p:attrName>style.visibility</p:attrName>
                                        </p:attrNameLst>
                                      </p:cBhvr>
                                      <p:to>
                                        <p:strVal val="visible"/>
                                      </p:to>
                                    </p:set>
                                    <p:animEffect transition="in" filter="fade">
                                      <p:cBhvr>
                                        <p:cTn id="10" dur="2000"/>
                                        <p:tgtEl>
                                          <p:spTgt spid="7">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animEffect transition="in" filter="fade">
                                      <p:cBhvr>
                                        <p:cTn id="13" dur="20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allAtOnce"/>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Deadlock - Beispiel</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5</a:t>
            </a:fld>
            <a:endParaRPr lang="en-US" noProof="0" dirty="0"/>
          </a:p>
        </p:txBody>
      </p:sp>
      <p:sp>
        <p:nvSpPr>
          <p:cNvPr id="4" name="Inhaltsplatzhalter 3"/>
          <p:cNvSpPr>
            <a:spLocks noGrp="1"/>
          </p:cNvSpPr>
          <p:nvPr>
            <p:ph sz="quarter" idx="1"/>
          </p:nvPr>
        </p:nvSpPr>
        <p:spPr>
          <a:xfrm>
            <a:off x="457200" y="1219200"/>
            <a:ext cx="8229600" cy="3289920"/>
          </a:xfrm>
        </p:spPr>
        <p:txBody>
          <a:bodyPr/>
          <a:lstStyle/>
          <a:p>
            <a:r>
              <a:rPr lang="de-DE" dirty="0"/>
              <a:t>Ein System hat zwei Festplatten (FP), </a:t>
            </a:r>
            <a:r>
              <a:rPr lang="de-DE" b="1" dirty="0">
                <a:solidFill>
                  <a:srgbClr val="FF0000"/>
                </a:solidFill>
              </a:rPr>
              <a:t>A</a:t>
            </a:r>
            <a:r>
              <a:rPr lang="de-DE" dirty="0"/>
              <a:t> und </a:t>
            </a:r>
            <a:r>
              <a:rPr lang="de-DE" b="1" dirty="0">
                <a:solidFill>
                  <a:srgbClr val="FF0000"/>
                </a:solidFill>
              </a:rPr>
              <a:t>B</a:t>
            </a:r>
          </a:p>
          <a:p>
            <a:r>
              <a:rPr lang="de-DE" dirty="0"/>
              <a:t>Eine Situation mit einem Deadlock:</a:t>
            </a:r>
          </a:p>
          <a:p>
            <a:pPr lvl="1"/>
            <a:r>
              <a:rPr lang="de-DE" b="1" dirty="0">
                <a:solidFill>
                  <a:srgbClr val="FF0000"/>
                </a:solidFill>
              </a:rPr>
              <a:t>Prozess P1</a:t>
            </a:r>
            <a:r>
              <a:rPr lang="de-DE" dirty="0"/>
              <a:t> hat A gesperrt (durch Betreten einer kritischen Region) und braucht nun B</a:t>
            </a:r>
          </a:p>
          <a:p>
            <a:pPr lvl="1"/>
            <a:r>
              <a:rPr lang="de-DE" b="1" dirty="0">
                <a:solidFill>
                  <a:srgbClr val="FF0000"/>
                </a:solidFill>
              </a:rPr>
              <a:t>Prozess P2 </a:t>
            </a:r>
            <a:r>
              <a:rPr lang="de-DE" dirty="0"/>
              <a:t>hat B gesperrt und braucht nun A</a:t>
            </a:r>
          </a:p>
          <a:p>
            <a:r>
              <a:rPr lang="de-DE" dirty="0"/>
              <a:t>Eine mögliche „Implementierung“ durch Semaphore?</a:t>
            </a:r>
          </a:p>
          <a:p>
            <a:pPr lvl="1"/>
            <a:r>
              <a:rPr lang="de-DE" dirty="0"/>
              <a:t>Semaphore A und B, </a:t>
            </a:r>
            <a:r>
              <a:rPr lang="de-DE" u="sng" dirty="0"/>
              <a:t>initialisiert jeweils zu 1 </a:t>
            </a:r>
          </a:p>
        </p:txBody>
      </p:sp>
      <p:graphicFrame>
        <p:nvGraphicFramePr>
          <p:cNvPr id="5" name="Tabelle 4"/>
          <p:cNvGraphicFramePr>
            <a:graphicFrameLocks noGrp="1"/>
          </p:cNvGraphicFramePr>
          <p:nvPr/>
        </p:nvGraphicFramePr>
        <p:xfrm>
          <a:off x="1115616" y="4365104"/>
          <a:ext cx="6120680" cy="1332148"/>
        </p:xfrm>
        <a:graphic>
          <a:graphicData uri="http://schemas.openxmlformats.org/drawingml/2006/table">
            <a:tbl>
              <a:tblPr firstRow="1" bandRow="1">
                <a:tableStyleId>{5C22544A-7EE6-4342-B048-85BDC9FD1C3A}</a:tableStyleId>
              </a:tblPr>
              <a:tblGrid>
                <a:gridCol w="3060340">
                  <a:extLst>
                    <a:ext uri="{9D8B030D-6E8A-4147-A177-3AD203B41FA5}">
                      <a16:colId xmlns:a16="http://schemas.microsoft.com/office/drawing/2014/main" val="20000"/>
                    </a:ext>
                  </a:extLst>
                </a:gridCol>
                <a:gridCol w="3060340">
                  <a:extLst>
                    <a:ext uri="{9D8B030D-6E8A-4147-A177-3AD203B41FA5}">
                      <a16:colId xmlns:a16="http://schemas.microsoft.com/office/drawing/2014/main" val="20001"/>
                    </a:ext>
                  </a:extLst>
                </a:gridCol>
              </a:tblGrid>
              <a:tr h="504056">
                <a:tc>
                  <a:txBody>
                    <a:bodyPr/>
                    <a:lstStyle/>
                    <a:p>
                      <a:pPr algn="ctr"/>
                      <a:r>
                        <a:rPr lang="de-DE" sz="2000" dirty="0"/>
                        <a:t>P1</a:t>
                      </a:r>
                    </a:p>
                  </a:txBody>
                  <a:tcPr/>
                </a:tc>
                <a:tc>
                  <a:txBody>
                    <a:bodyPr/>
                    <a:lstStyle/>
                    <a:p>
                      <a:pPr algn="ctr"/>
                      <a:r>
                        <a:rPr lang="de-DE" sz="2000" dirty="0"/>
                        <a:t>P2</a:t>
                      </a:r>
                    </a:p>
                  </a:txBody>
                  <a:tcPr/>
                </a:tc>
                <a:extLst>
                  <a:ext uri="{0D108BD9-81ED-4DB2-BD59-A6C34878D82A}">
                    <a16:rowId xmlns:a16="http://schemas.microsoft.com/office/drawing/2014/main" val="10000"/>
                  </a:ext>
                </a:extLst>
              </a:tr>
              <a:tr h="828092">
                <a:tc>
                  <a:txBody>
                    <a:bodyPr/>
                    <a:lstStyle/>
                    <a:p>
                      <a:pPr algn="ctr"/>
                      <a:r>
                        <a:rPr lang="de-DE" sz="2000" dirty="0" err="1"/>
                        <a:t>wait</a:t>
                      </a:r>
                      <a:r>
                        <a:rPr lang="de-DE" sz="2000" dirty="0"/>
                        <a:t> (A)</a:t>
                      </a:r>
                    </a:p>
                    <a:p>
                      <a:pPr algn="ctr"/>
                      <a:r>
                        <a:rPr lang="de-DE" sz="2000" dirty="0" err="1"/>
                        <a:t>wait</a:t>
                      </a:r>
                      <a:r>
                        <a:rPr lang="de-DE" sz="2000" dirty="0"/>
                        <a:t> (B)</a:t>
                      </a:r>
                    </a:p>
                  </a:txBody>
                  <a:tcPr/>
                </a:tc>
                <a:tc>
                  <a:txBody>
                    <a:bodyPr/>
                    <a:lstStyle/>
                    <a:p>
                      <a:pPr algn="ctr"/>
                      <a:r>
                        <a:rPr lang="de-DE" sz="2000" dirty="0" err="1"/>
                        <a:t>wait</a:t>
                      </a:r>
                      <a:r>
                        <a:rPr lang="de-DE" sz="2000" dirty="0"/>
                        <a:t> (B)</a:t>
                      </a:r>
                    </a:p>
                    <a:p>
                      <a:pPr algn="ctr"/>
                      <a:r>
                        <a:rPr lang="de-DE" sz="2000" dirty="0" err="1"/>
                        <a:t>wait</a:t>
                      </a:r>
                      <a:r>
                        <a:rPr lang="de-DE" sz="2000" dirty="0"/>
                        <a:t> (A)</a:t>
                      </a:r>
                    </a:p>
                  </a:txBody>
                  <a:tcPr/>
                </a:tc>
                <a:extLst>
                  <a:ext uri="{0D108BD9-81ED-4DB2-BD59-A6C34878D82A}">
                    <a16:rowId xmlns:a16="http://schemas.microsoft.com/office/drawing/2014/main" val="10001"/>
                  </a:ext>
                </a:extLst>
              </a:tr>
            </a:tbl>
          </a:graphicData>
        </a:graphic>
      </p:graphicFrame>
      <p:sp>
        <p:nvSpPr>
          <p:cNvPr id="6" name="Rechteck 5"/>
          <p:cNvSpPr/>
          <p:nvPr/>
        </p:nvSpPr>
        <p:spPr>
          <a:xfrm>
            <a:off x="611560" y="5805264"/>
            <a:ext cx="7200800" cy="91440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rPr>
              <a:t>Dieser Code führt </a:t>
            </a:r>
            <a:r>
              <a:rPr lang="de-DE" u="sng" dirty="0">
                <a:solidFill>
                  <a:schemeClr val="tx1"/>
                </a:solidFill>
              </a:rPr>
              <a:t>nicht zwangsläufig</a:t>
            </a:r>
            <a:r>
              <a:rPr lang="de-DE" dirty="0">
                <a:solidFill>
                  <a:schemeClr val="tx1"/>
                </a:solidFill>
              </a:rPr>
              <a:t> zum Deadlock! Nur bei einer </a:t>
            </a:r>
            <a:r>
              <a:rPr lang="de-DE" u="sng" dirty="0">
                <a:solidFill>
                  <a:schemeClr val="tx1"/>
                </a:solidFill>
              </a:rPr>
              <a:t>ungünstigen</a:t>
            </a:r>
            <a:r>
              <a:rPr lang="de-DE" dirty="0">
                <a:solidFill>
                  <a:schemeClr val="tx1"/>
                </a:solidFill>
              </a:rPr>
              <a:t> Ausführung entsteht Deadlock, sequentiell:</a:t>
            </a:r>
          </a:p>
          <a:p>
            <a:pPr algn="ctr"/>
            <a:r>
              <a:rPr lang="de-DE" dirty="0">
                <a:solidFill>
                  <a:schemeClr val="tx1"/>
                </a:solidFill>
              </a:rPr>
              <a:t>P1:wait(A) ... P2:wait(B) ... P1:wait(B) ... P2:wait(A) </a:t>
            </a:r>
          </a:p>
        </p:txBody>
      </p:sp>
    </p:spTree>
    <p:extLst>
      <p:ext uri="{BB962C8B-B14F-4D97-AF65-F5344CB8AC3E}">
        <p14:creationId xmlns:p14="http://schemas.microsoft.com/office/powerpoint/2010/main" val="200181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Schutz durch Semaphore</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6</a:t>
            </a:fld>
            <a:endParaRPr lang="en-US" noProof="0" dirty="0"/>
          </a:p>
        </p:txBody>
      </p:sp>
      <p:sp>
        <p:nvSpPr>
          <p:cNvPr id="5" name="Textplatzhalter 4"/>
          <p:cNvSpPr>
            <a:spLocks noGrp="1"/>
          </p:cNvSpPr>
          <p:nvPr>
            <p:ph sz="quarter" idx="1"/>
          </p:nvPr>
        </p:nvSpPr>
        <p:spPr>
          <a:xfrm>
            <a:off x="457200" y="1219200"/>
            <a:ext cx="4186808" cy="5378152"/>
          </a:xfrm>
        </p:spPr>
        <p:txBody>
          <a:bodyPr>
            <a:normAutofit fontScale="85000" lnSpcReduction="10000"/>
          </a:bodyPr>
          <a:lstStyle/>
          <a:p>
            <a:r>
              <a:rPr lang="de-DE" dirty="0"/>
              <a:t>Zwei Ressourcen, zwei Semaphore, zwei Prozesse </a:t>
            </a:r>
          </a:p>
          <a:p>
            <a:r>
              <a:rPr lang="de-DE" dirty="0"/>
              <a:t>Ist dieser Code </a:t>
            </a:r>
            <a:r>
              <a:rPr lang="de-DE" i="1" dirty="0"/>
              <a:t>korrekt</a:t>
            </a:r>
            <a:r>
              <a:rPr lang="de-DE" dirty="0"/>
              <a:t>?</a:t>
            </a:r>
          </a:p>
          <a:p>
            <a:endParaRPr lang="de-DE" dirty="0"/>
          </a:p>
          <a:p>
            <a:pPr>
              <a:buNone/>
            </a:pPr>
            <a:r>
              <a:rPr lang="de-DE" dirty="0" err="1">
                <a:latin typeface="OCR A Extended" panose="02010509020102010303" pitchFamily="50" charset="0"/>
              </a:rPr>
              <a:t>typedef</a:t>
            </a:r>
            <a:r>
              <a:rPr lang="de-DE" dirty="0">
                <a:latin typeface="OCR A Extended" panose="02010509020102010303" pitchFamily="50" charset="0"/>
              </a:rPr>
              <a:t> </a:t>
            </a:r>
            <a:r>
              <a:rPr lang="de-DE" dirty="0" err="1">
                <a:latin typeface="OCR A Extended" panose="02010509020102010303" pitchFamily="50" charset="0"/>
              </a:rPr>
              <a:t>int</a:t>
            </a:r>
            <a:r>
              <a:rPr lang="de-DE" dirty="0">
                <a:latin typeface="OCR A Extended" panose="02010509020102010303" pitchFamily="50" charset="0"/>
              </a:rPr>
              <a:t> </a:t>
            </a:r>
            <a:r>
              <a:rPr lang="de-DE" dirty="0" err="1">
                <a:latin typeface="OCR A Extended" panose="02010509020102010303" pitchFamily="50" charset="0"/>
              </a:rPr>
              <a:t>semaphore</a:t>
            </a:r>
            <a:r>
              <a:rPr lang="de-DE" dirty="0">
                <a:latin typeface="OCR A Extended" panose="02010509020102010303" pitchFamily="50" charset="0"/>
              </a:rPr>
              <a:t>;</a:t>
            </a:r>
          </a:p>
          <a:p>
            <a:pPr>
              <a:buNone/>
            </a:pPr>
            <a:r>
              <a:rPr lang="de-DE" dirty="0" err="1">
                <a:latin typeface="OCR A Extended" panose="02010509020102010303" pitchFamily="50" charset="0"/>
              </a:rPr>
              <a:t>semaphore</a:t>
            </a:r>
            <a:r>
              <a:rPr lang="de-DE" dirty="0">
                <a:latin typeface="OCR A Extended" panose="02010509020102010303" pitchFamily="50" charset="0"/>
              </a:rPr>
              <a:t> resource_1;</a:t>
            </a:r>
          </a:p>
          <a:p>
            <a:pPr>
              <a:buNone/>
            </a:pPr>
            <a:r>
              <a:rPr lang="de-DE" dirty="0" err="1">
                <a:latin typeface="OCR A Extended" panose="02010509020102010303" pitchFamily="50" charset="0"/>
              </a:rPr>
              <a:t>semaphore</a:t>
            </a:r>
            <a:r>
              <a:rPr lang="de-DE" dirty="0">
                <a:latin typeface="OCR A Extended" panose="02010509020102010303" pitchFamily="50" charset="0"/>
              </a:rPr>
              <a:t> resource_2;</a:t>
            </a:r>
          </a:p>
          <a:p>
            <a:endParaRPr lang="de-DE" dirty="0">
              <a:latin typeface="OCR A Extended" panose="02010509020102010303" pitchFamily="50" charset="0"/>
            </a:endParaRPr>
          </a:p>
          <a:p>
            <a:pPr>
              <a:buNone/>
            </a:pPr>
            <a:r>
              <a:rPr lang="de-DE" dirty="0" err="1">
                <a:latin typeface="OCR A Extended" panose="02010509020102010303" pitchFamily="50" charset="0"/>
              </a:rPr>
              <a:t>void</a:t>
            </a:r>
            <a:r>
              <a:rPr lang="de-DE" dirty="0">
                <a:latin typeface="OCR A Extended" panose="02010509020102010303" pitchFamily="50" charset="0"/>
              </a:rPr>
              <a:t> </a:t>
            </a:r>
            <a:r>
              <a:rPr lang="de-DE" dirty="0" err="1">
                <a:latin typeface="OCR A Extended" panose="02010509020102010303" pitchFamily="50" charset="0"/>
              </a:rPr>
              <a:t>process_A</a:t>
            </a:r>
            <a:r>
              <a:rPr lang="de-DE" dirty="0">
                <a:latin typeface="OCR A Extended" panose="02010509020102010303" pitchFamily="50" charset="0"/>
              </a:rPr>
              <a:t> (</a:t>
            </a:r>
            <a:r>
              <a:rPr lang="de-DE" dirty="0" err="1">
                <a:latin typeface="OCR A Extended" panose="02010509020102010303" pitchFamily="50" charset="0"/>
              </a:rPr>
              <a:t>void</a:t>
            </a:r>
            <a:r>
              <a:rPr lang="de-DE" dirty="0">
                <a:latin typeface="OCR A Extended" panose="02010509020102010303" pitchFamily="50" charset="0"/>
              </a:rPr>
              <a:t>) {</a:t>
            </a:r>
          </a:p>
          <a:p>
            <a:pPr lvl="1">
              <a:buNone/>
            </a:pPr>
            <a:r>
              <a:rPr lang="de-DE" b="1" dirty="0">
                <a:solidFill>
                  <a:srgbClr val="0070C0"/>
                </a:solidFill>
                <a:latin typeface="OCR A Extended" panose="02010509020102010303" pitchFamily="50" charset="0"/>
              </a:rPr>
              <a:t>down</a:t>
            </a:r>
            <a:r>
              <a:rPr lang="de-DE" dirty="0">
                <a:latin typeface="OCR A Extended" panose="02010509020102010303" pitchFamily="50" charset="0"/>
              </a:rPr>
              <a:t> (&amp;resource_</a:t>
            </a:r>
            <a:r>
              <a:rPr lang="de-DE" b="1" dirty="0">
                <a:solidFill>
                  <a:srgbClr val="FF0000"/>
                </a:solidFill>
                <a:latin typeface="OCR A Extended" panose="02010509020102010303" pitchFamily="50" charset="0"/>
              </a:rPr>
              <a:t>1</a:t>
            </a:r>
            <a:r>
              <a:rPr lang="de-DE" dirty="0">
                <a:latin typeface="OCR A Extended" panose="02010509020102010303" pitchFamily="50" charset="0"/>
              </a:rPr>
              <a:t>);</a:t>
            </a:r>
          </a:p>
          <a:p>
            <a:pPr lvl="1">
              <a:buNone/>
            </a:pPr>
            <a:r>
              <a:rPr lang="de-DE" b="1" dirty="0">
                <a:solidFill>
                  <a:srgbClr val="0070C0"/>
                </a:solidFill>
                <a:latin typeface="OCR A Extended" panose="02010509020102010303" pitchFamily="50" charset="0"/>
              </a:rPr>
              <a:t>down</a:t>
            </a:r>
            <a:r>
              <a:rPr lang="de-DE" dirty="0">
                <a:latin typeface="OCR A Extended" panose="02010509020102010303" pitchFamily="50" charset="0"/>
              </a:rPr>
              <a:t> (&amp;resource_</a:t>
            </a:r>
            <a:r>
              <a:rPr lang="de-DE" b="1" dirty="0">
                <a:solidFill>
                  <a:srgbClr val="FF0000"/>
                </a:solidFill>
                <a:latin typeface="OCR A Extended" panose="02010509020102010303" pitchFamily="50" charset="0"/>
              </a:rPr>
              <a:t>2</a:t>
            </a:r>
            <a:r>
              <a:rPr lang="de-DE" dirty="0">
                <a:latin typeface="OCR A Extended" panose="02010509020102010303" pitchFamily="50" charset="0"/>
              </a:rPr>
              <a:t>);</a:t>
            </a:r>
          </a:p>
          <a:p>
            <a:pPr lvl="1">
              <a:buNone/>
            </a:pPr>
            <a:r>
              <a:rPr lang="de-DE" b="1" dirty="0" err="1">
                <a:solidFill>
                  <a:srgbClr val="00B050"/>
                </a:solidFill>
                <a:latin typeface="OCR A Extended" panose="02010509020102010303" pitchFamily="50" charset="0"/>
              </a:rPr>
              <a:t>use_both_resources</a:t>
            </a:r>
            <a:r>
              <a:rPr lang="de-DE" b="1" dirty="0">
                <a:solidFill>
                  <a:srgbClr val="00B050"/>
                </a:solidFill>
                <a:latin typeface="OCR A Extended" panose="02010509020102010303" pitchFamily="50" charset="0"/>
              </a:rPr>
              <a:t>( );</a:t>
            </a:r>
          </a:p>
          <a:p>
            <a:pPr lvl="1">
              <a:buNone/>
            </a:pPr>
            <a:r>
              <a:rPr lang="de-DE" b="1" dirty="0" err="1">
                <a:solidFill>
                  <a:srgbClr val="0070C0"/>
                </a:solidFill>
                <a:latin typeface="OCR A Extended" panose="02010509020102010303" pitchFamily="50" charset="0"/>
              </a:rPr>
              <a:t>up</a:t>
            </a:r>
            <a:r>
              <a:rPr lang="de-DE" dirty="0">
                <a:latin typeface="OCR A Extended" panose="02010509020102010303" pitchFamily="50" charset="0"/>
              </a:rPr>
              <a:t> (&amp;resource_2);</a:t>
            </a:r>
          </a:p>
          <a:p>
            <a:pPr lvl="1">
              <a:buNone/>
            </a:pPr>
            <a:r>
              <a:rPr lang="de-DE" b="1" dirty="0" err="1">
                <a:solidFill>
                  <a:srgbClr val="0070C0"/>
                </a:solidFill>
                <a:latin typeface="OCR A Extended" panose="02010509020102010303" pitchFamily="50" charset="0"/>
              </a:rPr>
              <a:t>up</a:t>
            </a:r>
            <a:r>
              <a:rPr lang="de-DE" dirty="0">
                <a:latin typeface="OCR A Extended" panose="02010509020102010303" pitchFamily="50" charset="0"/>
              </a:rPr>
              <a:t> (&amp;resource_1);</a:t>
            </a:r>
          </a:p>
          <a:p>
            <a:pPr marL="273050" lvl="1" indent="-273050">
              <a:buNone/>
            </a:pPr>
            <a:r>
              <a:rPr lang="de-DE" dirty="0">
                <a:latin typeface="OCR A Extended" panose="02010509020102010303" pitchFamily="50" charset="0"/>
              </a:rPr>
              <a:t>}</a:t>
            </a:r>
          </a:p>
        </p:txBody>
      </p:sp>
      <p:sp>
        <p:nvSpPr>
          <p:cNvPr id="9" name="Inhaltsplatzhalter 8"/>
          <p:cNvSpPr>
            <a:spLocks noGrp="1"/>
          </p:cNvSpPr>
          <p:nvPr>
            <p:ph sz="quarter" idx="2"/>
          </p:nvPr>
        </p:nvSpPr>
        <p:spPr>
          <a:xfrm>
            <a:off x="4632198" y="1216152"/>
            <a:ext cx="4041648" cy="2644896"/>
          </a:xfrm>
        </p:spPr>
        <p:txBody>
          <a:bodyPr>
            <a:normAutofit fontScale="85000" lnSpcReduction="10000"/>
          </a:bodyPr>
          <a:lstStyle/>
          <a:p>
            <a:pPr>
              <a:buNone/>
            </a:pPr>
            <a:r>
              <a:rPr lang="de-DE" sz="2400" dirty="0" err="1">
                <a:latin typeface="OCR A Extended" panose="02010509020102010303" pitchFamily="50" charset="0"/>
              </a:rPr>
              <a:t>void</a:t>
            </a:r>
            <a:r>
              <a:rPr lang="de-DE" sz="2400" dirty="0">
                <a:latin typeface="OCR A Extended" panose="02010509020102010303" pitchFamily="50" charset="0"/>
              </a:rPr>
              <a:t> </a:t>
            </a:r>
            <a:r>
              <a:rPr lang="de-DE" sz="2400" dirty="0" err="1">
                <a:latin typeface="OCR A Extended" panose="02010509020102010303" pitchFamily="50" charset="0"/>
              </a:rPr>
              <a:t>process_B</a:t>
            </a:r>
            <a:r>
              <a:rPr lang="de-DE" sz="2400" dirty="0">
                <a:latin typeface="OCR A Extended" panose="02010509020102010303" pitchFamily="50" charset="0"/>
              </a:rPr>
              <a:t>(</a:t>
            </a:r>
            <a:r>
              <a:rPr lang="de-DE" sz="2400" dirty="0" err="1">
                <a:latin typeface="OCR A Extended" panose="02010509020102010303" pitchFamily="50" charset="0"/>
              </a:rPr>
              <a:t>void</a:t>
            </a:r>
            <a:r>
              <a:rPr lang="de-DE" sz="2400" dirty="0">
                <a:latin typeface="OCR A Extended" panose="02010509020102010303" pitchFamily="50" charset="0"/>
              </a:rPr>
              <a:t>) {</a:t>
            </a:r>
          </a:p>
          <a:p>
            <a:pPr lvl="1">
              <a:buNone/>
            </a:pPr>
            <a:r>
              <a:rPr lang="de-DE" sz="2400" b="1" dirty="0">
                <a:solidFill>
                  <a:srgbClr val="0070C0"/>
                </a:solidFill>
                <a:latin typeface="OCR A Extended" panose="02010509020102010303" pitchFamily="50" charset="0"/>
              </a:rPr>
              <a:t>down</a:t>
            </a:r>
            <a:r>
              <a:rPr lang="de-DE" sz="2400" dirty="0">
                <a:latin typeface="OCR A Extended" panose="02010509020102010303" pitchFamily="50" charset="0"/>
              </a:rPr>
              <a:t>(&amp;resource_</a:t>
            </a:r>
            <a:r>
              <a:rPr lang="de-DE" sz="2400" b="1" dirty="0">
                <a:solidFill>
                  <a:srgbClr val="FF0000"/>
                </a:solidFill>
                <a:latin typeface="OCR A Extended" panose="02010509020102010303" pitchFamily="50" charset="0"/>
              </a:rPr>
              <a:t>1</a:t>
            </a:r>
            <a:r>
              <a:rPr lang="de-DE" sz="2400" dirty="0">
                <a:latin typeface="OCR A Extended" panose="02010509020102010303" pitchFamily="50" charset="0"/>
              </a:rPr>
              <a:t>);</a:t>
            </a:r>
          </a:p>
          <a:p>
            <a:pPr lvl="1">
              <a:buNone/>
            </a:pPr>
            <a:r>
              <a:rPr lang="de-DE" sz="2400" b="1" dirty="0">
                <a:solidFill>
                  <a:srgbClr val="0070C0"/>
                </a:solidFill>
                <a:latin typeface="OCR A Extended" panose="02010509020102010303" pitchFamily="50" charset="0"/>
              </a:rPr>
              <a:t>down</a:t>
            </a:r>
            <a:r>
              <a:rPr lang="de-DE" sz="2400" dirty="0">
                <a:latin typeface="OCR A Extended" panose="02010509020102010303" pitchFamily="50" charset="0"/>
              </a:rPr>
              <a:t>(&amp;resource_</a:t>
            </a:r>
            <a:r>
              <a:rPr lang="de-DE" sz="2400" b="1" dirty="0">
                <a:solidFill>
                  <a:srgbClr val="FF0000"/>
                </a:solidFill>
                <a:latin typeface="OCR A Extended" panose="02010509020102010303" pitchFamily="50" charset="0"/>
              </a:rPr>
              <a:t>2</a:t>
            </a:r>
            <a:r>
              <a:rPr lang="de-DE" sz="2400" dirty="0">
                <a:latin typeface="OCR A Extended" panose="02010509020102010303" pitchFamily="50" charset="0"/>
              </a:rPr>
              <a:t>);</a:t>
            </a:r>
          </a:p>
          <a:p>
            <a:pPr lvl="1">
              <a:buNone/>
            </a:pPr>
            <a:r>
              <a:rPr lang="de-DE" sz="2400" b="1" dirty="0" err="1">
                <a:solidFill>
                  <a:srgbClr val="00B050"/>
                </a:solidFill>
                <a:latin typeface="OCR A Extended" panose="02010509020102010303" pitchFamily="50" charset="0"/>
              </a:rPr>
              <a:t>use_both_resources</a:t>
            </a:r>
            <a:r>
              <a:rPr lang="de-DE" sz="2400" b="1" dirty="0">
                <a:solidFill>
                  <a:srgbClr val="00B050"/>
                </a:solidFill>
                <a:latin typeface="OCR A Extended" panose="02010509020102010303" pitchFamily="50" charset="0"/>
              </a:rPr>
              <a:t>( );</a:t>
            </a:r>
          </a:p>
          <a:p>
            <a:pPr lvl="1">
              <a:buNone/>
            </a:pPr>
            <a:r>
              <a:rPr lang="de-DE" sz="2400" b="1" dirty="0" err="1">
                <a:solidFill>
                  <a:srgbClr val="0070C0"/>
                </a:solidFill>
                <a:latin typeface="OCR A Extended" panose="02010509020102010303" pitchFamily="50" charset="0"/>
              </a:rPr>
              <a:t>up</a:t>
            </a:r>
            <a:r>
              <a:rPr lang="de-DE" sz="2400" dirty="0">
                <a:latin typeface="OCR A Extended" panose="02010509020102010303" pitchFamily="50" charset="0"/>
              </a:rPr>
              <a:t>(&amp;resource_2);</a:t>
            </a:r>
          </a:p>
          <a:p>
            <a:pPr lvl="1">
              <a:buNone/>
            </a:pPr>
            <a:r>
              <a:rPr lang="de-DE" sz="2400" b="1" dirty="0" err="1">
                <a:solidFill>
                  <a:srgbClr val="0070C0"/>
                </a:solidFill>
                <a:latin typeface="OCR A Extended" panose="02010509020102010303" pitchFamily="50" charset="0"/>
              </a:rPr>
              <a:t>up</a:t>
            </a:r>
            <a:r>
              <a:rPr lang="de-DE" sz="2400" dirty="0">
                <a:latin typeface="OCR A Extended" panose="02010509020102010303" pitchFamily="50" charset="0"/>
              </a:rPr>
              <a:t>(&amp;resource_1);</a:t>
            </a:r>
          </a:p>
          <a:p>
            <a:pPr>
              <a:buNone/>
            </a:pPr>
            <a:r>
              <a:rPr lang="de-DE" sz="2400" dirty="0">
                <a:latin typeface="OCR A Extended" panose="02010509020102010303" pitchFamily="50" charset="0"/>
              </a:rPr>
              <a:t>}</a:t>
            </a:r>
          </a:p>
        </p:txBody>
      </p:sp>
      <p:sp>
        <p:nvSpPr>
          <p:cNvPr id="10" name="Inhaltsplatzhalter 8"/>
          <p:cNvSpPr txBox="1">
            <a:spLocks/>
          </p:cNvSpPr>
          <p:nvPr/>
        </p:nvSpPr>
        <p:spPr>
          <a:xfrm>
            <a:off x="4644008" y="4437112"/>
            <a:ext cx="4499992" cy="2212848"/>
          </a:xfrm>
          <a:prstGeom prst="rect">
            <a:avLst/>
          </a:prstGeom>
          <a:ln w="19050">
            <a:solidFill>
              <a:schemeClr val="tx1"/>
            </a:solidFill>
          </a:ln>
        </p:spPr>
        <p:txBody>
          <a:bodyPr vert="horz">
            <a:normAutofit fontScale="85000" lnSpcReduction="10000"/>
          </a:bodyPr>
          <a:lstStyle/>
          <a:p>
            <a:r>
              <a:rPr lang="de-DE" sz="2600" dirty="0" err="1">
                <a:latin typeface="OCR A Extended" panose="02010509020102010303" pitchFamily="50" charset="0"/>
              </a:rPr>
              <a:t>void</a:t>
            </a:r>
            <a:r>
              <a:rPr lang="de-DE" sz="2600" dirty="0">
                <a:latin typeface="OCR A Extended" panose="02010509020102010303" pitchFamily="50" charset="0"/>
              </a:rPr>
              <a:t> </a:t>
            </a:r>
            <a:r>
              <a:rPr lang="de-DE" sz="2600" dirty="0" err="1">
                <a:latin typeface="OCR A Extended" panose="02010509020102010303" pitchFamily="50" charset="0"/>
              </a:rPr>
              <a:t>process_B</a:t>
            </a:r>
            <a:r>
              <a:rPr lang="de-DE" sz="2600" dirty="0">
                <a:latin typeface="OCR A Extended" panose="02010509020102010303" pitchFamily="50" charset="0"/>
              </a:rPr>
              <a:t>(</a:t>
            </a:r>
            <a:r>
              <a:rPr lang="de-DE" sz="2600" dirty="0" err="1">
                <a:latin typeface="OCR A Extended" panose="02010509020102010303" pitchFamily="50" charset="0"/>
              </a:rPr>
              <a:t>void</a:t>
            </a:r>
            <a:r>
              <a:rPr lang="de-DE" sz="2600" dirty="0">
                <a:latin typeface="OCR A Extended" panose="02010509020102010303" pitchFamily="50" charset="0"/>
              </a:rPr>
              <a:t>)</a:t>
            </a:r>
          </a:p>
          <a:p>
            <a:pPr lvl="1"/>
            <a:r>
              <a:rPr lang="de-DE" sz="2600" dirty="0">
                <a:solidFill>
                  <a:srgbClr val="0070C0"/>
                </a:solidFill>
                <a:latin typeface="OCR A Extended" panose="02010509020102010303" pitchFamily="50" charset="0"/>
              </a:rPr>
              <a:t>down</a:t>
            </a:r>
            <a:r>
              <a:rPr lang="de-DE" sz="2600" dirty="0">
                <a:latin typeface="OCR A Extended" panose="02010509020102010303" pitchFamily="50" charset="0"/>
              </a:rPr>
              <a:t>(&amp;</a:t>
            </a:r>
            <a:r>
              <a:rPr lang="de-DE" sz="2600" b="1" dirty="0">
                <a:solidFill>
                  <a:srgbClr val="FF0000"/>
                </a:solidFill>
                <a:latin typeface="OCR A Extended" panose="02010509020102010303" pitchFamily="50" charset="0"/>
              </a:rPr>
              <a:t>resource_2</a:t>
            </a:r>
            <a:r>
              <a:rPr lang="de-DE" sz="2600" dirty="0">
                <a:latin typeface="OCR A Extended" panose="02010509020102010303" pitchFamily="50" charset="0"/>
              </a:rPr>
              <a:t>);</a:t>
            </a:r>
          </a:p>
          <a:p>
            <a:pPr lvl="1"/>
            <a:r>
              <a:rPr lang="de-DE" sz="2600" dirty="0">
                <a:solidFill>
                  <a:srgbClr val="0070C0"/>
                </a:solidFill>
                <a:latin typeface="OCR A Extended" panose="02010509020102010303" pitchFamily="50" charset="0"/>
              </a:rPr>
              <a:t>down</a:t>
            </a:r>
            <a:r>
              <a:rPr lang="de-DE" sz="2600" dirty="0">
                <a:latin typeface="OCR A Extended" panose="02010509020102010303" pitchFamily="50" charset="0"/>
              </a:rPr>
              <a:t>(&amp;</a:t>
            </a:r>
            <a:r>
              <a:rPr lang="de-DE" sz="2600" b="1" dirty="0">
                <a:solidFill>
                  <a:srgbClr val="FF0000"/>
                </a:solidFill>
                <a:latin typeface="OCR A Extended" panose="02010509020102010303" pitchFamily="50" charset="0"/>
              </a:rPr>
              <a:t>resource_1</a:t>
            </a:r>
            <a:r>
              <a:rPr lang="de-DE" sz="2600" dirty="0">
                <a:latin typeface="OCR A Extended" panose="02010509020102010303" pitchFamily="50" charset="0"/>
              </a:rPr>
              <a:t>);</a:t>
            </a:r>
          </a:p>
          <a:p>
            <a:pPr lvl="1"/>
            <a:r>
              <a:rPr lang="de-DE" sz="2600" b="1" dirty="0" err="1">
                <a:solidFill>
                  <a:srgbClr val="00B050"/>
                </a:solidFill>
                <a:latin typeface="OCR A Extended" panose="02010509020102010303" pitchFamily="50" charset="0"/>
              </a:rPr>
              <a:t>use_both_resources</a:t>
            </a:r>
            <a:r>
              <a:rPr lang="de-DE" sz="2600" b="1" dirty="0">
                <a:solidFill>
                  <a:srgbClr val="00B050"/>
                </a:solidFill>
                <a:latin typeface="OCR A Extended" panose="02010509020102010303" pitchFamily="50" charset="0"/>
              </a:rPr>
              <a:t>( );</a:t>
            </a:r>
          </a:p>
          <a:p>
            <a:pPr lvl="1"/>
            <a:r>
              <a:rPr lang="de-DE" sz="2600" dirty="0" err="1">
                <a:solidFill>
                  <a:srgbClr val="0070C0"/>
                </a:solidFill>
                <a:latin typeface="OCR A Extended" panose="02010509020102010303" pitchFamily="50" charset="0"/>
              </a:rPr>
              <a:t>up</a:t>
            </a:r>
            <a:r>
              <a:rPr lang="de-DE" sz="2600" dirty="0">
                <a:latin typeface="OCR A Extended" panose="02010509020102010303" pitchFamily="50" charset="0"/>
              </a:rPr>
              <a:t>(&amp;resource_1);</a:t>
            </a:r>
          </a:p>
          <a:p>
            <a:pPr lvl="1"/>
            <a:r>
              <a:rPr lang="de-DE" sz="2600" dirty="0" err="1">
                <a:solidFill>
                  <a:srgbClr val="0070C0"/>
                </a:solidFill>
                <a:latin typeface="OCR A Extended" panose="02010509020102010303" pitchFamily="50" charset="0"/>
              </a:rPr>
              <a:t>up</a:t>
            </a:r>
            <a:r>
              <a:rPr lang="de-DE" sz="2600" dirty="0">
                <a:latin typeface="OCR A Extended" panose="02010509020102010303" pitchFamily="50" charset="0"/>
              </a:rPr>
              <a:t>(&amp;</a:t>
            </a:r>
            <a:r>
              <a:rPr lang="de-DE" sz="2600" dirty="0" err="1">
                <a:latin typeface="OCR A Extended" panose="02010509020102010303" pitchFamily="50" charset="0"/>
              </a:rPr>
              <a:t>resource</a:t>
            </a:r>
            <a:r>
              <a:rPr lang="de-DE" sz="2600" dirty="0">
                <a:latin typeface="OCR A Extended" panose="02010509020102010303" pitchFamily="50" charset="0"/>
              </a:rPr>
              <a:t> 2);</a:t>
            </a:r>
          </a:p>
          <a:p>
            <a:pPr marL="0" lvl="1"/>
            <a:r>
              <a:rPr kumimoji="0" lang="de-DE" sz="2600" b="0" i="0" u="none" strike="noStrike" kern="1200" cap="none" spc="0" normalizeH="0" baseline="0" noProof="0" dirty="0">
                <a:ln>
                  <a:noFill/>
                </a:ln>
                <a:solidFill>
                  <a:schemeClr val="tx1"/>
                </a:solidFill>
                <a:effectLst/>
                <a:uLnTx/>
                <a:uFillTx/>
                <a:latin typeface="OCR A Extended" panose="02010509020102010303" pitchFamily="50" charset="0"/>
              </a:rPr>
              <a:t>}</a:t>
            </a:r>
            <a:endParaRPr kumimoji="0" lang="de-DE" sz="2200" b="0" i="0" u="none" strike="noStrike" kern="1200" cap="none" spc="0" normalizeH="0" baseline="0" noProof="0" dirty="0">
              <a:ln>
                <a:noFill/>
              </a:ln>
              <a:solidFill>
                <a:schemeClr val="tx1"/>
              </a:solidFill>
              <a:effectLst/>
              <a:uLnTx/>
              <a:uFillTx/>
              <a:latin typeface="OCR A Extended" panose="02010509020102010303" pitchFamily="50" charset="0"/>
            </a:endParaRPr>
          </a:p>
        </p:txBody>
      </p:sp>
      <p:sp>
        <p:nvSpPr>
          <p:cNvPr id="7" name="Rechteck 6">
            <a:extLst>
              <a:ext uri="{FF2B5EF4-FFF2-40B4-BE49-F238E27FC236}">
                <a16:creationId xmlns:a16="http://schemas.microsoft.com/office/drawing/2014/main" id="{27C2E793-C104-4E2C-A00D-7D6D9B54D4E9}"/>
              </a:ext>
            </a:extLst>
          </p:cNvPr>
          <p:cNvSpPr/>
          <p:nvPr/>
        </p:nvSpPr>
        <p:spPr>
          <a:xfrm>
            <a:off x="6017407" y="76200"/>
            <a:ext cx="2825710" cy="461665"/>
          </a:xfrm>
          <a:prstGeom prst="rect">
            <a:avLst/>
          </a:prstGeom>
        </p:spPr>
        <p:txBody>
          <a:bodyPr wrap="none">
            <a:spAutoFit/>
          </a:bodyPr>
          <a:lstStyle/>
          <a:p>
            <a:r>
              <a:rPr lang="en-US" sz="2400" dirty="0">
                <a:solidFill>
                  <a:srgbClr val="1177D1"/>
                </a:solidFill>
                <a:highlight>
                  <a:srgbClr val="00FF00"/>
                </a:highlight>
                <a:latin typeface="-apple-system"/>
                <a:hlinkClick r:id="rId2"/>
              </a:rPr>
              <a:t>https://bit.ly/ibn_hd</a:t>
            </a:r>
            <a:r>
              <a:rPr lang="en-US" sz="2400" dirty="0">
                <a:solidFill>
                  <a:srgbClr val="1177D1"/>
                </a:solidFill>
                <a:highlight>
                  <a:srgbClr val="00FF00"/>
                </a:highlight>
                <a:latin typeface="-apple-system"/>
              </a:rPr>
              <a:t> </a:t>
            </a:r>
            <a:endParaRPr lang="en-US" sz="2400" dirty="0">
              <a:highlight>
                <a:srgbClr val="00FF00"/>
              </a:highlight>
            </a:endParaRPr>
          </a:p>
        </p:txBody>
      </p:sp>
      <p:sp>
        <p:nvSpPr>
          <p:cNvPr id="4" name="Rectangle 3">
            <a:extLst>
              <a:ext uri="{FF2B5EF4-FFF2-40B4-BE49-F238E27FC236}">
                <a16:creationId xmlns:a16="http://schemas.microsoft.com/office/drawing/2014/main" id="{9B6C5DCB-1390-41F2-8961-6F1395F22145}"/>
              </a:ext>
            </a:extLst>
          </p:cNvPr>
          <p:cNvSpPr/>
          <p:nvPr/>
        </p:nvSpPr>
        <p:spPr>
          <a:xfrm>
            <a:off x="4554759" y="3790781"/>
            <a:ext cx="4572000" cy="646331"/>
          </a:xfrm>
          <a:prstGeom prst="rect">
            <a:avLst/>
          </a:prstGeom>
        </p:spPr>
        <p:txBody>
          <a:bodyPr>
            <a:spAutoFit/>
          </a:bodyPr>
          <a:lstStyle/>
          <a:p>
            <a:pPr lvl="0">
              <a:spcBef>
                <a:spcPts val="600"/>
              </a:spcBef>
              <a:buClr>
                <a:schemeClr val="accent1"/>
              </a:buClr>
              <a:buSzPct val="76000"/>
              <a:defRPr/>
            </a:pPr>
            <a:r>
              <a:rPr lang="de-DE" dirty="0"/>
              <a:t>Ja - korrekt! </a:t>
            </a:r>
            <a:br>
              <a:rPr lang="de-DE" dirty="0"/>
            </a:br>
            <a:r>
              <a:rPr lang="de-DE" dirty="0"/>
              <a:t>Dieser Code aber nicht:</a:t>
            </a:r>
          </a:p>
        </p:txBody>
      </p:sp>
    </p:spTree>
    <p:extLst>
      <p:ext uri="{BB962C8B-B14F-4D97-AF65-F5344CB8AC3E}">
        <p14:creationId xmlns:p14="http://schemas.microsoft.com/office/powerpoint/2010/main" val="777676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2000"/>
                                        <p:tgtEl>
                                          <p:spTgt spid="9">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xEl>
                                              <p:pRg st="1" end="1"/>
                                            </p:txEl>
                                          </p:spTgt>
                                        </p:tgtEl>
                                        <p:attrNameLst>
                                          <p:attrName>style.visibility</p:attrName>
                                        </p:attrNameLst>
                                      </p:cBhvr>
                                      <p:to>
                                        <p:strVal val="visible"/>
                                      </p:to>
                                    </p:set>
                                    <p:animEffect transition="in" filter="fade">
                                      <p:cBhvr>
                                        <p:cTn id="10" dur="2000"/>
                                        <p:tgtEl>
                                          <p:spTgt spid="9">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animEffect transition="in" filter="fade">
                                      <p:cBhvr>
                                        <p:cTn id="13" dur="2000"/>
                                        <p:tgtEl>
                                          <p:spTgt spid="9">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xEl>
                                              <p:pRg st="3" end="3"/>
                                            </p:txEl>
                                          </p:spTgt>
                                        </p:tgtEl>
                                        <p:attrNameLst>
                                          <p:attrName>style.visibility</p:attrName>
                                        </p:attrNameLst>
                                      </p:cBhvr>
                                      <p:to>
                                        <p:strVal val="visible"/>
                                      </p:to>
                                    </p:set>
                                    <p:animEffect transition="in" filter="fade">
                                      <p:cBhvr>
                                        <p:cTn id="16" dur="2000"/>
                                        <p:tgtEl>
                                          <p:spTgt spid="9">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xEl>
                                              <p:pRg st="4" end="4"/>
                                            </p:txEl>
                                          </p:spTgt>
                                        </p:tgtEl>
                                        <p:attrNameLst>
                                          <p:attrName>style.visibility</p:attrName>
                                        </p:attrNameLst>
                                      </p:cBhvr>
                                      <p:to>
                                        <p:strVal val="visible"/>
                                      </p:to>
                                    </p:set>
                                    <p:animEffect transition="in" filter="fade">
                                      <p:cBhvr>
                                        <p:cTn id="19" dur="2000"/>
                                        <p:tgtEl>
                                          <p:spTgt spid="9">
                                            <p:txEl>
                                              <p:pRg st="4" end="4"/>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xEl>
                                              <p:pRg st="5" end="5"/>
                                            </p:txEl>
                                          </p:spTgt>
                                        </p:tgtEl>
                                        <p:attrNameLst>
                                          <p:attrName>style.visibility</p:attrName>
                                        </p:attrNameLst>
                                      </p:cBhvr>
                                      <p:to>
                                        <p:strVal val="visible"/>
                                      </p:to>
                                    </p:set>
                                    <p:animEffect transition="in" filter="fade">
                                      <p:cBhvr>
                                        <p:cTn id="22" dur="2000"/>
                                        <p:tgtEl>
                                          <p:spTgt spid="9">
                                            <p:txEl>
                                              <p:pRg st="5" end="5"/>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9">
                                            <p:txEl>
                                              <p:pRg st="6" end="6"/>
                                            </p:txEl>
                                          </p:spTgt>
                                        </p:tgtEl>
                                        <p:attrNameLst>
                                          <p:attrName>style.visibility</p:attrName>
                                        </p:attrNameLst>
                                      </p:cBhvr>
                                      <p:to>
                                        <p:strVal val="visible"/>
                                      </p:to>
                                    </p:set>
                                    <p:animEffect transition="in" filter="fade">
                                      <p:cBhvr>
                                        <p:cTn id="25" dur="2000"/>
                                        <p:tgtEl>
                                          <p:spTgt spid="9">
                                            <p:txEl>
                                              <p:pRg st="6" end="6"/>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fade">
                                      <p:cBhvr>
                                        <p:cTn id="30" dur="500"/>
                                        <p:tgtEl>
                                          <p:spTgt spid="4"/>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0">
                                            <p:bg/>
                                          </p:spTgt>
                                        </p:tgtEl>
                                        <p:attrNameLst>
                                          <p:attrName>style.visibility</p:attrName>
                                        </p:attrNameLst>
                                      </p:cBhvr>
                                      <p:to>
                                        <p:strVal val="visible"/>
                                      </p:to>
                                    </p:set>
                                    <p:animEffect transition="in" filter="fade">
                                      <p:cBhvr>
                                        <p:cTn id="35" dur="2000"/>
                                        <p:tgtEl>
                                          <p:spTgt spid="10">
                                            <p:bg/>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0">
                                            <p:txEl>
                                              <p:pRg st="0" end="0"/>
                                            </p:txEl>
                                          </p:spTgt>
                                        </p:tgtEl>
                                        <p:attrNameLst>
                                          <p:attrName>style.visibility</p:attrName>
                                        </p:attrNameLst>
                                      </p:cBhvr>
                                      <p:to>
                                        <p:strVal val="visible"/>
                                      </p:to>
                                    </p:set>
                                    <p:animEffect transition="in" filter="fade">
                                      <p:cBhvr>
                                        <p:cTn id="38" dur="2000"/>
                                        <p:tgtEl>
                                          <p:spTgt spid="10">
                                            <p:txEl>
                                              <p:pRg st="0" end="0"/>
                                            </p:txEl>
                                          </p:spTgt>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0">
                                            <p:txEl>
                                              <p:pRg st="1" end="1"/>
                                            </p:txEl>
                                          </p:spTgt>
                                        </p:tgtEl>
                                        <p:attrNameLst>
                                          <p:attrName>style.visibility</p:attrName>
                                        </p:attrNameLst>
                                      </p:cBhvr>
                                      <p:to>
                                        <p:strVal val="visible"/>
                                      </p:to>
                                    </p:set>
                                    <p:animEffect transition="in" filter="fade">
                                      <p:cBhvr>
                                        <p:cTn id="41" dur="2000"/>
                                        <p:tgtEl>
                                          <p:spTgt spid="10">
                                            <p:txEl>
                                              <p:pRg st="1" end="1"/>
                                            </p:txEl>
                                          </p:spTgt>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0">
                                            <p:txEl>
                                              <p:pRg st="2" end="2"/>
                                            </p:txEl>
                                          </p:spTgt>
                                        </p:tgtEl>
                                        <p:attrNameLst>
                                          <p:attrName>style.visibility</p:attrName>
                                        </p:attrNameLst>
                                      </p:cBhvr>
                                      <p:to>
                                        <p:strVal val="visible"/>
                                      </p:to>
                                    </p:set>
                                    <p:animEffect transition="in" filter="fade">
                                      <p:cBhvr>
                                        <p:cTn id="44" dur="2000"/>
                                        <p:tgtEl>
                                          <p:spTgt spid="10">
                                            <p:txEl>
                                              <p:pRg st="2" end="2"/>
                                            </p:txEl>
                                          </p:spTgt>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0">
                                            <p:txEl>
                                              <p:pRg st="3" end="3"/>
                                            </p:txEl>
                                          </p:spTgt>
                                        </p:tgtEl>
                                        <p:attrNameLst>
                                          <p:attrName>style.visibility</p:attrName>
                                        </p:attrNameLst>
                                      </p:cBhvr>
                                      <p:to>
                                        <p:strVal val="visible"/>
                                      </p:to>
                                    </p:set>
                                    <p:animEffect transition="in" filter="fade">
                                      <p:cBhvr>
                                        <p:cTn id="47" dur="2000"/>
                                        <p:tgtEl>
                                          <p:spTgt spid="10">
                                            <p:txEl>
                                              <p:pRg st="3" end="3"/>
                                            </p:txEl>
                                          </p:spTgt>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0">
                                            <p:txEl>
                                              <p:pRg st="4" end="4"/>
                                            </p:txEl>
                                          </p:spTgt>
                                        </p:tgtEl>
                                        <p:attrNameLst>
                                          <p:attrName>style.visibility</p:attrName>
                                        </p:attrNameLst>
                                      </p:cBhvr>
                                      <p:to>
                                        <p:strVal val="visible"/>
                                      </p:to>
                                    </p:set>
                                    <p:animEffect transition="in" filter="fade">
                                      <p:cBhvr>
                                        <p:cTn id="50" dur="2000"/>
                                        <p:tgtEl>
                                          <p:spTgt spid="10">
                                            <p:txEl>
                                              <p:pRg st="4" end="4"/>
                                            </p:txEl>
                                          </p:spTgt>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0">
                                            <p:txEl>
                                              <p:pRg st="5" end="5"/>
                                            </p:txEl>
                                          </p:spTgt>
                                        </p:tgtEl>
                                        <p:attrNameLst>
                                          <p:attrName>style.visibility</p:attrName>
                                        </p:attrNameLst>
                                      </p:cBhvr>
                                      <p:to>
                                        <p:strVal val="visible"/>
                                      </p:to>
                                    </p:set>
                                    <p:animEffect transition="in" filter="fade">
                                      <p:cBhvr>
                                        <p:cTn id="53" dur="2000"/>
                                        <p:tgtEl>
                                          <p:spTgt spid="10">
                                            <p:txEl>
                                              <p:pRg st="5" end="5"/>
                                            </p:txEl>
                                          </p:spTgt>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0">
                                            <p:txEl>
                                              <p:pRg st="6" end="6"/>
                                            </p:txEl>
                                          </p:spTgt>
                                        </p:tgtEl>
                                        <p:attrNameLst>
                                          <p:attrName>style.visibility</p:attrName>
                                        </p:attrNameLst>
                                      </p:cBhvr>
                                      <p:to>
                                        <p:strVal val="visible"/>
                                      </p:to>
                                    </p:set>
                                    <p:animEffect transition="in" filter="fade">
                                      <p:cBhvr>
                                        <p:cTn id="56" dur="2000"/>
                                        <p:tgtEl>
                                          <p:spTgt spid="1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allAtOnce"/>
      <p:bldP spid="10" grpId="0" build="allAtOnce" animBg="1"/>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Deadlocks – Strikt Definiert</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7</a:t>
            </a:fld>
            <a:endParaRPr lang="en-US" noProof="0" dirty="0"/>
          </a:p>
        </p:txBody>
      </p:sp>
      <p:sp>
        <p:nvSpPr>
          <p:cNvPr id="4" name="Inhaltsplatzhalter 3"/>
          <p:cNvSpPr>
            <a:spLocks noGrp="1"/>
          </p:cNvSpPr>
          <p:nvPr>
            <p:ph sz="quarter" idx="1"/>
          </p:nvPr>
        </p:nvSpPr>
        <p:spPr/>
        <p:txBody>
          <a:bodyPr>
            <a:normAutofit/>
          </a:bodyPr>
          <a:lstStyle/>
          <a:p>
            <a:r>
              <a:rPr lang="de-DE" dirty="0"/>
              <a:t>Eine Gruppe von Prozessen befindet sich in einem </a:t>
            </a:r>
            <a:r>
              <a:rPr lang="de-DE" b="1" dirty="0">
                <a:solidFill>
                  <a:srgbClr val="FF0000"/>
                </a:solidFill>
              </a:rPr>
              <a:t>Deadlock-Zustand</a:t>
            </a:r>
            <a:r>
              <a:rPr lang="de-DE" dirty="0"/>
              <a:t>, wenn jeder Prozess aus der Gruppe auf ein </a:t>
            </a:r>
            <a:r>
              <a:rPr lang="de-DE" u="sng" dirty="0"/>
              <a:t>Ereignis</a:t>
            </a:r>
            <a:r>
              <a:rPr lang="de-DE" dirty="0"/>
              <a:t> wartet, </a:t>
            </a:r>
            <a:r>
              <a:rPr lang="de-DE" u="sng" dirty="0"/>
              <a:t>das</a:t>
            </a:r>
            <a:r>
              <a:rPr lang="de-DE" dirty="0"/>
              <a:t> nur ein anderer Prozess aus der Gruppe auslösen kann</a:t>
            </a:r>
          </a:p>
          <a:p>
            <a:r>
              <a:rPr lang="de-DE" dirty="0"/>
              <a:t>Meistens ist das Ereignis, auf welches ein Prozess wartet: </a:t>
            </a:r>
            <a:r>
              <a:rPr lang="de-DE" b="1" dirty="0">
                <a:solidFill>
                  <a:srgbClr val="0070C0"/>
                </a:solidFill>
              </a:rPr>
              <a:t>Die Freigabe einer Ressource</a:t>
            </a:r>
          </a:p>
          <a:p>
            <a:pPr lvl="1"/>
            <a:r>
              <a:rPr lang="de-DE" dirty="0"/>
              <a:t>Diese Art von Deadlocks werden </a:t>
            </a:r>
            <a:r>
              <a:rPr lang="de-DE" b="1" dirty="0">
                <a:solidFill>
                  <a:srgbClr val="FF0000"/>
                </a:solidFill>
              </a:rPr>
              <a:t>Ressourcen-Deadlocks</a:t>
            </a:r>
            <a:r>
              <a:rPr lang="de-DE" dirty="0"/>
              <a:t> genannt</a:t>
            </a:r>
          </a:p>
          <a:p>
            <a:r>
              <a:rPr lang="de-DE" dirty="0"/>
              <a:t>Andere Formen: </a:t>
            </a:r>
            <a:r>
              <a:rPr lang="de-DE" b="1" dirty="0">
                <a:solidFill>
                  <a:srgbClr val="FF0000"/>
                </a:solidFill>
              </a:rPr>
              <a:t>Kommunikationsdeadlocks</a:t>
            </a:r>
            <a:r>
              <a:rPr lang="de-DE" dirty="0"/>
              <a:t>, </a:t>
            </a:r>
            <a:r>
              <a:rPr lang="de-DE" b="1" dirty="0" err="1">
                <a:solidFill>
                  <a:srgbClr val="FF0000"/>
                </a:solidFill>
              </a:rPr>
              <a:t>Livelocks</a:t>
            </a:r>
            <a:r>
              <a:rPr lang="de-DE" dirty="0">
                <a:solidFill>
                  <a:schemeClr val="tx2"/>
                </a:solidFill>
              </a:rPr>
              <a:t>: Wie Deadlocks, nur der „Zustand“ der Prozesse ändert sich laufend - aber ohne Fortschritt</a:t>
            </a:r>
          </a:p>
        </p:txBody>
      </p:sp>
    </p:spTree>
    <p:extLst>
      <p:ext uri="{BB962C8B-B14F-4D97-AF65-F5344CB8AC3E}">
        <p14:creationId xmlns:p14="http://schemas.microsoft.com/office/powerpoint/2010/main" val="14802711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Systemmodell</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8</a:t>
            </a:fld>
            <a:endParaRPr lang="en-US" noProof="0" dirty="0"/>
          </a:p>
        </p:txBody>
      </p:sp>
      <p:sp>
        <p:nvSpPr>
          <p:cNvPr id="4" name="Inhaltsplatzhalter 3"/>
          <p:cNvSpPr>
            <a:spLocks noGrp="1"/>
          </p:cNvSpPr>
          <p:nvPr>
            <p:ph sz="quarter" idx="1"/>
          </p:nvPr>
        </p:nvSpPr>
        <p:spPr/>
        <p:txBody>
          <a:bodyPr/>
          <a:lstStyle/>
          <a:p>
            <a:r>
              <a:rPr lang="de-DE" dirty="0"/>
              <a:t>1. Wir betrachten </a:t>
            </a:r>
            <a:r>
              <a:rPr lang="de-DE" b="1" dirty="0">
                <a:solidFill>
                  <a:srgbClr val="FF0000"/>
                </a:solidFill>
              </a:rPr>
              <a:t>nicht-unterbrechbare Ressourcen </a:t>
            </a:r>
            <a:r>
              <a:rPr lang="de-DE" dirty="0"/>
              <a:t>(</a:t>
            </a:r>
            <a:r>
              <a:rPr lang="de-DE" b="1" dirty="0" err="1">
                <a:solidFill>
                  <a:srgbClr val="FF0000"/>
                </a:solidFill>
              </a:rPr>
              <a:t>nonpreemptable</a:t>
            </a:r>
            <a:r>
              <a:rPr lang="de-DE" b="1" dirty="0">
                <a:solidFill>
                  <a:srgbClr val="FF0000"/>
                </a:solidFill>
              </a:rPr>
              <a:t> </a:t>
            </a:r>
            <a:r>
              <a:rPr lang="de-DE" b="1" dirty="0" err="1">
                <a:solidFill>
                  <a:srgbClr val="FF0000"/>
                </a:solidFill>
              </a:rPr>
              <a:t>resources</a:t>
            </a:r>
            <a:r>
              <a:rPr lang="de-DE" dirty="0"/>
              <a:t>)</a:t>
            </a:r>
          </a:p>
          <a:p>
            <a:pPr lvl="1"/>
            <a:r>
              <a:rPr lang="de-DE" sz="2400" dirty="0"/>
              <a:t>Solche können dem aktuellen Besitzer nicht entzogen werden, ohne dass die Ausführung fehlschlägt</a:t>
            </a:r>
          </a:p>
          <a:p>
            <a:pPr lvl="1"/>
            <a:r>
              <a:rPr lang="de-DE" sz="2400" dirty="0"/>
              <a:t>Beispiele: CD-Brenner, Drucker</a:t>
            </a:r>
          </a:p>
          <a:p>
            <a:pPr lvl="1"/>
            <a:r>
              <a:rPr lang="de-DE" sz="2400" dirty="0"/>
              <a:t>Beispiel </a:t>
            </a:r>
            <a:r>
              <a:rPr lang="de-DE" sz="2400" u="sng" dirty="0"/>
              <a:t>unterbrechbare</a:t>
            </a:r>
            <a:r>
              <a:rPr lang="de-DE" sz="2400" dirty="0"/>
              <a:t> Ressource: Speicher</a:t>
            </a:r>
          </a:p>
          <a:p>
            <a:r>
              <a:rPr lang="de-DE" dirty="0"/>
              <a:t>2. Ein Prozess verwendet jede Ressource wie folgt:</a:t>
            </a:r>
          </a:p>
          <a:p>
            <a:pPr marL="731520" lvl="1" indent="-457200">
              <a:buFont typeface="+mj-lt"/>
              <a:buAutoNum type="arabicPeriod"/>
            </a:pPr>
            <a:r>
              <a:rPr lang="de-DE" sz="2400" dirty="0"/>
              <a:t>Die Ressource anfordern</a:t>
            </a:r>
          </a:p>
          <a:p>
            <a:pPr marL="731520" lvl="1" indent="-457200">
              <a:buFont typeface="+mj-lt"/>
              <a:buAutoNum type="arabicPeriod"/>
            </a:pPr>
            <a:r>
              <a:rPr lang="de-DE" sz="2400" dirty="0"/>
              <a:t>Die Ressource benutzen</a:t>
            </a:r>
          </a:p>
          <a:p>
            <a:pPr marL="731520" lvl="1" indent="-457200">
              <a:buFont typeface="+mj-lt"/>
              <a:buAutoNum type="arabicPeriod"/>
            </a:pPr>
            <a:r>
              <a:rPr lang="de-DE" sz="2400" dirty="0"/>
              <a:t>Die Ressource freigeben</a:t>
            </a:r>
          </a:p>
        </p:txBody>
      </p:sp>
    </p:spTree>
    <p:extLst>
      <p:ext uri="{BB962C8B-B14F-4D97-AF65-F5344CB8AC3E}">
        <p14:creationId xmlns:p14="http://schemas.microsoft.com/office/powerpoint/2010/main" val="27587757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Voraussetzungen für Ressourcen-Deadlocks</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9</a:t>
            </a:fld>
            <a:endParaRPr lang="en-US" noProof="0" dirty="0"/>
          </a:p>
        </p:txBody>
      </p:sp>
      <p:sp>
        <p:nvSpPr>
          <p:cNvPr id="4" name="Inhaltsplatzhalter 3"/>
          <p:cNvSpPr>
            <a:spLocks noGrp="1"/>
          </p:cNvSpPr>
          <p:nvPr>
            <p:ph sz="quarter" idx="1"/>
          </p:nvPr>
        </p:nvSpPr>
        <p:spPr/>
        <p:txBody>
          <a:bodyPr>
            <a:normAutofit fontScale="92500" lnSpcReduction="10000"/>
          </a:bodyPr>
          <a:lstStyle/>
          <a:p>
            <a:r>
              <a:rPr lang="de-DE" b="1" dirty="0">
                <a:solidFill>
                  <a:srgbClr val="FF0000"/>
                </a:solidFill>
              </a:rPr>
              <a:t>Wechselseitiger Ausschluss </a:t>
            </a:r>
            <a:r>
              <a:rPr lang="de-DE" dirty="0"/>
              <a:t>(</a:t>
            </a:r>
            <a:r>
              <a:rPr lang="de-DE" b="1" dirty="0">
                <a:solidFill>
                  <a:srgbClr val="FF0000"/>
                </a:solidFill>
              </a:rPr>
              <a:t>mutual </a:t>
            </a:r>
            <a:r>
              <a:rPr lang="de-DE" b="1" dirty="0" err="1">
                <a:solidFill>
                  <a:srgbClr val="FF0000"/>
                </a:solidFill>
              </a:rPr>
              <a:t>exclusion</a:t>
            </a:r>
            <a:r>
              <a:rPr lang="de-DE" dirty="0"/>
              <a:t>)</a:t>
            </a:r>
          </a:p>
          <a:p>
            <a:pPr lvl="1"/>
            <a:r>
              <a:rPr lang="de-DE" dirty="0"/>
              <a:t>Jede Ressource ist entweder verfügbar oder genau einem Prozess zugeordnet</a:t>
            </a:r>
          </a:p>
          <a:p>
            <a:r>
              <a:rPr lang="de-DE" b="1" dirty="0">
                <a:solidFill>
                  <a:srgbClr val="FF0000"/>
                </a:solidFill>
              </a:rPr>
              <a:t>Hold-</a:t>
            </a:r>
            <a:r>
              <a:rPr lang="de-DE" b="1" dirty="0" err="1">
                <a:solidFill>
                  <a:srgbClr val="FF0000"/>
                </a:solidFill>
              </a:rPr>
              <a:t>and</a:t>
            </a:r>
            <a:r>
              <a:rPr lang="de-DE" b="1" dirty="0">
                <a:solidFill>
                  <a:srgbClr val="FF0000"/>
                </a:solidFill>
              </a:rPr>
              <a:t>-</a:t>
            </a:r>
            <a:r>
              <a:rPr lang="de-DE" b="1" dirty="0" err="1">
                <a:solidFill>
                  <a:srgbClr val="FF0000"/>
                </a:solidFill>
              </a:rPr>
              <a:t>Wait</a:t>
            </a:r>
            <a:r>
              <a:rPr lang="de-DE" b="1" dirty="0">
                <a:solidFill>
                  <a:srgbClr val="FF0000"/>
                </a:solidFill>
              </a:rPr>
              <a:t>-Bedingung</a:t>
            </a:r>
            <a:r>
              <a:rPr lang="de-DE" dirty="0"/>
              <a:t> (</a:t>
            </a:r>
            <a:r>
              <a:rPr lang="de-DE" b="1" dirty="0">
                <a:solidFill>
                  <a:srgbClr val="FF0000"/>
                </a:solidFill>
              </a:rPr>
              <a:t>hold </a:t>
            </a:r>
            <a:r>
              <a:rPr lang="de-DE" b="1" dirty="0" err="1">
                <a:solidFill>
                  <a:srgbClr val="FF0000"/>
                </a:solidFill>
              </a:rPr>
              <a:t>and</a:t>
            </a:r>
            <a:r>
              <a:rPr lang="de-DE" b="1" dirty="0">
                <a:solidFill>
                  <a:srgbClr val="FF0000"/>
                </a:solidFill>
              </a:rPr>
              <a:t> </a:t>
            </a:r>
            <a:r>
              <a:rPr lang="de-DE" b="1" dirty="0" err="1">
                <a:solidFill>
                  <a:srgbClr val="FF0000"/>
                </a:solidFill>
              </a:rPr>
              <a:t>wait</a:t>
            </a:r>
            <a:r>
              <a:rPr lang="de-DE" dirty="0"/>
              <a:t>)</a:t>
            </a:r>
          </a:p>
          <a:p>
            <a:pPr lvl="1"/>
            <a:r>
              <a:rPr lang="de-DE" dirty="0"/>
              <a:t>Prozesse, die schon Ressourcen reserviert haben, können noch weitere Ressourcen anfordern</a:t>
            </a:r>
          </a:p>
          <a:p>
            <a:r>
              <a:rPr lang="de-DE" b="1" dirty="0">
                <a:solidFill>
                  <a:srgbClr val="FF0000"/>
                </a:solidFill>
              </a:rPr>
              <a:t>Bedingung der </a:t>
            </a:r>
            <a:r>
              <a:rPr lang="de-DE" b="1" u="sng" dirty="0" err="1">
                <a:solidFill>
                  <a:srgbClr val="FF0000"/>
                </a:solidFill>
              </a:rPr>
              <a:t>Un</a:t>
            </a:r>
            <a:r>
              <a:rPr lang="de-DE" b="1" dirty="0" err="1">
                <a:solidFill>
                  <a:srgbClr val="FF0000"/>
                </a:solidFill>
              </a:rPr>
              <a:t>unterbrechbarkeit</a:t>
            </a:r>
            <a:r>
              <a:rPr lang="de-DE" b="1" dirty="0">
                <a:solidFill>
                  <a:srgbClr val="FF0000"/>
                </a:solidFill>
              </a:rPr>
              <a:t> </a:t>
            </a:r>
            <a:r>
              <a:rPr lang="de-DE" dirty="0"/>
              <a:t>(</a:t>
            </a:r>
            <a:r>
              <a:rPr lang="de-DE" b="1" dirty="0" err="1">
                <a:solidFill>
                  <a:srgbClr val="FF0000"/>
                </a:solidFill>
              </a:rPr>
              <a:t>no</a:t>
            </a:r>
            <a:r>
              <a:rPr lang="de-DE" b="1" dirty="0">
                <a:solidFill>
                  <a:srgbClr val="FF0000"/>
                </a:solidFill>
              </a:rPr>
              <a:t> </a:t>
            </a:r>
            <a:r>
              <a:rPr lang="de-DE" b="1" dirty="0" err="1">
                <a:solidFill>
                  <a:srgbClr val="FF0000"/>
                </a:solidFill>
              </a:rPr>
              <a:t>preemption</a:t>
            </a:r>
            <a:r>
              <a:rPr lang="de-DE" dirty="0"/>
              <a:t>)</a:t>
            </a:r>
          </a:p>
          <a:p>
            <a:pPr lvl="1"/>
            <a:r>
              <a:rPr lang="de-DE" dirty="0"/>
              <a:t>Ressourcen, die einem Prozess bewilligt wurden, können diesem nicht gewaltsam wieder entzogen werden; der Prozess muss sie explizit freigeben</a:t>
            </a:r>
          </a:p>
          <a:p>
            <a:r>
              <a:rPr lang="de-DE" b="1" dirty="0">
                <a:solidFill>
                  <a:srgbClr val="FF0000"/>
                </a:solidFill>
              </a:rPr>
              <a:t>Zyklische Wartebedingung </a:t>
            </a:r>
            <a:r>
              <a:rPr lang="de-DE" dirty="0"/>
              <a:t>(</a:t>
            </a:r>
            <a:r>
              <a:rPr lang="de-DE" b="1" dirty="0" err="1">
                <a:solidFill>
                  <a:srgbClr val="FF0000"/>
                </a:solidFill>
              </a:rPr>
              <a:t>circular</a:t>
            </a:r>
            <a:r>
              <a:rPr lang="de-DE" b="1" dirty="0">
                <a:solidFill>
                  <a:srgbClr val="FF0000"/>
                </a:solidFill>
              </a:rPr>
              <a:t> </a:t>
            </a:r>
            <a:r>
              <a:rPr lang="de-DE" b="1" dirty="0" err="1">
                <a:solidFill>
                  <a:srgbClr val="FF0000"/>
                </a:solidFill>
              </a:rPr>
              <a:t>wait</a:t>
            </a:r>
            <a:r>
              <a:rPr lang="de-DE" dirty="0"/>
              <a:t>)</a:t>
            </a:r>
          </a:p>
          <a:p>
            <a:pPr lvl="1"/>
            <a:r>
              <a:rPr lang="de-DE" dirty="0"/>
              <a:t>Es muss eine zyklische Kette von Prozessen geben, von denen jeder auf eine Ressource wartet, die dem nächsten Prozess in der Kette gehört, d.h. in P</a:t>
            </a:r>
            <a:r>
              <a:rPr lang="de-DE" baseline="-25000" dirty="0"/>
              <a:t>0</a:t>
            </a:r>
            <a:r>
              <a:rPr lang="de-DE" dirty="0"/>
              <a:t>, P</a:t>
            </a:r>
            <a:r>
              <a:rPr lang="de-DE" baseline="-25000" dirty="0"/>
              <a:t>1</a:t>
            </a:r>
            <a:r>
              <a:rPr lang="de-DE" dirty="0"/>
              <a:t>, P</a:t>
            </a:r>
            <a:r>
              <a:rPr lang="de-DE" baseline="-25000" dirty="0"/>
              <a:t>2</a:t>
            </a:r>
            <a:r>
              <a:rPr lang="de-DE" dirty="0"/>
              <a:t>, …, </a:t>
            </a:r>
            <a:r>
              <a:rPr lang="de-DE" dirty="0" err="1"/>
              <a:t>P</a:t>
            </a:r>
            <a:r>
              <a:rPr lang="de-DE" baseline="-25000" dirty="0" err="1"/>
              <a:t>n</a:t>
            </a:r>
            <a:r>
              <a:rPr lang="de-DE" dirty="0"/>
              <a:t>: </a:t>
            </a:r>
            <a:r>
              <a:rPr lang="de-DE" dirty="0">
                <a:solidFill>
                  <a:srgbClr val="FF0000"/>
                </a:solidFill>
              </a:rPr>
              <a:t>P</a:t>
            </a:r>
            <a:r>
              <a:rPr lang="de-DE" baseline="-25000" dirty="0">
                <a:solidFill>
                  <a:srgbClr val="FF0000"/>
                </a:solidFill>
              </a:rPr>
              <a:t>0</a:t>
            </a:r>
            <a:r>
              <a:rPr lang="de-DE" dirty="0"/>
              <a:t> wartet auf P</a:t>
            </a:r>
            <a:r>
              <a:rPr lang="de-DE" baseline="-25000" dirty="0"/>
              <a:t>1</a:t>
            </a:r>
            <a:r>
              <a:rPr lang="de-DE" dirty="0"/>
              <a:t>, P</a:t>
            </a:r>
            <a:r>
              <a:rPr lang="de-DE" baseline="-25000" dirty="0"/>
              <a:t>1</a:t>
            </a:r>
            <a:r>
              <a:rPr lang="de-DE" dirty="0"/>
              <a:t> auf P</a:t>
            </a:r>
            <a:r>
              <a:rPr lang="de-DE" baseline="-25000" dirty="0"/>
              <a:t>2</a:t>
            </a:r>
            <a:r>
              <a:rPr lang="de-DE" dirty="0"/>
              <a:t>, …, </a:t>
            </a:r>
            <a:r>
              <a:rPr lang="de-DE" dirty="0" err="1"/>
              <a:t>P</a:t>
            </a:r>
            <a:r>
              <a:rPr lang="de-DE" baseline="-25000" dirty="0" err="1"/>
              <a:t>n</a:t>
            </a:r>
            <a:r>
              <a:rPr lang="de-DE" dirty="0"/>
              <a:t> auf </a:t>
            </a:r>
            <a:r>
              <a:rPr lang="de-DE" dirty="0">
                <a:solidFill>
                  <a:srgbClr val="FF0000"/>
                </a:solidFill>
              </a:rPr>
              <a:t>P</a:t>
            </a:r>
            <a:r>
              <a:rPr lang="de-DE" baseline="-25000" dirty="0">
                <a:solidFill>
                  <a:srgbClr val="FF0000"/>
                </a:solidFill>
              </a:rPr>
              <a:t>0</a:t>
            </a:r>
          </a:p>
        </p:txBody>
      </p:sp>
      <p:sp>
        <p:nvSpPr>
          <p:cNvPr id="5" name="Textfeld 4"/>
          <p:cNvSpPr txBox="1"/>
          <p:nvPr/>
        </p:nvSpPr>
        <p:spPr>
          <a:xfrm>
            <a:off x="3587596" y="6118167"/>
            <a:ext cx="5509120" cy="646331"/>
          </a:xfrm>
          <a:prstGeom prst="rect">
            <a:avLst/>
          </a:prstGeom>
          <a:solidFill>
            <a:srgbClr val="FFC000"/>
          </a:solidFill>
        </p:spPr>
        <p:txBody>
          <a:bodyPr wrap="square" rtlCol="0">
            <a:spAutoFit/>
          </a:bodyPr>
          <a:lstStyle/>
          <a:p>
            <a:r>
              <a:rPr lang="de-DE" dirty="0"/>
              <a:t>Gut ist: die Bedingungen sind notwendig aber nicht hinreichend und müssen </a:t>
            </a:r>
            <a:r>
              <a:rPr lang="de-DE" u="sng" dirty="0"/>
              <a:t>gleichzeitig</a:t>
            </a:r>
            <a:r>
              <a:rPr lang="de-DE" dirty="0"/>
              <a:t> erfüllt sein!</a:t>
            </a:r>
          </a:p>
        </p:txBody>
      </p:sp>
    </p:spTree>
    <p:extLst>
      <p:ext uri="{BB962C8B-B14F-4D97-AF65-F5344CB8AC3E}">
        <p14:creationId xmlns:p14="http://schemas.microsoft.com/office/powerpoint/2010/main" val="4098255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2000"/>
                                        <p:tgtEl>
                                          <p:spTgt spid="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fade">
                                      <p:cBhvr>
                                        <p:cTn id="15" dur="2000"/>
                                        <p:tgtEl>
                                          <p:spTgt spid="4">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animEffect transition="in" filter="fade">
                                      <p:cBhvr>
                                        <p:cTn id="18" dur="2000"/>
                                        <p:tgtEl>
                                          <p:spTgt spid="4">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animEffect transition="in" filter="fade">
                                      <p:cBhvr>
                                        <p:cTn id="23" dur="2000"/>
                                        <p:tgtEl>
                                          <p:spTgt spid="4">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4">
                                            <p:txEl>
                                              <p:pRg st="5" end="5"/>
                                            </p:txEl>
                                          </p:spTgt>
                                        </p:tgtEl>
                                        <p:attrNameLst>
                                          <p:attrName>style.visibility</p:attrName>
                                        </p:attrNameLst>
                                      </p:cBhvr>
                                      <p:to>
                                        <p:strVal val="visible"/>
                                      </p:to>
                                    </p:set>
                                    <p:animEffect transition="in" filter="fade">
                                      <p:cBhvr>
                                        <p:cTn id="26" dur="2000"/>
                                        <p:tgtEl>
                                          <p:spTgt spid="4">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animEffect transition="in" filter="fade">
                                      <p:cBhvr>
                                        <p:cTn id="31" dur="2000"/>
                                        <p:tgtEl>
                                          <p:spTgt spid="4">
                                            <p:txEl>
                                              <p:pRg st="6" end="6"/>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4">
                                            <p:txEl>
                                              <p:pRg st="7" end="7"/>
                                            </p:txEl>
                                          </p:spTgt>
                                        </p:tgtEl>
                                        <p:attrNameLst>
                                          <p:attrName>style.visibility</p:attrName>
                                        </p:attrNameLst>
                                      </p:cBhvr>
                                      <p:to>
                                        <p:strVal val="visible"/>
                                      </p:to>
                                    </p:set>
                                    <p:animEffect transition="in" filter="fade">
                                      <p:cBhvr>
                                        <p:cTn id="34" dur="2000"/>
                                        <p:tgtEl>
                                          <p:spTgt spid="4">
                                            <p:txEl>
                                              <p:pRg st="7" end="7"/>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5">
                                            <p:bg/>
                                          </p:spTgt>
                                        </p:tgtEl>
                                        <p:attrNameLst>
                                          <p:attrName>style.visibility</p:attrName>
                                        </p:attrNameLst>
                                      </p:cBhvr>
                                      <p:to>
                                        <p:strVal val="visible"/>
                                      </p:to>
                                    </p:set>
                                    <p:animEffect transition="in" filter="fade">
                                      <p:cBhvr>
                                        <p:cTn id="39" dur="2000"/>
                                        <p:tgtEl>
                                          <p:spTgt spid="5">
                                            <p:bg/>
                                          </p:spTgt>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5">
                                            <p:txEl>
                                              <p:pRg st="0" end="0"/>
                                            </p:txEl>
                                          </p:spTgt>
                                        </p:tgtEl>
                                        <p:attrNameLst>
                                          <p:attrName>style.visibility</p:attrName>
                                        </p:attrNameLst>
                                      </p:cBhvr>
                                      <p:to>
                                        <p:strVal val="visible"/>
                                      </p:to>
                                    </p:set>
                                    <p:animEffect transition="in" filter="fade">
                                      <p:cBhvr>
                                        <p:cTn id="42" dur="20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build="allAtOnce"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6C6AE60A-B69C-4790-82F7-3882EDF23186}" type="slidenum">
              <a:rPr lang="de-DE" smtClean="0"/>
              <a:pPr/>
              <a:t>10</a:t>
            </a:fld>
            <a:endParaRPr lang="de-DE" dirty="0"/>
          </a:p>
        </p:txBody>
      </p:sp>
      <p:sp>
        <p:nvSpPr>
          <p:cNvPr id="3" name="Titel 2"/>
          <p:cNvSpPr>
            <a:spLocks noGrp="1"/>
          </p:cNvSpPr>
          <p:nvPr>
            <p:ph type="title"/>
          </p:nvPr>
        </p:nvSpPr>
        <p:spPr/>
        <p:txBody>
          <a:bodyPr/>
          <a:lstStyle/>
          <a:p>
            <a:r>
              <a:rPr lang="de-DE" dirty="0"/>
              <a:t>Deadlocks: Analyse</a:t>
            </a:r>
          </a:p>
        </p:txBody>
      </p:sp>
    </p:spTree>
    <p:extLst>
      <p:ext uri="{BB962C8B-B14F-4D97-AF65-F5344CB8AC3E}">
        <p14:creationId xmlns:p14="http://schemas.microsoft.com/office/powerpoint/2010/main" val="12673031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solidFill>
                  <a:schemeClr val="tx1"/>
                </a:solidFill>
              </a:rPr>
              <a:t>Ressourcen-Belegungs-Graph (R-B-Graph)</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11</a:t>
            </a:fld>
            <a:endParaRPr lang="en-US" noProof="0" dirty="0"/>
          </a:p>
        </p:txBody>
      </p:sp>
      <p:sp>
        <p:nvSpPr>
          <p:cNvPr id="4" name="Inhaltsplatzhalter 3"/>
          <p:cNvSpPr>
            <a:spLocks noGrp="1"/>
          </p:cNvSpPr>
          <p:nvPr>
            <p:ph sz="quarter" idx="1"/>
          </p:nvPr>
        </p:nvSpPr>
        <p:spPr>
          <a:xfrm>
            <a:off x="457200" y="1219200"/>
            <a:ext cx="8229600" cy="3937992"/>
          </a:xfrm>
        </p:spPr>
        <p:txBody>
          <a:bodyPr>
            <a:normAutofit fontScale="92500" lnSpcReduction="10000"/>
          </a:bodyPr>
          <a:lstStyle/>
          <a:p>
            <a:r>
              <a:rPr lang="de-DE" dirty="0"/>
              <a:t>Modellierung von Deadlocks als </a:t>
            </a:r>
            <a:r>
              <a:rPr lang="de-DE" b="1" dirty="0">
                <a:solidFill>
                  <a:srgbClr val="FF0000"/>
                </a:solidFill>
              </a:rPr>
              <a:t>R</a:t>
            </a:r>
            <a:r>
              <a:rPr lang="de-DE" dirty="0"/>
              <a:t>-</a:t>
            </a:r>
            <a:r>
              <a:rPr lang="de-DE" b="1" dirty="0">
                <a:solidFill>
                  <a:srgbClr val="FF0000"/>
                </a:solidFill>
              </a:rPr>
              <a:t>B</a:t>
            </a:r>
            <a:r>
              <a:rPr lang="de-DE" dirty="0"/>
              <a:t>-</a:t>
            </a:r>
            <a:r>
              <a:rPr lang="de-DE" b="1" dirty="0">
                <a:solidFill>
                  <a:srgbClr val="FF0000"/>
                </a:solidFill>
              </a:rPr>
              <a:t>Graph</a:t>
            </a:r>
          </a:p>
          <a:p>
            <a:r>
              <a:rPr lang="de-DE" dirty="0">
                <a:solidFill>
                  <a:srgbClr val="0070C0"/>
                </a:solidFill>
              </a:rPr>
              <a:t>Prozesse</a:t>
            </a:r>
            <a:r>
              <a:rPr lang="de-DE" dirty="0"/>
              <a:t> P</a:t>
            </a:r>
            <a:r>
              <a:rPr lang="de-DE" baseline="-25000" dirty="0"/>
              <a:t>0</a:t>
            </a:r>
            <a:r>
              <a:rPr lang="de-DE" dirty="0"/>
              <a:t>, P</a:t>
            </a:r>
            <a:r>
              <a:rPr lang="de-DE" baseline="-25000" dirty="0"/>
              <a:t>1</a:t>
            </a:r>
            <a:r>
              <a:rPr lang="de-DE" dirty="0"/>
              <a:t>, …, </a:t>
            </a:r>
            <a:r>
              <a:rPr lang="de-DE" dirty="0" err="1"/>
              <a:t>P</a:t>
            </a:r>
            <a:r>
              <a:rPr lang="de-DE" baseline="-25000" dirty="0" err="1"/>
              <a:t>n</a:t>
            </a:r>
            <a:r>
              <a:rPr lang="de-DE" dirty="0"/>
              <a:t> (oder A, B, C, D,…)</a:t>
            </a:r>
          </a:p>
          <a:p>
            <a:pPr lvl="1"/>
            <a:r>
              <a:rPr lang="de-DE" dirty="0"/>
              <a:t>Knoten des Graphen dargestellt als </a:t>
            </a:r>
            <a:r>
              <a:rPr lang="de-DE" u="sng" dirty="0">
                <a:solidFill>
                  <a:srgbClr val="0070C0"/>
                </a:solidFill>
              </a:rPr>
              <a:t>Kreise</a:t>
            </a:r>
          </a:p>
          <a:p>
            <a:r>
              <a:rPr lang="de-DE" dirty="0">
                <a:solidFill>
                  <a:srgbClr val="FF0000"/>
                </a:solidFill>
              </a:rPr>
              <a:t>Ressourcen</a:t>
            </a:r>
            <a:r>
              <a:rPr lang="de-DE" dirty="0"/>
              <a:t> R</a:t>
            </a:r>
            <a:r>
              <a:rPr lang="de-DE" baseline="-25000" dirty="0"/>
              <a:t>0</a:t>
            </a:r>
            <a:r>
              <a:rPr lang="de-DE" dirty="0"/>
              <a:t>, …, </a:t>
            </a:r>
            <a:r>
              <a:rPr lang="de-DE" dirty="0" err="1"/>
              <a:t>R</a:t>
            </a:r>
            <a:r>
              <a:rPr lang="de-DE" baseline="-25000" dirty="0" err="1"/>
              <a:t>m</a:t>
            </a:r>
            <a:r>
              <a:rPr lang="de-DE" dirty="0"/>
              <a:t> (oder R, S, T, U, …)</a:t>
            </a:r>
          </a:p>
          <a:p>
            <a:pPr lvl="1"/>
            <a:r>
              <a:rPr lang="de-DE" dirty="0"/>
              <a:t>Knoten des Graphen dargestellt als </a:t>
            </a:r>
            <a:r>
              <a:rPr lang="de-DE" u="sng" dirty="0">
                <a:solidFill>
                  <a:srgbClr val="FF0000"/>
                </a:solidFill>
              </a:rPr>
              <a:t>Quadrate</a:t>
            </a:r>
          </a:p>
          <a:p>
            <a:r>
              <a:rPr lang="de-DE" dirty="0"/>
              <a:t>Gerichtete Kanten (dargestellt als Pfeile) </a:t>
            </a:r>
          </a:p>
          <a:p>
            <a:pPr lvl="1"/>
            <a:r>
              <a:rPr lang="de-DE" dirty="0"/>
              <a:t>Von Prozessen zu den Ressourcen</a:t>
            </a:r>
          </a:p>
          <a:p>
            <a:pPr lvl="2"/>
            <a:r>
              <a:rPr lang="de-DE" dirty="0"/>
              <a:t>Interpretation: „Prozess verlangt ein Ressource und wartet darauf“</a:t>
            </a:r>
          </a:p>
          <a:p>
            <a:pPr lvl="1"/>
            <a:r>
              <a:rPr lang="de-DE" dirty="0"/>
              <a:t>Von Ressourcen zu den Prozessen</a:t>
            </a:r>
          </a:p>
          <a:p>
            <a:pPr lvl="2"/>
            <a:r>
              <a:rPr lang="de-DE" dirty="0"/>
              <a:t>Interpretation: „Ressource wurde dem Prozess zugeordnet“ </a:t>
            </a:r>
          </a:p>
          <a:p>
            <a:endParaRPr lang="de-DE" dirty="0"/>
          </a:p>
        </p:txBody>
      </p:sp>
      <p:sp>
        <p:nvSpPr>
          <p:cNvPr id="6" name="Textfeld 5"/>
          <p:cNvSpPr txBox="1"/>
          <p:nvPr/>
        </p:nvSpPr>
        <p:spPr>
          <a:xfrm>
            <a:off x="4278778" y="5568965"/>
            <a:ext cx="3405099" cy="461665"/>
          </a:xfrm>
          <a:prstGeom prst="rect">
            <a:avLst/>
          </a:prstGeom>
          <a:noFill/>
        </p:spPr>
        <p:txBody>
          <a:bodyPr wrap="none" rtlCol="0">
            <a:spAutoFit/>
          </a:bodyPr>
          <a:lstStyle/>
          <a:p>
            <a:r>
              <a:rPr lang="de-DE" sz="2400" dirty="0"/>
              <a:t>Liegt ein Deadlock vor?</a:t>
            </a:r>
          </a:p>
        </p:txBody>
      </p:sp>
      <p:grpSp>
        <p:nvGrpSpPr>
          <p:cNvPr id="38" name="Gruppieren 37"/>
          <p:cNvGrpSpPr/>
          <p:nvPr/>
        </p:nvGrpSpPr>
        <p:grpSpPr>
          <a:xfrm>
            <a:off x="1763688" y="4904433"/>
            <a:ext cx="1728192" cy="1853545"/>
            <a:chOff x="1259632" y="4905349"/>
            <a:chExt cx="1728192" cy="1853545"/>
          </a:xfrm>
        </p:grpSpPr>
        <p:sp>
          <p:nvSpPr>
            <p:cNvPr id="5" name="Rechteck 4"/>
            <p:cNvSpPr/>
            <p:nvPr/>
          </p:nvSpPr>
          <p:spPr>
            <a:xfrm>
              <a:off x="1259632" y="5606766"/>
              <a:ext cx="432048" cy="43204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dirty="0">
                  <a:solidFill>
                    <a:srgbClr val="FF0000"/>
                  </a:solidFill>
                </a:rPr>
                <a:t>T</a:t>
              </a:r>
            </a:p>
          </p:txBody>
        </p:sp>
        <p:sp>
          <p:nvSpPr>
            <p:cNvPr id="9" name="Rechteck 8"/>
            <p:cNvSpPr/>
            <p:nvPr/>
          </p:nvSpPr>
          <p:spPr>
            <a:xfrm>
              <a:off x="2555776" y="5606766"/>
              <a:ext cx="432048" cy="43204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dirty="0">
                  <a:solidFill>
                    <a:srgbClr val="FF0000"/>
                  </a:solidFill>
                </a:rPr>
                <a:t>U</a:t>
              </a:r>
            </a:p>
          </p:txBody>
        </p:sp>
        <p:sp>
          <p:nvSpPr>
            <p:cNvPr id="8" name="Ellipse 7"/>
            <p:cNvSpPr/>
            <p:nvPr/>
          </p:nvSpPr>
          <p:spPr>
            <a:xfrm>
              <a:off x="1907704" y="4905349"/>
              <a:ext cx="432048" cy="449574"/>
            </a:xfrm>
            <a:prstGeom prst="ellipse">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dirty="0">
                  <a:solidFill>
                    <a:srgbClr val="0070C0"/>
                  </a:solidFill>
                </a:rPr>
                <a:t>D</a:t>
              </a:r>
              <a:endParaRPr lang="de-DE" sz="2000" dirty="0">
                <a:solidFill>
                  <a:srgbClr val="0070C0"/>
                </a:solidFill>
              </a:endParaRPr>
            </a:p>
          </p:txBody>
        </p:sp>
        <p:sp>
          <p:nvSpPr>
            <p:cNvPr id="11" name="Ellipse 10"/>
            <p:cNvSpPr/>
            <p:nvPr/>
          </p:nvSpPr>
          <p:spPr>
            <a:xfrm>
              <a:off x="1907169" y="6309320"/>
              <a:ext cx="432048" cy="449574"/>
            </a:xfrm>
            <a:prstGeom prst="ellipse">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dirty="0">
                  <a:solidFill>
                    <a:srgbClr val="0070C0"/>
                  </a:solidFill>
                </a:rPr>
                <a:t>C</a:t>
              </a:r>
            </a:p>
          </p:txBody>
        </p:sp>
        <p:cxnSp>
          <p:nvCxnSpPr>
            <p:cNvPr id="13" name="Gerade Verbindung mit Pfeil 12"/>
            <p:cNvCxnSpPr>
              <a:stCxn id="5" idx="0"/>
              <a:endCxn id="8" idx="2"/>
            </p:cNvCxnSpPr>
            <p:nvPr/>
          </p:nvCxnSpPr>
          <p:spPr>
            <a:xfrm rot="5400000" flipH="1" flipV="1">
              <a:off x="1453365" y="5152427"/>
              <a:ext cx="476630" cy="432048"/>
            </a:xfrm>
            <a:prstGeom prst="curvedConnector2">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2" name="Gerade Verbindung mit Pfeil 21"/>
            <p:cNvCxnSpPr>
              <a:stCxn id="8" idx="6"/>
              <a:endCxn id="9" idx="0"/>
            </p:cNvCxnSpPr>
            <p:nvPr/>
          </p:nvCxnSpPr>
          <p:spPr>
            <a:xfrm>
              <a:off x="2339752" y="5130136"/>
              <a:ext cx="432048" cy="476630"/>
            </a:xfrm>
            <a:prstGeom prst="curvedConnector2">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3" name="Gerade Verbindung mit Pfeil 21"/>
            <p:cNvCxnSpPr>
              <a:stCxn id="9" idx="2"/>
              <a:endCxn id="11" idx="6"/>
            </p:cNvCxnSpPr>
            <p:nvPr/>
          </p:nvCxnSpPr>
          <p:spPr>
            <a:xfrm rot="5400000">
              <a:off x="2307863" y="6070169"/>
              <a:ext cx="495293" cy="432583"/>
            </a:xfrm>
            <a:prstGeom prst="curvedConnector2">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6" name="Gerade Verbindung mit Pfeil 21"/>
            <p:cNvCxnSpPr>
              <a:stCxn id="11" idx="2"/>
              <a:endCxn id="5" idx="2"/>
            </p:cNvCxnSpPr>
            <p:nvPr/>
          </p:nvCxnSpPr>
          <p:spPr>
            <a:xfrm rot="10800000">
              <a:off x="1475657" y="6038815"/>
              <a:ext cx="431513" cy="495293"/>
            </a:xfrm>
            <a:prstGeom prst="curvedConnector2">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sp>
        <p:nvSpPr>
          <p:cNvPr id="15" name="Rechteck 14">
            <a:extLst>
              <a:ext uri="{FF2B5EF4-FFF2-40B4-BE49-F238E27FC236}">
                <a16:creationId xmlns:a16="http://schemas.microsoft.com/office/drawing/2014/main" id="{FDBC14A6-62F3-465F-A4E2-F7C9F0DA001E}"/>
              </a:ext>
            </a:extLst>
          </p:cNvPr>
          <p:cNvSpPr/>
          <p:nvPr/>
        </p:nvSpPr>
        <p:spPr>
          <a:xfrm>
            <a:off x="6017407" y="76200"/>
            <a:ext cx="2825710" cy="461665"/>
          </a:xfrm>
          <a:prstGeom prst="rect">
            <a:avLst/>
          </a:prstGeom>
        </p:spPr>
        <p:txBody>
          <a:bodyPr wrap="none">
            <a:spAutoFit/>
          </a:bodyPr>
          <a:lstStyle/>
          <a:p>
            <a:r>
              <a:rPr lang="en-US" sz="2400" dirty="0">
                <a:solidFill>
                  <a:srgbClr val="1177D1"/>
                </a:solidFill>
                <a:highlight>
                  <a:srgbClr val="00FF00"/>
                </a:highlight>
                <a:latin typeface="-apple-system"/>
                <a:hlinkClick r:id="rId3"/>
              </a:rPr>
              <a:t>https://bit.ly/ibn_hd</a:t>
            </a:r>
            <a:r>
              <a:rPr lang="en-US" sz="2400" dirty="0">
                <a:solidFill>
                  <a:srgbClr val="1177D1"/>
                </a:solidFill>
                <a:highlight>
                  <a:srgbClr val="00FF00"/>
                </a:highlight>
                <a:latin typeface="-apple-system"/>
              </a:rPr>
              <a:t> </a:t>
            </a:r>
            <a:endParaRPr lang="en-US" sz="2400" dirty="0">
              <a:highlight>
                <a:srgbClr val="00FF00"/>
              </a:highlight>
            </a:endParaRPr>
          </a:p>
        </p:txBody>
      </p:sp>
    </p:spTree>
    <p:extLst>
      <p:ext uri="{BB962C8B-B14F-4D97-AF65-F5344CB8AC3E}">
        <p14:creationId xmlns:p14="http://schemas.microsoft.com/office/powerpoint/2010/main" val="132145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Ein Deadlock oder keiner?</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12</a:t>
            </a:fld>
            <a:endParaRPr lang="en-US" noProof="0" dirty="0"/>
          </a:p>
        </p:txBody>
      </p:sp>
      <p:sp>
        <p:nvSpPr>
          <p:cNvPr id="4" name="Inhaltsplatzhalter 3"/>
          <p:cNvSpPr>
            <a:spLocks noGrp="1"/>
          </p:cNvSpPr>
          <p:nvPr>
            <p:ph sz="quarter" idx="1"/>
          </p:nvPr>
        </p:nvSpPr>
        <p:spPr>
          <a:xfrm>
            <a:off x="312634" y="3068960"/>
            <a:ext cx="8229600" cy="3937992"/>
          </a:xfrm>
        </p:spPr>
        <p:txBody>
          <a:bodyPr>
            <a:normAutofit/>
          </a:bodyPr>
          <a:lstStyle/>
          <a:p>
            <a:pPr marL="0" indent="0">
              <a:buNone/>
            </a:pPr>
            <a:r>
              <a:rPr lang="de-DE" sz="2400" dirty="0">
                <a:solidFill>
                  <a:schemeClr val="bg1">
                    <a:lumMod val="50000"/>
                  </a:schemeClr>
                </a:solidFill>
              </a:rPr>
              <a:t>Nochmals:</a:t>
            </a:r>
          </a:p>
          <a:p>
            <a:r>
              <a:rPr lang="de-DE" sz="2400" dirty="0">
                <a:solidFill>
                  <a:schemeClr val="bg1">
                    <a:lumMod val="50000"/>
                  </a:schemeClr>
                </a:solidFill>
              </a:rPr>
              <a:t>Wechselseitiger Ausschluss (mutual </a:t>
            </a:r>
            <a:r>
              <a:rPr lang="de-DE" sz="2400" dirty="0" err="1">
                <a:solidFill>
                  <a:schemeClr val="bg1">
                    <a:lumMod val="50000"/>
                  </a:schemeClr>
                </a:solidFill>
              </a:rPr>
              <a:t>exclusion</a:t>
            </a:r>
            <a:r>
              <a:rPr lang="de-DE" sz="2400" dirty="0">
                <a:solidFill>
                  <a:schemeClr val="bg1">
                    <a:lumMod val="50000"/>
                  </a:schemeClr>
                </a:solidFill>
              </a:rPr>
              <a:t>)</a:t>
            </a:r>
          </a:p>
          <a:p>
            <a:r>
              <a:rPr lang="de-DE" sz="2400" dirty="0">
                <a:solidFill>
                  <a:schemeClr val="bg1">
                    <a:lumMod val="50000"/>
                  </a:schemeClr>
                </a:solidFill>
              </a:rPr>
              <a:t>Hold-</a:t>
            </a:r>
            <a:r>
              <a:rPr lang="de-DE" sz="2400" dirty="0" err="1">
                <a:solidFill>
                  <a:schemeClr val="bg1">
                    <a:lumMod val="50000"/>
                  </a:schemeClr>
                </a:solidFill>
              </a:rPr>
              <a:t>and</a:t>
            </a:r>
            <a:r>
              <a:rPr lang="de-DE" sz="2400" dirty="0">
                <a:solidFill>
                  <a:schemeClr val="bg1">
                    <a:lumMod val="50000"/>
                  </a:schemeClr>
                </a:solidFill>
              </a:rPr>
              <a:t>-</a:t>
            </a:r>
            <a:r>
              <a:rPr lang="de-DE" sz="2400" dirty="0" err="1">
                <a:solidFill>
                  <a:schemeClr val="bg1">
                    <a:lumMod val="50000"/>
                  </a:schemeClr>
                </a:solidFill>
              </a:rPr>
              <a:t>Wait</a:t>
            </a:r>
            <a:r>
              <a:rPr lang="de-DE" sz="2400" dirty="0">
                <a:solidFill>
                  <a:schemeClr val="bg1">
                    <a:lumMod val="50000"/>
                  </a:schemeClr>
                </a:solidFill>
              </a:rPr>
              <a:t>-Bedingung (hold </a:t>
            </a:r>
            <a:r>
              <a:rPr lang="de-DE" sz="2400" dirty="0" err="1">
                <a:solidFill>
                  <a:schemeClr val="bg1">
                    <a:lumMod val="50000"/>
                  </a:schemeClr>
                </a:solidFill>
              </a:rPr>
              <a:t>and</a:t>
            </a:r>
            <a:r>
              <a:rPr lang="de-DE" sz="2400" dirty="0">
                <a:solidFill>
                  <a:schemeClr val="bg1">
                    <a:lumMod val="50000"/>
                  </a:schemeClr>
                </a:solidFill>
              </a:rPr>
              <a:t> </a:t>
            </a:r>
            <a:r>
              <a:rPr lang="de-DE" sz="2400" dirty="0" err="1">
                <a:solidFill>
                  <a:schemeClr val="bg1">
                    <a:lumMod val="50000"/>
                  </a:schemeClr>
                </a:solidFill>
              </a:rPr>
              <a:t>wait</a:t>
            </a:r>
            <a:r>
              <a:rPr lang="de-DE" sz="2400" dirty="0">
                <a:solidFill>
                  <a:schemeClr val="bg1">
                    <a:lumMod val="50000"/>
                  </a:schemeClr>
                </a:solidFill>
              </a:rPr>
              <a:t>)</a:t>
            </a:r>
          </a:p>
          <a:p>
            <a:r>
              <a:rPr lang="de-DE" sz="2400" dirty="0">
                <a:solidFill>
                  <a:schemeClr val="bg1">
                    <a:lumMod val="50000"/>
                  </a:schemeClr>
                </a:solidFill>
              </a:rPr>
              <a:t>Bedingung der </a:t>
            </a:r>
            <a:r>
              <a:rPr lang="de-DE" sz="2400" u="sng" dirty="0" err="1">
                <a:solidFill>
                  <a:schemeClr val="bg1">
                    <a:lumMod val="50000"/>
                  </a:schemeClr>
                </a:solidFill>
              </a:rPr>
              <a:t>Un</a:t>
            </a:r>
            <a:r>
              <a:rPr lang="de-DE" sz="2400" dirty="0" err="1">
                <a:solidFill>
                  <a:schemeClr val="bg1">
                    <a:lumMod val="50000"/>
                  </a:schemeClr>
                </a:solidFill>
              </a:rPr>
              <a:t>unterbrechbarkeit</a:t>
            </a:r>
            <a:r>
              <a:rPr lang="de-DE" sz="2400" dirty="0">
                <a:solidFill>
                  <a:schemeClr val="bg1">
                    <a:lumMod val="50000"/>
                  </a:schemeClr>
                </a:solidFill>
              </a:rPr>
              <a:t> (</a:t>
            </a:r>
            <a:r>
              <a:rPr lang="de-DE" sz="2400" dirty="0" err="1">
                <a:solidFill>
                  <a:schemeClr val="bg1">
                    <a:lumMod val="50000"/>
                  </a:schemeClr>
                </a:solidFill>
              </a:rPr>
              <a:t>no</a:t>
            </a:r>
            <a:r>
              <a:rPr lang="de-DE" sz="2400" dirty="0">
                <a:solidFill>
                  <a:schemeClr val="bg1">
                    <a:lumMod val="50000"/>
                  </a:schemeClr>
                </a:solidFill>
              </a:rPr>
              <a:t> </a:t>
            </a:r>
            <a:r>
              <a:rPr lang="de-DE" sz="2400" dirty="0" err="1">
                <a:solidFill>
                  <a:schemeClr val="bg1">
                    <a:lumMod val="50000"/>
                  </a:schemeClr>
                </a:solidFill>
              </a:rPr>
              <a:t>preemption</a:t>
            </a:r>
            <a:r>
              <a:rPr lang="de-DE" sz="2400" dirty="0">
                <a:solidFill>
                  <a:schemeClr val="bg1">
                    <a:lumMod val="50000"/>
                  </a:schemeClr>
                </a:solidFill>
              </a:rPr>
              <a:t>)</a:t>
            </a:r>
          </a:p>
          <a:p>
            <a:r>
              <a:rPr lang="de-DE" sz="2400" dirty="0">
                <a:solidFill>
                  <a:schemeClr val="bg1">
                    <a:lumMod val="50000"/>
                  </a:schemeClr>
                </a:solidFill>
              </a:rPr>
              <a:t>Zyklische Wartebedingung (</a:t>
            </a:r>
            <a:r>
              <a:rPr lang="de-DE" sz="2400" dirty="0" err="1">
                <a:solidFill>
                  <a:schemeClr val="bg1">
                    <a:lumMod val="50000"/>
                  </a:schemeClr>
                </a:solidFill>
              </a:rPr>
              <a:t>circular</a:t>
            </a:r>
            <a:r>
              <a:rPr lang="de-DE" sz="2400" dirty="0">
                <a:solidFill>
                  <a:schemeClr val="bg1">
                    <a:lumMod val="50000"/>
                  </a:schemeClr>
                </a:solidFill>
              </a:rPr>
              <a:t> </a:t>
            </a:r>
            <a:r>
              <a:rPr lang="de-DE" sz="2400" dirty="0" err="1">
                <a:solidFill>
                  <a:schemeClr val="bg1">
                    <a:lumMod val="50000"/>
                  </a:schemeClr>
                </a:solidFill>
              </a:rPr>
              <a:t>wait</a:t>
            </a:r>
            <a:r>
              <a:rPr lang="de-DE" sz="2400" dirty="0">
                <a:solidFill>
                  <a:schemeClr val="bg1">
                    <a:lumMod val="50000"/>
                  </a:schemeClr>
                </a:solidFill>
              </a:rPr>
              <a:t>)</a:t>
            </a:r>
          </a:p>
          <a:p>
            <a:pPr lvl="1"/>
            <a:r>
              <a:rPr lang="de-DE" sz="2000" dirty="0">
                <a:solidFill>
                  <a:schemeClr val="bg1">
                    <a:lumMod val="50000"/>
                  </a:schemeClr>
                </a:solidFill>
              </a:rPr>
              <a:t>Es muss eine zyklische Kette von Prozessen geben, von denen jeder auf eine Ressource wartet, die dem nächsten Prozess in der Kette gehört</a:t>
            </a:r>
          </a:p>
          <a:p>
            <a:pPr lvl="2"/>
            <a:r>
              <a:rPr lang="de-DE" sz="1800" dirty="0">
                <a:solidFill>
                  <a:schemeClr val="bg1">
                    <a:lumMod val="50000"/>
                  </a:schemeClr>
                </a:solidFill>
              </a:rPr>
              <a:t>D.h. in P</a:t>
            </a:r>
            <a:r>
              <a:rPr lang="de-DE" sz="1800" baseline="-25000" dirty="0">
                <a:solidFill>
                  <a:schemeClr val="bg1">
                    <a:lumMod val="50000"/>
                  </a:schemeClr>
                </a:solidFill>
              </a:rPr>
              <a:t>0</a:t>
            </a:r>
            <a:r>
              <a:rPr lang="de-DE" sz="1800" dirty="0">
                <a:solidFill>
                  <a:schemeClr val="bg1">
                    <a:lumMod val="50000"/>
                  </a:schemeClr>
                </a:solidFill>
              </a:rPr>
              <a:t>, P</a:t>
            </a:r>
            <a:r>
              <a:rPr lang="de-DE" sz="1800" baseline="-25000" dirty="0">
                <a:solidFill>
                  <a:schemeClr val="bg1">
                    <a:lumMod val="50000"/>
                  </a:schemeClr>
                </a:solidFill>
              </a:rPr>
              <a:t>1</a:t>
            </a:r>
            <a:r>
              <a:rPr lang="de-DE" sz="1800" dirty="0">
                <a:solidFill>
                  <a:schemeClr val="bg1">
                    <a:lumMod val="50000"/>
                  </a:schemeClr>
                </a:solidFill>
              </a:rPr>
              <a:t>, …, </a:t>
            </a:r>
            <a:r>
              <a:rPr lang="de-DE" sz="1800" dirty="0" err="1">
                <a:solidFill>
                  <a:schemeClr val="bg1">
                    <a:lumMod val="50000"/>
                  </a:schemeClr>
                </a:solidFill>
              </a:rPr>
              <a:t>P</a:t>
            </a:r>
            <a:r>
              <a:rPr lang="de-DE" sz="1800" baseline="-25000" dirty="0" err="1">
                <a:solidFill>
                  <a:schemeClr val="bg1">
                    <a:lumMod val="50000"/>
                  </a:schemeClr>
                </a:solidFill>
              </a:rPr>
              <a:t>n</a:t>
            </a:r>
            <a:r>
              <a:rPr lang="de-DE" sz="1800" dirty="0">
                <a:solidFill>
                  <a:schemeClr val="bg1">
                    <a:lumMod val="50000"/>
                  </a:schemeClr>
                </a:solidFill>
              </a:rPr>
              <a:t>: P</a:t>
            </a:r>
            <a:r>
              <a:rPr lang="de-DE" sz="1800" baseline="-25000" dirty="0">
                <a:solidFill>
                  <a:schemeClr val="bg1">
                    <a:lumMod val="50000"/>
                  </a:schemeClr>
                </a:solidFill>
              </a:rPr>
              <a:t>0</a:t>
            </a:r>
            <a:r>
              <a:rPr lang="de-DE" sz="1800" dirty="0">
                <a:solidFill>
                  <a:schemeClr val="bg1">
                    <a:lumMod val="50000"/>
                  </a:schemeClr>
                </a:solidFill>
              </a:rPr>
              <a:t> wartet auf P</a:t>
            </a:r>
            <a:r>
              <a:rPr lang="de-DE" sz="1800" baseline="-25000" dirty="0">
                <a:solidFill>
                  <a:schemeClr val="bg1">
                    <a:lumMod val="50000"/>
                  </a:schemeClr>
                </a:solidFill>
              </a:rPr>
              <a:t>1</a:t>
            </a:r>
            <a:r>
              <a:rPr lang="de-DE" sz="1800" dirty="0">
                <a:solidFill>
                  <a:schemeClr val="bg1">
                    <a:lumMod val="50000"/>
                  </a:schemeClr>
                </a:solidFill>
              </a:rPr>
              <a:t>, P</a:t>
            </a:r>
            <a:r>
              <a:rPr lang="de-DE" sz="1800" baseline="-25000" dirty="0">
                <a:solidFill>
                  <a:schemeClr val="bg1">
                    <a:lumMod val="50000"/>
                  </a:schemeClr>
                </a:solidFill>
              </a:rPr>
              <a:t>1</a:t>
            </a:r>
            <a:r>
              <a:rPr lang="de-DE" sz="1800" dirty="0">
                <a:solidFill>
                  <a:schemeClr val="bg1">
                    <a:lumMod val="50000"/>
                  </a:schemeClr>
                </a:solidFill>
              </a:rPr>
              <a:t> auf P</a:t>
            </a:r>
            <a:r>
              <a:rPr lang="de-DE" sz="1800" baseline="-25000" dirty="0">
                <a:solidFill>
                  <a:schemeClr val="bg1">
                    <a:lumMod val="50000"/>
                  </a:schemeClr>
                </a:solidFill>
              </a:rPr>
              <a:t>2</a:t>
            </a:r>
            <a:r>
              <a:rPr lang="de-DE" sz="1800" dirty="0">
                <a:solidFill>
                  <a:schemeClr val="bg1">
                    <a:lumMod val="50000"/>
                  </a:schemeClr>
                </a:solidFill>
              </a:rPr>
              <a:t>, …, </a:t>
            </a:r>
            <a:r>
              <a:rPr lang="de-DE" sz="1800" dirty="0" err="1">
                <a:solidFill>
                  <a:schemeClr val="bg1">
                    <a:lumMod val="50000"/>
                  </a:schemeClr>
                </a:solidFill>
              </a:rPr>
              <a:t>P</a:t>
            </a:r>
            <a:r>
              <a:rPr lang="de-DE" sz="1800" baseline="-25000" dirty="0" err="1">
                <a:solidFill>
                  <a:schemeClr val="bg1">
                    <a:lumMod val="50000"/>
                  </a:schemeClr>
                </a:solidFill>
              </a:rPr>
              <a:t>n</a:t>
            </a:r>
            <a:r>
              <a:rPr lang="de-DE" sz="1800" dirty="0">
                <a:solidFill>
                  <a:schemeClr val="bg1">
                    <a:lumMod val="50000"/>
                  </a:schemeClr>
                </a:solidFill>
              </a:rPr>
              <a:t> auf P</a:t>
            </a:r>
            <a:r>
              <a:rPr lang="de-DE" sz="1800" baseline="-25000" dirty="0">
                <a:solidFill>
                  <a:schemeClr val="bg1">
                    <a:lumMod val="50000"/>
                  </a:schemeClr>
                </a:solidFill>
              </a:rPr>
              <a:t>0</a:t>
            </a:r>
          </a:p>
          <a:p>
            <a:endParaRPr lang="de-DE" sz="2400" dirty="0">
              <a:solidFill>
                <a:schemeClr val="bg1">
                  <a:lumMod val="50000"/>
                </a:schemeClr>
              </a:solidFill>
            </a:endParaRPr>
          </a:p>
        </p:txBody>
      </p:sp>
      <p:grpSp>
        <p:nvGrpSpPr>
          <p:cNvPr id="6" name="Gruppieren 5"/>
          <p:cNvGrpSpPr/>
          <p:nvPr/>
        </p:nvGrpSpPr>
        <p:grpSpPr>
          <a:xfrm>
            <a:off x="3203848" y="1340768"/>
            <a:ext cx="1728192" cy="1853545"/>
            <a:chOff x="1259632" y="4905349"/>
            <a:chExt cx="1728192" cy="1853545"/>
          </a:xfrm>
        </p:grpSpPr>
        <p:sp>
          <p:nvSpPr>
            <p:cNvPr id="7" name="Rechteck 6"/>
            <p:cNvSpPr/>
            <p:nvPr/>
          </p:nvSpPr>
          <p:spPr>
            <a:xfrm>
              <a:off x="1259632" y="5606766"/>
              <a:ext cx="432048" cy="43204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dirty="0">
                  <a:solidFill>
                    <a:srgbClr val="FF0000"/>
                  </a:solidFill>
                </a:rPr>
                <a:t>T</a:t>
              </a:r>
            </a:p>
          </p:txBody>
        </p:sp>
        <p:sp>
          <p:nvSpPr>
            <p:cNvPr id="8" name="Rechteck 7"/>
            <p:cNvSpPr/>
            <p:nvPr/>
          </p:nvSpPr>
          <p:spPr>
            <a:xfrm>
              <a:off x="2555776" y="5606766"/>
              <a:ext cx="432048" cy="43204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dirty="0">
                  <a:solidFill>
                    <a:srgbClr val="FF0000"/>
                  </a:solidFill>
                </a:rPr>
                <a:t>U</a:t>
              </a:r>
            </a:p>
          </p:txBody>
        </p:sp>
        <p:sp>
          <p:nvSpPr>
            <p:cNvPr id="9" name="Ellipse 8"/>
            <p:cNvSpPr/>
            <p:nvPr/>
          </p:nvSpPr>
          <p:spPr>
            <a:xfrm>
              <a:off x="1907704" y="4905349"/>
              <a:ext cx="432048" cy="449574"/>
            </a:xfrm>
            <a:prstGeom prst="ellipse">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dirty="0">
                  <a:solidFill>
                    <a:srgbClr val="0070C0"/>
                  </a:solidFill>
                </a:rPr>
                <a:t>D</a:t>
              </a:r>
              <a:endParaRPr lang="de-DE" sz="2000" dirty="0">
                <a:solidFill>
                  <a:srgbClr val="0070C0"/>
                </a:solidFill>
              </a:endParaRPr>
            </a:p>
          </p:txBody>
        </p:sp>
        <p:sp>
          <p:nvSpPr>
            <p:cNvPr id="10" name="Ellipse 9"/>
            <p:cNvSpPr/>
            <p:nvPr/>
          </p:nvSpPr>
          <p:spPr>
            <a:xfrm>
              <a:off x="1907169" y="6309320"/>
              <a:ext cx="432048" cy="449574"/>
            </a:xfrm>
            <a:prstGeom prst="ellipse">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dirty="0">
                  <a:solidFill>
                    <a:srgbClr val="0070C0"/>
                  </a:solidFill>
                </a:rPr>
                <a:t>C</a:t>
              </a:r>
            </a:p>
          </p:txBody>
        </p:sp>
        <p:cxnSp>
          <p:nvCxnSpPr>
            <p:cNvPr id="11" name="Gerade Verbindung mit Pfeil 12"/>
            <p:cNvCxnSpPr>
              <a:stCxn id="7" idx="0"/>
              <a:endCxn id="9" idx="2"/>
            </p:cNvCxnSpPr>
            <p:nvPr/>
          </p:nvCxnSpPr>
          <p:spPr>
            <a:xfrm rot="5400000" flipH="1" flipV="1">
              <a:off x="1453365" y="5152427"/>
              <a:ext cx="476630" cy="432048"/>
            </a:xfrm>
            <a:prstGeom prst="curvedConnector2">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2" name="Gerade Verbindung mit Pfeil 21"/>
            <p:cNvCxnSpPr>
              <a:stCxn id="9" idx="6"/>
              <a:endCxn id="8" idx="0"/>
            </p:cNvCxnSpPr>
            <p:nvPr/>
          </p:nvCxnSpPr>
          <p:spPr>
            <a:xfrm>
              <a:off x="2339752" y="5130136"/>
              <a:ext cx="432048" cy="476630"/>
            </a:xfrm>
            <a:prstGeom prst="curvedConnector2">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3" name="Gerade Verbindung mit Pfeil 21"/>
            <p:cNvCxnSpPr>
              <a:stCxn id="8" idx="2"/>
              <a:endCxn id="10" idx="6"/>
            </p:cNvCxnSpPr>
            <p:nvPr/>
          </p:nvCxnSpPr>
          <p:spPr>
            <a:xfrm rot="5400000">
              <a:off x="2307863" y="6070169"/>
              <a:ext cx="495293" cy="432583"/>
            </a:xfrm>
            <a:prstGeom prst="curvedConnector2">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4" name="Gerade Verbindung mit Pfeil 21"/>
            <p:cNvCxnSpPr>
              <a:stCxn id="10" idx="2"/>
              <a:endCxn id="7" idx="2"/>
            </p:cNvCxnSpPr>
            <p:nvPr/>
          </p:nvCxnSpPr>
          <p:spPr>
            <a:xfrm rot="10800000">
              <a:off x="1475657" y="6038815"/>
              <a:ext cx="431513" cy="495293"/>
            </a:xfrm>
            <a:prstGeom prst="curvedConnector2">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6822637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Beispiel - Entstehung eines Deadlocks</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13</a:t>
            </a:fld>
            <a:endParaRPr lang="en-US" noProof="0" dirty="0"/>
          </a:p>
        </p:txBody>
      </p:sp>
      <p:sp>
        <p:nvSpPr>
          <p:cNvPr id="5" name="Inhaltsplatzhalter 4"/>
          <p:cNvSpPr>
            <a:spLocks noGrp="1"/>
          </p:cNvSpPr>
          <p:nvPr>
            <p:ph sz="quarter" idx="1"/>
          </p:nvPr>
        </p:nvSpPr>
        <p:spPr/>
        <p:txBody>
          <a:bodyPr/>
          <a:lstStyle/>
          <a:p>
            <a:r>
              <a:rPr lang="de-DE" dirty="0"/>
              <a:t>Drei Prozesse: A, B, C</a:t>
            </a:r>
          </a:p>
          <a:p>
            <a:r>
              <a:rPr lang="de-DE" dirty="0"/>
              <a:t>Drei Ressourcen: R, S, T</a:t>
            </a:r>
          </a:p>
          <a:p>
            <a:r>
              <a:rPr lang="de-DE" dirty="0"/>
              <a:t>Ablauf</a:t>
            </a:r>
          </a:p>
          <a:p>
            <a:pPr lvl="1"/>
            <a:endParaRPr lang="de-DE" dirty="0"/>
          </a:p>
        </p:txBody>
      </p:sp>
      <p:sp>
        <p:nvSpPr>
          <p:cNvPr id="6" name="Inhaltsplatzhalter 5"/>
          <p:cNvSpPr>
            <a:spLocks noGrp="1"/>
          </p:cNvSpPr>
          <p:nvPr>
            <p:ph sz="quarter" idx="13"/>
          </p:nvPr>
        </p:nvSpPr>
        <p:spPr>
          <a:xfrm>
            <a:off x="5543600" y="1268760"/>
            <a:ext cx="3600400" cy="2376264"/>
          </a:xfrm>
          <a:ln w="19050">
            <a:solidFill>
              <a:schemeClr val="tx1"/>
            </a:solidFill>
          </a:ln>
        </p:spPr>
        <p:txBody>
          <a:bodyPr>
            <a:normAutofit fontScale="92500"/>
          </a:bodyPr>
          <a:lstStyle/>
          <a:p>
            <a:pPr lvl="1">
              <a:buNone/>
            </a:pPr>
            <a:r>
              <a:rPr lang="de-DE" dirty="0"/>
              <a:t>A verlangt und bekommt R</a:t>
            </a:r>
          </a:p>
          <a:p>
            <a:pPr lvl="1">
              <a:buNone/>
            </a:pPr>
            <a:r>
              <a:rPr lang="de-DE" dirty="0"/>
              <a:t>B verlangt und bekommt S</a:t>
            </a:r>
          </a:p>
          <a:p>
            <a:pPr lvl="1">
              <a:buNone/>
            </a:pPr>
            <a:r>
              <a:rPr lang="de-DE" dirty="0"/>
              <a:t>C verlangt und bekommt T</a:t>
            </a:r>
          </a:p>
          <a:p>
            <a:pPr lvl="1">
              <a:buNone/>
            </a:pPr>
            <a:r>
              <a:rPr lang="de-DE" dirty="0"/>
              <a:t>A verlangt S</a:t>
            </a:r>
          </a:p>
          <a:p>
            <a:pPr lvl="1">
              <a:buNone/>
            </a:pPr>
            <a:r>
              <a:rPr lang="de-DE" dirty="0"/>
              <a:t>B verlangt T</a:t>
            </a:r>
          </a:p>
          <a:p>
            <a:pPr lvl="1">
              <a:buNone/>
            </a:pPr>
            <a:r>
              <a:rPr lang="de-DE" dirty="0"/>
              <a:t>C verlangt R</a:t>
            </a:r>
          </a:p>
        </p:txBody>
      </p:sp>
      <p:cxnSp>
        <p:nvCxnSpPr>
          <p:cNvPr id="8" name="Gerade Verbindung mit Pfeil 7"/>
          <p:cNvCxnSpPr/>
          <p:nvPr/>
        </p:nvCxnSpPr>
        <p:spPr>
          <a:xfrm>
            <a:off x="1979712" y="2420888"/>
            <a:ext cx="3600400" cy="1588"/>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pic>
        <p:nvPicPr>
          <p:cNvPr id="2050" name="Picture 2" descr="C:\Artur\Academic\Lehre\10.WS-IBN\VL\figures\vl14\ablauf-deadlock 1.jpg"/>
          <p:cNvPicPr>
            <a:picLocks noChangeAspect="1" noChangeArrowheads="1"/>
          </p:cNvPicPr>
          <p:nvPr/>
        </p:nvPicPr>
        <p:blipFill>
          <a:blip r:embed="rId2" cstate="print"/>
          <a:srcRect/>
          <a:stretch>
            <a:fillRect/>
          </a:stretch>
        </p:blipFill>
        <p:spPr bwMode="auto">
          <a:xfrm>
            <a:off x="971600" y="3717032"/>
            <a:ext cx="5829300" cy="1247775"/>
          </a:xfrm>
          <a:prstGeom prst="rect">
            <a:avLst/>
          </a:prstGeom>
          <a:noFill/>
        </p:spPr>
      </p:pic>
      <p:pic>
        <p:nvPicPr>
          <p:cNvPr id="2051" name="Picture 3" descr="C:\Artur\Academic\Lehre\10.WS-IBN\VL\figures\vl14\ablauf deadlock 2.jpg"/>
          <p:cNvPicPr>
            <a:picLocks noChangeAspect="1" noChangeArrowheads="1"/>
          </p:cNvPicPr>
          <p:nvPr/>
        </p:nvPicPr>
        <p:blipFill>
          <a:blip r:embed="rId3" cstate="print"/>
          <a:srcRect/>
          <a:stretch>
            <a:fillRect/>
          </a:stretch>
        </p:blipFill>
        <p:spPr bwMode="auto">
          <a:xfrm>
            <a:off x="971600" y="5085184"/>
            <a:ext cx="5810250" cy="1552575"/>
          </a:xfrm>
          <a:prstGeom prst="rect">
            <a:avLst/>
          </a:prstGeom>
          <a:noFill/>
        </p:spPr>
      </p:pic>
      <p:sp>
        <p:nvSpPr>
          <p:cNvPr id="9" name="Textfeld 8"/>
          <p:cNvSpPr txBox="1"/>
          <p:nvPr/>
        </p:nvSpPr>
        <p:spPr>
          <a:xfrm>
            <a:off x="611560" y="2780928"/>
            <a:ext cx="2648482" cy="707886"/>
          </a:xfrm>
          <a:prstGeom prst="rect">
            <a:avLst/>
          </a:prstGeom>
        </p:spPr>
        <p:style>
          <a:lnRef idx="1">
            <a:schemeClr val="accent4"/>
          </a:lnRef>
          <a:fillRef idx="2">
            <a:schemeClr val="accent4"/>
          </a:fillRef>
          <a:effectRef idx="1">
            <a:schemeClr val="accent4"/>
          </a:effectRef>
          <a:fontRef idx="minor">
            <a:schemeClr val="dk1"/>
          </a:fontRef>
        </p:style>
        <p:txBody>
          <a:bodyPr wrap="none" rtlCol="0">
            <a:spAutoFit/>
          </a:bodyPr>
          <a:lstStyle/>
          <a:p>
            <a:r>
              <a:rPr lang="de-DE" sz="2000" dirty="0"/>
              <a:t>Wir zeichnen den </a:t>
            </a:r>
          </a:p>
          <a:p>
            <a:r>
              <a:rPr lang="de-DE" sz="2000" dirty="0"/>
              <a:t>Graphen gemeinsam</a:t>
            </a:r>
          </a:p>
        </p:txBody>
      </p:sp>
    </p:spTree>
    <p:extLst>
      <p:ext uri="{BB962C8B-B14F-4D97-AF65-F5344CB8AC3E}">
        <p14:creationId xmlns:p14="http://schemas.microsoft.com/office/powerpoint/2010/main" val="3173791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fade">
                                      <p:cBhvr>
                                        <p:cTn id="7" dur="2000"/>
                                        <p:tgtEl>
                                          <p:spTgt spid="205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51"/>
                                        </p:tgtEl>
                                        <p:attrNameLst>
                                          <p:attrName>style.visibility</p:attrName>
                                        </p:attrNameLst>
                                      </p:cBhvr>
                                      <p:to>
                                        <p:strVal val="visible"/>
                                      </p:to>
                                    </p:set>
                                    <p:animEffect transition="in" filter="fade">
                                      <p:cBhvr>
                                        <p:cTn id="12" dur="2000"/>
                                        <p:tgtEl>
                                          <p:spTgt spid="20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Verhindern eines Deadlocks</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14</a:t>
            </a:fld>
            <a:endParaRPr lang="en-US" noProof="0" dirty="0"/>
          </a:p>
        </p:txBody>
      </p:sp>
      <p:sp>
        <p:nvSpPr>
          <p:cNvPr id="5" name="Inhaltsplatzhalter 4"/>
          <p:cNvSpPr>
            <a:spLocks noGrp="1"/>
          </p:cNvSpPr>
          <p:nvPr>
            <p:ph sz="quarter" idx="1"/>
          </p:nvPr>
        </p:nvSpPr>
        <p:spPr>
          <a:xfrm>
            <a:off x="457200" y="1219200"/>
            <a:ext cx="5194920" cy="2641848"/>
          </a:xfrm>
        </p:spPr>
        <p:txBody>
          <a:bodyPr/>
          <a:lstStyle/>
          <a:p>
            <a:r>
              <a:rPr lang="de-DE" dirty="0"/>
              <a:t>Das BS kann einen anderen Ablauf wählen und Deadlock </a:t>
            </a:r>
            <a:r>
              <a:rPr lang="de-DE" dirty="0">
                <a:solidFill>
                  <a:srgbClr val="0070C0"/>
                </a:solidFill>
              </a:rPr>
              <a:t>verhindern</a:t>
            </a:r>
          </a:p>
          <a:p>
            <a:r>
              <a:rPr lang="de-DE" dirty="0"/>
              <a:t>Ablauf</a:t>
            </a:r>
          </a:p>
          <a:p>
            <a:pPr lvl="1"/>
            <a:endParaRPr lang="de-DE" dirty="0"/>
          </a:p>
        </p:txBody>
      </p:sp>
      <p:sp>
        <p:nvSpPr>
          <p:cNvPr id="6" name="Inhaltsplatzhalter 5"/>
          <p:cNvSpPr>
            <a:spLocks noGrp="1"/>
          </p:cNvSpPr>
          <p:nvPr>
            <p:ph sz="quarter" idx="13"/>
          </p:nvPr>
        </p:nvSpPr>
        <p:spPr>
          <a:xfrm>
            <a:off x="5220072" y="1268760"/>
            <a:ext cx="3816424" cy="2376264"/>
          </a:xfrm>
          <a:ln w="19050">
            <a:solidFill>
              <a:schemeClr val="tx1"/>
            </a:solidFill>
          </a:ln>
        </p:spPr>
        <p:txBody>
          <a:bodyPr>
            <a:normAutofit fontScale="92500"/>
          </a:bodyPr>
          <a:lstStyle/>
          <a:p>
            <a:pPr lvl="1">
              <a:buNone/>
            </a:pPr>
            <a:r>
              <a:rPr lang="de-DE" dirty="0"/>
              <a:t>A verlangt und … R</a:t>
            </a:r>
          </a:p>
          <a:p>
            <a:pPr lvl="1">
              <a:buNone/>
            </a:pPr>
            <a:r>
              <a:rPr lang="de-DE" dirty="0"/>
              <a:t>C verlangt und … T</a:t>
            </a:r>
          </a:p>
          <a:p>
            <a:pPr lvl="1">
              <a:buNone/>
            </a:pPr>
            <a:r>
              <a:rPr lang="de-DE" dirty="0"/>
              <a:t>A verlangt S; C gibt T frei</a:t>
            </a:r>
          </a:p>
          <a:p>
            <a:pPr lvl="1">
              <a:buNone/>
            </a:pPr>
            <a:r>
              <a:rPr lang="de-DE" dirty="0"/>
              <a:t>C verlangt R und T</a:t>
            </a:r>
          </a:p>
          <a:p>
            <a:pPr lvl="1">
              <a:buNone/>
            </a:pPr>
            <a:r>
              <a:rPr lang="de-DE" dirty="0"/>
              <a:t>A gibt R frei; C bekommt T</a:t>
            </a:r>
          </a:p>
          <a:p>
            <a:pPr lvl="1">
              <a:buNone/>
            </a:pPr>
            <a:r>
              <a:rPr lang="de-DE" dirty="0"/>
              <a:t>A gibt S frei; C hält R und T</a:t>
            </a:r>
          </a:p>
        </p:txBody>
      </p:sp>
      <p:cxnSp>
        <p:nvCxnSpPr>
          <p:cNvPr id="8" name="Gerade Verbindung mit Pfeil 7"/>
          <p:cNvCxnSpPr/>
          <p:nvPr/>
        </p:nvCxnSpPr>
        <p:spPr>
          <a:xfrm>
            <a:off x="1907704" y="2780928"/>
            <a:ext cx="3096344" cy="0"/>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pic>
        <p:nvPicPr>
          <p:cNvPr id="3074" name="Picture 2" descr="C:\Artur\Academic\Lehre\10.WS-IBN\VL\figures\vl14\no deadlock 1.jpg"/>
          <p:cNvPicPr>
            <a:picLocks noChangeAspect="1" noChangeArrowheads="1"/>
          </p:cNvPicPr>
          <p:nvPr/>
        </p:nvPicPr>
        <p:blipFill>
          <a:blip r:embed="rId2" cstate="print"/>
          <a:srcRect/>
          <a:stretch>
            <a:fillRect/>
          </a:stretch>
        </p:blipFill>
        <p:spPr bwMode="auto">
          <a:xfrm>
            <a:off x="1547664" y="3717032"/>
            <a:ext cx="5581650" cy="1257300"/>
          </a:xfrm>
          <a:prstGeom prst="rect">
            <a:avLst/>
          </a:prstGeom>
          <a:noFill/>
        </p:spPr>
      </p:pic>
      <p:pic>
        <p:nvPicPr>
          <p:cNvPr id="3075" name="Picture 3" descr="C:\Artur\Academic\Lehre\10.WS-IBN\VL\figures\vl14\no deadlock 2.jpg"/>
          <p:cNvPicPr>
            <a:picLocks noChangeAspect="1" noChangeArrowheads="1"/>
          </p:cNvPicPr>
          <p:nvPr/>
        </p:nvPicPr>
        <p:blipFill>
          <a:blip r:embed="rId3" cstate="print"/>
          <a:srcRect/>
          <a:stretch>
            <a:fillRect/>
          </a:stretch>
        </p:blipFill>
        <p:spPr bwMode="auto">
          <a:xfrm>
            <a:off x="1475656" y="5085184"/>
            <a:ext cx="5772150" cy="1590675"/>
          </a:xfrm>
          <a:prstGeom prst="rect">
            <a:avLst/>
          </a:prstGeom>
          <a:noFill/>
        </p:spPr>
      </p:pic>
    </p:spTree>
    <p:extLst>
      <p:ext uri="{BB962C8B-B14F-4D97-AF65-F5344CB8AC3E}">
        <p14:creationId xmlns:p14="http://schemas.microsoft.com/office/powerpoint/2010/main" val="2324431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fade">
                                      <p:cBhvr>
                                        <p:cTn id="7" dur="2000"/>
                                        <p:tgtEl>
                                          <p:spTgt spid="307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75"/>
                                        </p:tgtEl>
                                        <p:attrNameLst>
                                          <p:attrName>style.visibility</p:attrName>
                                        </p:attrNameLst>
                                      </p:cBhvr>
                                      <p:to>
                                        <p:strVal val="visible"/>
                                      </p:to>
                                    </p:set>
                                    <p:animEffect transition="in" filter="fade">
                                      <p:cBhvr>
                                        <p:cTn id="12" dur="2000"/>
                                        <p:tgtEl>
                                          <p:spTgt spid="307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bg/>
                                          </p:spTgt>
                                        </p:tgtEl>
                                        <p:attrNameLst>
                                          <p:attrName>style.visibility</p:attrName>
                                        </p:attrNameLst>
                                      </p:cBhvr>
                                      <p:to>
                                        <p:strVal val="visible"/>
                                      </p:to>
                                    </p:set>
                                    <p:animEffect transition="in" filter="fade">
                                      <p:cBhvr>
                                        <p:cTn id="17" dur="2000"/>
                                        <p:tgtEl>
                                          <p:spTgt spid="6">
                                            <p:bg/>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6">
                                            <p:txEl>
                                              <p:pRg st="0" end="0"/>
                                            </p:txEl>
                                          </p:spTgt>
                                        </p:tgtEl>
                                        <p:attrNameLst>
                                          <p:attrName>style.visibility</p:attrName>
                                        </p:attrNameLst>
                                      </p:cBhvr>
                                      <p:to>
                                        <p:strVal val="visible"/>
                                      </p:to>
                                    </p:set>
                                    <p:animEffect transition="in" filter="fade">
                                      <p:cBhvr>
                                        <p:cTn id="20" dur="2000"/>
                                        <p:tgtEl>
                                          <p:spTgt spid="6">
                                            <p:txEl>
                                              <p:pRg st="0" end="0"/>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6">
                                            <p:txEl>
                                              <p:pRg st="1" end="1"/>
                                            </p:txEl>
                                          </p:spTgt>
                                        </p:tgtEl>
                                        <p:attrNameLst>
                                          <p:attrName>style.visibility</p:attrName>
                                        </p:attrNameLst>
                                      </p:cBhvr>
                                      <p:to>
                                        <p:strVal val="visible"/>
                                      </p:to>
                                    </p:set>
                                    <p:animEffect transition="in" filter="fade">
                                      <p:cBhvr>
                                        <p:cTn id="23" dur="2000"/>
                                        <p:tgtEl>
                                          <p:spTgt spid="6">
                                            <p:txEl>
                                              <p:pRg st="1" end="1"/>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6">
                                            <p:txEl>
                                              <p:pRg st="2" end="2"/>
                                            </p:txEl>
                                          </p:spTgt>
                                        </p:tgtEl>
                                        <p:attrNameLst>
                                          <p:attrName>style.visibility</p:attrName>
                                        </p:attrNameLst>
                                      </p:cBhvr>
                                      <p:to>
                                        <p:strVal val="visible"/>
                                      </p:to>
                                    </p:set>
                                    <p:animEffect transition="in" filter="fade">
                                      <p:cBhvr>
                                        <p:cTn id="26" dur="2000"/>
                                        <p:tgtEl>
                                          <p:spTgt spid="6">
                                            <p:txEl>
                                              <p:pRg st="2" end="2"/>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6">
                                            <p:txEl>
                                              <p:pRg st="3" end="3"/>
                                            </p:txEl>
                                          </p:spTgt>
                                        </p:tgtEl>
                                        <p:attrNameLst>
                                          <p:attrName>style.visibility</p:attrName>
                                        </p:attrNameLst>
                                      </p:cBhvr>
                                      <p:to>
                                        <p:strVal val="visible"/>
                                      </p:to>
                                    </p:set>
                                    <p:animEffect transition="in" filter="fade">
                                      <p:cBhvr>
                                        <p:cTn id="29" dur="2000"/>
                                        <p:tgtEl>
                                          <p:spTgt spid="6">
                                            <p:txEl>
                                              <p:pRg st="3" end="3"/>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6">
                                            <p:txEl>
                                              <p:pRg st="4" end="4"/>
                                            </p:txEl>
                                          </p:spTgt>
                                        </p:tgtEl>
                                        <p:attrNameLst>
                                          <p:attrName>style.visibility</p:attrName>
                                        </p:attrNameLst>
                                      </p:cBhvr>
                                      <p:to>
                                        <p:strVal val="visible"/>
                                      </p:to>
                                    </p:set>
                                    <p:animEffect transition="in" filter="fade">
                                      <p:cBhvr>
                                        <p:cTn id="32" dur="2000"/>
                                        <p:tgtEl>
                                          <p:spTgt spid="6">
                                            <p:txEl>
                                              <p:pRg st="4" end="4"/>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6">
                                            <p:txEl>
                                              <p:pRg st="5" end="5"/>
                                            </p:txEl>
                                          </p:spTgt>
                                        </p:tgtEl>
                                        <p:attrNameLst>
                                          <p:attrName>style.visibility</p:attrName>
                                        </p:attrNameLst>
                                      </p:cBhvr>
                                      <p:to>
                                        <p:strVal val="visible"/>
                                      </p:to>
                                    </p:set>
                                    <p:animEffect transition="in" filter="fade">
                                      <p:cBhvr>
                                        <p:cTn id="35" dur="200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a:bodyPr>
          <a:lstStyle/>
          <a:p>
            <a:r>
              <a:rPr lang="de-DE" dirty="0"/>
              <a:t>Mehrere Instanzen einer Ressource</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15</a:t>
            </a:fld>
            <a:endParaRPr lang="en-US" noProof="0" dirty="0"/>
          </a:p>
        </p:txBody>
      </p:sp>
      <p:grpSp>
        <p:nvGrpSpPr>
          <p:cNvPr id="13" name="Gruppieren 12"/>
          <p:cNvGrpSpPr/>
          <p:nvPr/>
        </p:nvGrpSpPr>
        <p:grpSpPr>
          <a:xfrm>
            <a:off x="539552" y="1217802"/>
            <a:ext cx="3472501" cy="3211071"/>
            <a:chOff x="179513" y="1826030"/>
            <a:chExt cx="3581008" cy="3685670"/>
          </a:xfrm>
        </p:grpSpPr>
        <p:pic>
          <p:nvPicPr>
            <p:cNvPr id="5" name="Picture 7"/>
            <p:cNvPicPr>
              <a:picLocks noChangeAspect="1" noChangeArrowheads="1"/>
            </p:cNvPicPr>
            <p:nvPr/>
          </p:nvPicPr>
          <p:blipFill>
            <a:blip r:embed="rId2" cstate="print"/>
            <a:srcRect/>
            <a:stretch>
              <a:fillRect/>
            </a:stretch>
          </p:blipFill>
          <p:spPr bwMode="auto">
            <a:xfrm>
              <a:off x="1259632" y="1826030"/>
              <a:ext cx="2500889" cy="3685670"/>
            </a:xfrm>
            <a:prstGeom prst="rect">
              <a:avLst/>
            </a:prstGeom>
            <a:noFill/>
            <a:ln w="9525">
              <a:noFill/>
              <a:miter lim="800000"/>
              <a:headEnd/>
              <a:tailEnd/>
            </a:ln>
          </p:spPr>
        </p:pic>
        <p:sp>
          <p:nvSpPr>
            <p:cNvPr id="7" name="Textfeld 6"/>
            <p:cNvSpPr txBox="1"/>
            <p:nvPr/>
          </p:nvSpPr>
          <p:spPr>
            <a:xfrm>
              <a:off x="179513" y="4149079"/>
              <a:ext cx="1336645" cy="953819"/>
            </a:xfrm>
            <a:prstGeom prst="rect">
              <a:avLst/>
            </a:prstGeom>
            <a:noFill/>
          </p:spPr>
          <p:txBody>
            <a:bodyPr wrap="square" rtlCol="0">
              <a:spAutoFit/>
            </a:bodyPr>
            <a:lstStyle/>
            <a:p>
              <a:r>
                <a:rPr lang="de-DE" sz="1600" dirty="0"/>
                <a:t>Zwei</a:t>
              </a:r>
            </a:p>
            <a:p>
              <a:r>
                <a:rPr lang="de-DE" sz="1600" dirty="0"/>
                <a:t>Instanzen</a:t>
              </a:r>
            </a:p>
            <a:p>
              <a:r>
                <a:rPr lang="de-DE" sz="1600" dirty="0"/>
                <a:t>vom Typ R</a:t>
              </a:r>
              <a:r>
                <a:rPr lang="de-DE" sz="1600" baseline="-25000" dirty="0"/>
                <a:t>2</a:t>
              </a:r>
            </a:p>
          </p:txBody>
        </p:sp>
        <p:sp>
          <p:nvSpPr>
            <p:cNvPr id="8" name="Ellipse 7"/>
            <p:cNvSpPr/>
            <p:nvPr/>
          </p:nvSpPr>
          <p:spPr>
            <a:xfrm>
              <a:off x="1738932" y="4140254"/>
              <a:ext cx="576064" cy="432048"/>
            </a:xfrm>
            <a:prstGeom prst="ellipse">
              <a:avLst/>
            </a:prstGeom>
            <a:solidFill>
              <a:srgbClr val="FFC000">
                <a:alpha val="6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10" name="Gerade Verbindung mit Pfeil 9"/>
            <p:cNvCxnSpPr>
              <a:endCxn id="8" idx="2"/>
            </p:cNvCxnSpPr>
            <p:nvPr/>
          </p:nvCxnSpPr>
          <p:spPr>
            <a:xfrm flipV="1">
              <a:off x="1219126" y="4356278"/>
              <a:ext cx="519806" cy="197230"/>
            </a:xfrm>
            <a:prstGeom prst="straightConnector1">
              <a:avLst/>
            </a:prstGeom>
            <a:ln w="28575">
              <a:solidFill>
                <a:schemeClr val="tx1"/>
              </a:solidFill>
              <a:prstDash val="sysDash"/>
              <a:headEnd type="none" w="med" len="med"/>
              <a:tailEnd type="arrow"/>
            </a:ln>
          </p:spPr>
          <p:style>
            <a:lnRef idx="1">
              <a:schemeClr val="accent1"/>
            </a:lnRef>
            <a:fillRef idx="0">
              <a:schemeClr val="accent1"/>
            </a:fillRef>
            <a:effectRef idx="0">
              <a:schemeClr val="accent1"/>
            </a:effectRef>
            <a:fontRef idx="minor">
              <a:schemeClr val="tx1"/>
            </a:fontRef>
          </p:style>
        </p:cxnSp>
      </p:grpSp>
      <p:pic>
        <p:nvPicPr>
          <p:cNvPr id="11" name="Picture 7"/>
          <p:cNvPicPr>
            <a:picLocks noChangeAspect="1" noChangeArrowheads="1"/>
          </p:cNvPicPr>
          <p:nvPr/>
        </p:nvPicPr>
        <p:blipFill>
          <a:blip r:embed="rId3" cstate="print"/>
          <a:srcRect/>
          <a:stretch>
            <a:fillRect/>
          </a:stretch>
        </p:blipFill>
        <p:spPr bwMode="auto">
          <a:xfrm>
            <a:off x="5580112" y="1324799"/>
            <a:ext cx="2304256" cy="3205386"/>
          </a:xfrm>
          <a:prstGeom prst="rect">
            <a:avLst/>
          </a:prstGeom>
          <a:noFill/>
          <a:ln w="9525">
            <a:noFill/>
            <a:miter lim="800000"/>
            <a:headEnd/>
            <a:tailEnd/>
          </a:ln>
        </p:spPr>
      </p:pic>
      <p:sp>
        <p:nvSpPr>
          <p:cNvPr id="15" name="Inhaltsplatzhalter 3"/>
          <p:cNvSpPr>
            <a:spLocks noGrp="1"/>
          </p:cNvSpPr>
          <p:nvPr>
            <p:ph sz="quarter" idx="1"/>
          </p:nvPr>
        </p:nvSpPr>
        <p:spPr>
          <a:xfrm>
            <a:off x="539552" y="4530185"/>
            <a:ext cx="8229600" cy="2139175"/>
          </a:xfrm>
        </p:spPr>
        <p:txBody>
          <a:bodyPr>
            <a:noAutofit/>
          </a:bodyPr>
          <a:lstStyle/>
          <a:p>
            <a:r>
              <a:rPr lang="de-DE" sz="2400" dirty="0"/>
              <a:t>Wir wissen: Kein Zyklus =&gt; </a:t>
            </a:r>
            <a:r>
              <a:rPr lang="de-DE" sz="2400" dirty="0">
                <a:solidFill>
                  <a:srgbClr val="0070C0"/>
                </a:solidFill>
              </a:rPr>
              <a:t>kein Deadlock</a:t>
            </a:r>
          </a:p>
          <a:p>
            <a:r>
              <a:rPr lang="de-DE" sz="2400" dirty="0"/>
              <a:t>Wenn aber ein Zyklus existiert, dann unterscheiden wir:</a:t>
            </a:r>
          </a:p>
          <a:p>
            <a:pPr lvl="1"/>
            <a:r>
              <a:rPr lang="de-DE" sz="2200" dirty="0">
                <a:solidFill>
                  <a:schemeClr val="tx1"/>
                </a:solidFill>
              </a:rPr>
              <a:t>Eine Instanz pro Ressourcentyp =&gt; </a:t>
            </a:r>
            <a:r>
              <a:rPr lang="de-DE" sz="2200" dirty="0">
                <a:solidFill>
                  <a:srgbClr val="FF0000"/>
                </a:solidFill>
              </a:rPr>
              <a:t>Deadlock</a:t>
            </a:r>
          </a:p>
          <a:p>
            <a:pPr lvl="1"/>
            <a:r>
              <a:rPr lang="de-DE" sz="2200" dirty="0">
                <a:solidFill>
                  <a:schemeClr val="tx1"/>
                </a:solidFill>
              </a:rPr>
              <a:t>Mehrere Instanzen pro Ressourcentyp =&gt; </a:t>
            </a:r>
            <a:r>
              <a:rPr lang="de-DE" sz="2200" dirty="0">
                <a:solidFill>
                  <a:srgbClr val="0070C0"/>
                </a:solidFill>
              </a:rPr>
              <a:t>Deadlock ist möglich, </a:t>
            </a:r>
            <a:r>
              <a:rPr lang="de-DE" sz="2200" u="sng" dirty="0">
                <a:solidFill>
                  <a:srgbClr val="0070C0"/>
                </a:solidFill>
              </a:rPr>
              <a:t>aber nicht zwingend</a:t>
            </a:r>
            <a:r>
              <a:rPr lang="de-DE" sz="2200" dirty="0">
                <a:solidFill>
                  <a:schemeClr val="tx1"/>
                </a:solidFill>
              </a:rPr>
              <a:t> (siehe Beispiele A, B)</a:t>
            </a:r>
          </a:p>
        </p:txBody>
      </p:sp>
      <p:sp>
        <p:nvSpPr>
          <p:cNvPr id="16" name="Textfeld 15"/>
          <p:cNvSpPr txBox="1"/>
          <p:nvPr/>
        </p:nvSpPr>
        <p:spPr>
          <a:xfrm>
            <a:off x="899592" y="1844824"/>
            <a:ext cx="338554" cy="369332"/>
          </a:xfrm>
          <a:prstGeom prst="rect">
            <a:avLst/>
          </a:prstGeom>
        </p:spPr>
        <p:style>
          <a:lnRef idx="1">
            <a:schemeClr val="accent4"/>
          </a:lnRef>
          <a:fillRef idx="2">
            <a:schemeClr val="accent4"/>
          </a:fillRef>
          <a:effectRef idx="1">
            <a:schemeClr val="accent4"/>
          </a:effectRef>
          <a:fontRef idx="minor">
            <a:schemeClr val="dk1"/>
          </a:fontRef>
        </p:style>
        <p:txBody>
          <a:bodyPr wrap="none" rtlCol="0">
            <a:spAutoFit/>
          </a:bodyPr>
          <a:lstStyle/>
          <a:p>
            <a:r>
              <a:rPr lang="de-DE" dirty="0"/>
              <a:t>A</a:t>
            </a:r>
          </a:p>
        </p:txBody>
      </p:sp>
      <p:sp>
        <p:nvSpPr>
          <p:cNvPr id="17" name="Textfeld 16"/>
          <p:cNvSpPr txBox="1"/>
          <p:nvPr/>
        </p:nvSpPr>
        <p:spPr>
          <a:xfrm>
            <a:off x="5220072" y="1844824"/>
            <a:ext cx="338554" cy="369332"/>
          </a:xfrm>
          <a:prstGeom prst="rect">
            <a:avLst/>
          </a:prstGeom>
        </p:spPr>
        <p:style>
          <a:lnRef idx="1">
            <a:schemeClr val="accent4"/>
          </a:lnRef>
          <a:fillRef idx="2">
            <a:schemeClr val="accent4"/>
          </a:fillRef>
          <a:effectRef idx="1">
            <a:schemeClr val="accent4"/>
          </a:effectRef>
          <a:fontRef idx="minor">
            <a:schemeClr val="dk1"/>
          </a:fontRef>
        </p:style>
        <p:txBody>
          <a:bodyPr wrap="none" rtlCol="0">
            <a:spAutoFit/>
          </a:bodyPr>
          <a:lstStyle/>
          <a:p>
            <a:r>
              <a:rPr lang="de-DE" dirty="0"/>
              <a:t>B</a:t>
            </a:r>
          </a:p>
        </p:txBody>
      </p:sp>
    </p:spTree>
    <p:extLst>
      <p:ext uri="{BB962C8B-B14F-4D97-AF65-F5344CB8AC3E}">
        <p14:creationId xmlns:p14="http://schemas.microsoft.com/office/powerpoint/2010/main" val="51162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fade">
                                      <p:cBhvr>
                                        <p:cTn id="7" dur="500"/>
                                        <p:tgtEl>
                                          <p:spTgt spid="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xEl>
                                              <p:pRg st="1" end="1"/>
                                            </p:txEl>
                                          </p:spTgt>
                                        </p:tgtEl>
                                        <p:attrNameLst>
                                          <p:attrName>style.visibility</p:attrName>
                                        </p:attrNameLst>
                                      </p:cBhvr>
                                      <p:to>
                                        <p:strVal val="visible"/>
                                      </p:to>
                                    </p:set>
                                    <p:animEffect transition="in" filter="fade">
                                      <p:cBhvr>
                                        <p:cTn id="12" dur="500"/>
                                        <p:tgtEl>
                                          <p:spTgt spid="15">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5">
                                            <p:txEl>
                                              <p:pRg st="2" end="2"/>
                                            </p:txEl>
                                          </p:spTgt>
                                        </p:tgtEl>
                                        <p:attrNameLst>
                                          <p:attrName>style.visibility</p:attrName>
                                        </p:attrNameLst>
                                      </p:cBhvr>
                                      <p:to>
                                        <p:strVal val="visible"/>
                                      </p:to>
                                    </p:set>
                                    <p:animEffect transition="in" filter="fade">
                                      <p:cBhvr>
                                        <p:cTn id="15" dur="500"/>
                                        <p:tgtEl>
                                          <p:spTgt spid="15">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5">
                                            <p:txEl>
                                              <p:pRg st="3" end="3"/>
                                            </p:txEl>
                                          </p:spTgt>
                                        </p:tgtEl>
                                        <p:attrNameLst>
                                          <p:attrName>style.visibility</p:attrName>
                                        </p:attrNameLst>
                                      </p:cBhvr>
                                      <p:to>
                                        <p:strVal val="visible"/>
                                      </p:to>
                                    </p:set>
                                    <p:animEffect transition="in" filter="fade">
                                      <p:cBhvr>
                                        <p:cTn id="18" dur="500"/>
                                        <p:tgtEl>
                                          <p:spTgt spid="1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Vier Strategien, die Deadlocks zu behandeln</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16</a:t>
            </a:fld>
            <a:endParaRPr lang="en-US" noProof="0" dirty="0"/>
          </a:p>
        </p:txBody>
      </p:sp>
      <p:sp>
        <p:nvSpPr>
          <p:cNvPr id="4" name="Inhaltsplatzhalter 3"/>
          <p:cNvSpPr>
            <a:spLocks noGrp="1"/>
          </p:cNvSpPr>
          <p:nvPr>
            <p:ph sz="quarter" idx="1"/>
          </p:nvPr>
        </p:nvSpPr>
        <p:spPr/>
        <p:txBody>
          <a:bodyPr/>
          <a:lstStyle/>
          <a:p>
            <a:r>
              <a:rPr lang="de-DE" b="1" dirty="0">
                <a:solidFill>
                  <a:srgbClr val="FF0000"/>
                </a:solidFill>
              </a:rPr>
              <a:t>Einfach ignorieren</a:t>
            </a:r>
            <a:r>
              <a:rPr lang="de-DE" dirty="0"/>
              <a:t>: der „Vogel-Strauß-Algorithmus“</a:t>
            </a:r>
          </a:p>
          <a:p>
            <a:pPr lvl="1"/>
            <a:r>
              <a:rPr lang="de-DE" dirty="0"/>
              <a:t>Die meisten BS wählen diesen Ansatz, da Deadlocks (im Vergleich zu anderen Problemen) sehr selten sind</a:t>
            </a:r>
          </a:p>
          <a:p>
            <a:r>
              <a:rPr lang="de-DE" b="1" dirty="0">
                <a:solidFill>
                  <a:srgbClr val="FF0000"/>
                </a:solidFill>
              </a:rPr>
              <a:t>Erkennen und beheben</a:t>
            </a:r>
            <a:r>
              <a:rPr lang="de-DE" dirty="0"/>
              <a:t> </a:t>
            </a:r>
          </a:p>
          <a:p>
            <a:pPr lvl="1"/>
            <a:r>
              <a:rPr lang="de-DE" dirty="0"/>
              <a:t>Deadlocks zulassen, erkennen und etwas dagegen unternehmen</a:t>
            </a:r>
          </a:p>
          <a:p>
            <a:r>
              <a:rPr lang="de-DE" b="1" dirty="0">
                <a:solidFill>
                  <a:srgbClr val="FF0000"/>
                </a:solidFill>
              </a:rPr>
              <a:t>Dynamische Verhinderung </a:t>
            </a:r>
          </a:p>
          <a:p>
            <a:pPr lvl="1"/>
            <a:r>
              <a:rPr lang="de-DE" dirty="0"/>
              <a:t>Durch vorsichtige Ressourcenzuteilung</a:t>
            </a:r>
          </a:p>
          <a:p>
            <a:r>
              <a:rPr lang="de-DE" b="1" dirty="0">
                <a:solidFill>
                  <a:srgbClr val="FF0000"/>
                </a:solidFill>
              </a:rPr>
              <a:t>Vermeidung von Deadlocks</a:t>
            </a:r>
          </a:p>
          <a:p>
            <a:pPr lvl="1"/>
            <a:r>
              <a:rPr lang="de-DE" dirty="0"/>
              <a:t>Eine der vier Bedingungen sollte prinzipiell unerfüllbar sein</a:t>
            </a:r>
          </a:p>
        </p:txBody>
      </p:sp>
    </p:spTree>
    <p:extLst>
      <p:ext uri="{BB962C8B-B14F-4D97-AF65-F5344CB8AC3E}">
        <p14:creationId xmlns:p14="http://schemas.microsoft.com/office/powerpoint/2010/main" val="13406883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6C6AE60A-B69C-4790-82F7-3882EDF23186}" type="slidenum">
              <a:rPr lang="de-DE" smtClean="0"/>
              <a:pPr/>
              <a:t>17</a:t>
            </a:fld>
            <a:endParaRPr lang="de-DE" dirty="0"/>
          </a:p>
        </p:txBody>
      </p:sp>
      <p:sp>
        <p:nvSpPr>
          <p:cNvPr id="3" name="Titel 2"/>
          <p:cNvSpPr>
            <a:spLocks noGrp="1"/>
          </p:cNvSpPr>
          <p:nvPr>
            <p:ph type="title"/>
          </p:nvPr>
        </p:nvSpPr>
        <p:spPr>
          <a:xfrm>
            <a:off x="971600" y="1052736"/>
            <a:ext cx="7200800" cy="2160240"/>
          </a:xfrm>
        </p:spPr>
        <p:txBody>
          <a:bodyPr/>
          <a:lstStyle/>
          <a:p>
            <a:r>
              <a:rPr lang="de-DE" dirty="0"/>
              <a:t>Erkennung von Deadlocks:</a:t>
            </a:r>
            <a:br>
              <a:rPr lang="de-DE" dirty="0"/>
            </a:br>
            <a:r>
              <a:rPr lang="de-DE" dirty="0"/>
              <a:t>Nur eine Instanz pro Ressourcentyp</a:t>
            </a:r>
          </a:p>
        </p:txBody>
      </p:sp>
      <p:sp>
        <p:nvSpPr>
          <p:cNvPr id="4" name="Rectangle 3"/>
          <p:cNvSpPr/>
          <p:nvPr/>
        </p:nvSpPr>
        <p:spPr>
          <a:xfrm>
            <a:off x="971600" y="3645025"/>
            <a:ext cx="7272808" cy="2369880"/>
          </a:xfrm>
          <a:prstGeom prst="rect">
            <a:avLst/>
          </a:prstGeom>
        </p:spPr>
        <p:txBody>
          <a:bodyPr wrap="square">
            <a:spAutoFit/>
          </a:bodyPr>
          <a:lstStyle/>
          <a:p>
            <a:r>
              <a:rPr lang="de-DE" sz="2800" dirty="0">
                <a:solidFill>
                  <a:srgbClr val="0070C0"/>
                </a:solidFill>
              </a:rPr>
              <a:t>Strategien zur Behandlung von Deadlocks:</a:t>
            </a:r>
            <a:endParaRPr lang="de-DE" sz="2000" b="1" dirty="0">
              <a:solidFill>
                <a:srgbClr val="FF0000"/>
              </a:solidFill>
            </a:endParaRPr>
          </a:p>
          <a:p>
            <a:pPr marL="285750" indent="-285750">
              <a:buFont typeface="Arial" pitchFamily="34" charset="0"/>
              <a:buChar char="•"/>
            </a:pPr>
            <a:r>
              <a:rPr lang="de-DE" sz="2000" dirty="0">
                <a:solidFill>
                  <a:schemeClr val="bg1">
                    <a:lumMod val="50000"/>
                  </a:schemeClr>
                </a:solidFill>
              </a:rPr>
              <a:t>Einfach ignorieren </a:t>
            </a:r>
          </a:p>
          <a:p>
            <a:pPr marL="285750" indent="-285750">
              <a:buFont typeface="Arial" pitchFamily="34" charset="0"/>
              <a:buChar char="•"/>
            </a:pPr>
            <a:r>
              <a:rPr lang="de-DE" sz="2000" b="1" dirty="0">
                <a:solidFill>
                  <a:srgbClr val="FF0000"/>
                </a:solidFill>
              </a:rPr>
              <a:t>Erkennen und beheben</a:t>
            </a:r>
          </a:p>
          <a:p>
            <a:pPr marL="742950" lvl="1" indent="-285750">
              <a:buFont typeface="Arial" pitchFamily="34" charset="0"/>
              <a:buChar char="•"/>
            </a:pPr>
            <a:r>
              <a:rPr lang="de-DE" sz="2000" dirty="0"/>
              <a:t>Deadlocks zulassen, erkennen und beheben</a:t>
            </a:r>
          </a:p>
          <a:p>
            <a:pPr marL="285750" indent="-285750">
              <a:buFont typeface="Arial" pitchFamily="34" charset="0"/>
              <a:buChar char="•"/>
            </a:pPr>
            <a:r>
              <a:rPr lang="de-DE" sz="2000" b="1" dirty="0"/>
              <a:t>Dynamische Verhinderung </a:t>
            </a:r>
          </a:p>
          <a:p>
            <a:pPr marL="742950" lvl="1" indent="-285750">
              <a:buFont typeface="Arial" pitchFamily="34" charset="0"/>
              <a:buChar char="•"/>
            </a:pPr>
            <a:r>
              <a:rPr lang="de-DE" sz="2000" dirty="0"/>
              <a:t>Durch vorsichtige Ressourcenzuteilung</a:t>
            </a:r>
          </a:p>
          <a:p>
            <a:pPr marL="285750" indent="-285750">
              <a:buFont typeface="Arial" pitchFamily="34" charset="0"/>
              <a:buChar char="•"/>
            </a:pPr>
            <a:r>
              <a:rPr lang="de-DE" sz="2000" b="1" dirty="0"/>
              <a:t>Vermeidung von Deadlocks</a:t>
            </a:r>
          </a:p>
        </p:txBody>
      </p:sp>
    </p:spTree>
    <p:extLst>
      <p:ext uri="{BB962C8B-B14F-4D97-AF65-F5344CB8AC3E}">
        <p14:creationId xmlns:p14="http://schemas.microsoft.com/office/powerpoint/2010/main" val="25941211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Erkennen von Deadlocks</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18</a:t>
            </a:fld>
            <a:endParaRPr lang="en-US" noProof="0" dirty="0"/>
          </a:p>
        </p:txBody>
      </p:sp>
      <p:sp>
        <p:nvSpPr>
          <p:cNvPr id="4" name="Inhaltsplatzhalter 3"/>
          <p:cNvSpPr>
            <a:spLocks noGrp="1"/>
          </p:cNvSpPr>
          <p:nvPr>
            <p:ph sz="quarter" idx="1"/>
          </p:nvPr>
        </p:nvSpPr>
        <p:spPr>
          <a:xfrm>
            <a:off x="457200" y="1219200"/>
            <a:ext cx="8363272" cy="4298032"/>
          </a:xfrm>
        </p:spPr>
        <p:txBody>
          <a:bodyPr>
            <a:normAutofit/>
          </a:bodyPr>
          <a:lstStyle/>
          <a:p>
            <a:r>
              <a:rPr lang="de-DE" dirty="0"/>
              <a:t>Annahme: unser BS weiß, welche Prozesse welche Ressourcen belegen oder angefordert haben</a:t>
            </a:r>
          </a:p>
          <a:p>
            <a:pPr lvl="1"/>
            <a:r>
              <a:rPr lang="de-DE" dirty="0"/>
              <a:t>Z.B. Via Kontrolle von Semaphoren und Systemaufrufen</a:t>
            </a:r>
          </a:p>
          <a:p>
            <a:r>
              <a:rPr lang="de-DE" dirty="0"/>
              <a:t>Zunächst der einfache Fall: </a:t>
            </a:r>
            <a:r>
              <a:rPr lang="de-DE" dirty="0">
                <a:solidFill>
                  <a:srgbClr val="FF0000"/>
                </a:solidFill>
              </a:rPr>
              <a:t>nur eine Instanz pro Ressourcentyp</a:t>
            </a:r>
          </a:p>
          <a:p>
            <a:pPr lvl="1"/>
            <a:r>
              <a:rPr lang="de-DE" dirty="0"/>
              <a:t>Wir haben 4 Bedingungen (</a:t>
            </a:r>
            <a:r>
              <a:rPr lang="de-DE" i="1" dirty="0"/>
              <a:t>Wechselseitiger Ausschluss, Hold-</a:t>
            </a:r>
            <a:r>
              <a:rPr lang="de-DE" i="1" dirty="0" err="1"/>
              <a:t>and</a:t>
            </a:r>
            <a:r>
              <a:rPr lang="de-DE" i="1" dirty="0"/>
              <a:t>-</a:t>
            </a:r>
            <a:r>
              <a:rPr lang="de-DE" i="1" dirty="0" err="1"/>
              <a:t>Wait</a:t>
            </a:r>
            <a:r>
              <a:rPr lang="de-DE" i="1" dirty="0"/>
              <a:t>-Bedingung, Bedingung der </a:t>
            </a:r>
            <a:r>
              <a:rPr lang="de-DE" i="1" dirty="0" err="1"/>
              <a:t>Ununterbrechbarkeit</a:t>
            </a:r>
            <a:r>
              <a:rPr lang="de-DE" i="1" dirty="0"/>
              <a:t>, Zyklische Wartebedingung</a:t>
            </a:r>
            <a:r>
              <a:rPr lang="de-DE" dirty="0"/>
              <a:t>)</a:t>
            </a:r>
          </a:p>
          <a:p>
            <a:pPr lvl="1"/>
            <a:r>
              <a:rPr lang="de-DE" dirty="0"/>
              <a:t>Welche soll man dynamisch überprüfen, welche nicht?</a:t>
            </a:r>
          </a:p>
          <a:p>
            <a:pPr lvl="1"/>
            <a:r>
              <a:rPr lang="de-DE" dirty="0"/>
              <a:t>=&gt; Was muss das BS laufend testen?</a:t>
            </a:r>
          </a:p>
          <a:p>
            <a:pPr lvl="1"/>
            <a:endParaRPr lang="de-DE" dirty="0">
              <a:solidFill>
                <a:srgbClr val="FF0000"/>
              </a:solidFill>
            </a:endParaRPr>
          </a:p>
          <a:p>
            <a:pPr lvl="1"/>
            <a:endParaRPr lang="de-DE" dirty="0"/>
          </a:p>
        </p:txBody>
      </p:sp>
      <p:sp>
        <p:nvSpPr>
          <p:cNvPr id="7" name="Inhaltsplatzhalter 6"/>
          <p:cNvSpPr>
            <a:spLocks noGrp="1"/>
          </p:cNvSpPr>
          <p:nvPr>
            <p:ph sz="quarter" idx="13"/>
          </p:nvPr>
        </p:nvSpPr>
        <p:spPr>
          <a:xfrm>
            <a:off x="467544" y="5301208"/>
            <a:ext cx="8208912" cy="936104"/>
          </a:xfrm>
        </p:spPr>
        <p:txBody>
          <a:bodyPr>
            <a:normAutofit/>
          </a:bodyPr>
          <a:lstStyle/>
          <a:p>
            <a:r>
              <a:rPr lang="de-DE" dirty="0"/>
              <a:t>Das BS muss nur prüfen, ob der Ressourcen-Belegungs-Graph (</a:t>
            </a:r>
            <a:r>
              <a:rPr lang="de-DE" b="1" dirty="0">
                <a:solidFill>
                  <a:srgbClr val="FF0000"/>
                </a:solidFill>
              </a:rPr>
              <a:t>RBG</a:t>
            </a:r>
            <a:r>
              <a:rPr lang="de-DE" dirty="0"/>
              <a:t>) </a:t>
            </a:r>
            <a:r>
              <a:rPr lang="de-DE" u="sng" dirty="0"/>
              <a:t>einen Zyklus enthält</a:t>
            </a:r>
            <a:r>
              <a:rPr lang="de-DE" dirty="0"/>
              <a:t> </a:t>
            </a:r>
          </a:p>
          <a:p>
            <a:pPr>
              <a:buNone/>
            </a:pPr>
            <a:endParaRPr lang="de-DE" dirty="0"/>
          </a:p>
        </p:txBody>
      </p:sp>
    </p:spTree>
    <p:extLst>
      <p:ext uri="{BB962C8B-B14F-4D97-AF65-F5344CB8AC3E}">
        <p14:creationId xmlns:p14="http://schemas.microsoft.com/office/powerpoint/2010/main" val="482780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20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a:bodyPr>
          <a:lstStyle/>
          <a:p>
            <a:r>
              <a:rPr lang="de-DE" dirty="0"/>
              <a:t>Ein Algorithmus zur Zyklus-Erkennung?</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19</a:t>
            </a:fld>
            <a:endParaRPr lang="en-US" noProof="0" dirty="0"/>
          </a:p>
        </p:txBody>
      </p:sp>
      <p:sp>
        <p:nvSpPr>
          <p:cNvPr id="8" name="Inhaltsplatzhalter 7"/>
          <p:cNvSpPr>
            <a:spLocks noGrp="1"/>
          </p:cNvSpPr>
          <p:nvPr>
            <p:ph sz="quarter" idx="1"/>
          </p:nvPr>
        </p:nvSpPr>
        <p:spPr>
          <a:xfrm>
            <a:off x="457200" y="1219200"/>
            <a:ext cx="8229600" cy="3217912"/>
          </a:xfrm>
        </p:spPr>
        <p:txBody>
          <a:bodyPr>
            <a:noAutofit/>
          </a:bodyPr>
          <a:lstStyle/>
          <a:p>
            <a:r>
              <a:rPr lang="de-DE" dirty="0"/>
              <a:t>Wir wollen testen, ob der gerichtete Ressource-Belegungs-Graph G </a:t>
            </a:r>
            <a:r>
              <a:rPr lang="de-DE" u="sng" dirty="0"/>
              <a:t>irgendeinen</a:t>
            </a:r>
            <a:r>
              <a:rPr lang="de-DE" dirty="0"/>
              <a:t> Zyklus enthält</a:t>
            </a:r>
          </a:p>
          <a:p>
            <a:r>
              <a:rPr lang="de-DE" dirty="0"/>
              <a:t>Es reicht es, für jeden Knoten N (Prozess oder Ressource) zu testen, ob dieser sich in einem Zyklus befindet („</a:t>
            </a:r>
            <a:r>
              <a:rPr lang="de-DE" dirty="0">
                <a:solidFill>
                  <a:srgbClr val="0070C0"/>
                </a:solidFill>
              </a:rPr>
              <a:t>Zyklus-Test für N</a:t>
            </a:r>
            <a:r>
              <a:rPr lang="de-DE" dirty="0"/>
              <a:t>“)</a:t>
            </a:r>
          </a:p>
          <a:p>
            <a:pPr lvl="1"/>
            <a:r>
              <a:rPr lang="de-DE" dirty="0">
                <a:solidFill>
                  <a:schemeClr val="tx1"/>
                </a:solidFill>
              </a:rPr>
              <a:t>Falls das für keinen der Knoten N gilt, ist G </a:t>
            </a:r>
            <a:r>
              <a:rPr lang="de-DE" dirty="0" err="1">
                <a:solidFill>
                  <a:schemeClr val="tx1"/>
                </a:solidFill>
              </a:rPr>
              <a:t>zyklenfrei</a:t>
            </a:r>
            <a:endParaRPr lang="de-DE" dirty="0">
              <a:solidFill>
                <a:schemeClr val="tx1"/>
              </a:solidFill>
            </a:endParaRPr>
          </a:p>
          <a:p>
            <a:r>
              <a:rPr lang="de-DE" dirty="0"/>
              <a:t>Mögliche Implementierung des „Zyklus-Tests für N“?</a:t>
            </a:r>
          </a:p>
          <a:p>
            <a:endParaRPr lang="de-DE" dirty="0"/>
          </a:p>
        </p:txBody>
      </p:sp>
      <p:sp>
        <p:nvSpPr>
          <p:cNvPr id="9" name="Inhaltsplatzhalter 8"/>
          <p:cNvSpPr>
            <a:spLocks noGrp="1"/>
          </p:cNvSpPr>
          <p:nvPr>
            <p:ph sz="quarter" idx="13"/>
          </p:nvPr>
        </p:nvSpPr>
        <p:spPr>
          <a:xfrm>
            <a:off x="647564" y="4692040"/>
            <a:ext cx="7848872" cy="1800200"/>
          </a:xfrm>
        </p:spPr>
        <p:style>
          <a:lnRef idx="1">
            <a:schemeClr val="accent6"/>
          </a:lnRef>
          <a:fillRef idx="2">
            <a:schemeClr val="accent6"/>
          </a:fillRef>
          <a:effectRef idx="1">
            <a:schemeClr val="accent6"/>
          </a:effectRef>
          <a:fontRef idx="minor">
            <a:schemeClr val="dk1"/>
          </a:fontRef>
        </p:style>
        <p:txBody>
          <a:bodyPr/>
          <a:lstStyle/>
          <a:p>
            <a:r>
              <a:rPr lang="de-DE" dirty="0"/>
              <a:t>Führe Tiefensuche (DFS) mit </a:t>
            </a:r>
            <a:r>
              <a:rPr lang="de-DE" dirty="0">
                <a:solidFill>
                  <a:srgbClr val="FF0000"/>
                </a:solidFill>
              </a:rPr>
              <a:t>N</a:t>
            </a:r>
            <a:r>
              <a:rPr lang="de-DE" dirty="0"/>
              <a:t> als Wurzel aus und markiere alle zum </a:t>
            </a:r>
            <a:r>
              <a:rPr lang="de-DE" u="sng" dirty="0"/>
              <a:t>1. Mal</a:t>
            </a:r>
            <a:r>
              <a:rPr lang="de-DE" dirty="0"/>
              <a:t> besuchten Knoten</a:t>
            </a:r>
          </a:p>
          <a:p>
            <a:r>
              <a:rPr lang="de-DE" dirty="0"/>
              <a:t>Falls wir einen Knoten zwei Mal sehen, gibt es einen Zyklus</a:t>
            </a:r>
          </a:p>
          <a:p>
            <a:endParaRPr lang="de-DE" dirty="0"/>
          </a:p>
        </p:txBody>
      </p:sp>
    </p:spTree>
    <p:extLst>
      <p:ext uri="{BB962C8B-B14F-4D97-AF65-F5344CB8AC3E}">
        <p14:creationId xmlns:p14="http://schemas.microsoft.com/office/powerpoint/2010/main" val="1507131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20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2000"/>
                                        <p:tgtEl>
                                          <p:spTgt spid="8">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animEffect transition="in" filter="fade">
                                      <p:cBhvr>
                                        <p:cTn id="15" dur="2000"/>
                                        <p:tgtEl>
                                          <p:spTgt spid="8">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8">
                                            <p:txEl>
                                              <p:pRg st="3" end="3"/>
                                            </p:txEl>
                                          </p:spTgt>
                                        </p:tgtEl>
                                        <p:attrNameLst>
                                          <p:attrName>style.visibility</p:attrName>
                                        </p:attrNameLst>
                                      </p:cBhvr>
                                      <p:to>
                                        <p:strVal val="visible"/>
                                      </p:to>
                                    </p:set>
                                    <p:animEffect transition="in" filter="fade">
                                      <p:cBhvr>
                                        <p:cTn id="20" dur="2000"/>
                                        <p:tgtEl>
                                          <p:spTgt spid="8">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bg/>
                                          </p:spTgt>
                                        </p:tgtEl>
                                        <p:attrNameLst>
                                          <p:attrName>style.visibility</p:attrName>
                                        </p:attrNameLst>
                                      </p:cBhvr>
                                      <p:to>
                                        <p:strVal val="visible"/>
                                      </p:to>
                                    </p:set>
                                    <p:animEffect transition="in" filter="fade">
                                      <p:cBhvr>
                                        <p:cTn id="25" dur="2000"/>
                                        <p:tgtEl>
                                          <p:spTgt spid="9">
                                            <p:bg/>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9">
                                            <p:txEl>
                                              <p:pRg st="0" end="0"/>
                                            </p:txEl>
                                          </p:spTgt>
                                        </p:tgtEl>
                                        <p:attrNameLst>
                                          <p:attrName>style.visibility</p:attrName>
                                        </p:attrNameLst>
                                      </p:cBhvr>
                                      <p:to>
                                        <p:strVal val="visible"/>
                                      </p:to>
                                    </p:set>
                                    <p:animEffect transition="in" filter="fade">
                                      <p:cBhvr>
                                        <p:cTn id="28" dur="2000"/>
                                        <p:tgtEl>
                                          <p:spTgt spid="9">
                                            <p:txEl>
                                              <p:pRg st="0" end="0"/>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9">
                                            <p:txEl>
                                              <p:pRg st="1" end="1"/>
                                            </p:txEl>
                                          </p:spTgt>
                                        </p:tgtEl>
                                        <p:attrNameLst>
                                          <p:attrName>style.visibility</p:attrName>
                                        </p:attrNameLst>
                                      </p:cBhvr>
                                      <p:to>
                                        <p:strVal val="visible"/>
                                      </p:to>
                                    </p:set>
                                    <p:animEffect transition="in" filter="fade">
                                      <p:cBhvr>
                                        <p:cTn id="31" dur="2000"/>
                                        <p:tgtEl>
                                          <p:spTgt spid="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P spid="9" grpId="0" build="allAtOnce"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p:cNvSpPr>
            <a:spLocks noGrp="1"/>
          </p:cNvSpPr>
          <p:nvPr>
            <p:ph type="title"/>
          </p:nvPr>
        </p:nvSpPr>
        <p:spPr/>
        <p:txBody>
          <a:bodyPr/>
          <a:lstStyle/>
          <a:p>
            <a:r>
              <a:rPr lang="de-DE" dirty="0"/>
              <a:t>Beispiel zur Zyklus-Erkennung</a:t>
            </a:r>
          </a:p>
        </p:txBody>
      </p:sp>
      <p:sp>
        <p:nvSpPr>
          <p:cNvPr id="3" name="Foliennummernplatzhalter 2"/>
          <p:cNvSpPr>
            <a:spLocks noGrp="1"/>
          </p:cNvSpPr>
          <p:nvPr>
            <p:ph type="sldNum" sz="quarter" idx="12"/>
          </p:nvPr>
        </p:nvSpPr>
        <p:spPr/>
        <p:txBody>
          <a:bodyPr/>
          <a:lstStyle/>
          <a:p>
            <a:fld id="{6C6AE60A-B69C-4790-82F7-3882EDF23186}" type="slidenum">
              <a:rPr lang="de-DE" smtClean="0"/>
              <a:pPr/>
              <a:t>20</a:t>
            </a:fld>
            <a:endParaRPr lang="de-DE"/>
          </a:p>
        </p:txBody>
      </p:sp>
      <p:sp>
        <p:nvSpPr>
          <p:cNvPr id="7" name="Inhaltsplatzhalter 6"/>
          <p:cNvSpPr>
            <a:spLocks noGrp="1"/>
          </p:cNvSpPr>
          <p:nvPr>
            <p:ph sz="quarter" idx="1"/>
          </p:nvPr>
        </p:nvSpPr>
        <p:spPr>
          <a:xfrm>
            <a:off x="457200" y="1219200"/>
            <a:ext cx="5266928" cy="2353816"/>
          </a:xfrm>
        </p:spPr>
        <p:txBody>
          <a:bodyPr>
            <a:normAutofit/>
          </a:bodyPr>
          <a:lstStyle/>
          <a:p>
            <a:r>
              <a:rPr lang="de-DE" dirty="0"/>
              <a:t>Für welche Knoten würde hier T1 Zyklen anzeigen?</a:t>
            </a:r>
          </a:p>
          <a:p>
            <a:r>
              <a:rPr lang="de-DE" dirty="0"/>
              <a:t>Kleine Optimierung der Erkennung?</a:t>
            </a:r>
          </a:p>
        </p:txBody>
      </p:sp>
      <p:sp>
        <p:nvSpPr>
          <p:cNvPr id="8" name="Inhaltsplatzhalter 7"/>
          <p:cNvSpPr>
            <a:spLocks noGrp="1"/>
          </p:cNvSpPr>
          <p:nvPr>
            <p:ph sz="quarter" idx="13"/>
          </p:nvPr>
        </p:nvSpPr>
        <p:spPr>
          <a:xfrm>
            <a:off x="467544" y="4293096"/>
            <a:ext cx="8208912" cy="2281808"/>
          </a:xfrm>
        </p:spPr>
        <p:txBody>
          <a:bodyPr>
            <a:normAutofit/>
          </a:bodyPr>
          <a:lstStyle/>
          <a:p>
            <a:r>
              <a:rPr lang="de-DE" dirty="0"/>
              <a:t>Optimierung: breche ab, sobald man den 1. Zyklus gefunden hat =&gt; es gibt ein Deadlock</a:t>
            </a:r>
          </a:p>
          <a:p>
            <a:r>
              <a:rPr lang="de-DE" dirty="0"/>
              <a:t>In diesem Fall: Für jeden Knoten gibt es einen Zyklus</a:t>
            </a:r>
          </a:p>
        </p:txBody>
      </p:sp>
      <p:pic>
        <p:nvPicPr>
          <p:cNvPr id="10" name="Picture 3" descr="C:\Artur\Academic\Lehre\10.WS-IBN\VL\figures\vl14\ablauf deadlock 2.jpg"/>
          <p:cNvPicPr>
            <a:picLocks noChangeAspect="1" noChangeArrowheads="1"/>
          </p:cNvPicPr>
          <p:nvPr/>
        </p:nvPicPr>
        <p:blipFill>
          <a:blip r:embed="rId2" cstate="print"/>
          <a:srcRect l="70642"/>
          <a:stretch>
            <a:fillRect/>
          </a:stretch>
        </p:blipFill>
        <p:spPr bwMode="auto">
          <a:xfrm>
            <a:off x="5796136" y="1844824"/>
            <a:ext cx="2353866" cy="2142435"/>
          </a:xfrm>
          <a:prstGeom prst="rect">
            <a:avLst/>
          </a:prstGeom>
          <a:noFill/>
        </p:spPr>
      </p:pic>
    </p:spTree>
    <p:extLst>
      <p:ext uri="{BB962C8B-B14F-4D97-AF65-F5344CB8AC3E}">
        <p14:creationId xmlns:p14="http://schemas.microsoft.com/office/powerpoint/2010/main" val="3340491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500"/>
                                        <p:tgtEl>
                                          <p:spTgt spid="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6C6AE60A-B69C-4790-82F7-3882EDF23186}" type="slidenum">
              <a:rPr lang="de-DE" smtClean="0"/>
              <a:pPr/>
              <a:t>21</a:t>
            </a:fld>
            <a:endParaRPr lang="de-DE" dirty="0"/>
          </a:p>
        </p:txBody>
      </p:sp>
      <p:sp>
        <p:nvSpPr>
          <p:cNvPr id="3" name="Titel 2"/>
          <p:cNvSpPr>
            <a:spLocks noGrp="1"/>
          </p:cNvSpPr>
          <p:nvPr>
            <p:ph type="title"/>
          </p:nvPr>
        </p:nvSpPr>
        <p:spPr>
          <a:xfrm>
            <a:off x="611560" y="1052735"/>
            <a:ext cx="7930674" cy="2431435"/>
          </a:xfrm>
        </p:spPr>
        <p:txBody>
          <a:bodyPr>
            <a:normAutofit fontScale="90000"/>
          </a:bodyPr>
          <a:lstStyle/>
          <a:p>
            <a:r>
              <a:rPr lang="de-DE" dirty="0"/>
              <a:t>Erkennung von Deadlocks:</a:t>
            </a:r>
            <a:br>
              <a:rPr lang="de-DE" dirty="0"/>
            </a:br>
            <a:r>
              <a:rPr lang="de-DE" dirty="0"/>
              <a:t>Mehrere Instanzen einer Ressource </a:t>
            </a:r>
            <a:br>
              <a:rPr lang="de-DE" dirty="0"/>
            </a:br>
            <a:r>
              <a:rPr lang="de-DE" dirty="0"/>
              <a:t>- Definitionen</a:t>
            </a:r>
          </a:p>
        </p:txBody>
      </p:sp>
      <p:sp>
        <p:nvSpPr>
          <p:cNvPr id="4" name="Rectangle 3"/>
          <p:cNvSpPr/>
          <p:nvPr/>
        </p:nvSpPr>
        <p:spPr>
          <a:xfrm>
            <a:off x="931156" y="3669931"/>
            <a:ext cx="7272808" cy="2431435"/>
          </a:xfrm>
          <a:prstGeom prst="rect">
            <a:avLst/>
          </a:prstGeom>
        </p:spPr>
        <p:txBody>
          <a:bodyPr wrap="square">
            <a:spAutoFit/>
          </a:bodyPr>
          <a:lstStyle/>
          <a:p>
            <a:r>
              <a:rPr lang="de-DE" sz="2800" dirty="0"/>
              <a:t>Strategien zur Behandlung von Deadlocks:</a:t>
            </a:r>
            <a:endParaRPr lang="de-DE" sz="2000" b="1" dirty="0"/>
          </a:p>
          <a:p>
            <a:pPr marL="285750" indent="-285750">
              <a:buFont typeface="Arial" pitchFamily="34" charset="0"/>
              <a:buChar char="•"/>
            </a:pPr>
            <a:r>
              <a:rPr lang="de-DE" sz="2000" dirty="0">
                <a:solidFill>
                  <a:schemeClr val="bg1">
                    <a:lumMod val="50000"/>
                  </a:schemeClr>
                </a:solidFill>
              </a:rPr>
              <a:t>Einfach ignorieren </a:t>
            </a:r>
          </a:p>
          <a:p>
            <a:pPr marL="285750" indent="-285750">
              <a:buFont typeface="Arial" pitchFamily="34" charset="0"/>
              <a:buChar char="•"/>
            </a:pPr>
            <a:r>
              <a:rPr lang="de-DE" sz="2400" b="1" dirty="0">
                <a:solidFill>
                  <a:srgbClr val="0070C0"/>
                </a:solidFill>
              </a:rPr>
              <a:t>Erkennen und beheben</a:t>
            </a:r>
          </a:p>
          <a:p>
            <a:pPr marL="742950" lvl="1" indent="-285750">
              <a:buFont typeface="Arial" pitchFamily="34" charset="0"/>
              <a:buChar char="•"/>
            </a:pPr>
            <a:r>
              <a:rPr lang="de-DE" sz="2000" dirty="0"/>
              <a:t>Deadlocks zulassen, erkennen und beheben</a:t>
            </a:r>
          </a:p>
          <a:p>
            <a:pPr marL="285750" indent="-285750">
              <a:buFont typeface="Arial" pitchFamily="34" charset="0"/>
              <a:buChar char="•"/>
            </a:pPr>
            <a:r>
              <a:rPr lang="de-DE" sz="2000" b="1" dirty="0">
                <a:solidFill>
                  <a:srgbClr val="FF0000"/>
                </a:solidFill>
              </a:rPr>
              <a:t>Dynamische Verhinderung </a:t>
            </a:r>
          </a:p>
          <a:p>
            <a:pPr marL="742950" lvl="1" indent="-285750">
              <a:buFont typeface="Arial" pitchFamily="34" charset="0"/>
              <a:buChar char="•"/>
            </a:pPr>
            <a:r>
              <a:rPr lang="de-DE" sz="2000" dirty="0"/>
              <a:t>Durch vorsichtige Ressourcenzuteilung</a:t>
            </a:r>
          </a:p>
          <a:p>
            <a:pPr marL="285750" indent="-285750">
              <a:buFont typeface="Arial" pitchFamily="34" charset="0"/>
              <a:buChar char="•"/>
            </a:pPr>
            <a:r>
              <a:rPr lang="de-DE" sz="2000" b="1" dirty="0">
                <a:solidFill>
                  <a:srgbClr val="FF0000"/>
                </a:solidFill>
              </a:rPr>
              <a:t>Vermeidung von Deadlocks</a:t>
            </a:r>
          </a:p>
        </p:txBody>
      </p:sp>
    </p:spTree>
    <p:extLst>
      <p:ext uri="{BB962C8B-B14F-4D97-AF65-F5344CB8AC3E}">
        <p14:creationId xmlns:p14="http://schemas.microsoft.com/office/powerpoint/2010/main" val="13481740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fontScale="90000"/>
          </a:bodyPr>
          <a:lstStyle/>
          <a:p>
            <a:r>
              <a:rPr lang="de-DE" dirty="0"/>
              <a:t>Erkennung mit </a:t>
            </a:r>
            <a:r>
              <a:rPr lang="de-DE" u="sng" dirty="0"/>
              <a:t>mehreren</a:t>
            </a:r>
            <a:r>
              <a:rPr lang="de-DE" dirty="0"/>
              <a:t> Instanzen pro R.-Typ</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22</a:t>
            </a:fld>
            <a:endParaRPr lang="en-US" noProof="0" dirty="0"/>
          </a:p>
        </p:txBody>
      </p:sp>
      <p:sp>
        <p:nvSpPr>
          <p:cNvPr id="4" name="Inhaltsplatzhalter 3"/>
          <p:cNvSpPr>
            <a:spLocks noGrp="1"/>
          </p:cNvSpPr>
          <p:nvPr>
            <p:ph sz="quarter" idx="1"/>
          </p:nvPr>
        </p:nvSpPr>
        <p:spPr/>
        <p:txBody>
          <a:bodyPr/>
          <a:lstStyle/>
          <a:p>
            <a:r>
              <a:rPr lang="de-DE" dirty="0"/>
              <a:t>Wir nutzen einen matrixbasierten Algorithmus</a:t>
            </a:r>
          </a:p>
          <a:p>
            <a:r>
              <a:rPr lang="de-DE" dirty="0"/>
              <a:t>Wir haben </a:t>
            </a:r>
            <a:r>
              <a:rPr lang="de-DE" dirty="0">
                <a:solidFill>
                  <a:srgbClr val="FF0000"/>
                </a:solidFill>
              </a:rPr>
              <a:t>n</a:t>
            </a:r>
            <a:r>
              <a:rPr lang="de-DE" dirty="0"/>
              <a:t> Prozesse </a:t>
            </a:r>
            <a:r>
              <a:rPr lang="de-DE" dirty="0">
                <a:solidFill>
                  <a:srgbClr val="FF0000"/>
                </a:solidFill>
              </a:rPr>
              <a:t>P</a:t>
            </a:r>
            <a:r>
              <a:rPr lang="de-DE" baseline="-25000" dirty="0">
                <a:solidFill>
                  <a:srgbClr val="FF0000"/>
                </a:solidFill>
              </a:rPr>
              <a:t>1</a:t>
            </a:r>
            <a:r>
              <a:rPr lang="de-DE" dirty="0">
                <a:solidFill>
                  <a:srgbClr val="FF0000"/>
                </a:solidFill>
              </a:rPr>
              <a:t>,…,</a:t>
            </a:r>
            <a:r>
              <a:rPr lang="de-DE" dirty="0" err="1">
                <a:solidFill>
                  <a:srgbClr val="FF0000"/>
                </a:solidFill>
              </a:rPr>
              <a:t>P</a:t>
            </a:r>
            <a:r>
              <a:rPr lang="de-DE" baseline="-25000" dirty="0" err="1">
                <a:solidFill>
                  <a:srgbClr val="FF0000"/>
                </a:solidFill>
              </a:rPr>
              <a:t>n</a:t>
            </a:r>
            <a:r>
              <a:rPr lang="de-DE" dirty="0"/>
              <a:t> und </a:t>
            </a:r>
            <a:r>
              <a:rPr lang="de-DE" dirty="0">
                <a:solidFill>
                  <a:srgbClr val="0070C0"/>
                </a:solidFill>
              </a:rPr>
              <a:t>m</a:t>
            </a:r>
            <a:r>
              <a:rPr lang="de-DE" dirty="0"/>
              <a:t> Ressourcen(typen) mit Indices </a:t>
            </a:r>
            <a:r>
              <a:rPr lang="de-DE" dirty="0">
                <a:solidFill>
                  <a:srgbClr val="0070C0"/>
                </a:solidFill>
              </a:rPr>
              <a:t>1,…,m</a:t>
            </a:r>
          </a:p>
          <a:p>
            <a:r>
              <a:rPr lang="de-DE" dirty="0"/>
              <a:t>Die Anzahl der </a:t>
            </a:r>
            <a:r>
              <a:rPr lang="de-DE"/>
              <a:t>verfügbaren Instanzen </a:t>
            </a:r>
            <a:r>
              <a:rPr lang="de-DE" dirty="0"/>
              <a:t>vom </a:t>
            </a:r>
            <a:r>
              <a:rPr lang="de-DE" dirty="0">
                <a:solidFill>
                  <a:srgbClr val="FF0000"/>
                </a:solidFill>
              </a:rPr>
              <a:t>Typ i</a:t>
            </a:r>
            <a:r>
              <a:rPr lang="de-DE" dirty="0"/>
              <a:t> wird mit </a:t>
            </a:r>
            <a:r>
              <a:rPr lang="de-DE" b="1" dirty="0">
                <a:solidFill>
                  <a:srgbClr val="FF0000"/>
                </a:solidFill>
              </a:rPr>
              <a:t>E</a:t>
            </a:r>
            <a:r>
              <a:rPr lang="de-DE" b="1" baseline="-25000" dirty="0">
                <a:solidFill>
                  <a:srgbClr val="FF0000"/>
                </a:solidFill>
              </a:rPr>
              <a:t>i</a:t>
            </a:r>
            <a:r>
              <a:rPr lang="de-DE" dirty="0"/>
              <a:t> angegeben</a:t>
            </a:r>
          </a:p>
          <a:p>
            <a:r>
              <a:rPr lang="de-DE" b="1" dirty="0">
                <a:solidFill>
                  <a:srgbClr val="0070C0"/>
                </a:solidFill>
              </a:rPr>
              <a:t>(E</a:t>
            </a:r>
            <a:r>
              <a:rPr lang="de-DE" b="1" baseline="-25000" dirty="0">
                <a:solidFill>
                  <a:srgbClr val="0070C0"/>
                </a:solidFill>
              </a:rPr>
              <a:t>1</a:t>
            </a:r>
            <a:r>
              <a:rPr lang="de-DE" b="1" dirty="0">
                <a:solidFill>
                  <a:srgbClr val="0070C0"/>
                </a:solidFill>
              </a:rPr>
              <a:t>,E</a:t>
            </a:r>
            <a:r>
              <a:rPr lang="de-DE" b="1" baseline="-25000" dirty="0">
                <a:solidFill>
                  <a:srgbClr val="0070C0"/>
                </a:solidFill>
              </a:rPr>
              <a:t>2</a:t>
            </a:r>
            <a:r>
              <a:rPr lang="de-DE" b="1" dirty="0">
                <a:solidFill>
                  <a:srgbClr val="0070C0"/>
                </a:solidFill>
              </a:rPr>
              <a:t>, …,</a:t>
            </a:r>
            <a:r>
              <a:rPr lang="de-DE" b="1" dirty="0" err="1">
                <a:solidFill>
                  <a:srgbClr val="0070C0"/>
                </a:solidFill>
              </a:rPr>
              <a:t>E</a:t>
            </a:r>
            <a:r>
              <a:rPr lang="de-DE" b="1" baseline="-25000" dirty="0" err="1">
                <a:solidFill>
                  <a:srgbClr val="0070C0"/>
                </a:solidFill>
              </a:rPr>
              <a:t>m</a:t>
            </a:r>
            <a:r>
              <a:rPr lang="de-DE" b="1" dirty="0">
                <a:solidFill>
                  <a:srgbClr val="0070C0"/>
                </a:solidFill>
              </a:rPr>
              <a:t>) </a:t>
            </a:r>
            <a:r>
              <a:rPr lang="de-DE" dirty="0"/>
              <a:t>ist der </a:t>
            </a:r>
            <a:r>
              <a:rPr lang="de-DE" b="1" dirty="0">
                <a:solidFill>
                  <a:srgbClr val="0070C0"/>
                </a:solidFill>
              </a:rPr>
              <a:t>Ressourcenvektor</a:t>
            </a:r>
            <a:endParaRPr lang="de-DE" dirty="0">
              <a:solidFill>
                <a:srgbClr val="0070C0"/>
              </a:solidFill>
            </a:endParaRPr>
          </a:p>
          <a:p>
            <a:r>
              <a:rPr lang="de-DE" dirty="0"/>
              <a:t>Für jeden Ressourcen(typ) i bezeichnen wir mit </a:t>
            </a:r>
            <a:r>
              <a:rPr lang="de-DE" b="1" dirty="0">
                <a:solidFill>
                  <a:srgbClr val="7030A0"/>
                </a:solidFill>
              </a:rPr>
              <a:t>A</a:t>
            </a:r>
            <a:r>
              <a:rPr lang="de-DE" b="1" baseline="-25000" dirty="0">
                <a:solidFill>
                  <a:srgbClr val="7030A0"/>
                </a:solidFill>
              </a:rPr>
              <a:t>i  </a:t>
            </a:r>
            <a:r>
              <a:rPr lang="de-DE" dirty="0"/>
              <a:t>die Anzahl der noch freien (nicht belegten) Instanzen</a:t>
            </a:r>
            <a:endParaRPr lang="de-DE" b="1" baseline="-25000" dirty="0">
              <a:solidFill>
                <a:srgbClr val="FF0000"/>
              </a:solidFill>
            </a:endParaRPr>
          </a:p>
          <a:p>
            <a:r>
              <a:rPr lang="de-DE" b="1" dirty="0">
                <a:solidFill>
                  <a:srgbClr val="00B050"/>
                </a:solidFill>
              </a:rPr>
              <a:t>(A</a:t>
            </a:r>
            <a:r>
              <a:rPr lang="de-DE" b="1" baseline="-25000" dirty="0">
                <a:solidFill>
                  <a:srgbClr val="00B050"/>
                </a:solidFill>
              </a:rPr>
              <a:t>1</a:t>
            </a:r>
            <a:r>
              <a:rPr lang="de-DE" b="1" dirty="0">
                <a:solidFill>
                  <a:srgbClr val="00B050"/>
                </a:solidFill>
              </a:rPr>
              <a:t>,…, A</a:t>
            </a:r>
            <a:r>
              <a:rPr lang="de-DE" b="1" baseline="-25000" dirty="0">
                <a:solidFill>
                  <a:srgbClr val="00B050"/>
                </a:solidFill>
              </a:rPr>
              <a:t>m</a:t>
            </a:r>
            <a:r>
              <a:rPr lang="de-DE" b="1" dirty="0">
                <a:solidFill>
                  <a:srgbClr val="00B050"/>
                </a:solidFill>
              </a:rPr>
              <a:t>) </a:t>
            </a:r>
            <a:r>
              <a:rPr lang="de-DE" dirty="0"/>
              <a:t>bilden den </a:t>
            </a:r>
            <a:r>
              <a:rPr lang="de-DE" b="1" dirty="0">
                <a:solidFill>
                  <a:srgbClr val="00B050"/>
                </a:solidFill>
              </a:rPr>
              <a:t>Ressourcen</a:t>
            </a:r>
            <a:r>
              <a:rPr lang="de-DE" b="1" u="sng" dirty="0">
                <a:solidFill>
                  <a:srgbClr val="00B050"/>
                </a:solidFill>
              </a:rPr>
              <a:t>rest</a:t>
            </a:r>
            <a:r>
              <a:rPr lang="de-DE" b="1" dirty="0">
                <a:solidFill>
                  <a:srgbClr val="00B050"/>
                </a:solidFill>
              </a:rPr>
              <a:t>vektor </a:t>
            </a:r>
            <a:r>
              <a:rPr lang="de-DE" dirty="0">
                <a:solidFill>
                  <a:srgbClr val="00B050"/>
                </a:solidFill>
              </a:rPr>
              <a:t>(</a:t>
            </a:r>
            <a:r>
              <a:rPr lang="de-DE" u="sng" dirty="0" err="1">
                <a:solidFill>
                  <a:srgbClr val="00B050"/>
                </a:solidFill>
              </a:rPr>
              <a:t>a</a:t>
            </a:r>
            <a:r>
              <a:rPr lang="de-DE" dirty="0" err="1">
                <a:solidFill>
                  <a:srgbClr val="00B050"/>
                </a:solidFill>
              </a:rPr>
              <a:t>vailable</a:t>
            </a:r>
            <a:r>
              <a:rPr lang="de-DE" dirty="0">
                <a:solidFill>
                  <a:srgbClr val="00B050"/>
                </a:solidFill>
              </a:rPr>
              <a:t> </a:t>
            </a:r>
            <a:r>
              <a:rPr lang="de-DE" dirty="0" err="1">
                <a:solidFill>
                  <a:srgbClr val="00B050"/>
                </a:solidFill>
              </a:rPr>
              <a:t>resource</a:t>
            </a:r>
            <a:r>
              <a:rPr lang="de-DE" dirty="0">
                <a:solidFill>
                  <a:srgbClr val="00B050"/>
                </a:solidFill>
              </a:rPr>
              <a:t> </a:t>
            </a:r>
            <a:r>
              <a:rPr lang="de-DE" dirty="0" err="1">
                <a:solidFill>
                  <a:srgbClr val="00B050"/>
                </a:solidFill>
              </a:rPr>
              <a:t>vector</a:t>
            </a:r>
            <a:r>
              <a:rPr lang="de-DE" dirty="0">
                <a:solidFill>
                  <a:srgbClr val="00B050"/>
                </a:solidFill>
              </a:rPr>
              <a:t>)</a:t>
            </a:r>
            <a:endParaRPr lang="de-DE" baseline="-25000" dirty="0">
              <a:solidFill>
                <a:srgbClr val="00B050"/>
              </a:solidFill>
            </a:endParaRPr>
          </a:p>
          <a:p>
            <a:pPr>
              <a:buNone/>
            </a:pPr>
            <a:endParaRPr lang="de-DE" dirty="0"/>
          </a:p>
        </p:txBody>
      </p:sp>
    </p:spTree>
    <p:extLst>
      <p:ext uri="{BB962C8B-B14F-4D97-AF65-F5344CB8AC3E}">
        <p14:creationId xmlns:p14="http://schemas.microsoft.com/office/powerpoint/2010/main" val="5697182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p:cNvSpPr>
            <a:spLocks noGrp="1"/>
          </p:cNvSpPr>
          <p:nvPr>
            <p:ph type="title"/>
          </p:nvPr>
        </p:nvSpPr>
        <p:spPr/>
        <p:txBody>
          <a:bodyPr/>
          <a:lstStyle/>
          <a:p>
            <a:r>
              <a:rPr lang="de-DE" dirty="0"/>
              <a:t>Beispiel Ressourcen{</a:t>
            </a:r>
            <a:r>
              <a:rPr lang="de-DE" dirty="0" err="1"/>
              <a:t>rest</a:t>
            </a:r>
            <a:r>
              <a:rPr lang="de-DE" dirty="0"/>
              <a:t>}</a:t>
            </a:r>
            <a:r>
              <a:rPr lang="de-DE" dirty="0" err="1"/>
              <a:t>vektoren</a:t>
            </a:r>
            <a:endParaRPr lang="de-DE" dirty="0"/>
          </a:p>
        </p:txBody>
      </p:sp>
      <p:sp>
        <p:nvSpPr>
          <p:cNvPr id="3" name="Foliennummernplatzhalter 2"/>
          <p:cNvSpPr>
            <a:spLocks noGrp="1"/>
          </p:cNvSpPr>
          <p:nvPr>
            <p:ph type="sldNum" sz="quarter" idx="12"/>
          </p:nvPr>
        </p:nvSpPr>
        <p:spPr/>
        <p:txBody>
          <a:bodyPr/>
          <a:lstStyle/>
          <a:p>
            <a:fld id="{6C6AE60A-B69C-4790-82F7-3882EDF23186}" type="slidenum">
              <a:rPr lang="de-DE" smtClean="0"/>
              <a:pPr/>
              <a:t>23</a:t>
            </a:fld>
            <a:endParaRPr lang="de-DE"/>
          </a:p>
        </p:txBody>
      </p:sp>
      <p:sp>
        <p:nvSpPr>
          <p:cNvPr id="7" name="Inhaltsplatzhalter 6"/>
          <p:cNvSpPr>
            <a:spLocks noGrp="1"/>
          </p:cNvSpPr>
          <p:nvPr>
            <p:ph sz="quarter" idx="1"/>
          </p:nvPr>
        </p:nvSpPr>
        <p:spPr>
          <a:xfrm>
            <a:off x="457200" y="1219200"/>
            <a:ext cx="4762872" cy="3145904"/>
          </a:xfrm>
        </p:spPr>
        <p:txBody>
          <a:bodyPr>
            <a:normAutofit/>
          </a:bodyPr>
          <a:lstStyle/>
          <a:p>
            <a:r>
              <a:rPr lang="de-DE" sz="2800" dirty="0"/>
              <a:t>Bei diesem RBG: was ist der Ressourcenvektor </a:t>
            </a:r>
            <a:r>
              <a:rPr lang="de-DE" sz="2800" dirty="0">
                <a:solidFill>
                  <a:srgbClr val="0070C0"/>
                </a:solidFill>
              </a:rPr>
              <a:t>(E</a:t>
            </a:r>
            <a:r>
              <a:rPr lang="de-DE" sz="2800" baseline="-25000" dirty="0">
                <a:solidFill>
                  <a:srgbClr val="0070C0"/>
                </a:solidFill>
              </a:rPr>
              <a:t>1</a:t>
            </a:r>
            <a:r>
              <a:rPr lang="de-DE" sz="2800" dirty="0">
                <a:solidFill>
                  <a:srgbClr val="0070C0"/>
                </a:solidFill>
              </a:rPr>
              <a:t>,E</a:t>
            </a:r>
            <a:r>
              <a:rPr lang="de-DE" sz="2800" baseline="-25000" dirty="0">
                <a:solidFill>
                  <a:srgbClr val="0070C0"/>
                </a:solidFill>
              </a:rPr>
              <a:t>2</a:t>
            </a:r>
            <a:r>
              <a:rPr lang="de-DE" sz="2800" dirty="0">
                <a:solidFill>
                  <a:srgbClr val="0070C0"/>
                </a:solidFill>
              </a:rPr>
              <a:t>, …,</a:t>
            </a:r>
            <a:r>
              <a:rPr lang="de-DE" sz="2800" dirty="0" err="1">
                <a:solidFill>
                  <a:srgbClr val="0070C0"/>
                </a:solidFill>
              </a:rPr>
              <a:t>E</a:t>
            </a:r>
            <a:r>
              <a:rPr lang="de-DE" sz="2800" baseline="-25000" dirty="0" err="1">
                <a:solidFill>
                  <a:srgbClr val="0070C0"/>
                </a:solidFill>
              </a:rPr>
              <a:t>m</a:t>
            </a:r>
            <a:r>
              <a:rPr lang="de-DE" sz="2800" dirty="0">
                <a:solidFill>
                  <a:srgbClr val="0070C0"/>
                </a:solidFill>
              </a:rPr>
              <a:t>)</a:t>
            </a:r>
            <a:r>
              <a:rPr lang="de-DE" sz="2800" dirty="0"/>
              <a:t>, was ist der Ressourcen</a:t>
            </a:r>
            <a:r>
              <a:rPr lang="de-DE" sz="2800" u="sng" dirty="0"/>
              <a:t>rest</a:t>
            </a:r>
            <a:r>
              <a:rPr lang="de-DE" sz="2800" dirty="0"/>
              <a:t>vektor </a:t>
            </a:r>
            <a:r>
              <a:rPr lang="de-DE" sz="2800" dirty="0">
                <a:solidFill>
                  <a:srgbClr val="00B050"/>
                </a:solidFill>
              </a:rPr>
              <a:t>(A</a:t>
            </a:r>
            <a:r>
              <a:rPr lang="de-DE" sz="2800" baseline="-25000" dirty="0">
                <a:solidFill>
                  <a:srgbClr val="00B050"/>
                </a:solidFill>
              </a:rPr>
              <a:t>1</a:t>
            </a:r>
            <a:r>
              <a:rPr lang="de-DE" sz="2800" dirty="0">
                <a:solidFill>
                  <a:srgbClr val="00B050"/>
                </a:solidFill>
              </a:rPr>
              <a:t>,…, A</a:t>
            </a:r>
            <a:r>
              <a:rPr lang="de-DE" sz="2800" baseline="-25000" dirty="0">
                <a:solidFill>
                  <a:srgbClr val="00B050"/>
                </a:solidFill>
              </a:rPr>
              <a:t>m</a:t>
            </a:r>
            <a:r>
              <a:rPr lang="de-DE" sz="2800" dirty="0">
                <a:solidFill>
                  <a:srgbClr val="00B050"/>
                </a:solidFill>
              </a:rPr>
              <a:t>)</a:t>
            </a:r>
            <a:r>
              <a:rPr lang="de-DE" sz="2800" dirty="0"/>
              <a:t>?</a:t>
            </a:r>
          </a:p>
          <a:p>
            <a:pPr lvl="1"/>
            <a:r>
              <a:rPr lang="de-DE" sz="2500" dirty="0"/>
              <a:t>Antwort als String: </a:t>
            </a:r>
            <a:br>
              <a:rPr lang="de-DE" sz="2500" dirty="0"/>
            </a:br>
            <a:r>
              <a:rPr lang="de-DE" sz="2500" dirty="0"/>
              <a:t>&lt;Res-</a:t>
            </a:r>
            <a:r>
              <a:rPr lang="de-DE" sz="2500" dirty="0" err="1"/>
              <a:t>Vek</a:t>
            </a:r>
            <a:r>
              <a:rPr lang="de-DE" sz="2500" dirty="0"/>
              <a:t>&gt;,&lt;Res-Rest-</a:t>
            </a:r>
            <a:r>
              <a:rPr lang="de-DE" sz="2500" dirty="0" err="1"/>
              <a:t>Vek</a:t>
            </a:r>
            <a:r>
              <a:rPr lang="de-DE" sz="2500" dirty="0"/>
              <a:t>&gt;</a:t>
            </a:r>
          </a:p>
        </p:txBody>
      </p:sp>
      <p:sp>
        <p:nvSpPr>
          <p:cNvPr id="9" name="Inhaltsplatzhalter 6"/>
          <p:cNvSpPr txBox="1">
            <a:spLocks/>
          </p:cNvSpPr>
          <p:nvPr/>
        </p:nvSpPr>
        <p:spPr>
          <a:xfrm>
            <a:off x="611560" y="4509120"/>
            <a:ext cx="4041648" cy="1728192"/>
          </a:xfrm>
          <a:prstGeom prst="rect">
            <a:avLst/>
          </a:prstGeom>
        </p:spPr>
        <p:txBody>
          <a:bodyPr vert="horz">
            <a:normAutofit/>
          </a:bodyPr>
          <a:lstStyle/>
          <a:p>
            <a:pPr marL="274320" lvl="0" indent="-274320">
              <a:spcBef>
                <a:spcPts val="600"/>
              </a:spcBef>
              <a:buClr>
                <a:schemeClr val="accent1"/>
              </a:buClr>
              <a:buSzPct val="76000"/>
              <a:buFont typeface="Wingdings 3"/>
              <a:buChar char=""/>
            </a:pPr>
            <a:r>
              <a:rPr lang="de-DE" sz="2800" dirty="0">
                <a:solidFill>
                  <a:srgbClr val="0070C0"/>
                </a:solidFill>
              </a:rPr>
              <a:t>(E</a:t>
            </a:r>
            <a:r>
              <a:rPr lang="de-DE" sz="2800" baseline="-25000" dirty="0">
                <a:solidFill>
                  <a:srgbClr val="0070C0"/>
                </a:solidFill>
              </a:rPr>
              <a:t>1</a:t>
            </a:r>
            <a:r>
              <a:rPr lang="de-DE" sz="2800" dirty="0">
                <a:solidFill>
                  <a:srgbClr val="0070C0"/>
                </a:solidFill>
              </a:rPr>
              <a:t>,E</a:t>
            </a:r>
            <a:r>
              <a:rPr lang="de-DE" sz="2800" baseline="-25000" dirty="0">
                <a:solidFill>
                  <a:srgbClr val="0070C0"/>
                </a:solidFill>
              </a:rPr>
              <a:t>2</a:t>
            </a:r>
            <a:r>
              <a:rPr lang="de-DE" sz="2800" dirty="0">
                <a:solidFill>
                  <a:srgbClr val="0070C0"/>
                </a:solidFill>
              </a:rPr>
              <a:t>, …,</a:t>
            </a:r>
            <a:r>
              <a:rPr lang="de-DE" sz="2800" dirty="0" err="1">
                <a:solidFill>
                  <a:srgbClr val="0070C0"/>
                </a:solidFill>
              </a:rPr>
              <a:t>E</a:t>
            </a:r>
            <a:r>
              <a:rPr lang="de-DE" sz="2800" baseline="-25000" dirty="0" err="1">
                <a:solidFill>
                  <a:srgbClr val="0070C0"/>
                </a:solidFill>
              </a:rPr>
              <a:t>m</a:t>
            </a:r>
            <a:r>
              <a:rPr lang="de-DE" sz="2800" dirty="0">
                <a:solidFill>
                  <a:srgbClr val="0070C0"/>
                </a:solidFill>
              </a:rPr>
              <a:t>)</a:t>
            </a:r>
            <a:r>
              <a:rPr lang="de-DE" sz="2800" dirty="0"/>
              <a:t>: (2, 2)</a:t>
            </a:r>
          </a:p>
          <a:p>
            <a:pPr marL="274320" lvl="0" indent="-274320">
              <a:spcBef>
                <a:spcPts val="600"/>
              </a:spcBef>
              <a:buClr>
                <a:schemeClr val="accent1"/>
              </a:buClr>
              <a:buSzPct val="76000"/>
              <a:buFont typeface="Wingdings 3"/>
              <a:buChar char=""/>
            </a:pPr>
            <a:r>
              <a:rPr kumimoji="0" lang="de-DE" sz="2800" b="0" i="0" u="none" strike="noStrike" kern="1200" cap="none" spc="0" normalizeH="0" baseline="0" noProof="0" dirty="0">
                <a:ln>
                  <a:noFill/>
                </a:ln>
                <a:solidFill>
                  <a:srgbClr val="00B050"/>
                </a:solidFill>
                <a:effectLst/>
                <a:uLnTx/>
                <a:uFillTx/>
                <a:latin typeface="+mn-lt"/>
                <a:ea typeface="+mn-ea"/>
                <a:cs typeface="+mn-cs"/>
              </a:rPr>
              <a:t>(A</a:t>
            </a:r>
            <a:r>
              <a:rPr kumimoji="0" lang="de-DE" sz="2800" b="0" i="0" u="none" strike="noStrike" kern="1200" cap="none" spc="0" normalizeH="0" baseline="-25000" noProof="0" dirty="0">
                <a:ln>
                  <a:noFill/>
                </a:ln>
                <a:solidFill>
                  <a:srgbClr val="00B050"/>
                </a:solidFill>
                <a:effectLst/>
                <a:uLnTx/>
                <a:uFillTx/>
                <a:latin typeface="+mn-lt"/>
                <a:ea typeface="+mn-ea"/>
                <a:cs typeface="+mn-cs"/>
              </a:rPr>
              <a:t>1</a:t>
            </a:r>
            <a:r>
              <a:rPr kumimoji="0" lang="de-DE" sz="2800" b="0" i="0" u="none" strike="noStrike" kern="1200" cap="none" spc="0" normalizeH="0" baseline="0" noProof="0" dirty="0">
                <a:ln>
                  <a:noFill/>
                </a:ln>
                <a:solidFill>
                  <a:srgbClr val="00B050"/>
                </a:solidFill>
                <a:effectLst/>
                <a:uLnTx/>
                <a:uFillTx/>
                <a:latin typeface="+mn-lt"/>
                <a:ea typeface="+mn-ea"/>
                <a:cs typeface="+mn-cs"/>
              </a:rPr>
              <a:t>,…, A</a:t>
            </a:r>
            <a:r>
              <a:rPr kumimoji="0" lang="de-DE" sz="2800" b="0" i="0" u="none" strike="noStrike" kern="1200" cap="none" spc="0" normalizeH="0" baseline="-25000" noProof="0" dirty="0">
                <a:ln>
                  <a:noFill/>
                </a:ln>
                <a:solidFill>
                  <a:srgbClr val="00B050"/>
                </a:solidFill>
                <a:effectLst/>
                <a:uLnTx/>
                <a:uFillTx/>
                <a:latin typeface="+mn-lt"/>
                <a:ea typeface="+mn-ea"/>
                <a:cs typeface="+mn-cs"/>
              </a:rPr>
              <a:t>m</a:t>
            </a:r>
            <a:r>
              <a:rPr kumimoji="0" lang="de-DE" sz="2800" b="0" i="0" u="none" strike="noStrike" kern="1200" cap="none" spc="0" normalizeH="0" baseline="0" noProof="0" dirty="0">
                <a:ln>
                  <a:noFill/>
                </a:ln>
                <a:solidFill>
                  <a:srgbClr val="00B050"/>
                </a:solidFill>
                <a:effectLst/>
                <a:uLnTx/>
                <a:uFillTx/>
                <a:latin typeface="+mn-lt"/>
                <a:ea typeface="+mn-ea"/>
                <a:cs typeface="+mn-cs"/>
              </a:rPr>
              <a:t>)</a:t>
            </a:r>
            <a:r>
              <a:rPr kumimoji="0" lang="de-DE" sz="2800" b="0" i="0" u="none" strike="noStrike" kern="1200" cap="none" spc="0" normalizeH="0" baseline="0" noProof="0" dirty="0">
                <a:ln>
                  <a:noFill/>
                </a:ln>
                <a:solidFill>
                  <a:schemeClr val="tx1"/>
                </a:solidFill>
                <a:effectLst/>
                <a:uLnTx/>
                <a:uFillTx/>
                <a:latin typeface="+mn-lt"/>
                <a:ea typeface="+mn-ea"/>
                <a:cs typeface="+mn-cs"/>
              </a:rPr>
              <a:t>:</a:t>
            </a:r>
            <a:r>
              <a:rPr kumimoji="0" lang="de-DE" sz="2800" b="0" i="0" u="none" strike="noStrike" kern="1200" cap="none" spc="0" normalizeH="0" noProof="0" dirty="0">
                <a:ln>
                  <a:noFill/>
                </a:ln>
                <a:solidFill>
                  <a:schemeClr val="tx1"/>
                </a:solidFill>
                <a:effectLst/>
                <a:uLnTx/>
                <a:uFillTx/>
                <a:latin typeface="+mn-lt"/>
                <a:ea typeface="+mn-ea"/>
                <a:cs typeface="+mn-cs"/>
              </a:rPr>
              <a:t> (0,0)</a:t>
            </a:r>
            <a:endParaRPr kumimoji="0" lang="de-DE" sz="2800" b="0" i="0" u="none" strike="noStrike" kern="1200" cap="none" spc="0" normalizeH="0" baseline="0" noProof="0" dirty="0">
              <a:ln>
                <a:noFill/>
              </a:ln>
              <a:solidFill>
                <a:schemeClr val="tx1"/>
              </a:solidFill>
              <a:effectLst/>
              <a:uLnTx/>
              <a:uFillTx/>
              <a:latin typeface="+mn-lt"/>
              <a:ea typeface="+mn-ea"/>
              <a:cs typeface="+mn-cs"/>
            </a:endParaRPr>
          </a:p>
        </p:txBody>
      </p:sp>
      <p:pic>
        <p:nvPicPr>
          <p:cNvPr id="10" name="Picture 7"/>
          <p:cNvPicPr>
            <a:picLocks noGrp="1" noChangeAspect="1" noChangeArrowheads="1"/>
          </p:cNvPicPr>
          <p:nvPr>
            <p:ph sz="quarter" idx="2"/>
          </p:nvPr>
        </p:nvPicPr>
        <p:blipFill>
          <a:blip r:embed="rId2" cstate="print"/>
          <a:srcRect/>
          <a:stretch>
            <a:fillRect/>
          </a:stretch>
        </p:blipFill>
        <p:spPr bwMode="auto">
          <a:xfrm>
            <a:off x="5098173" y="1444203"/>
            <a:ext cx="3744944" cy="4793109"/>
          </a:xfrm>
          <a:prstGeom prst="rect">
            <a:avLst/>
          </a:prstGeom>
          <a:noFill/>
          <a:ln w="9525">
            <a:noFill/>
            <a:miter lim="800000"/>
            <a:headEnd/>
            <a:tailEnd/>
          </a:ln>
        </p:spPr>
      </p:pic>
      <p:sp>
        <p:nvSpPr>
          <p:cNvPr id="11" name="Rechteck 10">
            <a:extLst>
              <a:ext uri="{FF2B5EF4-FFF2-40B4-BE49-F238E27FC236}">
                <a16:creationId xmlns:a16="http://schemas.microsoft.com/office/drawing/2014/main" id="{86BF3754-EFCC-4341-A314-55628AB10D52}"/>
              </a:ext>
            </a:extLst>
          </p:cNvPr>
          <p:cNvSpPr/>
          <p:nvPr/>
        </p:nvSpPr>
        <p:spPr>
          <a:xfrm>
            <a:off x="5698509" y="76200"/>
            <a:ext cx="2825710" cy="461665"/>
          </a:xfrm>
          <a:prstGeom prst="rect">
            <a:avLst/>
          </a:prstGeom>
        </p:spPr>
        <p:txBody>
          <a:bodyPr wrap="none">
            <a:spAutoFit/>
          </a:bodyPr>
          <a:lstStyle/>
          <a:p>
            <a:r>
              <a:rPr lang="en-US" sz="2400" dirty="0">
                <a:solidFill>
                  <a:srgbClr val="1177D1"/>
                </a:solidFill>
                <a:highlight>
                  <a:srgbClr val="00FF00"/>
                </a:highlight>
                <a:latin typeface="-apple-system"/>
                <a:hlinkClick r:id="rId3"/>
              </a:rPr>
              <a:t>https://bit.ly/ibn_hd</a:t>
            </a:r>
            <a:r>
              <a:rPr lang="en-US" sz="2400" dirty="0">
                <a:solidFill>
                  <a:srgbClr val="1177D1"/>
                </a:solidFill>
                <a:highlight>
                  <a:srgbClr val="00FF00"/>
                </a:highlight>
                <a:latin typeface="-apple-system"/>
              </a:rPr>
              <a:t> </a:t>
            </a:r>
            <a:endParaRPr lang="en-US" sz="2400" dirty="0">
              <a:highlight>
                <a:srgbClr val="00FF00"/>
              </a:highlight>
            </a:endParaRPr>
          </a:p>
        </p:txBody>
      </p:sp>
    </p:spTree>
    <p:extLst>
      <p:ext uri="{BB962C8B-B14F-4D97-AF65-F5344CB8AC3E}">
        <p14:creationId xmlns:p14="http://schemas.microsoft.com/office/powerpoint/2010/main" val="1636472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20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fade">
                                      <p:cBhvr>
                                        <p:cTn id="12" dur="2000"/>
                                        <p:tgtEl>
                                          <p:spTgt spid="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Mehrere Instanzen pro Typ – Definitionen</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24</a:t>
            </a:fld>
            <a:endParaRPr lang="en-US" noProof="0" dirty="0"/>
          </a:p>
        </p:txBody>
      </p:sp>
      <p:sp>
        <p:nvSpPr>
          <p:cNvPr id="4" name="Inhaltsplatzhalter 3"/>
          <p:cNvSpPr>
            <a:spLocks noGrp="1"/>
          </p:cNvSpPr>
          <p:nvPr>
            <p:ph sz="quarter" idx="1"/>
          </p:nvPr>
        </p:nvSpPr>
        <p:spPr/>
        <p:txBody>
          <a:bodyPr>
            <a:normAutofit/>
          </a:bodyPr>
          <a:lstStyle/>
          <a:p>
            <a:r>
              <a:rPr lang="de-DE" b="1" dirty="0">
                <a:solidFill>
                  <a:srgbClr val="FF0000"/>
                </a:solidFill>
              </a:rPr>
              <a:t>Aktuelle Belegungsmatrix </a:t>
            </a:r>
            <a:r>
              <a:rPr lang="de-DE" dirty="0"/>
              <a:t>(</a:t>
            </a:r>
            <a:r>
              <a:rPr lang="de-DE" b="1" dirty="0" err="1">
                <a:solidFill>
                  <a:srgbClr val="FF0000"/>
                </a:solidFill>
              </a:rPr>
              <a:t>current</a:t>
            </a:r>
            <a:r>
              <a:rPr lang="de-DE" b="1" dirty="0">
                <a:solidFill>
                  <a:srgbClr val="FF0000"/>
                </a:solidFill>
              </a:rPr>
              <a:t> </a:t>
            </a:r>
            <a:r>
              <a:rPr lang="de-DE" b="1" dirty="0" err="1">
                <a:solidFill>
                  <a:srgbClr val="FF0000"/>
                </a:solidFill>
              </a:rPr>
              <a:t>allocation</a:t>
            </a:r>
            <a:r>
              <a:rPr lang="de-DE" b="1" dirty="0">
                <a:solidFill>
                  <a:srgbClr val="FF0000"/>
                </a:solidFill>
              </a:rPr>
              <a:t> </a:t>
            </a:r>
            <a:r>
              <a:rPr lang="de-DE" b="1" dirty="0" err="1">
                <a:solidFill>
                  <a:srgbClr val="FF0000"/>
                </a:solidFill>
              </a:rPr>
              <a:t>matrix</a:t>
            </a:r>
            <a:r>
              <a:rPr lang="de-DE" dirty="0"/>
              <a:t>) </a:t>
            </a:r>
            <a:r>
              <a:rPr lang="de-DE" b="1" dirty="0">
                <a:solidFill>
                  <a:srgbClr val="0070C0"/>
                </a:solidFill>
              </a:rPr>
              <a:t>C</a:t>
            </a:r>
          </a:p>
          <a:p>
            <a:pPr lvl="1"/>
            <a:r>
              <a:rPr lang="de-DE" dirty="0"/>
              <a:t>Der Eintrag </a:t>
            </a:r>
            <a:r>
              <a:rPr lang="de-DE" b="1" dirty="0" err="1">
                <a:solidFill>
                  <a:srgbClr val="0070C0"/>
                </a:solidFill>
              </a:rPr>
              <a:t>C</a:t>
            </a:r>
            <a:r>
              <a:rPr lang="de-DE" b="1" baseline="-25000" dirty="0" err="1">
                <a:solidFill>
                  <a:srgbClr val="0070C0"/>
                </a:solidFill>
              </a:rPr>
              <a:t>i,j</a:t>
            </a:r>
            <a:r>
              <a:rPr lang="de-DE" dirty="0">
                <a:solidFill>
                  <a:srgbClr val="0070C0"/>
                </a:solidFill>
              </a:rPr>
              <a:t> </a:t>
            </a:r>
            <a:r>
              <a:rPr lang="de-DE" dirty="0"/>
              <a:t>ist die Anzahl der </a:t>
            </a:r>
            <a:r>
              <a:rPr lang="de-DE" dirty="0">
                <a:solidFill>
                  <a:srgbClr val="0070C0"/>
                </a:solidFill>
              </a:rPr>
              <a:t>Ressourcen</a:t>
            </a:r>
            <a:r>
              <a:rPr lang="de-DE" dirty="0"/>
              <a:t> vom Typ </a:t>
            </a:r>
            <a:r>
              <a:rPr lang="de-DE" dirty="0">
                <a:solidFill>
                  <a:srgbClr val="0070C0"/>
                </a:solidFill>
              </a:rPr>
              <a:t>j</a:t>
            </a:r>
            <a:r>
              <a:rPr lang="de-DE" dirty="0"/>
              <a:t>, die </a:t>
            </a:r>
            <a:r>
              <a:rPr lang="de-DE" dirty="0">
                <a:solidFill>
                  <a:srgbClr val="0070C0"/>
                </a:solidFill>
              </a:rPr>
              <a:t>Prozess i </a:t>
            </a:r>
            <a:r>
              <a:rPr lang="de-DE" dirty="0"/>
              <a:t>aktuell belegt</a:t>
            </a:r>
          </a:p>
          <a:p>
            <a:r>
              <a:rPr lang="de-DE" dirty="0"/>
              <a:t>Was gibt die i-</a:t>
            </a:r>
            <a:r>
              <a:rPr lang="de-DE" dirty="0" err="1"/>
              <a:t>te</a:t>
            </a:r>
            <a:r>
              <a:rPr lang="de-DE" dirty="0"/>
              <a:t> Zeile / was die j-</a:t>
            </a:r>
            <a:r>
              <a:rPr lang="de-DE" dirty="0" err="1"/>
              <a:t>te</a:t>
            </a:r>
            <a:r>
              <a:rPr lang="de-DE" dirty="0"/>
              <a:t> Spalte an?</a:t>
            </a:r>
          </a:p>
          <a:p>
            <a:endParaRPr lang="de-DE" dirty="0"/>
          </a:p>
          <a:p>
            <a:endParaRPr lang="de-DE" dirty="0"/>
          </a:p>
        </p:txBody>
      </p:sp>
      <p:sp>
        <p:nvSpPr>
          <p:cNvPr id="15" name="Inhaltsplatzhalter 14"/>
          <p:cNvSpPr>
            <a:spLocks noGrp="1"/>
          </p:cNvSpPr>
          <p:nvPr>
            <p:ph sz="quarter" idx="13"/>
          </p:nvPr>
        </p:nvSpPr>
        <p:spPr>
          <a:xfrm>
            <a:off x="467544" y="3645024"/>
            <a:ext cx="3600400" cy="2713856"/>
          </a:xfrm>
        </p:spPr>
        <p:txBody>
          <a:bodyPr>
            <a:normAutofit/>
          </a:bodyPr>
          <a:lstStyle/>
          <a:p>
            <a:r>
              <a:rPr lang="de-DE" dirty="0">
                <a:solidFill>
                  <a:srgbClr val="0070C0"/>
                </a:solidFill>
              </a:rPr>
              <a:t>Zeile</a:t>
            </a:r>
            <a:r>
              <a:rPr lang="de-DE" dirty="0"/>
              <a:t> </a:t>
            </a:r>
            <a:r>
              <a:rPr lang="de-DE" dirty="0">
                <a:solidFill>
                  <a:srgbClr val="0070C0"/>
                </a:solidFill>
              </a:rPr>
              <a:t>i</a:t>
            </a:r>
            <a:r>
              <a:rPr lang="de-DE" dirty="0"/>
              <a:t> gibt die aktuelle Belegung für </a:t>
            </a:r>
            <a:r>
              <a:rPr lang="de-DE" dirty="0">
                <a:solidFill>
                  <a:srgbClr val="0070C0"/>
                </a:solidFill>
              </a:rPr>
              <a:t>Prozess i</a:t>
            </a:r>
            <a:r>
              <a:rPr lang="de-DE" dirty="0"/>
              <a:t> an</a:t>
            </a:r>
          </a:p>
          <a:p>
            <a:r>
              <a:rPr lang="de-DE" dirty="0">
                <a:solidFill>
                  <a:srgbClr val="0070C0"/>
                </a:solidFill>
              </a:rPr>
              <a:t>Spalte j </a:t>
            </a:r>
            <a:r>
              <a:rPr lang="de-DE" dirty="0"/>
              <a:t>gibt aktuelle Belegung des </a:t>
            </a:r>
            <a:r>
              <a:rPr lang="de-DE" dirty="0">
                <a:solidFill>
                  <a:srgbClr val="0070C0"/>
                </a:solidFill>
              </a:rPr>
              <a:t>Ressourcentyps j</a:t>
            </a:r>
            <a:r>
              <a:rPr lang="de-DE" dirty="0"/>
              <a:t>  an</a:t>
            </a:r>
          </a:p>
          <a:p>
            <a:endParaRPr lang="de-DE" dirty="0"/>
          </a:p>
        </p:txBody>
      </p:sp>
      <p:graphicFrame>
        <p:nvGraphicFramePr>
          <p:cNvPr id="13" name="Tabelle 12"/>
          <p:cNvGraphicFramePr>
            <a:graphicFrameLocks noGrp="1"/>
          </p:cNvGraphicFramePr>
          <p:nvPr/>
        </p:nvGraphicFramePr>
        <p:xfrm>
          <a:off x="4572000" y="3789040"/>
          <a:ext cx="4464496" cy="2275448"/>
        </p:xfrm>
        <a:graphic>
          <a:graphicData uri="http://schemas.openxmlformats.org/drawingml/2006/table">
            <a:tbl>
              <a:tblPr firstRow="1" bandRow="1">
                <a:tableStyleId>{2D5ABB26-0587-4C30-8999-92F81FD0307C}</a:tableStyleId>
              </a:tblPr>
              <a:tblGrid>
                <a:gridCol w="1116124">
                  <a:extLst>
                    <a:ext uri="{9D8B030D-6E8A-4147-A177-3AD203B41FA5}">
                      <a16:colId xmlns:a16="http://schemas.microsoft.com/office/drawing/2014/main" val="20000"/>
                    </a:ext>
                  </a:extLst>
                </a:gridCol>
                <a:gridCol w="1116124">
                  <a:extLst>
                    <a:ext uri="{9D8B030D-6E8A-4147-A177-3AD203B41FA5}">
                      <a16:colId xmlns:a16="http://schemas.microsoft.com/office/drawing/2014/main" val="20001"/>
                    </a:ext>
                  </a:extLst>
                </a:gridCol>
                <a:gridCol w="1116124">
                  <a:extLst>
                    <a:ext uri="{9D8B030D-6E8A-4147-A177-3AD203B41FA5}">
                      <a16:colId xmlns:a16="http://schemas.microsoft.com/office/drawing/2014/main" val="20002"/>
                    </a:ext>
                  </a:extLst>
                </a:gridCol>
                <a:gridCol w="1116124">
                  <a:extLst>
                    <a:ext uri="{9D8B030D-6E8A-4147-A177-3AD203B41FA5}">
                      <a16:colId xmlns:a16="http://schemas.microsoft.com/office/drawing/2014/main" val="20003"/>
                    </a:ext>
                  </a:extLst>
                </a:gridCol>
              </a:tblGrid>
              <a:tr h="568862">
                <a:tc>
                  <a:txBody>
                    <a:bodyPr/>
                    <a:lstStyle/>
                    <a:p>
                      <a:r>
                        <a:rPr lang="de-DE" sz="2400" dirty="0"/>
                        <a:t>C</a:t>
                      </a:r>
                      <a:r>
                        <a:rPr lang="de-DE" sz="2400" baseline="-25000" dirty="0"/>
                        <a:t>11</a:t>
                      </a:r>
                    </a:p>
                  </a:txBody>
                  <a:tcPr/>
                </a:tc>
                <a:tc>
                  <a:txBody>
                    <a:bodyPr/>
                    <a:lstStyle/>
                    <a:p>
                      <a:r>
                        <a:rPr lang="de-DE" sz="2400" dirty="0"/>
                        <a:t>C</a:t>
                      </a:r>
                      <a:r>
                        <a:rPr lang="de-DE" sz="2400" baseline="-25000" dirty="0"/>
                        <a:t>12</a:t>
                      </a:r>
                    </a:p>
                  </a:txBody>
                  <a:tcPr/>
                </a:tc>
                <a:tc>
                  <a:txBody>
                    <a:bodyPr/>
                    <a:lstStyle/>
                    <a:p>
                      <a:r>
                        <a:rPr lang="de-DE" sz="2400" dirty="0"/>
                        <a:t>…</a:t>
                      </a:r>
                    </a:p>
                  </a:txBody>
                  <a:tcPr/>
                </a:tc>
                <a:tc>
                  <a:txBody>
                    <a:bodyPr/>
                    <a:lstStyle/>
                    <a:p>
                      <a:r>
                        <a:rPr lang="de-DE" sz="2400" dirty="0"/>
                        <a:t>C</a:t>
                      </a:r>
                      <a:r>
                        <a:rPr lang="de-DE" sz="2400" baseline="-25000" dirty="0"/>
                        <a:t>1m</a:t>
                      </a:r>
                    </a:p>
                  </a:txBody>
                  <a:tcPr/>
                </a:tc>
                <a:extLst>
                  <a:ext uri="{0D108BD9-81ED-4DB2-BD59-A6C34878D82A}">
                    <a16:rowId xmlns:a16="http://schemas.microsoft.com/office/drawing/2014/main" val="10000"/>
                  </a:ext>
                </a:extLst>
              </a:tr>
              <a:tr h="568862">
                <a:tc>
                  <a:txBody>
                    <a:bodyPr/>
                    <a:lstStyle/>
                    <a:p>
                      <a:r>
                        <a:rPr lang="de-DE" sz="2400" dirty="0"/>
                        <a:t>C</a:t>
                      </a:r>
                      <a:r>
                        <a:rPr lang="de-DE" sz="2400" baseline="-25000" dirty="0"/>
                        <a:t>21</a:t>
                      </a:r>
                    </a:p>
                  </a:txBody>
                  <a:tcPr/>
                </a:tc>
                <a:tc>
                  <a:txBody>
                    <a:bodyPr/>
                    <a:lstStyle/>
                    <a:p>
                      <a:r>
                        <a:rPr lang="de-DE" sz="2400" dirty="0"/>
                        <a:t>C</a:t>
                      </a:r>
                      <a:r>
                        <a:rPr lang="de-DE" sz="2400" baseline="-25000" dirty="0"/>
                        <a:t>22</a:t>
                      </a:r>
                    </a:p>
                  </a:txBody>
                  <a:tcPr/>
                </a:tc>
                <a:tc>
                  <a:txBody>
                    <a:bodyPr/>
                    <a:lstStyle/>
                    <a:p>
                      <a:r>
                        <a:rPr lang="de-DE" sz="2400" dirty="0"/>
                        <a:t>…</a:t>
                      </a:r>
                    </a:p>
                  </a:txBody>
                  <a:tcPr/>
                </a:tc>
                <a:tc>
                  <a:txBody>
                    <a:bodyPr/>
                    <a:lstStyle/>
                    <a:p>
                      <a:r>
                        <a:rPr lang="de-DE" sz="2400" dirty="0"/>
                        <a:t>C</a:t>
                      </a:r>
                      <a:r>
                        <a:rPr lang="de-DE" sz="2400" baseline="-25000" dirty="0"/>
                        <a:t>2m</a:t>
                      </a:r>
                    </a:p>
                  </a:txBody>
                  <a:tcPr/>
                </a:tc>
                <a:extLst>
                  <a:ext uri="{0D108BD9-81ED-4DB2-BD59-A6C34878D82A}">
                    <a16:rowId xmlns:a16="http://schemas.microsoft.com/office/drawing/2014/main" val="10001"/>
                  </a:ext>
                </a:extLst>
              </a:tr>
              <a:tr h="568862">
                <a:tc>
                  <a:txBody>
                    <a:bodyPr/>
                    <a:lstStyle/>
                    <a:p>
                      <a:endParaRPr lang="de-DE" sz="2400" dirty="0"/>
                    </a:p>
                  </a:txBody>
                  <a:tcPr/>
                </a:tc>
                <a:tc>
                  <a:txBody>
                    <a:bodyPr/>
                    <a:lstStyle/>
                    <a:p>
                      <a:endParaRPr lang="de-DE" sz="2400"/>
                    </a:p>
                  </a:txBody>
                  <a:tcPr/>
                </a:tc>
                <a:tc>
                  <a:txBody>
                    <a:bodyPr/>
                    <a:lstStyle/>
                    <a:p>
                      <a:endParaRPr lang="de-DE" sz="2400"/>
                    </a:p>
                  </a:txBody>
                  <a:tcPr/>
                </a:tc>
                <a:tc>
                  <a:txBody>
                    <a:bodyPr/>
                    <a:lstStyle/>
                    <a:p>
                      <a:endParaRPr lang="de-DE" sz="2400"/>
                    </a:p>
                  </a:txBody>
                  <a:tcPr/>
                </a:tc>
                <a:extLst>
                  <a:ext uri="{0D108BD9-81ED-4DB2-BD59-A6C34878D82A}">
                    <a16:rowId xmlns:a16="http://schemas.microsoft.com/office/drawing/2014/main" val="10002"/>
                  </a:ext>
                </a:extLst>
              </a:tr>
              <a:tr h="568862">
                <a:tc>
                  <a:txBody>
                    <a:bodyPr/>
                    <a:lstStyle/>
                    <a:p>
                      <a:r>
                        <a:rPr lang="de-DE" sz="2400" dirty="0"/>
                        <a:t>C</a:t>
                      </a:r>
                      <a:r>
                        <a:rPr lang="de-DE" sz="2400" baseline="-25000" dirty="0"/>
                        <a:t>n1</a:t>
                      </a:r>
                    </a:p>
                  </a:txBody>
                  <a:tcPr/>
                </a:tc>
                <a:tc>
                  <a:txBody>
                    <a:bodyPr/>
                    <a:lstStyle/>
                    <a:p>
                      <a:r>
                        <a:rPr lang="de-DE" sz="2400" dirty="0"/>
                        <a:t>C</a:t>
                      </a:r>
                      <a:r>
                        <a:rPr lang="de-DE" sz="2400" baseline="-25000" dirty="0"/>
                        <a:t>n2</a:t>
                      </a:r>
                    </a:p>
                  </a:txBody>
                  <a:tcPr/>
                </a:tc>
                <a:tc>
                  <a:txBody>
                    <a:bodyPr/>
                    <a:lstStyle/>
                    <a:p>
                      <a:r>
                        <a:rPr lang="de-DE" sz="2400" dirty="0"/>
                        <a:t>…</a:t>
                      </a:r>
                    </a:p>
                  </a:txBody>
                  <a:tcPr/>
                </a:tc>
                <a:tc>
                  <a:txBody>
                    <a:bodyPr/>
                    <a:lstStyle/>
                    <a:p>
                      <a:r>
                        <a:rPr lang="de-DE" sz="2400" dirty="0" err="1"/>
                        <a:t>C</a:t>
                      </a:r>
                      <a:r>
                        <a:rPr lang="de-DE" sz="2400" baseline="-25000" dirty="0" err="1"/>
                        <a:t>nm</a:t>
                      </a:r>
                      <a:endParaRPr lang="de-DE" sz="2400" baseline="-25000" dirty="0"/>
                    </a:p>
                  </a:txBody>
                  <a:tcPr/>
                </a:tc>
                <a:extLst>
                  <a:ext uri="{0D108BD9-81ED-4DB2-BD59-A6C34878D82A}">
                    <a16:rowId xmlns:a16="http://schemas.microsoft.com/office/drawing/2014/main" val="10003"/>
                  </a:ext>
                </a:extLst>
              </a:tr>
            </a:tbl>
          </a:graphicData>
        </a:graphic>
      </p:graphicFrame>
      <p:sp>
        <p:nvSpPr>
          <p:cNvPr id="16" name="Runde Klammer links 15"/>
          <p:cNvSpPr/>
          <p:nvPr/>
        </p:nvSpPr>
        <p:spPr>
          <a:xfrm>
            <a:off x="4499992" y="3717032"/>
            <a:ext cx="216024" cy="2376264"/>
          </a:xfrm>
          <a:prstGeom prst="leftBracket">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17" name="Runde Klammer rechts 16"/>
          <p:cNvSpPr/>
          <p:nvPr/>
        </p:nvSpPr>
        <p:spPr>
          <a:xfrm>
            <a:off x="8676456" y="3717032"/>
            <a:ext cx="144016" cy="2448272"/>
          </a:xfrm>
          <a:prstGeom prst="rightBracket">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Tree>
    <p:extLst>
      <p:ext uri="{BB962C8B-B14F-4D97-AF65-F5344CB8AC3E}">
        <p14:creationId xmlns:p14="http://schemas.microsoft.com/office/powerpoint/2010/main" val="6948785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p:cNvSpPr>
            <a:spLocks noGrp="1"/>
          </p:cNvSpPr>
          <p:nvPr>
            <p:ph type="title"/>
          </p:nvPr>
        </p:nvSpPr>
        <p:spPr/>
        <p:txBody>
          <a:bodyPr/>
          <a:lstStyle/>
          <a:p>
            <a:r>
              <a:rPr lang="de-DE" dirty="0"/>
              <a:t>Beispiel Aktuelle Belegungsmatrix </a:t>
            </a:r>
          </a:p>
        </p:txBody>
      </p:sp>
      <p:sp>
        <p:nvSpPr>
          <p:cNvPr id="3" name="Foliennummernplatzhalter 2"/>
          <p:cNvSpPr>
            <a:spLocks noGrp="1"/>
          </p:cNvSpPr>
          <p:nvPr>
            <p:ph type="sldNum" sz="quarter" idx="12"/>
          </p:nvPr>
        </p:nvSpPr>
        <p:spPr/>
        <p:txBody>
          <a:bodyPr/>
          <a:lstStyle/>
          <a:p>
            <a:fld id="{6C6AE60A-B69C-4790-82F7-3882EDF23186}" type="slidenum">
              <a:rPr lang="de-DE" smtClean="0"/>
              <a:pPr/>
              <a:t>25</a:t>
            </a:fld>
            <a:endParaRPr lang="de-DE"/>
          </a:p>
        </p:txBody>
      </p:sp>
      <p:sp>
        <p:nvSpPr>
          <p:cNvPr id="7" name="Inhaltsplatzhalter 6"/>
          <p:cNvSpPr>
            <a:spLocks noGrp="1"/>
          </p:cNvSpPr>
          <p:nvPr>
            <p:ph sz="quarter" idx="1"/>
          </p:nvPr>
        </p:nvSpPr>
        <p:spPr>
          <a:xfrm>
            <a:off x="457200" y="1219200"/>
            <a:ext cx="4041648" cy="1417712"/>
          </a:xfrm>
        </p:spPr>
        <p:txBody>
          <a:bodyPr>
            <a:normAutofit/>
          </a:bodyPr>
          <a:lstStyle/>
          <a:p>
            <a:r>
              <a:rPr lang="de-DE" sz="2800" dirty="0"/>
              <a:t>Was ist die aktuelle Belegungsmatrix hier?</a:t>
            </a:r>
          </a:p>
        </p:txBody>
      </p:sp>
      <p:pic>
        <p:nvPicPr>
          <p:cNvPr id="10" name="Picture 7"/>
          <p:cNvPicPr>
            <a:picLocks noGrp="1" noChangeAspect="1" noChangeArrowheads="1"/>
          </p:cNvPicPr>
          <p:nvPr>
            <p:ph sz="quarter" idx="2"/>
          </p:nvPr>
        </p:nvPicPr>
        <p:blipFill>
          <a:blip r:embed="rId2" cstate="print"/>
          <a:srcRect/>
          <a:stretch>
            <a:fillRect/>
          </a:stretch>
        </p:blipFill>
        <p:spPr bwMode="auto">
          <a:xfrm>
            <a:off x="5004048" y="1340769"/>
            <a:ext cx="3544454" cy="4536504"/>
          </a:xfrm>
          <a:prstGeom prst="rect">
            <a:avLst/>
          </a:prstGeom>
          <a:noFill/>
          <a:ln w="9525">
            <a:noFill/>
            <a:miter lim="800000"/>
            <a:headEnd/>
            <a:tailEnd/>
          </a:ln>
        </p:spPr>
      </p:pic>
      <p:graphicFrame>
        <p:nvGraphicFramePr>
          <p:cNvPr id="8" name="Tabelle 7"/>
          <p:cNvGraphicFramePr>
            <a:graphicFrameLocks noGrp="1"/>
          </p:cNvGraphicFramePr>
          <p:nvPr/>
        </p:nvGraphicFramePr>
        <p:xfrm>
          <a:off x="1043608" y="2420888"/>
          <a:ext cx="3168352" cy="1944216"/>
        </p:xfrm>
        <a:graphic>
          <a:graphicData uri="http://schemas.openxmlformats.org/drawingml/2006/table">
            <a:tbl>
              <a:tblPr firstRow="1" bandRow="1">
                <a:tableStyleId>{2D5ABB26-0587-4C30-8999-92F81FD0307C}</a:tableStyleId>
              </a:tblPr>
              <a:tblGrid>
                <a:gridCol w="792088">
                  <a:extLst>
                    <a:ext uri="{9D8B030D-6E8A-4147-A177-3AD203B41FA5}">
                      <a16:colId xmlns:a16="http://schemas.microsoft.com/office/drawing/2014/main" val="20000"/>
                    </a:ext>
                  </a:extLst>
                </a:gridCol>
                <a:gridCol w="792088">
                  <a:extLst>
                    <a:ext uri="{9D8B030D-6E8A-4147-A177-3AD203B41FA5}">
                      <a16:colId xmlns:a16="http://schemas.microsoft.com/office/drawing/2014/main" val="20001"/>
                    </a:ext>
                  </a:extLst>
                </a:gridCol>
                <a:gridCol w="792088">
                  <a:extLst>
                    <a:ext uri="{9D8B030D-6E8A-4147-A177-3AD203B41FA5}">
                      <a16:colId xmlns:a16="http://schemas.microsoft.com/office/drawing/2014/main" val="20002"/>
                    </a:ext>
                  </a:extLst>
                </a:gridCol>
                <a:gridCol w="792088">
                  <a:extLst>
                    <a:ext uri="{9D8B030D-6E8A-4147-A177-3AD203B41FA5}">
                      <a16:colId xmlns:a16="http://schemas.microsoft.com/office/drawing/2014/main" val="20003"/>
                    </a:ext>
                  </a:extLst>
                </a:gridCol>
              </a:tblGrid>
              <a:tr h="486054">
                <a:tc>
                  <a:txBody>
                    <a:bodyPr/>
                    <a:lstStyle/>
                    <a:p>
                      <a:r>
                        <a:rPr lang="de-DE" sz="2400" dirty="0"/>
                        <a:t>C</a:t>
                      </a:r>
                      <a:r>
                        <a:rPr lang="de-DE" sz="2400" baseline="-25000" dirty="0"/>
                        <a:t>11</a:t>
                      </a:r>
                    </a:p>
                  </a:txBody>
                  <a:tcPr/>
                </a:tc>
                <a:tc>
                  <a:txBody>
                    <a:bodyPr/>
                    <a:lstStyle/>
                    <a:p>
                      <a:r>
                        <a:rPr lang="de-DE" sz="2400" dirty="0"/>
                        <a:t>C</a:t>
                      </a:r>
                      <a:r>
                        <a:rPr lang="de-DE" sz="2400" baseline="-25000" dirty="0"/>
                        <a:t>12</a:t>
                      </a:r>
                    </a:p>
                  </a:txBody>
                  <a:tcPr/>
                </a:tc>
                <a:tc>
                  <a:txBody>
                    <a:bodyPr/>
                    <a:lstStyle/>
                    <a:p>
                      <a:r>
                        <a:rPr lang="de-DE" sz="2400" dirty="0"/>
                        <a:t>…</a:t>
                      </a:r>
                    </a:p>
                  </a:txBody>
                  <a:tcPr/>
                </a:tc>
                <a:tc>
                  <a:txBody>
                    <a:bodyPr/>
                    <a:lstStyle/>
                    <a:p>
                      <a:r>
                        <a:rPr lang="de-DE" sz="2400" dirty="0"/>
                        <a:t>C</a:t>
                      </a:r>
                      <a:r>
                        <a:rPr lang="de-DE" sz="2400" baseline="-25000" dirty="0"/>
                        <a:t>1m</a:t>
                      </a:r>
                    </a:p>
                  </a:txBody>
                  <a:tcPr/>
                </a:tc>
                <a:extLst>
                  <a:ext uri="{0D108BD9-81ED-4DB2-BD59-A6C34878D82A}">
                    <a16:rowId xmlns:a16="http://schemas.microsoft.com/office/drawing/2014/main" val="10000"/>
                  </a:ext>
                </a:extLst>
              </a:tr>
              <a:tr h="486054">
                <a:tc>
                  <a:txBody>
                    <a:bodyPr/>
                    <a:lstStyle/>
                    <a:p>
                      <a:r>
                        <a:rPr lang="de-DE" sz="2400" dirty="0"/>
                        <a:t>C</a:t>
                      </a:r>
                      <a:r>
                        <a:rPr lang="de-DE" sz="2400" baseline="-25000" dirty="0"/>
                        <a:t>21</a:t>
                      </a:r>
                    </a:p>
                  </a:txBody>
                  <a:tcPr/>
                </a:tc>
                <a:tc>
                  <a:txBody>
                    <a:bodyPr/>
                    <a:lstStyle/>
                    <a:p>
                      <a:r>
                        <a:rPr lang="de-DE" sz="2400" dirty="0"/>
                        <a:t>C</a:t>
                      </a:r>
                      <a:r>
                        <a:rPr lang="de-DE" sz="2400" baseline="-25000" dirty="0"/>
                        <a:t>22</a:t>
                      </a:r>
                    </a:p>
                  </a:txBody>
                  <a:tcPr/>
                </a:tc>
                <a:tc>
                  <a:txBody>
                    <a:bodyPr/>
                    <a:lstStyle/>
                    <a:p>
                      <a:r>
                        <a:rPr lang="de-DE" sz="2400" dirty="0"/>
                        <a:t>…</a:t>
                      </a:r>
                    </a:p>
                  </a:txBody>
                  <a:tcPr/>
                </a:tc>
                <a:tc>
                  <a:txBody>
                    <a:bodyPr/>
                    <a:lstStyle/>
                    <a:p>
                      <a:r>
                        <a:rPr lang="de-DE" sz="2400" dirty="0"/>
                        <a:t>C</a:t>
                      </a:r>
                      <a:r>
                        <a:rPr lang="de-DE" sz="2400" baseline="-25000" dirty="0"/>
                        <a:t>2m</a:t>
                      </a:r>
                    </a:p>
                  </a:txBody>
                  <a:tcPr/>
                </a:tc>
                <a:extLst>
                  <a:ext uri="{0D108BD9-81ED-4DB2-BD59-A6C34878D82A}">
                    <a16:rowId xmlns:a16="http://schemas.microsoft.com/office/drawing/2014/main" val="10001"/>
                  </a:ext>
                </a:extLst>
              </a:tr>
              <a:tr h="486054">
                <a:tc>
                  <a:txBody>
                    <a:bodyPr/>
                    <a:lstStyle/>
                    <a:p>
                      <a:endParaRPr lang="de-DE" sz="2400" dirty="0"/>
                    </a:p>
                  </a:txBody>
                  <a:tcPr/>
                </a:tc>
                <a:tc>
                  <a:txBody>
                    <a:bodyPr/>
                    <a:lstStyle/>
                    <a:p>
                      <a:endParaRPr lang="de-DE" sz="2400"/>
                    </a:p>
                  </a:txBody>
                  <a:tcPr/>
                </a:tc>
                <a:tc>
                  <a:txBody>
                    <a:bodyPr/>
                    <a:lstStyle/>
                    <a:p>
                      <a:endParaRPr lang="de-DE" sz="2400"/>
                    </a:p>
                  </a:txBody>
                  <a:tcPr/>
                </a:tc>
                <a:tc>
                  <a:txBody>
                    <a:bodyPr/>
                    <a:lstStyle/>
                    <a:p>
                      <a:endParaRPr lang="de-DE" sz="2400"/>
                    </a:p>
                  </a:txBody>
                  <a:tcPr/>
                </a:tc>
                <a:extLst>
                  <a:ext uri="{0D108BD9-81ED-4DB2-BD59-A6C34878D82A}">
                    <a16:rowId xmlns:a16="http://schemas.microsoft.com/office/drawing/2014/main" val="10002"/>
                  </a:ext>
                </a:extLst>
              </a:tr>
              <a:tr h="486054">
                <a:tc>
                  <a:txBody>
                    <a:bodyPr/>
                    <a:lstStyle/>
                    <a:p>
                      <a:r>
                        <a:rPr lang="de-DE" sz="2400" dirty="0"/>
                        <a:t>C</a:t>
                      </a:r>
                      <a:r>
                        <a:rPr lang="de-DE" sz="2400" baseline="-25000" dirty="0"/>
                        <a:t>n1</a:t>
                      </a:r>
                    </a:p>
                  </a:txBody>
                  <a:tcPr/>
                </a:tc>
                <a:tc>
                  <a:txBody>
                    <a:bodyPr/>
                    <a:lstStyle/>
                    <a:p>
                      <a:r>
                        <a:rPr lang="de-DE" sz="2400" dirty="0"/>
                        <a:t>C</a:t>
                      </a:r>
                      <a:r>
                        <a:rPr lang="de-DE" sz="2400" baseline="-25000" dirty="0"/>
                        <a:t>n2</a:t>
                      </a:r>
                    </a:p>
                  </a:txBody>
                  <a:tcPr/>
                </a:tc>
                <a:tc>
                  <a:txBody>
                    <a:bodyPr/>
                    <a:lstStyle/>
                    <a:p>
                      <a:r>
                        <a:rPr lang="de-DE" sz="2400" dirty="0"/>
                        <a:t>…</a:t>
                      </a:r>
                    </a:p>
                  </a:txBody>
                  <a:tcPr/>
                </a:tc>
                <a:tc>
                  <a:txBody>
                    <a:bodyPr/>
                    <a:lstStyle/>
                    <a:p>
                      <a:r>
                        <a:rPr lang="de-DE" sz="2400" dirty="0" err="1"/>
                        <a:t>C</a:t>
                      </a:r>
                      <a:r>
                        <a:rPr lang="de-DE" sz="2400" baseline="-25000" dirty="0" err="1"/>
                        <a:t>nm</a:t>
                      </a:r>
                      <a:endParaRPr lang="de-DE" sz="2400" baseline="-25000" dirty="0"/>
                    </a:p>
                  </a:txBody>
                  <a:tcPr/>
                </a:tc>
                <a:extLst>
                  <a:ext uri="{0D108BD9-81ED-4DB2-BD59-A6C34878D82A}">
                    <a16:rowId xmlns:a16="http://schemas.microsoft.com/office/drawing/2014/main" val="10003"/>
                  </a:ext>
                </a:extLst>
              </a:tr>
            </a:tbl>
          </a:graphicData>
        </a:graphic>
      </p:graphicFrame>
      <p:sp>
        <p:nvSpPr>
          <p:cNvPr id="11" name="Runde Klammer links 10"/>
          <p:cNvSpPr/>
          <p:nvPr/>
        </p:nvSpPr>
        <p:spPr>
          <a:xfrm>
            <a:off x="971600" y="2348880"/>
            <a:ext cx="153307" cy="2030356"/>
          </a:xfrm>
          <a:prstGeom prst="leftBracket">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12" name="Runde Klammer rechts 11"/>
          <p:cNvSpPr/>
          <p:nvPr/>
        </p:nvSpPr>
        <p:spPr>
          <a:xfrm>
            <a:off x="4067944" y="2348880"/>
            <a:ext cx="102205" cy="2091882"/>
          </a:xfrm>
          <a:prstGeom prst="rightBracket">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graphicFrame>
        <p:nvGraphicFramePr>
          <p:cNvPr id="13" name="Tabelle 12"/>
          <p:cNvGraphicFramePr>
            <a:graphicFrameLocks noGrp="1"/>
          </p:cNvGraphicFramePr>
          <p:nvPr/>
        </p:nvGraphicFramePr>
        <p:xfrm>
          <a:off x="1979712" y="4653136"/>
          <a:ext cx="1584176" cy="1944216"/>
        </p:xfrm>
        <a:graphic>
          <a:graphicData uri="http://schemas.openxmlformats.org/drawingml/2006/table">
            <a:tbl>
              <a:tblPr firstRow="1" bandRow="1">
                <a:tableStyleId>{2D5ABB26-0587-4C30-8999-92F81FD0307C}</a:tableStyleId>
              </a:tblPr>
              <a:tblGrid>
                <a:gridCol w="792088">
                  <a:extLst>
                    <a:ext uri="{9D8B030D-6E8A-4147-A177-3AD203B41FA5}">
                      <a16:colId xmlns:a16="http://schemas.microsoft.com/office/drawing/2014/main" val="20000"/>
                    </a:ext>
                  </a:extLst>
                </a:gridCol>
                <a:gridCol w="792088">
                  <a:extLst>
                    <a:ext uri="{9D8B030D-6E8A-4147-A177-3AD203B41FA5}">
                      <a16:colId xmlns:a16="http://schemas.microsoft.com/office/drawing/2014/main" val="20001"/>
                    </a:ext>
                  </a:extLst>
                </a:gridCol>
              </a:tblGrid>
              <a:tr h="486054">
                <a:tc>
                  <a:txBody>
                    <a:bodyPr/>
                    <a:lstStyle/>
                    <a:p>
                      <a:r>
                        <a:rPr lang="de-DE" sz="2400" dirty="0"/>
                        <a:t>0</a:t>
                      </a:r>
                      <a:endParaRPr lang="de-DE" sz="2400" baseline="-25000" dirty="0"/>
                    </a:p>
                  </a:txBody>
                  <a:tcPr/>
                </a:tc>
                <a:tc>
                  <a:txBody>
                    <a:bodyPr/>
                    <a:lstStyle/>
                    <a:p>
                      <a:r>
                        <a:rPr lang="de-DE" sz="2400" dirty="0"/>
                        <a:t>1</a:t>
                      </a:r>
                      <a:endParaRPr lang="de-DE" sz="2400" baseline="-25000" dirty="0"/>
                    </a:p>
                  </a:txBody>
                  <a:tcPr/>
                </a:tc>
                <a:extLst>
                  <a:ext uri="{0D108BD9-81ED-4DB2-BD59-A6C34878D82A}">
                    <a16:rowId xmlns:a16="http://schemas.microsoft.com/office/drawing/2014/main" val="10000"/>
                  </a:ext>
                </a:extLst>
              </a:tr>
              <a:tr h="486054">
                <a:tc>
                  <a:txBody>
                    <a:bodyPr/>
                    <a:lstStyle/>
                    <a:p>
                      <a:r>
                        <a:rPr lang="de-DE" sz="2400" baseline="0" dirty="0"/>
                        <a:t>1</a:t>
                      </a:r>
                      <a:endParaRPr lang="de-DE" sz="2400" baseline="-25000" dirty="0"/>
                    </a:p>
                  </a:txBody>
                  <a:tcPr/>
                </a:tc>
                <a:tc>
                  <a:txBody>
                    <a:bodyPr/>
                    <a:lstStyle/>
                    <a:p>
                      <a:r>
                        <a:rPr lang="de-DE" sz="2400" dirty="0"/>
                        <a:t>0</a:t>
                      </a:r>
                      <a:endParaRPr lang="de-DE" sz="2400" baseline="-25000" dirty="0"/>
                    </a:p>
                  </a:txBody>
                  <a:tcPr/>
                </a:tc>
                <a:extLst>
                  <a:ext uri="{0D108BD9-81ED-4DB2-BD59-A6C34878D82A}">
                    <a16:rowId xmlns:a16="http://schemas.microsoft.com/office/drawing/2014/main" val="10001"/>
                  </a:ext>
                </a:extLst>
              </a:tr>
              <a:tr h="486054">
                <a:tc>
                  <a:txBody>
                    <a:bodyPr/>
                    <a:lstStyle/>
                    <a:p>
                      <a:r>
                        <a:rPr lang="de-DE" sz="2400" dirty="0"/>
                        <a:t>1</a:t>
                      </a:r>
                    </a:p>
                  </a:txBody>
                  <a:tcPr/>
                </a:tc>
                <a:tc>
                  <a:txBody>
                    <a:bodyPr/>
                    <a:lstStyle/>
                    <a:p>
                      <a:r>
                        <a:rPr lang="de-DE" sz="2400" dirty="0"/>
                        <a:t>0</a:t>
                      </a:r>
                    </a:p>
                  </a:txBody>
                  <a:tcPr/>
                </a:tc>
                <a:extLst>
                  <a:ext uri="{0D108BD9-81ED-4DB2-BD59-A6C34878D82A}">
                    <a16:rowId xmlns:a16="http://schemas.microsoft.com/office/drawing/2014/main" val="10002"/>
                  </a:ext>
                </a:extLst>
              </a:tr>
              <a:tr h="486054">
                <a:tc>
                  <a:txBody>
                    <a:bodyPr/>
                    <a:lstStyle/>
                    <a:p>
                      <a:r>
                        <a:rPr lang="de-DE" sz="2400" dirty="0"/>
                        <a:t>0</a:t>
                      </a:r>
                      <a:endParaRPr lang="de-DE" sz="2400" baseline="-25000" dirty="0"/>
                    </a:p>
                  </a:txBody>
                  <a:tcPr/>
                </a:tc>
                <a:tc>
                  <a:txBody>
                    <a:bodyPr/>
                    <a:lstStyle/>
                    <a:p>
                      <a:r>
                        <a:rPr lang="de-DE" sz="2400" dirty="0"/>
                        <a:t>1</a:t>
                      </a:r>
                      <a:endParaRPr lang="de-DE" sz="2400" baseline="-25000" dirty="0"/>
                    </a:p>
                  </a:txBody>
                  <a:tcPr/>
                </a:tc>
                <a:extLst>
                  <a:ext uri="{0D108BD9-81ED-4DB2-BD59-A6C34878D82A}">
                    <a16:rowId xmlns:a16="http://schemas.microsoft.com/office/drawing/2014/main" val="10003"/>
                  </a:ext>
                </a:extLst>
              </a:tr>
            </a:tbl>
          </a:graphicData>
        </a:graphic>
      </p:graphicFrame>
      <p:sp>
        <p:nvSpPr>
          <p:cNvPr id="14" name="Runde Klammer links 13"/>
          <p:cNvSpPr/>
          <p:nvPr/>
        </p:nvSpPr>
        <p:spPr>
          <a:xfrm>
            <a:off x="1907704" y="4581128"/>
            <a:ext cx="153307" cy="2030356"/>
          </a:xfrm>
          <a:prstGeom prst="leftBracket">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15" name="Runde Klammer rechts 14"/>
          <p:cNvSpPr/>
          <p:nvPr/>
        </p:nvSpPr>
        <p:spPr>
          <a:xfrm>
            <a:off x="3131840" y="4581128"/>
            <a:ext cx="102205" cy="1944216"/>
          </a:xfrm>
          <a:prstGeom prst="rightBracket">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16" name="Textfeld 15"/>
          <p:cNvSpPr txBox="1"/>
          <p:nvPr/>
        </p:nvSpPr>
        <p:spPr>
          <a:xfrm>
            <a:off x="755576" y="5229200"/>
            <a:ext cx="543739" cy="461665"/>
          </a:xfrm>
          <a:prstGeom prst="rect">
            <a:avLst/>
          </a:prstGeom>
          <a:noFill/>
        </p:spPr>
        <p:txBody>
          <a:bodyPr wrap="none" rtlCol="0">
            <a:spAutoFit/>
          </a:bodyPr>
          <a:lstStyle/>
          <a:p>
            <a:r>
              <a:rPr lang="de-DE" sz="2400" dirty="0"/>
              <a:t>=&gt;</a:t>
            </a:r>
          </a:p>
        </p:txBody>
      </p:sp>
      <p:sp>
        <p:nvSpPr>
          <p:cNvPr id="17" name="Rechteck 16">
            <a:extLst>
              <a:ext uri="{FF2B5EF4-FFF2-40B4-BE49-F238E27FC236}">
                <a16:creationId xmlns:a16="http://schemas.microsoft.com/office/drawing/2014/main" id="{246B2F45-314F-4AC8-9B86-BEA5ACB29120}"/>
              </a:ext>
            </a:extLst>
          </p:cNvPr>
          <p:cNvSpPr/>
          <p:nvPr/>
        </p:nvSpPr>
        <p:spPr>
          <a:xfrm>
            <a:off x="5698509" y="76200"/>
            <a:ext cx="2825710" cy="461665"/>
          </a:xfrm>
          <a:prstGeom prst="rect">
            <a:avLst/>
          </a:prstGeom>
        </p:spPr>
        <p:txBody>
          <a:bodyPr wrap="none">
            <a:spAutoFit/>
          </a:bodyPr>
          <a:lstStyle/>
          <a:p>
            <a:r>
              <a:rPr lang="en-US" sz="2400" dirty="0">
                <a:solidFill>
                  <a:srgbClr val="1177D1"/>
                </a:solidFill>
                <a:highlight>
                  <a:srgbClr val="00FF00"/>
                </a:highlight>
                <a:latin typeface="-apple-system"/>
                <a:hlinkClick r:id="rId3"/>
              </a:rPr>
              <a:t>https://bit.ly/ibn_hd</a:t>
            </a:r>
            <a:r>
              <a:rPr lang="en-US" sz="2400" dirty="0">
                <a:solidFill>
                  <a:srgbClr val="1177D1"/>
                </a:solidFill>
                <a:highlight>
                  <a:srgbClr val="00FF00"/>
                </a:highlight>
                <a:latin typeface="-apple-system"/>
              </a:rPr>
              <a:t> </a:t>
            </a:r>
            <a:endParaRPr lang="en-US" sz="2400" dirty="0">
              <a:highlight>
                <a:srgbClr val="00FF00"/>
              </a:highlight>
            </a:endParaRPr>
          </a:p>
        </p:txBody>
      </p:sp>
    </p:spTree>
    <p:extLst>
      <p:ext uri="{BB962C8B-B14F-4D97-AF65-F5344CB8AC3E}">
        <p14:creationId xmlns:p14="http://schemas.microsoft.com/office/powerpoint/2010/main" val="4018711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0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00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Anforderungsmatrix</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26</a:t>
            </a:fld>
            <a:endParaRPr lang="en-US" noProof="0" dirty="0"/>
          </a:p>
        </p:txBody>
      </p:sp>
      <p:sp>
        <p:nvSpPr>
          <p:cNvPr id="4" name="Inhaltsplatzhalter 3"/>
          <p:cNvSpPr>
            <a:spLocks noGrp="1"/>
          </p:cNvSpPr>
          <p:nvPr>
            <p:ph sz="quarter" idx="1"/>
          </p:nvPr>
        </p:nvSpPr>
        <p:spPr/>
        <p:txBody>
          <a:bodyPr>
            <a:normAutofit/>
          </a:bodyPr>
          <a:lstStyle/>
          <a:p>
            <a:r>
              <a:rPr lang="de-DE" b="1" dirty="0">
                <a:solidFill>
                  <a:srgbClr val="FF0000"/>
                </a:solidFill>
              </a:rPr>
              <a:t>Anforderungsmatrix </a:t>
            </a:r>
            <a:r>
              <a:rPr lang="de-DE" dirty="0"/>
              <a:t>(</a:t>
            </a:r>
            <a:r>
              <a:rPr lang="de-DE" b="1" dirty="0" err="1">
                <a:solidFill>
                  <a:srgbClr val="FF0000"/>
                </a:solidFill>
              </a:rPr>
              <a:t>request</a:t>
            </a:r>
            <a:r>
              <a:rPr lang="de-DE" b="1" dirty="0">
                <a:solidFill>
                  <a:srgbClr val="FF0000"/>
                </a:solidFill>
              </a:rPr>
              <a:t> </a:t>
            </a:r>
            <a:r>
              <a:rPr lang="de-DE" b="1" dirty="0" err="1">
                <a:solidFill>
                  <a:srgbClr val="FF0000"/>
                </a:solidFill>
              </a:rPr>
              <a:t>matrix</a:t>
            </a:r>
            <a:r>
              <a:rPr lang="de-DE" dirty="0"/>
              <a:t>) </a:t>
            </a:r>
            <a:r>
              <a:rPr lang="de-DE" b="1" dirty="0">
                <a:solidFill>
                  <a:srgbClr val="FF0000"/>
                </a:solidFill>
              </a:rPr>
              <a:t>R</a:t>
            </a:r>
          </a:p>
          <a:p>
            <a:pPr lvl="1"/>
            <a:r>
              <a:rPr lang="de-DE" dirty="0"/>
              <a:t>Der Eintrag </a:t>
            </a:r>
            <a:r>
              <a:rPr lang="de-DE" b="1" dirty="0" err="1">
                <a:solidFill>
                  <a:srgbClr val="FF0000"/>
                </a:solidFill>
              </a:rPr>
              <a:t>R</a:t>
            </a:r>
            <a:r>
              <a:rPr lang="de-DE" b="1" baseline="-25000" dirty="0" err="1">
                <a:solidFill>
                  <a:srgbClr val="FF0000"/>
                </a:solidFill>
              </a:rPr>
              <a:t>ij</a:t>
            </a:r>
            <a:r>
              <a:rPr lang="de-DE" dirty="0"/>
              <a:t> ist die Anzahl der Ressourcen der Klasse j, die Prozess i angefordert hat (aber noch nicht belegt)</a:t>
            </a:r>
          </a:p>
          <a:p>
            <a:r>
              <a:rPr lang="de-DE" dirty="0"/>
              <a:t>Was gibt die i-</a:t>
            </a:r>
            <a:r>
              <a:rPr lang="de-DE" dirty="0" err="1"/>
              <a:t>te</a:t>
            </a:r>
            <a:r>
              <a:rPr lang="de-DE" dirty="0"/>
              <a:t> Zeile / was die j-</a:t>
            </a:r>
            <a:r>
              <a:rPr lang="de-DE" dirty="0" err="1"/>
              <a:t>te</a:t>
            </a:r>
            <a:r>
              <a:rPr lang="de-DE" dirty="0"/>
              <a:t> Spalte an?</a:t>
            </a:r>
          </a:p>
          <a:p>
            <a:endParaRPr lang="de-DE" dirty="0"/>
          </a:p>
          <a:p>
            <a:endParaRPr lang="de-DE" dirty="0"/>
          </a:p>
        </p:txBody>
      </p:sp>
      <p:sp>
        <p:nvSpPr>
          <p:cNvPr id="15" name="Inhaltsplatzhalter 14"/>
          <p:cNvSpPr>
            <a:spLocks noGrp="1"/>
          </p:cNvSpPr>
          <p:nvPr>
            <p:ph sz="quarter" idx="13"/>
          </p:nvPr>
        </p:nvSpPr>
        <p:spPr>
          <a:xfrm>
            <a:off x="467544" y="3356992"/>
            <a:ext cx="4104456" cy="3501008"/>
          </a:xfrm>
        </p:spPr>
        <p:txBody>
          <a:bodyPr>
            <a:normAutofit/>
          </a:bodyPr>
          <a:lstStyle/>
          <a:p>
            <a:r>
              <a:rPr lang="de-DE" dirty="0"/>
              <a:t>Zeile i gibt die Anforderung für </a:t>
            </a:r>
            <a:br>
              <a:rPr lang="de-DE" dirty="0"/>
            </a:br>
            <a:r>
              <a:rPr lang="de-DE" dirty="0">
                <a:solidFill>
                  <a:srgbClr val="0070C0"/>
                </a:solidFill>
              </a:rPr>
              <a:t>Prozess i</a:t>
            </a:r>
            <a:r>
              <a:rPr lang="de-DE" dirty="0"/>
              <a:t> an</a:t>
            </a:r>
          </a:p>
          <a:p>
            <a:r>
              <a:rPr lang="de-DE" dirty="0"/>
              <a:t>Spalte j gibt die ausstehenden Anforderungen an </a:t>
            </a:r>
            <a:r>
              <a:rPr lang="de-DE" dirty="0">
                <a:solidFill>
                  <a:srgbClr val="0070C0"/>
                </a:solidFill>
              </a:rPr>
              <a:t>Instanzen der Ressource von Typ j </a:t>
            </a:r>
            <a:r>
              <a:rPr lang="de-DE" dirty="0"/>
              <a:t>an</a:t>
            </a:r>
          </a:p>
          <a:p>
            <a:endParaRPr lang="de-DE" dirty="0"/>
          </a:p>
        </p:txBody>
      </p:sp>
      <p:graphicFrame>
        <p:nvGraphicFramePr>
          <p:cNvPr id="13" name="Tabelle 12"/>
          <p:cNvGraphicFramePr>
            <a:graphicFrameLocks noGrp="1"/>
          </p:cNvGraphicFramePr>
          <p:nvPr/>
        </p:nvGraphicFramePr>
        <p:xfrm>
          <a:off x="4139952" y="3573016"/>
          <a:ext cx="4464496" cy="2275448"/>
        </p:xfrm>
        <a:graphic>
          <a:graphicData uri="http://schemas.openxmlformats.org/drawingml/2006/table">
            <a:tbl>
              <a:tblPr firstRow="1" bandRow="1">
                <a:tableStyleId>{2D5ABB26-0587-4C30-8999-92F81FD0307C}</a:tableStyleId>
              </a:tblPr>
              <a:tblGrid>
                <a:gridCol w="1116124">
                  <a:extLst>
                    <a:ext uri="{9D8B030D-6E8A-4147-A177-3AD203B41FA5}">
                      <a16:colId xmlns:a16="http://schemas.microsoft.com/office/drawing/2014/main" val="20000"/>
                    </a:ext>
                  </a:extLst>
                </a:gridCol>
                <a:gridCol w="1116124">
                  <a:extLst>
                    <a:ext uri="{9D8B030D-6E8A-4147-A177-3AD203B41FA5}">
                      <a16:colId xmlns:a16="http://schemas.microsoft.com/office/drawing/2014/main" val="20001"/>
                    </a:ext>
                  </a:extLst>
                </a:gridCol>
                <a:gridCol w="1116124">
                  <a:extLst>
                    <a:ext uri="{9D8B030D-6E8A-4147-A177-3AD203B41FA5}">
                      <a16:colId xmlns:a16="http://schemas.microsoft.com/office/drawing/2014/main" val="20002"/>
                    </a:ext>
                  </a:extLst>
                </a:gridCol>
                <a:gridCol w="1116124">
                  <a:extLst>
                    <a:ext uri="{9D8B030D-6E8A-4147-A177-3AD203B41FA5}">
                      <a16:colId xmlns:a16="http://schemas.microsoft.com/office/drawing/2014/main" val="20003"/>
                    </a:ext>
                  </a:extLst>
                </a:gridCol>
              </a:tblGrid>
              <a:tr h="568862">
                <a:tc>
                  <a:txBody>
                    <a:bodyPr/>
                    <a:lstStyle/>
                    <a:p>
                      <a:r>
                        <a:rPr lang="de-DE" sz="2400" dirty="0"/>
                        <a:t>R</a:t>
                      </a:r>
                      <a:r>
                        <a:rPr lang="de-DE" sz="2400" baseline="-25000" dirty="0"/>
                        <a:t>11</a:t>
                      </a:r>
                    </a:p>
                  </a:txBody>
                  <a:tcPr/>
                </a:tc>
                <a:tc>
                  <a:txBody>
                    <a:bodyPr/>
                    <a:lstStyle/>
                    <a:p>
                      <a:r>
                        <a:rPr lang="de-DE" sz="2400" dirty="0"/>
                        <a:t>R</a:t>
                      </a:r>
                      <a:r>
                        <a:rPr lang="de-DE" sz="2400" baseline="-25000" dirty="0"/>
                        <a:t>12</a:t>
                      </a:r>
                    </a:p>
                  </a:txBody>
                  <a:tcPr/>
                </a:tc>
                <a:tc>
                  <a:txBody>
                    <a:bodyPr/>
                    <a:lstStyle/>
                    <a:p>
                      <a:r>
                        <a:rPr lang="de-DE" sz="2400" dirty="0"/>
                        <a:t>…</a:t>
                      </a:r>
                    </a:p>
                  </a:txBody>
                  <a:tcPr/>
                </a:tc>
                <a:tc>
                  <a:txBody>
                    <a:bodyPr/>
                    <a:lstStyle/>
                    <a:p>
                      <a:r>
                        <a:rPr lang="de-DE" sz="2400" dirty="0"/>
                        <a:t>R</a:t>
                      </a:r>
                      <a:r>
                        <a:rPr lang="de-DE" sz="2400" baseline="-25000" dirty="0"/>
                        <a:t>1m</a:t>
                      </a:r>
                    </a:p>
                  </a:txBody>
                  <a:tcPr/>
                </a:tc>
                <a:extLst>
                  <a:ext uri="{0D108BD9-81ED-4DB2-BD59-A6C34878D82A}">
                    <a16:rowId xmlns:a16="http://schemas.microsoft.com/office/drawing/2014/main" val="10000"/>
                  </a:ext>
                </a:extLst>
              </a:tr>
              <a:tr h="568862">
                <a:tc>
                  <a:txBody>
                    <a:bodyPr/>
                    <a:lstStyle/>
                    <a:p>
                      <a:r>
                        <a:rPr lang="de-DE" sz="2400" baseline="0" dirty="0"/>
                        <a:t>R</a:t>
                      </a:r>
                      <a:r>
                        <a:rPr lang="de-DE" sz="2400" baseline="-25000" dirty="0"/>
                        <a:t>21</a:t>
                      </a:r>
                    </a:p>
                  </a:txBody>
                  <a:tcPr/>
                </a:tc>
                <a:tc>
                  <a:txBody>
                    <a:bodyPr/>
                    <a:lstStyle/>
                    <a:p>
                      <a:r>
                        <a:rPr lang="de-DE" sz="2400" baseline="0" dirty="0"/>
                        <a:t>R</a:t>
                      </a:r>
                      <a:r>
                        <a:rPr lang="de-DE" sz="2400" baseline="-25000" dirty="0"/>
                        <a:t>22</a:t>
                      </a:r>
                    </a:p>
                  </a:txBody>
                  <a:tcPr/>
                </a:tc>
                <a:tc>
                  <a:txBody>
                    <a:bodyPr/>
                    <a:lstStyle/>
                    <a:p>
                      <a:r>
                        <a:rPr lang="de-DE" sz="2400" dirty="0"/>
                        <a:t>…</a:t>
                      </a:r>
                    </a:p>
                  </a:txBody>
                  <a:tcPr/>
                </a:tc>
                <a:tc>
                  <a:txBody>
                    <a:bodyPr/>
                    <a:lstStyle/>
                    <a:p>
                      <a:r>
                        <a:rPr lang="de-DE" sz="2400" baseline="0" dirty="0"/>
                        <a:t>R</a:t>
                      </a:r>
                      <a:r>
                        <a:rPr lang="de-DE" sz="2400" baseline="-25000" dirty="0"/>
                        <a:t>2m</a:t>
                      </a:r>
                    </a:p>
                  </a:txBody>
                  <a:tcPr/>
                </a:tc>
                <a:extLst>
                  <a:ext uri="{0D108BD9-81ED-4DB2-BD59-A6C34878D82A}">
                    <a16:rowId xmlns:a16="http://schemas.microsoft.com/office/drawing/2014/main" val="10001"/>
                  </a:ext>
                </a:extLst>
              </a:tr>
              <a:tr h="568862">
                <a:tc>
                  <a:txBody>
                    <a:bodyPr/>
                    <a:lstStyle/>
                    <a:p>
                      <a:endParaRPr lang="de-DE" sz="2400" dirty="0"/>
                    </a:p>
                  </a:txBody>
                  <a:tcPr/>
                </a:tc>
                <a:tc>
                  <a:txBody>
                    <a:bodyPr/>
                    <a:lstStyle/>
                    <a:p>
                      <a:endParaRPr lang="de-DE" sz="2400" dirty="0"/>
                    </a:p>
                  </a:txBody>
                  <a:tcPr/>
                </a:tc>
                <a:tc>
                  <a:txBody>
                    <a:bodyPr/>
                    <a:lstStyle/>
                    <a:p>
                      <a:endParaRPr lang="de-DE" sz="2400"/>
                    </a:p>
                  </a:txBody>
                  <a:tcPr/>
                </a:tc>
                <a:tc>
                  <a:txBody>
                    <a:bodyPr/>
                    <a:lstStyle/>
                    <a:p>
                      <a:endParaRPr lang="de-DE" sz="2400" dirty="0"/>
                    </a:p>
                  </a:txBody>
                  <a:tcPr/>
                </a:tc>
                <a:extLst>
                  <a:ext uri="{0D108BD9-81ED-4DB2-BD59-A6C34878D82A}">
                    <a16:rowId xmlns:a16="http://schemas.microsoft.com/office/drawing/2014/main" val="10002"/>
                  </a:ext>
                </a:extLst>
              </a:tr>
              <a:tr h="568862">
                <a:tc>
                  <a:txBody>
                    <a:bodyPr/>
                    <a:lstStyle/>
                    <a:p>
                      <a:r>
                        <a:rPr lang="de-DE" sz="2400" baseline="0" dirty="0"/>
                        <a:t>R</a:t>
                      </a:r>
                      <a:r>
                        <a:rPr lang="de-DE" sz="2400" baseline="-25000" dirty="0"/>
                        <a:t>n1</a:t>
                      </a:r>
                    </a:p>
                  </a:txBody>
                  <a:tcPr/>
                </a:tc>
                <a:tc>
                  <a:txBody>
                    <a:bodyPr/>
                    <a:lstStyle/>
                    <a:p>
                      <a:r>
                        <a:rPr lang="de-DE" sz="2400" dirty="0"/>
                        <a:t>R</a:t>
                      </a:r>
                      <a:r>
                        <a:rPr lang="de-DE" sz="2400" baseline="-25000" dirty="0"/>
                        <a:t>n2</a:t>
                      </a:r>
                    </a:p>
                  </a:txBody>
                  <a:tcPr/>
                </a:tc>
                <a:tc>
                  <a:txBody>
                    <a:bodyPr/>
                    <a:lstStyle/>
                    <a:p>
                      <a:r>
                        <a:rPr lang="de-DE" sz="2400" dirty="0"/>
                        <a:t>…</a:t>
                      </a:r>
                    </a:p>
                  </a:txBody>
                  <a:tcPr/>
                </a:tc>
                <a:tc>
                  <a:txBody>
                    <a:bodyPr/>
                    <a:lstStyle/>
                    <a:p>
                      <a:r>
                        <a:rPr lang="de-DE" sz="2400" baseline="0" dirty="0" err="1"/>
                        <a:t>R</a:t>
                      </a:r>
                      <a:r>
                        <a:rPr lang="de-DE" sz="2400" baseline="-25000" dirty="0" err="1"/>
                        <a:t>nm</a:t>
                      </a:r>
                      <a:endParaRPr lang="de-DE" sz="2400" baseline="-25000" dirty="0"/>
                    </a:p>
                  </a:txBody>
                  <a:tcPr/>
                </a:tc>
                <a:extLst>
                  <a:ext uri="{0D108BD9-81ED-4DB2-BD59-A6C34878D82A}">
                    <a16:rowId xmlns:a16="http://schemas.microsoft.com/office/drawing/2014/main" val="10003"/>
                  </a:ext>
                </a:extLst>
              </a:tr>
            </a:tbl>
          </a:graphicData>
        </a:graphic>
      </p:graphicFrame>
      <p:sp>
        <p:nvSpPr>
          <p:cNvPr id="16" name="Runde Klammer links 15"/>
          <p:cNvSpPr/>
          <p:nvPr/>
        </p:nvSpPr>
        <p:spPr>
          <a:xfrm>
            <a:off x="3851920" y="3501008"/>
            <a:ext cx="216024" cy="2376264"/>
          </a:xfrm>
          <a:prstGeom prst="leftBracket">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17" name="Runde Klammer rechts 16"/>
          <p:cNvSpPr/>
          <p:nvPr/>
        </p:nvSpPr>
        <p:spPr>
          <a:xfrm>
            <a:off x="8676456" y="3429000"/>
            <a:ext cx="144016" cy="2448272"/>
          </a:xfrm>
          <a:prstGeom prst="rightBracket">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Tree>
    <p:extLst>
      <p:ext uri="{BB962C8B-B14F-4D97-AF65-F5344CB8AC3E}">
        <p14:creationId xmlns:p14="http://schemas.microsoft.com/office/powerpoint/2010/main" val="646656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fade">
                                      <p:cBhvr>
                                        <p:cTn id="7" dur="2000"/>
                                        <p:tgtEl>
                                          <p:spTgt spid="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xEl>
                                              <p:pRg st="1" end="1"/>
                                            </p:txEl>
                                          </p:spTgt>
                                        </p:tgtEl>
                                        <p:attrNameLst>
                                          <p:attrName>style.visibility</p:attrName>
                                        </p:attrNameLst>
                                      </p:cBhvr>
                                      <p:to>
                                        <p:strVal val="visible"/>
                                      </p:to>
                                    </p:set>
                                    <p:animEffect transition="in" filter="fade">
                                      <p:cBhvr>
                                        <p:cTn id="12" dur="2000"/>
                                        <p:tgtEl>
                                          <p:spTgt spid="1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Zusammenfassung: C, R, E, A</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27</a:t>
            </a:fld>
            <a:endParaRPr lang="en-US" noProof="0" dirty="0"/>
          </a:p>
        </p:txBody>
      </p:sp>
      <p:sp>
        <p:nvSpPr>
          <p:cNvPr id="4" name="Inhaltsplatzhalter 3"/>
          <p:cNvSpPr>
            <a:spLocks noGrp="1"/>
          </p:cNvSpPr>
          <p:nvPr>
            <p:ph sz="quarter" idx="1"/>
          </p:nvPr>
        </p:nvSpPr>
        <p:spPr>
          <a:xfrm>
            <a:off x="457200" y="1219200"/>
            <a:ext cx="8229600" cy="5450160"/>
          </a:xfrm>
        </p:spPr>
        <p:txBody>
          <a:bodyPr>
            <a:normAutofit/>
          </a:bodyPr>
          <a:lstStyle/>
          <a:p>
            <a:r>
              <a:rPr lang="de-DE" b="1" dirty="0">
                <a:solidFill>
                  <a:srgbClr val="FF0000"/>
                </a:solidFill>
              </a:rPr>
              <a:t>Aktuelle Belegungsmatrix C</a:t>
            </a:r>
          </a:p>
          <a:p>
            <a:pPr lvl="1"/>
            <a:r>
              <a:rPr lang="de-DE" dirty="0"/>
              <a:t>Der Eintrag </a:t>
            </a:r>
            <a:r>
              <a:rPr lang="de-DE" dirty="0" err="1"/>
              <a:t>C</a:t>
            </a:r>
            <a:r>
              <a:rPr lang="de-DE" baseline="-25000" dirty="0" err="1"/>
              <a:t>ij</a:t>
            </a:r>
            <a:r>
              <a:rPr lang="de-DE" dirty="0"/>
              <a:t> ist die Anzahl der Ressourcen des Typs j, die Prozess i </a:t>
            </a:r>
            <a:r>
              <a:rPr lang="de-DE" dirty="0">
                <a:solidFill>
                  <a:srgbClr val="0070C0"/>
                </a:solidFill>
              </a:rPr>
              <a:t>belegt</a:t>
            </a:r>
          </a:p>
          <a:p>
            <a:r>
              <a:rPr lang="de-DE" b="1" dirty="0">
                <a:solidFill>
                  <a:srgbClr val="FF0000"/>
                </a:solidFill>
              </a:rPr>
              <a:t>Anforderungsmatrix R</a:t>
            </a:r>
          </a:p>
          <a:p>
            <a:pPr lvl="1"/>
            <a:r>
              <a:rPr lang="de-DE" dirty="0"/>
              <a:t>Der Eintrag </a:t>
            </a:r>
            <a:r>
              <a:rPr lang="de-DE" dirty="0" err="1"/>
              <a:t>R</a:t>
            </a:r>
            <a:r>
              <a:rPr lang="de-DE" baseline="-25000" dirty="0" err="1"/>
              <a:t>ij</a:t>
            </a:r>
            <a:r>
              <a:rPr lang="de-DE" dirty="0"/>
              <a:t> ist die Anzahl der Ressourcen des Typs j, die Prozess i </a:t>
            </a:r>
            <a:r>
              <a:rPr lang="de-DE" dirty="0">
                <a:solidFill>
                  <a:srgbClr val="0070C0"/>
                </a:solidFill>
              </a:rPr>
              <a:t>anfordert</a:t>
            </a:r>
          </a:p>
          <a:p>
            <a:endParaRPr lang="de-DE" dirty="0">
              <a:solidFill>
                <a:srgbClr val="0070C0"/>
              </a:solidFill>
            </a:endParaRPr>
          </a:p>
          <a:p>
            <a:endParaRPr lang="de-DE" dirty="0">
              <a:solidFill>
                <a:srgbClr val="0070C0"/>
              </a:solidFill>
            </a:endParaRPr>
          </a:p>
          <a:p>
            <a:endParaRPr lang="de-DE" dirty="0">
              <a:solidFill>
                <a:srgbClr val="0070C0"/>
              </a:solidFill>
            </a:endParaRPr>
          </a:p>
          <a:p>
            <a:endParaRPr lang="de-DE" sz="2800" b="1" dirty="0">
              <a:solidFill>
                <a:srgbClr val="FF0000"/>
              </a:solidFill>
            </a:endParaRPr>
          </a:p>
          <a:p>
            <a:r>
              <a:rPr lang="de-DE" sz="2800" b="1" dirty="0">
                <a:solidFill>
                  <a:srgbClr val="FF0000"/>
                </a:solidFill>
              </a:rPr>
              <a:t>Ressourcenvektor</a:t>
            </a:r>
            <a:r>
              <a:rPr lang="de-DE" sz="2800" b="1" dirty="0">
                <a:solidFill>
                  <a:srgbClr val="0070C0"/>
                </a:solidFill>
              </a:rPr>
              <a:t> (E</a:t>
            </a:r>
            <a:r>
              <a:rPr lang="de-DE" sz="2800" b="1" baseline="-25000" dirty="0">
                <a:solidFill>
                  <a:srgbClr val="0070C0"/>
                </a:solidFill>
              </a:rPr>
              <a:t>1</a:t>
            </a:r>
            <a:r>
              <a:rPr lang="de-DE" sz="2800" b="1" dirty="0">
                <a:solidFill>
                  <a:srgbClr val="0070C0"/>
                </a:solidFill>
              </a:rPr>
              <a:t>, E</a:t>
            </a:r>
            <a:r>
              <a:rPr lang="de-DE" sz="2800" b="1" baseline="-25000" dirty="0">
                <a:solidFill>
                  <a:srgbClr val="0070C0"/>
                </a:solidFill>
              </a:rPr>
              <a:t>2</a:t>
            </a:r>
            <a:r>
              <a:rPr lang="de-DE" sz="2800" b="1" dirty="0">
                <a:solidFill>
                  <a:srgbClr val="0070C0"/>
                </a:solidFill>
              </a:rPr>
              <a:t>, …, </a:t>
            </a:r>
            <a:r>
              <a:rPr lang="de-DE" sz="2800" b="1" dirty="0" err="1">
                <a:solidFill>
                  <a:srgbClr val="0070C0"/>
                </a:solidFill>
              </a:rPr>
              <a:t>E</a:t>
            </a:r>
            <a:r>
              <a:rPr lang="de-DE" sz="2800" b="1" baseline="-25000" dirty="0" err="1">
                <a:solidFill>
                  <a:srgbClr val="0070C0"/>
                </a:solidFill>
              </a:rPr>
              <a:t>m</a:t>
            </a:r>
            <a:r>
              <a:rPr lang="de-DE" sz="2800" b="1" dirty="0">
                <a:solidFill>
                  <a:srgbClr val="0070C0"/>
                </a:solidFill>
              </a:rPr>
              <a:t>)</a:t>
            </a:r>
          </a:p>
          <a:p>
            <a:r>
              <a:rPr lang="de-DE" sz="2800" b="1" dirty="0">
                <a:solidFill>
                  <a:srgbClr val="00B050"/>
                </a:solidFill>
              </a:rPr>
              <a:t>Ressourcen</a:t>
            </a:r>
            <a:r>
              <a:rPr lang="de-DE" sz="2800" b="1" u="sng" dirty="0">
                <a:solidFill>
                  <a:srgbClr val="00B050"/>
                </a:solidFill>
              </a:rPr>
              <a:t>rest</a:t>
            </a:r>
            <a:r>
              <a:rPr lang="de-DE" sz="2800" b="1" dirty="0">
                <a:solidFill>
                  <a:srgbClr val="00B050"/>
                </a:solidFill>
              </a:rPr>
              <a:t>vektor (A</a:t>
            </a:r>
            <a:r>
              <a:rPr lang="de-DE" sz="2800" b="1" baseline="-25000" dirty="0">
                <a:solidFill>
                  <a:srgbClr val="00B050"/>
                </a:solidFill>
              </a:rPr>
              <a:t>1</a:t>
            </a:r>
            <a:r>
              <a:rPr lang="de-DE" sz="2800" b="1" dirty="0">
                <a:solidFill>
                  <a:srgbClr val="00B050"/>
                </a:solidFill>
              </a:rPr>
              <a:t>, A</a:t>
            </a:r>
            <a:r>
              <a:rPr lang="de-DE" sz="2800" b="1" baseline="-25000" dirty="0">
                <a:solidFill>
                  <a:srgbClr val="00B050"/>
                </a:solidFill>
              </a:rPr>
              <a:t>2</a:t>
            </a:r>
            <a:r>
              <a:rPr lang="de-DE" sz="2800" b="1" dirty="0">
                <a:solidFill>
                  <a:srgbClr val="00B050"/>
                </a:solidFill>
              </a:rPr>
              <a:t>, …, A</a:t>
            </a:r>
            <a:r>
              <a:rPr lang="de-DE" sz="2800" b="1" baseline="-25000" dirty="0">
                <a:solidFill>
                  <a:srgbClr val="00B050"/>
                </a:solidFill>
              </a:rPr>
              <a:t>m</a:t>
            </a:r>
            <a:r>
              <a:rPr lang="de-DE" sz="2800" b="1" dirty="0">
                <a:solidFill>
                  <a:srgbClr val="00B050"/>
                </a:solidFill>
              </a:rPr>
              <a:t>)</a:t>
            </a:r>
            <a:endParaRPr lang="de-DE" sz="2800" dirty="0">
              <a:solidFill>
                <a:srgbClr val="00B050"/>
              </a:solidFill>
            </a:endParaRPr>
          </a:p>
          <a:p>
            <a:endParaRPr lang="de-DE" sz="2800" dirty="0">
              <a:solidFill>
                <a:srgbClr val="0070C0"/>
              </a:solidFill>
            </a:endParaRPr>
          </a:p>
        </p:txBody>
      </p:sp>
      <p:pic>
        <p:nvPicPr>
          <p:cNvPr id="4099" name="Picture 3" descr="C:\Artur\Academic\Lehre\10.WS-IBN\VL\figures\vl14\erkennen-matrizen.jpg"/>
          <p:cNvPicPr>
            <a:picLocks noChangeAspect="1" noChangeArrowheads="1"/>
          </p:cNvPicPr>
          <p:nvPr/>
        </p:nvPicPr>
        <p:blipFill>
          <a:blip r:embed="rId2" cstate="print"/>
          <a:srcRect l="5455" t="26582" r="909" b="20255"/>
          <a:stretch>
            <a:fillRect/>
          </a:stretch>
        </p:blipFill>
        <p:spPr bwMode="auto">
          <a:xfrm>
            <a:off x="899592" y="3789040"/>
            <a:ext cx="7416824" cy="1584176"/>
          </a:xfrm>
          <a:prstGeom prst="rect">
            <a:avLst/>
          </a:prstGeom>
          <a:noFill/>
        </p:spPr>
      </p:pic>
      <p:sp>
        <p:nvSpPr>
          <p:cNvPr id="11" name="Freihandform 10"/>
          <p:cNvSpPr/>
          <p:nvPr/>
        </p:nvSpPr>
        <p:spPr>
          <a:xfrm>
            <a:off x="323528" y="1484784"/>
            <a:ext cx="504056" cy="3024335"/>
          </a:xfrm>
          <a:custGeom>
            <a:avLst/>
            <a:gdLst>
              <a:gd name="connsiteX0" fmla="*/ 209176 w 549834"/>
              <a:gd name="connsiteY0" fmla="*/ 0 h 3807012"/>
              <a:gd name="connsiteX1" fmla="*/ 56776 w 549834"/>
              <a:gd name="connsiteY1" fmla="*/ 3173506 h 3807012"/>
              <a:gd name="connsiteX2" fmla="*/ 549834 w 549834"/>
              <a:gd name="connsiteY2" fmla="*/ 3801035 h 3807012"/>
              <a:gd name="connsiteX0" fmla="*/ 236070 w 576728"/>
              <a:gd name="connsiteY0" fmla="*/ 0 h 3801035"/>
              <a:gd name="connsiteX1" fmla="*/ 74705 w 576728"/>
              <a:gd name="connsiteY1" fmla="*/ 2913529 h 3801035"/>
              <a:gd name="connsiteX2" fmla="*/ 83670 w 576728"/>
              <a:gd name="connsiteY2" fmla="*/ 3173506 h 3801035"/>
              <a:gd name="connsiteX3" fmla="*/ 576728 w 576728"/>
              <a:gd name="connsiteY3" fmla="*/ 3801035 h 3801035"/>
              <a:gd name="connsiteX0" fmla="*/ 275904 w 616562"/>
              <a:gd name="connsiteY0" fmla="*/ 207222 h 4008257"/>
              <a:gd name="connsiteX1" fmla="*/ 25400 w 616562"/>
              <a:gd name="connsiteY1" fmla="*/ 528918 h 4008257"/>
              <a:gd name="connsiteX2" fmla="*/ 123504 w 616562"/>
              <a:gd name="connsiteY2" fmla="*/ 3380728 h 4008257"/>
              <a:gd name="connsiteX3" fmla="*/ 616562 w 616562"/>
              <a:gd name="connsiteY3" fmla="*/ 4008257 h 4008257"/>
              <a:gd name="connsiteX0" fmla="*/ 275904 w 616562"/>
              <a:gd name="connsiteY0" fmla="*/ 0 h 3801035"/>
              <a:gd name="connsiteX1" fmla="*/ 25400 w 616562"/>
              <a:gd name="connsiteY1" fmla="*/ 321696 h 3801035"/>
              <a:gd name="connsiteX2" fmla="*/ 123504 w 616562"/>
              <a:gd name="connsiteY2" fmla="*/ 3173506 h 3801035"/>
              <a:gd name="connsiteX3" fmla="*/ 616562 w 616562"/>
              <a:gd name="connsiteY3" fmla="*/ 3801035 h 3801035"/>
              <a:gd name="connsiteX0" fmla="*/ 250504 w 591162"/>
              <a:gd name="connsiteY0" fmla="*/ 0 h 3801035"/>
              <a:gd name="connsiteX1" fmla="*/ 0 w 591162"/>
              <a:gd name="connsiteY1" fmla="*/ 321696 h 3801035"/>
              <a:gd name="connsiteX2" fmla="*/ 98104 w 591162"/>
              <a:gd name="connsiteY2" fmla="*/ 3173506 h 3801035"/>
              <a:gd name="connsiteX3" fmla="*/ 591162 w 591162"/>
              <a:gd name="connsiteY3" fmla="*/ 3801035 h 3801035"/>
              <a:gd name="connsiteX0" fmla="*/ 250504 w 591162"/>
              <a:gd name="connsiteY0" fmla="*/ 0 h 3801035"/>
              <a:gd name="connsiteX1" fmla="*/ 0 w 591162"/>
              <a:gd name="connsiteY1" fmla="*/ 321696 h 3801035"/>
              <a:gd name="connsiteX2" fmla="*/ 98104 w 591162"/>
              <a:gd name="connsiteY2" fmla="*/ 3173506 h 3801035"/>
              <a:gd name="connsiteX3" fmla="*/ 591162 w 591162"/>
              <a:gd name="connsiteY3" fmla="*/ 3801035 h 3801035"/>
              <a:gd name="connsiteX0" fmla="*/ 250504 w 591162"/>
              <a:gd name="connsiteY0" fmla="*/ 0 h 3801035"/>
              <a:gd name="connsiteX1" fmla="*/ 0 w 591162"/>
              <a:gd name="connsiteY1" fmla="*/ 321696 h 3801035"/>
              <a:gd name="connsiteX2" fmla="*/ 72008 w 591162"/>
              <a:gd name="connsiteY2" fmla="*/ 3778080 h 3801035"/>
              <a:gd name="connsiteX3" fmla="*/ 591162 w 591162"/>
              <a:gd name="connsiteY3" fmla="*/ 3801035 h 3801035"/>
              <a:gd name="connsiteX0" fmla="*/ 178496 w 519154"/>
              <a:gd name="connsiteY0" fmla="*/ 0 h 3801035"/>
              <a:gd name="connsiteX1" fmla="*/ 0 w 519154"/>
              <a:gd name="connsiteY1" fmla="*/ 33664 h 3801035"/>
              <a:gd name="connsiteX2" fmla="*/ 0 w 519154"/>
              <a:gd name="connsiteY2" fmla="*/ 3778080 h 3801035"/>
              <a:gd name="connsiteX3" fmla="*/ 519154 w 519154"/>
              <a:gd name="connsiteY3" fmla="*/ 3801035 h 3801035"/>
              <a:gd name="connsiteX0" fmla="*/ 178496 w 519154"/>
              <a:gd name="connsiteY0" fmla="*/ 0 h 3810001"/>
              <a:gd name="connsiteX1" fmla="*/ 0 w 519154"/>
              <a:gd name="connsiteY1" fmla="*/ 33664 h 3810001"/>
              <a:gd name="connsiteX2" fmla="*/ 8166 w 519154"/>
              <a:gd name="connsiteY2" fmla="*/ 3810001 h 3810001"/>
              <a:gd name="connsiteX3" fmla="*/ 519154 w 519154"/>
              <a:gd name="connsiteY3" fmla="*/ 3801035 h 3810001"/>
              <a:gd name="connsiteX0" fmla="*/ 178496 w 519154"/>
              <a:gd name="connsiteY0" fmla="*/ 38344 h 3848345"/>
              <a:gd name="connsiteX1" fmla="*/ 0 w 519154"/>
              <a:gd name="connsiteY1" fmla="*/ 0 h 3848345"/>
              <a:gd name="connsiteX2" fmla="*/ 8166 w 519154"/>
              <a:gd name="connsiteY2" fmla="*/ 3848345 h 3848345"/>
              <a:gd name="connsiteX3" fmla="*/ 519154 w 519154"/>
              <a:gd name="connsiteY3" fmla="*/ 3839379 h 3848345"/>
              <a:gd name="connsiteX0" fmla="*/ 216024 w 519154"/>
              <a:gd name="connsiteY0" fmla="*/ 0 h 3848345"/>
              <a:gd name="connsiteX1" fmla="*/ 0 w 519154"/>
              <a:gd name="connsiteY1" fmla="*/ 0 h 3848345"/>
              <a:gd name="connsiteX2" fmla="*/ 8166 w 519154"/>
              <a:gd name="connsiteY2" fmla="*/ 3848345 h 3848345"/>
              <a:gd name="connsiteX3" fmla="*/ 519154 w 519154"/>
              <a:gd name="connsiteY3" fmla="*/ 3839379 h 3848345"/>
              <a:gd name="connsiteX0" fmla="*/ 216024 w 519154"/>
              <a:gd name="connsiteY0" fmla="*/ 0 h 3839379"/>
              <a:gd name="connsiteX1" fmla="*/ 0 w 519154"/>
              <a:gd name="connsiteY1" fmla="*/ 0 h 3839379"/>
              <a:gd name="connsiteX2" fmla="*/ 0 w 519154"/>
              <a:gd name="connsiteY2" fmla="*/ 3816424 h 3839379"/>
              <a:gd name="connsiteX3" fmla="*/ 519154 w 519154"/>
              <a:gd name="connsiteY3" fmla="*/ 3839379 h 3839379"/>
            </a:gdLst>
            <a:ahLst/>
            <a:cxnLst>
              <a:cxn ang="0">
                <a:pos x="connsiteX0" y="connsiteY0"/>
              </a:cxn>
              <a:cxn ang="0">
                <a:pos x="connsiteX1" y="connsiteY1"/>
              </a:cxn>
              <a:cxn ang="0">
                <a:pos x="connsiteX2" y="connsiteY2"/>
              </a:cxn>
              <a:cxn ang="0">
                <a:pos x="connsiteX3" y="connsiteY3"/>
              </a:cxn>
            </a:cxnLst>
            <a:rect l="l" t="t" r="r" b="b"/>
            <a:pathLst>
              <a:path w="519154" h="3839379">
                <a:moveTo>
                  <a:pt x="216024" y="0"/>
                </a:moveTo>
                <a:lnTo>
                  <a:pt x="0" y="0"/>
                </a:lnTo>
                <a:lnTo>
                  <a:pt x="0" y="3816424"/>
                </a:lnTo>
                <a:lnTo>
                  <a:pt x="519154" y="3839379"/>
                </a:lnTo>
              </a:path>
            </a:pathLst>
          </a:cu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12" name="Freihandform 11"/>
          <p:cNvSpPr/>
          <p:nvPr/>
        </p:nvSpPr>
        <p:spPr>
          <a:xfrm>
            <a:off x="5940152" y="2708920"/>
            <a:ext cx="2880320" cy="1872208"/>
          </a:xfrm>
          <a:custGeom>
            <a:avLst/>
            <a:gdLst>
              <a:gd name="connsiteX0" fmla="*/ 209176 w 549834"/>
              <a:gd name="connsiteY0" fmla="*/ 0 h 3807012"/>
              <a:gd name="connsiteX1" fmla="*/ 56776 w 549834"/>
              <a:gd name="connsiteY1" fmla="*/ 3173506 h 3807012"/>
              <a:gd name="connsiteX2" fmla="*/ 549834 w 549834"/>
              <a:gd name="connsiteY2" fmla="*/ 3801035 h 3807012"/>
              <a:gd name="connsiteX0" fmla="*/ 236070 w 576728"/>
              <a:gd name="connsiteY0" fmla="*/ 0 h 3801035"/>
              <a:gd name="connsiteX1" fmla="*/ 74705 w 576728"/>
              <a:gd name="connsiteY1" fmla="*/ 2913529 h 3801035"/>
              <a:gd name="connsiteX2" fmla="*/ 83670 w 576728"/>
              <a:gd name="connsiteY2" fmla="*/ 3173506 h 3801035"/>
              <a:gd name="connsiteX3" fmla="*/ 576728 w 576728"/>
              <a:gd name="connsiteY3" fmla="*/ 3801035 h 3801035"/>
              <a:gd name="connsiteX0" fmla="*/ 275904 w 616562"/>
              <a:gd name="connsiteY0" fmla="*/ 207222 h 4008257"/>
              <a:gd name="connsiteX1" fmla="*/ 25400 w 616562"/>
              <a:gd name="connsiteY1" fmla="*/ 528918 h 4008257"/>
              <a:gd name="connsiteX2" fmla="*/ 123504 w 616562"/>
              <a:gd name="connsiteY2" fmla="*/ 3380728 h 4008257"/>
              <a:gd name="connsiteX3" fmla="*/ 616562 w 616562"/>
              <a:gd name="connsiteY3" fmla="*/ 4008257 h 4008257"/>
              <a:gd name="connsiteX0" fmla="*/ 275904 w 616562"/>
              <a:gd name="connsiteY0" fmla="*/ 0 h 3801035"/>
              <a:gd name="connsiteX1" fmla="*/ 25400 w 616562"/>
              <a:gd name="connsiteY1" fmla="*/ 321696 h 3801035"/>
              <a:gd name="connsiteX2" fmla="*/ 123504 w 616562"/>
              <a:gd name="connsiteY2" fmla="*/ 3173506 h 3801035"/>
              <a:gd name="connsiteX3" fmla="*/ 616562 w 616562"/>
              <a:gd name="connsiteY3" fmla="*/ 3801035 h 3801035"/>
              <a:gd name="connsiteX0" fmla="*/ 250504 w 591162"/>
              <a:gd name="connsiteY0" fmla="*/ 0 h 3801035"/>
              <a:gd name="connsiteX1" fmla="*/ 0 w 591162"/>
              <a:gd name="connsiteY1" fmla="*/ 321696 h 3801035"/>
              <a:gd name="connsiteX2" fmla="*/ 98104 w 591162"/>
              <a:gd name="connsiteY2" fmla="*/ 3173506 h 3801035"/>
              <a:gd name="connsiteX3" fmla="*/ 591162 w 591162"/>
              <a:gd name="connsiteY3" fmla="*/ 3801035 h 3801035"/>
              <a:gd name="connsiteX0" fmla="*/ 250504 w 591162"/>
              <a:gd name="connsiteY0" fmla="*/ 0 h 3801035"/>
              <a:gd name="connsiteX1" fmla="*/ 0 w 591162"/>
              <a:gd name="connsiteY1" fmla="*/ 321696 h 3801035"/>
              <a:gd name="connsiteX2" fmla="*/ 98104 w 591162"/>
              <a:gd name="connsiteY2" fmla="*/ 3173506 h 3801035"/>
              <a:gd name="connsiteX3" fmla="*/ 591162 w 591162"/>
              <a:gd name="connsiteY3" fmla="*/ 3801035 h 3801035"/>
              <a:gd name="connsiteX0" fmla="*/ 250504 w 591162"/>
              <a:gd name="connsiteY0" fmla="*/ 0 h 3801035"/>
              <a:gd name="connsiteX1" fmla="*/ 0 w 591162"/>
              <a:gd name="connsiteY1" fmla="*/ 321696 h 3801035"/>
              <a:gd name="connsiteX2" fmla="*/ 72008 w 591162"/>
              <a:gd name="connsiteY2" fmla="*/ 3778080 h 3801035"/>
              <a:gd name="connsiteX3" fmla="*/ 591162 w 591162"/>
              <a:gd name="connsiteY3" fmla="*/ 3801035 h 3801035"/>
              <a:gd name="connsiteX0" fmla="*/ 178496 w 519154"/>
              <a:gd name="connsiteY0" fmla="*/ 0 h 3801035"/>
              <a:gd name="connsiteX1" fmla="*/ 0 w 519154"/>
              <a:gd name="connsiteY1" fmla="*/ 33664 h 3801035"/>
              <a:gd name="connsiteX2" fmla="*/ 0 w 519154"/>
              <a:gd name="connsiteY2" fmla="*/ 3778080 h 3801035"/>
              <a:gd name="connsiteX3" fmla="*/ 519154 w 519154"/>
              <a:gd name="connsiteY3" fmla="*/ 3801035 h 3801035"/>
              <a:gd name="connsiteX0" fmla="*/ 178496 w 519154"/>
              <a:gd name="connsiteY0" fmla="*/ 0 h 3810001"/>
              <a:gd name="connsiteX1" fmla="*/ 0 w 519154"/>
              <a:gd name="connsiteY1" fmla="*/ 33664 h 3810001"/>
              <a:gd name="connsiteX2" fmla="*/ 8166 w 519154"/>
              <a:gd name="connsiteY2" fmla="*/ 3810001 h 3810001"/>
              <a:gd name="connsiteX3" fmla="*/ 519154 w 519154"/>
              <a:gd name="connsiteY3" fmla="*/ 3801035 h 3810001"/>
              <a:gd name="connsiteX0" fmla="*/ 0 w 1619672"/>
              <a:gd name="connsiteY0" fmla="*/ 326376 h 3776337"/>
              <a:gd name="connsiteX1" fmla="*/ 1100518 w 1619672"/>
              <a:gd name="connsiteY1" fmla="*/ 0 h 3776337"/>
              <a:gd name="connsiteX2" fmla="*/ 1108684 w 1619672"/>
              <a:gd name="connsiteY2" fmla="*/ 3776337 h 3776337"/>
              <a:gd name="connsiteX3" fmla="*/ 1619672 w 1619672"/>
              <a:gd name="connsiteY3" fmla="*/ 3767371 h 3776337"/>
              <a:gd name="connsiteX0" fmla="*/ 0 w 1619672"/>
              <a:gd name="connsiteY0" fmla="*/ 326376 h 3767371"/>
              <a:gd name="connsiteX1" fmla="*/ 1100518 w 1619672"/>
              <a:gd name="connsiteY1" fmla="*/ 0 h 3767371"/>
              <a:gd name="connsiteX2" fmla="*/ 1296144 w 1619672"/>
              <a:gd name="connsiteY2" fmla="*/ 3134688 h 3767371"/>
              <a:gd name="connsiteX3" fmla="*/ 1619672 w 1619672"/>
              <a:gd name="connsiteY3" fmla="*/ 3767371 h 3767371"/>
              <a:gd name="connsiteX0" fmla="*/ 0 w 1296144"/>
              <a:gd name="connsiteY0" fmla="*/ 326376 h 3134688"/>
              <a:gd name="connsiteX1" fmla="*/ 1100518 w 1296144"/>
              <a:gd name="connsiteY1" fmla="*/ 0 h 3134688"/>
              <a:gd name="connsiteX2" fmla="*/ 1296144 w 1296144"/>
              <a:gd name="connsiteY2" fmla="*/ 3134688 h 3134688"/>
              <a:gd name="connsiteX3" fmla="*/ 936104 w 1296144"/>
              <a:gd name="connsiteY3" fmla="*/ 3134688 h 3134688"/>
              <a:gd name="connsiteX0" fmla="*/ 0 w 1296144"/>
              <a:gd name="connsiteY0" fmla="*/ 0 h 2808312"/>
              <a:gd name="connsiteX1" fmla="*/ 1296144 w 1296144"/>
              <a:gd name="connsiteY1" fmla="*/ 144016 h 2808312"/>
              <a:gd name="connsiteX2" fmla="*/ 1296144 w 1296144"/>
              <a:gd name="connsiteY2" fmla="*/ 2808312 h 2808312"/>
              <a:gd name="connsiteX3" fmla="*/ 936104 w 1296144"/>
              <a:gd name="connsiteY3" fmla="*/ 2808312 h 2808312"/>
              <a:gd name="connsiteX0" fmla="*/ 0 w 1656184"/>
              <a:gd name="connsiteY0" fmla="*/ 0 h 2736304"/>
              <a:gd name="connsiteX1" fmla="*/ 1656184 w 1656184"/>
              <a:gd name="connsiteY1" fmla="*/ 72008 h 2736304"/>
              <a:gd name="connsiteX2" fmla="*/ 1656184 w 1656184"/>
              <a:gd name="connsiteY2" fmla="*/ 2736304 h 2736304"/>
              <a:gd name="connsiteX3" fmla="*/ 1296144 w 1656184"/>
              <a:gd name="connsiteY3" fmla="*/ 2736304 h 2736304"/>
              <a:gd name="connsiteX0" fmla="*/ 0 w 1656184"/>
              <a:gd name="connsiteY0" fmla="*/ 0 h 2736304"/>
              <a:gd name="connsiteX1" fmla="*/ 1656184 w 1656184"/>
              <a:gd name="connsiteY1" fmla="*/ 0 h 2736304"/>
              <a:gd name="connsiteX2" fmla="*/ 1656184 w 1656184"/>
              <a:gd name="connsiteY2" fmla="*/ 2736304 h 2736304"/>
              <a:gd name="connsiteX3" fmla="*/ 1296144 w 1656184"/>
              <a:gd name="connsiteY3" fmla="*/ 2736304 h 2736304"/>
            </a:gdLst>
            <a:ahLst/>
            <a:cxnLst>
              <a:cxn ang="0">
                <a:pos x="connsiteX0" y="connsiteY0"/>
              </a:cxn>
              <a:cxn ang="0">
                <a:pos x="connsiteX1" y="connsiteY1"/>
              </a:cxn>
              <a:cxn ang="0">
                <a:pos x="connsiteX2" y="connsiteY2"/>
              </a:cxn>
              <a:cxn ang="0">
                <a:pos x="connsiteX3" y="connsiteY3"/>
              </a:cxn>
            </a:cxnLst>
            <a:rect l="l" t="t" r="r" b="b"/>
            <a:pathLst>
              <a:path w="1656184" h="2736304">
                <a:moveTo>
                  <a:pt x="0" y="0"/>
                </a:moveTo>
                <a:lnTo>
                  <a:pt x="1656184" y="0"/>
                </a:lnTo>
                <a:lnTo>
                  <a:pt x="1656184" y="2736304"/>
                </a:lnTo>
                <a:lnTo>
                  <a:pt x="1296144" y="2736304"/>
                </a:lnTo>
              </a:path>
            </a:pathLst>
          </a:cu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13" name="Rechteck 12"/>
          <p:cNvSpPr/>
          <p:nvPr/>
        </p:nvSpPr>
        <p:spPr>
          <a:xfrm>
            <a:off x="4572000" y="4293096"/>
            <a:ext cx="792088" cy="12241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6016151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3" name="Picture 3" descr="C:\Artur\Academic\Lehre\10.WS-IBN\VL\figures\vl14\matrix R.jpg"/>
          <p:cNvPicPr>
            <a:picLocks noChangeAspect="1" noChangeArrowheads="1"/>
          </p:cNvPicPr>
          <p:nvPr/>
        </p:nvPicPr>
        <p:blipFill>
          <a:blip r:embed="rId2" cstate="print"/>
          <a:srcRect/>
          <a:stretch>
            <a:fillRect/>
          </a:stretch>
        </p:blipFill>
        <p:spPr bwMode="auto">
          <a:xfrm>
            <a:off x="4932040" y="4293096"/>
            <a:ext cx="3250453" cy="1512168"/>
          </a:xfrm>
          <a:prstGeom prst="rect">
            <a:avLst/>
          </a:prstGeom>
          <a:noFill/>
        </p:spPr>
      </p:pic>
      <p:pic>
        <p:nvPicPr>
          <p:cNvPr id="5122" name="Picture 2" descr="C:\Artur\Academic\Lehre\10.WS-IBN\VL\figures\vl14\matrix C.jpg"/>
          <p:cNvPicPr>
            <a:picLocks noChangeAspect="1" noChangeArrowheads="1"/>
          </p:cNvPicPr>
          <p:nvPr/>
        </p:nvPicPr>
        <p:blipFill>
          <a:blip r:embed="rId3" cstate="print"/>
          <a:srcRect/>
          <a:stretch>
            <a:fillRect/>
          </a:stretch>
        </p:blipFill>
        <p:spPr bwMode="auto">
          <a:xfrm>
            <a:off x="5004048" y="2708920"/>
            <a:ext cx="3109130" cy="1512168"/>
          </a:xfrm>
          <a:prstGeom prst="rect">
            <a:avLst/>
          </a:prstGeom>
          <a:noFill/>
        </p:spPr>
      </p:pic>
      <p:sp>
        <p:nvSpPr>
          <p:cNvPr id="2" name="Titel 1"/>
          <p:cNvSpPr>
            <a:spLocks noGrp="1"/>
          </p:cNvSpPr>
          <p:nvPr>
            <p:ph type="title"/>
          </p:nvPr>
        </p:nvSpPr>
        <p:spPr/>
        <p:txBody>
          <a:bodyPr/>
          <a:lstStyle/>
          <a:p>
            <a:r>
              <a:rPr lang="de-DE" dirty="0"/>
              <a:t>Ein Beispiel</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28</a:t>
            </a:fld>
            <a:endParaRPr lang="en-US" noProof="0" dirty="0"/>
          </a:p>
        </p:txBody>
      </p:sp>
      <p:sp>
        <p:nvSpPr>
          <p:cNvPr id="4" name="Inhaltsplatzhalter 3"/>
          <p:cNvSpPr>
            <a:spLocks noGrp="1"/>
          </p:cNvSpPr>
          <p:nvPr>
            <p:ph sz="quarter" idx="1"/>
          </p:nvPr>
        </p:nvSpPr>
        <p:spPr>
          <a:xfrm>
            <a:off x="457200" y="1219200"/>
            <a:ext cx="8229600" cy="2929880"/>
          </a:xfrm>
        </p:spPr>
        <p:txBody>
          <a:bodyPr>
            <a:normAutofit/>
          </a:bodyPr>
          <a:lstStyle/>
          <a:p>
            <a:r>
              <a:rPr lang="de-DE" dirty="0"/>
              <a:t>Ressourcen sind: 4 Bandlaufwerke, 2 Plotter, 3 Scanner, 1 CD-ROM</a:t>
            </a:r>
          </a:p>
          <a:p>
            <a:r>
              <a:rPr lang="de-DE" dirty="0"/>
              <a:t>E = (4, 2, 3, 1) (gleiche Reihenfolge)</a:t>
            </a:r>
          </a:p>
          <a:p>
            <a:r>
              <a:rPr lang="de-DE" dirty="0"/>
              <a:t>A = (2, 1, 0, 0)</a:t>
            </a:r>
          </a:p>
          <a:p>
            <a:r>
              <a:rPr lang="de-DE" dirty="0"/>
              <a:t>Kann das stimmen </a:t>
            </a:r>
            <a:br>
              <a:rPr lang="de-DE" dirty="0"/>
            </a:br>
            <a:r>
              <a:rPr lang="de-DE" dirty="0"/>
              <a:t>und warum / warum nicht?</a:t>
            </a:r>
          </a:p>
          <a:p>
            <a:endParaRPr lang="de-DE" dirty="0"/>
          </a:p>
          <a:p>
            <a:endParaRPr lang="de-DE" dirty="0"/>
          </a:p>
          <a:p>
            <a:endParaRPr lang="de-DE" dirty="0"/>
          </a:p>
        </p:txBody>
      </p:sp>
      <p:sp>
        <p:nvSpPr>
          <p:cNvPr id="7" name="Inhaltsplatzhalter 6"/>
          <p:cNvSpPr>
            <a:spLocks noGrp="1"/>
          </p:cNvSpPr>
          <p:nvPr>
            <p:ph sz="quarter" idx="13"/>
          </p:nvPr>
        </p:nvSpPr>
        <p:spPr>
          <a:xfrm>
            <a:off x="467544" y="4005064"/>
            <a:ext cx="4608512" cy="2852936"/>
          </a:xfrm>
        </p:spPr>
        <p:txBody>
          <a:bodyPr>
            <a:normAutofit fontScale="92500"/>
          </a:bodyPr>
          <a:lstStyle/>
          <a:p>
            <a:pPr marL="514350" indent="-514350">
              <a:buFont typeface="+mj-lt"/>
              <a:buAutoNum type="arabicPeriod"/>
            </a:pPr>
            <a:r>
              <a:rPr lang="de-DE" dirty="0"/>
              <a:t>Wir können testen, ob die Summe jeder Spalte von C nicht größer als jeweilige Komponente von E ist</a:t>
            </a:r>
          </a:p>
          <a:p>
            <a:pPr marL="514350" indent="-514350">
              <a:buFont typeface="+mj-lt"/>
              <a:buAutoNum type="arabicPeriod"/>
            </a:pPr>
            <a:r>
              <a:rPr lang="de-DE" dirty="0"/>
              <a:t>Vektor der Spaltensummen von C plus A muss E ergeben</a:t>
            </a:r>
          </a:p>
        </p:txBody>
      </p:sp>
    </p:spTree>
    <p:extLst>
      <p:ext uri="{BB962C8B-B14F-4D97-AF65-F5344CB8AC3E}">
        <p14:creationId xmlns:p14="http://schemas.microsoft.com/office/powerpoint/2010/main" val="4225971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2000"/>
                                        <p:tgtEl>
                                          <p:spTgt spid="7">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xEl>
                                              <p:pRg st="1" end="1"/>
                                            </p:txEl>
                                          </p:spTgt>
                                        </p:tgtEl>
                                        <p:attrNameLst>
                                          <p:attrName>style.visibility</p:attrName>
                                        </p:attrNameLst>
                                      </p:cBhvr>
                                      <p:to>
                                        <p:strVal val="visible"/>
                                      </p:to>
                                    </p:set>
                                    <p:animEffect transition="in" filter="fade">
                                      <p:cBhvr>
                                        <p:cTn id="10" dur="20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allAtOnce"/>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6C6AE60A-B69C-4790-82F7-3882EDF23186}" type="slidenum">
              <a:rPr lang="de-DE" smtClean="0"/>
              <a:pPr/>
              <a:t>29</a:t>
            </a:fld>
            <a:endParaRPr lang="de-DE" dirty="0"/>
          </a:p>
        </p:txBody>
      </p:sp>
      <p:sp>
        <p:nvSpPr>
          <p:cNvPr id="3" name="Titel 2"/>
          <p:cNvSpPr>
            <a:spLocks noGrp="1"/>
          </p:cNvSpPr>
          <p:nvPr>
            <p:ph type="title"/>
          </p:nvPr>
        </p:nvSpPr>
        <p:spPr>
          <a:xfrm>
            <a:off x="611560" y="1052735"/>
            <a:ext cx="7930674" cy="2431435"/>
          </a:xfrm>
        </p:spPr>
        <p:txBody>
          <a:bodyPr>
            <a:normAutofit fontScale="90000"/>
          </a:bodyPr>
          <a:lstStyle/>
          <a:p>
            <a:r>
              <a:rPr lang="de-DE" dirty="0"/>
              <a:t>Erkennung von Deadlocks:</a:t>
            </a:r>
            <a:br>
              <a:rPr lang="de-DE" dirty="0"/>
            </a:br>
            <a:r>
              <a:rPr lang="de-DE" dirty="0"/>
              <a:t>Mehrere Instanzen einer Ressource </a:t>
            </a:r>
            <a:br>
              <a:rPr lang="de-DE" dirty="0"/>
            </a:br>
            <a:r>
              <a:rPr lang="de-DE" dirty="0"/>
              <a:t>- Algorithmus</a:t>
            </a:r>
          </a:p>
        </p:txBody>
      </p:sp>
      <p:sp>
        <p:nvSpPr>
          <p:cNvPr id="4" name="Rectangle 3"/>
          <p:cNvSpPr/>
          <p:nvPr/>
        </p:nvSpPr>
        <p:spPr>
          <a:xfrm>
            <a:off x="931156" y="3669931"/>
            <a:ext cx="7272808" cy="2431435"/>
          </a:xfrm>
          <a:prstGeom prst="rect">
            <a:avLst/>
          </a:prstGeom>
        </p:spPr>
        <p:txBody>
          <a:bodyPr wrap="square">
            <a:spAutoFit/>
          </a:bodyPr>
          <a:lstStyle/>
          <a:p>
            <a:r>
              <a:rPr lang="de-DE" sz="2800" dirty="0"/>
              <a:t>Strategien zur Behandlung von Deadlocks:</a:t>
            </a:r>
            <a:endParaRPr lang="de-DE" sz="2000" b="1" dirty="0"/>
          </a:p>
          <a:p>
            <a:pPr marL="285750" indent="-285750">
              <a:buFont typeface="Arial" pitchFamily="34" charset="0"/>
              <a:buChar char="•"/>
            </a:pPr>
            <a:r>
              <a:rPr lang="de-DE" sz="2000" dirty="0">
                <a:solidFill>
                  <a:schemeClr val="bg1">
                    <a:lumMod val="50000"/>
                  </a:schemeClr>
                </a:solidFill>
              </a:rPr>
              <a:t>Einfach ignorieren </a:t>
            </a:r>
          </a:p>
          <a:p>
            <a:pPr marL="285750" indent="-285750">
              <a:buFont typeface="Arial" pitchFamily="34" charset="0"/>
              <a:buChar char="•"/>
            </a:pPr>
            <a:r>
              <a:rPr lang="de-DE" sz="2400" b="1" dirty="0">
                <a:solidFill>
                  <a:srgbClr val="0070C0"/>
                </a:solidFill>
              </a:rPr>
              <a:t>Erkennen und beheben</a:t>
            </a:r>
          </a:p>
          <a:p>
            <a:pPr marL="742950" lvl="1" indent="-285750">
              <a:buFont typeface="Arial" pitchFamily="34" charset="0"/>
              <a:buChar char="•"/>
            </a:pPr>
            <a:r>
              <a:rPr lang="de-DE" sz="2000" dirty="0"/>
              <a:t>Deadlocks zulassen, erkennen und beheben</a:t>
            </a:r>
          </a:p>
          <a:p>
            <a:pPr marL="285750" indent="-285750">
              <a:buFont typeface="Arial" pitchFamily="34" charset="0"/>
              <a:buChar char="•"/>
            </a:pPr>
            <a:r>
              <a:rPr lang="de-DE" sz="2000" b="1" dirty="0">
                <a:solidFill>
                  <a:srgbClr val="FF0000"/>
                </a:solidFill>
              </a:rPr>
              <a:t>Dynamische Verhinderung </a:t>
            </a:r>
          </a:p>
          <a:p>
            <a:pPr marL="742950" lvl="1" indent="-285750">
              <a:buFont typeface="Arial" pitchFamily="34" charset="0"/>
              <a:buChar char="•"/>
            </a:pPr>
            <a:r>
              <a:rPr lang="de-DE" sz="2000" dirty="0"/>
              <a:t>Durch vorsichtige Ressourcenzuteilung</a:t>
            </a:r>
          </a:p>
          <a:p>
            <a:pPr marL="285750" indent="-285750">
              <a:buFont typeface="Arial" pitchFamily="34" charset="0"/>
              <a:buChar char="•"/>
            </a:pPr>
            <a:r>
              <a:rPr lang="de-DE" sz="2000" b="1" dirty="0">
                <a:solidFill>
                  <a:srgbClr val="FF0000"/>
                </a:solidFill>
              </a:rPr>
              <a:t>Vermeidung von Deadlocks</a:t>
            </a:r>
          </a:p>
        </p:txBody>
      </p:sp>
    </p:spTree>
    <p:extLst>
      <p:ext uri="{BB962C8B-B14F-4D97-AF65-F5344CB8AC3E}">
        <p14:creationId xmlns:p14="http://schemas.microsoft.com/office/powerpoint/2010/main" val="7985234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Algorithmus-Idee /1</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30</a:t>
            </a:fld>
            <a:endParaRPr lang="en-US" noProof="0" dirty="0"/>
          </a:p>
        </p:txBody>
      </p:sp>
      <p:sp>
        <p:nvSpPr>
          <p:cNvPr id="4" name="Inhaltsplatzhalter 3"/>
          <p:cNvSpPr>
            <a:spLocks noGrp="1"/>
          </p:cNvSpPr>
          <p:nvPr>
            <p:ph sz="quarter" idx="1"/>
          </p:nvPr>
        </p:nvSpPr>
        <p:spPr>
          <a:xfrm>
            <a:off x="457200" y="1219200"/>
            <a:ext cx="8507288" cy="5378152"/>
          </a:xfrm>
        </p:spPr>
        <p:txBody>
          <a:bodyPr>
            <a:normAutofit lnSpcReduction="10000"/>
          </a:bodyPr>
          <a:lstStyle/>
          <a:p>
            <a:r>
              <a:rPr lang="de-DE" dirty="0"/>
              <a:t>Man nimmt an, dass alle Prozesse „ihre“ Ressourcen behalten, bis sie terminieren</a:t>
            </a:r>
          </a:p>
          <a:p>
            <a:r>
              <a:rPr lang="de-DE" dirty="0"/>
              <a:t>Es wird angenommen, dass ein </a:t>
            </a:r>
            <a:r>
              <a:rPr lang="de-DE" dirty="0">
                <a:solidFill>
                  <a:srgbClr val="0070C0"/>
                </a:solidFill>
              </a:rPr>
              <a:t>Prozess i</a:t>
            </a:r>
            <a:r>
              <a:rPr lang="de-DE" dirty="0"/>
              <a:t>, der die die die gewünschten Ressourcen bekommt, erfolgreich weitermachen kann und irgendwann terminiert </a:t>
            </a:r>
          </a:p>
          <a:p>
            <a:r>
              <a:rPr lang="de-DE" dirty="0"/>
              <a:t>Dadurch gibt </a:t>
            </a:r>
            <a:r>
              <a:rPr lang="de-DE" dirty="0">
                <a:solidFill>
                  <a:srgbClr val="0070C0"/>
                </a:solidFill>
              </a:rPr>
              <a:t>i</a:t>
            </a:r>
            <a:r>
              <a:rPr lang="de-DE" dirty="0"/>
              <a:t> </a:t>
            </a:r>
            <a:r>
              <a:rPr lang="de-DE" u="sng" dirty="0"/>
              <a:t>alle</a:t>
            </a:r>
            <a:r>
              <a:rPr lang="de-DE" dirty="0"/>
              <a:t> Ressourcen frei: </a:t>
            </a:r>
          </a:p>
          <a:p>
            <a:pPr lvl="1"/>
            <a:r>
              <a:rPr lang="de-DE" dirty="0"/>
              <a:t>Die bis jetzt belegten (in </a:t>
            </a:r>
            <a:r>
              <a:rPr lang="de-DE" dirty="0">
                <a:solidFill>
                  <a:srgbClr val="0070C0"/>
                </a:solidFill>
              </a:rPr>
              <a:t>Zeile i</a:t>
            </a:r>
            <a:r>
              <a:rPr lang="de-DE" dirty="0"/>
              <a:t> der Matrix C angegeben) </a:t>
            </a:r>
          </a:p>
          <a:p>
            <a:pPr lvl="1"/>
            <a:r>
              <a:rPr lang="de-DE" dirty="0"/>
              <a:t>Und die neu angeforderten (in </a:t>
            </a:r>
            <a:r>
              <a:rPr lang="de-DE" dirty="0">
                <a:solidFill>
                  <a:srgbClr val="0070C0"/>
                </a:solidFill>
              </a:rPr>
              <a:t>Zeile i </a:t>
            </a:r>
            <a:r>
              <a:rPr lang="de-DE" dirty="0"/>
              <a:t>der Matrix R …) </a:t>
            </a:r>
          </a:p>
          <a:p>
            <a:r>
              <a:rPr lang="de-DE" dirty="0"/>
              <a:t>Dadurch stehen nach der Terminierung von </a:t>
            </a:r>
            <a:r>
              <a:rPr lang="de-DE" dirty="0">
                <a:solidFill>
                  <a:srgbClr val="0070C0"/>
                </a:solidFill>
              </a:rPr>
              <a:t>i </a:t>
            </a:r>
            <a:r>
              <a:rPr lang="de-DE" dirty="0"/>
              <a:t>insgesamt </a:t>
            </a:r>
            <a:r>
              <a:rPr lang="de-DE" u="sng" dirty="0"/>
              <a:t>mehr</a:t>
            </a:r>
            <a:r>
              <a:rPr lang="de-DE" dirty="0"/>
              <a:t> Ressourcen zur Verfügung </a:t>
            </a:r>
          </a:p>
          <a:p>
            <a:pPr lvl="1"/>
            <a:r>
              <a:rPr lang="de-DE" dirty="0"/>
              <a:t>Denn auch die bis jetzt von i belegten werden frei</a:t>
            </a:r>
          </a:p>
          <a:p>
            <a:pPr lvl="1"/>
            <a:r>
              <a:rPr lang="de-DE" dirty="0"/>
              <a:t>Somit erhöht man die Chance, dass auch andere Prozesse erfolgreich terminieren können </a:t>
            </a:r>
          </a:p>
        </p:txBody>
      </p:sp>
    </p:spTree>
    <p:extLst>
      <p:ext uri="{BB962C8B-B14F-4D97-AF65-F5344CB8AC3E}">
        <p14:creationId xmlns:p14="http://schemas.microsoft.com/office/powerpoint/2010/main" val="3261980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Algorithmus-Idee /2</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31</a:t>
            </a:fld>
            <a:endParaRPr lang="en-US" noProof="0" dirty="0"/>
          </a:p>
        </p:txBody>
      </p:sp>
      <p:sp>
        <p:nvSpPr>
          <p:cNvPr id="4" name="Inhaltsplatzhalter 3"/>
          <p:cNvSpPr>
            <a:spLocks noGrp="1"/>
          </p:cNvSpPr>
          <p:nvPr>
            <p:ph sz="quarter" idx="1"/>
          </p:nvPr>
        </p:nvSpPr>
        <p:spPr>
          <a:xfrm>
            <a:off x="457200" y="1219200"/>
            <a:ext cx="8579296" cy="5378152"/>
          </a:xfrm>
        </p:spPr>
        <p:txBody>
          <a:bodyPr>
            <a:normAutofit/>
          </a:bodyPr>
          <a:lstStyle/>
          <a:p>
            <a:r>
              <a:rPr lang="de-DE" dirty="0"/>
              <a:t>Am Anfang gelten alle Prozesse als „</a:t>
            </a:r>
            <a:r>
              <a:rPr lang="de-DE" dirty="0" err="1"/>
              <a:t>unmarkiert</a:t>
            </a:r>
            <a:r>
              <a:rPr lang="de-DE" dirty="0"/>
              <a:t>“</a:t>
            </a:r>
          </a:p>
          <a:p>
            <a:r>
              <a:rPr lang="de-DE" dirty="0"/>
              <a:t>Wiederhole, bis die Suche fehlschlägt:</a:t>
            </a:r>
          </a:p>
          <a:p>
            <a:pPr lvl="1"/>
            <a:r>
              <a:rPr lang="de-DE" dirty="0"/>
              <a:t>Suche nach einem Prozess </a:t>
            </a:r>
            <a:r>
              <a:rPr lang="de-DE" dirty="0">
                <a:solidFill>
                  <a:srgbClr val="0070C0"/>
                </a:solidFill>
              </a:rPr>
              <a:t>i</a:t>
            </a:r>
            <a:r>
              <a:rPr lang="de-DE" dirty="0"/>
              <a:t>, für den die Ressourcen-anfrage ausgeführt werden kann und markiere ihn</a:t>
            </a:r>
          </a:p>
          <a:p>
            <a:pPr lvl="1"/>
            <a:r>
              <a:rPr lang="de-DE" dirty="0"/>
              <a:t>Nehme an, dass er irgendwann terminiert und die aktuell belegten Ressourcen freigibt</a:t>
            </a:r>
          </a:p>
          <a:p>
            <a:pPr lvl="2"/>
            <a:r>
              <a:rPr lang="de-DE" dirty="0"/>
              <a:t>=&gt; Addiere seine aktuell belegten Ressourcen (aus C</a:t>
            </a:r>
            <a:r>
              <a:rPr lang="de-DE" baseline="-25000" dirty="0">
                <a:solidFill>
                  <a:srgbClr val="0070C0"/>
                </a:solidFill>
              </a:rPr>
              <a:t>i</a:t>
            </a:r>
            <a:r>
              <a:rPr lang="de-DE" dirty="0"/>
              <a:t>) zu A</a:t>
            </a:r>
          </a:p>
          <a:p>
            <a:r>
              <a:rPr lang="de-DE" dirty="0"/>
              <a:t>Prüfe zum Schluß: Gibt es noch unmarkierte Prozesse, so haben wir einen Deadlock</a:t>
            </a:r>
          </a:p>
          <a:p>
            <a:pPr lvl="1"/>
            <a:r>
              <a:rPr lang="de-DE" dirty="0"/>
              <a:t>Die unmarkierten Prozesse sind an einem Deadlock beteiligt</a:t>
            </a:r>
          </a:p>
          <a:p>
            <a:r>
              <a:rPr lang="de-DE" dirty="0"/>
              <a:t>Technische Anmerkung:</a:t>
            </a:r>
          </a:p>
          <a:p>
            <a:pPr lvl="1"/>
            <a:r>
              <a:rPr lang="de-DE" dirty="0"/>
              <a:t>Vergleich von Vektoren: </a:t>
            </a:r>
            <a:r>
              <a:rPr lang="de-DE" b="1" dirty="0">
                <a:solidFill>
                  <a:srgbClr val="FF0000"/>
                </a:solidFill>
              </a:rPr>
              <a:t>X </a:t>
            </a:r>
            <a:r>
              <a:rPr lang="de-DE" b="1" dirty="0">
                <a:solidFill>
                  <a:srgbClr val="FF0000"/>
                </a:solidFill>
                <a:sym typeface="Symbol"/>
              </a:rPr>
              <a:t> Y </a:t>
            </a:r>
            <a:r>
              <a:rPr lang="de-DE" b="1" dirty="0" err="1">
                <a:solidFill>
                  <a:srgbClr val="FF0000"/>
                </a:solidFill>
                <a:sym typeface="Symbol"/>
              </a:rPr>
              <a:t>gdw</a:t>
            </a:r>
            <a:r>
              <a:rPr lang="de-DE" b="1" dirty="0">
                <a:solidFill>
                  <a:srgbClr val="FF0000"/>
                </a:solidFill>
                <a:sym typeface="Symbol"/>
              </a:rPr>
              <a:t> </a:t>
            </a:r>
            <a:r>
              <a:rPr lang="de-DE" b="1" dirty="0" err="1">
                <a:solidFill>
                  <a:srgbClr val="FF0000"/>
                </a:solidFill>
                <a:sym typeface="Symbol"/>
              </a:rPr>
              <a:t>X</a:t>
            </a:r>
            <a:r>
              <a:rPr lang="de-DE" b="1" baseline="-25000" dirty="0" err="1">
                <a:solidFill>
                  <a:srgbClr val="FF0000"/>
                </a:solidFill>
                <a:sym typeface="Symbol"/>
              </a:rPr>
              <a:t>i</a:t>
            </a:r>
            <a:r>
              <a:rPr lang="de-DE" b="1" dirty="0">
                <a:solidFill>
                  <a:srgbClr val="FF0000"/>
                </a:solidFill>
                <a:sym typeface="Symbol"/>
              </a:rPr>
              <a:t>  Y</a:t>
            </a:r>
            <a:r>
              <a:rPr lang="de-DE" b="1" baseline="-25000" dirty="0">
                <a:solidFill>
                  <a:srgbClr val="FF0000"/>
                </a:solidFill>
                <a:sym typeface="Symbol"/>
              </a:rPr>
              <a:t>i</a:t>
            </a:r>
            <a:r>
              <a:rPr lang="de-DE" b="1" dirty="0">
                <a:solidFill>
                  <a:srgbClr val="FF0000"/>
                </a:solidFill>
                <a:sym typeface="Symbol"/>
              </a:rPr>
              <a:t> </a:t>
            </a:r>
            <a:r>
              <a:rPr lang="de-DE" dirty="0">
                <a:sym typeface="Symbol"/>
              </a:rPr>
              <a:t>für alle Komponenten (d.h. i = 1,…,m) gilt </a:t>
            </a:r>
            <a:endParaRPr lang="de-DE" dirty="0"/>
          </a:p>
          <a:p>
            <a:endParaRPr lang="de-DE" dirty="0"/>
          </a:p>
        </p:txBody>
      </p:sp>
    </p:spTree>
    <p:extLst>
      <p:ext uri="{BB962C8B-B14F-4D97-AF65-F5344CB8AC3E}">
        <p14:creationId xmlns:p14="http://schemas.microsoft.com/office/powerpoint/2010/main" val="13169519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Algorithmus - </a:t>
            </a:r>
            <a:r>
              <a:rPr lang="de-DE" dirty="0" err="1">
                <a:hlinkClick r:id="rId3"/>
              </a:rPr>
              <a:t>Bankieralgorithmus</a:t>
            </a:r>
            <a:r>
              <a:rPr lang="de-DE" dirty="0"/>
              <a:t> </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32</a:t>
            </a:fld>
            <a:endParaRPr lang="en-US" noProof="0" dirty="0"/>
          </a:p>
        </p:txBody>
      </p:sp>
      <p:sp>
        <p:nvSpPr>
          <p:cNvPr id="4" name="Inhaltsplatzhalter 3"/>
          <p:cNvSpPr>
            <a:spLocks noGrp="1"/>
          </p:cNvSpPr>
          <p:nvPr>
            <p:ph sz="quarter" idx="1"/>
          </p:nvPr>
        </p:nvSpPr>
        <p:spPr>
          <a:xfrm>
            <a:off x="457200" y="1219200"/>
            <a:ext cx="8229600" cy="3649960"/>
          </a:xfrm>
        </p:spPr>
        <p:txBody>
          <a:bodyPr>
            <a:normAutofit fontScale="92500" lnSpcReduction="10000"/>
          </a:bodyPr>
          <a:lstStyle/>
          <a:p>
            <a:pPr marL="457200" indent="-457200">
              <a:buFont typeface="+mj-lt"/>
              <a:buAutoNum type="arabicPeriod"/>
            </a:pPr>
            <a:r>
              <a:rPr lang="de-DE" dirty="0"/>
              <a:t>Suche einen unmarkierten Prozess i, für den die i-te Zeile von R kleiner oder gleich A ist: </a:t>
            </a:r>
            <a:r>
              <a:rPr lang="de-DE" dirty="0">
                <a:solidFill>
                  <a:srgbClr val="FF0000"/>
                </a:solidFill>
              </a:rPr>
              <a:t>R</a:t>
            </a:r>
            <a:r>
              <a:rPr lang="de-DE" baseline="-25000" dirty="0">
                <a:solidFill>
                  <a:srgbClr val="FF0000"/>
                </a:solidFill>
              </a:rPr>
              <a:t>i</a:t>
            </a:r>
            <a:r>
              <a:rPr lang="de-DE" dirty="0">
                <a:solidFill>
                  <a:srgbClr val="FF0000"/>
                </a:solidFill>
              </a:rPr>
              <a:t> </a:t>
            </a:r>
            <a:r>
              <a:rPr lang="de-DE" b="1" dirty="0">
                <a:solidFill>
                  <a:srgbClr val="FF0000"/>
                </a:solidFill>
                <a:sym typeface="Symbol"/>
              </a:rPr>
              <a:t> </a:t>
            </a:r>
            <a:r>
              <a:rPr lang="de-DE" dirty="0">
                <a:solidFill>
                  <a:srgbClr val="FF0000"/>
                </a:solidFill>
                <a:sym typeface="Symbol"/>
              </a:rPr>
              <a:t>A</a:t>
            </a:r>
            <a:endParaRPr lang="de-DE" dirty="0">
              <a:solidFill>
                <a:srgbClr val="FF0000"/>
              </a:solidFill>
            </a:endParaRPr>
          </a:p>
          <a:p>
            <a:pPr marL="457200" indent="-457200">
              <a:buFont typeface="+mj-lt"/>
              <a:buAutoNum type="arabicPeriod"/>
            </a:pPr>
            <a:r>
              <a:rPr lang="de-DE" dirty="0"/>
              <a:t>Wenn ein solcher Prozess existiert:</a:t>
            </a:r>
          </a:p>
          <a:p>
            <a:pPr marL="731520" lvl="1" indent="-457200"/>
            <a:r>
              <a:rPr lang="de-DE" dirty="0"/>
              <a:t>Addiere die i-te Zeile von C zu A: </a:t>
            </a:r>
            <a:r>
              <a:rPr lang="de-DE" dirty="0">
                <a:solidFill>
                  <a:srgbClr val="FF0000"/>
                </a:solidFill>
              </a:rPr>
              <a:t>A = A + C</a:t>
            </a:r>
            <a:r>
              <a:rPr lang="de-DE" baseline="-25000" dirty="0">
                <a:solidFill>
                  <a:srgbClr val="FF0000"/>
                </a:solidFill>
              </a:rPr>
              <a:t>i</a:t>
            </a:r>
            <a:r>
              <a:rPr lang="de-DE" dirty="0"/>
              <a:t> </a:t>
            </a:r>
          </a:p>
          <a:p>
            <a:pPr marL="731520" lvl="1" indent="-457200"/>
            <a:r>
              <a:rPr lang="de-DE" dirty="0"/>
              <a:t>Markiere den Prozess i</a:t>
            </a:r>
          </a:p>
          <a:p>
            <a:pPr marL="731520" lvl="1" indent="-457200"/>
            <a:r>
              <a:rPr lang="de-DE" dirty="0"/>
              <a:t>Gehe zum Schritt 1 zurück</a:t>
            </a:r>
          </a:p>
          <a:p>
            <a:pPr marL="457200" indent="-457200">
              <a:buFont typeface="+mj-lt"/>
              <a:buAutoNum type="arabicPeriod"/>
            </a:pPr>
            <a:r>
              <a:rPr lang="de-DE" dirty="0"/>
              <a:t>Anderenfalls beende den Algorithmus:</a:t>
            </a:r>
          </a:p>
          <a:p>
            <a:pPr marL="731520" lvl="1" indent="-457200"/>
            <a:r>
              <a:rPr lang="de-DE" dirty="0"/>
              <a:t>Falls es noch unmarkierte Prozesse gibt, haben wird ein Deadlock</a:t>
            </a:r>
          </a:p>
          <a:p>
            <a:pPr marL="731520" lvl="1" indent="-457200"/>
            <a:r>
              <a:rPr lang="de-DE" dirty="0"/>
              <a:t>Gibt es keine unmarkierten Prozesse mehr =&gt; kein Deadlock</a:t>
            </a:r>
          </a:p>
          <a:p>
            <a:endParaRPr lang="de-DE" dirty="0"/>
          </a:p>
        </p:txBody>
      </p:sp>
      <p:sp>
        <p:nvSpPr>
          <p:cNvPr id="8" name="Content Placeholder 7"/>
          <p:cNvSpPr>
            <a:spLocks noGrp="1"/>
          </p:cNvSpPr>
          <p:nvPr>
            <p:ph sz="quarter" idx="13"/>
          </p:nvPr>
        </p:nvSpPr>
        <p:spPr>
          <a:xfrm>
            <a:off x="467544" y="4909810"/>
            <a:ext cx="8208912" cy="1633736"/>
          </a:xfrm>
        </p:spPr>
        <p:style>
          <a:lnRef idx="1">
            <a:schemeClr val="accent6"/>
          </a:lnRef>
          <a:fillRef idx="2">
            <a:schemeClr val="accent6"/>
          </a:fillRef>
          <a:effectRef idx="1">
            <a:schemeClr val="accent6"/>
          </a:effectRef>
          <a:fontRef idx="minor">
            <a:schemeClr val="dk1"/>
          </a:fontRef>
        </p:style>
        <p:txBody>
          <a:bodyPr/>
          <a:lstStyle/>
          <a:p>
            <a:pPr marL="0" lvl="2" indent="0">
              <a:spcBef>
                <a:spcPts val="600"/>
              </a:spcBef>
              <a:buClr>
                <a:schemeClr val="accent1"/>
              </a:buClr>
              <a:buNone/>
            </a:pPr>
            <a:r>
              <a:rPr lang="de-DE" dirty="0"/>
              <a:t>Erläuterung zu </a:t>
            </a:r>
            <a:r>
              <a:rPr lang="de-DE" dirty="0">
                <a:solidFill>
                  <a:srgbClr val="FF0000"/>
                </a:solidFill>
              </a:rPr>
              <a:t>A = A + C</a:t>
            </a:r>
            <a:r>
              <a:rPr lang="de-DE" baseline="-25000" dirty="0">
                <a:solidFill>
                  <a:srgbClr val="FF0000"/>
                </a:solidFill>
              </a:rPr>
              <a:t>i</a:t>
            </a:r>
            <a:r>
              <a:rPr lang="de-DE" dirty="0"/>
              <a:t> : Da i nun ausführen und terminieren kann, wird i am Ende alle soeben angeforderten Ressourcen (angegen in R</a:t>
            </a:r>
            <a:r>
              <a:rPr lang="de-DE" baseline="-25000" dirty="0"/>
              <a:t>i</a:t>
            </a:r>
            <a:r>
              <a:rPr lang="de-DE" dirty="0"/>
              <a:t>) zurückgeben </a:t>
            </a:r>
            <a:r>
              <a:rPr lang="de-DE" u="sng" dirty="0"/>
              <a:t>und zusätzlich</a:t>
            </a:r>
            <a:r>
              <a:rPr lang="de-DE" dirty="0"/>
              <a:t> alle noch bis jetzt gehaltenen Ressourcen (angegen in C</a:t>
            </a:r>
            <a:r>
              <a:rPr lang="de-DE" baseline="-25000" dirty="0"/>
              <a:t>i</a:t>
            </a:r>
            <a:r>
              <a:rPr lang="de-DE" dirty="0"/>
              <a:t>). Wir verschmelzen beide Schritte =&gt; damit kann der Ressourcenrestvektor A sofort um C</a:t>
            </a:r>
            <a:r>
              <a:rPr lang="de-DE" baseline="-25000" dirty="0"/>
              <a:t>i</a:t>
            </a:r>
            <a:r>
              <a:rPr lang="de-DE" dirty="0"/>
              <a:t> vergrößert werden! </a:t>
            </a:r>
          </a:p>
          <a:p>
            <a:endParaRPr lang="de-DE" dirty="0"/>
          </a:p>
        </p:txBody>
      </p:sp>
      <p:sp>
        <p:nvSpPr>
          <p:cNvPr id="5" name="Abgerundete rechteckige Legende 4"/>
          <p:cNvSpPr/>
          <p:nvPr/>
        </p:nvSpPr>
        <p:spPr>
          <a:xfrm>
            <a:off x="5724128" y="2996952"/>
            <a:ext cx="1296144" cy="288032"/>
          </a:xfrm>
          <a:prstGeom prst="wedgeRoundRectCallout">
            <a:avLst>
              <a:gd name="adj1" fmla="val -65959"/>
              <a:gd name="adj2" fmla="val -169164"/>
              <a:gd name="adj3" fmla="val 16667"/>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Warum?</a:t>
            </a:r>
          </a:p>
        </p:txBody>
      </p:sp>
    </p:spTree>
    <p:extLst>
      <p:ext uri="{BB962C8B-B14F-4D97-AF65-F5344CB8AC3E}">
        <p14:creationId xmlns:p14="http://schemas.microsoft.com/office/powerpoint/2010/main" val="1468235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bg/>
                                          </p:spTgt>
                                        </p:tgtEl>
                                        <p:attrNameLst>
                                          <p:attrName>style.visibility</p:attrName>
                                        </p:attrNameLst>
                                      </p:cBhvr>
                                      <p:to>
                                        <p:strVal val="visible"/>
                                      </p:to>
                                    </p:set>
                                    <p:animEffect transition="in" filter="fade">
                                      <p:cBhvr>
                                        <p:cTn id="7" dur="500"/>
                                        <p:tgtEl>
                                          <p:spTgt spid="8">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xEl>
                                              <p:pRg st="0" end="0"/>
                                            </p:txEl>
                                          </p:spTgt>
                                        </p:tgtEl>
                                        <p:attrNameLst>
                                          <p:attrName>style.visibility</p:attrName>
                                        </p:attrNameLst>
                                      </p:cBhvr>
                                      <p:to>
                                        <p:strVal val="visible"/>
                                      </p:to>
                                    </p:set>
                                    <p:animEffect transition="in" filter="fade">
                                      <p:cBhvr>
                                        <p:cTn id="10"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t>Woher der Name „Bankieralgorithmus“?</a:t>
            </a:r>
          </a:p>
        </p:txBody>
      </p:sp>
      <p:sp>
        <p:nvSpPr>
          <p:cNvPr id="3" name="Slide Number Placeholder 2"/>
          <p:cNvSpPr>
            <a:spLocks noGrp="1"/>
          </p:cNvSpPr>
          <p:nvPr>
            <p:ph type="sldNum" sz="quarter" idx="12"/>
          </p:nvPr>
        </p:nvSpPr>
        <p:spPr/>
        <p:txBody>
          <a:bodyPr/>
          <a:lstStyle/>
          <a:p>
            <a:fld id="{7183533A-8A50-4A1F-BEA9-C8C6956451EB}" type="slidenum">
              <a:rPr lang="en-US" noProof="0" smtClean="0"/>
              <a:pPr/>
              <a:t>33</a:t>
            </a:fld>
            <a:endParaRPr lang="en-US" noProof="0" dirty="0"/>
          </a:p>
        </p:txBody>
      </p:sp>
      <p:sp>
        <p:nvSpPr>
          <p:cNvPr id="4" name="Content Placeholder 3"/>
          <p:cNvSpPr>
            <a:spLocks noGrp="1"/>
          </p:cNvSpPr>
          <p:nvPr>
            <p:ph sz="quarter" idx="1"/>
          </p:nvPr>
        </p:nvSpPr>
        <p:spPr>
          <a:xfrm>
            <a:off x="457200" y="1219200"/>
            <a:ext cx="8229600" cy="5378152"/>
          </a:xfrm>
        </p:spPr>
        <p:txBody>
          <a:bodyPr>
            <a:normAutofit/>
          </a:bodyPr>
          <a:lstStyle/>
          <a:p>
            <a:r>
              <a:rPr lang="de-DE" dirty="0"/>
              <a:t>Angenommen, mehrere EU-Länder haben Schulden</a:t>
            </a:r>
          </a:p>
          <a:p>
            <a:r>
              <a:rPr lang="de-DE" dirty="0"/>
              <a:t>Sie brauchen aber erstmal </a:t>
            </a:r>
            <a:r>
              <a:rPr lang="de-DE" u="sng" dirty="0"/>
              <a:t>noch mehr</a:t>
            </a:r>
            <a:r>
              <a:rPr lang="de-DE" dirty="0"/>
              <a:t> Geld, um zu überleben und alte Schulden zurückzuzahlen </a:t>
            </a:r>
          </a:p>
          <a:p>
            <a:r>
              <a:rPr lang="de-DE" dirty="0"/>
              <a:t>Die EZB hat nur begrenzte Geldmenge („Vektor A“)</a:t>
            </a:r>
          </a:p>
          <a:p>
            <a:r>
              <a:rPr lang="de-DE" dirty="0"/>
              <a:t>EZB wählt ein Land aus (sagen wir „G“), das </a:t>
            </a:r>
            <a:r>
              <a:rPr lang="de-DE" u="sng" dirty="0"/>
              <a:t>nicht mehr</a:t>
            </a:r>
            <a:r>
              <a:rPr lang="de-DE" dirty="0"/>
              <a:t> braucht als EZB gerade hat, und leiht ihm Geld</a:t>
            </a:r>
          </a:p>
          <a:p>
            <a:r>
              <a:rPr lang="de-DE" dirty="0"/>
              <a:t>Nun kann „G“ fröhlich weiterwirtschaften, und irgendwann („am Ende“?) zahlt es alles zurück: Alte Schulden und das neue Geld von EZB …</a:t>
            </a:r>
          </a:p>
          <a:p>
            <a:r>
              <a:rPr lang="de-DE" dirty="0"/>
              <a:t>Dadurch hat EZB noch mehr Geld (alte Schulden von „G“ sind zurückgezahlt), und hilft einem anderen Land – sagen wir „S“ …</a:t>
            </a:r>
          </a:p>
        </p:txBody>
      </p:sp>
      <p:sp>
        <p:nvSpPr>
          <p:cNvPr id="5" name="Rounded Rectangle 4"/>
          <p:cNvSpPr/>
          <p:nvPr/>
        </p:nvSpPr>
        <p:spPr>
          <a:xfrm>
            <a:off x="4860032" y="6123834"/>
            <a:ext cx="3528392" cy="554360"/>
          </a:xfrm>
          <a:prstGeom prst="round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lang="de-DE" sz="2400" dirty="0"/>
              <a:t>So viel zur Theorie </a:t>
            </a:r>
            <a:r>
              <a:rPr lang="de-DE" sz="2400" dirty="0">
                <a:sym typeface="Wingdings" pitchFamily="2" charset="2"/>
              </a:rPr>
              <a:t></a:t>
            </a:r>
            <a:endParaRPr lang="de-DE" sz="2400" dirty="0"/>
          </a:p>
        </p:txBody>
      </p:sp>
    </p:spTree>
    <p:extLst>
      <p:ext uri="{BB962C8B-B14F-4D97-AF65-F5344CB8AC3E}">
        <p14:creationId xmlns:p14="http://schemas.microsoft.com/office/powerpoint/2010/main" val="183829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Nach der Erkennung: Deadlocks </a:t>
            </a:r>
            <a:r>
              <a:rPr lang="de-DE" u="sng" dirty="0"/>
              <a:t>Beheben</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34</a:t>
            </a:fld>
            <a:endParaRPr lang="en-US" noProof="0" dirty="0"/>
          </a:p>
        </p:txBody>
      </p:sp>
      <p:sp>
        <p:nvSpPr>
          <p:cNvPr id="4" name="Inhaltsplatzhalter 3"/>
          <p:cNvSpPr>
            <a:spLocks noGrp="1"/>
          </p:cNvSpPr>
          <p:nvPr>
            <p:ph sz="quarter" idx="1"/>
          </p:nvPr>
        </p:nvSpPr>
        <p:spPr>
          <a:xfrm>
            <a:off x="457200" y="1219200"/>
            <a:ext cx="8229600" cy="5378152"/>
          </a:xfrm>
        </p:spPr>
        <p:txBody>
          <a:bodyPr>
            <a:normAutofit/>
          </a:bodyPr>
          <a:lstStyle/>
          <a:p>
            <a:r>
              <a:rPr lang="de-DE" dirty="0"/>
              <a:t>Behebung durch </a:t>
            </a:r>
            <a:r>
              <a:rPr lang="de-DE" b="1" dirty="0">
                <a:solidFill>
                  <a:srgbClr val="FF0000"/>
                </a:solidFill>
              </a:rPr>
              <a:t>Unterbrechung</a:t>
            </a:r>
          </a:p>
          <a:p>
            <a:pPr lvl="1"/>
            <a:r>
              <a:rPr lang="de-DE" dirty="0"/>
              <a:t>Beim Drucker: bereits ausgedruckte Blätter entnehmen und den Prozess suspendieren</a:t>
            </a:r>
          </a:p>
          <a:p>
            <a:pPr lvl="1"/>
            <a:r>
              <a:rPr lang="de-DE" dirty="0"/>
              <a:t>Insgesamt schwierig und ressourcenspezifisch</a:t>
            </a:r>
          </a:p>
          <a:p>
            <a:r>
              <a:rPr lang="de-DE" dirty="0"/>
              <a:t>Behebung durch </a:t>
            </a:r>
            <a:r>
              <a:rPr lang="de-DE" b="1" dirty="0">
                <a:solidFill>
                  <a:srgbClr val="FF0000"/>
                </a:solidFill>
              </a:rPr>
              <a:t>Rollback</a:t>
            </a:r>
          </a:p>
          <a:p>
            <a:pPr lvl="1"/>
            <a:r>
              <a:rPr lang="de-DE" dirty="0"/>
              <a:t>Bei der Gefahr von Deadlocks wird regelmäßig der Zustand des Prozesses abgespeichert (</a:t>
            </a:r>
            <a:r>
              <a:rPr lang="de-DE" b="1" dirty="0">
                <a:solidFill>
                  <a:srgbClr val="FF0000"/>
                </a:solidFill>
              </a:rPr>
              <a:t>Checkpointing</a:t>
            </a:r>
            <a:r>
              <a:rPr lang="de-DE" dirty="0"/>
              <a:t>)</a:t>
            </a:r>
          </a:p>
          <a:p>
            <a:pPr lvl="1"/>
            <a:r>
              <a:rPr lang="de-DE" dirty="0"/>
              <a:t>Beim Deadlock wird ein beteiligter Prozess in den letzten Zustand zurückgesetzt, bei dem die Ressource noch nicht reserviert war (aber ein Teil der Arbeit geht verloren)</a:t>
            </a:r>
          </a:p>
          <a:p>
            <a:r>
              <a:rPr lang="de-DE" dirty="0"/>
              <a:t>Behebung durch </a:t>
            </a:r>
            <a:r>
              <a:rPr lang="de-DE" b="1" dirty="0">
                <a:solidFill>
                  <a:srgbClr val="FF0000"/>
                </a:solidFill>
              </a:rPr>
              <a:t>Prozessabbruch</a:t>
            </a:r>
          </a:p>
          <a:p>
            <a:pPr lvl="1"/>
            <a:r>
              <a:rPr lang="de-DE" dirty="0"/>
              <a:t>Brutal aber einfach</a:t>
            </a:r>
          </a:p>
        </p:txBody>
      </p:sp>
    </p:spTree>
    <p:extLst>
      <p:ext uri="{BB962C8B-B14F-4D97-AF65-F5344CB8AC3E}">
        <p14:creationId xmlns:p14="http://schemas.microsoft.com/office/powerpoint/2010/main" val="1626302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t>Video: Deadlocks und Dining </a:t>
            </a:r>
            <a:r>
              <a:rPr lang="de-DE" dirty="0" err="1"/>
              <a:t>Philosophers</a:t>
            </a:r>
            <a:endParaRPr lang="de-DE" dirty="0"/>
          </a:p>
        </p:txBody>
      </p:sp>
      <p:sp>
        <p:nvSpPr>
          <p:cNvPr id="3" name="Slide Number Placeholder 2"/>
          <p:cNvSpPr>
            <a:spLocks noGrp="1"/>
          </p:cNvSpPr>
          <p:nvPr>
            <p:ph type="sldNum" sz="quarter" idx="12"/>
          </p:nvPr>
        </p:nvSpPr>
        <p:spPr/>
        <p:txBody>
          <a:bodyPr/>
          <a:lstStyle/>
          <a:p>
            <a:fld id="{7183533A-8A50-4A1F-BEA9-C8C6956451EB}" type="slidenum">
              <a:rPr lang="en-US" noProof="0" smtClean="0"/>
              <a:pPr/>
              <a:t>35</a:t>
            </a:fld>
            <a:endParaRPr lang="en-US" noProof="0" dirty="0"/>
          </a:p>
        </p:txBody>
      </p:sp>
      <p:sp>
        <p:nvSpPr>
          <p:cNvPr id="4" name="Content Placeholder 3"/>
          <p:cNvSpPr>
            <a:spLocks noGrp="1"/>
          </p:cNvSpPr>
          <p:nvPr>
            <p:ph sz="quarter" idx="1"/>
          </p:nvPr>
        </p:nvSpPr>
        <p:spPr/>
        <p:txBody>
          <a:bodyPr/>
          <a:lstStyle/>
          <a:p>
            <a:r>
              <a:rPr lang="en-US" dirty="0"/>
              <a:t>MIT 6.004 L21: Processes, Synchronization &amp; Deadlock</a:t>
            </a:r>
          </a:p>
          <a:p>
            <a:pPr lvl="1"/>
            <a:r>
              <a:rPr lang="de-DE" dirty="0">
                <a:hlinkClick r:id="rId2"/>
              </a:rPr>
              <a:t>https://www.youtube.com/watch?v=TVkQ1VeRKt4</a:t>
            </a:r>
            <a:endParaRPr lang="de-DE" dirty="0"/>
          </a:p>
          <a:p>
            <a:pPr lvl="1"/>
            <a:r>
              <a:rPr lang="de-DE" dirty="0"/>
              <a:t>Von 41:50 bis ca. 48:00 (</a:t>
            </a:r>
            <a:r>
              <a:rPr lang="de-DE" dirty="0" err="1"/>
              <a:t>min:sec</a:t>
            </a:r>
            <a:r>
              <a:rPr lang="de-DE" dirty="0"/>
              <a:t>)</a:t>
            </a:r>
          </a:p>
        </p:txBody>
      </p:sp>
    </p:spTree>
    <p:extLst>
      <p:ext uri="{BB962C8B-B14F-4D97-AF65-F5344CB8AC3E}">
        <p14:creationId xmlns:p14="http://schemas.microsoft.com/office/powerpoint/2010/main" val="379750787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6C6AE60A-B69C-4790-82F7-3882EDF23186}" type="slidenum">
              <a:rPr lang="de-DE" smtClean="0"/>
              <a:pPr/>
              <a:t>36</a:t>
            </a:fld>
            <a:endParaRPr lang="de-DE" dirty="0"/>
          </a:p>
        </p:txBody>
      </p:sp>
      <p:sp>
        <p:nvSpPr>
          <p:cNvPr id="3" name="Titel 2"/>
          <p:cNvSpPr>
            <a:spLocks noGrp="1"/>
          </p:cNvSpPr>
          <p:nvPr>
            <p:ph type="title"/>
          </p:nvPr>
        </p:nvSpPr>
        <p:spPr/>
        <p:txBody>
          <a:bodyPr/>
          <a:lstStyle/>
          <a:p>
            <a:r>
              <a:rPr lang="de-DE" dirty="0"/>
              <a:t>Danke! </a:t>
            </a:r>
          </a:p>
        </p:txBody>
      </p:sp>
    </p:spTree>
    <p:extLst>
      <p:ext uri="{BB962C8B-B14F-4D97-AF65-F5344CB8AC3E}">
        <p14:creationId xmlns:p14="http://schemas.microsoft.com/office/powerpoint/2010/main" val="660304546"/>
      </p:ext>
    </p:extLst>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6C6AE60A-B69C-4790-82F7-3882EDF23186}" type="slidenum">
              <a:rPr lang="de-DE" smtClean="0"/>
              <a:pPr/>
              <a:t>37</a:t>
            </a:fld>
            <a:endParaRPr lang="de-DE" dirty="0"/>
          </a:p>
        </p:txBody>
      </p:sp>
      <p:sp>
        <p:nvSpPr>
          <p:cNvPr id="3" name="Titel 2"/>
          <p:cNvSpPr>
            <a:spLocks noGrp="1"/>
          </p:cNvSpPr>
          <p:nvPr>
            <p:ph type="title"/>
          </p:nvPr>
        </p:nvSpPr>
        <p:spPr/>
        <p:txBody>
          <a:bodyPr/>
          <a:lstStyle/>
          <a:p>
            <a:r>
              <a:rPr lang="de-DE"/>
              <a:t>Zusatzfolien</a:t>
            </a:r>
            <a:endParaRPr lang="de-DE" dirty="0"/>
          </a:p>
        </p:txBody>
      </p:sp>
    </p:spTree>
    <p:extLst>
      <p:ext uri="{BB962C8B-B14F-4D97-AF65-F5344CB8AC3E}">
        <p14:creationId xmlns:p14="http://schemas.microsoft.com/office/powerpoint/2010/main" val="2760412677"/>
      </p:ext>
    </p:extLst>
  </p:cSld>
  <p:clrMapOvr>
    <a:masterClrMapping/>
  </p:clrMapOvr>
  <p:transition spd="slow"/>
</p:sld>
</file>

<file path=ppt/tags/tag1.xml><?xml version="1.0" encoding="utf-8"?>
<p:tagLst xmlns:a="http://schemas.openxmlformats.org/drawingml/2006/main" xmlns:r="http://schemas.openxmlformats.org/officeDocument/2006/relationships" xmlns:p="http://schemas.openxmlformats.org/presentationml/2006/main">
  <p:tag name="FIRSTARTUR@ADJTKIKJTTW835ML" val="3112"/>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keano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Larissa Klassisch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keanos">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spDef>
      <a:spPr>
        <a:solidFill>
          <a:srgbClr val="92D05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tx1"/>
          </a:solidFill>
          <a:headEnd type="none" w="med" len="med"/>
          <a:tailEnd type="arrow" w="med" len="med"/>
        </a:ln>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2.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0</TotalTime>
  <Words>3048</Words>
  <Application>Microsoft Office PowerPoint</Application>
  <PresentationFormat>Bildschirmpräsentation (4:3)</PresentationFormat>
  <Paragraphs>427</Paragraphs>
  <Slides>37</Slides>
  <Notes>12</Notes>
  <HiddenSlides>0</HiddenSlides>
  <MMClips>0</MMClips>
  <ScaleCrop>false</ScaleCrop>
  <HeadingPairs>
    <vt:vector size="6" baseType="variant">
      <vt:variant>
        <vt:lpstr>Verwendete Schriftarten</vt:lpstr>
      </vt:variant>
      <vt:variant>
        <vt:i4>8</vt:i4>
      </vt:variant>
      <vt:variant>
        <vt:lpstr>Design</vt:lpstr>
      </vt:variant>
      <vt:variant>
        <vt:i4>1</vt:i4>
      </vt:variant>
      <vt:variant>
        <vt:lpstr>Folientitel</vt:lpstr>
      </vt:variant>
      <vt:variant>
        <vt:i4>37</vt:i4>
      </vt:variant>
    </vt:vector>
  </HeadingPairs>
  <TitlesOfParts>
    <vt:vector size="46" baseType="lpstr">
      <vt:lpstr>-apple-system</vt:lpstr>
      <vt:lpstr>Arial</vt:lpstr>
      <vt:lpstr>Calibri</vt:lpstr>
      <vt:lpstr>Helvetica</vt:lpstr>
      <vt:lpstr>OCR A Extended</vt:lpstr>
      <vt:lpstr>Symbol</vt:lpstr>
      <vt:lpstr>Wingdings</vt:lpstr>
      <vt:lpstr>Wingdings 3</vt:lpstr>
      <vt:lpstr>Okeanos</vt:lpstr>
      <vt:lpstr>Betriebssysteme und Netzwerke Vorlesung 15</vt:lpstr>
      <vt:lpstr>Wiederholung Dateisysteme</vt:lpstr>
      <vt:lpstr>Deadlocks - Grundlagen</vt:lpstr>
      <vt:lpstr>Deadlocks - Verklemmungen</vt:lpstr>
      <vt:lpstr>Deadlock - Beispiel</vt:lpstr>
      <vt:lpstr>Schutz durch Semaphore</vt:lpstr>
      <vt:lpstr>Deadlocks – Strikt Definiert</vt:lpstr>
      <vt:lpstr>Systemmodell</vt:lpstr>
      <vt:lpstr>Voraussetzungen für Ressourcen-Deadlocks</vt:lpstr>
      <vt:lpstr>Deadlocks: Analyse</vt:lpstr>
      <vt:lpstr>Ressourcen-Belegungs-Graph (R-B-Graph)</vt:lpstr>
      <vt:lpstr>Ein Deadlock oder keiner?</vt:lpstr>
      <vt:lpstr>Beispiel - Entstehung eines Deadlocks</vt:lpstr>
      <vt:lpstr>Verhindern eines Deadlocks</vt:lpstr>
      <vt:lpstr>Mehrere Instanzen einer Ressource</vt:lpstr>
      <vt:lpstr>Vier Strategien, die Deadlocks zu behandeln</vt:lpstr>
      <vt:lpstr>Erkennung von Deadlocks: Nur eine Instanz pro Ressourcentyp</vt:lpstr>
      <vt:lpstr>Erkennen von Deadlocks</vt:lpstr>
      <vt:lpstr>Ein Algorithmus zur Zyklus-Erkennung?</vt:lpstr>
      <vt:lpstr>Beispiel zur Zyklus-Erkennung</vt:lpstr>
      <vt:lpstr>Erkennung von Deadlocks: Mehrere Instanzen einer Ressource  - Definitionen</vt:lpstr>
      <vt:lpstr>Erkennung mit mehreren Instanzen pro R.-Typ</vt:lpstr>
      <vt:lpstr>Beispiel Ressourcen{rest}vektoren</vt:lpstr>
      <vt:lpstr>Mehrere Instanzen pro Typ – Definitionen</vt:lpstr>
      <vt:lpstr>Beispiel Aktuelle Belegungsmatrix </vt:lpstr>
      <vt:lpstr>Anforderungsmatrix</vt:lpstr>
      <vt:lpstr>Zusammenfassung: C, R, E, A</vt:lpstr>
      <vt:lpstr>Ein Beispiel</vt:lpstr>
      <vt:lpstr>Erkennung von Deadlocks: Mehrere Instanzen einer Ressource  - Algorithmus</vt:lpstr>
      <vt:lpstr>Algorithmus-Idee /1</vt:lpstr>
      <vt:lpstr>Algorithmus-Idee /2</vt:lpstr>
      <vt:lpstr>Algorithmus - Bankieralgorithmus </vt:lpstr>
      <vt:lpstr>Woher der Name „Bankieralgorithmus“?</vt:lpstr>
      <vt:lpstr>Nach der Erkennung: Deadlocks Beheben</vt:lpstr>
      <vt:lpstr>Video: Deadlocks und Dining Philosophers</vt:lpstr>
      <vt:lpstr>Danke! </vt:lpstr>
      <vt:lpstr>Zusatzfolien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VL Betriebssysteme und Netzwerke</dc:title>
  <dc:creator>Artur Andrzejak</dc:creator>
  <cp:lastModifiedBy>Artur Andrzejak</cp:lastModifiedBy>
  <cp:revision>2711</cp:revision>
  <cp:lastPrinted>2025-06-04T10:50:57Z</cp:lastPrinted>
  <dcterms:created xsi:type="dcterms:W3CDTF">2009-04-16T23:00:57Z</dcterms:created>
  <dcterms:modified xsi:type="dcterms:W3CDTF">2026-06-03T10:48:08Z</dcterms:modified>
</cp:coreProperties>
</file>