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54"/>
  </p:notesMasterIdLst>
  <p:handoutMasterIdLst>
    <p:handoutMasterId r:id="rId55"/>
  </p:handoutMasterIdLst>
  <p:sldIdLst>
    <p:sldId id="1248" r:id="rId15"/>
  </p:sldIdLst>
  <p:sldSz cx="9144000" cy="6858000" type="screen4x3"/>
  <p:notesSz cx="10234613" cy="7099300"/>
  <p:custDataLst>
    <p:tags r:id="rId56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0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0070C0"/>
    </p:penClr>
    <p:extLst>
      <p:ext uri="{EC167BDD-8182-4AB7-AECC-EB403E3ABB37}">
        <p14:laserClr xmlns:p14="http://schemas.microsoft.com/office/powerpoint/2010/main">
          <a:srgbClr val="00FF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F22E33"/>
    <a:srgbClr val="8080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Keine Formatvorlage, kein Gitternetz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0E3FDE45-AF77-4B5C-9715-49D594BDF05E}" styleName="Helle Formatvorlage 1 - Akz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0A1B5D5-9B99-4C35-A422-299274C87663}" styleName="Mittlere Formatvorlage 1 - Akz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25E5076-3810-47DD-B79F-674D7AD40C01}" styleName="Dunkle Formatvorlage 1 - Akz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940675A-B579-460E-94D1-54222C63F5DA}" styleName="Keine Formatvorlage, Tabellengitternetz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8644" autoAdjust="0"/>
    <p:restoredTop sz="95459" autoAdjust="0"/>
  </p:normalViewPr>
  <p:slideViewPr>
    <p:cSldViewPr>
      <p:cViewPr varScale="1">
        <p:scale>
          <a:sx n="68" d="100"/>
          <a:sy n="68" d="100"/>
        </p:scale>
        <p:origin x="72" y="860"/>
      </p:cViewPr>
      <p:guideLst>
        <p:guide orient="horz" pos="2160"/>
        <p:guide pos="102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handoutMaster" Target="handoutMasters/handoutMaster1.xml"/><Relationship Id="rId56" Type="http://schemas.openxmlformats.org/officeDocument/2006/relationships/tags" Target="tags/tag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434999" cy="354965"/>
          </a:xfrm>
          <a:prstGeom prst="rect">
            <a:avLst/>
          </a:prstGeom>
        </p:spPr>
        <p:txBody>
          <a:bodyPr vert="horz" lIns="95491" tIns="47745" rIns="95491" bIns="47745" rtlCol="0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797247" y="0"/>
            <a:ext cx="4434999" cy="354965"/>
          </a:xfrm>
          <a:prstGeom prst="rect">
            <a:avLst/>
          </a:prstGeom>
        </p:spPr>
        <p:txBody>
          <a:bodyPr vert="horz" lIns="95491" tIns="47745" rIns="95491" bIns="47745" rtlCol="0"/>
          <a:lstStyle>
            <a:lvl1pPr algn="r">
              <a:defRPr sz="1300"/>
            </a:lvl1pPr>
          </a:lstStyle>
          <a:p>
            <a:fld id="{503D259A-BC5A-44A4-AF17-09BFC30AC7B9}" type="datetimeFigureOut">
              <a:rPr lang="de-DE" smtClean="0"/>
              <a:pPr/>
              <a:t>12.05.2026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1" y="6743104"/>
            <a:ext cx="4434999" cy="354965"/>
          </a:xfrm>
          <a:prstGeom prst="rect">
            <a:avLst/>
          </a:prstGeom>
        </p:spPr>
        <p:txBody>
          <a:bodyPr vert="horz" lIns="95491" tIns="47745" rIns="95491" bIns="47745" rtlCol="0" anchor="b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797247" y="6743104"/>
            <a:ext cx="4434999" cy="354965"/>
          </a:xfrm>
          <a:prstGeom prst="rect">
            <a:avLst/>
          </a:prstGeom>
        </p:spPr>
        <p:txBody>
          <a:bodyPr vert="horz" lIns="95491" tIns="47745" rIns="95491" bIns="47745" rtlCol="0" anchor="b"/>
          <a:lstStyle>
            <a:lvl1pPr algn="r">
              <a:defRPr sz="1300"/>
            </a:lvl1pPr>
          </a:lstStyle>
          <a:p>
            <a:fld id="{69916C2F-BC73-49DB-9119-EC35D25111C2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733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434999" cy="354965"/>
          </a:xfrm>
          <a:prstGeom prst="rect">
            <a:avLst/>
          </a:prstGeom>
        </p:spPr>
        <p:txBody>
          <a:bodyPr vert="horz" lIns="95491" tIns="47745" rIns="95491" bIns="47745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797247" y="0"/>
            <a:ext cx="4434999" cy="354965"/>
          </a:xfrm>
          <a:prstGeom prst="rect">
            <a:avLst/>
          </a:prstGeom>
        </p:spPr>
        <p:txBody>
          <a:bodyPr vert="horz" lIns="95491" tIns="47745" rIns="95491" bIns="47745" rtlCol="0"/>
          <a:lstStyle>
            <a:lvl1pPr algn="r">
              <a:defRPr sz="1300"/>
            </a:lvl1pPr>
          </a:lstStyle>
          <a:p>
            <a:fld id="{4007A66C-EE28-4ADD-A611-42716BED3A40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343275" y="531813"/>
            <a:ext cx="3548063" cy="26622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491" tIns="47745" rIns="95491" bIns="47745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1023463" y="3372168"/>
            <a:ext cx="8187689" cy="3194684"/>
          </a:xfrm>
          <a:prstGeom prst="rect">
            <a:avLst/>
          </a:prstGeom>
        </p:spPr>
        <p:txBody>
          <a:bodyPr vert="horz" lIns="95491" tIns="47745" rIns="95491" bIns="47745" rtlCol="0">
            <a:normAutofit/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1" y="6743104"/>
            <a:ext cx="4434999" cy="354965"/>
          </a:xfrm>
          <a:prstGeom prst="rect">
            <a:avLst/>
          </a:prstGeom>
        </p:spPr>
        <p:txBody>
          <a:bodyPr vert="horz" lIns="95491" tIns="47745" rIns="95491" bIns="47745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797247" y="6743104"/>
            <a:ext cx="4434999" cy="354965"/>
          </a:xfrm>
          <a:prstGeom prst="rect">
            <a:avLst/>
          </a:prstGeom>
        </p:spPr>
        <p:txBody>
          <a:bodyPr vert="horz" lIns="95491" tIns="47745" rIns="95491" bIns="47745" rtlCol="0" anchor="b"/>
          <a:lstStyle>
            <a:lvl1pPr algn="r">
              <a:defRPr sz="1300"/>
            </a:lvl1pPr>
          </a:lstStyle>
          <a:p>
            <a:fld id="{6D176CDC-8D0E-409F-856B-BAE38288A8E4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99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Problem: interne</a:t>
            </a:r>
            <a:r>
              <a:rPr lang="de-DE" baseline="0" dirty="0"/>
              <a:t> Fragmentierung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901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2138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1035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9269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e-DE" i="1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6290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muss man sich auf der Zunge … vorstellen: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Gibibyte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1024^3 Bytes.</a:t>
            </a:r>
            <a:endParaRPr lang="de-DE" i="1" baseline="0" dirty="0"/>
          </a:p>
          <a:p>
            <a:r>
              <a:rPr lang="de-DE" i="1" baseline="0" dirty="0"/>
              <a:t>2^32 / 2^64 = 1/2^32    (4 GB / (ganzer virtueller Adressraum) = ca. 1/(4*10^9)</a:t>
            </a:r>
          </a:p>
          <a:p>
            <a:r>
              <a:rPr lang="de-DE" i="1" baseline="0" dirty="0"/>
              <a:t>Entfernung zum Mond (max.) = ca. 400 000 km = 4* 10^5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i="1" baseline="0" dirty="0"/>
              <a:t>Anteil von 4 GB in dem 64-bit virtuellen Speicher: 4*10^5 * 1/(4*10^9) =&gt; 10^(-4) km = 0.0001 km = 10 cm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6678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i="1" dirty="0"/>
              <a:t>Berechnung</a:t>
            </a:r>
            <a:r>
              <a:rPr lang="de-DE" i="1" baseline="0" dirty="0"/>
              <a:t> Analogie Entfernung zum Mond:</a:t>
            </a:r>
          </a:p>
          <a:p>
            <a:r>
              <a:rPr lang="de-DE" i="1" baseline="0" dirty="0"/>
              <a:t>2^32 / 2^64 = 1/2^32    (4 GB / (ganzer virtueller Adressraum) = ca. 1/(4*10^9)</a:t>
            </a:r>
          </a:p>
          <a:p>
            <a:endParaRPr lang="de-DE" i="1" baseline="0" dirty="0"/>
          </a:p>
          <a:p>
            <a:r>
              <a:rPr lang="de-DE" i="1" baseline="0" dirty="0"/>
              <a:t>Entfernung zum Mond (max.) = ca. 400 000 km = 4* 10^5</a:t>
            </a:r>
          </a:p>
          <a:p>
            <a:endParaRPr lang="de-DE" i="1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i="1" baseline="0" dirty="0"/>
              <a:t>Anteil von 4 GB in dem 64-bit virtuellen Speicher: 4*10^5 * 1/(4*10^9) =&gt; 10^(-4) km = 0.0001 km = 10 cm</a:t>
            </a:r>
          </a:p>
          <a:p>
            <a:endParaRPr lang="de-DE" i="1" baseline="0" dirty="0"/>
          </a:p>
          <a:p>
            <a:endParaRPr lang="de-DE" i="1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924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9269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0283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Idee: die Größe der Seitentabelle soll proportional zum vorhandenen Speicher und nicht zum logischen Adressraum sein</a:t>
            </a:r>
          </a:p>
          <a:p>
            <a:pPr lvl="1"/>
            <a:r>
              <a:rPr lang="de-DE" dirty="0"/>
              <a:t>Warum macht das Sinn? </a:t>
            </a:r>
          </a:p>
          <a:p>
            <a:r>
              <a:rPr lang="de-DE" dirty="0"/>
              <a:t>=&gt; wenn</a:t>
            </a:r>
            <a:r>
              <a:rPr lang="de-DE" baseline="0" dirty="0"/>
              <a:t> wir großen Speicher haben, können wir uns eine größere Seitentabelle leisten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6848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lvl="1" defTabSz="914385">
              <a:defRPr/>
            </a:pPr>
            <a:r>
              <a:rPr lang="de-DE" dirty="0"/>
              <a:t> Wie groß ist dieser in % des Gesamtspeichers?</a:t>
            </a:r>
          </a:p>
          <a:p>
            <a:r>
              <a:rPr lang="de-DE" dirty="0"/>
              <a:t>Ang. PID hat</a:t>
            </a:r>
            <a:r>
              <a:rPr lang="de-DE" baseline="0" dirty="0"/>
              <a:t> 12 Bits, ein Rahmen hat 12 Bits (4k Pages) und wir haben 64 Bit-Adressen. Dann hat d 12 Bits, p hat (64-12)=52 Bits. Somit passt ein Eintrag der Seitentabelle in 64 Bits. Wir brauchen also 64 Bits genau (8 Bytes) pro Eintrag, der eine Seite mit 4 kByte abdeckt =&gt; 8/4096 ~ 1/512 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4605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lvl="1" defTabSz="914385">
              <a:defRPr/>
            </a:pPr>
            <a:r>
              <a:rPr lang="de-DE" dirty="0"/>
              <a:t> Wie groß ist dieser in % des Gesamtspeichers?</a:t>
            </a:r>
          </a:p>
          <a:p>
            <a:r>
              <a:rPr lang="de-DE" dirty="0"/>
              <a:t>Ang. PID hat</a:t>
            </a:r>
            <a:r>
              <a:rPr lang="de-DE" baseline="0" dirty="0"/>
              <a:t> 12 Bits, ein Rahmen hat 12 Bits (4k Pages) und wir haben 64 Bit-Adressen. Dann hat d 12 Bits, p hat (64-12)=52 Bits. Somit passt ein Eintrag der Seitentabelle in 64 Bits. Wir brauchen also 64 Bits genau (8 Bytes) pro Eintrag, der eine Seite mit 4 kByte abdeckt =&gt; 8/4096 ~ 1/512 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6056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4878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Hierarchisches Paging</a:t>
            </a:r>
          </a:p>
          <a:p>
            <a:pPr lvl="1"/>
            <a:r>
              <a:rPr lang="de-DE" dirty="0"/>
              <a:t>Mehrstufige Seitentabellen</a:t>
            </a:r>
          </a:p>
          <a:p>
            <a:r>
              <a:rPr lang="de-DE" dirty="0"/>
              <a:t>Hashtabellen (</a:t>
            </a:r>
            <a:r>
              <a:rPr lang="de-DE" dirty="0" err="1"/>
              <a:t>Hashed</a:t>
            </a:r>
            <a:r>
              <a:rPr lang="de-DE" dirty="0"/>
              <a:t> Page </a:t>
            </a:r>
            <a:r>
              <a:rPr lang="de-DE" dirty="0" err="1"/>
              <a:t>Tables</a:t>
            </a:r>
            <a:r>
              <a:rPr lang="de-DE" dirty="0"/>
              <a:t>)</a:t>
            </a:r>
          </a:p>
          <a:p>
            <a:r>
              <a:rPr lang="de-DE" dirty="0"/>
              <a:t>Invertierte Seitentabellen</a:t>
            </a:r>
          </a:p>
          <a:p>
            <a:endParaRPr lang="de-DE" i="1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6080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9318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1791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9162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D176CDC-8D0E-409F-856B-BAE38288A8E4}" type="slidenum">
              <a:rPr kumimoji="0" lang="en-US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37153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D176CDC-8D0E-409F-856B-BAE38288A8E4}" type="slidenum">
              <a:rPr kumimoji="0" lang="en-US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56722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D176CDC-8D0E-409F-856B-BAE38288A8E4}" type="slidenum">
              <a:rPr kumimoji="0" lang="en-US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442725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Unterschied</a:t>
            </a:r>
            <a:r>
              <a:rPr lang="de-DE" baseline="0" dirty="0"/>
              <a:t> zu der normalen (direkten) Seitentabelle:</a:t>
            </a:r>
            <a:endParaRPr lang="de-DE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Wir entfernten die Seitennummer (da sie durchgehend sind), und ersetzen durch den </a:t>
            </a:r>
            <a:r>
              <a:rPr lang="de-DE" dirty="0">
                <a:solidFill>
                  <a:srgbClr val="0070C0"/>
                </a:solidFill>
              </a:rPr>
              <a:t>Index</a:t>
            </a:r>
            <a:r>
              <a:rPr lang="de-DE" dirty="0"/>
              <a:t> des Tabelleneintrags</a:t>
            </a:r>
            <a:endParaRPr lang="en-US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4290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Unterschied</a:t>
            </a:r>
            <a:r>
              <a:rPr lang="de-DE" baseline="0" dirty="0"/>
              <a:t> zu der normalen (direkten) Seitentabelle:</a:t>
            </a:r>
            <a:endParaRPr lang="de-DE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Wir entfernten die Seitennummer (da sie durchgehend sind), und ersetzen durch den </a:t>
            </a:r>
            <a:r>
              <a:rPr lang="de-DE" dirty="0">
                <a:solidFill>
                  <a:srgbClr val="0070C0"/>
                </a:solidFill>
              </a:rPr>
              <a:t>Index</a:t>
            </a:r>
            <a:r>
              <a:rPr lang="de-DE" dirty="0"/>
              <a:t> des Tabelleneintrags</a:t>
            </a:r>
            <a:endParaRPr lang="en-US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5614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176CDC-8D0E-409F-856B-BAE38288A8E4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87973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9" name="Untertitel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 noProof="0" dirty="0" err="1"/>
              <a:t>Formatvorlage</a:t>
            </a:r>
            <a:r>
              <a:rPr kumimoji="0" lang="en-US" noProof="0" dirty="0"/>
              <a:t> des </a:t>
            </a:r>
            <a:r>
              <a:rPr kumimoji="0" lang="en-US" noProof="0" dirty="0" err="1"/>
              <a:t>Untertitelmasters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21" name="Rechteck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hteck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hteck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hteck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‹Nr.›</a:t>
            </a:fld>
            <a:endParaRPr lang="en-US" noProof="0" dirty="0"/>
          </a:p>
        </p:txBody>
      </p:sp>
      <p:sp>
        <p:nvSpPr>
          <p:cNvPr id="8" name="Inhaltsplatzhalt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210196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>
          <a:xfrm>
            <a:off x="8542234" y="6500834"/>
            <a:ext cx="601766" cy="357166"/>
          </a:xfrm>
        </p:spPr>
        <p:txBody>
          <a:bodyPr/>
          <a:lstStyle/>
          <a:p>
            <a:fld id="{6C6AE60A-B69C-4790-82F7-3882EDF23186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9" name="Inhaltsplatzhalt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- 2 Te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‹Nr.›</a:t>
            </a:fld>
            <a:endParaRPr lang="en-US" noProof="0" dirty="0"/>
          </a:p>
        </p:txBody>
      </p:sp>
      <p:sp>
        <p:nvSpPr>
          <p:cNvPr id="8" name="Inhaltsplatzhalt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641848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  <p:sp>
        <p:nvSpPr>
          <p:cNvPr id="5" name="Inhaltsplatzhalter 7"/>
          <p:cNvSpPr>
            <a:spLocks noGrp="1"/>
          </p:cNvSpPr>
          <p:nvPr>
            <p:ph sz="quarter" idx="13"/>
          </p:nvPr>
        </p:nvSpPr>
        <p:spPr>
          <a:xfrm>
            <a:off x="467544" y="3645024"/>
            <a:ext cx="8208912" cy="2713856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 75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‹Nr.›</a:t>
            </a:fld>
            <a:endParaRPr lang="en-US" noProof="0" dirty="0"/>
          </a:p>
        </p:txBody>
      </p:sp>
      <p:sp>
        <p:nvSpPr>
          <p:cNvPr id="8" name="Inhaltsplatzhalt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569840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  <p:sp>
        <p:nvSpPr>
          <p:cNvPr id="5" name="Inhaltsplatzhalter 7"/>
          <p:cNvSpPr>
            <a:spLocks noGrp="1"/>
          </p:cNvSpPr>
          <p:nvPr>
            <p:ph sz="quarter" idx="13"/>
          </p:nvPr>
        </p:nvSpPr>
        <p:spPr>
          <a:xfrm>
            <a:off x="467544" y="3645024"/>
            <a:ext cx="4104456" cy="2713856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 75% (Bild ob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‹Nr.›</a:t>
            </a:fld>
            <a:endParaRPr lang="en-US" noProof="0" dirty="0"/>
          </a:p>
        </p:txBody>
      </p:sp>
      <p:sp>
        <p:nvSpPr>
          <p:cNvPr id="8" name="Inhaltsplatzhalt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114800" cy="2569840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  <p:sp>
        <p:nvSpPr>
          <p:cNvPr id="5" name="Inhaltsplatzhalter 7"/>
          <p:cNvSpPr>
            <a:spLocks noGrp="1"/>
          </p:cNvSpPr>
          <p:nvPr>
            <p:ph sz="quarter" idx="13"/>
          </p:nvPr>
        </p:nvSpPr>
        <p:spPr>
          <a:xfrm>
            <a:off x="467544" y="3645024"/>
            <a:ext cx="8208912" cy="2713856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</p:spTree>
    <p:extLst>
      <p:ext uri="{BB962C8B-B14F-4D97-AF65-F5344CB8AC3E}">
        <p14:creationId xmlns:p14="http://schemas.microsoft.com/office/powerpoint/2010/main" val="602704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 noProof="0" dirty="0" err="1"/>
              <a:t>Textmasterformate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0" name="Gerade Verbindung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Gleichschenkliges Dreieck 8"/>
          <p:cNvSpPr>
            <a:spLocks noChangeAspect="1"/>
          </p:cNvSpPr>
          <p:nvPr/>
        </p:nvSpPr>
        <p:spPr>
          <a:xfrm rot="5400000">
            <a:off x="8394385" y="6607540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Inhaltsplatzhalt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noProof="0" dirty="0" err="1"/>
              <a:t>Textmasterformate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noProof="0" dirty="0" err="1"/>
              <a:t>Textmasterformate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  <p:sp>
        <p:nvSpPr>
          <p:cNvPr id="13" name="Inhaltsplatzhalt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 noProof="0" dirty="0" err="1"/>
              <a:t>Textmasterformate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 eaLnBrk="1" latinLnBrk="0" hangingPunct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 eaLnBrk="1" latinLnBrk="0" hangingPunct="1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 eaLnBrk="1" latinLnBrk="0" hangingPunct="1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 eaLnBrk="1" latinLnBrk="0" hangingPunct="1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kumimoji="0" lang="en-US" noProof="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Gleichschenkliges Dreieck 6"/>
          <p:cNvSpPr>
            <a:spLocks noChangeAspect="1"/>
          </p:cNvSpPr>
          <p:nvPr userDrawn="1"/>
        </p:nvSpPr>
        <p:spPr>
          <a:xfrm rot="5400000">
            <a:off x="8394384" y="6607540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5" name="Titel 1"/>
          <p:cNvSpPr>
            <a:spLocks noGrp="1"/>
          </p:cNvSpPr>
          <p:nvPr>
            <p:ph type="title"/>
          </p:nvPr>
        </p:nvSpPr>
        <p:spPr>
          <a:xfrm>
            <a:off x="971600" y="2348880"/>
            <a:ext cx="7200800" cy="2160240"/>
          </a:xfrm>
        </p:spPr>
        <p:txBody>
          <a:bodyPr anchor="ctr">
            <a:normAutofit/>
          </a:bodyPr>
          <a:lstStyle>
            <a:lvl1pPr algn="ctr">
              <a:defRPr sz="4000"/>
            </a:lvl1pPr>
          </a:lstStyle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elplatzhalt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 noProof="0" dirty="0" err="1"/>
              <a:t>Titelmasterformat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</p:txBody>
      </p:sp>
      <p:sp>
        <p:nvSpPr>
          <p:cNvPr id="13" name="Textplatzhalt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5210196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noProof="0" dirty="0" err="1"/>
              <a:t>Textmasterformate</a:t>
            </a:r>
            <a:r>
              <a:rPr kumimoji="0" lang="en-US" noProof="0" dirty="0"/>
              <a:t> </a:t>
            </a:r>
            <a:r>
              <a:rPr kumimoji="0" lang="en-US" noProof="0" dirty="0" err="1"/>
              <a:t>durch</a:t>
            </a:r>
            <a:r>
              <a:rPr kumimoji="0" lang="en-US" noProof="0" dirty="0"/>
              <a:t> </a:t>
            </a:r>
            <a:r>
              <a:rPr kumimoji="0" lang="en-US" noProof="0" dirty="0" err="1"/>
              <a:t>Klicken</a:t>
            </a:r>
            <a:r>
              <a:rPr kumimoji="0" lang="en-US" noProof="0" dirty="0"/>
              <a:t> </a:t>
            </a:r>
            <a:r>
              <a:rPr kumimoji="0" lang="en-US" noProof="0" dirty="0" err="1"/>
              <a:t>bearbeiten</a:t>
            </a:r>
            <a:endParaRPr kumimoji="0" lang="en-US" noProof="0" dirty="0"/>
          </a:p>
          <a:p>
            <a:pPr lvl="1" eaLnBrk="1" latinLnBrk="0" hangingPunct="1"/>
            <a:r>
              <a:rPr kumimoji="0" lang="en-US" noProof="0" dirty="0" err="1"/>
              <a:t>Zweite</a:t>
            </a:r>
            <a:r>
              <a:rPr kumimoji="0" lang="en-US" noProof="0" dirty="0"/>
              <a:t> </a:t>
            </a:r>
            <a:r>
              <a:rPr kumimoji="0" lang="en-US" noProof="0" dirty="0" err="1"/>
              <a:t>Ebene</a:t>
            </a:r>
            <a:endParaRPr kumimoji="0" lang="en-US" noProof="0" dirty="0"/>
          </a:p>
          <a:p>
            <a:pPr lvl="2" eaLnBrk="1" latinLnBrk="0" hangingPunct="1"/>
            <a:r>
              <a:rPr kumimoji="0" lang="en-US" noProof="0" dirty="0" err="1"/>
              <a:t>Dritte</a:t>
            </a:r>
            <a:r>
              <a:rPr kumimoji="0" lang="en-US" noProof="0" dirty="0"/>
              <a:t> </a:t>
            </a:r>
            <a:r>
              <a:rPr kumimoji="0" lang="en-US" noProof="0" dirty="0" err="1"/>
              <a:t>Ebene</a:t>
            </a:r>
            <a:endParaRPr kumimoji="0" lang="en-US" noProof="0" dirty="0"/>
          </a:p>
          <a:p>
            <a:pPr lvl="3" eaLnBrk="1" latinLnBrk="0" hangingPunct="1"/>
            <a:r>
              <a:rPr kumimoji="0" lang="en-US" noProof="0" dirty="0" err="1"/>
              <a:t>Vierte</a:t>
            </a:r>
            <a:r>
              <a:rPr kumimoji="0" lang="en-US" noProof="0" dirty="0"/>
              <a:t> </a:t>
            </a:r>
            <a:r>
              <a:rPr kumimoji="0" lang="en-US" noProof="0" dirty="0" err="1"/>
              <a:t>Ebene</a:t>
            </a:r>
            <a:endParaRPr kumimoji="0" lang="en-US" noProof="0" dirty="0"/>
          </a:p>
          <a:p>
            <a:pPr lvl="4" eaLnBrk="1" latinLnBrk="0" hangingPunct="1"/>
            <a:r>
              <a:rPr kumimoji="0" lang="en-US" noProof="0" dirty="0" err="1"/>
              <a:t>Fünfte</a:t>
            </a:r>
            <a:r>
              <a:rPr kumimoji="0" lang="en-US" noProof="0" dirty="0"/>
              <a:t> </a:t>
            </a:r>
            <a:r>
              <a:rPr kumimoji="0" lang="en-US" noProof="0" dirty="0" err="1"/>
              <a:t>Ebene</a:t>
            </a:r>
            <a:endParaRPr kumimoji="0" lang="en-US" noProof="0" dirty="0"/>
          </a:p>
        </p:txBody>
      </p:sp>
      <p:sp>
        <p:nvSpPr>
          <p:cNvPr id="23" name="Foliennummernplatzhalter 22"/>
          <p:cNvSpPr>
            <a:spLocks noGrp="1"/>
          </p:cNvSpPr>
          <p:nvPr>
            <p:ph type="sldNum" sz="quarter" idx="4"/>
          </p:nvPr>
        </p:nvSpPr>
        <p:spPr>
          <a:xfrm>
            <a:off x="8542234" y="6492240"/>
            <a:ext cx="601766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1</a:t>
            </a:r>
          </a:p>
        </p:txBody>
      </p:sp>
      <p:sp>
        <p:nvSpPr>
          <p:cNvPr id="29" name="Gerade Verbindung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Gleichschenkliges Dreieck 9"/>
          <p:cNvSpPr>
            <a:spLocks noChangeAspect="1"/>
          </p:cNvSpPr>
          <p:nvPr/>
        </p:nvSpPr>
        <p:spPr>
          <a:xfrm rot="5400000">
            <a:off x="8394384" y="6607540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8" r:id="rId3"/>
    <p:sldLayoutId id="2147483697" r:id="rId4"/>
    <p:sldLayoutId id="2147483696" r:id="rId5"/>
    <p:sldLayoutId id="2147483698" r:id="rId6"/>
    <p:sldLayoutId id="2147483692" r:id="rId7"/>
    <p:sldLayoutId id="2147483690" r:id="rId8"/>
    <p:sldLayoutId id="2147483689" r:id="rId9"/>
    <p:sldLayoutId id="2147483691" r:id="rId10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iki.osdev.org/Paging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hyperlink" Target="https://pixabay.com/de/globus-erde-welt-transparenz-1348777/" TargetMode="External"/><Relationship Id="rId5" Type="http://schemas.openxmlformats.org/officeDocument/2006/relationships/image" Target="../media/image5.png"/><Relationship Id="rId6" Type="http://schemas.openxmlformats.org/officeDocument/2006/relationships/hyperlink" Target="http://pngimg.com/download/25408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eg"/><Relationship Id="rId4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Relationship Id="rId3" Type="http://schemas.openxmlformats.org/officeDocument/2006/relationships/hyperlink" Target="http://goo.gl/ahtAvR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youtube.com/watch?v=pCgw4Pe-5jo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hyperlink" Target="https://wiki.osdev.org/Paging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iki.osdev.org/Paging#Enabling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hyperlink" Target="https://wiki.osdev.org/Paging#Page_Table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e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jpeg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115616" y="3717032"/>
            <a:ext cx="7056784" cy="1159768"/>
          </a:xfrm>
        </p:spPr>
        <p:txBody>
          <a:bodyPr>
            <a:noAutofit/>
          </a:bodyPr>
          <a:lstStyle/>
          <a:p>
            <a:r>
              <a:rPr lang="de-DE" sz="3600" dirty="0"/>
              <a:t>Betriebssysteme und Netzwerke</a:t>
            </a:r>
            <a:br>
              <a:rPr lang="de-DE" sz="3600" dirty="0"/>
            </a:br>
            <a:r>
              <a:rPr lang="de-DE" sz="3600"/>
              <a:t>Vorlesung 10</a:t>
            </a:r>
            <a:endParaRPr lang="en-US" sz="360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5786446" y="5124450"/>
            <a:ext cx="2290754" cy="533400"/>
          </a:xfrm>
        </p:spPr>
        <p:txBody>
          <a:bodyPr>
            <a:normAutofit/>
          </a:bodyPr>
          <a:lstStyle/>
          <a:p>
            <a:r>
              <a:rPr lang="de-DE" dirty="0"/>
              <a:t>Artur Andrzejak</a:t>
            </a:r>
          </a:p>
        </p:txBody>
      </p:sp>
      <p:sp>
        <p:nvSpPr>
          <p:cNvPr id="4" name="Untertitel 2"/>
          <p:cNvSpPr txBox="1">
            <a:spLocks/>
          </p:cNvSpPr>
          <p:nvPr/>
        </p:nvSpPr>
        <p:spPr>
          <a:xfrm>
            <a:off x="1214414" y="5072074"/>
            <a:ext cx="1214446" cy="642942"/>
          </a:xfrm>
          <a:prstGeom prst="rect">
            <a:avLst/>
          </a:prstGeom>
        </p:spPr>
        <p:txBody>
          <a:bodyPr vert="horz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76000"/>
              <a:buFont typeface="Wingdings 3"/>
              <a:buNone/>
              <a:tabLst/>
              <a:defRPr/>
            </a:pPr>
            <a:endParaRPr kumimoji="0" lang="de-DE" sz="20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C6F006-1AE0-4AFD-A571-381A6C7FD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ist richtig?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F664794-EA2C-4342-81C5-CB053112D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2</a:t>
            </a:fld>
            <a:endParaRPr lang="en-US" noProof="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1832A6E-7FC5-4BE8-B863-140A5A18040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de-DE" dirty="0"/>
              <a:t>A. Das </a:t>
            </a:r>
            <a:r>
              <a:rPr lang="de-DE" dirty="0" err="1"/>
              <a:t>Paging</a:t>
            </a:r>
            <a:r>
              <a:rPr lang="de-DE" dirty="0"/>
              <a:t>-Verfahren übersetzt logische Adressen in physische Adressen und vice </a:t>
            </a:r>
            <a:r>
              <a:rPr lang="de-DE" dirty="0" err="1"/>
              <a:t>versa</a:t>
            </a:r>
            <a:r>
              <a:rPr lang="de-DE" dirty="0"/>
              <a:t>.</a:t>
            </a:r>
          </a:p>
          <a:p>
            <a:r>
              <a:rPr lang="de-DE" dirty="0"/>
              <a:t>B. Bei einer direkten Seitentabelle werden die obersten k Bits (z.B. k=20) einer logischen Adresse als Index innerhalb dieser Tabelle verwendet.</a:t>
            </a:r>
          </a:p>
          <a:p>
            <a:r>
              <a:rPr lang="de-DE" dirty="0"/>
              <a:t>C. Jeder Prozess kann eine andere Größe von Seiten (= </a:t>
            </a:r>
            <a:r>
              <a:rPr lang="de-DE" dirty="0" err="1"/>
              <a:t>pages</a:t>
            </a:r>
            <a:r>
              <a:rPr lang="de-DE" dirty="0"/>
              <a:t>, Kacheln des logischen Adressraums) wählen.</a:t>
            </a:r>
          </a:p>
          <a:p>
            <a:r>
              <a:rPr lang="de-DE" dirty="0"/>
              <a:t>D. Der TLB ist effizienter (= hat höhere Hit-Rate) wenn die Seiten (</a:t>
            </a:r>
            <a:r>
              <a:rPr lang="de-DE" dirty="0" err="1"/>
              <a:t>pages</a:t>
            </a:r>
            <a:r>
              <a:rPr lang="de-DE" dirty="0"/>
              <a:t>) größer sind.</a:t>
            </a:r>
            <a:endParaRPr lang="en-US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C8602F0-114C-436A-AAE1-279CABC2AFFF}"/>
              </a:ext>
            </a:extLst>
          </p:cNvPr>
          <p:cNvSpPr txBox="1"/>
          <p:nvPr/>
        </p:nvSpPr>
        <p:spPr>
          <a:xfrm>
            <a:off x="4788024" y="548680"/>
            <a:ext cx="3362074" cy="5232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highlight>
                  <a:srgbClr val="00FF00"/>
                </a:highlight>
              </a:rPr>
              <a:t>https://bit.ly/ibn_hd</a:t>
            </a:r>
            <a:endParaRPr lang="de-DE" sz="2800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5737483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Adressenübersetzung mit Zweierpotenzen/2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3</a:t>
            </a:fld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Die Adressübersetzung funktioniert durch das Ersetzen (in der Adresse) der Seitennummer </a:t>
            </a:r>
            <a:r>
              <a:rPr lang="de-DE" b="1" dirty="0">
                <a:solidFill>
                  <a:srgbClr val="0070C0"/>
                </a:solidFill>
              </a:rPr>
              <a:t>p </a:t>
            </a:r>
            <a:r>
              <a:rPr lang="de-DE" dirty="0"/>
              <a:t>durch eine (eigentlich beliebige) </a:t>
            </a:r>
            <a:r>
              <a:rPr lang="de-DE" dirty="0">
                <a:latin typeface="Helvetica" charset="0"/>
              </a:rPr>
              <a:t>Seiten</a:t>
            </a:r>
            <a:r>
              <a:rPr lang="de-DE" b="1" dirty="0">
                <a:solidFill>
                  <a:srgbClr val="FF0000"/>
                </a:solidFill>
                <a:latin typeface="Helvetica" charset="0"/>
              </a:rPr>
              <a:t>rahmen</a:t>
            </a:r>
            <a:r>
              <a:rPr lang="de-DE" dirty="0">
                <a:latin typeface="Helvetica" charset="0"/>
              </a:rPr>
              <a:t>nummer </a:t>
            </a:r>
            <a:r>
              <a:rPr lang="de-DE" b="1" dirty="0">
                <a:solidFill>
                  <a:srgbClr val="7030A0"/>
                </a:solidFill>
                <a:latin typeface="Helvetica" charset="0"/>
              </a:rPr>
              <a:t>f</a:t>
            </a:r>
            <a:r>
              <a:rPr lang="de-DE" b="1" dirty="0">
                <a:solidFill>
                  <a:srgbClr val="FFC000"/>
                </a:solidFill>
                <a:latin typeface="Helvetica" charset="0"/>
              </a:rPr>
              <a:t> </a:t>
            </a:r>
            <a:r>
              <a:rPr lang="de-DE" dirty="0">
                <a:latin typeface="Helvetica" charset="0"/>
              </a:rPr>
              <a:t>(d.h. obere Bits einer physischen Adresse)</a:t>
            </a:r>
          </a:p>
          <a:p>
            <a:r>
              <a:rPr lang="de-DE" dirty="0"/>
              <a:t>Die n Bits des Seitenoffsets </a:t>
            </a:r>
            <a:r>
              <a:rPr lang="en-US" b="1" dirty="0">
                <a:solidFill>
                  <a:srgbClr val="FF0000"/>
                </a:solidFill>
                <a:latin typeface="Helvetica" charset="0"/>
              </a:rPr>
              <a:t>d </a:t>
            </a:r>
            <a:r>
              <a:rPr lang="de-DE" dirty="0"/>
              <a:t>werden direkt übernommen</a:t>
            </a:r>
            <a:endParaRPr lang="de-DE" b="1" dirty="0">
              <a:solidFill>
                <a:srgbClr val="0070C0"/>
              </a:solidFill>
            </a:endParaRPr>
          </a:p>
        </p:txBody>
      </p:sp>
      <p:sp>
        <p:nvSpPr>
          <p:cNvPr id="26" name="Content Placeholder 25"/>
          <p:cNvSpPr>
            <a:spLocks noGrp="1"/>
          </p:cNvSpPr>
          <p:nvPr>
            <p:ph sz="quarter" idx="13"/>
          </p:nvPr>
        </p:nvSpPr>
        <p:spPr>
          <a:xfrm>
            <a:off x="470773" y="5445224"/>
            <a:ext cx="8208912" cy="1129680"/>
          </a:xfrm>
        </p:spPr>
        <p:txBody>
          <a:bodyPr/>
          <a:lstStyle/>
          <a:p>
            <a:r>
              <a:rPr lang="de-DE" dirty="0"/>
              <a:t>Hauptproblem: wie kann man das schnell machen?</a:t>
            </a:r>
          </a:p>
          <a:p>
            <a:pPr lvl="1"/>
            <a:r>
              <a:rPr lang="de-DE" dirty="0"/>
              <a:t>Speicherzugriffe müssen </a:t>
            </a:r>
            <a:r>
              <a:rPr lang="de-DE" u="sng" dirty="0"/>
              <a:t>sehr</a:t>
            </a:r>
            <a:r>
              <a:rPr lang="de-DE" dirty="0"/>
              <a:t> schnell erfolgen</a:t>
            </a:r>
          </a:p>
        </p:txBody>
      </p:sp>
      <p:grpSp>
        <p:nvGrpSpPr>
          <p:cNvPr id="13" name="Gruppieren 13"/>
          <p:cNvGrpSpPr/>
          <p:nvPr/>
        </p:nvGrpSpPr>
        <p:grpSpPr>
          <a:xfrm>
            <a:off x="4211960" y="4127348"/>
            <a:ext cx="4251679" cy="1111399"/>
            <a:chOff x="-143759" y="5273408"/>
            <a:chExt cx="4386348" cy="1405244"/>
          </a:xfrm>
        </p:grpSpPr>
        <p:grpSp>
          <p:nvGrpSpPr>
            <p:cNvPr id="14" name="Gruppieren 12"/>
            <p:cNvGrpSpPr/>
            <p:nvPr/>
          </p:nvGrpSpPr>
          <p:grpSpPr>
            <a:xfrm>
              <a:off x="-143759" y="5273408"/>
              <a:ext cx="4386348" cy="1016925"/>
              <a:chOff x="1512425" y="5273408"/>
              <a:chExt cx="4386348" cy="1016925"/>
            </a:xfrm>
          </p:grpSpPr>
          <p:sp>
            <p:nvSpPr>
              <p:cNvPr id="5" name="Rectangle 1028"/>
              <p:cNvSpPr>
                <a:spLocks noChangeArrowheads="1"/>
              </p:cNvSpPr>
              <p:nvPr/>
            </p:nvSpPr>
            <p:spPr bwMode="auto">
              <a:xfrm>
                <a:off x="2722439" y="5788124"/>
                <a:ext cx="3105150" cy="43815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de-DE"/>
              </a:p>
            </p:txBody>
          </p:sp>
          <p:sp>
            <p:nvSpPr>
              <p:cNvPr id="6" name="Line 1030"/>
              <p:cNvSpPr>
                <a:spLocks noChangeShapeType="1"/>
              </p:cNvSpPr>
              <p:nvPr/>
            </p:nvSpPr>
            <p:spPr bwMode="auto">
              <a:xfrm>
                <a:off x="4355976" y="5445224"/>
                <a:ext cx="0" cy="76200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de-DE"/>
              </a:p>
            </p:txBody>
          </p:sp>
          <p:sp>
            <p:nvSpPr>
              <p:cNvPr id="7" name="Text Box 1031"/>
              <p:cNvSpPr txBox="1">
                <a:spLocks noChangeArrowheads="1"/>
              </p:cNvSpPr>
              <p:nvPr/>
            </p:nvSpPr>
            <p:spPr bwMode="auto">
              <a:xfrm>
                <a:off x="1512425" y="5273408"/>
                <a:ext cx="3006754" cy="46698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 anchor="ctr">
                <a:spAutoFit/>
              </a:bodyPr>
              <a:lstStyle/>
              <a:p>
                <a:pPr algn="ctr">
                  <a:spcBef>
                    <a:spcPct val="50000"/>
                  </a:spcBef>
                </a:pPr>
                <a:r>
                  <a:rPr lang="de-DE" dirty="0">
                    <a:latin typeface="Helvetica" charset="0"/>
                  </a:rPr>
                  <a:t>Seiten</a:t>
                </a:r>
                <a:r>
                  <a:rPr lang="de-DE" b="1" dirty="0">
                    <a:solidFill>
                      <a:srgbClr val="FF0000"/>
                    </a:solidFill>
                    <a:latin typeface="Helvetica" charset="0"/>
                  </a:rPr>
                  <a:t>rahmen</a:t>
                </a:r>
                <a:r>
                  <a:rPr lang="de-DE" dirty="0">
                    <a:latin typeface="Helvetica" charset="0"/>
                  </a:rPr>
                  <a:t>nummer</a:t>
                </a:r>
              </a:p>
            </p:txBody>
          </p:sp>
          <p:sp>
            <p:nvSpPr>
              <p:cNvPr id="8" name="Text Box 1032"/>
              <p:cNvSpPr txBox="1">
                <a:spLocks noChangeArrowheads="1"/>
              </p:cNvSpPr>
              <p:nvPr/>
            </p:nvSpPr>
            <p:spPr bwMode="auto">
              <a:xfrm>
                <a:off x="4499992" y="5301208"/>
                <a:ext cx="1398781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anchor="ctr">
                <a:spAutoFit/>
              </a:bodyPr>
              <a:lstStyle/>
              <a:p>
                <a:pPr algn="ctr">
                  <a:spcBef>
                    <a:spcPct val="50000"/>
                  </a:spcBef>
                </a:pPr>
                <a:r>
                  <a:rPr lang="de-DE">
                    <a:latin typeface="Helvetica" charset="0"/>
                  </a:rPr>
                  <a:t>Seitenoffset</a:t>
                </a:r>
              </a:p>
            </p:txBody>
          </p:sp>
          <p:sp>
            <p:nvSpPr>
              <p:cNvPr id="9" name="Text Box 1033"/>
              <p:cNvSpPr txBox="1">
                <a:spLocks noChangeArrowheads="1"/>
              </p:cNvSpPr>
              <p:nvPr/>
            </p:nvSpPr>
            <p:spPr bwMode="auto">
              <a:xfrm>
                <a:off x="3253162" y="5706607"/>
                <a:ext cx="296358" cy="58372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anchor="ctr">
                <a:spAutoFit/>
              </a:bodyPr>
              <a:lstStyle/>
              <a:p>
                <a:pPr algn="ctr">
                  <a:spcBef>
                    <a:spcPct val="50000"/>
                  </a:spcBef>
                </a:pPr>
                <a:r>
                  <a:rPr lang="de-DE" sz="2400" b="1" i="1" dirty="0">
                    <a:solidFill>
                      <a:srgbClr val="7030A0"/>
                    </a:solidFill>
                    <a:latin typeface="Helvetica" charset="0"/>
                  </a:rPr>
                  <a:t>f</a:t>
                </a:r>
                <a:endParaRPr lang="en-US" sz="2400" i="1" dirty="0">
                  <a:solidFill>
                    <a:srgbClr val="7030A0"/>
                  </a:solidFill>
                  <a:latin typeface="Helvetica" charset="0"/>
                </a:endParaRPr>
              </a:p>
            </p:txBody>
          </p:sp>
          <p:sp>
            <p:nvSpPr>
              <p:cNvPr id="10" name="Text Box 1035"/>
              <p:cNvSpPr txBox="1">
                <a:spLocks noChangeArrowheads="1"/>
              </p:cNvSpPr>
              <p:nvPr/>
            </p:nvSpPr>
            <p:spPr bwMode="auto">
              <a:xfrm>
                <a:off x="4713414" y="5795139"/>
                <a:ext cx="336048" cy="46698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anchor="ctr">
                <a:spAutoFit/>
              </a:bodyPr>
              <a:lstStyle/>
              <a:p>
                <a:pPr algn="ctr">
                  <a:spcBef>
                    <a:spcPct val="50000"/>
                  </a:spcBef>
                </a:pPr>
                <a:r>
                  <a:rPr lang="en-US" b="1" dirty="0">
                    <a:solidFill>
                      <a:srgbClr val="FF0000"/>
                    </a:solidFill>
                    <a:latin typeface="Helvetica" charset="0"/>
                  </a:rPr>
                  <a:t>d</a:t>
                </a:r>
              </a:p>
            </p:txBody>
          </p:sp>
        </p:grpSp>
        <p:sp>
          <p:nvSpPr>
            <p:cNvPr id="11" name="Text Box 1036"/>
            <p:cNvSpPr txBox="1">
              <a:spLocks noChangeArrowheads="1"/>
            </p:cNvSpPr>
            <p:nvPr/>
          </p:nvSpPr>
          <p:spPr bwMode="auto">
            <a:xfrm>
              <a:off x="1259632" y="6309320"/>
              <a:ext cx="1368152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anchor="ctr"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i="1" dirty="0">
                  <a:latin typeface="Helvetica" charset="0"/>
                </a:rPr>
                <a:t>m - n  Bits</a:t>
              </a:r>
            </a:p>
          </p:txBody>
        </p:sp>
        <p:sp>
          <p:nvSpPr>
            <p:cNvPr id="12" name="Text Box 1038"/>
            <p:cNvSpPr txBox="1">
              <a:spLocks noChangeArrowheads="1"/>
            </p:cNvSpPr>
            <p:nvPr/>
          </p:nvSpPr>
          <p:spPr bwMode="auto">
            <a:xfrm>
              <a:off x="3059832" y="6309320"/>
              <a:ext cx="97229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anchor="ctr"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i="1" dirty="0">
                  <a:latin typeface="Helvetica" charset="0"/>
                </a:rPr>
                <a:t>n  Bits</a:t>
              </a:r>
            </a:p>
          </p:txBody>
        </p:sp>
      </p:grpSp>
      <p:grpSp>
        <p:nvGrpSpPr>
          <p:cNvPr id="15" name="Gruppieren 14"/>
          <p:cNvGrpSpPr/>
          <p:nvPr/>
        </p:nvGrpSpPr>
        <p:grpSpPr>
          <a:xfrm>
            <a:off x="470773" y="4097115"/>
            <a:ext cx="3317524" cy="1128027"/>
            <a:chOff x="819985" y="5252383"/>
            <a:chExt cx="3422604" cy="1426269"/>
          </a:xfrm>
        </p:grpSpPr>
        <p:grpSp>
          <p:nvGrpSpPr>
            <p:cNvPr id="16" name="Gruppieren 15"/>
            <p:cNvGrpSpPr/>
            <p:nvPr/>
          </p:nvGrpSpPr>
          <p:grpSpPr>
            <a:xfrm>
              <a:off x="819985" y="5252383"/>
              <a:ext cx="3422604" cy="1009738"/>
              <a:chOff x="2476169" y="5252383"/>
              <a:chExt cx="3422604" cy="1009738"/>
            </a:xfrm>
          </p:grpSpPr>
          <p:sp>
            <p:nvSpPr>
              <p:cNvPr id="19" name="Rectangle 1028"/>
              <p:cNvSpPr>
                <a:spLocks noChangeArrowheads="1"/>
              </p:cNvSpPr>
              <p:nvPr/>
            </p:nvSpPr>
            <p:spPr bwMode="auto">
              <a:xfrm>
                <a:off x="2722439" y="5788124"/>
                <a:ext cx="3105150" cy="43815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de-DE"/>
              </a:p>
            </p:txBody>
          </p:sp>
          <p:sp>
            <p:nvSpPr>
              <p:cNvPr id="20" name="Line 1030"/>
              <p:cNvSpPr>
                <a:spLocks noChangeShapeType="1"/>
              </p:cNvSpPr>
              <p:nvPr/>
            </p:nvSpPr>
            <p:spPr bwMode="auto">
              <a:xfrm>
                <a:off x="4355976" y="5445224"/>
                <a:ext cx="0" cy="76200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de-DE"/>
              </a:p>
            </p:txBody>
          </p:sp>
          <p:sp>
            <p:nvSpPr>
              <p:cNvPr id="21" name="Text Box 1031"/>
              <p:cNvSpPr txBox="1">
                <a:spLocks noChangeArrowheads="1"/>
              </p:cNvSpPr>
              <p:nvPr/>
            </p:nvSpPr>
            <p:spPr bwMode="auto">
              <a:xfrm>
                <a:off x="2476169" y="5252383"/>
                <a:ext cx="1844293" cy="46698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anchor="ctr">
                <a:spAutoFit/>
              </a:bodyPr>
              <a:lstStyle/>
              <a:p>
                <a:pPr algn="ctr">
                  <a:spcBef>
                    <a:spcPct val="50000"/>
                  </a:spcBef>
                </a:pPr>
                <a:r>
                  <a:rPr lang="de-DE" b="1" dirty="0">
                    <a:solidFill>
                      <a:srgbClr val="FF0000"/>
                    </a:solidFill>
                    <a:latin typeface="Helvetica" charset="0"/>
                  </a:rPr>
                  <a:t>Seitennummer</a:t>
                </a:r>
              </a:p>
            </p:txBody>
          </p:sp>
          <p:sp>
            <p:nvSpPr>
              <p:cNvPr id="22" name="Text Box 1032"/>
              <p:cNvSpPr txBox="1">
                <a:spLocks noChangeArrowheads="1"/>
              </p:cNvSpPr>
              <p:nvPr/>
            </p:nvSpPr>
            <p:spPr bwMode="auto">
              <a:xfrm>
                <a:off x="4499992" y="5301208"/>
                <a:ext cx="1398781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anchor="ctr">
                <a:spAutoFit/>
              </a:bodyPr>
              <a:lstStyle/>
              <a:p>
                <a:pPr algn="ctr">
                  <a:spcBef>
                    <a:spcPct val="50000"/>
                  </a:spcBef>
                </a:pPr>
                <a:r>
                  <a:rPr lang="de-DE">
                    <a:latin typeface="Helvetica" charset="0"/>
                  </a:rPr>
                  <a:t>Seitenoffset</a:t>
                </a:r>
              </a:p>
            </p:txBody>
          </p:sp>
          <p:sp>
            <p:nvSpPr>
              <p:cNvPr id="23" name="Text Box 1033"/>
              <p:cNvSpPr txBox="1">
                <a:spLocks noChangeArrowheads="1"/>
              </p:cNvSpPr>
              <p:nvPr/>
            </p:nvSpPr>
            <p:spPr bwMode="auto">
              <a:xfrm>
                <a:off x="3255759" y="5745520"/>
                <a:ext cx="352585" cy="50589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anchor="ctr">
                <a:spAutoFit/>
              </a:bodyPr>
              <a:lstStyle/>
              <a:p>
                <a:pPr algn="ctr">
                  <a:spcBef>
                    <a:spcPct val="50000"/>
                  </a:spcBef>
                </a:pPr>
                <a:r>
                  <a:rPr lang="en-US" sz="2000" b="1" i="1" dirty="0">
                    <a:solidFill>
                      <a:srgbClr val="0070C0"/>
                    </a:solidFill>
                    <a:latin typeface="Helvetica" charset="0"/>
                  </a:rPr>
                  <a:t>p</a:t>
                </a:r>
                <a:endParaRPr lang="en-US" sz="2000" b="1" dirty="0">
                  <a:solidFill>
                    <a:srgbClr val="0070C0"/>
                  </a:solidFill>
                  <a:latin typeface="Helvetica" charset="0"/>
                </a:endParaRPr>
              </a:p>
            </p:txBody>
          </p:sp>
          <p:sp>
            <p:nvSpPr>
              <p:cNvPr id="24" name="Text Box 1035"/>
              <p:cNvSpPr txBox="1">
                <a:spLocks noChangeArrowheads="1"/>
              </p:cNvSpPr>
              <p:nvPr/>
            </p:nvSpPr>
            <p:spPr bwMode="auto">
              <a:xfrm>
                <a:off x="4713414" y="5795140"/>
                <a:ext cx="336048" cy="46698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anchor="ctr">
                <a:spAutoFit/>
              </a:bodyPr>
              <a:lstStyle/>
              <a:p>
                <a:pPr algn="ctr">
                  <a:spcBef>
                    <a:spcPct val="50000"/>
                  </a:spcBef>
                </a:pPr>
                <a:r>
                  <a:rPr lang="en-US" b="1" dirty="0">
                    <a:solidFill>
                      <a:srgbClr val="FF0000"/>
                    </a:solidFill>
                    <a:latin typeface="Helvetica" charset="0"/>
                  </a:rPr>
                  <a:t>d</a:t>
                </a:r>
              </a:p>
            </p:txBody>
          </p:sp>
        </p:grpSp>
        <p:sp>
          <p:nvSpPr>
            <p:cNvPr id="17" name="Text Box 1036"/>
            <p:cNvSpPr txBox="1">
              <a:spLocks noChangeArrowheads="1"/>
            </p:cNvSpPr>
            <p:nvPr/>
          </p:nvSpPr>
          <p:spPr bwMode="auto">
            <a:xfrm>
              <a:off x="1259632" y="6309320"/>
              <a:ext cx="1368152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anchor="ctr"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i="1" dirty="0">
                  <a:latin typeface="Helvetica" charset="0"/>
                </a:rPr>
                <a:t>m - n  Bits</a:t>
              </a:r>
            </a:p>
          </p:txBody>
        </p:sp>
        <p:sp>
          <p:nvSpPr>
            <p:cNvPr id="18" name="Text Box 1038"/>
            <p:cNvSpPr txBox="1">
              <a:spLocks noChangeArrowheads="1"/>
            </p:cNvSpPr>
            <p:nvPr/>
          </p:nvSpPr>
          <p:spPr bwMode="auto">
            <a:xfrm>
              <a:off x="3059832" y="6309320"/>
              <a:ext cx="97229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anchor="ctr"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i="1" dirty="0">
                  <a:latin typeface="Helvetica" charset="0"/>
                </a:rPr>
                <a:t>n  Bits</a:t>
              </a:r>
            </a:p>
          </p:txBody>
        </p:sp>
      </p:grpSp>
      <p:sp>
        <p:nvSpPr>
          <p:cNvPr id="27" name="Pfeil nach rechts 26"/>
          <p:cNvSpPr/>
          <p:nvPr/>
        </p:nvSpPr>
        <p:spPr>
          <a:xfrm>
            <a:off x="3995936" y="4487388"/>
            <a:ext cx="720080" cy="360040"/>
          </a:xfrm>
          <a:prstGeom prst="rightArrow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Textfeld 27"/>
          <p:cNvSpPr txBox="1"/>
          <p:nvPr/>
        </p:nvSpPr>
        <p:spPr>
          <a:xfrm>
            <a:off x="1187624" y="3767308"/>
            <a:ext cx="1928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logische Adresse</a:t>
            </a:r>
          </a:p>
        </p:txBody>
      </p:sp>
      <p:sp>
        <p:nvSpPr>
          <p:cNvPr id="29" name="Textfeld 28"/>
          <p:cNvSpPr txBox="1"/>
          <p:nvPr/>
        </p:nvSpPr>
        <p:spPr>
          <a:xfrm>
            <a:off x="5796136" y="3767308"/>
            <a:ext cx="2108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physische Adresse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40EFA506-5527-B48F-942E-DB95143279CD}"/>
              </a:ext>
            </a:extLst>
          </p:cNvPr>
          <p:cNvSpPr/>
          <p:nvPr/>
        </p:nvSpPr>
        <p:spPr>
          <a:xfrm rot="854493">
            <a:off x="6877523" y="-30349"/>
            <a:ext cx="2232249" cy="758428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Wiederholung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15460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Adressübersetzung durch Direkte Seitentabelle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>
          <a:xfrm>
            <a:off x="8511847" y="6492240"/>
            <a:ext cx="601766" cy="365760"/>
          </a:xfrm>
        </p:spPr>
        <p:txBody>
          <a:bodyPr/>
          <a:lstStyle/>
          <a:p>
            <a:fld id="{7183533A-8A50-4A1F-BEA9-C8C6956451EB}" type="slidenum">
              <a:rPr lang="en-US" noProof="0" smtClean="0"/>
              <a:pPr/>
              <a:t>4</a:t>
            </a:fld>
            <a:endParaRPr lang="en-US" noProof="0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5252" y="1164501"/>
            <a:ext cx="6734175" cy="4381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Textfeld 6"/>
          <p:cNvSpPr txBox="1"/>
          <p:nvPr/>
        </p:nvSpPr>
        <p:spPr>
          <a:xfrm>
            <a:off x="3036483" y="4868267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Seitentabelle</a:t>
            </a:r>
          </a:p>
        </p:txBody>
      </p:sp>
      <p:sp>
        <p:nvSpPr>
          <p:cNvPr id="8" name="Textfeld 7"/>
          <p:cNvSpPr txBox="1"/>
          <p:nvPr/>
        </p:nvSpPr>
        <p:spPr>
          <a:xfrm>
            <a:off x="1327340" y="2100605"/>
            <a:ext cx="10310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logische</a:t>
            </a:r>
          </a:p>
          <a:p>
            <a:r>
              <a:rPr lang="de-DE" dirty="0"/>
              <a:t>Adresse</a:t>
            </a:r>
          </a:p>
        </p:txBody>
      </p:sp>
      <p:sp>
        <p:nvSpPr>
          <p:cNvPr id="9" name="Textfeld 8"/>
          <p:cNvSpPr txBox="1"/>
          <p:nvPr/>
        </p:nvSpPr>
        <p:spPr>
          <a:xfrm>
            <a:off x="4344171" y="2796831"/>
            <a:ext cx="12105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physische</a:t>
            </a:r>
          </a:p>
          <a:p>
            <a:r>
              <a:rPr lang="de-DE" dirty="0"/>
              <a:t>Adresse</a:t>
            </a:r>
          </a:p>
        </p:txBody>
      </p:sp>
      <p:sp>
        <p:nvSpPr>
          <p:cNvPr id="10" name="Textfeld 9"/>
          <p:cNvSpPr txBox="1"/>
          <p:nvPr/>
        </p:nvSpPr>
        <p:spPr>
          <a:xfrm>
            <a:off x="7009699" y="2288422"/>
            <a:ext cx="16337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>
                <a:solidFill>
                  <a:srgbClr val="0070C0"/>
                </a:solidFill>
              </a:rPr>
              <a:t>f</a:t>
            </a:r>
            <a:r>
              <a:rPr lang="de-DE" sz="1600" dirty="0"/>
              <a:t> = Seiten-</a:t>
            </a:r>
          </a:p>
          <a:p>
            <a:r>
              <a:rPr lang="de-DE" sz="1600" dirty="0" err="1"/>
              <a:t>rahmennummer</a:t>
            </a:r>
            <a:endParaRPr lang="de-DE" sz="1600" dirty="0"/>
          </a:p>
        </p:txBody>
      </p:sp>
      <p:sp>
        <p:nvSpPr>
          <p:cNvPr id="11" name="Textfeld 10"/>
          <p:cNvSpPr txBox="1"/>
          <p:nvPr/>
        </p:nvSpPr>
        <p:spPr>
          <a:xfrm>
            <a:off x="5475920" y="1275056"/>
            <a:ext cx="1376829" cy="6463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de-DE" dirty="0"/>
              <a:t>Physischer </a:t>
            </a:r>
          </a:p>
          <a:p>
            <a:r>
              <a:rPr lang="de-DE" dirty="0"/>
              <a:t>Speicher</a:t>
            </a:r>
          </a:p>
        </p:txBody>
      </p:sp>
      <p:sp>
        <p:nvSpPr>
          <p:cNvPr id="12" name="Geschweifte Klammer links 11"/>
          <p:cNvSpPr/>
          <p:nvPr/>
        </p:nvSpPr>
        <p:spPr>
          <a:xfrm rot="16200000">
            <a:off x="4850194" y="3424071"/>
            <a:ext cx="360040" cy="1008112"/>
          </a:xfrm>
          <a:prstGeom prst="leftBrac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" name="Textfeld 12"/>
          <p:cNvSpPr txBox="1"/>
          <p:nvPr/>
        </p:nvSpPr>
        <p:spPr>
          <a:xfrm>
            <a:off x="4279668" y="4116829"/>
            <a:ext cx="14024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/>
              <a:t>Offsetbereich</a:t>
            </a:r>
          </a:p>
          <a:p>
            <a:r>
              <a:rPr lang="de-DE" sz="1600" dirty="0"/>
              <a:t>der Adresse</a:t>
            </a:r>
          </a:p>
        </p:txBody>
      </p:sp>
      <p:sp>
        <p:nvSpPr>
          <p:cNvPr id="17" name="Textfeld 16"/>
          <p:cNvSpPr txBox="1"/>
          <p:nvPr/>
        </p:nvSpPr>
        <p:spPr>
          <a:xfrm>
            <a:off x="7796572" y="1181271"/>
            <a:ext cx="1223412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de-DE" dirty="0"/>
              <a:t>Adresse 0</a:t>
            </a:r>
          </a:p>
        </p:txBody>
      </p:sp>
      <p:sp>
        <p:nvSpPr>
          <p:cNvPr id="18" name="Textfeld 17"/>
          <p:cNvSpPr txBox="1"/>
          <p:nvPr/>
        </p:nvSpPr>
        <p:spPr>
          <a:xfrm>
            <a:off x="7907764" y="4134235"/>
            <a:ext cx="1236236" cy="92333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de-DE" dirty="0"/>
              <a:t>Maximale </a:t>
            </a:r>
          </a:p>
          <a:p>
            <a:r>
              <a:rPr lang="de-DE" dirty="0"/>
              <a:t>physische</a:t>
            </a:r>
          </a:p>
          <a:p>
            <a:r>
              <a:rPr lang="de-DE" dirty="0"/>
              <a:t>Adresse</a:t>
            </a:r>
          </a:p>
        </p:txBody>
      </p:sp>
      <p:sp>
        <p:nvSpPr>
          <p:cNvPr id="19" name="Textfeld 18"/>
          <p:cNvSpPr txBox="1"/>
          <p:nvPr/>
        </p:nvSpPr>
        <p:spPr>
          <a:xfrm>
            <a:off x="340282" y="1195118"/>
            <a:ext cx="4807782" cy="646331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de-DE" dirty="0"/>
              <a:t>f = Seitenrahmennummer = die oberen Bits der Basisadresse eines Seitenrahmens</a:t>
            </a:r>
          </a:p>
        </p:txBody>
      </p:sp>
      <p:cxnSp>
        <p:nvCxnSpPr>
          <p:cNvPr id="21" name="Gerade Verbindung mit Pfeil 20"/>
          <p:cNvCxnSpPr>
            <a:stCxn id="19" idx="2"/>
          </p:cNvCxnSpPr>
          <p:nvPr/>
        </p:nvCxnSpPr>
        <p:spPr>
          <a:xfrm>
            <a:off x="2744173" y="1841449"/>
            <a:ext cx="1599998" cy="763212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17" idx="1"/>
          </p:cNvCxnSpPr>
          <p:nvPr/>
        </p:nvCxnSpPr>
        <p:spPr>
          <a:xfrm flipH="1" flipV="1">
            <a:off x="6943964" y="1181271"/>
            <a:ext cx="852608" cy="184666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18" idx="1"/>
          </p:cNvCxnSpPr>
          <p:nvPr/>
        </p:nvCxnSpPr>
        <p:spPr>
          <a:xfrm flipH="1">
            <a:off x="6943964" y="4595900"/>
            <a:ext cx="963800" cy="549796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/>
          <p:cNvSpPr/>
          <p:nvPr/>
        </p:nvSpPr>
        <p:spPr>
          <a:xfrm rot="854493">
            <a:off x="7050099" y="-21166"/>
            <a:ext cx="2232249" cy="758428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Wiederholung</a:t>
            </a:r>
            <a:endParaRPr lang="en-US" sz="2400" dirty="0"/>
          </a:p>
        </p:txBody>
      </p:sp>
      <p:sp>
        <p:nvSpPr>
          <p:cNvPr id="3" name="Textfeld 2"/>
          <p:cNvSpPr txBox="1"/>
          <p:nvPr/>
        </p:nvSpPr>
        <p:spPr>
          <a:xfrm>
            <a:off x="7092279" y="1637035"/>
            <a:ext cx="1903281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f*(</a:t>
            </a:r>
            <a:r>
              <a:rPr lang="en-US" dirty="0" err="1"/>
              <a:t>Seitengröße</a:t>
            </a:r>
            <a:r>
              <a:rPr lang="en-US" dirty="0"/>
              <a:t>)</a:t>
            </a:r>
          </a:p>
        </p:txBody>
      </p:sp>
      <p:grpSp>
        <p:nvGrpSpPr>
          <p:cNvPr id="5" name="Gruppieren 4"/>
          <p:cNvGrpSpPr/>
          <p:nvPr/>
        </p:nvGrpSpPr>
        <p:grpSpPr>
          <a:xfrm>
            <a:off x="179512" y="5600918"/>
            <a:ext cx="7992866" cy="1164321"/>
            <a:chOff x="179512" y="5600918"/>
            <a:chExt cx="7992866" cy="1164321"/>
          </a:xfrm>
        </p:grpSpPr>
        <p:grpSp>
          <p:nvGrpSpPr>
            <p:cNvPr id="50" name="Gruppieren 12"/>
            <p:cNvGrpSpPr/>
            <p:nvPr/>
          </p:nvGrpSpPr>
          <p:grpSpPr>
            <a:xfrm>
              <a:off x="3920699" y="5960959"/>
              <a:ext cx="4251679" cy="804280"/>
              <a:chOff x="1512425" y="5273408"/>
              <a:chExt cx="4386348" cy="1016925"/>
            </a:xfrm>
          </p:grpSpPr>
          <p:sp>
            <p:nvSpPr>
              <p:cNvPr id="53" name="Rectangle 1028"/>
              <p:cNvSpPr>
                <a:spLocks noChangeArrowheads="1"/>
              </p:cNvSpPr>
              <p:nvPr/>
            </p:nvSpPr>
            <p:spPr bwMode="auto">
              <a:xfrm>
                <a:off x="2722439" y="5788124"/>
                <a:ext cx="3105150" cy="43815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de-DE"/>
              </a:p>
            </p:txBody>
          </p:sp>
          <p:sp>
            <p:nvSpPr>
              <p:cNvPr id="54" name="Line 1030"/>
              <p:cNvSpPr>
                <a:spLocks noChangeShapeType="1"/>
              </p:cNvSpPr>
              <p:nvPr/>
            </p:nvSpPr>
            <p:spPr bwMode="auto">
              <a:xfrm>
                <a:off x="4355976" y="5445224"/>
                <a:ext cx="0" cy="76200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de-DE"/>
              </a:p>
            </p:txBody>
          </p:sp>
          <p:sp>
            <p:nvSpPr>
              <p:cNvPr id="55" name="Text Box 1031"/>
              <p:cNvSpPr txBox="1">
                <a:spLocks noChangeArrowheads="1"/>
              </p:cNvSpPr>
              <p:nvPr/>
            </p:nvSpPr>
            <p:spPr bwMode="auto">
              <a:xfrm>
                <a:off x="1512425" y="5273408"/>
                <a:ext cx="3006754" cy="46698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 anchor="ctr">
                <a:spAutoFit/>
              </a:bodyPr>
              <a:lstStyle/>
              <a:p>
                <a:pPr algn="ctr">
                  <a:spcBef>
                    <a:spcPct val="50000"/>
                  </a:spcBef>
                </a:pPr>
                <a:r>
                  <a:rPr lang="de-DE" dirty="0">
                    <a:latin typeface="Helvetica" charset="0"/>
                  </a:rPr>
                  <a:t>Seiten</a:t>
                </a:r>
                <a:r>
                  <a:rPr lang="de-DE" b="1" dirty="0">
                    <a:solidFill>
                      <a:srgbClr val="FF0000"/>
                    </a:solidFill>
                    <a:latin typeface="Helvetica" charset="0"/>
                  </a:rPr>
                  <a:t>rahmen</a:t>
                </a:r>
                <a:r>
                  <a:rPr lang="de-DE" dirty="0">
                    <a:latin typeface="Helvetica" charset="0"/>
                  </a:rPr>
                  <a:t>nummer</a:t>
                </a:r>
              </a:p>
            </p:txBody>
          </p:sp>
          <p:sp>
            <p:nvSpPr>
              <p:cNvPr id="56" name="Text Box 1032"/>
              <p:cNvSpPr txBox="1">
                <a:spLocks noChangeArrowheads="1"/>
              </p:cNvSpPr>
              <p:nvPr/>
            </p:nvSpPr>
            <p:spPr bwMode="auto">
              <a:xfrm>
                <a:off x="4499992" y="5301208"/>
                <a:ext cx="1398781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anchor="ctr">
                <a:spAutoFit/>
              </a:bodyPr>
              <a:lstStyle/>
              <a:p>
                <a:pPr algn="ctr">
                  <a:spcBef>
                    <a:spcPct val="50000"/>
                  </a:spcBef>
                </a:pPr>
                <a:r>
                  <a:rPr lang="de-DE">
                    <a:latin typeface="Helvetica" charset="0"/>
                  </a:rPr>
                  <a:t>Seitenoffset</a:t>
                </a:r>
              </a:p>
            </p:txBody>
          </p:sp>
          <p:sp>
            <p:nvSpPr>
              <p:cNvPr id="57" name="Text Box 1033"/>
              <p:cNvSpPr txBox="1">
                <a:spLocks noChangeArrowheads="1"/>
              </p:cNvSpPr>
              <p:nvPr/>
            </p:nvSpPr>
            <p:spPr bwMode="auto">
              <a:xfrm>
                <a:off x="3253162" y="5706607"/>
                <a:ext cx="296358" cy="58372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anchor="ctr">
                <a:spAutoFit/>
              </a:bodyPr>
              <a:lstStyle/>
              <a:p>
                <a:pPr algn="ctr">
                  <a:spcBef>
                    <a:spcPct val="50000"/>
                  </a:spcBef>
                </a:pPr>
                <a:r>
                  <a:rPr lang="de-DE" sz="2400" b="1" i="1" dirty="0">
                    <a:solidFill>
                      <a:srgbClr val="7030A0"/>
                    </a:solidFill>
                    <a:latin typeface="Helvetica" charset="0"/>
                  </a:rPr>
                  <a:t>f</a:t>
                </a:r>
                <a:endParaRPr lang="en-US" sz="2400" i="1" dirty="0">
                  <a:solidFill>
                    <a:srgbClr val="7030A0"/>
                  </a:solidFill>
                  <a:latin typeface="Helvetica" charset="0"/>
                </a:endParaRPr>
              </a:p>
            </p:txBody>
          </p:sp>
          <p:sp>
            <p:nvSpPr>
              <p:cNvPr id="58" name="Text Box 1035"/>
              <p:cNvSpPr txBox="1">
                <a:spLocks noChangeArrowheads="1"/>
              </p:cNvSpPr>
              <p:nvPr/>
            </p:nvSpPr>
            <p:spPr bwMode="auto">
              <a:xfrm>
                <a:off x="4713414" y="5795139"/>
                <a:ext cx="336048" cy="46698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anchor="ctr">
                <a:spAutoFit/>
              </a:bodyPr>
              <a:lstStyle/>
              <a:p>
                <a:pPr algn="ctr">
                  <a:spcBef>
                    <a:spcPct val="50000"/>
                  </a:spcBef>
                </a:pPr>
                <a:r>
                  <a:rPr lang="en-US" b="1" dirty="0">
                    <a:solidFill>
                      <a:srgbClr val="FF0000"/>
                    </a:solidFill>
                    <a:latin typeface="Helvetica" charset="0"/>
                  </a:rPr>
                  <a:t>d</a:t>
                </a:r>
              </a:p>
            </p:txBody>
          </p:sp>
        </p:grpSp>
        <p:grpSp>
          <p:nvGrpSpPr>
            <p:cNvPr id="60" name="Gruppieren 59"/>
            <p:cNvGrpSpPr/>
            <p:nvPr/>
          </p:nvGrpSpPr>
          <p:grpSpPr>
            <a:xfrm>
              <a:off x="179512" y="5930723"/>
              <a:ext cx="3317524" cy="798595"/>
              <a:chOff x="2476169" y="5252383"/>
              <a:chExt cx="3422604" cy="1009738"/>
            </a:xfrm>
          </p:grpSpPr>
          <p:sp>
            <p:nvSpPr>
              <p:cNvPr id="63" name="Rectangle 1028"/>
              <p:cNvSpPr>
                <a:spLocks noChangeArrowheads="1"/>
              </p:cNvSpPr>
              <p:nvPr/>
            </p:nvSpPr>
            <p:spPr bwMode="auto">
              <a:xfrm>
                <a:off x="2722439" y="5788124"/>
                <a:ext cx="3105150" cy="43815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de-DE"/>
              </a:p>
            </p:txBody>
          </p:sp>
          <p:sp>
            <p:nvSpPr>
              <p:cNvPr id="64" name="Line 1030"/>
              <p:cNvSpPr>
                <a:spLocks noChangeShapeType="1"/>
              </p:cNvSpPr>
              <p:nvPr/>
            </p:nvSpPr>
            <p:spPr bwMode="auto">
              <a:xfrm>
                <a:off x="4355976" y="5445224"/>
                <a:ext cx="0" cy="76200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de-DE"/>
              </a:p>
            </p:txBody>
          </p:sp>
          <p:sp>
            <p:nvSpPr>
              <p:cNvPr id="65" name="Text Box 1031"/>
              <p:cNvSpPr txBox="1">
                <a:spLocks noChangeArrowheads="1"/>
              </p:cNvSpPr>
              <p:nvPr/>
            </p:nvSpPr>
            <p:spPr bwMode="auto">
              <a:xfrm>
                <a:off x="2476169" y="5252383"/>
                <a:ext cx="1844293" cy="46698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anchor="ctr">
                <a:spAutoFit/>
              </a:bodyPr>
              <a:lstStyle/>
              <a:p>
                <a:pPr algn="ctr">
                  <a:spcBef>
                    <a:spcPct val="50000"/>
                  </a:spcBef>
                </a:pPr>
                <a:r>
                  <a:rPr lang="de-DE" b="1" dirty="0">
                    <a:solidFill>
                      <a:srgbClr val="FF0000"/>
                    </a:solidFill>
                    <a:latin typeface="Helvetica" charset="0"/>
                  </a:rPr>
                  <a:t>Seitennummer</a:t>
                </a:r>
              </a:p>
            </p:txBody>
          </p:sp>
          <p:sp>
            <p:nvSpPr>
              <p:cNvPr id="66" name="Text Box 1032"/>
              <p:cNvSpPr txBox="1">
                <a:spLocks noChangeArrowheads="1"/>
              </p:cNvSpPr>
              <p:nvPr/>
            </p:nvSpPr>
            <p:spPr bwMode="auto">
              <a:xfrm>
                <a:off x="4499992" y="5301208"/>
                <a:ext cx="1398781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anchor="ctr">
                <a:spAutoFit/>
              </a:bodyPr>
              <a:lstStyle/>
              <a:p>
                <a:pPr algn="ctr">
                  <a:spcBef>
                    <a:spcPct val="50000"/>
                  </a:spcBef>
                </a:pPr>
                <a:r>
                  <a:rPr lang="de-DE">
                    <a:latin typeface="Helvetica" charset="0"/>
                  </a:rPr>
                  <a:t>Seitenoffset</a:t>
                </a:r>
              </a:p>
            </p:txBody>
          </p:sp>
          <p:sp>
            <p:nvSpPr>
              <p:cNvPr id="67" name="Text Box 1033"/>
              <p:cNvSpPr txBox="1">
                <a:spLocks noChangeArrowheads="1"/>
              </p:cNvSpPr>
              <p:nvPr/>
            </p:nvSpPr>
            <p:spPr bwMode="auto">
              <a:xfrm>
                <a:off x="3255759" y="5745520"/>
                <a:ext cx="352585" cy="50589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anchor="ctr">
                <a:spAutoFit/>
              </a:bodyPr>
              <a:lstStyle/>
              <a:p>
                <a:pPr algn="ctr">
                  <a:spcBef>
                    <a:spcPct val="50000"/>
                  </a:spcBef>
                </a:pPr>
                <a:r>
                  <a:rPr lang="en-US" sz="2000" b="1" i="1" dirty="0">
                    <a:solidFill>
                      <a:srgbClr val="0070C0"/>
                    </a:solidFill>
                    <a:latin typeface="Helvetica" charset="0"/>
                  </a:rPr>
                  <a:t>p</a:t>
                </a:r>
                <a:endParaRPr lang="en-US" sz="2000" b="1" dirty="0">
                  <a:solidFill>
                    <a:srgbClr val="0070C0"/>
                  </a:solidFill>
                  <a:latin typeface="Helvetica" charset="0"/>
                </a:endParaRPr>
              </a:p>
            </p:txBody>
          </p:sp>
          <p:sp>
            <p:nvSpPr>
              <p:cNvPr id="68" name="Text Box 1035"/>
              <p:cNvSpPr txBox="1">
                <a:spLocks noChangeArrowheads="1"/>
              </p:cNvSpPr>
              <p:nvPr/>
            </p:nvSpPr>
            <p:spPr bwMode="auto">
              <a:xfrm>
                <a:off x="4713414" y="5795140"/>
                <a:ext cx="336048" cy="46698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anchor="ctr">
                <a:spAutoFit/>
              </a:bodyPr>
              <a:lstStyle/>
              <a:p>
                <a:pPr algn="ctr">
                  <a:spcBef>
                    <a:spcPct val="50000"/>
                  </a:spcBef>
                </a:pPr>
                <a:r>
                  <a:rPr lang="en-US" b="1" dirty="0">
                    <a:solidFill>
                      <a:srgbClr val="FF0000"/>
                    </a:solidFill>
                    <a:latin typeface="Helvetica" charset="0"/>
                  </a:rPr>
                  <a:t>d</a:t>
                </a:r>
              </a:p>
            </p:txBody>
          </p:sp>
        </p:grpSp>
        <p:sp>
          <p:nvSpPr>
            <p:cNvPr id="69" name="Pfeil nach rechts 68"/>
            <p:cNvSpPr/>
            <p:nvPr/>
          </p:nvSpPr>
          <p:spPr>
            <a:xfrm>
              <a:off x="3704675" y="6320998"/>
              <a:ext cx="720080" cy="360040"/>
            </a:xfrm>
            <a:prstGeom prst="rightArrow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0" name="Textfeld 69"/>
            <p:cNvSpPr txBox="1"/>
            <p:nvPr/>
          </p:nvSpPr>
          <p:spPr>
            <a:xfrm>
              <a:off x="896363" y="5600918"/>
              <a:ext cx="19287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logische Adresse</a:t>
              </a:r>
            </a:p>
          </p:txBody>
        </p:sp>
        <p:sp>
          <p:nvSpPr>
            <p:cNvPr id="71" name="Textfeld 70"/>
            <p:cNvSpPr txBox="1"/>
            <p:nvPr/>
          </p:nvSpPr>
          <p:spPr>
            <a:xfrm>
              <a:off x="5504875" y="5600918"/>
              <a:ext cx="2108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physische Adresse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659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Beschleunigen der Adressenübersetzung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435280" cy="2497832"/>
          </a:xfrm>
        </p:spPr>
        <p:txBody>
          <a:bodyPr>
            <a:normAutofit/>
          </a:bodyPr>
          <a:lstStyle/>
          <a:p>
            <a:r>
              <a:rPr lang="de-DE" dirty="0"/>
              <a:t>Die Lösung nutzt </a:t>
            </a:r>
            <a:r>
              <a:rPr lang="de-DE" dirty="0" err="1">
                <a:solidFill>
                  <a:srgbClr val="0070C0"/>
                </a:solidFill>
              </a:rPr>
              <a:t>spacial</a:t>
            </a:r>
            <a:r>
              <a:rPr lang="de-DE" dirty="0">
                <a:solidFill>
                  <a:srgbClr val="0070C0"/>
                </a:solidFill>
              </a:rPr>
              <a:t> </a:t>
            </a:r>
            <a:r>
              <a:rPr lang="de-DE" dirty="0" err="1">
                <a:solidFill>
                  <a:srgbClr val="0070C0"/>
                </a:solidFill>
              </a:rPr>
              <a:t>locality</a:t>
            </a:r>
            <a:r>
              <a:rPr lang="de-DE" dirty="0">
                <a:solidFill>
                  <a:srgbClr val="0070C0"/>
                </a:solidFill>
              </a:rPr>
              <a:t> </a:t>
            </a:r>
            <a:r>
              <a:rPr lang="de-DE" dirty="0"/>
              <a:t>aus: </a:t>
            </a:r>
          </a:p>
          <a:p>
            <a:pPr lvl="1"/>
            <a:r>
              <a:rPr lang="de-DE" dirty="0"/>
              <a:t>Sehr wenige Seiten werden sehr häufig verwendet</a:t>
            </a:r>
          </a:p>
          <a:p>
            <a:r>
              <a:rPr lang="de-DE" dirty="0"/>
              <a:t>Man verwendet einen </a:t>
            </a:r>
            <a:r>
              <a:rPr lang="de-DE" dirty="0">
                <a:solidFill>
                  <a:srgbClr val="0070C0"/>
                </a:solidFill>
              </a:rPr>
              <a:t>Cache</a:t>
            </a:r>
            <a:r>
              <a:rPr lang="de-DE" dirty="0"/>
              <a:t> für die Einträge der Seitentabelle (spezielle Hardware in MMU)</a:t>
            </a:r>
          </a:p>
          <a:p>
            <a:pPr lvl="1"/>
            <a:r>
              <a:rPr lang="de-DE" dirty="0"/>
              <a:t>Den </a:t>
            </a:r>
            <a:r>
              <a:rPr lang="de-DE" b="1" dirty="0">
                <a:solidFill>
                  <a:srgbClr val="FF0000"/>
                </a:solidFill>
              </a:rPr>
              <a:t>Translation Look-</a:t>
            </a:r>
            <a:r>
              <a:rPr lang="de-DE" b="1" dirty="0" err="1">
                <a:solidFill>
                  <a:srgbClr val="FF0000"/>
                </a:solidFill>
              </a:rPr>
              <a:t>Aside</a:t>
            </a:r>
            <a:r>
              <a:rPr lang="de-DE" b="1" dirty="0">
                <a:solidFill>
                  <a:srgbClr val="FF0000"/>
                </a:solidFill>
              </a:rPr>
              <a:t> </a:t>
            </a:r>
            <a:r>
              <a:rPr lang="de-DE" b="1" dirty="0" err="1">
                <a:solidFill>
                  <a:srgbClr val="FF0000"/>
                </a:solidFill>
              </a:rPr>
              <a:t>Buffer</a:t>
            </a:r>
            <a:r>
              <a:rPr lang="de-DE" b="1" dirty="0">
                <a:solidFill>
                  <a:srgbClr val="FF0000"/>
                </a:solidFill>
              </a:rPr>
              <a:t> </a:t>
            </a:r>
            <a:r>
              <a:rPr lang="de-DE" dirty="0"/>
              <a:t>(</a:t>
            </a:r>
            <a:r>
              <a:rPr lang="de-DE" b="1" dirty="0">
                <a:solidFill>
                  <a:srgbClr val="FF0000"/>
                </a:solidFill>
              </a:rPr>
              <a:t>TLB</a:t>
            </a:r>
            <a:r>
              <a:rPr lang="de-DE" dirty="0"/>
              <a:t>)</a:t>
            </a:r>
            <a:endParaRPr lang="de-DE" b="1" dirty="0">
              <a:solidFill>
                <a:srgbClr val="FF0000"/>
              </a:solidFill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5</a:t>
            </a:fld>
            <a:endParaRPr lang="en-US" noProof="0" dirty="0"/>
          </a:p>
        </p:txBody>
      </p:sp>
      <p:graphicFrame>
        <p:nvGraphicFramePr>
          <p:cNvPr id="8" name="Tabelle 7"/>
          <p:cNvGraphicFramePr>
            <a:graphicFrameLocks noGrp="1"/>
          </p:cNvGraphicFramePr>
          <p:nvPr/>
        </p:nvGraphicFramePr>
        <p:xfrm>
          <a:off x="323528" y="3789040"/>
          <a:ext cx="7056783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19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46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614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Gültig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Seitenindex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Seitenrahmennr</a:t>
                      </a:r>
                      <a:r>
                        <a:rPr lang="de-DE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Verändert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Schutzart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RW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R   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feld 8"/>
          <p:cNvSpPr txBox="1"/>
          <p:nvPr/>
        </p:nvSpPr>
        <p:spPr>
          <a:xfrm>
            <a:off x="1691680" y="5301208"/>
            <a:ext cx="1595309" cy="6463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b="1" u="sng" dirty="0">
                <a:solidFill>
                  <a:srgbClr val="0070C0"/>
                </a:solidFill>
              </a:rPr>
              <a:t>parallele</a:t>
            </a:r>
          </a:p>
          <a:p>
            <a:r>
              <a:rPr lang="de-DE" dirty="0"/>
              <a:t>Suche nach p</a:t>
            </a:r>
          </a:p>
        </p:txBody>
      </p:sp>
      <p:grpSp>
        <p:nvGrpSpPr>
          <p:cNvPr id="5" name="Gruppieren 13"/>
          <p:cNvGrpSpPr/>
          <p:nvPr/>
        </p:nvGrpSpPr>
        <p:grpSpPr>
          <a:xfrm>
            <a:off x="270053" y="6070920"/>
            <a:ext cx="2516853" cy="677198"/>
            <a:chOff x="2563355" y="5231384"/>
            <a:chExt cx="3351985" cy="1018097"/>
          </a:xfrm>
        </p:grpSpPr>
        <p:sp>
          <p:nvSpPr>
            <p:cNvPr id="15" name="Rectangle 1028"/>
            <p:cNvSpPr>
              <a:spLocks noChangeArrowheads="1"/>
            </p:cNvSpPr>
            <p:nvPr/>
          </p:nvSpPr>
          <p:spPr bwMode="auto">
            <a:xfrm>
              <a:off x="2722439" y="5788124"/>
              <a:ext cx="3105150" cy="43815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 sz="1600"/>
            </a:p>
          </p:txBody>
        </p:sp>
        <p:sp>
          <p:nvSpPr>
            <p:cNvPr id="16" name="Line 1030"/>
            <p:cNvSpPr>
              <a:spLocks noChangeShapeType="1"/>
            </p:cNvSpPr>
            <p:nvPr/>
          </p:nvSpPr>
          <p:spPr bwMode="auto">
            <a:xfrm>
              <a:off x="4355976" y="5445224"/>
              <a:ext cx="0" cy="7620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de-DE" sz="1600"/>
            </a:p>
          </p:txBody>
        </p:sp>
        <p:sp>
          <p:nvSpPr>
            <p:cNvPr id="17" name="Text Box 1031"/>
            <p:cNvSpPr txBox="1">
              <a:spLocks noChangeArrowheads="1"/>
            </p:cNvSpPr>
            <p:nvPr/>
          </p:nvSpPr>
          <p:spPr bwMode="auto">
            <a:xfrm>
              <a:off x="2563355" y="5231384"/>
              <a:ext cx="1669921" cy="50898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de-DE" sz="1600" dirty="0">
                  <a:latin typeface="Helvetica" charset="0"/>
                </a:rPr>
                <a:t>Seitenindex</a:t>
              </a:r>
            </a:p>
          </p:txBody>
        </p:sp>
        <p:sp>
          <p:nvSpPr>
            <p:cNvPr id="18" name="Text Box 1032"/>
            <p:cNvSpPr txBox="1">
              <a:spLocks noChangeArrowheads="1"/>
            </p:cNvSpPr>
            <p:nvPr/>
          </p:nvSpPr>
          <p:spPr bwMode="auto">
            <a:xfrm>
              <a:off x="4483427" y="5265025"/>
              <a:ext cx="1431913" cy="44170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de-DE" sz="1600" dirty="0">
                  <a:latin typeface="Helvetica" charset="0"/>
                </a:rPr>
                <a:t>Seitenoffset</a:t>
              </a:r>
            </a:p>
          </p:txBody>
        </p:sp>
        <p:sp>
          <p:nvSpPr>
            <p:cNvPr id="19" name="Text Box 1033"/>
            <p:cNvSpPr txBox="1">
              <a:spLocks noChangeArrowheads="1"/>
            </p:cNvSpPr>
            <p:nvPr/>
          </p:nvSpPr>
          <p:spPr bwMode="auto">
            <a:xfrm>
              <a:off x="3263064" y="5777619"/>
              <a:ext cx="337977" cy="44170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sz="1600" i="1">
                  <a:latin typeface="Helvetica" charset="0"/>
                </a:rPr>
                <a:t>p</a:t>
              </a:r>
              <a:endParaRPr lang="en-US" sz="1600">
                <a:latin typeface="Helvetica" charset="0"/>
              </a:endParaRPr>
            </a:p>
          </p:txBody>
        </p:sp>
        <p:sp>
          <p:nvSpPr>
            <p:cNvPr id="20" name="Text Box 1035"/>
            <p:cNvSpPr txBox="1">
              <a:spLocks noChangeArrowheads="1"/>
            </p:cNvSpPr>
            <p:nvPr/>
          </p:nvSpPr>
          <p:spPr bwMode="auto">
            <a:xfrm>
              <a:off x="4712451" y="5807780"/>
              <a:ext cx="337977" cy="44170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sz="1600" i="1">
                  <a:latin typeface="Helvetica" charset="0"/>
                </a:rPr>
                <a:t>d</a:t>
              </a:r>
              <a:endParaRPr lang="en-US" sz="1600">
                <a:latin typeface="Helvetica" charset="0"/>
              </a:endParaRPr>
            </a:p>
          </p:txBody>
        </p:sp>
      </p:grpSp>
      <p:cxnSp>
        <p:nvCxnSpPr>
          <p:cNvPr id="22" name="Gerade Verbindung mit Pfeil 21"/>
          <p:cNvCxnSpPr>
            <a:stCxn id="9" idx="0"/>
            <a:endCxn id="25" idx="1"/>
          </p:cNvCxnSpPr>
          <p:nvPr/>
        </p:nvCxnSpPr>
        <p:spPr>
          <a:xfrm rot="16200000" flipV="1">
            <a:off x="1964494" y="4776366"/>
            <a:ext cx="540060" cy="509623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feld 23"/>
          <p:cNvSpPr txBox="1"/>
          <p:nvPr/>
        </p:nvSpPr>
        <p:spPr>
          <a:xfrm>
            <a:off x="3563888" y="5301208"/>
            <a:ext cx="3096344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/>
              <a:t>Beim Treffer wird hier</a:t>
            </a:r>
          </a:p>
          <a:p>
            <a:r>
              <a:rPr lang="de-DE" dirty="0"/>
              <a:t>die Basisadresse des Seitenrahmens entnommen</a:t>
            </a:r>
          </a:p>
        </p:txBody>
      </p:sp>
      <p:sp>
        <p:nvSpPr>
          <p:cNvPr id="25" name="Geschweifte Klammer rechts 24"/>
          <p:cNvSpPr/>
          <p:nvPr/>
        </p:nvSpPr>
        <p:spPr>
          <a:xfrm>
            <a:off x="1835696" y="4293096"/>
            <a:ext cx="144016" cy="936104"/>
          </a:xfrm>
          <a:prstGeom prst="rightBrac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7" name="Gerade Verbindung mit Pfeil 26"/>
          <p:cNvCxnSpPr>
            <a:stCxn id="24" idx="0"/>
            <a:endCxn id="33" idx="1"/>
          </p:cNvCxnSpPr>
          <p:nvPr/>
        </p:nvCxnSpPr>
        <p:spPr>
          <a:xfrm rot="16200000" flipV="1">
            <a:off x="3959932" y="4149080"/>
            <a:ext cx="540060" cy="1764196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Geschweifte Klammer rechts 32"/>
          <p:cNvSpPr/>
          <p:nvPr/>
        </p:nvSpPr>
        <p:spPr>
          <a:xfrm>
            <a:off x="3203848" y="4293096"/>
            <a:ext cx="144016" cy="936104"/>
          </a:xfrm>
          <a:prstGeom prst="rightBrac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Geschweifte Klammer rechts 34"/>
          <p:cNvSpPr/>
          <p:nvPr/>
        </p:nvSpPr>
        <p:spPr>
          <a:xfrm>
            <a:off x="7452320" y="4149080"/>
            <a:ext cx="288032" cy="1152128"/>
          </a:xfrm>
          <a:prstGeom prst="rightBrac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Textfeld 35"/>
          <p:cNvSpPr txBox="1"/>
          <p:nvPr/>
        </p:nvSpPr>
        <p:spPr>
          <a:xfrm>
            <a:off x="7812360" y="4221088"/>
            <a:ext cx="14285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64 Einträge </a:t>
            </a:r>
          </a:p>
          <a:p>
            <a:r>
              <a:rPr lang="de-DE" dirty="0"/>
              <a:t>(oder </a:t>
            </a:r>
          </a:p>
          <a:p>
            <a:r>
              <a:rPr lang="de-DE" dirty="0"/>
              <a:t>weniger)</a:t>
            </a:r>
          </a:p>
        </p:txBody>
      </p:sp>
      <p:sp>
        <p:nvSpPr>
          <p:cNvPr id="37" name="Textfeld 36"/>
          <p:cNvSpPr txBox="1"/>
          <p:nvPr/>
        </p:nvSpPr>
        <p:spPr>
          <a:xfrm>
            <a:off x="3275856" y="6381328"/>
            <a:ext cx="1928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logische Adresse</a:t>
            </a:r>
          </a:p>
        </p:txBody>
      </p:sp>
      <p:cxnSp>
        <p:nvCxnSpPr>
          <p:cNvPr id="39" name="Gerade Verbindung mit Pfeil 38"/>
          <p:cNvCxnSpPr>
            <a:stCxn id="37" idx="1"/>
            <a:endCxn id="15" idx="3"/>
          </p:cNvCxnSpPr>
          <p:nvPr/>
        </p:nvCxnSpPr>
        <p:spPr>
          <a:xfrm rot="10800000" flipV="1">
            <a:off x="2721016" y="6565994"/>
            <a:ext cx="554840" cy="20968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2D1D788D-8ABA-3767-3102-BC423F50E401}"/>
              </a:ext>
            </a:extLst>
          </p:cNvPr>
          <p:cNvSpPr/>
          <p:nvPr/>
        </p:nvSpPr>
        <p:spPr>
          <a:xfrm rot="854493">
            <a:off x="7050099" y="-21166"/>
            <a:ext cx="2232249" cy="758428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Wiederholung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5229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24" grpId="0" animBg="1"/>
      <p:bldP spid="25" grpId="0" animBg="1"/>
      <p:bldP spid="33" grpId="0" animBg="1"/>
      <p:bldP spid="35" grpId="0" animBg="1"/>
      <p:bldP spid="36" grpId="0"/>
      <p:bldP spid="3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Paging und Prozesse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435280" cy="3073896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Mit jedem Prozess wird eine neue Seitentabelle </a:t>
            </a:r>
            <a:r>
              <a:rPr lang="de-DE" u="sng" dirty="0"/>
              <a:t>nur</a:t>
            </a:r>
            <a:r>
              <a:rPr lang="de-DE" dirty="0"/>
              <a:t> für diesen Prozess erzeugt</a:t>
            </a:r>
          </a:p>
          <a:p>
            <a:pPr lvl="1"/>
            <a:r>
              <a:rPr lang="de-DE" dirty="0"/>
              <a:t>Die nötigen Seitenrahmen können überall liegen</a:t>
            </a:r>
          </a:p>
          <a:p>
            <a:r>
              <a:rPr lang="de-DE" dirty="0"/>
              <a:t>Aber das BS muss die Verwendung des physischen Speichers nachverfolgen</a:t>
            </a:r>
          </a:p>
          <a:p>
            <a:r>
              <a:rPr lang="de-DE" dirty="0"/>
              <a:t>Dazu dient die (globale) </a:t>
            </a:r>
            <a:r>
              <a:rPr lang="de-DE" b="1" dirty="0">
                <a:solidFill>
                  <a:srgbClr val="FF0000"/>
                </a:solidFill>
              </a:rPr>
              <a:t>frame </a:t>
            </a:r>
            <a:r>
              <a:rPr lang="de-DE" b="1" dirty="0" err="1">
                <a:solidFill>
                  <a:srgbClr val="FF0000"/>
                </a:solidFill>
              </a:rPr>
              <a:t>table</a:t>
            </a:r>
            <a:r>
              <a:rPr lang="de-DE" b="1" dirty="0">
                <a:solidFill>
                  <a:srgbClr val="FF0000"/>
                </a:solidFill>
              </a:rPr>
              <a:t> </a:t>
            </a:r>
            <a:r>
              <a:rPr lang="de-DE" dirty="0"/>
              <a:t>(</a:t>
            </a:r>
            <a:r>
              <a:rPr lang="de-DE" b="1" dirty="0">
                <a:solidFill>
                  <a:srgbClr val="FF0000"/>
                </a:solidFill>
              </a:rPr>
              <a:t>Seitenrahmen-</a:t>
            </a:r>
            <a:r>
              <a:rPr lang="de-DE" b="1" dirty="0" err="1">
                <a:solidFill>
                  <a:srgbClr val="FF0000"/>
                </a:solidFill>
              </a:rPr>
              <a:t>tabelle</a:t>
            </a:r>
            <a:r>
              <a:rPr lang="de-DE" dirty="0"/>
              <a:t>) mit </a:t>
            </a:r>
            <a:r>
              <a:rPr lang="de-DE" dirty="0" err="1"/>
              <a:t>Informa</a:t>
            </a:r>
            <a:r>
              <a:rPr lang="de-DE" dirty="0"/>
              <a:t>-</a:t>
            </a:r>
          </a:p>
          <a:p>
            <a:pPr>
              <a:buNone/>
            </a:pPr>
            <a:r>
              <a:rPr lang="de-DE" dirty="0"/>
              <a:t>	</a:t>
            </a:r>
            <a:r>
              <a:rPr lang="de-DE" dirty="0" err="1"/>
              <a:t>tionen</a:t>
            </a:r>
            <a:r>
              <a:rPr lang="de-DE" dirty="0"/>
              <a:t> wie …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7" name="Textfeld 6"/>
          <p:cNvSpPr txBox="1"/>
          <p:nvPr/>
        </p:nvSpPr>
        <p:spPr>
          <a:xfrm>
            <a:off x="199507" y="4256925"/>
            <a:ext cx="4104456" cy="2218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48640" lvl="1" indent="-274320">
              <a:spcBef>
                <a:spcPts val="500"/>
              </a:spcBef>
              <a:buClr>
                <a:srgbClr val="438086"/>
              </a:buClr>
              <a:buSzPct val="76000"/>
              <a:buFont typeface="Wingdings 3"/>
              <a:buChar char=""/>
            </a:pPr>
            <a:r>
              <a:rPr lang="de-DE" sz="2200" dirty="0">
                <a:solidFill>
                  <a:srgbClr val="424456"/>
                </a:solidFill>
              </a:rPr>
              <a:t>Welche Seitenrahmen sind belegt und welche frei?</a:t>
            </a:r>
          </a:p>
          <a:p>
            <a:pPr marL="548640" lvl="1" indent="-274320">
              <a:spcBef>
                <a:spcPts val="500"/>
              </a:spcBef>
              <a:buClr>
                <a:srgbClr val="438086"/>
              </a:buClr>
              <a:buSzPct val="76000"/>
              <a:buFont typeface="Wingdings 3"/>
              <a:buChar char=""/>
            </a:pPr>
            <a:r>
              <a:rPr lang="de-DE" sz="2200" dirty="0">
                <a:solidFill>
                  <a:srgbClr val="424456"/>
                </a:solidFill>
              </a:rPr>
              <a:t>Falls belegt, zu welchem Prozess / welchen Prozessen gehört der Rahmen?</a:t>
            </a:r>
            <a:r>
              <a:rPr lang="de-DE" sz="2400" dirty="0">
                <a:solidFill>
                  <a:srgbClr val="424456"/>
                </a:solidFill>
              </a:rPr>
              <a:t> </a:t>
            </a:r>
          </a:p>
        </p:txBody>
      </p:sp>
      <p:grpSp>
        <p:nvGrpSpPr>
          <p:cNvPr id="12" name="Gruppieren 11"/>
          <p:cNvGrpSpPr/>
          <p:nvPr/>
        </p:nvGrpSpPr>
        <p:grpSpPr>
          <a:xfrm>
            <a:off x="4283968" y="3573016"/>
            <a:ext cx="4495373" cy="3105636"/>
            <a:chOff x="4139952" y="3573016"/>
            <a:chExt cx="4495373" cy="3105636"/>
          </a:xfrm>
        </p:grpSpPr>
        <p:grpSp>
          <p:nvGrpSpPr>
            <p:cNvPr id="11" name="Gruppieren 10"/>
            <p:cNvGrpSpPr/>
            <p:nvPr/>
          </p:nvGrpSpPr>
          <p:grpSpPr>
            <a:xfrm>
              <a:off x="4211960" y="3573016"/>
              <a:ext cx="4184278" cy="2880320"/>
              <a:chOff x="4211960" y="3573016"/>
              <a:chExt cx="4184278" cy="2880320"/>
            </a:xfrm>
          </p:grpSpPr>
          <p:pic>
            <p:nvPicPr>
              <p:cNvPr id="5122" name="Picture 2" descr="C:\Artur\Academic\Lehre\10.WS-IBN\VL\figures\vl07\processes and paging.jpg"/>
              <p:cNvPicPr>
                <a:picLocks noChangeAspect="1" noChangeArrowheads="1"/>
              </p:cNvPicPr>
              <p:nvPr/>
            </p:nvPicPr>
            <p:blipFill>
              <a:blip r:embed="rId3" cstate="print"/>
              <a:srcRect/>
              <a:stretch>
                <a:fillRect/>
              </a:stretch>
            </p:blipFill>
            <p:spPr bwMode="auto">
              <a:xfrm>
                <a:off x="4211960" y="3573016"/>
                <a:ext cx="4184278" cy="2866294"/>
              </a:xfrm>
              <a:prstGeom prst="rect">
                <a:avLst/>
              </a:prstGeom>
              <a:noFill/>
            </p:spPr>
          </p:pic>
          <p:sp>
            <p:nvSpPr>
              <p:cNvPr id="10" name="Ellipse 9"/>
              <p:cNvSpPr/>
              <p:nvPr/>
            </p:nvSpPr>
            <p:spPr>
              <a:xfrm>
                <a:off x="6228184" y="5445224"/>
                <a:ext cx="1656184" cy="1008112"/>
              </a:xfrm>
              <a:prstGeom prst="ellipse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8" name="Textfeld 7"/>
            <p:cNvSpPr txBox="1"/>
            <p:nvPr/>
          </p:nvSpPr>
          <p:spPr>
            <a:xfrm>
              <a:off x="4139952" y="6309320"/>
              <a:ext cx="17235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vor dem Laden</a:t>
              </a:r>
            </a:p>
          </p:txBody>
        </p:sp>
        <p:sp>
          <p:nvSpPr>
            <p:cNvPr id="9" name="Textfeld 8"/>
            <p:cNvSpPr txBox="1"/>
            <p:nvPr/>
          </p:nvSpPr>
          <p:spPr>
            <a:xfrm>
              <a:off x="6732240" y="6309320"/>
              <a:ext cx="19030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nach dem Laden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667466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7</a:t>
            </a:fld>
            <a:endParaRPr lang="de-DE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Paging – Größe der Seitentabelle</a:t>
            </a:r>
          </a:p>
        </p:txBody>
      </p:sp>
    </p:spTree>
    <p:extLst>
      <p:ext uri="{BB962C8B-B14F-4D97-AF65-F5344CB8AC3E}">
        <p14:creationId xmlns:p14="http://schemas.microsoft.com/office/powerpoint/2010/main" val="1964374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Problem: Größe der Seitentabelle (ST)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Logischer Adressraum bei der IA32-Architektur</a:t>
            </a:r>
          </a:p>
          <a:p>
            <a:pPr lvl="1"/>
            <a:r>
              <a:rPr lang="de-DE" dirty="0"/>
              <a:t>4kB Seitengröße (2</a:t>
            </a:r>
            <a:r>
              <a:rPr lang="de-DE" baseline="30000" dirty="0"/>
              <a:t>12</a:t>
            </a:r>
            <a:r>
              <a:rPr lang="de-DE" dirty="0"/>
              <a:t>), 4 GB Speicher (2</a:t>
            </a:r>
            <a:r>
              <a:rPr lang="de-DE" baseline="30000" dirty="0"/>
              <a:t>32</a:t>
            </a:r>
            <a:r>
              <a:rPr lang="de-DE" dirty="0"/>
              <a:t>) =&gt; 2</a:t>
            </a:r>
            <a:r>
              <a:rPr lang="de-DE" baseline="30000" dirty="0"/>
              <a:t>20</a:t>
            </a:r>
            <a:r>
              <a:rPr lang="de-DE" dirty="0"/>
              <a:t> ~ 1 Mio. (bzw. 1 „MB“) Einträge der Seitentabelle</a:t>
            </a:r>
          </a:p>
          <a:p>
            <a:pPr lvl="1"/>
            <a:r>
              <a:rPr lang="de-DE" dirty="0"/>
              <a:t>Jeder ST-Eintrag hat 4 Bytes </a:t>
            </a:r>
            <a:r>
              <a:rPr lang="de-DE" sz="2000" dirty="0"/>
              <a:t>(</a:t>
            </a:r>
            <a:r>
              <a:rPr lang="de-DE" sz="2000" dirty="0">
                <a:hlinkClick r:id="rId3"/>
              </a:rPr>
              <a:t>https://wiki.osdev.org/Paging</a:t>
            </a:r>
            <a:r>
              <a:rPr lang="de-DE" sz="2000" dirty="0"/>
              <a:t>)</a:t>
            </a:r>
          </a:p>
          <a:p>
            <a:pPr lvl="2"/>
            <a:r>
              <a:rPr lang="de-DE" dirty="0"/>
              <a:t>=&gt; Vollständige Seitentabelle hätte </a:t>
            </a:r>
            <a:r>
              <a:rPr lang="de-DE" dirty="0">
                <a:solidFill>
                  <a:srgbClr val="0070C0"/>
                </a:solidFill>
              </a:rPr>
              <a:t>4 MB </a:t>
            </a:r>
            <a:r>
              <a:rPr lang="de-DE" i="1" dirty="0">
                <a:solidFill>
                  <a:srgbClr val="0070C0"/>
                </a:solidFill>
              </a:rPr>
              <a:t>pro Prozess</a:t>
            </a:r>
            <a:r>
              <a:rPr lang="de-DE" dirty="0"/>
              <a:t>!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13"/>
          </p:nvPr>
        </p:nvSpPr>
        <p:spPr>
          <a:xfrm>
            <a:off x="467544" y="3861048"/>
            <a:ext cx="8208912" cy="2497832"/>
          </a:xfrm>
        </p:spPr>
        <p:txBody>
          <a:bodyPr/>
          <a:lstStyle/>
          <a:p>
            <a:r>
              <a:rPr lang="de-DE" dirty="0"/>
              <a:t>Ein 64-Bit Prozessor hat  bis zu 2</a:t>
            </a:r>
            <a:r>
              <a:rPr lang="de-DE" baseline="30000" dirty="0"/>
              <a:t>64 </a:t>
            </a:r>
            <a:r>
              <a:rPr lang="de-DE" dirty="0"/>
              <a:t>Adressen</a:t>
            </a:r>
          </a:p>
          <a:p>
            <a:pPr lvl="1"/>
            <a:r>
              <a:rPr lang="de-DE" dirty="0"/>
              <a:t>Bei 4 kB Seitengröße hätte eine </a:t>
            </a:r>
            <a:r>
              <a:rPr lang="de-DE" dirty="0">
                <a:solidFill>
                  <a:srgbClr val="0070C0"/>
                </a:solidFill>
              </a:rPr>
              <a:t>vollständige Seitentabelle </a:t>
            </a:r>
            <a:r>
              <a:rPr lang="de-DE" dirty="0"/>
              <a:t>2</a:t>
            </a:r>
            <a:r>
              <a:rPr lang="de-DE" baseline="30000" dirty="0"/>
              <a:t>(64-12)</a:t>
            </a:r>
            <a:r>
              <a:rPr lang="de-DE" dirty="0"/>
              <a:t>=2</a:t>
            </a:r>
            <a:r>
              <a:rPr lang="de-DE" baseline="30000" dirty="0"/>
              <a:t>52</a:t>
            </a:r>
            <a:r>
              <a:rPr lang="de-DE" dirty="0"/>
              <a:t> Einträge, je mit 64 Bits =&gt; </a:t>
            </a:r>
            <a:r>
              <a:rPr lang="de-DE" dirty="0">
                <a:solidFill>
                  <a:srgbClr val="0070C0"/>
                </a:solidFill>
              </a:rPr>
              <a:t>2</a:t>
            </a:r>
            <a:r>
              <a:rPr lang="de-DE" baseline="30000" dirty="0">
                <a:solidFill>
                  <a:srgbClr val="0070C0"/>
                </a:solidFill>
              </a:rPr>
              <a:t>55</a:t>
            </a:r>
            <a:r>
              <a:rPr lang="de-DE" dirty="0">
                <a:solidFill>
                  <a:srgbClr val="0070C0"/>
                </a:solidFill>
              </a:rPr>
              <a:t> Bytes Speicher</a:t>
            </a:r>
            <a:r>
              <a:rPr lang="de-DE" dirty="0"/>
              <a:t>!</a:t>
            </a:r>
          </a:p>
          <a:p>
            <a:pPr lvl="1"/>
            <a:r>
              <a:rPr lang="de-DE" dirty="0"/>
              <a:t>Hinzu kommt: Der logische Adressraum übersteigt die Größe von heutigen RAMs um ein Mehrfaches</a:t>
            </a:r>
          </a:p>
          <a:p>
            <a:endParaRPr lang="en-US" dirty="0"/>
          </a:p>
        </p:txBody>
      </p:sp>
      <p:sp>
        <p:nvSpPr>
          <p:cNvPr id="7" name="Sprechblase: rechteckig mit abgerundeten Ecken 6">
            <a:extLst>
              <a:ext uri="{FF2B5EF4-FFF2-40B4-BE49-F238E27FC236}">
                <a16:creationId xmlns:a16="http://schemas.microsoft.com/office/drawing/2014/main" id="{826B43A8-A788-41CA-B456-094279FF3F8C}"/>
              </a:ext>
            </a:extLst>
          </p:cNvPr>
          <p:cNvSpPr/>
          <p:nvPr/>
        </p:nvSpPr>
        <p:spPr>
          <a:xfrm>
            <a:off x="1403648" y="3350766"/>
            <a:ext cx="2664296" cy="436240"/>
          </a:xfrm>
          <a:prstGeom prst="wedgeRoundRectCallout">
            <a:avLst>
              <a:gd name="adj1" fmla="val -23886"/>
              <a:gd name="adj2" fmla="val 79967"/>
              <a:gd name="adj3" fmla="val 16667"/>
            </a:avLst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Was ist das eigentlich?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06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67C51A-8F50-4C58-B748-273673A74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Wie viele Seiten sind nötig?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0497E31-2806-4D40-AAA8-7CD55D176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7F379E1-FE5C-4D5E-AF0D-D281C92C7A3F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de-DE" dirty="0"/>
              <a:t>Wie viele Seiten (= Kacheln des logischen Adressraumes) brauchen wir bei 64 Bit Systemen?</a:t>
            </a:r>
          </a:p>
          <a:p>
            <a:r>
              <a:rPr lang="de-DE" dirty="0"/>
              <a:t>Einsicht: Wir können grundsätzlich nicht mehr Seiten haben, als es physische Rahmen gibt</a:t>
            </a:r>
            <a:endParaRPr lang="en-US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4A80E65-102B-430A-920A-0E20846E58E3}"/>
              </a:ext>
            </a:extLst>
          </p:cNvPr>
          <p:cNvSpPr txBox="1"/>
          <p:nvPr/>
        </p:nvSpPr>
        <p:spPr>
          <a:xfrm>
            <a:off x="5868144" y="570618"/>
            <a:ext cx="3362074" cy="5232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highlight>
                  <a:srgbClr val="00FF00"/>
                </a:highlight>
              </a:rPr>
              <a:t>https://bit.ly/ibn_hd</a:t>
            </a:r>
            <a:endParaRPr lang="de-DE" sz="2800" dirty="0">
              <a:highlight>
                <a:srgbClr val="00FF00"/>
              </a:highlight>
            </a:endParaRPr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1EDF022B-88EA-4ACD-8EA5-8695E27A69C2}"/>
              </a:ext>
            </a:extLst>
          </p:cNvPr>
          <p:cNvGrpSpPr/>
          <p:nvPr/>
        </p:nvGrpSpPr>
        <p:grpSpPr>
          <a:xfrm>
            <a:off x="1346198" y="3030825"/>
            <a:ext cx="6736407" cy="1196658"/>
            <a:chOff x="1346198" y="3030825"/>
            <a:chExt cx="6898209" cy="1196658"/>
          </a:xfrm>
        </p:grpSpPr>
        <p:grpSp>
          <p:nvGrpSpPr>
            <p:cNvPr id="18" name="Gruppieren 17">
              <a:extLst>
                <a:ext uri="{FF2B5EF4-FFF2-40B4-BE49-F238E27FC236}">
                  <a16:creationId xmlns:a16="http://schemas.microsoft.com/office/drawing/2014/main" id="{C71D6F69-8FEE-4752-A36A-6EFD05980238}"/>
                </a:ext>
              </a:extLst>
            </p:cNvPr>
            <p:cNvGrpSpPr/>
            <p:nvPr/>
          </p:nvGrpSpPr>
          <p:grpSpPr>
            <a:xfrm>
              <a:off x="1346198" y="3539672"/>
              <a:ext cx="6898209" cy="687811"/>
              <a:chOff x="532858" y="4941169"/>
              <a:chExt cx="8287613" cy="1440159"/>
            </a:xfrm>
          </p:grpSpPr>
          <p:sp>
            <p:nvSpPr>
              <p:cNvPr id="19" name="Rechteck 18">
                <a:extLst>
                  <a:ext uri="{FF2B5EF4-FFF2-40B4-BE49-F238E27FC236}">
                    <a16:creationId xmlns:a16="http://schemas.microsoft.com/office/drawing/2014/main" id="{F07F8BD9-F462-4E09-B5B6-4B14FF2946C6}"/>
                  </a:ext>
                </a:extLst>
              </p:cNvPr>
              <p:cNvSpPr/>
              <p:nvPr/>
            </p:nvSpPr>
            <p:spPr>
              <a:xfrm>
                <a:off x="539552" y="5301207"/>
                <a:ext cx="8280919" cy="1080121"/>
              </a:xfrm>
              <a:prstGeom prst="rect">
                <a:avLst/>
              </a:prstGeom>
              <a:ln/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Rechteck 22">
                <a:extLst>
                  <a:ext uri="{FF2B5EF4-FFF2-40B4-BE49-F238E27FC236}">
                    <a16:creationId xmlns:a16="http://schemas.microsoft.com/office/drawing/2014/main" id="{BCB74462-8210-4C18-BB09-74808186A452}"/>
                  </a:ext>
                </a:extLst>
              </p:cNvPr>
              <p:cNvSpPr/>
              <p:nvPr/>
            </p:nvSpPr>
            <p:spPr>
              <a:xfrm>
                <a:off x="2818273" y="5276728"/>
                <a:ext cx="1683199" cy="1098111"/>
              </a:xfrm>
              <a:prstGeom prst="rect">
                <a:avLst/>
              </a:prstGeom>
              <a:ln/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/>
                  <a:t>4 „</a:t>
                </a:r>
                <a:r>
                  <a:rPr lang="de-DE" dirty="0" err="1"/>
                  <a:t>GiB</a:t>
                </a:r>
                <a:r>
                  <a:rPr lang="de-DE" dirty="0"/>
                  <a:t>“</a:t>
                </a:r>
                <a:endParaRPr lang="en-US" dirty="0"/>
              </a:p>
            </p:txBody>
          </p:sp>
          <p:sp>
            <p:nvSpPr>
              <p:cNvPr id="26" name="Geschweifte Klammer links 25">
                <a:extLst>
                  <a:ext uri="{FF2B5EF4-FFF2-40B4-BE49-F238E27FC236}">
                    <a16:creationId xmlns:a16="http://schemas.microsoft.com/office/drawing/2014/main" id="{636B7BAE-8DC5-4CF7-9BD0-09F1A73BD7D4}"/>
                  </a:ext>
                </a:extLst>
              </p:cNvPr>
              <p:cNvSpPr/>
              <p:nvPr/>
            </p:nvSpPr>
            <p:spPr>
              <a:xfrm rot="5400000">
                <a:off x="4527765" y="946262"/>
                <a:ext cx="288031" cy="8277845"/>
              </a:xfrm>
              <a:prstGeom prst="leftBrac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C3D254F4-2076-4CEF-BA09-AFA2A1F024B9}"/>
                </a:ext>
              </a:extLst>
            </p:cNvPr>
            <p:cNvSpPr txBox="1"/>
            <p:nvPr/>
          </p:nvSpPr>
          <p:spPr>
            <a:xfrm>
              <a:off x="2142404" y="3030825"/>
              <a:ext cx="54452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Ein sehr großer logischer Adressraum: 2</a:t>
              </a:r>
              <a:r>
                <a:rPr lang="de-DE" baseline="30000" dirty="0"/>
                <a:t>64</a:t>
              </a:r>
              <a:r>
                <a:rPr lang="de-DE" dirty="0"/>
                <a:t> „Bytes“</a:t>
              </a:r>
              <a:endParaRPr lang="en-US" dirty="0"/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98C5A1D7-99D8-4778-BB8D-85B7B6645B44}"/>
              </a:ext>
            </a:extLst>
          </p:cNvPr>
          <p:cNvGrpSpPr/>
          <p:nvPr/>
        </p:nvGrpSpPr>
        <p:grpSpPr>
          <a:xfrm>
            <a:off x="-66578" y="4431707"/>
            <a:ext cx="9104112" cy="1412776"/>
            <a:chOff x="-66578" y="4431707"/>
            <a:chExt cx="9104112" cy="1412776"/>
          </a:xfrm>
        </p:grpSpPr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62502E73-FE3F-486B-93CE-450A0E039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4"/>
                </a:ext>
              </a:extLst>
            </a:blip>
            <a:stretch>
              <a:fillRect/>
            </a:stretch>
          </p:blipFill>
          <p:spPr>
            <a:xfrm>
              <a:off x="-66578" y="4431707"/>
              <a:ext cx="1412776" cy="1412776"/>
            </a:xfrm>
            <a:prstGeom prst="rect">
              <a:avLst/>
            </a:prstGeom>
          </p:spPr>
        </p:pic>
        <p:pic>
          <p:nvPicPr>
            <p:cNvPr id="16" name="Grafik 15">
              <a:extLst>
                <a:ext uri="{FF2B5EF4-FFF2-40B4-BE49-F238E27FC236}">
                  <a16:creationId xmlns:a16="http://schemas.microsoft.com/office/drawing/2014/main" id="{C128890C-14FD-45ED-BB09-17A1F443CF6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6"/>
                </a:ext>
              </a:extLst>
            </a:blip>
            <a:stretch>
              <a:fillRect/>
            </a:stretch>
          </p:blipFill>
          <p:spPr>
            <a:xfrm>
              <a:off x="8046934" y="4648200"/>
              <a:ext cx="990600" cy="990600"/>
            </a:xfrm>
            <a:prstGeom prst="rect">
              <a:avLst/>
            </a:prstGeom>
          </p:spPr>
        </p:pic>
        <p:sp>
          <p:nvSpPr>
            <p:cNvPr id="28" name="Pfeil: nach links und rechts 27">
              <a:extLst>
                <a:ext uri="{FF2B5EF4-FFF2-40B4-BE49-F238E27FC236}">
                  <a16:creationId xmlns:a16="http://schemas.microsoft.com/office/drawing/2014/main" id="{2D17FD94-CA5E-4FA1-A273-F4C8546F6A80}"/>
                </a:ext>
              </a:extLst>
            </p:cNvPr>
            <p:cNvSpPr/>
            <p:nvPr/>
          </p:nvSpPr>
          <p:spPr>
            <a:xfrm>
              <a:off x="1346198" y="4908282"/>
              <a:ext cx="6736407" cy="472159"/>
            </a:xfrm>
            <a:prstGeom prst="leftRightArrow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6FCEDE32-C19A-4E2E-B88D-18E835F0B8CC}"/>
                </a:ext>
              </a:extLst>
            </p:cNvPr>
            <p:cNvSpPr/>
            <p:nvPr/>
          </p:nvSpPr>
          <p:spPr>
            <a:xfrm>
              <a:off x="5288964" y="4648200"/>
              <a:ext cx="182614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de-DE" i="1" dirty="0"/>
                <a:t>ca. 400 000 km </a:t>
              </a:r>
              <a:endParaRPr lang="en-US" dirty="0"/>
            </a:p>
          </p:txBody>
        </p:sp>
      </p:grpSp>
      <p:sp>
        <p:nvSpPr>
          <p:cNvPr id="31" name="Rechteck 30">
            <a:extLst>
              <a:ext uri="{FF2B5EF4-FFF2-40B4-BE49-F238E27FC236}">
                <a16:creationId xmlns:a16="http://schemas.microsoft.com/office/drawing/2014/main" id="{54E986F2-F94C-46DC-B571-47005AC0FEC9}"/>
              </a:ext>
            </a:extLst>
          </p:cNvPr>
          <p:cNvSpPr/>
          <p:nvPr/>
        </p:nvSpPr>
        <p:spPr>
          <a:xfrm>
            <a:off x="3203848" y="5317998"/>
            <a:ext cx="1368152" cy="52445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X = ? km</a:t>
            </a:r>
            <a:endParaRPr lang="en-US" dirty="0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C1295314-E126-48DF-AE68-9790030549CB}"/>
              </a:ext>
            </a:extLst>
          </p:cNvPr>
          <p:cNvSpPr txBox="1"/>
          <p:nvPr/>
        </p:nvSpPr>
        <p:spPr>
          <a:xfrm>
            <a:off x="3078499" y="5918353"/>
            <a:ext cx="1601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X = ca. 10 cm</a:t>
            </a:r>
            <a:endParaRPr lang="en-US" dirty="0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F4A472BE-7A1C-4AD0-9E75-20ECA1F65551}"/>
              </a:ext>
            </a:extLst>
          </p:cNvPr>
          <p:cNvSpPr txBox="1"/>
          <p:nvPr/>
        </p:nvSpPr>
        <p:spPr>
          <a:xfrm>
            <a:off x="5148064" y="5613546"/>
            <a:ext cx="255711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</a:t>
            </a:r>
            <a:r>
              <a:rPr lang="de-DE" baseline="30000" dirty="0"/>
              <a:t>32</a:t>
            </a:r>
            <a:r>
              <a:rPr lang="de-DE" dirty="0"/>
              <a:t>/2</a:t>
            </a:r>
            <a:r>
              <a:rPr lang="de-DE" baseline="30000" dirty="0"/>
              <a:t>64</a:t>
            </a:r>
            <a:r>
              <a:rPr lang="de-DE" dirty="0"/>
              <a:t> * (400 000km) =</a:t>
            </a:r>
          </a:p>
          <a:p>
            <a:r>
              <a:rPr lang="de-DE" dirty="0"/>
              <a:t>2</a:t>
            </a:r>
            <a:r>
              <a:rPr lang="de-DE" baseline="30000" dirty="0"/>
              <a:t>-32</a:t>
            </a:r>
            <a:r>
              <a:rPr lang="de-DE" dirty="0"/>
              <a:t> * (400 000km) ~</a:t>
            </a:r>
          </a:p>
          <a:p>
            <a:r>
              <a:rPr lang="de-DE" dirty="0"/>
              <a:t>(400 000km)/(4*10</a:t>
            </a:r>
            <a:r>
              <a:rPr lang="de-DE" baseline="30000" dirty="0"/>
              <a:t>9</a:t>
            </a:r>
            <a:r>
              <a:rPr lang="de-DE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515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3" grpId="0"/>
      <p:bldP spid="3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Problem: Größe der Seitentabelle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435280" cy="2723148"/>
          </a:xfrm>
        </p:spPr>
        <p:txBody>
          <a:bodyPr>
            <a:normAutofit/>
          </a:bodyPr>
          <a:lstStyle/>
          <a:p>
            <a:r>
              <a:rPr lang="de-DE" dirty="0"/>
              <a:t>Brauchen wir wirklich eine </a:t>
            </a:r>
            <a:r>
              <a:rPr lang="de-DE" u="sng" dirty="0"/>
              <a:t>vollständige</a:t>
            </a:r>
            <a:r>
              <a:rPr lang="de-DE" dirty="0"/>
              <a:t> Seitentabelle?</a:t>
            </a:r>
          </a:p>
          <a:p>
            <a:r>
              <a:rPr lang="de-DE" dirty="0"/>
              <a:t>Idee: wir geben den Prozessen die Freiheit bei der Verwendung des logischen Addressraumes </a:t>
            </a:r>
          </a:p>
          <a:p>
            <a:r>
              <a:rPr lang="de-DE" dirty="0"/>
              <a:t>… ABER die Gesamtanzahl der </a:t>
            </a:r>
            <a:r>
              <a:rPr lang="de-DE" u="sng" dirty="0"/>
              <a:t>verwendeten</a:t>
            </a:r>
            <a:r>
              <a:rPr lang="de-DE" dirty="0"/>
              <a:t> logischen Seiten soll (pro Prozess) beschränkt sein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10</a:t>
            </a:fld>
            <a:endParaRPr lang="en-US" noProof="0" dirty="0"/>
          </a:p>
        </p:txBody>
      </p:sp>
      <p:grpSp>
        <p:nvGrpSpPr>
          <p:cNvPr id="13" name="Gruppieren 12"/>
          <p:cNvGrpSpPr/>
          <p:nvPr/>
        </p:nvGrpSpPr>
        <p:grpSpPr>
          <a:xfrm>
            <a:off x="500371" y="4221089"/>
            <a:ext cx="8287614" cy="1440159"/>
            <a:chOff x="532858" y="4941169"/>
            <a:chExt cx="8287614" cy="1440159"/>
          </a:xfrm>
        </p:grpSpPr>
        <p:sp>
          <p:nvSpPr>
            <p:cNvPr id="5" name="Rechteck 4"/>
            <p:cNvSpPr/>
            <p:nvPr/>
          </p:nvSpPr>
          <p:spPr>
            <a:xfrm>
              <a:off x="539552" y="5301208"/>
              <a:ext cx="8280920" cy="1080120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/>
                <a:t>…</a:t>
              </a:r>
              <a:endParaRPr lang="en-US" dirty="0"/>
            </a:p>
          </p:txBody>
        </p:sp>
        <p:sp>
          <p:nvSpPr>
            <p:cNvPr id="6" name="Rechteck 5"/>
            <p:cNvSpPr/>
            <p:nvPr/>
          </p:nvSpPr>
          <p:spPr>
            <a:xfrm>
              <a:off x="539958" y="5301208"/>
              <a:ext cx="935698" cy="108012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/>
                <a:t>Text (Code)</a:t>
              </a:r>
              <a:endParaRPr lang="en-US" dirty="0"/>
            </a:p>
          </p:txBody>
        </p:sp>
        <p:sp>
          <p:nvSpPr>
            <p:cNvPr id="7" name="Rechteck 6"/>
            <p:cNvSpPr/>
            <p:nvPr/>
          </p:nvSpPr>
          <p:spPr>
            <a:xfrm>
              <a:off x="1476062" y="5301208"/>
              <a:ext cx="935698" cy="1080120"/>
            </a:xfrm>
            <a:prstGeom prst="rect">
              <a:avLst/>
            </a:prstGeom>
            <a:ln/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err="1"/>
                <a:t>Static</a:t>
              </a:r>
              <a:r>
                <a:rPr lang="de-DE" dirty="0"/>
                <a:t> Data</a:t>
              </a:r>
              <a:endParaRPr lang="en-US" dirty="0"/>
            </a:p>
          </p:txBody>
        </p:sp>
        <p:sp>
          <p:nvSpPr>
            <p:cNvPr id="8" name="Rechteck 7"/>
            <p:cNvSpPr/>
            <p:nvPr/>
          </p:nvSpPr>
          <p:spPr>
            <a:xfrm>
              <a:off x="2483768" y="5294718"/>
              <a:ext cx="828092" cy="1080120"/>
            </a:xfrm>
            <a:prstGeom prst="rect">
              <a:avLst/>
            </a:prstGeom>
            <a:ln/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/>
                <a:t>Heap 0</a:t>
              </a:r>
              <a:endParaRPr lang="en-US" dirty="0"/>
            </a:p>
          </p:txBody>
        </p:sp>
        <p:sp>
          <p:nvSpPr>
            <p:cNvPr id="9" name="Rechteck 8"/>
            <p:cNvSpPr/>
            <p:nvPr/>
          </p:nvSpPr>
          <p:spPr>
            <a:xfrm>
              <a:off x="3419872" y="5294718"/>
              <a:ext cx="828092" cy="1080120"/>
            </a:xfrm>
            <a:prstGeom prst="rect">
              <a:avLst/>
            </a:prstGeom>
            <a:ln/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/>
                <a:t>Heap 1</a:t>
              </a:r>
              <a:endParaRPr lang="en-US" dirty="0"/>
            </a:p>
          </p:txBody>
        </p:sp>
        <p:sp>
          <p:nvSpPr>
            <p:cNvPr id="10" name="Rechteck 9"/>
            <p:cNvSpPr/>
            <p:nvPr/>
          </p:nvSpPr>
          <p:spPr>
            <a:xfrm>
              <a:off x="7812360" y="5301208"/>
              <a:ext cx="1005441" cy="1080120"/>
            </a:xfrm>
            <a:prstGeom prst="rect">
              <a:avLst/>
            </a:prstGeom>
            <a:ln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/>
                <a:t>Stack Thread 0</a:t>
              </a:r>
              <a:endParaRPr lang="en-US" dirty="0"/>
            </a:p>
          </p:txBody>
        </p:sp>
        <p:sp>
          <p:nvSpPr>
            <p:cNvPr id="11" name="Rechteck 10"/>
            <p:cNvSpPr/>
            <p:nvPr/>
          </p:nvSpPr>
          <p:spPr>
            <a:xfrm>
              <a:off x="6660232" y="5294718"/>
              <a:ext cx="1005441" cy="1080120"/>
            </a:xfrm>
            <a:prstGeom prst="rect">
              <a:avLst/>
            </a:prstGeom>
            <a:ln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/>
                <a:t>Stack Thread 1</a:t>
              </a:r>
              <a:endParaRPr lang="en-US" dirty="0"/>
            </a:p>
          </p:txBody>
        </p:sp>
        <p:sp>
          <p:nvSpPr>
            <p:cNvPr id="12" name="Geschweifte Klammer links 11"/>
            <p:cNvSpPr/>
            <p:nvPr/>
          </p:nvSpPr>
          <p:spPr>
            <a:xfrm rot="5400000">
              <a:off x="4527765" y="946262"/>
              <a:ext cx="288031" cy="8277845"/>
            </a:xfrm>
            <a:prstGeom prst="leftBrace">
              <a:avLst/>
            </a:prstGeom>
            <a:ln w="285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feld 13"/>
          <p:cNvSpPr txBox="1"/>
          <p:nvPr/>
        </p:nvSpPr>
        <p:spPr>
          <a:xfrm>
            <a:off x="2257839" y="3861048"/>
            <a:ext cx="47629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Sehr großer logischer Adressraum (z.B. 2</a:t>
            </a:r>
            <a:r>
              <a:rPr lang="de-DE" baseline="30000" dirty="0"/>
              <a:t>64</a:t>
            </a:r>
            <a:r>
              <a:rPr lang="de-DE" dirty="0"/>
              <a:t>)</a:t>
            </a:r>
            <a:endParaRPr lang="en-US" dirty="0"/>
          </a:p>
        </p:txBody>
      </p:sp>
      <p:grpSp>
        <p:nvGrpSpPr>
          <p:cNvPr id="28" name="Gruppieren 27"/>
          <p:cNvGrpSpPr/>
          <p:nvPr/>
        </p:nvGrpSpPr>
        <p:grpSpPr>
          <a:xfrm>
            <a:off x="975320" y="5654758"/>
            <a:ext cx="7307274" cy="963328"/>
            <a:chOff x="975320" y="5654758"/>
            <a:chExt cx="7307274" cy="963328"/>
          </a:xfrm>
        </p:grpSpPr>
        <p:sp>
          <p:nvSpPr>
            <p:cNvPr id="15" name="Textfeld 14"/>
            <p:cNvSpPr txBox="1"/>
            <p:nvPr/>
          </p:nvSpPr>
          <p:spPr>
            <a:xfrm>
              <a:off x="1837556" y="6248754"/>
              <a:ext cx="6288966" cy="369332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de-DE" dirty="0"/>
                <a:t>Wirklich belegte Seiten: viel weniger, z.B. insgesamt 64 </a:t>
              </a:r>
              <a:r>
                <a:rPr lang="de-DE" dirty="0" err="1"/>
                <a:t>MiB</a:t>
              </a:r>
              <a:endParaRPr lang="en-US" dirty="0"/>
            </a:p>
          </p:txBody>
        </p:sp>
        <p:cxnSp>
          <p:nvCxnSpPr>
            <p:cNvPr id="17" name="Gerade Verbindung 16"/>
            <p:cNvCxnSpPr>
              <a:stCxn id="6" idx="2"/>
            </p:cNvCxnSpPr>
            <p:nvPr/>
          </p:nvCxnSpPr>
          <p:spPr>
            <a:xfrm>
              <a:off x="975320" y="5661248"/>
              <a:ext cx="1724472" cy="587506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17"/>
            <p:cNvCxnSpPr>
              <a:stCxn id="7" idx="2"/>
            </p:cNvCxnSpPr>
            <p:nvPr/>
          </p:nvCxnSpPr>
          <p:spPr>
            <a:xfrm>
              <a:off x="1911424" y="5661248"/>
              <a:ext cx="1220416" cy="587506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20"/>
            <p:cNvCxnSpPr/>
            <p:nvPr/>
          </p:nvCxnSpPr>
          <p:spPr>
            <a:xfrm>
              <a:off x="2847528" y="5661248"/>
              <a:ext cx="1220416" cy="587506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21"/>
            <p:cNvCxnSpPr/>
            <p:nvPr/>
          </p:nvCxnSpPr>
          <p:spPr>
            <a:xfrm>
              <a:off x="3783632" y="5661248"/>
              <a:ext cx="1220416" cy="587506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22"/>
            <p:cNvCxnSpPr>
              <a:stCxn id="11" idx="2"/>
            </p:cNvCxnSpPr>
            <p:nvPr/>
          </p:nvCxnSpPr>
          <p:spPr>
            <a:xfrm flipH="1">
              <a:off x="5940152" y="5654758"/>
              <a:ext cx="1190314" cy="593996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 Verbindung 24"/>
            <p:cNvCxnSpPr>
              <a:stCxn id="10" idx="2"/>
            </p:cNvCxnSpPr>
            <p:nvPr/>
          </p:nvCxnSpPr>
          <p:spPr>
            <a:xfrm flipH="1">
              <a:off x="6627746" y="5661248"/>
              <a:ext cx="1654848" cy="587506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800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99FC5-A88E-4EB9-8580-84BB32775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Zwei Lösungsansätze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9DFE0B-BC08-48B9-9819-BFBB29F8C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9C13A8-156E-416F-9A92-36CD71AFC82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de-DE" dirty="0"/>
              <a:t>Grundprinzip: Nur ein Bruchteil der </a:t>
            </a:r>
            <a:r>
              <a:rPr lang="de-DE" u="sng" dirty="0"/>
              <a:t>logischen</a:t>
            </a:r>
            <a:r>
              <a:rPr lang="de-DE" dirty="0"/>
              <a:t> Adressen wird verfügbar gemacht</a:t>
            </a:r>
          </a:p>
          <a:p>
            <a:r>
              <a:rPr lang="de-DE" dirty="0"/>
              <a:t>Ansatz 1: </a:t>
            </a:r>
            <a:r>
              <a:rPr lang="de-DE" dirty="0">
                <a:solidFill>
                  <a:srgbClr val="0070C0"/>
                </a:solidFill>
              </a:rPr>
              <a:t>Invertierte Seitentabellen</a:t>
            </a:r>
          </a:p>
          <a:p>
            <a:pPr lvl="1"/>
            <a:r>
              <a:rPr lang="de-DE" dirty="0"/>
              <a:t>Jeder Eintrag entspricht genau einem Rahmen (= Kachel des physischen Speichers)</a:t>
            </a:r>
          </a:p>
          <a:p>
            <a:pPr lvl="1"/>
            <a:r>
              <a:rPr lang="de-DE" dirty="0"/>
              <a:t>Eine </a:t>
            </a:r>
            <a:r>
              <a:rPr lang="de-DE" u="sng" dirty="0"/>
              <a:t>einzige</a:t>
            </a:r>
            <a:r>
              <a:rPr lang="de-DE" dirty="0"/>
              <a:t> Tabelle für alle Prozesse</a:t>
            </a:r>
          </a:p>
          <a:p>
            <a:pPr lvl="2"/>
            <a:r>
              <a:rPr lang="de-DE" dirty="0"/>
              <a:t>=&gt; Größe der Tabelle ist proportional zur RAM-Größe</a:t>
            </a:r>
          </a:p>
          <a:p>
            <a:r>
              <a:rPr lang="de-DE" dirty="0"/>
              <a:t>Ansatz 2: </a:t>
            </a:r>
            <a:r>
              <a:rPr lang="de-DE" dirty="0">
                <a:solidFill>
                  <a:srgbClr val="0070C0"/>
                </a:solidFill>
              </a:rPr>
              <a:t>Hierarchische Seitentabellen</a:t>
            </a:r>
          </a:p>
          <a:p>
            <a:pPr lvl="1"/>
            <a:r>
              <a:rPr lang="de-DE" dirty="0"/>
              <a:t>Ähnlich wie die direkten Seitentabellen, aber es existieren nur die benötigten Teile der Seitentabelle </a:t>
            </a:r>
          </a:p>
          <a:p>
            <a:pPr lvl="1"/>
            <a:r>
              <a:rPr lang="de-DE" dirty="0"/>
              <a:t>=&gt; Größe einer Tabelle (pro Prozess) ist proportional zur Anzahl der wirklich benötigten Rahmen ~ Prozessgröße</a:t>
            </a:r>
          </a:p>
        </p:txBody>
      </p:sp>
    </p:spTree>
    <p:extLst>
      <p:ext uri="{BB962C8B-B14F-4D97-AF65-F5344CB8AC3E}">
        <p14:creationId xmlns:p14="http://schemas.microsoft.com/office/powerpoint/2010/main" val="2138402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12</a:t>
            </a:fld>
            <a:endParaRPr lang="de-DE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Paging – Invertierte Seitentabellen</a:t>
            </a:r>
          </a:p>
        </p:txBody>
      </p:sp>
    </p:spTree>
    <p:extLst>
      <p:ext uri="{BB962C8B-B14F-4D97-AF65-F5344CB8AC3E}">
        <p14:creationId xmlns:p14="http://schemas.microsoft.com/office/powerpoint/2010/main" val="24682840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Frame Table als eine Seitentabelle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Erinnerung: Das BS pflegt eine </a:t>
            </a:r>
            <a:r>
              <a:rPr lang="de-DE" b="1" dirty="0" err="1">
                <a:solidFill>
                  <a:srgbClr val="0070C0"/>
                </a:solidFill>
              </a:rPr>
              <a:t>frame</a:t>
            </a:r>
            <a:r>
              <a:rPr lang="de-DE" b="1" dirty="0">
                <a:solidFill>
                  <a:srgbClr val="0070C0"/>
                </a:solidFill>
              </a:rPr>
              <a:t> </a:t>
            </a:r>
            <a:r>
              <a:rPr lang="de-DE" b="1" dirty="0" err="1">
                <a:solidFill>
                  <a:srgbClr val="0070C0"/>
                </a:solidFill>
              </a:rPr>
              <a:t>table</a:t>
            </a:r>
            <a:r>
              <a:rPr lang="de-DE" b="1" dirty="0">
                <a:solidFill>
                  <a:srgbClr val="FF0000"/>
                </a:solidFill>
              </a:rPr>
              <a:t> </a:t>
            </a:r>
            <a:r>
              <a:rPr lang="de-DE" dirty="0"/>
              <a:t>(Seitenrahmen-tabelle) mit Informationen wie …</a:t>
            </a:r>
          </a:p>
          <a:p>
            <a:pPr lvl="1">
              <a:buClr>
                <a:srgbClr val="438086"/>
              </a:buClr>
            </a:pPr>
            <a:r>
              <a:rPr lang="de-DE" sz="2400" dirty="0">
                <a:solidFill>
                  <a:srgbClr val="424456"/>
                </a:solidFill>
              </a:rPr>
              <a:t>Welche Seitenrahmen sind belegt und welche frei?</a:t>
            </a:r>
          </a:p>
          <a:p>
            <a:pPr lvl="1">
              <a:buClr>
                <a:srgbClr val="438086"/>
              </a:buClr>
            </a:pPr>
            <a:r>
              <a:rPr lang="de-DE" sz="2400" i="1" dirty="0">
                <a:solidFill>
                  <a:srgbClr val="424456"/>
                </a:solidFill>
              </a:rPr>
              <a:t>Falls belegt, zu welchem Prozess / welchen Prozessen gehört der Rahmen?</a:t>
            </a:r>
            <a:r>
              <a:rPr lang="de-DE" sz="2800" i="1" dirty="0">
                <a:solidFill>
                  <a:srgbClr val="424456"/>
                </a:solidFill>
              </a:rPr>
              <a:t> </a:t>
            </a:r>
          </a:p>
          <a:p>
            <a:pPr lvl="1"/>
            <a:endParaRPr lang="de-D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FF63902-71D4-4959-970D-7FD40336AE3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7544" y="3645024"/>
            <a:ext cx="4678464" cy="2713856"/>
          </a:xfrm>
        </p:spPr>
        <p:txBody>
          <a:bodyPr/>
          <a:lstStyle/>
          <a:p>
            <a:r>
              <a:rPr lang="en-US" dirty="0" err="1"/>
              <a:t>Wäre</a:t>
            </a:r>
            <a:r>
              <a:rPr lang="en-US" dirty="0"/>
              <a:t> es </a:t>
            </a:r>
            <a:r>
              <a:rPr lang="en-US" dirty="0" err="1"/>
              <a:t>möglich</a:t>
            </a:r>
            <a:r>
              <a:rPr lang="en-US" dirty="0"/>
              <a:t>, </a:t>
            </a:r>
            <a:r>
              <a:rPr lang="en-US" dirty="0" err="1"/>
              <a:t>mit</a:t>
            </a:r>
            <a:r>
              <a:rPr lang="en-US" dirty="0"/>
              <a:t> den </a:t>
            </a:r>
            <a:r>
              <a:rPr lang="en-US" dirty="0" err="1"/>
              <a:t>Informationen</a:t>
            </a:r>
            <a:r>
              <a:rPr lang="en-US" dirty="0"/>
              <a:t> in frame table das Paging </a:t>
            </a:r>
            <a:r>
              <a:rPr lang="en-US" dirty="0" err="1"/>
              <a:t>durchzuführen</a:t>
            </a:r>
            <a:r>
              <a:rPr lang="en-US" dirty="0"/>
              <a:t>, </a:t>
            </a:r>
            <a:r>
              <a:rPr lang="en-US" dirty="0" err="1"/>
              <a:t>d.h.</a:t>
            </a:r>
            <a:r>
              <a:rPr lang="en-US" dirty="0"/>
              <a:t> </a:t>
            </a:r>
            <a:r>
              <a:rPr lang="de-DE" sz="2800" b="1" dirty="0" err="1">
                <a:solidFill>
                  <a:prstClr val="black"/>
                </a:solidFill>
              </a:rPr>
              <a:t>F</a:t>
            </a:r>
            <a:r>
              <a:rPr lang="de-DE" sz="2800" b="1" baseline="-25000" dirty="0" err="1">
                <a:solidFill>
                  <a:prstClr val="black"/>
                </a:solidFill>
              </a:rPr>
              <a:t>pid</a:t>
            </a:r>
            <a:r>
              <a:rPr lang="de-DE" sz="2800" b="1" dirty="0">
                <a:solidFill>
                  <a:prstClr val="black"/>
                </a:solidFill>
              </a:rPr>
              <a:t>(</a:t>
            </a:r>
            <a:r>
              <a:rPr lang="de-DE" sz="2800" b="1" dirty="0">
                <a:solidFill>
                  <a:srgbClr val="FF0000"/>
                </a:solidFill>
              </a:rPr>
              <a:t>p</a:t>
            </a:r>
            <a:r>
              <a:rPr lang="de-DE" sz="2800" b="1" dirty="0">
                <a:solidFill>
                  <a:prstClr val="black"/>
                </a:solidFill>
              </a:rPr>
              <a:t>) = </a:t>
            </a:r>
            <a:r>
              <a:rPr lang="de-DE" sz="2800" b="1" dirty="0">
                <a:solidFill>
                  <a:srgbClr val="0070C0"/>
                </a:solidFill>
              </a:rPr>
              <a:t>f </a:t>
            </a:r>
            <a:br>
              <a:rPr lang="de-DE" sz="2800" b="1" dirty="0">
                <a:solidFill>
                  <a:srgbClr val="0070C0"/>
                </a:solidFill>
              </a:rPr>
            </a:b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berechnen</a:t>
            </a:r>
            <a:r>
              <a:rPr lang="en-US" dirty="0"/>
              <a:t>?</a:t>
            </a:r>
            <a:br>
              <a:rPr lang="en-US" dirty="0"/>
            </a:br>
            <a:r>
              <a:rPr lang="en-US" dirty="0"/>
              <a:t> </a:t>
            </a:r>
          </a:p>
        </p:txBody>
      </p:sp>
      <p:sp>
        <p:nvSpPr>
          <p:cNvPr id="32" name="Textfeld 4">
            <a:extLst>
              <a:ext uri="{FF2B5EF4-FFF2-40B4-BE49-F238E27FC236}">
                <a16:creationId xmlns:a16="http://schemas.microsoft.com/office/drawing/2014/main" id="{EFA32E6E-2B7C-4E90-8732-B8CDF1EF41A3}"/>
              </a:ext>
            </a:extLst>
          </p:cNvPr>
          <p:cNvSpPr txBox="1"/>
          <p:nvPr/>
        </p:nvSpPr>
        <p:spPr>
          <a:xfrm>
            <a:off x="565477" y="6000969"/>
            <a:ext cx="3362074" cy="5232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highlight>
                  <a:srgbClr val="00FF00"/>
                </a:highlight>
              </a:rPr>
              <a:t>https://bit.ly/ibn_hd</a:t>
            </a:r>
            <a:endParaRPr lang="de-DE" sz="2800" dirty="0">
              <a:highlight>
                <a:srgbClr val="00FF00"/>
              </a:highlight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B7E4081-8C8E-42BC-A851-EFCC0B252A4F}"/>
              </a:ext>
            </a:extLst>
          </p:cNvPr>
          <p:cNvGrpSpPr/>
          <p:nvPr/>
        </p:nvGrpSpPr>
        <p:grpSpPr>
          <a:xfrm>
            <a:off x="5709658" y="2928798"/>
            <a:ext cx="3480711" cy="3731771"/>
            <a:chOff x="5513256" y="2927073"/>
            <a:chExt cx="3480711" cy="3731771"/>
          </a:xfrm>
        </p:grpSpPr>
        <p:pic>
          <p:nvPicPr>
            <p:cNvPr id="35" name="Picture 2" descr="C:\Artur\Academic\Lehre\10.WS-IBN\VL\figures\vl07\processes and paging.jpg">
              <a:extLst>
                <a:ext uri="{FF2B5EF4-FFF2-40B4-BE49-F238E27FC236}">
                  <a16:creationId xmlns:a16="http://schemas.microsoft.com/office/drawing/2014/main" id="{B6040BA9-B85C-48F2-A05E-77EE39EBDCD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/>
            <a:srcRect l="85064"/>
            <a:stretch/>
          </p:blipFill>
          <p:spPr bwMode="auto">
            <a:xfrm>
              <a:off x="6695150" y="2927073"/>
              <a:ext cx="670267" cy="3073896"/>
            </a:xfrm>
            <a:prstGeom prst="rect">
              <a:avLst/>
            </a:prstGeom>
            <a:noFill/>
          </p:spPr>
        </p:pic>
        <p:sp>
          <p:nvSpPr>
            <p:cNvPr id="36" name="TextBox 60">
              <a:extLst>
                <a:ext uri="{FF2B5EF4-FFF2-40B4-BE49-F238E27FC236}">
                  <a16:creationId xmlns:a16="http://schemas.microsoft.com/office/drawing/2014/main" id="{33942A9C-F4AC-4D18-BE50-750BE90D68CC}"/>
                </a:ext>
              </a:extLst>
            </p:cNvPr>
            <p:cNvSpPr txBox="1"/>
            <p:nvPr/>
          </p:nvSpPr>
          <p:spPr>
            <a:xfrm>
              <a:off x="7884368" y="3140968"/>
              <a:ext cx="1109599" cy="16004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dirty="0"/>
                <a:t>Seiten-</a:t>
              </a:r>
              <a:br>
                <a:rPr lang="de-DE" sz="1400" dirty="0"/>
              </a:br>
              <a:r>
                <a:rPr lang="de-DE" sz="1400" dirty="0" err="1"/>
                <a:t>nummer</a:t>
              </a:r>
              <a:r>
                <a:rPr lang="de-DE" sz="1400" dirty="0"/>
                <a:t> p</a:t>
              </a:r>
              <a:br>
                <a:rPr lang="de-DE" sz="1400" dirty="0"/>
              </a:br>
              <a:r>
                <a:rPr lang="de-DE" sz="1400" dirty="0"/>
                <a:t>eines</a:t>
              </a:r>
              <a:br>
                <a:rPr lang="de-DE" sz="1400" dirty="0"/>
              </a:br>
              <a:r>
                <a:rPr lang="de-DE" sz="1400" dirty="0"/>
                <a:t>Prozesses</a:t>
              </a:r>
            </a:p>
            <a:p>
              <a:r>
                <a:rPr lang="de-DE" sz="1400" u="sng" dirty="0"/>
                <a:t>und</a:t>
              </a:r>
              <a:r>
                <a:rPr lang="de-DE" sz="1400" dirty="0"/>
                <a:t> </a:t>
              </a:r>
              <a:r>
                <a:rPr lang="de-DE" sz="1400" dirty="0" err="1"/>
                <a:t>pid</a:t>
              </a:r>
              <a:r>
                <a:rPr lang="de-DE" sz="1400" dirty="0"/>
                <a:t>, die</a:t>
              </a:r>
              <a:endParaRPr lang="de-DE" sz="1400" u="sng" dirty="0"/>
            </a:p>
            <a:p>
              <a:r>
                <a:rPr lang="de-DE" sz="1400" dirty="0"/>
                <a:t>Prozess-ID</a:t>
              </a:r>
            </a:p>
            <a:p>
              <a:endParaRPr lang="de-DE" sz="1400" dirty="0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F81C74AD-8382-466B-980F-E62AF0FA53B2}"/>
                </a:ext>
              </a:extLst>
            </p:cNvPr>
            <p:cNvCxnSpPr>
              <a:cxnSpLocks/>
              <a:stCxn id="36" idx="1"/>
            </p:cNvCxnSpPr>
            <p:nvPr/>
          </p:nvCxnSpPr>
          <p:spPr>
            <a:xfrm flipH="1" flipV="1">
              <a:off x="7418244" y="3284985"/>
              <a:ext cx="466124" cy="656202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C92246DB-043F-421E-A58B-F73629DC9D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18244" y="3906054"/>
              <a:ext cx="466124" cy="963106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60">
              <a:extLst>
                <a:ext uri="{FF2B5EF4-FFF2-40B4-BE49-F238E27FC236}">
                  <a16:creationId xmlns:a16="http://schemas.microsoft.com/office/drawing/2014/main" id="{50675F7E-A89F-4F61-8AEB-27505FFE25A2}"/>
                </a:ext>
              </a:extLst>
            </p:cNvPr>
            <p:cNvSpPr txBox="1"/>
            <p:nvPr/>
          </p:nvSpPr>
          <p:spPr>
            <a:xfrm>
              <a:off x="5513256" y="5704737"/>
              <a:ext cx="1407758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dirty="0"/>
                <a:t>Rahmen-</a:t>
              </a:r>
              <a:br>
                <a:rPr lang="de-DE" sz="1400" dirty="0"/>
              </a:br>
              <a:r>
                <a:rPr lang="de-DE" sz="1400" dirty="0" err="1"/>
                <a:t>nummer</a:t>
              </a:r>
              <a:r>
                <a:rPr lang="de-DE" sz="1400" dirty="0"/>
                <a:t> f,</a:t>
              </a:r>
              <a:br>
                <a:rPr lang="de-DE" sz="1400" dirty="0"/>
              </a:br>
              <a:r>
                <a:rPr lang="de-DE" sz="1400" dirty="0"/>
                <a:t>entspricht einer</a:t>
              </a:r>
              <a:br>
                <a:rPr lang="de-DE" sz="1400" dirty="0"/>
              </a:br>
              <a:r>
                <a:rPr lang="de-DE" sz="1400" dirty="0"/>
                <a:t>RAM-Kachel</a:t>
              </a: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8980915A-FBAE-4BE3-A134-92891AD43B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91747" y="3906055"/>
              <a:ext cx="513243" cy="1732745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8C834A3F-DF25-4D97-BDBD-0733B92E9241}"/>
                </a:ext>
              </a:extLst>
            </p:cNvPr>
            <p:cNvCxnSpPr>
              <a:cxnSpLocks/>
              <a:stCxn id="39" idx="0"/>
            </p:cNvCxnSpPr>
            <p:nvPr/>
          </p:nvCxnSpPr>
          <p:spPr>
            <a:xfrm flipV="1">
              <a:off x="6217135" y="4869160"/>
              <a:ext cx="540682" cy="83557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71D62D8-D318-4552-8651-5883DD9C9F62}"/>
                </a:ext>
              </a:extLst>
            </p:cNvPr>
            <p:cNvCxnSpPr>
              <a:cxnSpLocks/>
              <a:stCxn id="39" idx="0"/>
            </p:cNvCxnSpPr>
            <p:nvPr/>
          </p:nvCxnSpPr>
          <p:spPr>
            <a:xfrm flipV="1">
              <a:off x="6217135" y="5496913"/>
              <a:ext cx="478015" cy="207824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6CCE37D4-3142-41CB-983E-25542BB394D8}"/>
                </a:ext>
              </a:extLst>
            </p:cNvPr>
            <p:cNvCxnSpPr>
              <a:cxnSpLocks/>
              <a:stCxn id="36" idx="1"/>
            </p:cNvCxnSpPr>
            <p:nvPr/>
          </p:nvCxnSpPr>
          <p:spPr>
            <a:xfrm flipH="1" flipV="1">
              <a:off x="7418244" y="3595521"/>
              <a:ext cx="466124" cy="345666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76241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E13A-EC65-4608-AF90-E386770F4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Informationen</a:t>
            </a:r>
            <a:r>
              <a:rPr lang="en-US" dirty="0"/>
              <a:t> in der Frame Table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2045A41-FEEA-4D60-9187-BD66AEB26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109989-213D-4954-85BA-C3CF43A1F6A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5889447" cy="5210196"/>
          </a:xfrm>
        </p:spPr>
        <p:txBody>
          <a:bodyPr>
            <a:normAutofit/>
          </a:bodyPr>
          <a:lstStyle/>
          <a:p>
            <a:r>
              <a:rPr lang="en-US" dirty="0" err="1"/>
              <a:t>Wir</a:t>
            </a:r>
            <a:r>
              <a:rPr lang="en-US" dirty="0"/>
              <a:t> </a:t>
            </a:r>
            <a:r>
              <a:rPr lang="en-US" dirty="0" err="1"/>
              <a:t>können</a:t>
            </a:r>
            <a:r>
              <a:rPr lang="en-US" dirty="0"/>
              <a:t> die </a:t>
            </a:r>
            <a:r>
              <a:rPr lang="en-US" dirty="0" err="1"/>
              <a:t>Informationen</a:t>
            </a:r>
            <a:r>
              <a:rPr lang="en-US" dirty="0"/>
              <a:t> in der FT </a:t>
            </a:r>
            <a:r>
              <a:rPr lang="en-US" dirty="0" err="1"/>
              <a:t>etwas</a:t>
            </a:r>
            <a:r>
              <a:rPr lang="en-US" dirty="0"/>
              <a:t> </a:t>
            </a:r>
            <a:r>
              <a:rPr lang="en-US" dirty="0" err="1"/>
              <a:t>anders</a:t>
            </a:r>
            <a:r>
              <a:rPr lang="en-US" dirty="0"/>
              <a:t> </a:t>
            </a:r>
            <a:r>
              <a:rPr lang="en-US" dirty="0" err="1"/>
              <a:t>darstellen</a:t>
            </a:r>
            <a:r>
              <a:rPr lang="en-US" dirty="0"/>
              <a:t>,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Datenstruktur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M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Paaren</a:t>
            </a:r>
            <a:r>
              <a:rPr lang="en-US" dirty="0"/>
              <a:t>:</a:t>
            </a:r>
          </a:p>
          <a:p>
            <a:pPr lvl="1"/>
            <a:r>
              <a:rPr lang="de-DE" sz="2400" dirty="0"/>
              <a:t>(</a:t>
            </a:r>
            <a:r>
              <a:rPr lang="de-DE" sz="2400" b="1" dirty="0" err="1">
                <a:solidFill>
                  <a:srgbClr val="00B050"/>
                </a:solidFill>
              </a:rPr>
              <a:t>pid</a:t>
            </a:r>
            <a:r>
              <a:rPr lang="de-DE" sz="2400" dirty="0"/>
              <a:t>, </a:t>
            </a:r>
            <a:r>
              <a:rPr lang="de-DE" sz="2400" b="1" dirty="0">
                <a:solidFill>
                  <a:srgbClr val="FF0000"/>
                </a:solidFill>
              </a:rPr>
              <a:t>p</a:t>
            </a:r>
            <a:r>
              <a:rPr lang="de-DE" sz="2400" dirty="0"/>
              <a:t>) =&gt; </a:t>
            </a:r>
            <a:r>
              <a:rPr lang="de-DE" sz="2400" b="1" dirty="0">
                <a:solidFill>
                  <a:srgbClr val="7030A0"/>
                </a:solidFill>
              </a:rPr>
              <a:t>f</a:t>
            </a:r>
            <a:endParaRPr lang="de-DE" sz="2400" dirty="0"/>
          </a:p>
          <a:p>
            <a:pPr lvl="1"/>
            <a:r>
              <a:rPr lang="de-DE" sz="2000" dirty="0"/>
              <a:t>d.h. Rahmen#  </a:t>
            </a:r>
            <a:r>
              <a:rPr lang="de-DE" sz="2000" b="1" dirty="0">
                <a:solidFill>
                  <a:srgbClr val="7030A0"/>
                </a:solidFill>
              </a:rPr>
              <a:t>f  </a:t>
            </a:r>
            <a:r>
              <a:rPr lang="de-DE" sz="2000" dirty="0"/>
              <a:t>=&gt; (</a:t>
            </a:r>
            <a:r>
              <a:rPr lang="de-DE" sz="2000" b="1" dirty="0" err="1">
                <a:solidFill>
                  <a:srgbClr val="00B050"/>
                </a:solidFill>
              </a:rPr>
              <a:t>pid</a:t>
            </a:r>
            <a:r>
              <a:rPr lang="de-DE" sz="2000" dirty="0"/>
              <a:t>, Seitennummer </a:t>
            </a:r>
            <a:r>
              <a:rPr lang="de-DE" sz="2000" b="1" dirty="0">
                <a:solidFill>
                  <a:srgbClr val="FF0000"/>
                </a:solidFill>
              </a:rPr>
              <a:t>p </a:t>
            </a:r>
            <a:r>
              <a:rPr lang="de-DE" sz="2000" dirty="0"/>
              <a:t>zum PID-Prozess)</a:t>
            </a:r>
          </a:p>
          <a:p>
            <a:r>
              <a:rPr lang="en-US" dirty="0"/>
              <a:t>Wie </a:t>
            </a:r>
            <a:r>
              <a:rPr lang="en-US" dirty="0" err="1"/>
              <a:t>berechnen</a:t>
            </a:r>
            <a:r>
              <a:rPr lang="en-US" dirty="0"/>
              <a:t> </a:t>
            </a:r>
            <a:r>
              <a:rPr lang="en-US" dirty="0" err="1"/>
              <a:t>wir</a:t>
            </a:r>
            <a:r>
              <a:rPr lang="en-US" dirty="0"/>
              <a:t> nun </a:t>
            </a:r>
            <a:r>
              <a:rPr lang="de-DE" sz="2400" b="1" dirty="0" err="1">
                <a:solidFill>
                  <a:prstClr val="black"/>
                </a:solidFill>
              </a:rPr>
              <a:t>F</a:t>
            </a:r>
            <a:r>
              <a:rPr lang="de-DE" sz="2400" b="1" baseline="-25000" dirty="0" err="1">
                <a:solidFill>
                  <a:prstClr val="black"/>
                </a:solidFill>
              </a:rPr>
              <a:t>pid</a:t>
            </a:r>
            <a:r>
              <a:rPr lang="de-DE" sz="2400" b="1" dirty="0">
                <a:solidFill>
                  <a:prstClr val="black"/>
                </a:solidFill>
              </a:rPr>
              <a:t>(</a:t>
            </a:r>
            <a:r>
              <a:rPr lang="de-DE" sz="2400" b="1" dirty="0">
                <a:solidFill>
                  <a:srgbClr val="FF0000"/>
                </a:solidFill>
              </a:rPr>
              <a:t>p</a:t>
            </a:r>
            <a:r>
              <a:rPr lang="de-DE" sz="2400" b="1" dirty="0">
                <a:solidFill>
                  <a:prstClr val="black"/>
                </a:solidFill>
              </a:rPr>
              <a:t>) = </a:t>
            </a:r>
            <a:r>
              <a:rPr lang="de-DE" sz="2400" b="1" dirty="0">
                <a:solidFill>
                  <a:srgbClr val="0070C0"/>
                </a:solidFill>
              </a:rPr>
              <a:t>f </a:t>
            </a:r>
            <a:r>
              <a:rPr lang="en-US" sz="2400" dirty="0"/>
              <a:t>?</a:t>
            </a:r>
          </a:p>
          <a:p>
            <a:r>
              <a:rPr lang="en-US" sz="2400" dirty="0" err="1"/>
              <a:t>Gegeben</a:t>
            </a:r>
            <a:r>
              <a:rPr lang="en-US" sz="2400" dirty="0"/>
              <a:t> Inputs </a:t>
            </a:r>
            <a:r>
              <a:rPr lang="de-DE" sz="2400" b="1" dirty="0">
                <a:solidFill>
                  <a:srgbClr val="FF0000"/>
                </a:solidFill>
              </a:rPr>
              <a:t>p</a:t>
            </a:r>
            <a:r>
              <a:rPr lang="en-US" sz="2400" dirty="0"/>
              <a:t> und </a:t>
            </a:r>
            <a:r>
              <a:rPr lang="de-DE" sz="2400" b="1" dirty="0" err="1">
                <a:solidFill>
                  <a:srgbClr val="00B050"/>
                </a:solidFill>
              </a:rPr>
              <a:t>pid</a:t>
            </a:r>
            <a:r>
              <a:rPr lang="en-US" sz="2400" dirty="0"/>
              <a:t>, </a:t>
            </a:r>
            <a:r>
              <a:rPr lang="en-US" sz="2400" u="sng" dirty="0" err="1"/>
              <a:t>finde</a:t>
            </a:r>
            <a:r>
              <a:rPr lang="en-US" sz="2400" dirty="0"/>
              <a:t> in </a:t>
            </a:r>
            <a:r>
              <a:rPr lang="en-US" sz="2400" dirty="0">
                <a:solidFill>
                  <a:srgbClr val="0070C0"/>
                </a:solidFill>
              </a:rPr>
              <a:t>M</a:t>
            </a:r>
            <a:r>
              <a:rPr lang="en-US" sz="2400" dirty="0"/>
              <a:t> den </a:t>
            </a:r>
            <a:r>
              <a:rPr lang="en-US" sz="2400" dirty="0" err="1"/>
              <a:t>Eintrag</a:t>
            </a:r>
            <a:r>
              <a:rPr lang="en-US" sz="2400" dirty="0"/>
              <a:t> </a:t>
            </a:r>
            <a:r>
              <a:rPr lang="en-US" sz="2400" dirty="0" err="1"/>
              <a:t>mit</a:t>
            </a:r>
            <a:r>
              <a:rPr lang="en-US" sz="2400" dirty="0"/>
              <a:t> </a:t>
            </a:r>
            <a:r>
              <a:rPr lang="de-DE" sz="2400" dirty="0"/>
              <a:t>(</a:t>
            </a:r>
            <a:r>
              <a:rPr lang="de-DE" sz="2400" b="1" dirty="0" err="1">
                <a:solidFill>
                  <a:srgbClr val="00B050"/>
                </a:solidFill>
              </a:rPr>
              <a:t>pid</a:t>
            </a:r>
            <a:r>
              <a:rPr lang="de-DE" sz="2400" dirty="0"/>
              <a:t>, </a:t>
            </a:r>
            <a:r>
              <a:rPr lang="de-DE" sz="2400" b="1" dirty="0">
                <a:solidFill>
                  <a:srgbClr val="FF0000"/>
                </a:solidFill>
              </a:rPr>
              <a:t>p</a:t>
            </a:r>
            <a:r>
              <a:rPr lang="de-DE" sz="2400" dirty="0"/>
              <a:t>) und gebe das zugehörige </a:t>
            </a:r>
            <a:r>
              <a:rPr lang="de-DE" sz="2400" b="1" dirty="0">
                <a:solidFill>
                  <a:srgbClr val="0070C0"/>
                </a:solidFill>
              </a:rPr>
              <a:t>f </a:t>
            </a:r>
            <a:r>
              <a:rPr lang="de-DE" sz="2400" dirty="0"/>
              <a:t>aus</a:t>
            </a:r>
          </a:p>
          <a:p>
            <a:r>
              <a:rPr lang="de-DE" sz="2400" dirty="0"/>
              <a:t>Man nennt </a:t>
            </a:r>
            <a:r>
              <a:rPr lang="en-US" sz="2400" dirty="0">
                <a:solidFill>
                  <a:srgbClr val="0070C0"/>
                </a:solidFill>
              </a:rPr>
              <a:t>M </a:t>
            </a:r>
            <a:r>
              <a:rPr lang="de-DE" sz="2400" dirty="0"/>
              <a:t>eine </a:t>
            </a:r>
            <a:r>
              <a:rPr lang="de-DE" sz="2400" b="1" dirty="0" err="1"/>
              <a:t>Map</a:t>
            </a:r>
            <a:r>
              <a:rPr lang="de-DE" sz="2400" dirty="0"/>
              <a:t> oder </a:t>
            </a:r>
            <a:r>
              <a:rPr lang="de-DE" sz="2400" b="1" dirty="0"/>
              <a:t>Dictionary</a:t>
            </a:r>
          </a:p>
          <a:p>
            <a:pPr lvl="1"/>
            <a:r>
              <a:rPr lang="de-DE" sz="2100" dirty="0"/>
              <a:t>Java: </a:t>
            </a:r>
            <a:r>
              <a:rPr lang="de-DE" sz="2100" dirty="0" err="1"/>
              <a:t>HashMap</a:t>
            </a:r>
            <a:r>
              <a:rPr lang="de-DE" sz="2100" dirty="0"/>
              <a:t>, </a:t>
            </a:r>
            <a:r>
              <a:rPr lang="de-DE" sz="2100" dirty="0" err="1"/>
              <a:t>TreeMap</a:t>
            </a:r>
            <a:r>
              <a:rPr lang="de-DE" sz="2100" dirty="0"/>
              <a:t>, Nim: Table, Python: </a:t>
            </a:r>
            <a:r>
              <a:rPr lang="de-DE" sz="2100" dirty="0" err="1"/>
              <a:t>dict</a:t>
            </a:r>
            <a:r>
              <a:rPr lang="de-DE" sz="2100" dirty="0"/>
              <a:t>(</a:t>
            </a:r>
            <a:r>
              <a:rPr lang="de-DE" sz="2100" dirty="0" err="1"/>
              <a:t>ionary</a:t>
            </a:r>
            <a:r>
              <a:rPr lang="de-DE" sz="2100" dirty="0"/>
              <a:t>)</a:t>
            </a:r>
            <a:endParaRPr lang="en-US" sz="21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37877ED-3E7C-492A-8A4E-781E0219679D}"/>
              </a:ext>
            </a:extLst>
          </p:cNvPr>
          <p:cNvGrpSpPr/>
          <p:nvPr/>
        </p:nvGrpSpPr>
        <p:grpSpPr>
          <a:xfrm>
            <a:off x="6362353" y="836712"/>
            <a:ext cx="2727324" cy="3073896"/>
            <a:chOff x="6295497" y="2927073"/>
            <a:chExt cx="2727324" cy="3073896"/>
          </a:xfrm>
        </p:grpSpPr>
        <p:pic>
          <p:nvPicPr>
            <p:cNvPr id="7" name="Picture 2" descr="C:\Artur\Academic\Lehre\10.WS-IBN\VL\figures\vl07\processes and paging.jpg">
              <a:extLst>
                <a:ext uri="{FF2B5EF4-FFF2-40B4-BE49-F238E27FC236}">
                  <a16:creationId xmlns:a16="http://schemas.microsoft.com/office/drawing/2014/main" id="{73EA3C14-8BF4-4B90-96C5-67223F2775F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/>
            <a:srcRect l="85064"/>
            <a:stretch/>
          </p:blipFill>
          <p:spPr bwMode="auto">
            <a:xfrm>
              <a:off x="6695150" y="2927073"/>
              <a:ext cx="670267" cy="3073896"/>
            </a:xfrm>
            <a:prstGeom prst="rect">
              <a:avLst/>
            </a:prstGeom>
            <a:noFill/>
          </p:spPr>
        </p:pic>
        <p:sp>
          <p:nvSpPr>
            <p:cNvPr id="8" name="TextBox 60">
              <a:extLst>
                <a:ext uri="{FF2B5EF4-FFF2-40B4-BE49-F238E27FC236}">
                  <a16:creationId xmlns:a16="http://schemas.microsoft.com/office/drawing/2014/main" id="{676036E9-F657-4F61-8958-88D21AE96D3C}"/>
                </a:ext>
              </a:extLst>
            </p:cNvPr>
            <p:cNvSpPr txBox="1"/>
            <p:nvPr/>
          </p:nvSpPr>
          <p:spPr>
            <a:xfrm>
              <a:off x="7884368" y="3140968"/>
              <a:ext cx="1138453" cy="13849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dirty="0"/>
                <a:t>Seiten-</a:t>
              </a:r>
              <a:br>
                <a:rPr lang="de-DE" sz="1400" dirty="0"/>
              </a:br>
              <a:r>
                <a:rPr lang="de-DE" sz="1400" dirty="0" err="1"/>
                <a:t>nummer</a:t>
              </a:r>
              <a:r>
                <a:rPr lang="de-DE" sz="1400" dirty="0"/>
                <a:t> </a:t>
              </a:r>
              <a:r>
                <a:rPr lang="de-DE" sz="1400" b="1" dirty="0"/>
                <a:t>p</a:t>
              </a:r>
              <a:br>
                <a:rPr lang="de-DE" sz="1400" dirty="0"/>
              </a:br>
              <a:r>
                <a:rPr lang="de-DE" sz="1400" dirty="0"/>
                <a:t>eines</a:t>
              </a:r>
              <a:br>
                <a:rPr lang="de-DE" sz="1400" dirty="0"/>
              </a:br>
              <a:r>
                <a:rPr lang="de-DE" sz="1400" dirty="0"/>
                <a:t>Prozesses</a:t>
              </a:r>
            </a:p>
            <a:p>
              <a:r>
                <a:rPr lang="de-DE" sz="1400" u="sng" dirty="0"/>
                <a:t>und</a:t>
              </a:r>
              <a:r>
                <a:rPr lang="de-DE" sz="1400" dirty="0"/>
                <a:t> </a:t>
              </a:r>
              <a:r>
                <a:rPr lang="de-DE" sz="1400" b="1" dirty="0" err="1"/>
                <a:t>pid</a:t>
              </a:r>
              <a:r>
                <a:rPr lang="de-DE" sz="1400" dirty="0"/>
                <a:t>, die</a:t>
              </a:r>
              <a:endParaRPr lang="de-DE" sz="1400" u="sng" dirty="0"/>
            </a:p>
            <a:p>
              <a:r>
                <a:rPr lang="de-DE" sz="1400" dirty="0"/>
                <a:t>Prozess-ID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E49C19E-55DA-4677-93BE-FA98E1D03E75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 flipV="1">
              <a:off x="7418244" y="3284984"/>
              <a:ext cx="466124" cy="548482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21D637B-4885-42E4-A6B0-98CF13EEEC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18244" y="3906054"/>
              <a:ext cx="466124" cy="963106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60">
              <a:extLst>
                <a:ext uri="{FF2B5EF4-FFF2-40B4-BE49-F238E27FC236}">
                  <a16:creationId xmlns:a16="http://schemas.microsoft.com/office/drawing/2014/main" id="{0C3E69F6-A95E-440A-A828-AA5589395DFF}"/>
                </a:ext>
              </a:extLst>
            </p:cNvPr>
            <p:cNvSpPr txBox="1"/>
            <p:nvPr/>
          </p:nvSpPr>
          <p:spPr>
            <a:xfrm>
              <a:off x="6295497" y="3441631"/>
              <a:ext cx="31822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b="1" dirty="0"/>
                <a:t>f</a:t>
              </a:r>
              <a:endParaRPr lang="de-DE" sz="1400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AA4B4D0-9104-4D69-A358-B90E344248C7}"/>
                </a:ext>
              </a:extLst>
            </p:cNvPr>
            <p:cNvCxnSpPr>
              <a:cxnSpLocks/>
              <a:stCxn id="11" idx="0"/>
            </p:cNvCxnSpPr>
            <p:nvPr/>
          </p:nvCxnSpPr>
          <p:spPr>
            <a:xfrm flipV="1">
              <a:off x="6454607" y="3243862"/>
              <a:ext cx="311491" cy="197769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962C7768-146A-426A-8F65-71908E47622C}"/>
                </a:ext>
              </a:extLst>
            </p:cNvPr>
            <p:cNvCxnSpPr>
              <a:cxnSpLocks/>
              <a:stCxn id="11" idx="0"/>
            </p:cNvCxnSpPr>
            <p:nvPr/>
          </p:nvCxnSpPr>
          <p:spPr>
            <a:xfrm>
              <a:off x="6454607" y="3441631"/>
              <a:ext cx="311491" cy="108519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4CB49BA3-2E7E-46C1-AC0E-8264BFEAAAB4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 flipV="1">
              <a:off x="7418244" y="3595520"/>
              <a:ext cx="466124" cy="237946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non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F78C4CC1-DD94-4BE9-8759-40BF351C1708}"/>
              </a:ext>
            </a:extLst>
          </p:cNvPr>
          <p:cNvSpPr/>
          <p:nvPr/>
        </p:nvSpPr>
        <p:spPr>
          <a:xfrm>
            <a:off x="6677208" y="4120277"/>
            <a:ext cx="1428596" cy="2585323"/>
          </a:xfrm>
          <a:prstGeom prst="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marL="0" lvl="1"/>
            <a:r>
              <a:rPr lang="de-DE" dirty="0"/>
              <a:t>(</a:t>
            </a:r>
            <a:r>
              <a:rPr lang="de-DE" b="1" dirty="0" err="1">
                <a:solidFill>
                  <a:srgbClr val="00B050"/>
                </a:solidFill>
              </a:rPr>
              <a:t>pid</a:t>
            </a:r>
            <a:r>
              <a:rPr lang="de-DE" dirty="0"/>
              <a:t>, </a:t>
            </a:r>
            <a:r>
              <a:rPr lang="de-DE" b="1" dirty="0">
                <a:solidFill>
                  <a:srgbClr val="FF0000"/>
                </a:solidFill>
              </a:rPr>
              <a:t>p</a:t>
            </a:r>
            <a:r>
              <a:rPr lang="de-DE" dirty="0"/>
              <a:t>) =&gt; </a:t>
            </a:r>
            <a:r>
              <a:rPr lang="de-DE" b="1" dirty="0">
                <a:solidFill>
                  <a:srgbClr val="7030A0"/>
                </a:solidFill>
              </a:rPr>
              <a:t>f</a:t>
            </a:r>
            <a:endParaRPr lang="de-DE" dirty="0"/>
          </a:p>
          <a:p>
            <a:pPr marL="0" lvl="1"/>
            <a:r>
              <a:rPr lang="de-DE" dirty="0"/>
              <a:t>(</a:t>
            </a:r>
            <a:r>
              <a:rPr lang="de-DE" b="1" dirty="0" err="1">
                <a:solidFill>
                  <a:srgbClr val="00B050"/>
                </a:solidFill>
              </a:rPr>
              <a:t>pid</a:t>
            </a:r>
            <a:r>
              <a:rPr lang="de-DE" dirty="0"/>
              <a:t>, </a:t>
            </a:r>
            <a:r>
              <a:rPr lang="de-DE" b="1" dirty="0">
                <a:solidFill>
                  <a:srgbClr val="FF0000"/>
                </a:solidFill>
              </a:rPr>
              <a:t>p</a:t>
            </a:r>
            <a:r>
              <a:rPr lang="de-DE" dirty="0"/>
              <a:t>) =&gt; </a:t>
            </a:r>
            <a:r>
              <a:rPr lang="de-DE" b="1" dirty="0">
                <a:solidFill>
                  <a:srgbClr val="7030A0"/>
                </a:solidFill>
              </a:rPr>
              <a:t>f</a:t>
            </a:r>
            <a:endParaRPr lang="de-DE" dirty="0"/>
          </a:p>
          <a:p>
            <a:pPr marL="0" lvl="1"/>
            <a:r>
              <a:rPr lang="de-DE" dirty="0"/>
              <a:t>(</a:t>
            </a:r>
            <a:r>
              <a:rPr lang="de-DE" b="1" dirty="0" err="1">
                <a:solidFill>
                  <a:srgbClr val="00B050"/>
                </a:solidFill>
              </a:rPr>
              <a:t>pid</a:t>
            </a:r>
            <a:r>
              <a:rPr lang="de-DE" dirty="0"/>
              <a:t>, </a:t>
            </a:r>
            <a:r>
              <a:rPr lang="de-DE" b="1" dirty="0">
                <a:solidFill>
                  <a:srgbClr val="FF0000"/>
                </a:solidFill>
              </a:rPr>
              <a:t>p</a:t>
            </a:r>
            <a:r>
              <a:rPr lang="de-DE" dirty="0"/>
              <a:t>) =&gt; </a:t>
            </a:r>
            <a:r>
              <a:rPr lang="de-DE" b="1" dirty="0">
                <a:solidFill>
                  <a:srgbClr val="7030A0"/>
                </a:solidFill>
              </a:rPr>
              <a:t>f</a:t>
            </a:r>
          </a:p>
          <a:p>
            <a:pPr marL="0" lvl="1" algn="ctr"/>
            <a:r>
              <a:rPr lang="de-DE" dirty="0"/>
              <a:t>…</a:t>
            </a:r>
          </a:p>
          <a:p>
            <a:pPr marL="0" lvl="1"/>
            <a:r>
              <a:rPr lang="de-DE" dirty="0"/>
              <a:t>(</a:t>
            </a:r>
            <a:r>
              <a:rPr lang="de-DE" b="1" dirty="0" err="1">
                <a:solidFill>
                  <a:srgbClr val="00B050"/>
                </a:solidFill>
              </a:rPr>
              <a:t>pid</a:t>
            </a:r>
            <a:r>
              <a:rPr lang="de-DE" dirty="0"/>
              <a:t>, </a:t>
            </a:r>
            <a:r>
              <a:rPr lang="de-DE" b="1" dirty="0">
                <a:solidFill>
                  <a:srgbClr val="FF0000"/>
                </a:solidFill>
              </a:rPr>
              <a:t>p</a:t>
            </a:r>
            <a:r>
              <a:rPr lang="de-DE" dirty="0"/>
              <a:t>) =&gt; </a:t>
            </a:r>
            <a:r>
              <a:rPr lang="de-DE" b="1" dirty="0">
                <a:solidFill>
                  <a:srgbClr val="7030A0"/>
                </a:solidFill>
              </a:rPr>
              <a:t>f</a:t>
            </a:r>
            <a:endParaRPr lang="de-DE" dirty="0"/>
          </a:p>
          <a:p>
            <a:pPr marL="0" lvl="1"/>
            <a:r>
              <a:rPr lang="de-DE" dirty="0"/>
              <a:t>(</a:t>
            </a:r>
            <a:r>
              <a:rPr lang="de-DE" b="1" dirty="0" err="1">
                <a:solidFill>
                  <a:srgbClr val="00B050"/>
                </a:solidFill>
              </a:rPr>
              <a:t>pid</a:t>
            </a:r>
            <a:r>
              <a:rPr lang="de-DE" dirty="0"/>
              <a:t>, </a:t>
            </a:r>
            <a:r>
              <a:rPr lang="de-DE" b="1" dirty="0">
                <a:solidFill>
                  <a:srgbClr val="FF0000"/>
                </a:solidFill>
              </a:rPr>
              <a:t>p</a:t>
            </a:r>
            <a:r>
              <a:rPr lang="de-DE" dirty="0"/>
              <a:t>) =&gt; </a:t>
            </a:r>
            <a:r>
              <a:rPr lang="de-DE" b="1" dirty="0">
                <a:solidFill>
                  <a:srgbClr val="7030A0"/>
                </a:solidFill>
              </a:rPr>
              <a:t>f</a:t>
            </a:r>
            <a:endParaRPr lang="de-DE" dirty="0"/>
          </a:p>
          <a:p>
            <a:pPr marL="0" lvl="1" algn="ctr"/>
            <a:r>
              <a:rPr lang="de-DE" dirty="0"/>
              <a:t>…</a:t>
            </a:r>
          </a:p>
          <a:p>
            <a:pPr marL="0" lvl="1"/>
            <a:r>
              <a:rPr lang="de-DE" dirty="0"/>
              <a:t>(</a:t>
            </a:r>
            <a:r>
              <a:rPr lang="de-DE" b="1" dirty="0" err="1">
                <a:solidFill>
                  <a:srgbClr val="00B050"/>
                </a:solidFill>
              </a:rPr>
              <a:t>pid</a:t>
            </a:r>
            <a:r>
              <a:rPr lang="de-DE" dirty="0"/>
              <a:t>, </a:t>
            </a:r>
            <a:r>
              <a:rPr lang="de-DE" b="1" dirty="0">
                <a:solidFill>
                  <a:srgbClr val="FF0000"/>
                </a:solidFill>
              </a:rPr>
              <a:t>p</a:t>
            </a:r>
            <a:r>
              <a:rPr lang="de-DE" dirty="0"/>
              <a:t>) =&gt; </a:t>
            </a:r>
            <a:r>
              <a:rPr lang="de-DE" b="1" dirty="0">
                <a:solidFill>
                  <a:srgbClr val="7030A0"/>
                </a:solidFill>
              </a:rPr>
              <a:t>f</a:t>
            </a:r>
            <a:endParaRPr lang="de-DE" dirty="0"/>
          </a:p>
          <a:p>
            <a:pPr marL="0" lvl="1"/>
            <a:r>
              <a:rPr lang="de-DE" dirty="0"/>
              <a:t>(</a:t>
            </a:r>
            <a:r>
              <a:rPr lang="de-DE" b="1" dirty="0" err="1">
                <a:solidFill>
                  <a:srgbClr val="00B050"/>
                </a:solidFill>
              </a:rPr>
              <a:t>pid</a:t>
            </a:r>
            <a:r>
              <a:rPr lang="de-DE" dirty="0"/>
              <a:t>, </a:t>
            </a:r>
            <a:r>
              <a:rPr lang="de-DE" b="1" dirty="0">
                <a:solidFill>
                  <a:srgbClr val="FF0000"/>
                </a:solidFill>
              </a:rPr>
              <a:t>p</a:t>
            </a:r>
            <a:r>
              <a:rPr lang="de-DE" dirty="0"/>
              <a:t>) =&gt; </a:t>
            </a:r>
            <a:r>
              <a:rPr lang="de-DE" b="1" dirty="0">
                <a:solidFill>
                  <a:srgbClr val="7030A0"/>
                </a:solidFill>
              </a:rPr>
              <a:t>f</a:t>
            </a:r>
            <a:endParaRPr lang="de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336183-5383-43B7-A25A-40570F445EEC}"/>
              </a:ext>
            </a:extLst>
          </p:cNvPr>
          <p:cNvSpPr/>
          <p:nvPr/>
        </p:nvSpPr>
        <p:spPr>
          <a:xfrm>
            <a:off x="8144137" y="3790217"/>
            <a:ext cx="44114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237521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Speicheroptimierung</a:t>
            </a:r>
            <a:endParaRPr lang="en-US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5050904" cy="4010000"/>
          </a:xfrm>
        </p:spPr>
        <p:txBody>
          <a:bodyPr>
            <a:noAutofit/>
          </a:bodyPr>
          <a:lstStyle/>
          <a:p>
            <a:r>
              <a:rPr lang="de-DE" sz="2400" dirty="0"/>
              <a:t>Statt M können wir eine kompaktere Speicherung nutzen</a:t>
            </a:r>
          </a:p>
          <a:p>
            <a:r>
              <a:rPr lang="de-DE" sz="2400" dirty="0"/>
              <a:t>Wir sortieren die Einträge nach der 2. Spalte (= </a:t>
            </a:r>
            <a:r>
              <a:rPr lang="de-DE" sz="2400" dirty="0" err="1"/>
              <a:t>Rahmennr</a:t>
            </a:r>
            <a:r>
              <a:rPr lang="de-DE" sz="2400" dirty="0"/>
              <a:t>. </a:t>
            </a:r>
            <a:r>
              <a:rPr lang="de-DE" sz="2400" b="1" dirty="0">
                <a:solidFill>
                  <a:srgbClr val="7030A0"/>
                </a:solidFill>
              </a:rPr>
              <a:t>f</a:t>
            </a:r>
            <a:r>
              <a:rPr lang="de-DE" sz="2400" dirty="0"/>
              <a:t>)</a:t>
            </a:r>
          </a:p>
          <a:p>
            <a:r>
              <a:rPr lang="de-DE" sz="2400" dirty="0"/>
              <a:t>… Und führen </a:t>
            </a:r>
            <a:r>
              <a:rPr lang="de-DE" sz="2400" u="sng" dirty="0"/>
              <a:t>zu jeder möglichen</a:t>
            </a:r>
            <a:r>
              <a:rPr lang="de-DE" sz="2400" dirty="0"/>
              <a:t> Rahmennummer </a:t>
            </a:r>
            <a:r>
              <a:rPr lang="de-DE" sz="2400" b="1" dirty="0">
                <a:solidFill>
                  <a:srgbClr val="7030A0"/>
                </a:solidFill>
              </a:rPr>
              <a:t>f</a:t>
            </a:r>
            <a:r>
              <a:rPr lang="de-DE" sz="2400" dirty="0"/>
              <a:t> eine Zeile ein </a:t>
            </a:r>
          </a:p>
          <a:p>
            <a:r>
              <a:rPr lang="de-DE" sz="2400" dirty="0"/>
              <a:t>Da die Rahmennummern nun durchgehen sind, können wir die 2. Spalte streichen!</a:t>
            </a:r>
          </a:p>
          <a:p>
            <a:r>
              <a:rPr lang="de-DE" sz="2400" dirty="0"/>
              <a:t>Speicherbedarf?</a:t>
            </a:r>
          </a:p>
          <a:p>
            <a:endParaRPr lang="de-DE" sz="2400" b="1" dirty="0">
              <a:solidFill>
                <a:srgbClr val="7030A0"/>
              </a:solidFill>
            </a:endParaRPr>
          </a:p>
        </p:txBody>
      </p:sp>
      <p:sp>
        <p:nvSpPr>
          <p:cNvPr id="5" name="Inhaltsplatzhalter 4"/>
          <p:cNvSpPr>
            <a:spLocks noGrp="1"/>
          </p:cNvSpPr>
          <p:nvPr>
            <p:ph sz="quarter" idx="13"/>
          </p:nvPr>
        </p:nvSpPr>
        <p:spPr>
          <a:xfrm>
            <a:off x="457200" y="5517231"/>
            <a:ext cx="8002682" cy="1241365"/>
          </a:xfrm>
        </p:spPr>
        <p:txBody>
          <a:bodyPr>
            <a:noAutofit/>
          </a:bodyPr>
          <a:lstStyle/>
          <a:p>
            <a:r>
              <a:rPr lang="de-DE" sz="2400" dirty="0"/>
              <a:t>Die Größe der Seitentabelle ist nun </a:t>
            </a:r>
            <a:r>
              <a:rPr lang="de-DE" sz="2400" u="sng" dirty="0"/>
              <a:t>proportional zum vorhandenen physischen Speicher</a:t>
            </a:r>
            <a:r>
              <a:rPr lang="de-DE" sz="2400" dirty="0"/>
              <a:t> und nicht zum logischen Adressraum – ist das viel?</a:t>
            </a:r>
          </a:p>
        </p:txBody>
      </p:sp>
      <p:graphicFrame>
        <p:nvGraphicFramePr>
          <p:cNvPr id="11" name="Tabel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3831489"/>
              </p:ext>
            </p:extLst>
          </p:nvPr>
        </p:nvGraphicFramePr>
        <p:xfrm>
          <a:off x="6092512" y="1661160"/>
          <a:ext cx="2764906" cy="353568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3824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24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458">
                <a:tc>
                  <a:txBody>
                    <a:bodyPr/>
                    <a:lstStyle/>
                    <a:p>
                      <a:r>
                        <a:rPr lang="de-DE" sz="1800" dirty="0"/>
                        <a:t>(</a:t>
                      </a:r>
                      <a:r>
                        <a:rPr lang="de-DE" sz="1800" b="1" dirty="0" err="1">
                          <a:solidFill>
                            <a:schemeClr val="tx1"/>
                          </a:solidFill>
                        </a:rPr>
                        <a:t>pid</a:t>
                      </a:r>
                      <a:r>
                        <a:rPr lang="de-DE" sz="1800" dirty="0"/>
                        <a:t>, </a:t>
                      </a:r>
                      <a:r>
                        <a:rPr lang="de-DE" sz="1800" b="1" dirty="0">
                          <a:solidFill>
                            <a:srgbClr val="FF0000"/>
                          </a:solidFill>
                        </a:rPr>
                        <a:t>p</a:t>
                      </a:r>
                      <a:r>
                        <a:rPr lang="de-DE" sz="1800" dirty="0"/>
                        <a:t>) </a:t>
                      </a:r>
                      <a:endParaRPr lang="de-DE" sz="18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Physisch f</a:t>
                      </a:r>
                      <a:endParaRPr lang="de-DE" sz="1800" b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458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458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458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....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458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300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458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301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7458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302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7458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7458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12" name="Gruppieren 11"/>
          <p:cNvGrpSpPr/>
          <p:nvPr/>
        </p:nvGrpSpPr>
        <p:grpSpPr>
          <a:xfrm>
            <a:off x="7474965" y="1734795"/>
            <a:ext cx="1368152" cy="3141653"/>
            <a:chOff x="6948264" y="1692331"/>
            <a:chExt cx="862236" cy="2456749"/>
          </a:xfrm>
        </p:grpSpPr>
        <p:cxnSp>
          <p:nvCxnSpPr>
            <p:cNvPr id="14" name="Gerade Verbindung 9"/>
            <p:cNvCxnSpPr/>
            <p:nvPr/>
          </p:nvCxnSpPr>
          <p:spPr>
            <a:xfrm>
              <a:off x="6948264" y="1692331"/>
              <a:ext cx="862236" cy="2456749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5" name="Gerade Verbindung 11"/>
            <p:cNvCxnSpPr/>
            <p:nvPr/>
          </p:nvCxnSpPr>
          <p:spPr>
            <a:xfrm flipH="1">
              <a:off x="6948264" y="1700808"/>
              <a:ext cx="862236" cy="2448272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9D5BCCAE-C865-43CE-8C1A-7C63D3812ABB}"/>
              </a:ext>
            </a:extLst>
          </p:cNvPr>
          <p:cNvSpPr/>
          <p:nvPr/>
        </p:nvSpPr>
        <p:spPr>
          <a:xfrm>
            <a:off x="7254392" y="1171247"/>
            <a:ext cx="44114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2710891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build="p"/>
      <p:bldP spid="1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Invertierte Seitentabellen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3"/>
          </p:nvPr>
        </p:nvSpPr>
        <p:spPr>
          <a:xfrm>
            <a:off x="418329" y="1298442"/>
            <a:ext cx="4225679" cy="4938870"/>
          </a:xfrm>
        </p:spPr>
        <p:txBody>
          <a:bodyPr>
            <a:normAutofit/>
          </a:bodyPr>
          <a:lstStyle/>
          <a:p>
            <a:r>
              <a:rPr lang="de-DE" dirty="0"/>
              <a:t>Eine </a:t>
            </a:r>
            <a:r>
              <a:rPr lang="de-DE" b="1" dirty="0">
                <a:solidFill>
                  <a:srgbClr val="0070C0"/>
                </a:solidFill>
              </a:rPr>
              <a:t>invertierte Seitentabelle</a:t>
            </a:r>
            <a:r>
              <a:rPr lang="de-DE" dirty="0">
                <a:solidFill>
                  <a:srgbClr val="0070C0"/>
                </a:solidFill>
              </a:rPr>
              <a:t> </a:t>
            </a:r>
            <a:r>
              <a:rPr lang="de-DE" dirty="0"/>
              <a:t>speichert zu jedem Rahmen </a:t>
            </a:r>
            <a:r>
              <a:rPr lang="de-DE" b="1" dirty="0">
                <a:solidFill>
                  <a:srgbClr val="7030A0"/>
                </a:solidFill>
              </a:rPr>
              <a:t>F</a:t>
            </a:r>
            <a:r>
              <a:rPr lang="de-DE" dirty="0"/>
              <a:t> (=Kachel des phys. Speichers) die Seitennummer </a:t>
            </a:r>
            <a:r>
              <a:rPr lang="de-DE" b="1" dirty="0">
                <a:solidFill>
                  <a:srgbClr val="FF0000"/>
                </a:solidFill>
              </a:rPr>
              <a:t>p</a:t>
            </a:r>
            <a:r>
              <a:rPr lang="de-DE" dirty="0"/>
              <a:t> der </a:t>
            </a:r>
            <a:br>
              <a:rPr lang="de-DE" dirty="0"/>
            </a:br>
            <a:r>
              <a:rPr lang="de-DE" dirty="0"/>
              <a:t>Seite (=Kachel des log. Speichers), die auf </a:t>
            </a:r>
            <a:r>
              <a:rPr lang="de-DE" b="1" dirty="0">
                <a:solidFill>
                  <a:srgbClr val="7030A0"/>
                </a:solidFill>
              </a:rPr>
              <a:t>F </a:t>
            </a:r>
            <a:r>
              <a:rPr lang="de-DE" dirty="0"/>
              <a:t>abgebildet wird</a:t>
            </a:r>
          </a:p>
          <a:p>
            <a:endParaRPr lang="de-DE" dirty="0"/>
          </a:p>
        </p:txBody>
      </p:sp>
      <p:grpSp>
        <p:nvGrpSpPr>
          <p:cNvPr id="20" name="Gruppieren 19"/>
          <p:cNvGrpSpPr/>
          <p:nvPr/>
        </p:nvGrpSpPr>
        <p:grpSpPr>
          <a:xfrm>
            <a:off x="4716016" y="1212593"/>
            <a:ext cx="3467572" cy="4019140"/>
            <a:chOff x="4561656" y="2940785"/>
            <a:chExt cx="3467572" cy="4019140"/>
          </a:xfrm>
        </p:grpSpPr>
        <p:cxnSp>
          <p:nvCxnSpPr>
            <p:cNvPr id="8" name="Straight Connector 7"/>
            <p:cNvCxnSpPr/>
            <p:nvPr/>
          </p:nvCxnSpPr>
          <p:spPr>
            <a:xfrm flipV="1">
              <a:off x="6300192" y="3537198"/>
              <a:ext cx="864096" cy="792460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V="1">
              <a:off x="6300192" y="4077072"/>
              <a:ext cx="859887" cy="607690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V="1">
              <a:off x="6300192" y="4653136"/>
              <a:ext cx="859887" cy="391666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V="1">
              <a:off x="6300192" y="5229200"/>
              <a:ext cx="859887" cy="179648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" name="Group 11"/>
            <p:cNvGrpSpPr/>
            <p:nvPr/>
          </p:nvGrpSpPr>
          <p:grpSpPr>
            <a:xfrm>
              <a:off x="4932040" y="4329658"/>
              <a:ext cx="1368152" cy="1799270"/>
              <a:chOff x="4932040" y="4329658"/>
              <a:chExt cx="1368152" cy="1799270"/>
            </a:xfrm>
          </p:grpSpPr>
          <p:grpSp>
            <p:nvGrpSpPr>
              <p:cNvPr id="12" name="Group 15"/>
              <p:cNvGrpSpPr/>
              <p:nvPr/>
            </p:nvGrpSpPr>
            <p:grpSpPr>
              <a:xfrm>
                <a:off x="4932040" y="5044802"/>
                <a:ext cx="1368152" cy="360040"/>
                <a:chOff x="2339752" y="3933056"/>
                <a:chExt cx="1368152" cy="360040"/>
              </a:xfrm>
            </p:grpSpPr>
            <p:sp>
              <p:nvSpPr>
                <p:cNvPr id="29" name="Rectangle 28"/>
                <p:cNvSpPr/>
                <p:nvPr/>
              </p:nvSpPr>
              <p:spPr>
                <a:xfrm>
                  <a:off x="2339752" y="3933056"/>
                  <a:ext cx="792088" cy="360040"/>
                </a:xfrm>
                <a:prstGeom prst="rect">
                  <a:avLst/>
                </a:prstGeom>
                <a:solidFill>
                  <a:srgbClr val="92D05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400" dirty="0"/>
                    <a:t>?</a:t>
                  </a:r>
                </a:p>
              </p:txBody>
            </p:sp>
            <p:sp>
              <p:nvSpPr>
                <p:cNvPr id="30" name="Rectangle 29"/>
                <p:cNvSpPr/>
                <p:nvPr/>
              </p:nvSpPr>
              <p:spPr>
                <a:xfrm>
                  <a:off x="3131840" y="3933056"/>
                  <a:ext cx="576064" cy="360040"/>
                </a:xfrm>
                <a:prstGeom prst="rect">
                  <a:avLst/>
                </a:prstGeom>
                <a:solidFill>
                  <a:srgbClr val="00B0F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400" dirty="0"/>
                    <a:t>12</a:t>
                  </a:r>
                </a:p>
              </p:txBody>
            </p:sp>
          </p:grpSp>
          <p:grpSp>
            <p:nvGrpSpPr>
              <p:cNvPr id="16" name="Group 16"/>
              <p:cNvGrpSpPr/>
              <p:nvPr/>
            </p:nvGrpSpPr>
            <p:grpSpPr>
              <a:xfrm>
                <a:off x="4932040" y="4329658"/>
                <a:ext cx="1368152" cy="360040"/>
                <a:chOff x="2339752" y="3933056"/>
                <a:chExt cx="1368152" cy="360040"/>
              </a:xfrm>
            </p:grpSpPr>
            <p:sp>
              <p:nvSpPr>
                <p:cNvPr id="27" name="Rectangle 26"/>
                <p:cNvSpPr/>
                <p:nvPr/>
              </p:nvSpPr>
              <p:spPr>
                <a:xfrm>
                  <a:off x="2339752" y="3933056"/>
                  <a:ext cx="792088" cy="360040"/>
                </a:xfrm>
                <a:prstGeom prst="rect">
                  <a:avLst/>
                </a:prstGeom>
                <a:solidFill>
                  <a:srgbClr val="92D05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400" dirty="0"/>
                    <a:t>…</a:t>
                  </a:r>
                </a:p>
              </p:txBody>
            </p:sp>
            <p:sp>
              <p:nvSpPr>
                <p:cNvPr id="28" name="Rectangle 27"/>
                <p:cNvSpPr/>
                <p:nvPr/>
              </p:nvSpPr>
              <p:spPr>
                <a:xfrm>
                  <a:off x="3131840" y="3933056"/>
                  <a:ext cx="576064" cy="360040"/>
                </a:xfrm>
                <a:prstGeom prst="rect">
                  <a:avLst/>
                </a:prstGeom>
                <a:solidFill>
                  <a:srgbClr val="00B0F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400" dirty="0"/>
                    <a:t>30</a:t>
                  </a:r>
                </a:p>
              </p:txBody>
            </p:sp>
          </p:grpSp>
          <p:grpSp>
            <p:nvGrpSpPr>
              <p:cNvPr id="17" name="Group 17"/>
              <p:cNvGrpSpPr/>
              <p:nvPr/>
            </p:nvGrpSpPr>
            <p:grpSpPr>
              <a:xfrm>
                <a:off x="4932040" y="4684762"/>
                <a:ext cx="1368152" cy="360040"/>
                <a:chOff x="2339752" y="3933056"/>
                <a:chExt cx="1368152" cy="360040"/>
              </a:xfrm>
            </p:grpSpPr>
            <p:sp>
              <p:nvSpPr>
                <p:cNvPr id="25" name="Rectangle 24"/>
                <p:cNvSpPr/>
                <p:nvPr/>
              </p:nvSpPr>
              <p:spPr>
                <a:xfrm>
                  <a:off x="2339752" y="3933056"/>
                  <a:ext cx="792088" cy="360040"/>
                </a:xfrm>
                <a:prstGeom prst="rect">
                  <a:avLst/>
                </a:prstGeom>
                <a:solidFill>
                  <a:srgbClr val="92D05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400" dirty="0"/>
                    <a:t>…</a:t>
                  </a:r>
                </a:p>
              </p:txBody>
            </p:sp>
            <p:sp>
              <p:nvSpPr>
                <p:cNvPr id="26" name="Rectangle 25"/>
                <p:cNvSpPr/>
                <p:nvPr/>
              </p:nvSpPr>
              <p:spPr>
                <a:xfrm>
                  <a:off x="3131840" y="3933056"/>
                  <a:ext cx="576064" cy="360040"/>
                </a:xfrm>
                <a:prstGeom prst="rect">
                  <a:avLst/>
                </a:prstGeom>
                <a:solidFill>
                  <a:srgbClr val="00B0F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400" dirty="0"/>
                    <a:t>99</a:t>
                  </a:r>
                </a:p>
              </p:txBody>
            </p:sp>
          </p:grpSp>
          <p:grpSp>
            <p:nvGrpSpPr>
              <p:cNvPr id="18" name="Group 18"/>
              <p:cNvGrpSpPr/>
              <p:nvPr/>
            </p:nvGrpSpPr>
            <p:grpSpPr>
              <a:xfrm>
                <a:off x="4932040" y="5408848"/>
                <a:ext cx="1368152" cy="360040"/>
                <a:chOff x="2339752" y="3933056"/>
                <a:chExt cx="1368152" cy="360040"/>
              </a:xfrm>
            </p:grpSpPr>
            <p:sp>
              <p:nvSpPr>
                <p:cNvPr id="23" name="Rectangle 22"/>
                <p:cNvSpPr/>
                <p:nvPr/>
              </p:nvSpPr>
              <p:spPr>
                <a:xfrm>
                  <a:off x="2339752" y="3933056"/>
                  <a:ext cx="792088" cy="360040"/>
                </a:xfrm>
                <a:prstGeom prst="rect">
                  <a:avLst/>
                </a:prstGeom>
                <a:solidFill>
                  <a:srgbClr val="92D05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400" dirty="0"/>
                    <a:t>…</a:t>
                  </a:r>
                </a:p>
              </p:txBody>
            </p:sp>
            <p:sp>
              <p:nvSpPr>
                <p:cNvPr id="24" name="Rectangle 23"/>
                <p:cNvSpPr/>
                <p:nvPr/>
              </p:nvSpPr>
              <p:spPr>
                <a:xfrm>
                  <a:off x="3131840" y="3933056"/>
                  <a:ext cx="576064" cy="360040"/>
                </a:xfrm>
                <a:prstGeom prst="rect">
                  <a:avLst/>
                </a:prstGeom>
                <a:solidFill>
                  <a:srgbClr val="00B0F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400" dirty="0"/>
                    <a:t>..</a:t>
                  </a:r>
                </a:p>
              </p:txBody>
            </p:sp>
          </p:grpSp>
          <p:grpSp>
            <p:nvGrpSpPr>
              <p:cNvPr id="19" name="Group 19"/>
              <p:cNvGrpSpPr/>
              <p:nvPr/>
            </p:nvGrpSpPr>
            <p:grpSpPr>
              <a:xfrm>
                <a:off x="4932040" y="5768888"/>
                <a:ext cx="1368152" cy="360040"/>
                <a:chOff x="2339752" y="3933056"/>
                <a:chExt cx="1368152" cy="360040"/>
              </a:xfrm>
            </p:grpSpPr>
            <p:sp>
              <p:nvSpPr>
                <p:cNvPr id="21" name="Rectangle 20"/>
                <p:cNvSpPr/>
                <p:nvPr/>
              </p:nvSpPr>
              <p:spPr>
                <a:xfrm>
                  <a:off x="2339752" y="3933056"/>
                  <a:ext cx="792088" cy="360040"/>
                </a:xfrm>
                <a:prstGeom prst="rect">
                  <a:avLst/>
                </a:prstGeom>
                <a:solidFill>
                  <a:srgbClr val="92D05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400" dirty="0"/>
                    <a:t>…</a:t>
                  </a:r>
                </a:p>
              </p:txBody>
            </p:sp>
            <p:sp>
              <p:nvSpPr>
                <p:cNvPr id="22" name="Rectangle 21"/>
                <p:cNvSpPr/>
                <p:nvPr/>
              </p:nvSpPr>
              <p:spPr>
                <a:xfrm>
                  <a:off x="3131840" y="3933056"/>
                  <a:ext cx="576064" cy="360040"/>
                </a:xfrm>
                <a:prstGeom prst="rect">
                  <a:avLst/>
                </a:prstGeom>
                <a:solidFill>
                  <a:srgbClr val="00B0F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400" dirty="0"/>
                    <a:t>10</a:t>
                  </a:r>
                </a:p>
              </p:txBody>
            </p:sp>
          </p:grpSp>
        </p:grpSp>
        <p:cxnSp>
          <p:nvCxnSpPr>
            <p:cNvPr id="13" name="Straight Connector 12"/>
            <p:cNvCxnSpPr/>
            <p:nvPr/>
          </p:nvCxnSpPr>
          <p:spPr>
            <a:xfrm>
              <a:off x="6300192" y="5768888"/>
              <a:ext cx="859887" cy="0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>
              <a:off x="6300192" y="6128928"/>
              <a:ext cx="864096" cy="216582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7160079" y="2940785"/>
              <a:ext cx="8691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dirty="0"/>
                <a:t>RAM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561656" y="6128928"/>
              <a:ext cx="208823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400" b="1" dirty="0">
                  <a:solidFill>
                    <a:srgbClr val="FF0000"/>
                  </a:solidFill>
                </a:rPr>
                <a:t>Invertierte</a:t>
              </a:r>
              <a:r>
                <a:rPr lang="de-DE" sz="2400" dirty="0">
                  <a:solidFill>
                    <a:srgbClr val="FF0000"/>
                  </a:solidFill>
                </a:rPr>
                <a:t> </a:t>
              </a:r>
              <a:r>
                <a:rPr lang="de-DE" sz="2400" dirty="0"/>
                <a:t>Seitentabelle</a:t>
              </a:r>
            </a:p>
          </p:txBody>
        </p:sp>
      </p:grpSp>
      <p:graphicFrame>
        <p:nvGraphicFramePr>
          <p:cNvPr id="32" name="Tabelle 31"/>
          <p:cNvGraphicFramePr>
            <a:graphicFrameLocks noGrp="1"/>
          </p:cNvGraphicFramePr>
          <p:nvPr/>
        </p:nvGraphicFramePr>
        <p:xfrm>
          <a:off x="7314439" y="1803466"/>
          <a:ext cx="857961" cy="281385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579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6277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4 kB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2770">
                <a:tc>
                  <a:txBody>
                    <a:bodyPr/>
                    <a:lstStyle/>
                    <a:p>
                      <a:pPr algn="ctr"/>
                      <a:endParaRPr lang="de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277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2770">
                <a:tc>
                  <a:txBody>
                    <a:bodyPr/>
                    <a:lstStyle/>
                    <a:p>
                      <a:pPr algn="ctr"/>
                      <a:endParaRPr lang="de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277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4 kB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7" name="Textfeld 36"/>
          <p:cNvSpPr txBox="1"/>
          <p:nvPr/>
        </p:nvSpPr>
        <p:spPr>
          <a:xfrm>
            <a:off x="8310718" y="1803466"/>
            <a:ext cx="8082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7030A0"/>
                </a:solidFill>
              </a:rPr>
              <a:t>f </a:t>
            </a:r>
            <a:r>
              <a:rPr lang="de-DE" sz="2400" dirty="0"/>
              <a:t>= 0</a:t>
            </a:r>
          </a:p>
        </p:txBody>
      </p:sp>
      <p:sp>
        <p:nvSpPr>
          <p:cNvPr id="38" name="Textfeld 37"/>
          <p:cNvSpPr txBox="1"/>
          <p:nvPr/>
        </p:nvSpPr>
        <p:spPr>
          <a:xfrm>
            <a:off x="5918883" y="2111322"/>
            <a:ext cx="5950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 err="1">
                <a:solidFill>
                  <a:srgbClr val="FF0000"/>
                </a:solidFill>
              </a:rPr>
              <a:t>p</a:t>
            </a:r>
            <a:r>
              <a:rPr lang="de-DE" sz="2400" dirty="0" err="1"/>
              <a:t>‘s</a:t>
            </a:r>
            <a:endParaRPr lang="de-DE" sz="2400" dirty="0"/>
          </a:p>
        </p:txBody>
      </p:sp>
      <p:sp>
        <p:nvSpPr>
          <p:cNvPr id="39" name="Textfeld 38"/>
          <p:cNvSpPr txBox="1"/>
          <p:nvPr/>
        </p:nvSpPr>
        <p:spPr>
          <a:xfrm>
            <a:off x="8310718" y="2348880"/>
            <a:ext cx="8082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7030A0"/>
                </a:solidFill>
              </a:rPr>
              <a:t>f </a:t>
            </a:r>
            <a:r>
              <a:rPr lang="de-DE" sz="2400" dirty="0"/>
              <a:t>= 1</a:t>
            </a:r>
          </a:p>
        </p:txBody>
      </p:sp>
      <p:sp>
        <p:nvSpPr>
          <p:cNvPr id="40" name="Textfeld 39"/>
          <p:cNvSpPr txBox="1"/>
          <p:nvPr/>
        </p:nvSpPr>
        <p:spPr>
          <a:xfrm>
            <a:off x="8209786" y="4119720"/>
            <a:ext cx="102944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7030A0"/>
                </a:solidFill>
              </a:rPr>
              <a:t>f </a:t>
            </a:r>
            <a:r>
              <a:rPr lang="de-DE" sz="2400" dirty="0"/>
              <a:t>= </a:t>
            </a:r>
            <a:br>
              <a:rPr lang="de-DE" sz="2400" dirty="0"/>
            </a:br>
            <a:r>
              <a:rPr lang="de-DE" sz="2400" dirty="0"/>
              <a:t>|RAM|</a:t>
            </a:r>
            <a:br>
              <a:rPr lang="de-DE" sz="2400" dirty="0"/>
            </a:br>
            <a:r>
              <a:rPr lang="de-DE" sz="2400" dirty="0"/>
              <a:t>/4kB</a:t>
            </a:r>
          </a:p>
        </p:txBody>
      </p:sp>
      <p:sp>
        <p:nvSpPr>
          <p:cNvPr id="41" name="Textfeld 40"/>
          <p:cNvSpPr txBox="1"/>
          <p:nvPr/>
        </p:nvSpPr>
        <p:spPr>
          <a:xfrm>
            <a:off x="8306509" y="2965988"/>
            <a:ext cx="8066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7030A0"/>
                </a:solidFill>
              </a:rPr>
              <a:t>f </a:t>
            </a:r>
            <a:r>
              <a:rPr lang="de-DE" sz="2400" dirty="0"/>
              <a:t>= ..</a:t>
            </a:r>
          </a:p>
        </p:txBody>
      </p:sp>
    </p:spTree>
    <p:extLst>
      <p:ext uri="{BB962C8B-B14F-4D97-AF65-F5344CB8AC3E}">
        <p14:creationId xmlns:p14="http://schemas.microsoft.com/office/powerpoint/2010/main" val="7925084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Invertierte Seitentabellen - Details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8542234" y="6466894"/>
            <a:ext cx="601766" cy="365760"/>
          </a:xfrm>
        </p:spPr>
        <p:txBody>
          <a:bodyPr/>
          <a:lstStyle/>
          <a:p>
            <a:fld id="{7183533A-8A50-4A1F-BEA9-C8C6956451EB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457199" y="1079144"/>
            <a:ext cx="8579296" cy="2641848"/>
          </a:xfrm>
        </p:spPr>
        <p:txBody>
          <a:bodyPr/>
          <a:lstStyle/>
          <a:p>
            <a:r>
              <a:rPr lang="de-DE" dirty="0"/>
              <a:t>Der Eintrag mit Index </a:t>
            </a:r>
            <a:r>
              <a:rPr lang="de-DE" b="1" dirty="0">
                <a:solidFill>
                  <a:srgbClr val="7030A0"/>
                </a:solidFill>
              </a:rPr>
              <a:t>f</a:t>
            </a:r>
            <a:r>
              <a:rPr lang="de-DE" dirty="0"/>
              <a:t> besteht aus:</a:t>
            </a:r>
          </a:p>
          <a:p>
            <a:pPr lvl="1"/>
            <a:r>
              <a:rPr lang="de-DE" dirty="0"/>
              <a:t>Prozess-Nummer </a:t>
            </a:r>
            <a:r>
              <a:rPr lang="de-DE" b="1" dirty="0">
                <a:solidFill>
                  <a:srgbClr val="00B050"/>
                </a:solidFill>
              </a:rPr>
              <a:t>PID</a:t>
            </a:r>
            <a:r>
              <a:rPr lang="de-DE" dirty="0"/>
              <a:t> des „Besitzer-Prozesses“ P des Seitenrahmens und …</a:t>
            </a:r>
          </a:p>
          <a:p>
            <a:pPr lvl="1"/>
            <a:r>
              <a:rPr lang="de-DE" dirty="0"/>
              <a:t>…Der Seitennummer </a:t>
            </a:r>
            <a:r>
              <a:rPr lang="de-DE" b="1" dirty="0">
                <a:solidFill>
                  <a:srgbClr val="FF0000"/>
                </a:solidFill>
              </a:rPr>
              <a:t>p</a:t>
            </a:r>
            <a:r>
              <a:rPr lang="de-DE" dirty="0"/>
              <a:t> der Seite im logischen Addressraum (von P), die auf Rahmen mit Nummer </a:t>
            </a:r>
            <a:r>
              <a:rPr lang="de-DE" b="1" dirty="0">
                <a:solidFill>
                  <a:srgbClr val="7030A0"/>
                </a:solidFill>
              </a:rPr>
              <a:t>f</a:t>
            </a:r>
            <a:r>
              <a:rPr lang="de-DE" dirty="0"/>
              <a:t> abbildet</a:t>
            </a:r>
          </a:p>
          <a:p>
            <a:endParaRPr lang="de-DE" dirty="0"/>
          </a:p>
        </p:txBody>
      </p:sp>
      <p:sp>
        <p:nvSpPr>
          <p:cNvPr id="48" name="Rectangle 6"/>
          <p:cNvSpPr/>
          <p:nvPr/>
        </p:nvSpPr>
        <p:spPr>
          <a:xfrm>
            <a:off x="156242" y="3494938"/>
            <a:ext cx="839663" cy="792088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 dirty="0"/>
              <a:t>CPU</a:t>
            </a:r>
          </a:p>
        </p:txBody>
      </p:sp>
      <p:grpSp>
        <p:nvGrpSpPr>
          <p:cNvPr id="49" name="Group 14"/>
          <p:cNvGrpSpPr/>
          <p:nvPr/>
        </p:nvGrpSpPr>
        <p:grpSpPr>
          <a:xfrm>
            <a:off x="2363071" y="3234218"/>
            <a:ext cx="1380679" cy="820026"/>
            <a:chOff x="2327225" y="3473070"/>
            <a:chExt cx="1380679" cy="820026"/>
          </a:xfrm>
        </p:grpSpPr>
        <p:sp>
          <p:nvSpPr>
            <p:cNvPr id="50" name="Rectangle 7"/>
            <p:cNvSpPr/>
            <p:nvPr/>
          </p:nvSpPr>
          <p:spPr>
            <a:xfrm>
              <a:off x="2327225" y="3473070"/>
              <a:ext cx="792088" cy="360040"/>
            </a:xfrm>
            <a:prstGeom prst="rect">
              <a:avLst/>
            </a:prstGeom>
            <a:solidFill>
              <a:srgbClr val="92D050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dirty="0">
                  <a:solidFill>
                    <a:schemeClr val="tx1"/>
                  </a:solidFill>
                </a:rPr>
                <a:t>PID</a:t>
              </a:r>
            </a:p>
          </p:txBody>
        </p:sp>
        <p:sp>
          <p:nvSpPr>
            <p:cNvPr id="52" name="Rectangle 8"/>
            <p:cNvSpPr/>
            <p:nvPr/>
          </p:nvSpPr>
          <p:spPr>
            <a:xfrm>
              <a:off x="3131840" y="3933056"/>
              <a:ext cx="576064" cy="360040"/>
            </a:xfrm>
            <a:prstGeom prst="rect">
              <a:avLst/>
            </a:prstGeom>
            <a:solidFill>
              <a:srgbClr val="00B0F0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rgbClr val="FF0000"/>
                  </a:solidFill>
                </a:rPr>
                <a:t>p</a:t>
              </a:r>
            </a:p>
          </p:txBody>
        </p:sp>
      </p:grpSp>
      <p:sp>
        <p:nvSpPr>
          <p:cNvPr id="53" name="Rectangle 9"/>
          <p:cNvSpPr/>
          <p:nvPr/>
        </p:nvSpPr>
        <p:spPr>
          <a:xfrm>
            <a:off x="3737831" y="3702103"/>
            <a:ext cx="576064" cy="36004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 dirty="0">
                <a:solidFill>
                  <a:schemeClr val="tx1"/>
                </a:solidFill>
              </a:rPr>
              <a:t>d</a:t>
            </a:r>
          </a:p>
        </p:txBody>
      </p:sp>
      <p:cxnSp>
        <p:nvCxnSpPr>
          <p:cNvPr id="54" name="Straight Arrow Connector 11"/>
          <p:cNvCxnSpPr>
            <a:stCxn id="48" idx="3"/>
            <a:endCxn id="52" idx="1"/>
          </p:cNvCxnSpPr>
          <p:nvPr/>
        </p:nvCxnSpPr>
        <p:spPr>
          <a:xfrm flipV="1">
            <a:off x="995905" y="3874224"/>
            <a:ext cx="2171781" cy="16758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" name="Group 66"/>
          <p:cNvGrpSpPr/>
          <p:nvPr/>
        </p:nvGrpSpPr>
        <p:grpSpPr>
          <a:xfrm>
            <a:off x="4961967" y="3306245"/>
            <a:ext cx="3149747" cy="3287810"/>
            <a:chOff x="4932040" y="3537198"/>
            <a:chExt cx="3149747" cy="3287810"/>
          </a:xfrm>
        </p:grpSpPr>
        <p:sp>
          <p:nvSpPr>
            <p:cNvPr id="56" name="Rectangle 22"/>
            <p:cNvSpPr/>
            <p:nvPr/>
          </p:nvSpPr>
          <p:spPr>
            <a:xfrm>
              <a:off x="7164288" y="3537198"/>
              <a:ext cx="911008" cy="2808312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7" name="Straight Connector 23"/>
            <p:cNvCxnSpPr/>
            <p:nvPr/>
          </p:nvCxnSpPr>
          <p:spPr>
            <a:xfrm flipV="1">
              <a:off x="6300192" y="3537198"/>
              <a:ext cx="864096" cy="792460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26"/>
            <p:cNvCxnSpPr/>
            <p:nvPr/>
          </p:nvCxnSpPr>
          <p:spPr>
            <a:xfrm flipV="1">
              <a:off x="6300192" y="4221088"/>
              <a:ext cx="864096" cy="463674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29"/>
            <p:cNvCxnSpPr/>
            <p:nvPr/>
          </p:nvCxnSpPr>
          <p:spPr>
            <a:xfrm flipV="1">
              <a:off x="6300192" y="4797152"/>
              <a:ext cx="864096" cy="247650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31"/>
            <p:cNvCxnSpPr/>
            <p:nvPr/>
          </p:nvCxnSpPr>
          <p:spPr>
            <a:xfrm flipV="1">
              <a:off x="6300192" y="5404842"/>
              <a:ext cx="864096" cy="4006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5" name="Group 65"/>
            <p:cNvGrpSpPr/>
            <p:nvPr/>
          </p:nvGrpSpPr>
          <p:grpSpPr>
            <a:xfrm>
              <a:off x="4932040" y="4329658"/>
              <a:ext cx="1368152" cy="1799270"/>
              <a:chOff x="4932040" y="4329658"/>
              <a:chExt cx="1368152" cy="1799270"/>
            </a:xfrm>
          </p:grpSpPr>
          <p:grpSp>
            <p:nvGrpSpPr>
              <p:cNvPr id="71" name="Group 15"/>
              <p:cNvGrpSpPr/>
              <p:nvPr/>
            </p:nvGrpSpPr>
            <p:grpSpPr>
              <a:xfrm>
                <a:off x="4932040" y="5044802"/>
                <a:ext cx="1368152" cy="360040"/>
                <a:chOff x="2339752" y="3933056"/>
                <a:chExt cx="1368152" cy="360040"/>
              </a:xfrm>
            </p:grpSpPr>
            <p:sp>
              <p:nvSpPr>
                <p:cNvPr id="88" name="Rectangle 16"/>
                <p:cNvSpPr/>
                <p:nvPr/>
              </p:nvSpPr>
              <p:spPr>
                <a:xfrm>
                  <a:off x="2339752" y="3933056"/>
                  <a:ext cx="792088" cy="360040"/>
                </a:xfrm>
                <a:prstGeom prst="rect">
                  <a:avLst/>
                </a:prstGeom>
                <a:solidFill>
                  <a:srgbClr val="92D05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400" dirty="0">
                      <a:solidFill>
                        <a:schemeClr val="tx1"/>
                      </a:solidFill>
                    </a:rPr>
                    <a:t>PID</a:t>
                  </a:r>
                </a:p>
              </p:txBody>
            </p:sp>
            <p:sp>
              <p:nvSpPr>
                <p:cNvPr id="89" name="Rectangle 17"/>
                <p:cNvSpPr/>
                <p:nvPr/>
              </p:nvSpPr>
              <p:spPr>
                <a:xfrm>
                  <a:off x="3131840" y="3933056"/>
                  <a:ext cx="576064" cy="360040"/>
                </a:xfrm>
                <a:prstGeom prst="rect">
                  <a:avLst/>
                </a:prstGeom>
                <a:solidFill>
                  <a:srgbClr val="00B0F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400" b="1" dirty="0">
                      <a:solidFill>
                        <a:srgbClr val="FF0000"/>
                      </a:solidFill>
                    </a:rPr>
                    <a:t>p</a:t>
                  </a:r>
                </a:p>
              </p:txBody>
            </p:sp>
          </p:grpSp>
          <p:grpSp>
            <p:nvGrpSpPr>
              <p:cNvPr id="75" name="Group 34"/>
              <p:cNvGrpSpPr/>
              <p:nvPr/>
            </p:nvGrpSpPr>
            <p:grpSpPr>
              <a:xfrm>
                <a:off x="4932040" y="4329658"/>
                <a:ext cx="1368152" cy="360040"/>
                <a:chOff x="2339752" y="3933056"/>
                <a:chExt cx="1368152" cy="360040"/>
              </a:xfrm>
            </p:grpSpPr>
            <p:sp>
              <p:nvSpPr>
                <p:cNvPr id="86" name="Rectangle 35"/>
                <p:cNvSpPr/>
                <p:nvPr/>
              </p:nvSpPr>
              <p:spPr>
                <a:xfrm>
                  <a:off x="2339752" y="3933056"/>
                  <a:ext cx="792088" cy="360040"/>
                </a:xfrm>
                <a:prstGeom prst="rect">
                  <a:avLst/>
                </a:prstGeom>
                <a:solidFill>
                  <a:srgbClr val="92D05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400" dirty="0"/>
                    <a:t>…</a:t>
                  </a:r>
                </a:p>
              </p:txBody>
            </p:sp>
            <p:sp>
              <p:nvSpPr>
                <p:cNvPr id="87" name="Rectangle 36"/>
                <p:cNvSpPr/>
                <p:nvPr/>
              </p:nvSpPr>
              <p:spPr>
                <a:xfrm>
                  <a:off x="3131840" y="3933056"/>
                  <a:ext cx="576064" cy="360040"/>
                </a:xfrm>
                <a:prstGeom prst="rect">
                  <a:avLst/>
                </a:prstGeom>
                <a:solidFill>
                  <a:srgbClr val="00B0F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400" dirty="0"/>
                    <a:t>..</a:t>
                  </a:r>
                </a:p>
              </p:txBody>
            </p:sp>
          </p:grpSp>
          <p:grpSp>
            <p:nvGrpSpPr>
              <p:cNvPr id="76" name="Group 37"/>
              <p:cNvGrpSpPr/>
              <p:nvPr/>
            </p:nvGrpSpPr>
            <p:grpSpPr>
              <a:xfrm>
                <a:off x="4932040" y="4684762"/>
                <a:ext cx="1368152" cy="360040"/>
                <a:chOff x="2339752" y="3933056"/>
                <a:chExt cx="1368152" cy="360040"/>
              </a:xfrm>
            </p:grpSpPr>
            <p:sp>
              <p:nvSpPr>
                <p:cNvPr id="84" name="Rectangle 38"/>
                <p:cNvSpPr/>
                <p:nvPr/>
              </p:nvSpPr>
              <p:spPr>
                <a:xfrm>
                  <a:off x="2339752" y="3933056"/>
                  <a:ext cx="792088" cy="360040"/>
                </a:xfrm>
                <a:prstGeom prst="rect">
                  <a:avLst/>
                </a:prstGeom>
                <a:solidFill>
                  <a:srgbClr val="92D05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400" dirty="0"/>
                    <a:t>…</a:t>
                  </a:r>
                </a:p>
              </p:txBody>
            </p:sp>
            <p:sp>
              <p:nvSpPr>
                <p:cNvPr id="85" name="Rectangle 39"/>
                <p:cNvSpPr/>
                <p:nvPr/>
              </p:nvSpPr>
              <p:spPr>
                <a:xfrm>
                  <a:off x="3131840" y="3933056"/>
                  <a:ext cx="576064" cy="360040"/>
                </a:xfrm>
                <a:prstGeom prst="rect">
                  <a:avLst/>
                </a:prstGeom>
                <a:solidFill>
                  <a:srgbClr val="00B0F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400" dirty="0"/>
                    <a:t>..</a:t>
                  </a:r>
                </a:p>
              </p:txBody>
            </p:sp>
          </p:grpSp>
          <p:grpSp>
            <p:nvGrpSpPr>
              <p:cNvPr id="78" name="Group 40"/>
              <p:cNvGrpSpPr/>
              <p:nvPr/>
            </p:nvGrpSpPr>
            <p:grpSpPr>
              <a:xfrm>
                <a:off x="4932040" y="5408848"/>
                <a:ext cx="1368152" cy="360040"/>
                <a:chOff x="2339752" y="3933056"/>
                <a:chExt cx="1368152" cy="360040"/>
              </a:xfrm>
            </p:grpSpPr>
            <p:sp>
              <p:nvSpPr>
                <p:cNvPr id="82" name="Rectangle 41"/>
                <p:cNvSpPr/>
                <p:nvPr/>
              </p:nvSpPr>
              <p:spPr>
                <a:xfrm>
                  <a:off x="2339752" y="3933056"/>
                  <a:ext cx="792088" cy="360040"/>
                </a:xfrm>
                <a:prstGeom prst="rect">
                  <a:avLst/>
                </a:prstGeom>
                <a:solidFill>
                  <a:srgbClr val="92D05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400" dirty="0"/>
                    <a:t>…</a:t>
                  </a:r>
                </a:p>
              </p:txBody>
            </p:sp>
            <p:sp>
              <p:nvSpPr>
                <p:cNvPr id="83" name="Rectangle 42"/>
                <p:cNvSpPr/>
                <p:nvPr/>
              </p:nvSpPr>
              <p:spPr>
                <a:xfrm>
                  <a:off x="3131840" y="3933056"/>
                  <a:ext cx="576064" cy="360040"/>
                </a:xfrm>
                <a:prstGeom prst="rect">
                  <a:avLst/>
                </a:prstGeom>
                <a:solidFill>
                  <a:srgbClr val="00B0F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400" dirty="0"/>
                    <a:t>..</a:t>
                  </a:r>
                </a:p>
              </p:txBody>
            </p:sp>
          </p:grpSp>
          <p:grpSp>
            <p:nvGrpSpPr>
              <p:cNvPr id="79" name="Group 43"/>
              <p:cNvGrpSpPr/>
              <p:nvPr/>
            </p:nvGrpSpPr>
            <p:grpSpPr>
              <a:xfrm>
                <a:off x="4932040" y="5768888"/>
                <a:ext cx="1368152" cy="360040"/>
                <a:chOff x="2339752" y="3933056"/>
                <a:chExt cx="1368152" cy="360040"/>
              </a:xfrm>
            </p:grpSpPr>
            <p:sp>
              <p:nvSpPr>
                <p:cNvPr id="80" name="Rectangle 44"/>
                <p:cNvSpPr/>
                <p:nvPr/>
              </p:nvSpPr>
              <p:spPr>
                <a:xfrm>
                  <a:off x="2339752" y="3933056"/>
                  <a:ext cx="792088" cy="360040"/>
                </a:xfrm>
                <a:prstGeom prst="rect">
                  <a:avLst/>
                </a:prstGeom>
                <a:solidFill>
                  <a:srgbClr val="92D05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400" dirty="0"/>
                    <a:t>…</a:t>
                  </a:r>
                </a:p>
              </p:txBody>
            </p:sp>
            <p:sp>
              <p:nvSpPr>
                <p:cNvPr id="81" name="Rectangle 45"/>
                <p:cNvSpPr/>
                <p:nvPr/>
              </p:nvSpPr>
              <p:spPr>
                <a:xfrm>
                  <a:off x="3131840" y="3933056"/>
                  <a:ext cx="576064" cy="360040"/>
                </a:xfrm>
                <a:prstGeom prst="rect">
                  <a:avLst/>
                </a:prstGeom>
                <a:solidFill>
                  <a:srgbClr val="00B0F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400" dirty="0"/>
                    <a:t>..</a:t>
                  </a:r>
                </a:p>
              </p:txBody>
            </p:sp>
          </p:grpSp>
        </p:grpSp>
        <p:cxnSp>
          <p:nvCxnSpPr>
            <p:cNvPr id="66" name="Straight Connector 50"/>
            <p:cNvCxnSpPr/>
            <p:nvPr/>
          </p:nvCxnSpPr>
          <p:spPr>
            <a:xfrm>
              <a:off x="6300192" y="5768888"/>
              <a:ext cx="864096" cy="90010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57"/>
            <p:cNvCxnSpPr/>
            <p:nvPr/>
          </p:nvCxnSpPr>
          <p:spPr>
            <a:xfrm>
              <a:off x="6300192" y="6128928"/>
              <a:ext cx="864096" cy="216582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Box 60"/>
            <p:cNvSpPr txBox="1"/>
            <p:nvPr/>
          </p:nvSpPr>
          <p:spPr>
            <a:xfrm>
              <a:off x="7212638" y="6363343"/>
              <a:ext cx="8691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dirty="0"/>
                <a:t>RAM</a:t>
              </a:r>
            </a:p>
          </p:txBody>
        </p:sp>
      </p:grpSp>
      <p:sp>
        <p:nvSpPr>
          <p:cNvPr id="90" name="Right Brace 61"/>
          <p:cNvSpPr/>
          <p:nvPr/>
        </p:nvSpPr>
        <p:spPr>
          <a:xfrm rot="5400000">
            <a:off x="2873735" y="3537896"/>
            <a:ext cx="360040" cy="1368152"/>
          </a:xfrm>
          <a:prstGeom prst="rightBrac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91" name="Elbow Connector 63"/>
          <p:cNvCxnSpPr>
            <a:stCxn id="90" idx="1"/>
            <a:endCxn id="88" idx="1"/>
          </p:cNvCxnSpPr>
          <p:nvPr/>
        </p:nvCxnSpPr>
        <p:spPr>
          <a:xfrm rot="16200000" flipH="1">
            <a:off x="3711922" y="3743824"/>
            <a:ext cx="591877" cy="1908212"/>
          </a:xfrm>
          <a:prstGeom prst="bentConnector4">
            <a:avLst>
              <a:gd name="adj1" fmla="val 99776"/>
              <a:gd name="adj2" fmla="val 54717"/>
            </a:avLst>
          </a:prstGeom>
          <a:ln w="12700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2" name="Group 70"/>
          <p:cNvGrpSpPr/>
          <p:nvPr/>
        </p:nvGrpSpPr>
        <p:grpSpPr>
          <a:xfrm>
            <a:off x="3784743" y="4098705"/>
            <a:ext cx="1058303" cy="895164"/>
            <a:chOff x="3657713" y="4329658"/>
            <a:chExt cx="1058303" cy="895164"/>
          </a:xfrm>
        </p:grpSpPr>
        <p:cxnSp>
          <p:nvCxnSpPr>
            <p:cNvPr id="93" name="Straight Arrow Connector 68"/>
            <p:cNvCxnSpPr/>
            <p:nvPr/>
          </p:nvCxnSpPr>
          <p:spPr>
            <a:xfrm>
              <a:off x="4716016" y="4329658"/>
              <a:ext cx="0" cy="895164"/>
            </a:xfrm>
            <a:prstGeom prst="straightConnector1">
              <a:avLst/>
            </a:prstGeom>
            <a:ln w="28575">
              <a:solidFill>
                <a:srgbClr val="0070C0"/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TextBox 69"/>
            <p:cNvSpPr txBox="1"/>
            <p:nvPr/>
          </p:nvSpPr>
          <p:spPr>
            <a:xfrm>
              <a:off x="3657713" y="4546407"/>
              <a:ext cx="1058303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de-DE" sz="2400" dirty="0">
                  <a:solidFill>
                    <a:srgbClr val="0070C0"/>
                  </a:solidFill>
                </a:rPr>
                <a:t>Suche</a:t>
              </a:r>
            </a:p>
          </p:txBody>
        </p:sp>
      </p:grpSp>
      <p:grpSp>
        <p:nvGrpSpPr>
          <p:cNvPr id="95" name="Group 77"/>
          <p:cNvGrpSpPr/>
          <p:nvPr/>
        </p:nvGrpSpPr>
        <p:grpSpPr>
          <a:xfrm>
            <a:off x="6330119" y="4080424"/>
            <a:ext cx="1775104" cy="1093465"/>
            <a:chOff x="6300192" y="4311377"/>
            <a:chExt cx="1775104" cy="1093465"/>
          </a:xfrm>
        </p:grpSpPr>
        <p:sp>
          <p:nvSpPr>
            <p:cNvPr id="96" name="Right Brace 72"/>
            <p:cNvSpPr/>
            <p:nvPr/>
          </p:nvSpPr>
          <p:spPr>
            <a:xfrm>
              <a:off x="6300192" y="4311377"/>
              <a:ext cx="282519" cy="737431"/>
            </a:xfrm>
            <a:prstGeom prst="rightBrace">
              <a:avLst/>
            </a:prstGeom>
            <a:ln w="28575">
              <a:solidFill>
                <a:srgbClr val="7030A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7" name="Rectangle 73"/>
            <p:cNvSpPr/>
            <p:nvPr/>
          </p:nvSpPr>
          <p:spPr>
            <a:xfrm>
              <a:off x="7164288" y="4792048"/>
              <a:ext cx="911008" cy="612794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98" name="Straight Arrow Connector 76"/>
            <p:cNvCxnSpPr>
              <a:stCxn id="96" idx="1"/>
            </p:cNvCxnSpPr>
            <p:nvPr/>
          </p:nvCxnSpPr>
          <p:spPr>
            <a:xfrm>
              <a:off x="6582711" y="4680093"/>
              <a:ext cx="581577" cy="111955"/>
            </a:xfrm>
            <a:prstGeom prst="straightConnector1">
              <a:avLst/>
            </a:prstGeom>
            <a:ln w="28575">
              <a:solidFill>
                <a:srgbClr val="7030A0"/>
              </a:solidFill>
              <a:headEnd type="none" w="med" len="med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feld 98"/>
          <p:cNvSpPr txBox="1"/>
          <p:nvPr/>
        </p:nvSpPr>
        <p:spPr>
          <a:xfrm>
            <a:off x="1027673" y="3556260"/>
            <a:ext cx="1454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log. Adresse</a:t>
            </a:r>
          </a:p>
        </p:txBody>
      </p:sp>
      <p:sp>
        <p:nvSpPr>
          <p:cNvPr id="100" name="Pfeil nach links 99"/>
          <p:cNvSpPr/>
          <p:nvPr/>
        </p:nvSpPr>
        <p:spPr>
          <a:xfrm>
            <a:off x="3211286" y="3165480"/>
            <a:ext cx="2580447" cy="499530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PID: ergänzt vom BS</a:t>
            </a:r>
          </a:p>
        </p:txBody>
      </p:sp>
      <p:sp>
        <p:nvSpPr>
          <p:cNvPr id="51" name="Textfeld 50"/>
          <p:cNvSpPr txBox="1"/>
          <p:nvPr/>
        </p:nvSpPr>
        <p:spPr>
          <a:xfrm>
            <a:off x="8105223" y="4633829"/>
            <a:ext cx="8066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7030A0"/>
                </a:solidFill>
              </a:rPr>
              <a:t>f </a:t>
            </a:r>
            <a:r>
              <a:rPr lang="de-DE" sz="2400" dirty="0"/>
              <a:t>= ..</a:t>
            </a:r>
          </a:p>
        </p:txBody>
      </p:sp>
      <p:sp>
        <p:nvSpPr>
          <p:cNvPr id="58" name="Inhaltsplatzhalter 2"/>
          <p:cNvSpPr>
            <a:spLocks noGrp="1"/>
          </p:cNvSpPr>
          <p:nvPr>
            <p:ph sz="quarter" idx="1"/>
          </p:nvPr>
        </p:nvSpPr>
        <p:spPr>
          <a:xfrm>
            <a:off x="457199" y="5132223"/>
            <a:ext cx="4504767" cy="1695622"/>
          </a:xfrm>
        </p:spPr>
        <p:txBody>
          <a:bodyPr>
            <a:normAutofit fontScale="70000" lnSpcReduction="20000"/>
          </a:bodyPr>
          <a:lstStyle/>
          <a:p>
            <a:r>
              <a:rPr lang="de-DE" sz="3400" dirty="0"/>
              <a:t>Wir suchen in der invertierten Seitentabelle nach (</a:t>
            </a:r>
            <a:r>
              <a:rPr lang="de-DE" sz="3400" b="1" dirty="0">
                <a:solidFill>
                  <a:srgbClr val="00B050"/>
                </a:solidFill>
              </a:rPr>
              <a:t>PID</a:t>
            </a:r>
            <a:r>
              <a:rPr lang="de-DE" sz="3400" dirty="0"/>
              <a:t>, </a:t>
            </a:r>
            <a:r>
              <a:rPr lang="de-DE" sz="3400" b="1" dirty="0">
                <a:solidFill>
                  <a:srgbClr val="FF0000"/>
                </a:solidFill>
              </a:rPr>
              <a:t>p</a:t>
            </a:r>
            <a:r>
              <a:rPr lang="de-DE" sz="3400" dirty="0"/>
              <a:t>)</a:t>
            </a:r>
          </a:p>
          <a:p>
            <a:r>
              <a:rPr lang="de-DE" sz="3400" u="sng" dirty="0"/>
              <a:t>Index</a:t>
            </a:r>
            <a:r>
              <a:rPr lang="de-DE" sz="3400" dirty="0"/>
              <a:t> (Position) </a:t>
            </a:r>
            <a:r>
              <a:rPr lang="de-DE" sz="3400" b="1" dirty="0">
                <a:solidFill>
                  <a:srgbClr val="7030A0"/>
                </a:solidFill>
              </a:rPr>
              <a:t>f </a:t>
            </a:r>
            <a:r>
              <a:rPr lang="de-DE" sz="3400" dirty="0"/>
              <a:t>des passenden Eintrags ist genau die Rahmennummer </a:t>
            </a:r>
            <a:r>
              <a:rPr lang="de-DE" sz="3400" b="1" dirty="0">
                <a:solidFill>
                  <a:srgbClr val="7030A0"/>
                </a:solidFill>
              </a:rPr>
              <a:t>f </a:t>
            </a:r>
            <a:endParaRPr lang="de-DE" sz="3400" dirty="0"/>
          </a:p>
          <a:p>
            <a:endParaRPr lang="de-DE" dirty="0"/>
          </a:p>
        </p:txBody>
      </p:sp>
      <p:sp>
        <p:nvSpPr>
          <p:cNvPr id="62" name="Textfeld 61"/>
          <p:cNvSpPr txBox="1"/>
          <p:nvPr/>
        </p:nvSpPr>
        <p:spPr>
          <a:xfrm>
            <a:off x="6449039" y="4327039"/>
            <a:ext cx="3722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7030A0"/>
                </a:solidFill>
              </a:rPr>
              <a:t>f </a:t>
            </a:r>
            <a:endParaRPr lang="de-DE" sz="2400" dirty="0"/>
          </a:p>
        </p:txBody>
      </p:sp>
      <p:sp>
        <p:nvSpPr>
          <p:cNvPr id="5" name="Rechteck 4"/>
          <p:cNvSpPr/>
          <p:nvPr/>
        </p:nvSpPr>
        <p:spPr>
          <a:xfrm>
            <a:off x="4961966" y="4836136"/>
            <a:ext cx="1368153" cy="337753"/>
          </a:xfrm>
          <a:prstGeom prst="rect">
            <a:avLst/>
          </a:prstGeom>
          <a:noFill/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76809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Invertierte Seitentabellen - Größe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082008"/>
          </a:xfrm>
        </p:spPr>
        <p:txBody>
          <a:bodyPr>
            <a:normAutofit/>
          </a:bodyPr>
          <a:lstStyle/>
          <a:p>
            <a:r>
              <a:rPr lang="de-DE" dirty="0"/>
              <a:t>Wie groß ist nun die Seitentabelle - in % des Gesamtspeichers?</a:t>
            </a:r>
          </a:p>
          <a:p>
            <a:pPr lvl="1"/>
            <a:r>
              <a:rPr lang="de-DE" dirty="0"/>
              <a:t>Annahmen: PID hat 12 Bits, ein Rahmen (== Seite) hat 4kByte und wir haben 64 Bit-Adressen</a:t>
            </a:r>
          </a:p>
          <a:p>
            <a:endParaRPr lang="de-DE" dirty="0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3"/>
          </p:nvPr>
        </p:nvSpPr>
        <p:spPr>
          <a:xfrm>
            <a:off x="310633" y="3260204"/>
            <a:ext cx="8208912" cy="1296144"/>
          </a:xfrm>
        </p:spPr>
        <p:txBody>
          <a:bodyPr>
            <a:normAutofit/>
          </a:bodyPr>
          <a:lstStyle/>
          <a:p>
            <a:pPr lvl="1"/>
            <a:r>
              <a:rPr lang="de-DE" dirty="0"/>
              <a:t>Dann ist d = 12 Bits, p hat (64-12)=52 Bits</a:t>
            </a:r>
          </a:p>
          <a:p>
            <a:pPr lvl="1"/>
            <a:r>
              <a:rPr lang="de-DE" dirty="0"/>
              <a:t>Wir brauchen also 64 Bits (8 Bytes) pro Eintrag, welcher eine Seite mit 4 kByte abdeckt </a:t>
            </a:r>
            <a:r>
              <a:rPr lang="de-DE" dirty="0">
                <a:solidFill>
                  <a:srgbClr val="0070C0"/>
                </a:solidFill>
              </a:rPr>
              <a:t>=&gt; 8/4096 = 1/512 ~ </a:t>
            </a:r>
            <a:r>
              <a:rPr lang="de-DE" dirty="0">
                <a:solidFill>
                  <a:srgbClr val="FF0000"/>
                </a:solidFill>
              </a:rPr>
              <a:t>0.2%</a:t>
            </a:r>
            <a:r>
              <a:rPr lang="de-DE" dirty="0">
                <a:solidFill>
                  <a:srgbClr val="0070C0"/>
                </a:solidFill>
              </a:rPr>
              <a:t> </a:t>
            </a:r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13062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Invertierte Seitentabellen – Nachteile?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19</a:t>
            </a:fld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Die Zeit für die Adressenübersetzung steigt</a:t>
            </a:r>
          </a:p>
          <a:p>
            <a:pPr lvl="1"/>
            <a:r>
              <a:rPr lang="de-DE" dirty="0"/>
              <a:t>Hier wird wieder mit TLB gearbeitet</a:t>
            </a:r>
          </a:p>
          <a:p>
            <a:pPr lvl="1"/>
            <a:r>
              <a:rPr lang="de-DE" dirty="0"/>
              <a:t>Zusätzlich wird eine Hashtabelle benutzt, um bei einem TLB-Fehler den Eintrag in Zeit </a:t>
            </a:r>
            <a:r>
              <a:rPr lang="de-DE" i="1" dirty="0"/>
              <a:t>O</a:t>
            </a:r>
            <a:r>
              <a:rPr lang="de-DE" dirty="0"/>
              <a:t>(1) zu finden </a:t>
            </a:r>
          </a:p>
          <a:p>
            <a:pPr lvl="1"/>
            <a:r>
              <a:rPr lang="de-DE" dirty="0"/>
              <a:t>Sonst lineare Suchzeit - im schlimmsten Falle durch alle Tabelleneinträge!</a:t>
            </a:r>
          </a:p>
          <a:p>
            <a:r>
              <a:rPr lang="de-DE" dirty="0"/>
              <a:t>Kein einfaches </a:t>
            </a:r>
            <a:r>
              <a:rPr lang="de-DE" dirty="0" err="1"/>
              <a:t>Shared</a:t>
            </a:r>
            <a:r>
              <a:rPr lang="de-DE" dirty="0"/>
              <a:t> Memory</a:t>
            </a:r>
          </a:p>
          <a:p>
            <a:pPr lvl="1"/>
            <a:r>
              <a:rPr lang="de-DE" dirty="0"/>
              <a:t>Jede logische Seite kann auf höchstens einen Rahmen abgebildet werden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78239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4261F4-2998-4ECC-A329-C459541B0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Pingo</a:t>
            </a:r>
            <a:r>
              <a:rPr lang="de-DE" dirty="0"/>
              <a:t> – Umfrage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C8909F2-2EB0-4411-B10E-0E11C361C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20</a:t>
            </a:fld>
            <a:endParaRPr lang="en-US" noProof="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43C6FF4-6D10-4B09-8F4D-870F956B0E1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de-DE" dirty="0"/>
              <a:t>Bei einem System mit einer </a:t>
            </a:r>
            <a:r>
              <a:rPr lang="de-DE" u="sng" dirty="0"/>
              <a:t>invertierten</a:t>
            </a:r>
            <a:r>
              <a:rPr lang="de-DE" dirty="0"/>
              <a:t> Seitentabelle und 4 kB Seitengröße werden die logischen Adressen auf die physischen Adressen so abgebildet:</a:t>
            </a:r>
          </a:p>
          <a:p>
            <a:pPr lvl="1"/>
            <a:r>
              <a:rPr lang="de-DE" dirty="0"/>
              <a:t>Prozess mit PID 111: 4096+4 = 4100 auf 1*4096+4</a:t>
            </a:r>
          </a:p>
          <a:p>
            <a:pPr lvl="1"/>
            <a:r>
              <a:rPr lang="de-DE" dirty="0"/>
              <a:t>Prozess mit PID 222: 10*4096 + 4 = 40964 auf  4</a:t>
            </a:r>
          </a:p>
          <a:p>
            <a:r>
              <a:rPr lang="de-DE" dirty="0"/>
              <a:t>Geben Sie die relevanten Einträge der Seitentabelle an, und zwar im Form:</a:t>
            </a:r>
          </a:p>
          <a:p>
            <a:pPr lvl="1"/>
            <a:r>
              <a:rPr lang="de-DE" dirty="0" err="1"/>
              <a:t>Zxxx</a:t>
            </a:r>
            <a:r>
              <a:rPr lang="de-DE" dirty="0"/>
              <a:t>, </a:t>
            </a:r>
            <a:r>
              <a:rPr lang="de-DE" dirty="0" err="1"/>
              <a:t>Eppp</a:t>
            </a:r>
            <a:r>
              <a:rPr lang="de-DE" dirty="0"/>
              <a:t>; </a:t>
            </a:r>
            <a:r>
              <a:rPr lang="de-DE" dirty="0" err="1"/>
              <a:t>Zyyy</a:t>
            </a:r>
            <a:r>
              <a:rPr lang="de-DE" dirty="0"/>
              <a:t>, </a:t>
            </a:r>
            <a:r>
              <a:rPr lang="de-DE" dirty="0" err="1"/>
              <a:t>Eqqq</a:t>
            </a:r>
            <a:endParaRPr lang="de-DE" dirty="0"/>
          </a:p>
          <a:p>
            <a:pPr lvl="1"/>
            <a:r>
              <a:rPr lang="de-DE" dirty="0"/>
              <a:t>mit xxx, </a:t>
            </a:r>
            <a:r>
              <a:rPr lang="de-DE" dirty="0" err="1"/>
              <a:t>yyy</a:t>
            </a:r>
            <a:r>
              <a:rPr lang="de-DE" dirty="0"/>
              <a:t>: </a:t>
            </a:r>
            <a:r>
              <a:rPr lang="de-DE" dirty="0" err="1"/>
              <a:t>Zeileindex</a:t>
            </a:r>
            <a:r>
              <a:rPr lang="de-DE" dirty="0"/>
              <a:t> der Tabelle, </a:t>
            </a:r>
            <a:r>
              <a:rPr lang="de-DE" dirty="0" err="1"/>
              <a:t>ppp</a:t>
            </a:r>
            <a:r>
              <a:rPr lang="de-DE" dirty="0"/>
              <a:t>, </a:t>
            </a:r>
            <a:r>
              <a:rPr lang="de-DE" dirty="0" err="1"/>
              <a:t>qqq</a:t>
            </a:r>
            <a:r>
              <a:rPr lang="de-DE" dirty="0"/>
              <a:t>: Einträge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1105B1F-9443-4A04-BA8E-6586A27BF3F4}"/>
              </a:ext>
            </a:extLst>
          </p:cNvPr>
          <p:cNvSpPr txBox="1"/>
          <p:nvPr/>
        </p:nvSpPr>
        <p:spPr>
          <a:xfrm>
            <a:off x="5530406" y="152400"/>
            <a:ext cx="3362074" cy="5232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highlight>
                  <a:srgbClr val="00FF00"/>
                </a:highlight>
              </a:rPr>
              <a:t>https://bit.ly/ibn_hd</a:t>
            </a:r>
            <a:endParaRPr lang="de-DE" sz="2800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6769623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21</a:t>
            </a:fld>
            <a:endParaRPr lang="de-DE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Paging – Mehrstufige Seitentabelle</a:t>
            </a:r>
          </a:p>
        </p:txBody>
      </p:sp>
    </p:spTree>
    <p:extLst>
      <p:ext uri="{BB962C8B-B14F-4D97-AF65-F5344CB8AC3E}">
        <p14:creationId xmlns:p14="http://schemas.microsoft.com/office/powerpoint/2010/main" val="9031645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solidFill>
                  <a:srgbClr val="FF0000"/>
                </a:solidFill>
              </a:rPr>
              <a:t>Mehrstufige</a:t>
            </a:r>
            <a:r>
              <a:rPr lang="de-DE" dirty="0"/>
              <a:t>/</a:t>
            </a:r>
            <a:r>
              <a:rPr lang="de-DE" b="1" dirty="0">
                <a:solidFill>
                  <a:srgbClr val="FF0000"/>
                </a:solidFill>
              </a:rPr>
              <a:t>Hierarchische</a:t>
            </a:r>
            <a:r>
              <a:rPr lang="de-DE" dirty="0"/>
              <a:t> Seitentabellen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22</a:t>
            </a:fld>
            <a:endParaRPr lang="de-DE"/>
          </a:p>
        </p:txBody>
      </p:sp>
      <p:sp>
        <p:nvSpPr>
          <p:cNvPr id="5" name="Inhaltsplatzhalter 4"/>
          <p:cNvSpPr>
            <a:spLocks noGrp="1"/>
          </p:cNvSpPr>
          <p:nvPr>
            <p:ph sz="quarter" idx="2"/>
          </p:nvPr>
        </p:nvSpPr>
        <p:spPr>
          <a:xfrm>
            <a:off x="3505222" y="1216152"/>
            <a:ext cx="5315250" cy="5431100"/>
          </a:xfrm>
        </p:spPr>
        <p:txBody>
          <a:bodyPr>
            <a:normAutofit/>
          </a:bodyPr>
          <a:lstStyle/>
          <a:p>
            <a:r>
              <a:rPr lang="de-DE" dirty="0"/>
              <a:t>Eine hierarchische Tabelle HST ist zunächst wie eine direkte Seitentabelle (nicht invertiert)</a:t>
            </a:r>
            <a:endParaRPr lang="de-DE" b="1" dirty="0"/>
          </a:p>
          <a:p>
            <a:r>
              <a:rPr lang="de-DE" sz="2400" dirty="0"/>
              <a:t>Aber sie ist zerteilt in Abschnitte mit je 2</a:t>
            </a:r>
            <a:r>
              <a:rPr lang="de-DE" sz="2400" baseline="30000" dirty="0"/>
              <a:t>k</a:t>
            </a:r>
            <a:r>
              <a:rPr lang="de-DE" sz="2400" dirty="0"/>
              <a:t> Einträgen (z.B. k=9), und </a:t>
            </a:r>
            <a:r>
              <a:rPr lang="de-DE" sz="2400" u="sng" dirty="0">
                <a:solidFill>
                  <a:srgbClr val="0070C0"/>
                </a:solidFill>
              </a:rPr>
              <a:t>nur manche dieser Abschnitte existieren</a:t>
            </a:r>
            <a:endParaRPr lang="de-DE" sz="2400" dirty="0">
              <a:solidFill>
                <a:srgbClr val="0070C0"/>
              </a:solidFill>
            </a:endParaRPr>
          </a:p>
          <a:p>
            <a:r>
              <a:rPr lang="de-DE" sz="2400" dirty="0"/>
              <a:t>Jeder Abschnitt kann „irgendwo“ im phys. Speicher anfangen</a:t>
            </a:r>
          </a:p>
          <a:p>
            <a:pPr lvl="1"/>
            <a:r>
              <a:rPr lang="de-DE" dirty="0"/>
              <a:t>Es werden nur solche Abschnitte angelegt, die die tatsächlich verwendeten logischen Adressenbereiche abdecken</a:t>
            </a:r>
          </a:p>
          <a:p>
            <a:pPr marL="0" indent="0">
              <a:buNone/>
            </a:pPr>
            <a:endParaRPr lang="de-DE" dirty="0"/>
          </a:p>
        </p:txBody>
      </p:sp>
      <p:grpSp>
        <p:nvGrpSpPr>
          <p:cNvPr id="17" name="Gruppieren 16"/>
          <p:cNvGrpSpPr/>
          <p:nvPr/>
        </p:nvGrpSpPr>
        <p:grpSpPr>
          <a:xfrm>
            <a:off x="1557044" y="1734258"/>
            <a:ext cx="362127" cy="1304652"/>
            <a:chOff x="1557146" y="2774518"/>
            <a:chExt cx="362127" cy="1304652"/>
          </a:xfrm>
          <a:solidFill>
            <a:schemeClr val="bg1">
              <a:lumMod val="65000"/>
            </a:schemeClr>
          </a:solidFill>
        </p:grpSpPr>
        <p:sp>
          <p:nvSpPr>
            <p:cNvPr id="9" name="Rectangle 4122"/>
            <p:cNvSpPr/>
            <p:nvPr/>
          </p:nvSpPr>
          <p:spPr>
            <a:xfrm>
              <a:off x="1557150" y="2774518"/>
              <a:ext cx="362123" cy="3261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b="1" dirty="0">
                  <a:solidFill>
                    <a:srgbClr val="0070C0"/>
                  </a:solidFill>
                </a:rPr>
                <a:t>1</a:t>
              </a:r>
            </a:p>
          </p:txBody>
        </p:sp>
        <p:sp>
          <p:nvSpPr>
            <p:cNvPr id="10" name="Rectangle 63"/>
            <p:cNvSpPr/>
            <p:nvPr/>
          </p:nvSpPr>
          <p:spPr>
            <a:xfrm>
              <a:off x="1557149" y="3100681"/>
              <a:ext cx="362123" cy="3261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b="1" dirty="0">
                  <a:solidFill>
                    <a:srgbClr val="0070C0"/>
                  </a:solidFill>
                </a:rPr>
                <a:t>4</a:t>
              </a:r>
            </a:p>
          </p:txBody>
        </p:sp>
        <p:sp>
          <p:nvSpPr>
            <p:cNvPr id="11" name="Rectangle 64"/>
            <p:cNvSpPr/>
            <p:nvPr/>
          </p:nvSpPr>
          <p:spPr>
            <a:xfrm>
              <a:off x="1557146" y="3426844"/>
              <a:ext cx="362125" cy="3261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b="1" dirty="0">
                  <a:solidFill>
                    <a:srgbClr val="0070C0"/>
                  </a:solidFill>
                </a:rPr>
                <a:t>3</a:t>
              </a:r>
            </a:p>
          </p:txBody>
        </p:sp>
        <p:sp>
          <p:nvSpPr>
            <p:cNvPr id="12" name="Rectangle 65"/>
            <p:cNvSpPr/>
            <p:nvPr/>
          </p:nvSpPr>
          <p:spPr>
            <a:xfrm>
              <a:off x="1557148" y="3753007"/>
              <a:ext cx="362123" cy="3261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b="1" dirty="0">
                  <a:solidFill>
                    <a:srgbClr val="0070C0"/>
                  </a:solidFill>
                </a:rPr>
                <a:t>0</a:t>
              </a:r>
            </a:p>
          </p:txBody>
        </p:sp>
      </p:grpSp>
      <p:sp>
        <p:nvSpPr>
          <p:cNvPr id="13" name="TextBox 4124"/>
          <p:cNvSpPr txBox="1"/>
          <p:nvPr/>
        </p:nvSpPr>
        <p:spPr>
          <a:xfrm>
            <a:off x="1199559" y="1734258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14" name="TextBox 68"/>
          <p:cNvSpPr txBox="1"/>
          <p:nvPr/>
        </p:nvSpPr>
        <p:spPr>
          <a:xfrm>
            <a:off x="1199557" y="2062443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5" name="TextBox 69"/>
          <p:cNvSpPr txBox="1"/>
          <p:nvPr/>
        </p:nvSpPr>
        <p:spPr>
          <a:xfrm>
            <a:off x="1199557" y="2700414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6" name="TextBox 68"/>
          <p:cNvSpPr txBox="1"/>
          <p:nvPr/>
        </p:nvSpPr>
        <p:spPr>
          <a:xfrm>
            <a:off x="1199557" y="2368464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8" name="Textfeld 17"/>
          <p:cNvSpPr txBox="1"/>
          <p:nvPr/>
        </p:nvSpPr>
        <p:spPr>
          <a:xfrm>
            <a:off x="1434340" y="1290539"/>
            <a:ext cx="689388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dirty="0"/>
              <a:t>HST</a:t>
            </a:r>
          </a:p>
        </p:txBody>
      </p:sp>
      <p:sp>
        <p:nvSpPr>
          <p:cNvPr id="19" name="Rechteckige Legende 18"/>
          <p:cNvSpPr/>
          <p:nvPr/>
        </p:nvSpPr>
        <p:spPr>
          <a:xfrm rot="16200000">
            <a:off x="-184377" y="2285137"/>
            <a:ext cx="1618881" cy="668844"/>
          </a:xfrm>
          <a:prstGeom prst="wedgeRectCallout">
            <a:avLst>
              <a:gd name="adj1" fmla="val 20941"/>
              <a:gd name="adj2" fmla="val 88617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rgbClr val="FF0000"/>
                </a:solidFill>
              </a:rPr>
              <a:t>Index p </a:t>
            </a:r>
            <a:r>
              <a:rPr lang="de-DE" dirty="0">
                <a:solidFill>
                  <a:schemeClr val="tx1"/>
                </a:solidFill>
              </a:rPr>
              <a:t>eines Eintrags</a:t>
            </a:r>
          </a:p>
        </p:txBody>
      </p:sp>
      <p:sp>
        <p:nvSpPr>
          <p:cNvPr id="21" name="Rechteckige Legende 20"/>
          <p:cNvSpPr/>
          <p:nvPr/>
        </p:nvSpPr>
        <p:spPr>
          <a:xfrm>
            <a:off x="2237375" y="1755770"/>
            <a:ext cx="1182394" cy="901567"/>
          </a:xfrm>
          <a:prstGeom prst="wedgeRectCallout">
            <a:avLst>
              <a:gd name="adj1" fmla="val -78139"/>
              <a:gd name="adj2" fmla="val -708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Inhalt </a:t>
            </a:r>
            <a:r>
              <a:rPr lang="de-DE" b="1" dirty="0">
                <a:solidFill>
                  <a:srgbClr val="0070C0"/>
                </a:solidFill>
              </a:rPr>
              <a:t>f</a:t>
            </a:r>
            <a:r>
              <a:rPr lang="de-DE" dirty="0">
                <a:solidFill>
                  <a:schemeClr val="tx1"/>
                </a:solidFill>
              </a:rPr>
              <a:t> eines Eintrags</a:t>
            </a:r>
          </a:p>
        </p:txBody>
      </p:sp>
      <p:sp>
        <p:nvSpPr>
          <p:cNvPr id="23" name="TextBox 68"/>
          <p:cNvSpPr txBox="1"/>
          <p:nvPr/>
        </p:nvSpPr>
        <p:spPr>
          <a:xfrm>
            <a:off x="516676" y="3990480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rgbClr val="FF0000"/>
                </a:solidFill>
              </a:rPr>
              <a:t>1533357</a:t>
            </a:r>
          </a:p>
        </p:txBody>
      </p:sp>
      <p:sp>
        <p:nvSpPr>
          <p:cNvPr id="24" name="TextBox 69"/>
          <p:cNvSpPr txBox="1"/>
          <p:nvPr/>
        </p:nvSpPr>
        <p:spPr>
          <a:xfrm>
            <a:off x="516676" y="4628451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rgbClr val="FF0000"/>
                </a:solidFill>
              </a:rPr>
              <a:t>1533359</a:t>
            </a:r>
          </a:p>
        </p:txBody>
      </p:sp>
      <p:sp>
        <p:nvSpPr>
          <p:cNvPr id="25" name="TextBox 68"/>
          <p:cNvSpPr txBox="1"/>
          <p:nvPr/>
        </p:nvSpPr>
        <p:spPr>
          <a:xfrm>
            <a:off x="516676" y="4296501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rgbClr val="FF0000"/>
                </a:solidFill>
              </a:rPr>
              <a:t>1533358</a:t>
            </a:r>
          </a:p>
        </p:txBody>
      </p:sp>
      <p:sp>
        <p:nvSpPr>
          <p:cNvPr id="27" name="TextBox 4124"/>
          <p:cNvSpPr txBox="1"/>
          <p:nvPr/>
        </p:nvSpPr>
        <p:spPr>
          <a:xfrm>
            <a:off x="1044490" y="5092870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>
                <a:solidFill>
                  <a:srgbClr val="FF0000"/>
                </a:solidFill>
              </a:rPr>
              <a:t>…</a:t>
            </a:r>
          </a:p>
        </p:txBody>
      </p:sp>
      <p:sp>
        <p:nvSpPr>
          <p:cNvPr id="28" name="TextBox 68"/>
          <p:cNvSpPr txBox="1"/>
          <p:nvPr/>
        </p:nvSpPr>
        <p:spPr>
          <a:xfrm>
            <a:off x="866131" y="5683118"/>
            <a:ext cx="631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rgbClr val="FF0000"/>
                </a:solidFill>
              </a:rPr>
              <a:t>2</a:t>
            </a:r>
            <a:r>
              <a:rPr lang="de-DE" sz="1600" baseline="30000" dirty="0">
                <a:solidFill>
                  <a:srgbClr val="FF0000"/>
                </a:solidFill>
              </a:rPr>
              <a:t>52</a:t>
            </a:r>
            <a:r>
              <a:rPr lang="de-DE" sz="1600" dirty="0">
                <a:solidFill>
                  <a:srgbClr val="FF0000"/>
                </a:solidFill>
              </a:rPr>
              <a:t>-3</a:t>
            </a:r>
          </a:p>
        </p:txBody>
      </p:sp>
      <p:sp>
        <p:nvSpPr>
          <p:cNvPr id="29" name="TextBox 69"/>
          <p:cNvSpPr txBox="1"/>
          <p:nvPr/>
        </p:nvSpPr>
        <p:spPr>
          <a:xfrm>
            <a:off x="866131" y="6321089"/>
            <a:ext cx="631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rgbClr val="FF0000"/>
                </a:solidFill>
              </a:rPr>
              <a:t>2</a:t>
            </a:r>
            <a:r>
              <a:rPr lang="de-DE" sz="1600" baseline="30000" dirty="0">
                <a:solidFill>
                  <a:srgbClr val="FF0000"/>
                </a:solidFill>
              </a:rPr>
              <a:t>52</a:t>
            </a:r>
            <a:r>
              <a:rPr lang="de-DE" sz="1600" dirty="0">
                <a:solidFill>
                  <a:srgbClr val="FF0000"/>
                </a:solidFill>
              </a:rPr>
              <a:t>-1</a:t>
            </a:r>
          </a:p>
        </p:txBody>
      </p:sp>
      <p:sp>
        <p:nvSpPr>
          <p:cNvPr id="30" name="TextBox 68"/>
          <p:cNvSpPr txBox="1"/>
          <p:nvPr/>
        </p:nvSpPr>
        <p:spPr>
          <a:xfrm>
            <a:off x="866131" y="5989139"/>
            <a:ext cx="631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rgbClr val="FF0000"/>
                </a:solidFill>
              </a:rPr>
              <a:t>2</a:t>
            </a:r>
            <a:r>
              <a:rPr lang="de-DE" sz="1600" baseline="30000" dirty="0">
                <a:solidFill>
                  <a:srgbClr val="FF0000"/>
                </a:solidFill>
              </a:rPr>
              <a:t>52</a:t>
            </a:r>
            <a:r>
              <a:rPr lang="de-DE" sz="1600" dirty="0">
                <a:solidFill>
                  <a:srgbClr val="FF0000"/>
                </a:solidFill>
              </a:rPr>
              <a:t>-2</a:t>
            </a:r>
          </a:p>
        </p:txBody>
      </p:sp>
      <p:sp>
        <p:nvSpPr>
          <p:cNvPr id="31" name="TextBox 4124"/>
          <p:cNvSpPr txBox="1"/>
          <p:nvPr/>
        </p:nvSpPr>
        <p:spPr>
          <a:xfrm>
            <a:off x="1108291" y="3329180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>
                <a:solidFill>
                  <a:srgbClr val="FF0000"/>
                </a:solidFill>
              </a:rPr>
              <a:t>…</a:t>
            </a:r>
          </a:p>
        </p:txBody>
      </p:sp>
      <p:grpSp>
        <p:nvGrpSpPr>
          <p:cNvPr id="32" name="Gruppieren 31"/>
          <p:cNvGrpSpPr/>
          <p:nvPr/>
        </p:nvGrpSpPr>
        <p:grpSpPr>
          <a:xfrm>
            <a:off x="1553206" y="3990480"/>
            <a:ext cx="635609" cy="978489"/>
            <a:chOff x="1557146" y="2774518"/>
            <a:chExt cx="362127" cy="978489"/>
          </a:xfrm>
          <a:solidFill>
            <a:schemeClr val="bg1">
              <a:lumMod val="65000"/>
            </a:schemeClr>
          </a:solidFill>
        </p:grpSpPr>
        <p:sp>
          <p:nvSpPr>
            <p:cNvPr id="33" name="Rectangle 4122"/>
            <p:cNvSpPr/>
            <p:nvPr/>
          </p:nvSpPr>
          <p:spPr>
            <a:xfrm>
              <a:off x="1557150" y="2774518"/>
              <a:ext cx="362123" cy="3261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b="1" dirty="0">
                  <a:solidFill>
                    <a:srgbClr val="0070C0"/>
                  </a:solidFill>
                </a:rPr>
                <a:t>51</a:t>
              </a:r>
            </a:p>
          </p:txBody>
        </p:sp>
        <p:sp>
          <p:nvSpPr>
            <p:cNvPr id="34" name="Rectangle 63"/>
            <p:cNvSpPr/>
            <p:nvPr/>
          </p:nvSpPr>
          <p:spPr>
            <a:xfrm>
              <a:off x="1557149" y="3100681"/>
              <a:ext cx="362123" cy="3261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b="1" dirty="0">
                  <a:solidFill>
                    <a:srgbClr val="0070C0"/>
                  </a:solidFill>
                </a:rPr>
                <a:t>43</a:t>
              </a:r>
            </a:p>
          </p:txBody>
        </p:sp>
        <p:sp>
          <p:nvSpPr>
            <p:cNvPr id="35" name="Rectangle 64"/>
            <p:cNvSpPr/>
            <p:nvPr/>
          </p:nvSpPr>
          <p:spPr>
            <a:xfrm>
              <a:off x="1557146" y="3426844"/>
              <a:ext cx="362125" cy="3261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b="1" dirty="0">
                  <a:solidFill>
                    <a:srgbClr val="0070C0"/>
                  </a:solidFill>
                </a:rPr>
                <a:t>107</a:t>
              </a:r>
            </a:p>
          </p:txBody>
        </p:sp>
      </p:grpSp>
      <p:grpSp>
        <p:nvGrpSpPr>
          <p:cNvPr id="37" name="Gruppieren 36"/>
          <p:cNvGrpSpPr/>
          <p:nvPr/>
        </p:nvGrpSpPr>
        <p:grpSpPr>
          <a:xfrm>
            <a:off x="1555717" y="5668763"/>
            <a:ext cx="635609" cy="978489"/>
            <a:chOff x="1557146" y="2774518"/>
            <a:chExt cx="362127" cy="978489"/>
          </a:xfrm>
          <a:solidFill>
            <a:schemeClr val="bg1">
              <a:lumMod val="65000"/>
            </a:schemeClr>
          </a:solidFill>
        </p:grpSpPr>
        <p:sp>
          <p:nvSpPr>
            <p:cNvPr id="38" name="Rectangle 4122"/>
            <p:cNvSpPr/>
            <p:nvPr/>
          </p:nvSpPr>
          <p:spPr>
            <a:xfrm>
              <a:off x="1557150" y="2774518"/>
              <a:ext cx="362123" cy="3261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b="1" dirty="0">
                  <a:solidFill>
                    <a:srgbClr val="0070C0"/>
                  </a:solidFill>
                </a:rPr>
                <a:t>11</a:t>
              </a:r>
            </a:p>
          </p:txBody>
        </p:sp>
        <p:sp>
          <p:nvSpPr>
            <p:cNvPr id="39" name="Rectangle 63"/>
            <p:cNvSpPr/>
            <p:nvPr/>
          </p:nvSpPr>
          <p:spPr>
            <a:xfrm>
              <a:off x="1557149" y="3100681"/>
              <a:ext cx="362123" cy="3261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b="1" dirty="0">
                  <a:solidFill>
                    <a:srgbClr val="0070C0"/>
                  </a:solidFill>
                </a:rPr>
                <a:t>9</a:t>
              </a:r>
            </a:p>
          </p:txBody>
        </p:sp>
        <p:sp>
          <p:nvSpPr>
            <p:cNvPr id="40" name="Rectangle 64"/>
            <p:cNvSpPr/>
            <p:nvPr/>
          </p:nvSpPr>
          <p:spPr>
            <a:xfrm>
              <a:off x="1557146" y="3426844"/>
              <a:ext cx="362125" cy="3261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b="1" dirty="0">
                  <a:solidFill>
                    <a:srgbClr val="0070C0"/>
                  </a:solidFill>
                </a:rPr>
                <a:t>20</a:t>
              </a:r>
            </a:p>
          </p:txBody>
        </p:sp>
      </p:grpSp>
      <p:sp>
        <p:nvSpPr>
          <p:cNvPr id="41" name="Geschweifte Klammer rechts 40"/>
          <p:cNvSpPr/>
          <p:nvPr/>
        </p:nvSpPr>
        <p:spPr>
          <a:xfrm>
            <a:off x="1558260" y="3046322"/>
            <a:ext cx="393444" cy="936745"/>
          </a:xfrm>
          <a:prstGeom prst="rightBrac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Geschweifte Klammer rechts 41"/>
          <p:cNvSpPr/>
          <p:nvPr/>
        </p:nvSpPr>
        <p:spPr>
          <a:xfrm>
            <a:off x="1569846" y="4979894"/>
            <a:ext cx="393444" cy="688869"/>
          </a:xfrm>
          <a:prstGeom prst="rightBrace">
            <a:avLst>
              <a:gd name="adj1" fmla="val 8333"/>
              <a:gd name="adj2" fmla="val 48846"/>
            </a:avLst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/>
          <p:cNvSpPr txBox="1"/>
          <p:nvPr/>
        </p:nvSpPr>
        <p:spPr>
          <a:xfrm>
            <a:off x="2004993" y="2992763"/>
            <a:ext cx="11528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/>
              <a:t>Abschnitte</a:t>
            </a:r>
            <a:br>
              <a:rPr lang="de-DE" sz="1600" dirty="0"/>
            </a:br>
            <a:r>
              <a:rPr lang="de-DE" sz="1600" dirty="0"/>
              <a:t>nicht </a:t>
            </a:r>
            <a:br>
              <a:rPr lang="de-DE" sz="1600" dirty="0"/>
            </a:br>
            <a:r>
              <a:rPr lang="de-DE" sz="1600" dirty="0"/>
              <a:t>vorhanden</a:t>
            </a:r>
          </a:p>
        </p:txBody>
      </p:sp>
      <p:sp>
        <p:nvSpPr>
          <p:cNvPr id="43" name="Textfeld 42"/>
          <p:cNvSpPr txBox="1"/>
          <p:nvPr/>
        </p:nvSpPr>
        <p:spPr>
          <a:xfrm>
            <a:off x="2188811" y="4860176"/>
            <a:ext cx="14750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/>
              <a:t>Abschnitte</a:t>
            </a:r>
            <a:br>
              <a:rPr lang="de-DE" sz="1600" dirty="0"/>
            </a:br>
            <a:r>
              <a:rPr lang="de-DE" sz="1600" dirty="0"/>
              <a:t>nicht vorhanden</a:t>
            </a:r>
          </a:p>
        </p:txBody>
      </p:sp>
      <p:sp>
        <p:nvSpPr>
          <p:cNvPr id="44" name="Rechteckige Legende 43"/>
          <p:cNvSpPr/>
          <p:nvPr/>
        </p:nvSpPr>
        <p:spPr>
          <a:xfrm>
            <a:off x="2355361" y="3958609"/>
            <a:ext cx="1182394" cy="669842"/>
          </a:xfrm>
          <a:prstGeom prst="wedgeRectCallout">
            <a:avLst>
              <a:gd name="adj1" fmla="val -64690"/>
              <a:gd name="adj2" fmla="val -43558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</a:rPr>
              <a:t>Abschnitt startet in RAM ab 1340000</a:t>
            </a:r>
          </a:p>
        </p:txBody>
      </p:sp>
      <p:sp>
        <p:nvSpPr>
          <p:cNvPr id="45" name="Rechteckige Legende 44"/>
          <p:cNvSpPr/>
          <p:nvPr/>
        </p:nvSpPr>
        <p:spPr>
          <a:xfrm>
            <a:off x="2339095" y="5977410"/>
            <a:ext cx="1182394" cy="669842"/>
          </a:xfrm>
          <a:prstGeom prst="wedgeRectCallout">
            <a:avLst>
              <a:gd name="adj1" fmla="val -61327"/>
              <a:gd name="adj2" fmla="val -93414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</a:rPr>
              <a:t>Abschnitt startet in RAM ab 10000</a:t>
            </a:r>
          </a:p>
        </p:txBody>
      </p:sp>
    </p:spTree>
    <p:extLst>
      <p:ext uri="{BB962C8B-B14F-4D97-AF65-F5344CB8AC3E}">
        <p14:creationId xmlns:p14="http://schemas.microsoft.com/office/powerpoint/2010/main" val="4208786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solidFill>
                  <a:srgbClr val="FF0000"/>
                </a:solidFill>
              </a:rPr>
              <a:t>Mehrstufige</a:t>
            </a:r>
            <a:r>
              <a:rPr lang="de-DE" dirty="0"/>
              <a:t>/</a:t>
            </a:r>
            <a:r>
              <a:rPr lang="de-DE" b="1" dirty="0">
                <a:solidFill>
                  <a:srgbClr val="FF0000"/>
                </a:solidFill>
              </a:rPr>
              <a:t>Hierarchische</a:t>
            </a:r>
            <a:r>
              <a:rPr lang="de-DE" dirty="0"/>
              <a:t> Seitentabellen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579296" cy="2063586"/>
          </a:xfrm>
        </p:spPr>
        <p:txBody>
          <a:bodyPr>
            <a:normAutofit/>
          </a:bodyPr>
          <a:lstStyle/>
          <a:p>
            <a:r>
              <a:rPr lang="de-DE" dirty="0"/>
              <a:t>Wir müssen wissen, wo im Speicher welche Stücke (der Seitentabelle) liegen</a:t>
            </a:r>
          </a:p>
          <a:p>
            <a:r>
              <a:rPr lang="de-DE" dirty="0"/>
              <a:t>Diese Anfangsadressen werden in einer Tabelle höherer Stufe (d.h. Stufe 1) gehalten („</a:t>
            </a:r>
            <a:r>
              <a:rPr lang="de-DE" dirty="0" err="1">
                <a:solidFill>
                  <a:srgbClr val="FF0000"/>
                </a:solidFill>
              </a:rPr>
              <a:t>page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FF0000"/>
                </a:solidFill>
              </a:rPr>
              <a:t>directory</a:t>
            </a:r>
            <a:r>
              <a:rPr lang="de-DE" dirty="0"/>
              <a:t>“)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23</a:t>
            </a:fld>
            <a:endParaRPr lang="en-US" noProof="0" dirty="0"/>
          </a:p>
        </p:txBody>
      </p:sp>
      <p:pic>
        <p:nvPicPr>
          <p:cNvPr id="5" name="Picture 103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43608" y="3501008"/>
            <a:ext cx="7097713" cy="2994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feld 5"/>
          <p:cNvSpPr txBox="1"/>
          <p:nvPr/>
        </p:nvSpPr>
        <p:spPr>
          <a:xfrm>
            <a:off x="185711" y="6066924"/>
            <a:ext cx="3852401" cy="6463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Stufe 1: enthält physische Adressen</a:t>
            </a:r>
          </a:p>
          <a:p>
            <a:r>
              <a:rPr lang="de-DE" dirty="0"/>
              <a:t>der „Stücke“ der Seitentabelle</a:t>
            </a:r>
          </a:p>
        </p:txBody>
      </p:sp>
      <p:cxnSp>
        <p:nvCxnSpPr>
          <p:cNvPr id="8" name="Gerade Verbindung mit Pfeil 7"/>
          <p:cNvCxnSpPr>
            <a:stCxn id="6" idx="0"/>
          </p:cNvCxnSpPr>
          <p:nvPr/>
        </p:nvCxnSpPr>
        <p:spPr>
          <a:xfrm flipV="1">
            <a:off x="2111912" y="5343214"/>
            <a:ext cx="803904" cy="723710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/>
          <p:cNvSpPr txBox="1"/>
          <p:nvPr/>
        </p:nvSpPr>
        <p:spPr>
          <a:xfrm>
            <a:off x="3281956" y="3506379"/>
            <a:ext cx="2634119" cy="6463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Physische Adresse des </a:t>
            </a:r>
          </a:p>
          <a:p>
            <a:r>
              <a:rPr lang="de-DE" dirty="0"/>
              <a:t>Anfangs des „Stückes“</a:t>
            </a:r>
          </a:p>
        </p:txBody>
      </p:sp>
      <p:cxnSp>
        <p:nvCxnSpPr>
          <p:cNvPr id="12" name="Gerade Verbindung mit Pfeil 11"/>
          <p:cNvCxnSpPr>
            <a:stCxn id="10" idx="2"/>
          </p:cNvCxnSpPr>
          <p:nvPr/>
        </p:nvCxnSpPr>
        <p:spPr>
          <a:xfrm flipH="1">
            <a:off x="4572000" y="4152710"/>
            <a:ext cx="27016" cy="716450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feld 12"/>
          <p:cNvSpPr txBox="1"/>
          <p:nvPr/>
        </p:nvSpPr>
        <p:spPr>
          <a:xfrm>
            <a:off x="6084168" y="3501008"/>
            <a:ext cx="2339102" cy="92333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Stufe 2: </a:t>
            </a:r>
            <a:r>
              <a:rPr lang="de-DE" dirty="0">
                <a:solidFill>
                  <a:srgbClr val="0070C0"/>
                </a:solidFill>
              </a:rPr>
              <a:t>ein „Stück“</a:t>
            </a:r>
          </a:p>
          <a:p>
            <a:r>
              <a:rPr lang="de-DE" dirty="0">
                <a:solidFill>
                  <a:srgbClr val="0070C0"/>
                </a:solidFill>
              </a:rPr>
              <a:t>der </a:t>
            </a:r>
            <a:r>
              <a:rPr lang="de-DE" u="sng" dirty="0">
                <a:solidFill>
                  <a:srgbClr val="0070C0"/>
                </a:solidFill>
              </a:rPr>
              <a:t>normalen</a:t>
            </a:r>
            <a:r>
              <a:rPr lang="de-DE" dirty="0">
                <a:solidFill>
                  <a:srgbClr val="0070C0"/>
                </a:solidFill>
              </a:rPr>
              <a:t> Seiten-</a:t>
            </a:r>
          </a:p>
          <a:p>
            <a:r>
              <a:rPr lang="de-DE" dirty="0" err="1">
                <a:solidFill>
                  <a:srgbClr val="0070C0"/>
                </a:solidFill>
              </a:rPr>
              <a:t>tabelle</a:t>
            </a:r>
            <a:endParaRPr lang="de-DE" dirty="0">
              <a:solidFill>
                <a:srgbClr val="0070C0"/>
              </a:solidFill>
            </a:endParaRPr>
          </a:p>
        </p:txBody>
      </p:sp>
      <p:cxnSp>
        <p:nvCxnSpPr>
          <p:cNvPr id="15" name="Gerade Verbindung mit Pfeil 14"/>
          <p:cNvCxnSpPr>
            <a:stCxn id="13" idx="2"/>
          </p:cNvCxnSpPr>
          <p:nvPr/>
        </p:nvCxnSpPr>
        <p:spPr>
          <a:xfrm rot="5400000">
            <a:off x="6374525" y="4061974"/>
            <a:ext cx="516830" cy="1241559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feld 15"/>
          <p:cNvSpPr txBox="1"/>
          <p:nvPr/>
        </p:nvSpPr>
        <p:spPr>
          <a:xfrm>
            <a:off x="851438" y="3372895"/>
            <a:ext cx="192879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dirty="0"/>
              <a:t>logische Adresse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9262" y="5987617"/>
            <a:ext cx="2698175" cy="64633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de-DE" dirty="0"/>
              <a:t>Übersetzung wie bei der</a:t>
            </a:r>
          </a:p>
          <a:p>
            <a:pPr algn="ctr"/>
            <a:r>
              <a:rPr lang="de-DE" dirty="0"/>
              <a:t>„normalen“ Seitentabelle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7840" y="4696883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/>
              <a:t>Physischer</a:t>
            </a:r>
          </a:p>
          <a:p>
            <a:pPr algn="ctr"/>
            <a:r>
              <a:rPr lang="de-DE" dirty="0"/>
              <a:t>Speicher</a:t>
            </a:r>
          </a:p>
        </p:txBody>
      </p:sp>
      <p:cxnSp>
        <p:nvCxnSpPr>
          <p:cNvPr id="19" name="Straight Arrow Connector 18"/>
          <p:cNvCxnSpPr>
            <a:stCxn id="14" idx="0"/>
          </p:cNvCxnSpPr>
          <p:nvPr/>
        </p:nvCxnSpPr>
        <p:spPr>
          <a:xfrm flipH="1" flipV="1">
            <a:off x="5724128" y="5483561"/>
            <a:ext cx="84222" cy="504056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74078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6" descr="D:\b\b4\IBM\03-13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707904" y="1309410"/>
            <a:ext cx="5263586" cy="5400600"/>
          </a:xfrm>
          <a:prstGeom prst="rect">
            <a:avLst/>
          </a:prstGeom>
          <a:noFill/>
        </p:spPr>
      </p:pic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Mehrstufige Seitentabellen - Beispiel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24</a:t>
            </a:fld>
            <a:endParaRPr lang="en-US" noProof="0" dirty="0"/>
          </a:p>
        </p:txBody>
      </p:sp>
      <p:sp>
        <p:nvSpPr>
          <p:cNvPr id="7" name="Inhaltsplatzhalter 2"/>
          <p:cNvSpPr>
            <a:spLocks noGrp="1"/>
          </p:cNvSpPr>
          <p:nvPr>
            <p:ph sz="quarter" idx="1"/>
          </p:nvPr>
        </p:nvSpPr>
        <p:spPr>
          <a:xfrm>
            <a:off x="323528" y="1196752"/>
            <a:ext cx="5842992" cy="1993776"/>
          </a:xfrm>
        </p:spPr>
        <p:txBody>
          <a:bodyPr>
            <a:normAutofit/>
          </a:bodyPr>
          <a:lstStyle/>
          <a:p>
            <a:r>
              <a:rPr lang="de-DE" dirty="0"/>
              <a:t>Umrechnung der logischen Adresse:</a:t>
            </a:r>
          </a:p>
          <a:p>
            <a:pPr lvl="1"/>
            <a:r>
              <a:rPr lang="de-DE" b="1" dirty="0">
                <a:solidFill>
                  <a:srgbClr val="FF0000"/>
                </a:solidFill>
              </a:rPr>
              <a:t>p</a:t>
            </a:r>
            <a:r>
              <a:rPr lang="de-DE" b="1" baseline="-25000" dirty="0">
                <a:solidFill>
                  <a:srgbClr val="FF0000"/>
                </a:solidFill>
              </a:rPr>
              <a:t>1</a:t>
            </a:r>
            <a:r>
              <a:rPr lang="de-DE" dirty="0"/>
              <a:t> wird als Index in die 1. Tabelle genutzt; der von P</a:t>
            </a:r>
            <a:r>
              <a:rPr lang="de-DE" baseline="-25000" dirty="0"/>
              <a:t>1</a:t>
            </a:r>
            <a:r>
              <a:rPr lang="de-DE" dirty="0"/>
              <a:t> indizierte Eintrag enthält die </a:t>
            </a:r>
            <a:r>
              <a:rPr lang="de-DE" u="sng" dirty="0"/>
              <a:t>physische Adresse</a:t>
            </a:r>
            <a:r>
              <a:rPr lang="de-DE" dirty="0"/>
              <a:t> einer Tabelle der 2. Stufe</a:t>
            </a:r>
          </a:p>
        </p:txBody>
      </p:sp>
      <p:sp>
        <p:nvSpPr>
          <p:cNvPr id="8" name="Inhaltsplatzhalter 2"/>
          <p:cNvSpPr txBox="1">
            <a:spLocks/>
          </p:cNvSpPr>
          <p:nvPr/>
        </p:nvSpPr>
        <p:spPr>
          <a:xfrm>
            <a:off x="179512" y="4725144"/>
            <a:ext cx="6264696" cy="2016224"/>
          </a:xfrm>
          <a:prstGeom prst="rect">
            <a:avLst/>
          </a:prstGeom>
        </p:spPr>
        <p:txBody>
          <a:bodyPr vert="horz">
            <a:normAutofit fontScale="85000" lnSpcReduction="10000"/>
          </a:bodyPr>
          <a:lstStyle/>
          <a:p>
            <a:pPr marL="274320" indent="-274320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</a:pPr>
            <a:r>
              <a:rPr kumimoji="0" lang="de-DE" sz="2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Innerhalb der Tabelle der 2. Stufe wird </a:t>
            </a:r>
            <a:r>
              <a:rPr kumimoji="0" lang="de-DE" sz="2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</a:t>
            </a:r>
            <a:r>
              <a:rPr kumimoji="0" lang="de-DE" sz="26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</a:t>
            </a:r>
            <a:r>
              <a:rPr kumimoji="0" lang="de-DE" sz="2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als Index</a:t>
            </a:r>
            <a:r>
              <a:rPr kumimoji="0" lang="de-DE" sz="26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verwendet; der gefundene Eintrag ist die Basisadresse eines Seitenrahmens</a:t>
            </a:r>
          </a:p>
          <a:p>
            <a:pPr marL="274320" indent="-274320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</a:pPr>
            <a:r>
              <a:rPr lang="de-DE" sz="2600" baseline="0" dirty="0"/>
              <a:t>Offset  </a:t>
            </a:r>
            <a:r>
              <a:rPr lang="de-DE" sz="2600" b="1" baseline="0" dirty="0">
                <a:solidFill>
                  <a:srgbClr val="0070C0"/>
                </a:solidFill>
              </a:rPr>
              <a:t>d</a:t>
            </a:r>
            <a:r>
              <a:rPr lang="de-DE" sz="2600" baseline="0" dirty="0"/>
              <a:t> </a:t>
            </a:r>
            <a:r>
              <a:rPr lang="de-DE" sz="2600" dirty="0"/>
              <a:t>(12 Bits)</a:t>
            </a:r>
            <a:r>
              <a:rPr lang="de-DE" sz="2600" baseline="0" dirty="0"/>
              <a:t> legt</a:t>
            </a:r>
            <a:r>
              <a:rPr lang="de-DE" sz="2600" dirty="0"/>
              <a:t> die Adresse innerhalb des Seitenrahmens fest (Seitengröße 4kByte)</a:t>
            </a:r>
            <a:endParaRPr kumimoji="0" lang="de-DE" sz="23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Textfeld 8"/>
          <p:cNvSpPr txBox="1"/>
          <p:nvPr/>
        </p:nvSpPr>
        <p:spPr>
          <a:xfrm>
            <a:off x="5464453" y="2852936"/>
            <a:ext cx="97975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dirty="0"/>
              <a:t>1. Stufe</a:t>
            </a:r>
          </a:p>
        </p:txBody>
      </p:sp>
      <p:sp>
        <p:nvSpPr>
          <p:cNvPr id="10" name="Textfeld 9"/>
          <p:cNvSpPr txBox="1"/>
          <p:nvPr/>
        </p:nvSpPr>
        <p:spPr>
          <a:xfrm>
            <a:off x="7222117" y="1171802"/>
            <a:ext cx="97975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dirty="0"/>
              <a:t>2. Stufe</a:t>
            </a:r>
          </a:p>
        </p:txBody>
      </p:sp>
      <p:pic>
        <p:nvPicPr>
          <p:cNvPr id="11" name="Picture 4"/>
          <p:cNvPicPr>
            <a:picLocks noChangeAspect="1" noChangeArrowheads="1"/>
          </p:cNvPicPr>
          <p:nvPr/>
        </p:nvPicPr>
        <p:blipFill>
          <a:blip r:embed="rId4" cstate="print"/>
          <a:srcRect l="638" t="35571" r="661" b="35571"/>
          <a:stretch>
            <a:fillRect/>
          </a:stretch>
        </p:blipFill>
        <p:spPr bwMode="auto">
          <a:xfrm>
            <a:off x="467544" y="3501008"/>
            <a:ext cx="4608512" cy="1010672"/>
          </a:xfrm>
          <a:prstGeom prst="rect">
            <a:avLst/>
          </a:prstGeom>
          <a:noFill/>
          <a:ln w="38100" cmpd="dbl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9030472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Mehrstufige Seitentabellen - Probleme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507288" cy="5450160"/>
          </a:xfrm>
        </p:spPr>
        <p:txBody>
          <a:bodyPr>
            <a:normAutofit/>
          </a:bodyPr>
          <a:lstStyle/>
          <a:p>
            <a:r>
              <a:rPr lang="de-DE" dirty="0"/>
              <a:t>Mehrstufige Tabellen erhöhen die Zugriffszeit</a:t>
            </a:r>
          </a:p>
          <a:p>
            <a:pPr lvl="1"/>
            <a:r>
              <a:rPr lang="de-DE" dirty="0"/>
              <a:t>Aber mit TLB kann man dies kompensieren</a:t>
            </a:r>
          </a:p>
          <a:p>
            <a:r>
              <a:rPr lang="de-DE" dirty="0"/>
              <a:t>Wirkliches Problem entsteht bei 64-Bit Adressräumen</a:t>
            </a:r>
          </a:p>
          <a:p>
            <a:pPr lvl="1"/>
            <a:r>
              <a:rPr lang="de-DE" dirty="0"/>
              <a:t>Bei 3 Stufigen Seitentabelle hätte die äußerste Tabelle (1. Stufe) immer noch 2</a:t>
            </a:r>
            <a:r>
              <a:rPr lang="de-DE" baseline="30000" dirty="0"/>
              <a:t>32</a:t>
            </a:r>
            <a:r>
              <a:rPr lang="de-DE" dirty="0"/>
              <a:t> Einträge =&gt; 2</a:t>
            </a:r>
            <a:r>
              <a:rPr lang="de-DE" baseline="30000" dirty="0"/>
              <a:t>35</a:t>
            </a:r>
            <a:r>
              <a:rPr lang="de-DE" dirty="0"/>
              <a:t> Bytes = 32 GB!</a:t>
            </a:r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25</a:t>
            </a:fld>
            <a:endParaRPr lang="en-US" noProof="0" dirty="0"/>
          </a:p>
        </p:txBody>
      </p:sp>
      <p:pic>
        <p:nvPicPr>
          <p:cNvPr id="5" name="Picture 7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59632" y="4149080"/>
            <a:ext cx="6446837" cy="1247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6864876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507288" cy="990600"/>
          </a:xfrm>
        </p:spPr>
        <p:txBody>
          <a:bodyPr>
            <a:normAutofit/>
          </a:bodyPr>
          <a:lstStyle/>
          <a:p>
            <a:r>
              <a:rPr lang="de-DE" dirty="0"/>
              <a:t>Mehrstufige Seitentabellen von 64-Bit CPUs</a:t>
            </a:r>
            <a:endParaRPr lang="en-US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26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199" y="1219200"/>
            <a:ext cx="8686801" cy="2569840"/>
          </a:xfrm>
        </p:spPr>
        <p:txBody>
          <a:bodyPr/>
          <a:lstStyle/>
          <a:p>
            <a:r>
              <a:rPr lang="de-DE" dirty="0"/>
              <a:t>Intel 64 CPUs in </a:t>
            </a:r>
            <a:r>
              <a:rPr lang="de-DE" dirty="0">
                <a:solidFill>
                  <a:srgbClr val="0070C0"/>
                </a:solidFill>
              </a:rPr>
              <a:t>IA-32e</a:t>
            </a:r>
            <a:r>
              <a:rPr lang="de-DE" dirty="0"/>
              <a:t>-Modus haben </a:t>
            </a:r>
            <a:r>
              <a:rPr lang="de-DE" dirty="0">
                <a:solidFill>
                  <a:srgbClr val="0070C0"/>
                </a:solidFill>
              </a:rPr>
              <a:t>48-Bit</a:t>
            </a:r>
            <a:r>
              <a:rPr lang="de-DE" dirty="0"/>
              <a:t> log. Adressraum (256 </a:t>
            </a:r>
            <a:r>
              <a:rPr lang="de-DE" dirty="0" err="1"/>
              <a:t>TBytes</a:t>
            </a:r>
            <a:r>
              <a:rPr lang="de-DE" dirty="0"/>
              <a:t>), der zu </a:t>
            </a:r>
            <a:r>
              <a:rPr lang="de-DE" dirty="0">
                <a:solidFill>
                  <a:srgbClr val="0070C0"/>
                </a:solidFill>
              </a:rPr>
              <a:t>52-Bit</a:t>
            </a:r>
            <a:r>
              <a:rPr lang="de-DE" dirty="0"/>
              <a:t> physischen </a:t>
            </a:r>
            <a:r>
              <a:rPr lang="de-DE" dirty="0" err="1"/>
              <a:t>Addressraum</a:t>
            </a:r>
            <a:r>
              <a:rPr lang="de-DE" dirty="0"/>
              <a:t> (4 </a:t>
            </a:r>
            <a:r>
              <a:rPr lang="de-DE" dirty="0" err="1"/>
              <a:t>PBytes</a:t>
            </a:r>
            <a:r>
              <a:rPr lang="de-DE" dirty="0"/>
              <a:t>) übersetzt wird</a:t>
            </a:r>
          </a:p>
          <a:p>
            <a:r>
              <a:rPr lang="de-DE" dirty="0"/>
              <a:t>Es gibt </a:t>
            </a:r>
            <a:r>
              <a:rPr lang="de-DE" dirty="0">
                <a:solidFill>
                  <a:srgbClr val="0070C0"/>
                </a:solidFill>
              </a:rPr>
              <a:t>4 Stufen</a:t>
            </a:r>
            <a:r>
              <a:rPr lang="de-DE" dirty="0"/>
              <a:t>, je </a:t>
            </a:r>
            <a:r>
              <a:rPr lang="de-DE" dirty="0">
                <a:solidFill>
                  <a:srgbClr val="0070C0"/>
                </a:solidFill>
              </a:rPr>
              <a:t>9 Bits</a:t>
            </a:r>
            <a:r>
              <a:rPr lang="de-DE" dirty="0"/>
              <a:t>: PML4E, PDPTE, PDE, PTE  </a:t>
            </a:r>
          </a:p>
          <a:p>
            <a:endParaRPr lang="de-DE" dirty="0"/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59" y="2996952"/>
            <a:ext cx="5726365" cy="3757419"/>
          </a:xfrm>
          <a:prstGeom prst="rect">
            <a:avLst/>
          </a:prstGeom>
        </p:spPr>
      </p:pic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>
          <a:xfrm>
            <a:off x="4065187" y="5229200"/>
            <a:ext cx="4461023" cy="96813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dirty="0" err="1"/>
              <a:t>Quelle</a:t>
            </a:r>
            <a:r>
              <a:rPr lang="en-US" sz="2000" dirty="0"/>
              <a:t>: Intel® 64 and IA-32 Architectures Software Developer’s Manual, Sec. 4.5, </a:t>
            </a:r>
            <a:r>
              <a:rPr lang="en-US" sz="2000" dirty="0">
                <a:hlinkClick r:id="rId3"/>
              </a:rPr>
              <a:t>http://goo.gl/ahtAvR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3023813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Video 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27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fr-FR" dirty="0"/>
              <a:t>Modern Page Tables: Multi-</a:t>
            </a:r>
            <a:r>
              <a:rPr lang="fr-FR" dirty="0" err="1"/>
              <a:t>Level</a:t>
            </a:r>
            <a:r>
              <a:rPr lang="fr-FR" dirty="0"/>
              <a:t> Paging</a:t>
            </a:r>
          </a:p>
          <a:p>
            <a:pPr lvl="1"/>
            <a:r>
              <a:rPr lang="en-US" dirty="0">
                <a:hlinkClick r:id="rId2"/>
              </a:rPr>
              <a:t>https://www.youtube.com/watch?v=pCgw4Pe-5jo</a:t>
            </a:r>
            <a:endParaRPr lang="en-US" dirty="0"/>
          </a:p>
          <a:p>
            <a:pPr lvl="1"/>
            <a:r>
              <a:rPr lang="en-US" dirty="0"/>
              <a:t>Von 0:00 </a:t>
            </a:r>
            <a:r>
              <a:rPr lang="en-US" dirty="0" err="1"/>
              <a:t>bis</a:t>
            </a:r>
            <a:r>
              <a:rPr lang="en-US" dirty="0"/>
              <a:t> 05:05 - </a:t>
            </a:r>
            <a:r>
              <a:rPr lang="en-US" dirty="0" err="1"/>
              <a:t>Seitentabellen</a:t>
            </a:r>
            <a:r>
              <a:rPr lang="en-US" dirty="0"/>
              <a:t> in IA 32 und Problem</a:t>
            </a:r>
          </a:p>
          <a:p>
            <a:pPr lvl="1"/>
            <a:r>
              <a:rPr lang="en-US" dirty="0"/>
              <a:t>Von 05:05 </a:t>
            </a:r>
            <a:r>
              <a:rPr lang="en-US" dirty="0" err="1"/>
              <a:t>bis</a:t>
            </a:r>
            <a:r>
              <a:rPr lang="en-US" dirty="0"/>
              <a:t> ca. 07:54: </a:t>
            </a:r>
            <a:r>
              <a:rPr lang="en-US" dirty="0" err="1"/>
              <a:t>mögliche</a:t>
            </a:r>
            <a:r>
              <a:rPr lang="en-US" dirty="0"/>
              <a:t> </a:t>
            </a:r>
            <a:r>
              <a:rPr lang="en-US" dirty="0" err="1"/>
              <a:t>Lösungen</a:t>
            </a:r>
            <a:endParaRPr lang="en-US" dirty="0"/>
          </a:p>
          <a:p>
            <a:pPr lvl="1"/>
            <a:r>
              <a:rPr lang="en-US" dirty="0"/>
              <a:t>Von 07:54 </a:t>
            </a:r>
            <a:r>
              <a:rPr lang="en-US" dirty="0" err="1"/>
              <a:t>bis</a:t>
            </a:r>
            <a:r>
              <a:rPr lang="en-US" dirty="0"/>
              <a:t> ca. 08:58 - </a:t>
            </a:r>
            <a:r>
              <a:rPr lang="en-US" dirty="0" err="1"/>
              <a:t>mehrstufige</a:t>
            </a:r>
            <a:r>
              <a:rPr lang="en-US" dirty="0"/>
              <a:t> </a:t>
            </a:r>
            <a:r>
              <a:rPr lang="en-US" dirty="0" err="1"/>
              <a:t>Seitentabellen</a:t>
            </a:r>
            <a:endParaRPr lang="en-US" dirty="0"/>
          </a:p>
          <a:p>
            <a:pPr lvl="1"/>
            <a:r>
              <a:rPr lang="en-US" dirty="0"/>
              <a:t>Von 14:00 </a:t>
            </a:r>
            <a:r>
              <a:rPr lang="en-US" dirty="0" err="1"/>
              <a:t>bis</a:t>
            </a:r>
            <a:r>
              <a:rPr lang="en-US" dirty="0"/>
              <a:t> </a:t>
            </a:r>
            <a:r>
              <a:rPr lang="en-US" dirty="0" err="1"/>
              <a:t>Ende</a:t>
            </a:r>
            <a:r>
              <a:rPr lang="en-US" dirty="0"/>
              <a:t> - IA32/x86 </a:t>
            </a:r>
            <a:r>
              <a:rPr lang="en-US" dirty="0" err="1"/>
              <a:t>oder</a:t>
            </a:r>
            <a:r>
              <a:rPr lang="en-US" dirty="0"/>
              <a:t> ARM?</a:t>
            </a:r>
          </a:p>
        </p:txBody>
      </p:sp>
    </p:spTree>
    <p:extLst>
      <p:ext uri="{BB962C8B-B14F-4D97-AF65-F5344CB8AC3E}">
        <p14:creationId xmlns:p14="http://schemas.microsoft.com/office/powerpoint/2010/main" val="1245914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28</a:t>
            </a:fld>
            <a:endParaRPr lang="de-DE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971600" y="2348880"/>
            <a:ext cx="7200800" cy="3168352"/>
          </a:xfrm>
        </p:spPr>
        <p:txBody>
          <a:bodyPr/>
          <a:lstStyle/>
          <a:p>
            <a:r>
              <a:rPr lang="de-DE" dirty="0" err="1">
                <a:solidFill>
                  <a:schemeClr val="tx1"/>
                </a:solidFill>
              </a:rPr>
              <a:t>Paging</a:t>
            </a:r>
            <a:r>
              <a:rPr lang="de-DE" dirty="0">
                <a:solidFill>
                  <a:schemeClr val="tx1"/>
                </a:solidFill>
              </a:rPr>
              <a:t> bei IA32-Architektur:</a:t>
            </a:r>
            <a:br>
              <a:rPr lang="de-DE" dirty="0">
                <a:solidFill>
                  <a:schemeClr val="tx1"/>
                </a:solidFill>
              </a:rPr>
            </a:br>
            <a:r>
              <a:rPr lang="de-DE" dirty="0">
                <a:solidFill>
                  <a:schemeClr val="tx1"/>
                </a:solidFill>
              </a:rPr>
              <a:t>Konkrete Details </a:t>
            </a:r>
            <a:br>
              <a:rPr lang="de-DE" dirty="0">
                <a:solidFill>
                  <a:schemeClr val="tx1"/>
                </a:solidFill>
              </a:rPr>
            </a:br>
            <a:br>
              <a:rPr lang="de-DE" dirty="0">
                <a:solidFill>
                  <a:schemeClr val="tx1"/>
                </a:solidFill>
              </a:rPr>
            </a:br>
            <a:r>
              <a:rPr lang="de-DE" sz="2800" dirty="0">
                <a:solidFill>
                  <a:schemeClr val="tx1"/>
                </a:solidFill>
              </a:rPr>
              <a:t>Empfehlenswert zum Lesen:</a:t>
            </a:r>
            <a:br>
              <a:rPr lang="de-DE" sz="2800" dirty="0">
                <a:solidFill>
                  <a:schemeClr val="tx1"/>
                </a:solidFill>
              </a:rPr>
            </a:br>
            <a:r>
              <a:rPr lang="de-DE" sz="2800" dirty="0">
                <a:solidFill>
                  <a:schemeClr val="tx1"/>
                </a:solidFill>
                <a:hlinkClick r:id="rId2"/>
              </a:rPr>
              <a:t>https://wiki.osdev.org/Paging</a:t>
            </a:r>
            <a:r>
              <a:rPr lang="de-DE" sz="2800" dirty="0">
                <a:solidFill>
                  <a:schemeClr val="tx1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2288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Mehrstufige Seitentabellen </a:t>
            </a:r>
            <a:r>
              <a:rPr lang="de-DE"/>
              <a:t>bei IA32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29</a:t>
            </a:fld>
            <a:endParaRPr lang="en-US" noProof="0" dirty="0"/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763688" y="2420888"/>
            <a:ext cx="4776850" cy="42383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Picture 4"/>
          <p:cNvPicPr>
            <a:picLocks noChangeAspect="1" noChangeArrowheads="1"/>
          </p:cNvPicPr>
          <p:nvPr/>
        </p:nvPicPr>
        <p:blipFill>
          <a:blip r:embed="rId4" cstate="print"/>
          <a:srcRect l="638" t="35571" r="661" b="35571"/>
          <a:stretch>
            <a:fillRect/>
          </a:stretch>
        </p:blipFill>
        <p:spPr bwMode="auto">
          <a:xfrm>
            <a:off x="1979712" y="1196752"/>
            <a:ext cx="4608512" cy="1010672"/>
          </a:xfrm>
          <a:prstGeom prst="rect">
            <a:avLst/>
          </a:prstGeom>
          <a:noFill/>
          <a:ln w="38100" cmpd="dbl">
            <a:noFill/>
            <a:miter lim="800000"/>
            <a:headEnd/>
            <a:tailEnd/>
          </a:ln>
        </p:spPr>
      </p:pic>
      <p:sp>
        <p:nvSpPr>
          <p:cNvPr id="3" name="TextBox 2"/>
          <p:cNvSpPr txBox="1"/>
          <p:nvPr/>
        </p:nvSpPr>
        <p:spPr>
          <a:xfrm>
            <a:off x="70215" y="3220813"/>
            <a:ext cx="229582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>
                <a:solidFill>
                  <a:srgbClr val="FF0000"/>
                </a:solidFill>
              </a:rPr>
              <a:t>Page Directory </a:t>
            </a:r>
            <a:r>
              <a:rPr lang="de-DE" sz="2200" dirty="0"/>
              <a:t>=</a:t>
            </a:r>
          </a:p>
          <a:p>
            <a:r>
              <a:rPr lang="de-DE" sz="2200" dirty="0"/>
              <a:t>Tabelle der </a:t>
            </a:r>
          </a:p>
          <a:p>
            <a:r>
              <a:rPr lang="de-DE" sz="2200" dirty="0"/>
              <a:t>1. Stufe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1763688" y="3774811"/>
            <a:ext cx="792088" cy="691920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H="1">
            <a:off x="4788024" y="2841903"/>
            <a:ext cx="2376264" cy="803121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08304" y="2116421"/>
            <a:ext cx="1864613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>
                <a:solidFill>
                  <a:srgbClr val="FF0000"/>
                </a:solidFill>
              </a:rPr>
              <a:t>Page Table </a:t>
            </a:r>
            <a:r>
              <a:rPr lang="de-DE" sz="2000" dirty="0"/>
              <a:t>=</a:t>
            </a:r>
          </a:p>
          <a:p>
            <a:r>
              <a:rPr lang="de-DE" sz="2000" dirty="0"/>
              <a:t>Tabelle der </a:t>
            </a:r>
          </a:p>
          <a:p>
            <a:r>
              <a:rPr lang="de-DE" sz="2000" dirty="0"/>
              <a:t>2. Stufe (Stück</a:t>
            </a:r>
          </a:p>
          <a:p>
            <a:r>
              <a:rPr lang="de-DE" sz="2000" dirty="0"/>
              <a:t>der „normalen“</a:t>
            </a:r>
          </a:p>
          <a:p>
            <a:r>
              <a:rPr lang="de-DE" sz="2000" dirty="0"/>
              <a:t>Seitentabelle)</a:t>
            </a:r>
          </a:p>
        </p:txBody>
      </p:sp>
      <p:sp>
        <p:nvSpPr>
          <p:cNvPr id="11" name="Textfeld 10"/>
          <p:cNvSpPr txBox="1"/>
          <p:nvPr/>
        </p:nvSpPr>
        <p:spPr>
          <a:xfrm>
            <a:off x="6668139" y="3952568"/>
            <a:ext cx="2364750" cy="255454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de-DE" sz="2000" dirty="0"/>
              <a:t>Bei 4-MB ist </a:t>
            </a:r>
          </a:p>
          <a:p>
            <a:r>
              <a:rPr lang="de-DE" sz="2000" dirty="0"/>
              <a:t>Page Directory die </a:t>
            </a:r>
          </a:p>
          <a:p>
            <a:r>
              <a:rPr lang="de-DE" sz="2000" dirty="0"/>
              <a:t>tatsächliche</a:t>
            </a:r>
          </a:p>
          <a:p>
            <a:r>
              <a:rPr lang="de-DE" sz="2000" dirty="0"/>
              <a:t>Seitentabelle,</a:t>
            </a:r>
          </a:p>
          <a:p>
            <a:r>
              <a:rPr lang="de-DE" sz="2000" dirty="0"/>
              <a:t>da unser Offset</a:t>
            </a:r>
          </a:p>
          <a:p>
            <a:r>
              <a:rPr lang="de-DE" sz="2000" dirty="0"/>
              <a:t>22 Bits hat =&gt; nur</a:t>
            </a:r>
          </a:p>
          <a:p>
            <a:r>
              <a:rPr lang="de-DE" sz="2000" dirty="0"/>
              <a:t>2</a:t>
            </a:r>
            <a:r>
              <a:rPr lang="de-DE" sz="2000" baseline="30000" dirty="0"/>
              <a:t>10</a:t>
            </a:r>
            <a:r>
              <a:rPr lang="de-DE" sz="2000" dirty="0"/>
              <a:t> Einträge in </a:t>
            </a:r>
          </a:p>
          <a:p>
            <a:r>
              <a:rPr lang="de-DE" sz="2000" dirty="0"/>
              <a:t>der Seitentabelle</a:t>
            </a:r>
          </a:p>
        </p:txBody>
      </p:sp>
    </p:spTree>
    <p:extLst>
      <p:ext uri="{BB962C8B-B14F-4D97-AF65-F5344CB8AC3E}">
        <p14:creationId xmlns:p14="http://schemas.microsoft.com/office/powerpoint/2010/main" val="2096514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0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allAtOnce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Konfigurieren der Seitentabellen bei IA32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30</a:t>
            </a:fld>
            <a:endParaRPr lang="en-US" noProof="0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Die MMU wird durch spezielle CPU-Register bei jedem </a:t>
            </a:r>
            <a:r>
              <a:rPr lang="de-DE" u="sng" dirty="0"/>
              <a:t>Prozesswechsel</a:t>
            </a:r>
            <a:r>
              <a:rPr lang="de-DE" dirty="0"/>
              <a:t> neu konfiguriert</a:t>
            </a:r>
          </a:p>
          <a:p>
            <a:endParaRPr lang="de-DE" dirty="0"/>
          </a:p>
          <a:p>
            <a:r>
              <a:rPr lang="de-DE" dirty="0"/>
              <a:t>Register </a:t>
            </a:r>
            <a:r>
              <a:rPr lang="de-DE" b="1" dirty="0">
                <a:solidFill>
                  <a:srgbClr val="0070C0"/>
                </a:solidFill>
              </a:rPr>
              <a:t>page-</a:t>
            </a:r>
            <a:r>
              <a:rPr lang="de-DE" b="1" dirty="0" err="1">
                <a:solidFill>
                  <a:srgbClr val="0070C0"/>
                </a:solidFill>
              </a:rPr>
              <a:t>table</a:t>
            </a:r>
            <a:r>
              <a:rPr lang="de-DE" b="1" dirty="0">
                <a:solidFill>
                  <a:srgbClr val="0070C0"/>
                </a:solidFill>
              </a:rPr>
              <a:t> </a:t>
            </a:r>
            <a:r>
              <a:rPr lang="de-DE" b="1" dirty="0" err="1">
                <a:solidFill>
                  <a:srgbClr val="0070C0"/>
                </a:solidFill>
              </a:rPr>
              <a:t>base</a:t>
            </a:r>
            <a:r>
              <a:rPr lang="de-DE" b="1" dirty="0">
                <a:solidFill>
                  <a:srgbClr val="0070C0"/>
                </a:solidFill>
              </a:rPr>
              <a:t> </a:t>
            </a:r>
            <a:r>
              <a:rPr lang="de-DE" b="1" dirty="0" err="1">
                <a:solidFill>
                  <a:srgbClr val="0070C0"/>
                </a:solidFill>
              </a:rPr>
              <a:t>register</a:t>
            </a:r>
            <a:r>
              <a:rPr lang="de-DE" b="1" dirty="0">
                <a:solidFill>
                  <a:srgbClr val="FF0000"/>
                </a:solidFill>
              </a:rPr>
              <a:t> </a:t>
            </a:r>
            <a:r>
              <a:rPr lang="de-DE" dirty="0"/>
              <a:t>(</a:t>
            </a:r>
            <a:r>
              <a:rPr lang="de-DE" b="1" dirty="0">
                <a:solidFill>
                  <a:srgbClr val="0070C0"/>
                </a:solidFill>
              </a:rPr>
              <a:t>PTBR</a:t>
            </a:r>
            <a:r>
              <a:rPr lang="de-DE" dirty="0"/>
              <a:t>) zeigt auf den </a:t>
            </a:r>
            <a:r>
              <a:rPr lang="de-DE" u="sng" dirty="0"/>
              <a:t>Anfang</a:t>
            </a:r>
            <a:r>
              <a:rPr lang="de-DE" dirty="0"/>
              <a:t> der Seitentabelle</a:t>
            </a:r>
          </a:p>
          <a:p>
            <a:pPr lvl="1"/>
            <a:r>
              <a:rPr lang="de-DE" dirty="0"/>
              <a:t>Wird bei einem Prozesswechsel aktualisiert</a:t>
            </a:r>
          </a:p>
          <a:p>
            <a:pPr lvl="1"/>
            <a:r>
              <a:rPr lang="de-DE" dirty="0"/>
              <a:t>Bei x86-CPUs ist das der </a:t>
            </a:r>
            <a:r>
              <a:rPr lang="de-DE" b="1" dirty="0">
                <a:solidFill>
                  <a:srgbClr val="0070C0"/>
                </a:solidFill>
              </a:rPr>
              <a:t>SP3-Systemregister</a:t>
            </a:r>
          </a:p>
          <a:p>
            <a:endParaRPr lang="de-DE" dirty="0"/>
          </a:p>
          <a:p>
            <a:r>
              <a:rPr lang="de-DE" dirty="0"/>
              <a:t>Register </a:t>
            </a:r>
            <a:r>
              <a:rPr lang="de-DE" b="1" dirty="0">
                <a:solidFill>
                  <a:srgbClr val="0070C0"/>
                </a:solidFill>
              </a:rPr>
              <a:t>page-</a:t>
            </a:r>
            <a:r>
              <a:rPr lang="de-DE" b="1" dirty="0" err="1">
                <a:solidFill>
                  <a:srgbClr val="0070C0"/>
                </a:solidFill>
              </a:rPr>
              <a:t>table</a:t>
            </a:r>
            <a:r>
              <a:rPr lang="de-DE" b="1" dirty="0">
                <a:solidFill>
                  <a:srgbClr val="0070C0"/>
                </a:solidFill>
              </a:rPr>
              <a:t> </a:t>
            </a:r>
            <a:r>
              <a:rPr lang="de-DE" b="1" dirty="0" err="1">
                <a:solidFill>
                  <a:srgbClr val="0070C0"/>
                </a:solidFill>
              </a:rPr>
              <a:t>length</a:t>
            </a:r>
            <a:r>
              <a:rPr lang="de-DE" b="1" dirty="0">
                <a:solidFill>
                  <a:srgbClr val="0070C0"/>
                </a:solidFill>
              </a:rPr>
              <a:t> </a:t>
            </a:r>
            <a:r>
              <a:rPr lang="de-DE" b="1" dirty="0" err="1">
                <a:solidFill>
                  <a:srgbClr val="0070C0"/>
                </a:solidFill>
              </a:rPr>
              <a:t>register</a:t>
            </a:r>
            <a:r>
              <a:rPr lang="de-DE" b="1" dirty="0">
                <a:solidFill>
                  <a:srgbClr val="FF0000"/>
                </a:solidFill>
              </a:rPr>
              <a:t> </a:t>
            </a:r>
            <a:r>
              <a:rPr lang="de-DE" dirty="0"/>
              <a:t>(</a:t>
            </a:r>
            <a:r>
              <a:rPr lang="de-DE" b="1" dirty="0">
                <a:solidFill>
                  <a:srgbClr val="0070C0"/>
                </a:solidFill>
              </a:rPr>
              <a:t>PRLR</a:t>
            </a:r>
            <a:r>
              <a:rPr lang="de-DE" dirty="0"/>
              <a:t>) beschreibt die </a:t>
            </a:r>
            <a:r>
              <a:rPr lang="de-DE" u="sng" dirty="0"/>
              <a:t>Länge</a:t>
            </a:r>
            <a:r>
              <a:rPr lang="de-DE" dirty="0"/>
              <a:t> der Seitentabelle</a:t>
            </a:r>
          </a:p>
          <a:p>
            <a:pPr lvl="1"/>
            <a:r>
              <a:rPr lang="de-DE" dirty="0"/>
              <a:t>Dient dem Schutz vor Zugriffen jenseits des Tabellenendes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4217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Setzen und Einschalten der Seitentabelle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31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de-DE" dirty="0"/>
              <a:t>1. Lade in das </a:t>
            </a:r>
            <a:r>
              <a:rPr lang="de-DE" dirty="0">
                <a:solidFill>
                  <a:srgbClr val="0070C0"/>
                </a:solidFill>
              </a:rPr>
              <a:t>Register </a:t>
            </a:r>
            <a:r>
              <a:rPr lang="de-DE" b="1" dirty="0">
                <a:solidFill>
                  <a:srgbClr val="0070C0"/>
                </a:solidFill>
              </a:rPr>
              <a:t>CR3</a:t>
            </a:r>
            <a:r>
              <a:rPr lang="de-DE" dirty="0">
                <a:solidFill>
                  <a:srgbClr val="0070C0"/>
                </a:solidFill>
              </a:rPr>
              <a:t> </a:t>
            </a:r>
            <a:r>
              <a:rPr lang="de-DE" dirty="0"/>
              <a:t>die Adresse des </a:t>
            </a:r>
            <a:r>
              <a:rPr lang="de-DE" dirty="0" err="1">
                <a:solidFill>
                  <a:srgbClr val="FF0000"/>
                </a:solidFill>
              </a:rPr>
              <a:t>page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FF0000"/>
                </a:solidFill>
              </a:rPr>
              <a:t>directory</a:t>
            </a:r>
            <a:r>
              <a:rPr lang="de-DE" dirty="0"/>
              <a:t> (= oberste Stufe der IA32-Seitentabelle)</a:t>
            </a:r>
          </a:p>
          <a:p>
            <a:pPr lvl="1"/>
            <a:r>
              <a:rPr lang="en-US" sz="2400" b="1" dirty="0" err="1">
                <a:solidFill>
                  <a:srgbClr val="0070C0"/>
                </a:solidFill>
              </a:rPr>
              <a:t>mov</a:t>
            </a:r>
            <a:r>
              <a:rPr lang="en-US" sz="2400" dirty="0">
                <a:solidFill>
                  <a:schemeClr val="tx1"/>
                </a:solidFill>
              </a:rPr>
              <a:t> 	</a:t>
            </a:r>
            <a:r>
              <a:rPr lang="en-US" sz="2400" dirty="0" err="1">
                <a:solidFill>
                  <a:schemeClr val="tx1"/>
                </a:solidFill>
              </a:rPr>
              <a:t>eax</a:t>
            </a:r>
            <a:r>
              <a:rPr lang="en-US" sz="2400" dirty="0">
                <a:solidFill>
                  <a:schemeClr val="tx1"/>
                </a:solidFill>
              </a:rPr>
              <a:t>, </a:t>
            </a:r>
            <a:r>
              <a:rPr lang="en-US" sz="2400" dirty="0" err="1">
                <a:solidFill>
                  <a:srgbClr val="FF0000"/>
                </a:solidFill>
              </a:rPr>
              <a:t>page_directory</a:t>
            </a:r>
            <a:endParaRPr lang="en-US" sz="2400" dirty="0">
              <a:solidFill>
                <a:srgbClr val="FF0000"/>
              </a:solidFill>
            </a:endParaRPr>
          </a:p>
          <a:p>
            <a:pPr lvl="1"/>
            <a:r>
              <a:rPr lang="en-US" sz="2400" b="1" dirty="0" err="1">
                <a:solidFill>
                  <a:srgbClr val="0070C0"/>
                </a:solidFill>
              </a:rPr>
              <a:t>mov</a:t>
            </a:r>
            <a:r>
              <a:rPr lang="en-US" sz="2400" dirty="0">
                <a:solidFill>
                  <a:schemeClr val="tx1"/>
                </a:solidFill>
              </a:rPr>
              <a:t> 	</a:t>
            </a:r>
            <a:r>
              <a:rPr lang="en-US" sz="2400" b="1" dirty="0">
                <a:solidFill>
                  <a:schemeClr val="tx1"/>
                </a:solidFill>
              </a:rPr>
              <a:t>cr3</a:t>
            </a:r>
            <a:r>
              <a:rPr lang="en-US" sz="2400" dirty="0">
                <a:solidFill>
                  <a:schemeClr val="tx1"/>
                </a:solidFill>
              </a:rPr>
              <a:t>, </a:t>
            </a:r>
            <a:r>
              <a:rPr lang="en-US" sz="2400" dirty="0" err="1">
                <a:solidFill>
                  <a:schemeClr val="tx1"/>
                </a:solidFill>
              </a:rPr>
              <a:t>eax</a:t>
            </a:r>
            <a:endParaRPr lang="de-DE" sz="2400" dirty="0">
              <a:solidFill>
                <a:schemeClr val="tx1"/>
              </a:solidFill>
            </a:endParaRPr>
          </a:p>
          <a:p>
            <a:endParaRPr lang="de-DE" dirty="0"/>
          </a:p>
          <a:p>
            <a:r>
              <a:rPr lang="de-DE" dirty="0"/>
              <a:t>2. Setze die entsprechenden Flags des </a:t>
            </a:r>
            <a:r>
              <a:rPr lang="de-DE" dirty="0">
                <a:solidFill>
                  <a:srgbClr val="0070C0"/>
                </a:solidFill>
              </a:rPr>
              <a:t>Kontrollregisters </a:t>
            </a:r>
            <a:r>
              <a:rPr lang="de-DE" b="1" dirty="0">
                <a:solidFill>
                  <a:srgbClr val="0070C0"/>
                </a:solidFill>
              </a:rPr>
              <a:t>CR0</a:t>
            </a:r>
            <a:r>
              <a:rPr lang="de-DE" dirty="0"/>
              <a:t>: </a:t>
            </a:r>
            <a:r>
              <a:rPr lang="de-DE" dirty="0" err="1"/>
              <a:t>Paging</a:t>
            </a:r>
            <a:r>
              <a:rPr lang="de-DE" dirty="0"/>
              <a:t> Bit (PG) auf 1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mov</a:t>
            </a:r>
            <a:r>
              <a:rPr lang="en-US" dirty="0">
                <a:solidFill>
                  <a:schemeClr val="tx1"/>
                </a:solidFill>
              </a:rPr>
              <a:t> 	</a:t>
            </a:r>
            <a:r>
              <a:rPr lang="en-US" dirty="0" err="1">
                <a:solidFill>
                  <a:schemeClr val="tx1"/>
                </a:solidFill>
              </a:rPr>
              <a:t>eax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b="1" dirty="0">
                <a:solidFill>
                  <a:schemeClr val="tx1"/>
                </a:solidFill>
              </a:rPr>
              <a:t>cr0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b="1" dirty="0">
                <a:solidFill>
                  <a:srgbClr val="0070C0"/>
                </a:solidFill>
              </a:rPr>
              <a:t>or</a:t>
            </a:r>
            <a:r>
              <a:rPr lang="en-US" dirty="0">
                <a:solidFill>
                  <a:schemeClr val="tx1"/>
                </a:solidFill>
              </a:rPr>
              <a:t> 	</a:t>
            </a:r>
            <a:r>
              <a:rPr lang="en-US" dirty="0" err="1">
                <a:solidFill>
                  <a:schemeClr val="tx1"/>
                </a:solidFill>
              </a:rPr>
              <a:t>eax</a:t>
            </a:r>
            <a:r>
              <a:rPr lang="en-US" dirty="0">
                <a:solidFill>
                  <a:schemeClr val="tx1"/>
                </a:solidFill>
              </a:rPr>
              <a:t>, 0x80000001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mov</a:t>
            </a:r>
            <a:r>
              <a:rPr lang="en-US" dirty="0">
                <a:solidFill>
                  <a:schemeClr val="tx1"/>
                </a:solidFill>
              </a:rPr>
              <a:t> 	</a:t>
            </a:r>
            <a:r>
              <a:rPr lang="en-US" b="1" dirty="0">
                <a:solidFill>
                  <a:schemeClr val="tx1"/>
                </a:solidFill>
              </a:rPr>
              <a:t>cr0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eax</a:t>
            </a:r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8" name="Rechteck 7"/>
          <p:cNvSpPr/>
          <p:nvPr/>
        </p:nvSpPr>
        <p:spPr>
          <a:xfrm>
            <a:off x="1907704" y="6429396"/>
            <a:ext cx="49893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dirty="0"/>
              <a:t>Quelle: </a:t>
            </a:r>
            <a:r>
              <a:rPr lang="de-DE" dirty="0">
                <a:hlinkClick r:id="rId2"/>
              </a:rPr>
              <a:t>https://wiki.osdev.org/Paging#Enabling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91219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enthält ein Tabelleneintrag (IA32)? /1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32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2852936"/>
            <a:ext cx="8229600" cy="3576460"/>
          </a:xfrm>
        </p:spPr>
        <p:txBody>
          <a:bodyPr/>
          <a:lstStyle/>
          <a:p>
            <a:r>
              <a:rPr lang="de-DE" dirty="0">
                <a:solidFill>
                  <a:srgbClr val="0070C0"/>
                </a:solidFill>
              </a:rPr>
              <a:t>G</a:t>
            </a:r>
            <a:r>
              <a:rPr lang="de-DE" dirty="0"/>
              <a:t> [</a:t>
            </a:r>
            <a:r>
              <a:rPr lang="en-US" dirty="0">
                <a:solidFill>
                  <a:srgbClr val="0070C0"/>
                </a:solidFill>
              </a:rPr>
              <a:t>global</a:t>
            </a:r>
            <a:r>
              <a:rPr lang="en-US" dirty="0"/>
              <a:t>]: if set, prevents the TLB from updating the address in its cache if CR3 is reset</a:t>
            </a:r>
          </a:p>
          <a:p>
            <a:r>
              <a:rPr lang="en-US" dirty="0">
                <a:solidFill>
                  <a:srgbClr val="0070C0"/>
                </a:solidFill>
              </a:rPr>
              <a:t>D</a:t>
            </a:r>
            <a:r>
              <a:rPr lang="en-US" dirty="0"/>
              <a:t> [</a:t>
            </a:r>
            <a:r>
              <a:rPr lang="en-US" dirty="0">
                <a:solidFill>
                  <a:srgbClr val="0070C0"/>
                </a:solidFill>
              </a:rPr>
              <a:t>dirty</a:t>
            </a:r>
            <a:r>
              <a:rPr lang="en-US" dirty="0"/>
              <a:t>]: if set, then the page has been written to; once set will not unset itself</a:t>
            </a:r>
          </a:p>
          <a:p>
            <a:r>
              <a:rPr lang="en-US" dirty="0">
                <a:solidFill>
                  <a:srgbClr val="0070C0"/>
                </a:solidFill>
              </a:rPr>
              <a:t>A</a:t>
            </a:r>
            <a:r>
              <a:rPr lang="en-US" dirty="0"/>
              <a:t> [</a:t>
            </a:r>
            <a:r>
              <a:rPr lang="en-US" dirty="0">
                <a:solidFill>
                  <a:srgbClr val="0070C0"/>
                </a:solidFill>
              </a:rPr>
              <a:t>accessed</a:t>
            </a:r>
            <a:r>
              <a:rPr lang="en-US" dirty="0"/>
              <a:t>]: used to discover whether a page has been read or written to; if it has, then the bit is set</a:t>
            </a:r>
          </a:p>
          <a:p>
            <a:r>
              <a:rPr lang="en-US" dirty="0">
                <a:solidFill>
                  <a:srgbClr val="0070C0"/>
                </a:solidFill>
              </a:rPr>
              <a:t>C</a:t>
            </a:r>
            <a:r>
              <a:rPr lang="en-US" dirty="0"/>
              <a:t> [</a:t>
            </a:r>
            <a:r>
              <a:rPr lang="en-US" dirty="0">
                <a:solidFill>
                  <a:srgbClr val="0070C0"/>
                </a:solidFill>
              </a:rPr>
              <a:t>cache</a:t>
            </a:r>
            <a:r>
              <a:rPr lang="en-US" dirty="0"/>
              <a:t>]: the 'Cache Disable' bit; if the bit is set, the page will not be cached</a:t>
            </a:r>
            <a:endParaRPr lang="de-DE" dirty="0"/>
          </a:p>
        </p:txBody>
      </p:sp>
      <p:pic>
        <p:nvPicPr>
          <p:cNvPr id="1028" name="Picture 4" descr="https://wiki.osdev.org/images/9/9b/Page_table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128" b="50388"/>
          <a:stretch/>
        </p:blipFill>
        <p:spPr bwMode="auto">
          <a:xfrm>
            <a:off x="683568" y="1190732"/>
            <a:ext cx="7481455" cy="1440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6942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enthält ein Tabelleneintrag (IA32)? /2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33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2780928"/>
            <a:ext cx="8229600" cy="3648468"/>
          </a:xfrm>
        </p:spPr>
        <p:txBody>
          <a:bodyPr>
            <a:normAutofit fontScale="92500"/>
          </a:bodyPr>
          <a:lstStyle/>
          <a:p>
            <a:r>
              <a:rPr lang="en-US" dirty="0">
                <a:solidFill>
                  <a:srgbClr val="0070C0"/>
                </a:solidFill>
              </a:rPr>
              <a:t>W</a:t>
            </a:r>
            <a:r>
              <a:rPr lang="en-US" dirty="0"/>
              <a:t> [</a:t>
            </a:r>
            <a:r>
              <a:rPr lang="en-US" dirty="0">
                <a:solidFill>
                  <a:srgbClr val="0070C0"/>
                </a:solidFill>
              </a:rPr>
              <a:t>Write-Through</a:t>
            </a:r>
            <a:r>
              <a:rPr lang="en-US" dirty="0"/>
              <a:t>]: if the bit is set, write-through caching is enabled</a:t>
            </a:r>
          </a:p>
          <a:p>
            <a:r>
              <a:rPr lang="en-US" dirty="0">
                <a:solidFill>
                  <a:srgbClr val="0070C0"/>
                </a:solidFill>
              </a:rPr>
              <a:t>U</a:t>
            </a:r>
            <a:r>
              <a:rPr lang="en-US" dirty="0"/>
              <a:t> [</a:t>
            </a:r>
            <a:r>
              <a:rPr lang="en-US" dirty="0">
                <a:solidFill>
                  <a:srgbClr val="0070C0"/>
                </a:solidFill>
              </a:rPr>
              <a:t>User/Supervisor</a:t>
            </a:r>
            <a:r>
              <a:rPr lang="en-US" dirty="0"/>
              <a:t>]: controls access to the page based on privilege level; if set, then the page may be accessed by all, otherwise only the supervisor can access it</a:t>
            </a:r>
          </a:p>
          <a:p>
            <a:r>
              <a:rPr lang="en-US" dirty="0">
                <a:solidFill>
                  <a:srgbClr val="0070C0"/>
                </a:solidFill>
              </a:rPr>
              <a:t>R</a:t>
            </a:r>
            <a:r>
              <a:rPr lang="en-US" dirty="0"/>
              <a:t> [</a:t>
            </a:r>
            <a:r>
              <a:rPr lang="en-US" dirty="0">
                <a:solidFill>
                  <a:srgbClr val="0070C0"/>
                </a:solidFill>
              </a:rPr>
              <a:t>Read/Write</a:t>
            </a:r>
            <a:r>
              <a:rPr lang="en-US" dirty="0"/>
              <a:t>]: if the bit is set, the page is read/write, otherwise the page is read-only</a:t>
            </a:r>
          </a:p>
          <a:p>
            <a:r>
              <a:rPr lang="en-US" dirty="0">
                <a:solidFill>
                  <a:srgbClr val="0070C0"/>
                </a:solidFill>
              </a:rPr>
              <a:t>P</a:t>
            </a:r>
            <a:r>
              <a:rPr lang="en-US" dirty="0"/>
              <a:t> [</a:t>
            </a:r>
            <a:r>
              <a:rPr lang="en-US" dirty="0">
                <a:solidFill>
                  <a:srgbClr val="0070C0"/>
                </a:solidFill>
              </a:rPr>
              <a:t>Present</a:t>
            </a:r>
            <a:r>
              <a:rPr lang="en-US" dirty="0"/>
              <a:t>]: If the bit is set, the page is actually in physical memory at the moment </a:t>
            </a:r>
            <a:endParaRPr lang="de-DE" dirty="0"/>
          </a:p>
        </p:txBody>
      </p:sp>
      <p:pic>
        <p:nvPicPr>
          <p:cNvPr id="1028" name="Picture 4" descr="https://wiki.osdev.org/images/9/9b/Page_table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128" b="50388"/>
          <a:stretch/>
        </p:blipFill>
        <p:spPr bwMode="auto">
          <a:xfrm>
            <a:off x="683568" y="1190732"/>
            <a:ext cx="7481455" cy="1440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hteck 4"/>
          <p:cNvSpPr/>
          <p:nvPr/>
        </p:nvSpPr>
        <p:spPr>
          <a:xfrm>
            <a:off x="1619250" y="6448344"/>
            <a:ext cx="531004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dirty="0"/>
              <a:t>Quelle: </a:t>
            </a:r>
            <a:r>
              <a:rPr lang="de-DE" dirty="0">
                <a:hlinkClick r:id="rId3"/>
              </a:rPr>
              <a:t>https://wiki.osdev.org/Paging#Page_Table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590776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805B4E-F346-DD14-041E-2A925227A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Verständnisfrage Seitentabellen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A046A52-4D43-F42B-9221-E72E205C6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34</a:t>
            </a:fld>
            <a:endParaRPr lang="en-US" noProof="0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0E7A84-FA3C-EC0E-77C5-4A378C5AEB8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de-DE" dirty="0"/>
              <a:t>Angenommen, Sie haben einen Rechner mit IA32 Architektur und 1 </a:t>
            </a:r>
            <a:r>
              <a:rPr lang="de-DE" dirty="0" err="1"/>
              <a:t>GiB</a:t>
            </a:r>
            <a:r>
              <a:rPr lang="de-DE" dirty="0"/>
              <a:t> (2</a:t>
            </a:r>
            <a:r>
              <a:rPr lang="de-DE" baseline="30000" dirty="0"/>
              <a:t>30 </a:t>
            </a:r>
            <a:r>
              <a:rPr lang="de-DE" dirty="0"/>
              <a:t>Bytes) RAM, sowie 4kBi (2</a:t>
            </a:r>
            <a:r>
              <a:rPr lang="de-DE" baseline="30000" dirty="0"/>
              <a:t>12</a:t>
            </a:r>
            <a:r>
              <a:rPr lang="de-DE" dirty="0"/>
              <a:t>) Seiten- und Rahmengröße </a:t>
            </a:r>
          </a:p>
          <a:p>
            <a:r>
              <a:rPr lang="de-DE" dirty="0"/>
              <a:t>Ein Prozess muss nur eine einzige Adresse nutzen. Was ist die minimale notwendige Größe einer Seitentabelle:</a:t>
            </a:r>
          </a:p>
          <a:p>
            <a:r>
              <a:rPr lang="de-DE" dirty="0"/>
              <a:t>A. Bei hierarchischen Seitentabellen (IA32)?</a:t>
            </a:r>
          </a:p>
          <a:p>
            <a:r>
              <a:rPr lang="de-DE" dirty="0"/>
              <a:t>B. Bei invertierten Seitentabellen?</a:t>
            </a:r>
          </a:p>
          <a:p>
            <a:endParaRPr lang="de-DE" dirty="0"/>
          </a:p>
          <a:p>
            <a:r>
              <a:rPr lang="de-DE" dirty="0"/>
              <a:t>Antwort in </a:t>
            </a:r>
            <a:r>
              <a:rPr lang="de-DE" dirty="0" err="1"/>
              <a:t>kBi</a:t>
            </a:r>
            <a:r>
              <a:rPr lang="de-DE" dirty="0"/>
              <a:t>, in der Form: A: xxx, B: </a:t>
            </a:r>
            <a:r>
              <a:rPr lang="de-DE" dirty="0" err="1"/>
              <a:t>yyy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01FCB52-215F-0574-32A8-C48F817CE23E}"/>
              </a:ext>
            </a:extLst>
          </p:cNvPr>
          <p:cNvSpPr txBox="1"/>
          <p:nvPr/>
        </p:nvSpPr>
        <p:spPr>
          <a:xfrm>
            <a:off x="5530406" y="152400"/>
            <a:ext cx="3362074" cy="5232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highlight>
                  <a:srgbClr val="00FF00"/>
                </a:highlight>
              </a:rPr>
              <a:t>https://bit.ly/ibn_hd</a:t>
            </a:r>
            <a:endParaRPr lang="de-DE" sz="2800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1578067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C6AE60A-B69C-4790-82F7-3882EDF23186}" type="slidenum">
              <a:rPr kumimoji="0" lang="de-DE" sz="1400" b="0" i="0" u="none" strike="noStrike" kern="1200" cap="none" spc="0" normalizeH="0" baseline="0" noProof="0" smtClean="0">
                <a:ln>
                  <a:noFill/>
                </a:ln>
                <a:solidFill>
                  <a:srgbClr val="4F27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4F271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Zusammenfassung: </a:t>
            </a:r>
            <a:br>
              <a:rPr lang="de-DE" dirty="0"/>
            </a:br>
            <a:r>
              <a:rPr lang="de-DE" dirty="0"/>
              <a:t>Paging und Seitentabellen</a:t>
            </a:r>
          </a:p>
        </p:txBody>
      </p:sp>
    </p:spTree>
    <p:extLst>
      <p:ext uri="{BB962C8B-B14F-4D97-AF65-F5344CB8AC3E}">
        <p14:creationId xmlns:p14="http://schemas.microsoft.com/office/powerpoint/2010/main" val="1828258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Paging: Adressenübersetzung in „Kacheln“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83533A-8A50-4A1F-BEA9-C8C6956451EB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4F27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4F271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Textfeld 10"/>
          <p:cNvSpPr txBox="1"/>
          <p:nvPr/>
        </p:nvSpPr>
        <p:spPr>
          <a:xfrm>
            <a:off x="6118834" y="1271705"/>
            <a:ext cx="1676962" cy="646331"/>
          </a:xfrm>
          <a:prstGeom prst="rect">
            <a:avLst/>
          </a:prstGeom>
          <a:solidFill>
            <a:srgbClr val="0070C0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Physischer Adressraum</a:t>
            </a:r>
          </a:p>
        </p:txBody>
      </p:sp>
      <p:cxnSp>
        <p:nvCxnSpPr>
          <p:cNvPr id="28" name="Gerade Verbindung mit Pfeil 27"/>
          <p:cNvCxnSpPr>
            <a:endCxn id="82" idx="1"/>
          </p:cNvCxnSpPr>
          <p:nvPr/>
        </p:nvCxnSpPr>
        <p:spPr>
          <a:xfrm flipV="1">
            <a:off x="2680329" y="2486072"/>
            <a:ext cx="3438505" cy="1583516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02" name="Right Brace 4101"/>
          <p:cNvSpPr/>
          <p:nvPr/>
        </p:nvSpPr>
        <p:spPr>
          <a:xfrm rot="10800000">
            <a:off x="5701212" y="2742120"/>
            <a:ext cx="452187" cy="508313"/>
          </a:xfrm>
          <a:prstGeom prst="rightBrac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21" name="Rectangle 4120"/>
          <p:cNvSpPr/>
          <p:nvPr/>
        </p:nvSpPr>
        <p:spPr>
          <a:xfrm>
            <a:off x="1619672" y="2272614"/>
            <a:ext cx="1026092" cy="50831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Daten Seite 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19672" y="2780927"/>
            <a:ext cx="1026092" cy="50831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Daten Seite 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19672" y="3289240"/>
            <a:ext cx="1026092" cy="50831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Daten Seite 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19672" y="3797553"/>
            <a:ext cx="1026092" cy="508313"/>
          </a:xfrm>
          <a:prstGeom prst="rect">
            <a:avLst/>
          </a:prstGeom>
          <a:solidFill>
            <a:srgbClr val="92D050"/>
          </a:solidFill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Daten Seite 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18834" y="2245093"/>
            <a:ext cx="1026092" cy="508313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6118834" y="3261719"/>
            <a:ext cx="1026092" cy="508313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8" name="Rectangle 77"/>
          <p:cNvSpPr/>
          <p:nvPr/>
        </p:nvSpPr>
        <p:spPr>
          <a:xfrm>
            <a:off x="6118834" y="3770032"/>
            <a:ext cx="1026092" cy="50831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Inhalt Seite 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18834" y="4278345"/>
            <a:ext cx="1026092" cy="50831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Inhalt Seite 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18834" y="2230025"/>
            <a:ext cx="1026092" cy="512094"/>
          </a:xfrm>
          <a:prstGeom prst="rect">
            <a:avLst/>
          </a:prstGeom>
          <a:solidFill>
            <a:srgbClr val="92D050"/>
          </a:solidFill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Inhalt Seite 3</a:t>
            </a:r>
          </a:p>
        </p:txBody>
      </p:sp>
      <p:grpSp>
        <p:nvGrpSpPr>
          <p:cNvPr id="39" name="Group 38"/>
          <p:cNvGrpSpPr/>
          <p:nvPr/>
        </p:nvGrpSpPr>
        <p:grpSpPr>
          <a:xfrm>
            <a:off x="7143881" y="2296378"/>
            <a:ext cx="312906" cy="2388296"/>
            <a:chOff x="5793399" y="2339588"/>
            <a:chExt cx="312906" cy="2388296"/>
          </a:xfrm>
        </p:grpSpPr>
        <p:sp>
          <p:nvSpPr>
            <p:cNvPr id="38" name="TextBox 37"/>
            <p:cNvSpPr txBox="1"/>
            <p:nvPr/>
          </p:nvSpPr>
          <p:spPr>
            <a:xfrm>
              <a:off x="5793399" y="2339588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Helvetica" charset="0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5793399" y="2844329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5793399" y="3349070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5793399" y="3853811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5793399" y="4358552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13" name="Rechteck 12"/>
          <p:cNvSpPr/>
          <p:nvPr/>
        </p:nvSpPr>
        <p:spPr>
          <a:xfrm>
            <a:off x="1096961" y="2336682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" name="Rechteck 53"/>
          <p:cNvSpPr/>
          <p:nvPr/>
        </p:nvSpPr>
        <p:spPr>
          <a:xfrm>
            <a:off x="1099216" y="2796957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5" name="Rechteck 54"/>
          <p:cNvSpPr/>
          <p:nvPr/>
        </p:nvSpPr>
        <p:spPr>
          <a:xfrm>
            <a:off x="1105221" y="3339661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6" name="Rechteck 55"/>
          <p:cNvSpPr/>
          <p:nvPr/>
        </p:nvSpPr>
        <p:spPr>
          <a:xfrm>
            <a:off x="1103813" y="3822763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" name="Rechteckige Legende 13"/>
          <p:cNvSpPr/>
          <p:nvPr/>
        </p:nvSpPr>
        <p:spPr>
          <a:xfrm>
            <a:off x="309871" y="4394456"/>
            <a:ext cx="1638976" cy="392202"/>
          </a:xfrm>
          <a:prstGeom prst="wedgeRectCallout">
            <a:avLst>
              <a:gd name="adj1" fmla="val -514"/>
              <a:gd name="adj2" fmla="val -242530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Seiten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index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</a:t>
            </a:r>
          </a:p>
        </p:txBody>
      </p:sp>
      <p:sp>
        <p:nvSpPr>
          <p:cNvPr id="57" name="Textfeld 56"/>
          <p:cNvSpPr txBox="1"/>
          <p:nvPr/>
        </p:nvSpPr>
        <p:spPr>
          <a:xfrm>
            <a:off x="977303" y="1292536"/>
            <a:ext cx="1676962" cy="646331"/>
          </a:xfrm>
          <a:prstGeom prst="rect">
            <a:avLst/>
          </a:prstGeom>
          <a:solidFill>
            <a:srgbClr val="FF0000"/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Logischer Adressraum</a:t>
            </a:r>
          </a:p>
        </p:txBody>
      </p:sp>
      <p:sp>
        <p:nvSpPr>
          <p:cNvPr id="63" name="Rechteckige Legende 62"/>
          <p:cNvSpPr/>
          <p:nvPr/>
        </p:nvSpPr>
        <p:spPr>
          <a:xfrm>
            <a:off x="4211960" y="1397157"/>
            <a:ext cx="1470578" cy="536922"/>
          </a:xfrm>
          <a:prstGeom prst="wedgeRectCallout">
            <a:avLst>
              <a:gd name="adj1" fmla="val 50520"/>
              <a:gd name="adj2" fmla="val 240620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RAM-Adressen 4096…8191 </a:t>
            </a: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67" name="Gerade Verbindung mit Pfeil 66"/>
          <p:cNvCxnSpPr/>
          <p:nvPr/>
        </p:nvCxnSpPr>
        <p:spPr>
          <a:xfrm>
            <a:off x="3181473" y="2568874"/>
            <a:ext cx="2326631" cy="427402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/>
          <p:cNvCxnSpPr>
            <a:stCxn id="60" idx="3"/>
            <a:endCxn id="78" idx="1"/>
          </p:cNvCxnSpPr>
          <p:nvPr/>
        </p:nvCxnSpPr>
        <p:spPr>
          <a:xfrm>
            <a:off x="2645764" y="3543397"/>
            <a:ext cx="3473070" cy="480792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 Verbindung mit Pfeil 70"/>
          <p:cNvCxnSpPr>
            <a:stCxn id="59" idx="3"/>
            <a:endCxn id="79" idx="1"/>
          </p:cNvCxnSpPr>
          <p:nvPr/>
        </p:nvCxnSpPr>
        <p:spPr>
          <a:xfrm>
            <a:off x="2645764" y="3035084"/>
            <a:ext cx="3473070" cy="1497418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hteckige Legende 82"/>
          <p:cNvSpPr/>
          <p:nvPr/>
        </p:nvSpPr>
        <p:spPr>
          <a:xfrm>
            <a:off x="2816100" y="1677570"/>
            <a:ext cx="1566199" cy="536922"/>
          </a:xfrm>
          <a:prstGeom prst="wedgeRectCallout">
            <a:avLst>
              <a:gd name="adj1" fmla="val -29135"/>
              <a:gd name="adj2" fmla="val 109922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CPU-Adressen 0…4095 </a:t>
            </a: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4" name="Right Brace 4101"/>
          <p:cNvSpPr/>
          <p:nvPr/>
        </p:nvSpPr>
        <p:spPr>
          <a:xfrm>
            <a:off x="2654265" y="2288644"/>
            <a:ext cx="452187" cy="508313"/>
          </a:xfrm>
          <a:prstGeom prst="rightBrac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5" name="Rechteckige Legende 84"/>
          <p:cNvSpPr/>
          <p:nvPr/>
        </p:nvSpPr>
        <p:spPr>
          <a:xfrm>
            <a:off x="7668344" y="3005450"/>
            <a:ext cx="1340600" cy="726427"/>
          </a:xfrm>
          <a:prstGeom prst="wedgeRectCallout">
            <a:avLst>
              <a:gd name="adj1" fmla="val -68722"/>
              <a:gd name="adj2" fmla="val -41518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Rahmen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-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index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18834" y="2753406"/>
            <a:ext cx="1026092" cy="50831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Inhalt Seite 0</a:t>
            </a:r>
          </a:p>
        </p:txBody>
      </p:sp>
      <p:sp>
        <p:nvSpPr>
          <p:cNvPr id="45" name="Inhaltsplatzhalter 44"/>
          <p:cNvSpPr>
            <a:spLocks noGrp="1"/>
          </p:cNvSpPr>
          <p:nvPr>
            <p:ph sz="quarter" idx="13"/>
          </p:nvPr>
        </p:nvSpPr>
        <p:spPr>
          <a:xfrm>
            <a:off x="465089" y="4964048"/>
            <a:ext cx="8208912" cy="1712864"/>
          </a:xfrm>
        </p:spPr>
        <p:txBody>
          <a:bodyPr>
            <a:normAutofit lnSpcReduction="10000"/>
          </a:bodyPr>
          <a:lstStyle/>
          <a:p>
            <a:r>
              <a:rPr lang="de-DE" b="1" dirty="0">
                <a:solidFill>
                  <a:srgbClr val="FF0000"/>
                </a:solidFill>
              </a:rPr>
              <a:t>Paging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/>
              <a:t>übersetzt “Kacheln” der </a:t>
            </a:r>
            <a:r>
              <a:rPr lang="de-DE" u="sng" dirty="0"/>
              <a:t>logischen</a:t>
            </a:r>
            <a:r>
              <a:rPr lang="de-DE" dirty="0"/>
              <a:t> Adressen auf “Kacheln” der </a:t>
            </a:r>
            <a:r>
              <a:rPr lang="de-DE" u="sng" dirty="0"/>
              <a:t>physischen</a:t>
            </a:r>
            <a:r>
              <a:rPr lang="de-DE" dirty="0"/>
              <a:t> Adressen</a:t>
            </a:r>
          </a:p>
          <a:p>
            <a:r>
              <a:rPr lang="de-DE" dirty="0"/>
              <a:t>Der Kern ist eine effiziente Funktion </a:t>
            </a:r>
            <a:r>
              <a:rPr lang="de-DE" b="1" dirty="0" err="1"/>
              <a:t>F</a:t>
            </a:r>
            <a:r>
              <a:rPr lang="de-DE" b="1" baseline="-25000" dirty="0" err="1"/>
              <a:t>pid</a:t>
            </a:r>
            <a:r>
              <a:rPr lang="de-DE" b="1" dirty="0"/>
              <a:t>(</a:t>
            </a:r>
            <a:r>
              <a:rPr lang="de-DE" b="1" dirty="0">
                <a:solidFill>
                  <a:srgbClr val="FF0000"/>
                </a:solidFill>
              </a:rPr>
              <a:t>p</a:t>
            </a:r>
            <a:r>
              <a:rPr lang="de-DE" b="1" dirty="0"/>
              <a:t>) = </a:t>
            </a:r>
            <a:r>
              <a:rPr lang="de-DE" b="1" dirty="0">
                <a:solidFill>
                  <a:srgbClr val="0070C0"/>
                </a:solidFill>
              </a:rPr>
              <a:t>f</a:t>
            </a:r>
            <a:r>
              <a:rPr lang="de-DE" dirty="0"/>
              <a:t>, die Seitenindex </a:t>
            </a:r>
            <a:r>
              <a:rPr lang="de-DE" b="1" dirty="0">
                <a:solidFill>
                  <a:srgbClr val="FF0000"/>
                </a:solidFill>
              </a:rPr>
              <a:t>p</a:t>
            </a:r>
            <a:r>
              <a:rPr lang="de-DE" dirty="0"/>
              <a:t> auf Rahmenindex </a:t>
            </a:r>
            <a:r>
              <a:rPr lang="de-DE" b="1" dirty="0">
                <a:solidFill>
                  <a:srgbClr val="0070C0"/>
                </a:solidFill>
              </a:rPr>
              <a:t>f</a:t>
            </a:r>
            <a:r>
              <a:rPr lang="de-DE" dirty="0"/>
              <a:t> abbildet</a:t>
            </a:r>
          </a:p>
          <a:p>
            <a:endParaRPr lang="de-DE" dirty="0"/>
          </a:p>
        </p:txBody>
      </p:sp>
      <p:sp>
        <p:nvSpPr>
          <p:cNvPr id="46" name="Textfeld 45"/>
          <p:cNvSpPr txBox="1"/>
          <p:nvPr/>
        </p:nvSpPr>
        <p:spPr>
          <a:xfrm>
            <a:off x="6426261" y="4692742"/>
            <a:ext cx="4057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…</a:t>
            </a:r>
          </a:p>
        </p:txBody>
      </p:sp>
      <p:sp>
        <p:nvSpPr>
          <p:cNvPr id="48" name="Rechteck 47"/>
          <p:cNvSpPr/>
          <p:nvPr/>
        </p:nvSpPr>
        <p:spPr>
          <a:xfrm>
            <a:off x="3268996" y="3037822"/>
            <a:ext cx="1970411" cy="15696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</a:t>
            </a:r>
            <a:r>
              <a:rPr kumimoji="0" lang="de-DE" sz="3200" b="1" i="0" u="none" strike="noStrike" kern="1200" cap="none" spc="0" normalizeH="0" baseline="-2500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pid</a:t>
            </a: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</a:t>
            </a: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</a:t>
            </a: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 = </a:t>
            </a: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9" name="Rechteck 48"/>
          <p:cNvSpPr/>
          <p:nvPr/>
        </p:nvSpPr>
        <p:spPr>
          <a:xfrm>
            <a:off x="2841652" y="6553841"/>
            <a:ext cx="3021981" cy="27699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pid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= Prozess ID des aktuellen Prozesses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6837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Adressübersetzung mit </a:t>
            </a:r>
            <a:r>
              <a:rPr lang="de-DE" b="1" dirty="0" err="1"/>
              <a:t>F</a:t>
            </a:r>
            <a:r>
              <a:rPr lang="de-DE" b="1" baseline="-25000" dirty="0" err="1"/>
              <a:t>pid</a:t>
            </a:r>
            <a:r>
              <a:rPr lang="de-DE" b="1" dirty="0"/>
              <a:t>(</a:t>
            </a:r>
            <a:r>
              <a:rPr lang="de-DE" b="1" dirty="0">
                <a:solidFill>
                  <a:srgbClr val="FF0000"/>
                </a:solidFill>
              </a:rPr>
              <a:t>p</a:t>
            </a:r>
            <a:r>
              <a:rPr lang="de-DE" b="1" dirty="0"/>
              <a:t>) = </a:t>
            </a:r>
            <a:r>
              <a:rPr lang="de-DE" b="1" dirty="0">
                <a:solidFill>
                  <a:srgbClr val="0070C0"/>
                </a:solidFill>
              </a:rPr>
              <a:t>f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>
          <a:xfrm>
            <a:off x="8511847" y="6492240"/>
            <a:ext cx="601766" cy="365760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83533A-8A50-4A1F-BEA9-C8C6956451EB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4F27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4F271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5252" y="1164501"/>
            <a:ext cx="6734175" cy="4381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Textfeld 7"/>
          <p:cNvSpPr txBox="1"/>
          <p:nvPr/>
        </p:nvSpPr>
        <p:spPr>
          <a:xfrm>
            <a:off x="1327340" y="2100605"/>
            <a:ext cx="10310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logische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Adresse</a:t>
            </a:r>
          </a:p>
        </p:txBody>
      </p:sp>
      <p:sp>
        <p:nvSpPr>
          <p:cNvPr id="9" name="Textfeld 8"/>
          <p:cNvSpPr txBox="1"/>
          <p:nvPr/>
        </p:nvSpPr>
        <p:spPr>
          <a:xfrm>
            <a:off x="4344171" y="2796831"/>
            <a:ext cx="12105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physische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Adresse</a:t>
            </a:r>
          </a:p>
        </p:txBody>
      </p:sp>
      <p:sp>
        <p:nvSpPr>
          <p:cNvPr id="10" name="Textfeld 9"/>
          <p:cNvSpPr txBox="1"/>
          <p:nvPr/>
        </p:nvSpPr>
        <p:spPr>
          <a:xfrm>
            <a:off x="7310454" y="2012268"/>
            <a:ext cx="167866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= Seiten-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rahmen</a:t>
            </a:r>
            <a:r>
              <a:rPr kumimoji="0" lang="de-D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nummer</a:t>
            </a:r>
            <a:endParaRPr kumimoji="0" lang="de-DE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Textfeld 10"/>
          <p:cNvSpPr txBox="1"/>
          <p:nvPr/>
        </p:nvSpPr>
        <p:spPr>
          <a:xfrm>
            <a:off x="5148064" y="5182806"/>
            <a:ext cx="2403960" cy="36933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Physischer Speicher</a:t>
            </a:r>
          </a:p>
        </p:txBody>
      </p:sp>
      <p:sp>
        <p:nvSpPr>
          <p:cNvPr id="12" name="Geschweifte Klammer links 11"/>
          <p:cNvSpPr/>
          <p:nvPr/>
        </p:nvSpPr>
        <p:spPr>
          <a:xfrm rot="16200000">
            <a:off x="4850194" y="3424071"/>
            <a:ext cx="360040" cy="1008112"/>
          </a:xfrm>
          <a:prstGeom prst="leftBrac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Textfeld 12"/>
          <p:cNvSpPr txBox="1"/>
          <p:nvPr/>
        </p:nvSpPr>
        <p:spPr>
          <a:xfrm>
            <a:off x="4279668" y="4116829"/>
            <a:ext cx="14024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Offsetbereich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der Adresse</a:t>
            </a:r>
          </a:p>
        </p:txBody>
      </p:sp>
      <p:sp>
        <p:nvSpPr>
          <p:cNvPr id="15" name="Geschweifte Klammer rechts 14"/>
          <p:cNvSpPr/>
          <p:nvPr/>
        </p:nvSpPr>
        <p:spPr>
          <a:xfrm>
            <a:off x="6943964" y="2460645"/>
            <a:ext cx="366490" cy="1344014"/>
          </a:xfrm>
          <a:prstGeom prst="rightBrac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6" name="Textfeld 15"/>
          <p:cNvSpPr txBox="1"/>
          <p:nvPr/>
        </p:nvSpPr>
        <p:spPr>
          <a:xfrm>
            <a:off x="7312465" y="2700969"/>
            <a:ext cx="17075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Adressenbereich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 einem Seiten-rahmen</a:t>
            </a:r>
          </a:p>
        </p:txBody>
      </p:sp>
      <p:sp>
        <p:nvSpPr>
          <p:cNvPr id="17" name="Textfeld 16"/>
          <p:cNvSpPr txBox="1"/>
          <p:nvPr/>
        </p:nvSpPr>
        <p:spPr>
          <a:xfrm>
            <a:off x="7796572" y="1181271"/>
            <a:ext cx="1223412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Adresse 0</a:t>
            </a:r>
          </a:p>
        </p:txBody>
      </p:sp>
      <p:sp>
        <p:nvSpPr>
          <p:cNvPr id="18" name="Textfeld 17"/>
          <p:cNvSpPr txBox="1"/>
          <p:nvPr/>
        </p:nvSpPr>
        <p:spPr>
          <a:xfrm>
            <a:off x="7907764" y="4134235"/>
            <a:ext cx="1236236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Maximale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physische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Adresse</a:t>
            </a:r>
          </a:p>
        </p:txBody>
      </p:sp>
      <p:sp>
        <p:nvSpPr>
          <p:cNvPr id="19" name="Textfeld 18"/>
          <p:cNvSpPr txBox="1"/>
          <p:nvPr/>
        </p:nvSpPr>
        <p:spPr>
          <a:xfrm>
            <a:off x="340282" y="1195118"/>
            <a:ext cx="4807782" cy="64633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 = Seitenrahmennummer = die oberen Bits der Basisadresse eines Seitenrahmens</a:t>
            </a:r>
          </a:p>
        </p:txBody>
      </p:sp>
      <p:cxnSp>
        <p:nvCxnSpPr>
          <p:cNvPr id="21" name="Gerade Verbindung mit Pfeil 20"/>
          <p:cNvCxnSpPr>
            <a:stCxn id="19" idx="2"/>
          </p:cNvCxnSpPr>
          <p:nvPr/>
        </p:nvCxnSpPr>
        <p:spPr>
          <a:xfrm>
            <a:off x="2744173" y="1841449"/>
            <a:ext cx="1599998" cy="763212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nhaltsplatzhalter 14"/>
          <p:cNvSpPr>
            <a:spLocks noGrp="1"/>
          </p:cNvSpPr>
          <p:nvPr>
            <p:ph sz="quarter" idx="1"/>
          </p:nvPr>
        </p:nvSpPr>
        <p:spPr>
          <a:xfrm>
            <a:off x="165758" y="5649927"/>
            <a:ext cx="8346089" cy="1091441"/>
          </a:xfrm>
        </p:spPr>
        <p:txBody>
          <a:bodyPr>
            <a:noAutofit/>
          </a:bodyPr>
          <a:lstStyle/>
          <a:p>
            <a:r>
              <a:rPr lang="de-DE" sz="2400" dirty="0"/>
              <a:t>Nachdem </a:t>
            </a:r>
            <a:r>
              <a:rPr lang="de-DE" sz="2400" b="1" dirty="0" err="1"/>
              <a:t>F</a:t>
            </a:r>
            <a:r>
              <a:rPr lang="de-DE" sz="2400" b="1" baseline="-25000" dirty="0" err="1"/>
              <a:t>pid</a:t>
            </a:r>
            <a:r>
              <a:rPr lang="de-DE" sz="2400" b="1" dirty="0"/>
              <a:t>(</a:t>
            </a:r>
            <a:r>
              <a:rPr lang="de-DE" sz="2400" b="1" dirty="0">
                <a:solidFill>
                  <a:srgbClr val="FF0000"/>
                </a:solidFill>
              </a:rPr>
              <a:t>p</a:t>
            </a:r>
            <a:r>
              <a:rPr lang="de-DE" sz="2400" b="1" dirty="0"/>
              <a:t>) = </a:t>
            </a:r>
            <a:r>
              <a:rPr lang="de-DE" sz="2400" b="1" dirty="0">
                <a:solidFill>
                  <a:srgbClr val="0070C0"/>
                </a:solidFill>
              </a:rPr>
              <a:t>f </a:t>
            </a:r>
            <a:r>
              <a:rPr lang="de-DE" sz="2400" dirty="0"/>
              <a:t>berechnet ist, ist die Übersetzung sehr einfach: obere Bits (= Wert </a:t>
            </a:r>
            <a:r>
              <a:rPr lang="de-DE" sz="2400" b="1" dirty="0">
                <a:solidFill>
                  <a:srgbClr val="FF0000"/>
                </a:solidFill>
              </a:rPr>
              <a:t>p</a:t>
            </a:r>
            <a:r>
              <a:rPr lang="de-DE" sz="2400" dirty="0"/>
              <a:t>) einer logischen Adresse werden durch Bits mit Wert </a:t>
            </a:r>
            <a:r>
              <a:rPr lang="de-DE" sz="2400" b="1" dirty="0">
                <a:solidFill>
                  <a:srgbClr val="0070C0"/>
                </a:solidFill>
              </a:rPr>
              <a:t>f</a:t>
            </a:r>
            <a:r>
              <a:rPr lang="de-DE" sz="2400" dirty="0"/>
              <a:t> ersetzt</a:t>
            </a:r>
          </a:p>
          <a:p>
            <a:endParaRPr lang="de-DE" sz="2400" dirty="0"/>
          </a:p>
        </p:txBody>
      </p:sp>
      <p:cxnSp>
        <p:nvCxnSpPr>
          <p:cNvPr id="26" name="Straight Arrow Connector 25"/>
          <p:cNvCxnSpPr>
            <a:stCxn id="17" idx="1"/>
          </p:cNvCxnSpPr>
          <p:nvPr/>
        </p:nvCxnSpPr>
        <p:spPr>
          <a:xfrm flipH="1" flipV="1">
            <a:off x="6943964" y="1181271"/>
            <a:ext cx="852608" cy="184666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18" idx="1"/>
          </p:cNvCxnSpPr>
          <p:nvPr/>
        </p:nvCxnSpPr>
        <p:spPr>
          <a:xfrm flipH="1">
            <a:off x="6943964" y="4595900"/>
            <a:ext cx="963800" cy="549796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/>
          <p:cNvSpPr txBox="1"/>
          <p:nvPr/>
        </p:nvSpPr>
        <p:spPr>
          <a:xfrm>
            <a:off x="7092279" y="1637035"/>
            <a:ext cx="1903281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f*(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Seitengröße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sp>
        <p:nvSpPr>
          <p:cNvPr id="24" name="Rechteck 23"/>
          <p:cNvSpPr/>
          <p:nvPr/>
        </p:nvSpPr>
        <p:spPr>
          <a:xfrm>
            <a:off x="1747690" y="3637626"/>
            <a:ext cx="1593641" cy="193899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</a:t>
            </a:r>
            <a:r>
              <a:rPr kumimoji="0" lang="de-DE" sz="2400" b="1" i="0" u="none" strike="noStrike" kern="1200" cap="none" spc="0" normalizeH="0" baseline="-2500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pid</a:t>
            </a:r>
            <a:r>
              <a:rPr kumimoji="0" lang="de-DE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</a:t>
            </a:r>
            <a:r>
              <a:rPr kumimoji="0" lang="de-DE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</a:t>
            </a:r>
            <a:r>
              <a:rPr kumimoji="0" lang="de-DE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 = </a:t>
            </a:r>
            <a:r>
              <a:rPr kumimoji="0" lang="de-DE" sz="24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24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24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83005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build="allAtOnce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Direkte</a:t>
            </a:r>
            <a:r>
              <a:rPr lang="en-US" dirty="0"/>
              <a:t> (</a:t>
            </a:r>
            <a:r>
              <a:rPr lang="en-US" dirty="0" err="1"/>
              <a:t>d.h</a:t>
            </a:r>
            <a:r>
              <a:rPr lang="en-US" dirty="0"/>
              <a:t>. “</a:t>
            </a:r>
            <a:r>
              <a:rPr lang="en-US" dirty="0" err="1"/>
              <a:t>Normale</a:t>
            </a:r>
            <a:r>
              <a:rPr lang="en-US" dirty="0"/>
              <a:t>”) </a:t>
            </a:r>
            <a:r>
              <a:rPr lang="en-US" dirty="0" err="1"/>
              <a:t>Seitentabellen</a:t>
            </a:r>
            <a:endParaRPr lang="en-US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C6AE60A-B69C-4790-82F7-3882EDF23186}" type="slidenum">
              <a:rPr kumimoji="0" lang="de-DE" sz="1400" b="0" i="0" u="none" strike="noStrike" kern="1200" cap="none" spc="0" normalizeH="0" baseline="0" noProof="0" smtClean="0">
                <a:ln>
                  <a:noFill/>
                </a:ln>
                <a:solidFill>
                  <a:srgbClr val="4F27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4F271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Inhaltsplatzhalter 4"/>
          <p:cNvSpPr>
            <a:spLocks noGrp="1"/>
          </p:cNvSpPr>
          <p:nvPr>
            <p:ph sz="quarter" idx="2"/>
          </p:nvPr>
        </p:nvSpPr>
        <p:spPr>
          <a:xfrm>
            <a:off x="3419872" y="1216152"/>
            <a:ext cx="5472608" cy="5381200"/>
          </a:xfrm>
        </p:spPr>
        <p:txBody>
          <a:bodyPr>
            <a:normAutofit/>
          </a:bodyPr>
          <a:lstStyle/>
          <a:p>
            <a:r>
              <a:rPr lang="de-DE" dirty="0"/>
              <a:t>Wie berechnet man </a:t>
            </a:r>
            <a:r>
              <a:rPr lang="de-DE" sz="2800" dirty="0" err="1"/>
              <a:t>F</a:t>
            </a:r>
            <a:r>
              <a:rPr lang="de-DE" sz="2800" baseline="-25000" dirty="0" err="1"/>
              <a:t>pid</a:t>
            </a:r>
            <a:r>
              <a:rPr lang="de-DE" sz="2800" dirty="0"/>
              <a:t>() mit einer direkten Seitentabelle?</a:t>
            </a:r>
            <a:endParaRPr lang="de-DE" dirty="0"/>
          </a:p>
          <a:p>
            <a:pPr marL="274320" lvl="1">
              <a:spcBef>
                <a:spcPts val="600"/>
              </a:spcBef>
              <a:buClr>
                <a:schemeClr val="accent1"/>
              </a:buClr>
            </a:pPr>
            <a:r>
              <a:rPr lang="de-DE" sz="2600" dirty="0" err="1">
                <a:solidFill>
                  <a:schemeClr val="tx1"/>
                </a:solidFill>
              </a:rPr>
              <a:t>F</a:t>
            </a:r>
            <a:r>
              <a:rPr lang="de-DE" sz="2600" baseline="-25000" dirty="0" err="1">
                <a:solidFill>
                  <a:schemeClr val="tx1"/>
                </a:solidFill>
              </a:rPr>
              <a:t>pid</a:t>
            </a:r>
            <a:r>
              <a:rPr lang="de-DE" sz="2600" dirty="0">
                <a:solidFill>
                  <a:schemeClr val="tx1"/>
                </a:solidFill>
              </a:rPr>
              <a:t>() ist implementiert als ein Tabellen-</a:t>
            </a:r>
            <a:r>
              <a:rPr lang="de-DE" sz="2600" b="1" dirty="0">
                <a:solidFill>
                  <a:srgbClr val="0070C0"/>
                </a:solidFill>
              </a:rPr>
              <a:t>look-</a:t>
            </a:r>
            <a:r>
              <a:rPr lang="de-DE" sz="2600" b="1" dirty="0" err="1">
                <a:solidFill>
                  <a:srgbClr val="0070C0"/>
                </a:solidFill>
              </a:rPr>
              <a:t>up</a:t>
            </a:r>
            <a:r>
              <a:rPr lang="de-DE" sz="2600" dirty="0">
                <a:solidFill>
                  <a:schemeClr val="tx1"/>
                </a:solidFill>
              </a:rPr>
              <a:t>: sehr schnell</a:t>
            </a:r>
          </a:p>
          <a:p>
            <a:r>
              <a:rPr lang="de-DE" dirty="0"/>
              <a:t>In </a:t>
            </a:r>
            <a:r>
              <a:rPr lang="de-DE" b="1" dirty="0"/>
              <a:t>DST</a:t>
            </a:r>
            <a:r>
              <a:rPr lang="de-DE" dirty="0"/>
              <a:t>, Eintrag mit Index </a:t>
            </a:r>
            <a:r>
              <a:rPr lang="de-DE" b="1" dirty="0">
                <a:solidFill>
                  <a:srgbClr val="FF0000"/>
                </a:solidFill>
              </a:rPr>
              <a:t>p</a:t>
            </a:r>
            <a:r>
              <a:rPr lang="de-DE" dirty="0"/>
              <a:t> enthält Wert </a:t>
            </a:r>
            <a:r>
              <a:rPr lang="de-DE" b="1" dirty="0">
                <a:solidFill>
                  <a:srgbClr val="0070C0"/>
                </a:solidFill>
              </a:rPr>
              <a:t>f</a:t>
            </a:r>
            <a:r>
              <a:rPr lang="de-DE" dirty="0"/>
              <a:t> mit: </a:t>
            </a:r>
            <a:r>
              <a:rPr lang="de-DE" sz="2800" b="1" dirty="0" err="1"/>
              <a:t>F</a:t>
            </a:r>
            <a:r>
              <a:rPr lang="de-DE" sz="2800" b="1" baseline="-25000" dirty="0" err="1"/>
              <a:t>pid</a:t>
            </a:r>
            <a:r>
              <a:rPr lang="de-DE" sz="2800" b="1" dirty="0"/>
              <a:t>(</a:t>
            </a:r>
            <a:r>
              <a:rPr lang="de-DE" sz="2800" b="1" dirty="0">
                <a:solidFill>
                  <a:srgbClr val="FF0000"/>
                </a:solidFill>
              </a:rPr>
              <a:t>p</a:t>
            </a:r>
            <a:r>
              <a:rPr lang="de-DE" sz="2800" b="1" dirty="0"/>
              <a:t>) = </a:t>
            </a:r>
            <a:r>
              <a:rPr lang="de-DE" sz="2800" b="1" dirty="0">
                <a:solidFill>
                  <a:srgbClr val="0070C0"/>
                </a:solidFill>
              </a:rPr>
              <a:t>f</a:t>
            </a:r>
            <a:endParaRPr lang="de-DE" sz="2800" dirty="0"/>
          </a:p>
          <a:p>
            <a:pPr lvl="1"/>
            <a:r>
              <a:rPr lang="de-DE" dirty="0"/>
              <a:t>Index </a:t>
            </a:r>
            <a:r>
              <a:rPr lang="de-DE" b="1" dirty="0">
                <a:solidFill>
                  <a:srgbClr val="FF0000"/>
                </a:solidFill>
              </a:rPr>
              <a:t>p</a:t>
            </a:r>
            <a:r>
              <a:rPr lang="de-DE" dirty="0"/>
              <a:t> </a:t>
            </a:r>
            <a:r>
              <a:rPr lang="de-DE" dirty="0">
                <a:sym typeface="Symbol" panose="05050102010706020507" pitchFamily="18" charset="2"/>
              </a:rPr>
              <a:t>= </a:t>
            </a:r>
            <a:r>
              <a:rPr lang="de-DE" b="1" dirty="0">
                <a:solidFill>
                  <a:srgbClr val="FF0000"/>
                </a:solidFill>
                <a:sym typeface="Symbol" panose="05050102010706020507" pitchFamily="18" charset="2"/>
              </a:rPr>
              <a:t>Seiten</a:t>
            </a:r>
            <a:r>
              <a:rPr lang="de-DE" dirty="0">
                <a:sym typeface="Symbol" panose="05050102010706020507" pitchFamily="18" charset="2"/>
              </a:rPr>
              <a:t>nummer</a:t>
            </a:r>
          </a:p>
          <a:p>
            <a:pPr lvl="1"/>
            <a:r>
              <a:rPr lang="de-DE" dirty="0">
                <a:sym typeface="Symbol" panose="05050102010706020507" pitchFamily="18" charset="2"/>
              </a:rPr>
              <a:t>Inhalt </a:t>
            </a:r>
            <a:r>
              <a:rPr lang="de-DE" b="1" dirty="0">
                <a:solidFill>
                  <a:schemeClr val="tx1"/>
                </a:solidFill>
                <a:sym typeface="Symbol" panose="05050102010706020507" pitchFamily="18" charset="2"/>
              </a:rPr>
              <a:t>DST[</a:t>
            </a:r>
            <a:r>
              <a:rPr lang="de-DE" b="1" dirty="0">
                <a:solidFill>
                  <a:srgbClr val="0070C0"/>
                </a:solidFill>
                <a:sym typeface="Symbol" panose="05050102010706020507" pitchFamily="18" charset="2"/>
              </a:rPr>
              <a:t>p</a:t>
            </a:r>
            <a:r>
              <a:rPr lang="de-DE" b="1" dirty="0">
                <a:solidFill>
                  <a:schemeClr val="tx1"/>
                </a:solidFill>
                <a:sym typeface="Symbol" panose="05050102010706020507" pitchFamily="18" charset="2"/>
              </a:rPr>
              <a:t>]</a:t>
            </a:r>
            <a:r>
              <a:rPr lang="de-DE" dirty="0">
                <a:sym typeface="Symbol" panose="05050102010706020507" pitchFamily="18" charset="2"/>
              </a:rPr>
              <a:t> = </a:t>
            </a:r>
            <a:r>
              <a:rPr lang="de-DE" b="1" dirty="0">
                <a:solidFill>
                  <a:srgbClr val="0070C0"/>
                </a:solidFill>
                <a:sym typeface="Symbol" panose="05050102010706020507" pitchFamily="18" charset="2"/>
              </a:rPr>
              <a:t>Rahmen</a:t>
            </a:r>
            <a:r>
              <a:rPr lang="de-DE" dirty="0">
                <a:sym typeface="Symbol" panose="05050102010706020507" pitchFamily="18" charset="2"/>
              </a:rPr>
              <a:t>nummer</a:t>
            </a:r>
            <a:endParaRPr lang="de-DE" dirty="0"/>
          </a:p>
          <a:p>
            <a:r>
              <a:rPr lang="de-DE" dirty="0"/>
              <a:t>Index </a:t>
            </a:r>
            <a:r>
              <a:rPr lang="de-DE" b="1" dirty="0">
                <a:solidFill>
                  <a:srgbClr val="FF0000"/>
                </a:solidFill>
              </a:rPr>
              <a:t>p</a:t>
            </a:r>
            <a:r>
              <a:rPr lang="de-DE" dirty="0"/>
              <a:t> wird in DST </a:t>
            </a:r>
            <a:r>
              <a:rPr lang="de-DE" u="sng" dirty="0"/>
              <a:t>nicht</a:t>
            </a:r>
            <a:r>
              <a:rPr lang="de-DE" dirty="0"/>
              <a:t> gespeichert, das wäre redundant</a:t>
            </a:r>
          </a:p>
          <a:p>
            <a:r>
              <a:rPr lang="de-DE" dirty="0"/>
              <a:t>Jeder Prozess (identifiziert via </a:t>
            </a:r>
            <a:r>
              <a:rPr lang="de-DE" dirty="0" err="1"/>
              <a:t>pid</a:t>
            </a:r>
            <a:r>
              <a:rPr lang="de-DE" dirty="0"/>
              <a:t>) braucht eine </a:t>
            </a:r>
            <a:r>
              <a:rPr lang="de-DE" u="sng" dirty="0"/>
              <a:t>eigene</a:t>
            </a:r>
            <a:r>
              <a:rPr lang="de-DE" dirty="0"/>
              <a:t> Tabelle</a:t>
            </a:r>
          </a:p>
          <a:p>
            <a:pPr marL="0" indent="0">
              <a:buNone/>
            </a:pPr>
            <a:endParaRPr lang="de-DE" dirty="0"/>
          </a:p>
        </p:txBody>
      </p:sp>
      <p:grpSp>
        <p:nvGrpSpPr>
          <p:cNvPr id="17" name="Gruppieren 16"/>
          <p:cNvGrpSpPr/>
          <p:nvPr/>
        </p:nvGrpSpPr>
        <p:grpSpPr>
          <a:xfrm>
            <a:off x="1576974" y="2517236"/>
            <a:ext cx="362127" cy="1304652"/>
            <a:chOff x="1557146" y="2774518"/>
            <a:chExt cx="362127" cy="1304652"/>
          </a:xfrm>
          <a:solidFill>
            <a:schemeClr val="bg1">
              <a:lumMod val="65000"/>
            </a:schemeClr>
          </a:solidFill>
        </p:grpSpPr>
        <p:sp>
          <p:nvSpPr>
            <p:cNvPr id="9" name="Rectangle 4122"/>
            <p:cNvSpPr/>
            <p:nvPr/>
          </p:nvSpPr>
          <p:spPr>
            <a:xfrm>
              <a:off x="1557150" y="2774518"/>
              <a:ext cx="362123" cy="3261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Rectangle 63"/>
            <p:cNvSpPr/>
            <p:nvPr/>
          </p:nvSpPr>
          <p:spPr>
            <a:xfrm>
              <a:off x="1557149" y="3100681"/>
              <a:ext cx="362123" cy="3261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1" name="Rectangle 64"/>
            <p:cNvSpPr/>
            <p:nvPr/>
          </p:nvSpPr>
          <p:spPr>
            <a:xfrm>
              <a:off x="1557146" y="3426844"/>
              <a:ext cx="362125" cy="3261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2" name="Rectangle 65"/>
            <p:cNvSpPr/>
            <p:nvPr/>
          </p:nvSpPr>
          <p:spPr>
            <a:xfrm>
              <a:off x="1557148" y="3753007"/>
              <a:ext cx="362123" cy="3261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</a:t>
              </a:r>
            </a:p>
          </p:txBody>
        </p:sp>
      </p:grpSp>
      <p:sp>
        <p:nvSpPr>
          <p:cNvPr id="13" name="TextBox 4124"/>
          <p:cNvSpPr txBox="1"/>
          <p:nvPr/>
        </p:nvSpPr>
        <p:spPr>
          <a:xfrm>
            <a:off x="1244113" y="2517178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</a:t>
            </a:r>
          </a:p>
        </p:txBody>
      </p:sp>
      <p:sp>
        <p:nvSpPr>
          <p:cNvPr id="14" name="TextBox 68"/>
          <p:cNvSpPr txBox="1"/>
          <p:nvPr/>
        </p:nvSpPr>
        <p:spPr>
          <a:xfrm>
            <a:off x="1244111" y="2845363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</a:t>
            </a:r>
          </a:p>
        </p:txBody>
      </p:sp>
      <p:sp>
        <p:nvSpPr>
          <p:cNvPr id="15" name="TextBox 69"/>
          <p:cNvSpPr txBox="1"/>
          <p:nvPr/>
        </p:nvSpPr>
        <p:spPr>
          <a:xfrm>
            <a:off x="1244111" y="3483334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3</a:t>
            </a:r>
          </a:p>
        </p:txBody>
      </p:sp>
      <p:sp>
        <p:nvSpPr>
          <p:cNvPr id="16" name="TextBox 68"/>
          <p:cNvSpPr txBox="1"/>
          <p:nvPr/>
        </p:nvSpPr>
        <p:spPr>
          <a:xfrm>
            <a:off x="1244111" y="3151384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</a:t>
            </a:r>
          </a:p>
        </p:txBody>
      </p:sp>
      <p:sp>
        <p:nvSpPr>
          <p:cNvPr id="18" name="Textfeld 17"/>
          <p:cNvSpPr txBox="1"/>
          <p:nvPr/>
        </p:nvSpPr>
        <p:spPr>
          <a:xfrm>
            <a:off x="547054" y="1290539"/>
            <a:ext cx="1676962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Direkte</a:t>
            </a:r>
            <a:b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</a:b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Seitentabelle</a:t>
            </a:r>
          </a:p>
        </p:txBody>
      </p:sp>
      <p:sp>
        <p:nvSpPr>
          <p:cNvPr id="19" name="Rechteckige Legende 18"/>
          <p:cNvSpPr/>
          <p:nvPr/>
        </p:nvSpPr>
        <p:spPr>
          <a:xfrm rot="16200000">
            <a:off x="-152870" y="2986241"/>
            <a:ext cx="1618881" cy="668844"/>
          </a:xfrm>
          <a:prstGeom prst="wedgeRectCallout">
            <a:avLst>
              <a:gd name="adj1" fmla="val 20941"/>
              <a:gd name="adj2" fmla="val 88617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Index p </a:t>
            </a: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eines Eintrags</a:t>
            </a:r>
          </a:p>
        </p:txBody>
      </p:sp>
      <p:sp>
        <p:nvSpPr>
          <p:cNvPr id="20" name="Rechteck 19"/>
          <p:cNvSpPr/>
          <p:nvPr/>
        </p:nvSpPr>
        <p:spPr>
          <a:xfrm>
            <a:off x="1434871" y="2118894"/>
            <a:ext cx="6463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DST</a:t>
            </a:r>
          </a:p>
        </p:txBody>
      </p:sp>
      <p:sp>
        <p:nvSpPr>
          <p:cNvPr id="21" name="Rechteckige Legende 20"/>
          <p:cNvSpPr/>
          <p:nvPr/>
        </p:nvSpPr>
        <p:spPr>
          <a:xfrm>
            <a:off x="1241590" y="4192053"/>
            <a:ext cx="1618881" cy="668844"/>
          </a:xfrm>
          <a:prstGeom prst="wedgeRectCallout">
            <a:avLst>
              <a:gd name="adj1" fmla="val -18904"/>
              <a:gd name="adj2" fmla="val -91548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Inhalt </a:t>
            </a: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</a:t>
            </a: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eines Eintrags</a:t>
            </a:r>
          </a:p>
        </p:txBody>
      </p:sp>
    </p:spTree>
    <p:extLst>
      <p:ext uri="{BB962C8B-B14F-4D97-AF65-F5344CB8AC3E}">
        <p14:creationId xmlns:p14="http://schemas.microsoft.com/office/powerpoint/2010/main" val="34736114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Invertierte Seitentabellen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C6AE60A-B69C-4790-82F7-3882EDF23186}" type="slidenum">
              <a:rPr kumimoji="0" lang="de-DE" sz="1400" b="0" i="0" u="none" strike="noStrike" kern="1200" cap="none" spc="0" normalizeH="0" baseline="0" noProof="0" smtClean="0">
                <a:ln>
                  <a:noFill/>
                </a:ln>
                <a:solidFill>
                  <a:srgbClr val="4F27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4F271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Inhaltsplatzhalter 4"/>
          <p:cNvSpPr>
            <a:spLocks noGrp="1"/>
          </p:cNvSpPr>
          <p:nvPr>
            <p:ph sz="quarter" idx="2"/>
          </p:nvPr>
        </p:nvSpPr>
        <p:spPr>
          <a:xfrm>
            <a:off x="3075062" y="1216152"/>
            <a:ext cx="5598784" cy="5284682"/>
          </a:xfrm>
        </p:spPr>
        <p:txBody>
          <a:bodyPr>
            <a:normAutofit/>
          </a:bodyPr>
          <a:lstStyle/>
          <a:p>
            <a:r>
              <a:rPr lang="de-DE" dirty="0"/>
              <a:t>In </a:t>
            </a:r>
            <a:r>
              <a:rPr lang="de-DE" b="1" dirty="0">
                <a:sym typeface="Symbol" panose="05050102010706020507" pitchFamily="18" charset="2"/>
              </a:rPr>
              <a:t>INVST, </a:t>
            </a:r>
            <a:r>
              <a:rPr lang="de-DE" dirty="0"/>
              <a:t>Eintrag mit Index </a:t>
            </a:r>
            <a:r>
              <a:rPr lang="de-DE" b="1" dirty="0">
                <a:solidFill>
                  <a:srgbClr val="0070C0"/>
                </a:solidFill>
              </a:rPr>
              <a:t>f</a:t>
            </a:r>
            <a:r>
              <a:rPr lang="de-DE" dirty="0"/>
              <a:t> enthält Wert </a:t>
            </a:r>
            <a:r>
              <a:rPr lang="de-DE" b="1" dirty="0"/>
              <a:t>(</a:t>
            </a:r>
            <a:r>
              <a:rPr lang="de-DE" dirty="0" err="1"/>
              <a:t>pid,</a:t>
            </a:r>
            <a:r>
              <a:rPr lang="de-DE" b="1" dirty="0" err="1">
                <a:solidFill>
                  <a:srgbClr val="FF0000"/>
                </a:solidFill>
              </a:rPr>
              <a:t>p</a:t>
            </a:r>
            <a:r>
              <a:rPr lang="de-DE" b="1" dirty="0"/>
              <a:t>)</a:t>
            </a:r>
            <a:r>
              <a:rPr lang="de-DE" dirty="0"/>
              <a:t> mit: </a:t>
            </a:r>
            <a:r>
              <a:rPr lang="de-DE" sz="2800" b="1" dirty="0" err="1"/>
              <a:t>F</a:t>
            </a:r>
            <a:r>
              <a:rPr lang="de-DE" sz="2800" b="1" baseline="-25000" dirty="0" err="1"/>
              <a:t>pid</a:t>
            </a:r>
            <a:r>
              <a:rPr lang="de-DE" sz="2800" b="1" dirty="0"/>
              <a:t>(</a:t>
            </a:r>
            <a:r>
              <a:rPr lang="de-DE" sz="2800" b="1" dirty="0">
                <a:solidFill>
                  <a:srgbClr val="FF0000"/>
                </a:solidFill>
              </a:rPr>
              <a:t>p</a:t>
            </a:r>
            <a:r>
              <a:rPr lang="de-DE" sz="2800" b="1" dirty="0"/>
              <a:t>) = </a:t>
            </a:r>
            <a:r>
              <a:rPr lang="de-DE" sz="2800" b="1" dirty="0">
                <a:solidFill>
                  <a:srgbClr val="0070C0"/>
                </a:solidFill>
              </a:rPr>
              <a:t>f</a:t>
            </a:r>
            <a:endParaRPr lang="de-DE" sz="2800" dirty="0"/>
          </a:p>
          <a:p>
            <a:pPr lvl="1"/>
            <a:r>
              <a:rPr lang="de-DE" dirty="0"/>
              <a:t>Index </a:t>
            </a:r>
            <a:r>
              <a:rPr lang="de-DE" b="1" dirty="0">
                <a:solidFill>
                  <a:srgbClr val="0070C0"/>
                </a:solidFill>
              </a:rPr>
              <a:t>f</a:t>
            </a:r>
            <a:r>
              <a:rPr lang="de-DE" dirty="0"/>
              <a:t> </a:t>
            </a:r>
            <a:r>
              <a:rPr lang="de-DE" dirty="0">
                <a:sym typeface="Symbol" panose="05050102010706020507" pitchFamily="18" charset="2"/>
              </a:rPr>
              <a:t>= </a:t>
            </a:r>
            <a:r>
              <a:rPr lang="de-DE" b="1" dirty="0">
                <a:solidFill>
                  <a:srgbClr val="0070C0"/>
                </a:solidFill>
                <a:sym typeface="Symbol" panose="05050102010706020507" pitchFamily="18" charset="2"/>
              </a:rPr>
              <a:t>Rahmen</a:t>
            </a:r>
            <a:r>
              <a:rPr lang="de-DE" dirty="0">
                <a:sym typeface="Symbol" panose="05050102010706020507" pitchFamily="18" charset="2"/>
              </a:rPr>
              <a:t>nummer</a:t>
            </a:r>
          </a:p>
          <a:p>
            <a:pPr lvl="1"/>
            <a:r>
              <a:rPr lang="de-DE" dirty="0">
                <a:sym typeface="Symbol" panose="05050102010706020507" pitchFamily="18" charset="2"/>
              </a:rPr>
              <a:t>Inhalt </a:t>
            </a:r>
            <a:r>
              <a:rPr lang="de-DE" b="1" dirty="0">
                <a:solidFill>
                  <a:schemeClr val="tx1"/>
                </a:solidFill>
                <a:sym typeface="Symbol" panose="05050102010706020507" pitchFamily="18" charset="2"/>
              </a:rPr>
              <a:t>INVST[</a:t>
            </a:r>
            <a:r>
              <a:rPr lang="de-DE" b="1" dirty="0">
                <a:solidFill>
                  <a:srgbClr val="0070C0"/>
                </a:solidFill>
                <a:sym typeface="Symbol" panose="05050102010706020507" pitchFamily="18" charset="2"/>
              </a:rPr>
              <a:t>f</a:t>
            </a:r>
            <a:r>
              <a:rPr lang="de-DE" b="1" dirty="0">
                <a:solidFill>
                  <a:schemeClr val="tx1"/>
                </a:solidFill>
                <a:sym typeface="Symbol" panose="05050102010706020507" pitchFamily="18" charset="2"/>
              </a:rPr>
              <a:t>]</a:t>
            </a:r>
            <a:r>
              <a:rPr lang="de-DE" dirty="0">
                <a:sym typeface="Symbol" panose="05050102010706020507" pitchFamily="18" charset="2"/>
              </a:rPr>
              <a:t> = (</a:t>
            </a:r>
            <a:r>
              <a:rPr lang="de-DE" dirty="0">
                <a:solidFill>
                  <a:schemeClr val="tx1"/>
                </a:solidFill>
                <a:sym typeface="Symbol" panose="05050102010706020507" pitchFamily="18" charset="2"/>
              </a:rPr>
              <a:t>Prozess-ID </a:t>
            </a:r>
            <a:r>
              <a:rPr lang="de-DE" b="1" dirty="0" err="1">
                <a:solidFill>
                  <a:schemeClr val="tx1"/>
                </a:solidFill>
                <a:sym typeface="Symbol" panose="05050102010706020507" pitchFamily="18" charset="2"/>
              </a:rPr>
              <a:t>pid</a:t>
            </a:r>
            <a:r>
              <a:rPr lang="de-DE" dirty="0">
                <a:solidFill>
                  <a:schemeClr val="tx1"/>
                </a:solidFill>
                <a:sym typeface="Symbol" panose="05050102010706020507" pitchFamily="18" charset="2"/>
              </a:rPr>
              <a:t>, </a:t>
            </a:r>
            <a:r>
              <a:rPr lang="de-DE" b="1" dirty="0">
                <a:solidFill>
                  <a:srgbClr val="FF0000"/>
                </a:solidFill>
                <a:sym typeface="Symbol" panose="05050102010706020507" pitchFamily="18" charset="2"/>
              </a:rPr>
              <a:t>Seiten</a:t>
            </a:r>
            <a:r>
              <a:rPr lang="de-DE" dirty="0">
                <a:solidFill>
                  <a:schemeClr val="tx1"/>
                </a:solidFill>
                <a:sym typeface="Symbol" panose="05050102010706020507" pitchFamily="18" charset="2"/>
              </a:rPr>
              <a:t>nummer </a:t>
            </a:r>
            <a:r>
              <a:rPr lang="de-DE" b="1" dirty="0">
                <a:solidFill>
                  <a:srgbClr val="FF0000"/>
                </a:solidFill>
                <a:sym typeface="Symbol" panose="05050102010706020507" pitchFamily="18" charset="2"/>
              </a:rPr>
              <a:t>p</a:t>
            </a:r>
            <a:r>
              <a:rPr lang="de-DE" dirty="0">
                <a:solidFill>
                  <a:schemeClr val="tx1"/>
                </a:solidFill>
                <a:sym typeface="Symbol" panose="05050102010706020507" pitchFamily="18" charset="2"/>
              </a:rPr>
              <a:t>)</a:t>
            </a:r>
            <a:endParaRPr lang="de-DE" dirty="0">
              <a:solidFill>
                <a:schemeClr val="tx1"/>
              </a:solidFill>
            </a:endParaRPr>
          </a:p>
          <a:p>
            <a:pPr marL="274320" lvl="1">
              <a:spcBef>
                <a:spcPts val="600"/>
              </a:spcBef>
              <a:buClr>
                <a:schemeClr val="accent1"/>
              </a:buClr>
            </a:pPr>
            <a:r>
              <a:rPr lang="de-DE" sz="2600" dirty="0">
                <a:solidFill>
                  <a:schemeClr val="tx1"/>
                </a:solidFill>
              </a:rPr>
              <a:t>D.h. um </a:t>
            </a:r>
            <a:r>
              <a:rPr lang="de-DE" sz="2600" dirty="0" err="1">
                <a:solidFill>
                  <a:schemeClr val="tx1"/>
                </a:solidFill>
              </a:rPr>
              <a:t>F</a:t>
            </a:r>
            <a:r>
              <a:rPr lang="de-DE" sz="2600" baseline="-25000" dirty="0" err="1">
                <a:solidFill>
                  <a:schemeClr val="tx1"/>
                </a:solidFill>
              </a:rPr>
              <a:t>pid</a:t>
            </a:r>
            <a:r>
              <a:rPr lang="de-DE" sz="2600" dirty="0">
                <a:solidFill>
                  <a:schemeClr val="tx1"/>
                </a:solidFill>
              </a:rPr>
              <a:t>() zu berechnen, muss man </a:t>
            </a:r>
            <a:r>
              <a:rPr lang="de-DE" sz="2600" u="sng" dirty="0">
                <a:solidFill>
                  <a:schemeClr val="tx1"/>
                </a:solidFill>
              </a:rPr>
              <a:t>suchen</a:t>
            </a:r>
            <a:r>
              <a:rPr lang="de-DE" sz="2600" dirty="0">
                <a:solidFill>
                  <a:schemeClr val="tx1"/>
                </a:solidFill>
              </a:rPr>
              <a:t>: ggf. aufwändig</a:t>
            </a:r>
          </a:p>
          <a:p>
            <a:r>
              <a:rPr lang="de-DE" dirty="0"/>
              <a:t>Es gibt </a:t>
            </a:r>
            <a:r>
              <a:rPr lang="de-DE" u="sng" dirty="0"/>
              <a:t>eine einzige</a:t>
            </a:r>
            <a:r>
              <a:rPr lang="de-DE" dirty="0"/>
              <a:t> Tabelle für alle Prozesse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9" name="Rectangle 4122"/>
          <p:cNvSpPr/>
          <p:nvPr/>
        </p:nvSpPr>
        <p:spPr>
          <a:xfrm>
            <a:off x="1576985" y="2517236"/>
            <a:ext cx="969931" cy="3261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(99, </a:t>
            </a: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3</a:t>
            </a: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sp>
        <p:nvSpPr>
          <p:cNvPr id="10" name="Rectangle 63"/>
          <p:cNvSpPr/>
          <p:nvPr/>
        </p:nvSpPr>
        <p:spPr>
          <a:xfrm>
            <a:off x="1576982" y="2843399"/>
            <a:ext cx="969931" cy="3261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(99, </a:t>
            </a: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</a:t>
            </a: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  <a:endParaRPr kumimoji="0" lang="de-DE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Rectangle 64"/>
          <p:cNvSpPr/>
          <p:nvPr/>
        </p:nvSpPr>
        <p:spPr>
          <a:xfrm>
            <a:off x="1576974" y="3169562"/>
            <a:ext cx="975245" cy="3375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(43, 6)</a:t>
            </a:r>
          </a:p>
        </p:txBody>
      </p:sp>
      <p:sp>
        <p:nvSpPr>
          <p:cNvPr id="12" name="Rectangle 65"/>
          <p:cNvSpPr/>
          <p:nvPr/>
        </p:nvSpPr>
        <p:spPr>
          <a:xfrm>
            <a:off x="1576979" y="3495725"/>
            <a:ext cx="969931" cy="3261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(99, </a:t>
            </a: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</a:t>
            </a: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  <a:endParaRPr kumimoji="0" lang="de-DE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TextBox 4124"/>
          <p:cNvSpPr txBox="1"/>
          <p:nvPr/>
        </p:nvSpPr>
        <p:spPr>
          <a:xfrm>
            <a:off x="1244113" y="2517178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</a:t>
            </a:r>
          </a:p>
        </p:txBody>
      </p:sp>
      <p:sp>
        <p:nvSpPr>
          <p:cNvPr id="14" name="TextBox 68"/>
          <p:cNvSpPr txBox="1"/>
          <p:nvPr/>
        </p:nvSpPr>
        <p:spPr>
          <a:xfrm>
            <a:off x="1244111" y="2845363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</a:t>
            </a:r>
          </a:p>
        </p:txBody>
      </p:sp>
      <p:sp>
        <p:nvSpPr>
          <p:cNvPr id="15" name="TextBox 69"/>
          <p:cNvSpPr txBox="1"/>
          <p:nvPr/>
        </p:nvSpPr>
        <p:spPr>
          <a:xfrm>
            <a:off x="1244111" y="3483334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3</a:t>
            </a:r>
          </a:p>
        </p:txBody>
      </p:sp>
      <p:sp>
        <p:nvSpPr>
          <p:cNvPr id="16" name="TextBox 68"/>
          <p:cNvSpPr txBox="1"/>
          <p:nvPr/>
        </p:nvSpPr>
        <p:spPr>
          <a:xfrm>
            <a:off x="1244111" y="3151384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</a:t>
            </a:r>
          </a:p>
        </p:txBody>
      </p:sp>
      <p:sp>
        <p:nvSpPr>
          <p:cNvPr id="18" name="Textfeld 17"/>
          <p:cNvSpPr txBox="1"/>
          <p:nvPr/>
        </p:nvSpPr>
        <p:spPr>
          <a:xfrm>
            <a:off x="547054" y="1290539"/>
            <a:ext cx="1676962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Invertierte</a:t>
            </a:r>
            <a:b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</a:b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Seitentabelle</a:t>
            </a:r>
          </a:p>
        </p:txBody>
      </p:sp>
      <p:sp>
        <p:nvSpPr>
          <p:cNvPr id="19" name="Rechteckige Legende 18"/>
          <p:cNvSpPr/>
          <p:nvPr/>
        </p:nvSpPr>
        <p:spPr>
          <a:xfrm rot="16200000">
            <a:off x="-152870" y="2986241"/>
            <a:ext cx="1618881" cy="668844"/>
          </a:xfrm>
          <a:prstGeom prst="wedgeRectCallout">
            <a:avLst>
              <a:gd name="adj1" fmla="val 20941"/>
              <a:gd name="adj2" fmla="val 88617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Index f </a:t>
            </a: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eines Eintrags</a:t>
            </a:r>
          </a:p>
        </p:txBody>
      </p:sp>
      <p:sp>
        <p:nvSpPr>
          <p:cNvPr id="20" name="Rechteck 19"/>
          <p:cNvSpPr/>
          <p:nvPr/>
        </p:nvSpPr>
        <p:spPr>
          <a:xfrm>
            <a:off x="1629774" y="2094524"/>
            <a:ext cx="8643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INVST</a:t>
            </a:r>
          </a:p>
        </p:txBody>
      </p:sp>
      <p:sp>
        <p:nvSpPr>
          <p:cNvPr id="21" name="Rechteckige Legende 20"/>
          <p:cNvSpPr/>
          <p:nvPr/>
        </p:nvSpPr>
        <p:spPr>
          <a:xfrm>
            <a:off x="937562" y="4581128"/>
            <a:ext cx="1884382" cy="668844"/>
          </a:xfrm>
          <a:prstGeom prst="wedgeRectCallout">
            <a:avLst>
              <a:gd name="adj1" fmla="val 8430"/>
              <a:gd name="adj2" fmla="val -106258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Inhalt </a:t>
            </a: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</a:t>
            </a:r>
            <a:r>
              <a:rPr kumimoji="0" lang="de-DE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pid</a:t>
            </a: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, </a:t>
            </a: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</a:t>
            </a: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 </a:t>
            </a: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eines Eintrags</a:t>
            </a:r>
          </a:p>
        </p:txBody>
      </p:sp>
      <p:sp>
        <p:nvSpPr>
          <p:cNvPr id="22" name="Rectangle 65"/>
          <p:cNvSpPr/>
          <p:nvPr/>
        </p:nvSpPr>
        <p:spPr>
          <a:xfrm>
            <a:off x="1576979" y="3821888"/>
            <a:ext cx="969931" cy="3261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(99, </a:t>
            </a: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</a:t>
            </a: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  <a:endParaRPr kumimoji="0" lang="de-DE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" name="TextBox 69"/>
          <p:cNvSpPr txBox="1"/>
          <p:nvPr/>
        </p:nvSpPr>
        <p:spPr>
          <a:xfrm>
            <a:off x="1244111" y="3795959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2796056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Hierarchische Seitentabellen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C6AE60A-B69C-4790-82F7-3882EDF23186}" type="slidenum">
              <a:rPr kumimoji="0" lang="de-DE" sz="1400" b="0" i="0" u="none" strike="noStrike" kern="1200" cap="none" spc="0" normalizeH="0" baseline="0" noProof="0" smtClean="0">
                <a:ln>
                  <a:noFill/>
                </a:ln>
                <a:solidFill>
                  <a:srgbClr val="4F27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4F271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Inhaltsplatzhalter 4"/>
          <p:cNvSpPr>
            <a:spLocks noGrp="1"/>
          </p:cNvSpPr>
          <p:nvPr>
            <p:ph sz="quarter" idx="2"/>
          </p:nvPr>
        </p:nvSpPr>
        <p:spPr>
          <a:xfrm>
            <a:off x="3505222" y="1216152"/>
            <a:ext cx="5315250" cy="5431100"/>
          </a:xfrm>
        </p:spPr>
        <p:txBody>
          <a:bodyPr>
            <a:normAutofit/>
          </a:bodyPr>
          <a:lstStyle/>
          <a:p>
            <a:r>
              <a:rPr lang="de-DE" dirty="0"/>
              <a:t>Eine hierarchische Tabelle </a:t>
            </a:r>
            <a:r>
              <a:rPr lang="de-DE" b="1" dirty="0"/>
              <a:t>HST</a:t>
            </a:r>
            <a:r>
              <a:rPr lang="de-DE" dirty="0"/>
              <a:t> benutzt </a:t>
            </a:r>
            <a:r>
              <a:rPr lang="de-DE" dirty="0" err="1">
                <a:solidFill>
                  <a:srgbClr val="0070C0"/>
                </a:solidFill>
              </a:rPr>
              <a:t>look-up</a:t>
            </a:r>
            <a:r>
              <a:rPr lang="de-DE" dirty="0"/>
              <a:t> (wie eine direkte Tabelle), d.h.: </a:t>
            </a:r>
            <a:r>
              <a:rPr lang="de-DE" b="1" dirty="0" err="1"/>
              <a:t>F</a:t>
            </a:r>
            <a:r>
              <a:rPr lang="de-DE" b="1" baseline="-25000" dirty="0" err="1"/>
              <a:t>pid</a:t>
            </a:r>
            <a:r>
              <a:rPr lang="de-DE" b="1" dirty="0"/>
              <a:t>(</a:t>
            </a:r>
            <a:r>
              <a:rPr lang="de-DE" b="1" dirty="0">
                <a:solidFill>
                  <a:srgbClr val="FF0000"/>
                </a:solidFill>
              </a:rPr>
              <a:t>p</a:t>
            </a:r>
            <a:r>
              <a:rPr lang="de-DE" b="1" dirty="0"/>
              <a:t>) = </a:t>
            </a:r>
            <a:r>
              <a:rPr lang="de-DE" b="1" dirty="0" err="1"/>
              <a:t>HST</a:t>
            </a:r>
            <a:r>
              <a:rPr lang="de-DE" b="1" baseline="-25000" dirty="0" err="1"/>
              <a:t>pid</a:t>
            </a:r>
            <a:r>
              <a:rPr lang="de-DE" b="1" dirty="0"/>
              <a:t>[</a:t>
            </a:r>
            <a:r>
              <a:rPr lang="de-DE" b="1" dirty="0">
                <a:solidFill>
                  <a:srgbClr val="FF0000"/>
                </a:solidFill>
              </a:rPr>
              <a:t>p</a:t>
            </a:r>
            <a:r>
              <a:rPr lang="de-DE" b="1" dirty="0"/>
              <a:t>]</a:t>
            </a:r>
          </a:p>
          <a:p>
            <a:r>
              <a:rPr lang="de-DE" sz="2400" dirty="0"/>
              <a:t>Aber HST ist </a:t>
            </a:r>
            <a:r>
              <a:rPr lang="de-DE" sz="2400" u="sng" dirty="0"/>
              <a:t>zerteilt</a:t>
            </a:r>
            <a:r>
              <a:rPr lang="de-DE" sz="2400" dirty="0"/>
              <a:t> </a:t>
            </a:r>
            <a:r>
              <a:rPr lang="de-DE" sz="2400" u="sng" dirty="0"/>
              <a:t>in</a:t>
            </a:r>
            <a:r>
              <a:rPr lang="de-DE" sz="2400" dirty="0"/>
              <a:t> </a:t>
            </a:r>
            <a:r>
              <a:rPr lang="de-DE" sz="2400" u="sng" dirty="0">
                <a:solidFill>
                  <a:srgbClr val="0070C0"/>
                </a:solidFill>
              </a:rPr>
              <a:t>Abschnitte</a:t>
            </a:r>
            <a:r>
              <a:rPr lang="de-DE" sz="2400" u="sng" dirty="0"/>
              <a:t> </a:t>
            </a:r>
            <a:r>
              <a:rPr lang="de-DE" sz="2400" dirty="0"/>
              <a:t>mit je 2</a:t>
            </a:r>
            <a:r>
              <a:rPr lang="de-DE" sz="2400" baseline="30000" dirty="0"/>
              <a:t>k</a:t>
            </a:r>
            <a:r>
              <a:rPr lang="de-DE" sz="2400" dirty="0"/>
              <a:t> Einträgen (z.B. k=10), und </a:t>
            </a:r>
            <a:r>
              <a:rPr lang="de-DE" sz="2400" i="1" dirty="0"/>
              <a:t>nur manche dieser Abschnitte existieren</a:t>
            </a:r>
          </a:p>
          <a:p>
            <a:r>
              <a:rPr lang="de-DE" sz="2400" dirty="0"/>
              <a:t>Jeder Abschnitt kann „irgendwo“ im Speicher anfangen</a:t>
            </a:r>
          </a:p>
          <a:p>
            <a:pPr lvl="1"/>
            <a:r>
              <a:rPr lang="de-DE" dirty="0"/>
              <a:t>Es werden nur solche Abschnitte angelegt, die die tatsächlich verwendeten logischen Adressenbereiche abdecken</a:t>
            </a:r>
          </a:p>
          <a:p>
            <a:pPr marL="0" indent="0">
              <a:buNone/>
            </a:pPr>
            <a:endParaRPr lang="de-DE" dirty="0"/>
          </a:p>
        </p:txBody>
      </p:sp>
      <p:grpSp>
        <p:nvGrpSpPr>
          <p:cNvPr id="17" name="Gruppieren 16"/>
          <p:cNvGrpSpPr/>
          <p:nvPr/>
        </p:nvGrpSpPr>
        <p:grpSpPr>
          <a:xfrm>
            <a:off x="1557044" y="1734258"/>
            <a:ext cx="362127" cy="1304652"/>
            <a:chOff x="1557146" y="2774518"/>
            <a:chExt cx="362127" cy="1304652"/>
          </a:xfrm>
          <a:solidFill>
            <a:schemeClr val="bg1">
              <a:lumMod val="65000"/>
            </a:schemeClr>
          </a:solidFill>
        </p:grpSpPr>
        <p:sp>
          <p:nvSpPr>
            <p:cNvPr id="9" name="Rectangle 4122"/>
            <p:cNvSpPr/>
            <p:nvPr/>
          </p:nvSpPr>
          <p:spPr>
            <a:xfrm>
              <a:off x="1557150" y="2774518"/>
              <a:ext cx="362123" cy="3261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Rectangle 63"/>
            <p:cNvSpPr/>
            <p:nvPr/>
          </p:nvSpPr>
          <p:spPr>
            <a:xfrm>
              <a:off x="1557149" y="3100681"/>
              <a:ext cx="362123" cy="3261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1" name="Rectangle 64"/>
            <p:cNvSpPr/>
            <p:nvPr/>
          </p:nvSpPr>
          <p:spPr>
            <a:xfrm>
              <a:off x="1557146" y="3426844"/>
              <a:ext cx="362125" cy="3261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2" name="Rectangle 65"/>
            <p:cNvSpPr/>
            <p:nvPr/>
          </p:nvSpPr>
          <p:spPr>
            <a:xfrm>
              <a:off x="1557148" y="3753007"/>
              <a:ext cx="362123" cy="3261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</a:t>
              </a:r>
            </a:p>
          </p:txBody>
        </p:sp>
      </p:grpSp>
      <p:sp>
        <p:nvSpPr>
          <p:cNvPr id="13" name="TextBox 4124"/>
          <p:cNvSpPr txBox="1"/>
          <p:nvPr/>
        </p:nvSpPr>
        <p:spPr>
          <a:xfrm>
            <a:off x="1199559" y="1734258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</a:t>
            </a:r>
          </a:p>
        </p:txBody>
      </p:sp>
      <p:sp>
        <p:nvSpPr>
          <p:cNvPr id="14" name="TextBox 68"/>
          <p:cNvSpPr txBox="1"/>
          <p:nvPr/>
        </p:nvSpPr>
        <p:spPr>
          <a:xfrm>
            <a:off x="1199557" y="2062443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</a:t>
            </a:r>
          </a:p>
        </p:txBody>
      </p:sp>
      <p:sp>
        <p:nvSpPr>
          <p:cNvPr id="15" name="TextBox 69"/>
          <p:cNvSpPr txBox="1"/>
          <p:nvPr/>
        </p:nvSpPr>
        <p:spPr>
          <a:xfrm>
            <a:off x="1199557" y="2700414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3</a:t>
            </a:r>
          </a:p>
        </p:txBody>
      </p:sp>
      <p:sp>
        <p:nvSpPr>
          <p:cNvPr id="16" name="TextBox 68"/>
          <p:cNvSpPr txBox="1"/>
          <p:nvPr/>
        </p:nvSpPr>
        <p:spPr>
          <a:xfrm>
            <a:off x="1199557" y="2368464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</a:t>
            </a:r>
          </a:p>
        </p:txBody>
      </p:sp>
      <p:sp>
        <p:nvSpPr>
          <p:cNvPr id="18" name="Textfeld 17"/>
          <p:cNvSpPr txBox="1"/>
          <p:nvPr/>
        </p:nvSpPr>
        <p:spPr>
          <a:xfrm>
            <a:off x="1434340" y="1290539"/>
            <a:ext cx="689388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HST</a:t>
            </a:r>
          </a:p>
        </p:txBody>
      </p:sp>
      <p:sp>
        <p:nvSpPr>
          <p:cNvPr id="19" name="Rechteckige Legende 18"/>
          <p:cNvSpPr/>
          <p:nvPr/>
        </p:nvSpPr>
        <p:spPr>
          <a:xfrm rot="16200000">
            <a:off x="-184377" y="2285137"/>
            <a:ext cx="1618881" cy="668844"/>
          </a:xfrm>
          <a:prstGeom prst="wedgeRectCallout">
            <a:avLst>
              <a:gd name="adj1" fmla="val 20941"/>
              <a:gd name="adj2" fmla="val 88617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Index p </a:t>
            </a: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eines Eintrags</a:t>
            </a:r>
          </a:p>
        </p:txBody>
      </p:sp>
      <p:sp>
        <p:nvSpPr>
          <p:cNvPr id="21" name="Rechteckige Legende 20"/>
          <p:cNvSpPr/>
          <p:nvPr/>
        </p:nvSpPr>
        <p:spPr>
          <a:xfrm>
            <a:off x="2237375" y="1755770"/>
            <a:ext cx="1182394" cy="901567"/>
          </a:xfrm>
          <a:prstGeom prst="wedgeRectCallout">
            <a:avLst>
              <a:gd name="adj1" fmla="val -78139"/>
              <a:gd name="adj2" fmla="val -708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Inhalt </a:t>
            </a: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</a:t>
            </a: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eines Eintrags</a:t>
            </a:r>
          </a:p>
        </p:txBody>
      </p:sp>
      <p:sp>
        <p:nvSpPr>
          <p:cNvPr id="23" name="TextBox 68"/>
          <p:cNvSpPr txBox="1"/>
          <p:nvPr/>
        </p:nvSpPr>
        <p:spPr>
          <a:xfrm>
            <a:off x="516676" y="3990480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1533357</a:t>
            </a:r>
          </a:p>
        </p:txBody>
      </p:sp>
      <p:sp>
        <p:nvSpPr>
          <p:cNvPr id="24" name="TextBox 69"/>
          <p:cNvSpPr txBox="1"/>
          <p:nvPr/>
        </p:nvSpPr>
        <p:spPr>
          <a:xfrm>
            <a:off x="516676" y="4628451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1533359</a:t>
            </a:r>
          </a:p>
        </p:txBody>
      </p:sp>
      <p:sp>
        <p:nvSpPr>
          <p:cNvPr id="25" name="TextBox 68"/>
          <p:cNvSpPr txBox="1"/>
          <p:nvPr/>
        </p:nvSpPr>
        <p:spPr>
          <a:xfrm>
            <a:off x="516676" y="4296501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1533358</a:t>
            </a:r>
          </a:p>
        </p:txBody>
      </p:sp>
      <p:sp>
        <p:nvSpPr>
          <p:cNvPr id="27" name="TextBox 4124"/>
          <p:cNvSpPr txBox="1"/>
          <p:nvPr/>
        </p:nvSpPr>
        <p:spPr>
          <a:xfrm>
            <a:off x="1044490" y="5092870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…</a:t>
            </a:r>
          </a:p>
        </p:txBody>
      </p:sp>
      <p:sp>
        <p:nvSpPr>
          <p:cNvPr id="28" name="TextBox 68"/>
          <p:cNvSpPr txBox="1"/>
          <p:nvPr/>
        </p:nvSpPr>
        <p:spPr>
          <a:xfrm>
            <a:off x="866131" y="5683118"/>
            <a:ext cx="631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</a:t>
            </a:r>
            <a:r>
              <a:rPr kumimoji="0" lang="de-DE" sz="1600" b="0" i="0" u="none" strike="noStrike" kern="1200" cap="none" spc="0" normalizeH="0" baseline="30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52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-3</a:t>
            </a:r>
          </a:p>
        </p:txBody>
      </p:sp>
      <p:sp>
        <p:nvSpPr>
          <p:cNvPr id="29" name="TextBox 69"/>
          <p:cNvSpPr txBox="1"/>
          <p:nvPr/>
        </p:nvSpPr>
        <p:spPr>
          <a:xfrm>
            <a:off x="866131" y="6321089"/>
            <a:ext cx="631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</a:t>
            </a:r>
            <a:r>
              <a:rPr kumimoji="0" lang="de-DE" sz="1600" b="0" i="0" u="none" strike="noStrike" kern="1200" cap="none" spc="0" normalizeH="0" baseline="30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52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-1</a:t>
            </a:r>
          </a:p>
        </p:txBody>
      </p:sp>
      <p:sp>
        <p:nvSpPr>
          <p:cNvPr id="30" name="TextBox 68"/>
          <p:cNvSpPr txBox="1"/>
          <p:nvPr/>
        </p:nvSpPr>
        <p:spPr>
          <a:xfrm>
            <a:off x="866131" y="5989139"/>
            <a:ext cx="631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</a:t>
            </a:r>
            <a:r>
              <a:rPr kumimoji="0" lang="de-DE" sz="1600" b="0" i="0" u="none" strike="noStrike" kern="1200" cap="none" spc="0" normalizeH="0" baseline="30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52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-2</a:t>
            </a:r>
          </a:p>
        </p:txBody>
      </p:sp>
      <p:sp>
        <p:nvSpPr>
          <p:cNvPr id="31" name="TextBox 4124"/>
          <p:cNvSpPr txBox="1"/>
          <p:nvPr/>
        </p:nvSpPr>
        <p:spPr>
          <a:xfrm>
            <a:off x="1108291" y="3329180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…</a:t>
            </a:r>
          </a:p>
        </p:txBody>
      </p:sp>
      <p:grpSp>
        <p:nvGrpSpPr>
          <p:cNvPr id="32" name="Gruppieren 31"/>
          <p:cNvGrpSpPr/>
          <p:nvPr/>
        </p:nvGrpSpPr>
        <p:grpSpPr>
          <a:xfrm>
            <a:off x="1553206" y="3990480"/>
            <a:ext cx="635609" cy="978489"/>
            <a:chOff x="1557146" y="2774518"/>
            <a:chExt cx="362127" cy="978489"/>
          </a:xfrm>
          <a:solidFill>
            <a:schemeClr val="bg1">
              <a:lumMod val="65000"/>
            </a:schemeClr>
          </a:solidFill>
        </p:grpSpPr>
        <p:sp>
          <p:nvSpPr>
            <p:cNvPr id="33" name="Rectangle 4122"/>
            <p:cNvSpPr/>
            <p:nvPr/>
          </p:nvSpPr>
          <p:spPr>
            <a:xfrm>
              <a:off x="1557150" y="2774518"/>
              <a:ext cx="362123" cy="3261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51</a:t>
              </a:r>
            </a:p>
          </p:txBody>
        </p:sp>
        <p:sp>
          <p:nvSpPr>
            <p:cNvPr id="34" name="Rectangle 63"/>
            <p:cNvSpPr/>
            <p:nvPr/>
          </p:nvSpPr>
          <p:spPr>
            <a:xfrm>
              <a:off x="1557149" y="3100681"/>
              <a:ext cx="362123" cy="3261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43</a:t>
              </a:r>
            </a:p>
          </p:txBody>
        </p:sp>
        <p:sp>
          <p:nvSpPr>
            <p:cNvPr id="35" name="Rectangle 64"/>
            <p:cNvSpPr/>
            <p:nvPr/>
          </p:nvSpPr>
          <p:spPr>
            <a:xfrm>
              <a:off x="1557146" y="3426844"/>
              <a:ext cx="362125" cy="3261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107</a:t>
              </a:r>
            </a:p>
          </p:txBody>
        </p:sp>
      </p:grpSp>
      <p:grpSp>
        <p:nvGrpSpPr>
          <p:cNvPr id="37" name="Gruppieren 36"/>
          <p:cNvGrpSpPr/>
          <p:nvPr/>
        </p:nvGrpSpPr>
        <p:grpSpPr>
          <a:xfrm>
            <a:off x="1555717" y="5668763"/>
            <a:ext cx="635609" cy="978489"/>
            <a:chOff x="1557146" y="2774518"/>
            <a:chExt cx="362127" cy="978489"/>
          </a:xfrm>
          <a:solidFill>
            <a:schemeClr val="bg1">
              <a:lumMod val="65000"/>
            </a:schemeClr>
          </a:solidFill>
        </p:grpSpPr>
        <p:sp>
          <p:nvSpPr>
            <p:cNvPr id="38" name="Rectangle 4122"/>
            <p:cNvSpPr/>
            <p:nvPr/>
          </p:nvSpPr>
          <p:spPr>
            <a:xfrm>
              <a:off x="1557150" y="2774518"/>
              <a:ext cx="362123" cy="3261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39" name="Rectangle 63"/>
            <p:cNvSpPr/>
            <p:nvPr/>
          </p:nvSpPr>
          <p:spPr>
            <a:xfrm>
              <a:off x="1557149" y="3100681"/>
              <a:ext cx="362123" cy="3261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40" name="Rectangle 64"/>
            <p:cNvSpPr/>
            <p:nvPr/>
          </p:nvSpPr>
          <p:spPr>
            <a:xfrm>
              <a:off x="1557146" y="3426844"/>
              <a:ext cx="362125" cy="3261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e-D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20</a:t>
              </a:r>
            </a:p>
          </p:txBody>
        </p:sp>
      </p:grpSp>
      <p:sp>
        <p:nvSpPr>
          <p:cNvPr id="41" name="Geschweifte Klammer rechts 40"/>
          <p:cNvSpPr/>
          <p:nvPr/>
        </p:nvSpPr>
        <p:spPr>
          <a:xfrm>
            <a:off x="1558260" y="3046322"/>
            <a:ext cx="393444" cy="936745"/>
          </a:xfrm>
          <a:prstGeom prst="rightBrac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" name="Geschweifte Klammer rechts 41"/>
          <p:cNvSpPr/>
          <p:nvPr/>
        </p:nvSpPr>
        <p:spPr>
          <a:xfrm>
            <a:off x="1569846" y="4979894"/>
            <a:ext cx="393444" cy="688869"/>
          </a:xfrm>
          <a:prstGeom prst="rightBrace">
            <a:avLst>
              <a:gd name="adj1" fmla="val 8333"/>
              <a:gd name="adj2" fmla="val 48846"/>
            </a:avLst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extfeld 3"/>
          <p:cNvSpPr txBox="1"/>
          <p:nvPr/>
        </p:nvSpPr>
        <p:spPr>
          <a:xfrm>
            <a:off x="2004993" y="2992763"/>
            <a:ext cx="11528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Abschnitte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nicht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vorhanden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" name="Textfeld 42"/>
          <p:cNvSpPr txBox="1"/>
          <p:nvPr/>
        </p:nvSpPr>
        <p:spPr>
          <a:xfrm>
            <a:off x="2188811" y="4860176"/>
            <a:ext cx="14750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Abschnitte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nicht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vorhanden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" name="Rechteckige Legende 43"/>
          <p:cNvSpPr/>
          <p:nvPr/>
        </p:nvSpPr>
        <p:spPr>
          <a:xfrm>
            <a:off x="2355361" y="3958609"/>
            <a:ext cx="1182394" cy="669842"/>
          </a:xfrm>
          <a:prstGeom prst="wedgeRectCallout">
            <a:avLst>
              <a:gd name="adj1" fmla="val -64690"/>
              <a:gd name="adj2" fmla="val -43558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Abschnitt startet in RAM ab 1340000</a:t>
            </a:r>
          </a:p>
        </p:txBody>
      </p:sp>
      <p:sp>
        <p:nvSpPr>
          <p:cNvPr id="45" name="Rechteckige Legende 44"/>
          <p:cNvSpPr/>
          <p:nvPr/>
        </p:nvSpPr>
        <p:spPr>
          <a:xfrm>
            <a:off x="2339095" y="5977410"/>
            <a:ext cx="1182394" cy="669842"/>
          </a:xfrm>
          <a:prstGeom prst="wedgeRectCallout">
            <a:avLst>
              <a:gd name="adj1" fmla="val -61327"/>
              <a:gd name="adj2" fmla="val -93414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Abschnitt startet in RAM ab 10000</a:t>
            </a:r>
          </a:p>
        </p:txBody>
      </p:sp>
    </p:spTree>
    <p:extLst>
      <p:ext uri="{BB962C8B-B14F-4D97-AF65-F5344CB8AC3E}">
        <p14:creationId xmlns:p14="http://schemas.microsoft.com/office/powerpoint/2010/main" val="11315373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Hierarchische Seitentabellen bei IA32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435280" cy="2009263"/>
          </a:xfrm>
        </p:spPr>
        <p:txBody>
          <a:bodyPr>
            <a:normAutofit/>
          </a:bodyPr>
          <a:lstStyle/>
          <a:p>
            <a:r>
              <a:rPr lang="de-DE" sz="2800" dirty="0"/>
              <a:t>Oberste Bits (hier p</a:t>
            </a:r>
            <a:r>
              <a:rPr lang="de-DE" sz="2800" baseline="-25000" dirty="0"/>
              <a:t>1</a:t>
            </a:r>
            <a:r>
              <a:rPr lang="de-DE" sz="2800" dirty="0"/>
              <a:t>) einer logischen Adresse indexieren die </a:t>
            </a:r>
            <a:r>
              <a:rPr lang="de-DE" sz="2800" b="1" dirty="0">
                <a:solidFill>
                  <a:srgbClr val="FF0000"/>
                </a:solidFill>
              </a:rPr>
              <a:t>Page Directory</a:t>
            </a:r>
            <a:r>
              <a:rPr lang="de-DE" sz="2800" dirty="0"/>
              <a:t>, die Zeiger auf die Anfänge der einzelner Abschnitte enthält</a:t>
            </a:r>
          </a:p>
          <a:p>
            <a:pPr lvl="1"/>
            <a:r>
              <a:rPr lang="de-DE" sz="2500" dirty="0"/>
              <a:t>Bei IA32e gibt es 3 </a:t>
            </a:r>
            <a:r>
              <a:rPr lang="de-DE" sz="2500" dirty="0">
                <a:solidFill>
                  <a:srgbClr val="FF0000"/>
                </a:solidFill>
              </a:rPr>
              <a:t>Levels</a:t>
            </a:r>
            <a:r>
              <a:rPr lang="de-DE" sz="2500" dirty="0"/>
              <a:t> dieser </a:t>
            </a:r>
            <a:r>
              <a:rPr lang="de-DE" sz="2500" dirty="0" err="1"/>
              <a:t>Directories</a:t>
            </a:r>
            <a:r>
              <a:rPr lang="de-DE" sz="2500" dirty="0">
                <a:solidFill>
                  <a:schemeClr val="tx1"/>
                </a:solidFill>
              </a:rPr>
              <a:t> </a:t>
            </a:r>
            <a:endParaRPr lang="de-DE" sz="2500" dirty="0"/>
          </a:p>
          <a:p>
            <a:endParaRPr lang="de-DE" dirty="0"/>
          </a:p>
          <a:p>
            <a:endParaRPr lang="de-DE" dirty="0"/>
          </a:p>
          <a:p>
            <a:endParaRPr lang="de-DE" i="1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83533A-8A50-4A1F-BEA9-C8C6956451EB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4F27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4F271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" name="Picture 103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43608" y="3304663"/>
            <a:ext cx="7097713" cy="2994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feld 5"/>
          <p:cNvSpPr txBox="1"/>
          <p:nvPr/>
        </p:nvSpPr>
        <p:spPr>
          <a:xfrm>
            <a:off x="80201" y="5733583"/>
            <a:ext cx="431413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Page Directory</a:t>
            </a: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/Stufe 1: enthält Zeiger </a:t>
            </a:r>
            <a:b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</a:b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mit </a:t>
            </a: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physischen Adressen </a:t>
            </a: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auf Anfang </a:t>
            </a:r>
            <a:b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</a:b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eines Abschnitts/“Stückes“ der S-Tabelle</a:t>
            </a:r>
          </a:p>
        </p:txBody>
      </p:sp>
      <p:cxnSp>
        <p:nvCxnSpPr>
          <p:cNvPr id="8" name="Gerade Verbindung mit Pfeil 7"/>
          <p:cNvCxnSpPr/>
          <p:nvPr/>
        </p:nvCxnSpPr>
        <p:spPr>
          <a:xfrm flipV="1">
            <a:off x="2225393" y="4999289"/>
            <a:ext cx="573044" cy="723710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/>
          <p:cNvSpPr txBox="1"/>
          <p:nvPr/>
        </p:nvSpPr>
        <p:spPr>
          <a:xfrm>
            <a:off x="3281956" y="3310034"/>
            <a:ext cx="2634119" cy="6463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Physische Adresse </a:t>
            </a: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Anfangs des Abschnitts</a:t>
            </a:r>
          </a:p>
        </p:txBody>
      </p:sp>
      <p:cxnSp>
        <p:nvCxnSpPr>
          <p:cNvPr id="12" name="Gerade Verbindung mit Pfeil 11"/>
          <p:cNvCxnSpPr>
            <a:stCxn id="10" idx="2"/>
          </p:cNvCxnSpPr>
          <p:nvPr/>
        </p:nvCxnSpPr>
        <p:spPr>
          <a:xfrm flipH="1">
            <a:off x="4572000" y="3956365"/>
            <a:ext cx="27016" cy="716450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feld 12"/>
          <p:cNvSpPr txBox="1"/>
          <p:nvPr/>
        </p:nvSpPr>
        <p:spPr>
          <a:xfrm>
            <a:off x="6084168" y="3304663"/>
            <a:ext cx="2416111" cy="6463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Stufe 2: ein Abschnitt </a:t>
            </a:r>
            <a:b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</a:b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der Seitentabelle</a:t>
            </a:r>
          </a:p>
        </p:txBody>
      </p:sp>
      <p:cxnSp>
        <p:nvCxnSpPr>
          <p:cNvPr id="15" name="Gerade Verbindung mit Pfeil 14"/>
          <p:cNvCxnSpPr>
            <a:stCxn id="13" idx="2"/>
          </p:cNvCxnSpPr>
          <p:nvPr/>
        </p:nvCxnSpPr>
        <p:spPr>
          <a:xfrm flipH="1">
            <a:off x="6012162" y="3950994"/>
            <a:ext cx="1280062" cy="793830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feld 15"/>
          <p:cNvSpPr txBox="1"/>
          <p:nvPr/>
        </p:nvSpPr>
        <p:spPr>
          <a:xfrm>
            <a:off x="851438" y="3176550"/>
            <a:ext cx="192879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logische Adresse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9262" y="5791272"/>
            <a:ext cx="2698175" cy="64633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Übersetzung wie bei der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direkten Seitentabelle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7840" y="4500538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Physischer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Speicher</a:t>
            </a:r>
          </a:p>
        </p:txBody>
      </p:sp>
      <p:cxnSp>
        <p:nvCxnSpPr>
          <p:cNvPr id="19" name="Straight Arrow Connector 18"/>
          <p:cNvCxnSpPr>
            <a:stCxn id="14" idx="0"/>
          </p:cNvCxnSpPr>
          <p:nvPr/>
        </p:nvCxnSpPr>
        <p:spPr>
          <a:xfrm flipH="1" flipV="1">
            <a:off x="5724128" y="5287216"/>
            <a:ext cx="84222" cy="504056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0525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Bitzählung: Nützliche Zusammenhänge /1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83533A-8A50-4A1F-BEA9-C8C6956451EB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4F27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4F271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Inhaltsplatzhalter 4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633736"/>
          </a:xfrm>
        </p:spPr>
        <p:txBody>
          <a:bodyPr>
            <a:normAutofit fontScale="92500"/>
          </a:bodyPr>
          <a:lstStyle/>
          <a:p>
            <a:r>
              <a:rPr lang="de-DE" dirty="0"/>
              <a:t>Die Adressübersetzung funktioniert durch das Ersetzen (in der Adresse) der Seitennummer </a:t>
            </a:r>
            <a:r>
              <a:rPr lang="de-DE" b="1" dirty="0">
                <a:solidFill>
                  <a:srgbClr val="0070C0"/>
                </a:solidFill>
              </a:rPr>
              <a:t>p </a:t>
            </a:r>
            <a:r>
              <a:rPr lang="de-DE" dirty="0"/>
              <a:t>durch eine (eigentlich beliebige) </a:t>
            </a:r>
            <a:r>
              <a:rPr lang="de-DE" dirty="0">
                <a:latin typeface="Helvetica" charset="0"/>
              </a:rPr>
              <a:t>Seiten</a:t>
            </a:r>
            <a:r>
              <a:rPr lang="de-DE" b="1" dirty="0">
                <a:solidFill>
                  <a:srgbClr val="FF0000"/>
                </a:solidFill>
                <a:latin typeface="Helvetica" charset="0"/>
              </a:rPr>
              <a:t>rahmen</a:t>
            </a:r>
            <a:r>
              <a:rPr lang="de-DE" dirty="0">
                <a:latin typeface="Helvetica" charset="0"/>
              </a:rPr>
              <a:t>nummer </a:t>
            </a:r>
            <a:r>
              <a:rPr lang="de-DE" b="1" dirty="0">
                <a:solidFill>
                  <a:srgbClr val="7030A0"/>
                </a:solidFill>
                <a:latin typeface="Helvetica" charset="0"/>
              </a:rPr>
              <a:t>f</a:t>
            </a:r>
            <a:r>
              <a:rPr lang="de-DE" b="1" dirty="0">
                <a:solidFill>
                  <a:srgbClr val="FFC000"/>
                </a:solidFill>
                <a:latin typeface="Helvetica" charset="0"/>
              </a:rPr>
              <a:t> </a:t>
            </a:r>
          </a:p>
          <a:p>
            <a:r>
              <a:rPr lang="de-DE" dirty="0"/>
              <a:t>Die Bits des Seitenoffsets </a:t>
            </a:r>
            <a:r>
              <a:rPr lang="en-US" b="1" dirty="0">
                <a:solidFill>
                  <a:srgbClr val="FF0000"/>
                </a:solidFill>
                <a:latin typeface="Helvetica" charset="0"/>
              </a:rPr>
              <a:t>d </a:t>
            </a:r>
            <a:r>
              <a:rPr lang="de-DE" dirty="0"/>
              <a:t>werden direkt übernommen</a:t>
            </a:r>
            <a:endParaRPr lang="de-DE" b="1" dirty="0">
              <a:solidFill>
                <a:srgbClr val="0070C0"/>
              </a:solidFill>
            </a:endParaRPr>
          </a:p>
          <a:p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>
          <a:xfrm>
            <a:off x="467544" y="4725144"/>
            <a:ext cx="8568952" cy="1800200"/>
          </a:xfrm>
        </p:spPr>
        <p:txBody>
          <a:bodyPr>
            <a:normAutofit/>
          </a:bodyPr>
          <a:lstStyle/>
          <a:p>
            <a:r>
              <a:rPr lang="de-DE" dirty="0"/>
              <a:t>Sei </a:t>
            </a:r>
            <a:r>
              <a:rPr lang="de-DE" b="1" dirty="0">
                <a:solidFill>
                  <a:srgbClr val="0070C0"/>
                </a:solidFill>
              </a:rPr>
              <a:t>S</a:t>
            </a:r>
            <a:r>
              <a:rPr lang="de-DE" dirty="0"/>
              <a:t> die Seitengröße (in Bytes), </a:t>
            </a:r>
            <a:r>
              <a:rPr lang="de-DE" b="1" dirty="0">
                <a:solidFill>
                  <a:srgbClr val="0070C0"/>
                </a:solidFill>
              </a:rPr>
              <a:t>N</a:t>
            </a:r>
            <a:r>
              <a:rPr lang="de-DE" dirty="0"/>
              <a:t> die Busbreite (in Bits, z.B. N=32), </a:t>
            </a:r>
            <a:r>
              <a:rPr lang="de-DE" b="1" dirty="0">
                <a:solidFill>
                  <a:srgbClr val="0070C0"/>
                </a:solidFill>
              </a:rPr>
              <a:t>B</a:t>
            </a:r>
            <a:r>
              <a:rPr lang="de-DE" dirty="0"/>
              <a:t>(..) die Anzahlen der Bits von p, f, d</a:t>
            </a:r>
          </a:p>
          <a:p>
            <a:r>
              <a:rPr lang="de-DE" dirty="0"/>
              <a:t>Was sind die Zusammenhänge zwischen S, N, B(p) (= B(f)), B(d), usw.?</a:t>
            </a:r>
          </a:p>
        </p:txBody>
      </p:sp>
      <p:grpSp>
        <p:nvGrpSpPr>
          <p:cNvPr id="7" name="Gruppieren 13"/>
          <p:cNvGrpSpPr/>
          <p:nvPr/>
        </p:nvGrpSpPr>
        <p:grpSpPr>
          <a:xfrm>
            <a:off x="4312878" y="3312842"/>
            <a:ext cx="4251679" cy="1136406"/>
            <a:chOff x="-143759" y="5273408"/>
            <a:chExt cx="4386348" cy="1436862"/>
          </a:xfrm>
        </p:grpSpPr>
        <p:grpSp>
          <p:nvGrpSpPr>
            <p:cNvPr id="8" name="Gruppieren 12"/>
            <p:cNvGrpSpPr/>
            <p:nvPr/>
          </p:nvGrpSpPr>
          <p:grpSpPr>
            <a:xfrm>
              <a:off x="-143759" y="5273408"/>
              <a:ext cx="4386348" cy="1016925"/>
              <a:chOff x="1512425" y="5273408"/>
              <a:chExt cx="4386348" cy="1016925"/>
            </a:xfrm>
          </p:grpSpPr>
          <p:sp>
            <p:nvSpPr>
              <p:cNvPr id="11" name="Rectangle 1028"/>
              <p:cNvSpPr>
                <a:spLocks noChangeArrowheads="1"/>
              </p:cNvSpPr>
              <p:nvPr/>
            </p:nvSpPr>
            <p:spPr bwMode="auto">
              <a:xfrm>
                <a:off x="2722439" y="5788124"/>
                <a:ext cx="3105150" cy="43815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2" name="Line 1030"/>
              <p:cNvSpPr>
                <a:spLocks noChangeShapeType="1"/>
              </p:cNvSpPr>
              <p:nvPr/>
            </p:nvSpPr>
            <p:spPr bwMode="auto">
              <a:xfrm>
                <a:off x="4355976" y="5445224"/>
                <a:ext cx="0" cy="76200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3" name="Text Box 1031"/>
              <p:cNvSpPr txBox="1">
                <a:spLocks noChangeArrowheads="1"/>
              </p:cNvSpPr>
              <p:nvPr/>
            </p:nvSpPr>
            <p:spPr bwMode="auto">
              <a:xfrm>
                <a:off x="1512425" y="5273408"/>
                <a:ext cx="3006754" cy="46698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500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Helvetica" charset="0"/>
                    <a:ea typeface="+mn-ea"/>
                    <a:cs typeface="+mn-cs"/>
                  </a:rPr>
                  <a:t>Seiten</a:t>
                </a:r>
                <a:r>
                  <a:rPr kumimoji="0" lang="de-D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Helvetica" charset="0"/>
                    <a:ea typeface="+mn-ea"/>
                    <a:cs typeface="+mn-cs"/>
                  </a:rPr>
                  <a:t>rahmen</a:t>
                </a:r>
                <a:r>
                  <a:rPr kumimoji="0" lang="de-DE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Helvetica" charset="0"/>
                    <a:ea typeface="+mn-ea"/>
                    <a:cs typeface="+mn-cs"/>
                  </a:rPr>
                  <a:t>nummer</a:t>
                </a:r>
              </a:p>
            </p:txBody>
          </p:sp>
          <p:sp>
            <p:nvSpPr>
              <p:cNvPr id="14" name="Text Box 1032"/>
              <p:cNvSpPr txBox="1">
                <a:spLocks noChangeArrowheads="1"/>
              </p:cNvSpPr>
              <p:nvPr/>
            </p:nvSpPr>
            <p:spPr bwMode="auto">
              <a:xfrm>
                <a:off x="4499992" y="5301208"/>
                <a:ext cx="1398781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500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Helvetica" charset="0"/>
                    <a:ea typeface="+mn-ea"/>
                    <a:cs typeface="+mn-cs"/>
                  </a:rPr>
                  <a:t>Seitenoffset</a:t>
                </a:r>
              </a:p>
            </p:txBody>
          </p:sp>
          <p:sp>
            <p:nvSpPr>
              <p:cNvPr id="15" name="Text Box 1033"/>
              <p:cNvSpPr txBox="1">
                <a:spLocks noChangeArrowheads="1"/>
              </p:cNvSpPr>
              <p:nvPr/>
            </p:nvSpPr>
            <p:spPr bwMode="auto">
              <a:xfrm>
                <a:off x="3253162" y="5706607"/>
                <a:ext cx="296358" cy="58372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500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2400" b="1" i="1" u="none" strike="noStrike" kern="1200" cap="none" spc="0" normalizeH="0" baseline="0" noProof="0" dirty="0">
                    <a:ln>
                      <a:noFill/>
                    </a:ln>
                    <a:solidFill>
                      <a:srgbClr val="7030A0"/>
                    </a:solidFill>
                    <a:effectLst/>
                    <a:uLnTx/>
                    <a:uFillTx/>
                    <a:latin typeface="Helvetica" charset="0"/>
                    <a:ea typeface="+mn-ea"/>
                    <a:cs typeface="+mn-cs"/>
                  </a:rPr>
                  <a:t>f</a:t>
                </a:r>
                <a:endParaRPr kumimoji="0" 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Helvetica" charset="0"/>
                  <a:ea typeface="+mn-ea"/>
                  <a:cs typeface="+mn-cs"/>
                </a:endParaRPr>
              </a:p>
            </p:txBody>
          </p:sp>
        </p:grpSp>
        <p:sp>
          <p:nvSpPr>
            <p:cNvPr id="9" name="Text Box 1036"/>
            <p:cNvSpPr txBox="1">
              <a:spLocks noChangeArrowheads="1"/>
            </p:cNvSpPr>
            <p:nvPr/>
          </p:nvSpPr>
          <p:spPr bwMode="auto">
            <a:xfrm>
              <a:off x="1250678" y="6243290"/>
              <a:ext cx="1368152" cy="46698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1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Helvetica" charset="0"/>
                  <a:ea typeface="+mn-ea"/>
                  <a:cs typeface="+mn-cs"/>
                </a:rPr>
                <a:t>B(f)</a:t>
              </a:r>
              <a:r>
                <a:rPr kumimoji="0" lang="en-US" sz="1800" b="1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+mn-ea"/>
                  <a:cs typeface="+mn-cs"/>
                </a:rPr>
                <a:t> </a:t>
              </a: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+mn-ea"/>
                  <a:cs typeface="+mn-cs"/>
                </a:rPr>
                <a:t>Bits</a:t>
              </a:r>
            </a:p>
          </p:txBody>
        </p:sp>
        <p:sp>
          <p:nvSpPr>
            <p:cNvPr id="10" name="Text Box 1038"/>
            <p:cNvSpPr txBox="1">
              <a:spLocks noChangeArrowheads="1"/>
            </p:cNvSpPr>
            <p:nvPr/>
          </p:nvSpPr>
          <p:spPr bwMode="auto">
            <a:xfrm>
              <a:off x="2862995" y="6243290"/>
              <a:ext cx="1188319" cy="46698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1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Helvetica" charset="0"/>
                  <a:ea typeface="+mn-ea"/>
                  <a:cs typeface="+mn-cs"/>
                </a:rPr>
                <a:t>B(d)  </a:t>
              </a: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+mn-ea"/>
                  <a:cs typeface="+mn-cs"/>
                </a:rPr>
                <a:t>Bits</a:t>
              </a:r>
            </a:p>
          </p:txBody>
        </p:sp>
      </p:grpSp>
      <p:grpSp>
        <p:nvGrpSpPr>
          <p:cNvPr id="17" name="Gruppieren 16"/>
          <p:cNvGrpSpPr/>
          <p:nvPr/>
        </p:nvGrpSpPr>
        <p:grpSpPr>
          <a:xfrm>
            <a:off x="571691" y="3282607"/>
            <a:ext cx="3317524" cy="1166642"/>
            <a:chOff x="819985" y="5252383"/>
            <a:chExt cx="3422604" cy="1475094"/>
          </a:xfrm>
        </p:grpSpPr>
        <p:grpSp>
          <p:nvGrpSpPr>
            <p:cNvPr id="18" name="Gruppieren 17"/>
            <p:cNvGrpSpPr/>
            <p:nvPr/>
          </p:nvGrpSpPr>
          <p:grpSpPr>
            <a:xfrm>
              <a:off x="819985" y="5252383"/>
              <a:ext cx="3422604" cy="1037949"/>
              <a:chOff x="2476169" y="5252383"/>
              <a:chExt cx="3422604" cy="1037949"/>
            </a:xfrm>
          </p:grpSpPr>
          <p:sp>
            <p:nvSpPr>
              <p:cNvPr id="21" name="Rectangle 1028"/>
              <p:cNvSpPr>
                <a:spLocks noChangeArrowheads="1"/>
              </p:cNvSpPr>
              <p:nvPr/>
            </p:nvSpPr>
            <p:spPr bwMode="auto">
              <a:xfrm>
                <a:off x="2722439" y="5788124"/>
                <a:ext cx="3105150" cy="43815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2" name="Line 1030"/>
              <p:cNvSpPr>
                <a:spLocks noChangeShapeType="1"/>
              </p:cNvSpPr>
              <p:nvPr/>
            </p:nvSpPr>
            <p:spPr bwMode="auto">
              <a:xfrm>
                <a:off x="4355976" y="5445224"/>
                <a:ext cx="0" cy="76200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de-DE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3" name="Text Box 1031"/>
              <p:cNvSpPr txBox="1">
                <a:spLocks noChangeArrowheads="1"/>
              </p:cNvSpPr>
              <p:nvPr/>
            </p:nvSpPr>
            <p:spPr bwMode="auto">
              <a:xfrm>
                <a:off x="2476169" y="5252383"/>
                <a:ext cx="1844293" cy="46698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500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Helvetica" charset="0"/>
                    <a:ea typeface="+mn-ea"/>
                    <a:cs typeface="+mn-cs"/>
                  </a:rPr>
                  <a:t>Seitennummer</a:t>
                </a:r>
              </a:p>
            </p:txBody>
          </p:sp>
          <p:sp>
            <p:nvSpPr>
              <p:cNvPr id="24" name="Text Box 1032"/>
              <p:cNvSpPr txBox="1">
                <a:spLocks noChangeArrowheads="1"/>
              </p:cNvSpPr>
              <p:nvPr/>
            </p:nvSpPr>
            <p:spPr bwMode="auto">
              <a:xfrm>
                <a:off x="4499992" y="5301208"/>
                <a:ext cx="1398781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500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de-D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Helvetica" charset="0"/>
                    <a:ea typeface="+mn-ea"/>
                    <a:cs typeface="+mn-cs"/>
                  </a:rPr>
                  <a:t>Seitenoffset</a:t>
                </a:r>
              </a:p>
            </p:txBody>
          </p:sp>
          <p:sp>
            <p:nvSpPr>
              <p:cNvPr id="25" name="Text Box 1033"/>
              <p:cNvSpPr txBox="1">
                <a:spLocks noChangeArrowheads="1"/>
              </p:cNvSpPr>
              <p:nvPr/>
            </p:nvSpPr>
            <p:spPr bwMode="auto">
              <a:xfrm>
                <a:off x="3240047" y="5706606"/>
                <a:ext cx="384008" cy="58372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500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1" i="1" u="none" strike="noStrike" kern="1200" cap="none" spc="0" normalizeH="0" baseline="0" noProof="0" dirty="0">
                    <a:ln>
                      <a:noFill/>
                    </a:ln>
                    <a:solidFill>
                      <a:srgbClr val="7030A0"/>
                    </a:solidFill>
                    <a:effectLst/>
                    <a:uLnTx/>
                    <a:uFillTx/>
                    <a:latin typeface="Helvetica" charset="0"/>
                    <a:ea typeface="+mn-ea"/>
                    <a:cs typeface="+mn-cs"/>
                  </a:rPr>
                  <a:t>p</a:t>
                </a:r>
              </a:p>
            </p:txBody>
          </p:sp>
          <p:sp>
            <p:nvSpPr>
              <p:cNvPr id="26" name="Text Box 1035"/>
              <p:cNvSpPr txBox="1">
                <a:spLocks noChangeArrowheads="1"/>
              </p:cNvSpPr>
              <p:nvPr/>
            </p:nvSpPr>
            <p:spPr bwMode="auto">
              <a:xfrm>
                <a:off x="4879428" y="5737208"/>
                <a:ext cx="352585" cy="50589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500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Helvetica" charset="0"/>
                    <a:ea typeface="+mn-ea"/>
                    <a:cs typeface="+mn-cs"/>
                  </a:rPr>
                  <a:t>d</a:t>
                </a:r>
              </a:p>
            </p:txBody>
          </p:sp>
        </p:grpSp>
        <p:sp>
          <p:nvSpPr>
            <p:cNvPr id="19" name="Text Box 1036"/>
            <p:cNvSpPr txBox="1">
              <a:spLocks noChangeArrowheads="1"/>
            </p:cNvSpPr>
            <p:nvPr/>
          </p:nvSpPr>
          <p:spPr bwMode="auto">
            <a:xfrm>
              <a:off x="1259632" y="6260496"/>
              <a:ext cx="1368152" cy="46698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1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Helvetica" charset="0"/>
                  <a:ea typeface="+mn-ea"/>
                  <a:cs typeface="+mn-cs"/>
                </a:rPr>
                <a:t>B(p)</a:t>
              </a:r>
              <a:r>
                <a:rPr kumimoji="0" lang="en-US" sz="1800" b="1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+mn-ea"/>
                  <a:cs typeface="+mn-cs"/>
                </a:rPr>
                <a:t>  </a:t>
              </a: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+mn-ea"/>
                  <a:cs typeface="+mn-cs"/>
                </a:rPr>
                <a:t>Bits</a:t>
              </a:r>
            </a:p>
          </p:txBody>
        </p:sp>
        <p:sp>
          <p:nvSpPr>
            <p:cNvPr id="20" name="Text Box 1038"/>
            <p:cNvSpPr txBox="1">
              <a:spLocks noChangeArrowheads="1"/>
            </p:cNvSpPr>
            <p:nvPr/>
          </p:nvSpPr>
          <p:spPr bwMode="auto">
            <a:xfrm>
              <a:off x="2843808" y="6260495"/>
              <a:ext cx="1188318" cy="46698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1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Helvetica" charset="0"/>
                  <a:ea typeface="+mn-ea"/>
                  <a:cs typeface="+mn-cs"/>
                </a:rPr>
                <a:t>B(d)</a:t>
              </a:r>
              <a:r>
                <a:rPr kumimoji="0" lang="en-US" sz="1800" b="1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+mn-ea"/>
                  <a:cs typeface="+mn-cs"/>
                </a:rPr>
                <a:t>  </a:t>
              </a: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+mn-ea"/>
                  <a:cs typeface="+mn-cs"/>
                </a:rPr>
                <a:t>Bits</a:t>
              </a:r>
            </a:p>
          </p:txBody>
        </p:sp>
      </p:grpSp>
      <p:sp>
        <p:nvSpPr>
          <p:cNvPr id="27" name="Pfeil nach rechts 26"/>
          <p:cNvSpPr/>
          <p:nvPr/>
        </p:nvSpPr>
        <p:spPr>
          <a:xfrm>
            <a:off x="4096854" y="3672881"/>
            <a:ext cx="720080" cy="360040"/>
          </a:xfrm>
          <a:prstGeom prst="rightArrow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" name="Textfeld 27"/>
          <p:cNvSpPr txBox="1"/>
          <p:nvPr/>
        </p:nvSpPr>
        <p:spPr>
          <a:xfrm>
            <a:off x="1288542" y="2952801"/>
            <a:ext cx="1928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logische Adresse</a:t>
            </a:r>
          </a:p>
        </p:txBody>
      </p:sp>
      <p:sp>
        <p:nvSpPr>
          <p:cNvPr id="29" name="Textfeld 28"/>
          <p:cNvSpPr txBox="1"/>
          <p:nvPr/>
        </p:nvSpPr>
        <p:spPr>
          <a:xfrm>
            <a:off x="5897054" y="2952801"/>
            <a:ext cx="2108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physische Adresse</a:t>
            </a:r>
          </a:p>
        </p:txBody>
      </p:sp>
      <p:sp>
        <p:nvSpPr>
          <p:cNvPr id="30" name="Text Box 1035"/>
          <p:cNvSpPr txBox="1">
            <a:spLocks noChangeArrowheads="1"/>
          </p:cNvSpPr>
          <p:nvPr/>
        </p:nvSpPr>
        <p:spPr bwMode="auto">
          <a:xfrm>
            <a:off x="7573183" y="3663680"/>
            <a:ext cx="34176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Helvetica" charset="0"/>
                <a:ea typeface="+mn-ea"/>
                <a:cs typeface="+mn-cs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68794941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Bitzählung: Nützliche Zusammenhänge /2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83533A-8A50-4A1F-BEA9-C8C6956451EB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4F27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4F271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579296" cy="2065784"/>
          </a:xfrm>
        </p:spPr>
        <p:txBody>
          <a:bodyPr/>
          <a:lstStyle/>
          <a:p>
            <a:r>
              <a:rPr lang="de-DE" dirty="0"/>
              <a:t>Da </a:t>
            </a:r>
            <a:r>
              <a:rPr lang="de-DE" dirty="0">
                <a:solidFill>
                  <a:srgbClr val="0070C0"/>
                </a:solidFill>
              </a:rPr>
              <a:t>d</a:t>
            </a:r>
            <a:r>
              <a:rPr lang="de-DE" dirty="0"/>
              <a:t> die Offset-Adresse </a:t>
            </a:r>
            <a:r>
              <a:rPr lang="de-DE" u="sng" dirty="0"/>
              <a:t>innerhalb</a:t>
            </a:r>
            <a:r>
              <a:rPr lang="de-DE" dirty="0"/>
              <a:t> einer Seite ist, muss </a:t>
            </a:r>
            <a:r>
              <a:rPr lang="de-DE" dirty="0">
                <a:solidFill>
                  <a:srgbClr val="0070C0"/>
                </a:solidFill>
              </a:rPr>
              <a:t>2</a:t>
            </a:r>
            <a:r>
              <a:rPr lang="de-DE" baseline="30000" dirty="0">
                <a:solidFill>
                  <a:srgbClr val="0070C0"/>
                </a:solidFill>
              </a:rPr>
              <a:t>B(d)</a:t>
            </a:r>
            <a:r>
              <a:rPr lang="de-DE" dirty="0"/>
              <a:t> (=Anzahl dieser Adressen) mindestens </a:t>
            </a:r>
            <a:r>
              <a:rPr lang="de-DE" dirty="0">
                <a:solidFill>
                  <a:srgbClr val="0070C0"/>
                </a:solidFill>
              </a:rPr>
              <a:t>S</a:t>
            </a:r>
            <a:r>
              <a:rPr lang="de-DE" dirty="0"/>
              <a:t> sein</a:t>
            </a:r>
          </a:p>
          <a:p>
            <a:pPr lvl="1"/>
            <a:r>
              <a:rPr lang="de-DE" dirty="0"/>
              <a:t>=&gt; Annahme: </a:t>
            </a:r>
            <a:r>
              <a:rPr lang="de-DE" b="1" dirty="0">
                <a:solidFill>
                  <a:srgbClr val="FF0000"/>
                </a:solidFill>
              </a:rPr>
              <a:t>S = 2</a:t>
            </a:r>
            <a:r>
              <a:rPr lang="de-DE" b="1" baseline="30000" dirty="0">
                <a:solidFill>
                  <a:srgbClr val="FF0000"/>
                </a:solidFill>
              </a:rPr>
              <a:t>B(d)</a:t>
            </a:r>
            <a:r>
              <a:rPr lang="de-DE" dirty="0"/>
              <a:t>, bzw. </a:t>
            </a:r>
            <a:r>
              <a:rPr lang="de-DE" dirty="0">
                <a:solidFill>
                  <a:srgbClr val="FF0000"/>
                </a:solidFill>
              </a:rPr>
              <a:t>B(d) = Zweierlogarithmus(S)</a:t>
            </a:r>
          </a:p>
          <a:p>
            <a:r>
              <a:rPr lang="de-DE" dirty="0"/>
              <a:t>Wie groß ist </a:t>
            </a:r>
            <a:r>
              <a:rPr lang="de-DE" dirty="0">
                <a:solidFill>
                  <a:srgbClr val="0070C0"/>
                </a:solidFill>
              </a:rPr>
              <a:t>B(p)</a:t>
            </a:r>
            <a:r>
              <a:rPr lang="de-DE" dirty="0"/>
              <a:t> (und damit auch </a:t>
            </a:r>
            <a:r>
              <a:rPr lang="de-DE" dirty="0">
                <a:solidFill>
                  <a:srgbClr val="0070C0"/>
                </a:solidFill>
              </a:rPr>
              <a:t>B(f)</a:t>
            </a:r>
            <a:r>
              <a:rPr lang="de-DE" dirty="0"/>
              <a:t>)?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13"/>
          </p:nvPr>
        </p:nvSpPr>
        <p:spPr>
          <a:xfrm>
            <a:off x="467544" y="2996952"/>
            <a:ext cx="8208912" cy="3528392"/>
          </a:xfrm>
        </p:spPr>
        <p:txBody>
          <a:bodyPr>
            <a:normAutofit/>
          </a:bodyPr>
          <a:lstStyle/>
          <a:p>
            <a:pPr lvl="1"/>
            <a:r>
              <a:rPr lang="de-DE" dirty="0"/>
              <a:t>In einer N-Bit Adresse haben wir (neben B(d) Offset-Bits) noch genau N-B(d) Bits übrig, also </a:t>
            </a:r>
            <a:r>
              <a:rPr lang="de-DE" b="1" dirty="0">
                <a:solidFill>
                  <a:srgbClr val="FF0000"/>
                </a:solidFill>
              </a:rPr>
              <a:t>B(p) = B(f) = N-B(d)</a:t>
            </a:r>
          </a:p>
          <a:p>
            <a:r>
              <a:rPr lang="de-DE" dirty="0"/>
              <a:t>Wie viele Einträge hat eine vollständige </a:t>
            </a:r>
            <a:r>
              <a:rPr lang="de-DE" dirty="0">
                <a:solidFill>
                  <a:srgbClr val="0070C0"/>
                </a:solidFill>
              </a:rPr>
              <a:t>direkte Seitentabelle</a:t>
            </a:r>
            <a:r>
              <a:rPr lang="de-DE" dirty="0"/>
              <a:t>? </a:t>
            </a:r>
          </a:p>
          <a:p>
            <a:pPr lvl="1"/>
            <a:r>
              <a:rPr lang="de-DE" dirty="0"/>
              <a:t>Genau </a:t>
            </a:r>
            <a:r>
              <a:rPr lang="de-DE" b="1" dirty="0">
                <a:solidFill>
                  <a:srgbClr val="FF0000"/>
                </a:solidFill>
              </a:rPr>
              <a:t>2</a:t>
            </a:r>
            <a:r>
              <a:rPr lang="de-DE" b="1" baseline="30000" dirty="0">
                <a:solidFill>
                  <a:srgbClr val="FF0000"/>
                </a:solidFill>
              </a:rPr>
              <a:t>B(p)</a:t>
            </a:r>
            <a:r>
              <a:rPr lang="de-DE" dirty="0"/>
              <a:t> = Maximale Anzahl der Seitennummern</a:t>
            </a:r>
          </a:p>
          <a:p>
            <a:endParaRPr lang="de-DE" sz="2500" dirty="0"/>
          </a:p>
          <a:p>
            <a:r>
              <a:rPr lang="de-DE" sz="2500" dirty="0"/>
              <a:t>[Wie viele Einträge hat eine </a:t>
            </a:r>
            <a:r>
              <a:rPr lang="de-DE" sz="2500" dirty="0">
                <a:solidFill>
                  <a:srgbClr val="0070C0"/>
                </a:solidFill>
              </a:rPr>
              <a:t>invertierte Seitentabelle</a:t>
            </a:r>
            <a:r>
              <a:rPr lang="de-DE" sz="2500" dirty="0"/>
              <a:t>?</a:t>
            </a:r>
          </a:p>
          <a:p>
            <a:pPr lvl="1"/>
            <a:r>
              <a:rPr lang="de-DE" dirty="0"/>
              <a:t>Maximalanzahl der Rahmen = </a:t>
            </a:r>
            <a:r>
              <a:rPr lang="de-DE" b="1" dirty="0">
                <a:solidFill>
                  <a:srgbClr val="FF0000"/>
                </a:solidFill>
              </a:rPr>
              <a:t>(Größe des RAMs) / S</a:t>
            </a:r>
            <a:r>
              <a:rPr lang="de-DE" dirty="0"/>
              <a:t>]</a:t>
            </a:r>
            <a:endParaRPr lang="de-DE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853855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Bitzählung: Beispiele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83533A-8A50-4A1F-BEA9-C8C6956451EB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4F27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4F271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579296" cy="1417712"/>
          </a:xfrm>
        </p:spPr>
        <p:txBody>
          <a:bodyPr/>
          <a:lstStyle/>
          <a:p>
            <a:r>
              <a:rPr lang="de-DE" dirty="0"/>
              <a:t>Sei N=32 (z.B. IA32) und Seitengröße S = 4096 Bytes</a:t>
            </a:r>
          </a:p>
          <a:p>
            <a:pPr lvl="1"/>
            <a:r>
              <a:rPr lang="de-DE" dirty="0"/>
              <a:t>Was sind B(d), B(p)=B(f) und die Anzahl der Einträge der direkten Seitentabelle?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13"/>
          </p:nvPr>
        </p:nvSpPr>
        <p:spPr>
          <a:xfrm>
            <a:off x="467544" y="2564904"/>
            <a:ext cx="8496944" cy="2880320"/>
          </a:xfrm>
        </p:spPr>
        <p:txBody>
          <a:bodyPr>
            <a:normAutofit lnSpcReduction="10000"/>
          </a:bodyPr>
          <a:lstStyle/>
          <a:p>
            <a:pPr lvl="1"/>
            <a:r>
              <a:rPr lang="de-DE" dirty="0"/>
              <a:t>Es ist 2</a:t>
            </a:r>
            <a:r>
              <a:rPr lang="de-DE" baseline="30000" dirty="0"/>
              <a:t>12</a:t>
            </a:r>
            <a:r>
              <a:rPr lang="de-DE" dirty="0"/>
              <a:t> = S, also B(d) = 12 (Bits)</a:t>
            </a:r>
            <a:endParaRPr lang="de-DE" b="1" dirty="0">
              <a:solidFill>
                <a:srgbClr val="FF0000"/>
              </a:solidFill>
            </a:endParaRPr>
          </a:p>
          <a:p>
            <a:pPr lvl="1"/>
            <a:r>
              <a:rPr lang="de-DE" dirty="0"/>
              <a:t>Damit ist B(p) = 32 – 12 = 20 (Bits)</a:t>
            </a:r>
          </a:p>
          <a:p>
            <a:pPr lvl="1"/>
            <a:r>
              <a:rPr lang="de-DE" dirty="0"/>
              <a:t>Anzahl der Einträge in Seitentabelle = 2</a:t>
            </a:r>
            <a:r>
              <a:rPr lang="de-DE" baseline="30000" dirty="0"/>
              <a:t>B(p)</a:t>
            </a:r>
            <a:r>
              <a:rPr lang="de-DE" dirty="0"/>
              <a:t> = 2</a:t>
            </a:r>
            <a:r>
              <a:rPr lang="de-DE" baseline="30000" dirty="0"/>
              <a:t>20</a:t>
            </a:r>
            <a:r>
              <a:rPr lang="de-DE" dirty="0"/>
              <a:t> </a:t>
            </a:r>
          </a:p>
          <a:p>
            <a:pPr lvl="1"/>
            <a:endParaRPr lang="de-DE" dirty="0"/>
          </a:p>
          <a:p>
            <a:r>
              <a:rPr lang="de-DE" dirty="0"/>
              <a:t>Sei N=64, Seitengröße=1024 Bytes, RAM-Größe=1GB und eine </a:t>
            </a:r>
            <a:r>
              <a:rPr lang="de-DE" dirty="0">
                <a:solidFill>
                  <a:srgbClr val="0070C0"/>
                </a:solidFill>
              </a:rPr>
              <a:t>invertierte</a:t>
            </a:r>
            <a:r>
              <a:rPr lang="de-DE" dirty="0"/>
              <a:t> Seitentabelle</a:t>
            </a:r>
          </a:p>
          <a:p>
            <a:pPr lvl="1"/>
            <a:r>
              <a:rPr lang="de-DE" dirty="0"/>
              <a:t>Was ist B(d), B(p), die Anzahl der Einträge der </a:t>
            </a:r>
            <a:r>
              <a:rPr lang="de-DE" dirty="0" err="1"/>
              <a:t>Seitentab</a:t>
            </a:r>
            <a:r>
              <a:rPr lang="de-DE" dirty="0"/>
              <a:t>.?</a:t>
            </a:r>
          </a:p>
        </p:txBody>
      </p:sp>
      <p:sp>
        <p:nvSpPr>
          <p:cNvPr id="6" name="Inhaltsplatzhalter 4"/>
          <p:cNvSpPr txBox="1">
            <a:spLocks/>
          </p:cNvSpPr>
          <p:nvPr/>
        </p:nvSpPr>
        <p:spPr>
          <a:xfrm>
            <a:off x="460589" y="5229200"/>
            <a:ext cx="8496944" cy="1368152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48640" marR="0" lvl="1" indent="-27432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EB80A"/>
              </a:buClr>
              <a:buSzPct val="76000"/>
              <a:buFont typeface="Wingdings 3"/>
              <a:buChar char=""/>
              <a:tabLst/>
              <a:defRPr/>
            </a:pPr>
            <a:r>
              <a:rPr kumimoji="0" lang="de-DE" sz="2300" b="0" i="0" u="none" strike="noStrike" kern="1200" cap="none" spc="0" normalizeH="0" baseline="0" noProof="0" dirty="0">
                <a:ln>
                  <a:noFill/>
                </a:ln>
                <a:solidFill>
                  <a:srgbClr val="4F27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=&gt; B(d) = log</a:t>
            </a:r>
            <a:r>
              <a:rPr kumimoji="0" lang="de-DE" sz="2300" b="0" i="0" u="none" strike="noStrike" kern="1200" cap="none" spc="0" normalizeH="0" baseline="-25000" noProof="0" dirty="0">
                <a:ln>
                  <a:noFill/>
                </a:ln>
                <a:solidFill>
                  <a:srgbClr val="4F27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</a:t>
            </a:r>
            <a:r>
              <a:rPr kumimoji="0" lang="de-DE" sz="2300" b="0" i="0" u="none" strike="noStrike" kern="1200" cap="none" spc="0" normalizeH="0" baseline="0" noProof="0" dirty="0">
                <a:ln>
                  <a:noFill/>
                </a:ln>
                <a:solidFill>
                  <a:srgbClr val="4F27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(1024) = 10, B(p) = 64-10 = 54</a:t>
            </a:r>
          </a:p>
          <a:p>
            <a:pPr marL="548640" marR="0" lvl="1" indent="-27432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EB80A"/>
              </a:buClr>
              <a:buSzPct val="76000"/>
              <a:buFont typeface="Wingdings 3"/>
              <a:buChar char=""/>
              <a:tabLst/>
              <a:defRPr/>
            </a:pPr>
            <a:r>
              <a:rPr kumimoji="0" lang="de-DE" sz="2300" b="0" i="0" u="none" strike="noStrike" kern="1200" cap="none" spc="0" normalizeH="0" baseline="0" noProof="0" dirty="0">
                <a:ln>
                  <a:noFill/>
                </a:ln>
                <a:solidFill>
                  <a:srgbClr val="4F27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Wir haben als Anzahl der Rahmen: 1 GB / 1 kB = 2</a:t>
            </a:r>
            <a:r>
              <a:rPr kumimoji="0" lang="de-DE" sz="2300" b="0" i="0" u="none" strike="noStrike" kern="1200" cap="none" spc="0" normalizeH="0" baseline="30000" noProof="0" dirty="0">
                <a:ln>
                  <a:noFill/>
                </a:ln>
                <a:solidFill>
                  <a:srgbClr val="4F27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20</a:t>
            </a:r>
            <a:r>
              <a:rPr kumimoji="0" lang="de-DE" sz="2300" b="0" i="0" u="none" strike="noStrike" kern="1200" cap="none" spc="0" normalizeH="0" baseline="0" noProof="0" dirty="0">
                <a:ln>
                  <a:noFill/>
                </a:ln>
                <a:solidFill>
                  <a:srgbClr val="4F27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, also genauso viele Einträge der Seitentabelle</a:t>
            </a:r>
          </a:p>
        </p:txBody>
      </p:sp>
    </p:spTree>
    <p:extLst>
      <p:ext uri="{BB962C8B-B14F-4D97-AF65-F5344CB8AC3E}">
        <p14:creationId xmlns:p14="http://schemas.microsoft.com/office/powerpoint/2010/main" val="1090299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45</a:t>
            </a:fld>
            <a:endParaRPr lang="de-DE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Danke schön.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6AE60A-B69C-4790-82F7-3882EDF23186}" type="slidenum">
              <a:rPr lang="de-DE" smtClean="0"/>
              <a:pPr/>
              <a:t>46</a:t>
            </a:fld>
            <a:endParaRPr lang="de-DE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Zusätzliche Folien:</a:t>
            </a:r>
            <a:br>
              <a:rPr lang="de-DE" dirty="0"/>
            </a:br>
            <a:r>
              <a:rPr lang="de-DE" dirty="0"/>
              <a:t>Invertierte Seitentabellen</a:t>
            </a:r>
          </a:p>
        </p:txBody>
      </p:sp>
    </p:spTree>
    <p:extLst>
      <p:ext uri="{BB962C8B-B14F-4D97-AF65-F5344CB8AC3E}">
        <p14:creationId xmlns:p14="http://schemas.microsoft.com/office/powerpoint/2010/main" val="332134154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Neuartige Seitentabelle – mit „log. Lücken“</a:t>
            </a:r>
            <a:endParaRPr lang="en-US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47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5915000" cy="4226024"/>
          </a:xfrm>
        </p:spPr>
        <p:txBody>
          <a:bodyPr>
            <a:noAutofit/>
          </a:bodyPr>
          <a:lstStyle/>
          <a:p>
            <a:r>
              <a:rPr lang="de-DE" dirty="0"/>
              <a:t>Idee: wir halten in einer „neuartigen“ Seitentabelle die Einträge </a:t>
            </a:r>
            <a:r>
              <a:rPr lang="de-DE" u="sng" dirty="0"/>
              <a:t>nur</a:t>
            </a:r>
            <a:r>
              <a:rPr lang="de-DE" dirty="0"/>
              <a:t> zu solchen Seiten, </a:t>
            </a:r>
            <a:r>
              <a:rPr lang="de-DE" u="sng" dirty="0"/>
              <a:t>die überhaupt verwendet wurden</a:t>
            </a:r>
          </a:p>
          <a:p>
            <a:r>
              <a:rPr lang="de-DE" dirty="0"/>
              <a:t>Für eine zu übersetzende Seitennummer </a:t>
            </a:r>
            <a:r>
              <a:rPr lang="de-DE" b="1" dirty="0">
                <a:solidFill>
                  <a:srgbClr val="FF0000"/>
                </a:solidFill>
              </a:rPr>
              <a:t>p</a:t>
            </a:r>
            <a:r>
              <a:rPr lang="de-DE" dirty="0"/>
              <a:t> durchsuchen wir die 1. Spalte der Tabelle bis zum Erfolg, holen dann die Rahmen# </a:t>
            </a:r>
            <a:r>
              <a:rPr lang="de-DE" b="1" dirty="0">
                <a:solidFill>
                  <a:srgbClr val="7030A0"/>
                </a:solidFill>
              </a:rPr>
              <a:t>f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13"/>
          </p:nvPr>
        </p:nvSpPr>
        <p:spPr>
          <a:xfrm>
            <a:off x="457200" y="4653136"/>
            <a:ext cx="5410944" cy="1440160"/>
          </a:xfrm>
        </p:spPr>
        <p:txBody>
          <a:bodyPr>
            <a:noAutofit/>
          </a:bodyPr>
          <a:lstStyle/>
          <a:p>
            <a:r>
              <a:rPr lang="de-DE" dirty="0"/>
              <a:t>Wie unterscheidet sich eine direkte Seitentabelle von dieser neuen Tabelle?</a:t>
            </a:r>
            <a:endParaRPr lang="de-DE" b="1" dirty="0">
              <a:solidFill>
                <a:srgbClr val="7030A0"/>
              </a:solidFill>
            </a:endParaRPr>
          </a:p>
          <a:p>
            <a:endParaRPr lang="en-US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/>
        </p:nvGraphicFramePr>
        <p:xfrm>
          <a:off x="6228184" y="1268760"/>
          <a:ext cx="2736304" cy="35407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681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dirty="0"/>
                        <a:t>Logisch</a:t>
                      </a:r>
                      <a:r>
                        <a:rPr lang="de-DE" sz="1800" b="1" dirty="0">
                          <a:solidFill>
                            <a:srgbClr val="FF0000"/>
                          </a:solidFill>
                        </a:rPr>
                        <a:t> 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>
                          <a:solidFill>
                            <a:schemeClr val="tx1"/>
                          </a:solidFill>
                        </a:rPr>
                        <a:t>Physisch </a:t>
                      </a:r>
                      <a:r>
                        <a:rPr lang="de-DE" sz="1800" b="1" dirty="0">
                          <a:solidFill>
                            <a:srgbClr val="7030A0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1000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strike="sng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....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…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302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strike="sng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2001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2002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500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…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strike="sng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Abgerundetes Rechteck 8"/>
          <p:cNvSpPr/>
          <p:nvPr/>
        </p:nvSpPr>
        <p:spPr>
          <a:xfrm>
            <a:off x="6781785" y="5157192"/>
            <a:ext cx="2170584" cy="115212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 dirty="0"/>
              <a:t>Logische Seiten nicht verwendet</a:t>
            </a:r>
          </a:p>
        </p:txBody>
      </p:sp>
      <p:cxnSp>
        <p:nvCxnSpPr>
          <p:cNvPr id="13" name="Gerader Verbinder 12"/>
          <p:cNvCxnSpPr>
            <a:stCxn id="9" idx="0"/>
          </p:cNvCxnSpPr>
          <p:nvPr/>
        </p:nvCxnSpPr>
        <p:spPr>
          <a:xfrm flipH="1" flipV="1">
            <a:off x="7236296" y="4653136"/>
            <a:ext cx="630781" cy="504056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/>
          <p:cNvCxnSpPr>
            <a:stCxn id="9" idx="0"/>
          </p:cNvCxnSpPr>
          <p:nvPr/>
        </p:nvCxnSpPr>
        <p:spPr>
          <a:xfrm flipH="1" flipV="1">
            <a:off x="7236296" y="3501008"/>
            <a:ext cx="630781" cy="165618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/>
          <p:cNvCxnSpPr>
            <a:stCxn id="9" idx="0"/>
          </p:cNvCxnSpPr>
          <p:nvPr/>
        </p:nvCxnSpPr>
        <p:spPr>
          <a:xfrm flipH="1" flipV="1">
            <a:off x="7164289" y="2204864"/>
            <a:ext cx="702788" cy="295232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2383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Direkte vs. „Neuartige“ Seitentabelle</a:t>
            </a:r>
            <a:endParaRPr lang="en-US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48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5337076" cy="5162128"/>
          </a:xfrm>
        </p:spPr>
        <p:txBody>
          <a:bodyPr>
            <a:normAutofit/>
          </a:bodyPr>
          <a:lstStyle/>
          <a:p>
            <a:r>
              <a:rPr lang="de-DE" i="1" dirty="0"/>
              <a:t>Wie unterscheidet sich diese Tabelle von der direkten Seitentabelle?</a:t>
            </a:r>
          </a:p>
          <a:p>
            <a:r>
              <a:rPr lang="de-DE" dirty="0"/>
              <a:t>Bei der direkten Seitentabelle fehlt die 1. Spalte, da wir dort durchgehende Seitennummern annehmen </a:t>
            </a:r>
          </a:p>
          <a:p>
            <a:r>
              <a:rPr lang="de-DE" dirty="0"/>
              <a:t>Und statt nach </a:t>
            </a:r>
            <a:r>
              <a:rPr lang="de-DE" b="1" dirty="0">
                <a:solidFill>
                  <a:srgbClr val="FF0000"/>
                </a:solidFill>
              </a:rPr>
              <a:t>p</a:t>
            </a:r>
            <a:r>
              <a:rPr lang="de-DE" dirty="0"/>
              <a:t> zu suchen, können wir einfach die Zeile </a:t>
            </a:r>
            <a:r>
              <a:rPr lang="de-DE" b="1" dirty="0">
                <a:solidFill>
                  <a:srgbClr val="FF0000"/>
                </a:solidFill>
              </a:rPr>
              <a:t>p</a:t>
            </a:r>
            <a:r>
              <a:rPr lang="de-DE" dirty="0"/>
              <a:t> indexieren</a:t>
            </a:r>
          </a:p>
          <a:p>
            <a:endParaRPr lang="de-DE" b="1" dirty="0">
              <a:solidFill>
                <a:srgbClr val="7030A0"/>
              </a:solidFill>
            </a:endParaRPr>
          </a:p>
        </p:txBody>
      </p:sp>
      <p:cxnSp>
        <p:nvCxnSpPr>
          <p:cNvPr id="8" name="Gerade Verbindung mit Pfeil 7"/>
          <p:cNvCxnSpPr/>
          <p:nvPr/>
        </p:nvCxnSpPr>
        <p:spPr>
          <a:xfrm>
            <a:off x="6126023" y="1739875"/>
            <a:ext cx="0" cy="1440160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6" name="Textfeld 15"/>
          <p:cNvSpPr txBox="1"/>
          <p:nvPr/>
        </p:nvSpPr>
        <p:spPr>
          <a:xfrm rot="16200000">
            <a:off x="4622528" y="2275289"/>
            <a:ext cx="2512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rgbClr val="FF0000"/>
                </a:solidFill>
              </a:rPr>
              <a:t>Seitennummer = Index</a:t>
            </a:r>
            <a:endParaRPr lang="en-US" dirty="0">
              <a:solidFill>
                <a:srgbClr val="FF0000"/>
              </a:solidFill>
            </a:endParaRPr>
          </a:p>
        </p:txBody>
      </p:sp>
      <p:graphicFrame>
        <p:nvGraphicFramePr>
          <p:cNvPr id="13" name="Tabelle 12"/>
          <p:cNvGraphicFramePr>
            <a:graphicFrameLocks noGrp="1"/>
          </p:cNvGraphicFramePr>
          <p:nvPr/>
        </p:nvGraphicFramePr>
        <p:xfrm>
          <a:off x="6228184" y="1331889"/>
          <a:ext cx="2736304" cy="35407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681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dirty="0"/>
                        <a:t>Logisch</a:t>
                      </a:r>
                      <a:r>
                        <a:rPr lang="de-DE" sz="1800" b="1" dirty="0">
                          <a:solidFill>
                            <a:srgbClr val="FF0000"/>
                          </a:solidFill>
                        </a:rPr>
                        <a:t> 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>
                          <a:solidFill>
                            <a:schemeClr val="tx1"/>
                          </a:solidFill>
                        </a:rPr>
                        <a:t>Physisch </a:t>
                      </a:r>
                      <a:r>
                        <a:rPr lang="de-DE" sz="1800" b="1" dirty="0">
                          <a:solidFill>
                            <a:srgbClr val="7030A0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1000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strike="sng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....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…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302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strike="sng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2001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2002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500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…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strike="sng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15" name="Gruppieren 14"/>
          <p:cNvGrpSpPr/>
          <p:nvPr/>
        </p:nvGrpSpPr>
        <p:grpSpPr>
          <a:xfrm>
            <a:off x="6228184" y="1739875"/>
            <a:ext cx="1368152" cy="3141653"/>
            <a:chOff x="6948264" y="1692331"/>
            <a:chExt cx="862236" cy="2456749"/>
          </a:xfrm>
        </p:grpSpPr>
        <p:cxnSp>
          <p:nvCxnSpPr>
            <p:cNvPr id="10" name="Gerade Verbindung 9"/>
            <p:cNvCxnSpPr/>
            <p:nvPr/>
          </p:nvCxnSpPr>
          <p:spPr>
            <a:xfrm>
              <a:off x="6948264" y="1692331"/>
              <a:ext cx="862236" cy="2456749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2" name="Gerade Verbindung 11"/>
            <p:cNvCxnSpPr/>
            <p:nvPr/>
          </p:nvCxnSpPr>
          <p:spPr>
            <a:xfrm flipH="1">
              <a:off x="6948264" y="1700808"/>
              <a:ext cx="862236" cy="2448272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2867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435280" cy="990600"/>
          </a:xfrm>
        </p:spPr>
        <p:txBody>
          <a:bodyPr>
            <a:normAutofit/>
          </a:bodyPr>
          <a:lstStyle/>
          <a:p>
            <a:r>
              <a:rPr lang="de-DE" dirty="0"/>
              <a:t>Neuartige Seitentabelle – mit „log. Lücken“/2</a:t>
            </a:r>
            <a:endParaRPr lang="en-US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49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5915000" cy="985664"/>
          </a:xfrm>
        </p:spPr>
        <p:txBody>
          <a:bodyPr>
            <a:noAutofit/>
          </a:bodyPr>
          <a:lstStyle/>
          <a:p>
            <a:r>
              <a:rPr lang="de-DE" dirty="0"/>
              <a:t>Wie können wir die „neuartige“ Seitentabelle verkleinern?</a:t>
            </a:r>
            <a:endParaRPr lang="de-DE" b="1" dirty="0">
              <a:solidFill>
                <a:srgbClr val="7030A0"/>
              </a:solidFill>
            </a:endParaRPr>
          </a:p>
        </p:txBody>
      </p:sp>
      <p:sp>
        <p:nvSpPr>
          <p:cNvPr id="5" name="Inhaltsplatzhalter 4"/>
          <p:cNvSpPr>
            <a:spLocks noGrp="1"/>
          </p:cNvSpPr>
          <p:nvPr>
            <p:ph sz="quarter" idx="13"/>
          </p:nvPr>
        </p:nvSpPr>
        <p:spPr>
          <a:xfrm>
            <a:off x="457200" y="2204864"/>
            <a:ext cx="5410944" cy="1800200"/>
          </a:xfrm>
        </p:spPr>
        <p:txBody>
          <a:bodyPr>
            <a:noAutofit/>
          </a:bodyPr>
          <a:lstStyle/>
          <a:p>
            <a:r>
              <a:rPr lang="de-DE" dirty="0"/>
              <a:t>1. Einträge entfernen, die nicht verwendet werden</a:t>
            </a:r>
          </a:p>
          <a:p>
            <a:r>
              <a:rPr lang="de-DE" dirty="0"/>
              <a:t>2. Können wir auch die 2. Spalte „</a:t>
            </a:r>
            <a:r>
              <a:rPr lang="de-DE" dirty="0" err="1"/>
              <a:t>wegrationalieren</a:t>
            </a:r>
            <a:r>
              <a:rPr lang="de-DE" dirty="0"/>
              <a:t>“?</a:t>
            </a:r>
          </a:p>
          <a:p>
            <a:endParaRPr lang="en-US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/>
        </p:nvGraphicFramePr>
        <p:xfrm>
          <a:off x="6228184" y="1268760"/>
          <a:ext cx="2736304" cy="35407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681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dirty="0"/>
                        <a:t>Logisch</a:t>
                      </a:r>
                      <a:r>
                        <a:rPr lang="de-DE" sz="1800" b="1" dirty="0">
                          <a:solidFill>
                            <a:srgbClr val="FF0000"/>
                          </a:solidFill>
                        </a:rPr>
                        <a:t> 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>
                          <a:solidFill>
                            <a:schemeClr val="tx1"/>
                          </a:solidFill>
                        </a:rPr>
                        <a:t>Physisch </a:t>
                      </a:r>
                      <a:r>
                        <a:rPr lang="de-DE" sz="1800" b="1" dirty="0">
                          <a:solidFill>
                            <a:srgbClr val="7030A0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1000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strike="sng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....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…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302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strike="sng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2001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2002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500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…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strike="sng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Abgerundetes Rechteck 8"/>
          <p:cNvSpPr/>
          <p:nvPr/>
        </p:nvSpPr>
        <p:spPr>
          <a:xfrm>
            <a:off x="6781785" y="5157192"/>
            <a:ext cx="2170584" cy="115212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 dirty="0"/>
              <a:t>Logische Seiten nicht verwendet</a:t>
            </a:r>
          </a:p>
        </p:txBody>
      </p:sp>
      <p:cxnSp>
        <p:nvCxnSpPr>
          <p:cNvPr id="13" name="Gerader Verbinder 12"/>
          <p:cNvCxnSpPr>
            <a:stCxn id="9" idx="0"/>
          </p:cNvCxnSpPr>
          <p:nvPr/>
        </p:nvCxnSpPr>
        <p:spPr>
          <a:xfrm flipH="1" flipV="1">
            <a:off x="7236296" y="4653136"/>
            <a:ext cx="630781" cy="504056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/>
          <p:cNvCxnSpPr>
            <a:stCxn id="9" idx="0"/>
          </p:cNvCxnSpPr>
          <p:nvPr/>
        </p:nvCxnSpPr>
        <p:spPr>
          <a:xfrm flipH="1" flipV="1">
            <a:off x="7236296" y="3501008"/>
            <a:ext cx="630781" cy="165618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/>
          <p:cNvCxnSpPr>
            <a:stCxn id="9" idx="0"/>
          </p:cNvCxnSpPr>
          <p:nvPr/>
        </p:nvCxnSpPr>
        <p:spPr>
          <a:xfrm flipH="1" flipV="1">
            <a:off x="7164289" y="2204864"/>
            <a:ext cx="702788" cy="295232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elle 10"/>
          <p:cNvGraphicFramePr>
            <a:graphicFrameLocks noGrp="1"/>
          </p:cNvGraphicFramePr>
          <p:nvPr/>
        </p:nvGraphicFramePr>
        <p:xfrm>
          <a:off x="3301972" y="4005875"/>
          <a:ext cx="2764906" cy="27432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824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24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458">
                <a:tc>
                  <a:txBody>
                    <a:bodyPr/>
                    <a:lstStyle/>
                    <a:p>
                      <a:r>
                        <a:rPr lang="de-DE" sz="1800" dirty="0"/>
                        <a:t>Logisch</a:t>
                      </a:r>
                      <a:r>
                        <a:rPr lang="de-DE" sz="1800" b="1" dirty="0">
                          <a:solidFill>
                            <a:srgbClr val="FF0000"/>
                          </a:solidFill>
                        </a:rPr>
                        <a:t> 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>
                          <a:solidFill>
                            <a:schemeClr val="tx1"/>
                          </a:solidFill>
                        </a:rPr>
                        <a:t>Physisch </a:t>
                      </a:r>
                      <a:r>
                        <a:rPr lang="de-DE" sz="1800" b="1" dirty="0">
                          <a:solidFill>
                            <a:srgbClr val="7030A0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458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....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…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458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302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458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…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458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2002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500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458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…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7458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1000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1146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Neuartige Seitentabelle /3</a:t>
            </a:r>
            <a:endParaRPr lang="en-US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50</a:t>
            </a:fld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5050904" cy="4010000"/>
          </a:xfrm>
        </p:spPr>
        <p:txBody>
          <a:bodyPr>
            <a:noAutofit/>
          </a:bodyPr>
          <a:lstStyle/>
          <a:p>
            <a:r>
              <a:rPr lang="de-DE" dirty="0"/>
              <a:t>Wir sortieren die Einträge nach der 2. Spalte (= </a:t>
            </a:r>
            <a:r>
              <a:rPr lang="de-DE" dirty="0" err="1"/>
              <a:t>Rahmennr</a:t>
            </a:r>
            <a:r>
              <a:rPr lang="de-DE" dirty="0"/>
              <a:t>. </a:t>
            </a:r>
            <a:r>
              <a:rPr lang="de-DE" b="1" dirty="0">
                <a:solidFill>
                  <a:srgbClr val="7030A0"/>
                </a:solidFill>
              </a:rPr>
              <a:t>f</a:t>
            </a:r>
            <a:r>
              <a:rPr lang="de-DE" dirty="0"/>
              <a:t>)</a:t>
            </a:r>
          </a:p>
          <a:p>
            <a:r>
              <a:rPr lang="de-DE" dirty="0"/>
              <a:t>… Und führen </a:t>
            </a:r>
            <a:r>
              <a:rPr lang="de-DE" u="sng" dirty="0"/>
              <a:t>zu jeder möglichen</a:t>
            </a:r>
            <a:r>
              <a:rPr lang="de-DE" dirty="0"/>
              <a:t> Rahmennummer </a:t>
            </a:r>
            <a:r>
              <a:rPr lang="de-DE" b="1" dirty="0">
                <a:solidFill>
                  <a:srgbClr val="7030A0"/>
                </a:solidFill>
              </a:rPr>
              <a:t>f</a:t>
            </a:r>
            <a:r>
              <a:rPr lang="de-DE" dirty="0"/>
              <a:t> eine Zeile ein </a:t>
            </a:r>
          </a:p>
          <a:p>
            <a:r>
              <a:rPr lang="de-DE" dirty="0"/>
              <a:t>Da die Rahmennummern nun durchgehen sind, können wir die 2. Spalte streichen!</a:t>
            </a:r>
          </a:p>
          <a:p>
            <a:r>
              <a:rPr lang="de-DE" dirty="0"/>
              <a:t>Speicherbedarf?</a:t>
            </a:r>
          </a:p>
          <a:p>
            <a:endParaRPr lang="de-DE" b="1" dirty="0">
              <a:solidFill>
                <a:srgbClr val="7030A0"/>
              </a:solidFill>
            </a:endParaRPr>
          </a:p>
        </p:txBody>
      </p:sp>
      <p:sp>
        <p:nvSpPr>
          <p:cNvPr id="5" name="Inhaltsplatzhalter 4"/>
          <p:cNvSpPr>
            <a:spLocks noGrp="1"/>
          </p:cNvSpPr>
          <p:nvPr>
            <p:ph sz="quarter" idx="13"/>
          </p:nvPr>
        </p:nvSpPr>
        <p:spPr>
          <a:xfrm>
            <a:off x="457200" y="5273813"/>
            <a:ext cx="8002682" cy="1484784"/>
          </a:xfrm>
        </p:spPr>
        <p:txBody>
          <a:bodyPr>
            <a:noAutofit/>
          </a:bodyPr>
          <a:lstStyle/>
          <a:p>
            <a:r>
              <a:rPr lang="de-DE" dirty="0"/>
              <a:t>Die Größe der Seitentabelle ist nun </a:t>
            </a:r>
            <a:r>
              <a:rPr lang="de-DE" u="sng" dirty="0"/>
              <a:t>proportional zum vorhandenen physischen Speicher</a:t>
            </a:r>
            <a:r>
              <a:rPr lang="de-DE" dirty="0"/>
              <a:t> und nicht zum logischen Adressraum – ist das viel?</a:t>
            </a:r>
          </a:p>
        </p:txBody>
      </p:sp>
      <p:graphicFrame>
        <p:nvGraphicFramePr>
          <p:cNvPr id="11" name="Tabelle 10"/>
          <p:cNvGraphicFramePr>
            <a:graphicFrameLocks noGrp="1"/>
          </p:cNvGraphicFramePr>
          <p:nvPr/>
        </p:nvGraphicFramePr>
        <p:xfrm>
          <a:off x="6078211" y="1340768"/>
          <a:ext cx="2764906" cy="35356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824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24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458">
                <a:tc>
                  <a:txBody>
                    <a:bodyPr/>
                    <a:lstStyle/>
                    <a:p>
                      <a:r>
                        <a:rPr lang="de-DE" sz="1800" dirty="0"/>
                        <a:t>Logisch</a:t>
                      </a:r>
                      <a:r>
                        <a:rPr lang="de-DE" sz="1800" b="1" dirty="0">
                          <a:solidFill>
                            <a:srgbClr val="FF0000"/>
                          </a:solidFill>
                        </a:rPr>
                        <a:t> 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>
                          <a:solidFill>
                            <a:schemeClr val="tx1"/>
                          </a:solidFill>
                        </a:rPr>
                        <a:t>Physisch </a:t>
                      </a:r>
                      <a:r>
                        <a:rPr lang="de-DE" sz="1800" b="1" dirty="0">
                          <a:solidFill>
                            <a:srgbClr val="7030A0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458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0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458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1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458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....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…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458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300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458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301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7458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302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7458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…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7458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1000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12" name="Gruppieren 11"/>
          <p:cNvGrpSpPr/>
          <p:nvPr/>
        </p:nvGrpSpPr>
        <p:grpSpPr>
          <a:xfrm>
            <a:off x="7474965" y="1734795"/>
            <a:ext cx="1368152" cy="3141653"/>
            <a:chOff x="6948264" y="1692331"/>
            <a:chExt cx="862236" cy="2456749"/>
          </a:xfrm>
        </p:grpSpPr>
        <p:cxnSp>
          <p:nvCxnSpPr>
            <p:cNvPr id="14" name="Gerade Verbindung 9"/>
            <p:cNvCxnSpPr/>
            <p:nvPr/>
          </p:nvCxnSpPr>
          <p:spPr>
            <a:xfrm>
              <a:off x="6948264" y="1692331"/>
              <a:ext cx="862236" cy="2456749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5" name="Gerade Verbindung 11"/>
            <p:cNvCxnSpPr/>
            <p:nvPr/>
          </p:nvCxnSpPr>
          <p:spPr>
            <a:xfrm flipH="1">
              <a:off x="6948264" y="1700808"/>
              <a:ext cx="862236" cy="2448272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2076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649DA-EE50-4E0D-AD6D-F50828E78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Unterteilen</a:t>
            </a:r>
            <a:r>
              <a:rPr lang="en-US" dirty="0"/>
              <a:t> </a:t>
            </a:r>
            <a:r>
              <a:rPr lang="en-US" dirty="0" err="1"/>
              <a:t>einer</a:t>
            </a:r>
            <a:r>
              <a:rPr lang="en-US" dirty="0"/>
              <a:t> </a:t>
            </a:r>
            <a:r>
              <a:rPr lang="en-US" dirty="0" err="1"/>
              <a:t>Direkten</a:t>
            </a:r>
            <a:r>
              <a:rPr lang="en-US" dirty="0"/>
              <a:t> </a:t>
            </a:r>
            <a:r>
              <a:rPr lang="en-US" dirty="0" err="1"/>
              <a:t>Seitentabelle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BC3CD51-BB1D-4923-A571-923F79BB3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51</a:t>
            </a:fld>
            <a:endParaRPr lang="en-US" noProof="0" dirty="0"/>
          </a:p>
        </p:txBody>
      </p:sp>
      <p:pic>
        <p:nvPicPr>
          <p:cNvPr id="5" name="Picture 6" descr="D:\b\b4\IBM\03-13.jpg">
            <a:extLst>
              <a:ext uri="{FF2B5EF4-FFF2-40B4-BE49-F238E27FC236}">
                <a16:creationId xmlns:a16="http://schemas.microsoft.com/office/drawing/2014/main" id="{C1502DA5-9A15-4C7D-BFF4-57510C3A67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/>
          <a:srcRect l="64841" t="3525" r="9709" b="4032"/>
          <a:stretch/>
        </p:blipFill>
        <p:spPr bwMode="auto">
          <a:xfrm>
            <a:off x="7337243" y="1937726"/>
            <a:ext cx="478894" cy="1784809"/>
          </a:xfrm>
          <a:prstGeom prst="rect">
            <a:avLst/>
          </a:prstGeom>
          <a:noFill/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A0A3BEB-0ACD-46AB-9755-56716B9B1D91}"/>
              </a:ext>
            </a:extLst>
          </p:cNvPr>
          <p:cNvSpPr/>
          <p:nvPr/>
        </p:nvSpPr>
        <p:spPr>
          <a:xfrm>
            <a:off x="5940152" y="1162791"/>
            <a:ext cx="30136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de-DE" dirty="0"/>
              <a:t>Eine 32-Bit Seitentabelle </a:t>
            </a:r>
            <a:br>
              <a:rPr lang="de-DE" dirty="0"/>
            </a:br>
            <a:r>
              <a:rPr lang="de-DE" dirty="0"/>
              <a:t>mit 2^20 Einträgen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17DE6F-19A1-42D1-9A18-CEA6ADA7268A}"/>
              </a:ext>
            </a:extLst>
          </p:cNvPr>
          <p:cNvSpPr/>
          <p:nvPr/>
        </p:nvSpPr>
        <p:spPr>
          <a:xfrm>
            <a:off x="6694227" y="6089306"/>
            <a:ext cx="150554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DE" dirty="0"/>
              <a:t>.. unterteilt in</a:t>
            </a:r>
            <a:br>
              <a:rPr lang="de-DE" dirty="0"/>
            </a:br>
            <a:r>
              <a:rPr lang="de-DE" dirty="0"/>
              <a:t>1024 Stücke</a:t>
            </a:r>
            <a:endParaRPr lang="en-US" dirty="0"/>
          </a:p>
        </p:txBody>
      </p:sp>
      <p:pic>
        <p:nvPicPr>
          <p:cNvPr id="8" name="Picture 6" descr="D:\b\b4\IBM\03-13.jpg">
            <a:extLst>
              <a:ext uri="{FF2B5EF4-FFF2-40B4-BE49-F238E27FC236}">
                <a16:creationId xmlns:a16="http://schemas.microsoft.com/office/drawing/2014/main" id="{67E40D76-539F-449C-AA86-C7E8AE0225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/>
          <a:srcRect l="64841" t="3525" r="9709" b="4032"/>
          <a:stretch/>
        </p:blipFill>
        <p:spPr bwMode="auto">
          <a:xfrm>
            <a:off x="7337242" y="4175099"/>
            <a:ext cx="478894" cy="1784809"/>
          </a:xfrm>
          <a:prstGeom prst="rect">
            <a:avLst/>
          </a:prstGeom>
          <a:noFill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8AB4226-9E75-4FA0-B690-37E3A85A5B02}"/>
              </a:ext>
            </a:extLst>
          </p:cNvPr>
          <p:cNvSpPr/>
          <p:nvPr/>
        </p:nvSpPr>
        <p:spPr>
          <a:xfrm>
            <a:off x="7337242" y="3709115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dirty="0"/>
              <a:t>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78414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507288" cy="990600"/>
          </a:xfrm>
        </p:spPr>
        <p:txBody>
          <a:bodyPr>
            <a:normAutofit/>
          </a:bodyPr>
          <a:lstStyle/>
          <a:p>
            <a:r>
              <a:rPr lang="de-DE" dirty="0"/>
              <a:t>Seitentabellen bei 64-Bit Systemen</a:t>
            </a:r>
            <a:endParaRPr lang="en-US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3533A-8A50-4A1F-BEA9-C8C6956451EB}" type="slidenum">
              <a:rPr lang="en-US" noProof="0" smtClean="0"/>
              <a:pPr/>
              <a:t>52</a:t>
            </a:fld>
            <a:endParaRPr lang="en-US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0977A4-1217-405B-84B8-E9FBFB019868}"/>
              </a:ext>
            </a:extLst>
          </p:cNvPr>
          <p:cNvSpPr/>
          <p:nvPr/>
        </p:nvSpPr>
        <p:spPr>
          <a:xfrm>
            <a:off x="5940152" y="1162791"/>
            <a:ext cx="30136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de-DE" dirty="0"/>
              <a:t>Eine 64-Bit Seitentabelle </a:t>
            </a:r>
            <a:br>
              <a:rPr lang="de-DE" dirty="0"/>
            </a:br>
            <a:r>
              <a:rPr lang="de-DE" dirty="0"/>
              <a:t>mit 2^52 Einträgen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A1F12E-7C6A-46E7-B496-878072D6AC0B}"/>
              </a:ext>
            </a:extLst>
          </p:cNvPr>
          <p:cNvSpPr/>
          <p:nvPr/>
        </p:nvSpPr>
        <p:spPr>
          <a:xfrm>
            <a:off x="6694227" y="6089306"/>
            <a:ext cx="150554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DE" dirty="0"/>
              <a:t>.. unterteilt in</a:t>
            </a:r>
            <a:br>
              <a:rPr lang="de-DE" dirty="0"/>
            </a:br>
            <a:r>
              <a:rPr lang="de-DE" dirty="0"/>
              <a:t>X Stücke</a:t>
            </a:r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CAF9A0D-A9D7-41C8-A028-8B99677073B6}"/>
              </a:ext>
            </a:extLst>
          </p:cNvPr>
          <p:cNvGrpSpPr/>
          <p:nvPr/>
        </p:nvGrpSpPr>
        <p:grpSpPr>
          <a:xfrm>
            <a:off x="7337242" y="1937726"/>
            <a:ext cx="478895" cy="4022182"/>
            <a:chOff x="7337242" y="1937726"/>
            <a:chExt cx="478895" cy="4022182"/>
          </a:xfrm>
        </p:grpSpPr>
        <p:pic>
          <p:nvPicPr>
            <p:cNvPr id="11" name="Picture 6" descr="D:\b\b4\IBM\03-13.jpg">
              <a:extLst>
                <a:ext uri="{FF2B5EF4-FFF2-40B4-BE49-F238E27FC236}">
                  <a16:creationId xmlns:a16="http://schemas.microsoft.com/office/drawing/2014/main" id="{2F729099-D4EC-45D6-9483-A9A9124B85B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/>
            <a:srcRect l="64841" t="3525" r="9709" b="4032"/>
            <a:stretch/>
          </p:blipFill>
          <p:spPr bwMode="auto">
            <a:xfrm>
              <a:off x="7337243" y="1937726"/>
              <a:ext cx="478894" cy="1784809"/>
            </a:xfrm>
            <a:prstGeom prst="rect">
              <a:avLst/>
            </a:prstGeom>
            <a:noFill/>
          </p:spPr>
        </p:pic>
        <p:pic>
          <p:nvPicPr>
            <p:cNvPr id="14" name="Picture 6" descr="D:\b\b4\IBM\03-13.jpg">
              <a:extLst>
                <a:ext uri="{FF2B5EF4-FFF2-40B4-BE49-F238E27FC236}">
                  <a16:creationId xmlns:a16="http://schemas.microsoft.com/office/drawing/2014/main" id="{A08C3E1F-AFD5-4B79-97DD-BB3EDBDF66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/>
            <a:srcRect l="64841" t="3525" r="9709" b="4032"/>
            <a:stretch/>
          </p:blipFill>
          <p:spPr bwMode="auto">
            <a:xfrm>
              <a:off x="7337242" y="4175099"/>
              <a:ext cx="478894" cy="1784809"/>
            </a:xfrm>
            <a:prstGeom prst="rect">
              <a:avLst/>
            </a:prstGeom>
            <a:noFill/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E0ED6D7-FCBD-495E-9BB5-102E84FE332D}"/>
                </a:ext>
              </a:extLst>
            </p:cNvPr>
            <p:cNvSpPr/>
            <p:nvPr/>
          </p:nvSpPr>
          <p:spPr>
            <a:xfrm>
              <a:off x="7337242" y="3709115"/>
              <a:ext cx="41549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de-DE" dirty="0"/>
                <a:t>…</a:t>
              </a:r>
              <a:endParaRPr lang="en-US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CEFB8CC-FCA5-4695-80CC-42717F627EE0}"/>
              </a:ext>
            </a:extLst>
          </p:cNvPr>
          <p:cNvGrpSpPr/>
          <p:nvPr/>
        </p:nvGrpSpPr>
        <p:grpSpPr>
          <a:xfrm>
            <a:off x="5701353" y="2348880"/>
            <a:ext cx="477597" cy="2825140"/>
            <a:chOff x="5701353" y="2348880"/>
            <a:chExt cx="477597" cy="282514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742F18E-DD58-4732-B272-8F50E6BD4A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01353" y="2348880"/>
              <a:ext cx="477597" cy="627809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BCF51769-6661-423E-BF5E-D84E5424BC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01353" y="2976689"/>
              <a:ext cx="477597" cy="627809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DAEDE5BD-9414-4244-8361-2CE5E5793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01353" y="3604498"/>
              <a:ext cx="477597" cy="627809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5D65C92-37AD-49F0-AA85-5798D69CD96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01353" y="3918402"/>
              <a:ext cx="477597" cy="627809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99AFFB0F-19D1-44DC-822D-B65CDDD8580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01353" y="4546211"/>
              <a:ext cx="477597" cy="627809"/>
            </a:xfrm>
            <a:prstGeom prst="rect">
              <a:avLst/>
            </a:prstGeom>
          </p:spPr>
        </p:pic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008F564-B1F3-407F-953E-311B656B93F6}"/>
              </a:ext>
            </a:extLst>
          </p:cNvPr>
          <p:cNvCxnSpPr/>
          <p:nvPr/>
        </p:nvCxnSpPr>
        <p:spPr>
          <a:xfrm flipV="1">
            <a:off x="6178950" y="1988840"/>
            <a:ext cx="1129354" cy="432048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1A021C1-A59A-43D4-936F-E00F415BDDAF}"/>
              </a:ext>
            </a:extLst>
          </p:cNvPr>
          <p:cNvCxnSpPr>
            <a:cxnSpLocks/>
          </p:cNvCxnSpPr>
          <p:nvPr/>
        </p:nvCxnSpPr>
        <p:spPr>
          <a:xfrm flipV="1">
            <a:off x="6166061" y="2550286"/>
            <a:ext cx="1171181" cy="216024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96AC5DC-DA87-423D-ABD6-06A1C2AD6DB4}"/>
              </a:ext>
            </a:extLst>
          </p:cNvPr>
          <p:cNvCxnSpPr>
            <a:cxnSpLocks/>
          </p:cNvCxnSpPr>
          <p:nvPr/>
        </p:nvCxnSpPr>
        <p:spPr>
          <a:xfrm flipV="1">
            <a:off x="6119832" y="4182569"/>
            <a:ext cx="1217410" cy="455618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9481DF5-A4A4-459F-AB78-792088417E62}"/>
              </a:ext>
            </a:extLst>
          </p:cNvPr>
          <p:cNvCxnSpPr>
            <a:cxnSpLocks/>
          </p:cNvCxnSpPr>
          <p:nvPr/>
        </p:nvCxnSpPr>
        <p:spPr>
          <a:xfrm>
            <a:off x="6149391" y="4767585"/>
            <a:ext cx="1187851" cy="42793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676A9FB0-F6CF-40EB-98C2-63C9930791D7}"/>
              </a:ext>
            </a:extLst>
          </p:cNvPr>
          <p:cNvSpPr/>
          <p:nvPr/>
        </p:nvSpPr>
        <p:spPr>
          <a:xfrm>
            <a:off x="5289973" y="5233544"/>
            <a:ext cx="1300356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DE" dirty="0"/>
              <a:t>Wie groß</a:t>
            </a:r>
            <a:br>
              <a:rPr lang="de-DE" dirty="0"/>
            </a:br>
            <a:r>
              <a:rPr lang="de-DE" dirty="0"/>
              <a:t>wäre diese</a:t>
            </a:r>
            <a:br>
              <a:rPr lang="de-DE" dirty="0"/>
            </a:br>
            <a:r>
              <a:rPr lang="de-DE" dirty="0"/>
              <a:t>Stufe?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89177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RSTARTUR@ADJTKIKJTTW835ML" val="3112"/>
</p:tagLst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keano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keanos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>
    <a:spDef>
      <a:spPr>
        <a:solidFill>
          <a:srgbClr val="92D050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headEnd type="none" w="med" len="med"/>
          <a:tailEnd type="arrow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0</TotalTime>
  <Words>4456</Words>
  <Application>Microsoft Office PowerPoint</Application>
  <PresentationFormat>Bildschirmpräsentation (4:3)</PresentationFormat>
  <Paragraphs>820</Paragraphs>
  <Slides>52</Slides>
  <Notes>23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9" baseType="lpstr">
      <vt:lpstr>Arial</vt:lpstr>
      <vt:lpstr>Calibri</vt:lpstr>
      <vt:lpstr>Helvetica</vt:lpstr>
      <vt:lpstr>Symbol</vt:lpstr>
      <vt:lpstr>Wingdings</vt:lpstr>
      <vt:lpstr>Wingdings 3</vt:lpstr>
      <vt:lpstr>Okeanos</vt:lpstr>
      <vt:lpstr>Betriebssysteme und Netzwerke Vorlesung 10</vt:lpstr>
      <vt:lpstr>Was ist richtig?</vt:lpstr>
      <vt:lpstr>Adressenübersetzung mit Zweierpotenzen/2</vt:lpstr>
      <vt:lpstr>Adressübersetzung durch Direkte Seitentabelle</vt:lpstr>
      <vt:lpstr>Beschleunigen der Adressenübersetzung</vt:lpstr>
      <vt:lpstr>Paging und Prozesse</vt:lpstr>
      <vt:lpstr>Paging – Größe der Seitentabelle</vt:lpstr>
      <vt:lpstr>Problem: Größe der Seitentabelle (ST)</vt:lpstr>
      <vt:lpstr>Wie viele Seiten sind nötig?</vt:lpstr>
      <vt:lpstr>Problem: Größe der Seitentabelle</vt:lpstr>
      <vt:lpstr>Zwei Lösungsansätze</vt:lpstr>
      <vt:lpstr>Paging – Invertierte Seitentabellen</vt:lpstr>
      <vt:lpstr>Frame Table als eine Seitentabelle</vt:lpstr>
      <vt:lpstr>Informationen in der Frame Table</vt:lpstr>
      <vt:lpstr>Speicheroptimierung</vt:lpstr>
      <vt:lpstr>Invertierte Seitentabellen</vt:lpstr>
      <vt:lpstr>Invertierte Seitentabellen - Details</vt:lpstr>
      <vt:lpstr>Invertierte Seitentabellen - Größe</vt:lpstr>
      <vt:lpstr>Invertierte Seitentabellen – Nachteile?</vt:lpstr>
      <vt:lpstr>Pingo – Umfrage</vt:lpstr>
      <vt:lpstr>Paging – Mehrstufige Seitentabelle</vt:lpstr>
      <vt:lpstr>Mehrstufige/Hierarchische Seitentabellen</vt:lpstr>
      <vt:lpstr>Mehrstufige/Hierarchische Seitentabellen</vt:lpstr>
      <vt:lpstr>Mehrstufige Seitentabellen - Beispiel</vt:lpstr>
      <vt:lpstr>Mehrstufige Seitentabellen - Probleme</vt:lpstr>
      <vt:lpstr>Mehrstufige Seitentabellen von 64-Bit CPUs</vt:lpstr>
      <vt:lpstr>Video </vt:lpstr>
      <vt:lpstr>Paging bei IA32-Architektur: Konkrete Details   Empfehlenswert zum Lesen: https://wiki.osdev.org/Paging </vt:lpstr>
      <vt:lpstr>Mehrstufige Seitentabellen bei IA32</vt:lpstr>
      <vt:lpstr>Konfigurieren der Seitentabellen bei IA32</vt:lpstr>
      <vt:lpstr>Setzen und Einschalten der Seitentabelle</vt:lpstr>
      <vt:lpstr>Was enthält ein Tabelleneintrag (IA32)? /1</vt:lpstr>
      <vt:lpstr>Was enthält ein Tabelleneintrag (IA32)? /2</vt:lpstr>
      <vt:lpstr>Verständnisfrage Seitentabellen</vt:lpstr>
      <vt:lpstr>Zusammenfassung:  Paging und Seitentabellen</vt:lpstr>
      <vt:lpstr>Paging: Adressenübersetzung in „Kacheln“</vt:lpstr>
      <vt:lpstr>Adressübersetzung mit Fpid(p) = f</vt:lpstr>
      <vt:lpstr>Direkte (d.h. “Normale”) Seitentabellen</vt:lpstr>
      <vt:lpstr>Invertierte Seitentabellen</vt:lpstr>
      <vt:lpstr>Hierarchische Seitentabellen</vt:lpstr>
      <vt:lpstr>Hierarchische Seitentabellen bei IA32</vt:lpstr>
      <vt:lpstr>Bitzählung: Nützliche Zusammenhänge /1</vt:lpstr>
      <vt:lpstr>Bitzählung: Nützliche Zusammenhänge /2</vt:lpstr>
      <vt:lpstr>Bitzählung: Beispiele</vt:lpstr>
      <vt:lpstr>Danke schön.</vt:lpstr>
      <vt:lpstr>Zusätzliche Folien: Invertierte Seitentabellen</vt:lpstr>
      <vt:lpstr>Neuartige Seitentabelle – mit „log. Lücken“</vt:lpstr>
      <vt:lpstr>Direkte vs. „Neuartige“ Seitentabelle</vt:lpstr>
      <vt:lpstr>Neuartige Seitentabelle – mit „log. Lücken“/2</vt:lpstr>
      <vt:lpstr>Neuartige Seitentabelle /3</vt:lpstr>
      <vt:lpstr>Unterteilen einer Direkten Seitentabelle</vt:lpstr>
      <vt:lpstr>Seitentabellen bei 64-Bit Systemen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VL Betriebssysteme und Netzwerke</dc:title>
  <dc:creator>Artur Andrzejak</dc:creator>
  <cp:lastModifiedBy>Artur Andrzejak</cp:lastModifiedBy>
  <cp:revision>2217</cp:revision>
  <dcterms:created xsi:type="dcterms:W3CDTF">2009-04-16T23:00:57Z</dcterms:created>
  <dcterms:modified xsi:type="dcterms:W3CDTF">2026-05-12T19:31:06Z</dcterms:modified>
</cp:coreProperties>
</file>