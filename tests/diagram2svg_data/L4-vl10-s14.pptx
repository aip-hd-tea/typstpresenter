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54"/>
  </p:notesMasterIdLst>
  <p:handoutMasterIdLst>
    <p:handoutMasterId r:id="rId55"/>
  </p:handoutMasterIdLst>
  <p:sldIdLst>
    <p:sldId id="1248" r:id="rId15"/>
  </p:sldIdLst>
  <p:sldSz cx="9144000" cy="6858000" type="screen4x3"/>
  <p:notesSz cx="10234613" cy="7099300"/>
  <p:custDataLst>
    <p:tags r:id="rId5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0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70C0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2E33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Keine Formatvorlage, kein Gitternetz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Keine Formatvorlage, Tabellengitternetz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644" autoAdjust="0"/>
    <p:restoredTop sz="95459" autoAdjust="0"/>
  </p:normalViewPr>
  <p:slideViewPr>
    <p:cSldViewPr>
      <p:cViewPr varScale="1">
        <p:scale>
          <a:sx n="68" d="100"/>
          <a:sy n="68" d="100"/>
        </p:scale>
        <p:origin x="72" y="860"/>
      </p:cViewPr>
      <p:guideLst>
        <p:guide orient="horz" pos="2160"/>
        <p:guide pos="10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handoutMaster" Target="handoutMasters/handoutMaster1.xml"/><Relationship Id="rId56" Type="http://schemas.openxmlformats.org/officeDocument/2006/relationships/tags" Target="tags/tag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354965"/>
          </a:xfrm>
          <a:prstGeom prst="rect">
            <a:avLst/>
          </a:prstGeom>
        </p:spPr>
        <p:txBody>
          <a:bodyPr vert="horz" lIns="95491" tIns="47745" rIns="95491" bIns="47745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797247" y="0"/>
            <a:ext cx="4434999" cy="354965"/>
          </a:xfrm>
          <a:prstGeom prst="rect">
            <a:avLst/>
          </a:prstGeom>
        </p:spPr>
        <p:txBody>
          <a:bodyPr vert="horz" lIns="95491" tIns="47745" rIns="95491" bIns="47745" rtlCol="0"/>
          <a:lstStyle>
            <a:lvl1pPr algn="r">
              <a:defRPr sz="1300"/>
            </a:lvl1pPr>
          </a:lstStyle>
          <a:p>
            <a:fld id="{503D259A-BC5A-44A4-AF17-09BFC30AC7B9}" type="datetimeFigureOut">
              <a:rPr lang="de-DE" smtClean="0"/>
              <a:pPr/>
              <a:t>12.05.2026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6743104"/>
            <a:ext cx="4434999" cy="354965"/>
          </a:xfrm>
          <a:prstGeom prst="rect">
            <a:avLst/>
          </a:prstGeom>
        </p:spPr>
        <p:txBody>
          <a:bodyPr vert="horz" lIns="95491" tIns="47745" rIns="95491" bIns="47745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797247" y="6743104"/>
            <a:ext cx="4434999" cy="354965"/>
          </a:xfrm>
          <a:prstGeom prst="rect">
            <a:avLst/>
          </a:prstGeom>
        </p:spPr>
        <p:txBody>
          <a:bodyPr vert="horz" lIns="95491" tIns="47745" rIns="95491" bIns="47745" rtlCol="0" anchor="b"/>
          <a:lstStyle>
            <a:lvl1pPr algn="r">
              <a:defRPr sz="1300"/>
            </a:lvl1pPr>
          </a:lstStyle>
          <a:p>
            <a:fld id="{69916C2F-BC73-49DB-9119-EC35D25111C2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33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354965"/>
          </a:xfrm>
          <a:prstGeom prst="rect">
            <a:avLst/>
          </a:prstGeom>
        </p:spPr>
        <p:txBody>
          <a:bodyPr vert="horz" lIns="95491" tIns="47745" rIns="95491" bIns="4774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9" cy="354965"/>
          </a:xfrm>
          <a:prstGeom prst="rect">
            <a:avLst/>
          </a:prstGeom>
        </p:spPr>
        <p:txBody>
          <a:bodyPr vert="horz" lIns="95491" tIns="47745" rIns="95491" bIns="47745" rtlCol="0"/>
          <a:lstStyle>
            <a:lvl1pPr algn="r">
              <a:defRPr sz="1300"/>
            </a:lvl1pPr>
          </a:lstStyle>
          <a:p>
            <a:fld id="{4007A66C-EE28-4ADD-A611-42716BED3A40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343275" y="531813"/>
            <a:ext cx="3548063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91" tIns="47745" rIns="95491" bIns="47745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023463" y="3372168"/>
            <a:ext cx="8187689" cy="3194684"/>
          </a:xfrm>
          <a:prstGeom prst="rect">
            <a:avLst/>
          </a:prstGeom>
        </p:spPr>
        <p:txBody>
          <a:bodyPr vert="horz" lIns="95491" tIns="47745" rIns="95491" bIns="47745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6743104"/>
            <a:ext cx="4434999" cy="354965"/>
          </a:xfrm>
          <a:prstGeom prst="rect">
            <a:avLst/>
          </a:prstGeom>
        </p:spPr>
        <p:txBody>
          <a:bodyPr vert="horz" lIns="95491" tIns="47745" rIns="95491" bIns="4774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797247" y="6743104"/>
            <a:ext cx="4434999" cy="354965"/>
          </a:xfrm>
          <a:prstGeom prst="rect">
            <a:avLst/>
          </a:prstGeom>
        </p:spPr>
        <p:txBody>
          <a:bodyPr vert="horz" lIns="95491" tIns="47745" rIns="95491" bIns="47745" rtlCol="0" anchor="b"/>
          <a:lstStyle>
            <a:lvl1pPr algn="r">
              <a:defRPr sz="1300"/>
            </a:lvl1pPr>
          </a:lstStyle>
          <a:p>
            <a:fld id="{6D176CDC-8D0E-409F-856B-BAE38288A8E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9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Problem: interne</a:t>
            </a:r>
            <a:r>
              <a:rPr lang="de-DE" baseline="0" dirty="0"/>
              <a:t> Fragmentierung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90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13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03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26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i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29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muss man sich auf der Zunge … vorstellen: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Gibibyte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1024^3 Bytes.</a:t>
            </a:r>
            <a:endParaRPr lang="de-DE" i="1" baseline="0" dirty="0"/>
          </a:p>
          <a:p>
            <a:r>
              <a:rPr lang="de-DE" i="1" baseline="0" dirty="0"/>
              <a:t>2^32 / 2^64 = 1/2^32    (4 GB / (ganzer virtueller Adressraum) = ca. 1/(4*10^9)</a:t>
            </a:r>
          </a:p>
          <a:p>
            <a:r>
              <a:rPr lang="de-DE" i="1" baseline="0" dirty="0"/>
              <a:t>Entfernung zum Mond (max.) = ca. 400 000 km = 4* 10^5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i="1" baseline="0" dirty="0"/>
              <a:t>Anteil von 4 GB in dem 64-bit virtuellen Speicher: 4*10^5 * 1/(4*10^9) =&gt; 10^(-4) km = 0.0001 km = 10 cm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67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i="1" dirty="0"/>
              <a:t>Berechnung</a:t>
            </a:r>
            <a:r>
              <a:rPr lang="de-DE" i="1" baseline="0" dirty="0"/>
              <a:t> Analogie Entfernung zum Mond:</a:t>
            </a:r>
          </a:p>
          <a:p>
            <a:r>
              <a:rPr lang="de-DE" i="1" baseline="0" dirty="0"/>
              <a:t>2^32 / 2^64 = 1/2^32    (4 GB / (ganzer virtueller Adressraum) = ca. 1/(4*10^9)</a:t>
            </a:r>
          </a:p>
          <a:p>
            <a:endParaRPr lang="de-DE" i="1" baseline="0" dirty="0"/>
          </a:p>
          <a:p>
            <a:r>
              <a:rPr lang="de-DE" i="1" baseline="0" dirty="0"/>
              <a:t>Entfernung zum Mond (max.) = ca. 400 000 km = 4* 10^5</a:t>
            </a:r>
          </a:p>
          <a:p>
            <a:endParaRPr lang="de-DE" i="1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i="1" baseline="0" dirty="0"/>
              <a:t>Anteil von 4 GB in dem 64-bit virtuellen Speicher: 4*10^5 * 1/(4*10^9) =&gt; 10^(-4) km = 0.0001 km = 10 cm</a:t>
            </a:r>
          </a:p>
          <a:p>
            <a:endParaRPr lang="de-DE" i="1" baseline="0" dirty="0"/>
          </a:p>
          <a:p>
            <a:endParaRPr lang="de-DE" i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2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26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28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Idee: die Größe der Seitentabelle soll proportional zum vorhandenen Speicher und nicht zum logischen Adressraum sein</a:t>
            </a:r>
          </a:p>
          <a:p>
            <a:pPr lvl="1"/>
            <a:r>
              <a:rPr lang="de-DE" dirty="0"/>
              <a:t>Warum macht das Sinn? </a:t>
            </a:r>
          </a:p>
          <a:p>
            <a:r>
              <a:rPr lang="de-DE" dirty="0"/>
              <a:t>=&gt; wenn</a:t>
            </a:r>
            <a:r>
              <a:rPr lang="de-DE" baseline="0" dirty="0"/>
              <a:t> wir großen Speicher haben, können wir uns eine größere Seitentabelle leisten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84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1" defTabSz="914385">
              <a:defRPr/>
            </a:pPr>
            <a:r>
              <a:rPr lang="de-DE" dirty="0"/>
              <a:t> Wie groß ist dieser in % des Gesamtspeichers?</a:t>
            </a:r>
          </a:p>
          <a:p>
            <a:r>
              <a:rPr lang="de-DE" dirty="0"/>
              <a:t>Ang. PID hat</a:t>
            </a:r>
            <a:r>
              <a:rPr lang="de-DE" baseline="0" dirty="0"/>
              <a:t> 12 Bits, ein Rahmen hat 12 Bits (4k Pages) und wir haben 64 Bit-Adressen. Dann hat d 12 Bits, p hat (64-12)=52 Bits. Somit passt ein Eintrag der Seitentabelle in 64 Bits. Wir brauchen also 64 Bits genau (8 Bytes) pro Eintrag, der eine Seite mit 4 kByte abdeckt =&gt; 8/4096 ~ 1/512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60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1" defTabSz="914385">
              <a:defRPr/>
            </a:pPr>
            <a:r>
              <a:rPr lang="de-DE" dirty="0"/>
              <a:t> Wie groß ist dieser in % des Gesamtspeichers?</a:t>
            </a:r>
          </a:p>
          <a:p>
            <a:r>
              <a:rPr lang="de-DE" dirty="0"/>
              <a:t>Ang. PID hat</a:t>
            </a:r>
            <a:r>
              <a:rPr lang="de-DE" baseline="0" dirty="0"/>
              <a:t> 12 Bits, ein Rahmen hat 12 Bits (4k Pages) und wir haben 64 Bit-Adressen. Dann hat d 12 Bits, p hat (64-12)=52 Bits. Somit passt ein Eintrag der Seitentabelle in 64 Bits. Wir brauchen also 64 Bits genau (8 Bytes) pro Eintrag, der eine Seite mit 4 kByte abdeckt =&gt; 8/4096 ~ 1/512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05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7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Hierarchisches Paging</a:t>
            </a:r>
          </a:p>
          <a:p>
            <a:pPr lvl="1"/>
            <a:r>
              <a:rPr lang="de-DE" dirty="0"/>
              <a:t>Mehrstufige Seitentabellen</a:t>
            </a:r>
          </a:p>
          <a:p>
            <a:r>
              <a:rPr lang="de-DE" dirty="0"/>
              <a:t>Hashtabellen (</a:t>
            </a:r>
            <a:r>
              <a:rPr lang="de-DE" dirty="0" err="1"/>
              <a:t>Hashed</a:t>
            </a:r>
            <a:r>
              <a:rPr lang="de-DE" dirty="0"/>
              <a:t> Page </a:t>
            </a:r>
            <a:r>
              <a:rPr lang="de-DE" dirty="0" err="1"/>
              <a:t>Tables</a:t>
            </a:r>
            <a:r>
              <a:rPr lang="de-DE" dirty="0"/>
              <a:t>)</a:t>
            </a:r>
          </a:p>
          <a:p>
            <a:r>
              <a:rPr lang="de-DE" dirty="0"/>
              <a:t>Invertierte Seitentabellen</a:t>
            </a:r>
          </a:p>
          <a:p>
            <a:endParaRPr lang="de-DE" i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08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31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791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16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76CDC-8D0E-409F-856B-BAE38288A8E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7153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76CDC-8D0E-409F-856B-BAE38288A8E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672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76CDC-8D0E-409F-856B-BAE38288A8E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2725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Unterschied</a:t>
            </a:r>
            <a:r>
              <a:rPr lang="de-DE" baseline="0" dirty="0"/>
              <a:t> zu der normalen (direkten) Seitentabelle:</a:t>
            </a:r>
            <a:endParaRPr lang="de-DE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Wir entfernten die Seitennummer (da sie durchgehend sind), und ersetzen durch den </a:t>
            </a:r>
            <a:r>
              <a:rPr lang="de-DE" dirty="0">
                <a:solidFill>
                  <a:srgbClr val="0070C0"/>
                </a:solidFill>
              </a:rPr>
              <a:t>Index</a:t>
            </a:r>
            <a:r>
              <a:rPr lang="de-DE" dirty="0"/>
              <a:t> des Tabelleneintrags</a:t>
            </a:r>
            <a:endParaRPr lang="en-US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42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Unterschied</a:t>
            </a:r>
            <a:r>
              <a:rPr lang="de-DE" baseline="0" dirty="0"/>
              <a:t> zu der normalen (direkten) Seitentabelle:</a:t>
            </a:r>
            <a:endParaRPr lang="de-DE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Wir entfernten die Seitennummer (da sie durchgehend sind), und ersetzen durch den </a:t>
            </a:r>
            <a:r>
              <a:rPr lang="de-DE" dirty="0">
                <a:solidFill>
                  <a:srgbClr val="0070C0"/>
                </a:solidFill>
              </a:rPr>
              <a:t>Index</a:t>
            </a:r>
            <a:r>
              <a:rPr lang="de-DE" dirty="0"/>
              <a:t> des Tabelleneintrags</a:t>
            </a:r>
            <a:endParaRPr lang="en-US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61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797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noProof="0" dirty="0" err="1"/>
              <a:t>Formatvorlage</a:t>
            </a:r>
            <a:r>
              <a:rPr kumimoji="0" lang="en-US" noProof="0" dirty="0"/>
              <a:t> des </a:t>
            </a:r>
            <a:r>
              <a:rPr kumimoji="0" lang="en-US" noProof="0" dirty="0" err="1"/>
              <a:t>Untertitelmasters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21" name="Rechteck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hteck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hteck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hteck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1019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542234" y="6500834"/>
            <a:ext cx="601766" cy="357166"/>
          </a:xfrm>
        </p:spPr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T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641848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5" name="Inhaltsplatzhalter 7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8208912" cy="271385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7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56984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5" name="Inhaltsplatzhalter 7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4104456" cy="271385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75% (Bild ob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114800" cy="256984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5" name="Inhaltsplatzhalter 7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8208912" cy="271385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  <p:extLst>
      <p:ext uri="{BB962C8B-B14F-4D97-AF65-F5344CB8AC3E}">
        <p14:creationId xmlns:p14="http://schemas.microsoft.com/office/powerpoint/2010/main" val="60270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Gleichschenkliges Dreieck 8"/>
          <p:cNvSpPr>
            <a:spLocks noChangeAspect="1"/>
          </p:cNvSpPr>
          <p:nvPr/>
        </p:nvSpPr>
        <p:spPr>
          <a:xfrm rot="5400000">
            <a:off x="8394385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Gleichschenkliges Dreieck 6"/>
          <p:cNvSpPr>
            <a:spLocks noChangeAspect="1"/>
          </p:cNvSpPr>
          <p:nvPr userDrawn="1"/>
        </p:nvSpPr>
        <p:spPr>
          <a:xfrm rot="5400000">
            <a:off x="8394384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971600" y="2348880"/>
            <a:ext cx="7200800" cy="2160240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1019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  <a:p>
            <a:pPr lvl="1" eaLnBrk="1" latinLnBrk="0" hangingPunct="1"/>
            <a:r>
              <a:rPr kumimoji="0" lang="en-US" noProof="0" dirty="0" err="1"/>
              <a:t>Zweite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2" eaLnBrk="1" latinLnBrk="0" hangingPunct="1"/>
            <a:r>
              <a:rPr kumimoji="0" lang="en-US" noProof="0" dirty="0" err="1"/>
              <a:t>Dritte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3" eaLnBrk="1" latinLnBrk="0" hangingPunct="1"/>
            <a:r>
              <a:rPr kumimoji="0" lang="en-US" noProof="0" dirty="0" err="1"/>
              <a:t>Vierte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4" eaLnBrk="1" latinLnBrk="0" hangingPunct="1"/>
            <a:r>
              <a:rPr kumimoji="0" lang="en-US" noProof="0" dirty="0" err="1"/>
              <a:t>Fünfte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542234" y="6492240"/>
            <a:ext cx="601766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1</a:t>
            </a:r>
          </a:p>
        </p:txBody>
      </p:sp>
      <p:sp>
        <p:nvSpPr>
          <p:cNvPr id="29" name="Gerade Verbindung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Gleichschenkliges Dreieck 9"/>
          <p:cNvSpPr>
            <a:spLocks noChangeAspect="1"/>
          </p:cNvSpPr>
          <p:nvPr/>
        </p:nvSpPr>
        <p:spPr>
          <a:xfrm rot="5400000">
            <a:off x="8394384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8" r:id="rId3"/>
    <p:sldLayoutId id="2147483697" r:id="rId4"/>
    <p:sldLayoutId id="2147483696" r:id="rId5"/>
    <p:sldLayoutId id="2147483698" r:id="rId6"/>
    <p:sldLayoutId id="2147483692" r:id="rId7"/>
    <p:sldLayoutId id="2147483690" r:id="rId8"/>
    <p:sldLayoutId id="2147483689" r:id="rId9"/>
    <p:sldLayoutId id="2147483691" r:id="rId10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iki.osdev.org/Pagin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pixabay.com/de/globus-erde-welt-transparenz-1348777/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://pngimg.com/download/25408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hyperlink" Target="http://goo.gl/ahtAvR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pCgw4Pe-5jo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https://wiki.osdev.org/Paging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iki.osdev.org/Paging#Enabling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s://wiki.osdev.org/Paging#Page_Table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e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15616" y="3717032"/>
            <a:ext cx="7056784" cy="1159768"/>
          </a:xfrm>
        </p:spPr>
        <p:txBody>
          <a:bodyPr>
            <a:noAutofit/>
          </a:bodyPr>
          <a:lstStyle/>
          <a:p>
            <a:r>
              <a:rPr lang="de-DE" sz="3600" dirty="0"/>
              <a:t>Betriebssysteme und Netzwerke</a:t>
            </a:r>
            <a:br>
              <a:rPr lang="de-DE" sz="3600" dirty="0"/>
            </a:br>
            <a:r>
              <a:rPr lang="de-DE" sz="3600"/>
              <a:t>Vorlesung 10</a:t>
            </a:r>
            <a:endParaRPr lang="en-US" sz="36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786446" y="5124450"/>
            <a:ext cx="2290754" cy="533400"/>
          </a:xfrm>
        </p:spPr>
        <p:txBody>
          <a:bodyPr>
            <a:normAutofit/>
          </a:bodyPr>
          <a:lstStyle/>
          <a:p>
            <a:r>
              <a:rPr lang="de-DE" dirty="0"/>
              <a:t>Artur Andrzejak</a:t>
            </a:r>
          </a:p>
        </p:txBody>
      </p:sp>
      <p:sp>
        <p:nvSpPr>
          <p:cNvPr id="4" name="Untertitel 2"/>
          <p:cNvSpPr txBox="1">
            <a:spLocks/>
          </p:cNvSpPr>
          <p:nvPr/>
        </p:nvSpPr>
        <p:spPr>
          <a:xfrm>
            <a:off x="1214414" y="5072074"/>
            <a:ext cx="1214446" cy="64294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C6F006-1AE0-4AFD-A571-381A6C7F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richtig?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664794-EA2C-4342-81C5-CB053112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832A6E-7FC5-4BE8-B863-140A5A1804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A. Das </a:t>
            </a:r>
            <a:r>
              <a:rPr lang="de-DE" dirty="0" err="1"/>
              <a:t>Paging</a:t>
            </a:r>
            <a:r>
              <a:rPr lang="de-DE" dirty="0"/>
              <a:t>-Verfahren übersetzt logische Adressen in physische Adressen und vice </a:t>
            </a:r>
            <a:r>
              <a:rPr lang="de-DE" dirty="0" err="1"/>
              <a:t>versa</a:t>
            </a:r>
            <a:r>
              <a:rPr lang="de-DE" dirty="0"/>
              <a:t>.</a:t>
            </a:r>
          </a:p>
          <a:p>
            <a:r>
              <a:rPr lang="de-DE" dirty="0"/>
              <a:t>B. Bei einer direkten Seitentabelle werden die obersten k Bits (z.B. k=20) einer logischen Adresse als Index innerhalb dieser Tabelle verwendet.</a:t>
            </a:r>
          </a:p>
          <a:p>
            <a:r>
              <a:rPr lang="de-DE" dirty="0"/>
              <a:t>C. Jeder Prozess kann eine andere Größe von Seiten (= </a:t>
            </a:r>
            <a:r>
              <a:rPr lang="de-DE" dirty="0" err="1"/>
              <a:t>pages</a:t>
            </a:r>
            <a:r>
              <a:rPr lang="de-DE" dirty="0"/>
              <a:t>, Kacheln des logischen Adressraums) wählen.</a:t>
            </a:r>
          </a:p>
          <a:p>
            <a:r>
              <a:rPr lang="de-DE" dirty="0"/>
              <a:t>D. Der TLB ist effizienter (= hat höhere Hit-Rate) wenn die Seiten (</a:t>
            </a:r>
            <a:r>
              <a:rPr lang="de-DE" dirty="0" err="1"/>
              <a:t>pages</a:t>
            </a:r>
            <a:r>
              <a:rPr lang="de-DE" dirty="0"/>
              <a:t>) größer sind.</a:t>
            </a:r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8602F0-114C-436A-AAE1-279CABC2AFFF}"/>
              </a:ext>
            </a:extLst>
          </p:cNvPr>
          <p:cNvSpPr txBox="1"/>
          <p:nvPr/>
        </p:nvSpPr>
        <p:spPr>
          <a:xfrm>
            <a:off x="4788024" y="548680"/>
            <a:ext cx="336207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00FF00"/>
                </a:highlight>
              </a:rPr>
              <a:t>https://bit.ly/ibn_hd</a:t>
            </a:r>
            <a:endParaRPr lang="de-DE" sz="28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7374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Adressenübersetzung mit Zweierpotenzen/2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Adressübersetzung funktioniert durch das Ersetzen (in der Adresse) der Seitennummer </a:t>
            </a:r>
            <a:r>
              <a:rPr lang="de-DE" b="1" dirty="0">
                <a:solidFill>
                  <a:srgbClr val="0070C0"/>
                </a:solidFill>
              </a:rPr>
              <a:t>p </a:t>
            </a:r>
            <a:r>
              <a:rPr lang="de-DE" dirty="0"/>
              <a:t>durch eine (eigentlich beliebige) </a:t>
            </a:r>
            <a:r>
              <a:rPr lang="de-DE" dirty="0">
                <a:latin typeface="Helvetica" charset="0"/>
              </a:rPr>
              <a:t>Seiten</a:t>
            </a:r>
            <a:r>
              <a:rPr lang="de-DE" b="1" dirty="0">
                <a:solidFill>
                  <a:srgbClr val="FF0000"/>
                </a:solidFill>
                <a:latin typeface="Helvetica" charset="0"/>
              </a:rPr>
              <a:t>rahmen</a:t>
            </a:r>
            <a:r>
              <a:rPr lang="de-DE" dirty="0">
                <a:latin typeface="Helvetica" charset="0"/>
              </a:rPr>
              <a:t>nummer </a:t>
            </a:r>
            <a:r>
              <a:rPr lang="de-DE" b="1" dirty="0">
                <a:solidFill>
                  <a:srgbClr val="7030A0"/>
                </a:solidFill>
                <a:latin typeface="Helvetica" charset="0"/>
              </a:rPr>
              <a:t>f</a:t>
            </a:r>
            <a:r>
              <a:rPr lang="de-DE" b="1" dirty="0">
                <a:solidFill>
                  <a:srgbClr val="FFC000"/>
                </a:solidFill>
                <a:latin typeface="Helvetica" charset="0"/>
              </a:rPr>
              <a:t> </a:t>
            </a:r>
            <a:r>
              <a:rPr lang="de-DE" dirty="0">
                <a:latin typeface="Helvetica" charset="0"/>
              </a:rPr>
              <a:t>(d.h. obere Bits einer physischen Adresse)</a:t>
            </a:r>
          </a:p>
          <a:p>
            <a:r>
              <a:rPr lang="de-DE" dirty="0"/>
              <a:t>Die n Bits des Seitenoffsets </a:t>
            </a:r>
            <a:r>
              <a:rPr lang="en-US" b="1" dirty="0">
                <a:solidFill>
                  <a:srgbClr val="FF0000"/>
                </a:solidFill>
                <a:latin typeface="Helvetica" charset="0"/>
              </a:rPr>
              <a:t>d </a:t>
            </a:r>
            <a:r>
              <a:rPr lang="de-DE" dirty="0"/>
              <a:t>werden direkt übernommen</a:t>
            </a:r>
            <a:endParaRPr lang="de-DE" b="1" dirty="0">
              <a:solidFill>
                <a:srgbClr val="0070C0"/>
              </a:solidFill>
            </a:endParaRP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3"/>
          </p:nvPr>
        </p:nvSpPr>
        <p:spPr>
          <a:xfrm>
            <a:off x="470773" y="5445224"/>
            <a:ext cx="8208912" cy="1129680"/>
          </a:xfrm>
        </p:spPr>
        <p:txBody>
          <a:bodyPr/>
          <a:lstStyle/>
          <a:p>
            <a:r>
              <a:rPr lang="de-DE" dirty="0"/>
              <a:t>Hauptproblem: wie kann man das schnell machen?</a:t>
            </a:r>
          </a:p>
          <a:p>
            <a:pPr lvl="1"/>
            <a:r>
              <a:rPr lang="de-DE" dirty="0"/>
              <a:t>Speicherzugriffe müssen </a:t>
            </a:r>
            <a:r>
              <a:rPr lang="de-DE" u="sng" dirty="0"/>
              <a:t>sehr</a:t>
            </a:r>
            <a:r>
              <a:rPr lang="de-DE" dirty="0"/>
              <a:t> schnell erfolgen</a:t>
            </a:r>
          </a:p>
        </p:txBody>
      </p:sp>
      <p:grpSp>
        <p:nvGrpSpPr>
          <p:cNvPr id="13" name="Gruppieren 13"/>
          <p:cNvGrpSpPr/>
          <p:nvPr/>
        </p:nvGrpSpPr>
        <p:grpSpPr>
          <a:xfrm>
            <a:off x="4211960" y="4127348"/>
            <a:ext cx="4251679" cy="1111399"/>
            <a:chOff x="-143759" y="5273408"/>
            <a:chExt cx="4386348" cy="1405244"/>
          </a:xfrm>
        </p:grpSpPr>
        <p:grpSp>
          <p:nvGrpSpPr>
            <p:cNvPr id="14" name="Gruppieren 12"/>
            <p:cNvGrpSpPr/>
            <p:nvPr/>
          </p:nvGrpSpPr>
          <p:grpSpPr>
            <a:xfrm>
              <a:off x="-143759" y="5273408"/>
              <a:ext cx="4386348" cy="1016925"/>
              <a:chOff x="1512425" y="5273408"/>
              <a:chExt cx="4386348" cy="1016925"/>
            </a:xfrm>
          </p:grpSpPr>
          <p:sp>
            <p:nvSpPr>
              <p:cNvPr id="5" name="Rectangle 1028"/>
              <p:cNvSpPr>
                <a:spLocks noChangeArrowheads="1"/>
              </p:cNvSpPr>
              <p:nvPr/>
            </p:nvSpPr>
            <p:spPr bwMode="auto">
              <a:xfrm>
                <a:off x="2722439" y="5788124"/>
                <a:ext cx="3105150" cy="43815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6" name="Line 1030"/>
              <p:cNvSpPr>
                <a:spLocks noChangeShapeType="1"/>
              </p:cNvSpPr>
              <p:nvPr/>
            </p:nvSpPr>
            <p:spPr bwMode="auto">
              <a:xfrm>
                <a:off x="4355976" y="5445224"/>
                <a:ext cx="0" cy="762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7" name="Text Box 1031"/>
              <p:cNvSpPr txBox="1">
                <a:spLocks noChangeArrowheads="1"/>
              </p:cNvSpPr>
              <p:nvPr/>
            </p:nvSpPr>
            <p:spPr bwMode="auto">
              <a:xfrm>
                <a:off x="1512425" y="5273408"/>
                <a:ext cx="3006754" cy="466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 dirty="0">
                    <a:latin typeface="Helvetica" charset="0"/>
                  </a:rPr>
                  <a:t>Seiten</a:t>
                </a:r>
                <a:r>
                  <a:rPr lang="de-DE" b="1" dirty="0">
                    <a:solidFill>
                      <a:srgbClr val="FF0000"/>
                    </a:solidFill>
                    <a:latin typeface="Helvetica" charset="0"/>
                  </a:rPr>
                  <a:t>rahmen</a:t>
                </a:r>
                <a:r>
                  <a:rPr lang="de-DE" dirty="0">
                    <a:latin typeface="Helvetica" charset="0"/>
                  </a:rPr>
                  <a:t>nummer</a:t>
                </a:r>
              </a:p>
            </p:txBody>
          </p:sp>
          <p:sp>
            <p:nvSpPr>
              <p:cNvPr id="8" name="Text Box 1032"/>
              <p:cNvSpPr txBox="1">
                <a:spLocks noChangeArrowheads="1"/>
              </p:cNvSpPr>
              <p:nvPr/>
            </p:nvSpPr>
            <p:spPr bwMode="auto">
              <a:xfrm>
                <a:off x="4499992" y="5301208"/>
                <a:ext cx="139878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>
                    <a:latin typeface="Helvetica" charset="0"/>
                  </a:rPr>
                  <a:t>Seitenoffset</a:t>
                </a:r>
              </a:p>
            </p:txBody>
          </p:sp>
          <p:sp>
            <p:nvSpPr>
              <p:cNvPr id="9" name="Text Box 1033"/>
              <p:cNvSpPr txBox="1">
                <a:spLocks noChangeArrowheads="1"/>
              </p:cNvSpPr>
              <p:nvPr/>
            </p:nvSpPr>
            <p:spPr bwMode="auto">
              <a:xfrm>
                <a:off x="3253162" y="5706607"/>
                <a:ext cx="296358" cy="5837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 sz="2400" b="1" i="1" dirty="0">
                    <a:solidFill>
                      <a:srgbClr val="7030A0"/>
                    </a:solidFill>
                    <a:latin typeface="Helvetica" charset="0"/>
                  </a:rPr>
                  <a:t>f</a:t>
                </a:r>
                <a:endParaRPr lang="en-US" sz="2400" i="1" dirty="0">
                  <a:solidFill>
                    <a:srgbClr val="7030A0"/>
                  </a:solidFill>
                  <a:latin typeface="Helvetica" charset="0"/>
                </a:endParaRPr>
              </a:p>
            </p:txBody>
          </p:sp>
          <p:sp>
            <p:nvSpPr>
              <p:cNvPr id="10" name="Text Box 1035"/>
              <p:cNvSpPr txBox="1">
                <a:spLocks noChangeArrowheads="1"/>
              </p:cNvSpPr>
              <p:nvPr/>
            </p:nvSpPr>
            <p:spPr bwMode="auto">
              <a:xfrm>
                <a:off x="4713414" y="5795139"/>
                <a:ext cx="336048" cy="466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>
                    <a:solidFill>
                      <a:srgbClr val="FF0000"/>
                    </a:solidFill>
                    <a:latin typeface="Helvetica" charset="0"/>
                  </a:rPr>
                  <a:t>d</a:t>
                </a:r>
              </a:p>
            </p:txBody>
          </p:sp>
        </p:grpSp>
        <p:sp>
          <p:nvSpPr>
            <p:cNvPr id="11" name="Text Box 1036"/>
            <p:cNvSpPr txBox="1">
              <a:spLocks noChangeArrowheads="1"/>
            </p:cNvSpPr>
            <p:nvPr/>
          </p:nvSpPr>
          <p:spPr bwMode="auto">
            <a:xfrm>
              <a:off x="1259632" y="6309320"/>
              <a:ext cx="13681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>
                  <a:latin typeface="Helvetica" charset="0"/>
                </a:rPr>
                <a:t>m - n  Bits</a:t>
              </a:r>
            </a:p>
          </p:txBody>
        </p:sp>
        <p:sp>
          <p:nvSpPr>
            <p:cNvPr id="12" name="Text Box 1038"/>
            <p:cNvSpPr txBox="1">
              <a:spLocks noChangeArrowheads="1"/>
            </p:cNvSpPr>
            <p:nvPr/>
          </p:nvSpPr>
          <p:spPr bwMode="auto">
            <a:xfrm>
              <a:off x="3059832" y="6309320"/>
              <a:ext cx="9722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>
                  <a:latin typeface="Helvetica" charset="0"/>
                </a:rPr>
                <a:t>n  Bits</a:t>
              </a:r>
            </a:p>
          </p:txBody>
        </p:sp>
      </p:grpSp>
      <p:grpSp>
        <p:nvGrpSpPr>
          <p:cNvPr id="15" name="Gruppieren 14"/>
          <p:cNvGrpSpPr/>
          <p:nvPr/>
        </p:nvGrpSpPr>
        <p:grpSpPr>
          <a:xfrm>
            <a:off x="470773" y="4097115"/>
            <a:ext cx="3317524" cy="1128027"/>
            <a:chOff x="819985" y="5252383"/>
            <a:chExt cx="3422604" cy="1426269"/>
          </a:xfrm>
        </p:grpSpPr>
        <p:grpSp>
          <p:nvGrpSpPr>
            <p:cNvPr id="16" name="Gruppieren 15"/>
            <p:cNvGrpSpPr/>
            <p:nvPr/>
          </p:nvGrpSpPr>
          <p:grpSpPr>
            <a:xfrm>
              <a:off x="819985" y="5252383"/>
              <a:ext cx="3422604" cy="1009738"/>
              <a:chOff x="2476169" y="5252383"/>
              <a:chExt cx="3422604" cy="1009738"/>
            </a:xfrm>
          </p:grpSpPr>
          <p:sp>
            <p:nvSpPr>
              <p:cNvPr id="19" name="Rectangle 1028"/>
              <p:cNvSpPr>
                <a:spLocks noChangeArrowheads="1"/>
              </p:cNvSpPr>
              <p:nvPr/>
            </p:nvSpPr>
            <p:spPr bwMode="auto">
              <a:xfrm>
                <a:off x="2722439" y="5788124"/>
                <a:ext cx="3105150" cy="43815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20" name="Line 1030"/>
              <p:cNvSpPr>
                <a:spLocks noChangeShapeType="1"/>
              </p:cNvSpPr>
              <p:nvPr/>
            </p:nvSpPr>
            <p:spPr bwMode="auto">
              <a:xfrm>
                <a:off x="4355976" y="5445224"/>
                <a:ext cx="0" cy="762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21" name="Text Box 1031"/>
              <p:cNvSpPr txBox="1">
                <a:spLocks noChangeArrowheads="1"/>
              </p:cNvSpPr>
              <p:nvPr/>
            </p:nvSpPr>
            <p:spPr bwMode="auto">
              <a:xfrm>
                <a:off x="2476169" y="5252383"/>
                <a:ext cx="1844293" cy="466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 b="1" dirty="0">
                    <a:solidFill>
                      <a:srgbClr val="FF0000"/>
                    </a:solidFill>
                    <a:latin typeface="Helvetica" charset="0"/>
                  </a:rPr>
                  <a:t>Seitennummer</a:t>
                </a:r>
              </a:p>
            </p:txBody>
          </p:sp>
          <p:sp>
            <p:nvSpPr>
              <p:cNvPr id="22" name="Text Box 1032"/>
              <p:cNvSpPr txBox="1">
                <a:spLocks noChangeArrowheads="1"/>
              </p:cNvSpPr>
              <p:nvPr/>
            </p:nvSpPr>
            <p:spPr bwMode="auto">
              <a:xfrm>
                <a:off x="4499992" y="5301208"/>
                <a:ext cx="139878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>
                    <a:latin typeface="Helvetica" charset="0"/>
                  </a:rPr>
                  <a:t>Seitenoffset</a:t>
                </a:r>
              </a:p>
            </p:txBody>
          </p:sp>
          <p:sp>
            <p:nvSpPr>
              <p:cNvPr id="23" name="Text Box 1033"/>
              <p:cNvSpPr txBox="1">
                <a:spLocks noChangeArrowheads="1"/>
              </p:cNvSpPr>
              <p:nvPr/>
            </p:nvSpPr>
            <p:spPr bwMode="auto">
              <a:xfrm>
                <a:off x="3255759" y="5745520"/>
                <a:ext cx="352585" cy="5058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b="1" i="1" dirty="0">
                    <a:solidFill>
                      <a:srgbClr val="0070C0"/>
                    </a:solidFill>
                    <a:latin typeface="Helvetica" charset="0"/>
                  </a:rPr>
                  <a:t>p</a:t>
                </a:r>
                <a:endParaRPr lang="en-US" sz="2000" b="1" dirty="0">
                  <a:solidFill>
                    <a:srgbClr val="0070C0"/>
                  </a:solidFill>
                  <a:latin typeface="Helvetica" charset="0"/>
                </a:endParaRPr>
              </a:p>
            </p:txBody>
          </p:sp>
          <p:sp>
            <p:nvSpPr>
              <p:cNvPr id="24" name="Text Box 1035"/>
              <p:cNvSpPr txBox="1">
                <a:spLocks noChangeArrowheads="1"/>
              </p:cNvSpPr>
              <p:nvPr/>
            </p:nvSpPr>
            <p:spPr bwMode="auto">
              <a:xfrm>
                <a:off x="4713414" y="5795140"/>
                <a:ext cx="336048" cy="4669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>
                    <a:solidFill>
                      <a:srgbClr val="FF0000"/>
                    </a:solidFill>
                    <a:latin typeface="Helvetica" charset="0"/>
                  </a:rPr>
                  <a:t>d</a:t>
                </a:r>
              </a:p>
            </p:txBody>
          </p:sp>
        </p:grpSp>
        <p:sp>
          <p:nvSpPr>
            <p:cNvPr id="17" name="Text Box 1036"/>
            <p:cNvSpPr txBox="1">
              <a:spLocks noChangeArrowheads="1"/>
            </p:cNvSpPr>
            <p:nvPr/>
          </p:nvSpPr>
          <p:spPr bwMode="auto">
            <a:xfrm>
              <a:off x="1259632" y="6309320"/>
              <a:ext cx="13681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>
                  <a:latin typeface="Helvetica" charset="0"/>
                </a:rPr>
                <a:t>m - n  Bits</a:t>
              </a:r>
            </a:p>
          </p:txBody>
        </p:sp>
        <p:sp>
          <p:nvSpPr>
            <p:cNvPr id="18" name="Text Box 1038"/>
            <p:cNvSpPr txBox="1">
              <a:spLocks noChangeArrowheads="1"/>
            </p:cNvSpPr>
            <p:nvPr/>
          </p:nvSpPr>
          <p:spPr bwMode="auto">
            <a:xfrm>
              <a:off x="3059832" y="6309320"/>
              <a:ext cx="9722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>
                  <a:latin typeface="Helvetica" charset="0"/>
                </a:rPr>
                <a:t>n  Bits</a:t>
              </a:r>
            </a:p>
          </p:txBody>
        </p:sp>
      </p:grpSp>
      <p:sp>
        <p:nvSpPr>
          <p:cNvPr id="27" name="Pfeil nach rechts 26"/>
          <p:cNvSpPr/>
          <p:nvPr/>
        </p:nvSpPr>
        <p:spPr>
          <a:xfrm>
            <a:off x="3995936" y="4487388"/>
            <a:ext cx="720080" cy="360040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/>
          <p:cNvSpPr txBox="1"/>
          <p:nvPr/>
        </p:nvSpPr>
        <p:spPr>
          <a:xfrm>
            <a:off x="1187624" y="3767308"/>
            <a:ext cx="192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logische Adresse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5796136" y="3767308"/>
            <a:ext cx="210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physische Adresse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0EFA506-5527-B48F-942E-DB95143279CD}"/>
              </a:ext>
            </a:extLst>
          </p:cNvPr>
          <p:cNvSpPr/>
          <p:nvPr/>
        </p:nvSpPr>
        <p:spPr>
          <a:xfrm rot="854493">
            <a:off x="6877523" y="-30349"/>
            <a:ext cx="2232249" cy="7584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Wiederholung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546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Adressübersetzung durch Direkte Seitentabelle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511847" y="6492240"/>
            <a:ext cx="601766" cy="365760"/>
          </a:xfrm>
        </p:spPr>
        <p:txBody>
          <a:bodyPr/>
          <a:lstStyle/>
          <a:p>
            <a:fld id="{7183533A-8A50-4A1F-BEA9-C8C6956451EB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252" y="1164501"/>
            <a:ext cx="6734175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feld 6"/>
          <p:cNvSpPr txBox="1"/>
          <p:nvPr/>
        </p:nvSpPr>
        <p:spPr>
          <a:xfrm>
            <a:off x="3036483" y="486826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Seitentabelle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327340" y="2100605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logische</a:t>
            </a:r>
          </a:p>
          <a:p>
            <a:r>
              <a:rPr lang="de-DE" dirty="0"/>
              <a:t>Adresse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4344171" y="2796831"/>
            <a:ext cx="1210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physische</a:t>
            </a:r>
          </a:p>
          <a:p>
            <a:r>
              <a:rPr lang="de-DE" dirty="0"/>
              <a:t>Adresse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009699" y="2288422"/>
            <a:ext cx="1633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rgbClr val="0070C0"/>
                </a:solidFill>
              </a:rPr>
              <a:t>f</a:t>
            </a:r>
            <a:r>
              <a:rPr lang="de-DE" sz="1600" dirty="0"/>
              <a:t> = Seiten-</a:t>
            </a:r>
          </a:p>
          <a:p>
            <a:r>
              <a:rPr lang="de-DE" sz="1600" dirty="0" err="1"/>
              <a:t>rahmennummer</a:t>
            </a:r>
            <a:endParaRPr lang="de-DE" sz="1600" dirty="0"/>
          </a:p>
        </p:txBody>
      </p:sp>
      <p:sp>
        <p:nvSpPr>
          <p:cNvPr id="11" name="Textfeld 10"/>
          <p:cNvSpPr txBox="1"/>
          <p:nvPr/>
        </p:nvSpPr>
        <p:spPr>
          <a:xfrm>
            <a:off x="5475920" y="1275056"/>
            <a:ext cx="1376829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Physischer </a:t>
            </a:r>
          </a:p>
          <a:p>
            <a:r>
              <a:rPr lang="de-DE" dirty="0"/>
              <a:t>Speicher</a:t>
            </a:r>
          </a:p>
        </p:txBody>
      </p:sp>
      <p:sp>
        <p:nvSpPr>
          <p:cNvPr id="12" name="Geschweifte Klammer links 11"/>
          <p:cNvSpPr/>
          <p:nvPr/>
        </p:nvSpPr>
        <p:spPr>
          <a:xfrm rot="16200000">
            <a:off x="4850194" y="3424071"/>
            <a:ext cx="360040" cy="1008112"/>
          </a:xfrm>
          <a:prstGeom prst="lef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4279668" y="4116829"/>
            <a:ext cx="1402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Offsetbereich</a:t>
            </a:r>
          </a:p>
          <a:p>
            <a:r>
              <a:rPr lang="de-DE" sz="1600" dirty="0"/>
              <a:t>der Adresse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7796572" y="1181271"/>
            <a:ext cx="122341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dirty="0"/>
              <a:t>Adresse 0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7907764" y="4134235"/>
            <a:ext cx="123623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dirty="0"/>
              <a:t>Maximale </a:t>
            </a:r>
          </a:p>
          <a:p>
            <a:r>
              <a:rPr lang="de-DE" dirty="0"/>
              <a:t>physische</a:t>
            </a:r>
          </a:p>
          <a:p>
            <a:r>
              <a:rPr lang="de-DE" dirty="0"/>
              <a:t>Adresse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40282" y="1195118"/>
            <a:ext cx="4807782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f = Seitenrahmennummer = die oberen Bits der Basisadresse eines Seitenrahmens</a:t>
            </a:r>
          </a:p>
        </p:txBody>
      </p:sp>
      <p:cxnSp>
        <p:nvCxnSpPr>
          <p:cNvPr id="21" name="Gerade Verbindung mit Pfeil 20"/>
          <p:cNvCxnSpPr>
            <a:stCxn id="19" idx="2"/>
          </p:cNvCxnSpPr>
          <p:nvPr/>
        </p:nvCxnSpPr>
        <p:spPr>
          <a:xfrm>
            <a:off x="2744173" y="1841449"/>
            <a:ext cx="1599998" cy="7632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1"/>
          </p:cNvCxnSpPr>
          <p:nvPr/>
        </p:nvCxnSpPr>
        <p:spPr>
          <a:xfrm flipH="1" flipV="1">
            <a:off x="6943964" y="1181271"/>
            <a:ext cx="852608" cy="18466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1"/>
          </p:cNvCxnSpPr>
          <p:nvPr/>
        </p:nvCxnSpPr>
        <p:spPr>
          <a:xfrm flipH="1">
            <a:off x="6943964" y="4595900"/>
            <a:ext cx="963800" cy="5497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/>
          <p:cNvSpPr/>
          <p:nvPr/>
        </p:nvSpPr>
        <p:spPr>
          <a:xfrm rot="854493">
            <a:off x="7050099" y="-21166"/>
            <a:ext cx="2232249" cy="7584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Wiederholung</a:t>
            </a:r>
            <a:endParaRPr lang="en-US" sz="2400" dirty="0"/>
          </a:p>
        </p:txBody>
      </p:sp>
      <p:sp>
        <p:nvSpPr>
          <p:cNvPr id="3" name="Textfeld 2"/>
          <p:cNvSpPr txBox="1"/>
          <p:nvPr/>
        </p:nvSpPr>
        <p:spPr>
          <a:xfrm>
            <a:off x="7092279" y="1637035"/>
            <a:ext cx="19032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f*(</a:t>
            </a:r>
            <a:r>
              <a:rPr lang="en-US" dirty="0" err="1"/>
              <a:t>Seitengröße</a:t>
            </a:r>
            <a:r>
              <a:rPr lang="en-US" dirty="0"/>
              <a:t>)</a:t>
            </a:r>
          </a:p>
        </p:txBody>
      </p:sp>
      <p:grpSp>
        <p:nvGrpSpPr>
          <p:cNvPr id="5" name="Gruppieren 4"/>
          <p:cNvGrpSpPr/>
          <p:nvPr/>
        </p:nvGrpSpPr>
        <p:grpSpPr>
          <a:xfrm>
            <a:off x="179512" y="5600918"/>
            <a:ext cx="7992866" cy="1164321"/>
            <a:chOff x="179512" y="5600918"/>
            <a:chExt cx="7992866" cy="1164321"/>
          </a:xfrm>
        </p:grpSpPr>
        <p:grpSp>
          <p:nvGrpSpPr>
            <p:cNvPr id="50" name="Gruppieren 12"/>
            <p:cNvGrpSpPr/>
            <p:nvPr/>
          </p:nvGrpSpPr>
          <p:grpSpPr>
            <a:xfrm>
              <a:off x="3920699" y="5960959"/>
              <a:ext cx="4251679" cy="804280"/>
              <a:chOff x="1512425" y="5273408"/>
              <a:chExt cx="4386348" cy="1016925"/>
            </a:xfrm>
          </p:grpSpPr>
          <p:sp>
            <p:nvSpPr>
              <p:cNvPr id="53" name="Rectangle 1028"/>
              <p:cNvSpPr>
                <a:spLocks noChangeArrowheads="1"/>
              </p:cNvSpPr>
              <p:nvPr/>
            </p:nvSpPr>
            <p:spPr bwMode="auto">
              <a:xfrm>
                <a:off x="2722439" y="5788124"/>
                <a:ext cx="3105150" cy="43815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54" name="Line 1030"/>
              <p:cNvSpPr>
                <a:spLocks noChangeShapeType="1"/>
              </p:cNvSpPr>
              <p:nvPr/>
            </p:nvSpPr>
            <p:spPr bwMode="auto">
              <a:xfrm>
                <a:off x="4355976" y="5445224"/>
                <a:ext cx="0" cy="762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55" name="Text Box 1031"/>
              <p:cNvSpPr txBox="1">
                <a:spLocks noChangeArrowheads="1"/>
              </p:cNvSpPr>
              <p:nvPr/>
            </p:nvSpPr>
            <p:spPr bwMode="auto">
              <a:xfrm>
                <a:off x="1512425" y="5273408"/>
                <a:ext cx="3006754" cy="466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 dirty="0">
                    <a:latin typeface="Helvetica" charset="0"/>
                  </a:rPr>
                  <a:t>Seiten</a:t>
                </a:r>
                <a:r>
                  <a:rPr lang="de-DE" b="1" dirty="0">
                    <a:solidFill>
                      <a:srgbClr val="FF0000"/>
                    </a:solidFill>
                    <a:latin typeface="Helvetica" charset="0"/>
                  </a:rPr>
                  <a:t>rahmen</a:t>
                </a:r>
                <a:r>
                  <a:rPr lang="de-DE" dirty="0">
                    <a:latin typeface="Helvetica" charset="0"/>
                  </a:rPr>
                  <a:t>nummer</a:t>
                </a:r>
              </a:p>
            </p:txBody>
          </p:sp>
          <p:sp>
            <p:nvSpPr>
              <p:cNvPr id="56" name="Text Box 1032"/>
              <p:cNvSpPr txBox="1">
                <a:spLocks noChangeArrowheads="1"/>
              </p:cNvSpPr>
              <p:nvPr/>
            </p:nvSpPr>
            <p:spPr bwMode="auto">
              <a:xfrm>
                <a:off x="4499992" y="5301208"/>
                <a:ext cx="139878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>
                    <a:latin typeface="Helvetica" charset="0"/>
                  </a:rPr>
                  <a:t>Seitenoffset</a:t>
                </a:r>
              </a:p>
            </p:txBody>
          </p:sp>
          <p:sp>
            <p:nvSpPr>
              <p:cNvPr id="57" name="Text Box 1033"/>
              <p:cNvSpPr txBox="1">
                <a:spLocks noChangeArrowheads="1"/>
              </p:cNvSpPr>
              <p:nvPr/>
            </p:nvSpPr>
            <p:spPr bwMode="auto">
              <a:xfrm>
                <a:off x="3253162" y="5706607"/>
                <a:ext cx="296358" cy="5837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 sz="2400" b="1" i="1" dirty="0">
                    <a:solidFill>
                      <a:srgbClr val="7030A0"/>
                    </a:solidFill>
                    <a:latin typeface="Helvetica" charset="0"/>
                  </a:rPr>
                  <a:t>f</a:t>
                </a:r>
                <a:endParaRPr lang="en-US" sz="2400" i="1" dirty="0">
                  <a:solidFill>
                    <a:srgbClr val="7030A0"/>
                  </a:solidFill>
                  <a:latin typeface="Helvetica" charset="0"/>
                </a:endParaRPr>
              </a:p>
            </p:txBody>
          </p:sp>
          <p:sp>
            <p:nvSpPr>
              <p:cNvPr id="58" name="Text Box 1035"/>
              <p:cNvSpPr txBox="1">
                <a:spLocks noChangeArrowheads="1"/>
              </p:cNvSpPr>
              <p:nvPr/>
            </p:nvSpPr>
            <p:spPr bwMode="auto">
              <a:xfrm>
                <a:off x="4713414" y="5795139"/>
                <a:ext cx="336048" cy="466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>
                    <a:solidFill>
                      <a:srgbClr val="FF0000"/>
                    </a:solidFill>
                    <a:latin typeface="Helvetica" charset="0"/>
                  </a:rPr>
                  <a:t>d</a:t>
                </a:r>
              </a:p>
            </p:txBody>
          </p:sp>
        </p:grpSp>
        <p:grpSp>
          <p:nvGrpSpPr>
            <p:cNvPr id="60" name="Gruppieren 59"/>
            <p:cNvGrpSpPr/>
            <p:nvPr/>
          </p:nvGrpSpPr>
          <p:grpSpPr>
            <a:xfrm>
              <a:off x="179512" y="5930723"/>
              <a:ext cx="3317524" cy="798595"/>
              <a:chOff x="2476169" y="5252383"/>
              <a:chExt cx="3422604" cy="1009738"/>
            </a:xfrm>
          </p:grpSpPr>
          <p:sp>
            <p:nvSpPr>
              <p:cNvPr id="63" name="Rectangle 1028"/>
              <p:cNvSpPr>
                <a:spLocks noChangeArrowheads="1"/>
              </p:cNvSpPr>
              <p:nvPr/>
            </p:nvSpPr>
            <p:spPr bwMode="auto">
              <a:xfrm>
                <a:off x="2722439" y="5788124"/>
                <a:ext cx="3105150" cy="43815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64" name="Line 1030"/>
              <p:cNvSpPr>
                <a:spLocks noChangeShapeType="1"/>
              </p:cNvSpPr>
              <p:nvPr/>
            </p:nvSpPr>
            <p:spPr bwMode="auto">
              <a:xfrm>
                <a:off x="4355976" y="5445224"/>
                <a:ext cx="0" cy="762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65" name="Text Box 1031"/>
              <p:cNvSpPr txBox="1">
                <a:spLocks noChangeArrowheads="1"/>
              </p:cNvSpPr>
              <p:nvPr/>
            </p:nvSpPr>
            <p:spPr bwMode="auto">
              <a:xfrm>
                <a:off x="2476169" y="5252383"/>
                <a:ext cx="1844293" cy="466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 b="1" dirty="0">
                    <a:solidFill>
                      <a:srgbClr val="FF0000"/>
                    </a:solidFill>
                    <a:latin typeface="Helvetica" charset="0"/>
                  </a:rPr>
                  <a:t>Seitennummer</a:t>
                </a:r>
              </a:p>
            </p:txBody>
          </p:sp>
          <p:sp>
            <p:nvSpPr>
              <p:cNvPr id="66" name="Text Box 1032"/>
              <p:cNvSpPr txBox="1">
                <a:spLocks noChangeArrowheads="1"/>
              </p:cNvSpPr>
              <p:nvPr/>
            </p:nvSpPr>
            <p:spPr bwMode="auto">
              <a:xfrm>
                <a:off x="4499992" y="5301208"/>
                <a:ext cx="139878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de-DE">
                    <a:latin typeface="Helvetica" charset="0"/>
                  </a:rPr>
                  <a:t>Seitenoffset</a:t>
                </a:r>
              </a:p>
            </p:txBody>
          </p:sp>
          <p:sp>
            <p:nvSpPr>
              <p:cNvPr id="67" name="Text Box 1033"/>
              <p:cNvSpPr txBox="1">
                <a:spLocks noChangeArrowheads="1"/>
              </p:cNvSpPr>
              <p:nvPr/>
            </p:nvSpPr>
            <p:spPr bwMode="auto">
              <a:xfrm>
                <a:off x="3255759" y="5745520"/>
                <a:ext cx="352585" cy="5058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b="1" i="1" dirty="0">
                    <a:solidFill>
                      <a:srgbClr val="0070C0"/>
                    </a:solidFill>
                    <a:latin typeface="Helvetica" charset="0"/>
                  </a:rPr>
                  <a:t>p</a:t>
                </a:r>
                <a:endParaRPr lang="en-US" sz="2000" b="1" dirty="0">
                  <a:solidFill>
                    <a:srgbClr val="0070C0"/>
                  </a:solidFill>
                  <a:latin typeface="Helvetica" charset="0"/>
                </a:endParaRPr>
              </a:p>
            </p:txBody>
          </p:sp>
          <p:sp>
            <p:nvSpPr>
              <p:cNvPr id="68" name="Text Box 1035"/>
              <p:cNvSpPr txBox="1">
                <a:spLocks noChangeArrowheads="1"/>
              </p:cNvSpPr>
              <p:nvPr/>
            </p:nvSpPr>
            <p:spPr bwMode="auto">
              <a:xfrm>
                <a:off x="4713414" y="5795140"/>
                <a:ext cx="336048" cy="4669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>
                    <a:solidFill>
                      <a:srgbClr val="FF0000"/>
                    </a:solidFill>
                    <a:latin typeface="Helvetica" charset="0"/>
                  </a:rPr>
                  <a:t>d</a:t>
                </a:r>
              </a:p>
            </p:txBody>
          </p:sp>
        </p:grpSp>
        <p:sp>
          <p:nvSpPr>
            <p:cNvPr id="69" name="Pfeil nach rechts 68"/>
            <p:cNvSpPr/>
            <p:nvPr/>
          </p:nvSpPr>
          <p:spPr>
            <a:xfrm>
              <a:off x="3704675" y="6320998"/>
              <a:ext cx="720080" cy="360040"/>
            </a:xfrm>
            <a:prstGeom prst="right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Textfeld 69"/>
            <p:cNvSpPr txBox="1"/>
            <p:nvPr/>
          </p:nvSpPr>
          <p:spPr>
            <a:xfrm>
              <a:off x="896363" y="5600918"/>
              <a:ext cx="1928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logische Adresse</a:t>
              </a:r>
            </a:p>
          </p:txBody>
        </p:sp>
        <p:sp>
          <p:nvSpPr>
            <p:cNvPr id="71" name="Textfeld 70"/>
            <p:cNvSpPr txBox="1"/>
            <p:nvPr/>
          </p:nvSpPr>
          <p:spPr>
            <a:xfrm>
              <a:off x="5504875" y="5600918"/>
              <a:ext cx="2108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physische Adresse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659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Beschleunigen der Adressenübersetzung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2497832"/>
          </a:xfrm>
        </p:spPr>
        <p:txBody>
          <a:bodyPr>
            <a:normAutofit/>
          </a:bodyPr>
          <a:lstStyle/>
          <a:p>
            <a:r>
              <a:rPr lang="de-DE" dirty="0"/>
              <a:t>Die Lösung nutzt </a:t>
            </a:r>
            <a:r>
              <a:rPr lang="de-DE" dirty="0" err="1">
                <a:solidFill>
                  <a:srgbClr val="0070C0"/>
                </a:solidFill>
              </a:rPr>
              <a:t>spacial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locality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/>
              <a:t>aus: </a:t>
            </a:r>
          </a:p>
          <a:p>
            <a:pPr lvl="1"/>
            <a:r>
              <a:rPr lang="de-DE" dirty="0"/>
              <a:t>Sehr wenige Seiten werden sehr häufig verwendet</a:t>
            </a:r>
          </a:p>
          <a:p>
            <a:r>
              <a:rPr lang="de-DE" dirty="0"/>
              <a:t>Man verwendet einen </a:t>
            </a:r>
            <a:r>
              <a:rPr lang="de-DE" dirty="0">
                <a:solidFill>
                  <a:srgbClr val="0070C0"/>
                </a:solidFill>
              </a:rPr>
              <a:t>Cache</a:t>
            </a:r>
            <a:r>
              <a:rPr lang="de-DE" dirty="0"/>
              <a:t> für die Einträge der Seitentabelle (spezielle Hardware in MMU)</a:t>
            </a:r>
          </a:p>
          <a:p>
            <a:pPr lvl="1"/>
            <a:r>
              <a:rPr lang="de-DE" dirty="0"/>
              <a:t>Den </a:t>
            </a:r>
            <a:r>
              <a:rPr lang="de-DE" b="1" dirty="0">
                <a:solidFill>
                  <a:srgbClr val="FF0000"/>
                </a:solidFill>
              </a:rPr>
              <a:t>Translation Look-</a:t>
            </a:r>
            <a:r>
              <a:rPr lang="de-DE" b="1" dirty="0" err="1">
                <a:solidFill>
                  <a:srgbClr val="FF0000"/>
                </a:solidFill>
              </a:rPr>
              <a:t>Aside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Buffer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(</a:t>
            </a:r>
            <a:r>
              <a:rPr lang="de-DE" b="1" dirty="0">
                <a:solidFill>
                  <a:srgbClr val="FF0000"/>
                </a:solidFill>
              </a:rPr>
              <a:t>TLB</a:t>
            </a:r>
            <a:r>
              <a:rPr lang="de-DE" dirty="0"/>
              <a:t>)</a:t>
            </a:r>
            <a:endParaRPr lang="de-DE" b="1" dirty="0">
              <a:solidFill>
                <a:srgbClr val="FF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</a:t>
            </a:fld>
            <a:endParaRPr lang="en-US" noProof="0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/>
        </p:nvGraphicFramePr>
        <p:xfrm>
          <a:off x="323528" y="3789040"/>
          <a:ext cx="705678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4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Gültig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Seitenindex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Seitenrahmennr</a:t>
                      </a:r>
                      <a:r>
                        <a:rPr lang="de-DE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Verändert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Schutzart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  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feld 8"/>
          <p:cNvSpPr txBox="1"/>
          <p:nvPr/>
        </p:nvSpPr>
        <p:spPr>
          <a:xfrm>
            <a:off x="1691680" y="5301208"/>
            <a:ext cx="159530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b="1" u="sng" dirty="0">
                <a:solidFill>
                  <a:srgbClr val="0070C0"/>
                </a:solidFill>
              </a:rPr>
              <a:t>parallele</a:t>
            </a:r>
          </a:p>
          <a:p>
            <a:r>
              <a:rPr lang="de-DE" dirty="0"/>
              <a:t>Suche nach p</a:t>
            </a:r>
          </a:p>
        </p:txBody>
      </p:sp>
      <p:grpSp>
        <p:nvGrpSpPr>
          <p:cNvPr id="5" name="Gruppieren 13"/>
          <p:cNvGrpSpPr/>
          <p:nvPr/>
        </p:nvGrpSpPr>
        <p:grpSpPr>
          <a:xfrm>
            <a:off x="270053" y="6070920"/>
            <a:ext cx="2516853" cy="677198"/>
            <a:chOff x="2563355" y="5231384"/>
            <a:chExt cx="3351985" cy="1018097"/>
          </a:xfrm>
        </p:grpSpPr>
        <p:sp>
          <p:nvSpPr>
            <p:cNvPr id="15" name="Rectangle 1028"/>
            <p:cNvSpPr>
              <a:spLocks noChangeArrowheads="1"/>
            </p:cNvSpPr>
            <p:nvPr/>
          </p:nvSpPr>
          <p:spPr bwMode="auto">
            <a:xfrm>
              <a:off x="2722439" y="5788124"/>
              <a:ext cx="3105150" cy="43815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1600"/>
            </a:p>
          </p:txBody>
        </p:sp>
        <p:sp>
          <p:nvSpPr>
            <p:cNvPr id="16" name="Line 1030"/>
            <p:cNvSpPr>
              <a:spLocks noChangeShapeType="1"/>
            </p:cNvSpPr>
            <p:nvPr/>
          </p:nvSpPr>
          <p:spPr bwMode="auto">
            <a:xfrm>
              <a:off x="4355976" y="5445224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 sz="1600"/>
            </a:p>
          </p:txBody>
        </p:sp>
        <p:sp>
          <p:nvSpPr>
            <p:cNvPr id="17" name="Text Box 1031"/>
            <p:cNvSpPr txBox="1">
              <a:spLocks noChangeArrowheads="1"/>
            </p:cNvSpPr>
            <p:nvPr/>
          </p:nvSpPr>
          <p:spPr bwMode="auto">
            <a:xfrm>
              <a:off x="2563355" y="5231384"/>
              <a:ext cx="1669921" cy="508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 sz="1600" dirty="0">
                  <a:latin typeface="Helvetica" charset="0"/>
                </a:rPr>
                <a:t>Seitenindex</a:t>
              </a:r>
            </a:p>
          </p:txBody>
        </p:sp>
        <p:sp>
          <p:nvSpPr>
            <p:cNvPr id="18" name="Text Box 1032"/>
            <p:cNvSpPr txBox="1">
              <a:spLocks noChangeArrowheads="1"/>
            </p:cNvSpPr>
            <p:nvPr/>
          </p:nvSpPr>
          <p:spPr bwMode="auto">
            <a:xfrm>
              <a:off x="4483427" y="5265025"/>
              <a:ext cx="1431913" cy="441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 sz="1600" dirty="0">
                  <a:latin typeface="Helvetica" charset="0"/>
                </a:rPr>
                <a:t>Seitenoffset</a:t>
              </a:r>
            </a:p>
          </p:txBody>
        </p:sp>
        <p:sp>
          <p:nvSpPr>
            <p:cNvPr id="19" name="Text Box 1033"/>
            <p:cNvSpPr txBox="1">
              <a:spLocks noChangeArrowheads="1"/>
            </p:cNvSpPr>
            <p:nvPr/>
          </p:nvSpPr>
          <p:spPr bwMode="auto">
            <a:xfrm>
              <a:off x="3263064" y="5777619"/>
              <a:ext cx="337977" cy="441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i="1">
                  <a:latin typeface="Helvetica" charset="0"/>
                </a:rPr>
                <a:t>p</a:t>
              </a:r>
              <a:endParaRPr lang="en-US" sz="1600">
                <a:latin typeface="Helvetica" charset="0"/>
              </a:endParaRPr>
            </a:p>
          </p:txBody>
        </p:sp>
        <p:sp>
          <p:nvSpPr>
            <p:cNvPr id="20" name="Text Box 1035"/>
            <p:cNvSpPr txBox="1">
              <a:spLocks noChangeArrowheads="1"/>
            </p:cNvSpPr>
            <p:nvPr/>
          </p:nvSpPr>
          <p:spPr bwMode="auto">
            <a:xfrm>
              <a:off x="4712451" y="5807780"/>
              <a:ext cx="337977" cy="441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i="1">
                  <a:latin typeface="Helvetica" charset="0"/>
                </a:rPr>
                <a:t>d</a:t>
              </a:r>
              <a:endParaRPr lang="en-US" sz="1600">
                <a:latin typeface="Helvetica" charset="0"/>
              </a:endParaRPr>
            </a:p>
          </p:txBody>
        </p:sp>
      </p:grpSp>
      <p:cxnSp>
        <p:nvCxnSpPr>
          <p:cNvPr id="22" name="Gerade Verbindung mit Pfeil 21"/>
          <p:cNvCxnSpPr>
            <a:stCxn id="9" idx="0"/>
            <a:endCxn id="25" idx="1"/>
          </p:cNvCxnSpPr>
          <p:nvPr/>
        </p:nvCxnSpPr>
        <p:spPr>
          <a:xfrm rot="16200000" flipV="1">
            <a:off x="1964494" y="4776366"/>
            <a:ext cx="540060" cy="50962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3563888" y="5301208"/>
            <a:ext cx="3096344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Beim Treffer wird hier</a:t>
            </a:r>
          </a:p>
          <a:p>
            <a:r>
              <a:rPr lang="de-DE" dirty="0"/>
              <a:t>die Basisadresse des Seitenrahmens entnommen</a:t>
            </a:r>
          </a:p>
        </p:txBody>
      </p:sp>
      <p:sp>
        <p:nvSpPr>
          <p:cNvPr id="25" name="Geschweifte Klammer rechts 24"/>
          <p:cNvSpPr/>
          <p:nvPr/>
        </p:nvSpPr>
        <p:spPr>
          <a:xfrm>
            <a:off x="1835696" y="4293096"/>
            <a:ext cx="144016" cy="936104"/>
          </a:xfrm>
          <a:prstGeom prst="righ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 Verbindung mit Pfeil 26"/>
          <p:cNvCxnSpPr>
            <a:stCxn id="24" idx="0"/>
            <a:endCxn id="33" idx="1"/>
          </p:cNvCxnSpPr>
          <p:nvPr/>
        </p:nvCxnSpPr>
        <p:spPr>
          <a:xfrm rot="16200000" flipV="1">
            <a:off x="3959932" y="4149080"/>
            <a:ext cx="540060" cy="17641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eschweifte Klammer rechts 32"/>
          <p:cNvSpPr/>
          <p:nvPr/>
        </p:nvSpPr>
        <p:spPr>
          <a:xfrm>
            <a:off x="3203848" y="4293096"/>
            <a:ext cx="144016" cy="936104"/>
          </a:xfrm>
          <a:prstGeom prst="righ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Geschweifte Klammer rechts 34"/>
          <p:cNvSpPr/>
          <p:nvPr/>
        </p:nvSpPr>
        <p:spPr>
          <a:xfrm>
            <a:off x="7452320" y="4149080"/>
            <a:ext cx="288032" cy="1152128"/>
          </a:xfrm>
          <a:prstGeom prst="righ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/>
          <p:cNvSpPr txBox="1"/>
          <p:nvPr/>
        </p:nvSpPr>
        <p:spPr>
          <a:xfrm>
            <a:off x="7812360" y="4221088"/>
            <a:ext cx="1428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64 Einträge </a:t>
            </a:r>
          </a:p>
          <a:p>
            <a:r>
              <a:rPr lang="de-DE" dirty="0"/>
              <a:t>(oder </a:t>
            </a:r>
          </a:p>
          <a:p>
            <a:r>
              <a:rPr lang="de-DE" dirty="0"/>
              <a:t>weniger)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3275856" y="6381328"/>
            <a:ext cx="192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logische Adresse</a:t>
            </a:r>
          </a:p>
        </p:txBody>
      </p:sp>
      <p:cxnSp>
        <p:nvCxnSpPr>
          <p:cNvPr id="39" name="Gerade Verbindung mit Pfeil 38"/>
          <p:cNvCxnSpPr>
            <a:stCxn id="37" idx="1"/>
            <a:endCxn id="15" idx="3"/>
          </p:cNvCxnSpPr>
          <p:nvPr/>
        </p:nvCxnSpPr>
        <p:spPr>
          <a:xfrm rot="10800000" flipV="1">
            <a:off x="2721016" y="6565994"/>
            <a:ext cx="554840" cy="2096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2D1D788D-8ABA-3767-3102-BC423F50E401}"/>
              </a:ext>
            </a:extLst>
          </p:cNvPr>
          <p:cNvSpPr/>
          <p:nvPr/>
        </p:nvSpPr>
        <p:spPr>
          <a:xfrm rot="854493">
            <a:off x="7050099" y="-21166"/>
            <a:ext cx="2232249" cy="7584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Wiederholung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22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4" grpId="0" animBg="1"/>
      <p:bldP spid="25" grpId="0" animBg="1"/>
      <p:bldP spid="33" grpId="0" animBg="1"/>
      <p:bldP spid="35" grpId="0" animBg="1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Paging und Prozesse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3073896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Mit jedem Prozess wird eine neue Seitentabelle </a:t>
            </a:r>
            <a:r>
              <a:rPr lang="de-DE" u="sng" dirty="0"/>
              <a:t>nur</a:t>
            </a:r>
            <a:r>
              <a:rPr lang="de-DE" dirty="0"/>
              <a:t> für diesen Prozess erzeugt</a:t>
            </a:r>
          </a:p>
          <a:p>
            <a:pPr lvl="1"/>
            <a:r>
              <a:rPr lang="de-DE" dirty="0"/>
              <a:t>Die nötigen Seitenrahmen können überall liegen</a:t>
            </a:r>
          </a:p>
          <a:p>
            <a:r>
              <a:rPr lang="de-DE" dirty="0"/>
              <a:t>Aber das BS muss die Verwendung des physischen Speichers nachverfolgen</a:t>
            </a:r>
          </a:p>
          <a:p>
            <a:r>
              <a:rPr lang="de-DE" dirty="0"/>
              <a:t>Dazu dient die (globale) </a:t>
            </a:r>
            <a:r>
              <a:rPr lang="de-DE" b="1" dirty="0">
                <a:solidFill>
                  <a:srgbClr val="FF0000"/>
                </a:solidFill>
              </a:rPr>
              <a:t>frame </a:t>
            </a:r>
            <a:r>
              <a:rPr lang="de-DE" b="1" dirty="0" err="1">
                <a:solidFill>
                  <a:srgbClr val="FF0000"/>
                </a:solidFill>
              </a:rPr>
              <a:t>table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(</a:t>
            </a:r>
            <a:r>
              <a:rPr lang="de-DE" b="1" dirty="0">
                <a:solidFill>
                  <a:srgbClr val="FF0000"/>
                </a:solidFill>
              </a:rPr>
              <a:t>Seitenrahmen-</a:t>
            </a:r>
            <a:r>
              <a:rPr lang="de-DE" b="1" dirty="0" err="1">
                <a:solidFill>
                  <a:srgbClr val="FF0000"/>
                </a:solidFill>
              </a:rPr>
              <a:t>tabelle</a:t>
            </a:r>
            <a:r>
              <a:rPr lang="de-DE" dirty="0"/>
              <a:t>) mit </a:t>
            </a:r>
            <a:r>
              <a:rPr lang="de-DE" dirty="0" err="1"/>
              <a:t>Informa</a:t>
            </a:r>
            <a:r>
              <a:rPr lang="de-DE" dirty="0"/>
              <a:t>-</a:t>
            </a:r>
          </a:p>
          <a:p>
            <a:pPr>
              <a:buNone/>
            </a:pPr>
            <a:r>
              <a:rPr lang="de-DE" dirty="0"/>
              <a:t>	</a:t>
            </a:r>
            <a:r>
              <a:rPr lang="de-DE" dirty="0" err="1"/>
              <a:t>tionen</a:t>
            </a:r>
            <a:r>
              <a:rPr lang="de-DE" dirty="0"/>
              <a:t> wie …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7" name="Textfeld 6"/>
          <p:cNvSpPr txBox="1"/>
          <p:nvPr/>
        </p:nvSpPr>
        <p:spPr>
          <a:xfrm>
            <a:off x="199507" y="4256925"/>
            <a:ext cx="4104456" cy="221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8640" lvl="1" indent="-274320">
              <a:spcBef>
                <a:spcPts val="500"/>
              </a:spcBef>
              <a:buClr>
                <a:srgbClr val="438086"/>
              </a:buClr>
              <a:buSzPct val="76000"/>
              <a:buFont typeface="Wingdings 3"/>
              <a:buChar char=""/>
            </a:pPr>
            <a:r>
              <a:rPr lang="de-DE" sz="2200" dirty="0">
                <a:solidFill>
                  <a:srgbClr val="424456"/>
                </a:solidFill>
              </a:rPr>
              <a:t>Welche Seitenrahmen sind belegt und welche frei?</a:t>
            </a:r>
          </a:p>
          <a:p>
            <a:pPr marL="548640" lvl="1" indent="-274320">
              <a:spcBef>
                <a:spcPts val="500"/>
              </a:spcBef>
              <a:buClr>
                <a:srgbClr val="438086"/>
              </a:buClr>
              <a:buSzPct val="76000"/>
              <a:buFont typeface="Wingdings 3"/>
              <a:buChar char=""/>
            </a:pPr>
            <a:r>
              <a:rPr lang="de-DE" sz="2200" dirty="0">
                <a:solidFill>
                  <a:srgbClr val="424456"/>
                </a:solidFill>
              </a:rPr>
              <a:t>Falls belegt, zu welchem Prozess / welchen Prozessen gehört der Rahmen?</a:t>
            </a:r>
            <a:r>
              <a:rPr lang="de-DE" sz="2400" dirty="0">
                <a:solidFill>
                  <a:srgbClr val="424456"/>
                </a:solidFill>
              </a:rPr>
              <a:t> </a:t>
            </a:r>
          </a:p>
        </p:txBody>
      </p:sp>
      <p:grpSp>
        <p:nvGrpSpPr>
          <p:cNvPr id="12" name="Gruppieren 11"/>
          <p:cNvGrpSpPr/>
          <p:nvPr/>
        </p:nvGrpSpPr>
        <p:grpSpPr>
          <a:xfrm>
            <a:off x="4283968" y="3573016"/>
            <a:ext cx="4495373" cy="3105636"/>
            <a:chOff x="4139952" y="3573016"/>
            <a:chExt cx="4495373" cy="3105636"/>
          </a:xfrm>
        </p:grpSpPr>
        <p:grpSp>
          <p:nvGrpSpPr>
            <p:cNvPr id="11" name="Gruppieren 10"/>
            <p:cNvGrpSpPr/>
            <p:nvPr/>
          </p:nvGrpSpPr>
          <p:grpSpPr>
            <a:xfrm>
              <a:off x="4211960" y="3573016"/>
              <a:ext cx="4184278" cy="2880320"/>
              <a:chOff x="4211960" y="3573016"/>
              <a:chExt cx="4184278" cy="2880320"/>
            </a:xfrm>
          </p:grpSpPr>
          <p:pic>
            <p:nvPicPr>
              <p:cNvPr id="5122" name="Picture 2" descr="C:\Artur\Academic\Lehre\10.WS-IBN\VL\figures\vl07\processes and paging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211960" y="3573016"/>
                <a:ext cx="4184278" cy="2866294"/>
              </a:xfrm>
              <a:prstGeom prst="rect">
                <a:avLst/>
              </a:prstGeom>
              <a:noFill/>
            </p:spPr>
          </p:pic>
          <p:sp>
            <p:nvSpPr>
              <p:cNvPr id="10" name="Ellipse 9"/>
              <p:cNvSpPr/>
              <p:nvPr/>
            </p:nvSpPr>
            <p:spPr>
              <a:xfrm>
                <a:off x="6228184" y="5445224"/>
                <a:ext cx="1656184" cy="100811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8" name="Textfeld 7"/>
            <p:cNvSpPr txBox="1"/>
            <p:nvPr/>
          </p:nvSpPr>
          <p:spPr>
            <a:xfrm>
              <a:off x="4139952" y="6309320"/>
              <a:ext cx="17235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vor dem Laden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6732240" y="6309320"/>
              <a:ext cx="19030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nach dem Laden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674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Paging – Größe der Seitentabelle</a:t>
            </a:r>
          </a:p>
        </p:txBody>
      </p:sp>
    </p:spTree>
    <p:extLst>
      <p:ext uri="{BB962C8B-B14F-4D97-AF65-F5344CB8AC3E}">
        <p14:creationId xmlns:p14="http://schemas.microsoft.com/office/powerpoint/2010/main" val="196437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Problem: Größe der Seitentabelle (ST)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Logischer Adressraum bei der IA32-Architektur</a:t>
            </a:r>
          </a:p>
          <a:p>
            <a:pPr lvl="1"/>
            <a:r>
              <a:rPr lang="de-DE" dirty="0"/>
              <a:t>4kB Seitengröße (2</a:t>
            </a:r>
            <a:r>
              <a:rPr lang="de-DE" baseline="30000" dirty="0"/>
              <a:t>12</a:t>
            </a:r>
            <a:r>
              <a:rPr lang="de-DE" dirty="0"/>
              <a:t>), 4 GB Speicher (2</a:t>
            </a:r>
            <a:r>
              <a:rPr lang="de-DE" baseline="30000" dirty="0"/>
              <a:t>32</a:t>
            </a:r>
            <a:r>
              <a:rPr lang="de-DE" dirty="0"/>
              <a:t>) =&gt; 2</a:t>
            </a:r>
            <a:r>
              <a:rPr lang="de-DE" baseline="30000" dirty="0"/>
              <a:t>20</a:t>
            </a:r>
            <a:r>
              <a:rPr lang="de-DE" dirty="0"/>
              <a:t> ~ 1 Mio. (bzw. 1 „MB“) Einträge der Seitentabelle</a:t>
            </a:r>
          </a:p>
          <a:p>
            <a:pPr lvl="1"/>
            <a:r>
              <a:rPr lang="de-DE" dirty="0"/>
              <a:t>Jeder ST-Eintrag hat 4 Bytes </a:t>
            </a:r>
            <a:r>
              <a:rPr lang="de-DE" sz="2000" dirty="0"/>
              <a:t>(</a:t>
            </a:r>
            <a:r>
              <a:rPr lang="de-DE" sz="2000" dirty="0">
                <a:hlinkClick r:id="rId3"/>
              </a:rPr>
              <a:t>https://wiki.osdev.org/Paging</a:t>
            </a:r>
            <a:r>
              <a:rPr lang="de-DE" sz="2000" dirty="0"/>
              <a:t>)</a:t>
            </a:r>
          </a:p>
          <a:p>
            <a:pPr lvl="2"/>
            <a:r>
              <a:rPr lang="de-DE" dirty="0"/>
              <a:t>=&gt; Vollständige Seitentabelle hätte </a:t>
            </a:r>
            <a:r>
              <a:rPr lang="de-DE" dirty="0">
                <a:solidFill>
                  <a:srgbClr val="0070C0"/>
                </a:solidFill>
              </a:rPr>
              <a:t>4 MB </a:t>
            </a:r>
            <a:r>
              <a:rPr lang="de-DE" i="1" dirty="0">
                <a:solidFill>
                  <a:srgbClr val="0070C0"/>
                </a:solidFill>
              </a:rPr>
              <a:t>pro Prozess</a:t>
            </a:r>
            <a:r>
              <a:rPr lang="de-DE" dirty="0"/>
              <a:t>!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4" y="3861048"/>
            <a:ext cx="8208912" cy="2497832"/>
          </a:xfrm>
        </p:spPr>
        <p:txBody>
          <a:bodyPr/>
          <a:lstStyle/>
          <a:p>
            <a:r>
              <a:rPr lang="de-DE" dirty="0"/>
              <a:t>Ein 64-Bit Prozessor hat  bis zu 2</a:t>
            </a:r>
            <a:r>
              <a:rPr lang="de-DE" baseline="30000" dirty="0"/>
              <a:t>64 </a:t>
            </a:r>
            <a:r>
              <a:rPr lang="de-DE" dirty="0"/>
              <a:t>Adressen</a:t>
            </a:r>
          </a:p>
          <a:p>
            <a:pPr lvl="1"/>
            <a:r>
              <a:rPr lang="de-DE" dirty="0"/>
              <a:t>Bei 4 kB Seitengröße hätte eine </a:t>
            </a:r>
            <a:r>
              <a:rPr lang="de-DE" dirty="0">
                <a:solidFill>
                  <a:srgbClr val="0070C0"/>
                </a:solidFill>
              </a:rPr>
              <a:t>vollständige Seitentabelle </a:t>
            </a:r>
            <a:r>
              <a:rPr lang="de-DE" dirty="0"/>
              <a:t>2</a:t>
            </a:r>
            <a:r>
              <a:rPr lang="de-DE" baseline="30000" dirty="0"/>
              <a:t>(64-12)</a:t>
            </a:r>
            <a:r>
              <a:rPr lang="de-DE" dirty="0"/>
              <a:t>=2</a:t>
            </a:r>
            <a:r>
              <a:rPr lang="de-DE" baseline="30000" dirty="0"/>
              <a:t>52</a:t>
            </a:r>
            <a:r>
              <a:rPr lang="de-DE" dirty="0"/>
              <a:t> Einträge, je mit 64 Bits =&gt; </a:t>
            </a:r>
            <a:r>
              <a:rPr lang="de-DE" dirty="0">
                <a:solidFill>
                  <a:srgbClr val="0070C0"/>
                </a:solidFill>
              </a:rPr>
              <a:t>2</a:t>
            </a:r>
            <a:r>
              <a:rPr lang="de-DE" baseline="30000" dirty="0">
                <a:solidFill>
                  <a:srgbClr val="0070C0"/>
                </a:solidFill>
              </a:rPr>
              <a:t>55</a:t>
            </a:r>
            <a:r>
              <a:rPr lang="de-DE" dirty="0">
                <a:solidFill>
                  <a:srgbClr val="0070C0"/>
                </a:solidFill>
              </a:rPr>
              <a:t> Bytes Speicher</a:t>
            </a:r>
            <a:r>
              <a:rPr lang="de-DE" dirty="0"/>
              <a:t>!</a:t>
            </a:r>
          </a:p>
          <a:p>
            <a:pPr lvl="1"/>
            <a:r>
              <a:rPr lang="de-DE" dirty="0"/>
              <a:t>Hinzu kommt: Der logische Adressraum übersteigt die Größe von heutigen RAMs um ein Mehrfaches</a:t>
            </a:r>
          </a:p>
          <a:p>
            <a:endParaRPr lang="en-US" dirty="0"/>
          </a:p>
        </p:txBody>
      </p:sp>
      <p:sp>
        <p:nvSpPr>
          <p:cNvPr id="7" name="Sprechblase: rechteckig mit abgerundeten Ecken 6">
            <a:extLst>
              <a:ext uri="{FF2B5EF4-FFF2-40B4-BE49-F238E27FC236}">
                <a16:creationId xmlns:a16="http://schemas.microsoft.com/office/drawing/2014/main" id="{826B43A8-A788-41CA-B456-094279FF3F8C}"/>
              </a:ext>
            </a:extLst>
          </p:cNvPr>
          <p:cNvSpPr/>
          <p:nvPr/>
        </p:nvSpPr>
        <p:spPr>
          <a:xfrm>
            <a:off x="1403648" y="3350766"/>
            <a:ext cx="2664296" cy="436240"/>
          </a:xfrm>
          <a:prstGeom prst="wedgeRoundRectCallout">
            <a:avLst>
              <a:gd name="adj1" fmla="val -23886"/>
              <a:gd name="adj2" fmla="val 79967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Was ist das eigentlich?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7C51A-8F50-4C58-B748-273673A7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Wie viele Seiten sind nötig?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0497E31-2806-4D40-AAA8-7CD55D17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F379E1-FE5C-4D5E-AF0D-D281C92C7A3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Wie viele Seiten (= Kacheln des logischen Adressraumes) brauchen wir bei 64 Bit Systemen?</a:t>
            </a:r>
          </a:p>
          <a:p>
            <a:r>
              <a:rPr lang="de-DE" dirty="0"/>
              <a:t>Einsicht: Wir können grundsätzlich nicht mehr Seiten haben, als es physische Rahmen gibt</a:t>
            </a:r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4A80E65-102B-430A-920A-0E20846E58E3}"/>
              </a:ext>
            </a:extLst>
          </p:cNvPr>
          <p:cNvSpPr txBox="1"/>
          <p:nvPr/>
        </p:nvSpPr>
        <p:spPr>
          <a:xfrm>
            <a:off x="5868144" y="570618"/>
            <a:ext cx="336207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00FF00"/>
                </a:highlight>
              </a:rPr>
              <a:t>https://bit.ly/ibn_hd</a:t>
            </a:r>
            <a:endParaRPr lang="de-DE" sz="2800" dirty="0">
              <a:highlight>
                <a:srgbClr val="00FF00"/>
              </a:highlight>
            </a:endParaRP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1EDF022B-88EA-4ACD-8EA5-8695E27A69C2}"/>
              </a:ext>
            </a:extLst>
          </p:cNvPr>
          <p:cNvGrpSpPr/>
          <p:nvPr/>
        </p:nvGrpSpPr>
        <p:grpSpPr>
          <a:xfrm>
            <a:off x="1346198" y="3030825"/>
            <a:ext cx="6736407" cy="1196658"/>
            <a:chOff x="1346198" y="3030825"/>
            <a:chExt cx="6898209" cy="1196658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C71D6F69-8FEE-4752-A36A-6EFD05980238}"/>
                </a:ext>
              </a:extLst>
            </p:cNvPr>
            <p:cNvGrpSpPr/>
            <p:nvPr/>
          </p:nvGrpSpPr>
          <p:grpSpPr>
            <a:xfrm>
              <a:off x="1346198" y="3539672"/>
              <a:ext cx="6898209" cy="687811"/>
              <a:chOff x="532858" y="4941169"/>
              <a:chExt cx="8287613" cy="1440159"/>
            </a:xfrm>
          </p:grpSpPr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F07F8BD9-F462-4E09-B5B6-4B14FF2946C6}"/>
                  </a:ext>
                </a:extLst>
              </p:cNvPr>
              <p:cNvSpPr/>
              <p:nvPr/>
            </p:nvSpPr>
            <p:spPr>
              <a:xfrm>
                <a:off x="539552" y="5301207"/>
                <a:ext cx="8280919" cy="1080121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BCB74462-8210-4C18-BB09-74808186A452}"/>
                  </a:ext>
                </a:extLst>
              </p:cNvPr>
              <p:cNvSpPr/>
              <p:nvPr/>
            </p:nvSpPr>
            <p:spPr>
              <a:xfrm>
                <a:off x="2818273" y="5276728"/>
                <a:ext cx="1683199" cy="1098111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4 „</a:t>
                </a:r>
                <a:r>
                  <a:rPr lang="de-DE" dirty="0" err="1"/>
                  <a:t>GiB</a:t>
                </a:r>
                <a:r>
                  <a:rPr lang="de-DE" dirty="0"/>
                  <a:t>“</a:t>
                </a:r>
                <a:endParaRPr lang="en-US" dirty="0"/>
              </a:p>
            </p:txBody>
          </p:sp>
          <p:sp>
            <p:nvSpPr>
              <p:cNvPr id="26" name="Geschweifte Klammer links 25">
                <a:extLst>
                  <a:ext uri="{FF2B5EF4-FFF2-40B4-BE49-F238E27FC236}">
                    <a16:creationId xmlns:a16="http://schemas.microsoft.com/office/drawing/2014/main" id="{636B7BAE-8DC5-4CF7-9BD0-09F1A73BD7D4}"/>
                  </a:ext>
                </a:extLst>
              </p:cNvPr>
              <p:cNvSpPr/>
              <p:nvPr/>
            </p:nvSpPr>
            <p:spPr>
              <a:xfrm rot="5400000">
                <a:off x="4527765" y="946262"/>
                <a:ext cx="288031" cy="8277845"/>
              </a:xfrm>
              <a:prstGeom prst="leftBrac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C3D254F4-2076-4CEF-BA09-AFA2A1F024B9}"/>
                </a:ext>
              </a:extLst>
            </p:cNvPr>
            <p:cNvSpPr txBox="1"/>
            <p:nvPr/>
          </p:nvSpPr>
          <p:spPr>
            <a:xfrm>
              <a:off x="2142404" y="3030825"/>
              <a:ext cx="54452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Ein sehr großer logischer Adressraum: 2</a:t>
              </a:r>
              <a:r>
                <a:rPr lang="de-DE" baseline="30000" dirty="0"/>
                <a:t>64</a:t>
              </a:r>
              <a:r>
                <a:rPr lang="de-DE" dirty="0"/>
                <a:t> „Bytes“</a:t>
              </a:r>
              <a:endParaRPr lang="en-US" dirty="0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98C5A1D7-99D8-4778-BB8D-85B7B6645B44}"/>
              </a:ext>
            </a:extLst>
          </p:cNvPr>
          <p:cNvGrpSpPr/>
          <p:nvPr/>
        </p:nvGrpSpPr>
        <p:grpSpPr>
          <a:xfrm>
            <a:off x="-66578" y="4431707"/>
            <a:ext cx="9104112" cy="1412776"/>
            <a:chOff x="-66578" y="4431707"/>
            <a:chExt cx="9104112" cy="1412776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62502E73-FE3F-486B-93CE-450A0E039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-66578" y="4431707"/>
              <a:ext cx="1412776" cy="1412776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C128890C-14FD-45ED-BB09-17A1F443C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8046934" y="4648200"/>
              <a:ext cx="990600" cy="990600"/>
            </a:xfrm>
            <a:prstGeom prst="rect">
              <a:avLst/>
            </a:prstGeom>
          </p:spPr>
        </p:pic>
        <p:sp>
          <p:nvSpPr>
            <p:cNvPr id="28" name="Pfeil: nach links und rechts 27">
              <a:extLst>
                <a:ext uri="{FF2B5EF4-FFF2-40B4-BE49-F238E27FC236}">
                  <a16:creationId xmlns:a16="http://schemas.microsoft.com/office/drawing/2014/main" id="{2D17FD94-CA5E-4FA1-A273-F4C8546F6A80}"/>
                </a:ext>
              </a:extLst>
            </p:cNvPr>
            <p:cNvSpPr/>
            <p:nvPr/>
          </p:nvSpPr>
          <p:spPr>
            <a:xfrm>
              <a:off x="1346198" y="4908282"/>
              <a:ext cx="6736407" cy="472159"/>
            </a:xfrm>
            <a:prstGeom prst="leftRight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6FCEDE32-C19A-4E2E-B88D-18E835F0B8CC}"/>
                </a:ext>
              </a:extLst>
            </p:cNvPr>
            <p:cNvSpPr/>
            <p:nvPr/>
          </p:nvSpPr>
          <p:spPr>
            <a:xfrm>
              <a:off x="5288964" y="4648200"/>
              <a:ext cx="18261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i="1" dirty="0"/>
                <a:t>ca. 400 000 km </a:t>
              </a:r>
              <a:endParaRPr lang="en-US" dirty="0"/>
            </a:p>
          </p:txBody>
        </p:sp>
      </p:grpSp>
      <p:sp>
        <p:nvSpPr>
          <p:cNvPr id="31" name="Rechteck 30">
            <a:extLst>
              <a:ext uri="{FF2B5EF4-FFF2-40B4-BE49-F238E27FC236}">
                <a16:creationId xmlns:a16="http://schemas.microsoft.com/office/drawing/2014/main" id="{54E986F2-F94C-46DC-B571-47005AC0FEC9}"/>
              </a:ext>
            </a:extLst>
          </p:cNvPr>
          <p:cNvSpPr/>
          <p:nvPr/>
        </p:nvSpPr>
        <p:spPr>
          <a:xfrm>
            <a:off x="3203848" y="5317998"/>
            <a:ext cx="1368152" cy="52445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X = ? km</a:t>
            </a:r>
            <a:endParaRPr lang="en-US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C1295314-E126-48DF-AE68-9790030549CB}"/>
              </a:ext>
            </a:extLst>
          </p:cNvPr>
          <p:cNvSpPr txBox="1"/>
          <p:nvPr/>
        </p:nvSpPr>
        <p:spPr>
          <a:xfrm>
            <a:off x="3078499" y="5918353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 = ca. 10 cm</a:t>
            </a:r>
            <a:endParaRPr lang="en-US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4A472BE-7A1C-4AD0-9E75-20ECA1F65551}"/>
              </a:ext>
            </a:extLst>
          </p:cNvPr>
          <p:cNvSpPr txBox="1"/>
          <p:nvPr/>
        </p:nvSpPr>
        <p:spPr>
          <a:xfrm>
            <a:off x="5148064" y="5613546"/>
            <a:ext cx="25571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</a:t>
            </a:r>
            <a:r>
              <a:rPr lang="de-DE" baseline="30000" dirty="0"/>
              <a:t>32</a:t>
            </a:r>
            <a:r>
              <a:rPr lang="de-DE" dirty="0"/>
              <a:t>/2</a:t>
            </a:r>
            <a:r>
              <a:rPr lang="de-DE" baseline="30000" dirty="0"/>
              <a:t>64</a:t>
            </a:r>
            <a:r>
              <a:rPr lang="de-DE" dirty="0"/>
              <a:t> * (400 000km) =</a:t>
            </a:r>
          </a:p>
          <a:p>
            <a:r>
              <a:rPr lang="de-DE" dirty="0"/>
              <a:t>2</a:t>
            </a:r>
            <a:r>
              <a:rPr lang="de-DE" baseline="30000" dirty="0"/>
              <a:t>-32</a:t>
            </a:r>
            <a:r>
              <a:rPr lang="de-DE" dirty="0"/>
              <a:t> * (400 000km) ~</a:t>
            </a:r>
          </a:p>
          <a:p>
            <a:r>
              <a:rPr lang="de-DE" dirty="0"/>
              <a:t>(400 000km)/(4*10</a:t>
            </a:r>
            <a:r>
              <a:rPr lang="de-DE" baseline="30000" dirty="0"/>
              <a:t>9</a:t>
            </a:r>
            <a:r>
              <a:rPr lang="de-DE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1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Problem: Größe der Seitentabelle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2723148"/>
          </a:xfrm>
        </p:spPr>
        <p:txBody>
          <a:bodyPr>
            <a:normAutofit/>
          </a:bodyPr>
          <a:lstStyle/>
          <a:p>
            <a:r>
              <a:rPr lang="de-DE" dirty="0"/>
              <a:t>Brauchen wir wirklich eine </a:t>
            </a:r>
            <a:r>
              <a:rPr lang="de-DE" u="sng" dirty="0"/>
              <a:t>vollständige</a:t>
            </a:r>
            <a:r>
              <a:rPr lang="de-DE" dirty="0"/>
              <a:t> Seitentabelle?</a:t>
            </a:r>
          </a:p>
          <a:p>
            <a:r>
              <a:rPr lang="de-DE" dirty="0"/>
              <a:t>Idee: wir geben den Prozessen die Freiheit bei der Verwendung des logischen Addressraumes </a:t>
            </a:r>
          </a:p>
          <a:p>
            <a:r>
              <a:rPr lang="de-DE" dirty="0"/>
              <a:t>… ABER die Gesamtanzahl der </a:t>
            </a:r>
            <a:r>
              <a:rPr lang="de-DE" u="sng" dirty="0"/>
              <a:t>verwendeten</a:t>
            </a:r>
            <a:r>
              <a:rPr lang="de-DE" dirty="0"/>
              <a:t> logischen Seiten soll (pro Prozess) beschränkt sein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10</a:t>
            </a:fld>
            <a:endParaRPr lang="en-US" noProof="0" dirty="0"/>
          </a:p>
        </p:txBody>
      </p:sp>
      <p:grpSp>
        <p:nvGrpSpPr>
          <p:cNvPr id="13" name="Gruppieren 12"/>
          <p:cNvGrpSpPr/>
          <p:nvPr/>
        </p:nvGrpSpPr>
        <p:grpSpPr>
          <a:xfrm>
            <a:off x="500371" y="4221089"/>
            <a:ext cx="8287614" cy="1440159"/>
            <a:chOff x="532858" y="4941169"/>
            <a:chExt cx="8287614" cy="1440159"/>
          </a:xfrm>
        </p:grpSpPr>
        <p:sp>
          <p:nvSpPr>
            <p:cNvPr id="5" name="Rechteck 4"/>
            <p:cNvSpPr/>
            <p:nvPr/>
          </p:nvSpPr>
          <p:spPr>
            <a:xfrm>
              <a:off x="539552" y="5301208"/>
              <a:ext cx="8280920" cy="108012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…</a:t>
              </a:r>
              <a:endParaRPr lang="en-US" dirty="0"/>
            </a:p>
          </p:txBody>
        </p:sp>
        <p:sp>
          <p:nvSpPr>
            <p:cNvPr id="6" name="Rechteck 5"/>
            <p:cNvSpPr/>
            <p:nvPr/>
          </p:nvSpPr>
          <p:spPr>
            <a:xfrm>
              <a:off x="539958" y="5301208"/>
              <a:ext cx="935698" cy="108012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Text (Code)</a:t>
              </a:r>
              <a:endParaRPr lang="en-US" dirty="0"/>
            </a:p>
          </p:txBody>
        </p:sp>
        <p:sp>
          <p:nvSpPr>
            <p:cNvPr id="7" name="Rechteck 6"/>
            <p:cNvSpPr/>
            <p:nvPr/>
          </p:nvSpPr>
          <p:spPr>
            <a:xfrm>
              <a:off x="1476062" y="5301208"/>
              <a:ext cx="935698" cy="108012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Static</a:t>
              </a:r>
              <a:r>
                <a:rPr lang="de-DE" dirty="0"/>
                <a:t> Data</a:t>
              </a:r>
              <a:endParaRPr lang="en-US" dirty="0"/>
            </a:p>
          </p:txBody>
        </p:sp>
        <p:sp>
          <p:nvSpPr>
            <p:cNvPr id="8" name="Rechteck 7"/>
            <p:cNvSpPr/>
            <p:nvPr/>
          </p:nvSpPr>
          <p:spPr>
            <a:xfrm>
              <a:off x="2483768" y="5294718"/>
              <a:ext cx="828092" cy="108012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Heap 0</a:t>
              </a:r>
              <a:endParaRPr lang="en-US" dirty="0"/>
            </a:p>
          </p:txBody>
        </p:sp>
        <p:sp>
          <p:nvSpPr>
            <p:cNvPr id="9" name="Rechteck 8"/>
            <p:cNvSpPr/>
            <p:nvPr/>
          </p:nvSpPr>
          <p:spPr>
            <a:xfrm>
              <a:off x="3419872" y="5294718"/>
              <a:ext cx="828092" cy="108012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Heap 1</a:t>
              </a:r>
              <a:endParaRPr lang="en-US" dirty="0"/>
            </a:p>
          </p:txBody>
        </p:sp>
        <p:sp>
          <p:nvSpPr>
            <p:cNvPr id="10" name="Rechteck 9"/>
            <p:cNvSpPr/>
            <p:nvPr/>
          </p:nvSpPr>
          <p:spPr>
            <a:xfrm>
              <a:off x="7812360" y="5301208"/>
              <a:ext cx="1005441" cy="108012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Stack Thread 0</a:t>
              </a:r>
              <a:endParaRPr lang="en-US" dirty="0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6660232" y="5294718"/>
              <a:ext cx="1005441" cy="108012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Stack Thread 1</a:t>
              </a:r>
              <a:endParaRPr lang="en-US" dirty="0"/>
            </a:p>
          </p:txBody>
        </p:sp>
        <p:sp>
          <p:nvSpPr>
            <p:cNvPr id="12" name="Geschweifte Klammer links 11"/>
            <p:cNvSpPr/>
            <p:nvPr/>
          </p:nvSpPr>
          <p:spPr>
            <a:xfrm rot="5400000">
              <a:off x="4527765" y="946262"/>
              <a:ext cx="288031" cy="8277845"/>
            </a:xfrm>
            <a:prstGeom prst="leftBrac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feld 13"/>
          <p:cNvSpPr txBox="1"/>
          <p:nvPr/>
        </p:nvSpPr>
        <p:spPr>
          <a:xfrm>
            <a:off x="2257839" y="3861048"/>
            <a:ext cx="4762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Sehr großer logischer Adressraum (z.B. 2</a:t>
            </a:r>
            <a:r>
              <a:rPr lang="de-DE" baseline="30000" dirty="0"/>
              <a:t>64</a:t>
            </a:r>
            <a:r>
              <a:rPr lang="de-DE" dirty="0"/>
              <a:t>)</a:t>
            </a:r>
            <a:endParaRPr lang="en-US" dirty="0"/>
          </a:p>
        </p:txBody>
      </p:sp>
      <p:grpSp>
        <p:nvGrpSpPr>
          <p:cNvPr id="28" name="Gruppieren 27"/>
          <p:cNvGrpSpPr/>
          <p:nvPr/>
        </p:nvGrpSpPr>
        <p:grpSpPr>
          <a:xfrm>
            <a:off x="975320" y="5654758"/>
            <a:ext cx="7307274" cy="963328"/>
            <a:chOff x="975320" y="5654758"/>
            <a:chExt cx="7307274" cy="963328"/>
          </a:xfrm>
        </p:grpSpPr>
        <p:sp>
          <p:nvSpPr>
            <p:cNvPr id="15" name="Textfeld 14"/>
            <p:cNvSpPr txBox="1"/>
            <p:nvPr/>
          </p:nvSpPr>
          <p:spPr>
            <a:xfrm>
              <a:off x="1837556" y="6248754"/>
              <a:ext cx="6288966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 dirty="0"/>
                <a:t>Wirklich belegte Seiten: viel weniger, z.B. insgesamt 64 </a:t>
              </a:r>
              <a:r>
                <a:rPr lang="de-DE" dirty="0" err="1"/>
                <a:t>MiB</a:t>
              </a:r>
              <a:endParaRPr lang="en-US" dirty="0"/>
            </a:p>
          </p:txBody>
        </p:sp>
        <p:cxnSp>
          <p:nvCxnSpPr>
            <p:cNvPr id="17" name="Gerade Verbindung 16"/>
            <p:cNvCxnSpPr>
              <a:stCxn id="6" idx="2"/>
            </p:cNvCxnSpPr>
            <p:nvPr/>
          </p:nvCxnSpPr>
          <p:spPr>
            <a:xfrm>
              <a:off x="975320" y="5661248"/>
              <a:ext cx="1724472" cy="5875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/>
            <p:cNvCxnSpPr>
              <a:stCxn id="7" idx="2"/>
            </p:cNvCxnSpPr>
            <p:nvPr/>
          </p:nvCxnSpPr>
          <p:spPr>
            <a:xfrm>
              <a:off x="1911424" y="5661248"/>
              <a:ext cx="1220416" cy="5875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/>
            <p:cNvCxnSpPr/>
            <p:nvPr/>
          </p:nvCxnSpPr>
          <p:spPr>
            <a:xfrm>
              <a:off x="2847528" y="5661248"/>
              <a:ext cx="1220416" cy="5875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21"/>
            <p:cNvCxnSpPr/>
            <p:nvPr/>
          </p:nvCxnSpPr>
          <p:spPr>
            <a:xfrm>
              <a:off x="3783632" y="5661248"/>
              <a:ext cx="1220416" cy="5875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22"/>
            <p:cNvCxnSpPr>
              <a:stCxn id="11" idx="2"/>
            </p:cNvCxnSpPr>
            <p:nvPr/>
          </p:nvCxnSpPr>
          <p:spPr>
            <a:xfrm flipH="1">
              <a:off x="5940152" y="5654758"/>
              <a:ext cx="1190314" cy="59399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24"/>
            <p:cNvCxnSpPr>
              <a:stCxn id="10" idx="2"/>
            </p:cNvCxnSpPr>
            <p:nvPr/>
          </p:nvCxnSpPr>
          <p:spPr>
            <a:xfrm flipH="1">
              <a:off x="6627746" y="5661248"/>
              <a:ext cx="1654848" cy="5875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80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99FC5-A88E-4EB9-8580-84BB3277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Zwei Lösungsansätze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DFE0B-BC08-48B9-9819-BFBB29F8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C13A8-156E-416F-9A92-36CD71AFC8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Grundprinzip: Nur ein Bruchteil der </a:t>
            </a:r>
            <a:r>
              <a:rPr lang="de-DE" u="sng" dirty="0"/>
              <a:t>logischen</a:t>
            </a:r>
            <a:r>
              <a:rPr lang="de-DE" dirty="0"/>
              <a:t> Adressen wird verfügbar gemacht</a:t>
            </a:r>
          </a:p>
          <a:p>
            <a:r>
              <a:rPr lang="de-DE" dirty="0"/>
              <a:t>Ansatz 1: </a:t>
            </a:r>
            <a:r>
              <a:rPr lang="de-DE" dirty="0">
                <a:solidFill>
                  <a:srgbClr val="0070C0"/>
                </a:solidFill>
              </a:rPr>
              <a:t>Invertierte Seitentabellen</a:t>
            </a:r>
          </a:p>
          <a:p>
            <a:pPr lvl="1"/>
            <a:r>
              <a:rPr lang="de-DE" dirty="0"/>
              <a:t>Jeder Eintrag entspricht genau einem Rahmen (= Kachel des physischen Speichers)</a:t>
            </a:r>
          </a:p>
          <a:p>
            <a:pPr lvl="1"/>
            <a:r>
              <a:rPr lang="de-DE" dirty="0"/>
              <a:t>Eine </a:t>
            </a:r>
            <a:r>
              <a:rPr lang="de-DE" u="sng" dirty="0"/>
              <a:t>einzige</a:t>
            </a:r>
            <a:r>
              <a:rPr lang="de-DE" dirty="0"/>
              <a:t> Tabelle für alle Prozesse</a:t>
            </a:r>
          </a:p>
          <a:p>
            <a:pPr lvl="2"/>
            <a:r>
              <a:rPr lang="de-DE" dirty="0"/>
              <a:t>=&gt; Größe der Tabelle ist proportional zur RAM-Größe</a:t>
            </a:r>
          </a:p>
          <a:p>
            <a:r>
              <a:rPr lang="de-DE" dirty="0"/>
              <a:t>Ansatz 2: </a:t>
            </a:r>
            <a:r>
              <a:rPr lang="de-DE" dirty="0">
                <a:solidFill>
                  <a:srgbClr val="0070C0"/>
                </a:solidFill>
              </a:rPr>
              <a:t>Hierarchische Seitentabellen</a:t>
            </a:r>
          </a:p>
          <a:p>
            <a:pPr lvl="1"/>
            <a:r>
              <a:rPr lang="de-DE" dirty="0"/>
              <a:t>Ähnlich wie die direkten Seitentabellen, aber es existieren nur die benötigten Teile der Seitentabelle </a:t>
            </a:r>
          </a:p>
          <a:p>
            <a:pPr lvl="1"/>
            <a:r>
              <a:rPr lang="de-DE" dirty="0"/>
              <a:t>=&gt; Größe einer Tabelle (pro Prozess) ist proportional zur Anzahl der wirklich benötigten Rahmen ~ Prozessgröße</a:t>
            </a:r>
          </a:p>
        </p:txBody>
      </p:sp>
    </p:spTree>
    <p:extLst>
      <p:ext uri="{BB962C8B-B14F-4D97-AF65-F5344CB8AC3E}">
        <p14:creationId xmlns:p14="http://schemas.microsoft.com/office/powerpoint/2010/main" val="213840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Paging – Invertierte Seitentabellen</a:t>
            </a:r>
          </a:p>
        </p:txBody>
      </p:sp>
    </p:spTree>
    <p:extLst>
      <p:ext uri="{BB962C8B-B14F-4D97-AF65-F5344CB8AC3E}">
        <p14:creationId xmlns:p14="http://schemas.microsoft.com/office/powerpoint/2010/main" val="2468284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Frame Table als eine Seitentabelle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Erinnerung: Das BS pflegt eine </a:t>
            </a:r>
            <a:r>
              <a:rPr lang="de-DE" b="1" dirty="0" err="1">
                <a:solidFill>
                  <a:srgbClr val="0070C0"/>
                </a:solidFill>
              </a:rPr>
              <a:t>frame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table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(Seitenrahmen-tabelle) mit Informationen wie …</a:t>
            </a:r>
          </a:p>
          <a:p>
            <a:pPr lvl="1">
              <a:buClr>
                <a:srgbClr val="438086"/>
              </a:buClr>
            </a:pPr>
            <a:r>
              <a:rPr lang="de-DE" sz="2400" dirty="0">
                <a:solidFill>
                  <a:srgbClr val="424456"/>
                </a:solidFill>
              </a:rPr>
              <a:t>Welche Seitenrahmen sind belegt und welche frei?</a:t>
            </a:r>
          </a:p>
          <a:p>
            <a:pPr lvl="1">
              <a:buClr>
                <a:srgbClr val="438086"/>
              </a:buClr>
            </a:pPr>
            <a:r>
              <a:rPr lang="de-DE" sz="2400" i="1" dirty="0">
                <a:solidFill>
                  <a:srgbClr val="424456"/>
                </a:solidFill>
              </a:rPr>
              <a:t>Falls belegt, zu welchem Prozess / welchen Prozessen gehört der Rahmen?</a:t>
            </a:r>
            <a:r>
              <a:rPr lang="de-DE" sz="2800" i="1" dirty="0">
                <a:solidFill>
                  <a:srgbClr val="424456"/>
                </a:solidFill>
              </a:rPr>
              <a:t> </a:t>
            </a:r>
          </a:p>
          <a:p>
            <a:pPr lvl="1"/>
            <a:endParaRPr lang="de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F63902-71D4-4959-970D-7FD40336AE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4678464" cy="2713856"/>
          </a:xfrm>
        </p:spPr>
        <p:txBody>
          <a:bodyPr/>
          <a:lstStyle/>
          <a:p>
            <a:r>
              <a:rPr lang="en-US" dirty="0" err="1"/>
              <a:t>Wäre</a:t>
            </a:r>
            <a:r>
              <a:rPr lang="en-US" dirty="0"/>
              <a:t> es </a:t>
            </a:r>
            <a:r>
              <a:rPr lang="en-US" dirty="0" err="1"/>
              <a:t>möglich</a:t>
            </a:r>
            <a:r>
              <a:rPr lang="en-US" dirty="0"/>
              <a:t>, </a:t>
            </a:r>
            <a:r>
              <a:rPr lang="en-US" dirty="0" err="1"/>
              <a:t>mit</a:t>
            </a:r>
            <a:r>
              <a:rPr lang="en-US" dirty="0"/>
              <a:t> den </a:t>
            </a:r>
            <a:r>
              <a:rPr lang="en-US" dirty="0" err="1"/>
              <a:t>Informationen</a:t>
            </a:r>
            <a:r>
              <a:rPr lang="en-US" dirty="0"/>
              <a:t> in frame table das Paging </a:t>
            </a:r>
            <a:r>
              <a:rPr lang="en-US" dirty="0" err="1"/>
              <a:t>durchzuführen</a:t>
            </a:r>
            <a:r>
              <a:rPr lang="en-US" dirty="0"/>
              <a:t>, </a:t>
            </a:r>
            <a:r>
              <a:rPr lang="en-US" dirty="0" err="1"/>
              <a:t>d.h.</a:t>
            </a:r>
            <a:r>
              <a:rPr lang="en-US" dirty="0"/>
              <a:t> </a:t>
            </a:r>
            <a:r>
              <a:rPr lang="de-DE" sz="2800" b="1" dirty="0" err="1">
                <a:solidFill>
                  <a:prstClr val="black"/>
                </a:solidFill>
              </a:rPr>
              <a:t>F</a:t>
            </a:r>
            <a:r>
              <a:rPr lang="de-DE" sz="2800" b="1" baseline="-25000" dirty="0" err="1">
                <a:solidFill>
                  <a:prstClr val="black"/>
                </a:solidFill>
              </a:rPr>
              <a:t>pid</a:t>
            </a:r>
            <a:r>
              <a:rPr lang="de-DE" sz="2800" b="1" dirty="0">
                <a:solidFill>
                  <a:prstClr val="black"/>
                </a:solidFill>
              </a:rPr>
              <a:t>(</a:t>
            </a:r>
            <a:r>
              <a:rPr lang="de-DE" sz="2800" b="1" dirty="0">
                <a:solidFill>
                  <a:srgbClr val="FF0000"/>
                </a:solidFill>
              </a:rPr>
              <a:t>p</a:t>
            </a:r>
            <a:r>
              <a:rPr lang="de-DE" sz="2800" b="1" dirty="0">
                <a:solidFill>
                  <a:prstClr val="black"/>
                </a:solidFill>
              </a:rPr>
              <a:t>) = </a:t>
            </a:r>
            <a:r>
              <a:rPr lang="de-DE" sz="2800" b="1" dirty="0">
                <a:solidFill>
                  <a:srgbClr val="0070C0"/>
                </a:solidFill>
              </a:rPr>
              <a:t>f </a:t>
            </a:r>
            <a:br>
              <a:rPr lang="de-DE" sz="2800" b="1" dirty="0">
                <a:solidFill>
                  <a:srgbClr val="0070C0"/>
                </a:solidFill>
              </a:rPr>
            </a:b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berechnen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2" name="Textfeld 4">
            <a:extLst>
              <a:ext uri="{FF2B5EF4-FFF2-40B4-BE49-F238E27FC236}">
                <a16:creationId xmlns:a16="http://schemas.microsoft.com/office/drawing/2014/main" id="{EFA32E6E-2B7C-4E90-8732-B8CDF1EF41A3}"/>
              </a:ext>
            </a:extLst>
          </p:cNvPr>
          <p:cNvSpPr txBox="1"/>
          <p:nvPr/>
        </p:nvSpPr>
        <p:spPr>
          <a:xfrm>
            <a:off x="565477" y="6000969"/>
            <a:ext cx="336207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00FF00"/>
                </a:highlight>
              </a:rPr>
              <a:t>https://bit.ly/ibn_hd</a:t>
            </a:r>
            <a:endParaRPr lang="de-DE" sz="2800" dirty="0">
              <a:highlight>
                <a:srgbClr val="00FF00"/>
              </a:highlight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B7E4081-8C8E-42BC-A851-EFCC0B252A4F}"/>
              </a:ext>
            </a:extLst>
          </p:cNvPr>
          <p:cNvGrpSpPr/>
          <p:nvPr/>
        </p:nvGrpSpPr>
        <p:grpSpPr>
          <a:xfrm>
            <a:off x="5709658" y="2928798"/>
            <a:ext cx="3480711" cy="3731771"/>
            <a:chOff x="5513256" y="2927073"/>
            <a:chExt cx="3480711" cy="3731771"/>
          </a:xfrm>
        </p:grpSpPr>
        <p:pic>
          <p:nvPicPr>
            <p:cNvPr id="35" name="Picture 2" descr="C:\Artur\Academic\Lehre\10.WS-IBN\VL\figures\vl07\processes and paging.jpg">
              <a:extLst>
                <a:ext uri="{FF2B5EF4-FFF2-40B4-BE49-F238E27FC236}">
                  <a16:creationId xmlns:a16="http://schemas.microsoft.com/office/drawing/2014/main" id="{B6040BA9-B85C-48F2-A05E-77EE39EBDC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85064"/>
            <a:stretch/>
          </p:blipFill>
          <p:spPr bwMode="auto">
            <a:xfrm>
              <a:off x="6695150" y="2927073"/>
              <a:ext cx="670267" cy="3073896"/>
            </a:xfrm>
            <a:prstGeom prst="rect">
              <a:avLst/>
            </a:prstGeom>
            <a:noFill/>
          </p:spPr>
        </p:pic>
        <p:sp>
          <p:nvSpPr>
            <p:cNvPr id="36" name="TextBox 60">
              <a:extLst>
                <a:ext uri="{FF2B5EF4-FFF2-40B4-BE49-F238E27FC236}">
                  <a16:creationId xmlns:a16="http://schemas.microsoft.com/office/drawing/2014/main" id="{33942A9C-F4AC-4D18-BE50-750BE90D68CC}"/>
                </a:ext>
              </a:extLst>
            </p:cNvPr>
            <p:cNvSpPr txBox="1"/>
            <p:nvPr/>
          </p:nvSpPr>
          <p:spPr>
            <a:xfrm>
              <a:off x="7884368" y="3140968"/>
              <a:ext cx="1109599" cy="1600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/>
                <a:t>Seiten-</a:t>
              </a:r>
              <a:br>
                <a:rPr lang="de-DE" sz="1400" dirty="0"/>
              </a:br>
              <a:r>
                <a:rPr lang="de-DE" sz="1400" dirty="0" err="1"/>
                <a:t>nummer</a:t>
              </a:r>
              <a:r>
                <a:rPr lang="de-DE" sz="1400" dirty="0"/>
                <a:t> p</a:t>
              </a:r>
              <a:br>
                <a:rPr lang="de-DE" sz="1400" dirty="0"/>
              </a:br>
              <a:r>
                <a:rPr lang="de-DE" sz="1400" dirty="0"/>
                <a:t>eines</a:t>
              </a:r>
              <a:br>
                <a:rPr lang="de-DE" sz="1400" dirty="0"/>
              </a:br>
              <a:r>
                <a:rPr lang="de-DE" sz="1400" dirty="0"/>
                <a:t>Prozesses</a:t>
              </a:r>
            </a:p>
            <a:p>
              <a:r>
                <a:rPr lang="de-DE" sz="1400" u="sng" dirty="0"/>
                <a:t>und</a:t>
              </a:r>
              <a:r>
                <a:rPr lang="de-DE" sz="1400" dirty="0"/>
                <a:t> </a:t>
              </a:r>
              <a:r>
                <a:rPr lang="de-DE" sz="1400" dirty="0" err="1"/>
                <a:t>pid</a:t>
              </a:r>
              <a:r>
                <a:rPr lang="de-DE" sz="1400" dirty="0"/>
                <a:t>, die</a:t>
              </a:r>
              <a:endParaRPr lang="de-DE" sz="1400" u="sng" dirty="0"/>
            </a:p>
            <a:p>
              <a:r>
                <a:rPr lang="de-DE" sz="1400" dirty="0"/>
                <a:t>Prozess-ID</a:t>
              </a:r>
            </a:p>
            <a:p>
              <a:endParaRPr lang="de-DE" sz="140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81C74AD-8382-466B-980F-E62AF0FA53B2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flipH="1" flipV="1">
              <a:off x="7418244" y="3284985"/>
              <a:ext cx="466124" cy="65620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92246DB-043F-421E-A58B-F73629DC9D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8244" y="3906054"/>
              <a:ext cx="466124" cy="96310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60">
              <a:extLst>
                <a:ext uri="{FF2B5EF4-FFF2-40B4-BE49-F238E27FC236}">
                  <a16:creationId xmlns:a16="http://schemas.microsoft.com/office/drawing/2014/main" id="{50675F7E-A89F-4F61-8AEB-27505FFE25A2}"/>
                </a:ext>
              </a:extLst>
            </p:cNvPr>
            <p:cNvSpPr txBox="1"/>
            <p:nvPr/>
          </p:nvSpPr>
          <p:spPr>
            <a:xfrm>
              <a:off x="5513256" y="5704737"/>
              <a:ext cx="140775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/>
                <a:t>Rahmen-</a:t>
              </a:r>
              <a:br>
                <a:rPr lang="de-DE" sz="1400" dirty="0"/>
              </a:br>
              <a:r>
                <a:rPr lang="de-DE" sz="1400" dirty="0" err="1"/>
                <a:t>nummer</a:t>
              </a:r>
              <a:r>
                <a:rPr lang="de-DE" sz="1400" dirty="0"/>
                <a:t> f,</a:t>
              </a:r>
              <a:br>
                <a:rPr lang="de-DE" sz="1400" dirty="0"/>
              </a:br>
              <a:r>
                <a:rPr lang="de-DE" sz="1400" dirty="0"/>
                <a:t>entspricht einer</a:t>
              </a:r>
              <a:br>
                <a:rPr lang="de-DE" sz="1400" dirty="0"/>
              </a:br>
              <a:r>
                <a:rPr lang="de-DE" sz="1400" dirty="0"/>
                <a:t>RAM-Kachel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980915A-FBAE-4BE3-A134-92891AD43B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1747" y="3906055"/>
              <a:ext cx="513243" cy="173274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C834A3F-DF25-4D97-BDBD-0733B92E9241}"/>
                </a:ext>
              </a:extLst>
            </p:cNvPr>
            <p:cNvCxnSpPr>
              <a:cxnSpLocks/>
              <a:stCxn id="39" idx="0"/>
            </p:cNvCxnSpPr>
            <p:nvPr/>
          </p:nvCxnSpPr>
          <p:spPr>
            <a:xfrm flipV="1">
              <a:off x="6217135" y="4869160"/>
              <a:ext cx="540682" cy="83557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71D62D8-D318-4552-8651-5883DD9C9F62}"/>
                </a:ext>
              </a:extLst>
            </p:cNvPr>
            <p:cNvCxnSpPr>
              <a:cxnSpLocks/>
              <a:stCxn id="39" idx="0"/>
            </p:cNvCxnSpPr>
            <p:nvPr/>
          </p:nvCxnSpPr>
          <p:spPr>
            <a:xfrm flipV="1">
              <a:off x="6217135" y="5496913"/>
              <a:ext cx="478015" cy="20782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CCE37D4-3142-41CB-983E-25542BB394D8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flipH="1" flipV="1">
              <a:off x="7418244" y="3595521"/>
              <a:ext cx="466124" cy="34566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624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E13A-EC65-4608-AF90-E386770F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Informationen</a:t>
            </a:r>
            <a:r>
              <a:rPr lang="en-US" dirty="0"/>
              <a:t> in der Frame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045A41-FEEA-4D60-9187-BD66AEB2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09989-213D-4954-85BA-C3CF43A1F6A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889447" cy="5210196"/>
          </a:xfrm>
        </p:spPr>
        <p:txBody>
          <a:bodyPr>
            <a:normAutofit/>
          </a:bodyPr>
          <a:lstStyle/>
          <a:p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die </a:t>
            </a:r>
            <a:r>
              <a:rPr lang="en-US" dirty="0" err="1"/>
              <a:t>Informationen</a:t>
            </a:r>
            <a:r>
              <a:rPr lang="en-US" dirty="0"/>
              <a:t> in der FT </a:t>
            </a:r>
            <a:r>
              <a:rPr lang="en-US" dirty="0" err="1"/>
              <a:t>etwas</a:t>
            </a:r>
            <a:r>
              <a:rPr lang="en-US" dirty="0"/>
              <a:t> </a:t>
            </a:r>
            <a:r>
              <a:rPr lang="en-US" dirty="0" err="1"/>
              <a:t>anders</a:t>
            </a:r>
            <a:r>
              <a:rPr lang="en-US" dirty="0"/>
              <a:t> </a:t>
            </a:r>
            <a:r>
              <a:rPr lang="en-US" dirty="0" err="1"/>
              <a:t>darstellen</a:t>
            </a:r>
            <a:r>
              <a:rPr lang="en-US" dirty="0"/>
              <a:t>,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Datenstruktur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M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Paaren</a:t>
            </a:r>
            <a:r>
              <a:rPr lang="en-US" dirty="0"/>
              <a:t>:</a:t>
            </a:r>
          </a:p>
          <a:p>
            <a:pPr lvl="1"/>
            <a:r>
              <a:rPr lang="de-DE" sz="2400" dirty="0"/>
              <a:t>(</a:t>
            </a:r>
            <a:r>
              <a:rPr lang="de-DE" sz="2400" b="1" dirty="0" err="1">
                <a:solidFill>
                  <a:srgbClr val="00B050"/>
                </a:solidFill>
              </a:rPr>
              <a:t>pid</a:t>
            </a:r>
            <a:r>
              <a:rPr lang="de-DE" sz="2400" dirty="0"/>
              <a:t>, </a:t>
            </a:r>
            <a:r>
              <a:rPr lang="de-DE" sz="2400" b="1" dirty="0">
                <a:solidFill>
                  <a:srgbClr val="FF0000"/>
                </a:solidFill>
              </a:rPr>
              <a:t>p</a:t>
            </a:r>
            <a:r>
              <a:rPr lang="de-DE" sz="2400" dirty="0"/>
              <a:t>) =&gt; </a:t>
            </a:r>
            <a:r>
              <a:rPr lang="de-DE" sz="2400" b="1" dirty="0">
                <a:solidFill>
                  <a:srgbClr val="7030A0"/>
                </a:solidFill>
              </a:rPr>
              <a:t>f</a:t>
            </a:r>
            <a:endParaRPr lang="de-DE" sz="2400" dirty="0"/>
          </a:p>
          <a:p>
            <a:pPr lvl="1"/>
            <a:r>
              <a:rPr lang="de-DE" sz="2000" dirty="0"/>
              <a:t>d.h. Rahmen#  </a:t>
            </a:r>
            <a:r>
              <a:rPr lang="de-DE" sz="2000" b="1" dirty="0">
                <a:solidFill>
                  <a:srgbClr val="7030A0"/>
                </a:solidFill>
              </a:rPr>
              <a:t>f  </a:t>
            </a:r>
            <a:r>
              <a:rPr lang="de-DE" sz="2000" dirty="0"/>
              <a:t>=&gt; (</a:t>
            </a:r>
            <a:r>
              <a:rPr lang="de-DE" sz="2000" b="1" dirty="0" err="1">
                <a:solidFill>
                  <a:srgbClr val="00B050"/>
                </a:solidFill>
              </a:rPr>
              <a:t>pid</a:t>
            </a:r>
            <a:r>
              <a:rPr lang="de-DE" sz="2000" dirty="0"/>
              <a:t>, Seitennummer </a:t>
            </a:r>
            <a:r>
              <a:rPr lang="de-DE" sz="2000" b="1" dirty="0">
                <a:solidFill>
                  <a:srgbClr val="FF0000"/>
                </a:solidFill>
              </a:rPr>
              <a:t>p </a:t>
            </a:r>
            <a:r>
              <a:rPr lang="de-DE" sz="2000" dirty="0"/>
              <a:t>zum PID-Prozess)</a:t>
            </a:r>
          </a:p>
          <a:p>
            <a:r>
              <a:rPr lang="en-US" dirty="0"/>
              <a:t>Wie </a:t>
            </a:r>
            <a:r>
              <a:rPr lang="en-US" dirty="0" err="1"/>
              <a:t>berechnen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nun </a:t>
            </a:r>
            <a:r>
              <a:rPr lang="de-DE" sz="2400" b="1" dirty="0" err="1">
                <a:solidFill>
                  <a:prstClr val="black"/>
                </a:solidFill>
              </a:rPr>
              <a:t>F</a:t>
            </a:r>
            <a:r>
              <a:rPr lang="de-DE" sz="2400" b="1" baseline="-25000" dirty="0" err="1">
                <a:solidFill>
                  <a:prstClr val="black"/>
                </a:solidFill>
              </a:rPr>
              <a:t>pid</a:t>
            </a:r>
            <a:r>
              <a:rPr lang="de-DE" sz="2400" b="1" dirty="0">
                <a:solidFill>
                  <a:prstClr val="black"/>
                </a:solidFill>
              </a:rPr>
              <a:t>(</a:t>
            </a:r>
            <a:r>
              <a:rPr lang="de-DE" sz="2400" b="1" dirty="0">
                <a:solidFill>
                  <a:srgbClr val="FF0000"/>
                </a:solidFill>
              </a:rPr>
              <a:t>p</a:t>
            </a:r>
            <a:r>
              <a:rPr lang="de-DE" sz="2400" b="1" dirty="0">
                <a:solidFill>
                  <a:prstClr val="black"/>
                </a:solidFill>
              </a:rPr>
              <a:t>) = </a:t>
            </a:r>
            <a:r>
              <a:rPr lang="de-DE" sz="2400" b="1" dirty="0">
                <a:solidFill>
                  <a:srgbClr val="0070C0"/>
                </a:solidFill>
              </a:rPr>
              <a:t>f </a:t>
            </a:r>
            <a:r>
              <a:rPr lang="en-US" sz="2400" dirty="0"/>
              <a:t>?</a:t>
            </a:r>
          </a:p>
          <a:p>
            <a:r>
              <a:rPr lang="en-US" sz="2400" dirty="0" err="1"/>
              <a:t>Gegeben</a:t>
            </a:r>
            <a:r>
              <a:rPr lang="en-US" sz="2400" dirty="0"/>
              <a:t> Inputs </a:t>
            </a:r>
            <a:r>
              <a:rPr lang="de-DE" sz="2400" b="1" dirty="0">
                <a:solidFill>
                  <a:srgbClr val="FF0000"/>
                </a:solidFill>
              </a:rPr>
              <a:t>p</a:t>
            </a:r>
            <a:r>
              <a:rPr lang="en-US" sz="2400" dirty="0"/>
              <a:t> und </a:t>
            </a:r>
            <a:r>
              <a:rPr lang="de-DE" sz="2400" b="1" dirty="0" err="1">
                <a:solidFill>
                  <a:srgbClr val="00B050"/>
                </a:solidFill>
              </a:rPr>
              <a:t>pid</a:t>
            </a:r>
            <a:r>
              <a:rPr lang="en-US" sz="2400" dirty="0"/>
              <a:t>, </a:t>
            </a:r>
            <a:r>
              <a:rPr lang="en-US" sz="2400" u="sng" dirty="0" err="1"/>
              <a:t>finde</a:t>
            </a:r>
            <a:r>
              <a:rPr lang="en-US" sz="2400" dirty="0"/>
              <a:t> in </a:t>
            </a:r>
            <a:r>
              <a:rPr lang="en-US" sz="2400" dirty="0">
                <a:solidFill>
                  <a:srgbClr val="0070C0"/>
                </a:solidFill>
              </a:rPr>
              <a:t>M</a:t>
            </a:r>
            <a:r>
              <a:rPr lang="en-US" sz="2400" dirty="0"/>
              <a:t> den </a:t>
            </a:r>
            <a:r>
              <a:rPr lang="en-US" sz="2400" dirty="0" err="1"/>
              <a:t>Eintrag</a:t>
            </a:r>
            <a:r>
              <a:rPr lang="en-US" sz="2400" dirty="0"/>
              <a:t> </a:t>
            </a: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de-DE" sz="2400" dirty="0"/>
              <a:t>(</a:t>
            </a:r>
            <a:r>
              <a:rPr lang="de-DE" sz="2400" b="1" dirty="0" err="1">
                <a:solidFill>
                  <a:srgbClr val="00B050"/>
                </a:solidFill>
              </a:rPr>
              <a:t>pid</a:t>
            </a:r>
            <a:r>
              <a:rPr lang="de-DE" sz="2400" dirty="0"/>
              <a:t>, </a:t>
            </a:r>
            <a:r>
              <a:rPr lang="de-DE" sz="2400" b="1" dirty="0">
                <a:solidFill>
                  <a:srgbClr val="FF0000"/>
                </a:solidFill>
              </a:rPr>
              <a:t>p</a:t>
            </a:r>
            <a:r>
              <a:rPr lang="de-DE" sz="2400" dirty="0"/>
              <a:t>) und gebe das zugehörige </a:t>
            </a:r>
            <a:r>
              <a:rPr lang="de-DE" sz="2400" b="1" dirty="0">
                <a:solidFill>
                  <a:srgbClr val="0070C0"/>
                </a:solidFill>
              </a:rPr>
              <a:t>f </a:t>
            </a:r>
            <a:r>
              <a:rPr lang="de-DE" sz="2400" dirty="0"/>
              <a:t>aus</a:t>
            </a:r>
          </a:p>
          <a:p>
            <a:r>
              <a:rPr lang="de-DE" sz="2400" dirty="0"/>
              <a:t>Man nennt </a:t>
            </a:r>
            <a:r>
              <a:rPr lang="en-US" sz="2400" dirty="0">
                <a:solidFill>
                  <a:srgbClr val="0070C0"/>
                </a:solidFill>
              </a:rPr>
              <a:t>M </a:t>
            </a:r>
            <a:r>
              <a:rPr lang="de-DE" sz="2400" dirty="0"/>
              <a:t>eine </a:t>
            </a:r>
            <a:r>
              <a:rPr lang="de-DE" sz="2400" b="1" dirty="0" err="1"/>
              <a:t>Map</a:t>
            </a:r>
            <a:r>
              <a:rPr lang="de-DE" sz="2400" dirty="0"/>
              <a:t> oder </a:t>
            </a:r>
            <a:r>
              <a:rPr lang="de-DE" sz="2400" b="1" dirty="0"/>
              <a:t>Dictionary</a:t>
            </a:r>
          </a:p>
          <a:p>
            <a:pPr lvl="1"/>
            <a:r>
              <a:rPr lang="de-DE" sz="2100" dirty="0"/>
              <a:t>Java: </a:t>
            </a:r>
            <a:r>
              <a:rPr lang="de-DE" sz="2100" dirty="0" err="1"/>
              <a:t>HashMap</a:t>
            </a:r>
            <a:r>
              <a:rPr lang="de-DE" sz="2100" dirty="0"/>
              <a:t>, </a:t>
            </a:r>
            <a:r>
              <a:rPr lang="de-DE" sz="2100" dirty="0" err="1"/>
              <a:t>TreeMap</a:t>
            </a:r>
            <a:r>
              <a:rPr lang="de-DE" sz="2100" dirty="0"/>
              <a:t>, Nim: Table, Python: </a:t>
            </a:r>
            <a:r>
              <a:rPr lang="de-DE" sz="2100" dirty="0" err="1"/>
              <a:t>dict</a:t>
            </a:r>
            <a:r>
              <a:rPr lang="de-DE" sz="2100" dirty="0"/>
              <a:t>(</a:t>
            </a:r>
            <a:r>
              <a:rPr lang="de-DE" sz="2100" dirty="0" err="1"/>
              <a:t>ionary</a:t>
            </a:r>
            <a:r>
              <a:rPr lang="de-DE" sz="2100" dirty="0"/>
              <a:t>)</a:t>
            </a:r>
            <a:endParaRPr lang="en-US" sz="21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7877ED-3E7C-492A-8A4E-781E0219679D}"/>
              </a:ext>
            </a:extLst>
          </p:cNvPr>
          <p:cNvGrpSpPr/>
          <p:nvPr/>
        </p:nvGrpSpPr>
        <p:grpSpPr>
          <a:xfrm>
            <a:off x="6362353" y="836712"/>
            <a:ext cx="2727324" cy="3073896"/>
            <a:chOff x="6295497" y="2927073"/>
            <a:chExt cx="2727324" cy="3073896"/>
          </a:xfrm>
        </p:grpSpPr>
        <p:pic>
          <p:nvPicPr>
            <p:cNvPr id="7" name="Picture 2" descr="C:\Artur\Academic\Lehre\10.WS-IBN\VL\figures\vl07\processes and paging.jpg">
              <a:extLst>
                <a:ext uri="{FF2B5EF4-FFF2-40B4-BE49-F238E27FC236}">
                  <a16:creationId xmlns:a16="http://schemas.microsoft.com/office/drawing/2014/main" id="{73EA3C14-8BF4-4B90-96C5-67223F2775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85064"/>
            <a:stretch/>
          </p:blipFill>
          <p:spPr bwMode="auto">
            <a:xfrm>
              <a:off x="6695150" y="2927073"/>
              <a:ext cx="670267" cy="3073896"/>
            </a:xfrm>
            <a:prstGeom prst="rect">
              <a:avLst/>
            </a:prstGeom>
            <a:noFill/>
          </p:spPr>
        </p:pic>
        <p:sp>
          <p:nvSpPr>
            <p:cNvPr id="8" name="TextBox 60">
              <a:extLst>
                <a:ext uri="{FF2B5EF4-FFF2-40B4-BE49-F238E27FC236}">
                  <a16:creationId xmlns:a16="http://schemas.microsoft.com/office/drawing/2014/main" id="{676036E9-F657-4F61-8958-88D21AE96D3C}"/>
                </a:ext>
              </a:extLst>
            </p:cNvPr>
            <p:cNvSpPr txBox="1"/>
            <p:nvPr/>
          </p:nvSpPr>
          <p:spPr>
            <a:xfrm>
              <a:off x="7884368" y="3140968"/>
              <a:ext cx="1138453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/>
                <a:t>Seiten-</a:t>
              </a:r>
              <a:br>
                <a:rPr lang="de-DE" sz="1400" dirty="0"/>
              </a:br>
              <a:r>
                <a:rPr lang="de-DE" sz="1400" dirty="0" err="1"/>
                <a:t>nummer</a:t>
              </a:r>
              <a:r>
                <a:rPr lang="de-DE" sz="1400" dirty="0"/>
                <a:t> </a:t>
              </a:r>
              <a:r>
                <a:rPr lang="de-DE" sz="1400" b="1" dirty="0"/>
                <a:t>p</a:t>
              </a:r>
              <a:br>
                <a:rPr lang="de-DE" sz="1400" dirty="0"/>
              </a:br>
              <a:r>
                <a:rPr lang="de-DE" sz="1400" dirty="0"/>
                <a:t>eines</a:t>
              </a:r>
              <a:br>
                <a:rPr lang="de-DE" sz="1400" dirty="0"/>
              </a:br>
              <a:r>
                <a:rPr lang="de-DE" sz="1400" dirty="0"/>
                <a:t>Prozesses</a:t>
              </a:r>
            </a:p>
            <a:p>
              <a:r>
                <a:rPr lang="de-DE" sz="1400" u="sng" dirty="0"/>
                <a:t>und</a:t>
              </a:r>
              <a:r>
                <a:rPr lang="de-DE" sz="1400" dirty="0"/>
                <a:t> </a:t>
              </a:r>
              <a:r>
                <a:rPr lang="de-DE" sz="1400" b="1" dirty="0" err="1"/>
                <a:t>pid</a:t>
              </a:r>
              <a:r>
                <a:rPr lang="de-DE" sz="1400" dirty="0"/>
                <a:t>, die</a:t>
              </a:r>
              <a:endParaRPr lang="de-DE" sz="1400" u="sng" dirty="0"/>
            </a:p>
            <a:p>
              <a:r>
                <a:rPr lang="de-DE" sz="1400" dirty="0"/>
                <a:t>Prozess-ID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49C19E-55DA-4677-93BE-FA98E1D03E75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 flipV="1">
              <a:off x="7418244" y="3284984"/>
              <a:ext cx="466124" cy="54848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21D637B-4885-42E4-A6B0-98CF13EEEC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8244" y="3906054"/>
              <a:ext cx="466124" cy="96310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0">
              <a:extLst>
                <a:ext uri="{FF2B5EF4-FFF2-40B4-BE49-F238E27FC236}">
                  <a16:creationId xmlns:a16="http://schemas.microsoft.com/office/drawing/2014/main" id="{0C3E69F6-A95E-440A-A828-AA5589395DFF}"/>
                </a:ext>
              </a:extLst>
            </p:cNvPr>
            <p:cNvSpPr txBox="1"/>
            <p:nvPr/>
          </p:nvSpPr>
          <p:spPr>
            <a:xfrm>
              <a:off x="6295497" y="3441631"/>
              <a:ext cx="3182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b="1" dirty="0"/>
                <a:t>f</a:t>
              </a:r>
              <a:endParaRPr lang="de-DE" sz="14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AA4B4D0-9104-4D69-A358-B90E344248C7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6454607" y="3243862"/>
              <a:ext cx="311491" cy="19776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62C7768-146A-426A-8F65-71908E47622C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>
              <a:off x="6454607" y="3441631"/>
              <a:ext cx="311491" cy="1085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CB49BA3-2E7E-46C1-AC0E-8264BFEAAAB4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 flipV="1">
              <a:off x="7418244" y="3595520"/>
              <a:ext cx="466124" cy="23794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78C4CC1-DD94-4BE9-8759-40BF351C1708}"/>
              </a:ext>
            </a:extLst>
          </p:cNvPr>
          <p:cNvSpPr/>
          <p:nvPr/>
        </p:nvSpPr>
        <p:spPr>
          <a:xfrm>
            <a:off x="6677208" y="4120277"/>
            <a:ext cx="1428596" cy="2585323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/>
            <a:r>
              <a:rPr lang="de-DE" dirty="0"/>
              <a:t>(</a:t>
            </a:r>
            <a:r>
              <a:rPr lang="de-DE" b="1" dirty="0" err="1">
                <a:solidFill>
                  <a:srgbClr val="00B050"/>
                </a:solidFill>
              </a:rPr>
              <a:t>pid</a:t>
            </a:r>
            <a:r>
              <a:rPr lang="de-DE" dirty="0"/>
              <a:t>,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) =&gt;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endParaRPr lang="de-DE" dirty="0"/>
          </a:p>
          <a:p>
            <a:pPr marL="0" lvl="1"/>
            <a:r>
              <a:rPr lang="de-DE" dirty="0"/>
              <a:t>(</a:t>
            </a:r>
            <a:r>
              <a:rPr lang="de-DE" b="1" dirty="0" err="1">
                <a:solidFill>
                  <a:srgbClr val="00B050"/>
                </a:solidFill>
              </a:rPr>
              <a:t>pid</a:t>
            </a:r>
            <a:r>
              <a:rPr lang="de-DE" dirty="0"/>
              <a:t>,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) =&gt;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endParaRPr lang="de-DE" dirty="0"/>
          </a:p>
          <a:p>
            <a:pPr marL="0" lvl="1"/>
            <a:r>
              <a:rPr lang="de-DE" dirty="0"/>
              <a:t>(</a:t>
            </a:r>
            <a:r>
              <a:rPr lang="de-DE" b="1" dirty="0" err="1">
                <a:solidFill>
                  <a:srgbClr val="00B050"/>
                </a:solidFill>
              </a:rPr>
              <a:t>pid</a:t>
            </a:r>
            <a:r>
              <a:rPr lang="de-DE" dirty="0"/>
              <a:t>,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) =&gt;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</a:p>
          <a:p>
            <a:pPr marL="0" lvl="1" algn="ctr"/>
            <a:r>
              <a:rPr lang="de-DE" dirty="0"/>
              <a:t>…</a:t>
            </a:r>
          </a:p>
          <a:p>
            <a:pPr marL="0" lvl="1"/>
            <a:r>
              <a:rPr lang="de-DE" dirty="0"/>
              <a:t>(</a:t>
            </a:r>
            <a:r>
              <a:rPr lang="de-DE" b="1" dirty="0" err="1">
                <a:solidFill>
                  <a:srgbClr val="00B050"/>
                </a:solidFill>
              </a:rPr>
              <a:t>pid</a:t>
            </a:r>
            <a:r>
              <a:rPr lang="de-DE" dirty="0"/>
              <a:t>,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) =&gt;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endParaRPr lang="de-DE" dirty="0"/>
          </a:p>
          <a:p>
            <a:pPr marL="0" lvl="1"/>
            <a:r>
              <a:rPr lang="de-DE" dirty="0"/>
              <a:t>(</a:t>
            </a:r>
            <a:r>
              <a:rPr lang="de-DE" b="1" dirty="0" err="1">
                <a:solidFill>
                  <a:srgbClr val="00B050"/>
                </a:solidFill>
              </a:rPr>
              <a:t>pid</a:t>
            </a:r>
            <a:r>
              <a:rPr lang="de-DE" dirty="0"/>
              <a:t>,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) =&gt;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endParaRPr lang="de-DE" dirty="0"/>
          </a:p>
          <a:p>
            <a:pPr marL="0" lvl="1" algn="ctr"/>
            <a:r>
              <a:rPr lang="de-DE" dirty="0"/>
              <a:t>…</a:t>
            </a:r>
          </a:p>
          <a:p>
            <a:pPr marL="0" lvl="1"/>
            <a:r>
              <a:rPr lang="de-DE" dirty="0"/>
              <a:t>(</a:t>
            </a:r>
            <a:r>
              <a:rPr lang="de-DE" b="1" dirty="0" err="1">
                <a:solidFill>
                  <a:srgbClr val="00B050"/>
                </a:solidFill>
              </a:rPr>
              <a:t>pid</a:t>
            </a:r>
            <a:r>
              <a:rPr lang="de-DE" dirty="0"/>
              <a:t>,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) =&gt;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endParaRPr lang="de-DE" dirty="0"/>
          </a:p>
          <a:p>
            <a:pPr marL="0" lvl="1"/>
            <a:r>
              <a:rPr lang="de-DE" dirty="0"/>
              <a:t>(</a:t>
            </a:r>
            <a:r>
              <a:rPr lang="de-DE" b="1" dirty="0" err="1">
                <a:solidFill>
                  <a:srgbClr val="00B050"/>
                </a:solidFill>
              </a:rPr>
              <a:t>pid</a:t>
            </a:r>
            <a:r>
              <a:rPr lang="de-DE" dirty="0"/>
              <a:t>,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) =&gt;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endParaRPr lang="de-D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336183-5383-43B7-A25A-40570F445EEC}"/>
              </a:ext>
            </a:extLst>
          </p:cNvPr>
          <p:cNvSpPr/>
          <p:nvPr/>
        </p:nvSpPr>
        <p:spPr>
          <a:xfrm>
            <a:off x="8144137" y="3790217"/>
            <a:ext cx="4411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3752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Speicheroptimierung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050904" cy="4010000"/>
          </a:xfrm>
        </p:spPr>
        <p:txBody>
          <a:bodyPr>
            <a:noAutofit/>
          </a:bodyPr>
          <a:lstStyle/>
          <a:p>
            <a:r>
              <a:rPr lang="de-DE" sz="2400" dirty="0"/>
              <a:t>Statt M können wir eine kompaktere Speicherung nutzen</a:t>
            </a:r>
          </a:p>
          <a:p>
            <a:r>
              <a:rPr lang="de-DE" sz="2400" dirty="0"/>
              <a:t>Wir sortieren die Einträge nach der 2. Spalte (= </a:t>
            </a:r>
            <a:r>
              <a:rPr lang="de-DE" sz="2400" dirty="0" err="1"/>
              <a:t>Rahmennr</a:t>
            </a:r>
            <a:r>
              <a:rPr lang="de-DE" sz="2400" dirty="0"/>
              <a:t>. </a:t>
            </a:r>
            <a:r>
              <a:rPr lang="de-DE" sz="2400" b="1" dirty="0">
                <a:solidFill>
                  <a:srgbClr val="7030A0"/>
                </a:solidFill>
              </a:rPr>
              <a:t>f</a:t>
            </a:r>
            <a:r>
              <a:rPr lang="de-DE" sz="2400" dirty="0"/>
              <a:t>)</a:t>
            </a:r>
          </a:p>
          <a:p>
            <a:r>
              <a:rPr lang="de-DE" sz="2400" dirty="0"/>
              <a:t>… Und führen </a:t>
            </a:r>
            <a:r>
              <a:rPr lang="de-DE" sz="2400" u="sng" dirty="0"/>
              <a:t>zu jeder möglichen</a:t>
            </a:r>
            <a:r>
              <a:rPr lang="de-DE" sz="2400" dirty="0"/>
              <a:t> Rahmennummer </a:t>
            </a:r>
            <a:r>
              <a:rPr lang="de-DE" sz="2400" b="1" dirty="0">
                <a:solidFill>
                  <a:srgbClr val="7030A0"/>
                </a:solidFill>
              </a:rPr>
              <a:t>f</a:t>
            </a:r>
            <a:r>
              <a:rPr lang="de-DE" sz="2400" dirty="0"/>
              <a:t> eine Zeile ein </a:t>
            </a:r>
          </a:p>
          <a:p>
            <a:r>
              <a:rPr lang="de-DE" sz="2400" dirty="0"/>
              <a:t>Da die Rahmennummern nun durchgehen sind, können wir die 2. Spalte streichen!</a:t>
            </a:r>
          </a:p>
          <a:p>
            <a:r>
              <a:rPr lang="de-DE" sz="2400" dirty="0"/>
              <a:t>Speicherbedarf?</a:t>
            </a:r>
          </a:p>
          <a:p>
            <a:endParaRPr lang="de-DE" sz="2400" b="1" dirty="0">
              <a:solidFill>
                <a:srgbClr val="7030A0"/>
              </a:solidFill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57200" y="5517231"/>
            <a:ext cx="8002682" cy="1241365"/>
          </a:xfrm>
        </p:spPr>
        <p:txBody>
          <a:bodyPr>
            <a:noAutofit/>
          </a:bodyPr>
          <a:lstStyle/>
          <a:p>
            <a:r>
              <a:rPr lang="de-DE" sz="2400" dirty="0"/>
              <a:t>Die Größe der Seitentabelle ist nun </a:t>
            </a:r>
            <a:r>
              <a:rPr lang="de-DE" sz="2400" u="sng" dirty="0"/>
              <a:t>proportional zum vorhandenen physischen Speicher</a:t>
            </a:r>
            <a:r>
              <a:rPr lang="de-DE" sz="2400" dirty="0"/>
              <a:t> und nicht zum logischen Adressraum – ist das viel?</a:t>
            </a:r>
          </a:p>
        </p:txBody>
      </p:sp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831489"/>
              </p:ext>
            </p:extLst>
          </p:nvPr>
        </p:nvGraphicFramePr>
        <p:xfrm>
          <a:off x="6092512" y="1661160"/>
          <a:ext cx="2764906" cy="3535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82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458">
                <a:tc>
                  <a:txBody>
                    <a:bodyPr/>
                    <a:lstStyle/>
                    <a:p>
                      <a:r>
                        <a:rPr lang="de-DE" sz="1800" dirty="0"/>
                        <a:t>(</a:t>
                      </a:r>
                      <a:r>
                        <a:rPr lang="de-DE" sz="1800" b="1" dirty="0" err="1">
                          <a:solidFill>
                            <a:schemeClr val="tx1"/>
                          </a:solidFill>
                        </a:rPr>
                        <a:t>pid</a:t>
                      </a:r>
                      <a:r>
                        <a:rPr lang="de-DE" sz="1800" dirty="0"/>
                        <a:t>, </a:t>
                      </a:r>
                      <a:r>
                        <a:rPr lang="de-DE" sz="1800" b="1" dirty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de-DE" sz="1800" dirty="0"/>
                        <a:t>) </a:t>
                      </a:r>
                      <a:endParaRPr lang="de-DE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Physisch f</a:t>
                      </a:r>
                      <a:endParaRPr lang="de-DE" sz="18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2" name="Gruppieren 11"/>
          <p:cNvGrpSpPr/>
          <p:nvPr/>
        </p:nvGrpSpPr>
        <p:grpSpPr>
          <a:xfrm>
            <a:off x="7474965" y="1734795"/>
            <a:ext cx="1368152" cy="3141653"/>
            <a:chOff x="6948264" y="1692331"/>
            <a:chExt cx="862236" cy="2456749"/>
          </a:xfrm>
        </p:grpSpPr>
        <p:cxnSp>
          <p:nvCxnSpPr>
            <p:cNvPr id="14" name="Gerade Verbindung 9"/>
            <p:cNvCxnSpPr/>
            <p:nvPr/>
          </p:nvCxnSpPr>
          <p:spPr>
            <a:xfrm>
              <a:off x="6948264" y="1692331"/>
              <a:ext cx="862236" cy="245674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Gerade Verbindung 11"/>
            <p:cNvCxnSpPr/>
            <p:nvPr/>
          </p:nvCxnSpPr>
          <p:spPr>
            <a:xfrm flipH="1">
              <a:off x="6948264" y="1700808"/>
              <a:ext cx="862236" cy="244827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D5BCCAE-C865-43CE-8C1A-7C63D3812ABB}"/>
              </a:ext>
            </a:extLst>
          </p:cNvPr>
          <p:cNvSpPr/>
          <p:nvPr/>
        </p:nvSpPr>
        <p:spPr>
          <a:xfrm>
            <a:off x="7254392" y="1171247"/>
            <a:ext cx="4411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71089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Invertierte Seitentabellen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418329" y="1298442"/>
            <a:ext cx="4225679" cy="4938870"/>
          </a:xfrm>
        </p:spPr>
        <p:txBody>
          <a:bodyPr>
            <a:normAutofit/>
          </a:bodyPr>
          <a:lstStyle/>
          <a:p>
            <a:r>
              <a:rPr lang="de-DE" dirty="0"/>
              <a:t>Eine </a:t>
            </a:r>
            <a:r>
              <a:rPr lang="de-DE" b="1" dirty="0">
                <a:solidFill>
                  <a:srgbClr val="0070C0"/>
                </a:solidFill>
              </a:rPr>
              <a:t>invertierte Seitentabelle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/>
              <a:t>speichert zu jedem Rahmen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r>
              <a:rPr lang="de-DE" dirty="0"/>
              <a:t> (=Kachel des phys. Speichers) die Seitennummer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der </a:t>
            </a:r>
            <a:br>
              <a:rPr lang="de-DE" dirty="0"/>
            </a:br>
            <a:r>
              <a:rPr lang="de-DE" dirty="0"/>
              <a:t>Seite (=Kachel des log. Speichers), die auf </a:t>
            </a:r>
            <a:r>
              <a:rPr lang="de-DE" b="1" dirty="0">
                <a:solidFill>
                  <a:srgbClr val="7030A0"/>
                </a:solidFill>
              </a:rPr>
              <a:t>F </a:t>
            </a:r>
            <a:r>
              <a:rPr lang="de-DE" dirty="0"/>
              <a:t>abgebildet wird</a:t>
            </a:r>
          </a:p>
          <a:p>
            <a:endParaRPr lang="de-DE" dirty="0"/>
          </a:p>
        </p:txBody>
      </p:sp>
      <p:grpSp>
        <p:nvGrpSpPr>
          <p:cNvPr id="20" name="Gruppieren 19"/>
          <p:cNvGrpSpPr/>
          <p:nvPr/>
        </p:nvGrpSpPr>
        <p:grpSpPr>
          <a:xfrm>
            <a:off x="4716016" y="1212593"/>
            <a:ext cx="3467572" cy="4019140"/>
            <a:chOff x="4561656" y="2940785"/>
            <a:chExt cx="3467572" cy="4019140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6300192" y="3537198"/>
              <a:ext cx="864096" cy="79246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6300192" y="4077072"/>
              <a:ext cx="859887" cy="60769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6300192" y="4653136"/>
              <a:ext cx="859887" cy="39166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6300192" y="5229200"/>
              <a:ext cx="859887" cy="17964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11"/>
            <p:cNvGrpSpPr/>
            <p:nvPr/>
          </p:nvGrpSpPr>
          <p:grpSpPr>
            <a:xfrm>
              <a:off x="4932040" y="4329658"/>
              <a:ext cx="1368152" cy="1799270"/>
              <a:chOff x="4932040" y="4329658"/>
              <a:chExt cx="1368152" cy="1799270"/>
            </a:xfrm>
          </p:grpSpPr>
          <p:grpSp>
            <p:nvGrpSpPr>
              <p:cNvPr id="12" name="Group 15"/>
              <p:cNvGrpSpPr/>
              <p:nvPr/>
            </p:nvGrpSpPr>
            <p:grpSpPr>
              <a:xfrm>
                <a:off x="4932040" y="5044802"/>
                <a:ext cx="1368152" cy="360040"/>
                <a:chOff x="2339752" y="3933056"/>
                <a:chExt cx="1368152" cy="360040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?</a:t>
                  </a:r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12</a:t>
                  </a: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4932040" y="4329658"/>
                <a:ext cx="1368152" cy="360040"/>
                <a:chOff x="2339752" y="3933056"/>
                <a:chExt cx="1368152" cy="360040"/>
              </a:xfrm>
            </p:grpSpPr>
            <p:sp>
              <p:nvSpPr>
                <p:cNvPr id="27" name="Rectangle 26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…</a:t>
                  </a:r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30</a:t>
                  </a:r>
                </a:p>
              </p:txBody>
            </p:sp>
          </p:grpSp>
          <p:grpSp>
            <p:nvGrpSpPr>
              <p:cNvPr id="17" name="Group 17"/>
              <p:cNvGrpSpPr/>
              <p:nvPr/>
            </p:nvGrpSpPr>
            <p:grpSpPr>
              <a:xfrm>
                <a:off x="4932040" y="4684762"/>
                <a:ext cx="1368152" cy="360040"/>
                <a:chOff x="2339752" y="3933056"/>
                <a:chExt cx="1368152" cy="360040"/>
              </a:xfrm>
            </p:grpSpPr>
            <p:sp>
              <p:nvSpPr>
                <p:cNvPr id="25" name="Rectangle 24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…</a:t>
                  </a:r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99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4932040" y="5408848"/>
                <a:ext cx="1368152" cy="360040"/>
                <a:chOff x="2339752" y="3933056"/>
                <a:chExt cx="1368152" cy="360040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…</a:t>
                  </a:r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..</a:t>
                  </a:r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4932040" y="5768888"/>
                <a:ext cx="1368152" cy="360040"/>
                <a:chOff x="2339752" y="3933056"/>
                <a:chExt cx="1368152" cy="360040"/>
              </a:xfrm>
            </p:grpSpPr>
            <p:sp>
              <p:nvSpPr>
                <p:cNvPr id="21" name="Rectangle 20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…</a:t>
                  </a:r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10</a:t>
                  </a:r>
                </a:p>
              </p:txBody>
            </p:sp>
          </p:grpSp>
        </p:grpSp>
        <p:cxnSp>
          <p:nvCxnSpPr>
            <p:cNvPr id="13" name="Straight Connector 12"/>
            <p:cNvCxnSpPr/>
            <p:nvPr/>
          </p:nvCxnSpPr>
          <p:spPr>
            <a:xfrm>
              <a:off x="6300192" y="5768888"/>
              <a:ext cx="85988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300192" y="6128928"/>
              <a:ext cx="864096" cy="21658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160079" y="2940785"/>
              <a:ext cx="8691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RAM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561656" y="6128928"/>
              <a:ext cx="20882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b="1" dirty="0">
                  <a:solidFill>
                    <a:srgbClr val="FF0000"/>
                  </a:solidFill>
                </a:rPr>
                <a:t>Invertierte</a:t>
              </a:r>
              <a:r>
                <a:rPr lang="de-DE" sz="2400" dirty="0">
                  <a:solidFill>
                    <a:srgbClr val="FF0000"/>
                  </a:solidFill>
                </a:rPr>
                <a:t> </a:t>
              </a:r>
              <a:r>
                <a:rPr lang="de-DE" sz="2400" dirty="0"/>
                <a:t>Seitentabelle</a:t>
              </a:r>
            </a:p>
          </p:txBody>
        </p:sp>
      </p:grpSp>
      <p:graphicFrame>
        <p:nvGraphicFramePr>
          <p:cNvPr id="32" name="Tabelle 31"/>
          <p:cNvGraphicFramePr>
            <a:graphicFrameLocks noGrp="1"/>
          </p:cNvGraphicFramePr>
          <p:nvPr/>
        </p:nvGraphicFramePr>
        <p:xfrm>
          <a:off x="7314439" y="1803466"/>
          <a:ext cx="857961" cy="28138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277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770">
                <a:tc>
                  <a:txBody>
                    <a:bodyPr/>
                    <a:lstStyle/>
                    <a:p>
                      <a:pPr algn="ctr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77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770">
                <a:tc>
                  <a:txBody>
                    <a:bodyPr/>
                    <a:lstStyle/>
                    <a:p>
                      <a:pPr algn="ctr"/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77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4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feld 36"/>
          <p:cNvSpPr txBox="1"/>
          <p:nvPr/>
        </p:nvSpPr>
        <p:spPr>
          <a:xfrm>
            <a:off x="8310718" y="1803466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7030A0"/>
                </a:solidFill>
              </a:rPr>
              <a:t>f </a:t>
            </a:r>
            <a:r>
              <a:rPr lang="de-DE" sz="2400" dirty="0"/>
              <a:t>= 0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5918883" y="2111322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err="1">
                <a:solidFill>
                  <a:srgbClr val="FF0000"/>
                </a:solidFill>
              </a:rPr>
              <a:t>p</a:t>
            </a:r>
            <a:r>
              <a:rPr lang="de-DE" sz="2400" dirty="0" err="1"/>
              <a:t>‘s</a:t>
            </a:r>
            <a:endParaRPr lang="de-DE" sz="2400" dirty="0"/>
          </a:p>
        </p:txBody>
      </p:sp>
      <p:sp>
        <p:nvSpPr>
          <p:cNvPr id="39" name="Textfeld 38"/>
          <p:cNvSpPr txBox="1"/>
          <p:nvPr/>
        </p:nvSpPr>
        <p:spPr>
          <a:xfrm>
            <a:off x="8310718" y="2348880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7030A0"/>
                </a:solidFill>
              </a:rPr>
              <a:t>f </a:t>
            </a:r>
            <a:r>
              <a:rPr lang="de-DE" sz="2400" dirty="0"/>
              <a:t>= 1</a:t>
            </a:r>
          </a:p>
        </p:txBody>
      </p:sp>
      <p:sp>
        <p:nvSpPr>
          <p:cNvPr id="40" name="Textfeld 39"/>
          <p:cNvSpPr txBox="1"/>
          <p:nvPr/>
        </p:nvSpPr>
        <p:spPr>
          <a:xfrm>
            <a:off x="8209786" y="4119720"/>
            <a:ext cx="10294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7030A0"/>
                </a:solidFill>
              </a:rPr>
              <a:t>f </a:t>
            </a:r>
            <a:r>
              <a:rPr lang="de-DE" sz="2400" dirty="0"/>
              <a:t>= </a:t>
            </a:r>
            <a:br>
              <a:rPr lang="de-DE" sz="2400" dirty="0"/>
            </a:br>
            <a:r>
              <a:rPr lang="de-DE" sz="2400" dirty="0"/>
              <a:t>|RAM|</a:t>
            </a:r>
            <a:br>
              <a:rPr lang="de-DE" sz="2400" dirty="0"/>
            </a:br>
            <a:r>
              <a:rPr lang="de-DE" sz="2400" dirty="0"/>
              <a:t>/4kB</a:t>
            </a:r>
          </a:p>
        </p:txBody>
      </p:sp>
      <p:sp>
        <p:nvSpPr>
          <p:cNvPr id="41" name="Textfeld 40"/>
          <p:cNvSpPr txBox="1"/>
          <p:nvPr/>
        </p:nvSpPr>
        <p:spPr>
          <a:xfrm>
            <a:off x="8306509" y="2965988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7030A0"/>
                </a:solidFill>
              </a:rPr>
              <a:t>f </a:t>
            </a:r>
            <a:r>
              <a:rPr lang="de-DE" sz="2400" dirty="0"/>
              <a:t>= ..</a:t>
            </a:r>
          </a:p>
        </p:txBody>
      </p:sp>
    </p:spTree>
    <p:extLst>
      <p:ext uri="{BB962C8B-B14F-4D97-AF65-F5344CB8AC3E}">
        <p14:creationId xmlns:p14="http://schemas.microsoft.com/office/powerpoint/2010/main" val="792508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Invertierte Seitentabellen - Details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542234" y="6466894"/>
            <a:ext cx="601766" cy="365760"/>
          </a:xfrm>
        </p:spPr>
        <p:txBody>
          <a:bodyPr/>
          <a:lstStyle/>
          <a:p>
            <a:fld id="{7183533A-8A50-4A1F-BEA9-C8C6956451EB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199" y="1079144"/>
            <a:ext cx="8579296" cy="2641848"/>
          </a:xfrm>
        </p:spPr>
        <p:txBody>
          <a:bodyPr/>
          <a:lstStyle/>
          <a:p>
            <a:r>
              <a:rPr lang="de-DE" dirty="0"/>
              <a:t>Der Eintrag mit Index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r>
              <a:rPr lang="de-DE" dirty="0"/>
              <a:t> besteht aus:</a:t>
            </a:r>
          </a:p>
          <a:p>
            <a:pPr lvl="1"/>
            <a:r>
              <a:rPr lang="de-DE" dirty="0"/>
              <a:t>Prozess-Nummer </a:t>
            </a:r>
            <a:r>
              <a:rPr lang="de-DE" b="1" dirty="0">
                <a:solidFill>
                  <a:srgbClr val="00B050"/>
                </a:solidFill>
              </a:rPr>
              <a:t>PID</a:t>
            </a:r>
            <a:r>
              <a:rPr lang="de-DE" dirty="0"/>
              <a:t> des „Besitzer-Prozesses“ P des Seitenrahmens und …</a:t>
            </a:r>
          </a:p>
          <a:p>
            <a:pPr lvl="1"/>
            <a:r>
              <a:rPr lang="de-DE" dirty="0"/>
              <a:t>…Der Seitennummer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der Seite im logischen Addressraum (von P), die auf Rahmen mit Nummer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r>
              <a:rPr lang="de-DE" dirty="0"/>
              <a:t> abbildet</a:t>
            </a:r>
          </a:p>
          <a:p>
            <a:endParaRPr lang="de-DE" dirty="0"/>
          </a:p>
        </p:txBody>
      </p:sp>
      <p:sp>
        <p:nvSpPr>
          <p:cNvPr id="48" name="Rectangle 6"/>
          <p:cNvSpPr/>
          <p:nvPr/>
        </p:nvSpPr>
        <p:spPr>
          <a:xfrm>
            <a:off x="156242" y="3494938"/>
            <a:ext cx="839663" cy="792088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dirty="0"/>
              <a:t>CPU</a:t>
            </a:r>
          </a:p>
        </p:txBody>
      </p:sp>
      <p:grpSp>
        <p:nvGrpSpPr>
          <p:cNvPr id="49" name="Group 14"/>
          <p:cNvGrpSpPr/>
          <p:nvPr/>
        </p:nvGrpSpPr>
        <p:grpSpPr>
          <a:xfrm>
            <a:off x="2363071" y="3234218"/>
            <a:ext cx="1380679" cy="820026"/>
            <a:chOff x="2327225" y="3473070"/>
            <a:chExt cx="1380679" cy="820026"/>
          </a:xfrm>
        </p:grpSpPr>
        <p:sp>
          <p:nvSpPr>
            <p:cNvPr id="50" name="Rectangle 7"/>
            <p:cNvSpPr/>
            <p:nvPr/>
          </p:nvSpPr>
          <p:spPr>
            <a:xfrm>
              <a:off x="2327225" y="3473070"/>
              <a:ext cx="792088" cy="36004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dirty="0">
                  <a:solidFill>
                    <a:schemeClr val="tx1"/>
                  </a:solidFill>
                </a:rPr>
                <a:t>PID</a:t>
              </a:r>
            </a:p>
          </p:txBody>
        </p:sp>
        <p:sp>
          <p:nvSpPr>
            <p:cNvPr id="52" name="Rectangle 8"/>
            <p:cNvSpPr/>
            <p:nvPr/>
          </p:nvSpPr>
          <p:spPr>
            <a:xfrm>
              <a:off x="3131840" y="3933056"/>
              <a:ext cx="576064" cy="360040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b="1" dirty="0">
                  <a:solidFill>
                    <a:srgbClr val="FF0000"/>
                  </a:solidFill>
                </a:rPr>
                <a:t>p</a:t>
              </a:r>
            </a:p>
          </p:txBody>
        </p:sp>
      </p:grpSp>
      <p:sp>
        <p:nvSpPr>
          <p:cNvPr id="53" name="Rectangle 9"/>
          <p:cNvSpPr/>
          <p:nvPr/>
        </p:nvSpPr>
        <p:spPr>
          <a:xfrm>
            <a:off x="3737831" y="3702103"/>
            <a:ext cx="57606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4" name="Straight Arrow Connector 11"/>
          <p:cNvCxnSpPr>
            <a:stCxn id="48" idx="3"/>
            <a:endCxn id="52" idx="1"/>
          </p:cNvCxnSpPr>
          <p:nvPr/>
        </p:nvCxnSpPr>
        <p:spPr>
          <a:xfrm flipV="1">
            <a:off x="995905" y="3874224"/>
            <a:ext cx="2171781" cy="1675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66"/>
          <p:cNvGrpSpPr/>
          <p:nvPr/>
        </p:nvGrpSpPr>
        <p:grpSpPr>
          <a:xfrm>
            <a:off x="4961967" y="3306245"/>
            <a:ext cx="3149747" cy="3287810"/>
            <a:chOff x="4932040" y="3537198"/>
            <a:chExt cx="3149747" cy="3287810"/>
          </a:xfrm>
        </p:grpSpPr>
        <p:sp>
          <p:nvSpPr>
            <p:cNvPr id="56" name="Rectangle 22"/>
            <p:cNvSpPr/>
            <p:nvPr/>
          </p:nvSpPr>
          <p:spPr>
            <a:xfrm>
              <a:off x="7164288" y="3537198"/>
              <a:ext cx="911008" cy="280831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7" name="Straight Connector 23"/>
            <p:cNvCxnSpPr/>
            <p:nvPr/>
          </p:nvCxnSpPr>
          <p:spPr>
            <a:xfrm flipV="1">
              <a:off x="6300192" y="3537198"/>
              <a:ext cx="864096" cy="79246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26"/>
            <p:cNvCxnSpPr/>
            <p:nvPr/>
          </p:nvCxnSpPr>
          <p:spPr>
            <a:xfrm flipV="1">
              <a:off x="6300192" y="4221088"/>
              <a:ext cx="864096" cy="46367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29"/>
            <p:cNvCxnSpPr/>
            <p:nvPr/>
          </p:nvCxnSpPr>
          <p:spPr>
            <a:xfrm flipV="1">
              <a:off x="6300192" y="4797152"/>
              <a:ext cx="864096" cy="24765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31"/>
            <p:cNvCxnSpPr/>
            <p:nvPr/>
          </p:nvCxnSpPr>
          <p:spPr>
            <a:xfrm flipV="1">
              <a:off x="6300192" y="5404842"/>
              <a:ext cx="864096" cy="400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5"/>
            <p:cNvGrpSpPr/>
            <p:nvPr/>
          </p:nvGrpSpPr>
          <p:grpSpPr>
            <a:xfrm>
              <a:off x="4932040" y="4329658"/>
              <a:ext cx="1368152" cy="1799270"/>
              <a:chOff x="4932040" y="4329658"/>
              <a:chExt cx="1368152" cy="1799270"/>
            </a:xfrm>
          </p:grpSpPr>
          <p:grpSp>
            <p:nvGrpSpPr>
              <p:cNvPr id="71" name="Group 15"/>
              <p:cNvGrpSpPr/>
              <p:nvPr/>
            </p:nvGrpSpPr>
            <p:grpSpPr>
              <a:xfrm>
                <a:off x="4932040" y="5044802"/>
                <a:ext cx="1368152" cy="360040"/>
                <a:chOff x="2339752" y="3933056"/>
                <a:chExt cx="1368152" cy="360040"/>
              </a:xfrm>
            </p:grpSpPr>
            <p:sp>
              <p:nvSpPr>
                <p:cNvPr id="88" name="Rectangle 16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>
                      <a:solidFill>
                        <a:schemeClr val="tx1"/>
                      </a:solidFill>
                    </a:rPr>
                    <a:t>PID</a:t>
                  </a:r>
                </a:p>
              </p:txBody>
            </p:sp>
            <p:sp>
              <p:nvSpPr>
                <p:cNvPr id="89" name="Rectangle 17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b="1" dirty="0">
                      <a:solidFill>
                        <a:srgbClr val="FF0000"/>
                      </a:solidFill>
                    </a:rPr>
                    <a:t>p</a:t>
                  </a:r>
                </a:p>
              </p:txBody>
            </p:sp>
          </p:grpSp>
          <p:grpSp>
            <p:nvGrpSpPr>
              <p:cNvPr id="75" name="Group 34"/>
              <p:cNvGrpSpPr/>
              <p:nvPr/>
            </p:nvGrpSpPr>
            <p:grpSpPr>
              <a:xfrm>
                <a:off x="4932040" y="4329658"/>
                <a:ext cx="1368152" cy="360040"/>
                <a:chOff x="2339752" y="3933056"/>
                <a:chExt cx="1368152" cy="360040"/>
              </a:xfrm>
            </p:grpSpPr>
            <p:sp>
              <p:nvSpPr>
                <p:cNvPr id="86" name="Rectangle 35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…</a:t>
                  </a:r>
                </a:p>
              </p:txBody>
            </p:sp>
            <p:sp>
              <p:nvSpPr>
                <p:cNvPr id="87" name="Rectangle 36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..</a:t>
                  </a:r>
                </a:p>
              </p:txBody>
            </p:sp>
          </p:grpSp>
          <p:grpSp>
            <p:nvGrpSpPr>
              <p:cNvPr id="76" name="Group 37"/>
              <p:cNvGrpSpPr/>
              <p:nvPr/>
            </p:nvGrpSpPr>
            <p:grpSpPr>
              <a:xfrm>
                <a:off x="4932040" y="4684762"/>
                <a:ext cx="1368152" cy="360040"/>
                <a:chOff x="2339752" y="3933056"/>
                <a:chExt cx="1368152" cy="360040"/>
              </a:xfrm>
            </p:grpSpPr>
            <p:sp>
              <p:nvSpPr>
                <p:cNvPr id="84" name="Rectangle 38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…</a:t>
                  </a:r>
                </a:p>
              </p:txBody>
            </p:sp>
            <p:sp>
              <p:nvSpPr>
                <p:cNvPr id="85" name="Rectangle 39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..</a:t>
                  </a:r>
                </a:p>
              </p:txBody>
            </p:sp>
          </p:grpSp>
          <p:grpSp>
            <p:nvGrpSpPr>
              <p:cNvPr id="78" name="Group 40"/>
              <p:cNvGrpSpPr/>
              <p:nvPr/>
            </p:nvGrpSpPr>
            <p:grpSpPr>
              <a:xfrm>
                <a:off x="4932040" y="5408848"/>
                <a:ext cx="1368152" cy="360040"/>
                <a:chOff x="2339752" y="3933056"/>
                <a:chExt cx="1368152" cy="360040"/>
              </a:xfrm>
            </p:grpSpPr>
            <p:sp>
              <p:nvSpPr>
                <p:cNvPr id="82" name="Rectangle 41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…</a:t>
                  </a:r>
                </a:p>
              </p:txBody>
            </p:sp>
            <p:sp>
              <p:nvSpPr>
                <p:cNvPr id="83" name="Rectangle 42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..</a:t>
                  </a:r>
                </a:p>
              </p:txBody>
            </p:sp>
          </p:grpSp>
          <p:grpSp>
            <p:nvGrpSpPr>
              <p:cNvPr id="79" name="Group 43"/>
              <p:cNvGrpSpPr/>
              <p:nvPr/>
            </p:nvGrpSpPr>
            <p:grpSpPr>
              <a:xfrm>
                <a:off x="4932040" y="5768888"/>
                <a:ext cx="1368152" cy="360040"/>
                <a:chOff x="2339752" y="3933056"/>
                <a:chExt cx="1368152" cy="360040"/>
              </a:xfrm>
            </p:grpSpPr>
            <p:sp>
              <p:nvSpPr>
                <p:cNvPr id="80" name="Rectangle 44"/>
                <p:cNvSpPr/>
                <p:nvPr/>
              </p:nvSpPr>
              <p:spPr>
                <a:xfrm>
                  <a:off x="2339752" y="3933056"/>
                  <a:ext cx="792088" cy="360040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…</a:t>
                  </a:r>
                </a:p>
              </p:txBody>
            </p:sp>
            <p:sp>
              <p:nvSpPr>
                <p:cNvPr id="81" name="Rectangle 45"/>
                <p:cNvSpPr/>
                <p:nvPr/>
              </p:nvSpPr>
              <p:spPr>
                <a:xfrm>
                  <a:off x="3131840" y="3933056"/>
                  <a:ext cx="576064" cy="360040"/>
                </a:xfrm>
                <a:prstGeom prst="rect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2400" dirty="0"/>
                    <a:t>..</a:t>
                  </a:r>
                </a:p>
              </p:txBody>
            </p:sp>
          </p:grpSp>
        </p:grpSp>
        <p:cxnSp>
          <p:nvCxnSpPr>
            <p:cNvPr id="66" name="Straight Connector 50"/>
            <p:cNvCxnSpPr/>
            <p:nvPr/>
          </p:nvCxnSpPr>
          <p:spPr>
            <a:xfrm>
              <a:off x="6300192" y="5768888"/>
              <a:ext cx="864096" cy="9001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57"/>
            <p:cNvCxnSpPr/>
            <p:nvPr/>
          </p:nvCxnSpPr>
          <p:spPr>
            <a:xfrm>
              <a:off x="6300192" y="6128928"/>
              <a:ext cx="864096" cy="21658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0"/>
            <p:cNvSpPr txBox="1"/>
            <p:nvPr/>
          </p:nvSpPr>
          <p:spPr>
            <a:xfrm>
              <a:off x="7212638" y="6363343"/>
              <a:ext cx="8691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RAM</a:t>
              </a:r>
            </a:p>
          </p:txBody>
        </p:sp>
      </p:grpSp>
      <p:sp>
        <p:nvSpPr>
          <p:cNvPr id="90" name="Right Brace 61"/>
          <p:cNvSpPr/>
          <p:nvPr/>
        </p:nvSpPr>
        <p:spPr>
          <a:xfrm rot="5400000">
            <a:off x="2873735" y="3537896"/>
            <a:ext cx="360040" cy="1368152"/>
          </a:xfrm>
          <a:prstGeom prst="rightBrac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1" name="Elbow Connector 63"/>
          <p:cNvCxnSpPr>
            <a:stCxn id="90" idx="1"/>
            <a:endCxn id="88" idx="1"/>
          </p:cNvCxnSpPr>
          <p:nvPr/>
        </p:nvCxnSpPr>
        <p:spPr>
          <a:xfrm rot="16200000" flipH="1">
            <a:off x="3711922" y="3743824"/>
            <a:ext cx="591877" cy="1908212"/>
          </a:xfrm>
          <a:prstGeom prst="bentConnector4">
            <a:avLst>
              <a:gd name="adj1" fmla="val 99776"/>
              <a:gd name="adj2" fmla="val 54717"/>
            </a:avLst>
          </a:prstGeom>
          <a:ln w="1270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70"/>
          <p:cNvGrpSpPr/>
          <p:nvPr/>
        </p:nvGrpSpPr>
        <p:grpSpPr>
          <a:xfrm>
            <a:off x="3784743" y="4098705"/>
            <a:ext cx="1058303" cy="895164"/>
            <a:chOff x="3657713" y="4329658"/>
            <a:chExt cx="1058303" cy="895164"/>
          </a:xfrm>
        </p:grpSpPr>
        <p:cxnSp>
          <p:nvCxnSpPr>
            <p:cNvPr id="93" name="Straight Arrow Connector 68"/>
            <p:cNvCxnSpPr/>
            <p:nvPr/>
          </p:nvCxnSpPr>
          <p:spPr>
            <a:xfrm>
              <a:off x="4716016" y="4329658"/>
              <a:ext cx="0" cy="895164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69"/>
            <p:cNvSpPr txBox="1"/>
            <p:nvPr/>
          </p:nvSpPr>
          <p:spPr>
            <a:xfrm>
              <a:off x="3657713" y="4546407"/>
              <a:ext cx="105830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e-DE" sz="2400" dirty="0">
                  <a:solidFill>
                    <a:srgbClr val="0070C0"/>
                  </a:solidFill>
                </a:rPr>
                <a:t>Suche</a:t>
              </a:r>
            </a:p>
          </p:txBody>
        </p:sp>
      </p:grpSp>
      <p:grpSp>
        <p:nvGrpSpPr>
          <p:cNvPr id="95" name="Group 77"/>
          <p:cNvGrpSpPr/>
          <p:nvPr/>
        </p:nvGrpSpPr>
        <p:grpSpPr>
          <a:xfrm>
            <a:off x="6330119" y="4080424"/>
            <a:ext cx="1775104" cy="1093465"/>
            <a:chOff x="6300192" y="4311377"/>
            <a:chExt cx="1775104" cy="1093465"/>
          </a:xfrm>
        </p:grpSpPr>
        <p:sp>
          <p:nvSpPr>
            <p:cNvPr id="96" name="Right Brace 72"/>
            <p:cNvSpPr/>
            <p:nvPr/>
          </p:nvSpPr>
          <p:spPr>
            <a:xfrm>
              <a:off x="6300192" y="4311377"/>
              <a:ext cx="282519" cy="737431"/>
            </a:xfrm>
            <a:prstGeom prst="rightBrace">
              <a:avLst/>
            </a:prstGeom>
            <a:ln w="28575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tangle 73"/>
            <p:cNvSpPr/>
            <p:nvPr/>
          </p:nvSpPr>
          <p:spPr>
            <a:xfrm>
              <a:off x="7164288" y="4792048"/>
              <a:ext cx="911008" cy="61279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8" name="Straight Arrow Connector 76"/>
            <p:cNvCxnSpPr>
              <a:stCxn id="96" idx="1"/>
            </p:cNvCxnSpPr>
            <p:nvPr/>
          </p:nvCxnSpPr>
          <p:spPr>
            <a:xfrm>
              <a:off x="6582711" y="4680093"/>
              <a:ext cx="581577" cy="111955"/>
            </a:xfrm>
            <a:prstGeom prst="straightConnector1">
              <a:avLst/>
            </a:prstGeom>
            <a:ln w="28575">
              <a:solidFill>
                <a:srgbClr val="7030A0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feld 98"/>
          <p:cNvSpPr txBox="1"/>
          <p:nvPr/>
        </p:nvSpPr>
        <p:spPr>
          <a:xfrm>
            <a:off x="1027673" y="3556260"/>
            <a:ext cx="14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log. Adresse</a:t>
            </a:r>
          </a:p>
        </p:txBody>
      </p:sp>
      <p:sp>
        <p:nvSpPr>
          <p:cNvPr id="100" name="Pfeil nach links 99"/>
          <p:cNvSpPr/>
          <p:nvPr/>
        </p:nvSpPr>
        <p:spPr>
          <a:xfrm>
            <a:off x="3211286" y="3165480"/>
            <a:ext cx="2580447" cy="499530"/>
          </a:xfrm>
          <a:prstGeom prst="lef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PID: ergänzt vom BS</a:t>
            </a:r>
          </a:p>
        </p:txBody>
      </p:sp>
      <p:sp>
        <p:nvSpPr>
          <p:cNvPr id="51" name="Textfeld 50"/>
          <p:cNvSpPr txBox="1"/>
          <p:nvPr/>
        </p:nvSpPr>
        <p:spPr>
          <a:xfrm>
            <a:off x="8105223" y="4633829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7030A0"/>
                </a:solidFill>
              </a:rPr>
              <a:t>f </a:t>
            </a:r>
            <a:r>
              <a:rPr lang="de-DE" sz="2400" dirty="0"/>
              <a:t>= ..</a:t>
            </a:r>
          </a:p>
        </p:txBody>
      </p:sp>
      <p:sp>
        <p:nvSpPr>
          <p:cNvPr id="58" name="Inhaltsplatzhalter 2"/>
          <p:cNvSpPr>
            <a:spLocks noGrp="1"/>
          </p:cNvSpPr>
          <p:nvPr>
            <p:ph sz="quarter" idx="1"/>
          </p:nvPr>
        </p:nvSpPr>
        <p:spPr>
          <a:xfrm>
            <a:off x="457199" y="5132223"/>
            <a:ext cx="4504767" cy="1695622"/>
          </a:xfrm>
        </p:spPr>
        <p:txBody>
          <a:bodyPr>
            <a:normAutofit fontScale="70000" lnSpcReduction="20000"/>
          </a:bodyPr>
          <a:lstStyle/>
          <a:p>
            <a:r>
              <a:rPr lang="de-DE" sz="3400" dirty="0"/>
              <a:t>Wir suchen in der invertierten Seitentabelle nach (</a:t>
            </a:r>
            <a:r>
              <a:rPr lang="de-DE" sz="3400" b="1" dirty="0">
                <a:solidFill>
                  <a:srgbClr val="00B050"/>
                </a:solidFill>
              </a:rPr>
              <a:t>PID</a:t>
            </a:r>
            <a:r>
              <a:rPr lang="de-DE" sz="3400" dirty="0"/>
              <a:t>, </a:t>
            </a:r>
            <a:r>
              <a:rPr lang="de-DE" sz="3400" b="1" dirty="0">
                <a:solidFill>
                  <a:srgbClr val="FF0000"/>
                </a:solidFill>
              </a:rPr>
              <a:t>p</a:t>
            </a:r>
            <a:r>
              <a:rPr lang="de-DE" sz="3400" dirty="0"/>
              <a:t>)</a:t>
            </a:r>
          </a:p>
          <a:p>
            <a:r>
              <a:rPr lang="de-DE" sz="3400" u="sng" dirty="0"/>
              <a:t>Index</a:t>
            </a:r>
            <a:r>
              <a:rPr lang="de-DE" sz="3400" dirty="0"/>
              <a:t> (Position) </a:t>
            </a:r>
            <a:r>
              <a:rPr lang="de-DE" sz="3400" b="1" dirty="0">
                <a:solidFill>
                  <a:srgbClr val="7030A0"/>
                </a:solidFill>
              </a:rPr>
              <a:t>f </a:t>
            </a:r>
            <a:r>
              <a:rPr lang="de-DE" sz="3400" dirty="0"/>
              <a:t>des passenden Eintrags ist genau die Rahmennummer </a:t>
            </a:r>
            <a:r>
              <a:rPr lang="de-DE" sz="3400" b="1" dirty="0">
                <a:solidFill>
                  <a:srgbClr val="7030A0"/>
                </a:solidFill>
              </a:rPr>
              <a:t>f </a:t>
            </a:r>
            <a:endParaRPr lang="de-DE" sz="3400" dirty="0"/>
          </a:p>
          <a:p>
            <a:endParaRPr lang="de-DE" dirty="0"/>
          </a:p>
        </p:txBody>
      </p:sp>
      <p:sp>
        <p:nvSpPr>
          <p:cNvPr id="62" name="Textfeld 61"/>
          <p:cNvSpPr txBox="1"/>
          <p:nvPr/>
        </p:nvSpPr>
        <p:spPr>
          <a:xfrm>
            <a:off x="6449039" y="4327039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7030A0"/>
                </a:solidFill>
              </a:rPr>
              <a:t>f </a:t>
            </a:r>
            <a:endParaRPr lang="de-DE" sz="2400" dirty="0"/>
          </a:p>
        </p:txBody>
      </p:sp>
      <p:sp>
        <p:nvSpPr>
          <p:cNvPr id="5" name="Rechteck 4"/>
          <p:cNvSpPr/>
          <p:nvPr/>
        </p:nvSpPr>
        <p:spPr>
          <a:xfrm>
            <a:off x="4961966" y="4836136"/>
            <a:ext cx="1368153" cy="337753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680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Invertierte Seitentabellen - Größe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082008"/>
          </a:xfrm>
        </p:spPr>
        <p:txBody>
          <a:bodyPr>
            <a:normAutofit/>
          </a:bodyPr>
          <a:lstStyle/>
          <a:p>
            <a:r>
              <a:rPr lang="de-DE" dirty="0"/>
              <a:t>Wie groß ist nun die Seitentabelle - in % des Gesamtspeichers?</a:t>
            </a:r>
          </a:p>
          <a:p>
            <a:pPr lvl="1"/>
            <a:r>
              <a:rPr lang="de-DE" dirty="0"/>
              <a:t>Annahmen: PID hat 12 Bits, ein Rahmen (== Seite) hat 4kByte und wir haben 64 Bit-Adressen</a:t>
            </a:r>
          </a:p>
          <a:p>
            <a:endParaRPr lang="de-DE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10633" y="3260204"/>
            <a:ext cx="8208912" cy="1296144"/>
          </a:xfrm>
        </p:spPr>
        <p:txBody>
          <a:bodyPr>
            <a:normAutofit/>
          </a:bodyPr>
          <a:lstStyle/>
          <a:p>
            <a:pPr lvl="1"/>
            <a:r>
              <a:rPr lang="de-DE" dirty="0"/>
              <a:t>Dann ist d = 12 Bits, p hat (64-12)=52 Bits</a:t>
            </a:r>
          </a:p>
          <a:p>
            <a:pPr lvl="1"/>
            <a:r>
              <a:rPr lang="de-DE" dirty="0"/>
              <a:t>Wir brauchen also 64 Bits (8 Bytes) pro Eintrag, welcher eine Seite mit 4 kByte abdeckt </a:t>
            </a:r>
            <a:r>
              <a:rPr lang="de-DE" dirty="0">
                <a:solidFill>
                  <a:srgbClr val="0070C0"/>
                </a:solidFill>
              </a:rPr>
              <a:t>=&gt; 8/4096 = 1/512 ~ </a:t>
            </a:r>
            <a:r>
              <a:rPr lang="de-DE" dirty="0">
                <a:solidFill>
                  <a:srgbClr val="FF0000"/>
                </a:solidFill>
              </a:rPr>
              <a:t>0.2%</a:t>
            </a:r>
            <a:r>
              <a:rPr lang="de-DE" dirty="0">
                <a:solidFill>
                  <a:srgbClr val="0070C0"/>
                </a:solidFill>
              </a:rPr>
              <a:t> 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306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Invertierte Seitentabellen – Nachteile?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Zeit für die Adressenübersetzung steigt</a:t>
            </a:r>
          </a:p>
          <a:p>
            <a:pPr lvl="1"/>
            <a:r>
              <a:rPr lang="de-DE" dirty="0"/>
              <a:t>Hier wird wieder mit TLB gearbeitet</a:t>
            </a:r>
          </a:p>
          <a:p>
            <a:pPr lvl="1"/>
            <a:r>
              <a:rPr lang="de-DE" dirty="0"/>
              <a:t>Zusätzlich wird eine Hashtabelle benutzt, um bei einem TLB-Fehler den Eintrag in Zeit </a:t>
            </a:r>
            <a:r>
              <a:rPr lang="de-DE" i="1" dirty="0"/>
              <a:t>O</a:t>
            </a:r>
            <a:r>
              <a:rPr lang="de-DE" dirty="0"/>
              <a:t>(1) zu finden </a:t>
            </a:r>
          </a:p>
          <a:p>
            <a:pPr lvl="1"/>
            <a:r>
              <a:rPr lang="de-DE" dirty="0"/>
              <a:t>Sonst lineare Suchzeit - im schlimmsten Falle durch alle Tabelleneinträge!</a:t>
            </a:r>
          </a:p>
          <a:p>
            <a:r>
              <a:rPr lang="de-DE" dirty="0"/>
              <a:t>Kein einfaches </a:t>
            </a:r>
            <a:r>
              <a:rPr lang="de-DE" dirty="0" err="1"/>
              <a:t>Shared</a:t>
            </a:r>
            <a:r>
              <a:rPr lang="de-DE" dirty="0"/>
              <a:t> Memory</a:t>
            </a:r>
          </a:p>
          <a:p>
            <a:pPr lvl="1"/>
            <a:r>
              <a:rPr lang="de-DE" dirty="0"/>
              <a:t>Jede logische Seite kann auf höchstens einen Rahmen abgebildet werden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823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261F4-2998-4ECC-A329-C459541B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Pingo</a:t>
            </a:r>
            <a:r>
              <a:rPr lang="de-DE" dirty="0"/>
              <a:t> – Umfrage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C8909F2-2EB0-4411-B10E-0E11C361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3C6FF4-6D10-4B09-8F4D-870F956B0E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Bei einem System mit einer </a:t>
            </a:r>
            <a:r>
              <a:rPr lang="de-DE" u="sng" dirty="0"/>
              <a:t>invertierten</a:t>
            </a:r>
            <a:r>
              <a:rPr lang="de-DE" dirty="0"/>
              <a:t> Seitentabelle und 4 kB Seitengröße werden die logischen Adressen auf die physischen Adressen so abgebildet:</a:t>
            </a:r>
          </a:p>
          <a:p>
            <a:pPr lvl="1"/>
            <a:r>
              <a:rPr lang="de-DE" dirty="0"/>
              <a:t>Prozess mit PID 111: 4096+4 = 4100 auf 1*4096+4</a:t>
            </a:r>
          </a:p>
          <a:p>
            <a:pPr lvl="1"/>
            <a:r>
              <a:rPr lang="de-DE" dirty="0"/>
              <a:t>Prozess mit PID 222: 10*4096 + 4 = 40964 auf  4</a:t>
            </a:r>
          </a:p>
          <a:p>
            <a:r>
              <a:rPr lang="de-DE" dirty="0"/>
              <a:t>Geben Sie die relevanten Einträge der Seitentabelle an, und zwar im Form:</a:t>
            </a:r>
          </a:p>
          <a:p>
            <a:pPr lvl="1"/>
            <a:r>
              <a:rPr lang="de-DE" dirty="0" err="1"/>
              <a:t>Zxxx</a:t>
            </a:r>
            <a:r>
              <a:rPr lang="de-DE" dirty="0"/>
              <a:t>, </a:t>
            </a:r>
            <a:r>
              <a:rPr lang="de-DE" dirty="0" err="1"/>
              <a:t>Eppp</a:t>
            </a:r>
            <a:r>
              <a:rPr lang="de-DE" dirty="0"/>
              <a:t>; </a:t>
            </a:r>
            <a:r>
              <a:rPr lang="de-DE" dirty="0" err="1"/>
              <a:t>Zyyy</a:t>
            </a:r>
            <a:r>
              <a:rPr lang="de-DE" dirty="0"/>
              <a:t>, </a:t>
            </a:r>
            <a:r>
              <a:rPr lang="de-DE" dirty="0" err="1"/>
              <a:t>Eqqq</a:t>
            </a:r>
            <a:endParaRPr lang="de-DE" dirty="0"/>
          </a:p>
          <a:p>
            <a:pPr lvl="1"/>
            <a:r>
              <a:rPr lang="de-DE" dirty="0"/>
              <a:t>mit xxx, </a:t>
            </a:r>
            <a:r>
              <a:rPr lang="de-DE" dirty="0" err="1"/>
              <a:t>yyy</a:t>
            </a:r>
            <a:r>
              <a:rPr lang="de-DE" dirty="0"/>
              <a:t>: </a:t>
            </a:r>
            <a:r>
              <a:rPr lang="de-DE" dirty="0" err="1"/>
              <a:t>Zeileindex</a:t>
            </a:r>
            <a:r>
              <a:rPr lang="de-DE" dirty="0"/>
              <a:t> der Tabelle, </a:t>
            </a:r>
            <a:r>
              <a:rPr lang="de-DE" dirty="0" err="1"/>
              <a:t>ppp</a:t>
            </a:r>
            <a:r>
              <a:rPr lang="de-DE" dirty="0"/>
              <a:t>, </a:t>
            </a:r>
            <a:r>
              <a:rPr lang="de-DE" dirty="0" err="1"/>
              <a:t>qqq</a:t>
            </a:r>
            <a:r>
              <a:rPr lang="de-DE" dirty="0"/>
              <a:t>: Einträge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1105B1F-9443-4A04-BA8E-6586A27BF3F4}"/>
              </a:ext>
            </a:extLst>
          </p:cNvPr>
          <p:cNvSpPr txBox="1"/>
          <p:nvPr/>
        </p:nvSpPr>
        <p:spPr>
          <a:xfrm>
            <a:off x="5530406" y="152400"/>
            <a:ext cx="336207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00FF00"/>
                </a:highlight>
              </a:rPr>
              <a:t>https://bit.ly/ibn_hd</a:t>
            </a:r>
            <a:endParaRPr lang="de-DE" sz="28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76962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Paging – Mehrstufige Seitentabelle</a:t>
            </a:r>
          </a:p>
        </p:txBody>
      </p:sp>
    </p:spTree>
    <p:extLst>
      <p:ext uri="{BB962C8B-B14F-4D97-AF65-F5344CB8AC3E}">
        <p14:creationId xmlns:p14="http://schemas.microsoft.com/office/powerpoint/2010/main" val="903164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FF0000"/>
                </a:solidFill>
              </a:rPr>
              <a:t>Mehrstufige</a:t>
            </a:r>
            <a:r>
              <a:rPr lang="de-DE" dirty="0"/>
              <a:t>/</a:t>
            </a:r>
            <a:r>
              <a:rPr lang="de-DE" b="1" dirty="0">
                <a:solidFill>
                  <a:srgbClr val="FF0000"/>
                </a:solidFill>
              </a:rPr>
              <a:t>Hierarchische</a:t>
            </a:r>
            <a:r>
              <a:rPr lang="de-DE" dirty="0"/>
              <a:t> Seitentabellen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3505222" y="1216152"/>
            <a:ext cx="5315250" cy="5431100"/>
          </a:xfrm>
        </p:spPr>
        <p:txBody>
          <a:bodyPr>
            <a:normAutofit/>
          </a:bodyPr>
          <a:lstStyle/>
          <a:p>
            <a:r>
              <a:rPr lang="de-DE" dirty="0"/>
              <a:t>Eine hierarchische Tabelle HST ist zunächst wie eine direkte Seitentabelle (nicht invertiert)</a:t>
            </a:r>
            <a:endParaRPr lang="de-DE" b="1" dirty="0"/>
          </a:p>
          <a:p>
            <a:r>
              <a:rPr lang="de-DE" sz="2400" dirty="0"/>
              <a:t>Aber sie ist zerteilt in Abschnitte mit je 2</a:t>
            </a:r>
            <a:r>
              <a:rPr lang="de-DE" sz="2400" baseline="30000" dirty="0"/>
              <a:t>k</a:t>
            </a:r>
            <a:r>
              <a:rPr lang="de-DE" sz="2400" dirty="0"/>
              <a:t> Einträgen (z.B. k=9), und </a:t>
            </a:r>
            <a:r>
              <a:rPr lang="de-DE" sz="2400" u="sng" dirty="0">
                <a:solidFill>
                  <a:srgbClr val="0070C0"/>
                </a:solidFill>
              </a:rPr>
              <a:t>nur manche dieser Abschnitte existieren</a:t>
            </a:r>
            <a:endParaRPr lang="de-DE" sz="2400" dirty="0">
              <a:solidFill>
                <a:srgbClr val="0070C0"/>
              </a:solidFill>
            </a:endParaRPr>
          </a:p>
          <a:p>
            <a:r>
              <a:rPr lang="de-DE" sz="2400" dirty="0"/>
              <a:t>Jeder Abschnitt kann „irgendwo“ im phys. Speicher anfangen</a:t>
            </a:r>
          </a:p>
          <a:p>
            <a:pPr lvl="1"/>
            <a:r>
              <a:rPr lang="de-DE" dirty="0"/>
              <a:t>Es werden nur solche Abschnitte angelegt, die die tatsächlich verwendeten logischen Adressenbereiche abdecken</a:t>
            </a:r>
          </a:p>
          <a:p>
            <a:pPr marL="0" indent="0">
              <a:buNone/>
            </a:pPr>
            <a:endParaRPr lang="de-DE" dirty="0"/>
          </a:p>
        </p:txBody>
      </p:sp>
      <p:grpSp>
        <p:nvGrpSpPr>
          <p:cNvPr id="17" name="Gruppieren 16"/>
          <p:cNvGrpSpPr/>
          <p:nvPr/>
        </p:nvGrpSpPr>
        <p:grpSpPr>
          <a:xfrm>
            <a:off x="1557044" y="1734258"/>
            <a:ext cx="362127" cy="1304652"/>
            <a:chOff x="1557146" y="2774518"/>
            <a:chExt cx="362127" cy="1304652"/>
          </a:xfrm>
          <a:solidFill>
            <a:schemeClr val="bg1">
              <a:lumMod val="65000"/>
            </a:schemeClr>
          </a:solidFill>
        </p:grpSpPr>
        <p:sp>
          <p:nvSpPr>
            <p:cNvPr id="9" name="Rectangle 4122"/>
            <p:cNvSpPr/>
            <p:nvPr/>
          </p:nvSpPr>
          <p:spPr>
            <a:xfrm>
              <a:off x="1557150" y="2774518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10" name="Rectangle 63"/>
            <p:cNvSpPr/>
            <p:nvPr/>
          </p:nvSpPr>
          <p:spPr>
            <a:xfrm>
              <a:off x="1557149" y="3100681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4</a:t>
              </a:r>
            </a:p>
          </p:txBody>
        </p:sp>
        <p:sp>
          <p:nvSpPr>
            <p:cNvPr id="11" name="Rectangle 64"/>
            <p:cNvSpPr/>
            <p:nvPr/>
          </p:nvSpPr>
          <p:spPr>
            <a:xfrm>
              <a:off x="1557146" y="3426844"/>
              <a:ext cx="362125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12" name="Rectangle 65"/>
            <p:cNvSpPr/>
            <p:nvPr/>
          </p:nvSpPr>
          <p:spPr>
            <a:xfrm>
              <a:off x="1557148" y="3753007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0</a:t>
              </a:r>
            </a:p>
          </p:txBody>
        </p:sp>
      </p:grpSp>
      <p:sp>
        <p:nvSpPr>
          <p:cNvPr id="13" name="TextBox 4124"/>
          <p:cNvSpPr txBox="1"/>
          <p:nvPr/>
        </p:nvSpPr>
        <p:spPr>
          <a:xfrm>
            <a:off x="1199559" y="173425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TextBox 68"/>
          <p:cNvSpPr txBox="1"/>
          <p:nvPr/>
        </p:nvSpPr>
        <p:spPr>
          <a:xfrm>
            <a:off x="1199557" y="206244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69"/>
          <p:cNvSpPr txBox="1"/>
          <p:nvPr/>
        </p:nvSpPr>
        <p:spPr>
          <a:xfrm>
            <a:off x="1199557" y="270041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68"/>
          <p:cNvSpPr txBox="1"/>
          <p:nvPr/>
        </p:nvSpPr>
        <p:spPr>
          <a:xfrm>
            <a:off x="1199557" y="236846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1434340" y="1290539"/>
            <a:ext cx="68938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dirty="0"/>
              <a:t>HST</a:t>
            </a:r>
          </a:p>
        </p:txBody>
      </p:sp>
      <p:sp>
        <p:nvSpPr>
          <p:cNvPr id="19" name="Rechteckige Legende 18"/>
          <p:cNvSpPr/>
          <p:nvPr/>
        </p:nvSpPr>
        <p:spPr>
          <a:xfrm rot="16200000">
            <a:off x="-184377" y="2285137"/>
            <a:ext cx="1618881" cy="668844"/>
          </a:xfrm>
          <a:prstGeom prst="wedgeRectCallout">
            <a:avLst>
              <a:gd name="adj1" fmla="val 20941"/>
              <a:gd name="adj2" fmla="val 8861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rgbClr val="FF0000"/>
                </a:solidFill>
              </a:rPr>
              <a:t>Index p </a:t>
            </a:r>
            <a:r>
              <a:rPr lang="de-DE" dirty="0">
                <a:solidFill>
                  <a:schemeClr val="tx1"/>
                </a:solidFill>
              </a:rPr>
              <a:t>eines Eintrags</a:t>
            </a:r>
          </a:p>
        </p:txBody>
      </p:sp>
      <p:sp>
        <p:nvSpPr>
          <p:cNvPr id="21" name="Rechteckige Legende 20"/>
          <p:cNvSpPr/>
          <p:nvPr/>
        </p:nvSpPr>
        <p:spPr>
          <a:xfrm>
            <a:off x="2237375" y="1755770"/>
            <a:ext cx="1182394" cy="901567"/>
          </a:xfrm>
          <a:prstGeom prst="wedgeRectCallout">
            <a:avLst>
              <a:gd name="adj1" fmla="val -78139"/>
              <a:gd name="adj2" fmla="val -70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Inhalt </a:t>
            </a:r>
            <a:r>
              <a:rPr lang="de-DE" b="1" dirty="0">
                <a:solidFill>
                  <a:srgbClr val="0070C0"/>
                </a:solidFill>
              </a:rPr>
              <a:t>f</a:t>
            </a:r>
            <a:r>
              <a:rPr lang="de-DE" dirty="0">
                <a:solidFill>
                  <a:schemeClr val="tx1"/>
                </a:solidFill>
              </a:rPr>
              <a:t> eines Eintrags</a:t>
            </a:r>
          </a:p>
        </p:txBody>
      </p:sp>
      <p:sp>
        <p:nvSpPr>
          <p:cNvPr id="23" name="TextBox 68"/>
          <p:cNvSpPr txBox="1"/>
          <p:nvPr/>
        </p:nvSpPr>
        <p:spPr>
          <a:xfrm>
            <a:off x="516676" y="3990480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1533357</a:t>
            </a:r>
          </a:p>
        </p:txBody>
      </p:sp>
      <p:sp>
        <p:nvSpPr>
          <p:cNvPr id="24" name="TextBox 69"/>
          <p:cNvSpPr txBox="1"/>
          <p:nvPr/>
        </p:nvSpPr>
        <p:spPr>
          <a:xfrm>
            <a:off x="516676" y="4628451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1533359</a:t>
            </a:r>
          </a:p>
        </p:txBody>
      </p:sp>
      <p:sp>
        <p:nvSpPr>
          <p:cNvPr id="25" name="TextBox 68"/>
          <p:cNvSpPr txBox="1"/>
          <p:nvPr/>
        </p:nvSpPr>
        <p:spPr>
          <a:xfrm>
            <a:off x="516676" y="4296501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1533358</a:t>
            </a:r>
          </a:p>
        </p:txBody>
      </p:sp>
      <p:sp>
        <p:nvSpPr>
          <p:cNvPr id="27" name="TextBox 4124"/>
          <p:cNvSpPr txBox="1"/>
          <p:nvPr/>
        </p:nvSpPr>
        <p:spPr>
          <a:xfrm>
            <a:off x="1044490" y="509287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8" name="TextBox 68"/>
          <p:cNvSpPr txBox="1"/>
          <p:nvPr/>
        </p:nvSpPr>
        <p:spPr>
          <a:xfrm>
            <a:off x="866131" y="5683118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2</a:t>
            </a:r>
            <a:r>
              <a:rPr lang="de-DE" sz="1600" baseline="30000" dirty="0">
                <a:solidFill>
                  <a:srgbClr val="FF0000"/>
                </a:solidFill>
              </a:rPr>
              <a:t>52</a:t>
            </a:r>
            <a:r>
              <a:rPr lang="de-DE" sz="1600" dirty="0">
                <a:solidFill>
                  <a:srgbClr val="FF0000"/>
                </a:solidFill>
              </a:rPr>
              <a:t>-3</a:t>
            </a:r>
          </a:p>
        </p:txBody>
      </p:sp>
      <p:sp>
        <p:nvSpPr>
          <p:cNvPr id="29" name="TextBox 69"/>
          <p:cNvSpPr txBox="1"/>
          <p:nvPr/>
        </p:nvSpPr>
        <p:spPr>
          <a:xfrm>
            <a:off x="866131" y="632108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2</a:t>
            </a:r>
            <a:r>
              <a:rPr lang="de-DE" sz="1600" baseline="30000" dirty="0">
                <a:solidFill>
                  <a:srgbClr val="FF0000"/>
                </a:solidFill>
              </a:rPr>
              <a:t>52</a:t>
            </a:r>
            <a:r>
              <a:rPr lang="de-DE" sz="16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30" name="TextBox 68"/>
          <p:cNvSpPr txBox="1"/>
          <p:nvPr/>
        </p:nvSpPr>
        <p:spPr>
          <a:xfrm>
            <a:off x="866131" y="598913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FF0000"/>
                </a:solidFill>
              </a:rPr>
              <a:t>2</a:t>
            </a:r>
            <a:r>
              <a:rPr lang="de-DE" sz="1600" baseline="30000" dirty="0">
                <a:solidFill>
                  <a:srgbClr val="FF0000"/>
                </a:solidFill>
              </a:rPr>
              <a:t>52</a:t>
            </a:r>
            <a:r>
              <a:rPr lang="de-DE" sz="16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31" name="TextBox 4124"/>
          <p:cNvSpPr txBox="1"/>
          <p:nvPr/>
        </p:nvSpPr>
        <p:spPr>
          <a:xfrm>
            <a:off x="1108291" y="332918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rgbClr val="FF0000"/>
                </a:solidFill>
              </a:rPr>
              <a:t>…</a:t>
            </a:r>
          </a:p>
        </p:txBody>
      </p:sp>
      <p:grpSp>
        <p:nvGrpSpPr>
          <p:cNvPr id="32" name="Gruppieren 31"/>
          <p:cNvGrpSpPr/>
          <p:nvPr/>
        </p:nvGrpSpPr>
        <p:grpSpPr>
          <a:xfrm>
            <a:off x="1553206" y="3990480"/>
            <a:ext cx="635609" cy="978489"/>
            <a:chOff x="1557146" y="2774518"/>
            <a:chExt cx="362127" cy="978489"/>
          </a:xfrm>
          <a:solidFill>
            <a:schemeClr val="bg1">
              <a:lumMod val="65000"/>
            </a:schemeClr>
          </a:solidFill>
        </p:grpSpPr>
        <p:sp>
          <p:nvSpPr>
            <p:cNvPr id="33" name="Rectangle 4122"/>
            <p:cNvSpPr/>
            <p:nvPr/>
          </p:nvSpPr>
          <p:spPr>
            <a:xfrm>
              <a:off x="1557150" y="2774518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51</a:t>
              </a:r>
            </a:p>
          </p:txBody>
        </p:sp>
        <p:sp>
          <p:nvSpPr>
            <p:cNvPr id="34" name="Rectangle 63"/>
            <p:cNvSpPr/>
            <p:nvPr/>
          </p:nvSpPr>
          <p:spPr>
            <a:xfrm>
              <a:off x="1557149" y="3100681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43</a:t>
              </a:r>
            </a:p>
          </p:txBody>
        </p:sp>
        <p:sp>
          <p:nvSpPr>
            <p:cNvPr id="35" name="Rectangle 64"/>
            <p:cNvSpPr/>
            <p:nvPr/>
          </p:nvSpPr>
          <p:spPr>
            <a:xfrm>
              <a:off x="1557146" y="3426844"/>
              <a:ext cx="362125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107</a:t>
              </a:r>
            </a:p>
          </p:txBody>
        </p:sp>
      </p:grpSp>
      <p:grpSp>
        <p:nvGrpSpPr>
          <p:cNvPr id="37" name="Gruppieren 36"/>
          <p:cNvGrpSpPr/>
          <p:nvPr/>
        </p:nvGrpSpPr>
        <p:grpSpPr>
          <a:xfrm>
            <a:off x="1555717" y="5668763"/>
            <a:ext cx="635609" cy="978489"/>
            <a:chOff x="1557146" y="2774518"/>
            <a:chExt cx="362127" cy="978489"/>
          </a:xfrm>
          <a:solidFill>
            <a:schemeClr val="bg1">
              <a:lumMod val="65000"/>
            </a:schemeClr>
          </a:solidFill>
        </p:grpSpPr>
        <p:sp>
          <p:nvSpPr>
            <p:cNvPr id="38" name="Rectangle 4122"/>
            <p:cNvSpPr/>
            <p:nvPr/>
          </p:nvSpPr>
          <p:spPr>
            <a:xfrm>
              <a:off x="1557150" y="2774518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11</a:t>
              </a:r>
            </a:p>
          </p:txBody>
        </p:sp>
        <p:sp>
          <p:nvSpPr>
            <p:cNvPr id="39" name="Rectangle 63"/>
            <p:cNvSpPr/>
            <p:nvPr/>
          </p:nvSpPr>
          <p:spPr>
            <a:xfrm>
              <a:off x="1557149" y="3100681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9</a:t>
              </a:r>
            </a:p>
          </p:txBody>
        </p:sp>
        <p:sp>
          <p:nvSpPr>
            <p:cNvPr id="40" name="Rectangle 64"/>
            <p:cNvSpPr/>
            <p:nvPr/>
          </p:nvSpPr>
          <p:spPr>
            <a:xfrm>
              <a:off x="1557146" y="3426844"/>
              <a:ext cx="362125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>
                  <a:solidFill>
                    <a:srgbClr val="0070C0"/>
                  </a:solidFill>
                </a:rPr>
                <a:t>20</a:t>
              </a:r>
            </a:p>
          </p:txBody>
        </p:sp>
      </p:grpSp>
      <p:sp>
        <p:nvSpPr>
          <p:cNvPr id="41" name="Geschweifte Klammer rechts 40"/>
          <p:cNvSpPr/>
          <p:nvPr/>
        </p:nvSpPr>
        <p:spPr>
          <a:xfrm>
            <a:off x="1558260" y="3046322"/>
            <a:ext cx="393444" cy="936745"/>
          </a:xfrm>
          <a:prstGeom prst="righ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Geschweifte Klammer rechts 41"/>
          <p:cNvSpPr/>
          <p:nvPr/>
        </p:nvSpPr>
        <p:spPr>
          <a:xfrm>
            <a:off x="1569846" y="4979894"/>
            <a:ext cx="393444" cy="688869"/>
          </a:xfrm>
          <a:prstGeom prst="rightBrace">
            <a:avLst>
              <a:gd name="adj1" fmla="val 8333"/>
              <a:gd name="adj2" fmla="val 48846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/>
          <p:cNvSpPr txBox="1"/>
          <p:nvPr/>
        </p:nvSpPr>
        <p:spPr>
          <a:xfrm>
            <a:off x="2004993" y="2992763"/>
            <a:ext cx="11528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Abschnitte</a:t>
            </a:r>
            <a:br>
              <a:rPr lang="de-DE" sz="1600" dirty="0"/>
            </a:br>
            <a:r>
              <a:rPr lang="de-DE" sz="1600" dirty="0"/>
              <a:t>nicht </a:t>
            </a:r>
            <a:br>
              <a:rPr lang="de-DE" sz="1600" dirty="0"/>
            </a:br>
            <a:r>
              <a:rPr lang="de-DE" sz="1600" dirty="0"/>
              <a:t>vorhanden</a:t>
            </a:r>
          </a:p>
        </p:txBody>
      </p:sp>
      <p:sp>
        <p:nvSpPr>
          <p:cNvPr id="43" name="Textfeld 42"/>
          <p:cNvSpPr txBox="1"/>
          <p:nvPr/>
        </p:nvSpPr>
        <p:spPr>
          <a:xfrm>
            <a:off x="2188811" y="4860176"/>
            <a:ext cx="1475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Abschnitte</a:t>
            </a:r>
            <a:br>
              <a:rPr lang="de-DE" sz="1600" dirty="0"/>
            </a:br>
            <a:r>
              <a:rPr lang="de-DE" sz="1600" dirty="0"/>
              <a:t>nicht vorhanden</a:t>
            </a:r>
          </a:p>
        </p:txBody>
      </p:sp>
      <p:sp>
        <p:nvSpPr>
          <p:cNvPr id="44" name="Rechteckige Legende 43"/>
          <p:cNvSpPr/>
          <p:nvPr/>
        </p:nvSpPr>
        <p:spPr>
          <a:xfrm>
            <a:off x="2355361" y="3958609"/>
            <a:ext cx="1182394" cy="669842"/>
          </a:xfrm>
          <a:prstGeom prst="wedgeRectCallout">
            <a:avLst>
              <a:gd name="adj1" fmla="val -64690"/>
              <a:gd name="adj2" fmla="val -4355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Abschnitt startet in RAM ab 1340000</a:t>
            </a:r>
          </a:p>
        </p:txBody>
      </p:sp>
      <p:sp>
        <p:nvSpPr>
          <p:cNvPr id="45" name="Rechteckige Legende 44"/>
          <p:cNvSpPr/>
          <p:nvPr/>
        </p:nvSpPr>
        <p:spPr>
          <a:xfrm>
            <a:off x="2339095" y="5977410"/>
            <a:ext cx="1182394" cy="669842"/>
          </a:xfrm>
          <a:prstGeom prst="wedgeRectCallout">
            <a:avLst>
              <a:gd name="adj1" fmla="val -61327"/>
              <a:gd name="adj2" fmla="val -934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Abschnitt startet in RAM ab 10000</a:t>
            </a:r>
          </a:p>
        </p:txBody>
      </p:sp>
    </p:spTree>
    <p:extLst>
      <p:ext uri="{BB962C8B-B14F-4D97-AF65-F5344CB8AC3E}">
        <p14:creationId xmlns:p14="http://schemas.microsoft.com/office/powerpoint/2010/main" val="420878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FF0000"/>
                </a:solidFill>
              </a:rPr>
              <a:t>Mehrstufige</a:t>
            </a:r>
            <a:r>
              <a:rPr lang="de-DE" dirty="0"/>
              <a:t>/</a:t>
            </a:r>
            <a:r>
              <a:rPr lang="de-DE" b="1" dirty="0">
                <a:solidFill>
                  <a:srgbClr val="FF0000"/>
                </a:solidFill>
              </a:rPr>
              <a:t>Hierarchische</a:t>
            </a:r>
            <a:r>
              <a:rPr lang="de-DE" dirty="0"/>
              <a:t> Seitentabellen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2063586"/>
          </a:xfrm>
        </p:spPr>
        <p:txBody>
          <a:bodyPr>
            <a:normAutofit/>
          </a:bodyPr>
          <a:lstStyle/>
          <a:p>
            <a:r>
              <a:rPr lang="de-DE" dirty="0"/>
              <a:t>Wir müssen wissen, wo im Speicher welche Stücke (der Seitentabelle) liegen</a:t>
            </a:r>
          </a:p>
          <a:p>
            <a:r>
              <a:rPr lang="de-DE" dirty="0"/>
              <a:t>Diese Anfangsadressen werden in einer Tabelle höherer Stufe (d.h. Stufe 1) gehalten („</a:t>
            </a:r>
            <a:r>
              <a:rPr lang="de-DE" dirty="0" err="1">
                <a:solidFill>
                  <a:srgbClr val="FF0000"/>
                </a:solidFill>
              </a:rPr>
              <a:t>page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directory</a:t>
            </a:r>
            <a:r>
              <a:rPr lang="de-DE" dirty="0"/>
              <a:t>“)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23</a:t>
            </a:fld>
            <a:endParaRPr lang="en-US" noProof="0" dirty="0"/>
          </a:p>
        </p:txBody>
      </p:sp>
      <p:pic>
        <p:nvPicPr>
          <p:cNvPr id="5" name="Picture 10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3501008"/>
            <a:ext cx="7097713" cy="29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feld 5"/>
          <p:cNvSpPr txBox="1"/>
          <p:nvPr/>
        </p:nvSpPr>
        <p:spPr>
          <a:xfrm>
            <a:off x="185711" y="6066924"/>
            <a:ext cx="3852401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Stufe 1: enthält physische Adressen</a:t>
            </a:r>
          </a:p>
          <a:p>
            <a:r>
              <a:rPr lang="de-DE" dirty="0"/>
              <a:t>der „Stücke“ der Seitentabelle</a:t>
            </a:r>
          </a:p>
        </p:txBody>
      </p:sp>
      <p:cxnSp>
        <p:nvCxnSpPr>
          <p:cNvPr id="8" name="Gerade Verbindung mit Pfeil 7"/>
          <p:cNvCxnSpPr>
            <a:stCxn id="6" idx="0"/>
          </p:cNvCxnSpPr>
          <p:nvPr/>
        </p:nvCxnSpPr>
        <p:spPr>
          <a:xfrm flipV="1">
            <a:off x="2111912" y="5343214"/>
            <a:ext cx="803904" cy="72371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3281956" y="3506379"/>
            <a:ext cx="263411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Physische Adresse des </a:t>
            </a:r>
          </a:p>
          <a:p>
            <a:r>
              <a:rPr lang="de-DE" dirty="0"/>
              <a:t>Anfangs des „Stückes“</a:t>
            </a:r>
          </a:p>
        </p:txBody>
      </p:sp>
      <p:cxnSp>
        <p:nvCxnSpPr>
          <p:cNvPr id="12" name="Gerade Verbindung mit Pfeil 11"/>
          <p:cNvCxnSpPr>
            <a:stCxn id="10" idx="2"/>
          </p:cNvCxnSpPr>
          <p:nvPr/>
        </p:nvCxnSpPr>
        <p:spPr>
          <a:xfrm flipH="1">
            <a:off x="4572000" y="4152710"/>
            <a:ext cx="27016" cy="71645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6084168" y="3501008"/>
            <a:ext cx="2339102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Stufe 2: </a:t>
            </a:r>
            <a:r>
              <a:rPr lang="de-DE" dirty="0">
                <a:solidFill>
                  <a:srgbClr val="0070C0"/>
                </a:solidFill>
              </a:rPr>
              <a:t>ein „Stück“</a:t>
            </a:r>
          </a:p>
          <a:p>
            <a:r>
              <a:rPr lang="de-DE" dirty="0">
                <a:solidFill>
                  <a:srgbClr val="0070C0"/>
                </a:solidFill>
              </a:rPr>
              <a:t>der </a:t>
            </a:r>
            <a:r>
              <a:rPr lang="de-DE" u="sng" dirty="0">
                <a:solidFill>
                  <a:srgbClr val="0070C0"/>
                </a:solidFill>
              </a:rPr>
              <a:t>normalen</a:t>
            </a:r>
            <a:r>
              <a:rPr lang="de-DE" dirty="0">
                <a:solidFill>
                  <a:srgbClr val="0070C0"/>
                </a:solidFill>
              </a:rPr>
              <a:t> Seiten-</a:t>
            </a:r>
          </a:p>
          <a:p>
            <a:r>
              <a:rPr lang="de-DE" dirty="0" err="1">
                <a:solidFill>
                  <a:srgbClr val="0070C0"/>
                </a:solidFill>
              </a:rPr>
              <a:t>tabelle</a:t>
            </a:r>
            <a:endParaRPr lang="de-DE" dirty="0">
              <a:solidFill>
                <a:srgbClr val="0070C0"/>
              </a:solidFill>
            </a:endParaRPr>
          </a:p>
        </p:txBody>
      </p:sp>
      <p:cxnSp>
        <p:nvCxnSpPr>
          <p:cNvPr id="15" name="Gerade Verbindung mit Pfeil 14"/>
          <p:cNvCxnSpPr>
            <a:stCxn id="13" idx="2"/>
          </p:cNvCxnSpPr>
          <p:nvPr/>
        </p:nvCxnSpPr>
        <p:spPr>
          <a:xfrm rot="5400000">
            <a:off x="6374525" y="4061974"/>
            <a:ext cx="516830" cy="124155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851438" y="3372895"/>
            <a:ext cx="192879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/>
              <a:t>logische Adresse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9262" y="5987617"/>
            <a:ext cx="269817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Übersetzung wie bei der</a:t>
            </a:r>
          </a:p>
          <a:p>
            <a:pPr algn="ctr"/>
            <a:r>
              <a:rPr lang="de-DE" dirty="0"/>
              <a:t>„normalen“ Seitentabelle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840" y="4696883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Physischer</a:t>
            </a:r>
          </a:p>
          <a:p>
            <a:pPr algn="ctr"/>
            <a:r>
              <a:rPr lang="de-DE" dirty="0"/>
              <a:t>Speicher</a:t>
            </a:r>
          </a:p>
        </p:txBody>
      </p:sp>
      <p:cxnSp>
        <p:nvCxnSpPr>
          <p:cNvPr id="19" name="Straight Arrow Connector 18"/>
          <p:cNvCxnSpPr>
            <a:stCxn id="14" idx="0"/>
          </p:cNvCxnSpPr>
          <p:nvPr/>
        </p:nvCxnSpPr>
        <p:spPr>
          <a:xfrm flipH="1" flipV="1">
            <a:off x="5724128" y="5483561"/>
            <a:ext cx="84222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407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:\b\b4\IBM\03-1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1309410"/>
            <a:ext cx="5263586" cy="5400600"/>
          </a:xfrm>
          <a:prstGeom prst="rect">
            <a:avLst/>
          </a:prstGeom>
          <a:noFill/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Mehrstufige Seitentabellen - Beispiel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7" name="Inhaltsplatzhalter 2"/>
          <p:cNvSpPr>
            <a:spLocks noGrp="1"/>
          </p:cNvSpPr>
          <p:nvPr>
            <p:ph sz="quarter" idx="1"/>
          </p:nvPr>
        </p:nvSpPr>
        <p:spPr>
          <a:xfrm>
            <a:off x="323528" y="1196752"/>
            <a:ext cx="5842992" cy="1993776"/>
          </a:xfrm>
        </p:spPr>
        <p:txBody>
          <a:bodyPr>
            <a:normAutofit/>
          </a:bodyPr>
          <a:lstStyle/>
          <a:p>
            <a:r>
              <a:rPr lang="de-DE" dirty="0"/>
              <a:t>Umrechnung der logischen Adresse: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b="1" baseline="-25000" dirty="0">
                <a:solidFill>
                  <a:srgbClr val="FF0000"/>
                </a:solidFill>
              </a:rPr>
              <a:t>1</a:t>
            </a:r>
            <a:r>
              <a:rPr lang="de-DE" dirty="0"/>
              <a:t> wird als Index in die 1. Tabelle genutzt; der von P</a:t>
            </a:r>
            <a:r>
              <a:rPr lang="de-DE" baseline="-25000" dirty="0"/>
              <a:t>1</a:t>
            </a:r>
            <a:r>
              <a:rPr lang="de-DE" dirty="0"/>
              <a:t> indizierte Eintrag enthält die </a:t>
            </a:r>
            <a:r>
              <a:rPr lang="de-DE" u="sng" dirty="0"/>
              <a:t>physische Adresse</a:t>
            </a:r>
            <a:r>
              <a:rPr lang="de-DE" dirty="0"/>
              <a:t> einer Tabelle der 2. Stufe</a:t>
            </a:r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179512" y="4725144"/>
            <a:ext cx="6264696" cy="2016224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kumimoji="0" lang="de-DE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Innerhalb der Tabelle der 2. Stufe wird </a:t>
            </a:r>
            <a:r>
              <a:rPr kumimoji="0" lang="de-DE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de-DE" sz="26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de-DE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als Index</a:t>
            </a:r>
            <a:r>
              <a:rPr kumimoji="0" lang="de-DE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verwendet; der gefundene Eintrag ist die Basisadresse eines Seitenrahmens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de-DE" sz="2600" baseline="0" dirty="0"/>
              <a:t>Offset  </a:t>
            </a:r>
            <a:r>
              <a:rPr lang="de-DE" sz="2600" b="1" baseline="0" dirty="0">
                <a:solidFill>
                  <a:srgbClr val="0070C0"/>
                </a:solidFill>
              </a:rPr>
              <a:t>d</a:t>
            </a:r>
            <a:r>
              <a:rPr lang="de-DE" sz="2600" baseline="0" dirty="0"/>
              <a:t> </a:t>
            </a:r>
            <a:r>
              <a:rPr lang="de-DE" sz="2600" dirty="0"/>
              <a:t>(12 Bits)</a:t>
            </a:r>
            <a:r>
              <a:rPr lang="de-DE" sz="2600" baseline="0" dirty="0"/>
              <a:t> legt</a:t>
            </a:r>
            <a:r>
              <a:rPr lang="de-DE" sz="2600" dirty="0"/>
              <a:t> die Adresse innerhalb des Seitenrahmens fest (Seitengröße 4kByte)</a:t>
            </a:r>
            <a:endParaRPr kumimoji="0" lang="de-DE" sz="23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5464453" y="2852936"/>
            <a:ext cx="9797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/>
              <a:t>1. Stufe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222117" y="1171802"/>
            <a:ext cx="9797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/>
              <a:t>2. Stufe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 cstate="print"/>
          <a:srcRect l="638" t="35571" r="661" b="35571"/>
          <a:stretch>
            <a:fillRect/>
          </a:stretch>
        </p:blipFill>
        <p:spPr bwMode="auto">
          <a:xfrm>
            <a:off x="467544" y="3501008"/>
            <a:ext cx="4608512" cy="1010672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03047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Mehrstufige Seitentabellen - Probleme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07288" cy="5450160"/>
          </a:xfrm>
        </p:spPr>
        <p:txBody>
          <a:bodyPr>
            <a:normAutofit/>
          </a:bodyPr>
          <a:lstStyle/>
          <a:p>
            <a:r>
              <a:rPr lang="de-DE" dirty="0"/>
              <a:t>Mehrstufige Tabellen erhöhen die Zugriffszeit</a:t>
            </a:r>
          </a:p>
          <a:p>
            <a:pPr lvl="1"/>
            <a:r>
              <a:rPr lang="de-DE" dirty="0"/>
              <a:t>Aber mit TLB kann man dies kompensieren</a:t>
            </a:r>
          </a:p>
          <a:p>
            <a:r>
              <a:rPr lang="de-DE" dirty="0"/>
              <a:t>Wirkliches Problem entsteht bei 64-Bit Adressräumen</a:t>
            </a:r>
          </a:p>
          <a:p>
            <a:pPr lvl="1"/>
            <a:r>
              <a:rPr lang="de-DE" dirty="0"/>
              <a:t>Bei 3 Stufigen Seitentabelle hätte die äußerste Tabelle (1. Stufe) immer noch 2</a:t>
            </a:r>
            <a:r>
              <a:rPr lang="de-DE" baseline="30000" dirty="0"/>
              <a:t>32</a:t>
            </a:r>
            <a:r>
              <a:rPr lang="de-DE" dirty="0"/>
              <a:t> Einträge =&gt; 2</a:t>
            </a:r>
            <a:r>
              <a:rPr lang="de-DE" baseline="30000" dirty="0"/>
              <a:t>35</a:t>
            </a:r>
            <a:r>
              <a:rPr lang="de-DE" dirty="0"/>
              <a:t> Bytes = 32 GB!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25</a:t>
            </a:fld>
            <a:endParaRPr lang="en-US" noProof="0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149080"/>
            <a:ext cx="6446837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86487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07288" cy="990600"/>
          </a:xfrm>
        </p:spPr>
        <p:txBody>
          <a:bodyPr>
            <a:normAutofit/>
          </a:bodyPr>
          <a:lstStyle/>
          <a:p>
            <a:r>
              <a:rPr lang="de-DE" dirty="0"/>
              <a:t>Mehrstufige Seitentabellen von 64-Bit CPUs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199" y="1219200"/>
            <a:ext cx="8686801" cy="2569840"/>
          </a:xfrm>
        </p:spPr>
        <p:txBody>
          <a:bodyPr/>
          <a:lstStyle/>
          <a:p>
            <a:r>
              <a:rPr lang="de-DE" dirty="0"/>
              <a:t>Intel 64 CPUs in </a:t>
            </a:r>
            <a:r>
              <a:rPr lang="de-DE" dirty="0">
                <a:solidFill>
                  <a:srgbClr val="0070C0"/>
                </a:solidFill>
              </a:rPr>
              <a:t>IA-32e</a:t>
            </a:r>
            <a:r>
              <a:rPr lang="de-DE" dirty="0"/>
              <a:t>-Modus haben </a:t>
            </a:r>
            <a:r>
              <a:rPr lang="de-DE" dirty="0">
                <a:solidFill>
                  <a:srgbClr val="0070C0"/>
                </a:solidFill>
              </a:rPr>
              <a:t>48-Bit</a:t>
            </a:r>
            <a:r>
              <a:rPr lang="de-DE" dirty="0"/>
              <a:t> log. Adressraum (256 </a:t>
            </a:r>
            <a:r>
              <a:rPr lang="de-DE" dirty="0" err="1"/>
              <a:t>TBytes</a:t>
            </a:r>
            <a:r>
              <a:rPr lang="de-DE" dirty="0"/>
              <a:t>), der zu </a:t>
            </a:r>
            <a:r>
              <a:rPr lang="de-DE" dirty="0">
                <a:solidFill>
                  <a:srgbClr val="0070C0"/>
                </a:solidFill>
              </a:rPr>
              <a:t>52-Bit</a:t>
            </a:r>
            <a:r>
              <a:rPr lang="de-DE" dirty="0"/>
              <a:t> physischen </a:t>
            </a:r>
            <a:r>
              <a:rPr lang="de-DE" dirty="0" err="1"/>
              <a:t>Addressraum</a:t>
            </a:r>
            <a:r>
              <a:rPr lang="de-DE" dirty="0"/>
              <a:t> (4 </a:t>
            </a:r>
            <a:r>
              <a:rPr lang="de-DE" dirty="0" err="1"/>
              <a:t>PBytes</a:t>
            </a:r>
            <a:r>
              <a:rPr lang="de-DE" dirty="0"/>
              <a:t>) übersetzt wird</a:t>
            </a:r>
          </a:p>
          <a:p>
            <a:r>
              <a:rPr lang="de-DE" dirty="0"/>
              <a:t>Es gibt </a:t>
            </a:r>
            <a:r>
              <a:rPr lang="de-DE" dirty="0">
                <a:solidFill>
                  <a:srgbClr val="0070C0"/>
                </a:solidFill>
              </a:rPr>
              <a:t>4 Stufen</a:t>
            </a:r>
            <a:r>
              <a:rPr lang="de-DE" dirty="0"/>
              <a:t>, je </a:t>
            </a:r>
            <a:r>
              <a:rPr lang="de-DE" dirty="0">
                <a:solidFill>
                  <a:srgbClr val="0070C0"/>
                </a:solidFill>
              </a:rPr>
              <a:t>9 Bits</a:t>
            </a:r>
            <a:r>
              <a:rPr lang="de-DE" dirty="0"/>
              <a:t>: PML4E, PDPTE, PDE, PTE  </a:t>
            </a:r>
          </a:p>
          <a:p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9" y="2996952"/>
            <a:ext cx="5726365" cy="3757419"/>
          </a:xfrm>
          <a:prstGeom prst="rect">
            <a:avLst/>
          </a:prstGeom>
        </p:spPr>
      </p:pic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>
          <a:xfrm>
            <a:off x="4065187" y="5229200"/>
            <a:ext cx="4461023" cy="9681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err="1"/>
              <a:t>Quelle</a:t>
            </a:r>
            <a:r>
              <a:rPr lang="en-US" sz="2000" dirty="0"/>
              <a:t>: Intel® 64 and IA-32 Architectures Software Developer’s Manual, Sec. 4.5, </a:t>
            </a:r>
            <a:r>
              <a:rPr lang="en-US" sz="2000" dirty="0">
                <a:hlinkClick r:id="rId3"/>
              </a:rPr>
              <a:t>http://goo.gl/ahtAvR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02381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Modern Page Tables: Multi-</a:t>
            </a:r>
            <a:r>
              <a:rPr lang="fr-FR" dirty="0" err="1"/>
              <a:t>Level</a:t>
            </a:r>
            <a:r>
              <a:rPr lang="fr-FR" dirty="0"/>
              <a:t> Paging</a:t>
            </a:r>
          </a:p>
          <a:p>
            <a:pPr lvl="1"/>
            <a:r>
              <a:rPr lang="en-US" dirty="0">
                <a:hlinkClick r:id="rId2"/>
              </a:rPr>
              <a:t>https://www.youtube.com/watch?v=pCgw4Pe-5jo</a:t>
            </a:r>
            <a:endParaRPr lang="en-US" dirty="0"/>
          </a:p>
          <a:p>
            <a:pPr lvl="1"/>
            <a:r>
              <a:rPr lang="en-US" dirty="0"/>
              <a:t>Von 0:00 </a:t>
            </a:r>
            <a:r>
              <a:rPr lang="en-US" dirty="0" err="1"/>
              <a:t>bis</a:t>
            </a:r>
            <a:r>
              <a:rPr lang="en-US" dirty="0"/>
              <a:t> 05:05 - </a:t>
            </a:r>
            <a:r>
              <a:rPr lang="en-US" dirty="0" err="1"/>
              <a:t>Seitentabellen</a:t>
            </a:r>
            <a:r>
              <a:rPr lang="en-US" dirty="0"/>
              <a:t> in IA 32 und Problem</a:t>
            </a:r>
          </a:p>
          <a:p>
            <a:pPr lvl="1"/>
            <a:r>
              <a:rPr lang="en-US" dirty="0"/>
              <a:t>Von 05:05 </a:t>
            </a:r>
            <a:r>
              <a:rPr lang="en-US" dirty="0" err="1"/>
              <a:t>bis</a:t>
            </a:r>
            <a:r>
              <a:rPr lang="en-US" dirty="0"/>
              <a:t> ca. 07:54: </a:t>
            </a:r>
            <a:r>
              <a:rPr lang="en-US" dirty="0" err="1"/>
              <a:t>mögliche</a:t>
            </a:r>
            <a:r>
              <a:rPr lang="en-US" dirty="0"/>
              <a:t> </a:t>
            </a:r>
            <a:r>
              <a:rPr lang="en-US" dirty="0" err="1"/>
              <a:t>Lösungen</a:t>
            </a:r>
            <a:endParaRPr lang="en-US" dirty="0"/>
          </a:p>
          <a:p>
            <a:pPr lvl="1"/>
            <a:r>
              <a:rPr lang="en-US" dirty="0"/>
              <a:t>Von 07:54 </a:t>
            </a:r>
            <a:r>
              <a:rPr lang="en-US" dirty="0" err="1"/>
              <a:t>bis</a:t>
            </a:r>
            <a:r>
              <a:rPr lang="en-US" dirty="0"/>
              <a:t> ca. 08:58 - </a:t>
            </a:r>
            <a:r>
              <a:rPr lang="en-US" dirty="0" err="1"/>
              <a:t>mehrstufige</a:t>
            </a:r>
            <a:r>
              <a:rPr lang="en-US" dirty="0"/>
              <a:t> </a:t>
            </a:r>
            <a:r>
              <a:rPr lang="en-US" dirty="0" err="1"/>
              <a:t>Seitentabellen</a:t>
            </a:r>
            <a:endParaRPr lang="en-US" dirty="0"/>
          </a:p>
          <a:p>
            <a:pPr lvl="1"/>
            <a:r>
              <a:rPr lang="en-US" dirty="0"/>
              <a:t>Von 14:00 </a:t>
            </a:r>
            <a:r>
              <a:rPr lang="en-US" dirty="0" err="1"/>
              <a:t>bis</a:t>
            </a:r>
            <a:r>
              <a:rPr lang="en-US" dirty="0"/>
              <a:t> </a:t>
            </a:r>
            <a:r>
              <a:rPr lang="en-US" dirty="0" err="1"/>
              <a:t>Ende</a:t>
            </a:r>
            <a:r>
              <a:rPr lang="en-US" dirty="0"/>
              <a:t> - IA32/x86 </a:t>
            </a:r>
            <a:r>
              <a:rPr lang="en-US" dirty="0" err="1"/>
              <a:t>oder</a:t>
            </a:r>
            <a:r>
              <a:rPr lang="en-US" dirty="0"/>
              <a:t> ARM?</a:t>
            </a:r>
          </a:p>
        </p:txBody>
      </p:sp>
    </p:spTree>
    <p:extLst>
      <p:ext uri="{BB962C8B-B14F-4D97-AF65-F5344CB8AC3E}">
        <p14:creationId xmlns:p14="http://schemas.microsoft.com/office/powerpoint/2010/main" val="124591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71600" y="2348880"/>
            <a:ext cx="7200800" cy="3168352"/>
          </a:xfrm>
        </p:spPr>
        <p:txBody>
          <a:bodyPr/>
          <a:lstStyle/>
          <a:p>
            <a:r>
              <a:rPr lang="de-DE" dirty="0" err="1">
                <a:solidFill>
                  <a:schemeClr val="tx1"/>
                </a:solidFill>
              </a:rPr>
              <a:t>Paging</a:t>
            </a:r>
            <a:r>
              <a:rPr lang="de-DE" dirty="0">
                <a:solidFill>
                  <a:schemeClr val="tx1"/>
                </a:solidFill>
              </a:rPr>
              <a:t> bei IA32-Architektur: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Konkrete Details </a:t>
            </a:r>
            <a:br>
              <a:rPr lang="de-DE" dirty="0">
                <a:solidFill>
                  <a:schemeClr val="tx1"/>
                </a:solidFill>
              </a:rPr>
            </a:br>
            <a:br>
              <a:rPr lang="de-DE" dirty="0">
                <a:solidFill>
                  <a:schemeClr val="tx1"/>
                </a:solidFill>
              </a:rPr>
            </a:br>
            <a:r>
              <a:rPr lang="de-DE" sz="2800" dirty="0">
                <a:solidFill>
                  <a:schemeClr val="tx1"/>
                </a:solidFill>
              </a:rPr>
              <a:t>Empfehlenswert zum Lesen:</a:t>
            </a:r>
            <a:br>
              <a:rPr lang="de-DE" sz="2800" dirty="0">
                <a:solidFill>
                  <a:schemeClr val="tx1"/>
                </a:solidFill>
              </a:rPr>
            </a:br>
            <a:r>
              <a:rPr lang="de-DE" sz="2800" dirty="0">
                <a:solidFill>
                  <a:schemeClr val="tx1"/>
                </a:solidFill>
                <a:hlinkClick r:id="rId2"/>
              </a:rPr>
              <a:t>https://wiki.osdev.org/Paging</a:t>
            </a:r>
            <a:r>
              <a:rPr lang="de-DE" sz="2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28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Mehrstufige Seitentabellen </a:t>
            </a:r>
            <a:r>
              <a:rPr lang="de-DE"/>
              <a:t>bei IA32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29</a:t>
            </a:fld>
            <a:endParaRPr lang="en-US" noProof="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2420888"/>
            <a:ext cx="4776850" cy="4238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 l="638" t="35571" r="661" b="35571"/>
          <a:stretch>
            <a:fillRect/>
          </a:stretch>
        </p:blipFill>
        <p:spPr bwMode="auto">
          <a:xfrm>
            <a:off x="1979712" y="1196752"/>
            <a:ext cx="4608512" cy="1010672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0215" y="3220813"/>
            <a:ext cx="229582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>
                <a:solidFill>
                  <a:srgbClr val="FF0000"/>
                </a:solidFill>
              </a:rPr>
              <a:t>Page Directory </a:t>
            </a:r>
            <a:r>
              <a:rPr lang="de-DE" sz="2200" dirty="0"/>
              <a:t>=</a:t>
            </a:r>
          </a:p>
          <a:p>
            <a:r>
              <a:rPr lang="de-DE" sz="2200" dirty="0"/>
              <a:t>Tabelle der </a:t>
            </a:r>
          </a:p>
          <a:p>
            <a:r>
              <a:rPr lang="de-DE" sz="2200" dirty="0"/>
              <a:t>1. Stufe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763688" y="3774811"/>
            <a:ext cx="792088" cy="69192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788024" y="2841903"/>
            <a:ext cx="2376264" cy="80312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08304" y="2116421"/>
            <a:ext cx="186461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Page Table </a:t>
            </a:r>
            <a:r>
              <a:rPr lang="de-DE" sz="2000" dirty="0"/>
              <a:t>=</a:t>
            </a:r>
          </a:p>
          <a:p>
            <a:r>
              <a:rPr lang="de-DE" sz="2000" dirty="0"/>
              <a:t>Tabelle der </a:t>
            </a:r>
          </a:p>
          <a:p>
            <a:r>
              <a:rPr lang="de-DE" sz="2000" dirty="0"/>
              <a:t>2. Stufe (Stück</a:t>
            </a:r>
          </a:p>
          <a:p>
            <a:r>
              <a:rPr lang="de-DE" sz="2000" dirty="0"/>
              <a:t>der „normalen“</a:t>
            </a:r>
          </a:p>
          <a:p>
            <a:r>
              <a:rPr lang="de-DE" sz="2000" dirty="0"/>
              <a:t>Seitentabelle)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6668139" y="3952568"/>
            <a:ext cx="2364750" cy="25545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2000" dirty="0"/>
              <a:t>Bei 4-MB ist </a:t>
            </a:r>
          </a:p>
          <a:p>
            <a:r>
              <a:rPr lang="de-DE" sz="2000" dirty="0"/>
              <a:t>Page Directory die </a:t>
            </a:r>
          </a:p>
          <a:p>
            <a:r>
              <a:rPr lang="de-DE" sz="2000" dirty="0"/>
              <a:t>tatsächliche</a:t>
            </a:r>
          </a:p>
          <a:p>
            <a:r>
              <a:rPr lang="de-DE" sz="2000" dirty="0"/>
              <a:t>Seitentabelle,</a:t>
            </a:r>
          </a:p>
          <a:p>
            <a:r>
              <a:rPr lang="de-DE" sz="2000" dirty="0"/>
              <a:t>da unser Offset</a:t>
            </a:r>
          </a:p>
          <a:p>
            <a:r>
              <a:rPr lang="de-DE" sz="2000" dirty="0"/>
              <a:t>22 Bits hat =&gt; nur</a:t>
            </a:r>
          </a:p>
          <a:p>
            <a:r>
              <a:rPr lang="de-DE" sz="2000" dirty="0"/>
              <a:t>2</a:t>
            </a:r>
            <a:r>
              <a:rPr lang="de-DE" sz="2000" baseline="30000" dirty="0"/>
              <a:t>10</a:t>
            </a:r>
            <a:r>
              <a:rPr lang="de-DE" sz="2000" dirty="0"/>
              <a:t> Einträge in </a:t>
            </a:r>
          </a:p>
          <a:p>
            <a:r>
              <a:rPr lang="de-DE" sz="2000" dirty="0"/>
              <a:t>der Seitentabelle</a:t>
            </a:r>
          </a:p>
        </p:txBody>
      </p:sp>
    </p:spTree>
    <p:extLst>
      <p:ext uri="{BB962C8B-B14F-4D97-AF65-F5344CB8AC3E}">
        <p14:creationId xmlns:p14="http://schemas.microsoft.com/office/powerpoint/2010/main" val="209651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Konfigurieren der Seitentabellen bei IA32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MMU wird durch spezielle CPU-Register bei jedem </a:t>
            </a:r>
            <a:r>
              <a:rPr lang="de-DE" u="sng" dirty="0"/>
              <a:t>Prozesswechsel</a:t>
            </a:r>
            <a:r>
              <a:rPr lang="de-DE" dirty="0"/>
              <a:t> neu konfiguriert</a:t>
            </a:r>
          </a:p>
          <a:p>
            <a:endParaRPr lang="de-DE" dirty="0"/>
          </a:p>
          <a:p>
            <a:r>
              <a:rPr lang="de-DE" dirty="0"/>
              <a:t>Register </a:t>
            </a:r>
            <a:r>
              <a:rPr lang="de-DE" b="1" dirty="0">
                <a:solidFill>
                  <a:srgbClr val="0070C0"/>
                </a:solidFill>
              </a:rPr>
              <a:t>page-</a:t>
            </a:r>
            <a:r>
              <a:rPr lang="de-DE" b="1" dirty="0" err="1">
                <a:solidFill>
                  <a:srgbClr val="0070C0"/>
                </a:solidFill>
              </a:rPr>
              <a:t>table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base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register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(</a:t>
            </a:r>
            <a:r>
              <a:rPr lang="de-DE" b="1" dirty="0">
                <a:solidFill>
                  <a:srgbClr val="0070C0"/>
                </a:solidFill>
              </a:rPr>
              <a:t>PTBR</a:t>
            </a:r>
            <a:r>
              <a:rPr lang="de-DE" dirty="0"/>
              <a:t>) zeigt auf den </a:t>
            </a:r>
            <a:r>
              <a:rPr lang="de-DE" u="sng" dirty="0"/>
              <a:t>Anfang</a:t>
            </a:r>
            <a:r>
              <a:rPr lang="de-DE" dirty="0"/>
              <a:t> der Seitentabelle</a:t>
            </a:r>
          </a:p>
          <a:p>
            <a:pPr lvl="1"/>
            <a:r>
              <a:rPr lang="de-DE" dirty="0"/>
              <a:t>Wird bei einem Prozesswechsel aktualisiert</a:t>
            </a:r>
          </a:p>
          <a:p>
            <a:pPr lvl="1"/>
            <a:r>
              <a:rPr lang="de-DE" dirty="0"/>
              <a:t>Bei x86-CPUs ist das der </a:t>
            </a:r>
            <a:r>
              <a:rPr lang="de-DE" b="1" dirty="0">
                <a:solidFill>
                  <a:srgbClr val="0070C0"/>
                </a:solidFill>
              </a:rPr>
              <a:t>SP3-Systemregister</a:t>
            </a:r>
          </a:p>
          <a:p>
            <a:endParaRPr lang="de-DE" dirty="0"/>
          </a:p>
          <a:p>
            <a:r>
              <a:rPr lang="de-DE" dirty="0"/>
              <a:t>Register </a:t>
            </a:r>
            <a:r>
              <a:rPr lang="de-DE" b="1" dirty="0">
                <a:solidFill>
                  <a:srgbClr val="0070C0"/>
                </a:solidFill>
              </a:rPr>
              <a:t>page-</a:t>
            </a:r>
            <a:r>
              <a:rPr lang="de-DE" b="1" dirty="0" err="1">
                <a:solidFill>
                  <a:srgbClr val="0070C0"/>
                </a:solidFill>
              </a:rPr>
              <a:t>table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length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register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(</a:t>
            </a:r>
            <a:r>
              <a:rPr lang="de-DE" b="1" dirty="0">
                <a:solidFill>
                  <a:srgbClr val="0070C0"/>
                </a:solidFill>
              </a:rPr>
              <a:t>PRLR</a:t>
            </a:r>
            <a:r>
              <a:rPr lang="de-DE" dirty="0"/>
              <a:t>) beschreibt die </a:t>
            </a:r>
            <a:r>
              <a:rPr lang="de-DE" u="sng" dirty="0"/>
              <a:t>Länge</a:t>
            </a:r>
            <a:r>
              <a:rPr lang="de-DE" dirty="0"/>
              <a:t> der Seitentabelle</a:t>
            </a:r>
          </a:p>
          <a:p>
            <a:pPr lvl="1"/>
            <a:r>
              <a:rPr lang="de-DE" dirty="0"/>
              <a:t>Dient dem Schutz vor Zugriffen jenseits des Tabellenendes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21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Setzen und Einschalten der Seitentabelle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1. Lade in das </a:t>
            </a:r>
            <a:r>
              <a:rPr lang="de-DE" dirty="0">
                <a:solidFill>
                  <a:srgbClr val="0070C0"/>
                </a:solidFill>
              </a:rPr>
              <a:t>Register </a:t>
            </a:r>
            <a:r>
              <a:rPr lang="de-DE" b="1" dirty="0">
                <a:solidFill>
                  <a:srgbClr val="0070C0"/>
                </a:solidFill>
              </a:rPr>
              <a:t>CR3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/>
              <a:t>die Adresse des </a:t>
            </a:r>
            <a:r>
              <a:rPr lang="de-DE" dirty="0" err="1">
                <a:solidFill>
                  <a:srgbClr val="FF0000"/>
                </a:solidFill>
              </a:rPr>
              <a:t>page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directory</a:t>
            </a:r>
            <a:r>
              <a:rPr lang="de-DE" dirty="0"/>
              <a:t> (= oberste Stufe der IA32-Seitentabelle)</a:t>
            </a:r>
          </a:p>
          <a:p>
            <a:pPr lvl="1"/>
            <a:r>
              <a:rPr lang="en-US" sz="2400" b="1" dirty="0" err="1">
                <a:solidFill>
                  <a:srgbClr val="0070C0"/>
                </a:solidFill>
              </a:rPr>
              <a:t>mov</a:t>
            </a:r>
            <a:r>
              <a:rPr lang="en-US" sz="2400" dirty="0">
                <a:solidFill>
                  <a:schemeClr val="tx1"/>
                </a:solidFill>
              </a:rPr>
              <a:t> 	</a:t>
            </a:r>
            <a:r>
              <a:rPr lang="en-US" sz="2400" dirty="0" err="1">
                <a:solidFill>
                  <a:schemeClr val="tx1"/>
                </a:solidFill>
              </a:rPr>
              <a:t>eax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rgbClr val="FF0000"/>
                </a:solidFill>
              </a:rPr>
              <a:t>page_directory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en-US" sz="2400" b="1" dirty="0" err="1">
                <a:solidFill>
                  <a:srgbClr val="0070C0"/>
                </a:solidFill>
              </a:rPr>
              <a:t>mov</a:t>
            </a:r>
            <a:r>
              <a:rPr lang="en-US" sz="2400" dirty="0">
                <a:solidFill>
                  <a:schemeClr val="tx1"/>
                </a:solidFill>
              </a:rPr>
              <a:t> 	</a:t>
            </a:r>
            <a:r>
              <a:rPr lang="en-US" sz="2400" b="1" dirty="0">
                <a:solidFill>
                  <a:schemeClr val="tx1"/>
                </a:solidFill>
              </a:rPr>
              <a:t>cr3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eax</a:t>
            </a:r>
            <a:endParaRPr lang="de-DE" sz="2400" dirty="0">
              <a:solidFill>
                <a:schemeClr val="tx1"/>
              </a:solidFill>
            </a:endParaRPr>
          </a:p>
          <a:p>
            <a:endParaRPr lang="de-DE" dirty="0"/>
          </a:p>
          <a:p>
            <a:r>
              <a:rPr lang="de-DE" dirty="0"/>
              <a:t>2. Setze die entsprechenden Flags des </a:t>
            </a:r>
            <a:r>
              <a:rPr lang="de-DE" dirty="0">
                <a:solidFill>
                  <a:srgbClr val="0070C0"/>
                </a:solidFill>
              </a:rPr>
              <a:t>Kontrollregisters </a:t>
            </a:r>
            <a:r>
              <a:rPr lang="de-DE" b="1" dirty="0">
                <a:solidFill>
                  <a:srgbClr val="0070C0"/>
                </a:solidFill>
              </a:rPr>
              <a:t>CR0</a:t>
            </a:r>
            <a:r>
              <a:rPr lang="de-DE" dirty="0"/>
              <a:t>: </a:t>
            </a:r>
            <a:r>
              <a:rPr lang="de-DE" dirty="0" err="1"/>
              <a:t>Paging</a:t>
            </a:r>
            <a:r>
              <a:rPr lang="de-DE" dirty="0"/>
              <a:t> Bit (PG) auf 1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mov</a:t>
            </a:r>
            <a:r>
              <a:rPr lang="en-US" dirty="0">
                <a:solidFill>
                  <a:schemeClr val="tx1"/>
                </a:solidFill>
              </a:rPr>
              <a:t> 	</a:t>
            </a:r>
            <a:r>
              <a:rPr lang="en-US" dirty="0" err="1">
                <a:solidFill>
                  <a:schemeClr val="tx1"/>
                </a:solidFill>
              </a:rPr>
              <a:t>eax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cr0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or</a:t>
            </a:r>
            <a:r>
              <a:rPr lang="en-US" dirty="0">
                <a:solidFill>
                  <a:schemeClr val="tx1"/>
                </a:solidFill>
              </a:rPr>
              <a:t> 	</a:t>
            </a:r>
            <a:r>
              <a:rPr lang="en-US" dirty="0" err="1">
                <a:solidFill>
                  <a:schemeClr val="tx1"/>
                </a:solidFill>
              </a:rPr>
              <a:t>eax</a:t>
            </a:r>
            <a:r>
              <a:rPr lang="en-US" dirty="0">
                <a:solidFill>
                  <a:schemeClr val="tx1"/>
                </a:solidFill>
              </a:rPr>
              <a:t>, 0x80000001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mov</a:t>
            </a:r>
            <a:r>
              <a:rPr lang="en-US" dirty="0">
                <a:solidFill>
                  <a:schemeClr val="tx1"/>
                </a:solidFill>
              </a:rPr>
              <a:t> 	</a:t>
            </a:r>
            <a:r>
              <a:rPr lang="en-US" b="1" dirty="0">
                <a:solidFill>
                  <a:schemeClr val="tx1"/>
                </a:solidFill>
              </a:rPr>
              <a:t>cr0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eax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1907704" y="6429396"/>
            <a:ext cx="4989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Quelle: </a:t>
            </a:r>
            <a:r>
              <a:rPr lang="de-DE" dirty="0">
                <a:hlinkClick r:id="rId2"/>
              </a:rPr>
              <a:t>https://wiki.osdev.org/Paging#Enabling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121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enthält ein Tabelleneintrag (IA32)? /1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2852936"/>
            <a:ext cx="8229600" cy="3576460"/>
          </a:xfrm>
        </p:spPr>
        <p:txBody>
          <a:bodyPr/>
          <a:lstStyle/>
          <a:p>
            <a:r>
              <a:rPr lang="de-DE" dirty="0">
                <a:solidFill>
                  <a:srgbClr val="0070C0"/>
                </a:solidFill>
              </a:rPr>
              <a:t>G</a:t>
            </a:r>
            <a:r>
              <a:rPr lang="de-DE" dirty="0"/>
              <a:t> [</a:t>
            </a:r>
            <a:r>
              <a:rPr lang="en-US" dirty="0">
                <a:solidFill>
                  <a:srgbClr val="0070C0"/>
                </a:solidFill>
              </a:rPr>
              <a:t>global</a:t>
            </a:r>
            <a:r>
              <a:rPr lang="en-US" dirty="0"/>
              <a:t>]: if set, prevents the TLB from updating the address in its cache if CR3 is reset</a:t>
            </a:r>
          </a:p>
          <a:p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 [</a:t>
            </a:r>
            <a:r>
              <a:rPr lang="en-US" dirty="0">
                <a:solidFill>
                  <a:srgbClr val="0070C0"/>
                </a:solidFill>
              </a:rPr>
              <a:t>dirty</a:t>
            </a:r>
            <a:r>
              <a:rPr lang="en-US" dirty="0"/>
              <a:t>]: if set, then the page has been written to; once set will not unset itself</a:t>
            </a:r>
          </a:p>
          <a:p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 [</a:t>
            </a:r>
            <a:r>
              <a:rPr lang="en-US" dirty="0">
                <a:solidFill>
                  <a:srgbClr val="0070C0"/>
                </a:solidFill>
              </a:rPr>
              <a:t>accessed</a:t>
            </a:r>
            <a:r>
              <a:rPr lang="en-US" dirty="0"/>
              <a:t>]: used to discover whether a page has been read or written to; if it has, then the bit is set</a:t>
            </a:r>
          </a:p>
          <a:p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en-US" dirty="0"/>
              <a:t> [</a:t>
            </a:r>
            <a:r>
              <a:rPr lang="en-US" dirty="0">
                <a:solidFill>
                  <a:srgbClr val="0070C0"/>
                </a:solidFill>
              </a:rPr>
              <a:t>cache</a:t>
            </a:r>
            <a:r>
              <a:rPr lang="en-US" dirty="0"/>
              <a:t>]: the 'Cache Disable' bit; if the bit is set, the page will not be cached</a:t>
            </a:r>
            <a:endParaRPr lang="de-DE" dirty="0"/>
          </a:p>
        </p:txBody>
      </p:sp>
      <p:pic>
        <p:nvPicPr>
          <p:cNvPr id="1028" name="Picture 4" descr="https://wiki.osdev.org/images/9/9b/Page_tabl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8" b="50388"/>
          <a:stretch/>
        </p:blipFill>
        <p:spPr bwMode="auto">
          <a:xfrm>
            <a:off x="683568" y="1190732"/>
            <a:ext cx="7481455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94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enthält ein Tabelleneintrag (IA32)? /2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2780928"/>
            <a:ext cx="8229600" cy="3648468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dirty="0"/>
              <a:t> [</a:t>
            </a:r>
            <a:r>
              <a:rPr lang="en-US" dirty="0">
                <a:solidFill>
                  <a:srgbClr val="0070C0"/>
                </a:solidFill>
              </a:rPr>
              <a:t>Write-Through</a:t>
            </a:r>
            <a:r>
              <a:rPr lang="en-US" dirty="0"/>
              <a:t>]: if the bit is set, write-through caching is enabled</a:t>
            </a:r>
          </a:p>
          <a:p>
            <a:r>
              <a:rPr lang="en-US" dirty="0">
                <a:solidFill>
                  <a:srgbClr val="0070C0"/>
                </a:solidFill>
              </a:rPr>
              <a:t>U</a:t>
            </a:r>
            <a:r>
              <a:rPr lang="en-US" dirty="0"/>
              <a:t> [</a:t>
            </a:r>
            <a:r>
              <a:rPr lang="en-US" dirty="0">
                <a:solidFill>
                  <a:srgbClr val="0070C0"/>
                </a:solidFill>
              </a:rPr>
              <a:t>User/Supervisor</a:t>
            </a:r>
            <a:r>
              <a:rPr lang="en-US" dirty="0"/>
              <a:t>]: controls access to the page based on privilege level; if set, then the page may be accessed by all, otherwise only the supervisor can access it</a:t>
            </a:r>
          </a:p>
          <a:p>
            <a:r>
              <a:rPr lang="en-US" dirty="0">
                <a:solidFill>
                  <a:srgbClr val="0070C0"/>
                </a:solidFill>
              </a:rPr>
              <a:t>R</a:t>
            </a:r>
            <a:r>
              <a:rPr lang="en-US" dirty="0"/>
              <a:t> [</a:t>
            </a:r>
            <a:r>
              <a:rPr lang="en-US" dirty="0">
                <a:solidFill>
                  <a:srgbClr val="0070C0"/>
                </a:solidFill>
              </a:rPr>
              <a:t>Read/Write</a:t>
            </a:r>
            <a:r>
              <a:rPr lang="en-US" dirty="0"/>
              <a:t>]: if the bit is set, the page is read/write, otherwise the page is read-only</a:t>
            </a:r>
          </a:p>
          <a:p>
            <a:r>
              <a:rPr lang="en-US" dirty="0">
                <a:solidFill>
                  <a:srgbClr val="0070C0"/>
                </a:solidFill>
              </a:rPr>
              <a:t>P</a:t>
            </a:r>
            <a:r>
              <a:rPr lang="en-US" dirty="0"/>
              <a:t> [</a:t>
            </a:r>
            <a:r>
              <a:rPr lang="en-US" dirty="0">
                <a:solidFill>
                  <a:srgbClr val="0070C0"/>
                </a:solidFill>
              </a:rPr>
              <a:t>Present</a:t>
            </a:r>
            <a:r>
              <a:rPr lang="en-US" dirty="0"/>
              <a:t>]: If the bit is set, the page is actually in physical memory at the moment </a:t>
            </a:r>
            <a:endParaRPr lang="de-DE" dirty="0"/>
          </a:p>
        </p:txBody>
      </p:sp>
      <p:pic>
        <p:nvPicPr>
          <p:cNvPr id="1028" name="Picture 4" descr="https://wiki.osdev.org/images/9/9b/Page_tabl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8" b="50388"/>
          <a:stretch/>
        </p:blipFill>
        <p:spPr bwMode="auto">
          <a:xfrm>
            <a:off x="683568" y="1190732"/>
            <a:ext cx="7481455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1619250" y="6448344"/>
            <a:ext cx="5310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Quelle: </a:t>
            </a:r>
            <a:r>
              <a:rPr lang="de-DE" dirty="0">
                <a:hlinkClick r:id="rId3"/>
              </a:rPr>
              <a:t>https://wiki.osdev.org/Paging#Page_Table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9077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805B4E-F346-DD14-041E-2A925227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Verständnisfrage Seitentabellen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A046A52-4D43-F42B-9221-E72E205C6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0E7A84-FA3C-EC0E-77C5-4A378C5AEB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Angenommen, Sie haben einen Rechner mit IA32 Architektur und 1 </a:t>
            </a:r>
            <a:r>
              <a:rPr lang="de-DE" dirty="0" err="1"/>
              <a:t>GiB</a:t>
            </a:r>
            <a:r>
              <a:rPr lang="de-DE" dirty="0"/>
              <a:t> (2</a:t>
            </a:r>
            <a:r>
              <a:rPr lang="de-DE" baseline="30000" dirty="0"/>
              <a:t>30 </a:t>
            </a:r>
            <a:r>
              <a:rPr lang="de-DE" dirty="0"/>
              <a:t>Bytes) RAM, sowie 4kBi (2</a:t>
            </a:r>
            <a:r>
              <a:rPr lang="de-DE" baseline="30000" dirty="0"/>
              <a:t>12</a:t>
            </a:r>
            <a:r>
              <a:rPr lang="de-DE" dirty="0"/>
              <a:t>) Seiten- und Rahmengröße </a:t>
            </a:r>
          </a:p>
          <a:p>
            <a:r>
              <a:rPr lang="de-DE" dirty="0"/>
              <a:t>Ein Prozess muss nur eine einzige Adresse nutzen. Was ist die minimale notwendige Größe einer Seitentabelle:</a:t>
            </a:r>
          </a:p>
          <a:p>
            <a:r>
              <a:rPr lang="de-DE" dirty="0"/>
              <a:t>A. Bei hierarchischen Seitentabellen (IA32)?</a:t>
            </a:r>
          </a:p>
          <a:p>
            <a:r>
              <a:rPr lang="de-DE" dirty="0"/>
              <a:t>B. Bei invertierten Seitentabellen?</a:t>
            </a:r>
          </a:p>
          <a:p>
            <a:endParaRPr lang="de-DE" dirty="0"/>
          </a:p>
          <a:p>
            <a:r>
              <a:rPr lang="de-DE" dirty="0"/>
              <a:t>Antwort in </a:t>
            </a:r>
            <a:r>
              <a:rPr lang="de-DE" dirty="0" err="1"/>
              <a:t>kBi</a:t>
            </a:r>
            <a:r>
              <a:rPr lang="de-DE" dirty="0"/>
              <a:t>, in der Form: A: xxx, B: </a:t>
            </a:r>
            <a:r>
              <a:rPr lang="de-DE" dirty="0" err="1"/>
              <a:t>yyy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01FCB52-215F-0574-32A8-C48F817CE23E}"/>
              </a:ext>
            </a:extLst>
          </p:cNvPr>
          <p:cNvSpPr txBox="1"/>
          <p:nvPr/>
        </p:nvSpPr>
        <p:spPr>
          <a:xfrm>
            <a:off x="5530406" y="152400"/>
            <a:ext cx="336207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00FF00"/>
                </a:highlight>
              </a:rPr>
              <a:t>https://bit.ly/ibn_hd</a:t>
            </a:r>
            <a:endParaRPr lang="de-DE" sz="28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578067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6AE60A-B69C-4790-82F7-3882EDF23186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Zusammenfassung: </a:t>
            </a:r>
            <a:br>
              <a:rPr lang="de-DE" dirty="0"/>
            </a:br>
            <a:r>
              <a:rPr lang="de-DE" dirty="0"/>
              <a:t>Paging und Seitentabellen</a:t>
            </a:r>
          </a:p>
        </p:txBody>
      </p:sp>
    </p:spTree>
    <p:extLst>
      <p:ext uri="{BB962C8B-B14F-4D97-AF65-F5344CB8AC3E}">
        <p14:creationId xmlns:p14="http://schemas.microsoft.com/office/powerpoint/2010/main" val="182825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Paging: Adressenübersetzung in „Kacheln“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6118834" y="1271705"/>
            <a:ext cx="1676962" cy="646331"/>
          </a:xfrm>
          <a:prstGeom prst="rec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Physischer Adressraum</a:t>
            </a:r>
          </a:p>
        </p:txBody>
      </p:sp>
      <p:cxnSp>
        <p:nvCxnSpPr>
          <p:cNvPr id="28" name="Gerade Verbindung mit Pfeil 27"/>
          <p:cNvCxnSpPr>
            <a:endCxn id="82" idx="1"/>
          </p:cNvCxnSpPr>
          <p:nvPr/>
        </p:nvCxnSpPr>
        <p:spPr>
          <a:xfrm flipV="1">
            <a:off x="2680329" y="2486072"/>
            <a:ext cx="3438505" cy="158351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2" name="Right Brace 4101"/>
          <p:cNvSpPr/>
          <p:nvPr/>
        </p:nvSpPr>
        <p:spPr>
          <a:xfrm rot="10800000">
            <a:off x="5701212" y="2742120"/>
            <a:ext cx="452187" cy="508313"/>
          </a:xfrm>
          <a:prstGeom prst="righ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21" name="Rectangle 4120"/>
          <p:cNvSpPr/>
          <p:nvPr/>
        </p:nvSpPr>
        <p:spPr>
          <a:xfrm>
            <a:off x="1619672" y="2272614"/>
            <a:ext cx="1026092" cy="508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Daten Seite 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19672" y="2780927"/>
            <a:ext cx="1026092" cy="5083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Daten Seite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19672" y="3289240"/>
            <a:ext cx="1026092" cy="5083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Daten Seite 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19672" y="3797553"/>
            <a:ext cx="1026092" cy="508313"/>
          </a:xfrm>
          <a:prstGeom prst="rect">
            <a:avLst/>
          </a:prstGeom>
          <a:solidFill>
            <a:srgbClr val="92D05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Daten Seite 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18834" y="2245093"/>
            <a:ext cx="1026092" cy="50831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6118834" y="3261719"/>
            <a:ext cx="1026092" cy="50831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118834" y="3770032"/>
            <a:ext cx="1026092" cy="5083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Inhalt Seite 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18834" y="4278345"/>
            <a:ext cx="1026092" cy="5083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Inhalt Seite 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18834" y="2230025"/>
            <a:ext cx="1026092" cy="512094"/>
          </a:xfrm>
          <a:prstGeom prst="rect">
            <a:avLst/>
          </a:prstGeom>
          <a:solidFill>
            <a:srgbClr val="92D05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Inhalt Seite 3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7143881" y="2296378"/>
            <a:ext cx="312906" cy="2388296"/>
            <a:chOff x="5793399" y="2339588"/>
            <a:chExt cx="312906" cy="2388296"/>
          </a:xfrm>
        </p:grpSpPr>
        <p:sp>
          <p:nvSpPr>
            <p:cNvPr id="38" name="TextBox 37"/>
            <p:cNvSpPr txBox="1"/>
            <p:nvPr/>
          </p:nvSpPr>
          <p:spPr>
            <a:xfrm>
              <a:off x="5793399" y="23395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793399" y="284432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793399" y="334907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793399" y="385381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793399" y="43585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13" name="Rechteck 12"/>
          <p:cNvSpPr/>
          <p:nvPr/>
        </p:nvSpPr>
        <p:spPr>
          <a:xfrm>
            <a:off x="1096961" y="233668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099216" y="279695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1105221" y="333966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Rechteck 55"/>
          <p:cNvSpPr/>
          <p:nvPr/>
        </p:nvSpPr>
        <p:spPr>
          <a:xfrm>
            <a:off x="1103813" y="382276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hteckige Legende 13"/>
          <p:cNvSpPr/>
          <p:nvPr/>
        </p:nvSpPr>
        <p:spPr>
          <a:xfrm>
            <a:off x="309871" y="4394456"/>
            <a:ext cx="1638976" cy="392202"/>
          </a:xfrm>
          <a:prstGeom prst="wedgeRectCallout">
            <a:avLst>
              <a:gd name="adj1" fmla="val -514"/>
              <a:gd name="adj2" fmla="val -24253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Seiten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977303" y="1292536"/>
            <a:ext cx="1676962" cy="646331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Logischer Adressraum</a:t>
            </a:r>
          </a:p>
        </p:txBody>
      </p:sp>
      <p:sp>
        <p:nvSpPr>
          <p:cNvPr id="63" name="Rechteckige Legende 62"/>
          <p:cNvSpPr/>
          <p:nvPr/>
        </p:nvSpPr>
        <p:spPr>
          <a:xfrm>
            <a:off x="4211960" y="1397157"/>
            <a:ext cx="1470578" cy="536922"/>
          </a:xfrm>
          <a:prstGeom prst="wedgeRectCallout">
            <a:avLst>
              <a:gd name="adj1" fmla="val 50520"/>
              <a:gd name="adj2" fmla="val 24062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RAM-Adressen 4096…8191 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Gerade Verbindung mit Pfeil 66"/>
          <p:cNvCxnSpPr/>
          <p:nvPr/>
        </p:nvCxnSpPr>
        <p:spPr>
          <a:xfrm>
            <a:off x="3181473" y="2568874"/>
            <a:ext cx="2326631" cy="42740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60" idx="3"/>
            <a:endCxn id="78" idx="1"/>
          </p:cNvCxnSpPr>
          <p:nvPr/>
        </p:nvCxnSpPr>
        <p:spPr>
          <a:xfrm>
            <a:off x="2645764" y="3543397"/>
            <a:ext cx="3473070" cy="48079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/>
          <p:cNvCxnSpPr>
            <a:stCxn id="59" idx="3"/>
            <a:endCxn id="79" idx="1"/>
          </p:cNvCxnSpPr>
          <p:nvPr/>
        </p:nvCxnSpPr>
        <p:spPr>
          <a:xfrm>
            <a:off x="2645764" y="3035084"/>
            <a:ext cx="3473070" cy="149741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hteckige Legende 82"/>
          <p:cNvSpPr/>
          <p:nvPr/>
        </p:nvSpPr>
        <p:spPr>
          <a:xfrm>
            <a:off x="2816100" y="1677570"/>
            <a:ext cx="1566199" cy="536922"/>
          </a:xfrm>
          <a:prstGeom prst="wedgeRectCallout">
            <a:avLst>
              <a:gd name="adj1" fmla="val -29135"/>
              <a:gd name="adj2" fmla="val 109922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CPU-Adressen 0…4095 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Right Brace 4101"/>
          <p:cNvSpPr/>
          <p:nvPr/>
        </p:nvSpPr>
        <p:spPr>
          <a:xfrm>
            <a:off x="2654265" y="2288644"/>
            <a:ext cx="452187" cy="508313"/>
          </a:xfrm>
          <a:prstGeom prst="righ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Rechteckige Legende 84"/>
          <p:cNvSpPr/>
          <p:nvPr/>
        </p:nvSpPr>
        <p:spPr>
          <a:xfrm>
            <a:off x="7668344" y="3005450"/>
            <a:ext cx="1340600" cy="726427"/>
          </a:xfrm>
          <a:prstGeom prst="wedgeRectCallout">
            <a:avLst>
              <a:gd name="adj1" fmla="val -68722"/>
              <a:gd name="adj2" fmla="val -4151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Rahmen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index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18834" y="2753406"/>
            <a:ext cx="1026092" cy="508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Inhalt Seite 0</a:t>
            </a:r>
          </a:p>
        </p:txBody>
      </p:sp>
      <p:sp>
        <p:nvSpPr>
          <p:cNvPr id="45" name="Inhaltsplatzhalter 44"/>
          <p:cNvSpPr>
            <a:spLocks noGrp="1"/>
          </p:cNvSpPr>
          <p:nvPr>
            <p:ph sz="quarter" idx="13"/>
          </p:nvPr>
        </p:nvSpPr>
        <p:spPr>
          <a:xfrm>
            <a:off x="465089" y="4964048"/>
            <a:ext cx="8208912" cy="1712864"/>
          </a:xfrm>
        </p:spPr>
        <p:txBody>
          <a:bodyPr>
            <a:normAutofit lnSpcReduction="10000"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Paging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übersetzt “Kacheln” der </a:t>
            </a:r>
            <a:r>
              <a:rPr lang="de-DE" u="sng" dirty="0"/>
              <a:t>logischen</a:t>
            </a:r>
            <a:r>
              <a:rPr lang="de-DE" dirty="0"/>
              <a:t> Adressen auf “Kacheln” der </a:t>
            </a:r>
            <a:r>
              <a:rPr lang="de-DE" u="sng" dirty="0"/>
              <a:t>physischen</a:t>
            </a:r>
            <a:r>
              <a:rPr lang="de-DE" dirty="0"/>
              <a:t> Adressen</a:t>
            </a:r>
          </a:p>
          <a:p>
            <a:r>
              <a:rPr lang="de-DE" dirty="0"/>
              <a:t>Der Kern ist eine effiziente Funktion </a:t>
            </a:r>
            <a:r>
              <a:rPr lang="de-DE" b="1" dirty="0" err="1"/>
              <a:t>F</a:t>
            </a:r>
            <a:r>
              <a:rPr lang="de-DE" b="1" baseline="-25000" dirty="0" err="1"/>
              <a:t>pid</a:t>
            </a:r>
            <a:r>
              <a:rPr lang="de-DE" b="1" dirty="0"/>
              <a:t>(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b="1" dirty="0"/>
              <a:t>) = </a:t>
            </a:r>
            <a:r>
              <a:rPr lang="de-DE" b="1" dirty="0">
                <a:solidFill>
                  <a:srgbClr val="0070C0"/>
                </a:solidFill>
              </a:rPr>
              <a:t>f</a:t>
            </a:r>
            <a:r>
              <a:rPr lang="de-DE" dirty="0"/>
              <a:t>, die Seitenindex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auf Rahmenindex </a:t>
            </a:r>
            <a:r>
              <a:rPr lang="de-DE" b="1" dirty="0">
                <a:solidFill>
                  <a:srgbClr val="0070C0"/>
                </a:solidFill>
              </a:rPr>
              <a:t>f</a:t>
            </a:r>
            <a:r>
              <a:rPr lang="de-DE" dirty="0"/>
              <a:t> abbildet</a:t>
            </a:r>
          </a:p>
          <a:p>
            <a:endParaRPr lang="de-DE" dirty="0"/>
          </a:p>
        </p:txBody>
      </p:sp>
      <p:sp>
        <p:nvSpPr>
          <p:cNvPr id="46" name="Textfeld 45"/>
          <p:cNvSpPr txBox="1"/>
          <p:nvPr/>
        </p:nvSpPr>
        <p:spPr>
          <a:xfrm>
            <a:off x="6426261" y="4692742"/>
            <a:ext cx="405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sp>
        <p:nvSpPr>
          <p:cNvPr id="48" name="Rechteck 47"/>
          <p:cNvSpPr/>
          <p:nvPr/>
        </p:nvSpPr>
        <p:spPr>
          <a:xfrm>
            <a:off x="3268996" y="3037822"/>
            <a:ext cx="1970411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kumimoji="0" lang="de-DE" sz="3200" b="1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pid</a:t>
            </a: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</a:t>
            </a: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= </a:t>
            </a: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2841652" y="6553841"/>
            <a:ext cx="3021981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pid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Prozess ID des aktuellen Prozesses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83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Adressübersetzung mit </a:t>
            </a:r>
            <a:r>
              <a:rPr lang="de-DE" b="1" dirty="0" err="1"/>
              <a:t>F</a:t>
            </a:r>
            <a:r>
              <a:rPr lang="de-DE" b="1" baseline="-25000" dirty="0" err="1"/>
              <a:t>pid</a:t>
            </a:r>
            <a:r>
              <a:rPr lang="de-DE" b="1" dirty="0"/>
              <a:t>(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b="1" dirty="0"/>
              <a:t>) = </a:t>
            </a:r>
            <a:r>
              <a:rPr lang="de-DE" b="1" dirty="0">
                <a:solidFill>
                  <a:srgbClr val="0070C0"/>
                </a:solidFill>
              </a:rPr>
              <a:t>f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511847" y="6492240"/>
            <a:ext cx="601766" cy="36576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252" y="1164501"/>
            <a:ext cx="6734175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/>
        </p:nvSpPr>
        <p:spPr>
          <a:xfrm>
            <a:off x="1327340" y="2100605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logische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Adresse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4344171" y="2796831"/>
            <a:ext cx="1210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physische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Adresse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310454" y="2012268"/>
            <a:ext cx="1678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Seiten-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rahmen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nummer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5148064" y="5182806"/>
            <a:ext cx="2403960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Physischer Speicher</a:t>
            </a:r>
          </a:p>
        </p:txBody>
      </p:sp>
      <p:sp>
        <p:nvSpPr>
          <p:cNvPr id="12" name="Geschweifte Klammer links 11"/>
          <p:cNvSpPr/>
          <p:nvPr/>
        </p:nvSpPr>
        <p:spPr>
          <a:xfrm rot="16200000">
            <a:off x="4850194" y="3424071"/>
            <a:ext cx="360040" cy="1008112"/>
          </a:xfrm>
          <a:prstGeom prst="lef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4279668" y="4116829"/>
            <a:ext cx="1402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Offsetbereich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der Adresse</a:t>
            </a:r>
          </a:p>
        </p:txBody>
      </p:sp>
      <p:sp>
        <p:nvSpPr>
          <p:cNvPr id="15" name="Geschweifte Klammer rechts 14"/>
          <p:cNvSpPr/>
          <p:nvPr/>
        </p:nvSpPr>
        <p:spPr>
          <a:xfrm>
            <a:off x="6943964" y="2460645"/>
            <a:ext cx="366490" cy="1344014"/>
          </a:xfrm>
          <a:prstGeom prst="righ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7312465" y="2700969"/>
            <a:ext cx="1707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Adressenbereich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 einem Seiten-rahmen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7796572" y="1181271"/>
            <a:ext cx="122341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Adresse 0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7907764" y="4134235"/>
            <a:ext cx="123623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Maximale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physische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Adresse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340282" y="1195118"/>
            <a:ext cx="4807782" cy="64633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 = Seitenrahmennummer = die oberen Bits der Basisadresse eines Seitenrahmens</a:t>
            </a:r>
          </a:p>
        </p:txBody>
      </p:sp>
      <p:cxnSp>
        <p:nvCxnSpPr>
          <p:cNvPr id="21" name="Gerade Verbindung mit Pfeil 20"/>
          <p:cNvCxnSpPr>
            <a:stCxn id="19" idx="2"/>
          </p:cNvCxnSpPr>
          <p:nvPr/>
        </p:nvCxnSpPr>
        <p:spPr>
          <a:xfrm>
            <a:off x="2744173" y="1841449"/>
            <a:ext cx="1599998" cy="7632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nhaltsplatzhalter 14"/>
          <p:cNvSpPr>
            <a:spLocks noGrp="1"/>
          </p:cNvSpPr>
          <p:nvPr>
            <p:ph sz="quarter" idx="1"/>
          </p:nvPr>
        </p:nvSpPr>
        <p:spPr>
          <a:xfrm>
            <a:off x="165758" y="5649927"/>
            <a:ext cx="8346089" cy="1091441"/>
          </a:xfrm>
        </p:spPr>
        <p:txBody>
          <a:bodyPr>
            <a:noAutofit/>
          </a:bodyPr>
          <a:lstStyle/>
          <a:p>
            <a:r>
              <a:rPr lang="de-DE" sz="2400" dirty="0"/>
              <a:t>Nachdem </a:t>
            </a:r>
            <a:r>
              <a:rPr lang="de-DE" sz="2400" b="1" dirty="0" err="1"/>
              <a:t>F</a:t>
            </a:r>
            <a:r>
              <a:rPr lang="de-DE" sz="2400" b="1" baseline="-25000" dirty="0" err="1"/>
              <a:t>pid</a:t>
            </a:r>
            <a:r>
              <a:rPr lang="de-DE" sz="2400" b="1" dirty="0"/>
              <a:t>(</a:t>
            </a:r>
            <a:r>
              <a:rPr lang="de-DE" sz="2400" b="1" dirty="0">
                <a:solidFill>
                  <a:srgbClr val="FF0000"/>
                </a:solidFill>
              </a:rPr>
              <a:t>p</a:t>
            </a:r>
            <a:r>
              <a:rPr lang="de-DE" sz="2400" b="1" dirty="0"/>
              <a:t>) = </a:t>
            </a:r>
            <a:r>
              <a:rPr lang="de-DE" sz="2400" b="1" dirty="0">
                <a:solidFill>
                  <a:srgbClr val="0070C0"/>
                </a:solidFill>
              </a:rPr>
              <a:t>f </a:t>
            </a:r>
            <a:r>
              <a:rPr lang="de-DE" sz="2400" dirty="0"/>
              <a:t>berechnet ist, ist die Übersetzung sehr einfach: obere Bits (= Wert </a:t>
            </a:r>
            <a:r>
              <a:rPr lang="de-DE" sz="2400" b="1" dirty="0">
                <a:solidFill>
                  <a:srgbClr val="FF0000"/>
                </a:solidFill>
              </a:rPr>
              <a:t>p</a:t>
            </a:r>
            <a:r>
              <a:rPr lang="de-DE" sz="2400" dirty="0"/>
              <a:t>) einer logischen Adresse werden durch Bits mit Wert </a:t>
            </a:r>
            <a:r>
              <a:rPr lang="de-DE" sz="2400" b="1" dirty="0">
                <a:solidFill>
                  <a:srgbClr val="0070C0"/>
                </a:solidFill>
              </a:rPr>
              <a:t>f</a:t>
            </a:r>
            <a:r>
              <a:rPr lang="de-DE" sz="2400" dirty="0"/>
              <a:t> ersetzt</a:t>
            </a:r>
          </a:p>
          <a:p>
            <a:endParaRPr lang="de-DE" sz="2400" dirty="0"/>
          </a:p>
        </p:txBody>
      </p:sp>
      <p:cxnSp>
        <p:nvCxnSpPr>
          <p:cNvPr id="26" name="Straight Arrow Connector 25"/>
          <p:cNvCxnSpPr>
            <a:stCxn id="17" idx="1"/>
          </p:cNvCxnSpPr>
          <p:nvPr/>
        </p:nvCxnSpPr>
        <p:spPr>
          <a:xfrm flipH="1" flipV="1">
            <a:off x="6943964" y="1181271"/>
            <a:ext cx="852608" cy="18466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1"/>
          </p:cNvCxnSpPr>
          <p:nvPr/>
        </p:nvCxnSpPr>
        <p:spPr>
          <a:xfrm flipH="1">
            <a:off x="6943964" y="4595900"/>
            <a:ext cx="963800" cy="5497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/>
          <p:cNvSpPr txBox="1"/>
          <p:nvPr/>
        </p:nvSpPr>
        <p:spPr>
          <a:xfrm>
            <a:off x="7092279" y="1637035"/>
            <a:ext cx="19032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f*(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Seitengröße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24" name="Rechteck 23"/>
          <p:cNvSpPr/>
          <p:nvPr/>
        </p:nvSpPr>
        <p:spPr>
          <a:xfrm>
            <a:off x="1747690" y="3637626"/>
            <a:ext cx="159364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kumimoji="0" lang="de-DE" sz="2400" b="1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pid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= 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00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allAtOnce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Direkte</a:t>
            </a:r>
            <a:r>
              <a:rPr lang="en-US" dirty="0"/>
              <a:t> (</a:t>
            </a:r>
            <a:r>
              <a:rPr lang="en-US" dirty="0" err="1"/>
              <a:t>d.h</a:t>
            </a:r>
            <a:r>
              <a:rPr lang="en-US" dirty="0"/>
              <a:t>. “</a:t>
            </a:r>
            <a:r>
              <a:rPr lang="en-US" dirty="0" err="1"/>
              <a:t>Normale</a:t>
            </a:r>
            <a:r>
              <a:rPr lang="en-US" dirty="0"/>
              <a:t>”) </a:t>
            </a:r>
            <a:r>
              <a:rPr lang="en-US" dirty="0" err="1"/>
              <a:t>Seitentabellen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6AE60A-B69C-4790-82F7-3882EDF23186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3419872" y="1216152"/>
            <a:ext cx="5472608" cy="5381200"/>
          </a:xfrm>
        </p:spPr>
        <p:txBody>
          <a:bodyPr>
            <a:normAutofit/>
          </a:bodyPr>
          <a:lstStyle/>
          <a:p>
            <a:r>
              <a:rPr lang="de-DE" dirty="0"/>
              <a:t>Wie berechnet man </a:t>
            </a:r>
            <a:r>
              <a:rPr lang="de-DE" sz="2800" dirty="0" err="1"/>
              <a:t>F</a:t>
            </a:r>
            <a:r>
              <a:rPr lang="de-DE" sz="2800" baseline="-25000" dirty="0" err="1"/>
              <a:t>pid</a:t>
            </a:r>
            <a:r>
              <a:rPr lang="de-DE" sz="2800" dirty="0"/>
              <a:t>() mit einer direkten Seitentabelle?</a:t>
            </a:r>
            <a:endParaRPr lang="de-DE" dirty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 err="1">
                <a:solidFill>
                  <a:schemeClr val="tx1"/>
                </a:solidFill>
              </a:rPr>
              <a:t>F</a:t>
            </a:r>
            <a:r>
              <a:rPr lang="de-DE" sz="2600" baseline="-25000" dirty="0" err="1">
                <a:solidFill>
                  <a:schemeClr val="tx1"/>
                </a:solidFill>
              </a:rPr>
              <a:t>pid</a:t>
            </a:r>
            <a:r>
              <a:rPr lang="de-DE" sz="2600" dirty="0">
                <a:solidFill>
                  <a:schemeClr val="tx1"/>
                </a:solidFill>
              </a:rPr>
              <a:t>() ist implementiert als ein Tabellen-</a:t>
            </a:r>
            <a:r>
              <a:rPr lang="de-DE" sz="2600" b="1" dirty="0">
                <a:solidFill>
                  <a:srgbClr val="0070C0"/>
                </a:solidFill>
              </a:rPr>
              <a:t>look-</a:t>
            </a:r>
            <a:r>
              <a:rPr lang="de-DE" sz="2600" b="1" dirty="0" err="1">
                <a:solidFill>
                  <a:srgbClr val="0070C0"/>
                </a:solidFill>
              </a:rPr>
              <a:t>up</a:t>
            </a:r>
            <a:r>
              <a:rPr lang="de-DE" sz="2600" dirty="0">
                <a:solidFill>
                  <a:schemeClr val="tx1"/>
                </a:solidFill>
              </a:rPr>
              <a:t>: sehr schnell</a:t>
            </a:r>
          </a:p>
          <a:p>
            <a:r>
              <a:rPr lang="de-DE" dirty="0"/>
              <a:t>In </a:t>
            </a:r>
            <a:r>
              <a:rPr lang="de-DE" b="1" dirty="0"/>
              <a:t>DST</a:t>
            </a:r>
            <a:r>
              <a:rPr lang="de-DE" dirty="0"/>
              <a:t>, Eintrag mit Index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enthält Wert </a:t>
            </a:r>
            <a:r>
              <a:rPr lang="de-DE" b="1" dirty="0">
                <a:solidFill>
                  <a:srgbClr val="0070C0"/>
                </a:solidFill>
              </a:rPr>
              <a:t>f</a:t>
            </a:r>
            <a:r>
              <a:rPr lang="de-DE" dirty="0"/>
              <a:t> mit: </a:t>
            </a:r>
            <a:r>
              <a:rPr lang="de-DE" sz="2800" b="1" dirty="0" err="1"/>
              <a:t>F</a:t>
            </a:r>
            <a:r>
              <a:rPr lang="de-DE" sz="2800" b="1" baseline="-25000" dirty="0" err="1"/>
              <a:t>pid</a:t>
            </a:r>
            <a:r>
              <a:rPr lang="de-DE" sz="2800" b="1" dirty="0"/>
              <a:t>(</a:t>
            </a:r>
            <a:r>
              <a:rPr lang="de-DE" sz="2800" b="1" dirty="0">
                <a:solidFill>
                  <a:srgbClr val="FF0000"/>
                </a:solidFill>
              </a:rPr>
              <a:t>p</a:t>
            </a:r>
            <a:r>
              <a:rPr lang="de-DE" sz="2800" b="1" dirty="0"/>
              <a:t>) = </a:t>
            </a:r>
            <a:r>
              <a:rPr lang="de-DE" sz="2800" b="1" dirty="0">
                <a:solidFill>
                  <a:srgbClr val="0070C0"/>
                </a:solidFill>
              </a:rPr>
              <a:t>f</a:t>
            </a:r>
            <a:endParaRPr lang="de-DE" sz="2800" dirty="0"/>
          </a:p>
          <a:p>
            <a:pPr lvl="1"/>
            <a:r>
              <a:rPr lang="de-DE" dirty="0"/>
              <a:t>Index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</a:t>
            </a:r>
            <a:r>
              <a:rPr lang="de-DE" dirty="0">
                <a:sym typeface="Symbol" panose="05050102010706020507" pitchFamily="18" charset="2"/>
              </a:rPr>
              <a:t>= </a:t>
            </a:r>
            <a:r>
              <a:rPr lang="de-DE" b="1" dirty="0">
                <a:solidFill>
                  <a:srgbClr val="FF0000"/>
                </a:solidFill>
                <a:sym typeface="Symbol" panose="05050102010706020507" pitchFamily="18" charset="2"/>
              </a:rPr>
              <a:t>Seiten</a:t>
            </a:r>
            <a:r>
              <a:rPr lang="de-DE" dirty="0">
                <a:sym typeface="Symbol" panose="05050102010706020507" pitchFamily="18" charset="2"/>
              </a:rPr>
              <a:t>nummer</a:t>
            </a:r>
          </a:p>
          <a:p>
            <a:pPr lvl="1"/>
            <a:r>
              <a:rPr lang="de-DE" dirty="0">
                <a:sym typeface="Symbol" panose="05050102010706020507" pitchFamily="18" charset="2"/>
              </a:rPr>
              <a:t>Inhalt </a:t>
            </a:r>
            <a:r>
              <a:rPr lang="de-DE" b="1" dirty="0">
                <a:solidFill>
                  <a:schemeClr val="tx1"/>
                </a:solidFill>
                <a:sym typeface="Symbol" panose="05050102010706020507" pitchFamily="18" charset="2"/>
              </a:rPr>
              <a:t>DST[</a:t>
            </a:r>
            <a:r>
              <a:rPr lang="de-DE" b="1" dirty="0">
                <a:solidFill>
                  <a:srgbClr val="0070C0"/>
                </a:solidFill>
                <a:sym typeface="Symbol" panose="05050102010706020507" pitchFamily="18" charset="2"/>
              </a:rPr>
              <a:t>p</a:t>
            </a:r>
            <a:r>
              <a:rPr lang="de-DE" b="1" dirty="0">
                <a:solidFill>
                  <a:schemeClr val="tx1"/>
                </a:solidFill>
                <a:sym typeface="Symbol" panose="05050102010706020507" pitchFamily="18" charset="2"/>
              </a:rPr>
              <a:t>]</a:t>
            </a:r>
            <a:r>
              <a:rPr lang="de-DE" dirty="0">
                <a:sym typeface="Symbol" panose="05050102010706020507" pitchFamily="18" charset="2"/>
              </a:rPr>
              <a:t> = </a:t>
            </a:r>
            <a:r>
              <a:rPr lang="de-DE" b="1" dirty="0">
                <a:solidFill>
                  <a:srgbClr val="0070C0"/>
                </a:solidFill>
                <a:sym typeface="Symbol" panose="05050102010706020507" pitchFamily="18" charset="2"/>
              </a:rPr>
              <a:t>Rahmen</a:t>
            </a:r>
            <a:r>
              <a:rPr lang="de-DE" dirty="0">
                <a:sym typeface="Symbol" panose="05050102010706020507" pitchFamily="18" charset="2"/>
              </a:rPr>
              <a:t>nummer</a:t>
            </a:r>
            <a:endParaRPr lang="de-DE" dirty="0"/>
          </a:p>
          <a:p>
            <a:r>
              <a:rPr lang="de-DE" dirty="0"/>
              <a:t>Index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wird in DST </a:t>
            </a:r>
            <a:r>
              <a:rPr lang="de-DE" u="sng" dirty="0"/>
              <a:t>nicht</a:t>
            </a:r>
            <a:r>
              <a:rPr lang="de-DE" dirty="0"/>
              <a:t> gespeichert, das wäre redundant</a:t>
            </a:r>
          </a:p>
          <a:p>
            <a:r>
              <a:rPr lang="de-DE" dirty="0"/>
              <a:t>Jeder Prozess (identifiziert via </a:t>
            </a:r>
            <a:r>
              <a:rPr lang="de-DE" dirty="0" err="1"/>
              <a:t>pid</a:t>
            </a:r>
            <a:r>
              <a:rPr lang="de-DE" dirty="0"/>
              <a:t>) braucht eine </a:t>
            </a:r>
            <a:r>
              <a:rPr lang="de-DE" u="sng" dirty="0"/>
              <a:t>eigene</a:t>
            </a:r>
            <a:r>
              <a:rPr lang="de-DE" dirty="0"/>
              <a:t> Tabelle</a:t>
            </a:r>
          </a:p>
          <a:p>
            <a:pPr marL="0" indent="0">
              <a:buNone/>
            </a:pPr>
            <a:endParaRPr lang="de-DE" dirty="0"/>
          </a:p>
        </p:txBody>
      </p:sp>
      <p:grpSp>
        <p:nvGrpSpPr>
          <p:cNvPr id="17" name="Gruppieren 16"/>
          <p:cNvGrpSpPr/>
          <p:nvPr/>
        </p:nvGrpSpPr>
        <p:grpSpPr>
          <a:xfrm>
            <a:off x="1576974" y="2517236"/>
            <a:ext cx="362127" cy="1304652"/>
            <a:chOff x="1557146" y="2774518"/>
            <a:chExt cx="362127" cy="1304652"/>
          </a:xfrm>
          <a:solidFill>
            <a:schemeClr val="bg1">
              <a:lumMod val="65000"/>
            </a:schemeClr>
          </a:solidFill>
        </p:grpSpPr>
        <p:sp>
          <p:nvSpPr>
            <p:cNvPr id="9" name="Rectangle 4122"/>
            <p:cNvSpPr/>
            <p:nvPr/>
          </p:nvSpPr>
          <p:spPr>
            <a:xfrm>
              <a:off x="1557150" y="2774518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63"/>
            <p:cNvSpPr/>
            <p:nvPr/>
          </p:nvSpPr>
          <p:spPr>
            <a:xfrm>
              <a:off x="1557149" y="3100681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" name="Rectangle 64"/>
            <p:cNvSpPr/>
            <p:nvPr/>
          </p:nvSpPr>
          <p:spPr>
            <a:xfrm>
              <a:off x="1557146" y="3426844"/>
              <a:ext cx="362125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Rectangle 65"/>
            <p:cNvSpPr/>
            <p:nvPr/>
          </p:nvSpPr>
          <p:spPr>
            <a:xfrm>
              <a:off x="1557148" y="3753007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</p:grpSp>
      <p:sp>
        <p:nvSpPr>
          <p:cNvPr id="13" name="TextBox 4124"/>
          <p:cNvSpPr txBox="1"/>
          <p:nvPr/>
        </p:nvSpPr>
        <p:spPr>
          <a:xfrm>
            <a:off x="1244113" y="251717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14" name="TextBox 68"/>
          <p:cNvSpPr txBox="1"/>
          <p:nvPr/>
        </p:nvSpPr>
        <p:spPr>
          <a:xfrm>
            <a:off x="1244111" y="284536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69"/>
          <p:cNvSpPr txBox="1"/>
          <p:nvPr/>
        </p:nvSpPr>
        <p:spPr>
          <a:xfrm>
            <a:off x="1244111" y="348333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68"/>
          <p:cNvSpPr txBox="1"/>
          <p:nvPr/>
        </p:nvSpPr>
        <p:spPr>
          <a:xfrm>
            <a:off x="1244111" y="315138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547054" y="1290539"/>
            <a:ext cx="167696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Direkte</a:t>
            </a:r>
            <a:b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Seitentabelle</a:t>
            </a:r>
          </a:p>
        </p:txBody>
      </p:sp>
      <p:sp>
        <p:nvSpPr>
          <p:cNvPr id="19" name="Rechteckige Legende 18"/>
          <p:cNvSpPr/>
          <p:nvPr/>
        </p:nvSpPr>
        <p:spPr>
          <a:xfrm rot="16200000">
            <a:off x="-152870" y="2986241"/>
            <a:ext cx="1618881" cy="668844"/>
          </a:xfrm>
          <a:prstGeom prst="wedgeRectCallout">
            <a:avLst>
              <a:gd name="adj1" fmla="val 20941"/>
              <a:gd name="adj2" fmla="val 8861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Index p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eines Eintrags</a:t>
            </a:r>
          </a:p>
        </p:txBody>
      </p:sp>
      <p:sp>
        <p:nvSpPr>
          <p:cNvPr id="20" name="Rechteck 19"/>
          <p:cNvSpPr/>
          <p:nvPr/>
        </p:nvSpPr>
        <p:spPr>
          <a:xfrm>
            <a:off x="1434871" y="21188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</a:p>
        </p:txBody>
      </p:sp>
      <p:sp>
        <p:nvSpPr>
          <p:cNvPr id="21" name="Rechteckige Legende 20"/>
          <p:cNvSpPr/>
          <p:nvPr/>
        </p:nvSpPr>
        <p:spPr>
          <a:xfrm>
            <a:off x="1241590" y="4192053"/>
            <a:ext cx="1618881" cy="668844"/>
          </a:xfrm>
          <a:prstGeom prst="wedgeRectCallout">
            <a:avLst>
              <a:gd name="adj1" fmla="val -18904"/>
              <a:gd name="adj2" fmla="val -9154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Inhalt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eines Eintrags</a:t>
            </a:r>
          </a:p>
        </p:txBody>
      </p:sp>
    </p:spTree>
    <p:extLst>
      <p:ext uri="{BB962C8B-B14F-4D97-AF65-F5344CB8AC3E}">
        <p14:creationId xmlns:p14="http://schemas.microsoft.com/office/powerpoint/2010/main" val="3473611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Invertierte Seitentabellen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6AE60A-B69C-4790-82F7-3882EDF23186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3075062" y="1216152"/>
            <a:ext cx="5598784" cy="5284682"/>
          </a:xfrm>
        </p:spPr>
        <p:txBody>
          <a:bodyPr>
            <a:normAutofit/>
          </a:bodyPr>
          <a:lstStyle/>
          <a:p>
            <a:r>
              <a:rPr lang="de-DE" dirty="0"/>
              <a:t>In </a:t>
            </a:r>
            <a:r>
              <a:rPr lang="de-DE" b="1" dirty="0">
                <a:sym typeface="Symbol" panose="05050102010706020507" pitchFamily="18" charset="2"/>
              </a:rPr>
              <a:t>INVST, </a:t>
            </a:r>
            <a:r>
              <a:rPr lang="de-DE" dirty="0"/>
              <a:t>Eintrag mit Index </a:t>
            </a:r>
            <a:r>
              <a:rPr lang="de-DE" b="1" dirty="0">
                <a:solidFill>
                  <a:srgbClr val="0070C0"/>
                </a:solidFill>
              </a:rPr>
              <a:t>f</a:t>
            </a:r>
            <a:r>
              <a:rPr lang="de-DE" dirty="0"/>
              <a:t> enthält Wert </a:t>
            </a:r>
            <a:r>
              <a:rPr lang="de-DE" b="1" dirty="0"/>
              <a:t>(</a:t>
            </a:r>
            <a:r>
              <a:rPr lang="de-DE" dirty="0" err="1"/>
              <a:t>pid,</a:t>
            </a:r>
            <a:r>
              <a:rPr lang="de-DE" b="1" dirty="0" err="1">
                <a:solidFill>
                  <a:srgbClr val="FF0000"/>
                </a:solidFill>
              </a:rPr>
              <a:t>p</a:t>
            </a:r>
            <a:r>
              <a:rPr lang="de-DE" b="1" dirty="0"/>
              <a:t>)</a:t>
            </a:r>
            <a:r>
              <a:rPr lang="de-DE" dirty="0"/>
              <a:t> mit: </a:t>
            </a:r>
            <a:r>
              <a:rPr lang="de-DE" sz="2800" b="1" dirty="0" err="1"/>
              <a:t>F</a:t>
            </a:r>
            <a:r>
              <a:rPr lang="de-DE" sz="2800" b="1" baseline="-25000" dirty="0" err="1"/>
              <a:t>pid</a:t>
            </a:r>
            <a:r>
              <a:rPr lang="de-DE" sz="2800" b="1" dirty="0"/>
              <a:t>(</a:t>
            </a:r>
            <a:r>
              <a:rPr lang="de-DE" sz="2800" b="1" dirty="0">
                <a:solidFill>
                  <a:srgbClr val="FF0000"/>
                </a:solidFill>
              </a:rPr>
              <a:t>p</a:t>
            </a:r>
            <a:r>
              <a:rPr lang="de-DE" sz="2800" b="1" dirty="0"/>
              <a:t>) = </a:t>
            </a:r>
            <a:r>
              <a:rPr lang="de-DE" sz="2800" b="1" dirty="0">
                <a:solidFill>
                  <a:srgbClr val="0070C0"/>
                </a:solidFill>
              </a:rPr>
              <a:t>f</a:t>
            </a:r>
            <a:endParaRPr lang="de-DE" sz="2800" dirty="0"/>
          </a:p>
          <a:p>
            <a:pPr lvl="1"/>
            <a:r>
              <a:rPr lang="de-DE" dirty="0"/>
              <a:t>Index </a:t>
            </a:r>
            <a:r>
              <a:rPr lang="de-DE" b="1" dirty="0">
                <a:solidFill>
                  <a:srgbClr val="0070C0"/>
                </a:solidFill>
              </a:rPr>
              <a:t>f</a:t>
            </a:r>
            <a:r>
              <a:rPr lang="de-DE" dirty="0"/>
              <a:t> </a:t>
            </a:r>
            <a:r>
              <a:rPr lang="de-DE" dirty="0">
                <a:sym typeface="Symbol" panose="05050102010706020507" pitchFamily="18" charset="2"/>
              </a:rPr>
              <a:t>= </a:t>
            </a:r>
            <a:r>
              <a:rPr lang="de-DE" b="1" dirty="0">
                <a:solidFill>
                  <a:srgbClr val="0070C0"/>
                </a:solidFill>
                <a:sym typeface="Symbol" panose="05050102010706020507" pitchFamily="18" charset="2"/>
              </a:rPr>
              <a:t>Rahmen</a:t>
            </a:r>
            <a:r>
              <a:rPr lang="de-DE" dirty="0">
                <a:sym typeface="Symbol" panose="05050102010706020507" pitchFamily="18" charset="2"/>
              </a:rPr>
              <a:t>nummer</a:t>
            </a:r>
          </a:p>
          <a:p>
            <a:pPr lvl="1"/>
            <a:r>
              <a:rPr lang="de-DE" dirty="0">
                <a:sym typeface="Symbol" panose="05050102010706020507" pitchFamily="18" charset="2"/>
              </a:rPr>
              <a:t>Inhalt </a:t>
            </a:r>
            <a:r>
              <a:rPr lang="de-DE" b="1" dirty="0">
                <a:solidFill>
                  <a:schemeClr val="tx1"/>
                </a:solidFill>
                <a:sym typeface="Symbol" panose="05050102010706020507" pitchFamily="18" charset="2"/>
              </a:rPr>
              <a:t>INVST[</a:t>
            </a:r>
            <a:r>
              <a:rPr lang="de-DE" b="1" dirty="0">
                <a:solidFill>
                  <a:srgbClr val="0070C0"/>
                </a:solidFill>
                <a:sym typeface="Symbol" panose="05050102010706020507" pitchFamily="18" charset="2"/>
              </a:rPr>
              <a:t>f</a:t>
            </a:r>
            <a:r>
              <a:rPr lang="de-DE" b="1" dirty="0">
                <a:solidFill>
                  <a:schemeClr val="tx1"/>
                </a:solidFill>
                <a:sym typeface="Symbol" panose="05050102010706020507" pitchFamily="18" charset="2"/>
              </a:rPr>
              <a:t>]</a:t>
            </a:r>
            <a:r>
              <a:rPr lang="de-DE" dirty="0">
                <a:sym typeface="Symbol" panose="05050102010706020507" pitchFamily="18" charset="2"/>
              </a:rPr>
              <a:t> = (</a:t>
            </a:r>
            <a:r>
              <a:rPr lang="de-DE" dirty="0">
                <a:solidFill>
                  <a:schemeClr val="tx1"/>
                </a:solidFill>
                <a:sym typeface="Symbol" panose="05050102010706020507" pitchFamily="18" charset="2"/>
              </a:rPr>
              <a:t>Prozess-ID </a:t>
            </a:r>
            <a:r>
              <a:rPr lang="de-DE" b="1" dirty="0" err="1">
                <a:solidFill>
                  <a:schemeClr val="tx1"/>
                </a:solidFill>
                <a:sym typeface="Symbol" panose="05050102010706020507" pitchFamily="18" charset="2"/>
              </a:rPr>
              <a:t>pid</a:t>
            </a:r>
            <a:r>
              <a:rPr lang="de-DE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r>
              <a:rPr lang="de-DE" b="1" dirty="0">
                <a:solidFill>
                  <a:srgbClr val="FF0000"/>
                </a:solidFill>
                <a:sym typeface="Symbol" panose="05050102010706020507" pitchFamily="18" charset="2"/>
              </a:rPr>
              <a:t>Seiten</a:t>
            </a:r>
            <a:r>
              <a:rPr lang="de-DE" dirty="0">
                <a:solidFill>
                  <a:schemeClr val="tx1"/>
                </a:solidFill>
                <a:sym typeface="Symbol" panose="05050102010706020507" pitchFamily="18" charset="2"/>
              </a:rPr>
              <a:t>nummer </a:t>
            </a:r>
            <a:r>
              <a:rPr lang="de-DE" b="1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de-DE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endParaRPr lang="de-DE" dirty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>
                <a:solidFill>
                  <a:schemeClr val="tx1"/>
                </a:solidFill>
              </a:rPr>
              <a:t>D.h. um </a:t>
            </a:r>
            <a:r>
              <a:rPr lang="de-DE" sz="2600" dirty="0" err="1">
                <a:solidFill>
                  <a:schemeClr val="tx1"/>
                </a:solidFill>
              </a:rPr>
              <a:t>F</a:t>
            </a:r>
            <a:r>
              <a:rPr lang="de-DE" sz="2600" baseline="-25000" dirty="0" err="1">
                <a:solidFill>
                  <a:schemeClr val="tx1"/>
                </a:solidFill>
              </a:rPr>
              <a:t>pid</a:t>
            </a:r>
            <a:r>
              <a:rPr lang="de-DE" sz="2600" dirty="0">
                <a:solidFill>
                  <a:schemeClr val="tx1"/>
                </a:solidFill>
              </a:rPr>
              <a:t>() zu berechnen, muss man </a:t>
            </a:r>
            <a:r>
              <a:rPr lang="de-DE" sz="2600" u="sng" dirty="0">
                <a:solidFill>
                  <a:schemeClr val="tx1"/>
                </a:solidFill>
              </a:rPr>
              <a:t>suchen</a:t>
            </a:r>
            <a:r>
              <a:rPr lang="de-DE" sz="2600" dirty="0">
                <a:solidFill>
                  <a:schemeClr val="tx1"/>
                </a:solidFill>
              </a:rPr>
              <a:t>: ggf. aufwändig</a:t>
            </a:r>
          </a:p>
          <a:p>
            <a:r>
              <a:rPr lang="de-DE" dirty="0"/>
              <a:t>Es gibt </a:t>
            </a:r>
            <a:r>
              <a:rPr lang="de-DE" u="sng" dirty="0"/>
              <a:t>eine einzige</a:t>
            </a:r>
            <a:r>
              <a:rPr lang="de-DE" dirty="0"/>
              <a:t> Tabelle für alle Prozesse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9" name="Rectangle 4122"/>
          <p:cNvSpPr/>
          <p:nvPr/>
        </p:nvSpPr>
        <p:spPr>
          <a:xfrm>
            <a:off x="1576985" y="2517236"/>
            <a:ext cx="969931" cy="3261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(99,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10" name="Rectangle 63"/>
          <p:cNvSpPr/>
          <p:nvPr/>
        </p:nvSpPr>
        <p:spPr>
          <a:xfrm>
            <a:off x="1576982" y="2843399"/>
            <a:ext cx="969931" cy="3261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(99,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64"/>
          <p:cNvSpPr/>
          <p:nvPr/>
        </p:nvSpPr>
        <p:spPr>
          <a:xfrm>
            <a:off x="1576974" y="3169562"/>
            <a:ext cx="975245" cy="3375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(43, 6)</a:t>
            </a:r>
          </a:p>
        </p:txBody>
      </p:sp>
      <p:sp>
        <p:nvSpPr>
          <p:cNvPr id="12" name="Rectangle 65"/>
          <p:cNvSpPr/>
          <p:nvPr/>
        </p:nvSpPr>
        <p:spPr>
          <a:xfrm>
            <a:off x="1576979" y="3495725"/>
            <a:ext cx="969931" cy="3261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(99,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4124"/>
          <p:cNvSpPr txBox="1"/>
          <p:nvPr/>
        </p:nvSpPr>
        <p:spPr>
          <a:xfrm>
            <a:off x="1244113" y="251717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14" name="TextBox 68"/>
          <p:cNvSpPr txBox="1"/>
          <p:nvPr/>
        </p:nvSpPr>
        <p:spPr>
          <a:xfrm>
            <a:off x="1244111" y="284536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69"/>
          <p:cNvSpPr txBox="1"/>
          <p:nvPr/>
        </p:nvSpPr>
        <p:spPr>
          <a:xfrm>
            <a:off x="1244111" y="348333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68"/>
          <p:cNvSpPr txBox="1"/>
          <p:nvPr/>
        </p:nvSpPr>
        <p:spPr>
          <a:xfrm>
            <a:off x="1244111" y="315138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547054" y="1290539"/>
            <a:ext cx="167696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Invertierte</a:t>
            </a:r>
            <a:b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Seitentabelle</a:t>
            </a:r>
          </a:p>
        </p:txBody>
      </p:sp>
      <p:sp>
        <p:nvSpPr>
          <p:cNvPr id="19" name="Rechteckige Legende 18"/>
          <p:cNvSpPr/>
          <p:nvPr/>
        </p:nvSpPr>
        <p:spPr>
          <a:xfrm rot="16200000">
            <a:off x="-152870" y="2986241"/>
            <a:ext cx="1618881" cy="668844"/>
          </a:xfrm>
          <a:prstGeom prst="wedgeRectCallout">
            <a:avLst>
              <a:gd name="adj1" fmla="val 20941"/>
              <a:gd name="adj2" fmla="val 8861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Index f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eines Eintrags</a:t>
            </a:r>
          </a:p>
        </p:txBody>
      </p:sp>
      <p:sp>
        <p:nvSpPr>
          <p:cNvPr id="20" name="Rechteck 19"/>
          <p:cNvSpPr/>
          <p:nvPr/>
        </p:nvSpPr>
        <p:spPr>
          <a:xfrm>
            <a:off x="1629774" y="2094524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INVST</a:t>
            </a:r>
          </a:p>
        </p:txBody>
      </p:sp>
      <p:sp>
        <p:nvSpPr>
          <p:cNvPr id="21" name="Rechteckige Legende 20"/>
          <p:cNvSpPr/>
          <p:nvPr/>
        </p:nvSpPr>
        <p:spPr>
          <a:xfrm>
            <a:off x="937562" y="4581128"/>
            <a:ext cx="1884382" cy="668844"/>
          </a:xfrm>
          <a:prstGeom prst="wedgeRectCallout">
            <a:avLst>
              <a:gd name="adj1" fmla="val 8430"/>
              <a:gd name="adj2" fmla="val -10625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Inhalt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de-D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pid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eines Eintrags</a:t>
            </a:r>
          </a:p>
        </p:txBody>
      </p:sp>
      <p:sp>
        <p:nvSpPr>
          <p:cNvPr id="22" name="Rectangle 65"/>
          <p:cNvSpPr/>
          <p:nvPr/>
        </p:nvSpPr>
        <p:spPr>
          <a:xfrm>
            <a:off x="1576979" y="3821888"/>
            <a:ext cx="969931" cy="3261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(99,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  <a:endParaRPr kumimoji="0" lang="de-DE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69"/>
          <p:cNvSpPr txBox="1"/>
          <p:nvPr/>
        </p:nvSpPr>
        <p:spPr>
          <a:xfrm>
            <a:off x="1244111" y="379595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79605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Hierarchische Seitentabellen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6AE60A-B69C-4790-82F7-3882EDF23186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3505222" y="1216152"/>
            <a:ext cx="5315250" cy="5431100"/>
          </a:xfrm>
        </p:spPr>
        <p:txBody>
          <a:bodyPr>
            <a:normAutofit/>
          </a:bodyPr>
          <a:lstStyle/>
          <a:p>
            <a:r>
              <a:rPr lang="de-DE" dirty="0"/>
              <a:t>Eine hierarchische Tabelle </a:t>
            </a:r>
            <a:r>
              <a:rPr lang="de-DE" b="1" dirty="0"/>
              <a:t>HST</a:t>
            </a:r>
            <a:r>
              <a:rPr lang="de-DE" dirty="0"/>
              <a:t> benutzt </a:t>
            </a:r>
            <a:r>
              <a:rPr lang="de-DE" dirty="0" err="1">
                <a:solidFill>
                  <a:srgbClr val="0070C0"/>
                </a:solidFill>
              </a:rPr>
              <a:t>look-up</a:t>
            </a:r>
            <a:r>
              <a:rPr lang="de-DE" dirty="0"/>
              <a:t> (wie eine direkte Tabelle), d.h.: </a:t>
            </a:r>
            <a:r>
              <a:rPr lang="de-DE" b="1" dirty="0" err="1"/>
              <a:t>F</a:t>
            </a:r>
            <a:r>
              <a:rPr lang="de-DE" b="1" baseline="-25000" dirty="0" err="1"/>
              <a:t>pid</a:t>
            </a:r>
            <a:r>
              <a:rPr lang="de-DE" b="1" dirty="0"/>
              <a:t>(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b="1" dirty="0"/>
              <a:t>) = </a:t>
            </a:r>
            <a:r>
              <a:rPr lang="de-DE" b="1" dirty="0" err="1"/>
              <a:t>HST</a:t>
            </a:r>
            <a:r>
              <a:rPr lang="de-DE" b="1" baseline="-25000" dirty="0" err="1"/>
              <a:t>pid</a:t>
            </a:r>
            <a:r>
              <a:rPr lang="de-DE" b="1" dirty="0"/>
              <a:t>[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b="1" dirty="0"/>
              <a:t>]</a:t>
            </a:r>
          </a:p>
          <a:p>
            <a:r>
              <a:rPr lang="de-DE" sz="2400" dirty="0"/>
              <a:t>Aber HST ist </a:t>
            </a:r>
            <a:r>
              <a:rPr lang="de-DE" sz="2400" u="sng" dirty="0"/>
              <a:t>zerteilt</a:t>
            </a:r>
            <a:r>
              <a:rPr lang="de-DE" sz="2400" dirty="0"/>
              <a:t> </a:t>
            </a:r>
            <a:r>
              <a:rPr lang="de-DE" sz="2400" u="sng" dirty="0"/>
              <a:t>in</a:t>
            </a:r>
            <a:r>
              <a:rPr lang="de-DE" sz="2400" dirty="0"/>
              <a:t> </a:t>
            </a:r>
            <a:r>
              <a:rPr lang="de-DE" sz="2400" u="sng" dirty="0">
                <a:solidFill>
                  <a:srgbClr val="0070C0"/>
                </a:solidFill>
              </a:rPr>
              <a:t>Abschnitte</a:t>
            </a:r>
            <a:r>
              <a:rPr lang="de-DE" sz="2400" u="sng" dirty="0"/>
              <a:t> </a:t>
            </a:r>
            <a:r>
              <a:rPr lang="de-DE" sz="2400" dirty="0"/>
              <a:t>mit je 2</a:t>
            </a:r>
            <a:r>
              <a:rPr lang="de-DE" sz="2400" baseline="30000" dirty="0"/>
              <a:t>k</a:t>
            </a:r>
            <a:r>
              <a:rPr lang="de-DE" sz="2400" dirty="0"/>
              <a:t> Einträgen (z.B. k=10), und </a:t>
            </a:r>
            <a:r>
              <a:rPr lang="de-DE" sz="2400" i="1" dirty="0"/>
              <a:t>nur manche dieser Abschnitte existieren</a:t>
            </a:r>
          </a:p>
          <a:p>
            <a:r>
              <a:rPr lang="de-DE" sz="2400" dirty="0"/>
              <a:t>Jeder Abschnitt kann „irgendwo“ im Speicher anfangen</a:t>
            </a:r>
          </a:p>
          <a:p>
            <a:pPr lvl="1"/>
            <a:r>
              <a:rPr lang="de-DE" dirty="0"/>
              <a:t>Es werden nur solche Abschnitte angelegt, die die tatsächlich verwendeten logischen Adressenbereiche abdecken</a:t>
            </a:r>
          </a:p>
          <a:p>
            <a:pPr marL="0" indent="0">
              <a:buNone/>
            </a:pPr>
            <a:endParaRPr lang="de-DE" dirty="0"/>
          </a:p>
        </p:txBody>
      </p:sp>
      <p:grpSp>
        <p:nvGrpSpPr>
          <p:cNvPr id="17" name="Gruppieren 16"/>
          <p:cNvGrpSpPr/>
          <p:nvPr/>
        </p:nvGrpSpPr>
        <p:grpSpPr>
          <a:xfrm>
            <a:off x="1557044" y="1734258"/>
            <a:ext cx="362127" cy="1304652"/>
            <a:chOff x="1557146" y="2774518"/>
            <a:chExt cx="362127" cy="1304652"/>
          </a:xfrm>
          <a:solidFill>
            <a:schemeClr val="bg1">
              <a:lumMod val="65000"/>
            </a:schemeClr>
          </a:solidFill>
        </p:grpSpPr>
        <p:sp>
          <p:nvSpPr>
            <p:cNvPr id="9" name="Rectangle 4122"/>
            <p:cNvSpPr/>
            <p:nvPr/>
          </p:nvSpPr>
          <p:spPr>
            <a:xfrm>
              <a:off x="1557150" y="2774518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63"/>
            <p:cNvSpPr/>
            <p:nvPr/>
          </p:nvSpPr>
          <p:spPr>
            <a:xfrm>
              <a:off x="1557149" y="3100681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" name="Rectangle 64"/>
            <p:cNvSpPr/>
            <p:nvPr/>
          </p:nvSpPr>
          <p:spPr>
            <a:xfrm>
              <a:off x="1557146" y="3426844"/>
              <a:ext cx="362125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Rectangle 65"/>
            <p:cNvSpPr/>
            <p:nvPr/>
          </p:nvSpPr>
          <p:spPr>
            <a:xfrm>
              <a:off x="1557148" y="3753007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</p:txBody>
        </p:sp>
      </p:grpSp>
      <p:sp>
        <p:nvSpPr>
          <p:cNvPr id="13" name="TextBox 4124"/>
          <p:cNvSpPr txBox="1"/>
          <p:nvPr/>
        </p:nvSpPr>
        <p:spPr>
          <a:xfrm>
            <a:off x="1199559" y="173425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</a:p>
        </p:txBody>
      </p:sp>
      <p:sp>
        <p:nvSpPr>
          <p:cNvPr id="14" name="TextBox 68"/>
          <p:cNvSpPr txBox="1"/>
          <p:nvPr/>
        </p:nvSpPr>
        <p:spPr>
          <a:xfrm>
            <a:off x="1199557" y="206244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69"/>
          <p:cNvSpPr txBox="1"/>
          <p:nvPr/>
        </p:nvSpPr>
        <p:spPr>
          <a:xfrm>
            <a:off x="1199557" y="270041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6" name="TextBox 68"/>
          <p:cNvSpPr txBox="1"/>
          <p:nvPr/>
        </p:nvSpPr>
        <p:spPr>
          <a:xfrm>
            <a:off x="1199557" y="236846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1434340" y="1290539"/>
            <a:ext cx="68938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HST</a:t>
            </a:r>
          </a:p>
        </p:txBody>
      </p:sp>
      <p:sp>
        <p:nvSpPr>
          <p:cNvPr id="19" name="Rechteckige Legende 18"/>
          <p:cNvSpPr/>
          <p:nvPr/>
        </p:nvSpPr>
        <p:spPr>
          <a:xfrm rot="16200000">
            <a:off x="-184377" y="2285137"/>
            <a:ext cx="1618881" cy="668844"/>
          </a:xfrm>
          <a:prstGeom prst="wedgeRectCallout">
            <a:avLst>
              <a:gd name="adj1" fmla="val 20941"/>
              <a:gd name="adj2" fmla="val 8861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Index p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eines Eintrags</a:t>
            </a:r>
          </a:p>
        </p:txBody>
      </p:sp>
      <p:sp>
        <p:nvSpPr>
          <p:cNvPr id="21" name="Rechteckige Legende 20"/>
          <p:cNvSpPr/>
          <p:nvPr/>
        </p:nvSpPr>
        <p:spPr>
          <a:xfrm>
            <a:off x="2237375" y="1755770"/>
            <a:ext cx="1182394" cy="901567"/>
          </a:xfrm>
          <a:prstGeom prst="wedgeRectCallout">
            <a:avLst>
              <a:gd name="adj1" fmla="val -78139"/>
              <a:gd name="adj2" fmla="val -70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Inhalt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eines Eintrags</a:t>
            </a:r>
          </a:p>
        </p:txBody>
      </p:sp>
      <p:sp>
        <p:nvSpPr>
          <p:cNvPr id="23" name="TextBox 68"/>
          <p:cNvSpPr txBox="1"/>
          <p:nvPr/>
        </p:nvSpPr>
        <p:spPr>
          <a:xfrm>
            <a:off x="516676" y="3990480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1533357</a:t>
            </a:r>
          </a:p>
        </p:txBody>
      </p:sp>
      <p:sp>
        <p:nvSpPr>
          <p:cNvPr id="24" name="TextBox 69"/>
          <p:cNvSpPr txBox="1"/>
          <p:nvPr/>
        </p:nvSpPr>
        <p:spPr>
          <a:xfrm>
            <a:off x="516676" y="4628451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1533359</a:t>
            </a:r>
          </a:p>
        </p:txBody>
      </p:sp>
      <p:sp>
        <p:nvSpPr>
          <p:cNvPr id="25" name="TextBox 68"/>
          <p:cNvSpPr txBox="1"/>
          <p:nvPr/>
        </p:nvSpPr>
        <p:spPr>
          <a:xfrm>
            <a:off x="516676" y="4296501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1533358</a:t>
            </a:r>
          </a:p>
        </p:txBody>
      </p:sp>
      <p:sp>
        <p:nvSpPr>
          <p:cNvPr id="27" name="TextBox 4124"/>
          <p:cNvSpPr txBox="1"/>
          <p:nvPr/>
        </p:nvSpPr>
        <p:spPr>
          <a:xfrm>
            <a:off x="1044490" y="509287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sp>
        <p:nvSpPr>
          <p:cNvPr id="28" name="TextBox 68"/>
          <p:cNvSpPr txBox="1"/>
          <p:nvPr/>
        </p:nvSpPr>
        <p:spPr>
          <a:xfrm>
            <a:off x="866131" y="5683118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de-DE" sz="16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52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-3</a:t>
            </a:r>
          </a:p>
        </p:txBody>
      </p:sp>
      <p:sp>
        <p:nvSpPr>
          <p:cNvPr id="29" name="TextBox 69"/>
          <p:cNvSpPr txBox="1"/>
          <p:nvPr/>
        </p:nvSpPr>
        <p:spPr>
          <a:xfrm>
            <a:off x="866131" y="632108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de-DE" sz="16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52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-1</a:t>
            </a:r>
          </a:p>
        </p:txBody>
      </p:sp>
      <p:sp>
        <p:nvSpPr>
          <p:cNvPr id="30" name="TextBox 68"/>
          <p:cNvSpPr txBox="1"/>
          <p:nvPr/>
        </p:nvSpPr>
        <p:spPr>
          <a:xfrm>
            <a:off x="866131" y="598913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de-DE" sz="16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52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-2</a:t>
            </a:r>
          </a:p>
        </p:txBody>
      </p:sp>
      <p:sp>
        <p:nvSpPr>
          <p:cNvPr id="31" name="TextBox 4124"/>
          <p:cNvSpPr txBox="1"/>
          <p:nvPr/>
        </p:nvSpPr>
        <p:spPr>
          <a:xfrm>
            <a:off x="1108291" y="332918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grpSp>
        <p:nvGrpSpPr>
          <p:cNvPr id="32" name="Gruppieren 31"/>
          <p:cNvGrpSpPr/>
          <p:nvPr/>
        </p:nvGrpSpPr>
        <p:grpSpPr>
          <a:xfrm>
            <a:off x="1553206" y="3990480"/>
            <a:ext cx="635609" cy="978489"/>
            <a:chOff x="1557146" y="2774518"/>
            <a:chExt cx="362127" cy="978489"/>
          </a:xfrm>
          <a:solidFill>
            <a:schemeClr val="bg1">
              <a:lumMod val="65000"/>
            </a:schemeClr>
          </a:solidFill>
        </p:grpSpPr>
        <p:sp>
          <p:nvSpPr>
            <p:cNvPr id="33" name="Rectangle 4122"/>
            <p:cNvSpPr/>
            <p:nvPr/>
          </p:nvSpPr>
          <p:spPr>
            <a:xfrm>
              <a:off x="1557150" y="2774518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34" name="Rectangle 63"/>
            <p:cNvSpPr/>
            <p:nvPr/>
          </p:nvSpPr>
          <p:spPr>
            <a:xfrm>
              <a:off x="1557149" y="3100681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35" name="Rectangle 64"/>
            <p:cNvSpPr/>
            <p:nvPr/>
          </p:nvSpPr>
          <p:spPr>
            <a:xfrm>
              <a:off x="1557146" y="3426844"/>
              <a:ext cx="362125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107</a:t>
              </a:r>
            </a:p>
          </p:txBody>
        </p:sp>
      </p:grpSp>
      <p:grpSp>
        <p:nvGrpSpPr>
          <p:cNvPr id="37" name="Gruppieren 36"/>
          <p:cNvGrpSpPr/>
          <p:nvPr/>
        </p:nvGrpSpPr>
        <p:grpSpPr>
          <a:xfrm>
            <a:off x="1555717" y="5668763"/>
            <a:ext cx="635609" cy="978489"/>
            <a:chOff x="1557146" y="2774518"/>
            <a:chExt cx="362127" cy="978489"/>
          </a:xfrm>
          <a:solidFill>
            <a:schemeClr val="bg1">
              <a:lumMod val="65000"/>
            </a:schemeClr>
          </a:solidFill>
        </p:grpSpPr>
        <p:sp>
          <p:nvSpPr>
            <p:cNvPr id="38" name="Rectangle 4122"/>
            <p:cNvSpPr/>
            <p:nvPr/>
          </p:nvSpPr>
          <p:spPr>
            <a:xfrm>
              <a:off x="1557150" y="2774518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9" name="Rectangle 63"/>
            <p:cNvSpPr/>
            <p:nvPr/>
          </p:nvSpPr>
          <p:spPr>
            <a:xfrm>
              <a:off x="1557149" y="3100681"/>
              <a:ext cx="362123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Rectangle 64"/>
            <p:cNvSpPr/>
            <p:nvPr/>
          </p:nvSpPr>
          <p:spPr>
            <a:xfrm>
              <a:off x="1557146" y="3426844"/>
              <a:ext cx="362125" cy="3261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20</a:t>
              </a:r>
            </a:p>
          </p:txBody>
        </p:sp>
      </p:grpSp>
      <p:sp>
        <p:nvSpPr>
          <p:cNvPr id="41" name="Geschweifte Klammer rechts 40"/>
          <p:cNvSpPr/>
          <p:nvPr/>
        </p:nvSpPr>
        <p:spPr>
          <a:xfrm>
            <a:off x="1558260" y="3046322"/>
            <a:ext cx="393444" cy="936745"/>
          </a:xfrm>
          <a:prstGeom prst="rightBrac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Geschweifte Klammer rechts 41"/>
          <p:cNvSpPr/>
          <p:nvPr/>
        </p:nvSpPr>
        <p:spPr>
          <a:xfrm>
            <a:off x="1569846" y="4979894"/>
            <a:ext cx="393444" cy="688869"/>
          </a:xfrm>
          <a:prstGeom prst="rightBrace">
            <a:avLst>
              <a:gd name="adj1" fmla="val 8333"/>
              <a:gd name="adj2" fmla="val 48846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2004993" y="2992763"/>
            <a:ext cx="11528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Abschnitte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nicht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vorhanden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2188811" y="4860176"/>
            <a:ext cx="1475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Abschnitte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nicht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vorhanden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ige Legende 43"/>
          <p:cNvSpPr/>
          <p:nvPr/>
        </p:nvSpPr>
        <p:spPr>
          <a:xfrm>
            <a:off x="2355361" y="3958609"/>
            <a:ext cx="1182394" cy="669842"/>
          </a:xfrm>
          <a:prstGeom prst="wedgeRectCallout">
            <a:avLst>
              <a:gd name="adj1" fmla="val -64690"/>
              <a:gd name="adj2" fmla="val -4355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Abschnitt startet in RAM ab 1340000</a:t>
            </a:r>
          </a:p>
        </p:txBody>
      </p:sp>
      <p:sp>
        <p:nvSpPr>
          <p:cNvPr id="45" name="Rechteckige Legende 44"/>
          <p:cNvSpPr/>
          <p:nvPr/>
        </p:nvSpPr>
        <p:spPr>
          <a:xfrm>
            <a:off x="2339095" y="5977410"/>
            <a:ext cx="1182394" cy="669842"/>
          </a:xfrm>
          <a:prstGeom prst="wedgeRectCallout">
            <a:avLst>
              <a:gd name="adj1" fmla="val -61327"/>
              <a:gd name="adj2" fmla="val -934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Abschnitt startet in RAM ab 10000</a:t>
            </a:r>
          </a:p>
        </p:txBody>
      </p:sp>
    </p:spTree>
    <p:extLst>
      <p:ext uri="{BB962C8B-B14F-4D97-AF65-F5344CB8AC3E}">
        <p14:creationId xmlns:p14="http://schemas.microsoft.com/office/powerpoint/2010/main" val="11315373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Hierarchische Seitentabellen bei IA32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2009263"/>
          </a:xfrm>
        </p:spPr>
        <p:txBody>
          <a:bodyPr>
            <a:normAutofit/>
          </a:bodyPr>
          <a:lstStyle/>
          <a:p>
            <a:r>
              <a:rPr lang="de-DE" sz="2800" dirty="0"/>
              <a:t>Oberste Bits (hier p</a:t>
            </a:r>
            <a:r>
              <a:rPr lang="de-DE" sz="2800" baseline="-25000" dirty="0"/>
              <a:t>1</a:t>
            </a:r>
            <a:r>
              <a:rPr lang="de-DE" sz="2800" dirty="0"/>
              <a:t>) einer logischen Adresse indexieren die </a:t>
            </a:r>
            <a:r>
              <a:rPr lang="de-DE" sz="2800" b="1" dirty="0">
                <a:solidFill>
                  <a:srgbClr val="FF0000"/>
                </a:solidFill>
              </a:rPr>
              <a:t>Page Directory</a:t>
            </a:r>
            <a:r>
              <a:rPr lang="de-DE" sz="2800" dirty="0"/>
              <a:t>, die Zeiger auf die Anfänge der einzelner Abschnitte enthält</a:t>
            </a:r>
          </a:p>
          <a:p>
            <a:pPr lvl="1"/>
            <a:r>
              <a:rPr lang="de-DE" sz="2500" dirty="0"/>
              <a:t>Bei IA32e gibt es 3 </a:t>
            </a:r>
            <a:r>
              <a:rPr lang="de-DE" sz="2500" dirty="0">
                <a:solidFill>
                  <a:srgbClr val="FF0000"/>
                </a:solidFill>
              </a:rPr>
              <a:t>Levels</a:t>
            </a:r>
            <a:r>
              <a:rPr lang="de-DE" sz="2500" dirty="0"/>
              <a:t> dieser </a:t>
            </a:r>
            <a:r>
              <a:rPr lang="de-DE" sz="2500" dirty="0" err="1"/>
              <a:t>Directories</a:t>
            </a:r>
            <a:r>
              <a:rPr lang="de-DE" sz="2500" dirty="0">
                <a:solidFill>
                  <a:schemeClr val="tx1"/>
                </a:solidFill>
              </a:rPr>
              <a:t> </a:t>
            </a:r>
            <a:endParaRPr lang="de-DE" sz="2500" dirty="0"/>
          </a:p>
          <a:p>
            <a:endParaRPr lang="de-DE" dirty="0"/>
          </a:p>
          <a:p>
            <a:endParaRPr lang="de-DE" dirty="0"/>
          </a:p>
          <a:p>
            <a:endParaRPr lang="de-DE" i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10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3304663"/>
            <a:ext cx="7097713" cy="29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feld 5"/>
          <p:cNvSpPr txBox="1"/>
          <p:nvPr/>
        </p:nvSpPr>
        <p:spPr>
          <a:xfrm>
            <a:off x="80201" y="5733583"/>
            <a:ext cx="431413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Directory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/Stufe 1: enthält Zeiger </a:t>
            </a:r>
            <a:b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mit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physischen Adressen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auf Anfang </a:t>
            </a:r>
            <a:b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eines Abschnitts/“Stückes“ der S-Tabelle</a:t>
            </a:r>
          </a:p>
        </p:txBody>
      </p:sp>
      <p:cxnSp>
        <p:nvCxnSpPr>
          <p:cNvPr id="8" name="Gerade Verbindung mit Pfeil 7"/>
          <p:cNvCxnSpPr/>
          <p:nvPr/>
        </p:nvCxnSpPr>
        <p:spPr>
          <a:xfrm flipV="1">
            <a:off x="2225393" y="4999289"/>
            <a:ext cx="573044" cy="72371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3281956" y="3310034"/>
            <a:ext cx="263411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Physische Adresse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Anfangs des Abschnitts</a:t>
            </a:r>
          </a:p>
        </p:txBody>
      </p:sp>
      <p:cxnSp>
        <p:nvCxnSpPr>
          <p:cNvPr id="12" name="Gerade Verbindung mit Pfeil 11"/>
          <p:cNvCxnSpPr>
            <a:stCxn id="10" idx="2"/>
          </p:cNvCxnSpPr>
          <p:nvPr/>
        </p:nvCxnSpPr>
        <p:spPr>
          <a:xfrm flipH="1">
            <a:off x="4572000" y="3956365"/>
            <a:ext cx="27016" cy="71645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6084168" y="3304663"/>
            <a:ext cx="2416111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Stufe 2: ein Abschnitt </a:t>
            </a:r>
            <a:b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der Seitentabelle</a:t>
            </a:r>
          </a:p>
        </p:txBody>
      </p:sp>
      <p:cxnSp>
        <p:nvCxnSpPr>
          <p:cNvPr id="15" name="Gerade Verbindung mit Pfeil 14"/>
          <p:cNvCxnSpPr>
            <a:stCxn id="13" idx="2"/>
          </p:cNvCxnSpPr>
          <p:nvPr/>
        </p:nvCxnSpPr>
        <p:spPr>
          <a:xfrm flipH="1">
            <a:off x="6012162" y="3950994"/>
            <a:ext cx="1280062" cy="79383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851438" y="3176550"/>
            <a:ext cx="192879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logische Adresse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9262" y="5791272"/>
            <a:ext cx="269817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Übersetzung wie bei 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direkten Seitentabelle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840" y="4500538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Physischer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Speicher</a:t>
            </a:r>
          </a:p>
        </p:txBody>
      </p:sp>
      <p:cxnSp>
        <p:nvCxnSpPr>
          <p:cNvPr id="19" name="Straight Arrow Connector 18"/>
          <p:cNvCxnSpPr>
            <a:stCxn id="14" idx="0"/>
          </p:cNvCxnSpPr>
          <p:nvPr/>
        </p:nvCxnSpPr>
        <p:spPr>
          <a:xfrm flipH="1" flipV="1">
            <a:off x="5724128" y="5287216"/>
            <a:ext cx="84222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52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Bitzählung: Nützliche Zusammenhänge /1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633736"/>
          </a:xfrm>
        </p:spPr>
        <p:txBody>
          <a:bodyPr>
            <a:normAutofit fontScale="92500"/>
          </a:bodyPr>
          <a:lstStyle/>
          <a:p>
            <a:r>
              <a:rPr lang="de-DE" dirty="0"/>
              <a:t>Die Adressübersetzung funktioniert durch das Ersetzen (in der Adresse) der Seitennummer </a:t>
            </a:r>
            <a:r>
              <a:rPr lang="de-DE" b="1" dirty="0">
                <a:solidFill>
                  <a:srgbClr val="0070C0"/>
                </a:solidFill>
              </a:rPr>
              <a:t>p </a:t>
            </a:r>
            <a:r>
              <a:rPr lang="de-DE" dirty="0"/>
              <a:t>durch eine (eigentlich beliebige) </a:t>
            </a:r>
            <a:r>
              <a:rPr lang="de-DE" dirty="0">
                <a:latin typeface="Helvetica" charset="0"/>
              </a:rPr>
              <a:t>Seiten</a:t>
            </a:r>
            <a:r>
              <a:rPr lang="de-DE" b="1" dirty="0">
                <a:solidFill>
                  <a:srgbClr val="FF0000"/>
                </a:solidFill>
                <a:latin typeface="Helvetica" charset="0"/>
              </a:rPr>
              <a:t>rahmen</a:t>
            </a:r>
            <a:r>
              <a:rPr lang="de-DE" dirty="0">
                <a:latin typeface="Helvetica" charset="0"/>
              </a:rPr>
              <a:t>nummer </a:t>
            </a:r>
            <a:r>
              <a:rPr lang="de-DE" b="1" dirty="0">
                <a:solidFill>
                  <a:srgbClr val="7030A0"/>
                </a:solidFill>
                <a:latin typeface="Helvetica" charset="0"/>
              </a:rPr>
              <a:t>f</a:t>
            </a:r>
            <a:r>
              <a:rPr lang="de-DE" b="1" dirty="0">
                <a:solidFill>
                  <a:srgbClr val="FFC000"/>
                </a:solidFill>
                <a:latin typeface="Helvetica" charset="0"/>
              </a:rPr>
              <a:t> </a:t>
            </a:r>
          </a:p>
          <a:p>
            <a:r>
              <a:rPr lang="de-DE" dirty="0"/>
              <a:t>Die Bits des Seitenoffsets </a:t>
            </a:r>
            <a:r>
              <a:rPr lang="en-US" b="1" dirty="0">
                <a:solidFill>
                  <a:srgbClr val="FF0000"/>
                </a:solidFill>
                <a:latin typeface="Helvetica" charset="0"/>
              </a:rPr>
              <a:t>d </a:t>
            </a:r>
            <a:r>
              <a:rPr lang="de-DE" dirty="0"/>
              <a:t>werden direkt übernommen</a:t>
            </a:r>
            <a:endParaRPr lang="de-DE" b="1" dirty="0">
              <a:solidFill>
                <a:srgbClr val="0070C0"/>
              </a:solidFill>
            </a:endParaRPr>
          </a:p>
          <a:p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>
          <a:xfrm>
            <a:off x="467544" y="4725144"/>
            <a:ext cx="8568952" cy="1800200"/>
          </a:xfrm>
        </p:spPr>
        <p:txBody>
          <a:bodyPr>
            <a:normAutofit/>
          </a:bodyPr>
          <a:lstStyle/>
          <a:p>
            <a:r>
              <a:rPr lang="de-DE" dirty="0"/>
              <a:t>Sei </a:t>
            </a:r>
            <a:r>
              <a:rPr lang="de-DE" b="1" dirty="0">
                <a:solidFill>
                  <a:srgbClr val="0070C0"/>
                </a:solidFill>
              </a:rPr>
              <a:t>S</a:t>
            </a:r>
            <a:r>
              <a:rPr lang="de-DE" dirty="0"/>
              <a:t> die Seitengröße (in Bytes), </a:t>
            </a:r>
            <a:r>
              <a:rPr lang="de-DE" b="1" dirty="0">
                <a:solidFill>
                  <a:srgbClr val="0070C0"/>
                </a:solidFill>
              </a:rPr>
              <a:t>N</a:t>
            </a:r>
            <a:r>
              <a:rPr lang="de-DE" dirty="0"/>
              <a:t> die Busbreite (in Bits, z.B. N=32), </a:t>
            </a:r>
            <a:r>
              <a:rPr lang="de-DE" b="1" dirty="0">
                <a:solidFill>
                  <a:srgbClr val="0070C0"/>
                </a:solidFill>
              </a:rPr>
              <a:t>B</a:t>
            </a:r>
            <a:r>
              <a:rPr lang="de-DE" dirty="0"/>
              <a:t>(..) die Anzahlen der Bits von p, f, d</a:t>
            </a:r>
          </a:p>
          <a:p>
            <a:r>
              <a:rPr lang="de-DE" dirty="0"/>
              <a:t>Was sind die Zusammenhänge zwischen S, N, B(p) (= B(f)), B(d), usw.?</a:t>
            </a:r>
          </a:p>
        </p:txBody>
      </p:sp>
      <p:grpSp>
        <p:nvGrpSpPr>
          <p:cNvPr id="7" name="Gruppieren 13"/>
          <p:cNvGrpSpPr/>
          <p:nvPr/>
        </p:nvGrpSpPr>
        <p:grpSpPr>
          <a:xfrm>
            <a:off x="4312878" y="3312842"/>
            <a:ext cx="4251679" cy="1136406"/>
            <a:chOff x="-143759" y="5273408"/>
            <a:chExt cx="4386348" cy="1436862"/>
          </a:xfrm>
        </p:grpSpPr>
        <p:grpSp>
          <p:nvGrpSpPr>
            <p:cNvPr id="8" name="Gruppieren 12"/>
            <p:cNvGrpSpPr/>
            <p:nvPr/>
          </p:nvGrpSpPr>
          <p:grpSpPr>
            <a:xfrm>
              <a:off x="-143759" y="5273408"/>
              <a:ext cx="4386348" cy="1016925"/>
              <a:chOff x="1512425" y="5273408"/>
              <a:chExt cx="4386348" cy="1016925"/>
            </a:xfrm>
          </p:grpSpPr>
          <p:sp>
            <p:nvSpPr>
              <p:cNvPr id="11" name="Rectangle 1028"/>
              <p:cNvSpPr>
                <a:spLocks noChangeArrowheads="1"/>
              </p:cNvSpPr>
              <p:nvPr/>
            </p:nvSpPr>
            <p:spPr bwMode="auto">
              <a:xfrm>
                <a:off x="2722439" y="5788124"/>
                <a:ext cx="3105150" cy="43815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Line 1030"/>
              <p:cNvSpPr>
                <a:spLocks noChangeShapeType="1"/>
              </p:cNvSpPr>
              <p:nvPr/>
            </p:nvSpPr>
            <p:spPr bwMode="auto">
              <a:xfrm>
                <a:off x="4355976" y="5445224"/>
                <a:ext cx="0" cy="762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" name="Text Box 1031"/>
              <p:cNvSpPr txBox="1">
                <a:spLocks noChangeArrowheads="1"/>
              </p:cNvSpPr>
              <p:nvPr/>
            </p:nvSpPr>
            <p:spPr bwMode="auto">
              <a:xfrm>
                <a:off x="1512425" y="5273408"/>
                <a:ext cx="3006754" cy="466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Seiten</a:t>
                </a:r>
                <a:r>
                  <a:rPr kumimoji="0" lang="de-D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rahmen</a:t>
                </a:r>
                <a:r>
                  <a:rPr kumimoji="0" lang="de-D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nummer</a:t>
                </a:r>
              </a:p>
            </p:txBody>
          </p:sp>
          <p:sp>
            <p:nvSpPr>
              <p:cNvPr id="14" name="Text Box 1032"/>
              <p:cNvSpPr txBox="1">
                <a:spLocks noChangeArrowheads="1"/>
              </p:cNvSpPr>
              <p:nvPr/>
            </p:nvSpPr>
            <p:spPr bwMode="auto">
              <a:xfrm>
                <a:off x="4499992" y="5301208"/>
                <a:ext cx="139878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Seitenoffset</a:t>
                </a:r>
              </a:p>
            </p:txBody>
          </p:sp>
          <p:sp>
            <p:nvSpPr>
              <p:cNvPr id="15" name="Text Box 1033"/>
              <p:cNvSpPr txBox="1">
                <a:spLocks noChangeArrowheads="1"/>
              </p:cNvSpPr>
              <p:nvPr/>
            </p:nvSpPr>
            <p:spPr bwMode="auto">
              <a:xfrm>
                <a:off x="3253162" y="5706607"/>
                <a:ext cx="296358" cy="5837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f</a:t>
                </a:r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" name="Text Box 1036"/>
            <p:cNvSpPr txBox="1">
              <a:spLocks noChangeArrowheads="1"/>
            </p:cNvSpPr>
            <p:nvPr/>
          </p:nvSpPr>
          <p:spPr bwMode="auto">
            <a:xfrm>
              <a:off x="1250678" y="6243290"/>
              <a:ext cx="1368152" cy="466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B(f)</a:t>
              </a: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Bits</a:t>
              </a:r>
            </a:p>
          </p:txBody>
        </p:sp>
        <p:sp>
          <p:nvSpPr>
            <p:cNvPr id="10" name="Text Box 1038"/>
            <p:cNvSpPr txBox="1">
              <a:spLocks noChangeArrowheads="1"/>
            </p:cNvSpPr>
            <p:nvPr/>
          </p:nvSpPr>
          <p:spPr bwMode="auto">
            <a:xfrm>
              <a:off x="2862995" y="6243290"/>
              <a:ext cx="1188319" cy="466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B(d) 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Bits</a:t>
              </a:r>
            </a:p>
          </p:txBody>
        </p:sp>
      </p:grpSp>
      <p:grpSp>
        <p:nvGrpSpPr>
          <p:cNvPr id="17" name="Gruppieren 16"/>
          <p:cNvGrpSpPr/>
          <p:nvPr/>
        </p:nvGrpSpPr>
        <p:grpSpPr>
          <a:xfrm>
            <a:off x="571691" y="3282607"/>
            <a:ext cx="3317524" cy="1166642"/>
            <a:chOff x="819985" y="5252383"/>
            <a:chExt cx="3422604" cy="1475094"/>
          </a:xfrm>
        </p:grpSpPr>
        <p:grpSp>
          <p:nvGrpSpPr>
            <p:cNvPr id="18" name="Gruppieren 17"/>
            <p:cNvGrpSpPr/>
            <p:nvPr/>
          </p:nvGrpSpPr>
          <p:grpSpPr>
            <a:xfrm>
              <a:off x="819985" y="5252383"/>
              <a:ext cx="3422604" cy="1037949"/>
              <a:chOff x="2476169" y="5252383"/>
              <a:chExt cx="3422604" cy="1037949"/>
            </a:xfrm>
          </p:grpSpPr>
          <p:sp>
            <p:nvSpPr>
              <p:cNvPr id="21" name="Rectangle 1028"/>
              <p:cNvSpPr>
                <a:spLocks noChangeArrowheads="1"/>
              </p:cNvSpPr>
              <p:nvPr/>
            </p:nvSpPr>
            <p:spPr bwMode="auto">
              <a:xfrm>
                <a:off x="2722439" y="5788124"/>
                <a:ext cx="3105150" cy="43815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" name="Line 1030"/>
              <p:cNvSpPr>
                <a:spLocks noChangeShapeType="1"/>
              </p:cNvSpPr>
              <p:nvPr/>
            </p:nvSpPr>
            <p:spPr bwMode="auto">
              <a:xfrm>
                <a:off x="4355976" y="5445224"/>
                <a:ext cx="0" cy="762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Text Box 1031"/>
              <p:cNvSpPr txBox="1">
                <a:spLocks noChangeArrowheads="1"/>
              </p:cNvSpPr>
              <p:nvPr/>
            </p:nvSpPr>
            <p:spPr bwMode="auto">
              <a:xfrm>
                <a:off x="2476169" y="5252383"/>
                <a:ext cx="1844293" cy="4669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Seitennummer</a:t>
                </a:r>
              </a:p>
            </p:txBody>
          </p:sp>
          <p:sp>
            <p:nvSpPr>
              <p:cNvPr id="24" name="Text Box 1032"/>
              <p:cNvSpPr txBox="1">
                <a:spLocks noChangeArrowheads="1"/>
              </p:cNvSpPr>
              <p:nvPr/>
            </p:nvSpPr>
            <p:spPr bwMode="auto">
              <a:xfrm>
                <a:off x="4499992" y="5301208"/>
                <a:ext cx="139878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Seitenoffset</a:t>
                </a:r>
              </a:p>
            </p:txBody>
          </p:sp>
          <p:sp>
            <p:nvSpPr>
              <p:cNvPr id="25" name="Text Box 1033"/>
              <p:cNvSpPr txBox="1">
                <a:spLocks noChangeArrowheads="1"/>
              </p:cNvSpPr>
              <p:nvPr/>
            </p:nvSpPr>
            <p:spPr bwMode="auto">
              <a:xfrm>
                <a:off x="3240047" y="5706606"/>
                <a:ext cx="384008" cy="5837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p</a:t>
                </a:r>
              </a:p>
            </p:txBody>
          </p:sp>
          <p:sp>
            <p:nvSpPr>
              <p:cNvPr id="26" name="Text Box 1035"/>
              <p:cNvSpPr txBox="1">
                <a:spLocks noChangeArrowheads="1"/>
              </p:cNvSpPr>
              <p:nvPr/>
            </p:nvSpPr>
            <p:spPr bwMode="auto">
              <a:xfrm>
                <a:off x="4879428" y="5737208"/>
                <a:ext cx="352585" cy="5058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Helvetica" charset="0"/>
                    <a:ea typeface="+mn-ea"/>
                    <a:cs typeface="+mn-cs"/>
                  </a:rPr>
                  <a:t>d</a:t>
                </a:r>
              </a:p>
            </p:txBody>
          </p:sp>
        </p:grpSp>
        <p:sp>
          <p:nvSpPr>
            <p:cNvPr id="19" name="Text Box 1036"/>
            <p:cNvSpPr txBox="1">
              <a:spLocks noChangeArrowheads="1"/>
            </p:cNvSpPr>
            <p:nvPr/>
          </p:nvSpPr>
          <p:spPr bwMode="auto">
            <a:xfrm>
              <a:off x="1259632" y="6260496"/>
              <a:ext cx="1368152" cy="466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B(p)</a:t>
              </a: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Bits</a:t>
              </a:r>
            </a:p>
          </p:txBody>
        </p:sp>
        <p:sp>
          <p:nvSpPr>
            <p:cNvPr id="20" name="Text Box 1038"/>
            <p:cNvSpPr txBox="1">
              <a:spLocks noChangeArrowheads="1"/>
            </p:cNvSpPr>
            <p:nvPr/>
          </p:nvSpPr>
          <p:spPr bwMode="auto">
            <a:xfrm>
              <a:off x="2843808" y="6260495"/>
              <a:ext cx="1188318" cy="466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B(d)</a:t>
              </a: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Bits</a:t>
              </a:r>
            </a:p>
          </p:txBody>
        </p:sp>
      </p:grpSp>
      <p:sp>
        <p:nvSpPr>
          <p:cNvPr id="27" name="Pfeil nach rechts 26"/>
          <p:cNvSpPr/>
          <p:nvPr/>
        </p:nvSpPr>
        <p:spPr>
          <a:xfrm>
            <a:off x="4096854" y="3672881"/>
            <a:ext cx="720080" cy="360040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feld 27"/>
          <p:cNvSpPr txBox="1"/>
          <p:nvPr/>
        </p:nvSpPr>
        <p:spPr>
          <a:xfrm>
            <a:off x="1288542" y="2952801"/>
            <a:ext cx="192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logische Adresse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5897054" y="2952801"/>
            <a:ext cx="210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physische Adresse</a:t>
            </a:r>
          </a:p>
        </p:txBody>
      </p:sp>
      <p:sp>
        <p:nvSpPr>
          <p:cNvPr id="30" name="Text Box 1035"/>
          <p:cNvSpPr txBox="1">
            <a:spLocks noChangeArrowheads="1"/>
          </p:cNvSpPr>
          <p:nvPr/>
        </p:nvSpPr>
        <p:spPr bwMode="auto">
          <a:xfrm>
            <a:off x="7573183" y="3663680"/>
            <a:ext cx="3417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6879494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Bitzählung: Nützliche Zusammenhänge /2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2065784"/>
          </a:xfrm>
        </p:spPr>
        <p:txBody>
          <a:bodyPr/>
          <a:lstStyle/>
          <a:p>
            <a:r>
              <a:rPr lang="de-DE" dirty="0"/>
              <a:t>Da </a:t>
            </a:r>
            <a:r>
              <a:rPr lang="de-DE" dirty="0">
                <a:solidFill>
                  <a:srgbClr val="0070C0"/>
                </a:solidFill>
              </a:rPr>
              <a:t>d</a:t>
            </a:r>
            <a:r>
              <a:rPr lang="de-DE" dirty="0"/>
              <a:t> die Offset-Adresse </a:t>
            </a:r>
            <a:r>
              <a:rPr lang="de-DE" u="sng" dirty="0"/>
              <a:t>innerhalb</a:t>
            </a:r>
            <a:r>
              <a:rPr lang="de-DE" dirty="0"/>
              <a:t> einer Seite ist, muss </a:t>
            </a:r>
            <a:r>
              <a:rPr lang="de-DE" dirty="0">
                <a:solidFill>
                  <a:srgbClr val="0070C0"/>
                </a:solidFill>
              </a:rPr>
              <a:t>2</a:t>
            </a:r>
            <a:r>
              <a:rPr lang="de-DE" baseline="30000" dirty="0">
                <a:solidFill>
                  <a:srgbClr val="0070C0"/>
                </a:solidFill>
              </a:rPr>
              <a:t>B(d)</a:t>
            </a:r>
            <a:r>
              <a:rPr lang="de-DE" dirty="0"/>
              <a:t> (=Anzahl dieser Adressen) mindestens </a:t>
            </a:r>
            <a:r>
              <a:rPr lang="de-DE" dirty="0">
                <a:solidFill>
                  <a:srgbClr val="0070C0"/>
                </a:solidFill>
              </a:rPr>
              <a:t>S</a:t>
            </a:r>
            <a:r>
              <a:rPr lang="de-DE" dirty="0"/>
              <a:t> sein</a:t>
            </a:r>
          </a:p>
          <a:p>
            <a:pPr lvl="1"/>
            <a:r>
              <a:rPr lang="de-DE" dirty="0"/>
              <a:t>=&gt; Annahme: </a:t>
            </a:r>
            <a:r>
              <a:rPr lang="de-DE" b="1" dirty="0">
                <a:solidFill>
                  <a:srgbClr val="FF0000"/>
                </a:solidFill>
              </a:rPr>
              <a:t>S = 2</a:t>
            </a:r>
            <a:r>
              <a:rPr lang="de-DE" b="1" baseline="30000" dirty="0">
                <a:solidFill>
                  <a:srgbClr val="FF0000"/>
                </a:solidFill>
              </a:rPr>
              <a:t>B(d)</a:t>
            </a:r>
            <a:r>
              <a:rPr lang="de-DE" dirty="0"/>
              <a:t>, bzw. </a:t>
            </a:r>
            <a:r>
              <a:rPr lang="de-DE" dirty="0">
                <a:solidFill>
                  <a:srgbClr val="FF0000"/>
                </a:solidFill>
              </a:rPr>
              <a:t>B(d) = Zweierlogarithmus(S)</a:t>
            </a:r>
          </a:p>
          <a:p>
            <a:r>
              <a:rPr lang="de-DE" dirty="0"/>
              <a:t>Wie groß ist </a:t>
            </a:r>
            <a:r>
              <a:rPr lang="de-DE" dirty="0">
                <a:solidFill>
                  <a:srgbClr val="0070C0"/>
                </a:solidFill>
              </a:rPr>
              <a:t>B(p)</a:t>
            </a:r>
            <a:r>
              <a:rPr lang="de-DE" dirty="0"/>
              <a:t> (und damit auch </a:t>
            </a:r>
            <a:r>
              <a:rPr lang="de-DE" dirty="0">
                <a:solidFill>
                  <a:srgbClr val="0070C0"/>
                </a:solidFill>
              </a:rPr>
              <a:t>B(f)</a:t>
            </a:r>
            <a:r>
              <a:rPr lang="de-DE" dirty="0"/>
              <a:t>)?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4" y="2996952"/>
            <a:ext cx="8208912" cy="3528392"/>
          </a:xfrm>
        </p:spPr>
        <p:txBody>
          <a:bodyPr>
            <a:normAutofit/>
          </a:bodyPr>
          <a:lstStyle/>
          <a:p>
            <a:pPr lvl="1"/>
            <a:r>
              <a:rPr lang="de-DE" dirty="0"/>
              <a:t>In einer N-Bit Adresse haben wir (neben B(d) Offset-Bits) noch genau N-B(d) Bits übrig, also </a:t>
            </a:r>
            <a:r>
              <a:rPr lang="de-DE" b="1" dirty="0">
                <a:solidFill>
                  <a:srgbClr val="FF0000"/>
                </a:solidFill>
              </a:rPr>
              <a:t>B(p) = B(f) = N-B(d)</a:t>
            </a:r>
          </a:p>
          <a:p>
            <a:r>
              <a:rPr lang="de-DE" dirty="0"/>
              <a:t>Wie viele Einträge hat eine vollständige </a:t>
            </a:r>
            <a:r>
              <a:rPr lang="de-DE" dirty="0">
                <a:solidFill>
                  <a:srgbClr val="0070C0"/>
                </a:solidFill>
              </a:rPr>
              <a:t>direkte Seitentabelle</a:t>
            </a:r>
            <a:r>
              <a:rPr lang="de-DE" dirty="0"/>
              <a:t>? </a:t>
            </a:r>
          </a:p>
          <a:p>
            <a:pPr lvl="1"/>
            <a:r>
              <a:rPr lang="de-DE" dirty="0"/>
              <a:t>Genau </a:t>
            </a:r>
            <a:r>
              <a:rPr lang="de-DE" b="1" dirty="0">
                <a:solidFill>
                  <a:srgbClr val="FF0000"/>
                </a:solidFill>
              </a:rPr>
              <a:t>2</a:t>
            </a:r>
            <a:r>
              <a:rPr lang="de-DE" b="1" baseline="30000" dirty="0">
                <a:solidFill>
                  <a:srgbClr val="FF0000"/>
                </a:solidFill>
              </a:rPr>
              <a:t>B(p)</a:t>
            </a:r>
            <a:r>
              <a:rPr lang="de-DE" dirty="0"/>
              <a:t> = Maximale Anzahl der Seitennummern</a:t>
            </a:r>
          </a:p>
          <a:p>
            <a:endParaRPr lang="de-DE" sz="2500" dirty="0"/>
          </a:p>
          <a:p>
            <a:r>
              <a:rPr lang="de-DE" sz="2500" dirty="0"/>
              <a:t>[Wie viele Einträge hat eine </a:t>
            </a:r>
            <a:r>
              <a:rPr lang="de-DE" sz="2500" dirty="0">
                <a:solidFill>
                  <a:srgbClr val="0070C0"/>
                </a:solidFill>
              </a:rPr>
              <a:t>invertierte Seitentabelle</a:t>
            </a:r>
            <a:r>
              <a:rPr lang="de-DE" sz="2500" dirty="0"/>
              <a:t>?</a:t>
            </a:r>
          </a:p>
          <a:p>
            <a:pPr lvl="1"/>
            <a:r>
              <a:rPr lang="de-DE" dirty="0"/>
              <a:t>Maximalanzahl der Rahmen = </a:t>
            </a:r>
            <a:r>
              <a:rPr lang="de-DE" b="1" dirty="0">
                <a:solidFill>
                  <a:srgbClr val="FF0000"/>
                </a:solidFill>
              </a:rPr>
              <a:t>(Größe des RAMs) / S</a:t>
            </a:r>
            <a:r>
              <a:rPr lang="de-DE" dirty="0"/>
              <a:t>]</a:t>
            </a:r>
            <a:endParaRPr lang="de-D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5385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Bitzählung: Beispiele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1417712"/>
          </a:xfrm>
        </p:spPr>
        <p:txBody>
          <a:bodyPr/>
          <a:lstStyle/>
          <a:p>
            <a:r>
              <a:rPr lang="de-DE" dirty="0"/>
              <a:t>Sei N=32 (z.B. IA32) und Seitengröße S = 4096 Bytes</a:t>
            </a:r>
          </a:p>
          <a:p>
            <a:pPr lvl="1"/>
            <a:r>
              <a:rPr lang="de-DE" dirty="0"/>
              <a:t>Was sind B(d), B(p)=B(f) und die Anzahl der Einträge der direkten Seitentabelle?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4" y="2564904"/>
            <a:ext cx="8496944" cy="2880320"/>
          </a:xfrm>
        </p:spPr>
        <p:txBody>
          <a:bodyPr>
            <a:normAutofit lnSpcReduction="10000"/>
          </a:bodyPr>
          <a:lstStyle/>
          <a:p>
            <a:pPr lvl="1"/>
            <a:r>
              <a:rPr lang="de-DE" dirty="0"/>
              <a:t>Es ist 2</a:t>
            </a:r>
            <a:r>
              <a:rPr lang="de-DE" baseline="30000" dirty="0"/>
              <a:t>12</a:t>
            </a:r>
            <a:r>
              <a:rPr lang="de-DE" dirty="0"/>
              <a:t> = S, also B(d) = 12 (Bits)</a:t>
            </a:r>
            <a:endParaRPr lang="de-DE" b="1" dirty="0">
              <a:solidFill>
                <a:srgbClr val="FF0000"/>
              </a:solidFill>
            </a:endParaRPr>
          </a:p>
          <a:p>
            <a:pPr lvl="1"/>
            <a:r>
              <a:rPr lang="de-DE" dirty="0"/>
              <a:t>Damit ist B(p) = 32 – 12 = 20 (Bits)</a:t>
            </a:r>
          </a:p>
          <a:p>
            <a:pPr lvl="1"/>
            <a:r>
              <a:rPr lang="de-DE" dirty="0"/>
              <a:t>Anzahl der Einträge in Seitentabelle = 2</a:t>
            </a:r>
            <a:r>
              <a:rPr lang="de-DE" baseline="30000" dirty="0"/>
              <a:t>B(p)</a:t>
            </a:r>
            <a:r>
              <a:rPr lang="de-DE" dirty="0"/>
              <a:t> = 2</a:t>
            </a:r>
            <a:r>
              <a:rPr lang="de-DE" baseline="30000" dirty="0"/>
              <a:t>20</a:t>
            </a:r>
            <a:r>
              <a:rPr lang="de-DE" dirty="0"/>
              <a:t> </a:t>
            </a:r>
          </a:p>
          <a:p>
            <a:pPr lvl="1"/>
            <a:endParaRPr lang="de-DE" dirty="0"/>
          </a:p>
          <a:p>
            <a:r>
              <a:rPr lang="de-DE" dirty="0"/>
              <a:t>Sei N=64, Seitengröße=1024 Bytes, RAM-Größe=1GB und eine </a:t>
            </a:r>
            <a:r>
              <a:rPr lang="de-DE" dirty="0">
                <a:solidFill>
                  <a:srgbClr val="0070C0"/>
                </a:solidFill>
              </a:rPr>
              <a:t>invertierte</a:t>
            </a:r>
            <a:r>
              <a:rPr lang="de-DE" dirty="0"/>
              <a:t> Seitentabelle</a:t>
            </a:r>
          </a:p>
          <a:p>
            <a:pPr lvl="1"/>
            <a:r>
              <a:rPr lang="de-DE" dirty="0"/>
              <a:t>Was ist B(d), B(p), die Anzahl der Einträge der </a:t>
            </a:r>
            <a:r>
              <a:rPr lang="de-DE" dirty="0" err="1"/>
              <a:t>Seitentab</a:t>
            </a:r>
            <a:r>
              <a:rPr lang="de-DE" dirty="0"/>
              <a:t>.?</a:t>
            </a:r>
          </a:p>
        </p:txBody>
      </p:sp>
      <p:sp>
        <p:nvSpPr>
          <p:cNvPr id="6" name="Inhaltsplatzhalter 4"/>
          <p:cNvSpPr txBox="1">
            <a:spLocks/>
          </p:cNvSpPr>
          <p:nvPr/>
        </p:nvSpPr>
        <p:spPr>
          <a:xfrm>
            <a:off x="460589" y="5229200"/>
            <a:ext cx="8496944" cy="13681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B80A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de-DE" sz="2300" b="0" i="0" u="none" strike="noStrike" kern="1200" cap="none" spc="0" normalizeH="0" baseline="0" noProof="0" dirty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=&gt; B(d) = log</a:t>
            </a:r>
            <a:r>
              <a:rPr kumimoji="0" lang="de-DE" sz="2300" b="0" i="0" u="none" strike="noStrike" kern="1200" cap="none" spc="0" normalizeH="0" baseline="-25000" noProof="0" dirty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de-DE" sz="2300" b="0" i="0" u="none" strike="noStrike" kern="1200" cap="none" spc="0" normalizeH="0" baseline="0" noProof="0" dirty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(1024) = 10, B(p) = 64-10 = 54</a:t>
            </a: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B80A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de-DE" sz="2300" b="0" i="0" u="none" strike="noStrike" kern="1200" cap="none" spc="0" normalizeH="0" baseline="0" noProof="0" dirty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Wir haben als Anzahl der Rahmen: 1 GB / 1 kB = 2</a:t>
            </a:r>
            <a:r>
              <a:rPr kumimoji="0" lang="de-DE" sz="2300" b="0" i="0" u="none" strike="noStrike" kern="1200" cap="none" spc="0" normalizeH="0" baseline="30000" noProof="0" dirty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</a:t>
            </a:r>
            <a:r>
              <a:rPr kumimoji="0" lang="de-DE" sz="2300" b="0" i="0" u="none" strike="noStrike" kern="1200" cap="none" spc="0" normalizeH="0" baseline="0" noProof="0" dirty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also genauso viele Einträge der Seitentabelle</a:t>
            </a:r>
          </a:p>
        </p:txBody>
      </p:sp>
    </p:spTree>
    <p:extLst>
      <p:ext uri="{BB962C8B-B14F-4D97-AF65-F5344CB8AC3E}">
        <p14:creationId xmlns:p14="http://schemas.microsoft.com/office/powerpoint/2010/main" val="109029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45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Danke schön.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46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Zusätzliche Folien:</a:t>
            </a:r>
            <a:br>
              <a:rPr lang="de-DE" dirty="0"/>
            </a:br>
            <a:r>
              <a:rPr lang="de-DE" dirty="0"/>
              <a:t>Invertierte Seitentabellen</a:t>
            </a:r>
          </a:p>
        </p:txBody>
      </p:sp>
    </p:spTree>
    <p:extLst>
      <p:ext uri="{BB962C8B-B14F-4D97-AF65-F5344CB8AC3E}">
        <p14:creationId xmlns:p14="http://schemas.microsoft.com/office/powerpoint/2010/main" val="33213415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Neuartige Seitentabelle – mit „log. Lücken“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47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915000" cy="4226024"/>
          </a:xfrm>
        </p:spPr>
        <p:txBody>
          <a:bodyPr>
            <a:noAutofit/>
          </a:bodyPr>
          <a:lstStyle/>
          <a:p>
            <a:r>
              <a:rPr lang="de-DE" dirty="0"/>
              <a:t>Idee: wir halten in einer „neuartigen“ Seitentabelle die Einträge </a:t>
            </a:r>
            <a:r>
              <a:rPr lang="de-DE" u="sng" dirty="0"/>
              <a:t>nur</a:t>
            </a:r>
            <a:r>
              <a:rPr lang="de-DE" dirty="0"/>
              <a:t> zu solchen Seiten, </a:t>
            </a:r>
            <a:r>
              <a:rPr lang="de-DE" u="sng" dirty="0"/>
              <a:t>die überhaupt verwendet wurden</a:t>
            </a:r>
          </a:p>
          <a:p>
            <a:r>
              <a:rPr lang="de-DE" dirty="0"/>
              <a:t>Für eine zu übersetzende Seitennummer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durchsuchen wir die 1. Spalte der Tabelle bis zum Erfolg, holen dann die Rahmen#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57200" y="4653136"/>
            <a:ext cx="5410944" cy="1440160"/>
          </a:xfrm>
        </p:spPr>
        <p:txBody>
          <a:bodyPr>
            <a:noAutofit/>
          </a:bodyPr>
          <a:lstStyle/>
          <a:p>
            <a:r>
              <a:rPr lang="de-DE" dirty="0"/>
              <a:t>Wie unterscheidet sich eine direkte Seitentabelle von dieser neuen Tabelle?</a:t>
            </a:r>
            <a:endParaRPr lang="de-DE" b="1" dirty="0">
              <a:solidFill>
                <a:srgbClr val="7030A0"/>
              </a:solidFill>
            </a:endParaRPr>
          </a:p>
          <a:p>
            <a:endParaRPr lang="en-US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6228184" y="1268760"/>
          <a:ext cx="2736304" cy="3540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dirty="0"/>
                        <a:t>Logisch</a:t>
                      </a:r>
                      <a:r>
                        <a:rPr lang="de-DE" sz="1800" b="1" dirty="0">
                          <a:solidFill>
                            <a:srgbClr val="FF0000"/>
                          </a:solidFill>
                        </a:rPr>
                        <a:t>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Physisch </a:t>
                      </a:r>
                      <a:r>
                        <a:rPr lang="de-DE" sz="1800" b="1" dirty="0">
                          <a:solidFill>
                            <a:srgbClr val="7030A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1000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500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Abgerundetes Rechteck 8"/>
          <p:cNvSpPr/>
          <p:nvPr/>
        </p:nvSpPr>
        <p:spPr>
          <a:xfrm>
            <a:off x="6781785" y="5157192"/>
            <a:ext cx="2170584" cy="115212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Logische Seiten nicht verwendet</a:t>
            </a:r>
          </a:p>
        </p:txBody>
      </p:sp>
      <p:cxnSp>
        <p:nvCxnSpPr>
          <p:cNvPr id="13" name="Gerader Verbinder 12"/>
          <p:cNvCxnSpPr>
            <a:stCxn id="9" idx="0"/>
          </p:cNvCxnSpPr>
          <p:nvPr/>
        </p:nvCxnSpPr>
        <p:spPr>
          <a:xfrm flipH="1" flipV="1">
            <a:off x="7236296" y="4653136"/>
            <a:ext cx="630781" cy="50405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>
            <a:stCxn id="9" idx="0"/>
          </p:cNvCxnSpPr>
          <p:nvPr/>
        </p:nvCxnSpPr>
        <p:spPr>
          <a:xfrm flipH="1" flipV="1">
            <a:off x="7236296" y="3501008"/>
            <a:ext cx="630781" cy="165618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>
            <a:stCxn id="9" idx="0"/>
          </p:cNvCxnSpPr>
          <p:nvPr/>
        </p:nvCxnSpPr>
        <p:spPr>
          <a:xfrm flipH="1" flipV="1">
            <a:off x="7164289" y="2204864"/>
            <a:ext cx="702788" cy="295232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38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Direkte vs. „Neuartige“ Seitentabelle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48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337076" cy="5162128"/>
          </a:xfrm>
        </p:spPr>
        <p:txBody>
          <a:bodyPr>
            <a:normAutofit/>
          </a:bodyPr>
          <a:lstStyle/>
          <a:p>
            <a:r>
              <a:rPr lang="de-DE" i="1" dirty="0"/>
              <a:t>Wie unterscheidet sich diese Tabelle von der direkten Seitentabelle?</a:t>
            </a:r>
          </a:p>
          <a:p>
            <a:r>
              <a:rPr lang="de-DE" dirty="0"/>
              <a:t>Bei der direkten Seitentabelle fehlt die 1. Spalte, da wir dort durchgehende Seitennummern annehmen </a:t>
            </a:r>
          </a:p>
          <a:p>
            <a:r>
              <a:rPr lang="de-DE" dirty="0"/>
              <a:t>Und statt nach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zu suchen, können wir einfach die Zeile </a:t>
            </a:r>
            <a:r>
              <a:rPr lang="de-DE" b="1" dirty="0">
                <a:solidFill>
                  <a:srgbClr val="FF0000"/>
                </a:solidFill>
              </a:rPr>
              <a:t>p</a:t>
            </a:r>
            <a:r>
              <a:rPr lang="de-DE" dirty="0"/>
              <a:t> indexieren</a:t>
            </a:r>
          </a:p>
          <a:p>
            <a:endParaRPr lang="de-DE" b="1" dirty="0">
              <a:solidFill>
                <a:srgbClr val="7030A0"/>
              </a:solidFill>
            </a:endParaRP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6126023" y="1739875"/>
            <a:ext cx="0" cy="144016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 rot="16200000">
            <a:off x="4622528" y="2275289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Seitennummer = Index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13" name="Tabelle 12"/>
          <p:cNvGraphicFramePr>
            <a:graphicFrameLocks noGrp="1"/>
          </p:cNvGraphicFramePr>
          <p:nvPr/>
        </p:nvGraphicFramePr>
        <p:xfrm>
          <a:off x="6228184" y="1331889"/>
          <a:ext cx="2736304" cy="3540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dirty="0"/>
                        <a:t>Logisch</a:t>
                      </a:r>
                      <a:r>
                        <a:rPr lang="de-DE" sz="1800" b="1" dirty="0">
                          <a:solidFill>
                            <a:srgbClr val="FF0000"/>
                          </a:solidFill>
                        </a:rPr>
                        <a:t>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Physisch </a:t>
                      </a:r>
                      <a:r>
                        <a:rPr lang="de-DE" sz="1800" b="1" dirty="0">
                          <a:solidFill>
                            <a:srgbClr val="7030A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1000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500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5" name="Gruppieren 14"/>
          <p:cNvGrpSpPr/>
          <p:nvPr/>
        </p:nvGrpSpPr>
        <p:grpSpPr>
          <a:xfrm>
            <a:off x="6228184" y="1739875"/>
            <a:ext cx="1368152" cy="3141653"/>
            <a:chOff x="6948264" y="1692331"/>
            <a:chExt cx="862236" cy="2456749"/>
          </a:xfrm>
        </p:grpSpPr>
        <p:cxnSp>
          <p:nvCxnSpPr>
            <p:cNvPr id="10" name="Gerade Verbindung 9"/>
            <p:cNvCxnSpPr/>
            <p:nvPr/>
          </p:nvCxnSpPr>
          <p:spPr>
            <a:xfrm>
              <a:off x="6948264" y="1692331"/>
              <a:ext cx="862236" cy="245674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Gerade Verbindung 11"/>
            <p:cNvCxnSpPr/>
            <p:nvPr/>
          </p:nvCxnSpPr>
          <p:spPr>
            <a:xfrm flipH="1">
              <a:off x="6948264" y="1700808"/>
              <a:ext cx="862236" cy="244827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286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35280" cy="990600"/>
          </a:xfrm>
        </p:spPr>
        <p:txBody>
          <a:bodyPr>
            <a:normAutofit/>
          </a:bodyPr>
          <a:lstStyle/>
          <a:p>
            <a:r>
              <a:rPr lang="de-DE" dirty="0"/>
              <a:t>Neuartige Seitentabelle – mit „log. Lücken“/2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49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915000" cy="985664"/>
          </a:xfrm>
        </p:spPr>
        <p:txBody>
          <a:bodyPr>
            <a:noAutofit/>
          </a:bodyPr>
          <a:lstStyle/>
          <a:p>
            <a:r>
              <a:rPr lang="de-DE" dirty="0"/>
              <a:t>Wie können wir die „neuartige“ Seitentabelle verkleinern?</a:t>
            </a:r>
            <a:endParaRPr lang="de-DE" b="1" dirty="0">
              <a:solidFill>
                <a:srgbClr val="7030A0"/>
              </a:solidFill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57200" y="2204864"/>
            <a:ext cx="5410944" cy="1800200"/>
          </a:xfrm>
        </p:spPr>
        <p:txBody>
          <a:bodyPr>
            <a:noAutofit/>
          </a:bodyPr>
          <a:lstStyle/>
          <a:p>
            <a:r>
              <a:rPr lang="de-DE" dirty="0"/>
              <a:t>1. Einträge entfernen, die nicht verwendet werden</a:t>
            </a:r>
          </a:p>
          <a:p>
            <a:r>
              <a:rPr lang="de-DE" dirty="0"/>
              <a:t>2. Können wir auch die 2. Spalte „</a:t>
            </a:r>
            <a:r>
              <a:rPr lang="de-DE" dirty="0" err="1"/>
              <a:t>wegrationalieren</a:t>
            </a:r>
            <a:r>
              <a:rPr lang="de-DE" dirty="0"/>
              <a:t>“?</a:t>
            </a:r>
          </a:p>
          <a:p>
            <a:endParaRPr lang="en-US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6228184" y="1268760"/>
          <a:ext cx="2736304" cy="3540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800" dirty="0"/>
                        <a:t>Logisch</a:t>
                      </a:r>
                      <a:r>
                        <a:rPr lang="de-DE" sz="1800" b="1" dirty="0">
                          <a:solidFill>
                            <a:srgbClr val="FF0000"/>
                          </a:solidFill>
                        </a:rPr>
                        <a:t>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Physisch </a:t>
                      </a:r>
                      <a:r>
                        <a:rPr lang="de-DE" sz="1800" b="1" dirty="0">
                          <a:solidFill>
                            <a:srgbClr val="7030A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1000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500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strike="sng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Abgerundetes Rechteck 8"/>
          <p:cNvSpPr/>
          <p:nvPr/>
        </p:nvSpPr>
        <p:spPr>
          <a:xfrm>
            <a:off x="6781785" y="5157192"/>
            <a:ext cx="2170584" cy="115212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Logische Seiten nicht verwendet</a:t>
            </a:r>
          </a:p>
        </p:txBody>
      </p:sp>
      <p:cxnSp>
        <p:nvCxnSpPr>
          <p:cNvPr id="13" name="Gerader Verbinder 12"/>
          <p:cNvCxnSpPr>
            <a:stCxn id="9" idx="0"/>
          </p:cNvCxnSpPr>
          <p:nvPr/>
        </p:nvCxnSpPr>
        <p:spPr>
          <a:xfrm flipH="1" flipV="1">
            <a:off x="7236296" y="4653136"/>
            <a:ext cx="630781" cy="50405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>
            <a:stCxn id="9" idx="0"/>
          </p:cNvCxnSpPr>
          <p:nvPr/>
        </p:nvCxnSpPr>
        <p:spPr>
          <a:xfrm flipH="1" flipV="1">
            <a:off x="7236296" y="3501008"/>
            <a:ext cx="630781" cy="165618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>
            <a:stCxn id="9" idx="0"/>
          </p:cNvCxnSpPr>
          <p:nvPr/>
        </p:nvCxnSpPr>
        <p:spPr>
          <a:xfrm flipH="1" flipV="1">
            <a:off x="7164289" y="2204864"/>
            <a:ext cx="702788" cy="295232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elle 10"/>
          <p:cNvGraphicFramePr>
            <a:graphicFrameLocks noGrp="1"/>
          </p:cNvGraphicFramePr>
          <p:nvPr/>
        </p:nvGraphicFramePr>
        <p:xfrm>
          <a:off x="3301972" y="4005875"/>
          <a:ext cx="2764906" cy="2743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82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458">
                <a:tc>
                  <a:txBody>
                    <a:bodyPr/>
                    <a:lstStyle/>
                    <a:p>
                      <a:r>
                        <a:rPr lang="de-DE" sz="1800" dirty="0"/>
                        <a:t>Logisch</a:t>
                      </a:r>
                      <a:r>
                        <a:rPr lang="de-DE" sz="1800" b="1" dirty="0">
                          <a:solidFill>
                            <a:srgbClr val="FF0000"/>
                          </a:solidFill>
                        </a:rPr>
                        <a:t>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Physisch </a:t>
                      </a:r>
                      <a:r>
                        <a:rPr lang="de-DE" sz="1800" b="1" dirty="0">
                          <a:solidFill>
                            <a:srgbClr val="7030A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500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1000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14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Neuartige Seitentabelle /3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50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050904" cy="4010000"/>
          </a:xfrm>
        </p:spPr>
        <p:txBody>
          <a:bodyPr>
            <a:noAutofit/>
          </a:bodyPr>
          <a:lstStyle/>
          <a:p>
            <a:r>
              <a:rPr lang="de-DE" dirty="0"/>
              <a:t>Wir sortieren die Einträge nach der 2. Spalte (= </a:t>
            </a:r>
            <a:r>
              <a:rPr lang="de-DE" dirty="0" err="1"/>
              <a:t>Rahmennr</a:t>
            </a:r>
            <a:r>
              <a:rPr lang="de-DE" dirty="0"/>
              <a:t>.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r>
              <a:rPr lang="de-DE" dirty="0"/>
              <a:t>)</a:t>
            </a:r>
          </a:p>
          <a:p>
            <a:r>
              <a:rPr lang="de-DE" dirty="0"/>
              <a:t>… Und führen </a:t>
            </a:r>
            <a:r>
              <a:rPr lang="de-DE" u="sng" dirty="0"/>
              <a:t>zu jeder möglichen</a:t>
            </a:r>
            <a:r>
              <a:rPr lang="de-DE" dirty="0"/>
              <a:t> Rahmennummer </a:t>
            </a:r>
            <a:r>
              <a:rPr lang="de-DE" b="1" dirty="0">
                <a:solidFill>
                  <a:srgbClr val="7030A0"/>
                </a:solidFill>
              </a:rPr>
              <a:t>f</a:t>
            </a:r>
            <a:r>
              <a:rPr lang="de-DE" dirty="0"/>
              <a:t> eine Zeile ein </a:t>
            </a:r>
          </a:p>
          <a:p>
            <a:r>
              <a:rPr lang="de-DE" dirty="0"/>
              <a:t>Da die Rahmennummern nun durchgehen sind, können wir die 2. Spalte streichen!</a:t>
            </a:r>
          </a:p>
          <a:p>
            <a:r>
              <a:rPr lang="de-DE" dirty="0"/>
              <a:t>Speicherbedarf?</a:t>
            </a:r>
          </a:p>
          <a:p>
            <a:endParaRPr lang="de-DE" b="1" dirty="0">
              <a:solidFill>
                <a:srgbClr val="7030A0"/>
              </a:solidFill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57200" y="5273813"/>
            <a:ext cx="8002682" cy="1484784"/>
          </a:xfrm>
        </p:spPr>
        <p:txBody>
          <a:bodyPr>
            <a:noAutofit/>
          </a:bodyPr>
          <a:lstStyle/>
          <a:p>
            <a:r>
              <a:rPr lang="de-DE" dirty="0"/>
              <a:t>Die Größe der Seitentabelle ist nun </a:t>
            </a:r>
            <a:r>
              <a:rPr lang="de-DE" u="sng" dirty="0"/>
              <a:t>proportional zum vorhandenen physischen Speicher</a:t>
            </a:r>
            <a:r>
              <a:rPr lang="de-DE" dirty="0"/>
              <a:t> und nicht zum logischen Adressraum – ist das viel?</a:t>
            </a:r>
          </a:p>
        </p:txBody>
      </p:sp>
      <p:graphicFrame>
        <p:nvGraphicFramePr>
          <p:cNvPr id="11" name="Tabelle 10"/>
          <p:cNvGraphicFramePr>
            <a:graphicFrameLocks noGrp="1"/>
          </p:cNvGraphicFramePr>
          <p:nvPr/>
        </p:nvGraphicFramePr>
        <p:xfrm>
          <a:off x="6078211" y="1340768"/>
          <a:ext cx="2764906" cy="3535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82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458">
                <a:tc>
                  <a:txBody>
                    <a:bodyPr/>
                    <a:lstStyle/>
                    <a:p>
                      <a:r>
                        <a:rPr lang="de-DE" sz="1800" dirty="0"/>
                        <a:t>Logisch</a:t>
                      </a:r>
                      <a:r>
                        <a:rPr lang="de-DE" sz="1800" b="1" dirty="0">
                          <a:solidFill>
                            <a:srgbClr val="FF0000"/>
                          </a:solidFill>
                        </a:rPr>
                        <a:t>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>
                          <a:solidFill>
                            <a:schemeClr val="tx1"/>
                          </a:solidFill>
                        </a:rPr>
                        <a:t>Physisch </a:t>
                      </a:r>
                      <a:r>
                        <a:rPr lang="de-DE" sz="1800" b="1" dirty="0">
                          <a:solidFill>
                            <a:srgbClr val="7030A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302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1000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2" name="Gruppieren 11"/>
          <p:cNvGrpSpPr/>
          <p:nvPr/>
        </p:nvGrpSpPr>
        <p:grpSpPr>
          <a:xfrm>
            <a:off x="7474965" y="1734795"/>
            <a:ext cx="1368152" cy="3141653"/>
            <a:chOff x="6948264" y="1692331"/>
            <a:chExt cx="862236" cy="2456749"/>
          </a:xfrm>
        </p:grpSpPr>
        <p:cxnSp>
          <p:nvCxnSpPr>
            <p:cNvPr id="14" name="Gerade Verbindung 9"/>
            <p:cNvCxnSpPr/>
            <p:nvPr/>
          </p:nvCxnSpPr>
          <p:spPr>
            <a:xfrm>
              <a:off x="6948264" y="1692331"/>
              <a:ext cx="862236" cy="245674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Gerade Verbindung 11"/>
            <p:cNvCxnSpPr/>
            <p:nvPr/>
          </p:nvCxnSpPr>
          <p:spPr>
            <a:xfrm flipH="1">
              <a:off x="6948264" y="1700808"/>
              <a:ext cx="862236" cy="244827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07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49DA-EE50-4E0D-AD6D-F50828E78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Unterteilen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Direkten</a:t>
            </a:r>
            <a:r>
              <a:rPr lang="en-US" dirty="0"/>
              <a:t> </a:t>
            </a:r>
            <a:r>
              <a:rPr lang="en-US" dirty="0" err="1"/>
              <a:t>Seitentabelle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C3CD51-BB1D-4923-A571-923F79BB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51</a:t>
            </a:fld>
            <a:endParaRPr lang="en-US" noProof="0" dirty="0"/>
          </a:p>
        </p:txBody>
      </p:sp>
      <p:pic>
        <p:nvPicPr>
          <p:cNvPr id="5" name="Picture 6" descr="D:\b\b4\IBM\03-13.jpg">
            <a:extLst>
              <a:ext uri="{FF2B5EF4-FFF2-40B4-BE49-F238E27FC236}">
                <a16:creationId xmlns:a16="http://schemas.microsoft.com/office/drawing/2014/main" id="{C1502DA5-9A15-4C7D-BFF4-57510C3A67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64841" t="3525" r="9709" b="4032"/>
          <a:stretch/>
        </p:blipFill>
        <p:spPr bwMode="auto">
          <a:xfrm>
            <a:off x="7337243" y="1937726"/>
            <a:ext cx="478894" cy="1784809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0A3BEB-0ACD-46AB-9755-56716B9B1D91}"/>
              </a:ext>
            </a:extLst>
          </p:cNvPr>
          <p:cNvSpPr/>
          <p:nvPr/>
        </p:nvSpPr>
        <p:spPr>
          <a:xfrm>
            <a:off x="5940152" y="1162791"/>
            <a:ext cx="30136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dirty="0"/>
              <a:t>Eine 32-Bit Seitentabelle </a:t>
            </a:r>
            <a:br>
              <a:rPr lang="de-DE" dirty="0"/>
            </a:br>
            <a:r>
              <a:rPr lang="de-DE" dirty="0"/>
              <a:t>mit 2^20 Einträgen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7DE6F-19A1-42D1-9A18-CEA6ADA7268A}"/>
              </a:ext>
            </a:extLst>
          </p:cNvPr>
          <p:cNvSpPr/>
          <p:nvPr/>
        </p:nvSpPr>
        <p:spPr>
          <a:xfrm>
            <a:off x="6694227" y="6089306"/>
            <a:ext cx="1505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dirty="0"/>
              <a:t>.. unterteilt in</a:t>
            </a:r>
            <a:br>
              <a:rPr lang="de-DE" dirty="0"/>
            </a:br>
            <a:r>
              <a:rPr lang="de-DE" dirty="0"/>
              <a:t>1024 Stücke</a:t>
            </a:r>
            <a:endParaRPr lang="en-US" dirty="0"/>
          </a:p>
        </p:txBody>
      </p:sp>
      <p:pic>
        <p:nvPicPr>
          <p:cNvPr id="8" name="Picture 6" descr="D:\b\b4\IBM\03-13.jpg">
            <a:extLst>
              <a:ext uri="{FF2B5EF4-FFF2-40B4-BE49-F238E27FC236}">
                <a16:creationId xmlns:a16="http://schemas.microsoft.com/office/drawing/2014/main" id="{67E40D76-539F-449C-AA86-C7E8AE0225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64841" t="3525" r="9709" b="4032"/>
          <a:stretch/>
        </p:blipFill>
        <p:spPr bwMode="auto">
          <a:xfrm>
            <a:off x="7337242" y="4175099"/>
            <a:ext cx="478894" cy="1784809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AB4226-9E75-4FA0-B690-37E3A85A5B02}"/>
              </a:ext>
            </a:extLst>
          </p:cNvPr>
          <p:cNvSpPr/>
          <p:nvPr/>
        </p:nvSpPr>
        <p:spPr>
          <a:xfrm>
            <a:off x="7337242" y="37091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8414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07288" cy="990600"/>
          </a:xfrm>
        </p:spPr>
        <p:txBody>
          <a:bodyPr>
            <a:normAutofit/>
          </a:bodyPr>
          <a:lstStyle/>
          <a:p>
            <a:r>
              <a:rPr lang="de-DE" dirty="0"/>
              <a:t>Seitentabellen bei 64-Bit Systemen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52</a:t>
            </a:fld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0977A4-1217-405B-84B8-E9FBFB019868}"/>
              </a:ext>
            </a:extLst>
          </p:cNvPr>
          <p:cNvSpPr/>
          <p:nvPr/>
        </p:nvSpPr>
        <p:spPr>
          <a:xfrm>
            <a:off x="5940152" y="1162791"/>
            <a:ext cx="30136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dirty="0"/>
              <a:t>Eine 64-Bit Seitentabelle </a:t>
            </a:r>
            <a:br>
              <a:rPr lang="de-DE" dirty="0"/>
            </a:br>
            <a:r>
              <a:rPr lang="de-DE" dirty="0"/>
              <a:t>mit 2^52 Einträgen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A1F12E-7C6A-46E7-B496-878072D6AC0B}"/>
              </a:ext>
            </a:extLst>
          </p:cNvPr>
          <p:cNvSpPr/>
          <p:nvPr/>
        </p:nvSpPr>
        <p:spPr>
          <a:xfrm>
            <a:off x="6694227" y="6089306"/>
            <a:ext cx="1505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dirty="0"/>
              <a:t>.. unterteilt in</a:t>
            </a:r>
            <a:br>
              <a:rPr lang="de-DE" dirty="0"/>
            </a:br>
            <a:r>
              <a:rPr lang="de-DE" dirty="0"/>
              <a:t>X Stücke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AF9A0D-A9D7-41C8-A028-8B99677073B6}"/>
              </a:ext>
            </a:extLst>
          </p:cNvPr>
          <p:cNvGrpSpPr/>
          <p:nvPr/>
        </p:nvGrpSpPr>
        <p:grpSpPr>
          <a:xfrm>
            <a:off x="7337242" y="1937726"/>
            <a:ext cx="478895" cy="4022182"/>
            <a:chOff x="7337242" y="1937726"/>
            <a:chExt cx="478895" cy="4022182"/>
          </a:xfrm>
        </p:grpSpPr>
        <p:pic>
          <p:nvPicPr>
            <p:cNvPr id="11" name="Picture 6" descr="D:\b\b4\IBM\03-13.jpg">
              <a:extLst>
                <a:ext uri="{FF2B5EF4-FFF2-40B4-BE49-F238E27FC236}">
                  <a16:creationId xmlns:a16="http://schemas.microsoft.com/office/drawing/2014/main" id="{2F729099-D4EC-45D6-9483-A9A9124B85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64841" t="3525" r="9709" b="4032"/>
            <a:stretch/>
          </p:blipFill>
          <p:spPr bwMode="auto">
            <a:xfrm>
              <a:off x="7337243" y="1937726"/>
              <a:ext cx="478894" cy="1784809"/>
            </a:xfrm>
            <a:prstGeom prst="rect">
              <a:avLst/>
            </a:prstGeom>
            <a:noFill/>
          </p:spPr>
        </p:pic>
        <p:pic>
          <p:nvPicPr>
            <p:cNvPr id="14" name="Picture 6" descr="D:\b\b4\IBM\03-13.jpg">
              <a:extLst>
                <a:ext uri="{FF2B5EF4-FFF2-40B4-BE49-F238E27FC236}">
                  <a16:creationId xmlns:a16="http://schemas.microsoft.com/office/drawing/2014/main" id="{A08C3E1F-AFD5-4B79-97DD-BB3EDBDF66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64841" t="3525" r="9709" b="4032"/>
            <a:stretch/>
          </p:blipFill>
          <p:spPr bwMode="auto">
            <a:xfrm>
              <a:off x="7337242" y="4175099"/>
              <a:ext cx="478894" cy="1784809"/>
            </a:xfrm>
            <a:prstGeom prst="rect">
              <a:avLst/>
            </a:prstGeom>
            <a:noFill/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0ED6D7-FCBD-495E-9BB5-102E84FE332D}"/>
                </a:ext>
              </a:extLst>
            </p:cNvPr>
            <p:cNvSpPr/>
            <p:nvPr/>
          </p:nvSpPr>
          <p:spPr>
            <a:xfrm>
              <a:off x="7337242" y="3709115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dirty="0"/>
                <a:t>…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EFB8CC-FCA5-4695-80CC-42717F627EE0}"/>
              </a:ext>
            </a:extLst>
          </p:cNvPr>
          <p:cNvGrpSpPr/>
          <p:nvPr/>
        </p:nvGrpSpPr>
        <p:grpSpPr>
          <a:xfrm>
            <a:off x="5701353" y="2348880"/>
            <a:ext cx="477597" cy="2825140"/>
            <a:chOff x="5701353" y="2348880"/>
            <a:chExt cx="477597" cy="282514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742F18E-DD58-4732-B272-8F50E6BD4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353" y="2348880"/>
              <a:ext cx="477597" cy="62780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CF51769-6661-423E-BF5E-D84E5424B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353" y="2976689"/>
              <a:ext cx="477597" cy="627809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AEDE5BD-9414-4244-8361-2CE5E5793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353" y="3604498"/>
              <a:ext cx="477597" cy="627809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5D65C92-37AD-49F0-AA85-5798D69CD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353" y="3918402"/>
              <a:ext cx="477597" cy="62780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9AFFB0F-19D1-44DC-822D-B65CDDD85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353" y="4546211"/>
              <a:ext cx="477597" cy="627809"/>
            </a:xfrm>
            <a:prstGeom prst="rect">
              <a:avLst/>
            </a:prstGeom>
          </p:spPr>
        </p:pic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08F564-B1F3-407F-953E-311B656B93F6}"/>
              </a:ext>
            </a:extLst>
          </p:cNvPr>
          <p:cNvCxnSpPr/>
          <p:nvPr/>
        </p:nvCxnSpPr>
        <p:spPr>
          <a:xfrm flipV="1">
            <a:off x="6178950" y="1988840"/>
            <a:ext cx="1129354" cy="4320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1A021C1-A59A-43D4-936F-E00F415BDDAF}"/>
              </a:ext>
            </a:extLst>
          </p:cNvPr>
          <p:cNvCxnSpPr>
            <a:cxnSpLocks/>
          </p:cNvCxnSpPr>
          <p:nvPr/>
        </p:nvCxnSpPr>
        <p:spPr>
          <a:xfrm flipV="1">
            <a:off x="6166061" y="2550286"/>
            <a:ext cx="1171181" cy="2160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96AC5DC-DA87-423D-ABD6-06A1C2AD6DB4}"/>
              </a:ext>
            </a:extLst>
          </p:cNvPr>
          <p:cNvCxnSpPr>
            <a:cxnSpLocks/>
          </p:cNvCxnSpPr>
          <p:nvPr/>
        </p:nvCxnSpPr>
        <p:spPr>
          <a:xfrm flipV="1">
            <a:off x="6119832" y="4182569"/>
            <a:ext cx="1217410" cy="4556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481DF5-A4A4-459F-AB78-792088417E62}"/>
              </a:ext>
            </a:extLst>
          </p:cNvPr>
          <p:cNvCxnSpPr>
            <a:cxnSpLocks/>
          </p:cNvCxnSpPr>
          <p:nvPr/>
        </p:nvCxnSpPr>
        <p:spPr>
          <a:xfrm>
            <a:off x="6149391" y="4767585"/>
            <a:ext cx="1187851" cy="4279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76A9FB0-F6CF-40EB-98C2-63C9930791D7}"/>
              </a:ext>
            </a:extLst>
          </p:cNvPr>
          <p:cNvSpPr/>
          <p:nvPr/>
        </p:nvSpPr>
        <p:spPr>
          <a:xfrm>
            <a:off x="5289973" y="5233544"/>
            <a:ext cx="13003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dirty="0"/>
              <a:t>Wie groß</a:t>
            </a:r>
            <a:br>
              <a:rPr lang="de-DE" dirty="0"/>
            </a:br>
            <a:r>
              <a:rPr lang="de-DE" dirty="0"/>
              <a:t>wäre diese</a:t>
            </a:r>
            <a:br>
              <a:rPr lang="de-DE" dirty="0"/>
            </a:br>
            <a:r>
              <a:rPr lang="de-DE" dirty="0"/>
              <a:t>Stufe?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917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RTUR@ADJTKIKJTTW835ML" val="3112"/>
</p:tagLst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keano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keanos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4456</Words>
  <Application>Microsoft Office PowerPoint</Application>
  <PresentationFormat>Bildschirmpräsentation (4:3)</PresentationFormat>
  <Paragraphs>820</Paragraphs>
  <Slides>52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9" baseType="lpstr">
      <vt:lpstr>Arial</vt:lpstr>
      <vt:lpstr>Calibri</vt:lpstr>
      <vt:lpstr>Helvetica</vt:lpstr>
      <vt:lpstr>Symbol</vt:lpstr>
      <vt:lpstr>Wingdings</vt:lpstr>
      <vt:lpstr>Wingdings 3</vt:lpstr>
      <vt:lpstr>Okeanos</vt:lpstr>
      <vt:lpstr>Betriebssysteme und Netzwerke Vorlesung 10</vt:lpstr>
      <vt:lpstr>Was ist richtig?</vt:lpstr>
      <vt:lpstr>Adressenübersetzung mit Zweierpotenzen/2</vt:lpstr>
      <vt:lpstr>Adressübersetzung durch Direkte Seitentabelle</vt:lpstr>
      <vt:lpstr>Beschleunigen der Adressenübersetzung</vt:lpstr>
      <vt:lpstr>Paging und Prozesse</vt:lpstr>
      <vt:lpstr>Paging – Größe der Seitentabelle</vt:lpstr>
      <vt:lpstr>Problem: Größe der Seitentabelle (ST)</vt:lpstr>
      <vt:lpstr>Wie viele Seiten sind nötig?</vt:lpstr>
      <vt:lpstr>Problem: Größe der Seitentabelle</vt:lpstr>
      <vt:lpstr>Zwei Lösungsansätze</vt:lpstr>
      <vt:lpstr>Paging – Invertierte Seitentabellen</vt:lpstr>
      <vt:lpstr>Frame Table als eine Seitentabelle</vt:lpstr>
      <vt:lpstr>Informationen in der Frame Table</vt:lpstr>
      <vt:lpstr>Speicheroptimierung</vt:lpstr>
      <vt:lpstr>Invertierte Seitentabellen</vt:lpstr>
      <vt:lpstr>Invertierte Seitentabellen - Details</vt:lpstr>
      <vt:lpstr>Invertierte Seitentabellen - Größe</vt:lpstr>
      <vt:lpstr>Invertierte Seitentabellen – Nachteile?</vt:lpstr>
      <vt:lpstr>Pingo – Umfrage</vt:lpstr>
      <vt:lpstr>Paging – Mehrstufige Seitentabelle</vt:lpstr>
      <vt:lpstr>Mehrstufige/Hierarchische Seitentabellen</vt:lpstr>
      <vt:lpstr>Mehrstufige/Hierarchische Seitentabellen</vt:lpstr>
      <vt:lpstr>Mehrstufige Seitentabellen - Beispiel</vt:lpstr>
      <vt:lpstr>Mehrstufige Seitentabellen - Probleme</vt:lpstr>
      <vt:lpstr>Mehrstufige Seitentabellen von 64-Bit CPUs</vt:lpstr>
      <vt:lpstr>Video </vt:lpstr>
      <vt:lpstr>Paging bei IA32-Architektur: Konkrete Details   Empfehlenswert zum Lesen: https://wiki.osdev.org/Paging </vt:lpstr>
      <vt:lpstr>Mehrstufige Seitentabellen bei IA32</vt:lpstr>
      <vt:lpstr>Konfigurieren der Seitentabellen bei IA32</vt:lpstr>
      <vt:lpstr>Setzen und Einschalten der Seitentabelle</vt:lpstr>
      <vt:lpstr>Was enthält ein Tabelleneintrag (IA32)? /1</vt:lpstr>
      <vt:lpstr>Was enthält ein Tabelleneintrag (IA32)? /2</vt:lpstr>
      <vt:lpstr>Verständnisfrage Seitentabellen</vt:lpstr>
      <vt:lpstr>Zusammenfassung:  Paging und Seitentabellen</vt:lpstr>
      <vt:lpstr>Paging: Adressenübersetzung in „Kacheln“</vt:lpstr>
      <vt:lpstr>Adressübersetzung mit Fpid(p) = f</vt:lpstr>
      <vt:lpstr>Direkte (d.h. “Normale”) Seitentabellen</vt:lpstr>
      <vt:lpstr>Invertierte Seitentabellen</vt:lpstr>
      <vt:lpstr>Hierarchische Seitentabellen</vt:lpstr>
      <vt:lpstr>Hierarchische Seitentabellen bei IA32</vt:lpstr>
      <vt:lpstr>Bitzählung: Nützliche Zusammenhänge /1</vt:lpstr>
      <vt:lpstr>Bitzählung: Nützliche Zusammenhänge /2</vt:lpstr>
      <vt:lpstr>Bitzählung: Beispiele</vt:lpstr>
      <vt:lpstr>Danke schön.</vt:lpstr>
      <vt:lpstr>Zusätzliche Folien: Invertierte Seitentabellen</vt:lpstr>
      <vt:lpstr>Neuartige Seitentabelle – mit „log. Lücken“</vt:lpstr>
      <vt:lpstr>Direkte vs. „Neuartige“ Seitentabelle</vt:lpstr>
      <vt:lpstr>Neuartige Seitentabelle – mit „log. Lücken“/2</vt:lpstr>
      <vt:lpstr>Neuartige Seitentabelle /3</vt:lpstr>
      <vt:lpstr>Unterteilen einer Direkten Seitentabelle</vt:lpstr>
      <vt:lpstr>Seitentabellen bei 64-Bit Systemen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 Betriebssysteme und Netzwerke</dc:title>
  <dc:creator>Artur Andrzejak</dc:creator>
  <cp:lastModifiedBy>Artur Andrzejak</cp:lastModifiedBy>
  <cp:revision>2217</cp:revision>
  <dcterms:created xsi:type="dcterms:W3CDTF">2009-04-16T23:00:57Z</dcterms:created>
  <dcterms:modified xsi:type="dcterms:W3CDTF">2026-05-12T19:31:06Z</dcterms:modified>
</cp:coreProperties>
</file>