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7"/>
  </p:notesMasterIdLst>
  <p:handoutMasterIdLst>
    <p:handoutMasterId r:id="rId38"/>
  </p:handoutMasterIdLst>
  <p:sldIdLst>
    <p:sldId id="1681" r:id="rId18"/>
  </p:sldIdLst>
  <p:sldSz cx="9144000" cy="6858000" type="screen4x3"/>
  <p:notesSz cx="7104063" cy="10234613"/>
  <p:custDataLst>
    <p:tags r:id="rId39"/>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0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70C0"/>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FFC000"/>
    <a:srgbClr val="FF0000"/>
    <a:srgbClr val="AC8300"/>
    <a:srgbClr val="00B050"/>
    <a:srgbClr val="F22E33"/>
    <a:srgbClr val="004376"/>
    <a:srgbClr val="B4000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Keine Formatvorlage, kein Gitternetz">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0A1B5D5-9B99-4C35-A422-299274C87663}" styleName="Mittlere Formatvorlage 1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aximized" horzBarState="maximized">
    <p:restoredLeft sz="15492" autoAdjust="0"/>
    <p:restoredTop sz="95749" autoAdjust="0"/>
  </p:normalViewPr>
  <p:slideViewPr>
    <p:cSldViewPr>
      <p:cViewPr varScale="1">
        <p:scale>
          <a:sx n="132" d="100"/>
          <a:sy n="132" d="100"/>
        </p:scale>
        <p:origin x="212" y="76"/>
      </p:cViewPr>
      <p:guideLst>
        <p:guide orient="horz" pos="2160"/>
        <p:guide pos="1020"/>
      </p:guideLst>
    </p:cSldViewPr>
  </p:slideViewPr>
  <p:notesTextViewPr>
    <p:cViewPr>
      <p:scale>
        <a:sx n="3" d="2"/>
        <a:sy n="3" d="2"/>
      </p:scale>
      <p:origin x="0" y="0"/>
    </p:cViewPr>
  </p:notesTextViewPr>
  <p:sorterViewPr>
    <p:cViewPr varScale="1">
      <p:scale>
        <a:sx n="1" d="1"/>
        <a:sy n="1" d="1"/>
      </p:scale>
      <p:origin x="0" y="-948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handoutMaster" Target="handoutMasters/handoutMaster1.xml"/><Relationship Id="rId39" Type="http://schemas.openxmlformats.org/officeDocument/2006/relationships/tags" Target="tags/tag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3" y="4"/>
            <a:ext cx="3078427" cy="511731"/>
          </a:xfrm>
          <a:prstGeom prst="rect">
            <a:avLst/>
          </a:prstGeom>
        </p:spPr>
        <p:txBody>
          <a:bodyPr vert="horz" lIns="95489" tIns="47744" rIns="95489" bIns="47744" rtlCol="0"/>
          <a:lstStyle>
            <a:lvl1pPr algn="l">
              <a:defRPr sz="1400"/>
            </a:lvl1pPr>
          </a:lstStyle>
          <a:p>
            <a:endParaRPr lang="de-DE" dirty="0"/>
          </a:p>
        </p:txBody>
      </p:sp>
      <p:sp>
        <p:nvSpPr>
          <p:cNvPr id="3" name="Datumsplatzhalter 2"/>
          <p:cNvSpPr>
            <a:spLocks noGrp="1"/>
          </p:cNvSpPr>
          <p:nvPr>
            <p:ph type="dt" sz="quarter" idx="1"/>
          </p:nvPr>
        </p:nvSpPr>
        <p:spPr>
          <a:xfrm>
            <a:off x="4023995" y="4"/>
            <a:ext cx="3078427" cy="511731"/>
          </a:xfrm>
          <a:prstGeom prst="rect">
            <a:avLst/>
          </a:prstGeom>
        </p:spPr>
        <p:txBody>
          <a:bodyPr vert="horz" lIns="95489" tIns="47744" rIns="95489" bIns="47744" rtlCol="0"/>
          <a:lstStyle>
            <a:lvl1pPr algn="r">
              <a:defRPr sz="1400"/>
            </a:lvl1pPr>
          </a:lstStyle>
          <a:p>
            <a:fld id="{503D259A-BC5A-44A4-AF17-09BFC30AC7B9}" type="datetimeFigureOut">
              <a:rPr lang="de-DE" smtClean="0"/>
              <a:pPr/>
              <a:t>23.06.2026</a:t>
            </a:fld>
            <a:endParaRPr lang="de-DE" dirty="0"/>
          </a:p>
        </p:txBody>
      </p:sp>
      <p:sp>
        <p:nvSpPr>
          <p:cNvPr id="4" name="Fußzeilenplatzhalter 3"/>
          <p:cNvSpPr>
            <a:spLocks noGrp="1"/>
          </p:cNvSpPr>
          <p:nvPr>
            <p:ph type="ftr" sz="quarter" idx="2"/>
          </p:nvPr>
        </p:nvSpPr>
        <p:spPr>
          <a:xfrm>
            <a:off x="3" y="9721111"/>
            <a:ext cx="3078427" cy="511731"/>
          </a:xfrm>
          <a:prstGeom prst="rect">
            <a:avLst/>
          </a:prstGeom>
        </p:spPr>
        <p:txBody>
          <a:bodyPr vert="horz" lIns="95489" tIns="47744" rIns="95489" bIns="47744" rtlCol="0" anchor="b"/>
          <a:lstStyle>
            <a:lvl1pPr algn="l">
              <a:defRPr sz="1400"/>
            </a:lvl1pPr>
          </a:lstStyle>
          <a:p>
            <a:endParaRPr lang="de-DE" dirty="0"/>
          </a:p>
        </p:txBody>
      </p:sp>
      <p:sp>
        <p:nvSpPr>
          <p:cNvPr id="5" name="Foliennummernplatzhalter 4"/>
          <p:cNvSpPr>
            <a:spLocks noGrp="1"/>
          </p:cNvSpPr>
          <p:nvPr>
            <p:ph type="sldNum" sz="quarter" idx="3"/>
          </p:nvPr>
        </p:nvSpPr>
        <p:spPr>
          <a:xfrm>
            <a:off x="4023995" y="9721111"/>
            <a:ext cx="3078427" cy="511731"/>
          </a:xfrm>
          <a:prstGeom prst="rect">
            <a:avLst/>
          </a:prstGeom>
        </p:spPr>
        <p:txBody>
          <a:bodyPr vert="horz" lIns="95489" tIns="47744" rIns="95489" bIns="47744" rtlCol="0" anchor="b"/>
          <a:lstStyle>
            <a:lvl1pPr algn="r">
              <a:defRPr sz="1400"/>
            </a:lvl1pPr>
          </a:lstStyle>
          <a:p>
            <a:fld id="{69916C2F-BC73-49DB-9119-EC35D25111C2}" type="slidenum">
              <a:rPr lang="de-DE" smtClean="0"/>
              <a:pPr/>
              <a:t>‹Nr.›</a:t>
            </a:fld>
            <a:endParaRPr lang="de-DE" dirty="0"/>
          </a:p>
        </p:txBody>
      </p:sp>
    </p:spTree>
    <p:extLst>
      <p:ext uri="{BB962C8B-B14F-4D97-AF65-F5344CB8AC3E}">
        <p14:creationId xmlns:p14="http://schemas.microsoft.com/office/powerpoint/2010/main" val="772789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3" y="4"/>
            <a:ext cx="3078427" cy="511731"/>
          </a:xfrm>
          <a:prstGeom prst="rect">
            <a:avLst/>
          </a:prstGeom>
        </p:spPr>
        <p:txBody>
          <a:bodyPr vert="horz" lIns="95489" tIns="47744" rIns="95489" bIns="47744" rtlCol="0"/>
          <a:lstStyle>
            <a:lvl1pPr algn="l">
              <a:defRPr sz="1400"/>
            </a:lvl1pPr>
          </a:lstStyle>
          <a:p>
            <a:endParaRPr lang="en-US" dirty="0"/>
          </a:p>
        </p:txBody>
      </p:sp>
      <p:sp>
        <p:nvSpPr>
          <p:cNvPr id="3" name="Datumsplatzhalter 2"/>
          <p:cNvSpPr>
            <a:spLocks noGrp="1"/>
          </p:cNvSpPr>
          <p:nvPr>
            <p:ph type="dt" idx="1"/>
          </p:nvPr>
        </p:nvSpPr>
        <p:spPr>
          <a:xfrm>
            <a:off x="4023995" y="4"/>
            <a:ext cx="3078427" cy="511731"/>
          </a:xfrm>
          <a:prstGeom prst="rect">
            <a:avLst/>
          </a:prstGeom>
        </p:spPr>
        <p:txBody>
          <a:bodyPr vert="horz" lIns="95489" tIns="47744" rIns="95489" bIns="47744" rtlCol="0"/>
          <a:lstStyle>
            <a:lvl1pPr algn="r">
              <a:defRPr sz="1400"/>
            </a:lvl1pPr>
          </a:lstStyle>
          <a:p>
            <a:fld id="{4007A66C-EE28-4ADD-A611-42716BED3A40}" type="datetimeFigureOut">
              <a:rPr lang="en-US" smtClean="0"/>
              <a:pPr/>
              <a:t>6/23/2026</a:t>
            </a:fld>
            <a:endParaRPr lang="en-US" dirty="0"/>
          </a:p>
        </p:txBody>
      </p:sp>
      <p:sp>
        <p:nvSpPr>
          <p:cNvPr id="4" name="Folienbildplatzhalter 3"/>
          <p:cNvSpPr>
            <a:spLocks noGrp="1" noRot="1" noChangeAspect="1"/>
          </p:cNvSpPr>
          <p:nvPr>
            <p:ph type="sldImg" idx="2"/>
          </p:nvPr>
        </p:nvSpPr>
        <p:spPr>
          <a:xfrm>
            <a:off x="992188" y="766763"/>
            <a:ext cx="5119687" cy="3838575"/>
          </a:xfrm>
          <a:prstGeom prst="rect">
            <a:avLst/>
          </a:prstGeom>
          <a:noFill/>
          <a:ln w="12700">
            <a:solidFill>
              <a:prstClr val="black"/>
            </a:solidFill>
          </a:ln>
        </p:spPr>
        <p:txBody>
          <a:bodyPr vert="horz" lIns="95489" tIns="47744" rIns="95489" bIns="47744" rtlCol="0" anchor="ctr"/>
          <a:lstStyle/>
          <a:p>
            <a:endParaRPr lang="en-US" dirty="0"/>
          </a:p>
        </p:txBody>
      </p:sp>
      <p:sp>
        <p:nvSpPr>
          <p:cNvPr id="5" name="Notizenplatzhalter 4"/>
          <p:cNvSpPr>
            <a:spLocks noGrp="1"/>
          </p:cNvSpPr>
          <p:nvPr>
            <p:ph type="body" sz="quarter" idx="3"/>
          </p:nvPr>
        </p:nvSpPr>
        <p:spPr>
          <a:xfrm>
            <a:off x="710411" y="4861442"/>
            <a:ext cx="5683249" cy="4605574"/>
          </a:xfrm>
          <a:prstGeom prst="rect">
            <a:avLst/>
          </a:prstGeom>
        </p:spPr>
        <p:txBody>
          <a:bodyPr vert="horz" lIns="95489" tIns="47744" rIns="95489" bIns="47744"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3" y="9721111"/>
            <a:ext cx="3078427" cy="511731"/>
          </a:xfrm>
          <a:prstGeom prst="rect">
            <a:avLst/>
          </a:prstGeom>
        </p:spPr>
        <p:txBody>
          <a:bodyPr vert="horz" lIns="95489" tIns="47744" rIns="95489" bIns="47744" rtlCol="0" anchor="b"/>
          <a:lstStyle>
            <a:lvl1pPr algn="l">
              <a:defRPr sz="1400"/>
            </a:lvl1pPr>
          </a:lstStyle>
          <a:p>
            <a:endParaRPr lang="en-US" dirty="0"/>
          </a:p>
        </p:txBody>
      </p:sp>
      <p:sp>
        <p:nvSpPr>
          <p:cNvPr id="7" name="Foliennummernplatzhalter 6"/>
          <p:cNvSpPr>
            <a:spLocks noGrp="1"/>
          </p:cNvSpPr>
          <p:nvPr>
            <p:ph type="sldNum" sz="quarter" idx="5"/>
          </p:nvPr>
        </p:nvSpPr>
        <p:spPr>
          <a:xfrm>
            <a:off x="4023995" y="9721111"/>
            <a:ext cx="3078427" cy="511731"/>
          </a:xfrm>
          <a:prstGeom prst="rect">
            <a:avLst/>
          </a:prstGeom>
        </p:spPr>
        <p:txBody>
          <a:bodyPr vert="horz" lIns="95489" tIns="47744" rIns="95489" bIns="47744" rtlCol="0" anchor="b"/>
          <a:lstStyle>
            <a:lvl1pPr algn="r">
              <a:defRPr sz="1400"/>
            </a:lvl1pPr>
          </a:lstStyle>
          <a:p>
            <a:fld id="{6D176CDC-8D0E-409F-856B-BAE38288A8E4}" type="slidenum">
              <a:rPr lang="en-US" smtClean="0"/>
              <a:pPr/>
              <a:t>‹Nr.›</a:t>
            </a:fld>
            <a:endParaRPr lang="en-US" dirty="0"/>
          </a:p>
        </p:txBody>
      </p:sp>
    </p:spTree>
    <p:extLst>
      <p:ext uri="{BB962C8B-B14F-4D97-AF65-F5344CB8AC3E}">
        <p14:creationId xmlns:p14="http://schemas.microsoft.com/office/powerpoint/2010/main" val="1060508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de.wikipedia.org/wiki/IPv4" TargetMode="External"/><Relationship Id="rId4" Type="http://schemas.openxmlformats.org/officeDocument/2006/relationships/hyperlink" Target="http://de.wikipedia.org/wiki/IPv6" TargetMode="External"/><Relationship Id="rId5" Type="http://schemas.openxmlformats.org/officeDocument/2006/relationships/hyperlink" Target="http://de.wikipedia.org/wiki/Padding" TargetMode="External"/><Relationship Id="rId6" Type="http://schemas.openxmlformats.org/officeDocument/2006/relationships/hyperlink" Target="http://de.wikipedia.org/wiki/Quality_of_Service" TargetMode="External"/><Relationship Id="rId7" Type="http://schemas.openxmlformats.org/officeDocument/2006/relationships/hyperlink" Target="http://tools.ietf.org/html/rfc791" TargetMode="External"/><Relationship Id="rId8" Type="http://schemas.openxmlformats.org/officeDocument/2006/relationships/hyperlink" Target="http://tools.ietf.org/html/rfc2474" TargetMode="External"/><Relationship Id="rId9" Type="http://schemas.openxmlformats.org/officeDocument/2006/relationships/hyperlink" Target="http://tools.ietf.org/html/rfc3168" TargetMode="External"/><Relationship Id="rId10" Type="http://schemas.openxmlformats.org/officeDocument/2006/relationships/hyperlink" Target="http://de.wikipedia.org/wiki/DiffServ" TargetMode="External"/><Relationship Id="rId11" Type="http://schemas.openxmlformats.org/officeDocument/2006/relationships/hyperlink" Target="http://de.wikipedia.org/wiki/Explicit_Congestion_Notification" TargetMode="External"/><Relationship Id="rId12" Type="http://schemas.openxmlformats.org/officeDocument/2006/relationships/hyperlink" Target="http://www.iana.org/assignments/dscp-registry" TargetMode="External"/><Relationship Id="rId13" Type="http://schemas.openxmlformats.org/officeDocument/2006/relationships/hyperlink" Target="http://de.wikipedia.org/wiki/Byte" TargetMode="External"/><Relationship Id="rId14" Type="http://schemas.openxmlformats.org/officeDocument/2006/relationships/hyperlink" Target="http://de.wikipedia.org/wiki/Hop-Count" TargetMode="External"/><Relationship Id="rId15" Type="http://schemas.openxmlformats.org/officeDocument/2006/relationships/hyperlink" Target="http://de.wikipedia.org/wiki/Protokoll_(IP)" TargetMode="External"/><Relationship Id="rId16" Type="http://schemas.openxmlformats.org/officeDocument/2006/relationships/hyperlink" Target="http://de.wikipedia.org/wiki/Nutzdaten" TargetMode="External"/><Relationship Id="rId17" Type="http://schemas.openxmlformats.org/officeDocument/2006/relationships/hyperlink" Target="http://tools.ietf.org/html/rfc3232" TargetMode="External"/><Relationship Id="rId18" Type="http://schemas.openxmlformats.org/officeDocument/2006/relationships/hyperlink" Target="http://de.wikipedia.org/wiki/Internet_Assigned_Numbers_Authority" TargetMode="External"/><Relationship Id="rId19" Type="http://schemas.openxmlformats.org/officeDocument/2006/relationships/hyperlink" Target="http://www.iana.org/assignments/protocol-numbers" TargetMode="External"/><Relationship Id="rId20" Type="http://schemas.openxmlformats.org/officeDocument/2006/relationships/hyperlink" Target="http://de.wikipedia.org/wiki/TCP/IP-Referenzmodell" TargetMode="External"/><Relationship Id="rId21" Type="http://schemas.openxmlformats.org/officeDocument/2006/relationships/hyperlink" Target="http://de.wikipedia.org/wiki/Einerkomplement" TargetMode="External"/><Relationship Id="rId22" Type="http://schemas.openxmlformats.org/officeDocument/2006/relationships/hyperlink" Target="http://de.wikipedia.org/wiki/Zyklische_Redundanzpr%C3%BCfung" TargetMode="External"/><Relationship Id="rId23" Type="http://schemas.openxmlformats.org/officeDocument/2006/relationships/hyperlink" Target="http://de.wikipedia.org/wiki/IP-Adresse" TargetMode="External"/><Relationship Id="rId24" Type="http://schemas.openxmlformats.org/officeDocument/2006/relationships/hyperlink" Target="http://de.wikipedia.org/wiki/Byte_Order"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de.wikipedia.org/wiki/Subnetz" TargetMode="External"/><Relationship Id="rId4" Type="http://schemas.openxmlformats.org/officeDocument/2006/relationships/hyperlink" Target="http://de.wikipedia.org/wiki/Netzadresse" TargetMode="External"/><Relationship Id="rId5" Type="http://schemas.openxmlformats.org/officeDocument/2006/relationships/hyperlink" Target="http://de.wikipedia.org/wiki/Windows_9x" TargetMode="External"/><Relationship Id="rId6" Type="http://schemas.openxmlformats.org/officeDocument/2006/relationships/hyperlink" Target="http://de.wikipedia.org/wiki/Broadcast" TargetMode="External"/><Relationship Id="rId7" Type="http://schemas.openxmlformats.org/officeDocument/2006/relationships/hyperlink" Target="http://de.wikipedia.org/wiki/Address_Resolution_Protocol"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de.wikipedia.org/wiki/Subnetz" TargetMode="External"/><Relationship Id="rId4" Type="http://schemas.openxmlformats.org/officeDocument/2006/relationships/hyperlink" Target="http://de.wikipedia.org/wiki/IP-Adresse" TargetMode="External"/><Relationship Id="rId5" Type="http://schemas.openxmlformats.org/officeDocument/2006/relationships/hyperlink" Target="http://de.wikipedia.org/wiki/Subnetzmaske" TargetMode="External"/><Relationship Id="rId6" Type="http://schemas.openxmlformats.org/officeDocument/2006/relationships/hyperlink" Target="http://de.wikipedia.org/w/index.php?title=Subnetz&amp;action=edit&amp;section=2"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a:t>
            </a:fld>
            <a:endParaRPr lang="en-US" dirty="0"/>
          </a:p>
        </p:txBody>
      </p:sp>
    </p:spTree>
    <p:extLst>
      <p:ext uri="{BB962C8B-B14F-4D97-AF65-F5344CB8AC3E}">
        <p14:creationId xmlns:p14="http://schemas.microsoft.com/office/powerpoint/2010/main" val="308497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Gesamtheit der Protokolle der verschiedenen Schichten wird als Protokollstapel </a:t>
            </a:r>
            <a:r>
              <a:rPr lang="de-DE" sz="1200" b="0" i="1" u="none" strike="noStrike" kern="1200" baseline="0" dirty="0">
                <a:solidFill>
                  <a:schemeClr val="tx1"/>
                </a:solidFill>
                <a:latin typeface="+mn-lt"/>
                <a:ea typeface="+mn-ea"/>
                <a:cs typeface="+mn-cs"/>
              </a:rPr>
              <a:t>(protocol stack) </a:t>
            </a:r>
            <a:r>
              <a:rPr lang="de-DE" sz="1200" b="0" i="0" u="none" strike="noStrike" kern="1200" baseline="0" dirty="0">
                <a:solidFill>
                  <a:schemeClr val="tx1"/>
                </a:solidFill>
                <a:latin typeface="+mn-lt"/>
                <a:ea typeface="+mn-ea"/>
                <a:cs typeface="+mn-cs"/>
              </a:rPr>
              <a:t>bezeichnet. Wie in  Abbildung  gezeigt, besteht der Internet Pro-tokollstapel aus fünf Schichten: Bitübertragungsschicht, Sicherungsschicht, Netzwerkschicht, Transportschicht und Anwendungsschicht. Betrachten Sie das Inhalts-verzeichnis, werden Sie feststellen, dass wir dieses Buch mithilfe der Schichten des Internet-Protokollstapels strukturiert haben. Mit unserem Top-Down-Ansatz beginnen wir bei der Anwendungsschicht und dringen von dort aus tiefer vor. </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Eine Protokollschicht kann in Software, in Hardware oder in einer Kombination der beiden implementiert werden. Protokolle der Anwendungsschicht </a:t>
            </a:r>
            <a:r>
              <a:rPr lang="de-DE" sz="1200" b="0" i="1" u="none" strike="noStrike" kern="1200" baseline="0" dirty="0">
                <a:solidFill>
                  <a:schemeClr val="tx1"/>
                </a:solidFill>
                <a:latin typeface="+mn-lt"/>
                <a:ea typeface="+mn-ea"/>
                <a:cs typeface="+mn-cs"/>
              </a:rPr>
              <a:t>(application layer)- </a:t>
            </a:r>
            <a:r>
              <a:rPr lang="de-DE" sz="1200" b="0" i="0" u="none" strike="noStrike" kern="1200" baseline="0" dirty="0">
                <a:solidFill>
                  <a:schemeClr val="tx1"/>
                </a:solidFill>
                <a:latin typeface="+mn-lt"/>
                <a:ea typeface="+mn-ea"/>
                <a:cs typeface="+mn-cs"/>
              </a:rPr>
              <a:t>wie HTTP und SMTP - sind fast immer in der Software der Endsysteme untergebracht, genauso wie die Protokolle der Transportschicht </a:t>
            </a:r>
            <a:r>
              <a:rPr lang="de-DE" sz="1200" b="0" i="1" u="none" strike="noStrike" kern="1200" baseline="0" dirty="0">
                <a:solidFill>
                  <a:schemeClr val="tx1"/>
                </a:solidFill>
                <a:latin typeface="+mn-lt"/>
                <a:ea typeface="+mn-ea"/>
                <a:cs typeface="+mn-cs"/>
              </a:rPr>
              <a:t>(transport layer). </a:t>
            </a:r>
            <a:r>
              <a:rPr lang="de-DE" sz="1200" b="0" i="0" u="none" strike="noStrike" kern="1200" baseline="0" dirty="0">
                <a:solidFill>
                  <a:schemeClr val="tx1"/>
                </a:solidFill>
                <a:latin typeface="+mn-lt"/>
                <a:ea typeface="+mn-ea"/>
                <a:cs typeface="+mn-cs"/>
              </a:rPr>
              <a:t>Weil die Bitübertragungsschicht </a:t>
            </a:r>
            <a:r>
              <a:rPr lang="de-DE" sz="1200" b="0" i="1" u="none" strike="noStrike" kern="1200" baseline="0" dirty="0">
                <a:solidFill>
                  <a:schemeClr val="tx1"/>
                </a:solidFill>
                <a:latin typeface="+mn-lt"/>
                <a:ea typeface="+mn-ea"/>
                <a:cs typeface="+mn-cs"/>
              </a:rPr>
              <a:t>(physical layer) </a:t>
            </a:r>
            <a:r>
              <a:rPr lang="de-DE" sz="1200" b="0" i="0" u="none" strike="noStrike" kern="1200" baseline="0" dirty="0">
                <a:solidFill>
                  <a:schemeClr val="tx1"/>
                </a:solidFill>
                <a:latin typeface="+mn-lt"/>
                <a:ea typeface="+mn-ea"/>
                <a:cs typeface="+mn-cs"/>
              </a:rPr>
              <a:t>und die Sicherungsschicht </a:t>
            </a:r>
            <a:r>
              <a:rPr lang="de-DE" sz="1200" b="0" i="1" u="none" strike="noStrike" kern="1200" baseline="0" dirty="0">
                <a:solidFill>
                  <a:schemeClr val="tx1"/>
                </a:solidFill>
                <a:latin typeface="+mn-lt"/>
                <a:ea typeface="+mn-ea"/>
                <a:cs typeface="+mn-cs"/>
              </a:rPr>
              <a:t>{data link layer) </a:t>
            </a:r>
            <a:r>
              <a:rPr lang="de-DE" sz="1200" b="0" i="0" u="none" strike="noStrike" kern="1200" baseline="0" dirty="0">
                <a:solidFill>
                  <a:schemeClr val="tx1"/>
                </a:solidFill>
                <a:latin typeface="+mn-lt"/>
                <a:ea typeface="+mn-ea"/>
                <a:cs typeface="+mn-cs"/>
              </a:rPr>
              <a:t>für die Kommunikation über eine bestimmte Leitungsart verantwortlich sind, werden sie normalerweise in einer Netzwerkkarte untergebracht, die für eine bestimmte Leitungsart geeignet ist (zum Beispiel Ethernet- oder WLAN-Netzwerkkarten). Die Netzwerkschicht </a:t>
            </a:r>
            <a:r>
              <a:rPr lang="de-DE" sz="1200" b="0" i="1" u="none" strike="noStrike" kern="1200" baseline="0" dirty="0">
                <a:solidFill>
                  <a:schemeClr val="tx1"/>
                </a:solidFill>
                <a:latin typeface="+mn-lt"/>
                <a:ea typeface="+mn-ea"/>
                <a:cs typeface="+mn-cs"/>
              </a:rPr>
              <a:t>(network layer) </a:t>
            </a:r>
            <a:r>
              <a:rPr lang="de-DE" sz="1200" b="0" i="0" u="none" strike="noStrike" kern="1200" baseline="0" dirty="0">
                <a:solidFill>
                  <a:schemeClr val="tx1"/>
                </a:solidFill>
                <a:latin typeface="+mn-lt"/>
                <a:ea typeface="+mn-ea"/>
                <a:cs typeface="+mn-cs"/>
              </a:rPr>
              <a:t>ist oft eine Mischung aus Hardware und Software. </a:t>
            </a:r>
          </a:p>
          <a:p>
            <a:endParaRPr lang="de-DE" dirty="0"/>
          </a:p>
          <a:p>
            <a:r>
              <a:rPr lang="de-DE" dirty="0"/>
              <a:t>--------------</a:t>
            </a:r>
          </a:p>
          <a:p>
            <a:r>
              <a:rPr lang="de-DE" sz="1200" b="1" i="0" u="none" strike="noStrike" kern="1200" baseline="0" dirty="0">
                <a:solidFill>
                  <a:schemeClr val="tx1"/>
                </a:solidFill>
                <a:latin typeface="+mn-lt"/>
                <a:ea typeface="+mn-ea"/>
                <a:cs typeface="+mn-cs"/>
              </a:rPr>
              <a:t>Anwendungsschicht </a:t>
            </a:r>
            <a:r>
              <a:rPr lang="de-DE" sz="1200" b="0" i="0" u="none" strike="noStrike" kern="1200" baseline="0" dirty="0">
                <a:solidFill>
                  <a:schemeClr val="tx1"/>
                </a:solidFill>
                <a:latin typeface="+mn-lt"/>
                <a:ea typeface="+mn-ea"/>
                <a:cs typeface="+mn-cs"/>
              </a:rPr>
              <a:t>In der Anwendungsschicht sind Netzanwendungen und ihre Protokolle beheimatet. Die Anwendungsschicht des Internets enthält viele Protokolle wie z.B. das HTTP-Pro-tokoll (das die Anforderung und Übertragung von Webdokumenten ermöglicht), SMTP (das die Übertragung von E-Mails steuert) und FTP (für die Übertragung von Dateien zwischen zwei Endsystemen). Wir werden noch sehen, dass bestimmte Netz-werkfunktionen ebenfalls mithilfe eines Anwendungsschicht-Protokolls durchgeführt werden, etwa die Übersetzung von leserfreundlichen Namen für Internetendsysteme wie </a:t>
            </a:r>
            <a:r>
              <a:rPr lang="de-DE" sz="1200" b="0" i="1" u="none" strike="noStrike" kern="1200" baseline="0" dirty="0">
                <a:solidFill>
                  <a:schemeClr val="tx1"/>
                </a:solidFill>
                <a:latin typeface="+mn-lt"/>
                <a:ea typeface="+mn-ea"/>
                <a:cs typeface="+mn-cs"/>
              </a:rPr>
              <a:t>www.ietf.org </a:t>
            </a:r>
            <a:r>
              <a:rPr lang="de-DE" sz="1200" b="0" i="0" u="none" strike="noStrike" kern="1200" baseline="0" dirty="0">
                <a:solidFill>
                  <a:schemeClr val="tx1"/>
                </a:solidFill>
                <a:latin typeface="+mn-lt"/>
                <a:ea typeface="+mn-ea"/>
                <a:cs typeface="+mn-cs"/>
              </a:rPr>
              <a:t>in eine 32 Bit-Netzadresse durch das Domain Name System (DNS). Wir werden in Kapitel 2 erfahren, dass eigene Anwendungsschichtprotokolle sehr einfach erzeugt und eingesetzt werden können. Ein Anwendungsschichtprotokoll verteilt sich über mehrere Endsysteme hinweg, wobei eine Anwendung auf einem Endsystem das Protokoll benutzt, um Informati-onspakete mit Anwendungen auf einem anderen Endsystem auszutauschen. Wir nen-nen dieses Informationspaket der Anwendungsschicht eine Nachricht.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Transportschicht </a:t>
            </a: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Transportschicht des Internets überträgt Nachrichten der Anwendungsschicht zwischen Endpunkten von Anwendungen. Im Internet gibt es die beiden TransportprotokolleTCPundUDP,diebeideNachrichtenderAnwendungsschicht transportieren können.TCPbietetdenAnwendungen einenverbindungsorientiertenDienstan.Dieser Dienst beinhaltet die garantierte Zustellung von Nachrichten der Anwendungsschicht zum Ziel sowie eine Flusskontrolle (das heißt, die Geschwindigkeiten von SenderundEmpfängerwerdeneinanderangepasst).TCPzerlegtlangeNachrichten in kürzere Segmente und liefert zudem einen Überlastkontrollmechanismus, so dass eine Quelle ihre Übertragungsgeschwindigkeit zurückfahren kann, wenn das Netz überlastet ist. Das UDP-Protokoll bietet Anwendungen dagegen einen verbindungslosen Dienst. Dies ist ein Dienst ohne jedeA Schnickschnack, der weder Zuverlässigkeit, Flusskontrolle noch Überlastkontrolle beinhaltet. In diesem Buch nennen wir ein Paket der Transportschicht ein Segment.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Netzwerkschicht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Pakete der Netzwerkschicht, die als Data-gramme bezeichnet werden, von einem Host zu einem anderen. Genau wie Sie einen Brief mit einer Zieladresse an den Postdienst geben würden, reicht das Transportschichtprotokoll (TCP oder UDP) eines Quellsystem sein Segment der Transportschicht und eine Zieladresse an die Netzwerkschicht weiter. DieNetzwerkschicht erbringtdann der Transportschicht ihren Dienst und liefert das Segment an den Zielhost. </a:t>
            </a:r>
          </a:p>
          <a:p>
            <a:r>
              <a:rPr lang="de-DE" sz="1200" b="0" i="0" u="none" strike="noStrike" kern="1200" baseline="0" dirty="0">
                <a:solidFill>
                  <a:schemeClr val="tx1"/>
                </a:solidFill>
                <a:latin typeface="+mn-lt"/>
                <a:ea typeface="+mn-ea"/>
                <a:cs typeface="+mn-cs"/>
              </a:rPr>
              <a:t>Die Netzwerkschicht des Internets beinhaltet das bekannte IP-Protokoll, das die Felder im Datagramm definiert und auch die Reaktion der Endsysteme und Router auf dieseFelderfestlegt. EsgibtnureinIP-ProtokollundalleKomponenten desInternets, die eine Netzwerkschicht besitzen, müssen das IP-Protokoll verwenden. Die Netzwerkschicht des Internets enthält auch Routing-Protokolle, welche die Wege bestimmen, die Datagramme zwischen Quelle und Ziel einschlagen. Allerdings hat das Internet viele Routing-Protokolle. Wie wir in Abschnitt 1.3 gesehen haben, ist das Internet ein Netz von Netzwerken und innerhalb eines Netzes kann der Netzadministrator jedes beliebige Routing-Protokoll einsetzen. Obwohl die Netzwerkschicht sowohl das IP-Protokoll als auch zahlreiche Routing-Protokolle enthält, wird es oft einfach die IP-Schicht genannt, was der Tatsache Rechnung trägt, dass IP der Leim ist, der das Internet zusammenhält.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Sicherungsschicht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ein Datagramm über eine Reihe von Routern von der Quelle zum Ziel. Um ein Paket von einem Knoten (einem Host oder einem Router) zum nächsten Knoten zu bringen, verlässt sich die Netzwerkschicht auf die Dienste der Sicherungs schicht. Insbesondere leitet die Netzwerkschicht an jedem Knoten das Datagramm zur Sicherungsschicht, die es zum nächsten Knoten entlang der Strecke schickt. An diesem nächsten Knoten reicht die Sicherungsschicht das Datagramm dann zur Netzwerkschicht zurück. Die von der Sicherungs schicht erbrachten Dienste hängen vom jeweiligen Protokoll der Sicherungsschicht ab, das auf dieser Leitung aktiv ist. Zum Beispiel bieten einige Sicherungsschichtprotokolle die zuverlässige Übertragung vom sendenden Knoten über eine Leitung zum empfangenden Knoten. Beachten Sie bitte, dass diese Art der zuverlässigen Übertragung etwas anderes ist als die zuverlässige Übertragung von TCP -Letztere gewährleistet die zuverlässige Übertragung von einem Endsystem zu einem anderen. Beispiele für Protokolle der Sicherungsschicht sind Ethernet, WLAN und das Point-to-Point Protocol (PPP). Da Datagramme normalerweise mehrere Leitungen auf ihrem Wegvon der Quelle zu ihrem Zielort durchqueren, kann ein Datagramm von verschiedenen Sicherungsschichtprotokollen über verschiedene Leitungen übertragen werden. Zum Beispiel kann ein Datagramm über eine Leitung mittels Ethernet, über eine andere aber mittels PPP übertragen werden. In diesem Buch bezeichnen wir die Pakete der Sicherungsschicht als Rahmen </a:t>
            </a:r>
            <a:r>
              <a:rPr lang="de-DE" sz="1200" b="0" i="1" u="none" strike="noStrike" kern="1200" baseline="0" dirty="0">
                <a:solidFill>
                  <a:schemeClr val="tx1"/>
                </a:solidFill>
                <a:latin typeface="+mn-lt"/>
                <a:ea typeface="+mn-ea"/>
                <a:cs typeface="+mn-cs"/>
              </a:rPr>
              <a:t>(Frames). </a:t>
            </a:r>
          </a:p>
          <a:p>
            <a:endParaRPr lang="de-DE" sz="1200" b="0" i="0" u="none" strike="noStrike" kern="1200" baseline="0" dirty="0">
              <a:solidFill>
                <a:schemeClr val="tx1"/>
              </a:solidFill>
              <a:latin typeface="+mn-lt"/>
              <a:ea typeface="+mn-ea"/>
              <a:cs typeface="+mn-cs"/>
            </a:endParaRPr>
          </a:p>
          <a:p>
            <a:r>
              <a:rPr lang="de-DE" sz="1200" b="1" i="0" u="none" strike="noStrike" kern="1200" baseline="0" dirty="0">
                <a:solidFill>
                  <a:schemeClr val="tx1"/>
                </a:solidFill>
                <a:latin typeface="+mn-lt"/>
                <a:ea typeface="+mn-ea"/>
                <a:cs typeface="+mn-cs"/>
              </a:rPr>
              <a:t>Bitübertragungsschicht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Während die Aufgabe der Sicherungsschicht darin liegt, komplette Rahmen von einem Element des Netzwerkes zu einem benachbarten Element zu transportieren, befasst sich die Bitübertragungsschicht damit, die </a:t>
            </a:r>
            <a:r>
              <a:rPr lang="de-DE" sz="1200" b="0" i="1" u="none" strike="noStrike" kern="1200" baseline="0" dirty="0">
                <a:solidFill>
                  <a:schemeClr val="tx1"/>
                </a:solidFill>
                <a:latin typeface="+mn-lt"/>
                <a:ea typeface="+mn-ea"/>
                <a:cs typeface="+mn-cs"/>
              </a:rPr>
              <a:t>einzelnen Bits </a:t>
            </a:r>
            <a:r>
              <a:rPr lang="de-DE" sz="1200" b="0" i="0" u="none" strike="noStrike" kern="1200" baseline="0" dirty="0">
                <a:solidFill>
                  <a:schemeClr val="tx1"/>
                </a:solidFill>
                <a:latin typeface="+mn-lt"/>
                <a:ea typeface="+mn-ea"/>
                <a:cs typeface="+mn-cs"/>
              </a:rPr>
              <a:t>innerhalb eines Rahmens von einem Knoten zum nächsten zu übermitteln. Die Protokolle in dieser Schicht hängen wieder von der Leitung ab, aber auch vom tatsächlich auf dieser Leitung verwendeten Übertragungsmedium (z.B. verdrillte Kupferdrähte oder Glasfasern). Ethernet zum Beispiel sieht viele Protokolle für die Bitübertragungsschicht vor: eines für verdrillte Kupferdrähte, ein anderes für Koaxialkabel, wieder ein anderes für Glasfasern usw. In jedem dieser Fälle wird ein Bit auf andere Weise über die  Leitung transportiert. </a:t>
            </a: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3</a:t>
            </a:fld>
            <a:endParaRPr lang="en-US" dirty="0"/>
          </a:p>
        </p:txBody>
      </p:sp>
    </p:spTree>
    <p:extLst>
      <p:ext uri="{BB962C8B-B14F-4D97-AF65-F5344CB8AC3E}">
        <p14:creationId xmlns:p14="http://schemas.microsoft.com/office/powerpoint/2010/main" val="2419201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de-DE" sz="1200" b="1" i="0" kern="1200" dirty="0">
                <a:solidFill>
                  <a:schemeClr val="tx1"/>
                </a:solidFill>
                <a:effectLst/>
                <a:latin typeface="+mn-lt"/>
                <a:ea typeface="+mn-ea"/>
                <a:cs typeface="+mn-cs"/>
              </a:rPr>
              <a:t>Version </a:t>
            </a:r>
          </a:p>
          <a:p>
            <a:r>
              <a:rPr lang="de-DE" sz="1200" b="0" i="0" kern="1200" dirty="0">
                <a:solidFill>
                  <a:schemeClr val="tx1"/>
                </a:solidFill>
                <a:effectLst/>
                <a:latin typeface="+mn-lt"/>
                <a:ea typeface="+mn-ea"/>
                <a:cs typeface="+mn-cs"/>
              </a:rPr>
              <a:t>4 Bit breit. Die IP-Version. Hierbei sind </a:t>
            </a:r>
            <a:r>
              <a:rPr lang="de-DE" sz="1200" b="0" i="0" u="none" strike="noStrike" kern="1200" dirty="0">
                <a:solidFill>
                  <a:schemeClr val="tx1"/>
                </a:solidFill>
                <a:effectLst/>
                <a:latin typeface="+mn-lt"/>
                <a:ea typeface="+mn-ea"/>
                <a:cs typeface="+mn-cs"/>
                <a:hlinkClick r:id="rId3" tooltip="IPv4"/>
              </a:rPr>
              <a:t>Version 4</a:t>
            </a:r>
            <a:r>
              <a:rPr lang="de-DE" sz="1200" b="0" i="0" kern="1200" dirty="0">
                <a:solidFill>
                  <a:schemeClr val="tx1"/>
                </a:solidFill>
                <a:effectLst/>
                <a:latin typeface="+mn-lt"/>
                <a:ea typeface="+mn-ea"/>
                <a:cs typeface="+mn-cs"/>
              </a:rPr>
              <a:t> und </a:t>
            </a:r>
            <a:r>
              <a:rPr lang="de-DE" sz="1200" b="0" i="0" u="none" strike="noStrike" kern="1200" dirty="0">
                <a:solidFill>
                  <a:schemeClr val="tx1"/>
                </a:solidFill>
                <a:effectLst/>
                <a:latin typeface="+mn-lt"/>
                <a:ea typeface="+mn-ea"/>
                <a:cs typeface="+mn-cs"/>
                <a:hlinkClick r:id="rId4" tooltip="IPv6"/>
              </a:rPr>
              <a:t>Version 6</a:t>
            </a:r>
            <a:r>
              <a:rPr lang="de-DE" sz="1200" b="0" i="0" kern="1200" dirty="0">
                <a:solidFill>
                  <a:schemeClr val="tx1"/>
                </a:solidFill>
                <a:effectLst/>
                <a:latin typeface="+mn-lt"/>
                <a:ea typeface="+mn-ea"/>
                <a:cs typeface="+mn-cs"/>
              </a:rPr>
              <a:t> zur Zeit möglich, wobei Version 4 die im Internet meistgenutzte ist.</a:t>
            </a:r>
          </a:p>
          <a:p>
            <a:r>
              <a:rPr lang="de-DE" sz="1200" b="1" i="0" kern="1200" dirty="0">
                <a:solidFill>
                  <a:schemeClr val="tx1"/>
                </a:solidFill>
                <a:effectLst/>
                <a:latin typeface="+mn-lt"/>
                <a:ea typeface="+mn-ea"/>
                <a:cs typeface="+mn-cs"/>
              </a:rPr>
              <a:t>IHL (IP Header Length)</a:t>
            </a:r>
          </a:p>
          <a:p>
            <a:r>
              <a:rPr lang="de-DE" sz="1200" b="0" i="0" kern="1200" dirty="0">
                <a:solidFill>
                  <a:schemeClr val="tx1"/>
                </a:solidFill>
                <a:effectLst/>
                <a:latin typeface="+mn-lt"/>
                <a:ea typeface="+mn-ea"/>
                <a:cs typeface="+mn-cs"/>
              </a:rPr>
              <a:t>4 Bit breit. Die gesamte Länge des IP-Kopfdatenbereiches wird in Vielfachen von 32 Bit angegeben. Steht hier also eine 5, so ist der Kopfdatenbereich 5 mal 32 Bit gleich 160 Bit oder 20 Byte lang, was auch die Minimallänge für den IP-Kopfdatenbereich ist (das Options-Feld ist optional) und dadurch anzeigt, wo die Nutzdaten beginnen.</a:t>
            </a:r>
          </a:p>
          <a:p>
            <a:r>
              <a:rPr lang="de-DE" sz="1200" b="0" i="0" kern="1200" dirty="0">
                <a:solidFill>
                  <a:schemeClr val="tx1"/>
                </a:solidFill>
                <a:effectLst/>
                <a:latin typeface="+mn-lt"/>
                <a:ea typeface="+mn-ea"/>
                <a:cs typeface="+mn-cs"/>
              </a:rPr>
              <a:t>n1 bis nx sind Optionen</a:t>
            </a:r>
            <a:br>
              <a:rPr lang="de-DE" sz="1200" b="0" i="0" kern="1200" dirty="0">
                <a:solidFill>
                  <a:schemeClr val="tx1"/>
                </a:solidFill>
                <a:effectLst/>
                <a:latin typeface="+mn-lt"/>
                <a:ea typeface="+mn-ea"/>
                <a:cs typeface="+mn-cs"/>
              </a:rPr>
            </a:br>
            <a:r>
              <a:rPr lang="de-DE" sz="1200" b="0" i="0" kern="1200" dirty="0">
                <a:solidFill>
                  <a:schemeClr val="tx1"/>
                </a:solidFill>
                <a:effectLst/>
                <a:latin typeface="+mn-lt"/>
                <a:ea typeface="+mn-ea"/>
                <a:cs typeface="+mn-cs"/>
              </a:rPr>
              <a:t>Gesamtlänge des Headers = (5 · 32) + (Länge(n1) + ... + Länge(nx) + </a:t>
            </a:r>
            <a:r>
              <a:rPr lang="de-DE" sz="1200" b="0" i="0" u="none" strike="noStrike" kern="1200" dirty="0">
                <a:solidFill>
                  <a:schemeClr val="tx1"/>
                </a:solidFill>
                <a:effectLst/>
                <a:latin typeface="+mn-lt"/>
                <a:ea typeface="+mn-ea"/>
                <a:cs typeface="+mn-cs"/>
                <a:hlinkClick r:id="rId5" tooltip="Padding"/>
              </a:rPr>
              <a:t>Padding</a:t>
            </a:r>
            <a:r>
              <a:rPr lang="de-DE" sz="1200" b="0" i="0" kern="1200" dirty="0">
                <a:solidFill>
                  <a:schemeClr val="tx1"/>
                </a:solidFill>
                <a:effectLst/>
                <a:latin typeface="+mn-lt"/>
                <a:ea typeface="+mn-ea"/>
                <a:cs typeface="+mn-cs"/>
              </a:rPr>
              <a:t> auf 32 Bit)</a:t>
            </a:r>
          </a:p>
          <a:p>
            <a:r>
              <a:rPr lang="de-DE" sz="1200" b="1" i="0" kern="1200" dirty="0">
                <a:solidFill>
                  <a:schemeClr val="tx1"/>
                </a:solidFill>
                <a:effectLst/>
                <a:latin typeface="+mn-lt"/>
                <a:ea typeface="+mn-ea"/>
                <a:cs typeface="+mn-cs"/>
              </a:rPr>
              <a:t>TOS (Type of Service) </a:t>
            </a:r>
            <a:r>
              <a:rPr lang="de-DE" sz="1200" b="0" i="0" kern="1200" dirty="0">
                <a:solidFill>
                  <a:schemeClr val="tx1"/>
                </a:solidFill>
                <a:effectLst/>
                <a:latin typeface="+mn-lt"/>
                <a:ea typeface="+mn-ea"/>
                <a:cs typeface="+mn-cs"/>
              </a:rPr>
              <a:t> </a:t>
            </a:r>
            <a:endParaRPr lang="de-DE" sz="1200" b="1"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8 Bit breit. Das Feld kann für die Priorisierung von IP-Datenpaketen gesetzt und ausgewertet werden (</a:t>
            </a:r>
            <a:r>
              <a:rPr lang="de-DE" sz="1200" b="0" i="0" u="none" strike="noStrike" kern="1200" dirty="0">
                <a:solidFill>
                  <a:schemeClr val="tx1"/>
                </a:solidFill>
                <a:effectLst/>
                <a:latin typeface="+mn-lt"/>
                <a:ea typeface="+mn-ea"/>
                <a:cs typeface="+mn-cs"/>
                <a:hlinkClick r:id="rId6" tooltip="Quality of Service"/>
              </a:rPr>
              <a:t>Quality of Service</a:t>
            </a:r>
            <a:r>
              <a:rPr lang="de-DE" sz="1200" b="0" i="0" kern="1200" dirty="0">
                <a:solidFill>
                  <a:schemeClr val="tx1"/>
                </a:solidFill>
                <a:effectLst/>
                <a:latin typeface="+mn-lt"/>
                <a:ea typeface="+mn-ea"/>
                <a:cs typeface="+mn-cs"/>
              </a:rPr>
              <a:t>).</a:t>
            </a:r>
          </a:p>
          <a:p>
            <a:r>
              <a:rPr lang="de-DE" sz="1200" b="0" i="0" kern="1200" dirty="0">
                <a:solidFill>
                  <a:schemeClr val="tx1"/>
                </a:solidFill>
                <a:effectLst/>
                <a:latin typeface="+mn-lt"/>
                <a:ea typeface="+mn-ea"/>
                <a:cs typeface="+mn-cs"/>
              </a:rPr>
              <a:t>Früher (</a:t>
            </a:r>
            <a:r>
              <a:rPr lang="de-DE" sz="1200" b="0" i="0" u="none" strike="noStrike" kern="1200" dirty="0">
                <a:solidFill>
                  <a:schemeClr val="tx1"/>
                </a:solidFill>
                <a:effectLst/>
                <a:latin typeface="+mn-lt"/>
                <a:ea typeface="+mn-ea"/>
                <a:cs typeface="+mn-cs"/>
                <a:hlinkClick r:id="rId7"/>
              </a:rPr>
              <a:t>RFC 791</a:t>
            </a:r>
            <a:r>
              <a:rPr lang="de-DE" sz="1200" b="0" i="0" kern="1200" dirty="0">
                <a:solidFill>
                  <a:schemeClr val="tx1"/>
                </a:solidFill>
                <a:effectLst/>
                <a:latin typeface="+mn-lt"/>
                <a:ea typeface="+mn-ea"/>
                <a:cs typeface="+mn-cs"/>
              </a:rPr>
              <a:t>) wurden die Bits wie folgt interpretiert:</a:t>
            </a:r>
          </a:p>
          <a:p>
            <a:r>
              <a:rPr lang="de-DE" sz="1200" b="0" i="0" kern="1200" dirty="0">
                <a:solidFill>
                  <a:schemeClr val="tx1"/>
                </a:solidFill>
                <a:effectLst/>
                <a:latin typeface="+mn-lt"/>
                <a:ea typeface="+mn-ea"/>
                <a:cs typeface="+mn-cs"/>
              </a:rPr>
              <a:t>Bits 0-2: Precedence. Bit 3: 0 = Normal Delay, 1 = Low Delay. Bit 4: 0 = Normal Throughput, 1 = High Throughput. Bit 5: 0 = Normal Reliability, 1 = High Reliability. Bits 6-7: Reserved for Future Use. </a:t>
            </a:r>
            <a:br>
              <a:rPr lang="de-DE" sz="1200" b="0" i="0" kern="1200" dirty="0">
                <a:solidFill>
                  <a:schemeClr val="tx1"/>
                </a:solidFill>
                <a:effectLst/>
                <a:latin typeface="+mn-lt"/>
                <a:ea typeface="+mn-ea"/>
                <a:cs typeface="+mn-cs"/>
              </a:rPr>
            </a:br>
            <a:r>
              <a:rPr lang="de-DE" sz="1200" b="0" i="0" kern="1200" dirty="0">
                <a:solidFill>
                  <a:schemeClr val="tx1"/>
                </a:solidFill>
                <a:effectLst/>
                <a:latin typeface="+mn-lt"/>
                <a:ea typeface="+mn-ea"/>
                <a:cs typeface="+mn-cs"/>
              </a:rPr>
              <a:t>Seit Dezember 1998 (</a:t>
            </a:r>
            <a:r>
              <a:rPr lang="de-DE" sz="1200" b="0" i="0" u="none" strike="noStrike" kern="1200" dirty="0">
                <a:solidFill>
                  <a:schemeClr val="tx1"/>
                </a:solidFill>
                <a:effectLst/>
                <a:latin typeface="+mn-lt"/>
                <a:ea typeface="+mn-ea"/>
                <a:cs typeface="+mn-cs"/>
                <a:hlinkClick r:id="rId8"/>
              </a:rPr>
              <a:t>RFC 2474</a:t>
            </a:r>
            <a:r>
              <a:rPr lang="de-DE" sz="1200" b="0" i="0" kern="1200" dirty="0">
                <a:solidFill>
                  <a:schemeClr val="tx1"/>
                </a:solidFill>
                <a:effectLst/>
                <a:latin typeface="+mn-lt"/>
                <a:ea typeface="+mn-ea"/>
                <a:cs typeface="+mn-cs"/>
              </a:rPr>
              <a:t>) gilt folgende Aufteilung:</a:t>
            </a:r>
          </a:p>
          <a:p>
            <a:r>
              <a:rPr lang="de-DE" sz="1200" b="0" i="0" kern="1200" dirty="0">
                <a:solidFill>
                  <a:schemeClr val="tx1"/>
                </a:solidFill>
                <a:effectLst/>
                <a:latin typeface="+mn-lt"/>
                <a:ea typeface="+mn-ea"/>
                <a:cs typeface="+mn-cs"/>
              </a:rPr>
              <a:t>Bits 0-5: DSCP (Differentiated Services Code Point) Bits 6-7: CU (Currently unused) Seit September 2001 (</a:t>
            </a:r>
            <a:r>
              <a:rPr lang="de-DE" sz="1200" b="0" i="0" u="none" strike="noStrike" kern="1200" dirty="0">
                <a:solidFill>
                  <a:schemeClr val="tx1"/>
                </a:solidFill>
                <a:effectLst/>
                <a:latin typeface="+mn-lt"/>
                <a:ea typeface="+mn-ea"/>
                <a:cs typeface="+mn-cs"/>
                <a:hlinkClick r:id="rId9"/>
              </a:rPr>
              <a:t>RFC 3168</a:t>
            </a:r>
            <a:r>
              <a:rPr lang="de-DE" sz="1200" b="0" i="0" kern="1200" dirty="0">
                <a:solidFill>
                  <a:schemeClr val="tx1"/>
                </a:solidFill>
                <a:effectLst/>
                <a:latin typeface="+mn-lt"/>
                <a:ea typeface="+mn-ea"/>
                <a:cs typeface="+mn-cs"/>
              </a:rPr>
              <a:t>) gilt folgende Aufteilung:</a:t>
            </a:r>
          </a:p>
          <a:p>
            <a:r>
              <a:rPr lang="de-DE" sz="1200" b="0" i="0" kern="1200" dirty="0">
                <a:solidFill>
                  <a:schemeClr val="tx1"/>
                </a:solidFill>
                <a:effectLst/>
                <a:latin typeface="+mn-lt"/>
                <a:ea typeface="+mn-ea"/>
                <a:cs typeface="+mn-cs"/>
              </a:rPr>
              <a:t>Bits 0-5: DSCP (Differentiated Services Code Point) Bits 6-7: ECN (Explicit Congestion Notification – IP-Flusskontrolle) </a:t>
            </a:r>
            <a:r>
              <a:rPr lang="de-DE" sz="1200" b="0" i="0" u="none" strike="noStrike" kern="1200" dirty="0">
                <a:solidFill>
                  <a:schemeClr val="tx1"/>
                </a:solidFill>
                <a:effectLst/>
                <a:latin typeface="+mn-lt"/>
                <a:ea typeface="+mn-ea"/>
                <a:cs typeface="+mn-cs"/>
                <a:hlinkClick r:id="rId10" tooltip="DiffServ"/>
              </a:rPr>
              <a:t>mehr zu DSCP</a:t>
            </a:r>
            <a:r>
              <a:rPr lang="de-DE" sz="1200" b="0" i="0" kern="1200" dirty="0">
                <a:solidFill>
                  <a:schemeClr val="tx1"/>
                </a:solidFill>
                <a:effectLst/>
                <a:latin typeface="+mn-lt"/>
                <a:ea typeface="+mn-ea"/>
                <a:cs typeface="+mn-cs"/>
              </a:rPr>
              <a:t> und </a:t>
            </a:r>
            <a:r>
              <a:rPr lang="de-DE" sz="1200" b="0" i="0" u="none" strike="noStrike" kern="1200" dirty="0">
                <a:solidFill>
                  <a:schemeClr val="tx1"/>
                </a:solidFill>
                <a:effectLst/>
                <a:latin typeface="+mn-lt"/>
                <a:ea typeface="+mn-ea"/>
                <a:cs typeface="+mn-cs"/>
                <a:hlinkClick r:id="rId11" tooltip="Explicit Congestion Notification"/>
              </a:rPr>
              <a:t>ECN</a:t>
            </a:r>
            <a:r>
              <a:rPr lang="de-DE" sz="1200" b="0" i="0" kern="1200" dirty="0">
                <a:solidFill>
                  <a:schemeClr val="tx1"/>
                </a:solidFill>
                <a:effectLst/>
                <a:latin typeface="+mn-lt"/>
                <a:ea typeface="+mn-ea"/>
                <a:cs typeface="+mn-cs"/>
              </a:rPr>
              <a:t>, </a:t>
            </a:r>
            <a:r>
              <a:rPr lang="de-DE" sz="1200" b="0" i="0" u="none" strike="noStrike" kern="1200" dirty="0">
                <a:solidFill>
                  <a:schemeClr val="tx1"/>
                </a:solidFill>
                <a:effectLst/>
                <a:latin typeface="+mn-lt"/>
                <a:ea typeface="+mn-ea"/>
                <a:cs typeface="+mn-cs"/>
                <a:hlinkClick r:id="rId12"/>
              </a:rPr>
              <a:t>vgl. DSCP-Registry von IANA</a:t>
            </a:r>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Die beiden Standards </a:t>
            </a:r>
            <a:r>
              <a:rPr lang="de-DE" sz="1200" b="0" i="0" u="none" strike="noStrike" kern="1200" dirty="0">
                <a:solidFill>
                  <a:schemeClr val="tx1"/>
                </a:solidFill>
                <a:effectLst/>
                <a:latin typeface="+mn-lt"/>
                <a:ea typeface="+mn-ea"/>
                <a:cs typeface="+mn-cs"/>
                <a:hlinkClick r:id="rId7"/>
              </a:rPr>
              <a:t>RFC 791</a:t>
            </a:r>
            <a:r>
              <a:rPr lang="de-DE" sz="1200" b="0" i="0" kern="1200" dirty="0">
                <a:solidFill>
                  <a:schemeClr val="tx1"/>
                </a:solidFill>
                <a:effectLst/>
                <a:latin typeface="+mn-lt"/>
                <a:ea typeface="+mn-ea"/>
                <a:cs typeface="+mn-cs"/>
              </a:rPr>
              <a:t> und </a:t>
            </a:r>
            <a:r>
              <a:rPr lang="de-DE" sz="1200" b="0" i="0" u="none" strike="noStrike" kern="1200" dirty="0">
                <a:solidFill>
                  <a:schemeClr val="tx1"/>
                </a:solidFill>
                <a:effectLst/>
                <a:latin typeface="+mn-lt"/>
                <a:ea typeface="+mn-ea"/>
                <a:cs typeface="+mn-cs"/>
                <a:hlinkClick r:id="rId8"/>
              </a:rPr>
              <a:t>RFC 2474</a:t>
            </a:r>
            <a:r>
              <a:rPr lang="de-DE" sz="1200" b="0" i="0" kern="1200" dirty="0">
                <a:solidFill>
                  <a:schemeClr val="tx1"/>
                </a:solidFill>
                <a:effectLst/>
                <a:latin typeface="+mn-lt"/>
                <a:ea typeface="+mn-ea"/>
                <a:cs typeface="+mn-cs"/>
              </a:rPr>
              <a:t> sind dann kompatibel, wenn man die ersten 6 Bit auf Null setzt.</a:t>
            </a:r>
          </a:p>
          <a:p>
            <a:r>
              <a:rPr lang="de-DE" sz="1200" b="1" i="0" kern="1200" dirty="0">
                <a:solidFill>
                  <a:schemeClr val="tx1"/>
                </a:solidFill>
                <a:effectLst/>
                <a:latin typeface="+mn-lt"/>
                <a:ea typeface="+mn-ea"/>
                <a:cs typeface="+mn-cs"/>
              </a:rPr>
              <a:t>Total Length </a:t>
            </a:r>
            <a:r>
              <a:rPr lang="de-DE" sz="1200" b="0" i="0" kern="1200" dirty="0">
                <a:solidFill>
                  <a:schemeClr val="tx1"/>
                </a:solidFill>
                <a:effectLst/>
                <a:latin typeface="+mn-lt"/>
                <a:ea typeface="+mn-ea"/>
                <a:cs typeface="+mn-cs"/>
              </a:rPr>
              <a:t> </a:t>
            </a:r>
            <a:endParaRPr lang="de-DE" sz="1200" b="1"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16 Bit breit. Gibt die Länge des gesamten Pakets (inkl. Kopfdaten) in Bytes an. Daraus ergibt sich eine maximale Paketlänge von 65535 Bytes (64 </a:t>
            </a:r>
            <a:r>
              <a:rPr lang="de-DE" sz="1200" b="0" i="0" u="none" strike="noStrike" kern="1200" dirty="0">
                <a:solidFill>
                  <a:schemeClr val="tx1"/>
                </a:solidFill>
                <a:effectLst/>
                <a:latin typeface="+mn-lt"/>
                <a:ea typeface="+mn-ea"/>
                <a:cs typeface="+mn-cs"/>
                <a:hlinkClick r:id="rId13" tooltip="Byte"/>
              </a:rPr>
              <a:t>KiB</a:t>
            </a:r>
            <a:r>
              <a:rPr lang="de-DE" sz="1200" b="0" i="0" kern="1200" dirty="0">
                <a:solidFill>
                  <a:schemeClr val="tx1"/>
                </a:solidFill>
                <a:effectLst/>
                <a:latin typeface="+mn-lt"/>
                <a:ea typeface="+mn-ea"/>
                <a:cs typeface="+mn-cs"/>
              </a:rPr>
              <a:t>). Alle Hosts müssen Datagramme mit einer Länge von mindestens 576 Bytes verarbeiten können.</a:t>
            </a:r>
          </a:p>
          <a:p>
            <a:r>
              <a:rPr lang="de-DE" sz="1200" b="1" i="0" kern="1200" dirty="0">
                <a:solidFill>
                  <a:schemeClr val="tx1"/>
                </a:solidFill>
                <a:effectLst/>
                <a:latin typeface="+mn-lt"/>
                <a:ea typeface="+mn-ea"/>
                <a:cs typeface="+mn-cs"/>
              </a:rPr>
              <a:t>Identification </a:t>
            </a:r>
          </a:p>
          <a:p>
            <a:r>
              <a:rPr lang="de-DE" sz="1200" b="0" i="0" kern="1200" dirty="0">
                <a:solidFill>
                  <a:schemeClr val="tx1"/>
                </a:solidFill>
                <a:effectLst/>
                <a:latin typeface="+mn-lt"/>
                <a:ea typeface="+mn-ea"/>
                <a:cs typeface="+mn-cs"/>
              </a:rPr>
              <a:t>16 Bit breit. Dieses und die beiden folgenden Felder </a:t>
            </a:r>
            <a:r>
              <a:rPr lang="de-DE" sz="1200" b="0" i="1" kern="1200" dirty="0">
                <a:solidFill>
                  <a:schemeClr val="tx1"/>
                </a:solidFill>
                <a:effectLst/>
                <a:latin typeface="+mn-lt"/>
                <a:ea typeface="+mn-ea"/>
                <a:cs typeface="+mn-cs"/>
              </a:rPr>
              <a:t>Flags</a:t>
            </a:r>
            <a:r>
              <a:rPr lang="de-DE" sz="1200" b="0" i="0" kern="1200" dirty="0">
                <a:solidFill>
                  <a:schemeClr val="tx1"/>
                </a:solidFill>
                <a:effectLst/>
                <a:latin typeface="+mn-lt"/>
                <a:ea typeface="+mn-ea"/>
                <a:cs typeface="+mn-cs"/>
              </a:rPr>
              <a:t> und </a:t>
            </a:r>
            <a:r>
              <a:rPr lang="de-DE" sz="1200" b="0" i="1" kern="1200" dirty="0">
                <a:solidFill>
                  <a:schemeClr val="tx1"/>
                </a:solidFill>
                <a:effectLst/>
                <a:latin typeface="+mn-lt"/>
                <a:ea typeface="+mn-ea"/>
                <a:cs typeface="+mn-cs"/>
              </a:rPr>
              <a:t>Fragment Offset</a:t>
            </a:r>
            <a:r>
              <a:rPr lang="de-DE" sz="1200" b="0" i="0" kern="1200" dirty="0">
                <a:solidFill>
                  <a:schemeClr val="tx1"/>
                </a:solidFill>
                <a:effectLst/>
                <a:latin typeface="+mn-lt"/>
                <a:ea typeface="+mn-ea"/>
                <a:cs typeface="+mn-cs"/>
              </a:rPr>
              <a:t> steuern die Reassembly (Zusammensetzen von zuvor fragmentierten IP-Datenpaketen). Eindeutige Kennung eines Datagramms. Anhand dieses Feldes und der 'Source Address' kann der Empfänger die Zusammengehörigkeit von Fragmenten detektieren und sie wieder reassemblieren.</a:t>
            </a:r>
          </a:p>
          <a:p>
            <a:r>
              <a:rPr lang="de-DE" sz="1200" b="1" i="0" kern="1200" dirty="0">
                <a:solidFill>
                  <a:schemeClr val="tx1"/>
                </a:solidFill>
                <a:effectLst/>
                <a:latin typeface="+mn-lt"/>
                <a:ea typeface="+mn-ea"/>
                <a:cs typeface="+mn-cs"/>
              </a:rPr>
              <a:t>Flags </a:t>
            </a:r>
          </a:p>
          <a:p>
            <a:r>
              <a:rPr lang="de-DE" sz="1200" b="0" i="0" kern="1200" dirty="0">
                <a:solidFill>
                  <a:schemeClr val="tx1"/>
                </a:solidFill>
                <a:effectLst/>
                <a:latin typeface="+mn-lt"/>
                <a:ea typeface="+mn-ea"/>
                <a:cs typeface="+mn-cs"/>
              </a:rPr>
              <a:t>3 Bit breit. Ein Kontroll-Schalter mit folgender Bedeutung:</a:t>
            </a:r>
          </a:p>
          <a:p>
            <a:r>
              <a:rPr lang="de-DE" sz="1200" b="0" i="0" kern="1200" dirty="0">
                <a:solidFill>
                  <a:schemeClr val="tx1"/>
                </a:solidFill>
                <a:effectLst/>
                <a:latin typeface="+mn-lt"/>
                <a:ea typeface="+mn-ea"/>
                <a:cs typeface="+mn-cs"/>
              </a:rPr>
              <a:t>Bit 0 : reserviert, muss 0 sein Bit 1 (DF (Don't Fragment)): 0/1 darf/darf nicht zerlegt (fragmentiert) werden Bit 2 (MF (More Fragments)): 0/1 letztes Fragment/weitere Fragmente folgen </a:t>
            </a:r>
          </a:p>
          <a:p>
            <a:endParaRPr lang="de-DE" sz="1200" b="0" i="0" kern="1200" dirty="0">
              <a:solidFill>
                <a:schemeClr val="tx1"/>
              </a:solidFill>
              <a:effectLst/>
              <a:latin typeface="+mn-lt"/>
              <a:ea typeface="+mn-ea"/>
              <a:cs typeface="+mn-cs"/>
            </a:endParaRPr>
          </a:p>
          <a:p>
            <a:r>
              <a:rPr lang="de-DE" sz="1200" b="1" i="0" kern="1200" dirty="0">
                <a:solidFill>
                  <a:schemeClr val="tx1"/>
                </a:solidFill>
                <a:effectLst/>
                <a:latin typeface="+mn-lt"/>
                <a:ea typeface="+mn-ea"/>
                <a:cs typeface="+mn-cs"/>
              </a:rPr>
              <a:t>Fragment Offset </a:t>
            </a:r>
          </a:p>
          <a:p>
            <a:r>
              <a:rPr lang="de-DE" sz="1200" b="0" i="0" kern="1200" dirty="0">
                <a:solidFill>
                  <a:schemeClr val="tx1"/>
                </a:solidFill>
                <a:effectLst/>
                <a:latin typeface="+mn-lt"/>
                <a:ea typeface="+mn-ea"/>
                <a:cs typeface="+mn-cs"/>
              </a:rPr>
              <a:t>13 Bit breit. Eine Nummer, die bei fragmentierten Paketen besagt, ab welcher Position innerhalb des Paketes das Fragment anfängt. Die Nummerierung bezieht sich auf Daten-Blöcke von 64 Bit bzw. 8 Byte Größe und ist unabhängig von der Fragmentierung. Ein Paket kann daher falls notwendig mehrmals hintereinander in immer kleinere Fragmente zerteilt werden. Dabei muss nur die Nummer des ersten enthaltenen Datenblocks (Offset) und das Total-Length-Feld an die Länge des Fragments angepasst werden. Das erste Fragment, oder ein nicht fragmentiertes Paket, enthält als Offset den Wert Null. Ist ein Paket mit 800 Byte Nutzdaten (Offset-Nummerierung von 0 bis 99) in zwei Fragmente zerteilt ist der Offset des zweiten Fragments die Nummer 50. Da der Offset keinerlei Hinweis enthält wie groß das ursprüngliche Paket ist, muss das allerletzte Fragment das MF-Flag auf Null setzen.</a:t>
            </a:r>
          </a:p>
          <a:p>
            <a:r>
              <a:rPr lang="de-DE" sz="1200" b="1" i="0" kern="1200" dirty="0">
                <a:solidFill>
                  <a:schemeClr val="tx1"/>
                </a:solidFill>
                <a:effectLst/>
                <a:latin typeface="+mn-lt"/>
                <a:ea typeface="+mn-ea"/>
                <a:cs typeface="+mn-cs"/>
              </a:rPr>
              <a:t>Time to Live </a:t>
            </a:r>
          </a:p>
          <a:p>
            <a:r>
              <a:rPr lang="de-DE" sz="1200" b="0" i="0" kern="1200" dirty="0">
                <a:solidFill>
                  <a:schemeClr val="tx1"/>
                </a:solidFill>
                <a:effectLst/>
                <a:latin typeface="+mn-lt"/>
                <a:ea typeface="+mn-ea"/>
                <a:cs typeface="+mn-cs"/>
              </a:rPr>
              <a:t>8 Bit breit. Ein Wert, der die Lebensdauer des Pakets angibt. Hat dieses Feld den Wert null, so wird das Paket verworfen. Jede Station (Router) auf dem Weg des Pakets verringert diesen Wert um eins. Dies soll verhindern, dass Pakete ewig weitergeleitet werden (beispielsweise wenn das Paket fälschlicherweise im Kreis geleitet wird und somit das Netz überlasten würde).</a:t>
            </a:r>
          </a:p>
          <a:p>
            <a:r>
              <a:rPr lang="de-DE" sz="1200" b="0" i="0" kern="1200" dirty="0">
                <a:solidFill>
                  <a:schemeClr val="tx1"/>
                </a:solidFill>
                <a:effectLst/>
                <a:latin typeface="+mn-lt"/>
                <a:ea typeface="+mn-ea"/>
                <a:cs typeface="+mn-cs"/>
              </a:rPr>
              <a:t>Der Standard von 1981 sieht vor, dass jede Station den TTL-Wert um die Anzahl Sekunden verringert, wie lange das Paket an der Station verweilt, mindestens jedoch um eins. Heute wird es de facto als </a:t>
            </a:r>
            <a:r>
              <a:rPr lang="de-DE" sz="1200" b="0" i="0" u="none" strike="noStrike" kern="1200" dirty="0">
                <a:solidFill>
                  <a:schemeClr val="tx1"/>
                </a:solidFill>
                <a:effectLst/>
                <a:latin typeface="+mn-lt"/>
                <a:ea typeface="+mn-ea"/>
                <a:cs typeface="+mn-cs"/>
                <a:hlinkClick r:id="rId14" tooltip="Hop-Count"/>
              </a:rPr>
              <a:t>Hop-Count</a:t>
            </a:r>
            <a:r>
              <a:rPr lang="de-DE" sz="1200" b="0" i="0" kern="1200" dirty="0">
                <a:solidFill>
                  <a:schemeClr val="tx1"/>
                </a:solidFill>
                <a:effectLst/>
                <a:latin typeface="+mn-lt"/>
                <a:ea typeface="+mn-ea"/>
                <a:cs typeface="+mn-cs"/>
              </a:rPr>
              <a:t> implementiert.</a:t>
            </a:r>
          </a:p>
          <a:p>
            <a:r>
              <a:rPr lang="de-DE" sz="1200" b="1" i="0" kern="1200" dirty="0">
                <a:solidFill>
                  <a:schemeClr val="tx1"/>
                </a:solidFill>
                <a:effectLst/>
                <a:latin typeface="+mn-lt"/>
                <a:ea typeface="+mn-ea"/>
                <a:cs typeface="+mn-cs"/>
              </a:rPr>
              <a:t>Protocol </a:t>
            </a:r>
          </a:p>
          <a:p>
            <a:r>
              <a:rPr lang="de-DE" sz="1200" b="0" i="0" kern="1200" dirty="0">
                <a:solidFill>
                  <a:schemeClr val="tx1"/>
                </a:solidFill>
                <a:effectLst/>
                <a:latin typeface="+mn-lt"/>
                <a:ea typeface="+mn-ea"/>
                <a:cs typeface="+mn-cs"/>
              </a:rPr>
              <a:t>8 Bit breit. Dieses Feld bezeichnet das </a:t>
            </a:r>
            <a:r>
              <a:rPr lang="de-DE" sz="1200" b="0" i="0" u="none" strike="noStrike" kern="1200" dirty="0">
                <a:solidFill>
                  <a:schemeClr val="tx1"/>
                </a:solidFill>
                <a:effectLst/>
                <a:latin typeface="+mn-lt"/>
                <a:ea typeface="+mn-ea"/>
                <a:cs typeface="+mn-cs"/>
                <a:hlinkClick r:id="rId15" tooltip="Protokoll (IP)"/>
              </a:rPr>
              <a:t>Folgeprotokoll</a:t>
            </a:r>
            <a:r>
              <a:rPr lang="de-DE" sz="1200" b="0" i="0" kern="1200" dirty="0">
                <a:solidFill>
                  <a:schemeClr val="tx1"/>
                </a:solidFill>
                <a:effectLst/>
                <a:latin typeface="+mn-lt"/>
                <a:ea typeface="+mn-ea"/>
                <a:cs typeface="+mn-cs"/>
              </a:rPr>
              <a:t>, zu dem die im betreffenden IPv4-Paket transportierten </a:t>
            </a:r>
            <a:r>
              <a:rPr lang="de-DE" sz="1200" b="0" i="0" u="none" strike="noStrike" kern="1200" dirty="0">
                <a:solidFill>
                  <a:schemeClr val="tx1"/>
                </a:solidFill>
                <a:effectLst/>
                <a:latin typeface="+mn-lt"/>
                <a:ea typeface="+mn-ea"/>
                <a:cs typeface="+mn-cs"/>
                <a:hlinkClick r:id="rId16" tooltip="Nutzdaten"/>
              </a:rPr>
              <a:t>Nutzdaten</a:t>
            </a:r>
            <a:r>
              <a:rPr lang="de-DE" sz="1200" b="0" i="0" kern="1200" dirty="0">
                <a:solidFill>
                  <a:schemeClr val="tx1"/>
                </a:solidFill>
                <a:effectLst/>
                <a:latin typeface="+mn-lt"/>
                <a:ea typeface="+mn-ea"/>
                <a:cs typeface="+mn-cs"/>
              </a:rPr>
              <a:t> gehören. Enthält das IP-Paket zum Beispiel ein TCP-Paket, steht hier der Wert 6, für ein UDP-Paket 17. Diese Werte werden seit </a:t>
            </a:r>
            <a:r>
              <a:rPr lang="de-DE" sz="1200" b="0" i="0" u="none" strike="noStrike" kern="1200" dirty="0">
                <a:solidFill>
                  <a:schemeClr val="tx1"/>
                </a:solidFill>
                <a:effectLst/>
                <a:latin typeface="+mn-lt"/>
                <a:ea typeface="+mn-ea"/>
                <a:cs typeface="+mn-cs"/>
                <a:hlinkClick r:id="rId17"/>
              </a:rPr>
              <a:t>RFC 3232</a:t>
            </a:r>
            <a:r>
              <a:rPr lang="de-DE" sz="1200" b="0" i="0" kern="1200" dirty="0">
                <a:solidFill>
                  <a:schemeClr val="tx1"/>
                </a:solidFill>
                <a:effectLst/>
                <a:latin typeface="+mn-lt"/>
                <a:ea typeface="+mn-ea"/>
                <a:cs typeface="+mn-cs"/>
              </a:rPr>
              <a:t> von der </a:t>
            </a:r>
            <a:r>
              <a:rPr lang="de-DE" sz="1200" b="0" i="0" u="none" strike="noStrike" kern="1200" dirty="0">
                <a:solidFill>
                  <a:schemeClr val="tx1"/>
                </a:solidFill>
                <a:effectLst/>
                <a:latin typeface="+mn-lt"/>
                <a:ea typeface="+mn-ea"/>
                <a:cs typeface="+mn-cs"/>
                <a:hlinkClick r:id="rId18" tooltip="Internet Assigned Numbers Authority"/>
              </a:rPr>
              <a:t>IANA</a:t>
            </a:r>
            <a:r>
              <a:rPr lang="de-DE" sz="1200" b="0" i="0" kern="1200" dirty="0">
                <a:solidFill>
                  <a:schemeClr val="tx1"/>
                </a:solidFill>
                <a:effectLst/>
                <a:latin typeface="+mn-lt"/>
                <a:ea typeface="+mn-ea"/>
                <a:cs typeface="+mn-cs"/>
              </a:rPr>
              <a:t> in einer</a:t>
            </a:r>
            <a:r>
              <a:rPr lang="de-DE" sz="1200" b="0" i="0" u="none" strike="noStrike" kern="1200" dirty="0">
                <a:solidFill>
                  <a:schemeClr val="tx1"/>
                </a:solidFill>
                <a:effectLst/>
                <a:latin typeface="+mn-lt"/>
                <a:ea typeface="+mn-ea"/>
                <a:cs typeface="+mn-cs"/>
                <a:hlinkClick r:id="rId19"/>
              </a:rPr>
              <a:t>Online-Datenbank für Protokoll-Nummern</a:t>
            </a:r>
            <a:r>
              <a:rPr lang="de-DE" sz="1200" b="0" i="0" kern="1200" dirty="0">
                <a:solidFill>
                  <a:schemeClr val="tx1"/>
                </a:solidFill>
                <a:effectLst/>
                <a:latin typeface="+mn-lt"/>
                <a:ea typeface="+mn-ea"/>
                <a:cs typeface="+mn-cs"/>
              </a:rPr>
              <a:t> definiert.</a:t>
            </a:r>
          </a:p>
          <a:p>
            <a:r>
              <a:rPr lang="de-DE" sz="1200" b="0" i="0" kern="1200" dirty="0">
                <a:solidFill>
                  <a:schemeClr val="tx1"/>
                </a:solidFill>
                <a:effectLst/>
                <a:latin typeface="+mn-lt"/>
                <a:ea typeface="+mn-ea"/>
                <a:cs typeface="+mn-cs"/>
              </a:rPr>
              <a:t>Im IPv6-Header gibt es dieses Feld ebenfalls, allerdings heißt es dort </a:t>
            </a:r>
            <a:r>
              <a:rPr lang="de-DE" sz="1200" b="0" i="1" kern="1200" dirty="0">
                <a:solidFill>
                  <a:schemeClr val="tx1"/>
                </a:solidFill>
                <a:effectLst/>
                <a:latin typeface="+mn-lt"/>
                <a:ea typeface="+mn-ea"/>
                <a:cs typeface="+mn-cs"/>
              </a:rPr>
              <a:t>Next Header</a:t>
            </a:r>
            <a:r>
              <a:rPr lang="de-DE" sz="1200" b="0" i="0" kern="1200" dirty="0">
                <a:solidFill>
                  <a:schemeClr val="tx1"/>
                </a:solidFill>
                <a:effectLst/>
                <a:latin typeface="+mn-lt"/>
                <a:ea typeface="+mn-ea"/>
                <a:cs typeface="+mn-cs"/>
              </a:rPr>
              <a:t>. Die zulässigen Werte sind die gleichen wie bei IPv4.</a:t>
            </a:r>
          </a:p>
          <a:p>
            <a:r>
              <a:rPr lang="de-DE" sz="1200" b="1" i="0" kern="1200" dirty="0">
                <a:solidFill>
                  <a:schemeClr val="tx1"/>
                </a:solidFill>
                <a:effectLst/>
                <a:latin typeface="+mn-lt"/>
                <a:ea typeface="+mn-ea"/>
                <a:cs typeface="+mn-cs"/>
              </a:rPr>
              <a:t>Header Checksum </a:t>
            </a:r>
          </a:p>
          <a:p>
            <a:r>
              <a:rPr lang="de-DE" sz="1200" b="0" i="0" kern="1200" dirty="0">
                <a:solidFill>
                  <a:schemeClr val="tx1"/>
                </a:solidFill>
                <a:effectLst/>
                <a:latin typeface="+mn-lt"/>
                <a:ea typeface="+mn-ea"/>
                <a:cs typeface="+mn-cs"/>
              </a:rPr>
              <a:t>16 Bit breit. Eine Prüfsumme sichert ausschließlich den Kopfdatenbereich. IP selbst hat keine Mechanismen zur Prüfung der Nutzlast auf Korrektheit, dies wird im </a:t>
            </a:r>
            <a:r>
              <a:rPr lang="de-DE" sz="1200" b="0" i="0" u="none" strike="noStrike" kern="1200" dirty="0">
                <a:solidFill>
                  <a:schemeClr val="tx1"/>
                </a:solidFill>
                <a:effectLst/>
                <a:latin typeface="+mn-lt"/>
                <a:ea typeface="+mn-ea"/>
                <a:cs typeface="+mn-cs"/>
                <a:hlinkClick r:id="rId20" tooltip="TCP/IP-Referenzmodell"/>
              </a:rPr>
              <a:t>TCP/IP-Referenzmodell</a:t>
            </a:r>
            <a:r>
              <a:rPr lang="de-DE" sz="1200" b="0" i="0" kern="1200" dirty="0">
                <a:solidFill>
                  <a:schemeClr val="tx1"/>
                </a:solidFill>
                <a:effectLst/>
                <a:latin typeface="+mn-lt"/>
                <a:ea typeface="+mn-ea"/>
                <a:cs typeface="+mn-cs"/>
              </a:rPr>
              <a:t> durch die Transportschicht sichergestellt. Dieser Wert wird bei jeder Station neu verifiziert und – weil sich die TTL pro Hop verändert – neu berechnet. Dabei werden alle 16-Bit-Halbwörter des Kopfdatenbereichs nach den Regeln des </a:t>
            </a:r>
            <a:r>
              <a:rPr lang="de-DE" sz="1200" b="0" i="0" u="none" strike="noStrike" kern="1200" dirty="0">
                <a:solidFill>
                  <a:schemeClr val="tx1"/>
                </a:solidFill>
                <a:effectLst/>
                <a:latin typeface="+mn-lt"/>
                <a:ea typeface="+mn-ea"/>
                <a:cs typeface="+mn-cs"/>
                <a:hlinkClick r:id="rId21" tooltip="Einerkomplement"/>
              </a:rPr>
              <a:t>Einerkomplements</a:t>
            </a:r>
            <a:r>
              <a:rPr lang="de-DE" sz="1200" b="0" i="0" kern="1200" dirty="0">
                <a:solidFill>
                  <a:schemeClr val="tx1"/>
                </a:solidFill>
                <a:effectLst/>
                <a:latin typeface="+mn-lt"/>
                <a:ea typeface="+mn-ea"/>
                <a:cs typeface="+mn-cs"/>
              </a:rPr>
              <a:t> addiert (Übertrag auf das LSB addieren) und von der Summe das Einerkomplement gebildet. Das Ergebnis sollte 1111 1111 1111 1111 (Hex: 0xFFFF) sein, denn sonst ist ein Fehler im Header. Vorteil dabei ist, dass sich die Checksumme pro Hop nur um eins erhöht. Die Berechnung kann daher schnell in der Hardware ausgeführt werden. Bei einem zuverlässigeren Prüfverfahren wie </a:t>
            </a:r>
            <a:r>
              <a:rPr lang="de-DE" sz="1200" b="0" i="0" u="none" strike="noStrike" kern="1200" dirty="0">
                <a:solidFill>
                  <a:schemeClr val="tx1"/>
                </a:solidFill>
                <a:effectLst/>
                <a:latin typeface="+mn-lt"/>
                <a:ea typeface="+mn-ea"/>
                <a:cs typeface="+mn-cs"/>
                <a:hlinkClick r:id="rId22" tooltip="Zyklische Redundanzprüfung"/>
              </a:rPr>
              <a:t>CRC</a:t>
            </a:r>
            <a:r>
              <a:rPr lang="de-DE" sz="1200" b="0" i="0" kern="1200" dirty="0">
                <a:solidFill>
                  <a:schemeClr val="tx1"/>
                </a:solidFill>
                <a:effectLst/>
                <a:latin typeface="+mn-lt"/>
                <a:ea typeface="+mn-ea"/>
                <a:cs typeface="+mn-cs"/>
              </a:rPr>
              <a:t> müsste dagegen die Prüfsumme bei jedem Hop komplett neu berechnet werden. Trotzdem kostet das Prüfen der Checksumme verhältnismäßig viel Zeit. Moderne Router überprüfen die Header Checksum aus Performancegründen nicht und inkrementieren sie nur. Diese Umstände haben dazu geführt, dass dieses Feld bei IPv6 nicht mehr existiert.</a:t>
            </a:r>
          </a:p>
          <a:p>
            <a:r>
              <a:rPr lang="de-DE" sz="1200" b="1" i="0" kern="1200" dirty="0">
                <a:solidFill>
                  <a:schemeClr val="tx1"/>
                </a:solidFill>
                <a:effectLst/>
                <a:latin typeface="+mn-lt"/>
                <a:ea typeface="+mn-ea"/>
                <a:cs typeface="+mn-cs"/>
              </a:rPr>
              <a:t>Source Address </a:t>
            </a:r>
          </a:p>
          <a:p>
            <a:r>
              <a:rPr lang="de-DE" sz="1200" b="0" i="0" kern="1200" dirty="0">
                <a:solidFill>
                  <a:schemeClr val="tx1"/>
                </a:solidFill>
                <a:effectLst/>
                <a:latin typeface="+mn-lt"/>
                <a:ea typeface="+mn-ea"/>
                <a:cs typeface="+mn-cs"/>
              </a:rPr>
              <a:t>32 Bit breit. Enthält die </a:t>
            </a:r>
            <a:r>
              <a:rPr lang="de-DE" sz="1200" b="0" i="0" u="none" strike="noStrike" kern="1200" dirty="0">
                <a:solidFill>
                  <a:schemeClr val="tx1"/>
                </a:solidFill>
                <a:effectLst/>
                <a:latin typeface="+mn-lt"/>
                <a:ea typeface="+mn-ea"/>
                <a:cs typeface="+mn-cs"/>
                <a:hlinkClick r:id="rId23" tooltip="IP-Adresse"/>
              </a:rPr>
              <a:t>Quelladresse</a:t>
            </a:r>
            <a:r>
              <a:rPr lang="de-DE" sz="1200" b="0" i="0" kern="1200" dirty="0">
                <a:solidFill>
                  <a:schemeClr val="tx1"/>
                </a:solidFill>
                <a:effectLst/>
                <a:latin typeface="+mn-lt"/>
                <a:ea typeface="+mn-ea"/>
                <a:cs typeface="+mn-cs"/>
              </a:rPr>
              <a:t> des IP-Pakets in </a:t>
            </a:r>
            <a:r>
              <a:rPr lang="de-DE" sz="1200" b="0" i="1" kern="1200" dirty="0">
                <a:solidFill>
                  <a:schemeClr val="tx1"/>
                </a:solidFill>
                <a:effectLst/>
                <a:latin typeface="+mn-lt"/>
                <a:ea typeface="+mn-ea"/>
                <a:cs typeface="+mn-cs"/>
              </a:rPr>
              <a:t>network byte order</a:t>
            </a:r>
            <a:r>
              <a:rPr lang="de-DE" sz="1200" b="0" i="0" kern="1200" dirty="0">
                <a:solidFill>
                  <a:schemeClr val="tx1"/>
                </a:solidFill>
                <a:effectLst/>
                <a:latin typeface="+mn-lt"/>
                <a:ea typeface="+mn-ea"/>
                <a:cs typeface="+mn-cs"/>
              </a:rPr>
              <a:t> (</a:t>
            </a:r>
            <a:r>
              <a:rPr lang="de-DE" sz="1200" b="0" i="0" u="none" strike="noStrike" kern="1200" dirty="0">
                <a:solidFill>
                  <a:schemeClr val="tx1"/>
                </a:solidFill>
                <a:effectLst/>
                <a:latin typeface="+mn-lt"/>
                <a:ea typeface="+mn-ea"/>
                <a:cs typeface="+mn-cs"/>
                <a:hlinkClick r:id="rId24" tooltip="Byte Order"/>
              </a:rPr>
              <a:t>Byte Order</a:t>
            </a:r>
            <a:r>
              <a:rPr lang="de-DE" sz="1200" b="0" i="0" kern="1200" dirty="0">
                <a:solidFill>
                  <a:schemeClr val="tx1"/>
                </a:solidFill>
                <a:effectLst/>
                <a:latin typeface="+mn-lt"/>
                <a:ea typeface="+mn-ea"/>
                <a:cs typeface="+mn-cs"/>
              </a:rPr>
              <a:t>, erstes Byte ist das </a:t>
            </a:r>
            <a:r>
              <a:rPr lang="de-DE" sz="1200" b="0" i="1" kern="1200" dirty="0">
                <a:solidFill>
                  <a:schemeClr val="tx1"/>
                </a:solidFill>
                <a:effectLst/>
                <a:latin typeface="+mn-lt"/>
                <a:ea typeface="+mn-ea"/>
                <a:cs typeface="+mn-cs"/>
              </a:rPr>
              <a:t>most significant Byte</a:t>
            </a:r>
            <a:r>
              <a:rPr lang="de-DE" sz="1200" b="0" i="0" kern="1200" dirty="0">
                <a:solidFill>
                  <a:schemeClr val="tx1"/>
                </a:solidFill>
                <a:effectLst/>
                <a:latin typeface="+mn-lt"/>
                <a:ea typeface="+mn-ea"/>
                <a:cs typeface="+mn-cs"/>
              </a:rPr>
              <a:t>).</a:t>
            </a:r>
          </a:p>
          <a:p>
            <a:r>
              <a:rPr lang="de-DE" sz="1200" b="1" i="0" kern="1200" dirty="0">
                <a:solidFill>
                  <a:schemeClr val="tx1"/>
                </a:solidFill>
                <a:effectLst/>
                <a:latin typeface="+mn-lt"/>
                <a:ea typeface="+mn-ea"/>
                <a:cs typeface="+mn-cs"/>
              </a:rPr>
              <a:t>Destination Address </a:t>
            </a:r>
          </a:p>
          <a:p>
            <a:r>
              <a:rPr lang="de-DE" sz="1200" b="0" i="0" kern="1200" dirty="0">
                <a:solidFill>
                  <a:schemeClr val="tx1"/>
                </a:solidFill>
                <a:effectLst/>
                <a:latin typeface="+mn-lt"/>
                <a:ea typeface="+mn-ea"/>
                <a:cs typeface="+mn-cs"/>
              </a:rPr>
              <a:t>Enthält die </a:t>
            </a:r>
            <a:r>
              <a:rPr lang="de-DE" sz="1200" b="0" i="0" u="none" strike="noStrike" kern="1200" dirty="0">
                <a:solidFill>
                  <a:schemeClr val="tx1"/>
                </a:solidFill>
                <a:effectLst/>
                <a:latin typeface="+mn-lt"/>
                <a:ea typeface="+mn-ea"/>
                <a:cs typeface="+mn-cs"/>
                <a:hlinkClick r:id="rId23" tooltip="IP-Adresse"/>
              </a:rPr>
              <a:t>Zieladresse</a:t>
            </a:r>
            <a:r>
              <a:rPr lang="de-DE" sz="1200" b="0" i="0" kern="1200" dirty="0">
                <a:solidFill>
                  <a:schemeClr val="tx1"/>
                </a:solidFill>
                <a:effectLst/>
                <a:latin typeface="+mn-lt"/>
                <a:ea typeface="+mn-ea"/>
                <a:cs typeface="+mn-cs"/>
              </a:rPr>
              <a:t> im gleichen Format wie die Quelladresse.</a:t>
            </a:r>
          </a:p>
          <a:p>
            <a:r>
              <a:rPr lang="de-DE" sz="1200" b="1" i="0" kern="1200" dirty="0">
                <a:solidFill>
                  <a:schemeClr val="tx1"/>
                </a:solidFill>
                <a:effectLst/>
                <a:latin typeface="+mn-lt"/>
                <a:ea typeface="+mn-ea"/>
                <a:cs typeface="+mn-cs"/>
              </a:rPr>
              <a:t>Options und Padding </a:t>
            </a:r>
          </a:p>
          <a:p>
            <a:r>
              <a:rPr lang="de-DE" sz="1200" b="0" i="0" kern="1200" dirty="0">
                <a:solidFill>
                  <a:schemeClr val="tx1"/>
                </a:solidFill>
                <a:effectLst/>
                <a:latin typeface="+mn-lt"/>
                <a:ea typeface="+mn-ea"/>
                <a:cs typeface="+mn-cs"/>
              </a:rPr>
              <a:t>Zusatzinformationen. Die Optionen müssen ein Vielfaches von 32 Bit lang sein. Sind sie das nicht, wird mit 0-Bits aufgefüllt (Padding). Aufgrund der Größenbeschränkung des Feldes </a:t>
            </a:r>
            <a:r>
              <a:rPr lang="de-DE" sz="1200" b="0" i="1" kern="1200" dirty="0">
                <a:solidFill>
                  <a:schemeClr val="tx1"/>
                </a:solidFill>
                <a:effectLst/>
                <a:latin typeface="+mn-lt"/>
                <a:ea typeface="+mn-ea"/>
                <a:cs typeface="+mn-cs"/>
              </a:rPr>
              <a:t>Internet Header Length</a:t>
            </a:r>
            <a:r>
              <a:rPr lang="de-DE" sz="1200" b="0" i="0" kern="1200" dirty="0">
                <a:solidFill>
                  <a:schemeClr val="tx1"/>
                </a:solidFill>
                <a:effectLst/>
                <a:latin typeface="+mn-lt"/>
                <a:ea typeface="+mn-ea"/>
                <a:cs typeface="+mn-cs"/>
              </a:rPr>
              <a:t> können die Optionen maximal 40 Byte lang sein.</a:t>
            </a:r>
          </a:p>
          <a:p>
            <a:r>
              <a:rPr lang="de-DE" sz="1200" b="0" i="0" kern="1200" dirty="0">
                <a:solidFill>
                  <a:schemeClr val="tx1"/>
                </a:solidFill>
                <a:effectLst/>
                <a:latin typeface="+mn-lt"/>
                <a:ea typeface="+mn-ea"/>
                <a:cs typeface="+mn-cs"/>
              </a:rPr>
              <a:t>Strict Routing: Option gibt den kompletten Pfad an, welches das Paket durchlaufen muss</a:t>
            </a:r>
          </a:p>
          <a:p>
            <a:r>
              <a:rPr lang="de-DE" sz="1200" b="0" i="0" kern="1200" dirty="0">
                <a:solidFill>
                  <a:schemeClr val="tx1"/>
                </a:solidFill>
                <a:effectLst/>
                <a:latin typeface="+mn-lt"/>
                <a:ea typeface="+mn-ea"/>
                <a:cs typeface="+mn-cs"/>
              </a:rPr>
              <a:t>Free Routing: Option gibt eine Liste von Routern an, die vom Paket nicht verfehlt werden dürfen</a:t>
            </a:r>
          </a:p>
          <a:p>
            <a:r>
              <a:rPr lang="de-DE" sz="1200" b="0" i="0" kern="1200" dirty="0">
                <a:solidFill>
                  <a:schemeClr val="tx1"/>
                </a:solidFill>
                <a:effectLst/>
                <a:latin typeface="+mn-lt"/>
                <a:ea typeface="+mn-ea"/>
                <a:cs typeface="+mn-cs"/>
              </a:rPr>
              <a:t>Record Route: Lässt die komplette Route aufzeichnen (Heute reicht die Größe des Option-Feldes meist nicht mehr dafür aus)</a:t>
            </a:r>
          </a:p>
          <a:p>
            <a:r>
              <a:rPr lang="de-DE" sz="1200" b="0" i="0" kern="1200" dirty="0">
                <a:solidFill>
                  <a:schemeClr val="tx1"/>
                </a:solidFill>
                <a:effectLst/>
                <a:latin typeface="+mn-lt"/>
                <a:ea typeface="+mn-ea"/>
                <a:cs typeface="+mn-cs"/>
              </a:rPr>
              <a:t>Time Stamp: Zeitstempel</a:t>
            </a:r>
          </a:p>
          <a:p>
            <a:r>
              <a:rPr lang="de-DE" sz="1200" b="0" i="0" kern="1200" dirty="0">
                <a:solidFill>
                  <a:schemeClr val="tx1"/>
                </a:solidFill>
                <a:effectLst/>
                <a:latin typeface="+mn-lt"/>
                <a:ea typeface="+mn-ea"/>
                <a:cs typeface="+mn-cs"/>
              </a:rPr>
              <a:t>Security: Bezeichnet, wie geheim das Paket ist</a:t>
            </a: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5</a:t>
            </a:fld>
            <a:endParaRPr lang="en-US" dirty="0"/>
          </a:p>
        </p:txBody>
      </p:sp>
    </p:spTree>
    <p:extLst>
      <p:ext uri="{BB962C8B-B14F-4D97-AF65-F5344CB8AC3E}">
        <p14:creationId xmlns:p14="http://schemas.microsoft.com/office/powerpoint/2010/main" val="1924771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de-DE" dirty="0"/>
              <a:t>Warum </a:t>
            </a:r>
            <a:r>
              <a:rPr lang="en-US" sz="1800" dirty="0" err="1"/>
              <a:t>erst</a:t>
            </a:r>
            <a:r>
              <a:rPr lang="en-US" sz="1800" dirty="0"/>
              <a:t> </a:t>
            </a:r>
            <a:r>
              <a:rPr lang="en-US" sz="1800" dirty="0" err="1"/>
              <a:t>beim</a:t>
            </a:r>
            <a:r>
              <a:rPr lang="en-US" sz="1800" dirty="0"/>
              <a:t> </a:t>
            </a:r>
            <a:r>
              <a:rPr lang="en-US" sz="1800" dirty="0" err="1"/>
              <a:t>Ziel</a:t>
            </a:r>
            <a:r>
              <a:rPr lang="en-US" sz="1800" dirty="0"/>
              <a:t> (Host) </a:t>
            </a:r>
            <a:r>
              <a:rPr lang="en-US" sz="1800" dirty="0" err="1"/>
              <a:t>zusammengesetzt</a:t>
            </a:r>
            <a:r>
              <a:rPr lang="en-US" sz="1800" dirty="0"/>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1800" dirty="0" err="1"/>
              <a:t>Damit</a:t>
            </a:r>
            <a:r>
              <a:rPr lang="en-US" sz="1800" baseline="0" dirty="0"/>
              <a:t> die Router </a:t>
            </a:r>
            <a:r>
              <a:rPr lang="en-US" sz="1800" baseline="0" dirty="0" err="1"/>
              <a:t>nicht</a:t>
            </a:r>
            <a:r>
              <a:rPr lang="en-US" sz="1800" baseline="0" dirty="0"/>
              <a:t> </a:t>
            </a:r>
            <a:r>
              <a:rPr lang="en-US" sz="1800" baseline="0" dirty="0" err="1"/>
              <a:t>zu</a:t>
            </a:r>
            <a:r>
              <a:rPr lang="en-US" sz="1800" baseline="0" dirty="0"/>
              <a:t> </a:t>
            </a:r>
            <a:r>
              <a:rPr lang="en-US" sz="1800" baseline="0" dirty="0" err="1"/>
              <a:t>kompliziert</a:t>
            </a:r>
            <a:r>
              <a:rPr lang="en-US" sz="1800" baseline="0" dirty="0"/>
              <a:t> </a:t>
            </a:r>
            <a:r>
              <a:rPr lang="en-US" sz="1800" baseline="0" dirty="0" err="1"/>
              <a:t>sein</a:t>
            </a:r>
            <a:r>
              <a:rPr lang="en-US" sz="1800" baseline="0" dirty="0"/>
              <a:t> </a:t>
            </a:r>
            <a:r>
              <a:rPr lang="en-US" sz="1800" baseline="0" dirty="0" err="1"/>
              <a:t>müssen</a:t>
            </a:r>
            <a:r>
              <a:rPr lang="en-US" sz="1800" baseline="0" dirty="0"/>
              <a:t>, und das </a:t>
            </a:r>
            <a:r>
              <a:rPr lang="en-US" sz="1800" baseline="0" dirty="0" err="1"/>
              <a:t>Innere</a:t>
            </a:r>
            <a:r>
              <a:rPr lang="en-US" sz="1800" baseline="0" dirty="0"/>
              <a:t> des </a:t>
            </a:r>
            <a:r>
              <a:rPr lang="en-US" sz="1800" baseline="0" dirty="0" err="1"/>
              <a:t>Netzwerks</a:t>
            </a:r>
            <a:r>
              <a:rPr lang="en-US" sz="1800" baseline="0" dirty="0"/>
              <a:t> “</a:t>
            </a:r>
            <a:r>
              <a:rPr lang="en-US" sz="1800" baseline="0" dirty="0" err="1"/>
              <a:t>dumm</a:t>
            </a:r>
            <a:r>
              <a:rPr lang="en-US" sz="1800" baseline="0" dirty="0"/>
              <a:t>” </a:t>
            </a:r>
            <a:r>
              <a:rPr lang="en-US" sz="1800" baseline="0" dirty="0" err="1"/>
              <a:t>bleiben</a:t>
            </a:r>
            <a:r>
              <a:rPr lang="en-US" sz="1800" baseline="0" dirty="0"/>
              <a:t> </a:t>
            </a:r>
            <a:r>
              <a:rPr lang="en-US" sz="1800" baseline="0" dirty="0" err="1"/>
              <a:t>kann</a:t>
            </a:r>
            <a:endParaRPr lang="en-US" sz="1800"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6</a:t>
            </a:fld>
            <a:endParaRPr lang="en-US" dirty="0"/>
          </a:p>
        </p:txBody>
      </p:sp>
    </p:spTree>
    <p:extLst>
      <p:ext uri="{BB962C8B-B14F-4D97-AF65-F5344CB8AC3E}">
        <p14:creationId xmlns:p14="http://schemas.microsoft.com/office/powerpoint/2010/main" val="1743484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de-DE" sz="1200" b="1" i="0" kern="1200" dirty="0">
                <a:solidFill>
                  <a:schemeClr val="tx1"/>
                </a:solidFill>
                <a:effectLst/>
                <a:latin typeface="+mn-lt"/>
                <a:ea typeface="+mn-ea"/>
                <a:cs typeface="+mn-cs"/>
              </a:rPr>
              <a:t>Identification </a:t>
            </a:r>
          </a:p>
          <a:p>
            <a:r>
              <a:rPr lang="de-DE" sz="1200" b="0" i="0" kern="1200" dirty="0">
                <a:solidFill>
                  <a:schemeClr val="tx1"/>
                </a:solidFill>
                <a:effectLst/>
                <a:latin typeface="+mn-lt"/>
                <a:ea typeface="+mn-ea"/>
                <a:cs typeface="+mn-cs"/>
              </a:rPr>
              <a:t>16 Bit breit. Dieses und die beiden folgenden Felder </a:t>
            </a:r>
            <a:r>
              <a:rPr lang="de-DE" sz="1200" b="0" i="1" kern="1200" dirty="0">
                <a:solidFill>
                  <a:schemeClr val="tx1"/>
                </a:solidFill>
                <a:effectLst/>
                <a:latin typeface="+mn-lt"/>
                <a:ea typeface="+mn-ea"/>
                <a:cs typeface="+mn-cs"/>
              </a:rPr>
              <a:t>Flags</a:t>
            </a:r>
            <a:r>
              <a:rPr lang="de-DE" sz="1200" b="0" i="0" kern="1200" dirty="0">
                <a:solidFill>
                  <a:schemeClr val="tx1"/>
                </a:solidFill>
                <a:effectLst/>
                <a:latin typeface="+mn-lt"/>
                <a:ea typeface="+mn-ea"/>
                <a:cs typeface="+mn-cs"/>
              </a:rPr>
              <a:t> und </a:t>
            </a:r>
            <a:r>
              <a:rPr lang="de-DE" sz="1200" b="0" i="1" kern="1200" dirty="0">
                <a:solidFill>
                  <a:schemeClr val="tx1"/>
                </a:solidFill>
                <a:effectLst/>
                <a:latin typeface="+mn-lt"/>
                <a:ea typeface="+mn-ea"/>
                <a:cs typeface="+mn-cs"/>
              </a:rPr>
              <a:t>Fragment Offset</a:t>
            </a:r>
            <a:r>
              <a:rPr lang="de-DE" sz="1200" b="0" i="0" kern="1200" dirty="0">
                <a:solidFill>
                  <a:schemeClr val="tx1"/>
                </a:solidFill>
                <a:effectLst/>
                <a:latin typeface="+mn-lt"/>
                <a:ea typeface="+mn-ea"/>
                <a:cs typeface="+mn-cs"/>
              </a:rPr>
              <a:t> steuern die Reassembly (Zusammensetzen von zuvor fragmentierten IP-Datenpaketen). Eindeutige Kennung eines Datagramms. Anhand dieses Feldes und der 'Source Address' kann der Empfänger die Zusammengehörigkeit von Fragmenten detektieren und sie wieder reassemblieren.</a:t>
            </a:r>
          </a:p>
          <a:p>
            <a:r>
              <a:rPr lang="de-DE" sz="1200" b="1" i="0" kern="1200" dirty="0">
                <a:solidFill>
                  <a:schemeClr val="tx1"/>
                </a:solidFill>
                <a:effectLst/>
                <a:latin typeface="+mn-lt"/>
                <a:ea typeface="+mn-ea"/>
                <a:cs typeface="+mn-cs"/>
              </a:rPr>
              <a:t>Flags </a:t>
            </a:r>
          </a:p>
          <a:p>
            <a:r>
              <a:rPr lang="de-DE" sz="1200" b="0" i="0" kern="1200" dirty="0">
                <a:solidFill>
                  <a:schemeClr val="tx1"/>
                </a:solidFill>
                <a:effectLst/>
                <a:latin typeface="+mn-lt"/>
                <a:ea typeface="+mn-ea"/>
                <a:cs typeface="+mn-cs"/>
              </a:rPr>
              <a:t>3 Bit breit. Ein Kontroll-Schalter mit folgender Bedeutung:</a:t>
            </a:r>
          </a:p>
          <a:p>
            <a:r>
              <a:rPr lang="de-DE" sz="1200" b="0" i="0" kern="1200" dirty="0">
                <a:solidFill>
                  <a:schemeClr val="tx1"/>
                </a:solidFill>
                <a:effectLst/>
                <a:latin typeface="+mn-lt"/>
                <a:ea typeface="+mn-ea"/>
                <a:cs typeface="+mn-cs"/>
              </a:rPr>
              <a:t>Bit 0 : reserviert, muss 0 sein Bit 1 (DF (Don't Fragment)): 0/1 darf/darf nicht zerlegt (fragmentiert) werden Bit 2 (MF (More Fragments)): 0/1 letztes Fragment/weitere Fragmente folgen </a:t>
            </a:r>
          </a:p>
          <a:p>
            <a:endParaRPr lang="de-DE" sz="1200" b="0" i="0" kern="1200" dirty="0">
              <a:solidFill>
                <a:schemeClr val="tx1"/>
              </a:solidFill>
              <a:effectLst/>
              <a:latin typeface="+mn-lt"/>
              <a:ea typeface="+mn-ea"/>
              <a:cs typeface="+mn-cs"/>
            </a:endParaRPr>
          </a:p>
          <a:p>
            <a:r>
              <a:rPr lang="de-DE" sz="1200" b="1" i="0" kern="1200" dirty="0">
                <a:solidFill>
                  <a:schemeClr val="tx1"/>
                </a:solidFill>
                <a:effectLst/>
                <a:latin typeface="+mn-lt"/>
                <a:ea typeface="+mn-ea"/>
                <a:cs typeface="+mn-cs"/>
              </a:rPr>
              <a:t>Fragment Offset </a:t>
            </a:r>
          </a:p>
          <a:p>
            <a:r>
              <a:rPr lang="de-DE" sz="1200" b="0" i="0" kern="1200" dirty="0">
                <a:solidFill>
                  <a:schemeClr val="tx1"/>
                </a:solidFill>
                <a:effectLst/>
                <a:latin typeface="+mn-lt"/>
                <a:ea typeface="+mn-ea"/>
                <a:cs typeface="+mn-cs"/>
              </a:rPr>
              <a:t>13 Bit breit. Eine Nummer, die bei fragmentierten Paketen besagt, ab welcher Position innerhalb des Paketes das Fragment anfängt. Die Nummerierung bezieht sich auf Daten-Blöcke von 64 Bit bzw. 8 Byte Größe und ist unabhängig von der Fragmentierung. Ein Paket kann daher falls notwendig mehrmals hintereinander in immer kleinere Fragmente zerteilt werden. Dabei muss nur die Nummer des ersten enthaltenen Datenblocks (Offset) und das Total-Length-Feld an die Länge des Fragments angepasst werden. Das erste Fragment, oder ein nicht fragmentiertes Paket, enthält als Offset den Wert Null. Ist ein Paket mit 800 Byte Nutzdaten (Offset-Nummerierung von 0 bis 99) in zwei Fragmente zerteilt ist der Offset des zweiten Fragments die Nummer 50. Da der Offset keinerlei Hinweis enthält wie groß das ursprüngliche Paket ist, muss das allerletzte Fragment das MF-Flag auf Null setzen.</a:t>
            </a:r>
          </a:p>
          <a:p>
            <a:r>
              <a:rPr lang="de-DE" sz="1200" b="1" i="0" kern="1200" dirty="0">
                <a:solidFill>
                  <a:schemeClr val="tx1"/>
                </a:solidFill>
                <a:effectLst/>
                <a:latin typeface="+mn-lt"/>
                <a:ea typeface="+mn-ea"/>
                <a:cs typeface="+mn-cs"/>
              </a:rPr>
              <a:t>  </a:t>
            </a: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7</a:t>
            </a:fld>
            <a:endParaRPr lang="en-US" dirty="0"/>
          </a:p>
        </p:txBody>
      </p:sp>
    </p:spTree>
    <p:extLst>
      <p:ext uri="{BB962C8B-B14F-4D97-AF65-F5344CB8AC3E}">
        <p14:creationId xmlns:p14="http://schemas.microsoft.com/office/powerpoint/2010/main" val="2096845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8</a:t>
            </a:fld>
            <a:endParaRPr lang="en-US" dirty="0"/>
          </a:p>
        </p:txBody>
      </p:sp>
    </p:spTree>
    <p:extLst>
      <p:ext uri="{BB962C8B-B14F-4D97-AF65-F5344CB8AC3E}">
        <p14:creationId xmlns:p14="http://schemas.microsoft.com/office/powerpoint/2010/main" val="24300791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Broadcast: Berkeley 4.2 BSD </a:t>
            </a:r>
            <a:r>
              <a:rPr lang="en-US" dirty="0" err="1"/>
              <a:t>verwendete</a:t>
            </a:r>
            <a:r>
              <a:rPr lang="en-US" dirty="0"/>
              <a:t> 0.0.0.0 </a:t>
            </a:r>
            <a:r>
              <a:rPr lang="en-US" dirty="0" err="1"/>
              <a:t>als</a:t>
            </a:r>
            <a:r>
              <a:rPr lang="en-US" dirty="0"/>
              <a:t> Broadcast </a:t>
            </a:r>
            <a:r>
              <a:rPr lang="en-US" dirty="0" err="1"/>
              <a:t>Adressen</a:t>
            </a:r>
            <a:r>
              <a:rPr lang="en-US" dirty="0"/>
              <a:t> </a:t>
            </a:r>
          </a:p>
        </p:txBody>
      </p:sp>
      <p:sp>
        <p:nvSpPr>
          <p:cNvPr id="4" name="Foliennummernplatzhalter 3"/>
          <p:cNvSpPr>
            <a:spLocks noGrp="1"/>
          </p:cNvSpPr>
          <p:nvPr>
            <p:ph type="sldNum" sz="quarter" idx="5"/>
          </p:nvPr>
        </p:nvSpPr>
        <p:spPr/>
        <p:txBody>
          <a:bodyPr/>
          <a:lstStyle/>
          <a:p>
            <a:fld id="{6D176CDC-8D0E-409F-856B-BAE38288A8E4}" type="slidenum">
              <a:rPr lang="en-US" smtClean="0"/>
              <a:pPr/>
              <a:t>10</a:t>
            </a:fld>
            <a:endParaRPr lang="en-US" dirty="0"/>
          </a:p>
        </p:txBody>
      </p:sp>
    </p:spTree>
    <p:extLst>
      <p:ext uri="{BB962C8B-B14F-4D97-AF65-F5344CB8AC3E}">
        <p14:creationId xmlns:p14="http://schemas.microsoft.com/office/powerpoint/2010/main" val="623278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Das ist eine äquivalente</a:t>
            </a:r>
            <a:r>
              <a:rPr lang="de-DE" baseline="0" dirty="0"/>
              <a:t> (aber etwas mehr komplizierte) Definition </a:t>
            </a:r>
            <a:r>
              <a:rPr lang="de-DE" dirty="0"/>
              <a:t>aus Kurose Seite 381</a:t>
            </a:r>
          </a:p>
          <a:p>
            <a:endParaRPr lang="de-DE" dirty="0"/>
          </a:p>
          <a:p>
            <a:r>
              <a:rPr lang="de-DE" dirty="0"/>
              <a:t>Es sind </a:t>
            </a:r>
            <a:r>
              <a:rPr lang="de-DE"/>
              <a:t>6 Subnetze.</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11</a:t>
            </a:fld>
            <a:endParaRPr lang="en-US" dirty="0"/>
          </a:p>
        </p:txBody>
      </p:sp>
    </p:spTree>
    <p:extLst>
      <p:ext uri="{BB962C8B-B14F-4D97-AF65-F5344CB8AC3E}">
        <p14:creationId xmlns:p14="http://schemas.microsoft.com/office/powerpoint/2010/main" val="556948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solidFill>
                  <a:srgbClr val="000000"/>
                </a:solidFill>
              </a:rPr>
              <a:t>Typischerweise hängen die Hosts in einem </a:t>
            </a:r>
            <a:r>
              <a:rPr lang="de-DE" sz="1200" dirty="0" err="1">
                <a:solidFill>
                  <a:srgbClr val="000000"/>
                </a:solidFill>
              </a:rPr>
              <a:t>Subnetz</a:t>
            </a:r>
            <a:r>
              <a:rPr lang="de-DE" sz="1200" dirty="0">
                <a:solidFill>
                  <a:srgbClr val="000000"/>
                </a:solidFill>
              </a:rPr>
              <a:t> an einem Router, der (ggf. über weitere Router) zu Internet verbunden ist.</a:t>
            </a:r>
          </a:p>
          <a:p>
            <a:endParaRPr lang="de-DE" sz="1200" b="0" i="0" kern="1200" dirty="0">
              <a:solidFill>
                <a:schemeClr val="tx1"/>
              </a:solidFill>
              <a:latin typeface="+mn-lt"/>
              <a:ea typeface="+mn-ea"/>
              <a:cs typeface="+mn-cs"/>
            </a:endParaRPr>
          </a:p>
          <a:p>
            <a:r>
              <a:rPr lang="de-DE" dirty="0">
                <a:hlinkClick r:id="rId3"/>
              </a:rPr>
              <a:t>http://de.wikipedia.org/wiki/Subnetz#Verwendung_auf_Netzwerksegmenten</a:t>
            </a:r>
            <a:endParaRPr lang="de-DE" sz="1200" b="0" i="0" kern="1200" dirty="0">
              <a:solidFill>
                <a:schemeClr val="tx1"/>
              </a:solidFill>
              <a:latin typeface="+mn-lt"/>
              <a:ea typeface="+mn-ea"/>
              <a:cs typeface="+mn-cs"/>
            </a:endParaRPr>
          </a:p>
          <a:p>
            <a:r>
              <a:rPr lang="de-DE" sz="1200" b="0" i="0" kern="1200" dirty="0">
                <a:solidFill>
                  <a:schemeClr val="tx1"/>
                </a:solidFill>
                <a:latin typeface="+mn-lt"/>
                <a:ea typeface="+mn-ea"/>
                <a:cs typeface="+mn-cs"/>
              </a:rPr>
              <a:t>Ein häufiger Verwendungszweck von Subnetzen ist die Zuweisung eines Adressbereichs an ein Netzwerksegment. Computern an diesem Netzwerksegment werden dabei Adressen aus dem Bereich des jeweiligen Subnetzes zugewiesen.</a:t>
            </a:r>
          </a:p>
          <a:p>
            <a:r>
              <a:rPr lang="de-DE" sz="1200" b="0" i="0" kern="1200" dirty="0">
                <a:solidFill>
                  <a:schemeClr val="tx1"/>
                </a:solidFill>
                <a:latin typeface="+mn-lt"/>
                <a:ea typeface="+mn-ea"/>
                <a:cs typeface="+mn-cs"/>
              </a:rPr>
              <a:t>Aus historischen Gründen sind zwei der Adressen eingeschränkt verwendbar. Dies sind:</a:t>
            </a:r>
          </a:p>
          <a:p>
            <a:r>
              <a:rPr lang="de-DE" sz="1200" b="0" i="0" kern="1200" dirty="0">
                <a:solidFill>
                  <a:schemeClr val="tx1"/>
                </a:solidFill>
                <a:latin typeface="+mn-lt"/>
                <a:ea typeface="+mn-ea"/>
                <a:cs typeface="+mn-cs"/>
              </a:rPr>
              <a:t>Die erste IP-Adresse im </a:t>
            </a:r>
            <a:r>
              <a:rPr lang="de-DE" sz="1200" b="0" i="0" kern="1200" dirty="0" err="1">
                <a:solidFill>
                  <a:schemeClr val="tx1"/>
                </a:solidFill>
                <a:latin typeface="+mn-lt"/>
                <a:ea typeface="+mn-ea"/>
                <a:cs typeface="+mn-cs"/>
              </a:rPr>
              <a:t>Subnetz</a:t>
            </a:r>
            <a:r>
              <a:rPr lang="de-DE" sz="1200" b="0" i="0" kern="1200" dirty="0">
                <a:solidFill>
                  <a:schemeClr val="tx1"/>
                </a:solidFill>
                <a:latin typeface="+mn-lt"/>
                <a:ea typeface="+mn-ea"/>
                <a:cs typeface="+mn-cs"/>
              </a:rPr>
              <a:t> (Hostanteil nur Nullen) – diese Adresse ist die </a:t>
            </a:r>
            <a:r>
              <a:rPr lang="de-DE" sz="1200" b="0" i="0" u="none" strike="noStrike" kern="1200" dirty="0">
                <a:solidFill>
                  <a:schemeClr val="tx1"/>
                </a:solidFill>
                <a:latin typeface="+mn-lt"/>
                <a:ea typeface="+mn-ea"/>
                <a:cs typeface="+mn-cs"/>
                <a:hlinkClick r:id="rId4" tooltip="Netzadresse"/>
              </a:rPr>
              <a:t>Netzadresse</a:t>
            </a:r>
            <a:r>
              <a:rPr lang="de-DE" sz="1200" b="0" i="0" kern="1200" dirty="0">
                <a:solidFill>
                  <a:schemeClr val="tx1"/>
                </a:solidFill>
                <a:latin typeface="+mn-lt"/>
                <a:ea typeface="+mn-ea"/>
                <a:cs typeface="+mn-cs"/>
              </a:rPr>
              <a:t> des Subnetzes. Diese Adresse wurde von </a:t>
            </a:r>
            <a:r>
              <a:rPr lang="de-DE" sz="1200" b="0" i="0" u="none" strike="noStrike" kern="1200" dirty="0">
                <a:solidFill>
                  <a:schemeClr val="tx1"/>
                </a:solidFill>
                <a:latin typeface="+mn-lt"/>
                <a:ea typeface="+mn-ea"/>
                <a:cs typeface="+mn-cs"/>
                <a:hlinkClick r:id="rId5" tooltip="Windows 9x"/>
              </a:rPr>
              <a:t>Windows 9x</a:t>
            </a:r>
            <a:r>
              <a:rPr lang="de-DE" sz="1200" b="0" i="0" kern="1200" dirty="0">
                <a:solidFill>
                  <a:schemeClr val="tx1"/>
                </a:solidFill>
                <a:latin typeface="+mn-lt"/>
                <a:ea typeface="+mn-ea"/>
                <a:cs typeface="+mn-cs"/>
              </a:rPr>
              <a:t> auch </a:t>
            </a:r>
            <a:r>
              <a:rPr lang="de-DE" sz="1200" b="0" i="0" kern="1200" dirty="0" err="1">
                <a:solidFill>
                  <a:schemeClr val="tx1"/>
                </a:solidFill>
                <a:latin typeface="+mn-lt"/>
                <a:ea typeface="+mn-ea"/>
                <a:cs typeface="+mn-cs"/>
              </a:rPr>
              <a:t>als</a:t>
            </a:r>
            <a:r>
              <a:rPr lang="de-DE" sz="1200" b="0" i="0" u="none" strike="noStrike" kern="1200" dirty="0" err="1">
                <a:solidFill>
                  <a:schemeClr val="tx1"/>
                </a:solidFill>
                <a:latin typeface="+mn-lt"/>
                <a:ea typeface="+mn-ea"/>
                <a:cs typeface="+mn-cs"/>
                <a:hlinkClick r:id="rId6" tooltip="Broadcast"/>
              </a:rPr>
              <a:t>Broadcast</a:t>
            </a:r>
            <a:r>
              <a:rPr lang="de-DE" sz="1200" b="0" i="0" kern="1200" dirty="0">
                <a:solidFill>
                  <a:schemeClr val="tx1"/>
                </a:solidFill>
                <a:latin typeface="+mn-lt"/>
                <a:ea typeface="+mn-ea"/>
                <a:cs typeface="+mn-cs"/>
              </a:rPr>
              <a:t>-Adresse verwendet. Falls sich keine Windows-9x-Computer (</a:t>
            </a:r>
            <a:r>
              <a:rPr lang="de-DE" sz="1200" b="0" i="0" kern="1200" dirty="0" err="1">
                <a:solidFill>
                  <a:schemeClr val="tx1"/>
                </a:solidFill>
                <a:latin typeface="+mn-lt"/>
                <a:ea typeface="+mn-ea"/>
                <a:cs typeface="+mn-cs"/>
              </a:rPr>
              <a:t>Win</a:t>
            </a:r>
            <a:r>
              <a:rPr lang="de-DE" sz="1200" b="0" i="0" kern="1200" dirty="0">
                <a:solidFill>
                  <a:schemeClr val="tx1"/>
                </a:solidFill>
                <a:latin typeface="+mn-lt"/>
                <a:ea typeface="+mn-ea"/>
                <a:cs typeface="+mn-cs"/>
              </a:rPr>
              <a:t> 95, </a:t>
            </a:r>
            <a:r>
              <a:rPr lang="de-DE" sz="1200" b="0" i="0" kern="1200" dirty="0" err="1">
                <a:solidFill>
                  <a:schemeClr val="tx1"/>
                </a:solidFill>
                <a:latin typeface="+mn-lt"/>
                <a:ea typeface="+mn-ea"/>
                <a:cs typeface="+mn-cs"/>
              </a:rPr>
              <a:t>Win</a:t>
            </a:r>
            <a:r>
              <a:rPr lang="de-DE" sz="1200" b="0" i="0" kern="1200" dirty="0">
                <a:solidFill>
                  <a:schemeClr val="tx1"/>
                </a:solidFill>
                <a:latin typeface="+mn-lt"/>
                <a:ea typeface="+mn-ea"/>
                <a:cs typeface="+mn-cs"/>
              </a:rPr>
              <a:t> 98, </a:t>
            </a:r>
            <a:r>
              <a:rPr lang="de-DE" sz="1200" b="0" i="0" kern="1200" dirty="0" err="1">
                <a:solidFill>
                  <a:schemeClr val="tx1"/>
                </a:solidFill>
                <a:latin typeface="+mn-lt"/>
                <a:ea typeface="+mn-ea"/>
                <a:cs typeface="+mn-cs"/>
              </a:rPr>
              <a:t>Win</a:t>
            </a:r>
            <a:r>
              <a:rPr lang="de-DE" sz="1200" b="0" i="0" kern="1200" dirty="0">
                <a:solidFill>
                  <a:schemeClr val="tx1"/>
                </a:solidFill>
                <a:latin typeface="+mn-lt"/>
                <a:ea typeface="+mn-ea"/>
                <a:cs typeface="+mn-cs"/>
              </a:rPr>
              <a:t> ME) im Netzwerksegment befinden, kann diese Adresse frei verwendet werden.</a:t>
            </a:r>
          </a:p>
          <a:p>
            <a:r>
              <a:rPr lang="de-DE" sz="1200" b="0" i="0" kern="1200" dirty="0">
                <a:solidFill>
                  <a:schemeClr val="tx1"/>
                </a:solidFill>
                <a:latin typeface="+mn-lt"/>
                <a:ea typeface="+mn-ea"/>
                <a:cs typeface="+mn-cs"/>
              </a:rPr>
              <a:t>Die letzte IP-Adresse im </a:t>
            </a:r>
            <a:r>
              <a:rPr lang="de-DE" sz="1200" b="0" i="0" kern="1200" dirty="0" err="1">
                <a:solidFill>
                  <a:schemeClr val="tx1"/>
                </a:solidFill>
                <a:latin typeface="+mn-lt"/>
                <a:ea typeface="+mn-ea"/>
                <a:cs typeface="+mn-cs"/>
              </a:rPr>
              <a:t>Subnetz</a:t>
            </a:r>
            <a:r>
              <a:rPr lang="de-DE" sz="1200" b="0" i="0" kern="1200" dirty="0">
                <a:solidFill>
                  <a:schemeClr val="tx1"/>
                </a:solidFill>
                <a:latin typeface="+mn-lt"/>
                <a:ea typeface="+mn-ea"/>
                <a:cs typeface="+mn-cs"/>
              </a:rPr>
              <a:t> wird standardmäßig ebenfalls als Broadcast-Adresse verwendet. Viele Systeme unterstützen mittlerweile jedoch auch die Verwendung eines Netzwerks ohne Broadcastadresse. Falls alle Systeme im Netzwerksegment dies unterstützen, kann sie überall deaktiviert und dann normal verwendet werden.</a:t>
            </a:r>
          </a:p>
          <a:p>
            <a:r>
              <a:rPr lang="de-DE" sz="1200" b="0" i="0" kern="1200" dirty="0">
                <a:solidFill>
                  <a:schemeClr val="tx1"/>
                </a:solidFill>
                <a:latin typeface="+mn-lt"/>
                <a:ea typeface="+mn-ea"/>
                <a:cs typeface="+mn-cs"/>
              </a:rPr>
              <a:t>Die Computer am Netzwerksegment verwenden die </a:t>
            </a:r>
            <a:r>
              <a:rPr lang="de-DE" sz="1200" b="0" i="0" kern="1200" dirty="0" err="1">
                <a:solidFill>
                  <a:schemeClr val="tx1"/>
                </a:solidFill>
                <a:latin typeface="+mn-lt"/>
                <a:ea typeface="+mn-ea"/>
                <a:cs typeface="+mn-cs"/>
              </a:rPr>
              <a:t>Subnetz</a:t>
            </a:r>
            <a:r>
              <a:rPr lang="de-DE" sz="1200" b="0" i="0" kern="1200" dirty="0">
                <a:solidFill>
                  <a:schemeClr val="tx1"/>
                </a:solidFill>
                <a:latin typeface="+mn-lt"/>
                <a:ea typeface="+mn-ea"/>
                <a:cs typeface="+mn-cs"/>
              </a:rPr>
              <a:t>-Angabe, um festzustellen, ob sich eine bestimmte IP-Adresse im selben Segment befindet. Dabei wird der am Anfang dieses Artikels beschriebene Test durchgeführt. Je nach Ergebnis wird dann versucht, die Adresse lokal (über </a:t>
            </a:r>
            <a:r>
              <a:rPr lang="de-DE" sz="1200" b="0" i="0" u="none" strike="noStrike" kern="1200" dirty="0">
                <a:solidFill>
                  <a:schemeClr val="tx1"/>
                </a:solidFill>
                <a:latin typeface="+mn-lt"/>
                <a:ea typeface="+mn-ea"/>
                <a:cs typeface="+mn-cs"/>
                <a:hlinkClick r:id="rId7" tooltip="Address Resolution Protocol"/>
              </a:rPr>
              <a:t>ARP</a:t>
            </a:r>
            <a:r>
              <a:rPr lang="de-DE" sz="1200" b="0" i="0" kern="1200" dirty="0">
                <a:solidFill>
                  <a:schemeClr val="tx1"/>
                </a:solidFill>
                <a:latin typeface="+mn-lt"/>
                <a:ea typeface="+mn-ea"/>
                <a:cs typeface="+mn-cs"/>
              </a:rPr>
              <a:t>) oder entfernt (über einen Router) zu erreichen.</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dirty="0">
              <a:solidFill>
                <a:srgbClr val="000000"/>
              </a:solidFill>
            </a:endParaRP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12</a:t>
            </a:fld>
            <a:endParaRPr lang="en-US" dirty="0"/>
          </a:p>
        </p:txBody>
      </p:sp>
    </p:spTree>
    <p:extLst>
      <p:ext uri="{BB962C8B-B14F-4D97-AF65-F5344CB8AC3E}">
        <p14:creationId xmlns:p14="http://schemas.microsoft.com/office/powerpoint/2010/main" val="40540624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15</a:t>
            </a:fld>
            <a:endParaRPr lang="en-US" dirty="0"/>
          </a:p>
        </p:txBody>
      </p:sp>
    </p:spTree>
    <p:extLst>
      <p:ext uri="{BB962C8B-B14F-4D97-AF65-F5344CB8AC3E}">
        <p14:creationId xmlns:p14="http://schemas.microsoft.com/office/powerpoint/2010/main" val="2276415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p>
            <a:fld id="{9639A04F-9A46-412C-89B1-60E903E90DD7}" type="slidenum">
              <a:rPr lang="en-US" smtClean="0"/>
              <a:pPr/>
              <a:t>17</a:t>
            </a:fld>
            <a:endParaRPr lang="en-US"/>
          </a:p>
        </p:txBody>
      </p:sp>
      <p:sp>
        <p:nvSpPr>
          <p:cNvPr id="212995" name="Rectangle 2"/>
          <p:cNvSpPr>
            <a:spLocks noGrp="1" noRot="1" noChangeAspect="1" noChangeArrowheads="1" noTextEdit="1"/>
          </p:cNvSpPr>
          <p:nvPr>
            <p:ph type="sldImg"/>
          </p:nvPr>
        </p:nvSpPr>
        <p:spPr>
          <a:xfrm>
            <a:off x="3494088" y="709613"/>
            <a:ext cx="3246437" cy="2435225"/>
          </a:xfrm>
          <a:ln/>
        </p:spPr>
      </p:sp>
      <p:sp>
        <p:nvSpPr>
          <p:cNvPr id="212996" name="Rectangle 3"/>
          <p:cNvSpPr>
            <a:spLocks noGrp="1" noChangeArrowheads="1"/>
          </p:cNvSpPr>
          <p:nvPr>
            <p:ph type="body" idx="1"/>
          </p:nvPr>
        </p:nvSpPr>
        <p:spPr>
          <a:xfrm>
            <a:off x="2059379" y="3399331"/>
            <a:ext cx="6115926" cy="2739200"/>
          </a:xfrm>
          <a:noFill/>
          <a:ln/>
        </p:spPr>
        <p:txBody>
          <a:bodyPr wrap="none" anchor="ctr"/>
          <a:lstStyle/>
          <a:p>
            <a:pPr defTabSz="449263"/>
            <a:endParaRPr lang="de-DE"/>
          </a:p>
        </p:txBody>
      </p:sp>
    </p:spTree>
    <p:extLst>
      <p:ext uri="{BB962C8B-B14F-4D97-AF65-F5344CB8AC3E}">
        <p14:creationId xmlns:p14="http://schemas.microsoft.com/office/powerpoint/2010/main" val="690799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p>
            <a:fld id="{7D52308D-2C76-4678-93A6-64AA70B86516}" type="slidenum">
              <a:rPr lang="en-US" smtClean="0"/>
              <a:pPr/>
              <a:t>18</a:t>
            </a:fld>
            <a:endParaRPr lang="en-US"/>
          </a:p>
        </p:txBody>
      </p:sp>
      <p:sp>
        <p:nvSpPr>
          <p:cNvPr id="220163" name="Rectangle 2"/>
          <p:cNvSpPr>
            <a:spLocks noGrp="1" noRot="1" noChangeAspect="1" noChangeArrowheads="1" noTextEdit="1"/>
          </p:cNvSpPr>
          <p:nvPr>
            <p:ph type="sldImg"/>
          </p:nvPr>
        </p:nvSpPr>
        <p:spPr>
          <a:xfrm>
            <a:off x="3494088" y="709613"/>
            <a:ext cx="3246437" cy="2435225"/>
          </a:xfrm>
          <a:ln/>
        </p:spPr>
      </p:sp>
      <p:sp>
        <p:nvSpPr>
          <p:cNvPr id="220164" name="Rectangle 3"/>
          <p:cNvSpPr>
            <a:spLocks noGrp="1" noChangeArrowheads="1"/>
          </p:cNvSpPr>
          <p:nvPr>
            <p:ph type="body" idx="1"/>
          </p:nvPr>
        </p:nvSpPr>
        <p:spPr>
          <a:xfrm>
            <a:off x="1561752" y="3381714"/>
            <a:ext cx="7122288" cy="2701611"/>
          </a:xfrm>
          <a:noFill/>
          <a:ln/>
        </p:spPr>
        <p:txBody>
          <a:bodyPr wrap="none" anchor="ctr"/>
          <a:lstStyle/>
          <a:p>
            <a:pPr defTabSz="449263"/>
            <a:endParaRPr lang="de-DE"/>
          </a:p>
        </p:txBody>
      </p:sp>
    </p:spTree>
    <p:extLst>
      <p:ext uri="{BB962C8B-B14F-4D97-AF65-F5344CB8AC3E}">
        <p14:creationId xmlns:p14="http://schemas.microsoft.com/office/powerpoint/2010/main" val="1355533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p:spPr>
        <p:txBody>
          <a:bodyPr/>
          <a:lstStyle/>
          <a:p>
            <a:fld id="{7CE2380C-6198-46F2-9C3D-E3108A9E4072}" type="slidenum">
              <a:rPr lang="en-US" smtClean="0"/>
              <a:pPr/>
              <a:t>19</a:t>
            </a:fld>
            <a:endParaRPr lang="en-US"/>
          </a:p>
        </p:txBody>
      </p:sp>
      <p:sp>
        <p:nvSpPr>
          <p:cNvPr id="221187" name="Rectangle 2"/>
          <p:cNvSpPr>
            <a:spLocks noGrp="1" noRot="1" noChangeAspect="1" noChangeArrowheads="1" noTextEdit="1"/>
          </p:cNvSpPr>
          <p:nvPr>
            <p:ph type="sldImg"/>
          </p:nvPr>
        </p:nvSpPr>
        <p:spPr>
          <a:xfrm>
            <a:off x="3494088" y="709613"/>
            <a:ext cx="3246437" cy="2435225"/>
          </a:xfrm>
          <a:ln/>
        </p:spPr>
      </p:sp>
      <p:sp>
        <p:nvSpPr>
          <p:cNvPr id="221188" name="Rectangle 3"/>
          <p:cNvSpPr>
            <a:spLocks noGrp="1" noChangeArrowheads="1"/>
          </p:cNvSpPr>
          <p:nvPr>
            <p:ph type="body" idx="1"/>
          </p:nvPr>
        </p:nvSpPr>
        <p:spPr>
          <a:xfrm>
            <a:off x="1561752" y="3381714"/>
            <a:ext cx="7122288" cy="2701611"/>
          </a:xfrm>
          <a:noFill/>
          <a:ln/>
        </p:spPr>
        <p:txBody>
          <a:bodyPr wrap="none" anchor="ctr"/>
          <a:lstStyle/>
          <a:p>
            <a:pPr defTabSz="449263"/>
            <a:endParaRPr lang="de-DE"/>
          </a:p>
        </p:txBody>
      </p:sp>
    </p:spTree>
    <p:extLst>
      <p:ext uri="{BB962C8B-B14F-4D97-AF65-F5344CB8AC3E}">
        <p14:creationId xmlns:p14="http://schemas.microsoft.com/office/powerpoint/2010/main" val="5399285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1372">
              <a:defRPr sz="2600">
                <a:solidFill>
                  <a:schemeClr val="tx1"/>
                </a:solidFill>
                <a:latin typeface="Times New Roman" pitchFamily="18" charset="0"/>
              </a:defRPr>
            </a:lvl1pPr>
            <a:lvl2pPr marL="797185" indent="-306610" defTabSz="991372">
              <a:defRPr sz="2600">
                <a:solidFill>
                  <a:schemeClr val="tx1"/>
                </a:solidFill>
                <a:latin typeface="Times New Roman" pitchFamily="18" charset="0"/>
              </a:defRPr>
            </a:lvl2pPr>
            <a:lvl3pPr marL="1226439" indent="-245288" defTabSz="991372">
              <a:defRPr sz="2600">
                <a:solidFill>
                  <a:schemeClr val="tx1"/>
                </a:solidFill>
                <a:latin typeface="Times New Roman" pitchFamily="18" charset="0"/>
              </a:defRPr>
            </a:lvl3pPr>
            <a:lvl4pPr marL="1717015" indent="-245288" defTabSz="991372">
              <a:defRPr sz="2600">
                <a:solidFill>
                  <a:schemeClr val="tx1"/>
                </a:solidFill>
                <a:latin typeface="Times New Roman" pitchFamily="18" charset="0"/>
              </a:defRPr>
            </a:lvl4pPr>
            <a:lvl5pPr marL="2207590" indent="-245288" defTabSz="991372">
              <a:defRPr sz="2600">
                <a:solidFill>
                  <a:schemeClr val="tx1"/>
                </a:solidFill>
                <a:latin typeface="Times New Roman" pitchFamily="18" charset="0"/>
              </a:defRPr>
            </a:lvl5pPr>
            <a:lvl6pPr marL="2698166" indent="-245288" defTabSz="991372" eaLnBrk="0" fontAlgn="base" hangingPunct="0">
              <a:spcBef>
                <a:spcPct val="0"/>
              </a:spcBef>
              <a:spcAft>
                <a:spcPct val="0"/>
              </a:spcAft>
              <a:defRPr sz="2600">
                <a:solidFill>
                  <a:schemeClr val="tx1"/>
                </a:solidFill>
                <a:latin typeface="Times New Roman" pitchFamily="18" charset="0"/>
              </a:defRPr>
            </a:lvl6pPr>
            <a:lvl7pPr marL="3188741" indent="-245288" defTabSz="991372" eaLnBrk="0" fontAlgn="base" hangingPunct="0">
              <a:spcBef>
                <a:spcPct val="0"/>
              </a:spcBef>
              <a:spcAft>
                <a:spcPct val="0"/>
              </a:spcAft>
              <a:defRPr sz="2600">
                <a:solidFill>
                  <a:schemeClr val="tx1"/>
                </a:solidFill>
                <a:latin typeface="Times New Roman" pitchFamily="18" charset="0"/>
              </a:defRPr>
            </a:lvl7pPr>
            <a:lvl8pPr marL="3679317" indent="-245288" defTabSz="991372" eaLnBrk="0" fontAlgn="base" hangingPunct="0">
              <a:spcBef>
                <a:spcPct val="0"/>
              </a:spcBef>
              <a:spcAft>
                <a:spcPct val="0"/>
              </a:spcAft>
              <a:defRPr sz="2600">
                <a:solidFill>
                  <a:schemeClr val="tx1"/>
                </a:solidFill>
                <a:latin typeface="Times New Roman" pitchFamily="18" charset="0"/>
              </a:defRPr>
            </a:lvl8pPr>
            <a:lvl9pPr marL="4169893" indent="-245288" defTabSz="991372" eaLnBrk="0" fontAlgn="base" hangingPunct="0">
              <a:spcBef>
                <a:spcPct val="0"/>
              </a:spcBef>
              <a:spcAft>
                <a:spcPct val="0"/>
              </a:spcAft>
              <a:defRPr sz="2600">
                <a:solidFill>
                  <a:schemeClr val="tx1"/>
                </a:solidFill>
                <a:latin typeface="Times New Roman" pitchFamily="18" charset="0"/>
              </a:defRPr>
            </a:lvl9pPr>
          </a:lstStyle>
          <a:p>
            <a:fld id="{A48D1855-3128-4E5A-9E5E-6F4A78A44E10}" type="slidenum">
              <a:rPr lang="en-US" sz="1300"/>
              <a:pPr/>
              <a:t>20</a:t>
            </a:fld>
            <a:endParaRPr lang="en-US" sz="13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p>
        </p:txBody>
      </p:sp>
    </p:spTree>
    <p:extLst>
      <p:ext uri="{BB962C8B-B14F-4D97-AF65-F5344CB8AC3E}">
        <p14:creationId xmlns:p14="http://schemas.microsoft.com/office/powerpoint/2010/main" val="300846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p>
            <a:fld id="{8ED4F609-BD96-42B0-9A88-E200CB249394}" type="slidenum">
              <a:rPr lang="en-US" smtClean="0"/>
              <a:pPr/>
              <a:t>22</a:t>
            </a:fld>
            <a:endParaRPr lang="en-US"/>
          </a:p>
        </p:txBody>
      </p:sp>
      <p:sp>
        <p:nvSpPr>
          <p:cNvPr id="214019" name="Rectangle 2"/>
          <p:cNvSpPr>
            <a:spLocks noGrp="1" noRot="1" noChangeAspect="1" noChangeArrowheads="1" noTextEdit="1"/>
          </p:cNvSpPr>
          <p:nvPr>
            <p:ph type="sldImg"/>
          </p:nvPr>
        </p:nvSpPr>
        <p:spPr>
          <a:xfrm>
            <a:off x="1211263" y="1023938"/>
            <a:ext cx="4676775" cy="3506787"/>
          </a:xfrm>
          <a:ln/>
        </p:spPr>
      </p:sp>
      <p:sp>
        <p:nvSpPr>
          <p:cNvPr id="214020" name="Rectangle 3"/>
          <p:cNvSpPr>
            <a:spLocks noGrp="1" noChangeArrowheads="1"/>
          </p:cNvSpPr>
          <p:nvPr>
            <p:ph type="body" idx="1"/>
          </p:nvPr>
        </p:nvSpPr>
        <p:spPr>
          <a:xfrm>
            <a:off x="1428499" y="4897317"/>
            <a:ext cx="4242348" cy="3946283"/>
          </a:xfrm>
          <a:noFill/>
          <a:ln/>
        </p:spPr>
        <p:txBody>
          <a:bodyPr wrap="none" anchor="ctr"/>
          <a:lstStyle/>
          <a:p>
            <a:pPr defTabSz="449263"/>
            <a:endParaRPr lang="de-DE"/>
          </a:p>
        </p:txBody>
      </p:sp>
    </p:spTree>
    <p:extLst>
      <p:ext uri="{BB962C8B-B14F-4D97-AF65-F5344CB8AC3E}">
        <p14:creationId xmlns:p14="http://schemas.microsoft.com/office/powerpoint/2010/main" val="31474155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p>
            <a:fld id="{E6EB9AA7-95F7-4C1E-B136-A3378E0EEB5D}" type="slidenum">
              <a:rPr lang="en-US" smtClean="0"/>
              <a:pPr/>
              <a:t>23</a:t>
            </a:fld>
            <a:endParaRPr lang="en-US"/>
          </a:p>
        </p:txBody>
      </p:sp>
      <p:sp>
        <p:nvSpPr>
          <p:cNvPr id="215043" name="Rectangle 2"/>
          <p:cNvSpPr>
            <a:spLocks noGrp="1" noRot="1" noChangeAspect="1" noChangeArrowheads="1" noTextEdit="1"/>
          </p:cNvSpPr>
          <p:nvPr>
            <p:ph type="sldImg"/>
          </p:nvPr>
        </p:nvSpPr>
        <p:spPr>
          <a:xfrm>
            <a:off x="1212850" y="1023938"/>
            <a:ext cx="4676775" cy="3506787"/>
          </a:xfrm>
          <a:ln/>
        </p:spPr>
      </p:sp>
      <p:sp>
        <p:nvSpPr>
          <p:cNvPr id="215044" name="Rectangle 3"/>
          <p:cNvSpPr>
            <a:spLocks noGrp="1" noChangeArrowheads="1"/>
          </p:cNvSpPr>
          <p:nvPr>
            <p:ph type="body" idx="1"/>
          </p:nvPr>
        </p:nvSpPr>
        <p:spPr>
          <a:xfrm>
            <a:off x="1429138" y="4897317"/>
            <a:ext cx="4244246" cy="3946283"/>
          </a:xfrm>
          <a:noFill/>
          <a:ln/>
        </p:spPr>
        <p:txBody>
          <a:bodyPr wrap="none" anchor="ctr"/>
          <a:lstStyle/>
          <a:p>
            <a:pPr defTabSz="449263"/>
            <a:endParaRPr lang="de-DE"/>
          </a:p>
        </p:txBody>
      </p:sp>
    </p:spTree>
    <p:extLst>
      <p:ext uri="{BB962C8B-B14F-4D97-AF65-F5344CB8AC3E}">
        <p14:creationId xmlns:p14="http://schemas.microsoft.com/office/powerpoint/2010/main" val="26165438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p>
            <a:fld id="{D09DFB9E-F117-4082-95B9-3AB271C383AB}" type="slidenum">
              <a:rPr lang="en-US" smtClean="0"/>
              <a:pPr/>
              <a:t>24</a:t>
            </a:fld>
            <a:endParaRPr lang="en-US"/>
          </a:p>
        </p:txBody>
      </p:sp>
      <p:sp>
        <p:nvSpPr>
          <p:cNvPr id="216067" name="Rectangle 2"/>
          <p:cNvSpPr>
            <a:spLocks noGrp="1" noRot="1" noChangeAspect="1" noChangeArrowheads="1" noTextEdit="1"/>
          </p:cNvSpPr>
          <p:nvPr>
            <p:ph type="sldImg"/>
          </p:nvPr>
        </p:nvSpPr>
        <p:spPr>
          <a:xfrm>
            <a:off x="1211263" y="1023938"/>
            <a:ext cx="4676775" cy="3506787"/>
          </a:xfrm>
          <a:ln/>
        </p:spPr>
      </p:sp>
      <p:sp>
        <p:nvSpPr>
          <p:cNvPr id="216068" name="Rectangle 3"/>
          <p:cNvSpPr>
            <a:spLocks noGrp="1" noChangeArrowheads="1"/>
          </p:cNvSpPr>
          <p:nvPr>
            <p:ph type="body" idx="1"/>
          </p:nvPr>
        </p:nvSpPr>
        <p:spPr>
          <a:xfrm>
            <a:off x="1428499" y="4897317"/>
            <a:ext cx="4242348" cy="3946283"/>
          </a:xfrm>
          <a:noFill/>
          <a:ln/>
        </p:spPr>
        <p:txBody>
          <a:bodyPr wrap="none" anchor="ctr"/>
          <a:lstStyle/>
          <a:p>
            <a:pPr marL="0" marR="0" lvl="0" indent="0" algn="l" defTabSz="449263" rtl="0" eaLnBrk="1" fontAlgn="auto" latinLnBrk="0" hangingPunct="1">
              <a:lnSpc>
                <a:spcPct val="100000"/>
              </a:lnSpc>
              <a:spcBef>
                <a:spcPts val="0"/>
              </a:spcBef>
              <a:spcAft>
                <a:spcPts val="0"/>
              </a:spcAft>
              <a:buClrTx/>
              <a:buSzTx/>
              <a:buFontTx/>
              <a:buNone/>
              <a:tabLst/>
              <a:defRPr/>
            </a:pPr>
            <a:r>
              <a:rPr lang="de-DE" sz="1200" dirty="0"/>
              <a:t>Sie wird für </a:t>
            </a:r>
            <a:r>
              <a:rPr lang="de-DE" sz="1200" u="sng" dirty="0"/>
              <a:t>jede</a:t>
            </a:r>
            <a:r>
              <a:rPr lang="de-DE" sz="1200" dirty="0"/>
              <a:t> IP-Adresse eines Interfaces in der Institution (lokal) gespeichert</a:t>
            </a:r>
          </a:p>
          <a:p>
            <a:pPr defTabSz="449263"/>
            <a:endParaRPr lang="de-DE" dirty="0"/>
          </a:p>
        </p:txBody>
      </p:sp>
    </p:spTree>
    <p:extLst>
      <p:ext uri="{BB962C8B-B14F-4D97-AF65-F5344CB8AC3E}">
        <p14:creationId xmlns:p14="http://schemas.microsoft.com/office/powerpoint/2010/main" val="959513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Aus: </a:t>
            </a:r>
            <a:r>
              <a:rPr lang="de-DE" dirty="0">
                <a:hlinkClick r:id="rId3"/>
              </a:rPr>
              <a:t>http://de.wikipedia.org/wiki/Subnetz</a:t>
            </a:r>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Die Abtrennung des vom Subnetz erfassten Bereichs erfolgt mittels bitweiser Maskierung eines bestimmten Teils der </a:t>
            </a:r>
            <a:r>
              <a:rPr lang="de-DE" sz="1200" b="0" i="0" u="none" strike="noStrike" kern="1200" dirty="0">
                <a:solidFill>
                  <a:schemeClr val="tx1"/>
                </a:solidFill>
                <a:effectLst/>
                <a:latin typeface="+mn-lt"/>
                <a:ea typeface="+mn-ea"/>
                <a:cs typeface="+mn-cs"/>
                <a:hlinkClick r:id="rId4" tooltip="IP-Adresse"/>
              </a:rPr>
              <a:t>IP-Adresse</a:t>
            </a:r>
            <a:r>
              <a:rPr lang="de-DE" sz="1200" b="0" i="0" kern="1200" dirty="0">
                <a:solidFill>
                  <a:schemeClr val="tx1"/>
                </a:solidFill>
                <a:effectLst/>
                <a:latin typeface="+mn-lt"/>
                <a:ea typeface="+mn-ea"/>
                <a:cs typeface="+mn-cs"/>
              </a:rPr>
              <a:t> durch die</a:t>
            </a:r>
            <a:r>
              <a:rPr lang="de-DE" sz="1200" b="0" i="0" u="none" strike="noStrike" kern="1200" dirty="0">
                <a:solidFill>
                  <a:schemeClr val="tx1"/>
                </a:solidFill>
                <a:effectLst/>
                <a:latin typeface="+mn-lt"/>
                <a:ea typeface="+mn-ea"/>
                <a:cs typeface="+mn-cs"/>
                <a:hlinkClick r:id="rId5" tooltip="Subnetzmaske"/>
              </a:rPr>
              <a:t>Subnetzmaske</a:t>
            </a:r>
            <a:r>
              <a:rPr lang="de-DE" sz="1200" b="0" i="0" kern="1200" dirty="0">
                <a:solidFill>
                  <a:schemeClr val="tx1"/>
                </a:solidFill>
                <a:effectLst/>
                <a:latin typeface="+mn-lt"/>
                <a:ea typeface="+mn-ea"/>
                <a:cs typeface="+mn-cs"/>
              </a:rPr>
              <a:t>. Dadurch erhält man aus einer beliebigen Adresse das Subnetz, zu dem die Adresse unter Annahme dieser Maske gehört.</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Da eine IPv4-Adresse aus 32 Bit besteht, ist der variable Teil 32 Bit minus </a:t>
            </a:r>
            <a:r>
              <a:rPr lang="de-DE" sz="1200" b="0" i="1" kern="1200" dirty="0">
                <a:solidFill>
                  <a:schemeClr val="tx1"/>
                </a:solidFill>
                <a:effectLst/>
                <a:latin typeface="+mn-lt"/>
                <a:ea typeface="+mn-ea"/>
                <a:cs typeface="+mn-cs"/>
              </a:rPr>
              <a:t>Präfixlänge</a:t>
            </a:r>
            <a:r>
              <a:rPr lang="de-DE" sz="1200" b="0" i="0" kern="1200" dirty="0">
                <a:solidFill>
                  <a:schemeClr val="tx1"/>
                </a:solidFill>
                <a:effectLst/>
                <a:latin typeface="+mn-lt"/>
                <a:ea typeface="+mn-ea"/>
                <a:cs typeface="+mn-cs"/>
              </a:rPr>
              <a:t> Bit lang. Die Präfixlänge ist die Anzahl der Einsen in der Netzmaske. Die Anzahl der Adressen im Subnetz berechnet sich dadurch zu 2</a:t>
            </a:r>
            <a:r>
              <a:rPr lang="de-DE" sz="1200" b="0" i="0" kern="1200" baseline="30000" dirty="0">
                <a:solidFill>
                  <a:schemeClr val="tx1"/>
                </a:solidFill>
                <a:effectLst/>
                <a:latin typeface="+mn-lt"/>
                <a:ea typeface="+mn-ea"/>
                <a:cs typeface="+mn-cs"/>
              </a:rPr>
              <a:t>32 − Präfixlänge</a:t>
            </a:r>
            <a:r>
              <a:rPr lang="de-DE" sz="1200" b="0" i="0" kern="1200" dirty="0">
                <a:solidFill>
                  <a:schemeClr val="tx1"/>
                </a:solidFill>
                <a:effectLst/>
                <a:latin typeface="+mn-lt"/>
                <a:ea typeface="+mn-ea"/>
                <a:cs typeface="+mn-cs"/>
              </a:rPr>
              <a:t>. In einem /24-Netz gibt es also 2</a:t>
            </a:r>
            <a:r>
              <a:rPr lang="de-DE" sz="1200" b="0" i="0" kern="1200" baseline="30000" dirty="0">
                <a:solidFill>
                  <a:schemeClr val="tx1"/>
                </a:solidFill>
                <a:effectLst/>
                <a:latin typeface="+mn-lt"/>
                <a:ea typeface="+mn-ea"/>
                <a:cs typeface="+mn-cs"/>
              </a:rPr>
              <a:t>32−24</a:t>
            </a:r>
            <a:r>
              <a:rPr lang="de-DE" sz="1200" b="0" i="0" kern="1200" dirty="0">
                <a:solidFill>
                  <a:schemeClr val="tx1"/>
                </a:solidFill>
                <a:effectLst/>
                <a:latin typeface="+mn-lt"/>
                <a:ea typeface="+mn-ea"/>
                <a:cs typeface="+mn-cs"/>
              </a:rPr>
              <a:t> = 2</a:t>
            </a:r>
            <a:r>
              <a:rPr lang="de-DE" sz="1200" b="0" i="0" kern="1200" baseline="30000" dirty="0">
                <a:solidFill>
                  <a:schemeClr val="tx1"/>
                </a:solidFill>
                <a:effectLst/>
                <a:latin typeface="+mn-lt"/>
                <a:ea typeface="+mn-ea"/>
                <a:cs typeface="+mn-cs"/>
              </a:rPr>
              <a:t>8</a:t>
            </a:r>
            <a:r>
              <a:rPr lang="de-DE" sz="1200" b="0" i="0" kern="1200" dirty="0">
                <a:solidFill>
                  <a:schemeClr val="tx1"/>
                </a:solidFill>
                <a:effectLst/>
                <a:latin typeface="+mn-lt"/>
                <a:ea typeface="+mn-ea"/>
                <a:cs typeface="+mn-cs"/>
              </a:rPr>
              <a:t> = 256 IP-Adressen.</a:t>
            </a:r>
          </a:p>
          <a:p>
            <a:r>
              <a:rPr lang="de-DE" sz="1200" b="0" i="0" kern="1200" dirty="0">
                <a:solidFill>
                  <a:schemeClr val="tx1"/>
                </a:solidFill>
                <a:effectLst/>
                <a:latin typeface="+mn-lt"/>
                <a:ea typeface="+mn-ea"/>
                <a:cs typeface="+mn-cs"/>
              </a:rPr>
              <a:t>Die IPv4-Präfixlängen /0 und /32 sind speziell in der Hinsicht, dass sie das ganze IPv4-Internet respektive einen einzelnen Host abdecken.</a:t>
            </a:r>
          </a:p>
          <a:p>
            <a:r>
              <a:rPr lang="de-DE" sz="1200" b="1" i="0" kern="1200" dirty="0">
                <a:solidFill>
                  <a:schemeClr val="tx1"/>
                </a:solidFill>
                <a:effectLst/>
                <a:latin typeface="+mn-lt"/>
                <a:ea typeface="+mn-ea"/>
                <a:cs typeface="+mn-cs"/>
              </a:rPr>
              <a:t>Schreibweise </a:t>
            </a:r>
            <a:r>
              <a:rPr lang="de-DE" sz="1200" b="0" i="0" kern="1200" dirty="0">
                <a:solidFill>
                  <a:schemeClr val="tx1"/>
                </a:solidFill>
                <a:effectLst/>
                <a:latin typeface="+mn-lt"/>
                <a:ea typeface="+mn-ea"/>
                <a:cs typeface="+mn-cs"/>
              </a:rPr>
              <a:t>[</a:t>
            </a:r>
            <a:r>
              <a:rPr lang="de-DE" sz="1200" b="0" i="0" u="none" strike="noStrike" kern="1200" dirty="0">
                <a:solidFill>
                  <a:schemeClr val="tx1"/>
                </a:solidFill>
                <a:effectLst/>
                <a:latin typeface="+mn-lt"/>
                <a:ea typeface="+mn-ea"/>
                <a:cs typeface="+mn-cs"/>
                <a:hlinkClick r:id="rId6" tooltip="Abschnitt bearbeiten: Schreibweise"/>
              </a:rPr>
              <a:t>Bearbeiten</a:t>
            </a:r>
            <a:r>
              <a:rPr lang="de-DE" sz="1200" b="0" i="0" kern="1200" dirty="0">
                <a:solidFill>
                  <a:schemeClr val="tx1"/>
                </a:solidFill>
                <a:effectLst/>
                <a:latin typeface="+mn-lt"/>
                <a:ea typeface="+mn-ea"/>
                <a:cs typeface="+mn-cs"/>
              </a:rPr>
              <a:t>]</a:t>
            </a:r>
            <a:endParaRPr lang="de-DE" sz="1200" b="1"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Will man ein spezifisches Subnetz bezeichnen, gibt man die erste Adresse in diesem Subnetz zusammen mit der Subnetzmaske oder Präfixlänge an. Da die Maskenschreibweise für IPv4 mit vier Dezimalzahlen wenig kompakt und im Gebrauch umständlich ist, notiert man stattdessen immer häufiger die Anzahl der Einsen als Präfixlänge, eine Darstellung, die sich für IPv6 von Beginn an durchgesetzt hat.</a:t>
            </a:r>
          </a:p>
          <a:p>
            <a:r>
              <a:rPr lang="de-DE" sz="1200" b="0" i="0" kern="1200" dirty="0">
                <a:solidFill>
                  <a:schemeClr val="tx1"/>
                </a:solidFill>
                <a:effectLst/>
                <a:latin typeface="+mn-lt"/>
                <a:ea typeface="+mn-ea"/>
                <a:cs typeface="+mn-cs"/>
              </a:rPr>
              <a:t> </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25</a:t>
            </a:fld>
            <a:endParaRPr lang="en-US" dirty="0"/>
          </a:p>
        </p:txBody>
      </p:sp>
    </p:spTree>
    <p:extLst>
      <p:ext uri="{BB962C8B-B14F-4D97-AF65-F5344CB8AC3E}">
        <p14:creationId xmlns:p14="http://schemas.microsoft.com/office/powerpoint/2010/main" val="22761062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fld id="{14BC7A42-F350-4AB2-BFD6-7401528AA518}" type="slidenum">
              <a:rPr lang="en-US" smtClean="0"/>
              <a:pPr/>
              <a:t>26</a:t>
            </a:fld>
            <a:endParaRPr lang="en-US"/>
          </a:p>
        </p:txBody>
      </p:sp>
      <p:sp>
        <p:nvSpPr>
          <p:cNvPr id="217091" name="Rectangle 2"/>
          <p:cNvSpPr>
            <a:spLocks noGrp="1" noRot="1" noChangeAspect="1" noChangeArrowheads="1" noTextEdit="1"/>
          </p:cNvSpPr>
          <p:nvPr>
            <p:ph type="sldImg"/>
          </p:nvPr>
        </p:nvSpPr>
        <p:spPr>
          <a:xfrm>
            <a:off x="1211263" y="1023938"/>
            <a:ext cx="4675187" cy="3506787"/>
          </a:xfrm>
          <a:ln/>
        </p:spPr>
      </p:sp>
      <p:sp>
        <p:nvSpPr>
          <p:cNvPr id="217092" name="Rectangle 3"/>
          <p:cNvSpPr>
            <a:spLocks noGrp="1" noChangeArrowheads="1"/>
          </p:cNvSpPr>
          <p:nvPr>
            <p:ph type="body" idx="1"/>
          </p:nvPr>
        </p:nvSpPr>
        <p:spPr>
          <a:xfrm>
            <a:off x="1428180" y="4897316"/>
            <a:ext cx="4241400" cy="3946283"/>
          </a:xfrm>
          <a:noFill/>
          <a:ln/>
        </p:spPr>
        <p:txBody>
          <a:bodyPr wrap="none" anchor="ctr"/>
          <a:lstStyle/>
          <a:p>
            <a:pPr defTabSz="449263"/>
            <a:endParaRPr lang="de-DE"/>
          </a:p>
        </p:txBody>
      </p:sp>
    </p:spTree>
    <p:extLst>
      <p:ext uri="{BB962C8B-B14F-4D97-AF65-F5344CB8AC3E}">
        <p14:creationId xmlns:p14="http://schemas.microsoft.com/office/powerpoint/2010/main" val="1525028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27</a:t>
            </a:fld>
            <a:endParaRPr lang="en-US" dirty="0"/>
          </a:p>
        </p:txBody>
      </p:sp>
    </p:spTree>
    <p:extLst>
      <p:ext uri="{BB962C8B-B14F-4D97-AF65-F5344CB8AC3E}">
        <p14:creationId xmlns:p14="http://schemas.microsoft.com/office/powerpoint/2010/main" val="22764156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fld id="{14BC7A42-F350-4AB2-BFD6-7401528AA518}" type="slidenum">
              <a:rPr lang="en-US" smtClean="0"/>
              <a:pPr/>
              <a:t>32</a:t>
            </a:fld>
            <a:endParaRPr lang="en-US"/>
          </a:p>
        </p:txBody>
      </p:sp>
      <p:sp>
        <p:nvSpPr>
          <p:cNvPr id="217091" name="Rectangle 2"/>
          <p:cNvSpPr>
            <a:spLocks noGrp="1" noRot="1" noChangeAspect="1" noChangeArrowheads="1" noTextEdit="1"/>
          </p:cNvSpPr>
          <p:nvPr>
            <p:ph type="sldImg"/>
          </p:nvPr>
        </p:nvSpPr>
        <p:spPr>
          <a:xfrm>
            <a:off x="1212850" y="1023938"/>
            <a:ext cx="4676775" cy="3506787"/>
          </a:xfrm>
          <a:ln/>
        </p:spPr>
      </p:sp>
      <p:sp>
        <p:nvSpPr>
          <p:cNvPr id="217092" name="Rectangle 3"/>
          <p:cNvSpPr>
            <a:spLocks noGrp="1" noChangeArrowheads="1"/>
          </p:cNvSpPr>
          <p:nvPr>
            <p:ph type="body" idx="1"/>
          </p:nvPr>
        </p:nvSpPr>
        <p:spPr>
          <a:xfrm>
            <a:off x="1429138" y="4897317"/>
            <a:ext cx="4244246" cy="3946283"/>
          </a:xfrm>
          <a:noFill/>
          <a:ln/>
        </p:spPr>
        <p:txBody>
          <a:bodyPr wrap="none" anchor="ctr"/>
          <a:lstStyle/>
          <a:p>
            <a:pPr defTabSz="449263"/>
            <a:endParaRPr lang="de-DE"/>
          </a:p>
        </p:txBody>
      </p:sp>
    </p:spTree>
    <p:extLst>
      <p:ext uri="{BB962C8B-B14F-4D97-AF65-F5344CB8AC3E}">
        <p14:creationId xmlns:p14="http://schemas.microsoft.com/office/powerpoint/2010/main" val="15250286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35</a:t>
            </a:fld>
            <a:endParaRPr lang="en-US" dirty="0"/>
          </a:p>
        </p:txBody>
      </p:sp>
    </p:spTree>
    <p:extLst>
      <p:ext uri="{BB962C8B-B14F-4D97-AF65-F5344CB8AC3E}">
        <p14:creationId xmlns:p14="http://schemas.microsoft.com/office/powerpoint/2010/main" val="762647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8" name="Titel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Untertitel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noProof="0" dirty="0" err="1"/>
              <a:t>Formatvorlage</a:t>
            </a:r>
            <a:r>
              <a:rPr kumimoji="0" lang="en-US" noProof="0" dirty="0"/>
              <a:t> des </a:t>
            </a:r>
            <a:r>
              <a:rPr kumimoji="0" lang="en-US" noProof="0" dirty="0" err="1"/>
              <a:t>Untertitelmasters</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21" name="Rechteck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hteck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hteck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hteck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521019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 2 Tei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641848"/>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8208912"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und Inhalt 75%">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56984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4104456"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p:txBody>
          <a:bodyPr/>
          <a:lstStyle/>
          <a:p>
            <a:fld id="{6C6AE60A-B69C-4790-82F7-3882EDF23186}" type="slidenum">
              <a:rPr lang="de-DE" smtClean="0"/>
              <a:pPr/>
              <a:t>‹Nr.›</a:t>
            </a:fld>
            <a:endParaRPr lang="de-DE" dirty="0"/>
          </a:p>
        </p:txBody>
      </p:sp>
      <p:sp>
        <p:nvSpPr>
          <p:cNvPr id="10" name="Gerade Verbindung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Gleichschenkliges Dreieck 8"/>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Inhaltsplatzhalter 11"/>
          <p:cNvSpPr>
            <a:spLocks noGrp="1"/>
          </p:cNvSpPr>
          <p:nvPr>
            <p:ph sz="quarter" idx="1"/>
          </p:nvPr>
        </p:nvSpPr>
        <p:spPr>
          <a:xfrm>
            <a:off x="304800" y="304800"/>
            <a:ext cx="5715000" cy="57150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5" name="Foliennummernplatzhalter 4"/>
          <p:cNvSpPr>
            <a:spLocks noGrp="1"/>
          </p:cNvSpPr>
          <p:nvPr>
            <p:ph type="sldNum" sz="quarter" idx="12"/>
          </p:nvPr>
        </p:nvSpPr>
        <p:spPr/>
        <p:txBody>
          <a:bodyPr/>
          <a:lstStyle/>
          <a:p>
            <a:fld id="{6C6AE60A-B69C-4790-82F7-3882EDF23186}" type="slidenum">
              <a:rPr lang="de-DE" smtClean="0"/>
              <a:pPr/>
              <a:t>‹Nr.›</a:t>
            </a:fld>
            <a:endParaRPr lang="de-D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a:xfrm>
            <a:off x="8542234" y="6500834"/>
            <a:ext cx="601766" cy="357166"/>
          </a:xfrm>
        </p:spPr>
        <p:txBody>
          <a:bodyPr/>
          <a:lstStyle/>
          <a:p>
            <a:fld id="{6C6AE60A-B69C-4790-82F7-3882EDF23186}" type="slidenum">
              <a:rPr lang="de-DE" smtClean="0"/>
              <a:pPr/>
              <a:t>‹Nr.›</a:t>
            </a:fld>
            <a:endParaRPr lang="de-DE" dirty="0"/>
          </a:p>
        </p:txBody>
      </p:sp>
      <p:sp>
        <p:nvSpPr>
          <p:cNvPr id="9" name="Inhaltsplatzhalter 8"/>
          <p:cNvSpPr>
            <a:spLocks noGrp="1"/>
          </p:cNvSpPr>
          <p:nvPr>
            <p:ph sz="quarter" idx="1"/>
          </p:nvPr>
        </p:nvSpPr>
        <p:spPr>
          <a:xfrm>
            <a:off x="457200" y="1219200"/>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1" name="Inhaltsplatzhalter 10"/>
          <p:cNvSpPr>
            <a:spLocks noGrp="1"/>
          </p:cNvSpPr>
          <p:nvPr>
            <p:ph sz="quarter" idx="2"/>
          </p:nvPr>
        </p:nvSpPr>
        <p:spPr>
          <a:xfrm>
            <a:off x="4632198" y="1216152"/>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nchor="ctr"/>
          <a:lstStyle>
            <a:lvl1pPr>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Textplatzhalt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Foliennummernplatzhalter 8"/>
          <p:cNvSpPr>
            <a:spLocks noGrp="1"/>
          </p:cNvSpPr>
          <p:nvPr>
            <p:ph type="sldNum" sz="quarter" idx="12"/>
          </p:nvPr>
        </p:nvSpPr>
        <p:spPr/>
        <p:txBody>
          <a:bodyPr/>
          <a:lstStyle/>
          <a:p>
            <a:fld id="{6C6AE60A-B69C-4790-82F7-3882EDF23186}" type="slidenum">
              <a:rPr lang="de-DE" smtClean="0"/>
              <a:pPr/>
              <a:t>‹Nr.›</a:t>
            </a:fld>
            <a:endParaRPr lang="de-DE" dirty="0"/>
          </a:p>
        </p:txBody>
      </p:sp>
      <p:sp>
        <p:nvSpPr>
          <p:cNvPr id="11" name="Inhaltsplatzhalter 10"/>
          <p:cNvSpPr>
            <a:spLocks noGrp="1"/>
          </p:cNvSpPr>
          <p:nvPr>
            <p:ph sz="quarter" idx="2"/>
          </p:nvPr>
        </p:nvSpPr>
        <p:spPr>
          <a:xfrm>
            <a:off x="457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3" name="Inhaltsplatzhalter 12"/>
          <p:cNvSpPr>
            <a:spLocks noGrp="1"/>
          </p:cNvSpPr>
          <p:nvPr>
            <p:ph sz="quarter" idx="4"/>
          </p:nvPr>
        </p:nvSpPr>
        <p:spPr>
          <a:xfrm>
            <a:off x="4648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er">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6C6AE60A-B69C-4790-82F7-3882EDF23186}" type="slidenum">
              <a:rPr lang="de-DE" smtClean="0"/>
              <a:pPr/>
              <a:t>‹Nr.›</a:t>
            </a:fld>
            <a:endParaRPr lang="de-DE" dirty="0"/>
          </a:p>
        </p:txBody>
      </p:sp>
      <p:sp>
        <p:nvSpPr>
          <p:cNvPr id="7" name="Gleichschenkliges Dreieck 6"/>
          <p:cNvSpPr>
            <a:spLocks noChangeAspect="1"/>
          </p:cNvSpPr>
          <p:nvPr userDrawn="1"/>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5" name="Titel 1"/>
          <p:cNvSpPr>
            <a:spLocks noGrp="1"/>
          </p:cNvSpPr>
          <p:nvPr>
            <p:ph type="title"/>
          </p:nvPr>
        </p:nvSpPr>
        <p:spPr>
          <a:xfrm>
            <a:off x="971600" y="2348880"/>
            <a:ext cx="7200800" cy="2160240"/>
          </a:xfrm>
        </p:spPr>
        <p:txBody>
          <a:bodyPr anchor="ctr">
            <a:normAutofit/>
          </a:bodyPr>
          <a:lstStyle>
            <a:lvl1pPr algn="ctr">
              <a:defRPr sz="400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Datumsplatzhalter 3"/>
          <p:cNvSpPr>
            <a:spLocks noGrp="1"/>
          </p:cNvSpPr>
          <p:nvPr>
            <p:ph type="dt" sz="half" idx="10"/>
          </p:nvPr>
        </p:nvSpPr>
        <p:spPr>
          <a:xfrm>
            <a:off x="6400800" y="6355080"/>
            <a:ext cx="2286000" cy="365760"/>
          </a:xfrm>
          <a:prstGeom prst="rect">
            <a:avLst/>
          </a:prstGeom>
        </p:spPr>
        <p:txBody>
          <a:bodyPr/>
          <a:lstStyle/>
          <a:p>
            <a:endParaRPr lang="de-DE" dirty="0"/>
          </a:p>
        </p:txBody>
      </p:sp>
      <p:sp>
        <p:nvSpPr>
          <p:cNvPr id="5" name="Fußzeilenplatzhalter 4"/>
          <p:cNvSpPr>
            <a:spLocks noGrp="1"/>
          </p:cNvSpPr>
          <p:nvPr>
            <p:ph type="ftr" sz="quarter" idx="11"/>
          </p:nvPr>
        </p:nvSpPr>
        <p:spPr>
          <a:xfrm>
            <a:off x="2898648" y="6355080"/>
            <a:ext cx="3474720" cy="365760"/>
          </a:xfrm>
          <a:prstGeom prst="rect">
            <a:avLst/>
          </a:prstGeom>
        </p:spPr>
        <p:txBody>
          <a:bodyPr/>
          <a:lstStyle/>
          <a:p>
            <a:endParaRPr lang="de-DE" dirty="0"/>
          </a:p>
        </p:txBody>
      </p:sp>
      <p:sp>
        <p:nvSpPr>
          <p:cNvPr id="6" name="Foliennummernplatzhalter 5"/>
          <p:cNvSpPr>
            <a:spLocks noGrp="1"/>
          </p:cNvSpPr>
          <p:nvPr>
            <p:ph type="sldNum" sz="quarter" idx="12"/>
          </p:nvPr>
        </p:nvSpPr>
        <p:spPr>
          <a:xfrm>
            <a:off x="1069848" y="6355080"/>
            <a:ext cx="1520952" cy="365760"/>
          </a:xfrm>
        </p:spPr>
        <p:txBody>
          <a:bodyPr/>
          <a:lstStyle/>
          <a:p>
            <a:fld id="{6C6AE60A-B69C-4790-82F7-3882EDF23186}" type="slidenum">
              <a:rPr lang="de-DE" smtClean="0"/>
              <a:pPr/>
              <a:t>‹Nr.›</a:t>
            </a:fld>
            <a:endParaRPr lang="de-DE" dirty="0"/>
          </a:p>
        </p:txBody>
      </p:sp>
      <p:sp>
        <p:nvSpPr>
          <p:cNvPr id="7" name="Rechteck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hteck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Vertikaler Textplatzhalter 2"/>
          <p:cNvSpPr>
            <a:spLocks noGrp="1"/>
          </p:cNvSpPr>
          <p:nvPr>
            <p:ph type="body" orient="vert" idx="1"/>
          </p:nvPr>
        </p:nvSpPr>
        <p:spPr/>
        <p:txBody>
          <a:bodyPr vert="eaVert"/>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‹Nr.›</a:t>
            </a:fld>
            <a:endParaRPr lang="de-DE"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8"/>
            <a:ext cx="2057400" cy="5851525"/>
          </a:xfrm>
        </p:spPr>
        <p:txBody>
          <a:bodyPr vert="eaVert"/>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Vertikaler Textplatzhalter 2"/>
          <p:cNvSpPr>
            <a:spLocks noGrp="1"/>
          </p:cNvSpPr>
          <p:nvPr>
            <p:ph type="body" orient="vert" idx="1"/>
          </p:nvPr>
        </p:nvSpPr>
        <p:spPr>
          <a:xfrm>
            <a:off x="457200" y="274638"/>
            <a:ext cx="6019800" cy="5851525"/>
          </a:xfrm>
        </p:spPr>
        <p:txBody>
          <a:bodyPr vert="eaVert"/>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‹Nr.›</a:t>
            </a:fld>
            <a:endParaRPr lang="de-DE" dirty="0"/>
          </a:p>
        </p:txBody>
      </p:sp>
      <p:sp>
        <p:nvSpPr>
          <p:cNvPr id="8" name="Gleichschenkliges Dreieck 7"/>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Gerade Verbindung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elplatzhalt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13" name="Textplatzhalter 12"/>
          <p:cNvSpPr>
            <a:spLocks noGrp="1"/>
          </p:cNvSpPr>
          <p:nvPr>
            <p:ph type="body" idx="1"/>
          </p:nvPr>
        </p:nvSpPr>
        <p:spPr>
          <a:xfrm>
            <a:off x="457200" y="1219200"/>
            <a:ext cx="8229600" cy="5210196"/>
          </a:xfrm>
          <a:prstGeom prst="rect">
            <a:avLst/>
          </a:prstGeom>
        </p:spPr>
        <p:txBody>
          <a:bodyPr vert="horz">
            <a:normAutofit/>
          </a:body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a:p>
            <a:pPr lvl="1" eaLnBrk="1" latinLnBrk="0" hangingPunct="1"/>
            <a:r>
              <a:rPr kumimoji="0" lang="en-US" noProof="0" dirty="0" err="1"/>
              <a:t>Zweite</a:t>
            </a:r>
            <a:r>
              <a:rPr kumimoji="0" lang="en-US" noProof="0" dirty="0"/>
              <a:t> </a:t>
            </a:r>
            <a:r>
              <a:rPr kumimoji="0" lang="en-US" noProof="0" dirty="0" err="1"/>
              <a:t>Ebene</a:t>
            </a:r>
            <a:endParaRPr kumimoji="0" lang="en-US" noProof="0" dirty="0"/>
          </a:p>
          <a:p>
            <a:pPr lvl="2" eaLnBrk="1" latinLnBrk="0" hangingPunct="1"/>
            <a:r>
              <a:rPr kumimoji="0" lang="en-US" noProof="0" dirty="0" err="1"/>
              <a:t>Dritte</a:t>
            </a:r>
            <a:r>
              <a:rPr kumimoji="0" lang="en-US" noProof="0" dirty="0"/>
              <a:t> </a:t>
            </a:r>
            <a:r>
              <a:rPr kumimoji="0" lang="en-US" noProof="0" dirty="0" err="1"/>
              <a:t>Ebene</a:t>
            </a:r>
            <a:endParaRPr kumimoji="0" lang="en-US" noProof="0" dirty="0"/>
          </a:p>
          <a:p>
            <a:pPr lvl="3" eaLnBrk="1" latinLnBrk="0" hangingPunct="1"/>
            <a:r>
              <a:rPr kumimoji="0" lang="en-US" noProof="0" dirty="0" err="1"/>
              <a:t>Vierte</a:t>
            </a:r>
            <a:r>
              <a:rPr kumimoji="0" lang="en-US" noProof="0" dirty="0"/>
              <a:t> </a:t>
            </a:r>
            <a:r>
              <a:rPr kumimoji="0" lang="en-US" noProof="0" dirty="0" err="1"/>
              <a:t>Ebene</a:t>
            </a:r>
            <a:endParaRPr kumimoji="0" lang="en-US" noProof="0" dirty="0"/>
          </a:p>
          <a:p>
            <a:pPr lvl="4" eaLnBrk="1" latinLnBrk="0" hangingPunct="1"/>
            <a:r>
              <a:rPr kumimoji="0" lang="en-US" noProof="0" dirty="0" err="1"/>
              <a:t>Fünfte</a:t>
            </a:r>
            <a:r>
              <a:rPr kumimoji="0" lang="en-US" noProof="0" dirty="0"/>
              <a:t> </a:t>
            </a:r>
            <a:r>
              <a:rPr kumimoji="0" lang="en-US" noProof="0" dirty="0" err="1"/>
              <a:t>Ebene</a:t>
            </a:r>
            <a:endParaRPr kumimoji="0" lang="en-US" noProof="0" dirty="0"/>
          </a:p>
        </p:txBody>
      </p:sp>
      <p:sp>
        <p:nvSpPr>
          <p:cNvPr id="23" name="Foliennummernplatzhalter 22"/>
          <p:cNvSpPr>
            <a:spLocks noGrp="1"/>
          </p:cNvSpPr>
          <p:nvPr>
            <p:ph type="sldNum" sz="quarter" idx="4"/>
          </p:nvPr>
        </p:nvSpPr>
        <p:spPr>
          <a:xfrm>
            <a:off x="8542234" y="6492240"/>
            <a:ext cx="601766" cy="365760"/>
          </a:xfrm>
          <a:prstGeom prst="rect">
            <a:avLst/>
          </a:prstGeom>
        </p:spPr>
        <p:txBody>
          <a:bodyPr vert="horz"/>
          <a:lstStyle>
            <a:lvl1pPr algn="l" eaLnBrk="1" latinLnBrk="0" hangingPunct="1">
              <a:defRPr kumimoji="0" sz="1400">
                <a:solidFill>
                  <a:schemeClr val="tx2"/>
                </a:solidFill>
              </a:defRPr>
            </a:lvl1pPr>
          </a:lstStyle>
          <a:p>
            <a:r>
              <a:rPr lang="de-DE" dirty="0"/>
              <a:t>1</a:t>
            </a:r>
          </a:p>
        </p:txBody>
      </p:sp>
      <p:sp>
        <p:nvSpPr>
          <p:cNvPr id="29" name="Gerade Verbindung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Gleichschenkliges Dreieck 9"/>
          <p:cNvSpPr>
            <a:spLocks noChangeAspect="1"/>
          </p:cNvSpPr>
          <p:nvPr/>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97" r:id="rId3"/>
    <p:sldLayoutId id="2147483696" r:id="rId4"/>
    <p:sldLayoutId id="2147483692" r:id="rId5"/>
    <p:sldLayoutId id="2147483690" r:id="rId6"/>
    <p:sldLayoutId id="2147483688" r:id="rId7"/>
    <p:sldLayoutId id="2147483689" r:id="rId8"/>
    <p:sldLayoutId id="2147483691" r:id="rId9"/>
    <p:sldLayoutId id="2147483687" r:id="rId10"/>
    <p:sldLayoutId id="2147483694" r:id="rId11"/>
    <p:sldLayoutId id="2147483695"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oleObject" Target="../embeddings/oleObject1.bin"/><Relationship Id="rId4" Type="http://schemas.openxmlformats.org/officeDocument/2006/relationships/image" Target="../media/image2.wmf"/><Relationship Id="rId5" Type="http://schemas.openxmlformats.org/officeDocument/2006/relationships/oleObject" Target="../embeddings/oleObject2.bin"/><Relationship Id="rId6" Type="http://schemas.openxmlformats.org/officeDocument/2006/relationships/oleObject" Target="../embeddings/oleObject3.bin"/><Relationship Id="rId7"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oleObject" Target="../embeddings/oleObject5.bin"/><Relationship Id="rId3" Type="http://schemas.openxmlformats.org/officeDocument/2006/relationships/image" Target="../media/image2.wmf"/><Relationship Id="rId4" Type="http://schemas.openxmlformats.org/officeDocument/2006/relationships/oleObject" Target="../embeddings/oleObject6.bin"/><Relationship Id="rId5" Type="http://schemas.openxmlformats.org/officeDocument/2006/relationships/oleObject" Target="../embeddings/oleObject7.bin"/><Relationship Id="rId6" Type="http://schemas.openxmlformats.org/officeDocument/2006/relationships/oleObject" Target="../embeddings/oleObject8.bin"/><Relationship Id="rId7" Type="http://schemas.openxmlformats.org/officeDocument/2006/relationships/oleObject" Target="../embeddings/oleObject9.bin"/><Relationship Id="rId8" Type="http://schemas.openxmlformats.org/officeDocument/2006/relationships/oleObject" Target="../embeddings/oleObject10.bin"/><Relationship Id="rId9" Type="http://schemas.openxmlformats.org/officeDocument/2006/relationships/oleObject" Target="../embeddings/oleObject1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oleObject" Target="../embeddings/oleObject12.bin"/><Relationship Id="rId4" Type="http://schemas.openxmlformats.org/officeDocument/2006/relationships/image" Target="../media/image2.wmf"/><Relationship Id="rId5" Type="http://schemas.openxmlformats.org/officeDocument/2006/relationships/oleObject" Target="../embeddings/oleObject13.bin"/><Relationship Id="rId6" Type="http://schemas.openxmlformats.org/officeDocument/2006/relationships/oleObject" Target="../embeddings/oleObject14.bin"/><Relationship Id="rId7" Type="http://schemas.openxmlformats.org/officeDocument/2006/relationships/oleObject" Target="../embeddings/oleObject15.bin"/><Relationship Id="rId8" Type="http://schemas.openxmlformats.org/officeDocument/2006/relationships/oleObject" Target="../embeddings/oleObject16.bin"/><Relationship Id="rId9" Type="http://schemas.openxmlformats.org/officeDocument/2006/relationships/oleObject" Target="../embeddings/oleObject17.bin"/><Relationship Id="rId10"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oleObject" Target="../embeddings/oleObject19.bin"/><Relationship Id="rId4" Type="http://schemas.openxmlformats.org/officeDocument/2006/relationships/image" Target="../media/image2.wmf"/><Relationship Id="rId5" Type="http://schemas.openxmlformats.org/officeDocument/2006/relationships/oleObject" Target="../embeddings/oleObject20.bin"/><Relationship Id="rId6" Type="http://schemas.openxmlformats.org/officeDocument/2006/relationships/oleObject" Target="../embeddings/oleObject21.bin"/><Relationship Id="rId7" Type="http://schemas.openxmlformats.org/officeDocument/2006/relationships/oleObject" Target="../embeddings/oleObject22.bin"/><Relationship Id="rId8" Type="http://schemas.openxmlformats.org/officeDocument/2006/relationships/oleObject" Target="../embeddings/oleObject23.bin"/><Relationship Id="rId9" Type="http://schemas.openxmlformats.org/officeDocument/2006/relationships/hyperlink" Target="http://de.wikipedia.org/wiki/Subnetz"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oleObject" Target="../embeddings/oleObject24.bin"/><Relationship Id="rId4" Type="http://schemas.openxmlformats.org/officeDocument/2006/relationships/image" Target="../media/image4.wmf"/><Relationship Id="rId5" Type="http://schemas.openxmlformats.org/officeDocument/2006/relationships/oleObject" Target="../embeddings/oleObject25.bin"/><Relationship Id="rId6" Type="http://schemas.openxmlformats.org/officeDocument/2006/relationships/image" Target="../media/image5.wmf"/><Relationship Id="rId7" Type="http://schemas.openxmlformats.org/officeDocument/2006/relationships/image" Target="../media/image6.png"/><Relationship Id="rId8" Type="http://schemas.openxmlformats.org/officeDocument/2006/relationships/oleObject" Target="../embeddings/oleObject26.bin"/><Relationship Id="rId9" Type="http://schemas.openxmlformats.org/officeDocument/2006/relationships/image" Target="../media/image2.wmf"/><Relationship Id="rId10" Type="http://schemas.openxmlformats.org/officeDocument/2006/relationships/oleObject" Target="../embeddings/oleObject27.bin"/><Relationship Id="rId11" Type="http://schemas.openxmlformats.org/officeDocument/2006/relationships/oleObject" Target="../embeddings/oleObject28.bin"/><Relationship Id="rId12" Type="http://schemas.openxmlformats.org/officeDocument/2006/relationships/oleObject" Target="../embeddings/oleObject29.bin"/><Relationship Id="rId13" Type="http://schemas.openxmlformats.org/officeDocument/2006/relationships/oleObject" Target="../embeddings/oleObject30.bin"/><Relationship Id="rId14" Type="http://schemas.openxmlformats.org/officeDocument/2006/relationships/oleObject" Target="../embeddings/oleObject31.bin"/><Relationship Id="rId15" Type="http://schemas.openxmlformats.org/officeDocument/2006/relationships/oleObject" Target="../embeddings/oleObject32.bin"/><Relationship Id="rId16" Type="http://schemas.openxmlformats.org/officeDocument/2006/relationships/oleObject" Target="../embeddings/oleObject33.bin"/><Relationship Id="rId17" Type="http://schemas.openxmlformats.org/officeDocument/2006/relationships/oleObject" Target="../embeddings/oleObject34.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oleObject" Target="../embeddings/oleObject35.bin"/><Relationship Id="rId4" Type="http://schemas.openxmlformats.org/officeDocument/2006/relationships/image" Target="../media/image2.wmf"/><Relationship Id="rId5" Type="http://schemas.openxmlformats.org/officeDocument/2006/relationships/oleObject" Target="../embeddings/oleObject36.bin"/><Relationship Id="rId6" Type="http://schemas.openxmlformats.org/officeDocument/2006/relationships/oleObject" Target="../embeddings/oleObject37.bin"/><Relationship Id="rId7" Type="http://schemas.openxmlformats.org/officeDocument/2006/relationships/oleObject" Target="../embeddings/oleObject38.bin"/><Relationship Id="rId8" Type="http://schemas.openxmlformats.org/officeDocument/2006/relationships/oleObject" Target="../embeddings/oleObject39.bin"/><Relationship Id="rId9" Type="http://schemas.openxmlformats.org/officeDocument/2006/relationships/image" Target="../media/image4.wmf"/><Relationship Id="rId10" Type="http://schemas.openxmlformats.org/officeDocument/2006/relationships/oleObject" Target="../embeddings/oleObject40.bin"/><Relationship Id="rId11" Type="http://schemas.openxmlformats.org/officeDocument/2006/relationships/image" Target="../media/image5.wmf"/><Relationship Id="rId12" Type="http://schemas.openxmlformats.org/officeDocument/2006/relationships/oleObject" Target="../embeddings/oleObject41.bin"/><Relationship Id="rId13" Type="http://schemas.openxmlformats.org/officeDocument/2006/relationships/oleObject" Target="../embeddings/oleObject42.bin"/><Relationship Id="rId1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oleObject" Target="../embeddings/oleObject43.bin"/><Relationship Id="rId4" Type="http://schemas.openxmlformats.org/officeDocument/2006/relationships/image" Target="../media/image2.wmf"/><Relationship Id="rId5" Type="http://schemas.openxmlformats.org/officeDocument/2006/relationships/oleObject" Target="../embeddings/oleObject44.bin"/><Relationship Id="rId6" Type="http://schemas.openxmlformats.org/officeDocument/2006/relationships/oleObject" Target="../embeddings/oleObject45.bin"/><Relationship Id="rId7" Type="http://schemas.openxmlformats.org/officeDocument/2006/relationships/oleObject" Target="../embeddings/oleObject46.bin"/><Relationship Id="rId8" Type="http://schemas.openxmlformats.org/officeDocument/2006/relationships/oleObject" Target="../embeddings/oleObject47.bin"/><Relationship Id="rId9" Type="http://schemas.openxmlformats.org/officeDocument/2006/relationships/oleObject" Target="../embeddings/oleObject48.bin"/><Relationship Id="rId10" Type="http://schemas.openxmlformats.org/officeDocument/2006/relationships/oleObject" Target="../embeddings/oleObject49.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isco.com/c/en/us/support/switches/catalyst-4500-series-switches/series.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computerweekly.com/de/definition/Virtual-Local-Area-Networks-VLAN" TargetMode="External"/><Relationship Id="rId3" Type="http://schemas.openxmlformats.org/officeDocument/2006/relationships/image" Target="../media/image8.png"/><Relationship Id="rId4" Type="http://schemas.openxmlformats.org/officeDocument/2006/relationships/hyperlink" Target="https://bit.ly/43q5Tu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LxNgWsseE0w"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115616" y="3717032"/>
            <a:ext cx="7056784" cy="1159768"/>
          </a:xfrm>
        </p:spPr>
        <p:txBody>
          <a:bodyPr>
            <a:noAutofit/>
          </a:bodyPr>
          <a:lstStyle/>
          <a:p>
            <a:r>
              <a:rPr lang="de-DE" sz="3600" dirty="0"/>
              <a:t>Betriebssysteme und Netzwerke</a:t>
            </a:r>
            <a:br>
              <a:rPr lang="de-DE" sz="3600" dirty="0"/>
            </a:br>
            <a:r>
              <a:rPr lang="de-DE" sz="3600" dirty="0"/>
              <a:t>Vorlesung N03</a:t>
            </a:r>
            <a:endParaRPr lang="en-US" sz="3600" dirty="0"/>
          </a:p>
        </p:txBody>
      </p:sp>
      <p:sp>
        <p:nvSpPr>
          <p:cNvPr id="3" name="Untertitel 2"/>
          <p:cNvSpPr>
            <a:spLocks noGrp="1"/>
          </p:cNvSpPr>
          <p:nvPr>
            <p:ph type="subTitle" idx="1"/>
          </p:nvPr>
        </p:nvSpPr>
        <p:spPr>
          <a:xfrm>
            <a:off x="5786446" y="5124450"/>
            <a:ext cx="2290754" cy="533400"/>
          </a:xfrm>
        </p:spPr>
        <p:txBody>
          <a:bodyPr>
            <a:normAutofit/>
          </a:bodyPr>
          <a:lstStyle/>
          <a:p>
            <a:r>
              <a:rPr lang="de-DE" dirty="0"/>
              <a:t>Artur Andrzejak</a:t>
            </a:r>
          </a:p>
        </p:txBody>
      </p:sp>
      <p:sp>
        <p:nvSpPr>
          <p:cNvPr id="4" name="Untertitel 2"/>
          <p:cNvSpPr txBox="1">
            <a:spLocks/>
          </p:cNvSpPr>
          <p:nvPr/>
        </p:nvSpPr>
        <p:spPr>
          <a:xfrm>
            <a:off x="1214414" y="5072074"/>
            <a:ext cx="1214446" cy="642942"/>
          </a:xfrm>
          <a:prstGeom prst="rect">
            <a:avLst/>
          </a:prstGeom>
        </p:spPr>
        <p:txBody>
          <a:bodyPr vert="horz">
            <a:noAutofit/>
          </a:bodyPr>
          <a:lstStyle/>
          <a:p>
            <a:pPr marL="0" marR="0" lvl="0" indent="0"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de-DE" sz="2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a:t>
            </a:fld>
            <a:endParaRPr lang="de-DE" dirty="0"/>
          </a:p>
        </p:txBody>
      </p:sp>
      <p:sp>
        <p:nvSpPr>
          <p:cNvPr id="3" name="Titel 2"/>
          <p:cNvSpPr>
            <a:spLocks noGrp="1"/>
          </p:cNvSpPr>
          <p:nvPr>
            <p:ph type="title"/>
          </p:nvPr>
        </p:nvSpPr>
        <p:spPr>
          <a:xfrm>
            <a:off x="971600" y="2348880"/>
            <a:ext cx="7200800" cy="2376264"/>
          </a:xfrm>
        </p:spPr>
        <p:txBody>
          <a:bodyPr>
            <a:normAutofit/>
          </a:bodyPr>
          <a:lstStyle/>
          <a:p>
            <a:r>
              <a:rPr lang="de-DE" b="1" dirty="0">
                <a:solidFill>
                  <a:srgbClr val="FF0000"/>
                </a:solidFill>
              </a:rPr>
              <a:t>Netzwerkschicht</a:t>
            </a:r>
            <a:r>
              <a:rPr lang="de-DE" dirty="0"/>
              <a:t>: </a:t>
            </a:r>
            <a:br>
              <a:rPr lang="de-DE" dirty="0"/>
            </a:br>
            <a:r>
              <a:rPr lang="de-DE" dirty="0"/>
              <a:t>Das Internetprotokoll (IP) – Grundlagen</a:t>
            </a:r>
          </a:p>
        </p:txBody>
      </p:sp>
    </p:spTree>
    <p:extLst>
      <p:ext uri="{BB962C8B-B14F-4D97-AF65-F5344CB8AC3E}">
        <p14:creationId xmlns:p14="http://schemas.microsoft.com/office/powerpoint/2010/main" val="1283243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de-DE" dirty="0"/>
              <a:t>Internet-Protokollstapel: Netzwerkschicht</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3</a:t>
            </a:fld>
            <a:endParaRPr lang="en-US" noProof="0" dirty="0"/>
          </a:p>
        </p:txBody>
      </p:sp>
      <p:sp>
        <p:nvSpPr>
          <p:cNvPr id="6" name="Content Placeholder 5"/>
          <p:cNvSpPr>
            <a:spLocks noGrp="1"/>
          </p:cNvSpPr>
          <p:nvPr>
            <p:ph sz="quarter" idx="1"/>
          </p:nvPr>
        </p:nvSpPr>
        <p:spPr>
          <a:xfrm>
            <a:off x="457200" y="1219200"/>
            <a:ext cx="8229600" cy="1489720"/>
          </a:xfrm>
        </p:spPr>
        <p:txBody>
          <a:bodyPr/>
          <a:lstStyle/>
          <a:p>
            <a:endParaRPr lang="de-DE" sz="2800" dirty="0"/>
          </a:p>
        </p:txBody>
      </p:sp>
      <p:graphicFrame>
        <p:nvGraphicFramePr>
          <p:cNvPr id="7" name="Table 6"/>
          <p:cNvGraphicFramePr>
            <a:graphicFrameLocks noGrp="1"/>
          </p:cNvGraphicFramePr>
          <p:nvPr>
            <p:extLst>
              <p:ext uri="{D42A27DB-BD31-4B8C-83A1-F6EECF244321}">
                <p14:modId xmlns:p14="http://schemas.microsoft.com/office/powerpoint/2010/main" val="1730082303"/>
              </p:ext>
            </p:extLst>
          </p:nvPr>
        </p:nvGraphicFramePr>
        <p:xfrm>
          <a:off x="323528" y="4077072"/>
          <a:ext cx="8352928" cy="640080"/>
        </p:xfrm>
        <a:graphic>
          <a:graphicData uri="http://schemas.openxmlformats.org/drawingml/2006/table">
            <a:tbl>
              <a:tblPr firstRow="1" bandRow="1">
                <a:tableStyleId>{5C22544A-7EE6-4342-B048-85BDC9FD1C3A}</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r>
                        <a:rPr lang="de-DE" dirty="0"/>
                        <a:t>Transportschicht (transport layer)</a:t>
                      </a:r>
                    </a:p>
                  </a:txBody>
                  <a:tcPr>
                    <a:solidFill>
                      <a:srgbClr val="92D050"/>
                    </a:solidFill>
                  </a:tcPr>
                </a:tc>
                <a:tc>
                  <a:txBody>
                    <a:bodyPr/>
                    <a:lstStyle/>
                    <a:p>
                      <a:r>
                        <a:rPr lang="de-DE" dirty="0"/>
                        <a:t>Überträgt</a:t>
                      </a:r>
                      <a:r>
                        <a:rPr lang="de-DE" baseline="0" dirty="0"/>
                        <a:t> Nachrichten zwischen BS-Prozessen</a:t>
                      </a:r>
                      <a:endParaRPr lang="de-DE" dirty="0"/>
                    </a:p>
                  </a:txBody>
                  <a:tcPr>
                    <a:solidFill>
                      <a:srgbClr val="92D050"/>
                    </a:solidFill>
                  </a:tcPr>
                </a:tc>
                <a:tc>
                  <a:txBody>
                    <a:bodyPr/>
                    <a:lstStyle/>
                    <a:p>
                      <a:r>
                        <a:rPr lang="de-DE" dirty="0"/>
                        <a:t>TCP, UDP</a:t>
                      </a:r>
                    </a:p>
                  </a:txBody>
                  <a:tcPr>
                    <a:solidFill>
                      <a:srgbClr val="92D050"/>
                    </a:solidFill>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444709501"/>
              </p:ext>
            </p:extLst>
          </p:nvPr>
        </p:nvGraphicFramePr>
        <p:xfrm>
          <a:off x="323528" y="3356992"/>
          <a:ext cx="8352928" cy="712088"/>
        </p:xfrm>
        <a:graphic>
          <a:graphicData uri="http://schemas.openxmlformats.org/drawingml/2006/table">
            <a:tbl>
              <a:tblPr firstRow="1" bandRow="1">
                <a:tableStyleId>{00A15C55-8517-42AA-B614-E9B94910E393}</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712088">
                <a:tc>
                  <a:txBody>
                    <a:bodyPr/>
                    <a:lstStyle/>
                    <a:p>
                      <a:r>
                        <a:rPr lang="de-DE" dirty="0"/>
                        <a:t>Anwendungsschicht (application layer)</a:t>
                      </a:r>
                    </a:p>
                  </a:txBody>
                  <a:tcPr>
                    <a:solidFill>
                      <a:srgbClr val="92D050"/>
                    </a:solidFill>
                  </a:tcPr>
                </a:tc>
                <a:tc>
                  <a:txBody>
                    <a:bodyPr/>
                    <a:lstStyle/>
                    <a:p>
                      <a:r>
                        <a:rPr lang="de-DE" baseline="0" dirty="0"/>
                        <a:t>Netzwerkanwendungen</a:t>
                      </a:r>
                      <a:endParaRPr lang="de-DE" dirty="0"/>
                    </a:p>
                  </a:txBody>
                  <a:tcPr>
                    <a:solidFill>
                      <a:srgbClr val="92D050"/>
                    </a:solidFill>
                  </a:tcPr>
                </a:tc>
                <a:tc>
                  <a:txBody>
                    <a:bodyPr/>
                    <a:lstStyle/>
                    <a:p>
                      <a:r>
                        <a:rPr lang="de-DE" dirty="0"/>
                        <a:t>HTTP,</a:t>
                      </a:r>
                      <a:r>
                        <a:rPr lang="de-DE" baseline="0" dirty="0"/>
                        <a:t> FTP, SMTP</a:t>
                      </a:r>
                      <a:endParaRPr lang="de-DE" dirty="0"/>
                    </a:p>
                  </a:txBody>
                  <a:tcPr>
                    <a:solidFill>
                      <a:srgbClr val="92D050"/>
                    </a:solidFill>
                  </a:tcPr>
                </a:tc>
                <a:extLst>
                  <a:ext uri="{0D108BD9-81ED-4DB2-BD59-A6C34878D82A}">
                    <a16:rowId xmlns:a16="http://schemas.microsoft.com/office/drawing/2014/main" val="10000"/>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217072252"/>
              </p:ext>
            </p:extLst>
          </p:nvPr>
        </p:nvGraphicFramePr>
        <p:xfrm>
          <a:off x="323528" y="4725144"/>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800" u="none" strike="noStrike" kern="1200" baseline="0" dirty="0"/>
                        <a:t>Netzwerkschicht </a:t>
                      </a:r>
                      <a:r>
                        <a:rPr lang="de-DE" dirty="0"/>
                        <a:t>(network layer)</a:t>
                      </a:r>
                    </a:p>
                  </a:txBody>
                  <a:tcPr>
                    <a:solidFill>
                      <a:srgbClr val="0070C0"/>
                    </a:solidFill>
                  </a:tcPr>
                </a:tc>
                <a:tc>
                  <a:txBody>
                    <a:bodyPr/>
                    <a:lstStyle/>
                    <a:p>
                      <a:r>
                        <a:rPr lang="de-DE" dirty="0"/>
                        <a:t>Leitet die Pakete (Data-gramme)</a:t>
                      </a:r>
                      <a:r>
                        <a:rPr lang="de-DE" baseline="0" dirty="0"/>
                        <a:t> zwischen Hosts  </a:t>
                      </a:r>
                      <a:endParaRPr lang="de-DE" dirty="0"/>
                    </a:p>
                  </a:txBody>
                  <a:tcPr>
                    <a:solidFill>
                      <a:srgbClr val="0070C0"/>
                    </a:solidFill>
                  </a:tcPr>
                </a:tc>
                <a:tc>
                  <a:txBody>
                    <a:bodyPr/>
                    <a:lstStyle/>
                    <a:p>
                      <a:r>
                        <a:rPr lang="de-DE" dirty="0"/>
                        <a:t>IP, Routing-Protokolle</a:t>
                      </a:r>
                    </a:p>
                  </a:txBody>
                  <a:tcPr>
                    <a:solidFill>
                      <a:srgbClr val="0070C0"/>
                    </a:solidFill>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314562855"/>
              </p:ext>
            </p:extLst>
          </p:nvPr>
        </p:nvGraphicFramePr>
        <p:xfrm>
          <a:off x="323528" y="5373216"/>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40080">
                <a:tc>
                  <a:txBody>
                    <a:bodyPr/>
                    <a:lstStyle/>
                    <a:p>
                      <a:r>
                        <a:rPr lang="de-DE" sz="1800" u="none" strike="noStrike" kern="1200" baseline="0" dirty="0"/>
                        <a:t>Sicherungsschicht (data link layer)</a:t>
                      </a:r>
                      <a:endParaRPr lang="de-DE" dirty="0"/>
                    </a:p>
                  </a:txBody>
                  <a:tcPr>
                    <a:solidFill>
                      <a:srgbClr val="92D050"/>
                    </a:solidFill>
                  </a:tcPr>
                </a:tc>
                <a:tc>
                  <a:txBody>
                    <a:bodyPr/>
                    <a:lstStyle/>
                    <a:p>
                      <a:r>
                        <a:rPr lang="de-DE" dirty="0"/>
                        <a:t>Leitet die Pakete </a:t>
                      </a:r>
                      <a:r>
                        <a:rPr lang="de-DE" baseline="0" dirty="0"/>
                        <a:t>zwischen Netzwerkknoten (Routern)</a:t>
                      </a:r>
                      <a:endParaRPr lang="de-DE" dirty="0"/>
                    </a:p>
                  </a:txBody>
                  <a:tcPr>
                    <a:solidFill>
                      <a:srgbClr val="92D050"/>
                    </a:solidFill>
                  </a:tcPr>
                </a:tc>
                <a:tc>
                  <a:txBody>
                    <a:bodyPr/>
                    <a:lstStyle/>
                    <a:p>
                      <a:r>
                        <a:rPr lang="de-DE" dirty="0"/>
                        <a:t>PPP, Ethernet</a:t>
                      </a:r>
                    </a:p>
                  </a:txBody>
                  <a:tcPr>
                    <a:solidFill>
                      <a:srgbClr val="92D050"/>
                    </a:solid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4256559163"/>
              </p:ext>
            </p:extLst>
          </p:nvPr>
        </p:nvGraphicFramePr>
        <p:xfrm>
          <a:off x="323528" y="6021288"/>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r>
                        <a:rPr lang="de-DE" sz="1800" u="none" strike="noStrike" kern="1200" baseline="0" dirty="0"/>
                        <a:t>Bitübertragungss.</a:t>
                      </a:r>
                    </a:p>
                    <a:p>
                      <a:r>
                        <a:rPr lang="de-DE" sz="1800" u="none" strike="noStrike" kern="1200" baseline="0" dirty="0"/>
                        <a:t>(physical layer)  </a:t>
                      </a:r>
                      <a:endParaRPr lang="de-DE" dirty="0"/>
                    </a:p>
                  </a:txBody>
                  <a:tcPr>
                    <a:solidFill>
                      <a:srgbClr val="92D050"/>
                    </a:solidFill>
                  </a:tcPr>
                </a:tc>
                <a:tc>
                  <a:txBody>
                    <a:bodyPr/>
                    <a:lstStyle/>
                    <a:p>
                      <a:r>
                        <a:rPr lang="de-DE" dirty="0"/>
                        <a:t>Überträgt</a:t>
                      </a:r>
                      <a:r>
                        <a:rPr lang="de-DE" baseline="0" dirty="0"/>
                        <a:t> einzelne Bits zwischen Netzwerkknoten</a:t>
                      </a:r>
                      <a:endParaRPr lang="de-DE" dirty="0"/>
                    </a:p>
                  </a:txBody>
                  <a:tcPr>
                    <a:solidFill>
                      <a:srgbClr val="92D050"/>
                    </a:solidFill>
                  </a:tcPr>
                </a:tc>
                <a:tc>
                  <a:txBody>
                    <a:bodyPr/>
                    <a:lstStyle/>
                    <a:p>
                      <a:r>
                        <a:rPr lang="de-DE" dirty="0"/>
                        <a:t>Hängt vom Medium ab</a:t>
                      </a:r>
                    </a:p>
                  </a:txBody>
                  <a:tcPr>
                    <a:solidFill>
                      <a:srgbClr val="92D050"/>
                    </a:solidFill>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nvGraphicFramePr>
        <p:xfrm>
          <a:off x="323528" y="2708920"/>
          <a:ext cx="8352928" cy="545192"/>
        </p:xfrm>
        <a:graphic>
          <a:graphicData uri="http://schemas.openxmlformats.org/drawingml/2006/table">
            <a:tbl>
              <a:tblPr firstRow="1" bandRow="1">
                <a:tableStyleId>{93296810-A885-4BE3-A3E7-6D5BEEA58F35}</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545192">
                <a:tc>
                  <a:txBody>
                    <a:bodyPr/>
                    <a:lstStyle/>
                    <a:p>
                      <a:r>
                        <a:rPr lang="de-DE" sz="2400" dirty="0"/>
                        <a:t>Name</a:t>
                      </a:r>
                    </a:p>
                  </a:txBody>
                  <a:tcPr/>
                </a:tc>
                <a:tc>
                  <a:txBody>
                    <a:bodyPr/>
                    <a:lstStyle/>
                    <a:p>
                      <a:r>
                        <a:rPr lang="de-DE" sz="2400" dirty="0"/>
                        <a:t>Funktion</a:t>
                      </a:r>
                      <a:endParaRPr lang="de-DE" sz="2000" dirty="0"/>
                    </a:p>
                  </a:txBody>
                  <a:tcPr/>
                </a:tc>
                <a:tc>
                  <a:txBody>
                    <a:bodyPr/>
                    <a:lstStyle/>
                    <a:p>
                      <a:r>
                        <a:rPr lang="de-DE" sz="2400" dirty="0"/>
                        <a:t>Bsp-Protokolle</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920660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6" name="Rectangle 4"/>
          <p:cNvSpPr>
            <a:spLocks noGrp="1" noChangeArrowheads="1"/>
          </p:cNvSpPr>
          <p:nvPr>
            <p:ph type="title"/>
          </p:nvPr>
        </p:nvSpPr>
        <p:spPr/>
        <p:txBody>
          <a:bodyPr>
            <a:normAutofit/>
          </a:bodyPr>
          <a:lstStyle/>
          <a:p>
            <a:r>
              <a:rPr lang="de-DE" sz="3600" dirty="0"/>
              <a:t>Netzwerkschicht des Internet-Stacks</a:t>
            </a:r>
          </a:p>
        </p:txBody>
      </p:sp>
      <p:sp>
        <p:nvSpPr>
          <p:cNvPr id="40" name="Slide Number Placeholder 6"/>
          <p:cNvSpPr>
            <a:spLocks noGrp="1"/>
          </p:cNvSpPr>
          <p:nvPr>
            <p:ph type="sldNum" sz="quarter" idx="12"/>
          </p:nvPr>
        </p:nvSpPr>
        <p:spPr/>
        <p:txBody>
          <a:bodyPr/>
          <a:lstStyle/>
          <a:p>
            <a:fld id="{127D0800-C752-491C-ACF8-1E6A599EA719}" type="slidenum">
              <a:rPr lang="de-DE" smtClean="0"/>
              <a:pPr/>
              <a:t>4</a:t>
            </a:fld>
            <a:endParaRPr lang="de-DE"/>
          </a:p>
        </p:txBody>
      </p:sp>
      <p:sp>
        <p:nvSpPr>
          <p:cNvPr id="161794" name="Rectangle 2"/>
          <p:cNvSpPr>
            <a:spLocks noChangeArrowheads="1"/>
          </p:cNvSpPr>
          <p:nvPr/>
        </p:nvSpPr>
        <p:spPr bwMode="auto">
          <a:xfrm>
            <a:off x="1704975" y="1781175"/>
            <a:ext cx="6534150" cy="4076700"/>
          </a:xfrm>
          <a:prstGeom prst="rect">
            <a:avLst/>
          </a:prstGeom>
          <a:solidFill>
            <a:schemeClr val="bg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795" name="Rectangle 3"/>
          <p:cNvSpPr>
            <a:spLocks noChangeArrowheads="1"/>
          </p:cNvSpPr>
          <p:nvPr/>
        </p:nvSpPr>
        <p:spPr bwMode="auto">
          <a:xfrm>
            <a:off x="1638300" y="1847850"/>
            <a:ext cx="6534150" cy="4076700"/>
          </a:xfrm>
          <a:prstGeom prst="rect">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2" name="Group 6"/>
          <p:cNvGrpSpPr>
            <a:grpSpLocks/>
          </p:cNvGrpSpPr>
          <p:nvPr/>
        </p:nvGrpSpPr>
        <p:grpSpPr bwMode="auto">
          <a:xfrm>
            <a:off x="3563888" y="3479800"/>
            <a:ext cx="1513669" cy="1214438"/>
            <a:chOff x="3962" y="2883"/>
            <a:chExt cx="670" cy="765"/>
          </a:xfrm>
        </p:grpSpPr>
        <p:sp>
          <p:nvSpPr>
            <p:cNvPr id="161799" name="Rectangle 7"/>
            <p:cNvSpPr>
              <a:spLocks noChangeArrowheads="1"/>
            </p:cNvSpPr>
            <p:nvPr/>
          </p:nvSpPr>
          <p:spPr bwMode="auto">
            <a:xfrm>
              <a:off x="4023" y="2883"/>
              <a:ext cx="582" cy="738"/>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00" name="Rectangle 8"/>
            <p:cNvSpPr>
              <a:spLocks noChangeArrowheads="1"/>
            </p:cNvSpPr>
            <p:nvPr/>
          </p:nvSpPr>
          <p:spPr bwMode="auto">
            <a:xfrm>
              <a:off x="3996" y="2910"/>
              <a:ext cx="582" cy="738"/>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01" name="Text Box 9"/>
            <p:cNvSpPr txBox="1">
              <a:spLocks noChangeArrowheads="1"/>
            </p:cNvSpPr>
            <p:nvPr/>
          </p:nvSpPr>
          <p:spPr bwMode="auto">
            <a:xfrm>
              <a:off x="3962" y="3143"/>
              <a:ext cx="67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1400" dirty="0"/>
                <a:t>Weiterleitungs-</a:t>
              </a:r>
              <a:br>
                <a:rPr lang="de-DE" sz="1400" dirty="0"/>
              </a:br>
              <a:r>
                <a:rPr lang="de-DE" sz="1400" dirty="0"/>
                <a:t>tabelle</a:t>
              </a:r>
            </a:p>
          </p:txBody>
        </p:sp>
        <p:sp>
          <p:nvSpPr>
            <p:cNvPr id="161802" name="Line 10"/>
            <p:cNvSpPr>
              <a:spLocks noChangeShapeType="1"/>
            </p:cNvSpPr>
            <p:nvPr/>
          </p:nvSpPr>
          <p:spPr bwMode="auto">
            <a:xfrm>
              <a:off x="4074" y="2994"/>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03" name="Line 11"/>
            <p:cNvSpPr>
              <a:spLocks noChangeShapeType="1"/>
            </p:cNvSpPr>
            <p:nvPr/>
          </p:nvSpPr>
          <p:spPr bwMode="auto">
            <a:xfrm>
              <a:off x="4071" y="3048"/>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04" name="Line 12"/>
            <p:cNvSpPr>
              <a:spLocks noChangeShapeType="1"/>
            </p:cNvSpPr>
            <p:nvPr/>
          </p:nvSpPr>
          <p:spPr bwMode="auto">
            <a:xfrm>
              <a:off x="4074" y="3102"/>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05" name="Line 13"/>
            <p:cNvSpPr>
              <a:spLocks noChangeShapeType="1"/>
            </p:cNvSpPr>
            <p:nvPr/>
          </p:nvSpPr>
          <p:spPr bwMode="auto">
            <a:xfrm>
              <a:off x="4065" y="3477"/>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06" name="Line 14"/>
            <p:cNvSpPr>
              <a:spLocks noChangeShapeType="1"/>
            </p:cNvSpPr>
            <p:nvPr/>
          </p:nvSpPr>
          <p:spPr bwMode="auto">
            <a:xfrm>
              <a:off x="4068" y="3528"/>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07" name="Line 15"/>
            <p:cNvSpPr>
              <a:spLocks noChangeShapeType="1"/>
            </p:cNvSpPr>
            <p:nvPr/>
          </p:nvSpPr>
          <p:spPr bwMode="auto">
            <a:xfrm>
              <a:off x="4071" y="3579"/>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sp>
        <p:nvSpPr>
          <p:cNvPr id="161809" name="Line 17"/>
          <p:cNvSpPr>
            <a:spLocks noChangeShapeType="1"/>
          </p:cNvSpPr>
          <p:nvPr/>
        </p:nvSpPr>
        <p:spPr bwMode="auto">
          <a:xfrm flipV="1">
            <a:off x="1628775" y="5410200"/>
            <a:ext cx="650557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10" name="Line 18"/>
          <p:cNvSpPr>
            <a:spLocks noChangeShapeType="1"/>
          </p:cNvSpPr>
          <p:nvPr/>
        </p:nvSpPr>
        <p:spPr bwMode="auto">
          <a:xfrm flipV="1">
            <a:off x="1657350" y="4886325"/>
            <a:ext cx="652462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 name="Group 19"/>
          <p:cNvGrpSpPr>
            <a:grpSpLocks/>
          </p:cNvGrpSpPr>
          <p:nvPr/>
        </p:nvGrpSpPr>
        <p:grpSpPr bwMode="auto">
          <a:xfrm>
            <a:off x="1836738" y="2667002"/>
            <a:ext cx="1887537" cy="885826"/>
            <a:chOff x="1175" y="1848"/>
            <a:chExt cx="1189" cy="558"/>
          </a:xfrm>
        </p:grpSpPr>
        <p:sp>
          <p:nvSpPr>
            <p:cNvPr id="161812" name="Rectangle 20"/>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13" name="Rectangle 21"/>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14" name="Text Box 22"/>
            <p:cNvSpPr txBox="1">
              <a:spLocks noChangeArrowheads="1"/>
            </p:cNvSpPr>
            <p:nvPr/>
          </p:nvSpPr>
          <p:spPr bwMode="auto">
            <a:xfrm>
              <a:off x="1175" y="1895"/>
              <a:ext cx="1178" cy="4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dirty="0">
                  <a:solidFill>
                    <a:srgbClr val="FF0000"/>
                  </a:solidFill>
                </a:rPr>
                <a:t>Routing-Protokolle</a:t>
              </a:r>
            </a:p>
            <a:p>
              <a:pPr>
                <a:buFontTx/>
                <a:buChar char="•"/>
              </a:pPr>
              <a:r>
                <a:rPr lang="de-DE" sz="1400" dirty="0"/>
                <a:t> Pfadauswahl</a:t>
              </a:r>
            </a:p>
            <a:p>
              <a:pPr>
                <a:buFontTx/>
                <a:buChar char="•"/>
              </a:pPr>
              <a:r>
                <a:rPr lang="de-DE" sz="1400" dirty="0"/>
                <a:t> RIP, OSPF, BGP</a:t>
              </a:r>
              <a:endParaRPr lang="de-DE" sz="1600" dirty="0"/>
            </a:p>
          </p:txBody>
        </p:sp>
      </p:grpSp>
      <p:sp>
        <p:nvSpPr>
          <p:cNvPr id="161815" name="Freeform 23"/>
          <p:cNvSpPr>
            <a:spLocks/>
          </p:cNvSpPr>
          <p:nvPr/>
        </p:nvSpPr>
        <p:spPr bwMode="auto">
          <a:xfrm>
            <a:off x="3143250" y="3657600"/>
            <a:ext cx="514350" cy="390525"/>
          </a:xfrm>
          <a:custGeom>
            <a:avLst/>
            <a:gdLst>
              <a:gd name="T0" fmla="*/ 0 w 396"/>
              <a:gd name="T1" fmla="*/ 0 h 246"/>
              <a:gd name="T2" fmla="*/ 150 w 396"/>
              <a:gd name="T3" fmla="*/ 186 h 246"/>
              <a:gd name="T4" fmla="*/ 396 w 396"/>
              <a:gd name="T5" fmla="*/ 210 h 246"/>
            </a:gdLst>
            <a:ahLst/>
            <a:cxnLst>
              <a:cxn ang="0">
                <a:pos x="T0" y="T1"/>
              </a:cxn>
              <a:cxn ang="0">
                <a:pos x="T2" y="T3"/>
              </a:cxn>
              <a:cxn ang="0">
                <a:pos x="T4" y="T5"/>
              </a:cxn>
            </a:cxnLst>
            <a:rect l="0" t="0" r="r" b="b"/>
            <a:pathLst>
              <a:path w="396" h="246">
                <a:moveTo>
                  <a:pt x="0" y="0"/>
                </a:moveTo>
                <a:cubicBezTo>
                  <a:pt x="30" y="16"/>
                  <a:pt x="42" y="126"/>
                  <a:pt x="150" y="186"/>
                </a:cubicBezTo>
                <a:cubicBezTo>
                  <a:pt x="258" y="246"/>
                  <a:pt x="345" y="205"/>
                  <a:pt x="396" y="210"/>
                </a:cubicBezTo>
              </a:path>
            </a:pathLst>
          </a:custGeom>
          <a:noFill/>
          <a:ln w="38100" cap="flat" cmpd="sng">
            <a:solidFill>
              <a:schemeClr val="accent2"/>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5" name="Group 24"/>
          <p:cNvGrpSpPr>
            <a:grpSpLocks/>
          </p:cNvGrpSpPr>
          <p:nvPr/>
        </p:nvGrpSpPr>
        <p:grpSpPr bwMode="auto">
          <a:xfrm>
            <a:off x="5092700" y="2576513"/>
            <a:ext cx="3000375" cy="1181100"/>
            <a:chOff x="102" y="1272"/>
            <a:chExt cx="1890" cy="744"/>
          </a:xfrm>
        </p:grpSpPr>
        <p:sp>
          <p:nvSpPr>
            <p:cNvPr id="161817" name="Rectangle 25"/>
            <p:cNvSpPr>
              <a:spLocks noChangeArrowheads="1"/>
            </p:cNvSpPr>
            <p:nvPr/>
          </p:nvSpPr>
          <p:spPr bwMode="auto">
            <a:xfrm>
              <a:off x="144" y="1272"/>
              <a:ext cx="1848" cy="690"/>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18" name="Rectangle 26"/>
            <p:cNvSpPr>
              <a:spLocks noChangeArrowheads="1"/>
            </p:cNvSpPr>
            <p:nvPr/>
          </p:nvSpPr>
          <p:spPr bwMode="auto">
            <a:xfrm>
              <a:off x="102" y="1314"/>
              <a:ext cx="1848" cy="70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19" name="Text Box 27"/>
            <p:cNvSpPr txBox="1">
              <a:spLocks noChangeArrowheads="1"/>
            </p:cNvSpPr>
            <p:nvPr/>
          </p:nvSpPr>
          <p:spPr bwMode="auto">
            <a:xfrm>
              <a:off x="116" y="1319"/>
              <a:ext cx="1792" cy="6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b="1" dirty="0">
                  <a:solidFill>
                    <a:srgbClr val="FF0000"/>
                  </a:solidFill>
                </a:rPr>
                <a:t>IP-Protokoll</a:t>
              </a:r>
            </a:p>
            <a:p>
              <a:pPr>
                <a:buFontTx/>
                <a:buChar char="•"/>
              </a:pPr>
              <a:r>
                <a:rPr lang="de-DE" sz="1600" dirty="0"/>
                <a:t> </a:t>
              </a:r>
              <a:r>
                <a:rPr lang="de-DE" sz="1400" dirty="0"/>
                <a:t>Addressierung</a:t>
              </a:r>
            </a:p>
            <a:p>
              <a:pPr>
                <a:buFontTx/>
                <a:buChar char="•"/>
              </a:pPr>
              <a:r>
                <a:rPr lang="de-DE" sz="1400" dirty="0"/>
                <a:t> Datagramm-Format</a:t>
              </a:r>
            </a:p>
            <a:p>
              <a:pPr>
                <a:buFontTx/>
                <a:buChar char="•"/>
              </a:pPr>
              <a:r>
                <a:rPr lang="de-DE" sz="1400" dirty="0"/>
                <a:t> Paketbehandlung-Konventionen</a:t>
              </a:r>
              <a:endParaRPr lang="de-DE" sz="1600" dirty="0"/>
            </a:p>
          </p:txBody>
        </p:sp>
      </p:grpSp>
      <p:grpSp>
        <p:nvGrpSpPr>
          <p:cNvPr id="6" name="Group 28"/>
          <p:cNvGrpSpPr>
            <a:grpSpLocks/>
          </p:cNvGrpSpPr>
          <p:nvPr/>
        </p:nvGrpSpPr>
        <p:grpSpPr bwMode="auto">
          <a:xfrm>
            <a:off x="5149850" y="3889374"/>
            <a:ext cx="2158454" cy="885825"/>
            <a:chOff x="72" y="1146"/>
            <a:chExt cx="1260" cy="558"/>
          </a:xfrm>
        </p:grpSpPr>
        <p:sp>
          <p:nvSpPr>
            <p:cNvPr id="161821" name="Rectangle 29"/>
            <p:cNvSpPr>
              <a:spLocks noChangeArrowheads="1"/>
            </p:cNvSpPr>
            <p:nvPr/>
          </p:nvSpPr>
          <p:spPr bwMode="auto">
            <a:xfrm>
              <a:off x="114" y="1146"/>
              <a:ext cx="1218"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22" name="Rectangle 30"/>
            <p:cNvSpPr>
              <a:spLocks noChangeArrowheads="1"/>
            </p:cNvSpPr>
            <p:nvPr/>
          </p:nvSpPr>
          <p:spPr bwMode="auto">
            <a:xfrm>
              <a:off x="72" y="1188"/>
              <a:ext cx="1218"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23" name="Text Box 31"/>
            <p:cNvSpPr txBox="1">
              <a:spLocks noChangeArrowheads="1"/>
            </p:cNvSpPr>
            <p:nvPr/>
          </p:nvSpPr>
          <p:spPr bwMode="auto">
            <a:xfrm>
              <a:off x="80" y="1187"/>
              <a:ext cx="1252" cy="4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de-DE" sz="1600" dirty="0">
                  <a:solidFill>
                    <a:srgbClr val="FF0000"/>
                  </a:solidFill>
                </a:rPr>
                <a:t>ICMP-Protokoll</a:t>
              </a:r>
            </a:p>
            <a:p>
              <a:pPr>
                <a:buFontTx/>
                <a:buChar char="•"/>
              </a:pPr>
              <a:r>
                <a:rPr lang="de-DE" sz="1600" dirty="0"/>
                <a:t> </a:t>
              </a:r>
              <a:r>
                <a:rPr lang="de-DE" sz="1200" dirty="0"/>
                <a:t>Fehlerberichte</a:t>
              </a:r>
            </a:p>
            <a:p>
              <a:pPr>
                <a:buFontTx/>
                <a:buChar char="•"/>
              </a:pPr>
              <a:r>
                <a:rPr lang="de-DE" sz="1200" dirty="0"/>
                <a:t> Router-Datenaustausch</a:t>
              </a:r>
              <a:endParaRPr lang="de-DE" sz="1400" dirty="0"/>
            </a:p>
          </p:txBody>
        </p:sp>
      </p:grpSp>
      <p:sp>
        <p:nvSpPr>
          <p:cNvPr id="161824" name="Line 32"/>
          <p:cNvSpPr>
            <a:spLocks noChangeShapeType="1"/>
          </p:cNvSpPr>
          <p:nvPr/>
        </p:nvSpPr>
        <p:spPr bwMode="auto">
          <a:xfrm flipV="1">
            <a:off x="1657350" y="2466975"/>
            <a:ext cx="652462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25" name="Text Box 33"/>
          <p:cNvSpPr txBox="1">
            <a:spLocks noChangeArrowheads="1"/>
          </p:cNvSpPr>
          <p:nvPr/>
        </p:nvSpPr>
        <p:spPr bwMode="auto">
          <a:xfrm>
            <a:off x="3098800" y="1993900"/>
            <a:ext cx="3053208"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dirty="0">
                <a:solidFill>
                  <a:schemeClr val="bg1">
                    <a:lumMod val="50000"/>
                  </a:schemeClr>
                </a:solidFill>
              </a:rPr>
              <a:t>Transportschicht: TCP, UDP</a:t>
            </a:r>
          </a:p>
        </p:txBody>
      </p:sp>
      <p:sp>
        <p:nvSpPr>
          <p:cNvPr id="161826" name="Text Box 34"/>
          <p:cNvSpPr txBox="1">
            <a:spLocks noChangeArrowheads="1"/>
          </p:cNvSpPr>
          <p:nvPr/>
        </p:nvSpPr>
        <p:spPr bwMode="auto">
          <a:xfrm>
            <a:off x="3847519" y="4971942"/>
            <a:ext cx="205697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dirty="0">
                <a:solidFill>
                  <a:schemeClr val="bg1">
                    <a:lumMod val="50000"/>
                  </a:schemeClr>
                </a:solidFill>
              </a:rPr>
              <a:t>Sicherungsschicht</a:t>
            </a:r>
          </a:p>
        </p:txBody>
      </p:sp>
      <p:sp>
        <p:nvSpPr>
          <p:cNvPr id="161827" name="Text Box 35"/>
          <p:cNvSpPr txBox="1">
            <a:spLocks noChangeArrowheads="1"/>
          </p:cNvSpPr>
          <p:nvPr/>
        </p:nvSpPr>
        <p:spPr bwMode="auto">
          <a:xfrm>
            <a:off x="3661641" y="5488543"/>
            <a:ext cx="253146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dirty="0">
                <a:solidFill>
                  <a:schemeClr val="bg1">
                    <a:lumMod val="50000"/>
                  </a:schemeClr>
                </a:solidFill>
              </a:rPr>
              <a:t>Bitübertragungsschicht</a:t>
            </a:r>
          </a:p>
        </p:txBody>
      </p:sp>
      <p:sp>
        <p:nvSpPr>
          <p:cNvPr id="161828" name="Text Box 36"/>
          <p:cNvSpPr txBox="1">
            <a:spLocks noChangeArrowheads="1"/>
          </p:cNvSpPr>
          <p:nvPr/>
        </p:nvSpPr>
        <p:spPr bwMode="auto">
          <a:xfrm>
            <a:off x="57512" y="3256389"/>
            <a:ext cx="1571263"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de-DE" sz="2400" dirty="0">
                <a:solidFill>
                  <a:srgbClr val="FF0000"/>
                </a:solidFill>
              </a:rPr>
              <a:t>Netzwerk-</a:t>
            </a:r>
          </a:p>
          <a:p>
            <a:pPr algn="r"/>
            <a:r>
              <a:rPr lang="de-DE" sz="2400" dirty="0">
                <a:solidFill>
                  <a:srgbClr val="FF0000"/>
                </a:solidFill>
              </a:rPr>
              <a:t>schicht</a:t>
            </a:r>
            <a:endParaRPr lang="de-DE" dirty="0"/>
          </a:p>
        </p:txBody>
      </p:sp>
      <p:sp>
        <p:nvSpPr>
          <p:cNvPr id="161829" name="Line 37"/>
          <p:cNvSpPr>
            <a:spLocks noChangeShapeType="1"/>
          </p:cNvSpPr>
          <p:nvPr/>
        </p:nvSpPr>
        <p:spPr bwMode="auto">
          <a:xfrm flipV="1">
            <a:off x="1381125" y="2486025"/>
            <a:ext cx="0" cy="7429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1830" name="Line 38"/>
          <p:cNvSpPr>
            <a:spLocks noChangeShapeType="1"/>
          </p:cNvSpPr>
          <p:nvPr/>
        </p:nvSpPr>
        <p:spPr bwMode="auto">
          <a:xfrm>
            <a:off x="1381125" y="4152900"/>
            <a:ext cx="0" cy="7429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3" name="TextBox 2"/>
          <p:cNvSpPr txBox="1"/>
          <p:nvPr/>
        </p:nvSpPr>
        <p:spPr>
          <a:xfrm>
            <a:off x="583038" y="1300118"/>
            <a:ext cx="5171609" cy="400110"/>
          </a:xfrm>
          <a:prstGeom prst="rect">
            <a:avLst/>
          </a:prstGeom>
          <a:noFill/>
        </p:spPr>
        <p:txBody>
          <a:bodyPr wrap="none" rtlCol="0">
            <a:spAutoFit/>
          </a:bodyPr>
          <a:lstStyle/>
          <a:p>
            <a:r>
              <a:rPr lang="de-DE" sz="2000" dirty="0"/>
              <a:t>Drei zentrale Elemente der Netzwerkschicht</a:t>
            </a:r>
          </a:p>
        </p:txBody>
      </p:sp>
    </p:spTree>
    <p:extLst>
      <p:ext uri="{BB962C8B-B14F-4D97-AF65-F5344CB8AC3E}">
        <p14:creationId xmlns:p14="http://schemas.microsoft.com/office/powerpoint/2010/main" val="348838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p:txBody>
          <a:bodyPr/>
          <a:lstStyle/>
          <a:p>
            <a:r>
              <a:rPr lang="de-DE" sz="3600" dirty="0"/>
              <a:t>Format des IP-Datagramms</a:t>
            </a:r>
            <a:endParaRPr lang="de-DE" dirty="0"/>
          </a:p>
        </p:txBody>
      </p:sp>
      <p:sp>
        <p:nvSpPr>
          <p:cNvPr id="56" name="Slide Number Placeholder 4"/>
          <p:cNvSpPr>
            <a:spLocks noGrp="1"/>
          </p:cNvSpPr>
          <p:nvPr>
            <p:ph type="sldNum" sz="quarter" idx="12"/>
          </p:nvPr>
        </p:nvSpPr>
        <p:spPr>
          <a:xfrm>
            <a:off x="8542235" y="6495293"/>
            <a:ext cx="601766" cy="365760"/>
          </a:xfrm>
        </p:spPr>
        <p:txBody>
          <a:bodyPr/>
          <a:lstStyle/>
          <a:p>
            <a:fld id="{EEE8C5B5-0704-4AD6-9532-8784B3D28D95}" type="slidenum">
              <a:rPr lang="de-DE" smtClean="0"/>
              <a:pPr/>
              <a:t>5</a:t>
            </a:fld>
            <a:endParaRPr lang="de-DE"/>
          </a:p>
        </p:txBody>
      </p:sp>
      <p:grpSp>
        <p:nvGrpSpPr>
          <p:cNvPr id="2" name="Group 3"/>
          <p:cNvGrpSpPr>
            <a:grpSpLocks/>
          </p:cNvGrpSpPr>
          <p:nvPr/>
        </p:nvGrpSpPr>
        <p:grpSpPr bwMode="auto">
          <a:xfrm>
            <a:off x="383435" y="1153222"/>
            <a:ext cx="8788405" cy="5400675"/>
            <a:chOff x="139" y="645"/>
            <a:chExt cx="5536" cy="3402"/>
          </a:xfrm>
        </p:grpSpPr>
        <p:sp>
          <p:nvSpPr>
            <p:cNvPr id="575492" name="Rectangle 4"/>
            <p:cNvSpPr>
              <a:spLocks noChangeArrowheads="1"/>
            </p:cNvSpPr>
            <p:nvPr/>
          </p:nvSpPr>
          <p:spPr bwMode="auto">
            <a:xfrm>
              <a:off x="1825" y="953"/>
              <a:ext cx="2489" cy="3039"/>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493" name="Rectangle 5"/>
            <p:cNvSpPr>
              <a:spLocks noChangeArrowheads="1"/>
            </p:cNvSpPr>
            <p:nvPr/>
          </p:nvSpPr>
          <p:spPr bwMode="auto">
            <a:xfrm>
              <a:off x="1765" y="1020"/>
              <a:ext cx="2489" cy="302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575494" name="Text Box 6"/>
            <p:cNvSpPr txBox="1">
              <a:spLocks noChangeArrowheads="1"/>
            </p:cNvSpPr>
            <p:nvPr/>
          </p:nvSpPr>
          <p:spPr bwMode="auto">
            <a:xfrm>
              <a:off x="1749" y="1029"/>
              <a:ext cx="296"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1600"/>
                <a:t>ver</a:t>
              </a:r>
              <a:endParaRPr lang="de-DE" sz="2000">
                <a:latin typeface="Times New Roman" pitchFamily="18" charset="0"/>
              </a:endParaRPr>
            </a:p>
          </p:txBody>
        </p:sp>
        <p:sp>
          <p:nvSpPr>
            <p:cNvPr id="575495" name="Text Box 7"/>
            <p:cNvSpPr txBox="1">
              <a:spLocks noChangeArrowheads="1"/>
            </p:cNvSpPr>
            <p:nvPr/>
          </p:nvSpPr>
          <p:spPr bwMode="auto">
            <a:xfrm>
              <a:off x="3218" y="1069"/>
              <a:ext cx="777"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1600" dirty="0" err="1"/>
                <a:t>Totel</a:t>
              </a:r>
              <a:r>
                <a:rPr lang="de-DE" sz="1600" dirty="0"/>
                <a:t> </a:t>
              </a:r>
              <a:r>
                <a:rPr lang="de-DE" sz="1600" dirty="0" err="1"/>
                <a:t>length</a:t>
              </a:r>
              <a:endParaRPr lang="de-DE" sz="1600" dirty="0">
                <a:latin typeface="Times New Roman" pitchFamily="18" charset="0"/>
              </a:endParaRPr>
            </a:p>
          </p:txBody>
        </p:sp>
        <p:sp>
          <p:nvSpPr>
            <p:cNvPr id="575496" name="Line 8"/>
            <p:cNvSpPr>
              <a:spLocks noChangeShapeType="1"/>
            </p:cNvSpPr>
            <p:nvPr/>
          </p:nvSpPr>
          <p:spPr bwMode="auto">
            <a:xfrm>
              <a:off x="1773" y="1346"/>
              <a:ext cx="2486" cy="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497" name="Line 9"/>
            <p:cNvSpPr>
              <a:spLocks noChangeShapeType="1"/>
            </p:cNvSpPr>
            <p:nvPr/>
          </p:nvSpPr>
          <p:spPr bwMode="auto">
            <a:xfrm flipH="1" flipV="1">
              <a:off x="2995" y="1026"/>
              <a:ext cx="0" cy="3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498" name="Text Box 10"/>
            <p:cNvSpPr txBox="1">
              <a:spLocks noChangeArrowheads="1"/>
            </p:cNvSpPr>
            <p:nvPr/>
          </p:nvSpPr>
          <p:spPr bwMode="auto">
            <a:xfrm>
              <a:off x="2697" y="695"/>
              <a:ext cx="561"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32 Bits</a:t>
              </a:r>
              <a:endParaRPr lang="de-DE" sz="2400">
                <a:latin typeface="Times New Roman" pitchFamily="18" charset="0"/>
              </a:endParaRPr>
            </a:p>
          </p:txBody>
        </p:sp>
        <p:sp>
          <p:nvSpPr>
            <p:cNvPr id="575499" name="Line 11"/>
            <p:cNvSpPr>
              <a:spLocks noChangeShapeType="1"/>
            </p:cNvSpPr>
            <p:nvPr/>
          </p:nvSpPr>
          <p:spPr bwMode="auto">
            <a:xfrm>
              <a:off x="3337" y="847"/>
              <a:ext cx="899" cy="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00" name="Line 12"/>
            <p:cNvSpPr>
              <a:spLocks noChangeShapeType="1"/>
            </p:cNvSpPr>
            <p:nvPr/>
          </p:nvSpPr>
          <p:spPr bwMode="auto">
            <a:xfrm rot="10800000">
              <a:off x="1757" y="854"/>
              <a:ext cx="845"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01" name="Text Box 13"/>
            <p:cNvSpPr txBox="1">
              <a:spLocks noChangeArrowheads="1"/>
            </p:cNvSpPr>
            <p:nvPr/>
          </p:nvSpPr>
          <p:spPr bwMode="auto">
            <a:xfrm>
              <a:off x="2144" y="2986"/>
              <a:ext cx="1844" cy="8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2000"/>
                <a:t>Daten  </a:t>
              </a:r>
            </a:p>
            <a:p>
              <a:pPr algn="ctr"/>
              <a:r>
                <a:rPr lang="de-DE" sz="2000"/>
                <a:t>(variable Länge,</a:t>
              </a:r>
            </a:p>
            <a:p>
              <a:pPr algn="ctr"/>
              <a:r>
                <a:rPr lang="de-DE" sz="2000"/>
                <a:t>typischerweise ein TCP </a:t>
              </a:r>
            </a:p>
            <a:p>
              <a:pPr algn="ctr"/>
              <a:r>
                <a:rPr lang="de-DE" sz="2000"/>
                <a:t>oder UDP-Segment)</a:t>
              </a:r>
              <a:endParaRPr lang="de-DE" sz="2400">
                <a:latin typeface="Times New Roman" pitchFamily="18" charset="0"/>
              </a:endParaRPr>
            </a:p>
          </p:txBody>
        </p:sp>
        <p:sp>
          <p:nvSpPr>
            <p:cNvPr id="575502" name="Text Box 14"/>
            <p:cNvSpPr txBox="1">
              <a:spLocks noChangeArrowheads="1"/>
            </p:cNvSpPr>
            <p:nvPr/>
          </p:nvSpPr>
          <p:spPr bwMode="auto">
            <a:xfrm>
              <a:off x="1714" y="1405"/>
              <a:ext cx="1356"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de-DE" sz="1600" dirty="0"/>
                <a:t>16-Bit ID</a:t>
              </a:r>
              <a:endParaRPr lang="de-DE" dirty="0">
                <a:latin typeface="Times New Roman" pitchFamily="18" charset="0"/>
              </a:endParaRPr>
            </a:p>
          </p:txBody>
        </p:sp>
        <p:sp>
          <p:nvSpPr>
            <p:cNvPr id="575503" name="Line 15"/>
            <p:cNvSpPr>
              <a:spLocks noChangeShapeType="1"/>
            </p:cNvSpPr>
            <p:nvPr/>
          </p:nvSpPr>
          <p:spPr bwMode="auto">
            <a:xfrm flipV="1">
              <a:off x="1769" y="2290"/>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04" name="Line 16"/>
            <p:cNvSpPr>
              <a:spLocks noChangeShapeType="1"/>
            </p:cNvSpPr>
            <p:nvPr/>
          </p:nvSpPr>
          <p:spPr bwMode="auto">
            <a:xfrm flipV="1">
              <a:off x="1769" y="2590"/>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05" name="Text Box 17"/>
            <p:cNvSpPr txBox="1">
              <a:spLocks noChangeArrowheads="1"/>
            </p:cNvSpPr>
            <p:nvPr/>
          </p:nvSpPr>
          <p:spPr bwMode="auto">
            <a:xfrm>
              <a:off x="3253" y="1637"/>
              <a:ext cx="800"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1600" dirty="0"/>
                <a:t>Header-</a:t>
              </a:r>
            </a:p>
            <a:p>
              <a:pPr algn="ctr"/>
              <a:r>
                <a:rPr lang="de-DE" sz="1600" dirty="0"/>
                <a:t> prüfsumme</a:t>
              </a:r>
              <a:endParaRPr lang="de-DE" sz="1600" dirty="0">
                <a:latin typeface="Times New Roman" pitchFamily="18" charset="0"/>
              </a:endParaRPr>
            </a:p>
          </p:txBody>
        </p:sp>
        <p:sp>
          <p:nvSpPr>
            <p:cNvPr id="575506" name="Text Box 18"/>
            <p:cNvSpPr txBox="1">
              <a:spLocks noChangeArrowheads="1"/>
            </p:cNvSpPr>
            <p:nvPr/>
          </p:nvSpPr>
          <p:spPr bwMode="auto">
            <a:xfrm>
              <a:off x="1745" y="1637"/>
              <a:ext cx="662"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1600" dirty="0"/>
                <a:t>time to</a:t>
              </a:r>
            </a:p>
            <a:p>
              <a:pPr algn="ctr"/>
              <a:r>
                <a:rPr lang="de-DE" sz="1600" dirty="0"/>
                <a:t>live (TTL)</a:t>
              </a:r>
              <a:endParaRPr lang="de-DE" sz="1600" dirty="0">
                <a:latin typeface="Times New Roman" pitchFamily="18" charset="0"/>
              </a:endParaRPr>
            </a:p>
          </p:txBody>
        </p:sp>
        <p:sp>
          <p:nvSpPr>
            <p:cNvPr id="575507" name="Text Box 19"/>
            <p:cNvSpPr txBox="1">
              <a:spLocks noChangeArrowheads="1"/>
            </p:cNvSpPr>
            <p:nvPr/>
          </p:nvSpPr>
          <p:spPr bwMode="auto">
            <a:xfrm>
              <a:off x="2121" y="2047"/>
              <a:ext cx="1732"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32-Bit-Quell-IP-Addresse</a:t>
              </a:r>
              <a:endParaRPr lang="de-DE" sz="2400">
                <a:latin typeface="Times New Roman" pitchFamily="18" charset="0"/>
              </a:endParaRPr>
            </a:p>
          </p:txBody>
        </p:sp>
        <p:sp>
          <p:nvSpPr>
            <p:cNvPr id="575508" name="Text Box 20"/>
            <p:cNvSpPr txBox="1">
              <a:spLocks noChangeArrowheads="1"/>
            </p:cNvSpPr>
            <p:nvPr/>
          </p:nvSpPr>
          <p:spPr bwMode="auto">
            <a:xfrm>
              <a:off x="426" y="645"/>
              <a:ext cx="1086"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de-DE" sz="1600"/>
                <a:t>IP-Protokoll</a:t>
              </a:r>
              <a:br>
                <a:rPr lang="de-DE" sz="1600"/>
              </a:br>
              <a:r>
                <a:rPr lang="de-DE" sz="1600"/>
                <a:t>Versionsnummer</a:t>
              </a:r>
              <a:endParaRPr lang="de-DE" sz="900">
                <a:latin typeface="Times New Roman" pitchFamily="18" charset="0"/>
              </a:endParaRPr>
            </a:p>
          </p:txBody>
        </p:sp>
        <p:sp>
          <p:nvSpPr>
            <p:cNvPr id="575509" name="Text Box 21"/>
            <p:cNvSpPr txBox="1">
              <a:spLocks noChangeArrowheads="1"/>
            </p:cNvSpPr>
            <p:nvPr/>
          </p:nvSpPr>
          <p:spPr bwMode="auto">
            <a:xfrm>
              <a:off x="139" y="1102"/>
              <a:ext cx="144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de-DE"/>
                <a:t>Headerlänge (Bytes)</a:t>
              </a:r>
              <a:endParaRPr lang="de-DE" sz="1000">
                <a:latin typeface="Times New Roman" pitchFamily="18" charset="0"/>
              </a:endParaRPr>
            </a:p>
          </p:txBody>
        </p:sp>
        <p:sp>
          <p:nvSpPr>
            <p:cNvPr id="575510" name="Text Box 22"/>
            <p:cNvSpPr txBox="1">
              <a:spLocks noChangeArrowheads="1"/>
            </p:cNvSpPr>
            <p:nvPr/>
          </p:nvSpPr>
          <p:spPr bwMode="auto">
            <a:xfrm>
              <a:off x="166" y="1604"/>
              <a:ext cx="1465"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de-DE" dirty="0"/>
                <a:t>Maximale Anzahl der</a:t>
              </a:r>
              <a:br>
                <a:rPr lang="de-DE" dirty="0"/>
              </a:br>
              <a:r>
                <a:rPr lang="de-DE" dirty="0"/>
                <a:t>Hops vor dem “</a:t>
              </a:r>
              <a:r>
                <a:rPr lang="de-DE" dirty="0" err="1"/>
                <a:t>Ops</a:t>
              </a:r>
              <a:r>
                <a:rPr lang="de-DE" dirty="0"/>
                <a:t>!”</a:t>
              </a:r>
            </a:p>
          </p:txBody>
        </p:sp>
        <p:sp>
          <p:nvSpPr>
            <p:cNvPr id="575511" name="Line 23"/>
            <p:cNvSpPr>
              <a:spLocks noChangeShapeType="1"/>
            </p:cNvSpPr>
            <p:nvPr/>
          </p:nvSpPr>
          <p:spPr bwMode="auto">
            <a:xfrm>
              <a:off x="1512" y="834"/>
              <a:ext cx="333" cy="291"/>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12" name="Line 24"/>
            <p:cNvSpPr>
              <a:spLocks noChangeShapeType="1"/>
            </p:cNvSpPr>
            <p:nvPr/>
          </p:nvSpPr>
          <p:spPr bwMode="auto">
            <a:xfrm>
              <a:off x="1542" y="1231"/>
              <a:ext cx="558" cy="4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13" name="Text Box 25"/>
            <p:cNvSpPr txBox="1">
              <a:spLocks noChangeArrowheads="1"/>
            </p:cNvSpPr>
            <p:nvPr/>
          </p:nvSpPr>
          <p:spPr bwMode="auto">
            <a:xfrm>
              <a:off x="4452" y="1224"/>
              <a:ext cx="1223" cy="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dirty="0"/>
                <a:t>Zum Zusammen-</a:t>
              </a:r>
            </a:p>
            <a:p>
              <a:r>
                <a:rPr lang="de-DE" dirty="0"/>
                <a:t>setzen der</a:t>
              </a:r>
            </a:p>
            <a:p>
              <a:r>
                <a:rPr lang="de-DE" dirty="0"/>
                <a:t>Fragmente</a:t>
              </a:r>
            </a:p>
          </p:txBody>
        </p:sp>
        <p:sp>
          <p:nvSpPr>
            <p:cNvPr id="575514" name="Text Box 26"/>
            <p:cNvSpPr txBox="1">
              <a:spLocks noChangeArrowheads="1"/>
            </p:cNvSpPr>
            <p:nvPr/>
          </p:nvSpPr>
          <p:spPr bwMode="auto">
            <a:xfrm>
              <a:off x="4337" y="718"/>
              <a:ext cx="1320"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dirty="0"/>
                <a:t>Länge des Pakets </a:t>
              </a:r>
            </a:p>
            <a:p>
              <a:r>
                <a:rPr lang="de-DE" dirty="0"/>
                <a:t>(mit Header, in B.)</a:t>
              </a:r>
            </a:p>
          </p:txBody>
        </p:sp>
        <p:sp>
          <p:nvSpPr>
            <p:cNvPr id="575515" name="Text Box 27"/>
            <p:cNvSpPr txBox="1">
              <a:spLocks noChangeArrowheads="1"/>
            </p:cNvSpPr>
            <p:nvPr/>
          </p:nvSpPr>
          <p:spPr bwMode="auto">
            <a:xfrm>
              <a:off x="146" y="2022"/>
              <a:ext cx="1449" cy="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de-DE" dirty="0"/>
                <a:t>Protokoll der nächst-</a:t>
              </a:r>
            </a:p>
            <a:p>
              <a:pPr algn="r"/>
              <a:r>
                <a:rPr lang="de-DE" dirty="0"/>
                <a:t>höheren Schicht</a:t>
              </a:r>
            </a:p>
            <a:p>
              <a:pPr algn="r"/>
              <a:r>
                <a:rPr lang="de-DE" dirty="0"/>
                <a:t>(6: TCP, 17: UDP)</a:t>
              </a:r>
            </a:p>
          </p:txBody>
        </p:sp>
        <p:sp>
          <p:nvSpPr>
            <p:cNvPr id="575516" name="Line 28"/>
            <p:cNvSpPr>
              <a:spLocks noChangeShapeType="1"/>
            </p:cNvSpPr>
            <p:nvPr/>
          </p:nvSpPr>
          <p:spPr bwMode="auto">
            <a:xfrm flipV="1">
              <a:off x="1588" y="1897"/>
              <a:ext cx="920" cy="39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18" name="Line 30"/>
            <p:cNvSpPr>
              <a:spLocks noChangeShapeType="1"/>
            </p:cNvSpPr>
            <p:nvPr/>
          </p:nvSpPr>
          <p:spPr bwMode="auto">
            <a:xfrm flipH="1">
              <a:off x="4098" y="945"/>
              <a:ext cx="312" cy="26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19" name="Text Box 31"/>
            <p:cNvSpPr txBox="1">
              <a:spLocks noChangeArrowheads="1"/>
            </p:cNvSpPr>
            <p:nvPr/>
          </p:nvSpPr>
          <p:spPr bwMode="auto">
            <a:xfrm>
              <a:off x="2025" y="995"/>
              <a:ext cx="439"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1600"/>
                <a:t>head.</a:t>
              </a:r>
            </a:p>
            <a:p>
              <a:pPr algn="ctr"/>
              <a:r>
                <a:rPr lang="de-DE" sz="1600"/>
                <a:t>len</a:t>
              </a:r>
              <a:endParaRPr lang="de-DE" sz="2000">
                <a:latin typeface="Times New Roman" pitchFamily="18" charset="0"/>
              </a:endParaRPr>
            </a:p>
          </p:txBody>
        </p:sp>
        <p:sp>
          <p:nvSpPr>
            <p:cNvPr id="575520" name="Text Box 32"/>
            <p:cNvSpPr txBox="1">
              <a:spLocks noChangeArrowheads="1"/>
            </p:cNvSpPr>
            <p:nvPr/>
          </p:nvSpPr>
          <p:spPr bwMode="auto">
            <a:xfrm>
              <a:off x="2416" y="989"/>
              <a:ext cx="604"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1600" dirty="0"/>
                <a:t>DS </a:t>
              </a:r>
              <a:r>
                <a:rPr lang="de-DE" sz="1600" dirty="0" err="1"/>
                <a:t>field</a:t>
              </a:r>
              <a:r>
                <a:rPr lang="de-DE" sz="1600" dirty="0"/>
                <a:t>/</a:t>
              </a:r>
              <a:br>
                <a:rPr lang="de-DE" sz="1600" dirty="0"/>
              </a:br>
              <a:r>
                <a:rPr lang="de-DE" sz="1600" dirty="0"/>
                <a:t>ECN</a:t>
              </a:r>
              <a:endParaRPr lang="de-DE" sz="2000" dirty="0">
                <a:latin typeface="Times New Roman" pitchFamily="18" charset="0"/>
              </a:endParaRPr>
            </a:p>
          </p:txBody>
        </p:sp>
        <p:sp>
          <p:nvSpPr>
            <p:cNvPr id="575521" name="Line 33"/>
            <p:cNvSpPr>
              <a:spLocks noChangeShapeType="1"/>
            </p:cNvSpPr>
            <p:nvPr/>
          </p:nvSpPr>
          <p:spPr bwMode="auto">
            <a:xfrm flipH="1" flipV="1">
              <a:off x="2431" y="1023"/>
              <a:ext cx="0" cy="3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22" name="Line 34"/>
            <p:cNvSpPr>
              <a:spLocks noChangeShapeType="1"/>
            </p:cNvSpPr>
            <p:nvPr/>
          </p:nvSpPr>
          <p:spPr bwMode="auto">
            <a:xfrm flipH="1" flipV="1">
              <a:off x="2044" y="1029"/>
              <a:ext cx="0" cy="3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23" name="Text Box 35"/>
            <p:cNvSpPr txBox="1">
              <a:spLocks noChangeArrowheads="1"/>
            </p:cNvSpPr>
            <p:nvPr/>
          </p:nvSpPr>
          <p:spPr bwMode="auto">
            <a:xfrm>
              <a:off x="197" y="1318"/>
              <a:ext cx="130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r>
                <a:rPr lang="de-DE" sz="1400" dirty="0"/>
                <a:t>Diff. Services (6)/</a:t>
              </a:r>
              <a:br>
                <a:rPr lang="de-DE" sz="1400" dirty="0"/>
              </a:br>
              <a:r>
                <a:rPr lang="de-DE" sz="1400" dirty="0"/>
                <a:t>Expl. Cong. </a:t>
              </a:r>
              <a:r>
                <a:rPr lang="de-DE" sz="1400" dirty="0" err="1"/>
                <a:t>Notific</a:t>
              </a:r>
              <a:r>
                <a:rPr lang="de-DE" sz="1400" dirty="0"/>
                <a:t>. (2)</a:t>
              </a:r>
              <a:endParaRPr lang="de-DE" sz="800" dirty="0">
                <a:latin typeface="Times New Roman" pitchFamily="18" charset="0"/>
              </a:endParaRPr>
            </a:p>
          </p:txBody>
        </p:sp>
        <p:sp>
          <p:nvSpPr>
            <p:cNvPr id="575524" name="Line 36"/>
            <p:cNvSpPr>
              <a:spLocks noChangeShapeType="1"/>
            </p:cNvSpPr>
            <p:nvPr/>
          </p:nvSpPr>
          <p:spPr bwMode="auto">
            <a:xfrm flipV="1">
              <a:off x="1542" y="1318"/>
              <a:ext cx="939" cy="13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25" name="Line 37"/>
            <p:cNvSpPr>
              <a:spLocks noChangeShapeType="1"/>
            </p:cNvSpPr>
            <p:nvPr/>
          </p:nvSpPr>
          <p:spPr bwMode="auto">
            <a:xfrm flipH="1" flipV="1">
              <a:off x="2995" y="1350"/>
              <a:ext cx="0" cy="3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26" name="Text Box 38"/>
            <p:cNvSpPr txBox="1">
              <a:spLocks noChangeArrowheads="1"/>
            </p:cNvSpPr>
            <p:nvPr/>
          </p:nvSpPr>
          <p:spPr bwMode="auto">
            <a:xfrm>
              <a:off x="2902" y="1399"/>
              <a:ext cx="486"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de-DE" sz="1400" dirty="0"/>
                <a:t>Flags</a:t>
              </a:r>
              <a:endParaRPr lang="de-DE" sz="1600" dirty="0">
                <a:latin typeface="Times New Roman" pitchFamily="18" charset="0"/>
              </a:endParaRPr>
            </a:p>
          </p:txBody>
        </p:sp>
        <p:sp>
          <p:nvSpPr>
            <p:cNvPr id="575527" name="Line 39"/>
            <p:cNvSpPr>
              <a:spLocks noChangeShapeType="1"/>
            </p:cNvSpPr>
            <p:nvPr/>
          </p:nvSpPr>
          <p:spPr bwMode="auto">
            <a:xfrm flipH="1" flipV="1">
              <a:off x="3289" y="1344"/>
              <a:ext cx="0" cy="3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28" name="Text Box 40"/>
            <p:cNvSpPr txBox="1">
              <a:spLocks noChangeArrowheads="1"/>
            </p:cNvSpPr>
            <p:nvPr/>
          </p:nvSpPr>
          <p:spPr bwMode="auto">
            <a:xfrm>
              <a:off x="3305" y="1364"/>
              <a:ext cx="95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de-DE" sz="1400" dirty="0"/>
                <a:t>13-Bit  Frag-</a:t>
              </a:r>
              <a:r>
                <a:rPr lang="de-DE" sz="1400" dirty="0" err="1"/>
                <a:t>mentierunsoffset</a:t>
              </a:r>
              <a:endParaRPr lang="de-DE" sz="1600" dirty="0">
                <a:latin typeface="Times New Roman" pitchFamily="18" charset="0"/>
              </a:endParaRPr>
            </a:p>
          </p:txBody>
        </p:sp>
        <p:sp>
          <p:nvSpPr>
            <p:cNvPr id="575531" name="Line 43"/>
            <p:cNvSpPr>
              <a:spLocks noChangeShapeType="1"/>
            </p:cNvSpPr>
            <p:nvPr/>
          </p:nvSpPr>
          <p:spPr bwMode="auto">
            <a:xfrm flipV="1">
              <a:off x="1769" y="1666"/>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32" name="Line 44"/>
            <p:cNvSpPr>
              <a:spLocks noChangeShapeType="1"/>
            </p:cNvSpPr>
            <p:nvPr/>
          </p:nvSpPr>
          <p:spPr bwMode="auto">
            <a:xfrm flipH="1" flipV="1">
              <a:off x="2995" y="1668"/>
              <a:ext cx="0" cy="3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33" name="Line 45"/>
            <p:cNvSpPr>
              <a:spLocks noChangeShapeType="1"/>
            </p:cNvSpPr>
            <p:nvPr/>
          </p:nvSpPr>
          <p:spPr bwMode="auto">
            <a:xfrm flipV="1">
              <a:off x="1757" y="1990"/>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34" name="Text Box 46"/>
            <p:cNvSpPr txBox="1">
              <a:spLocks noChangeArrowheads="1"/>
            </p:cNvSpPr>
            <p:nvPr/>
          </p:nvSpPr>
          <p:spPr bwMode="auto">
            <a:xfrm>
              <a:off x="2470" y="1637"/>
              <a:ext cx="447"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sz="1600" dirty="0"/>
                <a:t>upper</a:t>
              </a:r>
            </a:p>
            <a:p>
              <a:pPr algn="ctr"/>
              <a:r>
                <a:rPr lang="de-DE" sz="1600" dirty="0"/>
                <a:t> layer</a:t>
              </a:r>
              <a:endParaRPr lang="de-DE" sz="1600" dirty="0">
                <a:latin typeface="Times New Roman" pitchFamily="18" charset="0"/>
              </a:endParaRPr>
            </a:p>
          </p:txBody>
        </p:sp>
        <p:sp>
          <p:nvSpPr>
            <p:cNvPr id="575535" name="Line 47"/>
            <p:cNvSpPr>
              <a:spLocks noChangeShapeType="1"/>
            </p:cNvSpPr>
            <p:nvPr/>
          </p:nvSpPr>
          <p:spPr bwMode="auto">
            <a:xfrm flipH="1" flipV="1">
              <a:off x="2395" y="1674"/>
              <a:ext cx="0" cy="3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36" name="Line 48"/>
            <p:cNvSpPr>
              <a:spLocks noChangeShapeType="1"/>
            </p:cNvSpPr>
            <p:nvPr/>
          </p:nvSpPr>
          <p:spPr bwMode="auto">
            <a:xfrm>
              <a:off x="1590" y="1785"/>
              <a:ext cx="348" cy="5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37" name="Text Box 49"/>
            <p:cNvSpPr txBox="1">
              <a:spLocks noChangeArrowheads="1"/>
            </p:cNvSpPr>
            <p:nvPr/>
          </p:nvSpPr>
          <p:spPr bwMode="auto">
            <a:xfrm>
              <a:off x="2201" y="2323"/>
              <a:ext cx="162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a:t>32-Bit-Ziel-IP-Addresse</a:t>
              </a:r>
              <a:endParaRPr lang="de-DE" sz="2400">
                <a:latin typeface="Times New Roman" pitchFamily="18" charset="0"/>
              </a:endParaRPr>
            </a:p>
          </p:txBody>
        </p:sp>
        <p:sp>
          <p:nvSpPr>
            <p:cNvPr id="575538" name="Line 50"/>
            <p:cNvSpPr>
              <a:spLocks noChangeShapeType="1"/>
            </p:cNvSpPr>
            <p:nvPr/>
          </p:nvSpPr>
          <p:spPr bwMode="auto">
            <a:xfrm flipV="1">
              <a:off x="1769" y="2872"/>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5539" name="Text Box 51"/>
            <p:cNvSpPr txBox="1">
              <a:spLocks noChangeArrowheads="1"/>
            </p:cNvSpPr>
            <p:nvPr/>
          </p:nvSpPr>
          <p:spPr bwMode="auto">
            <a:xfrm>
              <a:off x="2205" y="2617"/>
              <a:ext cx="157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de-DE" dirty="0"/>
                <a:t>Optionen (0-10 Zeilen)</a:t>
              </a:r>
              <a:endParaRPr lang="de-DE" sz="2400" dirty="0">
                <a:latin typeface="Times New Roman" pitchFamily="18" charset="0"/>
              </a:endParaRPr>
            </a:p>
          </p:txBody>
        </p:sp>
        <p:sp>
          <p:nvSpPr>
            <p:cNvPr id="575540" name="Text Box 52"/>
            <p:cNvSpPr txBox="1">
              <a:spLocks noChangeArrowheads="1"/>
            </p:cNvSpPr>
            <p:nvPr/>
          </p:nvSpPr>
          <p:spPr bwMode="auto">
            <a:xfrm>
              <a:off x="4380" y="2600"/>
              <a:ext cx="1183" cy="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a:t>Z.B. timestamp;</a:t>
              </a:r>
            </a:p>
            <a:p>
              <a:r>
                <a:rPr lang="de-DE"/>
                <a:t>bisheriger Pfad; </a:t>
              </a:r>
            </a:p>
            <a:p>
              <a:r>
                <a:rPr lang="de-DE"/>
                <a:t>Liste der Router,</a:t>
              </a:r>
              <a:br>
                <a:rPr lang="de-DE"/>
              </a:br>
              <a:r>
                <a:rPr lang="de-DE"/>
                <a:t>die besucht </a:t>
              </a:r>
            </a:p>
            <a:p>
              <a:r>
                <a:rPr lang="de-DE"/>
                <a:t>werden sollen</a:t>
              </a:r>
            </a:p>
          </p:txBody>
        </p:sp>
        <p:sp>
          <p:nvSpPr>
            <p:cNvPr id="575541" name="Line 53"/>
            <p:cNvSpPr>
              <a:spLocks noChangeShapeType="1"/>
            </p:cNvSpPr>
            <p:nvPr/>
          </p:nvSpPr>
          <p:spPr bwMode="auto">
            <a:xfrm flipH="1">
              <a:off x="3900" y="2736"/>
              <a:ext cx="516" cy="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sp>
        <p:nvSpPr>
          <p:cNvPr id="575542" name="Rectangle 54"/>
          <p:cNvSpPr>
            <a:spLocks noChangeArrowheads="1"/>
          </p:cNvSpPr>
          <p:nvPr/>
        </p:nvSpPr>
        <p:spPr bwMode="auto">
          <a:xfrm>
            <a:off x="179513" y="5115680"/>
            <a:ext cx="2626040" cy="174232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accent2"/>
              </a:buClr>
              <a:buSzPct val="85000"/>
              <a:buFont typeface="Arial" pitchFamily="34" charset="0"/>
              <a:buChar char="•"/>
            </a:pPr>
            <a:r>
              <a:rPr lang="de-DE" sz="2000" dirty="0"/>
              <a:t>&gt;= 20 Bytes IP</a:t>
            </a:r>
          </a:p>
          <a:p>
            <a:pPr marL="342900" indent="-342900">
              <a:spcBef>
                <a:spcPct val="20000"/>
              </a:spcBef>
              <a:buClr>
                <a:schemeClr val="accent2"/>
              </a:buClr>
              <a:buSzPct val="85000"/>
              <a:buFont typeface="Arial" pitchFamily="34" charset="0"/>
              <a:buChar char="•"/>
            </a:pPr>
            <a:r>
              <a:rPr lang="de-DE" sz="2000" dirty="0"/>
              <a:t>=&gt; mit TCP/UDP min. 40 Bytes + Overhead der Anw.-Schicht</a:t>
            </a:r>
          </a:p>
        </p:txBody>
      </p:sp>
      <p:sp>
        <p:nvSpPr>
          <p:cNvPr id="3" name="Right Brace 2"/>
          <p:cNvSpPr/>
          <p:nvPr/>
        </p:nvSpPr>
        <p:spPr>
          <a:xfrm>
            <a:off x="6987435" y="2294635"/>
            <a:ext cx="185738" cy="474663"/>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 name="Rectangle 3"/>
          <p:cNvSpPr/>
          <p:nvPr/>
        </p:nvSpPr>
        <p:spPr>
          <a:xfrm>
            <a:off x="179512" y="4346240"/>
            <a:ext cx="2626040" cy="769441"/>
          </a:xfrm>
          <a:prstGeom prst="rect">
            <a:avLst/>
          </a:prstGeom>
          <a:ln w="28575">
            <a:solidFill>
              <a:schemeClr val="tx1"/>
            </a:solidFill>
          </a:ln>
        </p:spPr>
        <p:txBody>
          <a:bodyPr wrap="none">
            <a:spAutoFit/>
          </a:bodyPr>
          <a:lstStyle/>
          <a:p>
            <a:pPr marL="342900" indent="-342900">
              <a:spcBef>
                <a:spcPct val="20000"/>
              </a:spcBef>
              <a:buClr>
                <a:schemeClr val="accent2"/>
              </a:buClr>
              <a:buSzPct val="85000"/>
              <a:buFont typeface="ZapfDingbats" pitchFamily="82" charset="2"/>
              <a:buNone/>
            </a:pPr>
            <a:r>
              <a:rPr lang="de-DE" sz="2000" dirty="0"/>
              <a:t>	Wieviel Overhead </a:t>
            </a:r>
          </a:p>
          <a:p>
            <a:pPr marL="342900" indent="-342900">
              <a:spcBef>
                <a:spcPct val="20000"/>
              </a:spcBef>
              <a:buClr>
                <a:schemeClr val="accent2"/>
              </a:buClr>
              <a:buSzPct val="85000"/>
              <a:buFont typeface="ZapfDingbats" pitchFamily="82" charset="2"/>
              <a:buNone/>
            </a:pPr>
            <a:r>
              <a:rPr lang="de-DE" sz="2000" dirty="0"/>
              <a:t>hat man (bei IP)?</a:t>
            </a:r>
          </a:p>
        </p:txBody>
      </p:sp>
    </p:spTree>
    <p:extLst>
      <p:ext uri="{BB962C8B-B14F-4D97-AF65-F5344CB8AC3E}">
        <p14:creationId xmlns:p14="http://schemas.microsoft.com/office/powerpoint/2010/main" val="215539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75542"/>
                                        </p:tgtEl>
                                        <p:attrNameLst>
                                          <p:attrName>style.visibility</p:attrName>
                                        </p:attrNameLst>
                                      </p:cBhvr>
                                      <p:to>
                                        <p:strVal val="visible"/>
                                      </p:to>
                                    </p:set>
                                    <p:animEffect transition="in" filter="fade">
                                      <p:cBhvr>
                                        <p:cTn id="11" dur="500"/>
                                        <p:tgtEl>
                                          <p:spTgt spid="575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542"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Slide Number Placeholder 6"/>
          <p:cNvSpPr>
            <a:spLocks noGrp="1"/>
          </p:cNvSpPr>
          <p:nvPr>
            <p:ph type="sldNum" sz="quarter" idx="12"/>
          </p:nvPr>
        </p:nvSpPr>
        <p:spPr/>
        <p:txBody>
          <a:bodyPr/>
          <a:lstStyle/>
          <a:p>
            <a:fld id="{C05D973D-FDDA-4436-BF6A-316F21E221E1}" type="slidenum">
              <a:rPr lang="de-DE" smtClean="0"/>
              <a:pPr/>
              <a:t>6</a:t>
            </a:fld>
            <a:endParaRPr lang="de-DE"/>
          </a:p>
        </p:txBody>
      </p:sp>
      <p:sp>
        <p:nvSpPr>
          <p:cNvPr id="576514" name="Rectangle 2"/>
          <p:cNvSpPr>
            <a:spLocks noGrp="1" noChangeArrowheads="1"/>
          </p:cNvSpPr>
          <p:nvPr>
            <p:ph type="title"/>
          </p:nvPr>
        </p:nvSpPr>
        <p:spPr/>
        <p:txBody>
          <a:bodyPr/>
          <a:lstStyle/>
          <a:p>
            <a:r>
              <a:rPr lang="de-DE" sz="3600" dirty="0"/>
              <a:t>Fragmentierung und Zusammensetzen</a:t>
            </a:r>
          </a:p>
        </p:txBody>
      </p:sp>
      <p:sp>
        <p:nvSpPr>
          <p:cNvPr id="576515" name="Rectangle 3"/>
          <p:cNvSpPr>
            <a:spLocks noGrp="1" noChangeArrowheads="1"/>
          </p:cNvSpPr>
          <p:nvPr>
            <p:ph type="body" sz="half" idx="1"/>
          </p:nvPr>
        </p:nvSpPr>
        <p:spPr>
          <a:xfrm>
            <a:off x="276224" y="1196752"/>
            <a:ext cx="4443499" cy="5400599"/>
          </a:xfrm>
        </p:spPr>
        <p:txBody>
          <a:bodyPr>
            <a:noAutofit/>
          </a:bodyPr>
          <a:lstStyle/>
          <a:p>
            <a:r>
              <a:rPr lang="de-DE" sz="2000" dirty="0"/>
              <a:t>Netzwerkleitungen erlauben je nach Typ die max. Datenmenge, die ein Rahmen (frame) der Sicherungsschicht tragen kann</a:t>
            </a:r>
          </a:p>
          <a:p>
            <a:pPr lvl="1"/>
            <a:r>
              <a:rPr lang="de-DE" sz="2000" dirty="0"/>
              <a:t>Diese nennt man </a:t>
            </a:r>
            <a:r>
              <a:rPr lang="de-DE" sz="2000" b="1" dirty="0">
                <a:solidFill>
                  <a:srgbClr val="FF0000"/>
                </a:solidFill>
              </a:rPr>
              <a:t>MTU</a:t>
            </a:r>
            <a:r>
              <a:rPr lang="de-DE" sz="2000" dirty="0"/>
              <a:t>, </a:t>
            </a:r>
            <a:r>
              <a:rPr lang="de-DE" sz="2000" b="1" dirty="0">
                <a:solidFill>
                  <a:srgbClr val="FF0000"/>
                </a:solidFill>
              </a:rPr>
              <a:t>maximum </a:t>
            </a:r>
            <a:r>
              <a:rPr lang="de-DE" sz="2000" b="1" dirty="0" err="1">
                <a:solidFill>
                  <a:srgbClr val="FF0000"/>
                </a:solidFill>
              </a:rPr>
              <a:t>transmission</a:t>
            </a:r>
            <a:r>
              <a:rPr lang="de-DE" sz="2000" b="1" dirty="0">
                <a:solidFill>
                  <a:srgbClr val="FF0000"/>
                </a:solidFill>
              </a:rPr>
              <a:t> </a:t>
            </a:r>
            <a:r>
              <a:rPr lang="de-DE" sz="2000" b="1" dirty="0" err="1">
                <a:solidFill>
                  <a:srgbClr val="FF0000"/>
                </a:solidFill>
              </a:rPr>
              <a:t>unit</a:t>
            </a:r>
            <a:endParaRPr lang="de-DE" sz="2000" b="1" dirty="0">
              <a:solidFill>
                <a:srgbClr val="FF0000"/>
              </a:solidFill>
            </a:endParaRPr>
          </a:p>
          <a:p>
            <a:r>
              <a:rPr lang="de-DE" sz="2000" dirty="0"/>
              <a:t>Große IP-Datagram werden somit auf manchen Leitungen in mehrere Rahmen aufgeteilt (</a:t>
            </a:r>
            <a:r>
              <a:rPr lang="de-DE" sz="2000" b="1" dirty="0">
                <a:solidFill>
                  <a:srgbClr val="FF0000"/>
                </a:solidFill>
              </a:rPr>
              <a:t>fragmentiert</a:t>
            </a:r>
            <a:r>
              <a:rPr lang="de-DE" sz="2000" dirty="0"/>
              <a:t>)  </a:t>
            </a:r>
          </a:p>
          <a:p>
            <a:pPr lvl="1"/>
            <a:r>
              <a:rPr lang="de-DE" sz="2000" dirty="0"/>
              <a:t>Sie werden erst beim Ziel (Host) zusammengesetzt – warum?</a:t>
            </a:r>
            <a:endParaRPr lang="de-DE" sz="1600" dirty="0"/>
          </a:p>
          <a:p>
            <a:pPr lvl="1"/>
            <a:r>
              <a:rPr lang="de-DE" sz="2000" dirty="0"/>
              <a:t>IP-Header enthält die Informationen, welche Fragmente zusammengehören, und wie das Datagramm aufgeteilt wurde</a:t>
            </a:r>
          </a:p>
        </p:txBody>
      </p:sp>
      <p:sp>
        <p:nvSpPr>
          <p:cNvPr id="576516" name="Freeform 4"/>
          <p:cNvSpPr>
            <a:spLocks/>
          </p:cNvSpPr>
          <p:nvPr/>
        </p:nvSpPr>
        <p:spPr bwMode="auto">
          <a:xfrm>
            <a:off x="5290297" y="2052637"/>
            <a:ext cx="2436813" cy="2255838"/>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17" name="Freeform 5"/>
          <p:cNvSpPr>
            <a:spLocks/>
          </p:cNvSpPr>
          <p:nvPr/>
        </p:nvSpPr>
        <p:spPr bwMode="auto">
          <a:xfrm>
            <a:off x="5290297" y="4454525"/>
            <a:ext cx="1976438" cy="1987550"/>
          </a:xfrm>
          <a:custGeom>
            <a:avLst/>
            <a:gdLst>
              <a:gd name="T0" fmla="*/ 2 w 873"/>
              <a:gd name="T1" fmla="*/ 405 h 940"/>
              <a:gd name="T2" fmla="*/ 230 w 873"/>
              <a:gd name="T3" fmla="*/ 65 h 940"/>
              <a:gd name="T4" fmla="*/ 555 w 873"/>
              <a:gd name="T5" fmla="*/ 22 h 940"/>
              <a:gd name="T6" fmla="*/ 800 w 873"/>
              <a:gd name="T7" fmla="*/ 197 h 940"/>
              <a:gd name="T8" fmla="*/ 866 w 873"/>
              <a:gd name="T9" fmla="*/ 347 h 940"/>
              <a:gd name="T10" fmla="*/ 842 w 873"/>
              <a:gd name="T11" fmla="*/ 527 h 940"/>
              <a:gd name="T12" fmla="*/ 788 w 873"/>
              <a:gd name="T13" fmla="*/ 767 h 940"/>
              <a:gd name="T14" fmla="*/ 608 w 873"/>
              <a:gd name="T15" fmla="*/ 845 h 940"/>
              <a:gd name="T16" fmla="*/ 418 w 873"/>
              <a:gd name="T17" fmla="*/ 925 h 940"/>
              <a:gd name="T18" fmla="*/ 139 w 873"/>
              <a:gd name="T19" fmla="*/ 754 h 940"/>
              <a:gd name="T20" fmla="*/ 2 w 873"/>
              <a:gd name="T21" fmla="*/ 405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3" h="940">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2" name="Group 6"/>
          <p:cNvGrpSpPr>
            <a:grpSpLocks/>
          </p:cNvGrpSpPr>
          <p:nvPr/>
        </p:nvGrpSpPr>
        <p:grpSpPr bwMode="auto">
          <a:xfrm>
            <a:off x="4883897" y="2432050"/>
            <a:ext cx="649288" cy="1247775"/>
            <a:chOff x="3314" y="1248"/>
            <a:chExt cx="344" cy="694"/>
          </a:xfrm>
        </p:grpSpPr>
        <p:graphicFrame>
          <p:nvGraphicFramePr>
            <p:cNvPr id="576519" name="Object 7"/>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name="ClipArt" r:id="rId3" imgW="1307263" imgH="1084139" progId="">
                    <p:embed/>
                  </p:oleObj>
                </mc:Choice>
                <mc:Fallback>
                  <p:oleObj name="ClipArt" r:id="rId3" imgW="1307263" imgH="1084139" progId="">
                    <p:embed/>
                    <p:pic>
                      <p:nvPicPr>
                        <p:cNvPr id="576519"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6520" name="Line 8"/>
            <p:cNvSpPr>
              <a:spLocks noChangeShapeType="1"/>
            </p:cNvSpPr>
            <p:nvPr/>
          </p:nvSpPr>
          <p:spPr bwMode="auto">
            <a:xfrm flipV="1">
              <a:off x="3606" y="1433"/>
              <a:ext cx="52"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aphicFrame>
          <p:nvGraphicFramePr>
            <p:cNvPr id="576521" name="Object 9"/>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name="ClipArt" r:id="rId5" imgW="1307263" imgH="1084139" progId="">
                    <p:embed/>
                  </p:oleObj>
                </mc:Choice>
                <mc:Fallback>
                  <p:oleObj name="ClipArt" r:id="rId5" imgW="1307263" imgH="1084139" progId="">
                    <p:embed/>
                    <p:pic>
                      <p:nvPicPr>
                        <p:cNvPr id="576521"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6522" name="Line 10"/>
            <p:cNvSpPr>
              <a:spLocks noChangeShapeType="1"/>
            </p:cNvSpPr>
            <p:nvPr/>
          </p:nvSpPr>
          <p:spPr bwMode="auto">
            <a:xfrm flipV="1">
              <a:off x="3606" y="1882"/>
              <a:ext cx="5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 name="Group 11"/>
            <p:cNvGrpSpPr>
              <a:grpSpLocks/>
            </p:cNvGrpSpPr>
            <p:nvPr/>
          </p:nvGrpSpPr>
          <p:grpSpPr bwMode="auto">
            <a:xfrm>
              <a:off x="3404" y="1504"/>
              <a:ext cx="51" cy="167"/>
              <a:chOff x="3842" y="406"/>
              <a:chExt cx="51" cy="167"/>
            </a:xfrm>
          </p:grpSpPr>
          <p:sp>
            <p:nvSpPr>
              <p:cNvPr id="576524" name="Oval 12"/>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25" name="Oval 13"/>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26" name="Oval 14"/>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sp>
          <p:nvSpPr>
            <p:cNvPr id="576527" name="Line 15"/>
            <p:cNvSpPr>
              <a:spLocks noChangeShapeType="1"/>
            </p:cNvSpPr>
            <p:nvPr/>
          </p:nvSpPr>
          <p:spPr bwMode="auto">
            <a:xfrm>
              <a:off x="3654" y="1431"/>
              <a:ext cx="0" cy="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sp>
        <p:nvSpPr>
          <p:cNvPr id="576528" name="Line 16"/>
          <p:cNvSpPr>
            <a:spLocks noChangeShapeType="1"/>
          </p:cNvSpPr>
          <p:nvPr/>
        </p:nvSpPr>
        <p:spPr bwMode="auto">
          <a:xfrm flipV="1">
            <a:off x="5363322" y="3008312"/>
            <a:ext cx="127000" cy="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29" name="Line 17"/>
          <p:cNvSpPr>
            <a:spLocks noChangeShapeType="1"/>
          </p:cNvSpPr>
          <p:nvPr/>
        </p:nvSpPr>
        <p:spPr bwMode="auto">
          <a:xfrm>
            <a:off x="5939585" y="2333625"/>
            <a:ext cx="658812" cy="279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30" name="Line 18"/>
          <p:cNvSpPr>
            <a:spLocks noChangeShapeType="1"/>
          </p:cNvSpPr>
          <p:nvPr/>
        </p:nvSpPr>
        <p:spPr bwMode="auto">
          <a:xfrm>
            <a:off x="6785722" y="2670175"/>
            <a:ext cx="196850" cy="669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31" name="Line 19"/>
          <p:cNvSpPr>
            <a:spLocks noChangeShapeType="1"/>
          </p:cNvSpPr>
          <p:nvPr/>
        </p:nvSpPr>
        <p:spPr bwMode="auto">
          <a:xfrm>
            <a:off x="5688760" y="2446337"/>
            <a:ext cx="1587" cy="582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32" name="Line 20"/>
          <p:cNvSpPr>
            <a:spLocks noChangeShapeType="1"/>
          </p:cNvSpPr>
          <p:nvPr/>
        </p:nvSpPr>
        <p:spPr bwMode="auto">
          <a:xfrm>
            <a:off x="5714160" y="3094037"/>
            <a:ext cx="971550" cy="4016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33" name="Line 21"/>
          <p:cNvSpPr>
            <a:spLocks noChangeShapeType="1"/>
          </p:cNvSpPr>
          <p:nvPr/>
        </p:nvSpPr>
        <p:spPr bwMode="auto">
          <a:xfrm flipH="1" flipV="1">
            <a:off x="7241335" y="3586162"/>
            <a:ext cx="476250" cy="687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34" name="Line 22"/>
          <p:cNvSpPr>
            <a:spLocks noChangeShapeType="1"/>
          </p:cNvSpPr>
          <p:nvPr/>
        </p:nvSpPr>
        <p:spPr bwMode="auto">
          <a:xfrm flipH="1">
            <a:off x="5947522" y="2638425"/>
            <a:ext cx="758825" cy="5175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35" name="Line 23"/>
          <p:cNvSpPr>
            <a:spLocks noChangeShapeType="1"/>
          </p:cNvSpPr>
          <p:nvPr/>
        </p:nvSpPr>
        <p:spPr bwMode="auto">
          <a:xfrm flipH="1">
            <a:off x="5957047" y="2078037"/>
            <a:ext cx="476250" cy="342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36" name="Line 24"/>
          <p:cNvSpPr>
            <a:spLocks noChangeShapeType="1"/>
          </p:cNvSpPr>
          <p:nvPr/>
        </p:nvSpPr>
        <p:spPr bwMode="auto">
          <a:xfrm flipH="1">
            <a:off x="6674597" y="2254250"/>
            <a:ext cx="273050" cy="2365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6" name="Group 25"/>
          <p:cNvGrpSpPr>
            <a:grpSpLocks/>
          </p:cNvGrpSpPr>
          <p:nvPr/>
        </p:nvGrpSpPr>
        <p:grpSpPr bwMode="auto">
          <a:xfrm>
            <a:off x="5437935" y="2217737"/>
            <a:ext cx="679450" cy="314325"/>
            <a:chOff x="3600" y="219"/>
            <a:chExt cx="360" cy="175"/>
          </a:xfrm>
        </p:grpSpPr>
        <p:sp>
          <p:nvSpPr>
            <p:cNvPr id="576538" name="Oval 2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39" name="Line 2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40" name="Line 2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41" name="Rectangle 2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576542" name="Oval 3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7" name="Group 31"/>
            <p:cNvGrpSpPr>
              <a:grpSpLocks/>
            </p:cNvGrpSpPr>
            <p:nvPr/>
          </p:nvGrpSpPr>
          <p:grpSpPr bwMode="auto">
            <a:xfrm>
              <a:off x="3686" y="244"/>
              <a:ext cx="177" cy="66"/>
              <a:chOff x="2848" y="848"/>
              <a:chExt cx="140" cy="98"/>
            </a:xfrm>
          </p:grpSpPr>
          <p:sp>
            <p:nvSpPr>
              <p:cNvPr id="576544" name="Line 3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45" name="Line 3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46" name="Line 3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8" name="Group 35"/>
            <p:cNvGrpSpPr>
              <a:grpSpLocks/>
            </p:cNvGrpSpPr>
            <p:nvPr/>
          </p:nvGrpSpPr>
          <p:grpSpPr bwMode="auto">
            <a:xfrm flipV="1">
              <a:off x="3686" y="243"/>
              <a:ext cx="177" cy="66"/>
              <a:chOff x="2848" y="848"/>
              <a:chExt cx="140" cy="98"/>
            </a:xfrm>
          </p:grpSpPr>
          <p:sp>
            <p:nvSpPr>
              <p:cNvPr id="576548" name="Line 3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49" name="Line 3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50" name="Line 3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9" name="Group 39"/>
          <p:cNvGrpSpPr>
            <a:grpSpLocks/>
          </p:cNvGrpSpPr>
          <p:nvPr/>
        </p:nvGrpSpPr>
        <p:grpSpPr bwMode="auto">
          <a:xfrm>
            <a:off x="5455397" y="2874962"/>
            <a:ext cx="679450" cy="314325"/>
            <a:chOff x="3600" y="219"/>
            <a:chExt cx="360" cy="175"/>
          </a:xfrm>
        </p:grpSpPr>
        <p:sp>
          <p:nvSpPr>
            <p:cNvPr id="576552" name="Oval 4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53" name="Line 4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54" name="Line 4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55" name="Rectangle 4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576556" name="Oval 4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0" name="Group 45"/>
            <p:cNvGrpSpPr>
              <a:grpSpLocks/>
            </p:cNvGrpSpPr>
            <p:nvPr/>
          </p:nvGrpSpPr>
          <p:grpSpPr bwMode="auto">
            <a:xfrm>
              <a:off x="3686" y="244"/>
              <a:ext cx="177" cy="66"/>
              <a:chOff x="2848" y="848"/>
              <a:chExt cx="140" cy="98"/>
            </a:xfrm>
          </p:grpSpPr>
          <p:sp>
            <p:nvSpPr>
              <p:cNvPr id="576558" name="Line 4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59" name="Line 4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60" name="Line 4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11" name="Group 49"/>
            <p:cNvGrpSpPr>
              <a:grpSpLocks/>
            </p:cNvGrpSpPr>
            <p:nvPr/>
          </p:nvGrpSpPr>
          <p:grpSpPr bwMode="auto">
            <a:xfrm flipV="1">
              <a:off x="3686" y="243"/>
              <a:ext cx="177" cy="66"/>
              <a:chOff x="2848" y="848"/>
              <a:chExt cx="140" cy="98"/>
            </a:xfrm>
          </p:grpSpPr>
          <p:sp>
            <p:nvSpPr>
              <p:cNvPr id="576562" name="Line 5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63" name="Line 5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64" name="Line 5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12" name="Group 53"/>
          <p:cNvGrpSpPr>
            <a:grpSpLocks/>
          </p:cNvGrpSpPr>
          <p:nvPr/>
        </p:nvGrpSpPr>
        <p:grpSpPr bwMode="auto">
          <a:xfrm>
            <a:off x="6425360" y="2425700"/>
            <a:ext cx="676275" cy="314325"/>
            <a:chOff x="3600" y="219"/>
            <a:chExt cx="360" cy="175"/>
          </a:xfrm>
        </p:grpSpPr>
        <p:sp>
          <p:nvSpPr>
            <p:cNvPr id="576566" name="Oval 5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67" name="Line 5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68" name="Line 5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69" name="Rectangle 5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576570" name="Oval 5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3" name="Group 59"/>
            <p:cNvGrpSpPr>
              <a:grpSpLocks/>
            </p:cNvGrpSpPr>
            <p:nvPr/>
          </p:nvGrpSpPr>
          <p:grpSpPr bwMode="auto">
            <a:xfrm>
              <a:off x="3686" y="244"/>
              <a:ext cx="177" cy="66"/>
              <a:chOff x="2848" y="848"/>
              <a:chExt cx="140" cy="98"/>
            </a:xfrm>
          </p:grpSpPr>
          <p:sp>
            <p:nvSpPr>
              <p:cNvPr id="576572" name="Line 6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73" name="Line 6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74" name="Line 6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14" name="Group 63"/>
            <p:cNvGrpSpPr>
              <a:grpSpLocks/>
            </p:cNvGrpSpPr>
            <p:nvPr/>
          </p:nvGrpSpPr>
          <p:grpSpPr bwMode="auto">
            <a:xfrm flipV="1">
              <a:off x="3686" y="243"/>
              <a:ext cx="177" cy="66"/>
              <a:chOff x="2848" y="848"/>
              <a:chExt cx="140" cy="98"/>
            </a:xfrm>
          </p:grpSpPr>
          <p:sp>
            <p:nvSpPr>
              <p:cNvPr id="576576" name="Line 6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77" name="Line 6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78" name="Line 6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15" name="Group 67"/>
          <p:cNvGrpSpPr>
            <a:grpSpLocks/>
          </p:cNvGrpSpPr>
          <p:nvPr/>
        </p:nvGrpSpPr>
        <p:grpSpPr bwMode="auto">
          <a:xfrm>
            <a:off x="6669835" y="3332162"/>
            <a:ext cx="679450" cy="314325"/>
            <a:chOff x="3600" y="219"/>
            <a:chExt cx="360" cy="175"/>
          </a:xfrm>
        </p:grpSpPr>
        <p:sp>
          <p:nvSpPr>
            <p:cNvPr id="576580" name="Oval 6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81" name="Line 6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82" name="Line 7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83" name="Rectangle 7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576584" name="Oval 7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6" name="Group 73"/>
            <p:cNvGrpSpPr>
              <a:grpSpLocks/>
            </p:cNvGrpSpPr>
            <p:nvPr/>
          </p:nvGrpSpPr>
          <p:grpSpPr bwMode="auto">
            <a:xfrm>
              <a:off x="3686" y="244"/>
              <a:ext cx="177" cy="66"/>
              <a:chOff x="2848" y="848"/>
              <a:chExt cx="140" cy="98"/>
            </a:xfrm>
          </p:grpSpPr>
          <p:sp>
            <p:nvSpPr>
              <p:cNvPr id="576586" name="Line 7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87" name="Line 7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88" name="Line 7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17" name="Group 77"/>
            <p:cNvGrpSpPr>
              <a:grpSpLocks/>
            </p:cNvGrpSpPr>
            <p:nvPr/>
          </p:nvGrpSpPr>
          <p:grpSpPr bwMode="auto">
            <a:xfrm flipV="1">
              <a:off x="3686" y="243"/>
              <a:ext cx="177" cy="66"/>
              <a:chOff x="2848" y="848"/>
              <a:chExt cx="140" cy="98"/>
            </a:xfrm>
          </p:grpSpPr>
          <p:sp>
            <p:nvSpPr>
              <p:cNvPr id="576590" name="Line 7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91" name="Line 7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92" name="Line 8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18" name="Group 81"/>
          <p:cNvGrpSpPr>
            <a:grpSpLocks/>
          </p:cNvGrpSpPr>
          <p:nvPr/>
        </p:nvGrpSpPr>
        <p:grpSpPr bwMode="auto">
          <a:xfrm>
            <a:off x="6438060" y="5324475"/>
            <a:ext cx="715962" cy="311150"/>
            <a:chOff x="3600" y="219"/>
            <a:chExt cx="360" cy="175"/>
          </a:xfrm>
        </p:grpSpPr>
        <p:sp>
          <p:nvSpPr>
            <p:cNvPr id="576594" name="Oval 82"/>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95" name="Line 8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96" name="Line 8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597" name="Rectangle 85"/>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576598" name="Oval 86"/>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19" name="Group 87"/>
            <p:cNvGrpSpPr>
              <a:grpSpLocks/>
            </p:cNvGrpSpPr>
            <p:nvPr/>
          </p:nvGrpSpPr>
          <p:grpSpPr bwMode="auto">
            <a:xfrm>
              <a:off x="3686" y="244"/>
              <a:ext cx="177" cy="66"/>
              <a:chOff x="2848" y="848"/>
              <a:chExt cx="140" cy="98"/>
            </a:xfrm>
          </p:grpSpPr>
          <p:sp>
            <p:nvSpPr>
              <p:cNvPr id="576600" name="Line 8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01" name="Line 8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02" name="Line 9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0" name="Group 91"/>
            <p:cNvGrpSpPr>
              <a:grpSpLocks/>
            </p:cNvGrpSpPr>
            <p:nvPr/>
          </p:nvGrpSpPr>
          <p:grpSpPr bwMode="auto">
            <a:xfrm flipV="1">
              <a:off x="3686" y="243"/>
              <a:ext cx="177" cy="66"/>
              <a:chOff x="2848" y="848"/>
              <a:chExt cx="140" cy="98"/>
            </a:xfrm>
          </p:grpSpPr>
          <p:sp>
            <p:nvSpPr>
              <p:cNvPr id="576604" name="Line 9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05" name="Line 9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06" name="Line 9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pSp>
        <p:nvGrpSpPr>
          <p:cNvPr id="21" name="Group 95"/>
          <p:cNvGrpSpPr>
            <a:grpSpLocks/>
          </p:cNvGrpSpPr>
          <p:nvPr/>
        </p:nvGrpSpPr>
        <p:grpSpPr bwMode="auto">
          <a:xfrm>
            <a:off x="7431835" y="4313237"/>
            <a:ext cx="679450" cy="314325"/>
            <a:chOff x="3600" y="219"/>
            <a:chExt cx="360" cy="175"/>
          </a:xfrm>
        </p:grpSpPr>
        <p:sp>
          <p:nvSpPr>
            <p:cNvPr id="576608" name="Oval 9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09" name="Line 9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10" name="Line 9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11" name="Rectangle 9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576612" name="Oval 10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22" name="Group 101"/>
            <p:cNvGrpSpPr>
              <a:grpSpLocks/>
            </p:cNvGrpSpPr>
            <p:nvPr/>
          </p:nvGrpSpPr>
          <p:grpSpPr bwMode="auto">
            <a:xfrm>
              <a:off x="3686" y="244"/>
              <a:ext cx="177" cy="66"/>
              <a:chOff x="2848" y="848"/>
              <a:chExt cx="140" cy="98"/>
            </a:xfrm>
          </p:grpSpPr>
          <p:sp>
            <p:nvSpPr>
              <p:cNvPr id="576614" name="Line 10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15" name="Line 10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16" name="Line 10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3" name="Group 105"/>
            <p:cNvGrpSpPr>
              <a:grpSpLocks/>
            </p:cNvGrpSpPr>
            <p:nvPr/>
          </p:nvGrpSpPr>
          <p:grpSpPr bwMode="auto">
            <a:xfrm flipV="1">
              <a:off x="3686" y="243"/>
              <a:ext cx="177" cy="66"/>
              <a:chOff x="2848" y="848"/>
              <a:chExt cx="140" cy="98"/>
            </a:xfrm>
          </p:grpSpPr>
          <p:sp>
            <p:nvSpPr>
              <p:cNvPr id="576618" name="Line 10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19" name="Line 10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20" name="Line 10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graphicFrame>
        <p:nvGraphicFramePr>
          <p:cNvPr id="576621" name="Object 109"/>
          <p:cNvGraphicFramePr>
            <a:graphicFrameLocks noChangeAspect="1"/>
          </p:cNvGraphicFramePr>
          <p:nvPr/>
        </p:nvGraphicFramePr>
        <p:xfrm>
          <a:off x="5398247" y="4816475"/>
          <a:ext cx="563563" cy="446087"/>
        </p:xfrm>
        <a:graphic>
          <a:graphicData uri="http://schemas.openxmlformats.org/presentationml/2006/ole">
            <mc:AlternateContent xmlns:mc="http://schemas.openxmlformats.org/markup-compatibility/2006">
              <mc:Choice xmlns:v="urn:schemas-microsoft-com:vml" Requires="v">
                <p:oleObj name="ClipArt" r:id="rId6" imgW="1307263" imgH="1084139" progId="">
                  <p:embed/>
                </p:oleObj>
              </mc:Choice>
              <mc:Fallback>
                <p:oleObj name="ClipArt" r:id="rId6" imgW="1307263" imgH="1084139" progId="">
                  <p:embed/>
                  <p:pic>
                    <p:nvPicPr>
                      <p:cNvPr id="576621" name="Object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8247" y="4816475"/>
                        <a:ext cx="563563" cy="446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6622" name="Line 110"/>
          <p:cNvSpPr>
            <a:spLocks noChangeShapeType="1"/>
          </p:cNvSpPr>
          <p:nvPr/>
        </p:nvSpPr>
        <p:spPr bwMode="auto">
          <a:xfrm>
            <a:off x="5942760" y="5145087"/>
            <a:ext cx="314325"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aphicFrame>
        <p:nvGraphicFramePr>
          <p:cNvPr id="576623" name="Object 111"/>
          <p:cNvGraphicFramePr>
            <a:graphicFrameLocks noChangeAspect="1"/>
          </p:cNvGraphicFramePr>
          <p:nvPr/>
        </p:nvGraphicFramePr>
        <p:xfrm>
          <a:off x="5607797" y="5614987"/>
          <a:ext cx="563563" cy="446088"/>
        </p:xfrm>
        <a:graphic>
          <a:graphicData uri="http://schemas.openxmlformats.org/presentationml/2006/ole">
            <mc:AlternateContent xmlns:mc="http://schemas.openxmlformats.org/markup-compatibility/2006">
              <mc:Choice xmlns:v="urn:schemas-microsoft-com:vml" Requires="v">
                <p:oleObj name="ClipArt" r:id="rId7" imgW="1307263" imgH="1084139" progId="">
                  <p:embed/>
                </p:oleObj>
              </mc:Choice>
              <mc:Fallback>
                <p:oleObj name="ClipArt" r:id="rId7" imgW="1307263" imgH="1084139" progId="">
                  <p:embed/>
                  <p:pic>
                    <p:nvPicPr>
                      <p:cNvPr id="576623" name="Object 1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7797" y="5614987"/>
                        <a:ext cx="563563" cy="446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6624" name="Line 112"/>
          <p:cNvSpPr>
            <a:spLocks noChangeShapeType="1"/>
          </p:cNvSpPr>
          <p:nvPr/>
        </p:nvSpPr>
        <p:spPr bwMode="auto">
          <a:xfrm flipV="1">
            <a:off x="6158660" y="5953125"/>
            <a:ext cx="98425" cy="3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24" name="Group 113"/>
          <p:cNvGrpSpPr>
            <a:grpSpLocks/>
          </p:cNvGrpSpPr>
          <p:nvPr/>
        </p:nvGrpSpPr>
        <p:grpSpPr bwMode="auto">
          <a:xfrm>
            <a:off x="5777660" y="5273675"/>
            <a:ext cx="96837" cy="300037"/>
            <a:chOff x="3842" y="406"/>
            <a:chExt cx="51" cy="167"/>
          </a:xfrm>
        </p:grpSpPr>
        <p:sp>
          <p:nvSpPr>
            <p:cNvPr id="576626" name="Oval 114"/>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27" name="Oval 115"/>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28" name="Oval 116"/>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sp>
        <p:nvSpPr>
          <p:cNvPr id="576629" name="Line 117"/>
          <p:cNvSpPr>
            <a:spLocks noChangeShapeType="1"/>
          </p:cNvSpPr>
          <p:nvPr/>
        </p:nvSpPr>
        <p:spPr bwMode="auto">
          <a:xfrm>
            <a:off x="6249147" y="5141912"/>
            <a:ext cx="0" cy="8096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30" name="Line 118"/>
          <p:cNvSpPr>
            <a:spLocks noChangeShapeType="1"/>
          </p:cNvSpPr>
          <p:nvPr/>
        </p:nvSpPr>
        <p:spPr bwMode="auto">
          <a:xfrm>
            <a:off x="6249147" y="5491162"/>
            <a:ext cx="187325" cy="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31" name="Line 119"/>
          <p:cNvSpPr>
            <a:spLocks noChangeShapeType="1"/>
          </p:cNvSpPr>
          <p:nvPr/>
        </p:nvSpPr>
        <p:spPr bwMode="auto">
          <a:xfrm flipH="1">
            <a:off x="7154022" y="4630737"/>
            <a:ext cx="636588" cy="8778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25" name="Group 120"/>
          <p:cNvGrpSpPr>
            <a:grpSpLocks/>
          </p:cNvGrpSpPr>
          <p:nvPr/>
        </p:nvGrpSpPr>
        <p:grpSpPr bwMode="auto">
          <a:xfrm rot="1433392">
            <a:off x="5696697" y="3379787"/>
            <a:ext cx="1028700" cy="171450"/>
            <a:chOff x="4712" y="1742"/>
            <a:chExt cx="648" cy="108"/>
          </a:xfrm>
        </p:grpSpPr>
        <p:sp>
          <p:nvSpPr>
            <p:cNvPr id="576633" name="Rectangle 121"/>
            <p:cNvSpPr>
              <a:spLocks noChangeArrowheads="1"/>
            </p:cNvSpPr>
            <p:nvPr/>
          </p:nvSpPr>
          <p:spPr bwMode="auto">
            <a:xfrm>
              <a:off x="4712" y="1742"/>
              <a:ext cx="648" cy="10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34" name="Rectangle 122"/>
            <p:cNvSpPr>
              <a:spLocks noChangeArrowheads="1"/>
            </p:cNvSpPr>
            <p:nvPr/>
          </p:nvSpPr>
          <p:spPr bwMode="auto">
            <a:xfrm>
              <a:off x="4712" y="1742"/>
              <a:ext cx="534"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6" name="Group 123"/>
          <p:cNvGrpSpPr>
            <a:grpSpLocks/>
          </p:cNvGrpSpPr>
          <p:nvPr/>
        </p:nvGrpSpPr>
        <p:grpSpPr bwMode="auto">
          <a:xfrm rot="3346875">
            <a:off x="6976222" y="3665538"/>
            <a:ext cx="447675" cy="171450"/>
            <a:chOff x="5078" y="1860"/>
            <a:chExt cx="282" cy="108"/>
          </a:xfrm>
        </p:grpSpPr>
        <p:sp>
          <p:nvSpPr>
            <p:cNvPr id="576636" name="Rectangle 124"/>
            <p:cNvSpPr>
              <a:spLocks noChangeArrowheads="1"/>
            </p:cNvSpPr>
            <p:nvPr/>
          </p:nvSpPr>
          <p:spPr bwMode="auto">
            <a:xfrm>
              <a:off x="5216" y="1860"/>
              <a:ext cx="144" cy="10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37" name="Rectangle 125"/>
            <p:cNvSpPr>
              <a:spLocks noChangeArrowheads="1"/>
            </p:cNvSpPr>
            <p:nvPr/>
          </p:nvSpPr>
          <p:spPr bwMode="auto">
            <a:xfrm>
              <a:off x="5078" y="1860"/>
              <a:ext cx="166"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7" name="Group 126"/>
          <p:cNvGrpSpPr>
            <a:grpSpLocks/>
          </p:cNvGrpSpPr>
          <p:nvPr/>
        </p:nvGrpSpPr>
        <p:grpSpPr bwMode="auto">
          <a:xfrm rot="3215306">
            <a:off x="7293722" y="3770313"/>
            <a:ext cx="447675" cy="171450"/>
            <a:chOff x="5078" y="1860"/>
            <a:chExt cx="282" cy="108"/>
          </a:xfrm>
        </p:grpSpPr>
        <p:sp>
          <p:nvSpPr>
            <p:cNvPr id="576639" name="Rectangle 127"/>
            <p:cNvSpPr>
              <a:spLocks noChangeArrowheads="1"/>
            </p:cNvSpPr>
            <p:nvPr/>
          </p:nvSpPr>
          <p:spPr bwMode="auto">
            <a:xfrm>
              <a:off x="5216" y="1860"/>
              <a:ext cx="144" cy="10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40" name="Rectangle 128"/>
            <p:cNvSpPr>
              <a:spLocks noChangeArrowheads="1"/>
            </p:cNvSpPr>
            <p:nvPr/>
          </p:nvSpPr>
          <p:spPr bwMode="auto">
            <a:xfrm>
              <a:off x="5078" y="1860"/>
              <a:ext cx="166"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28" name="Group 129"/>
          <p:cNvGrpSpPr>
            <a:grpSpLocks/>
          </p:cNvGrpSpPr>
          <p:nvPr/>
        </p:nvGrpSpPr>
        <p:grpSpPr bwMode="auto">
          <a:xfrm rot="3051000">
            <a:off x="7646147" y="3890963"/>
            <a:ext cx="447675" cy="171450"/>
            <a:chOff x="5078" y="1860"/>
            <a:chExt cx="282" cy="108"/>
          </a:xfrm>
        </p:grpSpPr>
        <p:sp>
          <p:nvSpPr>
            <p:cNvPr id="576642" name="Rectangle 130"/>
            <p:cNvSpPr>
              <a:spLocks noChangeArrowheads="1"/>
            </p:cNvSpPr>
            <p:nvPr/>
          </p:nvSpPr>
          <p:spPr bwMode="auto">
            <a:xfrm>
              <a:off x="5216" y="1860"/>
              <a:ext cx="144" cy="10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43" name="Rectangle 131"/>
            <p:cNvSpPr>
              <a:spLocks noChangeArrowheads="1"/>
            </p:cNvSpPr>
            <p:nvPr/>
          </p:nvSpPr>
          <p:spPr bwMode="auto">
            <a:xfrm>
              <a:off x="5078" y="1860"/>
              <a:ext cx="166"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sp>
        <p:nvSpPr>
          <p:cNvPr id="576644" name="Line 132"/>
          <p:cNvSpPr>
            <a:spLocks noChangeShapeType="1"/>
          </p:cNvSpPr>
          <p:nvPr/>
        </p:nvSpPr>
        <p:spPr bwMode="auto">
          <a:xfrm>
            <a:off x="6699997" y="3700462"/>
            <a:ext cx="219075" cy="698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45" name="Line 133"/>
          <p:cNvSpPr>
            <a:spLocks noChangeShapeType="1"/>
          </p:cNvSpPr>
          <p:nvPr/>
        </p:nvSpPr>
        <p:spPr bwMode="auto">
          <a:xfrm>
            <a:off x="7334997" y="3941762"/>
            <a:ext cx="133350" cy="177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46" name="Line 134"/>
          <p:cNvSpPr>
            <a:spLocks noChangeShapeType="1"/>
          </p:cNvSpPr>
          <p:nvPr/>
        </p:nvSpPr>
        <p:spPr bwMode="auto">
          <a:xfrm>
            <a:off x="7658847" y="4040187"/>
            <a:ext cx="117475" cy="177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47" name="Line 135"/>
          <p:cNvSpPr>
            <a:spLocks noChangeShapeType="1"/>
          </p:cNvSpPr>
          <p:nvPr/>
        </p:nvSpPr>
        <p:spPr bwMode="auto">
          <a:xfrm>
            <a:off x="8027147" y="4154487"/>
            <a:ext cx="101600" cy="1873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48" name="Text Box 136"/>
          <p:cNvSpPr txBox="1">
            <a:spLocks noChangeArrowheads="1"/>
          </p:cNvSpPr>
          <p:nvPr/>
        </p:nvSpPr>
        <p:spPr bwMode="auto">
          <a:xfrm>
            <a:off x="6053224" y="1124744"/>
            <a:ext cx="3293574"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de-DE" sz="1600"/>
              <a:t>Fragmentierung am Router: </a:t>
            </a:r>
          </a:p>
          <a:p>
            <a:r>
              <a:rPr lang="de-DE" sz="1600">
                <a:solidFill>
                  <a:schemeClr val="accent2"/>
                </a:solidFill>
              </a:rPr>
              <a:t>herein:</a:t>
            </a:r>
            <a:r>
              <a:rPr lang="de-DE" sz="1600"/>
              <a:t> 1 großes Datagramm</a:t>
            </a:r>
          </a:p>
          <a:p>
            <a:r>
              <a:rPr lang="de-DE" sz="1600">
                <a:solidFill>
                  <a:schemeClr val="accent2"/>
                </a:solidFill>
              </a:rPr>
              <a:t>heraus:</a:t>
            </a:r>
            <a:r>
              <a:rPr lang="de-DE" sz="1600"/>
              <a:t> 3 kleinere Datagramme</a:t>
            </a:r>
            <a:endParaRPr lang="de-DE"/>
          </a:p>
        </p:txBody>
      </p:sp>
      <p:grpSp>
        <p:nvGrpSpPr>
          <p:cNvPr id="29" name="Group 137"/>
          <p:cNvGrpSpPr>
            <a:grpSpLocks/>
          </p:cNvGrpSpPr>
          <p:nvPr/>
        </p:nvGrpSpPr>
        <p:grpSpPr bwMode="auto">
          <a:xfrm rot="-10773343">
            <a:off x="6303122" y="4776787"/>
            <a:ext cx="447675" cy="171450"/>
            <a:chOff x="5078" y="1860"/>
            <a:chExt cx="282" cy="108"/>
          </a:xfrm>
        </p:grpSpPr>
        <p:sp>
          <p:nvSpPr>
            <p:cNvPr id="576650" name="Rectangle 138"/>
            <p:cNvSpPr>
              <a:spLocks noChangeArrowheads="1"/>
            </p:cNvSpPr>
            <p:nvPr/>
          </p:nvSpPr>
          <p:spPr bwMode="auto">
            <a:xfrm>
              <a:off x="5216" y="1860"/>
              <a:ext cx="144" cy="10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51" name="Rectangle 139"/>
            <p:cNvSpPr>
              <a:spLocks noChangeArrowheads="1"/>
            </p:cNvSpPr>
            <p:nvPr/>
          </p:nvSpPr>
          <p:spPr bwMode="auto">
            <a:xfrm>
              <a:off x="5078" y="1860"/>
              <a:ext cx="166"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30" name="Group 140"/>
          <p:cNvGrpSpPr>
            <a:grpSpLocks/>
          </p:cNvGrpSpPr>
          <p:nvPr/>
        </p:nvGrpSpPr>
        <p:grpSpPr bwMode="auto">
          <a:xfrm rot="-10773343">
            <a:off x="6306297" y="4970462"/>
            <a:ext cx="447675" cy="171450"/>
            <a:chOff x="5078" y="1860"/>
            <a:chExt cx="282" cy="108"/>
          </a:xfrm>
        </p:grpSpPr>
        <p:sp>
          <p:nvSpPr>
            <p:cNvPr id="576653" name="Rectangle 141"/>
            <p:cNvSpPr>
              <a:spLocks noChangeArrowheads="1"/>
            </p:cNvSpPr>
            <p:nvPr/>
          </p:nvSpPr>
          <p:spPr bwMode="auto">
            <a:xfrm>
              <a:off x="5216" y="1860"/>
              <a:ext cx="144" cy="10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54" name="Rectangle 142"/>
            <p:cNvSpPr>
              <a:spLocks noChangeArrowheads="1"/>
            </p:cNvSpPr>
            <p:nvPr/>
          </p:nvSpPr>
          <p:spPr bwMode="auto">
            <a:xfrm>
              <a:off x="5078" y="1860"/>
              <a:ext cx="166"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31" name="Group 143"/>
          <p:cNvGrpSpPr>
            <a:grpSpLocks/>
          </p:cNvGrpSpPr>
          <p:nvPr/>
        </p:nvGrpSpPr>
        <p:grpSpPr bwMode="auto">
          <a:xfrm rot="-10773343">
            <a:off x="6309472" y="5164137"/>
            <a:ext cx="447675" cy="171450"/>
            <a:chOff x="5078" y="1860"/>
            <a:chExt cx="282" cy="108"/>
          </a:xfrm>
        </p:grpSpPr>
        <p:sp>
          <p:nvSpPr>
            <p:cNvPr id="576656" name="Rectangle 144"/>
            <p:cNvSpPr>
              <a:spLocks noChangeArrowheads="1"/>
            </p:cNvSpPr>
            <p:nvPr/>
          </p:nvSpPr>
          <p:spPr bwMode="auto">
            <a:xfrm>
              <a:off x="5216" y="1860"/>
              <a:ext cx="144" cy="10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57" name="Rectangle 145"/>
            <p:cNvSpPr>
              <a:spLocks noChangeArrowheads="1"/>
            </p:cNvSpPr>
            <p:nvPr/>
          </p:nvSpPr>
          <p:spPr bwMode="auto">
            <a:xfrm>
              <a:off x="5078" y="1860"/>
              <a:ext cx="166"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sp>
        <p:nvSpPr>
          <p:cNvPr id="576658" name="Line 146"/>
          <p:cNvSpPr>
            <a:spLocks noChangeShapeType="1"/>
          </p:cNvSpPr>
          <p:nvPr/>
        </p:nvSpPr>
        <p:spPr bwMode="auto">
          <a:xfrm rot="9691848">
            <a:off x="6058647" y="4833937"/>
            <a:ext cx="219075" cy="698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59" name="Line 147"/>
          <p:cNvSpPr>
            <a:spLocks noChangeShapeType="1"/>
          </p:cNvSpPr>
          <p:nvPr/>
        </p:nvSpPr>
        <p:spPr bwMode="auto">
          <a:xfrm rot="9691848">
            <a:off x="6049122" y="5008562"/>
            <a:ext cx="219075" cy="698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60" name="Line 148"/>
          <p:cNvSpPr>
            <a:spLocks noChangeShapeType="1"/>
          </p:cNvSpPr>
          <p:nvPr/>
        </p:nvSpPr>
        <p:spPr bwMode="auto">
          <a:xfrm rot="9691848">
            <a:off x="6052297" y="5214937"/>
            <a:ext cx="219075" cy="698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576579" name="Group 149"/>
          <p:cNvGrpSpPr>
            <a:grpSpLocks/>
          </p:cNvGrpSpPr>
          <p:nvPr/>
        </p:nvGrpSpPr>
        <p:grpSpPr bwMode="auto">
          <a:xfrm rot="10793026">
            <a:off x="4974385" y="4613275"/>
            <a:ext cx="1030287" cy="173037"/>
            <a:chOff x="4712" y="1742"/>
            <a:chExt cx="648" cy="108"/>
          </a:xfrm>
        </p:grpSpPr>
        <p:sp>
          <p:nvSpPr>
            <p:cNvPr id="576662" name="Rectangle 150"/>
            <p:cNvSpPr>
              <a:spLocks noChangeArrowheads="1"/>
            </p:cNvSpPr>
            <p:nvPr/>
          </p:nvSpPr>
          <p:spPr bwMode="auto">
            <a:xfrm>
              <a:off x="4712" y="1742"/>
              <a:ext cx="648" cy="10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63" name="Rectangle 151"/>
            <p:cNvSpPr>
              <a:spLocks noChangeArrowheads="1"/>
            </p:cNvSpPr>
            <p:nvPr/>
          </p:nvSpPr>
          <p:spPr bwMode="auto">
            <a:xfrm>
              <a:off x="4712" y="1742"/>
              <a:ext cx="534"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sp>
        <p:nvSpPr>
          <p:cNvPr id="576664" name="Line 152"/>
          <p:cNvSpPr>
            <a:spLocks noChangeShapeType="1"/>
          </p:cNvSpPr>
          <p:nvPr/>
        </p:nvSpPr>
        <p:spPr bwMode="auto">
          <a:xfrm rot="9691848">
            <a:off x="4725147" y="4656137"/>
            <a:ext cx="219075" cy="698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76665" name="Text Box 153"/>
          <p:cNvSpPr txBox="1">
            <a:spLocks noChangeArrowheads="1"/>
          </p:cNvSpPr>
          <p:nvPr/>
        </p:nvSpPr>
        <p:spPr bwMode="auto">
          <a:xfrm>
            <a:off x="4662276" y="3869750"/>
            <a:ext cx="2273379"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dirty="0"/>
              <a:t>Zusammensetzen</a:t>
            </a:r>
          </a:p>
          <a:p>
            <a:r>
              <a:rPr lang="de-DE" sz="1600" dirty="0"/>
              <a:t>(</a:t>
            </a:r>
            <a:r>
              <a:rPr lang="de-DE" sz="1600" b="1" dirty="0">
                <a:solidFill>
                  <a:srgbClr val="FF0000"/>
                </a:solidFill>
              </a:rPr>
              <a:t>reassembly</a:t>
            </a:r>
            <a:r>
              <a:rPr lang="de-DE" sz="1600" dirty="0"/>
              <a:t>) am Host</a:t>
            </a:r>
            <a:endParaRPr lang="de-DE" dirty="0"/>
          </a:p>
        </p:txBody>
      </p:sp>
      <p:cxnSp>
        <p:nvCxnSpPr>
          <p:cNvPr id="3" name="Straight Arrow Connector 2"/>
          <p:cNvCxnSpPr>
            <a:stCxn id="576648" idx="2"/>
            <a:endCxn id="576584" idx="7"/>
          </p:cNvCxnSpPr>
          <p:nvPr/>
        </p:nvCxnSpPr>
        <p:spPr>
          <a:xfrm flipH="1">
            <a:off x="7244949" y="1955741"/>
            <a:ext cx="455062" cy="1406144"/>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a:stCxn id="576665" idx="2"/>
          </p:cNvCxnSpPr>
          <p:nvPr/>
        </p:nvCxnSpPr>
        <p:spPr>
          <a:xfrm>
            <a:off x="5798966" y="4454525"/>
            <a:ext cx="330219" cy="304365"/>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8081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Fragmentierung von Datagrammen</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7</a:t>
            </a:fld>
            <a:endParaRPr lang="en-US" noProof="0" dirty="0"/>
          </a:p>
        </p:txBody>
      </p:sp>
      <p:sp>
        <p:nvSpPr>
          <p:cNvPr id="4" name="Content Placeholder 3"/>
          <p:cNvSpPr>
            <a:spLocks noGrp="1"/>
          </p:cNvSpPr>
          <p:nvPr>
            <p:ph sz="quarter" idx="1"/>
          </p:nvPr>
        </p:nvSpPr>
        <p:spPr>
          <a:xfrm>
            <a:off x="457200" y="1219200"/>
            <a:ext cx="8363272" cy="3937992"/>
          </a:xfrm>
        </p:spPr>
        <p:txBody>
          <a:bodyPr>
            <a:normAutofit fontScale="92500"/>
          </a:bodyPr>
          <a:lstStyle/>
          <a:p>
            <a:r>
              <a:rPr lang="de-DE" dirty="0"/>
              <a:t>Drei Felder im Header</a:t>
            </a:r>
          </a:p>
          <a:p>
            <a:pPr lvl="1"/>
            <a:r>
              <a:rPr lang="de-DE" b="1" dirty="0">
                <a:solidFill>
                  <a:srgbClr val="FF0000"/>
                </a:solidFill>
              </a:rPr>
              <a:t>Identifikation </a:t>
            </a:r>
            <a:r>
              <a:rPr lang="de-DE" dirty="0"/>
              <a:t>(16 Bits) x: Alle IP-Pakete mit dem gleichem Wert von x sind Fragmente eines „großen“ Paketes</a:t>
            </a:r>
          </a:p>
          <a:p>
            <a:pPr lvl="1"/>
            <a:r>
              <a:rPr lang="de-DE" b="1" dirty="0">
                <a:solidFill>
                  <a:srgbClr val="FF0000"/>
                </a:solidFill>
              </a:rPr>
              <a:t>Flags </a:t>
            </a:r>
            <a:r>
              <a:rPr lang="de-DE" dirty="0"/>
              <a:t>(3 Bits): </a:t>
            </a:r>
            <a:r>
              <a:rPr lang="de-DE" u="sng" dirty="0"/>
              <a:t>Bit 0</a:t>
            </a:r>
            <a:r>
              <a:rPr lang="de-DE" dirty="0"/>
              <a:t>: reserviert; </a:t>
            </a:r>
            <a:r>
              <a:rPr lang="de-DE" u="sng" dirty="0"/>
              <a:t>Bit 1</a:t>
            </a:r>
            <a:r>
              <a:rPr lang="de-DE" dirty="0"/>
              <a:t>: darf (0) bzw. darf nicht (1) zerlegt werden; </a:t>
            </a:r>
            <a:r>
              <a:rPr lang="de-DE" u="sng" dirty="0"/>
              <a:t>Bit 2</a:t>
            </a:r>
            <a:r>
              <a:rPr lang="de-DE" dirty="0"/>
              <a:t> („</a:t>
            </a:r>
            <a:r>
              <a:rPr lang="de-DE" u="sng" dirty="0"/>
              <a:t>more fragments</a:t>
            </a:r>
            <a:r>
              <a:rPr lang="de-DE" dirty="0"/>
              <a:t>“): letztes Fragment (0) bzw. weitere Fragmente folgen (1)</a:t>
            </a:r>
          </a:p>
          <a:p>
            <a:pPr lvl="1"/>
            <a:r>
              <a:rPr lang="de-DE" b="1" dirty="0">
                <a:solidFill>
                  <a:srgbClr val="FF0000"/>
                </a:solidFill>
              </a:rPr>
              <a:t>Fragment Offset</a:t>
            </a:r>
            <a:r>
              <a:rPr lang="de-DE" dirty="0"/>
              <a:t> (13 Bits): </a:t>
            </a:r>
            <a:r>
              <a:rPr lang="de-DE" sz="2400" dirty="0">
                <a:solidFill>
                  <a:schemeClr val="tx1"/>
                </a:solidFill>
              </a:rPr>
              <a:t>Besagt, ab welcher Position im großen Paket das Fragment anfängt, in „</a:t>
            </a:r>
            <a:r>
              <a:rPr lang="de-DE" sz="2400" u="sng" dirty="0">
                <a:solidFill>
                  <a:schemeClr val="tx1"/>
                </a:solidFill>
              </a:rPr>
              <a:t>8 Bytes</a:t>
            </a:r>
            <a:r>
              <a:rPr lang="de-DE" sz="2400" dirty="0">
                <a:solidFill>
                  <a:schemeClr val="tx1"/>
                </a:solidFill>
              </a:rPr>
              <a:t>“-Einheit </a:t>
            </a:r>
            <a:endParaRPr lang="de-DE" dirty="0"/>
          </a:p>
          <a:p>
            <a:r>
              <a:rPr lang="de-DE" dirty="0"/>
              <a:t>Z.B. Datagramm mit ca. 3 </a:t>
            </a:r>
            <a:r>
              <a:rPr lang="de-DE" dirty="0" err="1"/>
              <a:t>kBytes</a:t>
            </a:r>
            <a:r>
              <a:rPr lang="de-DE" dirty="0"/>
              <a:t> wird an einem Router mit MTU = 1200 Bytes zerlegt</a:t>
            </a:r>
          </a:p>
          <a:p>
            <a:pPr lvl="1"/>
            <a:endParaRPr lang="de-DE" dirty="0"/>
          </a:p>
        </p:txBody>
      </p:sp>
      <p:graphicFrame>
        <p:nvGraphicFramePr>
          <p:cNvPr id="5" name="Table 4"/>
          <p:cNvGraphicFramePr>
            <a:graphicFrameLocks noGrp="1"/>
          </p:cNvGraphicFramePr>
          <p:nvPr/>
        </p:nvGraphicFramePr>
        <p:xfrm>
          <a:off x="683568" y="5013176"/>
          <a:ext cx="7920879" cy="148336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gridCol w="1440160">
                  <a:extLst>
                    <a:ext uri="{9D8B030D-6E8A-4147-A177-3AD203B41FA5}">
                      <a16:colId xmlns:a16="http://schemas.microsoft.com/office/drawing/2014/main" val="20003"/>
                    </a:ext>
                  </a:extLst>
                </a:gridCol>
                <a:gridCol w="2592287">
                  <a:extLst>
                    <a:ext uri="{9D8B030D-6E8A-4147-A177-3AD203B41FA5}">
                      <a16:colId xmlns:a16="http://schemas.microsoft.com/office/drawing/2014/main" val="20004"/>
                    </a:ext>
                  </a:extLst>
                </a:gridCol>
              </a:tblGrid>
              <a:tr h="370840">
                <a:tc>
                  <a:txBody>
                    <a:bodyPr/>
                    <a:lstStyle/>
                    <a:p>
                      <a:r>
                        <a:rPr lang="de-DE" dirty="0"/>
                        <a:t>Fragment#</a:t>
                      </a:r>
                    </a:p>
                  </a:txBody>
                  <a:tcPr/>
                </a:tc>
                <a:tc>
                  <a:txBody>
                    <a:bodyPr/>
                    <a:lstStyle/>
                    <a:p>
                      <a:r>
                        <a:rPr lang="de-DE" dirty="0"/>
                        <a:t>Länge</a:t>
                      </a:r>
                    </a:p>
                  </a:txBody>
                  <a:tcPr/>
                </a:tc>
                <a:tc>
                  <a:txBody>
                    <a:bodyPr/>
                    <a:lstStyle/>
                    <a:p>
                      <a:r>
                        <a:rPr lang="de-DE" dirty="0"/>
                        <a:t>ID</a:t>
                      </a:r>
                    </a:p>
                  </a:txBody>
                  <a:tcPr/>
                </a:tc>
                <a:tc>
                  <a:txBody>
                    <a:bodyPr/>
                    <a:lstStyle/>
                    <a:p>
                      <a:r>
                        <a:rPr lang="de-DE" dirty="0"/>
                        <a:t>Flags-Bit</a:t>
                      </a:r>
                      <a:r>
                        <a:rPr lang="de-DE" baseline="0" dirty="0"/>
                        <a:t> 2</a:t>
                      </a:r>
                      <a:endParaRPr lang="de-DE" dirty="0"/>
                    </a:p>
                  </a:txBody>
                  <a:tcPr/>
                </a:tc>
                <a:tc>
                  <a:txBody>
                    <a:bodyPr/>
                    <a:lstStyle/>
                    <a:p>
                      <a:r>
                        <a:rPr lang="de-DE" dirty="0"/>
                        <a:t>Offset</a:t>
                      </a:r>
                    </a:p>
                  </a:txBody>
                  <a:tcPr/>
                </a:tc>
                <a:extLst>
                  <a:ext uri="{0D108BD9-81ED-4DB2-BD59-A6C34878D82A}">
                    <a16:rowId xmlns:a16="http://schemas.microsoft.com/office/drawing/2014/main" val="10000"/>
                  </a:ext>
                </a:extLst>
              </a:tr>
              <a:tr h="370840">
                <a:tc>
                  <a:txBody>
                    <a:bodyPr/>
                    <a:lstStyle/>
                    <a:p>
                      <a:r>
                        <a:rPr lang="de-DE" dirty="0"/>
                        <a:t>1</a:t>
                      </a:r>
                    </a:p>
                  </a:txBody>
                  <a:tcPr/>
                </a:tc>
                <a:tc>
                  <a:txBody>
                    <a:bodyPr/>
                    <a:lstStyle/>
                    <a:p>
                      <a:r>
                        <a:rPr lang="de-DE" dirty="0"/>
                        <a:t>960 Bytes</a:t>
                      </a:r>
                    </a:p>
                  </a:txBody>
                  <a:tcPr/>
                </a:tc>
                <a:tc>
                  <a:txBody>
                    <a:bodyPr/>
                    <a:lstStyle/>
                    <a:p>
                      <a:r>
                        <a:rPr lang="de-DE" dirty="0"/>
                        <a:t>z.B. 999</a:t>
                      </a:r>
                    </a:p>
                  </a:txBody>
                  <a:tcPr/>
                </a:tc>
                <a:tc>
                  <a:txBody>
                    <a:bodyPr/>
                    <a:lstStyle/>
                    <a:p>
                      <a:r>
                        <a:rPr lang="de-DE" dirty="0"/>
                        <a:t>1</a:t>
                      </a:r>
                    </a:p>
                  </a:txBody>
                  <a:tcPr/>
                </a:tc>
                <a:tc>
                  <a:txBody>
                    <a:bodyPr/>
                    <a:lstStyle/>
                    <a:p>
                      <a:r>
                        <a:rPr lang="de-DE" dirty="0"/>
                        <a:t>0</a:t>
                      </a:r>
                    </a:p>
                  </a:txBody>
                  <a:tcPr/>
                </a:tc>
                <a:extLst>
                  <a:ext uri="{0D108BD9-81ED-4DB2-BD59-A6C34878D82A}">
                    <a16:rowId xmlns:a16="http://schemas.microsoft.com/office/drawing/2014/main" val="10001"/>
                  </a:ext>
                </a:extLst>
              </a:tr>
              <a:tr h="370840">
                <a:tc>
                  <a:txBody>
                    <a:bodyPr/>
                    <a:lstStyle/>
                    <a:p>
                      <a:r>
                        <a:rPr lang="de-DE"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a:t>960 Bytes</a:t>
                      </a:r>
                    </a:p>
                  </a:txBody>
                  <a:tcPr/>
                </a:tc>
                <a:tc>
                  <a:txBody>
                    <a:bodyPr/>
                    <a:lstStyle/>
                    <a:p>
                      <a:r>
                        <a:rPr lang="de-DE" dirty="0"/>
                        <a:t>z.B. 999</a:t>
                      </a:r>
                    </a:p>
                  </a:txBody>
                  <a:tcPr/>
                </a:tc>
                <a:tc>
                  <a:txBody>
                    <a:bodyPr/>
                    <a:lstStyle/>
                    <a:p>
                      <a:r>
                        <a:rPr lang="de-DE" dirty="0"/>
                        <a:t>?</a:t>
                      </a:r>
                    </a:p>
                  </a:txBody>
                  <a:tcPr/>
                </a:tc>
                <a:tc>
                  <a:txBody>
                    <a:bodyPr/>
                    <a:lstStyle/>
                    <a:p>
                      <a:r>
                        <a:rPr lang="de-DE" dirty="0"/>
                        <a:t>?</a:t>
                      </a:r>
                    </a:p>
                  </a:txBody>
                  <a:tcPr/>
                </a:tc>
                <a:extLst>
                  <a:ext uri="{0D108BD9-81ED-4DB2-BD59-A6C34878D82A}">
                    <a16:rowId xmlns:a16="http://schemas.microsoft.com/office/drawing/2014/main" val="10002"/>
                  </a:ext>
                </a:extLst>
              </a:tr>
              <a:tr h="370840">
                <a:tc>
                  <a:txBody>
                    <a:bodyPr/>
                    <a:lstStyle/>
                    <a:p>
                      <a:r>
                        <a:rPr lang="de-DE" dirty="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a:t>1020 Bytes</a:t>
                      </a:r>
                    </a:p>
                  </a:txBody>
                  <a:tcPr/>
                </a:tc>
                <a:tc>
                  <a:txBody>
                    <a:bodyPr/>
                    <a:lstStyle/>
                    <a:p>
                      <a:r>
                        <a:rPr lang="de-DE" dirty="0"/>
                        <a:t>z.B. 999</a:t>
                      </a:r>
                    </a:p>
                  </a:txBody>
                  <a:tcPr/>
                </a:tc>
                <a:tc>
                  <a:txBody>
                    <a:bodyPr/>
                    <a:lstStyle/>
                    <a:p>
                      <a:r>
                        <a:rPr lang="de-DE" dirty="0"/>
                        <a:t>?</a:t>
                      </a:r>
                    </a:p>
                  </a:txBody>
                  <a:tcPr/>
                </a:tc>
                <a:tc>
                  <a:txBody>
                    <a:bodyPr/>
                    <a:lstStyle/>
                    <a:p>
                      <a:r>
                        <a:rPr lang="de-DE" dirty="0"/>
                        <a:t>?</a:t>
                      </a:r>
                    </a:p>
                  </a:txBody>
                  <a:tcPr/>
                </a:tc>
                <a:extLst>
                  <a:ext uri="{0D108BD9-81ED-4DB2-BD59-A6C34878D82A}">
                    <a16:rowId xmlns:a16="http://schemas.microsoft.com/office/drawing/2014/main" val="10003"/>
                  </a:ext>
                </a:extLst>
              </a:tr>
            </a:tbl>
          </a:graphicData>
        </a:graphic>
      </p:graphicFrame>
      <p:graphicFrame>
        <p:nvGraphicFramePr>
          <p:cNvPr id="6" name="Table 4"/>
          <p:cNvGraphicFramePr>
            <a:graphicFrameLocks noGrp="1"/>
          </p:cNvGraphicFramePr>
          <p:nvPr/>
        </p:nvGraphicFramePr>
        <p:xfrm>
          <a:off x="683568" y="5760966"/>
          <a:ext cx="7920879" cy="741680"/>
        </p:xfrm>
        <a:graphic>
          <a:graphicData uri="http://schemas.openxmlformats.org/drawingml/2006/table">
            <a:tbl>
              <a:tblPr firstRow="1" bandRow="1">
                <a:tableStyleId>{68D230F3-CF80-4859-8CE7-A43EE81993B5}</a:tableStyleId>
              </a:tblPr>
              <a:tblGrid>
                <a:gridCol w="1368152">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gridCol w="1440160">
                  <a:extLst>
                    <a:ext uri="{9D8B030D-6E8A-4147-A177-3AD203B41FA5}">
                      <a16:colId xmlns:a16="http://schemas.microsoft.com/office/drawing/2014/main" val="20003"/>
                    </a:ext>
                  </a:extLst>
                </a:gridCol>
                <a:gridCol w="2592287">
                  <a:extLst>
                    <a:ext uri="{9D8B030D-6E8A-4147-A177-3AD203B41FA5}">
                      <a16:colId xmlns:a16="http://schemas.microsoft.com/office/drawing/2014/main" val="20004"/>
                    </a:ext>
                  </a:extLst>
                </a:gridCol>
              </a:tblGrid>
              <a:tr h="370840">
                <a:tc>
                  <a:txBody>
                    <a:bodyPr/>
                    <a:lstStyle/>
                    <a:p>
                      <a:r>
                        <a:rPr lang="de-DE" dirty="0"/>
                        <a:t>2</a:t>
                      </a:r>
                    </a:p>
                  </a:txBody>
                  <a:tcP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a:t>960 Bytes</a:t>
                      </a:r>
                    </a:p>
                  </a:txBody>
                  <a:tcPr>
                    <a:solidFill>
                      <a:schemeClr val="bg1"/>
                    </a:solidFill>
                  </a:tcPr>
                </a:tc>
                <a:tc>
                  <a:txBody>
                    <a:bodyPr/>
                    <a:lstStyle/>
                    <a:p>
                      <a:r>
                        <a:rPr lang="de-DE" dirty="0"/>
                        <a:t>z.B. 999</a:t>
                      </a:r>
                    </a:p>
                  </a:txBody>
                  <a:tcPr>
                    <a:solidFill>
                      <a:schemeClr val="bg1"/>
                    </a:solidFill>
                  </a:tcPr>
                </a:tc>
                <a:tc>
                  <a:txBody>
                    <a:bodyPr/>
                    <a:lstStyle/>
                    <a:p>
                      <a:r>
                        <a:rPr lang="de-DE" dirty="0"/>
                        <a:t>1</a:t>
                      </a:r>
                    </a:p>
                  </a:txBody>
                  <a:tcPr>
                    <a:solidFill>
                      <a:schemeClr val="bg1"/>
                    </a:solidFill>
                  </a:tcPr>
                </a:tc>
                <a:tc>
                  <a:txBody>
                    <a:bodyPr/>
                    <a:lstStyle/>
                    <a:p>
                      <a:r>
                        <a:rPr lang="de-DE" dirty="0"/>
                        <a:t>120 (da 120*8 = 960)</a:t>
                      </a:r>
                    </a:p>
                  </a:txBody>
                  <a:tcPr>
                    <a:solidFill>
                      <a:schemeClr val="bg1"/>
                    </a:solidFill>
                  </a:tcPr>
                </a:tc>
                <a:extLst>
                  <a:ext uri="{0D108BD9-81ED-4DB2-BD59-A6C34878D82A}">
                    <a16:rowId xmlns:a16="http://schemas.microsoft.com/office/drawing/2014/main" val="10000"/>
                  </a:ext>
                </a:extLst>
              </a:tr>
              <a:tr h="370840">
                <a:tc>
                  <a:txBody>
                    <a:bodyPr/>
                    <a:lstStyle/>
                    <a:p>
                      <a:r>
                        <a:rPr lang="de-DE" dirty="0"/>
                        <a:t>3</a:t>
                      </a:r>
                    </a:p>
                  </a:txBody>
                  <a:tcP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a:t>1020 Bytes</a:t>
                      </a:r>
                    </a:p>
                  </a:txBody>
                  <a:tcPr>
                    <a:solidFill>
                      <a:schemeClr val="bg1"/>
                    </a:solidFill>
                  </a:tcPr>
                </a:tc>
                <a:tc>
                  <a:txBody>
                    <a:bodyPr/>
                    <a:lstStyle/>
                    <a:p>
                      <a:r>
                        <a:rPr lang="de-DE" dirty="0"/>
                        <a:t>z.B. 999</a:t>
                      </a:r>
                    </a:p>
                  </a:txBody>
                  <a:tcPr>
                    <a:solidFill>
                      <a:schemeClr val="bg1"/>
                    </a:solidFill>
                  </a:tcPr>
                </a:tc>
                <a:tc>
                  <a:txBody>
                    <a:bodyPr/>
                    <a:lstStyle/>
                    <a:p>
                      <a:r>
                        <a:rPr lang="de-DE" dirty="0"/>
                        <a:t>0</a:t>
                      </a:r>
                    </a:p>
                  </a:txBody>
                  <a:tcPr>
                    <a:solidFill>
                      <a:schemeClr val="bg1"/>
                    </a:solidFill>
                  </a:tcPr>
                </a:tc>
                <a:tc>
                  <a:txBody>
                    <a:bodyPr/>
                    <a:lstStyle/>
                    <a:p>
                      <a:r>
                        <a:rPr lang="de-DE" dirty="0"/>
                        <a:t>240 (da 240*8</a:t>
                      </a:r>
                      <a:r>
                        <a:rPr lang="de-DE" baseline="0" dirty="0"/>
                        <a:t> = 2*960)</a:t>
                      </a:r>
                      <a:endParaRPr lang="de-DE" dirty="0"/>
                    </a:p>
                  </a:txBody>
                  <a:tcPr>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57429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8</a:t>
            </a:fld>
            <a:endParaRPr lang="de-DE" dirty="0"/>
          </a:p>
        </p:txBody>
      </p:sp>
      <p:sp>
        <p:nvSpPr>
          <p:cNvPr id="3" name="Titel 2"/>
          <p:cNvSpPr>
            <a:spLocks noGrp="1"/>
          </p:cNvSpPr>
          <p:nvPr>
            <p:ph type="title"/>
          </p:nvPr>
        </p:nvSpPr>
        <p:spPr>
          <a:xfrm>
            <a:off x="971600" y="2348880"/>
            <a:ext cx="7200800" cy="2376264"/>
          </a:xfrm>
        </p:spPr>
        <p:txBody>
          <a:bodyPr>
            <a:normAutofit/>
          </a:bodyPr>
          <a:lstStyle/>
          <a:p>
            <a:r>
              <a:rPr lang="de-DE" dirty="0"/>
              <a:t>Das Internetprotokoll (IP):</a:t>
            </a:r>
            <a:br>
              <a:rPr lang="de-DE" dirty="0"/>
            </a:br>
            <a:r>
              <a:rPr lang="de-DE" dirty="0"/>
              <a:t>IP Adressen</a:t>
            </a:r>
          </a:p>
        </p:txBody>
      </p:sp>
    </p:spTree>
    <p:extLst>
      <p:ext uri="{BB962C8B-B14F-4D97-AF65-F5344CB8AC3E}">
        <p14:creationId xmlns:p14="http://schemas.microsoft.com/office/powerpoint/2010/main" val="4085149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normAutofit/>
          </a:bodyPr>
          <a:lstStyle/>
          <a:p>
            <a:r>
              <a:rPr lang="de-DE" sz="3600" dirty="0"/>
              <a:t>Interfaces und IP-Addressen</a:t>
            </a:r>
            <a:endParaRPr lang="de-DE" dirty="0"/>
          </a:p>
        </p:txBody>
      </p:sp>
      <p:sp>
        <p:nvSpPr>
          <p:cNvPr id="70" name="Slide Number Placeholder 6"/>
          <p:cNvSpPr>
            <a:spLocks noGrp="1"/>
          </p:cNvSpPr>
          <p:nvPr>
            <p:ph type="sldNum" sz="quarter" idx="12"/>
          </p:nvPr>
        </p:nvSpPr>
        <p:spPr/>
        <p:txBody>
          <a:bodyPr/>
          <a:lstStyle/>
          <a:p>
            <a:fld id="{882DE5B0-0B60-4443-B2DC-791A1E1793F9}" type="slidenum">
              <a:rPr lang="de-DE" smtClean="0"/>
              <a:pPr/>
              <a:t>9</a:t>
            </a:fld>
            <a:endParaRPr lang="de-DE"/>
          </a:p>
        </p:txBody>
      </p:sp>
      <p:sp>
        <p:nvSpPr>
          <p:cNvPr id="162819" name="Rectangle 3"/>
          <p:cNvSpPr>
            <a:spLocks noGrp="1" noChangeArrowheads="1"/>
          </p:cNvSpPr>
          <p:nvPr>
            <p:ph sz="quarter" idx="1"/>
          </p:nvPr>
        </p:nvSpPr>
        <p:spPr>
          <a:xfrm>
            <a:off x="457199" y="1219200"/>
            <a:ext cx="4019551" cy="5638800"/>
          </a:xfrm>
        </p:spPr>
        <p:txBody>
          <a:bodyPr>
            <a:normAutofit fontScale="92500"/>
          </a:bodyPr>
          <a:lstStyle/>
          <a:p>
            <a:r>
              <a:rPr lang="de-DE" b="1" dirty="0">
                <a:solidFill>
                  <a:srgbClr val="FF0000"/>
                </a:solidFill>
              </a:rPr>
              <a:t>Interface </a:t>
            </a:r>
            <a:r>
              <a:rPr lang="de-DE" dirty="0">
                <a:solidFill>
                  <a:srgbClr val="000000"/>
                </a:solidFill>
              </a:rPr>
              <a:t>(</a:t>
            </a:r>
            <a:r>
              <a:rPr lang="de-DE" b="1" dirty="0">
                <a:solidFill>
                  <a:srgbClr val="FF0000"/>
                </a:solidFill>
              </a:rPr>
              <a:t>Schnittstelle</a:t>
            </a:r>
            <a:r>
              <a:rPr lang="de-DE" dirty="0">
                <a:solidFill>
                  <a:srgbClr val="000000"/>
                </a:solidFill>
              </a:rPr>
              <a:t>)</a:t>
            </a:r>
            <a:r>
              <a:rPr lang="de-DE" dirty="0"/>
              <a:t>: Verbindung zwischen Host / Router und einer physischen Leitung </a:t>
            </a:r>
          </a:p>
          <a:p>
            <a:pPr lvl="1"/>
            <a:r>
              <a:rPr lang="de-DE" sz="2200" dirty="0"/>
              <a:t>Router haben i.A. </a:t>
            </a:r>
            <a:r>
              <a:rPr lang="de-DE" sz="2200" u="sng" dirty="0"/>
              <a:t>mehrere</a:t>
            </a:r>
            <a:r>
              <a:rPr lang="de-DE" sz="2200" dirty="0"/>
              <a:t> Interfaces </a:t>
            </a:r>
          </a:p>
          <a:p>
            <a:pPr lvl="1"/>
            <a:r>
              <a:rPr lang="de-DE" sz="2200" dirty="0"/>
              <a:t>Hosts haben i.A. nur ein Interface: Netzwerkkarte</a:t>
            </a:r>
          </a:p>
          <a:p>
            <a:r>
              <a:rPr lang="de-DE" b="1" dirty="0">
                <a:solidFill>
                  <a:srgbClr val="FF0000"/>
                </a:solidFill>
              </a:rPr>
              <a:t>IP-Adresse</a:t>
            </a:r>
            <a:r>
              <a:rPr lang="de-DE" dirty="0">
                <a:solidFill>
                  <a:schemeClr val="accent2"/>
                </a:solidFill>
              </a:rPr>
              <a:t>:</a:t>
            </a:r>
            <a:r>
              <a:rPr lang="de-DE" dirty="0"/>
              <a:t> eine 32-bit Identifikation für das </a:t>
            </a:r>
            <a:r>
              <a:rPr lang="de-DE" dirty="0">
                <a:solidFill>
                  <a:srgbClr val="0070C0"/>
                </a:solidFill>
              </a:rPr>
              <a:t>Interface</a:t>
            </a:r>
            <a:r>
              <a:rPr lang="de-DE" b="1" dirty="0">
                <a:solidFill>
                  <a:srgbClr val="FF0000"/>
                </a:solidFill>
              </a:rPr>
              <a:t> </a:t>
            </a:r>
            <a:r>
              <a:rPr lang="de-DE" dirty="0"/>
              <a:t>eines Hosts oder Routers </a:t>
            </a:r>
          </a:p>
          <a:p>
            <a:r>
              <a:rPr lang="de-DE" dirty="0"/>
              <a:t>Jedes Interface hat eine oder mehrere sog. IP-Adressen</a:t>
            </a:r>
          </a:p>
        </p:txBody>
      </p:sp>
      <p:graphicFrame>
        <p:nvGraphicFramePr>
          <p:cNvPr id="162820" name="Object 4"/>
          <p:cNvGraphicFramePr>
            <a:graphicFrameLocks noChangeAspect="1"/>
          </p:cNvGraphicFramePr>
          <p:nvPr/>
        </p:nvGraphicFramePr>
        <p:xfrm>
          <a:off x="4456113" y="1265238"/>
          <a:ext cx="584200" cy="463550"/>
        </p:xfrm>
        <a:graphic>
          <a:graphicData uri="http://schemas.openxmlformats.org/presentationml/2006/ole">
            <mc:AlternateContent xmlns:mc="http://schemas.openxmlformats.org/markup-compatibility/2006">
              <mc:Choice xmlns:v="urn:schemas-microsoft-com:vml" Requires="v">
                <p:oleObj name="Clip" r:id="rId2" imgW="1307263" imgH="1084139" progId="">
                  <p:embed/>
                </p:oleObj>
              </mc:Choice>
              <mc:Fallback>
                <p:oleObj name="Clip" r:id="rId2" imgW="1307263" imgH="1084139" progId="">
                  <p:embed/>
                  <p:pic>
                    <p:nvPicPr>
                      <p:cNvPr id="16282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6113" y="1265238"/>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2821" name="Line 5"/>
          <p:cNvSpPr>
            <a:spLocks noChangeShapeType="1"/>
          </p:cNvSpPr>
          <p:nvPr/>
        </p:nvSpPr>
        <p:spPr bwMode="auto">
          <a:xfrm>
            <a:off x="5016500" y="1638300"/>
            <a:ext cx="277813"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22" name="Line 6"/>
          <p:cNvSpPr>
            <a:spLocks noChangeShapeType="1"/>
          </p:cNvSpPr>
          <p:nvPr/>
        </p:nvSpPr>
        <p:spPr bwMode="auto">
          <a:xfrm flipH="1">
            <a:off x="5307013" y="1624013"/>
            <a:ext cx="0" cy="12906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23" name="Line 7"/>
          <p:cNvSpPr>
            <a:spLocks noChangeShapeType="1"/>
          </p:cNvSpPr>
          <p:nvPr/>
        </p:nvSpPr>
        <p:spPr bwMode="auto">
          <a:xfrm flipV="1">
            <a:off x="5016500" y="2282825"/>
            <a:ext cx="277813" cy="3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24" name="Line 8"/>
          <p:cNvSpPr>
            <a:spLocks noChangeShapeType="1"/>
          </p:cNvSpPr>
          <p:nvPr/>
        </p:nvSpPr>
        <p:spPr bwMode="auto">
          <a:xfrm>
            <a:off x="5026025" y="2909888"/>
            <a:ext cx="273050"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aphicFrame>
        <p:nvGraphicFramePr>
          <p:cNvPr id="162825" name="Object 9"/>
          <p:cNvGraphicFramePr>
            <a:graphicFrameLocks noChangeAspect="1"/>
          </p:cNvGraphicFramePr>
          <p:nvPr/>
        </p:nvGraphicFramePr>
        <p:xfrm>
          <a:off x="4456113" y="1931988"/>
          <a:ext cx="584200" cy="463550"/>
        </p:xfrm>
        <a:graphic>
          <a:graphicData uri="http://schemas.openxmlformats.org/presentationml/2006/ole">
            <mc:AlternateContent xmlns:mc="http://schemas.openxmlformats.org/markup-compatibility/2006">
              <mc:Choice xmlns:v="urn:schemas-microsoft-com:vml" Requires="v">
                <p:oleObj name="Clip" r:id="rId4" imgW="1307263" imgH="1084139" progId="">
                  <p:embed/>
                </p:oleObj>
              </mc:Choice>
              <mc:Fallback>
                <p:oleObj name="Clip" r:id="rId4" imgW="1307263" imgH="1084139" progId="">
                  <p:embed/>
                  <p:pic>
                    <p:nvPicPr>
                      <p:cNvPr id="162825"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6113" y="1931988"/>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2826" name="Object 10"/>
          <p:cNvGraphicFramePr>
            <a:graphicFrameLocks noChangeAspect="1"/>
          </p:cNvGraphicFramePr>
          <p:nvPr/>
        </p:nvGraphicFramePr>
        <p:xfrm>
          <a:off x="4456113" y="2541588"/>
          <a:ext cx="584200" cy="463550"/>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162826"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6113" y="2541588"/>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2827" name="Line 11"/>
          <p:cNvSpPr>
            <a:spLocks noChangeShapeType="1"/>
          </p:cNvSpPr>
          <p:nvPr/>
        </p:nvSpPr>
        <p:spPr bwMode="auto">
          <a:xfrm>
            <a:off x="5307013" y="2481263"/>
            <a:ext cx="1035050"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2" name="Group 12"/>
          <p:cNvGrpSpPr>
            <a:grpSpLocks/>
          </p:cNvGrpSpPr>
          <p:nvPr/>
        </p:nvGrpSpPr>
        <p:grpSpPr bwMode="auto">
          <a:xfrm>
            <a:off x="6249988" y="2446338"/>
            <a:ext cx="711200" cy="381000"/>
            <a:chOff x="3600" y="219"/>
            <a:chExt cx="360" cy="175"/>
          </a:xfrm>
        </p:grpSpPr>
        <p:sp>
          <p:nvSpPr>
            <p:cNvPr id="162829" name="Oval 1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30" name="Line 1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31" name="Line 1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32" name="Rectangle 16"/>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162833" name="Oval 1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3" name="Group 18"/>
            <p:cNvGrpSpPr>
              <a:grpSpLocks/>
            </p:cNvGrpSpPr>
            <p:nvPr/>
          </p:nvGrpSpPr>
          <p:grpSpPr bwMode="auto">
            <a:xfrm>
              <a:off x="3686" y="244"/>
              <a:ext cx="177" cy="66"/>
              <a:chOff x="2848" y="848"/>
              <a:chExt cx="140" cy="98"/>
            </a:xfrm>
          </p:grpSpPr>
          <p:sp>
            <p:nvSpPr>
              <p:cNvPr id="162835" name="Line 1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36" name="Line 2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37" name="Line 2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4" name="Group 22"/>
            <p:cNvGrpSpPr>
              <a:grpSpLocks/>
            </p:cNvGrpSpPr>
            <p:nvPr/>
          </p:nvGrpSpPr>
          <p:grpSpPr bwMode="auto">
            <a:xfrm flipV="1">
              <a:off x="3686" y="243"/>
              <a:ext cx="177" cy="66"/>
              <a:chOff x="2848" y="848"/>
              <a:chExt cx="140" cy="98"/>
            </a:xfrm>
          </p:grpSpPr>
          <p:sp>
            <p:nvSpPr>
              <p:cNvPr id="162839" name="Line 2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40" name="Line 2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41" name="Line 2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sp>
        <p:nvSpPr>
          <p:cNvPr id="162842" name="Text Box 26"/>
          <p:cNvSpPr txBox="1">
            <a:spLocks noChangeArrowheads="1"/>
          </p:cNvSpPr>
          <p:nvPr/>
        </p:nvSpPr>
        <p:spPr bwMode="auto">
          <a:xfrm>
            <a:off x="4975225" y="1312863"/>
            <a:ext cx="10318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223.1.1.1</a:t>
            </a:r>
            <a:endParaRPr lang="de-DE"/>
          </a:p>
        </p:txBody>
      </p:sp>
      <p:grpSp>
        <p:nvGrpSpPr>
          <p:cNvPr id="5" name="Group 27"/>
          <p:cNvGrpSpPr>
            <a:grpSpLocks/>
          </p:cNvGrpSpPr>
          <p:nvPr/>
        </p:nvGrpSpPr>
        <p:grpSpPr bwMode="auto">
          <a:xfrm>
            <a:off x="4975225" y="1955800"/>
            <a:ext cx="1031875" cy="336550"/>
            <a:chOff x="3251" y="608"/>
            <a:chExt cx="650" cy="212"/>
          </a:xfrm>
        </p:grpSpPr>
        <p:sp>
          <p:nvSpPr>
            <p:cNvPr id="162844" name="Rectangle 28"/>
            <p:cNvSpPr>
              <a:spLocks noChangeArrowheads="1"/>
            </p:cNvSpPr>
            <p:nvPr/>
          </p:nvSpPr>
          <p:spPr bwMode="auto">
            <a:xfrm>
              <a:off x="3306" y="657"/>
              <a:ext cx="525" cy="1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45" name="Text Box 29"/>
            <p:cNvSpPr txBox="1">
              <a:spLocks noChangeArrowheads="1"/>
            </p:cNvSpPr>
            <p:nvPr/>
          </p:nvSpPr>
          <p:spPr bwMode="auto">
            <a:xfrm>
              <a:off x="3251" y="608"/>
              <a:ext cx="65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223.1.1.2</a:t>
              </a:r>
              <a:endParaRPr lang="de-DE"/>
            </a:p>
          </p:txBody>
        </p:sp>
      </p:grpSp>
      <p:sp>
        <p:nvSpPr>
          <p:cNvPr id="162846" name="Text Box 30"/>
          <p:cNvSpPr txBox="1">
            <a:spLocks noChangeArrowheads="1"/>
          </p:cNvSpPr>
          <p:nvPr/>
        </p:nvSpPr>
        <p:spPr bwMode="auto">
          <a:xfrm>
            <a:off x="4860925" y="2894013"/>
            <a:ext cx="10318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223.1.1.3</a:t>
            </a:r>
            <a:endParaRPr lang="de-DE"/>
          </a:p>
        </p:txBody>
      </p:sp>
      <p:sp>
        <p:nvSpPr>
          <p:cNvPr id="162847" name="Text Box 31"/>
          <p:cNvSpPr txBox="1">
            <a:spLocks noChangeArrowheads="1"/>
          </p:cNvSpPr>
          <p:nvPr/>
        </p:nvSpPr>
        <p:spPr bwMode="auto">
          <a:xfrm>
            <a:off x="5514975" y="2211468"/>
            <a:ext cx="10318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dirty="0">
                <a:latin typeface="Arial" charset="0"/>
              </a:rPr>
              <a:t>223.1.1.4</a:t>
            </a:r>
            <a:endParaRPr lang="de-DE" dirty="0"/>
          </a:p>
        </p:txBody>
      </p:sp>
      <p:sp>
        <p:nvSpPr>
          <p:cNvPr id="162848" name="Line 32"/>
          <p:cNvSpPr>
            <a:spLocks noChangeShapeType="1"/>
          </p:cNvSpPr>
          <p:nvPr/>
        </p:nvSpPr>
        <p:spPr bwMode="auto">
          <a:xfrm>
            <a:off x="6854825" y="2490788"/>
            <a:ext cx="1016000"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49" name="Text Box 33"/>
          <p:cNvSpPr txBox="1">
            <a:spLocks noChangeArrowheads="1"/>
          </p:cNvSpPr>
          <p:nvPr/>
        </p:nvSpPr>
        <p:spPr bwMode="auto">
          <a:xfrm>
            <a:off x="6769559" y="2211468"/>
            <a:ext cx="10318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dirty="0">
                <a:latin typeface="Arial" charset="0"/>
              </a:rPr>
              <a:t>223.1.2.9</a:t>
            </a:r>
            <a:endParaRPr lang="de-DE" dirty="0"/>
          </a:p>
        </p:txBody>
      </p:sp>
      <p:sp>
        <p:nvSpPr>
          <p:cNvPr id="162850" name="Line 34"/>
          <p:cNvSpPr>
            <a:spLocks noChangeShapeType="1"/>
          </p:cNvSpPr>
          <p:nvPr/>
        </p:nvSpPr>
        <p:spPr bwMode="auto">
          <a:xfrm flipH="1">
            <a:off x="7878763" y="1795463"/>
            <a:ext cx="0" cy="12906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aphicFrame>
        <p:nvGraphicFramePr>
          <p:cNvPr id="162851" name="Object 35"/>
          <p:cNvGraphicFramePr>
            <a:graphicFrameLocks noChangeAspect="1"/>
          </p:cNvGraphicFramePr>
          <p:nvPr/>
        </p:nvGraphicFramePr>
        <p:xfrm>
          <a:off x="8056563" y="1503363"/>
          <a:ext cx="584200" cy="463550"/>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162851"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563" y="1503363"/>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2852" name="Line 36"/>
          <p:cNvSpPr>
            <a:spLocks noChangeShapeType="1"/>
          </p:cNvSpPr>
          <p:nvPr/>
        </p:nvSpPr>
        <p:spPr bwMode="auto">
          <a:xfrm>
            <a:off x="7878763" y="1800225"/>
            <a:ext cx="234950"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aphicFrame>
        <p:nvGraphicFramePr>
          <p:cNvPr id="162853" name="Object 37"/>
          <p:cNvGraphicFramePr>
            <a:graphicFrameLocks noChangeAspect="1"/>
          </p:cNvGraphicFramePr>
          <p:nvPr/>
        </p:nvGraphicFramePr>
        <p:xfrm>
          <a:off x="8061325" y="2884488"/>
          <a:ext cx="584200" cy="463550"/>
        </p:xfrm>
        <a:graphic>
          <a:graphicData uri="http://schemas.openxmlformats.org/presentationml/2006/ole">
            <mc:AlternateContent xmlns:mc="http://schemas.openxmlformats.org/markup-compatibility/2006">
              <mc:Choice xmlns:v="urn:schemas-microsoft-com:vml" Requires="v">
                <p:oleObj name="Clip" r:id="rId7" imgW="1307263" imgH="1084139" progId="">
                  <p:embed/>
                </p:oleObj>
              </mc:Choice>
              <mc:Fallback>
                <p:oleObj name="Clip" r:id="rId7" imgW="1307263" imgH="1084139" progId="">
                  <p:embed/>
                  <p:pic>
                    <p:nvPicPr>
                      <p:cNvPr id="162853" name="Object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1325" y="2884488"/>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2854" name="Line 38"/>
          <p:cNvSpPr>
            <a:spLocks noChangeShapeType="1"/>
          </p:cNvSpPr>
          <p:nvPr/>
        </p:nvSpPr>
        <p:spPr bwMode="auto">
          <a:xfrm>
            <a:off x="7878763" y="3071813"/>
            <a:ext cx="234950"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6" name="Group 39"/>
          <p:cNvGrpSpPr>
            <a:grpSpLocks/>
          </p:cNvGrpSpPr>
          <p:nvPr/>
        </p:nvGrpSpPr>
        <p:grpSpPr bwMode="auto">
          <a:xfrm>
            <a:off x="7189788" y="2732088"/>
            <a:ext cx="1031875" cy="336550"/>
            <a:chOff x="4532" y="1229"/>
            <a:chExt cx="650" cy="212"/>
          </a:xfrm>
        </p:grpSpPr>
        <p:sp>
          <p:nvSpPr>
            <p:cNvPr id="162856" name="Rectangle 40"/>
            <p:cNvSpPr>
              <a:spLocks noChangeArrowheads="1"/>
            </p:cNvSpPr>
            <p:nvPr/>
          </p:nvSpPr>
          <p:spPr bwMode="auto">
            <a:xfrm>
              <a:off x="4587" y="1284"/>
              <a:ext cx="534" cy="1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57" name="Text Box 41"/>
            <p:cNvSpPr txBox="1">
              <a:spLocks noChangeArrowheads="1"/>
            </p:cNvSpPr>
            <p:nvPr/>
          </p:nvSpPr>
          <p:spPr bwMode="auto">
            <a:xfrm>
              <a:off x="4532" y="1229"/>
              <a:ext cx="65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223.1.2.2</a:t>
              </a:r>
              <a:endParaRPr lang="de-DE"/>
            </a:p>
          </p:txBody>
        </p:sp>
      </p:grpSp>
      <p:grpSp>
        <p:nvGrpSpPr>
          <p:cNvPr id="7" name="Group 42"/>
          <p:cNvGrpSpPr>
            <a:grpSpLocks/>
          </p:cNvGrpSpPr>
          <p:nvPr/>
        </p:nvGrpSpPr>
        <p:grpSpPr bwMode="auto">
          <a:xfrm>
            <a:off x="7151688" y="1760538"/>
            <a:ext cx="1031875" cy="336550"/>
            <a:chOff x="4532" y="1229"/>
            <a:chExt cx="650" cy="212"/>
          </a:xfrm>
        </p:grpSpPr>
        <p:sp>
          <p:nvSpPr>
            <p:cNvPr id="162859" name="Rectangle 43"/>
            <p:cNvSpPr>
              <a:spLocks noChangeArrowheads="1"/>
            </p:cNvSpPr>
            <p:nvPr/>
          </p:nvSpPr>
          <p:spPr bwMode="auto">
            <a:xfrm>
              <a:off x="4587" y="1284"/>
              <a:ext cx="534" cy="1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60" name="Text Box 44"/>
            <p:cNvSpPr txBox="1">
              <a:spLocks noChangeArrowheads="1"/>
            </p:cNvSpPr>
            <p:nvPr/>
          </p:nvSpPr>
          <p:spPr bwMode="auto">
            <a:xfrm>
              <a:off x="4532" y="1229"/>
              <a:ext cx="65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223.1.2.1</a:t>
              </a:r>
              <a:endParaRPr lang="de-DE"/>
            </a:p>
          </p:txBody>
        </p:sp>
      </p:grpSp>
      <p:sp>
        <p:nvSpPr>
          <p:cNvPr id="162861" name="Line 45"/>
          <p:cNvSpPr>
            <a:spLocks noChangeShapeType="1"/>
          </p:cNvSpPr>
          <p:nvPr/>
        </p:nvSpPr>
        <p:spPr bwMode="auto">
          <a:xfrm flipH="1">
            <a:off x="6616700" y="2828925"/>
            <a:ext cx="0" cy="12906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62" name="Line 46"/>
          <p:cNvSpPr>
            <a:spLocks noChangeShapeType="1"/>
          </p:cNvSpPr>
          <p:nvPr/>
        </p:nvSpPr>
        <p:spPr bwMode="auto">
          <a:xfrm flipH="1">
            <a:off x="6007100" y="4110038"/>
            <a:ext cx="11858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63" name="Line 47"/>
          <p:cNvSpPr>
            <a:spLocks noChangeShapeType="1"/>
          </p:cNvSpPr>
          <p:nvPr/>
        </p:nvSpPr>
        <p:spPr bwMode="auto">
          <a:xfrm flipH="1" flipV="1">
            <a:off x="6003925" y="4102100"/>
            <a:ext cx="3175" cy="2413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64" name="Line 48"/>
          <p:cNvSpPr>
            <a:spLocks noChangeShapeType="1"/>
          </p:cNvSpPr>
          <p:nvPr/>
        </p:nvSpPr>
        <p:spPr bwMode="auto">
          <a:xfrm flipH="1" flipV="1">
            <a:off x="7180263" y="4106863"/>
            <a:ext cx="3175" cy="2413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aphicFrame>
        <p:nvGraphicFramePr>
          <p:cNvPr id="162865" name="Object 49"/>
          <p:cNvGraphicFramePr>
            <a:graphicFrameLocks noChangeAspect="1"/>
          </p:cNvGraphicFramePr>
          <p:nvPr/>
        </p:nvGraphicFramePr>
        <p:xfrm>
          <a:off x="6965950" y="4265613"/>
          <a:ext cx="584200" cy="463550"/>
        </p:xfrm>
        <a:graphic>
          <a:graphicData uri="http://schemas.openxmlformats.org/presentationml/2006/ole">
            <mc:AlternateContent xmlns:mc="http://schemas.openxmlformats.org/markup-compatibility/2006">
              <mc:Choice xmlns:v="urn:schemas-microsoft-com:vml" Requires="v">
                <p:oleObj name="Clip" r:id="rId8" imgW="1307263" imgH="1084139" progId="">
                  <p:embed/>
                </p:oleObj>
              </mc:Choice>
              <mc:Fallback>
                <p:oleObj name="Clip" r:id="rId8" imgW="1307263" imgH="1084139" progId="">
                  <p:embed/>
                  <p:pic>
                    <p:nvPicPr>
                      <p:cNvPr id="162865"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5950" y="4265613"/>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2866" name="Object 50"/>
          <p:cNvGraphicFramePr>
            <a:graphicFrameLocks noChangeAspect="1"/>
          </p:cNvGraphicFramePr>
          <p:nvPr/>
        </p:nvGraphicFramePr>
        <p:xfrm>
          <a:off x="5708650" y="4279900"/>
          <a:ext cx="584200" cy="463550"/>
        </p:xfrm>
        <a:graphic>
          <a:graphicData uri="http://schemas.openxmlformats.org/presentationml/2006/ole">
            <mc:AlternateContent xmlns:mc="http://schemas.openxmlformats.org/markup-compatibility/2006">
              <mc:Choice xmlns:v="urn:schemas-microsoft-com:vml" Requires="v">
                <p:oleObj name="Clip" r:id="rId9" imgW="1307263" imgH="1084139" progId="">
                  <p:embed/>
                </p:oleObj>
              </mc:Choice>
              <mc:Fallback>
                <p:oleObj name="Clip" r:id="rId9" imgW="1307263" imgH="1084139" progId="">
                  <p:embed/>
                  <p:pic>
                    <p:nvPicPr>
                      <p:cNvPr id="162866" name="Object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8650" y="4279900"/>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 name="Group 51"/>
          <p:cNvGrpSpPr>
            <a:grpSpLocks/>
          </p:cNvGrpSpPr>
          <p:nvPr/>
        </p:nvGrpSpPr>
        <p:grpSpPr bwMode="auto">
          <a:xfrm>
            <a:off x="7151688" y="3984625"/>
            <a:ext cx="1031875" cy="336550"/>
            <a:chOff x="4532" y="1229"/>
            <a:chExt cx="650" cy="212"/>
          </a:xfrm>
        </p:grpSpPr>
        <p:sp>
          <p:nvSpPr>
            <p:cNvPr id="162868" name="Rectangle 52"/>
            <p:cNvSpPr>
              <a:spLocks noChangeArrowheads="1"/>
            </p:cNvSpPr>
            <p:nvPr/>
          </p:nvSpPr>
          <p:spPr bwMode="auto">
            <a:xfrm>
              <a:off x="4587" y="1284"/>
              <a:ext cx="534" cy="1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69" name="Text Box 53"/>
            <p:cNvSpPr txBox="1">
              <a:spLocks noChangeArrowheads="1"/>
            </p:cNvSpPr>
            <p:nvPr/>
          </p:nvSpPr>
          <p:spPr bwMode="auto">
            <a:xfrm>
              <a:off x="4532" y="1229"/>
              <a:ext cx="65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223.1.3.2</a:t>
              </a:r>
              <a:endParaRPr lang="de-DE"/>
            </a:p>
          </p:txBody>
        </p:sp>
      </p:grpSp>
      <p:grpSp>
        <p:nvGrpSpPr>
          <p:cNvPr id="9" name="Group 54"/>
          <p:cNvGrpSpPr>
            <a:grpSpLocks/>
          </p:cNvGrpSpPr>
          <p:nvPr/>
        </p:nvGrpSpPr>
        <p:grpSpPr bwMode="auto">
          <a:xfrm>
            <a:off x="5003800" y="4013200"/>
            <a:ext cx="1031875" cy="336550"/>
            <a:chOff x="4532" y="1229"/>
            <a:chExt cx="650" cy="212"/>
          </a:xfrm>
        </p:grpSpPr>
        <p:sp>
          <p:nvSpPr>
            <p:cNvPr id="162871" name="Rectangle 55"/>
            <p:cNvSpPr>
              <a:spLocks noChangeArrowheads="1"/>
            </p:cNvSpPr>
            <p:nvPr/>
          </p:nvSpPr>
          <p:spPr bwMode="auto">
            <a:xfrm>
              <a:off x="4587" y="1284"/>
              <a:ext cx="534" cy="1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72" name="Text Box 56"/>
            <p:cNvSpPr txBox="1">
              <a:spLocks noChangeArrowheads="1"/>
            </p:cNvSpPr>
            <p:nvPr/>
          </p:nvSpPr>
          <p:spPr bwMode="auto">
            <a:xfrm>
              <a:off x="4532" y="1229"/>
              <a:ext cx="65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223.1.3.1</a:t>
              </a:r>
              <a:endParaRPr lang="de-DE"/>
            </a:p>
          </p:txBody>
        </p:sp>
      </p:grpSp>
      <p:grpSp>
        <p:nvGrpSpPr>
          <p:cNvPr id="10" name="Group 57"/>
          <p:cNvGrpSpPr>
            <a:grpSpLocks/>
          </p:cNvGrpSpPr>
          <p:nvPr/>
        </p:nvGrpSpPr>
        <p:grpSpPr bwMode="auto">
          <a:xfrm>
            <a:off x="6003925" y="2874963"/>
            <a:ext cx="1144588" cy="336550"/>
            <a:chOff x="4532" y="1229"/>
            <a:chExt cx="721" cy="212"/>
          </a:xfrm>
        </p:grpSpPr>
        <p:sp>
          <p:nvSpPr>
            <p:cNvPr id="162874" name="Rectangle 58"/>
            <p:cNvSpPr>
              <a:spLocks noChangeArrowheads="1"/>
            </p:cNvSpPr>
            <p:nvPr/>
          </p:nvSpPr>
          <p:spPr bwMode="auto">
            <a:xfrm>
              <a:off x="4587" y="1284"/>
              <a:ext cx="534" cy="1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75" name="Text Box 59"/>
            <p:cNvSpPr txBox="1">
              <a:spLocks noChangeArrowheads="1"/>
            </p:cNvSpPr>
            <p:nvPr/>
          </p:nvSpPr>
          <p:spPr bwMode="auto">
            <a:xfrm>
              <a:off x="4532" y="1229"/>
              <a:ext cx="72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223.1.3.27</a:t>
              </a:r>
              <a:endParaRPr lang="de-DE"/>
            </a:p>
          </p:txBody>
        </p:sp>
      </p:grpSp>
      <p:sp>
        <p:nvSpPr>
          <p:cNvPr id="162876" name="Text Box 60"/>
          <p:cNvSpPr txBox="1">
            <a:spLocks noChangeArrowheads="1"/>
          </p:cNvSpPr>
          <p:nvPr/>
        </p:nvSpPr>
        <p:spPr bwMode="auto">
          <a:xfrm>
            <a:off x="5076056" y="4797152"/>
            <a:ext cx="3923510"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dirty="0">
                <a:latin typeface="Arial" charset="0"/>
              </a:rPr>
              <a:t>11011111 00000001 00000001 00000001</a:t>
            </a:r>
            <a:endParaRPr lang="de-DE" dirty="0"/>
          </a:p>
        </p:txBody>
      </p:sp>
      <p:sp>
        <p:nvSpPr>
          <p:cNvPr id="162877" name="Freeform 61"/>
          <p:cNvSpPr>
            <a:spLocks/>
          </p:cNvSpPr>
          <p:nvPr/>
        </p:nvSpPr>
        <p:spPr bwMode="auto">
          <a:xfrm>
            <a:off x="5162550" y="5092296"/>
            <a:ext cx="892175" cy="92075"/>
          </a:xfrm>
          <a:custGeom>
            <a:avLst/>
            <a:gdLst>
              <a:gd name="T0" fmla="*/ 0 w 562"/>
              <a:gd name="T1" fmla="*/ 0 h 58"/>
              <a:gd name="T2" fmla="*/ 0 w 562"/>
              <a:gd name="T3" fmla="*/ 58 h 58"/>
              <a:gd name="T4" fmla="*/ 562 w 562"/>
              <a:gd name="T5" fmla="*/ 58 h 58"/>
              <a:gd name="T6" fmla="*/ 562 w 562"/>
              <a:gd name="T7" fmla="*/ 16 h 58"/>
            </a:gdLst>
            <a:ahLst/>
            <a:cxnLst>
              <a:cxn ang="0">
                <a:pos x="T0" y="T1"/>
              </a:cxn>
              <a:cxn ang="0">
                <a:pos x="T2" y="T3"/>
              </a:cxn>
              <a:cxn ang="0">
                <a:pos x="T4" y="T5"/>
              </a:cxn>
              <a:cxn ang="0">
                <a:pos x="T6" y="T7"/>
              </a:cxn>
            </a:cxnLst>
            <a:rect l="0" t="0" r="r" b="b"/>
            <a:pathLst>
              <a:path w="562" h="58">
                <a:moveTo>
                  <a:pt x="0" y="0"/>
                </a:moveTo>
                <a:lnTo>
                  <a:pt x="0" y="58"/>
                </a:lnTo>
                <a:lnTo>
                  <a:pt x="562" y="58"/>
                </a:lnTo>
                <a:lnTo>
                  <a:pt x="562" y="16"/>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78" name="Freeform 62"/>
          <p:cNvSpPr>
            <a:spLocks/>
          </p:cNvSpPr>
          <p:nvPr/>
        </p:nvSpPr>
        <p:spPr bwMode="auto">
          <a:xfrm>
            <a:off x="6124575" y="5111346"/>
            <a:ext cx="892175" cy="79375"/>
          </a:xfrm>
          <a:custGeom>
            <a:avLst/>
            <a:gdLst>
              <a:gd name="T0" fmla="*/ 0 w 562"/>
              <a:gd name="T1" fmla="*/ 0 h 50"/>
              <a:gd name="T2" fmla="*/ 0 w 562"/>
              <a:gd name="T3" fmla="*/ 50 h 50"/>
              <a:gd name="T4" fmla="*/ 562 w 562"/>
              <a:gd name="T5" fmla="*/ 50 h 50"/>
              <a:gd name="T6" fmla="*/ 562 w 562"/>
              <a:gd name="T7" fmla="*/ 8 h 50"/>
            </a:gdLst>
            <a:ahLst/>
            <a:cxnLst>
              <a:cxn ang="0">
                <a:pos x="T0" y="T1"/>
              </a:cxn>
              <a:cxn ang="0">
                <a:pos x="T2" y="T3"/>
              </a:cxn>
              <a:cxn ang="0">
                <a:pos x="T4" y="T5"/>
              </a:cxn>
              <a:cxn ang="0">
                <a:pos x="T6" y="T7"/>
              </a:cxn>
            </a:cxnLst>
            <a:rect l="0" t="0" r="r" b="b"/>
            <a:pathLst>
              <a:path w="562" h="50">
                <a:moveTo>
                  <a:pt x="0" y="0"/>
                </a:moveTo>
                <a:lnTo>
                  <a:pt x="0" y="50"/>
                </a:lnTo>
                <a:lnTo>
                  <a:pt x="562" y="50"/>
                </a:lnTo>
                <a:lnTo>
                  <a:pt x="562" y="8"/>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79" name="Freeform 63"/>
          <p:cNvSpPr>
            <a:spLocks/>
          </p:cNvSpPr>
          <p:nvPr/>
        </p:nvSpPr>
        <p:spPr bwMode="auto">
          <a:xfrm>
            <a:off x="7089775" y="5114521"/>
            <a:ext cx="869950" cy="79375"/>
          </a:xfrm>
          <a:custGeom>
            <a:avLst/>
            <a:gdLst>
              <a:gd name="T0" fmla="*/ 0 w 562"/>
              <a:gd name="T1" fmla="*/ 0 h 50"/>
              <a:gd name="T2" fmla="*/ 0 w 562"/>
              <a:gd name="T3" fmla="*/ 50 h 50"/>
              <a:gd name="T4" fmla="*/ 562 w 562"/>
              <a:gd name="T5" fmla="*/ 50 h 50"/>
              <a:gd name="T6" fmla="*/ 562 w 562"/>
              <a:gd name="T7" fmla="*/ 8 h 50"/>
            </a:gdLst>
            <a:ahLst/>
            <a:cxnLst>
              <a:cxn ang="0">
                <a:pos x="T0" y="T1"/>
              </a:cxn>
              <a:cxn ang="0">
                <a:pos x="T2" y="T3"/>
              </a:cxn>
              <a:cxn ang="0">
                <a:pos x="T4" y="T5"/>
              </a:cxn>
              <a:cxn ang="0">
                <a:pos x="T6" y="T7"/>
              </a:cxn>
            </a:cxnLst>
            <a:rect l="0" t="0" r="r" b="b"/>
            <a:pathLst>
              <a:path w="562" h="50">
                <a:moveTo>
                  <a:pt x="0" y="0"/>
                </a:moveTo>
                <a:lnTo>
                  <a:pt x="0" y="50"/>
                </a:lnTo>
                <a:lnTo>
                  <a:pt x="562" y="50"/>
                </a:lnTo>
                <a:lnTo>
                  <a:pt x="562" y="8"/>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80" name="Freeform 64"/>
          <p:cNvSpPr>
            <a:spLocks/>
          </p:cNvSpPr>
          <p:nvPr/>
        </p:nvSpPr>
        <p:spPr bwMode="auto">
          <a:xfrm>
            <a:off x="8054975" y="5117696"/>
            <a:ext cx="869950" cy="79375"/>
          </a:xfrm>
          <a:custGeom>
            <a:avLst/>
            <a:gdLst>
              <a:gd name="T0" fmla="*/ 0 w 562"/>
              <a:gd name="T1" fmla="*/ 0 h 50"/>
              <a:gd name="T2" fmla="*/ 0 w 562"/>
              <a:gd name="T3" fmla="*/ 50 h 50"/>
              <a:gd name="T4" fmla="*/ 562 w 562"/>
              <a:gd name="T5" fmla="*/ 50 h 50"/>
              <a:gd name="T6" fmla="*/ 562 w 562"/>
              <a:gd name="T7" fmla="*/ 8 h 50"/>
            </a:gdLst>
            <a:ahLst/>
            <a:cxnLst>
              <a:cxn ang="0">
                <a:pos x="T0" y="T1"/>
              </a:cxn>
              <a:cxn ang="0">
                <a:pos x="T2" y="T3"/>
              </a:cxn>
              <a:cxn ang="0">
                <a:pos x="T4" y="T5"/>
              </a:cxn>
              <a:cxn ang="0">
                <a:pos x="T6" y="T7"/>
              </a:cxn>
            </a:cxnLst>
            <a:rect l="0" t="0" r="r" b="b"/>
            <a:pathLst>
              <a:path w="562" h="50">
                <a:moveTo>
                  <a:pt x="0" y="0"/>
                </a:moveTo>
                <a:lnTo>
                  <a:pt x="0" y="50"/>
                </a:lnTo>
                <a:lnTo>
                  <a:pt x="562" y="50"/>
                </a:lnTo>
                <a:lnTo>
                  <a:pt x="562" y="8"/>
                </a:ln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2881" name="Text Box 65"/>
          <p:cNvSpPr txBox="1">
            <a:spLocks noChangeArrowheads="1"/>
          </p:cNvSpPr>
          <p:nvPr/>
        </p:nvSpPr>
        <p:spPr bwMode="auto">
          <a:xfrm>
            <a:off x="5360988" y="5312959"/>
            <a:ext cx="522287"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dirty="0">
                <a:latin typeface="Arial" charset="0"/>
              </a:rPr>
              <a:t>223</a:t>
            </a:r>
            <a:endParaRPr lang="de-DE" dirty="0"/>
          </a:p>
        </p:txBody>
      </p:sp>
      <p:sp>
        <p:nvSpPr>
          <p:cNvPr id="162882" name="Text Box 66"/>
          <p:cNvSpPr txBox="1">
            <a:spLocks noChangeArrowheads="1"/>
          </p:cNvSpPr>
          <p:nvPr/>
        </p:nvSpPr>
        <p:spPr bwMode="auto">
          <a:xfrm>
            <a:off x="6403975" y="5322484"/>
            <a:ext cx="29686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1</a:t>
            </a:r>
            <a:endParaRPr lang="de-DE"/>
          </a:p>
        </p:txBody>
      </p:sp>
      <p:sp>
        <p:nvSpPr>
          <p:cNvPr id="162883" name="Text Box 67"/>
          <p:cNvSpPr txBox="1">
            <a:spLocks noChangeArrowheads="1"/>
          </p:cNvSpPr>
          <p:nvPr/>
        </p:nvSpPr>
        <p:spPr bwMode="auto">
          <a:xfrm>
            <a:off x="8361363" y="5322484"/>
            <a:ext cx="296862"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1</a:t>
            </a:r>
            <a:endParaRPr lang="de-DE"/>
          </a:p>
        </p:txBody>
      </p:sp>
      <p:sp>
        <p:nvSpPr>
          <p:cNvPr id="162884" name="Text Box 68"/>
          <p:cNvSpPr txBox="1">
            <a:spLocks noChangeArrowheads="1"/>
          </p:cNvSpPr>
          <p:nvPr/>
        </p:nvSpPr>
        <p:spPr bwMode="auto">
          <a:xfrm>
            <a:off x="7342188" y="5322484"/>
            <a:ext cx="296862"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1</a:t>
            </a:r>
            <a:endParaRPr lang="de-DE"/>
          </a:p>
        </p:txBody>
      </p:sp>
      <p:sp>
        <p:nvSpPr>
          <p:cNvPr id="71" name="Textfeld 70"/>
          <p:cNvSpPr txBox="1"/>
          <p:nvPr/>
        </p:nvSpPr>
        <p:spPr>
          <a:xfrm>
            <a:off x="5220072" y="5733256"/>
            <a:ext cx="3756156" cy="707886"/>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de-DE" sz="2000" dirty="0"/>
              <a:t>Schreibweise als 4 durch „.“ </a:t>
            </a:r>
          </a:p>
          <a:p>
            <a:r>
              <a:rPr lang="de-DE" sz="2000" dirty="0"/>
              <a:t>getrennte Bytes, hier: 223.1.1.1</a:t>
            </a:r>
          </a:p>
        </p:txBody>
      </p:sp>
    </p:spTree>
    <p:extLst>
      <p:ext uri="{BB962C8B-B14F-4D97-AF65-F5344CB8AC3E}">
        <p14:creationId xmlns:p14="http://schemas.microsoft.com/office/powerpoint/2010/main" val="3870534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
                                            <p:bg/>
                                          </p:spTgt>
                                        </p:tgtEl>
                                        <p:attrNameLst>
                                          <p:attrName>style.visibility</p:attrName>
                                        </p:attrNameLst>
                                      </p:cBhvr>
                                      <p:to>
                                        <p:strVal val="visible"/>
                                      </p:to>
                                    </p:set>
                                    <p:animEffect transition="in" filter="fade">
                                      <p:cBhvr>
                                        <p:cTn id="7" dur="2000"/>
                                        <p:tgtEl>
                                          <p:spTgt spid="71">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1">
                                            <p:txEl>
                                              <p:pRg st="0" end="0"/>
                                            </p:txEl>
                                          </p:spTgt>
                                        </p:tgtEl>
                                        <p:attrNameLst>
                                          <p:attrName>style.visibility</p:attrName>
                                        </p:attrNameLst>
                                      </p:cBhvr>
                                      <p:to>
                                        <p:strVal val="visible"/>
                                      </p:to>
                                    </p:set>
                                    <p:animEffect transition="in" filter="fade">
                                      <p:cBhvr>
                                        <p:cTn id="10" dur="2000"/>
                                        <p:tgtEl>
                                          <p:spTgt spid="71">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1">
                                            <p:txEl>
                                              <p:pRg st="1" end="1"/>
                                            </p:txEl>
                                          </p:spTgt>
                                        </p:tgtEl>
                                        <p:attrNameLst>
                                          <p:attrName>style.visibility</p:attrName>
                                        </p:attrNameLst>
                                      </p:cBhvr>
                                      <p:to>
                                        <p:strVal val="visible"/>
                                      </p:to>
                                    </p:set>
                                    <p:animEffect transition="in" filter="fade">
                                      <p:cBhvr>
                                        <p:cTn id="13" dur="2000"/>
                                        <p:tgtEl>
                                          <p:spTgt spid="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A3F347-2BE2-4578-B792-0E5CE15DD52B}"/>
              </a:ext>
            </a:extLst>
          </p:cNvPr>
          <p:cNvSpPr>
            <a:spLocks noGrp="1"/>
          </p:cNvSpPr>
          <p:nvPr>
            <p:ph type="title"/>
          </p:nvPr>
        </p:nvSpPr>
        <p:spPr/>
        <p:txBody>
          <a:bodyPr/>
          <a:lstStyle/>
          <a:p>
            <a:r>
              <a:rPr lang="de-DE" dirty="0"/>
              <a:t>Spezielle Adressen</a:t>
            </a:r>
          </a:p>
        </p:txBody>
      </p:sp>
      <p:sp>
        <p:nvSpPr>
          <p:cNvPr id="3" name="Foliennummernplatzhalter 2">
            <a:extLst>
              <a:ext uri="{FF2B5EF4-FFF2-40B4-BE49-F238E27FC236}">
                <a16:creationId xmlns:a16="http://schemas.microsoft.com/office/drawing/2014/main" id="{EEB84755-8030-404C-B584-13B8AEE816CF}"/>
              </a:ext>
            </a:extLst>
          </p:cNvPr>
          <p:cNvSpPr>
            <a:spLocks noGrp="1"/>
          </p:cNvSpPr>
          <p:nvPr>
            <p:ph type="sldNum" sz="quarter" idx="12"/>
          </p:nvPr>
        </p:nvSpPr>
        <p:spPr/>
        <p:txBody>
          <a:bodyPr/>
          <a:lstStyle/>
          <a:p>
            <a:fld id="{7183533A-8A50-4A1F-BEA9-C8C6956451EB}" type="slidenum">
              <a:rPr lang="en-US" noProof="0" smtClean="0"/>
              <a:pPr/>
              <a:t>10</a:t>
            </a:fld>
            <a:endParaRPr lang="en-US" noProof="0" dirty="0"/>
          </a:p>
        </p:txBody>
      </p:sp>
      <p:sp>
        <p:nvSpPr>
          <p:cNvPr id="4" name="Inhaltsplatzhalter 3">
            <a:extLst>
              <a:ext uri="{FF2B5EF4-FFF2-40B4-BE49-F238E27FC236}">
                <a16:creationId xmlns:a16="http://schemas.microsoft.com/office/drawing/2014/main" id="{B637BCE0-6E4F-40D2-8CC9-33544A06E6B1}"/>
              </a:ext>
            </a:extLst>
          </p:cNvPr>
          <p:cNvSpPr>
            <a:spLocks noGrp="1"/>
          </p:cNvSpPr>
          <p:nvPr>
            <p:ph sz="quarter" idx="1"/>
          </p:nvPr>
        </p:nvSpPr>
        <p:spPr/>
        <p:txBody>
          <a:bodyPr/>
          <a:lstStyle/>
          <a:p>
            <a:r>
              <a:rPr lang="de-DE" dirty="0"/>
              <a:t>Historisch bedingt haben einige Adressen bzw. Adressenbereiche besondere Bedeutung</a:t>
            </a:r>
          </a:p>
          <a:p>
            <a:r>
              <a:rPr lang="de-DE" dirty="0">
                <a:solidFill>
                  <a:schemeClr val="accent1"/>
                </a:solidFill>
              </a:rPr>
              <a:t>127.0.0.1</a:t>
            </a:r>
            <a:r>
              <a:rPr lang="de-DE" dirty="0"/>
              <a:t>: die </a:t>
            </a:r>
            <a:r>
              <a:rPr lang="de-DE" b="1" dirty="0"/>
              <a:t>Loopback</a:t>
            </a:r>
            <a:r>
              <a:rPr lang="de-DE" dirty="0"/>
              <a:t>-Adresse – der Host selbst</a:t>
            </a:r>
          </a:p>
          <a:p>
            <a:r>
              <a:rPr lang="de-DE" dirty="0">
                <a:solidFill>
                  <a:schemeClr val="accent1"/>
                </a:solidFill>
              </a:rPr>
              <a:t>255.255.255.255</a:t>
            </a:r>
            <a:r>
              <a:rPr lang="de-DE" dirty="0"/>
              <a:t> oder </a:t>
            </a:r>
            <a:r>
              <a:rPr lang="de-DE" dirty="0">
                <a:solidFill>
                  <a:schemeClr val="accent1"/>
                </a:solidFill>
              </a:rPr>
              <a:t>0.0.0.0</a:t>
            </a:r>
            <a:r>
              <a:rPr lang="de-DE" dirty="0"/>
              <a:t>: </a:t>
            </a:r>
            <a:r>
              <a:rPr lang="de-DE" b="1" dirty="0"/>
              <a:t>Broadcast</a:t>
            </a:r>
            <a:r>
              <a:rPr lang="de-DE" dirty="0"/>
              <a:t> Adressen</a:t>
            </a:r>
          </a:p>
          <a:p>
            <a:r>
              <a:rPr lang="de-DE" b="1" dirty="0"/>
              <a:t>Private</a:t>
            </a:r>
            <a:r>
              <a:rPr lang="de-DE" dirty="0"/>
              <a:t> Adressen (in LAN oder hinter NAT, später)</a:t>
            </a:r>
          </a:p>
          <a:p>
            <a:pPr lvl="1"/>
            <a:r>
              <a:rPr lang="de-DE" dirty="0">
                <a:solidFill>
                  <a:schemeClr val="accent1"/>
                </a:solidFill>
              </a:rPr>
              <a:t>10.*.*.* </a:t>
            </a:r>
            <a:r>
              <a:rPr lang="de-DE" dirty="0"/>
              <a:t>bzw. </a:t>
            </a:r>
            <a:r>
              <a:rPr lang="de-DE" dirty="0">
                <a:solidFill>
                  <a:schemeClr val="accent1"/>
                </a:solidFill>
              </a:rPr>
              <a:t>10.0.0.0/8</a:t>
            </a:r>
            <a:r>
              <a:rPr lang="de-DE" dirty="0"/>
              <a:t> – alle Werte der letzten 32-8 Bits</a:t>
            </a:r>
          </a:p>
          <a:p>
            <a:pPr lvl="1"/>
            <a:r>
              <a:rPr lang="de-DE" dirty="0">
                <a:solidFill>
                  <a:schemeClr val="accent1"/>
                </a:solidFill>
              </a:rPr>
              <a:t>172.16.0.0/12</a:t>
            </a:r>
            <a:r>
              <a:rPr lang="de-DE" dirty="0"/>
              <a:t> - alle Werte der letzten 32-12 = 20 Bits</a:t>
            </a:r>
          </a:p>
          <a:p>
            <a:pPr lvl="1"/>
            <a:r>
              <a:rPr lang="de-DE" dirty="0">
                <a:solidFill>
                  <a:schemeClr val="accent1"/>
                </a:solidFill>
              </a:rPr>
              <a:t>192.168.0.0/16</a:t>
            </a:r>
            <a:r>
              <a:rPr lang="de-DE" dirty="0"/>
              <a:t> - alle Werte der letzten 32-16 = 16 Bits</a:t>
            </a:r>
          </a:p>
          <a:p>
            <a:r>
              <a:rPr lang="de-DE" i="1" dirty="0" err="1"/>
              <a:t>Shared-Adress</a:t>
            </a:r>
            <a:r>
              <a:rPr lang="de-DE" i="1" dirty="0"/>
              <a:t> Block </a:t>
            </a:r>
            <a:r>
              <a:rPr lang="de-DE" dirty="0"/>
              <a:t>für Mobilfunkbetreiber</a:t>
            </a:r>
          </a:p>
          <a:p>
            <a:pPr lvl="1"/>
            <a:r>
              <a:rPr lang="de-DE" dirty="0"/>
              <a:t>100.64.0.0/10 - alle Werte der letzten 32-10 = 22 Bits</a:t>
            </a:r>
          </a:p>
          <a:p>
            <a:pPr lvl="1"/>
            <a:endParaRPr lang="de-DE" dirty="0"/>
          </a:p>
        </p:txBody>
      </p:sp>
    </p:spTree>
    <p:extLst>
      <p:ext uri="{BB962C8B-B14F-4D97-AF65-F5344CB8AC3E}">
        <p14:creationId xmlns:p14="http://schemas.microsoft.com/office/powerpoint/2010/main" val="130692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500"/>
                                        <p:tgtEl>
                                          <p:spTgt spid="4">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500"/>
                                        <p:tgtEl>
                                          <p:spTgt spid="4">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txEl>
                                              <p:pRg st="7" end="7"/>
                                            </p:txEl>
                                          </p:spTgt>
                                        </p:tgtEl>
                                        <p:attrNameLst>
                                          <p:attrName>style.visibility</p:attrName>
                                        </p:attrNameLst>
                                      </p:cBhvr>
                                      <p:to>
                                        <p:strVal val="visible"/>
                                      </p:to>
                                    </p:set>
                                    <p:animEffect transition="in" filter="fade">
                                      <p:cBhvr>
                                        <p:cTn id="36" dur="500"/>
                                        <p:tgtEl>
                                          <p:spTgt spid="4">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fade">
                                      <p:cBhvr>
                                        <p:cTn id="39"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lide Number Placeholder 6"/>
          <p:cNvSpPr>
            <a:spLocks noGrp="1"/>
          </p:cNvSpPr>
          <p:nvPr>
            <p:ph type="sldNum" sz="quarter" idx="12"/>
          </p:nvPr>
        </p:nvSpPr>
        <p:spPr/>
        <p:txBody>
          <a:bodyPr/>
          <a:lstStyle/>
          <a:p>
            <a:r>
              <a:rPr lang="de-DE"/>
              <a:t>4-</a:t>
            </a:r>
            <a:fld id="{93831BAF-55DF-4812-83CB-7AF3FCDD352E}" type="slidenum">
              <a:rPr lang="de-DE" smtClean="0"/>
              <a:pPr/>
              <a:t>11</a:t>
            </a:fld>
            <a:endParaRPr lang="de-DE"/>
          </a:p>
        </p:txBody>
      </p:sp>
      <p:sp>
        <p:nvSpPr>
          <p:cNvPr id="164870" name="Rectangle 6"/>
          <p:cNvSpPr>
            <a:spLocks noGrp="1" noChangeArrowheads="1"/>
          </p:cNvSpPr>
          <p:nvPr>
            <p:ph type="title"/>
          </p:nvPr>
        </p:nvSpPr>
        <p:spPr/>
        <p:txBody>
          <a:bodyPr>
            <a:normAutofit fontScale="90000"/>
          </a:bodyPr>
          <a:lstStyle/>
          <a:p>
            <a:r>
              <a:rPr lang="de-DE" dirty="0"/>
              <a:t>(Sub)</a:t>
            </a:r>
            <a:r>
              <a:rPr lang="de-DE" b="1" dirty="0">
                <a:solidFill>
                  <a:srgbClr val="FF0000"/>
                </a:solidFill>
              </a:rPr>
              <a:t>Netzwerk</a:t>
            </a:r>
            <a:r>
              <a:rPr lang="de-DE" dirty="0"/>
              <a:t> – „Hardware“-Definition (</a:t>
            </a:r>
            <a:r>
              <a:rPr lang="de-DE" dirty="0" err="1"/>
              <a:t>Kurose</a:t>
            </a:r>
            <a:r>
              <a:rPr lang="de-DE" dirty="0"/>
              <a:t>)</a:t>
            </a:r>
          </a:p>
        </p:txBody>
      </p:sp>
      <p:sp>
        <p:nvSpPr>
          <p:cNvPr id="164866" name="Freeform 2"/>
          <p:cNvSpPr>
            <a:spLocks/>
          </p:cNvSpPr>
          <p:nvPr/>
        </p:nvSpPr>
        <p:spPr bwMode="auto">
          <a:xfrm>
            <a:off x="6849366" y="3234341"/>
            <a:ext cx="1124817" cy="1293990"/>
          </a:xfrm>
          <a:custGeom>
            <a:avLst/>
            <a:gdLst>
              <a:gd name="T0" fmla="*/ 6 w 799"/>
              <a:gd name="T1" fmla="*/ 66 h 922"/>
              <a:gd name="T2" fmla="*/ 341 w 799"/>
              <a:gd name="T3" fmla="*/ 446 h 922"/>
              <a:gd name="T4" fmla="*/ 648 w 799"/>
              <a:gd name="T5" fmla="*/ 858 h 922"/>
              <a:gd name="T6" fmla="*/ 768 w 799"/>
              <a:gd name="T7" fmla="*/ 828 h 922"/>
              <a:gd name="T8" fmla="*/ 463 w 799"/>
              <a:gd name="T9" fmla="*/ 354 h 922"/>
              <a:gd name="T10" fmla="*/ 60 w 799"/>
              <a:gd name="T11" fmla="*/ 0 h 922"/>
              <a:gd name="T12" fmla="*/ 6 w 799"/>
              <a:gd name="T13" fmla="*/ 66 h 922"/>
            </a:gdLst>
            <a:ahLst/>
            <a:cxnLst>
              <a:cxn ang="0">
                <a:pos x="T0" y="T1"/>
              </a:cxn>
              <a:cxn ang="0">
                <a:pos x="T2" y="T3"/>
              </a:cxn>
              <a:cxn ang="0">
                <a:pos x="T4" y="T5"/>
              </a:cxn>
              <a:cxn ang="0">
                <a:pos x="T6" y="T7"/>
              </a:cxn>
              <a:cxn ang="0">
                <a:pos x="T8" y="T9"/>
              </a:cxn>
              <a:cxn ang="0">
                <a:pos x="T10" y="T11"/>
              </a:cxn>
              <a:cxn ang="0">
                <a:pos x="T12" y="T13"/>
              </a:cxn>
            </a:cxnLst>
            <a:rect l="0" t="0" r="r" b="b"/>
            <a:pathLst>
              <a:path w="799" h="922">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67" name="Freeform 3"/>
          <p:cNvSpPr>
            <a:spLocks/>
          </p:cNvSpPr>
          <p:nvPr/>
        </p:nvSpPr>
        <p:spPr bwMode="auto">
          <a:xfrm>
            <a:off x="5700617" y="4570435"/>
            <a:ext cx="2001864" cy="289113"/>
          </a:xfrm>
          <a:custGeom>
            <a:avLst/>
            <a:gdLst>
              <a:gd name="T0" fmla="*/ 42 w 1422"/>
              <a:gd name="T1" fmla="*/ 176 h 206"/>
              <a:gd name="T2" fmla="*/ 641 w 1422"/>
              <a:gd name="T3" fmla="*/ 166 h 206"/>
              <a:gd name="T4" fmla="*/ 1266 w 1422"/>
              <a:gd name="T5" fmla="*/ 170 h 206"/>
              <a:gd name="T6" fmla="*/ 1320 w 1422"/>
              <a:gd name="T7" fmla="*/ 32 h 206"/>
              <a:gd name="T8" fmla="*/ 657 w 1422"/>
              <a:gd name="T9" fmla="*/ 14 h 206"/>
              <a:gd name="T10" fmla="*/ 45 w 1422"/>
              <a:gd name="T11" fmla="*/ 27 h 206"/>
              <a:gd name="T12" fmla="*/ 42 w 1422"/>
              <a:gd name="T13" fmla="*/ 176 h 206"/>
            </a:gdLst>
            <a:ahLst/>
            <a:cxnLst>
              <a:cxn ang="0">
                <a:pos x="T0" y="T1"/>
              </a:cxn>
              <a:cxn ang="0">
                <a:pos x="T2" y="T3"/>
              </a:cxn>
              <a:cxn ang="0">
                <a:pos x="T4" y="T5"/>
              </a:cxn>
              <a:cxn ang="0">
                <a:pos x="T6" y="T7"/>
              </a:cxn>
              <a:cxn ang="0">
                <a:pos x="T8" y="T9"/>
              </a:cxn>
              <a:cxn ang="0">
                <a:pos x="T10" y="T11"/>
              </a:cxn>
              <a:cxn ang="0">
                <a:pos x="T12" y="T13"/>
              </a:cxn>
            </a:cxnLst>
            <a:rect l="0" t="0" r="r" b="b"/>
            <a:pathLst>
              <a:path w="1422" h="206">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68" name="Freeform 4"/>
          <p:cNvSpPr>
            <a:spLocks/>
          </p:cNvSpPr>
          <p:nvPr/>
        </p:nvSpPr>
        <p:spPr bwMode="auto">
          <a:xfrm>
            <a:off x="5472557" y="3166975"/>
            <a:ext cx="1027680" cy="1368374"/>
          </a:xfrm>
          <a:custGeom>
            <a:avLst/>
            <a:gdLst>
              <a:gd name="T0" fmla="*/ 157 w 730"/>
              <a:gd name="T1" fmla="*/ 952 h 975"/>
              <a:gd name="T2" fmla="*/ 462 w 730"/>
              <a:gd name="T3" fmla="*/ 498 h 975"/>
              <a:gd name="T4" fmla="*/ 708 w 730"/>
              <a:gd name="T5" fmla="*/ 144 h 975"/>
              <a:gd name="T6" fmla="*/ 594 w 730"/>
              <a:gd name="T7" fmla="*/ 42 h 975"/>
              <a:gd name="T8" fmla="*/ 348 w 730"/>
              <a:gd name="T9" fmla="*/ 396 h 975"/>
              <a:gd name="T10" fmla="*/ 0 w 730"/>
              <a:gd name="T11" fmla="*/ 900 h 975"/>
              <a:gd name="T12" fmla="*/ 157 w 730"/>
              <a:gd name="T13" fmla="*/ 952 h 975"/>
            </a:gdLst>
            <a:ahLst/>
            <a:cxnLst>
              <a:cxn ang="0">
                <a:pos x="T0" y="T1"/>
              </a:cxn>
              <a:cxn ang="0">
                <a:pos x="T2" y="T3"/>
              </a:cxn>
              <a:cxn ang="0">
                <a:pos x="T4" y="T5"/>
              </a:cxn>
              <a:cxn ang="0">
                <a:pos x="T6" y="T7"/>
              </a:cxn>
              <a:cxn ang="0">
                <a:pos x="T8" y="T9"/>
              </a:cxn>
              <a:cxn ang="0">
                <a:pos x="T10" y="T11"/>
              </a:cxn>
              <a:cxn ang="0">
                <a:pos x="T12" y="T13"/>
              </a:cxn>
            </a:cxnLst>
            <a:rect l="0" t="0" r="r" b="b"/>
            <a:pathLst>
              <a:path w="730" h="975">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69" name="Freeform 5"/>
          <p:cNvSpPr>
            <a:spLocks/>
          </p:cNvSpPr>
          <p:nvPr/>
        </p:nvSpPr>
        <p:spPr bwMode="auto">
          <a:xfrm rot="5265760">
            <a:off x="6138521" y="1235130"/>
            <a:ext cx="1425915" cy="1817445"/>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aphicFrame>
        <p:nvGraphicFramePr>
          <p:cNvPr id="164872" name="Object 8"/>
          <p:cNvGraphicFramePr>
            <a:graphicFrameLocks noChangeAspect="1"/>
          </p:cNvGraphicFramePr>
          <p:nvPr/>
        </p:nvGraphicFramePr>
        <p:xfrm>
          <a:off x="7092912" y="1582469"/>
          <a:ext cx="518063" cy="409810"/>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164872"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2912" y="1582469"/>
                        <a:ext cx="518063" cy="4098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873" name="Line 9"/>
          <p:cNvSpPr>
            <a:spLocks noChangeShapeType="1"/>
          </p:cNvSpPr>
          <p:nvPr/>
        </p:nvSpPr>
        <p:spPr bwMode="auto">
          <a:xfrm flipH="1">
            <a:off x="6061009" y="2135432"/>
            <a:ext cx="133035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74" name="Line 10"/>
          <p:cNvSpPr>
            <a:spLocks noChangeShapeType="1"/>
          </p:cNvSpPr>
          <p:nvPr/>
        </p:nvSpPr>
        <p:spPr bwMode="auto">
          <a:xfrm flipH="1" flipV="1">
            <a:off x="7392769" y="1981052"/>
            <a:ext cx="2816" cy="145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75" name="Line 11"/>
          <p:cNvSpPr>
            <a:spLocks noChangeShapeType="1"/>
          </p:cNvSpPr>
          <p:nvPr/>
        </p:nvSpPr>
        <p:spPr bwMode="auto">
          <a:xfrm flipH="1">
            <a:off x="6062417" y="1933334"/>
            <a:ext cx="2816" cy="1992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aphicFrame>
        <p:nvGraphicFramePr>
          <p:cNvPr id="164876" name="Object 12"/>
          <p:cNvGraphicFramePr>
            <a:graphicFrameLocks noChangeAspect="1"/>
          </p:cNvGraphicFramePr>
          <p:nvPr/>
        </p:nvGraphicFramePr>
        <p:xfrm>
          <a:off x="6552325" y="1489841"/>
          <a:ext cx="518063" cy="409810"/>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164876"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2325" y="1489841"/>
                        <a:ext cx="518063" cy="4098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877" name="Object 13"/>
          <p:cNvGraphicFramePr>
            <a:graphicFrameLocks noChangeAspect="1"/>
          </p:cNvGraphicFramePr>
          <p:nvPr/>
        </p:nvGraphicFramePr>
        <p:xfrm>
          <a:off x="5994844" y="1607731"/>
          <a:ext cx="518063" cy="409810"/>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164877"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4844" y="1607731"/>
                        <a:ext cx="518063" cy="4098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878" name="Line 14"/>
          <p:cNvSpPr>
            <a:spLocks noChangeShapeType="1"/>
          </p:cNvSpPr>
          <p:nvPr/>
        </p:nvSpPr>
        <p:spPr bwMode="auto">
          <a:xfrm flipH="1">
            <a:off x="6619898" y="2143853"/>
            <a:ext cx="2816" cy="7045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79" name="Text Box 15"/>
          <p:cNvSpPr txBox="1">
            <a:spLocks noChangeArrowheads="1"/>
          </p:cNvSpPr>
          <p:nvPr/>
        </p:nvSpPr>
        <p:spPr bwMode="auto">
          <a:xfrm>
            <a:off x="5183962" y="1931930"/>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223.1.1.1</a:t>
            </a:r>
            <a:endParaRPr lang="de-DE" sz="1400"/>
          </a:p>
        </p:txBody>
      </p:sp>
      <p:sp>
        <p:nvSpPr>
          <p:cNvPr id="164880" name="Rectangle 16"/>
          <p:cNvSpPr>
            <a:spLocks noChangeArrowheads="1"/>
          </p:cNvSpPr>
          <p:nvPr/>
        </p:nvSpPr>
        <p:spPr bwMode="auto">
          <a:xfrm>
            <a:off x="6507276" y="2556470"/>
            <a:ext cx="274517" cy="159994"/>
          </a:xfrm>
          <a:prstGeom prst="rect">
            <a:avLst/>
          </a:prstGeom>
          <a:solidFill>
            <a:srgbClr val="66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81" name="Text Box 17"/>
          <p:cNvSpPr txBox="1">
            <a:spLocks noChangeArrowheads="1"/>
          </p:cNvSpPr>
          <p:nvPr/>
        </p:nvSpPr>
        <p:spPr bwMode="auto">
          <a:xfrm>
            <a:off x="6190525" y="2469456"/>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223.1.1.3</a:t>
            </a:r>
            <a:endParaRPr lang="de-DE" sz="1400"/>
          </a:p>
        </p:txBody>
      </p:sp>
      <p:sp>
        <p:nvSpPr>
          <p:cNvPr id="164882" name="Text Box 18"/>
          <p:cNvSpPr txBox="1">
            <a:spLocks noChangeArrowheads="1"/>
          </p:cNvSpPr>
          <p:nvPr/>
        </p:nvSpPr>
        <p:spPr bwMode="auto">
          <a:xfrm>
            <a:off x="7354760" y="1936141"/>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223.1.1.4</a:t>
            </a:r>
            <a:endParaRPr lang="de-DE" sz="1400"/>
          </a:p>
        </p:txBody>
      </p:sp>
      <p:sp>
        <p:nvSpPr>
          <p:cNvPr id="164883" name="Freeform 19"/>
          <p:cNvSpPr>
            <a:spLocks/>
          </p:cNvSpPr>
          <p:nvPr/>
        </p:nvSpPr>
        <p:spPr bwMode="auto">
          <a:xfrm>
            <a:off x="4639151" y="4776744"/>
            <a:ext cx="1365547" cy="1317848"/>
          </a:xfrm>
          <a:custGeom>
            <a:avLst/>
            <a:gdLst>
              <a:gd name="T0" fmla="*/ 451 w 970"/>
              <a:gd name="T1" fmla="*/ 41 h 939"/>
              <a:gd name="T2" fmla="*/ 388 w 970"/>
              <a:gd name="T3" fmla="*/ 431 h 939"/>
              <a:gd name="T4" fmla="*/ 64 w 970"/>
              <a:gd name="T5" fmla="*/ 479 h 939"/>
              <a:gd name="T6" fmla="*/ 7 w 970"/>
              <a:gd name="T7" fmla="*/ 791 h 939"/>
              <a:gd name="T8" fmla="*/ 100 w 970"/>
              <a:gd name="T9" fmla="*/ 920 h 939"/>
              <a:gd name="T10" fmla="*/ 421 w 970"/>
              <a:gd name="T11" fmla="*/ 905 h 939"/>
              <a:gd name="T12" fmla="*/ 652 w 970"/>
              <a:gd name="T13" fmla="*/ 905 h 939"/>
              <a:gd name="T14" fmla="*/ 904 w 970"/>
              <a:gd name="T15" fmla="*/ 857 h 939"/>
              <a:gd name="T16" fmla="*/ 916 w 970"/>
              <a:gd name="T17" fmla="*/ 473 h 939"/>
              <a:gd name="T18" fmla="*/ 580 w 970"/>
              <a:gd name="T19" fmla="*/ 443 h 939"/>
              <a:gd name="T20" fmla="*/ 526 w 970"/>
              <a:gd name="T21" fmla="*/ 65 h 939"/>
              <a:gd name="T22" fmla="*/ 529 w 970"/>
              <a:gd name="T23" fmla="*/ 53 h 939"/>
              <a:gd name="T24" fmla="*/ 451 w 970"/>
              <a:gd name="T25" fmla="*/ 41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nvGrpSpPr>
          <p:cNvPr id="2" name="Group 20"/>
          <p:cNvGrpSpPr>
            <a:grpSpLocks/>
          </p:cNvGrpSpPr>
          <p:nvPr/>
        </p:nvGrpSpPr>
        <p:grpSpPr bwMode="auto">
          <a:xfrm>
            <a:off x="5026291" y="4521314"/>
            <a:ext cx="630686" cy="336830"/>
            <a:chOff x="3600" y="219"/>
            <a:chExt cx="360" cy="175"/>
          </a:xfrm>
        </p:grpSpPr>
        <p:sp>
          <p:nvSpPr>
            <p:cNvPr id="164885" name="Oval 2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86" name="Line 2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87" name="Line 2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88" name="Rectangle 24"/>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a:latin typeface="Times New Roman" pitchFamily="18" charset="0"/>
              </a:endParaRPr>
            </a:p>
          </p:txBody>
        </p:sp>
        <p:sp>
          <p:nvSpPr>
            <p:cNvPr id="164889" name="Oval 2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nvGrpSpPr>
            <p:cNvPr id="3" name="Group 26"/>
            <p:cNvGrpSpPr>
              <a:grpSpLocks/>
            </p:cNvGrpSpPr>
            <p:nvPr/>
          </p:nvGrpSpPr>
          <p:grpSpPr bwMode="auto">
            <a:xfrm>
              <a:off x="3686" y="244"/>
              <a:ext cx="177" cy="66"/>
              <a:chOff x="2848" y="848"/>
              <a:chExt cx="140" cy="98"/>
            </a:xfrm>
          </p:grpSpPr>
          <p:sp>
            <p:nvSpPr>
              <p:cNvPr id="164891" name="Line 2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92" name="Line 2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93" name="Line 2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grpSp>
          <p:nvGrpSpPr>
            <p:cNvPr id="5" name="Group 30"/>
            <p:cNvGrpSpPr>
              <a:grpSpLocks/>
            </p:cNvGrpSpPr>
            <p:nvPr/>
          </p:nvGrpSpPr>
          <p:grpSpPr bwMode="auto">
            <a:xfrm flipV="1">
              <a:off x="3686" y="243"/>
              <a:ext cx="177" cy="66"/>
              <a:chOff x="2848" y="848"/>
              <a:chExt cx="140" cy="98"/>
            </a:xfrm>
          </p:grpSpPr>
          <p:sp>
            <p:nvSpPr>
              <p:cNvPr id="164895" name="Line 3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96" name="Line 3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97" name="Line 3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grpSp>
      <p:sp>
        <p:nvSpPr>
          <p:cNvPr id="164898" name="Line 34"/>
          <p:cNvSpPr>
            <a:spLocks noChangeShapeType="1"/>
          </p:cNvSpPr>
          <p:nvPr/>
        </p:nvSpPr>
        <p:spPr bwMode="auto">
          <a:xfrm flipH="1">
            <a:off x="5309254" y="4867968"/>
            <a:ext cx="0" cy="6231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899" name="Line 35"/>
          <p:cNvSpPr>
            <a:spLocks noChangeShapeType="1"/>
          </p:cNvSpPr>
          <p:nvPr/>
        </p:nvSpPr>
        <p:spPr bwMode="auto">
          <a:xfrm flipH="1" flipV="1">
            <a:off x="4848911" y="5491105"/>
            <a:ext cx="903795" cy="421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00" name="Line 36"/>
          <p:cNvSpPr>
            <a:spLocks noChangeShapeType="1"/>
          </p:cNvSpPr>
          <p:nvPr/>
        </p:nvSpPr>
        <p:spPr bwMode="auto">
          <a:xfrm flipH="1" flipV="1">
            <a:off x="4858765" y="5505139"/>
            <a:ext cx="2816" cy="15017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01" name="Line 37"/>
          <p:cNvSpPr>
            <a:spLocks noChangeShapeType="1"/>
          </p:cNvSpPr>
          <p:nvPr/>
        </p:nvSpPr>
        <p:spPr bwMode="auto">
          <a:xfrm flipH="1" flipV="1">
            <a:off x="5741443" y="5492508"/>
            <a:ext cx="2816" cy="2133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aphicFrame>
        <p:nvGraphicFramePr>
          <p:cNvPr id="164902" name="Object 38"/>
          <p:cNvGraphicFramePr>
            <a:graphicFrameLocks noChangeAspect="1"/>
          </p:cNvGraphicFramePr>
          <p:nvPr/>
        </p:nvGraphicFramePr>
        <p:xfrm>
          <a:off x="5340226" y="5582330"/>
          <a:ext cx="518063" cy="409810"/>
        </p:xfrm>
        <a:graphic>
          <a:graphicData uri="http://schemas.openxmlformats.org/presentationml/2006/ole">
            <mc:AlternateContent xmlns:mc="http://schemas.openxmlformats.org/markup-compatibility/2006">
              <mc:Choice xmlns:v="urn:schemas-microsoft-com:vml" Requires="v">
                <p:oleObj name="Clip" r:id="rId7" imgW="1307263" imgH="1084139" progId="">
                  <p:embed/>
                </p:oleObj>
              </mc:Choice>
              <mc:Fallback>
                <p:oleObj name="Clip" r:id="rId7" imgW="1307263" imgH="1084139" progId="">
                  <p:embed/>
                  <p:pic>
                    <p:nvPicPr>
                      <p:cNvPr id="164902"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0226" y="5582330"/>
                        <a:ext cx="518063" cy="4098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903" name="Object 39"/>
          <p:cNvGraphicFramePr>
            <a:graphicFrameLocks noChangeAspect="1"/>
          </p:cNvGraphicFramePr>
          <p:nvPr/>
        </p:nvGraphicFramePr>
        <p:xfrm>
          <a:off x="4765851" y="5594961"/>
          <a:ext cx="518063" cy="409810"/>
        </p:xfrm>
        <a:graphic>
          <a:graphicData uri="http://schemas.openxmlformats.org/presentationml/2006/ole">
            <mc:AlternateContent xmlns:mc="http://schemas.openxmlformats.org/markup-compatibility/2006">
              <mc:Choice xmlns:v="urn:schemas-microsoft-com:vml" Requires="v">
                <p:oleObj name="Clip" r:id="rId8" imgW="1307263" imgH="1084139" progId="">
                  <p:embed/>
                </p:oleObj>
              </mc:Choice>
              <mc:Fallback>
                <p:oleObj name="Clip" r:id="rId8" imgW="1307263" imgH="1084139" progId="">
                  <p:embed/>
                  <p:pic>
                    <p:nvPicPr>
                      <p:cNvPr id="164903"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5851" y="5594961"/>
                        <a:ext cx="518063" cy="4098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904" name="Text Box 40"/>
          <p:cNvSpPr txBox="1">
            <a:spLocks noChangeArrowheads="1"/>
          </p:cNvSpPr>
          <p:nvPr/>
        </p:nvSpPr>
        <p:spPr bwMode="auto">
          <a:xfrm>
            <a:off x="5694986" y="5392861"/>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223.1.2.2</a:t>
            </a:r>
            <a:endParaRPr lang="de-DE" sz="1400"/>
          </a:p>
        </p:txBody>
      </p:sp>
      <p:sp>
        <p:nvSpPr>
          <p:cNvPr id="164905" name="Text Box 41"/>
          <p:cNvSpPr txBox="1">
            <a:spLocks noChangeArrowheads="1"/>
          </p:cNvSpPr>
          <p:nvPr/>
        </p:nvSpPr>
        <p:spPr bwMode="auto">
          <a:xfrm>
            <a:off x="4675345" y="5972934"/>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223.1.2.1</a:t>
            </a:r>
            <a:endParaRPr lang="de-DE" sz="1400"/>
          </a:p>
        </p:txBody>
      </p:sp>
      <p:sp>
        <p:nvSpPr>
          <p:cNvPr id="164906" name="Rectangle 42"/>
          <p:cNvSpPr>
            <a:spLocks noChangeArrowheads="1"/>
          </p:cNvSpPr>
          <p:nvPr/>
        </p:nvSpPr>
        <p:spPr bwMode="auto">
          <a:xfrm>
            <a:off x="5257167" y="4956387"/>
            <a:ext cx="114030" cy="159994"/>
          </a:xfrm>
          <a:prstGeom prst="rect">
            <a:avLst/>
          </a:prstGeom>
          <a:solidFill>
            <a:srgbClr val="66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07" name="Text Box 43"/>
          <p:cNvSpPr txBox="1">
            <a:spLocks noChangeArrowheads="1"/>
          </p:cNvSpPr>
          <p:nvPr/>
        </p:nvSpPr>
        <p:spPr bwMode="auto">
          <a:xfrm>
            <a:off x="4864396" y="4903055"/>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223.1.2.6</a:t>
            </a:r>
            <a:endParaRPr lang="de-DE" sz="1400"/>
          </a:p>
        </p:txBody>
      </p:sp>
      <p:sp>
        <p:nvSpPr>
          <p:cNvPr id="164909" name="Freeform 45"/>
          <p:cNvSpPr>
            <a:spLocks/>
          </p:cNvSpPr>
          <p:nvPr/>
        </p:nvSpPr>
        <p:spPr bwMode="auto">
          <a:xfrm>
            <a:off x="7325196" y="4793585"/>
            <a:ext cx="1365547" cy="1317848"/>
          </a:xfrm>
          <a:custGeom>
            <a:avLst/>
            <a:gdLst>
              <a:gd name="T0" fmla="*/ 451 w 970"/>
              <a:gd name="T1" fmla="*/ 41 h 939"/>
              <a:gd name="T2" fmla="*/ 388 w 970"/>
              <a:gd name="T3" fmla="*/ 431 h 939"/>
              <a:gd name="T4" fmla="*/ 64 w 970"/>
              <a:gd name="T5" fmla="*/ 479 h 939"/>
              <a:gd name="T6" fmla="*/ 7 w 970"/>
              <a:gd name="T7" fmla="*/ 791 h 939"/>
              <a:gd name="T8" fmla="*/ 100 w 970"/>
              <a:gd name="T9" fmla="*/ 920 h 939"/>
              <a:gd name="T10" fmla="*/ 421 w 970"/>
              <a:gd name="T11" fmla="*/ 905 h 939"/>
              <a:gd name="T12" fmla="*/ 652 w 970"/>
              <a:gd name="T13" fmla="*/ 905 h 939"/>
              <a:gd name="T14" fmla="*/ 904 w 970"/>
              <a:gd name="T15" fmla="*/ 857 h 939"/>
              <a:gd name="T16" fmla="*/ 916 w 970"/>
              <a:gd name="T17" fmla="*/ 473 h 939"/>
              <a:gd name="T18" fmla="*/ 580 w 970"/>
              <a:gd name="T19" fmla="*/ 443 h 939"/>
              <a:gd name="T20" fmla="*/ 526 w 970"/>
              <a:gd name="T21" fmla="*/ 65 h 939"/>
              <a:gd name="T22" fmla="*/ 529 w 970"/>
              <a:gd name="T23" fmla="*/ 53 h 939"/>
              <a:gd name="T24" fmla="*/ 451 w 970"/>
              <a:gd name="T25" fmla="*/ 41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nvGrpSpPr>
          <p:cNvPr id="6" name="Group 46"/>
          <p:cNvGrpSpPr>
            <a:grpSpLocks/>
          </p:cNvGrpSpPr>
          <p:nvPr/>
        </p:nvGrpSpPr>
        <p:grpSpPr bwMode="auto">
          <a:xfrm>
            <a:off x="7712336" y="4538156"/>
            <a:ext cx="630686" cy="336830"/>
            <a:chOff x="3600" y="219"/>
            <a:chExt cx="360" cy="175"/>
          </a:xfrm>
        </p:grpSpPr>
        <p:sp>
          <p:nvSpPr>
            <p:cNvPr id="164911" name="Oval 4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12" name="Line 48"/>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13" name="Line 49"/>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14" name="Rectangle 50"/>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a:latin typeface="Times New Roman" pitchFamily="18" charset="0"/>
              </a:endParaRPr>
            </a:p>
          </p:txBody>
        </p:sp>
        <p:sp>
          <p:nvSpPr>
            <p:cNvPr id="164915" name="Oval 5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nvGrpSpPr>
            <p:cNvPr id="7" name="Group 52"/>
            <p:cNvGrpSpPr>
              <a:grpSpLocks/>
            </p:cNvGrpSpPr>
            <p:nvPr/>
          </p:nvGrpSpPr>
          <p:grpSpPr bwMode="auto">
            <a:xfrm>
              <a:off x="3686" y="244"/>
              <a:ext cx="177" cy="66"/>
              <a:chOff x="2848" y="848"/>
              <a:chExt cx="140" cy="98"/>
            </a:xfrm>
          </p:grpSpPr>
          <p:sp>
            <p:nvSpPr>
              <p:cNvPr id="164917" name="Line 5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18" name="Line 5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19" name="Line 5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grpSp>
          <p:nvGrpSpPr>
            <p:cNvPr id="8" name="Group 56"/>
            <p:cNvGrpSpPr>
              <a:grpSpLocks/>
            </p:cNvGrpSpPr>
            <p:nvPr/>
          </p:nvGrpSpPr>
          <p:grpSpPr bwMode="auto">
            <a:xfrm flipV="1">
              <a:off x="3686" y="243"/>
              <a:ext cx="177" cy="66"/>
              <a:chOff x="2848" y="848"/>
              <a:chExt cx="140" cy="98"/>
            </a:xfrm>
          </p:grpSpPr>
          <p:sp>
            <p:nvSpPr>
              <p:cNvPr id="164921" name="Line 5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22" name="Line 5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23" name="Line 5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grpSp>
      <p:sp>
        <p:nvSpPr>
          <p:cNvPr id="164924" name="Line 60"/>
          <p:cNvSpPr>
            <a:spLocks noChangeShapeType="1"/>
          </p:cNvSpPr>
          <p:nvPr/>
        </p:nvSpPr>
        <p:spPr bwMode="auto">
          <a:xfrm flipH="1">
            <a:off x="7995299" y="4884810"/>
            <a:ext cx="0" cy="6231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25" name="Line 61"/>
          <p:cNvSpPr>
            <a:spLocks noChangeShapeType="1"/>
          </p:cNvSpPr>
          <p:nvPr/>
        </p:nvSpPr>
        <p:spPr bwMode="auto">
          <a:xfrm flipH="1" flipV="1">
            <a:off x="7534955" y="5507946"/>
            <a:ext cx="903795" cy="421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26" name="Line 62"/>
          <p:cNvSpPr>
            <a:spLocks noChangeShapeType="1"/>
          </p:cNvSpPr>
          <p:nvPr/>
        </p:nvSpPr>
        <p:spPr bwMode="auto">
          <a:xfrm flipH="1" flipV="1">
            <a:off x="7544809" y="5521981"/>
            <a:ext cx="2816" cy="15017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27" name="Line 63"/>
          <p:cNvSpPr>
            <a:spLocks noChangeShapeType="1"/>
          </p:cNvSpPr>
          <p:nvPr/>
        </p:nvSpPr>
        <p:spPr bwMode="auto">
          <a:xfrm flipH="1" flipV="1">
            <a:off x="8427488" y="5509350"/>
            <a:ext cx="2816" cy="2133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aphicFrame>
        <p:nvGraphicFramePr>
          <p:cNvPr id="164928" name="Object 64"/>
          <p:cNvGraphicFramePr>
            <a:graphicFrameLocks noChangeAspect="1"/>
          </p:cNvGraphicFramePr>
          <p:nvPr/>
        </p:nvGraphicFramePr>
        <p:xfrm>
          <a:off x="8026270" y="5599171"/>
          <a:ext cx="518063" cy="409810"/>
        </p:xfrm>
        <a:graphic>
          <a:graphicData uri="http://schemas.openxmlformats.org/presentationml/2006/ole">
            <mc:AlternateContent xmlns:mc="http://schemas.openxmlformats.org/markup-compatibility/2006">
              <mc:Choice xmlns:v="urn:schemas-microsoft-com:vml" Requires="v">
                <p:oleObj name="Clip" r:id="rId9" imgW="1307263" imgH="1084139" progId="">
                  <p:embed/>
                </p:oleObj>
              </mc:Choice>
              <mc:Fallback>
                <p:oleObj name="Clip" r:id="rId9" imgW="1307263" imgH="1084139" progId="">
                  <p:embed/>
                  <p:pic>
                    <p:nvPicPr>
                      <p:cNvPr id="164928" name="Object 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6270" y="5599171"/>
                        <a:ext cx="518063" cy="4098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929" name="Object 65"/>
          <p:cNvGraphicFramePr>
            <a:graphicFrameLocks noChangeAspect="1"/>
          </p:cNvGraphicFramePr>
          <p:nvPr/>
        </p:nvGraphicFramePr>
        <p:xfrm>
          <a:off x="7451896" y="5611802"/>
          <a:ext cx="518063" cy="409810"/>
        </p:xfrm>
        <a:graphic>
          <a:graphicData uri="http://schemas.openxmlformats.org/presentationml/2006/ole">
            <mc:AlternateContent xmlns:mc="http://schemas.openxmlformats.org/markup-compatibility/2006">
              <mc:Choice xmlns:v="urn:schemas-microsoft-com:vml" Requires="v">
                <p:oleObj name="Clip" r:id="rId10" imgW="1307263" imgH="1084139" progId="">
                  <p:embed/>
                </p:oleObj>
              </mc:Choice>
              <mc:Fallback>
                <p:oleObj name="Clip" r:id="rId10" imgW="1307263" imgH="1084139" progId="">
                  <p:embed/>
                  <p:pic>
                    <p:nvPicPr>
                      <p:cNvPr id="164929" name="Object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1896" y="5611802"/>
                        <a:ext cx="518063" cy="4098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930" name="Text Box 66"/>
          <p:cNvSpPr txBox="1">
            <a:spLocks noChangeArrowheads="1"/>
          </p:cNvSpPr>
          <p:nvPr/>
        </p:nvSpPr>
        <p:spPr bwMode="auto">
          <a:xfrm>
            <a:off x="8381031" y="5409704"/>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223.1.3.2</a:t>
            </a:r>
            <a:endParaRPr lang="de-DE" sz="1400"/>
          </a:p>
        </p:txBody>
      </p:sp>
      <p:sp>
        <p:nvSpPr>
          <p:cNvPr id="164931" name="Text Box 67"/>
          <p:cNvSpPr txBox="1">
            <a:spLocks noChangeArrowheads="1"/>
          </p:cNvSpPr>
          <p:nvPr/>
        </p:nvSpPr>
        <p:spPr bwMode="auto">
          <a:xfrm>
            <a:off x="6700141" y="5405494"/>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223.1.3.1</a:t>
            </a:r>
            <a:endParaRPr lang="de-DE" sz="1400"/>
          </a:p>
        </p:txBody>
      </p:sp>
      <p:sp>
        <p:nvSpPr>
          <p:cNvPr id="164932" name="Rectangle 68"/>
          <p:cNvSpPr>
            <a:spLocks noChangeArrowheads="1"/>
          </p:cNvSpPr>
          <p:nvPr/>
        </p:nvSpPr>
        <p:spPr bwMode="auto">
          <a:xfrm>
            <a:off x="7943212" y="4973228"/>
            <a:ext cx="114030" cy="159994"/>
          </a:xfrm>
          <a:prstGeom prst="rect">
            <a:avLst/>
          </a:prstGeom>
          <a:solidFill>
            <a:srgbClr val="66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33" name="Text Box 69"/>
          <p:cNvSpPr txBox="1">
            <a:spLocks noChangeArrowheads="1"/>
          </p:cNvSpPr>
          <p:nvPr/>
        </p:nvSpPr>
        <p:spPr bwMode="auto">
          <a:xfrm>
            <a:off x="7544809" y="4942352"/>
            <a:ext cx="909223"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223.1.3.27</a:t>
            </a:r>
            <a:endParaRPr lang="de-DE" sz="1400"/>
          </a:p>
        </p:txBody>
      </p:sp>
      <p:grpSp>
        <p:nvGrpSpPr>
          <p:cNvPr id="9" name="Group 70"/>
          <p:cNvGrpSpPr>
            <a:grpSpLocks/>
          </p:cNvGrpSpPr>
          <p:nvPr/>
        </p:nvGrpSpPr>
        <p:grpSpPr bwMode="auto">
          <a:xfrm>
            <a:off x="6327080" y="2854004"/>
            <a:ext cx="630686" cy="336830"/>
            <a:chOff x="3600" y="219"/>
            <a:chExt cx="360" cy="175"/>
          </a:xfrm>
        </p:grpSpPr>
        <p:sp>
          <p:nvSpPr>
            <p:cNvPr id="164935" name="Oval 7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36" name="Line 7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37" name="Line 7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38" name="Rectangle 74"/>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a:latin typeface="Times New Roman" pitchFamily="18" charset="0"/>
              </a:endParaRPr>
            </a:p>
          </p:txBody>
        </p:sp>
        <p:sp>
          <p:nvSpPr>
            <p:cNvPr id="164939" name="Oval 7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nvGrpSpPr>
            <p:cNvPr id="10" name="Group 76"/>
            <p:cNvGrpSpPr>
              <a:grpSpLocks/>
            </p:cNvGrpSpPr>
            <p:nvPr/>
          </p:nvGrpSpPr>
          <p:grpSpPr bwMode="auto">
            <a:xfrm>
              <a:off x="3686" y="244"/>
              <a:ext cx="177" cy="66"/>
              <a:chOff x="2848" y="848"/>
              <a:chExt cx="140" cy="98"/>
            </a:xfrm>
          </p:grpSpPr>
          <p:sp>
            <p:nvSpPr>
              <p:cNvPr id="164941" name="Line 7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42" name="Line 7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43" name="Line 7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grpSp>
          <p:nvGrpSpPr>
            <p:cNvPr id="11" name="Group 80"/>
            <p:cNvGrpSpPr>
              <a:grpSpLocks/>
            </p:cNvGrpSpPr>
            <p:nvPr/>
          </p:nvGrpSpPr>
          <p:grpSpPr bwMode="auto">
            <a:xfrm flipV="1">
              <a:off x="3686" y="243"/>
              <a:ext cx="177" cy="66"/>
              <a:chOff x="2848" y="848"/>
              <a:chExt cx="140" cy="98"/>
            </a:xfrm>
          </p:grpSpPr>
          <p:sp>
            <p:nvSpPr>
              <p:cNvPr id="164945" name="Line 8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46" name="Line 8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47" name="Line 8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grpSp>
      <p:sp>
        <p:nvSpPr>
          <p:cNvPr id="164948" name="Line 84"/>
          <p:cNvSpPr>
            <a:spLocks noChangeShapeType="1"/>
          </p:cNvSpPr>
          <p:nvPr/>
        </p:nvSpPr>
        <p:spPr bwMode="auto">
          <a:xfrm flipH="1" flipV="1">
            <a:off x="6843735" y="1896844"/>
            <a:ext cx="2816" cy="2343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49" name="Rectangle 85"/>
          <p:cNvSpPr>
            <a:spLocks noChangeArrowheads="1"/>
          </p:cNvSpPr>
          <p:nvPr/>
        </p:nvSpPr>
        <p:spPr bwMode="auto">
          <a:xfrm>
            <a:off x="6794463" y="1929123"/>
            <a:ext cx="97136" cy="172626"/>
          </a:xfrm>
          <a:prstGeom prst="rect">
            <a:avLst/>
          </a:prstGeom>
          <a:solidFill>
            <a:srgbClr val="66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50" name="Text Box 86"/>
          <p:cNvSpPr txBox="1">
            <a:spLocks noChangeArrowheads="1"/>
          </p:cNvSpPr>
          <p:nvPr/>
        </p:nvSpPr>
        <p:spPr bwMode="auto">
          <a:xfrm>
            <a:off x="6408731" y="1234411"/>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223.1.1.2</a:t>
            </a:r>
            <a:endParaRPr lang="de-DE" sz="1200"/>
          </a:p>
        </p:txBody>
      </p:sp>
      <p:sp>
        <p:nvSpPr>
          <p:cNvPr id="164951" name="Line 87"/>
          <p:cNvSpPr>
            <a:spLocks noChangeShapeType="1"/>
          </p:cNvSpPr>
          <p:nvPr/>
        </p:nvSpPr>
        <p:spPr bwMode="auto">
          <a:xfrm flipV="1">
            <a:off x="5497897" y="3183816"/>
            <a:ext cx="988262" cy="13641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52" name="Line 88"/>
          <p:cNvSpPr>
            <a:spLocks noChangeShapeType="1"/>
          </p:cNvSpPr>
          <p:nvPr/>
        </p:nvSpPr>
        <p:spPr bwMode="auto">
          <a:xfrm flipH="1" flipV="1">
            <a:off x="6840919" y="3166975"/>
            <a:ext cx="1131855" cy="13641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53" name="Line 89"/>
          <p:cNvSpPr>
            <a:spLocks noChangeShapeType="1"/>
          </p:cNvSpPr>
          <p:nvPr/>
        </p:nvSpPr>
        <p:spPr bwMode="auto">
          <a:xfrm flipH="1" flipV="1">
            <a:off x="5666831" y="4724815"/>
            <a:ext cx="2044097" cy="842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164954" name="Text Box 90"/>
          <p:cNvSpPr txBox="1">
            <a:spLocks noChangeArrowheads="1"/>
          </p:cNvSpPr>
          <p:nvPr/>
        </p:nvSpPr>
        <p:spPr bwMode="auto">
          <a:xfrm>
            <a:off x="6911308" y="3089785"/>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223.1.7.0</a:t>
            </a:r>
            <a:endParaRPr lang="de-DE" sz="1400"/>
          </a:p>
        </p:txBody>
      </p:sp>
      <p:sp>
        <p:nvSpPr>
          <p:cNvPr id="164955" name="Text Box 91"/>
          <p:cNvSpPr txBox="1">
            <a:spLocks noChangeArrowheads="1"/>
          </p:cNvSpPr>
          <p:nvPr/>
        </p:nvSpPr>
        <p:spPr bwMode="auto">
          <a:xfrm>
            <a:off x="7865783" y="4226588"/>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223.1.7.1</a:t>
            </a:r>
            <a:endParaRPr lang="de-DE" sz="1400"/>
          </a:p>
        </p:txBody>
      </p:sp>
      <p:sp>
        <p:nvSpPr>
          <p:cNvPr id="164956" name="Text Box 92"/>
          <p:cNvSpPr txBox="1">
            <a:spLocks noChangeArrowheads="1"/>
          </p:cNvSpPr>
          <p:nvPr/>
        </p:nvSpPr>
        <p:spPr bwMode="auto">
          <a:xfrm>
            <a:off x="6767715" y="4453948"/>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223.1.8.0</a:t>
            </a:r>
            <a:endParaRPr lang="de-DE" sz="1400"/>
          </a:p>
        </p:txBody>
      </p:sp>
      <p:sp>
        <p:nvSpPr>
          <p:cNvPr id="164957" name="Text Box 93"/>
          <p:cNvSpPr txBox="1">
            <a:spLocks noChangeArrowheads="1"/>
          </p:cNvSpPr>
          <p:nvPr/>
        </p:nvSpPr>
        <p:spPr bwMode="auto">
          <a:xfrm>
            <a:off x="5661199" y="4453948"/>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223.1.8.1</a:t>
            </a:r>
            <a:endParaRPr lang="de-DE" sz="1400"/>
          </a:p>
        </p:txBody>
      </p:sp>
      <p:sp>
        <p:nvSpPr>
          <p:cNvPr id="164958" name="Text Box 94"/>
          <p:cNvSpPr txBox="1">
            <a:spLocks noChangeArrowheads="1"/>
          </p:cNvSpPr>
          <p:nvPr/>
        </p:nvSpPr>
        <p:spPr bwMode="auto">
          <a:xfrm>
            <a:off x="4706724" y="4192905"/>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223.1.9.1</a:t>
            </a:r>
            <a:endParaRPr lang="de-DE" sz="1400"/>
          </a:p>
        </p:txBody>
      </p:sp>
      <p:sp>
        <p:nvSpPr>
          <p:cNvPr id="164959" name="Text Box 95"/>
          <p:cNvSpPr txBox="1">
            <a:spLocks noChangeArrowheads="1"/>
          </p:cNvSpPr>
          <p:nvPr/>
        </p:nvSpPr>
        <p:spPr bwMode="auto">
          <a:xfrm>
            <a:off x="5475372" y="3098206"/>
            <a:ext cx="824265"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200">
                <a:latin typeface="Arial" charset="0"/>
              </a:rPr>
              <a:t>223.1.9.2</a:t>
            </a:r>
            <a:endParaRPr lang="de-DE" sz="1400"/>
          </a:p>
        </p:txBody>
      </p:sp>
      <p:sp>
        <p:nvSpPr>
          <p:cNvPr id="99" name="Rectangle 6"/>
          <p:cNvSpPr>
            <a:spLocks noGrp="1" noChangeArrowheads="1"/>
          </p:cNvSpPr>
          <p:nvPr>
            <p:ph sz="quarter" idx="1"/>
          </p:nvPr>
        </p:nvSpPr>
        <p:spPr>
          <a:xfrm>
            <a:off x="457200" y="1219200"/>
            <a:ext cx="4371308" cy="5522168"/>
          </a:xfrm>
        </p:spPr>
        <p:txBody>
          <a:bodyPr>
            <a:normAutofit fontScale="92500"/>
          </a:bodyPr>
          <a:lstStyle/>
          <a:p>
            <a:r>
              <a:rPr lang="de-DE" sz="2400" dirty="0">
                <a:solidFill>
                  <a:srgbClr val="000000"/>
                </a:solidFill>
              </a:rPr>
              <a:t>„Netzwerk“: Eine zusammen-hängende Netzkomponente an einem einzigen </a:t>
            </a:r>
            <a:r>
              <a:rPr lang="de-DE" sz="2400" dirty="0" err="1">
                <a:solidFill>
                  <a:srgbClr val="000000"/>
                </a:solidFill>
              </a:rPr>
              <a:t>Routerausgang</a:t>
            </a:r>
            <a:endParaRPr lang="de-DE" sz="2400" dirty="0">
              <a:solidFill>
                <a:srgbClr val="000000"/>
              </a:solidFill>
            </a:endParaRPr>
          </a:p>
          <a:p>
            <a:r>
              <a:rPr lang="de-DE" sz="2400" i="1" dirty="0">
                <a:solidFill>
                  <a:srgbClr val="000000"/>
                </a:solidFill>
              </a:rPr>
              <a:t>Um die (Sub)Netzwerke zu bestimmen, </a:t>
            </a:r>
            <a:r>
              <a:rPr lang="de-DE" sz="2400" i="1" u="sng" dirty="0">
                <a:solidFill>
                  <a:srgbClr val="000000"/>
                </a:solidFill>
              </a:rPr>
              <a:t>trennen</a:t>
            </a:r>
            <a:r>
              <a:rPr lang="de-DE" sz="2400" i="1" dirty="0">
                <a:solidFill>
                  <a:srgbClr val="000000"/>
                </a:solidFill>
              </a:rPr>
              <a:t> Sie jede Schnittstelle von ihrem Router. Dadurch entstehen „Inseln“ (aus verbundenen Leitungen + Interfaces), in denen sich separate Netzwerke (…) befinden. Jedes dieser einzelnen Netzwerke wird als (</a:t>
            </a:r>
            <a:r>
              <a:rPr lang="de-DE" sz="2400" b="1" i="1" dirty="0">
                <a:solidFill>
                  <a:srgbClr val="FF0000"/>
                </a:solidFill>
              </a:rPr>
              <a:t>Sub)Netzwerk </a:t>
            </a:r>
            <a:r>
              <a:rPr lang="de-DE" sz="2400" i="1" dirty="0">
                <a:solidFill>
                  <a:srgbClr val="000000"/>
                </a:solidFill>
              </a:rPr>
              <a:t>bezeichnet.</a:t>
            </a:r>
          </a:p>
          <a:p>
            <a:r>
              <a:rPr lang="de-DE" sz="2400" dirty="0">
                <a:solidFill>
                  <a:srgbClr val="000000"/>
                </a:solidFill>
              </a:rPr>
              <a:t>Hier: wie viele (Sub)Netzwerke?</a:t>
            </a:r>
          </a:p>
        </p:txBody>
      </p:sp>
      <p:sp>
        <p:nvSpPr>
          <p:cNvPr id="4" name="Rounded Rectangle 3"/>
          <p:cNvSpPr/>
          <p:nvPr/>
        </p:nvSpPr>
        <p:spPr>
          <a:xfrm>
            <a:off x="7411774" y="3479431"/>
            <a:ext cx="344753" cy="355046"/>
          </a:xfrm>
          <a:prstGeom prst="roundRect">
            <a:avLst>
              <a:gd name="adj" fmla="val 2677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solidFill>
                  <a:schemeClr val="tx1"/>
                </a:solidFill>
              </a:rPr>
              <a:t>4</a:t>
            </a:r>
          </a:p>
        </p:txBody>
      </p:sp>
      <p:sp>
        <p:nvSpPr>
          <p:cNvPr id="101" name="Rounded Rectangle 100"/>
          <p:cNvSpPr/>
          <p:nvPr/>
        </p:nvSpPr>
        <p:spPr>
          <a:xfrm>
            <a:off x="6970560" y="1981052"/>
            <a:ext cx="344753" cy="355046"/>
          </a:xfrm>
          <a:prstGeom prst="roundRect">
            <a:avLst>
              <a:gd name="adj" fmla="val 2677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solidFill>
                  <a:schemeClr val="tx1"/>
                </a:solidFill>
              </a:rPr>
              <a:t>1</a:t>
            </a:r>
          </a:p>
        </p:txBody>
      </p:sp>
      <p:sp>
        <p:nvSpPr>
          <p:cNvPr id="102" name="Rounded Rectangle 101"/>
          <p:cNvSpPr/>
          <p:nvPr/>
        </p:nvSpPr>
        <p:spPr>
          <a:xfrm>
            <a:off x="8464036" y="5876824"/>
            <a:ext cx="344753" cy="355046"/>
          </a:xfrm>
          <a:prstGeom prst="roundRect">
            <a:avLst>
              <a:gd name="adj" fmla="val 2677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solidFill>
                  <a:schemeClr val="tx1"/>
                </a:solidFill>
              </a:rPr>
              <a:t>2</a:t>
            </a:r>
          </a:p>
        </p:txBody>
      </p:sp>
      <p:sp>
        <p:nvSpPr>
          <p:cNvPr id="103" name="Rounded Rectangle 102"/>
          <p:cNvSpPr/>
          <p:nvPr/>
        </p:nvSpPr>
        <p:spPr>
          <a:xfrm>
            <a:off x="5641644" y="5933910"/>
            <a:ext cx="344753" cy="355046"/>
          </a:xfrm>
          <a:prstGeom prst="roundRect">
            <a:avLst>
              <a:gd name="adj" fmla="val 2677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solidFill>
                  <a:schemeClr val="tx1"/>
                </a:solidFill>
              </a:rPr>
              <a:t>3</a:t>
            </a:r>
          </a:p>
        </p:txBody>
      </p:sp>
      <p:sp>
        <p:nvSpPr>
          <p:cNvPr id="104" name="Rounded Rectangle 103"/>
          <p:cNvSpPr/>
          <p:nvPr/>
        </p:nvSpPr>
        <p:spPr>
          <a:xfrm>
            <a:off x="6483283" y="4701416"/>
            <a:ext cx="344753" cy="355046"/>
          </a:xfrm>
          <a:prstGeom prst="roundRect">
            <a:avLst>
              <a:gd name="adj" fmla="val 2677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solidFill>
                  <a:schemeClr val="tx1"/>
                </a:solidFill>
              </a:rPr>
              <a:t>5</a:t>
            </a:r>
          </a:p>
        </p:txBody>
      </p:sp>
      <p:sp>
        <p:nvSpPr>
          <p:cNvPr id="105" name="Rounded Rectangle 104"/>
          <p:cNvSpPr/>
          <p:nvPr/>
        </p:nvSpPr>
        <p:spPr>
          <a:xfrm>
            <a:off x="5697930" y="3508976"/>
            <a:ext cx="344753" cy="355046"/>
          </a:xfrm>
          <a:prstGeom prst="roundRect">
            <a:avLst>
              <a:gd name="adj" fmla="val 2677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solidFill>
                  <a:schemeClr val="tx1"/>
                </a:solidFill>
              </a:rPr>
              <a:t>6</a:t>
            </a:r>
          </a:p>
        </p:txBody>
      </p:sp>
    </p:spTree>
    <p:extLst>
      <p:ext uri="{BB962C8B-B14F-4D97-AF65-F5344CB8AC3E}">
        <p14:creationId xmlns:p14="http://schemas.microsoft.com/office/powerpoint/2010/main" val="69882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nodeType="clickEffect">
                                  <p:stCondLst>
                                    <p:cond delay="0"/>
                                  </p:stCondLst>
                                  <p:childTnLst>
                                    <p:anim calcmode="lin" valueType="num">
                                      <p:cBhvr>
                                        <p:cTn id="6" dur="1000"/>
                                        <p:tgtEl>
                                          <p:spTgt spid="2"/>
                                        </p:tgtEl>
                                        <p:attrNameLst>
                                          <p:attrName>ppt_w</p:attrName>
                                        </p:attrNameLst>
                                      </p:cBhvr>
                                      <p:tavLst>
                                        <p:tav tm="0">
                                          <p:val>
                                            <p:strVal val="ppt_w"/>
                                          </p:val>
                                        </p:tav>
                                        <p:tav tm="100000">
                                          <p:val>
                                            <p:fltVal val="0"/>
                                          </p:val>
                                        </p:tav>
                                      </p:tavLst>
                                    </p:anim>
                                    <p:anim calcmode="lin" valueType="num">
                                      <p:cBhvr>
                                        <p:cTn id="7" dur="1000"/>
                                        <p:tgtEl>
                                          <p:spTgt spid="2"/>
                                        </p:tgtEl>
                                        <p:attrNameLst>
                                          <p:attrName>ppt_h</p:attrName>
                                        </p:attrNameLst>
                                      </p:cBhvr>
                                      <p:tavLst>
                                        <p:tav tm="0">
                                          <p:val>
                                            <p:strVal val="ppt_h"/>
                                          </p:val>
                                        </p:tav>
                                        <p:tav tm="100000">
                                          <p:val>
                                            <p:fltVal val="0"/>
                                          </p:val>
                                        </p:tav>
                                      </p:tavLst>
                                    </p:anim>
                                    <p:anim calcmode="lin" valueType="num">
                                      <p:cBhvr>
                                        <p:cTn id="8" dur="1000"/>
                                        <p:tgtEl>
                                          <p:spTgt spid="2"/>
                                        </p:tgtEl>
                                        <p:attrNameLst>
                                          <p:attrName>style.rotation</p:attrName>
                                        </p:attrNameLst>
                                      </p:cBhvr>
                                      <p:tavLst>
                                        <p:tav tm="0">
                                          <p:val>
                                            <p:fltVal val="0"/>
                                          </p:val>
                                        </p:tav>
                                        <p:tav tm="100000">
                                          <p:val>
                                            <p:fltVal val="90"/>
                                          </p:val>
                                        </p:tav>
                                      </p:tavLst>
                                    </p:anim>
                                    <p:animEffect transition="out" filter="fade">
                                      <p:cBhvr>
                                        <p:cTn id="9" dur="1000"/>
                                        <p:tgtEl>
                                          <p:spTgt spid="2"/>
                                        </p:tgtEl>
                                      </p:cBhvr>
                                    </p:animEffect>
                                    <p:set>
                                      <p:cBhvr>
                                        <p:cTn id="10" dur="1" fill="hold">
                                          <p:stCondLst>
                                            <p:cond delay="999"/>
                                          </p:stCondLst>
                                        </p:cTn>
                                        <p:tgtEl>
                                          <p:spTgt spid="2"/>
                                        </p:tgtEl>
                                        <p:attrNameLst>
                                          <p:attrName>style.visibility</p:attrName>
                                        </p:attrNameLst>
                                      </p:cBhvr>
                                      <p:to>
                                        <p:strVal val="hidden"/>
                                      </p:to>
                                    </p:set>
                                  </p:childTnLst>
                                </p:cTn>
                              </p:par>
                              <p:par>
                                <p:cTn id="11" presetID="31" presetClass="exit" presetSubtype="0" fill="hold" nodeType="withEffect">
                                  <p:stCondLst>
                                    <p:cond delay="0"/>
                                  </p:stCondLst>
                                  <p:childTnLst>
                                    <p:anim calcmode="lin" valueType="num">
                                      <p:cBhvr>
                                        <p:cTn id="12" dur="1000"/>
                                        <p:tgtEl>
                                          <p:spTgt spid="6"/>
                                        </p:tgtEl>
                                        <p:attrNameLst>
                                          <p:attrName>ppt_w</p:attrName>
                                        </p:attrNameLst>
                                      </p:cBhvr>
                                      <p:tavLst>
                                        <p:tav tm="0">
                                          <p:val>
                                            <p:strVal val="ppt_w"/>
                                          </p:val>
                                        </p:tav>
                                        <p:tav tm="100000">
                                          <p:val>
                                            <p:fltVal val="0"/>
                                          </p:val>
                                        </p:tav>
                                      </p:tavLst>
                                    </p:anim>
                                    <p:anim calcmode="lin" valueType="num">
                                      <p:cBhvr>
                                        <p:cTn id="13" dur="1000"/>
                                        <p:tgtEl>
                                          <p:spTgt spid="6"/>
                                        </p:tgtEl>
                                        <p:attrNameLst>
                                          <p:attrName>ppt_h</p:attrName>
                                        </p:attrNameLst>
                                      </p:cBhvr>
                                      <p:tavLst>
                                        <p:tav tm="0">
                                          <p:val>
                                            <p:strVal val="ppt_h"/>
                                          </p:val>
                                        </p:tav>
                                        <p:tav tm="100000">
                                          <p:val>
                                            <p:fltVal val="0"/>
                                          </p:val>
                                        </p:tav>
                                      </p:tavLst>
                                    </p:anim>
                                    <p:anim calcmode="lin" valueType="num">
                                      <p:cBhvr>
                                        <p:cTn id="14" dur="1000"/>
                                        <p:tgtEl>
                                          <p:spTgt spid="6"/>
                                        </p:tgtEl>
                                        <p:attrNameLst>
                                          <p:attrName>style.rotation</p:attrName>
                                        </p:attrNameLst>
                                      </p:cBhvr>
                                      <p:tavLst>
                                        <p:tav tm="0">
                                          <p:val>
                                            <p:fltVal val="0"/>
                                          </p:val>
                                        </p:tav>
                                        <p:tav tm="100000">
                                          <p:val>
                                            <p:fltVal val="90"/>
                                          </p:val>
                                        </p:tav>
                                      </p:tavLst>
                                    </p:anim>
                                    <p:animEffect transition="out" filter="fade">
                                      <p:cBhvr>
                                        <p:cTn id="15" dur="1000"/>
                                        <p:tgtEl>
                                          <p:spTgt spid="6"/>
                                        </p:tgtEl>
                                      </p:cBhvr>
                                    </p:animEffect>
                                    <p:set>
                                      <p:cBhvr>
                                        <p:cTn id="16" dur="1" fill="hold">
                                          <p:stCondLst>
                                            <p:cond delay="999"/>
                                          </p:stCondLst>
                                        </p:cTn>
                                        <p:tgtEl>
                                          <p:spTgt spid="6"/>
                                        </p:tgtEl>
                                        <p:attrNameLst>
                                          <p:attrName>style.visibility</p:attrName>
                                        </p:attrNameLst>
                                      </p:cBhvr>
                                      <p:to>
                                        <p:strVal val="hidden"/>
                                      </p:to>
                                    </p:set>
                                  </p:childTnLst>
                                </p:cTn>
                              </p:par>
                              <p:par>
                                <p:cTn id="17" presetID="31" presetClass="exit" presetSubtype="0" fill="hold" nodeType="withEffect">
                                  <p:stCondLst>
                                    <p:cond delay="0"/>
                                  </p:stCondLst>
                                  <p:childTnLst>
                                    <p:anim calcmode="lin" valueType="num">
                                      <p:cBhvr>
                                        <p:cTn id="18" dur="1000"/>
                                        <p:tgtEl>
                                          <p:spTgt spid="9"/>
                                        </p:tgtEl>
                                        <p:attrNameLst>
                                          <p:attrName>ppt_w</p:attrName>
                                        </p:attrNameLst>
                                      </p:cBhvr>
                                      <p:tavLst>
                                        <p:tav tm="0">
                                          <p:val>
                                            <p:strVal val="ppt_w"/>
                                          </p:val>
                                        </p:tav>
                                        <p:tav tm="100000">
                                          <p:val>
                                            <p:fltVal val="0"/>
                                          </p:val>
                                        </p:tav>
                                      </p:tavLst>
                                    </p:anim>
                                    <p:anim calcmode="lin" valueType="num">
                                      <p:cBhvr>
                                        <p:cTn id="19" dur="1000"/>
                                        <p:tgtEl>
                                          <p:spTgt spid="9"/>
                                        </p:tgtEl>
                                        <p:attrNameLst>
                                          <p:attrName>ppt_h</p:attrName>
                                        </p:attrNameLst>
                                      </p:cBhvr>
                                      <p:tavLst>
                                        <p:tav tm="0">
                                          <p:val>
                                            <p:strVal val="ppt_h"/>
                                          </p:val>
                                        </p:tav>
                                        <p:tav tm="100000">
                                          <p:val>
                                            <p:fltVal val="0"/>
                                          </p:val>
                                        </p:tav>
                                      </p:tavLst>
                                    </p:anim>
                                    <p:anim calcmode="lin" valueType="num">
                                      <p:cBhvr>
                                        <p:cTn id="20" dur="1000"/>
                                        <p:tgtEl>
                                          <p:spTgt spid="9"/>
                                        </p:tgtEl>
                                        <p:attrNameLst>
                                          <p:attrName>style.rotation</p:attrName>
                                        </p:attrNameLst>
                                      </p:cBhvr>
                                      <p:tavLst>
                                        <p:tav tm="0">
                                          <p:val>
                                            <p:fltVal val="0"/>
                                          </p:val>
                                        </p:tav>
                                        <p:tav tm="100000">
                                          <p:val>
                                            <p:fltVal val="90"/>
                                          </p:val>
                                        </p:tav>
                                      </p:tavLst>
                                    </p:anim>
                                    <p:animEffect transition="out" filter="fade">
                                      <p:cBhvr>
                                        <p:cTn id="21" dur="1000"/>
                                        <p:tgtEl>
                                          <p:spTgt spid="9"/>
                                        </p:tgtEl>
                                      </p:cBhvr>
                                    </p:animEffect>
                                    <p:set>
                                      <p:cBhvr>
                                        <p:cTn id="22" dur="1" fill="hold">
                                          <p:stCondLst>
                                            <p:cond delay="9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101"/>
                                        </p:tgtEl>
                                        <p:attrNameLst>
                                          <p:attrName>style.visibility</p:attrName>
                                        </p:attrNameLst>
                                      </p:cBhvr>
                                      <p:to>
                                        <p:strVal val="visible"/>
                                      </p:to>
                                    </p:set>
                                    <p:animEffect transition="in" filter="wheel(1)">
                                      <p:cBhvr>
                                        <p:cTn id="27" dur="2000"/>
                                        <p:tgtEl>
                                          <p:spTgt spid="101"/>
                                        </p:tgtEl>
                                      </p:cBhvr>
                                    </p:animEffect>
                                  </p:childTnLst>
                                </p:cTn>
                              </p:par>
                              <p:par>
                                <p:cTn id="28" presetID="21" presetClass="entr" presetSubtype="1" fill="hold" grpId="0" nodeType="withEffect">
                                  <p:stCondLst>
                                    <p:cond delay="0"/>
                                  </p:stCondLst>
                                  <p:childTnLst>
                                    <p:set>
                                      <p:cBhvr>
                                        <p:cTn id="29" dur="1" fill="hold">
                                          <p:stCondLst>
                                            <p:cond delay="0"/>
                                          </p:stCondLst>
                                        </p:cTn>
                                        <p:tgtEl>
                                          <p:spTgt spid="102"/>
                                        </p:tgtEl>
                                        <p:attrNameLst>
                                          <p:attrName>style.visibility</p:attrName>
                                        </p:attrNameLst>
                                      </p:cBhvr>
                                      <p:to>
                                        <p:strVal val="visible"/>
                                      </p:to>
                                    </p:set>
                                    <p:animEffect transition="in" filter="wheel(1)">
                                      <p:cBhvr>
                                        <p:cTn id="30" dur="2000"/>
                                        <p:tgtEl>
                                          <p:spTgt spid="102"/>
                                        </p:tgtEl>
                                      </p:cBhvr>
                                    </p:animEffect>
                                  </p:childTnLst>
                                </p:cTn>
                              </p:par>
                              <p:par>
                                <p:cTn id="31" presetID="21" presetClass="entr" presetSubtype="1" fill="hold" grpId="0" nodeType="withEffect">
                                  <p:stCondLst>
                                    <p:cond delay="0"/>
                                  </p:stCondLst>
                                  <p:childTnLst>
                                    <p:set>
                                      <p:cBhvr>
                                        <p:cTn id="32" dur="1" fill="hold">
                                          <p:stCondLst>
                                            <p:cond delay="0"/>
                                          </p:stCondLst>
                                        </p:cTn>
                                        <p:tgtEl>
                                          <p:spTgt spid="103"/>
                                        </p:tgtEl>
                                        <p:attrNameLst>
                                          <p:attrName>style.visibility</p:attrName>
                                        </p:attrNameLst>
                                      </p:cBhvr>
                                      <p:to>
                                        <p:strVal val="visible"/>
                                      </p:to>
                                    </p:set>
                                    <p:animEffect transition="in" filter="wheel(1)">
                                      <p:cBhvr>
                                        <p:cTn id="33" dur="2000"/>
                                        <p:tgtEl>
                                          <p:spTgt spid="103"/>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randombar(horizontal)">
                                      <p:cBhvr>
                                        <p:cTn id="38" dur="500"/>
                                        <p:tgtEl>
                                          <p:spTgt spid="4"/>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104"/>
                                        </p:tgtEl>
                                        <p:attrNameLst>
                                          <p:attrName>style.visibility</p:attrName>
                                        </p:attrNameLst>
                                      </p:cBhvr>
                                      <p:to>
                                        <p:strVal val="visible"/>
                                      </p:to>
                                    </p:set>
                                    <p:animEffect transition="in" filter="randombar(horizontal)">
                                      <p:cBhvr>
                                        <p:cTn id="41" dur="500"/>
                                        <p:tgtEl>
                                          <p:spTgt spid="104"/>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105"/>
                                        </p:tgtEl>
                                        <p:attrNameLst>
                                          <p:attrName>style.visibility</p:attrName>
                                        </p:attrNameLst>
                                      </p:cBhvr>
                                      <p:to>
                                        <p:strVal val="visible"/>
                                      </p:to>
                                    </p:set>
                                    <p:animEffect transition="in" filter="randombar(horizontal)">
                                      <p:cBhvr>
                                        <p:cTn id="44"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1" grpId="0" animBg="1"/>
      <p:bldP spid="102" grpId="0" animBg="1"/>
      <p:bldP spid="103" grpId="0" animBg="1"/>
      <p:bldP spid="104" grpId="0" animBg="1"/>
      <p:bldP spid="105"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 name="Slide Number Placeholder 6"/>
          <p:cNvSpPr>
            <a:spLocks noGrp="1"/>
          </p:cNvSpPr>
          <p:nvPr>
            <p:ph type="sldNum" sz="quarter" idx="12"/>
          </p:nvPr>
        </p:nvSpPr>
        <p:spPr/>
        <p:txBody>
          <a:bodyPr/>
          <a:lstStyle/>
          <a:p>
            <a:fld id="{DAD4710D-7044-4A3F-B9DE-CA79DBB0B75F}" type="slidenum">
              <a:rPr lang="de-DE" smtClean="0"/>
              <a:pPr/>
              <a:t>12</a:t>
            </a:fld>
            <a:endParaRPr lang="de-DE"/>
          </a:p>
        </p:txBody>
      </p:sp>
      <p:sp>
        <p:nvSpPr>
          <p:cNvPr id="163842" name="Freeform 2"/>
          <p:cNvSpPr>
            <a:spLocks/>
          </p:cNvSpPr>
          <p:nvPr/>
        </p:nvSpPr>
        <p:spPr bwMode="auto">
          <a:xfrm>
            <a:off x="4502695" y="1379538"/>
            <a:ext cx="1941513" cy="2049462"/>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43" name="Freeform 3"/>
          <p:cNvSpPr>
            <a:spLocks/>
          </p:cNvSpPr>
          <p:nvPr/>
        </p:nvSpPr>
        <p:spPr bwMode="auto">
          <a:xfrm>
            <a:off x="7018883" y="1666875"/>
            <a:ext cx="1906587" cy="1958975"/>
          </a:xfrm>
          <a:custGeom>
            <a:avLst/>
            <a:gdLst>
              <a:gd name="T0" fmla="*/ 25 w 1201"/>
              <a:gd name="T1" fmla="*/ 709 h 1234"/>
              <a:gd name="T2" fmla="*/ 526 w 1201"/>
              <a:gd name="T3" fmla="*/ 780 h 1234"/>
              <a:gd name="T4" fmla="*/ 613 w 1201"/>
              <a:gd name="T5" fmla="*/ 1134 h 1234"/>
              <a:gd name="T6" fmla="*/ 946 w 1201"/>
              <a:gd name="T7" fmla="*/ 1230 h 1234"/>
              <a:gd name="T8" fmla="*/ 1171 w 1201"/>
              <a:gd name="T9" fmla="*/ 1107 h 1234"/>
              <a:gd name="T10" fmla="*/ 1126 w 1201"/>
              <a:gd name="T11" fmla="*/ 894 h 1234"/>
              <a:gd name="T12" fmla="*/ 1114 w 1201"/>
              <a:gd name="T13" fmla="*/ 693 h 1234"/>
              <a:gd name="T14" fmla="*/ 1099 w 1201"/>
              <a:gd name="T15" fmla="*/ 423 h 1234"/>
              <a:gd name="T16" fmla="*/ 1141 w 1201"/>
              <a:gd name="T17" fmla="*/ 216 h 1234"/>
              <a:gd name="T18" fmla="*/ 1102 w 1201"/>
              <a:gd name="T19" fmla="*/ 33 h 1234"/>
              <a:gd name="T20" fmla="*/ 646 w 1201"/>
              <a:gd name="T21" fmla="*/ 81 h 1234"/>
              <a:gd name="T22" fmla="*/ 535 w 1201"/>
              <a:gd name="T23" fmla="*/ 519 h 1234"/>
              <a:gd name="T24" fmla="*/ 44 w 1201"/>
              <a:gd name="T25" fmla="*/ 548 h 1234"/>
              <a:gd name="T26" fmla="*/ 25 w 1201"/>
              <a:gd name="T27" fmla="*/ 709 h 1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45" name="Rectangle 5"/>
          <p:cNvSpPr>
            <a:spLocks noGrp="1" noChangeArrowheads="1"/>
          </p:cNvSpPr>
          <p:nvPr>
            <p:ph type="title"/>
          </p:nvPr>
        </p:nvSpPr>
        <p:spPr>
          <a:xfrm>
            <a:off x="457200" y="228600"/>
            <a:ext cx="8435280" cy="914400"/>
          </a:xfrm>
        </p:spPr>
        <p:txBody>
          <a:bodyPr>
            <a:normAutofit/>
          </a:bodyPr>
          <a:lstStyle/>
          <a:p>
            <a:r>
              <a:rPr lang="de-DE" dirty="0"/>
              <a:t>Adressen in (Sub)Netzwerken (= Subnetzen)</a:t>
            </a:r>
          </a:p>
        </p:txBody>
      </p:sp>
      <p:sp>
        <p:nvSpPr>
          <p:cNvPr id="163846" name="Rectangle 6"/>
          <p:cNvSpPr>
            <a:spLocks noGrp="1" noChangeArrowheads="1"/>
          </p:cNvSpPr>
          <p:nvPr>
            <p:ph type="body" sz="half" idx="1"/>
          </p:nvPr>
        </p:nvSpPr>
        <p:spPr>
          <a:xfrm>
            <a:off x="476250" y="1333500"/>
            <a:ext cx="4239766" cy="3823692"/>
          </a:xfrm>
        </p:spPr>
        <p:txBody>
          <a:bodyPr>
            <a:normAutofit/>
          </a:bodyPr>
          <a:lstStyle/>
          <a:p>
            <a:r>
              <a:rPr lang="de-DE" sz="2400" dirty="0">
                <a:solidFill>
                  <a:srgbClr val="000000"/>
                </a:solidFill>
              </a:rPr>
              <a:t>In einem Subnetz haben i.A. alle Interfaces die IP-Adressen aus einem zusammenhängenden Bereich</a:t>
            </a:r>
          </a:p>
          <a:p>
            <a:pPr lvl="1"/>
            <a:r>
              <a:rPr lang="de-DE" sz="2100" dirty="0">
                <a:solidFill>
                  <a:srgbClr val="000000"/>
                </a:solidFill>
              </a:rPr>
              <a:t>Auch die IP-Adresse des Router-Interfaces ist dabei</a:t>
            </a:r>
          </a:p>
          <a:p>
            <a:r>
              <a:rPr lang="de-DE" sz="2400" dirty="0">
                <a:solidFill>
                  <a:srgbClr val="000000"/>
                </a:solidFill>
              </a:rPr>
              <a:t>Was wären die minimalen Adressenbereiche in Subnetzen A? Und in B?</a:t>
            </a:r>
          </a:p>
          <a:p>
            <a:endParaRPr lang="de-DE" sz="2000" dirty="0">
              <a:solidFill>
                <a:srgbClr val="000000"/>
              </a:solidFill>
            </a:endParaRPr>
          </a:p>
        </p:txBody>
      </p:sp>
      <p:graphicFrame>
        <p:nvGraphicFramePr>
          <p:cNvPr id="163847" name="Object 7"/>
          <p:cNvGraphicFramePr>
            <a:graphicFrameLocks noChangeAspect="1"/>
          </p:cNvGraphicFramePr>
          <p:nvPr/>
        </p:nvGraphicFramePr>
        <p:xfrm>
          <a:off x="4580483" y="1484313"/>
          <a:ext cx="584200" cy="463550"/>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16384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0483" y="1484313"/>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48" name="Line 8"/>
          <p:cNvSpPr>
            <a:spLocks noChangeShapeType="1"/>
          </p:cNvSpPr>
          <p:nvPr/>
        </p:nvSpPr>
        <p:spPr bwMode="auto">
          <a:xfrm>
            <a:off x="5140870" y="1857375"/>
            <a:ext cx="277813"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49" name="Line 9"/>
          <p:cNvSpPr>
            <a:spLocks noChangeShapeType="1"/>
          </p:cNvSpPr>
          <p:nvPr/>
        </p:nvSpPr>
        <p:spPr bwMode="auto">
          <a:xfrm flipH="1">
            <a:off x="5431383" y="1843088"/>
            <a:ext cx="0" cy="12906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50" name="Line 10"/>
          <p:cNvSpPr>
            <a:spLocks noChangeShapeType="1"/>
          </p:cNvSpPr>
          <p:nvPr/>
        </p:nvSpPr>
        <p:spPr bwMode="auto">
          <a:xfrm flipV="1">
            <a:off x="5140870" y="2501900"/>
            <a:ext cx="277813" cy="3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51" name="Line 11"/>
          <p:cNvSpPr>
            <a:spLocks noChangeShapeType="1"/>
          </p:cNvSpPr>
          <p:nvPr/>
        </p:nvSpPr>
        <p:spPr bwMode="auto">
          <a:xfrm>
            <a:off x="5150395" y="3128963"/>
            <a:ext cx="273050"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aphicFrame>
        <p:nvGraphicFramePr>
          <p:cNvPr id="163852" name="Object 12"/>
          <p:cNvGraphicFramePr>
            <a:graphicFrameLocks noChangeAspect="1"/>
          </p:cNvGraphicFramePr>
          <p:nvPr/>
        </p:nvGraphicFramePr>
        <p:xfrm>
          <a:off x="4580483" y="2151063"/>
          <a:ext cx="584200" cy="463550"/>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163852"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0483" y="2151063"/>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853" name="Object 13"/>
          <p:cNvGraphicFramePr>
            <a:graphicFrameLocks noChangeAspect="1"/>
          </p:cNvGraphicFramePr>
          <p:nvPr/>
        </p:nvGraphicFramePr>
        <p:xfrm>
          <a:off x="4580483" y="2760663"/>
          <a:ext cx="584200" cy="463550"/>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163853"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0483" y="2760663"/>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54" name="Line 14"/>
          <p:cNvSpPr>
            <a:spLocks noChangeShapeType="1"/>
          </p:cNvSpPr>
          <p:nvPr/>
        </p:nvSpPr>
        <p:spPr bwMode="auto">
          <a:xfrm>
            <a:off x="5431383" y="2700338"/>
            <a:ext cx="1035050"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3" name="Group 15"/>
          <p:cNvGrpSpPr>
            <a:grpSpLocks/>
          </p:cNvGrpSpPr>
          <p:nvPr/>
        </p:nvGrpSpPr>
        <p:grpSpPr bwMode="auto">
          <a:xfrm>
            <a:off x="6352554" y="2650406"/>
            <a:ext cx="711200" cy="381000"/>
            <a:chOff x="3600" y="219"/>
            <a:chExt cx="360" cy="175"/>
          </a:xfrm>
        </p:grpSpPr>
        <p:sp>
          <p:nvSpPr>
            <p:cNvPr id="163856" name="Oval 1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57" name="Line 1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58" name="Line 1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59" name="Rectangle 1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2400">
                <a:latin typeface="Times New Roman" pitchFamily="18" charset="0"/>
              </a:endParaRPr>
            </a:p>
          </p:txBody>
        </p:sp>
        <p:sp>
          <p:nvSpPr>
            <p:cNvPr id="163860" name="Oval 2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nvGrpSpPr>
            <p:cNvPr id="4" name="Group 21"/>
            <p:cNvGrpSpPr>
              <a:grpSpLocks/>
            </p:cNvGrpSpPr>
            <p:nvPr/>
          </p:nvGrpSpPr>
          <p:grpSpPr bwMode="auto">
            <a:xfrm>
              <a:off x="3686" y="244"/>
              <a:ext cx="177" cy="66"/>
              <a:chOff x="2848" y="848"/>
              <a:chExt cx="140" cy="98"/>
            </a:xfrm>
          </p:grpSpPr>
          <p:sp>
            <p:nvSpPr>
              <p:cNvPr id="163862" name="Line 2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63" name="Line 2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64" name="Line 2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nvGrpSpPr>
            <p:cNvPr id="5" name="Group 25"/>
            <p:cNvGrpSpPr>
              <a:grpSpLocks/>
            </p:cNvGrpSpPr>
            <p:nvPr/>
          </p:nvGrpSpPr>
          <p:grpSpPr bwMode="auto">
            <a:xfrm flipV="1">
              <a:off x="3686" y="243"/>
              <a:ext cx="177" cy="66"/>
              <a:chOff x="2848" y="848"/>
              <a:chExt cx="140" cy="98"/>
            </a:xfrm>
          </p:grpSpPr>
          <p:sp>
            <p:nvSpPr>
              <p:cNvPr id="163866" name="Line 2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67" name="Line 2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68" name="Line 2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pSp>
      </p:grpSp>
      <p:sp>
        <p:nvSpPr>
          <p:cNvPr id="163869" name="Text Box 29"/>
          <p:cNvSpPr txBox="1">
            <a:spLocks noChangeArrowheads="1"/>
          </p:cNvSpPr>
          <p:nvPr/>
        </p:nvSpPr>
        <p:spPr bwMode="auto">
          <a:xfrm>
            <a:off x="5099595" y="1531938"/>
            <a:ext cx="10318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223.1.1.1</a:t>
            </a:r>
            <a:endParaRPr lang="de-DE"/>
          </a:p>
        </p:txBody>
      </p:sp>
      <p:sp>
        <p:nvSpPr>
          <p:cNvPr id="163870" name="Rectangle 30"/>
          <p:cNvSpPr>
            <a:spLocks noChangeArrowheads="1"/>
          </p:cNvSpPr>
          <p:nvPr/>
        </p:nvSpPr>
        <p:spPr bwMode="auto">
          <a:xfrm>
            <a:off x="5186908" y="2252663"/>
            <a:ext cx="309562" cy="180975"/>
          </a:xfrm>
          <a:prstGeom prst="rect">
            <a:avLst/>
          </a:prstGeom>
          <a:solidFill>
            <a:srgbClr val="66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71" name="Text Box 31"/>
          <p:cNvSpPr txBox="1">
            <a:spLocks noChangeArrowheads="1"/>
          </p:cNvSpPr>
          <p:nvPr/>
        </p:nvSpPr>
        <p:spPr bwMode="auto">
          <a:xfrm>
            <a:off x="5101183" y="2160588"/>
            <a:ext cx="10318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223.1.1.2</a:t>
            </a:r>
            <a:endParaRPr lang="de-DE"/>
          </a:p>
        </p:txBody>
      </p:sp>
      <p:sp>
        <p:nvSpPr>
          <p:cNvPr id="163872" name="Text Box 32"/>
          <p:cNvSpPr txBox="1">
            <a:spLocks noChangeArrowheads="1"/>
          </p:cNvSpPr>
          <p:nvPr/>
        </p:nvSpPr>
        <p:spPr bwMode="auto">
          <a:xfrm>
            <a:off x="4985295" y="3113088"/>
            <a:ext cx="10318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223.1.1.3</a:t>
            </a:r>
            <a:endParaRPr lang="de-DE"/>
          </a:p>
        </p:txBody>
      </p:sp>
      <p:sp>
        <p:nvSpPr>
          <p:cNvPr id="163873" name="Text Box 33"/>
          <p:cNvSpPr txBox="1">
            <a:spLocks noChangeArrowheads="1"/>
          </p:cNvSpPr>
          <p:nvPr/>
        </p:nvSpPr>
        <p:spPr bwMode="auto">
          <a:xfrm>
            <a:off x="5632474" y="2434382"/>
            <a:ext cx="10318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dirty="0">
                <a:latin typeface="Arial" charset="0"/>
              </a:rPr>
              <a:t>223.1.1.4</a:t>
            </a:r>
            <a:endParaRPr lang="de-DE" dirty="0"/>
          </a:p>
        </p:txBody>
      </p:sp>
      <p:sp>
        <p:nvSpPr>
          <p:cNvPr id="163874" name="Line 34"/>
          <p:cNvSpPr>
            <a:spLocks noChangeShapeType="1"/>
          </p:cNvSpPr>
          <p:nvPr/>
        </p:nvSpPr>
        <p:spPr bwMode="auto">
          <a:xfrm>
            <a:off x="6979195" y="2709863"/>
            <a:ext cx="1016000"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75" name="Text Box 35"/>
          <p:cNvSpPr txBox="1">
            <a:spLocks noChangeArrowheads="1"/>
          </p:cNvSpPr>
          <p:nvPr/>
        </p:nvSpPr>
        <p:spPr bwMode="auto">
          <a:xfrm>
            <a:off x="6928618" y="2434382"/>
            <a:ext cx="10318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dirty="0">
                <a:latin typeface="Arial" charset="0"/>
              </a:rPr>
              <a:t>223.1.2.9</a:t>
            </a:r>
            <a:endParaRPr lang="de-DE" dirty="0"/>
          </a:p>
        </p:txBody>
      </p:sp>
      <p:sp>
        <p:nvSpPr>
          <p:cNvPr id="163876" name="Line 36"/>
          <p:cNvSpPr>
            <a:spLocks noChangeShapeType="1"/>
          </p:cNvSpPr>
          <p:nvPr/>
        </p:nvSpPr>
        <p:spPr bwMode="auto">
          <a:xfrm flipH="1">
            <a:off x="8003133" y="2014538"/>
            <a:ext cx="0" cy="12906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aphicFrame>
        <p:nvGraphicFramePr>
          <p:cNvPr id="163877" name="Object 37"/>
          <p:cNvGraphicFramePr>
            <a:graphicFrameLocks noChangeAspect="1"/>
          </p:cNvGraphicFramePr>
          <p:nvPr/>
        </p:nvGraphicFramePr>
        <p:xfrm>
          <a:off x="8180933" y="1722438"/>
          <a:ext cx="584200" cy="463550"/>
        </p:xfrm>
        <a:graphic>
          <a:graphicData uri="http://schemas.openxmlformats.org/presentationml/2006/ole">
            <mc:AlternateContent xmlns:mc="http://schemas.openxmlformats.org/markup-compatibility/2006">
              <mc:Choice xmlns:v="urn:schemas-microsoft-com:vml" Requires="v">
                <p:oleObj name="Clip" r:id="rId7" imgW="1307263" imgH="1084139" progId="">
                  <p:embed/>
                </p:oleObj>
              </mc:Choice>
              <mc:Fallback>
                <p:oleObj name="Clip" r:id="rId7" imgW="1307263" imgH="1084139" progId="">
                  <p:embed/>
                  <p:pic>
                    <p:nvPicPr>
                      <p:cNvPr id="163877"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0933" y="1722438"/>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78" name="Line 38"/>
          <p:cNvSpPr>
            <a:spLocks noChangeShapeType="1"/>
          </p:cNvSpPr>
          <p:nvPr/>
        </p:nvSpPr>
        <p:spPr bwMode="auto">
          <a:xfrm>
            <a:off x="8003133" y="2019300"/>
            <a:ext cx="234950"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graphicFrame>
        <p:nvGraphicFramePr>
          <p:cNvPr id="163879" name="Object 39"/>
          <p:cNvGraphicFramePr>
            <a:graphicFrameLocks noChangeAspect="1"/>
          </p:cNvGraphicFramePr>
          <p:nvPr/>
        </p:nvGraphicFramePr>
        <p:xfrm>
          <a:off x="8185695" y="3103563"/>
          <a:ext cx="584200" cy="463550"/>
        </p:xfrm>
        <a:graphic>
          <a:graphicData uri="http://schemas.openxmlformats.org/presentationml/2006/ole">
            <mc:AlternateContent xmlns:mc="http://schemas.openxmlformats.org/markup-compatibility/2006">
              <mc:Choice xmlns:v="urn:schemas-microsoft-com:vml" Requires="v">
                <p:oleObj name="Clip" r:id="rId8" imgW="1307263" imgH="1084139" progId="">
                  <p:embed/>
                </p:oleObj>
              </mc:Choice>
              <mc:Fallback>
                <p:oleObj name="Clip" r:id="rId8" imgW="1307263" imgH="1084139" progId="">
                  <p:embed/>
                  <p:pic>
                    <p:nvPicPr>
                      <p:cNvPr id="163879"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5695" y="3103563"/>
                        <a:ext cx="5842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80" name="Line 40"/>
          <p:cNvSpPr>
            <a:spLocks noChangeShapeType="1"/>
          </p:cNvSpPr>
          <p:nvPr/>
        </p:nvSpPr>
        <p:spPr bwMode="auto">
          <a:xfrm>
            <a:off x="8003133" y="3290888"/>
            <a:ext cx="234950"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81" name="Rectangle 41"/>
          <p:cNvSpPr>
            <a:spLocks noChangeArrowheads="1"/>
          </p:cNvSpPr>
          <p:nvPr/>
        </p:nvSpPr>
        <p:spPr bwMode="auto">
          <a:xfrm>
            <a:off x="7949158" y="3038475"/>
            <a:ext cx="171450" cy="180975"/>
          </a:xfrm>
          <a:prstGeom prst="rect">
            <a:avLst/>
          </a:prstGeom>
          <a:solidFill>
            <a:srgbClr val="66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82" name="Text Box 42"/>
          <p:cNvSpPr txBox="1">
            <a:spLocks noChangeArrowheads="1"/>
          </p:cNvSpPr>
          <p:nvPr/>
        </p:nvSpPr>
        <p:spPr bwMode="auto">
          <a:xfrm>
            <a:off x="7376070" y="2976563"/>
            <a:ext cx="10318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223.1.2.2</a:t>
            </a:r>
            <a:endParaRPr lang="de-DE"/>
          </a:p>
        </p:txBody>
      </p:sp>
      <p:sp>
        <p:nvSpPr>
          <p:cNvPr id="163883" name="Rectangle 43"/>
          <p:cNvSpPr>
            <a:spLocks noChangeArrowheads="1"/>
          </p:cNvSpPr>
          <p:nvPr/>
        </p:nvSpPr>
        <p:spPr bwMode="auto">
          <a:xfrm>
            <a:off x="7963445" y="2066925"/>
            <a:ext cx="247650" cy="180975"/>
          </a:xfrm>
          <a:prstGeom prst="rect">
            <a:avLst/>
          </a:prstGeom>
          <a:solidFill>
            <a:srgbClr val="66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84" name="Text Box 44"/>
          <p:cNvSpPr txBox="1">
            <a:spLocks noChangeArrowheads="1"/>
          </p:cNvSpPr>
          <p:nvPr/>
        </p:nvSpPr>
        <p:spPr bwMode="auto">
          <a:xfrm>
            <a:off x="7185570" y="1970088"/>
            <a:ext cx="10318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600">
                <a:latin typeface="Arial" charset="0"/>
              </a:rPr>
              <a:t>223.1.2.1</a:t>
            </a:r>
            <a:endParaRPr lang="de-DE"/>
          </a:p>
        </p:txBody>
      </p:sp>
      <p:sp>
        <p:nvSpPr>
          <p:cNvPr id="163885" name="Line 45"/>
          <p:cNvSpPr>
            <a:spLocks noChangeShapeType="1"/>
          </p:cNvSpPr>
          <p:nvPr/>
        </p:nvSpPr>
        <p:spPr bwMode="auto">
          <a:xfrm flipH="1">
            <a:off x="6568578" y="3048000"/>
            <a:ext cx="172492" cy="466502"/>
          </a:xfrm>
          <a:prstGeom prst="line">
            <a:avLst/>
          </a:prstGeom>
          <a:noFill/>
          <a:ln w="1905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3897" name="Text Box 57"/>
          <p:cNvSpPr txBox="1">
            <a:spLocks noChangeArrowheads="1"/>
          </p:cNvSpPr>
          <p:nvPr/>
        </p:nvSpPr>
        <p:spPr bwMode="auto">
          <a:xfrm>
            <a:off x="7504682" y="1138238"/>
            <a:ext cx="124906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dirty="0" err="1">
                <a:solidFill>
                  <a:srgbClr val="FF0000"/>
                </a:solidFill>
              </a:rPr>
              <a:t>Subnetz</a:t>
            </a:r>
            <a:r>
              <a:rPr lang="de-DE" dirty="0">
                <a:solidFill>
                  <a:srgbClr val="FF0000"/>
                </a:solidFill>
              </a:rPr>
              <a:t> B</a:t>
            </a:r>
          </a:p>
        </p:txBody>
      </p:sp>
      <p:sp>
        <p:nvSpPr>
          <p:cNvPr id="163898" name="Line 58"/>
          <p:cNvSpPr>
            <a:spLocks noChangeShapeType="1"/>
          </p:cNvSpPr>
          <p:nvPr/>
        </p:nvSpPr>
        <p:spPr bwMode="auto">
          <a:xfrm>
            <a:off x="8036172" y="1426270"/>
            <a:ext cx="44574" cy="36004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61" name="Text Box 57"/>
          <p:cNvSpPr txBox="1">
            <a:spLocks noChangeArrowheads="1"/>
          </p:cNvSpPr>
          <p:nvPr/>
        </p:nvSpPr>
        <p:spPr bwMode="auto">
          <a:xfrm>
            <a:off x="5992514" y="1138238"/>
            <a:ext cx="12363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dirty="0" err="1">
                <a:solidFill>
                  <a:srgbClr val="FF0000"/>
                </a:solidFill>
              </a:rPr>
              <a:t>Subnetz</a:t>
            </a:r>
            <a:r>
              <a:rPr lang="de-DE" dirty="0">
                <a:solidFill>
                  <a:srgbClr val="FF0000"/>
                </a:solidFill>
              </a:rPr>
              <a:t> A</a:t>
            </a:r>
          </a:p>
        </p:txBody>
      </p:sp>
      <p:sp>
        <p:nvSpPr>
          <p:cNvPr id="62" name="Line 58"/>
          <p:cNvSpPr>
            <a:spLocks noChangeShapeType="1"/>
          </p:cNvSpPr>
          <p:nvPr/>
        </p:nvSpPr>
        <p:spPr bwMode="auto">
          <a:xfrm flipH="1">
            <a:off x="5560466" y="1354262"/>
            <a:ext cx="360040" cy="144016"/>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63" name="Textfeld 62"/>
          <p:cNvSpPr txBox="1"/>
          <p:nvPr/>
        </p:nvSpPr>
        <p:spPr>
          <a:xfrm>
            <a:off x="5200426" y="3442494"/>
            <a:ext cx="2965953" cy="646331"/>
          </a:xfrm>
          <a:prstGeom prst="rect">
            <a:avLst/>
          </a:prstGeom>
          <a:noFill/>
        </p:spPr>
        <p:txBody>
          <a:bodyPr wrap="square" rtlCol="0">
            <a:spAutoFit/>
          </a:bodyPr>
          <a:lstStyle/>
          <a:p>
            <a:pPr algn="ctr"/>
            <a:r>
              <a:rPr lang="de-DE" dirty="0">
                <a:solidFill>
                  <a:srgbClr val="0070C0"/>
                </a:solidFill>
              </a:rPr>
              <a:t>Interface + Leitung zu Internet (ggf. via Router)</a:t>
            </a:r>
          </a:p>
        </p:txBody>
      </p:sp>
      <p:sp>
        <p:nvSpPr>
          <p:cNvPr id="65" name="Rectangle 6"/>
          <p:cNvSpPr txBox="1">
            <a:spLocks noChangeArrowheads="1"/>
          </p:cNvSpPr>
          <p:nvPr/>
        </p:nvSpPr>
        <p:spPr>
          <a:xfrm>
            <a:off x="4644008" y="4293096"/>
            <a:ext cx="3985364" cy="1224136"/>
          </a:xfrm>
          <a:prstGeom prst="rect">
            <a:avLst/>
          </a:prstGeom>
        </p:spPr>
        <p:txBody>
          <a:bodyPr vert="horz">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tabLst/>
              <a:defRPr/>
            </a:pPr>
            <a:r>
              <a:rPr kumimoji="0" lang="de-DE" sz="2400" b="0" i="0" u="none" strike="noStrike" kern="1200" cap="none" spc="0" normalizeH="0" baseline="0" noProof="0" dirty="0">
                <a:ln>
                  <a:noFill/>
                </a:ln>
                <a:solidFill>
                  <a:srgbClr val="000000"/>
                </a:solidFill>
                <a:effectLst/>
                <a:uLnTx/>
                <a:uFillTx/>
                <a:latin typeface="+mn-lt"/>
                <a:ea typeface="+mn-ea"/>
                <a:cs typeface="+mn-cs"/>
              </a:rPr>
              <a:t>Für </a:t>
            </a:r>
            <a:r>
              <a:rPr kumimoji="0" lang="de-DE" sz="2400" b="0" i="0" u="none" strike="noStrike" kern="1200" cap="none" spc="0" normalizeH="0" baseline="0" noProof="0" dirty="0" err="1">
                <a:ln>
                  <a:noFill/>
                </a:ln>
                <a:solidFill>
                  <a:srgbClr val="000000"/>
                </a:solidFill>
                <a:effectLst/>
                <a:uLnTx/>
                <a:uFillTx/>
                <a:latin typeface="+mn-lt"/>
                <a:ea typeface="+mn-ea"/>
                <a:cs typeface="+mn-cs"/>
              </a:rPr>
              <a:t>Subnetz</a:t>
            </a:r>
            <a:r>
              <a:rPr kumimoji="0" lang="de-DE" sz="2400" b="0" i="0" u="none" strike="noStrike" kern="1200" cap="none" spc="0" normalizeH="0" baseline="0" noProof="0" dirty="0">
                <a:ln>
                  <a:noFill/>
                </a:ln>
                <a:solidFill>
                  <a:srgbClr val="000000"/>
                </a:solidFill>
                <a:effectLst/>
                <a:uLnTx/>
                <a:uFillTx/>
                <a:latin typeface="+mn-lt"/>
                <a:ea typeface="+mn-ea"/>
                <a:cs typeface="+mn-cs"/>
              </a:rPr>
              <a:t> A:</a:t>
            </a:r>
          </a:p>
          <a:p>
            <a:pPr marL="731520" lvl="1" indent="-274320">
              <a:spcBef>
                <a:spcPts val="600"/>
              </a:spcBef>
              <a:buClr>
                <a:schemeClr val="accent1"/>
              </a:buClr>
              <a:buSzPct val="76000"/>
              <a:buFont typeface="Wingdings 3"/>
              <a:buChar char=""/>
            </a:pPr>
            <a:r>
              <a:rPr lang="de-DE" sz="2000" dirty="0">
                <a:solidFill>
                  <a:srgbClr val="000000"/>
                </a:solidFill>
              </a:rPr>
              <a:t>223.1.1.0 bis 223.1.1.7 </a:t>
            </a:r>
            <a:br>
              <a:rPr lang="de-DE" sz="2000" dirty="0">
                <a:solidFill>
                  <a:srgbClr val="000000"/>
                </a:solidFill>
              </a:rPr>
            </a:br>
            <a:r>
              <a:rPr lang="de-DE" sz="2000" dirty="0">
                <a:solidFill>
                  <a:srgbClr val="000000"/>
                </a:solidFill>
              </a:rPr>
              <a:t>(7 wegen Adresse mit *.4)</a:t>
            </a:r>
            <a:endParaRPr kumimoji="0" lang="de-DE" sz="2000" b="0" i="0" u="none" strike="noStrike" kern="1200" cap="none" spc="0" normalizeH="0" baseline="0" noProof="0" dirty="0">
              <a:ln>
                <a:noFill/>
              </a:ln>
              <a:solidFill>
                <a:srgbClr val="000000"/>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tabLst/>
              <a:defRPr/>
            </a:pPr>
            <a:endParaRPr kumimoji="0" lang="de-DE"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66" name="Rectangle 6"/>
          <p:cNvSpPr txBox="1">
            <a:spLocks noChangeArrowheads="1"/>
          </p:cNvSpPr>
          <p:nvPr/>
        </p:nvSpPr>
        <p:spPr>
          <a:xfrm>
            <a:off x="4644008" y="5445224"/>
            <a:ext cx="3985364" cy="1224136"/>
          </a:xfrm>
          <a:prstGeom prst="rect">
            <a:avLst/>
          </a:prstGeom>
        </p:spPr>
        <p:txBody>
          <a:bodyPr vert="horz">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tabLst/>
              <a:defRPr/>
            </a:pPr>
            <a:r>
              <a:rPr kumimoji="0" lang="de-DE" sz="2400" b="0" i="0" u="none" strike="noStrike" kern="1200" cap="none" spc="0" normalizeH="0" baseline="0" noProof="0" dirty="0">
                <a:ln>
                  <a:noFill/>
                </a:ln>
                <a:solidFill>
                  <a:srgbClr val="000000"/>
                </a:solidFill>
                <a:effectLst/>
                <a:uLnTx/>
                <a:uFillTx/>
                <a:latin typeface="+mn-lt"/>
                <a:ea typeface="+mn-ea"/>
                <a:cs typeface="+mn-cs"/>
              </a:rPr>
              <a:t>Für </a:t>
            </a:r>
            <a:r>
              <a:rPr kumimoji="0" lang="de-DE" sz="2400" b="0" i="0" u="none" strike="noStrike" kern="1200" cap="none" spc="0" normalizeH="0" baseline="0" noProof="0" dirty="0" err="1">
                <a:ln>
                  <a:noFill/>
                </a:ln>
                <a:solidFill>
                  <a:srgbClr val="000000"/>
                </a:solidFill>
                <a:effectLst/>
                <a:uLnTx/>
                <a:uFillTx/>
                <a:latin typeface="+mn-lt"/>
                <a:ea typeface="+mn-ea"/>
                <a:cs typeface="+mn-cs"/>
              </a:rPr>
              <a:t>Subnetz</a:t>
            </a:r>
            <a:r>
              <a:rPr kumimoji="0" lang="de-DE" sz="2400" b="0" i="0" u="none" strike="noStrike" kern="1200" cap="none" spc="0" normalizeH="0" baseline="0" noProof="0" dirty="0">
                <a:ln>
                  <a:noFill/>
                </a:ln>
                <a:solidFill>
                  <a:srgbClr val="000000"/>
                </a:solidFill>
                <a:effectLst/>
                <a:uLnTx/>
                <a:uFillTx/>
                <a:latin typeface="+mn-lt"/>
                <a:ea typeface="+mn-ea"/>
                <a:cs typeface="+mn-cs"/>
              </a:rPr>
              <a:t> B:</a:t>
            </a:r>
          </a:p>
          <a:p>
            <a:pPr marL="731520" lvl="1" indent="-274320">
              <a:spcBef>
                <a:spcPts val="600"/>
              </a:spcBef>
              <a:buClr>
                <a:schemeClr val="accent1"/>
              </a:buClr>
              <a:buSzPct val="76000"/>
              <a:buFont typeface="Wingdings 3"/>
              <a:buChar char=""/>
            </a:pPr>
            <a:r>
              <a:rPr lang="de-DE" sz="2000" dirty="0">
                <a:solidFill>
                  <a:srgbClr val="000000"/>
                </a:solidFill>
              </a:rPr>
              <a:t>223.1.2.0 bis 223.1.2.15 (15 wegen Adresse mit *.9)</a:t>
            </a:r>
            <a:endParaRPr kumimoji="0" lang="de-DE" sz="2000" b="0" i="0" u="none" strike="noStrike" kern="1200" cap="none" spc="0" normalizeH="0" baseline="0" noProof="0" dirty="0">
              <a:ln>
                <a:noFill/>
              </a:ln>
              <a:solidFill>
                <a:srgbClr val="000000"/>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tabLst/>
              <a:defRPr/>
            </a:pPr>
            <a:endParaRPr kumimoji="0" lang="de-DE"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67" name="Rectangle 6"/>
          <p:cNvSpPr txBox="1">
            <a:spLocks noChangeArrowheads="1"/>
          </p:cNvSpPr>
          <p:nvPr/>
        </p:nvSpPr>
        <p:spPr>
          <a:xfrm>
            <a:off x="539552" y="5157192"/>
            <a:ext cx="4176464" cy="1440160"/>
          </a:xfrm>
          <a:prstGeom prst="rect">
            <a:avLst/>
          </a:prstGeom>
        </p:spPr>
        <p:txBody>
          <a:bodyPr vert="horz">
            <a:no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tabLst/>
              <a:defRPr/>
            </a:pPr>
            <a:r>
              <a:rPr kumimoji="0" lang="de-DE" sz="2000" b="0" i="0" u="none" strike="noStrike" kern="1200" cap="none" spc="0" normalizeH="0" baseline="0" noProof="0" dirty="0">
                <a:ln>
                  <a:noFill/>
                </a:ln>
                <a:solidFill>
                  <a:srgbClr val="000000"/>
                </a:solidFill>
                <a:effectLst/>
                <a:uLnTx/>
                <a:uFillTx/>
                <a:latin typeface="+mn-lt"/>
                <a:ea typeface="+mn-ea"/>
                <a:cs typeface="+mn-cs"/>
              </a:rPr>
              <a:t>Aus diversen </a:t>
            </a:r>
            <a:r>
              <a:rPr kumimoji="0" lang="de-DE" sz="2000" b="0" i="0" u="none" strike="noStrike" kern="1200" cap="none" spc="0" normalizeH="0" baseline="0" noProof="0" dirty="0">
                <a:ln>
                  <a:noFill/>
                </a:ln>
                <a:solidFill>
                  <a:srgbClr val="000000"/>
                </a:solidFill>
                <a:effectLst/>
                <a:uLnTx/>
                <a:uFillTx/>
                <a:latin typeface="+mn-lt"/>
                <a:ea typeface="+mn-ea"/>
                <a:cs typeface="+mn-cs"/>
                <a:hlinkClick r:id="rId9"/>
              </a:rPr>
              <a:t>Gründen</a:t>
            </a:r>
            <a:r>
              <a:rPr kumimoji="0" lang="de-DE" sz="2000" b="0" i="0" u="none" strike="noStrike" kern="1200" cap="none" spc="0" normalizeH="0" baseline="0" noProof="0" dirty="0">
                <a:ln>
                  <a:noFill/>
                </a:ln>
                <a:solidFill>
                  <a:srgbClr val="000000"/>
                </a:solidFill>
                <a:effectLst/>
                <a:uLnTx/>
                <a:uFillTx/>
                <a:latin typeface="+mn-lt"/>
                <a:ea typeface="+mn-ea"/>
                <a:cs typeface="+mn-cs"/>
              </a:rPr>
              <a:t> ist die 0-te und die letzte Adresse im Subnetz ggf. nicht verwendbar</a:t>
            </a:r>
          </a:p>
          <a:p>
            <a:pPr marL="731520" lvl="1" indent="-274320">
              <a:spcBef>
                <a:spcPts val="600"/>
              </a:spcBef>
              <a:buClr>
                <a:schemeClr val="accent1"/>
              </a:buClr>
              <a:buSzPct val="76000"/>
              <a:buFont typeface="Wingdings 3"/>
              <a:buChar char=""/>
            </a:pPr>
            <a:r>
              <a:rPr lang="de-DE" dirty="0">
                <a:solidFill>
                  <a:srgbClr val="000000"/>
                </a:solidFill>
              </a:rPr>
              <a:t>Bei B: 223.1.2.</a:t>
            </a:r>
            <a:r>
              <a:rPr lang="de-DE" dirty="0">
                <a:solidFill>
                  <a:srgbClr val="FF0000"/>
                </a:solidFill>
              </a:rPr>
              <a:t>0</a:t>
            </a:r>
            <a:r>
              <a:rPr lang="de-DE" dirty="0">
                <a:solidFill>
                  <a:srgbClr val="000000"/>
                </a:solidFill>
              </a:rPr>
              <a:t> </a:t>
            </a:r>
            <a:r>
              <a:rPr lang="de-DE" u="sng" dirty="0">
                <a:solidFill>
                  <a:srgbClr val="000000"/>
                </a:solidFill>
              </a:rPr>
              <a:t>und</a:t>
            </a:r>
            <a:r>
              <a:rPr lang="de-DE" dirty="0">
                <a:solidFill>
                  <a:srgbClr val="000000"/>
                </a:solidFill>
              </a:rPr>
              <a:t> 223.1.2.</a:t>
            </a:r>
            <a:r>
              <a:rPr lang="de-DE" dirty="0">
                <a:solidFill>
                  <a:srgbClr val="FF0000"/>
                </a:solidFill>
              </a:rPr>
              <a:t>15</a:t>
            </a:r>
            <a:r>
              <a:rPr lang="de-DE" dirty="0">
                <a:solidFill>
                  <a:srgbClr val="000000"/>
                </a:solidFill>
              </a:rPr>
              <a:t>  </a:t>
            </a:r>
            <a:endParaRPr kumimoji="0" lang="de-DE" b="0" i="0" u="none" strike="noStrike" kern="1200" cap="none" spc="0" normalizeH="0" baseline="0" noProof="0" dirty="0">
              <a:ln>
                <a:noFill/>
              </a:ln>
              <a:solidFill>
                <a:srgbClr val="000000"/>
              </a:solidFill>
              <a:effectLst/>
              <a:uLnTx/>
              <a:uFillTx/>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tabLst/>
              <a:defRPr/>
            </a:pPr>
            <a:endParaRPr kumimoji="0" lang="de-DE" b="0" i="0" u="none" strike="noStrike" kern="120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394335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5">
                                            <p:txEl>
                                              <p:pRg st="0" end="0"/>
                                            </p:txEl>
                                          </p:spTgt>
                                        </p:tgtEl>
                                        <p:attrNameLst>
                                          <p:attrName>style.visibility</p:attrName>
                                        </p:attrNameLst>
                                      </p:cBhvr>
                                      <p:to>
                                        <p:strVal val="visible"/>
                                      </p:to>
                                    </p:set>
                                    <p:animEffect transition="in" filter="fade">
                                      <p:cBhvr>
                                        <p:cTn id="7" dur="2000"/>
                                        <p:tgtEl>
                                          <p:spTgt spid="6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5">
                                            <p:txEl>
                                              <p:pRg st="1" end="1"/>
                                            </p:txEl>
                                          </p:spTgt>
                                        </p:tgtEl>
                                        <p:attrNameLst>
                                          <p:attrName>style.visibility</p:attrName>
                                        </p:attrNameLst>
                                      </p:cBhvr>
                                      <p:to>
                                        <p:strVal val="visible"/>
                                      </p:to>
                                    </p:set>
                                    <p:animEffect transition="in" filter="fade">
                                      <p:cBhvr>
                                        <p:cTn id="10" dur="2000"/>
                                        <p:tgtEl>
                                          <p:spTgt spid="6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6">
                                            <p:txEl>
                                              <p:pRg st="0" end="0"/>
                                            </p:txEl>
                                          </p:spTgt>
                                        </p:tgtEl>
                                        <p:attrNameLst>
                                          <p:attrName>style.visibility</p:attrName>
                                        </p:attrNameLst>
                                      </p:cBhvr>
                                      <p:to>
                                        <p:strVal val="visible"/>
                                      </p:to>
                                    </p:set>
                                    <p:animEffect transition="in" filter="fade">
                                      <p:cBhvr>
                                        <p:cTn id="15" dur="2000"/>
                                        <p:tgtEl>
                                          <p:spTgt spid="66">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6">
                                            <p:txEl>
                                              <p:pRg st="1" end="1"/>
                                            </p:txEl>
                                          </p:spTgt>
                                        </p:tgtEl>
                                        <p:attrNameLst>
                                          <p:attrName>style.visibility</p:attrName>
                                        </p:attrNameLst>
                                      </p:cBhvr>
                                      <p:to>
                                        <p:strVal val="visible"/>
                                      </p:to>
                                    </p:set>
                                    <p:animEffect transition="in" filter="fade">
                                      <p:cBhvr>
                                        <p:cTn id="18" dur="2000"/>
                                        <p:tgtEl>
                                          <p:spTgt spid="66">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7">
                                            <p:txEl>
                                              <p:pRg st="0" end="0"/>
                                            </p:txEl>
                                          </p:spTgt>
                                        </p:tgtEl>
                                        <p:attrNameLst>
                                          <p:attrName>style.visibility</p:attrName>
                                        </p:attrNameLst>
                                      </p:cBhvr>
                                      <p:to>
                                        <p:strVal val="visible"/>
                                      </p:to>
                                    </p:set>
                                    <p:animEffect transition="in" filter="fade">
                                      <p:cBhvr>
                                        <p:cTn id="23" dur="2000"/>
                                        <p:tgtEl>
                                          <p:spTgt spid="67">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7">
                                            <p:txEl>
                                              <p:pRg st="1" end="1"/>
                                            </p:txEl>
                                          </p:spTgt>
                                        </p:tgtEl>
                                        <p:attrNameLst>
                                          <p:attrName>style.visibility</p:attrName>
                                        </p:attrNameLst>
                                      </p:cBhvr>
                                      <p:to>
                                        <p:strVal val="visible"/>
                                      </p:to>
                                    </p:set>
                                    <p:animEffect transition="in" filter="fade">
                                      <p:cBhvr>
                                        <p:cTn id="26" dur="2000"/>
                                        <p:tgtEl>
                                          <p:spTgt spid="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build="allAtOnce"/>
      <p:bldP spid="66" grpId="0" build="allAtOnce"/>
      <p:bldP spid="67"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0" descr="15"/>
          <p:cNvPicPr>
            <a:picLocks noChangeAspect="1" noChangeArrowheads="1"/>
          </p:cNvPicPr>
          <p:nvPr/>
        </p:nvPicPr>
        <p:blipFill>
          <a:blip r:embed="rId2" cstate="print"/>
          <a:stretch>
            <a:fillRect/>
          </a:stretch>
        </p:blipFill>
        <p:spPr>
          <a:xfrm>
            <a:off x="4363580" y="1113080"/>
            <a:ext cx="4846440" cy="3324032"/>
          </a:xfrm>
          <a:prstGeom prst="rect">
            <a:avLst/>
          </a:prstGeom>
          <a:noFill/>
        </p:spPr>
      </p:pic>
      <p:sp>
        <p:nvSpPr>
          <p:cNvPr id="2" name="Titel 1"/>
          <p:cNvSpPr>
            <a:spLocks noGrp="1"/>
          </p:cNvSpPr>
          <p:nvPr>
            <p:ph type="title"/>
          </p:nvPr>
        </p:nvSpPr>
        <p:spPr/>
        <p:txBody>
          <a:bodyPr>
            <a:normAutofit/>
          </a:bodyPr>
          <a:lstStyle/>
          <a:p>
            <a:r>
              <a:rPr lang="de-DE" dirty="0"/>
              <a:t>IP-Adressierung – Netzwerke</a:t>
            </a:r>
          </a:p>
        </p:txBody>
      </p:sp>
      <p:sp>
        <p:nvSpPr>
          <p:cNvPr id="3" name="Foliennummernplatzhalter 2"/>
          <p:cNvSpPr>
            <a:spLocks noGrp="1"/>
          </p:cNvSpPr>
          <p:nvPr>
            <p:ph type="sldNum" sz="quarter" idx="12"/>
          </p:nvPr>
        </p:nvSpPr>
        <p:spPr/>
        <p:txBody>
          <a:bodyPr/>
          <a:lstStyle/>
          <a:p>
            <a:fld id="{6C6AE60A-B69C-4790-82F7-3882EDF23186}" type="slidenum">
              <a:rPr lang="de-DE" smtClean="0"/>
              <a:pPr/>
              <a:t>13</a:t>
            </a:fld>
            <a:endParaRPr lang="de-DE" dirty="0"/>
          </a:p>
        </p:txBody>
      </p:sp>
      <p:sp>
        <p:nvSpPr>
          <p:cNvPr id="4" name="Inhaltsplatzhalter 3"/>
          <p:cNvSpPr>
            <a:spLocks noGrp="1"/>
          </p:cNvSpPr>
          <p:nvPr>
            <p:ph sz="quarter" idx="1"/>
          </p:nvPr>
        </p:nvSpPr>
        <p:spPr>
          <a:xfrm>
            <a:off x="457200" y="1219200"/>
            <a:ext cx="4330824" cy="5378152"/>
          </a:xfrm>
        </p:spPr>
        <p:txBody>
          <a:bodyPr>
            <a:noAutofit/>
          </a:bodyPr>
          <a:lstStyle/>
          <a:p>
            <a:r>
              <a:rPr lang="de-DE" sz="2400" dirty="0"/>
              <a:t>IP-Adressen haben zwei Bestandteile: </a:t>
            </a:r>
          </a:p>
          <a:p>
            <a:pPr lvl="1"/>
            <a:r>
              <a:rPr lang="de-DE" sz="2000" b="1" dirty="0" err="1">
                <a:solidFill>
                  <a:srgbClr val="FF0000"/>
                </a:solidFill>
              </a:rPr>
              <a:t>Netid</a:t>
            </a:r>
            <a:r>
              <a:rPr lang="de-DE" sz="2000" b="1" dirty="0">
                <a:solidFill>
                  <a:srgbClr val="FF0000"/>
                </a:solidFill>
              </a:rPr>
              <a:t>: </a:t>
            </a:r>
            <a:r>
              <a:rPr lang="de-DE" sz="2000" b="1" u="sng" dirty="0">
                <a:solidFill>
                  <a:srgbClr val="FF0000"/>
                </a:solidFill>
              </a:rPr>
              <a:t>Netzwerk</a:t>
            </a:r>
            <a:r>
              <a:rPr lang="de-DE" sz="2000" b="1" dirty="0">
                <a:solidFill>
                  <a:srgbClr val="FF0000"/>
                </a:solidFill>
              </a:rPr>
              <a:t>teil</a:t>
            </a:r>
            <a:r>
              <a:rPr lang="de-DE" sz="2000" dirty="0"/>
              <a:t>: Die oberen Bits der Adresse, </a:t>
            </a:r>
            <a:r>
              <a:rPr lang="de-DE" sz="2000" u="sng" dirty="0"/>
              <a:t>identifizieren ein Netzwerk</a:t>
            </a:r>
          </a:p>
          <a:p>
            <a:pPr lvl="1"/>
            <a:r>
              <a:rPr lang="de-DE" sz="2000" b="1" dirty="0" err="1">
                <a:solidFill>
                  <a:srgbClr val="FF0000"/>
                </a:solidFill>
              </a:rPr>
              <a:t>Hostid</a:t>
            </a:r>
            <a:r>
              <a:rPr lang="de-DE" sz="2000" b="1" dirty="0">
                <a:solidFill>
                  <a:srgbClr val="FF0000"/>
                </a:solidFill>
              </a:rPr>
              <a:t>: - </a:t>
            </a:r>
            <a:r>
              <a:rPr lang="de-DE" sz="2000" b="1" u="sng" dirty="0">
                <a:solidFill>
                  <a:srgbClr val="FF0000"/>
                </a:solidFill>
              </a:rPr>
              <a:t>Host</a:t>
            </a:r>
            <a:r>
              <a:rPr lang="de-DE" sz="2000" b="1" dirty="0">
                <a:solidFill>
                  <a:srgbClr val="FF0000"/>
                </a:solidFill>
              </a:rPr>
              <a:t>teil</a:t>
            </a:r>
            <a:r>
              <a:rPr lang="de-DE" sz="2000" dirty="0"/>
              <a:t>: Die unteren Bits der Adresse, </a:t>
            </a:r>
            <a:r>
              <a:rPr lang="de-DE" sz="2000" u="sng" dirty="0"/>
              <a:t>identifizieren ein Interface</a:t>
            </a:r>
            <a:r>
              <a:rPr lang="de-DE" sz="2000" dirty="0"/>
              <a:t> innerhalb des Netzwerks</a:t>
            </a:r>
          </a:p>
          <a:p>
            <a:r>
              <a:rPr lang="de-DE" sz="2400" dirty="0"/>
              <a:t>Wenn der Adressenbereich eines Netzwerks 2</a:t>
            </a:r>
            <a:r>
              <a:rPr lang="de-DE" sz="2400" baseline="30000" dirty="0"/>
              <a:t>k</a:t>
            </a:r>
            <a:r>
              <a:rPr lang="de-DE" sz="2400" dirty="0"/>
              <a:t> Adressen umfasst, dann</a:t>
            </a:r>
          </a:p>
          <a:p>
            <a:pPr lvl="1"/>
            <a:r>
              <a:rPr lang="de-DE" sz="2200" dirty="0">
                <a:solidFill>
                  <a:srgbClr val="FF0000"/>
                </a:solidFill>
              </a:rPr>
              <a:t>Hostid</a:t>
            </a:r>
            <a:r>
              <a:rPr lang="de-DE" sz="2200" dirty="0"/>
              <a:t> hat die unteren k Bits</a:t>
            </a:r>
          </a:p>
          <a:p>
            <a:pPr lvl="1"/>
            <a:r>
              <a:rPr lang="de-DE" sz="2200" dirty="0">
                <a:solidFill>
                  <a:srgbClr val="FF0000"/>
                </a:solidFill>
              </a:rPr>
              <a:t>Netid</a:t>
            </a:r>
            <a:r>
              <a:rPr lang="de-DE" sz="2200" dirty="0"/>
              <a:t> hat die oberen </a:t>
            </a:r>
            <a:r>
              <a:rPr lang="de-DE" sz="2200" u="sng" dirty="0"/>
              <a:t>32-k</a:t>
            </a:r>
            <a:r>
              <a:rPr lang="de-DE" sz="2200" dirty="0"/>
              <a:t> Bits</a:t>
            </a:r>
          </a:p>
          <a:p>
            <a:endParaRPr lang="de-DE" sz="2400" dirty="0"/>
          </a:p>
        </p:txBody>
      </p:sp>
      <p:sp>
        <p:nvSpPr>
          <p:cNvPr id="5" name="Inhaltsplatzhalter 4"/>
          <p:cNvSpPr>
            <a:spLocks noGrp="1"/>
          </p:cNvSpPr>
          <p:nvPr>
            <p:ph sz="quarter" idx="2"/>
          </p:nvPr>
        </p:nvSpPr>
        <p:spPr>
          <a:xfrm>
            <a:off x="4644008" y="4581128"/>
            <a:ext cx="4392488" cy="2016224"/>
          </a:xfrm>
        </p:spPr>
        <p:txBody>
          <a:bodyPr>
            <a:noAutofit/>
          </a:bodyPr>
          <a:lstStyle/>
          <a:p>
            <a:r>
              <a:rPr lang="de-DE" sz="2400" dirty="0">
                <a:solidFill>
                  <a:srgbClr val="000000"/>
                </a:solidFill>
                <a:latin typeface="Bitstream Vera Sans" charset="0"/>
              </a:rPr>
              <a:t>Z.B. das untere Netzwerk hat 256 IP-Adressen:</a:t>
            </a:r>
          </a:p>
          <a:p>
            <a:pPr lvl="1"/>
            <a:r>
              <a:rPr lang="de-DE" sz="2100" dirty="0">
                <a:solidFill>
                  <a:srgbClr val="000000"/>
                </a:solidFill>
                <a:latin typeface="Bitstream Vera Sans" charset="0"/>
              </a:rPr>
              <a:t>8 (untere) Bits als </a:t>
            </a:r>
            <a:r>
              <a:rPr lang="de-DE" sz="2100" dirty="0">
                <a:solidFill>
                  <a:srgbClr val="FF0000"/>
                </a:solidFill>
                <a:latin typeface="Bitstream Vera Sans" charset="0"/>
              </a:rPr>
              <a:t>Hostteil </a:t>
            </a:r>
          </a:p>
          <a:p>
            <a:pPr lvl="1"/>
            <a:r>
              <a:rPr lang="de-DE" sz="2100" dirty="0">
                <a:solidFill>
                  <a:srgbClr val="000000"/>
                </a:solidFill>
                <a:latin typeface="Bitstream Vera Sans" charset="0"/>
              </a:rPr>
              <a:t>24 obere Bits (223.1.3.*) als </a:t>
            </a:r>
            <a:r>
              <a:rPr lang="de-DE" sz="2100" dirty="0">
                <a:solidFill>
                  <a:srgbClr val="FF0000"/>
                </a:solidFill>
                <a:latin typeface="Bitstream Vera Sans" charset="0"/>
              </a:rPr>
              <a:t>Netzwerkteil</a:t>
            </a:r>
          </a:p>
          <a:p>
            <a:endParaRPr lang="de-DE" sz="2000" dirty="0"/>
          </a:p>
        </p:txBody>
      </p:sp>
    </p:spTree>
    <p:extLst>
      <p:ext uri="{BB962C8B-B14F-4D97-AF65-F5344CB8AC3E}">
        <p14:creationId xmlns:p14="http://schemas.microsoft.com/office/powerpoint/2010/main" val="409894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Wozu überhaupt </a:t>
            </a:r>
            <a:r>
              <a:rPr lang="de-DE" dirty="0" err="1">
                <a:solidFill>
                  <a:srgbClr val="0070C0"/>
                </a:solidFill>
              </a:rPr>
              <a:t>Netid</a:t>
            </a:r>
            <a:r>
              <a:rPr lang="de-DE" dirty="0">
                <a:solidFill>
                  <a:srgbClr val="0070C0"/>
                </a:solidFill>
              </a:rPr>
              <a:t> </a:t>
            </a:r>
            <a:r>
              <a:rPr lang="de-DE" dirty="0"/>
              <a:t>und </a:t>
            </a:r>
            <a:r>
              <a:rPr lang="de-DE" dirty="0">
                <a:solidFill>
                  <a:srgbClr val="0070C0"/>
                </a:solidFill>
              </a:rPr>
              <a:t>Hostid</a:t>
            </a:r>
            <a:r>
              <a:rPr lang="de-DE" dirty="0"/>
              <a:t>?</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14</a:t>
            </a:fld>
            <a:endParaRPr lang="en-US" noProof="0" dirty="0"/>
          </a:p>
        </p:txBody>
      </p:sp>
      <p:sp>
        <p:nvSpPr>
          <p:cNvPr id="5" name="Content Placeholder 4"/>
          <p:cNvSpPr>
            <a:spLocks noGrp="1"/>
          </p:cNvSpPr>
          <p:nvPr>
            <p:ph sz="quarter" idx="1"/>
          </p:nvPr>
        </p:nvSpPr>
        <p:spPr>
          <a:xfrm>
            <a:off x="457200" y="1219200"/>
            <a:ext cx="8229600" cy="3073896"/>
          </a:xfrm>
        </p:spPr>
        <p:txBody>
          <a:bodyPr>
            <a:normAutofit/>
          </a:bodyPr>
          <a:lstStyle/>
          <a:p>
            <a:r>
              <a:rPr lang="de-DE" dirty="0"/>
              <a:t>Da alle Interfaces in einer Firma / Uni / Organization X (i.A.) im gleichen Netzwerk sind, haben sie gleiche Netid (d.h. gleiche obere Bits in Adressen)</a:t>
            </a:r>
          </a:p>
          <a:p>
            <a:pPr lvl="1"/>
            <a:r>
              <a:rPr lang="de-DE" dirty="0">
                <a:solidFill>
                  <a:srgbClr val="0070C0"/>
                </a:solidFill>
              </a:rPr>
              <a:t>Die Router außerhalb von X müssen nur die Netid (von X) betrachten, um die Pakete korrekt weiterzuleiten</a:t>
            </a:r>
          </a:p>
          <a:p>
            <a:pPr lvl="1"/>
            <a:r>
              <a:rPr lang="de-DE" dirty="0">
                <a:solidFill>
                  <a:srgbClr val="0070C0"/>
                </a:solidFill>
              </a:rPr>
              <a:t>Ähnlich wie Vorwahlnummern bei Telefonen</a:t>
            </a:r>
          </a:p>
          <a:p>
            <a:r>
              <a:rPr lang="de-DE" dirty="0"/>
              <a:t>Das hat einige Vorteile – welche?</a:t>
            </a:r>
          </a:p>
        </p:txBody>
      </p:sp>
      <p:sp>
        <p:nvSpPr>
          <p:cNvPr id="6" name="Content Placeholder 5"/>
          <p:cNvSpPr>
            <a:spLocks noGrp="1"/>
          </p:cNvSpPr>
          <p:nvPr>
            <p:ph sz="quarter" idx="13"/>
          </p:nvPr>
        </p:nvSpPr>
        <p:spPr>
          <a:xfrm>
            <a:off x="467544" y="4253488"/>
            <a:ext cx="8208912" cy="2421632"/>
          </a:xfrm>
        </p:spPr>
        <p:txBody>
          <a:bodyPr/>
          <a:lstStyle/>
          <a:p>
            <a:pPr marL="514350" indent="-514350">
              <a:buFont typeface="+mj-lt"/>
              <a:buAutoNum type="arabicPeriod"/>
            </a:pPr>
            <a:r>
              <a:rPr lang="de-DE" dirty="0"/>
              <a:t>Die Daten in den </a:t>
            </a:r>
            <a:r>
              <a:rPr lang="de-DE" dirty="0" err="1"/>
              <a:t>Routertabellen</a:t>
            </a:r>
            <a:r>
              <a:rPr lang="de-DE" dirty="0"/>
              <a:t> sind kleiner, da es viel weniger Netids als IP-Adressen gibt</a:t>
            </a:r>
          </a:p>
          <a:p>
            <a:pPr marL="514350" indent="-514350">
              <a:buFont typeface="+mj-lt"/>
              <a:buAutoNum type="arabicPeriod"/>
            </a:pPr>
            <a:r>
              <a:rPr lang="de-DE" dirty="0"/>
              <a:t>Jede Organization kann intern beliebig die Hostids zu Interfaces zuordnen und braucht das nach „draußen“ nicht mitzuteilen</a:t>
            </a:r>
          </a:p>
        </p:txBody>
      </p:sp>
    </p:spTree>
    <p:extLst>
      <p:ext uri="{BB962C8B-B14F-4D97-AF65-F5344CB8AC3E}">
        <p14:creationId xmlns:p14="http://schemas.microsoft.com/office/powerpoint/2010/main" val="354553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500"/>
                                        <p:tgtEl>
                                          <p:spTgt spid="6">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
                                            <p:txEl>
                                              <p:pRg st="1" end="1"/>
                                            </p:txEl>
                                          </p:spTgt>
                                        </p:tgtEl>
                                        <p:attrNameLst>
                                          <p:attrName>style.visibility</p:attrName>
                                        </p:attrNameLst>
                                      </p:cBhvr>
                                      <p:to>
                                        <p:strVal val="visible"/>
                                      </p:to>
                                    </p:set>
                                    <p:animEffect transition="in" filter="fade">
                                      <p:cBhvr>
                                        <p:cTn id="28"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15</a:t>
            </a:fld>
            <a:endParaRPr lang="de-DE" dirty="0"/>
          </a:p>
        </p:txBody>
      </p:sp>
      <p:sp>
        <p:nvSpPr>
          <p:cNvPr id="3" name="Titel 2"/>
          <p:cNvSpPr>
            <a:spLocks noGrp="1"/>
          </p:cNvSpPr>
          <p:nvPr>
            <p:ph type="title"/>
          </p:nvPr>
        </p:nvSpPr>
        <p:spPr>
          <a:xfrm>
            <a:off x="971600" y="2348880"/>
            <a:ext cx="7200800" cy="1800200"/>
          </a:xfrm>
        </p:spPr>
        <p:txBody>
          <a:bodyPr>
            <a:normAutofit/>
          </a:bodyPr>
          <a:lstStyle/>
          <a:p>
            <a:r>
              <a:rPr lang="de-DE" dirty="0"/>
              <a:t>Details der Adressierung</a:t>
            </a:r>
          </a:p>
        </p:txBody>
      </p:sp>
    </p:spTree>
    <p:extLst>
      <p:ext uri="{BB962C8B-B14F-4D97-AF65-F5344CB8AC3E}">
        <p14:creationId xmlns:p14="http://schemas.microsoft.com/office/powerpoint/2010/main" val="2809995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Wie groß soll Netid (und damit Hostid) sein? </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16</a:t>
            </a:fld>
            <a:endParaRPr lang="en-US" noProof="0" dirty="0"/>
          </a:p>
        </p:txBody>
      </p:sp>
      <p:sp>
        <p:nvSpPr>
          <p:cNvPr id="4" name="Content Placeholder 3"/>
          <p:cNvSpPr>
            <a:spLocks noGrp="1"/>
          </p:cNvSpPr>
          <p:nvPr>
            <p:ph sz="quarter" idx="1"/>
          </p:nvPr>
        </p:nvSpPr>
        <p:spPr>
          <a:xfrm>
            <a:off x="457200" y="1219200"/>
            <a:ext cx="8229600" cy="2857872"/>
          </a:xfrm>
        </p:spPr>
        <p:txBody>
          <a:bodyPr>
            <a:normAutofit/>
          </a:bodyPr>
          <a:lstStyle/>
          <a:p>
            <a:r>
              <a:rPr lang="de-DE" dirty="0"/>
              <a:t>Längeres Netid:</a:t>
            </a:r>
          </a:p>
          <a:p>
            <a:pPr lvl="1"/>
            <a:r>
              <a:rPr lang="de-DE" dirty="0"/>
              <a:t>Mehr Netzwerke, aber jedes hat weniger Adressen</a:t>
            </a:r>
          </a:p>
          <a:p>
            <a:r>
              <a:rPr lang="de-DE" dirty="0"/>
              <a:t>Kürzeres Netid:</a:t>
            </a:r>
          </a:p>
          <a:p>
            <a:pPr lvl="1"/>
            <a:r>
              <a:rPr lang="de-DE" dirty="0"/>
              <a:t>Wenige Netzwerke, aber jedes mit sehr viel Adressen</a:t>
            </a:r>
          </a:p>
          <a:p>
            <a:r>
              <a:rPr lang="de-DE" dirty="0"/>
              <a:t>Offenbar ist es sinnvoll, mehrere Längen von Netids zu haben – abhängig von der Größe des Netzwerkes</a:t>
            </a:r>
          </a:p>
        </p:txBody>
      </p:sp>
      <p:sp>
        <p:nvSpPr>
          <p:cNvPr id="5" name="Content Placeholder 4"/>
          <p:cNvSpPr>
            <a:spLocks noGrp="1"/>
          </p:cNvSpPr>
          <p:nvPr>
            <p:ph sz="quarter" idx="13"/>
          </p:nvPr>
        </p:nvSpPr>
        <p:spPr>
          <a:xfrm>
            <a:off x="467544" y="4005064"/>
            <a:ext cx="8208912" cy="2353816"/>
          </a:xfrm>
        </p:spPr>
        <p:txBody>
          <a:bodyPr/>
          <a:lstStyle/>
          <a:p>
            <a:pPr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dirty="0"/>
              <a:t>Man hat (zunächst) nur drei Längen (Klassen) von </a:t>
            </a:r>
            <a:r>
              <a:rPr lang="de-DE" dirty="0" err="1"/>
              <a:t>Netids</a:t>
            </a:r>
            <a:r>
              <a:rPr lang="de-DE" dirty="0"/>
              <a:t> gehabt – </a:t>
            </a:r>
            <a:r>
              <a:rPr lang="de-DE" b="1" dirty="0">
                <a:solidFill>
                  <a:srgbClr val="FF0000"/>
                </a:solidFill>
              </a:rPr>
              <a:t>klassenbasierte Adressierung</a:t>
            </a:r>
          </a:p>
          <a:p>
            <a:r>
              <a:rPr lang="de-DE" dirty="0"/>
              <a:t>Ab 1993 wurden diese drei Klassen auf viele (ca. 30) wesentlich kleinere aufgeteilt - </a:t>
            </a:r>
            <a:r>
              <a:rPr lang="de-DE" b="1" dirty="0">
                <a:solidFill>
                  <a:srgbClr val="FF0000"/>
                </a:solidFill>
              </a:rPr>
              <a:t>Classless Inter-Domain Routing</a:t>
            </a:r>
          </a:p>
          <a:p>
            <a:endParaRPr lang="de-DE" dirty="0"/>
          </a:p>
        </p:txBody>
      </p:sp>
    </p:spTree>
    <p:extLst>
      <p:ext uri="{BB962C8B-B14F-4D97-AF65-F5344CB8AC3E}">
        <p14:creationId xmlns:p14="http://schemas.microsoft.com/office/powerpoint/2010/main" val="494632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txEl>
                                              <p:pRg st="0" end="0"/>
                                            </p:txEl>
                                          </p:spTgt>
                                        </p:tgtEl>
                                        <p:attrNameLst>
                                          <p:attrName>style.visibility</p:attrName>
                                        </p:attrNameLst>
                                      </p:cBhvr>
                                      <p:to>
                                        <p:strVal val="visible"/>
                                      </p:to>
                                    </p:set>
                                    <p:animEffect transition="in" filter="fade">
                                      <p:cBhvr>
                                        <p:cTn id="28" dur="500"/>
                                        <p:tgtEl>
                                          <p:spTgt spid="5">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animEffect transition="in" filter="fade">
                                      <p:cBhvr>
                                        <p:cTn id="33"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5" name="Rectangle 6"/>
          <p:cNvSpPr>
            <a:spLocks noGrp="1" noChangeArrowheads="1"/>
          </p:cNvSpPr>
          <p:nvPr>
            <p:ph type="title"/>
          </p:nvPr>
        </p:nvSpPr>
        <p:spPr/>
        <p:txBody>
          <a:bodyPr lIns="0" tIns="0" rIns="0" bIns="0"/>
          <a:lstStyle/>
          <a:p>
            <a:pPr marL="431800" indent="-323850"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3600" dirty="0"/>
              <a:t>(Alte) </a:t>
            </a:r>
            <a:r>
              <a:rPr lang="de-DE" sz="3600" b="1" dirty="0">
                <a:solidFill>
                  <a:srgbClr val="FF0000"/>
                </a:solidFill>
              </a:rPr>
              <a:t>Klassenbasierte Adressierung</a:t>
            </a:r>
          </a:p>
        </p:txBody>
      </p:sp>
      <p:sp>
        <p:nvSpPr>
          <p:cNvPr id="68" name="Foliennummernplatzhalter 3"/>
          <p:cNvSpPr>
            <a:spLocks noGrp="1"/>
          </p:cNvSpPr>
          <p:nvPr>
            <p:ph type="sldNum" sz="quarter" idx="12"/>
          </p:nvPr>
        </p:nvSpPr>
        <p:spPr>
          <a:prstGeom prst="rect">
            <a:avLst/>
          </a:prstGeom>
          <a:ln/>
        </p:spPr>
        <p:txBody>
          <a:bodyPr/>
          <a:lstStyle/>
          <a:p>
            <a:fld id="{95B348B2-E2C0-4936-96CE-B977F90ADB13}" type="slidenum">
              <a:rPr lang="en-US" smtClean="0"/>
              <a:pPr/>
              <a:t>17</a:t>
            </a:fld>
            <a:endParaRPr lang="en-US" dirty="0"/>
          </a:p>
        </p:txBody>
      </p:sp>
      <p:sp>
        <p:nvSpPr>
          <p:cNvPr id="48170" name="Rectangle 67"/>
          <p:cNvSpPr>
            <a:spLocks noGrp="1" noChangeArrowheads="1"/>
          </p:cNvSpPr>
          <p:nvPr>
            <p:ph sz="quarter" idx="1"/>
          </p:nvPr>
        </p:nvSpPr>
        <p:spPr>
          <a:xfrm>
            <a:off x="457200" y="1219200"/>
            <a:ext cx="8686800" cy="1503363"/>
          </a:xfrm>
        </p:spPr>
        <p:txBody>
          <a:bodyPr lIns="0" tIns="0" rIns="0" bIns="0">
            <a:noAutofit/>
          </a:bodyPr>
          <a:lstStyle/>
          <a:p>
            <a:pPr marL="431800" indent="-323850"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IP-Adressen sind aufgeteilt in </a:t>
            </a:r>
            <a:r>
              <a:rPr lang="de-DE" sz="2400" b="1" dirty="0">
                <a:solidFill>
                  <a:srgbClr val="FF0000"/>
                </a:solidFill>
              </a:rPr>
              <a:t>Adressklassen</a:t>
            </a:r>
            <a:endParaRPr lang="de-DE" sz="2400" dirty="0"/>
          </a:p>
          <a:p>
            <a:pPr marL="431800" indent="-323850"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Die Klasse bestimmt #Bits von </a:t>
            </a:r>
            <a:r>
              <a:rPr lang="de-DE" sz="2400" dirty="0" err="1"/>
              <a:t>netid</a:t>
            </a:r>
            <a:r>
              <a:rPr lang="de-DE" sz="2400" dirty="0"/>
              <a:t> (=&gt; auch #Bits </a:t>
            </a:r>
            <a:r>
              <a:rPr lang="de-DE" sz="2400" dirty="0" err="1"/>
              <a:t>hostid</a:t>
            </a:r>
            <a:r>
              <a:rPr lang="de-DE" sz="2400" dirty="0"/>
              <a:t>)</a:t>
            </a:r>
          </a:p>
          <a:p>
            <a:pPr marL="431800" indent="-323850"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Dies nennt man „</a:t>
            </a:r>
            <a:r>
              <a:rPr lang="de-DE" sz="2400" b="1" dirty="0" err="1">
                <a:solidFill>
                  <a:srgbClr val="FF0000"/>
                </a:solidFill>
              </a:rPr>
              <a:t>classfull</a:t>
            </a:r>
            <a:r>
              <a:rPr lang="de-DE" sz="2400" dirty="0"/>
              <a:t>“ </a:t>
            </a:r>
            <a:r>
              <a:rPr lang="de-DE" sz="2400" b="1" dirty="0" err="1">
                <a:solidFill>
                  <a:srgbClr val="FF0000"/>
                </a:solidFill>
              </a:rPr>
              <a:t>addressing</a:t>
            </a:r>
            <a:r>
              <a:rPr lang="de-DE" sz="2400" dirty="0">
                <a:solidFill>
                  <a:srgbClr val="FF0000"/>
                </a:solidFill>
              </a:rPr>
              <a:t> </a:t>
            </a:r>
            <a:r>
              <a:rPr lang="de-DE" sz="2400" dirty="0"/>
              <a:t>oder </a:t>
            </a:r>
            <a:r>
              <a:rPr lang="de-DE" sz="2400" b="1" dirty="0">
                <a:solidFill>
                  <a:srgbClr val="FF0000"/>
                </a:solidFill>
              </a:rPr>
              <a:t>klassenbasierte Adressierung</a:t>
            </a:r>
          </a:p>
        </p:txBody>
      </p:sp>
      <p:grpSp>
        <p:nvGrpSpPr>
          <p:cNvPr id="2" name="Group 11"/>
          <p:cNvGrpSpPr/>
          <p:nvPr/>
        </p:nvGrpSpPr>
        <p:grpSpPr>
          <a:xfrm>
            <a:off x="531788" y="3178175"/>
            <a:ext cx="7683450" cy="2737207"/>
            <a:chOff x="552500" y="3490458"/>
            <a:chExt cx="7683450" cy="2737207"/>
          </a:xfrm>
        </p:grpSpPr>
        <p:sp>
          <p:nvSpPr>
            <p:cNvPr id="48131" name="AutoShape 2"/>
            <p:cNvSpPr>
              <a:spLocks noChangeArrowheads="1"/>
            </p:cNvSpPr>
            <p:nvPr/>
          </p:nvSpPr>
          <p:spPr bwMode="auto">
            <a:xfrm>
              <a:off x="1630363" y="5397046"/>
              <a:ext cx="4579937" cy="334962"/>
            </a:xfrm>
            <a:prstGeom prst="roundRect">
              <a:avLst>
                <a:gd name="adj" fmla="val 431"/>
              </a:avLst>
            </a:prstGeom>
            <a:solidFill>
              <a:srgbClr val="3333CC"/>
            </a:solidFill>
            <a:ln w="9525">
              <a:noFill/>
              <a:round/>
              <a:headEnd/>
              <a:tailEnd/>
            </a:ln>
          </p:spPr>
          <p:txBody>
            <a:bodyPr wrap="none" anchor="ctr"/>
            <a:lstStyle/>
            <a:p>
              <a:endParaRPr lang="de-DE"/>
            </a:p>
          </p:txBody>
        </p:sp>
        <p:sp>
          <p:nvSpPr>
            <p:cNvPr id="48132" name="AutoShape 3"/>
            <p:cNvSpPr>
              <a:spLocks noChangeArrowheads="1"/>
            </p:cNvSpPr>
            <p:nvPr/>
          </p:nvSpPr>
          <p:spPr bwMode="auto">
            <a:xfrm>
              <a:off x="1611313" y="4757283"/>
              <a:ext cx="4581525" cy="334963"/>
            </a:xfrm>
            <a:prstGeom prst="roundRect">
              <a:avLst>
                <a:gd name="adj" fmla="val 431"/>
              </a:avLst>
            </a:prstGeom>
            <a:solidFill>
              <a:srgbClr val="3333CC"/>
            </a:solidFill>
            <a:ln w="9525">
              <a:noFill/>
              <a:round/>
              <a:headEnd/>
              <a:tailEnd/>
            </a:ln>
          </p:spPr>
          <p:txBody>
            <a:bodyPr wrap="none" anchor="ctr"/>
            <a:lstStyle/>
            <a:p>
              <a:endParaRPr lang="de-DE"/>
            </a:p>
          </p:txBody>
        </p:sp>
        <p:sp>
          <p:nvSpPr>
            <p:cNvPr id="48133" name="AutoShape 4"/>
            <p:cNvSpPr>
              <a:spLocks noChangeArrowheads="1"/>
            </p:cNvSpPr>
            <p:nvPr/>
          </p:nvSpPr>
          <p:spPr bwMode="auto">
            <a:xfrm>
              <a:off x="1611313" y="4149271"/>
              <a:ext cx="4581525" cy="333375"/>
            </a:xfrm>
            <a:prstGeom prst="roundRect">
              <a:avLst>
                <a:gd name="adj" fmla="val 431"/>
              </a:avLst>
            </a:prstGeom>
            <a:solidFill>
              <a:srgbClr val="3333CC"/>
            </a:solidFill>
            <a:ln w="9525">
              <a:noFill/>
              <a:round/>
              <a:headEnd/>
              <a:tailEnd/>
            </a:ln>
          </p:spPr>
          <p:txBody>
            <a:bodyPr wrap="none" anchor="ctr"/>
            <a:lstStyle/>
            <a:p>
              <a:endParaRPr lang="de-DE"/>
            </a:p>
          </p:txBody>
        </p:sp>
        <p:sp>
          <p:nvSpPr>
            <p:cNvPr id="48134" name="AutoShape 5"/>
            <p:cNvSpPr>
              <a:spLocks noChangeArrowheads="1"/>
            </p:cNvSpPr>
            <p:nvPr/>
          </p:nvSpPr>
          <p:spPr bwMode="auto">
            <a:xfrm>
              <a:off x="1619250" y="3547608"/>
              <a:ext cx="4581525" cy="334963"/>
            </a:xfrm>
            <a:prstGeom prst="roundRect">
              <a:avLst>
                <a:gd name="adj" fmla="val 431"/>
              </a:avLst>
            </a:prstGeom>
            <a:solidFill>
              <a:srgbClr val="3333CC"/>
            </a:solidFill>
            <a:ln w="9525">
              <a:noFill/>
              <a:round/>
              <a:headEnd/>
              <a:tailEnd/>
            </a:ln>
          </p:spPr>
          <p:txBody>
            <a:bodyPr wrap="none" anchor="ctr"/>
            <a:lstStyle/>
            <a:p>
              <a:endParaRPr lang="de-DE"/>
            </a:p>
          </p:txBody>
        </p:sp>
        <p:sp>
          <p:nvSpPr>
            <p:cNvPr id="48136" name="AutoShape 7"/>
            <p:cNvSpPr>
              <a:spLocks noChangeArrowheads="1"/>
            </p:cNvSpPr>
            <p:nvPr/>
          </p:nvSpPr>
          <p:spPr bwMode="auto">
            <a:xfrm>
              <a:off x="1573213" y="3606346"/>
              <a:ext cx="4581525" cy="333375"/>
            </a:xfrm>
            <a:prstGeom prst="roundRect">
              <a:avLst>
                <a:gd name="adj" fmla="val 431"/>
              </a:avLst>
            </a:prstGeom>
            <a:solidFill>
              <a:srgbClr val="FFFFFF"/>
            </a:solidFill>
            <a:ln w="19080">
              <a:solidFill>
                <a:srgbClr val="000000"/>
              </a:solidFill>
              <a:round/>
              <a:headEnd/>
              <a:tailEnd/>
            </a:ln>
          </p:spPr>
          <p:txBody>
            <a:bodyPr wrap="none" anchor="ctr"/>
            <a:lstStyle/>
            <a:p>
              <a:endParaRPr lang="de-DE"/>
            </a:p>
          </p:txBody>
        </p:sp>
        <p:sp>
          <p:nvSpPr>
            <p:cNvPr id="48137" name="AutoShape 8"/>
            <p:cNvSpPr>
              <a:spLocks noChangeArrowheads="1"/>
            </p:cNvSpPr>
            <p:nvPr/>
          </p:nvSpPr>
          <p:spPr bwMode="auto">
            <a:xfrm>
              <a:off x="1557338" y="3599996"/>
              <a:ext cx="323850" cy="366712"/>
            </a:xfrm>
            <a:prstGeom prst="roundRect">
              <a:avLst>
                <a:gd name="adj" fmla="val 444"/>
              </a:avLst>
            </a:prstGeom>
            <a:noFill/>
            <a:ln w="9525">
              <a:noFill/>
              <a:round/>
              <a:headEnd/>
              <a:tailEnd/>
            </a:ln>
          </p:spPr>
          <p:txBody>
            <a:bodyPr lIns="81639" tIns="42452" rIns="81639" bIns="42452"/>
            <a:lstStyle/>
            <a:p>
              <a:pPr defTabSz="828675" eaLnBrk="1">
                <a:buClr>
                  <a:srgbClr val="000000"/>
                </a:buClr>
                <a:buSzPct val="45000"/>
                <a:buFont typeface="Wingdings" pitchFamily="2" charset="2"/>
                <a:buNone/>
              </a:pPr>
              <a:r>
                <a:rPr lang="de-DE" sz="1600" dirty="0">
                  <a:solidFill>
                    <a:srgbClr val="0070C0"/>
                  </a:solidFill>
                </a:rPr>
                <a:t>0</a:t>
              </a:r>
            </a:p>
          </p:txBody>
        </p:sp>
        <p:sp>
          <p:nvSpPr>
            <p:cNvPr id="48138" name="AutoShape 9"/>
            <p:cNvSpPr>
              <a:spLocks noChangeArrowheads="1"/>
            </p:cNvSpPr>
            <p:nvPr/>
          </p:nvSpPr>
          <p:spPr bwMode="auto">
            <a:xfrm>
              <a:off x="1827213" y="3571421"/>
              <a:ext cx="939800" cy="365125"/>
            </a:xfrm>
            <a:prstGeom prst="roundRect">
              <a:avLst>
                <a:gd name="adj" fmla="val 394"/>
              </a:avLst>
            </a:prstGeom>
            <a:noFill/>
            <a:ln w="9525">
              <a:noFill/>
              <a:round/>
              <a:headEnd/>
              <a:tailEnd/>
            </a:ln>
          </p:spPr>
          <p:txBody>
            <a:bodyPr lIns="81639" tIns="42452" rIns="81639" bIns="42452"/>
            <a:lstStyle/>
            <a:p>
              <a:pPr defTabSz="407988" eaLnBrk="1">
                <a:buClr>
                  <a:srgbClr val="000000"/>
                </a:buClr>
                <a:buSzPct val="45000"/>
                <a:buFont typeface="Wingdings" pitchFamily="2" charset="2"/>
                <a:buNone/>
                <a:tabLst>
                  <a:tab pos="657225" algn="l"/>
                </a:tabLst>
              </a:pPr>
              <a:r>
                <a:rPr lang="de-DE" sz="1600">
                  <a:solidFill>
                    <a:srgbClr val="000000"/>
                  </a:solidFill>
                </a:rPr>
                <a:t>netid</a:t>
              </a:r>
            </a:p>
          </p:txBody>
        </p:sp>
        <p:sp>
          <p:nvSpPr>
            <p:cNvPr id="48139" name="AutoShape 10"/>
            <p:cNvSpPr>
              <a:spLocks noChangeArrowheads="1"/>
            </p:cNvSpPr>
            <p:nvPr/>
          </p:nvSpPr>
          <p:spPr bwMode="auto">
            <a:xfrm>
              <a:off x="4041775" y="3599996"/>
              <a:ext cx="774700" cy="366712"/>
            </a:xfrm>
            <a:prstGeom prst="roundRect">
              <a:avLst>
                <a:gd name="adj" fmla="val 394"/>
              </a:avLst>
            </a:prstGeom>
            <a:noFill/>
            <a:ln w="9525">
              <a:noFill/>
              <a:round/>
              <a:headEnd/>
              <a:tailEnd/>
            </a:ln>
          </p:spPr>
          <p:txBody>
            <a:bodyPr lIns="81639" tIns="42452" rIns="81639" bIns="42452"/>
            <a:lstStyle/>
            <a:p>
              <a:pPr defTabSz="828675" eaLnBrk="1">
                <a:buClr>
                  <a:srgbClr val="000000"/>
                </a:buClr>
                <a:buSzPct val="45000"/>
                <a:buFont typeface="Wingdings" pitchFamily="2" charset="2"/>
                <a:buNone/>
              </a:pPr>
              <a:r>
                <a:rPr lang="de-DE" sz="1600" dirty="0">
                  <a:solidFill>
                    <a:srgbClr val="000000"/>
                  </a:solidFill>
                </a:rPr>
                <a:t>hostid</a:t>
              </a:r>
            </a:p>
          </p:txBody>
        </p:sp>
        <p:sp>
          <p:nvSpPr>
            <p:cNvPr id="48140" name="Line 11"/>
            <p:cNvSpPr>
              <a:spLocks noChangeShapeType="1"/>
            </p:cNvSpPr>
            <p:nvPr/>
          </p:nvSpPr>
          <p:spPr bwMode="auto">
            <a:xfrm>
              <a:off x="2725738" y="3606346"/>
              <a:ext cx="1587" cy="342900"/>
            </a:xfrm>
            <a:prstGeom prst="line">
              <a:avLst/>
            </a:prstGeom>
            <a:noFill/>
            <a:ln w="9360">
              <a:solidFill>
                <a:srgbClr val="000000"/>
              </a:solidFill>
              <a:round/>
              <a:headEnd/>
              <a:tailEnd/>
            </a:ln>
          </p:spPr>
          <p:txBody>
            <a:bodyPr/>
            <a:lstStyle/>
            <a:p>
              <a:endParaRPr lang="de-DE"/>
            </a:p>
          </p:txBody>
        </p:sp>
        <p:grpSp>
          <p:nvGrpSpPr>
            <p:cNvPr id="3" name="Group 12"/>
            <p:cNvGrpSpPr>
              <a:grpSpLocks/>
            </p:cNvGrpSpPr>
            <p:nvPr/>
          </p:nvGrpSpPr>
          <p:grpSpPr bwMode="auto">
            <a:xfrm>
              <a:off x="3821113" y="3606346"/>
              <a:ext cx="92075" cy="341312"/>
              <a:chOff x="2653" y="2234"/>
              <a:chExt cx="65" cy="237"/>
            </a:xfrm>
          </p:grpSpPr>
          <p:sp>
            <p:nvSpPr>
              <p:cNvPr id="48194" name="Line 13"/>
              <p:cNvSpPr>
                <a:spLocks noChangeShapeType="1"/>
              </p:cNvSpPr>
              <p:nvPr/>
            </p:nvSpPr>
            <p:spPr bwMode="auto">
              <a:xfrm>
                <a:off x="2686" y="2234"/>
                <a:ext cx="1" cy="238"/>
              </a:xfrm>
              <a:prstGeom prst="line">
                <a:avLst/>
              </a:prstGeom>
              <a:noFill/>
              <a:ln w="9360">
                <a:solidFill>
                  <a:srgbClr val="000000"/>
                </a:solidFill>
                <a:round/>
                <a:headEnd/>
                <a:tailEnd/>
              </a:ln>
            </p:spPr>
            <p:txBody>
              <a:bodyPr/>
              <a:lstStyle/>
              <a:p>
                <a:endParaRPr lang="de-DE"/>
              </a:p>
            </p:txBody>
          </p:sp>
          <p:sp>
            <p:nvSpPr>
              <p:cNvPr id="48195" name="AutoShape 14"/>
              <p:cNvSpPr>
                <a:spLocks noChangeArrowheads="1"/>
              </p:cNvSpPr>
              <p:nvPr/>
            </p:nvSpPr>
            <p:spPr bwMode="auto">
              <a:xfrm>
                <a:off x="2653" y="2280"/>
                <a:ext cx="66" cy="132"/>
              </a:xfrm>
              <a:prstGeom prst="roundRect">
                <a:avLst>
                  <a:gd name="adj" fmla="val 1514"/>
                </a:avLst>
              </a:prstGeom>
              <a:solidFill>
                <a:srgbClr val="FFFFFF"/>
              </a:solidFill>
              <a:ln w="9525">
                <a:noFill/>
                <a:round/>
                <a:headEnd/>
                <a:tailEnd/>
              </a:ln>
            </p:spPr>
            <p:txBody>
              <a:bodyPr wrap="none" anchor="ctr"/>
              <a:lstStyle/>
              <a:p>
                <a:endParaRPr lang="de-DE"/>
              </a:p>
            </p:txBody>
          </p:sp>
        </p:grpSp>
        <p:grpSp>
          <p:nvGrpSpPr>
            <p:cNvPr id="4" name="Group 15"/>
            <p:cNvGrpSpPr>
              <a:grpSpLocks/>
            </p:cNvGrpSpPr>
            <p:nvPr/>
          </p:nvGrpSpPr>
          <p:grpSpPr bwMode="auto">
            <a:xfrm>
              <a:off x="4905375" y="3606346"/>
              <a:ext cx="93663" cy="341312"/>
              <a:chOff x="3407" y="2234"/>
              <a:chExt cx="65" cy="237"/>
            </a:xfrm>
          </p:grpSpPr>
          <p:sp>
            <p:nvSpPr>
              <p:cNvPr id="48192" name="Line 16"/>
              <p:cNvSpPr>
                <a:spLocks noChangeShapeType="1"/>
              </p:cNvSpPr>
              <p:nvPr/>
            </p:nvSpPr>
            <p:spPr bwMode="auto">
              <a:xfrm>
                <a:off x="3440" y="2234"/>
                <a:ext cx="1" cy="238"/>
              </a:xfrm>
              <a:prstGeom prst="line">
                <a:avLst/>
              </a:prstGeom>
              <a:noFill/>
              <a:ln w="9360">
                <a:solidFill>
                  <a:srgbClr val="000000"/>
                </a:solidFill>
                <a:round/>
                <a:headEnd/>
                <a:tailEnd/>
              </a:ln>
            </p:spPr>
            <p:txBody>
              <a:bodyPr/>
              <a:lstStyle/>
              <a:p>
                <a:endParaRPr lang="de-DE"/>
              </a:p>
            </p:txBody>
          </p:sp>
          <p:sp>
            <p:nvSpPr>
              <p:cNvPr id="48193" name="AutoShape 17"/>
              <p:cNvSpPr>
                <a:spLocks noChangeArrowheads="1"/>
              </p:cNvSpPr>
              <p:nvPr/>
            </p:nvSpPr>
            <p:spPr bwMode="auto">
              <a:xfrm>
                <a:off x="3407" y="2280"/>
                <a:ext cx="66" cy="132"/>
              </a:xfrm>
              <a:prstGeom prst="roundRect">
                <a:avLst>
                  <a:gd name="adj" fmla="val 1514"/>
                </a:avLst>
              </a:prstGeom>
              <a:solidFill>
                <a:srgbClr val="FFFFFF"/>
              </a:solidFill>
              <a:ln w="9525">
                <a:noFill/>
                <a:round/>
                <a:headEnd/>
                <a:tailEnd/>
              </a:ln>
            </p:spPr>
            <p:txBody>
              <a:bodyPr wrap="none" anchor="ctr"/>
              <a:lstStyle/>
              <a:p>
                <a:endParaRPr lang="de-DE"/>
              </a:p>
            </p:txBody>
          </p:sp>
        </p:grpSp>
        <p:sp>
          <p:nvSpPr>
            <p:cNvPr id="48143" name="AutoShape 19"/>
            <p:cNvSpPr>
              <a:spLocks noChangeArrowheads="1"/>
            </p:cNvSpPr>
            <p:nvPr/>
          </p:nvSpPr>
          <p:spPr bwMode="auto">
            <a:xfrm>
              <a:off x="1582738" y="4196896"/>
              <a:ext cx="4579937" cy="333375"/>
            </a:xfrm>
            <a:prstGeom prst="roundRect">
              <a:avLst>
                <a:gd name="adj" fmla="val 431"/>
              </a:avLst>
            </a:prstGeom>
            <a:solidFill>
              <a:srgbClr val="FFFFFF"/>
            </a:solidFill>
            <a:ln w="19080">
              <a:solidFill>
                <a:srgbClr val="000000"/>
              </a:solidFill>
              <a:round/>
              <a:headEnd/>
              <a:tailEnd/>
            </a:ln>
          </p:spPr>
          <p:txBody>
            <a:bodyPr wrap="none" anchor="ctr"/>
            <a:lstStyle/>
            <a:p>
              <a:endParaRPr lang="de-DE"/>
            </a:p>
          </p:txBody>
        </p:sp>
        <p:sp>
          <p:nvSpPr>
            <p:cNvPr id="48144" name="AutoShape 20"/>
            <p:cNvSpPr>
              <a:spLocks noChangeArrowheads="1"/>
            </p:cNvSpPr>
            <p:nvPr/>
          </p:nvSpPr>
          <p:spPr bwMode="auto">
            <a:xfrm>
              <a:off x="1566863" y="4190546"/>
              <a:ext cx="425450" cy="365125"/>
            </a:xfrm>
            <a:prstGeom prst="roundRect">
              <a:avLst>
                <a:gd name="adj" fmla="val 394"/>
              </a:avLst>
            </a:prstGeom>
            <a:noFill/>
            <a:ln w="9525">
              <a:noFill/>
              <a:round/>
              <a:headEnd/>
              <a:tailEnd/>
            </a:ln>
          </p:spPr>
          <p:txBody>
            <a:bodyPr lIns="81639" tIns="42452" rIns="81639" bIns="42452"/>
            <a:lstStyle/>
            <a:p>
              <a:pPr defTabSz="828675" eaLnBrk="1">
                <a:buClr>
                  <a:srgbClr val="000000"/>
                </a:buClr>
                <a:buSzPct val="45000"/>
                <a:buFont typeface="Wingdings" pitchFamily="2" charset="2"/>
                <a:buNone/>
              </a:pPr>
              <a:r>
                <a:rPr lang="de-DE" sz="1600" dirty="0">
                  <a:solidFill>
                    <a:srgbClr val="0070C0"/>
                  </a:solidFill>
                </a:rPr>
                <a:t>10</a:t>
              </a:r>
            </a:p>
          </p:txBody>
        </p:sp>
        <p:sp>
          <p:nvSpPr>
            <p:cNvPr id="48145" name="Line 21"/>
            <p:cNvSpPr>
              <a:spLocks noChangeShapeType="1"/>
            </p:cNvSpPr>
            <p:nvPr/>
          </p:nvSpPr>
          <p:spPr bwMode="auto">
            <a:xfrm>
              <a:off x="3878263" y="4196896"/>
              <a:ext cx="1587" cy="341312"/>
            </a:xfrm>
            <a:prstGeom prst="line">
              <a:avLst/>
            </a:prstGeom>
            <a:noFill/>
            <a:ln w="9360">
              <a:solidFill>
                <a:srgbClr val="000000"/>
              </a:solidFill>
              <a:round/>
              <a:headEnd/>
              <a:tailEnd/>
            </a:ln>
          </p:spPr>
          <p:txBody>
            <a:bodyPr/>
            <a:lstStyle/>
            <a:p>
              <a:endParaRPr lang="de-DE"/>
            </a:p>
          </p:txBody>
        </p:sp>
        <p:grpSp>
          <p:nvGrpSpPr>
            <p:cNvPr id="5" name="Group 22"/>
            <p:cNvGrpSpPr>
              <a:grpSpLocks/>
            </p:cNvGrpSpPr>
            <p:nvPr/>
          </p:nvGrpSpPr>
          <p:grpSpPr bwMode="auto">
            <a:xfrm>
              <a:off x="2687638" y="4196896"/>
              <a:ext cx="93662" cy="339725"/>
              <a:chOff x="1866" y="2644"/>
              <a:chExt cx="65" cy="237"/>
            </a:xfrm>
          </p:grpSpPr>
          <p:sp>
            <p:nvSpPr>
              <p:cNvPr id="48190" name="Line 23"/>
              <p:cNvSpPr>
                <a:spLocks noChangeShapeType="1"/>
              </p:cNvSpPr>
              <p:nvPr/>
            </p:nvSpPr>
            <p:spPr bwMode="auto">
              <a:xfrm>
                <a:off x="1899" y="2644"/>
                <a:ext cx="1" cy="238"/>
              </a:xfrm>
              <a:prstGeom prst="line">
                <a:avLst/>
              </a:prstGeom>
              <a:noFill/>
              <a:ln w="9360">
                <a:solidFill>
                  <a:srgbClr val="000000"/>
                </a:solidFill>
                <a:round/>
                <a:headEnd/>
                <a:tailEnd/>
              </a:ln>
            </p:spPr>
            <p:txBody>
              <a:bodyPr/>
              <a:lstStyle/>
              <a:p>
                <a:endParaRPr lang="de-DE"/>
              </a:p>
            </p:txBody>
          </p:sp>
          <p:sp>
            <p:nvSpPr>
              <p:cNvPr id="48191" name="AutoShape 24"/>
              <p:cNvSpPr>
                <a:spLocks noChangeArrowheads="1"/>
              </p:cNvSpPr>
              <p:nvPr/>
            </p:nvSpPr>
            <p:spPr bwMode="auto">
              <a:xfrm>
                <a:off x="1866" y="2690"/>
                <a:ext cx="66" cy="132"/>
              </a:xfrm>
              <a:prstGeom prst="roundRect">
                <a:avLst>
                  <a:gd name="adj" fmla="val 1514"/>
                </a:avLst>
              </a:prstGeom>
              <a:solidFill>
                <a:srgbClr val="FFFFFF"/>
              </a:solidFill>
              <a:ln w="9525">
                <a:noFill/>
                <a:round/>
                <a:headEnd/>
                <a:tailEnd/>
              </a:ln>
            </p:spPr>
            <p:txBody>
              <a:bodyPr wrap="none" anchor="ctr"/>
              <a:lstStyle/>
              <a:p>
                <a:endParaRPr lang="de-DE"/>
              </a:p>
            </p:txBody>
          </p:sp>
        </p:grpSp>
        <p:grpSp>
          <p:nvGrpSpPr>
            <p:cNvPr id="6" name="Group 25"/>
            <p:cNvGrpSpPr>
              <a:grpSpLocks/>
            </p:cNvGrpSpPr>
            <p:nvPr/>
          </p:nvGrpSpPr>
          <p:grpSpPr bwMode="auto">
            <a:xfrm>
              <a:off x="4914900" y="4196896"/>
              <a:ext cx="93663" cy="339725"/>
              <a:chOff x="3413" y="2644"/>
              <a:chExt cx="65" cy="237"/>
            </a:xfrm>
          </p:grpSpPr>
          <p:sp>
            <p:nvSpPr>
              <p:cNvPr id="48188" name="Line 26"/>
              <p:cNvSpPr>
                <a:spLocks noChangeShapeType="1"/>
              </p:cNvSpPr>
              <p:nvPr/>
            </p:nvSpPr>
            <p:spPr bwMode="auto">
              <a:xfrm>
                <a:off x="3447" y="2644"/>
                <a:ext cx="1" cy="238"/>
              </a:xfrm>
              <a:prstGeom prst="line">
                <a:avLst/>
              </a:prstGeom>
              <a:noFill/>
              <a:ln w="9360">
                <a:solidFill>
                  <a:srgbClr val="000000"/>
                </a:solidFill>
                <a:round/>
                <a:headEnd/>
                <a:tailEnd/>
              </a:ln>
            </p:spPr>
            <p:txBody>
              <a:bodyPr/>
              <a:lstStyle/>
              <a:p>
                <a:endParaRPr lang="de-DE"/>
              </a:p>
            </p:txBody>
          </p:sp>
          <p:sp>
            <p:nvSpPr>
              <p:cNvPr id="48189" name="AutoShape 27"/>
              <p:cNvSpPr>
                <a:spLocks noChangeArrowheads="1"/>
              </p:cNvSpPr>
              <p:nvPr/>
            </p:nvSpPr>
            <p:spPr bwMode="auto">
              <a:xfrm>
                <a:off x="3413" y="2690"/>
                <a:ext cx="66" cy="132"/>
              </a:xfrm>
              <a:prstGeom prst="roundRect">
                <a:avLst>
                  <a:gd name="adj" fmla="val 1514"/>
                </a:avLst>
              </a:prstGeom>
              <a:solidFill>
                <a:srgbClr val="FFFFFF"/>
              </a:solidFill>
              <a:ln w="9525">
                <a:noFill/>
                <a:round/>
                <a:headEnd/>
                <a:tailEnd/>
              </a:ln>
            </p:spPr>
            <p:txBody>
              <a:bodyPr wrap="none" anchor="ctr"/>
              <a:lstStyle/>
              <a:p>
                <a:endParaRPr lang="de-DE"/>
              </a:p>
            </p:txBody>
          </p:sp>
        </p:grpSp>
        <p:sp>
          <p:nvSpPr>
            <p:cNvPr id="48148" name="AutoShape 28"/>
            <p:cNvSpPr>
              <a:spLocks noChangeArrowheads="1"/>
            </p:cNvSpPr>
            <p:nvPr/>
          </p:nvSpPr>
          <p:spPr bwMode="auto">
            <a:xfrm>
              <a:off x="2462213" y="4161971"/>
              <a:ext cx="1046162" cy="366712"/>
            </a:xfrm>
            <a:prstGeom prst="roundRect">
              <a:avLst>
                <a:gd name="adj" fmla="val 394"/>
              </a:avLst>
            </a:prstGeom>
            <a:noFill/>
            <a:ln w="9525">
              <a:noFill/>
              <a:round/>
              <a:headEnd/>
              <a:tailEnd/>
            </a:ln>
          </p:spPr>
          <p:txBody>
            <a:bodyPr lIns="81639" tIns="42452" rIns="81639" bIns="42452"/>
            <a:lstStyle/>
            <a:p>
              <a:pPr defTabSz="407988" eaLnBrk="1">
                <a:buClr>
                  <a:srgbClr val="000000"/>
                </a:buClr>
                <a:buSzPct val="45000"/>
                <a:buFont typeface="Wingdings" pitchFamily="2" charset="2"/>
                <a:buNone/>
                <a:tabLst>
                  <a:tab pos="657225" algn="l"/>
                </a:tabLst>
              </a:pPr>
              <a:r>
                <a:rPr lang="de-DE" sz="1600">
                  <a:solidFill>
                    <a:srgbClr val="000000"/>
                  </a:solidFill>
                </a:rPr>
                <a:t>netid</a:t>
              </a:r>
            </a:p>
          </p:txBody>
        </p:sp>
        <p:sp>
          <p:nvSpPr>
            <p:cNvPr id="48149" name="AutoShape 29"/>
            <p:cNvSpPr>
              <a:spLocks noChangeArrowheads="1"/>
            </p:cNvSpPr>
            <p:nvPr/>
          </p:nvSpPr>
          <p:spPr bwMode="auto">
            <a:xfrm>
              <a:off x="4613275" y="4190546"/>
              <a:ext cx="844550" cy="365125"/>
            </a:xfrm>
            <a:prstGeom prst="roundRect">
              <a:avLst>
                <a:gd name="adj" fmla="val 394"/>
              </a:avLst>
            </a:prstGeom>
            <a:noFill/>
            <a:ln w="9525">
              <a:noFill/>
              <a:round/>
              <a:headEnd/>
              <a:tailEnd/>
            </a:ln>
          </p:spPr>
          <p:txBody>
            <a:bodyPr lIns="81639" tIns="42452" rIns="81639" bIns="42452"/>
            <a:lstStyle/>
            <a:p>
              <a:pPr defTabSz="828675" eaLnBrk="1">
                <a:buClr>
                  <a:srgbClr val="000000"/>
                </a:buClr>
                <a:buSzPct val="45000"/>
                <a:buFont typeface="Wingdings" pitchFamily="2" charset="2"/>
                <a:buNone/>
              </a:pPr>
              <a:r>
                <a:rPr lang="de-DE" sz="1600">
                  <a:solidFill>
                    <a:srgbClr val="000000"/>
                  </a:solidFill>
                </a:rPr>
                <a:t>hostid</a:t>
              </a:r>
            </a:p>
          </p:txBody>
        </p:sp>
        <p:sp>
          <p:nvSpPr>
            <p:cNvPr id="48150" name="AutoShape 31"/>
            <p:cNvSpPr>
              <a:spLocks noChangeArrowheads="1"/>
            </p:cNvSpPr>
            <p:nvPr/>
          </p:nvSpPr>
          <p:spPr bwMode="auto">
            <a:xfrm>
              <a:off x="1573213" y="4808083"/>
              <a:ext cx="4579937" cy="333375"/>
            </a:xfrm>
            <a:prstGeom prst="roundRect">
              <a:avLst>
                <a:gd name="adj" fmla="val 431"/>
              </a:avLst>
            </a:prstGeom>
            <a:solidFill>
              <a:srgbClr val="FFFFFF"/>
            </a:solidFill>
            <a:ln w="19080">
              <a:solidFill>
                <a:srgbClr val="000000"/>
              </a:solidFill>
              <a:round/>
              <a:headEnd/>
              <a:tailEnd/>
            </a:ln>
          </p:spPr>
          <p:txBody>
            <a:bodyPr wrap="none" anchor="ctr"/>
            <a:lstStyle/>
            <a:p>
              <a:endParaRPr lang="de-DE"/>
            </a:p>
          </p:txBody>
        </p:sp>
        <p:sp>
          <p:nvSpPr>
            <p:cNvPr id="48151" name="AutoShape 32"/>
            <p:cNvSpPr>
              <a:spLocks noChangeArrowheads="1"/>
            </p:cNvSpPr>
            <p:nvPr/>
          </p:nvSpPr>
          <p:spPr bwMode="auto">
            <a:xfrm>
              <a:off x="1557338" y="4800146"/>
              <a:ext cx="530225" cy="366712"/>
            </a:xfrm>
            <a:prstGeom prst="roundRect">
              <a:avLst>
                <a:gd name="adj" fmla="val 394"/>
              </a:avLst>
            </a:prstGeom>
            <a:noFill/>
            <a:ln w="9525">
              <a:noFill/>
              <a:round/>
              <a:headEnd/>
              <a:tailEnd/>
            </a:ln>
          </p:spPr>
          <p:txBody>
            <a:bodyPr lIns="81639" tIns="42452" rIns="81639" bIns="42452"/>
            <a:lstStyle/>
            <a:p>
              <a:pPr defTabSz="828675" eaLnBrk="1">
                <a:buClr>
                  <a:srgbClr val="000000"/>
                </a:buClr>
                <a:buSzPct val="45000"/>
                <a:buFont typeface="Wingdings" pitchFamily="2" charset="2"/>
                <a:buNone/>
              </a:pPr>
              <a:r>
                <a:rPr lang="de-DE" sz="1600" dirty="0">
                  <a:solidFill>
                    <a:srgbClr val="0070C0"/>
                  </a:solidFill>
                </a:rPr>
                <a:t>110</a:t>
              </a:r>
            </a:p>
          </p:txBody>
        </p:sp>
        <p:sp>
          <p:nvSpPr>
            <p:cNvPr id="48152" name="Line 33"/>
            <p:cNvSpPr>
              <a:spLocks noChangeShapeType="1"/>
            </p:cNvSpPr>
            <p:nvPr/>
          </p:nvSpPr>
          <p:spPr bwMode="auto">
            <a:xfrm>
              <a:off x="4945063" y="4808083"/>
              <a:ext cx="1587" cy="341313"/>
            </a:xfrm>
            <a:prstGeom prst="line">
              <a:avLst/>
            </a:prstGeom>
            <a:noFill/>
            <a:ln w="9360">
              <a:solidFill>
                <a:srgbClr val="000000"/>
              </a:solidFill>
              <a:round/>
              <a:headEnd/>
              <a:tailEnd/>
            </a:ln>
          </p:spPr>
          <p:txBody>
            <a:bodyPr/>
            <a:lstStyle/>
            <a:p>
              <a:endParaRPr lang="de-DE"/>
            </a:p>
          </p:txBody>
        </p:sp>
        <p:grpSp>
          <p:nvGrpSpPr>
            <p:cNvPr id="7" name="Group 34"/>
            <p:cNvGrpSpPr>
              <a:grpSpLocks/>
            </p:cNvGrpSpPr>
            <p:nvPr/>
          </p:nvGrpSpPr>
          <p:grpSpPr bwMode="auto">
            <a:xfrm>
              <a:off x="2678113" y="4808083"/>
              <a:ext cx="93662" cy="339725"/>
              <a:chOff x="1860" y="3068"/>
              <a:chExt cx="65" cy="237"/>
            </a:xfrm>
          </p:grpSpPr>
          <p:sp>
            <p:nvSpPr>
              <p:cNvPr id="48186" name="Line 35"/>
              <p:cNvSpPr>
                <a:spLocks noChangeShapeType="1"/>
              </p:cNvSpPr>
              <p:nvPr/>
            </p:nvSpPr>
            <p:spPr bwMode="auto">
              <a:xfrm>
                <a:off x="1892" y="3068"/>
                <a:ext cx="1" cy="238"/>
              </a:xfrm>
              <a:prstGeom prst="line">
                <a:avLst/>
              </a:prstGeom>
              <a:noFill/>
              <a:ln w="9360">
                <a:solidFill>
                  <a:srgbClr val="000000"/>
                </a:solidFill>
                <a:round/>
                <a:headEnd/>
                <a:tailEnd/>
              </a:ln>
            </p:spPr>
            <p:txBody>
              <a:bodyPr/>
              <a:lstStyle/>
              <a:p>
                <a:endParaRPr lang="de-DE"/>
              </a:p>
            </p:txBody>
          </p:sp>
          <p:sp>
            <p:nvSpPr>
              <p:cNvPr id="48187" name="AutoShape 36"/>
              <p:cNvSpPr>
                <a:spLocks noChangeArrowheads="1"/>
              </p:cNvSpPr>
              <p:nvPr/>
            </p:nvSpPr>
            <p:spPr bwMode="auto">
              <a:xfrm>
                <a:off x="1860" y="3114"/>
                <a:ext cx="66" cy="132"/>
              </a:xfrm>
              <a:prstGeom prst="roundRect">
                <a:avLst>
                  <a:gd name="adj" fmla="val 1514"/>
                </a:avLst>
              </a:prstGeom>
              <a:solidFill>
                <a:srgbClr val="FFFFFF"/>
              </a:solidFill>
              <a:ln w="9525">
                <a:noFill/>
                <a:round/>
                <a:headEnd/>
                <a:tailEnd/>
              </a:ln>
            </p:spPr>
            <p:txBody>
              <a:bodyPr wrap="none" anchor="ctr"/>
              <a:lstStyle/>
              <a:p>
                <a:endParaRPr lang="de-DE"/>
              </a:p>
            </p:txBody>
          </p:sp>
        </p:grpSp>
        <p:grpSp>
          <p:nvGrpSpPr>
            <p:cNvPr id="8" name="Group 37"/>
            <p:cNvGrpSpPr>
              <a:grpSpLocks/>
            </p:cNvGrpSpPr>
            <p:nvPr/>
          </p:nvGrpSpPr>
          <p:grpSpPr bwMode="auto">
            <a:xfrm>
              <a:off x="3821113" y="4787446"/>
              <a:ext cx="93662" cy="339725"/>
              <a:chOff x="2653" y="3054"/>
              <a:chExt cx="65" cy="237"/>
            </a:xfrm>
          </p:grpSpPr>
          <p:sp>
            <p:nvSpPr>
              <p:cNvPr id="48184" name="Line 38"/>
              <p:cNvSpPr>
                <a:spLocks noChangeShapeType="1"/>
              </p:cNvSpPr>
              <p:nvPr/>
            </p:nvSpPr>
            <p:spPr bwMode="auto">
              <a:xfrm>
                <a:off x="2686" y="3054"/>
                <a:ext cx="1" cy="238"/>
              </a:xfrm>
              <a:prstGeom prst="line">
                <a:avLst/>
              </a:prstGeom>
              <a:noFill/>
              <a:ln w="9360">
                <a:solidFill>
                  <a:srgbClr val="000000"/>
                </a:solidFill>
                <a:round/>
                <a:headEnd/>
                <a:tailEnd/>
              </a:ln>
            </p:spPr>
            <p:txBody>
              <a:bodyPr/>
              <a:lstStyle/>
              <a:p>
                <a:endParaRPr lang="de-DE"/>
              </a:p>
            </p:txBody>
          </p:sp>
          <p:sp>
            <p:nvSpPr>
              <p:cNvPr id="48185" name="AutoShape 39"/>
              <p:cNvSpPr>
                <a:spLocks noChangeArrowheads="1"/>
              </p:cNvSpPr>
              <p:nvPr/>
            </p:nvSpPr>
            <p:spPr bwMode="auto">
              <a:xfrm>
                <a:off x="2653" y="3101"/>
                <a:ext cx="66" cy="132"/>
              </a:xfrm>
              <a:prstGeom prst="roundRect">
                <a:avLst>
                  <a:gd name="adj" fmla="val 1514"/>
                </a:avLst>
              </a:prstGeom>
              <a:solidFill>
                <a:srgbClr val="FFFFFF"/>
              </a:solidFill>
              <a:ln w="9525">
                <a:noFill/>
                <a:round/>
                <a:headEnd/>
                <a:tailEnd/>
              </a:ln>
            </p:spPr>
            <p:txBody>
              <a:bodyPr wrap="none" anchor="ctr"/>
              <a:lstStyle/>
              <a:p>
                <a:endParaRPr lang="de-DE"/>
              </a:p>
            </p:txBody>
          </p:sp>
        </p:grpSp>
        <p:sp>
          <p:nvSpPr>
            <p:cNvPr id="48155" name="AutoShape 40"/>
            <p:cNvSpPr>
              <a:spLocks noChangeArrowheads="1"/>
            </p:cNvSpPr>
            <p:nvPr/>
          </p:nvSpPr>
          <p:spPr bwMode="auto">
            <a:xfrm>
              <a:off x="2755900" y="4792208"/>
              <a:ext cx="1047750" cy="365125"/>
            </a:xfrm>
            <a:prstGeom prst="roundRect">
              <a:avLst>
                <a:gd name="adj" fmla="val 394"/>
              </a:avLst>
            </a:prstGeom>
            <a:noFill/>
            <a:ln w="9525">
              <a:noFill/>
              <a:round/>
              <a:headEnd/>
              <a:tailEnd/>
            </a:ln>
          </p:spPr>
          <p:txBody>
            <a:bodyPr lIns="81639" tIns="42452" rIns="81639" bIns="42452"/>
            <a:lstStyle/>
            <a:p>
              <a:pPr defTabSz="407988" eaLnBrk="1">
                <a:buClr>
                  <a:srgbClr val="000000"/>
                </a:buClr>
                <a:buSzPct val="45000"/>
                <a:buFont typeface="Wingdings" pitchFamily="2" charset="2"/>
                <a:buNone/>
                <a:tabLst>
                  <a:tab pos="657225" algn="l"/>
                </a:tabLst>
              </a:pPr>
              <a:r>
                <a:rPr lang="de-DE" sz="1600">
                  <a:solidFill>
                    <a:srgbClr val="000000"/>
                  </a:solidFill>
                </a:rPr>
                <a:t>netid</a:t>
              </a:r>
            </a:p>
          </p:txBody>
        </p:sp>
        <p:sp>
          <p:nvSpPr>
            <p:cNvPr id="48156" name="AutoShape 41"/>
            <p:cNvSpPr>
              <a:spLocks noChangeArrowheads="1"/>
            </p:cNvSpPr>
            <p:nvPr/>
          </p:nvSpPr>
          <p:spPr bwMode="auto">
            <a:xfrm>
              <a:off x="5214938" y="4792208"/>
              <a:ext cx="785812" cy="365125"/>
            </a:xfrm>
            <a:prstGeom prst="roundRect">
              <a:avLst>
                <a:gd name="adj" fmla="val 394"/>
              </a:avLst>
            </a:prstGeom>
            <a:noFill/>
            <a:ln w="9525">
              <a:noFill/>
              <a:round/>
              <a:headEnd/>
              <a:tailEnd/>
            </a:ln>
          </p:spPr>
          <p:txBody>
            <a:bodyPr lIns="81639" tIns="42452" rIns="81639" bIns="42452"/>
            <a:lstStyle/>
            <a:p>
              <a:pPr defTabSz="407988" eaLnBrk="1">
                <a:buClr>
                  <a:srgbClr val="000000"/>
                </a:buClr>
                <a:buSzPct val="45000"/>
                <a:buFont typeface="Wingdings" pitchFamily="2" charset="2"/>
                <a:buNone/>
                <a:tabLst>
                  <a:tab pos="657225" algn="l"/>
                </a:tabLst>
              </a:pPr>
              <a:r>
                <a:rPr lang="de-DE" sz="1600">
                  <a:solidFill>
                    <a:srgbClr val="000000"/>
                  </a:solidFill>
                </a:rPr>
                <a:t>hostid</a:t>
              </a:r>
            </a:p>
          </p:txBody>
        </p:sp>
        <p:grpSp>
          <p:nvGrpSpPr>
            <p:cNvPr id="9" name="Group 42"/>
            <p:cNvGrpSpPr>
              <a:grpSpLocks/>
            </p:cNvGrpSpPr>
            <p:nvPr/>
          </p:nvGrpSpPr>
          <p:grpSpPr bwMode="auto">
            <a:xfrm>
              <a:off x="1557338" y="5419271"/>
              <a:ext cx="4594225" cy="392112"/>
              <a:chOff x="1081" y="3493"/>
              <a:chExt cx="3191" cy="273"/>
            </a:xfrm>
          </p:grpSpPr>
          <p:sp>
            <p:nvSpPr>
              <p:cNvPr id="48172" name="AutoShape 43"/>
              <p:cNvSpPr>
                <a:spLocks noChangeArrowheads="1"/>
              </p:cNvSpPr>
              <p:nvPr/>
            </p:nvSpPr>
            <p:spPr bwMode="auto">
              <a:xfrm>
                <a:off x="1092" y="3517"/>
                <a:ext cx="3181" cy="232"/>
              </a:xfrm>
              <a:prstGeom prst="roundRect">
                <a:avLst>
                  <a:gd name="adj" fmla="val 431"/>
                </a:avLst>
              </a:prstGeom>
              <a:solidFill>
                <a:srgbClr val="FFFFFF"/>
              </a:solidFill>
              <a:ln w="19080">
                <a:solidFill>
                  <a:srgbClr val="000000"/>
                </a:solidFill>
                <a:round/>
                <a:headEnd/>
                <a:tailEnd/>
              </a:ln>
            </p:spPr>
            <p:txBody>
              <a:bodyPr wrap="none" anchor="ctr"/>
              <a:lstStyle/>
              <a:p>
                <a:endParaRPr lang="de-DE"/>
              </a:p>
            </p:txBody>
          </p:sp>
          <p:sp>
            <p:nvSpPr>
              <p:cNvPr id="48173" name="AutoShape 44"/>
              <p:cNvSpPr>
                <a:spLocks noChangeArrowheads="1"/>
              </p:cNvSpPr>
              <p:nvPr/>
            </p:nvSpPr>
            <p:spPr bwMode="auto">
              <a:xfrm>
                <a:off x="1081" y="3513"/>
                <a:ext cx="440" cy="255"/>
              </a:xfrm>
              <a:prstGeom prst="roundRect">
                <a:avLst>
                  <a:gd name="adj" fmla="val 394"/>
                </a:avLst>
              </a:prstGeom>
              <a:noFill/>
              <a:ln w="9525">
                <a:noFill/>
                <a:round/>
                <a:headEnd/>
                <a:tailEnd/>
              </a:ln>
            </p:spPr>
            <p:txBody>
              <a:bodyPr lIns="81639" tIns="42452" rIns="81639" bIns="42452"/>
              <a:lstStyle/>
              <a:p>
                <a:pPr defTabSz="828675" eaLnBrk="1">
                  <a:buClr>
                    <a:srgbClr val="000000"/>
                  </a:buClr>
                  <a:buSzPct val="45000"/>
                  <a:buFont typeface="Wingdings" pitchFamily="2" charset="2"/>
                  <a:buNone/>
                </a:pPr>
                <a:r>
                  <a:rPr lang="de-DE" sz="1600" dirty="0">
                    <a:solidFill>
                      <a:srgbClr val="0070C0"/>
                    </a:solidFill>
                  </a:rPr>
                  <a:t>1110</a:t>
                </a:r>
              </a:p>
            </p:txBody>
          </p:sp>
          <p:grpSp>
            <p:nvGrpSpPr>
              <p:cNvPr id="10" name="Group 45"/>
              <p:cNvGrpSpPr>
                <a:grpSpLocks/>
              </p:cNvGrpSpPr>
              <p:nvPr/>
            </p:nvGrpSpPr>
            <p:grpSpPr bwMode="auto">
              <a:xfrm>
                <a:off x="1859" y="3517"/>
                <a:ext cx="65" cy="237"/>
                <a:chOff x="1859" y="3517"/>
                <a:chExt cx="65" cy="237"/>
              </a:xfrm>
            </p:grpSpPr>
            <p:sp>
              <p:nvSpPr>
                <p:cNvPr id="48182" name="Line 46"/>
                <p:cNvSpPr>
                  <a:spLocks noChangeShapeType="1"/>
                </p:cNvSpPr>
                <p:nvPr/>
              </p:nvSpPr>
              <p:spPr bwMode="auto">
                <a:xfrm>
                  <a:off x="1892" y="3517"/>
                  <a:ext cx="1" cy="238"/>
                </a:xfrm>
                <a:prstGeom prst="line">
                  <a:avLst/>
                </a:prstGeom>
                <a:noFill/>
                <a:ln w="9360">
                  <a:solidFill>
                    <a:srgbClr val="000000"/>
                  </a:solidFill>
                  <a:round/>
                  <a:headEnd/>
                  <a:tailEnd/>
                </a:ln>
              </p:spPr>
              <p:txBody>
                <a:bodyPr/>
                <a:lstStyle/>
                <a:p>
                  <a:endParaRPr lang="de-DE"/>
                </a:p>
              </p:txBody>
            </p:sp>
            <p:sp>
              <p:nvSpPr>
                <p:cNvPr id="48183" name="AutoShape 47"/>
                <p:cNvSpPr>
                  <a:spLocks noChangeArrowheads="1"/>
                </p:cNvSpPr>
                <p:nvPr/>
              </p:nvSpPr>
              <p:spPr bwMode="auto">
                <a:xfrm>
                  <a:off x="1859" y="3563"/>
                  <a:ext cx="66" cy="132"/>
                </a:xfrm>
                <a:prstGeom prst="roundRect">
                  <a:avLst>
                    <a:gd name="adj" fmla="val 1514"/>
                  </a:avLst>
                </a:prstGeom>
                <a:solidFill>
                  <a:srgbClr val="FFFFFF"/>
                </a:solidFill>
                <a:ln w="9525">
                  <a:noFill/>
                  <a:round/>
                  <a:headEnd/>
                  <a:tailEnd/>
                </a:ln>
              </p:spPr>
              <p:txBody>
                <a:bodyPr wrap="none" anchor="ctr"/>
                <a:lstStyle/>
                <a:p>
                  <a:endParaRPr lang="de-DE"/>
                </a:p>
              </p:txBody>
            </p:sp>
          </p:grpSp>
          <p:grpSp>
            <p:nvGrpSpPr>
              <p:cNvPr id="11" name="Group 48"/>
              <p:cNvGrpSpPr>
                <a:grpSpLocks/>
              </p:cNvGrpSpPr>
              <p:nvPr/>
            </p:nvGrpSpPr>
            <p:grpSpPr bwMode="auto">
              <a:xfrm>
                <a:off x="2653" y="3517"/>
                <a:ext cx="65" cy="237"/>
                <a:chOff x="2653" y="3517"/>
                <a:chExt cx="65" cy="237"/>
              </a:xfrm>
            </p:grpSpPr>
            <p:sp>
              <p:nvSpPr>
                <p:cNvPr id="48180" name="Line 49"/>
                <p:cNvSpPr>
                  <a:spLocks noChangeShapeType="1"/>
                </p:cNvSpPr>
                <p:nvPr/>
              </p:nvSpPr>
              <p:spPr bwMode="auto">
                <a:xfrm>
                  <a:off x="2686" y="3517"/>
                  <a:ext cx="1" cy="238"/>
                </a:xfrm>
                <a:prstGeom prst="line">
                  <a:avLst/>
                </a:prstGeom>
                <a:noFill/>
                <a:ln w="9360">
                  <a:solidFill>
                    <a:srgbClr val="000000"/>
                  </a:solidFill>
                  <a:round/>
                  <a:headEnd/>
                  <a:tailEnd/>
                </a:ln>
              </p:spPr>
              <p:txBody>
                <a:bodyPr/>
                <a:lstStyle/>
                <a:p>
                  <a:endParaRPr lang="de-DE"/>
                </a:p>
              </p:txBody>
            </p:sp>
            <p:sp>
              <p:nvSpPr>
                <p:cNvPr id="48181" name="AutoShape 50"/>
                <p:cNvSpPr>
                  <a:spLocks noChangeArrowheads="1"/>
                </p:cNvSpPr>
                <p:nvPr/>
              </p:nvSpPr>
              <p:spPr bwMode="auto">
                <a:xfrm>
                  <a:off x="2653" y="3563"/>
                  <a:ext cx="66" cy="132"/>
                </a:xfrm>
                <a:prstGeom prst="roundRect">
                  <a:avLst>
                    <a:gd name="adj" fmla="val 1514"/>
                  </a:avLst>
                </a:prstGeom>
                <a:solidFill>
                  <a:srgbClr val="FFFFFF"/>
                </a:solidFill>
                <a:ln w="9525">
                  <a:noFill/>
                  <a:round/>
                  <a:headEnd/>
                  <a:tailEnd/>
                </a:ln>
              </p:spPr>
              <p:txBody>
                <a:bodyPr wrap="none" anchor="ctr"/>
                <a:lstStyle/>
                <a:p>
                  <a:endParaRPr lang="de-DE"/>
                </a:p>
              </p:txBody>
            </p:sp>
          </p:grpSp>
          <p:grpSp>
            <p:nvGrpSpPr>
              <p:cNvPr id="12" name="Group 51"/>
              <p:cNvGrpSpPr>
                <a:grpSpLocks/>
              </p:cNvGrpSpPr>
              <p:nvPr/>
            </p:nvGrpSpPr>
            <p:grpSpPr bwMode="auto">
              <a:xfrm>
                <a:off x="3394" y="3517"/>
                <a:ext cx="65" cy="237"/>
                <a:chOff x="3394" y="3517"/>
                <a:chExt cx="65" cy="237"/>
              </a:xfrm>
            </p:grpSpPr>
            <p:sp>
              <p:nvSpPr>
                <p:cNvPr id="48178" name="Line 52"/>
                <p:cNvSpPr>
                  <a:spLocks noChangeShapeType="1"/>
                </p:cNvSpPr>
                <p:nvPr/>
              </p:nvSpPr>
              <p:spPr bwMode="auto">
                <a:xfrm>
                  <a:off x="3427" y="3517"/>
                  <a:ext cx="1" cy="238"/>
                </a:xfrm>
                <a:prstGeom prst="line">
                  <a:avLst/>
                </a:prstGeom>
                <a:noFill/>
                <a:ln w="9360">
                  <a:solidFill>
                    <a:srgbClr val="000000"/>
                  </a:solidFill>
                  <a:round/>
                  <a:headEnd/>
                  <a:tailEnd/>
                </a:ln>
              </p:spPr>
              <p:txBody>
                <a:bodyPr/>
                <a:lstStyle/>
                <a:p>
                  <a:endParaRPr lang="de-DE"/>
                </a:p>
              </p:txBody>
            </p:sp>
            <p:sp>
              <p:nvSpPr>
                <p:cNvPr id="48179" name="AutoShape 53"/>
                <p:cNvSpPr>
                  <a:spLocks noChangeArrowheads="1"/>
                </p:cNvSpPr>
                <p:nvPr/>
              </p:nvSpPr>
              <p:spPr bwMode="auto">
                <a:xfrm>
                  <a:off x="3394" y="3563"/>
                  <a:ext cx="66" cy="132"/>
                </a:xfrm>
                <a:prstGeom prst="roundRect">
                  <a:avLst>
                    <a:gd name="adj" fmla="val 1514"/>
                  </a:avLst>
                </a:prstGeom>
                <a:solidFill>
                  <a:srgbClr val="FFFFFF"/>
                </a:solidFill>
                <a:ln w="9525">
                  <a:noFill/>
                  <a:round/>
                  <a:headEnd/>
                  <a:tailEnd/>
                </a:ln>
              </p:spPr>
              <p:txBody>
                <a:bodyPr wrap="none" anchor="ctr"/>
                <a:lstStyle/>
                <a:p>
                  <a:endParaRPr lang="de-DE"/>
                </a:p>
              </p:txBody>
            </p:sp>
          </p:grpSp>
          <p:sp>
            <p:nvSpPr>
              <p:cNvPr id="48177" name="AutoShape 54"/>
              <p:cNvSpPr>
                <a:spLocks noChangeArrowheads="1"/>
              </p:cNvSpPr>
              <p:nvPr/>
            </p:nvSpPr>
            <p:spPr bwMode="auto">
              <a:xfrm>
                <a:off x="2053" y="3493"/>
                <a:ext cx="1445" cy="255"/>
              </a:xfrm>
              <a:prstGeom prst="roundRect">
                <a:avLst>
                  <a:gd name="adj" fmla="val 394"/>
                </a:avLst>
              </a:prstGeom>
              <a:noFill/>
              <a:ln w="9525">
                <a:noFill/>
                <a:round/>
                <a:headEnd/>
                <a:tailEnd/>
              </a:ln>
            </p:spPr>
            <p:txBody>
              <a:bodyPr lIns="81639" tIns="42452" rIns="81639" bIns="42452"/>
              <a:lstStyle/>
              <a:p>
                <a:pPr defTabSz="407988" eaLnBrk="1">
                  <a:buClr>
                    <a:srgbClr val="000000"/>
                  </a:buClr>
                  <a:buSzPct val="45000"/>
                  <a:buFont typeface="Wingdings" pitchFamily="2" charset="2"/>
                  <a:buNone/>
                  <a:tabLst>
                    <a:tab pos="657225" algn="l"/>
                    <a:tab pos="1312863" algn="l"/>
                    <a:tab pos="1970088" algn="l"/>
                  </a:tabLst>
                </a:pPr>
                <a:r>
                  <a:rPr lang="de-DE" sz="1600">
                    <a:solidFill>
                      <a:srgbClr val="000000"/>
                    </a:solidFill>
                  </a:rPr>
                  <a:t>Multicast-Adresse</a:t>
                </a:r>
              </a:p>
            </p:txBody>
          </p:sp>
        </p:grpSp>
        <p:sp>
          <p:nvSpPr>
            <p:cNvPr id="48158" name="AutoShape 55"/>
            <p:cNvSpPr>
              <a:spLocks noChangeArrowheads="1"/>
            </p:cNvSpPr>
            <p:nvPr/>
          </p:nvSpPr>
          <p:spPr bwMode="auto">
            <a:xfrm>
              <a:off x="1071563" y="3546021"/>
              <a:ext cx="369887" cy="398462"/>
            </a:xfrm>
            <a:prstGeom prst="roundRect">
              <a:avLst>
                <a:gd name="adj" fmla="val 389"/>
              </a:avLst>
            </a:prstGeom>
            <a:noFill/>
            <a:ln w="9525">
              <a:noFill/>
              <a:round/>
              <a:headEnd/>
              <a:tailEnd/>
            </a:ln>
          </p:spPr>
          <p:txBody>
            <a:bodyPr lIns="81639" tIns="42452" rIns="81639" bIns="42452"/>
            <a:lstStyle/>
            <a:p>
              <a:pPr defTabSz="828675" eaLnBrk="1">
                <a:buClr>
                  <a:srgbClr val="000000"/>
                </a:buClr>
                <a:buSzPct val="45000"/>
                <a:buFont typeface="Wingdings" pitchFamily="2" charset="2"/>
                <a:buNone/>
              </a:pPr>
              <a:r>
                <a:rPr lang="de-DE" b="1" dirty="0">
                  <a:solidFill>
                    <a:srgbClr val="FF0000"/>
                  </a:solidFill>
                </a:rPr>
                <a:t>A</a:t>
              </a:r>
            </a:p>
          </p:txBody>
        </p:sp>
        <p:sp>
          <p:nvSpPr>
            <p:cNvPr id="48159" name="AutoShape 56"/>
            <p:cNvSpPr>
              <a:spLocks noChangeArrowheads="1"/>
            </p:cNvSpPr>
            <p:nvPr/>
          </p:nvSpPr>
          <p:spPr bwMode="auto">
            <a:xfrm>
              <a:off x="1090613" y="4136571"/>
              <a:ext cx="342900" cy="398462"/>
            </a:xfrm>
            <a:prstGeom prst="roundRect">
              <a:avLst>
                <a:gd name="adj" fmla="val 417"/>
              </a:avLst>
            </a:prstGeom>
            <a:noFill/>
            <a:ln w="9525">
              <a:noFill/>
              <a:round/>
              <a:headEnd/>
              <a:tailEnd/>
            </a:ln>
          </p:spPr>
          <p:txBody>
            <a:bodyPr lIns="81639" tIns="42452" rIns="81639" bIns="42452"/>
            <a:lstStyle/>
            <a:p>
              <a:pPr defTabSz="828675" eaLnBrk="1">
                <a:buClr>
                  <a:srgbClr val="000000"/>
                </a:buClr>
                <a:buSzPct val="45000"/>
                <a:buFont typeface="Wingdings" pitchFamily="2" charset="2"/>
                <a:buNone/>
              </a:pPr>
              <a:r>
                <a:rPr lang="de-DE" b="1" dirty="0">
                  <a:solidFill>
                    <a:srgbClr val="FF0000"/>
                  </a:solidFill>
                </a:rPr>
                <a:t>B</a:t>
              </a:r>
            </a:p>
          </p:txBody>
        </p:sp>
        <p:sp>
          <p:nvSpPr>
            <p:cNvPr id="48160" name="AutoShape 57"/>
            <p:cNvSpPr>
              <a:spLocks noChangeArrowheads="1"/>
            </p:cNvSpPr>
            <p:nvPr/>
          </p:nvSpPr>
          <p:spPr bwMode="auto">
            <a:xfrm>
              <a:off x="1108075" y="4755696"/>
              <a:ext cx="338138" cy="398462"/>
            </a:xfrm>
            <a:prstGeom prst="roundRect">
              <a:avLst>
                <a:gd name="adj" fmla="val 426"/>
              </a:avLst>
            </a:prstGeom>
            <a:noFill/>
            <a:ln w="9525">
              <a:noFill/>
              <a:round/>
              <a:headEnd/>
              <a:tailEnd/>
            </a:ln>
          </p:spPr>
          <p:txBody>
            <a:bodyPr lIns="81639" tIns="42452" rIns="81639" bIns="42452"/>
            <a:lstStyle/>
            <a:p>
              <a:pPr defTabSz="828675" eaLnBrk="1">
                <a:buClr>
                  <a:srgbClr val="000000"/>
                </a:buClr>
                <a:buSzPct val="45000"/>
                <a:buFont typeface="Wingdings" pitchFamily="2" charset="2"/>
                <a:buNone/>
              </a:pPr>
              <a:r>
                <a:rPr lang="de-DE" b="1" dirty="0">
                  <a:solidFill>
                    <a:srgbClr val="FF0000"/>
                  </a:solidFill>
                </a:rPr>
                <a:t>C</a:t>
              </a:r>
            </a:p>
          </p:txBody>
        </p:sp>
        <p:sp>
          <p:nvSpPr>
            <p:cNvPr id="48161" name="AutoShape 58"/>
            <p:cNvSpPr>
              <a:spLocks noChangeArrowheads="1"/>
            </p:cNvSpPr>
            <p:nvPr/>
          </p:nvSpPr>
          <p:spPr bwMode="auto">
            <a:xfrm>
              <a:off x="1100138" y="5414508"/>
              <a:ext cx="366712" cy="396875"/>
            </a:xfrm>
            <a:prstGeom prst="roundRect">
              <a:avLst>
                <a:gd name="adj" fmla="val 394"/>
              </a:avLst>
            </a:prstGeom>
            <a:noFill/>
            <a:ln w="9525">
              <a:noFill/>
              <a:round/>
              <a:headEnd/>
              <a:tailEnd/>
            </a:ln>
          </p:spPr>
          <p:txBody>
            <a:bodyPr lIns="81639" tIns="42452" rIns="81639" bIns="42452"/>
            <a:lstStyle/>
            <a:p>
              <a:pPr defTabSz="828675" eaLnBrk="1">
                <a:buClr>
                  <a:srgbClr val="000000"/>
                </a:buClr>
                <a:buSzPct val="45000"/>
                <a:buFont typeface="Wingdings" pitchFamily="2" charset="2"/>
                <a:buNone/>
              </a:pPr>
              <a:r>
                <a:rPr lang="de-DE" b="1" dirty="0">
                  <a:solidFill>
                    <a:srgbClr val="FF0000"/>
                  </a:solidFill>
                </a:rPr>
                <a:t>D</a:t>
              </a:r>
            </a:p>
          </p:txBody>
        </p:sp>
        <p:sp>
          <p:nvSpPr>
            <p:cNvPr id="48162" name="AutoShape 59"/>
            <p:cNvSpPr>
              <a:spLocks noChangeArrowheads="1"/>
            </p:cNvSpPr>
            <p:nvPr/>
          </p:nvSpPr>
          <p:spPr bwMode="auto">
            <a:xfrm>
              <a:off x="552500" y="5811383"/>
              <a:ext cx="941387" cy="398462"/>
            </a:xfrm>
            <a:prstGeom prst="roundRect">
              <a:avLst>
                <a:gd name="adj" fmla="val 361"/>
              </a:avLst>
            </a:prstGeom>
            <a:noFill/>
            <a:ln w="9525">
              <a:noFill/>
              <a:round/>
              <a:headEnd/>
              <a:tailEnd/>
            </a:ln>
          </p:spPr>
          <p:txBody>
            <a:bodyPr lIns="81639" tIns="42452" rIns="81639" bIns="42452"/>
            <a:lstStyle/>
            <a:p>
              <a:pPr defTabSz="407988" eaLnBrk="1">
                <a:buClr>
                  <a:srgbClr val="000000"/>
                </a:buClr>
                <a:buSzPct val="45000"/>
                <a:buFont typeface="Wingdings" pitchFamily="2" charset="2"/>
                <a:buNone/>
                <a:tabLst>
                  <a:tab pos="657225" algn="l"/>
                </a:tabLst>
              </a:pPr>
              <a:r>
                <a:rPr lang="de-DE" b="1" dirty="0">
                  <a:solidFill>
                    <a:srgbClr val="FF0000"/>
                  </a:solidFill>
                </a:rPr>
                <a:t>Klasse</a:t>
              </a:r>
            </a:p>
          </p:txBody>
        </p:sp>
        <p:sp>
          <p:nvSpPr>
            <p:cNvPr id="48163" name="AutoShape 60"/>
            <p:cNvSpPr>
              <a:spLocks noChangeArrowheads="1"/>
            </p:cNvSpPr>
            <p:nvPr/>
          </p:nvSpPr>
          <p:spPr bwMode="auto">
            <a:xfrm>
              <a:off x="6394450" y="3490458"/>
              <a:ext cx="1790700" cy="581025"/>
            </a:xfrm>
            <a:prstGeom prst="roundRect">
              <a:avLst>
                <a:gd name="adj" fmla="val 245"/>
              </a:avLst>
            </a:prstGeom>
            <a:noFill/>
            <a:ln w="9525">
              <a:noFill/>
              <a:round/>
              <a:headEnd/>
              <a:tailEnd/>
            </a:ln>
          </p:spPr>
          <p:txBody>
            <a:bodyPr lIns="81639" tIns="42452" rIns="81639" bIns="42452"/>
            <a:lstStyle/>
            <a:p>
              <a:pPr defTabSz="407988" eaLnBrk="1">
                <a:buClr>
                  <a:srgbClr val="000000"/>
                </a:buClr>
                <a:buSzPct val="45000"/>
                <a:buFont typeface="Wingdings" pitchFamily="2" charset="2"/>
                <a:buNone/>
                <a:tabLst>
                  <a:tab pos="657225" algn="l"/>
                  <a:tab pos="1312863" algn="l"/>
                </a:tabLst>
              </a:pPr>
              <a:r>
                <a:rPr lang="de-DE" sz="1500">
                  <a:solidFill>
                    <a:srgbClr val="000000"/>
                  </a:solidFill>
                </a:rPr>
                <a:t>1.0.0.0 bis</a:t>
              </a:r>
            </a:p>
            <a:p>
              <a:pPr defTabSz="407988" eaLnBrk="1">
                <a:buClr>
                  <a:srgbClr val="000000"/>
                </a:buClr>
                <a:buSzPct val="45000"/>
                <a:buFont typeface="Wingdings" pitchFamily="2" charset="2"/>
                <a:buNone/>
                <a:tabLst>
                  <a:tab pos="657225" algn="l"/>
                  <a:tab pos="1312863" algn="l"/>
                </a:tabLst>
              </a:pPr>
              <a:r>
                <a:rPr lang="de-DE" sz="1500">
                  <a:solidFill>
                    <a:srgbClr val="000000"/>
                  </a:solidFill>
                </a:rPr>
                <a:t>127.255.255.255</a:t>
              </a:r>
            </a:p>
          </p:txBody>
        </p:sp>
        <p:sp>
          <p:nvSpPr>
            <p:cNvPr id="48164" name="AutoShape 61"/>
            <p:cNvSpPr>
              <a:spLocks noChangeArrowheads="1"/>
            </p:cNvSpPr>
            <p:nvPr/>
          </p:nvSpPr>
          <p:spPr bwMode="auto">
            <a:xfrm>
              <a:off x="6394450" y="4088946"/>
              <a:ext cx="1758950" cy="581025"/>
            </a:xfrm>
            <a:prstGeom prst="roundRect">
              <a:avLst>
                <a:gd name="adj" fmla="val 245"/>
              </a:avLst>
            </a:prstGeom>
            <a:noFill/>
            <a:ln w="9525">
              <a:noFill/>
              <a:round/>
              <a:headEnd/>
              <a:tailEnd/>
            </a:ln>
          </p:spPr>
          <p:txBody>
            <a:bodyPr lIns="81639" tIns="42452" rIns="81639" bIns="42452"/>
            <a:lstStyle/>
            <a:p>
              <a:pPr defTabSz="407988" eaLnBrk="1">
                <a:buClr>
                  <a:srgbClr val="000000"/>
                </a:buClr>
                <a:buSzPct val="45000"/>
                <a:buFont typeface="Wingdings" pitchFamily="2" charset="2"/>
                <a:buNone/>
                <a:tabLst>
                  <a:tab pos="657225" algn="l"/>
                  <a:tab pos="1312863" algn="l"/>
                </a:tabLst>
              </a:pPr>
              <a:r>
                <a:rPr lang="de-DE" sz="1500">
                  <a:solidFill>
                    <a:srgbClr val="000000"/>
                  </a:solidFill>
                </a:rPr>
                <a:t>128.0.0.0 bis</a:t>
              </a:r>
            </a:p>
            <a:p>
              <a:pPr defTabSz="407988" eaLnBrk="1">
                <a:buClr>
                  <a:srgbClr val="000000"/>
                </a:buClr>
                <a:buSzPct val="45000"/>
                <a:buFont typeface="Wingdings" pitchFamily="2" charset="2"/>
                <a:buNone/>
                <a:tabLst>
                  <a:tab pos="657225" algn="l"/>
                  <a:tab pos="1312863" algn="l"/>
                </a:tabLst>
              </a:pPr>
              <a:r>
                <a:rPr lang="de-DE" sz="1500">
                  <a:solidFill>
                    <a:srgbClr val="000000"/>
                  </a:solidFill>
                </a:rPr>
                <a:t>191.255.255.255</a:t>
              </a:r>
            </a:p>
          </p:txBody>
        </p:sp>
        <p:sp>
          <p:nvSpPr>
            <p:cNvPr id="48165" name="AutoShape 62"/>
            <p:cNvSpPr>
              <a:spLocks noChangeArrowheads="1"/>
            </p:cNvSpPr>
            <p:nvPr/>
          </p:nvSpPr>
          <p:spPr bwMode="auto">
            <a:xfrm>
              <a:off x="6386513" y="4690608"/>
              <a:ext cx="1820862" cy="579438"/>
            </a:xfrm>
            <a:prstGeom prst="roundRect">
              <a:avLst>
                <a:gd name="adj" fmla="val 245"/>
              </a:avLst>
            </a:prstGeom>
            <a:noFill/>
            <a:ln w="9525">
              <a:noFill/>
              <a:round/>
              <a:headEnd/>
              <a:tailEnd/>
            </a:ln>
          </p:spPr>
          <p:txBody>
            <a:bodyPr lIns="81639" tIns="42452" rIns="81639" bIns="42452"/>
            <a:lstStyle/>
            <a:p>
              <a:pPr defTabSz="407988" eaLnBrk="1">
                <a:buClr>
                  <a:srgbClr val="000000"/>
                </a:buClr>
                <a:buSzPct val="45000"/>
                <a:buFont typeface="Wingdings" pitchFamily="2" charset="2"/>
                <a:buNone/>
                <a:tabLst>
                  <a:tab pos="657225" algn="l"/>
                  <a:tab pos="1312863" algn="l"/>
                </a:tabLst>
              </a:pPr>
              <a:r>
                <a:rPr lang="de-DE" sz="1500">
                  <a:solidFill>
                    <a:srgbClr val="000000"/>
                  </a:solidFill>
                </a:rPr>
                <a:t>192.0.0.0 bis</a:t>
              </a:r>
            </a:p>
            <a:p>
              <a:pPr defTabSz="407988" eaLnBrk="1">
                <a:buClr>
                  <a:srgbClr val="000000"/>
                </a:buClr>
                <a:buSzPct val="45000"/>
                <a:buFont typeface="Wingdings" pitchFamily="2" charset="2"/>
                <a:buNone/>
                <a:tabLst>
                  <a:tab pos="657225" algn="l"/>
                  <a:tab pos="1312863" algn="l"/>
                </a:tabLst>
              </a:pPr>
              <a:r>
                <a:rPr lang="de-DE" sz="1500">
                  <a:solidFill>
                    <a:srgbClr val="000000"/>
                  </a:solidFill>
                </a:rPr>
                <a:t>223.255.255.255</a:t>
              </a:r>
            </a:p>
          </p:txBody>
        </p:sp>
        <p:sp>
          <p:nvSpPr>
            <p:cNvPr id="48166" name="AutoShape 63"/>
            <p:cNvSpPr>
              <a:spLocks noChangeArrowheads="1"/>
            </p:cNvSpPr>
            <p:nvPr/>
          </p:nvSpPr>
          <p:spPr bwMode="auto">
            <a:xfrm>
              <a:off x="6413500" y="5328783"/>
              <a:ext cx="1822450" cy="579438"/>
            </a:xfrm>
            <a:prstGeom prst="roundRect">
              <a:avLst>
                <a:gd name="adj" fmla="val 245"/>
              </a:avLst>
            </a:prstGeom>
            <a:noFill/>
            <a:ln w="9525">
              <a:noFill/>
              <a:round/>
              <a:headEnd/>
              <a:tailEnd/>
            </a:ln>
          </p:spPr>
          <p:txBody>
            <a:bodyPr lIns="81639" tIns="42452" rIns="81639" bIns="42452"/>
            <a:lstStyle/>
            <a:p>
              <a:pPr defTabSz="407988" eaLnBrk="1">
                <a:buClr>
                  <a:srgbClr val="000000"/>
                </a:buClr>
                <a:buSzPct val="45000"/>
                <a:buFont typeface="Wingdings" pitchFamily="2" charset="2"/>
                <a:buNone/>
                <a:tabLst>
                  <a:tab pos="657225" algn="l"/>
                  <a:tab pos="1312863" algn="l"/>
                </a:tabLst>
              </a:pPr>
              <a:r>
                <a:rPr lang="de-DE" sz="1500">
                  <a:solidFill>
                    <a:srgbClr val="000000"/>
                  </a:solidFill>
                </a:rPr>
                <a:t>224.0.0.0 bis</a:t>
              </a:r>
            </a:p>
            <a:p>
              <a:pPr defTabSz="407988" eaLnBrk="1">
                <a:buClr>
                  <a:srgbClr val="000000"/>
                </a:buClr>
                <a:buSzPct val="45000"/>
                <a:buFont typeface="Wingdings" pitchFamily="2" charset="2"/>
                <a:buNone/>
                <a:tabLst>
                  <a:tab pos="657225" algn="l"/>
                  <a:tab pos="1312863" algn="l"/>
                </a:tabLst>
              </a:pPr>
              <a:r>
                <a:rPr lang="de-DE" sz="1500">
                  <a:solidFill>
                    <a:srgbClr val="000000"/>
                  </a:solidFill>
                </a:rPr>
                <a:t>239.255.255.255</a:t>
              </a:r>
            </a:p>
          </p:txBody>
        </p:sp>
        <p:sp>
          <p:nvSpPr>
            <p:cNvPr id="48167" name="AutoShape 64"/>
            <p:cNvSpPr>
              <a:spLocks noChangeArrowheads="1"/>
            </p:cNvSpPr>
            <p:nvPr/>
          </p:nvSpPr>
          <p:spPr bwMode="auto">
            <a:xfrm>
              <a:off x="3354240" y="5829202"/>
              <a:ext cx="1036638" cy="398463"/>
            </a:xfrm>
            <a:prstGeom prst="roundRect">
              <a:avLst>
                <a:gd name="adj" fmla="val 361"/>
              </a:avLst>
            </a:prstGeom>
            <a:noFill/>
            <a:ln w="9525">
              <a:noFill/>
              <a:round/>
              <a:headEnd/>
              <a:tailEnd/>
            </a:ln>
          </p:spPr>
          <p:txBody>
            <a:bodyPr lIns="81639" tIns="42452" rIns="81639" bIns="42452"/>
            <a:lstStyle/>
            <a:p>
              <a:pPr defTabSz="407988" eaLnBrk="1">
                <a:buClr>
                  <a:srgbClr val="000000"/>
                </a:buClr>
                <a:buSzPct val="45000"/>
                <a:buFont typeface="Wingdings" pitchFamily="2" charset="2"/>
                <a:buNone/>
                <a:tabLst>
                  <a:tab pos="657225" algn="l"/>
                </a:tabLst>
              </a:pPr>
              <a:r>
                <a:rPr lang="de-DE">
                  <a:solidFill>
                    <a:srgbClr val="000000"/>
                  </a:solidFill>
                </a:rPr>
                <a:t>32 Bits</a:t>
              </a:r>
            </a:p>
          </p:txBody>
        </p:sp>
        <p:sp>
          <p:nvSpPr>
            <p:cNvPr id="48168" name="Line 65"/>
            <p:cNvSpPr>
              <a:spLocks noChangeShapeType="1"/>
            </p:cNvSpPr>
            <p:nvPr/>
          </p:nvSpPr>
          <p:spPr bwMode="auto">
            <a:xfrm>
              <a:off x="4408340" y="6021290"/>
              <a:ext cx="1744663" cy="1587"/>
            </a:xfrm>
            <a:prstGeom prst="line">
              <a:avLst/>
            </a:prstGeom>
            <a:noFill/>
            <a:ln w="19080">
              <a:solidFill>
                <a:srgbClr val="000000"/>
              </a:solidFill>
              <a:round/>
              <a:headEnd/>
              <a:tailEnd type="triangle" w="med" len="med"/>
            </a:ln>
          </p:spPr>
          <p:txBody>
            <a:bodyPr/>
            <a:lstStyle/>
            <a:p>
              <a:endParaRPr lang="de-DE"/>
            </a:p>
          </p:txBody>
        </p:sp>
        <p:sp>
          <p:nvSpPr>
            <p:cNvPr id="48169" name="Line 66"/>
            <p:cNvSpPr>
              <a:spLocks noChangeShapeType="1"/>
            </p:cNvSpPr>
            <p:nvPr/>
          </p:nvSpPr>
          <p:spPr bwMode="auto">
            <a:xfrm flipH="1">
              <a:off x="1577828" y="6010177"/>
              <a:ext cx="1746250" cy="1588"/>
            </a:xfrm>
            <a:prstGeom prst="line">
              <a:avLst/>
            </a:prstGeom>
            <a:noFill/>
            <a:ln w="19080">
              <a:solidFill>
                <a:srgbClr val="000000"/>
              </a:solidFill>
              <a:round/>
              <a:headEnd/>
              <a:tailEnd type="triangle" w="med" len="med"/>
            </a:ln>
          </p:spPr>
          <p:txBody>
            <a:bodyPr/>
            <a:lstStyle/>
            <a:p>
              <a:endParaRPr lang="de-DE"/>
            </a:p>
          </p:txBody>
        </p:sp>
      </p:grpSp>
      <p:sp>
        <p:nvSpPr>
          <p:cNvPr id="13" name="Textfeld 12"/>
          <p:cNvSpPr txBox="1"/>
          <p:nvPr/>
        </p:nvSpPr>
        <p:spPr>
          <a:xfrm flipH="1">
            <a:off x="531788" y="6006665"/>
            <a:ext cx="7391317" cy="646331"/>
          </a:xfrm>
          <a:prstGeom prst="rect">
            <a:avLst/>
          </a:prstGeom>
          <a:noFill/>
        </p:spPr>
        <p:txBody>
          <a:bodyPr wrap="square" rtlCol="0">
            <a:spAutoFit/>
          </a:bodyPr>
          <a:lstStyle/>
          <a:p>
            <a:r>
              <a:rPr lang="en-US" dirty="0">
                <a:solidFill>
                  <a:srgbClr val="0070C0"/>
                </a:solidFill>
              </a:rPr>
              <a:t>Video: IP Addressing and How it Works, https://www.youtube.com/watch?v=KFooN7Mu0IM</a:t>
            </a:r>
          </a:p>
        </p:txBody>
      </p:sp>
    </p:spTree>
    <p:extLst>
      <p:ext uri="{BB962C8B-B14F-4D97-AF65-F5344CB8AC3E}">
        <p14:creationId xmlns:p14="http://schemas.microsoft.com/office/powerpoint/2010/main" val="2429073560"/>
      </p:ext>
    </p:extLst>
  </p:cSld>
  <p:clrMapOvr>
    <a:masterClrMapping/>
  </p:clrMapOvr>
  <p:transition spd="med"/>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lIns="0" tIns="0" rIns="0" bIns="0"/>
          <a:lstStyle/>
          <a:p>
            <a:pPr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de-DE" sz="3200"/>
              <a:t>Diskussion Klassenbasierte Adressierung</a:t>
            </a:r>
          </a:p>
        </p:txBody>
      </p:sp>
      <p:sp>
        <p:nvSpPr>
          <p:cNvPr id="7" name="Slide Number Placeholder 6"/>
          <p:cNvSpPr>
            <a:spLocks noGrp="1"/>
          </p:cNvSpPr>
          <p:nvPr>
            <p:ph type="sldNum" sz="quarter" idx="12"/>
          </p:nvPr>
        </p:nvSpPr>
        <p:spPr/>
        <p:txBody>
          <a:bodyPr/>
          <a:lstStyle/>
          <a:p>
            <a:fld id="{DAD4710D-7044-4A3F-B9DE-CA79DBB0B75F}" type="slidenum">
              <a:rPr lang="de-DE" smtClean="0"/>
              <a:pPr/>
              <a:t>18</a:t>
            </a:fld>
            <a:endParaRPr lang="de-DE" dirty="0"/>
          </a:p>
        </p:txBody>
      </p:sp>
      <p:sp>
        <p:nvSpPr>
          <p:cNvPr id="55300" name="Rectangle 3"/>
          <p:cNvSpPr>
            <a:spLocks noGrp="1" noChangeArrowheads="1"/>
          </p:cNvSpPr>
          <p:nvPr>
            <p:ph sz="quarter" idx="1"/>
          </p:nvPr>
        </p:nvSpPr>
        <p:spPr>
          <a:xfrm>
            <a:off x="467544" y="1268760"/>
            <a:ext cx="8229600" cy="2137792"/>
          </a:xfrm>
        </p:spPr>
        <p:txBody>
          <a:bodyPr lIns="0" tIns="0" rIns="0" bIns="0">
            <a:noAutofit/>
          </a:bodyPr>
          <a:lstStyle/>
          <a:p>
            <a:pPr marL="431800" indent="-323850"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Verteilung der Adressen</a:t>
            </a:r>
            <a:r>
              <a:rPr lang="de-DE" sz="2000" dirty="0"/>
              <a:t>:</a:t>
            </a:r>
          </a:p>
          <a:p>
            <a:pPr marL="863600" lvl="1" indent="-287338"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000" dirty="0"/>
              <a:t>Durch zentrale Organisationen (z.B. </a:t>
            </a:r>
            <a:r>
              <a:rPr lang="de-DE" sz="2000" dirty="0">
                <a:solidFill>
                  <a:srgbClr val="FF0000"/>
                </a:solidFill>
              </a:rPr>
              <a:t>IANA</a:t>
            </a:r>
            <a:r>
              <a:rPr lang="de-DE" sz="2000" dirty="0"/>
              <a:t> oder </a:t>
            </a:r>
            <a:r>
              <a:rPr lang="en-US" sz="2000" dirty="0">
                <a:solidFill>
                  <a:srgbClr val="FF0000"/>
                </a:solidFill>
              </a:rPr>
              <a:t>ICANN</a:t>
            </a:r>
            <a:r>
              <a:rPr lang="en-US" sz="2000" dirty="0"/>
              <a:t>: Internet Corporation for Assigned Names and Numbers</a:t>
            </a:r>
            <a:r>
              <a:rPr lang="de-DE" sz="2000" dirty="0"/>
              <a:t>)</a:t>
            </a:r>
            <a:r>
              <a:rPr lang="ar-SA" sz="2000" dirty="0">
                <a:cs typeface="Arial" charset="0"/>
              </a:rPr>
              <a:t>‏</a:t>
            </a:r>
            <a:endParaRPr lang="de-DE" sz="2000" dirty="0"/>
          </a:p>
          <a:p>
            <a:pPr marL="863600" lvl="1" indent="-287338"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000" dirty="0"/>
              <a:t>Netzweise (also z.B. Klasse-B-Netz für ein Unternehmen)</a:t>
            </a:r>
            <a:r>
              <a:rPr lang="ar-SA" sz="2000" dirty="0">
                <a:cs typeface="Arial" charset="0"/>
              </a:rPr>
              <a:t>‏</a:t>
            </a:r>
            <a:endParaRPr lang="de-DE" sz="2000" dirty="0"/>
          </a:p>
          <a:p>
            <a:pPr marL="863600" lvl="1" indent="-287338"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000" dirty="0"/>
              <a:t>Relativ chaotisch: Zuteilung der numerisch nächsten </a:t>
            </a:r>
            <a:r>
              <a:rPr lang="de-DE" sz="2000" dirty="0" err="1"/>
              <a:t>netid</a:t>
            </a:r>
            <a:r>
              <a:rPr lang="de-DE" sz="2000" dirty="0"/>
              <a:t> an den nächsten Nachfrager</a:t>
            </a:r>
          </a:p>
          <a:p>
            <a:pPr marL="431800" indent="-323850"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Probleme?</a:t>
            </a:r>
            <a:endParaRPr lang="de-DE" sz="2000" dirty="0"/>
          </a:p>
        </p:txBody>
      </p:sp>
      <p:sp>
        <p:nvSpPr>
          <p:cNvPr id="5" name="Inhaltsplatzhalter 4"/>
          <p:cNvSpPr>
            <a:spLocks noGrp="1"/>
          </p:cNvSpPr>
          <p:nvPr>
            <p:ph sz="quarter" idx="13"/>
          </p:nvPr>
        </p:nvSpPr>
        <p:spPr>
          <a:xfrm>
            <a:off x="467544" y="3645024"/>
            <a:ext cx="8208912" cy="3073896"/>
          </a:xfrm>
        </p:spPr>
        <p:txBody>
          <a:bodyPr>
            <a:normAutofit fontScale="92500"/>
          </a:bodyPr>
          <a:lstStyle/>
          <a:p>
            <a:pPr marL="589280" indent="-287338"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100" dirty="0"/>
              <a:t>Verschwendung von IP-Adressen, z.B. Class-B-Adressen</a:t>
            </a:r>
          </a:p>
          <a:p>
            <a:pPr marL="1021080" lvl="1" indent="-215900"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100" dirty="0"/>
              <a:t>Besitzer könnte 2</a:t>
            </a:r>
            <a:r>
              <a:rPr lang="de-DE" sz="2100" baseline="33000" dirty="0"/>
              <a:t>16</a:t>
            </a:r>
            <a:r>
              <a:rPr lang="de-DE" sz="2100" dirty="0"/>
              <a:t> (&gt;= 65.000) Adressen vergeben</a:t>
            </a:r>
          </a:p>
          <a:p>
            <a:pPr marL="1021080" lvl="1" indent="-215900"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100" dirty="0"/>
              <a:t>Nur ein Bruchteil davon wird vielleicht genutzt</a:t>
            </a:r>
          </a:p>
          <a:p>
            <a:pPr marL="589280" indent="-287338"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100" dirty="0"/>
              <a:t>Routing-Tabellen werden schnell sehr groß</a:t>
            </a:r>
          </a:p>
          <a:p>
            <a:pPr marL="1021080" lvl="1" indent="-215900"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100" dirty="0"/>
              <a:t>Ein Eintrag für jede </a:t>
            </a:r>
            <a:r>
              <a:rPr lang="de-DE" sz="2100" dirty="0" err="1"/>
              <a:t>netid</a:t>
            </a:r>
            <a:endParaRPr lang="de-DE" sz="2100" dirty="0"/>
          </a:p>
          <a:p>
            <a:pPr marL="1021080" lvl="1" indent="-215900"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100" dirty="0"/>
              <a:t>Keine Möglichkeit, Einträge zusammenzufassen</a:t>
            </a:r>
          </a:p>
          <a:p>
            <a:pPr marL="589280" indent="-287338"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100" dirty="0"/>
              <a:t>Routing-Tabellen müssen mit hoher Frequenz aufgefrischt werden</a:t>
            </a:r>
          </a:p>
          <a:p>
            <a:pPr marL="1021080" lvl="1" indent="-215900" defTabSz="449263">
              <a:lnSpc>
                <a:spcPct val="90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100" dirty="0"/>
              <a:t>Wenn ein Netzwerk hinzukommt, wegfällt oder sich verändert, muss dies im </a:t>
            </a:r>
            <a:r>
              <a:rPr lang="de-DE" sz="2100" u="sng" dirty="0"/>
              <a:t>ganzen Internet</a:t>
            </a:r>
            <a:r>
              <a:rPr lang="de-DE" sz="2100" dirty="0"/>
              <a:t> bekanntgegeben werden</a:t>
            </a:r>
          </a:p>
          <a:p>
            <a:endParaRPr lang="de-DE" dirty="0"/>
          </a:p>
        </p:txBody>
      </p:sp>
      <p:sp>
        <p:nvSpPr>
          <p:cNvPr id="2" name="Abgerundete rechteckige Legende 1"/>
          <p:cNvSpPr/>
          <p:nvPr/>
        </p:nvSpPr>
        <p:spPr>
          <a:xfrm>
            <a:off x="4932040" y="1217032"/>
            <a:ext cx="4032448" cy="328879"/>
          </a:xfrm>
          <a:prstGeom prst="wedgeRoundRectCallout">
            <a:avLst>
              <a:gd name="adj1" fmla="val -5716"/>
              <a:gd name="adj2" fmla="val 87365"/>
              <a:gd name="adj3" fmla="val 16667"/>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 </a:t>
            </a:r>
            <a:r>
              <a:rPr lang="en-US" dirty="0" err="1"/>
              <a:t>ähnlich</a:t>
            </a:r>
            <a:r>
              <a:rPr lang="en-US" dirty="0"/>
              <a:t> </a:t>
            </a:r>
            <a:r>
              <a:rPr lang="en-US" dirty="0" err="1"/>
              <a:t>wie</a:t>
            </a:r>
            <a:r>
              <a:rPr lang="en-US" dirty="0"/>
              <a:t> FIFA des Internets …</a:t>
            </a:r>
          </a:p>
        </p:txBody>
      </p:sp>
    </p:spTree>
    <p:extLst>
      <p:ext uri="{BB962C8B-B14F-4D97-AF65-F5344CB8AC3E}">
        <p14:creationId xmlns:p14="http://schemas.microsoft.com/office/powerpoint/2010/main" val="3292445430"/>
      </p:ext>
    </p:extLst>
  </p:cSld>
  <p:clrMapOvr>
    <a:masterClrMapping/>
  </p:clrMapOvr>
  <p:transition spd="med"/>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20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2000"/>
                                        <p:tgtEl>
                                          <p:spTgt spid="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2000"/>
                                        <p:tgtEl>
                                          <p:spTgt spid="5">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2000"/>
                                        <p:tgtEl>
                                          <p:spTgt spid="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2000"/>
                                        <p:tgtEl>
                                          <p:spTgt spid="5">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20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lIns="0" tIns="0" rIns="0" bIns="0"/>
          <a:lstStyle/>
          <a:p>
            <a:pPr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de-DE" b="1" dirty="0">
                <a:solidFill>
                  <a:srgbClr val="FF0000"/>
                </a:solidFill>
              </a:rPr>
              <a:t>Klassenlose Adressierung</a:t>
            </a:r>
          </a:p>
        </p:txBody>
      </p:sp>
      <p:sp>
        <p:nvSpPr>
          <p:cNvPr id="6" name="Slide Number Placeholder 6"/>
          <p:cNvSpPr>
            <a:spLocks noGrp="1"/>
          </p:cNvSpPr>
          <p:nvPr>
            <p:ph type="sldNum" sz="quarter" idx="12"/>
          </p:nvPr>
        </p:nvSpPr>
        <p:spPr/>
        <p:txBody>
          <a:bodyPr/>
          <a:lstStyle/>
          <a:p>
            <a:fld id="{DAD4710D-7044-4A3F-B9DE-CA79DBB0B75F}" type="slidenum">
              <a:rPr lang="de-DE" smtClean="0"/>
              <a:pPr/>
              <a:t>19</a:t>
            </a:fld>
            <a:endParaRPr lang="de-DE" dirty="0"/>
          </a:p>
        </p:txBody>
      </p:sp>
      <p:sp>
        <p:nvSpPr>
          <p:cNvPr id="56324" name="Rectangle 3"/>
          <p:cNvSpPr>
            <a:spLocks noGrp="1" noChangeArrowheads="1"/>
          </p:cNvSpPr>
          <p:nvPr>
            <p:ph sz="quarter" idx="1"/>
          </p:nvPr>
        </p:nvSpPr>
        <p:spPr>
          <a:xfrm>
            <a:off x="457200" y="1219200"/>
            <a:ext cx="8229600" cy="3793976"/>
          </a:xfrm>
        </p:spPr>
        <p:txBody>
          <a:bodyPr lIns="0" tIns="0" rIns="0" bIns="0">
            <a:noAutofit/>
          </a:bodyPr>
          <a:lstStyle/>
          <a:p>
            <a:r>
              <a:rPr lang="de-DE" sz="2400" dirty="0"/>
              <a:t>Ab 1993 erlaubt man </a:t>
            </a:r>
            <a:r>
              <a:rPr lang="de-DE" sz="2400" u="sng" dirty="0"/>
              <a:t>beliebige Längen</a:t>
            </a:r>
            <a:r>
              <a:rPr lang="de-DE" sz="2400" dirty="0"/>
              <a:t> von Netid</a:t>
            </a:r>
          </a:p>
          <a:p>
            <a:r>
              <a:rPr lang="de-DE" sz="2400" dirty="0"/>
              <a:t>Das Schema heißt </a:t>
            </a:r>
            <a:r>
              <a:rPr lang="de-DE" sz="2400" b="1" dirty="0">
                <a:solidFill>
                  <a:srgbClr val="FF0000"/>
                </a:solidFill>
              </a:rPr>
              <a:t>CIDR</a:t>
            </a:r>
            <a:r>
              <a:rPr lang="de-DE" sz="2400" dirty="0">
                <a:solidFill>
                  <a:srgbClr val="FF0000"/>
                </a:solidFill>
              </a:rPr>
              <a:t>:</a:t>
            </a:r>
            <a:r>
              <a:rPr lang="de-DE" sz="2400" dirty="0"/>
              <a:t> </a:t>
            </a:r>
            <a:r>
              <a:rPr lang="de-DE" sz="2400" b="1" dirty="0" err="1">
                <a:solidFill>
                  <a:srgbClr val="FF0000"/>
                </a:solidFill>
              </a:rPr>
              <a:t>C</a:t>
            </a:r>
            <a:r>
              <a:rPr lang="de-DE" sz="2400" dirty="0" err="1"/>
              <a:t>lassless</a:t>
            </a:r>
            <a:r>
              <a:rPr lang="de-DE" sz="2400" dirty="0"/>
              <a:t> </a:t>
            </a:r>
            <a:r>
              <a:rPr lang="de-DE" sz="2400" b="1" dirty="0" err="1">
                <a:solidFill>
                  <a:srgbClr val="FF0000"/>
                </a:solidFill>
              </a:rPr>
              <a:t>I</a:t>
            </a:r>
            <a:r>
              <a:rPr lang="de-DE" sz="2400" dirty="0" err="1"/>
              <a:t>nter</a:t>
            </a:r>
            <a:r>
              <a:rPr lang="de-DE" sz="2400" b="1" dirty="0" err="1">
                <a:solidFill>
                  <a:srgbClr val="FF0000"/>
                </a:solidFill>
              </a:rPr>
              <a:t>D</a:t>
            </a:r>
            <a:r>
              <a:rPr lang="de-DE" sz="2400" dirty="0" err="1"/>
              <a:t>omain</a:t>
            </a:r>
            <a:r>
              <a:rPr lang="de-DE" sz="2400" dirty="0"/>
              <a:t> </a:t>
            </a:r>
            <a:r>
              <a:rPr lang="de-DE" sz="2400" b="1" dirty="0">
                <a:solidFill>
                  <a:srgbClr val="FF0000"/>
                </a:solidFill>
              </a:rPr>
              <a:t>R</a:t>
            </a:r>
            <a:r>
              <a:rPr lang="de-DE" sz="2400" dirty="0"/>
              <a:t>outing</a:t>
            </a:r>
            <a:endParaRPr lang="de-DE" sz="2000" dirty="0"/>
          </a:p>
          <a:p>
            <a:r>
              <a:rPr lang="de-DE" sz="2400" dirty="0"/>
              <a:t>Schreibweise:</a:t>
            </a:r>
          </a:p>
          <a:p>
            <a:pPr marL="863600" lvl="1"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solidFill>
                  <a:srgbClr val="FF0000"/>
                </a:solidFill>
              </a:rPr>
              <a:t>a.b.c.d/</a:t>
            </a:r>
            <a:r>
              <a:rPr lang="de-DE" sz="2400" b="1" dirty="0">
                <a:solidFill>
                  <a:srgbClr val="0070C0"/>
                </a:solidFill>
              </a:rPr>
              <a:t>x</a:t>
            </a:r>
            <a:r>
              <a:rPr lang="de-DE" sz="2400" dirty="0"/>
              <a:t>, wobei </a:t>
            </a:r>
            <a:r>
              <a:rPr lang="de-DE" sz="2400" b="1" dirty="0">
                <a:solidFill>
                  <a:srgbClr val="0070C0"/>
                </a:solidFill>
              </a:rPr>
              <a:t>x</a:t>
            </a:r>
            <a:r>
              <a:rPr lang="de-DE" sz="2400" dirty="0"/>
              <a:t> die Länge der netid (hier auch Präfix) bestimmt</a:t>
            </a:r>
          </a:p>
          <a:p>
            <a:pPr marL="863600" lvl="1"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Angabe wie </a:t>
            </a:r>
            <a:r>
              <a:rPr lang="de-DE" sz="2400" dirty="0" err="1">
                <a:solidFill>
                  <a:srgbClr val="FF0000"/>
                </a:solidFill>
              </a:rPr>
              <a:t>a.b.c.d</a:t>
            </a:r>
            <a:r>
              <a:rPr lang="de-DE" sz="2400" dirty="0">
                <a:solidFill>
                  <a:srgbClr val="FF0000"/>
                </a:solidFill>
              </a:rPr>
              <a:t>/x</a:t>
            </a:r>
            <a:r>
              <a:rPr lang="de-DE" sz="2400" dirty="0"/>
              <a:t> legt eindeutig den Bereich von IP-Adressen fest, die einer Organisation gehören</a:t>
            </a:r>
          </a:p>
          <a:p>
            <a:pPr marL="361950"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Welche Netzwerkgrößen (= Anzahl Adressen pro Netzwerk) sind damit möglich?</a:t>
            </a:r>
          </a:p>
          <a:p>
            <a:pPr marL="589280"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de-DE" sz="2400" dirty="0"/>
          </a:p>
          <a:p>
            <a:pPr marL="589280"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de-DE" sz="2400" dirty="0"/>
          </a:p>
        </p:txBody>
      </p:sp>
      <p:sp>
        <p:nvSpPr>
          <p:cNvPr id="2" name="Content Placeholder 1"/>
          <p:cNvSpPr>
            <a:spLocks noGrp="1"/>
          </p:cNvSpPr>
          <p:nvPr>
            <p:ph sz="quarter" idx="13"/>
          </p:nvPr>
        </p:nvSpPr>
        <p:spPr>
          <a:xfrm>
            <a:off x="457200" y="5013176"/>
            <a:ext cx="8208912" cy="625624"/>
          </a:xfrm>
        </p:spPr>
        <p:txBody>
          <a:bodyPr/>
          <a:lstStyle/>
          <a:p>
            <a:r>
              <a:rPr lang="de-DE" dirty="0"/>
              <a:t>Theoretisch jede Zweierpotenz 2</a:t>
            </a:r>
            <a:r>
              <a:rPr lang="de-DE" baseline="30000" dirty="0"/>
              <a:t>32-x</a:t>
            </a:r>
            <a:r>
              <a:rPr lang="de-DE" dirty="0"/>
              <a:t> für x = 1 bis 31</a:t>
            </a:r>
          </a:p>
        </p:txBody>
      </p:sp>
    </p:spTree>
    <p:extLst>
      <p:ext uri="{BB962C8B-B14F-4D97-AF65-F5344CB8AC3E}">
        <p14:creationId xmlns:p14="http://schemas.microsoft.com/office/powerpoint/2010/main" val="64005119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 name="Rectangle 2"/>
          <p:cNvSpPr>
            <a:spLocks noGrp="1" noChangeArrowheads="1"/>
          </p:cNvSpPr>
          <p:nvPr>
            <p:ph type="title"/>
          </p:nvPr>
        </p:nvSpPr>
        <p:spPr/>
        <p:txBody>
          <a:bodyPr/>
          <a:lstStyle/>
          <a:p>
            <a:r>
              <a:rPr lang="de-DE" sz="3200"/>
              <a:t>Router verschiedener Hierarchien</a:t>
            </a:r>
            <a:endParaRPr lang="de-DE"/>
          </a:p>
        </p:txBody>
      </p:sp>
      <p:sp>
        <p:nvSpPr>
          <p:cNvPr id="417" name="Slide Number Placeholder 2"/>
          <p:cNvSpPr>
            <a:spLocks noGrp="1"/>
          </p:cNvSpPr>
          <p:nvPr>
            <p:ph type="sldNum" sz="quarter" idx="12"/>
          </p:nvPr>
        </p:nvSpPr>
        <p:spPr/>
        <p:txBody>
          <a:bodyPr/>
          <a:lstStyle/>
          <a:p>
            <a:fld id="{7183533A-8A50-4A1F-BEA9-C8C6956451EB}" type="slidenum">
              <a:rPr lang="en-US" noProof="0" smtClean="0"/>
              <a:pPr/>
              <a:t>20</a:t>
            </a:fld>
            <a:endParaRPr lang="en-US" noProof="0" dirty="0"/>
          </a:p>
        </p:txBody>
      </p:sp>
      <p:sp>
        <p:nvSpPr>
          <p:cNvPr id="4099" name="Rectangle 3"/>
          <p:cNvSpPr>
            <a:spLocks noGrp="1" noChangeArrowheads="1"/>
          </p:cNvSpPr>
          <p:nvPr>
            <p:ph sz="quarter" idx="1"/>
          </p:nvPr>
        </p:nvSpPr>
        <p:spPr>
          <a:xfrm>
            <a:off x="457200" y="1219200"/>
            <a:ext cx="4402832" cy="5450160"/>
          </a:xfrm>
        </p:spPr>
        <p:txBody>
          <a:bodyPr>
            <a:normAutofit/>
          </a:bodyPr>
          <a:lstStyle/>
          <a:p>
            <a:r>
              <a:rPr lang="de-DE" sz="2400" dirty="0"/>
              <a:t>Die Router der ISPs betrachten </a:t>
            </a:r>
            <a:r>
              <a:rPr lang="de-DE" sz="2400" u="sng" dirty="0"/>
              <a:t>nur die Netids</a:t>
            </a:r>
          </a:p>
          <a:p>
            <a:r>
              <a:rPr lang="de-DE" sz="2400" dirty="0"/>
              <a:t>Der Router im Heimnetzwerk kennt (i) die </a:t>
            </a:r>
            <a:r>
              <a:rPr lang="de-DE" sz="2400" dirty="0" err="1"/>
              <a:t>Hostids</a:t>
            </a:r>
            <a:r>
              <a:rPr lang="de-DE" sz="2400" dirty="0"/>
              <a:t> der Geräte im Netzwerk UND (ii) die IP-Adresse des Routers “nach außen” </a:t>
            </a:r>
          </a:p>
          <a:p>
            <a:r>
              <a:rPr lang="de-DE" sz="2400" dirty="0"/>
              <a:t>Institutionen wollen oft ihre Adressenbereiche aufteilen</a:t>
            </a:r>
          </a:p>
          <a:p>
            <a:r>
              <a:rPr lang="de-DE" sz="2400" dirty="0"/>
              <a:t>Deshalb hat man oft </a:t>
            </a:r>
            <a:r>
              <a:rPr lang="de-DE" sz="2400" u="sng" dirty="0"/>
              <a:t>innerhalb der Institutionen </a:t>
            </a:r>
            <a:r>
              <a:rPr lang="de-DE" sz="2400" dirty="0"/>
              <a:t>weitere </a:t>
            </a:r>
            <a:r>
              <a:rPr lang="de-DE" sz="2400" b="1" dirty="0">
                <a:solidFill>
                  <a:srgbClr val="0070C0"/>
                </a:solidFill>
              </a:rPr>
              <a:t>Subnetze</a:t>
            </a:r>
            <a:endParaRPr lang="de-DE" u="sng" dirty="0">
              <a:solidFill>
                <a:srgbClr val="0070C0"/>
              </a:solidFill>
            </a:endParaRPr>
          </a:p>
        </p:txBody>
      </p:sp>
      <p:sp>
        <p:nvSpPr>
          <p:cNvPr id="1134" name="Freeform 263"/>
          <p:cNvSpPr>
            <a:spLocks/>
          </p:cNvSpPr>
          <p:nvPr/>
        </p:nvSpPr>
        <p:spPr bwMode="auto">
          <a:xfrm>
            <a:off x="6637967" y="3280848"/>
            <a:ext cx="1531641" cy="848412"/>
          </a:xfrm>
          <a:custGeom>
            <a:avLst/>
            <a:gdLst>
              <a:gd name="T0" fmla="*/ 382 w 828"/>
              <a:gd name="T1" fmla="*/ 30 h 425"/>
              <a:gd name="T2" fmla="*/ 370 w 828"/>
              <a:gd name="T3" fmla="*/ 30 h 425"/>
              <a:gd name="T4" fmla="*/ 126 w 828"/>
              <a:gd name="T5" fmla="*/ 32 h 425"/>
              <a:gd name="T6" fmla="*/ 6 w 828"/>
              <a:gd name="T7" fmla="*/ 126 h 425"/>
              <a:gd name="T8" fmla="*/ 92 w 828"/>
              <a:gd name="T9" fmla="*/ 274 h 425"/>
              <a:gd name="T10" fmla="*/ 292 w 828"/>
              <a:gd name="T11" fmla="*/ 384 h 425"/>
              <a:gd name="T12" fmla="*/ 540 w 828"/>
              <a:gd name="T13" fmla="*/ 416 h 425"/>
              <a:gd name="T14" fmla="*/ 698 w 828"/>
              <a:gd name="T15" fmla="*/ 330 h 425"/>
              <a:gd name="T16" fmla="*/ 776 w 828"/>
              <a:gd name="T17" fmla="*/ 170 h 425"/>
              <a:gd name="T18" fmla="*/ 792 w 828"/>
              <a:gd name="T19" fmla="*/ 22 h 425"/>
              <a:gd name="T20" fmla="*/ 560 w 828"/>
              <a:gd name="T21" fmla="*/ 38 h 425"/>
              <a:gd name="T22" fmla="*/ 382 w 828"/>
              <a:gd name="T23" fmla="*/ 30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35" name="Freeform 264"/>
          <p:cNvSpPr>
            <a:spLocks/>
          </p:cNvSpPr>
          <p:nvPr/>
        </p:nvSpPr>
        <p:spPr bwMode="auto">
          <a:xfrm>
            <a:off x="6660165" y="1362441"/>
            <a:ext cx="2016291" cy="1313540"/>
          </a:xfrm>
          <a:custGeom>
            <a:avLst/>
            <a:gdLst>
              <a:gd name="T0" fmla="*/ 604 w 765"/>
              <a:gd name="T1" fmla="*/ 14 h 459"/>
              <a:gd name="T2" fmla="*/ 410 w 765"/>
              <a:gd name="T3" fmla="*/ 100 h 459"/>
              <a:gd name="T4" fmla="*/ 137 w 765"/>
              <a:gd name="T5" fmla="*/ 143 h 459"/>
              <a:gd name="T6" fmla="*/ 20 w 765"/>
              <a:gd name="T7" fmla="*/ 482 h 459"/>
              <a:gd name="T8" fmla="*/ 256 w 765"/>
              <a:gd name="T9" fmla="*/ 636 h 459"/>
              <a:gd name="T10" fmla="*/ 493 w 765"/>
              <a:gd name="T11" fmla="*/ 611 h 459"/>
              <a:gd name="T12" fmla="*/ 832 w 765"/>
              <a:gd name="T13" fmla="*/ 636 h 459"/>
              <a:gd name="T14" fmla="*/ 995 w 765"/>
              <a:gd name="T15" fmla="*/ 622 h 459"/>
              <a:gd name="T16" fmla="*/ 1071 w 765"/>
              <a:gd name="T17" fmla="*/ 533 h 459"/>
              <a:gd name="T18" fmla="*/ 1069 w 765"/>
              <a:gd name="T19" fmla="*/ 227 h 459"/>
              <a:gd name="T20" fmla="*/ 943 w 765"/>
              <a:gd name="T21" fmla="*/ 49 h 459"/>
              <a:gd name="T22" fmla="*/ 604 w 765"/>
              <a:gd name="T23" fmla="*/ 14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nvGrpSpPr>
          <p:cNvPr id="2" name="Group 266"/>
          <p:cNvGrpSpPr>
            <a:grpSpLocks/>
          </p:cNvGrpSpPr>
          <p:nvPr/>
        </p:nvGrpSpPr>
        <p:grpSpPr bwMode="auto">
          <a:xfrm>
            <a:off x="4734514" y="2673986"/>
            <a:ext cx="1699974" cy="1173802"/>
            <a:chOff x="2889" y="1631"/>
            <a:chExt cx="980" cy="743"/>
          </a:xfrm>
        </p:grpSpPr>
        <p:sp>
          <p:nvSpPr>
            <p:cNvPr id="1439" name="Rectangle 267"/>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1440" name="AutoShape 268"/>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de-DE">
                <a:solidFill>
                  <a:srgbClr val="00CCFF"/>
                </a:solidFill>
              </a:endParaRPr>
            </a:p>
          </p:txBody>
        </p:sp>
      </p:grpSp>
      <p:grpSp>
        <p:nvGrpSpPr>
          <p:cNvPr id="3" name="Group 308"/>
          <p:cNvGrpSpPr>
            <a:grpSpLocks/>
          </p:cNvGrpSpPr>
          <p:nvPr/>
        </p:nvGrpSpPr>
        <p:grpSpPr bwMode="auto">
          <a:xfrm>
            <a:off x="6780402" y="3430568"/>
            <a:ext cx="421757" cy="215596"/>
            <a:chOff x="3600" y="219"/>
            <a:chExt cx="360" cy="175"/>
          </a:xfrm>
        </p:grpSpPr>
        <p:sp>
          <p:nvSpPr>
            <p:cNvPr id="1393" name="Oval 30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94" name="Line 310"/>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95" name="Line 311"/>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96" name="Rectangle 312"/>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1397" name="Oval 3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4" name="Group 314"/>
            <p:cNvGrpSpPr>
              <a:grpSpLocks/>
            </p:cNvGrpSpPr>
            <p:nvPr/>
          </p:nvGrpSpPr>
          <p:grpSpPr bwMode="auto">
            <a:xfrm>
              <a:off x="3686" y="244"/>
              <a:ext cx="177" cy="66"/>
              <a:chOff x="2848" y="848"/>
              <a:chExt cx="140" cy="98"/>
            </a:xfrm>
          </p:grpSpPr>
          <p:sp>
            <p:nvSpPr>
              <p:cNvPr id="1403" name="Line 31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404" name="Line 31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405" name="Line 31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5" name="Group 318"/>
            <p:cNvGrpSpPr>
              <a:grpSpLocks/>
            </p:cNvGrpSpPr>
            <p:nvPr/>
          </p:nvGrpSpPr>
          <p:grpSpPr bwMode="auto">
            <a:xfrm flipV="1">
              <a:off x="3686" y="243"/>
              <a:ext cx="177" cy="66"/>
              <a:chOff x="2848" y="848"/>
              <a:chExt cx="140" cy="98"/>
            </a:xfrm>
          </p:grpSpPr>
          <p:sp>
            <p:nvSpPr>
              <p:cNvPr id="1400" name="Line 31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401" name="Line 32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402" name="Line 32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6" name="Group 322"/>
          <p:cNvGrpSpPr>
            <a:grpSpLocks/>
          </p:cNvGrpSpPr>
          <p:nvPr/>
        </p:nvGrpSpPr>
        <p:grpSpPr bwMode="auto">
          <a:xfrm>
            <a:off x="7194759" y="3781911"/>
            <a:ext cx="421757" cy="215596"/>
            <a:chOff x="3600" y="219"/>
            <a:chExt cx="360" cy="175"/>
          </a:xfrm>
        </p:grpSpPr>
        <p:sp>
          <p:nvSpPr>
            <p:cNvPr id="1380" name="Oval 32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81" name="Line 324"/>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82" name="Line 325"/>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83" name="Rectangle 326"/>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1384" name="Oval 32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7" name="Group 328"/>
            <p:cNvGrpSpPr>
              <a:grpSpLocks/>
            </p:cNvGrpSpPr>
            <p:nvPr/>
          </p:nvGrpSpPr>
          <p:grpSpPr bwMode="auto">
            <a:xfrm>
              <a:off x="3686" y="244"/>
              <a:ext cx="177" cy="66"/>
              <a:chOff x="2848" y="848"/>
              <a:chExt cx="140" cy="98"/>
            </a:xfrm>
          </p:grpSpPr>
          <p:sp>
            <p:nvSpPr>
              <p:cNvPr id="1390" name="Line 32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91" name="Line 33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92" name="Line 33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8" name="Group 332"/>
            <p:cNvGrpSpPr>
              <a:grpSpLocks/>
            </p:cNvGrpSpPr>
            <p:nvPr/>
          </p:nvGrpSpPr>
          <p:grpSpPr bwMode="auto">
            <a:xfrm flipV="1">
              <a:off x="3686" y="243"/>
              <a:ext cx="177" cy="66"/>
              <a:chOff x="2848" y="848"/>
              <a:chExt cx="140" cy="98"/>
            </a:xfrm>
          </p:grpSpPr>
          <p:sp>
            <p:nvSpPr>
              <p:cNvPr id="1387" name="Line 33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88" name="Line 33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89" name="Line 33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9" name="Group 336"/>
          <p:cNvGrpSpPr>
            <a:grpSpLocks/>
          </p:cNvGrpSpPr>
          <p:nvPr/>
        </p:nvGrpSpPr>
        <p:grpSpPr bwMode="auto">
          <a:xfrm>
            <a:off x="7520326" y="3446538"/>
            <a:ext cx="421757" cy="215596"/>
            <a:chOff x="3600" y="219"/>
            <a:chExt cx="360" cy="175"/>
          </a:xfrm>
        </p:grpSpPr>
        <p:sp>
          <p:nvSpPr>
            <p:cNvPr id="1367" name="Oval 33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68" name="Line 338"/>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69" name="Line 339"/>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70" name="Rectangle 340"/>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1371" name="Oval 34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 name="Group 342"/>
            <p:cNvGrpSpPr>
              <a:grpSpLocks/>
            </p:cNvGrpSpPr>
            <p:nvPr/>
          </p:nvGrpSpPr>
          <p:grpSpPr bwMode="auto">
            <a:xfrm>
              <a:off x="3686" y="244"/>
              <a:ext cx="177" cy="66"/>
              <a:chOff x="2848" y="848"/>
              <a:chExt cx="140" cy="98"/>
            </a:xfrm>
          </p:grpSpPr>
          <p:sp>
            <p:nvSpPr>
              <p:cNvPr id="1377" name="Line 34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78" name="Line 34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79" name="Line 34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1" name="Group 346"/>
            <p:cNvGrpSpPr>
              <a:grpSpLocks/>
            </p:cNvGrpSpPr>
            <p:nvPr/>
          </p:nvGrpSpPr>
          <p:grpSpPr bwMode="auto">
            <a:xfrm flipV="1">
              <a:off x="3686" y="243"/>
              <a:ext cx="177" cy="66"/>
              <a:chOff x="2848" y="848"/>
              <a:chExt cx="140" cy="98"/>
            </a:xfrm>
          </p:grpSpPr>
          <p:sp>
            <p:nvSpPr>
              <p:cNvPr id="1374" name="Line 34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75" name="Line 34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76" name="Line 34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12" name="Group 350"/>
          <p:cNvGrpSpPr>
            <a:grpSpLocks/>
          </p:cNvGrpSpPr>
          <p:nvPr/>
        </p:nvGrpSpPr>
        <p:grpSpPr bwMode="auto">
          <a:xfrm>
            <a:off x="6896940" y="1991264"/>
            <a:ext cx="408807" cy="201623"/>
            <a:chOff x="3600" y="219"/>
            <a:chExt cx="360" cy="175"/>
          </a:xfrm>
        </p:grpSpPr>
        <p:sp>
          <p:nvSpPr>
            <p:cNvPr id="1354" name="Oval 35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55" name="Line 352"/>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56" name="Line 353"/>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57" name="Rectangle 354"/>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1358" name="Oval 35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3" name="Group 356"/>
            <p:cNvGrpSpPr>
              <a:grpSpLocks/>
            </p:cNvGrpSpPr>
            <p:nvPr/>
          </p:nvGrpSpPr>
          <p:grpSpPr bwMode="auto">
            <a:xfrm>
              <a:off x="3686" y="244"/>
              <a:ext cx="177" cy="66"/>
              <a:chOff x="2848" y="848"/>
              <a:chExt cx="140" cy="98"/>
            </a:xfrm>
          </p:grpSpPr>
          <p:sp>
            <p:nvSpPr>
              <p:cNvPr id="1364" name="Line 35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65" name="Line 35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66" name="Line 35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4" name="Group 360"/>
            <p:cNvGrpSpPr>
              <a:grpSpLocks/>
            </p:cNvGrpSpPr>
            <p:nvPr/>
          </p:nvGrpSpPr>
          <p:grpSpPr bwMode="auto">
            <a:xfrm flipV="1">
              <a:off x="3686" y="243"/>
              <a:ext cx="177" cy="66"/>
              <a:chOff x="2848" y="848"/>
              <a:chExt cx="140" cy="98"/>
            </a:xfrm>
          </p:grpSpPr>
          <p:sp>
            <p:nvSpPr>
              <p:cNvPr id="1361" name="Line 36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62" name="Line 36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63" name="Line 36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15" name="Group 364"/>
          <p:cNvGrpSpPr>
            <a:grpSpLocks/>
          </p:cNvGrpSpPr>
          <p:nvPr/>
        </p:nvGrpSpPr>
        <p:grpSpPr bwMode="auto">
          <a:xfrm>
            <a:off x="6895091" y="2312662"/>
            <a:ext cx="421757" cy="215596"/>
            <a:chOff x="3600" y="219"/>
            <a:chExt cx="360" cy="175"/>
          </a:xfrm>
        </p:grpSpPr>
        <p:sp>
          <p:nvSpPr>
            <p:cNvPr id="1341" name="Oval 36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42" name="Line 366"/>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43" name="Line 367"/>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44" name="Rectangle 368"/>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1345" name="Oval 36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6" name="Group 370"/>
            <p:cNvGrpSpPr>
              <a:grpSpLocks/>
            </p:cNvGrpSpPr>
            <p:nvPr/>
          </p:nvGrpSpPr>
          <p:grpSpPr bwMode="auto">
            <a:xfrm>
              <a:off x="3686" y="244"/>
              <a:ext cx="177" cy="66"/>
              <a:chOff x="2848" y="848"/>
              <a:chExt cx="140" cy="98"/>
            </a:xfrm>
          </p:grpSpPr>
          <p:sp>
            <p:nvSpPr>
              <p:cNvPr id="1351" name="Line 37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52" name="Line 37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53" name="Line 37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7" name="Group 374"/>
            <p:cNvGrpSpPr>
              <a:grpSpLocks/>
            </p:cNvGrpSpPr>
            <p:nvPr/>
          </p:nvGrpSpPr>
          <p:grpSpPr bwMode="auto">
            <a:xfrm flipV="1">
              <a:off x="3686" y="243"/>
              <a:ext cx="177" cy="66"/>
              <a:chOff x="2848" y="848"/>
              <a:chExt cx="140" cy="98"/>
            </a:xfrm>
          </p:grpSpPr>
          <p:sp>
            <p:nvSpPr>
              <p:cNvPr id="1348" name="Line 37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49" name="Line 37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50" name="Line 37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18" name="Group 378"/>
          <p:cNvGrpSpPr>
            <a:grpSpLocks/>
          </p:cNvGrpSpPr>
          <p:nvPr/>
        </p:nvGrpSpPr>
        <p:grpSpPr bwMode="auto">
          <a:xfrm>
            <a:off x="7450033" y="1871488"/>
            <a:ext cx="388460" cy="193637"/>
            <a:chOff x="3600" y="219"/>
            <a:chExt cx="360" cy="175"/>
          </a:xfrm>
        </p:grpSpPr>
        <p:sp>
          <p:nvSpPr>
            <p:cNvPr id="1328" name="Oval 37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29" name="Line 380"/>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30" name="Line 381"/>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31" name="Rectangle 382"/>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1332" name="Oval 38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9" name="Group 384"/>
            <p:cNvGrpSpPr>
              <a:grpSpLocks/>
            </p:cNvGrpSpPr>
            <p:nvPr/>
          </p:nvGrpSpPr>
          <p:grpSpPr bwMode="auto">
            <a:xfrm>
              <a:off x="3686" y="244"/>
              <a:ext cx="177" cy="66"/>
              <a:chOff x="2848" y="848"/>
              <a:chExt cx="140" cy="98"/>
            </a:xfrm>
          </p:grpSpPr>
          <p:sp>
            <p:nvSpPr>
              <p:cNvPr id="1338" name="Line 38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39" name="Line 38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40" name="Line 38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20" name="Group 388"/>
            <p:cNvGrpSpPr>
              <a:grpSpLocks/>
            </p:cNvGrpSpPr>
            <p:nvPr/>
          </p:nvGrpSpPr>
          <p:grpSpPr bwMode="auto">
            <a:xfrm flipV="1">
              <a:off x="3686" y="243"/>
              <a:ext cx="177" cy="66"/>
              <a:chOff x="2848" y="848"/>
              <a:chExt cx="140" cy="98"/>
            </a:xfrm>
          </p:grpSpPr>
          <p:sp>
            <p:nvSpPr>
              <p:cNvPr id="1335" name="Line 38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36" name="Line 39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37" name="Line 39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21" name="Group 392"/>
          <p:cNvGrpSpPr>
            <a:grpSpLocks/>
          </p:cNvGrpSpPr>
          <p:nvPr/>
        </p:nvGrpSpPr>
        <p:grpSpPr bwMode="auto">
          <a:xfrm>
            <a:off x="7549923" y="2312662"/>
            <a:ext cx="421757" cy="215596"/>
            <a:chOff x="3600" y="219"/>
            <a:chExt cx="360" cy="175"/>
          </a:xfrm>
        </p:grpSpPr>
        <p:sp>
          <p:nvSpPr>
            <p:cNvPr id="1315" name="Oval 39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16" name="Line 394"/>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17" name="Line 395"/>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18" name="Rectangle 396"/>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1319" name="Oval 39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2" name="Group 398"/>
            <p:cNvGrpSpPr>
              <a:grpSpLocks/>
            </p:cNvGrpSpPr>
            <p:nvPr/>
          </p:nvGrpSpPr>
          <p:grpSpPr bwMode="auto">
            <a:xfrm>
              <a:off x="3686" y="244"/>
              <a:ext cx="177" cy="66"/>
              <a:chOff x="2848" y="848"/>
              <a:chExt cx="140" cy="98"/>
            </a:xfrm>
          </p:grpSpPr>
          <p:sp>
            <p:nvSpPr>
              <p:cNvPr id="1325" name="Line 39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26" name="Line 40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27" name="Line 40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23" name="Group 402"/>
            <p:cNvGrpSpPr>
              <a:grpSpLocks/>
            </p:cNvGrpSpPr>
            <p:nvPr/>
          </p:nvGrpSpPr>
          <p:grpSpPr bwMode="auto">
            <a:xfrm flipV="1">
              <a:off x="3686" y="243"/>
              <a:ext cx="177" cy="66"/>
              <a:chOff x="2848" y="848"/>
              <a:chExt cx="140" cy="98"/>
            </a:xfrm>
          </p:grpSpPr>
          <p:sp>
            <p:nvSpPr>
              <p:cNvPr id="1322" name="Line 40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23" name="Line 40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24" name="Line 40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24" name="Group 420"/>
          <p:cNvGrpSpPr>
            <a:grpSpLocks/>
          </p:cNvGrpSpPr>
          <p:nvPr/>
        </p:nvGrpSpPr>
        <p:grpSpPr bwMode="auto">
          <a:xfrm>
            <a:off x="5550279" y="3430568"/>
            <a:ext cx="406958" cy="199626"/>
            <a:chOff x="3600" y="219"/>
            <a:chExt cx="360" cy="175"/>
          </a:xfrm>
        </p:grpSpPr>
        <p:sp>
          <p:nvSpPr>
            <p:cNvPr id="1289" name="Oval 42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90" name="Line 422"/>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91" name="Line 423"/>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92" name="Rectangle 424"/>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1293" name="Oval 42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5" name="Group 426"/>
            <p:cNvGrpSpPr>
              <a:grpSpLocks/>
            </p:cNvGrpSpPr>
            <p:nvPr/>
          </p:nvGrpSpPr>
          <p:grpSpPr bwMode="auto">
            <a:xfrm>
              <a:off x="3686" y="244"/>
              <a:ext cx="177" cy="66"/>
              <a:chOff x="2848" y="848"/>
              <a:chExt cx="140" cy="98"/>
            </a:xfrm>
          </p:grpSpPr>
          <p:sp>
            <p:nvSpPr>
              <p:cNvPr id="1299" name="Line 42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00" name="Line 42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301" name="Line 42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26" name="Group 430"/>
            <p:cNvGrpSpPr>
              <a:grpSpLocks/>
            </p:cNvGrpSpPr>
            <p:nvPr/>
          </p:nvGrpSpPr>
          <p:grpSpPr bwMode="auto">
            <a:xfrm flipV="1">
              <a:off x="3686" y="243"/>
              <a:ext cx="177" cy="66"/>
              <a:chOff x="2848" y="848"/>
              <a:chExt cx="140" cy="98"/>
            </a:xfrm>
          </p:grpSpPr>
          <p:sp>
            <p:nvSpPr>
              <p:cNvPr id="1296" name="Line 43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97" name="Line 43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98" name="Line 43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1151" name="Line 434"/>
          <p:cNvSpPr>
            <a:spLocks noChangeShapeType="1"/>
          </p:cNvSpPr>
          <p:nvPr/>
        </p:nvSpPr>
        <p:spPr bwMode="auto">
          <a:xfrm flipV="1">
            <a:off x="6950584" y="3969559"/>
            <a:ext cx="264523" cy="5489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52" name="Line 435"/>
          <p:cNvSpPr>
            <a:spLocks noChangeShapeType="1"/>
          </p:cNvSpPr>
          <p:nvPr/>
        </p:nvSpPr>
        <p:spPr bwMode="auto">
          <a:xfrm>
            <a:off x="7094870" y="3640175"/>
            <a:ext cx="190530" cy="1517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53" name="Line 436"/>
          <p:cNvSpPr>
            <a:spLocks noChangeShapeType="1"/>
          </p:cNvSpPr>
          <p:nvPr/>
        </p:nvSpPr>
        <p:spPr bwMode="auto">
          <a:xfrm>
            <a:off x="7207708" y="3540363"/>
            <a:ext cx="3255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54" name="Line 437"/>
          <p:cNvSpPr>
            <a:spLocks noChangeShapeType="1"/>
          </p:cNvSpPr>
          <p:nvPr/>
        </p:nvSpPr>
        <p:spPr bwMode="auto">
          <a:xfrm flipV="1">
            <a:off x="7483330" y="3648161"/>
            <a:ext cx="157234" cy="1317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55" name="Line 438"/>
          <p:cNvSpPr>
            <a:spLocks noChangeShapeType="1"/>
          </p:cNvSpPr>
          <p:nvPr/>
        </p:nvSpPr>
        <p:spPr bwMode="auto">
          <a:xfrm>
            <a:off x="5966486" y="3548347"/>
            <a:ext cx="7917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27" name="Group 439"/>
          <p:cNvGrpSpPr>
            <a:grpSpLocks/>
          </p:cNvGrpSpPr>
          <p:nvPr/>
        </p:nvGrpSpPr>
        <p:grpSpPr bwMode="auto">
          <a:xfrm>
            <a:off x="5089678" y="2883593"/>
            <a:ext cx="386610" cy="447163"/>
            <a:chOff x="2870" y="1518"/>
            <a:chExt cx="292" cy="320"/>
          </a:xfrm>
        </p:grpSpPr>
        <p:graphicFrame>
          <p:nvGraphicFramePr>
            <p:cNvPr id="1038" name="Object 44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26829" imgH="840406" progId="">
                    <p:embed/>
                  </p:oleObj>
                </mc:Choice>
                <mc:Fallback>
                  <p:oleObj name="Clip" r:id="rId3" imgW="826829" imgH="840406" progId="">
                    <p:embed/>
                    <p:pic>
                      <p:nvPicPr>
                        <p:cNvPr id="1038" name="Object 4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9" name="Object 44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8295" imgH="1199426" progId="">
                    <p:embed/>
                  </p:oleObj>
                </mc:Choice>
                <mc:Fallback>
                  <p:oleObj name="Clip" r:id="rId5" imgW="1268295" imgH="1199426" progId="">
                    <p:embed/>
                    <p:pic>
                      <p:nvPicPr>
                        <p:cNvPr id="1039" name="Object 4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 name="Group 442"/>
          <p:cNvGrpSpPr>
            <a:grpSpLocks/>
          </p:cNvGrpSpPr>
          <p:nvPr/>
        </p:nvGrpSpPr>
        <p:grpSpPr bwMode="auto">
          <a:xfrm>
            <a:off x="5141472" y="3346726"/>
            <a:ext cx="257123" cy="387274"/>
            <a:chOff x="2556" y="2689"/>
            <a:chExt cx="183" cy="255"/>
          </a:xfrm>
        </p:grpSpPr>
        <p:pic>
          <p:nvPicPr>
            <p:cNvPr id="1272" name="Picture 443" descr="31u_bnrz[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09" y="2770"/>
              <a:ext cx="1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3" name="Freeform 444"/>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74" name="Freeform 445"/>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75" name="Freeform 446"/>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76" name="Freeform 447"/>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77" name="Freeform 448"/>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78" name="Freeform 449"/>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79" name="Freeform 450"/>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80" name="Freeform 451"/>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81" name="Freeform 452"/>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82" name="Freeform 453"/>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83" name="Freeform 454"/>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84" name="Freeform 455"/>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85" name="Freeform 456"/>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86" name="Freeform 457"/>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87" name="Freeform 458"/>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88" name="Freeform 459"/>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graphicFrame>
        <p:nvGraphicFramePr>
          <p:cNvPr id="1029" name="Object 460"/>
          <p:cNvGraphicFramePr>
            <a:graphicFrameLocks noChangeAspect="1"/>
          </p:cNvGraphicFramePr>
          <p:nvPr/>
        </p:nvGraphicFramePr>
        <p:xfrm>
          <a:off x="5589125" y="2937491"/>
          <a:ext cx="382911" cy="345354"/>
        </p:xfrm>
        <a:graphic>
          <a:graphicData uri="http://schemas.openxmlformats.org/presentationml/2006/ole">
            <mc:AlternateContent xmlns:mc="http://schemas.openxmlformats.org/markup-compatibility/2006">
              <mc:Choice xmlns:v="urn:schemas-microsoft-com:vml" Requires="v">
                <p:oleObj name="Clip" r:id="rId8" imgW="1307263" imgH="1084139" progId="">
                  <p:embed/>
                </p:oleObj>
              </mc:Choice>
              <mc:Fallback>
                <p:oleObj name="Clip" r:id="rId8" imgW="1307263" imgH="1084139" progId="">
                  <p:embed/>
                  <p:pic>
                    <p:nvPicPr>
                      <p:cNvPr id="1029" name="Object 46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9125" y="2937491"/>
                        <a:ext cx="382911" cy="3453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60" name="Freeform 463"/>
          <p:cNvSpPr>
            <a:spLocks/>
          </p:cNvSpPr>
          <p:nvPr/>
        </p:nvSpPr>
        <p:spPr bwMode="auto">
          <a:xfrm>
            <a:off x="5011985" y="4406740"/>
            <a:ext cx="3472090" cy="1830572"/>
          </a:xfrm>
          <a:custGeom>
            <a:avLst/>
            <a:gdLst>
              <a:gd name="T0" fmla="*/ 889 w 1877"/>
              <a:gd name="T1" fmla="*/ 23 h 917"/>
              <a:gd name="T2" fmla="*/ 692 w 1877"/>
              <a:gd name="T3" fmla="*/ 109 h 917"/>
              <a:gd name="T4" fmla="*/ 415 w 1877"/>
              <a:gd name="T5" fmla="*/ 91 h 917"/>
              <a:gd name="T6" fmla="*/ 112 w 1877"/>
              <a:gd name="T7" fmla="*/ 170 h 917"/>
              <a:gd name="T8" fmla="*/ 50 w 1877"/>
              <a:gd name="T9" fmla="*/ 353 h 917"/>
              <a:gd name="T10" fmla="*/ 14 w 1877"/>
              <a:gd name="T11" fmla="*/ 528 h 917"/>
              <a:gd name="T12" fmla="*/ 139 w 1877"/>
              <a:gd name="T13" fmla="*/ 650 h 917"/>
              <a:gd name="T14" fmla="*/ 505 w 1877"/>
              <a:gd name="T15" fmla="*/ 781 h 917"/>
              <a:gd name="T16" fmla="*/ 933 w 1877"/>
              <a:gd name="T17" fmla="*/ 886 h 917"/>
              <a:gd name="T18" fmla="*/ 1370 w 1877"/>
              <a:gd name="T19" fmla="*/ 901 h 917"/>
              <a:gd name="T20" fmla="*/ 1676 w 1877"/>
              <a:gd name="T21" fmla="*/ 793 h 917"/>
              <a:gd name="T22" fmla="*/ 1860 w 1877"/>
              <a:gd name="T23" fmla="*/ 624 h 917"/>
              <a:gd name="T24" fmla="*/ 1776 w 1877"/>
              <a:gd name="T25" fmla="*/ 219 h 917"/>
              <a:gd name="T26" fmla="*/ 1503 w 1877"/>
              <a:gd name="T27" fmla="*/ 100 h 917"/>
              <a:gd name="T28" fmla="*/ 1200 w 1877"/>
              <a:gd name="T29" fmla="*/ 13 h 917"/>
              <a:gd name="T30" fmla="*/ 889 w 1877"/>
              <a:gd name="T31" fmla="*/ 2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61" name="Line 464"/>
          <p:cNvSpPr>
            <a:spLocks noChangeShapeType="1"/>
          </p:cNvSpPr>
          <p:nvPr/>
        </p:nvSpPr>
        <p:spPr bwMode="auto">
          <a:xfrm rot="16200000">
            <a:off x="7594201" y="5339449"/>
            <a:ext cx="658767" cy="16278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29" name="Group 465"/>
          <p:cNvGrpSpPr>
            <a:grpSpLocks/>
          </p:cNvGrpSpPr>
          <p:nvPr/>
        </p:nvGrpSpPr>
        <p:grpSpPr bwMode="auto">
          <a:xfrm>
            <a:off x="7516626" y="5504684"/>
            <a:ext cx="231226" cy="459140"/>
            <a:chOff x="4180" y="783"/>
            <a:chExt cx="150" cy="307"/>
          </a:xfrm>
        </p:grpSpPr>
        <p:sp>
          <p:nvSpPr>
            <p:cNvPr id="1264" name="AutoShape 466"/>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1265" name="Rectangle 467"/>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1266" name="Rectangle 468"/>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67" name="AutoShape 46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68" name="Line 470"/>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69" name="Line 471"/>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70" name="Rectangle 472"/>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271" name="Rectangle 473"/>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grpSp>
      <p:sp>
        <p:nvSpPr>
          <p:cNvPr id="1163" name="Line 474"/>
          <p:cNvSpPr>
            <a:spLocks noChangeShapeType="1"/>
          </p:cNvSpPr>
          <p:nvPr/>
        </p:nvSpPr>
        <p:spPr bwMode="auto">
          <a:xfrm rot="5400000" flipV="1">
            <a:off x="7788402" y="5690298"/>
            <a:ext cx="3992" cy="998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164" name="Line 475"/>
          <p:cNvSpPr>
            <a:spLocks noChangeShapeType="1"/>
          </p:cNvSpPr>
          <p:nvPr/>
        </p:nvSpPr>
        <p:spPr bwMode="auto">
          <a:xfrm rot="16200000">
            <a:off x="8004976" y="5284379"/>
            <a:ext cx="0" cy="13318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30" name="Group 476"/>
          <p:cNvGrpSpPr>
            <a:grpSpLocks/>
          </p:cNvGrpSpPr>
          <p:nvPr/>
        </p:nvGrpSpPr>
        <p:grpSpPr bwMode="auto">
          <a:xfrm>
            <a:off x="7514776" y="4913791"/>
            <a:ext cx="584540" cy="295446"/>
            <a:chOff x="3600" y="219"/>
            <a:chExt cx="360" cy="175"/>
          </a:xfrm>
        </p:grpSpPr>
        <p:sp>
          <p:nvSpPr>
            <p:cNvPr id="1251" name="Oval 47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52" name="Line 478"/>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53" name="Line 479"/>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54" name="Rectangle 480"/>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1255" name="Oval 48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31" name="Group 482"/>
            <p:cNvGrpSpPr>
              <a:grpSpLocks/>
            </p:cNvGrpSpPr>
            <p:nvPr/>
          </p:nvGrpSpPr>
          <p:grpSpPr bwMode="auto">
            <a:xfrm>
              <a:off x="3686" y="244"/>
              <a:ext cx="177" cy="66"/>
              <a:chOff x="2848" y="848"/>
              <a:chExt cx="140" cy="98"/>
            </a:xfrm>
          </p:grpSpPr>
          <p:sp>
            <p:nvSpPr>
              <p:cNvPr id="1261" name="Line 48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62" name="Line 48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63" name="Line 48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024" name="Group 486"/>
            <p:cNvGrpSpPr>
              <a:grpSpLocks/>
            </p:cNvGrpSpPr>
            <p:nvPr/>
          </p:nvGrpSpPr>
          <p:grpSpPr bwMode="auto">
            <a:xfrm flipV="1">
              <a:off x="3686" y="243"/>
              <a:ext cx="177" cy="66"/>
              <a:chOff x="2848" y="848"/>
              <a:chExt cx="140" cy="98"/>
            </a:xfrm>
          </p:grpSpPr>
          <p:sp>
            <p:nvSpPr>
              <p:cNvPr id="1258" name="Line 48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59" name="Line 48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60" name="Line 48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1025" name="Group 490"/>
          <p:cNvGrpSpPr>
            <a:grpSpLocks/>
          </p:cNvGrpSpPr>
          <p:nvPr/>
        </p:nvGrpSpPr>
        <p:grpSpPr bwMode="auto">
          <a:xfrm>
            <a:off x="6563974" y="4566441"/>
            <a:ext cx="584540" cy="295446"/>
            <a:chOff x="3600" y="219"/>
            <a:chExt cx="360" cy="175"/>
          </a:xfrm>
        </p:grpSpPr>
        <p:sp>
          <p:nvSpPr>
            <p:cNvPr id="1238" name="Oval 49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39" name="Line 492"/>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40" name="Line 493"/>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41" name="Rectangle 494"/>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1242" name="Oval 49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26" name="Group 496"/>
            <p:cNvGrpSpPr>
              <a:grpSpLocks/>
            </p:cNvGrpSpPr>
            <p:nvPr/>
          </p:nvGrpSpPr>
          <p:grpSpPr bwMode="auto">
            <a:xfrm>
              <a:off x="3686" y="244"/>
              <a:ext cx="177" cy="66"/>
              <a:chOff x="2848" y="848"/>
              <a:chExt cx="140" cy="98"/>
            </a:xfrm>
          </p:grpSpPr>
          <p:sp>
            <p:nvSpPr>
              <p:cNvPr id="1248" name="Line 49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49" name="Line 49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50" name="Line 49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027" name="Group 500"/>
            <p:cNvGrpSpPr>
              <a:grpSpLocks/>
            </p:cNvGrpSpPr>
            <p:nvPr/>
          </p:nvGrpSpPr>
          <p:grpSpPr bwMode="auto">
            <a:xfrm flipV="1">
              <a:off x="3686" y="243"/>
              <a:ext cx="177" cy="66"/>
              <a:chOff x="2848" y="848"/>
              <a:chExt cx="140" cy="98"/>
            </a:xfrm>
          </p:grpSpPr>
          <p:sp>
            <p:nvSpPr>
              <p:cNvPr id="1245" name="Line 50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46" name="Line 50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47" name="Line 50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1028" name="Group 504"/>
          <p:cNvGrpSpPr>
            <a:grpSpLocks/>
          </p:cNvGrpSpPr>
          <p:nvPr/>
        </p:nvGrpSpPr>
        <p:grpSpPr bwMode="auto">
          <a:xfrm>
            <a:off x="5788904" y="4949723"/>
            <a:ext cx="584540" cy="295446"/>
            <a:chOff x="3600" y="219"/>
            <a:chExt cx="360" cy="175"/>
          </a:xfrm>
        </p:grpSpPr>
        <p:sp>
          <p:nvSpPr>
            <p:cNvPr id="1225" name="Oval 50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26" name="Line 506"/>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27" name="Line 507"/>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28" name="Rectangle 508"/>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1229" name="Oval 50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40" name="Group 510"/>
            <p:cNvGrpSpPr>
              <a:grpSpLocks/>
            </p:cNvGrpSpPr>
            <p:nvPr/>
          </p:nvGrpSpPr>
          <p:grpSpPr bwMode="auto">
            <a:xfrm>
              <a:off x="3686" y="244"/>
              <a:ext cx="177" cy="66"/>
              <a:chOff x="2848" y="848"/>
              <a:chExt cx="140" cy="98"/>
            </a:xfrm>
          </p:grpSpPr>
          <p:sp>
            <p:nvSpPr>
              <p:cNvPr id="1235" name="Line 51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36" name="Line 51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37" name="Line 51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041" name="Group 514"/>
            <p:cNvGrpSpPr>
              <a:grpSpLocks/>
            </p:cNvGrpSpPr>
            <p:nvPr/>
          </p:nvGrpSpPr>
          <p:grpSpPr bwMode="auto">
            <a:xfrm flipV="1">
              <a:off x="3686" y="243"/>
              <a:ext cx="177" cy="66"/>
              <a:chOff x="2848" y="848"/>
              <a:chExt cx="140" cy="98"/>
            </a:xfrm>
          </p:grpSpPr>
          <p:sp>
            <p:nvSpPr>
              <p:cNvPr id="1232" name="Line 51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33" name="Line 51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34" name="Line 51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1168" name="Line 518"/>
          <p:cNvSpPr>
            <a:spLocks noChangeShapeType="1"/>
          </p:cNvSpPr>
          <p:nvPr/>
        </p:nvSpPr>
        <p:spPr bwMode="auto">
          <a:xfrm>
            <a:off x="7087471" y="4831944"/>
            <a:ext cx="418056" cy="1517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69" name="Line 519"/>
          <p:cNvSpPr>
            <a:spLocks noChangeShapeType="1"/>
          </p:cNvSpPr>
          <p:nvPr/>
        </p:nvSpPr>
        <p:spPr bwMode="auto">
          <a:xfrm flipV="1">
            <a:off x="6327199" y="4847914"/>
            <a:ext cx="323716" cy="1377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70" name="Line 520"/>
          <p:cNvSpPr>
            <a:spLocks noChangeShapeType="1"/>
          </p:cNvSpPr>
          <p:nvPr/>
        </p:nvSpPr>
        <p:spPr bwMode="auto">
          <a:xfrm flipV="1">
            <a:off x="6377144" y="5103435"/>
            <a:ext cx="113208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71" name="Line 521"/>
          <p:cNvSpPr>
            <a:spLocks noChangeShapeType="1"/>
          </p:cNvSpPr>
          <p:nvPr/>
        </p:nvSpPr>
        <p:spPr bwMode="auto">
          <a:xfrm flipH="1">
            <a:off x="5555829" y="4784033"/>
            <a:ext cx="295969" cy="5908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72" name="Line 522"/>
          <p:cNvSpPr>
            <a:spLocks noChangeShapeType="1"/>
          </p:cNvSpPr>
          <p:nvPr/>
        </p:nvSpPr>
        <p:spPr bwMode="auto">
          <a:xfrm>
            <a:off x="5585426" y="4847914"/>
            <a:ext cx="2293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73" name="Line 523"/>
          <p:cNvSpPr>
            <a:spLocks noChangeShapeType="1"/>
          </p:cNvSpPr>
          <p:nvPr/>
        </p:nvSpPr>
        <p:spPr bwMode="auto">
          <a:xfrm>
            <a:off x="5422643" y="5271121"/>
            <a:ext cx="17943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74" name="Line 524"/>
          <p:cNvSpPr>
            <a:spLocks noChangeShapeType="1"/>
          </p:cNvSpPr>
          <p:nvPr/>
        </p:nvSpPr>
        <p:spPr bwMode="auto">
          <a:xfrm>
            <a:off x="5716763" y="5370935"/>
            <a:ext cx="57159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75" name="Line 525"/>
          <p:cNvSpPr>
            <a:spLocks noChangeShapeType="1"/>
          </p:cNvSpPr>
          <p:nvPr/>
        </p:nvSpPr>
        <p:spPr bwMode="auto">
          <a:xfrm flipH="1">
            <a:off x="5996083" y="5255151"/>
            <a:ext cx="62894" cy="1077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76" name="Line 526"/>
          <p:cNvSpPr>
            <a:spLocks noChangeShapeType="1"/>
          </p:cNvSpPr>
          <p:nvPr/>
        </p:nvSpPr>
        <p:spPr bwMode="auto">
          <a:xfrm>
            <a:off x="5777806" y="5366942"/>
            <a:ext cx="1850" cy="1038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77" name="Line 527"/>
          <p:cNvSpPr>
            <a:spLocks noChangeShapeType="1"/>
          </p:cNvSpPr>
          <p:nvPr/>
        </p:nvSpPr>
        <p:spPr bwMode="auto">
          <a:xfrm flipH="1" flipV="1">
            <a:off x="6240258" y="5376924"/>
            <a:ext cx="0" cy="958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aphicFrame>
        <p:nvGraphicFramePr>
          <p:cNvPr id="1030" name="Object 528"/>
          <p:cNvGraphicFramePr>
            <a:graphicFrameLocks noChangeAspect="1"/>
          </p:cNvGraphicFramePr>
          <p:nvPr/>
        </p:nvGraphicFramePr>
        <p:xfrm>
          <a:off x="5139622" y="5123398"/>
          <a:ext cx="399558" cy="359327"/>
        </p:xfrm>
        <a:graphic>
          <a:graphicData uri="http://schemas.openxmlformats.org/presentationml/2006/ole">
            <mc:AlternateContent xmlns:mc="http://schemas.openxmlformats.org/markup-compatibility/2006">
              <mc:Choice xmlns:v="urn:schemas-microsoft-com:vml" Requires="v">
                <p:oleObj name="Clip" r:id="rId10" imgW="1307263" imgH="1084139" progId="">
                  <p:embed/>
                </p:oleObj>
              </mc:Choice>
              <mc:Fallback>
                <p:oleObj name="Clip" r:id="rId10" imgW="1307263" imgH="1084139" progId="">
                  <p:embed/>
                  <p:pic>
                    <p:nvPicPr>
                      <p:cNvPr id="1030" name="Object 5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39622" y="5123398"/>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529"/>
          <p:cNvGraphicFramePr>
            <a:graphicFrameLocks noChangeAspect="1"/>
          </p:cNvGraphicFramePr>
          <p:nvPr/>
        </p:nvGraphicFramePr>
        <p:xfrm>
          <a:off x="5332002" y="4724146"/>
          <a:ext cx="399558" cy="359327"/>
        </p:xfrm>
        <a:graphic>
          <a:graphicData uri="http://schemas.openxmlformats.org/presentationml/2006/ole">
            <mc:AlternateContent xmlns:mc="http://schemas.openxmlformats.org/markup-compatibility/2006">
              <mc:Choice xmlns:v="urn:schemas-microsoft-com:vml" Requires="v">
                <p:oleObj name="Clip" r:id="rId11" imgW="1307263" imgH="1084139" progId="">
                  <p:embed/>
                </p:oleObj>
              </mc:Choice>
              <mc:Fallback>
                <p:oleObj name="Clip" r:id="rId11" imgW="1307263" imgH="1084139" progId="">
                  <p:embed/>
                  <p:pic>
                    <p:nvPicPr>
                      <p:cNvPr id="1031" name="Object 5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2002" y="4724146"/>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530"/>
          <p:cNvGraphicFramePr>
            <a:graphicFrameLocks noChangeAspect="1"/>
          </p:cNvGraphicFramePr>
          <p:nvPr/>
        </p:nvGraphicFramePr>
        <p:xfrm>
          <a:off x="5642770" y="5442800"/>
          <a:ext cx="399558" cy="359327"/>
        </p:xfrm>
        <a:graphic>
          <a:graphicData uri="http://schemas.openxmlformats.org/presentationml/2006/ole">
            <mc:AlternateContent xmlns:mc="http://schemas.openxmlformats.org/markup-compatibility/2006">
              <mc:Choice xmlns:v="urn:schemas-microsoft-com:vml" Requires="v">
                <p:oleObj name="Clip" r:id="rId12" imgW="1307263" imgH="1084139" progId="">
                  <p:embed/>
                </p:oleObj>
              </mc:Choice>
              <mc:Fallback>
                <p:oleObj name="Clip" r:id="rId12" imgW="1307263" imgH="1084139" progId="">
                  <p:embed/>
                  <p:pic>
                    <p:nvPicPr>
                      <p:cNvPr id="1032" name="Object 5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42770" y="5442800"/>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3" name="Object 531"/>
          <p:cNvGraphicFramePr>
            <a:graphicFrameLocks noChangeAspect="1"/>
          </p:cNvGraphicFramePr>
          <p:nvPr/>
        </p:nvGraphicFramePr>
        <p:xfrm>
          <a:off x="6038629" y="5446792"/>
          <a:ext cx="399558" cy="359327"/>
        </p:xfrm>
        <a:graphic>
          <a:graphicData uri="http://schemas.openxmlformats.org/presentationml/2006/ole">
            <mc:AlternateContent xmlns:mc="http://schemas.openxmlformats.org/markup-compatibility/2006">
              <mc:Choice xmlns:v="urn:schemas-microsoft-com:vml" Requires="v">
                <p:oleObj name="Clip" r:id="rId13" imgW="1307263" imgH="1084139" progId="">
                  <p:embed/>
                </p:oleObj>
              </mc:Choice>
              <mc:Fallback>
                <p:oleObj name="Clip" r:id="rId13" imgW="1307263" imgH="1084139" progId="">
                  <p:embed/>
                  <p:pic>
                    <p:nvPicPr>
                      <p:cNvPr id="1033" name="Object 5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38629" y="5446792"/>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42" name="Group 532"/>
          <p:cNvGrpSpPr>
            <a:grpSpLocks/>
          </p:cNvGrpSpPr>
          <p:nvPr/>
        </p:nvGrpSpPr>
        <p:grpSpPr bwMode="auto">
          <a:xfrm>
            <a:off x="7096720" y="5604497"/>
            <a:ext cx="318167" cy="429196"/>
            <a:chOff x="2870" y="1518"/>
            <a:chExt cx="292" cy="320"/>
          </a:xfrm>
        </p:grpSpPr>
        <p:graphicFrame>
          <p:nvGraphicFramePr>
            <p:cNvPr id="1036" name="Object 5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4" imgW="826829" imgH="840406" progId="">
                    <p:embed/>
                  </p:oleObj>
                </mc:Choice>
                <mc:Fallback>
                  <p:oleObj name="Clip" r:id="rId14" imgW="826829" imgH="840406" progId="">
                    <p:embed/>
                    <p:pic>
                      <p:nvPicPr>
                        <p:cNvPr id="1036" name="Object 5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7" name="Object 5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5" imgW="1268295" imgH="1199426" progId="">
                    <p:embed/>
                  </p:oleObj>
                </mc:Choice>
                <mc:Fallback>
                  <p:oleObj name="Clip" r:id="rId15" imgW="1268295" imgH="1199426" progId="">
                    <p:embed/>
                    <p:pic>
                      <p:nvPicPr>
                        <p:cNvPr id="1037" name="Object 5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43" name="Group 535"/>
          <p:cNvGrpSpPr>
            <a:grpSpLocks/>
          </p:cNvGrpSpPr>
          <p:nvPr/>
        </p:nvGrpSpPr>
        <p:grpSpPr bwMode="auto">
          <a:xfrm>
            <a:off x="6571374" y="5668378"/>
            <a:ext cx="406958" cy="405241"/>
            <a:chOff x="2870" y="1518"/>
            <a:chExt cx="292" cy="320"/>
          </a:xfrm>
        </p:grpSpPr>
        <p:graphicFrame>
          <p:nvGraphicFramePr>
            <p:cNvPr id="1034" name="Object 5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6" imgW="826829" imgH="840406" progId="">
                    <p:embed/>
                  </p:oleObj>
                </mc:Choice>
                <mc:Fallback>
                  <p:oleObj name="Clip" r:id="rId16" imgW="826829" imgH="840406" progId="">
                    <p:embed/>
                    <p:pic>
                      <p:nvPicPr>
                        <p:cNvPr id="1034" name="Object 5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5" name="Object 5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
                    <p:embed/>
                  </p:oleObj>
                </mc:Choice>
                <mc:Fallback>
                  <p:oleObj name="Clip" r:id="rId17" imgW="1268295" imgH="1199426" progId="">
                    <p:embed/>
                    <p:pic>
                      <p:nvPicPr>
                        <p:cNvPr id="1035" name="Object 5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45" name="Group 538"/>
          <p:cNvGrpSpPr>
            <a:grpSpLocks/>
          </p:cNvGrpSpPr>
          <p:nvPr/>
        </p:nvGrpSpPr>
        <p:grpSpPr bwMode="auto">
          <a:xfrm>
            <a:off x="6754505" y="5181290"/>
            <a:ext cx="338515" cy="509047"/>
            <a:chOff x="2556" y="2689"/>
            <a:chExt cx="183" cy="255"/>
          </a:xfrm>
        </p:grpSpPr>
        <p:pic>
          <p:nvPicPr>
            <p:cNvPr id="1208" name="Picture 539" descr="31u_bnrz[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09" y="2770"/>
              <a:ext cx="1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9" name="Freeform 540"/>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10" name="Freeform 541"/>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11" name="Freeform 542"/>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12" name="Freeform 543"/>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13" name="Freeform 544"/>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14" name="Freeform 545"/>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15" name="Freeform 546"/>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16" name="Freeform 547"/>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17" name="Freeform 548"/>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18" name="Freeform 549"/>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19" name="Freeform 550"/>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20" name="Freeform 551"/>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21" name="Freeform 552"/>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22" name="Freeform 553"/>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23" name="Freeform 554"/>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24" name="Freeform 555"/>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sp>
        <p:nvSpPr>
          <p:cNvPr id="1181" name="Line 556"/>
          <p:cNvSpPr>
            <a:spLocks noChangeShapeType="1"/>
          </p:cNvSpPr>
          <p:nvPr/>
        </p:nvSpPr>
        <p:spPr bwMode="auto">
          <a:xfrm>
            <a:off x="6334598" y="5199256"/>
            <a:ext cx="586389" cy="3393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82" name="Line 557"/>
          <p:cNvSpPr>
            <a:spLocks noChangeShapeType="1"/>
          </p:cNvSpPr>
          <p:nvPr/>
        </p:nvSpPr>
        <p:spPr bwMode="auto">
          <a:xfrm>
            <a:off x="5692715" y="5117409"/>
            <a:ext cx="943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1046" name="Group 558"/>
          <p:cNvGrpSpPr>
            <a:grpSpLocks/>
          </p:cNvGrpSpPr>
          <p:nvPr/>
        </p:nvGrpSpPr>
        <p:grpSpPr bwMode="auto">
          <a:xfrm>
            <a:off x="7995726" y="5193268"/>
            <a:ext cx="242325" cy="515036"/>
            <a:chOff x="4180" y="783"/>
            <a:chExt cx="150" cy="307"/>
          </a:xfrm>
        </p:grpSpPr>
        <p:sp>
          <p:nvSpPr>
            <p:cNvPr id="1200" name="AutoShape 559"/>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1201" name="Rectangle 560"/>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1202" name="Rectangle 56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03" name="AutoShape 56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04" name="Line 563"/>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05" name="Line 564"/>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06" name="Rectangle 56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207" name="Rectangle 566"/>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grpSp>
      <p:sp>
        <p:nvSpPr>
          <p:cNvPr id="1184" name="Line 567"/>
          <p:cNvSpPr>
            <a:spLocks noChangeShapeType="1"/>
          </p:cNvSpPr>
          <p:nvPr/>
        </p:nvSpPr>
        <p:spPr bwMode="auto">
          <a:xfrm flipH="1">
            <a:off x="5796304" y="3258890"/>
            <a:ext cx="3699" cy="1816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85" name="Line 568"/>
          <p:cNvSpPr>
            <a:spLocks noChangeShapeType="1"/>
          </p:cNvSpPr>
          <p:nvPr/>
        </p:nvSpPr>
        <p:spPr bwMode="auto">
          <a:xfrm flipV="1">
            <a:off x="7307598" y="1979286"/>
            <a:ext cx="144285" cy="1097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86" name="Line 569"/>
          <p:cNvSpPr>
            <a:spLocks noChangeShapeType="1"/>
          </p:cNvSpPr>
          <p:nvPr/>
        </p:nvSpPr>
        <p:spPr bwMode="auto">
          <a:xfrm>
            <a:off x="7105969" y="2196879"/>
            <a:ext cx="0" cy="1038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87" name="Line 570"/>
          <p:cNvSpPr>
            <a:spLocks noChangeShapeType="1"/>
          </p:cNvSpPr>
          <p:nvPr/>
        </p:nvSpPr>
        <p:spPr bwMode="auto">
          <a:xfrm flipV="1">
            <a:off x="7320547" y="2067122"/>
            <a:ext cx="307069" cy="363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88" name="Line 571"/>
          <p:cNvSpPr>
            <a:spLocks noChangeShapeType="1"/>
          </p:cNvSpPr>
          <p:nvPr/>
        </p:nvSpPr>
        <p:spPr bwMode="auto">
          <a:xfrm>
            <a:off x="7731204" y="2065125"/>
            <a:ext cx="0" cy="247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89" name="Line 572"/>
          <p:cNvSpPr>
            <a:spLocks noChangeShapeType="1"/>
          </p:cNvSpPr>
          <p:nvPr/>
        </p:nvSpPr>
        <p:spPr bwMode="auto">
          <a:xfrm>
            <a:off x="7327945" y="2450404"/>
            <a:ext cx="22012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90" name="Line 573"/>
          <p:cNvSpPr>
            <a:spLocks noChangeShapeType="1"/>
          </p:cNvSpPr>
          <p:nvPr/>
        </p:nvSpPr>
        <p:spPr bwMode="auto">
          <a:xfrm flipV="1">
            <a:off x="5341251" y="3540363"/>
            <a:ext cx="196080" cy="39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91" name="Line 574"/>
          <p:cNvSpPr>
            <a:spLocks noChangeShapeType="1"/>
          </p:cNvSpPr>
          <p:nvPr/>
        </p:nvSpPr>
        <p:spPr bwMode="auto">
          <a:xfrm flipV="1">
            <a:off x="7810745" y="1687832"/>
            <a:ext cx="277471" cy="2116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92" name="Line 575"/>
          <p:cNvSpPr>
            <a:spLocks noChangeShapeType="1"/>
          </p:cNvSpPr>
          <p:nvPr/>
        </p:nvSpPr>
        <p:spPr bwMode="auto">
          <a:xfrm>
            <a:off x="7973529" y="2438427"/>
            <a:ext cx="2071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93" name="Line 576"/>
          <p:cNvSpPr>
            <a:spLocks noChangeShapeType="1"/>
          </p:cNvSpPr>
          <p:nvPr/>
        </p:nvSpPr>
        <p:spPr bwMode="auto">
          <a:xfrm flipH="1">
            <a:off x="6978331" y="2534247"/>
            <a:ext cx="114688" cy="8863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94" name="Line 577"/>
          <p:cNvSpPr>
            <a:spLocks noChangeShapeType="1"/>
          </p:cNvSpPr>
          <p:nvPr/>
        </p:nvSpPr>
        <p:spPr bwMode="auto">
          <a:xfrm flipH="1">
            <a:off x="7666460" y="2534247"/>
            <a:ext cx="129487" cy="914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95" name="Text Box 578"/>
          <p:cNvSpPr txBox="1">
            <a:spLocks noChangeArrowheads="1"/>
          </p:cNvSpPr>
          <p:nvPr/>
        </p:nvSpPr>
        <p:spPr bwMode="auto">
          <a:xfrm>
            <a:off x="4716016" y="2384527"/>
            <a:ext cx="1777666" cy="431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dirty="0" err="1">
                <a:latin typeface="+mn-lt"/>
              </a:rPr>
              <a:t>Heimnetzwerk</a:t>
            </a:r>
            <a:endParaRPr lang="en-US" sz="1800" dirty="0">
              <a:latin typeface="+mn-lt"/>
            </a:endParaRPr>
          </a:p>
        </p:txBody>
      </p:sp>
      <p:sp>
        <p:nvSpPr>
          <p:cNvPr id="1196" name="Text Box 579"/>
          <p:cNvSpPr txBox="1">
            <a:spLocks noChangeArrowheads="1"/>
          </p:cNvSpPr>
          <p:nvPr/>
        </p:nvSpPr>
        <p:spPr bwMode="auto">
          <a:xfrm>
            <a:off x="5258010" y="4159204"/>
            <a:ext cx="1265269" cy="431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dirty="0">
                <a:latin typeface="+mn-lt"/>
              </a:rPr>
              <a:t>Institution</a:t>
            </a:r>
          </a:p>
        </p:txBody>
      </p:sp>
      <p:sp>
        <p:nvSpPr>
          <p:cNvPr id="1198" name="Text Box 581"/>
          <p:cNvSpPr txBox="1">
            <a:spLocks noChangeArrowheads="1"/>
          </p:cNvSpPr>
          <p:nvPr/>
        </p:nvSpPr>
        <p:spPr bwMode="auto">
          <a:xfrm>
            <a:off x="6837746" y="1196752"/>
            <a:ext cx="1613033" cy="431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dirty="0" err="1">
                <a:latin typeface="+mn-lt"/>
              </a:rPr>
              <a:t>Globaler</a:t>
            </a:r>
            <a:r>
              <a:rPr lang="en-US" sz="1800" dirty="0">
                <a:latin typeface="+mn-lt"/>
              </a:rPr>
              <a:t> ISP</a:t>
            </a:r>
          </a:p>
        </p:txBody>
      </p:sp>
      <p:sp>
        <p:nvSpPr>
          <p:cNvPr id="1199" name="Text Box 582"/>
          <p:cNvSpPr txBox="1">
            <a:spLocks noChangeArrowheads="1"/>
          </p:cNvSpPr>
          <p:nvPr/>
        </p:nvSpPr>
        <p:spPr bwMode="auto">
          <a:xfrm>
            <a:off x="6599121" y="2937491"/>
            <a:ext cx="1920101" cy="431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dirty="0" err="1">
                <a:latin typeface="+mn-lt"/>
              </a:rPr>
              <a:t>Regionaler</a:t>
            </a:r>
            <a:r>
              <a:rPr lang="en-US" sz="1800" dirty="0">
                <a:latin typeface="+mn-lt"/>
              </a:rPr>
              <a:t> ISP</a:t>
            </a:r>
          </a:p>
        </p:txBody>
      </p:sp>
    </p:spTree>
    <p:extLst>
      <p:ext uri="{BB962C8B-B14F-4D97-AF65-F5344CB8AC3E}">
        <p14:creationId xmlns:p14="http://schemas.microsoft.com/office/powerpoint/2010/main" val="22755892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Beispiel Subnetze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21</a:t>
            </a:fld>
            <a:endParaRPr lang="en-US" noProof="0" dirty="0"/>
          </a:p>
        </p:txBody>
      </p:sp>
      <p:sp>
        <p:nvSpPr>
          <p:cNvPr id="6" name="Ellipse 5"/>
          <p:cNvSpPr/>
          <p:nvPr/>
        </p:nvSpPr>
        <p:spPr>
          <a:xfrm>
            <a:off x="2699792" y="1257359"/>
            <a:ext cx="4392488" cy="791271"/>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de-DE" dirty="0"/>
              <a:t>Uni Heidelberg, von außen sichtbar</a:t>
            </a:r>
          </a:p>
        </p:txBody>
      </p:sp>
      <p:sp>
        <p:nvSpPr>
          <p:cNvPr id="7" name="Ellipse 6"/>
          <p:cNvSpPr/>
          <p:nvPr/>
        </p:nvSpPr>
        <p:spPr>
          <a:xfrm>
            <a:off x="755576" y="2193464"/>
            <a:ext cx="3888432" cy="1133872"/>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de-DE" dirty="0"/>
              <a:t>64k IP-Adressen:</a:t>
            </a:r>
          </a:p>
          <a:p>
            <a:pPr algn="ctr"/>
            <a:r>
              <a:rPr lang="de-DE" dirty="0"/>
              <a:t>129.206/16</a:t>
            </a:r>
          </a:p>
          <a:p>
            <a:pPr algn="ctr"/>
            <a:r>
              <a:rPr lang="de-DE" dirty="0"/>
              <a:t>(nördlich von Neckar)</a:t>
            </a:r>
          </a:p>
        </p:txBody>
      </p:sp>
      <p:sp>
        <p:nvSpPr>
          <p:cNvPr id="8" name="Ellipse 7"/>
          <p:cNvSpPr/>
          <p:nvPr/>
        </p:nvSpPr>
        <p:spPr>
          <a:xfrm>
            <a:off x="4944705" y="2192647"/>
            <a:ext cx="4101585" cy="1133872"/>
          </a:xfrm>
          <a:prstGeom prst="ellipse">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de-DE" dirty="0"/>
              <a:t>64k IP-Adressen:</a:t>
            </a:r>
          </a:p>
          <a:p>
            <a:pPr algn="ctr"/>
            <a:r>
              <a:rPr lang="de-DE" dirty="0"/>
              <a:t>147.142/16</a:t>
            </a:r>
          </a:p>
          <a:p>
            <a:pPr algn="ctr"/>
            <a:r>
              <a:rPr lang="de-DE" dirty="0"/>
              <a:t>(südlich von Neckar + MA)</a:t>
            </a:r>
          </a:p>
        </p:txBody>
      </p:sp>
      <p:cxnSp>
        <p:nvCxnSpPr>
          <p:cNvPr id="10" name="Gerade Verbindung mit Pfeil 9"/>
          <p:cNvCxnSpPr>
            <a:stCxn id="6" idx="3"/>
            <a:endCxn id="7" idx="0"/>
          </p:cNvCxnSpPr>
          <p:nvPr/>
        </p:nvCxnSpPr>
        <p:spPr>
          <a:xfrm flipH="1">
            <a:off x="2699792" y="1932751"/>
            <a:ext cx="643265" cy="260713"/>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p:cNvCxnSpPr>
            <a:stCxn id="6" idx="5"/>
            <a:endCxn id="8" idx="0"/>
          </p:cNvCxnSpPr>
          <p:nvPr/>
        </p:nvCxnSpPr>
        <p:spPr>
          <a:xfrm>
            <a:off x="6449015" y="1932751"/>
            <a:ext cx="546483" cy="259896"/>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8" name="Gruppieren 27"/>
          <p:cNvGrpSpPr/>
          <p:nvPr/>
        </p:nvGrpSpPr>
        <p:grpSpPr>
          <a:xfrm>
            <a:off x="611560" y="3275644"/>
            <a:ext cx="6912768" cy="3220044"/>
            <a:chOff x="107504" y="3161284"/>
            <a:chExt cx="6912768" cy="3220044"/>
          </a:xfrm>
        </p:grpSpPr>
        <p:sp>
          <p:nvSpPr>
            <p:cNvPr id="14" name="Abgerundetes Rechteck 13"/>
            <p:cNvSpPr/>
            <p:nvPr/>
          </p:nvSpPr>
          <p:spPr>
            <a:xfrm>
              <a:off x="107504" y="3671304"/>
              <a:ext cx="1800200" cy="792088"/>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Medizin: 16k Adressen</a:t>
              </a:r>
            </a:p>
          </p:txBody>
        </p:sp>
        <p:sp>
          <p:nvSpPr>
            <p:cNvPr id="15" name="Abgerundetes Rechteck 14"/>
            <p:cNvSpPr/>
            <p:nvPr/>
          </p:nvSpPr>
          <p:spPr>
            <a:xfrm>
              <a:off x="1259632" y="4851275"/>
              <a:ext cx="1800200" cy="792088"/>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Physik: 16k Adressen</a:t>
              </a:r>
            </a:p>
          </p:txBody>
        </p:sp>
        <p:sp>
          <p:nvSpPr>
            <p:cNvPr id="16" name="Abgerundetes Rechteck 15"/>
            <p:cNvSpPr/>
            <p:nvPr/>
          </p:nvSpPr>
          <p:spPr>
            <a:xfrm>
              <a:off x="5220072" y="5589240"/>
              <a:ext cx="1800200" cy="792088"/>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Informatik: 1k Adressen</a:t>
              </a:r>
            </a:p>
          </p:txBody>
        </p:sp>
        <p:sp>
          <p:nvSpPr>
            <p:cNvPr id="17" name="Textfeld 16"/>
            <p:cNvSpPr txBox="1"/>
            <p:nvPr/>
          </p:nvSpPr>
          <p:spPr>
            <a:xfrm>
              <a:off x="3976482" y="5733256"/>
              <a:ext cx="415498" cy="369332"/>
            </a:xfrm>
            <a:prstGeom prst="rect">
              <a:avLst/>
            </a:prstGeom>
            <a:noFill/>
          </p:spPr>
          <p:txBody>
            <a:bodyPr wrap="none" rtlCol="0">
              <a:spAutoFit/>
            </a:bodyPr>
            <a:lstStyle/>
            <a:p>
              <a:r>
                <a:rPr lang="de-DE" dirty="0"/>
                <a:t>…</a:t>
              </a:r>
            </a:p>
          </p:txBody>
        </p:sp>
        <p:cxnSp>
          <p:nvCxnSpPr>
            <p:cNvPr id="19" name="Gerade Verbindung mit Pfeil 18"/>
            <p:cNvCxnSpPr>
              <a:stCxn id="7" idx="3"/>
              <a:endCxn id="14" idx="0"/>
            </p:cNvCxnSpPr>
            <p:nvPr/>
          </p:nvCxnSpPr>
          <p:spPr>
            <a:xfrm flipH="1">
              <a:off x="1007604" y="3161284"/>
              <a:ext cx="317420" cy="51002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p:cNvCxnSpPr>
              <a:stCxn id="7" idx="4"/>
              <a:endCxn id="15" idx="0"/>
            </p:cNvCxnSpPr>
            <p:nvPr/>
          </p:nvCxnSpPr>
          <p:spPr>
            <a:xfrm flipH="1">
              <a:off x="2159732" y="3327336"/>
              <a:ext cx="540060" cy="1523939"/>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Gerade Verbindung mit Pfeil 24"/>
            <p:cNvCxnSpPr>
              <a:stCxn id="7" idx="5"/>
              <a:endCxn id="16" idx="0"/>
            </p:cNvCxnSpPr>
            <p:nvPr/>
          </p:nvCxnSpPr>
          <p:spPr>
            <a:xfrm>
              <a:off x="4074560" y="3161284"/>
              <a:ext cx="2045612" cy="2427956"/>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75443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lIns="0" tIns="0" rIns="0" bIns="0"/>
          <a:lstStyle/>
          <a:p>
            <a:pPr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de-DE" dirty="0"/>
              <a:t>Adressierung von Subnetzen /1</a:t>
            </a:r>
          </a:p>
        </p:txBody>
      </p:sp>
      <p:sp>
        <p:nvSpPr>
          <p:cNvPr id="26" name="Slide Number Placeholder 6"/>
          <p:cNvSpPr>
            <a:spLocks noGrp="1"/>
          </p:cNvSpPr>
          <p:nvPr>
            <p:ph type="sldNum" sz="quarter" idx="12"/>
          </p:nvPr>
        </p:nvSpPr>
        <p:spPr/>
        <p:txBody>
          <a:bodyPr/>
          <a:lstStyle/>
          <a:p>
            <a:fld id="{DAD4710D-7044-4A3F-B9DE-CA79DBB0B75F}" type="slidenum">
              <a:rPr lang="de-DE" smtClean="0"/>
              <a:pPr/>
              <a:t>22</a:t>
            </a:fld>
            <a:endParaRPr lang="de-DE" dirty="0"/>
          </a:p>
        </p:txBody>
      </p:sp>
      <p:sp>
        <p:nvSpPr>
          <p:cNvPr id="49156" name="Rectangle 3"/>
          <p:cNvSpPr>
            <a:spLocks noGrp="1" noChangeArrowheads="1"/>
          </p:cNvSpPr>
          <p:nvPr>
            <p:ph sz="quarter" idx="1"/>
          </p:nvPr>
        </p:nvSpPr>
        <p:spPr>
          <a:xfrm>
            <a:off x="457200" y="1219200"/>
            <a:ext cx="8229600" cy="1273696"/>
          </a:xfrm>
        </p:spPr>
        <p:txBody>
          <a:bodyPr lIns="81639" tIns="42452" rIns="81639" bIns="42452">
            <a:normAutofit/>
          </a:bodyPr>
          <a:lstStyle/>
          <a:p>
            <a:pPr marL="431800" indent="-323850" defTabSz="449263">
              <a:lnSpc>
                <a:spcPct val="98000"/>
              </a:lnSpc>
              <a:spcBef>
                <a:spcPts val="700"/>
              </a:spcBef>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solidFill>
                  <a:srgbClr val="808080"/>
                </a:solidFill>
              </a:rPr>
              <a:t>Institutionen wollen oft ihre Adressenbereiche aufteilen</a:t>
            </a:r>
          </a:p>
          <a:p>
            <a:pPr marL="431800" indent="-323850" defTabSz="449263">
              <a:spcBef>
                <a:spcPts val="700"/>
              </a:spcBef>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Daher teilt man die </a:t>
            </a:r>
            <a:r>
              <a:rPr lang="de-DE" sz="2400" u="sng" dirty="0"/>
              <a:t>hostid</a:t>
            </a:r>
            <a:r>
              <a:rPr lang="de-DE" sz="2400" dirty="0"/>
              <a:t> weiter auf, z.B. so:</a:t>
            </a:r>
          </a:p>
        </p:txBody>
      </p:sp>
      <p:sp>
        <p:nvSpPr>
          <p:cNvPr id="7" name="Content Placeholder 6"/>
          <p:cNvSpPr>
            <a:spLocks noGrp="1"/>
          </p:cNvSpPr>
          <p:nvPr>
            <p:ph sz="quarter" idx="13"/>
          </p:nvPr>
        </p:nvSpPr>
        <p:spPr>
          <a:xfrm>
            <a:off x="469255" y="3821839"/>
            <a:ext cx="5184575" cy="2952328"/>
          </a:xfrm>
        </p:spPr>
        <p:txBody>
          <a:bodyPr>
            <a:normAutofit lnSpcReduction="10000"/>
          </a:bodyPr>
          <a:lstStyle/>
          <a:p>
            <a:r>
              <a:rPr lang="de-DE" sz="2400" dirty="0"/>
              <a:t>Der Router A kennt die Zuordnung der </a:t>
            </a:r>
            <a:r>
              <a:rPr lang="de-DE" sz="2400" u="sng" dirty="0"/>
              <a:t>Subnetid</a:t>
            </a:r>
            <a:r>
              <a:rPr lang="de-DE" sz="2400" dirty="0"/>
              <a:t> zu den Routern  „unter ihm“ (wie B, C)</a:t>
            </a:r>
          </a:p>
          <a:p>
            <a:r>
              <a:rPr lang="de-DE" sz="2400" dirty="0"/>
              <a:t>Die Router B, C, …, gehören </a:t>
            </a:r>
            <a:br>
              <a:rPr lang="de-DE" sz="2400" dirty="0"/>
            </a:br>
            <a:r>
              <a:rPr lang="de-DE" sz="2400" dirty="0"/>
              <a:t>zu je einem Subnetz und kennen die IP-Adressen aller Interfaces darin sowie die netid+subnetid der </a:t>
            </a:r>
            <a:r>
              <a:rPr lang="de-DE" sz="2400" u="sng" dirty="0"/>
              <a:t>lokalen</a:t>
            </a:r>
            <a:r>
              <a:rPr lang="de-DE" sz="2400" dirty="0"/>
              <a:t> Router (A, B, C)</a:t>
            </a:r>
          </a:p>
          <a:p>
            <a:endParaRPr lang="de-DE" sz="2400" dirty="0"/>
          </a:p>
        </p:txBody>
      </p:sp>
      <p:grpSp>
        <p:nvGrpSpPr>
          <p:cNvPr id="2" name="Group 7"/>
          <p:cNvGrpSpPr/>
          <p:nvPr/>
        </p:nvGrpSpPr>
        <p:grpSpPr>
          <a:xfrm>
            <a:off x="1160737" y="2060848"/>
            <a:ext cx="6687795" cy="806303"/>
            <a:chOff x="1693515" y="3125755"/>
            <a:chExt cx="6687795" cy="806303"/>
          </a:xfrm>
        </p:grpSpPr>
        <p:grpSp>
          <p:nvGrpSpPr>
            <p:cNvPr id="3" name="Group 5"/>
            <p:cNvGrpSpPr>
              <a:grpSpLocks/>
            </p:cNvGrpSpPr>
            <p:nvPr/>
          </p:nvGrpSpPr>
          <p:grpSpPr bwMode="auto">
            <a:xfrm>
              <a:off x="2017365" y="3501008"/>
              <a:ext cx="322263" cy="407988"/>
              <a:chOff x="1347" y="2077"/>
              <a:chExt cx="224" cy="283"/>
            </a:xfrm>
          </p:grpSpPr>
          <p:sp>
            <p:nvSpPr>
              <p:cNvPr id="49175" name="AutoShape 6"/>
              <p:cNvSpPr>
                <a:spLocks noChangeArrowheads="1"/>
              </p:cNvSpPr>
              <p:nvPr/>
            </p:nvSpPr>
            <p:spPr bwMode="auto">
              <a:xfrm>
                <a:off x="1347" y="2077"/>
                <a:ext cx="225" cy="284"/>
              </a:xfrm>
              <a:prstGeom prst="roundRect">
                <a:avLst>
                  <a:gd name="adj" fmla="val 444"/>
                </a:avLst>
              </a:prstGeom>
              <a:noFill/>
              <a:ln w="12600">
                <a:solidFill>
                  <a:srgbClr val="000000"/>
                </a:solidFill>
                <a:round/>
                <a:headEnd/>
                <a:tailEnd/>
              </a:ln>
            </p:spPr>
            <p:txBody>
              <a:bodyPr wrap="none" anchor="ctr"/>
              <a:lstStyle/>
              <a:p>
                <a:endParaRPr lang="de-DE"/>
              </a:p>
            </p:txBody>
          </p:sp>
          <p:sp>
            <p:nvSpPr>
              <p:cNvPr id="49176" name="Text Box 7"/>
              <p:cNvSpPr txBox="1">
                <a:spLocks noChangeArrowheads="1"/>
              </p:cNvSpPr>
              <p:nvPr/>
            </p:nvSpPr>
            <p:spPr bwMode="auto">
              <a:xfrm>
                <a:off x="1347" y="2077"/>
                <a:ext cx="225" cy="284"/>
              </a:xfrm>
              <a:prstGeom prst="rect">
                <a:avLst/>
              </a:prstGeom>
              <a:noFill/>
              <a:ln w="9525">
                <a:noFill/>
                <a:round/>
                <a:headEnd/>
                <a:tailEnd/>
              </a:ln>
            </p:spPr>
            <p:txBody>
              <a:bodyPr lIns="81639" tIns="42452" rIns="81639" bIns="42452" anchor="ctr"/>
              <a:lstStyle/>
              <a:p>
                <a:pPr algn="ctr" defTabSz="828675" eaLnBrk="1">
                  <a:lnSpc>
                    <a:spcPct val="98000"/>
                  </a:lnSpc>
                  <a:spcBef>
                    <a:spcPts val="1138"/>
                  </a:spcBef>
                  <a:buClr>
                    <a:srgbClr val="000000"/>
                  </a:buClr>
                  <a:buSzPct val="45000"/>
                  <a:buFont typeface="Wingdings" pitchFamily="2" charset="2"/>
                  <a:buNone/>
                </a:pPr>
                <a:r>
                  <a:rPr lang="de-DE">
                    <a:solidFill>
                      <a:srgbClr val="000000"/>
                    </a:solidFill>
                    <a:latin typeface="Bitstream Vera Sans" charset="0"/>
                  </a:rPr>
                  <a:t>0</a:t>
                </a:r>
              </a:p>
            </p:txBody>
          </p:sp>
        </p:grpSp>
        <p:grpSp>
          <p:nvGrpSpPr>
            <p:cNvPr id="4" name="Group 8"/>
            <p:cNvGrpSpPr>
              <a:grpSpLocks/>
            </p:cNvGrpSpPr>
            <p:nvPr/>
          </p:nvGrpSpPr>
          <p:grpSpPr bwMode="auto">
            <a:xfrm>
              <a:off x="2339628" y="3501008"/>
              <a:ext cx="2755900" cy="407988"/>
              <a:chOff x="1571" y="2077"/>
              <a:chExt cx="1914" cy="283"/>
            </a:xfrm>
          </p:grpSpPr>
          <p:sp>
            <p:nvSpPr>
              <p:cNvPr id="49173" name="AutoShape 9"/>
              <p:cNvSpPr>
                <a:spLocks noChangeArrowheads="1"/>
              </p:cNvSpPr>
              <p:nvPr/>
            </p:nvSpPr>
            <p:spPr bwMode="auto">
              <a:xfrm>
                <a:off x="1571" y="2077"/>
                <a:ext cx="1915" cy="284"/>
              </a:xfrm>
              <a:prstGeom prst="roundRect">
                <a:avLst>
                  <a:gd name="adj" fmla="val 352"/>
                </a:avLst>
              </a:prstGeom>
              <a:noFill/>
              <a:ln w="12600">
                <a:solidFill>
                  <a:srgbClr val="000000"/>
                </a:solidFill>
                <a:round/>
                <a:headEnd/>
                <a:tailEnd/>
              </a:ln>
            </p:spPr>
            <p:txBody>
              <a:bodyPr wrap="none" anchor="ctr"/>
              <a:lstStyle/>
              <a:p>
                <a:endParaRPr lang="de-DE"/>
              </a:p>
            </p:txBody>
          </p:sp>
          <p:sp>
            <p:nvSpPr>
              <p:cNvPr id="49174" name="Text Box 10"/>
              <p:cNvSpPr txBox="1">
                <a:spLocks noChangeArrowheads="1"/>
              </p:cNvSpPr>
              <p:nvPr/>
            </p:nvSpPr>
            <p:spPr bwMode="auto">
              <a:xfrm>
                <a:off x="1571" y="2077"/>
                <a:ext cx="1915" cy="284"/>
              </a:xfrm>
              <a:prstGeom prst="rect">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 pos="1970088" algn="l"/>
                    <a:tab pos="2627313" algn="l"/>
                  </a:tabLst>
                </a:pPr>
                <a:r>
                  <a:rPr lang="de-DE" b="1" dirty="0" err="1">
                    <a:solidFill>
                      <a:srgbClr val="0070C0"/>
                    </a:solidFill>
                    <a:latin typeface="Bitstream Vera Sans" charset="0"/>
                  </a:rPr>
                  <a:t>netid</a:t>
                </a:r>
                <a:endParaRPr lang="de-DE" b="1" dirty="0">
                  <a:solidFill>
                    <a:srgbClr val="0070C0"/>
                  </a:solidFill>
                  <a:latin typeface="Bitstream Vera Sans" charset="0"/>
                </a:endParaRPr>
              </a:p>
            </p:txBody>
          </p:sp>
        </p:grpSp>
        <p:sp>
          <p:nvSpPr>
            <p:cNvPr id="49160" name="AutoShape 11"/>
            <p:cNvSpPr>
              <a:spLocks noChangeArrowheads="1"/>
            </p:cNvSpPr>
            <p:nvPr/>
          </p:nvSpPr>
          <p:spPr bwMode="auto">
            <a:xfrm>
              <a:off x="3284910" y="3125755"/>
              <a:ext cx="866775"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Lst>
              </a:pPr>
              <a:r>
                <a:rPr lang="de-DE" dirty="0">
                  <a:solidFill>
                    <a:srgbClr val="000000"/>
                  </a:solidFill>
                  <a:latin typeface="Bitstream Vera Sans" charset="0"/>
                </a:rPr>
                <a:t>14 Bit</a:t>
              </a:r>
            </a:p>
          </p:txBody>
        </p:sp>
        <p:grpSp>
          <p:nvGrpSpPr>
            <p:cNvPr id="5" name="Group 12"/>
            <p:cNvGrpSpPr>
              <a:grpSpLocks/>
            </p:cNvGrpSpPr>
            <p:nvPr/>
          </p:nvGrpSpPr>
          <p:grpSpPr bwMode="auto">
            <a:xfrm>
              <a:off x="6748069" y="3501004"/>
              <a:ext cx="1633241" cy="431054"/>
              <a:chOff x="4632" y="2077"/>
              <a:chExt cx="1135" cy="299"/>
            </a:xfrm>
          </p:grpSpPr>
          <p:sp>
            <p:nvSpPr>
              <p:cNvPr id="49171" name="AutoShape 13"/>
              <p:cNvSpPr>
                <a:spLocks noChangeArrowheads="1"/>
              </p:cNvSpPr>
              <p:nvPr/>
            </p:nvSpPr>
            <p:spPr bwMode="auto">
              <a:xfrm>
                <a:off x="4632" y="2077"/>
                <a:ext cx="1134" cy="284"/>
              </a:xfrm>
              <a:prstGeom prst="roundRect">
                <a:avLst>
                  <a:gd name="adj" fmla="val 352"/>
                </a:avLst>
              </a:prstGeom>
              <a:noFill/>
              <a:ln w="12600">
                <a:solidFill>
                  <a:srgbClr val="000000"/>
                </a:solidFill>
                <a:round/>
                <a:headEnd/>
                <a:tailEnd/>
              </a:ln>
            </p:spPr>
            <p:txBody>
              <a:bodyPr wrap="none" anchor="ctr"/>
              <a:lstStyle/>
              <a:p>
                <a:endParaRPr lang="de-DE"/>
              </a:p>
            </p:txBody>
          </p:sp>
          <p:sp>
            <p:nvSpPr>
              <p:cNvPr id="49172" name="Text Box 14"/>
              <p:cNvSpPr txBox="1">
                <a:spLocks noChangeArrowheads="1"/>
              </p:cNvSpPr>
              <p:nvPr/>
            </p:nvSpPr>
            <p:spPr bwMode="auto">
              <a:xfrm>
                <a:off x="4633" y="2092"/>
                <a:ext cx="1134" cy="284"/>
              </a:xfrm>
              <a:prstGeom prst="rect">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Lst>
                </a:pPr>
                <a:r>
                  <a:rPr lang="de-DE" sz="1400" dirty="0" err="1">
                    <a:solidFill>
                      <a:srgbClr val="000000"/>
                    </a:solidFill>
                    <a:latin typeface="Bitstream Vera Sans" charset="0"/>
                  </a:rPr>
                  <a:t>Hostid</a:t>
                </a:r>
                <a:r>
                  <a:rPr lang="de-DE" sz="1400" dirty="0">
                    <a:solidFill>
                      <a:srgbClr val="000000"/>
                    </a:solidFill>
                    <a:latin typeface="Bitstream Vera Sans" charset="0"/>
                  </a:rPr>
                  <a:t> im Subnetz</a:t>
                </a:r>
              </a:p>
            </p:txBody>
          </p:sp>
        </p:grpSp>
        <p:sp>
          <p:nvSpPr>
            <p:cNvPr id="49162" name="AutoShape 15"/>
            <p:cNvSpPr>
              <a:spLocks noChangeArrowheads="1"/>
            </p:cNvSpPr>
            <p:nvPr/>
          </p:nvSpPr>
          <p:spPr bwMode="auto">
            <a:xfrm>
              <a:off x="5512428" y="3127592"/>
              <a:ext cx="739775"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Lst>
              </a:pPr>
              <a:r>
                <a:rPr lang="de-DE" dirty="0">
                  <a:solidFill>
                    <a:srgbClr val="000000"/>
                  </a:solidFill>
                  <a:latin typeface="Bitstream Vera Sans" charset="0"/>
                </a:rPr>
                <a:t>8 Bit</a:t>
              </a:r>
            </a:p>
          </p:txBody>
        </p:sp>
        <p:grpSp>
          <p:nvGrpSpPr>
            <p:cNvPr id="6" name="Group 16"/>
            <p:cNvGrpSpPr>
              <a:grpSpLocks/>
            </p:cNvGrpSpPr>
            <p:nvPr/>
          </p:nvGrpSpPr>
          <p:grpSpPr bwMode="auto">
            <a:xfrm>
              <a:off x="1693515" y="3501008"/>
              <a:ext cx="322263" cy="407988"/>
              <a:chOff x="1122" y="2077"/>
              <a:chExt cx="224" cy="283"/>
            </a:xfrm>
          </p:grpSpPr>
          <p:sp>
            <p:nvSpPr>
              <p:cNvPr id="49169" name="AutoShape 17"/>
              <p:cNvSpPr>
                <a:spLocks noChangeArrowheads="1"/>
              </p:cNvSpPr>
              <p:nvPr/>
            </p:nvSpPr>
            <p:spPr bwMode="auto">
              <a:xfrm>
                <a:off x="1122" y="2077"/>
                <a:ext cx="225" cy="284"/>
              </a:xfrm>
              <a:prstGeom prst="roundRect">
                <a:avLst>
                  <a:gd name="adj" fmla="val 444"/>
                </a:avLst>
              </a:prstGeom>
              <a:noFill/>
              <a:ln w="12600">
                <a:solidFill>
                  <a:srgbClr val="000000"/>
                </a:solidFill>
                <a:round/>
                <a:headEnd/>
                <a:tailEnd/>
              </a:ln>
            </p:spPr>
            <p:txBody>
              <a:bodyPr wrap="none" anchor="ctr"/>
              <a:lstStyle/>
              <a:p>
                <a:endParaRPr lang="de-DE"/>
              </a:p>
            </p:txBody>
          </p:sp>
          <p:sp>
            <p:nvSpPr>
              <p:cNvPr id="49170" name="Text Box 18"/>
              <p:cNvSpPr txBox="1">
                <a:spLocks noChangeArrowheads="1"/>
              </p:cNvSpPr>
              <p:nvPr/>
            </p:nvSpPr>
            <p:spPr bwMode="auto">
              <a:xfrm>
                <a:off x="1122" y="2077"/>
                <a:ext cx="225" cy="284"/>
              </a:xfrm>
              <a:prstGeom prst="rect">
                <a:avLst/>
              </a:prstGeom>
              <a:noFill/>
              <a:ln w="9525">
                <a:noFill/>
                <a:round/>
                <a:headEnd/>
                <a:tailEnd/>
              </a:ln>
            </p:spPr>
            <p:txBody>
              <a:bodyPr lIns="81639" tIns="42452" rIns="81639" bIns="42452" anchor="ctr"/>
              <a:lstStyle/>
              <a:p>
                <a:pPr algn="ctr" defTabSz="828675" eaLnBrk="1">
                  <a:lnSpc>
                    <a:spcPct val="98000"/>
                  </a:lnSpc>
                  <a:spcBef>
                    <a:spcPts val="1138"/>
                  </a:spcBef>
                  <a:buClr>
                    <a:srgbClr val="000000"/>
                  </a:buClr>
                  <a:buSzPct val="45000"/>
                  <a:buFont typeface="Wingdings" pitchFamily="2" charset="2"/>
                  <a:buNone/>
                </a:pPr>
                <a:r>
                  <a:rPr lang="de-DE">
                    <a:solidFill>
                      <a:srgbClr val="000000"/>
                    </a:solidFill>
                    <a:latin typeface="Bitstream Vera Sans" charset="0"/>
                  </a:rPr>
                  <a:t>1</a:t>
                </a:r>
              </a:p>
            </p:txBody>
          </p:sp>
        </p:grpSp>
        <p:grpSp>
          <p:nvGrpSpPr>
            <p:cNvPr id="8" name="Group 19"/>
            <p:cNvGrpSpPr>
              <a:grpSpLocks/>
            </p:cNvGrpSpPr>
            <p:nvPr/>
          </p:nvGrpSpPr>
          <p:grpSpPr bwMode="auto">
            <a:xfrm>
              <a:off x="5097115" y="3501008"/>
              <a:ext cx="1631950" cy="407988"/>
              <a:chOff x="3486" y="2077"/>
              <a:chExt cx="1133" cy="283"/>
            </a:xfrm>
          </p:grpSpPr>
          <p:sp>
            <p:nvSpPr>
              <p:cNvPr id="49167" name="AutoShape 20"/>
              <p:cNvSpPr>
                <a:spLocks noChangeArrowheads="1"/>
              </p:cNvSpPr>
              <p:nvPr/>
            </p:nvSpPr>
            <p:spPr bwMode="auto">
              <a:xfrm>
                <a:off x="3486" y="2077"/>
                <a:ext cx="1134" cy="284"/>
              </a:xfrm>
              <a:prstGeom prst="roundRect">
                <a:avLst>
                  <a:gd name="adj" fmla="val 352"/>
                </a:avLst>
              </a:prstGeom>
              <a:noFill/>
              <a:ln w="12600">
                <a:solidFill>
                  <a:srgbClr val="000000"/>
                </a:solidFill>
                <a:round/>
                <a:headEnd/>
                <a:tailEnd/>
              </a:ln>
            </p:spPr>
            <p:txBody>
              <a:bodyPr wrap="none" anchor="ctr"/>
              <a:lstStyle/>
              <a:p>
                <a:endParaRPr lang="de-DE"/>
              </a:p>
            </p:txBody>
          </p:sp>
          <p:sp>
            <p:nvSpPr>
              <p:cNvPr id="49168" name="Text Box 21"/>
              <p:cNvSpPr txBox="1">
                <a:spLocks noChangeArrowheads="1"/>
              </p:cNvSpPr>
              <p:nvPr/>
            </p:nvSpPr>
            <p:spPr bwMode="auto">
              <a:xfrm>
                <a:off x="3486" y="2077"/>
                <a:ext cx="1134" cy="284"/>
              </a:xfrm>
              <a:prstGeom prst="rect">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Lst>
                </a:pPr>
                <a:r>
                  <a:rPr lang="de-DE" b="1" dirty="0" err="1">
                    <a:solidFill>
                      <a:srgbClr val="7030A0"/>
                    </a:solidFill>
                    <a:latin typeface="Bitstream Vera Sans" charset="0"/>
                  </a:rPr>
                  <a:t>subnetid</a:t>
                </a:r>
                <a:endParaRPr lang="de-DE" b="1" dirty="0">
                  <a:solidFill>
                    <a:srgbClr val="7030A0"/>
                  </a:solidFill>
                  <a:latin typeface="Bitstream Vera Sans" charset="0"/>
                </a:endParaRPr>
              </a:p>
            </p:txBody>
          </p:sp>
        </p:grpSp>
        <p:sp>
          <p:nvSpPr>
            <p:cNvPr id="49165" name="AutoShape 22"/>
            <p:cNvSpPr>
              <a:spLocks noChangeArrowheads="1"/>
            </p:cNvSpPr>
            <p:nvPr/>
          </p:nvSpPr>
          <p:spPr bwMode="auto">
            <a:xfrm>
              <a:off x="7054243" y="3125756"/>
              <a:ext cx="739775"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Lst>
              </a:pPr>
              <a:r>
                <a:rPr lang="de-DE" dirty="0">
                  <a:solidFill>
                    <a:srgbClr val="000000"/>
                  </a:solidFill>
                  <a:latin typeface="Bitstream Vera Sans" charset="0"/>
                </a:rPr>
                <a:t>8 Bit</a:t>
              </a:r>
            </a:p>
          </p:txBody>
        </p:sp>
      </p:grpSp>
      <p:grpSp>
        <p:nvGrpSpPr>
          <p:cNvPr id="9" name="Group 8"/>
          <p:cNvGrpSpPr/>
          <p:nvPr/>
        </p:nvGrpSpPr>
        <p:grpSpPr>
          <a:xfrm>
            <a:off x="5356975" y="4166122"/>
            <a:ext cx="3472090" cy="1830572"/>
            <a:chOff x="5011985" y="4406740"/>
            <a:chExt cx="3472090" cy="1830572"/>
          </a:xfrm>
        </p:grpSpPr>
        <p:sp>
          <p:nvSpPr>
            <p:cNvPr id="27" name="Freeform 463"/>
            <p:cNvSpPr>
              <a:spLocks/>
            </p:cNvSpPr>
            <p:nvPr/>
          </p:nvSpPr>
          <p:spPr bwMode="auto">
            <a:xfrm>
              <a:off x="5011985" y="4406740"/>
              <a:ext cx="3472090" cy="1830572"/>
            </a:xfrm>
            <a:custGeom>
              <a:avLst/>
              <a:gdLst>
                <a:gd name="T0" fmla="*/ 889 w 1877"/>
                <a:gd name="T1" fmla="*/ 23 h 917"/>
                <a:gd name="T2" fmla="*/ 692 w 1877"/>
                <a:gd name="T3" fmla="*/ 109 h 917"/>
                <a:gd name="T4" fmla="*/ 415 w 1877"/>
                <a:gd name="T5" fmla="*/ 91 h 917"/>
                <a:gd name="T6" fmla="*/ 112 w 1877"/>
                <a:gd name="T7" fmla="*/ 170 h 917"/>
                <a:gd name="T8" fmla="*/ 50 w 1877"/>
                <a:gd name="T9" fmla="*/ 353 h 917"/>
                <a:gd name="T10" fmla="*/ 14 w 1877"/>
                <a:gd name="T11" fmla="*/ 528 h 917"/>
                <a:gd name="T12" fmla="*/ 139 w 1877"/>
                <a:gd name="T13" fmla="*/ 650 h 917"/>
                <a:gd name="T14" fmla="*/ 505 w 1877"/>
                <a:gd name="T15" fmla="*/ 781 h 917"/>
                <a:gd name="T16" fmla="*/ 933 w 1877"/>
                <a:gd name="T17" fmla="*/ 886 h 917"/>
                <a:gd name="T18" fmla="*/ 1370 w 1877"/>
                <a:gd name="T19" fmla="*/ 901 h 917"/>
                <a:gd name="T20" fmla="*/ 1676 w 1877"/>
                <a:gd name="T21" fmla="*/ 793 h 917"/>
                <a:gd name="T22" fmla="*/ 1860 w 1877"/>
                <a:gd name="T23" fmla="*/ 624 h 917"/>
                <a:gd name="T24" fmla="*/ 1776 w 1877"/>
                <a:gd name="T25" fmla="*/ 219 h 917"/>
                <a:gd name="T26" fmla="*/ 1503 w 1877"/>
                <a:gd name="T27" fmla="*/ 100 h 917"/>
                <a:gd name="T28" fmla="*/ 1200 w 1877"/>
                <a:gd name="T29" fmla="*/ 13 h 917"/>
                <a:gd name="T30" fmla="*/ 889 w 1877"/>
                <a:gd name="T31" fmla="*/ 2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28" name="Line 464"/>
            <p:cNvSpPr>
              <a:spLocks noChangeShapeType="1"/>
            </p:cNvSpPr>
            <p:nvPr/>
          </p:nvSpPr>
          <p:spPr bwMode="auto">
            <a:xfrm rot="16200000">
              <a:off x="7594201" y="5339449"/>
              <a:ext cx="658767" cy="16278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12" name="Group 465"/>
            <p:cNvGrpSpPr>
              <a:grpSpLocks/>
            </p:cNvGrpSpPr>
            <p:nvPr/>
          </p:nvGrpSpPr>
          <p:grpSpPr bwMode="auto">
            <a:xfrm>
              <a:off x="7516626" y="5504684"/>
              <a:ext cx="231226" cy="459140"/>
              <a:chOff x="4180" y="783"/>
              <a:chExt cx="150" cy="307"/>
            </a:xfrm>
          </p:grpSpPr>
          <p:sp>
            <p:nvSpPr>
              <p:cNvPr id="30" name="AutoShape 466"/>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31" name="Rectangle 467"/>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32" name="Rectangle 468"/>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33" name="AutoShape 46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34" name="Line 470"/>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5" name="Line 471"/>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6" name="Rectangle 472"/>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37" name="Rectangle 473"/>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grpSp>
        <p:sp>
          <p:nvSpPr>
            <p:cNvPr id="38" name="Line 474"/>
            <p:cNvSpPr>
              <a:spLocks noChangeShapeType="1"/>
            </p:cNvSpPr>
            <p:nvPr/>
          </p:nvSpPr>
          <p:spPr bwMode="auto">
            <a:xfrm rot="5400000" flipV="1">
              <a:off x="7788402" y="5690298"/>
              <a:ext cx="3992" cy="998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9" name="Line 475"/>
            <p:cNvSpPr>
              <a:spLocks noChangeShapeType="1"/>
            </p:cNvSpPr>
            <p:nvPr/>
          </p:nvSpPr>
          <p:spPr bwMode="auto">
            <a:xfrm rot="16200000">
              <a:off x="8004976" y="5284379"/>
              <a:ext cx="0" cy="13318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13" name="Group 476"/>
            <p:cNvGrpSpPr>
              <a:grpSpLocks/>
            </p:cNvGrpSpPr>
            <p:nvPr/>
          </p:nvGrpSpPr>
          <p:grpSpPr bwMode="auto">
            <a:xfrm>
              <a:off x="7514776" y="4913791"/>
              <a:ext cx="584540" cy="295446"/>
              <a:chOff x="3600" y="219"/>
              <a:chExt cx="360" cy="175"/>
            </a:xfrm>
          </p:grpSpPr>
          <p:sp>
            <p:nvSpPr>
              <p:cNvPr id="41" name="Oval 47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42" name="Line 478"/>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3" name="Line 479"/>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4" name="Rectangle 480"/>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45" name="Oval 48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4" name="Group 482"/>
              <p:cNvGrpSpPr>
                <a:grpSpLocks/>
              </p:cNvGrpSpPr>
              <p:nvPr/>
            </p:nvGrpSpPr>
            <p:grpSpPr bwMode="auto">
              <a:xfrm>
                <a:off x="3686" y="244"/>
                <a:ext cx="177" cy="66"/>
                <a:chOff x="2848" y="848"/>
                <a:chExt cx="140" cy="98"/>
              </a:xfrm>
            </p:grpSpPr>
            <p:sp>
              <p:nvSpPr>
                <p:cNvPr id="51" name="Line 48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2" name="Line 48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3" name="Line 48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5" name="Group 486"/>
              <p:cNvGrpSpPr>
                <a:grpSpLocks/>
              </p:cNvGrpSpPr>
              <p:nvPr/>
            </p:nvGrpSpPr>
            <p:grpSpPr bwMode="auto">
              <a:xfrm flipV="1">
                <a:off x="3686" y="243"/>
                <a:ext cx="177" cy="66"/>
                <a:chOff x="2848" y="848"/>
                <a:chExt cx="140" cy="98"/>
              </a:xfrm>
            </p:grpSpPr>
            <p:sp>
              <p:nvSpPr>
                <p:cNvPr id="48" name="Line 48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9" name="Line 48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0" name="Line 48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16" name="Group 490"/>
            <p:cNvGrpSpPr>
              <a:grpSpLocks/>
            </p:cNvGrpSpPr>
            <p:nvPr/>
          </p:nvGrpSpPr>
          <p:grpSpPr bwMode="auto">
            <a:xfrm>
              <a:off x="6563974" y="4566441"/>
              <a:ext cx="584540" cy="295446"/>
              <a:chOff x="3600" y="219"/>
              <a:chExt cx="360" cy="175"/>
            </a:xfrm>
          </p:grpSpPr>
          <p:sp>
            <p:nvSpPr>
              <p:cNvPr id="55" name="Oval 49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56" name="Line 492"/>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7" name="Line 493"/>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8" name="Rectangle 494"/>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59" name="Oval 49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7" name="Group 496"/>
              <p:cNvGrpSpPr>
                <a:grpSpLocks/>
              </p:cNvGrpSpPr>
              <p:nvPr/>
            </p:nvGrpSpPr>
            <p:grpSpPr bwMode="auto">
              <a:xfrm>
                <a:off x="3686" y="244"/>
                <a:ext cx="177" cy="66"/>
                <a:chOff x="2848" y="848"/>
                <a:chExt cx="140" cy="98"/>
              </a:xfrm>
            </p:grpSpPr>
            <p:sp>
              <p:nvSpPr>
                <p:cNvPr id="65" name="Line 49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6" name="Line 49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7" name="Line 49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8" name="Group 500"/>
              <p:cNvGrpSpPr>
                <a:grpSpLocks/>
              </p:cNvGrpSpPr>
              <p:nvPr/>
            </p:nvGrpSpPr>
            <p:grpSpPr bwMode="auto">
              <a:xfrm flipV="1">
                <a:off x="3686" y="243"/>
                <a:ext cx="177" cy="66"/>
                <a:chOff x="2848" y="848"/>
                <a:chExt cx="140" cy="98"/>
              </a:xfrm>
            </p:grpSpPr>
            <p:sp>
              <p:nvSpPr>
                <p:cNvPr id="62" name="Line 50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3" name="Line 50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4" name="Line 50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grpSp>
          <p:nvGrpSpPr>
            <p:cNvPr id="19" name="Group 504"/>
            <p:cNvGrpSpPr>
              <a:grpSpLocks/>
            </p:cNvGrpSpPr>
            <p:nvPr/>
          </p:nvGrpSpPr>
          <p:grpSpPr bwMode="auto">
            <a:xfrm>
              <a:off x="5788904" y="4949723"/>
              <a:ext cx="584540" cy="295446"/>
              <a:chOff x="3600" y="219"/>
              <a:chExt cx="360" cy="175"/>
            </a:xfrm>
          </p:grpSpPr>
          <p:sp>
            <p:nvSpPr>
              <p:cNvPr id="69" name="Oval 50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70" name="Line 506"/>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1" name="Line 507"/>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2" name="Rectangle 508"/>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73" name="Oval 50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0" name="Group 510"/>
              <p:cNvGrpSpPr>
                <a:grpSpLocks/>
              </p:cNvGrpSpPr>
              <p:nvPr/>
            </p:nvGrpSpPr>
            <p:grpSpPr bwMode="auto">
              <a:xfrm>
                <a:off x="3686" y="244"/>
                <a:ext cx="177" cy="66"/>
                <a:chOff x="2848" y="848"/>
                <a:chExt cx="140" cy="98"/>
              </a:xfrm>
            </p:grpSpPr>
            <p:sp>
              <p:nvSpPr>
                <p:cNvPr id="79" name="Line 51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80" name="Line 51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81" name="Line 51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21" name="Group 514"/>
              <p:cNvGrpSpPr>
                <a:grpSpLocks/>
              </p:cNvGrpSpPr>
              <p:nvPr/>
            </p:nvGrpSpPr>
            <p:grpSpPr bwMode="auto">
              <a:xfrm flipV="1">
                <a:off x="3686" y="243"/>
                <a:ext cx="177" cy="66"/>
                <a:chOff x="2848" y="848"/>
                <a:chExt cx="140" cy="98"/>
              </a:xfrm>
            </p:grpSpPr>
            <p:sp>
              <p:nvSpPr>
                <p:cNvPr id="76" name="Line 51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7" name="Line 51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8" name="Line 51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82" name="Line 518"/>
            <p:cNvSpPr>
              <a:spLocks noChangeShapeType="1"/>
            </p:cNvSpPr>
            <p:nvPr/>
          </p:nvSpPr>
          <p:spPr bwMode="auto">
            <a:xfrm>
              <a:off x="7087471" y="4831944"/>
              <a:ext cx="418056" cy="1517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3" name="Line 519"/>
            <p:cNvSpPr>
              <a:spLocks noChangeShapeType="1"/>
            </p:cNvSpPr>
            <p:nvPr/>
          </p:nvSpPr>
          <p:spPr bwMode="auto">
            <a:xfrm flipV="1">
              <a:off x="6327199" y="4847914"/>
              <a:ext cx="323716" cy="1377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4" name="Line 520"/>
            <p:cNvSpPr>
              <a:spLocks noChangeShapeType="1"/>
            </p:cNvSpPr>
            <p:nvPr/>
          </p:nvSpPr>
          <p:spPr bwMode="auto">
            <a:xfrm flipV="1">
              <a:off x="6377144" y="5103435"/>
              <a:ext cx="113208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5" name="Line 521"/>
            <p:cNvSpPr>
              <a:spLocks noChangeShapeType="1"/>
            </p:cNvSpPr>
            <p:nvPr/>
          </p:nvSpPr>
          <p:spPr bwMode="auto">
            <a:xfrm flipH="1">
              <a:off x="5555829" y="4784033"/>
              <a:ext cx="295969" cy="5908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6" name="Line 522"/>
            <p:cNvSpPr>
              <a:spLocks noChangeShapeType="1"/>
            </p:cNvSpPr>
            <p:nvPr/>
          </p:nvSpPr>
          <p:spPr bwMode="auto">
            <a:xfrm>
              <a:off x="5585426" y="4847914"/>
              <a:ext cx="2293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7" name="Line 523"/>
            <p:cNvSpPr>
              <a:spLocks noChangeShapeType="1"/>
            </p:cNvSpPr>
            <p:nvPr/>
          </p:nvSpPr>
          <p:spPr bwMode="auto">
            <a:xfrm>
              <a:off x="5422643" y="5271121"/>
              <a:ext cx="17943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8" name="Line 524"/>
            <p:cNvSpPr>
              <a:spLocks noChangeShapeType="1"/>
            </p:cNvSpPr>
            <p:nvPr/>
          </p:nvSpPr>
          <p:spPr bwMode="auto">
            <a:xfrm>
              <a:off x="5716763" y="5370935"/>
              <a:ext cx="57159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9" name="Line 525"/>
            <p:cNvSpPr>
              <a:spLocks noChangeShapeType="1"/>
            </p:cNvSpPr>
            <p:nvPr/>
          </p:nvSpPr>
          <p:spPr bwMode="auto">
            <a:xfrm flipH="1">
              <a:off x="5996083" y="5255151"/>
              <a:ext cx="62894" cy="1077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0" name="Line 526"/>
            <p:cNvSpPr>
              <a:spLocks noChangeShapeType="1"/>
            </p:cNvSpPr>
            <p:nvPr/>
          </p:nvSpPr>
          <p:spPr bwMode="auto">
            <a:xfrm>
              <a:off x="5777806" y="5366942"/>
              <a:ext cx="1850" cy="1038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1" name="Line 527"/>
            <p:cNvSpPr>
              <a:spLocks noChangeShapeType="1"/>
            </p:cNvSpPr>
            <p:nvPr/>
          </p:nvSpPr>
          <p:spPr bwMode="auto">
            <a:xfrm flipH="1" flipV="1">
              <a:off x="6240258" y="5376924"/>
              <a:ext cx="0" cy="958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aphicFrame>
          <p:nvGraphicFramePr>
            <p:cNvPr id="92" name="Object 528"/>
            <p:cNvGraphicFramePr>
              <a:graphicFrameLocks noChangeAspect="1"/>
            </p:cNvGraphicFramePr>
            <p:nvPr/>
          </p:nvGraphicFramePr>
          <p:xfrm>
            <a:off x="5139622" y="5123398"/>
            <a:ext cx="399558" cy="359327"/>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92" name="Object 5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9622" y="5123398"/>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 name="Object 529"/>
            <p:cNvGraphicFramePr>
              <a:graphicFrameLocks noChangeAspect="1"/>
            </p:cNvGraphicFramePr>
            <p:nvPr/>
          </p:nvGraphicFramePr>
          <p:xfrm>
            <a:off x="5332002" y="4724146"/>
            <a:ext cx="399558" cy="359327"/>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93" name="Object 5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2002" y="4724146"/>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 name="Object 530"/>
            <p:cNvGraphicFramePr>
              <a:graphicFrameLocks noChangeAspect="1"/>
            </p:cNvGraphicFramePr>
            <p:nvPr/>
          </p:nvGraphicFramePr>
          <p:xfrm>
            <a:off x="5642770" y="5442800"/>
            <a:ext cx="399558" cy="359327"/>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94" name="Object 5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2770" y="5442800"/>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 name="Object 531"/>
            <p:cNvGraphicFramePr>
              <a:graphicFrameLocks noChangeAspect="1"/>
            </p:cNvGraphicFramePr>
            <p:nvPr/>
          </p:nvGraphicFramePr>
          <p:xfrm>
            <a:off x="6038629" y="5446792"/>
            <a:ext cx="399558" cy="359327"/>
          </p:xfrm>
          <a:graphic>
            <a:graphicData uri="http://schemas.openxmlformats.org/presentationml/2006/ole">
              <mc:AlternateContent xmlns:mc="http://schemas.openxmlformats.org/markup-compatibility/2006">
                <mc:Choice xmlns:v="urn:schemas-microsoft-com:vml" Requires="v">
                  <p:oleObj name="Clip" r:id="rId7" imgW="1307263" imgH="1084139" progId="">
                    <p:embed/>
                  </p:oleObj>
                </mc:Choice>
                <mc:Fallback>
                  <p:oleObj name="Clip" r:id="rId7" imgW="1307263" imgH="1084139" progId="">
                    <p:embed/>
                    <p:pic>
                      <p:nvPicPr>
                        <p:cNvPr id="95" name="Object 5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629" y="5446792"/>
                          <a:ext cx="399558" cy="359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 name="Group 532"/>
            <p:cNvGrpSpPr>
              <a:grpSpLocks/>
            </p:cNvGrpSpPr>
            <p:nvPr/>
          </p:nvGrpSpPr>
          <p:grpSpPr bwMode="auto">
            <a:xfrm>
              <a:off x="7096720" y="5604497"/>
              <a:ext cx="318167" cy="429196"/>
              <a:chOff x="2870" y="1518"/>
              <a:chExt cx="292" cy="320"/>
            </a:xfrm>
          </p:grpSpPr>
          <p:graphicFrame>
            <p:nvGraphicFramePr>
              <p:cNvPr id="97" name="Object 5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8" imgW="826829" imgH="840406" progId="">
                      <p:embed/>
                    </p:oleObj>
                  </mc:Choice>
                  <mc:Fallback>
                    <p:oleObj name="Clip" r:id="rId8" imgW="826829" imgH="840406" progId="">
                      <p:embed/>
                      <p:pic>
                        <p:nvPicPr>
                          <p:cNvPr id="97" name="Object 5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 name="Object 5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0" imgW="1268295" imgH="1199426" progId="">
                      <p:embed/>
                    </p:oleObj>
                  </mc:Choice>
                  <mc:Fallback>
                    <p:oleObj name="Clip" r:id="rId10" imgW="1268295" imgH="1199426" progId="">
                      <p:embed/>
                      <p:pic>
                        <p:nvPicPr>
                          <p:cNvPr id="98" name="Object 5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3" name="Group 535"/>
            <p:cNvGrpSpPr>
              <a:grpSpLocks/>
            </p:cNvGrpSpPr>
            <p:nvPr/>
          </p:nvGrpSpPr>
          <p:grpSpPr bwMode="auto">
            <a:xfrm>
              <a:off x="6571374" y="5668378"/>
              <a:ext cx="406958" cy="405241"/>
              <a:chOff x="2870" y="1518"/>
              <a:chExt cx="292" cy="320"/>
            </a:xfrm>
          </p:grpSpPr>
          <p:graphicFrame>
            <p:nvGraphicFramePr>
              <p:cNvPr id="100" name="Object 5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2" imgW="826829" imgH="840406" progId="">
                      <p:embed/>
                    </p:oleObj>
                  </mc:Choice>
                  <mc:Fallback>
                    <p:oleObj name="Clip" r:id="rId12" imgW="826829" imgH="840406" progId="">
                      <p:embed/>
                      <p:pic>
                        <p:nvPicPr>
                          <p:cNvPr id="100" name="Object 5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 name="Object 5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3" imgW="1268295" imgH="1199426" progId="">
                      <p:embed/>
                    </p:oleObj>
                  </mc:Choice>
                  <mc:Fallback>
                    <p:oleObj name="Clip" r:id="rId13" imgW="1268295" imgH="1199426" progId="">
                      <p:embed/>
                      <p:pic>
                        <p:nvPicPr>
                          <p:cNvPr id="101" name="Object 5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4" name="Group 538"/>
            <p:cNvGrpSpPr>
              <a:grpSpLocks/>
            </p:cNvGrpSpPr>
            <p:nvPr/>
          </p:nvGrpSpPr>
          <p:grpSpPr bwMode="auto">
            <a:xfrm>
              <a:off x="6754505" y="5181290"/>
              <a:ext cx="338515" cy="509047"/>
              <a:chOff x="2556" y="2689"/>
              <a:chExt cx="183" cy="255"/>
            </a:xfrm>
          </p:grpSpPr>
          <p:pic>
            <p:nvPicPr>
              <p:cNvPr id="103" name="Picture 539" descr="31u_bnrz[1]"/>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609" y="2770"/>
                <a:ext cx="1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 name="Freeform 540"/>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05" name="Freeform 541"/>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06" name="Freeform 542"/>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07" name="Freeform 543"/>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08" name="Freeform 544"/>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09" name="Freeform 545"/>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0" name="Freeform 546"/>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1" name="Freeform 547"/>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2" name="Freeform 548"/>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3" name="Freeform 549"/>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4" name="Freeform 550"/>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5" name="Freeform 551"/>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6" name="Freeform 552"/>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7" name="Freeform 553"/>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8" name="Freeform 554"/>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9" name="Freeform 555"/>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sp>
          <p:nvSpPr>
            <p:cNvPr id="120" name="Line 556"/>
            <p:cNvSpPr>
              <a:spLocks noChangeShapeType="1"/>
            </p:cNvSpPr>
            <p:nvPr/>
          </p:nvSpPr>
          <p:spPr bwMode="auto">
            <a:xfrm>
              <a:off x="6334598" y="5199256"/>
              <a:ext cx="586389" cy="3393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1" name="Line 557"/>
            <p:cNvSpPr>
              <a:spLocks noChangeShapeType="1"/>
            </p:cNvSpPr>
            <p:nvPr/>
          </p:nvSpPr>
          <p:spPr bwMode="auto">
            <a:xfrm>
              <a:off x="5692715" y="5117409"/>
              <a:ext cx="943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25" name="Group 558"/>
            <p:cNvGrpSpPr>
              <a:grpSpLocks/>
            </p:cNvGrpSpPr>
            <p:nvPr/>
          </p:nvGrpSpPr>
          <p:grpSpPr bwMode="auto">
            <a:xfrm>
              <a:off x="7995726" y="5193268"/>
              <a:ext cx="242325" cy="515036"/>
              <a:chOff x="4180" y="783"/>
              <a:chExt cx="150" cy="307"/>
            </a:xfrm>
          </p:grpSpPr>
          <p:sp>
            <p:nvSpPr>
              <p:cNvPr id="123" name="AutoShape 559"/>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124" name="Rectangle 560"/>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125" name="Rectangle 56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6" name="AutoShape 56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7" name="Line 563"/>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8" name="Line 564"/>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9" name="Rectangle 56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30" name="Rectangle 566"/>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grpSp>
      </p:grpSp>
      <p:sp>
        <p:nvSpPr>
          <p:cNvPr id="131" name="Line 434"/>
          <p:cNvSpPr>
            <a:spLocks noChangeShapeType="1"/>
          </p:cNvSpPr>
          <p:nvPr/>
        </p:nvSpPr>
        <p:spPr bwMode="auto">
          <a:xfrm flipV="1">
            <a:off x="7254880" y="3573015"/>
            <a:ext cx="166482" cy="7528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 name="Oval 9"/>
          <p:cNvSpPr/>
          <p:nvPr/>
        </p:nvSpPr>
        <p:spPr>
          <a:xfrm>
            <a:off x="6850696" y="3859977"/>
            <a:ext cx="511472" cy="433285"/>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de-DE" sz="2800" b="1" dirty="0"/>
              <a:t>A</a:t>
            </a:r>
          </a:p>
        </p:txBody>
      </p:sp>
      <p:sp>
        <p:nvSpPr>
          <p:cNvPr id="133" name="Oval 132"/>
          <p:cNvSpPr/>
          <p:nvPr/>
        </p:nvSpPr>
        <p:spPr>
          <a:xfrm>
            <a:off x="6091812" y="4293262"/>
            <a:ext cx="511472" cy="433285"/>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de-DE" sz="2800" b="1" dirty="0"/>
              <a:t>B</a:t>
            </a:r>
          </a:p>
        </p:txBody>
      </p:sp>
      <p:sp>
        <p:nvSpPr>
          <p:cNvPr id="134" name="Oval 133"/>
          <p:cNvSpPr/>
          <p:nvPr/>
        </p:nvSpPr>
        <p:spPr>
          <a:xfrm>
            <a:off x="7977229" y="4187959"/>
            <a:ext cx="511472" cy="433285"/>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de-DE" sz="2800" b="1" dirty="0"/>
              <a:t>C</a:t>
            </a:r>
          </a:p>
        </p:txBody>
      </p:sp>
      <p:sp>
        <p:nvSpPr>
          <p:cNvPr id="11" name="TextBox 10"/>
          <p:cNvSpPr txBox="1"/>
          <p:nvPr/>
        </p:nvSpPr>
        <p:spPr>
          <a:xfrm>
            <a:off x="671279" y="3276435"/>
            <a:ext cx="6596549" cy="461665"/>
          </a:xfrm>
          <a:prstGeom prst="rect">
            <a:avLst/>
          </a:prstGeom>
          <a:noFill/>
        </p:spPr>
        <p:txBody>
          <a:bodyPr wrap="none" rtlCol="0">
            <a:spAutoFit/>
          </a:bodyPr>
          <a:lstStyle/>
          <a:p>
            <a:r>
              <a:rPr lang="de-DE" sz="2400" dirty="0"/>
              <a:t>Welche Daten müssen Router A, B, C kennen?</a:t>
            </a:r>
          </a:p>
        </p:txBody>
      </p:sp>
      <p:sp>
        <p:nvSpPr>
          <p:cNvPr id="47" name="Left Brace 46"/>
          <p:cNvSpPr/>
          <p:nvPr/>
        </p:nvSpPr>
        <p:spPr>
          <a:xfrm rot="16200000">
            <a:off x="6069948" y="1363821"/>
            <a:ext cx="273817" cy="3280477"/>
          </a:xfrm>
          <a:prstGeom prst="leftBrace">
            <a:avLst>
              <a:gd name="adj1" fmla="val 8333"/>
              <a:gd name="adj2" fmla="val 88198"/>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4" name="TextBox 53"/>
          <p:cNvSpPr txBox="1"/>
          <p:nvPr/>
        </p:nvSpPr>
        <p:spPr>
          <a:xfrm>
            <a:off x="7999407" y="2634630"/>
            <a:ext cx="1144594" cy="1323439"/>
          </a:xfrm>
          <a:prstGeom prst="rect">
            <a:avLst/>
          </a:prstGeom>
          <a:noFill/>
        </p:spPr>
        <p:txBody>
          <a:bodyPr wrap="square" rtlCol="0">
            <a:spAutoFit/>
          </a:bodyPr>
          <a:lstStyle/>
          <a:p>
            <a:r>
              <a:rPr lang="de-DE" sz="1600" b="1" dirty="0">
                <a:solidFill>
                  <a:srgbClr val="FF0000"/>
                </a:solidFill>
              </a:rPr>
              <a:t>Von </a:t>
            </a:r>
            <a:br>
              <a:rPr lang="de-DE" sz="1600" b="1" dirty="0">
                <a:solidFill>
                  <a:srgbClr val="FF0000"/>
                </a:solidFill>
              </a:rPr>
            </a:br>
            <a:r>
              <a:rPr lang="de-DE" sz="1600" b="1" dirty="0">
                <a:solidFill>
                  <a:srgbClr val="FF0000"/>
                </a:solidFill>
              </a:rPr>
              <a:t>Außen</a:t>
            </a:r>
            <a:br>
              <a:rPr lang="de-DE" sz="1600" b="1" dirty="0">
                <a:solidFill>
                  <a:srgbClr val="FF0000"/>
                </a:solidFill>
              </a:rPr>
            </a:br>
            <a:r>
              <a:rPr lang="de-DE" sz="1600" b="1" dirty="0">
                <a:solidFill>
                  <a:srgbClr val="FF0000"/>
                </a:solidFill>
              </a:rPr>
              <a:t>gesehen:</a:t>
            </a:r>
          </a:p>
          <a:p>
            <a:r>
              <a:rPr lang="de-DE" sz="1600" b="1" dirty="0">
                <a:solidFill>
                  <a:srgbClr val="FF0000"/>
                </a:solidFill>
              </a:rPr>
              <a:t>16 Bit</a:t>
            </a:r>
            <a:br>
              <a:rPr lang="de-DE" sz="1600" b="1" dirty="0">
                <a:solidFill>
                  <a:srgbClr val="FF0000"/>
                </a:solidFill>
              </a:rPr>
            </a:br>
            <a:r>
              <a:rPr lang="de-DE" sz="1600" b="1" dirty="0" err="1">
                <a:solidFill>
                  <a:srgbClr val="FF0000"/>
                </a:solidFill>
              </a:rPr>
              <a:t>Hostid</a:t>
            </a:r>
            <a:endParaRPr lang="de-DE" sz="1600" b="1" dirty="0">
              <a:solidFill>
                <a:srgbClr val="FF0000"/>
              </a:solidFill>
            </a:endParaRPr>
          </a:p>
        </p:txBody>
      </p:sp>
      <p:cxnSp>
        <p:nvCxnSpPr>
          <p:cNvPr id="61" name="Straight Arrow Connector 60"/>
          <p:cNvCxnSpPr>
            <a:stCxn id="54" idx="1"/>
            <a:endCxn id="47" idx="1"/>
          </p:cNvCxnSpPr>
          <p:nvPr/>
        </p:nvCxnSpPr>
        <p:spPr>
          <a:xfrm flipH="1" flipV="1">
            <a:off x="7459933" y="3140968"/>
            <a:ext cx="539474" cy="155382"/>
          </a:xfrm>
          <a:prstGeom prst="straightConnector1">
            <a:avLst/>
          </a:prstGeom>
          <a:ln w="28575">
            <a:solidFill>
              <a:srgbClr val="FF0000"/>
            </a:solidFill>
            <a:headEnd type="none" w="med" len="me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084694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lIns="0" tIns="0" rIns="0" bIns="0"/>
          <a:lstStyle/>
          <a:p>
            <a:pPr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de-DE" dirty="0"/>
              <a:t>Adressierung von Subnetzen /2</a:t>
            </a:r>
          </a:p>
        </p:txBody>
      </p:sp>
      <p:sp>
        <p:nvSpPr>
          <p:cNvPr id="50180" name="Rectangle 3"/>
          <p:cNvSpPr>
            <a:spLocks noGrp="1" noChangeArrowheads="1"/>
          </p:cNvSpPr>
          <p:nvPr>
            <p:ph sz="quarter" idx="1"/>
          </p:nvPr>
        </p:nvSpPr>
        <p:spPr>
          <a:xfrm>
            <a:off x="457200" y="1219200"/>
            <a:ext cx="8229600" cy="841648"/>
          </a:xfrm>
        </p:spPr>
        <p:txBody>
          <a:bodyPr lIns="81639" tIns="42452" rIns="81639" bIns="42452">
            <a:normAutofit/>
          </a:bodyPr>
          <a:lstStyle/>
          <a:p>
            <a:pPr marL="431800" indent="-323850" defTabSz="449263">
              <a:lnSpc>
                <a:spcPct val="98000"/>
              </a:lnSpc>
              <a:spcBef>
                <a:spcPts val="700"/>
              </a:spcBef>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Die </a:t>
            </a:r>
            <a:r>
              <a:rPr lang="de-DE" sz="2400" dirty="0" err="1"/>
              <a:t>subnetid</a:t>
            </a:r>
            <a:r>
              <a:rPr lang="de-DE" sz="2400" dirty="0"/>
              <a:t> ist außerhalb des Netzwerkes, für das sie verwendet wird, </a:t>
            </a:r>
            <a:r>
              <a:rPr lang="de-DE" sz="2400" u="sng" dirty="0"/>
              <a:t>nicht</a:t>
            </a:r>
            <a:r>
              <a:rPr lang="de-DE" sz="2400" dirty="0"/>
              <a:t> sichtbar: </a:t>
            </a:r>
          </a:p>
          <a:p>
            <a:pPr marL="431800" indent="-323850" defTabSz="449263">
              <a:spcBef>
                <a:spcPts val="700"/>
              </a:spcBef>
              <a:buFont typeface="ZapfDingbats" pitchFamily="82" charset="2"/>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de-DE" sz="2400" dirty="0"/>
          </a:p>
        </p:txBody>
      </p:sp>
      <p:sp>
        <p:nvSpPr>
          <p:cNvPr id="50181" name="Oval 4"/>
          <p:cNvSpPr>
            <a:spLocks noChangeArrowheads="1"/>
          </p:cNvSpPr>
          <p:nvPr/>
        </p:nvSpPr>
        <p:spPr bwMode="auto">
          <a:xfrm>
            <a:off x="428625" y="2547938"/>
            <a:ext cx="1828800" cy="1217612"/>
          </a:xfrm>
          <a:prstGeom prst="ellipse">
            <a:avLst/>
          </a:prstGeom>
          <a:noFill/>
          <a:ln w="12600">
            <a:solidFill>
              <a:srgbClr val="000000"/>
            </a:solidFill>
            <a:round/>
            <a:headEnd/>
            <a:tailEnd/>
          </a:ln>
        </p:spPr>
        <p:txBody>
          <a:bodyPr wrap="none" anchor="ctr"/>
          <a:lstStyle/>
          <a:p>
            <a:endParaRPr lang="de-DE"/>
          </a:p>
        </p:txBody>
      </p:sp>
      <p:sp>
        <p:nvSpPr>
          <p:cNvPr id="50182" name="AutoShape 5"/>
          <p:cNvSpPr>
            <a:spLocks noChangeArrowheads="1"/>
          </p:cNvSpPr>
          <p:nvPr/>
        </p:nvSpPr>
        <p:spPr bwMode="auto">
          <a:xfrm>
            <a:off x="887413" y="2914650"/>
            <a:ext cx="971550" cy="398463"/>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Lst>
            </a:pPr>
            <a:r>
              <a:rPr lang="de-DE">
                <a:solidFill>
                  <a:srgbClr val="000000"/>
                </a:solidFill>
                <a:latin typeface="Bitstream Vera Sans" charset="0"/>
              </a:rPr>
              <a:t>Internet</a:t>
            </a:r>
          </a:p>
        </p:txBody>
      </p:sp>
      <p:grpSp>
        <p:nvGrpSpPr>
          <p:cNvPr id="2" name="Group 6"/>
          <p:cNvGrpSpPr>
            <a:grpSpLocks/>
          </p:cNvGrpSpPr>
          <p:nvPr/>
        </p:nvGrpSpPr>
        <p:grpSpPr bwMode="auto">
          <a:xfrm>
            <a:off x="5915025" y="2762250"/>
            <a:ext cx="1760538" cy="712788"/>
            <a:chOff x="4108" y="1918"/>
            <a:chExt cx="1222" cy="495"/>
          </a:xfrm>
        </p:grpSpPr>
        <p:sp>
          <p:nvSpPr>
            <p:cNvPr id="50196" name="AutoShape 7"/>
            <p:cNvSpPr>
              <a:spLocks noChangeArrowheads="1"/>
            </p:cNvSpPr>
            <p:nvPr/>
          </p:nvSpPr>
          <p:spPr bwMode="auto">
            <a:xfrm>
              <a:off x="4108" y="1918"/>
              <a:ext cx="1223" cy="496"/>
            </a:xfrm>
            <a:prstGeom prst="roundRect">
              <a:avLst>
                <a:gd name="adj" fmla="val 199"/>
              </a:avLst>
            </a:prstGeom>
            <a:noFill/>
            <a:ln w="12600">
              <a:solidFill>
                <a:srgbClr val="000000"/>
              </a:solidFill>
              <a:round/>
              <a:headEnd/>
              <a:tailEnd/>
            </a:ln>
          </p:spPr>
          <p:txBody>
            <a:bodyPr wrap="none" anchor="ctr"/>
            <a:lstStyle/>
            <a:p>
              <a:endParaRPr lang="de-DE"/>
            </a:p>
          </p:txBody>
        </p:sp>
        <p:sp>
          <p:nvSpPr>
            <p:cNvPr id="50197" name="AutoShape 8"/>
            <p:cNvSpPr>
              <a:spLocks noChangeArrowheads="1"/>
            </p:cNvSpPr>
            <p:nvPr/>
          </p:nvSpPr>
          <p:spPr bwMode="auto">
            <a:xfrm>
              <a:off x="4108" y="1918"/>
              <a:ext cx="1223" cy="496"/>
            </a:xfrm>
            <a:prstGeom prst="roundRect">
              <a:avLst>
                <a:gd name="adj" fmla="val 199"/>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Lst>
              </a:pPr>
              <a:r>
                <a:rPr lang="de-DE">
                  <a:solidFill>
                    <a:srgbClr val="000000"/>
                  </a:solidFill>
                  <a:latin typeface="Bitstream Vera Sans" charset="0"/>
                </a:rPr>
                <a:t>Lokaler Router</a:t>
              </a:r>
            </a:p>
          </p:txBody>
        </p:sp>
      </p:grpSp>
      <p:sp>
        <p:nvSpPr>
          <p:cNvPr id="50184" name="Line 9"/>
          <p:cNvSpPr>
            <a:spLocks noChangeShapeType="1"/>
          </p:cNvSpPr>
          <p:nvPr/>
        </p:nvSpPr>
        <p:spPr bwMode="auto">
          <a:xfrm>
            <a:off x="2257425" y="3143250"/>
            <a:ext cx="3657600" cy="1588"/>
          </a:xfrm>
          <a:prstGeom prst="line">
            <a:avLst/>
          </a:prstGeom>
          <a:noFill/>
          <a:ln w="12600">
            <a:solidFill>
              <a:srgbClr val="000000"/>
            </a:solidFill>
            <a:round/>
            <a:headEnd/>
            <a:tailEnd type="triangle" w="med" len="med"/>
          </a:ln>
        </p:spPr>
        <p:txBody>
          <a:bodyPr/>
          <a:lstStyle/>
          <a:p>
            <a:endParaRPr lang="de-DE"/>
          </a:p>
        </p:txBody>
      </p:sp>
      <p:sp>
        <p:nvSpPr>
          <p:cNvPr id="50185" name="AutoShape 10"/>
          <p:cNvSpPr>
            <a:spLocks noChangeArrowheads="1"/>
          </p:cNvSpPr>
          <p:nvPr/>
        </p:nvSpPr>
        <p:spPr bwMode="auto">
          <a:xfrm>
            <a:off x="3019425" y="2746375"/>
            <a:ext cx="1898650"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Lst>
            </a:pPr>
            <a:r>
              <a:rPr lang="de-DE">
                <a:solidFill>
                  <a:srgbClr val="000000"/>
                </a:solidFill>
                <a:latin typeface="Bitstream Vera Sans" charset="0"/>
              </a:rPr>
              <a:t>134.99.xxx.xxx</a:t>
            </a:r>
          </a:p>
        </p:txBody>
      </p:sp>
      <p:sp>
        <p:nvSpPr>
          <p:cNvPr id="50186" name="Line 11"/>
          <p:cNvSpPr>
            <a:spLocks noChangeShapeType="1"/>
          </p:cNvSpPr>
          <p:nvPr/>
        </p:nvSpPr>
        <p:spPr bwMode="auto">
          <a:xfrm flipH="1">
            <a:off x="4471988" y="3476625"/>
            <a:ext cx="1774825" cy="1625600"/>
          </a:xfrm>
          <a:prstGeom prst="line">
            <a:avLst/>
          </a:prstGeom>
          <a:noFill/>
          <a:ln w="12600">
            <a:solidFill>
              <a:srgbClr val="000000"/>
            </a:solidFill>
            <a:round/>
            <a:headEnd/>
            <a:tailEnd type="triangle" w="med" len="med"/>
          </a:ln>
        </p:spPr>
        <p:txBody>
          <a:bodyPr/>
          <a:lstStyle/>
          <a:p>
            <a:endParaRPr lang="de-DE"/>
          </a:p>
        </p:txBody>
      </p:sp>
      <p:sp>
        <p:nvSpPr>
          <p:cNvPr id="50187" name="AutoShape 12"/>
          <p:cNvSpPr>
            <a:spLocks noChangeArrowheads="1"/>
          </p:cNvSpPr>
          <p:nvPr/>
        </p:nvSpPr>
        <p:spPr bwMode="auto">
          <a:xfrm>
            <a:off x="1770063" y="4124325"/>
            <a:ext cx="3270250" cy="398463"/>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 pos="1970088" algn="l"/>
                <a:tab pos="2627313" algn="l"/>
              </a:tabLst>
            </a:pPr>
            <a:r>
              <a:rPr lang="de-DE" dirty="0">
                <a:solidFill>
                  <a:srgbClr val="000000"/>
                </a:solidFill>
                <a:latin typeface="Bitstream Vera Sans" charset="0"/>
              </a:rPr>
              <a:t>134.99.</a:t>
            </a:r>
            <a:r>
              <a:rPr lang="de-DE" dirty="0">
                <a:solidFill>
                  <a:srgbClr val="FF0000"/>
                </a:solidFill>
                <a:latin typeface="Bitstream Vera Sans" charset="0"/>
              </a:rPr>
              <a:t>15</a:t>
            </a:r>
            <a:r>
              <a:rPr lang="de-DE" dirty="0">
                <a:solidFill>
                  <a:srgbClr val="000000"/>
                </a:solidFill>
                <a:latin typeface="Bitstream Vera Sans" charset="0"/>
              </a:rPr>
              <a:t>.xxx (subnet-id:</a:t>
            </a:r>
            <a:r>
              <a:rPr lang="de-DE" dirty="0">
                <a:solidFill>
                  <a:srgbClr val="FF0000"/>
                </a:solidFill>
                <a:latin typeface="Bitstream Vera Sans" charset="0"/>
              </a:rPr>
              <a:t>15</a:t>
            </a:r>
            <a:r>
              <a:rPr lang="de-DE" dirty="0">
                <a:solidFill>
                  <a:srgbClr val="000000"/>
                </a:solidFill>
                <a:latin typeface="Bitstream Vera Sans" charset="0"/>
              </a:rPr>
              <a:t>)</a:t>
            </a:r>
            <a:r>
              <a:rPr lang="ar-SA" dirty="0">
                <a:solidFill>
                  <a:srgbClr val="000000"/>
                </a:solidFill>
                <a:latin typeface="Bitstream Vera Sans" charset="0"/>
                <a:cs typeface="Arial" charset="0"/>
              </a:rPr>
              <a:t>‏</a:t>
            </a:r>
            <a:endParaRPr lang="de-DE" dirty="0">
              <a:solidFill>
                <a:srgbClr val="000000"/>
              </a:solidFill>
              <a:latin typeface="Bitstream Vera Sans" charset="0"/>
            </a:endParaRPr>
          </a:p>
        </p:txBody>
      </p:sp>
      <p:sp>
        <p:nvSpPr>
          <p:cNvPr id="50188" name="Oval 13"/>
          <p:cNvSpPr>
            <a:spLocks noChangeArrowheads="1"/>
          </p:cNvSpPr>
          <p:nvPr/>
        </p:nvSpPr>
        <p:spPr bwMode="auto">
          <a:xfrm>
            <a:off x="3151188" y="5027613"/>
            <a:ext cx="1828800" cy="1217612"/>
          </a:xfrm>
          <a:prstGeom prst="ellipse">
            <a:avLst/>
          </a:prstGeom>
          <a:noFill/>
          <a:ln w="12600">
            <a:solidFill>
              <a:srgbClr val="000000"/>
            </a:solidFill>
            <a:round/>
            <a:headEnd/>
            <a:tailEnd/>
          </a:ln>
        </p:spPr>
        <p:txBody>
          <a:bodyPr wrap="none" anchor="ctr"/>
          <a:lstStyle/>
          <a:p>
            <a:endParaRPr lang="de-DE"/>
          </a:p>
        </p:txBody>
      </p:sp>
      <p:sp>
        <p:nvSpPr>
          <p:cNvPr id="50189" name="AutoShape 14"/>
          <p:cNvSpPr>
            <a:spLocks noChangeArrowheads="1"/>
          </p:cNvSpPr>
          <p:nvPr/>
        </p:nvSpPr>
        <p:spPr bwMode="auto">
          <a:xfrm>
            <a:off x="3152775" y="5435600"/>
            <a:ext cx="1757363"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Lst>
            </a:pPr>
            <a:r>
              <a:rPr lang="de-DE">
                <a:solidFill>
                  <a:srgbClr val="000000"/>
                </a:solidFill>
                <a:latin typeface="Bitstream Vera Sans" charset="0"/>
              </a:rPr>
              <a:t>LAN 1</a:t>
            </a:r>
          </a:p>
        </p:txBody>
      </p:sp>
      <p:sp>
        <p:nvSpPr>
          <p:cNvPr id="50190" name="Line 15"/>
          <p:cNvSpPr>
            <a:spLocks noChangeShapeType="1"/>
          </p:cNvSpPr>
          <p:nvPr/>
        </p:nvSpPr>
        <p:spPr bwMode="auto">
          <a:xfrm>
            <a:off x="7061200" y="3494088"/>
            <a:ext cx="457200" cy="1038225"/>
          </a:xfrm>
          <a:prstGeom prst="line">
            <a:avLst/>
          </a:prstGeom>
          <a:noFill/>
          <a:ln w="12600">
            <a:solidFill>
              <a:srgbClr val="000000"/>
            </a:solidFill>
            <a:round/>
            <a:headEnd/>
            <a:tailEnd type="triangle" w="med" len="med"/>
          </a:ln>
        </p:spPr>
        <p:txBody>
          <a:bodyPr/>
          <a:lstStyle/>
          <a:p>
            <a:endParaRPr lang="de-DE"/>
          </a:p>
        </p:txBody>
      </p:sp>
      <p:sp>
        <p:nvSpPr>
          <p:cNvPr id="50191" name="AutoShape 16"/>
          <p:cNvSpPr>
            <a:spLocks noChangeArrowheads="1"/>
          </p:cNvSpPr>
          <p:nvPr/>
        </p:nvSpPr>
        <p:spPr bwMode="auto">
          <a:xfrm>
            <a:off x="6291263" y="5530850"/>
            <a:ext cx="1725612"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Lst>
            </a:pPr>
            <a:r>
              <a:rPr lang="de-DE">
                <a:solidFill>
                  <a:srgbClr val="000000"/>
                </a:solidFill>
                <a:latin typeface="Bitstream Vera Sans" charset="0"/>
              </a:rPr>
              <a:t>weitere</a:t>
            </a:r>
            <a:br>
              <a:rPr lang="de-DE">
                <a:solidFill>
                  <a:srgbClr val="000000"/>
                </a:solidFill>
                <a:latin typeface="Bitstream Vera Sans" charset="0"/>
              </a:rPr>
            </a:br>
            <a:r>
              <a:rPr lang="de-DE">
                <a:solidFill>
                  <a:srgbClr val="000000"/>
                </a:solidFill>
                <a:latin typeface="Bitstream Vera Sans" charset="0"/>
              </a:rPr>
              <a:t>Subnetze</a:t>
            </a:r>
          </a:p>
        </p:txBody>
      </p:sp>
      <p:sp>
        <p:nvSpPr>
          <p:cNvPr id="50192" name="Line 17"/>
          <p:cNvSpPr>
            <a:spLocks noChangeShapeType="1"/>
          </p:cNvSpPr>
          <p:nvPr/>
        </p:nvSpPr>
        <p:spPr bwMode="auto">
          <a:xfrm flipH="1">
            <a:off x="6359525" y="3479800"/>
            <a:ext cx="458788" cy="1174750"/>
          </a:xfrm>
          <a:prstGeom prst="line">
            <a:avLst/>
          </a:prstGeom>
          <a:noFill/>
          <a:ln w="12600">
            <a:solidFill>
              <a:srgbClr val="000000"/>
            </a:solidFill>
            <a:round/>
            <a:headEnd/>
            <a:tailEnd type="triangle" w="med" len="med"/>
          </a:ln>
        </p:spPr>
        <p:txBody>
          <a:bodyPr/>
          <a:lstStyle/>
          <a:p>
            <a:endParaRPr lang="de-DE"/>
          </a:p>
        </p:txBody>
      </p:sp>
      <p:sp>
        <p:nvSpPr>
          <p:cNvPr id="50193" name="Oval 18"/>
          <p:cNvSpPr>
            <a:spLocks noChangeArrowheads="1"/>
          </p:cNvSpPr>
          <p:nvPr/>
        </p:nvSpPr>
        <p:spPr bwMode="auto">
          <a:xfrm>
            <a:off x="5608638" y="4654550"/>
            <a:ext cx="1371600" cy="777875"/>
          </a:xfrm>
          <a:prstGeom prst="ellipse">
            <a:avLst/>
          </a:prstGeom>
          <a:noFill/>
          <a:ln w="12600">
            <a:solidFill>
              <a:srgbClr val="000000"/>
            </a:solidFill>
            <a:round/>
            <a:headEnd/>
            <a:tailEnd/>
          </a:ln>
        </p:spPr>
        <p:txBody>
          <a:bodyPr wrap="none" anchor="ctr"/>
          <a:lstStyle/>
          <a:p>
            <a:endParaRPr lang="de-DE"/>
          </a:p>
        </p:txBody>
      </p:sp>
      <p:sp>
        <p:nvSpPr>
          <p:cNvPr id="50194" name="Oval 19"/>
          <p:cNvSpPr>
            <a:spLocks noChangeArrowheads="1"/>
          </p:cNvSpPr>
          <p:nvPr/>
        </p:nvSpPr>
        <p:spPr bwMode="auto">
          <a:xfrm>
            <a:off x="7346950" y="4491038"/>
            <a:ext cx="457200" cy="914400"/>
          </a:xfrm>
          <a:prstGeom prst="ellipse">
            <a:avLst/>
          </a:prstGeom>
          <a:noFill/>
          <a:ln w="12600">
            <a:solidFill>
              <a:srgbClr val="000000"/>
            </a:solidFill>
            <a:round/>
            <a:headEnd/>
            <a:tailEnd/>
          </a:ln>
        </p:spPr>
        <p:txBody>
          <a:bodyPr wrap="none" anchor="ctr"/>
          <a:lstStyle/>
          <a:p>
            <a:endParaRPr lang="de-DE"/>
          </a:p>
        </p:txBody>
      </p:sp>
      <p:sp>
        <p:nvSpPr>
          <p:cNvPr id="23" name="Slide Number Placeholder 6"/>
          <p:cNvSpPr>
            <a:spLocks noGrp="1"/>
          </p:cNvSpPr>
          <p:nvPr>
            <p:ph type="sldNum" sz="quarter" idx="12"/>
          </p:nvPr>
        </p:nvSpPr>
        <p:spPr>
          <a:xfrm>
            <a:off x="8542234" y="6500834"/>
            <a:ext cx="601766" cy="357166"/>
          </a:xfrm>
        </p:spPr>
        <p:txBody>
          <a:bodyPr/>
          <a:lstStyle/>
          <a:p>
            <a:fld id="{DAD4710D-7044-4A3F-B9DE-CA79DBB0B75F}" type="slidenum">
              <a:rPr lang="de-DE" smtClean="0"/>
              <a:pPr/>
              <a:t>23</a:t>
            </a:fld>
            <a:endParaRPr lang="de-DE" dirty="0"/>
          </a:p>
        </p:txBody>
      </p:sp>
    </p:spTree>
    <p:extLst>
      <p:ext uri="{BB962C8B-B14F-4D97-AF65-F5344CB8AC3E}">
        <p14:creationId xmlns:p14="http://schemas.microsoft.com/office/powerpoint/2010/main" val="246147531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lIns="0" tIns="0" rIns="0" bIns="0"/>
          <a:lstStyle/>
          <a:p>
            <a:pPr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de-DE" dirty="0"/>
              <a:t>Subnetzmaske /1</a:t>
            </a:r>
          </a:p>
        </p:txBody>
      </p:sp>
      <p:sp>
        <p:nvSpPr>
          <p:cNvPr id="21" name="Slide Number Placeholder 6"/>
          <p:cNvSpPr>
            <a:spLocks noGrp="1"/>
          </p:cNvSpPr>
          <p:nvPr>
            <p:ph type="sldNum" sz="quarter" idx="12"/>
          </p:nvPr>
        </p:nvSpPr>
        <p:spPr/>
        <p:txBody>
          <a:bodyPr/>
          <a:lstStyle/>
          <a:p>
            <a:fld id="{DAD4710D-7044-4A3F-B9DE-CA79DBB0B75F}" type="slidenum">
              <a:rPr lang="de-DE" smtClean="0"/>
              <a:pPr/>
              <a:t>24</a:t>
            </a:fld>
            <a:endParaRPr lang="de-DE" dirty="0"/>
          </a:p>
        </p:txBody>
      </p:sp>
      <p:sp>
        <p:nvSpPr>
          <p:cNvPr id="51204" name="Rectangle 3"/>
          <p:cNvSpPr>
            <a:spLocks noGrp="1" noChangeArrowheads="1"/>
          </p:cNvSpPr>
          <p:nvPr>
            <p:ph sz="quarter" idx="1"/>
          </p:nvPr>
        </p:nvSpPr>
        <p:spPr>
          <a:xfrm>
            <a:off x="457200" y="1219199"/>
            <a:ext cx="8229600" cy="1470025"/>
          </a:xfrm>
        </p:spPr>
        <p:txBody>
          <a:bodyPr lIns="0" tIns="0" rIns="0" bIns="0">
            <a:noAutofit/>
          </a:bodyPr>
          <a:lstStyle/>
          <a:p>
            <a:pPr marL="431800" indent="-323850"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b="1" dirty="0">
                <a:solidFill>
                  <a:srgbClr val="FF0000"/>
                </a:solidFill>
              </a:rPr>
              <a:t>Subnetzmaske</a:t>
            </a:r>
            <a:r>
              <a:rPr lang="de-DE" sz="2400" dirty="0"/>
              <a:t> (</a:t>
            </a:r>
            <a:r>
              <a:rPr lang="de-DE" sz="2400" b="1" dirty="0">
                <a:solidFill>
                  <a:srgbClr val="FF0000"/>
                </a:solidFill>
              </a:rPr>
              <a:t>subnet mask</a:t>
            </a:r>
            <a:r>
              <a:rPr lang="de-DE" sz="2400" dirty="0"/>
              <a:t>)</a:t>
            </a:r>
            <a:r>
              <a:rPr lang="ar-SA" sz="2400" dirty="0">
                <a:cs typeface="Arial" charset="0"/>
              </a:rPr>
              <a:t>‏</a:t>
            </a:r>
            <a:r>
              <a:rPr lang="de-DE" sz="2400" dirty="0"/>
              <a:t> identifiziert, welcher Teil der Adresse uns zu dem Subnetz führt (</a:t>
            </a:r>
            <a:r>
              <a:rPr lang="de-DE" sz="2400" dirty="0" err="1"/>
              <a:t>Netid</a:t>
            </a:r>
            <a:r>
              <a:rPr lang="de-DE" sz="2400" dirty="0"/>
              <a:t> + Subnetz-</a:t>
            </a:r>
            <a:r>
              <a:rPr lang="de-DE" sz="2400" dirty="0" err="1"/>
              <a:t>Id</a:t>
            </a:r>
            <a:r>
              <a:rPr lang="de-DE" sz="2400" dirty="0"/>
              <a:t>), welcher (restliche) Teil zu </a:t>
            </a:r>
            <a:r>
              <a:rPr lang="de-DE" sz="2400" dirty="0" err="1"/>
              <a:t>Hostid</a:t>
            </a:r>
            <a:r>
              <a:rPr lang="de-DE" sz="2400" dirty="0"/>
              <a:t> gehört</a:t>
            </a:r>
          </a:p>
        </p:txBody>
      </p:sp>
      <p:sp>
        <p:nvSpPr>
          <p:cNvPr id="5" name="Content Placeholder 4"/>
          <p:cNvSpPr>
            <a:spLocks noGrp="1"/>
          </p:cNvSpPr>
          <p:nvPr>
            <p:ph sz="quarter" idx="13"/>
          </p:nvPr>
        </p:nvSpPr>
        <p:spPr>
          <a:xfrm>
            <a:off x="474044" y="3933056"/>
            <a:ext cx="8208912" cy="2713856"/>
          </a:xfrm>
        </p:spPr>
        <p:txBody>
          <a:bodyPr/>
          <a:lstStyle/>
          <a:p>
            <a:pPr marL="431800" indent="-323850" defTabSz="449263">
              <a:spcBef>
                <a:spcPts val="700"/>
              </a:spcBef>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Die eigene IP-Adresse in Verbindung mit der Subnetzmaske erlaubt Rückschlüsse darüber, wo sich eine andere IP-Adresse befindet: </a:t>
            </a:r>
          </a:p>
          <a:p>
            <a:pPr marL="863600" lvl="1" indent="-287338" defTabSz="449263">
              <a:spcBef>
                <a:spcPts val="600"/>
              </a:spcBef>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Im selben Subnetz (also direkt erreichbar)</a:t>
            </a:r>
            <a:r>
              <a:rPr lang="de-DE" sz="2400" dirty="0">
                <a:cs typeface="Arial" charset="0"/>
              </a:rPr>
              <a:t>‏</a:t>
            </a:r>
            <a:endParaRPr lang="de-DE" sz="2400" dirty="0"/>
          </a:p>
          <a:p>
            <a:pPr marL="863600" lvl="1" indent="-287338" defTabSz="449263">
              <a:spcBef>
                <a:spcPts val="600"/>
              </a:spcBef>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Im selben Netzwerk, aber in einem anderen Subnetz</a:t>
            </a:r>
          </a:p>
          <a:p>
            <a:pPr marL="863600" lvl="1" indent="-287338" defTabSz="449263">
              <a:spcBef>
                <a:spcPts val="600"/>
              </a:spcBef>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In einem anderen Netzwerk</a:t>
            </a:r>
          </a:p>
          <a:p>
            <a:endParaRPr lang="de-DE" dirty="0"/>
          </a:p>
        </p:txBody>
      </p:sp>
      <p:grpSp>
        <p:nvGrpSpPr>
          <p:cNvPr id="6" name="Group 5"/>
          <p:cNvGrpSpPr/>
          <p:nvPr/>
        </p:nvGrpSpPr>
        <p:grpSpPr>
          <a:xfrm>
            <a:off x="218971" y="2642376"/>
            <a:ext cx="8323263" cy="1298904"/>
            <a:chOff x="368300" y="2467022"/>
            <a:chExt cx="8323263" cy="1298904"/>
          </a:xfrm>
        </p:grpSpPr>
        <p:sp>
          <p:nvSpPr>
            <p:cNvPr id="51205" name="AutoShape 4"/>
            <p:cNvSpPr>
              <a:spLocks noChangeArrowheads="1"/>
            </p:cNvSpPr>
            <p:nvPr/>
          </p:nvSpPr>
          <p:spPr bwMode="auto">
            <a:xfrm>
              <a:off x="368300" y="2887663"/>
              <a:ext cx="2100263"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 pos="1970088" algn="l"/>
                </a:tabLst>
              </a:pPr>
              <a:r>
                <a:rPr lang="de-DE" sz="2400" dirty="0">
                  <a:solidFill>
                    <a:srgbClr val="000000"/>
                  </a:solidFill>
                  <a:latin typeface="Bitstream Vera Sans" charset="0"/>
                </a:rPr>
                <a:t>Beispiel</a:t>
              </a:r>
            </a:p>
          </p:txBody>
        </p:sp>
        <p:sp>
          <p:nvSpPr>
            <p:cNvPr id="51206" name="AutoShape 5"/>
            <p:cNvSpPr>
              <a:spLocks noChangeArrowheads="1"/>
            </p:cNvSpPr>
            <p:nvPr/>
          </p:nvSpPr>
          <p:spPr bwMode="auto">
            <a:xfrm>
              <a:off x="3186334" y="2490788"/>
              <a:ext cx="1617515"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Lst>
              </a:pPr>
              <a:r>
                <a:rPr lang="de-DE" dirty="0" err="1">
                  <a:solidFill>
                    <a:srgbClr val="0070C0"/>
                  </a:solidFill>
                  <a:latin typeface="Bitstream Vera Sans" charset="0"/>
                </a:rPr>
                <a:t>NetId</a:t>
              </a:r>
              <a:r>
                <a:rPr lang="de-DE" dirty="0">
                  <a:solidFill>
                    <a:srgbClr val="000000"/>
                  </a:solidFill>
                  <a:latin typeface="Bitstream Vera Sans" charset="0"/>
                </a:rPr>
                <a:t>: 16 Bit</a:t>
              </a:r>
            </a:p>
          </p:txBody>
        </p:sp>
        <p:grpSp>
          <p:nvGrpSpPr>
            <p:cNvPr id="2" name="Group 6"/>
            <p:cNvGrpSpPr>
              <a:grpSpLocks/>
            </p:cNvGrpSpPr>
            <p:nvPr/>
          </p:nvGrpSpPr>
          <p:grpSpPr bwMode="auto">
            <a:xfrm>
              <a:off x="7059613" y="2887663"/>
              <a:ext cx="1631950" cy="407987"/>
              <a:chOff x="4903" y="2005"/>
              <a:chExt cx="1133" cy="283"/>
            </a:xfrm>
          </p:grpSpPr>
          <p:sp>
            <p:nvSpPr>
              <p:cNvPr id="51218" name="AutoShape 7"/>
              <p:cNvSpPr>
                <a:spLocks noChangeArrowheads="1"/>
              </p:cNvSpPr>
              <p:nvPr/>
            </p:nvSpPr>
            <p:spPr bwMode="auto">
              <a:xfrm>
                <a:off x="4903" y="2005"/>
                <a:ext cx="1134" cy="284"/>
              </a:xfrm>
              <a:prstGeom prst="roundRect">
                <a:avLst>
                  <a:gd name="adj" fmla="val 352"/>
                </a:avLst>
              </a:prstGeom>
              <a:noFill/>
              <a:ln w="12600">
                <a:solidFill>
                  <a:srgbClr val="000000"/>
                </a:solidFill>
                <a:round/>
                <a:headEnd/>
                <a:tailEnd/>
              </a:ln>
            </p:spPr>
            <p:txBody>
              <a:bodyPr wrap="none" anchor="ctr"/>
              <a:lstStyle/>
              <a:p>
                <a:endParaRPr lang="de-DE"/>
              </a:p>
            </p:txBody>
          </p:sp>
          <p:sp>
            <p:nvSpPr>
              <p:cNvPr id="51219" name="Text Box 8"/>
              <p:cNvSpPr txBox="1">
                <a:spLocks noChangeArrowheads="1"/>
              </p:cNvSpPr>
              <p:nvPr/>
            </p:nvSpPr>
            <p:spPr bwMode="auto">
              <a:xfrm>
                <a:off x="4903" y="2005"/>
                <a:ext cx="1134" cy="284"/>
              </a:xfrm>
              <a:prstGeom prst="rect">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Lst>
                </a:pPr>
                <a:r>
                  <a:rPr lang="de-DE">
                    <a:solidFill>
                      <a:srgbClr val="000000"/>
                    </a:solidFill>
                    <a:latin typeface="Bitstream Vera Sans" charset="0"/>
                  </a:rPr>
                  <a:t>00000000</a:t>
                </a:r>
              </a:p>
            </p:txBody>
          </p:sp>
        </p:grpSp>
        <p:sp>
          <p:nvSpPr>
            <p:cNvPr id="51208" name="AutoShape 9"/>
            <p:cNvSpPr>
              <a:spLocks noChangeArrowheads="1"/>
            </p:cNvSpPr>
            <p:nvPr/>
          </p:nvSpPr>
          <p:spPr bwMode="auto">
            <a:xfrm>
              <a:off x="5399784" y="2478137"/>
              <a:ext cx="1777926"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Lst>
              </a:pPr>
              <a:r>
                <a:rPr lang="de-DE" dirty="0" err="1">
                  <a:solidFill>
                    <a:srgbClr val="0070C0"/>
                  </a:solidFill>
                  <a:latin typeface="Bitstream Vera Sans" charset="0"/>
                </a:rPr>
                <a:t>Sutnetid</a:t>
              </a:r>
              <a:r>
                <a:rPr lang="de-DE" dirty="0">
                  <a:solidFill>
                    <a:srgbClr val="000000"/>
                  </a:solidFill>
                  <a:latin typeface="Bitstream Vera Sans" charset="0"/>
                </a:rPr>
                <a:t>: 8 Bit</a:t>
              </a:r>
            </a:p>
          </p:txBody>
        </p:sp>
        <p:grpSp>
          <p:nvGrpSpPr>
            <p:cNvPr id="3" name="Group 10"/>
            <p:cNvGrpSpPr>
              <a:grpSpLocks/>
            </p:cNvGrpSpPr>
            <p:nvPr/>
          </p:nvGrpSpPr>
          <p:grpSpPr bwMode="auto">
            <a:xfrm>
              <a:off x="5427663" y="2887663"/>
              <a:ext cx="1631950" cy="407987"/>
              <a:chOff x="3769" y="2005"/>
              <a:chExt cx="1133" cy="283"/>
            </a:xfrm>
          </p:grpSpPr>
          <p:sp>
            <p:nvSpPr>
              <p:cNvPr id="51216" name="AutoShape 11"/>
              <p:cNvSpPr>
                <a:spLocks noChangeArrowheads="1"/>
              </p:cNvSpPr>
              <p:nvPr/>
            </p:nvSpPr>
            <p:spPr bwMode="auto">
              <a:xfrm>
                <a:off x="3769" y="2005"/>
                <a:ext cx="1134" cy="284"/>
              </a:xfrm>
              <a:prstGeom prst="roundRect">
                <a:avLst>
                  <a:gd name="adj" fmla="val 352"/>
                </a:avLst>
              </a:prstGeom>
              <a:noFill/>
              <a:ln w="12600">
                <a:solidFill>
                  <a:srgbClr val="000000"/>
                </a:solidFill>
                <a:round/>
                <a:headEnd/>
                <a:tailEnd/>
              </a:ln>
            </p:spPr>
            <p:txBody>
              <a:bodyPr wrap="none" anchor="ctr"/>
              <a:lstStyle/>
              <a:p>
                <a:endParaRPr lang="de-DE"/>
              </a:p>
            </p:txBody>
          </p:sp>
          <p:sp>
            <p:nvSpPr>
              <p:cNvPr id="51217" name="Text Box 12"/>
              <p:cNvSpPr txBox="1">
                <a:spLocks noChangeArrowheads="1"/>
              </p:cNvSpPr>
              <p:nvPr/>
            </p:nvSpPr>
            <p:spPr bwMode="auto">
              <a:xfrm>
                <a:off x="3769" y="2005"/>
                <a:ext cx="1134" cy="284"/>
              </a:xfrm>
              <a:prstGeom prst="rect">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Lst>
                </a:pPr>
                <a:r>
                  <a:rPr lang="de-DE">
                    <a:solidFill>
                      <a:srgbClr val="000000"/>
                    </a:solidFill>
                    <a:latin typeface="Bitstream Vera Sans" charset="0"/>
                  </a:rPr>
                  <a:t>11111111</a:t>
                </a:r>
              </a:p>
            </p:txBody>
          </p:sp>
        </p:grpSp>
        <p:sp>
          <p:nvSpPr>
            <p:cNvPr id="51210" name="AutoShape 13"/>
            <p:cNvSpPr>
              <a:spLocks noChangeArrowheads="1"/>
            </p:cNvSpPr>
            <p:nvPr/>
          </p:nvSpPr>
          <p:spPr bwMode="auto">
            <a:xfrm>
              <a:off x="7096146" y="2467022"/>
              <a:ext cx="1595417" cy="396875"/>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Lst>
              </a:pPr>
              <a:r>
                <a:rPr lang="de-DE" dirty="0" err="1">
                  <a:solidFill>
                    <a:srgbClr val="7030A0"/>
                  </a:solidFill>
                  <a:latin typeface="Bitstream Vera Sans" charset="0"/>
                </a:rPr>
                <a:t>Hostid</a:t>
              </a:r>
              <a:r>
                <a:rPr lang="de-DE" dirty="0">
                  <a:solidFill>
                    <a:srgbClr val="000000"/>
                  </a:solidFill>
                  <a:latin typeface="Bitstream Vera Sans" charset="0"/>
                </a:rPr>
                <a:t>: 8 Bit</a:t>
              </a:r>
            </a:p>
          </p:txBody>
        </p:sp>
        <p:grpSp>
          <p:nvGrpSpPr>
            <p:cNvPr id="4" name="Group 14"/>
            <p:cNvGrpSpPr>
              <a:grpSpLocks/>
            </p:cNvGrpSpPr>
            <p:nvPr/>
          </p:nvGrpSpPr>
          <p:grpSpPr bwMode="auto">
            <a:xfrm>
              <a:off x="2671763" y="2749550"/>
              <a:ext cx="2755900" cy="684213"/>
              <a:chOff x="1855" y="1909"/>
              <a:chExt cx="1914" cy="475"/>
            </a:xfrm>
          </p:grpSpPr>
          <p:sp>
            <p:nvSpPr>
              <p:cNvPr id="51214" name="AutoShape 15"/>
              <p:cNvSpPr>
                <a:spLocks noChangeArrowheads="1"/>
              </p:cNvSpPr>
              <p:nvPr/>
            </p:nvSpPr>
            <p:spPr bwMode="auto">
              <a:xfrm>
                <a:off x="1855" y="2005"/>
                <a:ext cx="1915" cy="284"/>
              </a:xfrm>
              <a:prstGeom prst="roundRect">
                <a:avLst>
                  <a:gd name="adj" fmla="val 352"/>
                </a:avLst>
              </a:prstGeom>
              <a:noFill/>
              <a:ln w="12600">
                <a:solidFill>
                  <a:srgbClr val="000000"/>
                </a:solidFill>
                <a:round/>
                <a:headEnd/>
                <a:tailEnd/>
              </a:ln>
            </p:spPr>
            <p:txBody>
              <a:bodyPr wrap="none" anchor="ctr"/>
              <a:lstStyle/>
              <a:p>
                <a:endParaRPr lang="de-DE"/>
              </a:p>
            </p:txBody>
          </p:sp>
          <p:sp>
            <p:nvSpPr>
              <p:cNvPr id="51215" name="Text Box 16"/>
              <p:cNvSpPr txBox="1">
                <a:spLocks noChangeArrowheads="1"/>
              </p:cNvSpPr>
              <p:nvPr/>
            </p:nvSpPr>
            <p:spPr bwMode="auto">
              <a:xfrm>
                <a:off x="1855" y="1909"/>
                <a:ext cx="1915" cy="476"/>
              </a:xfrm>
              <a:prstGeom prst="rect">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 pos="1970088" algn="l"/>
                    <a:tab pos="2627313" algn="l"/>
                  </a:tabLst>
                </a:pPr>
                <a:r>
                  <a:rPr lang="de-DE" dirty="0">
                    <a:solidFill>
                      <a:srgbClr val="000000"/>
                    </a:solidFill>
                    <a:latin typeface="Bitstream Vera Sans" charset="0"/>
                  </a:rPr>
                  <a:t>1111111111111111</a:t>
                </a:r>
              </a:p>
            </p:txBody>
          </p:sp>
        </p:grpSp>
        <p:sp>
          <p:nvSpPr>
            <p:cNvPr id="51212" name="AutoShape 17"/>
            <p:cNvSpPr>
              <a:spLocks noChangeArrowheads="1"/>
            </p:cNvSpPr>
            <p:nvPr/>
          </p:nvSpPr>
          <p:spPr bwMode="auto">
            <a:xfrm>
              <a:off x="2621757" y="3367463"/>
              <a:ext cx="5611812" cy="398463"/>
            </a:xfrm>
            <a:prstGeom prst="roundRect">
              <a:avLst>
                <a:gd name="adj" fmla="val 361"/>
              </a:avLst>
            </a:prstGeom>
            <a:noFill/>
            <a:ln w="9525">
              <a:noFill/>
              <a:round/>
              <a:headEnd/>
              <a:tailEnd/>
            </a:ln>
          </p:spPr>
          <p:txBody>
            <a:bodyPr lIns="81639" tIns="42452" rIns="81639" bIns="42452" anchor="ctr"/>
            <a:lstStyle/>
            <a:p>
              <a:pPr algn="ctr" defTabSz="407988" eaLnBrk="1">
                <a:lnSpc>
                  <a:spcPct val="98000"/>
                </a:lnSpc>
                <a:spcBef>
                  <a:spcPts val="1138"/>
                </a:spcBef>
                <a:buClr>
                  <a:srgbClr val="000000"/>
                </a:buClr>
                <a:buSzPct val="45000"/>
                <a:buFont typeface="Wingdings" pitchFamily="2" charset="2"/>
                <a:buNone/>
                <a:tabLst>
                  <a:tab pos="657225" algn="l"/>
                  <a:tab pos="1312863" algn="l"/>
                  <a:tab pos="1970088" algn="l"/>
                  <a:tab pos="2627313" algn="l"/>
                  <a:tab pos="3282950" algn="l"/>
                  <a:tab pos="3940175" algn="l"/>
                </a:tabLst>
              </a:pPr>
              <a:r>
                <a:rPr lang="de-DE" b="1" dirty="0" err="1">
                  <a:solidFill>
                    <a:srgbClr val="0070C0"/>
                  </a:solidFill>
                  <a:latin typeface="Bitstream Vera Sans" charset="0"/>
                </a:rPr>
                <a:t>subnet</a:t>
              </a:r>
              <a:r>
                <a:rPr lang="de-DE" b="1" dirty="0">
                  <a:solidFill>
                    <a:srgbClr val="0070C0"/>
                  </a:solidFill>
                  <a:latin typeface="Bitstream Vera Sans" charset="0"/>
                </a:rPr>
                <a:t> </a:t>
              </a:r>
              <a:r>
                <a:rPr lang="de-DE" b="1" dirty="0" err="1">
                  <a:solidFill>
                    <a:srgbClr val="0070C0"/>
                  </a:solidFill>
                  <a:latin typeface="Bitstream Vera Sans" charset="0"/>
                </a:rPr>
                <a:t>mask</a:t>
              </a:r>
              <a:r>
                <a:rPr lang="de-DE" dirty="0">
                  <a:solidFill>
                    <a:srgbClr val="0070C0"/>
                  </a:solidFill>
                  <a:latin typeface="Bitstream Vera Sans" charset="0"/>
                </a:rPr>
                <a:t>: 0xffffff00</a:t>
              </a:r>
              <a:r>
                <a:rPr lang="de-DE" dirty="0">
                  <a:latin typeface="Bitstream Vera Sans" charset="0"/>
                </a:rPr>
                <a:t>=</a:t>
              </a:r>
              <a:r>
                <a:rPr lang="de-DE" b="1" dirty="0">
                  <a:solidFill>
                    <a:srgbClr val="0070C0"/>
                  </a:solidFill>
                  <a:latin typeface="Bitstream Vera Sans" charset="0"/>
                </a:rPr>
                <a:t>255.255.255.0</a:t>
              </a:r>
              <a:r>
                <a:rPr lang="de-DE" dirty="0">
                  <a:solidFill>
                    <a:srgbClr val="0070C0"/>
                  </a:solidFill>
                  <a:latin typeface="Bitstream Vera Sans" charset="0"/>
                </a:rPr>
                <a:t> </a:t>
              </a:r>
              <a:r>
                <a:rPr lang="de-DE" dirty="0">
                  <a:solidFill>
                    <a:srgbClr val="000000"/>
                  </a:solidFill>
                  <a:latin typeface="Bitstream Vera Sans" charset="0"/>
                </a:rPr>
                <a:t>oder auch </a:t>
              </a:r>
              <a:r>
                <a:rPr lang="de-DE" b="1" dirty="0">
                  <a:solidFill>
                    <a:srgbClr val="0070C0"/>
                  </a:solidFill>
                  <a:latin typeface="Bitstream Vera Sans" charset="0"/>
                </a:rPr>
                <a:t>/24</a:t>
              </a:r>
            </a:p>
          </p:txBody>
        </p:sp>
      </p:grpSp>
      <p:sp>
        <p:nvSpPr>
          <p:cNvPr id="7" name="Pfeil nach links und rechts 6"/>
          <p:cNvSpPr/>
          <p:nvPr/>
        </p:nvSpPr>
        <p:spPr>
          <a:xfrm>
            <a:off x="2495998" y="2285691"/>
            <a:ext cx="4414286" cy="494703"/>
          </a:xfrm>
          <a:prstGeom prst="lef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Network Bits</a:t>
            </a:r>
          </a:p>
        </p:txBody>
      </p:sp>
      <p:sp>
        <p:nvSpPr>
          <p:cNvPr id="22" name="Pfeil nach links und rechts 21"/>
          <p:cNvSpPr/>
          <p:nvPr/>
        </p:nvSpPr>
        <p:spPr>
          <a:xfrm>
            <a:off x="6927107" y="2281987"/>
            <a:ext cx="1615128" cy="494703"/>
          </a:xfrm>
          <a:prstGeom prst="leftRight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Host Bits</a:t>
            </a:r>
          </a:p>
        </p:txBody>
      </p:sp>
    </p:spTree>
    <p:extLst>
      <p:ext uri="{BB962C8B-B14F-4D97-AF65-F5344CB8AC3E}">
        <p14:creationId xmlns:p14="http://schemas.microsoft.com/office/powerpoint/2010/main" val="24657683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9" name="Rectangle 5"/>
          <p:cNvSpPr>
            <a:spLocks noGrp="1" noChangeArrowheads="1"/>
          </p:cNvSpPr>
          <p:nvPr>
            <p:ph type="title"/>
          </p:nvPr>
        </p:nvSpPr>
        <p:spPr/>
        <p:txBody>
          <a:bodyPr/>
          <a:lstStyle/>
          <a:p>
            <a:r>
              <a:rPr lang="de-DE" dirty="0"/>
              <a:t>Subnetzmaske /2</a:t>
            </a:r>
            <a:endParaRPr lang="en-US" dirty="0"/>
          </a:p>
        </p:txBody>
      </p:sp>
      <p:sp>
        <p:nvSpPr>
          <p:cNvPr id="49" name="Slide Number Placeholder 6"/>
          <p:cNvSpPr>
            <a:spLocks noGrp="1"/>
          </p:cNvSpPr>
          <p:nvPr>
            <p:ph type="sldNum" sz="quarter" idx="12"/>
          </p:nvPr>
        </p:nvSpPr>
        <p:spPr/>
        <p:txBody>
          <a:bodyPr/>
          <a:lstStyle/>
          <a:p>
            <a:fld id="{FCD08975-25F3-4DFF-B9C8-A74F27652591}" type="slidenum">
              <a:rPr lang="en-US" smtClean="0"/>
              <a:pPr/>
              <a:t>25</a:t>
            </a:fld>
            <a:endParaRPr lang="en-US" dirty="0"/>
          </a:p>
        </p:txBody>
      </p:sp>
      <p:sp>
        <p:nvSpPr>
          <p:cNvPr id="579590" name="Rectangle 6"/>
          <p:cNvSpPr>
            <a:spLocks noGrp="1" noChangeArrowheads="1"/>
          </p:cNvSpPr>
          <p:nvPr>
            <p:ph sz="quarter" idx="1"/>
          </p:nvPr>
        </p:nvSpPr>
        <p:spPr>
          <a:xfrm>
            <a:off x="457200" y="1219200"/>
            <a:ext cx="4495716" cy="4189413"/>
          </a:xfrm>
        </p:spPr>
        <p:txBody>
          <a:bodyPr>
            <a:normAutofit fontScale="92500" lnSpcReduction="10000"/>
          </a:bodyPr>
          <a:lstStyle/>
          <a:p>
            <a:r>
              <a:rPr lang="de-DE" sz="2400" dirty="0">
                <a:solidFill>
                  <a:srgbClr val="000000"/>
                </a:solidFill>
              </a:rPr>
              <a:t>Die </a:t>
            </a:r>
            <a:r>
              <a:rPr lang="de-DE" b="1" dirty="0">
                <a:solidFill>
                  <a:srgbClr val="FF0000"/>
                </a:solidFill>
              </a:rPr>
              <a:t>Subnetzmaske </a:t>
            </a:r>
            <a:r>
              <a:rPr lang="de-DE" dirty="0"/>
              <a:t>eines Subnetzes </a:t>
            </a:r>
            <a:r>
              <a:rPr lang="de-DE" sz="2400" dirty="0">
                <a:solidFill>
                  <a:srgbClr val="000000"/>
                </a:solidFill>
              </a:rPr>
              <a:t>gibt die Länge von </a:t>
            </a:r>
            <a:r>
              <a:rPr lang="de-DE" sz="2400" dirty="0" err="1">
                <a:solidFill>
                  <a:srgbClr val="000000"/>
                </a:solidFill>
              </a:rPr>
              <a:t>netid</a:t>
            </a:r>
            <a:r>
              <a:rPr lang="de-DE" sz="2400" dirty="0">
                <a:solidFill>
                  <a:srgbClr val="000000"/>
                </a:solidFill>
              </a:rPr>
              <a:t> PLUS Subnetz-Teil an</a:t>
            </a:r>
          </a:p>
          <a:p>
            <a:r>
              <a:rPr lang="de-DE" sz="2400" b="1" dirty="0">
                <a:solidFill>
                  <a:srgbClr val="FF0000"/>
                </a:solidFill>
              </a:rPr>
              <a:t>Längenschreibweise</a:t>
            </a:r>
            <a:r>
              <a:rPr lang="de-DE" sz="2400" dirty="0">
                <a:solidFill>
                  <a:srgbClr val="000000"/>
                </a:solidFill>
              </a:rPr>
              <a:t>: </a:t>
            </a:r>
            <a:r>
              <a:rPr lang="de-DE" sz="2400" dirty="0">
                <a:solidFill>
                  <a:srgbClr val="0070C0"/>
                </a:solidFill>
              </a:rPr>
              <a:t>/</a:t>
            </a:r>
            <a:r>
              <a:rPr lang="de-DE" sz="2400" b="1" dirty="0">
                <a:solidFill>
                  <a:srgbClr val="0070C0"/>
                </a:solidFill>
              </a:rPr>
              <a:t>x</a:t>
            </a:r>
            <a:r>
              <a:rPr lang="de-DE" sz="2400" dirty="0">
                <a:solidFill>
                  <a:srgbClr val="0070C0"/>
                </a:solidFill>
              </a:rPr>
              <a:t> </a:t>
            </a:r>
            <a:r>
              <a:rPr lang="de-DE" sz="2400" dirty="0">
                <a:solidFill>
                  <a:srgbClr val="000000"/>
                </a:solidFill>
              </a:rPr>
              <a:t>– die linken</a:t>
            </a:r>
            <a:r>
              <a:rPr lang="de-DE" sz="2400" b="1" dirty="0">
                <a:solidFill>
                  <a:srgbClr val="000000"/>
                </a:solidFill>
              </a:rPr>
              <a:t> </a:t>
            </a:r>
            <a:r>
              <a:rPr lang="de-DE" sz="2400" b="1" dirty="0">
                <a:solidFill>
                  <a:srgbClr val="0070C0"/>
                </a:solidFill>
              </a:rPr>
              <a:t>x</a:t>
            </a:r>
            <a:r>
              <a:rPr lang="de-DE" sz="2400" b="1" dirty="0">
                <a:solidFill>
                  <a:srgbClr val="000000"/>
                </a:solidFill>
              </a:rPr>
              <a:t> </a:t>
            </a:r>
            <a:r>
              <a:rPr lang="de-DE" sz="2400" dirty="0">
                <a:solidFill>
                  <a:srgbClr val="000000"/>
                </a:solidFill>
              </a:rPr>
              <a:t>Bits gehören zu dem Netid+Subnetid-Teil der Adresse</a:t>
            </a:r>
          </a:p>
          <a:p>
            <a:pPr lvl="1"/>
            <a:r>
              <a:rPr lang="de-DE" sz="2000" dirty="0">
                <a:solidFill>
                  <a:srgbClr val="000000"/>
                </a:solidFill>
              </a:rPr>
              <a:t>z.B. </a:t>
            </a:r>
            <a:r>
              <a:rPr lang="en-US" sz="2000" dirty="0">
                <a:latin typeface="Arial" charset="0"/>
              </a:rPr>
              <a:t>223.1.3.0/</a:t>
            </a:r>
            <a:r>
              <a:rPr lang="en-US" sz="2000" b="1" dirty="0">
                <a:solidFill>
                  <a:srgbClr val="0070C0"/>
                </a:solidFill>
                <a:latin typeface="Arial" charset="0"/>
              </a:rPr>
              <a:t>24</a:t>
            </a:r>
            <a:endParaRPr lang="de-DE" sz="2000" b="1" dirty="0">
              <a:solidFill>
                <a:srgbClr val="0070C0"/>
              </a:solidFill>
            </a:endParaRPr>
          </a:p>
          <a:p>
            <a:r>
              <a:rPr lang="de-DE" sz="2400" b="1" dirty="0">
                <a:solidFill>
                  <a:srgbClr val="FF0000"/>
                </a:solidFill>
              </a:rPr>
              <a:t>Maskenschreibweise</a:t>
            </a:r>
            <a:r>
              <a:rPr lang="de-DE" sz="2400" dirty="0">
                <a:solidFill>
                  <a:srgbClr val="000000"/>
                </a:solidFill>
              </a:rPr>
              <a:t>: wie eine IP-Adresse, die für den Netid+Subnetid-Teil 1-en hat (sonst 0-en)</a:t>
            </a:r>
          </a:p>
          <a:p>
            <a:pPr lvl="1"/>
            <a:r>
              <a:rPr lang="de-DE" sz="2000" dirty="0">
                <a:solidFill>
                  <a:srgbClr val="000000"/>
                </a:solidFill>
              </a:rPr>
              <a:t>z.B. 255.255.255.</a:t>
            </a:r>
            <a:r>
              <a:rPr lang="de-DE" sz="2000" b="1" dirty="0">
                <a:solidFill>
                  <a:srgbClr val="0070C0"/>
                </a:solidFill>
              </a:rPr>
              <a:t>0</a:t>
            </a:r>
            <a:r>
              <a:rPr lang="de-DE" sz="2000" dirty="0">
                <a:solidFill>
                  <a:srgbClr val="000000"/>
                </a:solidFill>
              </a:rPr>
              <a:t> (entspricht /24)</a:t>
            </a:r>
          </a:p>
          <a:p>
            <a:endParaRPr lang="en-US" sz="2400" dirty="0"/>
          </a:p>
        </p:txBody>
      </p:sp>
      <p:grpSp>
        <p:nvGrpSpPr>
          <p:cNvPr id="2" name="Group 59"/>
          <p:cNvGrpSpPr>
            <a:grpSpLocks/>
          </p:cNvGrpSpPr>
          <p:nvPr/>
        </p:nvGrpSpPr>
        <p:grpSpPr bwMode="auto">
          <a:xfrm>
            <a:off x="4952916" y="1110305"/>
            <a:ext cx="4191065" cy="4238976"/>
            <a:chOff x="2638" y="509"/>
            <a:chExt cx="3093" cy="2865"/>
          </a:xfrm>
        </p:grpSpPr>
        <p:sp>
          <p:nvSpPr>
            <p:cNvPr id="579586" name="Freeform 2"/>
            <p:cNvSpPr>
              <a:spLocks/>
            </p:cNvSpPr>
            <p:nvPr/>
          </p:nvSpPr>
          <p:spPr bwMode="auto">
            <a:xfrm>
              <a:off x="2758" y="731"/>
              <a:ext cx="1223" cy="1291"/>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587" name="Freeform 3"/>
            <p:cNvSpPr>
              <a:spLocks/>
            </p:cNvSpPr>
            <p:nvPr/>
          </p:nvSpPr>
          <p:spPr bwMode="auto">
            <a:xfrm>
              <a:off x="4343" y="912"/>
              <a:ext cx="1201" cy="1234"/>
            </a:xfrm>
            <a:custGeom>
              <a:avLst/>
              <a:gdLst>
                <a:gd name="T0" fmla="*/ 25 w 1201"/>
                <a:gd name="T1" fmla="*/ 709 h 1234"/>
                <a:gd name="T2" fmla="*/ 526 w 1201"/>
                <a:gd name="T3" fmla="*/ 780 h 1234"/>
                <a:gd name="T4" fmla="*/ 613 w 1201"/>
                <a:gd name="T5" fmla="*/ 1134 h 1234"/>
                <a:gd name="T6" fmla="*/ 946 w 1201"/>
                <a:gd name="T7" fmla="*/ 1230 h 1234"/>
                <a:gd name="T8" fmla="*/ 1171 w 1201"/>
                <a:gd name="T9" fmla="*/ 1107 h 1234"/>
                <a:gd name="T10" fmla="*/ 1126 w 1201"/>
                <a:gd name="T11" fmla="*/ 894 h 1234"/>
                <a:gd name="T12" fmla="*/ 1114 w 1201"/>
                <a:gd name="T13" fmla="*/ 693 h 1234"/>
                <a:gd name="T14" fmla="*/ 1099 w 1201"/>
                <a:gd name="T15" fmla="*/ 423 h 1234"/>
                <a:gd name="T16" fmla="*/ 1141 w 1201"/>
                <a:gd name="T17" fmla="*/ 216 h 1234"/>
                <a:gd name="T18" fmla="*/ 1102 w 1201"/>
                <a:gd name="T19" fmla="*/ 33 h 1234"/>
                <a:gd name="T20" fmla="*/ 646 w 1201"/>
                <a:gd name="T21" fmla="*/ 81 h 1234"/>
                <a:gd name="T22" fmla="*/ 535 w 1201"/>
                <a:gd name="T23" fmla="*/ 519 h 1234"/>
                <a:gd name="T24" fmla="*/ 44 w 1201"/>
                <a:gd name="T25" fmla="*/ 548 h 1234"/>
                <a:gd name="T26" fmla="*/ 25 w 1201"/>
                <a:gd name="T27" fmla="*/ 709 h 1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588" name="Freeform 4"/>
            <p:cNvSpPr>
              <a:spLocks/>
            </p:cNvSpPr>
            <p:nvPr/>
          </p:nvSpPr>
          <p:spPr bwMode="auto">
            <a:xfrm>
              <a:off x="3514" y="1815"/>
              <a:ext cx="1286" cy="1247"/>
            </a:xfrm>
            <a:custGeom>
              <a:avLst/>
              <a:gdLst>
                <a:gd name="T0" fmla="*/ 587 w 1286"/>
                <a:gd name="T1" fmla="*/ 30 h 1247"/>
                <a:gd name="T2" fmla="*/ 509 w 1286"/>
                <a:gd name="T3" fmla="*/ 618 h 1247"/>
                <a:gd name="T4" fmla="*/ 77 w 1286"/>
                <a:gd name="T5" fmla="*/ 909 h 1247"/>
                <a:gd name="T6" fmla="*/ 47 w 1286"/>
                <a:gd name="T7" fmla="*/ 1095 h 1247"/>
                <a:gd name="T8" fmla="*/ 140 w 1286"/>
                <a:gd name="T9" fmla="*/ 1224 h 1247"/>
                <a:gd name="T10" fmla="*/ 461 w 1286"/>
                <a:gd name="T11" fmla="*/ 1209 h 1247"/>
                <a:gd name="T12" fmla="*/ 692 w 1286"/>
                <a:gd name="T13" fmla="*/ 1209 h 1247"/>
                <a:gd name="T14" fmla="*/ 1190 w 1286"/>
                <a:gd name="T15" fmla="*/ 1227 h 1247"/>
                <a:gd name="T16" fmla="*/ 1271 w 1286"/>
                <a:gd name="T17" fmla="*/ 1089 h 1247"/>
                <a:gd name="T18" fmla="*/ 1139 w 1286"/>
                <a:gd name="T19" fmla="*/ 741 h 1247"/>
                <a:gd name="T20" fmla="*/ 800 w 1286"/>
                <a:gd name="T21" fmla="*/ 627 h 1247"/>
                <a:gd name="T22" fmla="*/ 749 w 1286"/>
                <a:gd name="T23" fmla="*/ 42 h 1247"/>
                <a:gd name="T24" fmla="*/ 587 w 1286"/>
                <a:gd name="T25" fmla="*/ 30 h 1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6" h="1247">
                  <a:moveTo>
                    <a:pt x="587" y="30"/>
                  </a:moveTo>
                  <a:cubicBezTo>
                    <a:pt x="473" y="60"/>
                    <a:pt x="601" y="475"/>
                    <a:pt x="509" y="618"/>
                  </a:cubicBezTo>
                  <a:cubicBezTo>
                    <a:pt x="424" y="765"/>
                    <a:pt x="154" y="830"/>
                    <a:pt x="77" y="909"/>
                  </a:cubicBezTo>
                  <a:cubicBezTo>
                    <a:pt x="0" y="988"/>
                    <a:pt x="37" y="1043"/>
                    <a:pt x="47" y="1095"/>
                  </a:cubicBezTo>
                  <a:cubicBezTo>
                    <a:pt x="57" y="1147"/>
                    <a:pt x="71" y="1205"/>
                    <a:pt x="140" y="1224"/>
                  </a:cubicBezTo>
                  <a:cubicBezTo>
                    <a:pt x="209" y="1243"/>
                    <a:pt x="369" y="1212"/>
                    <a:pt x="461" y="1209"/>
                  </a:cubicBezTo>
                  <a:cubicBezTo>
                    <a:pt x="553" y="1206"/>
                    <a:pt x="571" y="1206"/>
                    <a:pt x="692" y="1209"/>
                  </a:cubicBezTo>
                  <a:cubicBezTo>
                    <a:pt x="813" y="1212"/>
                    <a:pt x="1094" y="1247"/>
                    <a:pt x="1190" y="1227"/>
                  </a:cubicBezTo>
                  <a:cubicBezTo>
                    <a:pt x="1286" y="1207"/>
                    <a:pt x="1279" y="1170"/>
                    <a:pt x="1271" y="1089"/>
                  </a:cubicBezTo>
                  <a:cubicBezTo>
                    <a:pt x="1263" y="1008"/>
                    <a:pt x="1217" y="818"/>
                    <a:pt x="1139" y="741"/>
                  </a:cubicBezTo>
                  <a:cubicBezTo>
                    <a:pt x="1061" y="664"/>
                    <a:pt x="865" y="743"/>
                    <a:pt x="800" y="627"/>
                  </a:cubicBezTo>
                  <a:cubicBezTo>
                    <a:pt x="735" y="511"/>
                    <a:pt x="785" y="142"/>
                    <a:pt x="749" y="42"/>
                  </a:cubicBezTo>
                  <a:cubicBezTo>
                    <a:pt x="695" y="15"/>
                    <a:pt x="701" y="0"/>
                    <a:pt x="587" y="30"/>
                  </a:cubicBezTo>
                  <a:close/>
                </a:path>
              </a:pathLst>
            </a:cu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graphicFrame>
          <p:nvGraphicFramePr>
            <p:cNvPr id="579591" name="Object 7"/>
            <p:cNvGraphicFramePr>
              <a:graphicFrameLocks noChangeAspect="1"/>
            </p:cNvGraphicFramePr>
            <p:nvPr/>
          </p:nvGraphicFramePr>
          <p:xfrm>
            <a:off x="2807" y="797"/>
            <a:ext cx="368" cy="292"/>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57959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7" y="797"/>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9592" name="Line 8"/>
            <p:cNvSpPr>
              <a:spLocks noChangeShapeType="1"/>
            </p:cNvSpPr>
            <p:nvPr/>
          </p:nvSpPr>
          <p:spPr bwMode="auto">
            <a:xfrm>
              <a:off x="3160" y="1032"/>
              <a:ext cx="175"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593" name="Line 9"/>
            <p:cNvSpPr>
              <a:spLocks noChangeShapeType="1"/>
            </p:cNvSpPr>
            <p:nvPr/>
          </p:nvSpPr>
          <p:spPr bwMode="auto">
            <a:xfrm flipH="1">
              <a:off x="3343" y="1023"/>
              <a:ext cx="0" cy="8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594" name="Line 10"/>
            <p:cNvSpPr>
              <a:spLocks noChangeShapeType="1"/>
            </p:cNvSpPr>
            <p:nvPr/>
          </p:nvSpPr>
          <p:spPr bwMode="auto">
            <a:xfrm flipV="1">
              <a:off x="3160" y="1438"/>
              <a:ext cx="175"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595" name="Line 11"/>
            <p:cNvSpPr>
              <a:spLocks noChangeShapeType="1"/>
            </p:cNvSpPr>
            <p:nvPr/>
          </p:nvSpPr>
          <p:spPr bwMode="auto">
            <a:xfrm>
              <a:off x="3166" y="1833"/>
              <a:ext cx="17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graphicFrame>
          <p:nvGraphicFramePr>
            <p:cNvPr id="579596" name="Object 12"/>
            <p:cNvGraphicFramePr>
              <a:graphicFrameLocks noChangeAspect="1"/>
            </p:cNvGraphicFramePr>
            <p:nvPr/>
          </p:nvGraphicFramePr>
          <p:xfrm>
            <a:off x="2807" y="1217"/>
            <a:ext cx="368" cy="292"/>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579596"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7" y="1217"/>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9597" name="Object 13"/>
            <p:cNvGraphicFramePr>
              <a:graphicFrameLocks noChangeAspect="1"/>
            </p:cNvGraphicFramePr>
            <p:nvPr/>
          </p:nvGraphicFramePr>
          <p:xfrm>
            <a:off x="2807" y="1601"/>
            <a:ext cx="368" cy="292"/>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579597"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7" y="1601"/>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9598" name="Line 14"/>
            <p:cNvSpPr>
              <a:spLocks noChangeShapeType="1"/>
            </p:cNvSpPr>
            <p:nvPr/>
          </p:nvSpPr>
          <p:spPr bwMode="auto">
            <a:xfrm>
              <a:off x="3343" y="1563"/>
              <a:ext cx="652"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grpSp>
          <p:nvGrpSpPr>
            <p:cNvPr id="3" name="Group 15"/>
            <p:cNvGrpSpPr>
              <a:grpSpLocks/>
            </p:cNvGrpSpPr>
            <p:nvPr/>
          </p:nvGrpSpPr>
          <p:grpSpPr bwMode="auto">
            <a:xfrm>
              <a:off x="3937" y="1541"/>
              <a:ext cx="448" cy="240"/>
              <a:chOff x="3600" y="219"/>
              <a:chExt cx="360" cy="175"/>
            </a:xfrm>
          </p:grpSpPr>
          <p:sp>
            <p:nvSpPr>
              <p:cNvPr id="579600" name="Oval 1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01" name="Line 1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02" name="Line 1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03" name="Rectangle 1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DE" sz="3600">
                  <a:latin typeface="Times New Roman" pitchFamily="18" charset="0"/>
                </a:endParaRPr>
              </a:p>
            </p:txBody>
          </p:sp>
          <p:sp>
            <p:nvSpPr>
              <p:cNvPr id="579604" name="Oval 2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grpSp>
            <p:nvGrpSpPr>
              <p:cNvPr id="4" name="Group 21"/>
              <p:cNvGrpSpPr>
                <a:grpSpLocks/>
              </p:cNvGrpSpPr>
              <p:nvPr/>
            </p:nvGrpSpPr>
            <p:grpSpPr bwMode="auto">
              <a:xfrm>
                <a:off x="3686" y="244"/>
                <a:ext cx="177" cy="66"/>
                <a:chOff x="2848" y="848"/>
                <a:chExt cx="140" cy="98"/>
              </a:xfrm>
            </p:grpSpPr>
            <p:sp>
              <p:nvSpPr>
                <p:cNvPr id="579606" name="Line 2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07" name="Line 2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08" name="Line 2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grpSp>
          <p:grpSp>
            <p:nvGrpSpPr>
              <p:cNvPr id="5" name="Group 25"/>
              <p:cNvGrpSpPr>
                <a:grpSpLocks/>
              </p:cNvGrpSpPr>
              <p:nvPr/>
            </p:nvGrpSpPr>
            <p:grpSpPr bwMode="auto">
              <a:xfrm flipV="1">
                <a:off x="3686" y="243"/>
                <a:ext cx="177" cy="66"/>
                <a:chOff x="2848" y="848"/>
                <a:chExt cx="140" cy="98"/>
              </a:xfrm>
            </p:grpSpPr>
            <p:sp>
              <p:nvSpPr>
                <p:cNvPr id="579610" name="Line 2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11" name="Line 2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12" name="Line 2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grpSp>
        </p:grpSp>
        <p:sp>
          <p:nvSpPr>
            <p:cNvPr id="579617" name="Text Box 33"/>
            <p:cNvSpPr txBox="1">
              <a:spLocks noChangeArrowheads="1"/>
            </p:cNvSpPr>
            <p:nvPr/>
          </p:nvSpPr>
          <p:spPr bwMode="auto">
            <a:xfrm>
              <a:off x="2638" y="509"/>
              <a:ext cx="140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a:latin typeface="Arial" charset="0"/>
                </a:rPr>
                <a:t>223.1.1.0/24</a:t>
              </a:r>
              <a:endParaRPr lang="en-US" sz="2800"/>
            </a:p>
          </p:txBody>
        </p:sp>
        <p:sp>
          <p:nvSpPr>
            <p:cNvPr id="579618" name="Line 34"/>
            <p:cNvSpPr>
              <a:spLocks noChangeShapeType="1"/>
            </p:cNvSpPr>
            <p:nvPr/>
          </p:nvSpPr>
          <p:spPr bwMode="auto">
            <a:xfrm>
              <a:off x="4318" y="1569"/>
              <a:ext cx="640"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19" name="Text Box 35"/>
            <p:cNvSpPr txBox="1">
              <a:spLocks noChangeArrowheads="1"/>
            </p:cNvSpPr>
            <p:nvPr/>
          </p:nvSpPr>
          <p:spPr bwMode="auto">
            <a:xfrm>
              <a:off x="4331" y="600"/>
              <a:ext cx="140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latin typeface="Arial" charset="0"/>
                </a:rPr>
                <a:t>223.1.2.0/24</a:t>
              </a:r>
              <a:endParaRPr lang="en-US" sz="2800" dirty="0"/>
            </a:p>
          </p:txBody>
        </p:sp>
        <p:sp>
          <p:nvSpPr>
            <p:cNvPr id="579620" name="Line 36"/>
            <p:cNvSpPr>
              <a:spLocks noChangeShapeType="1"/>
            </p:cNvSpPr>
            <p:nvPr/>
          </p:nvSpPr>
          <p:spPr bwMode="auto">
            <a:xfrm flipH="1">
              <a:off x="4963" y="1131"/>
              <a:ext cx="0" cy="8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graphicFrame>
          <p:nvGraphicFramePr>
            <p:cNvPr id="579621" name="Object 37"/>
            <p:cNvGraphicFramePr>
              <a:graphicFrameLocks noChangeAspect="1"/>
            </p:cNvGraphicFramePr>
            <p:nvPr/>
          </p:nvGraphicFramePr>
          <p:xfrm>
            <a:off x="5075" y="947"/>
            <a:ext cx="368" cy="292"/>
          </p:xfrm>
          <a:graphic>
            <a:graphicData uri="http://schemas.openxmlformats.org/presentationml/2006/ole">
              <mc:AlternateContent xmlns:mc="http://schemas.openxmlformats.org/markup-compatibility/2006">
                <mc:Choice xmlns:v="urn:schemas-microsoft-com:vml" Requires="v">
                  <p:oleObj name="Clip" r:id="rId7" imgW="1307263" imgH="1084139" progId="">
                    <p:embed/>
                  </p:oleObj>
                </mc:Choice>
                <mc:Fallback>
                  <p:oleObj name="Clip" r:id="rId7" imgW="1307263" imgH="1084139" progId="">
                    <p:embed/>
                    <p:pic>
                      <p:nvPicPr>
                        <p:cNvPr id="579621"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5" y="947"/>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9622" name="Line 38"/>
            <p:cNvSpPr>
              <a:spLocks noChangeShapeType="1"/>
            </p:cNvSpPr>
            <p:nvPr/>
          </p:nvSpPr>
          <p:spPr bwMode="auto">
            <a:xfrm>
              <a:off x="4963" y="1134"/>
              <a:ext cx="148"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graphicFrame>
          <p:nvGraphicFramePr>
            <p:cNvPr id="579623" name="Object 39"/>
            <p:cNvGraphicFramePr>
              <a:graphicFrameLocks noChangeAspect="1"/>
            </p:cNvGraphicFramePr>
            <p:nvPr/>
          </p:nvGraphicFramePr>
          <p:xfrm>
            <a:off x="5078" y="1817"/>
            <a:ext cx="368" cy="292"/>
          </p:xfrm>
          <a:graphic>
            <a:graphicData uri="http://schemas.openxmlformats.org/presentationml/2006/ole">
              <mc:AlternateContent xmlns:mc="http://schemas.openxmlformats.org/markup-compatibility/2006">
                <mc:Choice xmlns:v="urn:schemas-microsoft-com:vml" Requires="v">
                  <p:oleObj name="Clip" r:id="rId8" imgW="1307263" imgH="1084139" progId="">
                    <p:embed/>
                  </p:oleObj>
                </mc:Choice>
                <mc:Fallback>
                  <p:oleObj name="Clip" r:id="rId8" imgW="1307263" imgH="1084139" progId="">
                    <p:embed/>
                    <p:pic>
                      <p:nvPicPr>
                        <p:cNvPr id="579623"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8" y="1817"/>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9624" name="Line 40"/>
            <p:cNvSpPr>
              <a:spLocks noChangeShapeType="1"/>
            </p:cNvSpPr>
            <p:nvPr/>
          </p:nvSpPr>
          <p:spPr bwMode="auto">
            <a:xfrm>
              <a:off x="4963" y="1935"/>
              <a:ext cx="148"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29" name="Line 45"/>
            <p:cNvSpPr>
              <a:spLocks noChangeShapeType="1"/>
            </p:cNvSpPr>
            <p:nvPr/>
          </p:nvSpPr>
          <p:spPr bwMode="auto">
            <a:xfrm flipH="1">
              <a:off x="4168" y="1782"/>
              <a:ext cx="0" cy="8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30" name="Line 46"/>
            <p:cNvSpPr>
              <a:spLocks noChangeShapeType="1"/>
            </p:cNvSpPr>
            <p:nvPr/>
          </p:nvSpPr>
          <p:spPr bwMode="auto">
            <a:xfrm flipH="1">
              <a:off x="3784" y="2589"/>
              <a:ext cx="74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31" name="Line 47"/>
            <p:cNvSpPr>
              <a:spLocks noChangeShapeType="1"/>
            </p:cNvSpPr>
            <p:nvPr/>
          </p:nvSpPr>
          <p:spPr bwMode="auto">
            <a:xfrm flipH="1" flipV="1">
              <a:off x="3782" y="2584"/>
              <a:ext cx="2" cy="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sp>
          <p:nvSpPr>
            <p:cNvPr id="579632" name="Line 48"/>
            <p:cNvSpPr>
              <a:spLocks noChangeShapeType="1"/>
            </p:cNvSpPr>
            <p:nvPr/>
          </p:nvSpPr>
          <p:spPr bwMode="auto">
            <a:xfrm flipH="1" flipV="1">
              <a:off x="4523" y="2587"/>
              <a:ext cx="2" cy="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graphicFrame>
          <p:nvGraphicFramePr>
            <p:cNvPr id="579633" name="Object 49"/>
            <p:cNvGraphicFramePr>
              <a:graphicFrameLocks noChangeAspect="1"/>
            </p:cNvGraphicFramePr>
            <p:nvPr/>
          </p:nvGraphicFramePr>
          <p:xfrm>
            <a:off x="4388" y="2687"/>
            <a:ext cx="368" cy="292"/>
          </p:xfrm>
          <a:graphic>
            <a:graphicData uri="http://schemas.openxmlformats.org/presentationml/2006/ole">
              <mc:AlternateContent xmlns:mc="http://schemas.openxmlformats.org/markup-compatibility/2006">
                <mc:Choice xmlns:v="urn:schemas-microsoft-com:vml" Requires="v">
                  <p:oleObj name="Clip" r:id="rId9" imgW="1307263" imgH="1084139" progId="">
                    <p:embed/>
                  </p:oleObj>
                </mc:Choice>
                <mc:Fallback>
                  <p:oleObj name="Clip" r:id="rId9" imgW="1307263" imgH="1084139" progId="">
                    <p:embed/>
                    <p:pic>
                      <p:nvPicPr>
                        <p:cNvPr id="579633"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8" y="2687"/>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9634" name="Object 50"/>
            <p:cNvGraphicFramePr>
              <a:graphicFrameLocks noChangeAspect="1"/>
            </p:cNvGraphicFramePr>
            <p:nvPr/>
          </p:nvGraphicFramePr>
          <p:xfrm>
            <a:off x="3596" y="2696"/>
            <a:ext cx="368" cy="292"/>
          </p:xfrm>
          <a:graphic>
            <a:graphicData uri="http://schemas.openxmlformats.org/presentationml/2006/ole">
              <mc:AlternateContent xmlns:mc="http://schemas.openxmlformats.org/markup-compatibility/2006">
                <mc:Choice xmlns:v="urn:schemas-microsoft-com:vml" Requires="v">
                  <p:oleObj name="Clip" r:id="rId10" imgW="1307263" imgH="1084139" progId="">
                    <p:embed/>
                  </p:oleObj>
                </mc:Choice>
                <mc:Fallback>
                  <p:oleObj name="Clip" r:id="rId10" imgW="1307263" imgH="1084139" progId="">
                    <p:embed/>
                    <p:pic>
                      <p:nvPicPr>
                        <p:cNvPr id="579634"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6" y="2696"/>
                          <a:ext cx="368"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9635" name="Text Box 51"/>
            <p:cNvSpPr txBox="1">
              <a:spLocks noChangeArrowheads="1"/>
            </p:cNvSpPr>
            <p:nvPr/>
          </p:nvSpPr>
          <p:spPr bwMode="auto">
            <a:xfrm>
              <a:off x="3468" y="3062"/>
              <a:ext cx="140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latin typeface="Arial" charset="0"/>
                </a:rPr>
                <a:t>223.1.3.0/24</a:t>
              </a:r>
              <a:endParaRPr lang="en-US" sz="2800" dirty="0"/>
            </a:p>
          </p:txBody>
        </p:sp>
        <p:sp>
          <p:nvSpPr>
            <p:cNvPr id="579636" name="Rectangle 52"/>
            <p:cNvSpPr>
              <a:spLocks noChangeArrowheads="1"/>
            </p:cNvSpPr>
            <p:nvPr/>
          </p:nvSpPr>
          <p:spPr bwMode="auto">
            <a:xfrm>
              <a:off x="3054" y="2412"/>
              <a:ext cx="534" cy="1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2800"/>
            </a:p>
          </p:txBody>
        </p:sp>
      </p:grpSp>
      <p:sp>
        <p:nvSpPr>
          <p:cNvPr id="579645" name="Text Box 61"/>
          <p:cNvSpPr txBox="1">
            <a:spLocks noChangeArrowheads="1"/>
          </p:cNvSpPr>
          <p:nvPr/>
        </p:nvSpPr>
        <p:spPr bwMode="auto">
          <a:xfrm>
            <a:off x="6222463" y="5497401"/>
            <a:ext cx="21852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err="1"/>
              <a:t>Subnetzmaske</a:t>
            </a:r>
            <a:r>
              <a:rPr lang="en-US" dirty="0"/>
              <a:t>: /24</a:t>
            </a:r>
          </a:p>
          <a:p>
            <a:r>
              <a:rPr lang="en-US" dirty="0" err="1"/>
              <a:t>oder</a:t>
            </a:r>
            <a:r>
              <a:rPr lang="en-US" dirty="0"/>
              <a:t> 255.255.255.0</a:t>
            </a:r>
          </a:p>
        </p:txBody>
      </p:sp>
      <p:grpSp>
        <p:nvGrpSpPr>
          <p:cNvPr id="6" name="Group 4"/>
          <p:cNvGrpSpPr>
            <a:grpSpLocks/>
          </p:cNvGrpSpPr>
          <p:nvPr/>
        </p:nvGrpSpPr>
        <p:grpSpPr bwMode="auto">
          <a:xfrm>
            <a:off x="442454" y="5327477"/>
            <a:ext cx="4241089" cy="1312268"/>
            <a:chOff x="1339" y="781"/>
            <a:chExt cx="3997" cy="1068"/>
          </a:xfrm>
        </p:grpSpPr>
        <p:sp>
          <p:nvSpPr>
            <p:cNvPr id="52" name="Text Box 5"/>
            <p:cNvSpPr txBox="1">
              <a:spLocks noChangeArrowheads="1"/>
            </p:cNvSpPr>
            <p:nvPr/>
          </p:nvSpPr>
          <p:spPr bwMode="auto">
            <a:xfrm>
              <a:off x="1339" y="1262"/>
              <a:ext cx="3997"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dirty="0">
                  <a:solidFill>
                    <a:srgbClr val="FF0000"/>
                  </a:solidFill>
                  <a:latin typeface="Arial" charset="0"/>
                </a:rPr>
                <a:t>11001000  00010111  </a:t>
              </a:r>
              <a:r>
                <a:rPr lang="en-US" sz="1600" dirty="0">
                  <a:solidFill>
                    <a:srgbClr val="808080"/>
                  </a:solidFill>
                  <a:latin typeface="Arial" charset="0"/>
                </a:rPr>
                <a:t>00010000</a:t>
              </a:r>
              <a:r>
                <a:rPr lang="en-US" sz="1600" dirty="0">
                  <a:latin typeface="Arial" charset="0"/>
                </a:rPr>
                <a:t>  00000000</a:t>
              </a:r>
              <a:endParaRPr lang="en-US" sz="1600" dirty="0">
                <a:latin typeface="Times New Roman" pitchFamily="18" charset="0"/>
              </a:endParaRPr>
            </a:p>
          </p:txBody>
        </p:sp>
        <p:sp>
          <p:nvSpPr>
            <p:cNvPr id="53" name="Text Box 6"/>
            <p:cNvSpPr txBox="1">
              <a:spLocks noChangeArrowheads="1"/>
            </p:cNvSpPr>
            <p:nvPr/>
          </p:nvSpPr>
          <p:spPr bwMode="auto">
            <a:xfrm>
              <a:off x="3204" y="781"/>
              <a:ext cx="1044" cy="5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dirty="0" err="1">
                  <a:solidFill>
                    <a:srgbClr val="808080"/>
                  </a:solidFill>
                </a:rPr>
                <a:t>Subnetz</a:t>
              </a:r>
              <a:r>
                <a:rPr lang="en-US" dirty="0">
                  <a:solidFill>
                    <a:srgbClr val="808080"/>
                  </a:solidFill>
                </a:rPr>
                <a:t>-</a:t>
              </a:r>
            </a:p>
            <a:p>
              <a:pPr algn="ctr"/>
              <a:r>
                <a:rPr lang="en-US" dirty="0" err="1">
                  <a:solidFill>
                    <a:srgbClr val="808080"/>
                  </a:solidFill>
                </a:rPr>
                <a:t>Teil</a:t>
              </a:r>
              <a:endParaRPr lang="en-US" dirty="0">
                <a:solidFill>
                  <a:srgbClr val="808080"/>
                </a:solidFill>
              </a:endParaRPr>
            </a:p>
          </p:txBody>
        </p:sp>
        <p:sp>
          <p:nvSpPr>
            <p:cNvPr id="54" name="Text Box 7"/>
            <p:cNvSpPr txBox="1">
              <a:spLocks noChangeArrowheads="1"/>
            </p:cNvSpPr>
            <p:nvPr/>
          </p:nvSpPr>
          <p:spPr bwMode="auto">
            <a:xfrm>
              <a:off x="4327" y="793"/>
              <a:ext cx="694" cy="5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dirty="0"/>
                <a:t>Host-</a:t>
              </a:r>
              <a:br>
                <a:rPr lang="en-US" dirty="0"/>
              </a:br>
              <a:r>
                <a:rPr lang="en-US" dirty="0" err="1"/>
                <a:t>Teil</a:t>
              </a:r>
              <a:endParaRPr lang="en-US" dirty="0"/>
            </a:p>
          </p:txBody>
        </p:sp>
        <p:sp>
          <p:nvSpPr>
            <p:cNvPr id="55" name="Line 8"/>
            <p:cNvSpPr>
              <a:spLocks noChangeShapeType="1"/>
            </p:cNvSpPr>
            <p:nvPr/>
          </p:nvSpPr>
          <p:spPr bwMode="auto">
            <a:xfrm>
              <a:off x="3963" y="1121"/>
              <a:ext cx="177"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56" name="Line 9"/>
            <p:cNvSpPr>
              <a:spLocks noChangeShapeType="1"/>
            </p:cNvSpPr>
            <p:nvPr/>
          </p:nvSpPr>
          <p:spPr bwMode="auto">
            <a:xfrm flipH="1">
              <a:off x="3248" y="1107"/>
              <a:ext cx="221"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57" name="Line 10"/>
            <p:cNvSpPr>
              <a:spLocks noChangeShapeType="1"/>
            </p:cNvSpPr>
            <p:nvPr/>
          </p:nvSpPr>
          <p:spPr bwMode="auto">
            <a:xfrm flipH="1" flipV="1">
              <a:off x="4225" y="1056"/>
              <a:ext cx="26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58" name="Line 11"/>
            <p:cNvSpPr>
              <a:spLocks noChangeShapeType="1"/>
            </p:cNvSpPr>
            <p:nvPr/>
          </p:nvSpPr>
          <p:spPr bwMode="auto">
            <a:xfrm flipV="1">
              <a:off x="4853" y="1056"/>
              <a:ext cx="37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59" name="Text Box 12"/>
            <p:cNvSpPr txBox="1">
              <a:spLocks noChangeArrowheads="1"/>
            </p:cNvSpPr>
            <p:nvPr/>
          </p:nvSpPr>
          <p:spPr bwMode="auto">
            <a:xfrm>
              <a:off x="2511" y="1548"/>
              <a:ext cx="1714"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dirty="0"/>
                <a:t>200.23.16.0/24</a:t>
              </a:r>
              <a:endParaRPr lang="en-US" sz="1400" dirty="0"/>
            </a:p>
          </p:txBody>
        </p:sp>
        <p:sp>
          <p:nvSpPr>
            <p:cNvPr id="60" name="Text Box 6"/>
            <p:cNvSpPr txBox="1">
              <a:spLocks noChangeArrowheads="1"/>
            </p:cNvSpPr>
            <p:nvPr/>
          </p:nvSpPr>
          <p:spPr bwMode="auto">
            <a:xfrm>
              <a:off x="1978" y="791"/>
              <a:ext cx="754" cy="5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dirty="0" err="1">
                  <a:solidFill>
                    <a:srgbClr val="FF0000"/>
                  </a:solidFill>
                </a:rPr>
                <a:t>Netid</a:t>
              </a:r>
              <a:r>
                <a:rPr lang="en-US" dirty="0">
                  <a:solidFill>
                    <a:srgbClr val="FF0000"/>
                  </a:solidFill>
                </a:rPr>
                <a:t>-</a:t>
              </a:r>
            </a:p>
            <a:p>
              <a:pPr algn="ctr"/>
              <a:r>
                <a:rPr lang="en-US" dirty="0" err="1">
                  <a:solidFill>
                    <a:srgbClr val="FF0000"/>
                  </a:solidFill>
                </a:rPr>
                <a:t>Teil</a:t>
              </a:r>
              <a:endParaRPr lang="en-US" dirty="0">
                <a:solidFill>
                  <a:srgbClr val="FF0000"/>
                </a:solidFill>
              </a:endParaRPr>
            </a:p>
          </p:txBody>
        </p:sp>
        <p:sp>
          <p:nvSpPr>
            <p:cNvPr id="61" name="Line 8"/>
            <p:cNvSpPr>
              <a:spLocks noChangeShapeType="1"/>
            </p:cNvSpPr>
            <p:nvPr/>
          </p:nvSpPr>
          <p:spPr bwMode="auto">
            <a:xfrm>
              <a:off x="2555" y="1054"/>
              <a:ext cx="619" cy="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sp>
          <p:nvSpPr>
            <p:cNvPr id="62" name="Line 9"/>
            <p:cNvSpPr>
              <a:spLocks noChangeShapeType="1"/>
            </p:cNvSpPr>
            <p:nvPr/>
          </p:nvSpPr>
          <p:spPr bwMode="auto">
            <a:xfrm flipH="1" flipV="1">
              <a:off x="1425" y="1054"/>
              <a:ext cx="702" cy="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sz="1400"/>
            </a:p>
          </p:txBody>
        </p:sp>
      </p:grpSp>
      <p:sp>
        <p:nvSpPr>
          <p:cNvPr id="7" name="Rechteckige Legende 6"/>
          <p:cNvSpPr/>
          <p:nvPr/>
        </p:nvSpPr>
        <p:spPr>
          <a:xfrm>
            <a:off x="4927762" y="3331766"/>
            <a:ext cx="1617300" cy="839776"/>
          </a:xfrm>
          <a:prstGeom prst="wedgeRectCallout">
            <a:avLst>
              <a:gd name="adj1" fmla="val -168394"/>
              <a:gd name="adj2" fmla="val -44690"/>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de-DE" sz="1600" dirty="0"/>
              <a:t>Auch als CIDR-Darstellung bekannt</a:t>
            </a:r>
          </a:p>
        </p:txBody>
      </p:sp>
    </p:spTree>
    <p:extLst>
      <p:ext uri="{BB962C8B-B14F-4D97-AF65-F5344CB8AC3E}">
        <p14:creationId xmlns:p14="http://schemas.microsoft.com/office/powerpoint/2010/main" val="63425945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lIns="0" tIns="0" rIns="0" bIns="0"/>
          <a:lstStyle/>
          <a:p>
            <a:pPr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de-DE" sz="2800"/>
              <a:t>Beispiel für die Verwendung von Subnetzmasken</a:t>
            </a:r>
          </a:p>
        </p:txBody>
      </p:sp>
      <p:sp>
        <p:nvSpPr>
          <p:cNvPr id="7" name="Slide Number Placeholder 6"/>
          <p:cNvSpPr>
            <a:spLocks noGrp="1"/>
          </p:cNvSpPr>
          <p:nvPr>
            <p:ph type="sldNum" sz="quarter" idx="12"/>
          </p:nvPr>
        </p:nvSpPr>
        <p:spPr/>
        <p:txBody>
          <a:bodyPr/>
          <a:lstStyle/>
          <a:p>
            <a:fld id="{DAD4710D-7044-4A3F-B9DE-CA79DBB0B75F}" type="slidenum">
              <a:rPr lang="de-DE" smtClean="0"/>
              <a:pPr/>
              <a:t>26</a:t>
            </a:fld>
            <a:endParaRPr lang="de-DE" dirty="0"/>
          </a:p>
        </p:txBody>
      </p:sp>
      <p:sp>
        <p:nvSpPr>
          <p:cNvPr id="52228" name="Rectangle 3"/>
          <p:cNvSpPr>
            <a:spLocks noGrp="1" noChangeArrowheads="1"/>
          </p:cNvSpPr>
          <p:nvPr>
            <p:ph sz="quarter" idx="1"/>
          </p:nvPr>
        </p:nvSpPr>
        <p:spPr/>
        <p:txBody>
          <a:bodyPr lIns="0" tIns="0" rIns="0" bIns="0">
            <a:normAutofit/>
          </a:bodyPr>
          <a:lstStyle/>
          <a:p>
            <a:pPr marL="431800" indent="-323850"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Gegeben:</a:t>
            </a:r>
          </a:p>
          <a:p>
            <a:pPr marL="863600" lvl="1"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solidFill>
                  <a:srgbClr val="FF0000"/>
                </a:solidFill>
              </a:rPr>
              <a:t>Eigene IP-Adresse: 134.155.48.10</a:t>
            </a:r>
          </a:p>
          <a:p>
            <a:pPr marL="863600" lvl="1"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Subnetzmaske: 255.255.255.0</a:t>
            </a:r>
          </a:p>
          <a:p>
            <a:pPr marL="863600" lvl="1"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Fremde IP-Adressen</a:t>
            </a:r>
          </a:p>
          <a:p>
            <a:pPr marL="1137920" lvl="2"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100" dirty="0">
                <a:solidFill>
                  <a:srgbClr val="0070C0"/>
                </a:solidFill>
              </a:rPr>
              <a:t> A: 134.155.48.96, B: 134.155.55.96</a:t>
            </a:r>
            <a:endParaRPr lang="de-DE" sz="2100" dirty="0"/>
          </a:p>
          <a:p>
            <a:pPr marL="431800" indent="-323850"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Überprüfen der beiden Adressen – welche Subnetze?</a:t>
            </a:r>
          </a:p>
        </p:txBody>
      </p:sp>
      <p:sp>
        <p:nvSpPr>
          <p:cNvPr id="5" name="Inhaltsplatzhalter 4"/>
          <p:cNvSpPr>
            <a:spLocks noGrp="1"/>
          </p:cNvSpPr>
          <p:nvPr>
            <p:ph sz="quarter" idx="13"/>
          </p:nvPr>
        </p:nvSpPr>
        <p:spPr>
          <a:xfrm>
            <a:off x="539552" y="3776288"/>
            <a:ext cx="7930674" cy="2800712"/>
          </a:xfrm>
        </p:spPr>
        <p:txBody>
          <a:bodyPr>
            <a:normAutofit fontScale="92500"/>
          </a:bodyPr>
          <a:lstStyle/>
          <a:p>
            <a:pPr marL="589280"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700" u="sng" dirty="0"/>
              <a:t>Subnetz</a:t>
            </a:r>
            <a:r>
              <a:rPr lang="de-DE" sz="2700" dirty="0"/>
              <a:t> der eigenen IP-Adresse:  134.155.48.10 &amp; 255.255.255.0 = </a:t>
            </a:r>
            <a:r>
              <a:rPr lang="de-DE" sz="2700" dirty="0">
                <a:solidFill>
                  <a:srgbClr val="0070C0"/>
                </a:solidFill>
              </a:rPr>
              <a:t>134.155.48.0</a:t>
            </a:r>
          </a:p>
          <a:p>
            <a:pPr marL="589280"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700" dirty="0"/>
              <a:t>fremde Adr. A: 134.155.48.96 &amp; 255.255.255.0 =</a:t>
            </a:r>
            <a:br>
              <a:rPr lang="de-DE" sz="2700" dirty="0"/>
            </a:br>
            <a:r>
              <a:rPr lang="de-DE" sz="2700" dirty="0">
                <a:solidFill>
                  <a:srgbClr val="0070C0"/>
                </a:solidFill>
              </a:rPr>
              <a:t>134.155.48.0</a:t>
            </a:r>
            <a:r>
              <a:rPr lang="de-DE" sz="2700" dirty="0"/>
              <a:t> =&gt; </a:t>
            </a:r>
            <a:r>
              <a:rPr lang="de-DE" sz="2700" dirty="0">
                <a:solidFill>
                  <a:srgbClr val="0070C0"/>
                </a:solidFill>
              </a:rPr>
              <a:t>gleiches Subnetz</a:t>
            </a:r>
          </a:p>
          <a:p>
            <a:pPr marL="589280"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700" dirty="0"/>
              <a:t>fremde Adr. B: 134.155.55.96 &amp; 255.255.255.0 =</a:t>
            </a:r>
            <a:br>
              <a:rPr lang="de-DE" sz="2700" dirty="0"/>
            </a:br>
            <a:r>
              <a:rPr lang="de-DE" sz="2700" dirty="0">
                <a:solidFill>
                  <a:srgbClr val="FF0000"/>
                </a:solidFill>
              </a:rPr>
              <a:t>134.155.55.0</a:t>
            </a:r>
            <a:r>
              <a:rPr lang="de-DE" sz="2700" dirty="0"/>
              <a:t> =&gt; </a:t>
            </a:r>
            <a:r>
              <a:rPr lang="de-DE" sz="2700" dirty="0">
                <a:solidFill>
                  <a:srgbClr val="FF0000"/>
                </a:solidFill>
              </a:rPr>
              <a:t>verschieden, anderes Subnetz</a:t>
            </a:r>
          </a:p>
          <a:p>
            <a:endParaRPr lang="de-DE" dirty="0"/>
          </a:p>
        </p:txBody>
      </p:sp>
      <p:sp>
        <p:nvSpPr>
          <p:cNvPr id="2" name="Rectangle 1">
            <a:extLst>
              <a:ext uri="{FF2B5EF4-FFF2-40B4-BE49-F238E27FC236}">
                <a16:creationId xmlns:a16="http://schemas.microsoft.com/office/drawing/2014/main" id="{5F6DDCB7-E660-48EA-B269-D54E376CA97C}"/>
              </a:ext>
            </a:extLst>
          </p:cNvPr>
          <p:cNvSpPr/>
          <p:nvPr/>
        </p:nvSpPr>
        <p:spPr>
          <a:xfrm>
            <a:off x="6361957" y="1412776"/>
            <a:ext cx="2751074" cy="461665"/>
          </a:xfrm>
          <a:prstGeom prst="rect">
            <a:avLst/>
          </a:prstGeom>
        </p:spPr>
        <p:txBody>
          <a:bodyPr wrap="none">
            <a:spAutoFit/>
          </a:bodyPr>
          <a:lstStyle/>
          <a:p>
            <a:r>
              <a:rPr lang="en-US" sz="2400" dirty="0">
                <a:highlight>
                  <a:srgbClr val="00FF00"/>
                </a:highlight>
              </a:rPr>
              <a:t>https://bit.ly/ibn_hd</a:t>
            </a:r>
            <a:endParaRPr lang="en-US" sz="2400" dirty="0"/>
          </a:p>
        </p:txBody>
      </p:sp>
    </p:spTree>
    <p:extLst>
      <p:ext uri="{BB962C8B-B14F-4D97-AF65-F5344CB8AC3E}">
        <p14:creationId xmlns:p14="http://schemas.microsoft.com/office/powerpoint/2010/main" val="2355600368"/>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27</a:t>
            </a:fld>
            <a:endParaRPr lang="de-DE" dirty="0"/>
          </a:p>
        </p:txBody>
      </p:sp>
      <p:sp>
        <p:nvSpPr>
          <p:cNvPr id="3" name="Titel 2"/>
          <p:cNvSpPr>
            <a:spLocks noGrp="1"/>
          </p:cNvSpPr>
          <p:nvPr>
            <p:ph type="title"/>
          </p:nvPr>
        </p:nvSpPr>
        <p:spPr>
          <a:xfrm>
            <a:off x="971600" y="2348880"/>
            <a:ext cx="7200800" cy="1800200"/>
          </a:xfrm>
        </p:spPr>
        <p:txBody>
          <a:bodyPr>
            <a:normAutofit/>
          </a:bodyPr>
          <a:lstStyle/>
          <a:p>
            <a:r>
              <a:rPr lang="de-DE" dirty="0"/>
              <a:t>Details der Adressierung: Beispiele</a:t>
            </a:r>
          </a:p>
        </p:txBody>
      </p:sp>
    </p:spTree>
    <p:extLst>
      <p:ext uri="{BB962C8B-B14F-4D97-AF65-F5344CB8AC3E}">
        <p14:creationId xmlns:p14="http://schemas.microsoft.com/office/powerpoint/2010/main" val="2967858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60" descr="15"/>
          <p:cNvPicPr>
            <a:picLocks noChangeAspect="1" noChangeArrowheads="1"/>
          </p:cNvPicPr>
          <p:nvPr/>
        </p:nvPicPr>
        <p:blipFill>
          <a:blip r:embed="rId2" cstate="print"/>
          <a:stretch>
            <a:fillRect/>
          </a:stretch>
        </p:blipFill>
        <p:spPr>
          <a:xfrm>
            <a:off x="4363580" y="1113080"/>
            <a:ext cx="4846440" cy="3324032"/>
          </a:xfrm>
          <a:prstGeom prst="rect">
            <a:avLst/>
          </a:prstGeom>
          <a:noFill/>
        </p:spPr>
      </p:pic>
      <p:sp>
        <p:nvSpPr>
          <p:cNvPr id="2" name="Titel 1"/>
          <p:cNvSpPr>
            <a:spLocks noGrp="1"/>
          </p:cNvSpPr>
          <p:nvPr>
            <p:ph type="title"/>
          </p:nvPr>
        </p:nvSpPr>
        <p:spPr/>
        <p:txBody>
          <a:bodyPr>
            <a:normAutofit/>
          </a:bodyPr>
          <a:lstStyle/>
          <a:p>
            <a:r>
              <a:rPr lang="de-DE" dirty="0"/>
              <a:t>IP-Adressierung – Netzwerke</a:t>
            </a:r>
          </a:p>
        </p:txBody>
      </p:sp>
      <p:sp>
        <p:nvSpPr>
          <p:cNvPr id="3" name="Foliennummernplatzhalter 2"/>
          <p:cNvSpPr>
            <a:spLocks noGrp="1"/>
          </p:cNvSpPr>
          <p:nvPr>
            <p:ph type="sldNum" sz="quarter" idx="12"/>
          </p:nvPr>
        </p:nvSpPr>
        <p:spPr/>
        <p:txBody>
          <a:bodyPr/>
          <a:lstStyle/>
          <a:p>
            <a:fld id="{6C6AE60A-B69C-4790-82F7-3882EDF23186}" type="slidenum">
              <a:rPr lang="de-DE" smtClean="0"/>
              <a:pPr/>
              <a:t>28</a:t>
            </a:fld>
            <a:endParaRPr lang="de-DE" dirty="0"/>
          </a:p>
        </p:txBody>
      </p:sp>
      <p:sp>
        <p:nvSpPr>
          <p:cNvPr id="4" name="Inhaltsplatzhalter 3"/>
          <p:cNvSpPr>
            <a:spLocks noGrp="1"/>
          </p:cNvSpPr>
          <p:nvPr>
            <p:ph sz="quarter" idx="1"/>
          </p:nvPr>
        </p:nvSpPr>
        <p:spPr>
          <a:xfrm>
            <a:off x="457200" y="1219200"/>
            <a:ext cx="4330824" cy="5378152"/>
          </a:xfrm>
        </p:spPr>
        <p:txBody>
          <a:bodyPr>
            <a:noAutofit/>
          </a:bodyPr>
          <a:lstStyle/>
          <a:p>
            <a:r>
              <a:rPr lang="de-DE" sz="2400" dirty="0"/>
              <a:t>IP-Adressen haben zwei Bestandteile: </a:t>
            </a:r>
          </a:p>
          <a:p>
            <a:pPr lvl="1"/>
            <a:r>
              <a:rPr lang="de-DE" sz="2000" b="1" dirty="0" err="1">
                <a:solidFill>
                  <a:srgbClr val="FF0000"/>
                </a:solidFill>
              </a:rPr>
              <a:t>Netid</a:t>
            </a:r>
            <a:r>
              <a:rPr lang="de-DE" sz="2000" b="1" dirty="0">
                <a:solidFill>
                  <a:srgbClr val="FF0000"/>
                </a:solidFill>
              </a:rPr>
              <a:t>: </a:t>
            </a:r>
            <a:r>
              <a:rPr lang="de-DE" sz="2000" b="1" u="sng" dirty="0">
                <a:solidFill>
                  <a:srgbClr val="FF0000"/>
                </a:solidFill>
              </a:rPr>
              <a:t>Netzwerk</a:t>
            </a:r>
            <a:r>
              <a:rPr lang="de-DE" sz="2000" b="1" dirty="0">
                <a:solidFill>
                  <a:srgbClr val="FF0000"/>
                </a:solidFill>
              </a:rPr>
              <a:t>teil</a:t>
            </a:r>
            <a:r>
              <a:rPr lang="de-DE" sz="2000" dirty="0"/>
              <a:t>: Die oberen Bits der Adresse, </a:t>
            </a:r>
            <a:r>
              <a:rPr lang="de-DE" sz="2000" u="sng" dirty="0"/>
              <a:t>identifizieren ein Netzwerk</a:t>
            </a:r>
          </a:p>
          <a:p>
            <a:pPr lvl="1"/>
            <a:r>
              <a:rPr lang="de-DE" sz="2000" b="1" dirty="0" err="1">
                <a:solidFill>
                  <a:srgbClr val="FF0000"/>
                </a:solidFill>
              </a:rPr>
              <a:t>Hostid</a:t>
            </a:r>
            <a:r>
              <a:rPr lang="de-DE" sz="2000" b="1" dirty="0">
                <a:solidFill>
                  <a:srgbClr val="FF0000"/>
                </a:solidFill>
              </a:rPr>
              <a:t>: - </a:t>
            </a:r>
            <a:r>
              <a:rPr lang="de-DE" sz="2000" b="1" u="sng" dirty="0">
                <a:solidFill>
                  <a:srgbClr val="FF0000"/>
                </a:solidFill>
              </a:rPr>
              <a:t>Host</a:t>
            </a:r>
            <a:r>
              <a:rPr lang="de-DE" sz="2000" b="1" dirty="0">
                <a:solidFill>
                  <a:srgbClr val="FF0000"/>
                </a:solidFill>
              </a:rPr>
              <a:t>teil</a:t>
            </a:r>
            <a:r>
              <a:rPr lang="de-DE" sz="2000" dirty="0"/>
              <a:t>: Die unteren Bits der Adresse, </a:t>
            </a:r>
            <a:r>
              <a:rPr lang="de-DE" sz="2000" u="sng" dirty="0"/>
              <a:t>identifizieren ein Interface</a:t>
            </a:r>
            <a:r>
              <a:rPr lang="de-DE" sz="2000" dirty="0"/>
              <a:t> innerhalb des Netzwerks</a:t>
            </a:r>
          </a:p>
          <a:p>
            <a:r>
              <a:rPr lang="de-DE" sz="2400" dirty="0"/>
              <a:t>Wenn der Adressenbereich eines Netzwerks 2</a:t>
            </a:r>
            <a:r>
              <a:rPr lang="de-DE" sz="2400" baseline="30000" dirty="0"/>
              <a:t>k</a:t>
            </a:r>
            <a:r>
              <a:rPr lang="de-DE" sz="2400" dirty="0"/>
              <a:t> Adressen umfasst, dann</a:t>
            </a:r>
          </a:p>
          <a:p>
            <a:pPr lvl="1"/>
            <a:r>
              <a:rPr lang="de-DE" sz="2200" dirty="0">
                <a:solidFill>
                  <a:srgbClr val="FF0000"/>
                </a:solidFill>
              </a:rPr>
              <a:t>Hostid</a:t>
            </a:r>
            <a:r>
              <a:rPr lang="de-DE" sz="2200" dirty="0"/>
              <a:t> hat die unteren k Bits</a:t>
            </a:r>
          </a:p>
          <a:p>
            <a:pPr lvl="1"/>
            <a:r>
              <a:rPr lang="de-DE" sz="2200" dirty="0">
                <a:solidFill>
                  <a:srgbClr val="FF0000"/>
                </a:solidFill>
              </a:rPr>
              <a:t>Netid</a:t>
            </a:r>
            <a:r>
              <a:rPr lang="de-DE" sz="2200" dirty="0"/>
              <a:t> hat die oberen </a:t>
            </a:r>
            <a:r>
              <a:rPr lang="de-DE" sz="2200" u="sng" dirty="0"/>
              <a:t>32-k</a:t>
            </a:r>
            <a:r>
              <a:rPr lang="de-DE" sz="2200" dirty="0"/>
              <a:t> Bits</a:t>
            </a:r>
          </a:p>
          <a:p>
            <a:endParaRPr lang="de-DE" sz="2400" dirty="0"/>
          </a:p>
        </p:txBody>
      </p:sp>
      <p:sp>
        <p:nvSpPr>
          <p:cNvPr id="5" name="Inhaltsplatzhalter 4"/>
          <p:cNvSpPr>
            <a:spLocks noGrp="1"/>
          </p:cNvSpPr>
          <p:nvPr>
            <p:ph sz="quarter" idx="2"/>
          </p:nvPr>
        </p:nvSpPr>
        <p:spPr>
          <a:xfrm>
            <a:off x="4644008" y="4581128"/>
            <a:ext cx="4392488" cy="2016224"/>
          </a:xfrm>
        </p:spPr>
        <p:txBody>
          <a:bodyPr>
            <a:noAutofit/>
          </a:bodyPr>
          <a:lstStyle/>
          <a:p>
            <a:r>
              <a:rPr lang="de-DE" sz="2400" dirty="0">
                <a:solidFill>
                  <a:srgbClr val="000000"/>
                </a:solidFill>
                <a:latin typeface="Bitstream Vera Sans" charset="0"/>
              </a:rPr>
              <a:t>Z.B. das untere Netzwerk hat 256 IP-Adressen:</a:t>
            </a:r>
          </a:p>
          <a:p>
            <a:pPr lvl="1"/>
            <a:r>
              <a:rPr lang="de-DE" sz="2100" dirty="0">
                <a:solidFill>
                  <a:srgbClr val="000000"/>
                </a:solidFill>
                <a:latin typeface="Bitstream Vera Sans" charset="0"/>
              </a:rPr>
              <a:t>8 (untere) Bits als </a:t>
            </a:r>
            <a:r>
              <a:rPr lang="de-DE" sz="2100" dirty="0">
                <a:solidFill>
                  <a:srgbClr val="FF0000"/>
                </a:solidFill>
                <a:latin typeface="Bitstream Vera Sans" charset="0"/>
              </a:rPr>
              <a:t>Hostteil </a:t>
            </a:r>
          </a:p>
          <a:p>
            <a:pPr lvl="1"/>
            <a:r>
              <a:rPr lang="de-DE" sz="2100" dirty="0">
                <a:solidFill>
                  <a:srgbClr val="000000"/>
                </a:solidFill>
                <a:latin typeface="Bitstream Vera Sans" charset="0"/>
              </a:rPr>
              <a:t>24 obere Bits (223.1.3.*) als </a:t>
            </a:r>
            <a:r>
              <a:rPr lang="de-DE" sz="2100" dirty="0">
                <a:solidFill>
                  <a:srgbClr val="FF0000"/>
                </a:solidFill>
                <a:latin typeface="Bitstream Vera Sans" charset="0"/>
              </a:rPr>
              <a:t>Netzwerkteil</a:t>
            </a:r>
          </a:p>
          <a:p>
            <a:endParaRPr lang="de-DE" sz="2000" dirty="0"/>
          </a:p>
        </p:txBody>
      </p:sp>
      <p:sp>
        <p:nvSpPr>
          <p:cNvPr id="7" name="Rechteck 6">
            <a:extLst>
              <a:ext uri="{FF2B5EF4-FFF2-40B4-BE49-F238E27FC236}">
                <a16:creationId xmlns:a16="http://schemas.microsoft.com/office/drawing/2014/main" id="{5B33CBA1-7E61-9E03-F4CA-4C5F949A68F8}"/>
              </a:ext>
            </a:extLst>
          </p:cNvPr>
          <p:cNvSpPr/>
          <p:nvPr/>
        </p:nvSpPr>
        <p:spPr>
          <a:xfrm>
            <a:off x="7056569" y="116632"/>
            <a:ext cx="2087431" cy="461665"/>
          </a:xfrm>
          <a:prstGeom prst="rect">
            <a:avLst/>
          </a:prstGeom>
        </p:spPr>
        <p:style>
          <a:lnRef idx="3">
            <a:schemeClr val="lt1"/>
          </a:lnRef>
          <a:fillRef idx="1">
            <a:schemeClr val="accent1"/>
          </a:fillRef>
          <a:effectRef idx="1">
            <a:schemeClr val="accent1"/>
          </a:effectRef>
          <a:fontRef idx="minor">
            <a:schemeClr val="lt1"/>
          </a:fontRef>
        </p:style>
        <p:txBody>
          <a:bodyPr wrap="none">
            <a:spAutoFit/>
          </a:bodyPr>
          <a:lstStyle/>
          <a:p>
            <a:r>
              <a:rPr lang="en-US" sz="2400" dirty="0" err="1"/>
              <a:t>Wiederholung</a:t>
            </a:r>
            <a:endParaRPr lang="en-US" sz="2400" dirty="0"/>
          </a:p>
        </p:txBody>
      </p:sp>
    </p:spTree>
    <p:extLst>
      <p:ext uri="{BB962C8B-B14F-4D97-AF65-F5344CB8AC3E}">
        <p14:creationId xmlns:p14="http://schemas.microsoft.com/office/powerpoint/2010/main" val="70955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6CE25A-3795-43CB-B822-37B66EAFF90B}"/>
              </a:ext>
            </a:extLst>
          </p:cNvPr>
          <p:cNvSpPr>
            <a:spLocks noGrp="1"/>
          </p:cNvSpPr>
          <p:nvPr>
            <p:ph type="title"/>
          </p:nvPr>
        </p:nvSpPr>
        <p:spPr/>
        <p:txBody>
          <a:bodyPr/>
          <a:lstStyle/>
          <a:p>
            <a:r>
              <a:rPr lang="en-US" dirty="0" err="1"/>
              <a:t>Subnetze</a:t>
            </a:r>
            <a:r>
              <a:rPr lang="en-US" dirty="0"/>
              <a:t> der Uni Heidelberg</a:t>
            </a:r>
          </a:p>
        </p:txBody>
      </p:sp>
      <p:sp>
        <p:nvSpPr>
          <p:cNvPr id="3" name="Foliennummernplatzhalter 2">
            <a:extLst>
              <a:ext uri="{FF2B5EF4-FFF2-40B4-BE49-F238E27FC236}">
                <a16:creationId xmlns:a16="http://schemas.microsoft.com/office/drawing/2014/main" id="{F898BC21-1A78-4E8F-9716-7B6D86E8CF2D}"/>
              </a:ext>
            </a:extLst>
          </p:cNvPr>
          <p:cNvSpPr>
            <a:spLocks noGrp="1"/>
          </p:cNvSpPr>
          <p:nvPr>
            <p:ph type="sldNum" sz="quarter" idx="12"/>
          </p:nvPr>
        </p:nvSpPr>
        <p:spPr/>
        <p:txBody>
          <a:bodyPr/>
          <a:lstStyle/>
          <a:p>
            <a:fld id="{7183533A-8A50-4A1F-BEA9-C8C6956451EB}" type="slidenum">
              <a:rPr lang="en-US" noProof="0" smtClean="0"/>
              <a:pPr/>
              <a:t>29</a:t>
            </a:fld>
            <a:endParaRPr lang="en-US" noProof="0" dirty="0"/>
          </a:p>
        </p:txBody>
      </p:sp>
      <p:sp>
        <p:nvSpPr>
          <p:cNvPr id="4" name="Inhaltsplatzhalter 3">
            <a:extLst>
              <a:ext uri="{FF2B5EF4-FFF2-40B4-BE49-F238E27FC236}">
                <a16:creationId xmlns:a16="http://schemas.microsoft.com/office/drawing/2014/main" id="{E4C7AF28-94B2-4F70-9AA2-B05732DB9ED3}"/>
              </a:ext>
            </a:extLst>
          </p:cNvPr>
          <p:cNvSpPr>
            <a:spLocks noGrp="1"/>
          </p:cNvSpPr>
          <p:nvPr>
            <p:ph sz="quarter" idx="1"/>
          </p:nvPr>
        </p:nvSpPr>
        <p:spPr/>
        <p:txBody>
          <a:bodyPr>
            <a:normAutofit lnSpcReduction="10000"/>
          </a:bodyPr>
          <a:lstStyle/>
          <a:p>
            <a:r>
              <a:rPr lang="de-DE" dirty="0"/>
              <a:t>Die Universität Heidelberg besitzt die Autorität für 2 Netze mit je 65.534 Hosts (ehemals „ Klasse-B“)</a:t>
            </a:r>
          </a:p>
          <a:p>
            <a:pPr lvl="1"/>
            <a:r>
              <a:rPr lang="de-DE" dirty="0"/>
              <a:t>129.206.0.0/16 und 147.142.0.0/16</a:t>
            </a:r>
          </a:p>
          <a:p>
            <a:r>
              <a:rPr lang="de-DE" dirty="0"/>
              <a:t>Den Instituten/Einrichtungen erhalten üblicherweise „Klasse-C“ Subnetze (je 254 Hosts) </a:t>
            </a:r>
          </a:p>
          <a:p>
            <a:pPr lvl="1"/>
            <a:r>
              <a:rPr lang="de-DE" dirty="0"/>
              <a:t>Zur eigenverantwortlichen Organisation</a:t>
            </a:r>
          </a:p>
          <a:p>
            <a:pPr lvl="1"/>
            <a:r>
              <a:rPr lang="de-DE" dirty="0"/>
              <a:t>Ggf. mehre solche Subnetze</a:t>
            </a:r>
          </a:p>
          <a:p>
            <a:r>
              <a:rPr lang="de-DE" dirty="0"/>
              <a:t>Dem Institut für Informatik stehen derzeit 2 Subnetze zur Verfügung</a:t>
            </a:r>
          </a:p>
          <a:p>
            <a:pPr lvl="1"/>
            <a:r>
              <a:rPr lang="en-US" dirty="0"/>
              <a:t>129.206.61.0/24 und 129.206.78.0/24</a:t>
            </a:r>
          </a:p>
          <a:p>
            <a:r>
              <a:rPr lang="en-US" dirty="0" err="1"/>
              <a:t>Meiner</a:t>
            </a:r>
            <a:r>
              <a:rPr lang="en-US" dirty="0"/>
              <a:t> </a:t>
            </a:r>
            <a:r>
              <a:rPr lang="en-US" dirty="0" err="1"/>
              <a:t>Arbeitsgruppe</a:t>
            </a:r>
            <a:r>
              <a:rPr lang="en-US" dirty="0"/>
              <a:t> “AIP” </a:t>
            </a:r>
            <a:r>
              <a:rPr lang="en-US" dirty="0" err="1"/>
              <a:t>wurden</a:t>
            </a:r>
            <a:r>
              <a:rPr lang="en-US" dirty="0"/>
              <a:t> 24 </a:t>
            </a:r>
            <a:r>
              <a:rPr lang="en-US" dirty="0" err="1"/>
              <a:t>Adressen</a:t>
            </a:r>
            <a:r>
              <a:rPr lang="en-US" dirty="0"/>
              <a:t> </a:t>
            </a:r>
            <a:r>
              <a:rPr lang="en-US" dirty="0" err="1"/>
              <a:t>zugeteilt</a:t>
            </a:r>
            <a:r>
              <a:rPr lang="en-US" dirty="0"/>
              <a:t> (</a:t>
            </a:r>
            <a:r>
              <a:rPr lang="en-US" dirty="0" err="1"/>
              <a:t>kein</a:t>
            </a:r>
            <a:r>
              <a:rPr lang="en-US" dirty="0"/>
              <a:t> </a:t>
            </a:r>
            <a:r>
              <a:rPr lang="en-US" dirty="0" err="1"/>
              <a:t>Subnetz</a:t>
            </a:r>
            <a:r>
              <a:rPr lang="en-US" dirty="0"/>
              <a:t>!):</a:t>
            </a:r>
          </a:p>
          <a:p>
            <a:pPr lvl="1"/>
            <a:r>
              <a:rPr lang="en-US" dirty="0"/>
              <a:t>129.206.61.39 bis 129.206.61.63 </a:t>
            </a:r>
          </a:p>
        </p:txBody>
      </p:sp>
    </p:spTree>
    <p:extLst>
      <p:ext uri="{BB962C8B-B14F-4D97-AF65-F5344CB8AC3E}">
        <p14:creationId xmlns:p14="http://schemas.microsoft.com/office/powerpoint/2010/main" val="425648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1381FF-7A71-4DCB-AB36-6E62DC64F93C}"/>
              </a:ext>
            </a:extLst>
          </p:cNvPr>
          <p:cNvSpPr>
            <a:spLocks noGrp="1"/>
          </p:cNvSpPr>
          <p:nvPr>
            <p:ph type="title"/>
          </p:nvPr>
        </p:nvSpPr>
        <p:spPr/>
        <p:txBody>
          <a:bodyPr/>
          <a:lstStyle/>
          <a:p>
            <a:r>
              <a:rPr lang="en-US" dirty="0" err="1"/>
              <a:t>Subnetze</a:t>
            </a:r>
            <a:r>
              <a:rPr lang="en-US" dirty="0"/>
              <a:t> </a:t>
            </a:r>
            <a:r>
              <a:rPr lang="en-US" dirty="0" err="1"/>
              <a:t>im</a:t>
            </a:r>
            <a:r>
              <a:rPr lang="en-US" dirty="0"/>
              <a:t> Mathematikon</a:t>
            </a:r>
          </a:p>
        </p:txBody>
      </p:sp>
      <p:sp>
        <p:nvSpPr>
          <p:cNvPr id="3" name="Foliennummernplatzhalter 2">
            <a:extLst>
              <a:ext uri="{FF2B5EF4-FFF2-40B4-BE49-F238E27FC236}">
                <a16:creationId xmlns:a16="http://schemas.microsoft.com/office/drawing/2014/main" id="{7B3969A6-401F-485A-A29F-01862813C487}"/>
              </a:ext>
            </a:extLst>
          </p:cNvPr>
          <p:cNvSpPr>
            <a:spLocks noGrp="1"/>
          </p:cNvSpPr>
          <p:nvPr>
            <p:ph type="sldNum" sz="quarter" idx="12"/>
          </p:nvPr>
        </p:nvSpPr>
        <p:spPr/>
        <p:txBody>
          <a:bodyPr/>
          <a:lstStyle/>
          <a:p>
            <a:fld id="{7183533A-8A50-4A1F-BEA9-C8C6956451EB}" type="slidenum">
              <a:rPr lang="en-US" noProof="0" smtClean="0"/>
              <a:pPr/>
              <a:t>30</a:t>
            </a:fld>
            <a:endParaRPr lang="en-US" noProof="0" dirty="0"/>
          </a:p>
        </p:txBody>
      </p:sp>
      <p:sp>
        <p:nvSpPr>
          <p:cNvPr id="4" name="Inhaltsplatzhalter 3">
            <a:extLst>
              <a:ext uri="{FF2B5EF4-FFF2-40B4-BE49-F238E27FC236}">
                <a16:creationId xmlns:a16="http://schemas.microsoft.com/office/drawing/2014/main" id="{E3EB0DD4-FB89-473D-BE3C-3FAFD2AC1031}"/>
              </a:ext>
            </a:extLst>
          </p:cNvPr>
          <p:cNvSpPr>
            <a:spLocks noGrp="1"/>
          </p:cNvSpPr>
          <p:nvPr>
            <p:ph sz="quarter" idx="1"/>
          </p:nvPr>
        </p:nvSpPr>
        <p:spPr/>
        <p:txBody>
          <a:bodyPr>
            <a:noAutofit/>
          </a:bodyPr>
          <a:lstStyle/>
          <a:p>
            <a:r>
              <a:rPr lang="de-DE" dirty="0"/>
              <a:t>Im Keller des Mathematikon befinden sich 2 </a:t>
            </a:r>
            <a:r>
              <a:rPr lang="de-DE" b="1" dirty="0">
                <a:solidFill>
                  <a:schemeClr val="accent1"/>
                </a:solidFill>
              </a:rPr>
              <a:t>Router</a:t>
            </a:r>
            <a:r>
              <a:rPr lang="de-DE" dirty="0"/>
              <a:t>, die über Glasfaserleitungen zum Rechenzentrum und den Gebäude-Switches verbunden sind</a:t>
            </a:r>
          </a:p>
          <a:p>
            <a:r>
              <a:rPr lang="de-DE" dirty="0"/>
              <a:t>Die Router/Gateways besitzen im Netz der Uni Heidelberg IP-Adressen, die mit „1“ enden</a:t>
            </a:r>
          </a:p>
          <a:p>
            <a:pPr lvl="1"/>
            <a:r>
              <a:rPr lang="de-DE" dirty="0"/>
              <a:t>Z.B. 129.206.61.1; 129.206.78.1</a:t>
            </a:r>
          </a:p>
          <a:p>
            <a:r>
              <a:rPr lang="de-DE" dirty="0"/>
              <a:t>Im Mathematikon befinden sich in den Stockwerken 13 </a:t>
            </a:r>
            <a:r>
              <a:rPr lang="de-DE" b="1" dirty="0">
                <a:solidFill>
                  <a:schemeClr val="accent1"/>
                </a:solidFill>
              </a:rPr>
              <a:t>Switches</a:t>
            </a:r>
            <a:r>
              <a:rPr lang="de-DE" dirty="0"/>
              <a:t> (</a:t>
            </a:r>
            <a:r>
              <a:rPr lang="de-DE" dirty="0">
                <a:hlinkClick r:id="rId2"/>
              </a:rPr>
              <a:t>CISCO </a:t>
            </a:r>
            <a:r>
              <a:rPr lang="de-DE" dirty="0" err="1">
                <a:hlinkClick r:id="rId2"/>
              </a:rPr>
              <a:t>Catalyst</a:t>
            </a:r>
            <a:r>
              <a:rPr lang="de-DE" dirty="0">
                <a:hlinkClick r:id="rId2"/>
              </a:rPr>
              <a:t> 4500er-Serie</a:t>
            </a:r>
            <a:r>
              <a:rPr lang="de-DE" dirty="0"/>
              <a:t>)</a:t>
            </a:r>
          </a:p>
          <a:p>
            <a:r>
              <a:rPr lang="de-DE" dirty="0"/>
              <a:t>Diese sind über Glasfaser-Leitungen verbunden und bilden logisch einen </a:t>
            </a:r>
            <a:r>
              <a:rPr lang="de-DE" i="1" dirty="0"/>
              <a:t>einzigen</a:t>
            </a:r>
            <a:r>
              <a:rPr lang="de-DE" dirty="0"/>
              <a:t> Switch</a:t>
            </a:r>
          </a:p>
        </p:txBody>
      </p:sp>
    </p:spTree>
    <p:extLst>
      <p:ext uri="{BB962C8B-B14F-4D97-AF65-F5344CB8AC3E}">
        <p14:creationId xmlns:p14="http://schemas.microsoft.com/office/powerpoint/2010/main" val="180330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F056C3-BC9A-41E3-A120-C872A64F06FE}"/>
              </a:ext>
            </a:extLst>
          </p:cNvPr>
          <p:cNvSpPr>
            <a:spLocks noGrp="1"/>
          </p:cNvSpPr>
          <p:nvPr>
            <p:ph type="title"/>
          </p:nvPr>
        </p:nvSpPr>
        <p:spPr/>
        <p:txBody>
          <a:bodyPr/>
          <a:lstStyle/>
          <a:p>
            <a:r>
              <a:rPr lang="en-US" dirty="0"/>
              <a:t>Ein CISCO Catalyst 4500er-Serie Switch</a:t>
            </a:r>
          </a:p>
        </p:txBody>
      </p:sp>
      <p:sp>
        <p:nvSpPr>
          <p:cNvPr id="3" name="Foliennummernplatzhalter 2">
            <a:extLst>
              <a:ext uri="{FF2B5EF4-FFF2-40B4-BE49-F238E27FC236}">
                <a16:creationId xmlns:a16="http://schemas.microsoft.com/office/drawing/2014/main" id="{DA044B71-E7A1-457B-A37F-86A2EA8E652C}"/>
              </a:ext>
            </a:extLst>
          </p:cNvPr>
          <p:cNvSpPr>
            <a:spLocks noGrp="1"/>
          </p:cNvSpPr>
          <p:nvPr>
            <p:ph type="sldNum" sz="quarter" idx="12"/>
          </p:nvPr>
        </p:nvSpPr>
        <p:spPr/>
        <p:txBody>
          <a:bodyPr/>
          <a:lstStyle/>
          <a:p>
            <a:fld id="{7183533A-8A50-4A1F-BEA9-C8C6956451EB}" type="slidenum">
              <a:rPr lang="en-US" noProof="0" smtClean="0"/>
              <a:pPr/>
              <a:t>31</a:t>
            </a:fld>
            <a:endParaRPr lang="en-US" noProof="0" dirty="0"/>
          </a:p>
        </p:txBody>
      </p:sp>
      <p:pic>
        <p:nvPicPr>
          <p:cNvPr id="6" name="Grafik 5">
            <a:extLst>
              <a:ext uri="{FF2B5EF4-FFF2-40B4-BE49-F238E27FC236}">
                <a16:creationId xmlns:a16="http://schemas.microsoft.com/office/drawing/2014/main" id="{1B6212C9-E888-48BE-88EA-1F387029D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28" y="1191601"/>
            <a:ext cx="4248472" cy="5666399"/>
          </a:xfrm>
          <a:prstGeom prst="rect">
            <a:avLst/>
          </a:prstGeom>
        </p:spPr>
      </p:pic>
    </p:spTree>
    <p:extLst>
      <p:ext uri="{BB962C8B-B14F-4D97-AF65-F5344CB8AC3E}">
        <p14:creationId xmlns:p14="http://schemas.microsoft.com/office/powerpoint/2010/main" val="28070813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lIns="0" tIns="0" rIns="0" bIns="0"/>
          <a:lstStyle/>
          <a:p>
            <a:pPr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de-DE" sz="2800"/>
              <a:t>Beispiel für die Verwendung von Subnetzmasken</a:t>
            </a:r>
          </a:p>
        </p:txBody>
      </p:sp>
      <p:sp>
        <p:nvSpPr>
          <p:cNvPr id="7" name="Slide Number Placeholder 6"/>
          <p:cNvSpPr>
            <a:spLocks noGrp="1"/>
          </p:cNvSpPr>
          <p:nvPr>
            <p:ph type="sldNum" sz="quarter" idx="12"/>
          </p:nvPr>
        </p:nvSpPr>
        <p:spPr/>
        <p:txBody>
          <a:bodyPr/>
          <a:lstStyle/>
          <a:p>
            <a:fld id="{DAD4710D-7044-4A3F-B9DE-CA79DBB0B75F}" type="slidenum">
              <a:rPr lang="de-DE" smtClean="0"/>
              <a:pPr/>
              <a:t>32</a:t>
            </a:fld>
            <a:endParaRPr lang="de-DE" dirty="0"/>
          </a:p>
        </p:txBody>
      </p:sp>
      <p:sp>
        <p:nvSpPr>
          <p:cNvPr id="52228" name="Rectangle 3"/>
          <p:cNvSpPr>
            <a:spLocks noGrp="1" noChangeArrowheads="1"/>
          </p:cNvSpPr>
          <p:nvPr>
            <p:ph sz="quarter" idx="1"/>
          </p:nvPr>
        </p:nvSpPr>
        <p:spPr/>
        <p:txBody>
          <a:bodyPr lIns="0" tIns="0" rIns="0" bIns="0">
            <a:normAutofit/>
          </a:bodyPr>
          <a:lstStyle/>
          <a:p>
            <a:pPr marL="431800" indent="-323850" defTabSz="449263">
              <a:lnSpc>
                <a:spcPct val="98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Gegeben:</a:t>
            </a:r>
          </a:p>
          <a:p>
            <a:pPr marL="863600" lvl="1"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solidFill>
                  <a:srgbClr val="FF0000"/>
                </a:solidFill>
              </a:rPr>
              <a:t>Eigene IP-Adresse: 134.155.48.10</a:t>
            </a:r>
          </a:p>
          <a:p>
            <a:pPr marL="863600" lvl="1"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Subnetzmaske: 255.255.255.0</a:t>
            </a:r>
          </a:p>
          <a:p>
            <a:pPr marL="863600" lvl="1"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Fremde IP-Adressen</a:t>
            </a:r>
          </a:p>
          <a:p>
            <a:pPr marL="1137920" lvl="2"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100" dirty="0">
                <a:solidFill>
                  <a:srgbClr val="0070C0"/>
                </a:solidFill>
              </a:rPr>
              <a:t> A: 134.155.48.96, B: 134.155.55.96</a:t>
            </a:r>
            <a:endParaRPr lang="de-DE" sz="2100" dirty="0"/>
          </a:p>
          <a:p>
            <a:pPr marL="431800" indent="-323850"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400" dirty="0"/>
              <a:t>Überprüfen der beiden Adressen – welche Subnetze?</a:t>
            </a:r>
          </a:p>
        </p:txBody>
      </p:sp>
      <p:sp>
        <p:nvSpPr>
          <p:cNvPr id="5" name="Inhaltsplatzhalter 4"/>
          <p:cNvSpPr>
            <a:spLocks noGrp="1"/>
          </p:cNvSpPr>
          <p:nvPr>
            <p:ph sz="quarter" idx="13"/>
          </p:nvPr>
        </p:nvSpPr>
        <p:spPr>
          <a:xfrm>
            <a:off x="539552" y="3776288"/>
            <a:ext cx="7930674" cy="2800712"/>
          </a:xfrm>
        </p:spPr>
        <p:txBody>
          <a:bodyPr>
            <a:normAutofit fontScale="92500"/>
          </a:bodyPr>
          <a:lstStyle/>
          <a:p>
            <a:pPr marL="589280"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700" u="sng" dirty="0"/>
              <a:t>Subnetz</a:t>
            </a:r>
            <a:r>
              <a:rPr lang="de-DE" sz="2700" dirty="0"/>
              <a:t> der eigenen IP-Adresse:  134.155.48.10 &amp; 255.255.255.0 = </a:t>
            </a:r>
            <a:r>
              <a:rPr lang="de-DE" sz="2700" dirty="0">
                <a:solidFill>
                  <a:srgbClr val="0070C0"/>
                </a:solidFill>
              </a:rPr>
              <a:t>134.155.48.0</a:t>
            </a:r>
          </a:p>
          <a:p>
            <a:pPr marL="589280"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700" dirty="0"/>
              <a:t>fremde Adr. A: 134.155.48.96 &amp; 255.255.255.0 =</a:t>
            </a:r>
            <a:br>
              <a:rPr lang="de-DE" sz="2700" dirty="0"/>
            </a:br>
            <a:r>
              <a:rPr lang="de-DE" sz="2700" dirty="0">
                <a:solidFill>
                  <a:srgbClr val="0070C0"/>
                </a:solidFill>
              </a:rPr>
              <a:t>134.155.48.0</a:t>
            </a:r>
            <a:r>
              <a:rPr lang="de-DE" sz="2700" dirty="0"/>
              <a:t> =&gt; </a:t>
            </a:r>
            <a:r>
              <a:rPr lang="de-DE" sz="2700" dirty="0">
                <a:solidFill>
                  <a:srgbClr val="0070C0"/>
                </a:solidFill>
              </a:rPr>
              <a:t>gleiches Subnetz</a:t>
            </a:r>
          </a:p>
          <a:p>
            <a:pPr marL="589280" indent="-287338" defTabSz="449263">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700" dirty="0"/>
              <a:t>fremde Adr. B: 134.155.55.96 &amp; 255.255.255.0 =</a:t>
            </a:r>
            <a:br>
              <a:rPr lang="de-DE" sz="2700" dirty="0"/>
            </a:br>
            <a:r>
              <a:rPr lang="de-DE" sz="2700" dirty="0">
                <a:solidFill>
                  <a:srgbClr val="FF0000"/>
                </a:solidFill>
              </a:rPr>
              <a:t>134.155.55.0</a:t>
            </a:r>
            <a:r>
              <a:rPr lang="de-DE" sz="2700" dirty="0"/>
              <a:t> =&gt; </a:t>
            </a:r>
            <a:r>
              <a:rPr lang="de-DE" sz="2700" dirty="0">
                <a:solidFill>
                  <a:srgbClr val="FF0000"/>
                </a:solidFill>
              </a:rPr>
              <a:t>verschieden, anderes Subnetz</a:t>
            </a:r>
          </a:p>
          <a:p>
            <a:endParaRPr lang="de-DE" dirty="0"/>
          </a:p>
        </p:txBody>
      </p:sp>
      <p:sp>
        <p:nvSpPr>
          <p:cNvPr id="2" name="Rectangle 1">
            <a:extLst>
              <a:ext uri="{FF2B5EF4-FFF2-40B4-BE49-F238E27FC236}">
                <a16:creationId xmlns:a16="http://schemas.microsoft.com/office/drawing/2014/main" id="{5F6DDCB7-E660-48EA-B269-D54E376CA97C}"/>
              </a:ext>
            </a:extLst>
          </p:cNvPr>
          <p:cNvSpPr/>
          <p:nvPr/>
        </p:nvSpPr>
        <p:spPr>
          <a:xfrm>
            <a:off x="6361957" y="1412776"/>
            <a:ext cx="2751074" cy="461665"/>
          </a:xfrm>
          <a:prstGeom prst="rect">
            <a:avLst/>
          </a:prstGeom>
        </p:spPr>
        <p:txBody>
          <a:bodyPr wrap="none">
            <a:spAutoFit/>
          </a:bodyPr>
          <a:lstStyle/>
          <a:p>
            <a:r>
              <a:rPr lang="en-US" sz="2400" dirty="0">
                <a:highlight>
                  <a:srgbClr val="00FF00"/>
                </a:highlight>
              </a:rPr>
              <a:t>https://bit.ly/ibn_hd</a:t>
            </a:r>
            <a:endParaRPr lang="en-US" sz="2400" dirty="0"/>
          </a:p>
        </p:txBody>
      </p:sp>
      <p:sp>
        <p:nvSpPr>
          <p:cNvPr id="3" name="Rechteck 2">
            <a:extLst>
              <a:ext uri="{FF2B5EF4-FFF2-40B4-BE49-F238E27FC236}">
                <a16:creationId xmlns:a16="http://schemas.microsoft.com/office/drawing/2014/main" id="{956CDE4D-203B-9D07-8111-9104A1D07AC5}"/>
              </a:ext>
            </a:extLst>
          </p:cNvPr>
          <p:cNvSpPr/>
          <p:nvPr/>
        </p:nvSpPr>
        <p:spPr>
          <a:xfrm>
            <a:off x="7020272" y="76200"/>
            <a:ext cx="2087431" cy="461665"/>
          </a:xfrm>
          <a:prstGeom prst="rect">
            <a:avLst/>
          </a:prstGeom>
        </p:spPr>
        <p:style>
          <a:lnRef idx="3">
            <a:schemeClr val="lt1"/>
          </a:lnRef>
          <a:fillRef idx="1">
            <a:schemeClr val="accent1"/>
          </a:fillRef>
          <a:effectRef idx="1">
            <a:schemeClr val="accent1"/>
          </a:effectRef>
          <a:fontRef idx="minor">
            <a:schemeClr val="lt1"/>
          </a:fontRef>
        </p:style>
        <p:txBody>
          <a:bodyPr wrap="none">
            <a:spAutoFit/>
          </a:bodyPr>
          <a:lstStyle/>
          <a:p>
            <a:r>
              <a:rPr lang="en-US" sz="2400" dirty="0" err="1"/>
              <a:t>Wiederholung</a:t>
            </a:r>
            <a:endParaRPr lang="en-US" sz="2400" dirty="0"/>
          </a:p>
        </p:txBody>
      </p:sp>
    </p:spTree>
    <p:extLst>
      <p:ext uri="{BB962C8B-B14F-4D97-AF65-F5344CB8AC3E}">
        <p14:creationId xmlns:p14="http://schemas.microsoft.com/office/powerpoint/2010/main" val="3444890349"/>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968F7E-02C3-4824-885A-43613558C062}"/>
              </a:ext>
            </a:extLst>
          </p:cNvPr>
          <p:cNvSpPr>
            <a:spLocks noGrp="1"/>
          </p:cNvSpPr>
          <p:nvPr>
            <p:ph type="title"/>
          </p:nvPr>
        </p:nvSpPr>
        <p:spPr/>
        <p:txBody>
          <a:bodyPr/>
          <a:lstStyle/>
          <a:p>
            <a:r>
              <a:rPr lang="en-US" dirty="0"/>
              <a:t>VLAN - Virtual Local Area Network</a:t>
            </a:r>
          </a:p>
        </p:txBody>
      </p:sp>
      <p:sp>
        <p:nvSpPr>
          <p:cNvPr id="3" name="Foliennummernplatzhalter 2">
            <a:extLst>
              <a:ext uri="{FF2B5EF4-FFF2-40B4-BE49-F238E27FC236}">
                <a16:creationId xmlns:a16="http://schemas.microsoft.com/office/drawing/2014/main" id="{9ACFE143-1754-44EA-9B80-5E7FE1A92976}"/>
              </a:ext>
            </a:extLst>
          </p:cNvPr>
          <p:cNvSpPr>
            <a:spLocks noGrp="1"/>
          </p:cNvSpPr>
          <p:nvPr>
            <p:ph type="sldNum" sz="quarter" idx="12"/>
          </p:nvPr>
        </p:nvSpPr>
        <p:spPr/>
        <p:txBody>
          <a:bodyPr/>
          <a:lstStyle/>
          <a:p>
            <a:fld id="{7183533A-8A50-4A1F-BEA9-C8C6956451EB}" type="slidenum">
              <a:rPr lang="en-US" noProof="0" smtClean="0"/>
              <a:pPr/>
              <a:t>33</a:t>
            </a:fld>
            <a:endParaRPr lang="en-US" noProof="0" dirty="0"/>
          </a:p>
        </p:txBody>
      </p:sp>
      <p:sp>
        <p:nvSpPr>
          <p:cNvPr id="4" name="Inhaltsplatzhalter 3">
            <a:extLst>
              <a:ext uri="{FF2B5EF4-FFF2-40B4-BE49-F238E27FC236}">
                <a16:creationId xmlns:a16="http://schemas.microsoft.com/office/drawing/2014/main" id="{7951F642-9C54-470C-AB82-16DA4E8FCAFA}"/>
              </a:ext>
            </a:extLst>
          </p:cNvPr>
          <p:cNvSpPr>
            <a:spLocks noGrp="1"/>
          </p:cNvSpPr>
          <p:nvPr>
            <p:ph sz="quarter" idx="1"/>
          </p:nvPr>
        </p:nvSpPr>
        <p:spPr>
          <a:xfrm>
            <a:off x="457200" y="1219200"/>
            <a:ext cx="4546848" cy="2641848"/>
          </a:xfrm>
        </p:spPr>
        <p:txBody>
          <a:bodyPr>
            <a:normAutofit lnSpcReduction="10000"/>
          </a:bodyPr>
          <a:lstStyle/>
          <a:p>
            <a:r>
              <a:rPr lang="de-DE" sz="2400" dirty="0"/>
              <a:t>Ein </a:t>
            </a:r>
            <a:r>
              <a:rPr lang="de-DE" sz="2400" dirty="0">
                <a:solidFill>
                  <a:schemeClr val="accent1"/>
                </a:solidFill>
                <a:hlinkClick r:id="rId2"/>
              </a:rPr>
              <a:t>VLAN</a:t>
            </a:r>
            <a:r>
              <a:rPr lang="de-DE" sz="2400" dirty="0"/>
              <a:t> (auch als Virtual LAN oder virtuelles LAN bezeichnet) ist ein Subnetz, das mehrere Geräte in </a:t>
            </a:r>
            <a:r>
              <a:rPr lang="de-DE" sz="2400" u="sng" dirty="0"/>
              <a:t>separaten physischen lokalen </a:t>
            </a:r>
            <a:r>
              <a:rPr lang="de-DE" sz="2400" dirty="0"/>
              <a:t>Netzwerken (LAN) zusammenfassen kann</a:t>
            </a:r>
            <a:endParaRPr lang="en-US" sz="2400" dirty="0"/>
          </a:p>
        </p:txBody>
      </p:sp>
      <p:sp>
        <p:nvSpPr>
          <p:cNvPr id="5" name="Inhaltsplatzhalter 4">
            <a:extLst>
              <a:ext uri="{FF2B5EF4-FFF2-40B4-BE49-F238E27FC236}">
                <a16:creationId xmlns:a16="http://schemas.microsoft.com/office/drawing/2014/main" id="{5FFA4908-833C-44F8-A0C8-EFA0E31E98D9}"/>
              </a:ext>
            </a:extLst>
          </p:cNvPr>
          <p:cNvSpPr>
            <a:spLocks noGrp="1"/>
          </p:cNvSpPr>
          <p:nvPr>
            <p:ph sz="quarter" idx="13"/>
          </p:nvPr>
        </p:nvSpPr>
        <p:spPr/>
        <p:txBody>
          <a:bodyPr/>
          <a:lstStyle/>
          <a:p>
            <a:r>
              <a:rPr lang="de-DE" dirty="0"/>
              <a:t>Die Switch-Ports in Mathematikon werden VLANs zuordnet </a:t>
            </a:r>
          </a:p>
          <a:p>
            <a:pPr lvl="1"/>
            <a:r>
              <a:rPr lang="de-DE" dirty="0"/>
              <a:t>Z.B. Kann „VLAN 78“ (129.206.78.0./24) in allen Etagen an beliebigen Switch- Ports eingerichtet werden, um in den Büros/Serverräumen VLAN 78 zur Verfügung zu stellen</a:t>
            </a:r>
          </a:p>
          <a:p>
            <a:endParaRPr lang="en-US" dirty="0"/>
          </a:p>
        </p:txBody>
      </p:sp>
      <p:pic>
        <p:nvPicPr>
          <p:cNvPr id="9218" name="Picture 2" descr="https://www.thomas-krenn.com/de/wikiDE/images/4/4f/VLAN-Grundlagen-Beispiel-3.png">
            <a:extLst>
              <a:ext uri="{FF2B5EF4-FFF2-40B4-BE49-F238E27FC236}">
                <a16:creationId xmlns:a16="http://schemas.microsoft.com/office/drawing/2014/main" id="{6D33DA62-41AF-4C49-8600-1C0363C55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073" y="1189808"/>
            <a:ext cx="3742358" cy="1586653"/>
          </a:xfrm>
          <a:prstGeom prst="rect">
            <a:avLst/>
          </a:prstGeom>
          <a:noFill/>
          <a:extLst>
            <a:ext uri="{909E8E84-426E-40DD-AFC4-6F175D3DCCD1}">
              <a14:hiddenFill xmlns:a14="http://schemas.microsoft.com/office/drawing/2010/main">
                <a:solidFill>
                  <a:srgbClr val="FFFFFF"/>
                </a:solidFill>
              </a14:hiddenFill>
            </a:ext>
          </a:extLst>
        </p:spPr>
      </p:pic>
      <p:sp>
        <p:nvSpPr>
          <p:cNvPr id="6" name="Textfeld 5">
            <a:extLst>
              <a:ext uri="{FF2B5EF4-FFF2-40B4-BE49-F238E27FC236}">
                <a16:creationId xmlns:a16="http://schemas.microsoft.com/office/drawing/2014/main" id="{24B145EE-24AD-41CB-9ACD-936BD0CC0007}"/>
              </a:ext>
            </a:extLst>
          </p:cNvPr>
          <p:cNvSpPr txBox="1"/>
          <p:nvPr/>
        </p:nvSpPr>
        <p:spPr>
          <a:xfrm>
            <a:off x="4798578" y="2996952"/>
            <a:ext cx="4183838" cy="307777"/>
          </a:xfrm>
          <a:prstGeom prst="rect">
            <a:avLst/>
          </a:prstGeom>
          <a:noFill/>
        </p:spPr>
        <p:txBody>
          <a:bodyPr wrap="none" rtlCol="0">
            <a:spAutoFit/>
          </a:bodyPr>
          <a:lstStyle/>
          <a:p>
            <a:r>
              <a:rPr lang="en-US" sz="1400" dirty="0"/>
              <a:t>Quelle: Thomas-</a:t>
            </a:r>
            <a:r>
              <a:rPr lang="en-US" sz="1400" dirty="0" err="1"/>
              <a:t>Krenn</a:t>
            </a:r>
            <a:r>
              <a:rPr lang="en-US" sz="1400" dirty="0"/>
              <a:t>-Wiki, </a:t>
            </a:r>
            <a:r>
              <a:rPr lang="en-US" sz="1400" dirty="0">
                <a:hlinkClick r:id="rId4"/>
              </a:rPr>
              <a:t>https://bit.ly/43q5Tug</a:t>
            </a:r>
            <a:r>
              <a:rPr lang="en-US" sz="1400" dirty="0"/>
              <a:t> </a:t>
            </a:r>
          </a:p>
        </p:txBody>
      </p:sp>
    </p:spTree>
    <p:extLst>
      <p:ext uri="{BB962C8B-B14F-4D97-AF65-F5344CB8AC3E}">
        <p14:creationId xmlns:p14="http://schemas.microsoft.com/office/powerpoint/2010/main" val="265528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Video - Subnetzmasken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34</a:t>
            </a:fld>
            <a:endParaRPr lang="en-US" noProof="0" dirty="0"/>
          </a:p>
        </p:txBody>
      </p:sp>
      <p:sp>
        <p:nvSpPr>
          <p:cNvPr id="4" name="Inhaltsplatzhalter 3"/>
          <p:cNvSpPr>
            <a:spLocks noGrp="1"/>
          </p:cNvSpPr>
          <p:nvPr>
            <p:ph sz="quarter" idx="1"/>
          </p:nvPr>
        </p:nvSpPr>
        <p:spPr/>
        <p:txBody>
          <a:bodyPr/>
          <a:lstStyle/>
          <a:p>
            <a:r>
              <a:rPr lang="en-US" dirty="0"/>
              <a:t>Understanding an IP Address: Cisco Router Training 101 </a:t>
            </a:r>
          </a:p>
          <a:p>
            <a:pPr lvl="1"/>
            <a:r>
              <a:rPr lang="de-DE" dirty="0">
                <a:hlinkClick r:id="rId2"/>
              </a:rPr>
              <a:t>https://www.youtube.com/watch?v=LxNgWsseE0w</a:t>
            </a:r>
            <a:r>
              <a:rPr lang="de-DE" dirty="0"/>
              <a:t> </a:t>
            </a:r>
          </a:p>
          <a:p>
            <a:pPr lvl="1"/>
            <a:r>
              <a:rPr lang="de-DE" dirty="0"/>
              <a:t>Ab 16:30 (</a:t>
            </a:r>
            <a:r>
              <a:rPr lang="de-DE" dirty="0" err="1"/>
              <a:t>min:sec</a:t>
            </a:r>
            <a:r>
              <a:rPr lang="de-DE" dirty="0"/>
              <a:t>) [06a]</a:t>
            </a:r>
          </a:p>
        </p:txBody>
      </p:sp>
    </p:spTree>
    <p:extLst>
      <p:ext uri="{BB962C8B-B14F-4D97-AF65-F5344CB8AC3E}">
        <p14:creationId xmlns:p14="http://schemas.microsoft.com/office/powerpoint/2010/main" val="28520840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35</a:t>
            </a:fld>
            <a:endParaRPr lang="de-DE" dirty="0"/>
          </a:p>
        </p:txBody>
      </p:sp>
      <p:sp>
        <p:nvSpPr>
          <p:cNvPr id="3" name="Titel 2"/>
          <p:cNvSpPr>
            <a:spLocks noGrp="1"/>
          </p:cNvSpPr>
          <p:nvPr>
            <p:ph type="title"/>
          </p:nvPr>
        </p:nvSpPr>
        <p:spPr/>
        <p:txBody>
          <a:bodyPr/>
          <a:lstStyle/>
          <a:p>
            <a:r>
              <a:rPr lang="de-DE"/>
              <a:t>Danke.</a:t>
            </a:r>
            <a:endParaRPr lang="de-DE" dirty="0"/>
          </a:p>
        </p:txBody>
      </p:sp>
    </p:spTree>
    <p:extLst>
      <p:ext uri="{BB962C8B-B14F-4D97-AF65-F5344CB8AC3E}">
        <p14:creationId xmlns:p14="http://schemas.microsoft.com/office/powerpoint/2010/main" val="12889959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ARTUR@ADJTKIKJTTW835ML" val="311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keano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keanos">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solidFill>
          <a:srgbClr val="92D05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headEnd type="none" w="med" len="med"/>
          <a:tailEnd type="arrow" w="med" len="med"/>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0</TotalTime>
  <Words>5538</Words>
  <Application>Microsoft Office PowerPoint</Application>
  <PresentationFormat>Bildschirmpräsentation (4:3)</PresentationFormat>
  <Paragraphs>585</Paragraphs>
  <Slides>35</Slides>
  <Notes>22</Notes>
  <HiddenSlides>2</HiddenSlides>
  <MMClips>0</MMClips>
  <ScaleCrop>false</ScaleCrop>
  <HeadingPairs>
    <vt:vector size="8" baseType="variant">
      <vt:variant>
        <vt:lpstr>Verwendete Schriftarten</vt:lpstr>
      </vt:variant>
      <vt:variant>
        <vt:i4>7</vt:i4>
      </vt:variant>
      <vt:variant>
        <vt:lpstr>Design</vt:lpstr>
      </vt:variant>
      <vt:variant>
        <vt:i4>1</vt:i4>
      </vt:variant>
      <vt:variant>
        <vt:lpstr>Eingebettete OLE-Server</vt:lpstr>
      </vt:variant>
      <vt:variant>
        <vt:i4>2</vt:i4>
      </vt:variant>
      <vt:variant>
        <vt:lpstr>Folientitel</vt:lpstr>
      </vt:variant>
      <vt:variant>
        <vt:i4>35</vt:i4>
      </vt:variant>
    </vt:vector>
  </HeadingPairs>
  <TitlesOfParts>
    <vt:vector size="45" baseType="lpstr">
      <vt:lpstr>Arial</vt:lpstr>
      <vt:lpstr>Bitstream Vera Sans</vt:lpstr>
      <vt:lpstr>Calibri</vt:lpstr>
      <vt:lpstr>Times New Roman</vt:lpstr>
      <vt:lpstr>Wingdings</vt:lpstr>
      <vt:lpstr>Wingdings 3</vt:lpstr>
      <vt:lpstr>ZapfDingbats</vt:lpstr>
      <vt:lpstr>Okeanos</vt:lpstr>
      <vt:lpstr>ClipArt</vt:lpstr>
      <vt:lpstr>Clip</vt:lpstr>
      <vt:lpstr>Betriebssysteme und Netzwerke Vorlesung N03</vt:lpstr>
      <vt:lpstr>Netzwerkschicht:  Das Internetprotokoll (IP) – Grundlagen</vt:lpstr>
      <vt:lpstr>Internet-Protokollstapel: Netzwerkschicht</vt:lpstr>
      <vt:lpstr>Netzwerkschicht des Internet-Stacks</vt:lpstr>
      <vt:lpstr>Format des IP-Datagramms</vt:lpstr>
      <vt:lpstr>Fragmentierung und Zusammensetzen</vt:lpstr>
      <vt:lpstr>Fragmentierung von Datagrammen</vt:lpstr>
      <vt:lpstr>Das Internetprotokoll (IP): IP Adressen</vt:lpstr>
      <vt:lpstr>Interfaces und IP-Addressen</vt:lpstr>
      <vt:lpstr>Spezielle Adressen</vt:lpstr>
      <vt:lpstr>(Sub)Netzwerk – „Hardware“-Definition (Kurose)</vt:lpstr>
      <vt:lpstr>Adressen in (Sub)Netzwerken (= Subnetzen)</vt:lpstr>
      <vt:lpstr>IP-Adressierung – Netzwerke</vt:lpstr>
      <vt:lpstr>Wozu überhaupt Netid und Hostid?</vt:lpstr>
      <vt:lpstr>Details der Adressierung</vt:lpstr>
      <vt:lpstr>Wie groß soll Netid (und damit Hostid) sein? </vt:lpstr>
      <vt:lpstr>(Alte) Klassenbasierte Adressierung</vt:lpstr>
      <vt:lpstr>Diskussion Klassenbasierte Adressierung</vt:lpstr>
      <vt:lpstr>Klassenlose Adressierung</vt:lpstr>
      <vt:lpstr>Router verschiedener Hierarchien</vt:lpstr>
      <vt:lpstr>Beispiel Subnetze</vt:lpstr>
      <vt:lpstr>Adressierung von Subnetzen /1</vt:lpstr>
      <vt:lpstr>Adressierung von Subnetzen /2</vt:lpstr>
      <vt:lpstr>Subnetzmaske /1</vt:lpstr>
      <vt:lpstr>Subnetzmaske /2</vt:lpstr>
      <vt:lpstr>Beispiel für die Verwendung von Subnetzmasken</vt:lpstr>
      <vt:lpstr>Details der Adressierung: Beispiele</vt:lpstr>
      <vt:lpstr>IP-Adressierung – Netzwerke</vt:lpstr>
      <vt:lpstr>Subnetze der Uni Heidelberg</vt:lpstr>
      <vt:lpstr>Subnetze im Mathematikon</vt:lpstr>
      <vt:lpstr>Ein CISCO Catalyst 4500er-Serie Switch</vt:lpstr>
      <vt:lpstr>Beispiel für die Verwendung von Subnetzmasken</vt:lpstr>
      <vt:lpstr>VLAN - Virtual Local Area Network</vt:lpstr>
      <vt:lpstr>Video - Subnetzmasken</vt:lpstr>
      <vt:lpstr>Danke.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 Betriebssysteme und Netzwerke</dc:title>
  <dc:creator>Artur Andrzejak</dc:creator>
  <cp:lastModifiedBy>Artur Andrzejak</cp:lastModifiedBy>
  <cp:revision>3986</cp:revision>
  <cp:lastPrinted>2025-06-27T16:40:03Z</cp:lastPrinted>
  <dcterms:created xsi:type="dcterms:W3CDTF">2009-04-16T23:00:57Z</dcterms:created>
  <dcterms:modified xsi:type="dcterms:W3CDTF">2026-06-23T10:34:57Z</dcterms:modified>
</cp:coreProperties>
</file>