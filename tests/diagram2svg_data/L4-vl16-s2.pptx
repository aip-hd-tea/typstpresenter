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57"/>
  </p:notesMasterIdLst>
  <p:handoutMasterIdLst>
    <p:handoutMasterId r:id="rId58"/>
  </p:handoutMasterIdLst>
  <p:sldIdLst>
    <p:sldId id="1307" r:id="rId3"/>
  </p:sldIdLst>
  <p:sldSz cx="9144000" cy="6858000" type="screen4x3"/>
  <p:notesSz cx="6797675" cy="9874250"/>
  <p:custDataLst>
    <p:tags r:id="rId5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2" userDrawn="1">
          <p15:clr>
            <a:srgbClr val="A4A3A4"/>
          </p15:clr>
        </p15:guide>
        <p15:guide id="2" pos="10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FFC000"/>
    <a:srgbClr val="FF0000"/>
    <a:srgbClr val="F22E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Keine Formatvorlage, kein Gitternetz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25E5076-3810-47DD-B79F-674D7AD40C01}" styleName="Dunkle Formatvorlage 1 - Akz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492" autoAdjust="0"/>
    <p:restoredTop sz="95547" autoAdjust="0"/>
  </p:normalViewPr>
  <p:slideViewPr>
    <p:cSldViewPr>
      <p:cViewPr varScale="1">
        <p:scale>
          <a:sx n="124" d="100"/>
          <a:sy n="124" d="100"/>
        </p:scale>
        <p:origin x="100" y="388"/>
      </p:cViewPr>
      <p:guideLst>
        <p:guide orient="horz" pos="4292"/>
        <p:guide pos="10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handoutMaster" Target="handoutMasters/handoutMaster1.xml"/><Relationship Id="rId59" Type="http://schemas.openxmlformats.org/officeDocument/2006/relationships/tags" Target="tags/tag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3713"/>
          </a:xfrm>
          <a:prstGeom prst="rect">
            <a:avLst/>
          </a:prstGeom>
        </p:spPr>
        <p:txBody>
          <a:bodyPr vert="horz" lIns="91843" tIns="45921" rIns="91843" bIns="45921" rtlCol="0"/>
          <a:lstStyle>
            <a:lvl1pPr algn="l">
              <a:defRPr sz="13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3713"/>
          </a:xfrm>
          <a:prstGeom prst="rect">
            <a:avLst/>
          </a:prstGeom>
        </p:spPr>
        <p:txBody>
          <a:bodyPr vert="horz" lIns="91843" tIns="45921" rIns="91843" bIns="45921" rtlCol="0"/>
          <a:lstStyle>
            <a:lvl1pPr algn="r">
              <a:defRPr sz="1300"/>
            </a:lvl1pPr>
          </a:lstStyle>
          <a:p>
            <a:fld id="{503D259A-BC5A-44A4-AF17-09BFC30AC7B9}" type="datetimeFigureOut">
              <a:rPr lang="de-DE" smtClean="0"/>
              <a:pPr/>
              <a:t>08.06.2026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" y="9378826"/>
            <a:ext cx="2945659" cy="493713"/>
          </a:xfrm>
          <a:prstGeom prst="rect">
            <a:avLst/>
          </a:prstGeom>
        </p:spPr>
        <p:txBody>
          <a:bodyPr vert="horz" lIns="91843" tIns="45921" rIns="91843" bIns="45921" rtlCol="0" anchor="b"/>
          <a:lstStyle>
            <a:lvl1pPr algn="l">
              <a:defRPr sz="1300"/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4" y="9378826"/>
            <a:ext cx="2945659" cy="493713"/>
          </a:xfrm>
          <a:prstGeom prst="rect">
            <a:avLst/>
          </a:prstGeom>
        </p:spPr>
        <p:txBody>
          <a:bodyPr vert="horz" lIns="91843" tIns="45921" rIns="91843" bIns="45921" rtlCol="0" anchor="b"/>
          <a:lstStyle>
            <a:lvl1pPr algn="r">
              <a:defRPr sz="1300"/>
            </a:lvl1pPr>
          </a:lstStyle>
          <a:p>
            <a:fld id="{69916C2F-BC73-49DB-9119-EC35D25111C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9319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3713"/>
          </a:xfrm>
          <a:prstGeom prst="rect">
            <a:avLst/>
          </a:prstGeom>
        </p:spPr>
        <p:txBody>
          <a:bodyPr vert="horz" lIns="91843" tIns="45921" rIns="91843" bIns="4592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3713"/>
          </a:xfrm>
          <a:prstGeom prst="rect">
            <a:avLst/>
          </a:prstGeom>
        </p:spPr>
        <p:txBody>
          <a:bodyPr vert="horz" lIns="91843" tIns="45921" rIns="91843" bIns="45921" rtlCol="0"/>
          <a:lstStyle>
            <a:lvl1pPr algn="r">
              <a:defRPr sz="1300"/>
            </a:lvl1pPr>
          </a:lstStyle>
          <a:p>
            <a:fld id="{4007A66C-EE28-4ADD-A611-42716BED3A40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3" tIns="45921" rIns="91843" bIns="45921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70" y="4690269"/>
            <a:ext cx="5438139" cy="4443411"/>
          </a:xfrm>
          <a:prstGeom prst="rect">
            <a:avLst/>
          </a:prstGeom>
        </p:spPr>
        <p:txBody>
          <a:bodyPr vert="horz" lIns="91843" tIns="45921" rIns="91843" bIns="45921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378826"/>
            <a:ext cx="2945659" cy="493713"/>
          </a:xfrm>
          <a:prstGeom prst="rect">
            <a:avLst/>
          </a:prstGeom>
        </p:spPr>
        <p:txBody>
          <a:bodyPr vert="horz" lIns="91843" tIns="45921" rIns="91843" bIns="4592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4" y="9378826"/>
            <a:ext cx="2945659" cy="493713"/>
          </a:xfrm>
          <a:prstGeom prst="rect">
            <a:avLst/>
          </a:prstGeom>
        </p:spPr>
        <p:txBody>
          <a:bodyPr vert="horz" lIns="91843" tIns="45921" rIns="91843" bIns="45921" rtlCol="0" anchor="b"/>
          <a:lstStyle>
            <a:lvl1pPr algn="r">
              <a:defRPr sz="1300"/>
            </a:lvl1pPr>
          </a:lstStyle>
          <a:p>
            <a:fld id="{6D176CDC-8D0E-409F-856B-BAE38288A8E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992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Abbildung zeigt einen Deadlock: Prozess C wartet auf die Ressource T, die</a:t>
            </a:r>
          </a:p>
          <a:p>
            <a:r>
              <a:rPr lang="de-DE" dirty="0"/>
              <a:t>gerade von Prozess D belegt wird. Prozess D wird die Ressource T nicht freigeben,</a:t>
            </a:r>
          </a:p>
          <a:p>
            <a:r>
              <a:rPr lang="de-DE" dirty="0"/>
              <a:t>weil er auf die Ressource U wartet, die wiederum von C belegt wird. Ein Zyklus im Graphen bedeutet, dass ein Deadlock</a:t>
            </a:r>
            <a:r>
              <a:rPr lang="de-DE" baseline="0" dirty="0"/>
              <a:t> vorliegt!</a:t>
            </a:r>
          </a:p>
          <a:p>
            <a:r>
              <a:rPr lang="de-DE" dirty="0"/>
              <a:t>In diesem Beispiel ist der Zyklus C-T-D-U-C.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4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88540">
              <a:defRPr/>
            </a:pPr>
            <a:r>
              <a:rPr lang="en-US" b="1" dirty="0">
                <a:solidFill>
                  <a:srgbClr val="FF0066"/>
                </a:solidFill>
                <a:latin typeface="Helvetica" charset="0"/>
                <a:sym typeface="Symbol" charset="2"/>
              </a:rPr>
              <a:t>Algorithm requires an order of O(</a:t>
            </a:r>
            <a:r>
              <a:rPr lang="en-US" b="1" i="1" dirty="0">
                <a:solidFill>
                  <a:srgbClr val="FF0066"/>
                </a:solidFill>
                <a:latin typeface="Helvetica" charset="0"/>
                <a:sym typeface="Symbol" charset="2"/>
              </a:rPr>
              <a:t>m </a:t>
            </a:r>
            <a:r>
              <a:rPr lang="en-US" b="1" dirty="0">
                <a:solidFill>
                  <a:srgbClr val="FF0066"/>
                </a:solidFill>
                <a:latin typeface="Helvetica" charset="0"/>
                <a:sym typeface="Symbol" charset="2"/>
              </a:rPr>
              <a:t>x</a:t>
            </a:r>
            <a:r>
              <a:rPr lang="en-US" b="1" i="1" dirty="0">
                <a:solidFill>
                  <a:srgbClr val="FF0066"/>
                </a:solidFill>
                <a:latin typeface="Helvetica" charset="0"/>
                <a:sym typeface="Symbol" charset="2"/>
              </a:rPr>
              <a:t> n</a:t>
            </a:r>
            <a:r>
              <a:rPr lang="en-US" b="1" baseline="30000" dirty="0">
                <a:solidFill>
                  <a:srgbClr val="FF0066"/>
                </a:solidFill>
                <a:latin typeface="Helvetica" charset="0"/>
                <a:sym typeface="Symbol" charset="2"/>
              </a:rPr>
              <a:t>2)</a:t>
            </a:r>
            <a:r>
              <a:rPr lang="en-US" b="1" dirty="0">
                <a:solidFill>
                  <a:srgbClr val="FF0066"/>
                </a:solidFill>
                <a:latin typeface="Helvetica" charset="0"/>
                <a:sym typeface="Symbol" charset="2"/>
              </a:rPr>
              <a:t> operations to detect whether the system is in deadlocked state</a:t>
            </a:r>
            <a:endParaRPr lang="en-US" dirty="0">
              <a:solidFill>
                <a:srgbClr val="FF0066"/>
              </a:solidFill>
              <a:latin typeface="Helvetica" charset="0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15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12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77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52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88540">
              <a:defRPr/>
            </a:pPr>
            <a:r>
              <a:rPr lang="en-US" b="1" dirty="0">
                <a:solidFill>
                  <a:srgbClr val="FF0066"/>
                </a:solidFill>
                <a:latin typeface="Helvetica" charset="0"/>
                <a:sym typeface="Symbol" charset="2"/>
              </a:rPr>
              <a:t>Algorithm requires an order of O(</a:t>
            </a:r>
            <a:r>
              <a:rPr lang="en-US" b="1" i="1" dirty="0">
                <a:solidFill>
                  <a:srgbClr val="FF0066"/>
                </a:solidFill>
                <a:latin typeface="Helvetica" charset="0"/>
                <a:sym typeface="Symbol" charset="2"/>
              </a:rPr>
              <a:t>m </a:t>
            </a:r>
            <a:r>
              <a:rPr lang="en-US" b="1" dirty="0">
                <a:solidFill>
                  <a:srgbClr val="FF0066"/>
                </a:solidFill>
                <a:latin typeface="Helvetica" charset="0"/>
                <a:sym typeface="Symbol" charset="2"/>
              </a:rPr>
              <a:t>x</a:t>
            </a:r>
            <a:r>
              <a:rPr lang="en-US" b="1" i="1" dirty="0">
                <a:solidFill>
                  <a:srgbClr val="FF0066"/>
                </a:solidFill>
                <a:latin typeface="Helvetica" charset="0"/>
                <a:sym typeface="Symbol" charset="2"/>
              </a:rPr>
              <a:t> n</a:t>
            </a:r>
            <a:r>
              <a:rPr lang="en-US" b="1" baseline="30000" dirty="0">
                <a:solidFill>
                  <a:srgbClr val="FF0066"/>
                </a:solidFill>
                <a:latin typeface="Helvetica" charset="0"/>
                <a:sym typeface="Symbol" charset="2"/>
              </a:rPr>
              <a:t>2)</a:t>
            </a:r>
            <a:r>
              <a:rPr lang="en-US" b="1" dirty="0">
                <a:solidFill>
                  <a:srgbClr val="FF0066"/>
                </a:solidFill>
                <a:latin typeface="Helvetica" charset="0"/>
                <a:sym typeface="Symbol" charset="2"/>
              </a:rPr>
              <a:t> operations to detect whether the system is in deadlocked state</a:t>
            </a:r>
            <a:endParaRPr lang="en-US" dirty="0">
              <a:solidFill>
                <a:srgbClr val="FF0066"/>
              </a:solidFill>
              <a:latin typeface="Helvetica" charset="0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15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Aus:</a:t>
            </a:r>
            <a:r>
              <a:rPr lang="de-DE" baseline="0" dirty="0"/>
              <a:t> </a:t>
            </a:r>
            <a:r>
              <a:rPr lang="de-DE" dirty="0"/>
              <a:t>Silberschatz</a:t>
            </a:r>
            <a:r>
              <a:rPr lang="de-DE" baseline="0" dirty="0"/>
              <a:t> Sec. 7.5.3</a:t>
            </a:r>
          </a:p>
          <a:p>
            <a:endParaRPr lang="de-DE" baseline="0" dirty="0"/>
          </a:p>
          <a:p>
            <a:pPr>
              <a:buFont typeface="Arial" pitchFamily="34" charset="0"/>
              <a:buChar char="•"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13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Aus:</a:t>
            </a:r>
            <a:r>
              <a:rPr lang="de-DE" baseline="0" dirty="0"/>
              <a:t> </a:t>
            </a:r>
            <a:r>
              <a:rPr lang="de-DE" dirty="0"/>
              <a:t>Silberschatz</a:t>
            </a:r>
            <a:r>
              <a:rPr lang="de-DE" baseline="0" dirty="0"/>
              <a:t> Sec. 7.5.3</a:t>
            </a:r>
          </a:p>
          <a:p>
            <a:endParaRPr lang="de-DE" baseline="0" dirty="0"/>
          </a:p>
          <a:p>
            <a:pPr>
              <a:buFont typeface="Arial" pitchFamily="34" charset="0"/>
              <a:buChar char="•"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9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11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54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33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de-DE" dirty="0"/>
              <a:t>Hinweis:</a:t>
            </a:r>
          </a:p>
          <a:p>
            <a:pPr algn="l"/>
            <a:r>
              <a:rPr lang="de-DE" dirty="0"/>
              <a:t>Die verlinkten externen Webseiten wurden bei Linklegung auf ihre Inhalte überprüft. Für die Inhalte der jeweiligen Seiten sind deren Betreiber verantwortlich.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5982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4048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576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4750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Die Unterbrechbarkeit ist notwendig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422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Daumenregel: 80%</a:t>
            </a:r>
            <a:r>
              <a:rPr lang="de-DE" baseline="0" dirty="0"/>
              <a:t> der CPU-Bursts sollte kleiner als Quantum sein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9706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Problem: evtl. bekommenen Prozesse in Schlange x</a:t>
            </a:r>
            <a:r>
              <a:rPr lang="de-DE" baseline="0" dirty="0"/>
              <a:t> zu wenig CPU-Zeit, während in Schlange y nichts zu tun ist =&gt; verschwendete CPU-Zeit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3791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3886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355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50793">
              <a:defRPr/>
            </a:pPr>
            <a:r>
              <a:rPr lang="de-DE" dirty="0"/>
              <a:t>Deshalb wird der Wechsel (d.h. </a:t>
            </a: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switch</a:t>
            </a:r>
            <a:r>
              <a:rPr lang="de-DE" dirty="0"/>
              <a:t>) zwischen den Threads des </a:t>
            </a:r>
            <a:r>
              <a:rPr lang="de-DE" u="sng" dirty="0"/>
              <a:t>selben Prozesses</a:t>
            </a:r>
            <a:r>
              <a:rPr lang="de-DE" dirty="0"/>
              <a:t> bevorzugt, falls möglich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9889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99436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noProof="0" dirty="0" err="1"/>
              <a:t>Formatvorlage</a:t>
            </a:r>
            <a:r>
              <a:rPr kumimoji="0" lang="en-US" noProof="0" dirty="0"/>
              <a:t> des </a:t>
            </a:r>
            <a:r>
              <a:rPr kumimoji="0" lang="en-US" noProof="0" dirty="0" err="1"/>
              <a:t>Untertitelmasters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21" name="Rechteck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hteck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hteck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hteck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10196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2 T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641848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  <p:sp>
        <p:nvSpPr>
          <p:cNvPr id="5" name="Inhaltsplatzhalter 7"/>
          <p:cNvSpPr>
            <a:spLocks noGrp="1"/>
          </p:cNvSpPr>
          <p:nvPr>
            <p:ph sz="quarter" idx="13"/>
          </p:nvPr>
        </p:nvSpPr>
        <p:spPr>
          <a:xfrm>
            <a:off x="467544" y="3645024"/>
            <a:ext cx="8208912" cy="2713856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 75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56984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  <p:sp>
        <p:nvSpPr>
          <p:cNvPr id="5" name="Inhaltsplatzhalter 7"/>
          <p:cNvSpPr>
            <a:spLocks noGrp="1"/>
          </p:cNvSpPr>
          <p:nvPr>
            <p:ph sz="quarter" idx="13"/>
          </p:nvPr>
        </p:nvSpPr>
        <p:spPr>
          <a:xfrm>
            <a:off x="467544" y="3645024"/>
            <a:ext cx="4104456" cy="2713856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noProof="0" dirty="0" err="1"/>
              <a:t>Textmasterformate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Gerade Verbindung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Gleichschenkliges Dreieck 8"/>
          <p:cNvSpPr>
            <a:spLocks noChangeAspect="1"/>
          </p:cNvSpPr>
          <p:nvPr/>
        </p:nvSpPr>
        <p:spPr>
          <a:xfrm rot="5400000">
            <a:off x="8394385" y="6607540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Inhaltsplatzhalt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8542234" y="6500834"/>
            <a:ext cx="601766" cy="357166"/>
          </a:xfrm>
        </p:spPr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Inhaltsplatzhalt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noProof="0" dirty="0" err="1"/>
              <a:t>Textmasterformate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noProof="0" dirty="0" err="1"/>
              <a:t>Textmasterformate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  <p:sp>
        <p:nvSpPr>
          <p:cNvPr id="13" name="Inhaltsplatzhalt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Gleichschenkliges Dreieck 6"/>
          <p:cNvSpPr>
            <a:spLocks noChangeAspect="1"/>
          </p:cNvSpPr>
          <p:nvPr userDrawn="1"/>
        </p:nvSpPr>
        <p:spPr>
          <a:xfrm rot="5400000">
            <a:off x="8394384" y="6607540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971600" y="2348880"/>
            <a:ext cx="7200800" cy="2160240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noProof="0" dirty="0" err="1"/>
              <a:t>Textmasterformate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Rechteck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hteck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Gleichschenkliges Dreieck 7"/>
          <p:cNvSpPr>
            <a:spLocks noChangeAspect="1"/>
          </p:cNvSpPr>
          <p:nvPr/>
        </p:nvSpPr>
        <p:spPr>
          <a:xfrm rot="5400000">
            <a:off x="8394385" y="6607540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Gerade Verbindung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521019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noProof="0" dirty="0" err="1"/>
              <a:t>Textmasterformate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  <a:p>
            <a:pPr lvl="1" eaLnBrk="1" latinLnBrk="0" hangingPunct="1"/>
            <a:r>
              <a:rPr kumimoji="0" lang="en-US" noProof="0" dirty="0" err="1"/>
              <a:t>Zweite</a:t>
            </a:r>
            <a:r>
              <a:rPr kumimoji="0" lang="en-US" noProof="0" dirty="0"/>
              <a:t> </a:t>
            </a:r>
            <a:r>
              <a:rPr kumimoji="0" lang="en-US" noProof="0" dirty="0" err="1"/>
              <a:t>Ebene</a:t>
            </a:r>
            <a:endParaRPr kumimoji="0" lang="en-US" noProof="0" dirty="0"/>
          </a:p>
          <a:p>
            <a:pPr lvl="2" eaLnBrk="1" latinLnBrk="0" hangingPunct="1"/>
            <a:r>
              <a:rPr kumimoji="0" lang="en-US" noProof="0" dirty="0" err="1"/>
              <a:t>Dritte</a:t>
            </a:r>
            <a:r>
              <a:rPr kumimoji="0" lang="en-US" noProof="0" dirty="0"/>
              <a:t> </a:t>
            </a:r>
            <a:r>
              <a:rPr kumimoji="0" lang="en-US" noProof="0" dirty="0" err="1"/>
              <a:t>Ebene</a:t>
            </a:r>
            <a:endParaRPr kumimoji="0" lang="en-US" noProof="0" dirty="0"/>
          </a:p>
          <a:p>
            <a:pPr lvl="3" eaLnBrk="1" latinLnBrk="0" hangingPunct="1"/>
            <a:r>
              <a:rPr kumimoji="0" lang="en-US" noProof="0" dirty="0" err="1"/>
              <a:t>Vierte</a:t>
            </a:r>
            <a:r>
              <a:rPr kumimoji="0" lang="en-US" noProof="0" dirty="0"/>
              <a:t> </a:t>
            </a:r>
            <a:r>
              <a:rPr kumimoji="0" lang="en-US" noProof="0" dirty="0" err="1"/>
              <a:t>Ebene</a:t>
            </a:r>
            <a:endParaRPr kumimoji="0" lang="en-US" noProof="0" dirty="0"/>
          </a:p>
          <a:p>
            <a:pPr lvl="4" eaLnBrk="1" latinLnBrk="0" hangingPunct="1"/>
            <a:r>
              <a:rPr kumimoji="0" lang="en-US" noProof="0" dirty="0" err="1"/>
              <a:t>Fünfte</a:t>
            </a:r>
            <a:r>
              <a:rPr kumimoji="0" lang="en-US" noProof="0" dirty="0"/>
              <a:t> </a:t>
            </a:r>
            <a:r>
              <a:rPr kumimoji="0" lang="en-US" noProof="0" dirty="0" err="1"/>
              <a:t>Ebene</a:t>
            </a:r>
            <a:endParaRPr kumimoji="0" lang="en-US" noProof="0" dirty="0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8542234" y="6492240"/>
            <a:ext cx="601766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1</a:t>
            </a:r>
          </a:p>
        </p:txBody>
      </p:sp>
      <p:sp>
        <p:nvSpPr>
          <p:cNvPr id="29" name="Gerade Verbindung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Gleichschenkliges Dreieck 9"/>
          <p:cNvSpPr>
            <a:spLocks noChangeAspect="1"/>
          </p:cNvSpPr>
          <p:nvPr/>
        </p:nvSpPr>
        <p:spPr>
          <a:xfrm rot="5400000">
            <a:off x="8394384" y="6607540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97" r:id="rId3"/>
    <p:sldLayoutId id="2147483696" r:id="rId4"/>
    <p:sldLayoutId id="2147483692" r:id="rId5"/>
    <p:sldLayoutId id="2147483690" r:id="rId6"/>
    <p:sldLayoutId id="2147483688" r:id="rId7"/>
    <p:sldLayoutId id="2147483689" r:id="rId8"/>
    <p:sldLayoutId id="2147483691" r:id="rId9"/>
    <p:sldLayoutId id="2147483687" r:id="rId10"/>
    <p:sldLayoutId id="2147483694" r:id="rId11"/>
    <p:sldLayoutId id="2147483695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e.wikipedia.org/wiki/Bankieralgorithmu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e.wikipedia.org/wiki/Bankieralgorithmus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hyperlink" Target="http://www.makelinux.net/kernel_map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e.wikipedia.org/wiki/Exponentialverteilung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citeseerx.ist.psu.edu/viewdoc/download?doi=10.1.1.36.9215&amp;rep=rep1&amp;type=pdf" TargetMode="External"/><Relationship Id="rId3" Type="http://schemas.openxmlformats.org/officeDocument/2006/relationships/image" Target="../media/image6.jpe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bit.ly/ibn_hd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15616" y="3717032"/>
            <a:ext cx="7056784" cy="1159768"/>
          </a:xfrm>
        </p:spPr>
        <p:txBody>
          <a:bodyPr>
            <a:noAutofit/>
          </a:bodyPr>
          <a:lstStyle/>
          <a:p>
            <a:r>
              <a:rPr lang="de-DE" sz="3600" dirty="0"/>
              <a:t>Betriebssysteme und Netzwerke</a:t>
            </a:r>
            <a:br>
              <a:rPr lang="de-DE" sz="3600" dirty="0"/>
            </a:br>
            <a:r>
              <a:rPr lang="de-DE" sz="3600" dirty="0"/>
              <a:t>Vorlesung 16</a:t>
            </a:r>
            <a:endParaRPr lang="en-US" sz="360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786446" y="5124450"/>
            <a:ext cx="2290754" cy="533400"/>
          </a:xfrm>
        </p:spPr>
        <p:txBody>
          <a:bodyPr>
            <a:normAutofit/>
          </a:bodyPr>
          <a:lstStyle/>
          <a:p>
            <a:r>
              <a:rPr lang="de-DE" dirty="0"/>
              <a:t>Artur Andrzejak</a:t>
            </a:r>
          </a:p>
        </p:txBody>
      </p:sp>
      <p:sp>
        <p:nvSpPr>
          <p:cNvPr id="4" name="Untertitel 2"/>
          <p:cNvSpPr txBox="1">
            <a:spLocks/>
          </p:cNvSpPr>
          <p:nvPr/>
        </p:nvSpPr>
        <p:spPr>
          <a:xfrm>
            <a:off x="1214414" y="5072074"/>
            <a:ext cx="1214446" cy="642942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None/>
              <a:tabLst/>
              <a:defRPr/>
            </a:pP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tx1"/>
                </a:solidFill>
              </a:rPr>
              <a:t>Ressourcen-Belegungs-Graph (R-B-Graph)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3937992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Modellierung von Deadlocks als </a:t>
            </a:r>
            <a:r>
              <a:rPr lang="de-DE" b="1" dirty="0">
                <a:solidFill>
                  <a:srgbClr val="FF0000"/>
                </a:solidFill>
              </a:rPr>
              <a:t>R</a:t>
            </a:r>
            <a:r>
              <a:rPr lang="de-DE" dirty="0"/>
              <a:t>-</a:t>
            </a:r>
            <a:r>
              <a:rPr lang="de-DE" b="1" dirty="0">
                <a:solidFill>
                  <a:srgbClr val="FF0000"/>
                </a:solidFill>
              </a:rPr>
              <a:t>B</a:t>
            </a:r>
            <a:r>
              <a:rPr lang="de-DE" dirty="0"/>
              <a:t>-</a:t>
            </a:r>
            <a:r>
              <a:rPr lang="de-DE" b="1" dirty="0">
                <a:solidFill>
                  <a:srgbClr val="FF0000"/>
                </a:solidFill>
              </a:rPr>
              <a:t>Graph</a:t>
            </a:r>
          </a:p>
          <a:p>
            <a:r>
              <a:rPr lang="de-DE" dirty="0">
                <a:solidFill>
                  <a:srgbClr val="0070C0"/>
                </a:solidFill>
              </a:rPr>
              <a:t>Prozesse</a:t>
            </a:r>
            <a:r>
              <a:rPr lang="de-DE" dirty="0"/>
              <a:t> P</a:t>
            </a:r>
            <a:r>
              <a:rPr lang="de-DE" baseline="-25000" dirty="0"/>
              <a:t>0</a:t>
            </a:r>
            <a:r>
              <a:rPr lang="de-DE" dirty="0"/>
              <a:t>, P</a:t>
            </a:r>
            <a:r>
              <a:rPr lang="de-DE" baseline="-25000" dirty="0"/>
              <a:t>1</a:t>
            </a:r>
            <a:r>
              <a:rPr lang="de-DE" dirty="0"/>
              <a:t>, …, </a:t>
            </a:r>
            <a:r>
              <a:rPr lang="de-DE" dirty="0" err="1"/>
              <a:t>P</a:t>
            </a:r>
            <a:r>
              <a:rPr lang="de-DE" baseline="-25000" dirty="0" err="1"/>
              <a:t>n</a:t>
            </a:r>
            <a:r>
              <a:rPr lang="de-DE" dirty="0"/>
              <a:t> (oder A, B, C, D,…)</a:t>
            </a:r>
          </a:p>
          <a:p>
            <a:pPr lvl="1"/>
            <a:r>
              <a:rPr lang="de-DE" dirty="0"/>
              <a:t>Knoten des Graphen dargestellt als </a:t>
            </a:r>
            <a:r>
              <a:rPr lang="de-DE" u="sng" dirty="0">
                <a:solidFill>
                  <a:srgbClr val="0070C0"/>
                </a:solidFill>
              </a:rPr>
              <a:t>Kreise</a:t>
            </a:r>
          </a:p>
          <a:p>
            <a:r>
              <a:rPr lang="de-DE" dirty="0">
                <a:solidFill>
                  <a:srgbClr val="FF0000"/>
                </a:solidFill>
              </a:rPr>
              <a:t>Ressourcen</a:t>
            </a:r>
            <a:r>
              <a:rPr lang="de-DE" dirty="0"/>
              <a:t> R</a:t>
            </a:r>
            <a:r>
              <a:rPr lang="de-DE" baseline="-25000" dirty="0"/>
              <a:t>0</a:t>
            </a:r>
            <a:r>
              <a:rPr lang="de-DE" dirty="0"/>
              <a:t>, …, </a:t>
            </a:r>
            <a:r>
              <a:rPr lang="de-DE" dirty="0" err="1"/>
              <a:t>R</a:t>
            </a:r>
            <a:r>
              <a:rPr lang="de-DE" baseline="-25000" dirty="0" err="1"/>
              <a:t>m</a:t>
            </a:r>
            <a:r>
              <a:rPr lang="de-DE" dirty="0"/>
              <a:t> (oder R, S, T, U, …)</a:t>
            </a:r>
          </a:p>
          <a:p>
            <a:pPr lvl="1"/>
            <a:r>
              <a:rPr lang="de-DE" dirty="0"/>
              <a:t>Knoten des Graphen dargestellt als </a:t>
            </a:r>
            <a:r>
              <a:rPr lang="de-DE" u="sng" dirty="0">
                <a:solidFill>
                  <a:srgbClr val="FF0000"/>
                </a:solidFill>
              </a:rPr>
              <a:t>Quadrate</a:t>
            </a:r>
          </a:p>
          <a:p>
            <a:r>
              <a:rPr lang="de-DE" dirty="0"/>
              <a:t>Gerichtete Kanten (dargestellt als Pfeile) </a:t>
            </a:r>
          </a:p>
          <a:p>
            <a:pPr lvl="1"/>
            <a:r>
              <a:rPr lang="de-DE" dirty="0"/>
              <a:t>Von Prozessen zu den Ressourcen</a:t>
            </a:r>
          </a:p>
          <a:p>
            <a:pPr lvl="2"/>
            <a:r>
              <a:rPr lang="de-DE" dirty="0"/>
              <a:t>Interpretation: „Prozess verlangt ein Ressource und wartet darauf“</a:t>
            </a:r>
          </a:p>
          <a:p>
            <a:pPr lvl="1"/>
            <a:r>
              <a:rPr lang="de-DE" dirty="0"/>
              <a:t>Von Ressourcen zu den Prozessen</a:t>
            </a:r>
          </a:p>
          <a:p>
            <a:pPr lvl="2"/>
            <a:r>
              <a:rPr lang="de-DE" dirty="0"/>
              <a:t>Interpretation: „Ressource wurde dem Prozess zugeordnet“ </a:t>
            </a:r>
          </a:p>
          <a:p>
            <a:endParaRPr lang="de-DE" dirty="0"/>
          </a:p>
        </p:txBody>
      </p:sp>
      <p:sp>
        <p:nvSpPr>
          <p:cNvPr id="6" name="Textfeld 5"/>
          <p:cNvSpPr txBox="1"/>
          <p:nvPr/>
        </p:nvSpPr>
        <p:spPr>
          <a:xfrm>
            <a:off x="4278778" y="5568965"/>
            <a:ext cx="3405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Liegt ein Deadlock vor?</a:t>
            </a:r>
          </a:p>
        </p:txBody>
      </p:sp>
      <p:grpSp>
        <p:nvGrpSpPr>
          <p:cNvPr id="38" name="Gruppieren 37"/>
          <p:cNvGrpSpPr/>
          <p:nvPr/>
        </p:nvGrpSpPr>
        <p:grpSpPr>
          <a:xfrm>
            <a:off x="1763688" y="4904433"/>
            <a:ext cx="1728192" cy="1853545"/>
            <a:chOff x="1259632" y="4905349"/>
            <a:chExt cx="1728192" cy="1853545"/>
          </a:xfrm>
        </p:grpSpPr>
        <p:sp>
          <p:nvSpPr>
            <p:cNvPr id="5" name="Rechteck 4"/>
            <p:cNvSpPr/>
            <p:nvPr/>
          </p:nvSpPr>
          <p:spPr>
            <a:xfrm>
              <a:off x="1259632" y="5606766"/>
              <a:ext cx="432048" cy="4320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dirty="0">
                  <a:solidFill>
                    <a:srgbClr val="FF0000"/>
                  </a:solidFill>
                </a:rPr>
                <a:t>T</a:t>
              </a:r>
            </a:p>
          </p:txBody>
        </p:sp>
        <p:sp>
          <p:nvSpPr>
            <p:cNvPr id="9" name="Rechteck 8"/>
            <p:cNvSpPr/>
            <p:nvPr/>
          </p:nvSpPr>
          <p:spPr>
            <a:xfrm>
              <a:off x="2555776" y="5606766"/>
              <a:ext cx="432048" cy="4320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dirty="0">
                  <a:solidFill>
                    <a:srgbClr val="FF0000"/>
                  </a:solidFill>
                </a:rPr>
                <a:t>U</a:t>
              </a:r>
            </a:p>
          </p:txBody>
        </p:sp>
        <p:sp>
          <p:nvSpPr>
            <p:cNvPr id="8" name="Ellipse 7"/>
            <p:cNvSpPr/>
            <p:nvPr/>
          </p:nvSpPr>
          <p:spPr>
            <a:xfrm>
              <a:off x="1907704" y="4905349"/>
              <a:ext cx="432048" cy="449574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dirty="0">
                  <a:solidFill>
                    <a:srgbClr val="0070C0"/>
                  </a:solidFill>
                </a:rPr>
                <a:t>D</a:t>
              </a:r>
              <a:endParaRPr lang="de-DE" sz="2000" dirty="0">
                <a:solidFill>
                  <a:srgbClr val="0070C0"/>
                </a:solidFill>
              </a:endParaRPr>
            </a:p>
          </p:txBody>
        </p:sp>
        <p:sp>
          <p:nvSpPr>
            <p:cNvPr id="11" name="Ellipse 10"/>
            <p:cNvSpPr/>
            <p:nvPr/>
          </p:nvSpPr>
          <p:spPr>
            <a:xfrm>
              <a:off x="1907169" y="6309320"/>
              <a:ext cx="432048" cy="449574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dirty="0">
                  <a:solidFill>
                    <a:srgbClr val="0070C0"/>
                  </a:solidFill>
                </a:rPr>
                <a:t>C</a:t>
              </a:r>
            </a:p>
          </p:txBody>
        </p:sp>
        <p:cxnSp>
          <p:nvCxnSpPr>
            <p:cNvPr id="13" name="Gerade Verbindung mit Pfeil 12"/>
            <p:cNvCxnSpPr>
              <a:stCxn id="5" idx="0"/>
              <a:endCxn id="8" idx="2"/>
            </p:cNvCxnSpPr>
            <p:nvPr/>
          </p:nvCxnSpPr>
          <p:spPr>
            <a:xfrm rot="5400000" flipH="1" flipV="1">
              <a:off x="1453365" y="5152427"/>
              <a:ext cx="476630" cy="432048"/>
            </a:xfrm>
            <a:prstGeom prst="curvedConnector2">
              <a:avLst/>
            </a:prstGeom>
            <a:ln w="28575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mit Pfeil 21"/>
            <p:cNvCxnSpPr>
              <a:stCxn id="8" idx="6"/>
              <a:endCxn id="9" idx="0"/>
            </p:cNvCxnSpPr>
            <p:nvPr/>
          </p:nvCxnSpPr>
          <p:spPr>
            <a:xfrm>
              <a:off x="2339752" y="5130136"/>
              <a:ext cx="432048" cy="476630"/>
            </a:xfrm>
            <a:prstGeom prst="curvedConnector2">
              <a:avLst/>
            </a:prstGeom>
            <a:ln w="28575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mit Pfeil 21"/>
            <p:cNvCxnSpPr>
              <a:stCxn id="9" idx="2"/>
              <a:endCxn id="11" idx="6"/>
            </p:cNvCxnSpPr>
            <p:nvPr/>
          </p:nvCxnSpPr>
          <p:spPr>
            <a:xfrm rot="5400000">
              <a:off x="2307863" y="6070169"/>
              <a:ext cx="495293" cy="432583"/>
            </a:xfrm>
            <a:prstGeom prst="curvedConnector2">
              <a:avLst/>
            </a:prstGeom>
            <a:ln w="28575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mit Pfeil 21"/>
            <p:cNvCxnSpPr>
              <a:stCxn id="11" idx="2"/>
              <a:endCxn id="5" idx="2"/>
            </p:cNvCxnSpPr>
            <p:nvPr/>
          </p:nvCxnSpPr>
          <p:spPr>
            <a:xfrm rot="10800000">
              <a:off x="1475657" y="6038815"/>
              <a:ext cx="431513" cy="495293"/>
            </a:xfrm>
            <a:prstGeom prst="curvedConnector2">
              <a:avLst/>
            </a:prstGeom>
            <a:ln w="28575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hteck 14">
            <a:extLst>
              <a:ext uri="{FF2B5EF4-FFF2-40B4-BE49-F238E27FC236}">
                <a16:creationId xmlns:a16="http://schemas.microsoft.com/office/drawing/2014/main" id="{FDBC14A6-62F3-465F-A4E2-F7C9F0DA001E}"/>
              </a:ext>
            </a:extLst>
          </p:cNvPr>
          <p:cNvSpPr/>
          <p:nvPr/>
        </p:nvSpPr>
        <p:spPr>
          <a:xfrm>
            <a:off x="7020272" y="76200"/>
            <a:ext cx="2087431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 dirty="0" err="1"/>
              <a:t>Wiederholung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9194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Mehrere Instanzen einer Ressource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3</a:t>
            </a:fld>
            <a:endParaRPr lang="en-US" noProof="0" dirty="0"/>
          </a:p>
        </p:txBody>
      </p:sp>
      <p:grpSp>
        <p:nvGrpSpPr>
          <p:cNvPr id="13" name="Gruppieren 12"/>
          <p:cNvGrpSpPr/>
          <p:nvPr/>
        </p:nvGrpSpPr>
        <p:grpSpPr>
          <a:xfrm>
            <a:off x="435935" y="1217802"/>
            <a:ext cx="3576118" cy="3211071"/>
            <a:chOff x="72658" y="1826030"/>
            <a:chExt cx="3687863" cy="3685670"/>
          </a:xfrm>
        </p:grpSpPr>
        <p:pic>
          <p:nvPicPr>
            <p:cNvPr id="5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59632" y="1826030"/>
              <a:ext cx="2500889" cy="36856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Textfeld 5"/>
            <p:cNvSpPr txBox="1"/>
            <p:nvPr/>
          </p:nvSpPr>
          <p:spPr>
            <a:xfrm>
              <a:off x="72658" y="1884520"/>
              <a:ext cx="1294702" cy="459247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de-DE" sz="2000" dirty="0"/>
                <a:t>Deadlock</a:t>
              </a:r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179513" y="4149079"/>
              <a:ext cx="1336645" cy="953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Zwei</a:t>
              </a:r>
            </a:p>
            <a:p>
              <a:r>
                <a:rPr lang="de-DE" sz="1600" dirty="0"/>
                <a:t>Instanzen</a:t>
              </a:r>
            </a:p>
            <a:p>
              <a:r>
                <a:rPr lang="de-DE" sz="1600" dirty="0"/>
                <a:t>vom Typ R</a:t>
              </a:r>
              <a:r>
                <a:rPr lang="de-DE" sz="1600" baseline="-25000" dirty="0"/>
                <a:t>2</a:t>
              </a:r>
            </a:p>
          </p:txBody>
        </p:sp>
        <p:sp>
          <p:nvSpPr>
            <p:cNvPr id="8" name="Ellipse 7"/>
            <p:cNvSpPr/>
            <p:nvPr/>
          </p:nvSpPr>
          <p:spPr>
            <a:xfrm>
              <a:off x="1738932" y="4140254"/>
              <a:ext cx="576064" cy="432048"/>
            </a:xfrm>
            <a:prstGeom prst="ellipse">
              <a:avLst/>
            </a:prstGeom>
            <a:solidFill>
              <a:srgbClr val="FFC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" name="Gerade Verbindung mit Pfeil 9"/>
            <p:cNvCxnSpPr>
              <a:endCxn id="8" idx="2"/>
            </p:cNvCxnSpPr>
            <p:nvPr/>
          </p:nvCxnSpPr>
          <p:spPr>
            <a:xfrm flipV="1">
              <a:off x="1219126" y="4356278"/>
              <a:ext cx="519806" cy="19723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13"/>
          <p:cNvGrpSpPr/>
          <p:nvPr/>
        </p:nvGrpSpPr>
        <p:grpSpPr>
          <a:xfrm>
            <a:off x="4499992" y="1268760"/>
            <a:ext cx="3384376" cy="3261425"/>
            <a:chOff x="3692152" y="1562730"/>
            <a:chExt cx="4336232" cy="3845223"/>
          </a:xfrm>
        </p:grpSpPr>
        <p:pic>
          <p:nvPicPr>
            <p:cNvPr id="11" name="Picture 7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076056" y="1628800"/>
              <a:ext cx="2952328" cy="3779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feld 11"/>
            <p:cNvSpPr txBox="1"/>
            <p:nvPr/>
          </p:nvSpPr>
          <p:spPr>
            <a:xfrm>
              <a:off x="3692152" y="1562730"/>
              <a:ext cx="2358228" cy="47173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de-DE" sz="2000" dirty="0"/>
                <a:t>Kein Deadlock</a:t>
              </a:r>
            </a:p>
          </p:txBody>
        </p:sp>
      </p:grpSp>
      <p:sp>
        <p:nvSpPr>
          <p:cNvPr id="15" name="Inhaltsplatzhalter 3"/>
          <p:cNvSpPr>
            <a:spLocks noGrp="1"/>
          </p:cNvSpPr>
          <p:nvPr>
            <p:ph sz="quarter" idx="1"/>
          </p:nvPr>
        </p:nvSpPr>
        <p:spPr>
          <a:xfrm>
            <a:off x="539552" y="4530185"/>
            <a:ext cx="8229600" cy="2139175"/>
          </a:xfrm>
        </p:spPr>
        <p:txBody>
          <a:bodyPr>
            <a:noAutofit/>
          </a:bodyPr>
          <a:lstStyle/>
          <a:p>
            <a:r>
              <a:rPr lang="de-DE" sz="2400" dirty="0"/>
              <a:t>Wir wissen: Kein Zyklus =&gt; </a:t>
            </a:r>
            <a:r>
              <a:rPr lang="de-DE" sz="2400" dirty="0">
                <a:solidFill>
                  <a:srgbClr val="0070C0"/>
                </a:solidFill>
              </a:rPr>
              <a:t>kein Deadlock</a:t>
            </a:r>
          </a:p>
          <a:p>
            <a:r>
              <a:rPr lang="de-DE" sz="2400" dirty="0"/>
              <a:t>Wenn aber ein Zyklus existiert, dann unterscheiden wir:</a:t>
            </a:r>
          </a:p>
          <a:p>
            <a:pPr lvl="1"/>
            <a:r>
              <a:rPr lang="de-DE" sz="2200" dirty="0">
                <a:solidFill>
                  <a:schemeClr val="tx1"/>
                </a:solidFill>
              </a:rPr>
              <a:t>Eine Instanz pro Ressourcentyp =&gt; </a:t>
            </a:r>
            <a:r>
              <a:rPr lang="de-DE" sz="2200" dirty="0">
                <a:solidFill>
                  <a:srgbClr val="FF0000"/>
                </a:solidFill>
              </a:rPr>
              <a:t>Deadlock</a:t>
            </a:r>
          </a:p>
          <a:p>
            <a:pPr lvl="1"/>
            <a:r>
              <a:rPr lang="de-DE" sz="2200" dirty="0">
                <a:solidFill>
                  <a:schemeClr val="tx1"/>
                </a:solidFill>
              </a:rPr>
              <a:t>Mehrere Instanzen pro Ressourcentyp =&gt; </a:t>
            </a:r>
            <a:r>
              <a:rPr lang="de-DE" sz="2200" dirty="0">
                <a:solidFill>
                  <a:srgbClr val="0070C0"/>
                </a:solidFill>
              </a:rPr>
              <a:t>Deadlock ist möglich, </a:t>
            </a:r>
            <a:r>
              <a:rPr lang="de-DE" sz="2200" u="sng" dirty="0">
                <a:solidFill>
                  <a:srgbClr val="0070C0"/>
                </a:solidFill>
              </a:rPr>
              <a:t>aber nicht zwingend</a:t>
            </a:r>
            <a:r>
              <a:rPr lang="de-DE" sz="2200" dirty="0">
                <a:solidFill>
                  <a:schemeClr val="tx1"/>
                </a:solidFill>
              </a:rPr>
              <a:t> (siehe Beispiele A, B)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899592" y="1844824"/>
            <a:ext cx="338554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dirty="0"/>
              <a:t>A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5220072" y="1844824"/>
            <a:ext cx="338554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dirty="0"/>
              <a:t>B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968EF78-717F-4333-B5B8-02875E242B0A}"/>
              </a:ext>
            </a:extLst>
          </p:cNvPr>
          <p:cNvSpPr/>
          <p:nvPr/>
        </p:nvSpPr>
        <p:spPr>
          <a:xfrm>
            <a:off x="7056569" y="77598"/>
            <a:ext cx="2087431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 dirty="0" err="1"/>
              <a:t>Wiederholung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0352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Datenstrukturen: C, R, E, A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50160"/>
          </a:xfrm>
        </p:spPr>
        <p:txBody>
          <a:bodyPr>
            <a:norm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Aktuelle Belegungsmatrix C</a:t>
            </a:r>
          </a:p>
          <a:p>
            <a:pPr lvl="1"/>
            <a:r>
              <a:rPr lang="de-DE" dirty="0"/>
              <a:t>Der Eintrag </a:t>
            </a:r>
            <a:r>
              <a:rPr lang="de-DE" dirty="0" err="1"/>
              <a:t>C</a:t>
            </a:r>
            <a:r>
              <a:rPr lang="de-DE" baseline="-25000" dirty="0" err="1"/>
              <a:t>ij</a:t>
            </a:r>
            <a:r>
              <a:rPr lang="de-DE" dirty="0"/>
              <a:t> ist die Anzahl der Ressourcen des Typs j, die Prozess i </a:t>
            </a:r>
            <a:r>
              <a:rPr lang="de-DE" dirty="0">
                <a:solidFill>
                  <a:srgbClr val="0070C0"/>
                </a:solidFill>
              </a:rPr>
              <a:t>belegt</a:t>
            </a:r>
          </a:p>
          <a:p>
            <a:r>
              <a:rPr lang="de-DE" b="1" dirty="0">
                <a:solidFill>
                  <a:srgbClr val="FF0000"/>
                </a:solidFill>
              </a:rPr>
              <a:t>Anforderungsmatrix R</a:t>
            </a:r>
          </a:p>
          <a:p>
            <a:pPr lvl="1"/>
            <a:r>
              <a:rPr lang="de-DE" dirty="0"/>
              <a:t>Der Eintrag </a:t>
            </a:r>
            <a:r>
              <a:rPr lang="de-DE" dirty="0" err="1"/>
              <a:t>R</a:t>
            </a:r>
            <a:r>
              <a:rPr lang="de-DE" baseline="-25000" dirty="0" err="1"/>
              <a:t>ij</a:t>
            </a:r>
            <a:r>
              <a:rPr lang="de-DE" dirty="0"/>
              <a:t> ist die Anzahl der Ressourcen des Typs j, die Prozess i </a:t>
            </a:r>
            <a:r>
              <a:rPr lang="de-DE" dirty="0">
                <a:solidFill>
                  <a:srgbClr val="0070C0"/>
                </a:solidFill>
              </a:rPr>
              <a:t>anfordert</a:t>
            </a:r>
          </a:p>
          <a:p>
            <a:endParaRPr lang="de-DE" dirty="0">
              <a:solidFill>
                <a:srgbClr val="0070C0"/>
              </a:solidFill>
            </a:endParaRPr>
          </a:p>
          <a:p>
            <a:endParaRPr lang="de-DE" dirty="0">
              <a:solidFill>
                <a:srgbClr val="0070C0"/>
              </a:solidFill>
            </a:endParaRPr>
          </a:p>
          <a:p>
            <a:endParaRPr lang="de-DE" dirty="0">
              <a:solidFill>
                <a:srgbClr val="0070C0"/>
              </a:solidFill>
            </a:endParaRPr>
          </a:p>
          <a:p>
            <a:endParaRPr lang="de-DE" sz="2800" b="1" dirty="0">
              <a:solidFill>
                <a:srgbClr val="FF0000"/>
              </a:solidFill>
            </a:endParaRPr>
          </a:p>
          <a:p>
            <a:r>
              <a:rPr lang="de-DE" sz="2800" b="1" dirty="0">
                <a:solidFill>
                  <a:srgbClr val="FF0000"/>
                </a:solidFill>
              </a:rPr>
              <a:t>Ressourcenvektor</a:t>
            </a:r>
            <a:r>
              <a:rPr lang="de-DE" sz="2800" b="1" dirty="0">
                <a:solidFill>
                  <a:srgbClr val="0070C0"/>
                </a:solidFill>
              </a:rPr>
              <a:t> (E</a:t>
            </a:r>
            <a:r>
              <a:rPr lang="de-DE" sz="2800" b="1" baseline="-25000" dirty="0">
                <a:solidFill>
                  <a:srgbClr val="0070C0"/>
                </a:solidFill>
              </a:rPr>
              <a:t>1</a:t>
            </a:r>
            <a:r>
              <a:rPr lang="de-DE" sz="2800" b="1" dirty="0">
                <a:solidFill>
                  <a:srgbClr val="0070C0"/>
                </a:solidFill>
              </a:rPr>
              <a:t>, E</a:t>
            </a:r>
            <a:r>
              <a:rPr lang="de-DE" sz="2800" b="1" baseline="-25000" dirty="0">
                <a:solidFill>
                  <a:srgbClr val="0070C0"/>
                </a:solidFill>
              </a:rPr>
              <a:t>2</a:t>
            </a:r>
            <a:r>
              <a:rPr lang="de-DE" sz="2800" b="1" dirty="0">
                <a:solidFill>
                  <a:srgbClr val="0070C0"/>
                </a:solidFill>
              </a:rPr>
              <a:t>, …, </a:t>
            </a:r>
            <a:r>
              <a:rPr lang="de-DE" sz="2800" b="1" dirty="0" err="1">
                <a:solidFill>
                  <a:srgbClr val="0070C0"/>
                </a:solidFill>
              </a:rPr>
              <a:t>E</a:t>
            </a:r>
            <a:r>
              <a:rPr lang="de-DE" sz="2800" b="1" baseline="-25000" dirty="0" err="1">
                <a:solidFill>
                  <a:srgbClr val="0070C0"/>
                </a:solidFill>
              </a:rPr>
              <a:t>m</a:t>
            </a:r>
            <a:r>
              <a:rPr lang="de-DE" sz="2800" b="1" dirty="0">
                <a:solidFill>
                  <a:srgbClr val="0070C0"/>
                </a:solidFill>
              </a:rPr>
              <a:t>)</a:t>
            </a:r>
          </a:p>
          <a:p>
            <a:r>
              <a:rPr lang="de-DE" sz="2800" b="1" dirty="0">
                <a:solidFill>
                  <a:srgbClr val="00B050"/>
                </a:solidFill>
              </a:rPr>
              <a:t>Ressourcen</a:t>
            </a:r>
            <a:r>
              <a:rPr lang="de-DE" sz="2800" b="1" u="sng" dirty="0">
                <a:solidFill>
                  <a:srgbClr val="00B050"/>
                </a:solidFill>
              </a:rPr>
              <a:t>rest</a:t>
            </a:r>
            <a:r>
              <a:rPr lang="de-DE" sz="2800" b="1" dirty="0">
                <a:solidFill>
                  <a:srgbClr val="00B050"/>
                </a:solidFill>
              </a:rPr>
              <a:t>vektor (A</a:t>
            </a:r>
            <a:r>
              <a:rPr lang="de-DE" sz="2800" b="1" baseline="-25000" dirty="0">
                <a:solidFill>
                  <a:srgbClr val="00B050"/>
                </a:solidFill>
              </a:rPr>
              <a:t>1</a:t>
            </a:r>
            <a:r>
              <a:rPr lang="de-DE" sz="2800" b="1" dirty="0">
                <a:solidFill>
                  <a:srgbClr val="00B050"/>
                </a:solidFill>
              </a:rPr>
              <a:t>, A</a:t>
            </a:r>
            <a:r>
              <a:rPr lang="de-DE" sz="2800" b="1" baseline="-25000" dirty="0">
                <a:solidFill>
                  <a:srgbClr val="00B050"/>
                </a:solidFill>
              </a:rPr>
              <a:t>2</a:t>
            </a:r>
            <a:r>
              <a:rPr lang="de-DE" sz="2800" b="1" dirty="0">
                <a:solidFill>
                  <a:srgbClr val="00B050"/>
                </a:solidFill>
              </a:rPr>
              <a:t>, …, A</a:t>
            </a:r>
            <a:r>
              <a:rPr lang="de-DE" sz="2800" b="1" baseline="-25000" dirty="0">
                <a:solidFill>
                  <a:srgbClr val="00B050"/>
                </a:solidFill>
              </a:rPr>
              <a:t>m</a:t>
            </a:r>
            <a:r>
              <a:rPr lang="de-DE" sz="2800" b="1" dirty="0">
                <a:solidFill>
                  <a:srgbClr val="00B050"/>
                </a:solidFill>
              </a:rPr>
              <a:t>)</a:t>
            </a:r>
            <a:endParaRPr lang="de-DE" sz="2800" dirty="0">
              <a:solidFill>
                <a:srgbClr val="00B050"/>
              </a:solidFill>
            </a:endParaRPr>
          </a:p>
          <a:p>
            <a:endParaRPr lang="de-DE" sz="2800" dirty="0">
              <a:solidFill>
                <a:srgbClr val="0070C0"/>
              </a:solidFill>
            </a:endParaRPr>
          </a:p>
        </p:txBody>
      </p:sp>
      <p:pic>
        <p:nvPicPr>
          <p:cNvPr id="4099" name="Picture 3" descr="C:\Artur\Academic\Lehre\10.WS-IBN\VL\figures\vl14\erkennen-matrizen.jpg"/>
          <p:cNvPicPr>
            <a:picLocks noChangeAspect="1" noChangeArrowheads="1"/>
          </p:cNvPicPr>
          <p:nvPr/>
        </p:nvPicPr>
        <p:blipFill>
          <a:blip r:embed="rId2" cstate="print"/>
          <a:srcRect l="5455" t="26582" r="909" b="20255"/>
          <a:stretch>
            <a:fillRect/>
          </a:stretch>
        </p:blipFill>
        <p:spPr bwMode="auto">
          <a:xfrm>
            <a:off x="899592" y="3789040"/>
            <a:ext cx="7416824" cy="1584176"/>
          </a:xfrm>
          <a:prstGeom prst="rect">
            <a:avLst/>
          </a:prstGeom>
          <a:noFill/>
        </p:spPr>
      </p:pic>
      <p:sp>
        <p:nvSpPr>
          <p:cNvPr id="11" name="Freihandform 10"/>
          <p:cNvSpPr/>
          <p:nvPr/>
        </p:nvSpPr>
        <p:spPr>
          <a:xfrm>
            <a:off x="323528" y="1484784"/>
            <a:ext cx="504056" cy="3024335"/>
          </a:xfrm>
          <a:custGeom>
            <a:avLst/>
            <a:gdLst>
              <a:gd name="connsiteX0" fmla="*/ 209176 w 549834"/>
              <a:gd name="connsiteY0" fmla="*/ 0 h 3807012"/>
              <a:gd name="connsiteX1" fmla="*/ 56776 w 549834"/>
              <a:gd name="connsiteY1" fmla="*/ 3173506 h 3807012"/>
              <a:gd name="connsiteX2" fmla="*/ 549834 w 549834"/>
              <a:gd name="connsiteY2" fmla="*/ 3801035 h 3807012"/>
              <a:gd name="connsiteX0" fmla="*/ 236070 w 576728"/>
              <a:gd name="connsiteY0" fmla="*/ 0 h 3801035"/>
              <a:gd name="connsiteX1" fmla="*/ 74705 w 576728"/>
              <a:gd name="connsiteY1" fmla="*/ 2913529 h 3801035"/>
              <a:gd name="connsiteX2" fmla="*/ 83670 w 576728"/>
              <a:gd name="connsiteY2" fmla="*/ 3173506 h 3801035"/>
              <a:gd name="connsiteX3" fmla="*/ 576728 w 576728"/>
              <a:gd name="connsiteY3" fmla="*/ 3801035 h 3801035"/>
              <a:gd name="connsiteX0" fmla="*/ 275904 w 616562"/>
              <a:gd name="connsiteY0" fmla="*/ 207222 h 4008257"/>
              <a:gd name="connsiteX1" fmla="*/ 25400 w 616562"/>
              <a:gd name="connsiteY1" fmla="*/ 528918 h 4008257"/>
              <a:gd name="connsiteX2" fmla="*/ 123504 w 616562"/>
              <a:gd name="connsiteY2" fmla="*/ 3380728 h 4008257"/>
              <a:gd name="connsiteX3" fmla="*/ 616562 w 616562"/>
              <a:gd name="connsiteY3" fmla="*/ 4008257 h 4008257"/>
              <a:gd name="connsiteX0" fmla="*/ 275904 w 616562"/>
              <a:gd name="connsiteY0" fmla="*/ 0 h 3801035"/>
              <a:gd name="connsiteX1" fmla="*/ 25400 w 616562"/>
              <a:gd name="connsiteY1" fmla="*/ 321696 h 3801035"/>
              <a:gd name="connsiteX2" fmla="*/ 123504 w 616562"/>
              <a:gd name="connsiteY2" fmla="*/ 3173506 h 3801035"/>
              <a:gd name="connsiteX3" fmla="*/ 616562 w 616562"/>
              <a:gd name="connsiteY3" fmla="*/ 3801035 h 3801035"/>
              <a:gd name="connsiteX0" fmla="*/ 250504 w 591162"/>
              <a:gd name="connsiteY0" fmla="*/ 0 h 3801035"/>
              <a:gd name="connsiteX1" fmla="*/ 0 w 591162"/>
              <a:gd name="connsiteY1" fmla="*/ 321696 h 3801035"/>
              <a:gd name="connsiteX2" fmla="*/ 98104 w 591162"/>
              <a:gd name="connsiteY2" fmla="*/ 3173506 h 3801035"/>
              <a:gd name="connsiteX3" fmla="*/ 591162 w 591162"/>
              <a:gd name="connsiteY3" fmla="*/ 3801035 h 3801035"/>
              <a:gd name="connsiteX0" fmla="*/ 250504 w 591162"/>
              <a:gd name="connsiteY0" fmla="*/ 0 h 3801035"/>
              <a:gd name="connsiteX1" fmla="*/ 0 w 591162"/>
              <a:gd name="connsiteY1" fmla="*/ 321696 h 3801035"/>
              <a:gd name="connsiteX2" fmla="*/ 98104 w 591162"/>
              <a:gd name="connsiteY2" fmla="*/ 3173506 h 3801035"/>
              <a:gd name="connsiteX3" fmla="*/ 591162 w 591162"/>
              <a:gd name="connsiteY3" fmla="*/ 3801035 h 3801035"/>
              <a:gd name="connsiteX0" fmla="*/ 250504 w 591162"/>
              <a:gd name="connsiteY0" fmla="*/ 0 h 3801035"/>
              <a:gd name="connsiteX1" fmla="*/ 0 w 591162"/>
              <a:gd name="connsiteY1" fmla="*/ 321696 h 3801035"/>
              <a:gd name="connsiteX2" fmla="*/ 72008 w 591162"/>
              <a:gd name="connsiteY2" fmla="*/ 3778080 h 3801035"/>
              <a:gd name="connsiteX3" fmla="*/ 591162 w 591162"/>
              <a:gd name="connsiteY3" fmla="*/ 3801035 h 3801035"/>
              <a:gd name="connsiteX0" fmla="*/ 178496 w 519154"/>
              <a:gd name="connsiteY0" fmla="*/ 0 h 3801035"/>
              <a:gd name="connsiteX1" fmla="*/ 0 w 519154"/>
              <a:gd name="connsiteY1" fmla="*/ 33664 h 3801035"/>
              <a:gd name="connsiteX2" fmla="*/ 0 w 519154"/>
              <a:gd name="connsiteY2" fmla="*/ 3778080 h 3801035"/>
              <a:gd name="connsiteX3" fmla="*/ 519154 w 519154"/>
              <a:gd name="connsiteY3" fmla="*/ 3801035 h 3801035"/>
              <a:gd name="connsiteX0" fmla="*/ 178496 w 519154"/>
              <a:gd name="connsiteY0" fmla="*/ 0 h 3810001"/>
              <a:gd name="connsiteX1" fmla="*/ 0 w 519154"/>
              <a:gd name="connsiteY1" fmla="*/ 33664 h 3810001"/>
              <a:gd name="connsiteX2" fmla="*/ 8166 w 519154"/>
              <a:gd name="connsiteY2" fmla="*/ 3810001 h 3810001"/>
              <a:gd name="connsiteX3" fmla="*/ 519154 w 519154"/>
              <a:gd name="connsiteY3" fmla="*/ 3801035 h 3810001"/>
              <a:gd name="connsiteX0" fmla="*/ 178496 w 519154"/>
              <a:gd name="connsiteY0" fmla="*/ 38344 h 3848345"/>
              <a:gd name="connsiteX1" fmla="*/ 0 w 519154"/>
              <a:gd name="connsiteY1" fmla="*/ 0 h 3848345"/>
              <a:gd name="connsiteX2" fmla="*/ 8166 w 519154"/>
              <a:gd name="connsiteY2" fmla="*/ 3848345 h 3848345"/>
              <a:gd name="connsiteX3" fmla="*/ 519154 w 519154"/>
              <a:gd name="connsiteY3" fmla="*/ 3839379 h 3848345"/>
              <a:gd name="connsiteX0" fmla="*/ 216024 w 519154"/>
              <a:gd name="connsiteY0" fmla="*/ 0 h 3848345"/>
              <a:gd name="connsiteX1" fmla="*/ 0 w 519154"/>
              <a:gd name="connsiteY1" fmla="*/ 0 h 3848345"/>
              <a:gd name="connsiteX2" fmla="*/ 8166 w 519154"/>
              <a:gd name="connsiteY2" fmla="*/ 3848345 h 3848345"/>
              <a:gd name="connsiteX3" fmla="*/ 519154 w 519154"/>
              <a:gd name="connsiteY3" fmla="*/ 3839379 h 3848345"/>
              <a:gd name="connsiteX0" fmla="*/ 216024 w 519154"/>
              <a:gd name="connsiteY0" fmla="*/ 0 h 3839379"/>
              <a:gd name="connsiteX1" fmla="*/ 0 w 519154"/>
              <a:gd name="connsiteY1" fmla="*/ 0 h 3839379"/>
              <a:gd name="connsiteX2" fmla="*/ 0 w 519154"/>
              <a:gd name="connsiteY2" fmla="*/ 3816424 h 3839379"/>
              <a:gd name="connsiteX3" fmla="*/ 519154 w 519154"/>
              <a:gd name="connsiteY3" fmla="*/ 3839379 h 38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154" h="3839379">
                <a:moveTo>
                  <a:pt x="216024" y="0"/>
                </a:moveTo>
                <a:lnTo>
                  <a:pt x="0" y="0"/>
                </a:lnTo>
                <a:lnTo>
                  <a:pt x="0" y="3816424"/>
                </a:lnTo>
                <a:lnTo>
                  <a:pt x="519154" y="3839379"/>
                </a:lnTo>
              </a:path>
            </a:pathLst>
          </a:cu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ihandform 11"/>
          <p:cNvSpPr/>
          <p:nvPr/>
        </p:nvSpPr>
        <p:spPr>
          <a:xfrm>
            <a:off x="5940152" y="2708920"/>
            <a:ext cx="2880320" cy="1872208"/>
          </a:xfrm>
          <a:custGeom>
            <a:avLst/>
            <a:gdLst>
              <a:gd name="connsiteX0" fmla="*/ 209176 w 549834"/>
              <a:gd name="connsiteY0" fmla="*/ 0 h 3807012"/>
              <a:gd name="connsiteX1" fmla="*/ 56776 w 549834"/>
              <a:gd name="connsiteY1" fmla="*/ 3173506 h 3807012"/>
              <a:gd name="connsiteX2" fmla="*/ 549834 w 549834"/>
              <a:gd name="connsiteY2" fmla="*/ 3801035 h 3807012"/>
              <a:gd name="connsiteX0" fmla="*/ 236070 w 576728"/>
              <a:gd name="connsiteY0" fmla="*/ 0 h 3801035"/>
              <a:gd name="connsiteX1" fmla="*/ 74705 w 576728"/>
              <a:gd name="connsiteY1" fmla="*/ 2913529 h 3801035"/>
              <a:gd name="connsiteX2" fmla="*/ 83670 w 576728"/>
              <a:gd name="connsiteY2" fmla="*/ 3173506 h 3801035"/>
              <a:gd name="connsiteX3" fmla="*/ 576728 w 576728"/>
              <a:gd name="connsiteY3" fmla="*/ 3801035 h 3801035"/>
              <a:gd name="connsiteX0" fmla="*/ 275904 w 616562"/>
              <a:gd name="connsiteY0" fmla="*/ 207222 h 4008257"/>
              <a:gd name="connsiteX1" fmla="*/ 25400 w 616562"/>
              <a:gd name="connsiteY1" fmla="*/ 528918 h 4008257"/>
              <a:gd name="connsiteX2" fmla="*/ 123504 w 616562"/>
              <a:gd name="connsiteY2" fmla="*/ 3380728 h 4008257"/>
              <a:gd name="connsiteX3" fmla="*/ 616562 w 616562"/>
              <a:gd name="connsiteY3" fmla="*/ 4008257 h 4008257"/>
              <a:gd name="connsiteX0" fmla="*/ 275904 w 616562"/>
              <a:gd name="connsiteY0" fmla="*/ 0 h 3801035"/>
              <a:gd name="connsiteX1" fmla="*/ 25400 w 616562"/>
              <a:gd name="connsiteY1" fmla="*/ 321696 h 3801035"/>
              <a:gd name="connsiteX2" fmla="*/ 123504 w 616562"/>
              <a:gd name="connsiteY2" fmla="*/ 3173506 h 3801035"/>
              <a:gd name="connsiteX3" fmla="*/ 616562 w 616562"/>
              <a:gd name="connsiteY3" fmla="*/ 3801035 h 3801035"/>
              <a:gd name="connsiteX0" fmla="*/ 250504 w 591162"/>
              <a:gd name="connsiteY0" fmla="*/ 0 h 3801035"/>
              <a:gd name="connsiteX1" fmla="*/ 0 w 591162"/>
              <a:gd name="connsiteY1" fmla="*/ 321696 h 3801035"/>
              <a:gd name="connsiteX2" fmla="*/ 98104 w 591162"/>
              <a:gd name="connsiteY2" fmla="*/ 3173506 h 3801035"/>
              <a:gd name="connsiteX3" fmla="*/ 591162 w 591162"/>
              <a:gd name="connsiteY3" fmla="*/ 3801035 h 3801035"/>
              <a:gd name="connsiteX0" fmla="*/ 250504 w 591162"/>
              <a:gd name="connsiteY0" fmla="*/ 0 h 3801035"/>
              <a:gd name="connsiteX1" fmla="*/ 0 w 591162"/>
              <a:gd name="connsiteY1" fmla="*/ 321696 h 3801035"/>
              <a:gd name="connsiteX2" fmla="*/ 98104 w 591162"/>
              <a:gd name="connsiteY2" fmla="*/ 3173506 h 3801035"/>
              <a:gd name="connsiteX3" fmla="*/ 591162 w 591162"/>
              <a:gd name="connsiteY3" fmla="*/ 3801035 h 3801035"/>
              <a:gd name="connsiteX0" fmla="*/ 250504 w 591162"/>
              <a:gd name="connsiteY0" fmla="*/ 0 h 3801035"/>
              <a:gd name="connsiteX1" fmla="*/ 0 w 591162"/>
              <a:gd name="connsiteY1" fmla="*/ 321696 h 3801035"/>
              <a:gd name="connsiteX2" fmla="*/ 72008 w 591162"/>
              <a:gd name="connsiteY2" fmla="*/ 3778080 h 3801035"/>
              <a:gd name="connsiteX3" fmla="*/ 591162 w 591162"/>
              <a:gd name="connsiteY3" fmla="*/ 3801035 h 3801035"/>
              <a:gd name="connsiteX0" fmla="*/ 178496 w 519154"/>
              <a:gd name="connsiteY0" fmla="*/ 0 h 3801035"/>
              <a:gd name="connsiteX1" fmla="*/ 0 w 519154"/>
              <a:gd name="connsiteY1" fmla="*/ 33664 h 3801035"/>
              <a:gd name="connsiteX2" fmla="*/ 0 w 519154"/>
              <a:gd name="connsiteY2" fmla="*/ 3778080 h 3801035"/>
              <a:gd name="connsiteX3" fmla="*/ 519154 w 519154"/>
              <a:gd name="connsiteY3" fmla="*/ 3801035 h 3801035"/>
              <a:gd name="connsiteX0" fmla="*/ 178496 w 519154"/>
              <a:gd name="connsiteY0" fmla="*/ 0 h 3810001"/>
              <a:gd name="connsiteX1" fmla="*/ 0 w 519154"/>
              <a:gd name="connsiteY1" fmla="*/ 33664 h 3810001"/>
              <a:gd name="connsiteX2" fmla="*/ 8166 w 519154"/>
              <a:gd name="connsiteY2" fmla="*/ 3810001 h 3810001"/>
              <a:gd name="connsiteX3" fmla="*/ 519154 w 519154"/>
              <a:gd name="connsiteY3" fmla="*/ 3801035 h 3810001"/>
              <a:gd name="connsiteX0" fmla="*/ 0 w 1619672"/>
              <a:gd name="connsiteY0" fmla="*/ 326376 h 3776337"/>
              <a:gd name="connsiteX1" fmla="*/ 1100518 w 1619672"/>
              <a:gd name="connsiteY1" fmla="*/ 0 h 3776337"/>
              <a:gd name="connsiteX2" fmla="*/ 1108684 w 1619672"/>
              <a:gd name="connsiteY2" fmla="*/ 3776337 h 3776337"/>
              <a:gd name="connsiteX3" fmla="*/ 1619672 w 1619672"/>
              <a:gd name="connsiteY3" fmla="*/ 3767371 h 3776337"/>
              <a:gd name="connsiteX0" fmla="*/ 0 w 1619672"/>
              <a:gd name="connsiteY0" fmla="*/ 326376 h 3767371"/>
              <a:gd name="connsiteX1" fmla="*/ 1100518 w 1619672"/>
              <a:gd name="connsiteY1" fmla="*/ 0 h 3767371"/>
              <a:gd name="connsiteX2" fmla="*/ 1296144 w 1619672"/>
              <a:gd name="connsiteY2" fmla="*/ 3134688 h 3767371"/>
              <a:gd name="connsiteX3" fmla="*/ 1619672 w 1619672"/>
              <a:gd name="connsiteY3" fmla="*/ 3767371 h 3767371"/>
              <a:gd name="connsiteX0" fmla="*/ 0 w 1296144"/>
              <a:gd name="connsiteY0" fmla="*/ 326376 h 3134688"/>
              <a:gd name="connsiteX1" fmla="*/ 1100518 w 1296144"/>
              <a:gd name="connsiteY1" fmla="*/ 0 h 3134688"/>
              <a:gd name="connsiteX2" fmla="*/ 1296144 w 1296144"/>
              <a:gd name="connsiteY2" fmla="*/ 3134688 h 3134688"/>
              <a:gd name="connsiteX3" fmla="*/ 936104 w 1296144"/>
              <a:gd name="connsiteY3" fmla="*/ 3134688 h 3134688"/>
              <a:gd name="connsiteX0" fmla="*/ 0 w 1296144"/>
              <a:gd name="connsiteY0" fmla="*/ 0 h 2808312"/>
              <a:gd name="connsiteX1" fmla="*/ 1296144 w 1296144"/>
              <a:gd name="connsiteY1" fmla="*/ 144016 h 2808312"/>
              <a:gd name="connsiteX2" fmla="*/ 1296144 w 1296144"/>
              <a:gd name="connsiteY2" fmla="*/ 2808312 h 2808312"/>
              <a:gd name="connsiteX3" fmla="*/ 936104 w 1296144"/>
              <a:gd name="connsiteY3" fmla="*/ 2808312 h 2808312"/>
              <a:gd name="connsiteX0" fmla="*/ 0 w 1656184"/>
              <a:gd name="connsiteY0" fmla="*/ 0 h 2736304"/>
              <a:gd name="connsiteX1" fmla="*/ 1656184 w 1656184"/>
              <a:gd name="connsiteY1" fmla="*/ 72008 h 2736304"/>
              <a:gd name="connsiteX2" fmla="*/ 1656184 w 1656184"/>
              <a:gd name="connsiteY2" fmla="*/ 2736304 h 2736304"/>
              <a:gd name="connsiteX3" fmla="*/ 1296144 w 1656184"/>
              <a:gd name="connsiteY3" fmla="*/ 2736304 h 2736304"/>
              <a:gd name="connsiteX0" fmla="*/ 0 w 1656184"/>
              <a:gd name="connsiteY0" fmla="*/ 0 h 2736304"/>
              <a:gd name="connsiteX1" fmla="*/ 1656184 w 1656184"/>
              <a:gd name="connsiteY1" fmla="*/ 0 h 2736304"/>
              <a:gd name="connsiteX2" fmla="*/ 1656184 w 1656184"/>
              <a:gd name="connsiteY2" fmla="*/ 2736304 h 2736304"/>
              <a:gd name="connsiteX3" fmla="*/ 1296144 w 1656184"/>
              <a:gd name="connsiteY3" fmla="*/ 2736304 h 273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6184" h="2736304">
                <a:moveTo>
                  <a:pt x="0" y="0"/>
                </a:moveTo>
                <a:lnTo>
                  <a:pt x="1656184" y="0"/>
                </a:lnTo>
                <a:lnTo>
                  <a:pt x="1656184" y="2736304"/>
                </a:lnTo>
                <a:lnTo>
                  <a:pt x="1296144" y="2736304"/>
                </a:lnTo>
              </a:path>
            </a:pathLst>
          </a:cu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4572000" y="4293096"/>
            <a:ext cx="792088" cy="12241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2A04C7C-1277-4F96-8122-A6AB429A2818}"/>
              </a:ext>
            </a:extLst>
          </p:cNvPr>
          <p:cNvSpPr/>
          <p:nvPr/>
        </p:nvSpPr>
        <p:spPr>
          <a:xfrm>
            <a:off x="7056569" y="77598"/>
            <a:ext cx="2087431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 dirty="0" err="1"/>
              <a:t>Wiederholung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01615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Algorithmus - </a:t>
            </a:r>
            <a:r>
              <a:rPr lang="de-DE" dirty="0" err="1">
                <a:hlinkClick r:id="rId3"/>
              </a:rPr>
              <a:t>Bankieralgorithmus</a:t>
            </a:r>
            <a:r>
              <a:rPr lang="de-DE" dirty="0"/>
              <a:t> 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364996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de-DE" dirty="0"/>
              <a:t>Suche einen unmarkierten Prozess i, für den die i-te Zeile von R kleiner oder gleich A ist: </a:t>
            </a:r>
            <a:r>
              <a:rPr lang="de-DE" dirty="0">
                <a:solidFill>
                  <a:srgbClr val="FF0000"/>
                </a:solidFill>
              </a:rPr>
              <a:t>R</a:t>
            </a:r>
            <a:r>
              <a:rPr lang="de-DE" baseline="-25000" dirty="0">
                <a:solidFill>
                  <a:srgbClr val="FF0000"/>
                </a:solidFill>
              </a:rPr>
              <a:t>i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b="1" dirty="0">
                <a:solidFill>
                  <a:srgbClr val="FF0000"/>
                </a:solidFill>
                <a:sym typeface="Symbol"/>
              </a:rPr>
              <a:t> </a:t>
            </a:r>
            <a:r>
              <a:rPr lang="de-DE" dirty="0">
                <a:solidFill>
                  <a:srgbClr val="FF0000"/>
                </a:solidFill>
                <a:sym typeface="Symbol"/>
              </a:rPr>
              <a:t>A</a:t>
            </a:r>
            <a:endParaRPr lang="de-DE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Wenn ein solcher Prozess existiert:</a:t>
            </a:r>
          </a:p>
          <a:p>
            <a:pPr marL="731520" lvl="1" indent="-457200"/>
            <a:r>
              <a:rPr lang="de-DE" dirty="0"/>
              <a:t>Addiere die i-te Zeile von C zu A: </a:t>
            </a:r>
            <a:r>
              <a:rPr lang="de-DE" dirty="0">
                <a:solidFill>
                  <a:srgbClr val="FF0000"/>
                </a:solidFill>
              </a:rPr>
              <a:t>A = A + C</a:t>
            </a:r>
            <a:r>
              <a:rPr lang="de-DE" baseline="-25000" dirty="0">
                <a:solidFill>
                  <a:srgbClr val="FF0000"/>
                </a:solidFill>
              </a:rPr>
              <a:t>i</a:t>
            </a:r>
            <a:r>
              <a:rPr lang="de-DE" dirty="0"/>
              <a:t> </a:t>
            </a:r>
          </a:p>
          <a:p>
            <a:pPr marL="731520" lvl="1" indent="-457200"/>
            <a:r>
              <a:rPr lang="de-DE" dirty="0"/>
              <a:t>Markiere den Prozess i</a:t>
            </a:r>
          </a:p>
          <a:p>
            <a:pPr marL="731520" lvl="1" indent="-457200"/>
            <a:r>
              <a:rPr lang="de-DE" dirty="0"/>
              <a:t>Gehe zum Schritt 1 zurück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Anderenfalls beende den Algorithmus:</a:t>
            </a:r>
          </a:p>
          <a:p>
            <a:pPr marL="731520" lvl="1" indent="-457200"/>
            <a:r>
              <a:rPr lang="de-DE" dirty="0"/>
              <a:t>Falls es noch unmarkierte Prozesse gibt, haben wird ein Deadlock</a:t>
            </a:r>
          </a:p>
          <a:p>
            <a:pPr marL="731520" lvl="1" indent="-457200"/>
            <a:r>
              <a:rPr lang="de-DE" dirty="0"/>
              <a:t>Gibt es keine unmarkierten Prozesse mehr =&gt; kein Deadlock</a:t>
            </a:r>
          </a:p>
          <a:p>
            <a:endParaRPr lang="de-DE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67544" y="4909810"/>
            <a:ext cx="8208912" cy="1633736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lvl="2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de-DE" dirty="0"/>
              <a:t>Erläuterung zu </a:t>
            </a:r>
            <a:r>
              <a:rPr lang="de-DE" dirty="0">
                <a:solidFill>
                  <a:srgbClr val="FF0000"/>
                </a:solidFill>
              </a:rPr>
              <a:t>A = A + C</a:t>
            </a:r>
            <a:r>
              <a:rPr lang="de-DE" baseline="-25000" dirty="0">
                <a:solidFill>
                  <a:srgbClr val="FF0000"/>
                </a:solidFill>
              </a:rPr>
              <a:t>i</a:t>
            </a:r>
            <a:r>
              <a:rPr lang="de-DE" dirty="0"/>
              <a:t> : Da i nun ausführen und terminieren kann, wird i am Ende alle soeben angeforderten Ressourcen (angegen in R</a:t>
            </a:r>
            <a:r>
              <a:rPr lang="de-DE" baseline="-25000" dirty="0"/>
              <a:t>i</a:t>
            </a:r>
            <a:r>
              <a:rPr lang="de-DE" dirty="0"/>
              <a:t>) zurückgeben </a:t>
            </a:r>
            <a:r>
              <a:rPr lang="de-DE" u="sng" dirty="0"/>
              <a:t>und zusätzlich</a:t>
            </a:r>
            <a:r>
              <a:rPr lang="de-DE" dirty="0"/>
              <a:t> alle noch bis jetzt gehaltenen Ressourcen (angegen in C</a:t>
            </a:r>
            <a:r>
              <a:rPr lang="de-DE" baseline="-25000" dirty="0"/>
              <a:t>i</a:t>
            </a:r>
            <a:r>
              <a:rPr lang="de-DE" dirty="0"/>
              <a:t>). Wir verschmelzen beide Schritte =&gt; damit kann der Ressourcenrestvektor A sofort um C</a:t>
            </a:r>
            <a:r>
              <a:rPr lang="de-DE" baseline="-25000" dirty="0"/>
              <a:t>i</a:t>
            </a:r>
            <a:r>
              <a:rPr lang="de-DE" dirty="0"/>
              <a:t> vergrößert werden! </a:t>
            </a:r>
          </a:p>
          <a:p>
            <a:endParaRPr lang="de-DE" dirty="0"/>
          </a:p>
        </p:txBody>
      </p:sp>
      <p:sp>
        <p:nvSpPr>
          <p:cNvPr id="5" name="Abgerundete rechteckige Legende 4"/>
          <p:cNvSpPr/>
          <p:nvPr/>
        </p:nvSpPr>
        <p:spPr>
          <a:xfrm>
            <a:off x="5724128" y="2996952"/>
            <a:ext cx="1296144" cy="288032"/>
          </a:xfrm>
          <a:prstGeom prst="wedgeRoundRectCallout">
            <a:avLst>
              <a:gd name="adj1" fmla="val -65959"/>
              <a:gd name="adj2" fmla="val -169164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Warum?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8E450C4-3F6F-7A7A-7EC8-3F956DA9091F}"/>
              </a:ext>
            </a:extLst>
          </p:cNvPr>
          <p:cNvSpPr/>
          <p:nvPr/>
        </p:nvSpPr>
        <p:spPr>
          <a:xfrm>
            <a:off x="7056569" y="77598"/>
            <a:ext cx="2087431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 dirty="0" err="1"/>
              <a:t>Wiederholung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08211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971600" y="1052736"/>
            <a:ext cx="7200800" cy="2160240"/>
          </a:xfrm>
        </p:spPr>
        <p:txBody>
          <a:bodyPr/>
          <a:lstStyle/>
          <a:p>
            <a:r>
              <a:rPr lang="de-DE" dirty="0"/>
              <a:t>Verhinderung von Deadlocks: Ressourcenspuren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99592" y="3661053"/>
            <a:ext cx="7272808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800" dirty="0"/>
              <a:t>Strategien zur Behandlung von Deadlocks:</a:t>
            </a:r>
            <a:endParaRPr lang="de-DE" sz="2000" b="1" dirty="0"/>
          </a:p>
          <a:p>
            <a:pPr marL="285750" indent="-285750">
              <a:buFont typeface="Arial" pitchFamily="34" charset="0"/>
              <a:buChar char="•"/>
            </a:pPr>
            <a:r>
              <a:rPr lang="de-DE" sz="2000" dirty="0">
                <a:solidFill>
                  <a:schemeClr val="bg1">
                    <a:lumMod val="50000"/>
                  </a:schemeClr>
                </a:solidFill>
              </a:rPr>
              <a:t>Einfach ignorieren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e-DE" sz="2000" dirty="0">
                <a:solidFill>
                  <a:schemeClr val="bg1">
                    <a:lumMod val="50000"/>
                  </a:schemeClr>
                </a:solidFill>
              </a:rPr>
              <a:t>Erkennen und beheben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de-DE" sz="2000" dirty="0">
                <a:solidFill>
                  <a:schemeClr val="bg1">
                    <a:lumMod val="50000"/>
                  </a:schemeClr>
                </a:solidFill>
              </a:rPr>
              <a:t>Deadlocks zulassen, erkennen und beheben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e-DE" sz="2400" b="1" dirty="0">
                <a:solidFill>
                  <a:srgbClr val="0070C0"/>
                </a:solidFill>
              </a:rPr>
              <a:t>Dynamische Verhinderung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de-DE" sz="2000" dirty="0"/>
              <a:t>Durch vorsichtige Ressourcenzuteilung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e-DE" sz="2000" dirty="0"/>
              <a:t>Vermeidung von Deadlocks</a:t>
            </a:r>
          </a:p>
        </p:txBody>
      </p:sp>
    </p:spTree>
    <p:extLst>
      <p:ext uri="{BB962C8B-B14F-4D97-AF65-F5344CB8AC3E}">
        <p14:creationId xmlns:p14="http://schemas.microsoft.com/office/powerpoint/2010/main" val="2651239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FF0000"/>
                </a:solidFill>
              </a:rPr>
              <a:t>Verhinderung </a:t>
            </a:r>
            <a:r>
              <a:rPr lang="de-DE" dirty="0"/>
              <a:t>von Deadlocks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50160"/>
          </a:xfrm>
        </p:spPr>
        <p:txBody>
          <a:bodyPr>
            <a:normAutofit/>
          </a:bodyPr>
          <a:lstStyle/>
          <a:p>
            <a:r>
              <a:rPr lang="de-DE" dirty="0"/>
              <a:t>Meistens werden die Ressourcen nicht auf einmal, sondern nach und nach zugeteilt</a:t>
            </a:r>
          </a:p>
          <a:p>
            <a:r>
              <a:rPr lang="de-DE" dirty="0">
                <a:solidFill>
                  <a:srgbClr val="0070C0"/>
                </a:solidFill>
              </a:rPr>
              <a:t>Das BS kann entscheiden, ob die nächste Ressource zugeteilt wird oder doch nicht</a:t>
            </a:r>
          </a:p>
          <a:p>
            <a:pPr lvl="1"/>
            <a:r>
              <a:rPr lang="de-DE" dirty="0"/>
              <a:t>Das BS sollte das nur tun, nur es nicht gefährlich ist</a:t>
            </a:r>
          </a:p>
          <a:p>
            <a:r>
              <a:rPr lang="de-DE" dirty="0"/>
              <a:t>Gibt es einen Algorithmus, der das zuverlässig entscheiden kann (und somit Deadlocks verhindert)?</a:t>
            </a:r>
          </a:p>
          <a:p>
            <a:r>
              <a:rPr lang="de-DE" dirty="0"/>
              <a:t>Ja, aber nur wenn bestimmte Informationen im Voraus zur Verfügung stehen</a:t>
            </a:r>
          </a:p>
          <a:p>
            <a:pPr lvl="1"/>
            <a:r>
              <a:rPr lang="de-DE" dirty="0"/>
              <a:t>U.a.: Maximale Anzahl der Ressourceninstanzen von jedem Typ, die ein Prozess reservieren wird</a:t>
            </a:r>
          </a:p>
        </p:txBody>
      </p:sp>
    </p:spTree>
    <p:extLst>
      <p:ext uri="{BB962C8B-B14F-4D97-AF65-F5344CB8AC3E}">
        <p14:creationId xmlns:p14="http://schemas.microsoft.com/office/powerpoint/2010/main" val="1012434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Visualisierung eines Ausführungsablaufs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497832"/>
          </a:xfrm>
        </p:spPr>
        <p:txBody>
          <a:bodyPr>
            <a:normAutofit/>
          </a:bodyPr>
          <a:lstStyle/>
          <a:p>
            <a:r>
              <a:rPr lang="de-DE" dirty="0"/>
              <a:t>Das BS darf das System nicht in eine Lage bringen, bei der ein Deadlock </a:t>
            </a:r>
            <a:r>
              <a:rPr lang="de-DE" u="sng" dirty="0"/>
              <a:t>unvermeidlich</a:t>
            </a:r>
            <a:r>
              <a:rPr lang="de-DE" dirty="0"/>
              <a:t> ist </a:t>
            </a:r>
          </a:p>
          <a:p>
            <a:pPr lvl="1"/>
            <a:r>
              <a:rPr lang="de-DE" dirty="0"/>
              <a:t>Dazu kann das BS eine Ressourcenanfrage so lange zu verzögern, bis ihre Erfüllung zu keinem Deadlock führen kann</a:t>
            </a:r>
          </a:p>
          <a:p>
            <a:r>
              <a:rPr lang="de-DE" dirty="0"/>
              <a:t>Wie kann eine „unvermeidliche“ Situation entstehen?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467544" y="3717032"/>
            <a:ext cx="5004556" cy="2641848"/>
          </a:xfrm>
        </p:spPr>
        <p:txBody>
          <a:bodyPr>
            <a:normAutofit/>
          </a:bodyPr>
          <a:lstStyle/>
          <a:p>
            <a:r>
              <a:rPr lang="de-DE" dirty="0"/>
              <a:t>Dazu visualisieren wir die Ausführung von zwei Prozessen A und B</a:t>
            </a:r>
          </a:p>
          <a:p>
            <a:pPr lvl="1"/>
            <a:r>
              <a:rPr lang="de-DE" dirty="0"/>
              <a:t>A führt „horizontal“ aus (nach rechts)</a:t>
            </a:r>
          </a:p>
          <a:p>
            <a:pPr lvl="1"/>
            <a:r>
              <a:rPr lang="de-DE" dirty="0"/>
              <a:t>B führt „vertikal“ aus (nach oben)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163031" y="3748390"/>
            <a:ext cx="3903275" cy="2621905"/>
            <a:chOff x="5163031" y="3748390"/>
            <a:chExt cx="3903275" cy="2621905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5580112" y="6093296"/>
              <a:ext cx="30963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5580112" y="3933056"/>
              <a:ext cx="0" cy="216024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5163031" y="374839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/>
                <a:t>B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676456" y="590863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/>
                <a:t>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668527" y="5263336"/>
              <a:ext cx="8338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/>
                <a:t>Start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740352" y="4019386"/>
              <a:ext cx="90441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/>
                <a:t>Ende</a:t>
              </a:r>
            </a:p>
          </p:txBody>
        </p:sp>
        <p:sp>
          <p:nvSpPr>
            <p:cNvPr id="17" name="Freeform 16"/>
            <p:cNvSpPr/>
            <p:nvPr/>
          </p:nvSpPr>
          <p:spPr>
            <a:xfrm>
              <a:off x="5943600" y="4217670"/>
              <a:ext cx="1624642" cy="1497330"/>
            </a:xfrm>
            <a:custGeom>
              <a:avLst/>
              <a:gdLst>
                <a:gd name="connsiteX0" fmla="*/ 0 w 1646652"/>
                <a:gd name="connsiteY0" fmla="*/ 1485900 h 1543233"/>
                <a:gd name="connsiteX1" fmla="*/ 742950 w 1646652"/>
                <a:gd name="connsiteY1" fmla="*/ 1497330 h 1543233"/>
                <a:gd name="connsiteX2" fmla="*/ 708660 w 1646652"/>
                <a:gd name="connsiteY2" fmla="*/ 982980 h 1543233"/>
                <a:gd name="connsiteX3" fmla="*/ 1508760 w 1646652"/>
                <a:gd name="connsiteY3" fmla="*/ 914400 h 1543233"/>
                <a:gd name="connsiteX4" fmla="*/ 1645920 w 1646652"/>
                <a:gd name="connsiteY4" fmla="*/ 0 h 1543233"/>
                <a:gd name="connsiteX5" fmla="*/ 1645920 w 1646652"/>
                <a:gd name="connsiteY5" fmla="*/ 0 h 1543233"/>
                <a:gd name="connsiteX0" fmla="*/ 0 w 1646652"/>
                <a:gd name="connsiteY0" fmla="*/ 1485900 h 1497330"/>
                <a:gd name="connsiteX1" fmla="*/ 742950 w 1646652"/>
                <a:gd name="connsiteY1" fmla="*/ 1497330 h 1497330"/>
                <a:gd name="connsiteX2" fmla="*/ 708660 w 1646652"/>
                <a:gd name="connsiteY2" fmla="*/ 982980 h 1497330"/>
                <a:gd name="connsiteX3" fmla="*/ 1508760 w 1646652"/>
                <a:gd name="connsiteY3" fmla="*/ 914400 h 1497330"/>
                <a:gd name="connsiteX4" fmla="*/ 1645920 w 1646652"/>
                <a:gd name="connsiteY4" fmla="*/ 0 h 1497330"/>
                <a:gd name="connsiteX5" fmla="*/ 1645920 w 1646652"/>
                <a:gd name="connsiteY5" fmla="*/ 0 h 1497330"/>
                <a:gd name="connsiteX0" fmla="*/ 0 w 1646652"/>
                <a:gd name="connsiteY0" fmla="*/ 1485900 h 1497330"/>
                <a:gd name="connsiteX1" fmla="*/ 742950 w 1646652"/>
                <a:gd name="connsiteY1" fmla="*/ 1497330 h 1497330"/>
                <a:gd name="connsiteX2" fmla="*/ 708660 w 1646652"/>
                <a:gd name="connsiteY2" fmla="*/ 982980 h 1497330"/>
                <a:gd name="connsiteX3" fmla="*/ 1508760 w 1646652"/>
                <a:gd name="connsiteY3" fmla="*/ 914400 h 1497330"/>
                <a:gd name="connsiteX4" fmla="*/ 1645920 w 1646652"/>
                <a:gd name="connsiteY4" fmla="*/ 0 h 1497330"/>
                <a:gd name="connsiteX5" fmla="*/ 1645920 w 1646652"/>
                <a:gd name="connsiteY5" fmla="*/ 0 h 1497330"/>
                <a:gd name="connsiteX0" fmla="*/ 0 w 1646652"/>
                <a:gd name="connsiteY0" fmla="*/ 1485900 h 1497330"/>
                <a:gd name="connsiteX1" fmla="*/ 742950 w 1646652"/>
                <a:gd name="connsiteY1" fmla="*/ 1497330 h 1497330"/>
                <a:gd name="connsiteX2" fmla="*/ 708660 w 1646652"/>
                <a:gd name="connsiteY2" fmla="*/ 982980 h 1497330"/>
                <a:gd name="connsiteX3" fmla="*/ 1508760 w 1646652"/>
                <a:gd name="connsiteY3" fmla="*/ 914400 h 1497330"/>
                <a:gd name="connsiteX4" fmla="*/ 1645920 w 1646652"/>
                <a:gd name="connsiteY4" fmla="*/ 0 h 1497330"/>
                <a:gd name="connsiteX5" fmla="*/ 1645920 w 1646652"/>
                <a:gd name="connsiteY5" fmla="*/ 0 h 1497330"/>
                <a:gd name="connsiteX0" fmla="*/ 0 w 1645920"/>
                <a:gd name="connsiteY0" fmla="*/ 1485900 h 1497330"/>
                <a:gd name="connsiteX1" fmla="*/ 742950 w 1645920"/>
                <a:gd name="connsiteY1" fmla="*/ 1497330 h 1497330"/>
                <a:gd name="connsiteX2" fmla="*/ 708660 w 1645920"/>
                <a:gd name="connsiteY2" fmla="*/ 982980 h 1497330"/>
                <a:gd name="connsiteX3" fmla="*/ 1508760 w 1645920"/>
                <a:gd name="connsiteY3" fmla="*/ 914400 h 1497330"/>
                <a:gd name="connsiteX4" fmla="*/ 1645920 w 1645920"/>
                <a:gd name="connsiteY4" fmla="*/ 0 h 1497330"/>
                <a:gd name="connsiteX5" fmla="*/ 1645920 w 1645920"/>
                <a:gd name="connsiteY5" fmla="*/ 0 h 1497330"/>
                <a:gd name="connsiteX0" fmla="*/ 0 w 1645920"/>
                <a:gd name="connsiteY0" fmla="*/ 1485900 h 1497330"/>
                <a:gd name="connsiteX1" fmla="*/ 742950 w 1645920"/>
                <a:gd name="connsiteY1" fmla="*/ 1497330 h 1497330"/>
                <a:gd name="connsiteX2" fmla="*/ 708660 w 1645920"/>
                <a:gd name="connsiteY2" fmla="*/ 982980 h 1497330"/>
                <a:gd name="connsiteX3" fmla="*/ 1645920 w 1645920"/>
                <a:gd name="connsiteY3" fmla="*/ 971550 h 1497330"/>
                <a:gd name="connsiteX4" fmla="*/ 1645920 w 1645920"/>
                <a:gd name="connsiteY4" fmla="*/ 0 h 1497330"/>
                <a:gd name="connsiteX5" fmla="*/ 1645920 w 1645920"/>
                <a:gd name="connsiteY5" fmla="*/ 0 h 1497330"/>
                <a:gd name="connsiteX0" fmla="*/ 0 w 1645920"/>
                <a:gd name="connsiteY0" fmla="*/ 1485900 h 1497330"/>
                <a:gd name="connsiteX1" fmla="*/ 742950 w 1645920"/>
                <a:gd name="connsiteY1" fmla="*/ 1497330 h 1497330"/>
                <a:gd name="connsiteX2" fmla="*/ 708660 w 1645920"/>
                <a:gd name="connsiteY2" fmla="*/ 982980 h 1497330"/>
                <a:gd name="connsiteX3" fmla="*/ 1645920 w 1645920"/>
                <a:gd name="connsiteY3" fmla="*/ 971550 h 1497330"/>
                <a:gd name="connsiteX4" fmla="*/ 1645920 w 1645920"/>
                <a:gd name="connsiteY4" fmla="*/ 0 h 1497330"/>
                <a:gd name="connsiteX5" fmla="*/ 1645920 w 1645920"/>
                <a:gd name="connsiteY5" fmla="*/ 0 h 1497330"/>
                <a:gd name="connsiteX0" fmla="*/ 0 w 1645920"/>
                <a:gd name="connsiteY0" fmla="*/ 1485900 h 1497330"/>
                <a:gd name="connsiteX1" fmla="*/ 742950 w 1645920"/>
                <a:gd name="connsiteY1" fmla="*/ 1497330 h 1497330"/>
                <a:gd name="connsiteX2" fmla="*/ 708660 w 1645920"/>
                <a:gd name="connsiteY2" fmla="*/ 982980 h 1497330"/>
                <a:gd name="connsiteX3" fmla="*/ 1645920 w 1645920"/>
                <a:gd name="connsiteY3" fmla="*/ 971550 h 1497330"/>
                <a:gd name="connsiteX4" fmla="*/ 1645920 w 1645920"/>
                <a:gd name="connsiteY4" fmla="*/ 0 h 1497330"/>
                <a:gd name="connsiteX5" fmla="*/ 1645920 w 1645920"/>
                <a:gd name="connsiteY5" fmla="*/ 0 h 1497330"/>
                <a:gd name="connsiteX0" fmla="*/ 0 w 1711113"/>
                <a:gd name="connsiteY0" fmla="*/ 1485900 h 1532588"/>
                <a:gd name="connsiteX1" fmla="*/ 742950 w 1711113"/>
                <a:gd name="connsiteY1" fmla="*/ 1497330 h 1532588"/>
                <a:gd name="connsiteX2" fmla="*/ 765810 w 1711113"/>
                <a:gd name="connsiteY2" fmla="*/ 982980 h 1532588"/>
                <a:gd name="connsiteX3" fmla="*/ 1645920 w 1711113"/>
                <a:gd name="connsiteY3" fmla="*/ 971550 h 1532588"/>
                <a:gd name="connsiteX4" fmla="*/ 1645920 w 1711113"/>
                <a:gd name="connsiteY4" fmla="*/ 0 h 1532588"/>
                <a:gd name="connsiteX5" fmla="*/ 1645920 w 1711113"/>
                <a:gd name="connsiteY5" fmla="*/ 0 h 1532588"/>
                <a:gd name="connsiteX0" fmla="*/ 0 w 1711113"/>
                <a:gd name="connsiteY0" fmla="*/ 1485900 h 1532588"/>
                <a:gd name="connsiteX1" fmla="*/ 742950 w 1711113"/>
                <a:gd name="connsiteY1" fmla="*/ 1497330 h 1532588"/>
                <a:gd name="connsiteX2" fmla="*/ 765810 w 1711113"/>
                <a:gd name="connsiteY2" fmla="*/ 982980 h 1532588"/>
                <a:gd name="connsiteX3" fmla="*/ 1645920 w 1711113"/>
                <a:gd name="connsiteY3" fmla="*/ 971550 h 1532588"/>
                <a:gd name="connsiteX4" fmla="*/ 1645920 w 1711113"/>
                <a:gd name="connsiteY4" fmla="*/ 0 h 1532588"/>
                <a:gd name="connsiteX5" fmla="*/ 1645920 w 1711113"/>
                <a:gd name="connsiteY5" fmla="*/ 0 h 1532588"/>
                <a:gd name="connsiteX0" fmla="*/ 0 w 1713653"/>
                <a:gd name="connsiteY0" fmla="*/ 1485900 h 1533432"/>
                <a:gd name="connsiteX1" fmla="*/ 742950 w 1713653"/>
                <a:gd name="connsiteY1" fmla="*/ 1497330 h 1533432"/>
                <a:gd name="connsiteX2" fmla="*/ 731520 w 1713653"/>
                <a:gd name="connsiteY2" fmla="*/ 971550 h 1533432"/>
                <a:gd name="connsiteX3" fmla="*/ 1645920 w 1713653"/>
                <a:gd name="connsiteY3" fmla="*/ 971550 h 1533432"/>
                <a:gd name="connsiteX4" fmla="*/ 1645920 w 1713653"/>
                <a:gd name="connsiteY4" fmla="*/ 0 h 1533432"/>
                <a:gd name="connsiteX5" fmla="*/ 1645920 w 1713653"/>
                <a:gd name="connsiteY5" fmla="*/ 0 h 1533432"/>
                <a:gd name="connsiteX0" fmla="*/ 0 w 1713653"/>
                <a:gd name="connsiteY0" fmla="*/ 1485900 h 1535121"/>
                <a:gd name="connsiteX1" fmla="*/ 742950 w 1713653"/>
                <a:gd name="connsiteY1" fmla="*/ 1497330 h 1535121"/>
                <a:gd name="connsiteX2" fmla="*/ 731520 w 1713653"/>
                <a:gd name="connsiteY2" fmla="*/ 948690 h 1535121"/>
                <a:gd name="connsiteX3" fmla="*/ 1645920 w 1713653"/>
                <a:gd name="connsiteY3" fmla="*/ 971550 h 1535121"/>
                <a:gd name="connsiteX4" fmla="*/ 1645920 w 1713653"/>
                <a:gd name="connsiteY4" fmla="*/ 0 h 1535121"/>
                <a:gd name="connsiteX5" fmla="*/ 1645920 w 1713653"/>
                <a:gd name="connsiteY5" fmla="*/ 0 h 1535121"/>
                <a:gd name="connsiteX0" fmla="*/ 0 w 1713653"/>
                <a:gd name="connsiteY0" fmla="*/ 1485900 h 1535121"/>
                <a:gd name="connsiteX1" fmla="*/ 742950 w 1713653"/>
                <a:gd name="connsiteY1" fmla="*/ 1497330 h 1535121"/>
                <a:gd name="connsiteX2" fmla="*/ 731520 w 1713653"/>
                <a:gd name="connsiteY2" fmla="*/ 948690 h 1535121"/>
                <a:gd name="connsiteX3" fmla="*/ 1645920 w 1713653"/>
                <a:gd name="connsiteY3" fmla="*/ 971550 h 1535121"/>
                <a:gd name="connsiteX4" fmla="*/ 1645920 w 1713653"/>
                <a:gd name="connsiteY4" fmla="*/ 0 h 1535121"/>
                <a:gd name="connsiteX5" fmla="*/ 1645920 w 1713653"/>
                <a:gd name="connsiteY5" fmla="*/ 0 h 1535121"/>
                <a:gd name="connsiteX0" fmla="*/ 0 w 1713653"/>
                <a:gd name="connsiteY0" fmla="*/ 1485900 h 1535121"/>
                <a:gd name="connsiteX1" fmla="*/ 742950 w 1713653"/>
                <a:gd name="connsiteY1" fmla="*/ 1497330 h 1535121"/>
                <a:gd name="connsiteX2" fmla="*/ 731520 w 1713653"/>
                <a:gd name="connsiteY2" fmla="*/ 948690 h 1535121"/>
                <a:gd name="connsiteX3" fmla="*/ 1645920 w 1713653"/>
                <a:gd name="connsiteY3" fmla="*/ 971550 h 1535121"/>
                <a:gd name="connsiteX4" fmla="*/ 1645920 w 1713653"/>
                <a:gd name="connsiteY4" fmla="*/ 0 h 1535121"/>
                <a:gd name="connsiteX5" fmla="*/ 1645920 w 1713653"/>
                <a:gd name="connsiteY5" fmla="*/ 0 h 1535121"/>
                <a:gd name="connsiteX0" fmla="*/ 0 w 1713653"/>
                <a:gd name="connsiteY0" fmla="*/ 1485900 h 1497330"/>
                <a:gd name="connsiteX1" fmla="*/ 742950 w 1713653"/>
                <a:gd name="connsiteY1" fmla="*/ 1497330 h 1497330"/>
                <a:gd name="connsiteX2" fmla="*/ 731520 w 1713653"/>
                <a:gd name="connsiteY2" fmla="*/ 948690 h 1497330"/>
                <a:gd name="connsiteX3" fmla="*/ 1645920 w 1713653"/>
                <a:gd name="connsiteY3" fmla="*/ 971550 h 1497330"/>
                <a:gd name="connsiteX4" fmla="*/ 1645920 w 1713653"/>
                <a:gd name="connsiteY4" fmla="*/ 0 h 1497330"/>
                <a:gd name="connsiteX5" fmla="*/ 1645920 w 1713653"/>
                <a:gd name="connsiteY5" fmla="*/ 0 h 1497330"/>
                <a:gd name="connsiteX0" fmla="*/ 0 w 1713653"/>
                <a:gd name="connsiteY0" fmla="*/ 1485900 h 1497330"/>
                <a:gd name="connsiteX1" fmla="*/ 742950 w 1713653"/>
                <a:gd name="connsiteY1" fmla="*/ 1497330 h 1497330"/>
                <a:gd name="connsiteX2" fmla="*/ 731520 w 1713653"/>
                <a:gd name="connsiteY2" fmla="*/ 948690 h 1497330"/>
                <a:gd name="connsiteX3" fmla="*/ 1645920 w 1713653"/>
                <a:gd name="connsiteY3" fmla="*/ 971550 h 1497330"/>
                <a:gd name="connsiteX4" fmla="*/ 1645920 w 1713653"/>
                <a:gd name="connsiteY4" fmla="*/ 0 h 1497330"/>
                <a:gd name="connsiteX5" fmla="*/ 1645920 w 1713653"/>
                <a:gd name="connsiteY5" fmla="*/ 0 h 1497330"/>
                <a:gd name="connsiteX0" fmla="*/ 0 w 1645920"/>
                <a:gd name="connsiteY0" fmla="*/ 1485900 h 1497330"/>
                <a:gd name="connsiteX1" fmla="*/ 742950 w 1645920"/>
                <a:gd name="connsiteY1" fmla="*/ 1497330 h 1497330"/>
                <a:gd name="connsiteX2" fmla="*/ 731520 w 1645920"/>
                <a:gd name="connsiteY2" fmla="*/ 948690 h 1497330"/>
                <a:gd name="connsiteX3" fmla="*/ 1645920 w 1645920"/>
                <a:gd name="connsiteY3" fmla="*/ 971550 h 1497330"/>
                <a:gd name="connsiteX4" fmla="*/ 1645920 w 1645920"/>
                <a:gd name="connsiteY4" fmla="*/ 0 h 1497330"/>
                <a:gd name="connsiteX5" fmla="*/ 1645920 w 1645920"/>
                <a:gd name="connsiteY5" fmla="*/ 0 h 149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5920" h="1497330">
                  <a:moveTo>
                    <a:pt x="0" y="1485900"/>
                  </a:moveTo>
                  <a:lnTo>
                    <a:pt x="742950" y="1497330"/>
                  </a:lnTo>
                  <a:lnTo>
                    <a:pt x="731520" y="948690"/>
                  </a:lnTo>
                  <a:lnTo>
                    <a:pt x="1645920" y="971550"/>
                  </a:lnTo>
                  <a:lnTo>
                    <a:pt x="1645920" y="0"/>
                  </a:lnTo>
                  <a:lnTo>
                    <a:pt x="1645920" y="0"/>
                  </a:lnTo>
                </a:path>
              </a:pathLst>
            </a:custGeom>
            <a:ln w="381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18" name="Oval 17"/>
            <p:cNvSpPr/>
            <p:nvPr/>
          </p:nvSpPr>
          <p:spPr>
            <a:xfrm>
              <a:off x="5835588" y="5642992"/>
              <a:ext cx="144000" cy="144016"/>
            </a:xfrm>
            <a:prstGeom prst="ellipse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19" name="Oval 18"/>
            <p:cNvSpPr/>
            <p:nvPr/>
          </p:nvSpPr>
          <p:spPr>
            <a:xfrm>
              <a:off x="7481508" y="4132044"/>
              <a:ext cx="144000" cy="144016"/>
            </a:xfrm>
            <a:prstGeom prst="ellipse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29456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Ressourcenspuren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993776"/>
          </a:xfrm>
        </p:spPr>
        <p:txBody>
          <a:bodyPr>
            <a:normAutofit/>
          </a:bodyPr>
          <a:lstStyle/>
          <a:p>
            <a:r>
              <a:rPr lang="de-DE" dirty="0"/>
              <a:t>Wir können auch einzeichnen, wann ein Prozess ein Ressource benutzt (und diese belegt hat)</a:t>
            </a:r>
          </a:p>
          <a:p>
            <a:r>
              <a:rPr lang="de-DE" dirty="0"/>
              <a:t>Man nennt das ein </a:t>
            </a:r>
            <a:r>
              <a:rPr lang="de-DE" b="1" dirty="0">
                <a:solidFill>
                  <a:srgbClr val="FF0000"/>
                </a:solidFill>
              </a:rPr>
              <a:t>Diagramm der Ressourcenspuren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3"/>
          </p:nvPr>
        </p:nvSpPr>
        <p:spPr>
          <a:xfrm>
            <a:off x="467542" y="3140968"/>
            <a:ext cx="3521079" cy="3456384"/>
          </a:xfrm>
        </p:spPr>
        <p:txBody>
          <a:bodyPr>
            <a:noAutofit/>
          </a:bodyPr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de-DE" sz="2600" dirty="0"/>
              <a:t>Innerhalb eines gefärbten Bereiches ist die Ressource belegt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de-DE" sz="2600" dirty="0"/>
              <a:t>Am Rande eines gefärbten Bereiches gibt es evtl. eine Res.-Anfrage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de-DE" sz="2600" dirty="0"/>
          </a:p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 rot="16200000">
            <a:off x="7810327" y="4125444"/>
            <a:ext cx="1154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rgbClr val="FFC000"/>
                </a:solidFill>
              </a:rPr>
              <a:t>Drucker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5454198" y="5931348"/>
            <a:ext cx="1350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FFC000"/>
                </a:solidFill>
              </a:rPr>
              <a:t>Drucker</a:t>
            </a:r>
          </a:p>
        </p:txBody>
      </p:sp>
      <p:sp>
        <p:nvSpPr>
          <p:cNvPr id="9" name="Textfeld 8"/>
          <p:cNvSpPr txBox="1"/>
          <p:nvPr/>
        </p:nvSpPr>
        <p:spPr>
          <a:xfrm rot="16200000">
            <a:off x="8218719" y="4501644"/>
            <a:ext cx="995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rgbClr val="00B0F0"/>
                </a:solidFill>
              </a:rPr>
              <a:t>Plotter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6221020" y="6327466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00B0F0"/>
                </a:solidFill>
              </a:rPr>
              <a:t>Plotter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7805464" y="2996952"/>
            <a:ext cx="11112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/>
              <a:t>Beide</a:t>
            </a:r>
          </a:p>
          <a:p>
            <a:r>
              <a:rPr lang="de-DE" sz="2000" dirty="0"/>
              <a:t>beendet</a:t>
            </a:r>
          </a:p>
        </p:txBody>
      </p:sp>
      <p:sp>
        <p:nvSpPr>
          <p:cNvPr id="13" name="Geschweifte Klammer links 12"/>
          <p:cNvSpPr/>
          <p:nvPr/>
        </p:nvSpPr>
        <p:spPr>
          <a:xfrm rot="5400000">
            <a:off x="6508102" y="2578032"/>
            <a:ext cx="432048" cy="1125871"/>
          </a:xfrm>
          <a:prstGeom prst="leftBrac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6516216" y="2204864"/>
            <a:ext cx="2094356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000" dirty="0"/>
              <a:t>Prozess A belegt</a:t>
            </a:r>
          </a:p>
          <a:p>
            <a:r>
              <a:rPr lang="de-DE" sz="2000" b="1" dirty="0">
                <a:solidFill>
                  <a:srgbClr val="00B0F0"/>
                </a:solidFill>
              </a:rPr>
              <a:t>Plotter</a:t>
            </a:r>
            <a:r>
              <a:rPr lang="de-DE" sz="2000" dirty="0"/>
              <a:t> hier</a:t>
            </a:r>
            <a:endParaRPr lang="de-DE" sz="2000" baseline="-25000" dirty="0"/>
          </a:p>
        </p:txBody>
      </p:sp>
      <p:sp>
        <p:nvSpPr>
          <p:cNvPr id="12" name="Rectangle 11"/>
          <p:cNvSpPr/>
          <p:nvPr/>
        </p:nvSpPr>
        <p:spPr>
          <a:xfrm>
            <a:off x="5566288" y="3420399"/>
            <a:ext cx="1125870" cy="2415302"/>
          </a:xfrm>
          <a:prstGeom prst="rect">
            <a:avLst/>
          </a:prstGeom>
          <a:solidFill>
            <a:srgbClr val="FFC00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tangle 15"/>
          <p:cNvSpPr/>
          <p:nvPr/>
        </p:nvSpPr>
        <p:spPr>
          <a:xfrm>
            <a:off x="6161191" y="3420398"/>
            <a:ext cx="1125870" cy="2382361"/>
          </a:xfrm>
          <a:prstGeom prst="rect">
            <a:avLst/>
          </a:prstGeom>
          <a:solidFill>
            <a:srgbClr val="00B0F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tangle 16"/>
          <p:cNvSpPr/>
          <p:nvPr/>
        </p:nvSpPr>
        <p:spPr>
          <a:xfrm>
            <a:off x="4407329" y="4144664"/>
            <a:ext cx="3680460" cy="646177"/>
          </a:xfrm>
          <a:prstGeom prst="rect">
            <a:avLst/>
          </a:prstGeom>
          <a:solidFill>
            <a:srgbClr val="FFC00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tangle 17"/>
          <p:cNvSpPr/>
          <p:nvPr/>
        </p:nvSpPr>
        <p:spPr>
          <a:xfrm>
            <a:off x="4407329" y="4457269"/>
            <a:ext cx="3680460" cy="667145"/>
          </a:xfrm>
          <a:prstGeom prst="rect">
            <a:avLst/>
          </a:prstGeom>
          <a:solidFill>
            <a:srgbClr val="00B0F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380098" y="5833417"/>
            <a:ext cx="408749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4407329" y="3212976"/>
            <a:ext cx="0" cy="262044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18357" y="2895709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Prozess B</a:t>
            </a:r>
          </a:p>
        </p:txBody>
      </p:sp>
      <p:grpSp>
        <p:nvGrpSpPr>
          <p:cNvPr id="1028" name="Group 1027"/>
          <p:cNvGrpSpPr/>
          <p:nvPr/>
        </p:nvGrpSpPr>
        <p:grpSpPr>
          <a:xfrm>
            <a:off x="4631745" y="5181327"/>
            <a:ext cx="957525" cy="523672"/>
            <a:chOff x="4631745" y="5181327"/>
            <a:chExt cx="957525" cy="523672"/>
          </a:xfrm>
        </p:grpSpPr>
        <p:sp>
          <p:nvSpPr>
            <p:cNvPr id="29" name="TextBox 28"/>
            <p:cNvSpPr txBox="1"/>
            <p:nvPr/>
          </p:nvSpPr>
          <p:spPr>
            <a:xfrm>
              <a:off x="4631745" y="5181327"/>
              <a:ext cx="8338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/>
                <a:t>Start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4798806" y="5560983"/>
              <a:ext cx="144000" cy="144016"/>
            </a:xfrm>
            <a:prstGeom prst="ellipse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cxnSp>
          <p:nvCxnSpPr>
            <p:cNvPr id="31" name="Straight Arrow Connector 30"/>
            <p:cNvCxnSpPr>
              <a:stCxn id="30" idx="6"/>
            </p:cNvCxnSpPr>
            <p:nvPr/>
          </p:nvCxnSpPr>
          <p:spPr>
            <a:xfrm>
              <a:off x="4942806" y="5632991"/>
              <a:ext cx="646464" cy="199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Oval 36"/>
          <p:cNvSpPr/>
          <p:nvPr/>
        </p:nvSpPr>
        <p:spPr>
          <a:xfrm>
            <a:off x="7589520" y="3274090"/>
            <a:ext cx="144000" cy="144016"/>
          </a:xfrm>
          <a:prstGeom prst="ellipse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sp>
        <p:nvSpPr>
          <p:cNvPr id="26" name="TextBox 20"/>
          <p:cNvSpPr txBox="1"/>
          <p:nvPr/>
        </p:nvSpPr>
        <p:spPr>
          <a:xfrm>
            <a:off x="7964458" y="5870255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Prozess A</a:t>
            </a:r>
          </a:p>
        </p:txBody>
      </p:sp>
    </p:spTree>
    <p:extLst>
      <p:ext uri="{BB962C8B-B14F-4D97-AF65-F5344CB8AC3E}">
        <p14:creationId xmlns:p14="http://schemas.microsoft.com/office/powerpoint/2010/main" val="396810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Erfolgreiche Ausführung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199"/>
            <a:ext cx="8229600" cy="1832867"/>
          </a:xfrm>
        </p:spPr>
        <p:txBody>
          <a:bodyPr>
            <a:normAutofit/>
          </a:bodyPr>
          <a:lstStyle/>
          <a:p>
            <a:r>
              <a:rPr lang="de-DE" dirty="0"/>
              <a:t>Angenommen, den jeweils 1 (einen) Drucker / Plotter kann nur 1 Prozess auf einmal verwenden</a:t>
            </a:r>
          </a:p>
          <a:p>
            <a:r>
              <a:rPr lang="de-DE" dirty="0"/>
              <a:t>Welche Bereiche sind dann verboten (unmöglich), und warum?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3"/>
          </p:nvPr>
        </p:nvSpPr>
        <p:spPr>
          <a:xfrm>
            <a:off x="467542" y="3140968"/>
            <a:ext cx="3732295" cy="3456384"/>
          </a:xfrm>
        </p:spPr>
        <p:txBody>
          <a:bodyPr>
            <a:noAutofit/>
          </a:bodyPr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de-DE" sz="2600" dirty="0"/>
              <a:t>Verboten: Gleich-zeitige Belegung einer Ressource durch A und B (</a:t>
            </a:r>
            <a:r>
              <a:rPr lang="de-DE" sz="2600" u="sng" dirty="0">
                <a:solidFill>
                  <a:srgbClr val="FF0000"/>
                </a:solidFill>
              </a:rPr>
              <a:t>doppelt</a:t>
            </a:r>
            <a:r>
              <a:rPr lang="de-DE" sz="2600" dirty="0">
                <a:solidFill>
                  <a:srgbClr val="FF0000"/>
                </a:solidFill>
              </a:rPr>
              <a:t> gefärbt mit gleicher Farbe</a:t>
            </a:r>
            <a:r>
              <a:rPr lang="de-DE" sz="2600" dirty="0"/>
              <a:t>)</a:t>
            </a:r>
          </a:p>
          <a:p>
            <a:pPr marL="548640" lvl="2">
              <a:spcBef>
                <a:spcPts val="600"/>
              </a:spcBef>
              <a:buClr>
                <a:schemeClr val="accent1"/>
              </a:buClr>
            </a:pPr>
            <a:r>
              <a:rPr lang="de-DE" dirty="0">
                <a:solidFill>
                  <a:srgbClr val="0070C0"/>
                </a:solidFill>
              </a:rPr>
              <a:t>Mutual </a:t>
            </a:r>
            <a:r>
              <a:rPr lang="de-DE" dirty="0" err="1">
                <a:solidFill>
                  <a:srgbClr val="0070C0"/>
                </a:solidFill>
              </a:rPr>
              <a:t>exclusion</a:t>
            </a:r>
            <a:r>
              <a:rPr lang="de-DE" dirty="0">
                <a:solidFill>
                  <a:srgbClr val="0070C0"/>
                </a:solidFill>
              </a:rPr>
              <a:t> verletzt!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5454198" y="5931348"/>
            <a:ext cx="1350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FFC000"/>
                </a:solidFill>
              </a:rPr>
              <a:t>Drucker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6221020" y="6327466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00B0F0"/>
                </a:solidFill>
              </a:rPr>
              <a:t>Plotter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7805464" y="2996952"/>
            <a:ext cx="11112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/>
              <a:t>Beide</a:t>
            </a:r>
          </a:p>
          <a:p>
            <a:r>
              <a:rPr lang="de-DE" sz="2000" dirty="0"/>
              <a:t>beendet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66288" y="3420399"/>
            <a:ext cx="1125870" cy="2415302"/>
          </a:xfrm>
          <a:prstGeom prst="rect">
            <a:avLst/>
          </a:prstGeom>
          <a:solidFill>
            <a:srgbClr val="FFFF0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tangle 15"/>
          <p:cNvSpPr/>
          <p:nvPr/>
        </p:nvSpPr>
        <p:spPr>
          <a:xfrm>
            <a:off x="6161191" y="3420398"/>
            <a:ext cx="1125870" cy="2382361"/>
          </a:xfrm>
          <a:prstGeom prst="rect">
            <a:avLst/>
          </a:prstGeom>
          <a:solidFill>
            <a:srgbClr val="00B0F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tangle 16"/>
          <p:cNvSpPr/>
          <p:nvPr/>
        </p:nvSpPr>
        <p:spPr>
          <a:xfrm>
            <a:off x="4407329" y="4144664"/>
            <a:ext cx="3680460" cy="646177"/>
          </a:xfrm>
          <a:prstGeom prst="rect">
            <a:avLst/>
          </a:prstGeom>
          <a:solidFill>
            <a:srgbClr val="FFFF0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tangle 17"/>
          <p:cNvSpPr/>
          <p:nvPr/>
        </p:nvSpPr>
        <p:spPr>
          <a:xfrm>
            <a:off x="4407329" y="4457269"/>
            <a:ext cx="3680460" cy="667145"/>
          </a:xfrm>
          <a:prstGeom prst="rect">
            <a:avLst/>
          </a:prstGeom>
          <a:solidFill>
            <a:srgbClr val="00B0F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380098" y="5833417"/>
            <a:ext cx="408749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4407329" y="3212976"/>
            <a:ext cx="0" cy="262044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04913" y="305206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4155" y="5556329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1745" y="5181327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Start</a:t>
            </a:r>
          </a:p>
        </p:txBody>
      </p:sp>
      <p:sp>
        <p:nvSpPr>
          <p:cNvPr id="30" name="Oval 29"/>
          <p:cNvSpPr/>
          <p:nvPr/>
        </p:nvSpPr>
        <p:spPr>
          <a:xfrm>
            <a:off x="4798806" y="5560983"/>
            <a:ext cx="144000" cy="144016"/>
          </a:xfrm>
          <a:prstGeom prst="ellipse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cxnSp>
        <p:nvCxnSpPr>
          <p:cNvPr id="31" name="Straight Arrow Connector 30"/>
          <p:cNvCxnSpPr>
            <a:stCxn id="30" idx="6"/>
          </p:cNvCxnSpPr>
          <p:nvPr/>
        </p:nvCxnSpPr>
        <p:spPr>
          <a:xfrm>
            <a:off x="4942806" y="5632991"/>
            <a:ext cx="2754726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7613231" y="3284984"/>
            <a:ext cx="144000" cy="144016"/>
          </a:xfrm>
          <a:prstGeom prst="ellipse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sp>
        <p:nvSpPr>
          <p:cNvPr id="32" name="Rectangle 31"/>
          <p:cNvSpPr/>
          <p:nvPr/>
        </p:nvSpPr>
        <p:spPr>
          <a:xfrm>
            <a:off x="5589270" y="4144664"/>
            <a:ext cx="1102888" cy="64617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tangle 32"/>
          <p:cNvSpPr/>
          <p:nvPr/>
        </p:nvSpPr>
        <p:spPr>
          <a:xfrm>
            <a:off x="6158758" y="4467752"/>
            <a:ext cx="1102888" cy="64617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7697532" y="3420399"/>
            <a:ext cx="0" cy="221259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6"/>
          <p:cNvSpPr txBox="1"/>
          <p:nvPr/>
        </p:nvSpPr>
        <p:spPr>
          <a:xfrm rot="16200000">
            <a:off x="7810327" y="4125444"/>
            <a:ext cx="1154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rgbClr val="FFC000"/>
                </a:solidFill>
              </a:rPr>
              <a:t>Drucker</a:t>
            </a:r>
          </a:p>
        </p:txBody>
      </p:sp>
      <p:sp>
        <p:nvSpPr>
          <p:cNvPr id="36" name="Textfeld 8"/>
          <p:cNvSpPr txBox="1"/>
          <p:nvPr/>
        </p:nvSpPr>
        <p:spPr>
          <a:xfrm rot="16200000">
            <a:off x="8218719" y="4501644"/>
            <a:ext cx="995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rgbClr val="00B0F0"/>
                </a:solidFill>
              </a:rPr>
              <a:t>Plotter</a:t>
            </a:r>
          </a:p>
        </p:txBody>
      </p:sp>
    </p:spTree>
    <p:extLst>
      <p:ext uri="{BB962C8B-B14F-4D97-AF65-F5344CB8AC3E}">
        <p14:creationId xmlns:p14="http://schemas.microsoft.com/office/powerpoint/2010/main" val="213953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2" grpId="0" animBg="1"/>
      <p:bldP spid="33" grpId="0" animBg="1"/>
      <p:bldP spid="35" grpId="0"/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Visualisierung von Deadlocks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199"/>
            <a:ext cx="8229600" cy="1832867"/>
          </a:xfrm>
        </p:spPr>
        <p:txBody>
          <a:bodyPr>
            <a:normAutofit/>
          </a:bodyPr>
          <a:lstStyle/>
          <a:p>
            <a:r>
              <a:rPr lang="de-DE" dirty="0"/>
              <a:t>In der dargestellten Situation    fragt der Prozess B beim BS nach dem Plotter an</a:t>
            </a:r>
          </a:p>
          <a:p>
            <a:r>
              <a:rPr lang="de-DE" dirty="0"/>
              <a:t>Was passiert, wenn das BS zustimmt, und wir in den blau umrandeten Zustand kommen?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3"/>
          </p:nvPr>
        </p:nvSpPr>
        <p:spPr>
          <a:xfrm>
            <a:off x="467542" y="3140968"/>
            <a:ext cx="3732295" cy="3456384"/>
          </a:xfrm>
        </p:spPr>
        <p:txBody>
          <a:bodyPr>
            <a:noAutofit/>
          </a:bodyPr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de-DE" sz="2600" dirty="0"/>
              <a:t>Dann haben wir einen Deadlock, da es nur nach „rechts oder oben“ weitergeht!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de-DE" sz="2600" dirty="0"/>
              <a:t>Kann das BS hier erkennen, dass es B blockieren soll? Wie?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DC78ED7A-E80D-4EDA-B7D9-A139DEA2E7F0}"/>
              </a:ext>
            </a:extLst>
          </p:cNvPr>
          <p:cNvGrpSpPr/>
          <p:nvPr/>
        </p:nvGrpSpPr>
        <p:grpSpPr>
          <a:xfrm>
            <a:off x="4004913" y="2996952"/>
            <a:ext cx="5069092" cy="3792179"/>
            <a:chOff x="4004913" y="2996952"/>
            <a:chExt cx="5069092" cy="3792179"/>
          </a:xfrm>
        </p:grpSpPr>
        <p:sp>
          <p:nvSpPr>
            <p:cNvPr id="8" name="Textfeld 7"/>
            <p:cNvSpPr txBox="1"/>
            <p:nvPr/>
          </p:nvSpPr>
          <p:spPr>
            <a:xfrm>
              <a:off x="5454198" y="5931348"/>
              <a:ext cx="13500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b="1" dirty="0">
                  <a:solidFill>
                    <a:srgbClr val="FFC000"/>
                  </a:solidFill>
                </a:rPr>
                <a:t>Drucker</a:t>
              </a:r>
            </a:p>
          </p:txBody>
        </p:sp>
        <p:sp>
          <p:nvSpPr>
            <p:cNvPr id="10" name="Textfeld 9"/>
            <p:cNvSpPr txBox="1"/>
            <p:nvPr/>
          </p:nvSpPr>
          <p:spPr>
            <a:xfrm>
              <a:off x="6221020" y="6327466"/>
              <a:ext cx="11592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b="1" dirty="0">
                  <a:solidFill>
                    <a:srgbClr val="00B0F0"/>
                  </a:solidFill>
                </a:rPr>
                <a:t>Plotter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7805464" y="2996952"/>
              <a:ext cx="111120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dirty="0"/>
                <a:t>Beide</a:t>
              </a:r>
            </a:p>
            <a:p>
              <a:r>
                <a:rPr lang="de-DE" sz="2000" dirty="0"/>
                <a:t>beendet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566288" y="3420399"/>
              <a:ext cx="1125870" cy="2415302"/>
            </a:xfrm>
            <a:prstGeom prst="rect">
              <a:avLst/>
            </a:prstGeom>
            <a:solidFill>
              <a:srgbClr val="FFFF00">
                <a:alpha val="5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161191" y="3420398"/>
              <a:ext cx="1125870" cy="2382361"/>
            </a:xfrm>
            <a:prstGeom prst="rect">
              <a:avLst/>
            </a:prstGeom>
            <a:solidFill>
              <a:srgbClr val="00B0F0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407329" y="4144664"/>
              <a:ext cx="3680460" cy="646177"/>
            </a:xfrm>
            <a:prstGeom prst="rect">
              <a:avLst/>
            </a:prstGeom>
            <a:solidFill>
              <a:srgbClr val="FFFF00">
                <a:alpha val="5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407329" y="4457269"/>
              <a:ext cx="3680460" cy="667145"/>
            </a:xfrm>
            <a:prstGeom prst="rect">
              <a:avLst/>
            </a:prstGeom>
            <a:solidFill>
              <a:srgbClr val="00B0F0">
                <a:alpha val="2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4380098" y="5833417"/>
              <a:ext cx="408749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V="1">
              <a:off x="4407329" y="3212976"/>
              <a:ext cx="0" cy="262044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4004913" y="3052067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/>
                <a:t>B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684155" y="5556329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/>
                <a:t>A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631745" y="5181327"/>
              <a:ext cx="8338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/>
                <a:t>Start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4798806" y="5560983"/>
              <a:ext cx="132890" cy="138922"/>
            </a:xfrm>
            <a:prstGeom prst="ellipse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cxnSp>
          <p:nvCxnSpPr>
            <p:cNvPr id="31" name="Straight Arrow Connector 30"/>
            <p:cNvCxnSpPr>
              <a:stCxn id="30" idx="6"/>
            </p:cNvCxnSpPr>
            <p:nvPr/>
          </p:nvCxnSpPr>
          <p:spPr>
            <a:xfrm>
              <a:off x="4931696" y="5630444"/>
              <a:ext cx="936448" cy="254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7589520" y="3274090"/>
              <a:ext cx="144000" cy="144016"/>
            </a:xfrm>
            <a:prstGeom prst="ellipse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589270" y="4144664"/>
              <a:ext cx="1102888" cy="64617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158758" y="4467752"/>
              <a:ext cx="1102888" cy="64617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 flipV="1">
              <a:off x="5868144" y="5124415"/>
              <a:ext cx="0" cy="50857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6"/>
            <p:cNvSpPr txBox="1"/>
            <p:nvPr/>
          </p:nvSpPr>
          <p:spPr>
            <a:xfrm rot="16200000">
              <a:off x="7810327" y="4125444"/>
              <a:ext cx="11544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b="1" dirty="0">
                  <a:solidFill>
                    <a:srgbClr val="FFC000"/>
                  </a:solidFill>
                </a:rPr>
                <a:t>Drucker</a:t>
              </a:r>
            </a:p>
          </p:txBody>
        </p:sp>
        <p:sp>
          <p:nvSpPr>
            <p:cNvPr id="36" name="Textfeld 8"/>
            <p:cNvSpPr txBox="1"/>
            <p:nvPr/>
          </p:nvSpPr>
          <p:spPr>
            <a:xfrm rot="16200000">
              <a:off x="8218719" y="4501644"/>
              <a:ext cx="9957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b="1" dirty="0">
                  <a:solidFill>
                    <a:srgbClr val="00B0F0"/>
                  </a:solidFill>
                </a:rPr>
                <a:t>Plotter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589270" y="4790840"/>
              <a:ext cx="551444" cy="333574"/>
            </a:xfrm>
            <a:prstGeom prst="rect">
              <a:avLst/>
            </a:prstGeom>
            <a:noFill/>
            <a:ln w="3810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Ellipse 5"/>
            <p:cNvSpPr/>
            <p:nvPr/>
          </p:nvSpPr>
          <p:spPr>
            <a:xfrm>
              <a:off x="5756645" y="5518190"/>
              <a:ext cx="191902" cy="20433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8" name="Ellipse 27"/>
          <p:cNvSpPr/>
          <p:nvPr/>
        </p:nvSpPr>
        <p:spPr>
          <a:xfrm>
            <a:off x="5148064" y="1367216"/>
            <a:ext cx="191902" cy="20433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67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971600" y="1052736"/>
            <a:ext cx="7200800" cy="2160240"/>
          </a:xfrm>
        </p:spPr>
        <p:txBody>
          <a:bodyPr/>
          <a:lstStyle/>
          <a:p>
            <a:r>
              <a:rPr lang="de-DE" dirty="0"/>
              <a:t>Verhinderung von Deadlocks: Algorithmus</a:t>
            </a:r>
          </a:p>
        </p:txBody>
      </p:sp>
      <p:sp>
        <p:nvSpPr>
          <p:cNvPr id="4" name="Rectangle 3"/>
          <p:cNvSpPr/>
          <p:nvPr/>
        </p:nvSpPr>
        <p:spPr>
          <a:xfrm>
            <a:off x="899592" y="3661053"/>
            <a:ext cx="7272808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800" dirty="0"/>
              <a:t>Strategien zur Behandlung von Deadlocks:</a:t>
            </a:r>
            <a:endParaRPr lang="de-DE" sz="2000" b="1" dirty="0"/>
          </a:p>
          <a:p>
            <a:pPr marL="285750" indent="-285750">
              <a:buFont typeface="Arial" pitchFamily="34" charset="0"/>
              <a:buChar char="•"/>
            </a:pPr>
            <a:r>
              <a:rPr lang="de-DE" sz="2000" dirty="0">
                <a:solidFill>
                  <a:schemeClr val="bg1">
                    <a:lumMod val="50000"/>
                  </a:schemeClr>
                </a:solidFill>
              </a:rPr>
              <a:t>Einfach ignorieren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e-DE" sz="2000" dirty="0">
                <a:solidFill>
                  <a:schemeClr val="bg1">
                    <a:lumMod val="50000"/>
                  </a:schemeClr>
                </a:solidFill>
              </a:rPr>
              <a:t>Erkennen und beheben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de-DE" sz="2000" dirty="0">
                <a:solidFill>
                  <a:schemeClr val="bg1">
                    <a:lumMod val="50000"/>
                  </a:schemeClr>
                </a:solidFill>
              </a:rPr>
              <a:t>Deadlocks zulassen, erkennen und beheben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e-DE" sz="2400" b="1" dirty="0">
                <a:solidFill>
                  <a:srgbClr val="0070C0"/>
                </a:solidFill>
              </a:rPr>
              <a:t>Dynamische Verhinderung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de-DE" sz="2000" dirty="0"/>
              <a:t>Durch vorsichtige Ressourcenzuteilung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e-DE" sz="2000" dirty="0"/>
              <a:t>Vermeidung von Deadlocks</a:t>
            </a:r>
          </a:p>
        </p:txBody>
      </p:sp>
    </p:spTree>
    <p:extLst>
      <p:ext uri="{BB962C8B-B14F-4D97-AF65-F5344CB8AC3E}">
        <p14:creationId xmlns:p14="http://schemas.microsoft.com/office/powerpoint/2010/main" val="1118611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Verhinderung von Deadlocks: Idee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199" y="1219199"/>
            <a:ext cx="8579297" cy="1832867"/>
          </a:xfrm>
        </p:spPr>
        <p:txBody>
          <a:bodyPr>
            <a:normAutofit/>
          </a:bodyPr>
          <a:lstStyle/>
          <a:p>
            <a:r>
              <a:rPr lang="de-DE" dirty="0"/>
              <a:t>Wie kann das BS erkennen, dass es B blockieren soll?</a:t>
            </a:r>
          </a:p>
          <a:p>
            <a:r>
              <a:rPr lang="de-DE" b="1" dirty="0">
                <a:solidFill>
                  <a:srgbClr val="0070C0"/>
                </a:solidFill>
              </a:rPr>
              <a:t>Wir tun so, als ob das BS die Anfrage gebilligt hätte, und überprüfen dann, ob es ein Deadlock gäbe </a:t>
            </a:r>
            <a:r>
              <a:rPr lang="de-DE" dirty="0"/>
              <a:t>(Hauptidee der Vermeidung)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3"/>
          </p:nvPr>
        </p:nvSpPr>
        <p:spPr>
          <a:xfrm>
            <a:off x="467542" y="3140968"/>
            <a:ext cx="3732295" cy="1003696"/>
          </a:xfrm>
        </p:spPr>
        <p:txBody>
          <a:bodyPr>
            <a:noAutofit/>
          </a:bodyPr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de-DE" sz="2600" dirty="0">
                <a:solidFill>
                  <a:schemeClr val="tx1"/>
                </a:solidFill>
              </a:rPr>
              <a:t>Wie können wir das implementieren?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5454198" y="5931348"/>
            <a:ext cx="1350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FFC000"/>
                </a:solidFill>
              </a:rPr>
              <a:t>Drucker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6221020" y="6327466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00B0F0"/>
                </a:solidFill>
              </a:rPr>
              <a:t>Plotter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7805464" y="2996952"/>
            <a:ext cx="11112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/>
              <a:t>Beide</a:t>
            </a:r>
          </a:p>
          <a:p>
            <a:r>
              <a:rPr lang="de-DE" sz="2000" dirty="0"/>
              <a:t>beendet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66288" y="3420399"/>
            <a:ext cx="1125870" cy="2415302"/>
          </a:xfrm>
          <a:prstGeom prst="rect">
            <a:avLst/>
          </a:prstGeom>
          <a:solidFill>
            <a:srgbClr val="FFFF0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tangle 15"/>
          <p:cNvSpPr/>
          <p:nvPr/>
        </p:nvSpPr>
        <p:spPr>
          <a:xfrm>
            <a:off x="6161191" y="3420398"/>
            <a:ext cx="1125870" cy="2382361"/>
          </a:xfrm>
          <a:prstGeom prst="rect">
            <a:avLst/>
          </a:prstGeom>
          <a:solidFill>
            <a:srgbClr val="00B0F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tangle 16"/>
          <p:cNvSpPr/>
          <p:nvPr/>
        </p:nvSpPr>
        <p:spPr>
          <a:xfrm>
            <a:off x="4407329" y="4144664"/>
            <a:ext cx="3680460" cy="646177"/>
          </a:xfrm>
          <a:prstGeom prst="rect">
            <a:avLst/>
          </a:prstGeom>
          <a:solidFill>
            <a:srgbClr val="FFFF0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tangle 17"/>
          <p:cNvSpPr/>
          <p:nvPr/>
        </p:nvSpPr>
        <p:spPr>
          <a:xfrm>
            <a:off x="4407329" y="4457269"/>
            <a:ext cx="3680460" cy="667145"/>
          </a:xfrm>
          <a:prstGeom prst="rect">
            <a:avLst/>
          </a:prstGeom>
          <a:solidFill>
            <a:srgbClr val="00B0F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380098" y="5833417"/>
            <a:ext cx="408749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4407329" y="3212976"/>
            <a:ext cx="0" cy="262044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04913" y="305206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4155" y="5556329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8840" y="5267866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Start</a:t>
            </a:r>
          </a:p>
        </p:txBody>
      </p:sp>
      <p:sp>
        <p:nvSpPr>
          <p:cNvPr id="30" name="Oval 29"/>
          <p:cNvSpPr/>
          <p:nvPr/>
        </p:nvSpPr>
        <p:spPr>
          <a:xfrm>
            <a:off x="4798806" y="5560983"/>
            <a:ext cx="144000" cy="144016"/>
          </a:xfrm>
          <a:prstGeom prst="ellipse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cxnSp>
        <p:nvCxnSpPr>
          <p:cNvPr id="31" name="Straight Arrow Connector 30"/>
          <p:cNvCxnSpPr>
            <a:stCxn id="30" idx="6"/>
          </p:cNvCxnSpPr>
          <p:nvPr/>
        </p:nvCxnSpPr>
        <p:spPr>
          <a:xfrm>
            <a:off x="4942806" y="5632991"/>
            <a:ext cx="92533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7589520" y="3274090"/>
            <a:ext cx="144000" cy="144016"/>
          </a:xfrm>
          <a:prstGeom prst="ellipse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sp>
        <p:nvSpPr>
          <p:cNvPr id="32" name="Rectangle 31"/>
          <p:cNvSpPr/>
          <p:nvPr/>
        </p:nvSpPr>
        <p:spPr>
          <a:xfrm>
            <a:off x="5589270" y="4144664"/>
            <a:ext cx="1102888" cy="64617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tangle 32"/>
          <p:cNvSpPr/>
          <p:nvPr/>
        </p:nvSpPr>
        <p:spPr>
          <a:xfrm>
            <a:off x="6158758" y="4467752"/>
            <a:ext cx="1102888" cy="64617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4" name="Straight Arrow Connector 33"/>
          <p:cNvCxnSpPr/>
          <p:nvPr/>
        </p:nvCxnSpPr>
        <p:spPr>
          <a:xfrm flipH="1" flipV="1">
            <a:off x="5864992" y="4902741"/>
            <a:ext cx="3152" cy="73025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6"/>
          <p:cNvSpPr txBox="1"/>
          <p:nvPr/>
        </p:nvSpPr>
        <p:spPr>
          <a:xfrm rot="16200000">
            <a:off x="7810327" y="4125444"/>
            <a:ext cx="1154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rgbClr val="FFC000"/>
                </a:solidFill>
              </a:rPr>
              <a:t>Drucker</a:t>
            </a:r>
          </a:p>
        </p:txBody>
      </p:sp>
      <p:sp>
        <p:nvSpPr>
          <p:cNvPr id="36" name="Textfeld 8"/>
          <p:cNvSpPr txBox="1"/>
          <p:nvPr/>
        </p:nvSpPr>
        <p:spPr>
          <a:xfrm rot="16200000">
            <a:off x="8218719" y="4501644"/>
            <a:ext cx="995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rgbClr val="00B0F0"/>
                </a:solidFill>
              </a:rPr>
              <a:t>Plotter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89270" y="4790840"/>
            <a:ext cx="551444" cy="333574"/>
          </a:xfrm>
          <a:prstGeom prst="rect">
            <a:avLst/>
          </a:prstGeom>
          <a:noFill/>
          <a:ln w="381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Inhaltsplatzhalter 4"/>
          <p:cNvSpPr txBox="1">
            <a:spLocks/>
          </p:cNvSpPr>
          <p:nvPr/>
        </p:nvSpPr>
        <p:spPr>
          <a:xfrm>
            <a:off x="539553" y="4144664"/>
            <a:ext cx="3812684" cy="1492534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de-DE" sz="2600" dirty="0">
                <a:solidFill>
                  <a:schemeClr val="tx1"/>
                </a:solidFill>
              </a:rPr>
              <a:t>Mit dem „alten Freund“, dem Bankiersalgorithmus!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3419872" y="4902743"/>
            <a:ext cx="2445120" cy="900016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5070" y="5704999"/>
            <a:ext cx="3524653" cy="925307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Lasse den Bankiersalgorithmus auf diesem hypothetischen Zustand laufen</a:t>
            </a:r>
          </a:p>
        </p:txBody>
      </p:sp>
    </p:spTree>
    <p:extLst>
      <p:ext uri="{BB962C8B-B14F-4D97-AF65-F5344CB8AC3E}">
        <p14:creationId xmlns:p14="http://schemas.microsoft.com/office/powerpoint/2010/main" val="245260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5" grpId="0"/>
      <p:bldP spid="36" grpId="0"/>
      <p:bldP spid="27" grpId="0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Nochmals der Bankieralgorithmus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50160"/>
          </a:xfrm>
        </p:spPr>
        <p:txBody>
          <a:bodyPr>
            <a:normAutofit/>
          </a:bodyPr>
          <a:lstStyle/>
          <a:p>
            <a:r>
              <a:rPr lang="de-DE" dirty="0"/>
              <a:t>Der Bankieralgorithmus kann entscheiden, ob der Zustand des System zu einem Deadlock führt</a:t>
            </a:r>
          </a:p>
          <a:p>
            <a:r>
              <a:rPr lang="de-DE" dirty="0"/>
              <a:t>Wiederholung:</a:t>
            </a:r>
          </a:p>
          <a:p>
            <a:pPr lvl="1"/>
            <a:r>
              <a:rPr lang="de-DE" sz="2400" b="1" dirty="0">
                <a:solidFill>
                  <a:srgbClr val="FF0000"/>
                </a:solidFill>
              </a:rPr>
              <a:t>A</a:t>
            </a:r>
            <a:r>
              <a:rPr lang="de-DE" sz="2400" dirty="0"/>
              <a:t>: Vektor der Anzahlen aktuell verfügbarer Ressourcen</a:t>
            </a:r>
          </a:p>
          <a:p>
            <a:pPr lvl="1"/>
            <a:r>
              <a:rPr lang="de-DE" sz="2400" b="1" dirty="0">
                <a:solidFill>
                  <a:srgbClr val="FF0000"/>
                </a:solidFill>
              </a:rPr>
              <a:t>E</a:t>
            </a:r>
            <a:r>
              <a:rPr lang="de-DE" sz="2400" dirty="0"/>
              <a:t>: Vektor der Anzahlen vorhandener Ressourcen </a:t>
            </a:r>
          </a:p>
          <a:p>
            <a:pPr lvl="1"/>
            <a:r>
              <a:rPr lang="de-DE" sz="2400" b="1" dirty="0">
                <a:solidFill>
                  <a:srgbClr val="FF0000"/>
                </a:solidFill>
              </a:rPr>
              <a:t>Aktuelle Belegungsmatrix C</a:t>
            </a:r>
            <a:r>
              <a:rPr lang="de-DE" sz="2400" dirty="0"/>
              <a:t>: c</a:t>
            </a:r>
            <a:r>
              <a:rPr lang="de-DE" sz="2400" baseline="-25000" dirty="0"/>
              <a:t>i,j</a:t>
            </a:r>
            <a:r>
              <a:rPr lang="de-DE" sz="2400" dirty="0"/>
              <a:t> = Anzahl Instanzen der Ressourcen aus der Klasse j, die von dem Prozess i belegt sind</a:t>
            </a:r>
          </a:p>
          <a:p>
            <a:pPr lvl="1"/>
            <a:r>
              <a:rPr lang="de-DE" sz="2400" b="1" dirty="0">
                <a:solidFill>
                  <a:srgbClr val="FF0000"/>
                </a:solidFill>
              </a:rPr>
              <a:t>Anforderungsmatrix R</a:t>
            </a:r>
            <a:r>
              <a:rPr lang="de-DE" sz="2400" dirty="0"/>
              <a:t>: r</a:t>
            </a:r>
            <a:r>
              <a:rPr lang="de-DE" sz="2400" baseline="-25000" dirty="0"/>
              <a:t>i,j</a:t>
            </a:r>
            <a:r>
              <a:rPr lang="de-DE" sz="2400" dirty="0"/>
              <a:t> = Anzahl der Instanzen der  Ressourcen von Typ j, der </a:t>
            </a:r>
            <a:r>
              <a:rPr lang="de-DE" sz="2400" b="1" dirty="0">
                <a:solidFill>
                  <a:srgbClr val="0070C0"/>
                </a:solidFill>
              </a:rPr>
              <a:t>Prozess i noch insgesamt anfordern wird/möchte</a:t>
            </a:r>
          </a:p>
          <a:p>
            <a:pPr lvl="2"/>
            <a:r>
              <a:rPr lang="de-DE" sz="2400" dirty="0"/>
              <a:t>Achtung: Modifizierte Bedeutung von R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C8AD8B5-8187-4BF4-9E5E-81C0039CAF84}"/>
              </a:ext>
            </a:extLst>
          </p:cNvPr>
          <p:cNvSpPr/>
          <p:nvPr/>
        </p:nvSpPr>
        <p:spPr>
          <a:xfrm>
            <a:off x="7056569" y="77598"/>
            <a:ext cx="2087431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 dirty="0" err="1"/>
              <a:t>Wiederholung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71817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Algorithmus - </a:t>
            </a:r>
            <a:r>
              <a:rPr lang="de-DE" dirty="0" err="1">
                <a:hlinkClick r:id="rId3"/>
              </a:rPr>
              <a:t>Bankieralgorithmus</a:t>
            </a:r>
            <a:r>
              <a:rPr lang="de-DE" dirty="0"/>
              <a:t> 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364996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de-DE" dirty="0"/>
              <a:t>Suche einen unmarkierten Prozess i, für den die i-te Zeile von R kleiner oder gleich A ist: </a:t>
            </a:r>
            <a:r>
              <a:rPr lang="de-DE" dirty="0">
                <a:solidFill>
                  <a:srgbClr val="FF0000"/>
                </a:solidFill>
              </a:rPr>
              <a:t>R</a:t>
            </a:r>
            <a:r>
              <a:rPr lang="de-DE" baseline="-25000" dirty="0">
                <a:solidFill>
                  <a:srgbClr val="FF0000"/>
                </a:solidFill>
              </a:rPr>
              <a:t>i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b="1" dirty="0">
                <a:solidFill>
                  <a:srgbClr val="FF0000"/>
                </a:solidFill>
                <a:sym typeface="Symbol"/>
              </a:rPr>
              <a:t> </a:t>
            </a:r>
            <a:r>
              <a:rPr lang="de-DE" dirty="0">
                <a:solidFill>
                  <a:srgbClr val="FF0000"/>
                </a:solidFill>
                <a:sym typeface="Symbol"/>
              </a:rPr>
              <a:t>A</a:t>
            </a:r>
            <a:endParaRPr lang="de-DE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Wenn ein solcher Prozess existiert:</a:t>
            </a:r>
          </a:p>
          <a:p>
            <a:pPr marL="731520" lvl="1" indent="-457200"/>
            <a:r>
              <a:rPr lang="de-DE" dirty="0"/>
              <a:t>Addiere die i-te Zeile von C zu A: </a:t>
            </a:r>
            <a:r>
              <a:rPr lang="de-DE" dirty="0">
                <a:solidFill>
                  <a:srgbClr val="FF0000"/>
                </a:solidFill>
              </a:rPr>
              <a:t>A = A + C</a:t>
            </a:r>
            <a:r>
              <a:rPr lang="de-DE" baseline="-25000" dirty="0">
                <a:solidFill>
                  <a:srgbClr val="FF0000"/>
                </a:solidFill>
              </a:rPr>
              <a:t>i</a:t>
            </a:r>
            <a:r>
              <a:rPr lang="de-DE" dirty="0"/>
              <a:t> </a:t>
            </a:r>
          </a:p>
          <a:p>
            <a:pPr marL="731520" lvl="1" indent="-457200"/>
            <a:r>
              <a:rPr lang="de-DE" dirty="0"/>
              <a:t>Markiere den Prozess i</a:t>
            </a:r>
          </a:p>
          <a:p>
            <a:pPr marL="731520" lvl="1" indent="-457200"/>
            <a:r>
              <a:rPr lang="de-DE" dirty="0"/>
              <a:t>Gehe zum Schritt 1 zurück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Anderenfalls beende den Algorithmus:</a:t>
            </a:r>
          </a:p>
          <a:p>
            <a:pPr marL="731520" lvl="1" indent="-457200"/>
            <a:r>
              <a:rPr lang="de-DE" dirty="0"/>
              <a:t>Falls es noch unmarkierte Prozesse gibt, haben wird ein Deadlock</a:t>
            </a:r>
          </a:p>
          <a:p>
            <a:pPr marL="731520" lvl="1" indent="-457200"/>
            <a:r>
              <a:rPr lang="de-DE" dirty="0"/>
              <a:t>Gibt es keine unmarkierten Prozesse mehr =&gt; kein Deadlock</a:t>
            </a:r>
          </a:p>
          <a:p>
            <a:endParaRPr lang="de-DE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67544" y="4909810"/>
            <a:ext cx="8208912" cy="1633736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lvl="2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de-DE" dirty="0"/>
              <a:t>Erläuterung zu </a:t>
            </a:r>
            <a:r>
              <a:rPr lang="de-DE" dirty="0">
                <a:solidFill>
                  <a:srgbClr val="FF0000"/>
                </a:solidFill>
              </a:rPr>
              <a:t>A = A + C</a:t>
            </a:r>
            <a:r>
              <a:rPr lang="de-DE" baseline="-25000" dirty="0">
                <a:solidFill>
                  <a:srgbClr val="FF0000"/>
                </a:solidFill>
              </a:rPr>
              <a:t>i</a:t>
            </a:r>
            <a:r>
              <a:rPr lang="de-DE" dirty="0"/>
              <a:t> : Da i nun ausführen und terminieren kann, wird i am Ende alle soeben angeforderten Ressourcen (angegen in R</a:t>
            </a:r>
            <a:r>
              <a:rPr lang="de-DE" baseline="-25000" dirty="0"/>
              <a:t>i</a:t>
            </a:r>
            <a:r>
              <a:rPr lang="de-DE" dirty="0"/>
              <a:t>) zurückgeben </a:t>
            </a:r>
            <a:r>
              <a:rPr lang="de-DE" u="sng" dirty="0"/>
              <a:t>und zusätzlich</a:t>
            </a:r>
            <a:r>
              <a:rPr lang="de-DE" dirty="0"/>
              <a:t> alle noch bis jetzt gehaltenen Ressourcen (angegen in C</a:t>
            </a:r>
            <a:r>
              <a:rPr lang="de-DE" baseline="-25000" dirty="0"/>
              <a:t>i</a:t>
            </a:r>
            <a:r>
              <a:rPr lang="de-DE" dirty="0"/>
              <a:t>). Wir verschmelzen beide Schritte =&gt; damit kann der Ressourcenrestvektor A sofort um C</a:t>
            </a:r>
            <a:r>
              <a:rPr lang="de-DE" baseline="-25000" dirty="0"/>
              <a:t>i</a:t>
            </a:r>
            <a:r>
              <a:rPr lang="de-DE" dirty="0"/>
              <a:t> vergrößert werden! </a:t>
            </a:r>
          </a:p>
          <a:p>
            <a:endParaRPr lang="de-DE" dirty="0"/>
          </a:p>
        </p:txBody>
      </p:sp>
      <p:sp>
        <p:nvSpPr>
          <p:cNvPr id="5" name="Abgerundete rechteckige Legende 4"/>
          <p:cNvSpPr/>
          <p:nvPr/>
        </p:nvSpPr>
        <p:spPr>
          <a:xfrm>
            <a:off x="5724128" y="2996952"/>
            <a:ext cx="1296144" cy="288032"/>
          </a:xfrm>
          <a:prstGeom prst="wedgeRoundRectCallout">
            <a:avLst>
              <a:gd name="adj1" fmla="val -65959"/>
              <a:gd name="adj2" fmla="val -169164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Warum?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B8FBB7A-C75E-481D-B425-87C3D9B99503}"/>
              </a:ext>
            </a:extLst>
          </p:cNvPr>
          <p:cNvSpPr/>
          <p:nvPr/>
        </p:nvSpPr>
        <p:spPr>
          <a:xfrm>
            <a:off x="7056569" y="77598"/>
            <a:ext cx="2087431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 dirty="0" err="1"/>
              <a:t>Wiederholung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823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Erzeugen eines zu testenden Zustands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91264" cy="5450160"/>
          </a:xfrm>
        </p:spPr>
        <p:txBody>
          <a:bodyPr>
            <a:normAutofit/>
          </a:bodyPr>
          <a:lstStyle/>
          <a:p>
            <a:r>
              <a:rPr lang="de-DE" sz="2700" dirty="0">
                <a:sym typeface="Symbol"/>
              </a:rPr>
              <a:t>Das BS nimmt also </a:t>
            </a:r>
            <a:r>
              <a:rPr lang="de-DE" sz="2700" u="sng" dirty="0">
                <a:sym typeface="Symbol"/>
              </a:rPr>
              <a:t>testweise</a:t>
            </a:r>
            <a:r>
              <a:rPr lang="de-DE" sz="2700" dirty="0">
                <a:sym typeface="Symbol"/>
              </a:rPr>
              <a:t> an, dass es die angefragten Ressourcen an Prozess i zugeteilt hat und modifiziert (temporär) den Zustand wie folgt</a:t>
            </a:r>
          </a:p>
          <a:p>
            <a:r>
              <a:rPr lang="de-DE" sz="2700" dirty="0">
                <a:sym typeface="Symbol"/>
              </a:rPr>
              <a:t>Sei Req</a:t>
            </a:r>
            <a:r>
              <a:rPr lang="de-DE" sz="2700" baseline="-25000" dirty="0">
                <a:sym typeface="Symbol"/>
              </a:rPr>
              <a:t>i</a:t>
            </a:r>
            <a:r>
              <a:rPr lang="de-DE" sz="2700" dirty="0">
                <a:sym typeface="Symbol"/>
              </a:rPr>
              <a:t> der Vektor mit Anfrage von i (Req</a:t>
            </a:r>
            <a:r>
              <a:rPr lang="de-DE" sz="2700" baseline="-25000" dirty="0">
                <a:sym typeface="Symbol"/>
              </a:rPr>
              <a:t>i</a:t>
            </a:r>
            <a:r>
              <a:rPr lang="de-DE" sz="2700" dirty="0">
                <a:sym typeface="Symbol"/>
              </a:rPr>
              <a:t> ≤ R</a:t>
            </a:r>
            <a:r>
              <a:rPr lang="de-DE" sz="2700" baseline="-25000" dirty="0">
                <a:sym typeface="Symbol"/>
              </a:rPr>
              <a:t>i</a:t>
            </a:r>
            <a:r>
              <a:rPr lang="de-DE" sz="2700" dirty="0">
                <a:sym typeface="Symbol"/>
              </a:rPr>
              <a:t>)</a:t>
            </a:r>
          </a:p>
          <a:p>
            <a:pPr marL="731520" lvl="1" indent="-457200"/>
            <a:r>
              <a:rPr lang="de-DE" sz="2700" dirty="0">
                <a:solidFill>
                  <a:srgbClr val="FF0000"/>
                </a:solidFill>
                <a:sym typeface="Symbol"/>
              </a:rPr>
              <a:t>A = A – Req</a:t>
            </a:r>
            <a:r>
              <a:rPr lang="de-DE" sz="2700" baseline="-25000" dirty="0">
                <a:solidFill>
                  <a:srgbClr val="FF0000"/>
                </a:solidFill>
                <a:sym typeface="Symbol"/>
              </a:rPr>
              <a:t>i</a:t>
            </a:r>
            <a:r>
              <a:rPr lang="de-DE" sz="2700" dirty="0">
                <a:solidFill>
                  <a:srgbClr val="FF0000"/>
                </a:solidFill>
                <a:sym typeface="Symbol"/>
              </a:rPr>
              <a:t>	</a:t>
            </a:r>
            <a:r>
              <a:rPr lang="de-DE" sz="2700" dirty="0">
                <a:sym typeface="Symbol"/>
              </a:rPr>
              <a:t>	 (Vektoraddition)</a:t>
            </a:r>
          </a:p>
          <a:p>
            <a:pPr marL="1005840" lvl="2" indent="-457200"/>
            <a:r>
              <a:rPr lang="de-DE" sz="2400" dirty="0">
                <a:sym typeface="Symbol"/>
              </a:rPr>
              <a:t>D.h. reduziere den Ressourcenrestvektor um die Anfrage</a:t>
            </a:r>
          </a:p>
          <a:p>
            <a:pPr marL="731520" lvl="1" indent="-457200"/>
            <a:r>
              <a:rPr lang="de-DE" sz="2700" dirty="0">
                <a:solidFill>
                  <a:srgbClr val="FF0000"/>
                </a:solidFill>
                <a:sym typeface="Symbol"/>
              </a:rPr>
              <a:t>C</a:t>
            </a:r>
            <a:r>
              <a:rPr lang="de-DE" sz="2700" baseline="-25000" dirty="0">
                <a:solidFill>
                  <a:srgbClr val="FF0000"/>
                </a:solidFill>
                <a:sym typeface="Symbol"/>
              </a:rPr>
              <a:t>i</a:t>
            </a:r>
            <a:r>
              <a:rPr lang="de-DE" sz="2700" dirty="0">
                <a:solidFill>
                  <a:srgbClr val="FF0000"/>
                </a:solidFill>
                <a:sym typeface="Symbol"/>
              </a:rPr>
              <a:t> = C</a:t>
            </a:r>
            <a:r>
              <a:rPr lang="de-DE" sz="2700" baseline="-25000" dirty="0">
                <a:solidFill>
                  <a:srgbClr val="FF0000"/>
                </a:solidFill>
                <a:sym typeface="Symbol"/>
              </a:rPr>
              <a:t>i</a:t>
            </a:r>
            <a:r>
              <a:rPr lang="de-DE" sz="2700" dirty="0">
                <a:solidFill>
                  <a:srgbClr val="FF0000"/>
                </a:solidFill>
                <a:sym typeface="Symbol"/>
              </a:rPr>
              <a:t> + Req</a:t>
            </a:r>
            <a:r>
              <a:rPr lang="de-DE" sz="2700" baseline="-25000" dirty="0">
                <a:solidFill>
                  <a:srgbClr val="FF0000"/>
                </a:solidFill>
                <a:sym typeface="Symbol"/>
              </a:rPr>
              <a:t>i</a:t>
            </a:r>
            <a:r>
              <a:rPr lang="de-DE" sz="2700" dirty="0">
                <a:sym typeface="Symbol"/>
              </a:rPr>
              <a:t>	(Vektoraddition)</a:t>
            </a:r>
          </a:p>
          <a:p>
            <a:pPr marL="1005840" lvl="2" indent="-457200"/>
            <a:r>
              <a:rPr lang="de-DE" sz="2400" dirty="0">
                <a:sym typeface="Symbol"/>
              </a:rPr>
              <a:t>D.h. erhöhe die aktuelle Belegung durch P</a:t>
            </a:r>
            <a:r>
              <a:rPr lang="de-DE" sz="2400" baseline="-25000" dirty="0">
                <a:sym typeface="Symbol"/>
              </a:rPr>
              <a:t>i</a:t>
            </a:r>
            <a:endParaRPr lang="de-DE" sz="2400" dirty="0">
              <a:sym typeface="Symbol"/>
            </a:endParaRPr>
          </a:p>
          <a:p>
            <a:pPr marL="731520" lvl="1" indent="-457200"/>
            <a:r>
              <a:rPr lang="de-DE" sz="2700" dirty="0">
                <a:solidFill>
                  <a:srgbClr val="FF0000"/>
                </a:solidFill>
                <a:sym typeface="Symbol"/>
              </a:rPr>
              <a:t>R</a:t>
            </a:r>
            <a:r>
              <a:rPr lang="de-DE" sz="2700" baseline="-25000" dirty="0">
                <a:solidFill>
                  <a:srgbClr val="FF0000"/>
                </a:solidFill>
                <a:sym typeface="Symbol"/>
              </a:rPr>
              <a:t>i</a:t>
            </a:r>
            <a:r>
              <a:rPr lang="de-DE" sz="2700" dirty="0">
                <a:solidFill>
                  <a:srgbClr val="FF0000"/>
                </a:solidFill>
                <a:sym typeface="Symbol"/>
              </a:rPr>
              <a:t> = R</a:t>
            </a:r>
            <a:r>
              <a:rPr lang="de-DE" sz="2700" baseline="-25000" dirty="0">
                <a:solidFill>
                  <a:srgbClr val="FF0000"/>
                </a:solidFill>
                <a:sym typeface="Symbol"/>
              </a:rPr>
              <a:t>i</a:t>
            </a:r>
            <a:r>
              <a:rPr lang="de-DE" sz="2700" dirty="0">
                <a:solidFill>
                  <a:srgbClr val="FF0000"/>
                </a:solidFill>
                <a:sym typeface="Symbol"/>
              </a:rPr>
              <a:t> – Req</a:t>
            </a:r>
            <a:r>
              <a:rPr lang="de-DE" sz="2700" baseline="-25000" dirty="0">
                <a:solidFill>
                  <a:srgbClr val="FF0000"/>
                </a:solidFill>
                <a:sym typeface="Symbol"/>
              </a:rPr>
              <a:t>i</a:t>
            </a:r>
            <a:r>
              <a:rPr lang="de-DE" sz="2700" dirty="0">
                <a:sym typeface="Symbol"/>
              </a:rPr>
              <a:t>	 (Vektorsubtraktion)</a:t>
            </a:r>
          </a:p>
          <a:p>
            <a:pPr marL="1005840" lvl="2" indent="-457200"/>
            <a:r>
              <a:rPr lang="de-DE" sz="2400" dirty="0">
                <a:sym typeface="Symbol"/>
              </a:rPr>
              <a:t>D.h. reduziere die restliche „Anfragen-			Kapazität“ von i (idealerweise wird R</a:t>
            </a:r>
            <a:r>
              <a:rPr lang="de-DE" sz="2400" baseline="-25000" dirty="0">
                <a:sym typeface="Symbol"/>
              </a:rPr>
              <a:t>i</a:t>
            </a:r>
            <a:r>
              <a:rPr lang="de-DE" sz="2400" dirty="0">
                <a:sym typeface="Symbol"/>
              </a:rPr>
              <a:t> = 0)</a:t>
            </a:r>
          </a:p>
          <a:p>
            <a:pPr marL="1005840" lvl="2" indent="-457200"/>
            <a:endParaRPr lang="de-DE" dirty="0">
              <a:sym typeface="Symbol"/>
            </a:endParaRPr>
          </a:p>
          <a:p>
            <a:pPr lvl="1"/>
            <a:endParaRPr lang="de-DE" dirty="0">
              <a:sym typeface="Symbol"/>
            </a:endParaRP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7522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Entscheidung über die Zuteilung der Ressourcen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50160"/>
          </a:xfrm>
        </p:spPr>
        <p:txBody>
          <a:bodyPr>
            <a:normAutofit/>
          </a:bodyPr>
          <a:lstStyle/>
          <a:p>
            <a:r>
              <a:rPr lang="de-DE" sz="2700" dirty="0">
                <a:sym typeface="Symbol"/>
              </a:rPr>
              <a:t>Das BS lässt nun den Bankiersalgorithmus (</a:t>
            </a:r>
            <a:r>
              <a:rPr lang="de-DE" sz="2700" b="1" dirty="0">
                <a:solidFill>
                  <a:srgbClr val="0070C0"/>
                </a:solidFill>
                <a:sym typeface="Symbol"/>
              </a:rPr>
              <a:t>BA</a:t>
            </a:r>
            <a:r>
              <a:rPr lang="de-DE" sz="2700" dirty="0">
                <a:sym typeface="Symbol"/>
              </a:rPr>
              <a:t>) </a:t>
            </a:r>
            <a:r>
              <a:rPr lang="de-DE" sz="2700" u="sng" dirty="0">
                <a:sym typeface="Symbol"/>
              </a:rPr>
              <a:t>auf diesem hypothetischen Zustand</a:t>
            </a:r>
            <a:r>
              <a:rPr lang="de-DE" sz="2700" dirty="0">
                <a:sym typeface="Symbol"/>
              </a:rPr>
              <a:t> laufen</a:t>
            </a:r>
          </a:p>
          <a:p>
            <a:pPr marL="731520" lvl="1" indent="-457200"/>
            <a:r>
              <a:rPr lang="de-DE" sz="2700" dirty="0">
                <a:sym typeface="Symbol"/>
              </a:rPr>
              <a:t>Falls </a:t>
            </a:r>
            <a:r>
              <a:rPr lang="de-DE" sz="2700" b="1" dirty="0">
                <a:solidFill>
                  <a:srgbClr val="0070C0"/>
                </a:solidFill>
                <a:sym typeface="Symbol"/>
              </a:rPr>
              <a:t>BA </a:t>
            </a:r>
            <a:r>
              <a:rPr lang="de-DE" sz="2700" dirty="0">
                <a:sym typeface="Symbol"/>
              </a:rPr>
              <a:t>antwortet, dass der Zustand </a:t>
            </a:r>
            <a:r>
              <a:rPr lang="de-DE" sz="2700" b="1" dirty="0">
                <a:solidFill>
                  <a:srgbClr val="FF0000"/>
                </a:solidFill>
                <a:sym typeface="Symbol"/>
              </a:rPr>
              <a:t>sicher</a:t>
            </a:r>
            <a:r>
              <a:rPr lang="de-DE" sz="2700" dirty="0">
                <a:sym typeface="Symbol"/>
              </a:rPr>
              <a:t> ist (zu keinem Deadlock führt), wird die Anfrage gebilligt und der hypothethische Zustand wird zum neuen Zustand </a:t>
            </a:r>
          </a:p>
          <a:p>
            <a:pPr marL="731520" lvl="1" indent="-457200"/>
            <a:r>
              <a:rPr lang="de-DE" sz="2700" dirty="0">
                <a:sym typeface="Symbol"/>
              </a:rPr>
              <a:t>Falls </a:t>
            </a:r>
            <a:r>
              <a:rPr lang="de-DE" sz="2700" b="1" dirty="0">
                <a:solidFill>
                  <a:srgbClr val="0070C0"/>
                </a:solidFill>
                <a:sym typeface="Symbol"/>
              </a:rPr>
              <a:t>BA </a:t>
            </a:r>
            <a:r>
              <a:rPr lang="de-DE" sz="2700" dirty="0">
                <a:sym typeface="Symbol"/>
              </a:rPr>
              <a:t>antwortet, dass der Zustand zum Deadlock führt, lehnt das BS die Anfrage ab, oder blockiert den Prozess i, bis andere Prozesse Ressourcen freigeben</a:t>
            </a:r>
          </a:p>
          <a:p>
            <a:pPr marL="1005840" lvl="2" indent="-457200"/>
            <a:r>
              <a:rPr lang="de-DE" sz="2400" dirty="0">
                <a:sym typeface="Symbol"/>
              </a:rPr>
              <a:t>Der Deadlock müsste nicht wirklich auftreten, da z.B. andere Prozesse terminieren können</a:t>
            </a:r>
          </a:p>
          <a:p>
            <a:pPr marL="1005840" lvl="2" indent="-457200"/>
            <a:endParaRPr lang="de-DE" dirty="0">
              <a:sym typeface="Symbol"/>
            </a:endParaRPr>
          </a:p>
          <a:p>
            <a:pPr lvl="1"/>
            <a:endParaRPr lang="de-DE" dirty="0">
              <a:sym typeface="Symbol"/>
            </a:endParaRP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7556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971600" y="1052736"/>
            <a:ext cx="7200800" cy="2160240"/>
          </a:xfrm>
        </p:spPr>
        <p:txBody>
          <a:bodyPr/>
          <a:lstStyle/>
          <a:p>
            <a:r>
              <a:rPr lang="de-DE" dirty="0"/>
              <a:t>Vermeidung von Deadlocks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99592" y="3140968"/>
            <a:ext cx="7272808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800" dirty="0">
                <a:solidFill>
                  <a:srgbClr val="0070C0"/>
                </a:solidFill>
              </a:rPr>
              <a:t>Strategien zur Behandlung von Deadlocks:</a:t>
            </a:r>
            <a:endParaRPr lang="de-DE" sz="2000" b="1" dirty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de-DE" sz="2000" dirty="0">
                <a:solidFill>
                  <a:schemeClr val="bg1">
                    <a:lumMod val="50000"/>
                  </a:schemeClr>
                </a:solidFill>
              </a:rPr>
              <a:t>Einfach ignorieren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e-DE" sz="2000" dirty="0">
                <a:solidFill>
                  <a:schemeClr val="bg1">
                    <a:lumMod val="50000"/>
                  </a:schemeClr>
                </a:solidFill>
              </a:rPr>
              <a:t>Erkennen und beheben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de-DE" sz="2000" dirty="0">
                <a:solidFill>
                  <a:schemeClr val="bg1">
                    <a:lumMod val="50000"/>
                  </a:schemeClr>
                </a:solidFill>
              </a:rPr>
              <a:t>Deadlocks zulassen, erkennen und beheben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e-DE" sz="2000" dirty="0">
                <a:solidFill>
                  <a:schemeClr val="bg1">
                    <a:lumMod val="50000"/>
                  </a:schemeClr>
                </a:solidFill>
              </a:rPr>
              <a:t>Dynamische Verhinderung </a:t>
            </a:r>
          </a:p>
          <a:p>
            <a:pPr marL="742950" lvl="2" indent="-285750">
              <a:buFont typeface="Arial" pitchFamily="34" charset="0"/>
              <a:buChar char="•"/>
            </a:pPr>
            <a:r>
              <a:rPr lang="de-DE" sz="2000" dirty="0">
                <a:solidFill>
                  <a:schemeClr val="bg1">
                    <a:lumMod val="50000"/>
                  </a:schemeClr>
                </a:solidFill>
              </a:rPr>
              <a:t>Durch vorsichtige Ressourcenzuteilung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e-DE" sz="2000" b="1" dirty="0">
                <a:solidFill>
                  <a:srgbClr val="FF0000"/>
                </a:solidFill>
              </a:rPr>
              <a:t>Vermeidung von Deadlocks</a:t>
            </a:r>
          </a:p>
        </p:txBody>
      </p:sp>
    </p:spTree>
    <p:extLst>
      <p:ext uri="{BB962C8B-B14F-4D97-AF65-F5344CB8AC3E}">
        <p14:creationId xmlns:p14="http://schemas.microsoft.com/office/powerpoint/2010/main" val="889623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Vermeidung von Deadlocks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Unterlaufen von „Wechselseitiger Ausschluss“</a:t>
            </a:r>
          </a:p>
          <a:p>
            <a:pPr lvl="1"/>
            <a:r>
              <a:rPr lang="de-DE" dirty="0"/>
              <a:t>Schwierig, und ggf. unmöglich (z.B. Drucker, DVD-Writer)</a:t>
            </a:r>
          </a:p>
          <a:p>
            <a:r>
              <a:rPr lang="de-DE" dirty="0"/>
              <a:t>Unterlaufen von „Hold-</a:t>
            </a:r>
            <a:r>
              <a:rPr lang="de-DE" dirty="0" err="1"/>
              <a:t>and</a:t>
            </a:r>
            <a:r>
              <a:rPr lang="de-DE" dirty="0"/>
              <a:t>-</a:t>
            </a:r>
            <a:r>
              <a:rPr lang="de-DE" dirty="0" err="1"/>
              <a:t>Wait</a:t>
            </a:r>
            <a:r>
              <a:rPr lang="de-DE" dirty="0"/>
              <a:t>“-Bedingung</a:t>
            </a:r>
          </a:p>
          <a:p>
            <a:pPr lvl="1"/>
            <a:r>
              <a:rPr lang="de-DE" dirty="0"/>
              <a:t>Prozesse sollten alle benötigten Ressourcen im Voraus angeben </a:t>
            </a:r>
          </a:p>
          <a:p>
            <a:pPr lvl="1"/>
            <a:r>
              <a:rPr lang="de-DE" dirty="0"/>
              <a:t>Oder: Vor neuer Anforderung alle Ressourcen kurzzeitig freigeben</a:t>
            </a:r>
          </a:p>
          <a:p>
            <a:r>
              <a:rPr lang="de-DE" dirty="0"/>
              <a:t>Unterlaufen der „</a:t>
            </a:r>
            <a:r>
              <a:rPr lang="de-DE" dirty="0" err="1"/>
              <a:t>Ununterbrechbarkeit</a:t>
            </a:r>
            <a:r>
              <a:rPr lang="de-DE" dirty="0"/>
              <a:t>“</a:t>
            </a:r>
          </a:p>
          <a:p>
            <a:pPr lvl="1"/>
            <a:r>
              <a:rPr lang="de-DE" dirty="0"/>
              <a:t>Hier kann man mit Virtualisierung arbeiten</a:t>
            </a:r>
          </a:p>
          <a:p>
            <a:r>
              <a:rPr lang="de-DE" dirty="0"/>
              <a:t>Unterlaufen der zyklischen Wartebedingung</a:t>
            </a:r>
          </a:p>
          <a:p>
            <a:pPr lvl="1"/>
            <a:r>
              <a:rPr lang="de-DE" dirty="0"/>
              <a:t>Im Prinzip durch die Verhinderung (soeben vorgestellt)</a:t>
            </a:r>
          </a:p>
        </p:txBody>
      </p:sp>
    </p:spTree>
    <p:extLst>
      <p:ext uri="{BB962C8B-B14F-4D97-AF65-F5344CB8AC3E}">
        <p14:creationId xmlns:p14="http://schemas.microsoft.com/office/powerpoint/2010/main" val="380581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Zusammenfassung Deadlocks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5210196"/>
          </a:xfrm>
        </p:spPr>
        <p:txBody>
          <a:bodyPr>
            <a:normAutofit/>
          </a:bodyPr>
          <a:lstStyle/>
          <a:p>
            <a:r>
              <a:rPr lang="de-DE" dirty="0"/>
              <a:t>Deadlocks – Grundlagen</a:t>
            </a:r>
          </a:p>
          <a:p>
            <a:r>
              <a:rPr lang="de-DE" dirty="0"/>
              <a:t>Erkennung von Deadlocks</a:t>
            </a:r>
          </a:p>
          <a:p>
            <a:pPr lvl="1"/>
            <a:r>
              <a:rPr lang="de-DE" dirty="0"/>
              <a:t>Durch Graphen-Analyse (Eine Instanz pro R.-Typ)</a:t>
            </a:r>
          </a:p>
          <a:p>
            <a:r>
              <a:rPr lang="de-DE" dirty="0"/>
              <a:t>Erkennung von Deadlocks: Bankiersalgorithmus</a:t>
            </a:r>
          </a:p>
          <a:p>
            <a:pPr lvl="1"/>
            <a:r>
              <a:rPr lang="de-DE" dirty="0"/>
              <a:t>Erkennung bei einer vs. mehreren Instanzen pro R.-Typ</a:t>
            </a:r>
          </a:p>
          <a:p>
            <a:r>
              <a:rPr lang="de-DE" dirty="0"/>
              <a:t>Verhinderung und Vermeidung von Deadlocks</a:t>
            </a:r>
          </a:p>
          <a:p>
            <a:r>
              <a:rPr lang="de-DE" dirty="0"/>
              <a:t>Quellen: </a:t>
            </a:r>
          </a:p>
          <a:p>
            <a:pPr lvl="1"/>
            <a:r>
              <a:rPr lang="de-DE" dirty="0"/>
              <a:t>Deadlocks: Silberschatz et al. Kapitel 7; Tanenbaum Kap. 6</a:t>
            </a:r>
          </a:p>
          <a:p>
            <a:pPr lvl="1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6952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Umfrage</a:t>
            </a:r>
            <a:r>
              <a:rPr lang="de-DE"/>
              <a:t>: Deadlocks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4" name="Rechteck 3"/>
          <p:cNvSpPr/>
          <p:nvPr/>
        </p:nvSpPr>
        <p:spPr>
          <a:xfrm>
            <a:off x="4668743" y="1191154"/>
            <a:ext cx="2698175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de-DE" dirty="0"/>
              <a:t>4 Voraussetzungen für </a:t>
            </a:r>
          </a:p>
          <a:p>
            <a:r>
              <a:rPr lang="de-DE" dirty="0"/>
              <a:t>Ressourcen-Deadlocks?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F795F5D-0C62-43CA-80F7-134999DF66B0}"/>
              </a:ext>
            </a:extLst>
          </p:cNvPr>
          <p:cNvSpPr txBox="1"/>
          <p:nvPr/>
        </p:nvSpPr>
        <p:spPr>
          <a:xfrm>
            <a:off x="1453891" y="6114458"/>
            <a:ext cx="682583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sz="2000" dirty="0">
                <a:highlight>
                  <a:srgbClr val="00FF00"/>
                </a:highlight>
              </a:rPr>
              <a:t>https://bit.ly/ibn_hd  </a:t>
            </a:r>
            <a:br>
              <a:rPr lang="en-US" sz="2000" dirty="0">
                <a:highlight>
                  <a:srgbClr val="00FF00"/>
                </a:highlight>
              </a:rPr>
            </a:br>
            <a:r>
              <a:rPr lang="en-US" sz="2000" dirty="0">
                <a:highlight>
                  <a:srgbClr val="00FF00"/>
                </a:highlight>
              </a:rPr>
              <a:t>Was </a:t>
            </a:r>
            <a:r>
              <a:rPr lang="en-US" sz="2000" dirty="0" err="1">
                <a:highlight>
                  <a:srgbClr val="00FF00"/>
                </a:highlight>
              </a:rPr>
              <a:t>kann</a:t>
            </a:r>
            <a:r>
              <a:rPr lang="en-US" sz="2000" dirty="0">
                <a:highlight>
                  <a:srgbClr val="00FF00"/>
                </a:highlight>
              </a:rPr>
              <a:t> ich schnell </a:t>
            </a:r>
            <a:r>
              <a:rPr lang="en-US" sz="2000" dirty="0" err="1">
                <a:highlight>
                  <a:srgbClr val="00FF00"/>
                </a:highlight>
              </a:rPr>
              <a:t>beantworten</a:t>
            </a:r>
            <a:r>
              <a:rPr lang="en-US" sz="2000" dirty="0">
                <a:highlight>
                  <a:srgbClr val="00FF00"/>
                </a:highlight>
              </a:rPr>
              <a:t>? und gut verstehen?</a:t>
            </a:r>
            <a:endParaRPr lang="de-DE" sz="2000" dirty="0">
              <a:highlight>
                <a:srgbClr val="00FF00"/>
              </a:highlight>
            </a:endParaRPr>
          </a:p>
        </p:txBody>
      </p:sp>
      <p:sp>
        <p:nvSpPr>
          <p:cNvPr id="8" name="Sprechblase: rechteckig mit abgerundeten Ecken 7">
            <a:extLst>
              <a:ext uri="{FF2B5EF4-FFF2-40B4-BE49-F238E27FC236}">
                <a16:creationId xmlns:a16="http://schemas.microsoft.com/office/drawing/2014/main" id="{154A4364-A23D-4EB0-B01A-45753A80BFC2}"/>
              </a:ext>
            </a:extLst>
          </p:cNvPr>
          <p:cNvSpPr/>
          <p:nvPr/>
        </p:nvSpPr>
        <p:spPr>
          <a:xfrm>
            <a:off x="424433" y="4035900"/>
            <a:ext cx="2160240" cy="541843"/>
          </a:xfrm>
          <a:prstGeom prst="wedgeRoundRectCallout">
            <a:avLst>
              <a:gd name="adj1" fmla="val -13039"/>
              <a:gd name="adj2" fmla="val 89275"/>
              <a:gd name="adj3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Kommt es immer zu einem D.?</a:t>
            </a:r>
            <a:endParaRPr lang="en-US" dirty="0"/>
          </a:p>
        </p:txBody>
      </p:sp>
      <p:graphicFrame>
        <p:nvGraphicFramePr>
          <p:cNvPr id="41" name="Tabelle 40">
            <a:extLst>
              <a:ext uri="{FF2B5EF4-FFF2-40B4-BE49-F238E27FC236}">
                <a16:creationId xmlns:a16="http://schemas.microsoft.com/office/drawing/2014/main" id="{3049E7C6-002F-40E4-9241-26EC602DFD65}"/>
              </a:ext>
            </a:extLst>
          </p:cNvPr>
          <p:cNvGraphicFramePr>
            <a:graphicFrameLocks noGrp="1"/>
          </p:cNvGraphicFramePr>
          <p:nvPr/>
        </p:nvGraphicFramePr>
        <p:xfrm>
          <a:off x="182072" y="4869160"/>
          <a:ext cx="2754606" cy="1384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7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7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4052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err="1"/>
                        <a:t>Proc</a:t>
                      </a:r>
                      <a:r>
                        <a:rPr lang="de-DE" sz="20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err="1"/>
                        <a:t>Proc</a:t>
                      </a:r>
                      <a:r>
                        <a:rPr lang="de-DE" sz="2000" dirty="0"/>
                        <a:t>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942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err="1"/>
                        <a:t>wait</a:t>
                      </a:r>
                      <a:r>
                        <a:rPr lang="de-DE" sz="2000" dirty="0"/>
                        <a:t> (A)</a:t>
                      </a:r>
                    </a:p>
                    <a:p>
                      <a:pPr algn="ctr"/>
                      <a:r>
                        <a:rPr lang="de-DE" sz="2000" dirty="0" err="1"/>
                        <a:t>wait</a:t>
                      </a:r>
                      <a:r>
                        <a:rPr lang="de-DE" sz="2000" dirty="0"/>
                        <a:t> 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err="1"/>
                        <a:t>wait</a:t>
                      </a:r>
                      <a:r>
                        <a:rPr lang="de-DE" sz="2000" dirty="0"/>
                        <a:t> (B)</a:t>
                      </a:r>
                    </a:p>
                    <a:p>
                      <a:pPr algn="ctr"/>
                      <a:r>
                        <a:rPr lang="de-DE" sz="2000" dirty="0" err="1"/>
                        <a:t>wait</a:t>
                      </a:r>
                      <a:r>
                        <a:rPr lang="de-DE" sz="2000" dirty="0"/>
                        <a:t> (A)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54D0D5FF-F256-48B1-BFC1-428B5D37A36B}"/>
              </a:ext>
            </a:extLst>
          </p:cNvPr>
          <p:cNvSpPr/>
          <p:nvPr/>
        </p:nvSpPr>
        <p:spPr>
          <a:xfrm>
            <a:off x="234087" y="1252793"/>
            <a:ext cx="4268040" cy="126188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sz="1600" dirty="0"/>
              <a:t>Wenn ein Zyklus im R-B-Graphen existiert:</a:t>
            </a:r>
          </a:p>
          <a:p>
            <a:pPr lvl="1"/>
            <a:r>
              <a:rPr lang="de-DE" sz="1600" dirty="0"/>
              <a:t>xxx pro Ressourcentyp =&gt; </a:t>
            </a:r>
            <a:r>
              <a:rPr lang="de-DE" sz="1600" dirty="0">
                <a:solidFill>
                  <a:srgbClr val="FF0000"/>
                </a:solidFill>
              </a:rPr>
              <a:t>Deadlock</a:t>
            </a:r>
          </a:p>
          <a:p>
            <a:pPr lvl="1"/>
            <a:r>
              <a:rPr lang="de-DE" sz="1600" dirty="0" err="1"/>
              <a:t>yyy</a:t>
            </a:r>
            <a:r>
              <a:rPr lang="de-DE" sz="1600" dirty="0"/>
              <a:t> pro Ressourcentyp =&gt; </a:t>
            </a:r>
            <a:br>
              <a:rPr lang="de-DE" sz="1600" dirty="0"/>
            </a:br>
            <a:r>
              <a:rPr lang="de-DE" sz="1400" dirty="0"/>
              <a:t>Deadlock ist möglich, aber nicht zwingend.  </a:t>
            </a:r>
            <a:br>
              <a:rPr lang="de-DE" sz="1400" dirty="0"/>
            </a:br>
            <a:r>
              <a:rPr lang="de-DE" sz="1400" dirty="0"/>
              <a:t>[was sind xxx, </a:t>
            </a:r>
            <a:r>
              <a:rPr lang="de-DE" sz="1400" dirty="0" err="1"/>
              <a:t>yyy</a:t>
            </a:r>
            <a:r>
              <a:rPr lang="de-DE" sz="1400" dirty="0"/>
              <a:t>?]</a:t>
            </a:r>
            <a:endParaRPr lang="en-US" sz="1200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5AD9C98-BC82-4BA5-9804-61C15435D996}"/>
              </a:ext>
            </a:extLst>
          </p:cNvPr>
          <p:cNvSpPr/>
          <p:nvPr/>
        </p:nvSpPr>
        <p:spPr>
          <a:xfrm>
            <a:off x="2505427" y="3546676"/>
            <a:ext cx="3993401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de-DE" dirty="0"/>
              <a:t>Hauptidee des „</a:t>
            </a:r>
            <a:r>
              <a:rPr lang="de-DE" dirty="0" err="1"/>
              <a:t>Bankieralgorithmus</a:t>
            </a:r>
            <a:r>
              <a:rPr lang="de-DE" dirty="0"/>
              <a:t>“?</a:t>
            </a:r>
            <a:endParaRPr lang="en-US" dirty="0"/>
          </a:p>
        </p:txBody>
      </p: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B26B86FD-57A4-4815-ABAE-0BB9262D5A3A}"/>
              </a:ext>
            </a:extLst>
          </p:cNvPr>
          <p:cNvGrpSpPr/>
          <p:nvPr/>
        </p:nvGrpSpPr>
        <p:grpSpPr>
          <a:xfrm>
            <a:off x="3317792" y="4453440"/>
            <a:ext cx="2925457" cy="2014961"/>
            <a:chOff x="4004913" y="2996952"/>
            <a:chExt cx="5173023" cy="3563015"/>
          </a:xfrm>
        </p:grpSpPr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D1661C21-F18E-4E98-B620-0F60FD60B8DE}"/>
                </a:ext>
              </a:extLst>
            </p:cNvPr>
            <p:cNvSpPr txBox="1"/>
            <p:nvPr/>
          </p:nvSpPr>
          <p:spPr>
            <a:xfrm>
              <a:off x="5480471" y="5835702"/>
              <a:ext cx="1199584" cy="462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>
                  <a:solidFill>
                    <a:srgbClr val="FFC000"/>
                  </a:solidFill>
                </a:rPr>
                <a:t>Drucker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68712CFC-714F-4922-A29E-0B0A70D32B06}"/>
                </a:ext>
              </a:extLst>
            </p:cNvPr>
            <p:cNvSpPr txBox="1"/>
            <p:nvPr/>
          </p:nvSpPr>
          <p:spPr>
            <a:xfrm>
              <a:off x="6147098" y="6097367"/>
              <a:ext cx="1046519" cy="462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>
                  <a:solidFill>
                    <a:srgbClr val="00B0F0"/>
                  </a:solidFill>
                </a:rPr>
                <a:t>Plotter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5FEA877-498B-4424-A6EF-6C867ABC3500}"/>
                </a:ext>
              </a:extLst>
            </p:cNvPr>
            <p:cNvSpPr txBox="1"/>
            <p:nvPr/>
          </p:nvSpPr>
          <p:spPr>
            <a:xfrm>
              <a:off x="7805465" y="2996952"/>
              <a:ext cx="1227930" cy="7619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50" dirty="0"/>
                <a:t>Beide</a:t>
              </a:r>
            </a:p>
            <a:p>
              <a:r>
                <a:rPr lang="de-DE" sz="1050" dirty="0"/>
                <a:t>beendet</a:t>
              </a:r>
            </a:p>
          </p:txBody>
        </p:sp>
        <p:sp>
          <p:nvSpPr>
            <p:cNvPr id="57" name="Rectangle 11">
              <a:extLst>
                <a:ext uri="{FF2B5EF4-FFF2-40B4-BE49-F238E27FC236}">
                  <a16:creationId xmlns:a16="http://schemas.microsoft.com/office/drawing/2014/main" id="{65C54894-844D-480B-B55A-F2CED98E47FE}"/>
                </a:ext>
              </a:extLst>
            </p:cNvPr>
            <p:cNvSpPr/>
            <p:nvPr/>
          </p:nvSpPr>
          <p:spPr>
            <a:xfrm>
              <a:off x="5566288" y="3420399"/>
              <a:ext cx="1125870" cy="2415302"/>
            </a:xfrm>
            <a:prstGeom prst="rect">
              <a:avLst/>
            </a:prstGeom>
            <a:solidFill>
              <a:srgbClr val="FFFF00">
                <a:alpha val="5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/>
            </a:p>
          </p:txBody>
        </p:sp>
        <p:sp>
          <p:nvSpPr>
            <p:cNvPr id="58" name="Rectangle 15">
              <a:extLst>
                <a:ext uri="{FF2B5EF4-FFF2-40B4-BE49-F238E27FC236}">
                  <a16:creationId xmlns:a16="http://schemas.microsoft.com/office/drawing/2014/main" id="{3938067C-1ADF-43C9-B712-918CDA3A53EF}"/>
                </a:ext>
              </a:extLst>
            </p:cNvPr>
            <p:cNvSpPr/>
            <p:nvPr/>
          </p:nvSpPr>
          <p:spPr>
            <a:xfrm>
              <a:off x="6161191" y="3420398"/>
              <a:ext cx="1125870" cy="2382361"/>
            </a:xfrm>
            <a:prstGeom prst="rect">
              <a:avLst/>
            </a:prstGeom>
            <a:solidFill>
              <a:srgbClr val="00B0F0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/>
            </a:p>
          </p:txBody>
        </p:sp>
        <p:sp>
          <p:nvSpPr>
            <p:cNvPr id="59" name="Rectangle 16">
              <a:extLst>
                <a:ext uri="{FF2B5EF4-FFF2-40B4-BE49-F238E27FC236}">
                  <a16:creationId xmlns:a16="http://schemas.microsoft.com/office/drawing/2014/main" id="{CA0B1265-4EA3-4090-9CE2-BFA1BAE58C66}"/>
                </a:ext>
              </a:extLst>
            </p:cNvPr>
            <p:cNvSpPr/>
            <p:nvPr/>
          </p:nvSpPr>
          <p:spPr>
            <a:xfrm>
              <a:off x="4407329" y="4144664"/>
              <a:ext cx="3680460" cy="646177"/>
            </a:xfrm>
            <a:prstGeom prst="rect">
              <a:avLst/>
            </a:prstGeom>
            <a:solidFill>
              <a:srgbClr val="FFFF00">
                <a:alpha val="5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/>
            </a:p>
          </p:txBody>
        </p:sp>
        <p:sp>
          <p:nvSpPr>
            <p:cNvPr id="60" name="Rectangle 17">
              <a:extLst>
                <a:ext uri="{FF2B5EF4-FFF2-40B4-BE49-F238E27FC236}">
                  <a16:creationId xmlns:a16="http://schemas.microsoft.com/office/drawing/2014/main" id="{0F319954-D1BC-4A7A-B6C9-1CADAA735625}"/>
                </a:ext>
              </a:extLst>
            </p:cNvPr>
            <p:cNvSpPr/>
            <p:nvPr/>
          </p:nvSpPr>
          <p:spPr>
            <a:xfrm>
              <a:off x="4407329" y="4457269"/>
              <a:ext cx="3680460" cy="667145"/>
            </a:xfrm>
            <a:prstGeom prst="rect">
              <a:avLst/>
            </a:prstGeom>
            <a:solidFill>
              <a:srgbClr val="00B0F0">
                <a:alpha val="2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/>
            </a:p>
          </p:txBody>
        </p:sp>
        <p:cxnSp>
          <p:nvCxnSpPr>
            <p:cNvPr id="61" name="Straight Arrow Connector 18">
              <a:extLst>
                <a:ext uri="{FF2B5EF4-FFF2-40B4-BE49-F238E27FC236}">
                  <a16:creationId xmlns:a16="http://schemas.microsoft.com/office/drawing/2014/main" id="{E8A89441-874C-40EF-ABBE-41CCFD88998D}"/>
                </a:ext>
              </a:extLst>
            </p:cNvPr>
            <p:cNvCxnSpPr/>
            <p:nvPr/>
          </p:nvCxnSpPr>
          <p:spPr>
            <a:xfrm>
              <a:off x="4380098" y="5833417"/>
              <a:ext cx="408749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9">
              <a:extLst>
                <a:ext uri="{FF2B5EF4-FFF2-40B4-BE49-F238E27FC236}">
                  <a16:creationId xmlns:a16="http://schemas.microsoft.com/office/drawing/2014/main" id="{E701782D-471D-460B-BBF9-BC72075D6478}"/>
                </a:ext>
              </a:extLst>
            </p:cNvPr>
            <p:cNvCxnSpPr/>
            <p:nvPr/>
          </p:nvCxnSpPr>
          <p:spPr>
            <a:xfrm flipV="1">
              <a:off x="4407329" y="3212976"/>
              <a:ext cx="0" cy="262044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20">
              <a:extLst>
                <a:ext uri="{FF2B5EF4-FFF2-40B4-BE49-F238E27FC236}">
                  <a16:creationId xmlns:a16="http://schemas.microsoft.com/office/drawing/2014/main" id="{EF455A94-94A7-4E30-8AC5-D74520170192}"/>
                </a:ext>
              </a:extLst>
            </p:cNvPr>
            <p:cNvSpPr txBox="1"/>
            <p:nvPr/>
          </p:nvSpPr>
          <p:spPr>
            <a:xfrm>
              <a:off x="4004913" y="3052067"/>
              <a:ext cx="493781" cy="462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B</a:t>
              </a:r>
            </a:p>
          </p:txBody>
        </p:sp>
        <p:sp>
          <p:nvSpPr>
            <p:cNvPr id="64" name="TextBox 21">
              <a:extLst>
                <a:ext uri="{FF2B5EF4-FFF2-40B4-BE49-F238E27FC236}">
                  <a16:creationId xmlns:a16="http://schemas.microsoft.com/office/drawing/2014/main" id="{D121537A-E6B0-45D8-8D8B-99D710608674}"/>
                </a:ext>
              </a:extLst>
            </p:cNvPr>
            <p:cNvSpPr txBox="1"/>
            <p:nvPr/>
          </p:nvSpPr>
          <p:spPr>
            <a:xfrm>
              <a:off x="8684155" y="5556329"/>
              <a:ext cx="493781" cy="462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A</a:t>
              </a:r>
            </a:p>
          </p:txBody>
        </p:sp>
        <p:sp>
          <p:nvSpPr>
            <p:cNvPr id="65" name="TextBox 28">
              <a:extLst>
                <a:ext uri="{FF2B5EF4-FFF2-40B4-BE49-F238E27FC236}">
                  <a16:creationId xmlns:a16="http://schemas.microsoft.com/office/drawing/2014/main" id="{A9D4D8E1-824D-43FA-8A28-8AA17FBF5B7D}"/>
                </a:ext>
              </a:extLst>
            </p:cNvPr>
            <p:cNvSpPr txBox="1"/>
            <p:nvPr/>
          </p:nvSpPr>
          <p:spPr>
            <a:xfrm>
              <a:off x="4631745" y="5181327"/>
              <a:ext cx="850935" cy="462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Start</a:t>
              </a:r>
            </a:p>
          </p:txBody>
        </p:sp>
        <p:sp>
          <p:nvSpPr>
            <p:cNvPr id="66" name="Oval 29">
              <a:extLst>
                <a:ext uri="{FF2B5EF4-FFF2-40B4-BE49-F238E27FC236}">
                  <a16:creationId xmlns:a16="http://schemas.microsoft.com/office/drawing/2014/main" id="{31842243-9994-4BC8-B4DC-E25322ED626B}"/>
                </a:ext>
              </a:extLst>
            </p:cNvPr>
            <p:cNvSpPr/>
            <p:nvPr/>
          </p:nvSpPr>
          <p:spPr>
            <a:xfrm>
              <a:off x="4798806" y="5560983"/>
              <a:ext cx="132890" cy="138922"/>
            </a:xfrm>
            <a:prstGeom prst="ellipse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/>
            </a:p>
          </p:txBody>
        </p:sp>
        <p:cxnSp>
          <p:nvCxnSpPr>
            <p:cNvPr id="67" name="Straight Arrow Connector 30">
              <a:extLst>
                <a:ext uri="{FF2B5EF4-FFF2-40B4-BE49-F238E27FC236}">
                  <a16:creationId xmlns:a16="http://schemas.microsoft.com/office/drawing/2014/main" id="{7CF40CD8-9B7E-4BF9-985D-07FB2711E5F3}"/>
                </a:ext>
              </a:extLst>
            </p:cNvPr>
            <p:cNvCxnSpPr>
              <a:stCxn id="66" idx="6"/>
            </p:cNvCxnSpPr>
            <p:nvPr/>
          </p:nvCxnSpPr>
          <p:spPr>
            <a:xfrm>
              <a:off x="4931696" y="5630444"/>
              <a:ext cx="936448" cy="254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36">
              <a:extLst>
                <a:ext uri="{FF2B5EF4-FFF2-40B4-BE49-F238E27FC236}">
                  <a16:creationId xmlns:a16="http://schemas.microsoft.com/office/drawing/2014/main" id="{E365231D-8A15-40A3-829A-E02703501966}"/>
                </a:ext>
              </a:extLst>
            </p:cNvPr>
            <p:cNvSpPr/>
            <p:nvPr/>
          </p:nvSpPr>
          <p:spPr>
            <a:xfrm>
              <a:off x="7589520" y="3274090"/>
              <a:ext cx="216024" cy="144016"/>
            </a:xfrm>
            <a:prstGeom prst="ellipse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100"/>
            </a:p>
          </p:txBody>
        </p:sp>
        <p:sp>
          <p:nvSpPr>
            <p:cNvPr id="69" name="Rectangle 31">
              <a:extLst>
                <a:ext uri="{FF2B5EF4-FFF2-40B4-BE49-F238E27FC236}">
                  <a16:creationId xmlns:a16="http://schemas.microsoft.com/office/drawing/2014/main" id="{C485A7BD-63C6-4DC8-8ED5-6C6AE0C6BCA3}"/>
                </a:ext>
              </a:extLst>
            </p:cNvPr>
            <p:cNvSpPr/>
            <p:nvPr/>
          </p:nvSpPr>
          <p:spPr>
            <a:xfrm>
              <a:off x="5589270" y="4144664"/>
              <a:ext cx="1102888" cy="64617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/>
            </a:p>
          </p:txBody>
        </p:sp>
        <p:sp>
          <p:nvSpPr>
            <p:cNvPr id="70" name="Rectangle 32">
              <a:extLst>
                <a:ext uri="{FF2B5EF4-FFF2-40B4-BE49-F238E27FC236}">
                  <a16:creationId xmlns:a16="http://schemas.microsoft.com/office/drawing/2014/main" id="{EC68F377-4881-451C-9C2A-D13232460777}"/>
                </a:ext>
              </a:extLst>
            </p:cNvPr>
            <p:cNvSpPr/>
            <p:nvPr/>
          </p:nvSpPr>
          <p:spPr>
            <a:xfrm>
              <a:off x="6158758" y="4467752"/>
              <a:ext cx="1102888" cy="64617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/>
            </a:p>
          </p:txBody>
        </p:sp>
        <p:cxnSp>
          <p:nvCxnSpPr>
            <p:cNvPr id="71" name="Straight Arrow Connector 33">
              <a:extLst>
                <a:ext uri="{FF2B5EF4-FFF2-40B4-BE49-F238E27FC236}">
                  <a16:creationId xmlns:a16="http://schemas.microsoft.com/office/drawing/2014/main" id="{B2D2CE86-405B-4BF4-B1C5-8AFDB456E89E}"/>
                </a:ext>
              </a:extLst>
            </p:cNvPr>
            <p:cNvCxnSpPr/>
            <p:nvPr/>
          </p:nvCxnSpPr>
          <p:spPr>
            <a:xfrm flipV="1">
              <a:off x="5868144" y="5124415"/>
              <a:ext cx="0" cy="50857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feld 6">
              <a:extLst>
                <a:ext uri="{FF2B5EF4-FFF2-40B4-BE49-F238E27FC236}">
                  <a16:creationId xmlns:a16="http://schemas.microsoft.com/office/drawing/2014/main" id="{95A4C9EB-3BC7-4A5D-80D6-2F4E8CE7EFAE}"/>
                </a:ext>
              </a:extLst>
            </p:cNvPr>
            <p:cNvSpPr txBox="1"/>
            <p:nvPr/>
          </p:nvSpPr>
          <p:spPr>
            <a:xfrm rot="16200000">
              <a:off x="7752342" y="4094199"/>
              <a:ext cx="1270449" cy="4625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50" b="1" dirty="0">
                  <a:solidFill>
                    <a:srgbClr val="FFC000"/>
                  </a:solidFill>
                </a:rPr>
                <a:t>Drucker</a:t>
              </a:r>
            </a:p>
          </p:txBody>
        </p:sp>
        <p:sp>
          <p:nvSpPr>
            <p:cNvPr id="73" name="Textfeld 8">
              <a:extLst>
                <a:ext uri="{FF2B5EF4-FFF2-40B4-BE49-F238E27FC236}">
                  <a16:creationId xmlns:a16="http://schemas.microsoft.com/office/drawing/2014/main" id="{3EE53E5A-70F5-46AD-86D3-9276F71A2888}"/>
                </a:ext>
              </a:extLst>
            </p:cNvPr>
            <p:cNvSpPr txBox="1"/>
            <p:nvPr/>
          </p:nvSpPr>
          <p:spPr>
            <a:xfrm rot="16200000">
              <a:off x="8175021" y="4571651"/>
              <a:ext cx="1015339" cy="4489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50" dirty="0">
                  <a:solidFill>
                    <a:srgbClr val="00B0F0"/>
                  </a:solidFill>
                </a:rPr>
                <a:t>Plotter</a:t>
              </a:r>
            </a:p>
          </p:txBody>
        </p:sp>
        <p:sp>
          <p:nvSpPr>
            <p:cNvPr id="74" name="Rectangle 12">
              <a:extLst>
                <a:ext uri="{FF2B5EF4-FFF2-40B4-BE49-F238E27FC236}">
                  <a16:creationId xmlns:a16="http://schemas.microsoft.com/office/drawing/2014/main" id="{3B118486-AC64-4165-8B2E-5B76C4585CCF}"/>
                </a:ext>
              </a:extLst>
            </p:cNvPr>
            <p:cNvSpPr/>
            <p:nvPr/>
          </p:nvSpPr>
          <p:spPr>
            <a:xfrm>
              <a:off x="5589270" y="4790840"/>
              <a:ext cx="551444" cy="333574"/>
            </a:xfrm>
            <a:prstGeom prst="rect">
              <a:avLst/>
            </a:prstGeom>
            <a:noFill/>
            <a:ln w="1905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/>
            </a:p>
          </p:txBody>
        </p:sp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054CDE67-90E0-437D-AA61-8FDEB13E2198}"/>
                </a:ext>
              </a:extLst>
            </p:cNvPr>
            <p:cNvSpPr/>
            <p:nvPr/>
          </p:nvSpPr>
          <p:spPr>
            <a:xfrm>
              <a:off x="5756645" y="5518190"/>
              <a:ext cx="191902" cy="20433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/>
            </a:p>
          </p:txBody>
        </p:sp>
      </p:grpSp>
      <p:sp>
        <p:nvSpPr>
          <p:cNvPr id="76" name="Textfeld 75">
            <a:extLst>
              <a:ext uri="{FF2B5EF4-FFF2-40B4-BE49-F238E27FC236}">
                <a16:creationId xmlns:a16="http://schemas.microsoft.com/office/drawing/2014/main" id="{258F9830-AC9B-4E25-976B-F46290EA195B}"/>
              </a:ext>
            </a:extLst>
          </p:cNvPr>
          <p:cNvSpPr txBox="1"/>
          <p:nvPr/>
        </p:nvSpPr>
        <p:spPr>
          <a:xfrm>
            <a:off x="6649840" y="4779502"/>
            <a:ext cx="17328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Was passiert gerade hier?</a:t>
            </a:r>
          </a:p>
          <a:p>
            <a:r>
              <a:rPr lang="de-DE" dirty="0"/>
              <a:t>Was kann das</a:t>
            </a:r>
          </a:p>
          <a:p>
            <a:r>
              <a:rPr lang="de-DE" dirty="0"/>
              <a:t>BS machen?</a:t>
            </a:r>
          </a:p>
        </p:txBody>
      </p:sp>
      <p:sp>
        <p:nvSpPr>
          <p:cNvPr id="77" name="Pfeil: nach links 76">
            <a:extLst>
              <a:ext uri="{FF2B5EF4-FFF2-40B4-BE49-F238E27FC236}">
                <a16:creationId xmlns:a16="http://schemas.microsoft.com/office/drawing/2014/main" id="{4F36D713-69CD-4D58-9F00-3A841D20C417}"/>
              </a:ext>
            </a:extLst>
          </p:cNvPr>
          <p:cNvSpPr/>
          <p:nvPr/>
        </p:nvSpPr>
        <p:spPr>
          <a:xfrm>
            <a:off x="6381670" y="5193535"/>
            <a:ext cx="213584" cy="379027"/>
          </a:xfrm>
          <a:prstGeom prst="lef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hteck 9">
            <a:extLst>
              <a:ext uri="{FF2B5EF4-FFF2-40B4-BE49-F238E27FC236}">
                <a16:creationId xmlns:a16="http://schemas.microsoft.com/office/drawing/2014/main" id="{8065BE37-99DE-497D-9F11-76B0D667FDFE}"/>
              </a:ext>
            </a:extLst>
          </p:cNvPr>
          <p:cNvSpPr/>
          <p:nvPr/>
        </p:nvSpPr>
        <p:spPr>
          <a:xfrm>
            <a:off x="182072" y="2580200"/>
            <a:ext cx="2933806" cy="3385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sz="1600" dirty="0"/>
              <a:t>Was bedeutet „Scheduling“?</a:t>
            </a:r>
            <a:endParaRPr lang="en-US" sz="1200" dirty="0"/>
          </a:p>
        </p:txBody>
      </p:sp>
      <p:sp>
        <p:nvSpPr>
          <p:cNvPr id="78" name="Rechteck 9">
            <a:extLst>
              <a:ext uri="{FF2B5EF4-FFF2-40B4-BE49-F238E27FC236}">
                <a16:creationId xmlns:a16="http://schemas.microsoft.com/office/drawing/2014/main" id="{1D7FBCF6-8699-4AA0-AD19-88CA9B0A0B96}"/>
              </a:ext>
            </a:extLst>
          </p:cNvPr>
          <p:cNvSpPr/>
          <p:nvPr/>
        </p:nvSpPr>
        <p:spPr>
          <a:xfrm>
            <a:off x="303420" y="3065013"/>
            <a:ext cx="3893352" cy="3385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sz="1600" dirty="0"/>
              <a:t>Problem von First-Come-First-</a:t>
            </a:r>
            <a:r>
              <a:rPr lang="de-DE" sz="1600" dirty="0" err="1"/>
              <a:t>Served</a:t>
            </a:r>
            <a:r>
              <a:rPr lang="de-DE" sz="1600" dirty="0"/>
              <a:t>?</a:t>
            </a:r>
            <a:endParaRPr lang="en-US" sz="1200" dirty="0"/>
          </a:p>
        </p:txBody>
      </p:sp>
      <p:sp>
        <p:nvSpPr>
          <p:cNvPr id="79" name="Rechteck 9">
            <a:extLst>
              <a:ext uri="{FF2B5EF4-FFF2-40B4-BE49-F238E27FC236}">
                <a16:creationId xmlns:a16="http://schemas.microsoft.com/office/drawing/2014/main" id="{0DC0D141-0815-468F-9CCC-597A3B94101E}"/>
              </a:ext>
            </a:extLst>
          </p:cNvPr>
          <p:cNvSpPr/>
          <p:nvPr/>
        </p:nvSpPr>
        <p:spPr>
          <a:xfrm>
            <a:off x="5946169" y="2023257"/>
            <a:ext cx="2596065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sz="1600" dirty="0"/>
              <a:t>Wie funktioniert </a:t>
            </a:r>
            <a:r>
              <a:rPr lang="de-DE" sz="1600" dirty="0" err="1"/>
              <a:t>Shortest</a:t>
            </a:r>
            <a:r>
              <a:rPr lang="de-DE" sz="1600" dirty="0"/>
              <a:t> </a:t>
            </a:r>
            <a:r>
              <a:rPr lang="de-DE" sz="1600" dirty="0" err="1"/>
              <a:t>Remaining</a:t>
            </a:r>
            <a:r>
              <a:rPr lang="de-DE" sz="1600" dirty="0"/>
              <a:t> Time First?</a:t>
            </a:r>
            <a:endParaRPr lang="en-US" sz="1200" dirty="0"/>
          </a:p>
        </p:txBody>
      </p:sp>
      <p:sp>
        <p:nvSpPr>
          <p:cNvPr id="80" name="Rechteck 9">
            <a:extLst>
              <a:ext uri="{FF2B5EF4-FFF2-40B4-BE49-F238E27FC236}">
                <a16:creationId xmlns:a16="http://schemas.microsoft.com/office/drawing/2014/main" id="{BE9BCDEB-ACD8-419C-A5EB-DCEA60650849}"/>
              </a:ext>
            </a:extLst>
          </p:cNvPr>
          <p:cNvSpPr/>
          <p:nvPr/>
        </p:nvSpPr>
        <p:spPr>
          <a:xfrm>
            <a:off x="4609012" y="2831151"/>
            <a:ext cx="3758899" cy="3385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sz="1600" dirty="0"/>
              <a:t>Was ist EMA, wie berechnet man es?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76220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Scheduling von Prozessen - Grundlagen</a:t>
            </a:r>
          </a:p>
        </p:txBody>
      </p:sp>
    </p:spTree>
    <p:extLst>
      <p:ext uri="{BB962C8B-B14F-4D97-AF65-F5344CB8AC3E}">
        <p14:creationId xmlns:p14="http://schemas.microsoft.com/office/powerpoint/2010/main" val="1041644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Scheduling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251520" y="1196752"/>
            <a:ext cx="6491064" cy="5210196"/>
          </a:xfrm>
        </p:spPr>
        <p:txBody>
          <a:bodyPr>
            <a:norm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Scheduling </a:t>
            </a:r>
            <a:r>
              <a:rPr lang="de-DE" dirty="0">
                <a:solidFill>
                  <a:srgbClr val="000000"/>
                </a:solidFill>
              </a:rPr>
              <a:t>(</a:t>
            </a:r>
            <a:r>
              <a:rPr lang="de-DE" b="1" dirty="0">
                <a:solidFill>
                  <a:srgbClr val="FF0000"/>
                </a:solidFill>
              </a:rPr>
              <a:t>S</a:t>
            </a:r>
            <a:r>
              <a:rPr lang="de-DE" dirty="0">
                <a:solidFill>
                  <a:srgbClr val="000000"/>
                </a:solidFill>
              </a:rPr>
              <a:t>)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dirty="0"/>
              <a:t>= Ablaufsteuerung, Zuteilung</a:t>
            </a:r>
          </a:p>
          <a:p>
            <a:r>
              <a:rPr lang="de-DE" dirty="0"/>
              <a:t>Auf einem multiprogrammierbaren System konkurrieren mehrere Prozesse oder Threads zur selben Zeit um CPU</a:t>
            </a:r>
          </a:p>
          <a:p>
            <a:r>
              <a:rPr lang="de-DE" dirty="0"/>
              <a:t>Der Teil des BS, der entscheidet, welcher Prozess (und wann) rechnen darf, heißt </a:t>
            </a:r>
            <a:r>
              <a:rPr lang="de-DE" b="1" dirty="0">
                <a:solidFill>
                  <a:srgbClr val="FF0000"/>
                </a:solidFill>
              </a:rPr>
              <a:t>Scheduler</a:t>
            </a:r>
          </a:p>
          <a:p>
            <a:r>
              <a:rPr lang="de-DE" dirty="0"/>
              <a:t>Die Strategie, nach der er den nächsten zu rechnenden Prozess bestimmt, heißt </a:t>
            </a:r>
            <a:r>
              <a:rPr lang="de-DE" b="1" dirty="0">
                <a:solidFill>
                  <a:srgbClr val="FF0000"/>
                </a:solidFill>
              </a:rPr>
              <a:t>Scheduling-Strategie </a:t>
            </a:r>
          </a:p>
          <a:p>
            <a:pPr lvl="1"/>
            <a:r>
              <a:rPr lang="de-DE" dirty="0"/>
              <a:t>Implementiert von einem Scheduler</a:t>
            </a:r>
          </a:p>
        </p:txBody>
      </p:sp>
      <p:pic>
        <p:nvPicPr>
          <p:cNvPr id="1026" name="Picture 2" descr="C:\Artur\Academic\Lehre\10.WS-IBN\VL\figures\vl18\linux kernel map (processing part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04248" y="116632"/>
            <a:ext cx="1440160" cy="6021288"/>
          </a:xfrm>
          <a:prstGeom prst="rect">
            <a:avLst/>
          </a:prstGeom>
          <a:noFill/>
        </p:spPr>
      </p:pic>
      <p:sp>
        <p:nvSpPr>
          <p:cNvPr id="6" name="Textfeld 5"/>
          <p:cNvSpPr txBox="1"/>
          <p:nvPr/>
        </p:nvSpPr>
        <p:spPr>
          <a:xfrm>
            <a:off x="6588224" y="6093296"/>
            <a:ext cx="19929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hlinkClick r:id="rId3"/>
              </a:rPr>
              <a:t>linux</a:t>
            </a:r>
            <a:r>
              <a:rPr lang="de-DE" dirty="0">
                <a:hlinkClick r:id="rId3"/>
              </a:rPr>
              <a:t> </a:t>
            </a:r>
            <a:r>
              <a:rPr lang="de-DE" dirty="0" err="1">
                <a:hlinkClick r:id="rId3"/>
              </a:rPr>
              <a:t>kernel</a:t>
            </a:r>
            <a:r>
              <a:rPr lang="de-DE" dirty="0">
                <a:hlinkClick r:id="rId3"/>
              </a:rPr>
              <a:t> </a:t>
            </a:r>
            <a:r>
              <a:rPr lang="de-DE" dirty="0" err="1">
                <a:hlinkClick r:id="rId3"/>
              </a:rPr>
              <a:t>map</a:t>
            </a:r>
            <a:endParaRPr lang="de-DE" dirty="0"/>
          </a:p>
          <a:p>
            <a:r>
              <a:rPr lang="de-DE" dirty="0"/>
              <a:t>(Teil: </a:t>
            </a:r>
            <a:r>
              <a:rPr lang="de-DE" dirty="0" err="1"/>
              <a:t>processing</a:t>
            </a:r>
            <a:r>
              <a:rPr lang="de-DE" dirty="0"/>
              <a:t>)</a:t>
            </a:r>
          </a:p>
        </p:txBody>
      </p:sp>
      <p:sp>
        <p:nvSpPr>
          <p:cNvPr id="7" name="Ellipse 6"/>
          <p:cNvSpPr/>
          <p:nvPr/>
        </p:nvSpPr>
        <p:spPr>
          <a:xfrm>
            <a:off x="6372200" y="3284984"/>
            <a:ext cx="2376264" cy="1008112"/>
          </a:xfrm>
          <a:prstGeom prst="ellipse">
            <a:avLst/>
          </a:prstGeom>
          <a:solidFill>
            <a:srgbClr val="FFFF00">
              <a:alpha val="13000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" name="Gerade Verbindung mit Pfeil 8"/>
          <p:cNvCxnSpPr/>
          <p:nvPr/>
        </p:nvCxnSpPr>
        <p:spPr>
          <a:xfrm flipV="1">
            <a:off x="3851920" y="4077072"/>
            <a:ext cx="2664296" cy="28803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376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Prozessverhalten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63272" cy="5210196"/>
          </a:xfrm>
        </p:spPr>
        <p:txBody>
          <a:bodyPr/>
          <a:lstStyle/>
          <a:p>
            <a:r>
              <a:rPr lang="de-DE" dirty="0"/>
              <a:t>Die Effizienz der S.-Verfahren hängt u.a. davon ab, ob das Verhalten der Prozesse berücksichtigt wurde</a:t>
            </a:r>
          </a:p>
          <a:p>
            <a:r>
              <a:rPr lang="de-DE" dirty="0"/>
              <a:t>Ein Prozess wechselt zwischen einer Berechnungsphase (</a:t>
            </a:r>
            <a:r>
              <a:rPr lang="de-DE" b="1" dirty="0">
                <a:solidFill>
                  <a:srgbClr val="FF0000"/>
                </a:solidFill>
              </a:rPr>
              <a:t>CPU </a:t>
            </a:r>
            <a:r>
              <a:rPr lang="de-DE" b="1" dirty="0" err="1">
                <a:solidFill>
                  <a:srgbClr val="FF0000"/>
                </a:solidFill>
              </a:rPr>
              <a:t>burst</a:t>
            </a:r>
            <a:r>
              <a:rPr lang="de-DE" dirty="0"/>
              <a:t>) und I/O-Phase des I/O-Wartens plus I/O-Operationen (</a:t>
            </a:r>
            <a:r>
              <a:rPr lang="de-DE" b="1" dirty="0">
                <a:solidFill>
                  <a:srgbClr val="FF0000"/>
                </a:solidFill>
              </a:rPr>
              <a:t>I/O </a:t>
            </a:r>
            <a:r>
              <a:rPr lang="de-DE" b="1" dirty="0" err="1">
                <a:solidFill>
                  <a:srgbClr val="FF0000"/>
                </a:solidFill>
              </a:rPr>
              <a:t>burst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Diese Phasen wechseln sich ab</a:t>
            </a:r>
          </a:p>
          <a:p>
            <a:r>
              <a:rPr lang="de-DE" dirty="0"/>
              <a:t>Die Länge der Berechnungsphase ist bei Prozessen unterschiedlich </a:t>
            </a:r>
          </a:p>
          <a:p>
            <a:pPr lvl="1"/>
            <a:r>
              <a:rPr lang="de-DE" dirty="0"/>
              <a:t>Aber kurze B-phasen überwiegen stark – Länge hat meist </a:t>
            </a:r>
            <a:r>
              <a:rPr lang="de-DE" dirty="0">
                <a:hlinkClick r:id="rId2"/>
              </a:rPr>
              <a:t>Exponentialverteilung</a:t>
            </a:r>
            <a:r>
              <a:rPr lang="de-DE" dirty="0"/>
              <a:t> oder verwandte Verteilung</a:t>
            </a:r>
          </a:p>
          <a:p>
            <a:r>
              <a:rPr lang="de-DE" dirty="0"/>
              <a:t>Die Länge der I/O-Phase ist oft gleich - warum?</a:t>
            </a:r>
          </a:p>
        </p:txBody>
      </p:sp>
    </p:spTree>
    <p:extLst>
      <p:ext uri="{BB962C8B-B14F-4D97-AF65-F5344CB8AC3E}">
        <p14:creationId xmlns:p14="http://schemas.microsoft.com/office/powerpoint/2010/main" val="667082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Prozessverhalten /2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857872"/>
          </a:xfrm>
        </p:spPr>
        <p:txBody>
          <a:bodyPr/>
          <a:lstStyle/>
          <a:p>
            <a:r>
              <a:rPr lang="de-DE" dirty="0"/>
              <a:t>Abhängig vom Verhältnis der Längen der beiden Phasen werden Prozesse bezeichnet als …</a:t>
            </a:r>
          </a:p>
          <a:p>
            <a:pPr lvl="1"/>
            <a:r>
              <a:rPr lang="de-DE" b="1" dirty="0">
                <a:solidFill>
                  <a:srgbClr val="FF0000"/>
                </a:solidFill>
              </a:rPr>
              <a:t>Rechenintensiv </a:t>
            </a:r>
            <a:r>
              <a:rPr lang="de-DE" dirty="0"/>
              <a:t>(</a:t>
            </a:r>
            <a:r>
              <a:rPr lang="de-DE" b="1" dirty="0" err="1">
                <a:solidFill>
                  <a:srgbClr val="FF0000"/>
                </a:solidFill>
              </a:rPr>
              <a:t>compute-bound</a:t>
            </a:r>
            <a:r>
              <a:rPr lang="de-DE" dirty="0"/>
              <a:t>) bzw. </a:t>
            </a:r>
            <a:r>
              <a:rPr lang="de-DE" b="1" dirty="0">
                <a:solidFill>
                  <a:srgbClr val="FF0000"/>
                </a:solidFill>
              </a:rPr>
              <a:t>CPU-intensiv</a:t>
            </a:r>
            <a:r>
              <a:rPr lang="de-DE" dirty="0"/>
              <a:t> (</a:t>
            </a:r>
            <a:r>
              <a:rPr lang="de-DE" b="1" dirty="0">
                <a:solidFill>
                  <a:srgbClr val="FF0000"/>
                </a:solidFill>
              </a:rPr>
              <a:t>CPU-bound</a:t>
            </a:r>
            <a:r>
              <a:rPr lang="de-DE" dirty="0"/>
              <a:t>) – sie haben lange CPU-Burst-Phasen</a:t>
            </a:r>
          </a:p>
          <a:p>
            <a:pPr lvl="1"/>
            <a:r>
              <a:rPr lang="de-DE" dirty="0"/>
              <a:t>… Oder </a:t>
            </a:r>
            <a:r>
              <a:rPr lang="de-DE" b="1" dirty="0">
                <a:solidFill>
                  <a:srgbClr val="FF0000"/>
                </a:solidFill>
              </a:rPr>
              <a:t>I/O-intensiv</a:t>
            </a:r>
            <a:r>
              <a:rPr lang="de-DE" dirty="0"/>
              <a:t> (</a:t>
            </a:r>
            <a:r>
              <a:rPr lang="de-DE" b="1" dirty="0">
                <a:solidFill>
                  <a:srgbClr val="FF0000"/>
                </a:solidFill>
              </a:rPr>
              <a:t>I/O-bound</a:t>
            </a:r>
            <a:r>
              <a:rPr lang="de-DE" dirty="0"/>
              <a:t>) </a:t>
            </a:r>
          </a:p>
          <a:p>
            <a:pPr lvl="2"/>
            <a:r>
              <a:rPr lang="de-DE" dirty="0"/>
              <a:t>Diese müssen i.A. nicht länger auf I/O-warten, sondern haben einfach </a:t>
            </a:r>
            <a:r>
              <a:rPr lang="de-DE" u="sng" dirty="0"/>
              <a:t>kürzere</a:t>
            </a:r>
            <a:r>
              <a:rPr lang="de-DE" dirty="0"/>
              <a:t> CPU-Burst-Phasen</a:t>
            </a:r>
          </a:p>
        </p:txBody>
      </p:sp>
      <p:grpSp>
        <p:nvGrpSpPr>
          <p:cNvPr id="22" name="Gruppieren 21"/>
          <p:cNvGrpSpPr/>
          <p:nvPr/>
        </p:nvGrpSpPr>
        <p:grpSpPr>
          <a:xfrm>
            <a:off x="611560" y="4437112"/>
            <a:ext cx="6912768" cy="1296144"/>
            <a:chOff x="611560" y="4437112"/>
            <a:chExt cx="7560840" cy="1296144"/>
          </a:xfrm>
        </p:grpSpPr>
        <p:sp>
          <p:nvSpPr>
            <p:cNvPr id="5" name="Rechteck 4"/>
            <p:cNvSpPr/>
            <p:nvPr/>
          </p:nvSpPr>
          <p:spPr>
            <a:xfrm>
              <a:off x="611560" y="4437112"/>
              <a:ext cx="1800200" cy="21602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/>
            <p:cNvSpPr/>
            <p:nvPr/>
          </p:nvSpPr>
          <p:spPr>
            <a:xfrm>
              <a:off x="2915816" y="4437112"/>
              <a:ext cx="1224136" cy="21602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Rechteck 6"/>
            <p:cNvSpPr/>
            <p:nvPr/>
          </p:nvSpPr>
          <p:spPr>
            <a:xfrm>
              <a:off x="4788024" y="4437112"/>
              <a:ext cx="864096" cy="21602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Rechteck 7"/>
            <p:cNvSpPr/>
            <p:nvPr/>
          </p:nvSpPr>
          <p:spPr>
            <a:xfrm>
              <a:off x="6372200" y="4437112"/>
              <a:ext cx="1800200" cy="21602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/>
            <p:cNvSpPr/>
            <p:nvPr/>
          </p:nvSpPr>
          <p:spPr>
            <a:xfrm>
              <a:off x="611560" y="5517232"/>
              <a:ext cx="432048" cy="21602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/>
            <p:cNvSpPr/>
            <p:nvPr/>
          </p:nvSpPr>
          <p:spPr>
            <a:xfrm>
              <a:off x="1619672" y="5517232"/>
              <a:ext cx="576064" cy="21602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/>
            <p:cNvSpPr/>
            <p:nvPr/>
          </p:nvSpPr>
          <p:spPr>
            <a:xfrm>
              <a:off x="2699792" y="5517232"/>
              <a:ext cx="216024" cy="21602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eck 11"/>
            <p:cNvSpPr/>
            <p:nvPr/>
          </p:nvSpPr>
          <p:spPr>
            <a:xfrm>
              <a:off x="3419872" y="5517232"/>
              <a:ext cx="360040" cy="21602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/>
            <p:cNvSpPr/>
            <p:nvPr/>
          </p:nvSpPr>
          <p:spPr>
            <a:xfrm>
              <a:off x="4427984" y="5517232"/>
              <a:ext cx="72008" cy="21602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/>
            <p:cNvSpPr/>
            <p:nvPr/>
          </p:nvSpPr>
          <p:spPr>
            <a:xfrm>
              <a:off x="5004048" y="5517232"/>
              <a:ext cx="72008" cy="21602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Rechteck 14"/>
            <p:cNvSpPr/>
            <p:nvPr/>
          </p:nvSpPr>
          <p:spPr>
            <a:xfrm>
              <a:off x="5508104" y="5517232"/>
              <a:ext cx="432048" cy="21602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/>
            <p:cNvSpPr/>
            <p:nvPr/>
          </p:nvSpPr>
          <p:spPr>
            <a:xfrm>
              <a:off x="6516216" y="5517232"/>
              <a:ext cx="432048" cy="21602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Rechteck 16"/>
            <p:cNvSpPr/>
            <p:nvPr/>
          </p:nvSpPr>
          <p:spPr>
            <a:xfrm>
              <a:off x="7524328" y="5517232"/>
              <a:ext cx="72008" cy="21602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Rechteck 17"/>
            <p:cNvSpPr/>
            <p:nvPr/>
          </p:nvSpPr>
          <p:spPr>
            <a:xfrm>
              <a:off x="8028384" y="5517232"/>
              <a:ext cx="72008" cy="21602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Textfeld 18"/>
            <p:cNvSpPr txBox="1"/>
            <p:nvPr/>
          </p:nvSpPr>
          <p:spPr>
            <a:xfrm>
              <a:off x="755576" y="4869160"/>
              <a:ext cx="12618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CPU-</a:t>
              </a:r>
              <a:r>
                <a:rPr lang="de-DE" dirty="0" err="1"/>
                <a:t>burst</a:t>
              </a:r>
              <a:endParaRPr lang="de-DE" dirty="0"/>
            </a:p>
          </p:txBody>
        </p:sp>
        <p:cxnSp>
          <p:nvCxnSpPr>
            <p:cNvPr id="21" name="Gerade Verbindung mit Pfeil 20"/>
            <p:cNvCxnSpPr>
              <a:stCxn id="19" idx="0"/>
            </p:cNvCxnSpPr>
            <p:nvPr/>
          </p:nvCxnSpPr>
          <p:spPr>
            <a:xfrm rot="5400000" flipH="1" flipV="1">
              <a:off x="1431087" y="4608567"/>
              <a:ext cx="216024" cy="30516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feld 22"/>
          <p:cNvSpPr txBox="1"/>
          <p:nvPr/>
        </p:nvSpPr>
        <p:spPr>
          <a:xfrm>
            <a:off x="7596336" y="4365104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CPU-</a:t>
            </a:r>
            <a:r>
              <a:rPr lang="de-DE" dirty="0" err="1"/>
              <a:t>Bound</a:t>
            </a:r>
            <a:endParaRPr lang="de-DE" dirty="0"/>
          </a:p>
        </p:txBody>
      </p:sp>
      <p:sp>
        <p:nvSpPr>
          <p:cNvPr id="24" name="Textfeld 23"/>
          <p:cNvSpPr txBox="1"/>
          <p:nvPr/>
        </p:nvSpPr>
        <p:spPr>
          <a:xfrm>
            <a:off x="7740352" y="5445224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I/O-</a:t>
            </a:r>
            <a:r>
              <a:rPr lang="de-DE" dirty="0" err="1"/>
              <a:t>Bound</a:t>
            </a:r>
            <a:endParaRPr lang="de-DE" dirty="0"/>
          </a:p>
        </p:txBody>
      </p:sp>
      <p:sp>
        <p:nvSpPr>
          <p:cNvPr id="25" name="Textfeld 24"/>
          <p:cNvSpPr txBox="1"/>
          <p:nvPr/>
        </p:nvSpPr>
        <p:spPr>
          <a:xfrm>
            <a:off x="4211960" y="4869160"/>
            <a:ext cx="3221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I/O-Warten + I/O-Operationen</a:t>
            </a:r>
          </a:p>
        </p:txBody>
      </p:sp>
      <p:cxnSp>
        <p:nvCxnSpPr>
          <p:cNvPr id="27" name="Gerade Verbindung mit Pfeil 26"/>
          <p:cNvCxnSpPr>
            <a:stCxn id="25" idx="1"/>
          </p:cNvCxnSpPr>
          <p:nvPr/>
        </p:nvCxnSpPr>
        <p:spPr>
          <a:xfrm rot="10800000">
            <a:off x="4067944" y="4581128"/>
            <a:ext cx="144016" cy="47269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/>
          <p:cNvCxnSpPr/>
          <p:nvPr/>
        </p:nvCxnSpPr>
        <p:spPr>
          <a:xfrm rot="10800000" flipV="1">
            <a:off x="4355976" y="5229200"/>
            <a:ext cx="432048" cy="28803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31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allAtOnce"/>
      <p:bldP spid="24" grpId="0" build="allAtOnce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Kategorien von Scheduling-Strategien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Wahl der S.-Strategie ist abhängig von der Art der Systemnutzung (und dem Verhalten der Prozesse)</a:t>
            </a:r>
          </a:p>
          <a:p>
            <a:r>
              <a:rPr lang="de-DE" dirty="0"/>
              <a:t>Drei Typen von Umgebungen</a:t>
            </a:r>
          </a:p>
          <a:p>
            <a:pPr lvl="1"/>
            <a:r>
              <a:rPr lang="de-DE" b="1" dirty="0">
                <a:solidFill>
                  <a:srgbClr val="FF0000"/>
                </a:solidFill>
              </a:rPr>
              <a:t>Stapelverarbeitung</a:t>
            </a:r>
          </a:p>
          <a:p>
            <a:pPr lvl="2"/>
            <a:r>
              <a:rPr lang="de-DE" sz="2200" dirty="0"/>
              <a:t>Unternehmen: Buchhaltung, Datenanalysen</a:t>
            </a:r>
          </a:p>
          <a:p>
            <a:pPr lvl="2"/>
            <a:r>
              <a:rPr lang="de-DE" sz="2200" dirty="0"/>
              <a:t>Wissenschaftliches Rechnen, z.B. Simulationen</a:t>
            </a:r>
          </a:p>
          <a:p>
            <a:pPr lvl="1"/>
            <a:r>
              <a:rPr lang="de-DE" b="1" dirty="0">
                <a:solidFill>
                  <a:srgbClr val="FF0000"/>
                </a:solidFill>
              </a:rPr>
              <a:t>Interaktivität</a:t>
            </a:r>
          </a:p>
          <a:p>
            <a:pPr lvl="2"/>
            <a:r>
              <a:rPr lang="de-DE" sz="2200" dirty="0"/>
              <a:t>Unsere Laptops / Desktops</a:t>
            </a:r>
          </a:p>
          <a:p>
            <a:pPr lvl="1"/>
            <a:r>
              <a:rPr lang="de-DE" b="1" dirty="0">
                <a:solidFill>
                  <a:srgbClr val="FF0000"/>
                </a:solidFill>
              </a:rPr>
              <a:t>Echtzeit</a:t>
            </a:r>
          </a:p>
          <a:p>
            <a:pPr lvl="2"/>
            <a:r>
              <a:rPr lang="de-DE" dirty="0"/>
              <a:t>Maschinen- und Anlagensteuerung</a:t>
            </a:r>
          </a:p>
          <a:p>
            <a:pPr lvl="2"/>
            <a:r>
              <a:rPr lang="de-DE" dirty="0"/>
              <a:t>Mobile Geräte wie Navigation, Telefon</a:t>
            </a:r>
          </a:p>
          <a:p>
            <a:pPr lvl="2"/>
            <a:r>
              <a:rPr lang="de-DE" dirty="0"/>
              <a:t>Eingebettete Systeme, z.B. in Autos, </a:t>
            </a:r>
            <a:r>
              <a:rPr lang="de-DE" dirty="0" err="1"/>
              <a:t>FritzBox</a:t>
            </a:r>
            <a:r>
              <a:rPr lang="de-DE" dirty="0"/>
              <a:t>, Waschmaschine</a:t>
            </a:r>
          </a:p>
        </p:txBody>
      </p:sp>
    </p:spTree>
    <p:extLst>
      <p:ext uri="{BB962C8B-B14F-4D97-AF65-F5344CB8AC3E}">
        <p14:creationId xmlns:p14="http://schemas.microsoft.com/office/powerpoint/2010/main" val="94528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Wann ist </a:t>
            </a:r>
            <a:r>
              <a:rPr lang="de-DE" dirty="0" err="1"/>
              <a:t>Scheduling</a:t>
            </a:r>
            <a:r>
              <a:rPr lang="de-DE" dirty="0"/>
              <a:t> nötig/möglich? /1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27</a:t>
            </a:fld>
            <a:endParaRPr lang="en-US" noProof="0" dirty="0"/>
          </a:p>
        </p:txBody>
      </p:sp>
      <p:grpSp>
        <p:nvGrpSpPr>
          <p:cNvPr id="22" name="Gruppieren 21"/>
          <p:cNvGrpSpPr/>
          <p:nvPr/>
        </p:nvGrpSpPr>
        <p:grpSpPr>
          <a:xfrm>
            <a:off x="145494" y="1282863"/>
            <a:ext cx="8659529" cy="5314369"/>
            <a:chOff x="145494" y="1282863"/>
            <a:chExt cx="8659529" cy="5314369"/>
          </a:xfrm>
        </p:grpSpPr>
        <p:sp>
          <p:nvSpPr>
            <p:cNvPr id="5" name="Rounded Rectangle 4"/>
            <p:cNvSpPr/>
            <p:nvPr/>
          </p:nvSpPr>
          <p:spPr>
            <a:xfrm>
              <a:off x="145494" y="1299497"/>
              <a:ext cx="2952328" cy="10800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b="1" dirty="0">
                  <a:solidFill>
                    <a:srgbClr val="FF0000"/>
                  </a:solidFill>
                </a:rPr>
                <a:t>Neu</a:t>
              </a:r>
              <a:r>
                <a:rPr lang="de-DE" sz="2000" dirty="0"/>
                <a:t>: Prozess wird erstellt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45494" y="3224239"/>
              <a:ext cx="3672408" cy="108012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b="1" dirty="0">
                  <a:solidFill>
                    <a:srgbClr val="FF0000"/>
                  </a:solidFill>
                </a:rPr>
                <a:t>Bereit (ready)</a:t>
              </a:r>
              <a:r>
                <a:rPr lang="de-DE" sz="2000" dirty="0"/>
                <a:t>: Prozess wartet, um zu einer CPU zugeordnet zu werden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852695" y="3223308"/>
              <a:ext cx="2952328" cy="108012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b="1" dirty="0">
                  <a:solidFill>
                    <a:srgbClr val="FF0000"/>
                  </a:solidFill>
                </a:rPr>
                <a:t>Laufend (running)</a:t>
              </a:r>
              <a:r>
                <a:rPr lang="de-DE" sz="2000" dirty="0"/>
                <a:t>: Prozess wird ausgeführt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843808" y="5517232"/>
              <a:ext cx="3886400" cy="10800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b="1" dirty="0">
                  <a:solidFill>
                    <a:srgbClr val="FF0000"/>
                  </a:solidFill>
                </a:rPr>
                <a:t>Wartend (waiting </a:t>
              </a:r>
            </a:p>
            <a:p>
              <a:pPr algn="ctr"/>
              <a:r>
                <a:rPr lang="de-DE" sz="2000" dirty="0">
                  <a:solidFill>
                    <a:schemeClr val="tx1"/>
                  </a:solidFill>
                </a:rPr>
                <a:t>bzw.</a:t>
              </a:r>
              <a:r>
                <a:rPr lang="de-DE" sz="2000" b="1" dirty="0">
                  <a:solidFill>
                    <a:srgbClr val="FF0000"/>
                  </a:solidFill>
                </a:rPr>
                <a:t> blocked)</a:t>
              </a:r>
              <a:r>
                <a:rPr lang="de-DE" sz="2000" dirty="0"/>
                <a:t>: </a:t>
              </a:r>
            </a:p>
            <a:p>
              <a:pPr algn="ctr"/>
              <a:r>
                <a:rPr lang="de-DE" sz="2000" dirty="0"/>
                <a:t>Prozess wartet auf ein Ereignis 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834126" y="1282863"/>
              <a:ext cx="2952328" cy="10800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b="1" dirty="0">
                  <a:solidFill>
                    <a:srgbClr val="FF0000"/>
                  </a:solidFill>
                </a:rPr>
                <a:t>Beendet (terminated)</a:t>
              </a:r>
              <a:r>
                <a:rPr lang="de-DE" sz="2000" dirty="0"/>
                <a:t>: Der Prozess hat die Ausführung beendet</a:t>
              </a:r>
            </a:p>
          </p:txBody>
        </p:sp>
        <p:cxnSp>
          <p:nvCxnSpPr>
            <p:cNvPr id="11" name="Straight Arrow Connector 10"/>
            <p:cNvCxnSpPr>
              <a:stCxn id="5" idx="2"/>
              <a:endCxn id="7" idx="0"/>
            </p:cNvCxnSpPr>
            <p:nvPr/>
          </p:nvCxnSpPr>
          <p:spPr>
            <a:xfrm>
              <a:off x="1621658" y="2379497"/>
              <a:ext cx="360040" cy="844742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909690" y="2515422"/>
              <a:ext cx="15119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dirty="0"/>
                <a:t>Zugelassen</a:t>
              </a:r>
            </a:p>
          </p:txBody>
        </p:sp>
        <p:cxnSp>
          <p:nvCxnSpPr>
            <p:cNvPr id="13" name="Straight Arrow Connector 12"/>
            <p:cNvCxnSpPr>
              <a:stCxn id="8" idx="0"/>
              <a:endCxn id="10" idx="2"/>
            </p:cNvCxnSpPr>
            <p:nvPr/>
          </p:nvCxnSpPr>
          <p:spPr>
            <a:xfrm flipH="1" flipV="1">
              <a:off x="7310290" y="2362863"/>
              <a:ext cx="18569" cy="860445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5648206" y="2492896"/>
              <a:ext cx="29017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2000" dirty="0"/>
                <a:t>Fehler; fertig;  terminiert</a:t>
              </a:r>
            </a:p>
          </p:txBody>
        </p:sp>
        <p:cxnSp>
          <p:nvCxnSpPr>
            <p:cNvPr id="16" name="Elbow Connector 15"/>
            <p:cNvCxnSpPr>
              <a:stCxn id="7" idx="2"/>
              <a:endCxn id="8" idx="2"/>
            </p:cNvCxnSpPr>
            <p:nvPr/>
          </p:nvCxnSpPr>
          <p:spPr>
            <a:xfrm rot="5400000" flipH="1" flipV="1">
              <a:off x="4654812" y="1630313"/>
              <a:ext cx="931" cy="5347161"/>
            </a:xfrm>
            <a:prstGeom prst="bentConnector3">
              <a:avLst>
                <a:gd name="adj1" fmla="val -24554243"/>
              </a:avLst>
            </a:prstGeom>
            <a:ln>
              <a:solidFill>
                <a:srgbClr val="FFC000"/>
              </a:solidFill>
              <a:headEnd type="arrow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8" idx="1"/>
              <a:endCxn id="7" idx="3"/>
            </p:cNvCxnSpPr>
            <p:nvPr/>
          </p:nvCxnSpPr>
          <p:spPr>
            <a:xfrm flipH="1">
              <a:off x="3817902" y="3763368"/>
              <a:ext cx="2034793" cy="931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endCxn id="9" idx="3"/>
            </p:cNvCxnSpPr>
            <p:nvPr/>
          </p:nvCxnSpPr>
          <p:spPr>
            <a:xfrm flipH="1">
              <a:off x="6730208" y="4304358"/>
              <a:ext cx="1874240" cy="185743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7260075" y="5233073"/>
              <a:ext cx="1526379" cy="10762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2000" dirty="0"/>
                <a:t>I/O oder </a:t>
              </a:r>
            </a:p>
            <a:p>
              <a:pPr algn="r"/>
              <a:r>
                <a:rPr lang="de-DE" sz="2000" dirty="0"/>
                <a:t>warten auf </a:t>
              </a:r>
            </a:p>
            <a:p>
              <a:pPr algn="r"/>
              <a:r>
                <a:rPr lang="de-DE" sz="2000" dirty="0"/>
                <a:t>ein Ereignis</a:t>
              </a:r>
            </a:p>
          </p:txBody>
        </p:sp>
        <p:cxnSp>
          <p:nvCxnSpPr>
            <p:cNvPr id="30" name="Straight Arrow Connector 29"/>
            <p:cNvCxnSpPr>
              <a:stCxn id="9" idx="1"/>
            </p:cNvCxnSpPr>
            <p:nvPr/>
          </p:nvCxnSpPr>
          <p:spPr>
            <a:xfrm flipH="1" flipV="1">
              <a:off x="755576" y="4303428"/>
              <a:ext cx="2088232" cy="1753804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395536" y="5229200"/>
              <a:ext cx="176683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000" dirty="0"/>
                <a:t>I/O beendet </a:t>
              </a:r>
              <a:br>
                <a:rPr lang="de-DE" sz="2000" dirty="0"/>
              </a:br>
              <a:r>
                <a:rPr lang="de-DE" sz="2000" dirty="0"/>
                <a:t>oder Ereignis </a:t>
              </a:r>
            </a:p>
            <a:p>
              <a:pPr algn="ctr"/>
              <a:r>
                <a:rPr lang="de-DE" sz="2000" dirty="0"/>
                <a:t>aufgetreten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046974" y="2996952"/>
            <a:ext cx="14558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000" b="1" i="1" dirty="0"/>
              <a:t>Nach</a:t>
            </a:r>
            <a:r>
              <a:rPr lang="de-DE" sz="2000" dirty="0"/>
              <a:t> dem</a:t>
            </a:r>
          </a:p>
          <a:p>
            <a:pPr algn="ctr"/>
            <a:r>
              <a:rPr lang="de-DE" sz="2000" dirty="0"/>
              <a:t>Scheduling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1800" y="4581128"/>
            <a:ext cx="4257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/>
              <a:t>Interrupt (Zeitscheibe ging zu Ende)</a:t>
            </a:r>
          </a:p>
        </p:txBody>
      </p:sp>
    </p:spTree>
    <p:extLst>
      <p:ext uri="{BB962C8B-B14F-4D97-AF65-F5344CB8AC3E}">
        <p14:creationId xmlns:p14="http://schemas.microsoft.com/office/powerpoint/2010/main" val="24356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Wann ist </a:t>
            </a:r>
            <a:r>
              <a:rPr lang="de-DE" dirty="0" err="1"/>
              <a:t>Scheduling</a:t>
            </a:r>
            <a:r>
              <a:rPr lang="de-DE" dirty="0"/>
              <a:t> nötig/möglich? /2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de-DE" sz="2400" b="1" dirty="0">
                <a:solidFill>
                  <a:srgbClr val="FF0000"/>
                </a:solidFill>
              </a:rPr>
              <a:t>1. </a:t>
            </a:r>
            <a:r>
              <a:rPr lang="de-DE" sz="2400" dirty="0">
                <a:solidFill>
                  <a:schemeClr val="tx1"/>
                </a:solidFill>
              </a:rPr>
              <a:t>Wenn der Prozess von „</a:t>
            </a:r>
            <a:r>
              <a:rPr lang="de-DE" sz="2400" dirty="0" err="1">
                <a:solidFill>
                  <a:schemeClr val="tx1"/>
                </a:solidFill>
              </a:rPr>
              <a:t>running</a:t>
            </a:r>
            <a:r>
              <a:rPr lang="de-DE" sz="2400" dirty="0">
                <a:solidFill>
                  <a:schemeClr val="tx1"/>
                </a:solidFill>
              </a:rPr>
              <a:t>“ zu „</a:t>
            </a:r>
            <a:r>
              <a:rPr lang="de-DE" sz="2400" dirty="0" err="1">
                <a:solidFill>
                  <a:schemeClr val="tx1"/>
                </a:solidFill>
              </a:rPr>
              <a:t>waiting</a:t>
            </a:r>
            <a:r>
              <a:rPr lang="de-DE" sz="2400" dirty="0">
                <a:solidFill>
                  <a:schemeClr val="tx1"/>
                </a:solidFill>
              </a:rPr>
              <a:t>“ wechselt</a:t>
            </a:r>
          </a:p>
          <a:p>
            <a:pPr lvl="1"/>
            <a:r>
              <a:rPr lang="de-DE" dirty="0"/>
              <a:t>Wegen einer I/O-Anfrage, eines Semaphors, eines Systemaufrufs (</a:t>
            </a:r>
            <a:r>
              <a:rPr lang="de-DE" dirty="0" err="1"/>
              <a:t>wait</a:t>
            </a:r>
            <a:r>
              <a:rPr lang="de-DE" dirty="0"/>
              <a:t>() nach </a:t>
            </a:r>
            <a:r>
              <a:rPr lang="de-DE" dirty="0" err="1"/>
              <a:t>fork</a:t>
            </a:r>
            <a:r>
              <a:rPr lang="de-DE" dirty="0"/>
              <a:t>()), eines Seitenfehlers …</a:t>
            </a:r>
          </a:p>
          <a:p>
            <a:r>
              <a:rPr lang="de-DE" sz="2700" b="1" dirty="0">
                <a:solidFill>
                  <a:srgbClr val="FF0000"/>
                </a:solidFill>
              </a:rPr>
              <a:t>2. </a:t>
            </a:r>
            <a:r>
              <a:rPr lang="de-DE" sz="2700" dirty="0">
                <a:solidFill>
                  <a:schemeClr val="tx1"/>
                </a:solidFill>
              </a:rPr>
              <a:t>Wenn der Prozesszustand von „</a:t>
            </a:r>
            <a:r>
              <a:rPr lang="de-DE" sz="2700" dirty="0" err="1">
                <a:solidFill>
                  <a:schemeClr val="tx1"/>
                </a:solidFill>
              </a:rPr>
              <a:t>running</a:t>
            </a:r>
            <a:r>
              <a:rPr lang="de-DE" sz="2700" dirty="0">
                <a:solidFill>
                  <a:schemeClr val="tx1"/>
                </a:solidFill>
              </a:rPr>
              <a:t>“ zu „</a:t>
            </a:r>
            <a:r>
              <a:rPr lang="de-DE" sz="2700" dirty="0" err="1">
                <a:solidFill>
                  <a:schemeClr val="tx1"/>
                </a:solidFill>
              </a:rPr>
              <a:t>ready</a:t>
            </a:r>
            <a:r>
              <a:rPr lang="de-DE" sz="2700" dirty="0">
                <a:solidFill>
                  <a:schemeClr val="tx1"/>
                </a:solidFill>
              </a:rPr>
              <a:t>“ wechselt</a:t>
            </a:r>
          </a:p>
          <a:p>
            <a:pPr lvl="1"/>
            <a:r>
              <a:rPr lang="de-DE" dirty="0"/>
              <a:t>z.B. falls ein I/O-Interrupt, </a:t>
            </a:r>
            <a:r>
              <a:rPr lang="de-DE" dirty="0" err="1"/>
              <a:t>Timer</a:t>
            </a:r>
            <a:r>
              <a:rPr lang="de-DE" dirty="0"/>
              <a:t>-Interrupt oder ein Trap auftritt</a:t>
            </a:r>
          </a:p>
          <a:p>
            <a:r>
              <a:rPr lang="de-DE" sz="2400" b="1" dirty="0">
                <a:solidFill>
                  <a:srgbClr val="FF0000"/>
                </a:solidFill>
              </a:rPr>
              <a:t>3.</a:t>
            </a:r>
            <a:r>
              <a:rPr lang="de-DE" sz="2400" dirty="0"/>
              <a:t> Wenn ein (blockierter) Prozess von „</a:t>
            </a:r>
            <a:r>
              <a:rPr lang="de-DE" sz="2400" dirty="0" err="1"/>
              <a:t>waiting</a:t>
            </a:r>
            <a:r>
              <a:rPr lang="de-DE" sz="2400" dirty="0"/>
              <a:t>“ zu „</a:t>
            </a:r>
            <a:r>
              <a:rPr lang="de-DE" sz="2400" dirty="0" err="1"/>
              <a:t>ready</a:t>
            </a:r>
            <a:r>
              <a:rPr lang="de-DE" sz="2400" dirty="0"/>
              <a:t>“ wechselt</a:t>
            </a:r>
          </a:p>
          <a:p>
            <a:pPr lvl="1"/>
            <a:r>
              <a:rPr lang="de-DE" dirty="0"/>
              <a:t>Meistens bei der Beendigung einer I/O-Phase</a:t>
            </a:r>
          </a:p>
          <a:p>
            <a:r>
              <a:rPr lang="de-DE" sz="2400" b="1" dirty="0">
                <a:solidFill>
                  <a:srgbClr val="FF0000"/>
                </a:solidFill>
              </a:rPr>
              <a:t>4. </a:t>
            </a:r>
            <a:r>
              <a:rPr lang="de-DE" sz="2400" dirty="0"/>
              <a:t>Bei der Beendigung eines Prozesses</a:t>
            </a:r>
          </a:p>
          <a:p>
            <a:r>
              <a:rPr lang="de-DE" sz="2400" b="1" dirty="0">
                <a:solidFill>
                  <a:srgbClr val="FF0000"/>
                </a:solidFill>
              </a:rPr>
              <a:t>5. </a:t>
            </a:r>
            <a:r>
              <a:rPr lang="de-DE" sz="2400" dirty="0">
                <a:solidFill>
                  <a:srgbClr val="000000"/>
                </a:solidFill>
              </a:rPr>
              <a:t>Ggf.</a:t>
            </a:r>
            <a:r>
              <a:rPr lang="de-DE" sz="2400" b="1" dirty="0">
                <a:solidFill>
                  <a:srgbClr val="FF0000"/>
                </a:solidFill>
              </a:rPr>
              <a:t> </a:t>
            </a:r>
            <a:r>
              <a:rPr lang="de-DE" sz="2400" dirty="0"/>
              <a:t>bei der Erzeugung eines neuen Prozesses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5010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Übersicht Scheduling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5" name="Abgerundetes Rechteck 4"/>
          <p:cNvSpPr/>
          <p:nvPr/>
        </p:nvSpPr>
        <p:spPr>
          <a:xfrm>
            <a:off x="1583668" y="1265757"/>
            <a:ext cx="5112568" cy="792088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rgbClr val="FF0000"/>
                </a:solidFill>
              </a:rPr>
              <a:t>Scheduling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= Ablaufsteuerung; entscheidet, wann welcher Prozess CPU-Zeit bekommt</a:t>
            </a:r>
          </a:p>
        </p:txBody>
      </p:sp>
      <p:sp>
        <p:nvSpPr>
          <p:cNvPr id="6" name="Abgerundetes Rechteck 5"/>
          <p:cNvSpPr/>
          <p:nvPr/>
        </p:nvSpPr>
        <p:spPr>
          <a:xfrm>
            <a:off x="323528" y="2492896"/>
            <a:ext cx="2016224" cy="72008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Wann nötig? Prozesszustände</a:t>
            </a:r>
          </a:p>
        </p:txBody>
      </p:sp>
      <p:cxnSp>
        <p:nvCxnSpPr>
          <p:cNvPr id="8" name="Gerade Verbindung mit Pfeil 7"/>
          <p:cNvCxnSpPr>
            <a:stCxn id="5" idx="2"/>
            <a:endCxn id="6" idx="0"/>
          </p:cNvCxnSpPr>
          <p:nvPr/>
        </p:nvCxnSpPr>
        <p:spPr>
          <a:xfrm flipH="1">
            <a:off x="1331640" y="2057845"/>
            <a:ext cx="2808312" cy="43505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bgerundetes Rechteck 10"/>
          <p:cNvSpPr/>
          <p:nvPr/>
        </p:nvSpPr>
        <p:spPr>
          <a:xfrm>
            <a:off x="3023828" y="2484349"/>
            <a:ext cx="2232248" cy="72008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Prozessverhalten: CPU vs. I/O-</a:t>
            </a:r>
            <a:r>
              <a:rPr lang="de-DE" dirty="0" err="1"/>
              <a:t>Bound</a:t>
            </a:r>
            <a:endParaRPr lang="de-DE" dirty="0"/>
          </a:p>
        </p:txBody>
      </p:sp>
      <p:cxnSp>
        <p:nvCxnSpPr>
          <p:cNvPr id="12" name="Gerade Verbindung mit Pfeil 11"/>
          <p:cNvCxnSpPr>
            <a:stCxn id="5" idx="2"/>
            <a:endCxn id="11" idx="0"/>
          </p:cNvCxnSpPr>
          <p:nvPr/>
        </p:nvCxnSpPr>
        <p:spPr>
          <a:xfrm>
            <a:off x="4139952" y="2057845"/>
            <a:ext cx="0" cy="42650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bgerundetes Rechteck 14"/>
          <p:cNvSpPr/>
          <p:nvPr/>
        </p:nvSpPr>
        <p:spPr>
          <a:xfrm>
            <a:off x="5940152" y="2484349"/>
            <a:ext cx="2232248" cy="72008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Scheduling</a:t>
            </a:r>
            <a:r>
              <a:rPr lang="de-DE" dirty="0"/>
              <a:t>-Strategien</a:t>
            </a:r>
          </a:p>
        </p:txBody>
      </p:sp>
      <p:cxnSp>
        <p:nvCxnSpPr>
          <p:cNvPr id="16" name="Gerade Verbindung mit Pfeil 15"/>
          <p:cNvCxnSpPr>
            <a:stCxn id="5" idx="2"/>
            <a:endCxn id="15" idx="0"/>
          </p:cNvCxnSpPr>
          <p:nvPr/>
        </p:nvCxnSpPr>
        <p:spPr>
          <a:xfrm>
            <a:off x="4139952" y="2057845"/>
            <a:ext cx="2916324" cy="42650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bgerundetes Rechteck 19"/>
          <p:cNvSpPr/>
          <p:nvPr/>
        </p:nvSpPr>
        <p:spPr>
          <a:xfrm>
            <a:off x="246493" y="3842792"/>
            <a:ext cx="2170294" cy="71153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Stapelverarbeitung</a:t>
            </a:r>
          </a:p>
        </p:txBody>
      </p:sp>
      <p:sp>
        <p:nvSpPr>
          <p:cNvPr id="21" name="Abgerundetes Rechteck 20"/>
          <p:cNvSpPr/>
          <p:nvPr/>
        </p:nvSpPr>
        <p:spPr>
          <a:xfrm>
            <a:off x="3459658" y="3858562"/>
            <a:ext cx="2170294" cy="71153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Interaktivität</a:t>
            </a:r>
          </a:p>
        </p:txBody>
      </p:sp>
      <p:sp>
        <p:nvSpPr>
          <p:cNvPr id="22" name="Abgerundetes Rechteck 21"/>
          <p:cNvSpPr/>
          <p:nvPr/>
        </p:nvSpPr>
        <p:spPr>
          <a:xfrm>
            <a:off x="6672823" y="3858562"/>
            <a:ext cx="2170294" cy="71153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Echtzeit</a:t>
            </a:r>
          </a:p>
        </p:txBody>
      </p:sp>
      <p:cxnSp>
        <p:nvCxnSpPr>
          <p:cNvPr id="26" name="Gerade Verbindung mit Pfeil 25"/>
          <p:cNvCxnSpPr>
            <a:stCxn id="15" idx="2"/>
            <a:endCxn id="20" idx="0"/>
          </p:cNvCxnSpPr>
          <p:nvPr/>
        </p:nvCxnSpPr>
        <p:spPr>
          <a:xfrm flipH="1">
            <a:off x="1331640" y="3204429"/>
            <a:ext cx="5724636" cy="63836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/>
          <p:cNvCxnSpPr>
            <a:stCxn id="15" idx="2"/>
            <a:endCxn id="21" idx="0"/>
          </p:cNvCxnSpPr>
          <p:nvPr/>
        </p:nvCxnSpPr>
        <p:spPr>
          <a:xfrm flipH="1">
            <a:off x="4544805" y="3204429"/>
            <a:ext cx="2511471" cy="65413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>
            <a:stCxn id="15" idx="2"/>
          </p:cNvCxnSpPr>
          <p:nvPr/>
        </p:nvCxnSpPr>
        <p:spPr>
          <a:xfrm>
            <a:off x="7056276" y="3204429"/>
            <a:ext cx="701695" cy="65413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bgerundetes Rechteck 33"/>
          <p:cNvSpPr/>
          <p:nvPr/>
        </p:nvSpPr>
        <p:spPr>
          <a:xfrm>
            <a:off x="261337" y="5192688"/>
            <a:ext cx="2170294" cy="71153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First-</a:t>
            </a:r>
            <a:r>
              <a:rPr lang="de-DE" dirty="0" err="1"/>
              <a:t>Come</a:t>
            </a:r>
            <a:r>
              <a:rPr lang="de-DE" dirty="0"/>
              <a:t>-First-</a:t>
            </a:r>
            <a:r>
              <a:rPr lang="de-DE" dirty="0" err="1"/>
              <a:t>Served</a:t>
            </a:r>
            <a:r>
              <a:rPr lang="de-DE" dirty="0"/>
              <a:t> (FCFS)</a:t>
            </a:r>
          </a:p>
        </p:txBody>
      </p:sp>
      <p:sp>
        <p:nvSpPr>
          <p:cNvPr id="35" name="Abgerundetes Rechteck 34"/>
          <p:cNvSpPr/>
          <p:nvPr/>
        </p:nvSpPr>
        <p:spPr>
          <a:xfrm>
            <a:off x="2915816" y="5192687"/>
            <a:ext cx="2170294" cy="71153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Shortest</a:t>
            </a:r>
            <a:r>
              <a:rPr lang="de-DE" dirty="0"/>
              <a:t>-Job-First (SJF)</a:t>
            </a:r>
          </a:p>
        </p:txBody>
      </p:sp>
      <p:sp>
        <p:nvSpPr>
          <p:cNvPr id="36" name="Abgerundetes Rechteck 35"/>
          <p:cNvSpPr/>
          <p:nvPr/>
        </p:nvSpPr>
        <p:spPr>
          <a:xfrm>
            <a:off x="5570294" y="5192686"/>
            <a:ext cx="2314073" cy="71153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Shortest</a:t>
            </a:r>
            <a:r>
              <a:rPr lang="de-DE" dirty="0"/>
              <a:t> </a:t>
            </a:r>
            <a:r>
              <a:rPr lang="de-DE" dirty="0" err="1"/>
              <a:t>Remaining</a:t>
            </a:r>
            <a:r>
              <a:rPr lang="de-DE" dirty="0"/>
              <a:t> Time First </a:t>
            </a:r>
          </a:p>
        </p:txBody>
      </p:sp>
      <p:cxnSp>
        <p:nvCxnSpPr>
          <p:cNvPr id="37" name="Gerade Verbindung mit Pfeil 36"/>
          <p:cNvCxnSpPr>
            <a:stCxn id="20" idx="2"/>
            <a:endCxn id="34" idx="0"/>
          </p:cNvCxnSpPr>
          <p:nvPr/>
        </p:nvCxnSpPr>
        <p:spPr>
          <a:xfrm>
            <a:off x="1331640" y="4554325"/>
            <a:ext cx="14844" cy="63836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/>
          <p:cNvCxnSpPr>
            <a:stCxn id="20" idx="2"/>
            <a:endCxn id="35" idx="0"/>
          </p:cNvCxnSpPr>
          <p:nvPr/>
        </p:nvCxnSpPr>
        <p:spPr>
          <a:xfrm>
            <a:off x="1331640" y="4554325"/>
            <a:ext cx="2669323" cy="63836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/>
          <p:nvPr/>
        </p:nvCxnSpPr>
        <p:spPr>
          <a:xfrm>
            <a:off x="1453358" y="4578642"/>
            <a:ext cx="5388269" cy="630629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9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20" grpId="0" animBg="1"/>
      <p:bldP spid="21" grpId="0" animBg="1"/>
      <p:bldP spid="22" grpId="0" animBg="1"/>
      <p:bldP spid="34" grpId="0" animBg="1"/>
      <p:bldP spid="35" grpId="0" animBg="1"/>
      <p:bldP spid="3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30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Scheduling in Stapelverarbeitungssystemen</a:t>
            </a:r>
          </a:p>
        </p:txBody>
      </p:sp>
    </p:spTree>
    <p:extLst>
      <p:ext uri="{BB962C8B-B14F-4D97-AF65-F5344CB8AC3E}">
        <p14:creationId xmlns:p14="http://schemas.microsoft.com/office/powerpoint/2010/main" val="3802312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First-</a:t>
            </a:r>
            <a:r>
              <a:rPr lang="de-DE" dirty="0" err="1"/>
              <a:t>Come</a:t>
            </a:r>
            <a:r>
              <a:rPr lang="de-DE" dirty="0"/>
              <a:t>-First-</a:t>
            </a:r>
            <a:r>
              <a:rPr lang="de-DE" dirty="0" err="1"/>
              <a:t>Served</a:t>
            </a:r>
            <a:r>
              <a:rPr lang="de-DE" dirty="0"/>
              <a:t> (FCFS)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Einfachste Lösung: Der </a:t>
            </a:r>
            <a:r>
              <a:rPr lang="de-DE" dirty="0">
                <a:solidFill>
                  <a:srgbClr val="0070C0"/>
                </a:solidFill>
              </a:rPr>
              <a:t>als erster anfragende Prozess wird als erster bis zum Ende ausgeführt</a:t>
            </a:r>
          </a:p>
          <a:p>
            <a:pPr lvl="1"/>
            <a:r>
              <a:rPr lang="de-DE" dirty="0"/>
              <a:t>Implementierung über eine First-In-First-Out Schlange</a:t>
            </a:r>
          </a:p>
          <a:p>
            <a:r>
              <a:rPr lang="de-DE" dirty="0"/>
              <a:t>Nachteile?</a:t>
            </a:r>
          </a:p>
          <a:p>
            <a:pPr lvl="2">
              <a:buNone/>
            </a:pPr>
            <a:endParaRPr lang="de-DE" dirty="0"/>
          </a:p>
        </p:txBody>
      </p:sp>
      <p:sp>
        <p:nvSpPr>
          <p:cNvPr id="18" name="Inhaltsplatzhalter 17"/>
          <p:cNvSpPr>
            <a:spLocks noGrp="1"/>
          </p:cNvSpPr>
          <p:nvPr>
            <p:ph sz="quarter" idx="13"/>
          </p:nvPr>
        </p:nvSpPr>
        <p:spPr>
          <a:xfrm>
            <a:off x="467544" y="2996952"/>
            <a:ext cx="8208912" cy="3361928"/>
          </a:xfrm>
        </p:spPr>
        <p:txBody>
          <a:bodyPr>
            <a:normAutofit/>
          </a:bodyPr>
          <a:lstStyle/>
          <a:p>
            <a:pPr lvl="1"/>
            <a:r>
              <a:rPr lang="de-DE" dirty="0"/>
              <a:t>Lange </a:t>
            </a:r>
            <a:r>
              <a:rPr lang="de-DE" b="1" dirty="0">
                <a:solidFill>
                  <a:srgbClr val="0070C0"/>
                </a:solidFill>
              </a:rPr>
              <a:t>durchschnittliche Wartezeit</a:t>
            </a:r>
          </a:p>
          <a:p>
            <a:pPr lvl="2"/>
            <a:r>
              <a:rPr lang="de-DE" dirty="0"/>
              <a:t>Berechnungszeiten der Prozesse: P1 = 24 </a:t>
            </a:r>
            <a:r>
              <a:rPr lang="de-DE" dirty="0" err="1"/>
              <a:t>ms</a:t>
            </a:r>
            <a:r>
              <a:rPr lang="de-DE" dirty="0"/>
              <a:t>, P2 = P3 = 3 </a:t>
            </a:r>
            <a:r>
              <a:rPr lang="de-DE" dirty="0" err="1"/>
              <a:t>ms</a:t>
            </a:r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r>
              <a:rPr lang="de-DE" b="1" dirty="0">
                <a:solidFill>
                  <a:srgbClr val="0070C0"/>
                </a:solidFill>
              </a:rPr>
              <a:t>Convoy effect</a:t>
            </a:r>
            <a:r>
              <a:rPr lang="de-DE" dirty="0"/>
              <a:t>: Viele I/O-intensive Prozesse werden durch einen einzigen CPU-intensiven Prozess verzögert</a:t>
            </a:r>
          </a:p>
          <a:p>
            <a:endParaRPr lang="de-DE" dirty="0"/>
          </a:p>
        </p:txBody>
      </p:sp>
      <p:grpSp>
        <p:nvGrpSpPr>
          <p:cNvPr id="19" name="Gruppieren 18"/>
          <p:cNvGrpSpPr/>
          <p:nvPr/>
        </p:nvGrpSpPr>
        <p:grpSpPr>
          <a:xfrm>
            <a:off x="755576" y="4653136"/>
            <a:ext cx="5363608" cy="360040"/>
            <a:chOff x="755576" y="4653136"/>
            <a:chExt cx="5363608" cy="360040"/>
          </a:xfrm>
        </p:grpSpPr>
        <p:sp>
          <p:nvSpPr>
            <p:cNvPr id="5" name="Rechteck 4"/>
            <p:cNvSpPr/>
            <p:nvPr/>
          </p:nvSpPr>
          <p:spPr>
            <a:xfrm>
              <a:off x="1799184" y="4653136"/>
              <a:ext cx="4320000" cy="36004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P1</a:t>
              </a:r>
            </a:p>
          </p:txBody>
        </p:sp>
        <p:sp>
          <p:nvSpPr>
            <p:cNvPr id="6" name="Rechteck 5"/>
            <p:cNvSpPr/>
            <p:nvPr/>
          </p:nvSpPr>
          <p:spPr>
            <a:xfrm>
              <a:off x="755576" y="4653136"/>
              <a:ext cx="540000" cy="36004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P2</a:t>
              </a:r>
            </a:p>
          </p:txBody>
        </p:sp>
        <p:sp>
          <p:nvSpPr>
            <p:cNvPr id="7" name="Rechteck 6"/>
            <p:cNvSpPr/>
            <p:nvPr/>
          </p:nvSpPr>
          <p:spPr>
            <a:xfrm>
              <a:off x="1293540" y="4653136"/>
              <a:ext cx="540000" cy="3600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P3</a:t>
              </a:r>
            </a:p>
          </p:txBody>
        </p:sp>
      </p:grpSp>
      <p:sp>
        <p:nvSpPr>
          <p:cNvPr id="9" name="Textfeld 8"/>
          <p:cNvSpPr txBox="1"/>
          <p:nvPr/>
        </p:nvSpPr>
        <p:spPr>
          <a:xfrm>
            <a:off x="6300192" y="3933056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ym typeface="Symbol"/>
              </a:rPr>
              <a:t></a:t>
            </a:r>
            <a:r>
              <a:rPr lang="de-DE" dirty="0">
                <a:sym typeface="Symbol"/>
              </a:rPr>
              <a:t> = ?</a:t>
            </a:r>
            <a:endParaRPr lang="de-DE" dirty="0"/>
          </a:p>
        </p:txBody>
      </p:sp>
      <p:grpSp>
        <p:nvGrpSpPr>
          <p:cNvPr id="20" name="Gruppieren 19"/>
          <p:cNvGrpSpPr/>
          <p:nvPr/>
        </p:nvGrpSpPr>
        <p:grpSpPr>
          <a:xfrm>
            <a:off x="755576" y="3933056"/>
            <a:ext cx="5398444" cy="360040"/>
            <a:chOff x="755576" y="3933056"/>
            <a:chExt cx="5398444" cy="360040"/>
          </a:xfrm>
        </p:grpSpPr>
        <p:sp>
          <p:nvSpPr>
            <p:cNvPr id="11" name="Rechteck 10"/>
            <p:cNvSpPr/>
            <p:nvPr/>
          </p:nvSpPr>
          <p:spPr>
            <a:xfrm>
              <a:off x="755576" y="3933056"/>
              <a:ext cx="4320000" cy="36004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P1</a:t>
              </a:r>
            </a:p>
          </p:txBody>
        </p:sp>
        <p:sp>
          <p:nvSpPr>
            <p:cNvPr id="12" name="Rechteck 11"/>
            <p:cNvSpPr/>
            <p:nvPr/>
          </p:nvSpPr>
          <p:spPr>
            <a:xfrm>
              <a:off x="5076056" y="3933056"/>
              <a:ext cx="540000" cy="36004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P2</a:t>
              </a:r>
            </a:p>
          </p:txBody>
        </p:sp>
        <p:sp>
          <p:nvSpPr>
            <p:cNvPr id="13" name="Rechteck 12"/>
            <p:cNvSpPr/>
            <p:nvPr/>
          </p:nvSpPr>
          <p:spPr>
            <a:xfrm>
              <a:off x="5614020" y="3933056"/>
              <a:ext cx="540000" cy="3600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P3</a:t>
              </a:r>
            </a:p>
          </p:txBody>
        </p:sp>
      </p:grpSp>
      <p:sp>
        <p:nvSpPr>
          <p:cNvPr id="14" name="Textfeld 13"/>
          <p:cNvSpPr txBox="1"/>
          <p:nvPr/>
        </p:nvSpPr>
        <p:spPr>
          <a:xfrm>
            <a:off x="6300192" y="4653136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ym typeface="Symbol"/>
              </a:rPr>
              <a:t></a:t>
            </a:r>
            <a:r>
              <a:rPr lang="de-DE" dirty="0">
                <a:sym typeface="Symbol"/>
              </a:rPr>
              <a:t> = ?</a:t>
            </a:r>
            <a:endParaRPr lang="de-DE" dirty="0"/>
          </a:p>
        </p:txBody>
      </p:sp>
      <p:sp>
        <p:nvSpPr>
          <p:cNvPr id="15" name="Textfeld 14"/>
          <p:cNvSpPr txBox="1"/>
          <p:nvPr/>
        </p:nvSpPr>
        <p:spPr>
          <a:xfrm>
            <a:off x="6811310" y="3933056"/>
            <a:ext cx="233269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dirty="0"/>
              <a:t>(0+24+27)/3 =17 </a:t>
            </a:r>
            <a:r>
              <a:rPr lang="de-DE" dirty="0" err="1"/>
              <a:t>ms</a:t>
            </a:r>
            <a:endParaRPr lang="de-DE" dirty="0"/>
          </a:p>
        </p:txBody>
      </p:sp>
      <p:sp>
        <p:nvSpPr>
          <p:cNvPr id="17" name="Textfeld 16"/>
          <p:cNvSpPr txBox="1"/>
          <p:nvPr/>
        </p:nvSpPr>
        <p:spPr>
          <a:xfrm>
            <a:off x="6811310" y="4653136"/>
            <a:ext cx="188384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dirty="0"/>
              <a:t>(6+0+3)/3 =3 </a:t>
            </a:r>
            <a:r>
              <a:rPr lang="de-DE" dirty="0" err="1"/>
              <a:t>ms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81876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  <p:bldP spid="9" grpId="0"/>
      <p:bldP spid="14" grpId="0"/>
      <p:bldP spid="15" grpId="0" build="p" animBg="1"/>
      <p:bldP spid="17" grpId="0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Shortest</a:t>
            </a:r>
            <a:r>
              <a:rPr lang="de-DE" dirty="0"/>
              <a:t>-Job-First (SJF)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32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3505944"/>
          </a:xfrm>
        </p:spPr>
        <p:txBody>
          <a:bodyPr/>
          <a:lstStyle/>
          <a:p>
            <a:r>
              <a:rPr lang="de-DE" dirty="0"/>
              <a:t>Annahme: Wir kennen die Länge des nächsten CPU-Bursts eines jeden Prozesses</a:t>
            </a:r>
          </a:p>
          <a:p>
            <a:r>
              <a:rPr lang="de-DE" dirty="0">
                <a:solidFill>
                  <a:schemeClr val="accent1"/>
                </a:solidFill>
              </a:rPr>
              <a:t>Der Scheduler wählt den Prozess mit der kleinsten (angenommenen) Berechnungszeit</a:t>
            </a:r>
          </a:p>
          <a:p>
            <a:r>
              <a:rPr lang="de-DE" dirty="0"/>
              <a:t>Beispiel (Berechnungslängen in Klammern):</a:t>
            </a:r>
          </a:p>
          <a:p>
            <a:pPr lvl="1"/>
            <a:r>
              <a:rPr lang="de-DE" dirty="0"/>
              <a:t>P1 (6 (</a:t>
            </a:r>
            <a:r>
              <a:rPr lang="de-DE" dirty="0" err="1"/>
              <a:t>ms</a:t>
            </a:r>
            <a:r>
              <a:rPr lang="de-DE" dirty="0"/>
              <a:t>)), P2 (8), P3 (7), P4 (3)</a:t>
            </a:r>
          </a:p>
          <a:p>
            <a:pPr lvl="1"/>
            <a:r>
              <a:rPr lang="de-DE" dirty="0"/>
              <a:t>Schedule (Belegungsplan)? Durchschnittliche </a:t>
            </a:r>
            <a:r>
              <a:rPr lang="de-DE" u="sng" dirty="0"/>
              <a:t>Wartezeit</a:t>
            </a:r>
            <a:r>
              <a:rPr lang="de-DE" dirty="0"/>
              <a:t>?</a:t>
            </a:r>
          </a:p>
          <a:p>
            <a:pPr>
              <a:buNone/>
            </a:pPr>
            <a:endParaRPr lang="de-DE" dirty="0"/>
          </a:p>
        </p:txBody>
      </p:sp>
      <p:grpSp>
        <p:nvGrpSpPr>
          <p:cNvPr id="10" name="Gruppieren 9"/>
          <p:cNvGrpSpPr/>
          <p:nvPr/>
        </p:nvGrpSpPr>
        <p:grpSpPr>
          <a:xfrm>
            <a:off x="1403648" y="4941168"/>
            <a:ext cx="3233504" cy="369188"/>
            <a:chOff x="3930784" y="4286632"/>
            <a:chExt cx="3233504" cy="369188"/>
          </a:xfrm>
        </p:grpSpPr>
        <p:sp>
          <p:nvSpPr>
            <p:cNvPr id="6" name="Rechteck 5"/>
            <p:cNvSpPr/>
            <p:nvPr/>
          </p:nvSpPr>
          <p:spPr>
            <a:xfrm>
              <a:off x="4499992" y="4293096"/>
              <a:ext cx="719600" cy="36004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P1</a:t>
              </a:r>
            </a:p>
          </p:txBody>
        </p:sp>
        <p:sp>
          <p:nvSpPr>
            <p:cNvPr id="7" name="Rechteck 6"/>
            <p:cNvSpPr/>
            <p:nvPr/>
          </p:nvSpPr>
          <p:spPr>
            <a:xfrm>
              <a:off x="5220072" y="4293096"/>
              <a:ext cx="864096" cy="36004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P3</a:t>
              </a:r>
            </a:p>
          </p:txBody>
        </p:sp>
        <p:sp>
          <p:nvSpPr>
            <p:cNvPr id="8" name="Rechteck 7"/>
            <p:cNvSpPr/>
            <p:nvPr/>
          </p:nvSpPr>
          <p:spPr>
            <a:xfrm>
              <a:off x="6084168" y="4293096"/>
              <a:ext cx="1080120" cy="3600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P2</a:t>
              </a:r>
            </a:p>
          </p:txBody>
        </p:sp>
        <p:sp>
          <p:nvSpPr>
            <p:cNvPr id="9" name="Rechteck 8"/>
            <p:cNvSpPr/>
            <p:nvPr/>
          </p:nvSpPr>
          <p:spPr>
            <a:xfrm>
              <a:off x="3930784" y="4286632"/>
              <a:ext cx="575584" cy="369188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P4</a:t>
              </a:r>
            </a:p>
          </p:txBody>
        </p:sp>
      </p:grpSp>
      <p:sp>
        <p:nvSpPr>
          <p:cNvPr id="12" name="Textfeld 11"/>
          <p:cNvSpPr txBox="1"/>
          <p:nvPr/>
        </p:nvSpPr>
        <p:spPr>
          <a:xfrm>
            <a:off x="5004048" y="4941168"/>
            <a:ext cx="285687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b="1" dirty="0">
                <a:sym typeface="Symbol"/>
              </a:rPr>
              <a:t></a:t>
            </a:r>
            <a:r>
              <a:rPr lang="de-DE" dirty="0">
                <a:sym typeface="Symbol"/>
              </a:rPr>
              <a:t> = </a:t>
            </a:r>
            <a:r>
              <a:rPr lang="de-DE" dirty="0"/>
              <a:t>(3+16+9+0)/4  = 7 </a:t>
            </a:r>
            <a:r>
              <a:rPr lang="de-DE" dirty="0" err="1"/>
              <a:t>ms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429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Shortest-Job-First /2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06144"/>
          </a:xfrm>
        </p:spPr>
        <p:txBody>
          <a:bodyPr>
            <a:normAutofit/>
          </a:bodyPr>
          <a:lstStyle/>
          <a:p>
            <a:r>
              <a:rPr lang="de-DE" dirty="0"/>
              <a:t>Das größte Problem von SJF ist die </a:t>
            </a:r>
            <a:r>
              <a:rPr lang="de-DE" dirty="0">
                <a:solidFill>
                  <a:srgbClr val="0070C0"/>
                </a:solidFill>
              </a:rPr>
              <a:t>mangelnde Kenntnis der Länge der CPU-Burst-Zeit </a:t>
            </a:r>
            <a:r>
              <a:rPr lang="de-DE" dirty="0"/>
              <a:t>(</a:t>
            </a:r>
            <a:r>
              <a:rPr lang="de-DE" b="1" dirty="0">
                <a:solidFill>
                  <a:srgbClr val="0070C0"/>
                </a:solidFill>
              </a:rPr>
              <a:t>BZL</a:t>
            </a:r>
            <a:r>
              <a:rPr lang="de-DE" dirty="0"/>
              <a:t>)</a:t>
            </a:r>
          </a:p>
          <a:p>
            <a:r>
              <a:rPr lang="de-DE" dirty="0"/>
              <a:t>Man kann aber die BZL aus vorherigen Verhalten abschätzen - viele Verfahren sind bekannt (</a:t>
            </a:r>
            <a:r>
              <a:rPr lang="de-DE" dirty="0">
                <a:hlinkClick r:id="rId2"/>
              </a:rPr>
              <a:t>Link</a:t>
            </a:r>
            <a:r>
              <a:rPr lang="de-DE" dirty="0"/>
              <a:t>)</a:t>
            </a:r>
          </a:p>
          <a:p>
            <a:r>
              <a:rPr lang="de-DE" dirty="0"/>
              <a:t>Z.B. </a:t>
            </a:r>
            <a:r>
              <a:rPr lang="de-DE" dirty="0">
                <a:solidFill>
                  <a:srgbClr val="0070C0"/>
                </a:solidFill>
              </a:rPr>
              <a:t>exponentielle gleitende Durchschnitte </a:t>
            </a:r>
            <a:r>
              <a:rPr lang="de-DE" dirty="0"/>
              <a:t>(</a:t>
            </a:r>
            <a:r>
              <a:rPr lang="de-DE" dirty="0" err="1">
                <a:solidFill>
                  <a:srgbClr val="0070C0"/>
                </a:solidFill>
              </a:rPr>
              <a:t>exponential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 err="1">
                <a:solidFill>
                  <a:srgbClr val="0070C0"/>
                </a:solidFill>
              </a:rPr>
              <a:t>moving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 err="1">
                <a:solidFill>
                  <a:srgbClr val="0070C0"/>
                </a:solidFill>
              </a:rPr>
              <a:t>average</a:t>
            </a:r>
            <a:r>
              <a:rPr lang="de-DE" dirty="0">
                <a:solidFill>
                  <a:srgbClr val="0070C0"/>
                </a:solidFill>
              </a:rPr>
              <a:t>, EMA</a:t>
            </a:r>
            <a:r>
              <a:rPr lang="de-DE" dirty="0"/>
              <a:t>)</a:t>
            </a:r>
          </a:p>
          <a:p>
            <a:pPr lvl="1"/>
            <a:r>
              <a:rPr lang="de-DE" dirty="0" err="1">
                <a:solidFill>
                  <a:schemeClr val="tx1"/>
                </a:solidFill>
              </a:rPr>
              <a:t>t</a:t>
            </a:r>
            <a:r>
              <a:rPr lang="de-DE" baseline="-25000" dirty="0" err="1">
                <a:solidFill>
                  <a:schemeClr val="tx1"/>
                </a:solidFill>
              </a:rPr>
              <a:t>i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/>
              <a:t>= Länge des i-</a:t>
            </a:r>
            <a:r>
              <a:rPr lang="de-DE" dirty="0" err="1"/>
              <a:t>ten</a:t>
            </a:r>
            <a:r>
              <a:rPr lang="de-DE" dirty="0"/>
              <a:t> CPU-Bursts</a:t>
            </a:r>
          </a:p>
          <a:p>
            <a:pPr lvl="1"/>
            <a:r>
              <a:rPr lang="de-DE" dirty="0">
                <a:solidFill>
                  <a:srgbClr val="00B0F0"/>
                </a:solidFill>
              </a:rPr>
              <a:t>t*</a:t>
            </a:r>
            <a:r>
              <a:rPr lang="de-DE" baseline="-25000" dirty="0">
                <a:solidFill>
                  <a:srgbClr val="00B0F0"/>
                </a:solidFill>
              </a:rPr>
              <a:t>i</a:t>
            </a:r>
            <a:r>
              <a:rPr lang="de-DE" dirty="0">
                <a:solidFill>
                  <a:srgbClr val="00B0F0"/>
                </a:solidFill>
              </a:rPr>
              <a:t> </a:t>
            </a:r>
            <a:r>
              <a:rPr lang="de-DE" dirty="0"/>
              <a:t>= </a:t>
            </a:r>
            <a:r>
              <a:rPr lang="de-DE" dirty="0" err="1"/>
              <a:t>EMA</a:t>
            </a:r>
            <a:r>
              <a:rPr lang="de-DE" baseline="-25000" dirty="0" err="1"/>
              <a:t>i</a:t>
            </a:r>
            <a:r>
              <a:rPr lang="de-DE" dirty="0"/>
              <a:t> = Abschätzung von </a:t>
            </a:r>
            <a:r>
              <a:rPr lang="de-DE" dirty="0" err="1">
                <a:solidFill>
                  <a:schemeClr val="tx1"/>
                </a:solidFill>
              </a:rPr>
              <a:t>t</a:t>
            </a:r>
            <a:r>
              <a:rPr lang="de-DE" baseline="-25000" dirty="0" err="1">
                <a:solidFill>
                  <a:schemeClr val="tx1"/>
                </a:solidFill>
              </a:rPr>
              <a:t>i</a:t>
            </a:r>
            <a:endParaRPr lang="de-DE" baseline="-25000" dirty="0">
              <a:solidFill>
                <a:schemeClr val="tx1"/>
              </a:solidFill>
            </a:endParaRPr>
          </a:p>
          <a:p>
            <a:pPr lvl="1"/>
            <a:r>
              <a:rPr lang="de-DE" dirty="0"/>
              <a:t>Dann </a:t>
            </a:r>
            <a:r>
              <a:rPr lang="de-DE" dirty="0">
                <a:solidFill>
                  <a:srgbClr val="7030A0"/>
                </a:solidFill>
              </a:rPr>
              <a:t>t*</a:t>
            </a:r>
            <a:r>
              <a:rPr lang="de-DE" baseline="-25000" dirty="0">
                <a:solidFill>
                  <a:srgbClr val="7030A0"/>
                </a:solidFill>
              </a:rPr>
              <a:t>i+1</a:t>
            </a:r>
            <a:r>
              <a:rPr lang="de-DE" dirty="0">
                <a:solidFill>
                  <a:srgbClr val="7030A0"/>
                </a:solidFill>
              </a:rPr>
              <a:t> </a:t>
            </a:r>
            <a:r>
              <a:rPr lang="de-DE" dirty="0"/>
              <a:t>= </a:t>
            </a:r>
            <a:r>
              <a:rPr lang="de-DE" dirty="0">
                <a:sym typeface="Symbol"/>
              </a:rPr>
              <a:t></a:t>
            </a:r>
            <a:r>
              <a:rPr lang="de-DE" dirty="0" err="1">
                <a:solidFill>
                  <a:schemeClr val="tx1"/>
                </a:solidFill>
                <a:sym typeface="Symbol"/>
              </a:rPr>
              <a:t>t</a:t>
            </a:r>
            <a:r>
              <a:rPr lang="de-DE" baseline="-25000" dirty="0" err="1">
                <a:solidFill>
                  <a:schemeClr val="tx1"/>
                </a:solidFill>
                <a:sym typeface="Symbol"/>
              </a:rPr>
              <a:t>i</a:t>
            </a:r>
            <a:r>
              <a:rPr lang="de-DE" dirty="0">
                <a:sym typeface="Symbol"/>
              </a:rPr>
              <a:t> + (1-)</a:t>
            </a:r>
            <a:r>
              <a:rPr lang="de-DE" dirty="0">
                <a:solidFill>
                  <a:srgbClr val="00B0F0"/>
                </a:solidFill>
                <a:sym typeface="Symbol"/>
              </a:rPr>
              <a:t>t*</a:t>
            </a:r>
            <a:r>
              <a:rPr lang="de-DE" baseline="-25000" dirty="0">
                <a:solidFill>
                  <a:srgbClr val="00B0F0"/>
                </a:solidFill>
                <a:sym typeface="Symbol"/>
              </a:rPr>
              <a:t>i</a:t>
            </a:r>
            <a:endParaRPr lang="de-DE" baseline="-25000" dirty="0">
              <a:solidFill>
                <a:srgbClr val="00B0F0"/>
              </a:solidFill>
            </a:endParaRPr>
          </a:p>
          <a:p>
            <a:pPr lvl="1"/>
            <a:r>
              <a:rPr lang="de-DE" dirty="0">
                <a:sym typeface="Symbol"/>
              </a:rPr>
              <a:t> ist ein Parameter, 0    1</a:t>
            </a:r>
          </a:p>
          <a:p>
            <a:pPr lvl="1"/>
            <a:r>
              <a:rPr lang="de-DE" dirty="0">
                <a:sym typeface="Symbol"/>
              </a:rPr>
              <a:t>Was passiert, wenn  kleiner</a:t>
            </a:r>
            <a:br>
              <a:rPr lang="de-DE" dirty="0">
                <a:sym typeface="Symbol"/>
              </a:rPr>
            </a:br>
            <a:r>
              <a:rPr lang="de-DE" dirty="0">
                <a:sym typeface="Symbol"/>
              </a:rPr>
              <a:t>bzw. größer wird?</a:t>
            </a:r>
            <a:endParaRPr lang="de-DE" dirty="0"/>
          </a:p>
        </p:txBody>
      </p:sp>
      <p:grpSp>
        <p:nvGrpSpPr>
          <p:cNvPr id="9" name="Gruppieren 8"/>
          <p:cNvGrpSpPr/>
          <p:nvPr/>
        </p:nvGrpSpPr>
        <p:grpSpPr>
          <a:xfrm>
            <a:off x="5364088" y="4005064"/>
            <a:ext cx="3779912" cy="2448272"/>
            <a:chOff x="5508104" y="4149080"/>
            <a:chExt cx="3635896" cy="2313548"/>
          </a:xfrm>
        </p:grpSpPr>
        <p:pic>
          <p:nvPicPr>
            <p:cNvPr id="3074" name="Picture 2" descr="C:\Artur\Academic\Lehre\10.WS-IBN\VL\figures\vl18\ema-bspl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742825" y="4149080"/>
              <a:ext cx="3401175" cy="1814339"/>
            </a:xfrm>
            <a:prstGeom prst="rect">
              <a:avLst/>
            </a:prstGeom>
            <a:noFill/>
          </p:spPr>
        </p:pic>
        <p:sp>
          <p:nvSpPr>
            <p:cNvPr id="6" name="Textfeld 5"/>
            <p:cNvSpPr txBox="1"/>
            <p:nvPr/>
          </p:nvSpPr>
          <p:spPr>
            <a:xfrm>
              <a:off x="6588224" y="6093296"/>
              <a:ext cx="2249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CPU-Burst-Nummer</a:t>
              </a:r>
            </a:p>
          </p:txBody>
        </p:sp>
        <p:sp>
          <p:nvSpPr>
            <p:cNvPr id="7" name="Rechteck 6"/>
            <p:cNvSpPr/>
            <p:nvPr/>
          </p:nvSpPr>
          <p:spPr>
            <a:xfrm>
              <a:off x="5580112" y="4941168"/>
              <a:ext cx="2824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dirty="0" err="1"/>
                <a:t>t</a:t>
              </a:r>
              <a:r>
                <a:rPr lang="de-DE" baseline="-25000" dirty="0" err="1"/>
                <a:t>i</a:t>
              </a:r>
              <a:endParaRPr lang="de-DE" dirty="0"/>
            </a:p>
          </p:txBody>
        </p:sp>
        <p:sp>
          <p:nvSpPr>
            <p:cNvPr id="8" name="Rechteck 7"/>
            <p:cNvSpPr/>
            <p:nvPr/>
          </p:nvSpPr>
          <p:spPr>
            <a:xfrm>
              <a:off x="5508104" y="4509120"/>
              <a:ext cx="43633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dirty="0">
                  <a:solidFill>
                    <a:srgbClr val="00B0F0"/>
                  </a:solidFill>
                </a:rPr>
                <a:t>t*</a:t>
              </a:r>
              <a:r>
                <a:rPr lang="de-DE" baseline="-25000" dirty="0">
                  <a:solidFill>
                    <a:srgbClr val="00B0F0"/>
                  </a:solidFill>
                </a:rPr>
                <a:t>i</a:t>
              </a:r>
              <a:r>
                <a:rPr lang="de-DE" dirty="0">
                  <a:solidFill>
                    <a:srgbClr val="00B0F0"/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03724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Shortest</a:t>
            </a:r>
            <a:r>
              <a:rPr lang="de-DE" dirty="0"/>
              <a:t> </a:t>
            </a:r>
            <a:r>
              <a:rPr lang="de-DE" dirty="0" err="1"/>
              <a:t>Remaining</a:t>
            </a:r>
            <a:r>
              <a:rPr lang="de-DE" dirty="0"/>
              <a:t> Time First 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4442048"/>
          </a:xfrm>
        </p:spPr>
        <p:txBody>
          <a:bodyPr>
            <a:normAutofit fontScale="92500"/>
          </a:bodyPr>
          <a:lstStyle/>
          <a:p>
            <a:r>
              <a:rPr lang="de-DE" dirty="0"/>
              <a:t>Eine Variation von SJF, bei der die </a:t>
            </a:r>
            <a:r>
              <a:rPr lang="de-DE" b="1" dirty="0">
                <a:solidFill>
                  <a:srgbClr val="0070C0"/>
                </a:solidFill>
              </a:rPr>
              <a:t>Unterbrechbarkeit</a:t>
            </a:r>
            <a:r>
              <a:rPr lang="de-DE" dirty="0"/>
              <a:t> angenommen wird</a:t>
            </a:r>
          </a:p>
          <a:p>
            <a:r>
              <a:rPr lang="de-DE" dirty="0"/>
              <a:t>Sei P ein (neuer) Prozess im Zustand </a:t>
            </a:r>
            <a:r>
              <a:rPr lang="de-DE" i="1" dirty="0"/>
              <a:t>Ready</a:t>
            </a:r>
            <a:r>
              <a:rPr lang="de-DE" dirty="0"/>
              <a:t>, und </a:t>
            </a:r>
            <a:r>
              <a:rPr lang="de-DE" dirty="0">
                <a:solidFill>
                  <a:srgbClr val="0070C0"/>
                </a:solidFill>
              </a:rPr>
              <a:t>seine erwartete CPU-Burst-Zeit sei </a:t>
            </a:r>
            <a:r>
              <a:rPr lang="de-DE" b="1" dirty="0">
                <a:solidFill>
                  <a:srgbClr val="0070C0"/>
                </a:solidFill>
              </a:rPr>
              <a:t>t</a:t>
            </a:r>
            <a:r>
              <a:rPr lang="de-DE" b="1" baseline="-25000" dirty="0">
                <a:solidFill>
                  <a:srgbClr val="0070C0"/>
                </a:solidFill>
              </a:rPr>
              <a:t>b</a:t>
            </a:r>
          </a:p>
          <a:p>
            <a:r>
              <a:rPr lang="de-DE" dirty="0"/>
              <a:t>Die Zeit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b="1" dirty="0">
                <a:solidFill>
                  <a:srgbClr val="0070C0"/>
                </a:solidFill>
              </a:rPr>
              <a:t>t</a:t>
            </a:r>
            <a:r>
              <a:rPr lang="de-DE" b="1" baseline="-25000" dirty="0">
                <a:solidFill>
                  <a:srgbClr val="0070C0"/>
                </a:solidFill>
              </a:rPr>
              <a:t>b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/>
              <a:t>wird verglichen mit:</a:t>
            </a:r>
          </a:p>
          <a:p>
            <a:pPr lvl="1"/>
            <a:r>
              <a:rPr lang="de-DE" dirty="0"/>
              <a:t>Der (erwarteten) CPU-Burst-Zeit von jedem anderen Prozess im Zustand Ready und ..</a:t>
            </a:r>
          </a:p>
          <a:p>
            <a:pPr lvl="1"/>
            <a:r>
              <a:rPr lang="de-DE" dirty="0"/>
              <a:t>(NEU) der </a:t>
            </a:r>
            <a:r>
              <a:rPr lang="de-DE" u="sng" dirty="0"/>
              <a:t>restlichen</a:t>
            </a:r>
            <a:r>
              <a:rPr lang="de-DE" dirty="0"/>
              <a:t> CPU-Burst-Zeit </a:t>
            </a:r>
            <a:r>
              <a:rPr lang="de-DE" b="1" dirty="0" err="1"/>
              <a:t>t</a:t>
            </a:r>
            <a:r>
              <a:rPr lang="de-DE" b="1" baseline="-25000" dirty="0" err="1"/>
              <a:t>r</a:t>
            </a:r>
            <a:r>
              <a:rPr lang="de-DE" dirty="0"/>
              <a:t> des </a:t>
            </a:r>
            <a:r>
              <a:rPr lang="de-DE" u="sng" dirty="0"/>
              <a:t>laufenden Prozesses</a:t>
            </a:r>
            <a:r>
              <a:rPr lang="de-DE" dirty="0"/>
              <a:t>  </a:t>
            </a:r>
          </a:p>
          <a:p>
            <a:r>
              <a:rPr lang="de-DE" dirty="0">
                <a:solidFill>
                  <a:srgbClr val="0070C0"/>
                </a:solidFill>
              </a:rPr>
              <a:t>Ist </a:t>
            </a:r>
            <a:r>
              <a:rPr lang="de-DE" b="1" dirty="0">
                <a:solidFill>
                  <a:srgbClr val="0070C0"/>
                </a:solidFill>
              </a:rPr>
              <a:t>t</a:t>
            </a:r>
            <a:r>
              <a:rPr lang="de-DE" b="1" baseline="-25000" dirty="0">
                <a:solidFill>
                  <a:srgbClr val="0070C0"/>
                </a:solidFill>
              </a:rPr>
              <a:t>b</a:t>
            </a:r>
            <a:r>
              <a:rPr lang="de-DE" dirty="0">
                <a:solidFill>
                  <a:srgbClr val="0070C0"/>
                </a:solidFill>
              </a:rPr>
              <a:t> die kleinere Zeit als </a:t>
            </a:r>
            <a:r>
              <a:rPr lang="de-DE" b="1" dirty="0" err="1">
                <a:solidFill>
                  <a:srgbClr val="0070C0"/>
                </a:solidFill>
              </a:rPr>
              <a:t>t</a:t>
            </a:r>
            <a:r>
              <a:rPr lang="de-DE" b="1" baseline="-25000" dirty="0" err="1">
                <a:solidFill>
                  <a:srgbClr val="0070C0"/>
                </a:solidFill>
              </a:rPr>
              <a:t>r</a:t>
            </a:r>
            <a:r>
              <a:rPr lang="de-DE" dirty="0">
                <a:solidFill>
                  <a:srgbClr val="0070C0"/>
                </a:solidFill>
              </a:rPr>
              <a:t>, wird der aktuelle Prozess unterbrochen und P ausgeführt</a:t>
            </a:r>
          </a:p>
          <a:p>
            <a:r>
              <a:rPr lang="de-DE" dirty="0"/>
              <a:t>Nachteile?</a:t>
            </a:r>
          </a:p>
          <a:p>
            <a:pPr lvl="1"/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3"/>
          </p:nvPr>
        </p:nvSpPr>
        <p:spPr>
          <a:xfrm>
            <a:off x="467544" y="5589240"/>
            <a:ext cx="8208912" cy="1008112"/>
          </a:xfrm>
        </p:spPr>
        <p:txBody>
          <a:bodyPr>
            <a:normAutofit/>
          </a:bodyPr>
          <a:lstStyle/>
          <a:p>
            <a:r>
              <a:rPr lang="de-DE" sz="2400" dirty="0"/>
              <a:t>Prozesse müssen unterbrechbar sein</a:t>
            </a:r>
          </a:p>
          <a:p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52375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35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Scheduling in Interaktiven Systemen</a:t>
            </a:r>
          </a:p>
        </p:txBody>
      </p:sp>
    </p:spTree>
    <p:extLst>
      <p:ext uri="{BB962C8B-B14F-4D97-AF65-F5344CB8AC3E}">
        <p14:creationId xmlns:p14="http://schemas.microsoft.com/office/powerpoint/2010/main" val="22518987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5EBF25-C2DC-DC44-B4F7-3F4B4CB2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Scheduling in Interaktiven Systemen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765D249-DE6B-76AA-9F0D-2D8E1BB66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36</a:t>
            </a:fld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12DDB0B-D62D-1AFB-F0C1-E336B3FAB79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Eigenschaften Interaktiver Systeme</a:t>
            </a:r>
          </a:p>
          <a:p>
            <a:pPr lvl="1"/>
            <a:r>
              <a:rPr lang="de-DE" dirty="0"/>
              <a:t>Ziel: schnelle Reaktion auf Benutzereingaben</a:t>
            </a:r>
          </a:p>
          <a:p>
            <a:pPr lvl="1"/>
            <a:r>
              <a:rPr lang="de-DE" dirty="0"/>
              <a:t>Typische Beispiele: Laptops, Desktops, Web-Browser, Texteditoren</a:t>
            </a:r>
          </a:p>
          <a:p>
            <a:pPr lvl="1"/>
            <a:r>
              <a:rPr lang="de-DE" dirty="0"/>
              <a:t>Prozesse sind häufig I/O-</a:t>
            </a:r>
            <a:r>
              <a:rPr lang="de-DE" dirty="0" err="1"/>
              <a:t>bound</a:t>
            </a:r>
            <a:r>
              <a:rPr lang="de-DE" dirty="0"/>
              <a:t> → kurze CPU-Phasen, viele Kontextwechsel</a:t>
            </a:r>
          </a:p>
          <a:p>
            <a:r>
              <a:rPr lang="de-DE" dirty="0"/>
              <a:t>Anforderungen an das Scheduling</a:t>
            </a:r>
          </a:p>
          <a:p>
            <a:pPr lvl="1"/>
            <a:r>
              <a:rPr lang="de-DE" dirty="0"/>
              <a:t>Minimale Antwortzeit auf Ereignisse (z. B. Mausklicks)</a:t>
            </a:r>
          </a:p>
          <a:p>
            <a:pPr lvl="1"/>
            <a:r>
              <a:rPr lang="de-DE" dirty="0"/>
              <a:t>Gleichmäßige Reaktionszeiten trotz konkurrierender Prozesse</a:t>
            </a:r>
          </a:p>
          <a:p>
            <a:pPr lvl="1"/>
            <a:r>
              <a:rPr lang="de-DE" dirty="0"/>
              <a:t>Proportionale Reaktion: z. B. Fenster schließen sollte schneller gehen als Datei-Dekomprimierung</a:t>
            </a:r>
          </a:p>
        </p:txBody>
      </p:sp>
    </p:spTree>
    <p:extLst>
      <p:ext uri="{BB962C8B-B14F-4D97-AF65-F5344CB8AC3E}">
        <p14:creationId xmlns:p14="http://schemas.microsoft.com/office/powerpoint/2010/main" val="187174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Round</a:t>
            </a:r>
            <a:r>
              <a:rPr lang="de-DE" b="1" dirty="0"/>
              <a:t>-Robin</a:t>
            </a:r>
            <a:r>
              <a:rPr lang="de-DE" dirty="0"/>
              <a:t>-Scheduling</a:t>
            </a:r>
            <a:endParaRPr lang="de-DE" b="1" dirty="0">
              <a:solidFill>
                <a:srgbClr val="FF0000"/>
              </a:solidFill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37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34136"/>
          </a:xfrm>
        </p:spPr>
        <p:txBody>
          <a:bodyPr vert="horz" anchor="t">
            <a:normAutofit/>
          </a:bodyPr>
          <a:lstStyle/>
          <a:p>
            <a:r>
              <a:rPr lang="de-DE" dirty="0"/>
              <a:t>Jeder Prozess erhält ein festes Zeitfenster, in dem er am Stück ausführen darf -  das </a:t>
            </a:r>
            <a:r>
              <a:rPr lang="de-DE" b="1" dirty="0">
                <a:solidFill>
                  <a:srgbClr val="0070C0"/>
                </a:solidFill>
              </a:rPr>
              <a:t>Quantum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b="1" dirty="0">
                <a:solidFill>
                  <a:srgbClr val="0070C0"/>
                </a:solidFill>
              </a:rPr>
              <a:t>Q</a:t>
            </a:r>
          </a:p>
          <a:p>
            <a:r>
              <a:rPr lang="de-DE" dirty="0"/>
              <a:t>Die Prozesse im Zustand „Ready“ werden in einer Warteschlange (FIFO) verwaltet</a:t>
            </a:r>
          </a:p>
          <a:p>
            <a:pPr marL="0" indent="0">
              <a:buNone/>
            </a:pPr>
            <a:r>
              <a:rPr lang="de-DE" dirty="0"/>
              <a:t>Algorithmus:</a:t>
            </a:r>
          </a:p>
          <a:p>
            <a:r>
              <a:rPr lang="de-DE" dirty="0"/>
              <a:t>Sei </a:t>
            </a:r>
            <a:r>
              <a:rPr lang="de-DE" b="1" dirty="0"/>
              <a:t>T</a:t>
            </a:r>
            <a:r>
              <a:rPr lang="de-DE" dirty="0"/>
              <a:t> die CPU-Burst Zeit des aktuell laufenden Prozesses </a:t>
            </a:r>
            <a:r>
              <a:rPr lang="de-DE" b="1" dirty="0"/>
              <a:t>p</a:t>
            </a:r>
          </a:p>
          <a:p>
            <a:pPr lvl="1"/>
            <a:r>
              <a:rPr lang="de-DE" dirty="0"/>
              <a:t>Falls </a:t>
            </a:r>
            <a:r>
              <a:rPr lang="de-DE" b="1" dirty="0"/>
              <a:t>T &lt;=</a:t>
            </a:r>
            <a:r>
              <a:rPr lang="de-DE" dirty="0"/>
              <a:t> </a:t>
            </a:r>
            <a:r>
              <a:rPr lang="de-DE" b="1" dirty="0">
                <a:solidFill>
                  <a:srgbClr val="0070C0"/>
                </a:solidFill>
              </a:rPr>
              <a:t>Q</a:t>
            </a:r>
            <a:r>
              <a:rPr lang="de-DE" dirty="0"/>
              <a:t>: sobald </a:t>
            </a:r>
            <a:r>
              <a:rPr lang="de-DE" b="1" dirty="0"/>
              <a:t>p</a:t>
            </a:r>
            <a:r>
              <a:rPr lang="de-DE" dirty="0"/>
              <a:t> fertig ist, wird der nächste Prozess aus der FIFO ausgeführt</a:t>
            </a:r>
          </a:p>
          <a:p>
            <a:pPr lvl="1"/>
            <a:r>
              <a:rPr lang="de-DE" dirty="0"/>
              <a:t>Falls </a:t>
            </a:r>
            <a:r>
              <a:rPr lang="de-DE" b="1" dirty="0"/>
              <a:t>T &gt;</a:t>
            </a:r>
            <a:r>
              <a:rPr lang="de-DE" dirty="0"/>
              <a:t> </a:t>
            </a:r>
            <a:r>
              <a:rPr lang="de-DE" b="1" dirty="0">
                <a:solidFill>
                  <a:srgbClr val="0070C0"/>
                </a:solidFill>
              </a:rPr>
              <a:t>Q</a:t>
            </a:r>
            <a:r>
              <a:rPr lang="de-DE" dirty="0"/>
              <a:t>: </a:t>
            </a:r>
            <a:r>
              <a:rPr lang="de-DE" b="1" dirty="0"/>
              <a:t>p</a:t>
            </a:r>
            <a:r>
              <a:rPr lang="de-DE" dirty="0"/>
              <a:t> wird nach Zeit </a:t>
            </a:r>
            <a:r>
              <a:rPr lang="de-DE" b="1" dirty="0">
                <a:solidFill>
                  <a:srgbClr val="0070C0"/>
                </a:solidFill>
              </a:rPr>
              <a:t>Q </a:t>
            </a:r>
            <a:r>
              <a:rPr lang="de-DE" u="sng" dirty="0"/>
              <a:t>unterbrochen</a:t>
            </a:r>
            <a:r>
              <a:rPr lang="de-DE" dirty="0"/>
              <a:t>, dann wird der nächste Prozess aus der FIFO ausgeführt</a:t>
            </a:r>
          </a:p>
          <a:p>
            <a:pPr lvl="1"/>
            <a:r>
              <a:rPr lang="de-DE" dirty="0"/>
              <a:t>In jedem Fall kommt </a:t>
            </a:r>
            <a:r>
              <a:rPr lang="de-DE" b="1" dirty="0"/>
              <a:t>p</a:t>
            </a:r>
            <a:r>
              <a:rPr lang="de-DE" dirty="0"/>
              <a:t> ans Ende der FIFO</a:t>
            </a:r>
          </a:p>
        </p:txBody>
      </p:sp>
    </p:spTree>
    <p:extLst>
      <p:ext uri="{BB962C8B-B14F-4D97-AF65-F5344CB8AC3E}">
        <p14:creationId xmlns:p14="http://schemas.microsoft.com/office/powerpoint/2010/main" val="359388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RR: Implementierung der Prozess-Verwaltung </a:t>
            </a:r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38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913656"/>
          </a:xfrm>
        </p:spPr>
        <p:txBody>
          <a:bodyPr>
            <a:normAutofit/>
          </a:bodyPr>
          <a:lstStyle/>
          <a:p>
            <a:r>
              <a:rPr lang="de-DE" dirty="0"/>
              <a:t>Eine Liste; Endet der aktuelle Prozess, wird sein PCB vom Anfang an das Ende der Liste verschoben</a:t>
            </a:r>
          </a:p>
        </p:txBody>
      </p:sp>
      <p:sp>
        <p:nvSpPr>
          <p:cNvPr id="22" name="Inhaltsplatzhalter 21"/>
          <p:cNvSpPr>
            <a:spLocks noGrp="1"/>
          </p:cNvSpPr>
          <p:nvPr>
            <p:ph sz="quarter" idx="13"/>
          </p:nvPr>
        </p:nvSpPr>
        <p:spPr>
          <a:xfrm>
            <a:off x="467544" y="3861048"/>
            <a:ext cx="8352928" cy="1008112"/>
          </a:xfrm>
        </p:spPr>
        <p:txBody>
          <a:bodyPr/>
          <a:lstStyle/>
          <a:p>
            <a:r>
              <a:rPr lang="de-DE" dirty="0"/>
              <a:t>Einfacher: PCB werden in eine zyklische Liste angeordnet; nur der Zeiger zum </a:t>
            </a:r>
            <a:r>
              <a:rPr lang="de-DE" dirty="0" err="1"/>
              <a:t>akt</a:t>
            </a:r>
            <a:r>
              <a:rPr lang="de-DE" dirty="0"/>
              <a:t>. Prozess wandert</a:t>
            </a:r>
          </a:p>
        </p:txBody>
      </p:sp>
      <p:grpSp>
        <p:nvGrpSpPr>
          <p:cNvPr id="48" name="Gruppieren 47"/>
          <p:cNvGrpSpPr/>
          <p:nvPr/>
        </p:nvGrpSpPr>
        <p:grpSpPr>
          <a:xfrm>
            <a:off x="683568" y="2276872"/>
            <a:ext cx="7416824" cy="1160839"/>
            <a:chOff x="611560" y="2780928"/>
            <a:chExt cx="7416824" cy="1160839"/>
          </a:xfrm>
        </p:grpSpPr>
        <p:grpSp>
          <p:nvGrpSpPr>
            <p:cNvPr id="9" name="Gruppieren 10"/>
            <p:cNvGrpSpPr/>
            <p:nvPr/>
          </p:nvGrpSpPr>
          <p:grpSpPr>
            <a:xfrm>
              <a:off x="827584" y="2780928"/>
              <a:ext cx="3096344" cy="432048"/>
              <a:chOff x="827584" y="5733256"/>
              <a:chExt cx="3096344" cy="432048"/>
            </a:xfrm>
          </p:grpSpPr>
          <p:cxnSp>
            <p:nvCxnSpPr>
              <p:cNvPr id="10" name="Gerade Verbindung 9"/>
              <p:cNvCxnSpPr>
                <a:stCxn id="5" idx="3"/>
                <a:endCxn id="8" idx="1"/>
              </p:cNvCxnSpPr>
              <p:nvPr/>
            </p:nvCxnSpPr>
            <p:spPr>
              <a:xfrm>
                <a:off x="1331640" y="5949280"/>
                <a:ext cx="20882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Rechteck 4"/>
              <p:cNvSpPr/>
              <p:nvPr/>
            </p:nvSpPr>
            <p:spPr>
              <a:xfrm>
                <a:off x="827584" y="5733256"/>
                <a:ext cx="504056" cy="43204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B</a:t>
                </a:r>
              </a:p>
            </p:txBody>
          </p:sp>
          <p:sp>
            <p:nvSpPr>
              <p:cNvPr id="6" name="Rechteck 5"/>
              <p:cNvSpPr/>
              <p:nvPr/>
            </p:nvSpPr>
            <p:spPr>
              <a:xfrm>
                <a:off x="1691680" y="5733256"/>
                <a:ext cx="504056" cy="432048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F</a:t>
                </a:r>
              </a:p>
            </p:txBody>
          </p:sp>
          <p:sp>
            <p:nvSpPr>
              <p:cNvPr id="7" name="Rechteck 6"/>
              <p:cNvSpPr/>
              <p:nvPr/>
            </p:nvSpPr>
            <p:spPr>
              <a:xfrm>
                <a:off x="2555776" y="5733256"/>
                <a:ext cx="504056" cy="432048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D</a:t>
                </a:r>
              </a:p>
            </p:txBody>
          </p:sp>
          <p:sp>
            <p:nvSpPr>
              <p:cNvPr id="8" name="Rechteck 7"/>
              <p:cNvSpPr/>
              <p:nvPr/>
            </p:nvSpPr>
            <p:spPr>
              <a:xfrm>
                <a:off x="3419872" y="5733256"/>
                <a:ext cx="504056" cy="432048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G</a:t>
                </a:r>
              </a:p>
            </p:txBody>
          </p:sp>
        </p:grpSp>
        <p:grpSp>
          <p:nvGrpSpPr>
            <p:cNvPr id="11" name="Gruppieren 11"/>
            <p:cNvGrpSpPr/>
            <p:nvPr/>
          </p:nvGrpSpPr>
          <p:grpSpPr>
            <a:xfrm>
              <a:off x="4932040" y="2780928"/>
              <a:ext cx="3096344" cy="432048"/>
              <a:chOff x="827584" y="5733256"/>
              <a:chExt cx="3096344" cy="432048"/>
            </a:xfrm>
          </p:grpSpPr>
          <p:cxnSp>
            <p:nvCxnSpPr>
              <p:cNvPr id="13" name="Gerade Verbindung 12"/>
              <p:cNvCxnSpPr>
                <a:stCxn id="14" idx="3"/>
                <a:endCxn id="17" idx="1"/>
              </p:cNvCxnSpPr>
              <p:nvPr/>
            </p:nvCxnSpPr>
            <p:spPr>
              <a:xfrm>
                <a:off x="1331640" y="5949280"/>
                <a:ext cx="20882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hteck 13"/>
              <p:cNvSpPr/>
              <p:nvPr/>
            </p:nvSpPr>
            <p:spPr>
              <a:xfrm>
                <a:off x="827584" y="5733256"/>
                <a:ext cx="504056" cy="43204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F</a:t>
                </a:r>
              </a:p>
            </p:txBody>
          </p:sp>
          <p:sp>
            <p:nvSpPr>
              <p:cNvPr id="15" name="Rechteck 14"/>
              <p:cNvSpPr/>
              <p:nvPr/>
            </p:nvSpPr>
            <p:spPr>
              <a:xfrm>
                <a:off x="1691680" y="5733256"/>
                <a:ext cx="504056" cy="432048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D</a:t>
                </a:r>
              </a:p>
            </p:txBody>
          </p:sp>
          <p:sp>
            <p:nvSpPr>
              <p:cNvPr id="16" name="Rechteck 15"/>
              <p:cNvSpPr/>
              <p:nvPr/>
            </p:nvSpPr>
            <p:spPr>
              <a:xfrm>
                <a:off x="2555776" y="5733256"/>
                <a:ext cx="504056" cy="432048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G</a:t>
                </a:r>
              </a:p>
            </p:txBody>
          </p:sp>
          <p:sp>
            <p:nvSpPr>
              <p:cNvPr id="17" name="Rechteck 16"/>
              <p:cNvSpPr/>
              <p:nvPr/>
            </p:nvSpPr>
            <p:spPr>
              <a:xfrm>
                <a:off x="3419872" y="5733256"/>
                <a:ext cx="504056" cy="432048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B</a:t>
                </a:r>
              </a:p>
            </p:txBody>
          </p:sp>
        </p:grpSp>
        <p:sp>
          <p:nvSpPr>
            <p:cNvPr id="18" name="Pfeil nach rechts 17"/>
            <p:cNvSpPr/>
            <p:nvPr/>
          </p:nvSpPr>
          <p:spPr>
            <a:xfrm>
              <a:off x="4211960" y="2852936"/>
              <a:ext cx="504056" cy="360040"/>
            </a:xfrm>
            <a:prstGeom prst="right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Textfeld 18"/>
            <p:cNvSpPr txBox="1"/>
            <p:nvPr/>
          </p:nvSpPr>
          <p:spPr>
            <a:xfrm>
              <a:off x="611560" y="3356992"/>
              <a:ext cx="95891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dirty="0"/>
                <a:t>aktueller</a:t>
              </a:r>
            </a:p>
            <a:p>
              <a:r>
                <a:rPr lang="de-DE" sz="1600" dirty="0"/>
                <a:t>Prozess</a:t>
              </a:r>
            </a:p>
          </p:txBody>
        </p:sp>
        <p:cxnSp>
          <p:nvCxnSpPr>
            <p:cNvPr id="21" name="Gerade Verbindung mit Pfeil 20"/>
            <p:cNvCxnSpPr>
              <a:stCxn id="19" idx="0"/>
              <a:endCxn id="5" idx="2"/>
            </p:cNvCxnSpPr>
            <p:nvPr/>
          </p:nvCxnSpPr>
          <p:spPr>
            <a:xfrm rot="16200000" flipV="1">
              <a:off x="1013308" y="3279280"/>
              <a:ext cx="144016" cy="1140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/>
            <p:cNvSpPr txBox="1"/>
            <p:nvPr/>
          </p:nvSpPr>
          <p:spPr>
            <a:xfrm>
              <a:off x="4716016" y="3356992"/>
              <a:ext cx="95891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dirty="0"/>
                <a:t>aktueller</a:t>
              </a:r>
            </a:p>
            <a:p>
              <a:r>
                <a:rPr lang="de-DE" sz="1600" dirty="0"/>
                <a:t>Prozess</a:t>
              </a:r>
            </a:p>
          </p:txBody>
        </p:sp>
        <p:cxnSp>
          <p:nvCxnSpPr>
            <p:cNvPr id="27" name="Gerade Verbindung mit Pfeil 26"/>
            <p:cNvCxnSpPr>
              <a:stCxn id="26" idx="0"/>
              <a:endCxn id="14" idx="2"/>
            </p:cNvCxnSpPr>
            <p:nvPr/>
          </p:nvCxnSpPr>
          <p:spPr>
            <a:xfrm rot="16200000" flipV="1">
              <a:off x="5117764" y="3279280"/>
              <a:ext cx="144016" cy="1140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uppieren 48"/>
          <p:cNvGrpSpPr/>
          <p:nvPr/>
        </p:nvGrpSpPr>
        <p:grpSpPr>
          <a:xfrm>
            <a:off x="683568" y="5157192"/>
            <a:ext cx="7416824" cy="1160839"/>
            <a:chOff x="683568" y="5157192"/>
            <a:chExt cx="7416824" cy="1160839"/>
          </a:xfrm>
        </p:grpSpPr>
        <p:grpSp>
          <p:nvGrpSpPr>
            <p:cNvPr id="23" name="Gruppieren 10"/>
            <p:cNvGrpSpPr/>
            <p:nvPr/>
          </p:nvGrpSpPr>
          <p:grpSpPr>
            <a:xfrm>
              <a:off x="899592" y="5157192"/>
              <a:ext cx="3096344" cy="432048"/>
              <a:chOff x="827584" y="5733256"/>
              <a:chExt cx="3096344" cy="432048"/>
            </a:xfrm>
          </p:grpSpPr>
          <p:cxnSp>
            <p:nvCxnSpPr>
              <p:cNvPr id="24" name="Gerade Verbindung 23"/>
              <p:cNvCxnSpPr>
                <a:stCxn id="25" idx="3"/>
                <a:endCxn id="30" idx="1"/>
              </p:cNvCxnSpPr>
              <p:nvPr/>
            </p:nvCxnSpPr>
            <p:spPr>
              <a:xfrm>
                <a:off x="1331640" y="5949280"/>
                <a:ext cx="20882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hteck 24"/>
              <p:cNvSpPr/>
              <p:nvPr/>
            </p:nvSpPr>
            <p:spPr>
              <a:xfrm>
                <a:off x="827584" y="5733256"/>
                <a:ext cx="504056" cy="43204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B</a:t>
                </a:r>
              </a:p>
            </p:txBody>
          </p:sp>
          <p:sp>
            <p:nvSpPr>
              <p:cNvPr id="28" name="Rechteck 27"/>
              <p:cNvSpPr/>
              <p:nvPr/>
            </p:nvSpPr>
            <p:spPr>
              <a:xfrm>
                <a:off x="1691680" y="5733256"/>
                <a:ext cx="504056" cy="432048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F</a:t>
                </a:r>
              </a:p>
            </p:txBody>
          </p:sp>
          <p:sp>
            <p:nvSpPr>
              <p:cNvPr id="29" name="Rechteck 28"/>
              <p:cNvSpPr/>
              <p:nvPr/>
            </p:nvSpPr>
            <p:spPr>
              <a:xfrm>
                <a:off x="2555776" y="5733256"/>
                <a:ext cx="504056" cy="432048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D</a:t>
                </a:r>
              </a:p>
            </p:txBody>
          </p:sp>
          <p:sp>
            <p:nvSpPr>
              <p:cNvPr id="30" name="Rechteck 29"/>
              <p:cNvSpPr/>
              <p:nvPr/>
            </p:nvSpPr>
            <p:spPr>
              <a:xfrm>
                <a:off x="3419872" y="5733256"/>
                <a:ext cx="504056" cy="432048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G</a:t>
                </a:r>
              </a:p>
            </p:txBody>
          </p:sp>
        </p:grpSp>
        <p:sp>
          <p:nvSpPr>
            <p:cNvPr id="38" name="Textfeld 37"/>
            <p:cNvSpPr txBox="1"/>
            <p:nvPr/>
          </p:nvSpPr>
          <p:spPr>
            <a:xfrm>
              <a:off x="683568" y="5733256"/>
              <a:ext cx="95891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dirty="0"/>
                <a:t>aktueller</a:t>
              </a:r>
            </a:p>
            <a:p>
              <a:r>
                <a:rPr lang="de-DE" sz="1600" dirty="0"/>
                <a:t>Prozess</a:t>
              </a:r>
            </a:p>
          </p:txBody>
        </p:sp>
        <p:cxnSp>
          <p:nvCxnSpPr>
            <p:cNvPr id="39" name="Gerade Verbindung mit Pfeil 38"/>
            <p:cNvCxnSpPr>
              <a:stCxn id="38" idx="0"/>
              <a:endCxn id="25" idx="2"/>
            </p:cNvCxnSpPr>
            <p:nvPr/>
          </p:nvCxnSpPr>
          <p:spPr>
            <a:xfrm rot="16200000" flipV="1">
              <a:off x="1085316" y="5655544"/>
              <a:ext cx="144016" cy="1140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feld 39"/>
            <p:cNvSpPr txBox="1"/>
            <p:nvPr/>
          </p:nvSpPr>
          <p:spPr>
            <a:xfrm>
              <a:off x="5652120" y="5733256"/>
              <a:ext cx="95891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dirty="0"/>
                <a:t>aktueller</a:t>
              </a:r>
            </a:p>
            <a:p>
              <a:r>
                <a:rPr lang="de-DE" sz="1600" dirty="0"/>
                <a:t>Prozess</a:t>
              </a:r>
            </a:p>
          </p:txBody>
        </p:sp>
        <p:cxnSp>
          <p:nvCxnSpPr>
            <p:cNvPr id="41" name="Gerade Verbindung mit Pfeil 40"/>
            <p:cNvCxnSpPr>
              <a:stCxn id="40" idx="0"/>
            </p:cNvCxnSpPr>
            <p:nvPr/>
          </p:nvCxnSpPr>
          <p:spPr>
            <a:xfrm rot="16200000" flipV="1">
              <a:off x="6053868" y="5655544"/>
              <a:ext cx="144016" cy="1140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uppieren 10"/>
            <p:cNvGrpSpPr/>
            <p:nvPr/>
          </p:nvGrpSpPr>
          <p:grpSpPr>
            <a:xfrm>
              <a:off x="5004048" y="5157192"/>
              <a:ext cx="3096344" cy="432048"/>
              <a:chOff x="827584" y="5733256"/>
              <a:chExt cx="3096344" cy="432048"/>
            </a:xfrm>
          </p:grpSpPr>
          <p:cxnSp>
            <p:nvCxnSpPr>
              <p:cNvPr id="43" name="Gerade Verbindung 42"/>
              <p:cNvCxnSpPr>
                <a:stCxn id="44" idx="3"/>
                <a:endCxn id="47" idx="1"/>
              </p:cNvCxnSpPr>
              <p:nvPr/>
            </p:nvCxnSpPr>
            <p:spPr>
              <a:xfrm>
                <a:off x="1331640" y="5949280"/>
                <a:ext cx="20882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echteck 43"/>
              <p:cNvSpPr/>
              <p:nvPr/>
            </p:nvSpPr>
            <p:spPr>
              <a:xfrm>
                <a:off x="827584" y="5733256"/>
                <a:ext cx="504056" cy="432048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B</a:t>
                </a:r>
              </a:p>
            </p:txBody>
          </p:sp>
          <p:sp>
            <p:nvSpPr>
              <p:cNvPr id="45" name="Rechteck 44"/>
              <p:cNvSpPr/>
              <p:nvPr/>
            </p:nvSpPr>
            <p:spPr>
              <a:xfrm>
                <a:off x="1691680" y="5733256"/>
                <a:ext cx="504056" cy="43204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F</a:t>
                </a:r>
              </a:p>
            </p:txBody>
          </p:sp>
          <p:sp>
            <p:nvSpPr>
              <p:cNvPr id="46" name="Rechteck 45"/>
              <p:cNvSpPr/>
              <p:nvPr/>
            </p:nvSpPr>
            <p:spPr>
              <a:xfrm>
                <a:off x="2555776" y="5733256"/>
                <a:ext cx="504056" cy="432048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D</a:t>
                </a:r>
              </a:p>
            </p:txBody>
          </p:sp>
          <p:sp>
            <p:nvSpPr>
              <p:cNvPr id="47" name="Rechteck 46"/>
              <p:cNvSpPr/>
              <p:nvPr/>
            </p:nvSpPr>
            <p:spPr>
              <a:xfrm>
                <a:off x="3419872" y="5733256"/>
                <a:ext cx="504056" cy="432048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G</a:t>
                </a:r>
              </a:p>
            </p:txBody>
          </p:sp>
        </p:grpSp>
        <p:sp>
          <p:nvSpPr>
            <p:cNvPr id="37" name="Pfeil nach rechts 36"/>
            <p:cNvSpPr/>
            <p:nvPr/>
          </p:nvSpPr>
          <p:spPr>
            <a:xfrm>
              <a:off x="4283968" y="5229200"/>
              <a:ext cx="504056" cy="360040"/>
            </a:xfrm>
            <a:prstGeom prst="right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3" name="Freeform 32"/>
          <p:cNvSpPr/>
          <p:nvPr/>
        </p:nvSpPr>
        <p:spPr>
          <a:xfrm>
            <a:off x="295701" y="5361034"/>
            <a:ext cx="3680098" cy="1305426"/>
          </a:xfrm>
          <a:custGeom>
            <a:avLst/>
            <a:gdLst>
              <a:gd name="connsiteX0" fmla="*/ 3455197 w 3618706"/>
              <a:gd name="connsiteY0" fmla="*/ 517023 h 1372930"/>
              <a:gd name="connsiteX1" fmla="*/ 3265627 w 3618706"/>
              <a:gd name="connsiteY1" fmla="*/ 1253004 h 1372930"/>
              <a:gd name="connsiteX2" fmla="*/ 321705 w 3618706"/>
              <a:gd name="connsiteY2" fmla="*/ 1253004 h 1372930"/>
              <a:gd name="connsiteX3" fmla="*/ 98680 w 3618706"/>
              <a:gd name="connsiteY3" fmla="*/ 93277 h 1372930"/>
              <a:gd name="connsiteX4" fmla="*/ 511275 w 3618706"/>
              <a:gd name="connsiteY4" fmla="*/ 70975 h 1372930"/>
              <a:gd name="connsiteX0" fmla="*/ 3432894 w 3606129"/>
              <a:gd name="connsiteY0" fmla="*/ 349755 h 1382434"/>
              <a:gd name="connsiteX1" fmla="*/ 3265627 w 3606129"/>
              <a:gd name="connsiteY1" fmla="*/ 1253004 h 1382434"/>
              <a:gd name="connsiteX2" fmla="*/ 321705 w 3606129"/>
              <a:gd name="connsiteY2" fmla="*/ 1253004 h 1382434"/>
              <a:gd name="connsiteX3" fmla="*/ 98680 w 3606129"/>
              <a:gd name="connsiteY3" fmla="*/ 93277 h 1382434"/>
              <a:gd name="connsiteX4" fmla="*/ 511275 w 3606129"/>
              <a:gd name="connsiteY4" fmla="*/ 70975 h 1382434"/>
              <a:gd name="connsiteX0" fmla="*/ 3506863 w 3680098"/>
              <a:gd name="connsiteY0" fmla="*/ 281483 h 1305426"/>
              <a:gd name="connsiteX1" fmla="*/ 3339596 w 3680098"/>
              <a:gd name="connsiteY1" fmla="*/ 1184732 h 1305426"/>
              <a:gd name="connsiteX2" fmla="*/ 395674 w 3680098"/>
              <a:gd name="connsiteY2" fmla="*/ 1184732 h 1305426"/>
              <a:gd name="connsiteX3" fmla="*/ 49986 w 3680098"/>
              <a:gd name="connsiteY3" fmla="*/ 158819 h 1305426"/>
              <a:gd name="connsiteX4" fmla="*/ 585244 w 3680098"/>
              <a:gd name="connsiteY4" fmla="*/ 2703 h 1305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80098" h="1305426">
                <a:moveTo>
                  <a:pt x="3506863" y="281483"/>
                </a:moveTo>
                <a:cubicBezTo>
                  <a:pt x="3673202" y="588142"/>
                  <a:pt x="3858127" y="1034191"/>
                  <a:pt x="3339596" y="1184732"/>
                </a:cubicBezTo>
                <a:cubicBezTo>
                  <a:pt x="2821065" y="1335273"/>
                  <a:pt x="943942" y="1355718"/>
                  <a:pt x="395674" y="1184732"/>
                </a:cubicBezTo>
                <a:cubicBezTo>
                  <a:pt x="-152594" y="1013747"/>
                  <a:pt x="18391" y="355824"/>
                  <a:pt x="49986" y="158819"/>
                </a:cubicBezTo>
                <a:cubicBezTo>
                  <a:pt x="81581" y="-38186"/>
                  <a:pt x="533205" y="4561"/>
                  <a:pt x="585244" y="2703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Freeform 49"/>
          <p:cNvSpPr/>
          <p:nvPr/>
        </p:nvSpPr>
        <p:spPr>
          <a:xfrm>
            <a:off x="4420294" y="5357448"/>
            <a:ext cx="3680098" cy="1305426"/>
          </a:xfrm>
          <a:custGeom>
            <a:avLst/>
            <a:gdLst>
              <a:gd name="connsiteX0" fmla="*/ 3455197 w 3618706"/>
              <a:gd name="connsiteY0" fmla="*/ 517023 h 1372930"/>
              <a:gd name="connsiteX1" fmla="*/ 3265627 w 3618706"/>
              <a:gd name="connsiteY1" fmla="*/ 1253004 h 1372930"/>
              <a:gd name="connsiteX2" fmla="*/ 321705 w 3618706"/>
              <a:gd name="connsiteY2" fmla="*/ 1253004 h 1372930"/>
              <a:gd name="connsiteX3" fmla="*/ 98680 w 3618706"/>
              <a:gd name="connsiteY3" fmla="*/ 93277 h 1372930"/>
              <a:gd name="connsiteX4" fmla="*/ 511275 w 3618706"/>
              <a:gd name="connsiteY4" fmla="*/ 70975 h 1372930"/>
              <a:gd name="connsiteX0" fmla="*/ 3432894 w 3606129"/>
              <a:gd name="connsiteY0" fmla="*/ 349755 h 1382434"/>
              <a:gd name="connsiteX1" fmla="*/ 3265627 w 3606129"/>
              <a:gd name="connsiteY1" fmla="*/ 1253004 h 1382434"/>
              <a:gd name="connsiteX2" fmla="*/ 321705 w 3606129"/>
              <a:gd name="connsiteY2" fmla="*/ 1253004 h 1382434"/>
              <a:gd name="connsiteX3" fmla="*/ 98680 w 3606129"/>
              <a:gd name="connsiteY3" fmla="*/ 93277 h 1382434"/>
              <a:gd name="connsiteX4" fmla="*/ 511275 w 3606129"/>
              <a:gd name="connsiteY4" fmla="*/ 70975 h 1382434"/>
              <a:gd name="connsiteX0" fmla="*/ 3506863 w 3680098"/>
              <a:gd name="connsiteY0" fmla="*/ 281483 h 1305426"/>
              <a:gd name="connsiteX1" fmla="*/ 3339596 w 3680098"/>
              <a:gd name="connsiteY1" fmla="*/ 1184732 h 1305426"/>
              <a:gd name="connsiteX2" fmla="*/ 395674 w 3680098"/>
              <a:gd name="connsiteY2" fmla="*/ 1184732 h 1305426"/>
              <a:gd name="connsiteX3" fmla="*/ 49986 w 3680098"/>
              <a:gd name="connsiteY3" fmla="*/ 158819 h 1305426"/>
              <a:gd name="connsiteX4" fmla="*/ 585244 w 3680098"/>
              <a:gd name="connsiteY4" fmla="*/ 2703 h 1305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80098" h="1305426">
                <a:moveTo>
                  <a:pt x="3506863" y="281483"/>
                </a:moveTo>
                <a:cubicBezTo>
                  <a:pt x="3673202" y="588142"/>
                  <a:pt x="3858127" y="1034191"/>
                  <a:pt x="3339596" y="1184732"/>
                </a:cubicBezTo>
                <a:cubicBezTo>
                  <a:pt x="2821065" y="1335273"/>
                  <a:pt x="943942" y="1355718"/>
                  <a:pt x="395674" y="1184732"/>
                </a:cubicBezTo>
                <a:cubicBezTo>
                  <a:pt x="-152594" y="1013747"/>
                  <a:pt x="18391" y="355824"/>
                  <a:pt x="49986" y="158819"/>
                </a:cubicBezTo>
                <a:cubicBezTo>
                  <a:pt x="81581" y="-38186"/>
                  <a:pt x="533205" y="4561"/>
                  <a:pt x="585244" y="2703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119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2" grpId="0" build="p"/>
      <p:bldP spid="33" grpId="0" animBg="1"/>
      <p:bldP spid="5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Round</a:t>
            </a:r>
            <a:r>
              <a:rPr lang="de-DE" dirty="0"/>
              <a:t>-Robin-Scheduling 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39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Das einzige, was wir verändern können, ist die </a:t>
            </a:r>
            <a:r>
              <a:rPr lang="de-DE" dirty="0">
                <a:solidFill>
                  <a:srgbClr val="0070C0"/>
                </a:solidFill>
              </a:rPr>
              <a:t>Länge des Quantums</a:t>
            </a:r>
          </a:p>
          <a:p>
            <a:r>
              <a:rPr lang="de-DE" dirty="0"/>
              <a:t>Welche Vorteile / Nachteile hat ein </a:t>
            </a:r>
            <a:r>
              <a:rPr lang="de-DE" u="sng" dirty="0"/>
              <a:t>kurzes</a:t>
            </a:r>
            <a:r>
              <a:rPr lang="de-DE" dirty="0"/>
              <a:t> Quantum?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3"/>
          </p:nvPr>
        </p:nvSpPr>
        <p:spPr>
          <a:xfrm>
            <a:off x="467544" y="2564904"/>
            <a:ext cx="8208912" cy="3793976"/>
          </a:xfrm>
        </p:spPr>
        <p:txBody>
          <a:bodyPr>
            <a:normAutofit/>
          </a:bodyPr>
          <a:lstStyle/>
          <a:p>
            <a:pPr lvl="1"/>
            <a:r>
              <a:rPr lang="de-DE" dirty="0"/>
              <a:t>Vorteile: Hohe Reaktionszeit</a:t>
            </a:r>
          </a:p>
          <a:p>
            <a:pPr lvl="1"/>
            <a:r>
              <a:rPr lang="de-DE" dirty="0"/>
              <a:t>Nachteile: Der Aufwand des Prozess-Wechsels (</a:t>
            </a:r>
            <a:r>
              <a:rPr lang="de-DE" b="1" dirty="0">
                <a:solidFill>
                  <a:srgbClr val="0070C0"/>
                </a:solidFill>
              </a:rPr>
              <a:t>context switch</a:t>
            </a:r>
            <a:r>
              <a:rPr lang="de-DE" dirty="0"/>
              <a:t>) nimmt hohen Anteil an der CPU Nutzung an</a:t>
            </a:r>
          </a:p>
          <a:p>
            <a:r>
              <a:rPr lang="de-DE" dirty="0"/>
              <a:t>Moderne BS haben ein Quantum von 10 bis 100 </a:t>
            </a:r>
            <a:r>
              <a:rPr lang="de-DE" dirty="0" err="1"/>
              <a:t>ms</a:t>
            </a:r>
            <a:endParaRPr lang="de-DE" dirty="0"/>
          </a:p>
          <a:p>
            <a:pPr lvl="1"/>
            <a:r>
              <a:rPr lang="de-DE" dirty="0"/>
              <a:t>Die Zeit des context switch ist weniger als 10 Mikrosek.</a:t>
            </a:r>
          </a:p>
          <a:p>
            <a:pPr lvl="1"/>
            <a:r>
              <a:rPr lang="de-DE" dirty="0"/>
              <a:t>=&gt; Die CPU-Effizienz ist ausreichend hoch</a:t>
            </a:r>
          </a:p>
          <a:p>
            <a:r>
              <a:rPr lang="de-DE" dirty="0"/>
              <a:t>Wenn das Quantum sehr lang wird, zu welcher  bekannten Scheduling-Strategie degeneriert R-R?</a:t>
            </a:r>
          </a:p>
          <a:p>
            <a:endParaRPr lang="de-DE" dirty="0"/>
          </a:p>
        </p:txBody>
      </p:sp>
      <p:sp>
        <p:nvSpPr>
          <p:cNvPr id="6" name="Textfeld 5"/>
          <p:cNvSpPr txBox="1"/>
          <p:nvPr/>
        </p:nvSpPr>
        <p:spPr>
          <a:xfrm>
            <a:off x="2763848" y="6269117"/>
            <a:ext cx="3518912" cy="49244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2600" dirty="0"/>
              <a:t>First-</a:t>
            </a:r>
            <a:r>
              <a:rPr lang="de-DE" sz="2600" dirty="0" err="1"/>
              <a:t>come</a:t>
            </a:r>
            <a:r>
              <a:rPr lang="de-DE" sz="2600" dirty="0"/>
              <a:t>-</a:t>
            </a:r>
            <a:r>
              <a:rPr lang="de-DE" sz="2600" dirty="0" err="1"/>
              <a:t>first</a:t>
            </a:r>
            <a:r>
              <a:rPr lang="de-DE" sz="2600" dirty="0"/>
              <a:t>-</a:t>
            </a:r>
            <a:r>
              <a:rPr lang="de-DE" sz="2600" dirty="0" err="1"/>
              <a:t>served</a:t>
            </a:r>
            <a:endParaRPr lang="de-DE" sz="260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CA93472-CA89-4830-A4C8-042411C32B34}"/>
              </a:ext>
            </a:extLst>
          </p:cNvPr>
          <p:cNvSpPr/>
          <p:nvPr/>
        </p:nvSpPr>
        <p:spPr>
          <a:xfrm>
            <a:off x="5698509" y="76200"/>
            <a:ext cx="2825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1177D1"/>
                </a:solidFill>
                <a:highlight>
                  <a:srgbClr val="00FF00"/>
                </a:highlight>
                <a:latin typeface="-apple-system"/>
                <a:hlinkClick r:id="rId3"/>
              </a:rPr>
              <a:t>https://bit.ly/ibn_hd</a:t>
            </a:r>
            <a:r>
              <a:rPr lang="en-US" sz="2400" dirty="0">
                <a:solidFill>
                  <a:srgbClr val="1177D1"/>
                </a:solidFill>
                <a:highlight>
                  <a:srgbClr val="00FF00"/>
                </a:highlight>
                <a:latin typeface="-apple-system"/>
              </a:rPr>
              <a:t> </a:t>
            </a:r>
            <a:endParaRPr lang="en-US" sz="2400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6004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build="allAtOnce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Mehrere Warteschlangen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40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3361511"/>
          </a:xfrm>
        </p:spPr>
        <p:txBody>
          <a:bodyPr>
            <a:normAutofit/>
          </a:bodyPr>
          <a:lstStyle/>
          <a:p>
            <a:r>
              <a:rPr lang="de-DE" dirty="0"/>
              <a:t>Bei </a:t>
            </a:r>
            <a:r>
              <a:rPr lang="de-DE" b="1" dirty="0" err="1">
                <a:solidFill>
                  <a:srgbClr val="0070C0"/>
                </a:solidFill>
              </a:rPr>
              <a:t>multilevel</a:t>
            </a:r>
            <a:r>
              <a:rPr lang="de-DE" b="1" dirty="0">
                <a:solidFill>
                  <a:srgbClr val="0070C0"/>
                </a:solidFill>
              </a:rPr>
              <a:t> </a:t>
            </a:r>
            <a:r>
              <a:rPr lang="de-DE" b="1" dirty="0" err="1">
                <a:solidFill>
                  <a:srgbClr val="0070C0"/>
                </a:solidFill>
              </a:rPr>
              <a:t>queue</a:t>
            </a:r>
            <a:r>
              <a:rPr lang="de-DE" b="1" dirty="0">
                <a:solidFill>
                  <a:srgbClr val="0070C0"/>
                </a:solidFill>
              </a:rPr>
              <a:t> </a:t>
            </a:r>
            <a:r>
              <a:rPr lang="de-DE" b="1" dirty="0" err="1">
                <a:solidFill>
                  <a:srgbClr val="0070C0"/>
                </a:solidFill>
              </a:rPr>
              <a:t>scheduling</a:t>
            </a:r>
            <a:r>
              <a:rPr lang="de-DE" b="1" dirty="0">
                <a:solidFill>
                  <a:srgbClr val="0070C0"/>
                </a:solidFill>
              </a:rPr>
              <a:t> </a:t>
            </a:r>
            <a:r>
              <a:rPr lang="de-DE" dirty="0"/>
              <a:t>können Prozesse in mehrere Gruppen unterteilt werden, z.B.</a:t>
            </a:r>
          </a:p>
          <a:p>
            <a:pPr lvl="1"/>
            <a:r>
              <a:rPr lang="de-DE" dirty="0">
                <a:solidFill>
                  <a:srgbClr val="0070C0"/>
                </a:solidFill>
              </a:rPr>
              <a:t>Gruppe A</a:t>
            </a:r>
            <a:r>
              <a:rPr lang="de-DE" dirty="0"/>
              <a:t>: interaktive Prozesse</a:t>
            </a:r>
          </a:p>
          <a:p>
            <a:pPr lvl="1"/>
            <a:r>
              <a:rPr lang="de-DE" dirty="0">
                <a:solidFill>
                  <a:srgbClr val="0070C0"/>
                </a:solidFill>
              </a:rPr>
              <a:t>Gruppe B</a:t>
            </a:r>
            <a:r>
              <a:rPr lang="de-DE" dirty="0"/>
              <a:t>: Hintergrund (</a:t>
            </a:r>
            <a:r>
              <a:rPr lang="de-DE" dirty="0" err="1"/>
              <a:t>batch</a:t>
            </a:r>
            <a:r>
              <a:rPr lang="de-DE" dirty="0"/>
              <a:t>) Prozesse</a:t>
            </a:r>
          </a:p>
          <a:p>
            <a:r>
              <a:rPr lang="de-DE" dirty="0"/>
              <a:t>Pro Gruppe: eigene Warteschlange und Scheduler</a:t>
            </a:r>
          </a:p>
          <a:p>
            <a:pPr lvl="1"/>
            <a:r>
              <a:rPr lang="de-DE" dirty="0"/>
              <a:t>Z.B. Gruppe A: Round-Robin; Gruppe B: FCFS</a:t>
            </a:r>
          </a:p>
          <a:p>
            <a:r>
              <a:rPr lang="de-DE" dirty="0"/>
              <a:t>Was fehlt hier, damit das funktioniert?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3"/>
          </p:nvPr>
        </p:nvSpPr>
        <p:spPr>
          <a:xfrm>
            <a:off x="425660" y="4365104"/>
            <a:ext cx="8208912" cy="2447855"/>
          </a:xfrm>
        </p:spPr>
        <p:txBody>
          <a:bodyPr>
            <a:normAutofit/>
          </a:bodyPr>
          <a:lstStyle/>
          <a:p>
            <a:r>
              <a:rPr lang="de-DE" dirty="0"/>
              <a:t>Wir brauchen Scheduling </a:t>
            </a:r>
            <a:r>
              <a:rPr lang="de-DE" u="sng" dirty="0"/>
              <a:t>zwischen</a:t>
            </a:r>
            <a:r>
              <a:rPr lang="de-DE" dirty="0"/>
              <a:t> den Schlagen</a:t>
            </a:r>
          </a:p>
          <a:p>
            <a:pPr lvl="1"/>
            <a:r>
              <a:rPr lang="de-DE" dirty="0"/>
              <a:t>Meist mit Prioritäten </a:t>
            </a:r>
          </a:p>
          <a:p>
            <a:pPr lvl="1"/>
            <a:r>
              <a:rPr lang="de-DE" dirty="0"/>
              <a:t>Z.B. nach dem Prinzip: eine Schlange niedriger Priorität kann nur ausführen, wenn alle Schlangen mit höherer Priorität leer sind (d.h. Prozesse blockiert / fertig)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3426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Mehrere Warteschlangen /2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41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3789040"/>
            <a:ext cx="8229600" cy="2640356"/>
          </a:xfrm>
        </p:spPr>
        <p:txBody>
          <a:bodyPr>
            <a:normAutofit/>
          </a:bodyPr>
          <a:lstStyle/>
          <a:p>
            <a:r>
              <a:rPr lang="de-DE" dirty="0"/>
              <a:t>Alternative </a:t>
            </a:r>
            <a:r>
              <a:rPr lang="de-DE" dirty="0" err="1"/>
              <a:t>Schedulingstrategie</a:t>
            </a:r>
            <a:r>
              <a:rPr lang="de-DE" dirty="0"/>
              <a:t> zwischen den Schlangen (hier: ohne Prioritäten):</a:t>
            </a:r>
          </a:p>
          <a:p>
            <a:pPr lvl="1"/>
            <a:r>
              <a:rPr lang="de-DE" dirty="0"/>
              <a:t>Systemprozesse bekommen 10% der CPU-Zeit</a:t>
            </a:r>
          </a:p>
          <a:p>
            <a:pPr lvl="1"/>
            <a:r>
              <a:rPr lang="de-DE" dirty="0"/>
              <a:t>Interaktive Prozesse bekommen 70% der CPU-Zeit</a:t>
            </a:r>
          </a:p>
          <a:p>
            <a:pPr lvl="1"/>
            <a:r>
              <a:rPr lang="de-DE" dirty="0"/>
              <a:t>Batch-Prozesse bekommen 20% der CPU-Zeit</a:t>
            </a:r>
          </a:p>
          <a:p>
            <a:r>
              <a:rPr lang="de-DE" dirty="0"/>
              <a:t>Problem hier?</a:t>
            </a:r>
          </a:p>
        </p:txBody>
      </p:sp>
      <p:sp>
        <p:nvSpPr>
          <p:cNvPr id="5" name="Legende mit Pfeil nach rechts 4"/>
          <p:cNvSpPr/>
          <p:nvPr/>
        </p:nvSpPr>
        <p:spPr>
          <a:xfrm>
            <a:off x="2267744" y="1484784"/>
            <a:ext cx="4752528" cy="504056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7424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Systemprozesse</a:t>
            </a:r>
          </a:p>
        </p:txBody>
      </p:sp>
      <p:sp>
        <p:nvSpPr>
          <p:cNvPr id="6" name="Legende mit Pfeil nach rechts 5"/>
          <p:cNvSpPr/>
          <p:nvPr/>
        </p:nvSpPr>
        <p:spPr>
          <a:xfrm>
            <a:off x="2267744" y="2276872"/>
            <a:ext cx="4752528" cy="504056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7424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Interaktive Prozesse</a:t>
            </a:r>
          </a:p>
        </p:txBody>
      </p:sp>
      <p:sp>
        <p:nvSpPr>
          <p:cNvPr id="7" name="Legende mit Pfeil nach rechts 6"/>
          <p:cNvSpPr/>
          <p:nvPr/>
        </p:nvSpPr>
        <p:spPr>
          <a:xfrm>
            <a:off x="2267744" y="3068960"/>
            <a:ext cx="4752528" cy="504056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7424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Batch-Prozesse</a:t>
            </a:r>
          </a:p>
        </p:txBody>
      </p:sp>
      <p:cxnSp>
        <p:nvCxnSpPr>
          <p:cNvPr id="9" name="Gerade Verbindung mit Pfeil 8"/>
          <p:cNvCxnSpPr/>
          <p:nvPr/>
        </p:nvCxnSpPr>
        <p:spPr>
          <a:xfrm rot="5400000" flipH="1" flipV="1">
            <a:off x="1260426" y="2492102"/>
            <a:ext cx="1584176" cy="158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/>
          <p:cNvSpPr txBox="1"/>
          <p:nvPr/>
        </p:nvSpPr>
        <p:spPr>
          <a:xfrm>
            <a:off x="899592" y="2132856"/>
            <a:ext cx="1067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/>
              <a:t>Höhere</a:t>
            </a:r>
          </a:p>
          <a:p>
            <a:r>
              <a:rPr lang="de-DE" sz="2000" dirty="0"/>
              <a:t>Priorität</a:t>
            </a:r>
          </a:p>
        </p:txBody>
      </p:sp>
    </p:spTree>
    <p:extLst>
      <p:ext uri="{BB962C8B-B14F-4D97-AF65-F5344CB8AC3E}">
        <p14:creationId xmlns:p14="http://schemas.microsoft.com/office/powerpoint/2010/main" val="28491485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Mehrere Warteschlangen - Adaptiv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42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78152"/>
          </a:xfrm>
        </p:spPr>
        <p:txBody>
          <a:bodyPr>
            <a:normAutofit/>
          </a:bodyPr>
          <a:lstStyle/>
          <a:p>
            <a:r>
              <a:rPr lang="de-DE" dirty="0"/>
              <a:t>Ein mehr flexibler Ansatz ist </a:t>
            </a:r>
            <a:r>
              <a:rPr lang="de-DE" b="1" dirty="0" err="1">
                <a:solidFill>
                  <a:srgbClr val="0070C0"/>
                </a:solidFill>
              </a:rPr>
              <a:t>multilevel</a:t>
            </a:r>
            <a:r>
              <a:rPr lang="de-DE" b="1" dirty="0">
                <a:solidFill>
                  <a:srgbClr val="0070C0"/>
                </a:solidFill>
              </a:rPr>
              <a:t> </a:t>
            </a:r>
            <a:r>
              <a:rPr lang="de-DE" b="1" dirty="0" err="1">
                <a:solidFill>
                  <a:srgbClr val="0070C0"/>
                </a:solidFill>
              </a:rPr>
              <a:t>feedback</a:t>
            </a:r>
            <a:r>
              <a:rPr lang="de-DE" b="1" dirty="0">
                <a:solidFill>
                  <a:srgbClr val="0070C0"/>
                </a:solidFill>
              </a:rPr>
              <a:t> </a:t>
            </a:r>
            <a:r>
              <a:rPr lang="de-DE" b="1" dirty="0" err="1">
                <a:solidFill>
                  <a:srgbClr val="0070C0"/>
                </a:solidFill>
              </a:rPr>
              <a:t>queue</a:t>
            </a:r>
            <a:r>
              <a:rPr lang="de-DE" b="1" dirty="0">
                <a:solidFill>
                  <a:srgbClr val="0070C0"/>
                </a:solidFill>
              </a:rPr>
              <a:t> </a:t>
            </a:r>
            <a:r>
              <a:rPr lang="de-DE" b="1" dirty="0" err="1">
                <a:solidFill>
                  <a:srgbClr val="0070C0"/>
                </a:solidFill>
              </a:rPr>
              <a:t>scheduling</a:t>
            </a:r>
            <a:endParaRPr lang="de-DE" b="1" dirty="0">
              <a:solidFill>
                <a:srgbClr val="0070C0"/>
              </a:solidFill>
            </a:endParaRPr>
          </a:p>
          <a:p>
            <a:pPr lvl="1"/>
            <a:r>
              <a:rPr lang="de-DE" dirty="0"/>
              <a:t>Wie die letzte Strategie, aber hier können die Prozesse zwischen den Schlangen </a:t>
            </a:r>
            <a:r>
              <a:rPr lang="de-DE" u="sng" dirty="0"/>
              <a:t>wechseln</a:t>
            </a:r>
          </a:p>
          <a:p>
            <a:pPr lvl="1"/>
            <a:r>
              <a:rPr lang="de-DE" dirty="0"/>
              <a:t>Z.B. Wenn ein Prozess zu viel CPU braucht, kommt er in eine Schlange mit niedriger Priorität</a:t>
            </a:r>
          </a:p>
          <a:p>
            <a:r>
              <a:rPr lang="de-DE" dirty="0"/>
              <a:t>Bsp.: 3 Schlangen, 2 oberste mit R-R, letzte FCFS</a:t>
            </a:r>
          </a:p>
          <a:p>
            <a:pPr lvl="1"/>
            <a:r>
              <a:rPr lang="de-DE" dirty="0"/>
              <a:t>Nr. 1: hat Quantum von </a:t>
            </a:r>
            <a:r>
              <a:rPr lang="de-DE" dirty="0">
                <a:solidFill>
                  <a:srgbClr val="0070C0"/>
                </a:solidFill>
              </a:rPr>
              <a:t>8 </a:t>
            </a:r>
            <a:r>
              <a:rPr lang="de-DE" dirty="0" err="1">
                <a:solidFill>
                  <a:srgbClr val="0070C0"/>
                </a:solidFill>
              </a:rPr>
              <a:t>ms</a:t>
            </a:r>
            <a:r>
              <a:rPr lang="de-DE" dirty="0"/>
              <a:t>; wenn ein Prozess in dieser Zeit fertig wird, bleibt er hier, sonst „rutscht“ er in Nr. 2</a:t>
            </a:r>
          </a:p>
          <a:p>
            <a:pPr lvl="1"/>
            <a:r>
              <a:rPr lang="de-DE" dirty="0"/>
              <a:t>Nr. 2: hat Quantum von </a:t>
            </a:r>
            <a:r>
              <a:rPr lang="de-DE" dirty="0">
                <a:solidFill>
                  <a:srgbClr val="0070C0"/>
                </a:solidFill>
              </a:rPr>
              <a:t>16 </a:t>
            </a:r>
            <a:r>
              <a:rPr lang="de-DE" dirty="0" err="1">
                <a:solidFill>
                  <a:srgbClr val="0070C0"/>
                </a:solidFill>
              </a:rPr>
              <a:t>ms</a:t>
            </a:r>
            <a:r>
              <a:rPr lang="de-DE" dirty="0"/>
              <a:t>; wird er hier nicht fertig, wird in Schlange Nr. 3 (mit FCFS) verschoben </a:t>
            </a:r>
          </a:p>
          <a:p>
            <a:r>
              <a:rPr lang="de-DE" dirty="0"/>
              <a:t>Dieser Ansatz ist sehr allgemein und deckt durch die </a:t>
            </a:r>
            <a:r>
              <a:rPr lang="de-DE" b="1" dirty="0">
                <a:solidFill>
                  <a:srgbClr val="0070C0"/>
                </a:solidFill>
              </a:rPr>
              <a:t>Parametrisierung</a:t>
            </a:r>
            <a:r>
              <a:rPr lang="de-DE" dirty="0"/>
              <a:t> viele Szenarien ab</a:t>
            </a:r>
          </a:p>
        </p:txBody>
      </p:sp>
    </p:spTree>
    <p:extLst>
      <p:ext uri="{BB962C8B-B14F-4D97-AF65-F5344CB8AC3E}">
        <p14:creationId xmlns:p14="http://schemas.microsoft.com/office/powerpoint/2010/main" val="30398973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Lotterie-Scheduling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43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Jeder Prozess bekommt </a:t>
            </a:r>
            <a:r>
              <a:rPr lang="de-DE" b="1" dirty="0">
                <a:solidFill>
                  <a:srgbClr val="0070C0"/>
                </a:solidFill>
              </a:rPr>
              <a:t>Lotterielose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dirty="0"/>
              <a:t>für verschiede Systemressourcen wie z.B. CPU</a:t>
            </a:r>
          </a:p>
          <a:p>
            <a:pPr lvl="1"/>
            <a:r>
              <a:rPr lang="de-DE" dirty="0"/>
              <a:t>Wenn eine Zuteilung passieren sollte, wird zufällig ein Los gezogen, und der Besitzer (Prozess) darf sie nutzten</a:t>
            </a:r>
          </a:p>
          <a:p>
            <a:pPr lvl="1"/>
            <a:r>
              <a:rPr lang="de-DE" dirty="0"/>
              <a:t>Bei CPU-Scheduling: Lotterie wird 50 Mal / Sek. abgehalten, jeder Gewinner darf 20 </a:t>
            </a:r>
            <a:r>
              <a:rPr lang="de-DE" dirty="0" err="1"/>
              <a:t>ms</a:t>
            </a:r>
            <a:r>
              <a:rPr lang="de-DE" dirty="0"/>
              <a:t> rechnen</a:t>
            </a:r>
          </a:p>
          <a:p>
            <a:r>
              <a:rPr lang="de-DE" dirty="0"/>
              <a:t>Interessante Eigenschaften</a:t>
            </a:r>
          </a:p>
          <a:p>
            <a:pPr lvl="1"/>
            <a:r>
              <a:rPr lang="de-DE" dirty="0"/>
              <a:t>Kooperierende Prozesse können ihre Lose tauschen</a:t>
            </a:r>
          </a:p>
          <a:p>
            <a:pPr lvl="2"/>
            <a:r>
              <a:rPr lang="de-DE" dirty="0"/>
              <a:t>Z.B. Client-Prozess stellt eine Anfrage an einen Server, und schickt im seine Lose, um die Abarbeitung zu beschleunigen</a:t>
            </a:r>
          </a:p>
          <a:p>
            <a:pPr lvl="1"/>
            <a:r>
              <a:rPr lang="de-DE" dirty="0"/>
              <a:t>Man kann leicht „Fein-Tuning“ des Zeitzuteilung betreiben, z.B. Rechenzeit im Verhältnis 10:20:25 usw.</a:t>
            </a:r>
          </a:p>
        </p:txBody>
      </p:sp>
    </p:spTree>
    <p:extLst>
      <p:ext uri="{BB962C8B-B14F-4D97-AF65-F5344CB8AC3E}">
        <p14:creationId xmlns:p14="http://schemas.microsoft.com/office/powerpoint/2010/main" val="17758961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Scheduling in Echtzeitsystemen (EZS)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44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06144"/>
          </a:xfrm>
        </p:spPr>
        <p:txBody>
          <a:bodyPr>
            <a:normAutofit/>
          </a:bodyPr>
          <a:lstStyle/>
          <a:p>
            <a:r>
              <a:rPr lang="de-DE" dirty="0"/>
              <a:t>In </a:t>
            </a:r>
            <a:r>
              <a:rPr lang="de-DE" b="1" dirty="0">
                <a:solidFill>
                  <a:srgbClr val="0070C0"/>
                </a:solidFill>
              </a:rPr>
              <a:t>Echtzeitsystemen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dirty="0"/>
              <a:t>spielt die Zeit die Hauptrolle</a:t>
            </a:r>
          </a:p>
          <a:p>
            <a:pPr lvl="1"/>
            <a:r>
              <a:rPr lang="de-DE" dirty="0"/>
              <a:t>Eine verspätete Reaktion (z.B. Prozessausführung) ist ggf. genauso schlecht wie gar keine Antwort</a:t>
            </a:r>
          </a:p>
          <a:p>
            <a:pPr lvl="1"/>
            <a:r>
              <a:rPr lang="de-DE" b="1" dirty="0">
                <a:solidFill>
                  <a:srgbClr val="0070C0"/>
                </a:solidFill>
              </a:rPr>
              <a:t>Harte EZS</a:t>
            </a:r>
            <a:r>
              <a:rPr lang="de-DE" dirty="0"/>
              <a:t>: es gibt absolute Deadlines, z.B. beim Auto </a:t>
            </a:r>
          </a:p>
          <a:p>
            <a:pPr lvl="1"/>
            <a:r>
              <a:rPr lang="de-DE" b="1" dirty="0">
                <a:solidFill>
                  <a:srgbClr val="0070C0"/>
                </a:solidFill>
              </a:rPr>
              <a:t>Weiche EZS</a:t>
            </a:r>
            <a:r>
              <a:rPr lang="de-DE" dirty="0"/>
              <a:t>: es ist unerwünscht, aber tolerierbar, eine Deadline nicht einzuhalten</a:t>
            </a:r>
          </a:p>
          <a:p>
            <a:r>
              <a:rPr lang="de-DE" dirty="0"/>
              <a:t>Implementierung: das Programm wird in mehrere Prozesse unterteilt, mit jeweils vorhersagbarem Verhalten</a:t>
            </a:r>
          </a:p>
          <a:p>
            <a:pPr lvl="1"/>
            <a:r>
              <a:rPr lang="de-DE" dirty="0"/>
              <a:t>Dadurch ist ggf. möglich, </a:t>
            </a:r>
            <a:r>
              <a:rPr lang="de-DE" b="1" dirty="0">
                <a:solidFill>
                  <a:srgbClr val="0070C0"/>
                </a:solidFill>
              </a:rPr>
              <a:t>statisches Scheduling </a:t>
            </a:r>
            <a:r>
              <a:rPr lang="de-DE" dirty="0"/>
              <a:t>zu betreiben, d.h. vor dem Start des Programms die Scheduling-Entscheidungen zu planen</a:t>
            </a:r>
          </a:p>
        </p:txBody>
      </p:sp>
    </p:spTree>
    <p:extLst>
      <p:ext uri="{BB962C8B-B14F-4D97-AF65-F5344CB8AC3E}">
        <p14:creationId xmlns:p14="http://schemas.microsoft.com/office/powerpoint/2010/main" val="22895221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45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Danke!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0304142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46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Zusatzfolien:</a:t>
            </a:r>
            <a:br>
              <a:rPr lang="de-DE" dirty="0"/>
            </a:br>
            <a:r>
              <a:rPr lang="de-DE" dirty="0"/>
              <a:t>Scheduling</a:t>
            </a:r>
          </a:p>
        </p:txBody>
      </p:sp>
    </p:spTree>
    <p:extLst>
      <p:ext uri="{BB962C8B-B14F-4D97-AF65-F5344CB8AC3E}">
        <p14:creationId xmlns:p14="http://schemas.microsoft.com/office/powerpoint/2010/main" val="35608829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Thread-Scheduling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47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Scheduling hängt stark davon ab, ob Threads auf </a:t>
            </a:r>
            <a:r>
              <a:rPr lang="de-DE" b="1" dirty="0">
                <a:solidFill>
                  <a:srgbClr val="FF0000"/>
                </a:solidFill>
              </a:rPr>
              <a:t>Anwenderebene</a:t>
            </a:r>
            <a:r>
              <a:rPr lang="de-DE" dirty="0"/>
              <a:t> oder </a:t>
            </a:r>
            <a:r>
              <a:rPr lang="de-DE" b="1" dirty="0">
                <a:solidFill>
                  <a:srgbClr val="FF0000"/>
                </a:solidFill>
              </a:rPr>
              <a:t>Kernebene</a:t>
            </a:r>
            <a:r>
              <a:rPr lang="de-DE" dirty="0"/>
              <a:t> benutzt werden</a:t>
            </a:r>
          </a:p>
          <a:p>
            <a:r>
              <a:rPr lang="de-DE" dirty="0"/>
              <a:t>Benutzerebene</a:t>
            </a:r>
          </a:p>
          <a:p>
            <a:pPr lvl="1"/>
            <a:r>
              <a:rPr lang="de-DE" dirty="0"/>
              <a:t>Der Kern weiß nichts von Threads; er wählt nur einen Prozess P und übergibt ihm die Kontrolle für ein Quantum</a:t>
            </a:r>
          </a:p>
          <a:p>
            <a:pPr lvl="1"/>
            <a:r>
              <a:rPr lang="de-DE" dirty="0"/>
              <a:t>Der Thread-Scheduler innerhalb von P entscheidet dann, welcher Thread laufen soll, z.B. P1</a:t>
            </a:r>
          </a:p>
          <a:p>
            <a:pPr lvl="1"/>
            <a:r>
              <a:rPr lang="de-DE" dirty="0"/>
              <a:t>Da es keine Interrupts „in“ P gibt, kann dieser bis zum Ende des Quantums weiterlaufen usw., usw.</a:t>
            </a:r>
          </a:p>
          <a:p>
            <a:pPr lvl="2"/>
            <a:r>
              <a:rPr lang="de-DE" dirty="0"/>
              <a:t>Das Aushungern anderer Threads in P ist möglich</a:t>
            </a:r>
          </a:p>
          <a:p>
            <a:pPr lvl="2"/>
            <a:r>
              <a:rPr lang="de-DE" dirty="0"/>
              <a:t>Aber nicht das Aushungern anderer Prozesse!</a:t>
            </a:r>
          </a:p>
          <a:p>
            <a:pPr lvl="1"/>
            <a:r>
              <a:rPr lang="de-DE" dirty="0"/>
              <a:t>Die Scheduling-S. innerhalb von P kann beliebig sein</a:t>
            </a:r>
          </a:p>
          <a:p>
            <a:pPr lvl="2"/>
            <a:r>
              <a:rPr lang="de-DE" dirty="0"/>
              <a:t>Häufig: </a:t>
            </a:r>
            <a:r>
              <a:rPr lang="de-DE" dirty="0" err="1"/>
              <a:t>Round</a:t>
            </a:r>
            <a:r>
              <a:rPr lang="de-DE" dirty="0"/>
              <a:t>-Robin und Prioritätsscheduling</a:t>
            </a:r>
          </a:p>
          <a:p>
            <a:pPr lvl="2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8733858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Thread-Scheduling /2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48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3505944"/>
          </a:xfrm>
        </p:spPr>
        <p:txBody>
          <a:bodyPr>
            <a:normAutofit fontScale="92500"/>
          </a:bodyPr>
          <a:lstStyle/>
          <a:p>
            <a:r>
              <a:rPr lang="de-DE" dirty="0"/>
              <a:t>Kern-Ebene Threads</a:t>
            </a:r>
          </a:p>
          <a:p>
            <a:pPr lvl="1"/>
            <a:r>
              <a:rPr lang="de-DE" dirty="0"/>
              <a:t>Hier ist das BS der Existenz von Threads „bewusst“</a:t>
            </a:r>
          </a:p>
          <a:p>
            <a:pPr lvl="1"/>
            <a:r>
              <a:rPr lang="de-DE" dirty="0"/>
              <a:t>BS verhindert das Aushungern dieser innerhalb eines Prozesses  </a:t>
            </a:r>
          </a:p>
          <a:p>
            <a:r>
              <a:rPr lang="de-DE" dirty="0"/>
              <a:t>Problem hier ist </a:t>
            </a:r>
            <a:r>
              <a:rPr lang="de-DE" b="1" dirty="0">
                <a:solidFill>
                  <a:srgbClr val="FF0000"/>
                </a:solidFill>
              </a:rPr>
              <a:t>Leistung</a:t>
            </a:r>
          </a:p>
          <a:p>
            <a:pPr lvl="1"/>
            <a:r>
              <a:rPr lang="de-DE" dirty="0"/>
              <a:t>Thread-Wechsel auf Anwenderebene kostet nur einige Zyklen</a:t>
            </a:r>
          </a:p>
          <a:p>
            <a:pPr lvl="1"/>
            <a:r>
              <a:rPr lang="de-DE" dirty="0"/>
              <a:t>Der Wechsel im Kern dauert einige Größenordnungen länger</a:t>
            </a:r>
          </a:p>
          <a:p>
            <a:pPr lvl="1"/>
            <a:r>
              <a:rPr lang="de-DE" dirty="0"/>
              <a:t>Der Wechsel zwischen den Threads </a:t>
            </a:r>
            <a:r>
              <a:rPr lang="de-DE" u="sng" dirty="0"/>
              <a:t>verschiedener</a:t>
            </a:r>
            <a:r>
              <a:rPr lang="de-DE" dirty="0"/>
              <a:t> Prozesse noch länger - warum?</a:t>
            </a:r>
          </a:p>
          <a:p>
            <a:pPr lvl="3"/>
            <a:endParaRPr lang="de-DE" dirty="0"/>
          </a:p>
          <a:p>
            <a:pPr lvl="2"/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3"/>
          </p:nvPr>
        </p:nvSpPr>
        <p:spPr>
          <a:xfrm>
            <a:off x="467544" y="4653136"/>
            <a:ext cx="8208912" cy="1993776"/>
          </a:xfrm>
        </p:spPr>
        <p:txBody>
          <a:bodyPr>
            <a:normAutofit/>
          </a:bodyPr>
          <a:lstStyle/>
          <a:p>
            <a:pPr lvl="2"/>
            <a:r>
              <a:rPr lang="de-DE" sz="2400" dirty="0"/>
              <a:t>Wechsel der Seitentabelle</a:t>
            </a:r>
          </a:p>
          <a:p>
            <a:pPr lvl="2"/>
            <a:r>
              <a:rPr lang="de-DE" sz="2400" dirty="0"/>
              <a:t>Caches müssen ungültig gemacht werden</a:t>
            </a:r>
          </a:p>
        </p:txBody>
      </p:sp>
    </p:spTree>
    <p:extLst>
      <p:ext uri="{BB962C8B-B14F-4D97-AF65-F5344CB8AC3E}">
        <p14:creationId xmlns:p14="http://schemas.microsoft.com/office/powerpoint/2010/main" val="42003264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Wann ist </a:t>
            </a:r>
            <a:r>
              <a:rPr lang="de-DE" dirty="0" err="1"/>
              <a:t>Scheduling</a:t>
            </a:r>
            <a:r>
              <a:rPr lang="de-DE" dirty="0"/>
              <a:t> nötig/möglich? /1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49</a:t>
            </a:fld>
            <a:endParaRPr lang="en-US" noProof="0" dirty="0"/>
          </a:p>
        </p:txBody>
      </p:sp>
      <p:grpSp>
        <p:nvGrpSpPr>
          <p:cNvPr id="22" name="Gruppieren 21"/>
          <p:cNvGrpSpPr/>
          <p:nvPr/>
        </p:nvGrpSpPr>
        <p:grpSpPr>
          <a:xfrm>
            <a:off x="145494" y="1282863"/>
            <a:ext cx="8659529" cy="5314369"/>
            <a:chOff x="145494" y="1282863"/>
            <a:chExt cx="8659529" cy="5314369"/>
          </a:xfrm>
        </p:grpSpPr>
        <p:sp>
          <p:nvSpPr>
            <p:cNvPr id="5" name="Rounded Rectangle 4"/>
            <p:cNvSpPr/>
            <p:nvPr/>
          </p:nvSpPr>
          <p:spPr>
            <a:xfrm>
              <a:off x="145494" y="1299497"/>
              <a:ext cx="2952328" cy="10800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b="1" dirty="0">
                  <a:solidFill>
                    <a:srgbClr val="FF0000"/>
                  </a:solidFill>
                </a:rPr>
                <a:t>Neu</a:t>
              </a:r>
              <a:r>
                <a:rPr lang="de-DE" sz="2000" dirty="0"/>
                <a:t>: Prozess wird erstellt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45494" y="3224239"/>
              <a:ext cx="3672408" cy="108012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b="1" dirty="0">
                  <a:solidFill>
                    <a:srgbClr val="FF0000"/>
                  </a:solidFill>
                </a:rPr>
                <a:t>Bereit (ready)</a:t>
              </a:r>
              <a:r>
                <a:rPr lang="de-DE" sz="2000" dirty="0"/>
                <a:t>: Prozess wartet, um zu einer CPU zugeordnet zu werden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852695" y="3223308"/>
              <a:ext cx="2952328" cy="108012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b="1" dirty="0">
                  <a:solidFill>
                    <a:srgbClr val="FF0000"/>
                  </a:solidFill>
                </a:rPr>
                <a:t>Laufend (running)</a:t>
              </a:r>
              <a:r>
                <a:rPr lang="de-DE" sz="2000" dirty="0"/>
                <a:t>: Prozess wird ausgeführt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843808" y="5517232"/>
              <a:ext cx="3886400" cy="10800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b="1" dirty="0">
                  <a:solidFill>
                    <a:srgbClr val="FF0000"/>
                  </a:solidFill>
                </a:rPr>
                <a:t>Wartend (waiting </a:t>
              </a:r>
            </a:p>
            <a:p>
              <a:pPr algn="ctr"/>
              <a:r>
                <a:rPr lang="de-DE" sz="2000" dirty="0">
                  <a:solidFill>
                    <a:schemeClr val="tx1"/>
                  </a:solidFill>
                </a:rPr>
                <a:t>bzw.</a:t>
              </a:r>
              <a:r>
                <a:rPr lang="de-DE" sz="2000" b="1" dirty="0">
                  <a:solidFill>
                    <a:srgbClr val="FF0000"/>
                  </a:solidFill>
                </a:rPr>
                <a:t> blocked)</a:t>
              </a:r>
              <a:r>
                <a:rPr lang="de-DE" sz="2000" dirty="0"/>
                <a:t>: </a:t>
              </a:r>
            </a:p>
            <a:p>
              <a:pPr algn="ctr"/>
              <a:r>
                <a:rPr lang="de-DE" sz="2000" dirty="0"/>
                <a:t>Prozess wartet auf ein Ereignis 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834126" y="1282863"/>
              <a:ext cx="2952328" cy="10800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b="1" dirty="0">
                  <a:solidFill>
                    <a:srgbClr val="FF0000"/>
                  </a:solidFill>
                </a:rPr>
                <a:t>Beendet (terminated)</a:t>
              </a:r>
              <a:r>
                <a:rPr lang="de-DE" sz="2000" dirty="0"/>
                <a:t>: Der Prozess hat die Ausführung beendet</a:t>
              </a:r>
            </a:p>
          </p:txBody>
        </p:sp>
        <p:cxnSp>
          <p:nvCxnSpPr>
            <p:cNvPr id="11" name="Straight Arrow Connector 10"/>
            <p:cNvCxnSpPr>
              <a:stCxn id="5" idx="2"/>
              <a:endCxn id="7" idx="0"/>
            </p:cNvCxnSpPr>
            <p:nvPr/>
          </p:nvCxnSpPr>
          <p:spPr>
            <a:xfrm>
              <a:off x="1621658" y="2379497"/>
              <a:ext cx="360040" cy="844742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909690" y="2515422"/>
              <a:ext cx="15119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dirty="0"/>
                <a:t>Zugelassen</a:t>
              </a:r>
            </a:p>
          </p:txBody>
        </p:sp>
        <p:cxnSp>
          <p:nvCxnSpPr>
            <p:cNvPr id="13" name="Straight Arrow Connector 12"/>
            <p:cNvCxnSpPr>
              <a:stCxn id="8" idx="0"/>
              <a:endCxn id="10" idx="2"/>
            </p:cNvCxnSpPr>
            <p:nvPr/>
          </p:nvCxnSpPr>
          <p:spPr>
            <a:xfrm flipH="1" flipV="1">
              <a:off x="7310290" y="2362863"/>
              <a:ext cx="18569" cy="860445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5648206" y="2492896"/>
              <a:ext cx="29017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2000" dirty="0"/>
                <a:t>Fehler; fertig;  terminiert</a:t>
              </a:r>
            </a:p>
          </p:txBody>
        </p:sp>
        <p:cxnSp>
          <p:nvCxnSpPr>
            <p:cNvPr id="16" name="Elbow Connector 15"/>
            <p:cNvCxnSpPr>
              <a:stCxn id="7" idx="2"/>
              <a:endCxn id="8" idx="2"/>
            </p:cNvCxnSpPr>
            <p:nvPr/>
          </p:nvCxnSpPr>
          <p:spPr>
            <a:xfrm rot="5400000" flipH="1" flipV="1">
              <a:off x="4654812" y="1630313"/>
              <a:ext cx="931" cy="5347161"/>
            </a:xfrm>
            <a:prstGeom prst="bentConnector3">
              <a:avLst>
                <a:gd name="adj1" fmla="val -24554243"/>
              </a:avLst>
            </a:prstGeom>
            <a:ln>
              <a:solidFill>
                <a:srgbClr val="FFC000"/>
              </a:solidFill>
              <a:headEnd type="arrow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8" idx="1"/>
              <a:endCxn id="7" idx="3"/>
            </p:cNvCxnSpPr>
            <p:nvPr/>
          </p:nvCxnSpPr>
          <p:spPr>
            <a:xfrm flipH="1">
              <a:off x="3817902" y="3763368"/>
              <a:ext cx="2034793" cy="931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endCxn id="9" idx="3"/>
            </p:cNvCxnSpPr>
            <p:nvPr/>
          </p:nvCxnSpPr>
          <p:spPr>
            <a:xfrm flipH="1">
              <a:off x="6730208" y="4304358"/>
              <a:ext cx="1874240" cy="185743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7260075" y="5233073"/>
              <a:ext cx="1526379" cy="10762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2000" dirty="0"/>
                <a:t>I/O oder </a:t>
              </a:r>
            </a:p>
            <a:p>
              <a:pPr algn="r"/>
              <a:r>
                <a:rPr lang="de-DE" sz="2000" dirty="0"/>
                <a:t>warten auf </a:t>
              </a:r>
            </a:p>
            <a:p>
              <a:pPr algn="r"/>
              <a:r>
                <a:rPr lang="de-DE" sz="2000" dirty="0"/>
                <a:t>ein Ereignis</a:t>
              </a:r>
            </a:p>
          </p:txBody>
        </p:sp>
        <p:cxnSp>
          <p:nvCxnSpPr>
            <p:cNvPr id="30" name="Straight Arrow Connector 29"/>
            <p:cNvCxnSpPr>
              <a:stCxn id="9" idx="1"/>
            </p:cNvCxnSpPr>
            <p:nvPr/>
          </p:nvCxnSpPr>
          <p:spPr>
            <a:xfrm flipH="1" flipV="1">
              <a:off x="755576" y="4303428"/>
              <a:ext cx="2088232" cy="1753804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395536" y="5229200"/>
              <a:ext cx="176683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000" dirty="0"/>
                <a:t>I/O beendet </a:t>
              </a:r>
              <a:br>
                <a:rPr lang="de-DE" sz="2000" dirty="0"/>
              </a:br>
              <a:r>
                <a:rPr lang="de-DE" sz="2000" dirty="0"/>
                <a:t>oder Ereignis </a:t>
              </a:r>
            </a:p>
            <a:p>
              <a:pPr algn="ctr"/>
              <a:r>
                <a:rPr lang="de-DE" sz="2000" dirty="0"/>
                <a:t>aufgetreten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046974" y="2996952"/>
            <a:ext cx="14558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000" b="1" i="1" dirty="0"/>
              <a:t>Nach</a:t>
            </a:r>
            <a:r>
              <a:rPr lang="de-DE" sz="2000" dirty="0"/>
              <a:t> dem</a:t>
            </a:r>
          </a:p>
          <a:p>
            <a:pPr algn="ctr"/>
            <a:r>
              <a:rPr lang="de-DE" sz="2000" dirty="0"/>
              <a:t>Scheduling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1800" y="4581128"/>
            <a:ext cx="4257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/>
              <a:t>Interrupt (Zeitscheibe ging zu Ende)</a:t>
            </a:r>
          </a:p>
        </p:txBody>
      </p:sp>
    </p:spTree>
    <p:extLst>
      <p:ext uri="{BB962C8B-B14F-4D97-AF65-F5344CB8AC3E}">
        <p14:creationId xmlns:p14="http://schemas.microsoft.com/office/powerpoint/2010/main" val="27754299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Wann ist </a:t>
            </a:r>
            <a:r>
              <a:rPr lang="de-DE" dirty="0" err="1"/>
              <a:t>Scheduling</a:t>
            </a:r>
            <a:r>
              <a:rPr lang="de-DE" dirty="0"/>
              <a:t> nötig/möglich? /2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50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de-DE" sz="2400" b="1" dirty="0">
                <a:solidFill>
                  <a:srgbClr val="FF0000"/>
                </a:solidFill>
              </a:rPr>
              <a:t>1. </a:t>
            </a:r>
            <a:r>
              <a:rPr lang="de-DE" sz="2400" dirty="0">
                <a:solidFill>
                  <a:schemeClr val="tx1"/>
                </a:solidFill>
              </a:rPr>
              <a:t>Wenn der Prozess von „</a:t>
            </a:r>
            <a:r>
              <a:rPr lang="de-DE" sz="2400" dirty="0" err="1">
                <a:solidFill>
                  <a:schemeClr val="tx1"/>
                </a:solidFill>
              </a:rPr>
              <a:t>running</a:t>
            </a:r>
            <a:r>
              <a:rPr lang="de-DE" sz="2400" dirty="0">
                <a:solidFill>
                  <a:schemeClr val="tx1"/>
                </a:solidFill>
              </a:rPr>
              <a:t>“ zu „</a:t>
            </a:r>
            <a:r>
              <a:rPr lang="de-DE" sz="2400" dirty="0" err="1">
                <a:solidFill>
                  <a:schemeClr val="tx1"/>
                </a:solidFill>
              </a:rPr>
              <a:t>waiting</a:t>
            </a:r>
            <a:r>
              <a:rPr lang="de-DE" sz="2400" dirty="0">
                <a:solidFill>
                  <a:schemeClr val="tx1"/>
                </a:solidFill>
              </a:rPr>
              <a:t>“ wechselt</a:t>
            </a:r>
          </a:p>
          <a:p>
            <a:pPr lvl="1"/>
            <a:r>
              <a:rPr lang="de-DE" dirty="0"/>
              <a:t>Wegen einer I/O-Anfrage, eines Semaphors, eines Systemaufrufs (</a:t>
            </a:r>
            <a:r>
              <a:rPr lang="de-DE" dirty="0" err="1"/>
              <a:t>wait</a:t>
            </a:r>
            <a:r>
              <a:rPr lang="de-DE" dirty="0"/>
              <a:t>() nach </a:t>
            </a:r>
            <a:r>
              <a:rPr lang="de-DE" dirty="0" err="1"/>
              <a:t>fork</a:t>
            </a:r>
            <a:r>
              <a:rPr lang="de-DE" dirty="0"/>
              <a:t>()), eines Seitenfehlers …</a:t>
            </a:r>
          </a:p>
          <a:p>
            <a:r>
              <a:rPr lang="de-DE" sz="2700" b="1" dirty="0">
                <a:solidFill>
                  <a:srgbClr val="FF0000"/>
                </a:solidFill>
              </a:rPr>
              <a:t>2. </a:t>
            </a:r>
            <a:r>
              <a:rPr lang="de-DE" sz="2700" dirty="0">
                <a:solidFill>
                  <a:schemeClr val="tx1"/>
                </a:solidFill>
              </a:rPr>
              <a:t>Wenn der Prozesszustand von „</a:t>
            </a:r>
            <a:r>
              <a:rPr lang="de-DE" sz="2700" dirty="0" err="1">
                <a:solidFill>
                  <a:schemeClr val="tx1"/>
                </a:solidFill>
              </a:rPr>
              <a:t>running</a:t>
            </a:r>
            <a:r>
              <a:rPr lang="de-DE" sz="2700" dirty="0">
                <a:solidFill>
                  <a:schemeClr val="tx1"/>
                </a:solidFill>
              </a:rPr>
              <a:t>“ zu „</a:t>
            </a:r>
            <a:r>
              <a:rPr lang="de-DE" sz="2700" dirty="0" err="1">
                <a:solidFill>
                  <a:schemeClr val="tx1"/>
                </a:solidFill>
              </a:rPr>
              <a:t>ready</a:t>
            </a:r>
            <a:r>
              <a:rPr lang="de-DE" sz="2700" dirty="0">
                <a:solidFill>
                  <a:schemeClr val="tx1"/>
                </a:solidFill>
              </a:rPr>
              <a:t>“ wechselt</a:t>
            </a:r>
          </a:p>
          <a:p>
            <a:pPr lvl="1"/>
            <a:r>
              <a:rPr lang="de-DE" dirty="0"/>
              <a:t>z.B. falls ein I/O-Interrupt, </a:t>
            </a:r>
            <a:r>
              <a:rPr lang="de-DE" dirty="0" err="1"/>
              <a:t>Timer</a:t>
            </a:r>
            <a:r>
              <a:rPr lang="de-DE" dirty="0"/>
              <a:t>-Interrupt oder ein Trap auftritt</a:t>
            </a:r>
          </a:p>
          <a:p>
            <a:r>
              <a:rPr lang="de-DE" sz="2400" b="1" dirty="0">
                <a:solidFill>
                  <a:srgbClr val="FF0000"/>
                </a:solidFill>
              </a:rPr>
              <a:t>3.</a:t>
            </a:r>
            <a:r>
              <a:rPr lang="de-DE" sz="2400" dirty="0"/>
              <a:t> Wenn ein (blockierter) Prozess von „</a:t>
            </a:r>
            <a:r>
              <a:rPr lang="de-DE" sz="2400" dirty="0" err="1"/>
              <a:t>waiting</a:t>
            </a:r>
            <a:r>
              <a:rPr lang="de-DE" sz="2400" dirty="0"/>
              <a:t>“ zu „</a:t>
            </a:r>
            <a:r>
              <a:rPr lang="de-DE" sz="2400" dirty="0" err="1"/>
              <a:t>ready</a:t>
            </a:r>
            <a:r>
              <a:rPr lang="de-DE" sz="2400" dirty="0"/>
              <a:t>“ wechselt</a:t>
            </a:r>
          </a:p>
          <a:p>
            <a:pPr lvl="1"/>
            <a:r>
              <a:rPr lang="de-DE" dirty="0"/>
              <a:t>Meistens bei der Beendigung einer I/O-Phase</a:t>
            </a:r>
          </a:p>
          <a:p>
            <a:r>
              <a:rPr lang="de-DE" sz="2400" b="1" dirty="0">
                <a:solidFill>
                  <a:srgbClr val="FF0000"/>
                </a:solidFill>
              </a:rPr>
              <a:t>4. </a:t>
            </a:r>
            <a:r>
              <a:rPr lang="de-DE" sz="2400" dirty="0"/>
              <a:t>Bei der Beendigung eines Prozesses</a:t>
            </a:r>
          </a:p>
          <a:p>
            <a:r>
              <a:rPr lang="de-DE" sz="2400" b="1" dirty="0">
                <a:solidFill>
                  <a:srgbClr val="FF0000"/>
                </a:solidFill>
              </a:rPr>
              <a:t>5. </a:t>
            </a:r>
            <a:r>
              <a:rPr lang="de-DE" sz="2400" dirty="0">
                <a:solidFill>
                  <a:srgbClr val="000000"/>
                </a:solidFill>
              </a:rPr>
              <a:t>Ggf.</a:t>
            </a:r>
            <a:r>
              <a:rPr lang="de-DE" sz="2400" b="1" dirty="0">
                <a:solidFill>
                  <a:srgbClr val="FF0000"/>
                </a:solidFill>
              </a:rPr>
              <a:t> </a:t>
            </a:r>
            <a:r>
              <a:rPr lang="de-DE" sz="2400" dirty="0"/>
              <a:t>bei der Erzeugung eines neuen Prozesses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088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Unterbrechende (</a:t>
            </a:r>
            <a:r>
              <a:rPr lang="de-DE" dirty="0" err="1"/>
              <a:t>preemptive</a:t>
            </a:r>
            <a:r>
              <a:rPr lang="de-DE" dirty="0"/>
              <a:t>) S-Strategien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51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209800"/>
          </a:xfrm>
        </p:spPr>
        <p:txBody>
          <a:bodyPr>
            <a:normAutofit/>
          </a:bodyPr>
          <a:lstStyle/>
          <a:p>
            <a:r>
              <a:rPr lang="de-DE" dirty="0"/>
              <a:t>Wenn ein BS in Fällen 2 und 3 ein Thread- bzw. </a:t>
            </a:r>
            <a:r>
              <a:rPr lang="de-DE" dirty="0">
                <a:solidFill>
                  <a:srgbClr val="0070C0"/>
                </a:solidFill>
              </a:rPr>
              <a:t>Prozesswechsel erzwingen kann</a:t>
            </a:r>
            <a:r>
              <a:rPr lang="de-DE" dirty="0"/>
              <a:t>, heißt die Scheduling-Strategie </a:t>
            </a:r>
            <a:r>
              <a:rPr lang="de-DE" b="1" dirty="0">
                <a:solidFill>
                  <a:srgbClr val="FF0000"/>
                </a:solidFill>
              </a:rPr>
              <a:t>unterbrechend </a:t>
            </a:r>
            <a:r>
              <a:rPr lang="de-DE" dirty="0"/>
              <a:t>(</a:t>
            </a:r>
            <a:r>
              <a:rPr lang="de-DE" b="1" dirty="0">
                <a:solidFill>
                  <a:srgbClr val="FF0000"/>
                </a:solidFill>
              </a:rPr>
              <a:t>preemptive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Windows ab Win 95, alle Linux Versionen</a:t>
            </a:r>
          </a:p>
        </p:txBody>
      </p:sp>
      <p:grpSp>
        <p:nvGrpSpPr>
          <p:cNvPr id="13" name="Gruppieren 12"/>
          <p:cNvGrpSpPr/>
          <p:nvPr/>
        </p:nvGrpSpPr>
        <p:grpSpPr>
          <a:xfrm>
            <a:off x="323528" y="3501008"/>
            <a:ext cx="8115300" cy="3171825"/>
            <a:chOff x="467544" y="2132856"/>
            <a:chExt cx="8115300" cy="3171825"/>
          </a:xfrm>
        </p:grpSpPr>
        <p:pic>
          <p:nvPicPr>
            <p:cNvPr id="2050" name="Picture 2" descr="C:\Artur\Academic\Lehre\10.WS-IBN\VL\figures\vl18\cpu-states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67544" y="2132856"/>
              <a:ext cx="8115300" cy="3171825"/>
            </a:xfrm>
            <a:prstGeom prst="rect">
              <a:avLst/>
            </a:prstGeom>
            <a:noFill/>
          </p:spPr>
        </p:pic>
        <p:sp>
          <p:nvSpPr>
            <p:cNvPr id="8" name="Textfeld 7"/>
            <p:cNvSpPr txBox="1"/>
            <p:nvPr/>
          </p:nvSpPr>
          <p:spPr>
            <a:xfrm>
              <a:off x="5652120" y="4365103"/>
              <a:ext cx="16914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200" b="1" dirty="0">
                  <a:solidFill>
                    <a:srgbClr val="FF0000"/>
                  </a:solidFill>
                </a:rPr>
                <a:t>1</a:t>
              </a:r>
              <a:r>
                <a:rPr lang="de-DE" sz="2200" dirty="0"/>
                <a:t>: zwingend</a:t>
              </a:r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6012160" y="2708920"/>
              <a:ext cx="16914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200" b="1" dirty="0">
                  <a:solidFill>
                    <a:srgbClr val="FF0000"/>
                  </a:solidFill>
                </a:rPr>
                <a:t>4</a:t>
              </a:r>
              <a:r>
                <a:rPr lang="de-DE" sz="2200" dirty="0"/>
                <a:t>: zwingend</a:t>
              </a:r>
            </a:p>
          </p:txBody>
        </p:sp>
        <p:sp>
          <p:nvSpPr>
            <p:cNvPr id="10" name="Textfeld 9"/>
            <p:cNvSpPr txBox="1"/>
            <p:nvPr/>
          </p:nvSpPr>
          <p:spPr>
            <a:xfrm>
              <a:off x="2051720" y="4437112"/>
              <a:ext cx="148790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200" b="1" dirty="0">
                  <a:solidFill>
                    <a:srgbClr val="FF0000"/>
                  </a:solidFill>
                </a:rPr>
                <a:t>3</a:t>
              </a:r>
              <a:r>
                <a:rPr lang="de-DE" sz="2200" dirty="0"/>
                <a:t>: optional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3851920" y="2276872"/>
              <a:ext cx="148790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200" b="1" dirty="0">
                  <a:solidFill>
                    <a:srgbClr val="FF0000"/>
                  </a:solidFill>
                </a:rPr>
                <a:t>2</a:t>
              </a:r>
              <a:r>
                <a:rPr lang="de-DE" sz="2200" dirty="0"/>
                <a:t>: optional</a:t>
              </a:r>
            </a:p>
          </p:txBody>
        </p:sp>
        <p:sp>
          <p:nvSpPr>
            <p:cNvPr id="12" name="Textfeld 9"/>
            <p:cNvSpPr txBox="1"/>
            <p:nvPr/>
          </p:nvSpPr>
          <p:spPr>
            <a:xfrm>
              <a:off x="2204120" y="2616294"/>
              <a:ext cx="3417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200" b="1" dirty="0">
                  <a:solidFill>
                    <a:srgbClr val="FF0000"/>
                  </a:solidFill>
                </a:rPr>
                <a:t>5</a:t>
              </a:r>
              <a:endParaRPr lang="de-DE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454604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Scheduler und Dispatcher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52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Wir haben auch den Begriff </a:t>
            </a:r>
            <a:r>
              <a:rPr lang="de-DE" b="1" dirty="0">
                <a:solidFill>
                  <a:srgbClr val="FF0000"/>
                </a:solidFill>
              </a:rPr>
              <a:t>Dispatcher</a:t>
            </a:r>
            <a:r>
              <a:rPr lang="de-DE" dirty="0"/>
              <a:t> kennengelernt – was ist der Unterschied?</a:t>
            </a:r>
          </a:p>
          <a:p>
            <a:r>
              <a:rPr lang="de-DE" dirty="0"/>
              <a:t>Dispatcher ist der „ausführende Teil“ eines Kurzzeit-</a:t>
            </a:r>
            <a:r>
              <a:rPr lang="de-DE" dirty="0" err="1"/>
              <a:t>Schedulers</a:t>
            </a:r>
            <a:endParaRPr lang="de-DE" dirty="0"/>
          </a:p>
          <a:p>
            <a:r>
              <a:rPr lang="de-DE" dirty="0"/>
              <a:t>Implementiert den</a:t>
            </a:r>
            <a:br>
              <a:rPr lang="de-DE" dirty="0"/>
            </a:br>
            <a:r>
              <a:rPr lang="de-DE" dirty="0"/>
              <a:t>Prozesswechsel</a:t>
            </a:r>
          </a:p>
        </p:txBody>
      </p:sp>
      <p:pic>
        <p:nvPicPr>
          <p:cNvPr id="5" name="Picture 2" descr="C:\Artur\Academic\Lehre\10.WS-IBN\VL\figures\vl03\Prozess-Wechse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5896" y="2708920"/>
            <a:ext cx="4968552" cy="3863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630680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Ziele von Scheduling-Strategien - Alle Systeme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53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Fairness</a:t>
            </a:r>
          </a:p>
          <a:p>
            <a:pPr lvl="1"/>
            <a:r>
              <a:rPr lang="de-DE" dirty="0"/>
              <a:t>Jeder Prozess bekommt einen fairen Anteil der Rechenzeit</a:t>
            </a:r>
          </a:p>
          <a:p>
            <a:r>
              <a:rPr lang="de-DE" b="1" dirty="0" err="1">
                <a:solidFill>
                  <a:srgbClr val="FF0000"/>
                </a:solidFill>
              </a:rPr>
              <a:t>Policy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Enforcement</a:t>
            </a:r>
            <a:endParaRPr lang="de-DE" b="1" dirty="0">
              <a:solidFill>
                <a:srgbClr val="FF0000"/>
              </a:solidFill>
            </a:endParaRPr>
          </a:p>
          <a:p>
            <a:pPr lvl="1"/>
            <a:r>
              <a:rPr lang="de-DE" dirty="0"/>
              <a:t>Vorgegebene Strategien werden durchgesetzt</a:t>
            </a:r>
          </a:p>
          <a:p>
            <a:r>
              <a:rPr lang="de-DE" b="1" dirty="0">
                <a:solidFill>
                  <a:srgbClr val="FF0000"/>
                </a:solidFill>
              </a:rPr>
              <a:t>Balance</a:t>
            </a:r>
          </a:p>
          <a:p>
            <a:pPr lvl="1"/>
            <a:r>
              <a:rPr lang="de-DE" dirty="0"/>
              <a:t>Alle Teile des Systems sind ausgelastet</a:t>
            </a:r>
          </a:p>
        </p:txBody>
      </p:sp>
    </p:spTree>
    <p:extLst>
      <p:ext uri="{BB962C8B-B14F-4D97-AF65-F5344CB8AC3E}">
        <p14:creationId xmlns:p14="http://schemas.microsoft.com/office/powerpoint/2010/main" val="328719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Ziele - Interaktive Systeme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54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06144"/>
          </a:xfrm>
        </p:spPr>
        <p:txBody>
          <a:bodyPr>
            <a:norm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Antwortzeit</a:t>
            </a:r>
          </a:p>
          <a:p>
            <a:pPr lvl="1"/>
            <a:r>
              <a:rPr lang="de-DE" dirty="0"/>
              <a:t>Schnelle Antwort auf Anfragen</a:t>
            </a:r>
          </a:p>
          <a:p>
            <a:r>
              <a:rPr lang="de-DE" b="1" dirty="0">
                <a:solidFill>
                  <a:srgbClr val="FF0000"/>
                </a:solidFill>
              </a:rPr>
              <a:t>Proportionalität</a:t>
            </a:r>
          </a:p>
          <a:p>
            <a:pPr lvl="1"/>
            <a:r>
              <a:rPr lang="de-DE" dirty="0"/>
              <a:t>Erwartungen des Benutzers erfüllen </a:t>
            </a:r>
          </a:p>
          <a:p>
            <a:pPr lvl="2"/>
            <a:r>
              <a:rPr lang="de-DE" dirty="0"/>
              <a:t>z.B. Wartezeit beim Dekomprimieren einer Datei kann länger als beim Schließen eines Fensters sein</a:t>
            </a:r>
          </a:p>
        </p:txBody>
      </p:sp>
    </p:spTree>
    <p:extLst>
      <p:ext uri="{BB962C8B-B14F-4D97-AF65-F5344CB8AC3E}">
        <p14:creationId xmlns:p14="http://schemas.microsoft.com/office/powerpoint/2010/main" val="166707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Ziele - Echtzeitsysteme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55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06144"/>
          </a:xfrm>
        </p:spPr>
        <p:txBody>
          <a:bodyPr>
            <a:norm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Deadlines einhalten</a:t>
            </a:r>
          </a:p>
          <a:p>
            <a:pPr lvl="1"/>
            <a:r>
              <a:rPr lang="de-DE" dirty="0"/>
              <a:t>Wenn ein wichtiger Prozess nicht rechtzeitig Kontrolle übernimmt, kann eine Maschine / Auto beschädigt werden</a:t>
            </a:r>
          </a:p>
          <a:p>
            <a:r>
              <a:rPr lang="de-DE" b="1" dirty="0">
                <a:solidFill>
                  <a:srgbClr val="FF0000"/>
                </a:solidFill>
              </a:rPr>
              <a:t>Vorhersagbarkeit</a:t>
            </a:r>
          </a:p>
          <a:p>
            <a:pPr lvl="1"/>
            <a:r>
              <a:rPr lang="de-DE" dirty="0"/>
              <a:t>Z.B. Multimediasysteme: wenn ein Audioprozess zu unregelmäßig läuft, wird sich die Qualität drastisch verschlechtern</a:t>
            </a:r>
          </a:p>
        </p:txBody>
      </p:sp>
    </p:spTree>
    <p:extLst>
      <p:ext uri="{BB962C8B-B14F-4D97-AF65-F5344CB8AC3E}">
        <p14:creationId xmlns:p14="http://schemas.microsoft.com/office/powerpoint/2010/main" val="7731415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RTUR@ADJTKIKJTTW835ML" val="3112"/>
  <p:tag name="FIRSTARTUR@AWDWMKMFUVWXY5ML" val="4143"/>
</p:tagLst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keano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keanos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>
        <a:solidFill>
          <a:srgbClr val="92D05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4152</Words>
  <Application>Microsoft Office PowerPoint</Application>
  <PresentationFormat>Bildschirmpräsentation (4:3)</PresentationFormat>
  <Paragraphs>643</Paragraphs>
  <Slides>55</Slides>
  <Notes>22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55</vt:i4>
      </vt:variant>
    </vt:vector>
  </HeadingPairs>
  <TitlesOfParts>
    <vt:vector size="63" baseType="lpstr">
      <vt:lpstr>-apple-system</vt:lpstr>
      <vt:lpstr>Arial</vt:lpstr>
      <vt:lpstr>Calibri</vt:lpstr>
      <vt:lpstr>Helvetica</vt:lpstr>
      <vt:lpstr>Symbol</vt:lpstr>
      <vt:lpstr>Wingdings</vt:lpstr>
      <vt:lpstr>Wingdings 3</vt:lpstr>
      <vt:lpstr>Okeanos</vt:lpstr>
      <vt:lpstr>Betriebssysteme und Netzwerke Vorlesung 16</vt:lpstr>
      <vt:lpstr>Ressourcen-Belegungs-Graph (R-B-Graph)</vt:lpstr>
      <vt:lpstr>Mehrere Instanzen einer Ressource</vt:lpstr>
      <vt:lpstr>Datenstrukturen: C, R, E, A</vt:lpstr>
      <vt:lpstr>Algorithmus - Bankieralgorithmus </vt:lpstr>
      <vt:lpstr>Verhinderung von Deadlocks: Ressourcenspuren</vt:lpstr>
      <vt:lpstr>Verhinderung von Deadlocks</vt:lpstr>
      <vt:lpstr>Visualisierung eines Ausführungsablaufs</vt:lpstr>
      <vt:lpstr>Ressourcenspuren</vt:lpstr>
      <vt:lpstr>Erfolgreiche Ausführung</vt:lpstr>
      <vt:lpstr>Visualisierung von Deadlocks</vt:lpstr>
      <vt:lpstr>Verhinderung von Deadlocks: Algorithmus</vt:lpstr>
      <vt:lpstr>Verhinderung von Deadlocks: Idee</vt:lpstr>
      <vt:lpstr>Nochmals der Bankieralgorithmus</vt:lpstr>
      <vt:lpstr>Algorithmus - Bankieralgorithmus </vt:lpstr>
      <vt:lpstr>Erzeugen eines zu testenden Zustands</vt:lpstr>
      <vt:lpstr>Entscheidung über die Zuteilung der Ressourcen</vt:lpstr>
      <vt:lpstr>Vermeidung von Deadlocks</vt:lpstr>
      <vt:lpstr>Vermeidung von Deadlocks</vt:lpstr>
      <vt:lpstr>Zusammenfassung Deadlocks</vt:lpstr>
      <vt:lpstr>Umfrage: Deadlocks</vt:lpstr>
      <vt:lpstr>Scheduling von Prozessen - Grundlagen</vt:lpstr>
      <vt:lpstr>Was ist Scheduling</vt:lpstr>
      <vt:lpstr>Prozessverhalten</vt:lpstr>
      <vt:lpstr>Prozessverhalten /2</vt:lpstr>
      <vt:lpstr>Kategorien von Scheduling-Strategien</vt:lpstr>
      <vt:lpstr>Wann ist Scheduling nötig/möglich? /1</vt:lpstr>
      <vt:lpstr>Wann ist Scheduling nötig/möglich? /2</vt:lpstr>
      <vt:lpstr>Übersicht Scheduling</vt:lpstr>
      <vt:lpstr>Scheduling in Stapelverarbeitungssystemen</vt:lpstr>
      <vt:lpstr>First-Come-First-Served (FCFS)</vt:lpstr>
      <vt:lpstr>Shortest-Job-First (SJF)</vt:lpstr>
      <vt:lpstr>Shortest-Job-First /2</vt:lpstr>
      <vt:lpstr>Shortest Remaining Time First </vt:lpstr>
      <vt:lpstr>Scheduling in Interaktiven Systemen</vt:lpstr>
      <vt:lpstr>Scheduling in Interaktiven Systemen</vt:lpstr>
      <vt:lpstr>Round-Robin-Scheduling</vt:lpstr>
      <vt:lpstr>RR: Implementierung der Prozess-Verwaltung </vt:lpstr>
      <vt:lpstr>Round-Robin-Scheduling </vt:lpstr>
      <vt:lpstr>Mehrere Warteschlangen</vt:lpstr>
      <vt:lpstr>Mehrere Warteschlangen /2</vt:lpstr>
      <vt:lpstr>Mehrere Warteschlangen - Adaptiv</vt:lpstr>
      <vt:lpstr>Lotterie-Scheduling</vt:lpstr>
      <vt:lpstr>Scheduling in Echtzeitsystemen (EZS)</vt:lpstr>
      <vt:lpstr>Danke!</vt:lpstr>
      <vt:lpstr>Zusatzfolien: Scheduling</vt:lpstr>
      <vt:lpstr>Thread-Scheduling</vt:lpstr>
      <vt:lpstr>Thread-Scheduling /2</vt:lpstr>
      <vt:lpstr>Wann ist Scheduling nötig/möglich? /1</vt:lpstr>
      <vt:lpstr>Wann ist Scheduling nötig/möglich? /2</vt:lpstr>
      <vt:lpstr>Unterbrechende (preemptive) S-Strategien</vt:lpstr>
      <vt:lpstr>Scheduler und Dispatcher</vt:lpstr>
      <vt:lpstr>Ziele von Scheduling-Strategien - Alle Systeme</vt:lpstr>
      <vt:lpstr>Ziele - Interaktive Systeme</vt:lpstr>
      <vt:lpstr>Ziele - Echtzeitsysteme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 Betriebssysteme und Netzwerke</dc:title>
  <dc:creator>Artur Andrzejak</dc:creator>
  <cp:lastModifiedBy>Artur Andrzejak</cp:lastModifiedBy>
  <cp:revision>3126</cp:revision>
  <dcterms:created xsi:type="dcterms:W3CDTF">2009-04-16T23:00:57Z</dcterms:created>
  <dcterms:modified xsi:type="dcterms:W3CDTF">2026-06-08T08:42:19Z</dcterms:modified>
</cp:coreProperties>
</file>