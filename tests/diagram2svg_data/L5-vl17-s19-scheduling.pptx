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67"/>
  </p:notesMasterIdLst>
  <p:handoutMasterIdLst>
    <p:handoutMasterId r:id="rId68"/>
  </p:handoutMasterIdLst>
  <p:sldIdLst>
    <p:sldId id="1374" r:id="rId20"/>
  </p:sldIdLst>
  <p:sldSz cx="9144000" cy="6858000" type="screen4x3"/>
  <p:notesSz cx="6797675" cy="9874250"/>
  <p:custDataLst>
    <p:tags r:id="rId6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92" userDrawn="1">
          <p15:clr>
            <a:srgbClr val="A4A3A4"/>
          </p15:clr>
        </p15:guide>
        <p15:guide id="2" pos="10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8080"/>
    <a:srgbClr val="FFC000"/>
    <a:srgbClr val="FF0000"/>
    <a:srgbClr val="F22E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89" autoAdjust="0"/>
    <p:restoredTop sz="95547" autoAdjust="0"/>
  </p:normalViewPr>
  <p:slideViewPr>
    <p:cSldViewPr>
      <p:cViewPr varScale="1">
        <p:scale>
          <a:sx n="123" d="100"/>
          <a:sy n="123" d="100"/>
        </p:scale>
        <p:origin x="72" y="744"/>
      </p:cViewPr>
      <p:guideLst>
        <p:guide orient="horz" pos="4292"/>
        <p:guide pos="1020"/>
      </p:guideLst>
    </p:cSldViewPr>
  </p:slideViewPr>
  <p:notesTextViewPr>
    <p:cViewPr>
      <p:scale>
        <a:sx n="100" d="100"/>
        <a:sy n="100" d="100"/>
      </p:scale>
      <p:origin x="0" y="0"/>
    </p:cViewPr>
  </p:notesTextViewPr>
  <p:sorterViewPr>
    <p:cViewPr varScale="1">
      <p:scale>
        <a:sx n="1" d="1"/>
        <a:sy n="1" d="1"/>
      </p:scale>
      <p:origin x="0" y="-2619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tags" Target="tags/tag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3713"/>
          </a:xfrm>
          <a:prstGeom prst="rect">
            <a:avLst/>
          </a:prstGeom>
        </p:spPr>
        <p:txBody>
          <a:bodyPr vert="horz" lIns="91843" tIns="45921" rIns="91843" bIns="45921" rtlCol="0"/>
          <a:lstStyle>
            <a:lvl1pPr algn="l">
              <a:defRPr sz="1300"/>
            </a:lvl1pPr>
          </a:lstStyle>
          <a:p>
            <a:endParaRPr lang="de-DE" dirty="0"/>
          </a:p>
        </p:txBody>
      </p:sp>
      <p:sp>
        <p:nvSpPr>
          <p:cNvPr id="3" name="Datumsplatzhalter 2"/>
          <p:cNvSpPr>
            <a:spLocks noGrp="1"/>
          </p:cNvSpPr>
          <p:nvPr>
            <p:ph type="dt" sz="quarter" idx="1"/>
          </p:nvPr>
        </p:nvSpPr>
        <p:spPr>
          <a:xfrm>
            <a:off x="3850444" y="1"/>
            <a:ext cx="2945659" cy="493713"/>
          </a:xfrm>
          <a:prstGeom prst="rect">
            <a:avLst/>
          </a:prstGeom>
        </p:spPr>
        <p:txBody>
          <a:bodyPr vert="horz" lIns="91843" tIns="45921" rIns="91843" bIns="45921" rtlCol="0"/>
          <a:lstStyle>
            <a:lvl1pPr algn="r">
              <a:defRPr sz="1300"/>
            </a:lvl1pPr>
          </a:lstStyle>
          <a:p>
            <a:fld id="{503D259A-BC5A-44A4-AF17-09BFC30AC7B9}" type="datetimeFigureOut">
              <a:rPr lang="de-DE" smtClean="0"/>
              <a:pPr/>
              <a:t>10.06.2026</a:t>
            </a:fld>
            <a:endParaRPr lang="de-DE" dirty="0"/>
          </a:p>
        </p:txBody>
      </p:sp>
      <p:sp>
        <p:nvSpPr>
          <p:cNvPr id="4" name="Fußzeilenplatzhalter 3"/>
          <p:cNvSpPr>
            <a:spLocks noGrp="1"/>
          </p:cNvSpPr>
          <p:nvPr>
            <p:ph type="ftr" sz="quarter" idx="2"/>
          </p:nvPr>
        </p:nvSpPr>
        <p:spPr>
          <a:xfrm>
            <a:off x="1" y="9378826"/>
            <a:ext cx="2945659" cy="493713"/>
          </a:xfrm>
          <a:prstGeom prst="rect">
            <a:avLst/>
          </a:prstGeom>
        </p:spPr>
        <p:txBody>
          <a:bodyPr vert="horz" lIns="91843" tIns="45921" rIns="91843" bIns="45921" rtlCol="0" anchor="b"/>
          <a:lstStyle>
            <a:lvl1pPr algn="l">
              <a:defRPr sz="1300"/>
            </a:lvl1pPr>
          </a:lstStyle>
          <a:p>
            <a:endParaRPr lang="de-DE" dirty="0"/>
          </a:p>
        </p:txBody>
      </p:sp>
      <p:sp>
        <p:nvSpPr>
          <p:cNvPr id="5" name="Foliennummernplatzhalter 4"/>
          <p:cNvSpPr>
            <a:spLocks noGrp="1"/>
          </p:cNvSpPr>
          <p:nvPr>
            <p:ph type="sldNum" sz="quarter" idx="3"/>
          </p:nvPr>
        </p:nvSpPr>
        <p:spPr>
          <a:xfrm>
            <a:off x="3850444" y="9378826"/>
            <a:ext cx="2945659" cy="493713"/>
          </a:xfrm>
          <a:prstGeom prst="rect">
            <a:avLst/>
          </a:prstGeom>
        </p:spPr>
        <p:txBody>
          <a:bodyPr vert="horz" lIns="91843" tIns="45921" rIns="91843" bIns="45921" rtlCol="0" anchor="b"/>
          <a:lstStyle>
            <a:lvl1pPr algn="r">
              <a:defRPr sz="1300"/>
            </a:lvl1pPr>
          </a:lstStyle>
          <a:p>
            <a:fld id="{69916C2F-BC73-49DB-9119-EC35D25111C2}" type="slidenum">
              <a:rPr lang="de-DE" smtClean="0"/>
              <a:pPr/>
              <a:t>‹Nr.›</a:t>
            </a:fld>
            <a:endParaRPr lang="de-DE" dirty="0"/>
          </a:p>
        </p:txBody>
      </p:sp>
    </p:spTree>
    <p:extLst>
      <p:ext uri="{BB962C8B-B14F-4D97-AF65-F5344CB8AC3E}">
        <p14:creationId xmlns:p14="http://schemas.microsoft.com/office/powerpoint/2010/main" val="10693192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3713"/>
          </a:xfrm>
          <a:prstGeom prst="rect">
            <a:avLst/>
          </a:prstGeom>
        </p:spPr>
        <p:txBody>
          <a:bodyPr vert="horz" lIns="91843" tIns="45921" rIns="91843" bIns="45921" rtlCol="0"/>
          <a:lstStyle>
            <a:lvl1pPr algn="l">
              <a:defRPr sz="1300"/>
            </a:lvl1pPr>
          </a:lstStyle>
          <a:p>
            <a:endParaRPr lang="en-US" dirty="0"/>
          </a:p>
        </p:txBody>
      </p:sp>
      <p:sp>
        <p:nvSpPr>
          <p:cNvPr id="3" name="Datumsplatzhalter 2"/>
          <p:cNvSpPr>
            <a:spLocks noGrp="1"/>
          </p:cNvSpPr>
          <p:nvPr>
            <p:ph type="dt" idx="1"/>
          </p:nvPr>
        </p:nvSpPr>
        <p:spPr>
          <a:xfrm>
            <a:off x="3850444" y="1"/>
            <a:ext cx="2945659" cy="493713"/>
          </a:xfrm>
          <a:prstGeom prst="rect">
            <a:avLst/>
          </a:prstGeom>
        </p:spPr>
        <p:txBody>
          <a:bodyPr vert="horz" lIns="91843" tIns="45921" rIns="91843" bIns="45921" rtlCol="0"/>
          <a:lstStyle>
            <a:lvl1pPr algn="r">
              <a:defRPr sz="1300"/>
            </a:lvl1pPr>
          </a:lstStyle>
          <a:p>
            <a:fld id="{4007A66C-EE28-4ADD-A611-42716BED3A40}" type="datetimeFigureOut">
              <a:rPr lang="en-US" smtClean="0"/>
              <a:pPr/>
              <a:t>6/10/2026</a:t>
            </a:fld>
            <a:endParaRPr lang="en-US" dirty="0"/>
          </a:p>
        </p:txBody>
      </p:sp>
      <p:sp>
        <p:nvSpPr>
          <p:cNvPr id="4" name="Folienbildplatzhalter 3"/>
          <p:cNvSpPr>
            <a:spLocks noGrp="1" noRot="1" noChangeAspect="1"/>
          </p:cNvSpPr>
          <p:nvPr>
            <p:ph type="sldImg" idx="2"/>
          </p:nvPr>
        </p:nvSpPr>
        <p:spPr>
          <a:xfrm>
            <a:off x="930275" y="739775"/>
            <a:ext cx="4937125" cy="3703638"/>
          </a:xfrm>
          <a:prstGeom prst="rect">
            <a:avLst/>
          </a:prstGeom>
          <a:noFill/>
          <a:ln w="12700">
            <a:solidFill>
              <a:prstClr val="black"/>
            </a:solidFill>
          </a:ln>
        </p:spPr>
        <p:txBody>
          <a:bodyPr vert="horz" lIns="91843" tIns="45921" rIns="91843" bIns="45921" rtlCol="0" anchor="ctr"/>
          <a:lstStyle/>
          <a:p>
            <a:endParaRPr lang="en-US" dirty="0"/>
          </a:p>
        </p:txBody>
      </p:sp>
      <p:sp>
        <p:nvSpPr>
          <p:cNvPr id="5" name="Notizenplatzhalter 4"/>
          <p:cNvSpPr>
            <a:spLocks noGrp="1"/>
          </p:cNvSpPr>
          <p:nvPr>
            <p:ph type="body" sz="quarter" idx="3"/>
          </p:nvPr>
        </p:nvSpPr>
        <p:spPr>
          <a:xfrm>
            <a:off x="679770" y="4690269"/>
            <a:ext cx="5438139" cy="4443411"/>
          </a:xfrm>
          <a:prstGeom prst="rect">
            <a:avLst/>
          </a:prstGeom>
        </p:spPr>
        <p:txBody>
          <a:bodyPr vert="horz" lIns="91843" tIns="45921" rIns="91843" bIns="45921"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1" y="9378826"/>
            <a:ext cx="2945659" cy="493713"/>
          </a:xfrm>
          <a:prstGeom prst="rect">
            <a:avLst/>
          </a:prstGeom>
        </p:spPr>
        <p:txBody>
          <a:bodyPr vert="horz" lIns="91843" tIns="45921" rIns="91843" bIns="45921" rtlCol="0" anchor="b"/>
          <a:lstStyle>
            <a:lvl1pPr algn="l">
              <a:defRPr sz="1300"/>
            </a:lvl1pPr>
          </a:lstStyle>
          <a:p>
            <a:endParaRPr lang="en-US" dirty="0"/>
          </a:p>
        </p:txBody>
      </p:sp>
      <p:sp>
        <p:nvSpPr>
          <p:cNvPr id="7" name="Foliennummernplatzhalter 6"/>
          <p:cNvSpPr>
            <a:spLocks noGrp="1"/>
          </p:cNvSpPr>
          <p:nvPr>
            <p:ph type="sldNum" sz="quarter" idx="5"/>
          </p:nvPr>
        </p:nvSpPr>
        <p:spPr>
          <a:xfrm>
            <a:off x="3850444" y="9378826"/>
            <a:ext cx="2945659" cy="493713"/>
          </a:xfrm>
          <a:prstGeom prst="rect">
            <a:avLst/>
          </a:prstGeom>
        </p:spPr>
        <p:txBody>
          <a:bodyPr vert="horz" lIns="91843" tIns="45921" rIns="91843" bIns="45921" rtlCol="0" anchor="b"/>
          <a:lstStyle>
            <a:lvl1pPr algn="r">
              <a:defRPr sz="1300"/>
            </a:lvl1pPr>
          </a:lstStyle>
          <a:p>
            <a:fld id="{6D176CDC-8D0E-409F-856B-BAE38288A8E4}" type="slidenum">
              <a:rPr lang="en-US" smtClean="0"/>
              <a:pPr/>
              <a:t>‹Nr.›</a:t>
            </a:fld>
            <a:endParaRPr lang="en-US" dirty="0"/>
          </a:p>
        </p:txBody>
      </p:sp>
    </p:spTree>
    <p:extLst>
      <p:ext uri="{BB962C8B-B14F-4D97-AF65-F5344CB8AC3E}">
        <p14:creationId xmlns:p14="http://schemas.microsoft.com/office/powerpoint/2010/main" val="2630992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en.wikipedia.org/wiki/Memorylessness"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www.stochastik.tu-clausthal.de/Presse/Schulen/Warteschlangen"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www.stochastik.tu-clausthal.de/Presse/Schulen/Warteschlangen"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en.wikipedia.org/wiki/Return-to-libc_attack" TargetMode="External"/><Relationship Id="rId4" Type="http://schemas.openxmlformats.org/officeDocument/2006/relationships/hyperlink" Target="http://www.heise.de/security/meldung/Neue-Exploittechnik-trickst-Speicherschutz-aus-958806.html" TargetMode="External"/><Relationship Id="rId5" Type="http://schemas.openxmlformats.org/officeDocument/2006/relationships/hyperlink" Target="http://en.wikipedia.org/wiki/Address_space_layout_randomization" TargetMode="External"/><Relationship Id="rId6" Type="http://schemas.openxmlformats.org/officeDocument/2006/relationships/hyperlink" Target="http://pax.grsecurity.net/docs/aslr.txt" TargetMode="External"/><Relationship Id="rId7" Type="http://schemas.openxmlformats.org/officeDocument/2006/relationships/hyperlink" Target="http://fds-team.de/blog/2012/06/software-sicher-testen/"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a:t>
            </a:fld>
            <a:endParaRPr lang="en-US" dirty="0"/>
          </a:p>
        </p:txBody>
      </p:sp>
    </p:spTree>
    <p:extLst>
      <p:ext uri="{BB962C8B-B14F-4D97-AF65-F5344CB8AC3E}">
        <p14:creationId xmlns:p14="http://schemas.microsoft.com/office/powerpoint/2010/main" val="1682106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7</a:t>
            </a:fld>
            <a:endParaRPr lang="en-US"/>
          </a:p>
        </p:txBody>
      </p:sp>
    </p:spTree>
    <p:extLst>
      <p:ext uri="{BB962C8B-B14F-4D97-AF65-F5344CB8AC3E}">
        <p14:creationId xmlns:p14="http://schemas.microsoft.com/office/powerpoint/2010/main" val="1132835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9</a:t>
            </a:fld>
            <a:endParaRPr lang="en-US" dirty="0"/>
          </a:p>
        </p:txBody>
      </p:sp>
    </p:spTree>
    <p:extLst>
      <p:ext uri="{BB962C8B-B14F-4D97-AF65-F5344CB8AC3E}">
        <p14:creationId xmlns:p14="http://schemas.microsoft.com/office/powerpoint/2010/main" val="2593712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11</a:t>
            </a:fld>
            <a:endParaRPr lang="en-US"/>
          </a:p>
        </p:txBody>
      </p:sp>
    </p:spTree>
    <p:extLst>
      <p:ext uri="{BB962C8B-B14F-4D97-AF65-F5344CB8AC3E}">
        <p14:creationId xmlns:p14="http://schemas.microsoft.com/office/powerpoint/2010/main" val="26271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sym typeface="Symbol"/>
              </a:rPr>
              <a:t>Bei der </a:t>
            </a:r>
            <a:r>
              <a:rPr lang="de-DE" dirty="0" err="1"/>
              <a:t>Exponentialv</a:t>
            </a:r>
            <a:r>
              <a:rPr lang="de-DE" dirty="0"/>
              <a:t>. M mit Dichte f(x) = </a:t>
            </a:r>
            <a:r>
              <a:rPr lang="de-DE" dirty="0" err="1">
                <a:sym typeface="Symbol"/>
              </a:rPr>
              <a:t>ge</a:t>
            </a:r>
            <a:r>
              <a:rPr lang="de-DE" baseline="30000" dirty="0" err="1">
                <a:sym typeface="Symbol"/>
              </a:rPr>
              <a:t>-gx</a:t>
            </a:r>
            <a:r>
              <a:rPr lang="de-DE" dirty="0">
                <a:sym typeface="Symbol"/>
              </a:rPr>
              <a:t> ist der Parameter </a:t>
            </a:r>
            <a:r>
              <a:rPr lang="de-DE" b="1" dirty="0">
                <a:solidFill>
                  <a:srgbClr val="FF0000"/>
                </a:solidFill>
                <a:sym typeface="Symbol"/>
              </a:rPr>
              <a:t>g</a:t>
            </a:r>
            <a:r>
              <a:rPr lang="de-DE" dirty="0">
                <a:sym typeface="Symbol"/>
              </a:rPr>
              <a:t> genau die Ankunftsrate  </a:t>
            </a:r>
          </a:p>
          <a:p>
            <a:pPr lvl="1"/>
            <a:r>
              <a:rPr lang="de-DE" dirty="0">
                <a:sym typeface="Symbol"/>
              </a:rPr>
              <a:t>d.h. E[</a:t>
            </a:r>
            <a:r>
              <a:rPr lang="de-DE" dirty="0" err="1">
                <a:sym typeface="Symbol"/>
              </a:rPr>
              <a:t>t</a:t>
            </a:r>
            <a:r>
              <a:rPr lang="de-DE" baseline="-25000" dirty="0" err="1">
                <a:sym typeface="Symbol"/>
              </a:rPr>
              <a:t>M</a:t>
            </a:r>
            <a:r>
              <a:rPr lang="de-DE" dirty="0">
                <a:sym typeface="Symbol"/>
              </a:rPr>
              <a:t>] = g</a:t>
            </a:r>
            <a:r>
              <a:rPr lang="de-DE" baseline="30000" dirty="0">
                <a:sym typeface="Symbol"/>
              </a:rPr>
              <a:t>-1</a:t>
            </a:r>
            <a:r>
              <a:rPr lang="de-DE" dirty="0">
                <a:sym typeface="Symbol"/>
              </a:rPr>
              <a:t> oder g =  (und D[</a:t>
            </a:r>
            <a:r>
              <a:rPr lang="de-DE" dirty="0" err="1">
                <a:sym typeface="Symbol"/>
              </a:rPr>
              <a:t>t</a:t>
            </a:r>
            <a:r>
              <a:rPr lang="de-DE" baseline="-25000" dirty="0" err="1">
                <a:sym typeface="Symbol"/>
              </a:rPr>
              <a:t>M</a:t>
            </a:r>
            <a:r>
              <a:rPr lang="de-DE" dirty="0">
                <a:sym typeface="Symbol"/>
              </a:rPr>
              <a:t>] = g</a:t>
            </a:r>
            <a:r>
              <a:rPr lang="de-DE" baseline="30000" dirty="0">
                <a:sym typeface="Symbol"/>
              </a:rPr>
              <a:t>-2</a:t>
            </a:r>
            <a:r>
              <a:rPr lang="de-DE" dirty="0">
                <a:sym typeface="Symbol"/>
              </a:rPr>
              <a:t>)</a:t>
            </a:r>
          </a:p>
          <a:p>
            <a:pPr lvl="1"/>
            <a:r>
              <a:rPr lang="de-DE" dirty="0">
                <a:sym typeface="Symbol"/>
              </a:rPr>
              <a:t>Interessant: M ist „</a:t>
            </a:r>
            <a:r>
              <a:rPr lang="de-DE" dirty="0" err="1">
                <a:sym typeface="Symbol"/>
              </a:rPr>
              <a:t>gedächnislos</a:t>
            </a:r>
            <a:r>
              <a:rPr lang="de-DE" dirty="0">
                <a:sym typeface="Symbol"/>
              </a:rPr>
              <a:t>“ (</a:t>
            </a:r>
            <a:r>
              <a:rPr lang="de-DE" dirty="0" err="1">
                <a:sym typeface="Symbol"/>
                <a:hlinkClick r:id="rId3"/>
              </a:rPr>
              <a:t>memoryless</a:t>
            </a:r>
            <a:r>
              <a:rPr lang="de-DE" dirty="0">
                <a:sym typeface="Symbol"/>
              </a:rPr>
              <a:t>)</a:t>
            </a:r>
            <a:endParaRPr lang="de-DE" dirty="0"/>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13</a:t>
            </a:fld>
            <a:endParaRPr lang="en-US" dirty="0"/>
          </a:p>
        </p:txBody>
      </p:sp>
    </p:spTree>
    <p:extLst>
      <p:ext uri="{BB962C8B-B14F-4D97-AF65-F5344CB8AC3E}">
        <p14:creationId xmlns:p14="http://schemas.microsoft.com/office/powerpoint/2010/main" val="368285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17</a:t>
            </a:fld>
            <a:endParaRPr lang="en-US"/>
          </a:p>
        </p:txBody>
      </p:sp>
    </p:spTree>
    <p:extLst>
      <p:ext uri="{BB962C8B-B14F-4D97-AF65-F5344CB8AC3E}">
        <p14:creationId xmlns:p14="http://schemas.microsoft.com/office/powerpoint/2010/main" val="4052979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kern="1200" dirty="0">
                <a:solidFill>
                  <a:schemeClr val="tx1"/>
                </a:solidFill>
                <a:latin typeface="+mn-lt"/>
                <a:ea typeface="+mn-ea"/>
                <a:cs typeface="+mn-cs"/>
              </a:rPr>
              <a:t>Aus: </a:t>
            </a:r>
            <a:r>
              <a:rPr lang="de-DE" dirty="0">
                <a:hlinkClick r:id="rId3"/>
              </a:rPr>
              <a:t>http://www.stochastik.tu-clausthal.de/Presse/Schulen/Warteschlangen</a:t>
            </a:r>
            <a:r>
              <a:rPr lang="de-DE" dirty="0"/>
              <a:t> (dort „</a:t>
            </a:r>
            <a:r>
              <a:rPr lang="de-DE" sz="1200" b="0" i="0" kern="1200" dirty="0">
                <a:solidFill>
                  <a:schemeClr val="tx1"/>
                </a:solidFill>
                <a:latin typeface="+mn-lt"/>
                <a:ea typeface="+mn-ea"/>
                <a:cs typeface="+mn-cs"/>
              </a:rPr>
              <a:t>Design von </a:t>
            </a:r>
            <a:r>
              <a:rPr lang="de-DE" sz="1200" b="0" i="0" kern="1200" dirty="0" err="1">
                <a:solidFill>
                  <a:schemeClr val="tx1"/>
                </a:solidFill>
                <a:latin typeface="+mn-lt"/>
                <a:ea typeface="+mn-ea"/>
                <a:cs typeface="+mn-cs"/>
              </a:rPr>
              <a:t>Warteschlangensystemem</a:t>
            </a:r>
            <a:r>
              <a:rPr lang="de-DE" sz="1200" b="0" i="0" kern="1200" dirty="0">
                <a:solidFill>
                  <a:schemeClr val="tx1"/>
                </a:solidFill>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kern="1200" dirty="0">
              <a:solidFill>
                <a:schemeClr val="tx1"/>
              </a:solidFill>
              <a:latin typeface="+mn-lt"/>
              <a:ea typeface="+mn-ea"/>
              <a:cs typeface="+mn-cs"/>
            </a:endParaRPr>
          </a:p>
          <a:p>
            <a:pPr marL="228600" indent="-228600">
              <a:buFont typeface="+mj-lt"/>
              <a:buAutoNum type="arabicPeriod"/>
            </a:pPr>
            <a:r>
              <a:rPr lang="de-DE" sz="1200" b="0" i="0" kern="1200" dirty="0">
                <a:solidFill>
                  <a:schemeClr val="tx1"/>
                </a:solidFill>
                <a:latin typeface="+mn-lt"/>
                <a:ea typeface="+mn-ea"/>
                <a:cs typeface="+mn-cs"/>
              </a:rPr>
              <a:t> A. Es stehen zwei Bediener zur Verfügung. Die ankommenden Kunden werden von einem sogenannten Dispatcher dem jeweils freiwerdenden Schalter zugewiesen. Nach diesem Prinzip werden z. B. beim Check-In auf dem Flughafen die Warteschlangen abgearbeitet</a:t>
            </a:r>
          </a:p>
          <a:p>
            <a:pPr marL="228600" indent="-228600">
              <a:buFont typeface="+mj-lt"/>
              <a:buAutoNum type="arabicPeriod"/>
            </a:pPr>
            <a:r>
              <a:rPr lang="de-DE" sz="1200" b="0" i="0" kern="1200" dirty="0">
                <a:solidFill>
                  <a:schemeClr val="tx1"/>
                </a:solidFill>
                <a:latin typeface="+mn-lt"/>
                <a:ea typeface="+mn-ea"/>
                <a:cs typeface="+mn-cs"/>
              </a:rPr>
              <a:t> B. Auch hier stehen zwei parallele Bediener zur Verfügung. Allerdings werden die Kunden bereits bei ihrer Ankunft gleichmäßig (d. h. zu je 50%) auf die beiden Warteschlangen verteilt. In dieser Weise stellt man sich an den Fahrkartenschaltern auf Deutschlands Bahnhöfen an.</a:t>
            </a:r>
          </a:p>
          <a:p>
            <a:pPr marL="228600" indent="-228600">
              <a:buFont typeface="+mj-lt"/>
              <a:buAutoNum type="arabicPeriod"/>
            </a:pPr>
            <a:r>
              <a:rPr lang="de-DE" sz="1200" b="0" i="0" kern="1200" dirty="0">
                <a:solidFill>
                  <a:schemeClr val="tx1"/>
                </a:solidFill>
                <a:latin typeface="+mn-lt"/>
                <a:ea typeface="+mn-ea"/>
                <a:cs typeface="+mn-cs"/>
              </a:rPr>
              <a:t> C. Es gibt nur einen Bediener und eine Warteschlange. Der Bediener kann jedoch zwei Kunden gleichzeitig bedienen</a:t>
            </a:r>
          </a:p>
          <a:p>
            <a:pPr marL="228600" indent="-228600">
              <a:buFont typeface="+mj-lt"/>
              <a:buAutoNum type="arabicPeriod"/>
            </a:pPr>
            <a:r>
              <a:rPr lang="de-DE" sz="1200" b="0" i="0" kern="1200" dirty="0">
                <a:solidFill>
                  <a:schemeClr val="tx1"/>
                </a:solidFill>
                <a:latin typeface="+mn-lt"/>
                <a:ea typeface="+mn-ea"/>
                <a:cs typeface="+mn-cs"/>
              </a:rPr>
              <a:t> D. Es gibt nur einen Bediener und eine Warteschlange. Der Bediener arbeitet jedoch mit doppelter Geschwindigkeit.</a:t>
            </a:r>
          </a:p>
          <a:p>
            <a:endParaRPr lang="de-DE" dirty="0"/>
          </a:p>
          <a:p>
            <a:r>
              <a:rPr lang="de-DE" sz="1200" b="0" i="0" kern="1200" dirty="0">
                <a:solidFill>
                  <a:schemeClr val="tx1"/>
                </a:solidFill>
                <a:latin typeface="+mn-lt"/>
                <a:ea typeface="+mn-ea"/>
                <a:cs typeface="+mn-cs"/>
              </a:rPr>
              <a:t>Für den Vergleich der Leistungsgrößen werden folgende Parameter angenommen: </a:t>
            </a:r>
            <a:br>
              <a:rPr lang="de-DE" dirty="0"/>
            </a:br>
            <a:r>
              <a:rPr lang="de-DE" dirty="0" err="1"/>
              <a:t>Ankunftrate</a:t>
            </a:r>
            <a:r>
              <a:rPr lang="de-DE" dirty="0"/>
              <a:t> 	</a:t>
            </a:r>
            <a:r>
              <a:rPr lang="de-DE" dirty="0" err="1"/>
              <a:t>lambda</a:t>
            </a:r>
            <a:r>
              <a:rPr lang="de-DE" dirty="0"/>
              <a:t> = 1.8</a:t>
            </a:r>
          </a:p>
          <a:p>
            <a:r>
              <a:rPr lang="de-DE" dirty="0"/>
              <a:t>Bedienrate 	</a:t>
            </a:r>
            <a:r>
              <a:rPr lang="de-DE" dirty="0" err="1"/>
              <a:t>mu</a:t>
            </a:r>
            <a:r>
              <a:rPr lang="de-DE" baseline="0" dirty="0"/>
              <a:t> </a:t>
            </a:r>
            <a:r>
              <a:rPr lang="de-DE" dirty="0"/>
              <a:t>= 1.0</a:t>
            </a:r>
          </a:p>
          <a:p>
            <a:r>
              <a:rPr lang="de-DE" dirty="0"/>
              <a:t>Variationskoeffizient des </a:t>
            </a:r>
            <a:r>
              <a:rPr lang="de-DE" dirty="0" err="1"/>
              <a:t>Ankunftstroms</a:t>
            </a:r>
            <a:r>
              <a:rPr lang="de-DE" dirty="0"/>
              <a:t>    c</a:t>
            </a:r>
            <a:r>
              <a:rPr lang="de-DE" baseline="-25000" dirty="0"/>
              <a:t>l</a:t>
            </a:r>
            <a:r>
              <a:rPr lang="de-DE" dirty="0"/>
              <a:t> = 1.0</a:t>
            </a:r>
          </a:p>
          <a:p>
            <a:r>
              <a:rPr lang="de-DE" dirty="0"/>
              <a:t>Variationskoeffizient des Bedienprozesses</a:t>
            </a:r>
            <a:r>
              <a:rPr lang="de-DE" baseline="0" dirty="0"/>
              <a:t> </a:t>
            </a:r>
            <a:r>
              <a:rPr lang="de-DE" dirty="0" err="1"/>
              <a:t>c</a:t>
            </a:r>
            <a:r>
              <a:rPr lang="de-DE" baseline="-25000" dirty="0" err="1"/>
              <a:t>s</a:t>
            </a:r>
            <a:r>
              <a:rPr lang="de-DE" dirty="0"/>
              <a:t>  = 0</a:t>
            </a:r>
            <a:br>
              <a:rPr lang="de-DE" dirty="0"/>
            </a:b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19</a:t>
            </a:fld>
            <a:endParaRPr lang="en-US" dirty="0"/>
          </a:p>
        </p:txBody>
      </p:sp>
    </p:spTree>
    <p:extLst>
      <p:ext uri="{BB962C8B-B14F-4D97-AF65-F5344CB8AC3E}">
        <p14:creationId xmlns:p14="http://schemas.microsoft.com/office/powerpoint/2010/main" val="633860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kern="1200" dirty="0">
                <a:solidFill>
                  <a:schemeClr val="tx1"/>
                </a:solidFill>
                <a:latin typeface="+mn-lt"/>
                <a:ea typeface="+mn-ea"/>
                <a:cs typeface="+mn-cs"/>
              </a:rPr>
              <a:t>Aus: </a:t>
            </a:r>
            <a:r>
              <a:rPr lang="de-DE" dirty="0">
                <a:hlinkClick r:id="rId3"/>
              </a:rPr>
              <a:t>http://www.stochastik.tu-clausthal.de/Presse/Schulen/Warteschlangen</a:t>
            </a:r>
            <a:r>
              <a:rPr lang="de-DE" dirty="0"/>
              <a:t> (dort „</a:t>
            </a:r>
            <a:r>
              <a:rPr lang="de-DE" sz="1200" b="0" i="0" kern="1200" dirty="0">
                <a:solidFill>
                  <a:schemeClr val="tx1"/>
                </a:solidFill>
                <a:latin typeface="+mn-lt"/>
                <a:ea typeface="+mn-ea"/>
                <a:cs typeface="+mn-cs"/>
              </a:rPr>
              <a:t>Design von </a:t>
            </a:r>
            <a:r>
              <a:rPr lang="de-DE" sz="1200" b="0" i="0" kern="1200" dirty="0" err="1">
                <a:solidFill>
                  <a:schemeClr val="tx1"/>
                </a:solidFill>
                <a:latin typeface="+mn-lt"/>
                <a:ea typeface="+mn-ea"/>
                <a:cs typeface="+mn-cs"/>
              </a:rPr>
              <a:t>Warteschlangensystemem</a:t>
            </a:r>
            <a:r>
              <a:rPr lang="de-DE" sz="1200" b="0" i="0" kern="1200" dirty="0">
                <a:solidFill>
                  <a:schemeClr val="tx1"/>
                </a:solidFill>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kern="1200" dirty="0">
              <a:solidFill>
                <a:schemeClr val="tx1"/>
              </a:solidFill>
              <a:latin typeface="+mn-lt"/>
              <a:ea typeface="+mn-ea"/>
              <a:cs typeface="+mn-cs"/>
            </a:endParaRPr>
          </a:p>
          <a:p>
            <a:r>
              <a:rPr lang="de-DE" sz="1200" b="0" i="0" kern="1200" dirty="0">
                <a:solidFill>
                  <a:schemeClr val="tx1"/>
                </a:solidFill>
                <a:latin typeface="+mn-lt"/>
                <a:ea typeface="+mn-ea"/>
                <a:cs typeface="+mn-cs"/>
              </a:rPr>
              <a:t>Für den Vergleich der Leistungsgrößen werden folgende Parameter angenommen: </a:t>
            </a:r>
            <a:br>
              <a:rPr lang="de-DE" dirty="0"/>
            </a:br>
            <a:r>
              <a:rPr lang="de-DE" dirty="0" err="1"/>
              <a:t>Ankunftrate</a:t>
            </a:r>
            <a:r>
              <a:rPr lang="de-DE" dirty="0"/>
              <a:t> 	</a:t>
            </a:r>
            <a:r>
              <a:rPr lang="de-DE" dirty="0" err="1"/>
              <a:t>lambda</a:t>
            </a:r>
            <a:r>
              <a:rPr lang="de-DE" dirty="0"/>
              <a:t> = 1.8</a:t>
            </a:r>
          </a:p>
          <a:p>
            <a:r>
              <a:rPr lang="de-DE" dirty="0"/>
              <a:t>Bedienrate 	</a:t>
            </a:r>
            <a:r>
              <a:rPr lang="de-DE" dirty="0" err="1"/>
              <a:t>mu</a:t>
            </a:r>
            <a:r>
              <a:rPr lang="de-DE" baseline="0" dirty="0"/>
              <a:t> </a:t>
            </a:r>
            <a:r>
              <a:rPr lang="de-DE" dirty="0"/>
              <a:t>= 1.0</a:t>
            </a:r>
          </a:p>
          <a:p>
            <a:r>
              <a:rPr lang="de-DE" dirty="0"/>
              <a:t>Variationskoeffizient des </a:t>
            </a:r>
            <a:r>
              <a:rPr lang="de-DE" dirty="0" err="1"/>
              <a:t>Ankunftstroms</a:t>
            </a:r>
            <a:r>
              <a:rPr lang="de-DE" dirty="0"/>
              <a:t>    c</a:t>
            </a:r>
            <a:r>
              <a:rPr lang="de-DE" baseline="-25000" dirty="0"/>
              <a:t>l</a:t>
            </a:r>
            <a:r>
              <a:rPr lang="de-DE" dirty="0"/>
              <a:t> = 1.0</a:t>
            </a:r>
          </a:p>
          <a:p>
            <a:r>
              <a:rPr lang="de-DE" dirty="0"/>
              <a:t>Variationskoeffizient des Bedienprozesses</a:t>
            </a:r>
            <a:r>
              <a:rPr lang="de-DE" baseline="0" dirty="0"/>
              <a:t> </a:t>
            </a:r>
            <a:r>
              <a:rPr lang="de-DE" dirty="0" err="1"/>
              <a:t>c</a:t>
            </a:r>
            <a:r>
              <a:rPr lang="de-DE" baseline="-25000" dirty="0" err="1"/>
              <a:t>s</a:t>
            </a:r>
            <a:r>
              <a:rPr lang="de-DE" dirty="0"/>
              <a:t>  = 0</a:t>
            </a:r>
            <a:br>
              <a:rPr lang="de-DE" dirty="0"/>
            </a:b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20</a:t>
            </a:fld>
            <a:endParaRPr lang="en-US" dirty="0"/>
          </a:p>
        </p:txBody>
      </p:sp>
    </p:spTree>
    <p:extLst>
      <p:ext uri="{BB962C8B-B14F-4D97-AF65-F5344CB8AC3E}">
        <p14:creationId xmlns:p14="http://schemas.microsoft.com/office/powerpoint/2010/main" val="3205652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de-DE" dirty="0"/>
              <a:t>Die Ergebnisse sind oft Näherungen diverser Qualität</a:t>
            </a:r>
          </a:p>
          <a:p>
            <a:endParaRPr lang="de-DE" dirty="0"/>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21</a:t>
            </a:fld>
            <a:endParaRPr lang="en-US" dirty="0"/>
          </a:p>
        </p:txBody>
      </p:sp>
    </p:spTree>
    <p:extLst>
      <p:ext uri="{BB962C8B-B14F-4D97-AF65-F5344CB8AC3E}">
        <p14:creationId xmlns:p14="http://schemas.microsoft.com/office/powerpoint/2010/main" val="841320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23</a:t>
            </a:fld>
            <a:endParaRPr lang="en-US"/>
          </a:p>
        </p:txBody>
      </p:sp>
    </p:spTree>
    <p:extLst>
      <p:ext uri="{BB962C8B-B14F-4D97-AF65-F5344CB8AC3E}">
        <p14:creationId xmlns:p14="http://schemas.microsoft.com/office/powerpoint/2010/main" val="4204765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24</a:t>
            </a:fld>
            <a:endParaRPr lang="en-US"/>
          </a:p>
        </p:txBody>
      </p:sp>
    </p:spTree>
    <p:extLst>
      <p:ext uri="{BB962C8B-B14F-4D97-AF65-F5344CB8AC3E}">
        <p14:creationId xmlns:p14="http://schemas.microsoft.com/office/powerpoint/2010/main" val="461991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31</a:t>
            </a:fld>
            <a:endParaRPr lang="en-US"/>
          </a:p>
        </p:txBody>
      </p:sp>
    </p:spTree>
    <p:extLst>
      <p:ext uri="{BB962C8B-B14F-4D97-AF65-F5344CB8AC3E}">
        <p14:creationId xmlns:p14="http://schemas.microsoft.com/office/powerpoint/2010/main" val="508516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10000"/>
          </a:bodyPr>
          <a:lstStyle/>
          <a:p>
            <a:r>
              <a:rPr lang="de-DE" dirty="0"/>
              <a:t>Ergänzungen von </a:t>
            </a:r>
            <a:r>
              <a:rPr lang="de-DE"/>
              <a:t>Herrn </a:t>
            </a:r>
            <a:r>
              <a:rPr lang="de-DE" sz="1200" b="0" i="0" kern="1200">
                <a:solidFill>
                  <a:schemeClr val="tx1"/>
                </a:solidFill>
                <a:latin typeface="+mn-lt"/>
                <a:ea typeface="+mn-ea"/>
                <a:cs typeface="+mn-cs"/>
              </a:rPr>
              <a:t>Michael Müller</a:t>
            </a:r>
            <a:r>
              <a:rPr lang="de-DE"/>
              <a:t>:</a:t>
            </a:r>
            <a:endParaRPr lang="de-DE" dirty="0"/>
          </a:p>
          <a:p>
            <a:endParaRPr lang="de-DE" dirty="0"/>
          </a:p>
          <a:p>
            <a:r>
              <a:rPr lang="de-DE" sz="1200" b="0" i="0" kern="1200" dirty="0">
                <a:solidFill>
                  <a:schemeClr val="tx1"/>
                </a:solidFill>
                <a:latin typeface="+mn-lt"/>
                <a:ea typeface="+mn-ea"/>
                <a:cs typeface="+mn-cs"/>
              </a:rPr>
              <a:t>wir hatten heute in der Vorlesung das Thema </a:t>
            </a:r>
            <a:r>
              <a:rPr lang="de-DE" sz="1200" b="0" i="0" kern="1200" dirty="0" err="1">
                <a:solidFill>
                  <a:schemeClr val="tx1"/>
                </a:solidFill>
                <a:latin typeface="+mn-lt"/>
                <a:ea typeface="+mn-ea"/>
                <a:cs typeface="+mn-cs"/>
              </a:rPr>
              <a:t>Stack</a:t>
            </a:r>
            <a:r>
              <a:rPr lang="de-DE" sz="1200" b="0" i="0" kern="1200" dirty="0">
                <a:solidFill>
                  <a:schemeClr val="tx1"/>
                </a:solidFill>
                <a:latin typeface="+mn-lt"/>
                <a:ea typeface="+mn-ea"/>
                <a:cs typeface="+mn-cs"/>
              </a:rPr>
              <a:t> </a:t>
            </a:r>
            <a:r>
              <a:rPr lang="de-DE" sz="1200" b="0" i="0" kern="1200" dirty="0" err="1">
                <a:solidFill>
                  <a:schemeClr val="tx1"/>
                </a:solidFill>
                <a:latin typeface="+mn-lt"/>
                <a:ea typeface="+mn-ea"/>
                <a:cs typeface="+mn-cs"/>
              </a:rPr>
              <a:t>buffer</a:t>
            </a:r>
            <a:r>
              <a:rPr lang="de-DE" sz="1200" b="0" i="0" kern="1200" dirty="0">
                <a:solidFill>
                  <a:schemeClr val="tx1"/>
                </a:solidFill>
                <a:latin typeface="+mn-lt"/>
                <a:ea typeface="+mn-ea"/>
                <a:cs typeface="+mn-cs"/>
              </a:rPr>
              <a:t> </a:t>
            </a:r>
            <a:r>
              <a:rPr lang="de-DE" sz="1200" b="0" i="0" kern="1200" dirty="0" err="1">
                <a:solidFill>
                  <a:schemeClr val="tx1"/>
                </a:solidFill>
                <a:latin typeface="+mn-lt"/>
                <a:ea typeface="+mn-ea"/>
                <a:cs typeface="+mn-cs"/>
              </a:rPr>
              <a:t>overflow</a:t>
            </a:r>
            <a:r>
              <a:rPr lang="de-DE" sz="1200" b="0" i="0" kern="1200" dirty="0">
                <a:solidFill>
                  <a:schemeClr val="tx1"/>
                </a:solidFill>
                <a:latin typeface="+mn-lt"/>
                <a:ea typeface="+mn-ea"/>
                <a:cs typeface="+mn-cs"/>
              </a:rPr>
              <a:t> besprochen und ich hatte erzählt, das es auch Techniken gibt, die diese Sicherheitslücke ausnutzen, obwohl der </a:t>
            </a:r>
            <a:r>
              <a:rPr lang="de-DE" sz="1200" b="0" i="0" kern="1200" dirty="0" err="1">
                <a:solidFill>
                  <a:schemeClr val="tx1"/>
                </a:solidFill>
                <a:latin typeface="+mn-lt"/>
                <a:ea typeface="+mn-ea"/>
                <a:cs typeface="+mn-cs"/>
              </a:rPr>
              <a:t>Stack</a:t>
            </a:r>
            <a:r>
              <a:rPr lang="de-DE" sz="1200" b="0" i="0" kern="1200" dirty="0">
                <a:solidFill>
                  <a:schemeClr val="tx1"/>
                </a:solidFill>
                <a:latin typeface="+mn-lt"/>
                <a:ea typeface="+mn-ea"/>
                <a:cs typeface="+mn-cs"/>
              </a:rPr>
              <a:t> als nicht ausführbar markiert wurde. Da Sie mich um weitere Links zu dem Thema gefragt haben, habe ich nun ein paar zusammen gesucht.</a:t>
            </a:r>
            <a:br>
              <a:rPr lang="de-DE" dirty="0"/>
            </a:br>
            <a:br>
              <a:rPr lang="de-DE" dirty="0"/>
            </a:br>
            <a:r>
              <a:rPr lang="de-DE" sz="1200" b="0" i="0" kern="1200" dirty="0">
                <a:solidFill>
                  <a:schemeClr val="tx1"/>
                </a:solidFill>
                <a:latin typeface="+mn-lt"/>
                <a:ea typeface="+mn-ea"/>
                <a:cs typeface="+mn-cs"/>
              </a:rPr>
              <a:t>Statt seinen Code auf den </a:t>
            </a:r>
            <a:r>
              <a:rPr lang="de-DE" sz="1200" b="0" i="0" kern="1200" dirty="0" err="1">
                <a:solidFill>
                  <a:schemeClr val="tx1"/>
                </a:solidFill>
                <a:latin typeface="+mn-lt"/>
                <a:ea typeface="+mn-ea"/>
                <a:cs typeface="+mn-cs"/>
              </a:rPr>
              <a:t>Stack</a:t>
            </a:r>
            <a:r>
              <a:rPr lang="de-DE" sz="1200" b="0" i="0" kern="1200" dirty="0">
                <a:solidFill>
                  <a:schemeClr val="tx1"/>
                </a:solidFill>
                <a:latin typeface="+mn-lt"/>
                <a:ea typeface="+mn-ea"/>
                <a:cs typeface="+mn-cs"/>
              </a:rPr>
              <a:t> zu schreiben und die Rücksprungadresse so zu verändern, das dieser Code ausgeführt wird, manipuliert man die Rücksprungadresse in dem man sie auf eine Funktion zeigen lässt und weitere Parameter auf dem </a:t>
            </a:r>
            <a:r>
              <a:rPr lang="de-DE" sz="1200" b="0" i="0" kern="1200" dirty="0" err="1">
                <a:solidFill>
                  <a:schemeClr val="tx1"/>
                </a:solidFill>
                <a:latin typeface="+mn-lt"/>
                <a:ea typeface="+mn-ea"/>
                <a:cs typeface="+mn-cs"/>
              </a:rPr>
              <a:t>Stack</a:t>
            </a:r>
            <a:r>
              <a:rPr lang="de-DE" sz="1200" b="0" i="0" kern="1200" dirty="0">
                <a:solidFill>
                  <a:schemeClr val="tx1"/>
                </a:solidFill>
                <a:latin typeface="+mn-lt"/>
                <a:ea typeface="+mn-ea"/>
                <a:cs typeface="+mn-cs"/>
              </a:rPr>
              <a:t> ablegt. Da es anscheinend besonders beliebt ist eine Funktion aus der Standard C Library zu verwenden, heißt dieser Angriff "Return-</a:t>
            </a:r>
            <a:r>
              <a:rPr lang="de-DE" sz="1200" b="0" i="0" kern="1200" dirty="0" err="1">
                <a:solidFill>
                  <a:schemeClr val="tx1"/>
                </a:solidFill>
                <a:latin typeface="+mn-lt"/>
                <a:ea typeface="+mn-ea"/>
                <a:cs typeface="+mn-cs"/>
              </a:rPr>
              <a:t>to</a:t>
            </a:r>
            <a:r>
              <a:rPr lang="de-DE" sz="1200" b="0" i="0" kern="1200" dirty="0">
                <a:solidFill>
                  <a:schemeClr val="tx1"/>
                </a:solidFill>
                <a:latin typeface="+mn-lt"/>
                <a:ea typeface="+mn-ea"/>
                <a:cs typeface="+mn-cs"/>
              </a:rPr>
              <a:t>-</a:t>
            </a:r>
            <a:r>
              <a:rPr lang="de-DE" sz="1200" b="0" i="0" kern="1200" dirty="0" err="1">
                <a:solidFill>
                  <a:schemeClr val="tx1"/>
                </a:solidFill>
                <a:latin typeface="+mn-lt"/>
                <a:ea typeface="+mn-ea"/>
                <a:cs typeface="+mn-cs"/>
              </a:rPr>
              <a:t>libc</a:t>
            </a:r>
            <a:r>
              <a:rPr lang="de-DE" sz="1200" b="0" i="0" kern="1200" dirty="0">
                <a:solidFill>
                  <a:schemeClr val="tx1"/>
                </a:solidFill>
                <a:latin typeface="+mn-lt"/>
                <a:ea typeface="+mn-ea"/>
                <a:cs typeface="+mn-cs"/>
              </a:rPr>
              <a:t> </a:t>
            </a:r>
            <a:r>
              <a:rPr lang="de-DE" sz="1200" b="0" i="0" kern="1200" dirty="0" err="1">
                <a:solidFill>
                  <a:schemeClr val="tx1"/>
                </a:solidFill>
                <a:latin typeface="+mn-lt"/>
                <a:ea typeface="+mn-ea"/>
                <a:cs typeface="+mn-cs"/>
              </a:rPr>
              <a:t>attack</a:t>
            </a:r>
            <a:r>
              <a:rPr lang="de-DE" sz="1200" b="0" i="0" kern="1200" dirty="0">
                <a:solidFill>
                  <a:schemeClr val="tx1"/>
                </a:solidFill>
                <a:latin typeface="+mn-lt"/>
                <a:ea typeface="+mn-ea"/>
                <a:cs typeface="+mn-cs"/>
              </a:rPr>
              <a:t>" (</a:t>
            </a:r>
            <a:r>
              <a:rPr lang="de-DE" sz="1200" b="0" i="0" kern="1200" dirty="0">
                <a:solidFill>
                  <a:schemeClr val="tx1"/>
                </a:solidFill>
                <a:latin typeface="+mn-lt"/>
                <a:ea typeface="+mn-ea"/>
                <a:cs typeface="+mn-cs"/>
                <a:hlinkClick r:id="rId3"/>
              </a:rPr>
              <a:t>http://en.wikipedia.org/wiki/Return-to-libc_attack</a:t>
            </a:r>
            <a:r>
              <a:rPr lang="de-DE" sz="1200" b="0" i="0" kern="1200" dirty="0">
                <a:solidFill>
                  <a:schemeClr val="tx1"/>
                </a:solidFill>
                <a:latin typeface="+mn-lt"/>
                <a:ea typeface="+mn-ea"/>
                <a:cs typeface="+mn-cs"/>
              </a:rPr>
              <a:t>). Diese Methode wurde scheinbar zum ersten Mal in einem PDF-</a:t>
            </a:r>
            <a:r>
              <a:rPr lang="de-DE" sz="1200" b="0" i="0" kern="1200" dirty="0" err="1">
                <a:solidFill>
                  <a:schemeClr val="tx1"/>
                </a:solidFill>
                <a:latin typeface="+mn-lt"/>
                <a:ea typeface="+mn-ea"/>
                <a:cs typeface="+mn-cs"/>
              </a:rPr>
              <a:t>Exploit</a:t>
            </a:r>
            <a:r>
              <a:rPr lang="de-DE" sz="1200" b="0" i="0" kern="1200" dirty="0">
                <a:solidFill>
                  <a:schemeClr val="tx1"/>
                </a:solidFill>
                <a:latin typeface="+mn-lt"/>
                <a:ea typeface="+mn-ea"/>
                <a:cs typeface="+mn-cs"/>
              </a:rPr>
              <a:t> entdeckt (</a:t>
            </a:r>
            <a:r>
              <a:rPr lang="de-DE" sz="1200" b="0" i="0" kern="1200" dirty="0">
                <a:solidFill>
                  <a:schemeClr val="tx1"/>
                </a:solidFill>
                <a:latin typeface="+mn-lt"/>
                <a:ea typeface="+mn-ea"/>
                <a:cs typeface="+mn-cs"/>
                <a:hlinkClick r:id="rId4"/>
              </a:rPr>
              <a:t>http://www.heise.de/security/meldung/Neue-Exploittechnik-trickst-Speicherschutz-aus-958806.html</a:t>
            </a:r>
            <a:r>
              <a:rPr lang="de-DE" sz="1200" b="0" i="0" kern="1200" dirty="0">
                <a:solidFill>
                  <a:schemeClr val="tx1"/>
                </a:solidFill>
                <a:latin typeface="+mn-lt"/>
                <a:ea typeface="+mn-ea"/>
                <a:cs typeface="+mn-cs"/>
              </a:rPr>
              <a:t>). Als Schutz gegen diese Methode versucht man die Routinen von </a:t>
            </a:r>
            <a:r>
              <a:rPr lang="de-DE" sz="1200" b="0" i="0" kern="1200" dirty="0" err="1">
                <a:solidFill>
                  <a:schemeClr val="tx1"/>
                </a:solidFill>
                <a:latin typeface="+mn-lt"/>
                <a:ea typeface="+mn-ea"/>
                <a:cs typeface="+mn-cs"/>
              </a:rPr>
              <a:t>Shared</a:t>
            </a:r>
            <a:r>
              <a:rPr lang="de-DE" sz="1200" b="0" i="0" kern="1200" dirty="0">
                <a:solidFill>
                  <a:schemeClr val="tx1"/>
                </a:solidFill>
                <a:latin typeface="+mn-lt"/>
                <a:ea typeface="+mn-ea"/>
                <a:cs typeface="+mn-cs"/>
              </a:rPr>
              <a:t> Libraries an zufällige Adresse zu laden, damit dieser Angriff nicht mehr funktioniert. Das ganze wird </a:t>
            </a:r>
            <a:r>
              <a:rPr lang="de-DE" sz="1200" b="0" i="0" kern="1200" dirty="0" err="1">
                <a:solidFill>
                  <a:schemeClr val="tx1"/>
                </a:solidFill>
                <a:latin typeface="+mn-lt"/>
                <a:ea typeface="+mn-ea"/>
                <a:cs typeface="+mn-cs"/>
              </a:rPr>
              <a:t>Address</a:t>
            </a:r>
            <a:r>
              <a:rPr lang="de-DE" sz="1200" b="0" i="0" kern="1200" dirty="0">
                <a:solidFill>
                  <a:schemeClr val="tx1"/>
                </a:solidFill>
                <a:latin typeface="+mn-lt"/>
                <a:ea typeface="+mn-ea"/>
                <a:cs typeface="+mn-cs"/>
              </a:rPr>
              <a:t> </a:t>
            </a:r>
            <a:r>
              <a:rPr lang="de-DE" sz="1200" b="0" i="0" kern="1200" dirty="0" err="1">
                <a:solidFill>
                  <a:schemeClr val="tx1"/>
                </a:solidFill>
                <a:latin typeface="+mn-lt"/>
                <a:ea typeface="+mn-ea"/>
                <a:cs typeface="+mn-cs"/>
              </a:rPr>
              <a:t>space</a:t>
            </a:r>
            <a:r>
              <a:rPr lang="de-DE" sz="1200" b="0" i="0" kern="1200" dirty="0">
                <a:solidFill>
                  <a:schemeClr val="tx1"/>
                </a:solidFill>
                <a:latin typeface="+mn-lt"/>
                <a:ea typeface="+mn-ea"/>
                <a:cs typeface="+mn-cs"/>
              </a:rPr>
              <a:t> </a:t>
            </a:r>
            <a:r>
              <a:rPr lang="de-DE" sz="1200" b="0" i="0" kern="1200" dirty="0" err="1">
                <a:solidFill>
                  <a:schemeClr val="tx1"/>
                </a:solidFill>
                <a:latin typeface="+mn-lt"/>
                <a:ea typeface="+mn-ea"/>
                <a:cs typeface="+mn-cs"/>
              </a:rPr>
              <a:t>layout</a:t>
            </a:r>
            <a:r>
              <a:rPr lang="de-DE" sz="1200" b="0" i="0" kern="1200" dirty="0">
                <a:solidFill>
                  <a:schemeClr val="tx1"/>
                </a:solidFill>
                <a:latin typeface="+mn-lt"/>
                <a:ea typeface="+mn-ea"/>
                <a:cs typeface="+mn-cs"/>
              </a:rPr>
              <a:t> </a:t>
            </a:r>
            <a:r>
              <a:rPr lang="de-DE" sz="1200" b="0" i="0" kern="1200" dirty="0" err="1">
                <a:solidFill>
                  <a:schemeClr val="tx1"/>
                </a:solidFill>
                <a:latin typeface="+mn-lt"/>
                <a:ea typeface="+mn-ea"/>
                <a:cs typeface="+mn-cs"/>
              </a:rPr>
              <a:t>randomization</a:t>
            </a:r>
            <a:r>
              <a:rPr lang="de-DE" sz="1200" b="0" i="0" kern="1200" dirty="0">
                <a:solidFill>
                  <a:schemeClr val="tx1"/>
                </a:solidFill>
                <a:latin typeface="+mn-lt"/>
                <a:ea typeface="+mn-ea"/>
                <a:cs typeface="+mn-cs"/>
              </a:rPr>
              <a:t> (kurz </a:t>
            </a:r>
            <a:r>
              <a:rPr lang="de-DE" sz="1200" b="0" i="0" kern="1200" dirty="0" err="1">
                <a:solidFill>
                  <a:schemeClr val="tx1"/>
                </a:solidFill>
                <a:latin typeface="+mn-lt"/>
                <a:ea typeface="+mn-ea"/>
                <a:cs typeface="+mn-cs"/>
              </a:rPr>
              <a:t>ASLR,</a:t>
            </a:r>
            <a:r>
              <a:rPr lang="de-DE" sz="1200" b="0" i="0" kern="1200" dirty="0" err="1">
                <a:solidFill>
                  <a:schemeClr val="tx1"/>
                </a:solidFill>
                <a:latin typeface="+mn-lt"/>
                <a:ea typeface="+mn-ea"/>
                <a:cs typeface="+mn-cs"/>
                <a:hlinkClick r:id="rId5"/>
              </a:rPr>
              <a:t>http</a:t>
            </a:r>
            <a:r>
              <a:rPr lang="de-DE" sz="1200" b="0" i="0" kern="1200" dirty="0">
                <a:solidFill>
                  <a:schemeClr val="tx1"/>
                </a:solidFill>
                <a:latin typeface="+mn-lt"/>
                <a:ea typeface="+mn-ea"/>
                <a:cs typeface="+mn-cs"/>
                <a:hlinkClick r:id="rId5"/>
              </a:rPr>
              <a:t>://</a:t>
            </a:r>
            <a:r>
              <a:rPr lang="de-DE" sz="1200" b="0" i="0" kern="1200" dirty="0" err="1">
                <a:solidFill>
                  <a:schemeClr val="tx1"/>
                </a:solidFill>
                <a:latin typeface="+mn-lt"/>
                <a:ea typeface="+mn-ea"/>
                <a:cs typeface="+mn-cs"/>
                <a:hlinkClick r:id="rId5"/>
              </a:rPr>
              <a:t>en.wikipedia.org</a:t>
            </a:r>
            <a:r>
              <a:rPr lang="de-DE" sz="1200" b="0" i="0" kern="1200" dirty="0">
                <a:solidFill>
                  <a:schemeClr val="tx1"/>
                </a:solidFill>
                <a:latin typeface="+mn-lt"/>
                <a:ea typeface="+mn-ea"/>
                <a:cs typeface="+mn-cs"/>
                <a:hlinkClick r:id="rId5"/>
              </a:rPr>
              <a:t>/</a:t>
            </a:r>
            <a:r>
              <a:rPr lang="de-DE" sz="1200" b="0" i="0" kern="1200" dirty="0" err="1">
                <a:solidFill>
                  <a:schemeClr val="tx1"/>
                </a:solidFill>
                <a:latin typeface="+mn-lt"/>
                <a:ea typeface="+mn-ea"/>
                <a:cs typeface="+mn-cs"/>
                <a:hlinkClick r:id="rId5"/>
              </a:rPr>
              <a:t>wiki</a:t>
            </a:r>
            <a:r>
              <a:rPr lang="de-DE" sz="1200" b="0" i="0" kern="1200" dirty="0">
                <a:solidFill>
                  <a:schemeClr val="tx1"/>
                </a:solidFill>
                <a:latin typeface="+mn-lt"/>
                <a:ea typeface="+mn-ea"/>
                <a:cs typeface="+mn-cs"/>
                <a:hlinkClick r:id="rId5"/>
              </a:rPr>
              <a:t>/</a:t>
            </a:r>
            <a:r>
              <a:rPr lang="de-DE" sz="1200" b="0" i="0" kern="1200" dirty="0" err="1">
                <a:solidFill>
                  <a:schemeClr val="tx1"/>
                </a:solidFill>
                <a:latin typeface="+mn-lt"/>
                <a:ea typeface="+mn-ea"/>
                <a:cs typeface="+mn-cs"/>
                <a:hlinkClick r:id="rId5"/>
              </a:rPr>
              <a:t>Address_space_layout_randomization</a:t>
            </a:r>
            <a:r>
              <a:rPr lang="de-DE" sz="1200" b="0" i="0" kern="1200" dirty="0">
                <a:solidFill>
                  <a:schemeClr val="tx1"/>
                </a:solidFill>
                <a:latin typeface="+mn-lt"/>
                <a:ea typeface="+mn-ea"/>
                <a:cs typeface="+mn-cs"/>
              </a:rPr>
              <a:t>) genannt und kommt bei Windows ab Vista zum Einsatz, ist jedoch standardmäßig nur für Programme aktiv, die dies explizit aktivieren. Bei Linux gibt es nur eine recht unsichere Implementierung, welche jedoch durch passende </a:t>
            </a:r>
            <a:r>
              <a:rPr lang="de-DE" sz="1200" b="0" i="0" kern="1200" dirty="0" err="1">
                <a:solidFill>
                  <a:schemeClr val="tx1"/>
                </a:solidFill>
                <a:latin typeface="+mn-lt"/>
                <a:ea typeface="+mn-ea"/>
                <a:cs typeface="+mn-cs"/>
              </a:rPr>
              <a:t>Kernel</a:t>
            </a:r>
            <a:r>
              <a:rPr lang="de-DE" sz="1200" b="0" i="0" kern="1200" dirty="0">
                <a:solidFill>
                  <a:schemeClr val="tx1"/>
                </a:solidFill>
                <a:latin typeface="+mn-lt"/>
                <a:ea typeface="+mn-ea"/>
                <a:cs typeface="+mn-cs"/>
              </a:rPr>
              <a:t> Patches abgesichert werden kann. Ein solcher Patch ist </a:t>
            </a:r>
            <a:r>
              <a:rPr lang="de-DE" sz="1200" b="0" i="0" kern="1200" dirty="0" err="1">
                <a:solidFill>
                  <a:schemeClr val="tx1"/>
                </a:solidFill>
                <a:latin typeface="+mn-lt"/>
                <a:ea typeface="+mn-ea"/>
                <a:cs typeface="+mn-cs"/>
              </a:rPr>
              <a:t>Grsecurity</a:t>
            </a:r>
            <a:r>
              <a:rPr lang="de-DE" sz="1200" b="0" i="0" kern="1200" dirty="0">
                <a:solidFill>
                  <a:schemeClr val="tx1"/>
                </a:solidFill>
                <a:latin typeface="+mn-lt"/>
                <a:ea typeface="+mn-ea"/>
                <a:cs typeface="+mn-cs"/>
              </a:rPr>
              <a:t>, welcher viele verschiedene Sicherheitsmaßnahmen in Linux nachrüstet. Das Untermodul PAX von </a:t>
            </a:r>
            <a:r>
              <a:rPr lang="de-DE" sz="1200" b="0" i="0" kern="1200" dirty="0" err="1">
                <a:solidFill>
                  <a:schemeClr val="tx1"/>
                </a:solidFill>
                <a:latin typeface="+mn-lt"/>
                <a:ea typeface="+mn-ea"/>
                <a:cs typeface="+mn-cs"/>
              </a:rPr>
              <a:t>Grsecurity</a:t>
            </a:r>
            <a:r>
              <a:rPr lang="de-DE" sz="1200" b="0" i="0" kern="1200" dirty="0">
                <a:solidFill>
                  <a:schemeClr val="tx1"/>
                </a:solidFill>
                <a:latin typeface="+mn-lt"/>
                <a:ea typeface="+mn-ea"/>
                <a:cs typeface="+mn-cs"/>
              </a:rPr>
              <a:t> aktiviert unter anderem ASLR und dessen Funktionsweise wird recht ausführlich auf </a:t>
            </a:r>
            <a:r>
              <a:rPr lang="de-DE" sz="1200" b="0" i="0" kern="1200" dirty="0">
                <a:solidFill>
                  <a:schemeClr val="tx1"/>
                </a:solidFill>
                <a:latin typeface="+mn-lt"/>
                <a:ea typeface="+mn-ea"/>
                <a:cs typeface="+mn-cs"/>
                <a:hlinkClick r:id="rId6"/>
              </a:rPr>
              <a:t>http://pax.grsecurity.net/docs/aslr.txt</a:t>
            </a:r>
            <a:r>
              <a:rPr lang="de-DE" sz="1200" b="0" i="0" kern="1200" dirty="0">
                <a:solidFill>
                  <a:schemeClr val="tx1"/>
                </a:solidFill>
                <a:latin typeface="+mn-lt"/>
                <a:ea typeface="+mn-ea"/>
                <a:cs typeface="+mn-cs"/>
              </a:rPr>
              <a:t> erklärt. </a:t>
            </a:r>
            <a:r>
              <a:rPr lang="de-DE" sz="1200" b="0" i="0" kern="1200" dirty="0" err="1">
                <a:solidFill>
                  <a:schemeClr val="tx1"/>
                </a:solidFill>
                <a:latin typeface="+mn-lt"/>
                <a:ea typeface="+mn-ea"/>
                <a:cs typeface="+mn-cs"/>
              </a:rPr>
              <a:t>Grsecurity</a:t>
            </a:r>
            <a:r>
              <a:rPr lang="de-DE" sz="1200" b="0" i="0" kern="1200" dirty="0">
                <a:solidFill>
                  <a:schemeClr val="tx1"/>
                </a:solidFill>
                <a:latin typeface="+mn-lt"/>
                <a:ea typeface="+mn-ea"/>
                <a:cs typeface="+mn-cs"/>
              </a:rPr>
              <a:t> bietet aber auch weitere Sicherheitsfunktionen, wie das absichern von </a:t>
            </a:r>
            <a:r>
              <a:rPr lang="de-DE" sz="1200" b="0" i="0" kern="1200" dirty="0" err="1">
                <a:solidFill>
                  <a:schemeClr val="tx1"/>
                </a:solidFill>
                <a:latin typeface="+mn-lt"/>
                <a:ea typeface="+mn-ea"/>
                <a:cs typeface="+mn-cs"/>
              </a:rPr>
              <a:t>Chroots</a:t>
            </a:r>
            <a:r>
              <a:rPr lang="de-DE" sz="1200" b="0" i="0" kern="1200" dirty="0">
                <a:solidFill>
                  <a:schemeClr val="tx1"/>
                </a:solidFill>
                <a:latin typeface="+mn-lt"/>
                <a:ea typeface="+mn-ea"/>
                <a:cs typeface="+mn-cs"/>
              </a:rPr>
              <a:t> und kommt daher auch in meinem Blogbeitrag über das Thema "Software sicher testen" (</a:t>
            </a:r>
            <a:r>
              <a:rPr lang="de-DE" sz="1200" b="0" i="0" kern="1200" dirty="0">
                <a:solidFill>
                  <a:schemeClr val="tx1"/>
                </a:solidFill>
                <a:latin typeface="+mn-lt"/>
                <a:ea typeface="+mn-ea"/>
                <a:cs typeface="+mn-cs"/>
                <a:hlinkClick r:id="rId7"/>
              </a:rPr>
              <a:t>http://fds-team.de/blog/2012/06/software-sicher-testen/</a:t>
            </a:r>
            <a:r>
              <a:rPr lang="de-DE" sz="1200" b="0" i="0" kern="1200" dirty="0">
                <a:solidFill>
                  <a:schemeClr val="tx1"/>
                </a:solidFill>
                <a:latin typeface="+mn-lt"/>
                <a:ea typeface="+mn-ea"/>
                <a:cs typeface="+mn-cs"/>
              </a:rPr>
              <a:t>) zum Einsatz.</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35</a:t>
            </a:fld>
            <a:endParaRPr lang="en-US" dirty="0"/>
          </a:p>
        </p:txBody>
      </p:sp>
    </p:spTree>
    <p:extLst>
      <p:ext uri="{BB962C8B-B14F-4D97-AF65-F5344CB8AC3E}">
        <p14:creationId xmlns:p14="http://schemas.microsoft.com/office/powerpoint/2010/main" val="14313008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Falls das angegriffene Programm ein gesetztes </a:t>
            </a:r>
            <a:r>
              <a:rPr lang="de-DE" dirty="0" err="1"/>
              <a:t>Setuid</a:t>
            </a:r>
            <a:r>
              <a:rPr lang="de-DE" dirty="0"/>
              <a:t>-Bit ist und dem </a:t>
            </a:r>
            <a:r>
              <a:rPr lang="de-DE" dirty="0" err="1"/>
              <a:t>root</a:t>
            </a:r>
            <a:r>
              <a:rPr lang="de-DE" dirty="0"/>
              <a:t> gehört, wird der Angreifer beliebigen Code mit </a:t>
            </a:r>
            <a:r>
              <a:rPr lang="de-DE" dirty="0" err="1"/>
              <a:t>root</a:t>
            </a:r>
            <a:r>
              <a:rPr lang="de-DE" dirty="0"/>
              <a:t>-Rechten ausführen können</a:t>
            </a:r>
          </a:p>
          <a:p>
            <a:pPr lvl="1"/>
            <a:r>
              <a:rPr lang="de-DE" dirty="0"/>
              <a:t>Z.B. eine Shell, die echte Schädlinge herunterlädt</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36</a:t>
            </a:fld>
            <a:endParaRPr lang="en-US" dirty="0"/>
          </a:p>
        </p:txBody>
      </p:sp>
    </p:spTree>
    <p:extLst>
      <p:ext uri="{BB962C8B-B14F-4D97-AF65-F5344CB8AC3E}">
        <p14:creationId xmlns:p14="http://schemas.microsoft.com/office/powerpoint/2010/main" val="3595537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38</a:t>
            </a:fld>
            <a:endParaRPr lang="en-US"/>
          </a:p>
        </p:txBody>
      </p:sp>
    </p:spTree>
    <p:extLst>
      <p:ext uri="{BB962C8B-B14F-4D97-AF65-F5344CB8AC3E}">
        <p14:creationId xmlns:p14="http://schemas.microsoft.com/office/powerpoint/2010/main" val="4264037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46</a:t>
            </a:fld>
            <a:endParaRPr lang="en-US"/>
          </a:p>
        </p:txBody>
      </p:sp>
    </p:spTree>
    <p:extLst>
      <p:ext uri="{BB962C8B-B14F-4D97-AF65-F5344CB8AC3E}">
        <p14:creationId xmlns:p14="http://schemas.microsoft.com/office/powerpoint/2010/main" val="237997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solidFill>
                  <a:prstClr val="black"/>
                </a:solidFill>
              </a:rPr>
              <a:pPr/>
              <a:t>47</a:t>
            </a:fld>
            <a:endParaRPr lang="en-US">
              <a:solidFill>
                <a:prstClr val="black"/>
              </a:solidFill>
            </a:endParaRPr>
          </a:p>
        </p:txBody>
      </p:sp>
    </p:spTree>
    <p:extLst>
      <p:ext uri="{BB962C8B-B14F-4D97-AF65-F5344CB8AC3E}">
        <p14:creationId xmlns:p14="http://schemas.microsoft.com/office/powerpoint/2010/main" val="334539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53</a:t>
            </a:fld>
            <a:endParaRPr lang="en-US"/>
          </a:p>
        </p:txBody>
      </p:sp>
    </p:spTree>
    <p:extLst>
      <p:ext uri="{BB962C8B-B14F-4D97-AF65-F5344CB8AC3E}">
        <p14:creationId xmlns:p14="http://schemas.microsoft.com/office/powerpoint/2010/main" val="3124635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defTabSz="950793">
              <a:defRPr/>
            </a:pPr>
            <a:r>
              <a:rPr lang="de-DE" dirty="0"/>
              <a:t>Deshalb wird der Wechsel (d.h. </a:t>
            </a:r>
            <a:r>
              <a:rPr lang="de-DE" dirty="0" err="1"/>
              <a:t>context</a:t>
            </a:r>
            <a:r>
              <a:rPr lang="de-DE" dirty="0"/>
              <a:t> </a:t>
            </a:r>
            <a:r>
              <a:rPr lang="de-DE" dirty="0" err="1"/>
              <a:t>switch</a:t>
            </a:r>
            <a:r>
              <a:rPr lang="de-DE" dirty="0"/>
              <a:t>) zwischen den Threads des </a:t>
            </a:r>
            <a:r>
              <a:rPr lang="de-DE" u="sng" dirty="0"/>
              <a:t>selben Prozesses</a:t>
            </a:r>
            <a:r>
              <a:rPr lang="de-DE" dirty="0"/>
              <a:t> bevorzugt, falls möglich</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55</a:t>
            </a:fld>
            <a:endParaRPr lang="en-US" dirty="0"/>
          </a:p>
        </p:txBody>
      </p:sp>
    </p:spTree>
    <p:extLst>
      <p:ext uri="{BB962C8B-B14F-4D97-AF65-F5344CB8AC3E}">
        <p14:creationId xmlns:p14="http://schemas.microsoft.com/office/powerpoint/2010/main" val="1270988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solidFill>
                  <a:prstClr val="black"/>
                </a:solidFill>
              </a:rPr>
              <a:pPr/>
              <a:t>61</a:t>
            </a:fld>
            <a:endParaRPr lang="en-US">
              <a:solidFill>
                <a:prstClr val="black"/>
              </a:solidFill>
            </a:endParaRPr>
          </a:p>
        </p:txBody>
      </p:sp>
    </p:spTree>
    <p:extLst>
      <p:ext uri="{BB962C8B-B14F-4D97-AF65-F5344CB8AC3E}">
        <p14:creationId xmlns:p14="http://schemas.microsoft.com/office/powerpoint/2010/main" val="3867534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Seite 265 (Kap</a:t>
            </a:r>
            <a:r>
              <a:rPr lang="de-DE" baseline="0" dirty="0"/>
              <a:t>. 13) </a:t>
            </a:r>
            <a:r>
              <a:rPr lang="de-DE" dirty="0"/>
              <a:t>von Pentium-Skript</a:t>
            </a:r>
            <a:r>
              <a:rPr lang="de-DE" baseline="0" dirty="0"/>
              <a:t> „van Ludwig“</a:t>
            </a:r>
            <a:r>
              <a:rPr lang="de-DE" dirty="0"/>
              <a:t> </a:t>
            </a:r>
          </a:p>
          <a:p>
            <a:r>
              <a:rPr lang="de-DE" dirty="0"/>
              <a:t>Nicht überlaufen: in </a:t>
            </a:r>
            <a:r>
              <a:rPr lang="de-DE" dirty="0" err="1">
                <a:solidFill>
                  <a:srgbClr val="FF0000"/>
                </a:solidFill>
              </a:rPr>
              <a:t>printstring</a:t>
            </a:r>
            <a:r>
              <a:rPr lang="de-DE" dirty="0"/>
              <a:t>(),</a:t>
            </a:r>
            <a:r>
              <a:rPr lang="de-DE" baseline="0" dirty="0"/>
              <a:t> denn da wird der Puffer aufgefüllt</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solidFill>
                  <a:prstClr val="black"/>
                </a:solidFill>
              </a:rPr>
              <a:pPr/>
              <a:t>64</a:t>
            </a:fld>
            <a:endParaRPr lang="en-US" dirty="0">
              <a:solidFill>
                <a:prstClr val="black"/>
              </a:solidFill>
            </a:endParaRPr>
          </a:p>
        </p:txBody>
      </p:sp>
    </p:spTree>
    <p:extLst>
      <p:ext uri="{BB962C8B-B14F-4D97-AF65-F5344CB8AC3E}">
        <p14:creationId xmlns:p14="http://schemas.microsoft.com/office/powerpoint/2010/main" val="1556240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8" name="Titel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Untertitel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noProof="0" dirty="0" err="1"/>
              <a:t>Formatvorlage</a:t>
            </a:r>
            <a:r>
              <a:rPr kumimoji="0" lang="en-US" noProof="0" dirty="0"/>
              <a:t> des </a:t>
            </a:r>
            <a:r>
              <a:rPr kumimoji="0" lang="en-US" noProof="0" dirty="0" err="1"/>
              <a:t>Untertitelmasters</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21" name="Rechteck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hteck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hteck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hteck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521019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 2 Tei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641848"/>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75%">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4104456"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0" name="Gerade Verbindung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leichschenkliges Dreieck 8"/>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Inhaltsplatzhalter 11"/>
          <p:cNvSpPr>
            <a:spLocks noGrp="1"/>
          </p:cNvSpPr>
          <p:nvPr>
            <p:ph sz="quarter" idx="1"/>
          </p:nvPr>
        </p:nvSpPr>
        <p:spPr>
          <a:xfrm>
            <a:off x="304800" y="304800"/>
            <a:ext cx="5715000" cy="57150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5" name="Foliennummernplatzhalter 4"/>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a:xfrm>
            <a:off x="8542234" y="6500834"/>
            <a:ext cx="601766" cy="357166"/>
          </a:xfrm>
        </p:spPr>
        <p:txBody>
          <a:bodyPr/>
          <a:lstStyle/>
          <a:p>
            <a:fld id="{6C6AE60A-B69C-4790-82F7-3882EDF23186}" type="slidenum">
              <a:rPr lang="de-DE" smtClean="0"/>
              <a:pPr/>
              <a:t>‹Nr.›</a:t>
            </a:fld>
            <a:endParaRPr lang="de-DE" dirty="0"/>
          </a:p>
        </p:txBody>
      </p:sp>
      <p:sp>
        <p:nvSpPr>
          <p:cNvPr id="9" name="Inhaltsplatzhalter 8"/>
          <p:cNvSpPr>
            <a:spLocks noGrp="1"/>
          </p:cNvSpPr>
          <p:nvPr>
            <p:ph sz="quarter" idx="1"/>
          </p:nvPr>
        </p:nvSpPr>
        <p:spPr>
          <a:xfrm>
            <a:off x="457200" y="1219200"/>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1" name="Inhaltsplatzhalter 10"/>
          <p:cNvSpPr>
            <a:spLocks noGrp="1"/>
          </p:cNvSpPr>
          <p:nvPr>
            <p:ph sz="quarter" idx="2"/>
          </p:nvPr>
        </p:nvSpPr>
        <p:spPr>
          <a:xfrm>
            <a:off x="4632198" y="1216152"/>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nchor="ctr"/>
          <a:lstStyle>
            <a:lvl1pPr>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Textplatzhalt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Foliennummernplatzhalter 8"/>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1" name="Inhaltsplatzhalter 10"/>
          <p:cNvSpPr>
            <a:spLocks noGrp="1"/>
          </p:cNvSpPr>
          <p:nvPr>
            <p:ph sz="quarter" idx="2"/>
          </p:nvPr>
        </p:nvSpPr>
        <p:spPr>
          <a:xfrm>
            <a:off x="457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3" name="Inhaltsplatzhalter 12"/>
          <p:cNvSpPr>
            <a:spLocks noGrp="1"/>
          </p:cNvSpPr>
          <p:nvPr>
            <p:ph sz="quarter" idx="4"/>
          </p:nvPr>
        </p:nvSpPr>
        <p:spPr>
          <a:xfrm>
            <a:off x="4648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6C6AE60A-B69C-4790-82F7-3882EDF23186}" type="slidenum">
              <a:rPr lang="de-DE" smtClean="0"/>
              <a:pPr/>
              <a:t>‹Nr.›</a:t>
            </a:fld>
            <a:endParaRPr lang="de-DE" dirty="0"/>
          </a:p>
        </p:txBody>
      </p:sp>
      <p:sp>
        <p:nvSpPr>
          <p:cNvPr id="7" name="Gleichschenkliges Dreieck 6"/>
          <p:cNvSpPr>
            <a:spLocks noChangeAspect="1"/>
          </p:cNvSpPr>
          <p:nvPr userDrawn="1"/>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el 1"/>
          <p:cNvSpPr>
            <a:spLocks noGrp="1"/>
          </p:cNvSpPr>
          <p:nvPr>
            <p:ph type="title"/>
          </p:nvPr>
        </p:nvSpPr>
        <p:spPr>
          <a:xfrm>
            <a:off x="971600" y="2348880"/>
            <a:ext cx="7200800" cy="2160240"/>
          </a:xfrm>
        </p:spPr>
        <p:txBody>
          <a:bodyPr anchor="ctr">
            <a:normAutofit/>
          </a:bodyPr>
          <a:lstStyle>
            <a:lvl1pPr algn="ctr">
              <a:defRPr sz="400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Datumsplatzhalter 3"/>
          <p:cNvSpPr>
            <a:spLocks noGrp="1"/>
          </p:cNvSpPr>
          <p:nvPr>
            <p:ph type="dt" sz="half" idx="10"/>
          </p:nvPr>
        </p:nvSpPr>
        <p:spPr>
          <a:xfrm>
            <a:off x="6400800" y="6355080"/>
            <a:ext cx="2286000" cy="365760"/>
          </a:xfrm>
          <a:prstGeom prst="rect">
            <a:avLst/>
          </a:prstGeom>
        </p:spPr>
        <p:txBody>
          <a:bodyPr/>
          <a:lstStyle/>
          <a:p>
            <a:endParaRPr lang="de-DE" dirty="0"/>
          </a:p>
        </p:txBody>
      </p:sp>
      <p:sp>
        <p:nvSpPr>
          <p:cNvPr id="5" name="Fußzeilenplatzhalter 4"/>
          <p:cNvSpPr>
            <a:spLocks noGrp="1"/>
          </p:cNvSpPr>
          <p:nvPr>
            <p:ph type="ftr" sz="quarter" idx="11"/>
          </p:nvPr>
        </p:nvSpPr>
        <p:spPr>
          <a:xfrm>
            <a:off x="2898648" y="6355080"/>
            <a:ext cx="3474720" cy="365760"/>
          </a:xfrm>
          <a:prstGeom prst="rect">
            <a:avLst/>
          </a:prstGeom>
        </p:spPr>
        <p:txBody>
          <a:bodyPr/>
          <a:lstStyle/>
          <a:p>
            <a:endParaRPr lang="de-DE" dirty="0"/>
          </a:p>
        </p:txBody>
      </p:sp>
      <p:sp>
        <p:nvSpPr>
          <p:cNvPr id="6" name="Foliennummernplatzhalter 5"/>
          <p:cNvSpPr>
            <a:spLocks noGrp="1"/>
          </p:cNvSpPr>
          <p:nvPr>
            <p:ph type="sldNum" sz="quarter" idx="12"/>
          </p:nvPr>
        </p:nvSpPr>
        <p:spPr>
          <a:xfrm>
            <a:off x="1069848" y="6355080"/>
            <a:ext cx="1520952" cy="365760"/>
          </a:xfrm>
        </p:spPr>
        <p:txBody>
          <a:bodyPr/>
          <a:lstStyle/>
          <a:p>
            <a:fld id="{6C6AE60A-B69C-4790-82F7-3882EDF23186}" type="slidenum">
              <a:rPr lang="de-DE" smtClean="0"/>
              <a:pPr/>
              <a:t>‹Nr.›</a:t>
            </a:fld>
            <a:endParaRPr lang="de-DE" dirty="0"/>
          </a:p>
        </p:txBody>
      </p:sp>
      <p:sp>
        <p:nvSpPr>
          <p:cNvPr id="7" name="Rechteck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hteck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a:xfrm>
            <a:off x="457200" y="274638"/>
            <a:ext cx="6019800" cy="5851525"/>
          </a:xfrm>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
        <p:nvSpPr>
          <p:cNvPr id="8" name="Gleichschenkliges Dreieck 7"/>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Gerade Verbindung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elplatzhalt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13" name="Textplatzhalter 12"/>
          <p:cNvSpPr>
            <a:spLocks noGrp="1"/>
          </p:cNvSpPr>
          <p:nvPr>
            <p:ph type="body" idx="1"/>
          </p:nvPr>
        </p:nvSpPr>
        <p:spPr>
          <a:xfrm>
            <a:off x="457200" y="1219200"/>
            <a:ext cx="8229600" cy="5210196"/>
          </a:xfrm>
          <a:prstGeom prst="rect">
            <a:avLst/>
          </a:prstGeom>
        </p:spPr>
        <p:txBody>
          <a:bodyPr vert="horz">
            <a:normAutofit/>
          </a:body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a:p>
            <a:pPr lvl="1" eaLnBrk="1" latinLnBrk="0" hangingPunct="1"/>
            <a:r>
              <a:rPr kumimoji="0" lang="en-US" noProof="0" dirty="0" err="1"/>
              <a:t>Zweite</a:t>
            </a:r>
            <a:r>
              <a:rPr kumimoji="0" lang="en-US" noProof="0" dirty="0"/>
              <a:t> </a:t>
            </a:r>
            <a:r>
              <a:rPr kumimoji="0" lang="en-US" noProof="0" dirty="0" err="1"/>
              <a:t>Ebene</a:t>
            </a:r>
            <a:endParaRPr kumimoji="0" lang="en-US" noProof="0" dirty="0"/>
          </a:p>
          <a:p>
            <a:pPr lvl="2" eaLnBrk="1" latinLnBrk="0" hangingPunct="1"/>
            <a:r>
              <a:rPr kumimoji="0" lang="en-US" noProof="0" dirty="0" err="1"/>
              <a:t>Dritte</a:t>
            </a:r>
            <a:r>
              <a:rPr kumimoji="0" lang="en-US" noProof="0" dirty="0"/>
              <a:t> </a:t>
            </a:r>
            <a:r>
              <a:rPr kumimoji="0" lang="en-US" noProof="0" dirty="0" err="1"/>
              <a:t>Ebene</a:t>
            </a:r>
            <a:endParaRPr kumimoji="0" lang="en-US" noProof="0" dirty="0"/>
          </a:p>
          <a:p>
            <a:pPr lvl="3" eaLnBrk="1" latinLnBrk="0" hangingPunct="1"/>
            <a:r>
              <a:rPr kumimoji="0" lang="en-US" noProof="0" dirty="0" err="1"/>
              <a:t>Vierte</a:t>
            </a:r>
            <a:r>
              <a:rPr kumimoji="0" lang="en-US" noProof="0" dirty="0"/>
              <a:t> </a:t>
            </a:r>
            <a:r>
              <a:rPr kumimoji="0" lang="en-US" noProof="0" dirty="0" err="1"/>
              <a:t>Ebene</a:t>
            </a:r>
            <a:endParaRPr kumimoji="0" lang="en-US" noProof="0" dirty="0"/>
          </a:p>
          <a:p>
            <a:pPr lvl="4" eaLnBrk="1" latinLnBrk="0" hangingPunct="1"/>
            <a:r>
              <a:rPr kumimoji="0" lang="en-US" noProof="0" dirty="0" err="1"/>
              <a:t>Fünfte</a:t>
            </a:r>
            <a:r>
              <a:rPr kumimoji="0" lang="en-US" noProof="0" dirty="0"/>
              <a:t> </a:t>
            </a:r>
            <a:r>
              <a:rPr kumimoji="0" lang="en-US" noProof="0" dirty="0" err="1"/>
              <a:t>Ebene</a:t>
            </a:r>
            <a:endParaRPr kumimoji="0" lang="en-US" noProof="0" dirty="0"/>
          </a:p>
        </p:txBody>
      </p:sp>
      <p:sp>
        <p:nvSpPr>
          <p:cNvPr id="23" name="Foliennummernplatzhalter 22"/>
          <p:cNvSpPr>
            <a:spLocks noGrp="1"/>
          </p:cNvSpPr>
          <p:nvPr>
            <p:ph type="sldNum" sz="quarter" idx="4"/>
          </p:nvPr>
        </p:nvSpPr>
        <p:spPr>
          <a:xfrm>
            <a:off x="8542234" y="6492240"/>
            <a:ext cx="601766" cy="365760"/>
          </a:xfrm>
          <a:prstGeom prst="rect">
            <a:avLst/>
          </a:prstGeom>
        </p:spPr>
        <p:txBody>
          <a:bodyPr vert="horz"/>
          <a:lstStyle>
            <a:lvl1pPr algn="l" eaLnBrk="1" latinLnBrk="0" hangingPunct="1">
              <a:defRPr kumimoji="0" sz="1400">
                <a:solidFill>
                  <a:schemeClr val="tx2"/>
                </a:solidFill>
              </a:defRPr>
            </a:lvl1pPr>
          </a:lstStyle>
          <a:p>
            <a:r>
              <a:rPr lang="de-DE" dirty="0"/>
              <a:t>1</a:t>
            </a:r>
          </a:p>
        </p:txBody>
      </p:sp>
      <p:sp>
        <p:nvSpPr>
          <p:cNvPr id="29" name="Gerade Verbindung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Gleichschenkliges Dreieck 9"/>
          <p:cNvSpPr>
            <a:spLocks noChangeAspect="1"/>
          </p:cNvSpPr>
          <p:nvPr/>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97" r:id="rId3"/>
    <p:sldLayoutId id="2147483696" r:id="rId4"/>
    <p:sldLayoutId id="2147483692" r:id="rId5"/>
    <p:sldLayoutId id="2147483690" r:id="rId6"/>
    <p:sldLayoutId id="2147483688" r:id="rId7"/>
    <p:sldLayoutId id="2147483689" r:id="rId8"/>
    <p:sldLayoutId id="2147483691" r:id="rId9"/>
    <p:sldLayoutId id="2147483687" r:id="rId10"/>
    <p:sldLayoutId id="2147483694" r:id="rId11"/>
    <p:sldLayoutId id="2147483695"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hyperlink" Target="https://bit.ly/ibn_h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microsoft.com/office/2007/relationships/media" Target="file:///C:\Artur\Edu\Lehre\20.SS-IBN\VL\" TargetMode="External"/><Relationship Id="rId2" Type="http://schemas.openxmlformats.org/officeDocument/2006/relationships/video" Target="file:///C:\Artur\Edu\Lehre\20.SS-IBN\VL\" TargetMode="External"/><Relationship Id="rId3" Type="http://schemas.openxmlformats.org/officeDocument/2006/relationships/slideLayout" Target="../slideLayouts/slideLayout2.xml"/><Relationship Id="rId4" Type="http://schemas.openxmlformats.org/officeDocument/2006/relationships/hyperlink" Target="https://www.youtube.com/watch?v=F5Ri_HhziI0" TargetMode="External"/><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de.wikipedia.org/wiki/Littles_Gesetz"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QUT3pOTdHg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stochastik.tu-clausthal.de/Presse/Schulen/Warteschlange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stochastik.tu-clausthal.de/Presse/Schulen/Warteschlangen" TargetMode="External"/><Relationship Id="rId4" Type="http://schemas.openxmlformats.org/officeDocument/2006/relationships/hyperlink" Target="https://bit.ly/ibn_h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de.wikipedia.org/wiki/Exponentialverteilun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stochastik.tu-clausthal.de/Presse/Schulen/Grundmodell" TargetMode="External"/><Relationship Id="rId3" Type="http://schemas.openxmlformats.org/officeDocument/2006/relationships/hyperlink" Target="http://mechmath.org/books/20523" TargetMode="External"/><Relationship Id="rId4" Type="http://schemas.openxmlformats.org/officeDocument/2006/relationships/hyperlink" Target="http://de.wikipedia.org/wiki/Warteschlangentheori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hyperlink" Target="http://en.wikipedia.org/wiki/PCI_Expres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jpeg"/><Relationship Id="rId4" Type="http://schemas.openxmlformats.org/officeDocument/2006/relationships/image" Target="../media/image12.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3.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ecuritybuzz.com/cybersecurity-news/how-copy-fail-turned-linuxs-memory-efficiency-against-itself/" TargetMode="External"/><Relationship Id="rId3" Type="http://schemas.openxmlformats.org/officeDocument/2006/relationships/hyperlink" Target="https://red.anthropic.com/2026/n-days/" TargetMode="External"/><Relationship Id="rId4" Type="http://schemas.openxmlformats.org/officeDocument/2006/relationships/hyperlink" Target="https://www.youtube.com/watch?v=aoag03mSuXQ&amp;t=2290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zet.aluzina.org/index.php/8237_DMA_controller" TargetMode="External"/><Relationship Id="rId3" Type="http://schemas.openxmlformats.org/officeDocument/2006/relationships/image" Target="../media/image18.png"/><Relationship Id="rId4" Type="http://schemas.openxmlformats.org/officeDocument/2006/relationships/hyperlink" Target="http://en.wikipedia.org/wiki/PCI_IDE_ISA_Xcelerator"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15616" y="3717032"/>
            <a:ext cx="7056784" cy="1159768"/>
          </a:xfrm>
        </p:spPr>
        <p:txBody>
          <a:bodyPr>
            <a:noAutofit/>
          </a:bodyPr>
          <a:lstStyle/>
          <a:p>
            <a:r>
              <a:rPr lang="de-DE" sz="3600" dirty="0"/>
              <a:t>Betriebssysteme und Netzwerke</a:t>
            </a:r>
            <a:br>
              <a:rPr lang="de-DE" sz="3600" dirty="0"/>
            </a:br>
            <a:r>
              <a:rPr lang="de-DE" sz="3600" dirty="0"/>
              <a:t>Vorlesung 17</a:t>
            </a:r>
            <a:endParaRPr lang="en-US" sz="3600" dirty="0"/>
          </a:p>
        </p:txBody>
      </p:sp>
      <p:sp>
        <p:nvSpPr>
          <p:cNvPr id="3" name="Untertitel 2"/>
          <p:cNvSpPr>
            <a:spLocks noGrp="1"/>
          </p:cNvSpPr>
          <p:nvPr>
            <p:ph type="subTitle" idx="1"/>
          </p:nvPr>
        </p:nvSpPr>
        <p:spPr>
          <a:xfrm>
            <a:off x="5786446" y="5124450"/>
            <a:ext cx="2290754" cy="533400"/>
          </a:xfrm>
        </p:spPr>
        <p:txBody>
          <a:bodyPr>
            <a:normAutofit/>
          </a:bodyPr>
          <a:lstStyle/>
          <a:p>
            <a:r>
              <a:rPr lang="de-DE" dirty="0"/>
              <a:t>Artur Andrzejak</a:t>
            </a:r>
          </a:p>
        </p:txBody>
      </p:sp>
      <p:sp>
        <p:nvSpPr>
          <p:cNvPr id="4" name="Untertitel 2"/>
          <p:cNvSpPr txBox="1">
            <a:spLocks/>
          </p:cNvSpPr>
          <p:nvPr/>
        </p:nvSpPr>
        <p:spPr>
          <a:xfrm>
            <a:off x="1214414" y="5072074"/>
            <a:ext cx="1214446" cy="642942"/>
          </a:xfrm>
          <a:prstGeom prst="rect">
            <a:avLst/>
          </a:prstGeom>
        </p:spPr>
        <p:txBody>
          <a:bodyPr vert="horz">
            <a:noAutofit/>
          </a:bodyPr>
          <a:lstStyle/>
          <a:p>
            <a:pPr marL="0" marR="0" lvl="0" indent="0"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Übersicht Scheduling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a:t>
            </a:fld>
            <a:endParaRPr lang="en-US" noProof="0" dirty="0"/>
          </a:p>
        </p:txBody>
      </p:sp>
      <p:sp>
        <p:nvSpPr>
          <p:cNvPr id="5" name="Abgerundetes Rechteck 4"/>
          <p:cNvSpPr/>
          <p:nvPr/>
        </p:nvSpPr>
        <p:spPr>
          <a:xfrm>
            <a:off x="1583668" y="1265757"/>
            <a:ext cx="5112568" cy="792088"/>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de-DE" b="1" dirty="0">
                <a:solidFill>
                  <a:srgbClr val="FF0000"/>
                </a:solidFill>
              </a:rPr>
              <a:t>Scheduling</a:t>
            </a:r>
            <a:r>
              <a:rPr lang="de-DE" dirty="0">
                <a:solidFill>
                  <a:srgbClr val="FF0000"/>
                </a:solidFill>
              </a:rPr>
              <a:t> </a:t>
            </a:r>
            <a:r>
              <a:rPr lang="de-DE" dirty="0"/>
              <a:t>= Ablaufsteuerung; entscheidet, wann welcher Prozess CPU-Zeit bekommt</a:t>
            </a:r>
          </a:p>
        </p:txBody>
      </p:sp>
      <p:sp>
        <p:nvSpPr>
          <p:cNvPr id="6" name="Abgerundetes Rechteck 5"/>
          <p:cNvSpPr/>
          <p:nvPr/>
        </p:nvSpPr>
        <p:spPr>
          <a:xfrm>
            <a:off x="323528" y="2492896"/>
            <a:ext cx="2016224" cy="720080"/>
          </a:xfrm>
          <a:prstGeom prst="round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de-DE" dirty="0"/>
              <a:t>Wann nötig? Prozesszustände</a:t>
            </a:r>
          </a:p>
        </p:txBody>
      </p:sp>
      <p:cxnSp>
        <p:nvCxnSpPr>
          <p:cNvPr id="8" name="Gerade Verbindung mit Pfeil 7"/>
          <p:cNvCxnSpPr>
            <a:stCxn id="5" idx="2"/>
            <a:endCxn id="6" idx="0"/>
          </p:cNvCxnSpPr>
          <p:nvPr/>
        </p:nvCxnSpPr>
        <p:spPr>
          <a:xfrm flipH="1">
            <a:off x="1331640" y="2057845"/>
            <a:ext cx="2808312" cy="435051"/>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Abgerundetes Rechteck 10"/>
          <p:cNvSpPr/>
          <p:nvPr/>
        </p:nvSpPr>
        <p:spPr>
          <a:xfrm>
            <a:off x="3023828" y="2484349"/>
            <a:ext cx="2232248" cy="720080"/>
          </a:xfrm>
          <a:prstGeom prst="round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de-DE" dirty="0"/>
              <a:t>Prozessverhalten: CPU vs. I/O-</a:t>
            </a:r>
            <a:r>
              <a:rPr lang="de-DE" dirty="0" err="1"/>
              <a:t>Bound</a:t>
            </a:r>
            <a:endParaRPr lang="de-DE" dirty="0"/>
          </a:p>
        </p:txBody>
      </p:sp>
      <p:cxnSp>
        <p:nvCxnSpPr>
          <p:cNvPr id="12" name="Gerade Verbindung mit Pfeil 11"/>
          <p:cNvCxnSpPr>
            <a:stCxn id="5" idx="2"/>
            <a:endCxn id="11" idx="0"/>
          </p:cNvCxnSpPr>
          <p:nvPr/>
        </p:nvCxnSpPr>
        <p:spPr>
          <a:xfrm>
            <a:off x="4139952" y="2057845"/>
            <a:ext cx="0" cy="426504"/>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 name="Abgerundetes Rechteck 14"/>
          <p:cNvSpPr/>
          <p:nvPr/>
        </p:nvSpPr>
        <p:spPr>
          <a:xfrm>
            <a:off x="5940152" y="2484349"/>
            <a:ext cx="2232248" cy="720080"/>
          </a:xfrm>
          <a:prstGeom prst="round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de-DE" dirty="0" err="1"/>
              <a:t>Scheduling</a:t>
            </a:r>
            <a:r>
              <a:rPr lang="de-DE" dirty="0"/>
              <a:t>-Strategien</a:t>
            </a:r>
          </a:p>
        </p:txBody>
      </p:sp>
      <p:cxnSp>
        <p:nvCxnSpPr>
          <p:cNvPr id="16" name="Gerade Verbindung mit Pfeil 15"/>
          <p:cNvCxnSpPr>
            <a:stCxn id="5" idx="2"/>
            <a:endCxn id="15" idx="0"/>
          </p:cNvCxnSpPr>
          <p:nvPr/>
        </p:nvCxnSpPr>
        <p:spPr>
          <a:xfrm>
            <a:off x="4139952" y="2057845"/>
            <a:ext cx="2916324" cy="426504"/>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Abgerundetes Rechteck 19"/>
          <p:cNvSpPr/>
          <p:nvPr/>
        </p:nvSpPr>
        <p:spPr>
          <a:xfrm>
            <a:off x="246493" y="3842792"/>
            <a:ext cx="2170294" cy="711533"/>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de-DE" dirty="0"/>
              <a:t>Stapelverarbeitung</a:t>
            </a:r>
          </a:p>
        </p:txBody>
      </p:sp>
      <p:sp>
        <p:nvSpPr>
          <p:cNvPr id="21" name="Abgerundetes Rechteck 20"/>
          <p:cNvSpPr/>
          <p:nvPr/>
        </p:nvSpPr>
        <p:spPr>
          <a:xfrm>
            <a:off x="3459658" y="3858562"/>
            <a:ext cx="2170294" cy="711533"/>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de-DE" dirty="0"/>
              <a:t>Interaktivität</a:t>
            </a:r>
          </a:p>
        </p:txBody>
      </p:sp>
      <p:sp>
        <p:nvSpPr>
          <p:cNvPr id="22" name="Abgerundetes Rechteck 21"/>
          <p:cNvSpPr/>
          <p:nvPr/>
        </p:nvSpPr>
        <p:spPr>
          <a:xfrm>
            <a:off x="6672823" y="3858562"/>
            <a:ext cx="2170294" cy="711533"/>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de-DE" dirty="0"/>
              <a:t>Echtzeit</a:t>
            </a:r>
          </a:p>
        </p:txBody>
      </p:sp>
      <p:cxnSp>
        <p:nvCxnSpPr>
          <p:cNvPr id="26" name="Gerade Verbindung mit Pfeil 25"/>
          <p:cNvCxnSpPr>
            <a:stCxn id="15" idx="2"/>
            <a:endCxn id="20" idx="0"/>
          </p:cNvCxnSpPr>
          <p:nvPr/>
        </p:nvCxnSpPr>
        <p:spPr>
          <a:xfrm flipH="1">
            <a:off x="1331640" y="3204429"/>
            <a:ext cx="5724636" cy="638363"/>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p:cNvCxnSpPr>
            <a:stCxn id="15" idx="2"/>
            <a:endCxn id="21" idx="0"/>
          </p:cNvCxnSpPr>
          <p:nvPr/>
        </p:nvCxnSpPr>
        <p:spPr>
          <a:xfrm flipH="1">
            <a:off x="4544805" y="3204429"/>
            <a:ext cx="2511471" cy="654133"/>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Gerade Verbindung mit Pfeil 31"/>
          <p:cNvCxnSpPr>
            <a:stCxn id="15" idx="2"/>
          </p:cNvCxnSpPr>
          <p:nvPr/>
        </p:nvCxnSpPr>
        <p:spPr>
          <a:xfrm>
            <a:off x="7056276" y="3204429"/>
            <a:ext cx="701695" cy="654133"/>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4" name="Abgerundetes Rechteck 33"/>
          <p:cNvSpPr/>
          <p:nvPr/>
        </p:nvSpPr>
        <p:spPr>
          <a:xfrm>
            <a:off x="261337" y="5192688"/>
            <a:ext cx="2170294" cy="711533"/>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de-DE" dirty="0"/>
              <a:t>Round-Robin</a:t>
            </a:r>
          </a:p>
        </p:txBody>
      </p:sp>
      <p:sp>
        <p:nvSpPr>
          <p:cNvPr id="35" name="Abgerundetes Rechteck 34"/>
          <p:cNvSpPr/>
          <p:nvPr/>
        </p:nvSpPr>
        <p:spPr>
          <a:xfrm>
            <a:off x="2915816" y="5192687"/>
            <a:ext cx="2170294" cy="711533"/>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de-DE" dirty="0"/>
              <a:t>Multilevel Queue Scheduling</a:t>
            </a:r>
          </a:p>
        </p:txBody>
      </p:sp>
      <p:sp>
        <p:nvSpPr>
          <p:cNvPr id="36" name="Abgerundetes Rechteck 35"/>
          <p:cNvSpPr/>
          <p:nvPr/>
        </p:nvSpPr>
        <p:spPr>
          <a:xfrm>
            <a:off x="5570294" y="5192686"/>
            <a:ext cx="2314073" cy="711533"/>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de-DE"/>
              <a:t>Lotterie-Scheduling und andere</a:t>
            </a:r>
            <a:endParaRPr lang="de-DE" dirty="0"/>
          </a:p>
        </p:txBody>
      </p:sp>
      <p:cxnSp>
        <p:nvCxnSpPr>
          <p:cNvPr id="37" name="Gerade Verbindung mit Pfeil 36"/>
          <p:cNvCxnSpPr>
            <a:cxnSpLocks/>
            <a:stCxn id="21" idx="2"/>
            <a:endCxn id="34" idx="0"/>
          </p:cNvCxnSpPr>
          <p:nvPr/>
        </p:nvCxnSpPr>
        <p:spPr>
          <a:xfrm flipH="1">
            <a:off x="1346484" y="4570095"/>
            <a:ext cx="3198321" cy="622593"/>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p:cNvCxnSpPr>
            <a:cxnSpLocks/>
            <a:stCxn id="21" idx="2"/>
            <a:endCxn id="35" idx="0"/>
          </p:cNvCxnSpPr>
          <p:nvPr/>
        </p:nvCxnSpPr>
        <p:spPr>
          <a:xfrm flipH="1">
            <a:off x="4000963" y="4570095"/>
            <a:ext cx="543842" cy="622592"/>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Gerade Verbindung mit Pfeil 42"/>
          <p:cNvCxnSpPr>
            <a:cxnSpLocks/>
            <a:stCxn id="21" idx="2"/>
          </p:cNvCxnSpPr>
          <p:nvPr/>
        </p:nvCxnSpPr>
        <p:spPr>
          <a:xfrm>
            <a:off x="4544805" y="4570095"/>
            <a:ext cx="2296822" cy="639176"/>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583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500"/>
                                        <p:tgtEl>
                                          <p:spTgt spid="3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500"/>
                                        <p:tgtEl>
                                          <p:spTgt spid="35"/>
                                        </p:tgtEl>
                                      </p:cBhvr>
                                    </p:animEffect>
                                  </p:childTnLst>
                                </p:cTn>
                              </p:par>
                              <p:par>
                                <p:cTn id="51" presetID="10" presetClass="entr" presetSubtype="0" fill="hold" nodeType="with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500"/>
                                        <p:tgtEl>
                                          <p:spTgt spid="37"/>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500"/>
                                        <p:tgtEl>
                                          <p:spTgt spid="4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500"/>
                                        <p:tgtEl>
                                          <p:spTgt spid="4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fade">
                                      <p:cBhvr>
                                        <p:cTn id="6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5" grpId="0" animBg="1"/>
      <p:bldP spid="20" grpId="0" animBg="1"/>
      <p:bldP spid="21" grpId="0" animBg="1"/>
      <p:bldP spid="22" grpId="0" animBg="1"/>
      <p:bldP spid="34" grpId="0" animBg="1"/>
      <p:bldP spid="35"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a:t>
            </a:fld>
            <a:endParaRPr lang="de-DE" dirty="0"/>
          </a:p>
        </p:txBody>
      </p:sp>
      <p:sp>
        <p:nvSpPr>
          <p:cNvPr id="3" name="Titel 2"/>
          <p:cNvSpPr>
            <a:spLocks noGrp="1"/>
          </p:cNvSpPr>
          <p:nvPr>
            <p:ph type="title"/>
          </p:nvPr>
        </p:nvSpPr>
        <p:spPr/>
        <p:txBody>
          <a:bodyPr/>
          <a:lstStyle/>
          <a:p>
            <a:r>
              <a:rPr lang="de-DE" dirty="0"/>
              <a:t>Evaluierung von Scheduling-Strategien</a:t>
            </a:r>
          </a:p>
        </p:txBody>
      </p:sp>
    </p:spTree>
    <p:extLst>
      <p:ext uri="{BB962C8B-B14F-4D97-AF65-F5344CB8AC3E}">
        <p14:creationId xmlns:p14="http://schemas.microsoft.com/office/powerpoint/2010/main" val="3130882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Evaluierung von Scheduling-Strategien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4</a:t>
            </a:fld>
            <a:endParaRPr lang="en-US" noProof="0" dirty="0"/>
          </a:p>
        </p:txBody>
      </p:sp>
      <p:sp>
        <p:nvSpPr>
          <p:cNvPr id="4" name="Inhaltsplatzhalter 3"/>
          <p:cNvSpPr>
            <a:spLocks noGrp="1"/>
          </p:cNvSpPr>
          <p:nvPr>
            <p:ph sz="quarter" idx="1"/>
          </p:nvPr>
        </p:nvSpPr>
        <p:spPr>
          <a:xfrm>
            <a:off x="457200" y="1219200"/>
            <a:ext cx="8507288" cy="5378152"/>
          </a:xfrm>
        </p:spPr>
        <p:txBody>
          <a:bodyPr>
            <a:normAutofit/>
          </a:bodyPr>
          <a:lstStyle/>
          <a:p>
            <a:r>
              <a:rPr lang="de-DE" dirty="0"/>
              <a:t>Es gibt viele Strategien und viele Verwendungs-</a:t>
            </a:r>
            <a:r>
              <a:rPr lang="de-DE" dirty="0" err="1"/>
              <a:t>szenarien</a:t>
            </a:r>
            <a:r>
              <a:rPr lang="de-DE" dirty="0"/>
              <a:t> - wie finden wir den „besten“ Algorithmus?</a:t>
            </a:r>
          </a:p>
          <a:p>
            <a:r>
              <a:rPr lang="de-DE" dirty="0"/>
              <a:t>Als erstes brauchen wir ein strenges </a:t>
            </a:r>
            <a:r>
              <a:rPr lang="de-DE" b="1" dirty="0">
                <a:solidFill>
                  <a:srgbClr val="0070C0"/>
                </a:solidFill>
              </a:rPr>
              <a:t>Evaluierungskriterium </a:t>
            </a:r>
            <a:r>
              <a:rPr lang="de-DE" dirty="0">
                <a:solidFill>
                  <a:srgbClr val="0070C0"/>
                </a:solidFill>
              </a:rPr>
              <a:t>- </a:t>
            </a:r>
            <a:r>
              <a:rPr lang="de-DE" b="1" dirty="0">
                <a:solidFill>
                  <a:srgbClr val="0070C0"/>
                </a:solidFill>
              </a:rPr>
              <a:t>quantitativ auswertbar</a:t>
            </a:r>
          </a:p>
          <a:p>
            <a:pPr lvl="1"/>
            <a:r>
              <a:rPr lang="de-DE" dirty="0"/>
              <a:t>Z.B. „maximiere die CPU-Ausnutzung unter der Bedingung, dass die maximale Antwortzeit 1 Sekunde ist“</a:t>
            </a:r>
          </a:p>
          <a:p>
            <a:pPr lvl="1"/>
            <a:r>
              <a:rPr lang="de-DE" dirty="0"/>
              <a:t>Z.B. „maximiere Durchsatz (# abgearbeiteter Jobs / Sekunde), so dass die durchschnittliche Durchlaufzeit linear proportional zu der Ausführungszeit aller Jobs ist“</a:t>
            </a:r>
          </a:p>
          <a:p>
            <a:r>
              <a:rPr lang="de-DE" dirty="0"/>
              <a:t>Die Evaluierung kann mehrere Ansätze benutzen</a:t>
            </a:r>
          </a:p>
          <a:p>
            <a:pPr lvl="1"/>
            <a:r>
              <a:rPr lang="de-DE" b="1" dirty="0">
                <a:solidFill>
                  <a:srgbClr val="0070C0"/>
                </a:solidFill>
              </a:rPr>
              <a:t>Deterministisches Modellieren </a:t>
            </a:r>
            <a:r>
              <a:rPr lang="de-DE" dirty="0">
                <a:solidFill>
                  <a:srgbClr val="0070C0"/>
                </a:solidFill>
              </a:rPr>
              <a:t>(</a:t>
            </a:r>
            <a:r>
              <a:rPr lang="de-DE" b="1" dirty="0" err="1">
                <a:solidFill>
                  <a:srgbClr val="0070C0"/>
                </a:solidFill>
              </a:rPr>
              <a:t>Deterministic</a:t>
            </a:r>
            <a:r>
              <a:rPr lang="de-DE" b="1" dirty="0">
                <a:solidFill>
                  <a:srgbClr val="0070C0"/>
                </a:solidFill>
              </a:rPr>
              <a:t> Modeling</a:t>
            </a:r>
            <a:r>
              <a:rPr lang="de-DE" dirty="0">
                <a:solidFill>
                  <a:srgbClr val="0070C0"/>
                </a:solidFill>
              </a:rPr>
              <a:t>)</a:t>
            </a:r>
          </a:p>
          <a:p>
            <a:pPr lvl="1"/>
            <a:r>
              <a:rPr lang="de-DE" b="1" dirty="0">
                <a:solidFill>
                  <a:srgbClr val="0070C0"/>
                </a:solidFill>
              </a:rPr>
              <a:t>Warteschlangenmodelle </a:t>
            </a:r>
            <a:r>
              <a:rPr lang="de-DE" dirty="0">
                <a:solidFill>
                  <a:srgbClr val="0070C0"/>
                </a:solidFill>
              </a:rPr>
              <a:t>(</a:t>
            </a:r>
            <a:r>
              <a:rPr lang="en-US" b="1" dirty="0" err="1">
                <a:solidFill>
                  <a:srgbClr val="0070C0"/>
                </a:solidFill>
              </a:rPr>
              <a:t>Queueing</a:t>
            </a:r>
            <a:r>
              <a:rPr lang="en-US" b="1" dirty="0">
                <a:solidFill>
                  <a:srgbClr val="0070C0"/>
                </a:solidFill>
              </a:rPr>
              <a:t> Models</a:t>
            </a:r>
            <a:r>
              <a:rPr lang="de-DE" dirty="0">
                <a:solidFill>
                  <a:srgbClr val="0070C0"/>
                </a:solidFill>
              </a:rPr>
              <a:t>)</a:t>
            </a:r>
          </a:p>
          <a:p>
            <a:pPr lvl="1"/>
            <a:r>
              <a:rPr lang="de-DE" b="1" dirty="0">
                <a:solidFill>
                  <a:srgbClr val="0070C0"/>
                </a:solidFill>
              </a:rPr>
              <a:t>Simulationen</a:t>
            </a:r>
          </a:p>
        </p:txBody>
      </p:sp>
    </p:spTree>
    <p:extLst>
      <p:ext uri="{BB962C8B-B14F-4D97-AF65-F5344CB8AC3E}">
        <p14:creationId xmlns:p14="http://schemas.microsoft.com/office/powerpoint/2010/main" val="2000182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Deterministisches Modellieren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a:t>
            </a:fld>
            <a:endParaRPr lang="en-US" noProof="0" dirty="0"/>
          </a:p>
        </p:txBody>
      </p:sp>
      <p:sp>
        <p:nvSpPr>
          <p:cNvPr id="4" name="Inhaltsplatzhalter 3"/>
          <p:cNvSpPr>
            <a:spLocks noGrp="1"/>
          </p:cNvSpPr>
          <p:nvPr>
            <p:ph sz="quarter" idx="1"/>
          </p:nvPr>
        </p:nvSpPr>
        <p:spPr>
          <a:xfrm>
            <a:off x="457200" y="1219200"/>
            <a:ext cx="8229600" cy="1993776"/>
          </a:xfrm>
        </p:spPr>
        <p:txBody>
          <a:bodyPr>
            <a:normAutofit lnSpcReduction="10000"/>
          </a:bodyPr>
          <a:lstStyle/>
          <a:p>
            <a:r>
              <a:rPr lang="de-DE" dirty="0"/>
              <a:t>Man vergleicht den Wert des quantitativen Kriteriums zu jeder Scheduling-S. für (einige) Beispielszenarien</a:t>
            </a:r>
          </a:p>
          <a:p>
            <a:pPr lvl="1"/>
            <a:r>
              <a:rPr lang="de-DE" dirty="0"/>
              <a:t>Szenario:</a:t>
            </a:r>
          </a:p>
          <a:p>
            <a:pPr lvl="1"/>
            <a:endParaRPr lang="de-DE" dirty="0"/>
          </a:p>
          <a:p>
            <a:pPr lvl="1"/>
            <a:r>
              <a:rPr lang="de-DE" dirty="0"/>
              <a:t>Kriterium: durchschnittliche Wartezeit</a:t>
            </a:r>
          </a:p>
        </p:txBody>
      </p:sp>
      <p:graphicFrame>
        <p:nvGraphicFramePr>
          <p:cNvPr id="5" name="Tabelle 4"/>
          <p:cNvGraphicFramePr>
            <a:graphicFrameLocks noGrp="1"/>
          </p:cNvGraphicFramePr>
          <p:nvPr/>
        </p:nvGraphicFramePr>
        <p:xfrm>
          <a:off x="2699792" y="1988840"/>
          <a:ext cx="5616624" cy="741680"/>
        </p:xfrm>
        <a:graphic>
          <a:graphicData uri="http://schemas.openxmlformats.org/drawingml/2006/table">
            <a:tbl>
              <a:tblPr firstRow="1" bandRow="1">
                <a:tableStyleId>{00A15C55-8517-42AA-B614-E9B94910E393}</a:tableStyleId>
              </a:tblPr>
              <a:tblGrid>
                <a:gridCol w="1224136">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gridCol w="936104">
                  <a:extLst>
                    <a:ext uri="{9D8B030D-6E8A-4147-A177-3AD203B41FA5}">
                      <a16:colId xmlns:a16="http://schemas.microsoft.com/office/drawing/2014/main" val="20005"/>
                    </a:ext>
                  </a:extLst>
                </a:gridCol>
              </a:tblGrid>
              <a:tr h="370840">
                <a:tc>
                  <a:txBody>
                    <a:bodyPr/>
                    <a:lstStyle/>
                    <a:p>
                      <a:r>
                        <a:rPr lang="de-DE" dirty="0"/>
                        <a:t>Prozess</a:t>
                      </a:r>
                    </a:p>
                  </a:txBody>
                  <a:tcPr/>
                </a:tc>
                <a:tc>
                  <a:txBody>
                    <a:bodyPr/>
                    <a:lstStyle/>
                    <a:p>
                      <a:r>
                        <a:rPr lang="de-DE" dirty="0"/>
                        <a:t>P1</a:t>
                      </a:r>
                    </a:p>
                  </a:txBody>
                  <a:tcPr/>
                </a:tc>
                <a:tc>
                  <a:txBody>
                    <a:bodyPr/>
                    <a:lstStyle/>
                    <a:p>
                      <a:r>
                        <a:rPr lang="de-DE" dirty="0"/>
                        <a:t>P2</a:t>
                      </a:r>
                    </a:p>
                  </a:txBody>
                  <a:tcPr/>
                </a:tc>
                <a:tc>
                  <a:txBody>
                    <a:bodyPr/>
                    <a:lstStyle/>
                    <a:p>
                      <a:r>
                        <a:rPr lang="de-DE" dirty="0"/>
                        <a:t>P3</a:t>
                      </a:r>
                    </a:p>
                  </a:txBody>
                  <a:tcPr/>
                </a:tc>
                <a:tc>
                  <a:txBody>
                    <a:bodyPr/>
                    <a:lstStyle/>
                    <a:p>
                      <a:r>
                        <a:rPr lang="de-DE" dirty="0"/>
                        <a:t>P4</a:t>
                      </a:r>
                    </a:p>
                  </a:txBody>
                  <a:tcPr/>
                </a:tc>
                <a:tc>
                  <a:txBody>
                    <a:bodyPr/>
                    <a:lstStyle/>
                    <a:p>
                      <a:r>
                        <a:rPr lang="de-DE" dirty="0"/>
                        <a:t>P5</a:t>
                      </a:r>
                    </a:p>
                  </a:txBody>
                  <a:tcPr/>
                </a:tc>
                <a:extLst>
                  <a:ext uri="{0D108BD9-81ED-4DB2-BD59-A6C34878D82A}">
                    <a16:rowId xmlns:a16="http://schemas.microsoft.com/office/drawing/2014/main" val="10000"/>
                  </a:ext>
                </a:extLst>
              </a:tr>
              <a:tr h="370840">
                <a:tc>
                  <a:txBody>
                    <a:bodyPr/>
                    <a:lstStyle/>
                    <a:p>
                      <a:r>
                        <a:rPr lang="de-DE" dirty="0"/>
                        <a:t>Burst-Zeit</a:t>
                      </a:r>
                    </a:p>
                  </a:txBody>
                  <a:tcPr/>
                </a:tc>
                <a:tc>
                  <a:txBody>
                    <a:bodyPr/>
                    <a:lstStyle/>
                    <a:p>
                      <a:r>
                        <a:rPr lang="de-DE" dirty="0"/>
                        <a:t>10</a:t>
                      </a:r>
                    </a:p>
                  </a:txBody>
                  <a:tcPr/>
                </a:tc>
                <a:tc>
                  <a:txBody>
                    <a:bodyPr/>
                    <a:lstStyle/>
                    <a:p>
                      <a:r>
                        <a:rPr lang="de-DE" dirty="0"/>
                        <a:t>29</a:t>
                      </a:r>
                    </a:p>
                  </a:txBody>
                  <a:tcPr/>
                </a:tc>
                <a:tc>
                  <a:txBody>
                    <a:bodyPr/>
                    <a:lstStyle/>
                    <a:p>
                      <a:r>
                        <a:rPr lang="de-DE" dirty="0"/>
                        <a:t>3</a:t>
                      </a:r>
                    </a:p>
                  </a:txBody>
                  <a:tcPr/>
                </a:tc>
                <a:tc>
                  <a:txBody>
                    <a:bodyPr/>
                    <a:lstStyle/>
                    <a:p>
                      <a:r>
                        <a:rPr lang="de-DE" dirty="0"/>
                        <a:t>7</a:t>
                      </a:r>
                    </a:p>
                  </a:txBody>
                  <a:tcPr/>
                </a:tc>
                <a:tc>
                  <a:txBody>
                    <a:bodyPr/>
                    <a:lstStyle/>
                    <a:p>
                      <a:r>
                        <a:rPr lang="de-DE" dirty="0"/>
                        <a:t>12</a:t>
                      </a:r>
                    </a:p>
                  </a:txBody>
                  <a:tcPr/>
                </a:tc>
                <a:extLst>
                  <a:ext uri="{0D108BD9-81ED-4DB2-BD59-A6C34878D82A}">
                    <a16:rowId xmlns:a16="http://schemas.microsoft.com/office/drawing/2014/main" val="10001"/>
                  </a:ext>
                </a:extLst>
              </a:tr>
            </a:tbl>
          </a:graphicData>
        </a:graphic>
      </p:graphicFrame>
      <p:pic>
        <p:nvPicPr>
          <p:cNvPr id="1026" name="Picture 2" descr="C:\Artur\Academic\Lehre\10.WS-IBN\VL\figures\vl18\eval-fcfs.jpg"/>
          <p:cNvPicPr>
            <a:picLocks noChangeAspect="1" noChangeArrowheads="1"/>
          </p:cNvPicPr>
          <p:nvPr/>
        </p:nvPicPr>
        <p:blipFill>
          <a:blip r:embed="rId2" cstate="print"/>
          <a:srcRect/>
          <a:stretch>
            <a:fillRect/>
          </a:stretch>
        </p:blipFill>
        <p:spPr bwMode="auto">
          <a:xfrm>
            <a:off x="611560" y="3356992"/>
            <a:ext cx="5976664" cy="943277"/>
          </a:xfrm>
          <a:prstGeom prst="rect">
            <a:avLst/>
          </a:prstGeom>
          <a:noFill/>
        </p:spPr>
      </p:pic>
      <p:sp>
        <p:nvSpPr>
          <p:cNvPr id="7" name="Textfeld 6"/>
          <p:cNvSpPr txBox="1"/>
          <p:nvPr/>
        </p:nvSpPr>
        <p:spPr>
          <a:xfrm>
            <a:off x="6732240" y="3356992"/>
            <a:ext cx="2093265" cy="646331"/>
          </a:xfrm>
          <a:prstGeom prst="rect">
            <a:avLst/>
          </a:prstGeom>
          <a:noFill/>
        </p:spPr>
        <p:txBody>
          <a:bodyPr wrap="none" rtlCol="0">
            <a:spAutoFit/>
          </a:bodyPr>
          <a:lstStyle/>
          <a:p>
            <a:r>
              <a:rPr lang="de-DE" b="1" dirty="0">
                <a:solidFill>
                  <a:srgbClr val="FF0000"/>
                </a:solidFill>
              </a:rPr>
              <a:t>Alg. A</a:t>
            </a:r>
            <a:r>
              <a:rPr lang="de-DE" dirty="0"/>
              <a:t>: (0+10+39+</a:t>
            </a:r>
          </a:p>
          <a:p>
            <a:r>
              <a:rPr lang="de-DE" dirty="0"/>
              <a:t>42+49)/5 = </a:t>
            </a:r>
            <a:r>
              <a:rPr lang="de-DE" b="1" u="sng" dirty="0"/>
              <a:t>28</a:t>
            </a:r>
            <a:r>
              <a:rPr lang="de-DE" dirty="0"/>
              <a:t> </a:t>
            </a:r>
            <a:r>
              <a:rPr lang="de-DE" dirty="0" err="1"/>
              <a:t>ms</a:t>
            </a:r>
            <a:endParaRPr lang="de-DE" dirty="0"/>
          </a:p>
        </p:txBody>
      </p:sp>
      <p:pic>
        <p:nvPicPr>
          <p:cNvPr id="1027" name="Picture 3" descr="C:\Artur\Academic\Lehre\10.WS-IBN\VL\figures\vl18\eval-sjf.jpg"/>
          <p:cNvPicPr>
            <a:picLocks noChangeAspect="1" noChangeArrowheads="1"/>
          </p:cNvPicPr>
          <p:nvPr/>
        </p:nvPicPr>
        <p:blipFill>
          <a:blip r:embed="rId3" cstate="print"/>
          <a:srcRect/>
          <a:stretch>
            <a:fillRect/>
          </a:stretch>
        </p:blipFill>
        <p:spPr bwMode="auto">
          <a:xfrm>
            <a:off x="539552" y="4293096"/>
            <a:ext cx="5976664" cy="905780"/>
          </a:xfrm>
          <a:prstGeom prst="rect">
            <a:avLst/>
          </a:prstGeom>
          <a:noFill/>
        </p:spPr>
      </p:pic>
      <p:sp>
        <p:nvSpPr>
          <p:cNvPr id="9" name="Textfeld 8"/>
          <p:cNvSpPr txBox="1"/>
          <p:nvPr/>
        </p:nvSpPr>
        <p:spPr>
          <a:xfrm>
            <a:off x="6804248" y="4293096"/>
            <a:ext cx="2101857" cy="646331"/>
          </a:xfrm>
          <a:prstGeom prst="rect">
            <a:avLst/>
          </a:prstGeom>
          <a:noFill/>
        </p:spPr>
        <p:txBody>
          <a:bodyPr wrap="none" rtlCol="0">
            <a:spAutoFit/>
          </a:bodyPr>
          <a:lstStyle/>
          <a:p>
            <a:r>
              <a:rPr lang="de-DE" b="1" dirty="0">
                <a:solidFill>
                  <a:srgbClr val="FF0000"/>
                </a:solidFill>
              </a:rPr>
              <a:t>Alg. B</a:t>
            </a:r>
            <a:r>
              <a:rPr lang="de-DE" dirty="0"/>
              <a:t>: (10+32+0+</a:t>
            </a:r>
          </a:p>
          <a:p>
            <a:r>
              <a:rPr lang="de-DE" dirty="0"/>
              <a:t>3+20)/5 = </a:t>
            </a:r>
            <a:r>
              <a:rPr lang="de-DE" b="1" u="sng" dirty="0"/>
              <a:t>13</a:t>
            </a:r>
            <a:r>
              <a:rPr lang="de-DE" dirty="0"/>
              <a:t> </a:t>
            </a:r>
            <a:r>
              <a:rPr lang="de-DE" dirty="0" err="1"/>
              <a:t>ms</a:t>
            </a:r>
            <a:endParaRPr lang="de-DE" dirty="0"/>
          </a:p>
        </p:txBody>
      </p:sp>
      <p:pic>
        <p:nvPicPr>
          <p:cNvPr id="1028" name="Picture 4" descr="C:\Artur\Academic\Lehre\10.WS-IBN\VL\figures\vl18\eva-RR.jpg"/>
          <p:cNvPicPr>
            <a:picLocks noChangeAspect="1" noChangeArrowheads="1"/>
          </p:cNvPicPr>
          <p:nvPr/>
        </p:nvPicPr>
        <p:blipFill>
          <a:blip r:embed="rId4" cstate="print"/>
          <a:srcRect/>
          <a:stretch>
            <a:fillRect/>
          </a:stretch>
        </p:blipFill>
        <p:spPr bwMode="auto">
          <a:xfrm>
            <a:off x="395536" y="5301208"/>
            <a:ext cx="6552728" cy="904875"/>
          </a:xfrm>
          <a:prstGeom prst="rect">
            <a:avLst/>
          </a:prstGeom>
          <a:noFill/>
        </p:spPr>
      </p:pic>
      <p:sp>
        <p:nvSpPr>
          <p:cNvPr id="11" name="Textfeld 10"/>
          <p:cNvSpPr txBox="1"/>
          <p:nvPr/>
        </p:nvSpPr>
        <p:spPr>
          <a:xfrm>
            <a:off x="6876256" y="5301208"/>
            <a:ext cx="2101857" cy="646331"/>
          </a:xfrm>
          <a:prstGeom prst="rect">
            <a:avLst/>
          </a:prstGeom>
          <a:noFill/>
        </p:spPr>
        <p:txBody>
          <a:bodyPr wrap="none" rtlCol="0">
            <a:spAutoFit/>
          </a:bodyPr>
          <a:lstStyle/>
          <a:p>
            <a:r>
              <a:rPr lang="de-DE" b="1" dirty="0">
                <a:solidFill>
                  <a:srgbClr val="FF0000"/>
                </a:solidFill>
              </a:rPr>
              <a:t>Alg. C</a:t>
            </a:r>
            <a:r>
              <a:rPr lang="de-DE" dirty="0"/>
              <a:t>: (0+32+20+</a:t>
            </a:r>
          </a:p>
          <a:p>
            <a:r>
              <a:rPr lang="de-DE" dirty="0"/>
              <a:t>23+40)/5 = </a:t>
            </a:r>
            <a:r>
              <a:rPr lang="de-DE" b="1" u="sng" dirty="0"/>
              <a:t>23</a:t>
            </a:r>
            <a:r>
              <a:rPr lang="de-DE" dirty="0"/>
              <a:t> </a:t>
            </a:r>
            <a:r>
              <a:rPr lang="de-DE" dirty="0" err="1"/>
              <a:t>ms</a:t>
            </a:r>
            <a:endParaRPr lang="de-DE" dirty="0"/>
          </a:p>
        </p:txBody>
      </p:sp>
      <p:sp>
        <p:nvSpPr>
          <p:cNvPr id="12" name="Textfeld 11"/>
          <p:cNvSpPr txBox="1"/>
          <p:nvPr/>
        </p:nvSpPr>
        <p:spPr>
          <a:xfrm>
            <a:off x="395536" y="6309320"/>
            <a:ext cx="4207370" cy="369332"/>
          </a:xfrm>
          <a:prstGeom prst="rect">
            <a:avLst/>
          </a:prstGeom>
          <a:noFill/>
        </p:spPr>
        <p:txBody>
          <a:bodyPr wrap="none" rtlCol="0">
            <a:spAutoFit/>
          </a:bodyPr>
          <a:lstStyle/>
          <a:p>
            <a:r>
              <a:rPr lang="de-DE" dirty="0"/>
              <a:t>Welche Algorithmen sind das - A, B, C?</a:t>
            </a:r>
          </a:p>
        </p:txBody>
      </p:sp>
      <p:sp>
        <p:nvSpPr>
          <p:cNvPr id="13" name="Textfeld 12"/>
          <p:cNvSpPr txBox="1"/>
          <p:nvPr/>
        </p:nvSpPr>
        <p:spPr>
          <a:xfrm>
            <a:off x="4860032" y="6309320"/>
            <a:ext cx="2685415" cy="369332"/>
          </a:xfrm>
          <a:prstGeom prst="rect">
            <a:avLst/>
          </a:prstGeom>
          <a:noFill/>
        </p:spPr>
        <p:txBody>
          <a:bodyPr wrap="none" rtlCol="0">
            <a:spAutoFit/>
          </a:bodyPr>
          <a:lstStyle/>
          <a:p>
            <a:r>
              <a:rPr lang="de-DE" dirty="0"/>
              <a:t>A: FCFS, B: SJF, C: RR </a:t>
            </a:r>
          </a:p>
        </p:txBody>
      </p:sp>
      <p:sp>
        <p:nvSpPr>
          <p:cNvPr id="14" name="Rechteck 6">
            <a:extLst>
              <a:ext uri="{FF2B5EF4-FFF2-40B4-BE49-F238E27FC236}">
                <a16:creationId xmlns:a16="http://schemas.microsoft.com/office/drawing/2014/main" id="{F429ADC6-762E-4F53-A65E-09866A5E5D35}"/>
              </a:ext>
            </a:extLst>
          </p:cNvPr>
          <p:cNvSpPr/>
          <p:nvPr/>
        </p:nvSpPr>
        <p:spPr>
          <a:xfrm>
            <a:off x="5698509"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5"/>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extLst>
      <p:ext uri="{BB962C8B-B14F-4D97-AF65-F5344CB8AC3E}">
        <p14:creationId xmlns:p14="http://schemas.microsoft.com/office/powerpoint/2010/main" val="4272333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Kriterien der Bewertung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6</a:t>
            </a:fld>
            <a:endParaRPr lang="en-US" noProof="0" dirty="0"/>
          </a:p>
        </p:txBody>
      </p:sp>
      <p:sp>
        <p:nvSpPr>
          <p:cNvPr id="5" name="Inhaltsplatzhalter 4"/>
          <p:cNvSpPr>
            <a:spLocks noGrp="1"/>
          </p:cNvSpPr>
          <p:nvPr>
            <p:ph sz="quarter" idx="1"/>
          </p:nvPr>
        </p:nvSpPr>
        <p:spPr/>
        <p:txBody>
          <a:bodyPr>
            <a:normAutofit/>
          </a:bodyPr>
          <a:lstStyle/>
          <a:p>
            <a:r>
              <a:rPr lang="de-DE" b="1" dirty="0">
                <a:solidFill>
                  <a:srgbClr val="0070C0"/>
                </a:solidFill>
              </a:rPr>
              <a:t>Durchsatz</a:t>
            </a:r>
            <a:r>
              <a:rPr lang="de-DE" b="1" dirty="0">
                <a:solidFill>
                  <a:srgbClr val="FF0000"/>
                </a:solidFill>
              </a:rPr>
              <a:t> </a:t>
            </a:r>
            <a:r>
              <a:rPr lang="de-DE" dirty="0"/>
              <a:t>(</a:t>
            </a:r>
            <a:r>
              <a:rPr lang="de-DE" b="1" dirty="0" err="1">
                <a:solidFill>
                  <a:srgbClr val="0070C0"/>
                </a:solidFill>
              </a:rPr>
              <a:t>throughput</a:t>
            </a:r>
            <a:r>
              <a:rPr lang="de-DE" dirty="0"/>
              <a:t>)</a:t>
            </a:r>
          </a:p>
          <a:p>
            <a:pPr lvl="1"/>
            <a:r>
              <a:rPr lang="de-DE" dirty="0"/>
              <a:t>Die Anzahl der abgearbeiteten Jobs pro Sekunde</a:t>
            </a:r>
          </a:p>
          <a:p>
            <a:r>
              <a:rPr lang="de-DE" b="1" dirty="0">
                <a:solidFill>
                  <a:srgbClr val="0070C0"/>
                </a:solidFill>
              </a:rPr>
              <a:t>Durchlaufzeit</a:t>
            </a:r>
            <a:r>
              <a:rPr lang="de-DE" b="1" dirty="0">
                <a:solidFill>
                  <a:srgbClr val="FF0000"/>
                </a:solidFill>
              </a:rPr>
              <a:t> </a:t>
            </a:r>
            <a:r>
              <a:rPr lang="de-DE" dirty="0"/>
              <a:t>(</a:t>
            </a:r>
            <a:r>
              <a:rPr lang="de-DE" b="1" dirty="0" err="1">
                <a:solidFill>
                  <a:srgbClr val="0070C0"/>
                </a:solidFill>
              </a:rPr>
              <a:t>turnaround</a:t>
            </a:r>
            <a:r>
              <a:rPr lang="de-DE" b="1" dirty="0">
                <a:solidFill>
                  <a:srgbClr val="0070C0"/>
                </a:solidFill>
              </a:rPr>
              <a:t> time</a:t>
            </a:r>
            <a:r>
              <a:rPr lang="de-DE" dirty="0"/>
              <a:t>)</a:t>
            </a:r>
          </a:p>
          <a:p>
            <a:pPr lvl="1"/>
            <a:r>
              <a:rPr lang="de-DE" dirty="0"/>
              <a:t>Die Zeit von Start bis zur Beendigung eines Jobs</a:t>
            </a:r>
          </a:p>
          <a:p>
            <a:r>
              <a:rPr lang="de-DE" b="1" dirty="0">
                <a:solidFill>
                  <a:srgbClr val="0070C0"/>
                </a:solidFill>
              </a:rPr>
              <a:t>CPU-Effizienz</a:t>
            </a:r>
            <a:r>
              <a:rPr lang="de-DE" dirty="0"/>
              <a:t> (</a:t>
            </a:r>
            <a:r>
              <a:rPr lang="de-DE" b="1" dirty="0">
                <a:solidFill>
                  <a:srgbClr val="0070C0"/>
                </a:solidFill>
              </a:rPr>
              <a:t>CPU </a:t>
            </a:r>
            <a:r>
              <a:rPr lang="de-DE" b="1" dirty="0" err="1">
                <a:solidFill>
                  <a:srgbClr val="0070C0"/>
                </a:solidFill>
              </a:rPr>
              <a:t>efficiency</a:t>
            </a:r>
            <a:r>
              <a:rPr lang="de-DE" dirty="0"/>
              <a:t>)</a:t>
            </a:r>
          </a:p>
          <a:p>
            <a:pPr lvl="1"/>
            <a:r>
              <a:rPr lang="de-DE" dirty="0"/>
              <a:t>(Zeit der Prozessausführung)/(Zeit der Prozessausführung + Zeit des Prozesswechsels)</a:t>
            </a:r>
          </a:p>
          <a:p>
            <a:r>
              <a:rPr lang="de-DE" b="1" dirty="0">
                <a:solidFill>
                  <a:srgbClr val="0070C0"/>
                </a:solidFill>
              </a:rPr>
              <a:t>Wartezeit</a:t>
            </a:r>
            <a:r>
              <a:rPr lang="de-DE" b="1" dirty="0">
                <a:solidFill>
                  <a:srgbClr val="FF0000"/>
                </a:solidFill>
              </a:rPr>
              <a:t> </a:t>
            </a:r>
            <a:r>
              <a:rPr lang="de-DE" dirty="0"/>
              <a:t>(</a:t>
            </a:r>
            <a:r>
              <a:rPr lang="de-DE" b="1" dirty="0" err="1">
                <a:solidFill>
                  <a:srgbClr val="0070C0"/>
                </a:solidFill>
              </a:rPr>
              <a:t>waiting</a:t>
            </a:r>
            <a:r>
              <a:rPr lang="de-DE" b="1" dirty="0">
                <a:solidFill>
                  <a:srgbClr val="0070C0"/>
                </a:solidFill>
              </a:rPr>
              <a:t> time</a:t>
            </a:r>
            <a:r>
              <a:rPr lang="de-DE" dirty="0"/>
              <a:t>)</a:t>
            </a:r>
          </a:p>
          <a:p>
            <a:pPr lvl="1"/>
            <a:r>
              <a:rPr lang="de-DE" dirty="0"/>
              <a:t>Summe der Zeiten, die ein P. trotzt „</a:t>
            </a:r>
            <a:r>
              <a:rPr lang="de-DE" dirty="0" err="1"/>
              <a:t>ready</a:t>
            </a:r>
            <a:r>
              <a:rPr lang="de-DE" dirty="0"/>
              <a:t>“-Zustands warten muss</a:t>
            </a:r>
          </a:p>
          <a:p>
            <a:endParaRPr lang="de-DE" dirty="0"/>
          </a:p>
        </p:txBody>
      </p:sp>
    </p:spTree>
    <p:extLst>
      <p:ext uri="{BB962C8B-B14F-4D97-AF65-F5344CB8AC3E}">
        <p14:creationId xmlns:p14="http://schemas.microsoft.com/office/powerpoint/2010/main" val="1692593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2000"/>
                                        <p:tgtEl>
                                          <p:spTgt spid="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20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2000"/>
                                        <p:tgtEl>
                                          <p:spTgt spid="5">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2000"/>
                                        <p:tgtEl>
                                          <p:spTgt spid="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fade">
                                      <p:cBhvr>
                                        <p:cTn id="31" dur="2000"/>
                                        <p:tgtEl>
                                          <p:spTgt spid="5">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xEl>
                                              <p:pRg st="7" end="7"/>
                                            </p:txEl>
                                          </p:spTgt>
                                        </p:tgtEl>
                                        <p:attrNameLst>
                                          <p:attrName>style.visibility</p:attrName>
                                        </p:attrNameLst>
                                      </p:cBhvr>
                                      <p:to>
                                        <p:strVal val="visible"/>
                                      </p:to>
                                    </p:set>
                                    <p:animEffect transition="in" filter="fade">
                                      <p:cBhvr>
                                        <p:cTn id="34" dur="20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7</a:t>
            </a:fld>
            <a:endParaRPr lang="de-DE" dirty="0"/>
          </a:p>
        </p:txBody>
      </p:sp>
      <p:sp>
        <p:nvSpPr>
          <p:cNvPr id="3" name="Titel 2"/>
          <p:cNvSpPr>
            <a:spLocks noGrp="1"/>
          </p:cNvSpPr>
          <p:nvPr>
            <p:ph type="title"/>
          </p:nvPr>
        </p:nvSpPr>
        <p:spPr/>
        <p:txBody>
          <a:bodyPr/>
          <a:lstStyle/>
          <a:p>
            <a:r>
              <a:rPr lang="de-DE" dirty="0"/>
              <a:t>Warteschlangentheorie</a:t>
            </a:r>
          </a:p>
        </p:txBody>
      </p:sp>
    </p:spTree>
    <p:extLst>
      <p:ext uri="{BB962C8B-B14F-4D97-AF65-F5344CB8AC3E}">
        <p14:creationId xmlns:p14="http://schemas.microsoft.com/office/powerpoint/2010/main" val="121815245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Motivation Warteschlangentheorie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8</a:t>
            </a:fld>
            <a:endParaRPr lang="en-US" noProof="0" dirty="0"/>
          </a:p>
        </p:txBody>
      </p:sp>
      <p:sp>
        <p:nvSpPr>
          <p:cNvPr id="4" name="Inhaltsplatzhalter 3"/>
          <p:cNvSpPr>
            <a:spLocks noGrp="1"/>
          </p:cNvSpPr>
          <p:nvPr>
            <p:ph sz="quarter" idx="1"/>
          </p:nvPr>
        </p:nvSpPr>
        <p:spPr/>
        <p:txBody>
          <a:bodyPr/>
          <a:lstStyle/>
          <a:p>
            <a:r>
              <a:rPr lang="de-DE" dirty="0"/>
              <a:t>Video „</a:t>
            </a:r>
            <a:r>
              <a:rPr lang="en-US" dirty="0"/>
              <a:t>Why the other line is likely to move faster”</a:t>
            </a:r>
          </a:p>
          <a:p>
            <a:pPr lvl="1"/>
            <a:r>
              <a:rPr lang="de-DE" dirty="0">
                <a:hlinkClick r:id="rId4"/>
              </a:rPr>
              <a:t>https://www.youtube.com/watch?v=F5Ri_HhziI0</a:t>
            </a:r>
            <a:r>
              <a:rPr lang="de-DE" dirty="0"/>
              <a:t>, [17a]</a:t>
            </a:r>
          </a:p>
          <a:p>
            <a:pPr lvl="1"/>
            <a:endParaRPr lang="de-DE" dirty="0"/>
          </a:p>
        </p:txBody>
      </p:sp>
      <p:pic>
        <p:nvPicPr>
          <p:cNvPr id="5" name="17a-Why the other line is likely to move faster">
            <a:hlinkClick r:id="" action="ppaction://media"/>
            <a:extLst>
              <a:ext uri="{FF2B5EF4-FFF2-40B4-BE49-F238E27FC236}">
                <a16:creationId xmlns:a16="http://schemas.microsoft.com/office/drawing/2014/main" id="{5EE8A29F-D9ED-4F78-9E82-18D61A795110}"/>
              </a:ext>
            </a:extLst>
          </p:cNvPr>
          <p:cNvPicPr>
            <a:picLocks noChangeAspect="1"/>
          </p:cNvPicPr>
          <p:nvPr>
            <a:videoFile r:link="rId2"/>
            <p:extLst>
              <p:ext uri="{DAA4B4D4-6D71-4841-9C94-3DE7FCFB9230}">
                <p14:media xmlns:p14="http://schemas.microsoft.com/office/powerpoint/2010/main" r:link="rId1"/>
              </p:ext>
            </p:extLst>
          </p:nvPr>
        </p:nvPicPr>
        <p:blipFill>
          <a:blip r:embed="rId5"/>
          <a:stretch>
            <a:fillRect/>
          </a:stretch>
        </p:blipFill>
        <p:spPr>
          <a:xfrm>
            <a:off x="1763688" y="3068960"/>
            <a:ext cx="5422900" cy="3048000"/>
          </a:xfrm>
          <a:prstGeom prst="rect">
            <a:avLst/>
          </a:prstGeom>
        </p:spPr>
      </p:pic>
    </p:spTree>
    <p:extLst>
      <p:ext uri="{BB962C8B-B14F-4D97-AF65-F5344CB8AC3E}">
        <p14:creationId xmlns:p14="http://schemas.microsoft.com/office/powerpoint/2010/main" val="93260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21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Warteschlangentheorie</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9</a:t>
            </a:fld>
            <a:endParaRPr lang="en-US" noProof="0" dirty="0"/>
          </a:p>
        </p:txBody>
      </p:sp>
      <p:sp>
        <p:nvSpPr>
          <p:cNvPr id="4" name="Content Placeholder 3"/>
          <p:cNvSpPr>
            <a:spLocks noGrp="1"/>
          </p:cNvSpPr>
          <p:nvPr>
            <p:ph sz="quarter" idx="1"/>
          </p:nvPr>
        </p:nvSpPr>
        <p:spPr>
          <a:xfrm>
            <a:off x="457200" y="1219200"/>
            <a:ext cx="8229600" cy="2137792"/>
          </a:xfrm>
        </p:spPr>
        <p:txBody>
          <a:bodyPr>
            <a:normAutofit/>
          </a:bodyPr>
          <a:lstStyle/>
          <a:p>
            <a:r>
              <a:rPr lang="de-DE" dirty="0"/>
              <a:t>Die </a:t>
            </a:r>
            <a:r>
              <a:rPr lang="de-DE" b="1" dirty="0">
                <a:solidFill>
                  <a:srgbClr val="FF0000"/>
                </a:solidFill>
              </a:rPr>
              <a:t>Warteschlangentheorie</a:t>
            </a:r>
            <a:r>
              <a:rPr lang="de-DE" dirty="0"/>
              <a:t> (oder </a:t>
            </a:r>
            <a:r>
              <a:rPr lang="de-DE" b="1" dirty="0">
                <a:solidFill>
                  <a:srgbClr val="FF0000"/>
                </a:solidFill>
              </a:rPr>
              <a:t>Bedienung-</a:t>
            </a:r>
            <a:r>
              <a:rPr lang="de-DE" b="1" dirty="0" err="1">
                <a:solidFill>
                  <a:srgbClr val="FF0000"/>
                </a:solidFill>
              </a:rPr>
              <a:t>stheorie</a:t>
            </a:r>
            <a:r>
              <a:rPr lang="de-DE" dirty="0"/>
              <a:t>) ist ein Teilgebiet der Wahrscheinlichkeits-theorie</a:t>
            </a:r>
          </a:p>
          <a:p>
            <a:pPr lvl="1"/>
            <a:r>
              <a:rPr lang="de-DE" dirty="0"/>
              <a:t>Analyse von Systemen, in denen Aufträge von </a:t>
            </a:r>
            <a:r>
              <a:rPr lang="de-DE" b="1" dirty="0">
                <a:solidFill>
                  <a:srgbClr val="FF0000"/>
                </a:solidFill>
              </a:rPr>
              <a:t>Bedienungsstationen</a:t>
            </a:r>
            <a:r>
              <a:rPr lang="de-DE" dirty="0"/>
              <a:t> bearbeitet werden</a:t>
            </a:r>
          </a:p>
        </p:txBody>
      </p:sp>
      <p:sp>
        <p:nvSpPr>
          <p:cNvPr id="17" name="Content Placeholder 16"/>
          <p:cNvSpPr>
            <a:spLocks noGrp="1"/>
          </p:cNvSpPr>
          <p:nvPr>
            <p:ph sz="quarter" idx="13"/>
          </p:nvPr>
        </p:nvSpPr>
        <p:spPr>
          <a:xfrm>
            <a:off x="467544" y="4876614"/>
            <a:ext cx="8208912" cy="1720738"/>
          </a:xfrm>
        </p:spPr>
        <p:txBody>
          <a:bodyPr>
            <a:normAutofit fontScale="92500"/>
          </a:bodyPr>
          <a:lstStyle/>
          <a:p>
            <a:r>
              <a:rPr lang="de-DE" dirty="0"/>
              <a:t>Die „Aufträge“/“Kunden“ treffen einzeln und zu zufälligen Zeitpunkten ein</a:t>
            </a:r>
          </a:p>
          <a:p>
            <a:r>
              <a:rPr lang="de-DE" dirty="0"/>
              <a:t>Sie werden bedient, sofern mind. eine Bedienungsstation frei ist; sonst reihen sie sich in die Schlange ein</a:t>
            </a:r>
          </a:p>
        </p:txBody>
      </p:sp>
      <p:grpSp>
        <p:nvGrpSpPr>
          <p:cNvPr id="5" name="Group 15"/>
          <p:cNvGrpSpPr/>
          <p:nvPr/>
        </p:nvGrpSpPr>
        <p:grpSpPr>
          <a:xfrm>
            <a:off x="971599" y="3897610"/>
            <a:ext cx="5106929" cy="576064"/>
            <a:chOff x="1630951" y="3753036"/>
            <a:chExt cx="5106929" cy="576064"/>
          </a:xfrm>
        </p:grpSpPr>
        <p:sp>
          <p:nvSpPr>
            <p:cNvPr id="6" name="Rectangle 5"/>
            <p:cNvSpPr/>
            <p:nvPr/>
          </p:nvSpPr>
          <p:spPr>
            <a:xfrm>
              <a:off x="2699792" y="3789040"/>
              <a:ext cx="504056" cy="5040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7" name="Rectangle 6"/>
            <p:cNvSpPr/>
            <p:nvPr/>
          </p:nvSpPr>
          <p:spPr>
            <a:xfrm>
              <a:off x="3184436" y="3789040"/>
              <a:ext cx="504056" cy="5040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 name="Rectangle 7"/>
            <p:cNvSpPr/>
            <p:nvPr/>
          </p:nvSpPr>
          <p:spPr>
            <a:xfrm>
              <a:off x="3669080" y="3789040"/>
              <a:ext cx="504056" cy="5040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9" name="Rectangle 8"/>
            <p:cNvSpPr/>
            <p:nvPr/>
          </p:nvSpPr>
          <p:spPr>
            <a:xfrm>
              <a:off x="4153724" y="3789040"/>
              <a:ext cx="504056" cy="5040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 name="Rectangle 9"/>
            <p:cNvSpPr/>
            <p:nvPr/>
          </p:nvSpPr>
          <p:spPr>
            <a:xfrm>
              <a:off x="4638368" y="3789040"/>
              <a:ext cx="504056" cy="5040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1" name="Flowchart: Connector 10"/>
            <p:cNvSpPr/>
            <p:nvPr/>
          </p:nvSpPr>
          <p:spPr>
            <a:xfrm>
              <a:off x="5652120" y="3753036"/>
              <a:ext cx="576064" cy="576064"/>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13" name="Straight Arrow Connector 12"/>
            <p:cNvCxnSpPr>
              <a:stCxn id="10" idx="3"/>
              <a:endCxn id="11" idx="2"/>
            </p:cNvCxnSpPr>
            <p:nvPr/>
          </p:nvCxnSpPr>
          <p:spPr>
            <a:xfrm>
              <a:off x="5142424" y="4041068"/>
              <a:ext cx="509696"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6228184" y="4041068"/>
              <a:ext cx="509696"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1630951" y="4058776"/>
              <a:ext cx="1068841"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971599" y="4289008"/>
            <a:ext cx="1040670" cy="400110"/>
          </a:xfrm>
          <a:prstGeom prst="rect">
            <a:avLst/>
          </a:prstGeom>
          <a:noFill/>
        </p:spPr>
        <p:txBody>
          <a:bodyPr wrap="none" rtlCol="0">
            <a:spAutoFit/>
          </a:bodyPr>
          <a:lstStyle/>
          <a:p>
            <a:r>
              <a:rPr lang="de-DE" sz="2000" dirty="0">
                <a:solidFill>
                  <a:srgbClr val="0070C0"/>
                </a:solidFill>
              </a:rPr>
              <a:t>Arrivals</a:t>
            </a:r>
          </a:p>
        </p:txBody>
      </p:sp>
      <p:sp>
        <p:nvSpPr>
          <p:cNvPr id="19" name="TextBox 18"/>
          <p:cNvSpPr txBox="1"/>
          <p:nvPr/>
        </p:nvSpPr>
        <p:spPr>
          <a:xfrm>
            <a:off x="2777112" y="4476504"/>
            <a:ext cx="954107" cy="400110"/>
          </a:xfrm>
          <a:prstGeom prst="rect">
            <a:avLst/>
          </a:prstGeom>
          <a:noFill/>
        </p:spPr>
        <p:txBody>
          <a:bodyPr wrap="none" rtlCol="0">
            <a:spAutoFit/>
          </a:bodyPr>
          <a:lstStyle/>
          <a:p>
            <a:r>
              <a:rPr lang="de-DE" sz="2000" dirty="0">
                <a:solidFill>
                  <a:srgbClr val="0070C0"/>
                </a:solidFill>
              </a:rPr>
              <a:t>Queue</a:t>
            </a:r>
          </a:p>
        </p:txBody>
      </p:sp>
      <p:sp>
        <p:nvSpPr>
          <p:cNvPr id="20" name="TextBox 19"/>
          <p:cNvSpPr txBox="1"/>
          <p:nvPr/>
        </p:nvSpPr>
        <p:spPr>
          <a:xfrm>
            <a:off x="4842218" y="4482834"/>
            <a:ext cx="939681" cy="400110"/>
          </a:xfrm>
          <a:prstGeom prst="rect">
            <a:avLst/>
          </a:prstGeom>
          <a:noFill/>
        </p:spPr>
        <p:txBody>
          <a:bodyPr wrap="none" rtlCol="0">
            <a:spAutoFit/>
          </a:bodyPr>
          <a:lstStyle/>
          <a:p>
            <a:r>
              <a:rPr lang="de-DE" sz="2000" dirty="0">
                <a:solidFill>
                  <a:srgbClr val="0070C0"/>
                </a:solidFill>
              </a:rPr>
              <a:t>Server</a:t>
            </a:r>
          </a:p>
        </p:txBody>
      </p:sp>
      <p:sp>
        <p:nvSpPr>
          <p:cNvPr id="21" name="TextBox 20"/>
          <p:cNvSpPr txBox="1"/>
          <p:nvPr/>
        </p:nvSpPr>
        <p:spPr>
          <a:xfrm>
            <a:off x="6078528" y="4261052"/>
            <a:ext cx="1452642" cy="400110"/>
          </a:xfrm>
          <a:prstGeom prst="rect">
            <a:avLst/>
          </a:prstGeom>
          <a:noFill/>
        </p:spPr>
        <p:txBody>
          <a:bodyPr wrap="none" rtlCol="0">
            <a:spAutoFit/>
          </a:bodyPr>
          <a:lstStyle/>
          <a:p>
            <a:r>
              <a:rPr lang="de-DE" sz="2000" dirty="0">
                <a:solidFill>
                  <a:srgbClr val="0070C0"/>
                </a:solidFill>
              </a:rPr>
              <a:t>Departures</a:t>
            </a:r>
          </a:p>
        </p:txBody>
      </p:sp>
      <p:sp>
        <p:nvSpPr>
          <p:cNvPr id="22" name="TextBox 21"/>
          <p:cNvSpPr txBox="1"/>
          <p:nvPr/>
        </p:nvSpPr>
        <p:spPr>
          <a:xfrm>
            <a:off x="971599" y="3495464"/>
            <a:ext cx="1266693" cy="707886"/>
          </a:xfrm>
          <a:prstGeom prst="rect">
            <a:avLst/>
          </a:prstGeom>
          <a:noFill/>
        </p:spPr>
        <p:txBody>
          <a:bodyPr wrap="none" rtlCol="0">
            <a:spAutoFit/>
          </a:bodyPr>
          <a:lstStyle/>
          <a:p>
            <a:pPr algn="ctr"/>
            <a:r>
              <a:rPr lang="de-DE" sz="2000" dirty="0"/>
              <a:t>Ankunfts-</a:t>
            </a:r>
          </a:p>
          <a:p>
            <a:pPr algn="ctr"/>
            <a:r>
              <a:rPr lang="de-DE" sz="2000" dirty="0"/>
              <a:t>strom</a:t>
            </a:r>
          </a:p>
        </p:txBody>
      </p:sp>
      <p:sp>
        <p:nvSpPr>
          <p:cNvPr id="23" name="TextBox 22"/>
          <p:cNvSpPr txBox="1"/>
          <p:nvPr/>
        </p:nvSpPr>
        <p:spPr>
          <a:xfrm>
            <a:off x="2542615" y="3216614"/>
            <a:ext cx="1611467" cy="707886"/>
          </a:xfrm>
          <a:prstGeom prst="rect">
            <a:avLst/>
          </a:prstGeom>
          <a:noFill/>
        </p:spPr>
        <p:txBody>
          <a:bodyPr wrap="none" rtlCol="0">
            <a:spAutoFit/>
          </a:bodyPr>
          <a:lstStyle/>
          <a:p>
            <a:pPr algn="ctr"/>
            <a:r>
              <a:rPr lang="de-DE" sz="2000" dirty="0"/>
              <a:t>Schlange </a:t>
            </a:r>
          </a:p>
          <a:p>
            <a:pPr algn="ctr"/>
            <a:r>
              <a:rPr lang="de-DE" sz="2000" dirty="0"/>
              <a:t>(Warteraum)</a:t>
            </a:r>
          </a:p>
        </p:txBody>
      </p:sp>
      <p:sp>
        <p:nvSpPr>
          <p:cNvPr id="24" name="TextBox 23"/>
          <p:cNvSpPr txBox="1"/>
          <p:nvPr/>
        </p:nvSpPr>
        <p:spPr>
          <a:xfrm>
            <a:off x="4525699" y="3225728"/>
            <a:ext cx="1625766" cy="707886"/>
          </a:xfrm>
          <a:prstGeom prst="rect">
            <a:avLst/>
          </a:prstGeom>
          <a:noFill/>
        </p:spPr>
        <p:txBody>
          <a:bodyPr wrap="none" rtlCol="0">
            <a:spAutoFit/>
          </a:bodyPr>
          <a:lstStyle/>
          <a:p>
            <a:pPr algn="ctr"/>
            <a:r>
              <a:rPr lang="de-DE" sz="2000" dirty="0"/>
              <a:t>Bedienungs-</a:t>
            </a:r>
          </a:p>
          <a:p>
            <a:pPr algn="ctr"/>
            <a:r>
              <a:rPr lang="de-DE" sz="2000" dirty="0"/>
              <a:t>station</a:t>
            </a:r>
          </a:p>
        </p:txBody>
      </p:sp>
    </p:spTree>
    <p:extLst>
      <p:ext uri="{BB962C8B-B14F-4D97-AF65-F5344CB8AC3E}">
        <p14:creationId xmlns:p14="http://schemas.microsoft.com/office/powerpoint/2010/main" val="702784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Warteschlangentheorie /2</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10</a:t>
            </a:fld>
            <a:endParaRPr lang="en-US" noProof="0" dirty="0"/>
          </a:p>
        </p:txBody>
      </p:sp>
      <p:sp>
        <p:nvSpPr>
          <p:cNvPr id="5" name="Content Placeholder 4"/>
          <p:cNvSpPr>
            <a:spLocks noGrp="1"/>
          </p:cNvSpPr>
          <p:nvPr>
            <p:ph sz="quarter" idx="1"/>
          </p:nvPr>
        </p:nvSpPr>
        <p:spPr>
          <a:xfrm>
            <a:off x="457200" y="1219200"/>
            <a:ext cx="4041648" cy="5378152"/>
          </a:xfrm>
        </p:spPr>
        <p:txBody>
          <a:bodyPr>
            <a:normAutofit/>
          </a:bodyPr>
          <a:lstStyle/>
          <a:p>
            <a:r>
              <a:rPr lang="de-DE" dirty="0"/>
              <a:t>Einige Variationen:</a:t>
            </a:r>
          </a:p>
          <a:p>
            <a:pPr lvl="1"/>
            <a:r>
              <a:rPr lang="de-DE" dirty="0"/>
              <a:t>Mehrere Schlangen und/oder Stationen</a:t>
            </a:r>
          </a:p>
          <a:p>
            <a:pPr lvl="1"/>
            <a:r>
              <a:rPr lang="de-DE" dirty="0"/>
              <a:t>Einige Kunden verlassen das System, bevor sie bedient worden sind</a:t>
            </a:r>
          </a:p>
          <a:p>
            <a:pPr lvl="1"/>
            <a:r>
              <a:rPr lang="de-DE" dirty="0"/>
              <a:t>Einige Kunden treten nicht ein, weil ihnen die Warteschlange zu lang erscheint</a:t>
            </a:r>
          </a:p>
          <a:p>
            <a:pPr lvl="1"/>
            <a:r>
              <a:rPr lang="de-DE" dirty="0"/>
              <a:t>Reihenfolge der Abarbeitung: FIFO, LIFO, Priorität, …</a:t>
            </a:r>
          </a:p>
          <a:p>
            <a:pPr lvl="1"/>
            <a:r>
              <a:rPr lang="de-DE" dirty="0"/>
              <a:t>…</a:t>
            </a:r>
          </a:p>
        </p:txBody>
      </p:sp>
      <p:sp>
        <p:nvSpPr>
          <p:cNvPr id="6" name="Content Placeholder 5"/>
          <p:cNvSpPr>
            <a:spLocks noGrp="1"/>
          </p:cNvSpPr>
          <p:nvPr>
            <p:ph sz="quarter" idx="2"/>
          </p:nvPr>
        </p:nvSpPr>
        <p:spPr>
          <a:xfrm>
            <a:off x="4632198" y="1216152"/>
            <a:ext cx="4041648" cy="916704"/>
          </a:xfrm>
        </p:spPr>
        <p:txBody>
          <a:bodyPr>
            <a:normAutofit/>
          </a:bodyPr>
          <a:lstStyle/>
          <a:p>
            <a:r>
              <a:rPr lang="de-DE" dirty="0"/>
              <a:t>Was möchte man typischerweise wissen?</a:t>
            </a:r>
          </a:p>
        </p:txBody>
      </p:sp>
      <p:sp>
        <p:nvSpPr>
          <p:cNvPr id="7" name="Content Placeholder 5"/>
          <p:cNvSpPr txBox="1">
            <a:spLocks/>
          </p:cNvSpPr>
          <p:nvPr/>
        </p:nvSpPr>
        <p:spPr>
          <a:xfrm>
            <a:off x="4716016" y="2285256"/>
            <a:ext cx="4041648" cy="4240088"/>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de-DE" dirty="0">
                <a:solidFill>
                  <a:srgbClr val="0070C0"/>
                </a:solidFill>
              </a:rPr>
              <a:t>Die Anzahl der Kunden im System</a:t>
            </a:r>
          </a:p>
          <a:p>
            <a:r>
              <a:rPr lang="de-DE" dirty="0"/>
              <a:t>Ihre (durchschnitliche) </a:t>
            </a:r>
            <a:r>
              <a:rPr lang="de-DE" dirty="0">
                <a:solidFill>
                  <a:srgbClr val="0070C0"/>
                </a:solidFill>
              </a:rPr>
              <a:t>Verweilzeiten im System</a:t>
            </a:r>
          </a:p>
          <a:p>
            <a:pPr lvl="1"/>
            <a:r>
              <a:rPr lang="de-DE" dirty="0"/>
              <a:t>Genauer: Wahrschein-lichkeitsverteilung der Verweilzeiten</a:t>
            </a:r>
          </a:p>
          <a:p>
            <a:endParaRPr lang="de-DE" dirty="0"/>
          </a:p>
        </p:txBody>
      </p:sp>
    </p:spTree>
    <p:extLst>
      <p:ext uri="{BB962C8B-B14F-4D97-AF65-F5344CB8AC3E}">
        <p14:creationId xmlns:p14="http://schemas.microsoft.com/office/powerpoint/2010/main" val="653655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11</a:t>
            </a:fld>
            <a:endParaRPr lang="de-DE" dirty="0"/>
          </a:p>
        </p:txBody>
      </p:sp>
      <p:sp>
        <p:nvSpPr>
          <p:cNvPr id="3" name="Titel 2"/>
          <p:cNvSpPr>
            <a:spLocks noGrp="1"/>
          </p:cNvSpPr>
          <p:nvPr>
            <p:ph type="title"/>
          </p:nvPr>
        </p:nvSpPr>
        <p:spPr/>
        <p:txBody>
          <a:bodyPr/>
          <a:lstStyle/>
          <a:p>
            <a:r>
              <a:rPr lang="de-DE" dirty="0"/>
              <a:t>Definitionen Warteschlangentheorie</a:t>
            </a:r>
          </a:p>
        </p:txBody>
      </p:sp>
    </p:spTree>
    <p:extLst>
      <p:ext uri="{BB962C8B-B14F-4D97-AF65-F5344CB8AC3E}">
        <p14:creationId xmlns:p14="http://schemas.microsoft.com/office/powerpoint/2010/main" val="224051113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Ankunftszeiten  /1</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12</a:t>
            </a:fld>
            <a:endParaRPr lang="en-US" noProof="0" dirty="0"/>
          </a:p>
        </p:txBody>
      </p:sp>
      <p:sp>
        <p:nvSpPr>
          <p:cNvPr id="4" name="Content Placeholder 3"/>
          <p:cNvSpPr>
            <a:spLocks noGrp="1"/>
          </p:cNvSpPr>
          <p:nvPr>
            <p:ph sz="quarter" idx="1"/>
          </p:nvPr>
        </p:nvSpPr>
        <p:spPr>
          <a:xfrm>
            <a:off x="457200" y="1219200"/>
            <a:ext cx="8363272" cy="5210196"/>
          </a:xfrm>
        </p:spPr>
        <p:txBody>
          <a:bodyPr>
            <a:normAutofit/>
          </a:bodyPr>
          <a:lstStyle/>
          <a:p>
            <a:r>
              <a:rPr lang="de-DE" dirty="0"/>
              <a:t>Seien T</a:t>
            </a:r>
            <a:r>
              <a:rPr lang="de-DE" baseline="-25000" dirty="0"/>
              <a:t>1</a:t>
            </a:r>
            <a:r>
              <a:rPr lang="de-DE" dirty="0"/>
              <a:t> &lt; T</a:t>
            </a:r>
            <a:r>
              <a:rPr lang="de-DE" baseline="-25000" dirty="0"/>
              <a:t>2</a:t>
            </a:r>
            <a:r>
              <a:rPr lang="de-DE" dirty="0"/>
              <a:t> &lt; …&lt; T</a:t>
            </a:r>
            <a:r>
              <a:rPr lang="de-DE" baseline="-25000" dirty="0"/>
              <a:t>n</a:t>
            </a:r>
            <a:r>
              <a:rPr lang="de-DE" dirty="0"/>
              <a:t> die (zufälligen) Ankunftszeiten der Kunden</a:t>
            </a:r>
          </a:p>
          <a:p>
            <a:r>
              <a:rPr lang="de-DE" dirty="0"/>
              <a:t>Die Zufallsvariablen t</a:t>
            </a:r>
            <a:r>
              <a:rPr lang="de-DE" baseline="-25000" dirty="0"/>
              <a:t>k</a:t>
            </a:r>
            <a:r>
              <a:rPr lang="de-DE" dirty="0"/>
              <a:t> = T</a:t>
            </a:r>
            <a:r>
              <a:rPr lang="de-DE" baseline="-25000" dirty="0"/>
              <a:t>k</a:t>
            </a:r>
            <a:r>
              <a:rPr lang="de-DE" dirty="0"/>
              <a:t> – T</a:t>
            </a:r>
            <a:r>
              <a:rPr lang="de-DE" baseline="-25000" dirty="0"/>
              <a:t>k-1</a:t>
            </a:r>
            <a:r>
              <a:rPr lang="de-DE" dirty="0"/>
              <a:t> (T</a:t>
            </a:r>
            <a:r>
              <a:rPr lang="de-DE" baseline="-25000" dirty="0"/>
              <a:t>0</a:t>
            </a:r>
            <a:r>
              <a:rPr lang="de-DE" dirty="0"/>
              <a:t> = 0) heissen </a:t>
            </a:r>
            <a:r>
              <a:rPr lang="de-DE" b="1" dirty="0">
                <a:solidFill>
                  <a:srgbClr val="FF0000"/>
                </a:solidFill>
              </a:rPr>
              <a:t>Zwischenankunftszeiten</a:t>
            </a:r>
            <a:r>
              <a:rPr lang="de-DE" dirty="0"/>
              <a:t> (Zazs)</a:t>
            </a:r>
          </a:p>
          <a:p>
            <a:r>
              <a:rPr lang="de-DE" dirty="0"/>
              <a:t>Es wird angenommen, dass Zazs </a:t>
            </a:r>
            <a:r>
              <a:rPr lang="de-DE" u="sng" dirty="0"/>
              <a:t>unabhängig und identisch verteilt</a:t>
            </a:r>
            <a:r>
              <a:rPr lang="de-DE" dirty="0"/>
              <a:t> sind </a:t>
            </a:r>
          </a:p>
          <a:p>
            <a:r>
              <a:rPr lang="de-DE" dirty="0"/>
              <a:t>Häufige Verteilungsfunktionen für Zazs</a:t>
            </a:r>
          </a:p>
          <a:p>
            <a:pPr lvl="1"/>
            <a:r>
              <a:rPr lang="de-DE" dirty="0">
                <a:solidFill>
                  <a:srgbClr val="FF0000"/>
                </a:solidFill>
              </a:rPr>
              <a:t>Exponentialverteilung </a:t>
            </a:r>
            <a:r>
              <a:rPr lang="de-DE" b="1" dirty="0">
                <a:solidFill>
                  <a:srgbClr val="FF0000"/>
                </a:solidFill>
              </a:rPr>
              <a:t>M</a:t>
            </a:r>
            <a:r>
              <a:rPr lang="de-DE" dirty="0"/>
              <a:t> (</a:t>
            </a:r>
            <a:r>
              <a:rPr lang="de-DE" dirty="0" err="1"/>
              <a:t>exp</a:t>
            </a:r>
            <a:r>
              <a:rPr lang="de-DE" dirty="0"/>
              <a:t>): Dichte </a:t>
            </a:r>
            <a:r>
              <a:rPr lang="de-DE" dirty="0">
                <a:solidFill>
                  <a:srgbClr val="FF0000"/>
                </a:solidFill>
              </a:rPr>
              <a:t>f(x) = </a:t>
            </a:r>
            <a:r>
              <a:rPr lang="de-DE" dirty="0">
                <a:solidFill>
                  <a:srgbClr val="FF0000"/>
                </a:solidFill>
                <a:sym typeface="Symbol"/>
              </a:rPr>
              <a:t>ge</a:t>
            </a:r>
            <a:r>
              <a:rPr lang="de-DE" baseline="30000" dirty="0">
                <a:solidFill>
                  <a:srgbClr val="FF0000"/>
                </a:solidFill>
                <a:sym typeface="Symbol"/>
              </a:rPr>
              <a:t>-gx</a:t>
            </a:r>
            <a:r>
              <a:rPr lang="de-DE" dirty="0">
                <a:sym typeface="Symbol"/>
              </a:rPr>
              <a:t> (x ≥ 0)</a:t>
            </a:r>
            <a:r>
              <a:rPr lang="de-DE" dirty="0"/>
              <a:t> </a:t>
            </a:r>
          </a:p>
          <a:p>
            <a:pPr lvl="1"/>
            <a:r>
              <a:rPr lang="de-DE" dirty="0">
                <a:solidFill>
                  <a:srgbClr val="FF0000"/>
                </a:solidFill>
              </a:rPr>
              <a:t>Erlangverteilung </a:t>
            </a:r>
            <a:r>
              <a:rPr lang="de-DE" b="1" dirty="0">
                <a:solidFill>
                  <a:srgbClr val="FF0000"/>
                </a:solidFill>
              </a:rPr>
              <a:t>E</a:t>
            </a:r>
            <a:r>
              <a:rPr lang="de-DE" b="1" baseline="-25000" dirty="0">
                <a:solidFill>
                  <a:srgbClr val="FF0000"/>
                </a:solidFill>
              </a:rPr>
              <a:t>n</a:t>
            </a:r>
            <a:r>
              <a:rPr lang="de-DE" dirty="0"/>
              <a:t>: Summe von n unabhängigen M‘s</a:t>
            </a:r>
          </a:p>
          <a:p>
            <a:pPr lvl="1"/>
            <a:r>
              <a:rPr lang="de-DE" dirty="0">
                <a:solidFill>
                  <a:srgbClr val="FF0000"/>
                </a:solidFill>
              </a:rPr>
              <a:t>Hyperexponentialverteilung </a:t>
            </a:r>
            <a:r>
              <a:rPr lang="de-DE" b="1" dirty="0">
                <a:solidFill>
                  <a:srgbClr val="FF0000"/>
                </a:solidFill>
              </a:rPr>
              <a:t>H</a:t>
            </a:r>
            <a:r>
              <a:rPr lang="de-DE" dirty="0"/>
              <a:t>: Gewichtete Summe von M‘s</a:t>
            </a:r>
          </a:p>
          <a:p>
            <a:pPr lvl="1"/>
            <a:r>
              <a:rPr lang="de-DE" dirty="0">
                <a:solidFill>
                  <a:srgbClr val="FF0000"/>
                </a:solidFill>
              </a:rPr>
              <a:t>Deterministische Verteilung </a:t>
            </a:r>
            <a:r>
              <a:rPr lang="de-DE" b="1" dirty="0">
                <a:solidFill>
                  <a:srgbClr val="FF0000"/>
                </a:solidFill>
              </a:rPr>
              <a:t>D</a:t>
            </a:r>
            <a:r>
              <a:rPr lang="de-DE" dirty="0"/>
              <a:t>: Deterministisch</a:t>
            </a:r>
          </a:p>
          <a:p>
            <a:pPr lvl="1"/>
            <a:r>
              <a:rPr lang="de-DE" dirty="0">
                <a:solidFill>
                  <a:srgbClr val="FF0000"/>
                </a:solidFill>
              </a:rPr>
              <a:t>Allgemeine Verteilung </a:t>
            </a:r>
            <a:r>
              <a:rPr lang="de-DE" b="1" dirty="0">
                <a:solidFill>
                  <a:srgbClr val="FF0000"/>
                </a:solidFill>
              </a:rPr>
              <a:t>G</a:t>
            </a:r>
            <a:r>
              <a:rPr lang="de-DE" dirty="0"/>
              <a:t>: Alles andere</a:t>
            </a:r>
          </a:p>
        </p:txBody>
      </p:sp>
    </p:spTree>
    <p:extLst>
      <p:ext uri="{BB962C8B-B14F-4D97-AF65-F5344CB8AC3E}">
        <p14:creationId xmlns:p14="http://schemas.microsoft.com/office/powerpoint/2010/main" val="2172321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Ankunftszeiten /2</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13</a:t>
            </a:fld>
            <a:endParaRPr lang="en-US" noProof="0" dirty="0"/>
          </a:p>
        </p:txBody>
      </p:sp>
      <p:sp>
        <p:nvSpPr>
          <p:cNvPr id="4" name="Content Placeholder 3"/>
          <p:cNvSpPr>
            <a:spLocks noGrp="1"/>
          </p:cNvSpPr>
          <p:nvPr>
            <p:ph sz="quarter" idx="1"/>
          </p:nvPr>
        </p:nvSpPr>
        <p:spPr/>
        <p:txBody>
          <a:bodyPr/>
          <a:lstStyle/>
          <a:p>
            <a:r>
              <a:rPr lang="de-DE" dirty="0"/>
              <a:t>Wichtige Parameter der Verteilungsfunktionen F</a:t>
            </a:r>
            <a:r>
              <a:rPr lang="de-DE" baseline="-25000" dirty="0"/>
              <a:t>t</a:t>
            </a:r>
            <a:r>
              <a:rPr lang="de-DE" dirty="0"/>
              <a:t>(x) für Zazs sind</a:t>
            </a:r>
          </a:p>
          <a:p>
            <a:pPr lvl="1"/>
            <a:r>
              <a:rPr lang="de-DE" b="1" dirty="0">
                <a:solidFill>
                  <a:srgbClr val="FF0000"/>
                </a:solidFill>
              </a:rPr>
              <a:t>Erwartungswert E[t] </a:t>
            </a:r>
            <a:r>
              <a:rPr lang="de-DE" dirty="0"/>
              <a:t>– „durchschnittliche“ Zaz</a:t>
            </a:r>
          </a:p>
          <a:p>
            <a:pPr lvl="1"/>
            <a:r>
              <a:rPr lang="de-DE" b="1" dirty="0">
                <a:solidFill>
                  <a:srgbClr val="FF0000"/>
                </a:solidFill>
              </a:rPr>
              <a:t>Varianz D[t]</a:t>
            </a:r>
          </a:p>
          <a:p>
            <a:pPr lvl="1"/>
            <a:endParaRPr lang="de-DE" b="1" dirty="0">
              <a:solidFill>
                <a:srgbClr val="FF0000"/>
              </a:solidFill>
            </a:endParaRPr>
          </a:p>
          <a:p>
            <a:r>
              <a:rPr lang="de-DE" dirty="0"/>
              <a:t>Der Kehrwert des Erwartungswertes der </a:t>
            </a:r>
            <a:r>
              <a:rPr lang="de-DE" dirty="0" err="1"/>
              <a:t>Zazs</a:t>
            </a:r>
            <a:r>
              <a:rPr lang="de-DE" dirty="0"/>
              <a:t> heißt </a:t>
            </a:r>
            <a:r>
              <a:rPr lang="de-DE" b="1" dirty="0">
                <a:solidFill>
                  <a:srgbClr val="FF0000"/>
                </a:solidFill>
              </a:rPr>
              <a:t>Ankunftsrate</a:t>
            </a:r>
            <a:r>
              <a:rPr lang="de-DE" dirty="0"/>
              <a:t> </a:t>
            </a:r>
            <a:r>
              <a:rPr lang="de-DE" b="1" dirty="0">
                <a:solidFill>
                  <a:srgbClr val="FF0000"/>
                </a:solidFill>
                <a:sym typeface="Symbol"/>
              </a:rPr>
              <a:t></a:t>
            </a:r>
            <a:r>
              <a:rPr lang="de-DE" dirty="0">
                <a:sym typeface="Symbol"/>
              </a:rPr>
              <a:t>:  = 1/E[t]</a:t>
            </a:r>
          </a:p>
          <a:p>
            <a:pPr lvl="1"/>
            <a:r>
              <a:rPr lang="de-DE" dirty="0">
                <a:sym typeface="Symbol"/>
              </a:rPr>
              <a:t>Gibt an, wie viele Kunden im Durchschnitt pro Zeiteinheit in das System Eintreten</a:t>
            </a:r>
          </a:p>
        </p:txBody>
      </p:sp>
    </p:spTree>
    <p:extLst>
      <p:ext uri="{BB962C8B-B14F-4D97-AF65-F5344CB8AC3E}">
        <p14:creationId xmlns:p14="http://schemas.microsoft.com/office/powerpoint/2010/main" val="1464443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Bedienungszeiten</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14</a:t>
            </a:fld>
            <a:endParaRPr lang="en-US" noProof="0" dirty="0"/>
          </a:p>
        </p:txBody>
      </p:sp>
      <p:sp>
        <p:nvSpPr>
          <p:cNvPr id="4" name="Content Placeholder 3"/>
          <p:cNvSpPr>
            <a:spLocks noGrp="1"/>
          </p:cNvSpPr>
          <p:nvPr>
            <p:ph sz="quarter" idx="1"/>
          </p:nvPr>
        </p:nvSpPr>
        <p:spPr>
          <a:xfrm>
            <a:off x="457200" y="1219200"/>
            <a:ext cx="8229600" cy="3649960"/>
          </a:xfrm>
        </p:spPr>
        <p:txBody>
          <a:bodyPr>
            <a:normAutofit/>
          </a:bodyPr>
          <a:lstStyle/>
          <a:p>
            <a:r>
              <a:rPr lang="de-DE" dirty="0"/>
              <a:t>Die Zeiten S</a:t>
            </a:r>
            <a:r>
              <a:rPr lang="de-DE" baseline="-25000" dirty="0"/>
              <a:t>1</a:t>
            </a:r>
            <a:r>
              <a:rPr lang="de-DE" dirty="0"/>
              <a:t>, S</a:t>
            </a:r>
            <a:r>
              <a:rPr lang="de-DE" baseline="-25000" dirty="0"/>
              <a:t>2</a:t>
            </a:r>
            <a:r>
              <a:rPr lang="de-DE" dirty="0"/>
              <a:t>, … der „Abarbeitung“ an der Station werden auch als </a:t>
            </a:r>
            <a:r>
              <a:rPr lang="de-DE" u="sng" dirty="0"/>
              <a:t>identisch verteilte und unabhängige</a:t>
            </a:r>
            <a:r>
              <a:rPr lang="de-DE" dirty="0"/>
              <a:t> Zufallsvariablen modelliert </a:t>
            </a:r>
          </a:p>
          <a:p>
            <a:r>
              <a:rPr lang="de-DE" dirty="0"/>
              <a:t>Die Verteilungsfunktion der </a:t>
            </a:r>
            <a:r>
              <a:rPr lang="de-DE" dirty="0" err="1"/>
              <a:t>S</a:t>
            </a:r>
            <a:r>
              <a:rPr lang="de-DE" baseline="-25000" dirty="0" err="1"/>
              <a:t>k</a:t>
            </a:r>
            <a:r>
              <a:rPr lang="de-DE" dirty="0"/>
              <a:t> sei </a:t>
            </a:r>
            <a:r>
              <a:rPr lang="de-DE" dirty="0">
                <a:solidFill>
                  <a:srgbClr val="FF0000"/>
                </a:solidFill>
              </a:rPr>
              <a:t>F</a:t>
            </a:r>
            <a:r>
              <a:rPr lang="de-DE" baseline="-25000" dirty="0">
                <a:solidFill>
                  <a:srgbClr val="FF0000"/>
                </a:solidFill>
              </a:rPr>
              <a:t>S</a:t>
            </a:r>
            <a:r>
              <a:rPr lang="de-DE" dirty="0">
                <a:solidFill>
                  <a:srgbClr val="FF0000"/>
                </a:solidFill>
              </a:rPr>
              <a:t>(x)</a:t>
            </a:r>
            <a:r>
              <a:rPr lang="de-DE" dirty="0"/>
              <a:t> mit Erwartungswert </a:t>
            </a:r>
            <a:r>
              <a:rPr lang="de-DE" dirty="0">
                <a:solidFill>
                  <a:srgbClr val="FF0000"/>
                </a:solidFill>
              </a:rPr>
              <a:t>E[S]</a:t>
            </a:r>
            <a:r>
              <a:rPr lang="de-DE" dirty="0"/>
              <a:t> und Varianz </a:t>
            </a:r>
            <a:r>
              <a:rPr lang="de-DE" dirty="0">
                <a:solidFill>
                  <a:srgbClr val="FF0000"/>
                </a:solidFill>
              </a:rPr>
              <a:t>D[S]</a:t>
            </a:r>
          </a:p>
          <a:p>
            <a:r>
              <a:rPr lang="de-DE" dirty="0"/>
              <a:t>Der Kehrwert dieses Erwartungswerts </a:t>
            </a:r>
            <a:r>
              <a:rPr lang="de-DE" dirty="0">
                <a:solidFill>
                  <a:srgbClr val="FF0000"/>
                </a:solidFill>
              </a:rPr>
              <a:t>E[S]</a:t>
            </a:r>
            <a:r>
              <a:rPr lang="de-DE" dirty="0"/>
              <a:t> heisst die </a:t>
            </a:r>
            <a:r>
              <a:rPr lang="de-DE" b="1" dirty="0">
                <a:solidFill>
                  <a:srgbClr val="FF0000"/>
                </a:solidFill>
              </a:rPr>
              <a:t>Bedienrate </a:t>
            </a:r>
            <a:r>
              <a:rPr lang="de-DE" b="1" dirty="0">
                <a:solidFill>
                  <a:srgbClr val="FF0000"/>
                </a:solidFill>
                <a:sym typeface="Symbol"/>
              </a:rPr>
              <a:t></a:t>
            </a:r>
            <a:r>
              <a:rPr lang="de-DE" dirty="0">
                <a:sym typeface="Symbol"/>
              </a:rPr>
              <a:t>:  = 1/</a:t>
            </a:r>
            <a:r>
              <a:rPr lang="de-DE" dirty="0"/>
              <a:t>E[S] </a:t>
            </a:r>
          </a:p>
          <a:p>
            <a:pPr lvl="1"/>
            <a:r>
              <a:rPr lang="de-DE" dirty="0"/>
              <a:t>Eine Interpretation?</a:t>
            </a:r>
          </a:p>
        </p:txBody>
      </p:sp>
      <p:sp>
        <p:nvSpPr>
          <p:cNvPr id="5" name="Content Placeholder 4"/>
          <p:cNvSpPr>
            <a:spLocks noGrp="1"/>
          </p:cNvSpPr>
          <p:nvPr>
            <p:ph sz="quarter" idx="13"/>
          </p:nvPr>
        </p:nvSpPr>
        <p:spPr>
          <a:xfrm>
            <a:off x="467544" y="4797152"/>
            <a:ext cx="8280920" cy="1561728"/>
          </a:xfrm>
        </p:spPr>
        <p:txBody>
          <a:bodyPr>
            <a:normAutofit/>
          </a:bodyPr>
          <a:lstStyle/>
          <a:p>
            <a:r>
              <a:rPr lang="de-DE" dirty="0"/>
              <a:t>Wie viele Kunden im Durchschnitt pro Zeiteinheit von der Bedienungsstation abgefertigt werden können</a:t>
            </a:r>
          </a:p>
        </p:txBody>
      </p:sp>
    </p:spTree>
    <p:extLst>
      <p:ext uri="{BB962C8B-B14F-4D97-AF65-F5344CB8AC3E}">
        <p14:creationId xmlns:p14="http://schemas.microsoft.com/office/powerpoint/2010/main" val="1484243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Formel von Little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15</a:t>
            </a:fld>
            <a:endParaRPr lang="en-US" noProof="0" dirty="0"/>
          </a:p>
        </p:txBody>
      </p:sp>
      <p:sp>
        <p:nvSpPr>
          <p:cNvPr id="4" name="Inhaltsplatzhalter 3"/>
          <p:cNvSpPr>
            <a:spLocks noGrp="1"/>
          </p:cNvSpPr>
          <p:nvPr>
            <p:ph sz="quarter" idx="1"/>
          </p:nvPr>
        </p:nvSpPr>
        <p:spPr>
          <a:xfrm>
            <a:off x="457200" y="1219200"/>
            <a:ext cx="8229600" cy="5378152"/>
          </a:xfrm>
        </p:spPr>
        <p:txBody>
          <a:bodyPr>
            <a:normAutofit/>
          </a:bodyPr>
          <a:lstStyle/>
          <a:p>
            <a:r>
              <a:rPr lang="de-DE" dirty="0"/>
              <a:t>Sei für ein System</a:t>
            </a:r>
          </a:p>
          <a:p>
            <a:pPr lvl="1"/>
            <a:r>
              <a:rPr lang="de-DE" b="1" dirty="0" err="1">
                <a:solidFill>
                  <a:srgbClr val="FF0000"/>
                </a:solidFill>
              </a:rPr>
              <a:t>N</a:t>
            </a:r>
            <a:r>
              <a:rPr lang="de-DE" b="1" baseline="-25000" dirty="0" err="1">
                <a:solidFill>
                  <a:srgbClr val="FF0000"/>
                </a:solidFill>
              </a:rPr>
              <a:t>t</a:t>
            </a:r>
            <a:r>
              <a:rPr lang="de-DE" dirty="0"/>
              <a:t> : </a:t>
            </a:r>
            <a:r>
              <a:rPr lang="de-DE" dirty="0">
                <a:solidFill>
                  <a:srgbClr val="0070C0"/>
                </a:solidFill>
              </a:rPr>
              <a:t>Anzahl der Kunden im System </a:t>
            </a:r>
            <a:r>
              <a:rPr lang="de-DE" dirty="0"/>
              <a:t>zur Zeit t</a:t>
            </a:r>
          </a:p>
          <a:p>
            <a:pPr lvl="1"/>
            <a:r>
              <a:rPr lang="de-DE" b="1">
                <a:solidFill>
                  <a:srgbClr val="FF0000"/>
                </a:solidFill>
              </a:rPr>
              <a:t>V</a:t>
            </a:r>
            <a:r>
              <a:rPr lang="de-DE"/>
              <a:t> </a:t>
            </a:r>
            <a:r>
              <a:rPr lang="de-DE" dirty="0"/>
              <a:t>: </a:t>
            </a:r>
            <a:r>
              <a:rPr lang="de-DE" dirty="0">
                <a:solidFill>
                  <a:srgbClr val="0070C0"/>
                </a:solidFill>
              </a:rPr>
              <a:t>die Verweilzeit </a:t>
            </a:r>
            <a:r>
              <a:rPr lang="de-DE">
                <a:solidFill>
                  <a:srgbClr val="0070C0"/>
                </a:solidFill>
              </a:rPr>
              <a:t>eines Kunden</a:t>
            </a:r>
            <a:r>
              <a:rPr lang="de-DE"/>
              <a:t> </a:t>
            </a:r>
            <a:r>
              <a:rPr lang="de-DE" dirty="0"/>
              <a:t>im System</a:t>
            </a:r>
          </a:p>
          <a:p>
            <a:pPr lvl="1"/>
            <a:r>
              <a:rPr lang="de-DE" dirty="0"/>
              <a:t> </a:t>
            </a:r>
            <a:r>
              <a:rPr lang="de-DE" b="1" dirty="0">
                <a:solidFill>
                  <a:srgbClr val="FF0000"/>
                </a:solidFill>
                <a:sym typeface="Symbol"/>
              </a:rPr>
              <a:t></a:t>
            </a:r>
            <a:r>
              <a:rPr lang="de-DE" dirty="0">
                <a:sym typeface="Symbol"/>
              </a:rPr>
              <a:t>  </a:t>
            </a:r>
            <a:r>
              <a:rPr lang="de-DE" dirty="0"/>
              <a:t>: die </a:t>
            </a:r>
            <a:r>
              <a:rPr lang="de-DE" dirty="0">
                <a:solidFill>
                  <a:srgbClr val="0070C0"/>
                </a:solidFill>
              </a:rPr>
              <a:t>Ankunftsrate der Kunden</a:t>
            </a:r>
          </a:p>
          <a:p>
            <a:r>
              <a:rPr lang="de-DE" dirty="0"/>
              <a:t>Dann sagt die </a:t>
            </a:r>
            <a:r>
              <a:rPr lang="de-DE" b="1" dirty="0">
                <a:solidFill>
                  <a:srgbClr val="FF0000"/>
                </a:solidFill>
              </a:rPr>
              <a:t>Formel von Little </a:t>
            </a:r>
            <a:r>
              <a:rPr lang="de-DE" dirty="0"/>
              <a:t>(</a:t>
            </a:r>
            <a:r>
              <a:rPr lang="de-DE" dirty="0">
                <a:hlinkClick r:id="rId2"/>
              </a:rPr>
              <a:t>Link</a:t>
            </a:r>
            <a:r>
              <a:rPr lang="de-DE" dirty="0"/>
              <a:t>)</a:t>
            </a:r>
          </a:p>
          <a:p>
            <a:pPr lvl="1"/>
            <a:endParaRPr lang="de-DE" dirty="0"/>
          </a:p>
          <a:p>
            <a:endParaRPr lang="de-DE" dirty="0"/>
          </a:p>
          <a:p>
            <a:r>
              <a:rPr lang="de-DE" dirty="0"/>
              <a:t>D.h. in etwa: „Ankunftsrate </a:t>
            </a:r>
            <a:r>
              <a:rPr lang="de-DE" sz="2800" dirty="0">
                <a:sym typeface="Symbol"/>
              </a:rPr>
              <a:t> </a:t>
            </a:r>
            <a:r>
              <a:rPr lang="de-DE" dirty="0"/>
              <a:t>= (durchschnittliche Kundenanzahl im System) / (durchschnittliche Verweilzeit im System)</a:t>
            </a:r>
          </a:p>
          <a:p>
            <a:r>
              <a:rPr lang="de-DE" dirty="0"/>
              <a:t>Man kann aus zwei der Variablen jeweils den dritten Parameter berechnen usw.</a:t>
            </a:r>
          </a:p>
        </p:txBody>
      </p:sp>
      <p:sp>
        <p:nvSpPr>
          <p:cNvPr id="5" name="Textfeld 4"/>
          <p:cNvSpPr txBox="1"/>
          <p:nvPr/>
        </p:nvSpPr>
        <p:spPr>
          <a:xfrm>
            <a:off x="3419872" y="3645024"/>
            <a:ext cx="2592288" cy="523220"/>
          </a:xfrm>
          <a:prstGeom prst="rect">
            <a:avLst/>
          </a:prstGeom>
          <a:noFill/>
          <a:ln w="12700">
            <a:solidFill>
              <a:schemeClr val="tx1"/>
            </a:solidFill>
          </a:ln>
        </p:spPr>
        <p:txBody>
          <a:bodyPr wrap="square" rtlCol="0" anchor="ctr">
            <a:spAutoFit/>
          </a:bodyPr>
          <a:lstStyle/>
          <a:p>
            <a:pPr marL="0" lvl="1" algn="ctr"/>
            <a:r>
              <a:rPr lang="de-DE" sz="2800" dirty="0"/>
              <a:t>E[N] = </a:t>
            </a:r>
            <a:r>
              <a:rPr lang="de-DE" sz="2800" dirty="0">
                <a:sym typeface="Symbol"/>
              </a:rPr>
              <a:t> </a:t>
            </a:r>
            <a:r>
              <a:rPr lang="de-DE" sz="2800" dirty="0"/>
              <a:t>* E[V]</a:t>
            </a:r>
          </a:p>
        </p:txBody>
      </p:sp>
    </p:spTree>
    <p:extLst>
      <p:ext uri="{BB962C8B-B14F-4D97-AF65-F5344CB8AC3E}">
        <p14:creationId xmlns:p14="http://schemas.microsoft.com/office/powerpoint/2010/main" val="174495567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Zusammenfassung Konzepte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16</a:t>
            </a:fld>
            <a:endParaRPr lang="en-US" noProof="0" dirty="0"/>
          </a:p>
        </p:txBody>
      </p:sp>
      <p:sp>
        <p:nvSpPr>
          <p:cNvPr id="4" name="Inhaltsplatzhalter 3"/>
          <p:cNvSpPr>
            <a:spLocks noGrp="1"/>
          </p:cNvSpPr>
          <p:nvPr>
            <p:ph sz="quarter" idx="1"/>
          </p:nvPr>
        </p:nvSpPr>
        <p:spPr/>
        <p:txBody>
          <a:bodyPr/>
          <a:lstStyle/>
          <a:p>
            <a:r>
              <a:rPr lang="de-DE" dirty="0"/>
              <a:t>Video „</a:t>
            </a:r>
            <a:r>
              <a:rPr lang="de-DE" dirty="0" err="1"/>
              <a:t>Concepts</a:t>
            </a:r>
            <a:r>
              <a:rPr lang="de-DE" dirty="0"/>
              <a:t> </a:t>
            </a:r>
            <a:r>
              <a:rPr lang="de-DE" dirty="0" err="1"/>
              <a:t>of</a:t>
            </a:r>
            <a:r>
              <a:rPr lang="de-DE" dirty="0"/>
              <a:t> </a:t>
            </a:r>
            <a:r>
              <a:rPr lang="de-DE" dirty="0" err="1"/>
              <a:t>Queueing</a:t>
            </a:r>
            <a:r>
              <a:rPr lang="de-DE" dirty="0"/>
              <a:t> </a:t>
            </a:r>
            <a:r>
              <a:rPr lang="de-DE" dirty="0" err="1"/>
              <a:t>Theory</a:t>
            </a:r>
            <a:r>
              <a:rPr lang="de-DE" dirty="0"/>
              <a:t>“</a:t>
            </a:r>
          </a:p>
          <a:p>
            <a:pPr lvl="1"/>
            <a:r>
              <a:rPr lang="de-DE" dirty="0">
                <a:hlinkClick r:id="rId2"/>
              </a:rPr>
              <a:t>https://www.youtube.com/watch?v=QUT3pOTdHgA</a:t>
            </a:r>
            <a:endParaRPr lang="de-DE" dirty="0"/>
          </a:p>
          <a:p>
            <a:pPr lvl="1"/>
            <a:r>
              <a:rPr lang="de-DE" dirty="0"/>
              <a:t>Bis ca. 2:20 (</a:t>
            </a:r>
            <a:r>
              <a:rPr lang="de-DE" dirty="0" err="1"/>
              <a:t>min:sec</a:t>
            </a:r>
            <a:r>
              <a:rPr lang="de-DE" dirty="0"/>
              <a:t>)</a:t>
            </a:r>
          </a:p>
          <a:p>
            <a:r>
              <a:rPr lang="de-DE" dirty="0"/>
              <a:t>Video 2.1 zum </a:t>
            </a:r>
            <a:r>
              <a:rPr lang="de-DE" dirty="0" err="1"/>
              <a:t>Operations</a:t>
            </a:r>
            <a:r>
              <a:rPr lang="de-DE" dirty="0"/>
              <a:t> Management </a:t>
            </a:r>
            <a:r>
              <a:rPr lang="de-DE" dirty="0" err="1"/>
              <a:t>Tutorial</a:t>
            </a:r>
            <a:r>
              <a:rPr lang="de-DE" dirty="0"/>
              <a:t> Auslastung und Wartezeiten in Bediensystemen</a:t>
            </a:r>
          </a:p>
          <a:p>
            <a:pPr lvl="1"/>
            <a:r>
              <a:rPr lang="de-DE" dirty="0"/>
              <a:t>https://www.youtube.com/watch?v=bDkDejhgnG0</a:t>
            </a:r>
          </a:p>
          <a:p>
            <a:pPr lvl="1"/>
            <a:r>
              <a:rPr lang="de-DE" dirty="0"/>
              <a:t>Von 0:50 bis ca. 3:50 (</a:t>
            </a:r>
            <a:r>
              <a:rPr lang="de-DE" dirty="0" err="1"/>
              <a:t>min:sec</a:t>
            </a:r>
            <a:r>
              <a:rPr lang="de-DE" dirty="0"/>
              <a:t>)</a:t>
            </a:r>
          </a:p>
        </p:txBody>
      </p:sp>
    </p:spTree>
    <p:extLst>
      <p:ext uri="{BB962C8B-B14F-4D97-AF65-F5344CB8AC3E}">
        <p14:creationId xmlns:p14="http://schemas.microsoft.com/office/powerpoint/2010/main" val="1127211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17</a:t>
            </a:fld>
            <a:endParaRPr lang="de-DE" dirty="0"/>
          </a:p>
        </p:txBody>
      </p:sp>
      <p:sp>
        <p:nvSpPr>
          <p:cNvPr id="3" name="Titel 2"/>
          <p:cNvSpPr>
            <a:spLocks noGrp="1"/>
          </p:cNvSpPr>
          <p:nvPr>
            <p:ph type="title"/>
          </p:nvPr>
        </p:nvSpPr>
        <p:spPr/>
        <p:txBody>
          <a:bodyPr/>
          <a:lstStyle/>
          <a:p>
            <a:r>
              <a:rPr lang="de-DE" dirty="0"/>
              <a:t>Warteschlangentheorie – Vergleich der Systeme</a:t>
            </a:r>
          </a:p>
        </p:txBody>
      </p:sp>
    </p:spTree>
    <p:extLst>
      <p:ext uri="{BB962C8B-B14F-4D97-AF65-F5344CB8AC3E}">
        <p14:creationId xmlns:p14="http://schemas.microsoft.com/office/powerpoint/2010/main" val="65910709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Charakterisierung der Systeme</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18</a:t>
            </a:fld>
            <a:endParaRPr lang="en-US" noProof="0" dirty="0"/>
          </a:p>
        </p:txBody>
      </p:sp>
      <p:sp>
        <p:nvSpPr>
          <p:cNvPr id="4" name="Content Placeholder 3"/>
          <p:cNvSpPr>
            <a:spLocks noGrp="1"/>
          </p:cNvSpPr>
          <p:nvPr>
            <p:ph sz="quarter" idx="1"/>
          </p:nvPr>
        </p:nvSpPr>
        <p:spPr/>
        <p:txBody>
          <a:bodyPr/>
          <a:lstStyle/>
          <a:p>
            <a:r>
              <a:rPr lang="de-DE" dirty="0"/>
              <a:t>Die „Entwickler“ der Warteschlangentheorie (D.G. </a:t>
            </a:r>
            <a:r>
              <a:rPr lang="de-DE" dirty="0">
                <a:solidFill>
                  <a:srgbClr val="0070C0"/>
                </a:solidFill>
              </a:rPr>
              <a:t>Kendall</a:t>
            </a:r>
            <a:r>
              <a:rPr lang="de-DE" dirty="0"/>
              <a:t> und B.W. </a:t>
            </a:r>
            <a:r>
              <a:rPr lang="de-DE" dirty="0">
                <a:solidFill>
                  <a:srgbClr val="0070C0"/>
                </a:solidFill>
              </a:rPr>
              <a:t>Gnedenko</a:t>
            </a:r>
            <a:r>
              <a:rPr lang="de-DE" dirty="0"/>
              <a:t>) haben zur Charakterisierung der Systeme folgende Notation eingeführt: </a:t>
            </a:r>
            <a:r>
              <a:rPr lang="de-DE" b="1" dirty="0">
                <a:solidFill>
                  <a:srgbClr val="FF0000"/>
                </a:solidFill>
              </a:rPr>
              <a:t>A / B / c / m</a:t>
            </a:r>
            <a:r>
              <a:rPr lang="de-DE" dirty="0"/>
              <a:t>, wobei</a:t>
            </a:r>
          </a:p>
          <a:p>
            <a:r>
              <a:rPr lang="de-DE" b="1" dirty="0">
                <a:solidFill>
                  <a:srgbClr val="FF0000"/>
                </a:solidFill>
              </a:rPr>
              <a:t>A</a:t>
            </a:r>
            <a:r>
              <a:rPr lang="de-DE" dirty="0"/>
              <a:t> = Verteilungstyp der Zwischenankunftszeiten </a:t>
            </a:r>
          </a:p>
          <a:p>
            <a:r>
              <a:rPr lang="de-DE" b="1" dirty="0">
                <a:solidFill>
                  <a:srgbClr val="FF0000"/>
                </a:solidFill>
              </a:rPr>
              <a:t>B</a:t>
            </a:r>
            <a:r>
              <a:rPr lang="de-DE" dirty="0"/>
              <a:t> = Verteilungstyp der Bedienungszeiten </a:t>
            </a:r>
          </a:p>
          <a:p>
            <a:r>
              <a:rPr lang="de-DE" b="1" dirty="0">
                <a:solidFill>
                  <a:srgbClr val="FF0000"/>
                </a:solidFill>
              </a:rPr>
              <a:t>c</a:t>
            </a:r>
            <a:r>
              <a:rPr lang="de-DE" dirty="0"/>
              <a:t> = Anzahl der parallelen Bediener </a:t>
            </a:r>
          </a:p>
          <a:p>
            <a:r>
              <a:rPr lang="de-DE" b="1" dirty="0">
                <a:solidFill>
                  <a:srgbClr val="FF0000"/>
                </a:solidFill>
              </a:rPr>
              <a:t>m</a:t>
            </a:r>
            <a:r>
              <a:rPr lang="de-DE" dirty="0"/>
              <a:t> = Kapazität des Warteraums</a:t>
            </a:r>
            <a:br>
              <a:rPr lang="de-DE" dirty="0"/>
            </a:br>
            <a:endParaRPr lang="de-DE" dirty="0"/>
          </a:p>
        </p:txBody>
      </p:sp>
    </p:spTree>
    <p:extLst>
      <p:ext uri="{BB962C8B-B14F-4D97-AF65-F5344CB8AC3E}">
        <p14:creationId xmlns:p14="http://schemas.microsoft.com/office/powerpoint/2010/main" val="4055215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Vergleich der Systementwürfe</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19</a:t>
            </a:fld>
            <a:endParaRPr lang="en-US" noProof="0" dirty="0"/>
          </a:p>
        </p:txBody>
      </p:sp>
      <p:sp>
        <p:nvSpPr>
          <p:cNvPr id="4" name="Content Placeholder 3"/>
          <p:cNvSpPr>
            <a:spLocks noGrp="1"/>
          </p:cNvSpPr>
          <p:nvPr>
            <p:ph sz="quarter" idx="1"/>
          </p:nvPr>
        </p:nvSpPr>
        <p:spPr>
          <a:xfrm>
            <a:off x="457200" y="1219200"/>
            <a:ext cx="8229600" cy="913656"/>
          </a:xfrm>
        </p:spPr>
        <p:txBody>
          <a:bodyPr/>
          <a:lstStyle/>
          <a:p>
            <a:r>
              <a:rPr lang="de-DE" dirty="0"/>
              <a:t>Die Formeln lassen alltägliche Situationen oder alternative Entwürfe bei BS untersuchen:</a:t>
            </a:r>
          </a:p>
        </p:txBody>
      </p:sp>
      <p:sp>
        <p:nvSpPr>
          <p:cNvPr id="11" name="Flowchart: Connector 10"/>
          <p:cNvSpPr/>
          <p:nvPr/>
        </p:nvSpPr>
        <p:spPr>
          <a:xfrm>
            <a:off x="2804624" y="2211683"/>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13" name="Straight Arrow Connector 12"/>
          <p:cNvCxnSpPr/>
          <p:nvPr/>
        </p:nvCxnSpPr>
        <p:spPr>
          <a:xfrm>
            <a:off x="3294616" y="2460406"/>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5" name="Group 17"/>
          <p:cNvGrpSpPr/>
          <p:nvPr/>
        </p:nvGrpSpPr>
        <p:grpSpPr>
          <a:xfrm>
            <a:off x="748475" y="2465097"/>
            <a:ext cx="2056149" cy="682506"/>
            <a:chOff x="748475" y="2265715"/>
            <a:chExt cx="2056149" cy="682506"/>
          </a:xfrm>
        </p:grpSpPr>
        <p:sp>
          <p:nvSpPr>
            <p:cNvPr id="6" name="Rectangle 5"/>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7" name="Rectangle 6"/>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 name="Rectangle 7"/>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9" name="Rectangle 8"/>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 name="Rectangle 9"/>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12" name="Straight Arrow Connector 11"/>
            <p:cNvCxnSpPr>
              <a:stCxn id="10" idx="3"/>
              <a:endCxn id="11" idx="2"/>
            </p:cNvCxnSpPr>
            <p:nvPr/>
          </p:nvCxnSpPr>
          <p:spPr>
            <a:xfrm flipV="1">
              <a:off x="2504055" y="2265715"/>
              <a:ext cx="300569" cy="368257"/>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48475" y="2649551"/>
              <a:ext cx="31515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0" idx="3"/>
              <a:endCxn id="20" idx="2"/>
            </p:cNvCxnSpPr>
            <p:nvPr/>
          </p:nvCxnSpPr>
          <p:spPr>
            <a:xfrm>
              <a:off x="2504055" y="2633972"/>
              <a:ext cx="300569" cy="314249"/>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sp>
        <p:nvSpPr>
          <p:cNvPr id="20" name="Flowchart: Connector 19"/>
          <p:cNvSpPr/>
          <p:nvPr/>
        </p:nvSpPr>
        <p:spPr>
          <a:xfrm>
            <a:off x="2804624" y="2894189"/>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21" name="Straight Arrow Connector 20"/>
          <p:cNvCxnSpPr/>
          <p:nvPr/>
        </p:nvCxnSpPr>
        <p:spPr>
          <a:xfrm>
            <a:off x="3294616" y="3142912"/>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74758" y="3278128"/>
            <a:ext cx="2948243" cy="707886"/>
          </a:xfrm>
          <a:prstGeom prst="rect">
            <a:avLst/>
          </a:prstGeom>
          <a:noFill/>
        </p:spPr>
        <p:txBody>
          <a:bodyPr wrap="none" rtlCol="0">
            <a:spAutoFit/>
          </a:bodyPr>
          <a:lstStyle/>
          <a:p>
            <a:r>
              <a:rPr lang="de-DE" sz="2000" dirty="0">
                <a:solidFill>
                  <a:srgbClr val="0070C0"/>
                </a:solidFill>
              </a:rPr>
              <a:t>A: 1 Schlange,</a:t>
            </a:r>
            <a:br>
              <a:rPr lang="de-DE" sz="2000" dirty="0">
                <a:solidFill>
                  <a:srgbClr val="0070C0"/>
                </a:solidFill>
              </a:rPr>
            </a:br>
            <a:r>
              <a:rPr lang="de-DE" sz="2000" dirty="0">
                <a:solidFill>
                  <a:srgbClr val="0070C0"/>
                </a:solidFill>
              </a:rPr>
              <a:t>  2 Bediener (Flughafen)</a:t>
            </a:r>
          </a:p>
        </p:txBody>
      </p:sp>
      <p:grpSp>
        <p:nvGrpSpPr>
          <p:cNvPr id="15" name="Group 65"/>
          <p:cNvGrpSpPr/>
          <p:nvPr/>
        </p:nvGrpSpPr>
        <p:grpSpPr>
          <a:xfrm>
            <a:off x="4562003" y="2211683"/>
            <a:ext cx="3434916" cy="1189334"/>
            <a:chOff x="4231902" y="2526780"/>
            <a:chExt cx="3434916" cy="1189334"/>
          </a:xfrm>
        </p:grpSpPr>
        <p:sp>
          <p:nvSpPr>
            <p:cNvPr id="28" name="Flowchart: Connector 27"/>
            <p:cNvSpPr/>
            <p:nvPr/>
          </p:nvSpPr>
          <p:spPr>
            <a:xfrm>
              <a:off x="6876256" y="2526780"/>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29" name="Straight Arrow Connector 28"/>
            <p:cNvCxnSpPr/>
            <p:nvPr/>
          </p:nvCxnSpPr>
          <p:spPr>
            <a:xfrm>
              <a:off x="7366248" y="2775503"/>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16" name="Group 29"/>
            <p:cNvGrpSpPr/>
            <p:nvPr/>
          </p:nvGrpSpPr>
          <p:grpSpPr>
            <a:xfrm>
              <a:off x="4716016" y="2553765"/>
              <a:ext cx="2160240" cy="589147"/>
              <a:chOff x="644384" y="2412234"/>
              <a:chExt cx="2160240" cy="589147"/>
            </a:xfrm>
          </p:grpSpPr>
          <p:sp>
            <p:nvSpPr>
              <p:cNvPr id="31" name="Rectangle 30"/>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32" name="Rectangle 31"/>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33" name="Rectangle 32"/>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34" name="Rectangle 33"/>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35" name="Rectangle 34"/>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37" name="Straight Arrow Connector 36"/>
              <p:cNvCxnSpPr/>
              <p:nvPr/>
            </p:nvCxnSpPr>
            <p:spPr>
              <a:xfrm flipV="1">
                <a:off x="644384" y="2649551"/>
                <a:ext cx="419241" cy="35183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35" idx="3"/>
                <a:endCxn id="28" idx="2"/>
              </p:cNvCxnSpPr>
              <p:nvPr/>
            </p:nvCxnSpPr>
            <p:spPr>
              <a:xfrm>
                <a:off x="2504055" y="2633972"/>
                <a:ext cx="300569" cy="4691"/>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sp>
          <p:nvSpPr>
            <p:cNvPr id="39" name="Flowchart: Connector 38"/>
            <p:cNvSpPr/>
            <p:nvPr/>
          </p:nvSpPr>
          <p:spPr>
            <a:xfrm>
              <a:off x="6876256" y="3209286"/>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40" name="Straight Arrow Connector 39"/>
            <p:cNvCxnSpPr/>
            <p:nvPr/>
          </p:nvCxnSpPr>
          <p:spPr>
            <a:xfrm>
              <a:off x="7366248" y="3458009"/>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17" name="Group 43"/>
            <p:cNvGrpSpPr/>
            <p:nvPr/>
          </p:nvGrpSpPr>
          <p:grpSpPr>
            <a:xfrm>
              <a:off x="4231902" y="3147603"/>
              <a:ext cx="2644354" cy="546023"/>
              <a:chOff x="145691" y="2309686"/>
              <a:chExt cx="2644354" cy="546023"/>
            </a:xfrm>
          </p:grpSpPr>
          <p:sp>
            <p:nvSpPr>
              <p:cNvPr id="45" name="Rectangle 44"/>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46" name="Rectangle 45"/>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47" name="Rectangle 46"/>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48" name="Rectangle 47"/>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49" name="Rectangle 48"/>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51" name="Straight Arrow Connector 50"/>
              <p:cNvCxnSpPr/>
              <p:nvPr/>
            </p:nvCxnSpPr>
            <p:spPr>
              <a:xfrm>
                <a:off x="145691" y="2309686"/>
                <a:ext cx="484114"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9" idx="3"/>
                <a:endCxn id="39" idx="2"/>
              </p:cNvCxnSpPr>
              <p:nvPr/>
            </p:nvCxnSpPr>
            <p:spPr>
              <a:xfrm flipV="1">
                <a:off x="2504055" y="2624783"/>
                <a:ext cx="285990" cy="9189"/>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629805" y="2315835"/>
                <a:ext cx="433820" cy="339865"/>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grpSp>
      <p:sp>
        <p:nvSpPr>
          <p:cNvPr id="67" name="TextBox 66"/>
          <p:cNvSpPr txBox="1"/>
          <p:nvPr/>
        </p:nvSpPr>
        <p:spPr>
          <a:xfrm>
            <a:off x="4348582" y="3462793"/>
            <a:ext cx="4338218" cy="707886"/>
          </a:xfrm>
          <a:prstGeom prst="rect">
            <a:avLst/>
          </a:prstGeom>
          <a:noFill/>
        </p:spPr>
        <p:txBody>
          <a:bodyPr wrap="square" rtlCol="0">
            <a:spAutoFit/>
          </a:bodyPr>
          <a:lstStyle/>
          <a:p>
            <a:r>
              <a:rPr lang="de-DE" sz="2000" dirty="0">
                <a:solidFill>
                  <a:srgbClr val="0070C0"/>
                </a:solidFill>
              </a:rPr>
              <a:t>B: 2 Schlangen, 2 Bediener (Kunden schon bei Ankunft zu 50% verteilt)</a:t>
            </a:r>
          </a:p>
        </p:txBody>
      </p:sp>
      <p:grpSp>
        <p:nvGrpSpPr>
          <p:cNvPr id="18" name="Group 118"/>
          <p:cNvGrpSpPr/>
          <p:nvPr/>
        </p:nvGrpSpPr>
        <p:grpSpPr>
          <a:xfrm>
            <a:off x="801335" y="4253167"/>
            <a:ext cx="2950802" cy="506828"/>
            <a:chOff x="801335" y="4370488"/>
            <a:chExt cx="2950802" cy="506828"/>
          </a:xfrm>
        </p:grpSpPr>
        <p:sp>
          <p:nvSpPr>
            <p:cNvPr id="69" name="Flowchart: Connector 68"/>
            <p:cNvSpPr/>
            <p:nvPr/>
          </p:nvSpPr>
          <p:spPr>
            <a:xfrm>
              <a:off x="2961575" y="4370488"/>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70" name="Straight Arrow Connector 69"/>
            <p:cNvCxnSpPr/>
            <p:nvPr/>
          </p:nvCxnSpPr>
          <p:spPr>
            <a:xfrm>
              <a:off x="3451567" y="4619211"/>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19" name="Group 70"/>
            <p:cNvGrpSpPr/>
            <p:nvPr/>
          </p:nvGrpSpPr>
          <p:grpSpPr>
            <a:xfrm>
              <a:off x="801335" y="4397473"/>
              <a:ext cx="2160240" cy="443475"/>
              <a:chOff x="644384" y="2412234"/>
              <a:chExt cx="2160240" cy="443475"/>
            </a:xfrm>
          </p:grpSpPr>
          <p:sp>
            <p:nvSpPr>
              <p:cNvPr id="83" name="Rectangle 82"/>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4" name="Rectangle 83"/>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5" name="Rectangle 84"/>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6" name="Rectangle 85"/>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7" name="Rectangle 86"/>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88" name="Straight Arrow Connector 87"/>
              <p:cNvCxnSpPr/>
              <p:nvPr/>
            </p:nvCxnSpPr>
            <p:spPr>
              <a:xfrm>
                <a:off x="644384" y="2649551"/>
                <a:ext cx="419241"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87" idx="3"/>
                <a:endCxn id="69" idx="2"/>
              </p:cNvCxnSpPr>
              <p:nvPr/>
            </p:nvCxnSpPr>
            <p:spPr>
              <a:xfrm>
                <a:off x="2504055" y="2633972"/>
                <a:ext cx="300569" cy="4691"/>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sp>
          <p:nvSpPr>
            <p:cNvPr id="91" name="Rectangle 90"/>
            <p:cNvSpPr/>
            <p:nvPr/>
          </p:nvSpPr>
          <p:spPr>
            <a:xfrm>
              <a:off x="3061024" y="4479058"/>
              <a:ext cx="298906" cy="14401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2" name="Rectangle 91"/>
            <p:cNvSpPr/>
            <p:nvPr/>
          </p:nvSpPr>
          <p:spPr>
            <a:xfrm>
              <a:off x="3063971" y="4668746"/>
              <a:ext cx="298906" cy="14401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95" name="TextBox 94"/>
          <p:cNvSpPr txBox="1"/>
          <p:nvPr/>
        </p:nvSpPr>
        <p:spPr>
          <a:xfrm>
            <a:off x="473656" y="4946552"/>
            <a:ext cx="3334567" cy="707886"/>
          </a:xfrm>
          <a:prstGeom prst="rect">
            <a:avLst/>
          </a:prstGeom>
          <a:noFill/>
        </p:spPr>
        <p:txBody>
          <a:bodyPr wrap="none" rtlCol="0">
            <a:spAutoFit/>
          </a:bodyPr>
          <a:lstStyle/>
          <a:p>
            <a:r>
              <a:rPr lang="de-DE" sz="2000" dirty="0">
                <a:solidFill>
                  <a:srgbClr val="0070C0"/>
                </a:solidFill>
              </a:rPr>
              <a:t>C: Bediener kann 2 Kunden</a:t>
            </a:r>
          </a:p>
          <a:p>
            <a:r>
              <a:rPr lang="de-DE" sz="2000" dirty="0">
                <a:solidFill>
                  <a:srgbClr val="0070C0"/>
                </a:solidFill>
              </a:rPr>
              <a:t>     gleichzeitig abarbeiten</a:t>
            </a:r>
          </a:p>
        </p:txBody>
      </p:sp>
      <p:grpSp>
        <p:nvGrpSpPr>
          <p:cNvPr id="22" name="Group 113"/>
          <p:cNvGrpSpPr/>
          <p:nvPr/>
        </p:nvGrpSpPr>
        <p:grpSpPr>
          <a:xfrm>
            <a:off x="5035755" y="4242279"/>
            <a:ext cx="2950802" cy="506828"/>
            <a:chOff x="5058432" y="4460826"/>
            <a:chExt cx="2950802" cy="506828"/>
          </a:xfrm>
        </p:grpSpPr>
        <p:sp>
          <p:nvSpPr>
            <p:cNvPr id="99" name="Flowchart: Connector 98"/>
            <p:cNvSpPr/>
            <p:nvPr/>
          </p:nvSpPr>
          <p:spPr>
            <a:xfrm>
              <a:off x="7218672" y="4460826"/>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dirty="0"/>
            </a:p>
          </p:txBody>
        </p:sp>
        <p:cxnSp>
          <p:nvCxnSpPr>
            <p:cNvPr id="100" name="Straight Arrow Connector 99"/>
            <p:cNvCxnSpPr/>
            <p:nvPr/>
          </p:nvCxnSpPr>
          <p:spPr>
            <a:xfrm>
              <a:off x="7708664" y="4709549"/>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23" name="Group 100"/>
            <p:cNvGrpSpPr/>
            <p:nvPr/>
          </p:nvGrpSpPr>
          <p:grpSpPr>
            <a:xfrm>
              <a:off x="5058432" y="4487811"/>
              <a:ext cx="2160240" cy="443475"/>
              <a:chOff x="644384" y="2412234"/>
              <a:chExt cx="2160240" cy="443475"/>
            </a:xfrm>
          </p:grpSpPr>
          <p:sp>
            <p:nvSpPr>
              <p:cNvPr id="102" name="Rectangle 101"/>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3" name="Rectangle 102"/>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4" name="Rectangle 103"/>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5" name="Rectangle 104"/>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6" name="Rectangle 105"/>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107" name="Straight Arrow Connector 106"/>
              <p:cNvCxnSpPr/>
              <p:nvPr/>
            </p:nvCxnSpPr>
            <p:spPr>
              <a:xfrm>
                <a:off x="644384" y="2649551"/>
                <a:ext cx="419241"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stCxn id="106" idx="3"/>
                <a:endCxn id="99" idx="2"/>
              </p:cNvCxnSpPr>
              <p:nvPr/>
            </p:nvCxnSpPr>
            <p:spPr>
              <a:xfrm>
                <a:off x="2504055" y="2633972"/>
                <a:ext cx="300569" cy="4691"/>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sp>
          <p:nvSpPr>
            <p:cNvPr id="113" name="TextBox 112"/>
            <p:cNvSpPr txBox="1"/>
            <p:nvPr/>
          </p:nvSpPr>
          <p:spPr>
            <a:xfrm>
              <a:off x="7262708" y="4540200"/>
              <a:ext cx="445956" cy="369332"/>
            </a:xfrm>
            <a:prstGeom prst="rect">
              <a:avLst/>
            </a:prstGeom>
            <a:noFill/>
          </p:spPr>
          <p:txBody>
            <a:bodyPr wrap="none" rtlCol="0">
              <a:spAutoFit/>
            </a:bodyPr>
            <a:lstStyle/>
            <a:p>
              <a:r>
                <a:rPr lang="de-DE" dirty="0"/>
                <a:t>2</a:t>
              </a:r>
              <a:r>
                <a:rPr lang="de-DE" dirty="0">
                  <a:sym typeface="Symbol"/>
                </a:rPr>
                <a:t></a:t>
              </a:r>
              <a:endParaRPr lang="de-DE" dirty="0"/>
            </a:p>
          </p:txBody>
        </p:sp>
      </p:grpSp>
      <p:sp>
        <p:nvSpPr>
          <p:cNvPr id="115" name="TextBox 114"/>
          <p:cNvSpPr txBox="1"/>
          <p:nvPr/>
        </p:nvSpPr>
        <p:spPr>
          <a:xfrm>
            <a:off x="4380810" y="4965357"/>
            <a:ext cx="3315539" cy="707886"/>
          </a:xfrm>
          <a:prstGeom prst="rect">
            <a:avLst/>
          </a:prstGeom>
          <a:noFill/>
        </p:spPr>
        <p:txBody>
          <a:bodyPr wrap="square" rtlCol="0">
            <a:spAutoFit/>
          </a:bodyPr>
          <a:lstStyle/>
          <a:p>
            <a:r>
              <a:rPr lang="de-DE" sz="2000" dirty="0">
                <a:solidFill>
                  <a:srgbClr val="0070C0"/>
                </a:solidFill>
              </a:rPr>
              <a:t>D: Bediener arbeitet 2x</a:t>
            </a:r>
          </a:p>
          <a:p>
            <a:r>
              <a:rPr lang="de-DE" sz="2000" dirty="0">
                <a:solidFill>
                  <a:srgbClr val="0070C0"/>
                </a:solidFill>
              </a:rPr>
              <a:t>     schneller (2</a:t>
            </a:r>
            <a:r>
              <a:rPr lang="de-DE" sz="2000" dirty="0">
                <a:solidFill>
                  <a:srgbClr val="0070C0"/>
                </a:solidFill>
                <a:sym typeface="Symbol"/>
              </a:rPr>
              <a:t>)</a:t>
            </a:r>
            <a:endParaRPr lang="de-DE" sz="2000" dirty="0">
              <a:solidFill>
                <a:srgbClr val="0070C0"/>
              </a:solidFill>
            </a:endParaRPr>
          </a:p>
        </p:txBody>
      </p:sp>
      <p:sp>
        <p:nvSpPr>
          <p:cNvPr id="116" name="TextBox 115"/>
          <p:cNvSpPr txBox="1"/>
          <p:nvPr/>
        </p:nvSpPr>
        <p:spPr>
          <a:xfrm>
            <a:off x="748475" y="5654438"/>
            <a:ext cx="7591535" cy="830997"/>
          </a:xfrm>
          <a:prstGeom prst="rect">
            <a:avLst/>
          </a:prstGeom>
          <a:noFill/>
        </p:spPr>
        <p:txBody>
          <a:bodyPr wrap="square" rtlCol="0">
            <a:spAutoFit/>
          </a:bodyPr>
          <a:lstStyle/>
          <a:p>
            <a:r>
              <a:rPr lang="de-DE" sz="2400" dirty="0"/>
              <a:t>In welchem Fall ist E[N], die erwartete Anzahl der </a:t>
            </a:r>
            <a:br>
              <a:rPr lang="de-DE" sz="2400" dirty="0"/>
            </a:br>
            <a:r>
              <a:rPr lang="de-DE" sz="2400" dirty="0"/>
              <a:t>Kunden im System, am geringsten?</a:t>
            </a:r>
          </a:p>
        </p:txBody>
      </p:sp>
      <p:sp>
        <p:nvSpPr>
          <p:cNvPr id="25" name="Rechteck 24"/>
          <p:cNvSpPr/>
          <p:nvPr/>
        </p:nvSpPr>
        <p:spPr>
          <a:xfrm>
            <a:off x="906050" y="6545721"/>
            <a:ext cx="6806560" cy="307777"/>
          </a:xfrm>
          <a:prstGeom prst="rect">
            <a:avLst/>
          </a:prstGeom>
        </p:spPr>
        <p:txBody>
          <a:bodyPr wrap="square">
            <a:spAutoFit/>
          </a:bodyPr>
          <a:lstStyle/>
          <a:p>
            <a:pPr>
              <a:defRPr/>
            </a:pPr>
            <a:r>
              <a:rPr lang="de-DE" sz="1400" dirty="0"/>
              <a:t>Aus: </a:t>
            </a:r>
            <a:r>
              <a:rPr lang="de-DE" sz="1400" dirty="0">
                <a:hlinkClick r:id="rId3"/>
              </a:rPr>
              <a:t>http://www.stochastik.tu-clausthal.de/Presse/Schulen/Warteschlangen</a:t>
            </a:r>
            <a:endParaRPr lang="de-DE" sz="1400" dirty="0"/>
          </a:p>
        </p:txBody>
      </p:sp>
      <p:sp>
        <p:nvSpPr>
          <p:cNvPr id="26" name="Rechteck 25"/>
          <p:cNvSpPr/>
          <p:nvPr/>
        </p:nvSpPr>
        <p:spPr>
          <a:xfrm>
            <a:off x="7928688" y="5073078"/>
            <a:ext cx="983909" cy="923330"/>
          </a:xfrm>
          <a:prstGeom prst="rect">
            <a:avLst/>
          </a:prstGeom>
          <a:solidFill>
            <a:srgbClr val="FFC000"/>
          </a:solidFill>
        </p:spPr>
        <p:style>
          <a:lnRef idx="1">
            <a:schemeClr val="accent6"/>
          </a:lnRef>
          <a:fillRef idx="2">
            <a:schemeClr val="accent6"/>
          </a:fillRef>
          <a:effectRef idx="1">
            <a:schemeClr val="accent6"/>
          </a:effectRef>
          <a:fontRef idx="minor">
            <a:schemeClr val="dk1"/>
          </a:fontRef>
        </p:style>
        <p:txBody>
          <a:bodyPr wrap="square">
            <a:spAutoFit/>
          </a:bodyPr>
          <a:lstStyle/>
          <a:p>
            <a:r>
              <a:rPr lang="de-DE" dirty="0">
                <a:sym typeface="Symbol"/>
              </a:rPr>
              <a:t>Überall:</a:t>
            </a:r>
          </a:p>
          <a:p>
            <a:pPr marL="285750" indent="-285750">
              <a:buFont typeface="Symbol" panose="05050102010706020507" pitchFamily="18" charset="2"/>
              <a:buChar char="l"/>
            </a:pPr>
            <a:r>
              <a:rPr lang="de-DE" dirty="0">
                <a:sym typeface="Symbol"/>
              </a:rPr>
              <a:t>= 1.8</a:t>
            </a:r>
          </a:p>
          <a:p>
            <a:r>
              <a:rPr lang="de-DE" dirty="0">
                <a:sym typeface="Symbol"/>
              </a:rPr>
              <a:t>  = 1.0</a:t>
            </a:r>
          </a:p>
        </p:txBody>
      </p:sp>
    </p:spTree>
    <p:extLst>
      <p:ext uri="{BB962C8B-B14F-4D97-AF65-F5344CB8AC3E}">
        <p14:creationId xmlns:p14="http://schemas.microsoft.com/office/powerpoint/2010/main" val="2594051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Vergleich der Systementwürfe</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20</a:t>
            </a:fld>
            <a:endParaRPr lang="en-US" noProof="0" dirty="0"/>
          </a:p>
        </p:txBody>
      </p:sp>
      <p:sp>
        <p:nvSpPr>
          <p:cNvPr id="11" name="Flowchart: Connector 10"/>
          <p:cNvSpPr/>
          <p:nvPr/>
        </p:nvSpPr>
        <p:spPr>
          <a:xfrm>
            <a:off x="2691903" y="1298822"/>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13" name="Straight Arrow Connector 12"/>
          <p:cNvCxnSpPr/>
          <p:nvPr/>
        </p:nvCxnSpPr>
        <p:spPr>
          <a:xfrm>
            <a:off x="3181895" y="1547545"/>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5" name="Group 17"/>
          <p:cNvGrpSpPr/>
          <p:nvPr/>
        </p:nvGrpSpPr>
        <p:grpSpPr>
          <a:xfrm>
            <a:off x="635754" y="1470349"/>
            <a:ext cx="2056149" cy="764393"/>
            <a:chOff x="748475" y="2093975"/>
            <a:chExt cx="2056149" cy="854246"/>
          </a:xfrm>
        </p:grpSpPr>
        <p:sp>
          <p:nvSpPr>
            <p:cNvPr id="6" name="Rectangle 5"/>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7" name="Rectangle 6"/>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 name="Rectangle 7"/>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9" name="Rectangle 8"/>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 name="Rectangle 9"/>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12" name="Straight Arrow Connector 11"/>
            <p:cNvCxnSpPr>
              <a:stCxn id="10" idx="3"/>
              <a:endCxn id="11" idx="2"/>
            </p:cNvCxnSpPr>
            <p:nvPr/>
          </p:nvCxnSpPr>
          <p:spPr>
            <a:xfrm flipV="1">
              <a:off x="2504055" y="2093975"/>
              <a:ext cx="155800" cy="539997"/>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48475" y="2649551"/>
              <a:ext cx="31515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0" idx="3"/>
              <a:endCxn id="20" idx="2"/>
            </p:cNvCxnSpPr>
            <p:nvPr/>
          </p:nvCxnSpPr>
          <p:spPr>
            <a:xfrm>
              <a:off x="2504055" y="2633972"/>
              <a:ext cx="300569" cy="314249"/>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sp>
        <p:nvSpPr>
          <p:cNvPr id="20" name="Flowchart: Connector 19"/>
          <p:cNvSpPr/>
          <p:nvPr/>
        </p:nvSpPr>
        <p:spPr>
          <a:xfrm>
            <a:off x="2691903" y="1981328"/>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21" name="Straight Arrow Connector 20"/>
          <p:cNvCxnSpPr/>
          <p:nvPr/>
        </p:nvCxnSpPr>
        <p:spPr>
          <a:xfrm>
            <a:off x="3181895" y="2230051"/>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821731" y="1187206"/>
            <a:ext cx="426720" cy="400110"/>
          </a:xfrm>
          <a:prstGeom prst="rect">
            <a:avLst/>
          </a:prstGeom>
          <a:noFill/>
        </p:spPr>
        <p:txBody>
          <a:bodyPr wrap="none" rtlCol="0">
            <a:spAutoFit/>
          </a:bodyPr>
          <a:lstStyle/>
          <a:p>
            <a:r>
              <a:rPr lang="de-DE" sz="2000" dirty="0">
                <a:solidFill>
                  <a:srgbClr val="0070C0"/>
                </a:solidFill>
              </a:rPr>
              <a:t>A.</a:t>
            </a:r>
          </a:p>
        </p:txBody>
      </p:sp>
      <p:grpSp>
        <p:nvGrpSpPr>
          <p:cNvPr id="15" name="Group 65"/>
          <p:cNvGrpSpPr/>
          <p:nvPr/>
        </p:nvGrpSpPr>
        <p:grpSpPr>
          <a:xfrm>
            <a:off x="4583689" y="1298822"/>
            <a:ext cx="3434916" cy="1189334"/>
            <a:chOff x="4231902" y="2526780"/>
            <a:chExt cx="3434916" cy="1189334"/>
          </a:xfrm>
        </p:grpSpPr>
        <p:sp>
          <p:nvSpPr>
            <p:cNvPr id="28" name="Flowchart: Connector 27"/>
            <p:cNvSpPr/>
            <p:nvPr/>
          </p:nvSpPr>
          <p:spPr>
            <a:xfrm>
              <a:off x="6876256" y="2526780"/>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29" name="Straight Arrow Connector 28"/>
            <p:cNvCxnSpPr/>
            <p:nvPr/>
          </p:nvCxnSpPr>
          <p:spPr>
            <a:xfrm>
              <a:off x="7366248" y="2775503"/>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16" name="Group 29"/>
            <p:cNvGrpSpPr/>
            <p:nvPr/>
          </p:nvGrpSpPr>
          <p:grpSpPr>
            <a:xfrm>
              <a:off x="4716016" y="2553765"/>
              <a:ext cx="2160240" cy="589147"/>
              <a:chOff x="644384" y="2412234"/>
              <a:chExt cx="2160240" cy="589147"/>
            </a:xfrm>
          </p:grpSpPr>
          <p:sp>
            <p:nvSpPr>
              <p:cNvPr id="31" name="Rectangle 30"/>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32" name="Rectangle 31"/>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33" name="Rectangle 32"/>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34" name="Rectangle 33"/>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35" name="Rectangle 34"/>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37" name="Straight Arrow Connector 36"/>
              <p:cNvCxnSpPr/>
              <p:nvPr/>
            </p:nvCxnSpPr>
            <p:spPr>
              <a:xfrm flipV="1">
                <a:off x="644384" y="2649551"/>
                <a:ext cx="419241" cy="35183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35" idx="3"/>
                <a:endCxn id="28" idx="2"/>
              </p:cNvCxnSpPr>
              <p:nvPr/>
            </p:nvCxnSpPr>
            <p:spPr>
              <a:xfrm>
                <a:off x="2504055" y="2633972"/>
                <a:ext cx="300569" cy="4691"/>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sp>
          <p:nvSpPr>
            <p:cNvPr id="39" name="Flowchart: Connector 38"/>
            <p:cNvSpPr/>
            <p:nvPr/>
          </p:nvSpPr>
          <p:spPr>
            <a:xfrm>
              <a:off x="6876256" y="3209286"/>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40" name="Straight Arrow Connector 39"/>
            <p:cNvCxnSpPr/>
            <p:nvPr/>
          </p:nvCxnSpPr>
          <p:spPr>
            <a:xfrm>
              <a:off x="7366248" y="3458009"/>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17" name="Group 43"/>
            <p:cNvGrpSpPr/>
            <p:nvPr/>
          </p:nvGrpSpPr>
          <p:grpSpPr>
            <a:xfrm>
              <a:off x="4231902" y="3147603"/>
              <a:ext cx="2644354" cy="546023"/>
              <a:chOff x="145691" y="2309686"/>
              <a:chExt cx="2644354" cy="546023"/>
            </a:xfrm>
          </p:grpSpPr>
          <p:sp>
            <p:nvSpPr>
              <p:cNvPr id="45" name="Rectangle 44"/>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46" name="Rectangle 45"/>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47" name="Rectangle 46"/>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48" name="Rectangle 47"/>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49" name="Rectangle 48"/>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51" name="Straight Arrow Connector 50"/>
              <p:cNvCxnSpPr/>
              <p:nvPr/>
            </p:nvCxnSpPr>
            <p:spPr>
              <a:xfrm>
                <a:off x="145691" y="2309686"/>
                <a:ext cx="484114"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9" idx="3"/>
                <a:endCxn id="39" idx="2"/>
              </p:cNvCxnSpPr>
              <p:nvPr/>
            </p:nvCxnSpPr>
            <p:spPr>
              <a:xfrm flipV="1">
                <a:off x="2504055" y="2624783"/>
                <a:ext cx="285990" cy="9189"/>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629805" y="2315835"/>
                <a:ext cx="433820" cy="339865"/>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grpSp>
      <p:sp>
        <p:nvSpPr>
          <p:cNvPr id="67" name="TextBox 66"/>
          <p:cNvSpPr txBox="1"/>
          <p:nvPr/>
        </p:nvSpPr>
        <p:spPr>
          <a:xfrm>
            <a:off x="4571561" y="1193171"/>
            <a:ext cx="479402" cy="400110"/>
          </a:xfrm>
          <a:prstGeom prst="rect">
            <a:avLst/>
          </a:prstGeom>
          <a:noFill/>
        </p:spPr>
        <p:txBody>
          <a:bodyPr wrap="square" rtlCol="0">
            <a:spAutoFit/>
          </a:bodyPr>
          <a:lstStyle/>
          <a:p>
            <a:r>
              <a:rPr lang="de-DE" sz="2000" dirty="0">
                <a:solidFill>
                  <a:srgbClr val="0070C0"/>
                </a:solidFill>
              </a:rPr>
              <a:t>B.</a:t>
            </a:r>
          </a:p>
        </p:txBody>
      </p:sp>
      <p:grpSp>
        <p:nvGrpSpPr>
          <p:cNvPr id="18" name="Group 118"/>
          <p:cNvGrpSpPr/>
          <p:nvPr/>
        </p:nvGrpSpPr>
        <p:grpSpPr>
          <a:xfrm>
            <a:off x="816543" y="2816703"/>
            <a:ext cx="2950802" cy="506828"/>
            <a:chOff x="801335" y="4370488"/>
            <a:chExt cx="2950802" cy="506828"/>
          </a:xfrm>
        </p:grpSpPr>
        <p:sp>
          <p:nvSpPr>
            <p:cNvPr id="69" name="Flowchart: Connector 68"/>
            <p:cNvSpPr/>
            <p:nvPr/>
          </p:nvSpPr>
          <p:spPr>
            <a:xfrm>
              <a:off x="2961575" y="4370488"/>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a:p>
          </p:txBody>
        </p:sp>
        <p:cxnSp>
          <p:nvCxnSpPr>
            <p:cNvPr id="70" name="Straight Arrow Connector 69"/>
            <p:cNvCxnSpPr/>
            <p:nvPr/>
          </p:nvCxnSpPr>
          <p:spPr>
            <a:xfrm>
              <a:off x="3451567" y="4619211"/>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19" name="Group 70"/>
            <p:cNvGrpSpPr/>
            <p:nvPr/>
          </p:nvGrpSpPr>
          <p:grpSpPr>
            <a:xfrm>
              <a:off x="801335" y="4397473"/>
              <a:ext cx="2160240" cy="443475"/>
              <a:chOff x="644384" y="2412234"/>
              <a:chExt cx="2160240" cy="443475"/>
            </a:xfrm>
          </p:grpSpPr>
          <p:sp>
            <p:nvSpPr>
              <p:cNvPr id="83" name="Rectangle 82"/>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4" name="Rectangle 83"/>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5" name="Rectangle 84"/>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6" name="Rectangle 85"/>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87" name="Rectangle 86"/>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88" name="Straight Arrow Connector 87"/>
              <p:cNvCxnSpPr/>
              <p:nvPr/>
            </p:nvCxnSpPr>
            <p:spPr>
              <a:xfrm>
                <a:off x="644384" y="2649551"/>
                <a:ext cx="419241"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87" idx="3"/>
                <a:endCxn id="69" idx="2"/>
              </p:cNvCxnSpPr>
              <p:nvPr/>
            </p:nvCxnSpPr>
            <p:spPr>
              <a:xfrm>
                <a:off x="2504055" y="2633972"/>
                <a:ext cx="300569" cy="4691"/>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sp>
          <p:nvSpPr>
            <p:cNvPr id="91" name="Rectangle 90"/>
            <p:cNvSpPr/>
            <p:nvPr/>
          </p:nvSpPr>
          <p:spPr>
            <a:xfrm>
              <a:off x="3061024" y="4479058"/>
              <a:ext cx="298906" cy="14401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2" name="Rectangle 91"/>
            <p:cNvSpPr/>
            <p:nvPr/>
          </p:nvSpPr>
          <p:spPr>
            <a:xfrm>
              <a:off x="3063971" y="4668746"/>
              <a:ext cx="298906" cy="14401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95" name="TextBox 94"/>
          <p:cNvSpPr txBox="1"/>
          <p:nvPr/>
        </p:nvSpPr>
        <p:spPr>
          <a:xfrm>
            <a:off x="807774" y="2574792"/>
            <a:ext cx="441146" cy="400110"/>
          </a:xfrm>
          <a:prstGeom prst="rect">
            <a:avLst/>
          </a:prstGeom>
          <a:noFill/>
        </p:spPr>
        <p:txBody>
          <a:bodyPr wrap="none" rtlCol="0">
            <a:spAutoFit/>
          </a:bodyPr>
          <a:lstStyle/>
          <a:p>
            <a:r>
              <a:rPr lang="de-DE" sz="2000" dirty="0">
                <a:solidFill>
                  <a:srgbClr val="0070C0"/>
                </a:solidFill>
              </a:rPr>
              <a:t>C.</a:t>
            </a:r>
          </a:p>
        </p:txBody>
      </p:sp>
      <p:grpSp>
        <p:nvGrpSpPr>
          <p:cNvPr id="22" name="Group 113"/>
          <p:cNvGrpSpPr/>
          <p:nvPr/>
        </p:nvGrpSpPr>
        <p:grpSpPr>
          <a:xfrm>
            <a:off x="5050963" y="2805815"/>
            <a:ext cx="2950802" cy="506828"/>
            <a:chOff x="5058432" y="4460826"/>
            <a:chExt cx="2950802" cy="506828"/>
          </a:xfrm>
        </p:grpSpPr>
        <p:sp>
          <p:nvSpPr>
            <p:cNvPr id="99" name="Flowchart: Connector 98"/>
            <p:cNvSpPr/>
            <p:nvPr/>
          </p:nvSpPr>
          <p:spPr>
            <a:xfrm>
              <a:off x="7218672" y="4460826"/>
              <a:ext cx="489992" cy="506828"/>
            </a:xfrm>
            <a:prstGeom prst="flowChartConnecto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2000" dirty="0"/>
            </a:p>
          </p:txBody>
        </p:sp>
        <p:cxnSp>
          <p:nvCxnSpPr>
            <p:cNvPr id="100" name="Straight Arrow Connector 99"/>
            <p:cNvCxnSpPr/>
            <p:nvPr/>
          </p:nvCxnSpPr>
          <p:spPr>
            <a:xfrm>
              <a:off x="7708664" y="4709549"/>
              <a:ext cx="30057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23" name="Group 100"/>
            <p:cNvGrpSpPr/>
            <p:nvPr/>
          </p:nvGrpSpPr>
          <p:grpSpPr>
            <a:xfrm>
              <a:off x="5058432" y="4487811"/>
              <a:ext cx="2160240" cy="443475"/>
              <a:chOff x="644384" y="2412234"/>
              <a:chExt cx="2160240" cy="443475"/>
            </a:xfrm>
          </p:grpSpPr>
          <p:sp>
            <p:nvSpPr>
              <p:cNvPr id="102" name="Rectangle 101"/>
              <p:cNvSpPr/>
              <p:nvPr/>
            </p:nvSpPr>
            <p:spPr>
              <a:xfrm>
                <a:off x="1063625"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3" name="Rectangle 102"/>
              <p:cNvSpPr/>
              <p:nvPr/>
            </p:nvSpPr>
            <p:spPr>
              <a:xfrm>
                <a:off x="134942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4" name="Rectangle 103"/>
              <p:cNvSpPr/>
              <p:nvPr/>
            </p:nvSpPr>
            <p:spPr>
              <a:xfrm>
                <a:off x="1635218"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5" name="Rectangle 104"/>
              <p:cNvSpPr/>
              <p:nvPr/>
            </p:nvSpPr>
            <p:spPr>
              <a:xfrm>
                <a:off x="1921014"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sp>
            <p:nvSpPr>
              <p:cNvPr id="106" name="Rectangle 105"/>
              <p:cNvSpPr/>
              <p:nvPr/>
            </p:nvSpPr>
            <p:spPr>
              <a:xfrm>
                <a:off x="2206811" y="2412234"/>
                <a:ext cx="297244" cy="4434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a:p>
            </p:txBody>
          </p:sp>
          <p:cxnSp>
            <p:nvCxnSpPr>
              <p:cNvPr id="107" name="Straight Arrow Connector 106"/>
              <p:cNvCxnSpPr/>
              <p:nvPr/>
            </p:nvCxnSpPr>
            <p:spPr>
              <a:xfrm>
                <a:off x="644384" y="2649551"/>
                <a:ext cx="419241"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stCxn id="106" idx="3"/>
                <a:endCxn id="99" idx="2"/>
              </p:cNvCxnSpPr>
              <p:nvPr/>
            </p:nvCxnSpPr>
            <p:spPr>
              <a:xfrm>
                <a:off x="2504055" y="2633972"/>
                <a:ext cx="300569" cy="4691"/>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sp>
          <p:nvSpPr>
            <p:cNvPr id="113" name="TextBox 112"/>
            <p:cNvSpPr txBox="1"/>
            <p:nvPr/>
          </p:nvSpPr>
          <p:spPr>
            <a:xfrm>
              <a:off x="7262708" y="4540200"/>
              <a:ext cx="445956" cy="369332"/>
            </a:xfrm>
            <a:prstGeom prst="rect">
              <a:avLst/>
            </a:prstGeom>
            <a:noFill/>
          </p:spPr>
          <p:txBody>
            <a:bodyPr wrap="none" rtlCol="0">
              <a:spAutoFit/>
            </a:bodyPr>
            <a:lstStyle/>
            <a:p>
              <a:r>
                <a:rPr lang="de-DE" dirty="0"/>
                <a:t>2</a:t>
              </a:r>
              <a:r>
                <a:rPr lang="de-DE" dirty="0">
                  <a:sym typeface="Symbol"/>
                </a:rPr>
                <a:t></a:t>
              </a:r>
              <a:endParaRPr lang="de-DE" dirty="0"/>
            </a:p>
          </p:txBody>
        </p:sp>
      </p:grpSp>
      <p:sp>
        <p:nvSpPr>
          <p:cNvPr id="115" name="TextBox 114"/>
          <p:cNvSpPr txBox="1"/>
          <p:nvPr/>
        </p:nvSpPr>
        <p:spPr>
          <a:xfrm>
            <a:off x="4583689" y="2573032"/>
            <a:ext cx="519182" cy="400110"/>
          </a:xfrm>
          <a:prstGeom prst="rect">
            <a:avLst/>
          </a:prstGeom>
          <a:noFill/>
        </p:spPr>
        <p:txBody>
          <a:bodyPr wrap="square" rtlCol="0">
            <a:spAutoFit/>
          </a:bodyPr>
          <a:lstStyle/>
          <a:p>
            <a:r>
              <a:rPr lang="de-DE" sz="2000" dirty="0">
                <a:solidFill>
                  <a:srgbClr val="0070C0"/>
                </a:solidFill>
              </a:rPr>
              <a:t>D.</a:t>
            </a:r>
          </a:p>
        </p:txBody>
      </p:sp>
      <p:sp>
        <p:nvSpPr>
          <p:cNvPr id="117" name="TextBox 116"/>
          <p:cNvSpPr txBox="1"/>
          <p:nvPr/>
        </p:nvSpPr>
        <p:spPr>
          <a:xfrm>
            <a:off x="1037967" y="6113721"/>
            <a:ext cx="6291146" cy="461665"/>
          </a:xfrm>
          <a:prstGeom prst="rect">
            <a:avLst/>
          </a:prstGeom>
          <a:solidFill>
            <a:srgbClr val="FFC000"/>
          </a:solidFill>
        </p:spPr>
        <p:style>
          <a:lnRef idx="1">
            <a:schemeClr val="accent6"/>
          </a:lnRef>
          <a:fillRef idx="2">
            <a:schemeClr val="accent6"/>
          </a:fillRef>
          <a:effectRef idx="1">
            <a:schemeClr val="accent6"/>
          </a:effectRef>
          <a:fontRef idx="minor">
            <a:schemeClr val="dk1"/>
          </a:fontRef>
        </p:style>
        <p:txBody>
          <a:bodyPr wrap="none" rtlCol="0">
            <a:spAutoFit/>
          </a:bodyPr>
          <a:lstStyle/>
          <a:p>
            <a:r>
              <a:rPr lang="de-DE" sz="2400" dirty="0"/>
              <a:t>E[N] = …     A: 5.64, B: 9.90, C: 6.35, D: 4.49</a:t>
            </a:r>
          </a:p>
        </p:txBody>
      </p:sp>
      <p:sp>
        <p:nvSpPr>
          <p:cNvPr id="25" name="Inhaltsplatzhalter 24"/>
          <p:cNvSpPr>
            <a:spLocks noGrp="1"/>
          </p:cNvSpPr>
          <p:nvPr>
            <p:ph sz="quarter" idx="1"/>
          </p:nvPr>
        </p:nvSpPr>
        <p:spPr>
          <a:xfrm>
            <a:off x="456761" y="3495912"/>
            <a:ext cx="8229600" cy="2639893"/>
          </a:xfrm>
        </p:spPr>
        <p:txBody>
          <a:bodyPr>
            <a:normAutofit fontScale="70000" lnSpcReduction="20000"/>
          </a:bodyPr>
          <a:lstStyle/>
          <a:p>
            <a:r>
              <a:rPr lang="de-DE" sz="2800" dirty="0"/>
              <a:t>A. Es stehen zwei Bediener zur Verfügung. Die ankommenden Kunden werden dem jeweils freiwerdenden Schalter zugewiesen.</a:t>
            </a:r>
          </a:p>
          <a:p>
            <a:r>
              <a:rPr lang="de-DE" sz="2800" dirty="0"/>
              <a:t>B. Auch hier stehen zwei parallele Bediener zur Verfügung. Allerdings werden die Kunden bereits bei ihrer Ankunft gleichmäßig (d. h. zu je 50%) auf die beiden Warteschlangen verteilt. </a:t>
            </a:r>
          </a:p>
          <a:p>
            <a:r>
              <a:rPr lang="de-DE" sz="2800" dirty="0"/>
              <a:t>C. Es gibt nur einen Bediener und eine Warteschlange. Der Bediener kann jedoch zwei Kunden gleichzeitig bedienen</a:t>
            </a:r>
          </a:p>
          <a:p>
            <a:r>
              <a:rPr lang="de-DE" sz="2800" dirty="0"/>
              <a:t>D. Es gibt nur einen Bediener und eine Warteschlange. Der Bediener arbeitet jedoch mit doppelter Geschwindigkeit.</a:t>
            </a:r>
          </a:p>
        </p:txBody>
      </p:sp>
      <p:sp>
        <p:nvSpPr>
          <p:cNvPr id="79" name="Rechteck 78"/>
          <p:cNvSpPr/>
          <p:nvPr/>
        </p:nvSpPr>
        <p:spPr>
          <a:xfrm>
            <a:off x="992266" y="6608600"/>
            <a:ext cx="6806560" cy="307777"/>
          </a:xfrm>
          <a:prstGeom prst="rect">
            <a:avLst/>
          </a:prstGeom>
        </p:spPr>
        <p:txBody>
          <a:bodyPr wrap="square">
            <a:spAutoFit/>
          </a:bodyPr>
          <a:lstStyle/>
          <a:p>
            <a:pPr>
              <a:defRPr/>
            </a:pPr>
            <a:r>
              <a:rPr lang="de-DE" sz="1400" dirty="0"/>
              <a:t>Aus: </a:t>
            </a:r>
            <a:r>
              <a:rPr lang="de-DE" sz="1400" dirty="0">
                <a:hlinkClick r:id="rId3"/>
              </a:rPr>
              <a:t>http://www.stochastik.tu-clausthal.de/Presse/Schulen/Warteschlangen</a:t>
            </a:r>
            <a:endParaRPr lang="de-DE" sz="1400" dirty="0"/>
          </a:p>
        </p:txBody>
      </p:sp>
      <p:sp>
        <p:nvSpPr>
          <p:cNvPr id="71" name="Rechteck 70">
            <a:extLst>
              <a:ext uri="{FF2B5EF4-FFF2-40B4-BE49-F238E27FC236}">
                <a16:creationId xmlns:a16="http://schemas.microsoft.com/office/drawing/2014/main" id="{6B471CC1-5B1C-4234-9526-6A1DE2A1444C}"/>
              </a:ext>
            </a:extLst>
          </p:cNvPr>
          <p:cNvSpPr/>
          <p:nvPr/>
        </p:nvSpPr>
        <p:spPr>
          <a:xfrm>
            <a:off x="6070084" y="66915"/>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4"/>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extLst>
      <p:ext uri="{BB962C8B-B14F-4D97-AF65-F5344CB8AC3E}">
        <p14:creationId xmlns:p14="http://schemas.microsoft.com/office/powerpoint/2010/main" val="207178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Warteschlangenmodelle für das Scheduling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21</a:t>
            </a:fld>
            <a:endParaRPr lang="en-US" noProof="0" dirty="0"/>
          </a:p>
        </p:txBody>
      </p:sp>
      <p:sp>
        <p:nvSpPr>
          <p:cNvPr id="4" name="Inhaltsplatzhalter 3"/>
          <p:cNvSpPr>
            <a:spLocks noGrp="1"/>
          </p:cNvSpPr>
          <p:nvPr>
            <p:ph sz="quarter" idx="1"/>
          </p:nvPr>
        </p:nvSpPr>
        <p:spPr/>
        <p:txBody>
          <a:bodyPr>
            <a:normAutofit/>
          </a:bodyPr>
          <a:lstStyle/>
          <a:p>
            <a:r>
              <a:rPr lang="de-DE" dirty="0"/>
              <a:t>Für viele Prozesse kann man die </a:t>
            </a:r>
            <a:r>
              <a:rPr lang="de-DE" dirty="0">
                <a:solidFill>
                  <a:srgbClr val="FF0000"/>
                </a:solidFill>
              </a:rPr>
              <a:t>Verteilung der Längen von CPU-Bursts</a:t>
            </a:r>
            <a:r>
              <a:rPr lang="de-DE" dirty="0"/>
              <a:t> ermitteln (oft </a:t>
            </a:r>
            <a:r>
              <a:rPr lang="de-DE" dirty="0">
                <a:hlinkClick r:id="rId3"/>
              </a:rPr>
              <a:t>Exponentialv</a:t>
            </a:r>
            <a:r>
              <a:rPr lang="de-DE" dirty="0"/>
              <a:t>.)</a:t>
            </a:r>
          </a:p>
          <a:p>
            <a:pPr lvl="1"/>
            <a:r>
              <a:rPr lang="de-DE" dirty="0"/>
              <a:t>Welche Verteilung ist das in der WS-Theorie? </a:t>
            </a:r>
          </a:p>
          <a:p>
            <a:pPr lvl="1"/>
            <a:endParaRPr lang="de-DE" dirty="0"/>
          </a:p>
          <a:p>
            <a:r>
              <a:rPr lang="de-DE" dirty="0"/>
              <a:t>Genauso lässt sich die </a:t>
            </a:r>
            <a:r>
              <a:rPr lang="de-DE" dirty="0">
                <a:solidFill>
                  <a:srgbClr val="FF0000"/>
                </a:solidFill>
              </a:rPr>
              <a:t>Ankunftsrate</a:t>
            </a:r>
            <a:r>
              <a:rPr lang="de-DE" b="1" dirty="0">
                <a:solidFill>
                  <a:srgbClr val="FF0000"/>
                </a:solidFill>
              </a:rPr>
              <a:t> </a:t>
            </a:r>
            <a:r>
              <a:rPr lang="de-DE" dirty="0"/>
              <a:t>neuer CPU-Anfragen durch eine Verteilung nähern</a:t>
            </a:r>
          </a:p>
          <a:p>
            <a:r>
              <a:rPr lang="de-DE" dirty="0"/>
              <a:t>Aus diesen beiden Verteilungen kann man für die einfachen Algorithmen den durchsch. Durchsatz, CPU-Ausnutzung, Wartezeit, … berechnen</a:t>
            </a:r>
          </a:p>
          <a:p>
            <a:r>
              <a:rPr lang="de-DE" dirty="0"/>
              <a:t>Leider sind diese Modelle idealisiert und beschreiben kaum komplexe, reale Systeme </a:t>
            </a:r>
          </a:p>
        </p:txBody>
      </p:sp>
      <p:sp>
        <p:nvSpPr>
          <p:cNvPr id="5" name="Rectangle 4"/>
          <p:cNvSpPr/>
          <p:nvPr/>
        </p:nvSpPr>
        <p:spPr>
          <a:xfrm>
            <a:off x="1034500" y="2496322"/>
            <a:ext cx="7069564" cy="461665"/>
          </a:xfrm>
          <a:prstGeom prst="rect">
            <a:avLst/>
          </a:prstGeom>
        </p:spPr>
        <p:txBody>
          <a:bodyPr wrap="none">
            <a:spAutoFit/>
          </a:bodyPr>
          <a:lstStyle/>
          <a:p>
            <a:r>
              <a:rPr lang="de-DE" sz="2400" dirty="0"/>
              <a:t>Bedienungszeiten, da die CPU die Jobs abarbeitet</a:t>
            </a:r>
          </a:p>
        </p:txBody>
      </p:sp>
    </p:spTree>
    <p:extLst>
      <p:ext uri="{BB962C8B-B14F-4D97-AF65-F5344CB8AC3E}">
        <p14:creationId xmlns:p14="http://schemas.microsoft.com/office/powerpoint/2010/main" val="8214545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Quellen / Mehr zur Warteschlangentheorie</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22</a:t>
            </a:fld>
            <a:endParaRPr lang="en-US" noProof="0" dirty="0"/>
          </a:p>
        </p:txBody>
      </p:sp>
      <p:sp>
        <p:nvSpPr>
          <p:cNvPr id="4" name="Content Placeholder 3"/>
          <p:cNvSpPr>
            <a:spLocks noGrp="1"/>
          </p:cNvSpPr>
          <p:nvPr>
            <p:ph sz="quarter" idx="1"/>
          </p:nvPr>
        </p:nvSpPr>
        <p:spPr/>
        <p:txBody>
          <a:bodyPr/>
          <a:lstStyle/>
          <a:p>
            <a:r>
              <a:rPr lang="de-DE" dirty="0"/>
              <a:t>TU Clausthal, Institut für Angewandte Stochastik und Operations Research, Stochastische Modelle in den Ingenieurwissenschaften, </a:t>
            </a:r>
            <a:r>
              <a:rPr lang="de-DE" dirty="0">
                <a:hlinkClick r:id="rId2"/>
              </a:rPr>
              <a:t>Link</a:t>
            </a:r>
            <a:endParaRPr lang="de-DE" dirty="0"/>
          </a:p>
          <a:p>
            <a:r>
              <a:rPr lang="de-DE" dirty="0"/>
              <a:t>K. Berger, P. Christodoulides, K. Grill, Warteschlangentheorie, </a:t>
            </a:r>
            <a:r>
              <a:rPr lang="de-DE" dirty="0">
                <a:hlinkClick r:id="rId3"/>
              </a:rPr>
              <a:t>Link</a:t>
            </a:r>
            <a:endParaRPr lang="de-DE" dirty="0"/>
          </a:p>
          <a:p>
            <a:r>
              <a:rPr lang="de-DE" dirty="0"/>
              <a:t>Wikipedia – Warteschlangentheorie, </a:t>
            </a:r>
            <a:r>
              <a:rPr lang="de-DE" dirty="0">
                <a:hlinkClick r:id="rId4"/>
              </a:rPr>
              <a:t>Link</a:t>
            </a:r>
            <a:endParaRPr lang="de-DE" dirty="0"/>
          </a:p>
        </p:txBody>
      </p:sp>
    </p:spTree>
    <p:extLst>
      <p:ext uri="{BB962C8B-B14F-4D97-AF65-F5344CB8AC3E}">
        <p14:creationId xmlns:p14="http://schemas.microsoft.com/office/powerpoint/2010/main" val="3332671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Zusammenfassung Scheduling</a:t>
            </a:r>
          </a:p>
        </p:txBody>
      </p:sp>
      <p:sp>
        <p:nvSpPr>
          <p:cNvPr id="3" name="Inhaltsplatzhalter 2"/>
          <p:cNvSpPr>
            <a:spLocks noGrp="1"/>
          </p:cNvSpPr>
          <p:nvPr>
            <p:ph sz="quarter" idx="1"/>
          </p:nvPr>
        </p:nvSpPr>
        <p:spPr>
          <a:xfrm>
            <a:off x="457200" y="1219200"/>
            <a:ext cx="8435280" cy="5210196"/>
          </a:xfrm>
        </p:spPr>
        <p:txBody>
          <a:bodyPr>
            <a:normAutofit/>
          </a:bodyPr>
          <a:lstStyle/>
          <a:p>
            <a:r>
              <a:rPr lang="de-DE" dirty="0"/>
              <a:t>Scheduling - Grundlagen</a:t>
            </a:r>
          </a:p>
          <a:p>
            <a:pPr lvl="1"/>
            <a:r>
              <a:rPr lang="de-DE" dirty="0"/>
              <a:t>Kriterien, Typen von Systemen</a:t>
            </a:r>
          </a:p>
          <a:p>
            <a:r>
              <a:rPr lang="de-DE" dirty="0"/>
              <a:t>Scheduling-Algorithmen</a:t>
            </a:r>
          </a:p>
          <a:p>
            <a:pPr lvl="1"/>
            <a:r>
              <a:rPr lang="de-DE" dirty="0"/>
              <a:t>Stapelverarbeitung</a:t>
            </a:r>
          </a:p>
          <a:p>
            <a:pPr lvl="1"/>
            <a:r>
              <a:rPr lang="de-DE" dirty="0"/>
              <a:t>Scheduling für Interaktive Systeme</a:t>
            </a:r>
          </a:p>
          <a:p>
            <a:r>
              <a:rPr lang="de-DE" dirty="0"/>
              <a:t>Evaluierung der Scheduling-Strategien</a:t>
            </a:r>
          </a:p>
          <a:p>
            <a:r>
              <a:rPr lang="de-DE" dirty="0"/>
              <a:t>Warteschlangentheorie</a:t>
            </a:r>
          </a:p>
          <a:p>
            <a:pPr>
              <a:buNone/>
            </a:pPr>
            <a:endParaRPr lang="de-DE" dirty="0"/>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23</a:t>
            </a:fld>
            <a:endParaRPr lang="en-US" noProof="0" dirty="0"/>
          </a:p>
        </p:txBody>
      </p:sp>
    </p:spTree>
    <p:extLst>
      <p:ext uri="{BB962C8B-B14F-4D97-AF65-F5344CB8AC3E}">
        <p14:creationId xmlns:p14="http://schemas.microsoft.com/office/powerpoint/2010/main" val="3447395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24</a:t>
            </a:fld>
            <a:endParaRPr lang="de-DE" dirty="0"/>
          </a:p>
        </p:txBody>
      </p:sp>
      <p:sp>
        <p:nvSpPr>
          <p:cNvPr id="3" name="Titel 2"/>
          <p:cNvSpPr>
            <a:spLocks noGrp="1"/>
          </p:cNvSpPr>
          <p:nvPr>
            <p:ph type="title"/>
          </p:nvPr>
        </p:nvSpPr>
        <p:spPr/>
        <p:txBody>
          <a:bodyPr/>
          <a:lstStyle/>
          <a:p>
            <a:r>
              <a:rPr lang="de-DE" dirty="0"/>
              <a:t>I/O-Grundlagen:</a:t>
            </a:r>
            <a:br>
              <a:rPr lang="de-DE" dirty="0"/>
            </a:br>
            <a:r>
              <a:rPr lang="de-DE" dirty="0"/>
              <a:t>Hardware und Zugriff darauf</a:t>
            </a:r>
          </a:p>
        </p:txBody>
      </p:sp>
    </p:spTree>
    <p:extLst>
      <p:ext uri="{BB962C8B-B14F-4D97-AF65-F5344CB8AC3E}">
        <p14:creationId xmlns:p14="http://schemas.microsoft.com/office/powerpoint/2010/main" val="3838388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30"/>
          <p:cNvPicPr>
            <a:picLocks noChangeAspect="1" noChangeArrowheads="1"/>
          </p:cNvPicPr>
          <p:nvPr/>
        </p:nvPicPr>
        <p:blipFill>
          <a:blip r:embed="rId2" cstate="print"/>
          <a:srcRect/>
          <a:stretch>
            <a:fillRect/>
          </a:stretch>
        </p:blipFill>
        <p:spPr bwMode="auto">
          <a:xfrm>
            <a:off x="4637963" y="3357562"/>
            <a:ext cx="4022636" cy="3092354"/>
          </a:xfrm>
          <a:prstGeom prst="rect">
            <a:avLst/>
          </a:prstGeom>
          <a:noFill/>
          <a:ln w="9525">
            <a:noFill/>
            <a:miter lim="800000"/>
            <a:headEnd/>
            <a:tailEnd/>
          </a:ln>
        </p:spPr>
      </p:pic>
      <p:sp>
        <p:nvSpPr>
          <p:cNvPr id="2" name="Titel 1"/>
          <p:cNvSpPr>
            <a:spLocks noGrp="1"/>
          </p:cNvSpPr>
          <p:nvPr>
            <p:ph type="title"/>
          </p:nvPr>
        </p:nvSpPr>
        <p:spPr/>
        <p:txBody>
          <a:bodyPr/>
          <a:lstStyle/>
          <a:p>
            <a:r>
              <a:rPr lang="de-DE" dirty="0"/>
              <a:t>I/O-Hardware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25</a:t>
            </a:fld>
            <a:endParaRPr lang="en-US" noProof="0" dirty="0"/>
          </a:p>
        </p:txBody>
      </p:sp>
      <p:sp>
        <p:nvSpPr>
          <p:cNvPr id="4" name="Inhaltsplatzhalter 3"/>
          <p:cNvSpPr>
            <a:spLocks noGrp="1"/>
          </p:cNvSpPr>
          <p:nvPr>
            <p:ph sz="quarter" idx="1"/>
          </p:nvPr>
        </p:nvSpPr>
        <p:spPr/>
        <p:txBody>
          <a:bodyPr>
            <a:normAutofit/>
          </a:bodyPr>
          <a:lstStyle/>
          <a:p>
            <a:r>
              <a:rPr lang="de-DE" dirty="0"/>
              <a:t>Die Geräte kommunizieren mit dem Rechner und innerhalb des Rechners durch einen </a:t>
            </a:r>
            <a:r>
              <a:rPr lang="de-DE" b="1" dirty="0">
                <a:solidFill>
                  <a:srgbClr val="FF0000"/>
                </a:solidFill>
              </a:rPr>
              <a:t>Bus</a:t>
            </a:r>
          </a:p>
          <a:p>
            <a:pPr lvl="1"/>
            <a:r>
              <a:rPr lang="de-DE" dirty="0"/>
              <a:t>Ein Satz von </a:t>
            </a:r>
            <a:r>
              <a:rPr lang="de-DE" u="sng" dirty="0"/>
              <a:t>Kabeln</a:t>
            </a:r>
            <a:r>
              <a:rPr lang="de-DE" dirty="0"/>
              <a:t> </a:t>
            </a:r>
            <a:r>
              <a:rPr lang="de-DE" b="1" dirty="0">
                <a:solidFill>
                  <a:srgbClr val="FF0000"/>
                </a:solidFill>
              </a:rPr>
              <a:t>und </a:t>
            </a:r>
            <a:r>
              <a:rPr lang="de-DE" dirty="0"/>
              <a:t>ein </a:t>
            </a:r>
            <a:r>
              <a:rPr lang="de-DE" u="sng" dirty="0"/>
              <a:t>Protokoll</a:t>
            </a:r>
            <a:endParaRPr lang="de-DE" b="1" u="sng" dirty="0"/>
          </a:p>
          <a:p>
            <a:pPr lvl="1"/>
            <a:r>
              <a:rPr lang="de-DE" dirty="0"/>
              <a:t>Diese unterscheiden sich durch Geschwindigkeit, Typ der Datenübertragung, Art der Konfiguration</a:t>
            </a:r>
          </a:p>
        </p:txBody>
      </p:sp>
      <p:sp>
        <p:nvSpPr>
          <p:cNvPr id="6" name="Inhaltsplatzhalter 5"/>
          <p:cNvSpPr>
            <a:spLocks noGrp="1"/>
          </p:cNvSpPr>
          <p:nvPr>
            <p:ph sz="quarter" idx="13"/>
          </p:nvPr>
        </p:nvSpPr>
        <p:spPr>
          <a:xfrm>
            <a:off x="467544" y="3357562"/>
            <a:ext cx="4104456" cy="3383806"/>
          </a:xfrm>
        </p:spPr>
        <p:txBody>
          <a:bodyPr>
            <a:normAutofit lnSpcReduction="10000"/>
          </a:bodyPr>
          <a:lstStyle/>
          <a:p>
            <a:r>
              <a:rPr lang="de-DE" b="1" dirty="0">
                <a:solidFill>
                  <a:srgbClr val="FF0000"/>
                </a:solidFill>
              </a:rPr>
              <a:t>PCI </a:t>
            </a:r>
            <a:r>
              <a:rPr lang="de-DE" dirty="0"/>
              <a:t>Bus (</a:t>
            </a:r>
            <a:r>
              <a:rPr lang="de-DE" b="1" dirty="0" err="1">
                <a:solidFill>
                  <a:srgbClr val="FF0000"/>
                </a:solidFill>
              </a:rPr>
              <a:t>Peripheral</a:t>
            </a:r>
            <a:r>
              <a:rPr lang="de-DE" b="1" dirty="0">
                <a:solidFill>
                  <a:srgbClr val="FF0000"/>
                </a:solidFill>
              </a:rPr>
              <a:t> </a:t>
            </a:r>
            <a:r>
              <a:rPr lang="de-DE" b="1" dirty="0" err="1">
                <a:solidFill>
                  <a:srgbClr val="FF0000"/>
                </a:solidFill>
              </a:rPr>
              <a:t>Component</a:t>
            </a:r>
            <a:r>
              <a:rPr lang="de-DE" b="1" dirty="0">
                <a:solidFill>
                  <a:srgbClr val="FF0000"/>
                </a:solidFill>
              </a:rPr>
              <a:t> Inter-</a:t>
            </a:r>
            <a:r>
              <a:rPr lang="de-DE" b="1" dirty="0" err="1">
                <a:solidFill>
                  <a:srgbClr val="FF0000"/>
                </a:solidFill>
              </a:rPr>
              <a:t>connect</a:t>
            </a:r>
            <a:r>
              <a:rPr lang="de-DE" dirty="0"/>
              <a:t>) verbindet die schnellen Hauptkomponenten </a:t>
            </a:r>
          </a:p>
          <a:p>
            <a:pPr marL="274320" lvl="1">
              <a:spcBef>
                <a:spcPts val="600"/>
              </a:spcBef>
              <a:buClr>
                <a:schemeClr val="accent1"/>
              </a:buClr>
            </a:pPr>
            <a:r>
              <a:rPr lang="de-DE" dirty="0"/>
              <a:t>PCI-Nachfolger: PCI-X 2.0, HyperTransport, PCI-Express (</a:t>
            </a:r>
            <a:r>
              <a:rPr lang="de-DE" dirty="0" err="1">
                <a:hlinkClick r:id="rId3"/>
              </a:rPr>
              <a:t>PCIe</a:t>
            </a:r>
            <a:r>
              <a:rPr lang="de-DE" dirty="0"/>
              <a:t>) – 3.0 seit 18-11-2010</a:t>
            </a:r>
          </a:p>
          <a:p>
            <a:endParaRPr lang="de-DE" dirty="0"/>
          </a:p>
        </p:txBody>
      </p:sp>
    </p:spTree>
    <p:extLst>
      <p:ext uri="{BB962C8B-B14F-4D97-AF65-F5344CB8AC3E}">
        <p14:creationId xmlns:p14="http://schemas.microsoft.com/office/powerpoint/2010/main" val="2050482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Bus-Systeme in Modernen PCs </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26</a:t>
            </a:fld>
            <a:endParaRPr lang="en-US" noProof="0" dirty="0"/>
          </a:p>
        </p:txBody>
      </p:sp>
      <p:sp>
        <p:nvSpPr>
          <p:cNvPr id="4" name="Inhaltsplatzhalter 3"/>
          <p:cNvSpPr>
            <a:spLocks noGrp="1"/>
          </p:cNvSpPr>
          <p:nvPr>
            <p:ph sz="quarter" idx="1"/>
          </p:nvPr>
        </p:nvSpPr>
        <p:spPr/>
        <p:txBody>
          <a:bodyPr>
            <a:normAutofit lnSpcReduction="10000"/>
          </a:bodyPr>
          <a:lstStyle/>
          <a:p>
            <a:r>
              <a:rPr lang="de-DE" dirty="0"/>
              <a:t>Heutige PCs haben spezielle Chips für die Kommunikation zwischen Komponenten</a:t>
            </a:r>
          </a:p>
          <a:p>
            <a:r>
              <a:rPr lang="de-DE" b="1" dirty="0" err="1">
                <a:solidFill>
                  <a:srgbClr val="FF0000"/>
                </a:solidFill>
              </a:rPr>
              <a:t>Northbridge</a:t>
            </a:r>
            <a:endParaRPr lang="de-DE" b="1" dirty="0">
              <a:solidFill>
                <a:srgbClr val="FF0000"/>
              </a:solidFill>
            </a:endParaRPr>
          </a:p>
          <a:p>
            <a:pPr lvl="1"/>
            <a:r>
              <a:rPr lang="de-DE" dirty="0"/>
              <a:t>Für die Kommunikation zwischen CPU, RAM, BIOS ROM und PCI Express bzw. AGP Graphikkarten</a:t>
            </a:r>
          </a:p>
          <a:p>
            <a:r>
              <a:rPr lang="de-DE" b="1" dirty="0" err="1">
                <a:solidFill>
                  <a:srgbClr val="FF0000"/>
                </a:solidFill>
              </a:rPr>
              <a:t>Southbridge</a:t>
            </a:r>
            <a:endParaRPr lang="de-DE" b="1" dirty="0">
              <a:solidFill>
                <a:srgbClr val="FF0000"/>
              </a:solidFill>
            </a:endParaRPr>
          </a:p>
        </p:txBody>
      </p:sp>
      <p:sp>
        <p:nvSpPr>
          <p:cNvPr id="5" name="Inhaltsplatzhalter 4"/>
          <p:cNvSpPr>
            <a:spLocks noGrp="1"/>
          </p:cNvSpPr>
          <p:nvPr>
            <p:ph sz="quarter" idx="13"/>
          </p:nvPr>
        </p:nvSpPr>
        <p:spPr>
          <a:xfrm>
            <a:off x="467544" y="3645024"/>
            <a:ext cx="3096344" cy="2713856"/>
          </a:xfrm>
        </p:spPr>
        <p:txBody>
          <a:bodyPr/>
          <a:lstStyle/>
          <a:p>
            <a:pPr lvl="1"/>
            <a:r>
              <a:rPr lang="de-DE" dirty="0"/>
              <a:t>Für „langsamere“ Geräte, z.B. USB, SATA, Audio Chips, Netzwerk, PCI Bus</a:t>
            </a:r>
          </a:p>
        </p:txBody>
      </p:sp>
      <p:pic>
        <p:nvPicPr>
          <p:cNvPr id="2052" name="Picture 4" descr="C:\Artur\Academic\Lehre\10.WS-IBN\VL\figures\vl13\370px-Motherboard_diagram.svg.png"/>
          <p:cNvPicPr>
            <a:picLocks noChangeAspect="1" noChangeArrowheads="1"/>
          </p:cNvPicPr>
          <p:nvPr/>
        </p:nvPicPr>
        <p:blipFill>
          <a:blip r:embed="rId2" cstate="print"/>
          <a:srcRect/>
          <a:stretch>
            <a:fillRect/>
          </a:stretch>
        </p:blipFill>
        <p:spPr bwMode="auto">
          <a:xfrm>
            <a:off x="6300192" y="2775089"/>
            <a:ext cx="2448272" cy="3771663"/>
          </a:xfrm>
          <a:prstGeom prst="rect">
            <a:avLst/>
          </a:prstGeom>
          <a:noFill/>
        </p:spPr>
      </p:pic>
      <p:pic>
        <p:nvPicPr>
          <p:cNvPr id="2053" name="Picture 5" descr="C:\Artur\Academic\Lehre\10.WS-IBN\VL\figures\vl13\576px-Northsouthbridge.svg.png"/>
          <p:cNvPicPr>
            <a:picLocks noChangeAspect="1" noChangeArrowheads="1"/>
          </p:cNvPicPr>
          <p:nvPr/>
        </p:nvPicPr>
        <p:blipFill>
          <a:blip r:embed="rId3" cstate="print"/>
          <a:srcRect/>
          <a:stretch>
            <a:fillRect/>
          </a:stretch>
        </p:blipFill>
        <p:spPr bwMode="auto">
          <a:xfrm>
            <a:off x="3419872" y="3429000"/>
            <a:ext cx="2950583" cy="3073524"/>
          </a:xfrm>
          <a:prstGeom prst="rect">
            <a:avLst/>
          </a:prstGeom>
          <a:noFill/>
        </p:spPr>
      </p:pic>
    </p:spTree>
    <p:extLst>
      <p:ext uri="{BB962C8B-B14F-4D97-AF65-F5344CB8AC3E}">
        <p14:creationId xmlns:p14="http://schemas.microsoft.com/office/powerpoint/2010/main" val="3033607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Controller und Zugriff darauf</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27</a:t>
            </a:fld>
            <a:endParaRPr lang="en-US" noProof="0" dirty="0"/>
          </a:p>
        </p:txBody>
      </p:sp>
      <p:sp>
        <p:nvSpPr>
          <p:cNvPr id="4" name="Inhaltsplatzhalter 3"/>
          <p:cNvSpPr>
            <a:spLocks noGrp="1"/>
          </p:cNvSpPr>
          <p:nvPr>
            <p:ph sz="quarter" idx="1"/>
          </p:nvPr>
        </p:nvSpPr>
        <p:spPr/>
        <p:txBody>
          <a:bodyPr>
            <a:normAutofit/>
          </a:bodyPr>
          <a:lstStyle/>
          <a:p>
            <a:r>
              <a:rPr lang="de-DE" dirty="0"/>
              <a:t>Die elektronische Komponente eines I/O-Gerätes heißt </a:t>
            </a:r>
            <a:r>
              <a:rPr lang="de-DE" b="1" dirty="0">
                <a:solidFill>
                  <a:srgbClr val="FF0000"/>
                </a:solidFill>
              </a:rPr>
              <a:t>Controller </a:t>
            </a:r>
            <a:r>
              <a:rPr lang="de-DE" dirty="0"/>
              <a:t>(</a:t>
            </a:r>
            <a:r>
              <a:rPr lang="de-DE" b="1" dirty="0">
                <a:solidFill>
                  <a:srgbClr val="FF0000"/>
                </a:solidFill>
              </a:rPr>
              <a:t>Gerätesteuereinheit</a:t>
            </a:r>
            <a:r>
              <a:rPr lang="de-DE" dirty="0"/>
              <a:t>, </a:t>
            </a:r>
            <a:r>
              <a:rPr lang="de-DE" b="1" dirty="0">
                <a:solidFill>
                  <a:srgbClr val="FF0000"/>
                </a:solidFill>
              </a:rPr>
              <a:t>Adapter</a:t>
            </a:r>
            <a:r>
              <a:rPr lang="de-DE" dirty="0"/>
              <a:t>)</a:t>
            </a:r>
          </a:p>
          <a:p>
            <a:r>
              <a:rPr lang="de-DE" dirty="0"/>
              <a:t>Wie kann die CPU Befehle an den Controller schicken und Daten senden / empfangen?</a:t>
            </a:r>
          </a:p>
          <a:p>
            <a:pPr lvl="1"/>
            <a:r>
              <a:rPr lang="de-DE" dirty="0"/>
              <a:t>Controller hat einen oder mehrere Register, die über den Bus erreicht werden können</a:t>
            </a:r>
          </a:p>
          <a:p>
            <a:pPr lvl="1"/>
            <a:r>
              <a:rPr lang="de-DE" dirty="0"/>
              <a:t>Gewisse Bits in den Kontrollregistern steuern das Gerät</a:t>
            </a:r>
          </a:p>
          <a:p>
            <a:pPr lvl="2"/>
            <a:r>
              <a:rPr lang="de-DE" dirty="0"/>
              <a:t>Siehe Beispiel Floppy-Disk-Controller in VL 1</a:t>
            </a:r>
          </a:p>
          <a:p>
            <a:pPr lvl="1"/>
            <a:r>
              <a:rPr lang="de-DE" dirty="0"/>
              <a:t>Andere sind für Daten</a:t>
            </a:r>
          </a:p>
          <a:p>
            <a:r>
              <a:rPr lang="de-DE" dirty="0">
                <a:solidFill>
                  <a:srgbClr val="0070C0"/>
                </a:solidFill>
              </a:rPr>
              <a:t>Zwei Arten des Zugriffs</a:t>
            </a:r>
            <a:r>
              <a:rPr lang="de-DE" dirty="0"/>
              <a:t> durch CPU sind möglich</a:t>
            </a:r>
          </a:p>
          <a:p>
            <a:pPr lvl="1"/>
            <a:r>
              <a:rPr lang="de-DE" dirty="0"/>
              <a:t>Spezielle </a:t>
            </a:r>
            <a:r>
              <a:rPr lang="de-DE" b="1" dirty="0">
                <a:solidFill>
                  <a:srgbClr val="FF0000"/>
                </a:solidFill>
              </a:rPr>
              <a:t>I/O-Prozessorbefehle</a:t>
            </a:r>
          </a:p>
          <a:p>
            <a:pPr lvl="1"/>
            <a:r>
              <a:rPr lang="de-DE" b="1" dirty="0">
                <a:solidFill>
                  <a:srgbClr val="FF0000"/>
                </a:solidFill>
              </a:rPr>
              <a:t>Memory-</a:t>
            </a:r>
            <a:r>
              <a:rPr lang="de-DE" b="1" dirty="0" err="1">
                <a:solidFill>
                  <a:srgbClr val="FF0000"/>
                </a:solidFill>
              </a:rPr>
              <a:t>Mapped</a:t>
            </a:r>
            <a:r>
              <a:rPr lang="de-DE" b="1" dirty="0">
                <a:solidFill>
                  <a:srgbClr val="FF0000"/>
                </a:solidFill>
              </a:rPr>
              <a:t>-I/O</a:t>
            </a:r>
          </a:p>
          <a:p>
            <a:endParaRPr lang="de-DE" dirty="0"/>
          </a:p>
        </p:txBody>
      </p:sp>
    </p:spTree>
    <p:extLst>
      <p:ext uri="{BB962C8B-B14F-4D97-AF65-F5344CB8AC3E}">
        <p14:creationId xmlns:p14="http://schemas.microsoft.com/office/powerpoint/2010/main" val="1824525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I/O-Prozessorbefehle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28</a:t>
            </a:fld>
            <a:endParaRPr lang="en-US" noProof="0" dirty="0"/>
          </a:p>
        </p:txBody>
      </p:sp>
      <p:sp>
        <p:nvSpPr>
          <p:cNvPr id="4" name="Inhaltsplatzhalter 3"/>
          <p:cNvSpPr>
            <a:spLocks noGrp="1"/>
          </p:cNvSpPr>
          <p:nvPr>
            <p:ph sz="quarter" idx="1"/>
          </p:nvPr>
        </p:nvSpPr>
        <p:spPr/>
        <p:txBody>
          <a:bodyPr/>
          <a:lstStyle/>
          <a:p>
            <a:r>
              <a:rPr lang="de-DE" dirty="0"/>
              <a:t>Jedem Kontrollregister (eines Geräts) wird eine </a:t>
            </a:r>
            <a:r>
              <a:rPr lang="de-DE" b="1" dirty="0">
                <a:solidFill>
                  <a:srgbClr val="FF0000"/>
                </a:solidFill>
              </a:rPr>
              <a:t>I/O-Ausgabeport-Nummer</a:t>
            </a:r>
            <a:r>
              <a:rPr lang="de-DE" dirty="0"/>
              <a:t> (</a:t>
            </a:r>
            <a:r>
              <a:rPr lang="de-DE" b="1" dirty="0">
                <a:solidFill>
                  <a:srgbClr val="FF0000"/>
                </a:solidFill>
              </a:rPr>
              <a:t>I/O </a:t>
            </a:r>
            <a:r>
              <a:rPr lang="de-DE" b="1" dirty="0" err="1">
                <a:solidFill>
                  <a:srgbClr val="FF0000"/>
                </a:solidFill>
              </a:rPr>
              <a:t>port</a:t>
            </a:r>
            <a:r>
              <a:rPr lang="de-DE" b="1" dirty="0">
                <a:solidFill>
                  <a:srgbClr val="FF0000"/>
                </a:solidFill>
              </a:rPr>
              <a:t> </a:t>
            </a:r>
            <a:r>
              <a:rPr lang="de-DE" b="1" dirty="0" err="1">
                <a:solidFill>
                  <a:srgbClr val="FF0000"/>
                </a:solidFill>
              </a:rPr>
              <a:t>number</a:t>
            </a:r>
            <a:r>
              <a:rPr lang="de-DE" dirty="0"/>
              <a:t>) zugewiesen</a:t>
            </a:r>
          </a:p>
          <a:p>
            <a:r>
              <a:rPr lang="de-DE" dirty="0"/>
              <a:t>Ein Befehl wie </a:t>
            </a:r>
            <a:r>
              <a:rPr lang="de-DE" b="1" dirty="0">
                <a:solidFill>
                  <a:srgbClr val="0070C0"/>
                </a:solidFill>
              </a:rPr>
              <a:t>IN</a:t>
            </a:r>
            <a:r>
              <a:rPr lang="de-DE" b="1" dirty="0">
                <a:solidFill>
                  <a:srgbClr val="FF0000"/>
                </a:solidFill>
              </a:rPr>
              <a:t> </a:t>
            </a:r>
            <a:r>
              <a:rPr lang="de-DE" b="1" dirty="0">
                <a:solidFill>
                  <a:srgbClr val="0070C0"/>
                </a:solidFill>
              </a:rPr>
              <a:t>REG,</a:t>
            </a:r>
            <a:r>
              <a:rPr lang="de-DE" b="1" dirty="0">
                <a:solidFill>
                  <a:srgbClr val="FF0000"/>
                </a:solidFill>
              </a:rPr>
              <a:t> </a:t>
            </a:r>
            <a:r>
              <a:rPr lang="de-DE" b="1" dirty="0">
                <a:solidFill>
                  <a:srgbClr val="0070C0"/>
                </a:solidFill>
              </a:rPr>
              <a:t>PORTNR</a:t>
            </a:r>
            <a:r>
              <a:rPr lang="de-DE" b="1" dirty="0">
                <a:solidFill>
                  <a:srgbClr val="FF0000"/>
                </a:solidFill>
              </a:rPr>
              <a:t> </a:t>
            </a:r>
            <a:r>
              <a:rPr lang="de-DE" dirty="0"/>
              <a:t>liest den Wert aus dem Port PORTNR in den CPU-Register </a:t>
            </a:r>
            <a:r>
              <a:rPr lang="de-DE" dirty="0">
                <a:solidFill>
                  <a:srgbClr val="0070C0"/>
                </a:solidFill>
              </a:rPr>
              <a:t>REG</a:t>
            </a:r>
          </a:p>
          <a:p>
            <a:pPr lvl="1"/>
            <a:r>
              <a:rPr lang="de-DE" b="1" dirty="0">
                <a:solidFill>
                  <a:srgbClr val="0070C0"/>
                </a:solidFill>
              </a:rPr>
              <a:t>in</a:t>
            </a:r>
            <a:r>
              <a:rPr lang="de-DE" dirty="0"/>
              <a:t> al,060h 	;liest ein Byte vom Port 60h nach </a:t>
            </a:r>
            <a:r>
              <a:rPr lang="de-DE" dirty="0">
                <a:solidFill>
                  <a:srgbClr val="0070C0"/>
                </a:solidFill>
              </a:rPr>
              <a:t>AL </a:t>
            </a:r>
          </a:p>
          <a:p>
            <a:pPr lvl="1"/>
            <a:r>
              <a:rPr lang="de-DE" b="1" dirty="0">
                <a:solidFill>
                  <a:srgbClr val="0070C0"/>
                </a:solidFill>
              </a:rPr>
              <a:t>in</a:t>
            </a:r>
            <a:r>
              <a:rPr lang="de-DE" dirty="0"/>
              <a:t> eax,0A0h 	;ein </a:t>
            </a:r>
            <a:r>
              <a:rPr lang="de-DE" dirty="0" err="1"/>
              <a:t>DWord</a:t>
            </a:r>
            <a:r>
              <a:rPr lang="de-DE" dirty="0"/>
              <a:t> von Port 0A0h nach </a:t>
            </a:r>
            <a:r>
              <a:rPr lang="de-DE" dirty="0">
                <a:solidFill>
                  <a:srgbClr val="0070C0"/>
                </a:solidFill>
              </a:rPr>
              <a:t>EAX </a:t>
            </a:r>
          </a:p>
          <a:p>
            <a:r>
              <a:rPr lang="de-DE" dirty="0"/>
              <a:t>Bei Ports über 255 muss man Register </a:t>
            </a:r>
            <a:r>
              <a:rPr lang="de-DE" dirty="0">
                <a:solidFill>
                  <a:srgbClr val="0070C0"/>
                </a:solidFill>
              </a:rPr>
              <a:t>DX</a:t>
            </a:r>
            <a:r>
              <a:rPr lang="de-DE" dirty="0"/>
              <a:t> benutzen</a:t>
            </a:r>
          </a:p>
          <a:p>
            <a:pPr lvl="1"/>
            <a:r>
              <a:rPr lang="de-DE" dirty="0" err="1">
                <a:solidFill>
                  <a:srgbClr val="0070C0"/>
                </a:solidFill>
              </a:rPr>
              <a:t>mov</a:t>
            </a:r>
            <a:r>
              <a:rPr lang="de-DE" dirty="0">
                <a:solidFill>
                  <a:srgbClr val="0070C0"/>
                </a:solidFill>
              </a:rPr>
              <a:t> </a:t>
            </a:r>
            <a:r>
              <a:rPr lang="de-DE" dirty="0"/>
              <a:t>dx,04F3Ch 	;Portnummer (&gt;255) nach </a:t>
            </a:r>
            <a:r>
              <a:rPr lang="de-DE" dirty="0">
                <a:solidFill>
                  <a:srgbClr val="0070C0"/>
                </a:solidFill>
              </a:rPr>
              <a:t>DX </a:t>
            </a:r>
          </a:p>
          <a:p>
            <a:pPr lvl="1"/>
            <a:r>
              <a:rPr lang="de-DE" b="1" dirty="0">
                <a:solidFill>
                  <a:srgbClr val="0070C0"/>
                </a:solidFill>
              </a:rPr>
              <a:t>in</a:t>
            </a:r>
            <a:r>
              <a:rPr lang="de-DE" dirty="0">
                <a:solidFill>
                  <a:srgbClr val="0070C0"/>
                </a:solidFill>
              </a:rPr>
              <a:t> </a:t>
            </a:r>
            <a:r>
              <a:rPr lang="de-DE" dirty="0" err="1"/>
              <a:t>ax,dx</a:t>
            </a:r>
            <a:r>
              <a:rPr lang="de-DE" dirty="0"/>
              <a:t> 		;Vom Port [</a:t>
            </a:r>
            <a:r>
              <a:rPr lang="de-DE" dirty="0">
                <a:solidFill>
                  <a:srgbClr val="0070C0"/>
                </a:solidFill>
              </a:rPr>
              <a:t>DX</a:t>
            </a:r>
            <a:r>
              <a:rPr lang="de-DE" dirty="0"/>
              <a:t>] ein Word nach </a:t>
            </a:r>
            <a:r>
              <a:rPr lang="de-DE" dirty="0">
                <a:solidFill>
                  <a:srgbClr val="0070C0"/>
                </a:solidFill>
              </a:rPr>
              <a:t>AX</a:t>
            </a:r>
          </a:p>
        </p:txBody>
      </p:sp>
    </p:spTree>
    <p:extLst>
      <p:ext uri="{BB962C8B-B14F-4D97-AF65-F5344CB8AC3E}">
        <p14:creationId xmlns:p14="http://schemas.microsoft.com/office/powerpoint/2010/main" val="958891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I/O-Prozessorbefehle - OUT</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29</a:t>
            </a:fld>
            <a:endParaRPr lang="en-US" noProof="0" dirty="0"/>
          </a:p>
        </p:txBody>
      </p:sp>
      <p:sp>
        <p:nvSpPr>
          <p:cNvPr id="4" name="Inhaltsplatzhalter 3"/>
          <p:cNvSpPr>
            <a:spLocks noGrp="1"/>
          </p:cNvSpPr>
          <p:nvPr>
            <p:ph sz="quarter" idx="1"/>
          </p:nvPr>
        </p:nvSpPr>
        <p:spPr/>
        <p:txBody>
          <a:bodyPr/>
          <a:lstStyle/>
          <a:p>
            <a:r>
              <a:rPr lang="de-DE" dirty="0"/>
              <a:t>Analog schreibt </a:t>
            </a:r>
            <a:r>
              <a:rPr lang="de-DE" b="1" dirty="0">
                <a:solidFill>
                  <a:srgbClr val="FF0000"/>
                </a:solidFill>
              </a:rPr>
              <a:t>OUT PORTNR, </a:t>
            </a:r>
            <a:r>
              <a:rPr lang="de-DE" b="1" dirty="0">
                <a:solidFill>
                  <a:srgbClr val="0070C0"/>
                </a:solidFill>
              </a:rPr>
              <a:t>REG</a:t>
            </a:r>
            <a:r>
              <a:rPr lang="de-DE" b="1" dirty="0">
                <a:solidFill>
                  <a:srgbClr val="FF0000"/>
                </a:solidFill>
              </a:rPr>
              <a:t> </a:t>
            </a:r>
            <a:r>
              <a:rPr lang="de-DE" dirty="0"/>
              <a:t>den Inhalt des Registers </a:t>
            </a:r>
            <a:r>
              <a:rPr lang="de-DE" dirty="0">
                <a:solidFill>
                  <a:srgbClr val="0070C0"/>
                </a:solidFill>
              </a:rPr>
              <a:t>REG</a:t>
            </a:r>
            <a:r>
              <a:rPr lang="de-DE" dirty="0"/>
              <a:t> in den Port mit Adresse </a:t>
            </a:r>
            <a:r>
              <a:rPr lang="de-DE" dirty="0">
                <a:solidFill>
                  <a:srgbClr val="FF0000"/>
                </a:solidFill>
              </a:rPr>
              <a:t>PORTNR</a:t>
            </a:r>
          </a:p>
          <a:p>
            <a:pPr lvl="1"/>
            <a:r>
              <a:rPr lang="de-DE" b="1" dirty="0">
                <a:solidFill>
                  <a:srgbClr val="0070C0"/>
                </a:solidFill>
              </a:rPr>
              <a:t>out</a:t>
            </a:r>
            <a:r>
              <a:rPr lang="de-DE" dirty="0"/>
              <a:t> 34h,ax 	;Den Wert in </a:t>
            </a:r>
            <a:r>
              <a:rPr lang="de-DE" dirty="0">
                <a:solidFill>
                  <a:srgbClr val="0070C0"/>
                </a:solidFill>
              </a:rPr>
              <a:t>AX</a:t>
            </a:r>
            <a:r>
              <a:rPr lang="de-DE" dirty="0"/>
              <a:t> an Port 34h senden </a:t>
            </a:r>
          </a:p>
          <a:p>
            <a:pPr lvl="1"/>
            <a:r>
              <a:rPr lang="de-DE" dirty="0" err="1">
                <a:solidFill>
                  <a:srgbClr val="0070C0"/>
                </a:solidFill>
              </a:rPr>
              <a:t>mov</a:t>
            </a:r>
            <a:r>
              <a:rPr lang="de-DE" dirty="0">
                <a:solidFill>
                  <a:srgbClr val="0070C0"/>
                </a:solidFill>
              </a:rPr>
              <a:t> </a:t>
            </a:r>
            <a:r>
              <a:rPr lang="de-DE" dirty="0"/>
              <a:t>dx,04573h 	;Portnummer 04573h in </a:t>
            </a:r>
            <a:r>
              <a:rPr lang="de-DE" dirty="0">
                <a:solidFill>
                  <a:srgbClr val="0070C0"/>
                </a:solidFill>
              </a:rPr>
              <a:t>DX </a:t>
            </a:r>
          </a:p>
          <a:p>
            <a:pPr lvl="1"/>
            <a:r>
              <a:rPr lang="de-DE" b="1" dirty="0">
                <a:solidFill>
                  <a:srgbClr val="0070C0"/>
                </a:solidFill>
              </a:rPr>
              <a:t>out</a:t>
            </a:r>
            <a:r>
              <a:rPr lang="de-DE" dirty="0">
                <a:solidFill>
                  <a:srgbClr val="0070C0"/>
                </a:solidFill>
              </a:rPr>
              <a:t> </a:t>
            </a:r>
            <a:r>
              <a:rPr lang="de-DE" dirty="0" err="1"/>
              <a:t>dx,al</a:t>
            </a:r>
            <a:r>
              <a:rPr lang="de-DE" dirty="0"/>
              <a:t> 		;An Port [</a:t>
            </a:r>
            <a:r>
              <a:rPr lang="de-DE" dirty="0">
                <a:solidFill>
                  <a:srgbClr val="0070C0"/>
                </a:solidFill>
              </a:rPr>
              <a:t>DX</a:t>
            </a:r>
            <a:r>
              <a:rPr lang="de-DE" dirty="0"/>
              <a:t>] den Inhalt von </a:t>
            </a:r>
            <a:r>
              <a:rPr lang="de-DE" dirty="0">
                <a:solidFill>
                  <a:srgbClr val="0070C0"/>
                </a:solidFill>
              </a:rPr>
              <a:t>AL</a:t>
            </a:r>
            <a:r>
              <a:rPr lang="de-DE" dirty="0"/>
              <a:t> senden</a:t>
            </a:r>
          </a:p>
          <a:p>
            <a:r>
              <a:rPr lang="de-DE" dirty="0"/>
              <a:t>Achtung: Der Adressraum des Speichers und der I/O-Befehle können gleich sein, trotzdem wird woanders gelesen / geschrieben!</a:t>
            </a:r>
          </a:p>
          <a:p>
            <a:pPr lvl="1"/>
            <a:r>
              <a:rPr lang="de-DE" b="1" dirty="0">
                <a:solidFill>
                  <a:srgbClr val="0070C0"/>
                </a:solidFill>
              </a:rPr>
              <a:t>IN R0,4 </a:t>
            </a:r>
            <a:r>
              <a:rPr lang="de-DE" dirty="0"/>
              <a:t>liest etwas anderes als </a:t>
            </a:r>
            <a:r>
              <a:rPr lang="de-DE" b="1" dirty="0">
                <a:solidFill>
                  <a:srgbClr val="0070C0"/>
                </a:solidFill>
              </a:rPr>
              <a:t>MOV R0,4</a:t>
            </a:r>
          </a:p>
        </p:txBody>
      </p:sp>
    </p:spTree>
    <p:extLst>
      <p:ext uri="{BB962C8B-B14F-4D97-AF65-F5344CB8AC3E}">
        <p14:creationId xmlns:p14="http://schemas.microsoft.com/office/powerpoint/2010/main" val="3289052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b="1" dirty="0">
                <a:solidFill>
                  <a:srgbClr val="FF0000"/>
                </a:solidFill>
              </a:rPr>
              <a:t>Memory-</a:t>
            </a:r>
            <a:r>
              <a:rPr lang="de-DE" b="1" dirty="0" err="1">
                <a:solidFill>
                  <a:srgbClr val="FF0000"/>
                </a:solidFill>
              </a:rPr>
              <a:t>Mapped</a:t>
            </a:r>
            <a:r>
              <a:rPr lang="de-DE" b="1" dirty="0">
                <a:solidFill>
                  <a:srgbClr val="FF0000"/>
                </a:solidFill>
              </a:rPr>
              <a:t>-I/O</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30</a:t>
            </a:fld>
            <a:endParaRPr lang="en-US" noProof="0" dirty="0"/>
          </a:p>
        </p:txBody>
      </p:sp>
      <p:sp>
        <p:nvSpPr>
          <p:cNvPr id="4" name="Inhaltsplatzhalter 3"/>
          <p:cNvSpPr>
            <a:spLocks noGrp="1"/>
          </p:cNvSpPr>
          <p:nvPr>
            <p:ph sz="quarter" idx="1"/>
          </p:nvPr>
        </p:nvSpPr>
        <p:spPr>
          <a:xfrm>
            <a:off x="457200" y="1219199"/>
            <a:ext cx="8507288" cy="2713857"/>
          </a:xfrm>
        </p:spPr>
        <p:txBody>
          <a:bodyPr>
            <a:normAutofit fontScale="92500"/>
          </a:bodyPr>
          <a:lstStyle/>
          <a:p>
            <a:r>
              <a:rPr lang="de-DE" dirty="0"/>
              <a:t>Hier werden die Kontrollregister (der Controller) in den Arbeitsspeicher „automagisch“ </a:t>
            </a:r>
            <a:r>
              <a:rPr lang="de-DE" u="sng" dirty="0"/>
              <a:t>eingeblendet</a:t>
            </a:r>
          </a:p>
          <a:p>
            <a:r>
              <a:rPr lang="de-DE" dirty="0"/>
              <a:t>Es wird auf diese Register mit normalen </a:t>
            </a:r>
            <a:r>
              <a:rPr lang="de-DE" dirty="0">
                <a:solidFill>
                  <a:srgbClr val="0070C0"/>
                </a:solidFill>
              </a:rPr>
              <a:t>MOV</a:t>
            </a:r>
            <a:r>
              <a:rPr lang="de-DE" dirty="0"/>
              <a:t>-Befehlen der CPU zugegriffen</a:t>
            </a:r>
          </a:p>
          <a:p>
            <a:r>
              <a:rPr lang="de-DE" dirty="0"/>
              <a:t>Wie?: Wenn CPU die Speicheradresse in einem Bereich ausgibt, wird Mainboard den Zugriff auf I/O-Geräte umleiten</a:t>
            </a:r>
          </a:p>
        </p:txBody>
      </p:sp>
      <p:pic>
        <p:nvPicPr>
          <p:cNvPr id="5" name="Picture 6"/>
          <p:cNvPicPr>
            <a:picLocks noChangeAspect="1" noChangeArrowheads="1"/>
          </p:cNvPicPr>
          <p:nvPr/>
        </p:nvPicPr>
        <p:blipFill>
          <a:blip r:embed="rId2" cstate="print"/>
          <a:srcRect/>
          <a:stretch>
            <a:fillRect/>
          </a:stretch>
        </p:blipFill>
        <p:spPr bwMode="auto">
          <a:xfrm>
            <a:off x="2411760" y="3738427"/>
            <a:ext cx="4896544" cy="3086952"/>
          </a:xfrm>
          <a:prstGeom prst="rect">
            <a:avLst/>
          </a:prstGeom>
          <a:noFill/>
          <a:ln w="9525">
            <a:noFill/>
            <a:miter lim="800000"/>
            <a:headEnd/>
            <a:tailEnd/>
          </a:ln>
        </p:spPr>
      </p:pic>
      <p:sp>
        <p:nvSpPr>
          <p:cNvPr id="6" name="Textfeld 5"/>
          <p:cNvSpPr txBox="1"/>
          <p:nvPr/>
        </p:nvSpPr>
        <p:spPr>
          <a:xfrm>
            <a:off x="179512" y="4149080"/>
            <a:ext cx="2232248" cy="1938992"/>
          </a:xfrm>
          <a:prstGeom prst="rect">
            <a:avLst/>
          </a:prstGeom>
          <a:noFill/>
        </p:spPr>
        <p:txBody>
          <a:bodyPr wrap="square" rtlCol="0">
            <a:spAutoFit/>
          </a:bodyPr>
          <a:lstStyle/>
          <a:p>
            <a:r>
              <a:rPr lang="de-DE" sz="2400" dirty="0"/>
              <a:t>Adressen</a:t>
            </a:r>
          </a:p>
          <a:p>
            <a:r>
              <a:rPr lang="de-DE" sz="2400" dirty="0"/>
              <a:t>von Kontroll-Registern einiger Geräte bei alten PCs</a:t>
            </a:r>
          </a:p>
        </p:txBody>
      </p:sp>
    </p:spTree>
    <p:extLst>
      <p:ext uri="{BB962C8B-B14F-4D97-AF65-F5344CB8AC3E}">
        <p14:creationId xmlns:p14="http://schemas.microsoft.com/office/powerpoint/2010/main" val="14379246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31</a:t>
            </a:fld>
            <a:endParaRPr lang="de-DE" dirty="0"/>
          </a:p>
        </p:txBody>
      </p:sp>
      <p:sp>
        <p:nvSpPr>
          <p:cNvPr id="3" name="Titel 2"/>
          <p:cNvSpPr>
            <a:spLocks noGrp="1"/>
          </p:cNvSpPr>
          <p:nvPr>
            <p:ph type="title"/>
          </p:nvPr>
        </p:nvSpPr>
        <p:spPr/>
        <p:txBody>
          <a:bodyPr/>
          <a:lstStyle/>
          <a:p>
            <a:r>
              <a:rPr lang="de-DE" dirty="0"/>
              <a:t>IT-Sicherheit:</a:t>
            </a:r>
            <a:br>
              <a:rPr lang="de-DE" dirty="0"/>
            </a:br>
            <a:r>
              <a:rPr lang="de-DE" dirty="0"/>
              <a:t>Pufferüberlaufangriffe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38A6C2-ABE6-40BE-83AD-9159D1F03F7E}"/>
              </a:ext>
            </a:extLst>
          </p:cNvPr>
          <p:cNvSpPr>
            <a:spLocks noGrp="1"/>
          </p:cNvSpPr>
          <p:nvPr>
            <p:ph type="title"/>
          </p:nvPr>
        </p:nvSpPr>
        <p:spPr/>
        <p:txBody>
          <a:bodyPr/>
          <a:lstStyle/>
          <a:p>
            <a:r>
              <a:rPr lang="de-DE" dirty="0"/>
              <a:t>Das Böse hat viele Gesichter …</a:t>
            </a:r>
            <a:endParaRPr lang="en-US" dirty="0"/>
          </a:p>
        </p:txBody>
      </p:sp>
      <p:sp>
        <p:nvSpPr>
          <p:cNvPr id="3" name="Foliennummernplatzhalter 2">
            <a:extLst>
              <a:ext uri="{FF2B5EF4-FFF2-40B4-BE49-F238E27FC236}">
                <a16:creationId xmlns:a16="http://schemas.microsoft.com/office/drawing/2014/main" id="{DC989642-A9BA-4DC4-BD93-067EA3809718}"/>
              </a:ext>
            </a:extLst>
          </p:cNvPr>
          <p:cNvSpPr>
            <a:spLocks noGrp="1"/>
          </p:cNvSpPr>
          <p:nvPr>
            <p:ph type="sldNum" sz="quarter" idx="12"/>
          </p:nvPr>
        </p:nvSpPr>
        <p:spPr/>
        <p:txBody>
          <a:bodyPr/>
          <a:lstStyle/>
          <a:p>
            <a:fld id="{7183533A-8A50-4A1F-BEA9-C8C6956451EB}" type="slidenum">
              <a:rPr lang="en-US" noProof="0" smtClean="0"/>
              <a:pPr/>
              <a:t>32</a:t>
            </a:fld>
            <a:endParaRPr lang="en-US" noProof="0" dirty="0"/>
          </a:p>
        </p:txBody>
      </p:sp>
      <p:grpSp>
        <p:nvGrpSpPr>
          <p:cNvPr id="8" name="Gruppieren 7">
            <a:extLst>
              <a:ext uri="{FF2B5EF4-FFF2-40B4-BE49-F238E27FC236}">
                <a16:creationId xmlns:a16="http://schemas.microsoft.com/office/drawing/2014/main" id="{F6BFB670-FA15-4ED8-ACCE-CC2B333080D0}"/>
              </a:ext>
            </a:extLst>
          </p:cNvPr>
          <p:cNvGrpSpPr/>
          <p:nvPr/>
        </p:nvGrpSpPr>
        <p:grpSpPr>
          <a:xfrm>
            <a:off x="539552" y="1484784"/>
            <a:ext cx="2387723" cy="2175048"/>
            <a:chOff x="539552" y="1484784"/>
            <a:chExt cx="2387723" cy="2175048"/>
          </a:xfrm>
        </p:grpSpPr>
        <p:pic>
          <p:nvPicPr>
            <p:cNvPr id="6" name="Grafik 5">
              <a:extLst>
                <a:ext uri="{FF2B5EF4-FFF2-40B4-BE49-F238E27FC236}">
                  <a16:creationId xmlns:a16="http://schemas.microsoft.com/office/drawing/2014/main" id="{2F48812C-FAD4-4D19-8C26-E6E2779AB12B}"/>
                </a:ext>
              </a:extLst>
            </p:cNvPr>
            <p:cNvPicPr>
              <a:picLocks noChangeAspect="1"/>
            </p:cNvPicPr>
            <p:nvPr/>
          </p:nvPicPr>
          <p:blipFill>
            <a:blip r:embed="rId2"/>
            <a:stretch>
              <a:fillRect/>
            </a:stretch>
          </p:blipFill>
          <p:spPr>
            <a:xfrm>
              <a:off x="539552" y="1484784"/>
              <a:ext cx="2387723" cy="1619333"/>
            </a:xfrm>
            <a:prstGeom prst="rect">
              <a:avLst/>
            </a:prstGeom>
          </p:spPr>
        </p:pic>
        <p:sp>
          <p:nvSpPr>
            <p:cNvPr id="7" name="Textfeld 6">
              <a:extLst>
                <a:ext uri="{FF2B5EF4-FFF2-40B4-BE49-F238E27FC236}">
                  <a16:creationId xmlns:a16="http://schemas.microsoft.com/office/drawing/2014/main" id="{87D17CC5-9522-4B6D-8BCF-51937DCB8FBB}"/>
                </a:ext>
              </a:extLst>
            </p:cNvPr>
            <p:cNvSpPr txBox="1"/>
            <p:nvPr/>
          </p:nvSpPr>
          <p:spPr>
            <a:xfrm>
              <a:off x="1221093" y="3198167"/>
              <a:ext cx="1024639" cy="461665"/>
            </a:xfrm>
            <a:prstGeom prst="rect">
              <a:avLst/>
            </a:prstGeom>
            <a:noFill/>
          </p:spPr>
          <p:txBody>
            <a:bodyPr wrap="none" rtlCol="0">
              <a:spAutoFit/>
            </a:bodyPr>
            <a:lstStyle/>
            <a:p>
              <a:r>
                <a:rPr lang="de-DE" sz="2400" dirty="0"/>
                <a:t>Aliens</a:t>
              </a:r>
              <a:endParaRPr lang="en-US" sz="2400" dirty="0"/>
            </a:p>
          </p:txBody>
        </p:sp>
      </p:grpSp>
      <p:grpSp>
        <p:nvGrpSpPr>
          <p:cNvPr id="11" name="Gruppieren 10">
            <a:extLst>
              <a:ext uri="{FF2B5EF4-FFF2-40B4-BE49-F238E27FC236}">
                <a16:creationId xmlns:a16="http://schemas.microsoft.com/office/drawing/2014/main" id="{EB870222-FCD4-45DE-B9C5-561AD1D9641F}"/>
              </a:ext>
            </a:extLst>
          </p:cNvPr>
          <p:cNvGrpSpPr/>
          <p:nvPr/>
        </p:nvGrpSpPr>
        <p:grpSpPr>
          <a:xfrm>
            <a:off x="3347864" y="2673024"/>
            <a:ext cx="2246438" cy="2125850"/>
            <a:chOff x="3347864" y="2673024"/>
            <a:chExt cx="2246438" cy="2125850"/>
          </a:xfrm>
        </p:grpSpPr>
        <p:pic>
          <p:nvPicPr>
            <p:cNvPr id="5" name="Picture 2" descr="C:\Artur\Academic\Lehre\10.WS-IBN\VL\figures\vl15\dr evil.jpg">
              <a:extLst>
                <a:ext uri="{FF2B5EF4-FFF2-40B4-BE49-F238E27FC236}">
                  <a16:creationId xmlns:a16="http://schemas.microsoft.com/office/drawing/2014/main" id="{957FA416-302D-410C-91C1-376D67C0FC71}"/>
                </a:ext>
              </a:extLst>
            </p:cNvPr>
            <p:cNvPicPr>
              <a:picLocks noChangeAspect="1" noChangeArrowheads="1"/>
            </p:cNvPicPr>
            <p:nvPr/>
          </p:nvPicPr>
          <p:blipFill>
            <a:blip r:embed="rId3" cstate="print"/>
            <a:srcRect/>
            <a:stretch>
              <a:fillRect/>
            </a:stretch>
          </p:blipFill>
          <p:spPr bwMode="auto">
            <a:xfrm>
              <a:off x="3347864" y="2673024"/>
              <a:ext cx="2246438" cy="1548064"/>
            </a:xfrm>
            <a:prstGeom prst="rect">
              <a:avLst/>
            </a:prstGeom>
            <a:noFill/>
          </p:spPr>
        </p:pic>
        <p:sp>
          <p:nvSpPr>
            <p:cNvPr id="9" name="Textfeld 8">
              <a:extLst>
                <a:ext uri="{FF2B5EF4-FFF2-40B4-BE49-F238E27FC236}">
                  <a16:creationId xmlns:a16="http://schemas.microsoft.com/office/drawing/2014/main" id="{865DA5B4-10D9-4678-99E6-75E1952854E5}"/>
                </a:ext>
              </a:extLst>
            </p:cNvPr>
            <p:cNvSpPr txBox="1"/>
            <p:nvPr/>
          </p:nvSpPr>
          <p:spPr>
            <a:xfrm>
              <a:off x="3958763" y="4337209"/>
              <a:ext cx="1159933" cy="461665"/>
            </a:xfrm>
            <a:prstGeom prst="rect">
              <a:avLst/>
            </a:prstGeom>
            <a:noFill/>
          </p:spPr>
          <p:txBody>
            <a:bodyPr wrap="none" rtlCol="0">
              <a:spAutoFit/>
            </a:bodyPr>
            <a:lstStyle/>
            <a:p>
              <a:r>
                <a:rPr lang="de-DE" sz="2400" dirty="0"/>
                <a:t>Dr. Evil</a:t>
              </a:r>
              <a:endParaRPr lang="en-US" sz="2400" dirty="0"/>
            </a:p>
          </p:txBody>
        </p:sp>
      </p:grpSp>
      <p:grpSp>
        <p:nvGrpSpPr>
          <p:cNvPr id="12" name="Gruppieren 11">
            <a:extLst>
              <a:ext uri="{FF2B5EF4-FFF2-40B4-BE49-F238E27FC236}">
                <a16:creationId xmlns:a16="http://schemas.microsoft.com/office/drawing/2014/main" id="{4C511383-5AB1-4960-9554-98B3612DB31C}"/>
              </a:ext>
            </a:extLst>
          </p:cNvPr>
          <p:cNvGrpSpPr/>
          <p:nvPr/>
        </p:nvGrpSpPr>
        <p:grpSpPr>
          <a:xfrm>
            <a:off x="6372200" y="3573016"/>
            <a:ext cx="2088232" cy="2364900"/>
            <a:chOff x="6372200" y="3573016"/>
            <a:chExt cx="2088232" cy="2364900"/>
          </a:xfrm>
        </p:grpSpPr>
        <p:pic>
          <p:nvPicPr>
            <p:cNvPr id="1026" name="Picture 2" descr="Bildergebnis fÃ¼r helene fischer">
              <a:extLst>
                <a:ext uri="{FF2B5EF4-FFF2-40B4-BE49-F238E27FC236}">
                  <a16:creationId xmlns:a16="http://schemas.microsoft.com/office/drawing/2014/main" id="{56D422AF-C032-4D8C-A813-D17650F8011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749" r="10529"/>
            <a:stretch/>
          </p:blipFill>
          <p:spPr bwMode="auto">
            <a:xfrm>
              <a:off x="6372200" y="3573016"/>
              <a:ext cx="2088232" cy="17430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feld 9">
              <a:extLst>
                <a:ext uri="{FF2B5EF4-FFF2-40B4-BE49-F238E27FC236}">
                  <a16:creationId xmlns:a16="http://schemas.microsoft.com/office/drawing/2014/main" id="{6A1EF56C-E4AF-4BF0-918D-C750DF75BC05}"/>
                </a:ext>
              </a:extLst>
            </p:cNvPr>
            <p:cNvSpPr txBox="1"/>
            <p:nvPr/>
          </p:nvSpPr>
          <p:spPr>
            <a:xfrm>
              <a:off x="6696433" y="5476251"/>
              <a:ext cx="1485856" cy="461665"/>
            </a:xfrm>
            <a:prstGeom prst="rect">
              <a:avLst/>
            </a:prstGeom>
            <a:noFill/>
          </p:spPr>
          <p:txBody>
            <a:bodyPr wrap="none" rtlCol="0">
              <a:spAutoFit/>
            </a:bodyPr>
            <a:lstStyle/>
            <a:p>
              <a:r>
                <a:rPr lang="de-DE" sz="2400" dirty="0"/>
                <a:t>Helene F.</a:t>
              </a:r>
              <a:endParaRPr lang="en-US" sz="2400" dirty="0"/>
            </a:p>
          </p:txBody>
        </p:sp>
      </p:grpSp>
    </p:spTree>
    <p:extLst>
      <p:ext uri="{BB962C8B-B14F-4D97-AF65-F5344CB8AC3E}">
        <p14:creationId xmlns:p14="http://schemas.microsoft.com/office/powerpoint/2010/main" val="150788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Einbruch in ein System</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33</a:t>
            </a:fld>
            <a:endParaRPr lang="en-US" noProof="0" dirty="0"/>
          </a:p>
        </p:txBody>
      </p:sp>
      <p:sp>
        <p:nvSpPr>
          <p:cNvPr id="4" name="Inhaltsplatzhalter 3"/>
          <p:cNvSpPr>
            <a:spLocks noGrp="1"/>
          </p:cNvSpPr>
          <p:nvPr>
            <p:ph sz="quarter" idx="1"/>
          </p:nvPr>
        </p:nvSpPr>
        <p:spPr/>
        <p:txBody>
          <a:bodyPr>
            <a:normAutofit/>
          </a:bodyPr>
          <a:lstStyle/>
          <a:p>
            <a:r>
              <a:rPr lang="de-DE" b="1" dirty="0">
                <a:solidFill>
                  <a:srgbClr val="FF0000"/>
                </a:solidFill>
              </a:rPr>
              <a:t>Hacker/Cracker </a:t>
            </a:r>
            <a:r>
              <a:rPr lang="de-DE" dirty="0"/>
              <a:t>sind Personen, die illegal in ein Computersystem einbrechen</a:t>
            </a:r>
          </a:p>
          <a:p>
            <a:pPr lvl="1"/>
            <a:r>
              <a:rPr lang="de-DE" dirty="0"/>
              <a:t>Name verwendet auch für Personen, die Kopierschutz-mechanismen entfernen (=&gt; „</a:t>
            </a:r>
            <a:r>
              <a:rPr lang="de-DE" b="1" dirty="0" err="1">
                <a:solidFill>
                  <a:srgbClr val="FF0000"/>
                </a:solidFill>
              </a:rPr>
              <a:t>cracked</a:t>
            </a:r>
            <a:r>
              <a:rPr lang="de-DE" b="1" dirty="0">
                <a:solidFill>
                  <a:srgbClr val="FF0000"/>
                </a:solidFill>
              </a:rPr>
              <a:t> </a:t>
            </a:r>
            <a:r>
              <a:rPr lang="de-DE" dirty="0" err="1"/>
              <a:t>software</a:t>
            </a:r>
            <a:r>
              <a:rPr lang="de-DE" dirty="0"/>
              <a:t>“)</a:t>
            </a:r>
          </a:p>
          <a:p>
            <a:r>
              <a:rPr lang="de-DE" dirty="0"/>
              <a:t>Mögliche Arten des Einbruchs?</a:t>
            </a:r>
          </a:p>
          <a:p>
            <a:endParaRPr lang="de-DE" b="1" dirty="0">
              <a:solidFill>
                <a:srgbClr val="FF0000"/>
              </a:solidFill>
            </a:endParaRPr>
          </a:p>
        </p:txBody>
      </p:sp>
      <p:sp>
        <p:nvSpPr>
          <p:cNvPr id="5" name="Inhaltsplatzhalter 4"/>
          <p:cNvSpPr>
            <a:spLocks noGrp="1"/>
          </p:cNvSpPr>
          <p:nvPr>
            <p:ph sz="quarter" idx="13"/>
          </p:nvPr>
        </p:nvSpPr>
        <p:spPr>
          <a:xfrm>
            <a:off x="467544" y="3429000"/>
            <a:ext cx="8208912" cy="2929880"/>
          </a:xfrm>
        </p:spPr>
        <p:txBody>
          <a:bodyPr/>
          <a:lstStyle/>
          <a:p>
            <a:r>
              <a:rPr lang="de-DE" dirty="0"/>
              <a:t>Erraten von Passwörtern</a:t>
            </a:r>
          </a:p>
          <a:p>
            <a:r>
              <a:rPr lang="de-DE" dirty="0"/>
              <a:t>Pufferüberlaufangriff</a:t>
            </a:r>
          </a:p>
          <a:p>
            <a:pPr lvl="1"/>
            <a:r>
              <a:rPr lang="de-DE" dirty="0"/>
              <a:t>Direkt</a:t>
            </a:r>
          </a:p>
          <a:p>
            <a:pPr lvl="1"/>
            <a:r>
              <a:rPr lang="de-DE" dirty="0"/>
              <a:t>Ganzzahlüberlauf</a:t>
            </a:r>
          </a:p>
          <a:p>
            <a:pPr lvl="1"/>
            <a:r>
              <a:rPr lang="de-DE" dirty="0"/>
              <a:t>Formatstring-Angriff</a:t>
            </a:r>
          </a:p>
          <a:p>
            <a:r>
              <a:rPr lang="de-DE" dirty="0"/>
              <a:t>Code-</a:t>
            </a:r>
            <a:r>
              <a:rPr lang="de-DE" dirty="0" err="1"/>
              <a:t>Injection</a:t>
            </a:r>
            <a:r>
              <a:rPr lang="de-DE" dirty="0"/>
              <a:t> / SQL-</a:t>
            </a:r>
            <a:r>
              <a:rPr lang="de-DE" dirty="0" err="1"/>
              <a:t>Injection</a:t>
            </a:r>
            <a:endParaRPr lang="de-DE" dirty="0"/>
          </a:p>
          <a:p>
            <a:endParaRPr lang="de-DE" dirty="0"/>
          </a:p>
          <a:p>
            <a:endParaRPr lang="de-D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2000"/>
                                        <p:tgtEl>
                                          <p:spTgt spid="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20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20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2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Pufferüberlaufangriffe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34</a:t>
            </a:fld>
            <a:endParaRPr lang="en-US" noProof="0" dirty="0"/>
          </a:p>
        </p:txBody>
      </p:sp>
      <p:sp>
        <p:nvSpPr>
          <p:cNvPr id="4" name="Inhaltsplatzhalter 3"/>
          <p:cNvSpPr>
            <a:spLocks noGrp="1"/>
          </p:cNvSpPr>
          <p:nvPr>
            <p:ph sz="quarter" idx="1"/>
          </p:nvPr>
        </p:nvSpPr>
        <p:spPr>
          <a:xfrm>
            <a:off x="457200" y="1219200"/>
            <a:ext cx="8229600" cy="553616"/>
          </a:xfrm>
        </p:spPr>
        <p:txBody>
          <a:bodyPr>
            <a:normAutofit/>
          </a:bodyPr>
          <a:lstStyle/>
          <a:p>
            <a:r>
              <a:rPr lang="de-DE" dirty="0"/>
              <a:t>Wiederholung: </a:t>
            </a:r>
            <a:r>
              <a:rPr lang="de-DE" dirty="0" err="1"/>
              <a:t>Stack</a:t>
            </a:r>
            <a:r>
              <a:rPr lang="de-DE" dirty="0"/>
              <a:t> wird u.a. benutzt als…</a:t>
            </a:r>
          </a:p>
        </p:txBody>
      </p:sp>
      <p:sp>
        <p:nvSpPr>
          <p:cNvPr id="5" name="Inhaltsplatzhalter 4"/>
          <p:cNvSpPr>
            <a:spLocks noGrp="1"/>
          </p:cNvSpPr>
          <p:nvPr>
            <p:ph sz="quarter" idx="13"/>
          </p:nvPr>
        </p:nvSpPr>
        <p:spPr>
          <a:xfrm>
            <a:off x="467544" y="2996952"/>
            <a:ext cx="4608512" cy="3361928"/>
          </a:xfrm>
        </p:spPr>
        <p:txBody>
          <a:bodyPr>
            <a:normAutofit/>
          </a:bodyPr>
          <a:lstStyle/>
          <a:p>
            <a:r>
              <a:rPr lang="de-DE" dirty="0"/>
              <a:t>Situation innerhalb einer Subroutine A</a:t>
            </a:r>
          </a:p>
          <a:p>
            <a:pPr lvl="1"/>
            <a:r>
              <a:rPr lang="de-DE" dirty="0"/>
              <a:t>A benutzt einen Puffer B (z.B. Array), </a:t>
            </a:r>
            <a:r>
              <a:rPr lang="de-DE" u="sng" dirty="0"/>
              <a:t>feste Größe</a:t>
            </a:r>
            <a:r>
              <a:rPr lang="de-DE" dirty="0"/>
              <a:t> n</a:t>
            </a:r>
          </a:p>
          <a:p>
            <a:pPr lvl="1"/>
            <a:r>
              <a:rPr lang="de-DE" dirty="0"/>
              <a:t>Daten werden in B von „unten nach oben“ abgelegt</a:t>
            </a:r>
          </a:p>
          <a:p>
            <a:r>
              <a:rPr lang="de-DE" dirty="0"/>
              <a:t>Wie könnte ein Einbruch funktionieren?</a:t>
            </a:r>
          </a:p>
          <a:p>
            <a:endParaRPr lang="de-DE" dirty="0"/>
          </a:p>
        </p:txBody>
      </p:sp>
      <p:sp>
        <p:nvSpPr>
          <p:cNvPr id="12" name="Inhaltsplatzhalter 3"/>
          <p:cNvSpPr txBox="1">
            <a:spLocks/>
          </p:cNvSpPr>
          <p:nvPr/>
        </p:nvSpPr>
        <p:spPr>
          <a:xfrm>
            <a:off x="539552" y="1700808"/>
            <a:ext cx="8229600" cy="1296144"/>
          </a:xfrm>
          <a:prstGeom prst="rect">
            <a:avLst/>
          </a:prstGeom>
        </p:spPr>
        <p:txBody>
          <a:bodyPr vert="horz">
            <a:normAutofit/>
          </a:bodyPr>
          <a:lstStyle/>
          <a:p>
            <a:pPr marL="548640" marR="0" lvl="1" indent="-274320" algn="l" defTabSz="914400" rtl="0" eaLnBrk="1" fontAlgn="auto" latinLnBrk="0" hangingPunct="1">
              <a:lnSpc>
                <a:spcPct val="100000"/>
              </a:lnSpc>
              <a:spcBef>
                <a:spcPts val="500"/>
              </a:spcBef>
              <a:spcAft>
                <a:spcPts val="0"/>
              </a:spcAft>
              <a:buClr>
                <a:schemeClr val="accent2"/>
              </a:buClr>
              <a:buSzPct val="76000"/>
              <a:buFont typeface="Wingdings 3"/>
              <a:buChar char=""/>
              <a:tabLst/>
              <a:defRPr/>
            </a:pPr>
            <a:r>
              <a:rPr kumimoji="0" lang="de-DE" sz="2300" b="0" i="0" u="none" strike="noStrike" kern="1200" cap="none" spc="0" normalizeH="0" baseline="0" noProof="0" dirty="0">
                <a:ln>
                  <a:noFill/>
                </a:ln>
                <a:solidFill>
                  <a:schemeClr val="tx2"/>
                </a:solidFill>
                <a:effectLst/>
                <a:uLnTx/>
                <a:uFillTx/>
                <a:latin typeface="+mn-lt"/>
                <a:ea typeface="+mn-ea"/>
                <a:cs typeface="+mn-cs"/>
              </a:rPr>
              <a:t>Speicher für die Rücksprungadresse bei Subroutinen-Aufrufen</a:t>
            </a:r>
          </a:p>
          <a:p>
            <a:pPr marL="548640" marR="0" lvl="1" indent="-274320" algn="l" defTabSz="914400" rtl="0" eaLnBrk="1" fontAlgn="auto" latinLnBrk="0" hangingPunct="1">
              <a:lnSpc>
                <a:spcPct val="100000"/>
              </a:lnSpc>
              <a:spcBef>
                <a:spcPts val="500"/>
              </a:spcBef>
              <a:spcAft>
                <a:spcPts val="0"/>
              </a:spcAft>
              <a:buClr>
                <a:schemeClr val="accent2"/>
              </a:buClr>
              <a:buSzPct val="76000"/>
              <a:buFont typeface="Wingdings 3"/>
              <a:buChar char=""/>
              <a:tabLst/>
              <a:defRPr/>
            </a:pPr>
            <a:r>
              <a:rPr kumimoji="0" lang="de-DE" sz="2300" b="0" i="0" u="none" strike="noStrike" kern="1200" cap="none" spc="0" normalizeH="0" baseline="0" noProof="0" dirty="0">
                <a:ln>
                  <a:noFill/>
                </a:ln>
                <a:solidFill>
                  <a:schemeClr val="tx2"/>
                </a:solidFill>
                <a:effectLst/>
                <a:uLnTx/>
                <a:uFillTx/>
                <a:latin typeface="+mn-lt"/>
                <a:ea typeface="+mn-ea"/>
                <a:cs typeface="+mn-cs"/>
              </a:rPr>
              <a:t>Speicher für lokale Daten der Subroutinen</a:t>
            </a:r>
          </a:p>
        </p:txBody>
      </p:sp>
      <p:graphicFrame>
        <p:nvGraphicFramePr>
          <p:cNvPr id="13" name="Inhaltsplatzhalter 6"/>
          <p:cNvGraphicFramePr>
            <a:graphicFrameLocks/>
          </p:cNvGraphicFramePr>
          <p:nvPr/>
        </p:nvGraphicFramePr>
        <p:xfrm>
          <a:off x="5364088" y="3717032"/>
          <a:ext cx="2157884" cy="2930624"/>
        </p:xfrm>
        <a:graphic>
          <a:graphicData uri="http://schemas.openxmlformats.org/drawingml/2006/table">
            <a:tbl>
              <a:tblPr firstRow="1" bandRow="1">
                <a:tableStyleId>{5940675A-B579-460E-94D1-54222C63F5DA}</a:tableStyleId>
              </a:tblPr>
              <a:tblGrid>
                <a:gridCol w="2157884">
                  <a:extLst>
                    <a:ext uri="{9D8B030D-6E8A-4147-A177-3AD203B41FA5}">
                      <a16:colId xmlns:a16="http://schemas.microsoft.com/office/drawing/2014/main" val="20000"/>
                    </a:ext>
                  </a:extLst>
                </a:gridCol>
              </a:tblGrid>
              <a:tr h="370840">
                <a:tc>
                  <a:txBody>
                    <a:bodyPr/>
                    <a:lstStyle/>
                    <a:p>
                      <a:pPr algn="ctr"/>
                      <a:r>
                        <a:rPr lang="de-DE" sz="2400" dirty="0"/>
                        <a:t>Return-Adr. </a:t>
                      </a:r>
                      <a:r>
                        <a:rPr lang="de-DE" sz="2400" dirty="0">
                          <a:solidFill>
                            <a:srgbClr val="FF0000"/>
                          </a:solidFill>
                        </a:rPr>
                        <a:t>R</a:t>
                      </a:r>
                    </a:p>
                  </a:txBody>
                  <a:tcPr/>
                </a:tc>
                <a:extLst>
                  <a:ext uri="{0D108BD9-81ED-4DB2-BD59-A6C34878D82A}">
                    <a16:rowId xmlns:a16="http://schemas.microsoft.com/office/drawing/2014/main" val="10000"/>
                  </a:ext>
                </a:extLst>
              </a:tr>
              <a:tr h="370840">
                <a:tc>
                  <a:txBody>
                    <a:bodyPr/>
                    <a:lstStyle/>
                    <a:p>
                      <a:pPr algn="ctr"/>
                      <a:r>
                        <a:rPr lang="de-DE" sz="2400" dirty="0"/>
                        <a:t>EBP</a:t>
                      </a:r>
                      <a:r>
                        <a:rPr lang="de-DE" sz="2400" baseline="0" dirty="0"/>
                        <a:t> Backup</a:t>
                      </a:r>
                      <a:endParaRPr lang="de-DE" sz="2400" dirty="0"/>
                    </a:p>
                  </a:txBody>
                  <a:tcPr/>
                </a:tc>
                <a:extLst>
                  <a:ext uri="{0D108BD9-81ED-4DB2-BD59-A6C34878D82A}">
                    <a16:rowId xmlns:a16="http://schemas.microsoft.com/office/drawing/2014/main" val="10001"/>
                  </a:ext>
                </a:extLst>
              </a:tr>
              <a:tr h="11018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2400" dirty="0"/>
                        <a:t>Puffer </a:t>
                      </a:r>
                      <a:r>
                        <a:rPr lang="de-DE" sz="2400" dirty="0">
                          <a:solidFill>
                            <a:srgbClr val="FF0000"/>
                          </a:solidFill>
                        </a:rPr>
                        <a:t>B</a:t>
                      </a:r>
                    </a:p>
                  </a:txBody>
                  <a:tcPr anchor="ct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2400" dirty="0" err="1"/>
                        <a:t>Var</a:t>
                      </a:r>
                      <a:r>
                        <a:rPr lang="de-DE" sz="2400" dirty="0"/>
                        <a:t> C</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2400" dirty="0"/>
                        <a:t>…</a:t>
                      </a:r>
                    </a:p>
                  </a:txBody>
                  <a:tcPr/>
                </a:tc>
                <a:extLst>
                  <a:ext uri="{0D108BD9-81ED-4DB2-BD59-A6C34878D82A}">
                    <a16:rowId xmlns:a16="http://schemas.microsoft.com/office/drawing/2014/main" val="10004"/>
                  </a:ext>
                </a:extLst>
              </a:tr>
            </a:tbl>
          </a:graphicData>
        </a:graphic>
      </p:graphicFrame>
      <p:cxnSp>
        <p:nvCxnSpPr>
          <p:cNvPr id="14" name="Gerade Verbindung mit Pfeil 13"/>
          <p:cNvCxnSpPr/>
          <p:nvPr/>
        </p:nvCxnSpPr>
        <p:spPr>
          <a:xfrm>
            <a:off x="7740352" y="3789040"/>
            <a:ext cx="0" cy="1224136"/>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5" name="Textfeld 14"/>
          <p:cNvSpPr txBox="1"/>
          <p:nvPr/>
        </p:nvSpPr>
        <p:spPr>
          <a:xfrm>
            <a:off x="7768684" y="3789040"/>
            <a:ext cx="1268296" cy="707886"/>
          </a:xfrm>
          <a:prstGeom prst="rect">
            <a:avLst/>
          </a:prstGeom>
          <a:noFill/>
        </p:spPr>
        <p:txBody>
          <a:bodyPr wrap="none" rtlCol="0">
            <a:spAutoFit/>
          </a:bodyPr>
          <a:lstStyle/>
          <a:p>
            <a:r>
              <a:rPr lang="de-DE" sz="2000" dirty="0"/>
              <a:t>kleinere</a:t>
            </a:r>
          </a:p>
          <a:p>
            <a:r>
              <a:rPr lang="de-DE" sz="2000" dirty="0"/>
              <a:t>Adressen</a:t>
            </a:r>
          </a:p>
        </p:txBody>
      </p:sp>
      <p:cxnSp>
        <p:nvCxnSpPr>
          <p:cNvPr id="16" name="Gerade Verbindung mit Pfeil 15"/>
          <p:cNvCxnSpPr>
            <a:stCxn id="17" idx="1"/>
          </p:cNvCxnSpPr>
          <p:nvPr/>
        </p:nvCxnSpPr>
        <p:spPr>
          <a:xfrm flipH="1">
            <a:off x="7568095" y="6365359"/>
            <a:ext cx="460289" cy="244977"/>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7" name="Textfeld 16"/>
          <p:cNvSpPr txBox="1"/>
          <p:nvPr/>
        </p:nvSpPr>
        <p:spPr>
          <a:xfrm>
            <a:off x="8028384" y="6165304"/>
            <a:ext cx="699230" cy="400110"/>
          </a:xfrm>
          <a:prstGeom prst="rect">
            <a:avLst/>
          </a:prstGeom>
          <a:noFill/>
        </p:spPr>
        <p:txBody>
          <a:bodyPr wrap="none" rtlCol="0">
            <a:spAutoFit/>
          </a:bodyPr>
          <a:lstStyle/>
          <a:p>
            <a:r>
              <a:rPr lang="de-DE" sz="2000" dirty="0">
                <a:solidFill>
                  <a:srgbClr val="0070C0"/>
                </a:solidFill>
              </a:rPr>
              <a:t>ESP</a:t>
            </a:r>
          </a:p>
        </p:txBody>
      </p:sp>
      <p:sp>
        <p:nvSpPr>
          <p:cNvPr id="18" name="Rechteck 17"/>
          <p:cNvSpPr/>
          <p:nvPr/>
        </p:nvSpPr>
        <p:spPr>
          <a:xfrm>
            <a:off x="6084168" y="3212976"/>
            <a:ext cx="1007007" cy="461665"/>
          </a:xfrm>
          <a:prstGeom prst="rect">
            <a:avLst/>
          </a:prstGeom>
        </p:spPr>
        <p:txBody>
          <a:bodyPr wrap="none">
            <a:spAutoFit/>
          </a:bodyPr>
          <a:lstStyle/>
          <a:p>
            <a:r>
              <a:rPr lang="de-DE" sz="2400" b="1" dirty="0" err="1">
                <a:solidFill>
                  <a:srgbClr val="FF0000"/>
                </a:solidFill>
              </a:rPr>
              <a:t>Stack</a:t>
            </a:r>
            <a:endParaRPr lang="de-DE" sz="2400" b="1" dirty="0">
              <a:solidFill>
                <a:srgbClr val="FF0000"/>
              </a:solidFill>
            </a:endParaRPr>
          </a:p>
        </p:txBody>
      </p:sp>
      <p:cxnSp>
        <p:nvCxnSpPr>
          <p:cNvPr id="20" name="Gerade Verbindung mit Pfeil 19"/>
          <p:cNvCxnSpPr/>
          <p:nvPr/>
        </p:nvCxnSpPr>
        <p:spPr>
          <a:xfrm flipH="1">
            <a:off x="7596336" y="5733256"/>
            <a:ext cx="360040"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1" name="Textfeld 20"/>
          <p:cNvSpPr txBox="1"/>
          <p:nvPr/>
        </p:nvSpPr>
        <p:spPr>
          <a:xfrm>
            <a:off x="8004555" y="5301208"/>
            <a:ext cx="840295" cy="707886"/>
          </a:xfrm>
          <a:prstGeom prst="rect">
            <a:avLst/>
          </a:prstGeom>
          <a:noFill/>
        </p:spPr>
        <p:txBody>
          <a:bodyPr wrap="none" rtlCol="0">
            <a:spAutoFit/>
          </a:bodyPr>
          <a:lstStyle/>
          <a:p>
            <a:r>
              <a:rPr lang="de-DE" sz="2000" dirty="0">
                <a:solidFill>
                  <a:srgbClr val="0070C0"/>
                </a:solidFill>
              </a:rPr>
              <a:t>Start</a:t>
            </a:r>
          </a:p>
          <a:p>
            <a:r>
              <a:rPr lang="de-DE" sz="2000" dirty="0">
                <a:solidFill>
                  <a:srgbClr val="0070C0"/>
                </a:solidFill>
              </a:rPr>
              <a:t>von B</a:t>
            </a:r>
          </a:p>
        </p:txBody>
      </p:sp>
    </p:spTree>
    <p:extLst>
      <p:ext uri="{BB962C8B-B14F-4D97-AF65-F5344CB8AC3E}">
        <p14:creationId xmlns:p14="http://schemas.microsoft.com/office/powerpoint/2010/main" val="8476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000"/>
                                        <p:tgtEl>
                                          <p:spTgt spid="1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fade">
                                      <p:cBhvr>
                                        <p:cTn id="10" dur="2000"/>
                                        <p:tgtEl>
                                          <p:spTgt spid="1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000"/>
                                        <p:tgtEl>
                                          <p:spTgt spid="5">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2000"/>
                                        <p:tgtEl>
                                          <p:spTgt spid="5">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2000"/>
                                        <p:tgtEl>
                                          <p:spTgt spid="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2000"/>
                                        <p:tgtEl>
                                          <p:spTgt spid="5">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20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0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2000"/>
                                        <p:tgtEl>
                                          <p:spTgt spid="15"/>
                                        </p:tgtEl>
                                      </p:cBhvr>
                                    </p:animEffect>
                                  </p:childTnLst>
                                </p:cTn>
                              </p:par>
                              <p:par>
                                <p:cTn id="36" presetID="10"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20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20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20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20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2" grpId="0" build="p"/>
      <p:bldP spid="15" grpId="0"/>
      <p:bldP spid="17" grpId="0"/>
      <p:bldP spid="18" grpId="0"/>
      <p:bldP spid="2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pieren 10"/>
          <p:cNvGrpSpPr/>
          <p:nvPr/>
        </p:nvGrpSpPr>
        <p:grpSpPr>
          <a:xfrm>
            <a:off x="3923928" y="2708920"/>
            <a:ext cx="4927077" cy="3743453"/>
            <a:chOff x="4044083" y="3212976"/>
            <a:chExt cx="4518892" cy="3390900"/>
          </a:xfrm>
        </p:grpSpPr>
        <p:pic>
          <p:nvPicPr>
            <p:cNvPr id="6147" name="Picture 3" descr="C:\Artur\Academic\Lehre\10.WS-IBN\VL\figures\vl15\buffer-overflow-1.jpg"/>
            <p:cNvPicPr>
              <a:picLocks noChangeAspect="1" noChangeArrowheads="1"/>
            </p:cNvPicPr>
            <p:nvPr/>
          </p:nvPicPr>
          <p:blipFill>
            <a:blip r:embed="rId3" cstate="print"/>
            <a:srcRect/>
            <a:stretch>
              <a:fillRect/>
            </a:stretch>
          </p:blipFill>
          <p:spPr bwMode="auto">
            <a:xfrm>
              <a:off x="4572000" y="3212976"/>
              <a:ext cx="3990975" cy="3390900"/>
            </a:xfrm>
            <a:prstGeom prst="rect">
              <a:avLst/>
            </a:prstGeom>
            <a:noFill/>
          </p:spPr>
        </p:pic>
        <p:sp>
          <p:nvSpPr>
            <p:cNvPr id="10" name="Textfeld 9"/>
            <p:cNvSpPr txBox="1"/>
            <p:nvPr/>
          </p:nvSpPr>
          <p:spPr>
            <a:xfrm>
              <a:off x="4044083" y="4843636"/>
              <a:ext cx="641302" cy="362428"/>
            </a:xfrm>
            <a:prstGeom prst="rect">
              <a:avLst/>
            </a:prstGeom>
            <a:noFill/>
          </p:spPr>
          <p:txBody>
            <a:bodyPr wrap="none" rtlCol="0">
              <a:spAutoFit/>
            </a:bodyPr>
            <a:lstStyle/>
            <a:p>
              <a:r>
                <a:rPr lang="de-DE" sz="2000" dirty="0">
                  <a:solidFill>
                    <a:srgbClr val="0070C0"/>
                  </a:solidFill>
                </a:rPr>
                <a:t>ESP</a:t>
              </a:r>
            </a:p>
          </p:txBody>
        </p:sp>
      </p:grpSp>
      <p:sp>
        <p:nvSpPr>
          <p:cNvPr id="2" name="Titel 1"/>
          <p:cNvSpPr>
            <a:spLocks noGrp="1"/>
          </p:cNvSpPr>
          <p:nvPr>
            <p:ph type="title"/>
          </p:nvPr>
        </p:nvSpPr>
        <p:spPr/>
        <p:txBody>
          <a:bodyPr/>
          <a:lstStyle/>
          <a:p>
            <a:r>
              <a:rPr lang="de-DE" dirty="0"/>
              <a:t>Pufferüberlaufangriffe /2</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35</a:t>
            </a:fld>
            <a:endParaRPr lang="en-US" noProof="0" dirty="0"/>
          </a:p>
        </p:txBody>
      </p:sp>
      <p:sp>
        <p:nvSpPr>
          <p:cNvPr id="4" name="Inhaltsplatzhalter 3"/>
          <p:cNvSpPr>
            <a:spLocks noGrp="1"/>
          </p:cNvSpPr>
          <p:nvPr>
            <p:ph sz="quarter" idx="1"/>
          </p:nvPr>
        </p:nvSpPr>
        <p:spPr>
          <a:xfrm>
            <a:off x="457200" y="1219200"/>
            <a:ext cx="8229600" cy="1849760"/>
          </a:xfrm>
        </p:spPr>
        <p:txBody>
          <a:bodyPr>
            <a:normAutofit/>
          </a:bodyPr>
          <a:lstStyle/>
          <a:p>
            <a:r>
              <a:rPr lang="de-DE" dirty="0"/>
              <a:t>Ein </a:t>
            </a:r>
            <a:r>
              <a:rPr lang="de-DE" b="1" dirty="0">
                <a:solidFill>
                  <a:srgbClr val="FF0000"/>
                </a:solidFill>
              </a:rPr>
              <a:t>Pufferüberlauf-Angriff</a:t>
            </a:r>
            <a:r>
              <a:rPr lang="de-DE" dirty="0"/>
              <a:t> (</a:t>
            </a:r>
            <a:r>
              <a:rPr lang="de-DE" b="1" dirty="0" err="1">
                <a:solidFill>
                  <a:srgbClr val="FF0000"/>
                </a:solidFill>
              </a:rPr>
              <a:t>buffer</a:t>
            </a:r>
            <a:r>
              <a:rPr lang="de-DE" b="1" dirty="0">
                <a:solidFill>
                  <a:srgbClr val="FF0000"/>
                </a:solidFill>
              </a:rPr>
              <a:t> </a:t>
            </a:r>
            <a:r>
              <a:rPr lang="de-DE" b="1" dirty="0" err="1">
                <a:solidFill>
                  <a:srgbClr val="FF0000"/>
                </a:solidFill>
              </a:rPr>
              <a:t>overflow</a:t>
            </a:r>
            <a:r>
              <a:rPr lang="de-DE" b="1" dirty="0">
                <a:solidFill>
                  <a:srgbClr val="FF0000"/>
                </a:solidFill>
              </a:rPr>
              <a:t> </a:t>
            </a:r>
            <a:r>
              <a:rPr lang="de-DE" b="1" dirty="0" err="1">
                <a:solidFill>
                  <a:srgbClr val="FF0000"/>
                </a:solidFill>
              </a:rPr>
              <a:t>attack</a:t>
            </a:r>
            <a:r>
              <a:rPr lang="de-DE" dirty="0"/>
              <a:t>) läuft so ab:</a:t>
            </a:r>
          </a:p>
          <a:p>
            <a:pPr lvl="1"/>
            <a:r>
              <a:rPr lang="de-DE" dirty="0"/>
              <a:t>Wenn die Eingabe länger als der Puffer B ist, wird die Rücksprungadresse R überschrieben</a:t>
            </a:r>
          </a:p>
        </p:txBody>
      </p:sp>
      <p:sp>
        <p:nvSpPr>
          <p:cNvPr id="5" name="Inhaltsplatzhalter 4"/>
          <p:cNvSpPr>
            <a:spLocks noGrp="1"/>
          </p:cNvSpPr>
          <p:nvPr>
            <p:ph sz="quarter" idx="13"/>
          </p:nvPr>
        </p:nvSpPr>
        <p:spPr>
          <a:xfrm>
            <a:off x="467544" y="2852936"/>
            <a:ext cx="3888432" cy="3816424"/>
          </a:xfrm>
        </p:spPr>
        <p:txBody>
          <a:bodyPr>
            <a:normAutofit/>
          </a:bodyPr>
          <a:lstStyle/>
          <a:p>
            <a:pPr lvl="1"/>
            <a:r>
              <a:rPr lang="de-DE" dirty="0"/>
              <a:t>Eine geschickte Eingabe wird R so überschreiben, dass beim Rücksprung eigener Code ausgeführt wird</a:t>
            </a:r>
          </a:p>
          <a:p>
            <a:pPr lvl="1"/>
            <a:r>
              <a:rPr lang="de-DE" dirty="0"/>
              <a:t>Dieser Code wird bevorzugt innerhalb der Eingabe (bzw. B) liegen</a:t>
            </a:r>
          </a:p>
          <a:p>
            <a:endParaRPr lang="de-DE" dirty="0"/>
          </a:p>
        </p:txBody>
      </p:sp>
    </p:spTree>
    <p:extLst>
      <p:ext uri="{BB962C8B-B14F-4D97-AF65-F5344CB8AC3E}">
        <p14:creationId xmlns:p14="http://schemas.microsoft.com/office/powerpoint/2010/main" val="2807984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Pufferüberlaufangriffe /3</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36</a:t>
            </a:fld>
            <a:endParaRPr lang="en-US" noProof="0" dirty="0"/>
          </a:p>
        </p:txBody>
      </p:sp>
      <p:sp>
        <p:nvSpPr>
          <p:cNvPr id="4" name="Inhaltsplatzhalter 3"/>
          <p:cNvSpPr>
            <a:spLocks noGrp="1"/>
          </p:cNvSpPr>
          <p:nvPr>
            <p:ph sz="quarter" idx="1"/>
          </p:nvPr>
        </p:nvSpPr>
        <p:spPr/>
        <p:txBody>
          <a:bodyPr>
            <a:normAutofit/>
          </a:bodyPr>
          <a:lstStyle/>
          <a:p>
            <a:r>
              <a:rPr lang="de-DE" dirty="0"/>
              <a:t>Das funktioniert mit vielen Eingaben</a:t>
            </a:r>
          </a:p>
          <a:p>
            <a:pPr lvl="1"/>
            <a:r>
              <a:rPr lang="de-DE" dirty="0"/>
              <a:t>Lange Dateinamen, Umgebungsvariablen, …</a:t>
            </a:r>
          </a:p>
          <a:p>
            <a:r>
              <a:rPr lang="de-DE" dirty="0"/>
              <a:t>Es ist nicht leicht, die korrekte Rücksprungadresse bei der Eingabe zu ermitteln</a:t>
            </a:r>
          </a:p>
          <a:p>
            <a:r>
              <a:rPr lang="de-DE" dirty="0"/>
              <a:t>Wie könnte ein Cracker vorgehen?</a:t>
            </a:r>
          </a:p>
        </p:txBody>
      </p:sp>
      <p:sp>
        <p:nvSpPr>
          <p:cNvPr id="5" name="Inhaltsplatzhalter 4"/>
          <p:cNvSpPr>
            <a:spLocks noGrp="1"/>
          </p:cNvSpPr>
          <p:nvPr>
            <p:ph sz="quarter" idx="13"/>
          </p:nvPr>
        </p:nvSpPr>
        <p:spPr>
          <a:xfrm>
            <a:off x="467544" y="3573016"/>
            <a:ext cx="8208912" cy="2785864"/>
          </a:xfrm>
        </p:spPr>
        <p:txBody>
          <a:bodyPr/>
          <a:lstStyle/>
          <a:p>
            <a:pPr lvl="1"/>
            <a:r>
              <a:rPr lang="de-DE" dirty="0"/>
              <a:t>Man gibt ein: Dateinamen mit 10 </a:t>
            </a:r>
            <a:r>
              <a:rPr lang="de-DE" dirty="0" err="1"/>
              <a:t>kB</a:t>
            </a:r>
            <a:r>
              <a:rPr lang="de-DE" dirty="0"/>
              <a:t>, Gehälter mit 100 Stellen ein usw.</a:t>
            </a:r>
          </a:p>
          <a:p>
            <a:pPr lvl="1"/>
            <a:r>
              <a:rPr lang="de-DE" dirty="0"/>
              <a:t>Beim evtl. Absturz sucht man im </a:t>
            </a:r>
            <a:r>
              <a:rPr lang="de-DE" b="1" dirty="0">
                <a:solidFill>
                  <a:srgbClr val="FF0000"/>
                </a:solidFill>
              </a:rPr>
              <a:t>Core </a:t>
            </a:r>
            <a:r>
              <a:rPr lang="de-DE" b="1" dirty="0" err="1">
                <a:solidFill>
                  <a:srgbClr val="FF0000"/>
                </a:solidFill>
              </a:rPr>
              <a:t>Dump</a:t>
            </a:r>
            <a:r>
              <a:rPr lang="de-DE" dirty="0"/>
              <a:t>, wo die Eingabe gespeichert wurde</a:t>
            </a:r>
          </a:p>
          <a:p>
            <a:pPr lvl="1"/>
            <a:r>
              <a:rPr lang="de-DE" dirty="0"/>
              <a:t>Dann muss man noch „ausmessen“, welche Zeichen die Rücksprungadresse überschreiben</a:t>
            </a:r>
          </a:p>
          <a:p>
            <a:endParaRPr lang="de-DE" dirty="0"/>
          </a:p>
        </p:txBody>
      </p:sp>
    </p:spTree>
    <p:extLst>
      <p:ext uri="{BB962C8B-B14F-4D97-AF65-F5344CB8AC3E}">
        <p14:creationId xmlns:p14="http://schemas.microsoft.com/office/powerpoint/2010/main" val="346012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Unterstützung durch </a:t>
            </a:r>
            <a:r>
              <a:rPr lang="de-DE" b="1" dirty="0">
                <a:solidFill>
                  <a:srgbClr val="FF0000"/>
                </a:solidFill>
              </a:rPr>
              <a:t>Ganzzahlüberlauf</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37</a:t>
            </a:fld>
            <a:endParaRPr lang="en-US" noProof="0" dirty="0"/>
          </a:p>
        </p:txBody>
      </p:sp>
      <p:sp>
        <p:nvSpPr>
          <p:cNvPr id="4" name="Inhaltsplatzhalter 3"/>
          <p:cNvSpPr>
            <a:spLocks noGrp="1"/>
          </p:cNvSpPr>
          <p:nvPr>
            <p:ph sz="quarter" idx="1"/>
          </p:nvPr>
        </p:nvSpPr>
        <p:spPr>
          <a:xfrm>
            <a:off x="539552" y="1219200"/>
            <a:ext cx="8280920" cy="5378152"/>
          </a:xfrm>
        </p:spPr>
        <p:txBody>
          <a:bodyPr>
            <a:normAutofit/>
          </a:bodyPr>
          <a:lstStyle/>
          <a:p>
            <a:r>
              <a:rPr lang="de-DE" dirty="0"/>
              <a:t>Man füttert ein Programm mit zwei gültigen aber großen Parametern</a:t>
            </a:r>
          </a:p>
          <a:p>
            <a:r>
              <a:rPr lang="de-DE" dirty="0"/>
              <a:t>Durch Codeanalyse weiß man, dass diese addiert bzw. multipliziert werden, was zu einem Überlauf führen wird</a:t>
            </a:r>
          </a:p>
          <a:p>
            <a:pPr lvl="1"/>
            <a:r>
              <a:rPr lang="de-DE" dirty="0"/>
              <a:t>Das Programm arbeitet dann mit einer negativen oder zu kleinen Zahl, und reserviert einen zu kleinen Speicher</a:t>
            </a:r>
          </a:p>
          <a:p>
            <a:pPr lvl="1"/>
            <a:r>
              <a:rPr lang="de-DE" dirty="0"/>
              <a:t>Vorbereitung für Pufferüberlauf</a:t>
            </a:r>
          </a:p>
          <a:p>
            <a:r>
              <a:rPr lang="de-DE" dirty="0"/>
              <a:t>Z.B. Angabe der Höhe und Breite einer Bilddatei, die zum Ganzzahlüberlauf führt, bewirkt, dass für die Bilddatei </a:t>
            </a:r>
            <a:r>
              <a:rPr lang="de-DE" u="sng" dirty="0"/>
              <a:t>zu wenig Speicher</a:t>
            </a:r>
            <a:r>
              <a:rPr lang="de-DE" dirty="0"/>
              <a:t> reserviert wird</a:t>
            </a:r>
          </a:p>
          <a:p>
            <a:pPr lvl="1"/>
            <a:r>
              <a:rPr lang="de-DE" dirty="0"/>
              <a:t>Die geladene Bilddatei enthält Code, welcher bei Pufferüberlauf ausgeführt wird</a:t>
            </a:r>
          </a:p>
        </p:txBody>
      </p:sp>
    </p:spTree>
    <p:extLst>
      <p:ext uri="{BB962C8B-B14F-4D97-AF65-F5344CB8AC3E}">
        <p14:creationId xmlns:p14="http://schemas.microsoft.com/office/powerpoint/2010/main" val="1292595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38</a:t>
            </a:fld>
            <a:endParaRPr lang="de-DE" dirty="0"/>
          </a:p>
        </p:txBody>
      </p:sp>
      <p:sp>
        <p:nvSpPr>
          <p:cNvPr id="3" name="Titel 2"/>
          <p:cNvSpPr>
            <a:spLocks noGrp="1"/>
          </p:cNvSpPr>
          <p:nvPr>
            <p:ph type="title"/>
          </p:nvPr>
        </p:nvSpPr>
        <p:spPr>
          <a:xfrm>
            <a:off x="971600" y="2348880"/>
            <a:ext cx="7200800" cy="3168352"/>
          </a:xfrm>
        </p:spPr>
        <p:txBody>
          <a:bodyPr/>
          <a:lstStyle/>
          <a:p>
            <a:r>
              <a:rPr lang="de-DE" dirty="0"/>
              <a:t>Copy Fail: CVE-2026-31431</a:t>
            </a:r>
            <a:br>
              <a:rPr lang="de-DE" dirty="0"/>
            </a:br>
            <a:br>
              <a:rPr lang="de-DE" dirty="0"/>
            </a:br>
            <a:r>
              <a:rPr lang="de-DE" sz="3200" b="0" i="0" u="none" strike="noStrike" cap="none" dirty="0">
                <a:solidFill>
                  <a:srgbClr val="475569"/>
                </a:solidFill>
                <a:latin typeface="Lato"/>
                <a:ea typeface="Lato"/>
                <a:cs typeface="Lato"/>
                <a:sym typeface="Lato"/>
              </a:rPr>
              <a:t>Analyse einer kritischen </a:t>
            </a:r>
            <a:br>
              <a:rPr lang="de-DE" sz="3200" b="0" i="0" u="none" strike="noStrike" cap="none" dirty="0">
                <a:solidFill>
                  <a:srgbClr val="475569"/>
                </a:solidFill>
                <a:latin typeface="Lato"/>
                <a:ea typeface="Lato"/>
                <a:cs typeface="Lato"/>
                <a:sym typeface="Lato"/>
              </a:rPr>
            </a:br>
            <a:r>
              <a:rPr lang="de-DE" sz="3200" b="0" i="0" u="none" strike="noStrike" cap="none" dirty="0">
                <a:solidFill>
                  <a:srgbClr val="475569"/>
                </a:solidFill>
                <a:latin typeface="Lato"/>
                <a:ea typeface="Lato"/>
                <a:cs typeface="Lato"/>
                <a:sym typeface="Lato"/>
              </a:rPr>
              <a:t>Privilege Escalation</a:t>
            </a:r>
            <a:endParaRPr lang="de-DE" dirty="0"/>
          </a:p>
        </p:txBody>
      </p:sp>
    </p:spTree>
    <p:extLst>
      <p:ext uri="{BB962C8B-B14F-4D97-AF65-F5344CB8AC3E}">
        <p14:creationId xmlns:p14="http://schemas.microsoft.com/office/powerpoint/2010/main" val="38452977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2A8C2D-F46F-E18D-36A9-7E33D7D4D584}"/>
              </a:ext>
            </a:extLst>
          </p:cNvPr>
          <p:cNvSpPr>
            <a:spLocks noGrp="1"/>
          </p:cNvSpPr>
          <p:nvPr>
            <p:ph type="title"/>
          </p:nvPr>
        </p:nvSpPr>
        <p:spPr/>
        <p:txBody>
          <a:bodyPr>
            <a:normAutofit/>
          </a:bodyPr>
          <a:lstStyle/>
          <a:p>
            <a:r>
              <a:rPr lang="de-DE" dirty="0"/>
              <a:t>Kontext: Privilege Escalation (LPE)</a:t>
            </a:r>
          </a:p>
        </p:txBody>
      </p:sp>
      <p:sp>
        <p:nvSpPr>
          <p:cNvPr id="3" name="Foliennummernplatzhalter 2">
            <a:extLst>
              <a:ext uri="{FF2B5EF4-FFF2-40B4-BE49-F238E27FC236}">
                <a16:creationId xmlns:a16="http://schemas.microsoft.com/office/drawing/2014/main" id="{B0F8BE2A-C8DA-7831-B537-6503FFF6E9A1}"/>
              </a:ext>
            </a:extLst>
          </p:cNvPr>
          <p:cNvSpPr>
            <a:spLocks noGrp="1"/>
          </p:cNvSpPr>
          <p:nvPr>
            <p:ph type="sldNum" sz="quarter" idx="12"/>
          </p:nvPr>
        </p:nvSpPr>
        <p:spPr/>
        <p:txBody>
          <a:bodyPr/>
          <a:lstStyle/>
          <a:p>
            <a:fld id="{7183533A-8A50-4A1F-BEA9-C8C6956451EB}" type="slidenum">
              <a:rPr lang="en-US" noProof="0" smtClean="0"/>
              <a:pPr/>
              <a:t>39</a:t>
            </a:fld>
            <a:endParaRPr lang="en-US" noProof="0" dirty="0"/>
          </a:p>
        </p:txBody>
      </p:sp>
      <p:sp>
        <p:nvSpPr>
          <p:cNvPr id="4" name="Inhaltsplatzhalter 3">
            <a:extLst>
              <a:ext uri="{FF2B5EF4-FFF2-40B4-BE49-F238E27FC236}">
                <a16:creationId xmlns:a16="http://schemas.microsoft.com/office/drawing/2014/main" id="{411A16C4-A89F-B1EE-1746-BAD4ACC2C03A}"/>
              </a:ext>
            </a:extLst>
          </p:cNvPr>
          <p:cNvSpPr>
            <a:spLocks noGrp="1"/>
          </p:cNvSpPr>
          <p:nvPr>
            <p:ph sz="quarter" idx="1"/>
          </p:nvPr>
        </p:nvSpPr>
        <p:spPr/>
        <p:txBody>
          <a:bodyPr>
            <a:normAutofit lnSpcReduction="10000"/>
          </a:bodyPr>
          <a:lstStyle/>
          <a:p>
            <a:r>
              <a:rPr lang="de-DE" dirty="0"/>
              <a:t>Ein lokaler Benutzer (</a:t>
            </a:r>
            <a:r>
              <a:rPr lang="de-DE" dirty="0" err="1"/>
              <a:t>unprivileged</a:t>
            </a:r>
            <a:r>
              <a:rPr lang="de-DE" dirty="0"/>
              <a:t>) bricht die Benutzer-Isolation des Kernels</a:t>
            </a:r>
          </a:p>
          <a:p>
            <a:r>
              <a:rPr lang="de-DE" dirty="0"/>
              <a:t>Ziel: Erlangung von Root-Rechten</a:t>
            </a:r>
          </a:p>
          <a:p>
            <a:r>
              <a:rPr lang="de-DE" dirty="0"/>
              <a:t>Traditionelle Angriffe: Buffer Overflows im Stack/Heap</a:t>
            </a:r>
          </a:p>
          <a:p>
            <a:r>
              <a:rPr lang="de-DE" dirty="0"/>
              <a:t>Copy Fail: Nutzt einen Logikfehler im Krypto-Subsystem</a:t>
            </a:r>
          </a:p>
          <a:p>
            <a:endParaRPr lang="de-DE" dirty="0"/>
          </a:p>
        </p:txBody>
      </p:sp>
      <p:pic>
        <p:nvPicPr>
          <p:cNvPr id="6" name="Inhaltsplatzhalter 5">
            <a:extLst>
              <a:ext uri="{FF2B5EF4-FFF2-40B4-BE49-F238E27FC236}">
                <a16:creationId xmlns:a16="http://schemas.microsoft.com/office/drawing/2014/main" id="{158F4BFD-ECAE-3E89-D8F2-20F488B4FB7C}"/>
              </a:ext>
            </a:extLst>
          </p:cNvPr>
          <p:cNvPicPr>
            <a:picLocks noGrp="1" noChangeAspect="1"/>
          </p:cNvPicPr>
          <p:nvPr>
            <p:ph sz="quarter" idx="2"/>
          </p:nvPr>
        </p:nvPicPr>
        <p:blipFill>
          <a:blip r:embed="rId2"/>
          <a:stretch>
            <a:fillRect/>
          </a:stretch>
        </p:blipFill>
        <p:spPr>
          <a:xfrm>
            <a:off x="4632325" y="1778632"/>
            <a:ext cx="4041775" cy="3811910"/>
          </a:xfrm>
          <a:prstGeom prst="rect">
            <a:avLst/>
          </a:prstGeom>
        </p:spPr>
      </p:pic>
    </p:spTree>
    <p:extLst>
      <p:ext uri="{BB962C8B-B14F-4D97-AF65-F5344CB8AC3E}">
        <p14:creationId xmlns:p14="http://schemas.microsoft.com/office/powerpoint/2010/main" val="2845799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51D7AB-055C-43BF-2C0D-877F4F6DB72D}"/>
              </a:ext>
            </a:extLst>
          </p:cNvPr>
          <p:cNvSpPr>
            <a:spLocks noGrp="1"/>
          </p:cNvSpPr>
          <p:nvPr>
            <p:ph type="title"/>
          </p:nvPr>
        </p:nvSpPr>
        <p:spPr/>
        <p:txBody>
          <a:bodyPr>
            <a:normAutofit/>
          </a:bodyPr>
          <a:lstStyle/>
          <a:p>
            <a:r>
              <a:rPr lang="de-DE" dirty="0"/>
              <a:t>Die Rolle des Page Cache</a:t>
            </a:r>
          </a:p>
        </p:txBody>
      </p:sp>
      <p:sp>
        <p:nvSpPr>
          <p:cNvPr id="3" name="Foliennummernplatzhalter 2">
            <a:extLst>
              <a:ext uri="{FF2B5EF4-FFF2-40B4-BE49-F238E27FC236}">
                <a16:creationId xmlns:a16="http://schemas.microsoft.com/office/drawing/2014/main" id="{EF59BE89-4ADD-AD6F-3417-75254A2F9404}"/>
              </a:ext>
            </a:extLst>
          </p:cNvPr>
          <p:cNvSpPr>
            <a:spLocks noGrp="1"/>
          </p:cNvSpPr>
          <p:nvPr>
            <p:ph type="sldNum" sz="quarter" idx="12"/>
          </p:nvPr>
        </p:nvSpPr>
        <p:spPr/>
        <p:txBody>
          <a:bodyPr/>
          <a:lstStyle/>
          <a:p>
            <a:fld id="{7183533A-8A50-4A1F-BEA9-C8C6956451EB}" type="slidenum">
              <a:rPr lang="en-US" noProof="0" smtClean="0"/>
              <a:pPr/>
              <a:t>40</a:t>
            </a:fld>
            <a:endParaRPr lang="en-US" noProof="0" dirty="0"/>
          </a:p>
        </p:txBody>
      </p:sp>
      <p:sp>
        <p:nvSpPr>
          <p:cNvPr id="4" name="Inhaltsplatzhalter 3">
            <a:extLst>
              <a:ext uri="{FF2B5EF4-FFF2-40B4-BE49-F238E27FC236}">
                <a16:creationId xmlns:a16="http://schemas.microsoft.com/office/drawing/2014/main" id="{C994C61A-0617-290E-5C0B-B8F7D596AED1}"/>
              </a:ext>
            </a:extLst>
          </p:cNvPr>
          <p:cNvSpPr>
            <a:spLocks noGrp="1"/>
          </p:cNvSpPr>
          <p:nvPr>
            <p:ph sz="quarter" idx="1"/>
          </p:nvPr>
        </p:nvSpPr>
        <p:spPr/>
        <p:txBody>
          <a:bodyPr>
            <a:normAutofit fontScale="85000" lnSpcReduction="20000"/>
          </a:bodyPr>
          <a:lstStyle/>
          <a:p>
            <a:r>
              <a:rPr lang="de-DE" dirty="0"/>
              <a:t>Der Page Cache ist die zentrale Instanz zur Beschleunigung von Dateizugriffen:</a:t>
            </a:r>
          </a:p>
          <a:p>
            <a:pPr lvl="1"/>
            <a:r>
              <a:rPr lang="de-DE" dirty="0"/>
              <a:t>Dateien werden beim Lesen im RAM (als "Pages") zwischengespeichert</a:t>
            </a:r>
          </a:p>
          <a:p>
            <a:pPr lvl="1"/>
            <a:r>
              <a:rPr lang="de-DE" dirty="0"/>
              <a:t>Ausführende Programme (</a:t>
            </a:r>
            <a:r>
              <a:rPr lang="de-DE" dirty="0" err="1"/>
              <a:t>Binaries</a:t>
            </a:r>
            <a:r>
              <a:rPr lang="de-DE" dirty="0"/>
              <a:t>) werden direkt aus diesem Cache in den Adressraum gemappt</a:t>
            </a:r>
          </a:p>
          <a:p>
            <a:pPr lvl="1"/>
            <a:r>
              <a:rPr lang="de-DE" dirty="0"/>
              <a:t>Gefahr: Kann man den Page Cache im RAM korrumpieren, ändert man das Programm, ohne die Datei auf der Disk zu berühren!</a:t>
            </a:r>
          </a:p>
        </p:txBody>
      </p:sp>
      <p:pic>
        <p:nvPicPr>
          <p:cNvPr id="6" name="Picture 2">
            <a:extLst>
              <a:ext uri="{FF2B5EF4-FFF2-40B4-BE49-F238E27FC236}">
                <a16:creationId xmlns:a16="http://schemas.microsoft.com/office/drawing/2014/main" id="{4E279C42-8ED6-A2F5-14A3-C4305EA00A14}"/>
              </a:ext>
            </a:extLst>
          </p:cNvPr>
          <p:cNvPicPr>
            <a:picLocks noGrp="1" noChangeAspect="1" noChangeArrowheads="1"/>
          </p:cNvPicPr>
          <p:nvPr>
            <p:ph sz="quarter" idx="2"/>
          </p:nvPr>
        </p:nvPicPr>
        <p:blipFill>
          <a:blip r:embed="rId2" cstate="print">
            <a:extLst>
              <a:ext uri="{28A0092B-C50C-407E-A947-70E740481C1C}">
                <a14:useLocalDpi xmlns:a14="http://schemas.microsoft.com/office/drawing/2010/main" val="0"/>
              </a:ext>
            </a:extLst>
          </a:blip>
          <a:srcRect/>
          <a:stretch>
            <a:fillRect/>
          </a:stretch>
        </p:blipFill>
        <p:spPr bwMode="auto">
          <a:xfrm>
            <a:off x="4907412" y="1216025"/>
            <a:ext cx="3491601" cy="4937125"/>
          </a:xfrm>
          <a:prstGeom prst="rect">
            <a:avLst/>
          </a:prstGeom>
          <a:noFill/>
          <a:extLst>
            <a:ext uri="{909E8E84-426E-40DD-AFC4-6F175D3DCCD1}">
              <a14:hiddenFill xmlns:a14="http://schemas.microsoft.com/office/drawing/2010/main">
                <a:solidFill>
                  <a:srgbClr val="FFFFFF"/>
                </a:solidFill>
              </a14:hiddenFill>
            </a:ext>
          </a:extLst>
        </p:spPr>
      </p:pic>
      <p:sp>
        <p:nvSpPr>
          <p:cNvPr id="7" name="Textfeld 6">
            <a:extLst>
              <a:ext uri="{FF2B5EF4-FFF2-40B4-BE49-F238E27FC236}">
                <a16:creationId xmlns:a16="http://schemas.microsoft.com/office/drawing/2014/main" id="{F2244C21-B72B-EA47-4AE2-DAA403761409}"/>
              </a:ext>
            </a:extLst>
          </p:cNvPr>
          <p:cNvSpPr txBox="1"/>
          <p:nvPr/>
        </p:nvSpPr>
        <p:spPr>
          <a:xfrm>
            <a:off x="5508104" y="6371640"/>
            <a:ext cx="2688060" cy="307777"/>
          </a:xfrm>
          <a:prstGeom prst="rect">
            <a:avLst/>
          </a:prstGeom>
          <a:noFill/>
        </p:spPr>
        <p:txBody>
          <a:bodyPr wrap="square">
            <a:spAutoFit/>
          </a:bodyPr>
          <a:lstStyle/>
          <a:p>
            <a:r>
              <a:rPr lang="de-DE" sz="1400" dirty="0"/>
              <a:t>https://i.sstatic.net/ZxMNv.png</a:t>
            </a:r>
          </a:p>
        </p:txBody>
      </p:sp>
    </p:spTree>
    <p:extLst>
      <p:ext uri="{BB962C8B-B14F-4D97-AF65-F5344CB8AC3E}">
        <p14:creationId xmlns:p14="http://schemas.microsoft.com/office/powerpoint/2010/main" val="27062652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50DEF9-6188-8190-12D2-3545D5FEE83C}"/>
              </a:ext>
            </a:extLst>
          </p:cNvPr>
          <p:cNvSpPr>
            <a:spLocks noGrp="1"/>
          </p:cNvSpPr>
          <p:nvPr>
            <p:ph type="title"/>
          </p:nvPr>
        </p:nvSpPr>
        <p:spPr/>
        <p:txBody>
          <a:bodyPr>
            <a:normAutofit/>
          </a:bodyPr>
          <a:lstStyle/>
          <a:p>
            <a:r>
              <a:rPr lang="de-DE" dirty="0"/>
              <a:t>Die Schwachstelle: "Copy Fail"</a:t>
            </a:r>
          </a:p>
        </p:txBody>
      </p:sp>
      <p:sp>
        <p:nvSpPr>
          <p:cNvPr id="3" name="Foliennummernplatzhalter 2">
            <a:extLst>
              <a:ext uri="{FF2B5EF4-FFF2-40B4-BE49-F238E27FC236}">
                <a16:creationId xmlns:a16="http://schemas.microsoft.com/office/drawing/2014/main" id="{C84F8A28-F8C8-6664-806C-1F6EC7185D38}"/>
              </a:ext>
            </a:extLst>
          </p:cNvPr>
          <p:cNvSpPr>
            <a:spLocks noGrp="1"/>
          </p:cNvSpPr>
          <p:nvPr>
            <p:ph type="sldNum" sz="quarter" idx="12"/>
          </p:nvPr>
        </p:nvSpPr>
        <p:spPr/>
        <p:txBody>
          <a:bodyPr/>
          <a:lstStyle/>
          <a:p>
            <a:fld id="{7183533A-8A50-4A1F-BEA9-C8C6956451EB}" type="slidenum">
              <a:rPr lang="en-US" noProof="0" smtClean="0"/>
              <a:pPr/>
              <a:t>41</a:t>
            </a:fld>
            <a:endParaRPr lang="en-US" noProof="0" dirty="0"/>
          </a:p>
        </p:txBody>
      </p:sp>
      <p:sp>
        <p:nvSpPr>
          <p:cNvPr id="4" name="Inhaltsplatzhalter 3">
            <a:extLst>
              <a:ext uri="{FF2B5EF4-FFF2-40B4-BE49-F238E27FC236}">
                <a16:creationId xmlns:a16="http://schemas.microsoft.com/office/drawing/2014/main" id="{011CEA85-08EC-E34B-00D3-621C84325204}"/>
              </a:ext>
            </a:extLst>
          </p:cNvPr>
          <p:cNvSpPr>
            <a:spLocks noGrp="1"/>
          </p:cNvSpPr>
          <p:nvPr>
            <p:ph sz="quarter" idx="1"/>
          </p:nvPr>
        </p:nvSpPr>
        <p:spPr>
          <a:xfrm>
            <a:off x="457200" y="1219200"/>
            <a:ext cx="8229600" cy="4226024"/>
          </a:xfrm>
        </p:spPr>
        <p:txBody>
          <a:bodyPr>
            <a:normAutofit fontScale="92500"/>
          </a:bodyPr>
          <a:lstStyle/>
          <a:p>
            <a:r>
              <a:rPr lang="de-DE" sz="2400" dirty="0"/>
              <a:t>Ursprung: Modul </a:t>
            </a:r>
            <a:r>
              <a:rPr lang="de-DE" sz="2400" dirty="0" err="1"/>
              <a:t>algif_aead</a:t>
            </a:r>
            <a:r>
              <a:rPr lang="de-DE" sz="2400" dirty="0"/>
              <a:t> (Krypto-Subsystem) im Linux-Kernel</a:t>
            </a:r>
          </a:p>
          <a:p>
            <a:r>
              <a:rPr lang="de-DE" sz="2400" dirty="0"/>
              <a:t>Logikfehler: Eine Optimierung aus 2017 erlaubt "In-place" Operationen, bei denen Quell- und Zielpuffer identisch sind</a:t>
            </a:r>
          </a:p>
          <a:p>
            <a:r>
              <a:rPr lang="de-DE" sz="2400" dirty="0"/>
              <a:t>Bei Fehlern während der kryptographischen Authentifizierung wird der Puffer nicht korrekt zurückgesetzt oder die Fehlerbehandlung überspringt wichtige Checks</a:t>
            </a:r>
          </a:p>
          <a:p>
            <a:r>
              <a:rPr lang="de-DE" sz="2400" dirty="0"/>
              <a:t>Bei Fehlern während der kryptographischen Authentifizierung wird der Puffer nicht korrekt zurückgesetzt oder die Fehlerbehandlung überspringt wichtige Checks.</a:t>
            </a:r>
          </a:p>
          <a:p>
            <a:endParaRPr lang="de-DE" sz="2400" dirty="0"/>
          </a:p>
          <a:p>
            <a:endParaRPr lang="de-DE" sz="2400" dirty="0"/>
          </a:p>
          <a:p>
            <a:endParaRPr lang="de-DE" sz="2400" dirty="0"/>
          </a:p>
          <a:p>
            <a:endParaRPr lang="de-DE" sz="2400" dirty="0"/>
          </a:p>
        </p:txBody>
      </p:sp>
      <p:pic>
        <p:nvPicPr>
          <p:cNvPr id="5" name="Google Shape;133;p16" descr="image.png">
            <a:extLst>
              <a:ext uri="{FF2B5EF4-FFF2-40B4-BE49-F238E27FC236}">
                <a16:creationId xmlns:a16="http://schemas.microsoft.com/office/drawing/2014/main" id="{6D486EE0-51B2-B385-C6CA-6CB661C09FBB}"/>
              </a:ext>
            </a:extLst>
          </p:cNvPr>
          <p:cNvPicPr preferRelativeResize="0"/>
          <p:nvPr/>
        </p:nvPicPr>
        <p:blipFill rotWithShape="1">
          <a:blip r:embed="rId2">
            <a:alphaModFix/>
          </a:blip>
          <a:srcRect r="46849"/>
          <a:stretch/>
        </p:blipFill>
        <p:spPr>
          <a:xfrm>
            <a:off x="1115616" y="5015146"/>
            <a:ext cx="6552728" cy="1477094"/>
          </a:xfrm>
          <a:prstGeom prst="rect">
            <a:avLst/>
          </a:prstGeom>
          <a:noFill/>
          <a:ln>
            <a:noFill/>
          </a:ln>
        </p:spPr>
      </p:pic>
    </p:spTree>
    <p:extLst>
      <p:ext uri="{BB962C8B-B14F-4D97-AF65-F5344CB8AC3E}">
        <p14:creationId xmlns:p14="http://schemas.microsoft.com/office/powerpoint/2010/main" val="39553259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88FAA7-8106-96C5-49B7-12D77C8F43A4}"/>
              </a:ext>
            </a:extLst>
          </p:cNvPr>
          <p:cNvSpPr>
            <a:spLocks noGrp="1"/>
          </p:cNvSpPr>
          <p:nvPr>
            <p:ph type="title"/>
          </p:nvPr>
        </p:nvSpPr>
        <p:spPr/>
        <p:txBody>
          <a:bodyPr>
            <a:normAutofit/>
          </a:bodyPr>
          <a:lstStyle/>
          <a:p>
            <a:r>
              <a:rPr lang="de-DE" dirty="0"/>
              <a:t>Der Angriffsvektor</a:t>
            </a:r>
          </a:p>
        </p:txBody>
      </p:sp>
      <p:sp>
        <p:nvSpPr>
          <p:cNvPr id="3" name="Foliennummernplatzhalter 2">
            <a:extLst>
              <a:ext uri="{FF2B5EF4-FFF2-40B4-BE49-F238E27FC236}">
                <a16:creationId xmlns:a16="http://schemas.microsoft.com/office/drawing/2014/main" id="{7B98CD39-0253-48C8-731F-3625187A1197}"/>
              </a:ext>
            </a:extLst>
          </p:cNvPr>
          <p:cNvSpPr>
            <a:spLocks noGrp="1"/>
          </p:cNvSpPr>
          <p:nvPr>
            <p:ph type="sldNum" sz="quarter" idx="12"/>
          </p:nvPr>
        </p:nvSpPr>
        <p:spPr/>
        <p:txBody>
          <a:bodyPr/>
          <a:lstStyle/>
          <a:p>
            <a:fld id="{7183533A-8A50-4A1F-BEA9-C8C6956451EB}" type="slidenum">
              <a:rPr lang="en-US" noProof="0" smtClean="0"/>
              <a:pPr/>
              <a:t>42</a:t>
            </a:fld>
            <a:endParaRPr lang="en-US" noProof="0" dirty="0"/>
          </a:p>
        </p:txBody>
      </p:sp>
      <p:sp>
        <p:nvSpPr>
          <p:cNvPr id="4" name="Inhaltsplatzhalter 3">
            <a:extLst>
              <a:ext uri="{FF2B5EF4-FFF2-40B4-BE49-F238E27FC236}">
                <a16:creationId xmlns:a16="http://schemas.microsoft.com/office/drawing/2014/main" id="{50A84533-7B40-77BF-A26C-4F36CE2745B4}"/>
              </a:ext>
            </a:extLst>
          </p:cNvPr>
          <p:cNvSpPr>
            <a:spLocks noGrp="1"/>
          </p:cNvSpPr>
          <p:nvPr>
            <p:ph sz="quarter" idx="1"/>
          </p:nvPr>
        </p:nvSpPr>
        <p:spPr>
          <a:xfrm>
            <a:off x="457200" y="1219200"/>
            <a:ext cx="4906888" cy="5210196"/>
          </a:xfrm>
        </p:spPr>
        <p:txBody>
          <a:bodyPr>
            <a:normAutofit fontScale="92500"/>
          </a:bodyPr>
          <a:lstStyle/>
          <a:p>
            <a:r>
              <a:rPr lang="de-DE" dirty="0"/>
              <a:t>Der Exploit nutzt die Interaktion zweier mächtiger Kernel-Features:</a:t>
            </a:r>
          </a:p>
          <a:p>
            <a:pPr lvl="1"/>
            <a:r>
              <a:rPr lang="de-DE" dirty="0"/>
              <a:t>AF_ALG Sockets: Zugriff auf Kernel-Krypto-APIs aus dem </a:t>
            </a:r>
            <a:r>
              <a:rPr lang="de-DE" dirty="0" err="1"/>
              <a:t>Userspace</a:t>
            </a:r>
            <a:endParaRPr lang="de-DE" dirty="0"/>
          </a:p>
          <a:p>
            <a:pPr lvl="1"/>
            <a:r>
              <a:rPr lang="de-DE" dirty="0" err="1"/>
              <a:t>splice</a:t>
            </a:r>
            <a:r>
              <a:rPr lang="de-DE" dirty="0"/>
              <a:t>(): Kopiert Daten zwischen File-</a:t>
            </a:r>
            <a:r>
              <a:rPr lang="de-DE" dirty="0" err="1"/>
              <a:t>Descriptoren</a:t>
            </a:r>
            <a:r>
              <a:rPr lang="de-DE" dirty="0"/>
              <a:t> ohne Umweg über den </a:t>
            </a:r>
            <a:r>
              <a:rPr lang="de-DE" dirty="0" err="1"/>
              <a:t>Userspace</a:t>
            </a:r>
            <a:r>
              <a:rPr lang="de-DE" dirty="0"/>
              <a:t> ("Zero-</a:t>
            </a:r>
            <a:r>
              <a:rPr lang="de-DE" dirty="0" err="1"/>
              <a:t>copy</a:t>
            </a:r>
            <a:r>
              <a:rPr lang="de-DE" dirty="0"/>
              <a:t>")</a:t>
            </a:r>
          </a:p>
          <a:p>
            <a:r>
              <a:rPr lang="de-DE" dirty="0"/>
              <a:t>Indem man </a:t>
            </a:r>
            <a:r>
              <a:rPr lang="de-DE" dirty="0" err="1"/>
              <a:t>splice</a:t>
            </a:r>
            <a:r>
              <a:rPr lang="de-DE" dirty="0"/>
              <a:t>() nutzt, um eine Datei in einen AF_ALG Socket zu "schieben", adressiert man direkt den Page Cache als Ziel der Krypto-Operation</a:t>
            </a:r>
          </a:p>
          <a:p>
            <a:endParaRPr lang="de-DE" dirty="0"/>
          </a:p>
        </p:txBody>
      </p:sp>
      <p:pic>
        <p:nvPicPr>
          <p:cNvPr id="5" name="Google Shape;153;p17">
            <a:extLst>
              <a:ext uri="{FF2B5EF4-FFF2-40B4-BE49-F238E27FC236}">
                <a16:creationId xmlns:a16="http://schemas.microsoft.com/office/drawing/2014/main" id="{BD92AD72-C105-442D-2876-B50B42F0CDD5}"/>
              </a:ext>
            </a:extLst>
          </p:cNvPr>
          <p:cNvPicPr preferRelativeResize="0"/>
          <p:nvPr/>
        </p:nvPicPr>
        <p:blipFill rotWithShape="1">
          <a:blip r:embed="rId2">
            <a:alphaModFix/>
          </a:blip>
          <a:srcRect/>
          <a:stretch/>
        </p:blipFill>
        <p:spPr>
          <a:xfrm>
            <a:off x="5273164" y="1143000"/>
            <a:ext cx="3870836" cy="4766806"/>
          </a:xfrm>
          <a:prstGeom prst="rect">
            <a:avLst/>
          </a:prstGeom>
          <a:noFill/>
          <a:ln>
            <a:noFill/>
          </a:ln>
        </p:spPr>
      </p:pic>
      <p:sp>
        <p:nvSpPr>
          <p:cNvPr id="8" name="Textfeld 7">
            <a:extLst>
              <a:ext uri="{FF2B5EF4-FFF2-40B4-BE49-F238E27FC236}">
                <a16:creationId xmlns:a16="http://schemas.microsoft.com/office/drawing/2014/main" id="{1DD861A9-FEB2-EF42-D517-934885B83D98}"/>
              </a:ext>
            </a:extLst>
          </p:cNvPr>
          <p:cNvSpPr txBox="1"/>
          <p:nvPr/>
        </p:nvSpPr>
        <p:spPr>
          <a:xfrm>
            <a:off x="5220072" y="5715000"/>
            <a:ext cx="3679634" cy="970907"/>
          </a:xfrm>
          <a:prstGeom prst="rect">
            <a:avLst/>
          </a:prstGeom>
          <a:noFill/>
        </p:spPr>
        <p:txBody>
          <a:bodyPr wrap="square">
            <a:spAutoFit/>
          </a:bodyPr>
          <a:lstStyle/>
          <a:p>
            <a:pPr marL="0" marR="0" lvl="0" indent="0" algn="l" rtl="0">
              <a:lnSpc>
                <a:spcPct val="139897"/>
              </a:lnSpc>
              <a:spcBef>
                <a:spcPts val="0"/>
              </a:spcBef>
              <a:spcAft>
                <a:spcPts val="0"/>
              </a:spcAft>
              <a:buNone/>
            </a:pPr>
            <a:r>
              <a:rPr lang="en-US" sz="1050" b="0" i="0" u="none" strike="noStrike" cap="none" dirty="0">
                <a:solidFill>
                  <a:srgbClr val="334155"/>
                </a:solidFill>
                <a:latin typeface="Lato"/>
                <a:ea typeface="Lato"/>
                <a:cs typeface="Lato"/>
                <a:sym typeface="Lato"/>
              </a:rPr>
              <a:t>https://cf-assets.www.cloudflare.com/zkvhlag99gkb/5uqfOddH7biQaTjtgQOist/5c16c08bf3e5ce2f9030d6f98d2403cb/BLOG-3308_2.png</a:t>
            </a:r>
            <a:endParaRPr lang="en-US" sz="1050" dirty="0"/>
          </a:p>
        </p:txBody>
      </p:sp>
    </p:spTree>
    <p:extLst>
      <p:ext uri="{BB962C8B-B14F-4D97-AF65-F5344CB8AC3E}">
        <p14:creationId xmlns:p14="http://schemas.microsoft.com/office/powerpoint/2010/main" val="73682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A64D25-8E2E-0C81-D45B-1283FFFF56E6}"/>
              </a:ext>
            </a:extLst>
          </p:cNvPr>
          <p:cNvSpPr>
            <a:spLocks noGrp="1"/>
          </p:cNvSpPr>
          <p:nvPr>
            <p:ph type="title"/>
          </p:nvPr>
        </p:nvSpPr>
        <p:spPr/>
        <p:txBody>
          <a:bodyPr>
            <a:normAutofit/>
          </a:bodyPr>
          <a:lstStyle/>
          <a:p>
            <a:r>
              <a:rPr lang="de-DE" dirty="0"/>
              <a:t>Exploit: Vom Page Cache zur Root</a:t>
            </a:r>
          </a:p>
        </p:txBody>
      </p:sp>
      <p:sp>
        <p:nvSpPr>
          <p:cNvPr id="3" name="Foliennummernplatzhalter 2">
            <a:extLst>
              <a:ext uri="{FF2B5EF4-FFF2-40B4-BE49-F238E27FC236}">
                <a16:creationId xmlns:a16="http://schemas.microsoft.com/office/drawing/2014/main" id="{A6122134-716E-9D3B-F77F-95386615321E}"/>
              </a:ext>
            </a:extLst>
          </p:cNvPr>
          <p:cNvSpPr>
            <a:spLocks noGrp="1"/>
          </p:cNvSpPr>
          <p:nvPr>
            <p:ph type="sldNum" sz="quarter" idx="12"/>
          </p:nvPr>
        </p:nvSpPr>
        <p:spPr/>
        <p:txBody>
          <a:bodyPr/>
          <a:lstStyle/>
          <a:p>
            <a:fld id="{7183533A-8A50-4A1F-BEA9-C8C6956451EB}" type="slidenum">
              <a:rPr lang="en-US" noProof="0" smtClean="0"/>
              <a:pPr/>
              <a:t>43</a:t>
            </a:fld>
            <a:endParaRPr lang="en-US" noProof="0" dirty="0"/>
          </a:p>
        </p:txBody>
      </p:sp>
      <p:sp>
        <p:nvSpPr>
          <p:cNvPr id="4" name="Inhaltsplatzhalter 3">
            <a:extLst>
              <a:ext uri="{FF2B5EF4-FFF2-40B4-BE49-F238E27FC236}">
                <a16:creationId xmlns:a16="http://schemas.microsoft.com/office/drawing/2014/main" id="{92210F61-C2D6-D620-C9CF-F6D2D7ABFB8F}"/>
              </a:ext>
            </a:extLst>
          </p:cNvPr>
          <p:cNvSpPr>
            <a:spLocks noGrp="1"/>
          </p:cNvSpPr>
          <p:nvPr>
            <p:ph sz="quarter" idx="1"/>
          </p:nvPr>
        </p:nvSpPr>
        <p:spPr/>
        <p:txBody>
          <a:bodyPr/>
          <a:lstStyle/>
          <a:p>
            <a:r>
              <a:rPr lang="de-DE" dirty="0"/>
              <a:t>1. Target</a:t>
            </a:r>
          </a:p>
          <a:p>
            <a:pPr lvl="1"/>
            <a:r>
              <a:rPr lang="de-DE" sz="2400" b="0" i="0" u="none" strike="noStrike" cap="none" dirty="0">
                <a:solidFill>
                  <a:srgbClr val="334155"/>
                </a:solidFill>
                <a:latin typeface="Lato"/>
                <a:ea typeface="Lato"/>
                <a:cs typeface="Lato"/>
                <a:sym typeface="Lato"/>
              </a:rPr>
              <a:t>Der Angreifer öffnet eine lesbare </a:t>
            </a:r>
            <a:r>
              <a:rPr lang="de-DE" sz="2400" b="0" i="0" u="none" strike="noStrike" cap="none" dirty="0" err="1">
                <a:solidFill>
                  <a:srgbClr val="334155"/>
                </a:solidFill>
                <a:latin typeface="Lato"/>
                <a:ea typeface="Lato"/>
                <a:cs typeface="Lato"/>
                <a:sym typeface="Lato"/>
              </a:rPr>
              <a:t>setuid</a:t>
            </a:r>
            <a:r>
              <a:rPr lang="de-DE" sz="2400" b="0" i="0" u="none" strike="noStrike" cap="none" dirty="0">
                <a:solidFill>
                  <a:srgbClr val="334155"/>
                </a:solidFill>
                <a:latin typeface="Lato"/>
                <a:ea typeface="Lato"/>
                <a:cs typeface="Lato"/>
                <a:sym typeface="Lato"/>
              </a:rPr>
              <a:t>-root Datei (z.B. /</a:t>
            </a:r>
            <a:r>
              <a:rPr lang="de-DE" sz="2400" b="0" i="0" u="none" strike="noStrike" cap="none" dirty="0" err="1">
                <a:solidFill>
                  <a:srgbClr val="334155"/>
                </a:solidFill>
                <a:latin typeface="Lato"/>
                <a:ea typeface="Lato"/>
                <a:cs typeface="Lato"/>
                <a:sym typeface="Lato"/>
              </a:rPr>
              <a:t>usr</a:t>
            </a:r>
            <a:r>
              <a:rPr lang="de-DE" sz="2400" b="0" i="0" u="none" strike="noStrike" cap="none" dirty="0">
                <a:solidFill>
                  <a:srgbClr val="334155"/>
                </a:solidFill>
                <a:latin typeface="Lato"/>
                <a:ea typeface="Lato"/>
                <a:cs typeface="Lato"/>
                <a:sym typeface="Lato"/>
              </a:rPr>
              <a:t>/bin/</a:t>
            </a:r>
            <a:r>
              <a:rPr lang="de-DE" sz="2400" b="0" i="0" u="none" strike="noStrike" cap="none" dirty="0" err="1">
                <a:solidFill>
                  <a:srgbClr val="334155"/>
                </a:solidFill>
                <a:latin typeface="Lato"/>
                <a:ea typeface="Lato"/>
                <a:cs typeface="Lato"/>
                <a:sym typeface="Lato"/>
              </a:rPr>
              <a:t>su</a:t>
            </a:r>
            <a:r>
              <a:rPr lang="de-DE" sz="2400" b="0" i="0" u="none" strike="noStrike" cap="none" dirty="0">
                <a:solidFill>
                  <a:srgbClr val="334155"/>
                </a:solidFill>
                <a:latin typeface="Lato"/>
                <a:ea typeface="Lato"/>
                <a:cs typeface="Lato"/>
                <a:sym typeface="Lato"/>
              </a:rPr>
              <a:t> oder </a:t>
            </a:r>
            <a:r>
              <a:rPr lang="de-DE" sz="2400" b="0" i="0" u="none" strike="noStrike" cap="none" dirty="0" err="1">
                <a:solidFill>
                  <a:srgbClr val="334155"/>
                </a:solidFill>
                <a:latin typeface="Lato"/>
                <a:ea typeface="Lato"/>
                <a:cs typeface="Lato"/>
                <a:sym typeface="Lato"/>
              </a:rPr>
              <a:t>pkexec</a:t>
            </a:r>
            <a:r>
              <a:rPr lang="de-DE" sz="2400" b="0" i="0" u="none" strike="noStrike" cap="none" dirty="0">
                <a:solidFill>
                  <a:srgbClr val="334155"/>
                </a:solidFill>
                <a:latin typeface="Lato"/>
                <a:ea typeface="Lato"/>
                <a:cs typeface="Lato"/>
                <a:sym typeface="Lato"/>
              </a:rPr>
              <a:t>)</a:t>
            </a:r>
          </a:p>
          <a:p>
            <a:r>
              <a:rPr lang="de-DE" sz="2700" dirty="0">
                <a:solidFill>
                  <a:srgbClr val="334155"/>
                </a:solidFill>
                <a:latin typeface="Lato"/>
                <a:ea typeface="Lato"/>
                <a:cs typeface="Lato"/>
                <a:sym typeface="Lato"/>
              </a:rPr>
              <a:t>2. </a:t>
            </a:r>
            <a:r>
              <a:rPr lang="de-DE" sz="2700" dirty="0" err="1">
                <a:solidFill>
                  <a:srgbClr val="334155"/>
                </a:solidFill>
                <a:latin typeface="Lato"/>
                <a:ea typeface="Lato"/>
                <a:cs typeface="Lato"/>
                <a:sym typeface="Lato"/>
              </a:rPr>
              <a:t>Injection</a:t>
            </a:r>
            <a:endParaRPr lang="de-DE" sz="2700" dirty="0">
              <a:solidFill>
                <a:srgbClr val="334155"/>
              </a:solidFill>
              <a:latin typeface="Lato"/>
              <a:ea typeface="Lato"/>
              <a:cs typeface="Lato"/>
              <a:sym typeface="Lato"/>
            </a:endParaRPr>
          </a:p>
          <a:p>
            <a:pPr lvl="1"/>
            <a:r>
              <a:rPr lang="de-DE" sz="2400" b="0" i="0" u="none" strike="noStrike" cap="none" dirty="0">
                <a:solidFill>
                  <a:srgbClr val="334155"/>
                </a:solidFill>
                <a:latin typeface="Lato"/>
                <a:ea typeface="Lato"/>
                <a:cs typeface="Lato"/>
                <a:sym typeface="Lato"/>
              </a:rPr>
              <a:t>Der "Copy Fail" Bug schreibt 4 Bytes in den Page Cache der Datei im RAM </a:t>
            </a:r>
          </a:p>
          <a:p>
            <a:pPr lvl="1"/>
            <a:r>
              <a:rPr lang="de-DE" sz="2400" b="0" i="0" u="none" strike="noStrike" cap="none" dirty="0">
                <a:solidFill>
                  <a:srgbClr val="334155"/>
                </a:solidFill>
                <a:latin typeface="Lato"/>
                <a:ea typeface="Lato"/>
                <a:cs typeface="Lato"/>
                <a:sym typeface="Lato"/>
              </a:rPr>
              <a:t>Die Datei auf der Disk bleibt unverändert!</a:t>
            </a:r>
            <a:endParaRPr lang="de-DE" sz="2400" dirty="0"/>
          </a:p>
          <a:p>
            <a:r>
              <a:rPr lang="de-DE" sz="2700" dirty="0"/>
              <a:t>3. </a:t>
            </a:r>
            <a:r>
              <a:rPr lang="de-DE" sz="2700" dirty="0" err="1"/>
              <a:t>Execution</a:t>
            </a:r>
            <a:endParaRPr lang="de-DE" sz="2700" dirty="0"/>
          </a:p>
          <a:p>
            <a:pPr lvl="1"/>
            <a:r>
              <a:rPr lang="de-DE" sz="2400" b="0" i="0" u="none" strike="noStrike" cap="none" dirty="0">
                <a:solidFill>
                  <a:srgbClr val="334155"/>
                </a:solidFill>
                <a:latin typeface="Lato"/>
                <a:ea typeface="Lato"/>
                <a:cs typeface="Lato"/>
                <a:sym typeface="Lato"/>
              </a:rPr>
              <a:t>Der Angreifer führt </a:t>
            </a:r>
            <a:r>
              <a:rPr lang="de-DE" sz="2400" b="0" i="0" u="none" strike="noStrike" cap="none" dirty="0" err="1">
                <a:solidFill>
                  <a:srgbClr val="334155"/>
                </a:solidFill>
                <a:latin typeface="Lato"/>
                <a:ea typeface="Lato"/>
                <a:cs typeface="Lato"/>
                <a:sym typeface="Lato"/>
              </a:rPr>
              <a:t>su</a:t>
            </a:r>
            <a:r>
              <a:rPr lang="de-DE" sz="2400" b="0" i="0" u="none" strike="noStrike" cap="none" dirty="0">
                <a:solidFill>
                  <a:srgbClr val="334155"/>
                </a:solidFill>
                <a:latin typeface="Lato"/>
                <a:ea typeface="Lato"/>
                <a:cs typeface="Lato"/>
                <a:sym typeface="Lato"/>
              </a:rPr>
              <a:t> aus</a:t>
            </a:r>
          </a:p>
          <a:p>
            <a:pPr lvl="1"/>
            <a:r>
              <a:rPr lang="de-DE" sz="2400" b="0" i="0" u="none" strike="noStrike" cap="none" dirty="0">
                <a:solidFill>
                  <a:srgbClr val="334155"/>
                </a:solidFill>
                <a:latin typeface="Lato"/>
                <a:ea typeface="Lato"/>
                <a:cs typeface="Lato"/>
                <a:sym typeface="Lato"/>
              </a:rPr>
              <a:t>Da die korrumpierte Version im RAM liegt, springt der Code direkt zur Root-Shell</a:t>
            </a:r>
            <a:endParaRPr lang="de-DE" sz="2400" dirty="0"/>
          </a:p>
          <a:p>
            <a:pPr lvl="1"/>
            <a:endParaRPr lang="de-DE" sz="2400" dirty="0"/>
          </a:p>
          <a:p>
            <a:pPr lvl="1"/>
            <a:endParaRPr lang="de-DE" dirty="0"/>
          </a:p>
        </p:txBody>
      </p:sp>
    </p:spTree>
    <p:extLst>
      <p:ext uri="{BB962C8B-B14F-4D97-AF65-F5344CB8AC3E}">
        <p14:creationId xmlns:p14="http://schemas.microsoft.com/office/powerpoint/2010/main" val="10440359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E557FA-81B7-E8D1-55EA-2929EE09AD7D}"/>
              </a:ext>
            </a:extLst>
          </p:cNvPr>
          <p:cNvSpPr>
            <a:spLocks noGrp="1"/>
          </p:cNvSpPr>
          <p:nvPr>
            <p:ph type="title"/>
          </p:nvPr>
        </p:nvSpPr>
        <p:spPr/>
        <p:txBody>
          <a:bodyPr>
            <a:normAutofit/>
          </a:bodyPr>
          <a:lstStyle/>
          <a:p>
            <a:r>
              <a:rPr lang="de-DE" dirty="0"/>
              <a:t>Overflow vs. Copy Fail / Schutzmaßnahmen</a:t>
            </a:r>
          </a:p>
        </p:txBody>
      </p:sp>
      <p:sp>
        <p:nvSpPr>
          <p:cNvPr id="3" name="Foliennummernplatzhalter 2">
            <a:extLst>
              <a:ext uri="{FF2B5EF4-FFF2-40B4-BE49-F238E27FC236}">
                <a16:creationId xmlns:a16="http://schemas.microsoft.com/office/drawing/2014/main" id="{5D48915A-E647-0F39-4492-DDE8B3AA64AC}"/>
              </a:ext>
            </a:extLst>
          </p:cNvPr>
          <p:cNvSpPr>
            <a:spLocks noGrp="1"/>
          </p:cNvSpPr>
          <p:nvPr>
            <p:ph type="sldNum" sz="quarter" idx="12"/>
          </p:nvPr>
        </p:nvSpPr>
        <p:spPr/>
        <p:txBody>
          <a:bodyPr/>
          <a:lstStyle/>
          <a:p>
            <a:fld id="{7183533A-8A50-4A1F-BEA9-C8C6956451EB}" type="slidenum">
              <a:rPr lang="en-US" noProof="0" smtClean="0"/>
              <a:pPr/>
              <a:t>44</a:t>
            </a:fld>
            <a:endParaRPr lang="en-US" noProof="0" dirty="0"/>
          </a:p>
        </p:txBody>
      </p:sp>
      <p:graphicFrame>
        <p:nvGraphicFramePr>
          <p:cNvPr id="5" name="Google Shape;187;p19">
            <a:extLst>
              <a:ext uri="{FF2B5EF4-FFF2-40B4-BE49-F238E27FC236}">
                <a16:creationId xmlns:a16="http://schemas.microsoft.com/office/drawing/2014/main" id="{510AF70C-269A-804F-A3F3-9DC5B97D78E2}"/>
              </a:ext>
            </a:extLst>
          </p:cNvPr>
          <p:cNvGraphicFramePr>
            <a:graphicFrameLocks noGrp="1"/>
          </p:cNvGraphicFramePr>
          <p:nvPr>
            <p:ph sz="quarter" idx="1"/>
            <p:extLst>
              <p:ext uri="{D42A27DB-BD31-4B8C-83A1-F6EECF244321}">
                <p14:modId xmlns:p14="http://schemas.microsoft.com/office/powerpoint/2010/main" val="1788221474"/>
              </p:ext>
            </p:extLst>
          </p:nvPr>
        </p:nvGraphicFramePr>
        <p:xfrm>
          <a:off x="323528" y="1484784"/>
          <a:ext cx="8712968" cy="2771750"/>
        </p:xfrm>
        <a:graphic>
          <a:graphicData uri="http://schemas.openxmlformats.org/drawingml/2006/table">
            <a:tbl>
              <a:tblPr firstRow="1" bandRow="1">
                <a:noFill/>
              </a:tblPr>
              <a:tblGrid>
                <a:gridCol w="1512168">
                  <a:extLst>
                    <a:ext uri="{9D8B030D-6E8A-4147-A177-3AD203B41FA5}">
                      <a16:colId xmlns:a16="http://schemas.microsoft.com/office/drawing/2014/main" val="20000"/>
                    </a:ext>
                  </a:extLst>
                </a:gridCol>
                <a:gridCol w="3600400">
                  <a:extLst>
                    <a:ext uri="{9D8B030D-6E8A-4147-A177-3AD203B41FA5}">
                      <a16:colId xmlns:a16="http://schemas.microsoft.com/office/drawing/2014/main" val="20001"/>
                    </a:ext>
                  </a:extLst>
                </a:gridCol>
                <a:gridCol w="3600400">
                  <a:extLst>
                    <a:ext uri="{9D8B030D-6E8A-4147-A177-3AD203B41FA5}">
                      <a16:colId xmlns:a16="http://schemas.microsoft.com/office/drawing/2014/main" val="20002"/>
                    </a:ext>
                  </a:extLst>
                </a:gridCol>
              </a:tblGrid>
              <a:tr h="554350">
                <a:tc>
                  <a:txBody>
                    <a:bodyPr/>
                    <a:lstStyle/>
                    <a:p>
                      <a:pPr marL="0" marR="0" lvl="0" indent="0" algn="l" rtl="0">
                        <a:spcBef>
                          <a:spcPts val="0"/>
                        </a:spcBef>
                        <a:spcAft>
                          <a:spcPts val="0"/>
                        </a:spcAft>
                        <a:buNone/>
                      </a:pPr>
                      <a:r>
                        <a:rPr lang="en-US" sz="1600" b="1" i="0" u="none" strike="noStrike" cap="none">
                          <a:solidFill>
                            <a:srgbClr val="FFFFFF"/>
                          </a:solidFill>
                          <a:latin typeface="Poppins"/>
                          <a:ea typeface="Poppins"/>
                          <a:cs typeface="Poppins"/>
                          <a:sym typeface="Poppins"/>
                        </a:rPr>
                        <a:t>Merkmal</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600" b="1" i="0" u="none" strike="noStrike" cap="none" dirty="0">
                          <a:solidFill>
                            <a:srgbClr val="FFFFFF"/>
                          </a:solidFill>
                          <a:latin typeface="Poppins"/>
                          <a:ea typeface="Poppins"/>
                          <a:cs typeface="Poppins"/>
                          <a:sym typeface="Poppins"/>
                        </a:rPr>
                        <a:t>Buffer Overflow (Stack/Heap)</a:t>
                      </a:r>
                      <a:endParaRPr sz="18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600" b="1" i="0" u="none" strike="noStrike" cap="none" dirty="0">
                          <a:solidFill>
                            <a:srgbClr val="FFFFFF"/>
                          </a:solidFill>
                          <a:latin typeface="Poppins"/>
                          <a:ea typeface="Poppins"/>
                          <a:cs typeface="Poppins"/>
                          <a:sym typeface="Poppins"/>
                        </a:rPr>
                        <a:t>Copy Fail (Logic Flaw)</a:t>
                      </a:r>
                      <a:endParaRPr sz="18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extLst>
                  <a:ext uri="{0D108BD9-81ED-4DB2-BD59-A6C34878D82A}">
                    <a16:rowId xmlns:a16="http://schemas.microsoft.com/office/drawing/2014/main" val="10000"/>
                  </a:ext>
                </a:extLst>
              </a:tr>
              <a:tr h="554350">
                <a:tc>
                  <a:txBody>
                    <a:bodyPr/>
                    <a:lstStyle/>
                    <a:p>
                      <a:pPr marL="0" marR="0" lvl="0" indent="0" algn="l" rtl="0">
                        <a:spcBef>
                          <a:spcPts val="0"/>
                        </a:spcBef>
                        <a:spcAft>
                          <a:spcPts val="0"/>
                        </a:spcAft>
                        <a:buNone/>
                      </a:pPr>
                      <a:r>
                        <a:rPr lang="en-US" sz="1600" b="1" i="0" u="none" strike="noStrike" cap="none">
                          <a:solidFill>
                            <a:srgbClr val="334155"/>
                          </a:solidFill>
                          <a:latin typeface="Lato"/>
                          <a:ea typeface="Lato"/>
                          <a:cs typeface="Lato"/>
                          <a:sym typeface="Lato"/>
                        </a:rPr>
                        <a:t>Fehlertyp</a:t>
                      </a:r>
                      <a:endParaRPr sz="16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dirty="0" err="1">
                          <a:solidFill>
                            <a:srgbClr val="334155"/>
                          </a:solidFill>
                          <a:latin typeface="Lato"/>
                          <a:ea typeface="Lato"/>
                          <a:cs typeface="Lato"/>
                          <a:sym typeface="Lato"/>
                        </a:rPr>
                        <a:t>Speicherfehler</a:t>
                      </a:r>
                      <a:r>
                        <a:rPr lang="en-US" sz="1600" b="0" i="0" u="none" strike="noStrike" cap="none" dirty="0">
                          <a:solidFill>
                            <a:srgbClr val="334155"/>
                          </a:solidFill>
                          <a:latin typeface="Lato"/>
                          <a:ea typeface="Lato"/>
                          <a:cs typeface="Lato"/>
                          <a:sym typeface="Lato"/>
                        </a:rPr>
                        <a:t> (Out-of-bounds)</a:t>
                      </a:r>
                      <a:endParaRPr sz="16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334155"/>
                          </a:solidFill>
                          <a:latin typeface="Lato"/>
                          <a:ea typeface="Lato"/>
                          <a:cs typeface="Lato"/>
                          <a:sym typeface="Lato"/>
                        </a:rPr>
                        <a:t>Logikfehler (In-place Optimization)</a:t>
                      </a:r>
                      <a:endParaRPr sz="16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54350">
                <a:tc>
                  <a:txBody>
                    <a:bodyPr/>
                    <a:lstStyle/>
                    <a:p>
                      <a:pPr marL="0" marR="0" lvl="0" indent="0" algn="l" rtl="0">
                        <a:spcBef>
                          <a:spcPts val="0"/>
                        </a:spcBef>
                        <a:spcAft>
                          <a:spcPts val="0"/>
                        </a:spcAft>
                        <a:buNone/>
                      </a:pPr>
                      <a:r>
                        <a:rPr lang="en-US" sz="1600" b="1" i="0" u="none" strike="noStrike" cap="none">
                          <a:solidFill>
                            <a:srgbClr val="334155"/>
                          </a:solidFill>
                          <a:latin typeface="Lato"/>
                          <a:ea typeface="Lato"/>
                          <a:cs typeface="Lato"/>
                          <a:sym typeface="Lato"/>
                        </a:rPr>
                        <a:t>Ziel</a:t>
                      </a:r>
                      <a:endParaRPr sz="16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600" b="0" i="0" u="none" strike="noStrike" cap="none">
                          <a:solidFill>
                            <a:srgbClr val="334155"/>
                          </a:solidFill>
                          <a:latin typeface="Lato"/>
                          <a:ea typeface="Lato"/>
                          <a:cs typeface="Lato"/>
                          <a:sym typeface="Lato"/>
                        </a:rPr>
                        <a:t>Rücksprungadresse / Funktionspointer</a:t>
                      </a:r>
                      <a:endParaRPr sz="16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600" b="0" i="0" u="none" strike="noStrike" cap="none" dirty="0">
                          <a:solidFill>
                            <a:srgbClr val="334155"/>
                          </a:solidFill>
                          <a:latin typeface="Lato"/>
                          <a:ea typeface="Lato"/>
                          <a:cs typeface="Lato"/>
                          <a:sym typeface="Lato"/>
                        </a:rPr>
                        <a:t>Page Cache (</a:t>
                      </a:r>
                      <a:r>
                        <a:rPr lang="en-US" sz="1600" b="0" i="0" u="none" strike="noStrike" cap="none" dirty="0" err="1">
                          <a:solidFill>
                            <a:srgbClr val="334155"/>
                          </a:solidFill>
                          <a:latin typeface="Lato"/>
                          <a:ea typeface="Lato"/>
                          <a:cs typeface="Lato"/>
                          <a:sym typeface="Lato"/>
                        </a:rPr>
                        <a:t>Dateiinhalte</a:t>
                      </a:r>
                      <a:r>
                        <a:rPr lang="en-US" sz="1600" b="0" i="0" u="none" strike="noStrike" cap="none" dirty="0">
                          <a:solidFill>
                            <a:srgbClr val="334155"/>
                          </a:solidFill>
                          <a:latin typeface="Lato"/>
                          <a:ea typeface="Lato"/>
                          <a:cs typeface="Lato"/>
                          <a:sym typeface="Lato"/>
                        </a:rPr>
                        <a:t> </a:t>
                      </a:r>
                      <a:r>
                        <a:rPr lang="en-US" sz="1600" b="0" i="0" u="none" strike="noStrike" cap="none" dirty="0" err="1">
                          <a:solidFill>
                            <a:srgbClr val="334155"/>
                          </a:solidFill>
                          <a:latin typeface="Lato"/>
                          <a:ea typeface="Lato"/>
                          <a:cs typeface="Lato"/>
                          <a:sym typeface="Lato"/>
                        </a:rPr>
                        <a:t>im</a:t>
                      </a:r>
                      <a:r>
                        <a:rPr lang="en-US" sz="1600" b="0" i="0" u="none" strike="noStrike" cap="none" dirty="0">
                          <a:solidFill>
                            <a:srgbClr val="334155"/>
                          </a:solidFill>
                          <a:latin typeface="Lato"/>
                          <a:ea typeface="Lato"/>
                          <a:cs typeface="Lato"/>
                          <a:sym typeface="Lato"/>
                        </a:rPr>
                        <a:t> RAM)</a:t>
                      </a:r>
                      <a:endParaRPr sz="16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54350">
                <a:tc>
                  <a:txBody>
                    <a:bodyPr/>
                    <a:lstStyle/>
                    <a:p>
                      <a:pPr marL="0" marR="0" lvl="0" indent="0" algn="l" rtl="0">
                        <a:spcBef>
                          <a:spcPts val="0"/>
                        </a:spcBef>
                        <a:spcAft>
                          <a:spcPts val="0"/>
                        </a:spcAft>
                        <a:buNone/>
                      </a:pPr>
                      <a:r>
                        <a:rPr lang="en-US" sz="1600" b="1" i="0" u="none" strike="noStrike" cap="none">
                          <a:solidFill>
                            <a:srgbClr val="334155"/>
                          </a:solidFill>
                          <a:latin typeface="Lato"/>
                          <a:ea typeface="Lato"/>
                          <a:cs typeface="Lato"/>
                          <a:sym typeface="Lato"/>
                        </a:rPr>
                        <a:t>Verlässlichkeit</a:t>
                      </a:r>
                      <a:endParaRPr sz="16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334155"/>
                          </a:solidFill>
                          <a:latin typeface="Lato"/>
                          <a:ea typeface="Lato"/>
                          <a:cs typeface="Lato"/>
                          <a:sym typeface="Lato"/>
                        </a:rPr>
                        <a:t>Oft instabil (Race Conditions, ASLR)</a:t>
                      </a:r>
                      <a:endParaRPr sz="16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334155"/>
                          </a:solidFill>
                          <a:latin typeface="Lato"/>
                          <a:ea typeface="Lato"/>
                          <a:cs typeface="Lato"/>
                          <a:sym typeface="Lato"/>
                        </a:rPr>
                        <a:t>Deterministisch (100% Erfolgsquote)</a:t>
                      </a:r>
                      <a:endParaRPr sz="16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54350">
                <a:tc>
                  <a:txBody>
                    <a:bodyPr/>
                    <a:lstStyle/>
                    <a:p>
                      <a:pPr marL="0" marR="0" lvl="0" indent="0" algn="l" rtl="0">
                        <a:spcBef>
                          <a:spcPts val="0"/>
                        </a:spcBef>
                        <a:spcAft>
                          <a:spcPts val="0"/>
                        </a:spcAft>
                        <a:buNone/>
                      </a:pPr>
                      <a:r>
                        <a:rPr lang="en-US" sz="1600" b="1" i="0" u="none" strike="noStrike" cap="none">
                          <a:solidFill>
                            <a:srgbClr val="334155"/>
                          </a:solidFill>
                          <a:latin typeface="Lato"/>
                          <a:ea typeface="Lato"/>
                          <a:cs typeface="Lato"/>
                          <a:sym typeface="Lato"/>
                        </a:rPr>
                        <a:t>Payload</a:t>
                      </a:r>
                      <a:endParaRPr sz="16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600" b="0" i="0" u="none" strike="noStrike" cap="none" dirty="0">
                          <a:solidFill>
                            <a:srgbClr val="334155"/>
                          </a:solidFill>
                          <a:latin typeface="Lato"/>
                          <a:ea typeface="Lato"/>
                          <a:cs typeface="Lato"/>
                          <a:sym typeface="Lato"/>
                        </a:rPr>
                        <a:t>Shellcode </a:t>
                      </a:r>
                      <a:r>
                        <a:rPr lang="en-US" sz="1600" b="0" i="0" u="none" strike="noStrike" cap="none" dirty="0" err="1">
                          <a:solidFill>
                            <a:srgbClr val="334155"/>
                          </a:solidFill>
                          <a:latin typeface="Lato"/>
                          <a:ea typeface="Lato"/>
                          <a:cs typeface="Lato"/>
                          <a:sym typeface="Lato"/>
                        </a:rPr>
                        <a:t>im</a:t>
                      </a:r>
                      <a:r>
                        <a:rPr lang="en-US" sz="1600" b="0" i="0" u="none" strike="noStrike" cap="none" dirty="0">
                          <a:solidFill>
                            <a:srgbClr val="334155"/>
                          </a:solidFill>
                          <a:latin typeface="Lato"/>
                          <a:ea typeface="Lato"/>
                          <a:cs typeface="Lato"/>
                          <a:sym typeface="Lato"/>
                        </a:rPr>
                        <a:t> Stack/Heap</a:t>
                      </a:r>
                      <a:endParaRPr sz="16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600" b="0" i="0" u="none" strike="noStrike" cap="none" dirty="0">
                          <a:solidFill>
                            <a:srgbClr val="334155"/>
                          </a:solidFill>
                          <a:latin typeface="Lato"/>
                          <a:ea typeface="Lato"/>
                          <a:cs typeface="Lato"/>
                          <a:sym typeface="Lato"/>
                        </a:rPr>
                        <a:t>Manipulation von Privileged Binaries</a:t>
                      </a:r>
                      <a:endParaRPr sz="16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7" name="Inhaltsplatzhalter 3">
            <a:extLst>
              <a:ext uri="{FF2B5EF4-FFF2-40B4-BE49-F238E27FC236}">
                <a16:creationId xmlns:a16="http://schemas.microsoft.com/office/drawing/2014/main" id="{C7A533F0-FE51-7E19-C95E-6E1C83D950F0}"/>
              </a:ext>
            </a:extLst>
          </p:cNvPr>
          <p:cNvSpPr txBox="1">
            <a:spLocks/>
          </p:cNvSpPr>
          <p:nvPr/>
        </p:nvSpPr>
        <p:spPr>
          <a:xfrm>
            <a:off x="327546" y="4358044"/>
            <a:ext cx="8229600" cy="2340496"/>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de-DE" dirty="0"/>
              <a:t>Schutzmaßnahmen:</a:t>
            </a:r>
          </a:p>
          <a:p>
            <a:pPr lvl="1"/>
            <a:r>
              <a:rPr lang="de-DE" dirty="0"/>
              <a:t>Kernel Update: </a:t>
            </a:r>
            <a:r>
              <a:rPr lang="de-DE" dirty="0" err="1"/>
              <a:t>Mainline</a:t>
            </a:r>
            <a:r>
              <a:rPr lang="de-DE" dirty="0"/>
              <a:t>-Commit a664bf3d603d macht die Optimierung rückgängig</a:t>
            </a:r>
          </a:p>
          <a:p>
            <a:pPr lvl="1"/>
            <a:r>
              <a:rPr lang="de-DE" dirty="0" err="1"/>
              <a:t>Blacklisting</a:t>
            </a:r>
            <a:r>
              <a:rPr lang="de-DE" dirty="0"/>
              <a:t>: Modul </a:t>
            </a:r>
            <a:r>
              <a:rPr lang="de-DE" dirty="0" err="1"/>
              <a:t>algif_aead</a:t>
            </a:r>
            <a:r>
              <a:rPr lang="de-DE" dirty="0"/>
              <a:t> deaktivieren, falls nicht benötigt</a:t>
            </a:r>
          </a:p>
          <a:p>
            <a:pPr lvl="1"/>
            <a:r>
              <a:rPr lang="en-US" dirty="0"/>
              <a:t>Container-Security: AF_ALG Sockets via Seccomp-</a:t>
            </a:r>
            <a:r>
              <a:rPr lang="en-US" dirty="0" err="1"/>
              <a:t>Profilen</a:t>
            </a:r>
            <a:r>
              <a:rPr lang="en-US" dirty="0"/>
              <a:t> </a:t>
            </a:r>
            <a:r>
              <a:rPr lang="en-US" dirty="0" err="1"/>
              <a:t>blockieren</a:t>
            </a:r>
            <a:endParaRPr lang="de-DE" dirty="0"/>
          </a:p>
          <a:p>
            <a:pPr lvl="1"/>
            <a:endParaRPr lang="de-DE" dirty="0"/>
          </a:p>
          <a:p>
            <a:pPr lvl="1"/>
            <a:endParaRPr lang="de-DE" sz="2400" dirty="0"/>
          </a:p>
          <a:p>
            <a:pPr lvl="1"/>
            <a:endParaRPr lang="de-DE" dirty="0"/>
          </a:p>
        </p:txBody>
      </p:sp>
    </p:spTree>
    <p:extLst>
      <p:ext uri="{BB962C8B-B14F-4D97-AF65-F5344CB8AC3E}">
        <p14:creationId xmlns:p14="http://schemas.microsoft.com/office/powerpoint/2010/main" val="42198578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B226E3-7351-D853-AF16-AEB7C63EDC49}"/>
              </a:ext>
            </a:extLst>
          </p:cNvPr>
          <p:cNvSpPr>
            <a:spLocks noGrp="1"/>
          </p:cNvSpPr>
          <p:nvPr>
            <p:ph type="title"/>
          </p:nvPr>
        </p:nvSpPr>
        <p:spPr/>
        <p:txBody>
          <a:bodyPr/>
          <a:lstStyle/>
          <a:p>
            <a:r>
              <a:rPr lang="de-DE" dirty="0"/>
              <a:t>Einige Quellen zu dem Thema IT-Security</a:t>
            </a:r>
          </a:p>
        </p:txBody>
      </p:sp>
      <p:sp>
        <p:nvSpPr>
          <p:cNvPr id="3" name="Foliennummernplatzhalter 2">
            <a:extLst>
              <a:ext uri="{FF2B5EF4-FFF2-40B4-BE49-F238E27FC236}">
                <a16:creationId xmlns:a16="http://schemas.microsoft.com/office/drawing/2014/main" id="{0D8C284D-B302-E431-CA47-CCC015B09E21}"/>
              </a:ext>
            </a:extLst>
          </p:cNvPr>
          <p:cNvSpPr>
            <a:spLocks noGrp="1"/>
          </p:cNvSpPr>
          <p:nvPr>
            <p:ph type="sldNum" sz="quarter" idx="12"/>
          </p:nvPr>
        </p:nvSpPr>
        <p:spPr/>
        <p:txBody>
          <a:bodyPr/>
          <a:lstStyle/>
          <a:p>
            <a:fld id="{7183533A-8A50-4A1F-BEA9-C8C6956451EB}" type="slidenum">
              <a:rPr lang="en-US" noProof="0" smtClean="0"/>
              <a:pPr/>
              <a:t>45</a:t>
            </a:fld>
            <a:endParaRPr lang="en-US" noProof="0" dirty="0"/>
          </a:p>
        </p:txBody>
      </p:sp>
      <p:sp>
        <p:nvSpPr>
          <p:cNvPr id="4" name="Inhaltsplatzhalter 3">
            <a:extLst>
              <a:ext uri="{FF2B5EF4-FFF2-40B4-BE49-F238E27FC236}">
                <a16:creationId xmlns:a16="http://schemas.microsoft.com/office/drawing/2014/main" id="{ED15BE9D-8FDF-0669-B136-508C47C1D67A}"/>
              </a:ext>
            </a:extLst>
          </p:cNvPr>
          <p:cNvSpPr>
            <a:spLocks noGrp="1"/>
          </p:cNvSpPr>
          <p:nvPr>
            <p:ph sz="quarter" idx="1"/>
          </p:nvPr>
        </p:nvSpPr>
        <p:spPr/>
        <p:txBody>
          <a:bodyPr/>
          <a:lstStyle/>
          <a:p>
            <a:r>
              <a:rPr lang="en-US" dirty="0"/>
              <a:t>How Copy Fail Turned Linux's Memory Efficiency Against Itself, </a:t>
            </a:r>
            <a:r>
              <a:rPr lang="en-US" dirty="0">
                <a:hlinkClick r:id="rId2"/>
              </a:rPr>
              <a:t>link</a:t>
            </a:r>
            <a:endParaRPr lang="en-US" dirty="0"/>
          </a:p>
          <a:p>
            <a:endParaRPr lang="en-US" dirty="0"/>
          </a:p>
          <a:p>
            <a:r>
              <a:rPr lang="en-US" dirty="0"/>
              <a:t>Measuring LLMs’ impact on N-day exploits, </a:t>
            </a:r>
            <a:r>
              <a:rPr lang="en-US" dirty="0">
                <a:hlinkClick r:id="rId3"/>
              </a:rPr>
              <a:t>link</a:t>
            </a:r>
            <a:endParaRPr lang="en-US" dirty="0"/>
          </a:p>
          <a:p>
            <a:endParaRPr lang="en-US" dirty="0"/>
          </a:p>
          <a:p>
            <a:r>
              <a:rPr lang="en-US" dirty="0"/>
              <a:t>The Internet Was Weeks Away From Disaster and No One Knew, </a:t>
            </a:r>
            <a:r>
              <a:rPr lang="en-US" dirty="0">
                <a:hlinkClick r:id="rId4"/>
              </a:rPr>
              <a:t>link</a:t>
            </a:r>
            <a:endParaRPr lang="en-US" dirty="0"/>
          </a:p>
          <a:p>
            <a:pPr lvl="1"/>
            <a:r>
              <a:rPr lang="en-US" dirty="0"/>
              <a:t>Video; lang </a:t>
            </a:r>
            <a:r>
              <a:rPr lang="en-US" dirty="0" err="1"/>
              <a:t>aber</a:t>
            </a:r>
            <a:r>
              <a:rPr lang="en-US" dirty="0"/>
              <a:t> </a:t>
            </a:r>
            <a:r>
              <a:rPr lang="en-US" dirty="0" err="1"/>
              <a:t>sehr</a:t>
            </a:r>
            <a:r>
              <a:rPr lang="en-US" dirty="0"/>
              <a:t> </a:t>
            </a:r>
            <a:r>
              <a:rPr lang="en-US" dirty="0" err="1"/>
              <a:t>lehrreich</a:t>
            </a:r>
            <a:r>
              <a:rPr lang="en-US"/>
              <a:t>!</a:t>
            </a:r>
            <a:endParaRPr lang="de-DE" dirty="0"/>
          </a:p>
        </p:txBody>
      </p:sp>
    </p:spTree>
    <p:extLst>
      <p:ext uri="{BB962C8B-B14F-4D97-AF65-F5344CB8AC3E}">
        <p14:creationId xmlns:p14="http://schemas.microsoft.com/office/powerpoint/2010/main" val="11999349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46</a:t>
            </a:fld>
            <a:endParaRPr lang="de-DE" dirty="0"/>
          </a:p>
        </p:txBody>
      </p:sp>
      <p:sp>
        <p:nvSpPr>
          <p:cNvPr id="3" name="Titel 2"/>
          <p:cNvSpPr>
            <a:spLocks noGrp="1"/>
          </p:cNvSpPr>
          <p:nvPr>
            <p:ph type="title"/>
          </p:nvPr>
        </p:nvSpPr>
        <p:spPr/>
        <p:txBody>
          <a:bodyPr/>
          <a:lstStyle/>
          <a:p>
            <a:r>
              <a:rPr lang="de-DE"/>
              <a:t>Danke!</a:t>
            </a:r>
            <a:endParaRPr lang="de-DE" dirty="0"/>
          </a:p>
        </p:txBody>
      </p:sp>
    </p:spTree>
    <p:extLst>
      <p:ext uri="{BB962C8B-B14F-4D97-AF65-F5344CB8AC3E}">
        <p14:creationId xmlns:p14="http://schemas.microsoft.com/office/powerpoint/2010/main" val="171953659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solidFill>
                  <a:srgbClr val="424456"/>
                </a:solidFill>
              </a:rPr>
              <a:pPr/>
              <a:t>47</a:t>
            </a:fld>
            <a:endParaRPr lang="de-DE" dirty="0">
              <a:solidFill>
                <a:srgbClr val="424456"/>
              </a:solidFill>
            </a:endParaRPr>
          </a:p>
        </p:txBody>
      </p:sp>
      <p:sp>
        <p:nvSpPr>
          <p:cNvPr id="3" name="Titel 2"/>
          <p:cNvSpPr>
            <a:spLocks noGrp="1"/>
          </p:cNvSpPr>
          <p:nvPr>
            <p:ph type="title"/>
          </p:nvPr>
        </p:nvSpPr>
        <p:spPr/>
        <p:txBody>
          <a:bodyPr>
            <a:normAutofit/>
          </a:bodyPr>
          <a:lstStyle/>
          <a:p>
            <a:r>
              <a:rPr lang="de-DE" dirty="0"/>
              <a:t>Zusatzfolien:</a:t>
            </a:r>
            <a:br>
              <a:rPr lang="de-DE" dirty="0"/>
            </a:br>
            <a:r>
              <a:rPr lang="de-DE" dirty="0"/>
              <a:t>I/O-Grundlagen - Drei Verfahren der Ein-/Ausgabe</a:t>
            </a:r>
          </a:p>
        </p:txBody>
      </p:sp>
    </p:spTree>
    <p:extLst>
      <p:ext uri="{BB962C8B-B14F-4D97-AF65-F5344CB8AC3E}">
        <p14:creationId xmlns:p14="http://schemas.microsoft.com/office/powerpoint/2010/main" val="10968623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Verfahren zu Ein-/Ausgabe</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48</a:t>
            </a:fld>
            <a:endParaRPr lang="en-US" dirty="0">
              <a:solidFill>
                <a:srgbClr val="424456"/>
              </a:solidFill>
            </a:endParaRPr>
          </a:p>
        </p:txBody>
      </p:sp>
      <p:sp>
        <p:nvSpPr>
          <p:cNvPr id="4" name="Inhaltsplatzhalter 3"/>
          <p:cNvSpPr>
            <a:spLocks noGrp="1"/>
          </p:cNvSpPr>
          <p:nvPr>
            <p:ph sz="quarter" idx="1"/>
          </p:nvPr>
        </p:nvSpPr>
        <p:spPr>
          <a:xfrm>
            <a:off x="457200" y="1219200"/>
            <a:ext cx="8507288" cy="5378152"/>
          </a:xfrm>
        </p:spPr>
        <p:txBody>
          <a:bodyPr>
            <a:normAutofit/>
          </a:bodyPr>
          <a:lstStyle/>
          <a:p>
            <a:r>
              <a:rPr lang="de-DE" dirty="0"/>
              <a:t>Drei Möglichkeiten, die Ein-/Ausgabe durchzuführen</a:t>
            </a:r>
          </a:p>
          <a:p>
            <a:pPr lvl="1"/>
            <a:r>
              <a:rPr lang="de-DE" dirty="0"/>
              <a:t>Unterschiedliche Belastung der CPU</a:t>
            </a:r>
          </a:p>
          <a:p>
            <a:r>
              <a:rPr lang="de-DE" b="1" dirty="0">
                <a:solidFill>
                  <a:srgbClr val="FF0000"/>
                </a:solidFill>
              </a:rPr>
              <a:t>1. Programmierte Ein-/Ausgabe </a:t>
            </a:r>
            <a:r>
              <a:rPr lang="de-DE" dirty="0"/>
              <a:t>(</a:t>
            </a:r>
            <a:r>
              <a:rPr lang="de-DE" dirty="0" err="1"/>
              <a:t>prog‘ed</a:t>
            </a:r>
            <a:r>
              <a:rPr lang="de-DE" dirty="0"/>
              <a:t> I/O -</a:t>
            </a:r>
            <a:r>
              <a:rPr lang="de-DE" b="1" dirty="0">
                <a:solidFill>
                  <a:srgbClr val="FF0000"/>
                </a:solidFill>
              </a:rPr>
              <a:t>PIO</a:t>
            </a:r>
            <a:r>
              <a:rPr lang="de-DE" dirty="0"/>
              <a:t>)</a:t>
            </a:r>
            <a:endParaRPr lang="de-DE" b="1" dirty="0">
              <a:solidFill>
                <a:srgbClr val="FF0000"/>
              </a:solidFill>
            </a:endParaRPr>
          </a:p>
          <a:p>
            <a:pPr lvl="1"/>
            <a:r>
              <a:rPr lang="de-DE" dirty="0"/>
              <a:t>Prozessor sendet Befehle an einen Controller und wartet </a:t>
            </a:r>
            <a:r>
              <a:rPr lang="de-DE" u="sng" dirty="0"/>
              <a:t>blockierend</a:t>
            </a:r>
            <a:r>
              <a:rPr lang="de-DE" dirty="0"/>
              <a:t> auf die Ausführung</a:t>
            </a:r>
          </a:p>
          <a:p>
            <a:r>
              <a:rPr lang="de-DE" b="1" dirty="0">
                <a:solidFill>
                  <a:srgbClr val="FF0000"/>
                </a:solidFill>
              </a:rPr>
              <a:t>2. Interrupt-gesteuerte Ein-/Ausgabe</a:t>
            </a:r>
          </a:p>
          <a:p>
            <a:pPr lvl="1"/>
            <a:r>
              <a:rPr lang="de-DE" dirty="0"/>
              <a:t>Nach dem Senden eines Befehls an einen Controller arbeitet die CPU weiter, und erst wenn Controller Daten hat / fertig ist wird CPU von einem Interrupt unterbrochen</a:t>
            </a:r>
          </a:p>
          <a:p>
            <a:r>
              <a:rPr lang="de-DE" b="1" dirty="0">
                <a:solidFill>
                  <a:srgbClr val="FF0000"/>
                </a:solidFill>
              </a:rPr>
              <a:t>3. Direkter Speicherzugriff </a:t>
            </a:r>
            <a:r>
              <a:rPr lang="de-DE" dirty="0"/>
              <a:t>(</a:t>
            </a:r>
            <a:r>
              <a:rPr lang="de-DE" b="1" dirty="0">
                <a:solidFill>
                  <a:srgbClr val="FF0000"/>
                </a:solidFill>
              </a:rPr>
              <a:t>Direct Memory Access</a:t>
            </a:r>
            <a:r>
              <a:rPr lang="de-DE" dirty="0"/>
              <a:t>)</a:t>
            </a:r>
          </a:p>
          <a:p>
            <a:pPr lvl="1"/>
            <a:r>
              <a:rPr lang="de-DE" dirty="0"/>
              <a:t>Ein HW-Baustein (DMA-Controller) steuert den Austausch von Daten zwischen Speicher und den I/O-Geräten</a:t>
            </a:r>
          </a:p>
        </p:txBody>
      </p:sp>
    </p:spTree>
    <p:extLst>
      <p:ext uri="{BB962C8B-B14F-4D97-AF65-F5344CB8AC3E}">
        <p14:creationId xmlns:p14="http://schemas.microsoft.com/office/powerpoint/2010/main" val="147148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Interrupt-gesteuerte Ein-/Ausgabe - Beispiel </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49</a:t>
            </a:fld>
            <a:endParaRPr lang="en-US" dirty="0">
              <a:solidFill>
                <a:srgbClr val="424456"/>
              </a:solidFill>
            </a:endParaRPr>
          </a:p>
        </p:txBody>
      </p:sp>
      <p:sp>
        <p:nvSpPr>
          <p:cNvPr id="4" name="Inhaltsplatzhalter 3"/>
          <p:cNvSpPr>
            <a:spLocks noGrp="1"/>
          </p:cNvSpPr>
          <p:nvPr>
            <p:ph sz="quarter" idx="1"/>
          </p:nvPr>
        </p:nvSpPr>
        <p:spPr>
          <a:xfrm>
            <a:off x="457200" y="1219200"/>
            <a:ext cx="8435280" cy="5210196"/>
          </a:xfrm>
        </p:spPr>
        <p:txBody>
          <a:bodyPr>
            <a:normAutofit/>
          </a:bodyPr>
          <a:lstStyle/>
          <a:p>
            <a:r>
              <a:rPr lang="de-DE" dirty="0"/>
              <a:t>Beim </a:t>
            </a:r>
            <a:r>
              <a:rPr lang="de-DE" b="1" dirty="0">
                <a:solidFill>
                  <a:srgbClr val="0070C0"/>
                </a:solidFill>
              </a:rPr>
              <a:t>Systemaufruf</a:t>
            </a:r>
            <a:r>
              <a:rPr lang="de-DE" dirty="0"/>
              <a:t> wird der Ausgabe-String in den Adressraum des BS kopiert</a:t>
            </a:r>
          </a:p>
          <a:p>
            <a:pPr lvl="1"/>
            <a:r>
              <a:rPr lang="de-DE" dirty="0">
                <a:solidFill>
                  <a:srgbClr val="0070C0"/>
                </a:solidFill>
              </a:rPr>
              <a:t>Warten</a:t>
            </a:r>
            <a:r>
              <a:rPr lang="de-DE" dirty="0"/>
              <a:t> des Aufrufers (Zustand </a:t>
            </a:r>
            <a:r>
              <a:rPr lang="de-DE" sz="2400" dirty="0" err="1">
                <a:solidFill>
                  <a:srgbClr val="FF0000"/>
                </a:solidFill>
              </a:rPr>
              <a:t>waiting</a:t>
            </a:r>
            <a:r>
              <a:rPr lang="de-DE" dirty="0"/>
              <a:t>), bis Drucker frei ist</a:t>
            </a:r>
          </a:p>
          <a:p>
            <a:pPr lvl="1"/>
            <a:r>
              <a:rPr lang="de-DE" dirty="0"/>
              <a:t>D.h. es wird Prozessorscheduler aufgerufen, der die CPU anderen Prozessen / Threads zuteilt – das „Blockieren“</a:t>
            </a:r>
          </a:p>
          <a:p>
            <a:r>
              <a:rPr lang="de-DE" dirty="0"/>
              <a:t>Wenn das I/O-Gerät (Drucker) frei ist, wird ein </a:t>
            </a:r>
            <a:r>
              <a:rPr lang="de-DE" b="1" dirty="0">
                <a:solidFill>
                  <a:srgbClr val="0070C0"/>
                </a:solidFill>
              </a:rPr>
              <a:t>Interrupt</a:t>
            </a:r>
            <a:r>
              <a:rPr lang="de-DE" dirty="0"/>
              <a:t> erzeugt </a:t>
            </a:r>
          </a:p>
          <a:p>
            <a:pPr lvl="1"/>
            <a:r>
              <a:rPr lang="de-DE" dirty="0"/>
              <a:t>Nun wird das nächste Zeichen ausgegeben – </a:t>
            </a:r>
            <a:r>
              <a:rPr lang="de-DE" dirty="0">
                <a:solidFill>
                  <a:srgbClr val="0070C0"/>
                </a:solidFill>
              </a:rPr>
              <a:t>vom BS Kern</a:t>
            </a:r>
          </a:p>
          <a:p>
            <a:pPr lvl="1"/>
            <a:r>
              <a:rPr lang="de-DE" dirty="0"/>
              <a:t>Falls es das letzte Zeichen war, wird der Benutzer-Aufruf „freigegeben“(Zustand </a:t>
            </a:r>
            <a:r>
              <a:rPr lang="de-DE" dirty="0" err="1">
                <a:solidFill>
                  <a:srgbClr val="0070C0"/>
                </a:solidFill>
              </a:rPr>
              <a:t>ready</a:t>
            </a:r>
            <a:r>
              <a:rPr lang="de-DE" dirty="0"/>
              <a:t>) </a:t>
            </a:r>
          </a:p>
          <a:p>
            <a:pPr lvl="1"/>
            <a:r>
              <a:rPr lang="de-DE" dirty="0"/>
              <a:t>Rückkehr zur Routine, die den Systemaufruf ausgelöst hat (und ggf. blockiert war)</a:t>
            </a:r>
          </a:p>
        </p:txBody>
      </p:sp>
    </p:spTree>
    <p:extLst>
      <p:ext uri="{BB962C8B-B14F-4D97-AF65-F5344CB8AC3E}">
        <p14:creationId xmlns:p14="http://schemas.microsoft.com/office/powerpoint/2010/main" val="3699847648"/>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Interrupts - Details</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50</a:t>
            </a:fld>
            <a:endParaRPr lang="en-US" dirty="0">
              <a:solidFill>
                <a:srgbClr val="424456"/>
              </a:solidFill>
            </a:endParaRPr>
          </a:p>
        </p:txBody>
      </p:sp>
      <p:sp>
        <p:nvSpPr>
          <p:cNvPr id="5" name="Inhaltsplatzhalter 4"/>
          <p:cNvSpPr>
            <a:spLocks noGrp="1"/>
          </p:cNvSpPr>
          <p:nvPr>
            <p:ph sz="quarter" idx="1"/>
          </p:nvPr>
        </p:nvSpPr>
        <p:spPr>
          <a:xfrm>
            <a:off x="457200" y="1219199"/>
            <a:ext cx="4114800" cy="5119737"/>
          </a:xfrm>
        </p:spPr>
        <p:txBody>
          <a:bodyPr>
            <a:normAutofit fontScale="92500"/>
          </a:bodyPr>
          <a:lstStyle/>
          <a:p>
            <a:r>
              <a:rPr lang="de-DE" dirty="0"/>
              <a:t>Prozessoren haben sog. </a:t>
            </a:r>
            <a:r>
              <a:rPr lang="de-DE" b="1" dirty="0">
                <a:solidFill>
                  <a:srgbClr val="FF0000"/>
                </a:solidFill>
              </a:rPr>
              <a:t>Interrupt-Vektoren</a:t>
            </a:r>
          </a:p>
          <a:p>
            <a:pPr lvl="1"/>
            <a:r>
              <a:rPr lang="de-DE" dirty="0"/>
              <a:t>Listen von Adressen der I.-Service-Routinen, an die gesprungen wird, abhängig von der Quelle des </a:t>
            </a:r>
            <a:r>
              <a:rPr lang="de-DE" dirty="0" err="1"/>
              <a:t>Interr</a:t>
            </a:r>
            <a:r>
              <a:rPr lang="de-DE" dirty="0"/>
              <a:t>.</a:t>
            </a:r>
          </a:p>
          <a:p>
            <a:pPr lvl="1"/>
            <a:r>
              <a:rPr lang="de-DE" dirty="0"/>
              <a:t>Spart Zeit, um die Ursache </a:t>
            </a:r>
            <a:br>
              <a:rPr lang="de-DE" dirty="0"/>
            </a:br>
            <a:r>
              <a:rPr lang="de-DE" dirty="0"/>
              <a:t>/ das Gerät zu finden</a:t>
            </a:r>
          </a:p>
          <a:p>
            <a:r>
              <a:rPr lang="de-DE" b="1" dirty="0">
                <a:solidFill>
                  <a:srgbClr val="0070C0"/>
                </a:solidFill>
              </a:rPr>
              <a:t>Interrupt </a:t>
            </a:r>
            <a:r>
              <a:rPr lang="de-DE" b="1" dirty="0" err="1">
                <a:solidFill>
                  <a:srgbClr val="0070C0"/>
                </a:solidFill>
              </a:rPr>
              <a:t>chaining</a:t>
            </a:r>
            <a:endParaRPr lang="de-DE" b="1" dirty="0">
              <a:solidFill>
                <a:srgbClr val="0070C0"/>
              </a:solidFill>
            </a:endParaRPr>
          </a:p>
          <a:p>
            <a:pPr lvl="1"/>
            <a:r>
              <a:rPr lang="de-DE" dirty="0"/>
              <a:t>Falls mehr Geräte, als der Vektor decken kann?</a:t>
            </a:r>
          </a:p>
          <a:p>
            <a:pPr lvl="1"/>
            <a:r>
              <a:rPr lang="de-DE" dirty="0"/>
              <a:t>… Jede Adresse führt zur Code, der eine Liste von I-Erzeuger abarbeitet</a:t>
            </a:r>
          </a:p>
        </p:txBody>
      </p:sp>
      <p:sp>
        <p:nvSpPr>
          <p:cNvPr id="8" name="Textfeld 7"/>
          <p:cNvSpPr txBox="1"/>
          <p:nvPr/>
        </p:nvSpPr>
        <p:spPr>
          <a:xfrm>
            <a:off x="6012160" y="1196752"/>
            <a:ext cx="2880320" cy="5262979"/>
          </a:xfrm>
          <a:prstGeom prst="rect">
            <a:avLst/>
          </a:prstGeom>
          <a:noFill/>
        </p:spPr>
        <p:txBody>
          <a:bodyPr wrap="square" rtlCol="0">
            <a:spAutoFit/>
          </a:bodyPr>
          <a:lstStyle/>
          <a:p>
            <a:r>
              <a:rPr lang="de-DE" sz="1600" dirty="0" err="1">
                <a:solidFill>
                  <a:prstClr val="black"/>
                </a:solidFill>
              </a:rPr>
              <a:t>divide</a:t>
            </a:r>
            <a:r>
              <a:rPr lang="de-DE" sz="1600" dirty="0">
                <a:solidFill>
                  <a:prstClr val="black"/>
                </a:solidFill>
              </a:rPr>
              <a:t> </a:t>
            </a:r>
            <a:r>
              <a:rPr lang="de-DE" sz="1600" dirty="0" err="1">
                <a:solidFill>
                  <a:prstClr val="black"/>
                </a:solidFill>
              </a:rPr>
              <a:t>error</a:t>
            </a:r>
            <a:endParaRPr lang="de-DE" sz="1600" dirty="0">
              <a:solidFill>
                <a:prstClr val="black"/>
              </a:solidFill>
            </a:endParaRPr>
          </a:p>
          <a:p>
            <a:r>
              <a:rPr lang="de-DE" sz="1600" dirty="0" err="1">
                <a:solidFill>
                  <a:prstClr val="black"/>
                </a:solidFill>
              </a:rPr>
              <a:t>debug</a:t>
            </a:r>
            <a:r>
              <a:rPr lang="de-DE" sz="1600" dirty="0">
                <a:solidFill>
                  <a:prstClr val="black"/>
                </a:solidFill>
              </a:rPr>
              <a:t> </a:t>
            </a:r>
            <a:r>
              <a:rPr lang="de-DE" sz="1600" dirty="0" err="1">
                <a:solidFill>
                  <a:prstClr val="black"/>
                </a:solidFill>
              </a:rPr>
              <a:t>exception</a:t>
            </a:r>
            <a:endParaRPr lang="de-DE" sz="1600" dirty="0">
              <a:solidFill>
                <a:prstClr val="black"/>
              </a:solidFill>
            </a:endParaRPr>
          </a:p>
          <a:p>
            <a:r>
              <a:rPr lang="de-DE" sz="1600" dirty="0">
                <a:solidFill>
                  <a:prstClr val="black"/>
                </a:solidFill>
              </a:rPr>
              <a:t>null </a:t>
            </a:r>
            <a:r>
              <a:rPr lang="de-DE" sz="1600" dirty="0" err="1">
                <a:solidFill>
                  <a:prstClr val="black"/>
                </a:solidFill>
              </a:rPr>
              <a:t>interrupt</a:t>
            </a:r>
            <a:endParaRPr lang="de-DE" sz="1600" dirty="0">
              <a:solidFill>
                <a:prstClr val="black"/>
              </a:solidFill>
            </a:endParaRPr>
          </a:p>
          <a:p>
            <a:r>
              <a:rPr lang="de-DE" sz="1600" dirty="0" err="1">
                <a:solidFill>
                  <a:prstClr val="black"/>
                </a:solidFill>
              </a:rPr>
              <a:t>breakpoint</a:t>
            </a:r>
            <a:endParaRPr lang="de-DE" sz="1600" dirty="0">
              <a:solidFill>
                <a:prstClr val="black"/>
              </a:solidFill>
            </a:endParaRPr>
          </a:p>
          <a:p>
            <a:r>
              <a:rPr lang="en-US" sz="1600" dirty="0">
                <a:solidFill>
                  <a:prstClr val="black"/>
                </a:solidFill>
              </a:rPr>
              <a:t>INTO-detected overflow </a:t>
            </a:r>
          </a:p>
          <a:p>
            <a:r>
              <a:rPr lang="en-US" sz="1600" dirty="0">
                <a:solidFill>
                  <a:prstClr val="black"/>
                </a:solidFill>
              </a:rPr>
              <a:t>bound range exception </a:t>
            </a:r>
          </a:p>
          <a:p>
            <a:r>
              <a:rPr lang="en-US" sz="1600" dirty="0">
                <a:solidFill>
                  <a:prstClr val="black"/>
                </a:solidFill>
              </a:rPr>
              <a:t>invalid </a:t>
            </a:r>
            <a:r>
              <a:rPr lang="en-US" sz="1600" dirty="0" err="1">
                <a:solidFill>
                  <a:prstClr val="black"/>
                </a:solidFill>
              </a:rPr>
              <a:t>opcode</a:t>
            </a:r>
            <a:endParaRPr lang="en-US" sz="1600" dirty="0">
              <a:solidFill>
                <a:prstClr val="black"/>
              </a:solidFill>
            </a:endParaRPr>
          </a:p>
          <a:p>
            <a:r>
              <a:rPr lang="de-DE" sz="1600" dirty="0" err="1">
                <a:solidFill>
                  <a:prstClr val="black"/>
                </a:solidFill>
              </a:rPr>
              <a:t>device</a:t>
            </a:r>
            <a:r>
              <a:rPr lang="de-DE" sz="1600" dirty="0">
                <a:solidFill>
                  <a:prstClr val="black"/>
                </a:solidFill>
              </a:rPr>
              <a:t> not </a:t>
            </a:r>
            <a:r>
              <a:rPr lang="de-DE" sz="1600" dirty="0" err="1">
                <a:solidFill>
                  <a:prstClr val="black"/>
                </a:solidFill>
              </a:rPr>
              <a:t>available</a:t>
            </a:r>
            <a:endParaRPr lang="de-DE" sz="1600" dirty="0">
              <a:solidFill>
                <a:prstClr val="black"/>
              </a:solidFill>
            </a:endParaRPr>
          </a:p>
          <a:p>
            <a:r>
              <a:rPr lang="de-DE" sz="1600" dirty="0">
                <a:solidFill>
                  <a:prstClr val="black"/>
                </a:solidFill>
              </a:rPr>
              <a:t>double fault</a:t>
            </a:r>
          </a:p>
          <a:p>
            <a:r>
              <a:rPr lang="en-US" sz="1600" dirty="0">
                <a:solidFill>
                  <a:prstClr val="black"/>
                </a:solidFill>
              </a:rPr>
              <a:t>coprocessor segment overrun</a:t>
            </a:r>
          </a:p>
          <a:p>
            <a:r>
              <a:rPr lang="en-US" sz="1600" dirty="0">
                <a:solidFill>
                  <a:prstClr val="black"/>
                </a:solidFill>
              </a:rPr>
              <a:t>invalid task state segment</a:t>
            </a:r>
          </a:p>
          <a:p>
            <a:r>
              <a:rPr lang="de-DE" sz="1600" dirty="0" err="1">
                <a:solidFill>
                  <a:prstClr val="black"/>
                </a:solidFill>
              </a:rPr>
              <a:t>segment</a:t>
            </a:r>
            <a:r>
              <a:rPr lang="de-DE" sz="1600" dirty="0">
                <a:solidFill>
                  <a:prstClr val="black"/>
                </a:solidFill>
              </a:rPr>
              <a:t> not </a:t>
            </a:r>
            <a:r>
              <a:rPr lang="de-DE" sz="1600" dirty="0" err="1">
                <a:solidFill>
                  <a:prstClr val="black"/>
                </a:solidFill>
              </a:rPr>
              <a:t>present</a:t>
            </a:r>
            <a:endParaRPr lang="de-DE" sz="1600" dirty="0">
              <a:solidFill>
                <a:prstClr val="black"/>
              </a:solidFill>
            </a:endParaRPr>
          </a:p>
          <a:p>
            <a:r>
              <a:rPr lang="de-DE" sz="1600" dirty="0" err="1">
                <a:solidFill>
                  <a:prstClr val="black"/>
                </a:solidFill>
              </a:rPr>
              <a:t>stack</a:t>
            </a:r>
            <a:r>
              <a:rPr lang="de-DE" sz="1600" dirty="0">
                <a:solidFill>
                  <a:prstClr val="black"/>
                </a:solidFill>
              </a:rPr>
              <a:t> fault</a:t>
            </a:r>
          </a:p>
          <a:p>
            <a:r>
              <a:rPr lang="de-DE" sz="1600" dirty="0" err="1">
                <a:solidFill>
                  <a:prstClr val="black"/>
                </a:solidFill>
              </a:rPr>
              <a:t>general</a:t>
            </a:r>
            <a:r>
              <a:rPr lang="de-DE" sz="1600" dirty="0">
                <a:solidFill>
                  <a:prstClr val="black"/>
                </a:solidFill>
              </a:rPr>
              <a:t> </a:t>
            </a:r>
            <a:r>
              <a:rPr lang="de-DE" sz="1600" dirty="0" err="1">
                <a:solidFill>
                  <a:prstClr val="black"/>
                </a:solidFill>
              </a:rPr>
              <a:t>protection</a:t>
            </a:r>
            <a:endParaRPr lang="de-DE" sz="1600" dirty="0">
              <a:solidFill>
                <a:prstClr val="black"/>
              </a:solidFill>
            </a:endParaRPr>
          </a:p>
          <a:p>
            <a:r>
              <a:rPr lang="de-DE" sz="1600" b="1" dirty="0" err="1">
                <a:solidFill>
                  <a:srgbClr val="0070C0"/>
                </a:solidFill>
              </a:rPr>
              <a:t>page</a:t>
            </a:r>
            <a:r>
              <a:rPr lang="de-DE" sz="1600" b="1" dirty="0">
                <a:solidFill>
                  <a:srgbClr val="0070C0"/>
                </a:solidFill>
              </a:rPr>
              <a:t> fault</a:t>
            </a:r>
          </a:p>
          <a:p>
            <a:r>
              <a:rPr lang="en-US" sz="1600" dirty="0">
                <a:solidFill>
                  <a:prstClr val="black"/>
                </a:solidFill>
              </a:rPr>
              <a:t>(Intel reserved, do not use) </a:t>
            </a:r>
          </a:p>
          <a:p>
            <a:r>
              <a:rPr lang="en-US" sz="1600" dirty="0">
                <a:solidFill>
                  <a:prstClr val="black"/>
                </a:solidFill>
              </a:rPr>
              <a:t>floating-point error</a:t>
            </a:r>
          </a:p>
          <a:p>
            <a:r>
              <a:rPr lang="de-DE" sz="1600" dirty="0" err="1">
                <a:solidFill>
                  <a:prstClr val="black"/>
                </a:solidFill>
              </a:rPr>
              <a:t>alignment</a:t>
            </a:r>
            <a:r>
              <a:rPr lang="de-DE" sz="1600" dirty="0">
                <a:solidFill>
                  <a:prstClr val="black"/>
                </a:solidFill>
              </a:rPr>
              <a:t> check</a:t>
            </a:r>
          </a:p>
          <a:p>
            <a:r>
              <a:rPr lang="de-DE" sz="1600" dirty="0" err="1">
                <a:solidFill>
                  <a:prstClr val="black"/>
                </a:solidFill>
              </a:rPr>
              <a:t>machine</a:t>
            </a:r>
            <a:r>
              <a:rPr lang="de-DE" sz="1600" dirty="0">
                <a:solidFill>
                  <a:prstClr val="black"/>
                </a:solidFill>
              </a:rPr>
              <a:t> check</a:t>
            </a:r>
          </a:p>
          <a:p>
            <a:r>
              <a:rPr lang="en-US" sz="1600" dirty="0">
                <a:solidFill>
                  <a:prstClr val="black"/>
                </a:solidFill>
              </a:rPr>
              <a:t>(Intel reserved, do not use) </a:t>
            </a:r>
          </a:p>
          <a:p>
            <a:r>
              <a:rPr lang="en-US" sz="1600" dirty="0" err="1">
                <a:solidFill>
                  <a:prstClr val="black"/>
                </a:solidFill>
              </a:rPr>
              <a:t>maskable</a:t>
            </a:r>
            <a:r>
              <a:rPr lang="en-US" sz="1600" dirty="0">
                <a:solidFill>
                  <a:prstClr val="black"/>
                </a:solidFill>
              </a:rPr>
              <a:t> interrupts</a:t>
            </a:r>
            <a:endParaRPr lang="de-DE" sz="1600" dirty="0">
              <a:solidFill>
                <a:prstClr val="black"/>
              </a:solidFill>
            </a:endParaRPr>
          </a:p>
        </p:txBody>
      </p:sp>
      <p:sp>
        <p:nvSpPr>
          <p:cNvPr id="9" name="Textfeld 8"/>
          <p:cNvSpPr txBox="1"/>
          <p:nvPr/>
        </p:nvSpPr>
        <p:spPr>
          <a:xfrm>
            <a:off x="5220072" y="1196752"/>
            <a:ext cx="822726" cy="5262979"/>
          </a:xfrm>
          <a:prstGeom prst="rect">
            <a:avLst/>
          </a:prstGeom>
          <a:noFill/>
        </p:spPr>
        <p:txBody>
          <a:bodyPr wrap="square" rtlCol="0">
            <a:spAutoFit/>
          </a:bodyPr>
          <a:lstStyle/>
          <a:p>
            <a:pPr algn="r"/>
            <a:r>
              <a:rPr lang="de-DE" sz="1600" dirty="0">
                <a:solidFill>
                  <a:prstClr val="black"/>
                </a:solidFill>
              </a:rPr>
              <a:t>0</a:t>
            </a:r>
          </a:p>
          <a:p>
            <a:pPr algn="r"/>
            <a:r>
              <a:rPr lang="de-DE" sz="1600" dirty="0">
                <a:solidFill>
                  <a:prstClr val="black"/>
                </a:solidFill>
              </a:rPr>
              <a:t>1</a:t>
            </a:r>
          </a:p>
          <a:p>
            <a:pPr algn="r"/>
            <a:r>
              <a:rPr lang="de-DE" sz="1600" dirty="0">
                <a:solidFill>
                  <a:prstClr val="black"/>
                </a:solidFill>
              </a:rPr>
              <a:t>2</a:t>
            </a:r>
          </a:p>
          <a:p>
            <a:pPr algn="r"/>
            <a:r>
              <a:rPr lang="de-DE" sz="1600" dirty="0">
                <a:solidFill>
                  <a:prstClr val="black"/>
                </a:solidFill>
              </a:rPr>
              <a:t>3</a:t>
            </a:r>
          </a:p>
          <a:p>
            <a:pPr algn="r"/>
            <a:r>
              <a:rPr lang="de-DE" sz="1600" dirty="0">
                <a:solidFill>
                  <a:prstClr val="black"/>
                </a:solidFill>
              </a:rPr>
              <a:t>4</a:t>
            </a:r>
          </a:p>
          <a:p>
            <a:pPr algn="r"/>
            <a:r>
              <a:rPr lang="de-DE" sz="1600" dirty="0">
                <a:solidFill>
                  <a:prstClr val="black"/>
                </a:solidFill>
              </a:rPr>
              <a:t>5</a:t>
            </a:r>
          </a:p>
          <a:p>
            <a:pPr algn="r"/>
            <a:r>
              <a:rPr lang="de-DE" sz="1600" dirty="0">
                <a:solidFill>
                  <a:prstClr val="black"/>
                </a:solidFill>
              </a:rPr>
              <a:t>6</a:t>
            </a:r>
          </a:p>
          <a:p>
            <a:pPr algn="r"/>
            <a:r>
              <a:rPr lang="de-DE" sz="1600" dirty="0">
                <a:solidFill>
                  <a:prstClr val="black"/>
                </a:solidFill>
              </a:rPr>
              <a:t>7</a:t>
            </a:r>
          </a:p>
          <a:p>
            <a:pPr algn="r"/>
            <a:r>
              <a:rPr lang="de-DE" sz="1600" dirty="0">
                <a:solidFill>
                  <a:prstClr val="black"/>
                </a:solidFill>
              </a:rPr>
              <a:t>8</a:t>
            </a:r>
          </a:p>
          <a:p>
            <a:pPr algn="r"/>
            <a:r>
              <a:rPr lang="de-DE" sz="1600" dirty="0">
                <a:solidFill>
                  <a:prstClr val="black"/>
                </a:solidFill>
              </a:rPr>
              <a:t>9</a:t>
            </a:r>
          </a:p>
          <a:p>
            <a:pPr algn="r"/>
            <a:r>
              <a:rPr lang="de-DE" sz="1600" dirty="0">
                <a:solidFill>
                  <a:prstClr val="black"/>
                </a:solidFill>
              </a:rPr>
              <a:t>10</a:t>
            </a:r>
          </a:p>
          <a:p>
            <a:pPr algn="r"/>
            <a:r>
              <a:rPr lang="de-DE" sz="1600" dirty="0">
                <a:solidFill>
                  <a:prstClr val="black"/>
                </a:solidFill>
              </a:rPr>
              <a:t>11</a:t>
            </a:r>
          </a:p>
          <a:p>
            <a:pPr algn="r"/>
            <a:r>
              <a:rPr lang="de-DE" sz="1600" dirty="0">
                <a:solidFill>
                  <a:prstClr val="black"/>
                </a:solidFill>
              </a:rPr>
              <a:t>12</a:t>
            </a:r>
          </a:p>
          <a:p>
            <a:pPr algn="r"/>
            <a:r>
              <a:rPr lang="de-DE" sz="1600" dirty="0">
                <a:solidFill>
                  <a:prstClr val="black"/>
                </a:solidFill>
              </a:rPr>
              <a:t>13</a:t>
            </a:r>
          </a:p>
          <a:p>
            <a:pPr algn="r"/>
            <a:r>
              <a:rPr lang="de-DE" sz="1600" dirty="0">
                <a:solidFill>
                  <a:prstClr val="black"/>
                </a:solidFill>
              </a:rPr>
              <a:t>14</a:t>
            </a:r>
          </a:p>
          <a:p>
            <a:pPr algn="r"/>
            <a:r>
              <a:rPr lang="de-DE" sz="1600" dirty="0">
                <a:solidFill>
                  <a:prstClr val="black"/>
                </a:solidFill>
              </a:rPr>
              <a:t>15</a:t>
            </a:r>
          </a:p>
          <a:p>
            <a:pPr algn="r"/>
            <a:r>
              <a:rPr lang="de-DE" sz="1600" dirty="0">
                <a:solidFill>
                  <a:prstClr val="black"/>
                </a:solidFill>
              </a:rPr>
              <a:t>16</a:t>
            </a:r>
          </a:p>
          <a:p>
            <a:pPr algn="r"/>
            <a:r>
              <a:rPr lang="de-DE" sz="1600" dirty="0">
                <a:solidFill>
                  <a:prstClr val="black"/>
                </a:solidFill>
              </a:rPr>
              <a:t>17</a:t>
            </a:r>
          </a:p>
          <a:p>
            <a:pPr algn="r"/>
            <a:r>
              <a:rPr lang="de-DE" sz="1600" dirty="0">
                <a:solidFill>
                  <a:prstClr val="black"/>
                </a:solidFill>
              </a:rPr>
              <a:t>18</a:t>
            </a:r>
            <a:br>
              <a:rPr lang="de-DE" sz="1600" dirty="0">
                <a:solidFill>
                  <a:prstClr val="black"/>
                </a:solidFill>
              </a:rPr>
            </a:br>
            <a:r>
              <a:rPr lang="de-DE" sz="1600" dirty="0">
                <a:solidFill>
                  <a:prstClr val="black"/>
                </a:solidFill>
              </a:rPr>
              <a:t>19-31</a:t>
            </a:r>
            <a:br>
              <a:rPr lang="de-DE" sz="1600" dirty="0">
                <a:solidFill>
                  <a:prstClr val="black"/>
                </a:solidFill>
              </a:rPr>
            </a:br>
            <a:r>
              <a:rPr lang="de-DE" sz="1600" dirty="0">
                <a:solidFill>
                  <a:prstClr val="black"/>
                </a:solidFill>
              </a:rPr>
              <a:t>32-255</a:t>
            </a:r>
          </a:p>
        </p:txBody>
      </p:sp>
      <p:sp>
        <p:nvSpPr>
          <p:cNvPr id="10" name="Textfeld 9"/>
          <p:cNvSpPr txBox="1"/>
          <p:nvPr/>
        </p:nvSpPr>
        <p:spPr>
          <a:xfrm>
            <a:off x="5436096" y="735087"/>
            <a:ext cx="3521157" cy="461665"/>
          </a:xfrm>
          <a:prstGeom prst="rect">
            <a:avLst/>
          </a:prstGeom>
          <a:noFill/>
        </p:spPr>
        <p:txBody>
          <a:bodyPr wrap="none" rtlCol="0">
            <a:spAutoFit/>
          </a:bodyPr>
          <a:lstStyle/>
          <a:p>
            <a:r>
              <a:rPr lang="de-DE" sz="2400" dirty="0">
                <a:solidFill>
                  <a:prstClr val="black"/>
                </a:solidFill>
              </a:rPr>
              <a:t>Pentium Interrupt-Vektor</a:t>
            </a:r>
          </a:p>
        </p:txBody>
      </p:sp>
      <p:sp>
        <p:nvSpPr>
          <p:cNvPr id="11" name="Geschweifte Klammer links 10"/>
          <p:cNvSpPr/>
          <p:nvPr/>
        </p:nvSpPr>
        <p:spPr>
          <a:xfrm>
            <a:off x="5508104" y="1340768"/>
            <a:ext cx="216024" cy="4464496"/>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solidFill>
                <a:prstClr val="black"/>
              </a:solidFill>
            </a:endParaRPr>
          </a:p>
        </p:txBody>
      </p:sp>
      <p:sp>
        <p:nvSpPr>
          <p:cNvPr id="12" name="Textfeld 11"/>
          <p:cNvSpPr txBox="1"/>
          <p:nvPr/>
        </p:nvSpPr>
        <p:spPr>
          <a:xfrm>
            <a:off x="4129677" y="2996952"/>
            <a:ext cx="1353255" cy="1323439"/>
          </a:xfrm>
          <a:prstGeom prst="rect">
            <a:avLst/>
          </a:prstGeom>
          <a:noFill/>
        </p:spPr>
        <p:txBody>
          <a:bodyPr wrap="none" rtlCol="0">
            <a:spAutoFit/>
          </a:bodyPr>
          <a:lstStyle/>
          <a:p>
            <a:pPr algn="r"/>
            <a:r>
              <a:rPr lang="de-DE" sz="2000" dirty="0">
                <a:solidFill>
                  <a:prstClr val="black"/>
                </a:solidFill>
              </a:rPr>
              <a:t>Können</a:t>
            </a:r>
          </a:p>
          <a:p>
            <a:pPr algn="r"/>
            <a:r>
              <a:rPr lang="de-DE" sz="2000" dirty="0">
                <a:solidFill>
                  <a:prstClr val="black"/>
                </a:solidFill>
              </a:rPr>
              <a:t>nicht aus-</a:t>
            </a:r>
          </a:p>
          <a:p>
            <a:pPr algn="r"/>
            <a:r>
              <a:rPr lang="de-DE" sz="2000" dirty="0">
                <a:solidFill>
                  <a:prstClr val="black"/>
                </a:solidFill>
              </a:rPr>
              <a:t>geschaltet</a:t>
            </a:r>
          </a:p>
          <a:p>
            <a:pPr algn="r"/>
            <a:r>
              <a:rPr lang="de-DE" sz="2000" dirty="0">
                <a:solidFill>
                  <a:prstClr val="black"/>
                </a:solidFill>
              </a:rPr>
              <a:t>werden</a:t>
            </a:r>
          </a:p>
        </p:txBody>
      </p:sp>
      <p:sp>
        <p:nvSpPr>
          <p:cNvPr id="13" name="Textfeld 12"/>
          <p:cNvSpPr txBox="1"/>
          <p:nvPr/>
        </p:nvSpPr>
        <p:spPr>
          <a:xfrm>
            <a:off x="3034023" y="5999636"/>
            <a:ext cx="1986441" cy="830997"/>
          </a:xfrm>
          <a:prstGeom prst="rect">
            <a:avLst/>
          </a:prstGeom>
          <a:noFill/>
        </p:spPr>
        <p:txBody>
          <a:bodyPr wrap="none" rtlCol="0">
            <a:spAutoFit/>
          </a:bodyPr>
          <a:lstStyle/>
          <a:p>
            <a:pPr algn="r"/>
            <a:r>
              <a:rPr lang="de-DE" sz="1600" dirty="0">
                <a:solidFill>
                  <a:prstClr val="black"/>
                </a:solidFill>
              </a:rPr>
              <a:t>Können</a:t>
            </a:r>
          </a:p>
          <a:p>
            <a:pPr algn="r"/>
            <a:r>
              <a:rPr lang="de-DE" sz="1600" dirty="0">
                <a:solidFill>
                  <a:prstClr val="black"/>
                </a:solidFill>
              </a:rPr>
              <a:t>ausgeschaltet</a:t>
            </a:r>
          </a:p>
          <a:p>
            <a:pPr algn="r"/>
            <a:r>
              <a:rPr lang="de-DE" sz="1600" dirty="0">
                <a:solidFill>
                  <a:prstClr val="black"/>
                </a:solidFill>
              </a:rPr>
              <a:t>werden (</a:t>
            </a:r>
            <a:r>
              <a:rPr lang="de-DE" sz="1600" b="1" dirty="0">
                <a:solidFill>
                  <a:srgbClr val="FF0000"/>
                </a:solidFill>
              </a:rPr>
              <a:t>maskable</a:t>
            </a:r>
            <a:r>
              <a:rPr lang="de-DE" sz="1600" dirty="0">
                <a:solidFill>
                  <a:prstClr val="black"/>
                </a:solidFill>
              </a:rPr>
              <a:t>)</a:t>
            </a:r>
          </a:p>
        </p:txBody>
      </p:sp>
      <p:cxnSp>
        <p:nvCxnSpPr>
          <p:cNvPr id="15" name="Gerade Verbindung mit Pfeil 14"/>
          <p:cNvCxnSpPr>
            <a:stCxn id="13" idx="3"/>
          </p:cNvCxnSpPr>
          <p:nvPr/>
        </p:nvCxnSpPr>
        <p:spPr>
          <a:xfrm flipV="1">
            <a:off x="5020464" y="6309320"/>
            <a:ext cx="288032" cy="105815"/>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0380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Direkter Speicherzugriff (DMA)</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51</a:t>
            </a:fld>
            <a:endParaRPr lang="en-US" dirty="0">
              <a:solidFill>
                <a:srgbClr val="424456"/>
              </a:solidFill>
            </a:endParaRPr>
          </a:p>
        </p:txBody>
      </p:sp>
      <p:sp>
        <p:nvSpPr>
          <p:cNvPr id="4" name="Inhaltsplatzhalter 3"/>
          <p:cNvSpPr>
            <a:spLocks noGrp="1"/>
          </p:cNvSpPr>
          <p:nvPr>
            <p:ph sz="quarter" idx="1"/>
          </p:nvPr>
        </p:nvSpPr>
        <p:spPr/>
        <p:txBody>
          <a:bodyPr>
            <a:normAutofit/>
          </a:bodyPr>
          <a:lstStyle/>
          <a:p>
            <a:r>
              <a:rPr lang="de-DE" dirty="0"/>
              <a:t>Hatten wir schon in der VL 2, Hardware-Crashkurs</a:t>
            </a:r>
          </a:p>
          <a:p>
            <a:r>
              <a:rPr lang="de-DE" dirty="0"/>
              <a:t>Vorteile:</a:t>
            </a:r>
          </a:p>
          <a:p>
            <a:pPr lvl="1"/>
            <a:r>
              <a:rPr lang="de-DE" dirty="0"/>
              <a:t>Entlastung der CPU</a:t>
            </a:r>
          </a:p>
          <a:p>
            <a:pPr lvl="1"/>
            <a:r>
              <a:rPr lang="de-DE" dirty="0"/>
              <a:t>Geschwindigkeitszuwachs</a:t>
            </a:r>
          </a:p>
          <a:p>
            <a:r>
              <a:rPr lang="de-DE" dirty="0"/>
              <a:t>Adressierungsmodi</a:t>
            </a:r>
          </a:p>
          <a:p>
            <a:pPr lvl="1"/>
            <a:r>
              <a:rPr lang="de-DE" b="1" dirty="0">
                <a:solidFill>
                  <a:srgbClr val="FF0000"/>
                </a:solidFill>
              </a:rPr>
              <a:t>Explicit </a:t>
            </a:r>
            <a:r>
              <a:rPr lang="de-DE" b="1" dirty="0" err="1">
                <a:solidFill>
                  <a:srgbClr val="FF0000"/>
                </a:solidFill>
              </a:rPr>
              <a:t>Addressing</a:t>
            </a:r>
            <a:r>
              <a:rPr lang="de-DE" dirty="0"/>
              <a:t> (</a:t>
            </a:r>
            <a:r>
              <a:rPr lang="de-DE" b="1" dirty="0" err="1">
                <a:solidFill>
                  <a:srgbClr val="FF0000"/>
                </a:solidFill>
              </a:rPr>
              <a:t>Two</a:t>
            </a:r>
            <a:r>
              <a:rPr lang="de-DE" b="1" dirty="0">
                <a:solidFill>
                  <a:srgbClr val="FF0000"/>
                </a:solidFill>
              </a:rPr>
              <a:t> Cycle Transfer</a:t>
            </a:r>
            <a:r>
              <a:rPr lang="de-DE" dirty="0"/>
              <a:t>)</a:t>
            </a:r>
          </a:p>
          <a:p>
            <a:pPr lvl="2"/>
            <a:r>
              <a:rPr lang="de-DE" dirty="0"/>
              <a:t>DMA holt ein Datenwort ab und speichert dieses in einem internen Register (wie eine CPU)</a:t>
            </a:r>
          </a:p>
          <a:p>
            <a:pPr lvl="2"/>
            <a:r>
              <a:rPr lang="de-DE" dirty="0"/>
              <a:t>Danach überträgt DMA die Daten an die Zielkomponente</a:t>
            </a:r>
          </a:p>
          <a:p>
            <a:pPr lvl="1"/>
            <a:r>
              <a:rPr lang="de-DE" dirty="0"/>
              <a:t>Beim </a:t>
            </a:r>
            <a:r>
              <a:rPr lang="de-DE" b="1" dirty="0" err="1">
                <a:solidFill>
                  <a:srgbClr val="FF0000"/>
                </a:solidFill>
              </a:rPr>
              <a:t>Implicit</a:t>
            </a:r>
            <a:r>
              <a:rPr lang="de-DE" b="1" dirty="0">
                <a:solidFill>
                  <a:srgbClr val="FF0000"/>
                </a:solidFill>
              </a:rPr>
              <a:t> </a:t>
            </a:r>
            <a:r>
              <a:rPr lang="de-DE" b="1" dirty="0" err="1">
                <a:solidFill>
                  <a:srgbClr val="FF0000"/>
                </a:solidFill>
              </a:rPr>
              <a:t>Addressing</a:t>
            </a:r>
            <a:r>
              <a:rPr lang="de-DE" dirty="0"/>
              <a:t> (</a:t>
            </a:r>
            <a:r>
              <a:rPr lang="de-DE" b="1" dirty="0">
                <a:solidFill>
                  <a:srgbClr val="FF0000"/>
                </a:solidFill>
              </a:rPr>
              <a:t>Single Bus Transfer</a:t>
            </a:r>
            <a:r>
              <a:rPr lang="de-DE" dirty="0"/>
              <a:t>) entfällt die Zwischenspeicherung in einem Register</a:t>
            </a:r>
          </a:p>
          <a:p>
            <a:pPr lvl="2"/>
            <a:r>
              <a:rPr lang="de-DE" dirty="0"/>
              <a:t>Ein einziger Buszyklus nötig, aber nicht für Speicher-zu-Speicher-Übertragungen geeignet</a:t>
            </a:r>
          </a:p>
        </p:txBody>
      </p:sp>
    </p:spTree>
    <p:extLst>
      <p:ext uri="{BB962C8B-B14F-4D97-AF65-F5344CB8AC3E}">
        <p14:creationId xmlns:p14="http://schemas.microsoft.com/office/powerpoint/2010/main" val="35886732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DMA Chip Beispiel - Intel 8237 (</a:t>
            </a:r>
            <a:r>
              <a:rPr lang="de-DE" dirty="0">
                <a:hlinkClick r:id="rId2"/>
              </a:rPr>
              <a:t>Link</a:t>
            </a:r>
            <a:r>
              <a:rPr lang="de-DE" dirty="0"/>
              <a:t>)</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52</a:t>
            </a:fld>
            <a:endParaRPr lang="en-US" dirty="0">
              <a:solidFill>
                <a:srgbClr val="424456"/>
              </a:solidFill>
            </a:endParaRPr>
          </a:p>
        </p:txBody>
      </p:sp>
      <p:sp>
        <p:nvSpPr>
          <p:cNvPr id="4" name="Inhaltsplatzhalter 3"/>
          <p:cNvSpPr>
            <a:spLocks noGrp="1"/>
          </p:cNvSpPr>
          <p:nvPr>
            <p:ph sz="quarter" idx="1"/>
          </p:nvPr>
        </p:nvSpPr>
        <p:spPr>
          <a:xfrm>
            <a:off x="457200" y="1219200"/>
            <a:ext cx="8291264" cy="1489720"/>
          </a:xfrm>
        </p:spPr>
        <p:txBody>
          <a:bodyPr/>
          <a:lstStyle/>
          <a:p>
            <a:r>
              <a:rPr lang="de-DE" dirty="0"/>
              <a:t>Älterer Chip mit 4x  8-Bit und 4x  16-Bit Kanälen</a:t>
            </a:r>
          </a:p>
          <a:p>
            <a:r>
              <a:rPr lang="de-DE" dirty="0"/>
              <a:t>Programmierung erfolgt durch das Schreiben von Werten in die Kontrollregister</a:t>
            </a:r>
          </a:p>
        </p:txBody>
      </p:sp>
      <p:pic>
        <p:nvPicPr>
          <p:cNvPr id="3074" name="Picture 2" descr="C:\Artur\Academic\Lehre\10.WS-IBN\VL\figures\vl13\DMA Channel Registers.png"/>
          <p:cNvPicPr>
            <a:picLocks noChangeAspect="1" noChangeArrowheads="1"/>
          </p:cNvPicPr>
          <p:nvPr/>
        </p:nvPicPr>
        <p:blipFill>
          <a:blip r:embed="rId3" cstate="print"/>
          <a:srcRect/>
          <a:stretch>
            <a:fillRect/>
          </a:stretch>
        </p:blipFill>
        <p:spPr bwMode="auto">
          <a:xfrm>
            <a:off x="467544" y="2564904"/>
            <a:ext cx="4183957" cy="4032448"/>
          </a:xfrm>
          <a:prstGeom prst="rect">
            <a:avLst/>
          </a:prstGeom>
          <a:noFill/>
        </p:spPr>
      </p:pic>
      <p:sp>
        <p:nvSpPr>
          <p:cNvPr id="7" name="Inhaltsplatzhalter 3"/>
          <p:cNvSpPr txBox="1">
            <a:spLocks/>
          </p:cNvSpPr>
          <p:nvPr/>
        </p:nvSpPr>
        <p:spPr>
          <a:xfrm>
            <a:off x="4638854" y="2564904"/>
            <a:ext cx="4248472" cy="1584176"/>
          </a:xfrm>
          <a:prstGeom prst="rect">
            <a:avLst/>
          </a:prstGeom>
        </p:spPr>
        <p:txBody>
          <a:bodyPr vert="horz">
            <a:normAutofit/>
          </a:bodyPr>
          <a:lstStyle/>
          <a:p>
            <a:pPr marL="274320" indent="-274320">
              <a:spcBef>
                <a:spcPts val="600"/>
              </a:spcBef>
              <a:buClr>
                <a:srgbClr val="53548A"/>
              </a:buClr>
              <a:buSzPct val="76000"/>
              <a:buFont typeface="Wingdings 3"/>
              <a:buChar char=""/>
            </a:pPr>
            <a:r>
              <a:rPr lang="de-DE" sz="2400" dirty="0">
                <a:solidFill>
                  <a:prstClr val="black"/>
                </a:solidFill>
              </a:rPr>
              <a:t>Später Bestandteil von größeren Chips, wie der Intel </a:t>
            </a:r>
            <a:r>
              <a:rPr lang="de-DE" sz="2400" dirty="0">
                <a:solidFill>
                  <a:prstClr val="black"/>
                </a:solidFill>
                <a:hlinkClick r:id="rId4"/>
              </a:rPr>
              <a:t>82371</a:t>
            </a:r>
            <a:r>
              <a:rPr lang="de-DE" sz="2400" dirty="0">
                <a:solidFill>
                  <a:prstClr val="black"/>
                </a:solidFill>
              </a:rPr>
              <a:t> (</a:t>
            </a:r>
            <a:r>
              <a:rPr lang="de-DE" sz="2400" dirty="0" err="1">
                <a:solidFill>
                  <a:prstClr val="black"/>
                </a:solidFill>
              </a:rPr>
              <a:t>Southbridge</a:t>
            </a:r>
            <a:r>
              <a:rPr lang="de-DE" sz="2400" dirty="0">
                <a:solidFill>
                  <a:prstClr val="black"/>
                </a:solidFill>
              </a:rPr>
              <a:t>), „PCI IDE ISA </a:t>
            </a:r>
            <a:r>
              <a:rPr lang="de-DE" sz="2400" dirty="0" err="1">
                <a:solidFill>
                  <a:prstClr val="black"/>
                </a:solidFill>
              </a:rPr>
              <a:t>Xcelerator</a:t>
            </a:r>
            <a:r>
              <a:rPr lang="de-DE" sz="2400" dirty="0">
                <a:solidFill>
                  <a:prstClr val="black"/>
                </a:solidFill>
              </a:rPr>
              <a:t>“</a:t>
            </a:r>
          </a:p>
          <a:p>
            <a:pPr marL="274320" indent="-274320">
              <a:spcBef>
                <a:spcPts val="600"/>
              </a:spcBef>
              <a:buClr>
                <a:srgbClr val="53548A"/>
              </a:buClr>
              <a:buSzPct val="76000"/>
              <a:buFont typeface="Wingdings 3"/>
              <a:buChar char=""/>
              <a:defRPr/>
            </a:pPr>
            <a:endParaRPr lang="de-DE" sz="2400" dirty="0">
              <a:solidFill>
                <a:prstClr val="black"/>
              </a:solidFill>
            </a:endParaRPr>
          </a:p>
        </p:txBody>
      </p:sp>
    </p:spTree>
    <p:extLst>
      <p:ext uri="{BB962C8B-B14F-4D97-AF65-F5344CB8AC3E}">
        <p14:creationId xmlns:p14="http://schemas.microsoft.com/office/powerpoint/2010/main" val="11152492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53</a:t>
            </a:fld>
            <a:endParaRPr lang="de-DE" dirty="0"/>
          </a:p>
        </p:txBody>
      </p:sp>
      <p:sp>
        <p:nvSpPr>
          <p:cNvPr id="3" name="Titel 2"/>
          <p:cNvSpPr>
            <a:spLocks noGrp="1"/>
          </p:cNvSpPr>
          <p:nvPr>
            <p:ph type="title"/>
          </p:nvPr>
        </p:nvSpPr>
        <p:spPr/>
        <p:txBody>
          <a:bodyPr/>
          <a:lstStyle/>
          <a:p>
            <a:r>
              <a:rPr lang="de-DE" dirty="0"/>
              <a:t>Zusatzfolien:</a:t>
            </a:r>
            <a:br>
              <a:rPr lang="de-DE" dirty="0"/>
            </a:br>
            <a:r>
              <a:rPr lang="de-DE" dirty="0"/>
              <a:t>Scheduling</a:t>
            </a:r>
          </a:p>
        </p:txBody>
      </p:sp>
    </p:spTree>
    <p:extLst>
      <p:ext uri="{BB962C8B-B14F-4D97-AF65-F5344CB8AC3E}">
        <p14:creationId xmlns:p14="http://schemas.microsoft.com/office/powerpoint/2010/main" val="35608829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Thread-Scheduling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54</a:t>
            </a:fld>
            <a:endParaRPr lang="en-US" noProof="0" dirty="0"/>
          </a:p>
        </p:txBody>
      </p:sp>
      <p:sp>
        <p:nvSpPr>
          <p:cNvPr id="4" name="Inhaltsplatzhalter 3"/>
          <p:cNvSpPr>
            <a:spLocks noGrp="1"/>
          </p:cNvSpPr>
          <p:nvPr>
            <p:ph sz="quarter" idx="1"/>
          </p:nvPr>
        </p:nvSpPr>
        <p:spPr/>
        <p:txBody>
          <a:bodyPr/>
          <a:lstStyle/>
          <a:p>
            <a:r>
              <a:rPr lang="de-DE" dirty="0"/>
              <a:t>Scheduling hängt stark davon ab, ob Threads auf </a:t>
            </a:r>
            <a:r>
              <a:rPr lang="de-DE" b="1" dirty="0">
                <a:solidFill>
                  <a:srgbClr val="FF0000"/>
                </a:solidFill>
              </a:rPr>
              <a:t>Anwenderebene</a:t>
            </a:r>
            <a:r>
              <a:rPr lang="de-DE" dirty="0"/>
              <a:t> oder </a:t>
            </a:r>
            <a:r>
              <a:rPr lang="de-DE" b="1" dirty="0">
                <a:solidFill>
                  <a:srgbClr val="FF0000"/>
                </a:solidFill>
              </a:rPr>
              <a:t>Kernebene</a:t>
            </a:r>
            <a:r>
              <a:rPr lang="de-DE" dirty="0"/>
              <a:t> benutzt werden</a:t>
            </a:r>
          </a:p>
          <a:p>
            <a:r>
              <a:rPr lang="de-DE" dirty="0"/>
              <a:t>Benutzerebene</a:t>
            </a:r>
          </a:p>
          <a:p>
            <a:pPr lvl="1"/>
            <a:r>
              <a:rPr lang="de-DE" dirty="0"/>
              <a:t>Der Kern weiß nichts von Threads; er wählt nur einen Prozess P und übergibt ihm die Kontrolle für ein Quantum</a:t>
            </a:r>
          </a:p>
          <a:p>
            <a:pPr lvl="1"/>
            <a:r>
              <a:rPr lang="de-DE" dirty="0"/>
              <a:t>Der Thread-Scheduler innerhalb von P entscheidet dann, welcher Thread laufen soll, z.B. P1</a:t>
            </a:r>
          </a:p>
          <a:p>
            <a:pPr lvl="1"/>
            <a:r>
              <a:rPr lang="de-DE" dirty="0"/>
              <a:t>Da es keine Interrupts „in“ P gibt, kann dieser bis zum Ende des Quantums weiterlaufen usw., usw.</a:t>
            </a:r>
          </a:p>
          <a:p>
            <a:pPr lvl="2"/>
            <a:r>
              <a:rPr lang="de-DE" dirty="0"/>
              <a:t>Das Aushungern anderer Threads in P ist möglich</a:t>
            </a:r>
          </a:p>
          <a:p>
            <a:pPr lvl="2"/>
            <a:r>
              <a:rPr lang="de-DE" dirty="0"/>
              <a:t>Aber nicht das Aushungern anderer Prozesse!</a:t>
            </a:r>
          </a:p>
          <a:p>
            <a:pPr lvl="1"/>
            <a:r>
              <a:rPr lang="de-DE" dirty="0"/>
              <a:t>Die Scheduling-S. innerhalb von P kann beliebig sein</a:t>
            </a:r>
          </a:p>
          <a:p>
            <a:pPr lvl="2"/>
            <a:r>
              <a:rPr lang="de-DE" dirty="0"/>
              <a:t>Häufig: </a:t>
            </a:r>
            <a:r>
              <a:rPr lang="de-DE" dirty="0" err="1"/>
              <a:t>Round</a:t>
            </a:r>
            <a:r>
              <a:rPr lang="de-DE" dirty="0"/>
              <a:t>-Robin und Prioritätsscheduling</a:t>
            </a:r>
          </a:p>
          <a:p>
            <a:pPr lvl="2"/>
            <a:endParaRPr lang="de-DE" dirty="0"/>
          </a:p>
        </p:txBody>
      </p:sp>
    </p:spTree>
    <p:extLst>
      <p:ext uri="{BB962C8B-B14F-4D97-AF65-F5344CB8AC3E}">
        <p14:creationId xmlns:p14="http://schemas.microsoft.com/office/powerpoint/2010/main" val="3348733858"/>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Thread-Scheduling /2</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55</a:t>
            </a:fld>
            <a:endParaRPr lang="en-US" noProof="0" dirty="0"/>
          </a:p>
        </p:txBody>
      </p:sp>
      <p:sp>
        <p:nvSpPr>
          <p:cNvPr id="4" name="Inhaltsplatzhalter 3"/>
          <p:cNvSpPr>
            <a:spLocks noGrp="1"/>
          </p:cNvSpPr>
          <p:nvPr>
            <p:ph sz="quarter" idx="1"/>
          </p:nvPr>
        </p:nvSpPr>
        <p:spPr>
          <a:xfrm>
            <a:off x="457200" y="1219200"/>
            <a:ext cx="8229600" cy="3505944"/>
          </a:xfrm>
        </p:spPr>
        <p:txBody>
          <a:bodyPr>
            <a:normAutofit fontScale="92500"/>
          </a:bodyPr>
          <a:lstStyle/>
          <a:p>
            <a:r>
              <a:rPr lang="de-DE" dirty="0"/>
              <a:t>Kern-Ebene Threads</a:t>
            </a:r>
          </a:p>
          <a:p>
            <a:pPr lvl="1"/>
            <a:r>
              <a:rPr lang="de-DE" dirty="0"/>
              <a:t>Hier ist das BS der Existenz von Threads „bewusst“</a:t>
            </a:r>
          </a:p>
          <a:p>
            <a:pPr lvl="1"/>
            <a:r>
              <a:rPr lang="de-DE" dirty="0"/>
              <a:t>BS verhindert das Aushungern dieser innerhalb eines Prozesses  </a:t>
            </a:r>
          </a:p>
          <a:p>
            <a:r>
              <a:rPr lang="de-DE" dirty="0"/>
              <a:t>Problem hier ist </a:t>
            </a:r>
            <a:r>
              <a:rPr lang="de-DE" b="1" dirty="0">
                <a:solidFill>
                  <a:srgbClr val="FF0000"/>
                </a:solidFill>
              </a:rPr>
              <a:t>Leistung</a:t>
            </a:r>
          </a:p>
          <a:p>
            <a:pPr lvl="1"/>
            <a:r>
              <a:rPr lang="de-DE" dirty="0"/>
              <a:t>Thread-Wechsel auf Anwenderebene kostet nur einige Zyklen</a:t>
            </a:r>
          </a:p>
          <a:p>
            <a:pPr lvl="1"/>
            <a:r>
              <a:rPr lang="de-DE" dirty="0"/>
              <a:t>Der Wechsel im Kern dauert einige Größenordnungen länger</a:t>
            </a:r>
          </a:p>
          <a:p>
            <a:pPr lvl="1"/>
            <a:r>
              <a:rPr lang="de-DE" dirty="0"/>
              <a:t>Der Wechsel zwischen den Threads </a:t>
            </a:r>
            <a:r>
              <a:rPr lang="de-DE" u="sng" dirty="0"/>
              <a:t>verschiedener</a:t>
            </a:r>
            <a:r>
              <a:rPr lang="de-DE" dirty="0"/>
              <a:t> Prozesse noch länger - warum?</a:t>
            </a:r>
          </a:p>
          <a:p>
            <a:pPr lvl="3"/>
            <a:endParaRPr lang="de-DE" dirty="0"/>
          </a:p>
          <a:p>
            <a:pPr lvl="2"/>
            <a:endParaRPr lang="de-DE" dirty="0"/>
          </a:p>
        </p:txBody>
      </p:sp>
      <p:sp>
        <p:nvSpPr>
          <p:cNvPr id="5" name="Inhaltsplatzhalter 4"/>
          <p:cNvSpPr>
            <a:spLocks noGrp="1"/>
          </p:cNvSpPr>
          <p:nvPr>
            <p:ph sz="quarter" idx="13"/>
          </p:nvPr>
        </p:nvSpPr>
        <p:spPr>
          <a:xfrm>
            <a:off x="467544" y="4653136"/>
            <a:ext cx="8208912" cy="1993776"/>
          </a:xfrm>
        </p:spPr>
        <p:txBody>
          <a:bodyPr>
            <a:normAutofit/>
          </a:bodyPr>
          <a:lstStyle/>
          <a:p>
            <a:pPr lvl="2"/>
            <a:r>
              <a:rPr lang="de-DE" sz="2400" dirty="0"/>
              <a:t>Wechsel der Seitentabelle</a:t>
            </a:r>
          </a:p>
          <a:p>
            <a:pPr lvl="2"/>
            <a:r>
              <a:rPr lang="de-DE" sz="2400" dirty="0"/>
              <a:t>Caches müssen ungültig gemacht werden</a:t>
            </a:r>
          </a:p>
        </p:txBody>
      </p:sp>
    </p:spTree>
    <p:extLst>
      <p:ext uri="{BB962C8B-B14F-4D97-AF65-F5344CB8AC3E}">
        <p14:creationId xmlns:p14="http://schemas.microsoft.com/office/powerpoint/2010/main" val="42003264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Unterbrechende (</a:t>
            </a:r>
            <a:r>
              <a:rPr lang="de-DE" dirty="0" err="1"/>
              <a:t>preemptive</a:t>
            </a:r>
            <a:r>
              <a:rPr lang="de-DE" dirty="0"/>
              <a:t>) S-Strategien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56</a:t>
            </a:fld>
            <a:endParaRPr lang="en-US" noProof="0" dirty="0"/>
          </a:p>
        </p:txBody>
      </p:sp>
      <p:sp>
        <p:nvSpPr>
          <p:cNvPr id="4" name="Inhaltsplatzhalter 3"/>
          <p:cNvSpPr>
            <a:spLocks noGrp="1"/>
          </p:cNvSpPr>
          <p:nvPr>
            <p:ph sz="quarter" idx="1"/>
          </p:nvPr>
        </p:nvSpPr>
        <p:spPr>
          <a:xfrm>
            <a:off x="457200" y="1219200"/>
            <a:ext cx="8229600" cy="2209800"/>
          </a:xfrm>
        </p:spPr>
        <p:txBody>
          <a:bodyPr>
            <a:normAutofit/>
          </a:bodyPr>
          <a:lstStyle/>
          <a:p>
            <a:r>
              <a:rPr lang="de-DE" dirty="0"/>
              <a:t>Wenn ein BS in Fällen 2 und 3 ein Thread- bzw. </a:t>
            </a:r>
            <a:r>
              <a:rPr lang="de-DE" dirty="0">
                <a:solidFill>
                  <a:srgbClr val="0070C0"/>
                </a:solidFill>
              </a:rPr>
              <a:t>Prozesswechsel erzwingen kann</a:t>
            </a:r>
            <a:r>
              <a:rPr lang="de-DE" dirty="0"/>
              <a:t>, heißt die Scheduling-Strategie </a:t>
            </a:r>
            <a:r>
              <a:rPr lang="de-DE" b="1" dirty="0">
                <a:solidFill>
                  <a:srgbClr val="FF0000"/>
                </a:solidFill>
              </a:rPr>
              <a:t>unterbrechend </a:t>
            </a:r>
            <a:r>
              <a:rPr lang="de-DE" dirty="0"/>
              <a:t>(</a:t>
            </a:r>
            <a:r>
              <a:rPr lang="de-DE" b="1" dirty="0">
                <a:solidFill>
                  <a:srgbClr val="FF0000"/>
                </a:solidFill>
              </a:rPr>
              <a:t>preemptive</a:t>
            </a:r>
            <a:r>
              <a:rPr lang="de-DE" dirty="0"/>
              <a:t>)</a:t>
            </a:r>
          </a:p>
          <a:p>
            <a:pPr lvl="1"/>
            <a:r>
              <a:rPr lang="de-DE" dirty="0"/>
              <a:t>Windows ab Win 95, alle Linux Versionen</a:t>
            </a:r>
          </a:p>
        </p:txBody>
      </p:sp>
      <p:grpSp>
        <p:nvGrpSpPr>
          <p:cNvPr id="13" name="Gruppieren 12"/>
          <p:cNvGrpSpPr/>
          <p:nvPr/>
        </p:nvGrpSpPr>
        <p:grpSpPr>
          <a:xfrm>
            <a:off x="323528" y="3501008"/>
            <a:ext cx="8115300" cy="3171825"/>
            <a:chOff x="467544" y="2132856"/>
            <a:chExt cx="8115300" cy="3171825"/>
          </a:xfrm>
        </p:grpSpPr>
        <p:pic>
          <p:nvPicPr>
            <p:cNvPr id="2050" name="Picture 2" descr="C:\Artur\Academic\Lehre\10.WS-IBN\VL\figures\vl18\cpu-states.jpg"/>
            <p:cNvPicPr>
              <a:picLocks noChangeAspect="1" noChangeArrowheads="1"/>
            </p:cNvPicPr>
            <p:nvPr/>
          </p:nvPicPr>
          <p:blipFill>
            <a:blip r:embed="rId2" cstate="print"/>
            <a:srcRect/>
            <a:stretch>
              <a:fillRect/>
            </a:stretch>
          </p:blipFill>
          <p:spPr bwMode="auto">
            <a:xfrm>
              <a:off x="467544" y="2132856"/>
              <a:ext cx="8115300" cy="3171825"/>
            </a:xfrm>
            <a:prstGeom prst="rect">
              <a:avLst/>
            </a:prstGeom>
            <a:noFill/>
          </p:spPr>
        </p:pic>
        <p:sp>
          <p:nvSpPr>
            <p:cNvPr id="8" name="Textfeld 7"/>
            <p:cNvSpPr txBox="1"/>
            <p:nvPr/>
          </p:nvSpPr>
          <p:spPr>
            <a:xfrm>
              <a:off x="5652120" y="4365103"/>
              <a:ext cx="1691489" cy="430887"/>
            </a:xfrm>
            <a:prstGeom prst="rect">
              <a:avLst/>
            </a:prstGeom>
            <a:noFill/>
          </p:spPr>
          <p:txBody>
            <a:bodyPr wrap="none" rtlCol="0">
              <a:spAutoFit/>
            </a:bodyPr>
            <a:lstStyle/>
            <a:p>
              <a:r>
                <a:rPr lang="de-DE" sz="2200" b="1" dirty="0">
                  <a:solidFill>
                    <a:srgbClr val="FF0000"/>
                  </a:solidFill>
                </a:rPr>
                <a:t>1</a:t>
              </a:r>
              <a:r>
                <a:rPr lang="de-DE" sz="2200" dirty="0"/>
                <a:t>: zwingend</a:t>
              </a:r>
            </a:p>
          </p:txBody>
        </p:sp>
        <p:sp>
          <p:nvSpPr>
            <p:cNvPr id="9" name="Textfeld 8"/>
            <p:cNvSpPr txBox="1"/>
            <p:nvPr/>
          </p:nvSpPr>
          <p:spPr>
            <a:xfrm>
              <a:off x="6012160" y="2708920"/>
              <a:ext cx="1691489" cy="430887"/>
            </a:xfrm>
            <a:prstGeom prst="rect">
              <a:avLst/>
            </a:prstGeom>
            <a:noFill/>
          </p:spPr>
          <p:txBody>
            <a:bodyPr wrap="none" rtlCol="0">
              <a:spAutoFit/>
            </a:bodyPr>
            <a:lstStyle/>
            <a:p>
              <a:r>
                <a:rPr lang="de-DE" sz="2200" b="1" dirty="0">
                  <a:solidFill>
                    <a:srgbClr val="FF0000"/>
                  </a:solidFill>
                </a:rPr>
                <a:t>4</a:t>
              </a:r>
              <a:r>
                <a:rPr lang="de-DE" sz="2200" dirty="0"/>
                <a:t>: zwingend</a:t>
              </a:r>
            </a:p>
          </p:txBody>
        </p:sp>
        <p:sp>
          <p:nvSpPr>
            <p:cNvPr id="10" name="Textfeld 9"/>
            <p:cNvSpPr txBox="1"/>
            <p:nvPr/>
          </p:nvSpPr>
          <p:spPr>
            <a:xfrm>
              <a:off x="2051720" y="4437112"/>
              <a:ext cx="1487908" cy="430887"/>
            </a:xfrm>
            <a:prstGeom prst="rect">
              <a:avLst/>
            </a:prstGeom>
            <a:noFill/>
          </p:spPr>
          <p:txBody>
            <a:bodyPr wrap="none" rtlCol="0">
              <a:spAutoFit/>
            </a:bodyPr>
            <a:lstStyle/>
            <a:p>
              <a:r>
                <a:rPr lang="de-DE" sz="2200" b="1" dirty="0">
                  <a:solidFill>
                    <a:srgbClr val="FF0000"/>
                  </a:solidFill>
                </a:rPr>
                <a:t>3</a:t>
              </a:r>
              <a:r>
                <a:rPr lang="de-DE" sz="2200" dirty="0"/>
                <a:t>: optional</a:t>
              </a:r>
            </a:p>
          </p:txBody>
        </p:sp>
        <p:sp>
          <p:nvSpPr>
            <p:cNvPr id="11" name="Textfeld 10"/>
            <p:cNvSpPr txBox="1"/>
            <p:nvPr/>
          </p:nvSpPr>
          <p:spPr>
            <a:xfrm>
              <a:off x="3851920" y="2276872"/>
              <a:ext cx="1487908" cy="430887"/>
            </a:xfrm>
            <a:prstGeom prst="rect">
              <a:avLst/>
            </a:prstGeom>
            <a:noFill/>
          </p:spPr>
          <p:txBody>
            <a:bodyPr wrap="none" rtlCol="0">
              <a:spAutoFit/>
            </a:bodyPr>
            <a:lstStyle/>
            <a:p>
              <a:r>
                <a:rPr lang="de-DE" sz="2200" b="1" dirty="0">
                  <a:solidFill>
                    <a:srgbClr val="FF0000"/>
                  </a:solidFill>
                </a:rPr>
                <a:t>2</a:t>
              </a:r>
              <a:r>
                <a:rPr lang="de-DE" sz="2200" dirty="0"/>
                <a:t>: optional</a:t>
              </a:r>
            </a:p>
          </p:txBody>
        </p:sp>
        <p:sp>
          <p:nvSpPr>
            <p:cNvPr id="12" name="Textfeld 9"/>
            <p:cNvSpPr txBox="1"/>
            <p:nvPr/>
          </p:nvSpPr>
          <p:spPr>
            <a:xfrm>
              <a:off x="2204120" y="2616294"/>
              <a:ext cx="341760" cy="430887"/>
            </a:xfrm>
            <a:prstGeom prst="rect">
              <a:avLst/>
            </a:prstGeom>
            <a:noFill/>
          </p:spPr>
          <p:txBody>
            <a:bodyPr wrap="none" rtlCol="0">
              <a:spAutoFit/>
            </a:bodyPr>
            <a:lstStyle/>
            <a:p>
              <a:r>
                <a:rPr lang="de-DE" sz="2200" b="1" dirty="0">
                  <a:solidFill>
                    <a:srgbClr val="FF0000"/>
                  </a:solidFill>
                </a:rPr>
                <a:t>5</a:t>
              </a:r>
              <a:endParaRPr lang="de-DE" sz="2200" dirty="0"/>
            </a:p>
          </p:txBody>
        </p:sp>
      </p:grpSp>
    </p:spTree>
    <p:extLst>
      <p:ext uri="{BB962C8B-B14F-4D97-AF65-F5344CB8AC3E}">
        <p14:creationId xmlns:p14="http://schemas.microsoft.com/office/powerpoint/2010/main" val="1645460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Scheduler und Dispatcher</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57</a:t>
            </a:fld>
            <a:endParaRPr lang="en-US" noProof="0" dirty="0"/>
          </a:p>
        </p:txBody>
      </p:sp>
      <p:sp>
        <p:nvSpPr>
          <p:cNvPr id="4" name="Inhaltsplatzhalter 3"/>
          <p:cNvSpPr>
            <a:spLocks noGrp="1"/>
          </p:cNvSpPr>
          <p:nvPr>
            <p:ph sz="quarter" idx="1"/>
          </p:nvPr>
        </p:nvSpPr>
        <p:spPr/>
        <p:txBody>
          <a:bodyPr/>
          <a:lstStyle/>
          <a:p>
            <a:r>
              <a:rPr lang="de-DE" dirty="0"/>
              <a:t>Wir haben auch den Begriff </a:t>
            </a:r>
            <a:r>
              <a:rPr lang="de-DE" b="1" dirty="0">
                <a:solidFill>
                  <a:srgbClr val="FF0000"/>
                </a:solidFill>
              </a:rPr>
              <a:t>Dispatcher</a:t>
            </a:r>
            <a:r>
              <a:rPr lang="de-DE" dirty="0"/>
              <a:t> kennengelernt – was ist der Unterschied?</a:t>
            </a:r>
          </a:p>
          <a:p>
            <a:r>
              <a:rPr lang="de-DE" dirty="0"/>
              <a:t>Dispatcher ist der „ausführende Teil“ eines Kurzzeit-</a:t>
            </a:r>
            <a:r>
              <a:rPr lang="de-DE" dirty="0" err="1"/>
              <a:t>Schedulers</a:t>
            </a:r>
            <a:endParaRPr lang="de-DE" dirty="0"/>
          </a:p>
          <a:p>
            <a:r>
              <a:rPr lang="de-DE" dirty="0"/>
              <a:t>Implementiert den</a:t>
            </a:r>
            <a:br>
              <a:rPr lang="de-DE" dirty="0"/>
            </a:br>
            <a:r>
              <a:rPr lang="de-DE" dirty="0"/>
              <a:t>Prozesswechsel</a:t>
            </a:r>
          </a:p>
        </p:txBody>
      </p:sp>
      <p:pic>
        <p:nvPicPr>
          <p:cNvPr id="5" name="Picture 2" descr="C:\Artur\Academic\Lehre\10.WS-IBN\VL\figures\vl03\Prozess-Wechsel.png"/>
          <p:cNvPicPr>
            <a:picLocks noChangeAspect="1" noChangeArrowheads="1"/>
          </p:cNvPicPr>
          <p:nvPr/>
        </p:nvPicPr>
        <p:blipFill>
          <a:blip r:embed="rId2" cstate="print"/>
          <a:srcRect/>
          <a:stretch>
            <a:fillRect/>
          </a:stretch>
        </p:blipFill>
        <p:spPr bwMode="auto">
          <a:xfrm>
            <a:off x="3635896" y="2708920"/>
            <a:ext cx="4968552" cy="3863800"/>
          </a:xfrm>
          <a:prstGeom prst="rect">
            <a:avLst/>
          </a:prstGeom>
          <a:noFill/>
        </p:spPr>
      </p:pic>
    </p:spTree>
    <p:extLst>
      <p:ext uri="{BB962C8B-B14F-4D97-AF65-F5344CB8AC3E}">
        <p14:creationId xmlns:p14="http://schemas.microsoft.com/office/powerpoint/2010/main" val="31630680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Ziele von Scheduling-Strategien - Alle Systeme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58</a:t>
            </a:fld>
            <a:endParaRPr lang="en-US" noProof="0" dirty="0"/>
          </a:p>
        </p:txBody>
      </p:sp>
      <p:sp>
        <p:nvSpPr>
          <p:cNvPr id="4" name="Inhaltsplatzhalter 3"/>
          <p:cNvSpPr>
            <a:spLocks noGrp="1"/>
          </p:cNvSpPr>
          <p:nvPr>
            <p:ph sz="quarter" idx="1"/>
          </p:nvPr>
        </p:nvSpPr>
        <p:spPr/>
        <p:txBody>
          <a:bodyPr>
            <a:normAutofit/>
          </a:bodyPr>
          <a:lstStyle/>
          <a:p>
            <a:r>
              <a:rPr lang="de-DE" b="1" dirty="0">
                <a:solidFill>
                  <a:srgbClr val="FF0000"/>
                </a:solidFill>
              </a:rPr>
              <a:t>Fairness</a:t>
            </a:r>
          </a:p>
          <a:p>
            <a:pPr lvl="1"/>
            <a:r>
              <a:rPr lang="de-DE" dirty="0"/>
              <a:t>Jeder Prozess bekommt einen fairen Anteil der Rechenzeit</a:t>
            </a:r>
          </a:p>
          <a:p>
            <a:r>
              <a:rPr lang="de-DE" b="1" dirty="0" err="1">
                <a:solidFill>
                  <a:srgbClr val="FF0000"/>
                </a:solidFill>
              </a:rPr>
              <a:t>Policy</a:t>
            </a:r>
            <a:r>
              <a:rPr lang="de-DE" b="1" dirty="0">
                <a:solidFill>
                  <a:srgbClr val="FF0000"/>
                </a:solidFill>
              </a:rPr>
              <a:t> </a:t>
            </a:r>
            <a:r>
              <a:rPr lang="de-DE" b="1" dirty="0" err="1">
                <a:solidFill>
                  <a:srgbClr val="FF0000"/>
                </a:solidFill>
              </a:rPr>
              <a:t>Enforcement</a:t>
            </a:r>
            <a:endParaRPr lang="de-DE" b="1" dirty="0">
              <a:solidFill>
                <a:srgbClr val="FF0000"/>
              </a:solidFill>
            </a:endParaRPr>
          </a:p>
          <a:p>
            <a:pPr lvl="1"/>
            <a:r>
              <a:rPr lang="de-DE" dirty="0"/>
              <a:t>Vorgegebene Strategien werden durchgesetzt</a:t>
            </a:r>
          </a:p>
          <a:p>
            <a:r>
              <a:rPr lang="de-DE" b="1" dirty="0">
                <a:solidFill>
                  <a:srgbClr val="FF0000"/>
                </a:solidFill>
              </a:rPr>
              <a:t>Balance</a:t>
            </a:r>
          </a:p>
          <a:p>
            <a:pPr lvl="1"/>
            <a:r>
              <a:rPr lang="de-DE" dirty="0"/>
              <a:t>Alle Teile des Systems sind ausgelastet</a:t>
            </a:r>
          </a:p>
        </p:txBody>
      </p:sp>
    </p:spTree>
    <p:extLst>
      <p:ext uri="{BB962C8B-B14F-4D97-AF65-F5344CB8AC3E}">
        <p14:creationId xmlns:p14="http://schemas.microsoft.com/office/powerpoint/2010/main" val="3287195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20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20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20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Ziele - Interaktive Systeme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59</a:t>
            </a:fld>
            <a:endParaRPr lang="en-US" noProof="0" dirty="0"/>
          </a:p>
        </p:txBody>
      </p:sp>
      <p:sp>
        <p:nvSpPr>
          <p:cNvPr id="4" name="Inhaltsplatzhalter 3"/>
          <p:cNvSpPr>
            <a:spLocks noGrp="1"/>
          </p:cNvSpPr>
          <p:nvPr>
            <p:ph sz="quarter" idx="1"/>
          </p:nvPr>
        </p:nvSpPr>
        <p:spPr>
          <a:xfrm>
            <a:off x="457200" y="1219200"/>
            <a:ext cx="8229600" cy="5306144"/>
          </a:xfrm>
        </p:spPr>
        <p:txBody>
          <a:bodyPr>
            <a:normAutofit/>
          </a:bodyPr>
          <a:lstStyle/>
          <a:p>
            <a:r>
              <a:rPr lang="de-DE" b="1" dirty="0">
                <a:solidFill>
                  <a:srgbClr val="FF0000"/>
                </a:solidFill>
              </a:rPr>
              <a:t>Antwortzeit</a:t>
            </a:r>
          </a:p>
          <a:p>
            <a:pPr lvl="1"/>
            <a:r>
              <a:rPr lang="de-DE" dirty="0"/>
              <a:t>Schnelle Antwort auf Anfragen</a:t>
            </a:r>
          </a:p>
          <a:p>
            <a:r>
              <a:rPr lang="de-DE" b="1" dirty="0">
                <a:solidFill>
                  <a:srgbClr val="FF0000"/>
                </a:solidFill>
              </a:rPr>
              <a:t>Proportionalität</a:t>
            </a:r>
          </a:p>
          <a:p>
            <a:pPr lvl="1"/>
            <a:r>
              <a:rPr lang="de-DE" dirty="0"/>
              <a:t>Erwartungen des Benutzers erfüllen </a:t>
            </a:r>
          </a:p>
          <a:p>
            <a:pPr lvl="2"/>
            <a:r>
              <a:rPr lang="de-DE" dirty="0"/>
              <a:t>z.B. Wartezeit beim Dekomprimieren einer Datei kann länger als beim Schließen eines Fensters sein</a:t>
            </a:r>
          </a:p>
        </p:txBody>
      </p:sp>
    </p:spTree>
    <p:extLst>
      <p:ext uri="{BB962C8B-B14F-4D97-AF65-F5344CB8AC3E}">
        <p14:creationId xmlns:p14="http://schemas.microsoft.com/office/powerpoint/2010/main" val="1667073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20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20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Ziele - Echtzeitsysteme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60</a:t>
            </a:fld>
            <a:endParaRPr lang="en-US" noProof="0" dirty="0"/>
          </a:p>
        </p:txBody>
      </p:sp>
      <p:sp>
        <p:nvSpPr>
          <p:cNvPr id="4" name="Inhaltsplatzhalter 3"/>
          <p:cNvSpPr>
            <a:spLocks noGrp="1"/>
          </p:cNvSpPr>
          <p:nvPr>
            <p:ph sz="quarter" idx="1"/>
          </p:nvPr>
        </p:nvSpPr>
        <p:spPr>
          <a:xfrm>
            <a:off x="457200" y="1219200"/>
            <a:ext cx="8229600" cy="5306144"/>
          </a:xfrm>
        </p:spPr>
        <p:txBody>
          <a:bodyPr>
            <a:normAutofit/>
          </a:bodyPr>
          <a:lstStyle/>
          <a:p>
            <a:r>
              <a:rPr lang="de-DE" b="1" dirty="0">
                <a:solidFill>
                  <a:srgbClr val="FF0000"/>
                </a:solidFill>
              </a:rPr>
              <a:t>Deadlines einhalten</a:t>
            </a:r>
          </a:p>
          <a:p>
            <a:pPr lvl="1"/>
            <a:r>
              <a:rPr lang="de-DE" dirty="0"/>
              <a:t>Wenn ein wichtiger Prozess nicht rechtzeitig Kontrolle übernimmt, kann eine Maschine / Auto beschädigt werden</a:t>
            </a:r>
          </a:p>
          <a:p>
            <a:r>
              <a:rPr lang="de-DE" b="1" dirty="0">
                <a:solidFill>
                  <a:srgbClr val="FF0000"/>
                </a:solidFill>
              </a:rPr>
              <a:t>Vorhersagbarkeit</a:t>
            </a:r>
          </a:p>
          <a:p>
            <a:pPr lvl="1"/>
            <a:r>
              <a:rPr lang="de-DE" dirty="0"/>
              <a:t>Z.B. Multimediasysteme: wenn ein Audioprozess zu unregelmäßig läuft, wird sich die Qualität drastisch verschlechtern</a:t>
            </a:r>
          </a:p>
        </p:txBody>
      </p:sp>
    </p:spTree>
    <p:extLst>
      <p:ext uri="{BB962C8B-B14F-4D97-AF65-F5344CB8AC3E}">
        <p14:creationId xmlns:p14="http://schemas.microsoft.com/office/powerpoint/2010/main" val="7731415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solidFill>
                  <a:srgbClr val="424456"/>
                </a:solidFill>
              </a:rPr>
              <a:pPr/>
              <a:t>61</a:t>
            </a:fld>
            <a:endParaRPr lang="de-DE" dirty="0">
              <a:solidFill>
                <a:srgbClr val="424456"/>
              </a:solidFill>
            </a:endParaRPr>
          </a:p>
        </p:txBody>
      </p:sp>
      <p:sp>
        <p:nvSpPr>
          <p:cNvPr id="3" name="Titel 2"/>
          <p:cNvSpPr>
            <a:spLocks noGrp="1"/>
          </p:cNvSpPr>
          <p:nvPr>
            <p:ph type="title"/>
          </p:nvPr>
        </p:nvSpPr>
        <p:spPr/>
        <p:txBody>
          <a:bodyPr>
            <a:normAutofit/>
          </a:bodyPr>
          <a:lstStyle/>
          <a:p>
            <a:r>
              <a:rPr lang="de-DE" dirty="0"/>
              <a:t>Zusätzliche Folien zu I</a:t>
            </a:r>
            <a:r>
              <a:rPr lang="de-DE"/>
              <a:t>/O-Grundlagen </a:t>
            </a:r>
            <a:endParaRPr lang="de-DE" dirty="0"/>
          </a:p>
        </p:txBody>
      </p:sp>
    </p:spTree>
    <p:extLst>
      <p:ext uri="{BB962C8B-B14F-4D97-AF65-F5344CB8AC3E}">
        <p14:creationId xmlns:p14="http://schemas.microsoft.com/office/powerpoint/2010/main" val="18289280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Programmierte Ein-/Ausgabe</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62</a:t>
            </a:fld>
            <a:endParaRPr lang="en-US" dirty="0">
              <a:solidFill>
                <a:srgbClr val="424456"/>
              </a:solidFill>
            </a:endParaRPr>
          </a:p>
        </p:txBody>
      </p:sp>
      <p:sp>
        <p:nvSpPr>
          <p:cNvPr id="4" name="Inhaltsplatzhalter 3"/>
          <p:cNvSpPr>
            <a:spLocks noGrp="1"/>
          </p:cNvSpPr>
          <p:nvPr>
            <p:ph sz="quarter" idx="1"/>
          </p:nvPr>
        </p:nvSpPr>
        <p:spPr>
          <a:xfrm>
            <a:off x="457200" y="1219199"/>
            <a:ext cx="8579296" cy="3937991"/>
          </a:xfrm>
        </p:spPr>
        <p:txBody>
          <a:bodyPr>
            <a:normAutofit/>
          </a:bodyPr>
          <a:lstStyle/>
          <a:p>
            <a:r>
              <a:rPr lang="de-DE" dirty="0"/>
              <a:t>Controller hat ein </a:t>
            </a:r>
            <a:r>
              <a:rPr lang="de-DE" b="1" dirty="0" err="1">
                <a:solidFill>
                  <a:srgbClr val="FF0000"/>
                </a:solidFill>
              </a:rPr>
              <a:t>busy</a:t>
            </a:r>
            <a:r>
              <a:rPr lang="de-DE" b="1" dirty="0">
                <a:solidFill>
                  <a:srgbClr val="FF0000"/>
                </a:solidFill>
              </a:rPr>
              <a:t>-Bit</a:t>
            </a:r>
            <a:r>
              <a:rPr lang="de-DE" dirty="0"/>
              <a:t> in einem </a:t>
            </a:r>
            <a:r>
              <a:rPr lang="de-DE" b="1" u="sng" dirty="0">
                <a:solidFill>
                  <a:srgbClr val="0070C0"/>
                </a:solidFill>
              </a:rPr>
              <a:t>Kontroll</a:t>
            </a:r>
            <a:r>
              <a:rPr lang="de-DE" b="1" dirty="0">
                <a:solidFill>
                  <a:srgbClr val="0070C0"/>
                </a:solidFill>
              </a:rPr>
              <a:t>register</a:t>
            </a:r>
          </a:p>
          <a:p>
            <a:pPr lvl="1"/>
            <a:r>
              <a:rPr lang="de-DE" dirty="0"/>
              <a:t>C. setzt es, wenn er arbeitet, und löscht es, wenn fertig</a:t>
            </a:r>
          </a:p>
          <a:p>
            <a:r>
              <a:rPr lang="de-DE" dirty="0"/>
              <a:t>CPU signalisiert einen neuen Controller-Befehl / neue Daten durch das Setzen des </a:t>
            </a:r>
            <a:r>
              <a:rPr lang="de-DE" b="1" dirty="0" err="1">
                <a:solidFill>
                  <a:srgbClr val="FF0000"/>
                </a:solidFill>
              </a:rPr>
              <a:t>command</a:t>
            </a:r>
            <a:r>
              <a:rPr lang="de-DE" b="1" dirty="0">
                <a:solidFill>
                  <a:srgbClr val="FF0000"/>
                </a:solidFill>
              </a:rPr>
              <a:t>-</a:t>
            </a:r>
            <a:r>
              <a:rPr lang="de-DE" b="1" dirty="0" err="1">
                <a:solidFill>
                  <a:srgbClr val="FF0000"/>
                </a:solidFill>
              </a:rPr>
              <a:t>ready</a:t>
            </a:r>
            <a:r>
              <a:rPr lang="de-DE" b="1" dirty="0">
                <a:solidFill>
                  <a:srgbClr val="FF0000"/>
                </a:solidFill>
              </a:rPr>
              <a:t>-Bit</a:t>
            </a:r>
            <a:r>
              <a:rPr lang="de-DE" dirty="0"/>
              <a:t>s in einem </a:t>
            </a:r>
            <a:r>
              <a:rPr lang="de-DE" b="1" u="sng" dirty="0">
                <a:solidFill>
                  <a:srgbClr val="0070C0"/>
                </a:solidFill>
              </a:rPr>
              <a:t>Befehls</a:t>
            </a:r>
            <a:r>
              <a:rPr lang="de-DE" b="1" dirty="0">
                <a:solidFill>
                  <a:srgbClr val="0070C0"/>
                </a:solidFill>
              </a:rPr>
              <a:t>register</a:t>
            </a:r>
            <a:r>
              <a:rPr lang="de-DE" dirty="0"/>
              <a:t> des Controllers</a:t>
            </a:r>
          </a:p>
          <a:p>
            <a:r>
              <a:rPr lang="de-DE" dirty="0"/>
              <a:t>Bevor CPU das machen kann, überprüft sie wiederholt das busy-Bit, bis es nicht mehr gesetzt ist</a:t>
            </a:r>
          </a:p>
          <a:p>
            <a:pPr lvl="1"/>
            <a:r>
              <a:rPr lang="de-DE" dirty="0"/>
              <a:t>Das wiederholte Lesen führt zum Warten (siehe </a:t>
            </a:r>
            <a:r>
              <a:rPr lang="de-DE" b="1" dirty="0">
                <a:solidFill>
                  <a:srgbClr val="FF0000"/>
                </a:solidFill>
              </a:rPr>
              <a:t>Spinlocks</a:t>
            </a:r>
            <a:r>
              <a:rPr lang="de-DE" dirty="0"/>
              <a:t>)</a:t>
            </a:r>
            <a:endParaRPr lang="de-DE" b="1" dirty="0">
              <a:solidFill>
                <a:srgbClr val="FF0000"/>
              </a:solidFill>
            </a:endParaRPr>
          </a:p>
        </p:txBody>
      </p:sp>
      <p:sp>
        <p:nvSpPr>
          <p:cNvPr id="5" name="Textfeld 4"/>
          <p:cNvSpPr txBox="1"/>
          <p:nvPr/>
        </p:nvSpPr>
        <p:spPr>
          <a:xfrm>
            <a:off x="827584" y="4781099"/>
            <a:ext cx="5832648" cy="1938992"/>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sz="2000" dirty="0" err="1">
                <a:solidFill>
                  <a:prstClr val="black"/>
                </a:solidFill>
              </a:rPr>
              <a:t>copy_from_user</a:t>
            </a:r>
            <a:r>
              <a:rPr lang="en-US" sz="2000" dirty="0">
                <a:solidFill>
                  <a:prstClr val="black"/>
                </a:solidFill>
              </a:rPr>
              <a:t> (buffer, p, count);</a:t>
            </a:r>
          </a:p>
          <a:p>
            <a:r>
              <a:rPr lang="nn-NO" sz="2000" dirty="0">
                <a:solidFill>
                  <a:prstClr val="black"/>
                </a:solidFill>
              </a:rPr>
              <a:t>for (i = 0; i &lt; count; i++) {</a:t>
            </a:r>
          </a:p>
          <a:p>
            <a:r>
              <a:rPr lang="de-DE" sz="2000" dirty="0">
                <a:solidFill>
                  <a:prstClr val="black"/>
                </a:solidFill>
              </a:rPr>
              <a:t>	</a:t>
            </a:r>
            <a:r>
              <a:rPr lang="de-DE" sz="2000" b="1" dirty="0">
                <a:solidFill>
                  <a:srgbClr val="FF0000"/>
                </a:solidFill>
              </a:rPr>
              <a:t>while (*printer_status_reg  != READY)</a:t>
            </a:r>
          </a:p>
          <a:p>
            <a:r>
              <a:rPr lang="de-DE" sz="2000" b="1" dirty="0">
                <a:solidFill>
                  <a:srgbClr val="FF0000"/>
                </a:solidFill>
              </a:rPr>
              <a:t>		; </a:t>
            </a:r>
          </a:p>
          <a:p>
            <a:r>
              <a:rPr lang="de-DE" sz="2000" dirty="0">
                <a:solidFill>
                  <a:prstClr val="black"/>
                </a:solidFill>
              </a:rPr>
              <a:t>	*</a:t>
            </a:r>
            <a:r>
              <a:rPr lang="de-DE" sz="2000" dirty="0" err="1">
                <a:solidFill>
                  <a:prstClr val="black"/>
                </a:solidFill>
              </a:rPr>
              <a:t>printer_data_register</a:t>
            </a:r>
            <a:r>
              <a:rPr lang="de-DE" sz="2000" dirty="0">
                <a:solidFill>
                  <a:prstClr val="black"/>
                </a:solidFill>
              </a:rPr>
              <a:t> = p[i];</a:t>
            </a:r>
          </a:p>
          <a:p>
            <a:r>
              <a:rPr lang="de-DE" sz="2000" dirty="0">
                <a:solidFill>
                  <a:prstClr val="black"/>
                </a:solidFill>
              </a:rPr>
              <a:t>}; </a:t>
            </a:r>
            <a:r>
              <a:rPr lang="de-DE" sz="2000" dirty="0" err="1">
                <a:solidFill>
                  <a:prstClr val="black"/>
                </a:solidFill>
              </a:rPr>
              <a:t>return</a:t>
            </a:r>
            <a:r>
              <a:rPr lang="de-DE" sz="2000" dirty="0">
                <a:solidFill>
                  <a:prstClr val="black"/>
                </a:solidFill>
              </a:rPr>
              <a:t> to </a:t>
            </a:r>
            <a:r>
              <a:rPr lang="de-DE" sz="2000" dirty="0" err="1">
                <a:solidFill>
                  <a:prstClr val="black"/>
                </a:solidFill>
              </a:rPr>
              <a:t>user</a:t>
            </a:r>
            <a:r>
              <a:rPr lang="de-DE" sz="2000" dirty="0">
                <a:solidFill>
                  <a:prstClr val="black"/>
                </a:solidFill>
              </a:rPr>
              <a:t>();</a:t>
            </a:r>
          </a:p>
        </p:txBody>
      </p:sp>
      <p:cxnSp>
        <p:nvCxnSpPr>
          <p:cNvPr id="7" name="Gerade Verbindung mit Pfeil 6"/>
          <p:cNvCxnSpPr/>
          <p:nvPr/>
        </p:nvCxnSpPr>
        <p:spPr>
          <a:xfrm>
            <a:off x="3851920" y="4653136"/>
            <a:ext cx="144016" cy="79208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817948" y="4781099"/>
            <a:ext cx="2218548" cy="156966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marL="0" lvl="1"/>
            <a:r>
              <a:rPr lang="de-DE" sz="2400" dirty="0">
                <a:solidFill>
                  <a:prstClr val="black"/>
                </a:solidFill>
              </a:rPr>
              <a:t>Man nennt das Verfahren </a:t>
            </a:r>
            <a:r>
              <a:rPr lang="de-DE" sz="2400" b="1" dirty="0">
                <a:solidFill>
                  <a:srgbClr val="FF0000"/>
                </a:solidFill>
              </a:rPr>
              <a:t>polling </a:t>
            </a:r>
            <a:r>
              <a:rPr lang="de-DE" sz="2400" dirty="0">
                <a:solidFill>
                  <a:prstClr val="black"/>
                </a:solidFill>
              </a:rPr>
              <a:t>oder </a:t>
            </a:r>
            <a:r>
              <a:rPr lang="de-DE" sz="2400" b="1" dirty="0">
                <a:solidFill>
                  <a:srgbClr val="FF0000"/>
                </a:solidFill>
              </a:rPr>
              <a:t>busy-waiting</a:t>
            </a:r>
          </a:p>
        </p:txBody>
      </p:sp>
    </p:spTree>
    <p:extLst>
      <p:ext uri="{BB962C8B-B14F-4D97-AF65-F5344CB8AC3E}">
        <p14:creationId xmlns:p14="http://schemas.microsoft.com/office/powerpoint/2010/main" val="31704103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PIO-Verbesserung: Asynchrones I/O</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63</a:t>
            </a:fld>
            <a:endParaRPr lang="en-US" dirty="0">
              <a:solidFill>
                <a:srgbClr val="424456"/>
              </a:solidFill>
            </a:endParaRPr>
          </a:p>
        </p:txBody>
      </p:sp>
      <p:sp>
        <p:nvSpPr>
          <p:cNvPr id="5" name="Inhaltsplatzhalter 4"/>
          <p:cNvSpPr>
            <a:spLocks noGrp="1"/>
          </p:cNvSpPr>
          <p:nvPr>
            <p:ph sz="quarter" idx="1"/>
          </p:nvPr>
        </p:nvSpPr>
        <p:spPr>
          <a:xfrm>
            <a:off x="457200" y="1219200"/>
            <a:ext cx="8229600" cy="3001888"/>
          </a:xfrm>
        </p:spPr>
        <p:txBody>
          <a:bodyPr>
            <a:normAutofit lnSpcReduction="10000"/>
          </a:bodyPr>
          <a:lstStyle/>
          <a:p>
            <a:r>
              <a:rPr lang="de-DE" dirty="0"/>
              <a:t>Idee (am Beispiel Drucker-Ausgabe)</a:t>
            </a:r>
          </a:p>
          <a:p>
            <a:pPr lvl="1"/>
            <a:r>
              <a:rPr lang="de-DE" dirty="0"/>
              <a:t>Routine </a:t>
            </a:r>
            <a:r>
              <a:rPr lang="de-DE" dirty="0">
                <a:solidFill>
                  <a:srgbClr val="FF0000"/>
                </a:solidFill>
              </a:rPr>
              <a:t>printstring</a:t>
            </a:r>
            <a:r>
              <a:rPr lang="de-DE" dirty="0"/>
              <a:t>(s) (Aufruf vom Benutzer-Programm) </a:t>
            </a:r>
            <a:r>
              <a:rPr lang="de-DE" dirty="0">
                <a:solidFill>
                  <a:srgbClr val="0070C0"/>
                </a:solidFill>
              </a:rPr>
              <a:t>speichert Daten im Kernel </a:t>
            </a:r>
            <a:r>
              <a:rPr lang="de-DE" dirty="0"/>
              <a:t>und kehrt zurück</a:t>
            </a:r>
          </a:p>
          <a:p>
            <a:pPr lvl="1"/>
            <a:r>
              <a:rPr lang="de-DE" dirty="0"/>
              <a:t>Routine </a:t>
            </a:r>
            <a:r>
              <a:rPr lang="de-DE" dirty="0" err="1">
                <a:solidFill>
                  <a:srgbClr val="FF0000"/>
                </a:solidFill>
              </a:rPr>
              <a:t>putnextchar</a:t>
            </a:r>
            <a:r>
              <a:rPr lang="de-DE" dirty="0"/>
              <a:t>() wird regelmäßig vom BS aufgerufen: </a:t>
            </a:r>
          </a:p>
          <a:p>
            <a:pPr lvl="2"/>
            <a:r>
              <a:rPr lang="de-DE" dirty="0">
                <a:solidFill>
                  <a:srgbClr val="0070C0"/>
                </a:solidFill>
              </a:rPr>
              <a:t>Wenn das Ausgabe-Gerät frei ist, gibt die Routine nächstes Zeichen aus</a:t>
            </a:r>
            <a:r>
              <a:rPr lang="de-DE" dirty="0"/>
              <a:t>, sonst kehrt sofort zurück</a:t>
            </a:r>
          </a:p>
          <a:p>
            <a:r>
              <a:rPr lang="de-DE" dirty="0"/>
              <a:t>Analog für die Eingabe</a:t>
            </a:r>
          </a:p>
          <a:p>
            <a:endParaRPr lang="de-DE" dirty="0"/>
          </a:p>
          <a:p>
            <a:endParaRPr lang="de-DE" dirty="0"/>
          </a:p>
        </p:txBody>
      </p:sp>
      <p:sp>
        <p:nvSpPr>
          <p:cNvPr id="6" name="Inhaltsplatzhalter 5"/>
          <p:cNvSpPr>
            <a:spLocks noGrp="1"/>
          </p:cNvSpPr>
          <p:nvPr>
            <p:ph sz="quarter" idx="13"/>
          </p:nvPr>
        </p:nvSpPr>
        <p:spPr>
          <a:xfrm>
            <a:off x="467544" y="4077072"/>
            <a:ext cx="8208912" cy="2353816"/>
          </a:xfrm>
        </p:spPr>
        <p:txBody>
          <a:bodyPr>
            <a:normAutofit/>
          </a:bodyPr>
          <a:lstStyle/>
          <a:p>
            <a:pPr lvl="1"/>
            <a:r>
              <a:rPr lang="de-DE" dirty="0"/>
              <a:t>Routine </a:t>
            </a:r>
            <a:r>
              <a:rPr lang="de-DE" dirty="0" err="1">
                <a:solidFill>
                  <a:srgbClr val="FF0000"/>
                </a:solidFill>
              </a:rPr>
              <a:t>getachar</a:t>
            </a:r>
            <a:r>
              <a:rPr lang="de-DE" dirty="0"/>
              <a:t>() wird von Benutzer-Programmen aufgerufen; wartet (blockierend), bis nächstes Zeichen im Puffer P verfügbar ist</a:t>
            </a:r>
          </a:p>
          <a:p>
            <a:pPr lvl="1"/>
            <a:r>
              <a:rPr lang="de-DE" dirty="0"/>
              <a:t>Routine </a:t>
            </a:r>
            <a:r>
              <a:rPr lang="de-DE" dirty="0" err="1">
                <a:solidFill>
                  <a:srgbClr val="FF0000"/>
                </a:solidFill>
              </a:rPr>
              <a:t>getnextchar</a:t>
            </a:r>
            <a:r>
              <a:rPr lang="de-DE" dirty="0"/>
              <a:t>() wird periodisch vom BS aufgerufen: wenn ein neues Zeichen am Gerät vorliegt, schreibt es in P, sonst kehrt sofort zurück</a:t>
            </a:r>
          </a:p>
        </p:txBody>
      </p:sp>
    </p:spTree>
    <p:extLst>
      <p:ext uri="{BB962C8B-B14F-4D97-AF65-F5344CB8AC3E}">
        <p14:creationId xmlns:p14="http://schemas.microsoft.com/office/powerpoint/2010/main" val="14133820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Nur für Assembler "Freaks": </a:t>
            </a:r>
            <a:br>
              <a:rPr lang="de-DE" dirty="0"/>
            </a:br>
            <a:r>
              <a:rPr lang="de-DE" dirty="0"/>
              <a:t>Implementation von </a:t>
            </a:r>
            <a:r>
              <a:rPr lang="de-DE" dirty="0">
                <a:solidFill>
                  <a:srgbClr val="FF0000"/>
                </a:solidFill>
              </a:rPr>
              <a:t>putnextchar</a:t>
            </a:r>
            <a:endParaRPr lang="de-DE" dirty="0"/>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64</a:t>
            </a:fld>
            <a:endParaRPr lang="en-US" dirty="0">
              <a:solidFill>
                <a:srgbClr val="424456"/>
              </a:solidFill>
            </a:endParaRPr>
          </a:p>
        </p:txBody>
      </p:sp>
      <p:sp>
        <p:nvSpPr>
          <p:cNvPr id="5" name="Inhaltsplatzhalter 4"/>
          <p:cNvSpPr>
            <a:spLocks noGrp="1"/>
          </p:cNvSpPr>
          <p:nvPr>
            <p:ph sz="quarter" idx="1"/>
          </p:nvPr>
        </p:nvSpPr>
        <p:spPr/>
        <p:txBody>
          <a:bodyPr>
            <a:normAutofit/>
          </a:bodyPr>
          <a:lstStyle/>
          <a:p>
            <a:r>
              <a:rPr lang="de-DE" dirty="0">
                <a:solidFill>
                  <a:srgbClr val="0070C0"/>
                </a:solidFill>
              </a:rPr>
              <a:t>.</a:t>
            </a:r>
            <a:r>
              <a:rPr lang="de-DE" dirty="0" err="1">
                <a:solidFill>
                  <a:srgbClr val="0070C0"/>
                </a:solidFill>
              </a:rPr>
              <a:t>data</a:t>
            </a:r>
            <a:endParaRPr lang="de-DE" dirty="0">
              <a:solidFill>
                <a:srgbClr val="0070C0"/>
              </a:solidFill>
            </a:endParaRPr>
          </a:p>
          <a:p>
            <a:r>
              <a:rPr lang="de-DE" b="1" dirty="0" err="1">
                <a:solidFill>
                  <a:srgbClr val="7030A0"/>
                </a:solidFill>
              </a:rPr>
              <a:t>putq</a:t>
            </a:r>
            <a:r>
              <a:rPr lang="de-DE" dirty="0">
                <a:solidFill>
                  <a:srgbClr val="7030A0"/>
                </a:solidFill>
              </a:rPr>
              <a:t> </a:t>
            </a:r>
            <a:r>
              <a:rPr lang="de-DE" dirty="0"/>
              <a:t>	</a:t>
            </a:r>
            <a:r>
              <a:rPr lang="de-DE" dirty="0" err="1"/>
              <a:t>db</a:t>
            </a:r>
            <a:r>
              <a:rPr lang="de-DE" dirty="0"/>
              <a:t> 	256</a:t>
            </a:r>
          </a:p>
          <a:p>
            <a:r>
              <a:rPr lang="de-DE" dirty="0"/>
              <a:t>tail_ptr	dd 	0</a:t>
            </a:r>
          </a:p>
          <a:p>
            <a:r>
              <a:rPr lang="de-DE" dirty="0"/>
              <a:t>head_ptr	dd	0</a:t>
            </a:r>
          </a:p>
          <a:p>
            <a:r>
              <a:rPr lang="de-DE" dirty="0">
                <a:solidFill>
                  <a:srgbClr val="0070C0"/>
                </a:solidFill>
              </a:rPr>
              <a:t>.</a:t>
            </a:r>
            <a:r>
              <a:rPr lang="de-DE" dirty="0" err="1">
                <a:solidFill>
                  <a:srgbClr val="0070C0"/>
                </a:solidFill>
              </a:rPr>
              <a:t>code</a:t>
            </a:r>
            <a:endParaRPr lang="de-DE" dirty="0">
              <a:solidFill>
                <a:srgbClr val="0070C0"/>
              </a:solidFill>
            </a:endParaRPr>
          </a:p>
          <a:p>
            <a:r>
              <a:rPr lang="de-DE" dirty="0" err="1">
                <a:solidFill>
                  <a:srgbClr val="FF0000"/>
                </a:solidFill>
              </a:rPr>
              <a:t>putnextchar</a:t>
            </a:r>
            <a:r>
              <a:rPr lang="de-DE" dirty="0">
                <a:solidFill>
                  <a:srgbClr val="FF0000"/>
                </a:solidFill>
              </a:rPr>
              <a:t>:</a:t>
            </a:r>
          </a:p>
          <a:p>
            <a:r>
              <a:rPr lang="de-DE" dirty="0" err="1"/>
              <a:t>test</a:t>
            </a:r>
            <a:r>
              <a:rPr lang="de-DE" dirty="0"/>
              <a:t> 	</a:t>
            </a:r>
            <a:r>
              <a:rPr lang="de-DE" dirty="0" err="1"/>
              <a:t>DispStatus</a:t>
            </a:r>
            <a:r>
              <a:rPr lang="de-DE" dirty="0"/>
              <a:t>, 80h</a:t>
            </a:r>
          </a:p>
          <a:p>
            <a:r>
              <a:rPr lang="de-DE" dirty="0" err="1"/>
              <a:t>jz</a:t>
            </a:r>
            <a:r>
              <a:rPr lang="de-DE" dirty="0"/>
              <a:t> 	</a:t>
            </a:r>
            <a:r>
              <a:rPr lang="de-DE" dirty="0" err="1"/>
              <a:t>putret</a:t>
            </a:r>
            <a:endParaRPr lang="de-DE" dirty="0"/>
          </a:p>
          <a:p>
            <a:r>
              <a:rPr lang="de-DE" dirty="0"/>
              <a:t>cmp head_ptr, tail_ptr</a:t>
            </a:r>
          </a:p>
          <a:p>
            <a:r>
              <a:rPr lang="de-DE" dirty="0"/>
              <a:t>je	</a:t>
            </a:r>
            <a:r>
              <a:rPr lang="de-DE" dirty="0" err="1"/>
              <a:t>putret</a:t>
            </a:r>
            <a:r>
              <a:rPr lang="de-DE" dirty="0"/>
              <a:t> </a:t>
            </a:r>
          </a:p>
          <a:p>
            <a:endParaRPr lang="de-DE" dirty="0"/>
          </a:p>
        </p:txBody>
      </p:sp>
      <p:sp>
        <p:nvSpPr>
          <p:cNvPr id="6" name="Inhaltsplatzhalter 5"/>
          <p:cNvSpPr>
            <a:spLocks noGrp="1"/>
          </p:cNvSpPr>
          <p:nvPr>
            <p:ph sz="quarter" idx="2"/>
          </p:nvPr>
        </p:nvSpPr>
        <p:spPr>
          <a:xfrm>
            <a:off x="4572000" y="1216152"/>
            <a:ext cx="4572000" cy="4937760"/>
          </a:xfrm>
        </p:spPr>
        <p:txBody>
          <a:bodyPr>
            <a:normAutofit/>
          </a:bodyPr>
          <a:lstStyle/>
          <a:p>
            <a:r>
              <a:rPr lang="de-DE" dirty="0"/>
              <a:t>inc	head_ptr</a:t>
            </a:r>
          </a:p>
          <a:p>
            <a:r>
              <a:rPr lang="de-DE" dirty="0"/>
              <a:t>and	 head_ptr, 000000ffh</a:t>
            </a:r>
          </a:p>
          <a:p>
            <a:r>
              <a:rPr lang="de-DE" dirty="0"/>
              <a:t>mov EAX, head_ptr</a:t>
            </a:r>
          </a:p>
          <a:p>
            <a:r>
              <a:rPr lang="de-DE" dirty="0" err="1"/>
              <a:t>mov</a:t>
            </a:r>
            <a:r>
              <a:rPr lang="de-DE" dirty="0"/>
              <a:t>	 </a:t>
            </a:r>
            <a:r>
              <a:rPr lang="de-DE" i="1" dirty="0">
                <a:solidFill>
                  <a:srgbClr val="0070C0"/>
                </a:solidFill>
              </a:rPr>
              <a:t>BL</a:t>
            </a:r>
            <a:r>
              <a:rPr lang="de-DE" dirty="0"/>
              <a:t>, </a:t>
            </a:r>
            <a:r>
              <a:rPr lang="de-DE" dirty="0" err="1"/>
              <a:t>byte</a:t>
            </a:r>
            <a:r>
              <a:rPr lang="de-DE" dirty="0"/>
              <a:t> </a:t>
            </a:r>
            <a:r>
              <a:rPr lang="de-DE" b="1" dirty="0" err="1">
                <a:solidFill>
                  <a:srgbClr val="7030A0"/>
                </a:solidFill>
              </a:rPr>
              <a:t>putq</a:t>
            </a:r>
            <a:r>
              <a:rPr lang="de-DE" dirty="0"/>
              <a:t>[EAX]</a:t>
            </a:r>
          </a:p>
          <a:p>
            <a:r>
              <a:rPr lang="de-DE" dirty="0" err="1"/>
              <a:t>mov</a:t>
            </a:r>
            <a:r>
              <a:rPr lang="de-DE" dirty="0"/>
              <a:t>  </a:t>
            </a:r>
            <a:r>
              <a:rPr lang="de-DE" dirty="0" err="1"/>
              <a:t>DisplayData</a:t>
            </a:r>
            <a:r>
              <a:rPr lang="de-DE" dirty="0"/>
              <a:t>, </a:t>
            </a:r>
            <a:r>
              <a:rPr lang="de-DE" i="1" dirty="0">
                <a:solidFill>
                  <a:srgbClr val="0070C0"/>
                </a:solidFill>
              </a:rPr>
              <a:t>EBX</a:t>
            </a:r>
          </a:p>
          <a:p>
            <a:r>
              <a:rPr lang="de-DE" dirty="0" err="1">
                <a:solidFill>
                  <a:srgbClr val="FF0000"/>
                </a:solidFill>
              </a:rPr>
              <a:t>putret</a:t>
            </a:r>
            <a:r>
              <a:rPr lang="de-DE" dirty="0">
                <a:solidFill>
                  <a:srgbClr val="FF0000"/>
                </a:solidFill>
              </a:rPr>
              <a:t>:</a:t>
            </a:r>
          </a:p>
          <a:p>
            <a:r>
              <a:rPr lang="de-DE" dirty="0" err="1"/>
              <a:t>ret</a:t>
            </a:r>
            <a:endParaRPr lang="de-DE" dirty="0"/>
          </a:p>
        </p:txBody>
      </p:sp>
      <p:sp>
        <p:nvSpPr>
          <p:cNvPr id="7" name="Abgerundetes Rechteck 6"/>
          <p:cNvSpPr/>
          <p:nvPr/>
        </p:nvSpPr>
        <p:spPr>
          <a:xfrm>
            <a:off x="4788024" y="4653136"/>
            <a:ext cx="3816424" cy="914400"/>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de-DE" sz="2400" dirty="0">
                <a:solidFill>
                  <a:prstClr val="black"/>
                </a:solidFill>
              </a:rPr>
              <a:t>Beispiel: Serielle Ausgabe auf ein Display</a:t>
            </a:r>
          </a:p>
        </p:txBody>
      </p:sp>
      <p:sp>
        <p:nvSpPr>
          <p:cNvPr id="8" name="Textfeld 7"/>
          <p:cNvSpPr txBox="1"/>
          <p:nvPr/>
        </p:nvSpPr>
        <p:spPr>
          <a:xfrm>
            <a:off x="4788024" y="5805264"/>
            <a:ext cx="3412153" cy="646331"/>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de-DE" dirty="0">
                <a:solidFill>
                  <a:prstClr val="black"/>
                </a:solidFill>
              </a:rPr>
              <a:t>Wo wird es sichergestellt, dass </a:t>
            </a:r>
          </a:p>
          <a:p>
            <a:r>
              <a:rPr lang="de-DE" dirty="0">
                <a:solidFill>
                  <a:prstClr val="black"/>
                </a:solidFill>
              </a:rPr>
              <a:t>der Puffer nicht überläuft?</a:t>
            </a:r>
          </a:p>
        </p:txBody>
      </p:sp>
    </p:spTree>
    <p:extLst>
      <p:ext uri="{BB962C8B-B14F-4D97-AF65-F5344CB8AC3E}">
        <p14:creationId xmlns:p14="http://schemas.microsoft.com/office/powerpoint/2010/main" val="11599171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Vom Asynchronen I/O zu Interrupts</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24456"/>
                </a:solidFill>
              </a:rPr>
              <a:pPr/>
              <a:t>65</a:t>
            </a:fld>
            <a:endParaRPr lang="en-US" dirty="0">
              <a:solidFill>
                <a:srgbClr val="424456"/>
              </a:solidFill>
            </a:endParaRPr>
          </a:p>
        </p:txBody>
      </p:sp>
      <p:sp>
        <p:nvSpPr>
          <p:cNvPr id="5" name="Content Placeholder 4"/>
          <p:cNvSpPr>
            <a:spLocks noGrp="1"/>
          </p:cNvSpPr>
          <p:nvPr>
            <p:ph sz="quarter" idx="1"/>
          </p:nvPr>
        </p:nvSpPr>
        <p:spPr>
          <a:xfrm>
            <a:off x="457200" y="1219200"/>
            <a:ext cx="8229600" cy="625624"/>
          </a:xfrm>
        </p:spPr>
        <p:txBody>
          <a:bodyPr/>
          <a:lstStyle/>
          <a:p>
            <a:r>
              <a:rPr lang="de-DE" dirty="0"/>
              <a:t>Vorteile und Nachteile des Verfahrens?</a:t>
            </a:r>
          </a:p>
        </p:txBody>
      </p:sp>
      <p:sp>
        <p:nvSpPr>
          <p:cNvPr id="6" name="Content Placeholder 5"/>
          <p:cNvSpPr>
            <a:spLocks noGrp="1"/>
          </p:cNvSpPr>
          <p:nvPr>
            <p:ph sz="quarter" idx="13"/>
          </p:nvPr>
        </p:nvSpPr>
        <p:spPr>
          <a:xfrm>
            <a:off x="467544" y="1628800"/>
            <a:ext cx="8208912" cy="2016224"/>
          </a:xfrm>
        </p:spPr>
        <p:txBody>
          <a:bodyPr/>
          <a:lstStyle/>
          <a:p>
            <a:r>
              <a:rPr lang="de-DE" dirty="0"/>
              <a:t>(+) Man wartet praktisch nicht auf das Gerät</a:t>
            </a:r>
          </a:p>
          <a:p>
            <a:r>
              <a:rPr lang="de-DE" dirty="0"/>
              <a:t>(-) I/O-Operation nicht sofort, wenn Gerät frei, sondern „erst“ beim periodischen Aufruf</a:t>
            </a:r>
          </a:p>
          <a:p>
            <a:r>
              <a:rPr lang="de-DE" dirty="0"/>
              <a:t>Verbesserung?</a:t>
            </a:r>
          </a:p>
        </p:txBody>
      </p:sp>
      <p:sp>
        <p:nvSpPr>
          <p:cNvPr id="7" name="Content Placeholder 5"/>
          <p:cNvSpPr txBox="1">
            <a:spLocks/>
          </p:cNvSpPr>
          <p:nvPr/>
        </p:nvSpPr>
        <p:spPr>
          <a:xfrm>
            <a:off x="467544" y="3501008"/>
            <a:ext cx="8208912" cy="2088232"/>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Clr>
                <a:srgbClr val="53548A"/>
              </a:buClr>
            </a:pPr>
            <a:r>
              <a:rPr lang="de-DE" dirty="0">
                <a:solidFill>
                  <a:prstClr val="black"/>
                </a:solidFill>
              </a:rPr>
              <a:t>putnextchar bzw. getnextchar wird nicht mehr periodisch, sondern </a:t>
            </a:r>
            <a:r>
              <a:rPr lang="de-DE" b="1" dirty="0">
                <a:solidFill>
                  <a:srgbClr val="FF0000"/>
                </a:solidFill>
              </a:rPr>
              <a:t>Interrupt-gesteuert</a:t>
            </a:r>
            <a:r>
              <a:rPr lang="de-DE" dirty="0">
                <a:solidFill>
                  <a:prstClr val="black"/>
                </a:solidFill>
              </a:rPr>
              <a:t> aufgerufen</a:t>
            </a:r>
          </a:p>
          <a:p>
            <a:pPr lvl="1">
              <a:buClr>
                <a:srgbClr val="438086"/>
              </a:buClr>
            </a:pPr>
            <a:r>
              <a:rPr lang="de-DE" dirty="0">
                <a:solidFill>
                  <a:srgbClr val="424456"/>
                </a:solidFill>
              </a:rPr>
              <a:t>Wenn das Gerät fertig ist / etwas empfangen hat, wird ein Interrupt erzeugt</a:t>
            </a:r>
          </a:p>
        </p:txBody>
      </p:sp>
    </p:spTree>
    <p:extLst>
      <p:ext uri="{BB962C8B-B14F-4D97-AF65-F5344CB8AC3E}">
        <p14:creationId xmlns:p14="http://schemas.microsoft.com/office/powerpoint/2010/main" val="306360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FIRSTARTUR@ADJTKIKJTTW835ML" val="3112"/>
  <p:tag name="FIRSTARTUR@AWDWMKMFUVWXY5ML" val="4143"/>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keano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keanos">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solidFill>
          <a:srgbClr val="92D05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headEnd type="none" w="med" len="med"/>
          <a:tailEnd type="arrow"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4809</Words>
  <Application>Microsoft Office PowerPoint</Application>
  <PresentationFormat>Bildschirmpräsentation (4:3)</PresentationFormat>
  <Paragraphs>650</Paragraphs>
  <Slides>65</Slides>
  <Notes>21</Notes>
  <HiddenSlides>0</HiddenSlides>
  <MMClips>1</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65</vt:i4>
      </vt:variant>
    </vt:vector>
  </HeadingPairs>
  <TitlesOfParts>
    <vt:vector size="74" baseType="lpstr">
      <vt:lpstr>-apple-system</vt:lpstr>
      <vt:lpstr>Arial</vt:lpstr>
      <vt:lpstr>Calibri</vt:lpstr>
      <vt:lpstr>Lato</vt:lpstr>
      <vt:lpstr>Poppins</vt:lpstr>
      <vt:lpstr>Symbol</vt:lpstr>
      <vt:lpstr>Wingdings</vt:lpstr>
      <vt:lpstr>Wingdings 3</vt:lpstr>
      <vt:lpstr>Okeanos</vt:lpstr>
      <vt:lpstr>Betriebssysteme und Netzwerke Vorlesung 17</vt:lpstr>
      <vt:lpstr>Übersicht Scheduling</vt:lpstr>
      <vt:lpstr>Evaluierung von Scheduling-Strategien</vt:lpstr>
      <vt:lpstr>Evaluierung von Scheduling-Strategien</vt:lpstr>
      <vt:lpstr>Deterministisches Modellieren</vt:lpstr>
      <vt:lpstr>Kriterien der Bewertung</vt:lpstr>
      <vt:lpstr>Warteschlangentheorie</vt:lpstr>
      <vt:lpstr>Motivation Warteschlangentheorie</vt:lpstr>
      <vt:lpstr>Warteschlangentheorie</vt:lpstr>
      <vt:lpstr>Warteschlangentheorie /2</vt:lpstr>
      <vt:lpstr>Definitionen Warteschlangentheorie</vt:lpstr>
      <vt:lpstr>Ankunftszeiten  /1</vt:lpstr>
      <vt:lpstr>Ankunftszeiten /2</vt:lpstr>
      <vt:lpstr>Bedienungszeiten</vt:lpstr>
      <vt:lpstr>Formel von Little</vt:lpstr>
      <vt:lpstr>Zusammenfassung Konzepte</vt:lpstr>
      <vt:lpstr>Warteschlangentheorie – Vergleich der Systeme</vt:lpstr>
      <vt:lpstr>Charakterisierung der Systeme</vt:lpstr>
      <vt:lpstr>Vergleich der Systementwürfe</vt:lpstr>
      <vt:lpstr>Vergleich der Systementwürfe</vt:lpstr>
      <vt:lpstr>Warteschlangenmodelle für das Scheduling</vt:lpstr>
      <vt:lpstr>Quellen / Mehr zur Warteschlangentheorie</vt:lpstr>
      <vt:lpstr>Zusammenfassung Scheduling</vt:lpstr>
      <vt:lpstr>I/O-Grundlagen: Hardware und Zugriff darauf</vt:lpstr>
      <vt:lpstr>I/O-Hardware</vt:lpstr>
      <vt:lpstr>Bus-Systeme in Modernen PCs </vt:lpstr>
      <vt:lpstr>Controller und Zugriff darauf</vt:lpstr>
      <vt:lpstr>I/O-Prozessorbefehle</vt:lpstr>
      <vt:lpstr>I/O-Prozessorbefehle - OUT</vt:lpstr>
      <vt:lpstr>Memory-Mapped-I/O</vt:lpstr>
      <vt:lpstr>IT-Sicherheit: Pufferüberlaufangriffe</vt:lpstr>
      <vt:lpstr>Das Böse hat viele Gesichter …</vt:lpstr>
      <vt:lpstr>Einbruch in ein System</vt:lpstr>
      <vt:lpstr>Pufferüberlaufangriffe</vt:lpstr>
      <vt:lpstr>Pufferüberlaufangriffe /2</vt:lpstr>
      <vt:lpstr>Pufferüberlaufangriffe /3</vt:lpstr>
      <vt:lpstr>Unterstützung durch Ganzzahlüberlauf</vt:lpstr>
      <vt:lpstr>Copy Fail: CVE-2026-31431  Analyse einer kritischen  Privilege Escalation</vt:lpstr>
      <vt:lpstr>Kontext: Privilege Escalation (LPE)</vt:lpstr>
      <vt:lpstr>Die Rolle des Page Cache</vt:lpstr>
      <vt:lpstr>Die Schwachstelle: "Copy Fail"</vt:lpstr>
      <vt:lpstr>Der Angriffsvektor</vt:lpstr>
      <vt:lpstr>Exploit: Vom Page Cache zur Root</vt:lpstr>
      <vt:lpstr>Overflow vs. Copy Fail / Schutzmaßnahmen</vt:lpstr>
      <vt:lpstr>Einige Quellen zu dem Thema IT-Security</vt:lpstr>
      <vt:lpstr>Danke!</vt:lpstr>
      <vt:lpstr>Zusatzfolien: I/O-Grundlagen - Drei Verfahren der Ein-/Ausgabe</vt:lpstr>
      <vt:lpstr>Verfahren zu Ein-/Ausgabe</vt:lpstr>
      <vt:lpstr>Interrupt-gesteuerte Ein-/Ausgabe - Beispiel </vt:lpstr>
      <vt:lpstr>Interrupts - Details</vt:lpstr>
      <vt:lpstr>Direkter Speicherzugriff (DMA)</vt:lpstr>
      <vt:lpstr>DMA Chip Beispiel - Intel 8237 (Link)</vt:lpstr>
      <vt:lpstr>Zusatzfolien: Scheduling</vt:lpstr>
      <vt:lpstr>Thread-Scheduling</vt:lpstr>
      <vt:lpstr>Thread-Scheduling /2</vt:lpstr>
      <vt:lpstr>Unterbrechende (preemptive) S-Strategien</vt:lpstr>
      <vt:lpstr>Scheduler und Dispatcher</vt:lpstr>
      <vt:lpstr>Ziele von Scheduling-Strategien - Alle Systeme</vt:lpstr>
      <vt:lpstr>Ziele - Interaktive Systeme</vt:lpstr>
      <vt:lpstr>Ziele - Echtzeitsysteme</vt:lpstr>
      <vt:lpstr>Zusätzliche Folien zu I/O-Grundlagen </vt:lpstr>
      <vt:lpstr>Programmierte Ein-/Ausgabe</vt:lpstr>
      <vt:lpstr>PIO-Verbesserung: Asynchrones I/O</vt:lpstr>
      <vt:lpstr>Nur für Assembler "Freaks":  Implementation von putnextchar</vt:lpstr>
      <vt:lpstr>Vom Asynchronen I/O zu Interrupts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 Betriebssysteme und Netzwerke</dc:title>
  <dc:creator>Artur Andrzejak</dc:creator>
  <cp:lastModifiedBy>Artur Andrzejak</cp:lastModifiedBy>
  <cp:revision>3144</cp:revision>
  <dcterms:created xsi:type="dcterms:W3CDTF">2009-04-16T23:00:57Z</dcterms:created>
  <dcterms:modified xsi:type="dcterms:W3CDTF">2026-06-10T15:16:32Z</dcterms:modified>
</cp:coreProperties>
</file>